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10.xml" ContentType="application/vnd.openxmlformats-officedocument.drawingml.chart+xml"/>
  <Override PartName="/ppt/charts/chart100.xml" ContentType="application/vnd.openxmlformats-officedocument.drawingml.chart+xml"/>
  <Override PartName="/ppt/charts/chart101.xml" ContentType="application/vnd.openxmlformats-officedocument.drawingml.chart+xml"/>
  <Override PartName="/ppt/charts/chart102.xml" ContentType="application/vnd.openxmlformats-officedocument.drawingml.chart+xml"/>
  <Override PartName="/ppt/charts/chart103.xml" ContentType="application/vnd.openxmlformats-officedocument.drawingml.chart+xml"/>
  <Override PartName="/ppt/charts/chart104.xml" ContentType="application/vnd.openxmlformats-officedocument.drawingml.chart+xml"/>
  <Override PartName="/ppt/charts/chart105.xml" ContentType="application/vnd.openxmlformats-officedocument.drawingml.chart+xml"/>
  <Override PartName="/ppt/charts/chart106.xml" ContentType="application/vnd.openxmlformats-officedocument.drawingml.chart+xml"/>
  <Override PartName="/ppt/charts/chart107.xml" ContentType="application/vnd.openxmlformats-officedocument.drawingml.chart+xml"/>
  <Override PartName="/ppt/charts/chart108.xml" ContentType="application/vnd.openxmlformats-officedocument.drawingml.chart+xml"/>
  <Override PartName="/ppt/charts/chart109.xml" ContentType="application/vnd.openxmlformats-officedocument.drawingml.chart+xml"/>
  <Override PartName="/ppt/charts/chart11.xml" ContentType="application/vnd.openxmlformats-officedocument.drawingml.chart+xml"/>
  <Override PartName="/ppt/charts/chart110.xml" ContentType="application/vnd.openxmlformats-officedocument.drawingml.chart+xml"/>
  <Override PartName="/ppt/charts/chart111.xml" ContentType="application/vnd.openxmlformats-officedocument.drawingml.chart+xml"/>
  <Override PartName="/ppt/charts/chart112.xml" ContentType="application/vnd.openxmlformats-officedocument.drawingml.chart+xml"/>
  <Override PartName="/ppt/charts/chart113.xml" ContentType="application/vnd.openxmlformats-officedocument.drawingml.chart+xml"/>
  <Override PartName="/ppt/charts/chart114.xml" ContentType="application/vnd.openxmlformats-officedocument.drawingml.chart+xml"/>
  <Override PartName="/ppt/charts/chart115.xml" ContentType="application/vnd.openxmlformats-officedocument.drawingml.chart+xml"/>
  <Override PartName="/ppt/charts/chart116.xml" ContentType="application/vnd.openxmlformats-officedocument.drawingml.chart+xml"/>
  <Override PartName="/ppt/charts/chart117.xml" ContentType="application/vnd.openxmlformats-officedocument.drawingml.chart+xml"/>
  <Override PartName="/ppt/charts/chart118.xml" ContentType="application/vnd.openxmlformats-officedocument.drawingml.chart+xml"/>
  <Override PartName="/ppt/charts/chart119.xml" ContentType="application/vnd.openxmlformats-officedocument.drawingml.chart+xml"/>
  <Override PartName="/ppt/charts/chart12.xml" ContentType="application/vnd.openxmlformats-officedocument.drawingml.chart+xml"/>
  <Override PartName="/ppt/charts/chart120.xml" ContentType="application/vnd.openxmlformats-officedocument.drawingml.chart+xml"/>
  <Override PartName="/ppt/charts/chart121.xml" ContentType="application/vnd.openxmlformats-officedocument.drawingml.chart+xml"/>
  <Override PartName="/ppt/charts/chart122.xml" ContentType="application/vnd.openxmlformats-officedocument.drawingml.chart+xml"/>
  <Override PartName="/ppt/charts/chart123.xml" ContentType="application/vnd.openxmlformats-officedocument.drawingml.chart+xml"/>
  <Override PartName="/ppt/charts/chart124.xml" ContentType="application/vnd.openxmlformats-officedocument.drawingml.chart+xml"/>
  <Override PartName="/ppt/charts/chart125.xml" ContentType="application/vnd.openxmlformats-officedocument.drawingml.chart+xml"/>
  <Override PartName="/ppt/charts/chart126.xml" ContentType="application/vnd.openxmlformats-officedocument.drawingml.chart+xml"/>
  <Override PartName="/ppt/charts/chart127.xml" ContentType="application/vnd.openxmlformats-officedocument.drawingml.chart+xml"/>
  <Override PartName="/ppt/charts/chart128.xml" ContentType="application/vnd.openxmlformats-officedocument.drawingml.chart+xml"/>
  <Override PartName="/ppt/charts/chart129.xml" ContentType="application/vnd.openxmlformats-officedocument.drawingml.chart+xml"/>
  <Override PartName="/ppt/charts/chart13.xml" ContentType="application/vnd.openxmlformats-officedocument.drawingml.chart+xml"/>
  <Override PartName="/ppt/charts/chart130.xml" ContentType="application/vnd.openxmlformats-officedocument.drawingml.chart+xml"/>
  <Override PartName="/ppt/charts/chart131.xml" ContentType="application/vnd.openxmlformats-officedocument.drawingml.chart+xml"/>
  <Override PartName="/ppt/charts/chart132.xml" ContentType="application/vnd.openxmlformats-officedocument.drawingml.chart+xml"/>
  <Override PartName="/ppt/charts/chart133.xml" ContentType="application/vnd.openxmlformats-officedocument.drawingml.chart+xml"/>
  <Override PartName="/ppt/charts/chart134.xml" ContentType="application/vnd.openxmlformats-officedocument.drawingml.chart+xml"/>
  <Override PartName="/ppt/charts/chart135.xml" ContentType="application/vnd.openxmlformats-officedocument.drawingml.chart+xml"/>
  <Override PartName="/ppt/charts/chart136.xml" ContentType="application/vnd.openxmlformats-officedocument.drawingml.chart+xml"/>
  <Override PartName="/ppt/charts/chart137.xml" ContentType="application/vnd.openxmlformats-officedocument.drawingml.chart+xml"/>
  <Override PartName="/ppt/charts/chart138.xml" ContentType="application/vnd.openxmlformats-officedocument.drawingml.chart+xml"/>
  <Override PartName="/ppt/charts/chart139.xml" ContentType="application/vnd.openxmlformats-officedocument.drawingml.chart+xml"/>
  <Override PartName="/ppt/charts/chart14.xml" ContentType="application/vnd.openxmlformats-officedocument.drawingml.chart+xml"/>
  <Override PartName="/ppt/charts/chart140.xml" ContentType="application/vnd.openxmlformats-officedocument.drawingml.chart+xml"/>
  <Override PartName="/ppt/charts/chart141.xml" ContentType="application/vnd.openxmlformats-officedocument.drawingml.chart+xml"/>
  <Override PartName="/ppt/charts/chart142.xml" ContentType="application/vnd.openxmlformats-officedocument.drawingml.chart+xml"/>
  <Override PartName="/ppt/charts/chart143.xml" ContentType="application/vnd.openxmlformats-officedocument.drawingml.chart+xml"/>
  <Override PartName="/ppt/charts/chart144.xml" ContentType="application/vnd.openxmlformats-officedocument.drawingml.chart+xml"/>
  <Override PartName="/ppt/charts/chart145.xml" ContentType="application/vnd.openxmlformats-officedocument.drawingml.chart+xml"/>
  <Override PartName="/ppt/charts/chart146.xml" ContentType="application/vnd.openxmlformats-officedocument.drawingml.chart+xml"/>
  <Override PartName="/ppt/charts/chart147.xml" ContentType="application/vnd.openxmlformats-officedocument.drawingml.chart+xml"/>
  <Override PartName="/ppt/charts/chart15.xml" ContentType="application/vnd.openxmlformats-officedocument.drawingml.chart+xml"/>
  <Override PartName="/ppt/charts/chart16.xml" ContentType="application/vnd.openxmlformats-officedocument.drawingml.chart+xml"/>
  <Override PartName="/ppt/charts/chart17.xml" ContentType="application/vnd.openxmlformats-officedocument.drawingml.chart+xml"/>
  <Override PartName="/ppt/charts/chart18.xml" ContentType="application/vnd.openxmlformats-officedocument.drawingml.chart+xml"/>
  <Override PartName="/ppt/charts/chart19.xml" ContentType="application/vnd.openxmlformats-officedocument.drawingml.chart+xml"/>
  <Override PartName="/ppt/charts/chart2.xml" ContentType="application/vnd.openxmlformats-officedocument.drawingml.chart+xml"/>
  <Override PartName="/ppt/charts/chart20.xml" ContentType="application/vnd.openxmlformats-officedocument.drawingml.chart+xml"/>
  <Override PartName="/ppt/charts/chart21.xml" ContentType="application/vnd.openxmlformats-officedocument.drawingml.chart+xml"/>
  <Override PartName="/ppt/charts/chart22.xml" ContentType="application/vnd.openxmlformats-officedocument.drawingml.chart+xml"/>
  <Override PartName="/ppt/charts/chart23.xml" ContentType="application/vnd.openxmlformats-officedocument.drawingml.chart+xml"/>
  <Override PartName="/ppt/charts/chart24.xml" ContentType="application/vnd.openxmlformats-officedocument.drawingml.chart+xml"/>
  <Override PartName="/ppt/charts/chart25.xml" ContentType="application/vnd.openxmlformats-officedocument.drawingml.chart+xml"/>
  <Override PartName="/ppt/charts/chart26.xml" ContentType="application/vnd.openxmlformats-officedocument.drawingml.chart+xml"/>
  <Override PartName="/ppt/charts/chart27.xml" ContentType="application/vnd.openxmlformats-officedocument.drawingml.chart+xml"/>
  <Override PartName="/ppt/charts/chart28.xml" ContentType="application/vnd.openxmlformats-officedocument.drawingml.chart+xml"/>
  <Override PartName="/ppt/charts/chart29.xml" ContentType="application/vnd.openxmlformats-officedocument.drawingml.chart+xml"/>
  <Override PartName="/ppt/charts/chart3.xml" ContentType="application/vnd.openxmlformats-officedocument.drawingml.chart+xml"/>
  <Override PartName="/ppt/charts/chart30.xml" ContentType="application/vnd.openxmlformats-officedocument.drawingml.chart+xml"/>
  <Override PartName="/ppt/charts/chart31.xml" ContentType="application/vnd.openxmlformats-officedocument.drawingml.chart+xml"/>
  <Override PartName="/ppt/charts/chart32.xml" ContentType="application/vnd.openxmlformats-officedocument.drawingml.chart+xml"/>
  <Override PartName="/ppt/charts/chart33.xml" ContentType="application/vnd.openxmlformats-officedocument.drawingml.chart+xml"/>
  <Override PartName="/ppt/charts/chart34.xml" ContentType="application/vnd.openxmlformats-officedocument.drawingml.chart+xml"/>
  <Override PartName="/ppt/charts/chart35.xml" ContentType="application/vnd.openxmlformats-officedocument.drawingml.chart+xml"/>
  <Override PartName="/ppt/charts/chart36.xml" ContentType="application/vnd.openxmlformats-officedocument.drawingml.chart+xml"/>
  <Override PartName="/ppt/charts/chart37.xml" ContentType="application/vnd.openxmlformats-officedocument.drawingml.chart+xml"/>
  <Override PartName="/ppt/charts/chart38.xml" ContentType="application/vnd.openxmlformats-officedocument.drawingml.chart+xml"/>
  <Override PartName="/ppt/charts/chart39.xml" ContentType="application/vnd.openxmlformats-officedocument.drawingml.chart+xml"/>
  <Override PartName="/ppt/charts/chart4.xml" ContentType="application/vnd.openxmlformats-officedocument.drawingml.chart+xml"/>
  <Override PartName="/ppt/charts/chart40.xml" ContentType="application/vnd.openxmlformats-officedocument.drawingml.chart+xml"/>
  <Override PartName="/ppt/charts/chart41.xml" ContentType="application/vnd.openxmlformats-officedocument.drawingml.chart+xml"/>
  <Override PartName="/ppt/charts/chart42.xml" ContentType="application/vnd.openxmlformats-officedocument.drawingml.chart+xml"/>
  <Override PartName="/ppt/charts/chart43.xml" ContentType="application/vnd.openxmlformats-officedocument.drawingml.chart+xml"/>
  <Override PartName="/ppt/charts/chart44.xml" ContentType="application/vnd.openxmlformats-officedocument.drawingml.chart+xml"/>
  <Override PartName="/ppt/charts/chart45.xml" ContentType="application/vnd.openxmlformats-officedocument.drawingml.chart+xml"/>
  <Override PartName="/ppt/charts/chart46.xml" ContentType="application/vnd.openxmlformats-officedocument.drawingml.chart+xml"/>
  <Override PartName="/ppt/charts/chart47.xml" ContentType="application/vnd.openxmlformats-officedocument.drawingml.chart+xml"/>
  <Override PartName="/ppt/charts/chart48.xml" ContentType="application/vnd.openxmlformats-officedocument.drawingml.chart+xml"/>
  <Override PartName="/ppt/charts/chart49.xml" ContentType="application/vnd.openxmlformats-officedocument.drawingml.chart+xml"/>
  <Override PartName="/ppt/charts/chart5.xml" ContentType="application/vnd.openxmlformats-officedocument.drawingml.chart+xml"/>
  <Override PartName="/ppt/charts/chart50.xml" ContentType="application/vnd.openxmlformats-officedocument.drawingml.chart+xml"/>
  <Override PartName="/ppt/charts/chart51.xml" ContentType="application/vnd.openxmlformats-officedocument.drawingml.chart+xml"/>
  <Override PartName="/ppt/charts/chart52.xml" ContentType="application/vnd.openxmlformats-officedocument.drawingml.chart+xml"/>
  <Override PartName="/ppt/charts/chart53.xml" ContentType="application/vnd.openxmlformats-officedocument.drawingml.chart+xml"/>
  <Override PartName="/ppt/charts/chart54.xml" ContentType="application/vnd.openxmlformats-officedocument.drawingml.chart+xml"/>
  <Override PartName="/ppt/charts/chart55.xml" ContentType="application/vnd.openxmlformats-officedocument.drawingml.chart+xml"/>
  <Override PartName="/ppt/charts/chart56.xml" ContentType="application/vnd.openxmlformats-officedocument.drawingml.chart+xml"/>
  <Override PartName="/ppt/charts/chart57.xml" ContentType="application/vnd.openxmlformats-officedocument.drawingml.chart+xml"/>
  <Override PartName="/ppt/charts/chart58.xml" ContentType="application/vnd.openxmlformats-officedocument.drawingml.chart+xml"/>
  <Override PartName="/ppt/charts/chart59.xml" ContentType="application/vnd.openxmlformats-officedocument.drawingml.chart+xml"/>
  <Override PartName="/ppt/charts/chart6.xml" ContentType="application/vnd.openxmlformats-officedocument.drawingml.chart+xml"/>
  <Override PartName="/ppt/charts/chart60.xml" ContentType="application/vnd.openxmlformats-officedocument.drawingml.chart+xml"/>
  <Override PartName="/ppt/charts/chart61.xml" ContentType="application/vnd.openxmlformats-officedocument.drawingml.chart+xml"/>
  <Override PartName="/ppt/charts/chart62.xml" ContentType="application/vnd.openxmlformats-officedocument.drawingml.chart+xml"/>
  <Override PartName="/ppt/charts/chart63.xml" ContentType="application/vnd.openxmlformats-officedocument.drawingml.chart+xml"/>
  <Override PartName="/ppt/charts/chart64.xml" ContentType="application/vnd.openxmlformats-officedocument.drawingml.chart+xml"/>
  <Override PartName="/ppt/charts/chart65.xml" ContentType="application/vnd.openxmlformats-officedocument.drawingml.chart+xml"/>
  <Override PartName="/ppt/charts/chart66.xml" ContentType="application/vnd.openxmlformats-officedocument.drawingml.chart+xml"/>
  <Override PartName="/ppt/charts/chart67.xml" ContentType="application/vnd.openxmlformats-officedocument.drawingml.chart+xml"/>
  <Override PartName="/ppt/charts/chart68.xml" ContentType="application/vnd.openxmlformats-officedocument.drawingml.chart+xml"/>
  <Override PartName="/ppt/charts/chart69.xml" ContentType="application/vnd.openxmlformats-officedocument.drawingml.chart+xml"/>
  <Override PartName="/ppt/charts/chart7.xml" ContentType="application/vnd.openxmlformats-officedocument.drawingml.chart+xml"/>
  <Override PartName="/ppt/charts/chart70.xml" ContentType="application/vnd.openxmlformats-officedocument.drawingml.chart+xml"/>
  <Override PartName="/ppt/charts/chart71.xml" ContentType="application/vnd.openxmlformats-officedocument.drawingml.chart+xml"/>
  <Override PartName="/ppt/charts/chart72.xml" ContentType="application/vnd.openxmlformats-officedocument.drawingml.chart+xml"/>
  <Override PartName="/ppt/charts/chart73.xml" ContentType="application/vnd.openxmlformats-officedocument.drawingml.chart+xml"/>
  <Override PartName="/ppt/charts/chart74.xml" ContentType="application/vnd.openxmlformats-officedocument.drawingml.chart+xml"/>
  <Override PartName="/ppt/charts/chart75.xml" ContentType="application/vnd.openxmlformats-officedocument.drawingml.chart+xml"/>
  <Override PartName="/ppt/charts/chart76.xml" ContentType="application/vnd.openxmlformats-officedocument.drawingml.chart+xml"/>
  <Override PartName="/ppt/charts/chart77.xml" ContentType="application/vnd.openxmlformats-officedocument.drawingml.chart+xml"/>
  <Override PartName="/ppt/charts/chart78.xml" ContentType="application/vnd.openxmlformats-officedocument.drawingml.chart+xml"/>
  <Override PartName="/ppt/charts/chart79.xml" ContentType="application/vnd.openxmlformats-officedocument.drawingml.chart+xml"/>
  <Override PartName="/ppt/charts/chart8.xml" ContentType="application/vnd.openxmlformats-officedocument.drawingml.chart+xml"/>
  <Override PartName="/ppt/charts/chart80.xml" ContentType="application/vnd.openxmlformats-officedocument.drawingml.chart+xml"/>
  <Override PartName="/ppt/charts/chart81.xml" ContentType="application/vnd.openxmlformats-officedocument.drawingml.chart+xml"/>
  <Override PartName="/ppt/charts/chart82.xml" ContentType="application/vnd.openxmlformats-officedocument.drawingml.chart+xml"/>
  <Override PartName="/ppt/charts/chart83.xml" ContentType="application/vnd.openxmlformats-officedocument.drawingml.chart+xml"/>
  <Override PartName="/ppt/charts/chart84.xml" ContentType="application/vnd.openxmlformats-officedocument.drawingml.chart+xml"/>
  <Override PartName="/ppt/charts/chart85.xml" ContentType="application/vnd.openxmlformats-officedocument.drawingml.chart+xml"/>
  <Override PartName="/ppt/charts/chart86.xml" ContentType="application/vnd.openxmlformats-officedocument.drawingml.chart+xml"/>
  <Override PartName="/ppt/charts/chart87.xml" ContentType="application/vnd.openxmlformats-officedocument.drawingml.chart+xml"/>
  <Override PartName="/ppt/charts/chart88.xml" ContentType="application/vnd.openxmlformats-officedocument.drawingml.chart+xml"/>
  <Override PartName="/ppt/charts/chart89.xml" ContentType="application/vnd.openxmlformats-officedocument.drawingml.chart+xml"/>
  <Override PartName="/ppt/charts/chart9.xml" ContentType="application/vnd.openxmlformats-officedocument.drawingml.chart+xml"/>
  <Override PartName="/ppt/charts/chart90.xml" ContentType="application/vnd.openxmlformats-officedocument.drawingml.chart+xml"/>
  <Override PartName="/ppt/charts/chart91.xml" ContentType="application/vnd.openxmlformats-officedocument.drawingml.chart+xml"/>
  <Override PartName="/ppt/charts/chart92.xml" ContentType="application/vnd.openxmlformats-officedocument.drawingml.chart+xml"/>
  <Override PartName="/ppt/charts/chart93.xml" ContentType="application/vnd.openxmlformats-officedocument.drawingml.chart+xml"/>
  <Override PartName="/ppt/charts/chart94.xml" ContentType="application/vnd.openxmlformats-officedocument.drawingml.chart+xml"/>
  <Override PartName="/ppt/charts/chart95.xml" ContentType="application/vnd.openxmlformats-officedocument.drawingml.chart+xml"/>
  <Override PartName="/ppt/charts/chart96.xml" ContentType="application/vnd.openxmlformats-officedocument.drawingml.chart+xml"/>
  <Override PartName="/ppt/charts/chart97.xml" ContentType="application/vnd.openxmlformats-officedocument.drawingml.chart+xml"/>
  <Override PartName="/ppt/charts/chart98.xml" ContentType="application/vnd.openxmlformats-officedocument.drawingml.chart+xml"/>
  <Override PartName="/ppt/charts/chart99.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9.xml" ContentType="application/vnd.openxmlformats-officedocument.presentationml.notesSlide+xml"/>
  <Override PartName="/ppt/notesSlides/notesSlide15.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8.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3.xml" ContentType="application/vnd.openxmlformats-officedocument.presentationml.notesSlide+xml"/>
  <Override PartName="/ppt/notesSlides/notesSlide185.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notesSlides/notesSlide207.xml" ContentType="application/vnd.openxmlformats-officedocument.presentationml.notesSlide+xml"/>
  <Override PartName="/ppt/notesSlides/notesSlide208.xml" ContentType="application/vnd.openxmlformats-officedocument.presentationml.notesSlide+xml"/>
  <Override PartName="/ppt/notesSlides/notesSlide209.xml" ContentType="application/vnd.openxmlformats-officedocument.presentationml.notesSlide+xml"/>
  <Override PartName="/ppt/notesSlides/notesSlide21.xml" ContentType="application/vnd.openxmlformats-officedocument.presentationml.notesSlide+xml"/>
  <Override PartName="/ppt/notesSlides/notesSlide210.xml" ContentType="application/vnd.openxmlformats-officedocument.presentationml.notesSlide+xml"/>
  <Override PartName="/ppt/notesSlides/notesSlide211.xml" ContentType="application/vnd.openxmlformats-officedocument.presentationml.notesSlide+xml"/>
  <Override PartName="/ppt/notesSlides/notesSlide212.xml" ContentType="application/vnd.openxmlformats-officedocument.presentationml.notesSlide+xml"/>
  <Override PartName="/ppt/notesSlides/notesSlide213.xml" ContentType="application/vnd.openxmlformats-officedocument.presentationml.notesSlide+xml"/>
  <Override PartName="/ppt/notesSlides/notesSlide214.xml" ContentType="application/vnd.openxmlformats-officedocument.presentationml.notesSlide+xml"/>
  <Override PartName="/ppt/notesSlides/notesSlide215.xml" ContentType="application/vnd.openxmlformats-officedocument.presentationml.notesSlide+xml"/>
  <Override PartName="/ppt/notesSlides/notesSlide216.xml" ContentType="application/vnd.openxmlformats-officedocument.presentationml.notesSlide+xml"/>
  <Override PartName="/ppt/notesSlides/notesSlide217.xml" ContentType="application/vnd.openxmlformats-officedocument.presentationml.notesSlide+xml"/>
  <Override PartName="/ppt/notesSlides/notesSlide218.xml" ContentType="application/vnd.openxmlformats-officedocument.presentationml.notesSlide+xml"/>
  <Override PartName="/ppt/notesSlides/notesSlide219.xml" ContentType="application/vnd.openxmlformats-officedocument.presentationml.notesSlide+xml"/>
  <Override PartName="/ppt/notesSlides/notesSlide22.xml" ContentType="application/vnd.openxmlformats-officedocument.presentationml.notesSlide+xml"/>
  <Override PartName="/ppt/notesSlides/notesSlide220.xml" ContentType="application/vnd.openxmlformats-officedocument.presentationml.notesSlide+xml"/>
  <Override PartName="/ppt/notesSlides/notesSlide221.xml" ContentType="application/vnd.openxmlformats-officedocument.presentationml.notesSlide+xml"/>
  <Override PartName="/ppt/notesSlides/notesSlide222.xml" ContentType="application/vnd.openxmlformats-officedocument.presentationml.notesSlide+xml"/>
  <Override PartName="/ppt/notesSlides/notesSlide223.xml" ContentType="application/vnd.openxmlformats-officedocument.presentationml.notesSlide+xml"/>
  <Override PartName="/ppt/notesSlides/notesSlide224.xml" ContentType="application/vnd.openxmlformats-officedocument.presentationml.notesSlide+xml"/>
  <Override PartName="/ppt/notesSlides/notesSlide225.xml" ContentType="application/vnd.openxmlformats-officedocument.presentationml.notesSlide+xml"/>
  <Override PartName="/ppt/notesSlides/notesSlide226.xml" ContentType="application/vnd.openxmlformats-officedocument.presentationml.notesSlide+xml"/>
  <Override PartName="/ppt/notesSlides/notesSlide227.xml" ContentType="application/vnd.openxmlformats-officedocument.presentationml.notesSlide+xml"/>
  <Override PartName="/ppt/notesSlides/notesSlide228.xml" ContentType="application/vnd.openxmlformats-officedocument.presentationml.notesSlide+xml"/>
  <Override PartName="/ppt/notesSlides/notesSlide229.xml" ContentType="application/vnd.openxmlformats-officedocument.presentationml.notesSlide+xml"/>
  <Override PartName="/ppt/notesSlides/notesSlide23.xml" ContentType="application/vnd.openxmlformats-officedocument.presentationml.notesSlide+xml"/>
  <Override PartName="/ppt/notesSlides/notesSlide230.xml" ContentType="application/vnd.openxmlformats-officedocument.presentationml.notesSlide+xml"/>
  <Override PartName="/ppt/notesSlides/notesSlide231.xml" ContentType="application/vnd.openxmlformats-officedocument.presentationml.notesSlide+xml"/>
  <Override PartName="/ppt/notesSlides/notesSlide232.xml" ContentType="application/vnd.openxmlformats-officedocument.presentationml.notesSlide+xml"/>
  <Override PartName="/ppt/notesSlides/notesSlide233.xml" ContentType="application/vnd.openxmlformats-officedocument.presentationml.notesSlide+xml"/>
  <Override PartName="/ppt/notesSlides/notesSlide234.xml" ContentType="application/vnd.openxmlformats-officedocument.presentationml.notesSlide+xml"/>
  <Override PartName="/ppt/notesSlides/notesSlide235.xml" ContentType="application/vnd.openxmlformats-officedocument.presentationml.notesSlide+xml"/>
  <Override PartName="/ppt/notesSlides/notesSlide236.xml" ContentType="application/vnd.openxmlformats-officedocument.presentationml.notesSlide+xml"/>
  <Override PartName="/ppt/notesSlides/notesSlide237.xml" ContentType="application/vnd.openxmlformats-officedocument.presentationml.notesSlide+xml"/>
  <Override PartName="/ppt/notesSlides/notesSlide238.xml" ContentType="application/vnd.openxmlformats-officedocument.presentationml.notesSlide+xml"/>
  <Override PartName="/ppt/notesSlides/notesSlide24.xml" ContentType="application/vnd.openxmlformats-officedocument.presentationml.notesSlide+xml"/>
  <Override PartName="/ppt/notesSlides/notesSlide249.xml" ContentType="application/vnd.openxmlformats-officedocument.presentationml.notesSlide+xml"/>
  <Override PartName="/ppt/notesSlides/notesSlide25.xml" ContentType="application/vnd.openxmlformats-officedocument.presentationml.notesSlide+xml"/>
  <Override PartName="/ppt/notesSlides/notesSlide250.xml" ContentType="application/vnd.openxmlformats-officedocument.presentationml.notesSlide+xml"/>
  <Override PartName="/ppt/notesSlides/notesSlide251.xml" ContentType="application/vnd.openxmlformats-officedocument.presentationml.notesSlide+xml"/>
  <Override PartName="/ppt/notesSlides/notesSlide252.xml" ContentType="application/vnd.openxmlformats-officedocument.presentationml.notesSlide+xml"/>
  <Override PartName="/ppt/notesSlides/notesSlide253.xml" ContentType="application/vnd.openxmlformats-officedocument.presentationml.notesSlide+xml"/>
  <Override PartName="/ppt/notesSlides/notesSlide254.xml" ContentType="application/vnd.openxmlformats-officedocument.presentationml.notesSlide+xml"/>
  <Override PartName="/ppt/notesSlides/notesSlide255.xml" ContentType="application/vnd.openxmlformats-officedocument.presentationml.notesSlide+xml"/>
  <Override PartName="/ppt/notesSlides/notesSlide256.xml" ContentType="application/vnd.openxmlformats-officedocument.presentationml.notesSlide+xml"/>
  <Override PartName="/ppt/notesSlides/notesSlide257.xml" ContentType="application/vnd.openxmlformats-officedocument.presentationml.notesSlide+xml"/>
  <Override PartName="/ppt/notesSlides/notesSlide258.xml" ContentType="application/vnd.openxmlformats-officedocument.presentationml.notesSlide+xml"/>
  <Override PartName="/ppt/notesSlides/notesSlide259.xml" ContentType="application/vnd.openxmlformats-officedocument.presentationml.notesSlide+xml"/>
  <Override PartName="/ppt/notesSlides/notesSlide26.xml" ContentType="application/vnd.openxmlformats-officedocument.presentationml.notesSlide+xml"/>
  <Override PartName="/ppt/notesSlides/notesSlide260.xml" ContentType="application/vnd.openxmlformats-officedocument.presentationml.notesSlide+xml"/>
  <Override PartName="/ppt/notesSlides/notesSlide261.xml" ContentType="application/vnd.openxmlformats-officedocument.presentationml.notesSlide+xml"/>
  <Override PartName="/ppt/notesSlides/notesSlide262.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552" r:id="rId304"/>
    <p:sldId id="546" r:id="rId298"/>
    <p:sldId id="547" r:id="rId299"/>
    <p:sldId id="548" r:id="rId300"/>
    <p:sldId id="549" r:id="rId301"/>
    <p:sldId id="550" r:id="rId302"/>
    <p:sldId id="551" r:id="rId303"/>
    <p:sldId id="561" r:id="rId313"/>
    <p:sldId id="553" r:id="rId305"/>
    <p:sldId id="554" r:id="rId306"/>
    <p:sldId id="555" r:id="rId307"/>
    <p:sldId id="556" r:id="rId308"/>
    <p:sldId id="557" r:id="rId309"/>
    <p:sldId id="558" r:id="rId310"/>
    <p:sldId id="559" r:id="rId311"/>
    <p:sldId id="560" r:id="rId312"/>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1" r:id="rId43"/>
    <p:sldId id="292" r:id="rId44"/>
    <p:sldId id="295" r:id="rId47"/>
    <p:sldId id="296" r:id="rId48"/>
    <p:sldId id="297" r:id="rId49"/>
    <p:sldId id="298" r:id="rId50"/>
    <p:sldId id="300" r:id="rId52"/>
    <p:sldId id="301" r:id="rId53"/>
    <p:sldId id="304" r:id="rId56"/>
    <p:sldId id="305" r:id="rId57"/>
    <p:sldId id="306" r:id="rId58"/>
    <p:sldId id="307" r:id="rId59"/>
    <p:sldId id="309" r:id="rId61"/>
    <p:sldId id="310" r:id="rId62"/>
    <p:sldId id="313" r:id="rId65"/>
    <p:sldId id="314" r:id="rId66"/>
    <p:sldId id="315" r:id="rId67"/>
    <p:sldId id="316" r:id="rId68"/>
    <p:sldId id="318" r:id="rId70"/>
    <p:sldId id="319" r:id="rId71"/>
    <p:sldId id="322" r:id="rId74"/>
    <p:sldId id="323" r:id="rId75"/>
    <p:sldId id="324" r:id="rId76"/>
    <p:sldId id="325" r:id="rId77"/>
    <p:sldId id="326" r:id="rId78"/>
    <p:sldId id="329" r:id="rId81"/>
    <p:sldId id="330" r:id="rId82"/>
    <p:sldId id="331" r:id="rId83"/>
    <p:sldId id="336" r:id="rId88"/>
    <p:sldId id="337" r:id="rId89"/>
    <p:sldId id="338" r:id="rId90"/>
    <p:sldId id="339" r:id="rId91"/>
    <p:sldId id="341" r:id="rId93"/>
    <p:sldId id="342" r:id="rId94"/>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69" r:id="rId121"/>
    <p:sldId id="370" r:id="rId122"/>
    <p:sldId id="371" r:id="rId123"/>
    <p:sldId id="372" r:id="rId124"/>
    <p:sldId id="373" r:id="rId125"/>
    <p:sldId id="374" r:id="rId126"/>
    <p:sldId id="375" r:id="rId127"/>
    <p:sldId id="376" r:id="rId128"/>
    <p:sldId id="377" r:id="rId129"/>
    <p:sldId id="378" r:id="rId130"/>
    <p:sldId id="379" r:id="rId131"/>
    <p:sldId id="380" r:id="rId132"/>
    <p:sldId id="381" r:id="rId133"/>
    <p:sldId id="383" r:id="rId135"/>
    <p:sldId id="384" r:id="rId136"/>
    <p:sldId id="387" r:id="rId139"/>
    <p:sldId id="388" r:id="rId140"/>
    <p:sldId id="389" r:id="rId141"/>
    <p:sldId id="390" r:id="rId142"/>
    <p:sldId id="392" r:id="rId144"/>
    <p:sldId id="393" r:id="rId145"/>
    <p:sldId id="396" r:id="rId148"/>
    <p:sldId id="397" r:id="rId149"/>
    <p:sldId id="398" r:id="rId150"/>
    <p:sldId id="399" r:id="rId151"/>
    <p:sldId id="401" r:id="rId153"/>
    <p:sldId id="402" r:id="rId154"/>
    <p:sldId id="405" r:id="rId157"/>
    <p:sldId id="406" r:id="rId158"/>
    <p:sldId id="407" r:id="rId159"/>
    <p:sldId id="408" r:id="rId160"/>
    <p:sldId id="410" r:id="rId162"/>
    <p:sldId id="411" r:id="rId163"/>
    <p:sldId id="414" r:id="rId166"/>
    <p:sldId id="415" r:id="rId167"/>
    <p:sldId id="416" r:id="rId168"/>
    <p:sldId id="417" r:id="rId169"/>
    <p:sldId id="418" r:id="rId170"/>
    <p:sldId id="421" r:id="rId173"/>
    <p:sldId id="422" r:id="rId174"/>
    <p:sldId id="423" r:id="rId175"/>
    <p:sldId id="428" r:id="rId180"/>
    <p:sldId id="429" r:id="rId181"/>
    <p:sldId id="430" r:id="rId182"/>
    <p:sldId id="431" r:id="rId183"/>
    <p:sldId id="433" r:id="rId185"/>
    <p:sldId id="434" r:id="rId186"/>
    <p:sldId id="437" r:id="rId189"/>
    <p:sldId id="438" r:id="rId190"/>
    <p:sldId id="439" r:id="rId191"/>
    <p:sldId id="440" r:id="rId192"/>
    <p:sldId id="441" r:id="rId193"/>
    <p:sldId id="442" r:id="rId194"/>
    <p:sldId id="443" r:id="rId195"/>
    <p:sldId id="444" r:id="rId196"/>
    <p:sldId id="445" r:id="rId197"/>
    <p:sldId id="446" r:id="rId198"/>
    <p:sldId id="447" r:id="rId199"/>
    <p:sldId id="448" r:id="rId200"/>
    <p:sldId id="449" r:id="rId201"/>
    <p:sldId id="450" r:id="rId202"/>
    <p:sldId id="451" r:id="rId203"/>
    <p:sldId id="452" r:id="rId204"/>
    <p:sldId id="453" r:id="rId205"/>
    <p:sldId id="454" r:id="rId206"/>
    <p:sldId id="455" r:id="rId207"/>
    <p:sldId id="456" r:id="rId208"/>
    <p:sldId id="457" r:id="rId209"/>
    <p:sldId id="458" r:id="rId210"/>
    <p:sldId id="460" r:id="rId212"/>
    <p:sldId id="461" r:id="rId213"/>
    <p:sldId id="462" r:id="rId214"/>
    <p:sldId id="464" r:id="rId216"/>
    <p:sldId id="465" r:id="rId217"/>
    <p:sldId id="466" r:id="rId218"/>
    <p:sldId id="468" r:id="rId220"/>
    <p:sldId id="469" r:id="rId221"/>
    <p:sldId id="470" r:id="rId222"/>
    <p:sldId id="472" r:id="rId224"/>
    <p:sldId id="473" r:id="rId225"/>
    <p:sldId id="475" r:id="rId227"/>
    <p:sldId id="478" r:id="rId230"/>
    <p:sldId id="479" r:id="rId231"/>
    <p:sldId id="480" r:id="rId232"/>
    <p:sldId id="482" r:id="rId234"/>
    <p:sldId id="483" r:id="rId235"/>
    <p:sldId id="484" r:id="rId236"/>
    <p:sldId id="485" r:id="rId237"/>
    <p:sldId id="486" r:id="rId238"/>
    <p:sldId id="487" r:id="rId239"/>
    <p:sldId id="488" r:id="rId240"/>
    <p:sldId id="489" r:id="rId241"/>
    <p:sldId id="490" r:id="rId242"/>
    <p:sldId id="491" r:id="rId243"/>
    <p:sldId id="492" r:id="rId244"/>
    <p:sldId id="493" r:id="rId245"/>
    <p:sldId id="494" r:id="rId246"/>
    <p:sldId id="495" r:id="rId247"/>
    <p:sldId id="496" r:id="rId248"/>
    <p:sldId id="497" r:id="rId249"/>
    <p:sldId id="498" r:id="rId250"/>
    <p:sldId id="499" r:id="rId251"/>
    <p:sldId id="500" r:id="rId252"/>
    <p:sldId id="501" r:id="rId253"/>
    <p:sldId id="502" r:id="rId254"/>
    <p:sldId id="503" r:id="rId255"/>
    <p:sldId id="504" r:id="rId256"/>
    <p:sldId id="505" r:id="rId257"/>
    <p:sldId id="506" r:id="rId258"/>
    <p:sldId id="507" r:id="rId259"/>
    <p:sldId id="508" r:id="rId260"/>
    <p:sldId id="509" r:id="rId261"/>
    <p:sldId id="524" r:id="rId276"/>
    <p:sldId id="525" r:id="rId277"/>
    <p:sldId id="526" r:id="rId278"/>
    <p:sldId id="527" r:id="rId279"/>
    <p:sldId id="528" r:id="rId280"/>
    <p:sldId id="529" r:id="rId281"/>
    <p:sldId id="530" r:id="rId282"/>
    <p:sldId id="531" r:id="rId283"/>
    <p:sldId id="532" r:id="rId284"/>
    <p:sldId id="533" r:id="rId285"/>
    <p:sldId id="534" r:id="rId286"/>
    <p:sldId id="535" r:id="rId287"/>
    <p:sldId id="510" r:id="rId262"/>
    <p:sldId id="511" r:id="rId263"/>
    <p:sldId id="512" r:id="rId264"/>
    <p:sldId id="513" r:id="rId265"/>
    <p:sldId id="514" r:id="rId266"/>
    <p:sldId id="515" r:id="rId267"/>
    <p:sldId id="516" r:id="rId268"/>
    <p:sldId id="517" r:id="rId269"/>
    <p:sldId id="518" r:id="rId270"/>
    <p:sldId id="519" r:id="rId271"/>
    <p:sldId id="520" r:id="rId272"/>
    <p:sldId id="521" r:id="rId273"/>
    <p:sldId id="522" r:id="rId274"/>
    <p:sldId id="523" r:id="rId275"/>
    <p:sldId id="562" r:id="rId233"/>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26.xml"/><Relationship Id="rId18" Type="http://schemas.openxmlformats.org/officeDocument/2006/relationships/slide" Target="slides/slide27.xml"/><Relationship Id="rId19" Type="http://schemas.openxmlformats.org/officeDocument/2006/relationships/slide" Target="slides/slide28.xml"/><Relationship Id="rId20" Type="http://schemas.openxmlformats.org/officeDocument/2006/relationships/slide" Target="slides/slide29.xml"/><Relationship Id="rId21" Type="http://schemas.openxmlformats.org/officeDocument/2006/relationships/slide" Target="slides/slide30.xml"/><Relationship Id="rId22" Type="http://schemas.openxmlformats.org/officeDocument/2006/relationships/slide" Target="slides/slide31.xml"/><Relationship Id="rId23" Type="http://schemas.openxmlformats.org/officeDocument/2006/relationships/slide" Target="slides/slide32.xml"/><Relationship Id="rId24" Type="http://schemas.openxmlformats.org/officeDocument/2006/relationships/slide" Target="slides/slide33.xml"/><Relationship Id="rId25" Type="http://schemas.openxmlformats.org/officeDocument/2006/relationships/slide" Target="slides/slide34.xml"/><Relationship Id="rId26" Type="http://schemas.openxmlformats.org/officeDocument/2006/relationships/slide" Target="slides/slide35.xml"/><Relationship Id="rId27" Type="http://schemas.openxmlformats.org/officeDocument/2006/relationships/slide" Target="slides/slide36.xml"/><Relationship Id="rId28" Type="http://schemas.openxmlformats.org/officeDocument/2006/relationships/slide" Target="slides/slide37.xml"/><Relationship Id="rId29" Type="http://schemas.openxmlformats.org/officeDocument/2006/relationships/slide" Target="slides/slide38.xml"/><Relationship Id="rId30" Type="http://schemas.openxmlformats.org/officeDocument/2006/relationships/slide" Target="slides/slide39.xml"/><Relationship Id="rId31" Type="http://schemas.openxmlformats.org/officeDocument/2006/relationships/slide" Target="slides/slide40.xml"/><Relationship Id="rId32" Type="http://schemas.openxmlformats.org/officeDocument/2006/relationships/slide" Target="slides/slide41.xml"/><Relationship Id="rId33" Type="http://schemas.openxmlformats.org/officeDocument/2006/relationships/slide" Target="slides/slide42.xml"/><Relationship Id="rId34" Type="http://schemas.openxmlformats.org/officeDocument/2006/relationships/slide" Target="slides/slide43.xml"/><Relationship Id="rId35" Type="http://schemas.openxmlformats.org/officeDocument/2006/relationships/slide" Target="slides/slide44.xml"/><Relationship Id="rId36" Type="http://schemas.openxmlformats.org/officeDocument/2006/relationships/slide" Target="slides/slide45.xml"/><Relationship Id="rId37" Type="http://schemas.openxmlformats.org/officeDocument/2006/relationships/slide" Target="slides/slide46.xml"/><Relationship Id="rId38" Type="http://schemas.openxmlformats.org/officeDocument/2006/relationships/slide" Target="slides/slide47.xml"/><Relationship Id="rId39" Type="http://schemas.openxmlformats.org/officeDocument/2006/relationships/slide" Target="slides/slide48.xml"/><Relationship Id="rId40" Type="http://schemas.openxmlformats.org/officeDocument/2006/relationships/slide" Target="slides/slide49.xml"/><Relationship Id="rId41" Type="http://schemas.openxmlformats.org/officeDocument/2006/relationships/slide" Target="slides/slide50.xml"/><Relationship Id="rId43" Type="http://schemas.openxmlformats.org/officeDocument/2006/relationships/slide" Target="slides/slide51.xml"/><Relationship Id="rId44" Type="http://schemas.openxmlformats.org/officeDocument/2006/relationships/slide" Target="slides/slide52.xml"/><Relationship Id="rId47" Type="http://schemas.openxmlformats.org/officeDocument/2006/relationships/slide" Target="slides/slide53.xml"/><Relationship Id="rId48" Type="http://schemas.openxmlformats.org/officeDocument/2006/relationships/slide" Target="slides/slide54.xml"/><Relationship Id="rId49" Type="http://schemas.openxmlformats.org/officeDocument/2006/relationships/slide" Target="slides/slide55.xml"/><Relationship Id="rId50" Type="http://schemas.openxmlformats.org/officeDocument/2006/relationships/slide" Target="slides/slide56.xml"/><Relationship Id="rId52" Type="http://schemas.openxmlformats.org/officeDocument/2006/relationships/slide" Target="slides/slide57.xml"/><Relationship Id="rId53" Type="http://schemas.openxmlformats.org/officeDocument/2006/relationships/slide" Target="slides/slide58.xml"/><Relationship Id="rId56" Type="http://schemas.openxmlformats.org/officeDocument/2006/relationships/slide" Target="slides/slide59.xml"/><Relationship Id="rId57" Type="http://schemas.openxmlformats.org/officeDocument/2006/relationships/slide" Target="slides/slide60.xml"/><Relationship Id="rId58" Type="http://schemas.openxmlformats.org/officeDocument/2006/relationships/slide" Target="slides/slide61.xml"/><Relationship Id="rId59" Type="http://schemas.openxmlformats.org/officeDocument/2006/relationships/slide" Target="slides/slide62.xml"/><Relationship Id="rId61" Type="http://schemas.openxmlformats.org/officeDocument/2006/relationships/slide" Target="slides/slide63.xml"/><Relationship Id="rId62" Type="http://schemas.openxmlformats.org/officeDocument/2006/relationships/slide" Target="slides/slide64.xml"/><Relationship Id="rId65" Type="http://schemas.openxmlformats.org/officeDocument/2006/relationships/slide" Target="slides/slide65.xml"/><Relationship Id="rId66" Type="http://schemas.openxmlformats.org/officeDocument/2006/relationships/slide" Target="slides/slide66.xml"/><Relationship Id="rId67" Type="http://schemas.openxmlformats.org/officeDocument/2006/relationships/slide" Target="slides/slide67.xml"/><Relationship Id="rId68"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4" Type="http://schemas.openxmlformats.org/officeDocument/2006/relationships/slide" Target="slides/slide71.xml"/><Relationship Id="rId75" Type="http://schemas.openxmlformats.org/officeDocument/2006/relationships/slide" Target="slides/slide72.xml"/><Relationship Id="rId76" Type="http://schemas.openxmlformats.org/officeDocument/2006/relationships/slide" Target="slides/slide73.xml"/><Relationship Id="rId77" Type="http://schemas.openxmlformats.org/officeDocument/2006/relationships/slide" Target="slides/slide74.xml"/><Relationship Id="rId78" Type="http://schemas.openxmlformats.org/officeDocument/2006/relationships/slide" Target="slides/slide75.xml"/><Relationship Id="rId81" Type="http://schemas.openxmlformats.org/officeDocument/2006/relationships/slide" Target="slides/slide76.xml"/><Relationship Id="rId82" Type="http://schemas.openxmlformats.org/officeDocument/2006/relationships/slide" Target="slides/slide77.xml"/><Relationship Id="rId83" Type="http://schemas.openxmlformats.org/officeDocument/2006/relationships/slide" Target="slides/slide78.xml"/><Relationship Id="rId88" Type="http://schemas.openxmlformats.org/officeDocument/2006/relationships/slide" Target="slides/slide79.xml"/><Relationship Id="rId89" Type="http://schemas.openxmlformats.org/officeDocument/2006/relationships/slide" Target="slides/slide80.xml"/><Relationship Id="rId90" Type="http://schemas.openxmlformats.org/officeDocument/2006/relationships/slide" Target="slides/slide81.xml"/><Relationship Id="rId91" Type="http://schemas.openxmlformats.org/officeDocument/2006/relationships/slide" Target="slides/slide82.xml"/><Relationship Id="rId93" Type="http://schemas.openxmlformats.org/officeDocument/2006/relationships/slide" Target="slides/slide83.xml"/><Relationship Id="rId94" Type="http://schemas.openxmlformats.org/officeDocument/2006/relationships/slide" Target="slides/slide84.xml"/><Relationship Id="rId97" Type="http://schemas.openxmlformats.org/officeDocument/2006/relationships/slide" Target="slides/slide85.xml"/><Relationship Id="rId98" Type="http://schemas.openxmlformats.org/officeDocument/2006/relationships/slide" Target="slides/slide86.xml"/><Relationship Id="rId99" Type="http://schemas.openxmlformats.org/officeDocument/2006/relationships/slide" Target="slides/slide87.xml"/><Relationship Id="rId100" Type="http://schemas.openxmlformats.org/officeDocument/2006/relationships/slide" Target="slides/slide88.xml"/><Relationship Id="rId101" Type="http://schemas.openxmlformats.org/officeDocument/2006/relationships/slide" Target="slides/slide89.xml"/><Relationship Id="rId102" Type="http://schemas.openxmlformats.org/officeDocument/2006/relationships/slide" Target="slides/slide90.xml"/><Relationship Id="rId103" Type="http://schemas.openxmlformats.org/officeDocument/2006/relationships/slide" Target="slides/slide91.xml"/><Relationship Id="rId104" Type="http://schemas.openxmlformats.org/officeDocument/2006/relationships/slide" Target="slides/slide92.xml"/><Relationship Id="rId105" Type="http://schemas.openxmlformats.org/officeDocument/2006/relationships/slide" Target="slides/slide93.xml"/><Relationship Id="rId106" Type="http://schemas.openxmlformats.org/officeDocument/2006/relationships/slide" Target="slides/slide94.xml"/><Relationship Id="rId107" Type="http://schemas.openxmlformats.org/officeDocument/2006/relationships/slide" Target="slides/slide95.xml"/><Relationship Id="rId108" Type="http://schemas.openxmlformats.org/officeDocument/2006/relationships/slide" Target="slides/slide96.xml"/><Relationship Id="rId109" Type="http://schemas.openxmlformats.org/officeDocument/2006/relationships/slide" Target="slides/slide97.xml"/><Relationship Id="rId110" Type="http://schemas.openxmlformats.org/officeDocument/2006/relationships/slide" Target="slides/slide98.xml"/><Relationship Id="rId111" Type="http://schemas.openxmlformats.org/officeDocument/2006/relationships/slide" Target="slides/slide99.xml"/><Relationship Id="rId112" Type="http://schemas.openxmlformats.org/officeDocument/2006/relationships/slide" Target="slides/slide100.xml"/><Relationship Id="rId113" Type="http://schemas.openxmlformats.org/officeDocument/2006/relationships/slide" Target="slides/slide101.xml"/><Relationship Id="rId114" Type="http://schemas.openxmlformats.org/officeDocument/2006/relationships/slide" Target="slides/slide102.xml"/><Relationship Id="rId115" Type="http://schemas.openxmlformats.org/officeDocument/2006/relationships/slide" Target="slides/slide103.xml"/><Relationship Id="rId116" Type="http://schemas.openxmlformats.org/officeDocument/2006/relationships/slide" Target="slides/slide104.xml"/><Relationship Id="rId117" Type="http://schemas.openxmlformats.org/officeDocument/2006/relationships/slide" Target="slides/slide105.xml"/><Relationship Id="rId118" Type="http://schemas.openxmlformats.org/officeDocument/2006/relationships/slide" Target="slides/slide106.xml"/><Relationship Id="rId119" Type="http://schemas.openxmlformats.org/officeDocument/2006/relationships/slide" Target="slides/slide107.xml"/><Relationship Id="rId120" Type="http://schemas.openxmlformats.org/officeDocument/2006/relationships/slide" Target="slides/slide108.xml"/><Relationship Id="rId121" Type="http://schemas.openxmlformats.org/officeDocument/2006/relationships/slide" Target="slides/slide109.xml"/><Relationship Id="rId122" Type="http://schemas.openxmlformats.org/officeDocument/2006/relationships/slide" Target="slides/slide110.xml"/><Relationship Id="rId123" Type="http://schemas.openxmlformats.org/officeDocument/2006/relationships/slide" Target="slides/slide111.xml"/><Relationship Id="rId124" Type="http://schemas.openxmlformats.org/officeDocument/2006/relationships/slide" Target="slides/slide112.xml"/><Relationship Id="rId125" Type="http://schemas.openxmlformats.org/officeDocument/2006/relationships/slide" Target="slides/slide113.xml"/><Relationship Id="rId126" Type="http://schemas.openxmlformats.org/officeDocument/2006/relationships/slide" Target="slides/slide114.xml"/><Relationship Id="rId127" Type="http://schemas.openxmlformats.org/officeDocument/2006/relationships/slide" Target="slides/slide115.xml"/><Relationship Id="rId128" Type="http://schemas.openxmlformats.org/officeDocument/2006/relationships/slide" Target="slides/slide116.xml"/><Relationship Id="rId129" Type="http://schemas.openxmlformats.org/officeDocument/2006/relationships/slide" Target="slides/slide117.xml"/><Relationship Id="rId130" Type="http://schemas.openxmlformats.org/officeDocument/2006/relationships/slide" Target="slides/slide118.xml"/><Relationship Id="rId131" Type="http://schemas.openxmlformats.org/officeDocument/2006/relationships/slide" Target="slides/slide119.xml"/><Relationship Id="rId132" Type="http://schemas.openxmlformats.org/officeDocument/2006/relationships/slide" Target="slides/slide120.xml"/><Relationship Id="rId133" Type="http://schemas.openxmlformats.org/officeDocument/2006/relationships/slide" Target="slides/slide121.xml"/><Relationship Id="rId135" Type="http://schemas.openxmlformats.org/officeDocument/2006/relationships/slide" Target="slides/slide122.xml"/><Relationship Id="rId136" Type="http://schemas.openxmlformats.org/officeDocument/2006/relationships/slide" Target="slides/slide123.xml"/><Relationship Id="rId139" Type="http://schemas.openxmlformats.org/officeDocument/2006/relationships/slide" Target="slides/slide124.xml"/><Relationship Id="rId140" Type="http://schemas.openxmlformats.org/officeDocument/2006/relationships/slide" Target="slides/slide125.xml"/><Relationship Id="rId141" Type="http://schemas.openxmlformats.org/officeDocument/2006/relationships/slide" Target="slides/slide126.xml"/><Relationship Id="rId142" Type="http://schemas.openxmlformats.org/officeDocument/2006/relationships/slide" Target="slides/slide127.xml"/><Relationship Id="rId144" Type="http://schemas.openxmlformats.org/officeDocument/2006/relationships/slide" Target="slides/slide128.xml"/><Relationship Id="rId145" Type="http://schemas.openxmlformats.org/officeDocument/2006/relationships/slide" Target="slides/slide129.xml"/><Relationship Id="rId148" Type="http://schemas.openxmlformats.org/officeDocument/2006/relationships/slide" Target="slides/slide130.xml"/><Relationship Id="rId149" Type="http://schemas.openxmlformats.org/officeDocument/2006/relationships/slide" Target="slides/slide131.xml"/><Relationship Id="rId150" Type="http://schemas.openxmlformats.org/officeDocument/2006/relationships/slide" Target="slides/slide132.xml"/><Relationship Id="rId151" Type="http://schemas.openxmlformats.org/officeDocument/2006/relationships/slide" Target="slides/slide133.xml"/><Relationship Id="rId153" Type="http://schemas.openxmlformats.org/officeDocument/2006/relationships/slide" Target="slides/slide134.xml"/><Relationship Id="rId154" Type="http://schemas.openxmlformats.org/officeDocument/2006/relationships/slide" Target="slides/slide135.xml"/><Relationship Id="rId157" Type="http://schemas.openxmlformats.org/officeDocument/2006/relationships/slide" Target="slides/slide136.xml"/><Relationship Id="rId158" Type="http://schemas.openxmlformats.org/officeDocument/2006/relationships/slide" Target="slides/slide137.xml"/><Relationship Id="rId159" Type="http://schemas.openxmlformats.org/officeDocument/2006/relationships/slide" Target="slides/slide138.xml"/><Relationship Id="rId160" Type="http://schemas.openxmlformats.org/officeDocument/2006/relationships/slide" Target="slides/slide139.xml"/><Relationship Id="rId162" Type="http://schemas.openxmlformats.org/officeDocument/2006/relationships/slide" Target="slides/slide140.xml"/><Relationship Id="rId163" Type="http://schemas.openxmlformats.org/officeDocument/2006/relationships/slide" Target="slides/slide141.xml"/><Relationship Id="rId166" Type="http://schemas.openxmlformats.org/officeDocument/2006/relationships/slide" Target="slides/slide142.xml"/><Relationship Id="rId167" Type="http://schemas.openxmlformats.org/officeDocument/2006/relationships/slide" Target="slides/slide143.xml"/><Relationship Id="rId168" Type="http://schemas.openxmlformats.org/officeDocument/2006/relationships/slide" Target="slides/slide144.xml"/><Relationship Id="rId169" Type="http://schemas.openxmlformats.org/officeDocument/2006/relationships/slide" Target="slides/slide145.xml"/><Relationship Id="rId170" Type="http://schemas.openxmlformats.org/officeDocument/2006/relationships/slide" Target="slides/slide146.xml"/><Relationship Id="rId173" Type="http://schemas.openxmlformats.org/officeDocument/2006/relationships/slide" Target="slides/slide147.xml"/><Relationship Id="rId174" Type="http://schemas.openxmlformats.org/officeDocument/2006/relationships/slide" Target="slides/slide148.xml"/><Relationship Id="rId175" Type="http://schemas.openxmlformats.org/officeDocument/2006/relationships/slide" Target="slides/slide149.xml"/><Relationship Id="rId180" Type="http://schemas.openxmlformats.org/officeDocument/2006/relationships/slide" Target="slides/slide150.xml"/><Relationship Id="rId181" Type="http://schemas.openxmlformats.org/officeDocument/2006/relationships/slide" Target="slides/slide151.xml"/><Relationship Id="rId182" Type="http://schemas.openxmlformats.org/officeDocument/2006/relationships/slide" Target="slides/slide152.xml"/><Relationship Id="rId183" Type="http://schemas.openxmlformats.org/officeDocument/2006/relationships/slide" Target="slides/slide153.xml"/><Relationship Id="rId185" Type="http://schemas.openxmlformats.org/officeDocument/2006/relationships/slide" Target="slides/slide154.xml"/><Relationship Id="rId186" Type="http://schemas.openxmlformats.org/officeDocument/2006/relationships/slide" Target="slides/slide155.xml"/><Relationship Id="rId189" Type="http://schemas.openxmlformats.org/officeDocument/2006/relationships/slide" Target="slides/slide156.xml"/><Relationship Id="rId190" Type="http://schemas.openxmlformats.org/officeDocument/2006/relationships/slide" Target="slides/slide157.xml"/><Relationship Id="rId191" Type="http://schemas.openxmlformats.org/officeDocument/2006/relationships/slide" Target="slides/slide158.xml"/><Relationship Id="rId192" Type="http://schemas.openxmlformats.org/officeDocument/2006/relationships/slide" Target="slides/slide159.xml"/><Relationship Id="rId193" Type="http://schemas.openxmlformats.org/officeDocument/2006/relationships/slide" Target="slides/slide160.xml"/><Relationship Id="rId194" Type="http://schemas.openxmlformats.org/officeDocument/2006/relationships/slide" Target="slides/slide161.xml"/><Relationship Id="rId195" Type="http://schemas.openxmlformats.org/officeDocument/2006/relationships/slide" Target="slides/slide162.xml"/><Relationship Id="rId196" Type="http://schemas.openxmlformats.org/officeDocument/2006/relationships/slide" Target="slides/slide163.xml"/><Relationship Id="rId197" Type="http://schemas.openxmlformats.org/officeDocument/2006/relationships/slide" Target="slides/slide164.xml"/><Relationship Id="rId198" Type="http://schemas.openxmlformats.org/officeDocument/2006/relationships/slide" Target="slides/slide165.xml"/><Relationship Id="rId199" Type="http://schemas.openxmlformats.org/officeDocument/2006/relationships/slide" Target="slides/slide166.xml"/><Relationship Id="rId200" Type="http://schemas.openxmlformats.org/officeDocument/2006/relationships/slide" Target="slides/slide167.xml"/><Relationship Id="rId201" Type="http://schemas.openxmlformats.org/officeDocument/2006/relationships/slide" Target="slides/slide168.xml"/><Relationship Id="rId202" Type="http://schemas.openxmlformats.org/officeDocument/2006/relationships/slide" Target="slides/slide169.xml"/><Relationship Id="rId203" Type="http://schemas.openxmlformats.org/officeDocument/2006/relationships/slide" Target="slides/slide170.xml"/><Relationship Id="rId204" Type="http://schemas.openxmlformats.org/officeDocument/2006/relationships/slide" Target="slides/slide171.xml"/><Relationship Id="rId205" Type="http://schemas.openxmlformats.org/officeDocument/2006/relationships/slide" Target="slides/slide172.xml"/><Relationship Id="rId206" Type="http://schemas.openxmlformats.org/officeDocument/2006/relationships/slide" Target="slides/slide173.xml"/><Relationship Id="rId207" Type="http://schemas.openxmlformats.org/officeDocument/2006/relationships/slide" Target="slides/slide174.xml"/><Relationship Id="rId208" Type="http://schemas.openxmlformats.org/officeDocument/2006/relationships/slide" Target="slides/slide175.xml"/><Relationship Id="rId209" Type="http://schemas.openxmlformats.org/officeDocument/2006/relationships/slide" Target="slides/slide176.xml"/><Relationship Id="rId210" Type="http://schemas.openxmlformats.org/officeDocument/2006/relationships/slide" Target="slides/slide177.xml"/><Relationship Id="rId212" Type="http://schemas.openxmlformats.org/officeDocument/2006/relationships/slide" Target="slides/slide178.xml"/><Relationship Id="rId213" Type="http://schemas.openxmlformats.org/officeDocument/2006/relationships/slide" Target="slides/slide179.xml"/><Relationship Id="rId214" Type="http://schemas.openxmlformats.org/officeDocument/2006/relationships/slide" Target="slides/slide180.xml"/><Relationship Id="rId216" Type="http://schemas.openxmlformats.org/officeDocument/2006/relationships/slide" Target="slides/slide181.xml"/><Relationship Id="rId217" Type="http://schemas.openxmlformats.org/officeDocument/2006/relationships/slide" Target="slides/slide182.xml"/><Relationship Id="rId218" Type="http://schemas.openxmlformats.org/officeDocument/2006/relationships/slide" Target="slides/slide183.xml"/><Relationship Id="rId220" Type="http://schemas.openxmlformats.org/officeDocument/2006/relationships/slide" Target="slides/slide184.xml"/><Relationship Id="rId221" Type="http://schemas.openxmlformats.org/officeDocument/2006/relationships/slide" Target="slides/slide185.xml"/><Relationship Id="rId222" Type="http://schemas.openxmlformats.org/officeDocument/2006/relationships/slide" Target="slides/slide186.xml"/><Relationship Id="rId224" Type="http://schemas.openxmlformats.org/officeDocument/2006/relationships/slide" Target="slides/slide187.xml"/><Relationship Id="rId225" Type="http://schemas.openxmlformats.org/officeDocument/2006/relationships/slide" Target="slides/slide188.xml"/><Relationship Id="rId227" Type="http://schemas.openxmlformats.org/officeDocument/2006/relationships/slide" Target="slides/slide189.xml"/><Relationship Id="rId230" Type="http://schemas.openxmlformats.org/officeDocument/2006/relationships/slide" Target="slides/slide190.xml"/><Relationship Id="rId231" Type="http://schemas.openxmlformats.org/officeDocument/2006/relationships/slide" Target="slides/slide191.xml"/><Relationship Id="rId232" Type="http://schemas.openxmlformats.org/officeDocument/2006/relationships/slide" Target="slides/slide192.xml"/><Relationship Id="rId233" Type="http://schemas.openxmlformats.org/officeDocument/2006/relationships/slide" Target="slides/slide247.xml"/><Relationship Id="rId234" Type="http://schemas.openxmlformats.org/officeDocument/2006/relationships/slide" Target="slides/slide193.xml"/><Relationship Id="rId235" Type="http://schemas.openxmlformats.org/officeDocument/2006/relationships/slide" Target="slides/slide194.xml"/><Relationship Id="rId236" Type="http://schemas.openxmlformats.org/officeDocument/2006/relationships/slide" Target="slides/slide195.xml"/><Relationship Id="rId237" Type="http://schemas.openxmlformats.org/officeDocument/2006/relationships/slide" Target="slides/slide196.xml"/><Relationship Id="rId238" Type="http://schemas.openxmlformats.org/officeDocument/2006/relationships/slide" Target="slides/slide197.xml"/><Relationship Id="rId239" Type="http://schemas.openxmlformats.org/officeDocument/2006/relationships/slide" Target="slides/slide198.xml"/><Relationship Id="rId240" Type="http://schemas.openxmlformats.org/officeDocument/2006/relationships/slide" Target="slides/slide199.xml"/><Relationship Id="rId241" Type="http://schemas.openxmlformats.org/officeDocument/2006/relationships/slide" Target="slides/slide200.xml"/><Relationship Id="rId242" Type="http://schemas.openxmlformats.org/officeDocument/2006/relationships/slide" Target="slides/slide201.xml"/><Relationship Id="rId243" Type="http://schemas.openxmlformats.org/officeDocument/2006/relationships/slide" Target="slides/slide202.xml"/><Relationship Id="rId244" Type="http://schemas.openxmlformats.org/officeDocument/2006/relationships/slide" Target="slides/slide203.xml"/><Relationship Id="rId245" Type="http://schemas.openxmlformats.org/officeDocument/2006/relationships/slide" Target="slides/slide204.xml"/><Relationship Id="rId246" Type="http://schemas.openxmlformats.org/officeDocument/2006/relationships/slide" Target="slides/slide205.xml"/><Relationship Id="rId247" Type="http://schemas.openxmlformats.org/officeDocument/2006/relationships/slide" Target="slides/slide206.xml"/><Relationship Id="rId248" Type="http://schemas.openxmlformats.org/officeDocument/2006/relationships/slide" Target="slides/slide207.xml"/><Relationship Id="rId249" Type="http://schemas.openxmlformats.org/officeDocument/2006/relationships/slide" Target="slides/slide208.xml"/><Relationship Id="rId250" Type="http://schemas.openxmlformats.org/officeDocument/2006/relationships/slide" Target="slides/slide209.xml"/><Relationship Id="rId251" Type="http://schemas.openxmlformats.org/officeDocument/2006/relationships/slide" Target="slides/slide210.xml"/><Relationship Id="rId252" Type="http://schemas.openxmlformats.org/officeDocument/2006/relationships/slide" Target="slides/slide211.xml"/><Relationship Id="rId253" Type="http://schemas.openxmlformats.org/officeDocument/2006/relationships/slide" Target="slides/slide212.xml"/><Relationship Id="rId254" Type="http://schemas.openxmlformats.org/officeDocument/2006/relationships/slide" Target="slides/slide213.xml"/><Relationship Id="rId255" Type="http://schemas.openxmlformats.org/officeDocument/2006/relationships/slide" Target="slides/slide214.xml"/><Relationship Id="rId256" Type="http://schemas.openxmlformats.org/officeDocument/2006/relationships/slide" Target="slides/slide215.xml"/><Relationship Id="rId257" Type="http://schemas.openxmlformats.org/officeDocument/2006/relationships/slide" Target="slides/slide216.xml"/><Relationship Id="rId258" Type="http://schemas.openxmlformats.org/officeDocument/2006/relationships/slide" Target="slides/slide217.xml"/><Relationship Id="rId259" Type="http://schemas.openxmlformats.org/officeDocument/2006/relationships/slide" Target="slides/slide218.xml"/><Relationship Id="rId260" Type="http://schemas.openxmlformats.org/officeDocument/2006/relationships/slide" Target="slides/slide219.xml"/><Relationship Id="rId261" Type="http://schemas.openxmlformats.org/officeDocument/2006/relationships/slide" Target="slides/slide220.xml"/><Relationship Id="rId262" Type="http://schemas.openxmlformats.org/officeDocument/2006/relationships/slide" Target="slides/slide233.xml"/><Relationship Id="rId263" Type="http://schemas.openxmlformats.org/officeDocument/2006/relationships/slide" Target="slides/slide234.xml"/><Relationship Id="rId264" Type="http://schemas.openxmlformats.org/officeDocument/2006/relationships/slide" Target="slides/slide235.xml"/><Relationship Id="rId265" Type="http://schemas.openxmlformats.org/officeDocument/2006/relationships/slide" Target="slides/slide236.xml"/><Relationship Id="rId266" Type="http://schemas.openxmlformats.org/officeDocument/2006/relationships/slide" Target="slides/slide237.xml"/><Relationship Id="rId267" Type="http://schemas.openxmlformats.org/officeDocument/2006/relationships/slide" Target="slides/slide238.xml"/><Relationship Id="rId268" Type="http://schemas.openxmlformats.org/officeDocument/2006/relationships/slide" Target="slides/slide239.xml"/><Relationship Id="rId269" Type="http://schemas.openxmlformats.org/officeDocument/2006/relationships/slide" Target="slides/slide240.xml"/><Relationship Id="rId270" Type="http://schemas.openxmlformats.org/officeDocument/2006/relationships/slide" Target="slides/slide241.xml"/><Relationship Id="rId271" Type="http://schemas.openxmlformats.org/officeDocument/2006/relationships/slide" Target="slides/slide242.xml"/><Relationship Id="rId272" Type="http://schemas.openxmlformats.org/officeDocument/2006/relationships/slide" Target="slides/slide243.xml"/><Relationship Id="rId273" Type="http://schemas.openxmlformats.org/officeDocument/2006/relationships/slide" Target="slides/slide244.xml"/><Relationship Id="rId274" Type="http://schemas.openxmlformats.org/officeDocument/2006/relationships/slide" Target="slides/slide245.xml"/><Relationship Id="rId275" Type="http://schemas.openxmlformats.org/officeDocument/2006/relationships/slide" Target="slides/slide246.xml"/><Relationship Id="rId276" Type="http://schemas.openxmlformats.org/officeDocument/2006/relationships/slide" Target="slides/slide221.xml"/><Relationship Id="rId277" Type="http://schemas.openxmlformats.org/officeDocument/2006/relationships/slide" Target="slides/slide222.xml"/><Relationship Id="rId278" Type="http://schemas.openxmlformats.org/officeDocument/2006/relationships/slide" Target="slides/slide223.xml"/><Relationship Id="rId279" Type="http://schemas.openxmlformats.org/officeDocument/2006/relationships/slide" Target="slides/slide224.xml"/><Relationship Id="rId280" Type="http://schemas.openxmlformats.org/officeDocument/2006/relationships/slide" Target="slides/slide225.xml"/><Relationship Id="rId281" Type="http://schemas.openxmlformats.org/officeDocument/2006/relationships/slide" Target="slides/slide226.xml"/><Relationship Id="rId282" Type="http://schemas.openxmlformats.org/officeDocument/2006/relationships/slide" Target="slides/slide227.xml"/><Relationship Id="rId283" Type="http://schemas.openxmlformats.org/officeDocument/2006/relationships/slide" Target="slides/slide228.xml"/><Relationship Id="rId284" Type="http://schemas.openxmlformats.org/officeDocument/2006/relationships/slide" Target="slides/slide229.xml"/><Relationship Id="rId285" Type="http://schemas.openxmlformats.org/officeDocument/2006/relationships/slide" Target="slides/slide230.xml"/><Relationship Id="rId286" Type="http://schemas.openxmlformats.org/officeDocument/2006/relationships/slide" Target="slides/slide231.xml"/><Relationship Id="rId287" Type="http://schemas.openxmlformats.org/officeDocument/2006/relationships/slide" Target="slides/slide232.xml"/><Relationship Id="rId298" Type="http://schemas.openxmlformats.org/officeDocument/2006/relationships/slide" Target="slides/slide11.xml"/><Relationship Id="rId299" Type="http://schemas.openxmlformats.org/officeDocument/2006/relationships/slide" Target="slides/slide12.xml"/><Relationship Id="rId300" Type="http://schemas.openxmlformats.org/officeDocument/2006/relationships/slide" Target="slides/slide13.xml"/><Relationship Id="rId301" Type="http://schemas.openxmlformats.org/officeDocument/2006/relationships/slide" Target="slides/slide14.xml"/><Relationship Id="rId302" Type="http://schemas.openxmlformats.org/officeDocument/2006/relationships/slide" Target="slides/slide15.xml"/><Relationship Id="rId303" Type="http://schemas.openxmlformats.org/officeDocument/2006/relationships/slide" Target="slides/slide16.xml"/><Relationship Id="rId304" Type="http://schemas.openxmlformats.org/officeDocument/2006/relationships/slide" Target="slides/slide10.xml"/><Relationship Id="rId305" Type="http://schemas.openxmlformats.org/officeDocument/2006/relationships/slide" Target="slides/slide18.xml"/><Relationship Id="rId306" Type="http://schemas.openxmlformats.org/officeDocument/2006/relationships/slide" Target="slides/slide19.xml"/><Relationship Id="rId307" Type="http://schemas.openxmlformats.org/officeDocument/2006/relationships/slide" Target="slides/slide20.xml"/><Relationship Id="rId308" Type="http://schemas.openxmlformats.org/officeDocument/2006/relationships/slide" Target="slides/slide21.xml"/><Relationship Id="rId309" Type="http://schemas.openxmlformats.org/officeDocument/2006/relationships/slide" Target="slides/slide22.xml"/><Relationship Id="rId310" Type="http://schemas.openxmlformats.org/officeDocument/2006/relationships/slide" Target="slides/slide23.xml"/><Relationship Id="rId311" Type="http://schemas.openxmlformats.org/officeDocument/2006/relationships/slide" Target="slides/slide24.xml"/><Relationship Id="rId312" Type="http://schemas.openxmlformats.org/officeDocument/2006/relationships/slide" Target="slides/slide25.xml"/><Relationship Id="rId313" Type="http://schemas.openxmlformats.org/officeDocument/2006/relationships/slide" Target="slides/slide17.xml"/></Relationships>
</file>

<file path=ppt/charts/_rels/chart1.xml.rels><?xml version='1.0' encoding='UTF-8' standalone='yes'?>
<Relationships xmlns="http://schemas.openxmlformats.org/package/2006/relationships"><Relationship Id="rId2" Type="http://schemas.openxmlformats.org/officeDocument/2006/relationships/image" Target="../media/image3.png"/></Relationships>
</file>

<file path=ppt/charts/_rels/chart3.xml.rels><?xml version='1.0' encoding='UTF-8' standalone='yes'?>
<Relationships xmlns="http://schemas.openxmlformats.org/package/2006/relationships"><Relationship Id="rId2" Type="http://schemas.openxmlformats.org/officeDocument/2006/relationships/image" Target="../media/image4.png"/></Relationships>
</file>

<file path=ppt/charts/_rels/chart5.xml.rels><?xml version='1.0' encoding='UTF-8' standalone='yes'?>
<Relationships xmlns="http://schemas.openxmlformats.org/package/2006/relationships"><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image" Target="../media/image10.png"/><Relationship Id="rId8" Type="http://schemas.openxmlformats.org/officeDocument/2006/relationships/image" Target="../media/image11.png"/><Relationship Id="rId9" Type="http://schemas.openxmlformats.org/officeDocument/2006/relationships/image" Target="../media/image12.png"/><Relationship Id="rId10" Type="http://schemas.openxmlformats.org/officeDocument/2006/relationships/image" Target="../media/image13.png"/><Relationship Id="rId11" Type="http://schemas.openxmlformats.org/officeDocument/2006/relationships/image" Target="../media/image14.png"/></Relationships>
</file>

<file path=ppt/charts/_rels/chart6.xml.rels><?xml version='1.0' encoding='UTF-8' standalone='yes'?>
<Relationships xmlns="http://schemas.openxmlformats.org/package/2006/relationships"><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18.png"/><Relationship Id="rId6" Type="http://schemas.openxmlformats.org/officeDocument/2006/relationships/image" Target="../media/image19.png"/><Relationship Id="rId7" Type="http://schemas.openxmlformats.org/officeDocument/2006/relationships/image" Target="../media/image20.png"/><Relationship Id="rId8" Type="http://schemas.openxmlformats.org/officeDocument/2006/relationships/image" Target="../media/image21.png"/><Relationship Id="rId9" Type="http://schemas.openxmlformats.org/officeDocument/2006/relationships/image" Target="../media/image22.png"/><Relationship Id="rId10" Type="http://schemas.openxmlformats.org/officeDocument/2006/relationships/image" Target="../media/image23.png"/><Relationship Id="rId11" Type="http://schemas.openxmlformats.org/officeDocument/2006/relationships/image" Target="../media/image24.png"/><Relationship Id="rId12" Type="http://schemas.openxmlformats.org/officeDocument/2006/relationships/image" Target="../media/image25.png"/><Relationship Id="rId13" Type="http://schemas.openxmlformats.org/officeDocument/2006/relationships/image" Target="../media/image26.png"/><Relationship Id="rId14" Type="http://schemas.openxmlformats.org/officeDocument/2006/relationships/image" Target="../media/image27.png"/><Relationship Id="rId15" Type="http://schemas.openxmlformats.org/officeDocument/2006/relationships/image" Target="../media/image28.png"/><Relationship Id="rId16" Type="http://schemas.openxmlformats.org/officeDocument/2006/relationships/image" Target="../media/image29.png"/><Relationship Id="rId17" Type="http://schemas.openxmlformats.org/officeDocument/2006/relationships/image" Target="../media/image30.png"/><Relationship Id="rId18" Type="http://schemas.openxmlformats.org/officeDocument/2006/relationships/image" Target="../media/image31.png"/><Relationship Id="rId19" Type="http://schemas.openxmlformats.org/officeDocument/2006/relationships/image" Target="../media/image32.png"/><Relationship Id="rId20" Type="http://schemas.openxmlformats.org/officeDocument/2006/relationships/image" Target="../media/image33.png"/><Relationship Id="rId21" Type="http://schemas.openxmlformats.org/officeDocument/2006/relationships/image" Target="../media/image34.png"/><Relationship Id="rId22" Type="http://schemas.openxmlformats.org/officeDocument/2006/relationships/image" Target="../media/image35.png"/><Relationship Id="rId23" Type="http://schemas.openxmlformats.org/officeDocument/2006/relationships/image" Target="../media/image36.png"/></Relationships>
</file>

<file path=ppt/charts/_rels/chart7.xml.rels><?xml version='1.0' encoding='UTF-8' standalone='yes'?>
<Relationships xmlns="http://schemas.openxmlformats.org/package/2006/relationships"><Relationship Id="rId2" Type="http://schemas.openxmlformats.org/officeDocument/2006/relationships/image" Target="../media/image37.png"/><Relationship Id="rId3" Type="http://schemas.openxmlformats.org/officeDocument/2006/relationships/image" Target="../media/image38.png"/><Relationship Id="rId4" Type="http://schemas.openxmlformats.org/officeDocument/2006/relationships/image" Target="../media/image39.png"/><Relationship Id="rId5" Type="http://schemas.openxmlformats.org/officeDocument/2006/relationships/image" Target="../media/image40.png"/><Relationship Id="rId6" Type="http://schemas.openxmlformats.org/officeDocument/2006/relationships/image" Target="../media/image41.png"/><Relationship Id="rId7" Type="http://schemas.openxmlformats.org/officeDocument/2006/relationships/image" Target="../media/image42.png"/><Relationship Id="rId8" Type="http://schemas.openxmlformats.org/officeDocument/2006/relationships/image" Target="../media/image43.png"/><Relationship Id="rId9" Type="http://schemas.openxmlformats.org/officeDocument/2006/relationships/image" Target="../media/image44.png"/><Relationship Id="rId10" Type="http://schemas.openxmlformats.org/officeDocument/2006/relationships/image" Target="../media/image45.png"/><Relationship Id="rId11" Type="http://schemas.openxmlformats.org/officeDocument/2006/relationships/image" Target="../media/image46.png"/></Relationships>
</file>

<file path=ppt/charts/_rels/chart8.xml.rels><?xml version='1.0' encoding='UTF-8' standalone='yes'?>
<Relationships xmlns="http://schemas.openxmlformats.org/package/2006/relationships"><Relationship Id="rId2" Type="http://schemas.openxmlformats.org/officeDocument/2006/relationships/image" Target="../media/image47.png"/><Relationship Id="rId3" Type="http://schemas.openxmlformats.org/officeDocument/2006/relationships/image" Target="../media/image48.png"/><Relationship Id="rId4" Type="http://schemas.openxmlformats.org/officeDocument/2006/relationships/image" Target="../media/image49.png"/><Relationship Id="rId5" Type="http://schemas.openxmlformats.org/officeDocument/2006/relationships/image" Target="../media/image50.png"/><Relationship Id="rId6" Type="http://schemas.openxmlformats.org/officeDocument/2006/relationships/image" Target="../media/image51.png"/><Relationship Id="rId7" Type="http://schemas.openxmlformats.org/officeDocument/2006/relationships/image" Target="../media/image52.png"/><Relationship Id="rId8" Type="http://schemas.openxmlformats.org/officeDocument/2006/relationships/image" Target="../media/image53.png"/><Relationship Id="rId9" Type="http://schemas.openxmlformats.org/officeDocument/2006/relationships/image" Target="../media/image54.png"/><Relationship Id="rId10" Type="http://schemas.openxmlformats.org/officeDocument/2006/relationships/image" Target="../media/image55.png"/><Relationship Id="rId11" Type="http://schemas.openxmlformats.org/officeDocument/2006/relationships/image" Target="../media/image56.png"/></Relationships>
</file>

<file path=ppt/charts/_rels/chart9.xml.rels><?xml version='1.0' encoding='UTF-8' standalone='yes'?>
<Relationships xmlns="http://schemas.openxmlformats.org/package/2006/relationships"><Relationship Id="rId2" Type="http://schemas.openxmlformats.org/officeDocument/2006/relationships/image" Target="../media/image57.png"/><Relationship Id="rId3" Type="http://schemas.openxmlformats.org/officeDocument/2006/relationships/image" Target="../media/image58.png"/><Relationship Id="rId4" Type="http://schemas.openxmlformats.org/officeDocument/2006/relationships/image" Target="../media/image59.png"/></Relationships>
</file>

<file path=ppt/charts/_rels/chart11.xml.rels><?xml version='1.0' encoding='UTF-8' standalone='yes'?>
<Relationships xmlns="http://schemas.openxmlformats.org/package/2006/relationships"><Relationship Id="rId2" Type="http://schemas.openxmlformats.org/officeDocument/2006/relationships/image" Target="../media/image78.png"/><Relationship Id="rId3" Type="http://schemas.openxmlformats.org/officeDocument/2006/relationships/image" Target="../media/image79.png"/><Relationship Id="rId4" Type="http://schemas.openxmlformats.org/officeDocument/2006/relationships/image" Target="../media/image80.png"/><Relationship Id="rId5" Type="http://schemas.openxmlformats.org/officeDocument/2006/relationships/image" Target="../media/image81.png"/><Relationship Id="rId6" Type="http://schemas.openxmlformats.org/officeDocument/2006/relationships/image" Target="../media/image82.png"/><Relationship Id="rId7" Type="http://schemas.openxmlformats.org/officeDocument/2006/relationships/image" Target="../media/image83.png"/><Relationship Id="rId8" Type="http://schemas.openxmlformats.org/officeDocument/2006/relationships/image" Target="../media/image84.png"/><Relationship Id="rId9" Type="http://schemas.openxmlformats.org/officeDocument/2006/relationships/image" Target="../media/image85.png"/><Relationship Id="rId10" Type="http://schemas.openxmlformats.org/officeDocument/2006/relationships/image" Target="../media/image86.png"/><Relationship Id="rId11" Type="http://schemas.openxmlformats.org/officeDocument/2006/relationships/image" Target="../media/image87.png"/><Relationship Id="rId12" Type="http://schemas.openxmlformats.org/officeDocument/2006/relationships/image" Target="../media/image88.png"/></Relationships>
</file>

<file path=ppt/charts/_rels/chart12.xml.rels><?xml version='1.0' encoding='UTF-8' standalone='yes'?>
<Relationships xmlns="http://schemas.openxmlformats.org/package/2006/relationships"><Relationship Id="rId2" Type="http://schemas.openxmlformats.org/officeDocument/2006/relationships/image" Target="../media/image90.png"/><Relationship Id="rId3" Type="http://schemas.openxmlformats.org/officeDocument/2006/relationships/image" Target="../media/image91.png"/><Relationship Id="rId4" Type="http://schemas.openxmlformats.org/officeDocument/2006/relationships/image" Target="../media/image92.png"/><Relationship Id="rId5" Type="http://schemas.openxmlformats.org/officeDocument/2006/relationships/image" Target="../media/image93.png"/><Relationship Id="rId6" Type="http://schemas.openxmlformats.org/officeDocument/2006/relationships/image" Target="../media/image94.png"/><Relationship Id="rId7" Type="http://schemas.openxmlformats.org/officeDocument/2006/relationships/image" Target="../media/image95.png"/><Relationship Id="rId8" Type="http://schemas.openxmlformats.org/officeDocument/2006/relationships/image" Target="../media/image96.png"/><Relationship Id="rId9" Type="http://schemas.openxmlformats.org/officeDocument/2006/relationships/image" Target="../media/image97.png"/><Relationship Id="rId10" Type="http://schemas.openxmlformats.org/officeDocument/2006/relationships/image" Target="../media/image98.png"/><Relationship Id="rId11" Type="http://schemas.openxmlformats.org/officeDocument/2006/relationships/image" Target="../media/image99.png"/><Relationship Id="rId12" Type="http://schemas.openxmlformats.org/officeDocument/2006/relationships/image" Target="../media/image100.png"/><Relationship Id="rId13" Type="http://schemas.openxmlformats.org/officeDocument/2006/relationships/image" Target="../media/image101.png"/></Relationships>
</file>

<file path=ppt/charts/_rels/chart13.xml.rels><?xml version='1.0' encoding='UTF-8' standalone='yes'?>
<Relationships xmlns="http://schemas.openxmlformats.org/package/2006/relationships"><Relationship Id="rId2" Type="http://schemas.openxmlformats.org/officeDocument/2006/relationships/image" Target="../media/image105.png"/></Relationships>
</file>

<file path=ppt/charts/_rels/chart14.xml.rels><?xml version='1.0' encoding='UTF-8' standalone='yes'?>
<Relationships xmlns="http://schemas.openxmlformats.org/package/2006/relationships"><Relationship Id="rId2" Type="http://schemas.openxmlformats.org/officeDocument/2006/relationships/image" Target="../media/image106.png"/></Relationships>
</file>

<file path=ppt/charts/_rels/chart15.xml.rels><?xml version='1.0' encoding='UTF-8' standalone='yes'?>
<Relationships xmlns="http://schemas.openxmlformats.org/package/2006/relationships"><Relationship Id="rId2" Type="http://schemas.openxmlformats.org/officeDocument/2006/relationships/image" Target="../media/image115.png"/><Relationship Id="rId3" Type="http://schemas.openxmlformats.org/officeDocument/2006/relationships/image" Target="../media/image116.png"/><Relationship Id="rId4" Type="http://schemas.openxmlformats.org/officeDocument/2006/relationships/image" Target="../media/image117.png"/><Relationship Id="rId5" Type="http://schemas.openxmlformats.org/officeDocument/2006/relationships/image" Target="../media/image118.png"/><Relationship Id="rId6" Type="http://schemas.openxmlformats.org/officeDocument/2006/relationships/image" Target="../media/image119.png"/><Relationship Id="rId7" Type="http://schemas.openxmlformats.org/officeDocument/2006/relationships/image" Target="../media/image120.png"/><Relationship Id="rId8" Type="http://schemas.openxmlformats.org/officeDocument/2006/relationships/image" Target="../media/image121.png"/><Relationship Id="rId9" Type="http://schemas.openxmlformats.org/officeDocument/2006/relationships/image" Target="../media/image122.png"/><Relationship Id="rId10" Type="http://schemas.openxmlformats.org/officeDocument/2006/relationships/image" Target="../media/image123.png"/><Relationship Id="rId11" Type="http://schemas.openxmlformats.org/officeDocument/2006/relationships/image" Target="../media/image124.png"/><Relationship Id="rId12" Type="http://schemas.openxmlformats.org/officeDocument/2006/relationships/image" Target="../media/image125.png"/><Relationship Id="rId13" Type="http://schemas.openxmlformats.org/officeDocument/2006/relationships/image" Target="../media/image126.png"/><Relationship Id="rId14" Type="http://schemas.openxmlformats.org/officeDocument/2006/relationships/image" Target="../media/image127.png"/><Relationship Id="rId15" Type="http://schemas.openxmlformats.org/officeDocument/2006/relationships/image" Target="../media/image128.png"/><Relationship Id="rId16" Type="http://schemas.openxmlformats.org/officeDocument/2006/relationships/image" Target="../media/image129.png"/><Relationship Id="rId17" Type="http://schemas.openxmlformats.org/officeDocument/2006/relationships/image" Target="../media/image130.png"/><Relationship Id="rId18" Type="http://schemas.openxmlformats.org/officeDocument/2006/relationships/image" Target="../media/image131.png"/><Relationship Id="rId19" Type="http://schemas.openxmlformats.org/officeDocument/2006/relationships/image" Target="../media/image132.png"/></Relationships>
</file>

<file path=ppt/charts/_rels/chart20.xml.rels><?xml version='1.0' encoding='UTF-8' standalone='yes'?>
<Relationships xmlns="http://schemas.openxmlformats.org/package/2006/relationships"><Relationship Id="rId2" Type="http://schemas.openxmlformats.org/officeDocument/2006/relationships/image" Target="../media/image133.png"/><Relationship Id="rId3" Type="http://schemas.openxmlformats.org/officeDocument/2006/relationships/image" Target="../media/image134.png"/><Relationship Id="rId4" Type="http://schemas.openxmlformats.org/officeDocument/2006/relationships/image" Target="../media/image135.png"/><Relationship Id="rId5" Type="http://schemas.openxmlformats.org/officeDocument/2006/relationships/image" Target="../media/image136.png"/><Relationship Id="rId6" Type="http://schemas.openxmlformats.org/officeDocument/2006/relationships/image" Target="../media/image137.png"/><Relationship Id="rId7" Type="http://schemas.openxmlformats.org/officeDocument/2006/relationships/image" Target="../media/image138.png"/><Relationship Id="rId8" Type="http://schemas.openxmlformats.org/officeDocument/2006/relationships/image" Target="../media/image139.png"/><Relationship Id="rId9" Type="http://schemas.openxmlformats.org/officeDocument/2006/relationships/image" Target="../media/image140.png"/><Relationship Id="rId10" Type="http://schemas.openxmlformats.org/officeDocument/2006/relationships/image" Target="../media/image141.png"/></Relationships>
</file>

<file path=ppt/charts/_rels/chart21.xml.rels><?xml version='1.0' encoding='UTF-8' standalone='yes'?>
<Relationships xmlns="http://schemas.openxmlformats.org/package/2006/relationships"><Relationship Id="rId2" Type="http://schemas.openxmlformats.org/officeDocument/2006/relationships/image" Target="../media/image153.png"/><Relationship Id="rId3" Type="http://schemas.openxmlformats.org/officeDocument/2006/relationships/image" Target="../media/image154.png"/><Relationship Id="rId4" Type="http://schemas.openxmlformats.org/officeDocument/2006/relationships/image" Target="../media/image155.png"/><Relationship Id="rId5" Type="http://schemas.openxmlformats.org/officeDocument/2006/relationships/image" Target="../media/image156.png"/><Relationship Id="rId6" Type="http://schemas.openxmlformats.org/officeDocument/2006/relationships/image" Target="../media/image157.png"/><Relationship Id="rId7" Type="http://schemas.openxmlformats.org/officeDocument/2006/relationships/image" Target="../media/image158.png"/><Relationship Id="rId8" Type="http://schemas.openxmlformats.org/officeDocument/2006/relationships/image" Target="../media/image159.png"/><Relationship Id="rId9" Type="http://schemas.openxmlformats.org/officeDocument/2006/relationships/image" Target="../media/image160.png"/><Relationship Id="rId10" Type="http://schemas.openxmlformats.org/officeDocument/2006/relationships/image" Target="../media/image161.png"/><Relationship Id="rId11" Type="http://schemas.openxmlformats.org/officeDocument/2006/relationships/image" Target="../media/image162.png"/><Relationship Id="rId12" Type="http://schemas.openxmlformats.org/officeDocument/2006/relationships/image" Target="../media/image163.png"/><Relationship Id="rId13" Type="http://schemas.openxmlformats.org/officeDocument/2006/relationships/image" Target="../media/image164.png"/><Relationship Id="rId14" Type="http://schemas.openxmlformats.org/officeDocument/2006/relationships/image" Target="../media/image165.png"/><Relationship Id="rId15" Type="http://schemas.openxmlformats.org/officeDocument/2006/relationships/image" Target="../media/image166.png"/><Relationship Id="rId16" Type="http://schemas.openxmlformats.org/officeDocument/2006/relationships/image" Target="../media/image167.png"/><Relationship Id="rId17" Type="http://schemas.openxmlformats.org/officeDocument/2006/relationships/image" Target="../media/image168.png"/><Relationship Id="rId18" Type="http://schemas.openxmlformats.org/officeDocument/2006/relationships/image" Target="../media/image169.png"/><Relationship Id="rId19" Type="http://schemas.openxmlformats.org/officeDocument/2006/relationships/image" Target="../media/image170.png"/><Relationship Id="rId20" Type="http://schemas.openxmlformats.org/officeDocument/2006/relationships/image" Target="../media/image171.png"/><Relationship Id="rId21" Type="http://schemas.openxmlformats.org/officeDocument/2006/relationships/image" Target="../media/image172.png"/><Relationship Id="rId22" Type="http://schemas.openxmlformats.org/officeDocument/2006/relationships/image" Target="../media/image173.png"/></Relationships>
</file>

<file path=ppt/charts/_rels/chart27.xml.rels><?xml version='1.0' encoding='UTF-8' standalone='yes'?>
<Relationships xmlns="http://schemas.openxmlformats.org/package/2006/relationships"><Relationship Id="rId2" Type="http://schemas.openxmlformats.org/officeDocument/2006/relationships/image" Target="../media/image174.png"/><Relationship Id="rId3" Type="http://schemas.openxmlformats.org/officeDocument/2006/relationships/image" Target="../media/image175.png"/><Relationship Id="rId4" Type="http://schemas.openxmlformats.org/officeDocument/2006/relationships/image" Target="../media/image176.png"/><Relationship Id="rId5" Type="http://schemas.openxmlformats.org/officeDocument/2006/relationships/image" Target="../media/image177.png"/><Relationship Id="rId6" Type="http://schemas.openxmlformats.org/officeDocument/2006/relationships/image" Target="../media/image178.png"/><Relationship Id="rId7" Type="http://schemas.openxmlformats.org/officeDocument/2006/relationships/image" Target="../media/image179.png"/><Relationship Id="rId8" Type="http://schemas.openxmlformats.org/officeDocument/2006/relationships/image" Target="../media/image180.png"/><Relationship Id="rId9" Type="http://schemas.openxmlformats.org/officeDocument/2006/relationships/image" Target="../media/image181.png"/><Relationship Id="rId10" Type="http://schemas.openxmlformats.org/officeDocument/2006/relationships/image" Target="../media/image182.png"/><Relationship Id="rId11" Type="http://schemas.openxmlformats.org/officeDocument/2006/relationships/image" Target="../media/image183.png"/><Relationship Id="rId12" Type="http://schemas.openxmlformats.org/officeDocument/2006/relationships/image" Target="../media/image184.png"/><Relationship Id="rId13" Type="http://schemas.openxmlformats.org/officeDocument/2006/relationships/image" Target="../media/image185.png"/></Relationships>
</file>

<file path=ppt/charts/_rels/chart28.xml.rels><?xml version='1.0' encoding='UTF-8' standalone='yes'?>
<Relationships xmlns="http://schemas.openxmlformats.org/package/2006/relationships"><Relationship Id="rId2" Type="http://schemas.openxmlformats.org/officeDocument/2006/relationships/image" Target="../media/image190.png"/><Relationship Id="rId3" Type="http://schemas.openxmlformats.org/officeDocument/2006/relationships/image" Target="../media/image191.png"/><Relationship Id="rId4" Type="http://schemas.openxmlformats.org/officeDocument/2006/relationships/image" Target="../media/image192.png"/><Relationship Id="rId5" Type="http://schemas.openxmlformats.org/officeDocument/2006/relationships/image" Target="../media/image193.png"/><Relationship Id="rId6" Type="http://schemas.openxmlformats.org/officeDocument/2006/relationships/image" Target="../media/image194.png"/><Relationship Id="rId7" Type="http://schemas.openxmlformats.org/officeDocument/2006/relationships/image" Target="../media/image195.png"/><Relationship Id="rId8" Type="http://schemas.openxmlformats.org/officeDocument/2006/relationships/image" Target="../media/image196.png"/><Relationship Id="rId9" Type="http://schemas.openxmlformats.org/officeDocument/2006/relationships/image" Target="../media/image197.png"/><Relationship Id="rId10" Type="http://schemas.openxmlformats.org/officeDocument/2006/relationships/image" Target="../media/image198.png"/><Relationship Id="rId11" Type="http://schemas.openxmlformats.org/officeDocument/2006/relationships/image" Target="../media/image199.png"/><Relationship Id="rId12" Type="http://schemas.openxmlformats.org/officeDocument/2006/relationships/image" Target="../media/image200.png"/><Relationship Id="rId13" Type="http://schemas.openxmlformats.org/officeDocument/2006/relationships/image" Target="../media/image201.png"/></Relationships>
</file>

<file path=ppt/charts/_rels/chart32.xml.rels><?xml version='1.0' encoding='UTF-8' standalone='yes'?>
<Relationships xmlns="http://schemas.openxmlformats.org/package/2006/relationships"><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image" Target="../media/image207.png"/></Relationships>
</file>

<file path=ppt/charts/_rels/chart33.xml.rels><?xml version='1.0' encoding='UTF-8' standalone='yes'?>
<Relationships xmlns="http://schemas.openxmlformats.org/package/2006/relationships"><Relationship Id="rId2" Type="http://schemas.openxmlformats.org/officeDocument/2006/relationships/image" Target="../media/image213.png"/><Relationship Id="rId3" Type="http://schemas.openxmlformats.org/officeDocument/2006/relationships/image" Target="../media/image214.png"/><Relationship Id="rId4" Type="http://schemas.openxmlformats.org/officeDocument/2006/relationships/image" Target="../media/image215.png"/><Relationship Id="rId5" Type="http://schemas.openxmlformats.org/officeDocument/2006/relationships/image" Target="../media/image216.png"/><Relationship Id="rId6" Type="http://schemas.openxmlformats.org/officeDocument/2006/relationships/image" Target="../media/image217.png"/><Relationship Id="rId7" Type="http://schemas.openxmlformats.org/officeDocument/2006/relationships/image" Target="../media/image218.png"/><Relationship Id="rId8" Type="http://schemas.openxmlformats.org/officeDocument/2006/relationships/image" Target="../media/image219.png"/><Relationship Id="rId9" Type="http://schemas.openxmlformats.org/officeDocument/2006/relationships/image" Target="../media/image220.png"/><Relationship Id="rId10" Type="http://schemas.openxmlformats.org/officeDocument/2006/relationships/image" Target="../media/image221.png"/><Relationship Id="rId11" Type="http://schemas.openxmlformats.org/officeDocument/2006/relationships/image" Target="../media/image222.png"/><Relationship Id="rId12" Type="http://schemas.openxmlformats.org/officeDocument/2006/relationships/image" Target="../media/image223.png"/><Relationship Id="rId13" Type="http://schemas.openxmlformats.org/officeDocument/2006/relationships/image" Target="../media/image224.png"/></Relationships>
</file>

<file path=ppt/charts/_rels/chart37.xml.rels><?xml version='1.0' encoding='UTF-8' standalone='yes'?>
<Relationships xmlns="http://schemas.openxmlformats.org/package/2006/relationships"><Relationship Id="rId2" Type="http://schemas.openxmlformats.org/officeDocument/2006/relationships/image" Target="../media/image225.png"/><Relationship Id="rId3" Type="http://schemas.openxmlformats.org/officeDocument/2006/relationships/image" Target="../media/image226.png"/><Relationship Id="rId4" Type="http://schemas.openxmlformats.org/officeDocument/2006/relationships/image" Target="../media/image227.png"/><Relationship Id="rId5" Type="http://schemas.openxmlformats.org/officeDocument/2006/relationships/image" Target="../media/image228.png"/><Relationship Id="rId6" Type="http://schemas.openxmlformats.org/officeDocument/2006/relationships/image" Target="../media/image229.png"/><Relationship Id="rId7" Type="http://schemas.openxmlformats.org/officeDocument/2006/relationships/image" Target="../media/image230.png"/></Relationships>
</file>

<file path=ppt/charts/_rels/chart38.xml.rels><?xml version='1.0' encoding='UTF-8' standalone='yes'?>
<Relationships xmlns="http://schemas.openxmlformats.org/package/2006/relationships"><Relationship Id="rId2" Type="http://schemas.openxmlformats.org/officeDocument/2006/relationships/image" Target="../media/image248.png"/><Relationship Id="rId3" Type="http://schemas.openxmlformats.org/officeDocument/2006/relationships/image" Target="../media/image249.png"/><Relationship Id="rId4" Type="http://schemas.openxmlformats.org/officeDocument/2006/relationships/image" Target="../media/image250.png"/><Relationship Id="rId5" Type="http://schemas.openxmlformats.org/officeDocument/2006/relationships/image" Target="../media/image251.png"/><Relationship Id="rId6" Type="http://schemas.openxmlformats.org/officeDocument/2006/relationships/image" Target="../media/image252.png"/><Relationship Id="rId7" Type="http://schemas.openxmlformats.org/officeDocument/2006/relationships/image" Target="../media/image253.png"/><Relationship Id="rId8" Type="http://schemas.openxmlformats.org/officeDocument/2006/relationships/image" Target="../media/image254.png"/><Relationship Id="rId9" Type="http://schemas.openxmlformats.org/officeDocument/2006/relationships/image" Target="../media/image255.png"/><Relationship Id="rId10" Type="http://schemas.openxmlformats.org/officeDocument/2006/relationships/image" Target="../media/image256.png"/><Relationship Id="rId11" Type="http://schemas.openxmlformats.org/officeDocument/2006/relationships/image" Target="../media/image257.png"/><Relationship Id="rId12" Type="http://schemas.openxmlformats.org/officeDocument/2006/relationships/image" Target="../media/image258.png"/><Relationship Id="rId13" Type="http://schemas.openxmlformats.org/officeDocument/2006/relationships/image" Target="../media/image259.png"/><Relationship Id="rId14" Type="http://schemas.openxmlformats.org/officeDocument/2006/relationships/image" Target="../media/image260.png"/><Relationship Id="rId15" Type="http://schemas.openxmlformats.org/officeDocument/2006/relationships/image" Target="../media/image261.png"/><Relationship Id="rId16" Type="http://schemas.openxmlformats.org/officeDocument/2006/relationships/image" Target="../media/image262.png"/><Relationship Id="rId17" Type="http://schemas.openxmlformats.org/officeDocument/2006/relationships/image" Target="../media/image263.png"/><Relationship Id="rId18" Type="http://schemas.openxmlformats.org/officeDocument/2006/relationships/image" Target="../media/image264.png"/><Relationship Id="rId19" Type="http://schemas.openxmlformats.org/officeDocument/2006/relationships/image" Target="../media/image265.png"/><Relationship Id="rId20" Type="http://schemas.openxmlformats.org/officeDocument/2006/relationships/image" Target="../media/image266.png"/><Relationship Id="rId21" Type="http://schemas.openxmlformats.org/officeDocument/2006/relationships/image" Target="../media/image267.png"/><Relationship Id="rId22" Type="http://schemas.openxmlformats.org/officeDocument/2006/relationships/image" Target="../media/image268.png"/><Relationship Id="rId23" Type="http://schemas.openxmlformats.org/officeDocument/2006/relationships/image" Target="../media/image269.png"/><Relationship Id="rId24" Type="http://schemas.openxmlformats.org/officeDocument/2006/relationships/image" Target="../media/image270.png"/><Relationship Id="rId25" Type="http://schemas.openxmlformats.org/officeDocument/2006/relationships/image" Target="../media/image271.png"/><Relationship Id="rId26" Type="http://schemas.openxmlformats.org/officeDocument/2006/relationships/image" Target="../media/image272.png"/><Relationship Id="rId27" Type="http://schemas.openxmlformats.org/officeDocument/2006/relationships/image" Target="../media/image273.png"/><Relationship Id="rId28" Type="http://schemas.openxmlformats.org/officeDocument/2006/relationships/image" Target="../media/image274.png"/><Relationship Id="rId29" Type="http://schemas.openxmlformats.org/officeDocument/2006/relationships/image" Target="../media/image275.png"/><Relationship Id="rId30" Type="http://schemas.openxmlformats.org/officeDocument/2006/relationships/image" Target="../media/image276.png"/><Relationship Id="rId31" Type="http://schemas.openxmlformats.org/officeDocument/2006/relationships/image" Target="../media/image277.png"/><Relationship Id="rId32" Type="http://schemas.openxmlformats.org/officeDocument/2006/relationships/image" Target="../media/image278.png"/><Relationship Id="rId33" Type="http://schemas.openxmlformats.org/officeDocument/2006/relationships/image" Target="../media/image279.png"/></Relationships>
</file>

<file path=ppt/charts/_rels/chart46.xml.rels><?xml version='1.0' encoding='UTF-8' standalone='yes'?>
<Relationships xmlns="http://schemas.openxmlformats.org/package/2006/relationships"><Relationship Id="rId2" Type="http://schemas.openxmlformats.org/officeDocument/2006/relationships/image" Target="../media/image280.png"/><Relationship Id="rId3" Type="http://schemas.openxmlformats.org/officeDocument/2006/relationships/image" Target="../media/image281.png"/><Relationship Id="rId4" Type="http://schemas.openxmlformats.org/officeDocument/2006/relationships/image" Target="../media/image282.png"/><Relationship Id="rId5" Type="http://schemas.openxmlformats.org/officeDocument/2006/relationships/image" Target="../media/image283.png"/><Relationship Id="rId6" Type="http://schemas.openxmlformats.org/officeDocument/2006/relationships/image" Target="../media/image284.png"/><Relationship Id="rId7" Type="http://schemas.openxmlformats.org/officeDocument/2006/relationships/image" Target="../media/image285.png"/><Relationship Id="rId8" Type="http://schemas.openxmlformats.org/officeDocument/2006/relationships/image" Target="../media/image286.png"/><Relationship Id="rId9" Type="http://schemas.openxmlformats.org/officeDocument/2006/relationships/image" Target="../media/image287.png"/><Relationship Id="rId10" Type="http://schemas.openxmlformats.org/officeDocument/2006/relationships/image" Target="../media/image288.png"/><Relationship Id="rId11" Type="http://schemas.openxmlformats.org/officeDocument/2006/relationships/image" Target="../media/image289.png"/><Relationship Id="rId12" Type="http://schemas.openxmlformats.org/officeDocument/2006/relationships/image" Target="../media/image290.png"/><Relationship Id="rId13" Type="http://schemas.openxmlformats.org/officeDocument/2006/relationships/image" Target="../media/image291.png"/><Relationship Id="rId14" Type="http://schemas.openxmlformats.org/officeDocument/2006/relationships/image" Target="../media/image292.png"/><Relationship Id="rId15" Type="http://schemas.openxmlformats.org/officeDocument/2006/relationships/image" Target="../media/image293.png"/><Relationship Id="rId16" Type="http://schemas.openxmlformats.org/officeDocument/2006/relationships/image" Target="../media/image294.png"/><Relationship Id="rId17" Type="http://schemas.openxmlformats.org/officeDocument/2006/relationships/image" Target="../media/image295.png"/><Relationship Id="rId18" Type="http://schemas.openxmlformats.org/officeDocument/2006/relationships/image" Target="../media/image296.png"/><Relationship Id="rId19" Type="http://schemas.openxmlformats.org/officeDocument/2006/relationships/image" Target="../media/image297.png"/></Relationships>
</file>

<file path=ppt/charts/_rels/chart47.xml.rels><?xml version='1.0' encoding='UTF-8' standalone='yes'?>
<Relationships xmlns="http://schemas.openxmlformats.org/package/2006/relationships"><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image" Target="../media/image304.png"/><Relationship Id="rId5" Type="http://schemas.openxmlformats.org/officeDocument/2006/relationships/image" Target="../media/image305.png"/><Relationship Id="rId6" Type="http://schemas.openxmlformats.org/officeDocument/2006/relationships/image" Target="../media/image306.png"/><Relationship Id="rId7" Type="http://schemas.openxmlformats.org/officeDocument/2006/relationships/image" Target="../media/image307.png"/><Relationship Id="rId8" Type="http://schemas.openxmlformats.org/officeDocument/2006/relationships/image" Target="../media/image308.png"/><Relationship Id="rId9" Type="http://schemas.openxmlformats.org/officeDocument/2006/relationships/image" Target="../media/image309.png"/><Relationship Id="rId10" Type="http://schemas.openxmlformats.org/officeDocument/2006/relationships/image" Target="../media/image310.png"/><Relationship Id="rId11" Type="http://schemas.openxmlformats.org/officeDocument/2006/relationships/image" Target="../media/image311.png"/></Relationships>
</file>

<file path=ppt/charts/_rels/chart51.xml.rels><?xml version='1.0' encoding='UTF-8' standalone='yes'?>
<Relationships xmlns="http://schemas.openxmlformats.org/package/2006/relationships"><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image" Target="../media/image314.png"/><Relationship Id="rId5" Type="http://schemas.openxmlformats.org/officeDocument/2006/relationships/image" Target="../media/image315.png"/><Relationship Id="rId6" Type="http://schemas.openxmlformats.org/officeDocument/2006/relationships/image" Target="../media/image316.png"/><Relationship Id="rId7" Type="http://schemas.openxmlformats.org/officeDocument/2006/relationships/image" Target="../media/image317.png"/></Relationships>
</file>

<file path=ppt/charts/_rels/chart54.xml.rels><?xml version='1.0' encoding='UTF-8' standalone='yes'?>
<Relationships xmlns="http://schemas.openxmlformats.org/package/2006/relationships"><Relationship Id="rId2" Type="http://schemas.openxmlformats.org/officeDocument/2006/relationships/image" Target="../media/image318.png"/></Relationships>
</file>

<file path=ppt/charts/_rels/chart56.xml.rels><?xml version='1.0' encoding='UTF-8' standalone='yes'?>
<Relationships xmlns="http://schemas.openxmlformats.org/package/2006/relationships"><Relationship Id="rId2" Type="http://schemas.openxmlformats.org/officeDocument/2006/relationships/image" Target="../media/image319.png"/></Relationships>
</file>

<file path=ppt/charts/_rels/chart58.xml.rels><?xml version='1.0' encoding='UTF-8' standalone='yes'?>
<Relationships xmlns="http://schemas.openxmlformats.org/package/2006/relationships"><Relationship Id="rId2" Type="http://schemas.openxmlformats.org/officeDocument/2006/relationships/image" Target="../media/image320.png"/><Relationship Id="rId3" Type="http://schemas.openxmlformats.org/officeDocument/2006/relationships/image" Target="../media/image321.png"/><Relationship Id="rId4" Type="http://schemas.openxmlformats.org/officeDocument/2006/relationships/image" Target="../media/image322.png"/><Relationship Id="rId5" Type="http://schemas.openxmlformats.org/officeDocument/2006/relationships/image" Target="../media/image323.png"/><Relationship Id="rId6" Type="http://schemas.openxmlformats.org/officeDocument/2006/relationships/image" Target="../media/image324.png"/><Relationship Id="rId7" Type="http://schemas.openxmlformats.org/officeDocument/2006/relationships/image" Target="../media/image325.png"/><Relationship Id="rId8" Type="http://schemas.openxmlformats.org/officeDocument/2006/relationships/image" Target="../media/image326.png"/><Relationship Id="rId9" Type="http://schemas.openxmlformats.org/officeDocument/2006/relationships/image" Target="../media/image327.png"/><Relationship Id="rId10" Type="http://schemas.openxmlformats.org/officeDocument/2006/relationships/image" Target="../media/image328.png"/><Relationship Id="rId11" Type="http://schemas.openxmlformats.org/officeDocument/2006/relationships/image" Target="../media/image329.png"/></Relationships>
</file>

<file path=ppt/charts/_rels/chart59.xml.rels><?xml version='1.0' encoding='UTF-8' standalone='yes'?>
<Relationships xmlns="http://schemas.openxmlformats.org/package/2006/relationships"><Relationship Id="rId2" Type="http://schemas.openxmlformats.org/officeDocument/2006/relationships/image" Target="../media/image330.png"/><Relationship Id="rId3" Type="http://schemas.openxmlformats.org/officeDocument/2006/relationships/image" Target="../media/image331.png"/><Relationship Id="rId4" Type="http://schemas.openxmlformats.org/officeDocument/2006/relationships/image" Target="../media/image332.png"/><Relationship Id="rId5" Type="http://schemas.openxmlformats.org/officeDocument/2006/relationships/image" Target="../media/image333.png"/><Relationship Id="rId6" Type="http://schemas.openxmlformats.org/officeDocument/2006/relationships/image" Target="../media/image334.png"/><Relationship Id="rId7" Type="http://schemas.openxmlformats.org/officeDocument/2006/relationships/image" Target="../media/image335.png"/><Relationship Id="rId8" Type="http://schemas.openxmlformats.org/officeDocument/2006/relationships/image" Target="../media/image336.png"/><Relationship Id="rId9" Type="http://schemas.openxmlformats.org/officeDocument/2006/relationships/image" Target="../media/image337.png"/><Relationship Id="rId10" Type="http://schemas.openxmlformats.org/officeDocument/2006/relationships/image" Target="../media/image338.png"/><Relationship Id="rId11" Type="http://schemas.openxmlformats.org/officeDocument/2006/relationships/image" Target="../media/image339.png"/><Relationship Id="rId12" Type="http://schemas.openxmlformats.org/officeDocument/2006/relationships/image" Target="../media/image340.png"/><Relationship Id="rId13" Type="http://schemas.openxmlformats.org/officeDocument/2006/relationships/image" Target="../media/image341.png"/><Relationship Id="rId14" Type="http://schemas.openxmlformats.org/officeDocument/2006/relationships/image" Target="../media/image342.png"/><Relationship Id="rId15" Type="http://schemas.openxmlformats.org/officeDocument/2006/relationships/image" Target="../media/image343.png"/><Relationship Id="rId16" Type="http://schemas.openxmlformats.org/officeDocument/2006/relationships/image" Target="../media/image344.png"/><Relationship Id="rId17" Type="http://schemas.openxmlformats.org/officeDocument/2006/relationships/image" Target="../media/image345.png"/><Relationship Id="rId18" Type="http://schemas.openxmlformats.org/officeDocument/2006/relationships/image" Target="../media/image346.png"/><Relationship Id="rId19" Type="http://schemas.openxmlformats.org/officeDocument/2006/relationships/image" Target="../media/image347.png"/><Relationship Id="rId20" Type="http://schemas.openxmlformats.org/officeDocument/2006/relationships/image" Target="../media/image348.png"/><Relationship Id="rId21" Type="http://schemas.openxmlformats.org/officeDocument/2006/relationships/image" Target="../media/image349.png"/><Relationship Id="rId22" Type="http://schemas.openxmlformats.org/officeDocument/2006/relationships/image" Target="../media/image350.png"/><Relationship Id="rId23" Type="http://schemas.openxmlformats.org/officeDocument/2006/relationships/image" Target="../media/image351.png"/></Relationships>
</file>

<file path=ppt/charts/_rels/chart60.xml.rels><?xml version='1.0' encoding='UTF-8' standalone='yes'?>
<Relationships xmlns="http://schemas.openxmlformats.org/package/2006/relationships"><Relationship Id="rId2" Type="http://schemas.openxmlformats.org/officeDocument/2006/relationships/image" Target="../media/image352.png"/><Relationship Id="rId3" Type="http://schemas.openxmlformats.org/officeDocument/2006/relationships/image" Target="../media/image353.png"/></Relationships>
</file>

<file path=ppt/charts/_rels/chart61.xml.rels><?xml version='1.0' encoding='UTF-8' standalone='yes'?>
<Relationships xmlns="http://schemas.openxmlformats.org/package/2006/relationships"><Relationship Id="rId2" Type="http://schemas.openxmlformats.org/officeDocument/2006/relationships/image" Target="../media/image354.png"/><Relationship Id="rId3" Type="http://schemas.openxmlformats.org/officeDocument/2006/relationships/image" Target="../media/image355.png"/></Relationships>
</file>

<file path=ppt/charts/_rels/chart62.xml.rels><?xml version='1.0' encoding='UTF-8' standalone='yes'?>
<Relationships xmlns="http://schemas.openxmlformats.org/package/2006/relationships"><Relationship Id="rId2" Type="http://schemas.openxmlformats.org/officeDocument/2006/relationships/image" Target="../media/image356.png"/><Relationship Id="rId3" Type="http://schemas.openxmlformats.org/officeDocument/2006/relationships/image" Target="../media/image357.png"/><Relationship Id="rId4" Type="http://schemas.openxmlformats.org/officeDocument/2006/relationships/image" Target="../media/image358.png"/></Relationships>
</file>

<file path=ppt/charts/_rels/chart64.xml.rels><?xml version='1.0' encoding='UTF-8' standalone='yes'?>
<Relationships xmlns="http://schemas.openxmlformats.org/package/2006/relationships"><Relationship Id="rId2" Type="http://schemas.openxmlformats.org/officeDocument/2006/relationships/image" Target="../media/image359.png"/><Relationship Id="rId3" Type="http://schemas.openxmlformats.org/officeDocument/2006/relationships/image" Target="../media/image360.png"/><Relationship Id="rId4" Type="http://schemas.openxmlformats.org/officeDocument/2006/relationships/image" Target="../media/image361.png"/><Relationship Id="rId5" Type="http://schemas.openxmlformats.org/officeDocument/2006/relationships/image" Target="../media/image362.png"/></Relationships>
</file>

<file path=ppt/charts/_rels/chart65.xml.rels><?xml version='1.0' encoding='UTF-8' standalone='yes'?>
<Relationships xmlns="http://schemas.openxmlformats.org/package/2006/relationships"><Relationship Id="rId2" Type="http://schemas.openxmlformats.org/officeDocument/2006/relationships/image" Target="../media/image363.png"/><Relationship Id="rId3" Type="http://schemas.openxmlformats.org/officeDocument/2006/relationships/image" Target="../media/image364.png"/><Relationship Id="rId4" Type="http://schemas.openxmlformats.org/officeDocument/2006/relationships/image" Target="../media/image365.png"/><Relationship Id="rId5" Type="http://schemas.openxmlformats.org/officeDocument/2006/relationships/image" Target="../media/image366.png"/></Relationships>
</file>

<file path=ppt/charts/_rels/chart66.xml.rels><?xml version='1.0' encoding='UTF-8' standalone='yes'?>
<Relationships xmlns="http://schemas.openxmlformats.org/package/2006/relationships"><Relationship Id="rId2" Type="http://schemas.openxmlformats.org/officeDocument/2006/relationships/image" Target="../media/image367.png"/><Relationship Id="rId3" Type="http://schemas.openxmlformats.org/officeDocument/2006/relationships/image" Target="../media/image368.png"/><Relationship Id="rId4" Type="http://schemas.openxmlformats.org/officeDocument/2006/relationships/image" Target="../media/image369.png"/><Relationship Id="rId5" Type="http://schemas.openxmlformats.org/officeDocument/2006/relationships/image" Target="../media/image370.png"/><Relationship Id="rId6" Type="http://schemas.openxmlformats.org/officeDocument/2006/relationships/image" Target="../media/image371.png"/><Relationship Id="rId7" Type="http://schemas.openxmlformats.org/officeDocument/2006/relationships/image" Target="../media/image372.png"/><Relationship Id="rId8" Type="http://schemas.openxmlformats.org/officeDocument/2006/relationships/image" Target="../media/image373.png"/><Relationship Id="rId9" Type="http://schemas.openxmlformats.org/officeDocument/2006/relationships/image" Target="../media/image374.png"/><Relationship Id="rId10" Type="http://schemas.openxmlformats.org/officeDocument/2006/relationships/image" Target="../media/image375.png"/><Relationship Id="rId11" Type="http://schemas.openxmlformats.org/officeDocument/2006/relationships/image" Target="../media/image376.png"/><Relationship Id="rId12" Type="http://schemas.openxmlformats.org/officeDocument/2006/relationships/image" Target="../media/image377.png"/><Relationship Id="rId13" Type="http://schemas.openxmlformats.org/officeDocument/2006/relationships/image" Target="../media/image378.png"/><Relationship Id="rId14" Type="http://schemas.openxmlformats.org/officeDocument/2006/relationships/image" Target="../media/image379.png"/><Relationship Id="rId15" Type="http://schemas.openxmlformats.org/officeDocument/2006/relationships/image" Target="../media/image380.png"/><Relationship Id="rId16" Type="http://schemas.openxmlformats.org/officeDocument/2006/relationships/image" Target="../media/image381.png"/><Relationship Id="rId17" Type="http://schemas.openxmlformats.org/officeDocument/2006/relationships/image" Target="../media/image382.png"/><Relationship Id="rId18" Type="http://schemas.openxmlformats.org/officeDocument/2006/relationships/image" Target="../media/image383.png"/><Relationship Id="rId19" Type="http://schemas.openxmlformats.org/officeDocument/2006/relationships/image" Target="../media/image384.png"/><Relationship Id="rId20" Type="http://schemas.openxmlformats.org/officeDocument/2006/relationships/image" Target="../media/image385.png"/><Relationship Id="rId21" Type="http://schemas.openxmlformats.org/officeDocument/2006/relationships/image" Target="../media/image386.png"/><Relationship Id="rId22" Type="http://schemas.openxmlformats.org/officeDocument/2006/relationships/image" Target="../media/image387.png"/><Relationship Id="rId23" Type="http://schemas.openxmlformats.org/officeDocument/2006/relationships/image" Target="../media/image388.png"/><Relationship Id="rId24" Type="http://schemas.openxmlformats.org/officeDocument/2006/relationships/image" Target="../media/image389.png"/><Relationship Id="rId25" Type="http://schemas.openxmlformats.org/officeDocument/2006/relationships/image" Target="../media/image390.png"/><Relationship Id="rId26" Type="http://schemas.openxmlformats.org/officeDocument/2006/relationships/image" Target="../media/image391.png"/><Relationship Id="rId27" Type="http://schemas.openxmlformats.org/officeDocument/2006/relationships/image" Target="../media/image392.png"/><Relationship Id="rId28" Type="http://schemas.openxmlformats.org/officeDocument/2006/relationships/image" Target="../media/image393.png"/><Relationship Id="rId29" Type="http://schemas.openxmlformats.org/officeDocument/2006/relationships/image" Target="../media/image394.png"/><Relationship Id="rId30" Type="http://schemas.openxmlformats.org/officeDocument/2006/relationships/image" Target="../media/image395.png"/><Relationship Id="rId31" Type="http://schemas.openxmlformats.org/officeDocument/2006/relationships/image" Target="../media/image396.png"/><Relationship Id="rId32" Type="http://schemas.openxmlformats.org/officeDocument/2006/relationships/image" Target="../media/image397.png"/><Relationship Id="rId33" Type="http://schemas.openxmlformats.org/officeDocument/2006/relationships/image" Target="../media/image398.png"/></Relationships>
</file>

<file path=ppt/charts/_rels/chart67.xml.rels><?xml version='1.0' encoding='UTF-8' standalone='yes'?>
<Relationships xmlns="http://schemas.openxmlformats.org/package/2006/relationships"><Relationship Id="rId2" Type="http://schemas.openxmlformats.org/officeDocument/2006/relationships/image" Target="../media/image399.png"/><Relationship Id="rId3" Type="http://schemas.openxmlformats.org/officeDocument/2006/relationships/image" Target="../media/image400.png"/><Relationship Id="rId4" Type="http://schemas.openxmlformats.org/officeDocument/2006/relationships/image" Target="../media/image401.png"/><Relationship Id="rId5" Type="http://schemas.openxmlformats.org/officeDocument/2006/relationships/image" Target="../media/image402.png"/><Relationship Id="rId6" Type="http://schemas.openxmlformats.org/officeDocument/2006/relationships/image" Target="../media/image403.png"/><Relationship Id="rId7" Type="http://schemas.openxmlformats.org/officeDocument/2006/relationships/image" Target="../media/image404.png"/><Relationship Id="rId8" Type="http://schemas.openxmlformats.org/officeDocument/2006/relationships/image" Target="../media/image405.png"/><Relationship Id="rId9" Type="http://schemas.openxmlformats.org/officeDocument/2006/relationships/image" Target="../media/image406.png"/><Relationship Id="rId10" Type="http://schemas.openxmlformats.org/officeDocument/2006/relationships/image" Target="../media/image407.png"/><Relationship Id="rId11" Type="http://schemas.openxmlformats.org/officeDocument/2006/relationships/image" Target="../media/image408.png"/><Relationship Id="rId12" Type="http://schemas.openxmlformats.org/officeDocument/2006/relationships/image" Target="../media/image409.png"/><Relationship Id="rId13" Type="http://schemas.openxmlformats.org/officeDocument/2006/relationships/image" Target="../media/image410.png"/><Relationship Id="rId14" Type="http://schemas.openxmlformats.org/officeDocument/2006/relationships/image" Target="../media/image411.png"/><Relationship Id="rId15" Type="http://schemas.openxmlformats.org/officeDocument/2006/relationships/image" Target="../media/image412.png"/><Relationship Id="rId16" Type="http://schemas.openxmlformats.org/officeDocument/2006/relationships/image" Target="../media/image413.png"/><Relationship Id="rId17" Type="http://schemas.openxmlformats.org/officeDocument/2006/relationships/image" Target="../media/image414.png"/><Relationship Id="rId18" Type="http://schemas.openxmlformats.org/officeDocument/2006/relationships/image" Target="../media/image415.png"/><Relationship Id="rId19" Type="http://schemas.openxmlformats.org/officeDocument/2006/relationships/image" Target="../media/image416.png"/><Relationship Id="rId20" Type="http://schemas.openxmlformats.org/officeDocument/2006/relationships/image" Target="../media/image417.png"/><Relationship Id="rId21" Type="http://schemas.openxmlformats.org/officeDocument/2006/relationships/image" Target="../media/image418.png"/><Relationship Id="rId22" Type="http://schemas.openxmlformats.org/officeDocument/2006/relationships/image" Target="../media/image419.png"/><Relationship Id="rId23" Type="http://schemas.openxmlformats.org/officeDocument/2006/relationships/image" Target="../media/image420.png"/><Relationship Id="rId24" Type="http://schemas.openxmlformats.org/officeDocument/2006/relationships/image" Target="../media/image421.png"/><Relationship Id="rId25" Type="http://schemas.openxmlformats.org/officeDocument/2006/relationships/image" Target="../media/image422.png"/><Relationship Id="rId26" Type="http://schemas.openxmlformats.org/officeDocument/2006/relationships/image" Target="../media/image423.png"/><Relationship Id="rId27" Type="http://schemas.openxmlformats.org/officeDocument/2006/relationships/image" Target="../media/image424.png"/><Relationship Id="rId28" Type="http://schemas.openxmlformats.org/officeDocument/2006/relationships/image" Target="../media/image425.png"/><Relationship Id="rId29" Type="http://schemas.openxmlformats.org/officeDocument/2006/relationships/image" Target="../media/image426.png"/><Relationship Id="rId30" Type="http://schemas.openxmlformats.org/officeDocument/2006/relationships/image" Target="../media/image427.png"/><Relationship Id="rId31" Type="http://schemas.openxmlformats.org/officeDocument/2006/relationships/image" Target="../media/image428.png"/><Relationship Id="rId32" Type="http://schemas.openxmlformats.org/officeDocument/2006/relationships/image" Target="../media/image429.png"/><Relationship Id="rId33" Type="http://schemas.openxmlformats.org/officeDocument/2006/relationships/image" Target="../media/image430.png"/></Relationships>
</file>

<file path=ppt/charts/_rels/chart68.xml.rels><?xml version='1.0' encoding='UTF-8' standalone='yes'?>
<Relationships xmlns="http://schemas.openxmlformats.org/package/2006/relationships"><Relationship Id="rId2" Type="http://schemas.openxmlformats.org/officeDocument/2006/relationships/image" Target="../media/image439.png"/><Relationship Id="rId3" Type="http://schemas.openxmlformats.org/officeDocument/2006/relationships/image" Target="../media/image440.png"/><Relationship Id="rId4" Type="http://schemas.openxmlformats.org/officeDocument/2006/relationships/image" Target="../media/image441.png"/><Relationship Id="rId5" Type="http://schemas.openxmlformats.org/officeDocument/2006/relationships/image" Target="../media/image442.png"/><Relationship Id="rId6" Type="http://schemas.openxmlformats.org/officeDocument/2006/relationships/image" Target="../media/image443.png"/><Relationship Id="rId7" Type="http://schemas.openxmlformats.org/officeDocument/2006/relationships/image" Target="../media/image444.png"/></Relationships>
</file>

<file path=ppt/charts/_rels/chart73.xml.rels><?xml version='1.0' encoding='UTF-8' standalone='yes'?>
<Relationships xmlns="http://schemas.openxmlformats.org/package/2006/relationships"><Relationship Id="rId2" Type="http://schemas.openxmlformats.org/officeDocument/2006/relationships/image" Target="../media/image445.png"/><Relationship Id="rId3" Type="http://schemas.openxmlformats.org/officeDocument/2006/relationships/image" Target="../media/image446.png"/><Relationship Id="rId4" Type="http://schemas.openxmlformats.org/officeDocument/2006/relationships/image" Target="../media/image447.png"/><Relationship Id="rId5" Type="http://schemas.openxmlformats.org/officeDocument/2006/relationships/image" Target="../media/image448.png"/><Relationship Id="rId6" Type="http://schemas.openxmlformats.org/officeDocument/2006/relationships/image" Target="../media/image449.png"/><Relationship Id="rId7" Type="http://schemas.openxmlformats.org/officeDocument/2006/relationships/image" Target="../media/image450.png"/><Relationship Id="rId8" Type="http://schemas.openxmlformats.org/officeDocument/2006/relationships/image" Target="../media/image451.png"/><Relationship Id="rId9" Type="http://schemas.openxmlformats.org/officeDocument/2006/relationships/image" Target="../media/image452.png"/><Relationship Id="rId10" Type="http://schemas.openxmlformats.org/officeDocument/2006/relationships/image" Target="../media/image453.png"/></Relationships>
</file>

<file path=ppt/charts/_rels/chart74.xml.rels><?xml version='1.0' encoding='UTF-8' standalone='yes'?>
<Relationships xmlns="http://schemas.openxmlformats.org/package/2006/relationships"><Relationship Id="rId2" Type="http://schemas.openxmlformats.org/officeDocument/2006/relationships/image" Target="../media/image464.png"/><Relationship Id="rId3" Type="http://schemas.openxmlformats.org/officeDocument/2006/relationships/image" Target="../media/image465.png"/><Relationship Id="rId4" Type="http://schemas.openxmlformats.org/officeDocument/2006/relationships/image" Target="../media/image466.png"/><Relationship Id="rId5" Type="http://schemas.openxmlformats.org/officeDocument/2006/relationships/image" Target="../media/image467.png"/><Relationship Id="rId6" Type="http://schemas.openxmlformats.org/officeDocument/2006/relationships/image" Target="../media/image468.png"/><Relationship Id="rId7" Type="http://schemas.openxmlformats.org/officeDocument/2006/relationships/image" Target="../media/image469.png"/><Relationship Id="rId8" Type="http://schemas.openxmlformats.org/officeDocument/2006/relationships/image" Target="../media/image470.png"/><Relationship Id="rId9" Type="http://schemas.openxmlformats.org/officeDocument/2006/relationships/image" Target="../media/image471.png"/></Relationships>
</file>

<file path=ppt/charts/_rels/chart80.xml.rels><?xml version='1.0' encoding='UTF-8' standalone='yes'?>
<Relationships xmlns="http://schemas.openxmlformats.org/package/2006/relationships"><Relationship Id="rId2" Type="http://schemas.openxmlformats.org/officeDocument/2006/relationships/image" Target="../media/image472.png"/><Relationship Id="rId3" Type="http://schemas.openxmlformats.org/officeDocument/2006/relationships/image" Target="../media/image473.png"/><Relationship Id="rId4" Type="http://schemas.openxmlformats.org/officeDocument/2006/relationships/image" Target="../media/image474.png"/><Relationship Id="rId5" Type="http://schemas.openxmlformats.org/officeDocument/2006/relationships/image" Target="../media/image475.png"/><Relationship Id="rId6" Type="http://schemas.openxmlformats.org/officeDocument/2006/relationships/image" Target="../media/image476.png"/><Relationship Id="rId7" Type="http://schemas.openxmlformats.org/officeDocument/2006/relationships/image" Target="../media/image477.png"/><Relationship Id="rId8" Type="http://schemas.openxmlformats.org/officeDocument/2006/relationships/image" Target="../media/image478.png"/><Relationship Id="rId9" Type="http://schemas.openxmlformats.org/officeDocument/2006/relationships/image" Target="../media/image479.png"/><Relationship Id="rId10" Type="http://schemas.openxmlformats.org/officeDocument/2006/relationships/image" Target="../media/image480.png"/><Relationship Id="rId11" Type="http://schemas.openxmlformats.org/officeDocument/2006/relationships/image" Target="../media/image481.png"/><Relationship Id="rId12" Type="http://schemas.openxmlformats.org/officeDocument/2006/relationships/image" Target="../media/image482.png"/><Relationship Id="rId13" Type="http://schemas.openxmlformats.org/officeDocument/2006/relationships/image" Target="../media/image483.png"/></Relationships>
</file>

<file path=ppt/charts/_rels/chart81.xml.rels><?xml version='1.0' encoding='UTF-8' standalone='yes'?>
<Relationships xmlns="http://schemas.openxmlformats.org/package/2006/relationships"><Relationship Id="rId2" Type="http://schemas.openxmlformats.org/officeDocument/2006/relationships/image" Target="../media/image488.png"/><Relationship Id="rId3" Type="http://schemas.openxmlformats.org/officeDocument/2006/relationships/image" Target="../media/image489.png"/><Relationship Id="rId4" Type="http://schemas.openxmlformats.org/officeDocument/2006/relationships/image" Target="../media/image490.png"/><Relationship Id="rId5" Type="http://schemas.openxmlformats.org/officeDocument/2006/relationships/image" Target="../media/image491.png"/></Relationships>
</file>

<file path=ppt/charts/_rels/chart85.xml.rels><?xml version='1.0' encoding='UTF-8' standalone='yes'?>
<Relationships xmlns="http://schemas.openxmlformats.org/package/2006/relationships"><Relationship Id="rId2" Type="http://schemas.openxmlformats.org/officeDocument/2006/relationships/image" Target="../media/image492.png"/><Relationship Id="rId3" Type="http://schemas.openxmlformats.org/officeDocument/2006/relationships/image" Target="../media/image493.png"/><Relationship Id="rId4" Type="http://schemas.openxmlformats.org/officeDocument/2006/relationships/image" Target="../media/image494.png"/><Relationship Id="rId5" Type="http://schemas.openxmlformats.org/officeDocument/2006/relationships/image" Target="../media/image495.png"/><Relationship Id="rId6" Type="http://schemas.openxmlformats.org/officeDocument/2006/relationships/image" Target="../media/image496.png"/><Relationship Id="rId7" Type="http://schemas.openxmlformats.org/officeDocument/2006/relationships/image" Target="../media/image497.png"/></Relationships>
</file>

<file path=ppt/charts/_rels/chart86.xml.rels><?xml version='1.0' encoding='UTF-8' standalone='yes'?>
<Relationships xmlns="http://schemas.openxmlformats.org/package/2006/relationships"><Relationship Id="rId2" Type="http://schemas.openxmlformats.org/officeDocument/2006/relationships/image" Target="../media/image503.png"/><Relationship Id="rId3" Type="http://schemas.openxmlformats.org/officeDocument/2006/relationships/image" Target="../media/image504.png"/><Relationship Id="rId4" Type="http://schemas.openxmlformats.org/officeDocument/2006/relationships/image" Target="../media/image505.png"/><Relationship Id="rId5" Type="http://schemas.openxmlformats.org/officeDocument/2006/relationships/image" Target="../media/image506.png"/></Relationships>
</file>

<file path=ppt/charts/_rels/chart90.xml.rels><?xml version='1.0' encoding='UTF-8' standalone='yes'?>
<Relationships xmlns="http://schemas.openxmlformats.org/package/2006/relationships"><Relationship Id="rId2" Type="http://schemas.openxmlformats.org/officeDocument/2006/relationships/image" Target="../media/image507.png"/><Relationship Id="rId3" Type="http://schemas.openxmlformats.org/officeDocument/2006/relationships/image" Target="../media/image508.png"/><Relationship Id="rId4" Type="http://schemas.openxmlformats.org/officeDocument/2006/relationships/image" Target="../media/image509.png"/><Relationship Id="rId5" Type="http://schemas.openxmlformats.org/officeDocument/2006/relationships/image" Target="../media/image510.png"/><Relationship Id="rId6" Type="http://schemas.openxmlformats.org/officeDocument/2006/relationships/image" Target="../media/image511.png"/><Relationship Id="rId7" Type="http://schemas.openxmlformats.org/officeDocument/2006/relationships/image" Target="../media/image512.png"/></Relationships>
</file>

<file path=ppt/charts/_rels/chart91.xml.rels><?xml version='1.0' encoding='UTF-8' standalone='yes'?>
<Relationships xmlns="http://schemas.openxmlformats.org/package/2006/relationships"><Relationship Id="rId2" Type="http://schemas.openxmlformats.org/officeDocument/2006/relationships/image" Target="../media/image530.png"/><Relationship Id="rId3" Type="http://schemas.openxmlformats.org/officeDocument/2006/relationships/image" Target="../media/image531.png"/><Relationship Id="rId4" Type="http://schemas.openxmlformats.org/officeDocument/2006/relationships/image" Target="../media/image532.png"/><Relationship Id="rId5" Type="http://schemas.openxmlformats.org/officeDocument/2006/relationships/image" Target="../media/image533.png"/><Relationship Id="rId6" Type="http://schemas.openxmlformats.org/officeDocument/2006/relationships/image" Target="../media/image534.png"/><Relationship Id="rId7" Type="http://schemas.openxmlformats.org/officeDocument/2006/relationships/image" Target="../media/image535.png"/><Relationship Id="rId8" Type="http://schemas.openxmlformats.org/officeDocument/2006/relationships/image" Target="../media/image536.png"/><Relationship Id="rId9" Type="http://schemas.openxmlformats.org/officeDocument/2006/relationships/image" Target="../media/image537.png"/><Relationship Id="rId10" Type="http://schemas.openxmlformats.org/officeDocument/2006/relationships/image" Target="../media/image538.png"/><Relationship Id="rId11" Type="http://schemas.openxmlformats.org/officeDocument/2006/relationships/image" Target="../media/image539.png"/><Relationship Id="rId12" Type="http://schemas.openxmlformats.org/officeDocument/2006/relationships/image" Target="../media/image540.png"/><Relationship Id="rId13" Type="http://schemas.openxmlformats.org/officeDocument/2006/relationships/image" Target="../media/image541.png"/></Relationships>
</file>

<file path=ppt/charts/_rels/chart99.xml.rels><?xml version='1.0' encoding='UTF-8' standalone='yes'?>
<Relationships xmlns="http://schemas.openxmlformats.org/package/2006/relationships"><Relationship Id="rId2" Type="http://schemas.openxmlformats.org/officeDocument/2006/relationships/image" Target="../media/image542.png"/><Relationship Id="rId3" Type="http://schemas.openxmlformats.org/officeDocument/2006/relationships/image" Target="../media/image543.png"/><Relationship Id="rId4" Type="http://schemas.openxmlformats.org/officeDocument/2006/relationships/image" Target="../media/image544.png"/><Relationship Id="rId5" Type="http://schemas.openxmlformats.org/officeDocument/2006/relationships/image" Target="../media/image545.png"/><Relationship Id="rId6" Type="http://schemas.openxmlformats.org/officeDocument/2006/relationships/image" Target="../media/image546.png"/><Relationship Id="rId7" Type="http://schemas.openxmlformats.org/officeDocument/2006/relationships/image" Target="../media/image547.png"/><Relationship Id="rId8" Type="http://schemas.openxmlformats.org/officeDocument/2006/relationships/image" Target="../media/image548.png"/><Relationship Id="rId9" Type="http://schemas.openxmlformats.org/officeDocument/2006/relationships/image" Target="../media/image549.png"/><Relationship Id="rId10" Type="http://schemas.openxmlformats.org/officeDocument/2006/relationships/image" Target="../media/image550.png"/><Relationship Id="rId11" Type="http://schemas.openxmlformats.org/officeDocument/2006/relationships/image" Target="../media/image551.png"/><Relationship Id="rId12" Type="http://schemas.openxmlformats.org/officeDocument/2006/relationships/image" Target="../media/image552.png"/><Relationship Id="rId13" Type="http://schemas.openxmlformats.org/officeDocument/2006/relationships/image" Target="../media/image553.png"/><Relationship Id="rId14" Type="http://schemas.openxmlformats.org/officeDocument/2006/relationships/image" Target="../media/image554.png"/><Relationship Id="rId15" Type="http://schemas.openxmlformats.org/officeDocument/2006/relationships/image" Target="../media/image555.png"/><Relationship Id="rId16" Type="http://schemas.openxmlformats.org/officeDocument/2006/relationships/image" Target="../media/image556.png"/><Relationship Id="rId17" Type="http://schemas.openxmlformats.org/officeDocument/2006/relationships/image" Target="../media/image557.png"/><Relationship Id="rId18" Type="http://schemas.openxmlformats.org/officeDocument/2006/relationships/image" Target="../media/image558.png"/><Relationship Id="rId19" Type="http://schemas.openxmlformats.org/officeDocument/2006/relationships/image" Target="../media/image559.png"/></Relationships>
</file>

<file path=ppt/charts/_rels/chart100.xml.rels><?xml version='1.0' encoding='UTF-8' standalone='yes'?>
<Relationships xmlns="http://schemas.openxmlformats.org/package/2006/relationships"><Relationship Id="rId2" Type="http://schemas.openxmlformats.org/officeDocument/2006/relationships/image" Target="../media/image564.png"/><Relationship Id="rId3" Type="http://schemas.openxmlformats.org/officeDocument/2006/relationships/image" Target="../media/image565.png"/><Relationship Id="rId4" Type="http://schemas.openxmlformats.org/officeDocument/2006/relationships/image" Target="../media/image566.png"/><Relationship Id="rId5" Type="http://schemas.openxmlformats.org/officeDocument/2006/relationships/image" Target="../media/image567.png"/></Relationships>
</file>

<file path=ppt/charts/_rels/chart104.xml.rels><?xml version='1.0' encoding='UTF-8' standalone='yes'?>
<Relationships xmlns="http://schemas.openxmlformats.org/package/2006/relationships"><Relationship Id="rId2" Type="http://schemas.openxmlformats.org/officeDocument/2006/relationships/image" Target="../media/image568.png"/><Relationship Id="rId3" Type="http://schemas.openxmlformats.org/officeDocument/2006/relationships/image" Target="../media/image569.png"/><Relationship Id="rId4" Type="http://schemas.openxmlformats.org/officeDocument/2006/relationships/image" Target="../media/image570.png"/><Relationship Id="rId5" Type="http://schemas.openxmlformats.org/officeDocument/2006/relationships/image" Target="../media/image571.png"/><Relationship Id="rId6" Type="http://schemas.openxmlformats.org/officeDocument/2006/relationships/image" Target="../media/image572.png"/><Relationship Id="rId7" Type="http://schemas.openxmlformats.org/officeDocument/2006/relationships/image" Target="../media/image573.png"/></Relationships>
</file>

<file path=ppt/charts/_rels/chart137.xml.rels><?xml version='1.0' encoding='UTF-8' standalone='yes'?>
<Relationships xmlns="http://schemas.openxmlformats.org/package/2006/relationships"><Relationship Id="rId2" Type="http://schemas.openxmlformats.org/officeDocument/2006/relationships/image" Target="../media/image574.png"/><Relationship Id="rId3" Type="http://schemas.openxmlformats.org/officeDocument/2006/relationships/image" Target="../media/image575.png"/><Relationship Id="rId4" Type="http://schemas.openxmlformats.org/officeDocument/2006/relationships/image" Target="../media/image576.png"/><Relationship Id="rId5" Type="http://schemas.openxmlformats.org/officeDocument/2006/relationships/image" Target="../media/image577.png"/><Relationship Id="rId6" Type="http://schemas.openxmlformats.org/officeDocument/2006/relationships/image" Target="../media/image578.png"/><Relationship Id="rId7" Type="http://schemas.openxmlformats.org/officeDocument/2006/relationships/image" Target="../media/image579.png"/><Relationship Id="rId8" Type="http://schemas.openxmlformats.org/officeDocument/2006/relationships/image" Target="../media/image580.png"/><Relationship Id="rId9" Type="http://schemas.openxmlformats.org/officeDocument/2006/relationships/image" Target="../media/image581.png"/><Relationship Id="rId10" Type="http://schemas.openxmlformats.org/officeDocument/2006/relationships/image" Target="../media/image582.png"/><Relationship Id="rId11" Type="http://schemas.openxmlformats.org/officeDocument/2006/relationships/image" Target="../media/image583.png"/></Relationships>
</file>

<file path=ppt/charts/_rels/chart138.xml.rels><?xml version='1.0' encoding='UTF-8' standalone='yes'?>
<Relationships xmlns="http://schemas.openxmlformats.org/package/2006/relationships"><Relationship Id="rId2" Type="http://schemas.openxmlformats.org/officeDocument/2006/relationships/image" Target="../media/image584.png"/><Relationship Id="rId3" Type="http://schemas.openxmlformats.org/officeDocument/2006/relationships/image" Target="../media/image585.png"/><Relationship Id="rId4" Type="http://schemas.openxmlformats.org/officeDocument/2006/relationships/image" Target="../media/image586.png"/><Relationship Id="rId5" Type="http://schemas.openxmlformats.org/officeDocument/2006/relationships/image" Target="../media/image587.png"/><Relationship Id="rId6" Type="http://schemas.openxmlformats.org/officeDocument/2006/relationships/image" Target="../media/image588.png"/><Relationship Id="rId7" Type="http://schemas.openxmlformats.org/officeDocument/2006/relationships/image" Target="../media/image589.png"/><Relationship Id="rId8" Type="http://schemas.openxmlformats.org/officeDocument/2006/relationships/image" Target="../media/image590.png"/><Relationship Id="rId9" Type="http://schemas.openxmlformats.org/officeDocument/2006/relationships/image" Target="../media/image591.png"/><Relationship Id="rId10" Type="http://schemas.openxmlformats.org/officeDocument/2006/relationships/image" Target="../media/image592.png"/><Relationship Id="rId11" Type="http://schemas.openxmlformats.org/officeDocument/2006/relationships/image" Target="../media/image593.png"/><Relationship Id="rId12" Type="http://schemas.openxmlformats.org/officeDocument/2006/relationships/image" Target="../media/image594.png"/></Relationships>
</file>

<file path=ppt/charts/_rels/chart139.xml.rels><?xml version='1.0' encoding='UTF-8' standalone='yes'?>
<Relationships xmlns="http://schemas.openxmlformats.org/package/2006/relationships"><Relationship Id="rId2" Type="http://schemas.openxmlformats.org/officeDocument/2006/relationships/image" Target="../media/image595.png"/><Relationship Id="rId3" Type="http://schemas.openxmlformats.org/officeDocument/2006/relationships/image" Target="../media/image596.png"/><Relationship Id="rId4" Type="http://schemas.openxmlformats.org/officeDocument/2006/relationships/image" Target="../media/image597.png"/><Relationship Id="rId5" Type="http://schemas.openxmlformats.org/officeDocument/2006/relationships/image" Target="../media/image598.png"/><Relationship Id="rId6" Type="http://schemas.openxmlformats.org/officeDocument/2006/relationships/image" Target="../media/image599.png"/><Relationship Id="rId7" Type="http://schemas.openxmlformats.org/officeDocument/2006/relationships/image" Target="../media/image600.png"/><Relationship Id="rId8" Type="http://schemas.openxmlformats.org/officeDocument/2006/relationships/image" Target="../media/image601.png"/><Relationship Id="rId9" Type="http://schemas.openxmlformats.org/officeDocument/2006/relationships/image" Target="../media/image602.png"/><Relationship Id="rId10" Type="http://schemas.openxmlformats.org/officeDocument/2006/relationships/image" Target="../media/image603.png"/><Relationship Id="rId11" Type="http://schemas.openxmlformats.org/officeDocument/2006/relationships/image" Target="../media/image604.png"/></Relationships>
</file>

<file path=ppt/charts/_rels/chart140.xml.rels><?xml version='1.0' encoding='UTF-8' standalone='yes'?>
<Relationships xmlns="http://schemas.openxmlformats.org/package/2006/relationships"><Relationship Id="rId2" Type="http://schemas.openxmlformats.org/officeDocument/2006/relationships/image" Target="../media/image605.png"/><Relationship Id="rId3" Type="http://schemas.openxmlformats.org/officeDocument/2006/relationships/image" Target="../media/image606.png"/><Relationship Id="rId4" Type="http://schemas.openxmlformats.org/officeDocument/2006/relationships/image" Target="../media/image607.png"/><Relationship Id="rId5" Type="http://schemas.openxmlformats.org/officeDocument/2006/relationships/image" Target="../media/image608.png"/><Relationship Id="rId6" Type="http://schemas.openxmlformats.org/officeDocument/2006/relationships/image" Target="../media/image609.png"/><Relationship Id="rId7" Type="http://schemas.openxmlformats.org/officeDocument/2006/relationships/image" Target="../media/image610.png"/><Relationship Id="rId8" Type="http://schemas.openxmlformats.org/officeDocument/2006/relationships/image" Target="../media/image611.png"/><Relationship Id="rId9" Type="http://schemas.openxmlformats.org/officeDocument/2006/relationships/image" Target="../media/image612.png"/><Relationship Id="rId10" Type="http://schemas.openxmlformats.org/officeDocument/2006/relationships/image" Target="../media/image613.png"/><Relationship Id="rId11" Type="http://schemas.openxmlformats.org/officeDocument/2006/relationships/image" Target="../media/image614.png"/><Relationship Id="rId12" Type="http://schemas.openxmlformats.org/officeDocument/2006/relationships/image" Target="../media/image615.png"/></Relationships>
</file>

<file path=ppt/charts/_rels/chart141.xml.rels><?xml version='1.0' encoding='UTF-8' standalone='yes'?>
<Relationships xmlns="http://schemas.openxmlformats.org/package/2006/relationships"><Relationship Id="rId2" Type="http://schemas.openxmlformats.org/officeDocument/2006/relationships/image" Target="../media/image616.png"/><Relationship Id="rId3" Type="http://schemas.openxmlformats.org/officeDocument/2006/relationships/image" Target="../media/image617.png"/><Relationship Id="rId4" Type="http://schemas.openxmlformats.org/officeDocument/2006/relationships/image" Target="../media/image618.png"/><Relationship Id="rId5" Type="http://schemas.openxmlformats.org/officeDocument/2006/relationships/image" Target="../media/image619.png"/><Relationship Id="rId6" Type="http://schemas.openxmlformats.org/officeDocument/2006/relationships/image" Target="../media/image620.png"/><Relationship Id="rId7" Type="http://schemas.openxmlformats.org/officeDocument/2006/relationships/image" Target="../media/image621.png"/><Relationship Id="rId8" Type="http://schemas.openxmlformats.org/officeDocument/2006/relationships/image" Target="../media/image622.png"/><Relationship Id="rId9" Type="http://schemas.openxmlformats.org/officeDocument/2006/relationships/image" Target="../media/image623.png"/><Relationship Id="rId10" Type="http://schemas.openxmlformats.org/officeDocument/2006/relationships/image" Target="../media/image624.png"/><Relationship Id="rId11" Type="http://schemas.openxmlformats.org/officeDocument/2006/relationships/image" Target="../media/image625.png"/></Relationships>
</file>

<file path=ppt/charts/_rels/chart142.xml.rels><?xml version='1.0' encoding='UTF-8' standalone='yes'?>
<Relationships xmlns="http://schemas.openxmlformats.org/package/2006/relationships"><Relationship Id="rId2" Type="http://schemas.openxmlformats.org/officeDocument/2006/relationships/image" Target="../media/image626.png"/><Relationship Id="rId3" Type="http://schemas.openxmlformats.org/officeDocument/2006/relationships/image" Target="../media/image627.png"/><Relationship Id="rId4" Type="http://schemas.openxmlformats.org/officeDocument/2006/relationships/image" Target="../media/image628.png"/><Relationship Id="rId5" Type="http://schemas.openxmlformats.org/officeDocument/2006/relationships/image" Target="../media/image629.png"/><Relationship Id="rId6" Type="http://schemas.openxmlformats.org/officeDocument/2006/relationships/image" Target="../media/image630.png"/><Relationship Id="rId7" Type="http://schemas.openxmlformats.org/officeDocument/2006/relationships/image" Target="../media/image631.png"/><Relationship Id="rId8" Type="http://schemas.openxmlformats.org/officeDocument/2006/relationships/image" Target="../media/image632.png"/><Relationship Id="rId9" Type="http://schemas.openxmlformats.org/officeDocument/2006/relationships/image" Target="../media/image633.png"/><Relationship Id="rId10" Type="http://schemas.openxmlformats.org/officeDocument/2006/relationships/image" Target="../media/image634.png"/></Relationships>
</file>

<file path=ppt/charts/_rels/chart143.xml.rels><?xml version='1.0' encoding='UTF-8' standalone='yes'?>
<Relationships xmlns="http://schemas.openxmlformats.org/package/2006/relationships"><Relationship Id="rId2" Type="http://schemas.openxmlformats.org/officeDocument/2006/relationships/image" Target="../media/image635.png"/><Relationship Id="rId3" Type="http://schemas.openxmlformats.org/officeDocument/2006/relationships/image" Target="../media/image636.png"/><Relationship Id="rId4" Type="http://schemas.openxmlformats.org/officeDocument/2006/relationships/image" Target="../media/image637.png"/><Relationship Id="rId5" Type="http://schemas.openxmlformats.org/officeDocument/2006/relationships/image" Target="../media/image638.png"/><Relationship Id="rId6" Type="http://schemas.openxmlformats.org/officeDocument/2006/relationships/image" Target="../media/image639.png"/><Relationship Id="rId7" Type="http://schemas.openxmlformats.org/officeDocument/2006/relationships/image" Target="../media/image640.png"/><Relationship Id="rId8" Type="http://schemas.openxmlformats.org/officeDocument/2006/relationships/image" Target="../media/image641.png"/><Relationship Id="rId9" Type="http://schemas.openxmlformats.org/officeDocument/2006/relationships/image" Target="../media/image642.png"/><Relationship Id="rId10" Type="http://schemas.openxmlformats.org/officeDocument/2006/relationships/image" Target="../media/image643.png"/><Relationship Id="rId11" Type="http://schemas.openxmlformats.org/officeDocument/2006/relationships/image" Target="../media/image644.png"/><Relationship Id="rId12" Type="http://schemas.openxmlformats.org/officeDocument/2006/relationships/image" Target="../media/image645.png"/></Relationships>
</file>

<file path=ppt/charts/_rels/chart144.xml.rels><?xml version='1.0' encoding='UTF-8' standalone='yes'?>
<Relationships xmlns="http://schemas.openxmlformats.org/package/2006/relationships"><Relationship Id="rId2" Type="http://schemas.openxmlformats.org/officeDocument/2006/relationships/image" Target="../media/image646.png"/><Relationship Id="rId3" Type="http://schemas.openxmlformats.org/officeDocument/2006/relationships/image" Target="../media/image647.png"/><Relationship Id="rId4" Type="http://schemas.openxmlformats.org/officeDocument/2006/relationships/image" Target="../media/image648.png"/><Relationship Id="rId5" Type="http://schemas.openxmlformats.org/officeDocument/2006/relationships/image" Target="../media/image649.png"/></Relationships>
</file>

<file path=ppt/charts/_rels/chart145.xml.rels><?xml version='1.0' encoding='UTF-8' standalone='yes'?>
<Relationships xmlns="http://schemas.openxmlformats.org/package/2006/relationships"><Relationship Id="rId2" Type="http://schemas.openxmlformats.org/officeDocument/2006/relationships/image" Target="../media/image650.png"/><Relationship Id="rId3" Type="http://schemas.openxmlformats.org/officeDocument/2006/relationships/image" Target="../media/image651.png"/><Relationship Id="rId4" Type="http://schemas.openxmlformats.org/officeDocument/2006/relationships/image" Target="../media/image652.png"/><Relationship Id="rId5" Type="http://schemas.openxmlformats.org/officeDocument/2006/relationships/image" Target="../media/image653.png"/><Relationship Id="rId6" Type="http://schemas.openxmlformats.org/officeDocument/2006/relationships/image" Target="../media/image654.png"/></Relationships>
</file>

<file path=ppt/charts/_rels/chart146.xml.rels><?xml version='1.0' encoding='UTF-8' standalone='yes'?>
<Relationships xmlns="http://schemas.openxmlformats.org/package/2006/relationships"><Relationship Id="rId2" Type="http://schemas.openxmlformats.org/officeDocument/2006/relationships/image" Target="../media/image655.png"/><Relationship Id="rId3" Type="http://schemas.openxmlformats.org/officeDocument/2006/relationships/image" Target="../media/image656.png"/><Relationship Id="rId4" Type="http://schemas.openxmlformats.org/officeDocument/2006/relationships/image" Target="../media/image657.png"/></Relationships>
</file>

<file path=ppt/charts/_rels/chart147.xml.rels><?xml version='1.0' encoding='UTF-8' standalone='yes'?>
<Relationships xmlns="http://schemas.openxmlformats.org/package/2006/relationships"><Relationship Id="rId2" Type="http://schemas.openxmlformats.org/officeDocument/2006/relationships/image" Target="../media/image658.png"/><Relationship Id="rId3" Type="http://schemas.openxmlformats.org/officeDocument/2006/relationships/image" Target="../media/image659.png"/><Relationship Id="rId4" Type="http://schemas.openxmlformats.org/officeDocument/2006/relationships/image" Target="../media/image660.png"/><Relationship Id="rId5" Type="http://schemas.openxmlformats.org/officeDocument/2006/relationships/image" Target="../media/image661.png"/><Relationship Id="rId6" Type="http://schemas.openxmlformats.org/officeDocument/2006/relationships/image" Target="../media/image662.png"/><Relationship Id="rId7" Type="http://schemas.openxmlformats.org/officeDocument/2006/relationships/image" Target="../media/image663.png"/><Relationship Id="rId8" Type="http://schemas.openxmlformats.org/officeDocument/2006/relationships/image" Target="../media/image664.png"/><Relationship Id="rId9" Type="http://schemas.openxmlformats.org/officeDocument/2006/relationships/image" Target="../media/image665.png"/><Relationship Id="rId10" Type="http://schemas.openxmlformats.org/officeDocument/2006/relationships/image" Target="../media/image666.png"/><Relationship Id="rId11" Type="http://schemas.openxmlformats.org/officeDocument/2006/relationships/image" Target="../media/image667.png"/></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strCache>
                <c:ptCount val="1"/>
                <c:pt idx="0">
                  <c:v>S1</c:v>
                </c:pt>
              </c:strCache>
            </c:strRef>
          </c:tx>
          <c:spPr>
            <a:solidFill>
              <a:srgbClr val="003E58"/>
            </a:solidFill>
            <a:ln>
              <a:noFill/>
            </a:ln>
          </c:spPr>
          <c:dLbls>
            <c:dLbl>
              <c:idx val="0"/>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0&quot;%&quot;"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3"/>
                <c:pt idx="0">
                  <c:v>2021–2026</c:v>
                </c:pt>
                <c:pt idx="1">
                  <c:v>2026–2036</c:v>
                </c:pt>
                <c:pt idx="2">
                  <c:v>2021–2036</c:v>
                </c:pt>
              </c:strCache>
            </c:strRef>
          </c:cat>
          <c:val>
            <c:numRef>
              <c:numCache>
                <c:formatCode>General</c:formatCode>
                <c:ptCount val="3"/>
                <c:pt idx="0">
                  <c:v>3.4408509636361773</c:v>
                </c:pt>
                <c:pt idx="1">
                  <c:v>4.366924238101433</c:v>
                </c:pt>
                <c:pt idx="2">
                  <c:v>4.0573155884088274</c:v>
                </c:pt>
              </c:numCache>
            </c:numRef>
          </c:val>
        </c:ser>
        <c:dLbls>
          <c:numFmt formatCode="0.0&quot;%&quot;"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5.764339994293891"/>
          <c:min val="0.0"/>
        </c:scaling>
        <c:delete val="0"/>
        <c:axPos val="l"/>
        <c:numFmt formatCode="0&quot;%&quot;" sourceLinked="0"/>
        <c:majorTickMark val="out"/>
        <c:minorTickMark val="none"/>
        <c:tickLblPos val="nextTo"/>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5"/>
                <c:pt idx="0">
                  <c:v>2021</c:v>
                </c:pt>
                <c:pt idx="1">
                  <c:v>2021–2026</c:v>
                </c:pt>
                <c:pt idx="2">
                  <c:v>2026</c:v>
                </c:pt>
                <c:pt idx="3">
                  <c:v>2026–2036</c:v>
                </c:pt>
                <c:pt idx="4">
                  <c:v>2036</c:v>
                </c:pt>
              </c:strCache>
            </c:strRef>
          </c:cat>
          <c:val>
            <c:numRef>
              <c:numCache>
                <c:formatCode>General</c:formatCode>
                <c:ptCount val="5"/>
                <c:pt idx="0">
                  <c:v>0.0</c:v>
                </c:pt>
                <c:pt idx="1">
                  <c:v>368151.06999999995</c:v>
                </c:pt>
                <c:pt idx="2">
                  <c:v>0.0</c:v>
                </c:pt>
                <c:pt idx="3">
                  <c:v>436000.00100000005</c:v>
                </c:pt>
                <c:pt idx="4">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2A5F8F"/>
              </a:solidFill>
            </c:spPr>
          </c:dPt>
          <c:dPt>
            <c:idx val="3"/>
            <c:spPr>
              <a:solidFill>
                <a:srgbClr val="00ACAC"/>
              </a:solidFill>
            </c:spPr>
          </c:dPt>
          <c:dPt>
            <c:idx val="4"/>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5"/>
                <c:pt idx="0">
                  <c:v>2021</c:v>
                </c:pt>
                <c:pt idx="1">
                  <c:v>2021–2026</c:v>
                </c:pt>
                <c:pt idx="2">
                  <c:v>2026</c:v>
                </c:pt>
                <c:pt idx="3">
                  <c:v>2026–2036</c:v>
                </c:pt>
                <c:pt idx="4">
                  <c:v>2036</c:v>
                </c:pt>
              </c:strCache>
            </c:strRef>
          </c:cat>
          <c:val>
            <c:numRef>
              <c:numCache>
                <c:formatCode>General</c:formatCode>
                <c:ptCount val="5"/>
                <c:pt idx="0">
                  <c:v>368151.06999999995</c:v>
                </c:pt>
                <c:pt idx="1">
                  <c:v>67848.9310000001</c:v>
                </c:pt>
                <c:pt idx="2">
                  <c:v>436000.00100000005</c:v>
                </c:pt>
                <c:pt idx="3">
                  <c:v>232521.43499999994</c:v>
                </c:pt>
                <c:pt idx="4">
                  <c:v>668521.436</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strCache>
                <c:ptCount val="1"/>
                <c:pt idx="0">
                  <c:v>S1</c:v>
                </c:pt>
              </c:strCache>
            </c:strRef>
          </c:tx>
          <c:spPr>
            <a:solidFill>
              <a:srgbClr val="003E58"/>
            </a:solidFill>
            <a:ln>
              <a:noFill/>
            </a:ln>
          </c:spPr>
          <c:dLbls>
            <c:dLbl>
              <c:idx val="0"/>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0&quot;%&quot;"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3"/>
                <c:pt idx="0">
                  <c:v>2021–2026</c:v>
                </c:pt>
                <c:pt idx="1">
                  <c:v>2026–2036</c:v>
                </c:pt>
                <c:pt idx="2">
                  <c:v>2021–2036</c:v>
                </c:pt>
              </c:strCache>
            </c:strRef>
          </c:cat>
          <c:val>
            <c:numRef>
              <c:numCache>
                <c:formatCode>General</c:formatCode>
                <c:ptCount val="3"/>
                <c:pt idx="0">
                  <c:v>4.076823824593401</c:v>
                </c:pt>
                <c:pt idx="1">
                  <c:v>4.954799714469593</c:v>
                </c:pt>
                <c:pt idx="2">
                  <c:v>4.661321213948666</c:v>
                </c:pt>
              </c:numCache>
            </c:numRef>
          </c:val>
        </c:ser>
        <c:dLbls>
          <c:numFmt formatCode="0.0&quot;%&quot;"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6.540335623099863"/>
          <c:min val="0.0"/>
        </c:scaling>
        <c:delete val="0"/>
        <c:axPos val="l"/>
        <c:numFmt formatCode="0&quot;%&quot;" sourceLinked="0"/>
        <c:majorTickMark val="out"/>
        <c:minorTickMark val="none"/>
        <c:tickLblPos val="nextTo"/>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5"/>
                <c:pt idx="0">
                  <c:v>2021</c:v>
                </c:pt>
                <c:pt idx="1">
                  <c:v>2021–2026</c:v>
                </c:pt>
                <c:pt idx="2">
                  <c:v>2026</c:v>
                </c:pt>
                <c:pt idx="3">
                  <c:v>2026–2036</c:v>
                </c:pt>
                <c:pt idx="4">
                  <c:v>2036</c:v>
                </c:pt>
              </c:strCache>
            </c:strRef>
          </c:cat>
          <c:val>
            <c:numRef>
              <c:numCache>
                <c:formatCode>General</c:formatCode>
                <c:ptCount val="5"/>
                <c:pt idx="0">
                  <c:v>0.0</c:v>
                </c:pt>
                <c:pt idx="1">
                  <c:v>8925.989000000001</c:v>
                </c:pt>
                <c:pt idx="2">
                  <c:v>0.0</c:v>
                </c:pt>
                <c:pt idx="3">
                  <c:v>10900.0</c:v>
                </c:pt>
                <c:pt idx="4">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2A5F8F"/>
              </a:solidFill>
            </c:spPr>
          </c:dPt>
          <c:dPt>
            <c:idx val="3"/>
            <c:spPr>
              <a:solidFill>
                <a:srgbClr val="00ACAC"/>
              </a:solidFill>
            </c:spPr>
          </c:dPt>
          <c:dPt>
            <c:idx val="4"/>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5"/>
                <c:pt idx="0">
                  <c:v>2021</c:v>
                </c:pt>
                <c:pt idx="1">
                  <c:v>2021–2026</c:v>
                </c:pt>
                <c:pt idx="2">
                  <c:v>2026</c:v>
                </c:pt>
                <c:pt idx="3">
                  <c:v>2026–2036</c:v>
                </c:pt>
                <c:pt idx="4">
                  <c:v>2036</c:v>
                </c:pt>
              </c:strCache>
            </c:strRef>
          </c:cat>
          <c:val>
            <c:numRef>
              <c:numCache>
                <c:formatCode>General</c:formatCode>
                <c:ptCount val="5"/>
                <c:pt idx="0">
                  <c:v>8925.989000000001</c:v>
                </c:pt>
                <c:pt idx="1">
                  <c:v>1974.0109999999986</c:v>
                </c:pt>
                <c:pt idx="2">
                  <c:v>10900.0</c:v>
                </c:pt>
                <c:pt idx="3">
                  <c:v>6778.667999999998</c:v>
                </c:pt>
                <c:pt idx="4">
                  <c:v>17678.667999999998</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strCache>
                <c:ptCount val="1"/>
                <c:pt idx="0">
                  <c:v>Value (US$ Mn)</c:v>
                </c:pt>
              </c:strCache>
            </c:strRef>
          </c:tx>
          <c:spPr>
            <a:solidFill>
              <a:srgbClr val="69B1E0"/>
            </a:solidFill>
            <a:ln>
              <a:noFill/>
            </a:ln>
          </c:spPr>
          <c:dLbls>
            <c:dLbl>
              <c:idx val="0"/>
              <c:numFmt formatCode="&quot;MMMMMMM&quot;;&quot;MMMMMMM&quot;;&quot;MMM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MM&quot;;&quot;MMMMMMM&quot;;&quot;MMM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MM&quot;;&quot;MMMMMMM&quot;;&quot;MMM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MMM&quot;;&quot;MMMMMMMM&quot;;&quot;MMMM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MMM&quot;;&quot;MMMMMMMM&quot;;&quot;MMMM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solidFill>
                      <a:srgbClr val="6C7A89"/>
                    </a:solidFill>
                    <a:latin typeface="Calibri"/>
                  </a:defRPr>
                </a:pPr>
              </a:p>
            </c:txPr>
            <c:dLblPos val="outEnd"/>
            <c:showLegendKey val="0"/>
            <c:showVal val="1"/>
            <c:showCatName val="0"/>
            <c:showSerName val="0"/>
            <c:showPercent val="0"/>
            <c:showBubbleSize val="0"/>
            <c:showLeaderLines val="1"/>
          </c:dLbls>
          <c:cat>
            <c:strRef>
              <c:strCache>
                <c:ptCount val="5"/>
                <c:pt idx="0">
                  <c:v>2021</c:v>
                </c:pt>
                <c:pt idx="1">
                  <c:v>2022</c:v>
                </c:pt>
                <c:pt idx="2">
                  <c:v>2023</c:v>
                </c:pt>
                <c:pt idx="3">
                  <c:v>2024</c:v>
                </c:pt>
                <c:pt idx="4">
                  <c:v>2025</c:v>
                </c:pt>
              </c:strCache>
            </c:strRef>
          </c:cat>
          <c:val>
            <c:numRef>
              <c:numCache>
                <c:formatCode>General</c:formatCode>
                <c:ptCount val="5"/>
                <c:pt idx="0">
                  <c:v>8925.989000000001</c:v>
                </c:pt>
                <c:pt idx="1">
                  <c:v>9288.061</c:v>
                </c:pt>
                <c:pt idx="2">
                  <c:v>9665.764</c:v>
                </c:pt>
                <c:pt idx="3">
                  <c:v>10059.815</c:v>
                </c:pt>
                <c:pt idx="4">
                  <c:v>10470.963</c:v>
                </c:pt>
              </c:numCache>
            </c:numRef>
          </c:val>
        </c:ser>
        <c:gapWidth val="50"/>
        <c:axId val="-2068027336"/>
        <c:axId val="-2113994440"/>
      </c:barChart>
      <c:barChart>
        <c:barDir val="col"/>
        <c:grouping val="clustered"/>
        <c:varyColors val="0"/>
        <c:ser>
          <c:idx val="1"/>
          <c:order val="1"/>
          <c:tx>
            <c:strRef>
              <c:strCache>
                <c:ptCount val="1"/>
                <c:pt idx="0">
                  <c:v>Volume (MT)</c:v>
                </c:pt>
              </c:strCache>
            </c:strRef>
          </c:tx>
          <c:spPr>
            <a:solidFill>
              <a:srgbClr val="C55A11"/>
            </a:solidFill>
            <a:ln>
              <a:noFill/>
            </a:ln>
          </c:spPr>
          <c:dLbls>
            <c:dLbl>
              <c:idx val="0"/>
              <c:numFmt formatCode="&quot;MMMMMMMMM&quot;;&quot;MMMMMMMMM&quot;;&quot;MMMMM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MMMM&quot;;&quot;MMMMMMMMM&quot;;&quot;MMMMM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MMMM&quot;;&quot;MMMMMMMMM&quot;;&quot;MMMMM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MMMM&quot;;&quot;MMMMMMMMM&quot;;&quot;MMMMM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MMMM&quot;;&quot;MMMMMMMMM&quot;;&quot;MMMMM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5"/>
                <c:pt idx="0">
                  <c:v>2021</c:v>
                </c:pt>
                <c:pt idx="1">
                  <c:v>2022</c:v>
                </c:pt>
                <c:pt idx="2">
                  <c:v>2023</c:v>
                </c:pt>
                <c:pt idx="3">
                  <c:v>2024</c:v>
                </c:pt>
                <c:pt idx="4">
                  <c:v>2025</c:v>
                </c:pt>
              </c:strCache>
            </c:strRef>
          </c:cat>
          <c:val>
            <c:numRef>
              <c:numCache>
                <c:formatCode>General</c:formatCode>
                <c:ptCount val="5"/>
                <c:pt idx="0">
                  <c:v>368151.06999999995</c:v>
                </c:pt>
                <c:pt idx="1">
                  <c:v>380689.516</c:v>
                </c:pt>
                <c:pt idx="2">
                  <c:v>393721.668</c:v>
                </c:pt>
                <c:pt idx="3">
                  <c:v>407268.983</c:v>
                </c:pt>
                <c:pt idx="4">
                  <c:v>421353.922</c:v>
                </c:pt>
              </c:numCache>
            </c:numRef>
          </c:val>
        </c:ser>
        <c:gapWidth val="219"/>
        <c:axId val="90210001"/>
        <c:axId val="90210002"/>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max val="12356"/>
          <c:min val="0"/>
        </c:scaling>
        <c:delete val="0"/>
        <c:axPos val="l"/>
        <c:numFmt formatCode="#,##0" sourceLinked="0"/>
        <c:majorTickMark val="none"/>
        <c:minorTickMark val="none"/>
        <c:tickLblPos val="none"/>
        <c:spPr>
          <a:ln>
            <a:noFill/>
          </a:ln>
        </c:spPr>
        <c:txPr>
          <a:bodyPr/>
          <a:lstStyle/>
          <a:p>
            <a:pPr>
              <a:defRPr sz="1100"/>
            </a:pPr>
          </a:p>
        </c:txPr>
        <c:crossAx val="-2068027336"/>
        <c:crosses val="autoZero"/>
      </c:valAx>
      <c:catAx>
        <c:axId val="90210001"/>
        <c:scaling>
          <c:orientation val="minMax"/>
        </c:scaling>
        <c:delete val="1"/>
        <c:axPos val="b"/>
        <c:crossAx val="90210002"/>
        <c:crosses val="autoZero"/>
      </c:catAx>
      <c:valAx>
        <c:axId val="90210002"/>
        <c:scaling>
          <c:orientation val="minMax"/>
          <c:max val="579103"/>
          <c:min val="0"/>
        </c:scaling>
        <c:delete val="0"/>
        <c:axPos val="r"/>
        <c:numFmt formatCode="#,##0" sourceLinked="0"/>
        <c:majorTickMark val="none"/>
        <c:minorTickMark val="none"/>
        <c:tickLblPos val="none"/>
        <c:spPr>
          <a:ln>
            <a:noFill/>
          </a:ln>
        </c:spPr>
        <c:crossAx val="90210001"/>
        <c:crosses val="max"/>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strCache>
                <c:ptCount val="1"/>
                <c:pt idx="0">
                  <c:v>Value (US$ Mn)</c:v>
                </c:pt>
              </c:strCache>
            </c:strRef>
          </c:tx>
          <c:spPr>
            <a:solidFill>
              <a:srgbClr val="69B1E0"/>
            </a:solidFill>
            <a:ln>
              <a:noFill/>
            </a:ln>
          </c:spPr>
          <c:dLbls>
            <c:dLbl>
              <c:idx val="0"/>
              <c:numFmt formatCode="&quot;MMMMMMMM&quot;;&quot;MMMMMMMM&quot;;&quot;MMMM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MMM&quot;;&quot;MMMMMMMM&quot;;&quot;MMMM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MMM&quot;;&quot;MMMMMMMM&quot;;&quot;MMMM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MMM&quot;;&quot;MMMMMMMM&quot;;&quot;MMMM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MMM&quot;;&quot;MMMMMMMM&quot;;&quot;MMMM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numFmt formatCode="&quot;MMMMMMMM&quot;;&quot;MMMMMMMM&quot;;&quot;MMMM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numFmt formatCode="&quot;MMMMMMMM&quot;;&quot;MMMMMMMM&quot;;&quot;MMMM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numFmt formatCode="&quot;MMMMMMMM&quot;;&quot;MMMMMMMM&quot;;&quot;MMMM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numFmt formatCode="&quot;MMMMMMMM&quot;;&quot;MMMMMMMM&quot;;&quot;MMMM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numFmt formatCode="&quot;MMMMMMMM&quot;;&quot;MMMMMMMM&quot;;&quot;MMMM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numFmt formatCode="&quot;MMMMMMMM&quot;;&quot;MMMMMMMM&quot;;&quot;MMMMM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solidFill>
                      <a:srgbClr val="6C7A89"/>
                    </a:solidFill>
                    <a:latin typeface="Calibri"/>
                  </a:defRPr>
                </a:pPr>
              </a:p>
            </c:txPr>
            <c:dLblPos val="outEnd"/>
            <c:showLegendKey val="0"/>
            <c:showVal val="1"/>
            <c:showCatName val="0"/>
            <c:showSerName val="0"/>
            <c:showPercent val="0"/>
            <c:showBubbleSize val="0"/>
            <c:showLeaderLines val="1"/>
          </c:dLbls>
          <c:cat>
            <c:strRef>
              <c:strCache>
                <c:ptCount val="11"/>
                <c:pt idx="0">
                  <c:v>2026</c:v>
                </c:pt>
                <c:pt idx="1">
                  <c:v>2027</c:v>
                </c:pt>
                <c:pt idx="2">
                  <c:v>2028</c:v>
                </c:pt>
                <c:pt idx="3">
                  <c:v>2029</c:v>
                </c:pt>
                <c:pt idx="4">
                  <c:v>2030</c:v>
                </c:pt>
                <c:pt idx="5">
                  <c:v>2031</c:v>
                </c:pt>
                <c:pt idx="6">
                  <c:v>2032</c:v>
                </c:pt>
                <c:pt idx="7">
                  <c:v>2033</c:v>
                </c:pt>
                <c:pt idx="8">
                  <c:v>2034</c:v>
                </c:pt>
                <c:pt idx="9">
                  <c:v>2035</c:v>
                </c:pt>
                <c:pt idx="10">
                  <c:v>2036</c:v>
                </c:pt>
              </c:strCache>
            </c:strRef>
          </c:cat>
          <c:val>
            <c:numRef>
              <c:numCache>
                <c:formatCode>General</c:formatCode>
                <c:ptCount val="11"/>
                <c:pt idx="0">
                  <c:v>10900.0</c:v>
                </c:pt>
                <c:pt idx="1">
                  <c:v>11434.946</c:v>
                </c:pt>
                <c:pt idx="2">
                  <c:v>11997.321</c:v>
                </c:pt>
                <c:pt idx="3">
                  <c:v>12588.603</c:v>
                </c:pt>
                <c:pt idx="4">
                  <c:v>13210.339</c:v>
                </c:pt>
                <c:pt idx="5">
                  <c:v>13864.173</c:v>
                </c:pt>
                <c:pt idx="6">
                  <c:v>14551.818</c:v>
                </c:pt>
                <c:pt idx="7">
                  <c:v>15275.110999999999</c:v>
                </c:pt>
                <c:pt idx="8">
                  <c:v>16035.971</c:v>
                </c:pt>
                <c:pt idx="9">
                  <c:v>16836.444</c:v>
                </c:pt>
                <c:pt idx="10">
                  <c:v>17678.667999999998</c:v>
                </c:pt>
              </c:numCache>
            </c:numRef>
          </c:val>
        </c:ser>
        <c:gapWidth val="50"/>
        <c:axId val="-2068027336"/>
        <c:axId val="-2113994440"/>
      </c:barChart>
      <c:barChart>
        <c:barDir val="col"/>
        <c:grouping val="clustered"/>
        <c:varyColors val="0"/>
        <c:ser>
          <c:idx val="1"/>
          <c:order val="1"/>
          <c:tx>
            <c:strRef>
              <c:strCache>
                <c:ptCount val="1"/>
                <c:pt idx="0">
                  <c:v>Volume (MT)</c:v>
                </c:pt>
              </c:strCache>
            </c:strRef>
          </c:tx>
          <c:spPr>
            <a:solidFill>
              <a:srgbClr val="C55A11"/>
            </a:solidFill>
            <a:ln>
              <a:noFill/>
            </a:ln>
          </c:spPr>
          <c:dLbls>
            <c:dLbl>
              <c:idx val="0"/>
              <c:numFmt formatCode="&quot;MMMMMMMMM&quot;;&quot;MMMMMMMMM&quot;;&quot;MMMMMMMMM&quot;" sourceLinked="0"/>
              <c:spPr>
                <a:blipFill>
                  <a:blip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MMMM&quot;;&quot;MMMMMMMMM&quot;;&quot;MMMMMMMMM&quot;" sourceLinked="0"/>
              <c:spPr>
                <a:blipFill>
                  <a:blip r:embed="rId1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MMMM&quot;;&quot;MMMMMMMMM&quot;;&quot;MMMMMMMMM&quot;" sourceLinked="0"/>
              <c:spPr>
                <a:blipFill>
                  <a:blip r:embed="rId1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MMMM&quot;;&quot;MMMMMMMMM&quot;;&quot;MMMMMMMMM&quot;" sourceLinked="0"/>
              <c:spPr>
                <a:blipFill>
                  <a:blip r:embed="rId1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MMMM&quot;;&quot;MMMMMMMMM&quot;;&quot;MMMMMMMMM&quot;" sourceLinked="0"/>
              <c:spPr>
                <a:blipFill>
                  <a:blip r:embed="rId1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numFmt formatCode="&quot;MMMMMMMMM&quot;;&quot;MMMMMMMMM&quot;;&quot;MMMMMMMMM&quot;" sourceLinked="0"/>
              <c:spPr>
                <a:blipFill>
                  <a:blip r:embed="rId1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numFmt formatCode="&quot;MMMMMMMMM&quot;;&quot;MMMMMMMMM&quot;;&quot;MMMMMMMMM&quot;" sourceLinked="0"/>
              <c:spPr>
                <a:blipFill>
                  <a:blip r:embed="rId1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numFmt formatCode="&quot;MMMMMMMMM&quot;;&quot;MMMMMMMMM&quot;;&quot;MMMMMMMMM&quot;" sourceLinked="0"/>
              <c:spPr>
                <a:blipFill>
                  <a:blip r:embed="rId2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numFmt formatCode="&quot;MMMMMMMMM&quot;;&quot;MMMMMMMMM&quot;;&quot;MMMMMMMMM&quot;" sourceLinked="0"/>
              <c:spPr>
                <a:blipFill>
                  <a:blip r:embed="rId2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numFmt formatCode="&quot;MMMMMMMMM&quot;;&quot;MMMMMMMMM&quot;;&quot;MMMMMMMMM&quot;" sourceLinked="0"/>
              <c:spPr>
                <a:blipFill>
                  <a:blip r:embed="rId2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numFmt formatCode="&quot;MMMMMMMMM&quot;;&quot;MMMMMMMMM&quot;;&quot;MMMMMMMMM&quot;" sourceLinked="0"/>
              <c:spPr>
                <a:blipFill>
                  <a:blip r:embed="rId2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11"/>
                <c:pt idx="0">
                  <c:v>2026</c:v>
                </c:pt>
                <c:pt idx="1">
                  <c:v>2027</c:v>
                </c:pt>
                <c:pt idx="2">
                  <c:v>2028</c:v>
                </c:pt>
                <c:pt idx="3">
                  <c:v>2029</c:v>
                </c:pt>
                <c:pt idx="4">
                  <c:v>2030</c:v>
                </c:pt>
                <c:pt idx="5">
                  <c:v>2031</c:v>
                </c:pt>
                <c:pt idx="6">
                  <c:v>2032</c:v>
                </c:pt>
                <c:pt idx="7">
                  <c:v>2033</c:v>
                </c:pt>
                <c:pt idx="8">
                  <c:v>2034</c:v>
                </c:pt>
                <c:pt idx="9">
                  <c:v>2035</c:v>
                </c:pt>
                <c:pt idx="10">
                  <c:v>2036</c:v>
                </c:pt>
              </c:strCache>
            </c:strRef>
          </c:cat>
          <c:val>
            <c:numRef>
              <c:numCache>
                <c:formatCode>General</c:formatCode>
                <c:ptCount val="11"/>
                <c:pt idx="0">
                  <c:v>436000.00100000005</c:v>
                </c:pt>
                <c:pt idx="1">
                  <c:v>454695.659</c:v>
                </c:pt>
                <c:pt idx="2">
                  <c:v>474272.75399999996</c:v>
                </c:pt>
                <c:pt idx="3">
                  <c:v>494775.968</c:v>
                </c:pt>
                <c:pt idx="4">
                  <c:v>516252.382</c:v>
                </c:pt>
                <c:pt idx="5">
                  <c:v>538751.613</c:v>
                </c:pt>
                <c:pt idx="6">
                  <c:v>562325.919</c:v>
                </c:pt>
                <c:pt idx="7">
                  <c:v>587030.414</c:v>
                </c:pt>
                <c:pt idx="8">
                  <c:v>612923.1410000001</c:v>
                </c:pt>
                <c:pt idx="9">
                  <c:v>640065.307</c:v>
                </c:pt>
                <c:pt idx="10">
                  <c:v>668521.436</c:v>
                </c:pt>
              </c:numCache>
            </c:numRef>
          </c:val>
        </c:ser>
        <c:gapWidth val="219"/>
        <c:axId val="90210001"/>
        <c:axId val="90210002"/>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max val="20861"/>
          <c:min val="0"/>
        </c:scaling>
        <c:delete val="0"/>
        <c:axPos val="l"/>
        <c:numFmt formatCode="#,##0" sourceLinked="0"/>
        <c:majorTickMark val="none"/>
        <c:minorTickMark val="none"/>
        <c:tickLblPos val="none"/>
        <c:spPr>
          <a:ln>
            <a:noFill/>
          </a:ln>
        </c:spPr>
        <c:txPr>
          <a:bodyPr/>
          <a:lstStyle/>
          <a:p>
            <a:pPr>
              <a:defRPr sz="1100"/>
            </a:pPr>
          </a:p>
        </c:txPr>
        <c:crossAx val="-2068027336"/>
        <c:crosses val="autoZero"/>
      </c:valAx>
      <c:catAx>
        <c:axId val="90210001"/>
        <c:scaling>
          <c:orientation val="minMax"/>
        </c:scaling>
        <c:delete val="1"/>
        <c:axPos val="b"/>
        <c:crossAx val="90210002"/>
        <c:crosses val="autoZero"/>
      </c:catAx>
      <c:valAx>
        <c:axId val="90210002"/>
        <c:scaling>
          <c:orientation val="minMax"/>
          <c:max val="948219"/>
          <c:min val="0"/>
        </c:scaling>
        <c:delete val="0"/>
        <c:axPos val="r"/>
        <c:numFmt formatCode="#,##0" sourceLinked="0"/>
        <c:majorTickMark val="none"/>
        <c:minorTickMark val="none"/>
        <c:tickLblPos val="none"/>
        <c:spPr>
          <a:ln>
            <a:noFill/>
          </a:ln>
        </c:spPr>
        <c:crossAx val="90210001"/>
        <c:crosses val="max"/>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strCache>
                <c:ptCount val="1"/>
                <c:pt idx="0">
                  <c:v>Index</c:v>
                </c:pt>
              </c:strCache>
            </c:strRef>
          </c:tx>
          <c:spPr>
            <a:solidFill>
              <a:srgbClr val="2A5F8F"/>
            </a:solidFill>
            <a:ln>
              <a:noFill/>
            </a:ln>
          </c:spPr>
          <c:dLbls>
            <c:dLbl>
              <c:idx val="0"/>
              <c:numFmt formatCode="&quot;MMMMM&quot;;&quot;MMMMM&quot;;&quot;M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quot;;&quot;MMMMM&quot;;&quot;M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quot;;&quot;MMMMM&quot;;&quot;M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quot;;&quot;MMMMM&quot;;&quot;M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quot;;&quot;MMMMM&quot;;&quot;M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numFmt formatCode="&quot;MMMMM&quot;;&quot;MMMMM&quot;;&quot;M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numFmt formatCode="&quot;MMMMM&quot;;&quot;MMMMM&quot;;&quot;M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numFmt formatCode="&quot;MMMMM&quot;;&quot;MMMMM&quot;;&quot;M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numFmt formatCode="&quot;MMMMM&quot;;&quot;MMMMM&quot;;&quot;M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numFmt formatCode="&quot;MMMMM&quot;;&quot;MMMMM&quot;;&quot;M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10"/>
                <c:pt idx="0">
                  <c:v>Mexico</c:v>
                </c:pt>
                <c:pt idx="1">
                  <c:v>China</c:v>
                </c:pt>
                <c:pt idx="2">
                  <c:v>Malaysia</c:v>
                </c:pt>
                <c:pt idx="3">
                  <c:v>Spain</c:v>
                </c:pt>
                <c:pt idx="4">
                  <c:v>Thailand</c:v>
                </c:pt>
                <c:pt idx="5">
                  <c:v>Brazil</c:v>
                </c:pt>
                <c:pt idx="6">
                  <c:v>France</c:v>
                </c:pt>
                <c:pt idx="7">
                  <c:v>Netherlands</c:v>
                </c:pt>
                <c:pt idx="8">
                  <c:v>Germany</c:v>
                </c:pt>
                <c:pt idx="9">
                  <c:v>India</c:v>
                </c:pt>
              </c:strCache>
            </c:strRef>
          </c:cat>
          <c:val>
            <c:numRef>
              <c:numCache>
                <c:formatCode>General</c:formatCode>
                <c:ptCount val="10"/>
                <c:pt idx="0">
                  <c:v>101.9734304198957</c:v>
                </c:pt>
                <c:pt idx="1">
                  <c:v>102.41086651835624</c:v>
                </c:pt>
                <c:pt idx="2">
                  <c:v>106.79454675324622</c:v>
                </c:pt>
                <c:pt idx="3">
                  <c:v>115.31364539897757</c:v>
                </c:pt>
                <c:pt idx="4">
                  <c:v>118.979067299599</c:v>
                </c:pt>
                <c:pt idx="5">
                  <c:v>119.5099729114336</c:v>
                </c:pt>
                <c:pt idx="6">
                  <c:v>123.9570828111529</c:v>
                </c:pt>
                <c:pt idx="7">
                  <c:v>128.71216982901316</c:v>
                </c:pt>
                <c:pt idx="8">
                  <c:v>132.09010598245834</c:v>
                </c:pt>
                <c:pt idx="9">
                  <c:v>136.50014497830028</c:v>
                </c:pt>
              </c:numCache>
            </c:numRef>
          </c:val>
        </c:ser>
        <c:dLbls>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b"/>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strCache>
                <c:ptCount val="1"/>
                <c:pt idx="0">
                  <c:v>Index</c:v>
                </c:pt>
              </c:strCache>
            </c:strRef>
          </c:tx>
          <c:spPr>
            <a:solidFill>
              <a:srgbClr val="2A5F8F"/>
            </a:solidFill>
            <a:ln>
              <a:noFill/>
            </a:ln>
          </c:spPr>
          <c:dLbls>
            <c:dLbl>
              <c:idx val="0"/>
              <c:numFmt formatCode="&quot;MMM&quot;;&quot;MMM&quot;;&quot;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quot;;&quot;MMM&quot;;&quot;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quot;;&quot;MMM&quot;;&quot;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numFmt formatCode="&quot;MMM&quot;;&quot;MMM&quot;;&quot;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numFmt formatCode="&quot;MMM&quot;;&quot;MMM&quot;;&quot;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10"/>
                <c:pt idx="0">
                  <c:v>Thailand</c:v>
                </c:pt>
                <c:pt idx="1">
                  <c:v>Japan</c:v>
                </c:pt>
                <c:pt idx="2">
                  <c:v>U.K.</c:v>
                </c:pt>
                <c:pt idx="3">
                  <c:v>France</c:v>
                </c:pt>
                <c:pt idx="4">
                  <c:v>Brazil</c:v>
                </c:pt>
                <c:pt idx="5">
                  <c:v>India</c:v>
                </c:pt>
                <c:pt idx="6">
                  <c:v>China</c:v>
                </c:pt>
                <c:pt idx="7">
                  <c:v>Canada</c:v>
                </c:pt>
                <c:pt idx="8">
                  <c:v>Germany</c:v>
                </c:pt>
                <c:pt idx="9">
                  <c:v>U.S.</c:v>
                </c:pt>
              </c:strCache>
            </c:strRef>
          </c:cat>
          <c:val>
            <c:numRef>
              <c:numCache>
                <c:formatCode>General</c:formatCode>
                <c:ptCount val="10"/>
                <c:pt idx="0">
                  <c:v>2.7356701936132595</c:v>
                </c:pt>
                <c:pt idx="1">
                  <c:v>3.0795283085113483</c:v>
                </c:pt>
                <c:pt idx="2">
                  <c:v>3.4046806835797256</c:v>
                </c:pt>
                <c:pt idx="3">
                  <c:v>3.761653469383662</c:v>
                </c:pt>
                <c:pt idx="4">
                  <c:v>5.433737129477356</c:v>
                </c:pt>
                <c:pt idx="5">
                  <c:v>7.25523067363677</c:v>
                </c:pt>
                <c:pt idx="6">
                  <c:v>7.740798044689609</c:v>
                </c:pt>
                <c:pt idx="7">
                  <c:v>9.261303253087485</c:v>
                </c:pt>
                <c:pt idx="8">
                  <c:v>14.451142908901875</c:v>
                </c:pt>
                <c:pt idx="9">
                  <c:v>16.703827359593372</c:v>
                </c:pt>
              </c:numCache>
            </c:numRef>
          </c:val>
        </c:ser>
        <c:dLbls>
          <c:numFmt formatCode="0.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b"/>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1"/>
          <c:y val="0.04"/>
          <c:w val="0.68"/>
          <c:h val="0.92"/>
        </c:manualLayout>
      </c:layout>
      <c:doughnutChart>
        <c:varyColors val="0"/>
        <c:ser>
          <c:idx val="0"/>
          <c:order val="0"/>
          <c:tx>
            <c:strRef>
              <c:strCache>
                <c:ptCount val="1"/>
                <c:pt idx="0">
                  <c:v>Share</c:v>
                </c:pt>
              </c:strCache>
            </c:strRef>
          </c:tx>
          <c:spPr/>
          <c:dPt>
            <c:idx val="0"/>
            <c:spPr>
              <a:solidFill>
                <a:srgbClr val="2A5F8F"/>
              </a:solidFill>
            </c:spPr>
          </c:dPt>
          <c:dPt>
            <c:idx val="1"/>
            <c:spPr>
              <a:solidFill>
                <a:srgbClr val="0081E2"/>
              </a:solidFill>
            </c:spPr>
          </c:dPt>
          <c:dPt>
            <c:idx val="2"/>
            <c:spPr>
              <a:solidFill>
                <a:srgbClr val="0E2A5C"/>
              </a:solidFill>
            </c:spPr>
          </c:dPt>
          <c:dLbls>
            <c:dLbl>
              <c:idx val="0"/>
              <c:layout>
                <c:manualLayout>
                  <c:x val="0.0350"/>
                  <c:y val="0.0000"/>
                </c:manualLayout>
              </c:layout>
              <c:numFmt formatCode="&quot;MMMMMMM&quot;;&quot;MMMMMMM&quot;;&quot;MMM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layout>
                <c:manualLayout>
                  <c:x val="0.0350"/>
                  <c:y val="0.0000"/>
                </c:manualLayout>
              </c:layout>
              <c:numFmt formatCode="&quot;MMMMMMM&quot;;&quot;MMMMMMM&quot;;&quot;MMM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layout>
                <c:manualLayout>
                  <c:x val="0.0350"/>
                  <c:y val="0.0000"/>
                </c:manualLayout>
              </c:layout>
              <c:numFmt formatCode="&quot;MMMMMMM&quot;;&quot;MMMMMMM&quot;;&quot;MMM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3"/>
                <c:pt idx="0">
                  <c:v>Micronized Eggshell Membrane</c:v>
                </c:pt>
                <c:pt idx="1">
                  <c:v>Hydrolyzed Eggshell Membrane</c:v>
                </c:pt>
                <c:pt idx="2">
                  <c:v>Specialty Extracted Protein Fractions</c:v>
                </c:pt>
              </c:strCache>
            </c:strRef>
          </c:cat>
          <c:val>
            <c:numRef>
              <c:numCache>
                <c:formatCode>General</c:formatCode>
                <c:ptCount val="3"/>
                <c:pt idx="0">
                  <c:v>7125.571</c:v>
                </c:pt>
                <c:pt idx="1">
                  <c:v>4236.479</c:v>
                </c:pt>
                <c:pt idx="2">
                  <c:v>6316.618</c:v>
                </c:pt>
              </c:numCache>
            </c:numRef>
          </c:val>
        </c:ser>
        <c:dLbls>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a:p>
  </c:txPr>
</c:chartSpace>
</file>

<file path=ppt/charts/chart10.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strCache>
                <c:ptCount val="1"/>
                <c:pt idx="0">
                  <c:v>Optimistic Scenario</c:v>
                </c:pt>
              </c:strCache>
            </c:strRef>
          </c:tx>
          <c:spPr>
            <a:ln w="28575">
              <a:solidFill>
                <a:srgbClr val="2E5F8A"/>
              </a:solidFill>
            </a:ln>
          </c:spPr>
          <c:marker>
            <c:symbol val="circle"/>
            <c:size val="6"/>
            <c:spPr>
              <a:solidFill>
                <a:srgbClr val="2E5F8A"/>
              </a:solidFill>
              <a:ln>
                <a:solidFill>
                  <a:srgbClr val="2E5F8A"/>
                </a:solidFill>
              </a:ln>
            </c:spPr>
          </c:marker>
          <c:cat>
            <c:strRef>
              <c:strCache>
                <c:ptCount val="11"/>
                <c:pt idx="0">
                  <c:v>2026</c:v>
                </c:pt>
                <c:pt idx="1">
                  <c:v>2027</c:v>
                </c:pt>
                <c:pt idx="2">
                  <c:v>2028</c:v>
                </c:pt>
                <c:pt idx="3">
                  <c:v>2029</c:v>
                </c:pt>
                <c:pt idx="4">
                  <c:v>2030</c:v>
                </c:pt>
                <c:pt idx="5">
                  <c:v>2031</c:v>
                </c:pt>
                <c:pt idx="6">
                  <c:v>2032</c:v>
                </c:pt>
                <c:pt idx="7">
                  <c:v>2033</c:v>
                </c:pt>
                <c:pt idx="8">
                  <c:v>2034</c:v>
                </c:pt>
                <c:pt idx="9">
                  <c:v>2035</c:v>
                </c:pt>
                <c:pt idx="10">
                  <c:v>2036</c:v>
                </c:pt>
              </c:strCache>
            </c:strRef>
          </c:cat>
          <c:val>
            <c:numRef>
              <c:numCache>
                <c:formatCode>General</c:formatCode>
                <c:ptCount val="11"/>
                <c:pt idx="0">
                  <c:v>0.05862886246266191</c:v>
                </c:pt>
                <c:pt idx="1">
                  <c:v>0.05862886246266191</c:v>
                </c:pt>
                <c:pt idx="2">
                  <c:v>0.05995886246266191</c:v>
                </c:pt>
                <c:pt idx="3">
                  <c:v>0.06229886246266191</c:v>
                </c:pt>
                <c:pt idx="4">
                  <c:v>0.06462886246266192</c:v>
                </c:pt>
                <c:pt idx="5">
                  <c:v>0.06484886246266192</c:v>
                </c:pt>
                <c:pt idx="6">
                  <c:v>0.06321886246266192</c:v>
                </c:pt>
                <c:pt idx="7">
                  <c:v>0.06129886246266191</c:v>
                </c:pt>
                <c:pt idx="8">
                  <c:v>0.06048886246266191</c:v>
                </c:pt>
                <c:pt idx="9">
                  <c:v>0.058928862462661914</c:v>
                </c:pt>
                <c:pt idx="10">
                  <c:v>0.057618862462661916</c:v>
                </c:pt>
              </c:numCache>
            </c:numRef>
          </c:val>
          <c:smooth val="0"/>
        </c:ser>
        <c:ser>
          <c:idx val="1"/>
          <c:order val="1"/>
          <c:tx>
            <c:strRef>
              <c:strCache>
                <c:ptCount val="1"/>
                <c:pt idx="0">
                  <c:v>Likely Scenario</c:v>
                </c:pt>
              </c:strCache>
            </c:strRef>
          </c:tx>
          <c:spPr>
            <a:ln w="28575">
              <a:solidFill>
                <a:srgbClr val="8B1A1A"/>
              </a:solidFill>
            </a:ln>
          </c:spPr>
          <c:marker>
            <c:symbol val="circle"/>
            <c:size val="6"/>
            <c:spPr>
              <a:solidFill>
                <a:srgbClr val="8B1A1A"/>
              </a:solidFill>
              <a:ln>
                <a:solidFill>
                  <a:srgbClr val="8B1A1A"/>
                </a:solidFill>
              </a:ln>
            </c:spPr>
          </c:marker>
          <c:cat>
            <c:strRef>
              <c:strCache>
                <c:ptCount val="11"/>
                <c:pt idx="0">
                  <c:v>2026</c:v>
                </c:pt>
                <c:pt idx="1">
                  <c:v>2027</c:v>
                </c:pt>
                <c:pt idx="2">
                  <c:v>2028</c:v>
                </c:pt>
                <c:pt idx="3">
                  <c:v>2029</c:v>
                </c:pt>
                <c:pt idx="4">
                  <c:v>2030</c:v>
                </c:pt>
                <c:pt idx="5">
                  <c:v>2031</c:v>
                </c:pt>
                <c:pt idx="6">
                  <c:v>2032</c:v>
                </c:pt>
                <c:pt idx="7">
                  <c:v>2033</c:v>
                </c:pt>
                <c:pt idx="8">
                  <c:v>2034</c:v>
                </c:pt>
                <c:pt idx="9">
                  <c:v>2035</c:v>
                </c:pt>
                <c:pt idx="10">
                  <c:v>2036</c:v>
                </c:pt>
              </c:strCache>
            </c:strRef>
          </c:cat>
          <c:val>
            <c:numRef>
              <c:numCache>
                <c:formatCode>General</c:formatCode>
                <c:ptCount val="11"/>
                <c:pt idx="0">
                  <c:v>0.052603972128376086</c:v>
                </c:pt>
                <c:pt idx="1">
                  <c:v>0.050673972128376085</c:v>
                </c:pt>
                <c:pt idx="2">
                  <c:v>0.04865397212837609</c:v>
                </c:pt>
                <c:pt idx="3">
                  <c:v>0.046343972128376085</c:v>
                </c:pt>
                <c:pt idx="4">
                  <c:v>0.045463972128376086</c:v>
                </c:pt>
                <c:pt idx="5">
                  <c:v>0.04613397212837608</c:v>
                </c:pt>
                <c:pt idx="6">
                  <c:v>0.04851397212837609</c:v>
                </c:pt>
                <c:pt idx="7">
                  <c:v>0.050103972128376084</c:v>
                </c:pt>
                <c:pt idx="8">
                  <c:v>0.04996397212837608</c:v>
                </c:pt>
                <c:pt idx="9">
                  <c:v>0.04926397212837609</c:v>
                </c:pt>
                <c:pt idx="10">
                  <c:v>0.04872397212837609</c:v>
                </c:pt>
              </c:numCache>
            </c:numRef>
          </c:val>
          <c:smooth val="0"/>
        </c:ser>
        <c:ser>
          <c:idx val="2"/>
          <c:order val="2"/>
          <c:tx>
            <c:strRef>
              <c:strCache>
                <c:ptCount val="1"/>
                <c:pt idx="0">
                  <c:v>Conservative Scenario</c:v>
                </c:pt>
              </c:strCache>
            </c:strRef>
          </c:tx>
          <c:spPr>
            <a:ln w="28575">
              <a:solidFill>
                <a:srgbClr val="A08000"/>
              </a:solidFill>
            </a:ln>
          </c:spPr>
          <c:marker>
            <c:symbol val="circle"/>
            <c:size val="6"/>
            <c:spPr>
              <a:solidFill>
                <a:srgbClr val="A08000"/>
              </a:solidFill>
              <a:ln>
                <a:solidFill>
                  <a:srgbClr val="A08000"/>
                </a:solidFill>
              </a:ln>
            </c:spPr>
          </c:marker>
          <c:cat>
            <c:strRef>
              <c:strCache>
                <c:ptCount val="11"/>
                <c:pt idx="0">
                  <c:v>2026</c:v>
                </c:pt>
                <c:pt idx="1">
                  <c:v>2027</c:v>
                </c:pt>
                <c:pt idx="2">
                  <c:v>2028</c:v>
                </c:pt>
                <c:pt idx="3">
                  <c:v>2029</c:v>
                </c:pt>
                <c:pt idx="4">
                  <c:v>2030</c:v>
                </c:pt>
                <c:pt idx="5">
                  <c:v>2031</c:v>
                </c:pt>
                <c:pt idx="6">
                  <c:v>2032</c:v>
                </c:pt>
                <c:pt idx="7">
                  <c:v>2033</c:v>
                </c:pt>
                <c:pt idx="8">
                  <c:v>2034</c:v>
                </c:pt>
                <c:pt idx="9">
                  <c:v>2035</c:v>
                </c:pt>
                <c:pt idx="10">
                  <c:v>2036</c:v>
                </c:pt>
              </c:strCache>
            </c:strRef>
          </c:cat>
          <c:val>
            <c:numRef>
              <c:numCache>
                <c:formatCode>General</c:formatCode>
                <c:ptCount val="11"/>
                <c:pt idx="0">
                  <c:v>0.03222208101392527</c:v>
                </c:pt>
                <c:pt idx="1">
                  <c:v>0.03359208101392527</c:v>
                </c:pt>
                <c:pt idx="2">
                  <c:v>0.035342081013925275</c:v>
                </c:pt>
                <c:pt idx="3">
                  <c:v>0.03784208101392527</c:v>
                </c:pt>
                <c:pt idx="4">
                  <c:v>0.03984208101392527</c:v>
                </c:pt>
                <c:pt idx="5">
                  <c:v>0.03986208101392527</c:v>
                </c:pt>
                <c:pt idx="6">
                  <c:v>0.03904208101392527</c:v>
                </c:pt>
                <c:pt idx="7">
                  <c:v>0.03762208101392527</c:v>
                </c:pt>
                <c:pt idx="8">
                  <c:v>0.036452081013925275</c:v>
                </c:pt>
                <c:pt idx="9">
                  <c:v>0.03561208101392527</c:v>
                </c:pt>
                <c:pt idx="10">
                  <c:v>0.03492208101392527</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C9D6E4"/>
            </a:solidFill>
          </a:ln>
        </c:spPr>
        <c:txPr>
          <a:bodyPr/>
          <a:lstStyle/>
          <a:p>
            <a:pPr>
              <a:defRPr sz="1100"/>
            </a:pPr>
          </a:p>
        </c:txPr>
        <c:crossAx val="2140495176"/>
        <c:crosses val="autoZero"/>
        <c:auto val="1"/>
        <c:lblAlgn val="ctr"/>
        <c:lblOffset val="100"/>
        <c:noMultiLvlLbl val="0"/>
        <c:tickLblSkip val="1"/>
        <c:tickMarkSkip val="1"/>
      </c:catAx>
      <c:valAx>
        <c:axId val="2140495176"/>
        <c:scaling>
          <c:min val="0.0"/>
        </c:scaling>
        <c:delete val="0"/>
        <c:axPos val="l"/>
        <c:numFmt formatCode="0.00%" sourceLinked="0"/>
        <c:majorTickMark val="out"/>
        <c:minorTickMark val="none"/>
        <c:tickLblPos val="nextTo"/>
        <c:spPr>
          <a:ln>
            <a:solidFill>
              <a:srgbClr val="C9D6E4"/>
            </a:solidFill>
          </a:ln>
        </c:spPr>
        <c:txPr>
          <a:bodyPr/>
          <a:lstStyle/>
          <a:p>
            <a:pPr>
              <a:defRPr sz="1100"/>
            </a:pPr>
          </a:p>
        </c:txPr>
        <c:crossAx val="2118791784"/>
        <c:crosses val="autoZero"/>
      </c:valAx>
    </c:plotArea>
    <c:legend>
      <c:legendPos val="b"/>
      <c:layout/>
      <c:overlay val="0"/>
      <c:txPr>
        <a:bodyPr/>
        <a:lstStyle/>
        <a:p>
          <a:pPr>
            <a:defRPr sz="1100"/>
          </a:pPr>
        </a:p>
      </c:txPr>
    </c:legend>
    <c:plotVisOnly val="1"/>
    <c:dispBlanksAs val="gap"/>
    <c:showDLblsOverMax val="0"/>
  </c:chart>
  <c:txPr>
    <a:bodyPr/>
    <a:lstStyle/>
    <a:p>
      <a:pPr>
        <a:defRPr sz="1100">
          <a:latin typeface="Calibri"/>
        </a:defRPr>
      </a:pPr>
      <a:endParaRPr lang="en-US"/>
    </a:p>
  </c:txPr>
</c:chartSpace>
</file>

<file path=ppt/charts/chart1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South Asia &amp; Pacific</c:v>
                </c:pt>
              </c:strCache>
            </c:strRef>
          </c:tx>
          <c:spPr>
            <a:solidFill>
              <a:srgbClr val="2A5F8F"/>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19.479066010369117</c:v>
                </c:pt>
                <c:pt idx="1">
                  <c:v>22.45026814667466</c:v>
                </c:pt>
              </c:numCache>
            </c:numRef>
          </c:val>
        </c:ser>
        <c:ser>
          <c:idx val="1"/>
          <c:order val="1"/>
          <c:tx>
            <c:strRef>
              <c:strCache>
                <c:ptCount val="1"/>
                <c:pt idx="0">
                  <c:v>Europe</c:v>
                </c:pt>
              </c:strCache>
            </c:strRef>
          </c:tx>
          <c:spPr>
            <a:solidFill>
              <a:srgbClr val="0081E2"/>
            </a:solidFill>
            <a:ln>
              <a:noFill/>
            </a:ln>
          </c:spPr>
          <c:dLbls>
            <c:dLbl>
              <c:idx val="0"/>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22.21458779308581</c:v>
                </c:pt>
                <c:pt idx="1">
                  <c:v>22.024862789889657</c:v>
                </c:pt>
              </c:numCache>
            </c:numRef>
          </c:val>
        </c:ser>
        <c:ser>
          <c:idx val="2"/>
          <c:order val="2"/>
          <c:tx>
            <c:strRef>
              <c:strCache>
                <c:ptCount val="1"/>
                <c:pt idx="0">
                  <c:v>North America</c:v>
                </c:pt>
              </c:strCache>
            </c:strRef>
          </c:tx>
          <c:spPr>
            <a:solidFill>
              <a:srgbClr val="0E2A5C"/>
            </a:solidFill>
            <a:ln>
              <a:noFill/>
            </a:ln>
          </c:spPr>
          <c:dLbls>
            <c:dLbl>
              <c:idx val="0"/>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24.188525632595123</c:v>
                </c:pt>
                <c:pt idx="1">
                  <c:v>20.36358292630724</c:v>
                </c:pt>
              </c:numCache>
            </c:numRef>
          </c:val>
        </c:ser>
        <c:ser>
          <c:idx val="3"/>
          <c:order val="3"/>
          <c:tx>
            <c:strRef>
              <c:strCache>
                <c:ptCount val="1"/>
                <c:pt idx="0">
                  <c:v>East Asia</c:v>
                </c:pt>
              </c:strCache>
            </c:strRef>
          </c:tx>
          <c:spPr>
            <a:solidFill>
              <a:srgbClr val="00ACAC"/>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18.343032297378368</c:v>
                </c:pt>
                <c:pt idx="1">
                  <c:v>19.097489941967993</c:v>
                </c:pt>
              </c:numCache>
            </c:numRef>
          </c:val>
        </c:ser>
        <c:ser>
          <c:idx val="4"/>
          <c:order val="4"/>
          <c:tx>
            <c:strRef>
              <c:strCache>
                <c:ptCount val="1"/>
                <c:pt idx="0">
                  <c:v>Latin America</c:v>
                </c:pt>
              </c:strCache>
            </c:strRef>
          </c:tx>
          <c:spPr>
            <a:solidFill>
              <a:srgbClr val="F47620"/>
            </a:solidFill>
            <a:ln>
              <a:noFill/>
            </a:ln>
          </c:spPr>
          <c:dLbls>
            <c:dLbl>
              <c:idx val="0"/>
              <c:numFmt formatCode="&quot;MMM&quot;;&quot;MMM&quot;;&quot;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8.405206173382556</c:v>
                </c:pt>
                <c:pt idx="1">
                  <c:v>8.68286398523203</c:v>
                </c:pt>
              </c:numCache>
            </c:numRef>
          </c:val>
        </c:ser>
        <c:ser>
          <c:idx val="5"/>
          <c:order val="5"/>
          <c:tx>
            <c:strRef>
              <c:strCache>
                <c:ptCount val="1"/>
                <c:pt idx="0">
                  <c:v>Middle East and Africa</c:v>
                </c:pt>
              </c:strCache>
            </c:strRef>
          </c:tx>
          <c:spPr>
            <a:solidFill>
              <a:srgbClr val="79C3EC"/>
            </a:solidFill>
            <a:ln>
              <a:noFill/>
            </a:ln>
          </c:spPr>
          <c:dLbls>
            <c:dLbl>
              <c:idx val="0"/>
              <c:numFmt formatCode="&quot;MMM&quot;;&quot;MMM&quot;;&quot;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2E2E2E"/>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7.369582093189033</c:v>
                </c:pt>
                <c:pt idx="1">
                  <c:v>7.380932209928419</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North America</c:v>
                </c:pt>
              </c:strCache>
            </c:strRef>
          </c:tx>
          <c:spPr>
            <a:solidFill>
              <a:srgbClr val="2A5F8F"/>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33.07245871559633</c:v>
                </c:pt>
                <c:pt idx="1">
                  <c:v>30.347241093050677</c:v>
                </c:pt>
              </c:numCache>
            </c:numRef>
          </c:val>
        </c:ser>
        <c:ser>
          <c:idx val="1"/>
          <c:order val="1"/>
          <c:tx>
            <c:strRef>
              <c:strCache>
                <c:ptCount val="1"/>
                <c:pt idx="0">
                  <c:v>Europe</c:v>
                </c:pt>
              </c:strCache>
            </c:strRef>
          </c:tx>
          <c:spPr>
            <a:solidFill>
              <a:srgbClr val="0081E2"/>
            </a:solidFill>
            <a:ln>
              <a:noFill/>
            </a:ln>
          </c:spPr>
          <c:dLbls>
            <c:dLbl>
              <c:idx val="0"/>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27.059293577981652</c:v>
                </c:pt>
                <c:pt idx="1">
                  <c:v>28.649239863546278</c:v>
                </c:pt>
              </c:numCache>
            </c:numRef>
          </c:val>
        </c:ser>
        <c:ser>
          <c:idx val="2"/>
          <c:order val="2"/>
          <c:tx>
            <c:strRef>
              <c:strCache>
                <c:ptCount val="1"/>
                <c:pt idx="0">
                  <c:v>South Asia &amp; Pacific</c:v>
                </c:pt>
              </c:strCache>
            </c:strRef>
          </c:tx>
          <c:spPr>
            <a:solidFill>
              <a:srgbClr val="0E2A5C"/>
            </a:solidFill>
            <a:ln>
              <a:noFill/>
            </a:ln>
          </c:spPr>
          <c:dLbls>
            <c:dLbl>
              <c:idx val="0"/>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12.026339449541286</c:v>
                </c:pt>
                <c:pt idx="1">
                  <c:v>13.102644384746634</c:v>
                </c:pt>
              </c:numCache>
            </c:numRef>
          </c:val>
        </c:ser>
        <c:ser>
          <c:idx val="3"/>
          <c:order val="3"/>
          <c:tx>
            <c:strRef>
              <c:strCache>
                <c:ptCount val="1"/>
                <c:pt idx="0">
                  <c:v>East Asia</c:v>
                </c:pt>
              </c:strCache>
            </c:strRef>
          </c:tx>
          <c:spPr>
            <a:solidFill>
              <a:srgbClr val="00ACAC"/>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13.028541284403673</c:v>
                </c:pt>
                <c:pt idx="1">
                  <c:v>12.831809500580018</c:v>
                </c:pt>
              </c:numCache>
            </c:numRef>
          </c:val>
        </c:ser>
        <c:ser>
          <c:idx val="4"/>
          <c:order val="4"/>
          <c:tx>
            <c:strRef>
              <c:strCache>
                <c:ptCount val="1"/>
                <c:pt idx="0">
                  <c:v>Latin America</c:v>
                </c:pt>
              </c:strCache>
            </c:strRef>
          </c:tx>
          <c:spPr>
            <a:solidFill>
              <a:srgbClr val="F47620"/>
            </a:solidFill>
            <a:ln>
              <a:noFill/>
            </a:ln>
          </c:spPr>
          <c:dLbls>
            <c:dLbl>
              <c:idx val="0"/>
              <c:numFmt formatCode="&quot;MMM&quot;;&quot;MMM&quot;;&quot;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8.017559633027522</c:v>
                </c:pt>
                <c:pt idx="1">
                  <c:v>8.335854262323382</c:v>
                </c:pt>
              </c:numCache>
            </c:numRef>
          </c:val>
        </c:ser>
        <c:ser>
          <c:idx val="5"/>
          <c:order val="5"/>
          <c:tx>
            <c:strRef>
              <c:strCache>
                <c:ptCount val="1"/>
                <c:pt idx="0">
                  <c:v>Middle East and Africa</c:v>
                </c:pt>
              </c:strCache>
            </c:strRef>
          </c:tx>
          <c:spPr>
            <a:solidFill>
              <a:srgbClr val="79C3EC"/>
            </a:solidFill>
            <a:ln>
              <a:noFill/>
            </a:ln>
          </c:spPr>
          <c:dLbls>
            <c:dLbl>
              <c:idx val="0"/>
              <c:numFmt formatCode="&quot;MMM&quot;;&quot;MMM&quot;;&quot;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2E2E2E"/>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6.795807339449541</c:v>
                </c:pt>
                <c:pt idx="1">
                  <c:v>6.733210895753006</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North America</c:v>
                </c:pt>
              </c:strCache>
            </c:strRef>
          </c:tx>
          <c:spPr>
            <a:solidFill>
              <a:srgbClr val="2A5F8F"/>
            </a:solidFill>
            <a:ln>
              <a:noFill/>
            </a:ln>
          </c:spPr>
          <c:dLbls>
            <c:dLbl>
              <c:idx val="0"/>
              <c:numFmt formatCode="&quot;&quot;" sourceLinked="0"/>
              <c:dLblPos val="ctr"/>
              <c:showLegendKey val="0"/>
              <c:showVal val="1"/>
              <c:showCatName val="0"/>
              <c:showSerName val="0"/>
              <c:showPercent val="0"/>
              <c:showBubbleSize val="0"/>
            </c:dLbl>
            <c:dLbl>
              <c:idx val="1"/>
              <c:numFmt formatCode="&quot;&quot;" sourceLinked="0"/>
              <c:dLblPos val="ctr"/>
              <c:showLegendKey val="0"/>
              <c:showVal val="1"/>
              <c:showCatName val="0"/>
              <c:showSerName val="0"/>
              <c:showPercent val="0"/>
              <c:showBubbleSize val="0"/>
            </c:dLbl>
            <c:dLbl>
              <c:idx val="2"/>
              <c:numFmt formatCode="&quot;&quot;" sourceLinked="0"/>
              <c:dLblPos val="ctr"/>
              <c:showLegendKey val="0"/>
              <c:showVal val="1"/>
              <c:showCatName val="0"/>
              <c:showSerName val="0"/>
              <c:showPercent val="0"/>
              <c:showBubbleSize val="0"/>
            </c:dLbl>
            <c:dLbl>
              <c:idx val="3"/>
              <c:numFmt formatCode="&quot;&quot;" sourceLinked="0"/>
              <c:dLblPos val="ctr"/>
              <c:showLegendKey val="0"/>
              <c:showVal val="1"/>
              <c:showCatName val="0"/>
              <c:showSerName val="0"/>
              <c:showPercent val="0"/>
              <c:showBubbleSize val="0"/>
            </c:dLbl>
            <c:dLbl>
              <c:idx val="4"/>
              <c:numFmt formatCode="&quot;&quot;" sourceLinked="0"/>
              <c:dLblPos val="ctr"/>
              <c:showLegendKey val="0"/>
              <c:showVal val="1"/>
              <c:showCatName val="0"/>
              <c:showSerName val="0"/>
              <c:showPercent val="0"/>
              <c:showBubbleSize val="0"/>
            </c:dLbl>
            <c:dLbl>
              <c:idx val="5"/>
              <c:numFmt formatCode="&quot;&quot;" sourceLinked="0"/>
              <c:dLblPos val="ctr"/>
              <c:showLegendKey val="0"/>
              <c:showVal val="1"/>
              <c:showCatName val="0"/>
              <c:showSerName val="0"/>
              <c:showPercent val="0"/>
              <c:showBubbleSize val="0"/>
            </c:dLbl>
            <c:dLbl>
              <c:idx val="6"/>
              <c:numFmt formatCode="&quot;&quot;" sourceLinked="0"/>
              <c:dLblPos val="ctr"/>
              <c:showLegendKey val="0"/>
              <c:showVal val="1"/>
              <c:showCatName val="0"/>
              <c:showSerName val="0"/>
              <c:showPercent val="0"/>
              <c:showBubbleSize val="0"/>
            </c:dLbl>
            <c:dLbl>
              <c:idx val="7"/>
              <c:numFmt formatCode="&quot;&quot;" sourceLinked="0"/>
              <c:dLblPos val="ctr"/>
              <c:showLegendKey val="0"/>
              <c:showVal val="1"/>
              <c:showCatName val="0"/>
              <c:showSerName val="0"/>
              <c:showPercent val="0"/>
              <c:showBubbleSize val="0"/>
            </c:dLbl>
            <c:dLbl>
              <c:idx val="8"/>
              <c:numFmt formatCode="&quot;&quot;" sourceLinked="0"/>
              <c:dLblPos val="ctr"/>
              <c:showLegendKey val="0"/>
              <c:showVal val="1"/>
              <c:showCatName val="0"/>
              <c:showSerName val="0"/>
              <c:showPercent val="0"/>
              <c:showBubbleSize val="0"/>
            </c:dLbl>
            <c:dLbl>
              <c:idx val="9"/>
              <c:numFmt formatCode="&quot;&quot;" sourceLinked="0"/>
              <c:dLblPos val="ctr"/>
              <c:showLegendKey val="0"/>
              <c:showVal val="1"/>
              <c:showCatName val="0"/>
              <c:showSerName val="0"/>
              <c:showPercent val="0"/>
              <c:showBubbleSize val="0"/>
            </c:dLbl>
            <c:dLbl>
              <c:idx val="10"/>
              <c:numFmt formatCode="&quot;&quot;" sourceLinked="0"/>
              <c:dLblPos val="ctr"/>
              <c:showLegendKey val="0"/>
              <c:showVal val="1"/>
              <c:showCatName val="0"/>
              <c:showSerName val="0"/>
              <c:showPercent val="0"/>
              <c:showBubbleSize val="0"/>
            </c:dLbl>
            <c:dLbl>
              <c:idx val="11"/>
              <c:numFmt formatCode="&quot;&quot;" sourceLinked="0"/>
              <c:dLblPos val="ctr"/>
              <c:showLegendKey val="0"/>
              <c:showVal val="1"/>
              <c:showCatName val="0"/>
              <c:showSerName val="0"/>
              <c:showPercent val="0"/>
              <c:showBubbleSize val="0"/>
            </c:dLbl>
            <c:dLbl>
              <c:idx val="12"/>
              <c:numFmt formatCode="&quot;&quot;" sourceLinked="0"/>
              <c:dLblPos val="ctr"/>
              <c:showLegendKey val="0"/>
              <c:showVal val="1"/>
              <c:showCatName val="0"/>
              <c:showSerName val="0"/>
              <c:showPercent val="0"/>
              <c:showBubbleSize val="0"/>
            </c:dLbl>
            <c:dLbl>
              <c:idx val="13"/>
              <c:numFmt formatCode="&quot;&quot;" sourceLinked="0"/>
              <c:dLblPos val="ctr"/>
              <c:showLegendKey val="0"/>
              <c:showVal val="1"/>
              <c:showCatName val="0"/>
              <c:showSerName val="0"/>
              <c:showPercent val="0"/>
              <c:showBubbleSize val="0"/>
            </c:dLbl>
            <c:dLbl>
              <c:idx val="14"/>
              <c:numFmt formatCode="&quot;&quot;" sourceLinked="0"/>
              <c:dLblPos val="ctr"/>
              <c:showLegendKey val="0"/>
              <c:showVal val="1"/>
              <c:showCatName val="0"/>
              <c:showSerName val="0"/>
              <c:showPercent val="0"/>
              <c:showBubbleSize val="0"/>
            </c:dLbl>
            <c:dLbl>
              <c:idx val="1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96498.306</c:v>
                </c:pt>
                <c:pt idx="1">
                  <c:v>98226.715</c:v>
                </c:pt>
                <c:pt idx="2">
                  <c:v>99986.691</c:v>
                </c:pt>
                <c:pt idx="3">
                  <c:v>101778.825</c:v>
                </c:pt>
                <c:pt idx="4">
                  <c:v>103603.714</c:v>
                </c:pt>
                <c:pt idx="5">
                  <c:v>105461.972</c:v>
                </c:pt>
                <c:pt idx="6">
                  <c:v>108186.076</c:v>
                </c:pt>
                <c:pt idx="7">
                  <c:v>110981.216</c:v>
                </c:pt>
                <c:pt idx="8">
                  <c:v>113849.262</c:v>
                </c:pt>
                <c:pt idx="9">
                  <c:v>116792.135</c:v>
                </c:pt>
                <c:pt idx="10">
                  <c:v>119811.806</c:v>
                </c:pt>
                <c:pt idx="11">
                  <c:v>122910.3</c:v>
                </c:pt>
                <c:pt idx="12">
                  <c:v>126089.696</c:v>
                </c:pt>
                <c:pt idx="13">
                  <c:v>129352.128</c:v>
                </c:pt>
                <c:pt idx="14">
                  <c:v>132699.785</c:v>
                </c:pt>
                <c:pt idx="15">
                  <c:v>136134.917</c:v>
                </c:pt>
              </c:numCache>
            </c:numRef>
          </c:val>
        </c:ser>
        <c:ser>
          <c:idx val="1"/>
          <c:order val="1"/>
          <c:tx>
            <c:strRef>
              <c:strCache>
                <c:ptCount val="1"/>
                <c:pt idx="0">
                  <c:v>Europe</c:v>
                </c:pt>
              </c:strCache>
            </c:strRef>
          </c:tx>
          <c:spPr>
            <a:solidFill>
              <a:srgbClr val="0081E2"/>
            </a:solidFill>
            <a:ln>
              <a:noFill/>
            </a:ln>
          </c:spPr>
          <c:dLbls>
            <c:dLbl>
              <c:idx val="0"/>
              <c:numFmt formatCode="&quot;&quot;" sourceLinked="0"/>
              <c:dLblPos val="ctr"/>
              <c:showLegendKey val="0"/>
              <c:showVal val="1"/>
              <c:showCatName val="0"/>
              <c:showSerName val="0"/>
              <c:showPercent val="0"/>
              <c:showBubbleSize val="0"/>
            </c:dLbl>
            <c:dLbl>
              <c:idx val="1"/>
              <c:numFmt formatCode="&quot;&quot;" sourceLinked="0"/>
              <c:dLblPos val="ctr"/>
              <c:showLegendKey val="0"/>
              <c:showVal val="1"/>
              <c:showCatName val="0"/>
              <c:showSerName val="0"/>
              <c:showPercent val="0"/>
              <c:showBubbleSize val="0"/>
            </c:dLbl>
            <c:dLbl>
              <c:idx val="2"/>
              <c:numFmt formatCode="&quot;&quot;" sourceLinked="0"/>
              <c:dLblPos val="ctr"/>
              <c:showLegendKey val="0"/>
              <c:showVal val="1"/>
              <c:showCatName val="0"/>
              <c:showSerName val="0"/>
              <c:showPercent val="0"/>
              <c:showBubbleSize val="0"/>
            </c:dLbl>
            <c:dLbl>
              <c:idx val="3"/>
              <c:numFmt formatCode="&quot;&quot;" sourceLinked="0"/>
              <c:dLblPos val="ctr"/>
              <c:showLegendKey val="0"/>
              <c:showVal val="1"/>
              <c:showCatName val="0"/>
              <c:showSerName val="0"/>
              <c:showPercent val="0"/>
              <c:showBubbleSize val="0"/>
            </c:dLbl>
            <c:dLbl>
              <c:idx val="4"/>
              <c:numFmt formatCode="&quot;&quot;" sourceLinked="0"/>
              <c:dLblPos val="ctr"/>
              <c:showLegendKey val="0"/>
              <c:showVal val="1"/>
              <c:showCatName val="0"/>
              <c:showSerName val="0"/>
              <c:showPercent val="0"/>
              <c:showBubbleSize val="0"/>
            </c:dLbl>
            <c:dLbl>
              <c:idx val="5"/>
              <c:numFmt formatCode="&quot;&quot;" sourceLinked="0"/>
              <c:dLblPos val="ctr"/>
              <c:showLegendKey val="0"/>
              <c:showVal val="1"/>
              <c:showCatName val="0"/>
              <c:showSerName val="0"/>
              <c:showPercent val="0"/>
              <c:showBubbleSize val="0"/>
            </c:dLbl>
            <c:dLbl>
              <c:idx val="6"/>
              <c:numFmt formatCode="&quot;&quot;" sourceLinked="0"/>
              <c:dLblPos val="ctr"/>
              <c:showLegendKey val="0"/>
              <c:showVal val="1"/>
              <c:showCatName val="0"/>
              <c:showSerName val="0"/>
              <c:showPercent val="0"/>
              <c:showBubbleSize val="0"/>
            </c:dLbl>
            <c:dLbl>
              <c:idx val="7"/>
              <c:numFmt formatCode="&quot;&quot;" sourceLinked="0"/>
              <c:dLblPos val="ctr"/>
              <c:showLegendKey val="0"/>
              <c:showVal val="1"/>
              <c:showCatName val="0"/>
              <c:showSerName val="0"/>
              <c:showPercent val="0"/>
              <c:showBubbleSize val="0"/>
            </c:dLbl>
            <c:dLbl>
              <c:idx val="8"/>
              <c:numFmt formatCode="&quot;&quot;" sourceLinked="0"/>
              <c:dLblPos val="ctr"/>
              <c:showLegendKey val="0"/>
              <c:showVal val="1"/>
              <c:showCatName val="0"/>
              <c:showSerName val="0"/>
              <c:showPercent val="0"/>
              <c:showBubbleSize val="0"/>
            </c:dLbl>
            <c:dLbl>
              <c:idx val="9"/>
              <c:numFmt formatCode="&quot;&quot;" sourceLinked="0"/>
              <c:dLblPos val="ctr"/>
              <c:showLegendKey val="0"/>
              <c:showVal val="1"/>
              <c:showCatName val="0"/>
              <c:showSerName val="0"/>
              <c:showPercent val="0"/>
              <c:showBubbleSize val="0"/>
            </c:dLbl>
            <c:dLbl>
              <c:idx val="10"/>
              <c:numFmt formatCode="&quot;&quot;" sourceLinked="0"/>
              <c:dLblPos val="ctr"/>
              <c:showLegendKey val="0"/>
              <c:showVal val="1"/>
              <c:showCatName val="0"/>
              <c:showSerName val="0"/>
              <c:showPercent val="0"/>
              <c:showBubbleSize val="0"/>
            </c:dLbl>
            <c:dLbl>
              <c:idx val="11"/>
              <c:numFmt formatCode="&quot;&quot;" sourceLinked="0"/>
              <c:dLblPos val="ctr"/>
              <c:showLegendKey val="0"/>
              <c:showVal val="1"/>
              <c:showCatName val="0"/>
              <c:showSerName val="0"/>
              <c:showPercent val="0"/>
              <c:showBubbleSize val="0"/>
            </c:dLbl>
            <c:dLbl>
              <c:idx val="12"/>
              <c:numFmt formatCode="&quot;&quot;" sourceLinked="0"/>
              <c:dLblPos val="ctr"/>
              <c:showLegendKey val="0"/>
              <c:showVal val="1"/>
              <c:showCatName val="0"/>
              <c:showSerName val="0"/>
              <c:showPercent val="0"/>
              <c:showBubbleSize val="0"/>
            </c:dLbl>
            <c:dLbl>
              <c:idx val="13"/>
              <c:numFmt formatCode="&quot;&quot;" sourceLinked="0"/>
              <c:dLblPos val="ctr"/>
              <c:showLegendKey val="0"/>
              <c:showVal val="1"/>
              <c:showCatName val="0"/>
              <c:showSerName val="0"/>
              <c:showPercent val="0"/>
              <c:showBubbleSize val="0"/>
            </c:dLbl>
            <c:dLbl>
              <c:idx val="14"/>
              <c:numFmt formatCode="&quot;&quot;" sourceLinked="0"/>
              <c:dLblPos val="ctr"/>
              <c:showLegendKey val="0"/>
              <c:showVal val="1"/>
              <c:showCatName val="0"/>
              <c:showSerName val="0"/>
              <c:showPercent val="0"/>
              <c:showBubbleSize val="0"/>
            </c:dLbl>
            <c:dLbl>
              <c:idx val="1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81940.303</c:v>
                </c:pt>
                <c:pt idx="1">
                  <c:v>84707.787</c:v>
                </c:pt>
                <c:pt idx="2">
                  <c:v>87578.85</c:v>
                </c:pt>
                <c:pt idx="3">
                  <c:v>90557.616</c:v>
                </c:pt>
                <c:pt idx="4">
                  <c:v>93648.378</c:v>
                </c:pt>
                <c:pt idx="5">
                  <c:v>96855.603</c:v>
                </c:pt>
                <c:pt idx="6">
                  <c:v>100949.497</c:v>
                </c:pt>
                <c:pt idx="7">
                  <c:v>105228.013</c:v>
                </c:pt>
                <c:pt idx="8">
                  <c:v>109699.854</c:v>
                </c:pt>
                <c:pt idx="9">
                  <c:v>114374.141</c:v>
                </c:pt>
                <c:pt idx="10">
                  <c:v>119260.446</c:v>
                </c:pt>
                <c:pt idx="11">
                  <c:v>124368.796</c:v>
                </c:pt>
                <c:pt idx="12">
                  <c:v>129709.72</c:v>
                </c:pt>
                <c:pt idx="13">
                  <c:v>135294.243</c:v>
                </c:pt>
                <c:pt idx="14">
                  <c:v>141133.933</c:v>
                </c:pt>
                <c:pt idx="15">
                  <c:v>147240.929</c:v>
                </c:pt>
              </c:numCache>
            </c:numRef>
          </c:val>
        </c:ser>
        <c:ser>
          <c:idx val="2"/>
          <c:order val="2"/>
          <c:tx>
            <c:strRef>
              <c:strCache>
                <c:ptCount val="1"/>
                <c:pt idx="0">
                  <c:v>South Asia &amp; Pacific</c:v>
                </c:pt>
              </c:strCache>
            </c:strRef>
          </c:tx>
          <c:spPr>
            <a:solidFill>
              <a:srgbClr val="0E2A5C"/>
            </a:solidFill>
            <a:ln>
              <a:noFill/>
            </a:ln>
          </c:spPr>
          <c:dLbls>
            <c:dLbl>
              <c:idx val="0"/>
              <c:numFmt formatCode="&quot;&quot;" sourceLinked="0"/>
              <c:dLblPos val="ctr"/>
              <c:showLegendKey val="0"/>
              <c:showVal val="1"/>
              <c:showCatName val="0"/>
              <c:showSerName val="0"/>
              <c:showPercent val="0"/>
              <c:showBubbleSize val="0"/>
            </c:dLbl>
            <c:dLbl>
              <c:idx val="1"/>
              <c:numFmt formatCode="&quot;&quot;" sourceLinked="0"/>
              <c:dLblPos val="ctr"/>
              <c:showLegendKey val="0"/>
              <c:showVal val="1"/>
              <c:showCatName val="0"/>
              <c:showSerName val="0"/>
              <c:showPercent val="0"/>
              <c:showBubbleSize val="0"/>
            </c:dLbl>
            <c:dLbl>
              <c:idx val="2"/>
              <c:numFmt formatCode="&quot;&quot;" sourceLinked="0"/>
              <c:dLblPos val="ctr"/>
              <c:showLegendKey val="0"/>
              <c:showVal val="1"/>
              <c:showCatName val="0"/>
              <c:showSerName val="0"/>
              <c:showPercent val="0"/>
              <c:showBubbleSize val="0"/>
            </c:dLbl>
            <c:dLbl>
              <c:idx val="3"/>
              <c:numFmt formatCode="&quot;&quot;" sourceLinked="0"/>
              <c:dLblPos val="ctr"/>
              <c:showLegendKey val="0"/>
              <c:showVal val="1"/>
              <c:showCatName val="0"/>
              <c:showSerName val="0"/>
              <c:showPercent val="0"/>
              <c:showBubbleSize val="0"/>
            </c:dLbl>
            <c:dLbl>
              <c:idx val="4"/>
              <c:numFmt formatCode="&quot;&quot;" sourceLinked="0"/>
              <c:dLblPos val="ctr"/>
              <c:showLegendKey val="0"/>
              <c:showVal val="1"/>
              <c:showCatName val="0"/>
              <c:showSerName val="0"/>
              <c:showPercent val="0"/>
              <c:showBubbleSize val="0"/>
            </c:dLbl>
            <c:dLbl>
              <c:idx val="5"/>
              <c:numFmt formatCode="&quot;&quot;" sourceLinked="0"/>
              <c:dLblPos val="ctr"/>
              <c:showLegendKey val="0"/>
              <c:showVal val="1"/>
              <c:showCatName val="0"/>
              <c:showSerName val="0"/>
              <c:showPercent val="0"/>
              <c:showBubbleSize val="0"/>
            </c:dLbl>
            <c:dLbl>
              <c:idx val="6"/>
              <c:numFmt formatCode="&quot;&quot;" sourceLinked="0"/>
              <c:dLblPos val="ctr"/>
              <c:showLegendKey val="0"/>
              <c:showVal val="1"/>
              <c:showCatName val="0"/>
              <c:showSerName val="0"/>
              <c:showPercent val="0"/>
              <c:showBubbleSize val="0"/>
            </c:dLbl>
            <c:dLbl>
              <c:idx val="7"/>
              <c:numFmt formatCode="&quot;&quot;" sourceLinked="0"/>
              <c:dLblPos val="ctr"/>
              <c:showLegendKey val="0"/>
              <c:showVal val="1"/>
              <c:showCatName val="0"/>
              <c:showSerName val="0"/>
              <c:showPercent val="0"/>
              <c:showBubbleSize val="0"/>
            </c:dLbl>
            <c:dLbl>
              <c:idx val="8"/>
              <c:numFmt formatCode="&quot;&quot;" sourceLinked="0"/>
              <c:dLblPos val="ctr"/>
              <c:showLegendKey val="0"/>
              <c:showVal val="1"/>
              <c:showCatName val="0"/>
              <c:showSerName val="0"/>
              <c:showPercent val="0"/>
              <c:showBubbleSize val="0"/>
            </c:dLbl>
            <c:dLbl>
              <c:idx val="9"/>
              <c:numFmt formatCode="&quot;&quot;" sourceLinked="0"/>
              <c:dLblPos val="ctr"/>
              <c:showLegendKey val="0"/>
              <c:showVal val="1"/>
              <c:showCatName val="0"/>
              <c:showSerName val="0"/>
              <c:showPercent val="0"/>
              <c:showBubbleSize val="0"/>
            </c:dLbl>
            <c:dLbl>
              <c:idx val="10"/>
              <c:numFmt formatCode="&quot;&quot;" sourceLinked="0"/>
              <c:dLblPos val="ctr"/>
              <c:showLegendKey val="0"/>
              <c:showVal val="1"/>
              <c:showCatName val="0"/>
              <c:showSerName val="0"/>
              <c:showPercent val="0"/>
              <c:showBubbleSize val="0"/>
            </c:dLbl>
            <c:dLbl>
              <c:idx val="11"/>
              <c:numFmt formatCode="&quot;&quot;" sourceLinked="0"/>
              <c:dLblPos val="ctr"/>
              <c:showLegendKey val="0"/>
              <c:showVal val="1"/>
              <c:showCatName val="0"/>
              <c:showSerName val="0"/>
              <c:showPercent val="0"/>
              <c:showBubbleSize val="0"/>
            </c:dLbl>
            <c:dLbl>
              <c:idx val="12"/>
              <c:numFmt formatCode="&quot;&quot;" sourceLinked="0"/>
              <c:dLblPos val="ctr"/>
              <c:showLegendKey val="0"/>
              <c:showVal val="1"/>
              <c:showCatName val="0"/>
              <c:showSerName val="0"/>
              <c:showPercent val="0"/>
              <c:showBubbleSize val="0"/>
            </c:dLbl>
            <c:dLbl>
              <c:idx val="13"/>
              <c:numFmt formatCode="&quot;&quot;" sourceLinked="0"/>
              <c:dLblPos val="ctr"/>
              <c:showLegendKey val="0"/>
              <c:showVal val="1"/>
              <c:showCatName val="0"/>
              <c:showSerName val="0"/>
              <c:showPercent val="0"/>
              <c:showBubbleSize val="0"/>
            </c:dLbl>
            <c:dLbl>
              <c:idx val="14"/>
              <c:numFmt formatCode="&quot;&quot;" sourceLinked="0"/>
              <c:dLblPos val="ctr"/>
              <c:showLegendKey val="0"/>
              <c:showVal val="1"/>
              <c:showCatName val="0"/>
              <c:showSerName val="0"/>
              <c:showPercent val="0"/>
              <c:showBubbleSize val="0"/>
            </c:dLbl>
            <c:dLbl>
              <c:idx val="1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66589.442</c:v>
                </c:pt>
                <c:pt idx="1">
                  <c:v>69895.807</c:v>
                </c:pt>
                <c:pt idx="2">
                  <c:v>73373.499</c:v>
                </c:pt>
                <c:pt idx="3">
                  <c:v>77031.68</c:v>
                </c:pt>
                <c:pt idx="4">
                  <c:v>80880.023</c:v>
                </c:pt>
                <c:pt idx="5">
                  <c:v>84928.728</c:v>
                </c:pt>
                <c:pt idx="6">
                  <c:v>89868.102</c:v>
                </c:pt>
                <c:pt idx="7">
                  <c:v>95103.551</c:v>
                </c:pt>
                <c:pt idx="8">
                  <c:v>100653.248</c:v>
                </c:pt>
                <c:pt idx="9">
                  <c:v>106536.506</c:v>
                </c:pt>
                <c:pt idx="10">
                  <c:v>112773.852</c:v>
                </c:pt>
                <c:pt idx="11">
                  <c:v>119387.088</c:v>
                </c:pt>
                <c:pt idx="12">
                  <c:v>126399.394</c:v>
                </c:pt>
                <c:pt idx="13">
                  <c:v>133835.397</c:v>
                </c:pt>
                <c:pt idx="14">
                  <c:v>141721.278</c:v>
                </c:pt>
                <c:pt idx="15">
                  <c:v>150084.855</c:v>
                </c:pt>
              </c:numCache>
            </c:numRef>
          </c:val>
        </c:ser>
        <c:ser>
          <c:idx val="3"/>
          <c:order val="3"/>
          <c:tx>
            <c:strRef>
              <c:strCache>
                <c:ptCount val="1"/>
                <c:pt idx="0">
                  <c:v>East Asia</c:v>
                </c:pt>
              </c:strCache>
            </c:strRef>
          </c:tx>
          <c:spPr>
            <a:solidFill>
              <a:srgbClr val="00ACAC"/>
            </a:solidFill>
            <a:ln>
              <a:noFill/>
            </a:ln>
          </c:spPr>
          <c:dLbls>
            <c:dLbl>
              <c:idx val="0"/>
              <c:numFmt formatCode="&quot;&quot;" sourceLinked="0"/>
              <c:dLblPos val="ctr"/>
              <c:showLegendKey val="0"/>
              <c:showVal val="1"/>
              <c:showCatName val="0"/>
              <c:showSerName val="0"/>
              <c:showPercent val="0"/>
              <c:showBubbleSize val="0"/>
            </c:dLbl>
            <c:dLbl>
              <c:idx val="1"/>
              <c:numFmt formatCode="&quot;&quot;" sourceLinked="0"/>
              <c:dLblPos val="ctr"/>
              <c:showLegendKey val="0"/>
              <c:showVal val="1"/>
              <c:showCatName val="0"/>
              <c:showSerName val="0"/>
              <c:showPercent val="0"/>
              <c:showBubbleSize val="0"/>
            </c:dLbl>
            <c:dLbl>
              <c:idx val="2"/>
              <c:numFmt formatCode="&quot;&quot;" sourceLinked="0"/>
              <c:dLblPos val="ctr"/>
              <c:showLegendKey val="0"/>
              <c:showVal val="1"/>
              <c:showCatName val="0"/>
              <c:showSerName val="0"/>
              <c:showPercent val="0"/>
              <c:showBubbleSize val="0"/>
            </c:dLbl>
            <c:dLbl>
              <c:idx val="3"/>
              <c:numFmt formatCode="&quot;&quot;" sourceLinked="0"/>
              <c:dLblPos val="ctr"/>
              <c:showLegendKey val="0"/>
              <c:showVal val="1"/>
              <c:showCatName val="0"/>
              <c:showSerName val="0"/>
              <c:showPercent val="0"/>
              <c:showBubbleSize val="0"/>
            </c:dLbl>
            <c:dLbl>
              <c:idx val="4"/>
              <c:numFmt formatCode="&quot;&quot;" sourceLinked="0"/>
              <c:dLblPos val="ctr"/>
              <c:showLegendKey val="0"/>
              <c:showVal val="1"/>
              <c:showCatName val="0"/>
              <c:showSerName val="0"/>
              <c:showPercent val="0"/>
              <c:showBubbleSize val="0"/>
            </c:dLbl>
            <c:dLbl>
              <c:idx val="5"/>
              <c:numFmt formatCode="&quot;&quot;" sourceLinked="0"/>
              <c:dLblPos val="ctr"/>
              <c:showLegendKey val="0"/>
              <c:showVal val="1"/>
              <c:showCatName val="0"/>
              <c:showSerName val="0"/>
              <c:showPercent val="0"/>
              <c:showBubbleSize val="0"/>
            </c:dLbl>
            <c:dLbl>
              <c:idx val="6"/>
              <c:numFmt formatCode="&quot;&quot;" sourceLinked="0"/>
              <c:dLblPos val="ctr"/>
              <c:showLegendKey val="0"/>
              <c:showVal val="1"/>
              <c:showCatName val="0"/>
              <c:showSerName val="0"/>
              <c:showPercent val="0"/>
              <c:showBubbleSize val="0"/>
            </c:dLbl>
            <c:dLbl>
              <c:idx val="7"/>
              <c:numFmt formatCode="&quot;&quot;" sourceLinked="0"/>
              <c:dLblPos val="ctr"/>
              <c:showLegendKey val="0"/>
              <c:showVal val="1"/>
              <c:showCatName val="0"/>
              <c:showSerName val="0"/>
              <c:showPercent val="0"/>
              <c:showBubbleSize val="0"/>
            </c:dLbl>
            <c:dLbl>
              <c:idx val="8"/>
              <c:numFmt formatCode="&quot;&quot;" sourceLinked="0"/>
              <c:dLblPos val="ctr"/>
              <c:showLegendKey val="0"/>
              <c:showVal val="1"/>
              <c:showCatName val="0"/>
              <c:showSerName val="0"/>
              <c:showPercent val="0"/>
              <c:showBubbleSize val="0"/>
            </c:dLbl>
            <c:dLbl>
              <c:idx val="9"/>
              <c:numFmt formatCode="&quot;&quot;" sourceLinked="0"/>
              <c:dLblPos val="ctr"/>
              <c:showLegendKey val="0"/>
              <c:showVal val="1"/>
              <c:showCatName val="0"/>
              <c:showSerName val="0"/>
              <c:showPercent val="0"/>
              <c:showBubbleSize val="0"/>
            </c:dLbl>
            <c:dLbl>
              <c:idx val="10"/>
              <c:numFmt formatCode="&quot;&quot;" sourceLinked="0"/>
              <c:dLblPos val="ctr"/>
              <c:showLegendKey val="0"/>
              <c:showVal val="1"/>
              <c:showCatName val="0"/>
              <c:showSerName val="0"/>
              <c:showPercent val="0"/>
              <c:showBubbleSize val="0"/>
            </c:dLbl>
            <c:dLbl>
              <c:idx val="11"/>
              <c:numFmt formatCode="&quot;&quot;" sourceLinked="0"/>
              <c:dLblPos val="ctr"/>
              <c:showLegendKey val="0"/>
              <c:showVal val="1"/>
              <c:showCatName val="0"/>
              <c:showSerName val="0"/>
              <c:showPercent val="0"/>
              <c:showBubbleSize val="0"/>
            </c:dLbl>
            <c:dLbl>
              <c:idx val="12"/>
              <c:numFmt formatCode="&quot;&quot;" sourceLinked="0"/>
              <c:dLblPos val="ctr"/>
              <c:showLegendKey val="0"/>
              <c:showVal val="1"/>
              <c:showCatName val="0"/>
              <c:showSerName val="0"/>
              <c:showPercent val="0"/>
              <c:showBubbleSize val="0"/>
            </c:dLbl>
            <c:dLbl>
              <c:idx val="13"/>
              <c:numFmt formatCode="&quot;&quot;" sourceLinked="0"/>
              <c:dLblPos val="ctr"/>
              <c:showLegendKey val="0"/>
              <c:showVal val="1"/>
              <c:showCatName val="0"/>
              <c:showSerName val="0"/>
              <c:showPercent val="0"/>
              <c:showBubbleSize val="0"/>
            </c:dLbl>
            <c:dLbl>
              <c:idx val="14"/>
              <c:numFmt formatCode="&quot;&quot;" sourceLinked="0"/>
              <c:dLblPos val="ctr"/>
              <c:showLegendKey val="0"/>
              <c:showVal val="1"/>
              <c:showCatName val="0"/>
              <c:showSerName val="0"/>
              <c:showPercent val="0"/>
              <c:showBubbleSize val="0"/>
            </c:dLbl>
            <c:dLbl>
              <c:idx val="1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65819.8</c:v>
                </c:pt>
                <c:pt idx="1">
                  <c:v>68431.926</c:v>
                </c:pt>
                <c:pt idx="2">
                  <c:v>71149.201</c:v>
                </c:pt>
                <c:pt idx="3">
                  <c:v>73975.903</c:v>
                </c:pt>
                <c:pt idx="4">
                  <c:v>76916.495</c:v>
                </c:pt>
                <c:pt idx="5">
                  <c:v>79975.621</c:v>
                </c:pt>
                <c:pt idx="6">
                  <c:v>83797.711</c:v>
                </c:pt>
                <c:pt idx="7">
                  <c:v>87804.229</c:v>
                </c:pt>
                <c:pt idx="8">
                  <c:v>92004.15</c:v>
                </c:pt>
                <c:pt idx="9">
                  <c:v>96406.887</c:v>
                </c:pt>
                <c:pt idx="10">
                  <c:v>101022.318</c:v>
                </c:pt>
                <c:pt idx="11">
                  <c:v>105860.8</c:v>
                </c:pt>
                <c:pt idx="12">
                  <c:v>110933.207</c:v>
                </c:pt>
                <c:pt idx="13">
                  <c:v>116250.939</c:v>
                </c:pt>
                <c:pt idx="14">
                  <c:v>121825.957</c:v>
                </c:pt>
                <c:pt idx="15">
                  <c:v>127670.814</c:v>
                </c:pt>
              </c:numCache>
            </c:numRef>
          </c:val>
        </c:ser>
        <c:ser>
          <c:idx val="4"/>
          <c:order val="4"/>
          <c:tx>
            <c:strRef>
              <c:strCache>
                <c:ptCount val="1"/>
                <c:pt idx="0">
                  <c:v>Latin America</c:v>
                </c:pt>
              </c:strCache>
            </c:strRef>
          </c:tx>
          <c:spPr>
            <a:solidFill>
              <a:srgbClr val="F47620"/>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dLblPos val="ctr"/>
              <c:showLegendKey val="0"/>
              <c:showVal val="1"/>
              <c:showCatName val="0"/>
              <c:showSerName val="0"/>
              <c:showPercent val="0"/>
              <c:showBubbleSize val="0"/>
            </c:dLbl>
            <c:dLbl>
              <c:idx val="8"/>
              <c:numFmt formatCode="&quot;&quot;" sourceLinked="0"/>
              <c:dLblPos val="ctr"/>
              <c:showLegendKey val="0"/>
              <c:showVal val="1"/>
              <c:showCatName val="0"/>
              <c:showSerName val="0"/>
              <c:showPercent val="0"/>
              <c:showBubbleSize val="0"/>
            </c:dLbl>
            <c:dLbl>
              <c:idx val="9"/>
              <c:numFmt formatCode="&quot;&quot;" sourceLinked="0"/>
              <c:dLblPos val="ctr"/>
              <c:showLegendKey val="0"/>
              <c:showVal val="1"/>
              <c:showCatName val="0"/>
              <c:showSerName val="0"/>
              <c:showPercent val="0"/>
              <c:showBubbleSize val="0"/>
            </c:dLbl>
            <c:dLbl>
              <c:idx val="10"/>
              <c:numFmt formatCode="&quot;&quot;" sourceLinked="0"/>
              <c:dLblPos val="ctr"/>
              <c:showLegendKey val="0"/>
              <c:showVal val="1"/>
              <c:showCatName val="0"/>
              <c:showSerName val="0"/>
              <c:showPercent val="0"/>
              <c:showBubbleSize val="0"/>
            </c:dLbl>
            <c:dLbl>
              <c:idx val="11"/>
              <c:numFmt formatCode="&quot;&quot;" sourceLinked="0"/>
              <c:dLblPos val="ctr"/>
              <c:showLegendKey val="0"/>
              <c:showVal val="1"/>
              <c:showCatName val="0"/>
              <c:showSerName val="0"/>
              <c:showPercent val="0"/>
              <c:showBubbleSize val="0"/>
            </c:dLbl>
            <c:dLbl>
              <c:idx val="12"/>
              <c:numFmt formatCode="&quot;&quot;" sourceLinked="0"/>
              <c:dLblPos val="ctr"/>
              <c:showLegendKey val="0"/>
              <c:showVal val="1"/>
              <c:showCatName val="0"/>
              <c:showSerName val="0"/>
              <c:showPercent val="0"/>
              <c:showBubbleSize val="0"/>
            </c:dLbl>
            <c:dLbl>
              <c:idx val="13"/>
              <c:numFmt formatCode="&quot;&quot;" sourceLinked="0"/>
              <c:dLblPos val="ctr"/>
              <c:showLegendKey val="0"/>
              <c:showVal val="1"/>
              <c:showCatName val="0"/>
              <c:showSerName val="0"/>
              <c:showPercent val="0"/>
              <c:showBubbleSize val="0"/>
            </c:dLbl>
            <c:dLbl>
              <c:idx val="14"/>
              <c:numFmt formatCode="&quot;&quot;" sourceLinked="0"/>
              <c:dLblPos val="ctr"/>
              <c:showLegendKey val="0"/>
              <c:showVal val="1"/>
              <c:showCatName val="0"/>
              <c:showSerName val="0"/>
              <c:showPercent val="0"/>
              <c:showBubbleSize val="0"/>
            </c:dLbl>
            <c:dLbl>
              <c:idx val="1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30293.156</c:v>
                </c:pt>
                <c:pt idx="1">
                  <c:v>31466.494</c:v>
                </c:pt>
                <c:pt idx="2">
                  <c:v>32686.572</c:v>
                </c:pt>
                <c:pt idx="3">
                  <c:v>33955.295</c:v>
                </c:pt>
                <c:pt idx="4">
                  <c:v>35274.648</c:v>
                </c:pt>
                <c:pt idx="5">
                  <c:v>36646.699</c:v>
                </c:pt>
                <c:pt idx="6">
                  <c:v>38364.992</c:v>
                </c:pt>
                <c:pt idx="7">
                  <c:v>40165.389</c:v>
                </c:pt>
                <c:pt idx="8">
                  <c:v>42051.877</c:v>
                </c:pt>
                <c:pt idx="9">
                  <c:v>44028.646</c:v>
                </c:pt>
                <c:pt idx="10">
                  <c:v>46100.085</c:v>
                </c:pt>
                <c:pt idx="11">
                  <c:v>48270.799</c:v>
                </c:pt>
                <c:pt idx="12">
                  <c:v>50545.629</c:v>
                </c:pt>
                <c:pt idx="13">
                  <c:v>52929.646</c:v>
                </c:pt>
                <c:pt idx="14">
                  <c:v>55428.175</c:v>
                </c:pt>
                <c:pt idx="15">
                  <c:v>58046.807</c:v>
                </c:pt>
              </c:numCache>
            </c:numRef>
          </c:val>
        </c:ser>
        <c:ser>
          <c:idx val="5"/>
          <c:order val="5"/>
          <c:tx>
            <c:strRef>
              <c:strCache>
                <c:ptCount val="1"/>
                <c:pt idx="0">
                  <c:v>Middle East and Africa</c:v>
                </c:pt>
              </c:strCache>
            </c:strRef>
          </c:tx>
          <c:spPr>
            <a:solidFill>
              <a:srgbClr val="79C3EC"/>
            </a:solidFill>
            <a:ln>
              <a:noFill/>
            </a:ln>
          </c:spPr>
          <c:dLbls>
            <c:dLbl>
              <c:layout>
                <c:manualLayout>
                  <c:x val="0"/>
                  <c:y val="-0.0830"/>
                </c:manualLayout>
              </c:layout>
              <c:idx val="0"/>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2"/>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3"/>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4"/>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5"/>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6"/>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7"/>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8"/>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9"/>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0"/>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1"/>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2"/>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3"/>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4"/>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5"/>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27010.063</c:v>
                </c:pt>
                <c:pt idx="1">
                  <c:v>27960.787</c:v>
                </c:pt>
                <c:pt idx="2">
                  <c:v>28946.855</c:v>
                </c:pt>
                <c:pt idx="3">
                  <c:v>29969.664</c:v>
                </c:pt>
                <c:pt idx="4">
                  <c:v>31030.664</c:v>
                </c:pt>
                <c:pt idx="5">
                  <c:v>32131.378</c:v>
                </c:pt>
                <c:pt idx="6">
                  <c:v>33529.281</c:v>
                </c:pt>
                <c:pt idx="7">
                  <c:v>34990.356</c:v>
                </c:pt>
                <c:pt idx="8">
                  <c:v>36517.577</c:v>
                </c:pt>
                <c:pt idx="9">
                  <c:v>38114.067</c:v>
                </c:pt>
                <c:pt idx="10">
                  <c:v>39783.106</c:v>
                </c:pt>
                <c:pt idx="11">
                  <c:v>41528.136</c:v>
                </c:pt>
                <c:pt idx="12">
                  <c:v>43352.768</c:v>
                </c:pt>
                <c:pt idx="13">
                  <c:v>45260.788</c:v>
                </c:pt>
                <c:pt idx="14">
                  <c:v>47256.179</c:v>
                </c:pt>
                <c:pt idx="15">
                  <c:v>49343.114</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North America</c:v>
                </c:pt>
              </c:strCache>
            </c:strRef>
          </c:tx>
          <c:spPr>
            <a:solidFill>
              <a:srgbClr val="2A5F8F"/>
            </a:solidFill>
            <a:ln>
              <a:noFill/>
            </a:ln>
          </c:spPr>
          <c:dLbls>
            <c:dLbl>
              <c:idx val="0"/>
              <c:numFmt formatCode="&quot;&quot;" sourceLinked="0"/>
              <c:dLblPos val="ctr"/>
              <c:showLegendKey val="0"/>
              <c:showVal val="1"/>
              <c:showCatName val="0"/>
              <c:showSerName val="0"/>
              <c:showPercent val="0"/>
              <c:showBubbleSize val="0"/>
            </c:dLbl>
            <c:dLbl>
              <c:idx val="1"/>
              <c:numFmt formatCode="&quot;&quot;" sourceLinked="0"/>
              <c:dLblPos val="ctr"/>
              <c:showLegendKey val="0"/>
              <c:showVal val="1"/>
              <c:showCatName val="0"/>
              <c:showSerName val="0"/>
              <c:showPercent val="0"/>
              <c:showBubbleSize val="0"/>
            </c:dLbl>
            <c:dLbl>
              <c:idx val="2"/>
              <c:numFmt formatCode="&quot;&quot;" sourceLinked="0"/>
              <c:dLblPos val="ctr"/>
              <c:showLegendKey val="0"/>
              <c:showVal val="1"/>
              <c:showCatName val="0"/>
              <c:showSerName val="0"/>
              <c:showPercent val="0"/>
              <c:showBubbleSize val="0"/>
            </c:dLbl>
            <c:dLbl>
              <c:idx val="3"/>
              <c:numFmt formatCode="&quot;&quot;" sourceLinked="0"/>
              <c:dLblPos val="ctr"/>
              <c:showLegendKey val="0"/>
              <c:showVal val="1"/>
              <c:showCatName val="0"/>
              <c:showSerName val="0"/>
              <c:showPercent val="0"/>
              <c:showBubbleSize val="0"/>
            </c:dLbl>
            <c:dLbl>
              <c:idx val="4"/>
              <c:numFmt formatCode="&quot;&quot;" sourceLinked="0"/>
              <c:dLblPos val="ctr"/>
              <c:showLegendKey val="0"/>
              <c:showVal val="1"/>
              <c:showCatName val="0"/>
              <c:showSerName val="0"/>
              <c:showPercent val="0"/>
              <c:showBubbleSize val="0"/>
            </c:dLbl>
            <c:dLbl>
              <c:idx val="5"/>
              <c:numFmt formatCode="&quot;&quot;" sourceLinked="0"/>
              <c:dLblPos val="ctr"/>
              <c:showLegendKey val="0"/>
              <c:showVal val="1"/>
              <c:showCatName val="0"/>
              <c:showSerName val="0"/>
              <c:showPercent val="0"/>
              <c:showBubbleSize val="0"/>
            </c:dLbl>
            <c:dLbl>
              <c:idx val="6"/>
              <c:numFmt formatCode="&quot;&quot;" sourceLinked="0"/>
              <c:dLblPos val="ctr"/>
              <c:showLegendKey val="0"/>
              <c:showVal val="1"/>
              <c:showCatName val="0"/>
              <c:showSerName val="0"/>
              <c:showPercent val="0"/>
              <c:showBubbleSize val="0"/>
            </c:dLbl>
            <c:dLbl>
              <c:idx val="7"/>
              <c:numFmt formatCode="&quot;&quot;" sourceLinked="0"/>
              <c:dLblPos val="ctr"/>
              <c:showLegendKey val="0"/>
              <c:showVal val="1"/>
              <c:showCatName val="0"/>
              <c:showSerName val="0"/>
              <c:showPercent val="0"/>
              <c:showBubbleSize val="0"/>
            </c:dLbl>
            <c:dLbl>
              <c:idx val="8"/>
              <c:numFmt formatCode="&quot;&quot;" sourceLinked="0"/>
              <c:dLblPos val="ctr"/>
              <c:showLegendKey val="0"/>
              <c:showVal val="1"/>
              <c:showCatName val="0"/>
              <c:showSerName val="0"/>
              <c:showPercent val="0"/>
              <c:showBubbleSize val="0"/>
            </c:dLbl>
            <c:dLbl>
              <c:idx val="9"/>
              <c:numFmt formatCode="&quot;&quot;" sourceLinked="0"/>
              <c:dLblPos val="ctr"/>
              <c:showLegendKey val="0"/>
              <c:showVal val="1"/>
              <c:showCatName val="0"/>
              <c:showSerName val="0"/>
              <c:showPercent val="0"/>
              <c:showBubbleSize val="0"/>
            </c:dLbl>
            <c:dLbl>
              <c:idx val="10"/>
              <c:numFmt formatCode="&quot;&quot;" sourceLinked="0"/>
              <c:dLblPos val="ctr"/>
              <c:showLegendKey val="0"/>
              <c:showVal val="1"/>
              <c:showCatName val="0"/>
              <c:showSerName val="0"/>
              <c:showPercent val="0"/>
              <c:showBubbleSize val="0"/>
            </c:dLbl>
            <c:dLbl>
              <c:idx val="11"/>
              <c:numFmt formatCode="&quot;&quot;" sourceLinked="0"/>
              <c:dLblPos val="ctr"/>
              <c:showLegendKey val="0"/>
              <c:showVal val="1"/>
              <c:showCatName val="0"/>
              <c:showSerName val="0"/>
              <c:showPercent val="0"/>
              <c:showBubbleSize val="0"/>
            </c:dLbl>
            <c:dLbl>
              <c:idx val="12"/>
              <c:numFmt formatCode="&quot;&quot;" sourceLinked="0"/>
              <c:dLblPos val="ctr"/>
              <c:showLegendKey val="0"/>
              <c:showVal val="1"/>
              <c:showCatName val="0"/>
              <c:showSerName val="0"/>
              <c:showPercent val="0"/>
              <c:showBubbleSize val="0"/>
            </c:dLbl>
            <c:dLbl>
              <c:idx val="13"/>
              <c:numFmt formatCode="&quot;&quot;" sourceLinked="0"/>
              <c:dLblPos val="ctr"/>
              <c:showLegendKey val="0"/>
              <c:showVal val="1"/>
              <c:showCatName val="0"/>
              <c:showSerName val="0"/>
              <c:showPercent val="0"/>
              <c:showBubbleSize val="0"/>
            </c:dLbl>
            <c:dLbl>
              <c:idx val="14"/>
              <c:numFmt formatCode="&quot;&quot;" sourceLinked="0"/>
              <c:dLblPos val="ctr"/>
              <c:showLegendKey val="0"/>
              <c:showVal val="1"/>
              <c:showCatName val="0"/>
              <c:showSerName val="0"/>
              <c:showPercent val="0"/>
              <c:showBubbleSize val="0"/>
            </c:dLbl>
            <c:dLbl>
              <c:idx val="1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3072.458</c:v>
                </c:pt>
                <c:pt idx="1">
                  <c:v>3172.183</c:v>
                </c:pt>
                <c:pt idx="2">
                  <c:v>3275.179</c:v>
                </c:pt>
                <c:pt idx="3">
                  <c:v>3381.555</c:v>
                </c:pt>
                <c:pt idx="4">
                  <c:v>3491.422</c:v>
                </c:pt>
                <c:pt idx="5">
                  <c:v>3604.898</c:v>
                </c:pt>
                <c:pt idx="6">
                  <c:v>3750.939</c:v>
                </c:pt>
                <c:pt idx="7">
                  <c:v>3902.938</c:v>
                </c:pt>
                <c:pt idx="8">
                  <c:v>4061.139</c:v>
                </c:pt>
                <c:pt idx="9">
                  <c:v>4225.796</c:v>
                </c:pt>
                <c:pt idx="10">
                  <c:v>4397.176</c:v>
                </c:pt>
                <c:pt idx="11">
                  <c:v>4575.553</c:v>
                </c:pt>
                <c:pt idx="12">
                  <c:v>4761.217</c:v>
                </c:pt>
                <c:pt idx="13">
                  <c:v>4954.467</c:v>
                </c:pt>
                <c:pt idx="14">
                  <c:v>5155.616</c:v>
                </c:pt>
                <c:pt idx="15">
                  <c:v>5364.988</c:v>
                </c:pt>
              </c:numCache>
            </c:numRef>
          </c:val>
        </c:ser>
        <c:ser>
          <c:idx val="1"/>
          <c:order val="1"/>
          <c:tx>
            <c:strRef>
              <c:strCache>
                <c:ptCount val="1"/>
                <c:pt idx="0">
                  <c:v>Europe</c:v>
                </c:pt>
              </c:strCache>
            </c:strRef>
          </c:tx>
          <c:spPr>
            <a:solidFill>
              <a:srgbClr val="0081E2"/>
            </a:solidFill>
            <a:ln>
              <a:noFill/>
            </a:ln>
          </c:spPr>
          <c:dLbls>
            <c:dLbl>
              <c:idx val="0"/>
              <c:numFmt formatCode="&quot;&quot;" sourceLinked="0"/>
              <c:dLblPos val="ctr"/>
              <c:showLegendKey val="0"/>
              <c:showVal val="1"/>
              <c:showCatName val="0"/>
              <c:showSerName val="0"/>
              <c:showPercent val="0"/>
              <c:showBubbleSize val="0"/>
            </c:dLbl>
            <c:dLbl>
              <c:idx val="1"/>
              <c:numFmt formatCode="&quot;&quot;" sourceLinked="0"/>
              <c:dLblPos val="ctr"/>
              <c:showLegendKey val="0"/>
              <c:showVal val="1"/>
              <c:showCatName val="0"/>
              <c:showSerName val="0"/>
              <c:showPercent val="0"/>
              <c:showBubbleSize val="0"/>
            </c:dLbl>
            <c:dLbl>
              <c:idx val="2"/>
              <c:numFmt formatCode="&quot;&quot;" sourceLinked="0"/>
              <c:dLblPos val="ctr"/>
              <c:showLegendKey val="0"/>
              <c:showVal val="1"/>
              <c:showCatName val="0"/>
              <c:showSerName val="0"/>
              <c:showPercent val="0"/>
              <c:showBubbleSize val="0"/>
            </c:dLbl>
            <c:dLbl>
              <c:idx val="3"/>
              <c:numFmt formatCode="&quot;&quot;" sourceLinked="0"/>
              <c:dLblPos val="ctr"/>
              <c:showLegendKey val="0"/>
              <c:showVal val="1"/>
              <c:showCatName val="0"/>
              <c:showSerName val="0"/>
              <c:showPercent val="0"/>
              <c:showBubbleSize val="0"/>
            </c:dLbl>
            <c:dLbl>
              <c:idx val="4"/>
              <c:numFmt formatCode="&quot;&quot;" sourceLinked="0"/>
              <c:dLblPos val="ctr"/>
              <c:showLegendKey val="0"/>
              <c:showVal val="1"/>
              <c:showCatName val="0"/>
              <c:showSerName val="0"/>
              <c:showPercent val="0"/>
              <c:showBubbleSize val="0"/>
            </c:dLbl>
            <c:dLbl>
              <c:idx val="5"/>
              <c:numFmt formatCode="&quot;&quot;" sourceLinked="0"/>
              <c:dLblPos val="ctr"/>
              <c:showLegendKey val="0"/>
              <c:showVal val="1"/>
              <c:showCatName val="0"/>
              <c:showSerName val="0"/>
              <c:showPercent val="0"/>
              <c:showBubbleSize val="0"/>
            </c:dLbl>
            <c:dLbl>
              <c:idx val="6"/>
              <c:numFmt formatCode="&quot;&quot;" sourceLinked="0"/>
              <c:dLblPos val="ctr"/>
              <c:showLegendKey val="0"/>
              <c:showVal val="1"/>
              <c:showCatName val="0"/>
              <c:showSerName val="0"/>
              <c:showPercent val="0"/>
              <c:showBubbleSize val="0"/>
            </c:dLbl>
            <c:dLbl>
              <c:idx val="7"/>
              <c:numFmt formatCode="&quot;&quot;" sourceLinked="0"/>
              <c:dLblPos val="ctr"/>
              <c:showLegendKey val="0"/>
              <c:showVal val="1"/>
              <c:showCatName val="0"/>
              <c:showSerName val="0"/>
              <c:showPercent val="0"/>
              <c:showBubbleSize val="0"/>
            </c:dLbl>
            <c:dLbl>
              <c:idx val="8"/>
              <c:numFmt formatCode="&quot;&quot;" sourceLinked="0"/>
              <c:dLblPos val="ctr"/>
              <c:showLegendKey val="0"/>
              <c:showVal val="1"/>
              <c:showCatName val="0"/>
              <c:showSerName val="0"/>
              <c:showPercent val="0"/>
              <c:showBubbleSize val="0"/>
            </c:dLbl>
            <c:dLbl>
              <c:idx val="9"/>
              <c:numFmt formatCode="&quot;&quot;" sourceLinked="0"/>
              <c:dLblPos val="ctr"/>
              <c:showLegendKey val="0"/>
              <c:showVal val="1"/>
              <c:showCatName val="0"/>
              <c:showSerName val="0"/>
              <c:showPercent val="0"/>
              <c:showBubbleSize val="0"/>
            </c:dLbl>
            <c:dLbl>
              <c:idx val="10"/>
              <c:numFmt formatCode="&quot;&quot;" sourceLinked="0"/>
              <c:dLblPos val="ctr"/>
              <c:showLegendKey val="0"/>
              <c:showVal val="1"/>
              <c:showCatName val="0"/>
              <c:showSerName val="0"/>
              <c:showPercent val="0"/>
              <c:showBubbleSize val="0"/>
            </c:dLbl>
            <c:dLbl>
              <c:idx val="11"/>
              <c:numFmt formatCode="&quot;&quot;" sourceLinked="0"/>
              <c:dLblPos val="ctr"/>
              <c:showLegendKey val="0"/>
              <c:showVal val="1"/>
              <c:showCatName val="0"/>
              <c:showSerName val="0"/>
              <c:showPercent val="0"/>
              <c:showBubbleSize val="0"/>
            </c:dLbl>
            <c:dLbl>
              <c:idx val="12"/>
              <c:numFmt formatCode="&quot;&quot;" sourceLinked="0"/>
              <c:dLblPos val="ctr"/>
              <c:showLegendKey val="0"/>
              <c:showVal val="1"/>
              <c:showCatName val="0"/>
              <c:showSerName val="0"/>
              <c:showPercent val="0"/>
              <c:showBubbleSize val="0"/>
            </c:dLbl>
            <c:dLbl>
              <c:idx val="13"/>
              <c:numFmt formatCode="&quot;&quot;" sourceLinked="0"/>
              <c:dLblPos val="ctr"/>
              <c:showLegendKey val="0"/>
              <c:showVal val="1"/>
              <c:showCatName val="0"/>
              <c:showSerName val="0"/>
              <c:showPercent val="0"/>
              <c:showBubbleSize val="0"/>
            </c:dLbl>
            <c:dLbl>
              <c:idx val="14"/>
              <c:numFmt formatCode="&quot;&quot;" sourceLinked="0"/>
              <c:dLblPos val="ctr"/>
              <c:showLegendKey val="0"/>
              <c:showVal val="1"/>
              <c:showCatName val="0"/>
              <c:showSerName val="0"/>
              <c:showPercent val="0"/>
              <c:showBubbleSize val="0"/>
            </c:dLbl>
            <c:dLbl>
              <c:idx val="1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2348.63</c:v>
                </c:pt>
                <c:pt idx="1">
                  <c:v>2457.492</c:v>
                </c:pt>
                <c:pt idx="2">
                  <c:v>2571.72</c:v>
                </c:pt>
                <c:pt idx="3">
                  <c:v>2691.594</c:v>
                </c:pt>
                <c:pt idx="4">
                  <c:v>2817.404</c:v>
                </c:pt>
                <c:pt idx="5">
                  <c:v>2949.463</c:v>
                </c:pt>
                <c:pt idx="6">
                  <c:v>3111.682</c:v>
                </c:pt>
                <c:pt idx="7">
                  <c:v>3283.214</c:v>
                </c:pt>
                <c:pt idx="8">
                  <c:v>3464.616</c:v>
                </c:pt>
                <c:pt idx="9">
                  <c:v>3656.472</c:v>
                </c:pt>
                <c:pt idx="10">
                  <c:v>3859.406</c:v>
                </c:pt>
                <c:pt idx="11">
                  <c:v>4074.077</c:v>
                </c:pt>
                <c:pt idx="12">
                  <c:v>4301.186</c:v>
                </c:pt>
                <c:pt idx="13">
                  <c:v>4541.475</c:v>
                </c:pt>
                <c:pt idx="14">
                  <c:v>4795.737</c:v>
                </c:pt>
                <c:pt idx="15">
                  <c:v>5064.804</c:v>
                </c:pt>
              </c:numCache>
            </c:numRef>
          </c:val>
        </c:ser>
        <c:ser>
          <c:idx val="2"/>
          <c:order val="2"/>
          <c:tx>
            <c:strRef>
              <c:strCache>
                <c:ptCount val="1"/>
                <c:pt idx="0">
                  <c:v>East Asia</c:v>
                </c:pt>
              </c:strCache>
            </c:strRef>
          </c:tx>
          <c:spPr>
            <a:solidFill>
              <a:srgbClr val="0E2A5C"/>
            </a:solidFill>
            <a:ln>
              <a:noFill/>
            </a:ln>
          </c:spPr>
          <c:dLbls>
            <c:dLbl>
              <c:idx val="0"/>
              <c:numFmt formatCode="&quot;&quot;" sourceLinked="0"/>
              <c:dLblPos val="ctr"/>
              <c:showLegendKey val="0"/>
              <c:showVal val="1"/>
              <c:showCatName val="0"/>
              <c:showSerName val="0"/>
              <c:showPercent val="0"/>
              <c:showBubbleSize val="0"/>
            </c:dLbl>
            <c:dLbl>
              <c:idx val="1"/>
              <c:numFmt formatCode="&quot;&quot;" sourceLinked="0"/>
              <c:dLblPos val="ctr"/>
              <c:showLegendKey val="0"/>
              <c:showVal val="1"/>
              <c:showCatName val="0"/>
              <c:showSerName val="0"/>
              <c:showPercent val="0"/>
              <c:showBubbleSize val="0"/>
            </c:dLbl>
            <c:dLbl>
              <c:idx val="2"/>
              <c:numFmt formatCode="&quot;&quot;" sourceLinked="0"/>
              <c:dLblPos val="ctr"/>
              <c:showLegendKey val="0"/>
              <c:showVal val="1"/>
              <c:showCatName val="0"/>
              <c:showSerName val="0"/>
              <c:showPercent val="0"/>
              <c:showBubbleSize val="0"/>
            </c:dLbl>
            <c:dLbl>
              <c:idx val="3"/>
              <c:numFmt formatCode="&quot;&quot;" sourceLinked="0"/>
              <c:dLblPos val="ctr"/>
              <c:showLegendKey val="0"/>
              <c:showVal val="1"/>
              <c:showCatName val="0"/>
              <c:showSerName val="0"/>
              <c:showPercent val="0"/>
              <c:showBubbleSize val="0"/>
            </c:dLbl>
            <c:dLbl>
              <c:idx val="4"/>
              <c:numFmt formatCode="&quot;&quot;" sourceLinked="0"/>
              <c:dLblPos val="ctr"/>
              <c:showLegendKey val="0"/>
              <c:showVal val="1"/>
              <c:showCatName val="0"/>
              <c:showSerName val="0"/>
              <c:showPercent val="0"/>
              <c:showBubbleSize val="0"/>
            </c:dLbl>
            <c:dLbl>
              <c:idx val="5"/>
              <c:numFmt formatCode="&quot;&quot;" sourceLinked="0"/>
              <c:dLblPos val="ctr"/>
              <c:showLegendKey val="0"/>
              <c:showVal val="1"/>
              <c:showCatName val="0"/>
              <c:showSerName val="0"/>
              <c:showPercent val="0"/>
              <c:showBubbleSize val="0"/>
            </c:dLbl>
            <c:dLbl>
              <c:idx val="6"/>
              <c:numFmt formatCode="&quot;&quot;" sourceLinked="0"/>
              <c:dLblPos val="ctr"/>
              <c:showLegendKey val="0"/>
              <c:showVal val="1"/>
              <c:showCatName val="0"/>
              <c:showSerName val="0"/>
              <c:showPercent val="0"/>
              <c:showBubbleSize val="0"/>
            </c:dLbl>
            <c:dLbl>
              <c:idx val="7"/>
              <c:numFmt formatCode="&quot;&quot;" sourceLinked="0"/>
              <c:dLblPos val="ctr"/>
              <c:showLegendKey val="0"/>
              <c:showVal val="1"/>
              <c:showCatName val="0"/>
              <c:showSerName val="0"/>
              <c:showPercent val="0"/>
              <c:showBubbleSize val="0"/>
            </c:dLbl>
            <c:dLbl>
              <c:idx val="8"/>
              <c:numFmt formatCode="&quot;&quot;" sourceLinked="0"/>
              <c:dLblPos val="ctr"/>
              <c:showLegendKey val="0"/>
              <c:showVal val="1"/>
              <c:showCatName val="0"/>
              <c:showSerName val="0"/>
              <c:showPercent val="0"/>
              <c:showBubbleSize val="0"/>
            </c:dLbl>
            <c:dLbl>
              <c:idx val="9"/>
              <c:numFmt formatCode="&quot;&quot;" sourceLinked="0"/>
              <c:dLblPos val="ctr"/>
              <c:showLegendKey val="0"/>
              <c:showVal val="1"/>
              <c:showCatName val="0"/>
              <c:showSerName val="0"/>
              <c:showPercent val="0"/>
              <c:showBubbleSize val="0"/>
            </c:dLbl>
            <c:dLbl>
              <c:idx val="10"/>
              <c:numFmt formatCode="&quot;&quot;" sourceLinked="0"/>
              <c:dLblPos val="ctr"/>
              <c:showLegendKey val="0"/>
              <c:showVal val="1"/>
              <c:showCatName val="0"/>
              <c:showSerName val="0"/>
              <c:showPercent val="0"/>
              <c:showBubbleSize val="0"/>
            </c:dLbl>
            <c:dLbl>
              <c:idx val="11"/>
              <c:numFmt formatCode="&quot;&quot;" sourceLinked="0"/>
              <c:dLblPos val="ctr"/>
              <c:showLegendKey val="0"/>
              <c:showVal val="1"/>
              <c:showCatName val="0"/>
              <c:showSerName val="0"/>
              <c:showPercent val="0"/>
              <c:showBubbleSize val="0"/>
            </c:dLbl>
            <c:dLbl>
              <c:idx val="12"/>
              <c:numFmt formatCode="&quot;&quot;" sourceLinked="0"/>
              <c:dLblPos val="ctr"/>
              <c:showLegendKey val="0"/>
              <c:showVal val="1"/>
              <c:showCatName val="0"/>
              <c:showSerName val="0"/>
              <c:showPercent val="0"/>
              <c:showBubbleSize val="0"/>
            </c:dLbl>
            <c:dLbl>
              <c:idx val="13"/>
              <c:numFmt formatCode="&quot;&quot;" sourceLinked="0"/>
              <c:dLblPos val="ctr"/>
              <c:showLegendKey val="0"/>
              <c:showVal val="1"/>
              <c:showCatName val="0"/>
              <c:showSerName val="0"/>
              <c:showPercent val="0"/>
              <c:showBubbleSize val="0"/>
            </c:dLbl>
            <c:dLbl>
              <c:idx val="14"/>
              <c:numFmt formatCode="&quot;&quot;" sourceLinked="0"/>
              <c:dLblPos val="ctr"/>
              <c:showLegendKey val="0"/>
              <c:showVal val="1"/>
              <c:showCatName val="0"/>
              <c:showSerName val="0"/>
              <c:showPercent val="0"/>
              <c:showBubbleSize val="0"/>
            </c:dLbl>
            <c:dLbl>
              <c:idx val="1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1168.031</c:v>
                </c:pt>
                <c:pt idx="1">
                  <c:v>1214.554</c:v>
                </c:pt>
                <c:pt idx="2">
                  <c:v>1262.947</c:v>
                </c:pt>
                <c:pt idx="3">
                  <c:v>1313.285</c:v>
                </c:pt>
                <c:pt idx="4">
                  <c:v>1365.646</c:v>
                </c:pt>
                <c:pt idx="5">
                  <c:v>1420.111</c:v>
                </c:pt>
                <c:pt idx="6">
                  <c:v>1488.129</c:v>
                </c:pt>
                <c:pt idx="7">
                  <c:v>1559.423</c:v>
                </c:pt>
                <c:pt idx="8">
                  <c:v>1634.151</c:v>
                </c:pt>
                <c:pt idx="9">
                  <c:v>1712.482</c:v>
                </c:pt>
                <c:pt idx="10">
                  <c:v>1794.589</c:v>
                </c:pt>
                <c:pt idx="11">
                  <c:v>1880.655</c:v>
                </c:pt>
                <c:pt idx="12">
                  <c:v>1970.872</c:v>
                </c:pt>
                <c:pt idx="13">
                  <c:v>2065.441</c:v>
                </c:pt>
                <c:pt idx="14">
                  <c:v>2164.575</c:v>
                </c:pt>
                <c:pt idx="15">
                  <c:v>2268.493</c:v>
                </c:pt>
              </c:numCache>
            </c:numRef>
          </c:val>
        </c:ser>
        <c:ser>
          <c:idx val="3"/>
          <c:order val="3"/>
          <c:tx>
            <c:strRef>
              <c:strCache>
                <c:ptCount val="1"/>
                <c:pt idx="0">
                  <c:v>South Asia &amp; Pacific</c:v>
                </c:pt>
              </c:strCache>
            </c:strRef>
          </c:tx>
          <c:spPr>
            <a:solidFill>
              <a:srgbClr val="00ACAC"/>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dLblPos val="ctr"/>
              <c:showLegendKey val="0"/>
              <c:showVal val="1"/>
              <c:showCatName val="0"/>
              <c:showSerName val="0"/>
              <c:showPercent val="0"/>
              <c:showBubbleSize val="0"/>
            </c:dLbl>
            <c:dLbl>
              <c:idx val="2"/>
              <c:numFmt formatCode="&quot;&quot;" sourceLinked="0"/>
              <c:dLblPos val="ctr"/>
              <c:showLegendKey val="0"/>
              <c:showVal val="1"/>
              <c:showCatName val="0"/>
              <c:showSerName val="0"/>
              <c:showPercent val="0"/>
              <c:showBubbleSize val="0"/>
            </c:dLbl>
            <c:dLbl>
              <c:idx val="3"/>
              <c:numFmt formatCode="&quot;&quot;" sourceLinked="0"/>
              <c:dLblPos val="ctr"/>
              <c:showLegendKey val="0"/>
              <c:showVal val="1"/>
              <c:showCatName val="0"/>
              <c:showSerName val="0"/>
              <c:showPercent val="0"/>
              <c:showBubbleSize val="0"/>
            </c:dLbl>
            <c:dLbl>
              <c:idx val="4"/>
              <c:numFmt formatCode="&quot;&quot;" sourceLinked="0"/>
              <c:dLblPos val="ctr"/>
              <c:showLegendKey val="0"/>
              <c:showVal val="1"/>
              <c:showCatName val="0"/>
              <c:showSerName val="0"/>
              <c:showPercent val="0"/>
              <c:showBubbleSize val="0"/>
            </c:dLbl>
            <c:dLbl>
              <c:idx val="5"/>
              <c:numFmt formatCode="&quot;&quot;" sourceLinked="0"/>
              <c:dLblPos val="ctr"/>
              <c:showLegendKey val="0"/>
              <c:showVal val="1"/>
              <c:showCatName val="0"/>
              <c:showSerName val="0"/>
              <c:showPercent val="0"/>
              <c:showBubbleSize val="0"/>
            </c:dLbl>
            <c:dLbl>
              <c:idx val="6"/>
              <c:numFmt formatCode="&quot;&quot;" sourceLinked="0"/>
              <c:dLblPos val="ctr"/>
              <c:showLegendKey val="0"/>
              <c:showVal val="1"/>
              <c:showCatName val="0"/>
              <c:showSerName val="0"/>
              <c:showPercent val="0"/>
              <c:showBubbleSize val="0"/>
            </c:dLbl>
            <c:dLbl>
              <c:idx val="7"/>
              <c:numFmt formatCode="&quot;&quot;" sourceLinked="0"/>
              <c:dLblPos val="ctr"/>
              <c:showLegendKey val="0"/>
              <c:showVal val="1"/>
              <c:showCatName val="0"/>
              <c:showSerName val="0"/>
              <c:showPercent val="0"/>
              <c:showBubbleSize val="0"/>
            </c:dLbl>
            <c:dLbl>
              <c:idx val="8"/>
              <c:numFmt formatCode="&quot;&quot;" sourceLinked="0"/>
              <c:dLblPos val="ctr"/>
              <c:showLegendKey val="0"/>
              <c:showVal val="1"/>
              <c:showCatName val="0"/>
              <c:showSerName val="0"/>
              <c:showPercent val="0"/>
              <c:showBubbleSize val="0"/>
            </c:dLbl>
            <c:dLbl>
              <c:idx val="9"/>
              <c:numFmt formatCode="&quot;&quot;" sourceLinked="0"/>
              <c:dLblPos val="ctr"/>
              <c:showLegendKey val="0"/>
              <c:showVal val="1"/>
              <c:showCatName val="0"/>
              <c:showSerName val="0"/>
              <c:showPercent val="0"/>
              <c:showBubbleSize val="0"/>
            </c:dLbl>
            <c:dLbl>
              <c:idx val="10"/>
              <c:numFmt formatCode="&quot;&quot;" sourceLinked="0"/>
              <c:dLblPos val="ctr"/>
              <c:showLegendKey val="0"/>
              <c:showVal val="1"/>
              <c:showCatName val="0"/>
              <c:showSerName val="0"/>
              <c:showPercent val="0"/>
              <c:showBubbleSize val="0"/>
            </c:dLbl>
            <c:dLbl>
              <c:idx val="11"/>
              <c:numFmt formatCode="&quot;&quot;" sourceLinked="0"/>
              <c:dLblPos val="ctr"/>
              <c:showLegendKey val="0"/>
              <c:showVal val="1"/>
              <c:showCatName val="0"/>
              <c:showSerName val="0"/>
              <c:showPercent val="0"/>
              <c:showBubbleSize val="0"/>
            </c:dLbl>
            <c:dLbl>
              <c:idx val="12"/>
              <c:numFmt formatCode="&quot;&quot;" sourceLinked="0"/>
              <c:dLblPos val="ctr"/>
              <c:showLegendKey val="0"/>
              <c:showVal val="1"/>
              <c:showCatName val="0"/>
              <c:showSerName val="0"/>
              <c:showPercent val="0"/>
              <c:showBubbleSize val="0"/>
            </c:dLbl>
            <c:dLbl>
              <c:idx val="13"/>
              <c:numFmt formatCode="&quot;&quot;" sourceLinked="0"/>
              <c:dLblPos val="ctr"/>
              <c:showLegendKey val="0"/>
              <c:showVal val="1"/>
              <c:showCatName val="0"/>
              <c:showSerName val="0"/>
              <c:showPercent val="0"/>
              <c:showBubbleSize val="0"/>
            </c:dLbl>
            <c:dLbl>
              <c:idx val="14"/>
              <c:numFmt formatCode="&quot;&quot;" sourceLinked="0"/>
              <c:dLblPos val="ctr"/>
              <c:showLegendKey val="0"/>
              <c:showVal val="1"/>
              <c:showCatName val="0"/>
              <c:showSerName val="0"/>
              <c:showPercent val="0"/>
              <c:showBubbleSize val="0"/>
            </c:dLbl>
            <c:dLbl>
              <c:idx val="1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1027.949</c:v>
                </c:pt>
                <c:pt idx="1">
                  <c:v>1078.949</c:v>
                </c:pt>
                <c:pt idx="2">
                  <c:v>1132.599</c:v>
                </c:pt>
                <c:pt idx="3">
                  <c:v>1189.033</c:v>
                </c:pt>
                <c:pt idx="4">
                  <c:v>1248.407</c:v>
                </c:pt>
                <c:pt idx="5">
                  <c:v>1310.871</c:v>
                </c:pt>
                <c:pt idx="6">
                  <c:v>1387.086</c:v>
                </c:pt>
                <c:pt idx="7">
                  <c:v>1467.868</c:v>
                </c:pt>
                <c:pt idx="8">
                  <c:v>1553.504</c:v>
                </c:pt>
                <c:pt idx="9">
                  <c:v>1644.289</c:v>
                </c:pt>
                <c:pt idx="10">
                  <c:v>1740.543</c:v>
                </c:pt>
                <c:pt idx="11">
                  <c:v>1842.599</c:v>
                </c:pt>
                <c:pt idx="12">
                  <c:v>1950.82</c:v>
                </c:pt>
                <c:pt idx="13">
                  <c:v>2065.579</c:v>
                </c:pt>
                <c:pt idx="14">
                  <c:v>2187.288</c:v>
                </c:pt>
                <c:pt idx="15">
                  <c:v>2316.373</c:v>
                </c:pt>
              </c:numCache>
            </c:numRef>
          </c:val>
        </c:ser>
        <c:ser>
          <c:idx val="4"/>
          <c:order val="4"/>
          <c:tx>
            <c:strRef>
              <c:strCache>
                <c:ptCount val="1"/>
                <c:pt idx="0">
                  <c:v>Latin America</c:v>
                </c:pt>
              </c:strCache>
            </c:strRef>
          </c:tx>
          <c:spPr>
            <a:solidFill>
              <a:srgbClr val="F47620"/>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txPr>
                <a:bodyPr/>
                <a:lstStyle/>
                <a:p>
                  <a:pPr>
                    <a:defRPr/>
                  </a:pPr>
                </a:p>
              </c:txPr>
              <c:showLegendKey val="0"/>
              <c:showVal val="1"/>
              <c:showCatName val="0"/>
              <c:showSerName val="0"/>
              <c:showPercent val="0"/>
              <c:showBubbleSize val="0"/>
            </c:dLbl>
            <c:dLbl>
              <c:idx val="8"/>
              <c:numFmt formatCode="&quot;&quot;" sourceLinked="0"/>
              <c:txPr>
                <a:bodyPr/>
                <a:lstStyle/>
                <a:p>
                  <a:pPr>
                    <a:defRPr/>
                  </a:pPr>
                </a:p>
              </c:txPr>
              <c:showLegendKey val="0"/>
              <c:showVal val="1"/>
              <c:showCatName val="0"/>
              <c:showSerName val="0"/>
              <c:showPercent val="0"/>
              <c:showBubbleSize val="0"/>
            </c:dLbl>
            <c:dLbl>
              <c:idx val="9"/>
              <c:numFmt formatCode="&quot;&quot;" sourceLinked="0"/>
              <c:dLblPos val="ctr"/>
              <c:showLegendKey val="0"/>
              <c:showVal val="1"/>
              <c:showCatName val="0"/>
              <c:showSerName val="0"/>
              <c:showPercent val="0"/>
              <c:showBubbleSize val="0"/>
            </c:dLbl>
            <c:dLbl>
              <c:idx val="10"/>
              <c:numFmt formatCode="&quot;&quot;" sourceLinked="0"/>
              <c:dLblPos val="ctr"/>
              <c:showLegendKey val="0"/>
              <c:showVal val="1"/>
              <c:showCatName val="0"/>
              <c:showSerName val="0"/>
              <c:showPercent val="0"/>
              <c:showBubbleSize val="0"/>
            </c:dLbl>
            <c:dLbl>
              <c:idx val="11"/>
              <c:numFmt formatCode="&quot;&quot;" sourceLinked="0"/>
              <c:dLblPos val="ctr"/>
              <c:showLegendKey val="0"/>
              <c:showVal val="1"/>
              <c:showCatName val="0"/>
              <c:showSerName val="0"/>
              <c:showPercent val="0"/>
              <c:showBubbleSize val="0"/>
            </c:dLbl>
            <c:dLbl>
              <c:idx val="12"/>
              <c:numFmt formatCode="&quot;&quot;" sourceLinked="0"/>
              <c:dLblPos val="ctr"/>
              <c:showLegendKey val="0"/>
              <c:showVal val="1"/>
              <c:showCatName val="0"/>
              <c:showSerName val="0"/>
              <c:showPercent val="0"/>
              <c:showBubbleSize val="0"/>
            </c:dLbl>
            <c:dLbl>
              <c:idx val="13"/>
              <c:numFmt formatCode="&quot;&quot;" sourceLinked="0"/>
              <c:dLblPos val="ctr"/>
              <c:showLegendKey val="0"/>
              <c:showVal val="1"/>
              <c:showCatName val="0"/>
              <c:showSerName val="0"/>
              <c:showPercent val="0"/>
              <c:showBubbleSize val="0"/>
            </c:dLbl>
            <c:dLbl>
              <c:idx val="14"/>
              <c:numFmt formatCode="&quot;&quot;" sourceLinked="0"/>
              <c:dLblPos val="ctr"/>
              <c:showLegendKey val="0"/>
              <c:showVal val="1"/>
              <c:showCatName val="0"/>
              <c:showSerName val="0"/>
              <c:showPercent val="0"/>
              <c:showBubbleSize val="0"/>
            </c:dLbl>
            <c:dLbl>
              <c:idx val="1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700.255</c:v>
                </c:pt>
                <c:pt idx="1">
                  <c:v>731.915</c:v>
                </c:pt>
                <c:pt idx="2">
                  <c:v>765.039</c:v>
                </c:pt>
                <c:pt idx="3">
                  <c:v>799.699</c:v>
                </c:pt>
                <c:pt idx="4">
                  <c:v>835.965</c:v>
                </c:pt>
                <c:pt idx="5">
                  <c:v>873.914</c:v>
                </c:pt>
                <c:pt idx="6">
                  <c:v>920.618</c:v>
                </c:pt>
                <c:pt idx="7">
                  <c:v>969.859</c:v>
                </c:pt>
                <c:pt idx="8">
                  <c:v>1021.776</c:v>
                </c:pt>
                <c:pt idx="9">
                  <c:v>1076.519</c:v>
                </c:pt>
                <c:pt idx="10">
                  <c:v>1134.244</c:v>
                </c:pt>
                <c:pt idx="11">
                  <c:v>1195.113</c:v>
                </c:pt>
                <c:pt idx="12">
                  <c:v>1259.301</c:v>
                </c:pt>
                <c:pt idx="13">
                  <c:v>1326.992</c:v>
                </c:pt>
                <c:pt idx="14">
                  <c:v>1398.38</c:v>
                </c:pt>
                <c:pt idx="15">
                  <c:v>1473.668</c:v>
                </c:pt>
              </c:numCache>
            </c:numRef>
          </c:val>
        </c:ser>
        <c:ser>
          <c:idx val="5"/>
          <c:order val="5"/>
          <c:tx>
            <c:strRef>
              <c:strCache>
                <c:ptCount val="1"/>
                <c:pt idx="0">
                  <c:v>Middle East and Africa</c:v>
                </c:pt>
              </c:strCache>
            </c:strRef>
          </c:tx>
          <c:spPr>
            <a:solidFill>
              <a:srgbClr val="79C3EC"/>
            </a:solidFill>
            <a:ln>
              <a:noFill/>
            </a:ln>
          </c:spPr>
          <c:dLbls>
            <c:dLbl>
              <c:layout>
                <c:manualLayout>
                  <c:x val="0"/>
                  <c:y val="-0.0830"/>
                </c:manualLayout>
              </c:layout>
              <c:idx val="0"/>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2"/>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3"/>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4"/>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5"/>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6"/>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7"/>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8"/>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9"/>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0"/>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1"/>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2"/>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3"/>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4"/>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5"/>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608.666</c:v>
                </c:pt>
                <c:pt idx="1">
                  <c:v>632.968</c:v>
                </c:pt>
                <c:pt idx="2">
                  <c:v>658.28</c:v>
                </c:pt>
                <c:pt idx="3">
                  <c:v>684.649</c:v>
                </c:pt>
                <c:pt idx="4">
                  <c:v>712.119</c:v>
                </c:pt>
                <c:pt idx="5">
                  <c:v>740.743</c:v>
                </c:pt>
                <c:pt idx="6">
                  <c:v>776.492</c:v>
                </c:pt>
                <c:pt idx="7">
                  <c:v>814.019</c:v>
                </c:pt>
                <c:pt idx="8">
                  <c:v>853.417</c:v>
                </c:pt>
                <c:pt idx="9">
                  <c:v>894.781</c:v>
                </c:pt>
                <c:pt idx="10">
                  <c:v>938.215</c:v>
                </c:pt>
                <c:pt idx="11">
                  <c:v>983.821</c:v>
                </c:pt>
                <c:pt idx="12">
                  <c:v>1031.715</c:v>
                </c:pt>
                <c:pt idx="13">
                  <c:v>1082.017</c:v>
                </c:pt>
                <c:pt idx="14">
                  <c:v>1134.848</c:v>
                </c:pt>
                <c:pt idx="15">
                  <c:v>1190.342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Micronized Eggshell Membrane</c:v>
                </c:pt>
              </c:strCache>
            </c:strRef>
          </c:tx>
          <c:spPr>
            <a:solidFill>
              <a:srgbClr val="2A5F8F"/>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and Africa</c:v>
                </c:pt>
                <c:pt idx="1">
                  <c:v>Latin America</c:v>
                </c:pt>
                <c:pt idx="2">
                  <c:v>East Asia</c:v>
                </c:pt>
                <c:pt idx="3">
                  <c:v>South Asia &amp; Pacific</c:v>
                </c:pt>
                <c:pt idx="4">
                  <c:v>Europe</c:v>
                </c:pt>
                <c:pt idx="5">
                  <c:v>North America</c:v>
                </c:pt>
              </c:strCache>
            </c:strRef>
          </c:cat>
          <c:val>
            <c:numRef>
              <c:numCache>
                <c:formatCode>General</c:formatCode>
                <c:ptCount val="6"/>
                <c:pt idx="0">
                  <c:v>42.856758813853496</c:v>
                </c:pt>
                <c:pt idx="1">
                  <c:v>38.37126136958935</c:v>
                </c:pt>
                <c:pt idx="2">
                  <c:v>37.88025795098332</c:v>
                </c:pt>
                <c:pt idx="3">
                  <c:v>42.65806931785166</c:v>
                </c:pt>
                <c:pt idx="4">
                  <c:v>41.41872025057633</c:v>
                </c:pt>
                <c:pt idx="5">
                  <c:v>39.231327264851295</c:v>
                </c:pt>
              </c:numCache>
            </c:numRef>
          </c:val>
        </c:ser>
        <c:ser>
          <c:idx val="1"/>
          <c:order val="1"/>
          <c:tx>
            <c:strRef>
              <c:strCache>
                <c:ptCount val="1"/>
                <c:pt idx="0">
                  <c:v>Hydrolyzed Eggshell Membrane</c:v>
                </c:pt>
              </c:strCache>
            </c:strRef>
          </c:tx>
          <c:spPr>
            <a:solidFill>
              <a:srgbClr val="0081E2"/>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1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and Africa</c:v>
                </c:pt>
                <c:pt idx="1">
                  <c:v>Latin America</c:v>
                </c:pt>
                <c:pt idx="2">
                  <c:v>East Asia</c:v>
                </c:pt>
                <c:pt idx="3">
                  <c:v>South Asia &amp; Pacific</c:v>
                </c:pt>
                <c:pt idx="4">
                  <c:v>Europe</c:v>
                </c:pt>
                <c:pt idx="5">
                  <c:v>North America</c:v>
                </c:pt>
              </c:strCache>
            </c:strRef>
          </c:cat>
          <c:val>
            <c:numRef>
              <c:numCache>
                <c:formatCode>General</c:formatCode>
                <c:ptCount val="6"/>
                <c:pt idx="0">
                  <c:v>23.689998336612504</c:v>
                </c:pt>
                <c:pt idx="1">
                  <c:v>25.870209572305292</c:v>
                </c:pt>
                <c:pt idx="2">
                  <c:v>28.94675011119717</c:v>
                </c:pt>
                <c:pt idx="3">
                  <c:v>25.455528967053237</c:v>
                </c:pt>
                <c:pt idx="4">
                  <c:v>23.244315081096918</c:v>
                </c:pt>
                <c:pt idx="5">
                  <c:v>21.42906936604518</c:v>
                </c:pt>
              </c:numCache>
            </c:numRef>
          </c:val>
        </c:ser>
        <c:ser>
          <c:idx val="2"/>
          <c:order val="2"/>
          <c:tx>
            <c:strRef>
              <c:strCache>
                <c:ptCount val="1"/>
                <c:pt idx="0">
                  <c:v>Specialty Extracted Protein Fractions</c:v>
                </c:pt>
              </c:strCache>
            </c:strRef>
          </c:tx>
          <c:spPr>
            <a:solidFill>
              <a:srgbClr val="0E2A5C"/>
            </a:solidFill>
            <a:ln>
              <a:noFill/>
            </a:ln>
          </c:spPr>
          <c:dLbls>
            <c:dLbl>
              <c:idx val="0"/>
              <c:numFmt formatCode="&quot;MMMM&quot;;&quot;MMMM&quot;;&quot;MMMM&quot;" sourceLinked="0"/>
              <c:spPr>
                <a:blipFill>
                  <a:blip r:embed="rId1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1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1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1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1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1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and Africa</c:v>
                </c:pt>
                <c:pt idx="1">
                  <c:v>Latin America</c:v>
                </c:pt>
                <c:pt idx="2">
                  <c:v>East Asia</c:v>
                </c:pt>
                <c:pt idx="3">
                  <c:v>South Asia &amp; Pacific</c:v>
                </c:pt>
                <c:pt idx="4">
                  <c:v>Europe</c:v>
                </c:pt>
                <c:pt idx="5">
                  <c:v>North America</c:v>
                </c:pt>
              </c:strCache>
            </c:strRef>
          </c:cat>
          <c:val>
            <c:numRef>
              <c:numCache>
                <c:formatCode>General</c:formatCode>
                <c:ptCount val="6"/>
                <c:pt idx="0">
                  <c:v>33.453242849534</c:v>
                </c:pt>
                <c:pt idx="1">
                  <c:v>35.758529058105346</c:v>
                </c:pt>
                <c:pt idx="2">
                  <c:v>33.17299193781952</c:v>
                </c:pt>
                <c:pt idx="3">
                  <c:v>31.886401715095108</c:v>
                </c:pt>
                <c:pt idx="4">
                  <c:v>35.33696466832675</c:v>
                </c:pt>
                <c:pt idx="5">
                  <c:v>39.33960336910353</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tickLblSkip val="1"/>
        <c:noMultiLvlLbl val="0"/>
      </c:catAx>
      <c:valAx>
        <c:axId val="-2113994440"/>
        <c:scaling>
          <c:max val="100.0"/>
          <c:min val="0.0"/>
        </c:scaling>
        <c:delete val="0"/>
        <c:axPos val="b"/>
        <c:numFmt formatCode="0&quot;%&quot;" sourceLinked="0"/>
        <c:majorTickMark val="out"/>
        <c:minorTickMark val="none"/>
        <c:tickLblPos val="nextTo"/>
        <c:spPr>
          <a:ln>
            <a:solidFill>
              <a:srgbClr val="C9D6E4"/>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16.xml><?xml version="1.0" encoding="utf-8"?>
<c:chartSpace xmlns:c="http://schemas.openxmlformats.org/drawingml/2006/chart" xmlns:a="http://schemas.openxmlformats.org/drawingml/2006/main" xmlns:r="http://schemas.openxmlformats.org/officeDocument/2006/relationships">
  <c:chart>
    <c:autoTitleDeleted val="1"/>
    <c:plotArea>
      <c:layout/>
      <c:bubbleChart>
        <c:varyColors val="0"/>
        <c:ser>
          <c:idx val="0"/>
          <c:order val="0"/>
          <c:tx>
            <c:strRef>
              <c:strCache>
                <c:ptCount val="1"/>
                <c:pt idx="0">
                  <c:v>Micronized Eggshell Membrane</c:v>
                </c:pt>
              </c:strCache>
            </c:strRef>
          </c:tx>
          <c:spPr>
            <a:solidFill>
              <a:srgbClr val="2A5F8F"/>
            </a:solidFill>
          </c:spPr>
          <c:invertIfNegative val="0"/>
          <c:xVal>
            <c:numRef>
              <c:numCache>
                <c:formatCode>General</c:formatCode>
                <c:ptCount val="1"/>
                <c:pt idx="0">
                  <c:v>109.59708146365203</c:v>
                </c:pt>
              </c:numCache>
            </c:numRef>
          </c:xVal>
          <c:yVal>
            <c:numRef>
              <c:numCache>
                <c:formatCode>General</c:formatCode>
                <c:ptCount val="1"/>
                <c:pt idx="0">
                  <c:v>115.57378899082569</c:v>
                </c:pt>
              </c:numCache>
            </c:numRef>
          </c:yVal>
          <c:bubbleSize>
            <c:numRef>
              <c:numCache>
                <c:formatCode>General</c:formatCode>
                <c:ptCount val="1"/>
                <c:pt idx="0">
                  <c:v>7125.571</c:v>
                </c:pt>
              </c:numCache>
            </c:numRef>
          </c:bubbleSize>
          <c:bubble3D val="0"/>
        </c:ser>
        <c:ser>
          <c:idx val="1"/>
          <c:order val="1"/>
          <c:tx>
            <c:strRef>
              <c:strCache>
                <c:ptCount val="1"/>
                <c:pt idx="0">
                  <c:v>Hydrolyzed Eggshell Membrane</c:v>
                </c:pt>
              </c:strCache>
            </c:strRef>
          </c:tx>
          <c:spPr>
            <a:solidFill>
              <a:srgbClr val="0081E2"/>
            </a:solidFill>
          </c:spPr>
          <c:invertIfNegative val="0"/>
          <c:xVal>
            <c:numRef>
              <c:numCache>
                <c:formatCode>General</c:formatCode>
                <c:ptCount val="1"/>
                <c:pt idx="0">
                  <c:v>116.21459499141389</c:v>
                </c:pt>
              </c:numCache>
            </c:numRef>
          </c:xVal>
          <c:yVal>
            <c:numRef>
              <c:numCache>
                <c:formatCode>General</c:formatCode>
                <c:ptCount val="1"/>
                <c:pt idx="0">
                  <c:v>66.61304587155963</c:v>
                </c:pt>
              </c:numCache>
            </c:numRef>
          </c:yVal>
          <c:bubbleSize>
            <c:numRef>
              <c:numCache>
                <c:formatCode>General</c:formatCode>
                <c:ptCount val="1"/>
                <c:pt idx="0">
                  <c:v>4236.479</c:v>
                </c:pt>
              </c:numCache>
            </c:numRef>
          </c:bubbleSize>
          <c:bubble3D val="0"/>
        </c:ser>
        <c:ser>
          <c:idx val="2"/>
          <c:order val="2"/>
          <c:tx>
            <c:strRef>
              <c:strCache>
                <c:ptCount val="1"/>
                <c:pt idx="0">
                  <c:v>Specialty Extracted Protein Fractions</c:v>
                </c:pt>
              </c:strCache>
            </c:strRef>
          </c:tx>
          <c:spPr>
            <a:solidFill>
              <a:srgbClr val="0E2A5C"/>
            </a:solidFill>
          </c:spPr>
          <c:invertIfNegative val="0"/>
          <c:xVal>
            <c:numRef>
              <c:numCache>
                <c:formatCode>General</c:formatCode>
                <c:ptCount val="1"/>
                <c:pt idx="0">
                  <c:v>80.07847971740874</c:v>
                </c:pt>
              </c:numCache>
            </c:numRef>
          </c:xVal>
          <c:yVal>
            <c:numRef>
              <c:numCache>
                <c:formatCode>General</c:formatCode>
                <c:ptCount val="1"/>
                <c:pt idx="0">
                  <c:v>117.81316513761469</c:v>
                </c:pt>
              </c:numCache>
            </c:numRef>
          </c:yVal>
          <c:bubbleSize>
            <c:numRef>
              <c:numCache>
                <c:formatCode>General</c:formatCode>
                <c:ptCount val="1"/>
                <c:pt idx="0">
                  <c:v>6316.618</c:v>
                </c:pt>
              </c:numCache>
            </c:numRef>
          </c:bubbleSize>
          <c:bubble3D val="0"/>
        </c:ser>
        <c:dLbls>
          <c:showLegendKey val="0"/>
          <c:showVal val="0"/>
          <c:showCatName val="0"/>
          <c:showSerName val="0"/>
          <c:showPercent val="0"/>
          <c:showBubbleSize val="0"/>
        </c:dLbls>
        <c:bubbleScale val="55"/>
        <c:showNegBubbles val="0"/>
        <c:axId val="-2115720072"/>
        <c:axId val="-2115723560"/>
      </c:bubbleChart>
      <c:valAx>
        <c:axId val="-2115720072"/>
        <c:scaling>
          <c:orientation val="minMax"/>
          <c:max val="130.0"/>
          <c:min val="70.0"/>
        </c:scaling>
        <c:delete val="0"/>
        <c:axPos val="b"/>
        <c:title>
          <c:tx>
            <c:rich>
              <a:bodyPr/>
              <a:lstStyle/>
              <a:p>
                <a:r>
                  <a:rPr sz="1100" b="0">
                    <a:solidFill>
                      <a:srgbClr val="6C7A89"/>
                    </a:solidFill>
                    <a:latin typeface="Calibri"/>
                  </a:rPr>
                  <a:t>CAGR Index (100 = segment average growth)</a:t>
                </a:r>
              </a:p>
            </c:rich>
          </c:tx>
          <c:layout/>
          <c:overlay val="0"/>
        </c:title>
        <c:numFmt formatCode="General" sourceLinked="1"/>
        <c:majorTickMark val="out"/>
        <c:minorTickMark val="none"/>
        <c:tickLblPos val="nextTo"/>
        <c:spPr>
          <a:ln>
            <a:solidFill>
              <a:srgbClr val="C9D6E4"/>
            </a:solidFill>
          </a:ln>
        </c:spPr>
        <c:txPr>
          <a:bodyPr/>
          <a:lstStyle/>
          <a:p>
            <a:pPr>
              <a:defRPr sz="1100"/>
            </a:pPr>
          </a:p>
        </c:txPr>
        <c:crossAx val="-2115723560"/>
        <c:crosses val="autoZero"/>
        <c:crossBetween val="midCat"/>
      </c:valAx>
      <c:valAx>
        <c:axId val="-2115723560"/>
        <c:scaling>
          <c:orientation val="minMax"/>
          <c:max val="140.0"/>
          <c:min val="50.0"/>
        </c:scaling>
        <c:delete val="0"/>
        <c:axPos val="l"/>
        <c:title>
          <c:tx>
            <c:rich>
              <a:bodyPr/>
              <a:lstStyle/>
              <a:p>
                <a:r>
                  <a:rPr sz="1100" b="0">
                    <a:solidFill>
                      <a:srgbClr val="6C7A89"/>
                    </a:solidFill>
                    <a:latin typeface="Calibri"/>
                  </a:rPr>
                  <a:t>Market Share Index (100 = equal share)</a:t>
                </a:r>
              </a:p>
            </c:rich>
          </c:tx>
          <c:layout/>
          <c:overlay val="0"/>
        </c:title>
        <c:numFmt formatCode="General" sourceLinked="1"/>
        <c:majorTickMark val="out"/>
        <c:minorTickMark val="none"/>
        <c:tickLblPos val="none"/>
        <c:spPr>
          <a:ln>
            <a:solidFill>
              <a:srgbClr val="C9D6E4"/>
            </a:solidFill>
          </a:ln>
        </c:spPr>
        <c:txPr>
          <a:bodyPr/>
          <a:lstStyle/>
          <a:p>
            <a:pPr>
              <a:defRPr sz="1100"/>
            </a:pPr>
          </a:p>
        </c:txPr>
        <c:crossAx val="-2115720072"/>
        <c:crosses val="autoZero"/>
        <c:crossBetween val="midCat"/>
      </c:valAx>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lang="en-US"/>
    </a:p>
  </c:txPr>
</c:chartSpace>
</file>

<file path=ppt/charts/chart1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4199.181</c:v>
                </c:pt>
                <c:pt idx="2">
                  <c:v>4660.494</c:v>
                </c:pt>
                <c:pt idx="3">
                  <c:v>5176.289</c:v>
                </c:pt>
                <c:pt idx="4">
                  <c:v>5753.559</c:v>
                </c:pt>
                <c:pt idx="5">
                  <c:v>6400.276</c:v>
                </c:pt>
                <c:pt idx="6">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00ACAC"/>
              </a:solidFill>
            </c:spPr>
          </c:dPt>
          <c:dPt>
            <c:idx val="3"/>
            <c:spPr>
              <a:solidFill>
                <a:srgbClr val="00ACAC"/>
              </a:solidFill>
            </c:spPr>
          </c:dPt>
          <c:dPt>
            <c:idx val="4"/>
            <c:spPr>
              <a:solidFill>
                <a:srgbClr val="00ACAC"/>
              </a:solidFill>
            </c:spPr>
          </c:dPt>
          <c:dPt>
            <c:idx val="5"/>
            <c:spPr>
              <a:solidFill>
                <a:srgbClr val="00ACAC"/>
              </a:solidFill>
            </c:spPr>
          </c:dPt>
          <c:dPt>
            <c:idx val="6"/>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4199.181</c:v>
                </c:pt>
                <c:pt idx="1">
                  <c:v>461.3130000000001</c:v>
                </c:pt>
                <c:pt idx="2">
                  <c:v>515.7950000000001</c:v>
                </c:pt>
                <c:pt idx="3">
                  <c:v>577.2700000000004</c:v>
                </c:pt>
                <c:pt idx="4">
                  <c:v>646.7169999999996</c:v>
                </c:pt>
                <c:pt idx="5">
                  <c:v>725.2950000000001</c:v>
                </c:pt>
                <c:pt idx="6">
                  <c:v>7125.571</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2420.274</c:v>
                </c:pt>
                <c:pt idx="2">
                  <c:v>2701.856</c:v>
                </c:pt>
                <c:pt idx="3">
                  <c:v>3018.966</c:v>
                </c:pt>
                <c:pt idx="4">
                  <c:v>3376.513</c:v>
                </c:pt>
                <c:pt idx="5">
                  <c:v>3780.168</c:v>
                </c:pt>
                <c:pt idx="6">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00ACAC"/>
              </a:solidFill>
            </c:spPr>
          </c:dPt>
          <c:dPt>
            <c:idx val="3"/>
            <c:spPr>
              <a:solidFill>
                <a:srgbClr val="00ACAC"/>
              </a:solidFill>
            </c:spPr>
          </c:dPt>
          <c:dPt>
            <c:idx val="4"/>
            <c:spPr>
              <a:solidFill>
                <a:srgbClr val="00ACAC"/>
              </a:solidFill>
            </c:spPr>
          </c:dPt>
          <c:dPt>
            <c:idx val="5"/>
            <c:spPr>
              <a:solidFill>
                <a:srgbClr val="00ACAC"/>
              </a:solidFill>
            </c:spPr>
          </c:dPt>
          <c:dPt>
            <c:idx val="6"/>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2420.274</c:v>
                </c:pt>
                <c:pt idx="1">
                  <c:v>281.58200000000033</c:v>
                </c:pt>
                <c:pt idx="2">
                  <c:v>317.1099999999997</c:v>
                </c:pt>
                <c:pt idx="3">
                  <c:v>357.547</c:v>
                </c:pt>
                <c:pt idx="4">
                  <c:v>403.6550000000002</c:v>
                </c:pt>
                <c:pt idx="5">
                  <c:v>456.31100000000015</c:v>
                </c:pt>
                <c:pt idx="6">
                  <c:v>4236.479</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4280.545</c:v>
                </c:pt>
                <c:pt idx="2">
                  <c:v>4634.971</c:v>
                </c:pt>
                <c:pt idx="3">
                  <c:v>5015.084</c:v>
                </c:pt>
                <c:pt idx="4">
                  <c:v>5421.746</c:v>
                </c:pt>
                <c:pt idx="5">
                  <c:v>5855.527</c:v>
                </c:pt>
                <c:pt idx="6">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00ACAC"/>
              </a:solidFill>
            </c:spPr>
          </c:dPt>
          <c:dPt>
            <c:idx val="3"/>
            <c:spPr>
              <a:solidFill>
                <a:srgbClr val="00ACAC"/>
              </a:solidFill>
            </c:spPr>
          </c:dPt>
          <c:dPt>
            <c:idx val="4"/>
            <c:spPr>
              <a:solidFill>
                <a:srgbClr val="00ACAC"/>
              </a:solidFill>
            </c:spPr>
          </c:dPt>
          <c:dPt>
            <c:idx val="5"/>
            <c:spPr>
              <a:solidFill>
                <a:srgbClr val="00ACAC"/>
              </a:solidFill>
            </c:spPr>
          </c:dPt>
          <c:dPt>
            <c:idx val="6"/>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4280.545</c:v>
                </c:pt>
                <c:pt idx="1">
                  <c:v>354.4259999999995</c:v>
                </c:pt>
                <c:pt idx="2">
                  <c:v>380.1130000000003</c:v>
                </c:pt>
                <c:pt idx="3">
                  <c:v>406.66200000000026</c:v>
                </c:pt>
                <c:pt idx="4">
                  <c:v>433.78099999999995</c:v>
                </c:pt>
                <c:pt idx="5">
                  <c:v>461.09100000000035</c:v>
                </c:pt>
                <c:pt idx="6">
                  <c:v>6316.618</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2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Micronized Eggshell Membrane</c:v>
                </c:pt>
              </c:strCache>
            </c:strRef>
          </c:tx>
          <c:spPr>
            <a:solidFill>
              <a:srgbClr val="2A5F8F"/>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37.782457495746414</c:v>
                </c:pt>
                <c:pt idx="1">
                  <c:v>38.52459633027522</c:v>
                </c:pt>
                <c:pt idx="2">
                  <c:v>40.306040025187414</c:v>
                </c:pt>
              </c:numCache>
            </c:numRef>
          </c:val>
        </c:ser>
        <c:ser>
          <c:idx val="1"/>
          <c:order val="1"/>
          <c:tx>
            <c:strRef>
              <c:strCache>
                <c:ptCount val="1"/>
                <c:pt idx="0">
                  <c:v>Specialty Extracted Protein Fractions</c:v>
                </c:pt>
              </c:strCache>
            </c:strRef>
          </c:tx>
          <c:spPr>
            <a:solidFill>
              <a:srgbClr val="0081E2"/>
            </a:solidFill>
            <a:ln>
              <a:noFill/>
            </a:ln>
          </c:spPr>
          <c:dLbls>
            <c:dLbl>
              <c:idx val="0"/>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40.74003452166477</c:v>
                </c:pt>
                <c:pt idx="1">
                  <c:v>39.27105504587156</c:v>
                </c:pt>
                <c:pt idx="2">
                  <c:v>35.730169263883454</c:v>
                </c:pt>
              </c:numCache>
            </c:numRef>
          </c:val>
        </c:ser>
        <c:ser>
          <c:idx val="2"/>
          <c:order val="2"/>
          <c:tx>
            <c:strRef>
              <c:strCache>
                <c:ptCount val="1"/>
                <c:pt idx="0">
                  <c:v>Hydrolyzed Eggshell Membrane</c:v>
                </c:pt>
              </c:strCache>
            </c:strRef>
          </c:tx>
          <c:spPr>
            <a:solidFill>
              <a:srgbClr val="0E2A5C"/>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21.47750798258882</c:v>
                </c:pt>
                <c:pt idx="1">
                  <c:v>22.20434862385321</c:v>
                </c:pt>
                <c:pt idx="2">
                  <c:v>23.963790710929125</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2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Mechanical Separation &amp; Micronization</c:v>
                </c:pt>
              </c:strCache>
            </c:strRef>
          </c:tx>
          <c:spPr>
            <a:solidFill>
              <a:srgbClr val="2A5F8F"/>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and Africa</c:v>
                </c:pt>
                <c:pt idx="1">
                  <c:v>Latin America</c:v>
                </c:pt>
                <c:pt idx="2">
                  <c:v>East Asia</c:v>
                </c:pt>
                <c:pt idx="3">
                  <c:v>South Asia &amp; Pacific</c:v>
                </c:pt>
                <c:pt idx="4">
                  <c:v>Europe</c:v>
                </c:pt>
                <c:pt idx="5">
                  <c:v>North America</c:v>
                </c:pt>
              </c:strCache>
            </c:strRef>
          </c:cat>
          <c:val>
            <c:numRef>
              <c:numCache>
                <c:formatCode>General</c:formatCode>
                <c:ptCount val="6"/>
                <c:pt idx="0">
                  <c:v>44.53552004381934</c:v>
                </c:pt>
                <c:pt idx="1">
                  <c:v>39.88347443250447</c:v>
                </c:pt>
                <c:pt idx="2">
                  <c:v>39.313059374659744</c:v>
                </c:pt>
                <c:pt idx="3">
                  <c:v>46.33696731916665</c:v>
                </c:pt>
                <c:pt idx="4">
                  <c:v>40.680468582792145</c:v>
                </c:pt>
                <c:pt idx="5">
                  <c:v>48.474684379536356</c:v>
                </c:pt>
              </c:numCache>
            </c:numRef>
          </c:val>
        </c:ser>
        <c:ser>
          <c:idx val="1"/>
          <c:order val="1"/>
          <c:tx>
            <c:strRef>
              <c:strCache>
                <c:ptCount val="1"/>
                <c:pt idx="0">
                  <c:v>Enzymatic Hydrolysis</c:v>
                </c:pt>
              </c:strCache>
            </c:strRef>
          </c:tx>
          <c:spPr>
            <a:solidFill>
              <a:srgbClr val="0081E2"/>
            </a:solidFill>
            <a:ln>
              <a:noFill/>
            </a:ln>
          </c:spPr>
          <c:dLbls>
            <c:dLbl>
              <c:idx val="0"/>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quot;;&quot;MMM&quot;;&quot;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quot;;&quot;MMM&quot;;&quot;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and Africa</c:v>
                </c:pt>
                <c:pt idx="1">
                  <c:v>Latin America</c:v>
                </c:pt>
                <c:pt idx="2">
                  <c:v>East Asia</c:v>
                </c:pt>
                <c:pt idx="3">
                  <c:v>South Asia &amp; Pacific</c:v>
                </c:pt>
                <c:pt idx="4">
                  <c:v>Europe</c:v>
                </c:pt>
                <c:pt idx="5">
                  <c:v>North America</c:v>
                </c:pt>
              </c:strCache>
            </c:strRef>
          </c:cat>
          <c:val>
            <c:numRef>
              <c:numCache>
                <c:formatCode>General</c:formatCode>
                <c:ptCount val="6"/>
                <c:pt idx="0">
                  <c:v>6.502080914560689</c:v>
                </c:pt>
                <c:pt idx="1">
                  <c:v>6.627069326334017</c:v>
                </c:pt>
                <c:pt idx="2">
                  <c:v>6.617741381613255</c:v>
                </c:pt>
                <c:pt idx="3">
                  <c:v>6.817166319932067</c:v>
                </c:pt>
                <c:pt idx="4">
                  <c:v>6.222294090748625</c:v>
                </c:pt>
                <c:pt idx="5">
                  <c:v>6.528607333324883</c:v>
                </c:pt>
              </c:numCache>
            </c:numRef>
          </c:val>
        </c:ser>
        <c:ser>
          <c:idx val="2"/>
          <c:order val="2"/>
          <c:tx>
            <c:strRef>
              <c:strCache>
                <c:ptCount val="1"/>
                <c:pt idx="0">
                  <c:v>Chemical Hydrolysis / Solubilization</c:v>
                </c:pt>
              </c:strCache>
            </c:strRef>
          </c:tx>
          <c:spPr>
            <a:solidFill>
              <a:srgbClr val="0E2A5C"/>
            </a:solidFill>
            <a:ln>
              <a:noFill/>
            </a:ln>
          </c:spPr>
          <c:dLbls>
            <c:dLbl>
              <c:idx val="0"/>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1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1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1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1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1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and Africa</c:v>
                </c:pt>
                <c:pt idx="1">
                  <c:v>Latin America</c:v>
                </c:pt>
                <c:pt idx="2">
                  <c:v>East Asia</c:v>
                </c:pt>
                <c:pt idx="3">
                  <c:v>South Asia &amp; Pacific</c:v>
                </c:pt>
                <c:pt idx="4">
                  <c:v>Europe</c:v>
                </c:pt>
                <c:pt idx="5">
                  <c:v>North America</c:v>
                </c:pt>
              </c:strCache>
            </c:strRef>
          </c:cat>
          <c:val>
            <c:numRef>
              <c:numCache>
                <c:formatCode>General</c:formatCode>
                <c:ptCount val="6"/>
                <c:pt idx="0">
                  <c:v>16.55356191749934</c:v>
                </c:pt>
                <c:pt idx="1">
                  <c:v>17.735812951085318</c:v>
                </c:pt>
                <c:pt idx="2">
                  <c:v>16.093635730857446</c:v>
                </c:pt>
                <c:pt idx="3">
                  <c:v>15.309451457083986</c:v>
                </c:pt>
                <c:pt idx="4">
                  <c:v>15.255555792484762</c:v>
                </c:pt>
                <c:pt idx="5">
                  <c:v>16.66270269383641</c:v>
                </c:pt>
              </c:numCache>
            </c:numRef>
          </c:val>
        </c:ser>
        <c:ser>
          <c:idx val="3"/>
          <c:order val="3"/>
          <c:tx>
            <c:strRef>
              <c:strCache>
                <c:ptCount val="1"/>
                <c:pt idx="0">
                  <c:v>Other / Hybrid Processing Methods</c:v>
                </c:pt>
              </c:strCache>
            </c:strRef>
          </c:tx>
          <c:spPr>
            <a:solidFill>
              <a:srgbClr val="00ACAC"/>
            </a:solidFill>
            <a:ln>
              <a:noFill/>
            </a:ln>
          </c:spPr>
          <c:dLbls>
            <c:dLbl>
              <c:idx val="0"/>
              <c:numFmt formatCode="&quot;MMMM&quot;;&quot;MMMM&quot;;&quot;MMMM&quot;" sourceLinked="0"/>
              <c:spPr>
                <a:blipFill>
                  <a:blip r:embed="rId1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1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1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2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2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2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and Africa</c:v>
                </c:pt>
                <c:pt idx="1">
                  <c:v>Latin America</c:v>
                </c:pt>
                <c:pt idx="2">
                  <c:v>East Asia</c:v>
                </c:pt>
                <c:pt idx="3">
                  <c:v>South Asia &amp; Pacific</c:v>
                </c:pt>
                <c:pt idx="4">
                  <c:v>Europe</c:v>
                </c:pt>
                <c:pt idx="5">
                  <c:v>North America</c:v>
                </c:pt>
              </c:strCache>
            </c:strRef>
          </c:cat>
          <c:val>
            <c:numRef>
              <c:numCache>
                <c:formatCode>General</c:formatCode>
                <c:ptCount val="6"/>
                <c:pt idx="0">
                  <c:v>32.40883712412062</c:v>
                </c:pt>
                <c:pt idx="1">
                  <c:v>35.753643290076184</c:v>
                </c:pt>
                <c:pt idx="2">
                  <c:v>37.975563512869556</c:v>
                </c:pt>
                <c:pt idx="3">
                  <c:v>31.5364149038173</c:v>
                </c:pt>
                <c:pt idx="4">
                  <c:v>37.841681533974466</c:v>
                </c:pt>
                <c:pt idx="5">
                  <c:v>28.334005593302354</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tickLblSkip val="1"/>
        <c:noMultiLvlLbl val="0"/>
      </c:catAx>
      <c:valAx>
        <c:axId val="-2113994440"/>
        <c:scaling>
          <c:max val="100.0"/>
          <c:min val="0.0"/>
        </c:scaling>
        <c:delete val="0"/>
        <c:axPos val="b"/>
        <c:numFmt formatCode="0&quot;%&quot;" sourceLinked="0"/>
        <c:majorTickMark val="out"/>
        <c:minorTickMark val="none"/>
        <c:tickLblPos val="nextTo"/>
        <c:spPr>
          <a:ln>
            <a:solidFill>
              <a:srgbClr val="C9D6E4"/>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22.xml><?xml version="1.0" encoding="utf-8"?>
<c:chartSpace xmlns:c="http://schemas.openxmlformats.org/drawingml/2006/chart" xmlns:a="http://schemas.openxmlformats.org/drawingml/2006/main" xmlns:r="http://schemas.openxmlformats.org/officeDocument/2006/relationships">
  <c:chart>
    <c:autoTitleDeleted val="1"/>
    <c:plotArea>
      <c:layout/>
      <c:bubbleChart>
        <c:varyColors val="0"/>
        <c:ser>
          <c:idx val="0"/>
          <c:order val="0"/>
          <c:tx>
            <c:strRef>
              <c:strCache>
                <c:ptCount val="1"/>
                <c:pt idx="0">
                  <c:v>Mechanical Separation &amp; Micronization</c:v>
                </c:pt>
              </c:strCache>
            </c:strRef>
          </c:tx>
          <c:spPr>
            <a:solidFill>
              <a:srgbClr val="2A5F8F"/>
            </a:solidFill>
          </c:spPr>
          <c:invertIfNegative val="0"/>
          <c:xVal>
            <c:numRef>
              <c:numCache>
                <c:formatCode>General</c:formatCode>
                <c:ptCount val="1"/>
                <c:pt idx="0">
                  <c:v>108.76953981403568</c:v>
                </c:pt>
              </c:numCache>
            </c:numRef>
          </c:xVal>
          <c:yVal>
            <c:numRef>
              <c:numCache>
                <c:formatCode>General</c:formatCode>
                <c:ptCount val="1"/>
                <c:pt idx="0">
                  <c:v>168.1268990825688</c:v>
                </c:pt>
              </c:numCache>
            </c:numRef>
          </c:yVal>
          <c:bubbleSize>
            <c:numRef>
              <c:numCache>
                <c:formatCode>General</c:formatCode>
                <c:ptCount val="1"/>
                <c:pt idx="0">
                  <c:v>7744.073</c:v>
                </c:pt>
              </c:numCache>
            </c:numRef>
          </c:bubbleSize>
          <c:bubble3D val="0"/>
        </c:ser>
        <c:ser>
          <c:idx val="1"/>
          <c:order val="1"/>
          <c:tx>
            <c:strRef>
              <c:strCache>
                <c:ptCount val="1"/>
                <c:pt idx="0">
                  <c:v>Enzymatic Hydrolysis</c:v>
                </c:pt>
              </c:strCache>
            </c:strRef>
          </c:tx>
          <c:spPr>
            <a:solidFill>
              <a:srgbClr val="0081E2"/>
            </a:solidFill>
          </c:spPr>
          <c:invertIfNegative val="0"/>
          <c:xVal>
            <c:numRef>
              <c:numCache>
                <c:formatCode>General</c:formatCode>
                <c:ptCount val="1"/>
                <c:pt idx="0">
                  <c:v>23.74391496076072</c:v>
                </c:pt>
              </c:numCache>
            </c:numRef>
          </c:xVal>
          <c:yVal>
            <c:numRef>
              <c:numCache>
                <c:formatCode>General</c:formatCode>
                <c:ptCount val="1"/>
                <c:pt idx="0">
                  <c:v>37.494605504587156</c:v>
                </c:pt>
              </c:numCache>
            </c:numRef>
          </c:yVal>
          <c:bubbleSize>
            <c:numRef>
              <c:numCache>
                <c:formatCode>General</c:formatCode>
                <c:ptCount val="1"/>
                <c:pt idx="0">
                  <c:v>1148.498</c:v>
                </c:pt>
              </c:numCache>
            </c:numRef>
          </c:bubbleSize>
          <c:bubble3D val="0"/>
        </c:ser>
        <c:ser>
          <c:idx val="2"/>
          <c:order val="2"/>
          <c:tx>
            <c:strRef>
              <c:strCache>
                <c:ptCount val="1"/>
                <c:pt idx="0">
                  <c:v>Chemical Hydrolysis / Solubilization</c:v>
                </c:pt>
              </c:strCache>
            </c:strRef>
          </c:tx>
          <c:spPr>
            <a:solidFill>
              <a:srgbClr val="0E2A5C"/>
            </a:solidFill>
          </c:spPr>
          <c:invertIfNegative val="0"/>
          <c:xVal>
            <c:numRef>
              <c:numCache>
                <c:formatCode>General</c:formatCode>
                <c:ptCount val="1"/>
                <c:pt idx="0">
                  <c:v>91.58786464851994</c:v>
                </c:pt>
              </c:numCache>
            </c:numRef>
          </c:xVal>
          <c:yVal>
            <c:numRef>
              <c:numCache>
                <c:formatCode>General</c:formatCode>
                <c:ptCount val="1"/>
                <c:pt idx="0">
                  <c:v>66.97820183486239</c:v>
                </c:pt>
              </c:numCache>
            </c:numRef>
          </c:yVal>
          <c:bubbleSize>
            <c:numRef>
              <c:numCache>
                <c:formatCode>General</c:formatCode>
                <c:ptCount val="1"/>
                <c:pt idx="0">
                  <c:v>2844.734</c:v>
                </c:pt>
              </c:numCache>
            </c:numRef>
          </c:bubbleSize>
          <c:bubble3D val="0"/>
        </c:ser>
        <c:ser>
          <c:idx val="3"/>
          <c:order val="3"/>
          <c:tx>
            <c:strRef>
              <c:strCache>
                <c:ptCount val="1"/>
                <c:pt idx="0">
                  <c:v>Other / Hybrid Processing Methods</c:v>
                </c:pt>
              </c:strCache>
            </c:strRef>
          </c:tx>
          <c:spPr>
            <a:solidFill>
              <a:srgbClr val="00ACAC"/>
            </a:solidFill>
          </c:spPr>
          <c:invertIfNegative val="0"/>
          <c:xVal>
            <c:numRef>
              <c:numCache>
                <c:formatCode>General</c:formatCode>
                <c:ptCount val="1"/>
                <c:pt idx="0">
                  <c:v>111.40777728625295</c:v>
                </c:pt>
              </c:numCache>
            </c:numRef>
          </c:xVal>
          <c:yVal>
            <c:numRef>
              <c:numCache>
                <c:formatCode>General</c:formatCode>
                <c:ptCount val="1"/>
                <c:pt idx="0">
                  <c:v>127.40029357798164</c:v>
                </c:pt>
              </c:numCache>
            </c:numRef>
          </c:yVal>
          <c:bubbleSize>
            <c:numRef>
              <c:numCache>
                <c:formatCode>General</c:formatCode>
                <c:ptCount val="1"/>
                <c:pt idx="0">
                  <c:v>5941.363</c:v>
                </c:pt>
              </c:numCache>
            </c:numRef>
          </c:bubbleSize>
          <c:bubble3D val="0"/>
        </c:ser>
        <c:dLbls>
          <c:showLegendKey val="0"/>
          <c:showVal val="0"/>
          <c:showCatName val="0"/>
          <c:showSerName val="0"/>
          <c:showPercent val="0"/>
          <c:showBubbleSize val="0"/>
        </c:dLbls>
        <c:bubbleScale val="55"/>
        <c:showNegBubbles val="0"/>
        <c:axId val="-2115720072"/>
        <c:axId val="-2115723560"/>
      </c:bubbleChart>
      <c:valAx>
        <c:axId val="-2115720072"/>
        <c:scaling>
          <c:orientation val="minMax"/>
          <c:max val="140.0"/>
          <c:min val="0.0"/>
        </c:scaling>
        <c:delete val="0"/>
        <c:axPos val="b"/>
        <c:title>
          <c:tx>
            <c:rich>
              <a:bodyPr/>
              <a:lstStyle/>
              <a:p>
                <a:r>
                  <a:rPr sz="1100" b="0">
                    <a:solidFill>
                      <a:srgbClr val="6C7A89"/>
                    </a:solidFill>
                    <a:latin typeface="Calibri"/>
                  </a:rPr>
                  <a:t>CAGR Index (100 = segment average growth)</a:t>
                </a:r>
              </a:p>
            </c:rich>
          </c:tx>
          <c:layout/>
          <c:overlay val="0"/>
        </c:title>
        <c:numFmt formatCode="General" sourceLinked="1"/>
        <c:majorTickMark val="out"/>
        <c:minorTickMark val="none"/>
        <c:tickLblPos val="nextTo"/>
        <c:spPr>
          <a:ln>
            <a:solidFill>
              <a:srgbClr val="C9D6E4"/>
            </a:solidFill>
          </a:ln>
        </c:spPr>
        <c:txPr>
          <a:bodyPr/>
          <a:lstStyle/>
          <a:p>
            <a:pPr>
              <a:defRPr sz="1100"/>
            </a:pPr>
          </a:p>
        </c:txPr>
        <c:crossAx val="-2115723560"/>
        <c:crosses val="autoZero"/>
        <c:crossBetween val="midCat"/>
      </c:valAx>
      <c:valAx>
        <c:axId val="-2115723560"/>
        <c:scaling>
          <c:orientation val="minMax"/>
          <c:max val="225.0"/>
          <c:min val="0.0"/>
        </c:scaling>
        <c:delete val="0"/>
        <c:axPos val="l"/>
        <c:title>
          <c:tx>
            <c:rich>
              <a:bodyPr/>
              <a:lstStyle/>
              <a:p>
                <a:r>
                  <a:rPr sz="1100" b="0">
                    <a:solidFill>
                      <a:srgbClr val="6C7A89"/>
                    </a:solidFill>
                    <a:latin typeface="Calibri"/>
                  </a:rPr>
                  <a:t>Market Share Index (100 = equal share)</a:t>
                </a:r>
              </a:p>
            </c:rich>
          </c:tx>
          <c:layout/>
          <c:overlay val="0"/>
        </c:title>
        <c:numFmt formatCode="General" sourceLinked="1"/>
        <c:majorTickMark val="out"/>
        <c:minorTickMark val="none"/>
        <c:tickLblPos val="none"/>
        <c:spPr>
          <a:ln>
            <a:solidFill>
              <a:srgbClr val="C9D6E4"/>
            </a:solidFill>
          </a:ln>
        </c:spPr>
        <c:txPr>
          <a:bodyPr/>
          <a:lstStyle/>
          <a:p>
            <a:pPr>
              <a:defRPr sz="1100"/>
            </a:pPr>
          </a:p>
        </c:txPr>
        <c:crossAx val="-2115720072"/>
        <c:crosses val="autoZero"/>
        <c:crossBetween val="midCat"/>
      </c:valAx>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lang="en-US"/>
    </a:p>
  </c:txPr>
</c:chartSpace>
</file>

<file path=ppt/charts/chart2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4581.458</c:v>
                </c:pt>
                <c:pt idx="2">
                  <c:v>5090.707</c:v>
                </c:pt>
                <c:pt idx="3">
                  <c:v>5655.03</c:v>
                </c:pt>
                <c:pt idx="4">
                  <c:v>6280.634</c:v>
                </c:pt>
                <c:pt idx="5">
                  <c:v>6974.4</c:v>
                </c:pt>
                <c:pt idx="6">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00ACAC"/>
              </a:solidFill>
            </c:spPr>
          </c:dPt>
          <c:dPt>
            <c:idx val="3"/>
            <c:spPr>
              <a:solidFill>
                <a:srgbClr val="00ACAC"/>
              </a:solidFill>
            </c:spPr>
          </c:dPt>
          <c:dPt>
            <c:idx val="4"/>
            <c:spPr>
              <a:solidFill>
                <a:srgbClr val="00ACAC"/>
              </a:solidFill>
            </c:spPr>
          </c:dPt>
          <c:dPt>
            <c:idx val="5"/>
            <c:spPr>
              <a:solidFill>
                <a:srgbClr val="00ACAC"/>
              </a:solidFill>
            </c:spPr>
          </c:dPt>
          <c:dPt>
            <c:idx val="6"/>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4581.458</c:v>
                </c:pt>
                <c:pt idx="1">
                  <c:v>509.2490000000007</c:v>
                </c:pt>
                <c:pt idx="2">
                  <c:v>564.3229999999994</c:v>
                </c:pt>
                <c:pt idx="3">
                  <c:v>625.6040000000003</c:v>
                </c:pt>
                <c:pt idx="4">
                  <c:v>693.7659999999996</c:v>
                </c:pt>
                <c:pt idx="5">
                  <c:v>769.6730000000007</c:v>
                </c:pt>
                <c:pt idx="6">
                  <c:v>7744.073</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2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1021.728</c:v>
                </c:pt>
                <c:pt idx="2">
                  <c:v>1048.02</c:v>
                </c:pt>
                <c:pt idx="3">
                  <c:v>1074.146</c:v>
                </c:pt>
                <c:pt idx="4">
                  <c:v>1099.834</c:v>
                </c:pt>
                <c:pt idx="5">
                  <c:v>1124.75</c:v>
                </c:pt>
                <c:pt idx="6">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00ACAC"/>
              </a:solidFill>
            </c:spPr>
          </c:dPt>
          <c:dPt>
            <c:idx val="3"/>
            <c:spPr>
              <a:solidFill>
                <a:srgbClr val="00ACAC"/>
              </a:solidFill>
            </c:spPr>
          </c:dPt>
          <c:dPt>
            <c:idx val="4"/>
            <c:spPr>
              <a:solidFill>
                <a:srgbClr val="00ACAC"/>
              </a:solidFill>
            </c:spPr>
          </c:dPt>
          <c:dPt>
            <c:idx val="5"/>
            <c:spPr>
              <a:solidFill>
                <a:srgbClr val="00ACAC"/>
              </a:solidFill>
            </c:spPr>
          </c:dPt>
          <c:dPt>
            <c:idx val="6"/>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1021.728</c:v>
                </c:pt>
                <c:pt idx="1">
                  <c:v>26.29200000000003</c:v>
                </c:pt>
                <c:pt idx="2">
                  <c:v>26.125999999999976</c:v>
                </c:pt>
                <c:pt idx="3">
                  <c:v>25.688000000000102</c:v>
                </c:pt>
                <c:pt idx="4">
                  <c:v>24.91599999999994</c:v>
                </c:pt>
                <c:pt idx="5">
                  <c:v>23.748000000000047</c:v>
                </c:pt>
                <c:pt idx="6">
                  <c:v>1148.498</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2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1825.156</c:v>
                </c:pt>
                <c:pt idx="2">
                  <c:v>1991.591</c:v>
                </c:pt>
                <c:pt idx="3">
                  <c:v>2174.872</c:v>
                </c:pt>
                <c:pt idx="4">
                  <c:v>2376.783</c:v>
                </c:pt>
                <c:pt idx="5">
                  <c:v>2599.338</c:v>
                </c:pt>
                <c:pt idx="6">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00ACAC"/>
              </a:solidFill>
            </c:spPr>
          </c:dPt>
          <c:dPt>
            <c:idx val="3"/>
            <c:spPr>
              <a:solidFill>
                <a:srgbClr val="00ACAC"/>
              </a:solidFill>
            </c:spPr>
          </c:dPt>
          <c:dPt>
            <c:idx val="4"/>
            <c:spPr>
              <a:solidFill>
                <a:srgbClr val="00ACAC"/>
              </a:solidFill>
            </c:spPr>
          </c:dPt>
          <c:dPt>
            <c:idx val="5"/>
            <c:spPr>
              <a:solidFill>
                <a:srgbClr val="00ACAC"/>
              </a:solidFill>
            </c:spPr>
          </c:dPt>
          <c:dPt>
            <c:idx val="6"/>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1825.156</c:v>
                </c:pt>
                <c:pt idx="1">
                  <c:v>166.43499999999995</c:v>
                </c:pt>
                <c:pt idx="2">
                  <c:v>183.28099999999995</c:v>
                </c:pt>
                <c:pt idx="3">
                  <c:v>201.91100000000006</c:v>
                </c:pt>
                <c:pt idx="4">
                  <c:v>222.5550000000003</c:v>
                </c:pt>
                <c:pt idx="5">
                  <c:v>245.39599999999973</c:v>
                </c:pt>
                <c:pt idx="6">
                  <c:v>2844.734</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2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3471.658</c:v>
                </c:pt>
                <c:pt idx="2">
                  <c:v>3867.003</c:v>
                </c:pt>
                <c:pt idx="3">
                  <c:v>4306.291</c:v>
                </c:pt>
                <c:pt idx="4">
                  <c:v>4794.567</c:v>
                </c:pt>
                <c:pt idx="5">
                  <c:v>5337.483</c:v>
                </c:pt>
                <c:pt idx="6">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00ACAC"/>
              </a:solidFill>
            </c:spPr>
          </c:dPt>
          <c:dPt>
            <c:idx val="3"/>
            <c:spPr>
              <a:solidFill>
                <a:srgbClr val="00ACAC"/>
              </a:solidFill>
            </c:spPr>
          </c:dPt>
          <c:dPt>
            <c:idx val="4"/>
            <c:spPr>
              <a:solidFill>
                <a:srgbClr val="00ACAC"/>
              </a:solidFill>
            </c:spPr>
          </c:dPt>
          <c:dPt>
            <c:idx val="5"/>
            <c:spPr>
              <a:solidFill>
                <a:srgbClr val="00ACAC"/>
              </a:solidFill>
            </c:spPr>
          </c:dPt>
          <c:dPt>
            <c:idx val="6"/>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3471.658</c:v>
                </c:pt>
                <c:pt idx="1">
                  <c:v>395.34500000000025</c:v>
                </c:pt>
                <c:pt idx="2">
                  <c:v>439.288</c:v>
                </c:pt>
                <c:pt idx="3">
                  <c:v>488.27599999999984</c:v>
                </c:pt>
                <c:pt idx="4">
                  <c:v>542.9160000000002</c:v>
                </c:pt>
                <c:pt idx="5">
                  <c:v>603.8800000000001</c:v>
                </c:pt>
                <c:pt idx="6">
                  <c:v>5941.363</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2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Mechanical Separation &amp; Micronization</c:v>
                </c:pt>
              </c:strCache>
            </c:strRef>
          </c:tx>
          <c:spPr>
            <a:solidFill>
              <a:srgbClr val="2A5F8F"/>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40.90900179240642</c:v>
                </c:pt>
                <c:pt idx="1">
                  <c:v>42.0317247706422</c:v>
                </c:pt>
                <c:pt idx="2">
                  <c:v>43.80461808548019</c:v>
                </c:pt>
              </c:numCache>
            </c:numRef>
          </c:val>
        </c:ser>
        <c:ser>
          <c:idx val="1"/>
          <c:order val="1"/>
          <c:tx>
            <c:strRef>
              <c:strCache>
                <c:ptCount val="1"/>
                <c:pt idx="0">
                  <c:v>Other / Hybrid Processing Methods</c:v>
                </c:pt>
              </c:strCache>
            </c:strRef>
          </c:tx>
          <c:spPr>
            <a:solidFill>
              <a:srgbClr val="0081E2"/>
            </a:solidFill>
            <a:ln>
              <a:noFill/>
            </a:ln>
          </c:spPr>
          <c:dLbls>
            <c:dLbl>
              <c:idx val="0"/>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30.811420448759243</c:v>
                </c:pt>
                <c:pt idx="1">
                  <c:v>31.85007339449541</c:v>
                </c:pt>
                <c:pt idx="2">
                  <c:v>33.60752631363403</c:v>
                </c:pt>
              </c:numCache>
            </c:numRef>
          </c:val>
        </c:ser>
        <c:ser>
          <c:idx val="2"/>
          <c:order val="2"/>
          <c:tx>
            <c:strRef>
              <c:strCache>
                <c:ptCount val="1"/>
                <c:pt idx="0">
                  <c:v>Chemical Hydrolysis / Solubilization</c:v>
                </c:pt>
              </c:strCache>
            </c:strRef>
          </c:tx>
          <c:spPr>
            <a:solidFill>
              <a:srgbClr val="0E2A5C"/>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17.141831566227562</c:v>
                </c:pt>
                <c:pt idx="1">
                  <c:v>16.744550458715597</c:v>
                </c:pt>
                <c:pt idx="2">
                  <c:v>16.091336745505938</c:v>
                </c:pt>
              </c:numCache>
            </c:numRef>
          </c:val>
        </c:ser>
        <c:ser>
          <c:idx val="3"/>
          <c:order val="3"/>
          <c:tx>
            <c:strRef>
              <c:strCache>
                <c:ptCount val="1"/>
                <c:pt idx="0">
                  <c:v>Enzymatic Hydrolysis</c:v>
                </c:pt>
              </c:strCache>
            </c:strRef>
          </c:tx>
          <c:spPr>
            <a:solidFill>
              <a:srgbClr val="00ACAC"/>
            </a:solidFill>
            <a:ln>
              <a:noFill/>
            </a:ln>
          </c:spPr>
          <c:dLbls>
            <c:dLbl>
              <c:idx val="0"/>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11.13774619260678</c:v>
                </c:pt>
                <c:pt idx="1">
                  <c:v>9.373651376146789</c:v>
                </c:pt>
                <c:pt idx="2">
                  <c:v>6.496518855379827</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2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Chicken Eggshell Membrane</c:v>
                </c:pt>
              </c:strCache>
            </c:strRef>
          </c:tx>
          <c:spPr>
            <a:solidFill>
              <a:srgbClr val="2A5F8F"/>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and Africa</c:v>
                </c:pt>
                <c:pt idx="1">
                  <c:v>Latin America</c:v>
                </c:pt>
                <c:pt idx="2">
                  <c:v>East Asia</c:v>
                </c:pt>
                <c:pt idx="3">
                  <c:v>South Asia &amp; Pacific</c:v>
                </c:pt>
                <c:pt idx="4">
                  <c:v>Europe</c:v>
                </c:pt>
                <c:pt idx="5">
                  <c:v>North America</c:v>
                </c:pt>
              </c:strCache>
            </c:strRef>
          </c:cat>
          <c:val>
            <c:numRef>
              <c:numCache>
                <c:formatCode>General</c:formatCode>
                <c:ptCount val="6"/>
                <c:pt idx="0">
                  <c:v>78.89161266257932</c:v>
                </c:pt>
                <c:pt idx="1">
                  <c:v>84.42627511759771</c:v>
                </c:pt>
                <c:pt idx="2">
                  <c:v>83.62022717284118</c:v>
                </c:pt>
                <c:pt idx="3">
                  <c:v>84.01086526220087</c:v>
                </c:pt>
                <c:pt idx="4">
                  <c:v>82.38836093163724</c:v>
                </c:pt>
                <c:pt idx="5">
                  <c:v>79.94789550321455</c:v>
                </c:pt>
              </c:numCache>
            </c:numRef>
          </c:val>
        </c:ser>
        <c:ser>
          <c:idx val="1"/>
          <c:order val="1"/>
          <c:tx>
            <c:strRef>
              <c:strCache>
                <c:ptCount val="1"/>
                <c:pt idx="0">
                  <c:v>Other Poultry Eggshell Membrane</c:v>
                </c:pt>
              </c:strCache>
            </c:strRef>
          </c:tx>
          <c:spPr>
            <a:solidFill>
              <a:srgbClr val="0081E2"/>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1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and Africa</c:v>
                </c:pt>
                <c:pt idx="1">
                  <c:v>Latin America</c:v>
                </c:pt>
                <c:pt idx="2">
                  <c:v>East Asia</c:v>
                </c:pt>
                <c:pt idx="3">
                  <c:v>South Asia &amp; Pacific</c:v>
                </c:pt>
                <c:pt idx="4">
                  <c:v>Europe</c:v>
                </c:pt>
                <c:pt idx="5">
                  <c:v>North America</c:v>
                </c:pt>
              </c:strCache>
            </c:strRef>
          </c:cat>
          <c:val>
            <c:numRef>
              <c:numCache>
                <c:formatCode>General</c:formatCode>
                <c:ptCount val="6"/>
                <c:pt idx="0">
                  <c:v>21.108387337420673</c:v>
                </c:pt>
                <c:pt idx="1">
                  <c:v>15.573724882402276</c:v>
                </c:pt>
                <c:pt idx="2">
                  <c:v>16.379772827158824</c:v>
                </c:pt>
                <c:pt idx="3">
                  <c:v>15.989134737799136</c:v>
                </c:pt>
                <c:pt idx="4">
                  <c:v>17.611639068362763</c:v>
                </c:pt>
                <c:pt idx="5">
                  <c:v>20.052104496785457</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tickLblSkip val="1"/>
        <c:noMultiLvlLbl val="0"/>
      </c:catAx>
      <c:valAx>
        <c:axId val="-2113994440"/>
        <c:scaling>
          <c:max val="100.0"/>
          <c:min val="0.0"/>
        </c:scaling>
        <c:delete val="0"/>
        <c:axPos val="b"/>
        <c:numFmt formatCode="0&quot;%&quot;" sourceLinked="0"/>
        <c:majorTickMark val="out"/>
        <c:minorTickMark val="none"/>
        <c:tickLblPos val="nextTo"/>
        <c:spPr>
          <a:ln>
            <a:solidFill>
              <a:srgbClr val="C9D6E4"/>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29.xml><?xml version="1.0" encoding="utf-8"?>
<c:chartSpace xmlns:c="http://schemas.openxmlformats.org/drawingml/2006/chart" xmlns:a="http://schemas.openxmlformats.org/drawingml/2006/main" xmlns:r="http://schemas.openxmlformats.org/officeDocument/2006/relationships">
  <c:chart>
    <c:autoTitleDeleted val="1"/>
    <c:plotArea>
      <c:layout/>
      <c:bubbleChart>
        <c:varyColors val="0"/>
        <c:ser>
          <c:idx val="0"/>
          <c:order val="0"/>
          <c:tx>
            <c:strRef>
              <c:strCache>
                <c:ptCount val="1"/>
                <c:pt idx="0">
                  <c:v>Chicken Eggshell Membrane</c:v>
                </c:pt>
              </c:strCache>
            </c:strRef>
          </c:tx>
          <c:spPr>
            <a:solidFill>
              <a:srgbClr val="2A5F8F"/>
            </a:solidFill>
          </c:spPr>
          <c:invertIfNegative val="0"/>
          <c:xVal>
            <c:numRef>
              <c:numCache>
                <c:formatCode>General</c:formatCode>
                <c:ptCount val="1"/>
                <c:pt idx="0">
                  <c:v>100.21851712112202</c:v>
                </c:pt>
              </c:numCache>
            </c:numRef>
          </c:xVal>
          <c:yVal>
            <c:numRef>
              <c:numCache>
                <c:formatCode>General</c:formatCode>
                <c:ptCount val="1"/>
                <c:pt idx="0">
                  <c:v>163.73669724770642</c:v>
                </c:pt>
              </c:numCache>
            </c:numRef>
          </c:yVal>
          <c:bubbleSize>
            <c:numRef>
              <c:numCache>
                <c:formatCode>General</c:formatCode>
                <c:ptCount val="1"/>
                <c:pt idx="0">
                  <c:v>14488.171</c:v>
                </c:pt>
              </c:numCache>
            </c:numRef>
          </c:bubbleSize>
          <c:bubble3D val="0"/>
        </c:ser>
        <c:ser>
          <c:idx val="1"/>
          <c:order val="1"/>
          <c:tx>
            <c:strRef>
              <c:strCache>
                <c:ptCount val="1"/>
                <c:pt idx="0">
                  <c:v>Other Poultry Eggshell Membrane</c:v>
                </c:pt>
              </c:strCache>
            </c:strRef>
          </c:tx>
          <c:spPr>
            <a:solidFill>
              <a:srgbClr val="0081E2"/>
            </a:solidFill>
          </c:spPr>
          <c:invertIfNegative val="0"/>
          <c:xVal>
            <c:numRef>
              <c:numCache>
                <c:formatCode>General</c:formatCode>
                <c:ptCount val="1"/>
                <c:pt idx="0">
                  <c:v>99.01081341682665</c:v>
                </c:pt>
              </c:numCache>
            </c:numRef>
          </c:xVal>
          <c:yVal>
            <c:numRef>
              <c:numCache>
                <c:formatCode>General</c:formatCode>
                <c:ptCount val="1"/>
                <c:pt idx="0">
                  <c:v>36.263302752293576</c:v>
                </c:pt>
              </c:numCache>
            </c:numRef>
          </c:yVal>
          <c:bubbleSize>
            <c:numRef>
              <c:numCache>
                <c:formatCode>General</c:formatCode>
                <c:ptCount val="1"/>
                <c:pt idx="0">
                  <c:v>3190.497</c:v>
                </c:pt>
              </c:numCache>
            </c:numRef>
          </c:bubbleSize>
          <c:bubble3D val="0"/>
        </c:ser>
        <c:dLbls>
          <c:showLegendKey val="0"/>
          <c:showVal val="0"/>
          <c:showCatName val="0"/>
          <c:showSerName val="0"/>
          <c:showPercent val="0"/>
          <c:showBubbleSize val="0"/>
        </c:dLbls>
        <c:bubbleScale val="55"/>
        <c:showNegBubbles val="0"/>
        <c:axId val="-2115720072"/>
        <c:axId val="-2115723560"/>
      </c:bubbleChart>
      <c:valAx>
        <c:axId val="-2115720072"/>
        <c:scaling>
          <c:orientation val="minMax"/>
          <c:max val="110.0"/>
          <c:min val="90.0"/>
        </c:scaling>
        <c:delete val="0"/>
        <c:axPos val="b"/>
        <c:title>
          <c:tx>
            <c:rich>
              <a:bodyPr/>
              <a:lstStyle/>
              <a:p>
                <a:r>
                  <a:rPr sz="1100" b="0">
                    <a:solidFill>
                      <a:srgbClr val="6C7A89"/>
                    </a:solidFill>
                    <a:latin typeface="Calibri"/>
                  </a:rPr>
                  <a:t>CAGR Index (100 = segment average growth)</a:t>
                </a:r>
              </a:p>
            </c:rich>
          </c:tx>
          <c:layout/>
          <c:overlay val="0"/>
        </c:title>
        <c:numFmt formatCode="General" sourceLinked="1"/>
        <c:majorTickMark val="out"/>
        <c:minorTickMark val="none"/>
        <c:tickLblPos val="nextTo"/>
        <c:spPr>
          <a:ln>
            <a:solidFill>
              <a:srgbClr val="C9D6E4"/>
            </a:solidFill>
          </a:ln>
        </c:spPr>
        <c:txPr>
          <a:bodyPr/>
          <a:lstStyle/>
          <a:p>
            <a:pPr>
              <a:defRPr sz="1100"/>
            </a:pPr>
          </a:p>
        </c:txPr>
        <c:crossAx val="-2115723560"/>
        <c:crosses val="autoZero"/>
        <c:crossBetween val="midCat"/>
      </c:valAx>
      <c:valAx>
        <c:axId val="-2115723560"/>
        <c:scaling>
          <c:orientation val="minMax"/>
          <c:max val="200.0"/>
          <c:min val="0.0"/>
        </c:scaling>
        <c:delete val="0"/>
        <c:axPos val="l"/>
        <c:title>
          <c:tx>
            <c:rich>
              <a:bodyPr/>
              <a:lstStyle/>
              <a:p>
                <a:r>
                  <a:rPr sz="1100" b="0">
                    <a:solidFill>
                      <a:srgbClr val="6C7A89"/>
                    </a:solidFill>
                    <a:latin typeface="Calibri"/>
                  </a:rPr>
                  <a:t>Market Share Index (100 = equal share)</a:t>
                </a:r>
              </a:p>
            </c:rich>
          </c:tx>
          <c:layout/>
          <c:overlay val="0"/>
        </c:title>
        <c:numFmt formatCode="General" sourceLinked="1"/>
        <c:majorTickMark val="out"/>
        <c:minorTickMark val="none"/>
        <c:tickLblPos val="none"/>
        <c:spPr>
          <a:ln>
            <a:solidFill>
              <a:srgbClr val="C9D6E4"/>
            </a:solidFill>
          </a:ln>
        </c:spPr>
        <c:txPr>
          <a:bodyPr/>
          <a:lstStyle/>
          <a:p>
            <a:pPr>
              <a:defRPr sz="1100"/>
            </a:pPr>
          </a:p>
        </c:txPr>
        <c:crossAx val="-2115720072"/>
        <c:crosses val="autoZero"/>
        <c:crossBetween val="midCat"/>
      </c:valAx>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lang="en-US"/>
    </a:p>
  </c:txPr>
</c:chartSpace>
</file>

<file path=ppt/charts/chart3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8923.65</c:v>
                </c:pt>
                <c:pt idx="2">
                  <c:v>9823.785</c:v>
                </c:pt>
                <c:pt idx="3">
                  <c:v>10819.148</c:v>
                </c:pt>
                <c:pt idx="4">
                  <c:v>11920.267</c:v>
                </c:pt>
                <c:pt idx="5">
                  <c:v>13138.903</c:v>
                </c:pt>
                <c:pt idx="6">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00ACAC"/>
              </a:solidFill>
            </c:spPr>
          </c:dPt>
          <c:dPt>
            <c:idx val="3"/>
            <c:spPr>
              <a:solidFill>
                <a:srgbClr val="00ACAC"/>
              </a:solidFill>
            </c:spPr>
          </c:dPt>
          <c:dPt>
            <c:idx val="4"/>
            <c:spPr>
              <a:solidFill>
                <a:srgbClr val="00ACAC"/>
              </a:solidFill>
            </c:spPr>
          </c:dPt>
          <c:dPt>
            <c:idx val="5"/>
            <c:spPr>
              <a:solidFill>
                <a:srgbClr val="00ACAC"/>
              </a:solidFill>
            </c:spPr>
          </c:dPt>
          <c:dPt>
            <c:idx val="6"/>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8923.65</c:v>
                </c:pt>
                <c:pt idx="1">
                  <c:v>900.1350000000002</c:v>
                </c:pt>
                <c:pt idx="2">
                  <c:v>995.3629999999994</c:v>
                </c:pt>
                <c:pt idx="3">
                  <c:v>1101.1190000000006</c:v>
                </c:pt>
                <c:pt idx="4">
                  <c:v>1218.6360000000004</c:v>
                </c:pt>
                <c:pt idx="5">
                  <c:v>1349.268</c:v>
                </c:pt>
                <c:pt idx="6">
                  <c:v>14488.171</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3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1976.35</c:v>
                </c:pt>
                <c:pt idx="2">
                  <c:v>2173.536</c:v>
                </c:pt>
                <c:pt idx="3">
                  <c:v>2391.191</c:v>
                </c:pt>
                <c:pt idx="4">
                  <c:v>2631.551</c:v>
                </c:pt>
                <c:pt idx="5">
                  <c:v>2897.068</c:v>
                </c:pt>
                <c:pt idx="6">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00ACAC"/>
              </a:solidFill>
            </c:spPr>
          </c:dPt>
          <c:dPt>
            <c:idx val="3"/>
            <c:spPr>
              <a:solidFill>
                <a:srgbClr val="00ACAC"/>
              </a:solidFill>
            </c:spPr>
          </c:dPt>
          <c:dPt>
            <c:idx val="4"/>
            <c:spPr>
              <a:solidFill>
                <a:srgbClr val="00ACAC"/>
              </a:solidFill>
            </c:spPr>
          </c:dPt>
          <c:dPt>
            <c:idx val="5"/>
            <c:spPr>
              <a:solidFill>
                <a:srgbClr val="00ACAC"/>
              </a:solidFill>
            </c:spPr>
          </c:dPt>
          <c:dPt>
            <c:idx val="6"/>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1976.35</c:v>
                </c:pt>
                <c:pt idx="1">
                  <c:v>197.18600000000015</c:v>
                </c:pt>
                <c:pt idx="2">
                  <c:v>217.65499999999975</c:v>
                </c:pt>
                <c:pt idx="3">
                  <c:v>240.36000000000013</c:v>
                </c:pt>
                <c:pt idx="4">
                  <c:v>265.5170000000003</c:v>
                </c:pt>
                <c:pt idx="5">
                  <c:v>293.42899999999963</c:v>
                </c:pt>
                <c:pt idx="6">
                  <c:v>3190.497</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3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Chicken Eggshell Membrane</c:v>
                </c:pt>
              </c:strCache>
            </c:strRef>
          </c:tx>
          <c:spPr>
            <a:solidFill>
              <a:srgbClr val="2A5F8F"/>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81.83596237907082</c:v>
                </c:pt>
                <c:pt idx="1">
                  <c:v>81.86834862385321</c:v>
                </c:pt>
                <c:pt idx="2">
                  <c:v>81.95284282729898</c:v>
                </c:pt>
              </c:numCache>
            </c:numRef>
          </c:val>
        </c:ser>
        <c:ser>
          <c:idx val="1"/>
          <c:order val="1"/>
          <c:tx>
            <c:strRef>
              <c:strCache>
                <c:ptCount val="1"/>
                <c:pt idx="0">
                  <c:v>Other Poultry Eggshell Membrane</c:v>
                </c:pt>
              </c:strCache>
            </c:strRef>
          </c:tx>
          <c:spPr>
            <a:solidFill>
              <a:srgbClr val="0081E2"/>
            </a:solidFill>
            <a:ln>
              <a:noFill/>
            </a:ln>
          </c:spPr>
          <c:dLbls>
            <c:dLbl>
              <c:idx val="0"/>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18.16403762092918</c:v>
                </c:pt>
                <c:pt idx="1">
                  <c:v>18.131651376146788</c:v>
                </c:pt>
                <c:pt idx="2">
                  <c:v>18.047157172701016</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3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Powder</c:v>
                </c:pt>
              </c:strCache>
            </c:strRef>
          </c:tx>
          <c:spPr>
            <a:solidFill>
              <a:srgbClr val="2A5F8F"/>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and Africa</c:v>
                </c:pt>
                <c:pt idx="1">
                  <c:v>Latin America</c:v>
                </c:pt>
                <c:pt idx="2">
                  <c:v>East Asia</c:v>
                </c:pt>
                <c:pt idx="3">
                  <c:v>South Asia &amp; Pacific</c:v>
                </c:pt>
                <c:pt idx="4">
                  <c:v>Europe</c:v>
                </c:pt>
                <c:pt idx="5">
                  <c:v>North America</c:v>
                </c:pt>
              </c:strCache>
            </c:strRef>
          </c:cat>
          <c:val>
            <c:numRef>
              <c:numCache>
                <c:formatCode>General</c:formatCode>
                <c:ptCount val="6"/>
                <c:pt idx="0">
                  <c:v>23.16603127504532</c:v>
                </c:pt>
                <c:pt idx="1">
                  <c:v>19.388356129060277</c:v>
                </c:pt>
                <c:pt idx="2">
                  <c:v>20.81827010266287</c:v>
                </c:pt>
                <c:pt idx="3">
                  <c:v>22.627918733295544</c:v>
                </c:pt>
                <c:pt idx="4">
                  <c:v>21.751285933275998</c:v>
                </c:pt>
                <c:pt idx="5">
                  <c:v>19.48125513048678</c:v>
                </c:pt>
              </c:numCache>
            </c:numRef>
          </c:val>
        </c:ser>
        <c:ser>
          <c:idx val="1"/>
          <c:order val="1"/>
          <c:tx>
            <c:strRef>
              <c:strCache>
                <c:ptCount val="1"/>
                <c:pt idx="0">
                  <c:v>Liquid / Concentrate</c:v>
                </c:pt>
              </c:strCache>
            </c:strRef>
          </c:tx>
          <c:spPr>
            <a:solidFill>
              <a:srgbClr val="0081E2"/>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1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and Africa</c:v>
                </c:pt>
                <c:pt idx="1">
                  <c:v>Latin America</c:v>
                </c:pt>
                <c:pt idx="2">
                  <c:v>East Asia</c:v>
                </c:pt>
                <c:pt idx="3">
                  <c:v>South Asia &amp; Pacific</c:v>
                </c:pt>
                <c:pt idx="4">
                  <c:v>Europe</c:v>
                </c:pt>
                <c:pt idx="5">
                  <c:v>North America</c:v>
                </c:pt>
              </c:strCache>
            </c:strRef>
          </c:cat>
          <c:val>
            <c:numRef>
              <c:numCache>
                <c:formatCode>General</c:formatCode>
                <c:ptCount val="6"/>
                <c:pt idx="0">
                  <c:v>76.83396872495467</c:v>
                </c:pt>
                <c:pt idx="1">
                  <c:v>80.61164387093972</c:v>
                </c:pt>
                <c:pt idx="2">
                  <c:v>79.18172989733712</c:v>
                </c:pt>
                <c:pt idx="3">
                  <c:v>77.37208126670446</c:v>
                </c:pt>
                <c:pt idx="4">
                  <c:v>78.248714066724</c:v>
                </c:pt>
                <c:pt idx="5">
                  <c:v>80.51874486951323</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tickLblSkip val="1"/>
        <c:noMultiLvlLbl val="0"/>
      </c:catAx>
      <c:valAx>
        <c:axId val="-2113994440"/>
        <c:scaling>
          <c:max val="100.0"/>
          <c:min val="0.0"/>
        </c:scaling>
        <c:delete val="0"/>
        <c:axPos val="b"/>
        <c:numFmt formatCode="0&quot;%&quot;" sourceLinked="0"/>
        <c:majorTickMark val="out"/>
        <c:minorTickMark val="none"/>
        <c:tickLblPos val="nextTo"/>
        <c:spPr>
          <a:ln>
            <a:solidFill>
              <a:srgbClr val="C9D6E4"/>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34.xml><?xml version="1.0" encoding="utf-8"?>
<c:chartSpace xmlns:c="http://schemas.openxmlformats.org/drawingml/2006/chart" xmlns:a="http://schemas.openxmlformats.org/drawingml/2006/main" xmlns:r="http://schemas.openxmlformats.org/officeDocument/2006/relationships">
  <c:chart>
    <c:autoTitleDeleted val="1"/>
    <c:plotArea>
      <c:layout/>
      <c:bubbleChart>
        <c:varyColors val="0"/>
        <c:ser>
          <c:idx val="0"/>
          <c:order val="0"/>
          <c:tx>
            <c:strRef>
              <c:strCache>
                <c:ptCount val="1"/>
                <c:pt idx="0">
                  <c:v>Powder</c:v>
                </c:pt>
              </c:strCache>
            </c:strRef>
          </c:tx>
          <c:spPr>
            <a:solidFill>
              <a:srgbClr val="2A5F8F"/>
            </a:solidFill>
          </c:spPr>
          <c:invertIfNegative val="0"/>
          <c:xVal>
            <c:numRef>
              <c:numCache>
                <c:formatCode>General</c:formatCode>
                <c:ptCount val="1"/>
                <c:pt idx="0">
                  <c:v>90.97955113513424</c:v>
                </c:pt>
              </c:numCache>
            </c:numRef>
          </c:xVal>
          <c:yVal>
            <c:numRef>
              <c:numCache>
                <c:formatCode>General</c:formatCode>
                <c:ptCount val="1"/>
                <c:pt idx="0">
                  <c:v>43.73895412844037</c:v>
                </c:pt>
              </c:numCache>
            </c:numRef>
          </c:yVal>
          <c:bubbleSize>
            <c:numRef>
              <c:numCache>
                <c:formatCode>General</c:formatCode>
                <c:ptCount val="1"/>
                <c:pt idx="0">
                  <c:v>3704.71</c:v>
                </c:pt>
              </c:numCache>
            </c:numRef>
          </c:bubbleSize>
          <c:bubble3D val="0"/>
        </c:ser>
        <c:ser>
          <c:idx val="1"/>
          <c:order val="1"/>
          <c:tx>
            <c:strRef>
              <c:strCache>
                <c:ptCount val="1"/>
                <c:pt idx="0">
                  <c:v>Liquid / Concentrate</c:v>
                </c:pt>
              </c:strCache>
            </c:strRef>
          </c:tx>
          <c:spPr>
            <a:solidFill>
              <a:srgbClr val="0081E2"/>
            </a:solidFill>
          </c:spPr>
          <c:invertIfNegative val="0"/>
          <c:xVal>
            <c:numRef>
              <c:numCache>
                <c:formatCode>General</c:formatCode>
                <c:ptCount val="1"/>
                <c:pt idx="0">
                  <c:v>102.46413060564204</c:v>
                </c:pt>
              </c:numCache>
            </c:numRef>
          </c:xVal>
          <c:yVal>
            <c:numRef>
              <c:numCache>
                <c:formatCode>General</c:formatCode>
                <c:ptCount val="1"/>
                <c:pt idx="0">
                  <c:v>156.26104587155965</c:v>
                </c:pt>
              </c:numCache>
            </c:numRef>
          </c:yVal>
          <c:bubbleSize>
            <c:numRef>
              <c:numCache>
                <c:formatCode>General</c:formatCode>
                <c:ptCount val="1"/>
                <c:pt idx="0">
                  <c:v>13973.958</c:v>
                </c:pt>
              </c:numCache>
            </c:numRef>
          </c:bubbleSize>
          <c:bubble3D val="0"/>
        </c:ser>
        <c:dLbls>
          <c:showLegendKey val="0"/>
          <c:showVal val="0"/>
          <c:showCatName val="0"/>
          <c:showSerName val="0"/>
          <c:showPercent val="0"/>
          <c:showBubbleSize val="0"/>
        </c:dLbls>
        <c:bubbleScale val="55"/>
        <c:showNegBubbles val="0"/>
        <c:axId val="-2115720072"/>
        <c:axId val="-2115723560"/>
      </c:bubbleChart>
      <c:valAx>
        <c:axId val="-2115720072"/>
        <c:scaling>
          <c:orientation val="minMax"/>
          <c:max val="110.0"/>
          <c:min val="85.0"/>
        </c:scaling>
        <c:delete val="0"/>
        <c:axPos val="b"/>
        <c:title>
          <c:tx>
            <c:rich>
              <a:bodyPr/>
              <a:lstStyle/>
              <a:p>
                <a:r>
                  <a:rPr sz="1100" b="0">
                    <a:solidFill>
                      <a:srgbClr val="6C7A89"/>
                    </a:solidFill>
                    <a:latin typeface="Calibri"/>
                  </a:rPr>
                  <a:t>CAGR Index (100 = segment average growth)</a:t>
                </a:r>
              </a:p>
            </c:rich>
          </c:tx>
          <c:layout/>
          <c:overlay val="0"/>
        </c:title>
        <c:numFmt formatCode="General" sourceLinked="1"/>
        <c:majorTickMark val="out"/>
        <c:minorTickMark val="none"/>
        <c:tickLblPos val="nextTo"/>
        <c:spPr>
          <a:ln>
            <a:solidFill>
              <a:srgbClr val="C9D6E4"/>
            </a:solidFill>
          </a:ln>
        </c:spPr>
        <c:txPr>
          <a:bodyPr/>
          <a:lstStyle/>
          <a:p>
            <a:pPr>
              <a:defRPr sz="1100"/>
            </a:pPr>
          </a:p>
        </c:txPr>
        <c:crossAx val="-2115723560"/>
        <c:crosses val="autoZero"/>
        <c:crossBetween val="midCat"/>
      </c:valAx>
      <c:valAx>
        <c:axId val="-2115723560"/>
        <c:scaling>
          <c:orientation val="minMax"/>
          <c:max val="200.0"/>
          <c:min val="0.0"/>
        </c:scaling>
        <c:delete val="0"/>
        <c:axPos val="l"/>
        <c:title>
          <c:tx>
            <c:rich>
              <a:bodyPr/>
              <a:lstStyle/>
              <a:p>
                <a:r>
                  <a:rPr sz="1100" b="0">
                    <a:solidFill>
                      <a:srgbClr val="6C7A89"/>
                    </a:solidFill>
                    <a:latin typeface="Calibri"/>
                  </a:rPr>
                  <a:t>Market Share Index (100 = equal share)</a:t>
                </a:r>
              </a:p>
            </c:rich>
          </c:tx>
          <c:layout/>
          <c:overlay val="0"/>
        </c:title>
        <c:numFmt formatCode="General" sourceLinked="1"/>
        <c:majorTickMark val="out"/>
        <c:minorTickMark val="none"/>
        <c:tickLblPos val="none"/>
        <c:spPr>
          <a:ln>
            <a:solidFill>
              <a:srgbClr val="C9D6E4"/>
            </a:solidFill>
          </a:ln>
        </c:spPr>
        <c:txPr>
          <a:bodyPr/>
          <a:lstStyle/>
          <a:p>
            <a:pPr>
              <a:defRPr sz="1100"/>
            </a:pPr>
          </a:p>
        </c:txPr>
        <c:crossAx val="-2115720072"/>
        <c:crosses val="autoZero"/>
        <c:crossBetween val="midCat"/>
      </c:valAx>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lang="en-US"/>
    </a:p>
  </c:txPr>
</c:chartSpace>
</file>

<file path=ppt/charts/chart3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2383.773</c:v>
                </c:pt>
                <c:pt idx="2">
                  <c:v>2597.462</c:v>
                </c:pt>
                <c:pt idx="3">
                  <c:v>2833.864</c:v>
                </c:pt>
                <c:pt idx="4">
                  <c:v>3095.373</c:v>
                </c:pt>
                <c:pt idx="5">
                  <c:v>3384.653</c:v>
                </c:pt>
                <c:pt idx="6">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00ACAC"/>
              </a:solidFill>
            </c:spPr>
          </c:dPt>
          <c:dPt>
            <c:idx val="3"/>
            <c:spPr>
              <a:solidFill>
                <a:srgbClr val="00ACAC"/>
              </a:solidFill>
            </c:spPr>
          </c:dPt>
          <c:dPt>
            <c:idx val="4"/>
            <c:spPr>
              <a:solidFill>
                <a:srgbClr val="00ACAC"/>
              </a:solidFill>
            </c:spPr>
          </c:dPt>
          <c:dPt>
            <c:idx val="5"/>
            <c:spPr>
              <a:solidFill>
                <a:srgbClr val="00ACAC"/>
              </a:solidFill>
            </c:spPr>
          </c:dPt>
          <c:dPt>
            <c:idx val="6"/>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2383.773</c:v>
                </c:pt>
                <c:pt idx="1">
                  <c:v>213.68899999999985</c:v>
                </c:pt>
                <c:pt idx="2">
                  <c:v>236.40200000000004</c:v>
                </c:pt>
                <c:pt idx="3">
                  <c:v>261.509</c:v>
                </c:pt>
                <c:pt idx="4">
                  <c:v>289.27999999999975</c:v>
                </c:pt>
                <c:pt idx="5">
                  <c:v>320.05700000000024</c:v>
                </c:pt>
                <c:pt idx="6">
                  <c:v>3704.71</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3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8516.227</c:v>
                </c:pt>
                <c:pt idx="2">
                  <c:v>9399.859</c:v>
                </c:pt>
                <c:pt idx="3">
                  <c:v>10376.475</c:v>
                </c:pt>
                <c:pt idx="4">
                  <c:v>11456.445</c:v>
                </c:pt>
                <c:pt idx="5">
                  <c:v>12651.318</c:v>
                </c:pt>
                <c:pt idx="6">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00ACAC"/>
              </a:solidFill>
            </c:spPr>
          </c:dPt>
          <c:dPt>
            <c:idx val="3"/>
            <c:spPr>
              <a:solidFill>
                <a:srgbClr val="00ACAC"/>
              </a:solidFill>
            </c:spPr>
          </c:dPt>
          <c:dPt>
            <c:idx val="4"/>
            <c:spPr>
              <a:solidFill>
                <a:srgbClr val="00ACAC"/>
              </a:solidFill>
            </c:spPr>
          </c:dPt>
          <c:dPt>
            <c:idx val="5"/>
            <c:spPr>
              <a:solidFill>
                <a:srgbClr val="00ACAC"/>
              </a:solidFill>
            </c:spPr>
          </c:dPt>
          <c:dPt>
            <c:idx val="6"/>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8516.227</c:v>
                </c:pt>
                <c:pt idx="1">
                  <c:v>883.6319999999996</c:v>
                </c:pt>
                <c:pt idx="2">
                  <c:v>976.616</c:v>
                </c:pt>
                <c:pt idx="3">
                  <c:v>1079.9699999999993</c:v>
                </c:pt>
                <c:pt idx="4">
                  <c:v>1194.8729999999996</c:v>
                </c:pt>
                <c:pt idx="5">
                  <c:v>1322.6400000000012</c:v>
                </c:pt>
                <c:pt idx="6">
                  <c:v>13973.958</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3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Liquid / Concentrate</c:v>
                </c:pt>
              </c:strCache>
            </c:strRef>
          </c:tx>
          <c:spPr>
            <a:solidFill>
              <a:srgbClr val="2A5F8F"/>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77.47016044944712</c:v>
                </c:pt>
                <c:pt idx="1">
                  <c:v>78.13052293577982</c:v>
                </c:pt>
                <c:pt idx="2">
                  <c:v>79.04417912028214</c:v>
                </c:pt>
              </c:numCache>
            </c:numRef>
          </c:val>
        </c:ser>
        <c:ser>
          <c:idx val="1"/>
          <c:order val="1"/>
          <c:tx>
            <c:strRef>
              <c:strCache>
                <c:ptCount val="1"/>
                <c:pt idx="0">
                  <c:v>Powder</c:v>
                </c:pt>
              </c:strCache>
            </c:strRef>
          </c:tx>
          <c:spPr>
            <a:solidFill>
              <a:srgbClr val="0081E2"/>
            </a:solidFill>
            <a:ln>
              <a:noFill/>
            </a:ln>
          </c:spPr>
          <c:dLbls>
            <c:dLbl>
              <c:idx val="0"/>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22.529839550552886</c:v>
                </c:pt>
                <c:pt idx="1">
                  <c:v>21.869477064220185</c:v>
                </c:pt>
                <c:pt idx="2">
                  <c:v>20.95582087971786</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3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Dietary Supplements &amp; Nutraceuticals</c:v>
                </c:pt>
              </c:strCache>
            </c:strRef>
          </c:tx>
          <c:spPr>
            <a:solidFill>
              <a:srgbClr val="2A5F8F"/>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and Africa</c:v>
                </c:pt>
                <c:pt idx="1">
                  <c:v>Latin America</c:v>
                </c:pt>
                <c:pt idx="2">
                  <c:v>East Asia</c:v>
                </c:pt>
                <c:pt idx="3">
                  <c:v>South Asia &amp; Pacific</c:v>
                </c:pt>
                <c:pt idx="4">
                  <c:v>Europe</c:v>
                </c:pt>
                <c:pt idx="5">
                  <c:v>North America</c:v>
                </c:pt>
              </c:strCache>
            </c:strRef>
          </c:cat>
          <c:val>
            <c:numRef>
              <c:numCache>
                <c:formatCode>General</c:formatCode>
                <c:ptCount val="6"/>
                <c:pt idx="0">
                  <c:v>34.65281406520143</c:v>
                </c:pt>
                <c:pt idx="1">
                  <c:v>34.37952103187421</c:v>
                </c:pt>
                <c:pt idx="2">
                  <c:v>36.74465823786981</c:v>
                </c:pt>
                <c:pt idx="3">
                  <c:v>34.74677869237813</c:v>
                </c:pt>
                <c:pt idx="4">
                  <c:v>32.94534201126046</c:v>
                </c:pt>
                <c:pt idx="5">
                  <c:v>31.807731909186003</c:v>
                </c:pt>
              </c:numCache>
            </c:numRef>
          </c:val>
        </c:ser>
        <c:ser>
          <c:idx val="1"/>
          <c:order val="1"/>
          <c:tx>
            <c:strRef>
              <c:strCache>
                <c:ptCount val="1"/>
                <c:pt idx="0">
                  <c:v>Functional Food &amp; Beverages</c:v>
                </c:pt>
              </c:strCache>
            </c:strRef>
          </c:tx>
          <c:spPr>
            <a:solidFill>
              <a:srgbClr val="0081E2"/>
            </a:solidFill>
            <a:ln>
              <a:noFill/>
            </a:ln>
          </c:spPr>
          <c:dLbls>
            <c:dLbl>
              <c:idx val="0"/>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and Africa</c:v>
                </c:pt>
                <c:pt idx="1">
                  <c:v>Latin America</c:v>
                </c:pt>
                <c:pt idx="2">
                  <c:v>East Asia</c:v>
                </c:pt>
                <c:pt idx="3">
                  <c:v>South Asia &amp; Pacific</c:v>
                </c:pt>
                <c:pt idx="4">
                  <c:v>Europe</c:v>
                </c:pt>
                <c:pt idx="5">
                  <c:v>North America</c:v>
                </c:pt>
              </c:strCache>
            </c:strRef>
          </c:cat>
          <c:val>
            <c:numRef>
              <c:numCache>
                <c:formatCode>General</c:formatCode>
                <c:ptCount val="6"/>
                <c:pt idx="0">
                  <c:v>20.173613969766674</c:v>
                </c:pt>
                <c:pt idx="1">
                  <c:v>17.856057130914156</c:v>
                </c:pt>
                <c:pt idx="2">
                  <c:v>20.17475919035236</c:v>
                </c:pt>
                <c:pt idx="3">
                  <c:v>18.759672988763036</c:v>
                </c:pt>
                <c:pt idx="4">
                  <c:v>17.4177322557793</c:v>
                </c:pt>
                <c:pt idx="5">
                  <c:v>21.902285708747158</c:v>
                </c:pt>
              </c:numCache>
            </c:numRef>
          </c:val>
        </c:ser>
        <c:ser>
          <c:idx val="2"/>
          <c:order val="2"/>
          <c:tx>
            <c:strRef>
              <c:strCache>
                <c:ptCount val="1"/>
                <c:pt idx="0">
                  <c:v>Cosmetics &amp; Personal Care</c:v>
                </c:pt>
              </c:strCache>
            </c:strRef>
          </c:tx>
          <c:spPr>
            <a:solidFill>
              <a:srgbClr val="0E2A5C"/>
            </a:solidFill>
            <a:ln>
              <a:noFill/>
            </a:ln>
          </c:spPr>
          <c:dLbls>
            <c:dLbl>
              <c:idx val="0"/>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1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1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1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1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1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and Africa</c:v>
                </c:pt>
                <c:pt idx="1">
                  <c:v>Latin America</c:v>
                </c:pt>
                <c:pt idx="2">
                  <c:v>East Asia</c:v>
                </c:pt>
                <c:pt idx="3">
                  <c:v>South Asia &amp; Pacific</c:v>
                </c:pt>
                <c:pt idx="4">
                  <c:v>Europe</c:v>
                </c:pt>
                <c:pt idx="5">
                  <c:v>North America</c:v>
                </c:pt>
              </c:strCache>
            </c:strRef>
          </c:cat>
          <c:val>
            <c:numRef>
              <c:numCache>
                <c:formatCode>General</c:formatCode>
                <c:ptCount val="6"/>
                <c:pt idx="0">
                  <c:v>11.925564249602214</c:v>
                </c:pt>
                <c:pt idx="1">
                  <c:v>12.250656185789472</c:v>
                </c:pt>
                <c:pt idx="2">
                  <c:v>11.787737497977732</c:v>
                </c:pt>
                <c:pt idx="3">
                  <c:v>12.423258257629492</c:v>
                </c:pt>
                <c:pt idx="4">
                  <c:v>12.882512334139683</c:v>
                </c:pt>
                <c:pt idx="5">
                  <c:v>11.113351977674506</c:v>
                </c:pt>
              </c:numCache>
            </c:numRef>
          </c:val>
        </c:ser>
        <c:ser>
          <c:idx val="3"/>
          <c:order val="3"/>
          <c:tx>
            <c:strRef>
              <c:strCache>
                <c:ptCount val="1"/>
                <c:pt idx="0">
                  <c:v>Pharmaceuticals &amp; Biomedical</c:v>
                </c:pt>
              </c:strCache>
            </c:strRef>
          </c:tx>
          <c:spPr>
            <a:solidFill>
              <a:srgbClr val="00ACAC"/>
            </a:solidFill>
            <a:ln>
              <a:noFill/>
            </a:ln>
          </c:spPr>
          <c:dLbls>
            <c:dLbl>
              <c:idx val="0"/>
              <c:numFmt formatCode="&quot;MMMM&quot;;&quot;MMMM&quot;;&quot;MMMM&quot;" sourceLinked="0"/>
              <c:spPr>
                <a:blipFill>
                  <a:blip r:embed="rId1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1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2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2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2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2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and Africa</c:v>
                </c:pt>
                <c:pt idx="1">
                  <c:v>Latin America</c:v>
                </c:pt>
                <c:pt idx="2">
                  <c:v>East Asia</c:v>
                </c:pt>
                <c:pt idx="3">
                  <c:v>South Asia &amp; Pacific</c:v>
                </c:pt>
                <c:pt idx="4">
                  <c:v>Europe</c:v>
                </c:pt>
                <c:pt idx="5">
                  <c:v>North America</c:v>
                </c:pt>
              </c:strCache>
            </c:strRef>
          </c:cat>
          <c:val>
            <c:numRef>
              <c:numCache>
                <c:formatCode>General</c:formatCode>
                <c:ptCount val="6"/>
                <c:pt idx="0">
                  <c:v>16.107219605793965</c:v>
                </c:pt>
                <c:pt idx="1">
                  <c:v>19.487903652654467</c:v>
                </c:pt>
                <c:pt idx="2">
                  <c:v>15.150542673043294</c:v>
                </c:pt>
                <c:pt idx="3">
                  <c:v>16.954480129063846</c:v>
                </c:pt>
                <c:pt idx="4">
                  <c:v>18.889852401001107</c:v>
                </c:pt>
                <c:pt idx="5">
                  <c:v>17.270513932184002</c:v>
                </c:pt>
              </c:numCache>
            </c:numRef>
          </c:val>
        </c:ser>
        <c:ser>
          <c:idx val="4"/>
          <c:order val="4"/>
          <c:tx>
            <c:strRef>
              <c:strCache>
                <c:ptCount val="1"/>
                <c:pt idx="0">
                  <c:v>Animal Nutrition &amp; Pet Care</c:v>
                </c:pt>
              </c:strCache>
            </c:strRef>
          </c:tx>
          <c:spPr>
            <a:solidFill>
              <a:srgbClr val="F47620"/>
            </a:solidFill>
            <a:ln>
              <a:noFill/>
            </a:ln>
          </c:spPr>
          <c:dLbls>
            <c:dLbl>
              <c:idx val="0"/>
              <c:numFmt formatCode="&quot;MMM&quot;;&quot;MMM&quot;;&quot;MMM&quot;" sourceLinked="0"/>
              <c:spPr>
                <a:blipFill>
                  <a:blip r:embed="rId2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2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2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quot;;&quot;MMM&quot;;&quot;MMM&quot;" sourceLinked="0"/>
              <c:spPr>
                <a:blipFill>
                  <a:blip r:embed="rId2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quot;;&quot;MMM&quot;;&quot;MMM&quot;" sourceLinked="0"/>
              <c:spPr>
                <a:blipFill>
                  <a:blip r:embed="rId2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numFmt formatCode="&quot;MMM&quot;;&quot;MMM&quot;;&quot;MMM&quot;" sourceLinked="0"/>
              <c:spPr>
                <a:blipFill>
                  <a:blip r:embed="rId2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and Africa</c:v>
                </c:pt>
                <c:pt idx="1">
                  <c:v>Latin America</c:v>
                </c:pt>
                <c:pt idx="2">
                  <c:v>East Asia</c:v>
                </c:pt>
                <c:pt idx="3">
                  <c:v>South Asia &amp; Pacific</c:v>
                </c:pt>
                <c:pt idx="4">
                  <c:v>Europe</c:v>
                </c:pt>
                <c:pt idx="5">
                  <c:v>North America</c:v>
                </c:pt>
              </c:strCache>
            </c:strRef>
          </c:cat>
          <c:val>
            <c:numRef>
              <c:numCache>
                <c:formatCode>General</c:formatCode>
                <c:ptCount val="6"/>
                <c:pt idx="0">
                  <c:v>5.982818383288165</c:v>
                </c:pt>
                <c:pt idx="1">
                  <c:v>6.28031551204206</c:v>
                </c:pt>
                <c:pt idx="2">
                  <c:v>5.342577649567356</c:v>
                </c:pt>
                <c:pt idx="3">
                  <c:v>5.636700134218453</c:v>
                </c:pt>
                <c:pt idx="4">
                  <c:v>6.180752502959642</c:v>
                </c:pt>
                <c:pt idx="5">
                  <c:v>6.209482667994783</c:v>
                </c:pt>
              </c:numCache>
            </c:numRef>
          </c:val>
        </c:ser>
        <c:ser>
          <c:idx val="5"/>
          <c:order val="5"/>
          <c:tx>
            <c:strRef>
              <c:strCache>
                <c:ptCount val="1"/>
                <c:pt idx="0">
                  <c:v>Industrial &amp; Biomaterials</c:v>
                </c:pt>
              </c:strCache>
            </c:strRef>
          </c:tx>
          <c:spPr>
            <a:solidFill>
              <a:srgbClr val="79C3EC"/>
            </a:solidFill>
            <a:ln>
              <a:noFill/>
            </a:ln>
          </c:spPr>
          <c:dLbls>
            <c:dLbl>
              <c:idx val="0"/>
              <c:numFmt formatCode="&quot;MMMM&quot;;&quot;MMMM&quot;;&quot;MMMM&quot;" sourceLinked="0"/>
              <c:spPr>
                <a:blipFill>
                  <a:blip r:embed="rId2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quot;;&quot;MMM&quot;;&quot;MMM&quot;" sourceLinked="0"/>
              <c:spPr>
                <a:blipFill>
                  <a:blip r:embed="rId3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3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3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3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3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and Africa</c:v>
                </c:pt>
                <c:pt idx="1">
                  <c:v>Latin America</c:v>
                </c:pt>
                <c:pt idx="2">
                  <c:v>East Asia</c:v>
                </c:pt>
                <c:pt idx="3">
                  <c:v>South Asia &amp; Pacific</c:v>
                </c:pt>
                <c:pt idx="4">
                  <c:v>Europe</c:v>
                </c:pt>
                <c:pt idx="5">
                  <c:v>North America</c:v>
                </c:pt>
              </c:strCache>
            </c:strRef>
          </c:cat>
          <c:val>
            <c:numRef>
              <c:numCache>
                <c:formatCode>General</c:formatCode>
                <c:ptCount val="6"/>
                <c:pt idx="0">
                  <c:v>11.157969726347556</c:v>
                </c:pt>
                <c:pt idx="1">
                  <c:v>9.74554648672564</c:v>
                </c:pt>
                <c:pt idx="2">
                  <c:v>10.799724751189448</c:v>
                </c:pt>
                <c:pt idx="3">
                  <c:v>11.479109797947048</c:v>
                </c:pt>
                <c:pt idx="4">
                  <c:v>11.683808494859822</c:v>
                </c:pt>
                <c:pt idx="5">
                  <c:v>11.69663380421354</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tickLblSkip val="1"/>
        <c:noMultiLvlLbl val="0"/>
      </c:catAx>
      <c:valAx>
        <c:axId val="-2113994440"/>
        <c:scaling>
          <c:max val="100.0"/>
          <c:min val="0.0"/>
        </c:scaling>
        <c:delete val="0"/>
        <c:axPos val="b"/>
        <c:numFmt formatCode="0&quot;%&quot;" sourceLinked="0"/>
        <c:majorTickMark val="out"/>
        <c:minorTickMark val="none"/>
        <c:tickLblPos val="nextTo"/>
        <c:spPr>
          <a:ln>
            <a:solidFill>
              <a:srgbClr val="C9D6E4"/>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39.xml><?xml version="1.0" encoding="utf-8"?>
<c:chartSpace xmlns:c="http://schemas.openxmlformats.org/drawingml/2006/chart" xmlns:a="http://schemas.openxmlformats.org/drawingml/2006/main" xmlns:r="http://schemas.openxmlformats.org/officeDocument/2006/relationships">
  <c:chart>
    <c:autoTitleDeleted val="1"/>
    <c:plotArea>
      <c:layout/>
      <c:bubbleChart>
        <c:varyColors val="0"/>
        <c:ser>
          <c:idx val="0"/>
          <c:order val="0"/>
          <c:tx>
            <c:strRef>
              <c:strCache>
                <c:ptCount val="1"/>
                <c:pt idx="0">
                  <c:v>Dietary Supplements &amp; Nutraceuticals</c:v>
                </c:pt>
              </c:strCache>
            </c:strRef>
          </c:tx>
          <c:spPr>
            <a:solidFill>
              <a:srgbClr val="2A5F8F"/>
            </a:solidFill>
          </c:spPr>
          <c:invertIfNegative val="0"/>
          <c:xVal>
            <c:numRef>
              <c:numCache>
                <c:formatCode>General</c:formatCode>
                <c:ptCount val="1"/>
                <c:pt idx="0">
                  <c:v>86.73175091643736</c:v>
                </c:pt>
              </c:numCache>
            </c:numRef>
          </c:xVal>
          <c:yVal>
            <c:numRef>
              <c:numCache>
                <c:formatCode>General</c:formatCode>
                <c:ptCount val="1"/>
                <c:pt idx="0">
                  <c:v>214.40680733944956</c:v>
                </c:pt>
              </c:numCache>
            </c:numRef>
          </c:yVal>
          <c:bubbleSize>
            <c:numRef>
              <c:numCache>
                <c:formatCode>General</c:formatCode>
                <c:ptCount val="1"/>
                <c:pt idx="0">
                  <c:v>5932.639999999999</c:v>
                </c:pt>
              </c:numCache>
            </c:numRef>
          </c:bubbleSize>
          <c:bubble3D val="0"/>
        </c:ser>
        <c:ser>
          <c:idx val="1"/>
          <c:order val="1"/>
          <c:tx>
            <c:strRef>
              <c:strCache>
                <c:ptCount val="1"/>
                <c:pt idx="0">
                  <c:v>Functional Food &amp; Beverages</c:v>
                </c:pt>
              </c:strCache>
            </c:strRef>
          </c:tx>
          <c:spPr>
            <a:solidFill>
              <a:srgbClr val="0081E2"/>
            </a:solidFill>
          </c:spPr>
          <c:invertIfNegative val="0"/>
          <c:xVal>
            <c:numRef>
              <c:numCache>
                <c:formatCode>General</c:formatCode>
                <c:ptCount val="1"/>
                <c:pt idx="0">
                  <c:v>154.17216521960313</c:v>
                </c:pt>
              </c:numCache>
            </c:numRef>
          </c:xVal>
          <c:yVal>
            <c:numRef>
              <c:numCache>
                <c:formatCode>General</c:formatCode>
                <c:ptCount val="1"/>
                <c:pt idx="0">
                  <c:v>91.0314495412844</c:v>
                </c:pt>
              </c:numCache>
            </c:numRef>
          </c:yVal>
          <c:bubbleSize>
            <c:numRef>
              <c:numCache>
                <c:formatCode>General</c:formatCode>
                <c:ptCount val="1"/>
                <c:pt idx="0">
                  <c:v>3452.71</c:v>
                </c:pt>
              </c:numCache>
            </c:numRef>
          </c:bubbleSize>
          <c:bubble3D val="0"/>
        </c:ser>
        <c:ser>
          <c:idx val="2"/>
          <c:order val="2"/>
          <c:tx>
            <c:strRef>
              <c:strCache>
                <c:ptCount val="1"/>
                <c:pt idx="0">
                  <c:v>Cosmetics &amp; Personal Care</c:v>
                </c:pt>
              </c:strCache>
            </c:strRef>
          </c:tx>
          <c:spPr>
            <a:solidFill>
              <a:srgbClr val="0E2A5C"/>
            </a:solidFill>
          </c:spPr>
          <c:invertIfNegative val="0"/>
          <c:xVal>
            <c:numRef>
              <c:numCache>
                <c:formatCode>General</c:formatCode>
                <c:ptCount val="1"/>
                <c:pt idx="0">
                  <c:v>70.09488210617663</c:v>
                </c:pt>
              </c:numCache>
            </c:numRef>
          </c:xVal>
          <c:yVal>
            <c:numRef>
              <c:numCache>
                <c:formatCode>General</c:formatCode>
                <c:ptCount val="1"/>
                <c:pt idx="0">
                  <c:v>83.19357798165137</c:v>
                </c:pt>
              </c:numCache>
            </c:numRef>
          </c:yVal>
          <c:bubbleSize>
            <c:numRef>
              <c:numCache>
                <c:formatCode>General</c:formatCode>
                <c:ptCount val="1"/>
                <c:pt idx="0">
                  <c:v>2126.366</c:v>
                </c:pt>
              </c:numCache>
            </c:numRef>
          </c:bubbleSize>
          <c:bubble3D val="0"/>
        </c:ser>
        <c:ser>
          <c:idx val="3"/>
          <c:order val="3"/>
          <c:tx>
            <c:strRef>
              <c:strCache>
                <c:ptCount val="1"/>
                <c:pt idx="0">
                  <c:v>Pharmaceuticals &amp; Biomedical</c:v>
                </c:pt>
              </c:strCache>
            </c:strRef>
          </c:tx>
          <c:spPr>
            <a:solidFill>
              <a:srgbClr val="00ACAC"/>
            </a:solidFill>
          </c:spPr>
          <c:invertIfNegative val="0"/>
          <c:xVal>
            <c:numRef>
              <c:numCache>
                <c:formatCode>General</c:formatCode>
                <c:ptCount val="1"/>
                <c:pt idx="0">
                  <c:v>76.7468600221572</c:v>
                </c:pt>
              </c:numCache>
            </c:numRef>
          </c:xVal>
          <c:yVal>
            <c:numRef>
              <c:numCache>
                <c:formatCode>General</c:formatCode>
                <c:ptCount val="1"/>
                <c:pt idx="0">
                  <c:v>117.43838532110094</c:v>
                </c:pt>
              </c:numCache>
            </c:numRef>
          </c:yVal>
          <c:bubbleSize>
            <c:numRef>
              <c:numCache>
                <c:formatCode>General</c:formatCode>
                <c:ptCount val="1"/>
                <c:pt idx="0">
                  <c:v>3098.631</c:v>
                </c:pt>
              </c:numCache>
            </c:numRef>
          </c:bubbleSize>
          <c:bubble3D val="0"/>
        </c:ser>
        <c:ser>
          <c:idx val="4"/>
          <c:order val="4"/>
          <c:tx>
            <c:strRef>
              <c:strCache>
                <c:ptCount val="1"/>
                <c:pt idx="0">
                  <c:v>Animal Nutrition &amp; Pet Care</c:v>
                </c:pt>
              </c:strCache>
            </c:strRef>
          </c:tx>
          <c:spPr>
            <a:solidFill>
              <a:srgbClr val="F47620"/>
            </a:solidFill>
          </c:spPr>
          <c:invertIfNegative val="0"/>
          <c:xVal>
            <c:numRef>
              <c:numCache>
                <c:formatCode>General</c:formatCode>
                <c:ptCount val="1"/>
                <c:pt idx="0">
                  <c:v>116.40502003545126</c:v>
                </c:pt>
              </c:numCache>
            </c:numRef>
          </c:xVal>
          <c:yVal>
            <c:numRef>
              <c:numCache>
                <c:formatCode>General</c:formatCode>
                <c:ptCount val="1"/>
                <c:pt idx="0">
                  <c:v>33.35823853211009</c:v>
                </c:pt>
              </c:numCache>
            </c:numRef>
          </c:yVal>
          <c:bubbleSize>
            <c:numRef>
              <c:numCache>
                <c:formatCode>General</c:formatCode>
                <c:ptCount val="1"/>
                <c:pt idx="0">
                  <c:v>1061.711</c:v>
                </c:pt>
              </c:numCache>
            </c:numRef>
          </c:bubbleSize>
          <c:bubble3D val="0"/>
        </c:ser>
        <c:ser>
          <c:idx val="5"/>
          <c:order val="5"/>
          <c:tx>
            <c:strRef>
              <c:strCache>
                <c:ptCount val="1"/>
                <c:pt idx="0">
                  <c:v>Industrial &amp; Biomaterials</c:v>
                </c:pt>
              </c:strCache>
            </c:strRef>
          </c:tx>
          <c:spPr>
            <a:solidFill>
              <a:srgbClr val="79C3EC"/>
            </a:solidFill>
          </c:spPr>
          <c:invertIfNegative val="0"/>
          <c:xVal>
            <c:numRef>
              <c:numCache>
                <c:formatCode>General</c:formatCode>
                <c:ptCount val="1"/>
                <c:pt idx="0">
                  <c:v>124.97027487698973</c:v>
                </c:pt>
              </c:numCache>
            </c:numRef>
          </c:xVal>
          <c:yVal>
            <c:numRef>
              <c:numCache>
                <c:formatCode>General</c:formatCode>
                <c:ptCount val="1"/>
                <c:pt idx="0">
                  <c:v>60.57154128440367</c:v>
                </c:pt>
              </c:numCache>
            </c:numRef>
          </c:yVal>
          <c:bubbleSize>
            <c:numRef>
              <c:numCache>
                <c:formatCode>General</c:formatCode>
                <c:ptCount val="1"/>
                <c:pt idx="0">
                  <c:v>2006.61</c:v>
                </c:pt>
              </c:numCache>
            </c:numRef>
          </c:bubbleSize>
          <c:bubble3D val="0"/>
        </c:ser>
        <c:dLbls>
          <c:showLegendKey val="0"/>
          <c:showVal val="0"/>
          <c:showCatName val="0"/>
          <c:showSerName val="0"/>
          <c:showPercent val="0"/>
          <c:showBubbleSize val="0"/>
        </c:dLbls>
        <c:bubbleScale val="55"/>
        <c:showNegBubbles val="0"/>
        <c:axId val="-2115720072"/>
        <c:axId val="-2115723560"/>
      </c:bubbleChart>
      <c:valAx>
        <c:axId val="-2115720072"/>
        <c:scaling>
          <c:orientation val="minMax"/>
          <c:max val="180.0"/>
          <c:min val="40.0"/>
        </c:scaling>
        <c:delete val="0"/>
        <c:axPos val="b"/>
        <c:title>
          <c:tx>
            <c:rich>
              <a:bodyPr/>
              <a:lstStyle/>
              <a:p>
                <a:r>
                  <a:rPr sz="1100" b="0">
                    <a:solidFill>
                      <a:srgbClr val="6C7A89"/>
                    </a:solidFill>
                    <a:latin typeface="Calibri"/>
                  </a:rPr>
                  <a:t>CAGR Index (100 = segment average growth)</a:t>
                </a:r>
              </a:p>
            </c:rich>
          </c:tx>
          <c:layout/>
          <c:overlay val="0"/>
        </c:title>
        <c:numFmt formatCode="General" sourceLinked="1"/>
        <c:majorTickMark val="out"/>
        <c:minorTickMark val="none"/>
        <c:tickLblPos val="nextTo"/>
        <c:spPr>
          <a:ln>
            <a:solidFill>
              <a:srgbClr val="C9D6E4"/>
            </a:solidFill>
          </a:ln>
        </c:spPr>
        <c:txPr>
          <a:bodyPr/>
          <a:lstStyle/>
          <a:p>
            <a:pPr>
              <a:defRPr sz="1100"/>
            </a:pPr>
          </a:p>
        </c:txPr>
        <c:crossAx val="-2115723560"/>
        <c:crosses val="autoZero"/>
        <c:crossBetween val="midCat"/>
      </c:valAx>
      <c:valAx>
        <c:axId val="-2115723560"/>
        <c:scaling>
          <c:orientation val="minMax"/>
          <c:max val="275.0"/>
          <c:min val="0.0"/>
        </c:scaling>
        <c:delete val="0"/>
        <c:axPos val="l"/>
        <c:title>
          <c:tx>
            <c:rich>
              <a:bodyPr/>
              <a:lstStyle/>
              <a:p>
                <a:r>
                  <a:rPr sz="1100" b="0">
                    <a:solidFill>
                      <a:srgbClr val="6C7A89"/>
                    </a:solidFill>
                    <a:latin typeface="Calibri"/>
                  </a:rPr>
                  <a:t>Market Share Index (100 = equal share)</a:t>
                </a:r>
              </a:p>
            </c:rich>
          </c:tx>
          <c:layout/>
          <c:overlay val="0"/>
        </c:title>
        <c:numFmt formatCode="General" sourceLinked="1"/>
        <c:majorTickMark val="out"/>
        <c:minorTickMark val="none"/>
        <c:tickLblPos val="none"/>
        <c:spPr>
          <a:ln>
            <a:solidFill>
              <a:srgbClr val="C9D6E4"/>
            </a:solidFill>
          </a:ln>
        </c:spPr>
        <c:txPr>
          <a:bodyPr/>
          <a:lstStyle/>
          <a:p>
            <a:pPr>
              <a:defRPr sz="1100"/>
            </a:pPr>
          </a:p>
        </c:txPr>
        <c:crossAx val="-2115720072"/>
        <c:crosses val="autoZero"/>
        <c:crossBetween val="midCat"/>
      </c:valAx>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lang="en-US"/>
    </a:p>
  </c:txPr>
</c:chartSpace>
</file>

<file path=ppt/charts/chart4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3895.057</c:v>
                </c:pt>
                <c:pt idx="2">
                  <c:v>4236.335</c:v>
                </c:pt>
                <c:pt idx="3">
                  <c:v>4607.924999999999</c:v>
                </c:pt>
                <c:pt idx="4">
                  <c:v>5012.536</c:v>
                </c:pt>
                <c:pt idx="5">
                  <c:v>5453.0509999999995</c:v>
                </c:pt>
                <c:pt idx="6">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00ACAC"/>
              </a:solidFill>
            </c:spPr>
          </c:dPt>
          <c:dPt>
            <c:idx val="3"/>
            <c:spPr>
              <a:solidFill>
                <a:srgbClr val="00ACAC"/>
              </a:solidFill>
            </c:spPr>
          </c:dPt>
          <c:dPt>
            <c:idx val="4"/>
            <c:spPr>
              <a:solidFill>
                <a:srgbClr val="00ACAC"/>
              </a:solidFill>
            </c:spPr>
          </c:dPt>
          <c:dPt>
            <c:idx val="5"/>
            <c:spPr>
              <a:solidFill>
                <a:srgbClr val="00ACAC"/>
              </a:solidFill>
            </c:spPr>
          </c:dPt>
          <c:dPt>
            <c:idx val="6"/>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3895.057</c:v>
                </c:pt>
                <c:pt idx="1">
                  <c:v>341.27800000000025</c:v>
                </c:pt>
                <c:pt idx="2">
                  <c:v>371.58999999999924</c:v>
                </c:pt>
                <c:pt idx="3">
                  <c:v>404.6110000000008</c:v>
                </c:pt>
                <c:pt idx="4">
                  <c:v>440.5149999999994</c:v>
                </c:pt>
                <c:pt idx="5">
                  <c:v>479.58899999999994</c:v>
                </c:pt>
                <c:pt idx="6">
                  <c:v>5932.639999999999</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4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1653.738</c:v>
                </c:pt>
                <c:pt idx="2">
                  <c:v>1922.387</c:v>
                </c:pt>
                <c:pt idx="3">
                  <c:v>2230.528</c:v>
                </c:pt>
                <c:pt idx="4">
                  <c:v>2583.829</c:v>
                </c:pt>
                <c:pt idx="5">
                  <c:v>2988.763</c:v>
                </c:pt>
                <c:pt idx="6">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00ACAC"/>
              </a:solidFill>
            </c:spPr>
          </c:dPt>
          <c:dPt>
            <c:idx val="3"/>
            <c:spPr>
              <a:solidFill>
                <a:srgbClr val="00ACAC"/>
              </a:solidFill>
            </c:spPr>
          </c:dPt>
          <c:dPt>
            <c:idx val="4"/>
            <c:spPr>
              <a:solidFill>
                <a:srgbClr val="00ACAC"/>
              </a:solidFill>
            </c:spPr>
          </c:dPt>
          <c:dPt>
            <c:idx val="5"/>
            <c:spPr>
              <a:solidFill>
                <a:srgbClr val="00ACAC"/>
              </a:solidFill>
            </c:spPr>
          </c:dPt>
          <c:dPt>
            <c:idx val="6"/>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1653.738</c:v>
                </c:pt>
                <c:pt idx="1">
                  <c:v>268.6489999999999</c:v>
                </c:pt>
                <c:pt idx="2">
                  <c:v>308.14099999999985</c:v>
                </c:pt>
                <c:pt idx="3">
                  <c:v>353.3010000000004</c:v>
                </c:pt>
                <c:pt idx="4">
                  <c:v>404.93399999999974</c:v>
                </c:pt>
                <c:pt idx="5">
                  <c:v>463.9470000000001</c:v>
                </c:pt>
                <c:pt idx="6">
                  <c:v>3452.71</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4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1511.35</c:v>
                </c:pt>
                <c:pt idx="2">
                  <c:v>1620.723</c:v>
                </c:pt>
                <c:pt idx="3">
                  <c:v>1736.783</c:v>
                </c:pt>
                <c:pt idx="4">
                  <c:v>1859.6930000000002</c:v>
                </c:pt>
                <c:pt idx="5">
                  <c:v>1989.542</c:v>
                </c:pt>
                <c:pt idx="6">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00ACAC"/>
              </a:solidFill>
            </c:spPr>
          </c:dPt>
          <c:dPt>
            <c:idx val="3"/>
            <c:spPr>
              <a:solidFill>
                <a:srgbClr val="00ACAC"/>
              </a:solidFill>
            </c:spPr>
          </c:dPt>
          <c:dPt>
            <c:idx val="4"/>
            <c:spPr>
              <a:solidFill>
                <a:srgbClr val="00ACAC"/>
              </a:solidFill>
            </c:spPr>
          </c:dPt>
          <c:dPt>
            <c:idx val="5"/>
            <c:spPr>
              <a:solidFill>
                <a:srgbClr val="00ACAC"/>
              </a:solidFill>
            </c:spPr>
          </c:dPt>
          <c:dPt>
            <c:idx val="6"/>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1511.35</c:v>
                </c:pt>
                <c:pt idx="1">
                  <c:v>109.37300000000005</c:v>
                </c:pt>
                <c:pt idx="2">
                  <c:v>116.05999999999995</c:v>
                </c:pt>
                <c:pt idx="3">
                  <c:v>122.91000000000031</c:v>
                </c:pt>
                <c:pt idx="4">
                  <c:v>129.8489999999997</c:v>
                </c:pt>
                <c:pt idx="5">
                  <c:v>136.82400000000007</c:v>
                </c:pt>
                <c:pt idx="6">
                  <c:v>2126.366</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4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2133.464</c:v>
                </c:pt>
                <c:pt idx="2">
                  <c:v>2300.3650000000002</c:v>
                </c:pt>
                <c:pt idx="3">
                  <c:v>2479.617</c:v>
                </c:pt>
                <c:pt idx="4">
                  <c:v>2671.917</c:v>
                </c:pt>
                <c:pt idx="5">
                  <c:v>2878.009</c:v>
                </c:pt>
                <c:pt idx="6">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00ACAC"/>
              </a:solidFill>
            </c:spPr>
          </c:dPt>
          <c:dPt>
            <c:idx val="3"/>
            <c:spPr>
              <a:solidFill>
                <a:srgbClr val="00ACAC"/>
              </a:solidFill>
            </c:spPr>
          </c:dPt>
          <c:dPt>
            <c:idx val="4"/>
            <c:spPr>
              <a:solidFill>
                <a:srgbClr val="00ACAC"/>
              </a:solidFill>
            </c:spPr>
          </c:dPt>
          <c:dPt>
            <c:idx val="5"/>
            <c:spPr>
              <a:solidFill>
                <a:srgbClr val="00ACAC"/>
              </a:solidFill>
            </c:spPr>
          </c:dPt>
          <c:dPt>
            <c:idx val="6"/>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2133.464</c:v>
                </c:pt>
                <c:pt idx="1">
                  <c:v>166.9010000000003</c:v>
                </c:pt>
                <c:pt idx="2">
                  <c:v>179.25199999999995</c:v>
                </c:pt>
                <c:pt idx="3">
                  <c:v>192.29999999999973</c:v>
                </c:pt>
                <c:pt idx="4">
                  <c:v>206.0920000000001</c:v>
                </c:pt>
                <c:pt idx="5">
                  <c:v>220.62199999999984</c:v>
                </c:pt>
                <c:pt idx="6">
                  <c:v>3098.631</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4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606.008</c:v>
                </c:pt>
                <c:pt idx="2">
                  <c:v>677.205</c:v>
                </c:pt>
                <c:pt idx="3">
                  <c:v>757.1659999999999</c:v>
                </c:pt>
                <c:pt idx="4">
                  <c:v>847.018</c:v>
                </c:pt>
                <c:pt idx="5">
                  <c:v>948.051</c:v>
                </c:pt>
                <c:pt idx="6">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00ACAC"/>
              </a:solidFill>
            </c:spPr>
          </c:dPt>
          <c:dPt>
            <c:idx val="3"/>
            <c:spPr>
              <a:solidFill>
                <a:srgbClr val="00ACAC"/>
              </a:solidFill>
            </c:spPr>
          </c:dPt>
          <c:dPt>
            <c:idx val="4"/>
            <c:spPr>
              <a:solidFill>
                <a:srgbClr val="00ACAC"/>
              </a:solidFill>
            </c:spPr>
          </c:dPt>
          <c:dPt>
            <c:idx val="5"/>
            <c:spPr>
              <a:solidFill>
                <a:srgbClr val="00ACAC"/>
              </a:solidFill>
            </c:spPr>
          </c:dPt>
          <c:dPt>
            <c:idx val="6"/>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606.008</c:v>
                </c:pt>
                <c:pt idx="1">
                  <c:v>71.197</c:v>
                </c:pt>
                <c:pt idx="2">
                  <c:v>79.9609999999999</c:v>
                </c:pt>
                <c:pt idx="3">
                  <c:v>89.85200000000009</c:v>
                </c:pt>
                <c:pt idx="4">
                  <c:v>101.03300000000002</c:v>
                </c:pt>
                <c:pt idx="5">
                  <c:v>113.65999999999997</c:v>
                </c:pt>
                <c:pt idx="6">
                  <c:v>1061.711</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4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1100.383</c:v>
                </c:pt>
                <c:pt idx="2">
                  <c:v>1240.306</c:v>
                </c:pt>
                <c:pt idx="3">
                  <c:v>1398.32</c:v>
                </c:pt>
                <c:pt idx="4">
                  <c:v>1576.825</c:v>
                </c:pt>
                <c:pt idx="5">
                  <c:v>1778.555</c:v>
                </c:pt>
                <c:pt idx="6">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00ACAC"/>
              </a:solidFill>
            </c:spPr>
          </c:dPt>
          <c:dPt>
            <c:idx val="3"/>
            <c:spPr>
              <a:solidFill>
                <a:srgbClr val="00ACAC"/>
              </a:solidFill>
            </c:spPr>
          </c:dPt>
          <c:dPt>
            <c:idx val="4"/>
            <c:spPr>
              <a:solidFill>
                <a:srgbClr val="00ACAC"/>
              </a:solidFill>
            </c:spPr>
          </c:dPt>
          <c:dPt>
            <c:idx val="5"/>
            <c:spPr>
              <a:solidFill>
                <a:srgbClr val="00ACAC"/>
              </a:solidFill>
            </c:spPr>
          </c:dPt>
          <c:dPt>
            <c:idx val="6"/>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1100.383</c:v>
                </c:pt>
                <c:pt idx="1">
                  <c:v>139.923</c:v>
                </c:pt>
                <c:pt idx="2">
                  <c:v>158.0139999999999</c:v>
                </c:pt>
                <c:pt idx="3">
                  <c:v>178.5050000000001</c:v>
                </c:pt>
                <c:pt idx="4">
                  <c:v>201.73000000000002</c:v>
                </c:pt>
                <c:pt idx="5">
                  <c:v>228.05499999999984</c:v>
                </c:pt>
                <c:pt idx="6">
                  <c:v>2006.61</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4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Dietary Supplements &amp; Nutraceuticals</c:v>
                </c:pt>
              </c:strCache>
            </c:strRef>
          </c:tx>
          <c:spPr>
            <a:solidFill>
              <a:srgbClr val="2A5F8F"/>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36.770211121703156</c:v>
                </c:pt>
                <c:pt idx="1">
                  <c:v>35.73446788990825</c:v>
                </c:pt>
                <c:pt idx="2">
                  <c:v>33.55818436094846</c:v>
                </c:pt>
              </c:numCache>
            </c:numRef>
          </c:val>
        </c:ser>
        <c:ser>
          <c:idx val="1"/>
          <c:order val="1"/>
          <c:tx>
            <c:strRef>
              <c:strCache>
                <c:ptCount val="1"/>
                <c:pt idx="0">
                  <c:v>Functional Food &amp; Beverages</c:v>
                </c:pt>
              </c:strCache>
            </c:strRef>
          </c:tx>
          <c:spPr>
            <a:solidFill>
              <a:srgbClr val="0081E2"/>
            </a:solidFill>
            <a:ln>
              <a:noFill/>
            </a:ln>
          </c:spPr>
          <c:dLbls>
            <c:dLbl>
              <c:idx val="0"/>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13.084779737012894</c:v>
                </c:pt>
                <c:pt idx="1">
                  <c:v>15.171908256880734</c:v>
                </c:pt>
                <c:pt idx="2">
                  <c:v>19.53037412094622</c:v>
                </c:pt>
              </c:numCache>
            </c:numRef>
          </c:val>
        </c:ser>
        <c:ser>
          <c:idx val="2"/>
          <c:order val="2"/>
          <c:tx>
            <c:strRef>
              <c:strCache>
                <c:ptCount val="1"/>
                <c:pt idx="0">
                  <c:v>Pharmaceuticals &amp; Biomedical</c:v>
                </c:pt>
              </c:strCache>
            </c:strRef>
          </c:tx>
          <c:spPr>
            <a:solidFill>
              <a:srgbClr val="0E2A5C"/>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20.55001412168444</c:v>
                </c:pt>
                <c:pt idx="1">
                  <c:v>19.573064220183486</c:v>
                </c:pt>
                <c:pt idx="2">
                  <c:v>17.527513950711672</c:v>
                </c:pt>
              </c:numCache>
            </c:numRef>
          </c:val>
        </c:ser>
        <c:ser>
          <c:idx val="3"/>
          <c:order val="3"/>
          <c:tx>
            <c:strRef>
              <c:strCache>
                <c:ptCount val="1"/>
                <c:pt idx="0">
                  <c:v>Cosmetics &amp; Personal Care</c:v>
                </c:pt>
              </c:strCache>
            </c:strRef>
          </c:tx>
          <c:spPr>
            <a:solidFill>
              <a:srgbClr val="00ACAC"/>
            </a:solidFill>
            <a:ln>
              <a:noFill/>
            </a:ln>
          </c:spPr>
          <c:dLbls>
            <c:dLbl>
              <c:idx val="0"/>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14.734512892632962</c:v>
                </c:pt>
                <c:pt idx="1">
                  <c:v>13.86559633027523</c:v>
                </c:pt>
                <c:pt idx="2">
                  <c:v>12.027863185167572</c:v>
                </c:pt>
              </c:numCache>
            </c:numRef>
          </c:val>
        </c:ser>
        <c:ser>
          <c:idx val="4"/>
          <c:order val="4"/>
          <c:tx>
            <c:strRef>
              <c:strCache>
                <c:ptCount val="1"/>
                <c:pt idx="0">
                  <c:v>Industrial &amp; Biomaterials</c:v>
                </c:pt>
              </c:strCache>
            </c:strRef>
          </c:tx>
          <c:spPr>
            <a:solidFill>
              <a:srgbClr val="F47620"/>
            </a:solidFill>
            <a:ln>
              <a:noFill/>
            </a:ln>
          </c:spPr>
          <c:dLbls>
            <c:dLbl>
              <c:idx val="0"/>
              <c:numFmt formatCode="&quot;MMM&quot;;&quot;MMM&quot;;&quot;MMM&quot;" sourceLinked="0"/>
              <c:spPr>
                <a:blipFill>
                  <a:blip r:embed="rId1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1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9.504257735473347</c:v>
                </c:pt>
                <c:pt idx="1">
                  <c:v>10.095256880733945</c:v>
                </c:pt>
                <c:pt idx="2">
                  <c:v>11.350459208804645</c:v>
                </c:pt>
              </c:numCache>
            </c:numRef>
          </c:val>
        </c:ser>
        <c:ser>
          <c:idx val="5"/>
          <c:order val="5"/>
          <c:tx>
            <c:strRef>
              <c:strCache>
                <c:ptCount val="1"/>
                <c:pt idx="0">
                  <c:v>Animal Nutrition &amp; Pet Care</c:v>
                </c:pt>
              </c:strCache>
            </c:strRef>
          </c:tx>
          <c:spPr>
            <a:solidFill>
              <a:srgbClr val="79C3EC"/>
            </a:solidFill>
            <a:ln>
              <a:noFill/>
            </a:ln>
          </c:spPr>
          <c:dLbls>
            <c:dLbl>
              <c:idx val="0"/>
              <c:numFmt formatCode="&quot;MMM&quot;;&quot;MMM&quot;;&quot;MMM&quot;" sourceLinked="0"/>
              <c:spPr>
                <a:blipFill>
                  <a:blip r:embed="rId1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1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2E2E2E"/>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5.356224391493201</c:v>
                </c:pt>
                <c:pt idx="1">
                  <c:v>5.559706422018349</c:v>
                </c:pt>
                <c:pt idx="2">
                  <c:v>6.005605173421437</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4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Direct</c:v>
                </c:pt>
              </c:strCache>
            </c:strRef>
          </c:tx>
          <c:spPr>
            <a:solidFill>
              <a:srgbClr val="2A5F8F"/>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and Africa</c:v>
                </c:pt>
                <c:pt idx="1">
                  <c:v>Latin America</c:v>
                </c:pt>
                <c:pt idx="2">
                  <c:v>East Asia</c:v>
                </c:pt>
                <c:pt idx="3">
                  <c:v>South Asia &amp; Pacific</c:v>
                </c:pt>
                <c:pt idx="4">
                  <c:v>Europe</c:v>
                </c:pt>
                <c:pt idx="5">
                  <c:v>North America</c:v>
                </c:pt>
              </c:strCache>
            </c:strRef>
          </c:cat>
          <c:val>
            <c:numRef>
              <c:numCache>
                <c:formatCode>General</c:formatCode>
                <c:ptCount val="6"/>
                <c:pt idx="0">
                  <c:v>55.80908680026412</c:v>
                </c:pt>
                <c:pt idx="1">
                  <c:v>54.55686083975495</c:v>
                </c:pt>
                <c:pt idx="2">
                  <c:v>55.93563656577296</c:v>
                </c:pt>
                <c:pt idx="3">
                  <c:v>54.620823157583</c:v>
                </c:pt>
                <c:pt idx="4">
                  <c:v>55.53707507733764</c:v>
                </c:pt>
                <c:pt idx="5">
                  <c:v>58.339888178687445</c:v>
                </c:pt>
              </c:numCache>
            </c:numRef>
          </c:val>
        </c:ser>
        <c:ser>
          <c:idx val="1"/>
          <c:order val="1"/>
          <c:tx>
            <c:strRef>
              <c:strCache>
                <c:ptCount val="1"/>
                <c:pt idx="0">
                  <c:v>Distributors &amp; Traders</c:v>
                </c:pt>
              </c:strCache>
            </c:strRef>
          </c:tx>
          <c:spPr>
            <a:solidFill>
              <a:srgbClr val="0081E2"/>
            </a:solidFill>
            <a:ln>
              <a:noFill/>
            </a:ln>
          </c:spPr>
          <c:dLbls>
            <c:dLbl>
              <c:idx val="0"/>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and Africa</c:v>
                </c:pt>
                <c:pt idx="1">
                  <c:v>Latin America</c:v>
                </c:pt>
                <c:pt idx="2">
                  <c:v>East Asia</c:v>
                </c:pt>
                <c:pt idx="3">
                  <c:v>South Asia &amp; Pacific</c:v>
                </c:pt>
                <c:pt idx="4">
                  <c:v>Europe</c:v>
                </c:pt>
                <c:pt idx="5">
                  <c:v>North America</c:v>
                </c:pt>
              </c:strCache>
            </c:strRef>
          </c:cat>
          <c:val>
            <c:numRef>
              <c:numCache>
                <c:formatCode>General</c:formatCode>
                <c:ptCount val="6"/>
                <c:pt idx="0">
                  <c:v>44.190913199735874</c:v>
                </c:pt>
                <c:pt idx="1">
                  <c:v>45.44313916024505</c:v>
                </c:pt>
                <c:pt idx="2">
                  <c:v>44.06436343422704</c:v>
                </c:pt>
                <c:pt idx="3">
                  <c:v>45.37917684241701</c:v>
                </c:pt>
                <c:pt idx="4">
                  <c:v>44.46292492266235</c:v>
                </c:pt>
                <c:pt idx="5">
                  <c:v>41.660111821312555</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tickLblSkip val="1"/>
        <c:noMultiLvlLbl val="0"/>
      </c:catAx>
      <c:valAx>
        <c:axId val="-2113994440"/>
        <c:scaling>
          <c:max val="100.0"/>
          <c:min val="0.0"/>
        </c:scaling>
        <c:delete val="0"/>
        <c:axPos val="b"/>
        <c:numFmt formatCode="0&quot;%&quot;" sourceLinked="0"/>
        <c:majorTickMark val="out"/>
        <c:minorTickMark val="none"/>
        <c:tickLblPos val="nextTo"/>
        <c:spPr>
          <a:ln>
            <a:solidFill>
              <a:srgbClr val="C9D6E4"/>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48.xml><?xml version="1.0" encoding="utf-8"?>
<c:chartSpace xmlns:c="http://schemas.openxmlformats.org/drawingml/2006/chart" xmlns:a="http://schemas.openxmlformats.org/drawingml/2006/main" xmlns:r="http://schemas.openxmlformats.org/officeDocument/2006/relationships">
  <c:chart>
    <c:autoTitleDeleted val="1"/>
    <c:plotArea>
      <c:layout/>
      <c:bubbleChart>
        <c:varyColors val="0"/>
        <c:ser>
          <c:idx val="0"/>
          <c:order val="0"/>
          <c:tx>
            <c:strRef>
              <c:strCache>
                <c:ptCount val="1"/>
                <c:pt idx="0">
                  <c:v>Direct</c:v>
                </c:pt>
              </c:strCache>
            </c:strRef>
          </c:tx>
          <c:spPr>
            <a:solidFill>
              <a:srgbClr val="2A5F8F"/>
            </a:solidFill>
          </c:spPr>
          <c:invertIfNegative val="0"/>
          <c:xVal>
            <c:numRef>
              <c:numCache>
                <c:formatCode>General</c:formatCode>
                <c:ptCount val="1"/>
                <c:pt idx="0">
                  <c:v>100.3154751738538</c:v>
                </c:pt>
              </c:numCache>
            </c:numRef>
          </c:xVal>
          <c:yVal>
            <c:numRef>
              <c:numCache>
                <c:formatCode>General</c:formatCode>
                <c:ptCount val="1"/>
                <c:pt idx="0">
                  <c:v>112.34326605504586</c:v>
                </c:pt>
              </c:numCache>
            </c:numRef>
          </c:yVal>
          <c:bubbleSize>
            <c:numRef>
              <c:numCache>
                <c:formatCode>General</c:formatCode>
                <c:ptCount val="1"/>
                <c:pt idx="0">
                  <c:v>9945.196</c:v>
                </c:pt>
              </c:numCache>
            </c:numRef>
          </c:bubbleSize>
          <c:bubble3D val="0"/>
        </c:ser>
        <c:ser>
          <c:idx val="1"/>
          <c:order val="1"/>
          <c:tx>
            <c:strRef>
              <c:strCache>
                <c:ptCount val="1"/>
                <c:pt idx="0">
                  <c:v>Distributors &amp; Traders</c:v>
                </c:pt>
              </c:strCache>
            </c:strRef>
          </c:tx>
          <c:spPr>
            <a:solidFill>
              <a:srgbClr val="0081E2"/>
            </a:solidFill>
          </c:spPr>
          <c:invertIfNegative val="0"/>
          <c:xVal>
            <c:numRef>
              <c:numCache>
                <c:formatCode>General</c:formatCode>
                <c:ptCount val="1"/>
                <c:pt idx="0">
                  <c:v>99.59505913701877</c:v>
                </c:pt>
              </c:numCache>
            </c:numRef>
          </c:xVal>
          <c:yVal>
            <c:numRef>
              <c:numCache>
                <c:formatCode>General</c:formatCode>
                <c:ptCount val="1"/>
                <c:pt idx="0">
                  <c:v>87.65673394495414</c:v>
                </c:pt>
              </c:numCache>
            </c:numRef>
          </c:yVal>
          <c:bubbleSize>
            <c:numRef>
              <c:numCache>
                <c:formatCode>General</c:formatCode>
                <c:ptCount val="1"/>
                <c:pt idx="0">
                  <c:v>7733.472</c:v>
                </c:pt>
              </c:numCache>
            </c:numRef>
          </c:bubbleSize>
          <c:bubble3D val="0"/>
        </c:ser>
        <c:dLbls>
          <c:showLegendKey val="0"/>
          <c:showVal val="0"/>
          <c:showCatName val="0"/>
          <c:showSerName val="0"/>
          <c:showPercent val="0"/>
          <c:showBubbleSize val="0"/>
        </c:dLbls>
        <c:bubbleScale val="55"/>
        <c:showNegBubbles val="0"/>
        <c:axId val="-2115720072"/>
        <c:axId val="-2115723560"/>
      </c:bubbleChart>
      <c:valAx>
        <c:axId val="-2115720072"/>
        <c:scaling>
          <c:orientation val="minMax"/>
          <c:max val="110.0"/>
          <c:min val="90.0"/>
        </c:scaling>
        <c:delete val="0"/>
        <c:axPos val="b"/>
        <c:title>
          <c:tx>
            <c:rich>
              <a:bodyPr/>
              <a:lstStyle/>
              <a:p>
                <a:r>
                  <a:rPr sz="1100" b="0">
                    <a:solidFill>
                      <a:srgbClr val="6C7A89"/>
                    </a:solidFill>
                    <a:latin typeface="Calibri"/>
                  </a:rPr>
                  <a:t>CAGR Index (100 = segment average growth)</a:t>
                </a:r>
              </a:p>
            </c:rich>
          </c:tx>
          <c:layout/>
          <c:overlay val="0"/>
        </c:title>
        <c:numFmt formatCode="General" sourceLinked="1"/>
        <c:majorTickMark val="out"/>
        <c:minorTickMark val="none"/>
        <c:tickLblPos val="nextTo"/>
        <c:spPr>
          <a:ln>
            <a:solidFill>
              <a:srgbClr val="C9D6E4"/>
            </a:solidFill>
          </a:ln>
        </c:spPr>
        <c:txPr>
          <a:bodyPr/>
          <a:lstStyle/>
          <a:p>
            <a:pPr>
              <a:defRPr sz="1100"/>
            </a:pPr>
          </a:p>
        </c:txPr>
        <c:crossAx val="-2115723560"/>
        <c:crosses val="autoZero"/>
        <c:crossBetween val="midCat"/>
      </c:valAx>
      <c:valAx>
        <c:axId val="-2115723560"/>
        <c:scaling>
          <c:orientation val="minMax"/>
          <c:max val="130.0"/>
          <c:min val="70.0"/>
        </c:scaling>
        <c:delete val="0"/>
        <c:axPos val="l"/>
        <c:title>
          <c:tx>
            <c:rich>
              <a:bodyPr/>
              <a:lstStyle/>
              <a:p>
                <a:r>
                  <a:rPr sz="1100" b="0">
                    <a:solidFill>
                      <a:srgbClr val="6C7A89"/>
                    </a:solidFill>
                    <a:latin typeface="Calibri"/>
                  </a:rPr>
                  <a:t>Market Share Index (100 = equal share)</a:t>
                </a:r>
              </a:p>
            </c:rich>
          </c:tx>
          <c:layout/>
          <c:overlay val="0"/>
        </c:title>
        <c:numFmt formatCode="General" sourceLinked="1"/>
        <c:majorTickMark val="out"/>
        <c:minorTickMark val="none"/>
        <c:tickLblPos val="none"/>
        <c:spPr>
          <a:ln>
            <a:solidFill>
              <a:srgbClr val="C9D6E4"/>
            </a:solidFill>
          </a:ln>
        </c:spPr>
        <c:txPr>
          <a:bodyPr/>
          <a:lstStyle/>
          <a:p>
            <a:pPr>
              <a:defRPr sz="1100"/>
            </a:pPr>
          </a:p>
        </c:txPr>
        <c:crossAx val="-2115720072"/>
        <c:crosses val="autoZero"/>
        <c:crossBetween val="midCat"/>
      </c:valAx>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lang="en-US"/>
    </a:p>
  </c:txPr>
</c:chartSpace>
</file>

<file path=ppt/charts/chart4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6122.708</c:v>
                </c:pt>
                <c:pt idx="2">
                  <c:v>6741.126</c:v>
                </c:pt>
                <c:pt idx="3">
                  <c:v>7424.927</c:v>
                </c:pt>
                <c:pt idx="4">
                  <c:v>8181.346</c:v>
                </c:pt>
                <c:pt idx="5">
                  <c:v>9018.437</c:v>
                </c:pt>
                <c:pt idx="6">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00ACAC"/>
              </a:solidFill>
            </c:spPr>
          </c:dPt>
          <c:dPt>
            <c:idx val="3"/>
            <c:spPr>
              <a:solidFill>
                <a:srgbClr val="00ACAC"/>
              </a:solidFill>
            </c:spPr>
          </c:dPt>
          <c:dPt>
            <c:idx val="4"/>
            <c:spPr>
              <a:solidFill>
                <a:srgbClr val="00ACAC"/>
              </a:solidFill>
            </c:spPr>
          </c:dPt>
          <c:dPt>
            <c:idx val="5"/>
            <c:spPr>
              <a:solidFill>
                <a:srgbClr val="00ACAC"/>
              </a:solidFill>
            </c:spPr>
          </c:dPt>
          <c:dPt>
            <c:idx val="6"/>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6122.708</c:v>
                </c:pt>
                <c:pt idx="1">
                  <c:v>618.4180000000006</c:v>
                </c:pt>
                <c:pt idx="2">
                  <c:v>683.8009999999995</c:v>
                </c:pt>
                <c:pt idx="3">
                  <c:v>756.4189999999999</c:v>
                </c:pt>
                <c:pt idx="4">
                  <c:v>837.0910000000003</c:v>
                </c:pt>
                <c:pt idx="5">
                  <c:v>926.759</c:v>
                </c:pt>
                <c:pt idx="6">
                  <c:v>9945.196</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5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4777.292</c:v>
                </c:pt>
                <c:pt idx="2">
                  <c:v>5256.195</c:v>
                </c:pt>
                <c:pt idx="3">
                  <c:v>5785.412</c:v>
                </c:pt>
                <c:pt idx="4">
                  <c:v>6370.472</c:v>
                </c:pt>
                <c:pt idx="5">
                  <c:v>7017.534</c:v>
                </c:pt>
                <c:pt idx="6">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00ACAC"/>
              </a:solidFill>
            </c:spPr>
          </c:dPt>
          <c:dPt>
            <c:idx val="3"/>
            <c:spPr>
              <a:solidFill>
                <a:srgbClr val="00ACAC"/>
              </a:solidFill>
            </c:spPr>
          </c:dPt>
          <c:dPt>
            <c:idx val="4"/>
            <c:spPr>
              <a:solidFill>
                <a:srgbClr val="00ACAC"/>
              </a:solidFill>
            </c:spPr>
          </c:dPt>
          <c:dPt>
            <c:idx val="5"/>
            <c:spPr>
              <a:solidFill>
                <a:srgbClr val="00ACAC"/>
              </a:solidFill>
            </c:spPr>
          </c:dPt>
          <c:dPt>
            <c:idx val="6"/>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4777.292</c:v>
                </c:pt>
                <c:pt idx="1">
                  <c:v>478.90299999999934</c:v>
                </c:pt>
                <c:pt idx="2">
                  <c:v>529.2170000000006</c:v>
                </c:pt>
                <c:pt idx="3">
                  <c:v>585.0599999999995</c:v>
                </c:pt>
                <c:pt idx="4">
                  <c:v>647.0619999999999</c:v>
                </c:pt>
                <c:pt idx="5">
                  <c:v>715.9380000000001</c:v>
                </c:pt>
                <c:pt idx="6">
                  <c:v>7733.472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5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Direct</c:v>
                </c:pt>
              </c:strCache>
            </c:strRef>
          </c:tx>
          <c:spPr>
            <a:solidFill>
              <a:srgbClr val="2A5F8F"/>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56.128984698502315</c:v>
                </c:pt>
                <c:pt idx="1">
                  <c:v>56.17163302752293</c:v>
                </c:pt>
                <c:pt idx="2">
                  <c:v>56.255346839479095</c:v>
                </c:pt>
              </c:numCache>
            </c:numRef>
          </c:val>
        </c:ser>
        <c:ser>
          <c:idx val="1"/>
          <c:order val="1"/>
          <c:tx>
            <c:strRef>
              <c:strCache>
                <c:ptCount val="1"/>
                <c:pt idx="0">
                  <c:v>Distributors &amp; Traders</c:v>
                </c:pt>
              </c:strCache>
            </c:strRef>
          </c:tx>
          <c:spPr>
            <a:solidFill>
              <a:srgbClr val="0081E2"/>
            </a:solidFill>
            <a:ln>
              <a:noFill/>
            </a:ln>
          </c:spPr>
          <c:dLbls>
            <c:dLbl>
              <c:idx val="0"/>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43.871015301497685</c:v>
                </c:pt>
                <c:pt idx="1">
                  <c:v>43.82836697247707</c:v>
                </c:pt>
                <c:pt idx="2">
                  <c:v>43.74465316052092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5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Chicken Eggshell Membrane</c:v>
                </c:pt>
              </c:strCache>
            </c:strRef>
          </c:tx>
          <c:spPr>
            <a:solidFill>
              <a:srgbClr val="2A5F8F"/>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Micronized Eggshell Membrane</c:v>
                </c:pt>
                <c:pt idx="1">
                  <c:v>Hydrolyzed Eggshell Membrane</c:v>
                </c:pt>
                <c:pt idx="2">
                  <c:v>Specialty Extracted Protein Fractions</c:v>
                </c:pt>
              </c:strCache>
            </c:strRef>
          </c:cat>
          <c:val>
            <c:numRef>
              <c:numCache>
                <c:formatCode>General</c:formatCode>
                <c:ptCount val="3"/>
                <c:pt idx="0">
                  <c:v>81.86836112507136</c:v>
                </c:pt>
                <c:pt idx="1">
                  <c:v>81.86835613471158</c:v>
                </c:pt>
                <c:pt idx="2">
                  <c:v>81.86835613471158</c:v>
                </c:pt>
              </c:numCache>
            </c:numRef>
          </c:val>
        </c:ser>
        <c:ser>
          <c:idx val="1"/>
          <c:order val="1"/>
          <c:tx>
            <c:strRef>
              <c:strCache>
                <c:ptCount val="1"/>
                <c:pt idx="0">
                  <c:v>Other Poultry Eggshell Membrane</c:v>
                </c:pt>
              </c:strCache>
            </c:strRef>
          </c:tx>
          <c:spPr>
            <a:solidFill>
              <a:srgbClr val="0081E2"/>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Micronized Eggshell Membrane</c:v>
                </c:pt>
                <c:pt idx="1">
                  <c:v>Hydrolyzed Eggshell Membrane</c:v>
                </c:pt>
                <c:pt idx="2">
                  <c:v>Specialty Extracted Protein Fractions</c:v>
                </c:pt>
              </c:strCache>
            </c:strRef>
          </c:cat>
          <c:val>
            <c:numRef>
              <c:numCache>
                <c:formatCode>General</c:formatCode>
                <c:ptCount val="3"/>
                <c:pt idx="0">
                  <c:v>18.131638874928647</c:v>
                </c:pt>
                <c:pt idx="1">
                  <c:v>18.131643865288428</c:v>
                </c:pt>
                <c:pt idx="2">
                  <c:v>18.131643865288428</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9D6E4"/>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5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Functional Food &amp; Beverages</c:v>
                </c:pt>
              </c:strCache>
            </c:strRef>
          </c:tx>
          <c:spPr>
            <a:solidFill>
              <a:srgbClr val="2A5F8F"/>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Micronized Eggshell Membrane</c:v>
                </c:pt>
                <c:pt idx="1">
                  <c:v>Hydrolyzed Eggshell Membrane</c:v>
                </c:pt>
                <c:pt idx="2">
                  <c:v>Specialty Extracted Protein Fractions</c:v>
                </c:pt>
              </c:strCache>
            </c:strRef>
          </c:cat>
          <c:val>
            <c:numRef>
              <c:numCache>
                <c:formatCode>General</c:formatCode>
                <c:ptCount val="3"/>
                <c:pt idx="0">
                  <c:v>14.150014366977748</c:v>
                </c:pt>
                <c:pt idx="1">
                  <c:v>14.150061623841905</c:v>
                </c:pt>
                <c:pt idx="2">
                  <c:v>14.150061623841905</c:v>
                </c:pt>
              </c:numCache>
            </c:numRef>
          </c:val>
        </c:ser>
        <c:ser>
          <c:idx val="1"/>
          <c:order val="1"/>
          <c:tx>
            <c:strRef>
              <c:strCache>
                <c:ptCount val="1"/>
                <c:pt idx="0">
                  <c:v>Industrial &amp; Biomaterials</c:v>
                </c:pt>
              </c:strCache>
            </c:strRef>
          </c:tx>
          <c:spPr>
            <a:solidFill>
              <a:srgbClr val="0081E2"/>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Micronized Eggshell Membrane</c:v>
                </c:pt>
                <c:pt idx="1">
                  <c:v>Hydrolyzed Eggshell Membrane</c:v>
                </c:pt>
                <c:pt idx="2">
                  <c:v>Specialty Extracted Protein Fractions</c:v>
                </c:pt>
              </c:strCache>
            </c:strRef>
          </c:cat>
          <c:val>
            <c:numRef>
              <c:numCache>
                <c:formatCode>General</c:formatCode>
                <c:ptCount val="3"/>
                <c:pt idx="0">
                  <c:v>9.42459978884396</c:v>
                </c:pt>
                <c:pt idx="1">
                  <c:v>9.424594600991817</c:v>
                </c:pt>
                <c:pt idx="2">
                  <c:v>9.424594600991817</c:v>
                </c:pt>
              </c:numCache>
            </c:numRef>
          </c:val>
        </c:ser>
        <c:ser>
          <c:idx val="2"/>
          <c:order val="2"/>
          <c:tx>
            <c:strRef>
              <c:strCache>
                <c:ptCount val="1"/>
                <c:pt idx="0">
                  <c:v>Dietary Supplements &amp; Nutraceuticals | Joint &amp; Bone Health</c:v>
                </c:pt>
              </c:strCache>
            </c:strRef>
          </c:tx>
          <c:spPr>
            <a:solidFill>
              <a:srgbClr val="0E2A5C"/>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Micronized Eggshell Membrane</c:v>
                </c:pt>
                <c:pt idx="1">
                  <c:v>Hydrolyzed Eggshell Membrane</c:v>
                </c:pt>
                <c:pt idx="2">
                  <c:v>Specialty Extracted Protein Fractions</c:v>
                </c:pt>
              </c:strCache>
            </c:strRef>
          </c:cat>
          <c:val>
            <c:numRef>
              <c:numCache>
                <c:formatCode>General</c:formatCode>
                <c:ptCount val="3"/>
                <c:pt idx="0">
                  <c:v>8.49170953824203</c:v>
                </c:pt>
                <c:pt idx="1">
                  <c:v>8.491704863907366</c:v>
                </c:pt>
                <c:pt idx="2">
                  <c:v>8.491704863907366</c:v>
                </c:pt>
              </c:numCache>
            </c:numRef>
          </c:val>
        </c:ser>
        <c:ser>
          <c:idx val="3"/>
          <c:order val="3"/>
          <c:tx>
            <c:strRef>
              <c:strCache>
                <c:ptCount val="1"/>
                <c:pt idx="0">
                  <c:v>Dietary Supplements &amp; Nutraceuticals | Others</c:v>
                </c:pt>
              </c:strCache>
            </c:strRef>
          </c:tx>
          <c:spPr>
            <a:solidFill>
              <a:srgbClr val="00ACAC"/>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Micronized Eggshell Membrane</c:v>
                </c:pt>
                <c:pt idx="1">
                  <c:v>Hydrolyzed Eggshell Membrane</c:v>
                </c:pt>
                <c:pt idx="2">
                  <c:v>Specialty Extracted Protein Fractions</c:v>
                </c:pt>
              </c:strCache>
            </c:strRef>
          </c:cat>
          <c:val>
            <c:numRef>
              <c:numCache>
                <c:formatCode>General</c:formatCode>
                <c:ptCount val="3"/>
                <c:pt idx="0">
                  <c:v>8.49170953824203</c:v>
                </c:pt>
                <c:pt idx="1">
                  <c:v>8.491704863907366</c:v>
                </c:pt>
                <c:pt idx="2">
                  <c:v>8.491704863907366</c:v>
                </c:pt>
              </c:numCache>
            </c:numRef>
          </c:val>
        </c:ser>
        <c:ser>
          <c:idx val="4"/>
          <c:order val="4"/>
          <c:tx>
            <c:strRef>
              <c:strCache>
                <c:ptCount val="1"/>
                <c:pt idx="0">
                  <c:v>Dietary Supplements &amp; Nutraceuticals | Skin, Hair &amp; Nail Health</c:v>
                </c:pt>
              </c:strCache>
            </c:strRef>
          </c:tx>
          <c:spPr>
            <a:solidFill>
              <a:srgbClr val="F47620"/>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Micronized Eggshell Membrane</c:v>
                </c:pt>
                <c:pt idx="1">
                  <c:v>Hydrolyzed Eggshell Membrane</c:v>
                </c:pt>
                <c:pt idx="2">
                  <c:v>Specialty Extracted Protein Fractions</c:v>
                </c:pt>
              </c:strCache>
            </c:strRef>
          </c:cat>
          <c:val>
            <c:numRef>
              <c:numCache>
                <c:formatCode>General</c:formatCode>
                <c:ptCount val="3"/>
                <c:pt idx="0">
                  <c:v>8.49170953824203</c:v>
                </c:pt>
                <c:pt idx="1">
                  <c:v>8.491704863907366</c:v>
                </c:pt>
                <c:pt idx="2">
                  <c:v>8.491704863907366</c:v>
                </c:pt>
              </c:numCache>
            </c:numRef>
          </c:val>
        </c:ser>
        <c:ser>
          <c:idx val="5"/>
          <c:order val="5"/>
          <c:tx>
            <c:strRef>
              <c:strCache>
                <c:ptCount val="1"/>
                <c:pt idx="0">
                  <c:v>Cosmetics &amp; Personal Care | Hair Care</c:v>
                </c:pt>
              </c:strCache>
            </c:strRef>
          </c:tx>
          <c:spPr>
            <a:solidFill>
              <a:srgbClr val="79C3EC"/>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2E2E2E"/>
                    </a:solidFill>
                    <a:latin typeface="Calibri"/>
                  </a:defRPr>
                </a:pPr>
              </a:p>
            </c:txPr>
            <c:dLblPos val="ctr"/>
            <c:showLegendKey val="0"/>
            <c:showVal val="1"/>
            <c:showCatName val="0"/>
            <c:showSerName val="0"/>
            <c:showPercent val="0"/>
            <c:showBubbleSize val="0"/>
            <c:showLeaderLines val="1"/>
          </c:dLbls>
          <c:cat>
            <c:strRef>
              <c:strCache>
                <c:ptCount val="3"/>
                <c:pt idx="0">
                  <c:v>Micronized Eggshell Membrane</c:v>
                </c:pt>
                <c:pt idx="1">
                  <c:v>Hydrolyzed Eggshell Membrane</c:v>
                </c:pt>
                <c:pt idx="2">
                  <c:v>Specialty Extracted Protein Fractions</c:v>
                </c:pt>
              </c:strCache>
            </c:strRef>
          </c:cat>
          <c:val>
            <c:numRef>
              <c:numCache>
                <c:formatCode>General</c:formatCode>
                <c:ptCount val="3"/>
                <c:pt idx="0">
                  <c:v>8.49170953824203</c:v>
                </c:pt>
                <c:pt idx="1">
                  <c:v>8.491704863907366</c:v>
                </c:pt>
                <c:pt idx="2">
                  <c:v>8.491704863907366</c:v>
                </c:pt>
              </c:numCache>
            </c:numRef>
          </c:val>
        </c:ser>
        <c:ser>
          <c:idx val="6"/>
          <c:order val="6"/>
          <c:tx>
            <c:strRef>
              <c:strCache>
                <c:ptCount val="1"/>
                <c:pt idx="0">
                  <c:v>Cosmetics &amp; Personal Care | Skin Care</c:v>
                </c:pt>
              </c:strCache>
            </c:strRef>
          </c:tx>
          <c:spPr>
            <a:solidFill>
              <a:srgbClr val="586272"/>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Micronized Eggshell Membrane</c:v>
                </c:pt>
                <c:pt idx="1">
                  <c:v>Hydrolyzed Eggshell Membrane</c:v>
                </c:pt>
                <c:pt idx="2">
                  <c:v>Specialty Extracted Protein Fractions</c:v>
                </c:pt>
              </c:strCache>
            </c:strRef>
          </c:cat>
          <c:val>
            <c:numRef>
              <c:numCache>
                <c:formatCode>General</c:formatCode>
                <c:ptCount val="3"/>
                <c:pt idx="0">
                  <c:v>8.49170953824203</c:v>
                </c:pt>
                <c:pt idx="1">
                  <c:v>8.491704863907366</c:v>
                </c:pt>
                <c:pt idx="2">
                  <c:v>8.491704863907366</c:v>
                </c:pt>
              </c:numCache>
            </c:numRef>
          </c:val>
        </c:ser>
        <c:ser>
          <c:idx val="7"/>
          <c:order val="7"/>
          <c:tx>
            <c:strRef>
              <c:strCache>
                <c:ptCount val="1"/>
                <c:pt idx="0">
                  <c:v>Pharmaceuticals &amp; Biomedical | Wound Care &amp; Dressings</c:v>
                </c:pt>
              </c:strCache>
            </c:strRef>
          </c:tx>
          <c:spPr>
            <a:solidFill>
              <a:srgbClr val="1F476B"/>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Micronized Eggshell Membrane</c:v>
                </c:pt>
                <c:pt idx="1">
                  <c:v>Hydrolyzed Eggshell Membrane</c:v>
                </c:pt>
                <c:pt idx="2">
                  <c:v>Specialty Extracted Protein Fractions</c:v>
                </c:pt>
              </c:strCache>
            </c:strRef>
          </c:cat>
          <c:val>
            <c:numRef>
              <c:numCache>
                <c:formatCode>General</c:formatCode>
                <c:ptCount val="3"/>
                <c:pt idx="0">
                  <c:v>8.49170953824203</c:v>
                </c:pt>
                <c:pt idx="1">
                  <c:v>8.491704863907366</c:v>
                </c:pt>
                <c:pt idx="2">
                  <c:v>8.491704863907366</c:v>
                </c:pt>
              </c:numCache>
            </c:numRef>
          </c:val>
        </c:ser>
        <c:ser>
          <c:idx val="8"/>
          <c:order val="8"/>
          <c:tx>
            <c:strRef>
              <c:strCache>
                <c:ptCount val="1"/>
                <c:pt idx="0">
                  <c:v>Pharmaceuticals &amp; Biomedical | Tissue Engineering &amp; Drug Delivery</c:v>
                </c:pt>
              </c:strCache>
            </c:strRef>
          </c:tx>
          <c:spPr>
            <a:solidFill>
              <a:srgbClr val="BCBEC0"/>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2E2E2E"/>
                    </a:solidFill>
                    <a:latin typeface="Calibri"/>
                  </a:defRPr>
                </a:pPr>
              </a:p>
            </c:txPr>
            <c:dLblPos val="ctr"/>
            <c:showLegendKey val="0"/>
            <c:showVal val="1"/>
            <c:showCatName val="0"/>
            <c:showSerName val="0"/>
            <c:showPercent val="0"/>
            <c:showBubbleSize val="0"/>
            <c:showLeaderLines val="1"/>
          </c:dLbls>
          <c:cat>
            <c:strRef>
              <c:strCache>
                <c:ptCount val="3"/>
                <c:pt idx="0">
                  <c:v>Micronized Eggshell Membrane</c:v>
                </c:pt>
                <c:pt idx="1">
                  <c:v>Hydrolyzed Eggshell Membrane</c:v>
                </c:pt>
                <c:pt idx="2">
                  <c:v>Specialty Extracted Protein Fractions</c:v>
                </c:pt>
              </c:strCache>
            </c:strRef>
          </c:cat>
          <c:val>
            <c:numRef>
              <c:numCache>
                <c:formatCode>General</c:formatCode>
                <c:ptCount val="3"/>
                <c:pt idx="0">
                  <c:v>8.49170953824203</c:v>
                </c:pt>
                <c:pt idx="1">
                  <c:v>8.491704863907366</c:v>
                </c:pt>
                <c:pt idx="2">
                  <c:v>8.491704863907366</c:v>
                </c:pt>
              </c:numCache>
            </c:numRef>
          </c:val>
        </c:ser>
        <c:ser>
          <c:idx val="9"/>
          <c:order val="9"/>
          <c:tx>
            <c:strRef>
              <c:strCache>
                <c:ptCount val="1"/>
                <c:pt idx="0">
                  <c:v>Animal Nutrition &amp; Pet Care | Pet Joint &amp; Skin Supplements</c:v>
                </c:pt>
              </c:strCache>
            </c:strRef>
          </c:tx>
          <c:spPr>
            <a:solidFill>
              <a:srgbClr val="3DC6C4"/>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2E2E2E"/>
                    </a:solidFill>
                    <a:latin typeface="Calibri"/>
                  </a:defRPr>
                </a:pPr>
              </a:p>
            </c:txPr>
            <c:dLblPos val="ctr"/>
            <c:showLegendKey val="0"/>
            <c:showVal val="1"/>
            <c:showCatName val="0"/>
            <c:showSerName val="0"/>
            <c:showPercent val="0"/>
            <c:showBubbleSize val="0"/>
            <c:showLeaderLines val="1"/>
          </c:dLbls>
          <c:cat>
            <c:strRef>
              <c:strCache>
                <c:ptCount val="3"/>
                <c:pt idx="0">
                  <c:v>Micronized Eggshell Membrane</c:v>
                </c:pt>
                <c:pt idx="1">
                  <c:v>Hydrolyzed Eggshell Membrane</c:v>
                </c:pt>
                <c:pt idx="2">
                  <c:v>Specialty Extracted Protein Fractions</c:v>
                </c:pt>
              </c:strCache>
            </c:strRef>
          </c:cat>
          <c:val>
            <c:numRef>
              <c:numCache>
                <c:formatCode>General</c:formatCode>
                <c:ptCount val="3"/>
                <c:pt idx="0">
                  <c:v>8.49170953824203</c:v>
                </c:pt>
                <c:pt idx="1">
                  <c:v>8.491704863907366</c:v>
                </c:pt>
                <c:pt idx="2">
                  <c:v>8.491704863907366</c:v>
                </c:pt>
              </c:numCache>
            </c:numRef>
          </c:val>
        </c:ser>
        <c:ser>
          <c:idx val="10"/>
          <c:order val="10"/>
          <c:tx>
            <c:strRef>
              <c:strCache>
                <c:ptCount val="1"/>
                <c:pt idx="0">
                  <c:v>Animal Nutrition &amp; Pet Care | Livestock &amp; Poultry Feed</c:v>
                </c:pt>
              </c:strCache>
            </c:strRef>
          </c:tx>
          <c:spPr>
            <a:solidFill>
              <a:srgbClr val="5B9BD5"/>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Micronized Eggshell Membrane</c:v>
                </c:pt>
                <c:pt idx="1">
                  <c:v>Hydrolyzed Eggshell Membrane</c:v>
                </c:pt>
                <c:pt idx="2">
                  <c:v>Specialty Extracted Protein Fractions</c:v>
                </c:pt>
              </c:strCache>
            </c:strRef>
          </c:cat>
          <c:val>
            <c:numRef>
              <c:numCache>
                <c:formatCode>General</c:formatCode>
                <c:ptCount val="3"/>
                <c:pt idx="0">
                  <c:v>8.49170953824203</c:v>
                </c:pt>
                <c:pt idx="1">
                  <c:v>8.491704863907366</c:v>
                </c:pt>
                <c:pt idx="2">
                  <c:v>8.491704863907366</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9D6E4"/>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5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strCache>
                <c:ptCount val="1"/>
                <c:pt idx="0">
                  <c:v>S1</c:v>
                </c:pt>
              </c:strCache>
            </c:strRef>
          </c:tx>
          <c:spPr>
            <a:solidFill>
              <a:srgbClr val="003E58"/>
            </a:solidFill>
            <a:ln>
              <a:noFill/>
            </a:ln>
          </c:spPr>
          <c:dLbls>
            <c:dLbl>
              <c:idx val="0"/>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0&quot;%&quot;"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3"/>
                <c:pt idx="0">
                  <c:v>2021–2026</c:v>
                </c:pt>
                <c:pt idx="1">
                  <c:v>2026–2036</c:v>
                </c:pt>
                <c:pt idx="2">
                  <c:v>2021–2036</c:v>
                </c:pt>
              </c:strCache>
            </c:strRef>
          </c:cat>
          <c:val>
            <c:numRef>
              <c:numCache>
                <c:formatCode>General</c:formatCode>
                <c:ptCount val="3"/>
                <c:pt idx="0">
                  <c:v>1.7923731962226297</c:v>
                </c:pt>
                <c:pt idx="1">
                  <c:v>2.5858270999890243</c:v>
                </c:pt>
                <c:pt idx="2">
                  <c:v>2.320657631398282</c:v>
                </c:pt>
              </c:numCache>
            </c:numRef>
          </c:val>
        </c:ser>
        <c:dLbls>
          <c:numFmt formatCode="0.0&quot;%&quot;"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3.413291771985512"/>
          <c:min val="0.0"/>
        </c:scaling>
        <c:delete val="0"/>
        <c:axPos val="l"/>
        <c:numFmt formatCode="0&quot;%&quot;" sourceLinked="0"/>
        <c:majorTickMark val="out"/>
        <c:minorTickMark val="none"/>
        <c:tickLblPos val="nextTo"/>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5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5"/>
                <c:pt idx="0">
                  <c:v>2021</c:v>
                </c:pt>
                <c:pt idx="1">
                  <c:v>2021–2026</c:v>
                </c:pt>
                <c:pt idx="2">
                  <c:v>2026</c:v>
                </c:pt>
                <c:pt idx="3">
                  <c:v>2026–2036</c:v>
                </c:pt>
                <c:pt idx="4">
                  <c:v>2036</c:v>
                </c:pt>
              </c:strCache>
            </c:strRef>
          </c:cat>
          <c:val>
            <c:numRef>
              <c:numCache>
                <c:formatCode>General</c:formatCode>
                <c:ptCount val="5"/>
                <c:pt idx="0">
                  <c:v>0.0</c:v>
                </c:pt>
                <c:pt idx="1">
                  <c:v>96498.30600000001</c:v>
                </c:pt>
                <c:pt idx="2">
                  <c:v>0.0</c:v>
                </c:pt>
                <c:pt idx="3">
                  <c:v>105461.97200000001</c:v>
                </c:pt>
                <c:pt idx="4">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2A5F8F"/>
              </a:solidFill>
            </c:spPr>
          </c:dPt>
          <c:dPt>
            <c:idx val="3"/>
            <c:spPr>
              <a:solidFill>
                <a:srgbClr val="00ACAC"/>
              </a:solidFill>
            </c:spPr>
          </c:dPt>
          <c:dPt>
            <c:idx val="4"/>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5"/>
                <c:pt idx="0">
                  <c:v>2021</c:v>
                </c:pt>
                <c:pt idx="1">
                  <c:v>2021–2026</c:v>
                </c:pt>
                <c:pt idx="2">
                  <c:v>2026</c:v>
                </c:pt>
                <c:pt idx="3">
                  <c:v>2026–2036</c:v>
                </c:pt>
                <c:pt idx="4">
                  <c:v>2036</c:v>
                </c:pt>
              </c:strCache>
            </c:strRef>
          </c:cat>
          <c:val>
            <c:numRef>
              <c:numCache>
                <c:formatCode>General</c:formatCode>
                <c:ptCount val="5"/>
                <c:pt idx="0">
                  <c:v>96498.30600000001</c:v>
                </c:pt>
                <c:pt idx="1">
                  <c:v>8963.665999999997</c:v>
                </c:pt>
                <c:pt idx="2">
                  <c:v>105461.97200000001</c:v>
                </c:pt>
                <c:pt idx="3">
                  <c:v>30672.945000000007</c:v>
                </c:pt>
                <c:pt idx="4">
                  <c:v>136134.91700000002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5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strCache>
                <c:ptCount val="1"/>
                <c:pt idx="0">
                  <c:v>S1</c:v>
                </c:pt>
              </c:strCache>
            </c:strRef>
          </c:tx>
          <c:spPr>
            <a:solidFill>
              <a:srgbClr val="003E58"/>
            </a:solidFill>
            <a:ln>
              <a:noFill/>
            </a:ln>
          </c:spPr>
          <c:dLbls>
            <c:dLbl>
              <c:idx val="0"/>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0&quot;%&quot;"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3"/>
                <c:pt idx="0">
                  <c:v>2021–2026</c:v>
                </c:pt>
                <c:pt idx="1">
                  <c:v>2026–2036</c:v>
                </c:pt>
                <c:pt idx="2">
                  <c:v>2021–2036</c:v>
                </c:pt>
              </c:strCache>
            </c:strRef>
          </c:cat>
          <c:val>
            <c:numRef>
              <c:numCache>
                <c:formatCode>General</c:formatCode>
                <c:ptCount val="3"/>
                <c:pt idx="0">
                  <c:v>3.247942337228582</c:v>
                </c:pt>
                <c:pt idx="1">
                  <c:v>4.056107857498703</c:v>
                </c:pt>
                <c:pt idx="2">
                  <c:v>3.7860189120546783</c:v>
                </c:pt>
              </c:numCache>
            </c:numRef>
          </c:val>
        </c:ser>
        <c:dLbls>
          <c:numFmt formatCode="0.0&quot;%&quot;"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5.354062371898288"/>
          <c:min val="0.0"/>
        </c:scaling>
        <c:delete val="0"/>
        <c:axPos val="l"/>
        <c:numFmt formatCode="0&quot;%&quot;" sourceLinked="0"/>
        <c:majorTickMark val="out"/>
        <c:minorTickMark val="none"/>
        <c:tickLblPos val="nextTo"/>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5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5"/>
                <c:pt idx="0">
                  <c:v>2021</c:v>
                </c:pt>
                <c:pt idx="1">
                  <c:v>2021–2026</c:v>
                </c:pt>
                <c:pt idx="2">
                  <c:v>2026</c:v>
                </c:pt>
                <c:pt idx="3">
                  <c:v>2026–2036</c:v>
                </c:pt>
                <c:pt idx="4">
                  <c:v>2036</c:v>
                </c:pt>
              </c:strCache>
            </c:strRef>
          </c:cat>
          <c:val>
            <c:numRef>
              <c:numCache>
                <c:formatCode>General</c:formatCode>
                <c:ptCount val="5"/>
                <c:pt idx="0">
                  <c:v>0.0</c:v>
                </c:pt>
                <c:pt idx="1">
                  <c:v>3072.458</c:v>
                </c:pt>
                <c:pt idx="2">
                  <c:v>0.0</c:v>
                </c:pt>
                <c:pt idx="3">
                  <c:v>3604.898</c:v>
                </c:pt>
                <c:pt idx="4">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2A5F8F"/>
              </a:solidFill>
            </c:spPr>
          </c:dPt>
          <c:dPt>
            <c:idx val="3"/>
            <c:spPr>
              <a:solidFill>
                <a:srgbClr val="00ACAC"/>
              </a:solidFill>
            </c:spPr>
          </c:dPt>
          <c:dPt>
            <c:idx val="4"/>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5"/>
                <c:pt idx="0">
                  <c:v>2021</c:v>
                </c:pt>
                <c:pt idx="1">
                  <c:v>2021–2026</c:v>
                </c:pt>
                <c:pt idx="2">
                  <c:v>2026</c:v>
                </c:pt>
                <c:pt idx="3">
                  <c:v>2026–2036</c:v>
                </c:pt>
                <c:pt idx="4">
                  <c:v>2036</c:v>
                </c:pt>
              </c:strCache>
            </c:strRef>
          </c:cat>
          <c:val>
            <c:numRef>
              <c:numCache>
                <c:formatCode>General</c:formatCode>
                <c:ptCount val="5"/>
                <c:pt idx="0">
                  <c:v>3072.458</c:v>
                </c:pt>
                <c:pt idx="1">
                  <c:v>532.44</c:v>
                </c:pt>
                <c:pt idx="2">
                  <c:v>3604.898</c:v>
                </c:pt>
                <c:pt idx="3">
                  <c:v>1760.0899999999992</c:v>
                </c:pt>
                <c:pt idx="4">
                  <c:v>5364.987999999999</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5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strCache>
                <c:ptCount val="1"/>
                <c:pt idx="0">
                  <c:v>Value (US$ Mn)</c:v>
                </c:pt>
              </c:strCache>
            </c:strRef>
          </c:tx>
          <c:spPr>
            <a:solidFill>
              <a:srgbClr val="69B1E0"/>
            </a:solidFill>
            <a:ln>
              <a:noFill/>
            </a:ln>
          </c:spPr>
          <c:dLbls>
            <c:dLbl>
              <c:idx val="0"/>
              <c:numFmt formatCode="&quot;MMMMMMM&quot;;&quot;MMMMMMM&quot;;&quot;MMM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MM&quot;;&quot;MMMMMMM&quot;;&quot;MMM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MM&quot;;&quot;MMMMMMM&quot;;&quot;MMM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MM&quot;;&quot;MMMMMMM&quot;;&quot;MMM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MM&quot;;&quot;MMMMMMM&quot;;&quot;MMM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solidFill>
                      <a:srgbClr val="6C7A89"/>
                    </a:solidFill>
                    <a:latin typeface="Calibri"/>
                  </a:defRPr>
                </a:pPr>
              </a:p>
            </c:txPr>
            <c:dLblPos val="outEnd"/>
            <c:showLegendKey val="0"/>
            <c:showVal val="1"/>
            <c:showCatName val="0"/>
            <c:showSerName val="0"/>
            <c:showPercent val="0"/>
            <c:showBubbleSize val="0"/>
            <c:showLeaderLines val="1"/>
          </c:dLbls>
          <c:cat>
            <c:strRef>
              <c:strCache>
                <c:ptCount val="5"/>
                <c:pt idx="0">
                  <c:v>2021</c:v>
                </c:pt>
                <c:pt idx="1">
                  <c:v>2022</c:v>
                </c:pt>
                <c:pt idx="2">
                  <c:v>2023</c:v>
                </c:pt>
                <c:pt idx="3">
                  <c:v>2024</c:v>
                </c:pt>
                <c:pt idx="4">
                  <c:v>2025</c:v>
                </c:pt>
              </c:strCache>
            </c:strRef>
          </c:cat>
          <c:val>
            <c:numRef>
              <c:numCache>
                <c:formatCode>General</c:formatCode>
                <c:ptCount val="5"/>
                <c:pt idx="0">
                  <c:v>3072.458</c:v>
                </c:pt>
                <c:pt idx="1">
                  <c:v>3172.183</c:v>
                </c:pt>
                <c:pt idx="2">
                  <c:v>3275.179</c:v>
                </c:pt>
                <c:pt idx="3">
                  <c:v>3381.5550000000003</c:v>
                </c:pt>
                <c:pt idx="4">
                  <c:v>3491.422</c:v>
                </c:pt>
              </c:numCache>
            </c:numRef>
          </c:val>
        </c:ser>
        <c:gapWidth val="50"/>
        <c:axId val="-2068027336"/>
        <c:axId val="-2113994440"/>
      </c:barChart>
      <c:barChart>
        <c:barDir val="col"/>
        <c:grouping val="clustered"/>
        <c:varyColors val="0"/>
        <c:ser>
          <c:idx val="1"/>
          <c:order val="1"/>
          <c:tx>
            <c:strRef>
              <c:strCache>
                <c:ptCount val="1"/>
                <c:pt idx="0">
                  <c:v>Volume (MT)</c:v>
                </c:pt>
              </c:strCache>
            </c:strRef>
          </c:tx>
          <c:spPr>
            <a:solidFill>
              <a:srgbClr val="C55A11"/>
            </a:solidFill>
            <a:ln>
              <a:noFill/>
            </a:ln>
          </c:spPr>
          <c:dLbls>
            <c:dLbl>
              <c:idx val="0"/>
              <c:numFmt formatCode="&quot;MMMMMMMM&quot;;&quot;MMMMMMMM&quot;;&quot;MMMM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MMM&quot;;&quot;MMMMMMMM&quot;;&quot;MMMM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MMM&quot;;&quot;MMMMMMMM&quot;;&quot;MMMM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MMMM&quot;;&quot;MMMMMMMMM&quot;;&quot;MMMMM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MMMM&quot;;&quot;MMMMMMMMM&quot;;&quot;MMMMM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5"/>
                <c:pt idx="0">
                  <c:v>2021</c:v>
                </c:pt>
                <c:pt idx="1">
                  <c:v>2022</c:v>
                </c:pt>
                <c:pt idx="2">
                  <c:v>2023</c:v>
                </c:pt>
                <c:pt idx="3">
                  <c:v>2024</c:v>
                </c:pt>
                <c:pt idx="4">
                  <c:v>2025</c:v>
                </c:pt>
              </c:strCache>
            </c:strRef>
          </c:cat>
          <c:val>
            <c:numRef>
              <c:numCache>
                <c:formatCode>General</c:formatCode>
                <c:ptCount val="5"/>
                <c:pt idx="0">
                  <c:v>96498.30600000001</c:v>
                </c:pt>
                <c:pt idx="1">
                  <c:v>98226.715</c:v>
                </c:pt>
                <c:pt idx="2">
                  <c:v>99986.691</c:v>
                </c:pt>
                <c:pt idx="3">
                  <c:v>101778.825</c:v>
                </c:pt>
                <c:pt idx="4">
                  <c:v>103603.714</c:v>
                </c:pt>
              </c:numCache>
            </c:numRef>
          </c:val>
        </c:ser>
        <c:gapWidth val="219"/>
        <c:axId val="90210001"/>
        <c:axId val="90210002"/>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max val="4120"/>
          <c:min val="0"/>
        </c:scaling>
        <c:delete val="0"/>
        <c:axPos val="l"/>
        <c:numFmt formatCode="#,##0" sourceLinked="0"/>
        <c:majorTickMark val="none"/>
        <c:minorTickMark val="none"/>
        <c:tickLblPos val="none"/>
        <c:spPr>
          <a:ln>
            <a:noFill/>
          </a:ln>
        </c:spPr>
        <c:txPr>
          <a:bodyPr/>
          <a:lstStyle/>
          <a:p>
            <a:pPr>
              <a:defRPr sz="1100"/>
            </a:pPr>
          </a:p>
        </c:txPr>
        <c:crossAx val="-2068027336"/>
        <c:crosses val="autoZero"/>
      </c:valAx>
      <c:catAx>
        <c:axId val="90210001"/>
        <c:scaling>
          <c:orientation val="minMax"/>
        </c:scaling>
        <c:delete val="1"/>
        <c:axPos val="b"/>
        <c:crossAx val="90210002"/>
        <c:crosses val="autoZero"/>
      </c:catAx>
      <c:valAx>
        <c:axId val="90210002"/>
        <c:scaling>
          <c:orientation val="minMax"/>
          <c:max val="147040"/>
          <c:min val="0"/>
        </c:scaling>
        <c:delete val="0"/>
        <c:axPos val="r"/>
        <c:numFmt formatCode="#,##0" sourceLinked="0"/>
        <c:majorTickMark val="none"/>
        <c:minorTickMark val="none"/>
        <c:tickLblPos val="none"/>
        <c:spPr>
          <a:ln>
            <a:noFill/>
          </a:ln>
        </c:spPr>
        <c:crossAx val="90210001"/>
        <c:crosses val="max"/>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5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strCache>
                <c:ptCount val="1"/>
                <c:pt idx="0">
                  <c:v>Value (US$ Mn)</c:v>
                </c:pt>
              </c:strCache>
            </c:strRef>
          </c:tx>
          <c:spPr>
            <a:solidFill>
              <a:srgbClr val="69B1E0"/>
            </a:solidFill>
            <a:ln>
              <a:noFill/>
            </a:ln>
          </c:spPr>
          <c:dLbls>
            <c:dLbl>
              <c:idx val="0"/>
              <c:numFmt formatCode="&quot;MMMMMMM&quot;;&quot;MMMMMMM&quot;;&quot;MMM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MM&quot;;&quot;MMMMMMM&quot;;&quot;MMM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MM&quot;;&quot;MMMMMMM&quot;;&quot;MMM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MM&quot;;&quot;MMMMMMM&quot;;&quot;MMM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MM&quot;;&quot;MMMMMMM&quot;;&quot;MMM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numFmt formatCode="&quot;MMMMMMM&quot;;&quot;MMMMMMM&quot;;&quot;MMM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numFmt formatCode="&quot;MMMMMMM&quot;;&quot;MMMMMMM&quot;;&quot;MMM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numFmt formatCode="&quot;MMMMMMM&quot;;&quot;MMMMMMM&quot;;&quot;MMM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numFmt formatCode="&quot;MMMMMMM&quot;;&quot;MMMMMMM&quot;;&quot;MMM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numFmt formatCode="&quot;MMMMMMM&quot;;&quot;MMMMMMM&quot;;&quot;MMM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numFmt formatCode="&quot;MMMMMMM&quot;;&quot;MMMMMMM&quot;;&quot;MMMM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solidFill>
                      <a:srgbClr val="6C7A89"/>
                    </a:solidFill>
                    <a:latin typeface="Calibri"/>
                  </a:defRPr>
                </a:pPr>
              </a:p>
            </c:txPr>
            <c:dLblPos val="outEnd"/>
            <c:showLegendKey val="0"/>
            <c:showVal val="1"/>
            <c:showCatName val="0"/>
            <c:showSerName val="0"/>
            <c:showPercent val="0"/>
            <c:showBubbleSize val="0"/>
            <c:showLeaderLines val="1"/>
          </c:dLbls>
          <c:cat>
            <c:strRef>
              <c:strCache>
                <c:ptCount val="11"/>
                <c:pt idx="0">
                  <c:v>2026</c:v>
                </c:pt>
                <c:pt idx="1">
                  <c:v>2027</c:v>
                </c:pt>
                <c:pt idx="2">
                  <c:v>2028</c:v>
                </c:pt>
                <c:pt idx="3">
                  <c:v>2029</c:v>
                </c:pt>
                <c:pt idx="4">
                  <c:v>2030</c:v>
                </c:pt>
                <c:pt idx="5">
                  <c:v>2031</c:v>
                </c:pt>
                <c:pt idx="6">
                  <c:v>2032</c:v>
                </c:pt>
                <c:pt idx="7">
                  <c:v>2033</c:v>
                </c:pt>
                <c:pt idx="8">
                  <c:v>2034</c:v>
                </c:pt>
                <c:pt idx="9">
                  <c:v>2035</c:v>
                </c:pt>
                <c:pt idx="10">
                  <c:v>2036</c:v>
                </c:pt>
              </c:strCache>
            </c:strRef>
          </c:cat>
          <c:val>
            <c:numRef>
              <c:numCache>
                <c:formatCode>General</c:formatCode>
                <c:ptCount val="11"/>
                <c:pt idx="0">
                  <c:v>3604.898</c:v>
                </c:pt>
                <c:pt idx="1">
                  <c:v>3750.939</c:v>
                </c:pt>
                <c:pt idx="2">
                  <c:v>3902.938</c:v>
                </c:pt>
                <c:pt idx="3">
                  <c:v>4061.139</c:v>
                </c:pt>
                <c:pt idx="4">
                  <c:v>4225.796</c:v>
                </c:pt>
                <c:pt idx="5">
                  <c:v>4397.176</c:v>
                </c:pt>
                <c:pt idx="6">
                  <c:v>4575.553</c:v>
                </c:pt>
                <c:pt idx="7">
                  <c:v>4761.217000000001</c:v>
                </c:pt>
                <c:pt idx="8">
                  <c:v>4954.467000000001</c:v>
                </c:pt>
                <c:pt idx="9">
                  <c:v>5155.616</c:v>
                </c:pt>
                <c:pt idx="10">
                  <c:v>5364.987999999999</c:v>
                </c:pt>
              </c:numCache>
            </c:numRef>
          </c:val>
        </c:ser>
        <c:gapWidth val="50"/>
        <c:axId val="-2068027336"/>
        <c:axId val="-2113994440"/>
      </c:barChart>
      <c:barChart>
        <c:barDir val="col"/>
        <c:grouping val="clustered"/>
        <c:varyColors val="0"/>
        <c:ser>
          <c:idx val="1"/>
          <c:order val="1"/>
          <c:tx>
            <c:strRef>
              <c:strCache>
                <c:ptCount val="1"/>
                <c:pt idx="0">
                  <c:v>Volume (MT)</c:v>
                </c:pt>
              </c:strCache>
            </c:strRef>
          </c:tx>
          <c:spPr>
            <a:solidFill>
              <a:srgbClr val="C55A11"/>
            </a:solidFill>
            <a:ln>
              <a:noFill/>
            </a:ln>
          </c:spPr>
          <c:dLbls>
            <c:dLbl>
              <c:idx val="0"/>
              <c:numFmt formatCode="&quot;MMMMMMMMM&quot;;&quot;MMMMMMMMM&quot;;&quot;MMMMMMMMM&quot;" sourceLinked="0"/>
              <c:spPr>
                <a:blipFill>
                  <a:blip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MMMM&quot;;&quot;MMMMMMMMM&quot;;&quot;MMMMMMMMM&quot;" sourceLinked="0"/>
              <c:spPr>
                <a:blipFill>
                  <a:blip r:embed="rId1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MMMM&quot;;&quot;MMMMMMMMM&quot;;&quot;MMMMMMMMM&quot;" sourceLinked="0"/>
              <c:spPr>
                <a:blipFill>
                  <a:blip r:embed="rId1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MMMM&quot;;&quot;MMMMMMMMM&quot;;&quot;MMMMMMMMM&quot;" sourceLinked="0"/>
              <c:spPr>
                <a:blipFill>
                  <a:blip r:embed="rId1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MMMM&quot;;&quot;MMMMMMMMM&quot;;&quot;MMMMMMMMM&quot;" sourceLinked="0"/>
              <c:spPr>
                <a:blipFill>
                  <a:blip r:embed="rId1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numFmt formatCode="&quot;MMMMMMMMM&quot;;&quot;MMMMMMMMM&quot;;&quot;MMMMMMMMM&quot;" sourceLinked="0"/>
              <c:spPr>
                <a:blipFill>
                  <a:blip r:embed="rId1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numFmt formatCode="&quot;MMMMMMMMM&quot;;&quot;MMMMMMMMM&quot;;&quot;MMMMMMMMM&quot;" sourceLinked="0"/>
              <c:spPr>
                <a:blipFill>
                  <a:blip r:embed="rId1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numFmt formatCode="&quot;MMMMMMMMM&quot;;&quot;MMMMMMMMM&quot;;&quot;MMMMMMMMM&quot;" sourceLinked="0"/>
              <c:spPr>
                <a:blipFill>
                  <a:blip r:embed="rId2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numFmt formatCode="&quot;MMMMMMMMM&quot;;&quot;MMMMMMMMM&quot;;&quot;MMMMMMMMM&quot;" sourceLinked="0"/>
              <c:spPr>
                <a:blipFill>
                  <a:blip r:embed="rId2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numFmt formatCode="&quot;MMMMMMMMM&quot;;&quot;MMMMMMMMM&quot;;&quot;MMMMMMMMM&quot;" sourceLinked="0"/>
              <c:spPr>
                <a:blipFill>
                  <a:blip r:embed="rId2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numFmt formatCode="&quot;MMMMMMMMM&quot;;&quot;MMMMMMMMM&quot;;&quot;MMMMMMMMM&quot;" sourceLinked="0"/>
              <c:spPr>
                <a:blipFill>
                  <a:blip r:embed="rId2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11"/>
                <c:pt idx="0">
                  <c:v>2026</c:v>
                </c:pt>
                <c:pt idx="1">
                  <c:v>2027</c:v>
                </c:pt>
                <c:pt idx="2">
                  <c:v>2028</c:v>
                </c:pt>
                <c:pt idx="3">
                  <c:v>2029</c:v>
                </c:pt>
                <c:pt idx="4">
                  <c:v>2030</c:v>
                </c:pt>
                <c:pt idx="5">
                  <c:v>2031</c:v>
                </c:pt>
                <c:pt idx="6">
                  <c:v>2032</c:v>
                </c:pt>
                <c:pt idx="7">
                  <c:v>2033</c:v>
                </c:pt>
                <c:pt idx="8">
                  <c:v>2034</c:v>
                </c:pt>
                <c:pt idx="9">
                  <c:v>2035</c:v>
                </c:pt>
                <c:pt idx="10">
                  <c:v>2036</c:v>
                </c:pt>
              </c:strCache>
            </c:strRef>
          </c:cat>
          <c:val>
            <c:numRef>
              <c:numCache>
                <c:formatCode>General</c:formatCode>
                <c:ptCount val="11"/>
                <c:pt idx="0">
                  <c:v>105461.97200000001</c:v>
                </c:pt>
                <c:pt idx="1">
                  <c:v>108186.076</c:v>
                </c:pt>
                <c:pt idx="2">
                  <c:v>110981.21600000001</c:v>
                </c:pt>
                <c:pt idx="3">
                  <c:v>113849.26199999999</c:v>
                </c:pt>
                <c:pt idx="4">
                  <c:v>116792.13500000001</c:v>
                </c:pt>
                <c:pt idx="5">
                  <c:v>119811.80600000001</c:v>
                </c:pt>
                <c:pt idx="6">
                  <c:v>122910.29999999999</c:v>
                </c:pt>
                <c:pt idx="7">
                  <c:v>126089.696</c:v>
                </c:pt>
                <c:pt idx="8">
                  <c:v>129352.128</c:v>
                </c:pt>
                <c:pt idx="9">
                  <c:v>132699.785</c:v>
                </c:pt>
                <c:pt idx="10">
                  <c:v>136134.91700000002</c:v>
                </c:pt>
              </c:numCache>
            </c:numRef>
          </c:val>
        </c:ser>
        <c:gapWidth val="219"/>
        <c:axId val="90210001"/>
        <c:axId val="90210002"/>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max val="6331"/>
          <c:min val="0"/>
        </c:scaling>
        <c:delete val="0"/>
        <c:axPos val="l"/>
        <c:numFmt formatCode="#,##0" sourceLinked="0"/>
        <c:majorTickMark val="none"/>
        <c:minorTickMark val="none"/>
        <c:tickLblPos val="none"/>
        <c:spPr>
          <a:ln>
            <a:noFill/>
          </a:ln>
        </c:spPr>
        <c:txPr>
          <a:bodyPr/>
          <a:lstStyle/>
          <a:p>
            <a:pPr>
              <a:defRPr sz="1100"/>
            </a:pPr>
          </a:p>
        </c:txPr>
        <c:crossAx val="-2068027336"/>
        <c:crosses val="autoZero"/>
      </c:valAx>
      <c:catAx>
        <c:axId val="90210001"/>
        <c:scaling>
          <c:orientation val="minMax"/>
        </c:scaling>
        <c:delete val="1"/>
        <c:axPos val="b"/>
        <c:crossAx val="90210002"/>
        <c:crosses val="autoZero"/>
      </c:catAx>
      <c:valAx>
        <c:axId val="90210002"/>
        <c:scaling>
          <c:orientation val="minMax"/>
          <c:max val="210461"/>
          <c:min val="0"/>
        </c:scaling>
        <c:delete val="0"/>
        <c:axPos val="r"/>
        <c:numFmt formatCode="#,##0" sourceLinked="0"/>
        <c:majorTickMark val="none"/>
        <c:minorTickMark val="none"/>
        <c:tickLblPos val="none"/>
        <c:spPr>
          <a:ln>
            <a:noFill/>
          </a:ln>
        </c:spPr>
        <c:crossAx val="90210001"/>
        <c:crosses val="max"/>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6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strCache>
                <c:ptCount val="1"/>
                <c:pt idx="0">
                  <c:v>Index</c:v>
                </c:pt>
              </c:strCache>
            </c:strRef>
          </c:tx>
          <c:spPr>
            <a:solidFill>
              <a:srgbClr val="2A5F8F"/>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quot;;&quot;MMMMM&quot;;&quot;M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2"/>
                <c:pt idx="0">
                  <c:v>U.S.</c:v>
                </c:pt>
                <c:pt idx="1">
                  <c:v>Canada</c:v>
                </c:pt>
              </c:strCache>
            </c:strRef>
          </c:cat>
          <c:val>
            <c:numRef>
              <c:numCache>
                <c:formatCode>General</c:formatCode>
                <c:ptCount val="2"/>
                <c:pt idx="0">
                  <c:v>94.32274981527992</c:v>
                </c:pt>
                <c:pt idx="1">
                  <c:v>112.20906702696266</c:v>
                </c:pt>
              </c:numCache>
            </c:numRef>
          </c:val>
        </c:ser>
        <c:dLbls>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b"/>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6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strCache>
                <c:ptCount val="1"/>
                <c:pt idx="0">
                  <c:v>Index</c:v>
                </c:pt>
              </c:strCache>
            </c:strRef>
          </c:tx>
          <c:spPr>
            <a:solidFill>
              <a:srgbClr val="2A5F8F"/>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35.668232874455306</c:v>
                </c:pt>
                <c:pt idx="1">
                  <c:v>64.33176712554477</c:v>
                </c:pt>
              </c:numCache>
            </c:numRef>
          </c:val>
        </c:ser>
        <c:dLbls>
          <c:numFmt formatCode="0.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b"/>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62.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1"/>
          <c:y val="0.04"/>
          <c:w val="0.68"/>
          <c:h val="0.92"/>
        </c:manualLayout>
      </c:layout>
      <c:doughnutChart>
        <c:varyColors val="0"/>
        <c:ser>
          <c:idx val="0"/>
          <c:order val="0"/>
          <c:tx>
            <c:strRef>
              <c:strCache>
                <c:ptCount val="1"/>
                <c:pt idx="0">
                  <c:v>Share</c:v>
                </c:pt>
              </c:strCache>
            </c:strRef>
          </c:tx>
          <c:spPr/>
          <c:dPt>
            <c:idx val="0"/>
            <c:spPr>
              <a:solidFill>
                <a:srgbClr val="2A5F8F"/>
              </a:solidFill>
            </c:spPr>
          </c:dPt>
          <c:dPt>
            <c:idx val="1"/>
            <c:spPr>
              <a:solidFill>
                <a:srgbClr val="0081E2"/>
              </a:solidFill>
            </c:spPr>
          </c:dPt>
          <c:dPt>
            <c:idx val="2"/>
            <c:spPr>
              <a:solidFill>
                <a:srgbClr val="0E2A5C"/>
              </a:solidFill>
            </c:spPr>
          </c:dPt>
          <c:dLbls>
            <c:dLbl>
              <c:idx val="0"/>
              <c:layout>
                <c:manualLayout>
                  <c:x val="0.0350"/>
                  <c:y val="0.0000"/>
                </c:manualLayout>
              </c:layout>
              <c:numFmt formatCode="&quot;MMMMMMM&quot;;&quot;MMMMMMM&quot;;&quot;MMM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layout>
                <c:manualLayout>
                  <c:x val="0.0350"/>
                  <c:y val="0.0000"/>
                </c:manualLayout>
              </c:layout>
              <c:numFmt formatCode="&quot;MMMMMMM&quot;;&quot;MMMMMMM&quot;;&quot;MMM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layout>
                <c:manualLayout>
                  <c:x val="0.0350"/>
                  <c:y val="0.0000"/>
                </c:manualLayout>
              </c:layout>
              <c:numFmt formatCode="&quot;MMMMMMM&quot;;&quot;MMMMMMM&quot;;&quot;MMM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3"/>
                <c:pt idx="0">
                  <c:v>Micronized Eggshell Membrane</c:v>
                </c:pt>
                <c:pt idx="1">
                  <c:v>Hydrolyzed Eggshell Membrane</c:v>
                </c:pt>
                <c:pt idx="2">
                  <c:v>Specialty Extracted Protein Fractions</c:v>
                </c:pt>
              </c:strCache>
            </c:strRef>
          </c:cat>
          <c:val>
            <c:numRef>
              <c:numCache>
                <c:formatCode>General</c:formatCode>
                <c:ptCount val="3"/>
                <c:pt idx="0">
                  <c:v>2104.756</c:v>
                </c:pt>
                <c:pt idx="1">
                  <c:v>1149.667</c:v>
                </c:pt>
                <c:pt idx="2">
                  <c:v>2110.565</c:v>
                </c:pt>
              </c:numCache>
            </c:numRef>
          </c:val>
        </c:ser>
        <c:dLbls>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a:p>
  </c:txPr>
</c:chartSpace>
</file>

<file path=ppt/charts/chart63.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strCache>
                <c:ptCount val="1"/>
                <c:pt idx="0">
                  <c:v>Optimistic Scenario</c:v>
                </c:pt>
              </c:strCache>
            </c:strRef>
          </c:tx>
          <c:spPr>
            <a:ln w="28575">
              <a:solidFill>
                <a:srgbClr val="2E5F8A"/>
              </a:solidFill>
            </a:ln>
          </c:spPr>
          <c:marker>
            <c:symbol val="circle"/>
            <c:size val="6"/>
            <c:spPr>
              <a:solidFill>
                <a:srgbClr val="2E5F8A"/>
              </a:solidFill>
              <a:ln>
                <a:solidFill>
                  <a:srgbClr val="2E5F8A"/>
                </a:solidFill>
              </a:ln>
            </c:spPr>
          </c:marker>
          <c:cat>
            <c:strRef>
              <c:strCache>
                <c:ptCount val="11"/>
                <c:pt idx="0">
                  <c:v>2026</c:v>
                </c:pt>
                <c:pt idx="1">
                  <c:v>2027</c:v>
                </c:pt>
                <c:pt idx="2">
                  <c:v>2028</c:v>
                </c:pt>
                <c:pt idx="3">
                  <c:v>2029</c:v>
                </c:pt>
                <c:pt idx="4">
                  <c:v>2030</c:v>
                </c:pt>
                <c:pt idx="5">
                  <c:v>2031</c:v>
                </c:pt>
                <c:pt idx="6">
                  <c:v>2032</c:v>
                </c:pt>
                <c:pt idx="7">
                  <c:v>2033</c:v>
                </c:pt>
                <c:pt idx="8">
                  <c:v>2034</c:v>
                </c:pt>
                <c:pt idx="9">
                  <c:v>2035</c:v>
                </c:pt>
                <c:pt idx="10">
                  <c:v>2036</c:v>
                </c:pt>
              </c:strCache>
            </c:strRef>
          </c:cat>
          <c:val>
            <c:numRef>
              <c:numCache>
                <c:formatCode>General</c:formatCode>
                <c:ptCount val="11"/>
                <c:pt idx="0">
                  <c:v>0.054347173337797795</c:v>
                </c:pt>
                <c:pt idx="1">
                  <c:v>0.0533587134733217</c:v>
                </c:pt>
                <c:pt idx="2">
                  <c:v>0.05142178923021535</c:v>
                </c:pt>
                <c:pt idx="3">
                  <c:v>0.049484864987109016</c:v>
                </c:pt>
                <c:pt idx="4">
                  <c:v>0.04853640060847876</c:v>
                </c:pt>
                <c:pt idx="5">
                  <c:v>0.04877065988271877</c:v>
                </c:pt>
                <c:pt idx="6">
                  <c:v>0.049456296782933395</c:v>
                </c:pt>
                <c:pt idx="7">
                  <c:v>0.04972483790218413</c:v>
                </c:pt>
                <c:pt idx="8">
                  <c:v>0.049199182945352915</c:v>
                </c:pt>
                <c:pt idx="9">
                  <c:v>0.047405099723124615</c:v>
                </c:pt>
                <c:pt idx="10">
                  <c:v>0.045919553105992904</c:v>
                </c:pt>
              </c:numCache>
            </c:numRef>
          </c:val>
          <c:smooth val="0"/>
        </c:ser>
        <c:ser>
          <c:idx val="1"/>
          <c:order val="1"/>
          <c:tx>
            <c:strRef>
              <c:strCache>
                <c:ptCount val="1"/>
                <c:pt idx="0">
                  <c:v>Likely Scenario</c:v>
                </c:pt>
              </c:strCache>
            </c:strRef>
          </c:tx>
          <c:spPr>
            <a:ln w="28575">
              <a:solidFill>
                <a:srgbClr val="8B1A1A"/>
              </a:solidFill>
            </a:ln>
          </c:spPr>
          <c:marker>
            <c:symbol val="circle"/>
            <c:size val="6"/>
            <c:spPr>
              <a:solidFill>
                <a:srgbClr val="8B1A1A"/>
              </a:solidFill>
              <a:ln>
                <a:solidFill>
                  <a:srgbClr val="8B1A1A"/>
                </a:solidFill>
              </a:ln>
            </c:spPr>
          </c:marker>
          <c:cat>
            <c:strRef>
              <c:strCache>
                <c:ptCount val="11"/>
                <c:pt idx="0">
                  <c:v>2026</c:v>
                </c:pt>
                <c:pt idx="1">
                  <c:v>2027</c:v>
                </c:pt>
                <c:pt idx="2">
                  <c:v>2028</c:v>
                </c:pt>
                <c:pt idx="3">
                  <c:v>2029</c:v>
                </c:pt>
                <c:pt idx="4">
                  <c:v>2030</c:v>
                </c:pt>
                <c:pt idx="5">
                  <c:v>2031</c:v>
                </c:pt>
                <c:pt idx="6">
                  <c:v>2032</c:v>
                </c:pt>
                <c:pt idx="7">
                  <c:v>2033</c:v>
                </c:pt>
                <c:pt idx="8">
                  <c:v>2034</c:v>
                </c:pt>
                <c:pt idx="9">
                  <c:v>2035</c:v>
                </c:pt>
                <c:pt idx="10">
                  <c:v>2036</c:v>
                </c:pt>
              </c:strCache>
            </c:strRef>
          </c:cat>
          <c:val>
            <c:numRef>
              <c:numCache>
                <c:formatCode>General</c:formatCode>
                <c:ptCount val="11"/>
                <c:pt idx="0">
                  <c:v>0.03526493364116492</c:v>
                </c:pt>
                <c:pt idx="1">
                  <c:v>0.03651373166622168</c:v>
                </c:pt>
                <c:pt idx="2">
                  <c:v>0.03831346999645056</c:v>
                </c:pt>
                <c:pt idx="3">
                  <c:v>0.039452079960472904</c:v>
                </c:pt>
                <c:pt idx="4">
                  <c:v>0.039947191648054235</c:v>
                </c:pt>
                <c:pt idx="5">
                  <c:v>0.040433488290752814</c:v>
                </c:pt>
                <c:pt idx="6">
                  <c:v>0.04093006915248126</c:v>
                </c:pt>
                <c:pt idx="7">
                  <c:v>0.0414251808400626</c:v>
                </c:pt>
                <c:pt idx="8">
                  <c:v>0.04186593308420028</c:v>
                </c:pt>
                <c:pt idx="9">
                  <c:v>0.042123038559947264</c:v>
                </c:pt>
                <c:pt idx="10">
                  <c:v>0.04183948794955202</c:v>
                </c:pt>
              </c:numCache>
            </c:numRef>
          </c:val>
          <c:smooth val="0"/>
        </c:ser>
        <c:ser>
          <c:idx val="2"/>
          <c:order val="2"/>
          <c:tx>
            <c:strRef>
              <c:strCache>
                <c:ptCount val="1"/>
                <c:pt idx="0">
                  <c:v>Conservative Scenario</c:v>
                </c:pt>
              </c:strCache>
            </c:strRef>
          </c:tx>
          <c:spPr>
            <a:ln w="28575">
              <a:solidFill>
                <a:srgbClr val="A08000"/>
              </a:solidFill>
            </a:ln>
          </c:spPr>
          <c:marker>
            <c:symbol val="circle"/>
            <c:size val="6"/>
            <c:spPr>
              <a:solidFill>
                <a:srgbClr val="A08000"/>
              </a:solidFill>
              <a:ln>
                <a:solidFill>
                  <a:srgbClr val="A08000"/>
                </a:solidFill>
              </a:ln>
            </c:spPr>
          </c:marker>
          <c:cat>
            <c:strRef>
              <c:strCache>
                <c:ptCount val="11"/>
                <c:pt idx="0">
                  <c:v>2026</c:v>
                </c:pt>
                <c:pt idx="1">
                  <c:v>2027</c:v>
                </c:pt>
                <c:pt idx="2">
                  <c:v>2028</c:v>
                </c:pt>
                <c:pt idx="3">
                  <c:v>2029</c:v>
                </c:pt>
                <c:pt idx="4">
                  <c:v>2030</c:v>
                </c:pt>
                <c:pt idx="5">
                  <c:v>2031</c:v>
                </c:pt>
                <c:pt idx="6">
                  <c:v>2032</c:v>
                </c:pt>
                <c:pt idx="7">
                  <c:v>2033</c:v>
                </c:pt>
                <c:pt idx="8">
                  <c:v>2034</c:v>
                </c:pt>
                <c:pt idx="9">
                  <c:v>2035</c:v>
                </c:pt>
                <c:pt idx="10">
                  <c:v>2036</c:v>
                </c:pt>
              </c:strCache>
            </c:strRef>
          </c:cat>
          <c:val>
            <c:numRef>
              <c:numCache>
                <c:formatCode>General</c:formatCode>
                <c:ptCount val="11"/>
                <c:pt idx="0">
                  <c:v>0.030621255520860223</c:v>
                </c:pt>
                <c:pt idx="1">
                  <c:v>0.031074998025147318</c:v>
                </c:pt>
                <c:pt idx="2">
                  <c:v>0.03260730877732997</c:v>
                </c:pt>
                <c:pt idx="3">
                  <c:v>0.03370819223035441</c:v>
                </c:pt>
                <c:pt idx="4">
                  <c:v>0.032837899230328337</c:v>
                </c:pt>
                <c:pt idx="5">
                  <c:v>0.031454356512338175</c:v>
                </c:pt>
                <c:pt idx="6">
                  <c:v>0.02948318005928767</c:v>
                </c:pt>
                <c:pt idx="7">
                  <c:v>0.028129390948136004</c:v>
                </c:pt>
                <c:pt idx="8">
                  <c:v>0.027207029136142563</c:v>
                </c:pt>
                <c:pt idx="9">
                  <c:v>0.026173091298504748</c:v>
                </c:pt>
                <c:pt idx="10">
                  <c:v>0.025310236700188303</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C9D6E4"/>
            </a:solidFill>
          </a:ln>
        </c:spPr>
        <c:txPr>
          <a:bodyPr/>
          <a:lstStyle/>
          <a:p>
            <a:pPr>
              <a:defRPr sz="1100"/>
            </a:pPr>
          </a:p>
        </c:txPr>
        <c:crossAx val="2140495176"/>
        <c:crosses val="autoZero"/>
        <c:auto val="1"/>
        <c:lblAlgn val="ctr"/>
        <c:lblOffset val="100"/>
        <c:noMultiLvlLbl val="0"/>
        <c:tickLblSkip val="1"/>
        <c:tickMarkSkip val="1"/>
      </c:catAx>
      <c:valAx>
        <c:axId val="2140495176"/>
        <c:scaling>
          <c:min val="0.0"/>
        </c:scaling>
        <c:delete val="0"/>
        <c:axPos val="l"/>
        <c:numFmt formatCode="0.00%" sourceLinked="0"/>
        <c:majorTickMark val="out"/>
        <c:minorTickMark val="none"/>
        <c:tickLblPos val="nextTo"/>
        <c:spPr>
          <a:ln>
            <a:solidFill>
              <a:srgbClr val="C9D6E4"/>
            </a:solidFill>
          </a:ln>
        </c:spPr>
        <c:txPr>
          <a:bodyPr/>
          <a:lstStyle/>
          <a:p>
            <a:pPr>
              <a:defRPr sz="1100"/>
            </a:pPr>
          </a:p>
        </c:txPr>
        <c:crossAx val="2118791784"/>
        <c:crosses val="autoZero"/>
      </c:valAx>
    </c:plotArea>
    <c:legend>
      <c:legendPos val="b"/>
      <c:layout/>
      <c:overlay val="0"/>
      <c:txPr>
        <a:bodyPr/>
        <a:lstStyle/>
        <a:p>
          <a:pPr>
            <a:defRPr sz="1100"/>
          </a:pPr>
        </a:p>
      </c:txPr>
    </c:legend>
    <c:plotVisOnly val="1"/>
    <c:dispBlanksAs val="gap"/>
    <c:showDLblsOverMax val="0"/>
  </c:chart>
  <c:txPr>
    <a:bodyPr/>
    <a:lstStyle/>
    <a:p>
      <a:pPr>
        <a:defRPr sz="1100">
          <a:latin typeface="Calibri"/>
        </a:defRPr>
      </a:pPr>
      <a:endParaRPr lang="en-US"/>
    </a:p>
  </c:txPr>
</c:chartSpace>
</file>

<file path=ppt/charts/chart6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U.S.</c:v>
                </c:pt>
              </c:strCache>
            </c:strRef>
          </c:tx>
          <c:spPr>
            <a:solidFill>
              <a:srgbClr val="2A5F8F"/>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70.0230553246245</c:v>
                </c:pt>
                <c:pt idx="1">
                  <c:v>68.88583330902533</c:v>
                </c:pt>
              </c:numCache>
            </c:numRef>
          </c:val>
        </c:ser>
        <c:ser>
          <c:idx val="1"/>
          <c:order val="1"/>
          <c:tx>
            <c:strRef>
              <c:strCache>
                <c:ptCount val="1"/>
                <c:pt idx="0">
                  <c:v>Canada</c:v>
                </c:pt>
              </c:strCache>
            </c:strRef>
          </c:tx>
          <c:spPr>
            <a:solidFill>
              <a:srgbClr val="0081E2"/>
            </a:solidFill>
            <a:ln>
              <a:noFill/>
            </a:ln>
          </c:spPr>
          <c:dLbls>
            <c:dLbl>
              <c:idx val="0"/>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29.976944675375506</c:v>
                </c:pt>
                <c:pt idx="1">
                  <c:v>31.11416669097466</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6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U.S.</c:v>
                </c:pt>
              </c:strCache>
            </c:strRef>
          </c:tx>
          <c:spPr>
            <a:solidFill>
              <a:srgbClr val="2A5F8F"/>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68.93579235806394</c:v>
                </c:pt>
                <c:pt idx="1">
                  <c:v>67.42535118438289</c:v>
                </c:pt>
              </c:numCache>
            </c:numRef>
          </c:val>
        </c:ser>
        <c:ser>
          <c:idx val="1"/>
          <c:order val="1"/>
          <c:tx>
            <c:strRef>
              <c:strCache>
                <c:ptCount val="1"/>
                <c:pt idx="0">
                  <c:v>Canada</c:v>
                </c:pt>
              </c:strCache>
            </c:strRef>
          </c:tx>
          <c:spPr>
            <a:solidFill>
              <a:srgbClr val="0081E2"/>
            </a:solidFill>
            <a:ln>
              <a:noFill/>
            </a:ln>
          </c:spPr>
          <c:dLbls>
            <c:dLbl>
              <c:idx val="0"/>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31.064207641936058</c:v>
                </c:pt>
                <c:pt idx="1">
                  <c:v>32.57464881561711</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6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U.S.</c:v>
                </c:pt>
              </c:strCache>
            </c:strRef>
          </c:tx>
          <c:spPr>
            <a:solidFill>
              <a:srgbClr val="2A5F8F"/>
            </a:solidFill>
            <a:ln>
              <a:noFill/>
            </a:ln>
          </c:spPr>
          <c:dLbls>
            <c:dLbl>
              <c:idx val="0"/>
              <c:numFmt formatCode="&quot;MMMMMMMM&quot;;&quot;MMMMMMMM&quot;;&quot;MMMM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MMM&quot;;&quot;MMMMMMMM&quot;;&quot;MMMM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MMM&quot;;&quot;MMMMMMMM&quot;;&quot;MMMM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MMM&quot;;&quot;MMMMMMMM&quot;;&quot;MMMM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MMM&quot;;&quot;MMMMMMMM&quot;;&quot;MMMM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numFmt formatCode="&quot;MMMMMMMM&quot;;&quot;MMMMMMMM&quot;;&quot;MMMM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numFmt formatCode="&quot;MMMMMMMM&quot;;&quot;MMMMMMMM&quot;;&quot;MMMM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numFmt formatCode="&quot;MMMMMMMM&quot;;&quot;MMMMMMMM&quot;;&quot;MMMM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numFmt formatCode="&quot;MMMMMMMM&quot;;&quot;MMMMMMMM&quot;;&quot;MMMM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numFmt formatCode="&quot;MMMMMMMM&quot;;&quot;MMMMMMMM&quot;;&quot;MMMM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numFmt formatCode="&quot;MMMMMMMM&quot;;&quot;MMMMMMMM&quot;;&quot;MMMMM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1"/>
              <c:numFmt formatCode="&quot;MMMMMMMM&quot;;&quot;MMMMMMMM&quot;;&quot;MMMMMMMM&quot;" sourceLinked="0"/>
              <c:spPr>
                <a:blipFill>
                  <a:blip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2"/>
              <c:numFmt formatCode="&quot;MMMMMMMM&quot;;&quot;MMMMMMMM&quot;;&quot;MMMMMMMM&quot;" sourceLinked="0"/>
              <c:spPr>
                <a:blipFill>
                  <a:blip r:embed="rId1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3"/>
              <c:numFmt formatCode="&quot;MMMMMMMM&quot;;&quot;MMMMMMMM&quot;;&quot;MMMMMMMM&quot;" sourceLinked="0"/>
              <c:spPr>
                <a:blipFill>
                  <a:blip r:embed="rId1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4"/>
              <c:numFmt formatCode="&quot;MMMMMMMM&quot;;&quot;MMMMMMMM&quot;;&quot;MMMMMMMM&quot;" sourceLinked="0"/>
              <c:spPr>
                <a:blipFill>
                  <a:blip r:embed="rId1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5"/>
              <c:numFmt formatCode="&quot;MMMMMMMM&quot;;&quot;MMMMMMMM&quot;;&quot;MMMMMMMM&quot;" sourceLinked="0"/>
              <c:spPr>
                <a:blipFill>
                  <a:blip r:embed="rId1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68116.471</c:v>
                </c:pt>
                <c:pt idx="1">
                  <c:v>69225.978</c:v>
                </c:pt>
                <c:pt idx="2">
                  <c:v>70353.557</c:v>
                </c:pt>
                <c:pt idx="3">
                  <c:v>71499.503</c:v>
                </c:pt>
                <c:pt idx="4">
                  <c:v>72664.114</c:v>
                </c:pt>
                <c:pt idx="5">
                  <c:v>73847.69499999999</c:v>
                </c:pt>
                <c:pt idx="6">
                  <c:v>75633.325</c:v>
                </c:pt>
                <c:pt idx="7">
                  <c:v>77462.132</c:v>
                </c:pt>
                <c:pt idx="8">
                  <c:v>79335.15900000001</c:v>
                </c:pt>
                <c:pt idx="9">
                  <c:v>81253.476</c:v>
                </c:pt>
                <c:pt idx="10">
                  <c:v>83218.177</c:v>
                </c:pt>
                <c:pt idx="11">
                  <c:v>85230.38399999999</c:v>
                </c:pt>
                <c:pt idx="12">
                  <c:v>87291.247</c:v>
                </c:pt>
                <c:pt idx="13">
                  <c:v>89401.94099999999</c:v>
                </c:pt>
                <c:pt idx="14">
                  <c:v>91563.671</c:v>
                </c:pt>
                <c:pt idx="15">
                  <c:v>93777.67199999999</c:v>
                </c:pt>
              </c:numCache>
            </c:numRef>
          </c:val>
        </c:ser>
        <c:ser>
          <c:idx val="1"/>
          <c:order val="1"/>
          <c:tx>
            <c:strRef>
              <c:strCache>
                <c:ptCount val="1"/>
                <c:pt idx="0">
                  <c:v>Canada</c:v>
                </c:pt>
              </c:strCache>
            </c:strRef>
          </c:tx>
          <c:spPr>
            <a:solidFill>
              <a:srgbClr val="0081E2"/>
            </a:solidFill>
            <a:ln>
              <a:noFill/>
            </a:ln>
          </c:spPr>
          <c:dLbls>
            <c:dLbl>
              <c:idx val="0"/>
              <c:numFmt formatCode="&quot;MMMMMMMM&quot;;&quot;MMMMMMMM&quot;;&quot;MMMMMMMM&quot;" sourceLinked="0"/>
              <c:spPr>
                <a:blipFill>
                  <a:blip r:embed="rId1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MMM&quot;;&quot;MMMMMMMM&quot;;&quot;MMMMMMMM&quot;" sourceLinked="0"/>
              <c:spPr>
                <a:blipFill>
                  <a:blip r:embed="rId1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MMM&quot;;&quot;MMMMMMMM&quot;;&quot;MMMMMMMM&quot;" sourceLinked="0"/>
              <c:spPr>
                <a:blipFill>
                  <a:blip r:embed="rId2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MMM&quot;;&quot;MMMMMMMM&quot;;&quot;MMMMMMMM&quot;" sourceLinked="0"/>
              <c:spPr>
                <a:blipFill>
                  <a:blip r:embed="rId2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MMM&quot;;&quot;MMMMMMMM&quot;;&quot;MMMMMMMM&quot;" sourceLinked="0"/>
              <c:spPr>
                <a:blipFill>
                  <a:blip r:embed="rId2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numFmt formatCode="&quot;MMMMMMMM&quot;;&quot;MMMMMMMM&quot;;&quot;MMMMMMMM&quot;" sourceLinked="0"/>
              <c:spPr>
                <a:blipFill>
                  <a:blip r:embed="rId2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numFmt formatCode="&quot;MMMMMMMM&quot;;&quot;MMMMMMMM&quot;;&quot;MMMMMMMM&quot;" sourceLinked="0"/>
              <c:spPr>
                <a:blipFill>
                  <a:blip r:embed="rId2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numFmt formatCode="&quot;MMMMMMMM&quot;;&quot;MMMMMMMM&quot;;&quot;MMMMMMMM&quot;" sourceLinked="0"/>
              <c:spPr>
                <a:blipFill>
                  <a:blip r:embed="rId2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numFmt formatCode="&quot;MMMMMMMM&quot;;&quot;MMMMMMMM&quot;;&quot;MMMMMMMM&quot;" sourceLinked="0"/>
              <c:spPr>
                <a:blipFill>
                  <a:blip r:embed="rId2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numFmt formatCode="&quot;MMMMMMMM&quot;;&quot;MMMMMMMM&quot;;&quot;MMMMMMMM&quot;" sourceLinked="0"/>
              <c:spPr>
                <a:blipFill>
                  <a:blip r:embed="rId2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numFmt formatCode="&quot;MMMMMMMM&quot;;&quot;MMMMMMMM&quot;;&quot;MMMMMMMM&quot;" sourceLinked="0"/>
              <c:spPr>
                <a:blipFill>
                  <a:blip r:embed="rId2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1"/>
              <c:numFmt formatCode="&quot;MMMMMMMM&quot;;&quot;MMMMMMMM&quot;;&quot;MMMMMMMM&quot;" sourceLinked="0"/>
              <c:spPr>
                <a:blipFill>
                  <a:blip r:embed="rId2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2"/>
              <c:numFmt formatCode="&quot;MMMMMMMM&quot;;&quot;MMMMMMMM&quot;;&quot;MMMMMMMM&quot;" sourceLinked="0"/>
              <c:spPr>
                <a:blipFill>
                  <a:blip r:embed="rId3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3"/>
              <c:numFmt formatCode="&quot;MMMMMMMM&quot;;&quot;MMMMMMMM&quot;;&quot;MMMMMMMM&quot;" sourceLinked="0"/>
              <c:spPr>
                <a:blipFill>
                  <a:blip r:embed="rId3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4"/>
              <c:numFmt formatCode="&quot;MMMMMMMM&quot;;&quot;MMMMMMMM&quot;;&quot;MMMMMMMM&quot;" sourceLinked="0"/>
              <c:spPr>
                <a:blipFill>
                  <a:blip r:embed="rId3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5"/>
              <c:numFmt formatCode="&quot;MMMMMMMM&quot;;&quot;MMMMMMMM&quot;;&quot;MMMMMMMM&quot;" sourceLinked="0"/>
              <c:spPr>
                <a:blipFill>
                  <a:blip r:embed="rId3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28381.835</c:v>
                </c:pt>
                <c:pt idx="1">
                  <c:v>29000.737</c:v>
                </c:pt>
                <c:pt idx="2">
                  <c:v>29633.134000000002</c:v>
                </c:pt>
                <c:pt idx="3">
                  <c:v>30279.322</c:v>
                </c:pt>
                <c:pt idx="4">
                  <c:v>30939.6</c:v>
                </c:pt>
                <c:pt idx="5">
                  <c:v>31614.277000000002</c:v>
                </c:pt>
                <c:pt idx="6">
                  <c:v>32552.751</c:v>
                </c:pt>
                <c:pt idx="7">
                  <c:v>33519.084</c:v>
                </c:pt>
                <c:pt idx="8">
                  <c:v>34514.103</c:v>
                </c:pt>
                <c:pt idx="9">
                  <c:v>35538.659</c:v>
                </c:pt>
                <c:pt idx="10">
                  <c:v>36593.629</c:v>
                </c:pt>
                <c:pt idx="11">
                  <c:v>37679.916</c:v>
                </c:pt>
                <c:pt idx="12">
                  <c:v>38798.449</c:v>
                </c:pt>
                <c:pt idx="13">
                  <c:v>39950.187</c:v>
                </c:pt>
                <c:pt idx="14">
                  <c:v>41136.114</c:v>
                </c:pt>
                <c:pt idx="15">
                  <c:v>42357.244999999995</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9D6E4"/>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6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U.S.</c:v>
                </c:pt>
              </c:strCache>
            </c:strRef>
          </c:tx>
          <c:spPr>
            <a:solidFill>
              <a:srgbClr val="2A5F8F"/>
            </a:solidFill>
            <a:ln>
              <a:noFill/>
            </a:ln>
          </c:spPr>
          <c:dLbls>
            <c:dLbl>
              <c:idx val="0"/>
              <c:numFmt formatCode="&quot;MMMMMMM&quot;;&quot;MMMMMMM&quot;;&quot;MMM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MM&quot;;&quot;MMMMMMM&quot;;&quot;MMM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MM&quot;;&quot;MMMMMMM&quot;;&quot;MMM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MM&quot;;&quot;MMMMMMM&quot;;&quot;MMM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MM&quot;;&quot;MMMMMMM&quot;;&quot;MMM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numFmt formatCode="&quot;MMMMMMM&quot;;&quot;MMMMMMM&quot;;&quot;MMM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numFmt formatCode="&quot;MMMMMMM&quot;;&quot;MMMMMMM&quot;;&quot;MMM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numFmt formatCode="&quot;MMMMMMM&quot;;&quot;MMMMMMM&quot;;&quot;MMM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numFmt formatCode="&quot;MMMMMMM&quot;;&quot;MMMMMMM&quot;;&quot;MMM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numFmt formatCode="&quot;MMMMMMM&quot;;&quot;MMMMMMM&quot;;&quot;MMM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numFmt formatCode="&quot;MMMMMMM&quot;;&quot;MMMMMMM&quot;;&quot;MMMM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1"/>
              <c:numFmt formatCode="&quot;MMMMMMM&quot;;&quot;MMMMMMM&quot;;&quot;MMMMMMM&quot;" sourceLinked="0"/>
              <c:spPr>
                <a:blipFill>
                  <a:blip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2"/>
              <c:numFmt formatCode="&quot;MMMMMMM&quot;;&quot;MMMMMMM&quot;;&quot;MMMMMMM&quot;" sourceLinked="0"/>
              <c:spPr>
                <a:blipFill>
                  <a:blip r:embed="rId1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3"/>
              <c:numFmt formatCode="&quot;MMMMMMM&quot;;&quot;MMMMMMM&quot;;&quot;MMMMMMM&quot;" sourceLinked="0"/>
              <c:spPr>
                <a:blipFill>
                  <a:blip r:embed="rId1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4"/>
              <c:numFmt formatCode="&quot;MMMMMMM&quot;;&quot;MMMMMMM&quot;;&quot;MMMMMMM&quot;" sourceLinked="0"/>
              <c:spPr>
                <a:blipFill>
                  <a:blip r:embed="rId1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5"/>
              <c:numFmt formatCode="&quot;MMMMMMM&quot;;&quot;MMMMMMM&quot;;&quot;MMMMMMM&quot;" sourceLinked="0"/>
              <c:spPr>
                <a:blipFill>
                  <a:blip r:embed="rId1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2140.953</c:v>
                </c:pt>
                <c:pt idx="1">
                  <c:v>2205.734</c:v>
                </c:pt>
                <c:pt idx="2">
                  <c:v>2272.4759999999997</c:v>
                </c:pt>
                <c:pt idx="3">
                  <c:v>2341.237</c:v>
                </c:pt>
                <c:pt idx="4">
                  <c:v>2412.0789999999997</c:v>
                </c:pt>
                <c:pt idx="5">
                  <c:v>2485.0649999999996</c:v>
                </c:pt>
                <c:pt idx="6">
                  <c:v>2580.139</c:v>
                </c:pt>
                <c:pt idx="7">
                  <c:v>2678.8509999999997</c:v>
                </c:pt>
                <c:pt idx="8">
                  <c:v>2781.34</c:v>
                </c:pt>
                <c:pt idx="9">
                  <c:v>2887.749</c:v>
                </c:pt>
                <c:pt idx="10">
                  <c:v>2998.23</c:v>
                </c:pt>
                <c:pt idx="11">
                  <c:v>3112.937</c:v>
                </c:pt>
                <c:pt idx="12">
                  <c:v>3232.033</c:v>
                </c:pt>
                <c:pt idx="13">
                  <c:v>3355.685</c:v>
                </c:pt>
                <c:pt idx="14">
                  <c:v>3484.068</c:v>
                </c:pt>
                <c:pt idx="15">
                  <c:v>3617.362</c:v>
                </c:pt>
              </c:numCache>
            </c:numRef>
          </c:val>
        </c:ser>
        <c:ser>
          <c:idx val="1"/>
          <c:order val="1"/>
          <c:tx>
            <c:strRef>
              <c:strCache>
                <c:ptCount val="1"/>
                <c:pt idx="0">
                  <c:v>Canada</c:v>
                </c:pt>
              </c:strCache>
            </c:strRef>
          </c:tx>
          <c:spPr>
            <a:solidFill>
              <a:srgbClr val="0081E2"/>
            </a:solidFill>
            <a:ln>
              <a:noFill/>
            </a:ln>
          </c:spPr>
          <c:dLbls>
            <c:dLbl>
              <c:idx val="0"/>
              <c:numFmt formatCode="&quot;MMMMM&quot;;&quot;MMMMM&quot;;&quot;MMMMM&quot;" sourceLinked="0"/>
              <c:spPr>
                <a:blipFill>
                  <a:blip r:embed="rId1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quot;;&quot;MMMMM&quot;;&quot;MMMMM&quot;" sourceLinked="0"/>
              <c:spPr>
                <a:blipFill>
                  <a:blip r:embed="rId1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MM&quot;;&quot;MMMMMMM&quot;;&quot;MMMMMMM&quot;" sourceLinked="0"/>
              <c:spPr>
                <a:blipFill>
                  <a:blip r:embed="rId2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MM&quot;;&quot;MMMMMMM&quot;;&quot;MMMMMMM&quot;" sourceLinked="0"/>
              <c:spPr>
                <a:blipFill>
                  <a:blip r:embed="rId2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MM&quot;;&quot;MMMMMMM&quot;;&quot;MMMMMMM&quot;" sourceLinked="0"/>
              <c:spPr>
                <a:blipFill>
                  <a:blip r:embed="rId2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numFmt formatCode="&quot;MMMMMMM&quot;;&quot;MMMMMMM&quot;;&quot;MMMMMMM&quot;" sourceLinked="0"/>
              <c:spPr>
                <a:blipFill>
                  <a:blip r:embed="rId2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numFmt formatCode="&quot;MMMMMMM&quot;;&quot;MMMMMMM&quot;;&quot;MMMMMMM&quot;" sourceLinked="0"/>
              <c:spPr>
                <a:blipFill>
                  <a:blip r:embed="rId2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numFmt formatCode="&quot;MMMMMMM&quot;;&quot;MMMMMMM&quot;;&quot;MMMMMMM&quot;" sourceLinked="0"/>
              <c:spPr>
                <a:blipFill>
                  <a:blip r:embed="rId2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numFmt formatCode="&quot;MMMMMMM&quot;;&quot;MMMMMMM&quot;;&quot;MMMMMMM&quot;" sourceLinked="0"/>
              <c:spPr>
                <a:blipFill>
                  <a:blip r:embed="rId2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numFmt formatCode="&quot;MMMMMMM&quot;;&quot;MMMMMMM&quot;;&quot;MMMMMMM&quot;" sourceLinked="0"/>
              <c:spPr>
                <a:blipFill>
                  <a:blip r:embed="rId2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numFmt formatCode="&quot;MMMMMMM&quot;;&quot;MMMMMMM&quot;;&quot;MMMMMMM&quot;" sourceLinked="0"/>
              <c:spPr>
                <a:blipFill>
                  <a:blip r:embed="rId2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1"/>
              <c:numFmt formatCode="&quot;MMMMMMM&quot;;&quot;MMMMMMM&quot;;&quot;MMMMMMM&quot;" sourceLinked="0"/>
              <c:spPr>
                <a:blipFill>
                  <a:blip r:embed="rId2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2"/>
              <c:numFmt formatCode="&quot;MMMMMMM&quot;;&quot;MMMMMMM&quot;;&quot;MMMMMMM&quot;" sourceLinked="0"/>
              <c:spPr>
                <a:blipFill>
                  <a:blip r:embed="rId3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3"/>
              <c:numFmt formatCode="&quot;MMMMMMM&quot;;&quot;MMMMMMM&quot;;&quot;MMMMMMM&quot;" sourceLinked="0"/>
              <c:spPr>
                <a:blipFill>
                  <a:blip r:embed="rId3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4"/>
              <c:numFmt formatCode="&quot;MMMMMMM&quot;;&quot;MMMMMMM&quot;;&quot;MMMMMMM&quot;" sourceLinked="0"/>
              <c:spPr>
                <a:blipFill>
                  <a:blip r:embed="rId3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5"/>
              <c:numFmt formatCode="&quot;MMMMMMM&quot;;&quot;MMMMMMM&quot;;&quot;MMMMMMM&quot;" sourceLinked="0"/>
              <c:spPr>
                <a:blipFill>
                  <a:blip r:embed="rId3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931.505</c:v>
                </c:pt>
                <c:pt idx="1">
                  <c:v>966.4490000000001</c:v>
                </c:pt>
                <c:pt idx="2">
                  <c:v>1002.703</c:v>
                </c:pt>
                <c:pt idx="3">
                  <c:v>1040.318</c:v>
                </c:pt>
                <c:pt idx="4">
                  <c:v>1079.343</c:v>
                </c:pt>
                <c:pt idx="5">
                  <c:v>1119.833</c:v>
                </c:pt>
                <c:pt idx="6">
                  <c:v>1170.8000000000002</c:v>
                </c:pt>
                <c:pt idx="7">
                  <c:v>1224.087</c:v>
                </c:pt>
                <c:pt idx="8">
                  <c:v>1279.799</c:v>
                </c:pt>
                <c:pt idx="9">
                  <c:v>1338.047</c:v>
                </c:pt>
                <c:pt idx="10">
                  <c:v>1398.9460000000001</c:v>
                </c:pt>
                <c:pt idx="11">
                  <c:v>1462.616</c:v>
                </c:pt>
                <c:pt idx="12">
                  <c:v>1529.184</c:v>
                </c:pt>
                <c:pt idx="13">
                  <c:v>1598.782</c:v>
                </c:pt>
                <c:pt idx="14">
                  <c:v>1671.5480000000002</c:v>
                </c:pt>
                <c:pt idx="15">
                  <c:v>1747.6260000000002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9D6E4"/>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6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Micronized Eggshell Membrane</c:v>
                </c:pt>
              </c:strCache>
            </c:strRef>
          </c:tx>
          <c:spPr>
            <a:solidFill>
              <a:srgbClr val="2A5F8F"/>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42.58926108904308</c:v>
                </c:pt>
                <c:pt idx="1">
                  <c:v>37.60903664051317</c:v>
                </c:pt>
              </c:numCache>
            </c:numRef>
          </c:val>
        </c:ser>
        <c:ser>
          <c:idx val="1"/>
          <c:order val="1"/>
          <c:tx>
            <c:strRef>
              <c:strCache>
                <c:ptCount val="1"/>
                <c:pt idx="0">
                  <c:v>Hydrolyzed Eggshell Membrane</c:v>
                </c:pt>
              </c:strCache>
            </c:strRef>
          </c:tx>
          <c:spPr>
            <a:solidFill>
              <a:srgbClr val="0081E2"/>
            </a:solidFill>
            <a:ln>
              <a:noFill/>
            </a:ln>
          </c:spPr>
          <c:dLbls>
            <c:dLbl>
              <c:idx val="0"/>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23.71594380033256</c:v>
                </c:pt>
                <c:pt idx="1">
                  <c:v>20.32423075158085</c:v>
                </c:pt>
              </c:numCache>
            </c:numRef>
          </c:val>
        </c:ser>
        <c:ser>
          <c:idx val="2"/>
          <c:order val="2"/>
          <c:tx>
            <c:strRef>
              <c:strCache>
                <c:ptCount val="1"/>
                <c:pt idx="0">
                  <c:v>Specialty Extracted Protein Fractions</c:v>
                </c:pt>
              </c:strCache>
            </c:strRef>
          </c:tx>
          <c:spPr>
            <a:solidFill>
              <a:srgbClr val="0E2A5C"/>
            </a:solidFill>
            <a:ln>
              <a:noFill/>
            </a:ln>
          </c:spPr>
          <c:dLbls>
            <c:dLbl>
              <c:idx val="0"/>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33.694795110624355</c:v>
                </c:pt>
                <c:pt idx="1">
                  <c:v>42.066732607905976</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tickLblSkip val="1"/>
        <c:noMultiLvlLbl val="0"/>
      </c:catAx>
      <c:valAx>
        <c:axId val="-2113994440"/>
        <c:scaling>
          <c:max val="100.0"/>
          <c:min val="0.0"/>
        </c:scaling>
        <c:delete val="0"/>
        <c:axPos val="b"/>
        <c:numFmt formatCode="0&quot;%&quot;" sourceLinked="0"/>
        <c:majorTickMark val="out"/>
        <c:minorTickMark val="none"/>
        <c:tickLblPos val="nextTo"/>
        <c:spPr>
          <a:ln>
            <a:solidFill>
              <a:srgbClr val="C9D6E4"/>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69.xml><?xml version="1.0" encoding="utf-8"?>
<c:chartSpace xmlns:c="http://schemas.openxmlformats.org/drawingml/2006/chart" xmlns:a="http://schemas.openxmlformats.org/drawingml/2006/main" xmlns:r="http://schemas.openxmlformats.org/officeDocument/2006/relationships">
  <c:chart>
    <c:autoTitleDeleted val="1"/>
    <c:plotArea>
      <c:layout/>
      <c:bubbleChart>
        <c:varyColors val="0"/>
        <c:ser>
          <c:idx val="0"/>
          <c:order val="0"/>
          <c:tx>
            <c:strRef>
              <c:strCache>
                <c:ptCount val="1"/>
                <c:pt idx="0">
                  <c:v>Micronized Eggshell Membrane</c:v>
                </c:pt>
              </c:strCache>
            </c:strRef>
          </c:tx>
          <c:spPr>
            <a:solidFill>
              <a:srgbClr val="2A5F8F"/>
            </a:solidFill>
          </c:spPr>
          <c:invertIfNegative val="0"/>
          <c:xVal>
            <c:numRef>
              <c:numCache>
                <c:formatCode>General</c:formatCode>
                <c:ptCount val="1"/>
                <c:pt idx="0">
                  <c:v>112.46063549498686</c:v>
                </c:pt>
              </c:numCache>
            </c:numRef>
          </c:xVal>
          <c:yVal>
            <c:numRef>
              <c:numCache>
                <c:formatCode>General</c:formatCode>
                <c:ptCount val="1"/>
                <c:pt idx="0">
                  <c:v>112.1271947222917</c:v>
                </c:pt>
              </c:numCache>
            </c:numRef>
          </c:yVal>
          <c:bubbleSize>
            <c:numRef>
              <c:numCache>
                <c:formatCode>General</c:formatCode>
                <c:ptCount val="1"/>
                <c:pt idx="0">
                  <c:v>2104.756</c:v>
                </c:pt>
              </c:numCache>
            </c:numRef>
          </c:bubbleSize>
          <c:bubble3D val="0"/>
        </c:ser>
        <c:ser>
          <c:idx val="1"/>
          <c:order val="1"/>
          <c:tx>
            <c:strRef>
              <c:strCache>
                <c:ptCount val="1"/>
                <c:pt idx="0">
                  <c:v>Hydrolyzed Eggshell Membrane</c:v>
                </c:pt>
              </c:strCache>
            </c:strRef>
          </c:tx>
          <c:spPr>
            <a:solidFill>
              <a:srgbClr val="0081E2"/>
            </a:solidFill>
          </c:spPr>
          <c:invertIfNegative val="0"/>
          <c:xVal>
            <c:numRef>
              <c:numCache>
                <c:formatCode>General</c:formatCode>
                <c:ptCount val="1"/>
                <c:pt idx="0">
                  <c:v>120.7096727007549</c:v>
                </c:pt>
              </c:numCache>
            </c:numRef>
          </c:xVal>
          <c:yVal>
            <c:numRef>
              <c:numCache>
                <c:formatCode>General</c:formatCode>
                <c:ptCount val="1"/>
                <c:pt idx="0">
                  <c:v>59.320707548452134</c:v>
                </c:pt>
              </c:numCache>
            </c:numRef>
          </c:yVal>
          <c:bubbleSize>
            <c:numRef>
              <c:numCache>
                <c:formatCode>General</c:formatCode>
                <c:ptCount val="1"/>
                <c:pt idx="0">
                  <c:v>1149.667</c:v>
                </c:pt>
              </c:numCache>
            </c:numRef>
          </c:bubbleSize>
          <c:bubble3D val="0"/>
        </c:ser>
        <c:ser>
          <c:idx val="2"/>
          <c:order val="2"/>
          <c:tx>
            <c:strRef>
              <c:strCache>
                <c:ptCount val="1"/>
                <c:pt idx="0">
                  <c:v>Specialty Extracted Protein Fractions</c:v>
                </c:pt>
              </c:strCache>
            </c:strRef>
          </c:tx>
          <c:spPr>
            <a:solidFill>
              <a:srgbClr val="0E2A5C"/>
            </a:solidFill>
          </c:spPr>
          <c:invertIfNegative val="0"/>
          <c:xVal>
            <c:numRef>
              <c:numCache>
                <c:formatCode>General</c:formatCode>
                <c:ptCount val="1"/>
                <c:pt idx="0">
                  <c:v>78.16166587190658</c:v>
                </c:pt>
              </c:numCache>
            </c:numRef>
          </c:xVal>
          <c:yVal>
            <c:numRef>
              <c:numCache>
                <c:formatCode>General</c:formatCode>
                <c:ptCount val="1"/>
                <c:pt idx="0">
                  <c:v>128.55209772925613</c:v>
                </c:pt>
              </c:numCache>
            </c:numRef>
          </c:yVal>
          <c:bubbleSize>
            <c:numRef>
              <c:numCache>
                <c:formatCode>General</c:formatCode>
                <c:ptCount val="1"/>
                <c:pt idx="0">
                  <c:v>2110.565</c:v>
                </c:pt>
              </c:numCache>
            </c:numRef>
          </c:bubbleSize>
          <c:bubble3D val="0"/>
        </c:ser>
        <c:dLbls>
          <c:showLegendKey val="0"/>
          <c:showVal val="0"/>
          <c:showCatName val="0"/>
          <c:showSerName val="0"/>
          <c:showPercent val="0"/>
          <c:showBubbleSize val="0"/>
        </c:dLbls>
        <c:bubbleScale val="55"/>
        <c:showNegBubbles val="0"/>
        <c:axId val="-2115720072"/>
        <c:axId val="-2115723560"/>
      </c:bubbleChart>
      <c:valAx>
        <c:axId val="-2115720072"/>
        <c:scaling>
          <c:orientation val="minMax"/>
          <c:max val="135.0"/>
          <c:min val="65.0"/>
        </c:scaling>
        <c:delete val="0"/>
        <c:axPos val="b"/>
        <c:title>
          <c:tx>
            <c:rich>
              <a:bodyPr/>
              <a:lstStyle/>
              <a:p>
                <a:r>
                  <a:rPr sz="1100" b="0">
                    <a:solidFill>
                      <a:srgbClr val="6C7A89"/>
                    </a:solidFill>
                    <a:latin typeface="Calibri"/>
                  </a:rPr>
                  <a:t>CAGR Index (100 = segment average growth)</a:t>
                </a:r>
              </a:p>
            </c:rich>
          </c:tx>
          <c:layout/>
          <c:overlay val="0"/>
        </c:title>
        <c:numFmt formatCode="General" sourceLinked="1"/>
        <c:majorTickMark val="out"/>
        <c:minorTickMark val="none"/>
        <c:tickLblPos val="nextTo"/>
        <c:spPr>
          <a:ln>
            <a:solidFill>
              <a:srgbClr val="C9D6E4"/>
            </a:solidFill>
          </a:ln>
        </c:spPr>
        <c:txPr>
          <a:bodyPr/>
          <a:lstStyle/>
          <a:p>
            <a:pPr>
              <a:defRPr sz="1100"/>
            </a:pPr>
          </a:p>
        </c:txPr>
        <c:crossAx val="-2115723560"/>
        <c:crosses val="autoZero"/>
        <c:crossBetween val="midCat"/>
      </c:valAx>
      <c:valAx>
        <c:axId val="-2115723560"/>
        <c:scaling>
          <c:orientation val="minMax"/>
          <c:max val="175.0"/>
          <c:min val="25.0"/>
        </c:scaling>
        <c:delete val="0"/>
        <c:axPos val="l"/>
        <c:title>
          <c:tx>
            <c:rich>
              <a:bodyPr/>
              <a:lstStyle/>
              <a:p>
                <a:r>
                  <a:rPr sz="1100" b="0">
                    <a:solidFill>
                      <a:srgbClr val="6C7A89"/>
                    </a:solidFill>
                    <a:latin typeface="Calibri"/>
                  </a:rPr>
                  <a:t>Market Share Index (100 = equal share)</a:t>
                </a:r>
              </a:p>
            </c:rich>
          </c:tx>
          <c:layout/>
          <c:overlay val="0"/>
        </c:title>
        <c:numFmt formatCode="General" sourceLinked="1"/>
        <c:majorTickMark val="out"/>
        <c:minorTickMark val="none"/>
        <c:tickLblPos val="none"/>
        <c:spPr>
          <a:ln>
            <a:solidFill>
              <a:srgbClr val="C9D6E4"/>
            </a:solidFill>
          </a:ln>
        </c:spPr>
        <c:txPr>
          <a:bodyPr/>
          <a:lstStyle/>
          <a:p>
            <a:pPr>
              <a:defRPr sz="1100"/>
            </a:pPr>
          </a:p>
        </c:txPr>
        <c:crossAx val="-2115720072"/>
        <c:crosses val="autoZero"/>
        <c:crossBetween val="midCat"/>
      </c:valAx>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lang="en-US"/>
    </a:p>
  </c:txPr>
</c:chartSpace>
</file>

<file path=ppt/charts/chart7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1347.357</c:v>
                </c:pt>
                <c:pt idx="2">
                  <c:v>1471.682</c:v>
                </c:pt>
                <c:pt idx="3">
                  <c:v>1608.191</c:v>
                </c:pt>
                <c:pt idx="4">
                  <c:v>1758.193</c:v>
                </c:pt>
                <c:pt idx="5">
                  <c:v>1923.162</c:v>
                </c:pt>
                <c:pt idx="6">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00ACAC"/>
              </a:solidFill>
            </c:spPr>
          </c:dPt>
          <c:dPt>
            <c:idx val="3"/>
            <c:spPr>
              <a:solidFill>
                <a:srgbClr val="00ACAC"/>
              </a:solidFill>
            </c:spPr>
          </c:dPt>
          <c:dPt>
            <c:idx val="4"/>
            <c:spPr>
              <a:solidFill>
                <a:srgbClr val="00ACAC"/>
              </a:solidFill>
            </c:spPr>
          </c:dPt>
          <c:dPt>
            <c:idx val="5"/>
            <c:spPr>
              <a:solidFill>
                <a:srgbClr val="00ACAC"/>
              </a:solidFill>
            </c:spPr>
          </c:dPt>
          <c:dPt>
            <c:idx val="6"/>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1347.357</c:v>
                </c:pt>
                <c:pt idx="1">
                  <c:v>124.32500000000005</c:v>
                </c:pt>
                <c:pt idx="2">
                  <c:v>136.50900000000001</c:v>
                </c:pt>
                <c:pt idx="3">
                  <c:v>150.00199999999995</c:v>
                </c:pt>
                <c:pt idx="4">
                  <c:v>164.96900000000005</c:v>
                </c:pt>
                <c:pt idx="5">
                  <c:v>181.59399999999982</c:v>
                </c:pt>
                <c:pt idx="6">
                  <c:v>2104.756</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7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712.817</c:v>
                </c:pt>
                <c:pt idx="2">
                  <c:v>783.254</c:v>
                </c:pt>
                <c:pt idx="3">
                  <c:v>861.204</c:v>
                </c:pt>
                <c:pt idx="4">
                  <c:v>947.558</c:v>
                </c:pt>
                <c:pt idx="5">
                  <c:v>1043.327</c:v>
                </c:pt>
                <c:pt idx="6">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00ACAC"/>
              </a:solidFill>
            </c:spPr>
          </c:dPt>
          <c:dPt>
            <c:idx val="3"/>
            <c:spPr>
              <a:solidFill>
                <a:srgbClr val="00ACAC"/>
              </a:solidFill>
            </c:spPr>
          </c:dPt>
          <c:dPt>
            <c:idx val="4"/>
            <c:spPr>
              <a:solidFill>
                <a:srgbClr val="00ACAC"/>
              </a:solidFill>
            </c:spPr>
          </c:dPt>
          <c:dPt>
            <c:idx val="5"/>
            <c:spPr>
              <a:solidFill>
                <a:srgbClr val="00ACAC"/>
              </a:solidFill>
            </c:spPr>
          </c:dPt>
          <c:dPt>
            <c:idx val="6"/>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712.817</c:v>
                </c:pt>
                <c:pt idx="1">
                  <c:v>70.43700000000001</c:v>
                </c:pt>
                <c:pt idx="2">
                  <c:v>77.94999999999993</c:v>
                </c:pt>
                <c:pt idx="3">
                  <c:v>86.35400000000004</c:v>
                </c:pt>
                <c:pt idx="4">
                  <c:v>95.769</c:v>
                </c:pt>
                <c:pt idx="5">
                  <c:v>106.33999999999992</c:v>
                </c:pt>
                <c:pt idx="6">
                  <c:v>1149.667</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7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1544.724</c:v>
                </c:pt>
                <c:pt idx="2">
                  <c:v>1648.002</c:v>
                </c:pt>
                <c:pt idx="3">
                  <c:v>1756.401</c:v>
                </c:pt>
                <c:pt idx="4">
                  <c:v>1869.802</c:v>
                </c:pt>
                <c:pt idx="5">
                  <c:v>1987.978</c:v>
                </c:pt>
                <c:pt idx="6">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00ACAC"/>
              </a:solidFill>
            </c:spPr>
          </c:dPt>
          <c:dPt>
            <c:idx val="3"/>
            <c:spPr>
              <a:solidFill>
                <a:srgbClr val="00ACAC"/>
              </a:solidFill>
            </c:spPr>
          </c:dPt>
          <c:dPt>
            <c:idx val="4"/>
            <c:spPr>
              <a:solidFill>
                <a:srgbClr val="00ACAC"/>
              </a:solidFill>
            </c:spPr>
          </c:dPt>
          <c:dPt>
            <c:idx val="5"/>
            <c:spPr>
              <a:solidFill>
                <a:srgbClr val="00ACAC"/>
              </a:solidFill>
            </c:spPr>
          </c:dPt>
          <c:dPt>
            <c:idx val="6"/>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1544.724</c:v>
                </c:pt>
                <c:pt idx="1">
                  <c:v>103.27800000000002</c:v>
                </c:pt>
                <c:pt idx="2">
                  <c:v>108.39900000000011</c:v>
                </c:pt>
                <c:pt idx="3">
                  <c:v>113.40099999999984</c:v>
                </c:pt>
                <c:pt idx="4">
                  <c:v>118.17600000000016</c:v>
                </c:pt>
                <c:pt idx="5">
                  <c:v>122.58699999999999</c:v>
                </c:pt>
                <c:pt idx="6">
                  <c:v>2110.565</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7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Specialty Extracted Protein Fractions</c:v>
                </c:pt>
              </c:strCache>
            </c:strRef>
          </c:tx>
          <c:spPr>
            <a:solidFill>
              <a:srgbClr val="2A5F8F"/>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44.281484075616326</c:v>
                </c:pt>
                <c:pt idx="1">
                  <c:v>42.85069924308538</c:v>
                </c:pt>
                <c:pt idx="2">
                  <c:v>39.33960336910353</c:v>
                </c:pt>
              </c:numCache>
            </c:numRef>
          </c:val>
        </c:ser>
        <c:ser>
          <c:idx val="1"/>
          <c:order val="1"/>
          <c:tx>
            <c:strRef>
              <c:strCache>
                <c:ptCount val="1"/>
                <c:pt idx="0">
                  <c:v>Micronized Eggshell Membrane</c:v>
                </c:pt>
              </c:strCache>
            </c:strRef>
          </c:tx>
          <c:spPr>
            <a:solidFill>
              <a:srgbClr val="0081E2"/>
            </a:solidFill>
            <a:ln>
              <a:noFill/>
            </a:ln>
          </c:spPr>
          <c:dLbls>
            <c:dLbl>
              <c:idx val="0"/>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36.61775034841811</c:v>
                </c:pt>
                <c:pt idx="1">
                  <c:v>37.37573157409724</c:v>
                </c:pt>
                <c:pt idx="2">
                  <c:v>39.231327264851295</c:v>
                </c:pt>
              </c:numCache>
            </c:numRef>
          </c:val>
        </c:ser>
        <c:ser>
          <c:idx val="2"/>
          <c:order val="2"/>
          <c:tx>
            <c:strRef>
              <c:strCache>
                <c:ptCount val="1"/>
                <c:pt idx="0">
                  <c:v>Hydrolyzed Eggshell Membrane</c:v>
                </c:pt>
              </c:strCache>
            </c:strRef>
          </c:tx>
          <c:spPr>
            <a:solidFill>
              <a:srgbClr val="0E2A5C"/>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19.100765575965564</c:v>
                </c:pt>
                <c:pt idx="1">
                  <c:v>19.773569182817376</c:v>
                </c:pt>
                <c:pt idx="2">
                  <c:v>21.42906936604518</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7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Mechanical Separation &amp; Micronization</c:v>
                </c:pt>
              </c:strCache>
            </c:strRef>
          </c:tx>
          <c:spPr>
            <a:solidFill>
              <a:srgbClr val="2A5F8F"/>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43.7868857524436</c:v>
                </c:pt>
                <c:pt idx="1">
                  <c:v>50.73946151919547</c:v>
                </c:pt>
              </c:numCache>
            </c:numRef>
          </c:val>
        </c:ser>
        <c:ser>
          <c:idx val="1"/>
          <c:order val="1"/>
          <c:tx>
            <c:strRef>
              <c:strCache>
                <c:ptCount val="1"/>
                <c:pt idx="0">
                  <c:v>Enzymatic Hydrolysis</c:v>
                </c:pt>
              </c:strCache>
            </c:strRef>
          </c:tx>
          <c:spPr>
            <a:solidFill>
              <a:srgbClr val="0081E2"/>
            </a:solidFill>
            <a:ln>
              <a:noFill/>
            </a:ln>
          </c:spPr>
          <c:dLbls>
            <c:dLbl>
              <c:idx val="0"/>
              <c:numFmt formatCode="&quot;MMM&quot;;&quot;MMM&quot;;&quot;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5.730516712385832</c:v>
                </c:pt>
                <c:pt idx="1">
                  <c:v>6.914182213447257</c:v>
                </c:pt>
              </c:numCache>
            </c:numRef>
          </c:val>
        </c:ser>
        <c:ser>
          <c:idx val="2"/>
          <c:order val="2"/>
          <c:tx>
            <c:strRef>
              <c:strCache>
                <c:ptCount val="1"/>
                <c:pt idx="0">
                  <c:v>Chemical Hydrolysis / Solubilization</c:v>
                </c:pt>
              </c:strCache>
            </c:strRef>
          </c:tx>
          <c:spPr>
            <a:solidFill>
              <a:srgbClr val="0E2A5C"/>
            </a:solidFill>
            <a:ln>
              <a:noFill/>
            </a:ln>
          </c:spPr>
          <c:dLbls>
            <c:dLbl>
              <c:idx val="0"/>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19.340522514542588</c:v>
                </c:pt>
                <c:pt idx="1">
                  <c:v>15.36898988821135</c:v>
                </c:pt>
              </c:numCache>
            </c:numRef>
          </c:val>
        </c:ser>
        <c:ser>
          <c:idx val="3"/>
          <c:order val="3"/>
          <c:tx>
            <c:strRef>
              <c:strCache>
                <c:ptCount val="1"/>
                <c:pt idx="0">
                  <c:v>Other / Hybrid Processing Methods</c:v>
                </c:pt>
              </c:strCache>
            </c:strRef>
          </c:tx>
          <c:spPr>
            <a:solidFill>
              <a:srgbClr val="00ACAC"/>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31.142075020627985</c:v>
                </c:pt>
                <c:pt idx="1">
                  <c:v>26.977366379145906</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tickLblSkip val="1"/>
        <c:noMultiLvlLbl val="0"/>
      </c:catAx>
      <c:valAx>
        <c:axId val="-2113994440"/>
        <c:scaling>
          <c:max val="100.0"/>
          <c:min val="0.0"/>
        </c:scaling>
        <c:delete val="0"/>
        <c:axPos val="b"/>
        <c:numFmt formatCode="0&quot;%&quot;" sourceLinked="0"/>
        <c:majorTickMark val="out"/>
        <c:minorTickMark val="none"/>
        <c:tickLblPos val="nextTo"/>
        <c:spPr>
          <a:ln>
            <a:solidFill>
              <a:srgbClr val="C9D6E4"/>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75.xml><?xml version="1.0" encoding="utf-8"?>
<c:chartSpace xmlns:c="http://schemas.openxmlformats.org/drawingml/2006/chart" xmlns:a="http://schemas.openxmlformats.org/drawingml/2006/main" xmlns:r="http://schemas.openxmlformats.org/officeDocument/2006/relationships">
  <c:chart>
    <c:autoTitleDeleted val="1"/>
    <c:plotArea>
      <c:layout/>
      <c:bubbleChart>
        <c:varyColors val="0"/>
        <c:ser>
          <c:idx val="0"/>
          <c:order val="0"/>
          <c:tx>
            <c:strRef>
              <c:strCache>
                <c:ptCount val="1"/>
                <c:pt idx="0">
                  <c:v>Mechanical Separation &amp; Micronization</c:v>
                </c:pt>
              </c:strCache>
            </c:strRef>
          </c:tx>
          <c:spPr>
            <a:solidFill>
              <a:srgbClr val="2A5F8F"/>
            </a:solidFill>
          </c:spPr>
          <c:invertIfNegative val="0"/>
          <c:xVal>
            <c:numRef>
              <c:numCache>
                <c:formatCode>General</c:formatCode>
                <c:ptCount val="1"/>
                <c:pt idx="0">
                  <c:v>111.62842603479761</c:v>
                </c:pt>
              </c:numCache>
            </c:numRef>
          </c:xVal>
          <c:yVal>
            <c:numRef>
              <c:numCache>
                <c:formatCode>General</c:formatCode>
                <c:ptCount val="1"/>
                <c:pt idx="0">
                  <c:v>185.32496619876622</c:v>
                </c:pt>
              </c:numCache>
            </c:numRef>
          </c:yVal>
          <c:bubbleSize>
            <c:numRef>
              <c:numCache>
                <c:formatCode>General</c:formatCode>
                <c:ptCount val="1"/>
                <c:pt idx="0">
                  <c:v>2600.661</c:v>
                </c:pt>
              </c:numCache>
            </c:numRef>
          </c:bubbleSize>
          <c:bubble3D val="0"/>
        </c:ser>
        <c:ser>
          <c:idx val="1"/>
          <c:order val="1"/>
          <c:tx>
            <c:strRef>
              <c:strCache>
                <c:ptCount val="1"/>
                <c:pt idx="0">
                  <c:v>Enzymatic Hydrolysis</c:v>
                </c:pt>
              </c:strCache>
            </c:strRef>
          </c:tx>
          <c:spPr>
            <a:solidFill>
              <a:srgbClr val="0081E2"/>
            </a:solidFill>
          </c:spPr>
          <c:invertIfNegative val="0"/>
          <c:xVal>
            <c:numRef>
              <c:numCache>
                <c:formatCode>General</c:formatCode>
                <c:ptCount val="1"/>
                <c:pt idx="0">
                  <c:v>6.988913541899214</c:v>
                </c:pt>
              </c:numCache>
            </c:numRef>
          </c:xVal>
          <c:yVal>
            <c:numRef>
              <c:numCache>
                <c:formatCode>General</c:formatCode>
                <c:ptCount val="1"/>
                <c:pt idx="0">
                  <c:v>37.780042597599156</c:v>
                </c:pt>
              </c:numCache>
            </c:numRef>
          </c:yVal>
          <c:bubbleSize>
            <c:numRef>
              <c:numCache>
                <c:formatCode>General</c:formatCode>
                <c:ptCount val="1"/>
                <c:pt idx="0">
                  <c:v>350.259</c:v>
                </c:pt>
              </c:numCache>
            </c:numRef>
          </c:bubbleSize>
          <c:bubble3D val="0"/>
        </c:ser>
        <c:ser>
          <c:idx val="2"/>
          <c:order val="2"/>
          <c:tx>
            <c:strRef>
              <c:strCache>
                <c:ptCount val="1"/>
                <c:pt idx="0">
                  <c:v>Chemical Hydrolysis / Solubilization</c:v>
                </c:pt>
              </c:strCache>
            </c:strRef>
          </c:tx>
          <c:spPr>
            <a:solidFill>
              <a:srgbClr val="0E2A5C"/>
            </a:solidFill>
          </c:spPr>
          <c:invertIfNegative val="0"/>
          <c:xVal>
            <c:numRef>
              <c:numCache>
                <c:formatCode>General</c:formatCode>
                <c:ptCount val="1"/>
                <c:pt idx="0">
                  <c:v>91.24076093082175</c:v>
                </c:pt>
              </c:numCache>
            </c:numRef>
          </c:xVal>
          <c:yVal>
            <c:numRef>
              <c:numCache>
                <c:formatCode>General</c:formatCode>
                <c:ptCount val="1"/>
                <c:pt idx="0">
                  <c:v>68.96982938213509</c:v>
                </c:pt>
              </c:numCache>
            </c:numRef>
          </c:yVal>
          <c:bubbleSize>
            <c:numRef>
              <c:numCache>
                <c:formatCode>General</c:formatCode>
                <c:ptCount val="1"/>
                <c:pt idx="0">
                  <c:v>893.952</c:v>
                </c:pt>
              </c:numCache>
            </c:numRef>
          </c:bubbleSize>
          <c:bubble3D val="0"/>
        </c:ser>
        <c:ser>
          <c:idx val="3"/>
          <c:order val="3"/>
          <c:tx>
            <c:strRef>
              <c:strCache>
                <c:ptCount val="1"/>
                <c:pt idx="0">
                  <c:v>Other / Hybrid Processing Methods</c:v>
                </c:pt>
              </c:strCache>
            </c:strRef>
          </c:tx>
          <c:spPr>
            <a:solidFill>
              <a:srgbClr val="00ACAC"/>
            </a:solidFill>
          </c:spPr>
          <c:invertIfNegative val="0"/>
          <c:xVal>
            <c:numRef>
              <c:numCache>
                <c:formatCode>General</c:formatCode>
                <c:ptCount val="1"/>
                <c:pt idx="0">
                  <c:v>112.58051671512553</c:v>
                </c:pt>
              </c:numCache>
            </c:numRef>
          </c:xVal>
          <c:yVal>
            <c:numRef>
              <c:numCache>
                <c:formatCode>General</c:formatCode>
                <c:ptCount val="1"/>
                <c:pt idx="0">
                  <c:v>107.92516182149951</c:v>
                </c:pt>
              </c:numCache>
            </c:numRef>
          </c:yVal>
          <c:bubbleSize>
            <c:numRef>
              <c:numCache>
                <c:formatCode>General</c:formatCode>
                <c:ptCount val="1"/>
                <c:pt idx="0">
                  <c:v>1520.116</c:v>
                </c:pt>
              </c:numCache>
            </c:numRef>
          </c:bubbleSize>
          <c:bubble3D val="0"/>
        </c:ser>
        <c:dLbls>
          <c:showLegendKey val="0"/>
          <c:showVal val="0"/>
          <c:showCatName val="0"/>
          <c:showSerName val="0"/>
          <c:showPercent val="0"/>
          <c:showBubbleSize val="0"/>
        </c:dLbls>
        <c:bubbleScale val="55"/>
        <c:showNegBubbles val="0"/>
        <c:axId val="-2115720072"/>
        <c:axId val="-2115723560"/>
      </c:bubbleChart>
      <c:valAx>
        <c:axId val="-2115720072"/>
        <c:scaling>
          <c:orientation val="minMax"/>
          <c:max val="140.0"/>
          <c:min val="-20.0"/>
        </c:scaling>
        <c:delete val="0"/>
        <c:axPos val="b"/>
        <c:title>
          <c:tx>
            <c:rich>
              <a:bodyPr/>
              <a:lstStyle/>
              <a:p>
                <a:r>
                  <a:rPr sz="1100" b="0">
                    <a:solidFill>
                      <a:srgbClr val="6C7A89"/>
                    </a:solidFill>
                    <a:latin typeface="Calibri"/>
                  </a:rPr>
                  <a:t>CAGR Index (100 = segment average growth)</a:t>
                </a:r>
              </a:p>
            </c:rich>
          </c:tx>
          <c:layout/>
          <c:overlay val="0"/>
        </c:title>
        <c:numFmt formatCode="General" sourceLinked="1"/>
        <c:majorTickMark val="out"/>
        <c:minorTickMark val="none"/>
        <c:tickLblPos val="nextTo"/>
        <c:spPr>
          <a:ln>
            <a:solidFill>
              <a:srgbClr val="C9D6E4"/>
            </a:solidFill>
          </a:ln>
        </c:spPr>
        <c:txPr>
          <a:bodyPr/>
          <a:lstStyle/>
          <a:p>
            <a:pPr>
              <a:defRPr sz="1100"/>
            </a:pPr>
          </a:p>
        </c:txPr>
        <c:crossAx val="-2115723560"/>
        <c:crosses val="autoZero"/>
        <c:crossBetween val="midCat"/>
      </c:valAx>
      <c:valAx>
        <c:axId val="-2115723560"/>
        <c:scaling>
          <c:orientation val="minMax"/>
          <c:max val="225.0"/>
          <c:min val="0.0"/>
        </c:scaling>
        <c:delete val="0"/>
        <c:axPos val="l"/>
        <c:title>
          <c:tx>
            <c:rich>
              <a:bodyPr/>
              <a:lstStyle/>
              <a:p>
                <a:r>
                  <a:rPr sz="1100" b="0">
                    <a:solidFill>
                      <a:srgbClr val="6C7A89"/>
                    </a:solidFill>
                    <a:latin typeface="Calibri"/>
                  </a:rPr>
                  <a:t>Market Share Index (100 = equal share)</a:t>
                </a:r>
              </a:p>
            </c:rich>
          </c:tx>
          <c:layout/>
          <c:overlay val="0"/>
        </c:title>
        <c:numFmt formatCode="General" sourceLinked="1"/>
        <c:majorTickMark val="out"/>
        <c:minorTickMark val="none"/>
        <c:tickLblPos val="none"/>
        <c:spPr>
          <a:ln>
            <a:solidFill>
              <a:srgbClr val="C9D6E4"/>
            </a:solidFill>
          </a:ln>
        </c:spPr>
        <c:txPr>
          <a:bodyPr/>
          <a:lstStyle/>
          <a:p>
            <a:pPr>
              <a:defRPr sz="1100"/>
            </a:pPr>
          </a:p>
        </c:txPr>
        <c:crossAx val="-2115720072"/>
        <c:crosses val="autoZero"/>
        <c:crossBetween val="midCat"/>
      </c:valAx>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lang="en-US"/>
    </a:p>
  </c:txPr>
</c:chartSpace>
</file>

<file path=ppt/charts/chart7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1670.194</c:v>
                </c:pt>
                <c:pt idx="2">
                  <c:v>1826.963</c:v>
                </c:pt>
                <c:pt idx="3">
                  <c:v>1997.183</c:v>
                </c:pt>
                <c:pt idx="4">
                  <c:v>2182.013</c:v>
                </c:pt>
                <c:pt idx="5">
                  <c:v>2382.716</c:v>
                </c:pt>
                <c:pt idx="6">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00ACAC"/>
              </a:solidFill>
            </c:spPr>
          </c:dPt>
          <c:dPt>
            <c:idx val="3"/>
            <c:spPr>
              <a:solidFill>
                <a:srgbClr val="00ACAC"/>
              </a:solidFill>
            </c:spPr>
          </c:dPt>
          <c:dPt>
            <c:idx val="4"/>
            <c:spPr>
              <a:solidFill>
                <a:srgbClr val="00ACAC"/>
              </a:solidFill>
            </c:spPr>
          </c:dPt>
          <c:dPt>
            <c:idx val="5"/>
            <c:spPr>
              <a:solidFill>
                <a:srgbClr val="00ACAC"/>
              </a:solidFill>
            </c:spPr>
          </c:dPt>
          <c:dPt>
            <c:idx val="6"/>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1670.194</c:v>
                </c:pt>
                <c:pt idx="1">
                  <c:v>156.769</c:v>
                </c:pt>
                <c:pt idx="2">
                  <c:v>170.22000000000003</c:v>
                </c:pt>
                <c:pt idx="3">
                  <c:v>184.82999999999993</c:v>
                </c:pt>
                <c:pt idx="4">
                  <c:v>200.70299999999997</c:v>
                </c:pt>
                <c:pt idx="5">
                  <c:v>217.94500000000016</c:v>
                </c:pt>
                <c:pt idx="6">
                  <c:v>2600.661</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7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340.483</c:v>
                </c:pt>
                <c:pt idx="2">
                  <c:v>343.368</c:v>
                </c:pt>
                <c:pt idx="3">
                  <c:v>345.877</c:v>
                </c:pt>
                <c:pt idx="4">
                  <c:v>347.926</c:v>
                </c:pt>
                <c:pt idx="5">
                  <c:v>349.421</c:v>
                </c:pt>
                <c:pt idx="6">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00ACAC"/>
              </a:solidFill>
            </c:spPr>
          </c:dPt>
          <c:dPt>
            <c:idx val="3"/>
            <c:spPr>
              <a:solidFill>
                <a:srgbClr val="00ACAC"/>
              </a:solidFill>
            </c:spPr>
          </c:dPt>
          <c:dPt>
            <c:idx val="4"/>
            <c:spPr>
              <a:solidFill>
                <a:srgbClr val="00ACAC"/>
              </a:solidFill>
            </c:spPr>
          </c:dPt>
          <c:dPt>
            <c:idx val="5"/>
            <c:spPr>
              <a:solidFill>
                <a:srgbClr val="00ACAC"/>
              </a:solidFill>
            </c:spPr>
          </c:dPt>
          <c:dPt>
            <c:idx val="6"/>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340.483</c:v>
                </c:pt>
                <c:pt idx="1">
                  <c:v>2.884999999999991</c:v>
                </c:pt>
                <c:pt idx="2">
                  <c:v>2.5090000000000146</c:v>
                </c:pt>
                <c:pt idx="3">
                  <c:v>2.048999999999978</c:v>
                </c:pt>
                <c:pt idx="4">
                  <c:v>1.4950000000000045</c:v>
                </c:pt>
                <c:pt idx="5">
                  <c:v>0.8380000000000223</c:v>
                </c:pt>
                <c:pt idx="6">
                  <c:v>350.259</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7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621.573</c:v>
                </c:pt>
                <c:pt idx="2">
                  <c:v>667.907</c:v>
                </c:pt>
                <c:pt idx="3">
                  <c:v>717.993</c:v>
                </c:pt>
                <c:pt idx="4">
                  <c:v>772.137</c:v>
                </c:pt>
                <c:pt idx="5">
                  <c:v>830.67</c:v>
                </c:pt>
                <c:pt idx="6">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00ACAC"/>
              </a:solidFill>
            </c:spPr>
          </c:dPt>
          <c:dPt>
            <c:idx val="3"/>
            <c:spPr>
              <a:solidFill>
                <a:srgbClr val="00ACAC"/>
              </a:solidFill>
            </c:spPr>
          </c:dPt>
          <c:dPt>
            <c:idx val="4"/>
            <c:spPr>
              <a:solidFill>
                <a:srgbClr val="00ACAC"/>
              </a:solidFill>
            </c:spPr>
          </c:dPt>
          <c:dPt>
            <c:idx val="5"/>
            <c:spPr>
              <a:solidFill>
                <a:srgbClr val="00ACAC"/>
              </a:solidFill>
            </c:spPr>
          </c:dPt>
          <c:dPt>
            <c:idx val="6"/>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621.573</c:v>
                </c:pt>
                <c:pt idx="1">
                  <c:v>46.33400000000006</c:v>
                </c:pt>
                <c:pt idx="2">
                  <c:v>50.08600000000001</c:v>
                </c:pt>
                <c:pt idx="3">
                  <c:v>54.14399999999989</c:v>
                </c:pt>
                <c:pt idx="4">
                  <c:v>58.533000000000015</c:v>
                </c:pt>
                <c:pt idx="5">
                  <c:v>63.28200000000004</c:v>
                </c:pt>
                <c:pt idx="6">
                  <c:v>893.952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7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972.648</c:v>
                </c:pt>
                <c:pt idx="2">
                  <c:v>1064.7</c:v>
                </c:pt>
                <c:pt idx="3">
                  <c:v>1164.743</c:v>
                </c:pt>
                <c:pt idx="4">
                  <c:v>1273.477</c:v>
                </c:pt>
                <c:pt idx="5">
                  <c:v>1391.66</c:v>
                </c:pt>
                <c:pt idx="6">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00ACAC"/>
              </a:solidFill>
            </c:spPr>
          </c:dPt>
          <c:dPt>
            <c:idx val="3"/>
            <c:spPr>
              <a:solidFill>
                <a:srgbClr val="00ACAC"/>
              </a:solidFill>
            </c:spPr>
          </c:dPt>
          <c:dPt>
            <c:idx val="4"/>
            <c:spPr>
              <a:solidFill>
                <a:srgbClr val="00ACAC"/>
              </a:solidFill>
            </c:spPr>
          </c:dPt>
          <c:dPt>
            <c:idx val="5"/>
            <c:spPr>
              <a:solidFill>
                <a:srgbClr val="00ACAC"/>
              </a:solidFill>
            </c:spPr>
          </c:dPt>
          <c:dPt>
            <c:idx val="6"/>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972.648</c:v>
                </c:pt>
                <c:pt idx="1">
                  <c:v>92.05200000000002</c:v>
                </c:pt>
                <c:pt idx="2">
                  <c:v>100.04299999999989</c:v>
                </c:pt>
                <c:pt idx="3">
                  <c:v>108.73400000000015</c:v>
                </c:pt>
                <c:pt idx="4">
                  <c:v>118.18299999999999</c:v>
                </c:pt>
                <c:pt idx="5">
                  <c:v>128.4559999999999</c:v>
                </c:pt>
                <c:pt idx="6">
                  <c:v>1520.116</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8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Mechanical Separation &amp; Micronization</c:v>
                </c:pt>
              </c:strCache>
            </c:strRef>
          </c:tx>
          <c:spPr>
            <a:solidFill>
              <a:srgbClr val="2A5F8F"/>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45.001103351127995</c:v>
                </c:pt>
                <c:pt idx="1">
                  <c:v>46.331241549691555</c:v>
                </c:pt>
                <c:pt idx="2">
                  <c:v>48.474684379536356</c:v>
                </c:pt>
              </c:numCache>
            </c:numRef>
          </c:val>
        </c:ser>
        <c:ser>
          <c:idx val="1"/>
          <c:order val="1"/>
          <c:tx>
            <c:strRef>
              <c:strCache>
                <c:ptCount val="1"/>
                <c:pt idx="0">
                  <c:v>Other / Hybrid Processing Methods</c:v>
                </c:pt>
              </c:strCache>
            </c:strRef>
          </c:tx>
          <c:spPr>
            <a:solidFill>
              <a:srgbClr val="0081E2"/>
            </a:solidFill>
            <a:ln>
              <a:noFill/>
            </a:ln>
          </c:spPr>
          <c:dLbls>
            <c:dLbl>
              <c:idx val="0"/>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26.161626944941148</c:v>
                </c:pt>
                <c:pt idx="1">
                  <c:v>26.98129045537488</c:v>
                </c:pt>
                <c:pt idx="2">
                  <c:v>28.334005593302354</c:v>
                </c:pt>
              </c:numCache>
            </c:numRef>
          </c:val>
        </c:ser>
        <c:ser>
          <c:idx val="2"/>
          <c:order val="2"/>
          <c:tx>
            <c:strRef>
              <c:strCache>
                <c:ptCount val="1"/>
                <c:pt idx="0">
                  <c:v>Chemical Hydrolysis / Solubilization</c:v>
                </c:pt>
              </c:strCache>
            </c:strRef>
          </c:tx>
          <c:spPr>
            <a:solidFill>
              <a:srgbClr val="0E2A5C"/>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17.60232361190942</c:v>
                </c:pt>
                <c:pt idx="1">
                  <c:v>17.242457345533772</c:v>
                </c:pt>
                <c:pt idx="2">
                  <c:v>16.66270269383641</c:v>
                </c:pt>
              </c:numCache>
            </c:numRef>
          </c:val>
        </c:ser>
        <c:ser>
          <c:idx val="3"/>
          <c:order val="3"/>
          <c:tx>
            <c:strRef>
              <c:strCache>
                <c:ptCount val="1"/>
                <c:pt idx="0">
                  <c:v>Enzymatic Hydrolysis</c:v>
                </c:pt>
              </c:strCache>
            </c:strRef>
          </c:tx>
          <c:spPr>
            <a:solidFill>
              <a:srgbClr val="00ACAC"/>
            </a:solidFill>
            <a:ln>
              <a:noFill/>
            </a:ln>
          </c:spPr>
          <c:dLbls>
            <c:dLbl>
              <c:idx val="0"/>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11.234946092021438</c:v>
                </c:pt>
                <c:pt idx="1">
                  <c:v>9.445010649399789</c:v>
                </c:pt>
                <c:pt idx="2">
                  <c:v>6.528607333324883</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8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Chicken Eggshell Membrane</c:v>
                </c:pt>
              </c:strCache>
            </c:strRef>
          </c:tx>
          <c:spPr>
            <a:solidFill>
              <a:srgbClr val="2A5F8F"/>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74.12198033217634</c:v>
                </c:pt>
                <c:pt idx="1">
                  <c:v>82.7625214175413</c:v>
                </c:pt>
              </c:numCache>
            </c:numRef>
          </c:val>
        </c:ser>
        <c:ser>
          <c:idx val="1"/>
          <c:order val="1"/>
          <c:tx>
            <c:strRef>
              <c:strCache>
                <c:ptCount val="1"/>
                <c:pt idx="0">
                  <c:v>Other Poultry Eggshell Membrane</c:v>
                </c:pt>
              </c:strCache>
            </c:strRef>
          </c:tx>
          <c:spPr>
            <a:solidFill>
              <a:srgbClr val="0081E2"/>
            </a:solidFill>
            <a:ln>
              <a:noFill/>
            </a:ln>
          </c:spPr>
          <c:dLbls>
            <c:dLbl>
              <c:idx val="0"/>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25.878019667823665</c:v>
                </c:pt>
                <c:pt idx="1">
                  <c:v>17.23747858245871</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tickLblSkip val="1"/>
        <c:noMultiLvlLbl val="0"/>
      </c:catAx>
      <c:valAx>
        <c:axId val="-2113994440"/>
        <c:scaling>
          <c:max val="100.0"/>
          <c:min val="0.0"/>
        </c:scaling>
        <c:delete val="0"/>
        <c:axPos val="b"/>
        <c:numFmt formatCode="0&quot;%&quot;" sourceLinked="0"/>
        <c:majorTickMark val="out"/>
        <c:minorTickMark val="none"/>
        <c:tickLblPos val="nextTo"/>
        <c:spPr>
          <a:ln>
            <a:solidFill>
              <a:srgbClr val="C9D6E4"/>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82.xml><?xml version="1.0" encoding="utf-8"?>
<c:chartSpace xmlns:c="http://schemas.openxmlformats.org/drawingml/2006/chart" xmlns:a="http://schemas.openxmlformats.org/drawingml/2006/main" xmlns:r="http://schemas.openxmlformats.org/officeDocument/2006/relationships">
  <c:chart>
    <c:autoTitleDeleted val="1"/>
    <c:plotArea>
      <c:layout/>
      <c:bubbleChart>
        <c:varyColors val="0"/>
        <c:ser>
          <c:idx val="0"/>
          <c:order val="0"/>
          <c:tx>
            <c:strRef>
              <c:strCache>
                <c:ptCount val="1"/>
                <c:pt idx="0">
                  <c:v>Chicken Eggshell Membrane</c:v>
                </c:pt>
              </c:strCache>
            </c:strRef>
          </c:tx>
          <c:spPr>
            <a:solidFill>
              <a:srgbClr val="2A5F8F"/>
            </a:solidFill>
          </c:spPr>
          <c:invertIfNegative val="0"/>
          <c:xVal>
            <c:numRef>
              <c:numCache>
                <c:formatCode>General</c:formatCode>
                <c:ptCount val="1"/>
                <c:pt idx="0">
                  <c:v>99.45427906495577</c:v>
                </c:pt>
              </c:numCache>
            </c:numRef>
          </c:xVal>
          <c:yVal>
            <c:numRef>
              <c:numCache>
                <c:formatCode>General</c:formatCode>
                <c:ptCount val="1"/>
                <c:pt idx="0">
                  <c:v>160.2363229139909</c:v>
                </c:pt>
              </c:numCache>
            </c:numRef>
          </c:yVal>
          <c:bubbleSize>
            <c:numRef>
              <c:numCache>
                <c:formatCode>General</c:formatCode>
                <c:ptCount val="1"/>
                <c:pt idx="0">
                  <c:v>4289.195</c:v>
                </c:pt>
              </c:numCache>
            </c:numRef>
          </c:bubbleSize>
          <c:bubble3D val="0"/>
        </c:ser>
        <c:ser>
          <c:idx val="1"/>
          <c:order val="1"/>
          <c:tx>
            <c:strRef>
              <c:strCache>
                <c:ptCount val="1"/>
                <c:pt idx="0">
                  <c:v>Other Poultry Eggshell Membrane</c:v>
                </c:pt>
              </c:strCache>
            </c:strRef>
          </c:tx>
          <c:spPr>
            <a:solidFill>
              <a:srgbClr val="0081E2"/>
            </a:solidFill>
          </c:spPr>
          <c:invertIfNegative val="0"/>
          <c:xVal>
            <c:numRef>
              <c:numCache>
                <c:formatCode>General</c:formatCode>
                <c:ptCount val="1"/>
                <c:pt idx="0">
                  <c:v>102.1885754091517</c:v>
                </c:pt>
              </c:numCache>
            </c:numRef>
          </c:xVal>
          <c:yVal>
            <c:numRef>
              <c:numCache>
                <c:formatCode>General</c:formatCode>
                <c:ptCount val="1"/>
                <c:pt idx="0">
                  <c:v>39.76367708600909</c:v>
                </c:pt>
              </c:numCache>
            </c:numRef>
          </c:yVal>
          <c:bubbleSize>
            <c:numRef>
              <c:numCache>
                <c:formatCode>General</c:formatCode>
                <c:ptCount val="1"/>
                <c:pt idx="0">
                  <c:v>1075.793</c:v>
                </c:pt>
              </c:numCache>
            </c:numRef>
          </c:bubbleSize>
          <c:bubble3D val="0"/>
        </c:ser>
        <c:dLbls>
          <c:showLegendKey val="0"/>
          <c:showVal val="0"/>
          <c:showCatName val="0"/>
          <c:showSerName val="0"/>
          <c:showPercent val="0"/>
          <c:showBubbleSize val="0"/>
        </c:dLbls>
        <c:bubbleScale val="55"/>
        <c:showNegBubbles val="0"/>
        <c:axId val="-2115720072"/>
        <c:axId val="-2115723560"/>
      </c:bubbleChart>
      <c:valAx>
        <c:axId val="-2115720072"/>
        <c:scaling>
          <c:orientation val="minMax"/>
          <c:max val="110.0"/>
          <c:min val="90.0"/>
        </c:scaling>
        <c:delete val="0"/>
        <c:axPos val="b"/>
        <c:title>
          <c:tx>
            <c:rich>
              <a:bodyPr/>
              <a:lstStyle/>
              <a:p>
                <a:r>
                  <a:rPr sz="1100" b="0">
                    <a:solidFill>
                      <a:srgbClr val="6C7A89"/>
                    </a:solidFill>
                    <a:latin typeface="Calibri"/>
                  </a:rPr>
                  <a:t>CAGR Index (100 = segment average growth)</a:t>
                </a:r>
              </a:p>
            </c:rich>
          </c:tx>
          <c:layout/>
          <c:overlay val="0"/>
        </c:title>
        <c:numFmt formatCode="General" sourceLinked="1"/>
        <c:majorTickMark val="out"/>
        <c:minorTickMark val="none"/>
        <c:tickLblPos val="nextTo"/>
        <c:spPr>
          <a:ln>
            <a:solidFill>
              <a:srgbClr val="C9D6E4"/>
            </a:solidFill>
          </a:ln>
        </c:spPr>
        <c:txPr>
          <a:bodyPr/>
          <a:lstStyle/>
          <a:p>
            <a:pPr>
              <a:defRPr sz="1100"/>
            </a:pPr>
          </a:p>
        </c:txPr>
        <c:crossAx val="-2115723560"/>
        <c:crosses val="autoZero"/>
        <c:crossBetween val="midCat"/>
      </c:valAx>
      <c:valAx>
        <c:axId val="-2115723560"/>
        <c:scaling>
          <c:orientation val="minMax"/>
          <c:max val="200.0"/>
          <c:min val="0.0"/>
        </c:scaling>
        <c:delete val="0"/>
        <c:axPos val="l"/>
        <c:title>
          <c:tx>
            <c:rich>
              <a:bodyPr/>
              <a:lstStyle/>
              <a:p>
                <a:r>
                  <a:rPr sz="1100" b="0">
                    <a:solidFill>
                      <a:srgbClr val="6C7A89"/>
                    </a:solidFill>
                    <a:latin typeface="Calibri"/>
                  </a:rPr>
                  <a:t>Market Share Index (100 = equal share)</a:t>
                </a:r>
              </a:p>
            </c:rich>
          </c:tx>
          <c:layout/>
          <c:overlay val="0"/>
        </c:title>
        <c:numFmt formatCode="General" sourceLinked="1"/>
        <c:majorTickMark val="out"/>
        <c:minorTickMark val="none"/>
        <c:tickLblPos val="none"/>
        <c:spPr>
          <a:ln>
            <a:solidFill>
              <a:srgbClr val="C9D6E4"/>
            </a:solidFill>
          </a:ln>
        </c:spPr>
        <c:txPr>
          <a:bodyPr/>
          <a:lstStyle/>
          <a:p>
            <a:pPr>
              <a:defRPr sz="1100"/>
            </a:pPr>
          </a:p>
        </c:txPr>
        <c:crossAx val="-2115720072"/>
        <c:crosses val="autoZero"/>
        <c:crossBetween val="midCat"/>
      </c:valAx>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lang="en-US"/>
    </a:p>
  </c:txPr>
</c:chartSpace>
</file>

<file path=ppt/charts/chart8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2888.178</c:v>
                </c:pt>
                <c:pt idx="2">
                  <c:v>3125.609</c:v>
                </c:pt>
                <c:pt idx="3">
                  <c:v>3382.714</c:v>
                </c:pt>
                <c:pt idx="4">
                  <c:v>3661.134</c:v>
                </c:pt>
                <c:pt idx="5">
                  <c:v>3962.652</c:v>
                </c:pt>
                <c:pt idx="6">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00ACAC"/>
              </a:solidFill>
            </c:spPr>
          </c:dPt>
          <c:dPt>
            <c:idx val="3"/>
            <c:spPr>
              <a:solidFill>
                <a:srgbClr val="00ACAC"/>
              </a:solidFill>
            </c:spPr>
          </c:dPt>
          <c:dPt>
            <c:idx val="4"/>
            <c:spPr>
              <a:solidFill>
                <a:srgbClr val="00ACAC"/>
              </a:solidFill>
            </c:spPr>
          </c:dPt>
          <c:dPt>
            <c:idx val="5"/>
            <c:spPr>
              <a:solidFill>
                <a:srgbClr val="00ACAC"/>
              </a:solidFill>
            </c:spPr>
          </c:dPt>
          <c:dPt>
            <c:idx val="6"/>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2888.178</c:v>
                </c:pt>
                <c:pt idx="1">
                  <c:v>237.43100000000004</c:v>
                </c:pt>
                <c:pt idx="2">
                  <c:v>257.105</c:v>
                </c:pt>
                <c:pt idx="3">
                  <c:v>278.4200000000001</c:v>
                </c:pt>
                <c:pt idx="4">
                  <c:v>301.51800000000003</c:v>
                </c:pt>
                <c:pt idx="5">
                  <c:v>326.54299999999967</c:v>
                </c:pt>
                <c:pt idx="6">
                  <c:v>4289.195</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8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716.72</c:v>
                </c:pt>
                <c:pt idx="2">
                  <c:v>777.329</c:v>
                </c:pt>
                <c:pt idx="3">
                  <c:v>843.082</c:v>
                </c:pt>
                <c:pt idx="4">
                  <c:v>914.419</c:v>
                </c:pt>
                <c:pt idx="5">
                  <c:v>991.815</c:v>
                </c:pt>
                <c:pt idx="6">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00ACAC"/>
              </a:solidFill>
            </c:spPr>
          </c:dPt>
          <c:dPt>
            <c:idx val="3"/>
            <c:spPr>
              <a:solidFill>
                <a:srgbClr val="00ACAC"/>
              </a:solidFill>
            </c:spPr>
          </c:dPt>
          <c:dPt>
            <c:idx val="4"/>
            <c:spPr>
              <a:solidFill>
                <a:srgbClr val="00ACAC"/>
              </a:solidFill>
            </c:spPr>
          </c:dPt>
          <c:dPt>
            <c:idx val="5"/>
            <c:spPr>
              <a:solidFill>
                <a:srgbClr val="00ACAC"/>
              </a:solidFill>
            </c:spPr>
          </c:dPt>
          <c:dPt>
            <c:idx val="6"/>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716.72</c:v>
                </c:pt>
                <c:pt idx="1">
                  <c:v>60.608999999999924</c:v>
                </c:pt>
                <c:pt idx="2">
                  <c:v>65.75300000000004</c:v>
                </c:pt>
                <c:pt idx="3">
                  <c:v>71.33699999999999</c:v>
                </c:pt>
                <c:pt idx="4">
                  <c:v>77.39600000000007</c:v>
                </c:pt>
                <c:pt idx="5">
                  <c:v>83.97799999999984</c:v>
                </c:pt>
                <c:pt idx="6">
                  <c:v>1075.793</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8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Chicken Eggshell Membrane</c:v>
                </c:pt>
              </c:strCache>
            </c:strRef>
          </c:tx>
          <c:spPr>
            <a:solidFill>
              <a:srgbClr val="2A5F8F"/>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80.20721520033797</c:v>
                </c:pt>
                <c:pt idx="1">
                  <c:v>80.11816145699545</c:v>
                </c:pt>
                <c:pt idx="2">
                  <c:v>79.94789550321455</c:v>
                </c:pt>
              </c:numCache>
            </c:numRef>
          </c:val>
        </c:ser>
        <c:ser>
          <c:idx val="1"/>
          <c:order val="1"/>
          <c:tx>
            <c:strRef>
              <c:strCache>
                <c:ptCount val="1"/>
                <c:pt idx="0">
                  <c:v>Other Poultry Eggshell Membrane</c:v>
                </c:pt>
              </c:strCache>
            </c:strRef>
          </c:tx>
          <c:spPr>
            <a:solidFill>
              <a:srgbClr val="0081E2"/>
            </a:solidFill>
            <a:ln>
              <a:noFill/>
            </a:ln>
          </c:spPr>
          <c:dLbls>
            <c:dLbl>
              <c:idx val="0"/>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19.792784799662027</c:v>
                </c:pt>
                <c:pt idx="1">
                  <c:v>19.881838543004545</c:v>
                </c:pt>
                <c:pt idx="2">
                  <c:v>20.052104496785457</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8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Powder</c:v>
                </c:pt>
              </c:strCache>
            </c:strRef>
          </c:tx>
          <c:spPr>
            <a:solidFill>
              <a:srgbClr val="2A5F8F"/>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16.75770445163897</c:v>
                </c:pt>
                <c:pt idx="1">
                  <c:v>20.79706150504152</c:v>
                </c:pt>
              </c:numCache>
            </c:numRef>
          </c:val>
        </c:ser>
        <c:ser>
          <c:idx val="1"/>
          <c:order val="1"/>
          <c:tx>
            <c:strRef>
              <c:strCache>
                <c:ptCount val="1"/>
                <c:pt idx="0">
                  <c:v>Liquid / Concentrate</c:v>
                </c:pt>
              </c:strCache>
            </c:strRef>
          </c:tx>
          <c:spPr>
            <a:solidFill>
              <a:srgbClr val="0081E2"/>
            </a:solidFill>
            <a:ln>
              <a:noFill/>
            </a:ln>
          </c:spPr>
          <c:dLbls>
            <c:dLbl>
              <c:idx val="0"/>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83.24229554836103</c:v>
                </c:pt>
                <c:pt idx="1">
                  <c:v>79.20293849495849</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tickLblSkip val="1"/>
        <c:noMultiLvlLbl val="0"/>
      </c:catAx>
      <c:valAx>
        <c:axId val="-2113994440"/>
        <c:scaling>
          <c:max val="100.0"/>
          <c:min val="0.0"/>
        </c:scaling>
        <c:delete val="0"/>
        <c:axPos val="b"/>
        <c:numFmt formatCode="0&quot;%&quot;" sourceLinked="0"/>
        <c:majorTickMark val="out"/>
        <c:minorTickMark val="none"/>
        <c:tickLblPos val="nextTo"/>
        <c:spPr>
          <a:ln>
            <a:solidFill>
              <a:srgbClr val="C9D6E4"/>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87.xml><?xml version="1.0" encoding="utf-8"?>
<c:chartSpace xmlns:c="http://schemas.openxmlformats.org/drawingml/2006/chart" xmlns:a="http://schemas.openxmlformats.org/drawingml/2006/main" xmlns:r="http://schemas.openxmlformats.org/officeDocument/2006/relationships">
  <c:chart>
    <c:autoTitleDeleted val="1"/>
    <c:plotArea>
      <c:layout/>
      <c:bubbleChart>
        <c:varyColors val="0"/>
        <c:ser>
          <c:idx val="0"/>
          <c:order val="0"/>
          <c:tx>
            <c:strRef>
              <c:strCache>
                <c:ptCount val="1"/>
                <c:pt idx="0">
                  <c:v>Powder</c:v>
                </c:pt>
              </c:strCache>
            </c:strRef>
          </c:tx>
          <c:spPr>
            <a:solidFill>
              <a:srgbClr val="2A5F8F"/>
            </a:solidFill>
          </c:spPr>
          <c:invertIfNegative val="0"/>
          <c:xVal>
            <c:numRef>
              <c:numCache>
                <c:formatCode>General</c:formatCode>
                <c:ptCount val="1"/>
                <c:pt idx="0">
                  <c:v>87.23846964562092</c:v>
                </c:pt>
              </c:numCache>
            </c:numRef>
          </c:xVal>
          <c:yVal>
            <c:numRef>
              <c:numCache>
                <c:formatCode>General</c:formatCode>
                <c:ptCount val="1"/>
                <c:pt idx="0">
                  <c:v>40.95477874824752</c:v>
                </c:pt>
              </c:numCache>
            </c:numRef>
          </c:yVal>
          <c:bubbleSize>
            <c:numRef>
              <c:numCache>
                <c:formatCode>General</c:formatCode>
                <c:ptCount val="1"/>
                <c:pt idx="0">
                  <c:v>1045.167</c:v>
                </c:pt>
              </c:numCache>
            </c:numRef>
          </c:bubbleSize>
          <c:bubble3D val="0"/>
        </c:ser>
        <c:ser>
          <c:idx val="1"/>
          <c:order val="1"/>
          <c:tx>
            <c:strRef>
              <c:strCache>
                <c:ptCount val="1"/>
                <c:pt idx="0">
                  <c:v>Liquid / Concentrate</c:v>
                </c:pt>
              </c:strCache>
            </c:strRef>
          </c:tx>
          <c:spPr>
            <a:solidFill>
              <a:srgbClr val="0081E2"/>
            </a:solidFill>
          </c:spPr>
          <c:invertIfNegative val="0"/>
          <c:xVal>
            <c:numRef>
              <c:numCache>
                <c:formatCode>General</c:formatCode>
                <c:ptCount val="1"/>
                <c:pt idx="0">
                  <c:v>103.19557990720607</c:v>
                </c:pt>
              </c:numCache>
            </c:numRef>
          </c:xVal>
          <c:yVal>
            <c:numRef>
              <c:numCache>
                <c:formatCode>General</c:formatCode>
                <c:ptCount val="1"/>
                <c:pt idx="0">
                  <c:v>159.04522125175248</c:v>
                </c:pt>
              </c:numCache>
            </c:numRef>
          </c:yVal>
          <c:bubbleSize>
            <c:numRef>
              <c:numCache>
                <c:formatCode>General</c:formatCode>
                <c:ptCount val="1"/>
                <c:pt idx="0">
                  <c:v>4319.821</c:v>
                </c:pt>
              </c:numCache>
            </c:numRef>
          </c:bubbleSize>
          <c:bubble3D val="0"/>
        </c:ser>
        <c:dLbls>
          <c:showLegendKey val="0"/>
          <c:showVal val="0"/>
          <c:showCatName val="0"/>
          <c:showSerName val="0"/>
          <c:showPercent val="0"/>
          <c:showBubbleSize val="0"/>
        </c:dLbls>
        <c:bubbleScale val="55"/>
        <c:showNegBubbles val="0"/>
        <c:axId val="-2115720072"/>
        <c:axId val="-2115723560"/>
      </c:bubbleChart>
      <c:valAx>
        <c:axId val="-2115720072"/>
        <c:scaling>
          <c:orientation val="minMax"/>
          <c:max val="110.0"/>
          <c:min val="80.0"/>
        </c:scaling>
        <c:delete val="0"/>
        <c:axPos val="b"/>
        <c:title>
          <c:tx>
            <c:rich>
              <a:bodyPr/>
              <a:lstStyle/>
              <a:p>
                <a:r>
                  <a:rPr sz="1100" b="0">
                    <a:solidFill>
                      <a:srgbClr val="6C7A89"/>
                    </a:solidFill>
                    <a:latin typeface="Calibri"/>
                  </a:rPr>
                  <a:t>CAGR Index (100 = segment average growth)</a:t>
                </a:r>
              </a:p>
            </c:rich>
          </c:tx>
          <c:layout/>
          <c:overlay val="0"/>
        </c:title>
        <c:numFmt formatCode="General" sourceLinked="1"/>
        <c:majorTickMark val="out"/>
        <c:minorTickMark val="none"/>
        <c:tickLblPos val="nextTo"/>
        <c:spPr>
          <a:ln>
            <a:solidFill>
              <a:srgbClr val="C9D6E4"/>
            </a:solidFill>
          </a:ln>
        </c:spPr>
        <c:txPr>
          <a:bodyPr/>
          <a:lstStyle/>
          <a:p>
            <a:pPr>
              <a:defRPr sz="1100"/>
            </a:pPr>
          </a:p>
        </c:txPr>
        <c:crossAx val="-2115723560"/>
        <c:crosses val="autoZero"/>
        <c:crossBetween val="midCat"/>
      </c:valAx>
      <c:valAx>
        <c:axId val="-2115723560"/>
        <c:scaling>
          <c:orientation val="minMax"/>
          <c:max val="200.0"/>
          <c:min val="0.0"/>
        </c:scaling>
        <c:delete val="0"/>
        <c:axPos val="l"/>
        <c:title>
          <c:tx>
            <c:rich>
              <a:bodyPr/>
              <a:lstStyle/>
              <a:p>
                <a:r>
                  <a:rPr sz="1100" b="0">
                    <a:solidFill>
                      <a:srgbClr val="6C7A89"/>
                    </a:solidFill>
                    <a:latin typeface="Calibri"/>
                  </a:rPr>
                  <a:t>Market Share Index (100 = equal share)</a:t>
                </a:r>
              </a:p>
            </c:rich>
          </c:tx>
          <c:layout/>
          <c:overlay val="0"/>
        </c:title>
        <c:numFmt formatCode="General" sourceLinked="1"/>
        <c:majorTickMark val="out"/>
        <c:minorTickMark val="none"/>
        <c:tickLblPos val="none"/>
        <c:spPr>
          <a:ln>
            <a:solidFill>
              <a:srgbClr val="C9D6E4"/>
            </a:solidFill>
          </a:ln>
        </c:spPr>
        <c:txPr>
          <a:bodyPr/>
          <a:lstStyle/>
          <a:p>
            <a:pPr>
              <a:defRPr sz="1100"/>
            </a:pPr>
          </a:p>
        </c:txPr>
        <c:crossAx val="-2115720072"/>
        <c:crosses val="autoZero"/>
        <c:crossBetween val="midCat"/>
      </c:valAx>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lang="en-US"/>
    </a:p>
  </c:txPr>
</c:chartSpace>
</file>

<file path=ppt/charts/chart8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738.189</c:v>
                </c:pt>
                <c:pt idx="2">
                  <c:v>790.067</c:v>
                </c:pt>
                <c:pt idx="3">
                  <c:v>846.36</c:v>
                </c:pt>
                <c:pt idx="4">
                  <c:v>907.394</c:v>
                </c:pt>
                <c:pt idx="5">
                  <c:v>973.532</c:v>
                </c:pt>
                <c:pt idx="6">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00ACAC"/>
              </a:solidFill>
            </c:spPr>
          </c:dPt>
          <c:dPt>
            <c:idx val="3"/>
            <c:spPr>
              <a:solidFill>
                <a:srgbClr val="00ACAC"/>
              </a:solidFill>
            </c:spPr>
          </c:dPt>
          <c:dPt>
            <c:idx val="4"/>
            <c:spPr>
              <a:solidFill>
                <a:srgbClr val="00ACAC"/>
              </a:solidFill>
            </c:spPr>
          </c:dPt>
          <c:dPt>
            <c:idx val="5"/>
            <c:spPr>
              <a:solidFill>
                <a:srgbClr val="00ACAC"/>
              </a:solidFill>
            </c:spPr>
          </c:dPt>
          <c:dPt>
            <c:idx val="6"/>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738.189</c:v>
                </c:pt>
                <c:pt idx="1">
                  <c:v>51.87800000000004</c:v>
                </c:pt>
                <c:pt idx="2">
                  <c:v>56.293000000000006</c:v>
                </c:pt>
                <c:pt idx="3">
                  <c:v>61.03399999999999</c:v>
                </c:pt>
                <c:pt idx="4">
                  <c:v>66.13800000000003</c:v>
                </c:pt>
                <c:pt idx="5">
                  <c:v>71.63499999999988</c:v>
                </c:pt>
                <c:pt idx="6">
                  <c:v>1045.167</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8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2866.709</c:v>
                </c:pt>
                <c:pt idx="2">
                  <c:v>3112.871</c:v>
                </c:pt>
                <c:pt idx="3">
                  <c:v>3379.436</c:v>
                </c:pt>
                <c:pt idx="4">
                  <c:v>3668.159</c:v>
                </c:pt>
                <c:pt idx="5">
                  <c:v>3980.935</c:v>
                </c:pt>
                <c:pt idx="6">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00ACAC"/>
              </a:solidFill>
            </c:spPr>
          </c:dPt>
          <c:dPt>
            <c:idx val="3"/>
            <c:spPr>
              <a:solidFill>
                <a:srgbClr val="00ACAC"/>
              </a:solidFill>
            </c:spPr>
          </c:dPt>
          <c:dPt>
            <c:idx val="4"/>
            <c:spPr>
              <a:solidFill>
                <a:srgbClr val="00ACAC"/>
              </a:solidFill>
            </c:spPr>
          </c:dPt>
          <c:dPt>
            <c:idx val="5"/>
            <c:spPr>
              <a:solidFill>
                <a:srgbClr val="00ACAC"/>
              </a:solidFill>
            </c:spPr>
          </c:dPt>
          <c:dPt>
            <c:idx val="6"/>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2866.709</c:v>
                </c:pt>
                <c:pt idx="1">
                  <c:v>246.16200000000026</c:v>
                </c:pt>
                <c:pt idx="2">
                  <c:v>266.56500000000005</c:v>
                </c:pt>
                <c:pt idx="3">
                  <c:v>288.72299999999996</c:v>
                </c:pt>
                <c:pt idx="4">
                  <c:v>312.77599999999984</c:v>
                </c:pt>
                <c:pt idx="5">
                  <c:v>338.88599999999997</c:v>
                </c:pt>
                <c:pt idx="6">
                  <c:v>4319.821</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9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Liquid / Concentrate</c:v>
                </c:pt>
              </c:strCache>
            </c:strRef>
          </c:tx>
          <c:spPr>
            <a:solidFill>
              <a:srgbClr val="2A5F8F"/>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78.8265291177292</c:v>
                </c:pt>
                <c:pt idx="1">
                  <c:v>79.52261062587624</c:v>
                </c:pt>
                <c:pt idx="2">
                  <c:v>80.51874486951323</c:v>
                </c:pt>
              </c:numCache>
            </c:numRef>
          </c:val>
        </c:ser>
        <c:ser>
          <c:idx val="1"/>
          <c:order val="1"/>
          <c:tx>
            <c:strRef>
              <c:strCache>
                <c:ptCount val="1"/>
                <c:pt idx="0">
                  <c:v>Powder</c:v>
                </c:pt>
              </c:strCache>
            </c:strRef>
          </c:tx>
          <c:spPr>
            <a:solidFill>
              <a:srgbClr val="0081E2"/>
            </a:solidFill>
            <a:ln>
              <a:noFill/>
            </a:ln>
          </c:spPr>
          <c:dLbls>
            <c:dLbl>
              <c:idx val="0"/>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21.173470882270813</c:v>
                </c:pt>
                <c:pt idx="1">
                  <c:v>20.47738937412376</c:v>
                </c:pt>
                <c:pt idx="2">
                  <c:v>19.48125513048678</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9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Dietary Supplements &amp; Nutraceuticals</c:v>
                </c:pt>
              </c:strCache>
            </c:strRef>
          </c:tx>
          <c:spPr>
            <a:solidFill>
              <a:srgbClr val="2A5F8F"/>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38.10145877893783</c:v>
                </c:pt>
                <c:pt idx="1">
                  <c:v>28.767096021907673</c:v>
                </c:pt>
              </c:numCache>
            </c:numRef>
          </c:val>
        </c:ser>
        <c:ser>
          <c:idx val="1"/>
          <c:order val="1"/>
          <c:tx>
            <c:strRef>
              <c:strCache>
                <c:ptCount val="1"/>
                <c:pt idx="0">
                  <c:v>Functional Food &amp; Beverages</c:v>
                </c:pt>
              </c:strCache>
            </c:strRef>
          </c:tx>
          <c:spPr>
            <a:solidFill>
              <a:srgbClr val="0081E2"/>
            </a:solidFill>
            <a:ln>
              <a:noFill/>
            </a:ln>
          </c:spPr>
          <c:dLbls>
            <c:dLbl>
              <c:idx val="0"/>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21.12128109790081</c:v>
                </c:pt>
                <c:pt idx="1">
                  <c:v>22.27960596700026</c:v>
                </c:pt>
              </c:numCache>
            </c:numRef>
          </c:val>
        </c:ser>
        <c:ser>
          <c:idx val="2"/>
          <c:order val="2"/>
          <c:tx>
            <c:strRef>
              <c:strCache>
                <c:ptCount val="1"/>
                <c:pt idx="0">
                  <c:v>Cosmetics &amp; Personal Care</c:v>
                </c:pt>
              </c:strCache>
            </c:strRef>
          </c:tx>
          <c:spPr>
            <a:solidFill>
              <a:srgbClr val="0E2A5C"/>
            </a:solidFill>
            <a:ln>
              <a:noFill/>
            </a:ln>
          </c:spPr>
          <c:dLbls>
            <c:dLbl>
              <c:idx val="0"/>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11.244053361531588</c:v>
                </c:pt>
                <c:pt idx="1">
                  <c:v>11.050207305765914</c:v>
                </c:pt>
              </c:numCache>
            </c:numRef>
          </c:val>
        </c:ser>
        <c:ser>
          <c:idx val="3"/>
          <c:order val="3"/>
          <c:tx>
            <c:strRef>
              <c:strCache>
                <c:ptCount val="1"/>
                <c:pt idx="0">
                  <c:v>Pharmaceuticals &amp; Biomedical</c:v>
                </c:pt>
              </c:strCache>
            </c:strRef>
          </c:tx>
          <c:spPr>
            <a:solidFill>
              <a:srgbClr val="00ACAC"/>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13.621850441684892</c:v>
                </c:pt>
                <c:pt idx="1">
                  <c:v>19.033262360803256</c:v>
                </c:pt>
              </c:numCache>
            </c:numRef>
          </c:val>
        </c:ser>
        <c:ser>
          <c:idx val="4"/>
          <c:order val="4"/>
          <c:tx>
            <c:strRef>
              <c:strCache>
                <c:ptCount val="1"/>
                <c:pt idx="0">
                  <c:v>Animal Nutrition &amp; Pet Care</c:v>
                </c:pt>
              </c:strCache>
            </c:strRef>
          </c:tx>
          <c:spPr>
            <a:solidFill>
              <a:srgbClr val="F47620"/>
            </a:solidFill>
            <a:ln>
              <a:noFill/>
            </a:ln>
          </c:spPr>
          <c:dLbls>
            <c:dLbl>
              <c:idx val="0"/>
              <c:numFmt formatCode="&quot;MMM&quot;;&quot;MMM&quot;;&quot;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6.983816903616678</c:v>
                </c:pt>
                <c:pt idx="1">
                  <c:v>5.835385012614164</c:v>
                </c:pt>
              </c:numCache>
            </c:numRef>
          </c:val>
        </c:ser>
        <c:ser>
          <c:idx val="5"/>
          <c:order val="5"/>
          <c:tx>
            <c:strRef>
              <c:strCache>
                <c:ptCount val="1"/>
                <c:pt idx="0">
                  <c:v>Industrial &amp; Biomaterials</c:v>
                </c:pt>
              </c:strCache>
            </c:strRef>
          </c:tx>
          <c:spPr>
            <a:solidFill>
              <a:srgbClr val="79C3EC"/>
            </a:solidFill>
            <a:ln>
              <a:noFill/>
            </a:ln>
          </c:spPr>
          <c:dLbls>
            <c:dLbl>
              <c:idx val="0"/>
              <c:numFmt formatCode="&quot;MMM&quot;;&quot;MMM&quot;;&quot;MMM&quot;" sourceLinked="0"/>
              <c:spPr>
                <a:blipFill>
                  <a:blip r:embed="rId1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1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8.927539416328207</c:v>
                </c:pt>
                <c:pt idx="1">
                  <c:v>13.03444333190872</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tickLblSkip val="1"/>
        <c:noMultiLvlLbl val="0"/>
      </c:catAx>
      <c:valAx>
        <c:axId val="-2113994440"/>
        <c:scaling>
          <c:max val="100.0"/>
          <c:min val="0.0"/>
        </c:scaling>
        <c:delete val="0"/>
        <c:axPos val="b"/>
        <c:numFmt formatCode="0&quot;%&quot;" sourceLinked="0"/>
        <c:majorTickMark val="out"/>
        <c:minorTickMark val="none"/>
        <c:tickLblPos val="nextTo"/>
        <c:spPr>
          <a:ln>
            <a:solidFill>
              <a:srgbClr val="C9D6E4"/>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92.xml><?xml version="1.0" encoding="utf-8"?>
<c:chartSpace xmlns:c="http://schemas.openxmlformats.org/drawingml/2006/chart" xmlns:a="http://schemas.openxmlformats.org/drawingml/2006/main" xmlns:r="http://schemas.openxmlformats.org/officeDocument/2006/relationships">
  <c:chart>
    <c:autoTitleDeleted val="1"/>
    <c:plotArea>
      <c:layout/>
      <c:bubbleChart>
        <c:varyColors val="0"/>
        <c:ser>
          <c:idx val="0"/>
          <c:order val="0"/>
          <c:tx>
            <c:strRef>
              <c:strCache>
                <c:ptCount val="1"/>
                <c:pt idx="0">
                  <c:v>Dietary Supplements &amp; Nutraceuticals</c:v>
                </c:pt>
              </c:strCache>
            </c:strRef>
          </c:tx>
          <c:spPr>
            <a:solidFill>
              <a:srgbClr val="2A5F8F"/>
            </a:solidFill>
          </c:spPr>
          <c:invertIfNegative val="0"/>
          <c:xVal>
            <c:numRef>
              <c:numCache>
                <c:formatCode>General</c:formatCode>
                <c:ptCount val="1"/>
                <c:pt idx="0">
                  <c:v>82.68632906962561</c:v>
                </c:pt>
              </c:numCache>
            </c:numRef>
          </c:xVal>
          <c:yVal>
            <c:numRef>
              <c:numCache>
                <c:formatCode>General</c:formatCode>
                <c:ptCount val="1"/>
                <c:pt idx="0">
                  <c:v>204.21765054101394</c:v>
                </c:pt>
              </c:numCache>
            </c:numRef>
          </c:yVal>
          <c:bubbleSize>
            <c:numRef>
              <c:numCache>
                <c:formatCode>General</c:formatCode>
                <c:ptCount val="1"/>
                <c:pt idx="0">
                  <c:v>1706.481</c:v>
                </c:pt>
              </c:numCache>
            </c:numRef>
          </c:bubbleSize>
          <c:bubble3D val="0"/>
        </c:ser>
        <c:ser>
          <c:idx val="1"/>
          <c:order val="1"/>
          <c:tx>
            <c:strRef>
              <c:strCache>
                <c:ptCount val="1"/>
                <c:pt idx="0">
                  <c:v>Functional Food &amp; Beverages</c:v>
                </c:pt>
              </c:strCache>
            </c:strRef>
          </c:tx>
          <c:spPr>
            <a:solidFill>
              <a:srgbClr val="0081E2"/>
            </a:solidFill>
          </c:spPr>
          <c:invertIfNegative val="0"/>
          <c:xVal>
            <c:numRef>
              <c:numCache>
                <c:formatCode>General</c:formatCode>
                <c:ptCount val="1"/>
                <c:pt idx="0">
                  <c:v>165.9044508408471</c:v>
                </c:pt>
              </c:numCache>
            </c:numRef>
          </c:xVal>
          <c:yVal>
            <c:numRef>
              <c:numCache>
                <c:formatCode>General</c:formatCode>
                <c:ptCount val="1"/>
                <c:pt idx="0">
                  <c:v>101.97209463346815</c:v>
                </c:pt>
              </c:numCache>
            </c:numRef>
          </c:yVal>
          <c:bubbleSize>
            <c:numRef>
              <c:numCache>
                <c:formatCode>General</c:formatCode>
                <c:ptCount val="1"/>
                <c:pt idx="0">
                  <c:v>1175.055</c:v>
                </c:pt>
              </c:numCache>
            </c:numRef>
          </c:bubbleSize>
          <c:bubble3D val="0"/>
        </c:ser>
        <c:ser>
          <c:idx val="2"/>
          <c:order val="2"/>
          <c:tx>
            <c:strRef>
              <c:strCache>
                <c:ptCount val="1"/>
                <c:pt idx="0">
                  <c:v>Cosmetics &amp; Personal Care</c:v>
                </c:pt>
              </c:strCache>
            </c:strRef>
          </c:tx>
          <c:spPr>
            <a:solidFill>
              <a:srgbClr val="0E2A5C"/>
            </a:solidFill>
          </c:spPr>
          <c:invertIfNegative val="0"/>
          <c:xVal>
            <c:numRef>
              <c:numCache>
                <c:formatCode>General</c:formatCode>
                <c:ptCount val="1"/>
                <c:pt idx="0">
                  <c:v>60.14012931139233</c:v>
                </c:pt>
              </c:numCache>
            </c:numRef>
          </c:xVal>
          <c:yVal>
            <c:numRef>
              <c:numCache>
                <c:formatCode>General</c:formatCode>
                <c:ptCount val="1"/>
                <c:pt idx="0">
                  <c:v>77.98373213333637</c:v>
                </c:pt>
              </c:numCache>
            </c:numRef>
          </c:yVal>
          <c:bubbleSize>
            <c:numRef>
              <c:numCache>
                <c:formatCode>General</c:formatCode>
                <c:ptCount val="1"/>
                <c:pt idx="0">
                  <c:v>596.23</c:v>
                </c:pt>
              </c:numCache>
            </c:numRef>
          </c:bubbleSize>
          <c:bubble3D val="0"/>
        </c:ser>
        <c:ser>
          <c:idx val="3"/>
          <c:order val="3"/>
          <c:tx>
            <c:strRef>
              <c:strCache>
                <c:ptCount val="1"/>
                <c:pt idx="0">
                  <c:v>Pharmaceuticals &amp; Biomedical</c:v>
                </c:pt>
              </c:strCache>
            </c:strRef>
          </c:tx>
          <c:spPr>
            <a:solidFill>
              <a:srgbClr val="00ACAC"/>
            </a:solidFill>
          </c:spPr>
          <c:invertIfNegative val="0"/>
          <c:xVal>
            <c:numRef>
              <c:numCache>
                <c:formatCode>General</c:formatCode>
                <c:ptCount val="1"/>
                <c:pt idx="0">
                  <c:v>68.04697515551713</c:v>
                </c:pt>
              </c:numCache>
            </c:numRef>
          </c:xVal>
          <c:yVal>
            <c:numRef>
              <c:numCache>
                <c:formatCode>General</c:formatCode>
                <c:ptCount val="1"/>
                <c:pt idx="0">
                  <c:v>117.45968956680606</c:v>
                </c:pt>
              </c:numCache>
            </c:numRef>
          </c:yVal>
          <c:bubbleSize>
            <c:numRef>
              <c:numCache>
                <c:formatCode>General</c:formatCode>
                <c:ptCount val="1"/>
                <c:pt idx="0">
                  <c:v>926.5609999999999</c:v>
                </c:pt>
              </c:numCache>
            </c:numRef>
          </c:bubbleSize>
          <c:bubble3D val="0"/>
        </c:ser>
        <c:ser>
          <c:idx val="4"/>
          <c:order val="4"/>
          <c:tx>
            <c:strRef>
              <c:strCache>
                <c:ptCount val="1"/>
                <c:pt idx="0">
                  <c:v>Animal Nutrition &amp; Pet Care</c:v>
                </c:pt>
              </c:strCache>
            </c:strRef>
          </c:tx>
          <c:spPr>
            <a:solidFill>
              <a:srgbClr val="F47620"/>
            </a:solidFill>
          </c:spPr>
          <c:invertIfNegative val="0"/>
          <c:xVal>
            <c:numRef>
              <c:numCache>
                <c:formatCode>General</c:formatCode>
                <c:ptCount val="1"/>
                <c:pt idx="0">
                  <c:v>113.73319497148198</c:v>
                </c:pt>
              </c:numCache>
            </c:numRef>
          </c:xVal>
          <c:yVal>
            <c:numRef>
              <c:numCache>
                <c:formatCode>General</c:formatCode>
                <c:ptCount val="1"/>
                <c:pt idx="0">
                  <c:v>35.319945252265114</c:v>
                </c:pt>
              </c:numCache>
            </c:numRef>
          </c:yVal>
          <c:bubbleSize>
            <c:numRef>
              <c:numCache>
                <c:formatCode>General</c:formatCode>
                <c:ptCount val="1"/>
                <c:pt idx="0">
                  <c:v>333.138</c:v>
                </c:pt>
              </c:numCache>
            </c:numRef>
          </c:bubbleSize>
          <c:bubble3D val="0"/>
        </c:ser>
        <c:ser>
          <c:idx val="5"/>
          <c:order val="5"/>
          <c:tx>
            <c:strRef>
              <c:strCache>
                <c:ptCount val="1"/>
                <c:pt idx="0">
                  <c:v>Industrial &amp; Biomaterials</c:v>
                </c:pt>
              </c:strCache>
            </c:strRef>
          </c:tx>
          <c:spPr>
            <a:solidFill>
              <a:srgbClr val="79C3EC"/>
            </a:solidFill>
          </c:spPr>
          <c:invertIfNegative val="0"/>
          <c:xVal>
            <c:numRef>
              <c:numCache>
                <c:formatCode>General</c:formatCode>
                <c:ptCount val="1"/>
                <c:pt idx="0">
                  <c:v>127.64450840109527</c:v>
                </c:pt>
              </c:numCache>
            </c:numRef>
          </c:xVal>
          <c:yVal>
            <c:numRef>
              <c:numCache>
                <c:formatCode>General</c:formatCode>
                <c:ptCount val="1"/>
                <c:pt idx="0">
                  <c:v>63.04688787311042</c:v>
                </c:pt>
              </c:numCache>
            </c:numRef>
          </c:yVal>
          <c:bubbleSize>
            <c:numRef>
              <c:numCache>
                <c:formatCode>General</c:formatCode>
                <c:ptCount val="1"/>
                <c:pt idx="0">
                  <c:v>627.523</c:v>
                </c:pt>
              </c:numCache>
            </c:numRef>
          </c:bubbleSize>
          <c:bubble3D val="0"/>
        </c:ser>
        <c:dLbls>
          <c:showLegendKey val="0"/>
          <c:showVal val="0"/>
          <c:showCatName val="0"/>
          <c:showSerName val="0"/>
          <c:showPercent val="0"/>
          <c:showBubbleSize val="0"/>
        </c:dLbls>
        <c:bubbleScale val="55"/>
        <c:showNegBubbles val="0"/>
        <c:axId val="-2115720072"/>
        <c:axId val="-2115723560"/>
      </c:bubbleChart>
      <c:valAx>
        <c:axId val="-2115720072"/>
        <c:scaling>
          <c:orientation val="minMax"/>
          <c:max val="200.0"/>
          <c:min val="30.0"/>
        </c:scaling>
        <c:delete val="0"/>
        <c:axPos val="b"/>
        <c:title>
          <c:tx>
            <c:rich>
              <a:bodyPr/>
              <a:lstStyle/>
              <a:p>
                <a:r>
                  <a:rPr sz="1100" b="0">
                    <a:solidFill>
                      <a:srgbClr val="6C7A89"/>
                    </a:solidFill>
                    <a:latin typeface="Calibri"/>
                  </a:rPr>
                  <a:t>CAGR Index (100 = segment average growth)</a:t>
                </a:r>
              </a:p>
            </c:rich>
          </c:tx>
          <c:layout/>
          <c:overlay val="0"/>
        </c:title>
        <c:numFmt formatCode="General" sourceLinked="1"/>
        <c:majorTickMark val="out"/>
        <c:minorTickMark val="none"/>
        <c:tickLblPos val="nextTo"/>
        <c:spPr>
          <a:ln>
            <a:solidFill>
              <a:srgbClr val="C9D6E4"/>
            </a:solidFill>
          </a:ln>
        </c:spPr>
        <c:txPr>
          <a:bodyPr/>
          <a:lstStyle/>
          <a:p>
            <a:pPr>
              <a:defRPr sz="1100"/>
            </a:pPr>
          </a:p>
        </c:txPr>
        <c:crossAx val="-2115723560"/>
        <c:crosses val="autoZero"/>
        <c:crossBetween val="midCat"/>
      </c:valAx>
      <c:valAx>
        <c:axId val="-2115723560"/>
        <c:scaling>
          <c:orientation val="minMax"/>
          <c:max val="250.0"/>
          <c:min val="0.0"/>
        </c:scaling>
        <c:delete val="0"/>
        <c:axPos val="l"/>
        <c:title>
          <c:tx>
            <c:rich>
              <a:bodyPr/>
              <a:lstStyle/>
              <a:p>
                <a:r>
                  <a:rPr sz="1100" b="0">
                    <a:solidFill>
                      <a:srgbClr val="6C7A89"/>
                    </a:solidFill>
                    <a:latin typeface="Calibri"/>
                  </a:rPr>
                  <a:t>Market Share Index (100 = equal share)</a:t>
                </a:r>
              </a:p>
            </c:rich>
          </c:tx>
          <c:layout/>
          <c:overlay val="0"/>
        </c:title>
        <c:numFmt formatCode="General" sourceLinked="1"/>
        <c:majorTickMark val="out"/>
        <c:minorTickMark val="none"/>
        <c:tickLblPos val="none"/>
        <c:spPr>
          <a:ln>
            <a:solidFill>
              <a:srgbClr val="C9D6E4"/>
            </a:solidFill>
          </a:ln>
        </c:spPr>
        <c:txPr>
          <a:bodyPr/>
          <a:lstStyle/>
          <a:p>
            <a:pPr>
              <a:defRPr sz="1100"/>
            </a:pPr>
          </a:p>
        </c:txPr>
        <c:crossAx val="-2115720072"/>
        <c:crosses val="autoZero"/>
        <c:crossBetween val="midCat"/>
      </c:valAx>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lang="en-US"/>
    </a:p>
  </c:txPr>
</c:chartSpace>
</file>

<file path=ppt/charts/chart9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1226.973</c:v>
                </c:pt>
                <c:pt idx="2">
                  <c:v>1311.493</c:v>
                </c:pt>
                <c:pt idx="3">
                  <c:v>1401.412</c:v>
                </c:pt>
                <c:pt idx="4">
                  <c:v>1497.0140000000001</c:v>
                </c:pt>
                <c:pt idx="5">
                  <c:v>1598.601</c:v>
                </c:pt>
                <c:pt idx="6">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00ACAC"/>
              </a:solidFill>
            </c:spPr>
          </c:dPt>
          <c:dPt>
            <c:idx val="3"/>
            <c:spPr>
              <a:solidFill>
                <a:srgbClr val="00ACAC"/>
              </a:solidFill>
            </c:spPr>
          </c:dPt>
          <c:dPt>
            <c:idx val="4"/>
            <c:spPr>
              <a:solidFill>
                <a:srgbClr val="00ACAC"/>
              </a:solidFill>
            </c:spPr>
          </c:dPt>
          <c:dPt>
            <c:idx val="5"/>
            <c:spPr>
              <a:solidFill>
                <a:srgbClr val="00ACAC"/>
              </a:solidFill>
            </c:spPr>
          </c:dPt>
          <c:dPt>
            <c:idx val="6"/>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1226.973</c:v>
                </c:pt>
                <c:pt idx="1">
                  <c:v>84.51999999999998</c:v>
                </c:pt>
                <c:pt idx="2">
                  <c:v>89.9190000000001</c:v>
                </c:pt>
                <c:pt idx="3">
                  <c:v>95.60200000000009</c:v>
                </c:pt>
                <c:pt idx="4">
                  <c:v>101.58699999999999</c:v>
                </c:pt>
                <c:pt idx="5">
                  <c:v>107.87999999999988</c:v>
                </c:pt>
                <c:pt idx="6">
                  <c:v>1706.481</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9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612.665</c:v>
                </c:pt>
                <c:pt idx="2">
                  <c:v>700.741</c:v>
                </c:pt>
                <c:pt idx="3">
                  <c:v>799.693</c:v>
                </c:pt>
                <c:pt idx="4">
                  <c:v>910.775</c:v>
                </c:pt>
                <c:pt idx="5">
                  <c:v>1035.382</c:v>
                </c:pt>
                <c:pt idx="6">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00ACAC"/>
              </a:solidFill>
            </c:spPr>
          </c:dPt>
          <c:dPt>
            <c:idx val="3"/>
            <c:spPr>
              <a:solidFill>
                <a:srgbClr val="00ACAC"/>
              </a:solidFill>
            </c:spPr>
          </c:dPt>
          <c:dPt>
            <c:idx val="4"/>
            <c:spPr>
              <a:solidFill>
                <a:srgbClr val="00ACAC"/>
              </a:solidFill>
            </c:spPr>
          </c:dPt>
          <c:dPt>
            <c:idx val="5"/>
            <c:spPr>
              <a:solidFill>
                <a:srgbClr val="00ACAC"/>
              </a:solidFill>
            </c:spPr>
          </c:dPt>
          <c:dPt>
            <c:idx val="6"/>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612.665</c:v>
                </c:pt>
                <c:pt idx="1">
                  <c:v>88.07600000000002</c:v>
                </c:pt>
                <c:pt idx="2">
                  <c:v>98.952</c:v>
                </c:pt>
                <c:pt idx="3">
                  <c:v>111.082</c:v>
                </c:pt>
                <c:pt idx="4">
                  <c:v>124.60700000000008</c:v>
                </c:pt>
                <c:pt idx="5">
                  <c:v>139.673</c:v>
                </c:pt>
                <c:pt idx="6">
                  <c:v>1175.055</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9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468.539</c:v>
                </c:pt>
                <c:pt idx="2">
                  <c:v>492.91499999999996</c:v>
                </c:pt>
                <c:pt idx="3">
                  <c:v>517.957</c:v>
                </c:pt>
                <c:pt idx="4">
                  <c:v>543.591</c:v>
                </c:pt>
                <c:pt idx="5">
                  <c:v>569.72</c:v>
                </c:pt>
                <c:pt idx="6">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00ACAC"/>
              </a:solidFill>
            </c:spPr>
          </c:dPt>
          <c:dPt>
            <c:idx val="3"/>
            <c:spPr>
              <a:solidFill>
                <a:srgbClr val="00ACAC"/>
              </a:solidFill>
            </c:spPr>
          </c:dPt>
          <c:dPt>
            <c:idx val="4"/>
            <c:spPr>
              <a:solidFill>
                <a:srgbClr val="00ACAC"/>
              </a:solidFill>
            </c:spPr>
          </c:dPt>
          <c:dPt>
            <c:idx val="5"/>
            <c:spPr>
              <a:solidFill>
                <a:srgbClr val="00ACAC"/>
              </a:solidFill>
            </c:spPr>
          </c:dPt>
          <c:dPt>
            <c:idx val="6"/>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468.539</c:v>
                </c:pt>
                <c:pt idx="1">
                  <c:v>24.375999999999976</c:v>
                </c:pt>
                <c:pt idx="2">
                  <c:v>25.04200000000003</c:v>
                </c:pt>
                <c:pt idx="3">
                  <c:v>25.634000000000015</c:v>
                </c:pt>
                <c:pt idx="4">
                  <c:v>26.12900000000002</c:v>
                </c:pt>
                <c:pt idx="5">
                  <c:v>26.50999999999999</c:v>
                </c:pt>
                <c:pt idx="6">
                  <c:v>596.23</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9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705.717</c:v>
                </c:pt>
                <c:pt idx="2">
                  <c:v>746.3990000000001</c:v>
                </c:pt>
                <c:pt idx="3">
                  <c:v>788.839</c:v>
                </c:pt>
                <c:pt idx="4">
                  <c:v>833.029</c:v>
                </c:pt>
                <c:pt idx="5">
                  <c:v>878.95</c:v>
                </c:pt>
                <c:pt idx="6">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00ACAC"/>
              </a:solidFill>
            </c:spPr>
          </c:dPt>
          <c:dPt>
            <c:idx val="3"/>
            <c:spPr>
              <a:solidFill>
                <a:srgbClr val="00ACAC"/>
              </a:solidFill>
            </c:spPr>
          </c:dPt>
          <c:dPt>
            <c:idx val="4"/>
            <c:spPr>
              <a:solidFill>
                <a:srgbClr val="00ACAC"/>
              </a:solidFill>
            </c:spPr>
          </c:dPt>
          <c:dPt>
            <c:idx val="5"/>
            <c:spPr>
              <a:solidFill>
                <a:srgbClr val="00ACAC"/>
              </a:solidFill>
            </c:spPr>
          </c:dPt>
          <c:dPt>
            <c:idx val="6"/>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705.717</c:v>
                </c:pt>
                <c:pt idx="1">
                  <c:v>40.68200000000013</c:v>
                </c:pt>
                <c:pt idx="2">
                  <c:v>42.43999999999994</c:v>
                </c:pt>
                <c:pt idx="3">
                  <c:v>44.18999999999994</c:v>
                </c:pt>
                <c:pt idx="4">
                  <c:v>45.92100000000005</c:v>
                </c:pt>
                <c:pt idx="5">
                  <c:v>47.610999999999876</c:v>
                </c:pt>
                <c:pt idx="6">
                  <c:v>926.5609999999999</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9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212.20799999999997</c:v>
                </c:pt>
                <c:pt idx="2">
                  <c:v>232.18099999999998</c:v>
                </c:pt>
                <c:pt idx="3">
                  <c:v>254.063</c:v>
                </c:pt>
                <c:pt idx="4">
                  <c:v>278.045</c:v>
                </c:pt>
                <c:pt idx="5">
                  <c:v>304.327</c:v>
                </c:pt>
                <c:pt idx="6">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00ACAC"/>
              </a:solidFill>
            </c:spPr>
          </c:dPt>
          <c:dPt>
            <c:idx val="3"/>
            <c:spPr>
              <a:solidFill>
                <a:srgbClr val="00ACAC"/>
              </a:solidFill>
            </c:spPr>
          </c:dPt>
          <c:dPt>
            <c:idx val="4"/>
            <c:spPr>
              <a:solidFill>
                <a:srgbClr val="00ACAC"/>
              </a:solidFill>
            </c:spPr>
          </c:dPt>
          <c:dPt>
            <c:idx val="5"/>
            <c:spPr>
              <a:solidFill>
                <a:srgbClr val="00ACAC"/>
              </a:solidFill>
            </c:spPr>
          </c:dPt>
          <c:dPt>
            <c:idx val="6"/>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212.20799999999997</c:v>
                </c:pt>
                <c:pt idx="1">
                  <c:v>19.973000000000013</c:v>
                </c:pt>
                <c:pt idx="2">
                  <c:v>21.882000000000005</c:v>
                </c:pt>
                <c:pt idx="3">
                  <c:v>23.982000000000028</c:v>
                </c:pt>
                <c:pt idx="4">
                  <c:v>26.281999999999982</c:v>
                </c:pt>
                <c:pt idx="5">
                  <c:v>28.81099999999998</c:v>
                </c:pt>
                <c:pt idx="6">
                  <c:v>333.138</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9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378.796</c:v>
                </c:pt>
                <c:pt idx="2">
                  <c:v>419.209</c:v>
                </c:pt>
                <c:pt idx="3">
                  <c:v>463.832</c:v>
                </c:pt>
                <c:pt idx="4">
                  <c:v>513.099</c:v>
                </c:pt>
                <c:pt idx="5">
                  <c:v>567.487</c:v>
                </c:pt>
                <c:pt idx="6">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00ACAC"/>
              </a:solidFill>
            </c:spPr>
          </c:dPt>
          <c:dPt>
            <c:idx val="3"/>
            <c:spPr>
              <a:solidFill>
                <a:srgbClr val="00ACAC"/>
              </a:solidFill>
            </c:spPr>
          </c:dPt>
          <c:dPt>
            <c:idx val="4"/>
            <c:spPr>
              <a:solidFill>
                <a:srgbClr val="00ACAC"/>
              </a:solidFill>
            </c:spPr>
          </c:dPt>
          <c:dPt>
            <c:idx val="5"/>
            <c:spPr>
              <a:solidFill>
                <a:srgbClr val="00ACAC"/>
              </a:solidFill>
            </c:spPr>
          </c:dPt>
          <c:dPt>
            <c:idx val="6"/>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378.796</c:v>
                </c:pt>
                <c:pt idx="1">
                  <c:v>40.41300000000001</c:v>
                </c:pt>
                <c:pt idx="2">
                  <c:v>44.62299999999999</c:v>
                </c:pt>
                <c:pt idx="3">
                  <c:v>49.26700000000005</c:v>
                </c:pt>
                <c:pt idx="4">
                  <c:v>54.38799999999992</c:v>
                </c:pt>
                <c:pt idx="5">
                  <c:v>60.03600000000006</c:v>
                </c:pt>
                <c:pt idx="6">
                  <c:v>627.523</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9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Dietary Supplements &amp; Nutraceuticals</c:v>
                </c:pt>
              </c:strCache>
            </c:strRef>
          </c:tx>
          <c:spPr>
            <a:solidFill>
              <a:srgbClr val="2A5F8F"/>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35.09421446932717</c:v>
                </c:pt>
                <c:pt idx="1">
                  <c:v>34.036275090168985</c:v>
                </c:pt>
                <c:pt idx="2">
                  <c:v>31.807731909186003</c:v>
                </c:pt>
              </c:numCache>
            </c:numRef>
          </c:val>
        </c:ser>
        <c:ser>
          <c:idx val="1"/>
          <c:order val="1"/>
          <c:tx>
            <c:strRef>
              <c:strCache>
                <c:ptCount val="1"/>
                <c:pt idx="0">
                  <c:v>Functional Food &amp; Beverages</c:v>
                </c:pt>
              </c:strCache>
            </c:strRef>
          </c:tx>
          <c:spPr>
            <a:solidFill>
              <a:srgbClr val="0081E2"/>
            </a:solidFill>
            <a:ln>
              <a:noFill/>
            </a:ln>
          </c:spPr>
          <c:dLbls>
            <c:dLbl>
              <c:idx val="0"/>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14.645537872283365</c:v>
                </c:pt>
                <c:pt idx="1">
                  <c:v>16.995349105578022</c:v>
                </c:pt>
                <c:pt idx="2">
                  <c:v>21.902285708747158</c:v>
                </c:pt>
              </c:numCache>
            </c:numRef>
          </c:val>
        </c:ser>
        <c:ser>
          <c:idx val="2"/>
          <c:order val="2"/>
          <c:tx>
            <c:strRef>
              <c:strCache>
                <c:ptCount val="1"/>
                <c:pt idx="0">
                  <c:v>Pharmaceuticals &amp; Biomedical</c:v>
                </c:pt>
              </c:strCache>
            </c:strRef>
          </c:tx>
          <c:spPr>
            <a:solidFill>
              <a:srgbClr val="0E2A5C"/>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20.690177050426726</c:v>
                </c:pt>
                <c:pt idx="1">
                  <c:v>19.57661492780101</c:v>
                </c:pt>
                <c:pt idx="2">
                  <c:v>17.270513932184002</c:v>
                </c:pt>
              </c:numCache>
            </c:numRef>
          </c:val>
        </c:ser>
        <c:ser>
          <c:idx val="3"/>
          <c:order val="3"/>
          <c:tx>
            <c:strRef>
              <c:strCache>
                <c:ptCount val="1"/>
                <c:pt idx="0">
                  <c:v>Industrial &amp; Biomaterials</c:v>
                </c:pt>
              </c:strCache>
            </c:strRef>
          </c:tx>
          <c:spPr>
            <a:solidFill>
              <a:srgbClr val="00ACAC"/>
            </a:solidFill>
            <a:ln>
              <a:noFill/>
            </a:ln>
          </c:spPr>
          <c:dLbls>
            <c:dLbl>
              <c:idx val="0"/>
              <c:numFmt formatCode="&quot;MMM&quot;;&quot;MMM&quot;;&quot;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9.935270067157957</c:v>
                </c:pt>
                <c:pt idx="1">
                  <c:v>10.507814645518405</c:v>
                </c:pt>
                <c:pt idx="2">
                  <c:v>11.69663380421354</c:v>
                </c:pt>
              </c:numCache>
            </c:numRef>
          </c:val>
        </c:ser>
        <c:ser>
          <c:idx val="4"/>
          <c:order val="4"/>
          <c:tx>
            <c:strRef>
              <c:strCache>
                <c:ptCount val="1"/>
                <c:pt idx="0">
                  <c:v>Cosmetics &amp; Personal Care</c:v>
                </c:pt>
              </c:strCache>
            </c:strRef>
          </c:tx>
          <c:spPr>
            <a:solidFill>
              <a:srgbClr val="F47620"/>
            </a:solidFill>
            <a:ln>
              <a:noFill/>
            </a:ln>
          </c:spPr>
          <c:dLbls>
            <c:dLbl>
              <c:idx val="0"/>
              <c:numFmt formatCode="&quot;MMMM&quot;;&quot;MMMM&quot;;&quot;MMMM&quot;" sourceLinked="0"/>
              <c:spPr>
                <a:blipFill>
                  <a:blip r:embed="rId1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1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13.898709111727484</c:v>
                </c:pt>
                <c:pt idx="1">
                  <c:v>12.997288688889395</c:v>
                </c:pt>
                <c:pt idx="2">
                  <c:v>11.113351977674506</c:v>
                </c:pt>
              </c:numCache>
            </c:numRef>
          </c:val>
        </c:ser>
        <c:ser>
          <c:idx val="5"/>
          <c:order val="5"/>
          <c:tx>
            <c:strRef>
              <c:strCache>
                <c:ptCount val="1"/>
                <c:pt idx="0">
                  <c:v>Animal Nutrition &amp; Pet Care</c:v>
                </c:pt>
              </c:strCache>
            </c:strRef>
          </c:tx>
          <c:spPr>
            <a:solidFill>
              <a:srgbClr val="79C3EC"/>
            </a:solidFill>
            <a:ln>
              <a:noFill/>
            </a:ln>
          </c:spPr>
          <c:dLbls>
            <c:dLbl>
              <c:idx val="0"/>
              <c:numFmt formatCode="&quot;MMM&quot;;&quot;MMM&quot;;&quot;MMM&quot;" sourceLinked="0"/>
              <c:spPr>
                <a:blipFill>
                  <a:blip r:embed="rId1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1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2E2E2E"/>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5.736091429077305</c:v>
                </c:pt>
                <c:pt idx="1">
                  <c:v>5.886657542044185</c:v>
                </c:pt>
                <c:pt idx="2">
                  <c:v>6.209482667994783</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0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Direct</c:v>
                </c:pt>
              </c:strCache>
            </c:strRef>
          </c:tx>
          <c:spPr>
            <a:solidFill>
              <a:srgbClr val="2A5F8F"/>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59.40756202986223</c:v>
                </c:pt>
                <c:pt idx="1">
                  <c:v>57.82407179596623</c:v>
                </c:pt>
              </c:numCache>
            </c:numRef>
          </c:val>
        </c:ser>
        <c:ser>
          <c:idx val="1"/>
          <c:order val="1"/>
          <c:tx>
            <c:strRef>
              <c:strCache>
                <c:ptCount val="1"/>
                <c:pt idx="0">
                  <c:v>Distributors &amp; Traders</c:v>
                </c:pt>
              </c:strCache>
            </c:strRef>
          </c:tx>
          <c:spPr>
            <a:solidFill>
              <a:srgbClr val="0081E2"/>
            </a:solidFill>
            <a:ln>
              <a:noFill/>
            </a:ln>
          </c:spPr>
          <c:dLbls>
            <c:dLbl>
              <c:idx val="0"/>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40.59243797013777</c:v>
                </c:pt>
                <c:pt idx="1">
                  <c:v>42.17592820403377</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tickLblSkip val="1"/>
        <c:noMultiLvlLbl val="0"/>
      </c:catAx>
      <c:valAx>
        <c:axId val="-2113994440"/>
        <c:scaling>
          <c:max val="100.0"/>
          <c:min val="0.0"/>
        </c:scaling>
        <c:delete val="0"/>
        <c:axPos val="b"/>
        <c:numFmt formatCode="0&quot;%&quot;" sourceLinked="0"/>
        <c:majorTickMark val="out"/>
        <c:minorTickMark val="none"/>
        <c:tickLblPos val="nextTo"/>
        <c:spPr>
          <a:ln>
            <a:solidFill>
              <a:srgbClr val="C9D6E4"/>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101.xml><?xml version="1.0" encoding="utf-8"?>
<c:chartSpace xmlns:c="http://schemas.openxmlformats.org/drawingml/2006/chart" xmlns:a="http://schemas.openxmlformats.org/drawingml/2006/main" xmlns:r="http://schemas.openxmlformats.org/officeDocument/2006/relationships">
  <c:chart>
    <c:autoTitleDeleted val="1"/>
    <c:plotArea>
      <c:layout/>
      <c:bubbleChart>
        <c:varyColors val="0"/>
        <c:ser>
          <c:idx val="0"/>
          <c:order val="0"/>
          <c:tx>
            <c:strRef>
              <c:strCache>
                <c:ptCount val="1"/>
                <c:pt idx="0">
                  <c:v>Direct</c:v>
                </c:pt>
              </c:strCache>
            </c:strRef>
          </c:tx>
          <c:spPr>
            <a:solidFill>
              <a:srgbClr val="2A5F8F"/>
            </a:solidFill>
          </c:spPr>
          <c:invertIfNegative val="0"/>
          <c:xVal>
            <c:numRef>
              <c:numCache>
                <c:formatCode>General</c:formatCode>
                <c:ptCount val="1"/>
                <c:pt idx="0">
                  <c:v>100.80139642772608</c:v>
                </c:pt>
              </c:numCache>
            </c:numRef>
          </c:xVal>
          <c:yVal>
            <c:numRef>
              <c:numCache>
                <c:formatCode>General</c:formatCode>
                <c:ptCount val="1"/>
                <c:pt idx="0">
                  <c:v>116.31591240584338</c:v>
                </c:pt>
              </c:numCache>
            </c:numRef>
          </c:yVal>
          <c:bubbleSize>
            <c:numRef>
              <c:numCache>
                <c:formatCode>General</c:formatCode>
                <c:ptCount val="1"/>
                <c:pt idx="0">
                  <c:v>3129.928</c:v>
                </c:pt>
              </c:numCache>
            </c:numRef>
          </c:bubbleSize>
          <c:bubble3D val="0"/>
        </c:ser>
        <c:ser>
          <c:idx val="1"/>
          <c:order val="1"/>
          <c:tx>
            <c:strRef>
              <c:strCache>
                <c:ptCount val="1"/>
                <c:pt idx="0">
                  <c:v>Distributors &amp; Traders</c:v>
                </c:pt>
              </c:strCache>
            </c:strRef>
          </c:tx>
          <c:spPr>
            <a:solidFill>
              <a:srgbClr val="0081E2"/>
            </a:solidFill>
          </c:spPr>
          <c:invertIfNegative val="0"/>
          <c:xVal>
            <c:numRef>
              <c:numCache>
                <c:formatCode>General</c:formatCode>
                <c:ptCount val="1"/>
                <c:pt idx="0">
                  <c:v>98.88235084330609</c:v>
                </c:pt>
              </c:numCache>
            </c:numRef>
          </c:xVal>
          <c:yVal>
            <c:numRef>
              <c:numCache>
                <c:formatCode>General</c:formatCode>
                <c:ptCount val="1"/>
                <c:pt idx="0">
                  <c:v>83.68408759415662</c:v>
                </c:pt>
              </c:numCache>
            </c:numRef>
          </c:yVal>
          <c:bubbleSize>
            <c:numRef>
              <c:numCache>
                <c:formatCode>General</c:formatCode>
                <c:ptCount val="1"/>
                <c:pt idx="0">
                  <c:v>2235.06</c:v>
                </c:pt>
              </c:numCache>
            </c:numRef>
          </c:bubbleSize>
          <c:bubble3D val="0"/>
        </c:ser>
        <c:dLbls>
          <c:showLegendKey val="0"/>
          <c:showVal val="0"/>
          <c:showCatName val="0"/>
          <c:showSerName val="0"/>
          <c:showPercent val="0"/>
          <c:showBubbleSize val="0"/>
        </c:dLbls>
        <c:bubbleScale val="55"/>
        <c:showNegBubbles val="0"/>
        <c:axId val="-2115720072"/>
        <c:axId val="-2115723560"/>
      </c:bubbleChart>
      <c:valAx>
        <c:axId val="-2115720072"/>
        <c:scaling>
          <c:orientation val="minMax"/>
          <c:max val="110.0"/>
          <c:min val="90.0"/>
        </c:scaling>
        <c:delete val="0"/>
        <c:axPos val="b"/>
        <c:title>
          <c:tx>
            <c:rich>
              <a:bodyPr/>
              <a:lstStyle/>
              <a:p>
                <a:r>
                  <a:rPr sz="1100" b="0">
                    <a:solidFill>
                      <a:srgbClr val="6C7A89"/>
                    </a:solidFill>
                    <a:latin typeface="Calibri"/>
                  </a:rPr>
                  <a:t>CAGR Index (100 = segment average growth)</a:t>
                </a:r>
              </a:p>
            </c:rich>
          </c:tx>
          <c:layout/>
          <c:overlay val="0"/>
        </c:title>
        <c:numFmt formatCode="General" sourceLinked="1"/>
        <c:majorTickMark val="out"/>
        <c:minorTickMark val="none"/>
        <c:tickLblPos val="nextTo"/>
        <c:spPr>
          <a:ln>
            <a:solidFill>
              <a:srgbClr val="C9D6E4"/>
            </a:solidFill>
          </a:ln>
        </c:spPr>
        <c:txPr>
          <a:bodyPr/>
          <a:lstStyle/>
          <a:p>
            <a:pPr>
              <a:defRPr sz="1100"/>
            </a:pPr>
          </a:p>
        </c:txPr>
        <c:crossAx val="-2115723560"/>
        <c:crosses val="autoZero"/>
        <c:crossBetween val="midCat"/>
      </c:valAx>
      <c:valAx>
        <c:axId val="-2115723560"/>
        <c:scaling>
          <c:orientation val="minMax"/>
          <c:max val="130.0"/>
          <c:min val="70.0"/>
        </c:scaling>
        <c:delete val="0"/>
        <c:axPos val="l"/>
        <c:title>
          <c:tx>
            <c:rich>
              <a:bodyPr/>
              <a:lstStyle/>
              <a:p>
                <a:r>
                  <a:rPr sz="1100" b="0">
                    <a:solidFill>
                      <a:srgbClr val="6C7A89"/>
                    </a:solidFill>
                    <a:latin typeface="Calibri"/>
                  </a:rPr>
                  <a:t>Market Share Index (100 = equal share)</a:t>
                </a:r>
              </a:p>
            </c:rich>
          </c:tx>
          <c:layout/>
          <c:overlay val="0"/>
        </c:title>
        <c:numFmt formatCode="General" sourceLinked="1"/>
        <c:majorTickMark val="out"/>
        <c:minorTickMark val="none"/>
        <c:tickLblPos val="none"/>
        <c:spPr>
          <a:ln>
            <a:solidFill>
              <a:srgbClr val="C9D6E4"/>
            </a:solidFill>
          </a:ln>
        </c:spPr>
        <c:txPr>
          <a:bodyPr/>
          <a:lstStyle/>
          <a:p>
            <a:pPr>
              <a:defRPr sz="1100"/>
            </a:pPr>
          </a:p>
        </c:txPr>
        <c:crossAx val="-2115720072"/>
        <c:crosses val="autoZero"/>
        <c:crossBetween val="midCat"/>
      </c:valAx>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lang="en-US"/>
    </a:p>
  </c:txPr>
</c:chartSpace>
</file>

<file path=ppt/charts/chart10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2096.535</c:v>
                </c:pt>
                <c:pt idx="2">
                  <c:v>2271.285</c:v>
                </c:pt>
                <c:pt idx="3">
                  <c:v>2460.706</c:v>
                </c:pt>
                <c:pt idx="4">
                  <c:v>2666.036</c:v>
                </c:pt>
                <c:pt idx="5">
                  <c:v>2888.623</c:v>
                </c:pt>
                <c:pt idx="6">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00ACAC"/>
              </a:solidFill>
            </c:spPr>
          </c:dPt>
          <c:dPt>
            <c:idx val="3"/>
            <c:spPr>
              <a:solidFill>
                <a:srgbClr val="00ACAC"/>
              </a:solidFill>
            </c:spPr>
          </c:dPt>
          <c:dPt>
            <c:idx val="4"/>
            <c:spPr>
              <a:solidFill>
                <a:srgbClr val="00ACAC"/>
              </a:solidFill>
            </c:spPr>
          </c:dPt>
          <c:dPt>
            <c:idx val="5"/>
            <c:spPr>
              <a:solidFill>
                <a:srgbClr val="00ACAC"/>
              </a:solidFill>
            </c:spPr>
          </c:dPt>
          <c:dPt>
            <c:idx val="6"/>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2096.535</c:v>
                </c:pt>
                <c:pt idx="1">
                  <c:v>174.75</c:v>
                </c:pt>
                <c:pt idx="2">
                  <c:v>189.42100000000028</c:v>
                </c:pt>
                <c:pt idx="3">
                  <c:v>205.32999999999993</c:v>
                </c:pt>
                <c:pt idx="4">
                  <c:v>222.587</c:v>
                </c:pt>
                <c:pt idx="5">
                  <c:v>241.30499999999984</c:v>
                </c:pt>
                <c:pt idx="6">
                  <c:v>3129.928</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0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1508.363</c:v>
                </c:pt>
                <c:pt idx="2">
                  <c:v>1631.653</c:v>
                </c:pt>
                <c:pt idx="3">
                  <c:v>1765.09</c:v>
                </c:pt>
                <c:pt idx="4">
                  <c:v>1909.517</c:v>
                </c:pt>
                <c:pt idx="5">
                  <c:v>2065.844</c:v>
                </c:pt>
                <c:pt idx="6">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00ACAC"/>
              </a:solidFill>
            </c:spPr>
          </c:dPt>
          <c:dPt>
            <c:idx val="3"/>
            <c:spPr>
              <a:solidFill>
                <a:srgbClr val="00ACAC"/>
              </a:solidFill>
            </c:spPr>
          </c:dPt>
          <c:dPt>
            <c:idx val="4"/>
            <c:spPr>
              <a:solidFill>
                <a:srgbClr val="00ACAC"/>
              </a:solidFill>
            </c:spPr>
          </c:dPt>
          <c:dPt>
            <c:idx val="5"/>
            <c:spPr>
              <a:solidFill>
                <a:srgbClr val="00ACAC"/>
              </a:solidFill>
            </c:spPr>
          </c:dPt>
          <c:dPt>
            <c:idx val="6"/>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1508.363</c:v>
                </c:pt>
                <c:pt idx="1">
                  <c:v>123.28999999999996</c:v>
                </c:pt>
                <c:pt idx="2">
                  <c:v>133.4369999999999</c:v>
                </c:pt>
                <c:pt idx="3">
                  <c:v>144.42700000000013</c:v>
                </c:pt>
                <c:pt idx="4">
                  <c:v>156.327</c:v>
                </c:pt>
                <c:pt idx="5">
                  <c:v>169.2159999999999</c:v>
                </c:pt>
                <c:pt idx="6">
                  <c:v>2235.06</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0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Direct</c:v>
                </c:pt>
              </c:strCache>
            </c:strRef>
          </c:tx>
          <c:spPr>
            <a:solidFill>
              <a:srgbClr val="2A5F8F"/>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58.0673844849954</c:v>
                </c:pt>
                <c:pt idx="1">
                  <c:v>58.15795620292169</c:v>
                </c:pt>
                <c:pt idx="2">
                  <c:v>58.339888178687445</c:v>
                </c:pt>
              </c:numCache>
            </c:numRef>
          </c:val>
        </c:ser>
        <c:ser>
          <c:idx val="1"/>
          <c:order val="1"/>
          <c:tx>
            <c:strRef>
              <c:strCache>
                <c:ptCount val="1"/>
                <c:pt idx="0">
                  <c:v>Distributors &amp; Traders</c:v>
                </c:pt>
              </c:strCache>
            </c:strRef>
          </c:tx>
          <c:spPr>
            <a:solidFill>
              <a:srgbClr val="0081E2"/>
            </a:solidFill>
            <a:ln>
              <a:noFill/>
            </a:ln>
          </c:spPr>
          <c:dLbls>
            <c:dLbl>
              <c:idx val="0"/>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41.9326155150046</c:v>
                </c:pt>
                <c:pt idx="1">
                  <c:v>41.84204379707831</c:v>
                </c:pt>
                <c:pt idx="2">
                  <c:v>41.660111821312555</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0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Chicken Eggshell Membrane</c:v>
                </c:pt>
              </c:strCache>
            </c:strRef>
          </c:tx>
          <c:spPr>
            <a:solidFill>
              <a:srgbClr val="2A5F8F"/>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Micronized Eggshell Membrane</c:v>
                </c:pt>
                <c:pt idx="1">
                  <c:v>Hydrolyzed Eggshell Membrane</c:v>
                </c:pt>
                <c:pt idx="2">
                  <c:v>Specialty Extracted Protein Fractions</c:v>
                </c:pt>
              </c:strCache>
            </c:strRef>
          </c:cat>
          <c:val>
            <c:numRef>
              <c:numCache>
                <c:formatCode>General</c:formatCode>
                <c:ptCount val="3"/>
                <c:pt idx="0">
                  <c:v>80.11812268647972</c:v>
                </c:pt>
                <c:pt idx="1">
                  <c:v>80.11813923219485</c:v>
                </c:pt>
                <c:pt idx="2">
                  <c:v>80.11813923219485</c:v>
                </c:pt>
              </c:numCache>
            </c:numRef>
          </c:val>
        </c:ser>
        <c:ser>
          <c:idx val="1"/>
          <c:order val="1"/>
          <c:tx>
            <c:strRef>
              <c:strCache>
                <c:ptCount val="1"/>
                <c:pt idx="0">
                  <c:v>Other Poultry Eggshell Membrane</c:v>
                </c:pt>
              </c:strCache>
            </c:strRef>
          </c:tx>
          <c:spPr>
            <a:solidFill>
              <a:srgbClr val="0081E2"/>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Micronized Eggshell Membrane</c:v>
                </c:pt>
                <c:pt idx="1">
                  <c:v>Hydrolyzed Eggshell Membrane</c:v>
                </c:pt>
                <c:pt idx="2">
                  <c:v>Specialty Extracted Protein Fractions</c:v>
                </c:pt>
              </c:strCache>
            </c:strRef>
          </c:cat>
          <c:val>
            <c:numRef>
              <c:numCache>
                <c:formatCode>General</c:formatCode>
                <c:ptCount val="3"/>
                <c:pt idx="0">
                  <c:v>19.88187731352028</c:v>
                </c:pt>
                <c:pt idx="1">
                  <c:v>19.881860767805147</c:v>
                </c:pt>
                <c:pt idx="2">
                  <c:v>19.881860767805147</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9D6E4"/>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10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Functional Food &amp; Beverages</c:v>
                </c:pt>
              </c:strCache>
            </c:strRef>
          </c:tx>
          <c:spPr>
            <a:solidFill>
              <a:srgbClr val="2A5F8F"/>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Micronized Eggshell Membrane</c:v>
                </c:pt>
                <c:pt idx="1">
                  <c:v>Hydrolyzed Eggshell Membrane</c:v>
                </c:pt>
                <c:pt idx="2">
                  <c:v>Specialty Extracted Protein Fractions</c:v>
                </c:pt>
              </c:strCache>
            </c:strRef>
          </c:cat>
          <c:val>
            <c:numRef>
              <c:numCache>
                <c:formatCode>General</c:formatCode>
                <c:ptCount val="3"/>
                <c:pt idx="0">
                  <c:v>15.546190514233974</c:v>
                </c:pt>
                <c:pt idx="1">
                  <c:v>15.546260796765734</c:v>
                </c:pt>
                <c:pt idx="2">
                  <c:v>15.546260796765734</c:v>
                </c:pt>
              </c:numCache>
            </c:numRef>
          </c:val>
        </c:ser>
        <c:ser>
          <c:idx val="1"/>
          <c:order val="1"/>
          <c:tx>
            <c:strRef>
              <c:strCache>
                <c:ptCount val="1"/>
                <c:pt idx="0">
                  <c:v>Industrial &amp; Biomaterials</c:v>
                </c:pt>
              </c:strCache>
            </c:strRef>
          </c:tx>
          <c:spPr>
            <a:solidFill>
              <a:srgbClr val="0081E2"/>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Micronized Eggshell Membrane</c:v>
                </c:pt>
                <c:pt idx="1">
                  <c:v>Hydrolyzed Eggshell Membrane</c:v>
                </c:pt>
                <c:pt idx="2">
                  <c:v>Specialty Extracted Protein Fractions</c:v>
                </c:pt>
              </c:strCache>
            </c:strRef>
          </c:cat>
          <c:val>
            <c:numRef>
              <c:numCache>
                <c:formatCode>General</c:formatCode>
                <c:ptCount val="3"/>
                <c:pt idx="0">
                  <c:v>9.611844558067693</c:v>
                </c:pt>
                <c:pt idx="1">
                  <c:v>9.611836559082516</c:v>
                </c:pt>
                <c:pt idx="2">
                  <c:v>9.611836559082516</c:v>
                </c:pt>
              </c:numCache>
            </c:numRef>
          </c:val>
        </c:ser>
        <c:ser>
          <c:idx val="2"/>
          <c:order val="2"/>
          <c:tx>
            <c:strRef>
              <c:strCache>
                <c:ptCount val="1"/>
                <c:pt idx="0">
                  <c:v>Dietary Supplements &amp; Nutraceuticals | Joint &amp; Bone Health</c:v>
                </c:pt>
              </c:strCache>
            </c:strRef>
          </c:tx>
          <c:spPr>
            <a:solidFill>
              <a:srgbClr val="0E2A5C"/>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Micronized Eggshell Membrane</c:v>
                </c:pt>
                <c:pt idx="1">
                  <c:v>Hydrolyzed Eggshell Membrane</c:v>
                </c:pt>
                <c:pt idx="2">
                  <c:v>Specialty Extracted Protein Fractions</c:v>
                </c:pt>
              </c:strCache>
            </c:strRef>
          </c:cat>
          <c:val>
            <c:numRef>
              <c:numCache>
                <c:formatCode>General</c:formatCode>
                <c:ptCount val="3"/>
                <c:pt idx="0">
                  <c:v>8.31577388085537</c:v>
                </c:pt>
                <c:pt idx="1">
                  <c:v>8.315766960461305</c:v>
                </c:pt>
                <c:pt idx="2">
                  <c:v>8.315766960461305</c:v>
                </c:pt>
              </c:numCache>
            </c:numRef>
          </c:val>
        </c:ser>
        <c:ser>
          <c:idx val="3"/>
          <c:order val="3"/>
          <c:tx>
            <c:strRef>
              <c:strCache>
                <c:ptCount val="1"/>
                <c:pt idx="0">
                  <c:v>Dietary Supplements &amp; Nutraceuticals | Others</c:v>
                </c:pt>
              </c:strCache>
            </c:strRef>
          </c:tx>
          <c:spPr>
            <a:solidFill>
              <a:srgbClr val="00ACAC"/>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Micronized Eggshell Membrane</c:v>
                </c:pt>
                <c:pt idx="1">
                  <c:v>Hydrolyzed Eggshell Membrane</c:v>
                </c:pt>
                <c:pt idx="2">
                  <c:v>Specialty Extracted Protein Fractions</c:v>
                </c:pt>
              </c:strCache>
            </c:strRef>
          </c:cat>
          <c:val>
            <c:numRef>
              <c:numCache>
                <c:formatCode>General</c:formatCode>
                <c:ptCount val="3"/>
                <c:pt idx="0">
                  <c:v>8.31577388085537</c:v>
                </c:pt>
                <c:pt idx="1">
                  <c:v>8.315766960461305</c:v>
                </c:pt>
                <c:pt idx="2">
                  <c:v>8.315766960461305</c:v>
                </c:pt>
              </c:numCache>
            </c:numRef>
          </c:val>
        </c:ser>
        <c:ser>
          <c:idx val="4"/>
          <c:order val="4"/>
          <c:tx>
            <c:strRef>
              <c:strCache>
                <c:ptCount val="1"/>
                <c:pt idx="0">
                  <c:v>Dietary Supplements &amp; Nutraceuticals | Skin, Hair &amp; Nail Health</c:v>
                </c:pt>
              </c:strCache>
            </c:strRef>
          </c:tx>
          <c:spPr>
            <a:solidFill>
              <a:srgbClr val="F47620"/>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Micronized Eggshell Membrane</c:v>
                </c:pt>
                <c:pt idx="1">
                  <c:v>Hydrolyzed Eggshell Membrane</c:v>
                </c:pt>
                <c:pt idx="2">
                  <c:v>Specialty Extracted Protein Fractions</c:v>
                </c:pt>
              </c:strCache>
            </c:strRef>
          </c:cat>
          <c:val>
            <c:numRef>
              <c:numCache>
                <c:formatCode>General</c:formatCode>
                <c:ptCount val="3"/>
                <c:pt idx="0">
                  <c:v>8.31577388085537</c:v>
                </c:pt>
                <c:pt idx="1">
                  <c:v>8.315766960461305</c:v>
                </c:pt>
                <c:pt idx="2">
                  <c:v>8.315766960461305</c:v>
                </c:pt>
              </c:numCache>
            </c:numRef>
          </c:val>
        </c:ser>
        <c:ser>
          <c:idx val="5"/>
          <c:order val="5"/>
          <c:tx>
            <c:strRef>
              <c:strCache>
                <c:ptCount val="1"/>
                <c:pt idx="0">
                  <c:v>Cosmetics &amp; Personal Care | Hair Care</c:v>
                </c:pt>
              </c:strCache>
            </c:strRef>
          </c:tx>
          <c:spPr>
            <a:solidFill>
              <a:srgbClr val="79C3EC"/>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2E2E2E"/>
                    </a:solidFill>
                    <a:latin typeface="Calibri"/>
                  </a:defRPr>
                </a:pPr>
              </a:p>
            </c:txPr>
            <c:dLblPos val="ctr"/>
            <c:showLegendKey val="0"/>
            <c:showVal val="1"/>
            <c:showCatName val="0"/>
            <c:showSerName val="0"/>
            <c:showPercent val="0"/>
            <c:showBubbleSize val="0"/>
            <c:showLeaderLines val="1"/>
          </c:dLbls>
          <c:cat>
            <c:strRef>
              <c:strCache>
                <c:ptCount val="3"/>
                <c:pt idx="0">
                  <c:v>Micronized Eggshell Membrane</c:v>
                </c:pt>
                <c:pt idx="1">
                  <c:v>Hydrolyzed Eggshell Membrane</c:v>
                </c:pt>
                <c:pt idx="2">
                  <c:v>Specialty Extracted Protein Fractions</c:v>
                </c:pt>
              </c:strCache>
            </c:strRef>
          </c:cat>
          <c:val>
            <c:numRef>
              <c:numCache>
                <c:formatCode>General</c:formatCode>
                <c:ptCount val="3"/>
                <c:pt idx="0">
                  <c:v>8.31577388085537</c:v>
                </c:pt>
                <c:pt idx="1">
                  <c:v>8.315766960461305</c:v>
                </c:pt>
                <c:pt idx="2">
                  <c:v>8.315766960461305</c:v>
                </c:pt>
              </c:numCache>
            </c:numRef>
          </c:val>
        </c:ser>
        <c:ser>
          <c:idx val="6"/>
          <c:order val="6"/>
          <c:tx>
            <c:strRef>
              <c:strCache>
                <c:ptCount val="1"/>
                <c:pt idx="0">
                  <c:v>Cosmetics &amp; Personal Care | Skin Care</c:v>
                </c:pt>
              </c:strCache>
            </c:strRef>
          </c:tx>
          <c:spPr>
            <a:solidFill>
              <a:srgbClr val="586272"/>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Micronized Eggshell Membrane</c:v>
                </c:pt>
                <c:pt idx="1">
                  <c:v>Hydrolyzed Eggshell Membrane</c:v>
                </c:pt>
                <c:pt idx="2">
                  <c:v>Specialty Extracted Protein Fractions</c:v>
                </c:pt>
              </c:strCache>
            </c:strRef>
          </c:cat>
          <c:val>
            <c:numRef>
              <c:numCache>
                <c:formatCode>General</c:formatCode>
                <c:ptCount val="3"/>
                <c:pt idx="0">
                  <c:v>8.31577388085537</c:v>
                </c:pt>
                <c:pt idx="1">
                  <c:v>8.315766960461305</c:v>
                </c:pt>
                <c:pt idx="2">
                  <c:v>8.315766960461305</c:v>
                </c:pt>
              </c:numCache>
            </c:numRef>
          </c:val>
        </c:ser>
        <c:ser>
          <c:idx val="7"/>
          <c:order val="7"/>
          <c:tx>
            <c:strRef>
              <c:strCache>
                <c:ptCount val="1"/>
                <c:pt idx="0">
                  <c:v>Pharmaceuticals &amp; Biomedical | Wound Care &amp; Dressings</c:v>
                </c:pt>
              </c:strCache>
            </c:strRef>
          </c:tx>
          <c:spPr>
            <a:solidFill>
              <a:srgbClr val="1F476B"/>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Micronized Eggshell Membrane</c:v>
                </c:pt>
                <c:pt idx="1">
                  <c:v>Hydrolyzed Eggshell Membrane</c:v>
                </c:pt>
                <c:pt idx="2">
                  <c:v>Specialty Extracted Protein Fractions</c:v>
                </c:pt>
              </c:strCache>
            </c:strRef>
          </c:cat>
          <c:val>
            <c:numRef>
              <c:numCache>
                <c:formatCode>General</c:formatCode>
                <c:ptCount val="3"/>
                <c:pt idx="0">
                  <c:v>8.31577388085537</c:v>
                </c:pt>
                <c:pt idx="1">
                  <c:v>8.315766960461305</c:v>
                </c:pt>
                <c:pt idx="2">
                  <c:v>8.315766960461305</c:v>
                </c:pt>
              </c:numCache>
            </c:numRef>
          </c:val>
        </c:ser>
        <c:ser>
          <c:idx val="8"/>
          <c:order val="8"/>
          <c:tx>
            <c:strRef>
              <c:strCache>
                <c:ptCount val="1"/>
                <c:pt idx="0">
                  <c:v>Pharmaceuticals &amp; Biomedical | Tissue Engineering &amp; Drug Delivery</c:v>
                </c:pt>
              </c:strCache>
            </c:strRef>
          </c:tx>
          <c:spPr>
            <a:solidFill>
              <a:srgbClr val="BCBEC0"/>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2E2E2E"/>
                    </a:solidFill>
                    <a:latin typeface="Calibri"/>
                  </a:defRPr>
                </a:pPr>
              </a:p>
            </c:txPr>
            <c:dLblPos val="ctr"/>
            <c:showLegendKey val="0"/>
            <c:showVal val="1"/>
            <c:showCatName val="0"/>
            <c:showSerName val="0"/>
            <c:showPercent val="0"/>
            <c:showBubbleSize val="0"/>
            <c:showLeaderLines val="1"/>
          </c:dLbls>
          <c:cat>
            <c:strRef>
              <c:strCache>
                <c:ptCount val="3"/>
                <c:pt idx="0">
                  <c:v>Micronized Eggshell Membrane</c:v>
                </c:pt>
                <c:pt idx="1">
                  <c:v>Hydrolyzed Eggshell Membrane</c:v>
                </c:pt>
                <c:pt idx="2">
                  <c:v>Specialty Extracted Protein Fractions</c:v>
                </c:pt>
              </c:strCache>
            </c:strRef>
          </c:cat>
          <c:val>
            <c:numRef>
              <c:numCache>
                <c:formatCode>General</c:formatCode>
                <c:ptCount val="3"/>
                <c:pt idx="0">
                  <c:v>8.31577388085537</c:v>
                </c:pt>
                <c:pt idx="1">
                  <c:v>8.315766960461305</c:v>
                </c:pt>
                <c:pt idx="2">
                  <c:v>8.315766960461305</c:v>
                </c:pt>
              </c:numCache>
            </c:numRef>
          </c:val>
        </c:ser>
        <c:ser>
          <c:idx val="9"/>
          <c:order val="9"/>
          <c:tx>
            <c:strRef>
              <c:strCache>
                <c:ptCount val="1"/>
                <c:pt idx="0">
                  <c:v>Animal Nutrition &amp; Pet Care | Pet Joint &amp; Skin Supplements</c:v>
                </c:pt>
              </c:strCache>
            </c:strRef>
          </c:tx>
          <c:spPr>
            <a:solidFill>
              <a:srgbClr val="3DC6C4"/>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2E2E2E"/>
                    </a:solidFill>
                    <a:latin typeface="Calibri"/>
                  </a:defRPr>
                </a:pPr>
              </a:p>
            </c:txPr>
            <c:dLblPos val="ctr"/>
            <c:showLegendKey val="0"/>
            <c:showVal val="1"/>
            <c:showCatName val="0"/>
            <c:showSerName val="0"/>
            <c:showPercent val="0"/>
            <c:showBubbleSize val="0"/>
            <c:showLeaderLines val="1"/>
          </c:dLbls>
          <c:cat>
            <c:strRef>
              <c:strCache>
                <c:ptCount val="3"/>
                <c:pt idx="0">
                  <c:v>Micronized Eggshell Membrane</c:v>
                </c:pt>
                <c:pt idx="1">
                  <c:v>Hydrolyzed Eggshell Membrane</c:v>
                </c:pt>
                <c:pt idx="2">
                  <c:v>Specialty Extracted Protein Fractions</c:v>
                </c:pt>
              </c:strCache>
            </c:strRef>
          </c:cat>
          <c:val>
            <c:numRef>
              <c:numCache>
                <c:formatCode>General</c:formatCode>
                <c:ptCount val="3"/>
                <c:pt idx="0">
                  <c:v>8.31577388085537</c:v>
                </c:pt>
                <c:pt idx="1">
                  <c:v>8.315766960461305</c:v>
                </c:pt>
                <c:pt idx="2">
                  <c:v>8.315766960461305</c:v>
                </c:pt>
              </c:numCache>
            </c:numRef>
          </c:val>
        </c:ser>
        <c:ser>
          <c:idx val="10"/>
          <c:order val="10"/>
          <c:tx>
            <c:strRef>
              <c:strCache>
                <c:ptCount val="1"/>
                <c:pt idx="0">
                  <c:v>Animal Nutrition &amp; Pet Care | Livestock &amp; Poultry Feed</c:v>
                </c:pt>
              </c:strCache>
            </c:strRef>
          </c:tx>
          <c:spPr>
            <a:solidFill>
              <a:srgbClr val="5B9BD5"/>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Micronized Eggshell Membrane</c:v>
                </c:pt>
                <c:pt idx="1">
                  <c:v>Hydrolyzed Eggshell Membrane</c:v>
                </c:pt>
                <c:pt idx="2">
                  <c:v>Specialty Extracted Protein Fractions</c:v>
                </c:pt>
              </c:strCache>
            </c:strRef>
          </c:cat>
          <c:val>
            <c:numRef>
              <c:numCache>
                <c:formatCode>General</c:formatCode>
                <c:ptCount val="3"/>
                <c:pt idx="0">
                  <c:v>8.31577388085537</c:v>
                </c:pt>
                <c:pt idx="1">
                  <c:v>8.315766960461305</c:v>
                </c:pt>
                <c:pt idx="2">
                  <c:v>8.315766960461305</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9D6E4"/>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10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strCache>
                <c:ptCount val="1"/>
                <c:pt idx="0">
                  <c:v>Volume (MT)</c:v>
                </c:pt>
              </c:strCache>
            </c:strRef>
          </c:tx>
          <c:spPr>
            <a:solidFill>
              <a:srgbClr val="2A5F8F"/>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delete val="1"/>
              <c:numFmt formatCode="&quot;&quot;" sourceLinked="0"/>
            </c:dLbl>
            <c:dLbl>
              <c:idx val="2"/>
              <c:delete val="1"/>
              <c:numFmt formatCode="&quot;&quot;" sourceLinked="0"/>
            </c:dLbl>
            <c:dLbl>
              <c:idx val="3"/>
              <c:delete val="1"/>
              <c:numFmt formatCode="&quot;&quot;" sourceLinked="0"/>
            </c:dLbl>
            <c:dLbl>
              <c:idx val="4"/>
              <c:delete val="1"/>
              <c:numFmt formatCode="&quot;&quot;" sourceLinked="0"/>
            </c:dLbl>
            <c:dLbl>
              <c:idx val="5"/>
              <c:delete val="1"/>
              <c:numFmt formatCode="&quot;&quot;" sourceLinked="0"/>
            </c:dLbl>
            <c:dLbl>
              <c:idx val="6"/>
              <c:delete val="1"/>
              <c:numFmt formatCode="&quot;&quot;" sourceLinked="0"/>
            </c:dLbl>
            <c:dLbl>
              <c:idx val="7"/>
              <c:delete val="1"/>
              <c:numFmt formatCode="&quot;&quot;" sourceLinked="0"/>
            </c:dLbl>
            <c:dLbl>
              <c:idx val="8"/>
              <c:delete val="1"/>
              <c:numFmt formatCode="&quot;&quot;" sourceLinked="0"/>
            </c:dLbl>
            <c:dLbl>
              <c:idx val="9"/>
              <c:delete val="1"/>
              <c:numFmt formatCode="&quot;&quot;" sourceLinked="0"/>
            </c:dLbl>
            <c:dLbl>
              <c:idx val="10"/>
              <c:delete val="1"/>
              <c:numFmt formatCode="&quot;&quot;" sourceLinked="0"/>
            </c:dLbl>
            <c:dLbl>
              <c:idx val="11"/>
              <c:delete val="1"/>
              <c:numFmt formatCode="&quot;&quot;" sourceLinked="0"/>
            </c:dLbl>
            <c:dLbl>
              <c:idx val="12"/>
              <c:delete val="1"/>
              <c:numFmt formatCode="&quot;&quot;" sourceLinked="0"/>
            </c:dLbl>
            <c:dLbl>
              <c:idx val="13"/>
              <c:delete val="1"/>
              <c:numFmt formatCode="&quot;&quot;" sourceLinked="0"/>
            </c:dLbl>
            <c:dLbl>
              <c:idx val="14"/>
              <c:delete val="1"/>
              <c:numFmt formatCode="&quot;&quot;" sourceLinked="0"/>
            </c:dLbl>
            <c:dLbl>
              <c:idx val="15"/>
              <c:numFmt formatCode="&quot;&quot;" sourceLinked="0"/>
              <c:txPr>
                <a:bodyPr/>
                <a:lstStyle/>
                <a:p>
                  <a:pPr>
                    <a:defRPr/>
                  </a:pPr>
                </a:p>
              </c:txPr>
              <c:showLegendKey val="0"/>
              <c:showVal val="1"/>
              <c:showCatName val="0"/>
              <c:showSerName val="0"/>
              <c:showPercent val="0"/>
              <c:showBubbleSize val="0"/>
            </c:dLbl>
            <c:numFmt formatCode="#,##0" sourceLinked="0"/>
            <c:txPr>
              <a:bodyPr rot="0" vert="horz"/>
              <a:lstStyle/>
              <a:p>
                <a:pPr>
                  <a:defRPr sz="1100">
                    <a:solidFill>
                      <a:srgbClr val="6C7A89"/>
                    </a:solidFill>
                    <a:latin typeface="Calibri"/>
                  </a:defRPr>
                </a:pPr>
              </a:p>
            </c:txPr>
            <c:dLblPos val="outEnd"/>
            <c:showLegendKey val="0"/>
            <c:showVal val="1"/>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68116.471</c:v>
                </c:pt>
                <c:pt idx="1">
                  <c:v>69225.978</c:v>
                </c:pt>
                <c:pt idx="2">
                  <c:v>70353.557</c:v>
                </c:pt>
                <c:pt idx="3">
                  <c:v>71499.503</c:v>
                </c:pt>
                <c:pt idx="4">
                  <c:v>72664.114</c:v>
                </c:pt>
                <c:pt idx="5">
                  <c:v>73847.69499999999</c:v>
                </c:pt>
                <c:pt idx="6">
                  <c:v>75633.325</c:v>
                </c:pt>
                <c:pt idx="7">
                  <c:v>77462.132</c:v>
                </c:pt>
                <c:pt idx="8">
                  <c:v>79335.15900000001</c:v>
                </c:pt>
                <c:pt idx="9">
                  <c:v>81253.476</c:v>
                </c:pt>
                <c:pt idx="10">
                  <c:v>83218.177</c:v>
                </c:pt>
                <c:pt idx="11">
                  <c:v>85230.38399999999</c:v>
                </c:pt>
                <c:pt idx="12">
                  <c:v>87291.247</c:v>
                </c:pt>
                <c:pt idx="13">
                  <c:v>89401.94099999999</c:v>
                </c:pt>
                <c:pt idx="14">
                  <c:v>91563.671</c:v>
                </c:pt>
                <c:pt idx="15">
                  <c:v>93777.67199999999</c:v>
                </c:pt>
              </c:numCache>
            </c:numRef>
          </c:val>
        </c:ser>
        <c:gapWidth val="4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0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strCache>
                <c:ptCount val="1"/>
                <c:pt idx="0">
                  <c:v>CAGR</c:v>
                </c:pt>
              </c:strCache>
            </c:strRef>
          </c:tx>
          <c:spPr>
            <a:solidFill>
              <a:srgbClr val="2A5F8F"/>
            </a:solidFill>
            <a:ln>
              <a:noFill/>
            </a:ln>
          </c:spPr>
          <c:dPt>
            <c:idx val="0"/>
            <c:spPr>
              <a:solidFill>
                <a:srgbClr val="0E2A5C"/>
              </a:solidFill>
            </c:spPr>
          </c:dPt>
          <c:dPt>
            <c:idx val="1"/>
            <c:spPr>
              <a:solidFill>
                <a:srgbClr val="0081E2"/>
              </a:solidFill>
            </c:spPr>
          </c:dPt>
          <c:dPt>
            <c:idx val="2"/>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numFmt formatCode="0.0%" sourceLinked="0"/>
            <c:txPr>
              <a:bodyPr rot="0" vert="horz"/>
              <a:lstStyle/>
              <a:p>
                <a:pPr>
                  <a:defRPr sz="1100">
                    <a:solidFill>
                      <a:srgbClr val="2E2E2E"/>
                    </a:solidFill>
                    <a:latin typeface="Calibri"/>
                  </a:defRPr>
                </a:pPr>
              </a:p>
            </c:txPr>
            <c:dLblPos val="outEnd"/>
            <c:showLegendKey val="0"/>
            <c:showVal val="1"/>
            <c:showCatName val="0"/>
            <c:showSerName val="0"/>
            <c:showPercent val="0"/>
            <c:showBubbleSize val="0"/>
            <c:showLeaderLines val="1"/>
          </c:dLbls>
          <c:cat>
            <c:strRef>
              <c:strCache>
                <c:ptCount val="3"/>
                <c:pt idx="0">
                  <c:v>Global</c:v>
                </c:pt>
                <c:pt idx="1">
                  <c:v>North America</c:v>
                </c:pt>
                <c:pt idx="2">
                  <c:v>U.S.</c:v>
                </c:pt>
              </c:strCache>
            </c:strRef>
          </c:cat>
          <c:val>
            <c:numRef>
              <c:numCache>
                <c:formatCode>General</c:formatCode>
                <c:ptCount val="3"/>
                <c:pt idx="0">
                  <c:v>0.04366924238101433</c:v>
                </c:pt>
                <c:pt idx="1">
                  <c:v>0.025858270999890243</c:v>
                </c:pt>
                <c:pt idx="2">
                  <c:v>0.024179904600377222</c:v>
                </c:pt>
              </c:numCache>
            </c:numRef>
          </c:val>
        </c:ser>
        <c:gapWidth val="60"/>
        <c:axId val="-2068027336"/>
        <c:axId val="-2113994440"/>
      </c:barChart>
      <c:catAx>
        <c:axId val="-2068027336"/>
        <c:scaling>
          <c:orientation val="minMax"/>
        </c:scaling>
        <c:delete val="0"/>
        <c:axPos val="l"/>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0.058953477214369346"/>
          <c:min val="0.0"/>
        </c:scaling>
        <c:delete/>
        <c:axPos val="b"/>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0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12"/>
                <c:pt idx="0">
                  <c:v>2026</c:v>
                </c:pt>
                <c:pt idx="1">
                  <c:v>2027</c:v>
                </c:pt>
                <c:pt idx="2">
                  <c:v>2028</c:v>
                </c:pt>
                <c:pt idx="3">
                  <c:v>2029</c:v>
                </c:pt>
                <c:pt idx="4">
                  <c:v>2030</c:v>
                </c:pt>
                <c:pt idx="5">
                  <c:v>2031</c:v>
                </c:pt>
                <c:pt idx="6">
                  <c:v>2032</c:v>
                </c:pt>
                <c:pt idx="7">
                  <c:v>2033</c:v>
                </c:pt>
                <c:pt idx="8">
                  <c:v>2034</c:v>
                </c:pt>
                <c:pt idx="9">
                  <c:v>2035</c:v>
                </c:pt>
                <c:pt idx="10">
                  <c:v>2036</c:v>
                </c:pt>
                <c:pt idx="11">
                  <c:v>2036 Total</c:v>
                </c:pt>
              </c:strCache>
            </c:strRef>
          </c:cat>
          <c:val>
            <c:numRef>
              <c:numCache>
                <c:formatCode>General</c:formatCode>
                <c:ptCount val="12"/>
                <c:pt idx="0">
                  <c:v>0.0</c:v>
                </c:pt>
                <c:pt idx="1">
                  <c:v>73847.69499999999</c:v>
                </c:pt>
                <c:pt idx="2">
                  <c:v>75633.325</c:v>
                </c:pt>
                <c:pt idx="3">
                  <c:v>77462.132</c:v>
                </c:pt>
                <c:pt idx="4">
                  <c:v>79335.15900000001</c:v>
                </c:pt>
                <c:pt idx="5">
                  <c:v>81253.476</c:v>
                </c:pt>
                <c:pt idx="6">
                  <c:v>83218.177</c:v>
                </c:pt>
                <c:pt idx="7">
                  <c:v>85230.38399999999</c:v>
                </c:pt>
                <c:pt idx="8">
                  <c:v>87291.247</c:v>
                </c:pt>
                <c:pt idx="9">
                  <c:v>89401.94099999999</c:v>
                </c:pt>
                <c:pt idx="10">
                  <c:v>91563.671</c:v>
                </c:pt>
                <c:pt idx="11">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00ACAC"/>
              </a:solidFill>
            </c:spPr>
          </c:dPt>
          <c:dPt>
            <c:idx val="3"/>
            <c:spPr>
              <a:solidFill>
                <a:srgbClr val="00ACAC"/>
              </a:solidFill>
            </c:spPr>
          </c:dPt>
          <c:dPt>
            <c:idx val="4"/>
            <c:spPr>
              <a:solidFill>
                <a:srgbClr val="00ACAC"/>
              </a:solidFill>
            </c:spPr>
          </c:dPt>
          <c:dPt>
            <c:idx val="5"/>
            <c:spPr>
              <a:solidFill>
                <a:srgbClr val="00ACAC"/>
              </a:solidFill>
            </c:spPr>
          </c:dPt>
          <c:dPt>
            <c:idx val="6"/>
            <c:spPr>
              <a:solidFill>
                <a:srgbClr val="00ACAC"/>
              </a:solidFill>
            </c:spPr>
          </c:dPt>
          <c:dPt>
            <c:idx val="7"/>
            <c:spPr>
              <a:solidFill>
                <a:srgbClr val="00ACAC"/>
              </a:solidFill>
            </c:spPr>
          </c:dPt>
          <c:dPt>
            <c:idx val="8"/>
            <c:spPr>
              <a:solidFill>
                <a:srgbClr val="00ACAC"/>
              </a:solidFill>
            </c:spPr>
          </c:dPt>
          <c:dPt>
            <c:idx val="9"/>
            <c:spPr>
              <a:solidFill>
                <a:srgbClr val="00ACAC"/>
              </a:solidFill>
            </c:spPr>
          </c:dPt>
          <c:dPt>
            <c:idx val="10"/>
            <c:spPr>
              <a:solidFill>
                <a:srgbClr val="00ACAC"/>
              </a:solidFill>
            </c:spPr>
          </c:dPt>
          <c:dPt>
            <c:idx val="11"/>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txPr>
                <a:bodyPr/>
                <a:lstStyle/>
                <a:p>
                  <a:pPr>
                    <a:defRPr/>
                  </a:pPr>
                </a:p>
              </c:txPr>
              <c:showLegendKey val="0"/>
              <c:showVal val="1"/>
              <c:showCatName val="0"/>
              <c:showSerName val="0"/>
              <c:showPercent val="0"/>
              <c:showBubbleSize val="0"/>
            </c:dLbl>
            <c:dLbl>
              <c:idx val="8"/>
              <c:numFmt formatCode="&quot;&quot;" sourceLinked="0"/>
              <c:txPr>
                <a:bodyPr/>
                <a:lstStyle/>
                <a:p>
                  <a:pPr>
                    <a:defRPr/>
                  </a:pPr>
                </a:p>
              </c:txPr>
              <c:showLegendKey val="0"/>
              <c:showVal val="1"/>
              <c:showCatName val="0"/>
              <c:showSerName val="0"/>
              <c:showPercent val="0"/>
              <c:showBubbleSize val="0"/>
            </c:dLbl>
            <c:dLbl>
              <c:idx val="9"/>
              <c:numFmt formatCode="&quot;&quot;" sourceLinked="0"/>
              <c:txPr>
                <a:bodyPr/>
                <a:lstStyle/>
                <a:p>
                  <a:pPr>
                    <a:defRPr/>
                  </a:pPr>
                </a:p>
              </c:txPr>
              <c:showLegendKey val="0"/>
              <c:showVal val="1"/>
              <c:showCatName val="0"/>
              <c:showSerName val="0"/>
              <c:showPercent val="0"/>
              <c:showBubbleSize val="0"/>
            </c:dLbl>
            <c:dLbl>
              <c:idx val="10"/>
              <c:numFmt formatCode="&quot;&quot;" sourceLinked="0"/>
              <c:txPr>
                <a:bodyPr/>
                <a:lstStyle/>
                <a:p>
                  <a:pPr>
                    <a:defRPr/>
                  </a:pPr>
                </a:p>
              </c:txPr>
              <c:showLegendKey val="0"/>
              <c:showVal val="1"/>
              <c:showCatName val="0"/>
              <c:showSerName val="0"/>
              <c:showPercent val="0"/>
              <c:showBubbleSize val="0"/>
            </c:dLbl>
            <c:dLbl>
              <c:idx val="11"/>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12"/>
                <c:pt idx="0">
                  <c:v>2026</c:v>
                </c:pt>
                <c:pt idx="1">
                  <c:v>2027</c:v>
                </c:pt>
                <c:pt idx="2">
                  <c:v>2028</c:v>
                </c:pt>
                <c:pt idx="3">
                  <c:v>2029</c:v>
                </c:pt>
                <c:pt idx="4">
                  <c:v>2030</c:v>
                </c:pt>
                <c:pt idx="5">
                  <c:v>2031</c:v>
                </c:pt>
                <c:pt idx="6">
                  <c:v>2032</c:v>
                </c:pt>
                <c:pt idx="7">
                  <c:v>2033</c:v>
                </c:pt>
                <c:pt idx="8">
                  <c:v>2034</c:v>
                </c:pt>
                <c:pt idx="9">
                  <c:v>2035</c:v>
                </c:pt>
                <c:pt idx="10">
                  <c:v>2036</c:v>
                </c:pt>
                <c:pt idx="11">
                  <c:v>2036 Total</c:v>
                </c:pt>
              </c:strCache>
            </c:strRef>
          </c:cat>
          <c:val>
            <c:numRef>
              <c:numCache>
                <c:formatCode>General</c:formatCode>
                <c:ptCount val="12"/>
                <c:pt idx="0">
                  <c:v>73847.69499999999</c:v>
                </c:pt>
                <c:pt idx="1">
                  <c:v>1785.6300000000047</c:v>
                </c:pt>
                <c:pt idx="2">
                  <c:v>1828.8070000000007</c:v>
                </c:pt>
                <c:pt idx="3">
                  <c:v>1873.0270000000164</c:v>
                </c:pt>
                <c:pt idx="4">
                  <c:v>1918.316999999981</c:v>
                </c:pt>
                <c:pt idx="5">
                  <c:v>1964.701000000001</c:v>
                </c:pt>
                <c:pt idx="6">
                  <c:v>2012.2069999999949</c:v>
                </c:pt>
                <c:pt idx="7">
                  <c:v>2060.863000000012</c:v>
                </c:pt>
                <c:pt idx="8">
                  <c:v>2110.6939999999886</c:v>
                </c:pt>
                <c:pt idx="9">
                  <c:v>2161.7300000000105</c:v>
                </c:pt>
                <c:pt idx="10">
                  <c:v>2214.0009999999893</c:v>
                </c:pt>
                <c:pt idx="11">
                  <c:v>93777.67199999999</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1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U.S.</c:v>
                </c:pt>
              </c:strCache>
            </c:strRef>
          </c:tx>
          <c:spPr>
            <a:solidFill>
              <a:srgbClr val="2A5F8F"/>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numFmt formatCode="0.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Share of North America</c:v>
                </c:pt>
                <c:pt idx="1">
                  <c:v>Share of Global</c:v>
                </c:pt>
              </c:strCache>
            </c:strRef>
          </c:cat>
          <c:val>
            <c:numRef>
              <c:numCache>
                <c:formatCode>General</c:formatCode>
                <c:ptCount val="2"/>
                <c:pt idx="0">
                  <c:v>70.0230553246245</c:v>
                </c:pt>
                <c:pt idx="1">
                  <c:v>16.937544685923058</c:v>
                </c:pt>
              </c:numCache>
            </c:numRef>
          </c:val>
        </c:ser>
        <c:ser>
          <c:idx val="1"/>
          <c:order val="1"/>
          <c:tx>
            <c:strRef>
              <c:strCache>
                <c:ptCount val="1"/>
                <c:pt idx="0">
                  <c:v>Rest of the market</c:v>
                </c:pt>
              </c:strCache>
            </c:strRef>
          </c:tx>
          <c:spPr>
            <a:solidFill>
              <a:srgbClr val="0081E2"/>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numFmt formatCode="0.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Share of North America</c:v>
                </c:pt>
                <c:pt idx="1">
                  <c:v>Share of Global</c:v>
                </c:pt>
              </c:strCache>
            </c:strRef>
          </c:cat>
          <c:val>
            <c:numRef>
              <c:numCache>
                <c:formatCode>General</c:formatCode>
                <c:ptCount val="2"/>
                <c:pt idx="0">
                  <c:v>29.976944675375506</c:v>
                </c:pt>
                <c:pt idx="1">
                  <c:v>83.06245531407694</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100.0"/>
          <c:min val="0.0"/>
        </c:scaling>
        <c:delete val="0"/>
        <c:axPos val="b"/>
        <c:numFmt formatCode="0&quot;%&quot;" sourceLinked="0"/>
        <c:majorTickMark val="out"/>
        <c:minorTickMark val="none"/>
        <c:tickLblPos val="nextTo"/>
        <c:spPr>
          <a:ln>
            <a:solidFill>
              <a:srgbClr val="C9D6E4"/>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11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strCache>
                <c:ptCount val="1"/>
                <c:pt idx="0">
                  <c:v>Value (US$ Mn)</c:v>
                </c:pt>
              </c:strCache>
            </c:strRef>
          </c:tx>
          <c:spPr>
            <a:solidFill>
              <a:srgbClr val="2A5F8F"/>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delete val="1"/>
              <c:numFmt formatCode="&quot;&quot;" sourceLinked="0"/>
            </c:dLbl>
            <c:dLbl>
              <c:idx val="2"/>
              <c:delete val="1"/>
              <c:numFmt formatCode="&quot;&quot;" sourceLinked="0"/>
            </c:dLbl>
            <c:dLbl>
              <c:idx val="3"/>
              <c:delete val="1"/>
              <c:numFmt formatCode="&quot;&quot;" sourceLinked="0"/>
            </c:dLbl>
            <c:dLbl>
              <c:idx val="4"/>
              <c:delete val="1"/>
              <c:numFmt formatCode="&quot;&quot;" sourceLinked="0"/>
            </c:dLbl>
            <c:dLbl>
              <c:idx val="5"/>
              <c:delete val="1"/>
              <c:numFmt formatCode="&quot;&quot;" sourceLinked="0"/>
            </c:dLbl>
            <c:dLbl>
              <c:idx val="6"/>
              <c:delete val="1"/>
              <c:numFmt formatCode="&quot;&quot;" sourceLinked="0"/>
            </c:dLbl>
            <c:dLbl>
              <c:idx val="7"/>
              <c:delete val="1"/>
              <c:numFmt formatCode="&quot;&quot;" sourceLinked="0"/>
            </c:dLbl>
            <c:dLbl>
              <c:idx val="8"/>
              <c:delete val="1"/>
              <c:numFmt formatCode="&quot;&quot;" sourceLinked="0"/>
            </c:dLbl>
            <c:dLbl>
              <c:idx val="9"/>
              <c:delete val="1"/>
              <c:numFmt formatCode="&quot;&quot;" sourceLinked="0"/>
            </c:dLbl>
            <c:dLbl>
              <c:idx val="10"/>
              <c:delete val="1"/>
              <c:numFmt formatCode="&quot;&quot;" sourceLinked="0"/>
            </c:dLbl>
            <c:dLbl>
              <c:idx val="11"/>
              <c:delete val="1"/>
              <c:numFmt formatCode="&quot;&quot;" sourceLinked="0"/>
            </c:dLbl>
            <c:dLbl>
              <c:idx val="12"/>
              <c:delete val="1"/>
              <c:numFmt formatCode="&quot;&quot;" sourceLinked="0"/>
            </c:dLbl>
            <c:dLbl>
              <c:idx val="13"/>
              <c:delete val="1"/>
              <c:numFmt formatCode="&quot;&quot;" sourceLinked="0"/>
            </c:dLbl>
            <c:dLbl>
              <c:idx val="14"/>
              <c:delete val="1"/>
              <c:numFmt formatCode="&quot;&quot;" sourceLinked="0"/>
            </c:dLbl>
            <c:dLbl>
              <c:idx val="15"/>
              <c:numFmt formatCode="&quot;&quot;" sourceLinked="0"/>
              <c:txPr>
                <a:bodyPr/>
                <a:lstStyle/>
                <a:p>
                  <a:pPr>
                    <a:defRPr/>
                  </a:pPr>
                </a:p>
              </c:txPr>
              <c:showLegendKey val="0"/>
              <c:showVal val="1"/>
              <c:showCatName val="0"/>
              <c:showSerName val="0"/>
              <c:showPercent val="0"/>
              <c:showBubbleSize val="0"/>
            </c:dLbl>
            <c:numFmt formatCode="#,##0" sourceLinked="0"/>
            <c:txPr>
              <a:bodyPr rot="0" vert="horz"/>
              <a:lstStyle/>
              <a:p>
                <a:pPr>
                  <a:defRPr sz="1100">
                    <a:solidFill>
                      <a:srgbClr val="6C7A89"/>
                    </a:solidFill>
                    <a:latin typeface="Calibri"/>
                  </a:defRPr>
                </a:pPr>
              </a:p>
            </c:txPr>
            <c:dLblPos val="outEnd"/>
            <c:showLegendKey val="0"/>
            <c:showVal val="1"/>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2140.953</c:v>
                </c:pt>
                <c:pt idx="1">
                  <c:v>2205.734</c:v>
                </c:pt>
                <c:pt idx="2">
                  <c:v>2272.4759999999997</c:v>
                </c:pt>
                <c:pt idx="3">
                  <c:v>2341.237</c:v>
                </c:pt>
                <c:pt idx="4">
                  <c:v>2412.0789999999997</c:v>
                </c:pt>
                <c:pt idx="5">
                  <c:v>2485.0649999999996</c:v>
                </c:pt>
                <c:pt idx="6">
                  <c:v>2580.139</c:v>
                </c:pt>
                <c:pt idx="7">
                  <c:v>2678.8509999999997</c:v>
                </c:pt>
                <c:pt idx="8">
                  <c:v>2781.34</c:v>
                </c:pt>
                <c:pt idx="9">
                  <c:v>2887.749</c:v>
                </c:pt>
                <c:pt idx="10">
                  <c:v>2998.23</c:v>
                </c:pt>
                <c:pt idx="11">
                  <c:v>3112.937</c:v>
                </c:pt>
                <c:pt idx="12">
                  <c:v>3232.033</c:v>
                </c:pt>
                <c:pt idx="13">
                  <c:v>3355.685</c:v>
                </c:pt>
                <c:pt idx="14">
                  <c:v>3484.068</c:v>
                </c:pt>
                <c:pt idx="15">
                  <c:v>3617.362</c:v>
                </c:pt>
              </c:numCache>
            </c:numRef>
          </c:val>
        </c:ser>
        <c:gapWidth val="4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1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strCache>
                <c:ptCount val="1"/>
                <c:pt idx="0">
                  <c:v>CAGR</c:v>
                </c:pt>
              </c:strCache>
            </c:strRef>
          </c:tx>
          <c:spPr>
            <a:solidFill>
              <a:srgbClr val="2A5F8F"/>
            </a:solidFill>
            <a:ln>
              <a:noFill/>
            </a:ln>
          </c:spPr>
          <c:dPt>
            <c:idx val="0"/>
            <c:spPr>
              <a:solidFill>
                <a:srgbClr val="0E2A5C"/>
              </a:solidFill>
            </c:spPr>
          </c:dPt>
          <c:dPt>
            <c:idx val="1"/>
            <c:spPr>
              <a:solidFill>
                <a:srgbClr val="0081E2"/>
              </a:solidFill>
            </c:spPr>
          </c:dPt>
          <c:dPt>
            <c:idx val="2"/>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numFmt formatCode="0.0%" sourceLinked="0"/>
            <c:txPr>
              <a:bodyPr rot="0" vert="horz"/>
              <a:lstStyle/>
              <a:p>
                <a:pPr>
                  <a:defRPr sz="1100">
                    <a:solidFill>
                      <a:srgbClr val="2E2E2E"/>
                    </a:solidFill>
                    <a:latin typeface="Calibri"/>
                  </a:defRPr>
                </a:pPr>
              </a:p>
            </c:txPr>
            <c:dLblPos val="outEnd"/>
            <c:showLegendKey val="0"/>
            <c:showVal val="1"/>
            <c:showCatName val="0"/>
            <c:showSerName val="0"/>
            <c:showPercent val="0"/>
            <c:showBubbleSize val="0"/>
            <c:showLeaderLines val="1"/>
          </c:dLbls>
          <c:cat>
            <c:strRef>
              <c:strCache>
                <c:ptCount val="3"/>
                <c:pt idx="0">
                  <c:v>Global</c:v>
                </c:pt>
                <c:pt idx="1">
                  <c:v>North America</c:v>
                </c:pt>
                <c:pt idx="2">
                  <c:v>U.S.</c:v>
                </c:pt>
              </c:strCache>
            </c:strRef>
          </c:cat>
          <c:val>
            <c:numRef>
              <c:numCache>
                <c:formatCode>General</c:formatCode>
                <c:ptCount val="3"/>
                <c:pt idx="0">
                  <c:v>0.04954799714469593</c:v>
                </c:pt>
                <c:pt idx="1">
                  <c:v>0.04056107857498703</c:v>
                </c:pt>
                <c:pt idx="2">
                  <c:v>0.03825832466666412</c:v>
                </c:pt>
              </c:numCache>
            </c:numRef>
          </c:val>
        </c:ser>
        <c:gapWidth val="60"/>
        <c:axId val="-2068027336"/>
        <c:axId val="-2113994440"/>
      </c:barChart>
      <c:catAx>
        <c:axId val="-2068027336"/>
        <c:scaling>
          <c:orientation val="minMax"/>
        </c:scaling>
        <c:delete val="0"/>
        <c:axPos val="l"/>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0.06688979614533952"/>
          <c:min val="0.0"/>
        </c:scaling>
        <c:delete/>
        <c:axPos val="b"/>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1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12"/>
                <c:pt idx="0">
                  <c:v>2026</c:v>
                </c:pt>
                <c:pt idx="1">
                  <c:v>2027</c:v>
                </c:pt>
                <c:pt idx="2">
                  <c:v>2028</c:v>
                </c:pt>
                <c:pt idx="3">
                  <c:v>2029</c:v>
                </c:pt>
                <c:pt idx="4">
                  <c:v>2030</c:v>
                </c:pt>
                <c:pt idx="5">
                  <c:v>2031</c:v>
                </c:pt>
                <c:pt idx="6">
                  <c:v>2032</c:v>
                </c:pt>
                <c:pt idx="7">
                  <c:v>2033</c:v>
                </c:pt>
                <c:pt idx="8">
                  <c:v>2034</c:v>
                </c:pt>
                <c:pt idx="9">
                  <c:v>2035</c:v>
                </c:pt>
                <c:pt idx="10">
                  <c:v>2036</c:v>
                </c:pt>
                <c:pt idx="11">
                  <c:v>2036 Total</c:v>
                </c:pt>
              </c:strCache>
            </c:strRef>
          </c:cat>
          <c:val>
            <c:numRef>
              <c:numCache>
                <c:formatCode>General</c:formatCode>
                <c:ptCount val="12"/>
                <c:pt idx="0">
                  <c:v>0.0</c:v>
                </c:pt>
                <c:pt idx="1">
                  <c:v>2485.0649999999996</c:v>
                </c:pt>
                <c:pt idx="2">
                  <c:v>2580.139</c:v>
                </c:pt>
                <c:pt idx="3">
                  <c:v>2678.8509999999997</c:v>
                </c:pt>
                <c:pt idx="4">
                  <c:v>2781.34</c:v>
                </c:pt>
                <c:pt idx="5">
                  <c:v>2887.749</c:v>
                </c:pt>
                <c:pt idx="6">
                  <c:v>2998.23</c:v>
                </c:pt>
                <c:pt idx="7">
                  <c:v>3112.937</c:v>
                </c:pt>
                <c:pt idx="8">
                  <c:v>3232.033</c:v>
                </c:pt>
                <c:pt idx="9">
                  <c:v>3355.685</c:v>
                </c:pt>
                <c:pt idx="10">
                  <c:v>3484.068</c:v>
                </c:pt>
                <c:pt idx="11">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00ACAC"/>
              </a:solidFill>
            </c:spPr>
          </c:dPt>
          <c:dPt>
            <c:idx val="3"/>
            <c:spPr>
              <a:solidFill>
                <a:srgbClr val="00ACAC"/>
              </a:solidFill>
            </c:spPr>
          </c:dPt>
          <c:dPt>
            <c:idx val="4"/>
            <c:spPr>
              <a:solidFill>
                <a:srgbClr val="00ACAC"/>
              </a:solidFill>
            </c:spPr>
          </c:dPt>
          <c:dPt>
            <c:idx val="5"/>
            <c:spPr>
              <a:solidFill>
                <a:srgbClr val="00ACAC"/>
              </a:solidFill>
            </c:spPr>
          </c:dPt>
          <c:dPt>
            <c:idx val="6"/>
            <c:spPr>
              <a:solidFill>
                <a:srgbClr val="00ACAC"/>
              </a:solidFill>
            </c:spPr>
          </c:dPt>
          <c:dPt>
            <c:idx val="7"/>
            <c:spPr>
              <a:solidFill>
                <a:srgbClr val="00ACAC"/>
              </a:solidFill>
            </c:spPr>
          </c:dPt>
          <c:dPt>
            <c:idx val="8"/>
            <c:spPr>
              <a:solidFill>
                <a:srgbClr val="00ACAC"/>
              </a:solidFill>
            </c:spPr>
          </c:dPt>
          <c:dPt>
            <c:idx val="9"/>
            <c:spPr>
              <a:solidFill>
                <a:srgbClr val="00ACAC"/>
              </a:solidFill>
            </c:spPr>
          </c:dPt>
          <c:dPt>
            <c:idx val="10"/>
            <c:spPr>
              <a:solidFill>
                <a:srgbClr val="00ACAC"/>
              </a:solidFill>
            </c:spPr>
          </c:dPt>
          <c:dPt>
            <c:idx val="11"/>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txPr>
                <a:bodyPr/>
                <a:lstStyle/>
                <a:p>
                  <a:pPr>
                    <a:defRPr/>
                  </a:pPr>
                </a:p>
              </c:txPr>
              <c:showLegendKey val="0"/>
              <c:showVal val="1"/>
              <c:showCatName val="0"/>
              <c:showSerName val="0"/>
              <c:showPercent val="0"/>
              <c:showBubbleSize val="0"/>
            </c:dLbl>
            <c:dLbl>
              <c:idx val="8"/>
              <c:numFmt formatCode="&quot;&quot;" sourceLinked="0"/>
              <c:txPr>
                <a:bodyPr/>
                <a:lstStyle/>
                <a:p>
                  <a:pPr>
                    <a:defRPr/>
                  </a:pPr>
                </a:p>
              </c:txPr>
              <c:showLegendKey val="0"/>
              <c:showVal val="1"/>
              <c:showCatName val="0"/>
              <c:showSerName val="0"/>
              <c:showPercent val="0"/>
              <c:showBubbleSize val="0"/>
            </c:dLbl>
            <c:dLbl>
              <c:idx val="9"/>
              <c:numFmt formatCode="&quot;&quot;" sourceLinked="0"/>
              <c:txPr>
                <a:bodyPr/>
                <a:lstStyle/>
                <a:p>
                  <a:pPr>
                    <a:defRPr/>
                  </a:pPr>
                </a:p>
              </c:txPr>
              <c:showLegendKey val="0"/>
              <c:showVal val="1"/>
              <c:showCatName val="0"/>
              <c:showSerName val="0"/>
              <c:showPercent val="0"/>
              <c:showBubbleSize val="0"/>
            </c:dLbl>
            <c:dLbl>
              <c:idx val="10"/>
              <c:numFmt formatCode="&quot;&quot;" sourceLinked="0"/>
              <c:txPr>
                <a:bodyPr/>
                <a:lstStyle/>
                <a:p>
                  <a:pPr>
                    <a:defRPr/>
                  </a:pPr>
                </a:p>
              </c:txPr>
              <c:showLegendKey val="0"/>
              <c:showVal val="1"/>
              <c:showCatName val="0"/>
              <c:showSerName val="0"/>
              <c:showPercent val="0"/>
              <c:showBubbleSize val="0"/>
            </c:dLbl>
            <c:dLbl>
              <c:idx val="11"/>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12"/>
                <c:pt idx="0">
                  <c:v>2026</c:v>
                </c:pt>
                <c:pt idx="1">
                  <c:v>2027</c:v>
                </c:pt>
                <c:pt idx="2">
                  <c:v>2028</c:v>
                </c:pt>
                <c:pt idx="3">
                  <c:v>2029</c:v>
                </c:pt>
                <c:pt idx="4">
                  <c:v>2030</c:v>
                </c:pt>
                <c:pt idx="5">
                  <c:v>2031</c:v>
                </c:pt>
                <c:pt idx="6">
                  <c:v>2032</c:v>
                </c:pt>
                <c:pt idx="7">
                  <c:v>2033</c:v>
                </c:pt>
                <c:pt idx="8">
                  <c:v>2034</c:v>
                </c:pt>
                <c:pt idx="9">
                  <c:v>2035</c:v>
                </c:pt>
                <c:pt idx="10">
                  <c:v>2036</c:v>
                </c:pt>
                <c:pt idx="11">
                  <c:v>2036 Total</c:v>
                </c:pt>
              </c:strCache>
            </c:strRef>
          </c:cat>
          <c:val>
            <c:numRef>
              <c:numCache>
                <c:formatCode>General</c:formatCode>
                <c:ptCount val="12"/>
                <c:pt idx="0">
                  <c:v>2485.0649999999996</c:v>
                </c:pt>
                <c:pt idx="1">
                  <c:v>95.07400000000052</c:v>
                </c:pt>
                <c:pt idx="2">
                  <c:v>98.71199999999953</c:v>
                </c:pt>
                <c:pt idx="3">
                  <c:v>102.48900000000049</c:v>
                </c:pt>
                <c:pt idx="4">
                  <c:v>106.40899999999965</c:v>
                </c:pt>
                <c:pt idx="5">
                  <c:v>110.48100000000022</c:v>
                </c:pt>
                <c:pt idx="6">
                  <c:v>114.70699999999988</c:v>
                </c:pt>
                <c:pt idx="7">
                  <c:v>119.096</c:v>
                </c:pt>
                <c:pt idx="8">
                  <c:v>123.65200000000004</c:v>
                </c:pt>
                <c:pt idx="9">
                  <c:v>128.38300000000027</c:v>
                </c:pt>
                <c:pt idx="10">
                  <c:v>133.29399999999987</c:v>
                </c:pt>
                <c:pt idx="11">
                  <c:v>3617.362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1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U.S.</c:v>
                </c:pt>
              </c:strCache>
            </c:strRef>
          </c:tx>
          <c:spPr>
            <a:solidFill>
              <a:srgbClr val="2A5F8F"/>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numFmt formatCode="0.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Share of North America</c:v>
                </c:pt>
                <c:pt idx="1">
                  <c:v>Share of Global</c:v>
                </c:pt>
              </c:strCache>
            </c:strRef>
          </c:cat>
          <c:val>
            <c:numRef>
              <c:numCache>
                <c:formatCode>General</c:formatCode>
                <c:ptCount val="2"/>
                <c:pt idx="0">
                  <c:v>68.93579235806394</c:v>
                </c:pt>
                <c:pt idx="1">
                  <c:v>22.7987614678899</c:v>
                </c:pt>
              </c:numCache>
            </c:numRef>
          </c:val>
        </c:ser>
        <c:ser>
          <c:idx val="1"/>
          <c:order val="1"/>
          <c:tx>
            <c:strRef>
              <c:strCache>
                <c:ptCount val="1"/>
                <c:pt idx="0">
                  <c:v>Rest of the market</c:v>
                </c:pt>
              </c:strCache>
            </c:strRef>
          </c:tx>
          <c:spPr>
            <a:solidFill>
              <a:srgbClr val="0081E2"/>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numFmt formatCode="0.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Share of North America</c:v>
                </c:pt>
                <c:pt idx="1">
                  <c:v>Share of Global</c:v>
                </c:pt>
              </c:strCache>
            </c:strRef>
          </c:cat>
          <c:val>
            <c:numRef>
              <c:numCache>
                <c:formatCode>General</c:formatCode>
                <c:ptCount val="2"/>
                <c:pt idx="0">
                  <c:v>31.064207641936065</c:v>
                </c:pt>
                <c:pt idx="1">
                  <c:v>77.2012385321101</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100.0"/>
          <c:min val="0.0"/>
        </c:scaling>
        <c:delete val="0"/>
        <c:axPos val="b"/>
        <c:numFmt formatCode="0&quot;%&quot;" sourceLinked="0"/>
        <c:majorTickMark val="out"/>
        <c:minorTickMark val="none"/>
        <c:tickLblPos val="nextTo"/>
        <c:spPr>
          <a:ln>
            <a:solidFill>
              <a:srgbClr val="C9D6E4"/>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11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strCache>
                <c:ptCount val="1"/>
                <c:pt idx="0">
                  <c:v>Series</c:v>
                </c:pt>
              </c:strCache>
            </c:strRef>
          </c:tx>
          <c:spPr>
            <a:solidFill>
              <a:srgbClr val="2A5F8F"/>
            </a:solidFill>
            <a:ln>
              <a:noFill/>
            </a:ln>
          </c:spPr>
          <c:dPt>
            <c:idx val="0"/>
            <c:spPr>
              <a:solidFill>
                <a:srgbClr val="FFFFFF"/>
              </a:solidFill>
            </c:spPr>
          </c:dPt>
          <c:dPt>
            <c:idx val="1"/>
            <c:spPr>
              <a:solidFill>
                <a:srgbClr val="FFFFFF"/>
              </a:solidFill>
            </c:spPr>
          </c:dPt>
          <c:dPt>
            <c:idx val="2"/>
            <c:spPr>
              <a:solidFill>
                <a:srgbClr val="FFFFFF"/>
              </a:solidFill>
            </c:spPr>
          </c:dPt>
          <c:dPt>
            <c:idx val="3"/>
            <c:spPr>
              <a:solidFill>
                <a:srgbClr val="9EC6DE"/>
              </a:solidFill>
            </c:spPr>
          </c:dPt>
          <c:dPt>
            <c:idx val="4"/>
            <c:spPr>
              <a:solidFill>
                <a:srgbClr val="569CC6"/>
              </a:solidFill>
            </c:spPr>
          </c:dPt>
          <c:dPt>
            <c:idx val="5"/>
            <c:spPr>
              <a:solidFill>
                <a:srgbClr val="0E72AE"/>
              </a:solidFill>
            </c:spPr>
          </c:dPt>
          <c:dLbls>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6"/>
                <c:pt idx="0">
                  <c:v> </c:v>
                </c:pt>
                <c:pt idx="1">
                  <c:v>  </c:v>
                </c:pt>
                <c:pt idx="2">
                  <c:v>   </c:v>
                </c:pt>
                <c:pt idx="3">
                  <c:v>Hydrolyzed Eggshell M…</c:v>
                </c:pt>
                <c:pt idx="4">
                  <c:v>Micronized Eggshell M…</c:v>
                </c:pt>
                <c:pt idx="5">
                  <c:v>Specialty Extracted P…</c:v>
                </c:pt>
              </c:strCache>
            </c:strRef>
          </c:cat>
          <c:val>
            <c:numRef>
              <c:numCache>
                <c:formatCode>General</c:formatCode>
                <c:ptCount val="6"/>
                <c:pt idx="3">
                  <c:v>465.217</c:v>
                </c:pt>
                <c:pt idx="4">
                  <c:v>888.461</c:v>
                </c:pt>
                <c:pt idx="5">
                  <c:v>1131.387</c:v>
                </c:pt>
              </c:numCache>
            </c:numRef>
          </c:val>
        </c:ser>
        <c:dLbls>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none"/>
        <c:minorTickMark val="none"/>
        <c:tickLblPos val="nextTo"/>
        <c:spPr>
          <a:ln>
            <a:noFill/>
          </a:ln>
        </c:spPr>
        <c:txPr>
          <a:bodyPr/>
          <a:lstStyle/>
          <a:p>
            <a:pPr>
              <a:defRPr sz="1100"/>
            </a:pPr>
          </a:p>
        </c:txPr>
        <c:crossAx val="-2113994440"/>
        <c:crosses val="autoZero"/>
        <c:auto val="1"/>
        <c:lblAlgn val="ctr"/>
        <c:lblOffset val="100"/>
        <c:noMultiLvlLbl val="0"/>
        <c:tickLblSkip val="1"/>
        <c:tickMarkSkip val="1"/>
      </c:catAx>
      <c:valAx>
        <c:axId val="-2113994440"/>
        <c:scaling>
          <c:max val="1516.0585800000001"/>
          <c:min val="0.0"/>
        </c:scaling>
        <c:delete val="0"/>
        <c:axPos val="b"/>
        <c:numFmt formatCode="#,##0" sourceLinked="0"/>
        <c:majorTickMark val="none"/>
        <c:minorTickMark val="none"/>
        <c:tickLblPos val="none"/>
        <c:spPr>
          <a:ln>
            <a:no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1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strCache>
                <c:ptCount val="1"/>
                <c:pt idx="0">
                  <c:v>Series</c:v>
                </c:pt>
              </c:strCache>
            </c:strRef>
          </c:tx>
          <c:spPr>
            <a:solidFill>
              <a:srgbClr val="2A5F8F"/>
            </a:solidFill>
            <a:ln>
              <a:noFill/>
            </a:ln>
          </c:spPr>
          <c:dPt>
            <c:idx val="0"/>
            <c:spPr>
              <a:solidFill>
                <a:srgbClr val="FFFFFF"/>
              </a:solidFill>
            </c:spPr>
          </c:dPt>
          <c:dPt>
            <c:idx val="1"/>
            <c:spPr>
              <a:solidFill>
                <a:srgbClr val="FFFFFF"/>
              </a:solidFill>
            </c:spPr>
          </c:dPt>
          <c:dPt>
            <c:idx val="2"/>
            <c:spPr>
              <a:solidFill>
                <a:srgbClr val="9DABB6"/>
              </a:solidFill>
            </c:spPr>
          </c:dPt>
          <c:dPt>
            <c:idx val="3"/>
            <c:spPr>
              <a:solidFill>
                <a:srgbClr val="6C8192"/>
              </a:solidFill>
            </c:spPr>
          </c:dPt>
          <c:dPt>
            <c:idx val="4"/>
            <c:spPr>
              <a:solidFill>
                <a:srgbClr val="3B576E"/>
              </a:solidFill>
            </c:spPr>
          </c:dPt>
          <c:dPt>
            <c:idx val="5"/>
            <c:spPr>
              <a:solidFill>
                <a:srgbClr val="0B2E4A"/>
              </a:solidFill>
            </c:spPr>
          </c:dPt>
          <c:dLbls>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6"/>
                <c:pt idx="0">
                  <c:v> </c:v>
                </c:pt>
                <c:pt idx="1">
                  <c:v>  </c:v>
                </c:pt>
                <c:pt idx="2">
                  <c:v>Enzymatic Hydrolysis</c:v>
                </c:pt>
                <c:pt idx="3">
                  <c:v>Chemical Hydrolysis /…</c:v>
                </c:pt>
                <c:pt idx="4">
                  <c:v>Other / Hybrid Proces…</c:v>
                </c:pt>
                <c:pt idx="5">
                  <c:v>Mechanical Separation…</c:v>
                </c:pt>
              </c:strCache>
            </c:strRef>
          </c:cat>
          <c:val>
            <c:numRef>
              <c:numCache>
                <c:formatCode>General</c:formatCode>
                <c:ptCount val="6"/>
                <c:pt idx="2">
                  <c:v>247.735</c:v>
                </c:pt>
                <c:pt idx="3">
                  <c:v>396.3</c:v>
                </c:pt>
                <c:pt idx="4">
                  <c:v>639.292</c:v>
                </c:pt>
                <c:pt idx="5">
                  <c:v>1201.738</c:v>
                </c:pt>
              </c:numCache>
            </c:numRef>
          </c:val>
        </c:ser>
        <c:dLbls>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none"/>
        <c:minorTickMark val="none"/>
        <c:tickLblPos val="nextTo"/>
        <c:spPr>
          <a:ln>
            <a:noFill/>
          </a:ln>
        </c:spPr>
        <c:txPr>
          <a:bodyPr/>
          <a:lstStyle/>
          <a:p>
            <a:pPr>
              <a:defRPr sz="1100"/>
            </a:pPr>
          </a:p>
        </c:txPr>
        <c:crossAx val="-2113994440"/>
        <c:crosses val="autoZero"/>
        <c:auto val="1"/>
        <c:lblAlgn val="ctr"/>
        <c:lblOffset val="100"/>
        <c:noMultiLvlLbl val="0"/>
        <c:tickLblSkip val="1"/>
        <c:tickMarkSkip val="1"/>
      </c:catAx>
      <c:valAx>
        <c:axId val="-2113994440"/>
        <c:scaling>
          <c:max val="1610.3289200000002"/>
          <c:min val="0.0"/>
        </c:scaling>
        <c:delete val="0"/>
        <c:axPos val="b"/>
        <c:numFmt formatCode="#,##0" sourceLinked="0"/>
        <c:majorTickMark val="none"/>
        <c:minorTickMark val="none"/>
        <c:tickLblPos val="none"/>
        <c:spPr>
          <a:ln>
            <a:no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1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strCache>
                <c:ptCount val="1"/>
                <c:pt idx="0">
                  <c:v>Series</c:v>
                </c:pt>
              </c:strCache>
            </c:strRef>
          </c:tx>
          <c:spPr>
            <a:solidFill>
              <a:srgbClr val="2A5F8F"/>
            </a:solidFill>
            <a:ln>
              <a:noFill/>
            </a:ln>
          </c:spPr>
          <c:dPt>
            <c:idx val="0"/>
            <c:spPr>
              <a:solidFill>
                <a:srgbClr val="FFFFFF"/>
              </a:solidFill>
            </c:spPr>
          </c:dPt>
          <c:dPt>
            <c:idx val="1"/>
            <c:spPr>
              <a:solidFill>
                <a:srgbClr val="FFFFFF"/>
              </a:solidFill>
            </c:spPr>
          </c:dPt>
          <c:dPt>
            <c:idx val="2"/>
            <c:spPr>
              <a:solidFill>
                <a:srgbClr val="FFFFFF"/>
              </a:solidFill>
            </c:spPr>
          </c:dPt>
          <c:dPt>
            <c:idx val="3"/>
            <c:spPr>
              <a:solidFill>
                <a:srgbClr val="FFFFFF"/>
              </a:solidFill>
            </c:spPr>
          </c:dPt>
          <c:dPt>
            <c:idx val="4"/>
            <c:spPr>
              <a:solidFill>
                <a:srgbClr val="C5B1E6"/>
              </a:solidFill>
            </c:spPr>
          </c:dPt>
          <c:dPt>
            <c:idx val="5"/>
            <c:spPr>
              <a:solidFill>
                <a:srgbClr val="6F3CC2"/>
              </a:solidFill>
            </c:spPr>
          </c:dPt>
          <c:dLbls>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6"/>
                <c:pt idx="0">
                  <c:v> </c:v>
                </c:pt>
                <c:pt idx="1">
                  <c:v>  </c:v>
                </c:pt>
                <c:pt idx="2">
                  <c:v>   </c:v>
                </c:pt>
                <c:pt idx="3">
                  <c:v>    </c:v>
                </c:pt>
                <c:pt idx="4">
                  <c:v>Other Poultry Eggshel…</c:v>
                </c:pt>
                <c:pt idx="5">
                  <c:v>Chicken Eggshell Memb…</c:v>
                </c:pt>
              </c:strCache>
            </c:strRef>
          </c:cat>
          <c:val>
            <c:numRef>
              <c:numCache>
                <c:formatCode>General</c:formatCode>
                <c:ptCount val="6"/>
                <c:pt idx="4">
                  <c:v>427.47</c:v>
                </c:pt>
                <c:pt idx="5">
                  <c:v>2057.595</c:v>
                </c:pt>
              </c:numCache>
            </c:numRef>
          </c:val>
        </c:ser>
        <c:dLbls>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none"/>
        <c:minorTickMark val="none"/>
        <c:tickLblPos val="nextTo"/>
        <c:spPr>
          <a:ln>
            <a:noFill/>
          </a:ln>
        </c:spPr>
        <c:txPr>
          <a:bodyPr/>
          <a:lstStyle/>
          <a:p>
            <a:pPr>
              <a:defRPr sz="1100"/>
            </a:pPr>
          </a:p>
        </c:txPr>
        <c:crossAx val="-2113994440"/>
        <c:crosses val="autoZero"/>
        <c:auto val="1"/>
        <c:lblAlgn val="ctr"/>
        <c:lblOffset val="100"/>
        <c:noMultiLvlLbl val="0"/>
        <c:tickLblSkip val="1"/>
        <c:tickMarkSkip val="1"/>
      </c:catAx>
      <c:valAx>
        <c:axId val="-2113994440"/>
        <c:scaling>
          <c:max val="2757.1773"/>
          <c:min val="0.0"/>
        </c:scaling>
        <c:delete val="0"/>
        <c:axPos val="b"/>
        <c:numFmt formatCode="#,##0" sourceLinked="0"/>
        <c:majorTickMark val="none"/>
        <c:minorTickMark val="none"/>
        <c:tickLblPos val="none"/>
        <c:spPr>
          <a:ln>
            <a:no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1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strCache>
                <c:ptCount val="1"/>
                <c:pt idx="0">
                  <c:v>Series</c:v>
                </c:pt>
              </c:strCache>
            </c:strRef>
          </c:tx>
          <c:spPr>
            <a:solidFill>
              <a:srgbClr val="2A5F8F"/>
            </a:solidFill>
            <a:ln>
              <a:noFill/>
            </a:ln>
          </c:spPr>
          <c:dPt>
            <c:idx val="0"/>
            <c:spPr>
              <a:solidFill>
                <a:srgbClr val="FFFFFF"/>
              </a:solidFill>
            </c:spPr>
          </c:dPt>
          <c:dPt>
            <c:idx val="1"/>
            <c:spPr>
              <a:solidFill>
                <a:srgbClr val="FFFFFF"/>
              </a:solidFill>
            </c:spPr>
          </c:dPt>
          <c:dPt>
            <c:idx val="2"/>
            <c:spPr>
              <a:solidFill>
                <a:srgbClr val="FFFFFF"/>
              </a:solidFill>
            </c:spPr>
          </c:dPt>
          <c:dPt>
            <c:idx val="3"/>
            <c:spPr>
              <a:solidFill>
                <a:srgbClr val="FFFFFF"/>
              </a:solidFill>
            </c:spPr>
          </c:dPt>
          <c:dPt>
            <c:idx val="4"/>
            <c:spPr>
              <a:solidFill>
                <a:srgbClr val="DABAA0"/>
              </a:solidFill>
            </c:spPr>
          </c:dPt>
          <c:dPt>
            <c:idx val="5"/>
            <c:spPr>
              <a:solidFill>
                <a:srgbClr val="A35313"/>
              </a:solidFill>
            </c:spPr>
          </c:dPt>
          <c:dLbls>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6"/>
                <c:pt idx="0">
                  <c:v> </c:v>
                </c:pt>
                <c:pt idx="1">
                  <c:v>  </c:v>
                </c:pt>
                <c:pt idx="2">
                  <c:v>   </c:v>
                </c:pt>
                <c:pt idx="3">
                  <c:v>    </c:v>
                </c:pt>
                <c:pt idx="4">
                  <c:v>Powder</c:v>
                </c:pt>
                <c:pt idx="5">
                  <c:v>Liquid / Concentrate</c:v>
                </c:pt>
              </c:strCache>
            </c:strRef>
          </c:cat>
          <c:val>
            <c:numRef>
              <c:numCache>
                <c:formatCode>General</c:formatCode>
                <c:ptCount val="6"/>
                <c:pt idx="4">
                  <c:v>541.203</c:v>
                </c:pt>
                <c:pt idx="5">
                  <c:v>1943.862</c:v>
                </c:pt>
              </c:numCache>
            </c:numRef>
          </c:val>
        </c:ser>
        <c:dLbls>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none"/>
        <c:minorTickMark val="none"/>
        <c:tickLblPos val="nextTo"/>
        <c:spPr>
          <a:ln>
            <a:noFill/>
          </a:ln>
        </c:spPr>
        <c:txPr>
          <a:bodyPr/>
          <a:lstStyle/>
          <a:p>
            <a:pPr>
              <a:defRPr sz="1100"/>
            </a:pPr>
          </a:p>
        </c:txPr>
        <c:crossAx val="-2113994440"/>
        <c:crosses val="autoZero"/>
        <c:auto val="1"/>
        <c:lblAlgn val="ctr"/>
        <c:lblOffset val="100"/>
        <c:noMultiLvlLbl val="0"/>
        <c:tickLblSkip val="1"/>
        <c:tickMarkSkip val="1"/>
      </c:catAx>
      <c:valAx>
        <c:axId val="-2113994440"/>
        <c:scaling>
          <c:max val="2604.7750800000003"/>
          <c:min val="0.0"/>
        </c:scaling>
        <c:delete val="0"/>
        <c:axPos val="b"/>
        <c:numFmt formatCode="#,##0" sourceLinked="0"/>
        <c:majorTickMark val="none"/>
        <c:minorTickMark val="none"/>
        <c:tickLblPos val="none"/>
        <c:spPr>
          <a:ln>
            <a:no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1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strCache>
                <c:ptCount val="1"/>
                <c:pt idx="0">
                  <c:v>Series</c:v>
                </c:pt>
              </c:strCache>
            </c:strRef>
          </c:tx>
          <c:spPr>
            <a:solidFill>
              <a:srgbClr val="2A5F8F"/>
            </a:solidFill>
            <a:ln>
              <a:noFill/>
            </a:ln>
          </c:spPr>
          <c:dPt>
            <c:idx val="0"/>
            <c:spPr>
              <a:solidFill>
                <a:srgbClr val="DCC599"/>
              </a:solidFill>
            </c:spPr>
          </c:dPt>
          <c:dPt>
            <c:idx val="1"/>
            <c:spPr>
              <a:solidFill>
                <a:srgbClr val="D1B47A"/>
              </a:solidFill>
            </c:spPr>
          </c:dPt>
          <c:dPt>
            <c:idx val="2"/>
            <c:spPr>
              <a:solidFill>
                <a:srgbClr val="C7A25B"/>
              </a:solidFill>
            </c:spPr>
          </c:dPt>
          <c:dPt>
            <c:idx val="3"/>
            <c:spPr>
              <a:solidFill>
                <a:srgbClr val="BC913D"/>
              </a:solidFill>
            </c:spPr>
          </c:dPt>
          <c:dPt>
            <c:idx val="4"/>
            <c:spPr>
              <a:solidFill>
                <a:srgbClr val="B2801E"/>
              </a:solidFill>
            </c:spPr>
          </c:dPt>
          <c:dPt>
            <c:idx val="5"/>
            <c:spPr>
              <a:solidFill>
                <a:srgbClr val="A86F00"/>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6"/>
                <c:pt idx="0">
                  <c:v>Animal Nutrition &amp; Pe…</c:v>
                </c:pt>
                <c:pt idx="1">
                  <c:v>Industrial &amp; Biomater…</c:v>
                </c:pt>
                <c:pt idx="2">
                  <c:v>Cosmetics &amp; Personal…</c:v>
                </c:pt>
                <c:pt idx="3">
                  <c:v>Functional Food &amp; Bev…</c:v>
                </c:pt>
                <c:pt idx="4">
                  <c:v>Pharmaceuticals &amp; Bio…</c:v>
                </c:pt>
                <c:pt idx="5">
                  <c:v>Dietary Supplements &amp;…</c:v>
                </c:pt>
              </c:strCache>
            </c:strRef>
          </c:cat>
          <c:val>
            <c:numRef>
              <c:numCache>
                <c:formatCode>General</c:formatCode>
                <c:ptCount val="6"/>
                <c:pt idx="0">
                  <c:v>140.17000000000002</c:v>
                </c:pt>
                <c:pt idx="1">
                  <c:v>289.744</c:v>
                </c:pt>
                <c:pt idx="2">
                  <c:v>321.53200000000004</c:v>
                </c:pt>
                <c:pt idx="3">
                  <c:v>429.819</c:v>
                </c:pt>
                <c:pt idx="4">
                  <c:v>534.132</c:v>
                </c:pt>
                <c:pt idx="5">
                  <c:v>769.668</c:v>
                </c:pt>
              </c:numCache>
            </c:numRef>
          </c:val>
        </c:ser>
        <c:dLbls>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none"/>
        <c:minorTickMark val="none"/>
        <c:tickLblPos val="nextTo"/>
        <c:spPr>
          <a:ln>
            <a:noFill/>
          </a:ln>
        </c:spPr>
        <c:txPr>
          <a:bodyPr/>
          <a:lstStyle/>
          <a:p>
            <a:pPr>
              <a:defRPr sz="1100"/>
            </a:pPr>
          </a:p>
        </c:txPr>
        <c:crossAx val="-2113994440"/>
        <c:crosses val="autoZero"/>
        <c:auto val="1"/>
        <c:lblAlgn val="ctr"/>
        <c:lblOffset val="100"/>
        <c:noMultiLvlLbl val="0"/>
        <c:tickLblSkip val="1"/>
        <c:tickMarkSkip val="1"/>
      </c:catAx>
      <c:valAx>
        <c:axId val="-2113994440"/>
        <c:scaling>
          <c:max val="1031.3551200000002"/>
          <c:min val="0.0"/>
        </c:scaling>
        <c:delete val="0"/>
        <c:axPos val="b"/>
        <c:majorTickMark val="none"/>
        <c:minorTickMark val="none"/>
        <c:tickLblPos val="none"/>
        <c:spPr>
          <a:ln>
            <a:no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2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strCache>
                <c:ptCount val="1"/>
                <c:pt idx="0">
                  <c:v>Series</c:v>
                </c:pt>
              </c:strCache>
            </c:strRef>
          </c:tx>
          <c:spPr>
            <a:solidFill>
              <a:srgbClr val="2A5F8F"/>
            </a:solidFill>
            <a:ln>
              <a:noFill/>
            </a:ln>
          </c:spPr>
          <c:dPt>
            <c:idx val="0"/>
            <c:spPr>
              <a:solidFill>
                <a:srgbClr val="FFFFFF"/>
              </a:solidFill>
            </c:spPr>
          </c:dPt>
          <c:dPt>
            <c:idx val="1"/>
            <c:spPr>
              <a:solidFill>
                <a:srgbClr val="FFFFFF"/>
              </a:solidFill>
            </c:spPr>
          </c:dPt>
          <c:dPt>
            <c:idx val="2"/>
            <c:spPr>
              <a:solidFill>
                <a:srgbClr val="FFFFFF"/>
              </a:solidFill>
            </c:spPr>
          </c:dPt>
          <c:dPt>
            <c:idx val="3"/>
            <c:spPr>
              <a:solidFill>
                <a:srgbClr val="FFFFFF"/>
              </a:solidFill>
            </c:spPr>
          </c:dPt>
          <c:dPt>
            <c:idx val="4"/>
            <c:spPr>
              <a:solidFill>
                <a:srgbClr val="E59999"/>
              </a:solidFill>
            </c:spPr>
          </c:dPt>
          <c:dPt>
            <c:idx val="5"/>
            <c:spPr>
              <a:solidFill>
                <a:srgbClr val="C00000"/>
              </a:solidFill>
            </c:spPr>
          </c:dPt>
          <c:dLbls>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6"/>
                <c:pt idx="0">
                  <c:v> </c:v>
                </c:pt>
                <c:pt idx="1">
                  <c:v>  </c:v>
                </c:pt>
                <c:pt idx="2">
                  <c:v>   </c:v>
                </c:pt>
                <c:pt idx="3">
                  <c:v>    </c:v>
                </c:pt>
                <c:pt idx="4">
                  <c:v>Distributors &amp; Traders</c:v>
                </c:pt>
                <c:pt idx="5">
                  <c:v>Direct</c:v>
                </c:pt>
              </c:strCache>
            </c:strRef>
          </c:cat>
          <c:val>
            <c:numRef>
              <c:numCache>
                <c:formatCode>General</c:formatCode>
                <c:ptCount val="6"/>
                <c:pt idx="4">
                  <c:v>1052.04</c:v>
                </c:pt>
                <c:pt idx="5">
                  <c:v>1433.025</c:v>
                </c:pt>
              </c:numCache>
            </c:numRef>
          </c:val>
        </c:ser>
        <c:dLbls>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none"/>
        <c:minorTickMark val="none"/>
        <c:tickLblPos val="nextTo"/>
        <c:spPr>
          <a:ln>
            <a:noFill/>
          </a:ln>
        </c:spPr>
        <c:txPr>
          <a:bodyPr/>
          <a:lstStyle/>
          <a:p>
            <a:pPr>
              <a:defRPr sz="1100"/>
            </a:pPr>
          </a:p>
        </c:txPr>
        <c:crossAx val="-2113994440"/>
        <c:crosses val="autoZero"/>
        <c:auto val="1"/>
        <c:lblAlgn val="ctr"/>
        <c:lblOffset val="100"/>
        <c:noMultiLvlLbl val="0"/>
        <c:tickLblSkip val="1"/>
        <c:tickMarkSkip val="1"/>
      </c:catAx>
      <c:valAx>
        <c:axId val="-2113994440"/>
        <c:scaling>
          <c:max val="1920.2535000000003"/>
          <c:min val="0.0"/>
        </c:scaling>
        <c:delete val="0"/>
        <c:axPos val="b"/>
        <c:numFmt formatCode="#,##0" sourceLinked="0"/>
        <c:majorTickMark val="none"/>
        <c:minorTickMark val="none"/>
        <c:tickLblPos val="none"/>
        <c:spPr>
          <a:ln>
            <a:no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2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5"/>
                <c:pt idx="0">
                  <c:v>2026</c:v>
                </c:pt>
                <c:pt idx="1">
                  <c:v>Micronized Eggshell Membrane</c:v>
                </c:pt>
                <c:pt idx="2">
                  <c:v>Hydrolyzed Eggshell Membrane</c:v>
                </c:pt>
                <c:pt idx="3">
                  <c:v>Specialty Extracted Protein Fractions</c:v>
                </c:pt>
                <c:pt idx="4">
                  <c:v>2036 Total</c:v>
                </c:pt>
              </c:strCache>
            </c:strRef>
          </c:cat>
          <c:val>
            <c:numRef>
              <c:numCache>
                <c:formatCode>General</c:formatCode>
                <c:ptCount val="5"/>
                <c:pt idx="0">
                  <c:v>0.0</c:v>
                </c:pt>
                <c:pt idx="1">
                  <c:v>2485.0649999999996</c:v>
                </c:pt>
                <c:pt idx="2">
                  <c:v>2957.0589999999993</c:v>
                </c:pt>
                <c:pt idx="3">
                  <c:v>3227.042999999999</c:v>
                </c:pt>
                <c:pt idx="4">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00ACAC"/>
              </a:solidFill>
            </c:spPr>
          </c:dPt>
          <c:dPt>
            <c:idx val="3"/>
            <c:spPr>
              <a:solidFill>
                <a:srgbClr val="00ACAC"/>
              </a:solidFill>
            </c:spPr>
          </c:dPt>
          <c:dPt>
            <c:idx val="4"/>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5"/>
                <c:pt idx="0">
                  <c:v>2026</c:v>
                </c:pt>
                <c:pt idx="1">
                  <c:v>Micronized Eggshell Membrane</c:v>
                </c:pt>
                <c:pt idx="2">
                  <c:v>Hydrolyzed Eggshell Membrane</c:v>
                </c:pt>
                <c:pt idx="3">
                  <c:v>Specialty Extracted Protein Fractions</c:v>
                </c:pt>
                <c:pt idx="4">
                  <c:v>2036 Total</c:v>
                </c:pt>
              </c:strCache>
            </c:strRef>
          </c:cat>
          <c:val>
            <c:numRef>
              <c:numCache>
                <c:formatCode>General</c:formatCode>
                <c:ptCount val="5"/>
                <c:pt idx="0">
                  <c:v>2485.0649999999996</c:v>
                </c:pt>
                <c:pt idx="1">
                  <c:v>471.9939999999999</c:v>
                </c:pt>
                <c:pt idx="2">
                  <c:v>269.98400000000004</c:v>
                </c:pt>
                <c:pt idx="3">
                  <c:v>390.31899999999996</c:v>
                </c:pt>
                <c:pt idx="4">
                  <c:v>3617.362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2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4"/>
                <c:pt idx="0">
                  <c:v>Micronized Eggshell Membrane</c:v>
                </c:pt>
                <c:pt idx="1">
                  <c:v>Hydrolyzed Eggshell Membrane</c:v>
                </c:pt>
                <c:pt idx="2">
                  <c:v>Specialty Extracted Protein Fractions</c:v>
                </c:pt>
                <c:pt idx="3">
                  <c:v>Total Absolute $ Opportunity</c:v>
                </c:pt>
              </c:strCache>
            </c:strRef>
          </c:cat>
          <c:val>
            <c:numRef>
              <c:numCache>
                <c:formatCode>General</c:formatCode>
                <c:ptCount val="4"/>
                <c:pt idx="0">
                  <c:v>0.0</c:v>
                </c:pt>
                <c:pt idx="1">
                  <c:v>471.9939999999999</c:v>
                </c:pt>
                <c:pt idx="2">
                  <c:v>741.978</c:v>
                </c:pt>
                <c:pt idx="3">
                  <c:v>0.0</c:v>
                </c:pt>
              </c:numCache>
            </c:numRef>
          </c:val>
        </c:ser>
        <c:ser>
          <c:idx val="1"/>
          <c:order val="1"/>
          <c:tx>
            <c:strRef>
              <c:strCache>
                <c:ptCount val="1"/>
                <c:pt idx="0">
                  <c:v>value</c:v>
                </c:pt>
              </c:strCache>
            </c:strRef>
          </c:tx>
          <c:spPr/>
          <c:dPt>
            <c:idx val="0"/>
            <c:spPr>
              <a:solidFill>
                <a:srgbClr val="00ACAC"/>
              </a:solidFill>
            </c:spPr>
          </c:dPt>
          <c:dPt>
            <c:idx val="1"/>
            <c:spPr>
              <a:solidFill>
                <a:srgbClr val="00ACAC"/>
              </a:solidFill>
            </c:spPr>
          </c:dPt>
          <c:dPt>
            <c:idx val="2"/>
            <c:spPr>
              <a:solidFill>
                <a:srgbClr val="00ACAC"/>
              </a:solidFill>
            </c:spPr>
          </c:dPt>
          <c:dPt>
            <c:idx val="3"/>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4"/>
                <c:pt idx="0">
                  <c:v>Micronized Eggshell Membrane</c:v>
                </c:pt>
                <c:pt idx="1">
                  <c:v>Hydrolyzed Eggshell Membrane</c:v>
                </c:pt>
                <c:pt idx="2">
                  <c:v>Specialty Extracted Protein Fractions</c:v>
                </c:pt>
                <c:pt idx="3">
                  <c:v>Total Absolute $ Opportunity</c:v>
                </c:pt>
              </c:strCache>
            </c:strRef>
          </c:cat>
          <c:val>
            <c:numRef>
              <c:numCache>
                <c:formatCode>General</c:formatCode>
                <c:ptCount val="4"/>
                <c:pt idx="0">
                  <c:v>471.9939999999999</c:v>
                </c:pt>
                <c:pt idx="1">
                  <c:v>269.98400000000004</c:v>
                </c:pt>
                <c:pt idx="2">
                  <c:v>390.31899999999996</c:v>
                </c:pt>
                <c:pt idx="3">
                  <c:v>1132.297</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2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6"/>
                <c:pt idx="0">
                  <c:v>2026</c:v>
                </c:pt>
                <c:pt idx="1">
                  <c:v>Mechanical Separation &amp; Micronization</c:v>
                </c:pt>
                <c:pt idx="2">
                  <c:v>Enzymatic Hydrolysis</c:v>
                </c:pt>
                <c:pt idx="3">
                  <c:v>Chemical Hydrolysis / Solubilization</c:v>
                </c:pt>
                <c:pt idx="4">
                  <c:v>Other / Hybrid Processing Methods</c:v>
                </c:pt>
                <c:pt idx="5">
                  <c:v>2036 Total</c:v>
                </c:pt>
              </c:strCache>
            </c:strRef>
          </c:cat>
          <c:val>
            <c:numRef>
              <c:numCache>
                <c:formatCode>General</c:formatCode>
                <c:ptCount val="6"/>
                <c:pt idx="0">
                  <c:v>0.0</c:v>
                </c:pt>
                <c:pt idx="1">
                  <c:v>2485.065</c:v>
                </c:pt>
                <c:pt idx="2">
                  <c:v>3118.757</c:v>
                </c:pt>
                <c:pt idx="3">
                  <c:v>3121.133</c:v>
                </c:pt>
                <c:pt idx="4">
                  <c:v>3280.785</c:v>
                </c:pt>
                <c:pt idx="5">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00ACAC"/>
              </a:solidFill>
            </c:spPr>
          </c:dPt>
          <c:dPt>
            <c:idx val="3"/>
            <c:spPr>
              <a:solidFill>
                <a:srgbClr val="00ACAC"/>
              </a:solidFill>
            </c:spPr>
          </c:dPt>
          <c:dPt>
            <c:idx val="4"/>
            <c:spPr>
              <a:solidFill>
                <a:srgbClr val="00ACAC"/>
              </a:solidFill>
            </c:spPr>
          </c:dPt>
          <c:dPt>
            <c:idx val="5"/>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6"/>
                <c:pt idx="0">
                  <c:v>2026</c:v>
                </c:pt>
                <c:pt idx="1">
                  <c:v>Mechanical Separation &amp; Micronization</c:v>
                </c:pt>
                <c:pt idx="2">
                  <c:v>Enzymatic Hydrolysis</c:v>
                </c:pt>
                <c:pt idx="3">
                  <c:v>Chemical Hydrolysis / Solubilization</c:v>
                </c:pt>
                <c:pt idx="4">
                  <c:v>Other / Hybrid Processing Methods</c:v>
                </c:pt>
                <c:pt idx="5">
                  <c:v>2036 Total</c:v>
                </c:pt>
              </c:strCache>
            </c:strRef>
          </c:cat>
          <c:val>
            <c:numRef>
              <c:numCache>
                <c:formatCode>General</c:formatCode>
                <c:ptCount val="6"/>
                <c:pt idx="0">
                  <c:v>2485.065</c:v>
                </c:pt>
                <c:pt idx="1">
                  <c:v>633.692</c:v>
                </c:pt>
                <c:pt idx="2">
                  <c:v>2.3759999999999764</c:v>
                </c:pt>
                <c:pt idx="3">
                  <c:v>159.652</c:v>
                </c:pt>
                <c:pt idx="4">
                  <c:v>336.577</c:v>
                </c:pt>
                <c:pt idx="5">
                  <c:v>3617.3620000000005</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2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5"/>
                <c:pt idx="0">
                  <c:v>Mechanical Separation &amp; Micronization</c:v>
                </c:pt>
                <c:pt idx="1">
                  <c:v>Enzymatic Hydrolysis</c:v>
                </c:pt>
                <c:pt idx="2">
                  <c:v>Chemical Hydrolysis / Solubilization</c:v>
                </c:pt>
                <c:pt idx="3">
                  <c:v>Other / Hybrid Processing Methods</c:v>
                </c:pt>
                <c:pt idx="4">
                  <c:v>Total Absolute $ Opportunity</c:v>
                </c:pt>
              </c:strCache>
            </c:strRef>
          </c:cat>
          <c:val>
            <c:numRef>
              <c:numCache>
                <c:formatCode>General</c:formatCode>
                <c:ptCount val="5"/>
                <c:pt idx="0">
                  <c:v>0.0</c:v>
                </c:pt>
                <c:pt idx="1">
                  <c:v>633.692</c:v>
                </c:pt>
                <c:pt idx="2">
                  <c:v>636.068</c:v>
                </c:pt>
                <c:pt idx="3">
                  <c:v>795.72</c:v>
                </c:pt>
                <c:pt idx="4">
                  <c:v>0.0</c:v>
                </c:pt>
              </c:numCache>
            </c:numRef>
          </c:val>
        </c:ser>
        <c:ser>
          <c:idx val="1"/>
          <c:order val="1"/>
          <c:tx>
            <c:strRef>
              <c:strCache>
                <c:ptCount val="1"/>
                <c:pt idx="0">
                  <c:v>value</c:v>
                </c:pt>
              </c:strCache>
            </c:strRef>
          </c:tx>
          <c:spPr/>
          <c:dPt>
            <c:idx val="0"/>
            <c:spPr>
              <a:solidFill>
                <a:srgbClr val="00ACAC"/>
              </a:solidFill>
            </c:spPr>
          </c:dPt>
          <c:dPt>
            <c:idx val="1"/>
            <c:spPr>
              <a:solidFill>
                <a:srgbClr val="00ACAC"/>
              </a:solidFill>
            </c:spPr>
          </c:dPt>
          <c:dPt>
            <c:idx val="2"/>
            <c:spPr>
              <a:solidFill>
                <a:srgbClr val="00ACAC"/>
              </a:solidFill>
            </c:spPr>
          </c:dPt>
          <c:dPt>
            <c:idx val="3"/>
            <c:spPr>
              <a:solidFill>
                <a:srgbClr val="00ACAC"/>
              </a:solidFill>
            </c:spPr>
          </c:dPt>
          <c:dPt>
            <c:idx val="4"/>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5"/>
                <c:pt idx="0">
                  <c:v>Mechanical Separation &amp; Micronization</c:v>
                </c:pt>
                <c:pt idx="1">
                  <c:v>Enzymatic Hydrolysis</c:v>
                </c:pt>
                <c:pt idx="2">
                  <c:v>Chemical Hydrolysis / Solubilization</c:v>
                </c:pt>
                <c:pt idx="3">
                  <c:v>Other / Hybrid Processing Methods</c:v>
                </c:pt>
                <c:pt idx="4">
                  <c:v>Total Absolute $ Opportunity</c:v>
                </c:pt>
              </c:strCache>
            </c:strRef>
          </c:cat>
          <c:val>
            <c:numRef>
              <c:numCache>
                <c:formatCode>General</c:formatCode>
                <c:ptCount val="5"/>
                <c:pt idx="0">
                  <c:v>633.692</c:v>
                </c:pt>
                <c:pt idx="1">
                  <c:v>2.3759999999999764</c:v>
                </c:pt>
                <c:pt idx="2">
                  <c:v>159.652</c:v>
                </c:pt>
                <c:pt idx="3">
                  <c:v>336.577</c:v>
                </c:pt>
                <c:pt idx="4">
                  <c:v>1132.297</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2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4"/>
                <c:pt idx="0">
                  <c:v>2026</c:v>
                </c:pt>
                <c:pt idx="1">
                  <c:v>Chicken Eggshell Membrane</c:v>
                </c:pt>
                <c:pt idx="2">
                  <c:v>Other Poultry Eggshell Membrane</c:v>
                </c:pt>
                <c:pt idx="3">
                  <c:v>2036 Total</c:v>
                </c:pt>
              </c:strCache>
            </c:strRef>
          </c:cat>
          <c:val>
            <c:numRef>
              <c:numCache>
                <c:formatCode>General</c:formatCode>
                <c:ptCount val="4"/>
                <c:pt idx="0">
                  <c:v>0.0</c:v>
                </c:pt>
                <c:pt idx="1">
                  <c:v>2485.0649999999996</c:v>
                </c:pt>
                <c:pt idx="2">
                  <c:v>3421.29</c:v>
                </c:pt>
                <c:pt idx="3">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00ACAC"/>
              </a:solidFill>
            </c:spPr>
          </c:dPt>
          <c:dPt>
            <c:idx val="3"/>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4"/>
                <c:pt idx="0">
                  <c:v>2026</c:v>
                </c:pt>
                <c:pt idx="1">
                  <c:v>Chicken Eggshell Membrane</c:v>
                </c:pt>
                <c:pt idx="2">
                  <c:v>Other Poultry Eggshell Membrane</c:v>
                </c:pt>
                <c:pt idx="3">
                  <c:v>2036 Total</c:v>
                </c:pt>
              </c:strCache>
            </c:strRef>
          </c:cat>
          <c:val>
            <c:numRef>
              <c:numCache>
                <c:formatCode>General</c:formatCode>
                <c:ptCount val="4"/>
                <c:pt idx="0">
                  <c:v>2485.0649999999996</c:v>
                </c:pt>
                <c:pt idx="1">
                  <c:v>936.2250000000004</c:v>
                </c:pt>
                <c:pt idx="2">
                  <c:v>196.072</c:v>
                </c:pt>
                <c:pt idx="3">
                  <c:v>3617.362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2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3"/>
                <c:pt idx="0">
                  <c:v>Chicken Eggshell Membrane</c:v>
                </c:pt>
                <c:pt idx="1">
                  <c:v>Other Poultry Eggshell Membrane</c:v>
                </c:pt>
                <c:pt idx="2">
                  <c:v>Total Absolute $ Opportunity</c:v>
                </c:pt>
              </c:strCache>
            </c:strRef>
          </c:cat>
          <c:val>
            <c:numRef>
              <c:numCache>
                <c:formatCode>General</c:formatCode>
                <c:ptCount val="3"/>
                <c:pt idx="0">
                  <c:v>0.0</c:v>
                </c:pt>
                <c:pt idx="1">
                  <c:v>936.2250000000004</c:v>
                </c:pt>
                <c:pt idx="2">
                  <c:v>0.0</c:v>
                </c:pt>
              </c:numCache>
            </c:numRef>
          </c:val>
        </c:ser>
        <c:ser>
          <c:idx val="1"/>
          <c:order val="1"/>
          <c:tx>
            <c:strRef>
              <c:strCache>
                <c:ptCount val="1"/>
                <c:pt idx="0">
                  <c:v>value</c:v>
                </c:pt>
              </c:strCache>
            </c:strRef>
          </c:tx>
          <c:spPr/>
          <c:dPt>
            <c:idx val="0"/>
            <c:spPr>
              <a:solidFill>
                <a:srgbClr val="00ACAC"/>
              </a:solidFill>
            </c:spPr>
          </c:dPt>
          <c:dPt>
            <c:idx val="1"/>
            <c:spPr>
              <a:solidFill>
                <a:srgbClr val="00ACAC"/>
              </a:solidFill>
            </c:spPr>
          </c:dPt>
          <c:dPt>
            <c:idx val="2"/>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3"/>
                <c:pt idx="0">
                  <c:v>Chicken Eggshell Membrane</c:v>
                </c:pt>
                <c:pt idx="1">
                  <c:v>Other Poultry Eggshell Membrane</c:v>
                </c:pt>
                <c:pt idx="2">
                  <c:v>Total Absolute $ Opportunity</c:v>
                </c:pt>
              </c:strCache>
            </c:strRef>
          </c:cat>
          <c:val>
            <c:numRef>
              <c:numCache>
                <c:formatCode>General</c:formatCode>
                <c:ptCount val="3"/>
                <c:pt idx="0">
                  <c:v>936.2250000000004</c:v>
                </c:pt>
                <c:pt idx="1">
                  <c:v>196.072</c:v>
                </c:pt>
                <c:pt idx="2">
                  <c:v>1132.2970000000005</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2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4"/>
                <c:pt idx="0">
                  <c:v>2026</c:v>
                </c:pt>
                <c:pt idx="1">
                  <c:v>Powder</c:v>
                </c:pt>
                <c:pt idx="2">
                  <c:v>Liquid / Concentrate</c:v>
                </c:pt>
                <c:pt idx="3">
                  <c:v>2036 Total</c:v>
                </c:pt>
              </c:strCache>
            </c:strRef>
          </c:cat>
          <c:val>
            <c:numRef>
              <c:numCache>
                <c:formatCode>General</c:formatCode>
                <c:ptCount val="4"/>
                <c:pt idx="0">
                  <c:v>0.0</c:v>
                </c:pt>
                <c:pt idx="1">
                  <c:v>2485.065</c:v>
                </c:pt>
                <c:pt idx="2">
                  <c:v>2696.167</c:v>
                </c:pt>
                <c:pt idx="3">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00ACAC"/>
              </a:solidFill>
            </c:spPr>
          </c:dPt>
          <c:dPt>
            <c:idx val="3"/>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4"/>
                <c:pt idx="0">
                  <c:v>2026</c:v>
                </c:pt>
                <c:pt idx="1">
                  <c:v>Powder</c:v>
                </c:pt>
                <c:pt idx="2">
                  <c:v>Liquid / Concentrate</c:v>
                </c:pt>
                <c:pt idx="3">
                  <c:v>2036 Total</c:v>
                </c:pt>
              </c:strCache>
            </c:strRef>
          </c:cat>
          <c:val>
            <c:numRef>
              <c:numCache>
                <c:formatCode>General</c:formatCode>
                <c:ptCount val="4"/>
                <c:pt idx="0">
                  <c:v>2485.065</c:v>
                </c:pt>
                <c:pt idx="1">
                  <c:v>211.10199999999998</c:v>
                </c:pt>
                <c:pt idx="2">
                  <c:v>921.1949999999997</c:v>
                </c:pt>
                <c:pt idx="3">
                  <c:v>3617.3619999999996</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2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3"/>
                <c:pt idx="0">
                  <c:v>Powder</c:v>
                </c:pt>
                <c:pt idx="1">
                  <c:v>Liquid / Concentrate</c:v>
                </c:pt>
                <c:pt idx="2">
                  <c:v>Total Absolute $ Opportunity</c:v>
                </c:pt>
              </c:strCache>
            </c:strRef>
          </c:cat>
          <c:val>
            <c:numRef>
              <c:numCache>
                <c:formatCode>General</c:formatCode>
                <c:ptCount val="3"/>
                <c:pt idx="0">
                  <c:v>0.0</c:v>
                </c:pt>
                <c:pt idx="1">
                  <c:v>211.10199999999998</c:v>
                </c:pt>
                <c:pt idx="2">
                  <c:v>0.0</c:v>
                </c:pt>
              </c:numCache>
            </c:numRef>
          </c:val>
        </c:ser>
        <c:ser>
          <c:idx val="1"/>
          <c:order val="1"/>
          <c:tx>
            <c:strRef>
              <c:strCache>
                <c:ptCount val="1"/>
                <c:pt idx="0">
                  <c:v>value</c:v>
                </c:pt>
              </c:strCache>
            </c:strRef>
          </c:tx>
          <c:spPr/>
          <c:dPt>
            <c:idx val="0"/>
            <c:spPr>
              <a:solidFill>
                <a:srgbClr val="00ACAC"/>
              </a:solidFill>
            </c:spPr>
          </c:dPt>
          <c:dPt>
            <c:idx val="1"/>
            <c:spPr>
              <a:solidFill>
                <a:srgbClr val="00ACAC"/>
              </a:solidFill>
            </c:spPr>
          </c:dPt>
          <c:dPt>
            <c:idx val="2"/>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3"/>
                <c:pt idx="0">
                  <c:v>Powder</c:v>
                </c:pt>
                <c:pt idx="1">
                  <c:v>Liquid / Concentrate</c:v>
                </c:pt>
                <c:pt idx="2">
                  <c:v>Total Absolute $ Opportunity</c:v>
                </c:pt>
              </c:strCache>
            </c:strRef>
          </c:cat>
          <c:val>
            <c:numRef>
              <c:numCache>
                <c:formatCode>General</c:formatCode>
                <c:ptCount val="3"/>
                <c:pt idx="0">
                  <c:v>211.10199999999998</c:v>
                </c:pt>
                <c:pt idx="1">
                  <c:v>921.1949999999997</c:v>
                </c:pt>
                <c:pt idx="2">
                  <c:v>1132.2969999999996</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2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8"/>
                <c:pt idx="0">
                  <c:v>2026</c:v>
                </c:pt>
                <c:pt idx="1">
                  <c:v>Dietary Supplements &amp; Nutraceuticals</c:v>
                </c:pt>
                <c:pt idx="2">
                  <c:v>Functional Food &amp; Beverages</c:v>
                </c:pt>
                <c:pt idx="3">
                  <c:v>Cosmetics &amp; Personal Care</c:v>
                </c:pt>
                <c:pt idx="4">
                  <c:v>Pharmaceuticals &amp; Biomedical</c:v>
                </c:pt>
                <c:pt idx="5">
                  <c:v>Animal Nutrition &amp; Pet Care</c:v>
                </c:pt>
                <c:pt idx="6">
                  <c:v>Industrial &amp; Biomaterials</c:v>
                </c:pt>
                <c:pt idx="7">
                  <c:v>2036 Total</c:v>
                </c:pt>
              </c:strCache>
            </c:strRef>
          </c:cat>
          <c:val>
            <c:numRef>
              <c:numCache>
                <c:formatCode>General</c:formatCode>
                <c:ptCount val="8"/>
                <c:pt idx="0">
                  <c:v>0.0</c:v>
                </c:pt>
                <c:pt idx="1">
                  <c:v>2485.0650000000005</c:v>
                </c:pt>
                <c:pt idx="2">
                  <c:v>2756.0070000000005</c:v>
                </c:pt>
                <c:pt idx="3">
                  <c:v>3132.1220000000003</c:v>
                </c:pt>
                <c:pt idx="4">
                  <c:v>3210.3160000000003</c:v>
                </c:pt>
                <c:pt idx="5">
                  <c:v>3364.686</c:v>
                </c:pt>
                <c:pt idx="6">
                  <c:v>3435.603</c:v>
                </c:pt>
                <c:pt idx="7">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00ACAC"/>
              </a:solidFill>
            </c:spPr>
          </c:dPt>
          <c:dPt>
            <c:idx val="3"/>
            <c:spPr>
              <a:solidFill>
                <a:srgbClr val="00ACAC"/>
              </a:solidFill>
            </c:spPr>
          </c:dPt>
          <c:dPt>
            <c:idx val="4"/>
            <c:spPr>
              <a:solidFill>
                <a:srgbClr val="00ACAC"/>
              </a:solidFill>
            </c:spPr>
          </c:dPt>
          <c:dPt>
            <c:idx val="5"/>
            <c:spPr>
              <a:solidFill>
                <a:srgbClr val="00ACAC"/>
              </a:solidFill>
            </c:spPr>
          </c:dPt>
          <c:dPt>
            <c:idx val="6"/>
            <c:spPr>
              <a:solidFill>
                <a:srgbClr val="00ACAC"/>
              </a:solidFill>
            </c:spPr>
          </c:dPt>
          <c:dPt>
            <c:idx val="7"/>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8"/>
                <c:pt idx="0">
                  <c:v>2026</c:v>
                </c:pt>
                <c:pt idx="1">
                  <c:v>Dietary Supplements &amp; Nutraceuticals</c:v>
                </c:pt>
                <c:pt idx="2">
                  <c:v>Functional Food &amp; Beverages</c:v>
                </c:pt>
                <c:pt idx="3">
                  <c:v>Cosmetics &amp; Personal Care</c:v>
                </c:pt>
                <c:pt idx="4">
                  <c:v>Pharmaceuticals &amp; Biomedical</c:v>
                </c:pt>
                <c:pt idx="5">
                  <c:v>Animal Nutrition &amp; Pet Care</c:v>
                </c:pt>
                <c:pt idx="6">
                  <c:v>Industrial &amp; Biomaterials</c:v>
                </c:pt>
                <c:pt idx="7">
                  <c:v>2036 Total</c:v>
                </c:pt>
              </c:strCache>
            </c:strRef>
          </c:cat>
          <c:val>
            <c:numRef>
              <c:numCache>
                <c:formatCode>General</c:formatCode>
                <c:ptCount val="8"/>
                <c:pt idx="0">
                  <c:v>2485.0650000000005</c:v>
                </c:pt>
                <c:pt idx="1">
                  <c:v>270.9419999999999</c:v>
                </c:pt>
                <c:pt idx="2">
                  <c:v>376.11499999999995</c:v>
                </c:pt>
                <c:pt idx="3">
                  <c:v>78.19399999999996</c:v>
                </c:pt>
                <c:pt idx="4">
                  <c:v>154.37</c:v>
                </c:pt>
                <c:pt idx="5">
                  <c:v>70.91699999999997</c:v>
                </c:pt>
                <c:pt idx="6">
                  <c:v>181.75899999999996</c:v>
                </c:pt>
                <c:pt idx="7">
                  <c:v>3617.362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3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Dietary Supplements &amp; Nutraceuticals</c:v>
                </c:pt>
                <c:pt idx="1">
                  <c:v>Functional Food &amp; Beverages</c:v>
                </c:pt>
                <c:pt idx="2">
                  <c:v>Cosmetics &amp; Personal Care</c:v>
                </c:pt>
                <c:pt idx="3">
                  <c:v>Pharmaceuticals &amp; Biomedical</c:v>
                </c:pt>
                <c:pt idx="4">
                  <c:v>Animal Nutrition &amp; Pet Care</c:v>
                </c:pt>
                <c:pt idx="5">
                  <c:v>Industrial &amp; Biomaterials</c:v>
                </c:pt>
                <c:pt idx="6">
                  <c:v>Total Absolute $ Opportunity</c:v>
                </c:pt>
              </c:strCache>
            </c:strRef>
          </c:cat>
          <c:val>
            <c:numRef>
              <c:numCache>
                <c:formatCode>General</c:formatCode>
                <c:ptCount val="7"/>
                <c:pt idx="0">
                  <c:v>0.0</c:v>
                </c:pt>
                <c:pt idx="1">
                  <c:v>270.9419999999999</c:v>
                </c:pt>
                <c:pt idx="2">
                  <c:v>647.0569999999998</c:v>
                </c:pt>
                <c:pt idx="3">
                  <c:v>725.2509999999997</c:v>
                </c:pt>
                <c:pt idx="4">
                  <c:v>879.6209999999998</c:v>
                </c:pt>
                <c:pt idx="5">
                  <c:v>950.5379999999998</c:v>
                </c:pt>
                <c:pt idx="6">
                  <c:v>0.0</c:v>
                </c:pt>
              </c:numCache>
            </c:numRef>
          </c:val>
        </c:ser>
        <c:ser>
          <c:idx val="1"/>
          <c:order val="1"/>
          <c:tx>
            <c:strRef>
              <c:strCache>
                <c:ptCount val="1"/>
                <c:pt idx="0">
                  <c:v>value</c:v>
                </c:pt>
              </c:strCache>
            </c:strRef>
          </c:tx>
          <c:spPr/>
          <c:dPt>
            <c:idx val="0"/>
            <c:spPr>
              <a:solidFill>
                <a:srgbClr val="00ACAC"/>
              </a:solidFill>
            </c:spPr>
          </c:dPt>
          <c:dPt>
            <c:idx val="1"/>
            <c:spPr>
              <a:solidFill>
                <a:srgbClr val="00ACAC"/>
              </a:solidFill>
            </c:spPr>
          </c:dPt>
          <c:dPt>
            <c:idx val="2"/>
            <c:spPr>
              <a:solidFill>
                <a:srgbClr val="00ACAC"/>
              </a:solidFill>
            </c:spPr>
          </c:dPt>
          <c:dPt>
            <c:idx val="3"/>
            <c:spPr>
              <a:solidFill>
                <a:srgbClr val="00ACAC"/>
              </a:solidFill>
            </c:spPr>
          </c:dPt>
          <c:dPt>
            <c:idx val="4"/>
            <c:spPr>
              <a:solidFill>
                <a:srgbClr val="00ACAC"/>
              </a:solidFill>
            </c:spPr>
          </c:dPt>
          <c:dPt>
            <c:idx val="5"/>
            <c:spPr>
              <a:solidFill>
                <a:srgbClr val="00ACAC"/>
              </a:solidFill>
            </c:spPr>
          </c:dPt>
          <c:dPt>
            <c:idx val="6"/>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Dietary Supplements &amp; Nutraceuticals</c:v>
                </c:pt>
                <c:pt idx="1">
                  <c:v>Functional Food &amp; Beverages</c:v>
                </c:pt>
                <c:pt idx="2">
                  <c:v>Cosmetics &amp; Personal Care</c:v>
                </c:pt>
                <c:pt idx="3">
                  <c:v>Pharmaceuticals &amp; Biomedical</c:v>
                </c:pt>
                <c:pt idx="4">
                  <c:v>Animal Nutrition &amp; Pet Care</c:v>
                </c:pt>
                <c:pt idx="5">
                  <c:v>Industrial &amp; Biomaterials</c:v>
                </c:pt>
                <c:pt idx="6">
                  <c:v>Total Absolute $ Opportunity</c:v>
                </c:pt>
              </c:strCache>
            </c:strRef>
          </c:cat>
          <c:val>
            <c:numRef>
              <c:numCache>
                <c:formatCode>General</c:formatCode>
                <c:ptCount val="7"/>
                <c:pt idx="0">
                  <c:v>270.9419999999999</c:v>
                </c:pt>
                <c:pt idx="1">
                  <c:v>376.11499999999995</c:v>
                </c:pt>
                <c:pt idx="2">
                  <c:v>78.19399999999996</c:v>
                </c:pt>
                <c:pt idx="3">
                  <c:v>154.37</c:v>
                </c:pt>
                <c:pt idx="4">
                  <c:v>70.91699999999997</c:v>
                </c:pt>
                <c:pt idx="5">
                  <c:v>181.75899999999996</c:v>
                </c:pt>
                <c:pt idx="6">
                  <c:v>1132.2969999999998</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3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4"/>
                <c:pt idx="0">
                  <c:v>2026</c:v>
                </c:pt>
                <c:pt idx="1">
                  <c:v>Direct</c:v>
                </c:pt>
                <c:pt idx="2">
                  <c:v>Distributors &amp; Traders</c:v>
                </c:pt>
                <c:pt idx="3">
                  <c:v>2036 Total</c:v>
                </c:pt>
              </c:strCache>
            </c:strRef>
          </c:cat>
          <c:val>
            <c:numRef>
              <c:numCache>
                <c:formatCode>General</c:formatCode>
                <c:ptCount val="4"/>
                <c:pt idx="0">
                  <c:v>0.0</c:v>
                </c:pt>
                <c:pt idx="1">
                  <c:v>2485.065</c:v>
                </c:pt>
                <c:pt idx="2">
                  <c:v>3143.746</c:v>
                </c:pt>
                <c:pt idx="3">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00ACAC"/>
              </a:solidFill>
            </c:spPr>
          </c:dPt>
          <c:dPt>
            <c:idx val="3"/>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4"/>
                <c:pt idx="0">
                  <c:v>2026</c:v>
                </c:pt>
                <c:pt idx="1">
                  <c:v>Direct</c:v>
                </c:pt>
                <c:pt idx="2">
                  <c:v>Distributors &amp; Traders</c:v>
                </c:pt>
                <c:pt idx="3">
                  <c:v>2036 Total</c:v>
                </c:pt>
              </c:strCache>
            </c:strRef>
          </c:cat>
          <c:val>
            <c:numRef>
              <c:numCache>
                <c:formatCode>General</c:formatCode>
                <c:ptCount val="4"/>
                <c:pt idx="0">
                  <c:v>2485.065</c:v>
                </c:pt>
                <c:pt idx="1">
                  <c:v>658.681</c:v>
                </c:pt>
                <c:pt idx="2">
                  <c:v>473.616</c:v>
                </c:pt>
                <c:pt idx="3">
                  <c:v>3617.362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3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3"/>
                <c:pt idx="0">
                  <c:v>Direct</c:v>
                </c:pt>
                <c:pt idx="1">
                  <c:v>Distributors &amp; Traders</c:v>
                </c:pt>
                <c:pt idx="2">
                  <c:v>Total Absolute $ Opportunity</c:v>
                </c:pt>
              </c:strCache>
            </c:strRef>
          </c:cat>
          <c:val>
            <c:numRef>
              <c:numCache>
                <c:formatCode>General</c:formatCode>
                <c:ptCount val="3"/>
                <c:pt idx="0">
                  <c:v>0.0</c:v>
                </c:pt>
                <c:pt idx="1">
                  <c:v>658.681</c:v>
                </c:pt>
                <c:pt idx="2">
                  <c:v>0.0</c:v>
                </c:pt>
              </c:numCache>
            </c:numRef>
          </c:val>
        </c:ser>
        <c:ser>
          <c:idx val="1"/>
          <c:order val="1"/>
          <c:tx>
            <c:strRef>
              <c:strCache>
                <c:ptCount val="1"/>
                <c:pt idx="0">
                  <c:v>value</c:v>
                </c:pt>
              </c:strCache>
            </c:strRef>
          </c:tx>
          <c:spPr/>
          <c:dPt>
            <c:idx val="0"/>
            <c:spPr>
              <a:solidFill>
                <a:srgbClr val="00ACAC"/>
              </a:solidFill>
            </c:spPr>
          </c:dPt>
          <c:dPt>
            <c:idx val="1"/>
            <c:spPr>
              <a:solidFill>
                <a:srgbClr val="00ACAC"/>
              </a:solidFill>
            </c:spPr>
          </c:dPt>
          <c:dPt>
            <c:idx val="2"/>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3"/>
                <c:pt idx="0">
                  <c:v>Direct</c:v>
                </c:pt>
                <c:pt idx="1">
                  <c:v>Distributors &amp; Traders</c:v>
                </c:pt>
                <c:pt idx="2">
                  <c:v>Total Absolute $ Opportunity</c:v>
                </c:pt>
              </c:strCache>
            </c:strRef>
          </c:cat>
          <c:val>
            <c:numRef>
              <c:numCache>
                <c:formatCode>General</c:formatCode>
                <c:ptCount val="3"/>
                <c:pt idx="0">
                  <c:v>658.681</c:v>
                </c:pt>
                <c:pt idx="1">
                  <c:v>473.616</c:v>
                </c:pt>
                <c:pt idx="2">
                  <c:v>1132.297</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33.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strCache>
                <c:ptCount val="1"/>
                <c:pt idx="0">
                  <c:v>Specialty Extracted Protein Fractions</c:v>
                </c:pt>
              </c:strCache>
            </c:strRef>
          </c:tx>
          <c:spPr>
            <a:ln w="25400">
              <a:solidFill>
                <a:srgbClr val="C55A11"/>
              </a:solidFill>
            </a:ln>
          </c:spPr>
          <c:marker>
            <c:symbol val="none"/>
          </c:marker>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26454.0</c:v>
                </c:pt>
                <c:pt idx="1">
                  <c:v>26529.0</c:v>
                </c:pt>
                <c:pt idx="2">
                  <c:v>26643.0</c:v>
                </c:pt>
                <c:pt idx="3">
                  <c:v>26844.0</c:v>
                </c:pt>
                <c:pt idx="4">
                  <c:v>27063.0</c:v>
                </c:pt>
                <c:pt idx="5">
                  <c:v>27394.0</c:v>
                </c:pt>
                <c:pt idx="6">
                  <c:v>27420.0</c:v>
                </c:pt>
                <c:pt idx="7">
                  <c:v>27464.0</c:v>
                </c:pt>
                <c:pt idx="8">
                  <c:v>27541.0</c:v>
                </c:pt>
                <c:pt idx="9">
                  <c:v>27670.0</c:v>
                </c:pt>
                <c:pt idx="10">
                  <c:v>27824.0</c:v>
                </c:pt>
                <c:pt idx="11">
                  <c:v>28031.0</c:v>
                </c:pt>
                <c:pt idx="12">
                  <c:v>28279.0</c:v>
                </c:pt>
                <c:pt idx="13">
                  <c:v>28562.0</c:v>
                </c:pt>
                <c:pt idx="14">
                  <c:v>28882.0</c:v>
                </c:pt>
                <c:pt idx="15">
                  <c:v>29262.0</c:v>
                </c:pt>
              </c:numCache>
            </c:numRef>
          </c:val>
          <c:smooth val="0"/>
        </c:ser>
        <c:ser>
          <c:idx val="1"/>
          <c:order val="1"/>
          <c:tx>
            <c:strRef>
              <c:strCache>
                <c:ptCount val="1"/>
                <c:pt idx="0">
                  <c:v>Micronized Eggshell Membrane</c:v>
                </c:pt>
              </c:strCache>
            </c:strRef>
          </c:tx>
          <c:spPr>
            <a:ln w="25400">
              <a:solidFill>
                <a:srgbClr val="0B2E4A"/>
              </a:solidFill>
            </a:ln>
          </c:spPr>
          <c:marker>
            <c:symbol val="none"/>
          </c:marker>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23449.0</c:v>
                </c:pt>
                <c:pt idx="1">
                  <c:v>23529.0</c:v>
                </c:pt>
                <c:pt idx="2">
                  <c:v>23616.0</c:v>
                </c:pt>
                <c:pt idx="3">
                  <c:v>23732.0</c:v>
                </c:pt>
                <c:pt idx="4">
                  <c:v>23937.0</c:v>
                </c:pt>
                <c:pt idx="5">
                  <c:v>24228.0</c:v>
                </c:pt>
                <c:pt idx="6">
                  <c:v>24457.0</c:v>
                </c:pt>
                <c:pt idx="7">
                  <c:v>24661.0</c:v>
                </c:pt>
                <c:pt idx="8">
                  <c:v>24803.0</c:v>
                </c:pt>
                <c:pt idx="9">
                  <c:v>24893.0</c:v>
                </c:pt>
                <c:pt idx="10">
                  <c:v>24964.0</c:v>
                </c:pt>
                <c:pt idx="11">
                  <c:v>25046.0</c:v>
                </c:pt>
                <c:pt idx="12">
                  <c:v>25154.0</c:v>
                </c:pt>
                <c:pt idx="13">
                  <c:v>25320.0</c:v>
                </c:pt>
                <c:pt idx="14">
                  <c:v>25535.0</c:v>
                </c:pt>
                <c:pt idx="15">
                  <c:v>25767.0</c:v>
                </c:pt>
              </c:numCache>
            </c:numRef>
          </c:val>
          <c:smooth val="0"/>
        </c:ser>
        <c:ser>
          <c:idx val="2"/>
          <c:order val="2"/>
          <c:tx>
            <c:strRef>
              <c:strCache>
                <c:ptCount val="1"/>
                <c:pt idx="0">
                  <c:v>Hydrolyzed Eggshell Membrane</c:v>
                </c:pt>
              </c:strCache>
            </c:strRef>
          </c:tx>
          <c:spPr>
            <a:ln w="25400">
              <a:solidFill>
                <a:srgbClr val="7030A0"/>
              </a:solidFill>
            </a:ln>
          </c:spPr>
          <c:marker>
            <c:symbol val="none"/>
          </c:marker>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22069.0</c:v>
                </c:pt>
                <c:pt idx="1">
                  <c:v>22220.0</c:v>
                </c:pt>
                <c:pt idx="2">
                  <c:v>22355.0</c:v>
                </c:pt>
                <c:pt idx="3">
                  <c:v>22488.0</c:v>
                </c:pt>
                <c:pt idx="4">
                  <c:v>22617.0</c:v>
                </c:pt>
                <c:pt idx="5">
                  <c:v>22741.0</c:v>
                </c:pt>
                <c:pt idx="6">
                  <c:v>22925.0</c:v>
                </c:pt>
                <c:pt idx="7">
                  <c:v>23111.0</c:v>
                </c:pt>
                <c:pt idx="8">
                  <c:v>23285.0</c:v>
                </c:pt>
                <c:pt idx="9">
                  <c:v>23446.0</c:v>
                </c:pt>
                <c:pt idx="10">
                  <c:v>23593.0</c:v>
                </c:pt>
                <c:pt idx="11">
                  <c:v>23711.0</c:v>
                </c:pt>
                <c:pt idx="12">
                  <c:v>23805.0</c:v>
                </c:pt>
                <c:pt idx="13">
                  <c:v>23906.0</c:v>
                </c:pt>
                <c:pt idx="14">
                  <c:v>23983.0</c:v>
                </c:pt>
                <c:pt idx="15">
                  <c:v>24055.0</c:v>
                </c:pt>
              </c:numCache>
            </c:numRef>
          </c:val>
          <c:smooth val="0"/>
        </c:ser>
        <c:marker val="1"/>
        <c:smooth val="0"/>
        <c:axId val="2118791784"/>
        <c:axId val="2140495176"/>
      </c:lineChart>
      <c:catAx>
        <c:axId val="2118791784"/>
        <c:scaling>
          <c:orientation val="minMax"/>
        </c:scaling>
        <c:delete val="0"/>
        <c:axPos val="b"/>
        <c:majorTickMark val="out"/>
        <c:minorTickMark val="none"/>
        <c:tickLblPos val="low"/>
        <c:spPr>
          <a:ln>
            <a:solidFill>
              <a:srgbClr val="D9DEE4"/>
            </a:solidFill>
          </a:ln>
        </c:spPr>
        <c:txPr>
          <a:bodyPr/>
          <a:lstStyle/>
          <a:p>
            <a:pPr>
              <a:defRPr sz="900">
                <a:solidFill>
                  <a:srgbClr val="59636E"/>
                </a:solidFill>
                <a:latin typeface="Calibri"/>
              </a:defRPr>
            </a:pPr>
          </a:p>
        </c:txPr>
        <c:crossAx val="2140495176"/>
        <c:crosses val="autoZero"/>
        <c:auto val="1"/>
        <c:lblAlgn val="ctr"/>
        <c:lblOffset val="100"/>
        <c:noMultiLvlLbl val="0"/>
      </c:catAx>
      <c:valAx>
        <c:axId val="2140495176"/>
        <c:scaling>
          <c:max val="29500.0"/>
          <c:min val="22000.0"/>
        </c:scaling>
        <c:delete val="0"/>
        <c:axPos val="l"/>
        <c:majorGridlines>
          <c:spPr>
            <a:ln>
              <a:solidFill>
                <a:srgbClr val="D9DEE4"/>
              </a:solidFill>
            </a:ln>
          </c:spPr>
        </c:majorGridlines>
        <c:numFmt formatCode="#,##0" sourceLinked="0"/>
        <c:majorTickMark val="out"/>
        <c:minorTickMark val="none"/>
        <c:tickLblPos val="none"/>
        <c:spPr>
          <a:ln>
            <a:noFill/>
          </a:ln>
        </c:spPr>
        <c:txPr>
          <a:bodyPr/>
          <a:lstStyle/>
          <a:p>
            <a:pPr>
              <a:defRPr sz="900">
                <a:solidFill>
                  <a:srgbClr val="59636E"/>
                </a:solidFill>
                <a:latin typeface="Calibri"/>
              </a:defRPr>
            </a:pPr>
          </a:p>
        </c:txPr>
        <c:crossAx val="2118791784"/>
        <c:crosses val="autoZero"/>
        <c:majorUnit val="500.0"/>
      </c:valAx>
    </c:plotArea>
    <c:legend>
      <c:legendPos val="b"/>
      <c:layout/>
      <c:overlay val="0"/>
      <c:txPr>
        <a:bodyPr/>
        <a:lstStyle/>
        <a:p>
          <a:pPr>
            <a:defRPr sz="900">
              <a:latin typeface="Calibri"/>
            </a:defRPr>
          </a:pPr>
        </a:p>
      </c:txPr>
    </c:legend>
    <c:plotVisOnly val="1"/>
    <c:dispBlanksAs val="gap"/>
    <c:showDLblsOverMax val="0"/>
  </c:chart>
  <c:txPr>
    <a:bodyPr/>
    <a:lstStyle/>
    <a:p>
      <a:pPr>
        <a:defRPr sz="1800"/>
      </a:pPr>
      <a:endParaRPr lang="en-US"/>
    </a:p>
  </c:txPr>
</c:chartSpace>
</file>

<file path=ppt/charts/chart13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strCache>
                <c:ptCount val="1"/>
                <c:pt idx="0">
                  <c:v>Index</c:v>
                </c:pt>
              </c:strCache>
            </c:strRef>
          </c:tx>
          <c:dPt>
            <c:idx val="0"/>
            <c:spPr>
              <a:solidFill>
                <a:srgbClr val="5B7DB1"/>
              </a:solidFill>
            </c:spPr>
          </c:dPt>
          <c:dPt>
            <c:idx val="1"/>
            <c:spPr>
              <a:solidFill>
                <a:srgbClr val="5B7DB1"/>
              </a:solidFill>
            </c:spPr>
          </c:dPt>
          <c:dPt>
            <c:idx val="2"/>
            <c:spPr>
              <a:solidFill>
                <a:srgbClr val="C55A11"/>
              </a:solidFill>
            </c:spPr>
          </c:dPt>
          <c:cat>
            <c:strRef>
              <c:strCache>
                <c:ptCount val="3"/>
                <c:pt idx="0">
                  <c:v>Hydrolyzed Eggshell Membrane</c:v>
                </c:pt>
                <c:pt idx="1">
                  <c:v>Micronized Eggshell Membrane</c:v>
                </c:pt>
                <c:pt idx="2">
                  <c:v>Specialty Extracted Protein Fractions</c:v>
                </c:pt>
              </c:strCache>
            </c:strRef>
          </c:cat>
          <c:val>
            <c:numRef>
              <c:numCache>
                <c:formatCode>General</c:formatCode>
                <c:ptCount val="3"/>
                <c:pt idx="0">
                  <c:v>91.0</c:v>
                </c:pt>
                <c:pt idx="1">
                  <c:v>96.9</c:v>
                </c:pt>
                <c:pt idx="2">
                  <c:v>109.6</c:v>
                </c:pt>
              </c:numCache>
            </c:numRef>
          </c:val>
        </c:ser>
        <c:gapWidth val="45"/>
        <c:axId val="-2068027336"/>
        <c:axId val="-2113994440"/>
      </c:barChart>
      <c:catAx>
        <c:axId val="-2068027336"/>
        <c:scaling>
          <c:orientation val="minMax"/>
        </c:scaling>
        <c:delete val="0"/>
        <c:axPos val="l"/>
        <c:majorTickMark val="out"/>
        <c:minorTickMark val="none"/>
        <c:tickLblPos val="nextTo"/>
        <c:spPr>
          <a:ln>
            <a:solidFill>
              <a:srgbClr val="D9DEE4"/>
            </a:solidFill>
          </a:ln>
        </c:spPr>
        <c:txPr>
          <a:bodyPr/>
          <a:lstStyle/>
          <a:p>
            <a:pPr>
              <a:defRPr sz="850">
                <a:solidFill>
                  <a:srgbClr val="1F1F1F"/>
                </a:solidFill>
                <a:latin typeface="Calibri"/>
              </a:defRPr>
            </a:pPr>
          </a:p>
        </c:txPr>
        <c:crossAx val="-2113994440"/>
        <c:crosses val="autoZero"/>
        <c:auto val="1"/>
        <c:lblAlgn val="ctr"/>
        <c:lblOffset val="100"/>
        <c:tickLblSkip val="1"/>
        <c:noMultiLvlLbl val="0"/>
      </c:catAx>
      <c:valAx>
        <c:axId val="-2113994440"/>
        <c:scaling>
          <c:max val="112.0"/>
          <c:min val="88.0"/>
        </c:scaling>
        <c:delete/>
        <c:axPos val="b"/>
        <c:majorTickMark val="out"/>
        <c:minorTickMark val="none"/>
        <c:tickLblPos val="none"/>
        <c:crossAx val="-2068027336"/>
        <c:crosses val="autoZero"/>
      </c:valAx>
    </c:plotArea>
    <c:dispBlanksAs val="gap"/>
  </c:chart>
  <c:txPr>
    <a:bodyPr/>
    <a:lstStyle/>
    <a:p>
      <a:pPr>
        <a:defRPr sz="1800"/>
      </a:pPr>
      <a:endParaRPr lang="en-US"/>
    </a:p>
  </c:txPr>
</c:chartSpace>
</file>

<file path=ppt/charts/chart135.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stacked"/>
        <c:ser>
          <c:idx val="0"/>
          <c:order val="0"/>
          <c:tx>
            <c:strRef>
              <c:strCache>
                <c:ptCount val="1"/>
                <c:pt idx="0">
                  <c:v>Base</c:v>
                </c:pt>
              </c:strCache>
            </c:strRef>
          </c:tx>
          <c:spPr>
            <a:noFill/>
          </c:spPr>
          <c:cat>
            <c:strRef>
              <c:strCache>
                <c:ptCount val="3"/>
                <c:pt idx="0">
                  <c:v>Specialty Extracted Protein Fractions</c:v>
                </c:pt>
                <c:pt idx="1">
                  <c:v>Hydrolyzed Eggshell Membrane</c:v>
                </c:pt>
                <c:pt idx="2">
                  <c:v>Micronized Eggshell Membrane</c:v>
                </c:pt>
              </c:strCache>
            </c:strRef>
          </c:cat>
          <c:val>
            <c:numRef>
              <c:numCache>
                <c:formatCode>General</c:formatCode>
                <c:ptCount val="3"/>
                <c:pt idx="0">
                  <c:v>24395</c:v>
                </c:pt>
                <c:pt idx="1">
                  <c:v>24395</c:v>
                </c:pt>
                <c:pt idx="2">
                  <c:v>24395</c:v>
                </c:pt>
              </c:numCache>
            </c:numRef>
          </c:val>
        </c:ser>
        <c:ser>
          <c:idx val="1"/>
          <c:order val="1"/>
          <c:tx>
            <c:strRef>
              <c:strCache>
                <c:ptCount val="1"/>
                <c:pt idx="0">
                  <c:v>Range</c:v>
                </c:pt>
              </c:strCache>
            </c:strRef>
          </c:tx>
          <c:spPr>
            <a:solidFill>
              <a:srgbClr val="008189"/>
            </a:solidFill>
          </c:spPr>
          <c:cat>
            <c:strRef>
              <c:strCache>
                <c:ptCount val="3"/>
                <c:pt idx="0">
                  <c:v>Specialty Extracted Protein Fractions</c:v>
                </c:pt>
                <c:pt idx="1">
                  <c:v>Hydrolyzed Eggshell Membrane</c:v>
                </c:pt>
                <c:pt idx="2">
                  <c:v>Micronized Eggshell Membrane</c:v>
                </c:pt>
              </c:strCache>
            </c:strRef>
          </c:cat>
          <c:val>
            <c:numRef>
              <c:numCache>
                <c:formatCode>General</c:formatCode>
                <c:ptCount val="3"/>
                <c:pt idx="0">
                  <c:v>3754</c:v>
                </c:pt>
                <c:pt idx="1">
                  <c:v>3754</c:v>
                </c:pt>
                <c:pt idx="2">
                  <c:v>3754</c:v>
                </c:pt>
              </c:numCache>
            </c:numRef>
          </c:val>
        </c:ser>
        <c:gapWidth val="55"/>
        <c:overlap val="100"/>
        <c:axId val="-2068027336"/>
        <c:axId val="-2113994440"/>
      </c:barChart>
      <c:catAx>
        <c:axId val="-2068027336"/>
        <c:scaling>
          <c:orientation val="minMax"/>
        </c:scaling>
        <c:delete val="0"/>
        <c:axPos val="l"/>
        <c:majorTickMark val="out"/>
        <c:minorTickMark val="none"/>
        <c:tickLblPos val="nextTo"/>
        <c:spPr>
          <a:ln>
            <a:solidFill>
              <a:srgbClr val="D9DEE4"/>
            </a:solidFill>
          </a:ln>
        </c:spPr>
        <c:txPr>
          <a:bodyPr/>
          <a:lstStyle/>
          <a:p>
            <a:pPr>
              <a:defRPr sz="850">
                <a:solidFill>
                  <a:srgbClr val="1F1F1F"/>
                </a:solidFill>
                <a:latin typeface="Calibri"/>
              </a:defRPr>
            </a:pPr>
          </a:p>
        </c:txPr>
        <c:crossAx val="-2113994440"/>
        <c:crosses val="autoZero"/>
        <c:auto val="1"/>
        <c:lblAlgn val="ctr"/>
        <c:lblOffset val="100"/>
        <c:tickLblSkip val="1"/>
        <c:noMultiLvlLbl val="0"/>
      </c:catAx>
      <c:valAx>
        <c:axId val="-2113994440"/>
        <c:scaling>
          <c:max val="30000.0"/>
          <c:min val="24000.0"/>
        </c:scaling>
        <c:delete val="0"/>
        <c:axPos val="b"/>
        <c:majorGridlines>
          <c:spPr>
            <a:ln>
              <a:solidFill>
                <a:srgbClr val="D9DEE4"/>
              </a:solidFill>
            </a:ln>
          </c:spPr>
        </c:majorGridlines>
        <c:numFmt formatCode="#,##0" sourceLinked="0"/>
        <c:majorTickMark val="out"/>
        <c:minorTickMark val="none"/>
        <c:tickLblPos val="none"/>
        <c:spPr>
          <a:ln>
            <a:noFill/>
          </a:ln>
        </c:spPr>
        <c:txPr>
          <a:bodyPr/>
          <a:lstStyle/>
          <a:p>
            <a:pPr>
              <a:defRPr sz="800">
                <a:solidFill>
                  <a:srgbClr val="59636E"/>
                </a:solidFill>
                <a:latin typeface="Calibri"/>
              </a:defRPr>
            </a:pPr>
          </a:p>
        </c:txPr>
        <c:crossAx val="-2068027336"/>
        <c:crosses val="autoZero"/>
        <c:majorUnit val="2000.0"/>
      </c:valAx>
    </c:plotArea>
    <c:dispBlanksAs val="gap"/>
  </c:chart>
  <c:txPr>
    <a:bodyPr/>
    <a:lstStyle/>
    <a:p>
      <a:pPr>
        <a:defRPr sz="1800"/>
      </a:pPr>
      <a:endParaRPr lang="en-US"/>
    </a:p>
  </c:txPr>
</c:chartSpace>
</file>

<file path=ppt/charts/chart136.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stacked"/>
        <c:ser>
          <c:idx val="0"/>
          <c:order val="0"/>
          <c:tx>
            <c:strRef>
              <c:strCache>
                <c:ptCount val="1"/>
                <c:pt idx="0">
                  <c:v>Base</c:v>
                </c:pt>
              </c:strCache>
            </c:strRef>
          </c:tx>
          <c:spPr>
            <a:noFill/>
          </c:spPr>
          <c:cat>
            <c:strRef>
              <c:strCache>
                <c:ptCount val="6"/>
                <c:pt idx="0">
                  <c:v>North America</c:v>
                </c:pt>
                <c:pt idx="1">
                  <c:v>Europe</c:v>
                </c:pt>
                <c:pt idx="2">
                  <c:v>Latin America</c:v>
                </c:pt>
                <c:pt idx="3">
                  <c:v>Middle East and Africa</c:v>
                </c:pt>
                <c:pt idx="4">
                  <c:v>East Asia</c:v>
                </c:pt>
                <c:pt idx="5">
                  <c:v>South Asia &amp; Pacific</c:v>
                </c:pt>
              </c:strCache>
            </c:strRef>
          </c:cat>
          <c:val>
            <c:numRef>
              <c:numCache>
                <c:formatCode>General</c:formatCode>
                <c:ptCount val="6"/>
                <c:pt idx="0">
                  <c:v>127.2</c:v>
                </c:pt>
                <c:pt idx="1">
                  <c:v>113.6</c:v>
                </c:pt>
                <c:pt idx="2">
                  <c:v>89.2</c:v>
                </c:pt>
                <c:pt idx="3">
                  <c:v>86.3</c:v>
                </c:pt>
                <c:pt idx="4">
                  <c:v>66.5</c:v>
                </c:pt>
                <c:pt idx="5">
                  <c:v>57.9</c:v>
                </c:pt>
              </c:numCache>
            </c:numRef>
          </c:val>
        </c:ser>
        <c:ser>
          <c:idx val="1"/>
          <c:order val="1"/>
          <c:tx>
            <c:strRef>
              <c:strCache>
                <c:ptCount val="1"/>
                <c:pt idx="0">
                  <c:v>Range</c:v>
                </c:pt>
              </c:strCache>
            </c:strRef>
          </c:tx>
          <c:spPr>
            <a:solidFill>
              <a:srgbClr val="008189"/>
            </a:solidFill>
          </c:spPr>
          <c:dPt>
            <c:idx val="2"/>
            <c:spPr>
              <a:solidFill>
                <a:srgbClr val="5B7DB1"/>
              </a:solidFill>
            </c:spPr>
          </c:dPt>
          <c:dPt>
            <c:idx val="3"/>
            <c:spPr>
              <a:solidFill>
                <a:srgbClr val="5B7DB1"/>
              </a:solidFill>
            </c:spPr>
          </c:dPt>
          <c:dPt>
            <c:idx val="4"/>
            <c:spPr>
              <a:solidFill>
                <a:srgbClr val="5B7DB1"/>
              </a:solidFill>
            </c:spPr>
          </c:dPt>
          <c:dPt>
            <c:idx val="5"/>
            <c:spPr>
              <a:solidFill>
                <a:srgbClr val="5B7DB1"/>
              </a:solidFill>
            </c:spPr>
          </c:dPt>
          <c:cat>
            <c:strRef>
              <c:strCache>
                <c:ptCount val="6"/>
                <c:pt idx="0">
                  <c:v>North America</c:v>
                </c:pt>
                <c:pt idx="1">
                  <c:v>Europe</c:v>
                </c:pt>
                <c:pt idx="2">
                  <c:v>Latin America</c:v>
                </c:pt>
                <c:pt idx="3">
                  <c:v>Middle East and Africa</c:v>
                </c:pt>
                <c:pt idx="4">
                  <c:v>East Asia</c:v>
                </c:pt>
                <c:pt idx="5">
                  <c:v>South Asia &amp; Pacific</c:v>
                </c:pt>
              </c:strCache>
            </c:strRef>
          </c:cat>
          <c:val>
            <c:numRef>
              <c:numCache>
                <c:formatCode>General</c:formatCode>
                <c:ptCount val="6"/>
                <c:pt idx="0">
                  <c:v>18.7</c:v>
                </c:pt>
                <c:pt idx="1">
                  <c:v>17.3</c:v>
                </c:pt>
                <c:pt idx="2">
                  <c:v>13.2</c:v>
                </c:pt>
                <c:pt idx="3">
                  <c:v>13.0</c:v>
                </c:pt>
                <c:pt idx="4">
                  <c:v>10.3</c:v>
                </c:pt>
                <c:pt idx="5">
                  <c:v>8.8</c:v>
                </c:pt>
              </c:numCache>
            </c:numRef>
          </c:val>
        </c:ser>
        <c:gapWidth val="40"/>
        <c:overlap val="100"/>
        <c:axId val="-2068027336"/>
        <c:axId val="-2113994440"/>
      </c:barChart>
      <c:catAx>
        <c:axId val="-2068027336"/>
        <c:scaling>
          <c:orientation val="minMax"/>
        </c:scaling>
        <c:delete val="0"/>
        <c:axPos val="b"/>
        <c:majorTickMark val="out"/>
        <c:minorTickMark val="none"/>
        <c:tickLblPos val="nextTo"/>
        <c:spPr>
          <a:ln>
            <a:solidFill>
              <a:srgbClr val="D9DEE4"/>
            </a:solidFill>
          </a:ln>
        </c:spPr>
        <c:txPr>
          <a:bodyPr/>
          <a:lstStyle/>
          <a:p>
            <a:pPr>
              <a:defRPr sz="850">
                <a:solidFill>
                  <a:srgbClr val="1F1F1F"/>
                </a:solidFill>
                <a:latin typeface="Calibri"/>
              </a:defRPr>
            </a:pPr>
          </a:p>
        </c:txPr>
        <c:crossAx val="-2113994440"/>
        <c:crosses val="autoZero"/>
        <c:auto val="1"/>
        <c:lblAlgn val="ctr"/>
        <c:lblOffset val="100"/>
        <c:tickLblSkip val="1"/>
        <c:noMultiLvlLbl val="0"/>
      </c:catAx>
      <c:valAx>
        <c:axId val="-2113994440"/>
        <c:scaling>
          <c:max val="150.0"/>
          <c:min val="55.0"/>
        </c:scaling>
        <c:delete val="0"/>
        <c:axPos val="l"/>
        <c:majorGridlines>
          <c:spPr>
            <a:ln>
              <a:solidFill>
                <a:srgbClr val="D9DEE4"/>
              </a:solidFill>
            </a:ln>
          </c:spPr>
        </c:majorGridlines>
        <c:numFmt formatCode="0" sourceLinked="0"/>
        <c:majorTickMark val="out"/>
        <c:minorTickMark val="none"/>
        <c:tickLblPos val="none"/>
        <c:spPr>
          <a:ln>
            <a:noFill/>
          </a:ln>
        </c:spPr>
        <c:txPr>
          <a:bodyPr/>
          <a:lstStyle/>
          <a:p>
            <a:pPr>
              <a:defRPr sz="850">
                <a:solidFill>
                  <a:srgbClr val="59636E"/>
                </a:solidFill>
                <a:latin typeface="Calibri"/>
              </a:defRPr>
            </a:pPr>
          </a:p>
        </c:txPr>
        <c:crossAx val="-2068027336"/>
        <c:crosses val="autoZero"/>
        <c:majorUnit val="10.0"/>
      </c:valAx>
    </c:plotArea>
    <c:dispBlanksAs val="gap"/>
  </c:chart>
  <c:txPr>
    <a:bodyPr/>
    <a:lstStyle/>
    <a:p>
      <a:pPr>
        <a:defRPr sz="1800"/>
      </a:pPr>
      <a:endParaRPr lang="en-US"/>
    </a:p>
  </c:txPr>
</c:chartSpace>
</file>

<file path=ppt/charts/chart137.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1"/>
          <c:y val="0.04"/>
          <c:w val="0.68"/>
          <c:h val="0.92"/>
        </c:manualLayout>
      </c:layout>
      <c:doughnutChart>
        <c:varyColors val="0"/>
        <c:ser>
          <c:idx val="0"/>
          <c:order val="0"/>
          <c:tx>
            <c:strRef>
              <c:strCache>
                <c:ptCount val="1"/>
                <c:pt idx="0">
                  <c:v>Share</c:v>
                </c:pt>
              </c:strCache>
            </c:strRef>
          </c:tx>
          <c:spPr/>
          <c:dPt>
            <c:idx val="0"/>
            <c:spPr>
              <a:solidFill>
                <a:srgbClr val="2A5F8F"/>
              </a:solidFill>
            </c:spPr>
          </c:dPt>
          <c:dPt>
            <c:idx val="1"/>
            <c:spPr>
              <a:solidFill>
                <a:srgbClr val="0081E2"/>
              </a:solidFill>
            </c:spPr>
          </c:dPt>
          <c:dPt>
            <c:idx val="2"/>
            <c:spPr>
              <a:solidFill>
                <a:srgbClr val="0E2A5C"/>
              </a:solidFill>
            </c:spPr>
          </c:dPt>
          <c:dPt>
            <c:idx val="3"/>
            <c:spPr>
              <a:solidFill>
                <a:srgbClr val="00ACAC"/>
              </a:solidFill>
            </c:spPr>
          </c:dPt>
          <c:dPt>
            <c:idx val="4"/>
            <c:spPr>
              <a:solidFill>
                <a:srgbClr val="F47620"/>
              </a:solidFill>
            </c:spPr>
          </c:dPt>
          <c:dPt>
            <c:idx val="5"/>
            <c:spPr>
              <a:solidFill>
                <a:srgbClr val="79C3EC"/>
              </a:solidFill>
            </c:spPr>
          </c:dPt>
          <c:dPt>
            <c:idx val="6"/>
            <c:spPr>
              <a:solidFill>
                <a:srgbClr val="586272"/>
              </a:solidFill>
            </c:spPr>
          </c:dPt>
          <c:dPt>
            <c:idx val="7"/>
            <c:spPr>
              <a:solidFill>
                <a:srgbClr val="1F476B"/>
              </a:solidFill>
            </c:spPr>
          </c:dPt>
          <c:dPt>
            <c:idx val="8"/>
            <c:spPr>
              <a:solidFill>
                <a:srgbClr val="BCBEC0"/>
              </a:solidFill>
            </c:spPr>
          </c:dPt>
          <c:dPt>
            <c:idx val="9"/>
            <c:spPr>
              <a:solidFill>
                <a:srgbClr val="3DC6C4"/>
              </a:solidFill>
            </c:spPr>
          </c:dPt>
          <c:dPt>
            <c:idx val="10"/>
            <c:spPr>
              <a:solidFill>
                <a:srgbClr val="B9B3AC"/>
              </a:solidFill>
            </c:spPr>
          </c:dPt>
          <c:dLbls>
            <c:dLbl>
              <c:idx val="0"/>
              <c:layout>
                <c:manualLayout>
                  <c:x val="0.0350"/>
                  <c:y val="0.0000"/>
                </c:manualLayout>
              </c:layout>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layout>
                <c:manualLayout>
                  <c:x val="0.0350"/>
                  <c:y val="0.0000"/>
                </c:manualLayout>
              </c:layout>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layout>
                <c:manualLayout>
                  <c:x val="0.0350"/>
                  <c:y val="0.0000"/>
                </c:manualLayout>
              </c:layout>
              <c:numFmt formatCode="&quot;MMM&quot;;&quot;MMM&quot;;&quot;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layout>
                <c:manualLayout>
                  <c:x val="0.0350"/>
                  <c:y val="0.0000"/>
                </c:manualLayout>
              </c:layout>
              <c:numFmt formatCode="&quot;MMM&quot;;&quot;MMM&quot;;&quot;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layout>
                <c:manualLayout>
                  <c:x val="0.0350"/>
                  <c:y val="0.0000"/>
                </c:manualLayout>
              </c:layout>
              <c:numFmt formatCode="&quot;MMM&quot;;&quot;MMM&quot;;&quot;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layout>
                <c:manualLayout>
                  <c:x val="0.0350"/>
                  <c:y val="0.0000"/>
                </c:manualLayout>
              </c:layout>
              <c:numFmt formatCode="&quot;MMM&quot;;&quot;MMM&quot;;&quot;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layout>
                <c:manualLayout>
                  <c:x val="0.0350"/>
                  <c:y val="0.0000"/>
                </c:manualLayout>
              </c:layout>
              <c:numFmt formatCode="&quot;MMM&quot;;&quot;MMM&quot;;&quot;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layout>
                <c:manualLayout>
                  <c:x val="0.0350"/>
                  <c:y val="0.0000"/>
                </c:manualLayout>
              </c:layout>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layout>
                <c:manualLayout>
                  <c:x val="0.0350"/>
                  <c:y val="0.0000"/>
                </c:manualLayout>
              </c:layout>
              <c:numFmt formatCode="&quot;MMM&quot;;&quot;MMM&quot;;&quot;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layout>
                <c:manualLayout>
                  <c:x val="0.0350"/>
                  <c:y val="0.0000"/>
                </c:manualLayout>
              </c:layout>
              <c:numFmt formatCode="&quot;MMM&quot;;&quot;MMM&quot;;&quot;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layout>
                <c:manualLayout>
                  <c:x val="0.0350"/>
                  <c:y val="0.0000"/>
                </c:manualLayout>
              </c:layout>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1"/>
                <c:pt idx="0">
                  <c:v>ESM Technologies, LLC</c:v>
                </c:pt>
                <c:pt idx="1">
                  <c:v>Company</c:v>
                </c:pt>
                <c:pt idx="2">
                  <c:v>Biova, LLC</c:v>
                </c:pt>
                <c:pt idx="3">
                  <c:v>Eggnovo S.L.</c:v>
                </c:pt>
                <c:pt idx="4">
                  <c:v>Dutch Eggmembrane Protein Powder</c:v>
                </c:pt>
                <c:pt idx="5">
                  <c:v>Kewpie Corporation</c:v>
                </c:pt>
                <c:pt idx="6">
                  <c:v>INNAIN</c:v>
                </c:pt>
                <c:pt idx="7">
                  <c:v>Ecovatec Solutions Inc.</c:v>
                </c:pt>
                <c:pt idx="8">
                  <c:v>Biovotec</c:v>
                </c:pt>
                <c:pt idx="9">
                  <c:v>Microcore Research Laboratories India Pvt. Ltd.</c:v>
                </c:pt>
                <c:pt idx="10">
                  <c:v>Others</c:v>
                </c:pt>
              </c:strCache>
            </c:strRef>
          </c:cat>
          <c:val>
            <c:numRef>
              <c:numCache>
                <c:formatCode>General</c:formatCode>
                <c:ptCount val="11"/>
                <c:pt idx="0">
                  <c:v>15.401240790072531</c:v>
                </c:pt>
                <c:pt idx="1">
                  <c:v>13.483170759180721</c:v>
                </c:pt>
                <c:pt idx="2">
                  <c:v>9.299352883645389</c:v>
                </c:pt>
                <c:pt idx="3">
                  <c:v>6.532876475193234</c:v>
                </c:pt>
                <c:pt idx="4">
                  <c:v>6.473319829711895</c:v>
                </c:pt>
                <c:pt idx="5">
                  <c:v>6.433244680872182</c:v>
                </c:pt>
                <c:pt idx="6">
                  <c:v>5.1503700280767655</c:v>
                </c:pt>
                <c:pt idx="7">
                  <c:v>3.1015192989370006</c:v>
                </c:pt>
                <c:pt idx="8">
                  <c:v>2.164598136819089</c:v>
                </c:pt>
                <c:pt idx="9">
                  <c:v>2.136096181068746</c:v>
                </c:pt>
                <c:pt idx="10">
                  <c:v>29.824210936422443</c:v>
                </c:pt>
              </c:numCache>
            </c:numRef>
          </c:val>
        </c:ser>
        <c:dLbls>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a:p>
  </c:txPr>
</c:chartSpace>
</file>

<file path=ppt/charts/chart138.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1"/>
          <c:y val="0.04"/>
          <c:w val="0.68"/>
          <c:h val="0.92"/>
        </c:manualLayout>
      </c:layout>
      <c:doughnutChart>
        <c:varyColors val="0"/>
        <c:ser>
          <c:idx val="0"/>
          <c:order val="0"/>
          <c:tx>
            <c:strRef>
              <c:strCache>
                <c:ptCount val="1"/>
                <c:pt idx="0">
                  <c:v>Share</c:v>
                </c:pt>
              </c:strCache>
            </c:strRef>
          </c:tx>
          <c:spPr/>
          <c:dPt>
            <c:idx val="0"/>
            <c:spPr>
              <a:solidFill>
                <a:srgbClr val="2A5F8F"/>
              </a:solidFill>
            </c:spPr>
          </c:dPt>
          <c:dPt>
            <c:idx val="1"/>
            <c:spPr>
              <a:solidFill>
                <a:srgbClr val="0081E2"/>
              </a:solidFill>
            </c:spPr>
          </c:dPt>
          <c:dPt>
            <c:idx val="2"/>
            <c:spPr>
              <a:solidFill>
                <a:srgbClr val="0E2A5C"/>
              </a:solidFill>
            </c:spPr>
          </c:dPt>
          <c:dPt>
            <c:idx val="3"/>
            <c:spPr>
              <a:solidFill>
                <a:srgbClr val="00ACAC"/>
              </a:solidFill>
            </c:spPr>
          </c:dPt>
          <c:dPt>
            <c:idx val="4"/>
            <c:spPr>
              <a:solidFill>
                <a:srgbClr val="F47620"/>
              </a:solidFill>
            </c:spPr>
          </c:dPt>
          <c:dPt>
            <c:idx val="5"/>
            <c:spPr>
              <a:solidFill>
                <a:srgbClr val="79C3EC"/>
              </a:solidFill>
            </c:spPr>
          </c:dPt>
          <c:dPt>
            <c:idx val="6"/>
            <c:spPr>
              <a:solidFill>
                <a:srgbClr val="586272"/>
              </a:solidFill>
            </c:spPr>
          </c:dPt>
          <c:dPt>
            <c:idx val="7"/>
            <c:spPr>
              <a:solidFill>
                <a:srgbClr val="1F476B"/>
              </a:solidFill>
            </c:spPr>
          </c:dPt>
          <c:dPt>
            <c:idx val="8"/>
            <c:spPr>
              <a:solidFill>
                <a:srgbClr val="BCBEC0"/>
              </a:solidFill>
            </c:spPr>
          </c:dPt>
          <c:dPt>
            <c:idx val="9"/>
            <c:spPr>
              <a:solidFill>
                <a:srgbClr val="3DC6C4"/>
              </a:solidFill>
            </c:spPr>
          </c:dPt>
          <c:dPt>
            <c:idx val="10"/>
            <c:spPr>
              <a:solidFill>
                <a:srgbClr val="B9B3AC"/>
              </a:solidFill>
            </c:spPr>
          </c:dPt>
          <c:dLbls>
            <c:dLbl>
              <c:idx val="0"/>
              <c:layout>
                <c:manualLayout>
                  <c:x val="0.0350"/>
                  <c:y val="0.0000"/>
                </c:manualLayout>
              </c:layout>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layout>
                <c:manualLayout>
                  <c:x val="0.0350"/>
                  <c:y val="0.0000"/>
                </c:manualLayout>
              </c:layout>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layout>
                <c:manualLayout>
                  <c:x val="0.0350"/>
                  <c:y val="0.0000"/>
                </c:manualLayout>
              </c:layout>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layout>
                <c:manualLayout>
                  <c:x val="0.0350"/>
                  <c:y val="0.0000"/>
                </c:manualLayout>
              </c:layout>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layout>
                <c:manualLayout>
                  <c:x val="0.0350"/>
                  <c:y val="0.0000"/>
                </c:manualLayout>
              </c:layout>
              <c:numFmt formatCode="&quot;MMM&quot;;&quot;MMM&quot;;&quot;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layout>
                <c:manualLayout>
                  <c:x val="0.0350"/>
                  <c:y val="0.0000"/>
                </c:manualLayout>
              </c:layout>
              <c:numFmt formatCode="&quot;MMM&quot;;&quot;MMM&quot;;&quot;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layout>
                <c:manualLayout>
                  <c:x val="0.0350"/>
                  <c:y val="0.0000"/>
                </c:manualLayout>
              </c:layout>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layout>
                <c:manualLayout>
                  <c:x val="0.0350"/>
                  <c:y val="0.0000"/>
                </c:manualLayout>
              </c:layout>
              <c:numFmt formatCode="&quot;MMM&quot;;&quot;MMM&quot;;&quot;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layout>
                <c:manualLayout>
                  <c:x val="0.0350"/>
                  <c:y val="0.0000"/>
                </c:manualLayout>
              </c:layout>
              <c:numFmt formatCode="&quot;MMM&quot;;&quot;MMM&quot;;&quot;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layout>
                <c:manualLayout>
                  <c:x val="0.0350"/>
                  <c:y val="0.0000"/>
                </c:manualLayout>
              </c:layout>
              <c:numFmt formatCode="&quot;MMM&quot;;&quot;MMM&quot;;&quot;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layout>
                <c:manualLayout>
                  <c:x val="0.0350"/>
                  <c:y val="0.0000"/>
                </c:manualLayout>
              </c:layout>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1"/>
                <c:pt idx="0">
                  <c:v>ESM Technologies, LLC</c:v>
                </c:pt>
                <c:pt idx="1">
                  <c:v>Company</c:v>
                </c:pt>
                <c:pt idx="2">
                  <c:v>Biova, LLC</c:v>
                </c:pt>
                <c:pt idx="3">
                  <c:v>Eggnovo S.L.</c:v>
                </c:pt>
                <c:pt idx="4">
                  <c:v>Dutch Eggmembrane Protein Powder</c:v>
                </c:pt>
                <c:pt idx="5">
                  <c:v>Kewpie Corporation</c:v>
                </c:pt>
                <c:pt idx="6">
                  <c:v>INNAIN</c:v>
                </c:pt>
                <c:pt idx="7">
                  <c:v>Ecovatec Solutions Inc.</c:v>
                </c:pt>
                <c:pt idx="8">
                  <c:v>Biovotec</c:v>
                </c:pt>
                <c:pt idx="9">
                  <c:v>Microcore Research Laboratories India Pvt. Ltd.</c:v>
                </c:pt>
                <c:pt idx="10">
                  <c:v>Others</c:v>
                </c:pt>
              </c:strCache>
            </c:strRef>
          </c:cat>
          <c:val>
            <c:numRef>
              <c:numCache>
                <c:formatCode>General</c:formatCode>
                <c:ptCount val="11"/>
                <c:pt idx="0">
                  <c:v>11.693602256562977</c:v>
                </c:pt>
                <c:pt idx="1">
                  <c:v>9.98907014549872</c:v>
                </c:pt>
                <c:pt idx="2">
                  <c:v>11.264513875278551</c:v>
                </c:pt>
                <c:pt idx="3">
                  <c:v>11.542462021743303</c:v>
                </c:pt>
                <c:pt idx="4">
                  <c:v>9.170712625473369</c:v>
                </c:pt>
                <c:pt idx="5">
                  <c:v>5.69371565484273</c:v>
                </c:pt>
                <c:pt idx="6">
                  <c:v>3.7515880157620747</c:v>
                </c:pt>
                <c:pt idx="7">
                  <c:v>3.240076671241286</c:v>
                </c:pt>
                <c:pt idx="8">
                  <c:v>3.3901784262482124</c:v>
                </c:pt>
                <c:pt idx="9">
                  <c:v>3.0300946920704144</c:v>
                </c:pt>
                <c:pt idx="10">
                  <c:v>27.23398561527836</c:v>
                </c:pt>
              </c:numCache>
            </c:numRef>
          </c:val>
        </c:ser>
        <c:dLbls>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a:p>
  </c:txPr>
</c:chartSpace>
</file>

<file path=ppt/charts/chart139.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1"/>
          <c:y val="0.04"/>
          <c:w val="0.68"/>
          <c:h val="0.92"/>
        </c:manualLayout>
      </c:layout>
      <c:doughnutChart>
        <c:varyColors val="0"/>
        <c:ser>
          <c:idx val="0"/>
          <c:order val="0"/>
          <c:tx>
            <c:strRef>
              <c:strCache>
                <c:ptCount val="1"/>
                <c:pt idx="0">
                  <c:v>Share</c:v>
                </c:pt>
              </c:strCache>
            </c:strRef>
          </c:tx>
          <c:spPr/>
          <c:dPt>
            <c:idx val="0"/>
            <c:spPr>
              <a:solidFill>
                <a:srgbClr val="2A5F8F"/>
              </a:solidFill>
            </c:spPr>
          </c:dPt>
          <c:dPt>
            <c:idx val="1"/>
            <c:spPr>
              <a:solidFill>
                <a:srgbClr val="0081E2"/>
              </a:solidFill>
            </c:spPr>
          </c:dPt>
          <c:dPt>
            <c:idx val="2"/>
            <c:spPr>
              <a:solidFill>
                <a:srgbClr val="0E2A5C"/>
              </a:solidFill>
            </c:spPr>
          </c:dPt>
          <c:dPt>
            <c:idx val="3"/>
            <c:spPr>
              <a:solidFill>
                <a:srgbClr val="00ACAC"/>
              </a:solidFill>
            </c:spPr>
          </c:dPt>
          <c:dPt>
            <c:idx val="4"/>
            <c:spPr>
              <a:solidFill>
                <a:srgbClr val="F47620"/>
              </a:solidFill>
            </c:spPr>
          </c:dPt>
          <c:dPt>
            <c:idx val="5"/>
            <c:spPr>
              <a:solidFill>
                <a:srgbClr val="79C3EC"/>
              </a:solidFill>
            </c:spPr>
          </c:dPt>
          <c:dPt>
            <c:idx val="6"/>
            <c:spPr>
              <a:solidFill>
                <a:srgbClr val="586272"/>
              </a:solidFill>
            </c:spPr>
          </c:dPt>
          <c:dPt>
            <c:idx val="7"/>
            <c:spPr>
              <a:solidFill>
                <a:srgbClr val="1F476B"/>
              </a:solidFill>
            </c:spPr>
          </c:dPt>
          <c:dPt>
            <c:idx val="8"/>
            <c:spPr>
              <a:solidFill>
                <a:srgbClr val="BCBEC0"/>
              </a:solidFill>
            </c:spPr>
          </c:dPt>
          <c:dPt>
            <c:idx val="9"/>
            <c:spPr>
              <a:solidFill>
                <a:srgbClr val="3DC6C4"/>
              </a:solidFill>
            </c:spPr>
          </c:dPt>
          <c:dPt>
            <c:idx val="10"/>
            <c:spPr>
              <a:solidFill>
                <a:srgbClr val="B9B3AC"/>
              </a:solidFill>
            </c:spPr>
          </c:dPt>
          <c:dLbls>
            <c:dLbl>
              <c:idx val="0"/>
              <c:layout>
                <c:manualLayout>
                  <c:x val="0.0350"/>
                  <c:y val="0.0000"/>
                </c:manualLayout>
              </c:layout>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layout>
                <c:manualLayout>
                  <c:x val="0.0350"/>
                  <c:y val="0.0000"/>
                </c:manualLayout>
              </c:layout>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layout>
                <c:manualLayout>
                  <c:x val="0.0350"/>
                  <c:y val="0.0000"/>
                </c:manualLayout>
              </c:layout>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layout>
                <c:manualLayout>
                  <c:x val="0.0350"/>
                  <c:y val="0.0000"/>
                </c:manualLayout>
              </c:layout>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layout>
                <c:manualLayout>
                  <c:x val="0.0350"/>
                  <c:y val="0.0000"/>
                </c:manualLayout>
              </c:layout>
              <c:numFmt formatCode="&quot;MMM&quot;;&quot;MMM&quot;;&quot;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layout>
                <c:manualLayout>
                  <c:x val="0.0350"/>
                  <c:y val="0.0000"/>
                </c:manualLayout>
              </c:layout>
              <c:numFmt formatCode="&quot;MMM&quot;;&quot;MMM&quot;;&quot;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layout>
                <c:manualLayout>
                  <c:x val="0.0350"/>
                  <c:y val="0.0000"/>
                </c:manualLayout>
              </c:layout>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layout>
                <c:manualLayout>
                  <c:x val="0.0350"/>
                  <c:y val="0.0000"/>
                </c:manualLayout>
              </c:layout>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layout>
                <c:manualLayout>
                  <c:x val="0.0350"/>
                  <c:y val="0.0000"/>
                </c:manualLayout>
              </c:layout>
              <c:numFmt formatCode="&quot;MMM&quot;;&quot;MMM&quot;;&quot;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layout>
                <c:manualLayout>
                  <c:x val="0.0350"/>
                  <c:y val="0.0000"/>
                </c:manualLayout>
              </c:layout>
              <c:numFmt formatCode="&quot;MMM&quot;;&quot;MMM&quot;;&quot;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layout>
                <c:manualLayout>
                  <c:x val="0.0350"/>
                  <c:y val="0.0000"/>
                </c:manualLayout>
              </c:layout>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1"/>
                <c:pt idx="0">
                  <c:v>ESM Technologies, LLC</c:v>
                </c:pt>
                <c:pt idx="1">
                  <c:v>Company</c:v>
                </c:pt>
                <c:pt idx="2">
                  <c:v>Biova, LLC</c:v>
                </c:pt>
                <c:pt idx="3">
                  <c:v>Eggnovo S.L.</c:v>
                </c:pt>
                <c:pt idx="4">
                  <c:v>Dutch Eggmembrane Protein Powder</c:v>
                </c:pt>
                <c:pt idx="5">
                  <c:v>Kewpie Corporation</c:v>
                </c:pt>
                <c:pt idx="6">
                  <c:v>INNAIN</c:v>
                </c:pt>
                <c:pt idx="7">
                  <c:v>Ecovatec Solutions Inc.</c:v>
                </c:pt>
                <c:pt idx="8">
                  <c:v>Biovotec</c:v>
                </c:pt>
                <c:pt idx="9">
                  <c:v>Microcore Research Laboratories India Pvt. Ltd.</c:v>
                </c:pt>
                <c:pt idx="10">
                  <c:v>Others</c:v>
                </c:pt>
              </c:strCache>
            </c:strRef>
          </c:cat>
          <c:val>
            <c:numRef>
              <c:numCache>
                <c:formatCode>General</c:formatCode>
                <c:ptCount val="11"/>
                <c:pt idx="0">
                  <c:v>12.127056022733685</c:v>
                </c:pt>
                <c:pt idx="1">
                  <c:v>13.515963661294228</c:v>
                </c:pt>
                <c:pt idx="2">
                  <c:v>13.672509787055716</c:v>
                </c:pt>
                <c:pt idx="3">
                  <c:v>10.747277583816313</c:v>
                </c:pt>
                <c:pt idx="4">
                  <c:v>6.853819923875349</c:v>
                </c:pt>
                <c:pt idx="5">
                  <c:v>4.527540451517601</c:v>
                </c:pt>
                <c:pt idx="6">
                  <c:v>4.351504519294602</c:v>
                </c:pt>
                <c:pt idx="7">
                  <c:v>4.386878793633664</c:v>
                </c:pt>
                <c:pt idx="8">
                  <c:v>3.8343075690671227</c:v>
                </c:pt>
                <c:pt idx="9">
                  <c:v>2.614124464284719</c:v>
                </c:pt>
                <c:pt idx="10">
                  <c:v>23.369017223427004</c:v>
                </c:pt>
              </c:numCache>
            </c:numRef>
          </c:val>
        </c:ser>
        <c:dLbls>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a:p>
  </c:txPr>
</c:chartSpace>
</file>

<file path=ppt/charts/chart140.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1"/>
          <c:y val="0.04"/>
          <c:w val="0.68"/>
          <c:h val="0.92"/>
        </c:manualLayout>
      </c:layout>
      <c:doughnutChart>
        <c:varyColors val="0"/>
        <c:ser>
          <c:idx val="0"/>
          <c:order val="0"/>
          <c:tx>
            <c:strRef>
              <c:strCache>
                <c:ptCount val="1"/>
                <c:pt idx="0">
                  <c:v>Share</c:v>
                </c:pt>
              </c:strCache>
            </c:strRef>
          </c:tx>
          <c:spPr/>
          <c:dPt>
            <c:idx val="0"/>
            <c:spPr>
              <a:solidFill>
                <a:srgbClr val="2A5F8F"/>
              </a:solidFill>
            </c:spPr>
          </c:dPt>
          <c:dPt>
            <c:idx val="1"/>
            <c:spPr>
              <a:solidFill>
                <a:srgbClr val="0081E2"/>
              </a:solidFill>
            </c:spPr>
          </c:dPt>
          <c:dPt>
            <c:idx val="2"/>
            <c:spPr>
              <a:solidFill>
                <a:srgbClr val="0E2A5C"/>
              </a:solidFill>
            </c:spPr>
          </c:dPt>
          <c:dPt>
            <c:idx val="3"/>
            <c:spPr>
              <a:solidFill>
                <a:srgbClr val="00ACAC"/>
              </a:solidFill>
            </c:spPr>
          </c:dPt>
          <c:dPt>
            <c:idx val="4"/>
            <c:spPr>
              <a:solidFill>
                <a:srgbClr val="F47620"/>
              </a:solidFill>
            </c:spPr>
          </c:dPt>
          <c:dPt>
            <c:idx val="5"/>
            <c:spPr>
              <a:solidFill>
                <a:srgbClr val="79C3EC"/>
              </a:solidFill>
            </c:spPr>
          </c:dPt>
          <c:dPt>
            <c:idx val="6"/>
            <c:spPr>
              <a:solidFill>
                <a:srgbClr val="586272"/>
              </a:solidFill>
            </c:spPr>
          </c:dPt>
          <c:dPt>
            <c:idx val="7"/>
            <c:spPr>
              <a:solidFill>
                <a:srgbClr val="1F476B"/>
              </a:solidFill>
            </c:spPr>
          </c:dPt>
          <c:dPt>
            <c:idx val="8"/>
            <c:spPr>
              <a:solidFill>
                <a:srgbClr val="BCBEC0"/>
              </a:solidFill>
            </c:spPr>
          </c:dPt>
          <c:dPt>
            <c:idx val="9"/>
            <c:spPr>
              <a:solidFill>
                <a:srgbClr val="3DC6C4"/>
              </a:solidFill>
            </c:spPr>
          </c:dPt>
          <c:dPt>
            <c:idx val="10"/>
            <c:spPr>
              <a:solidFill>
                <a:srgbClr val="B9B3AC"/>
              </a:solidFill>
            </c:spPr>
          </c:dPt>
          <c:dLbls>
            <c:dLbl>
              <c:idx val="0"/>
              <c:layout>
                <c:manualLayout>
                  <c:x val="0.0350"/>
                  <c:y val="0.0000"/>
                </c:manualLayout>
              </c:layout>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layout>
                <c:manualLayout>
                  <c:x val="0.0350"/>
                  <c:y val="0.0000"/>
                </c:manualLayout>
              </c:layout>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layout>
                <c:manualLayout>
                  <c:x val="0.0350"/>
                  <c:y val="0.0000"/>
                </c:manualLayout>
              </c:layout>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layout>
                <c:manualLayout>
                  <c:x val="0.0350"/>
                  <c:y val="0.0000"/>
                </c:manualLayout>
              </c:layout>
              <c:numFmt formatCode="&quot;MMM&quot;;&quot;MMM&quot;;&quot;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layout>
                <c:manualLayout>
                  <c:x val="0.0350"/>
                  <c:y val="0.0000"/>
                </c:manualLayout>
              </c:layout>
              <c:numFmt formatCode="&quot;MMM&quot;;&quot;MMM&quot;;&quot;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layout>
                <c:manualLayout>
                  <c:x val="0.0350"/>
                  <c:y val="0.0000"/>
                </c:manualLayout>
              </c:layout>
              <c:numFmt formatCode="&quot;MMM&quot;;&quot;MMM&quot;;&quot;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layout>
                <c:manualLayout>
                  <c:x val="0.0350"/>
                  <c:y val="0.0000"/>
                </c:manualLayout>
              </c:layout>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layout>
                <c:manualLayout>
                  <c:x val="0.0350"/>
                  <c:y val="0.0000"/>
                </c:manualLayout>
              </c:layout>
              <c:numFmt formatCode="&quot;MMM&quot;;&quot;MMM&quot;;&quot;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layout>
                <c:manualLayout>
                  <c:x val="0.0350"/>
                  <c:y val="0.0000"/>
                </c:manualLayout>
              </c:layout>
              <c:numFmt formatCode="&quot;MMM&quot;;&quot;MMM&quot;;&quot;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layout>
                <c:manualLayout>
                  <c:x val="0.0350"/>
                  <c:y val="0.0000"/>
                </c:manualLayout>
              </c:layout>
              <c:numFmt formatCode="&quot;MMM&quot;;&quot;MMM&quot;;&quot;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layout>
                <c:manualLayout>
                  <c:x val="0.0350"/>
                  <c:y val="0.0000"/>
                </c:manualLayout>
              </c:layout>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1"/>
                <c:pt idx="0">
                  <c:v>ESM Technologies, LLC</c:v>
                </c:pt>
                <c:pt idx="1">
                  <c:v>Company</c:v>
                </c:pt>
                <c:pt idx="2">
                  <c:v>Biova, LLC</c:v>
                </c:pt>
                <c:pt idx="3">
                  <c:v>Eggnovo S.L.</c:v>
                </c:pt>
                <c:pt idx="4">
                  <c:v>Dutch Eggmembrane Protein Powder</c:v>
                </c:pt>
                <c:pt idx="5">
                  <c:v>Kewpie Corporation</c:v>
                </c:pt>
                <c:pt idx="6">
                  <c:v>INNAIN</c:v>
                </c:pt>
                <c:pt idx="7">
                  <c:v>Ecovatec Solutions Inc.</c:v>
                </c:pt>
                <c:pt idx="8">
                  <c:v>Biovotec</c:v>
                </c:pt>
                <c:pt idx="9">
                  <c:v>Microcore Research Laboratories India Pvt. Ltd.</c:v>
                </c:pt>
                <c:pt idx="10">
                  <c:v>Others</c:v>
                </c:pt>
              </c:strCache>
            </c:strRef>
          </c:cat>
          <c:val>
            <c:numRef>
              <c:numCache>
                <c:formatCode>General</c:formatCode>
                <c:ptCount val="11"/>
                <c:pt idx="0">
                  <c:v>16.616982878130067</c:v>
                </c:pt>
                <c:pt idx="1">
                  <c:v>15.838373751146182</c:v>
                </c:pt>
                <c:pt idx="2">
                  <c:v>12.226323321243273</c:v>
                </c:pt>
                <c:pt idx="3">
                  <c:v>7.956018792951128</c:v>
                </c:pt>
                <c:pt idx="4">
                  <c:v>5.814138033935409</c:v>
                </c:pt>
                <c:pt idx="5">
                  <c:v>5.618762435113717</c:v>
                </c:pt>
                <c:pt idx="6">
                  <c:v>5.851259038190952</c:v>
                </c:pt>
                <c:pt idx="7">
                  <c:v>4.767350351372047</c:v>
                </c:pt>
                <c:pt idx="8">
                  <c:v>3.1905899020099833</c:v>
                </c:pt>
                <c:pt idx="9">
                  <c:v>1.9266097914653117</c:v>
                </c:pt>
                <c:pt idx="10">
                  <c:v>20.193591704441936</c:v>
                </c:pt>
              </c:numCache>
            </c:numRef>
          </c:val>
        </c:ser>
        <c:dLbls>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a:p>
  </c:txPr>
</c:chartSpace>
</file>

<file path=ppt/charts/chart141.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1"/>
          <c:y val="0.04"/>
          <c:w val="0.68"/>
          <c:h val="0.92"/>
        </c:manualLayout>
      </c:layout>
      <c:doughnutChart>
        <c:varyColors val="0"/>
        <c:ser>
          <c:idx val="0"/>
          <c:order val="0"/>
          <c:tx>
            <c:strRef>
              <c:strCache>
                <c:ptCount val="1"/>
                <c:pt idx="0">
                  <c:v>Share</c:v>
                </c:pt>
              </c:strCache>
            </c:strRef>
          </c:tx>
          <c:spPr/>
          <c:dPt>
            <c:idx val="0"/>
            <c:spPr>
              <a:solidFill>
                <a:srgbClr val="2A5F8F"/>
              </a:solidFill>
            </c:spPr>
          </c:dPt>
          <c:dPt>
            <c:idx val="1"/>
            <c:spPr>
              <a:solidFill>
                <a:srgbClr val="0081E2"/>
              </a:solidFill>
            </c:spPr>
          </c:dPt>
          <c:dPt>
            <c:idx val="2"/>
            <c:spPr>
              <a:solidFill>
                <a:srgbClr val="0E2A5C"/>
              </a:solidFill>
            </c:spPr>
          </c:dPt>
          <c:dPt>
            <c:idx val="3"/>
            <c:spPr>
              <a:solidFill>
                <a:srgbClr val="00ACAC"/>
              </a:solidFill>
            </c:spPr>
          </c:dPt>
          <c:dPt>
            <c:idx val="4"/>
            <c:spPr>
              <a:solidFill>
                <a:srgbClr val="F47620"/>
              </a:solidFill>
            </c:spPr>
          </c:dPt>
          <c:dPt>
            <c:idx val="5"/>
            <c:spPr>
              <a:solidFill>
                <a:srgbClr val="79C3EC"/>
              </a:solidFill>
            </c:spPr>
          </c:dPt>
          <c:dPt>
            <c:idx val="6"/>
            <c:spPr>
              <a:solidFill>
                <a:srgbClr val="586272"/>
              </a:solidFill>
            </c:spPr>
          </c:dPt>
          <c:dPt>
            <c:idx val="7"/>
            <c:spPr>
              <a:solidFill>
                <a:srgbClr val="1F476B"/>
              </a:solidFill>
            </c:spPr>
          </c:dPt>
          <c:dPt>
            <c:idx val="8"/>
            <c:spPr>
              <a:solidFill>
                <a:srgbClr val="BCBEC0"/>
              </a:solidFill>
            </c:spPr>
          </c:dPt>
          <c:dPt>
            <c:idx val="9"/>
            <c:spPr>
              <a:solidFill>
                <a:srgbClr val="3DC6C4"/>
              </a:solidFill>
            </c:spPr>
          </c:dPt>
          <c:dPt>
            <c:idx val="10"/>
            <c:spPr>
              <a:solidFill>
                <a:srgbClr val="B9B3AC"/>
              </a:solidFill>
            </c:spPr>
          </c:dPt>
          <c:dLbls>
            <c:dLbl>
              <c:idx val="0"/>
              <c:layout>
                <c:manualLayout>
                  <c:x val="0.0350"/>
                  <c:y val="0.0000"/>
                </c:manualLayout>
              </c:layout>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layout>
                <c:manualLayout>
                  <c:x val="0.0350"/>
                  <c:y val="0.0000"/>
                </c:manualLayout>
              </c:layout>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layout>
                <c:manualLayout>
                  <c:x val="0.0350"/>
                  <c:y val="0.0000"/>
                </c:manualLayout>
              </c:layout>
              <c:numFmt formatCode="&quot;MMM&quot;;&quot;MMM&quot;;&quot;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layout>
                <c:manualLayout>
                  <c:x val="0.0350"/>
                  <c:y val="0.0000"/>
                </c:manualLayout>
              </c:layout>
              <c:numFmt formatCode="&quot;MMM&quot;;&quot;MMM&quot;;&quot;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layout>
                <c:manualLayout>
                  <c:x val="0.0350"/>
                  <c:y val="0.0000"/>
                </c:manualLayout>
              </c:layout>
              <c:numFmt formatCode="&quot;MMM&quot;;&quot;MMM&quot;;&quot;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layout>
                <c:manualLayout>
                  <c:x val="0.0350"/>
                  <c:y val="0.0000"/>
                </c:manualLayout>
              </c:layout>
              <c:numFmt formatCode="&quot;MMM&quot;;&quot;MMM&quot;;&quot;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layout>
                <c:manualLayout>
                  <c:x val="0.0350"/>
                  <c:y val="0.0000"/>
                </c:manualLayout>
              </c:layout>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layout>
                <c:manualLayout>
                  <c:x val="0.0350"/>
                  <c:y val="0.0000"/>
                </c:manualLayout>
              </c:layout>
              <c:numFmt formatCode="&quot;MMM&quot;;&quot;MMM&quot;;&quot;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layout>
                <c:manualLayout>
                  <c:x val="0.0350"/>
                  <c:y val="0.0000"/>
                </c:manualLayout>
              </c:layout>
              <c:numFmt formatCode="&quot;MMM&quot;;&quot;MMM&quot;;&quot;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layout>
                <c:manualLayout>
                  <c:x val="0.0350"/>
                  <c:y val="0.0000"/>
                </c:manualLayout>
              </c:layout>
              <c:numFmt formatCode="&quot;MMM&quot;;&quot;MMM&quot;;&quot;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layout>
                <c:manualLayout>
                  <c:x val="0.0350"/>
                  <c:y val="0.0000"/>
                </c:manualLayout>
              </c:layout>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1"/>
                <c:pt idx="0">
                  <c:v>ESM Technologies, LLC</c:v>
                </c:pt>
                <c:pt idx="1">
                  <c:v>Company</c:v>
                </c:pt>
                <c:pt idx="2">
                  <c:v>Biova, LLC</c:v>
                </c:pt>
                <c:pt idx="3">
                  <c:v>Eggnovo S.L.</c:v>
                </c:pt>
                <c:pt idx="4">
                  <c:v>Dutch Eggmembrane Protein Powder</c:v>
                </c:pt>
                <c:pt idx="5">
                  <c:v>Kewpie Corporation</c:v>
                </c:pt>
                <c:pt idx="6">
                  <c:v>INNAIN</c:v>
                </c:pt>
                <c:pt idx="7">
                  <c:v>Ecovatec Solutions Inc.</c:v>
                </c:pt>
                <c:pt idx="8">
                  <c:v>Biovotec</c:v>
                </c:pt>
                <c:pt idx="9">
                  <c:v>Microcore Research Laboratories India Pvt. Ltd.</c:v>
                </c:pt>
                <c:pt idx="10">
                  <c:v>Others</c:v>
                </c:pt>
              </c:strCache>
            </c:strRef>
          </c:cat>
          <c:val>
            <c:numRef>
              <c:numCache>
                <c:formatCode>General</c:formatCode>
                <c:ptCount val="11"/>
                <c:pt idx="0">
                  <c:v>17.074931814674855</c:v>
                </c:pt>
                <c:pt idx="1">
                  <c:v>12.550885260107192</c:v>
                </c:pt>
                <c:pt idx="2">
                  <c:v>8.380043562697718</c:v>
                </c:pt>
                <c:pt idx="3">
                  <c:v>7.444952014860334</c:v>
                </c:pt>
                <c:pt idx="4">
                  <c:v>8.04660708305492</c:v>
                </c:pt>
                <c:pt idx="5">
                  <c:v>6.919214229256515</c:v>
                </c:pt>
                <c:pt idx="6">
                  <c:v>4.691071174682332</c:v>
                </c:pt>
                <c:pt idx="7">
                  <c:v>2.86510879859984</c:v>
                </c:pt>
                <c:pt idx="8">
                  <c:v>2.560369933335589</c:v>
                </c:pt>
                <c:pt idx="9">
                  <c:v>2.6169804142295043</c:v>
                </c:pt>
                <c:pt idx="10">
                  <c:v>26.849835714501204</c:v>
                </c:pt>
              </c:numCache>
            </c:numRef>
          </c:val>
        </c:ser>
        <c:dLbls>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a:p>
  </c:txPr>
</c:chartSpace>
</file>

<file path=ppt/charts/chart142.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1"/>
          <c:y val="0.04"/>
          <c:w val="0.68"/>
          <c:h val="0.92"/>
        </c:manualLayout>
      </c:layout>
      <c:doughnutChart>
        <c:varyColors val="0"/>
        <c:ser>
          <c:idx val="0"/>
          <c:order val="0"/>
          <c:tx>
            <c:strRef>
              <c:strCache>
                <c:ptCount val="1"/>
                <c:pt idx="0">
                  <c:v>Share</c:v>
                </c:pt>
              </c:strCache>
            </c:strRef>
          </c:tx>
          <c:spPr/>
          <c:dPt>
            <c:idx val="0"/>
            <c:spPr>
              <a:solidFill>
                <a:srgbClr val="2A5F8F"/>
              </a:solidFill>
            </c:spPr>
          </c:dPt>
          <c:dPt>
            <c:idx val="1"/>
            <c:spPr>
              <a:solidFill>
                <a:srgbClr val="0081E2"/>
              </a:solidFill>
            </c:spPr>
          </c:dPt>
          <c:dPt>
            <c:idx val="2"/>
            <c:spPr>
              <a:solidFill>
                <a:srgbClr val="0E2A5C"/>
              </a:solidFill>
            </c:spPr>
          </c:dPt>
          <c:dPt>
            <c:idx val="3"/>
            <c:spPr>
              <a:solidFill>
                <a:srgbClr val="00ACAC"/>
              </a:solidFill>
            </c:spPr>
          </c:dPt>
          <c:dPt>
            <c:idx val="4"/>
            <c:spPr>
              <a:solidFill>
                <a:srgbClr val="F47620"/>
              </a:solidFill>
            </c:spPr>
          </c:dPt>
          <c:dPt>
            <c:idx val="5"/>
            <c:spPr>
              <a:solidFill>
                <a:srgbClr val="79C3EC"/>
              </a:solidFill>
            </c:spPr>
          </c:dPt>
          <c:dPt>
            <c:idx val="6"/>
            <c:spPr>
              <a:solidFill>
                <a:srgbClr val="586272"/>
              </a:solidFill>
            </c:spPr>
          </c:dPt>
          <c:dPt>
            <c:idx val="7"/>
            <c:spPr>
              <a:solidFill>
                <a:srgbClr val="1F476B"/>
              </a:solidFill>
            </c:spPr>
          </c:dPt>
          <c:dPt>
            <c:idx val="8"/>
            <c:spPr>
              <a:solidFill>
                <a:srgbClr val="BCBEC0"/>
              </a:solidFill>
            </c:spPr>
          </c:dPt>
          <c:dPt>
            <c:idx val="9"/>
            <c:spPr>
              <a:solidFill>
                <a:srgbClr val="3DC6C4"/>
              </a:solidFill>
            </c:spPr>
          </c:dPt>
          <c:dPt>
            <c:idx val="10"/>
            <c:spPr>
              <a:solidFill>
                <a:srgbClr val="B9B3AC"/>
              </a:solidFill>
            </c:spPr>
          </c:dPt>
          <c:dLbls>
            <c:dLbl>
              <c:idx val="0"/>
              <c:layout>
                <c:manualLayout>
                  <c:x val="0.0350"/>
                  <c:y val="0.0000"/>
                </c:manualLayout>
              </c:layout>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layout>
                <c:manualLayout>
                  <c:x val="0.0350"/>
                  <c:y val="0.0000"/>
                </c:manualLayout>
              </c:layout>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layout>
                <c:manualLayout>
                  <c:x val="0.0350"/>
                  <c:y val="0.0000"/>
                </c:manualLayout>
              </c:layout>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layout>
                <c:manualLayout>
                  <c:x val="0.0350"/>
                  <c:y val="0.0000"/>
                </c:manualLayout>
              </c:layout>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layout>
                <c:manualLayout>
                  <c:x val="0.0350"/>
                  <c:y val="0.0000"/>
                </c:manualLayout>
              </c:layout>
              <c:numFmt formatCode="&quot;MMM&quot;;&quot;MMM&quot;;&quot;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layout>
                <c:manualLayout>
                  <c:x val="0.0350"/>
                  <c:y val="0.0000"/>
                </c:manualLayout>
              </c:layout>
              <c:numFmt formatCode="&quot;MMM&quot;;&quot;MMM&quot;;&quot;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layout>
                <c:manualLayout>
                  <c:x val="0.0350"/>
                  <c:y val="0.0000"/>
                </c:manualLayout>
              </c:layout>
              <c:numFmt formatCode="&quot;MMM&quot;;&quot;MMM&quot;;&quot;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layout>
                <c:manualLayout>
                  <c:x val="0.0350"/>
                  <c:y val="0.0000"/>
                </c:manualLayout>
              </c:layout>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layout>
                <c:manualLayout>
                  <c:x val="0.0350"/>
                  <c:y val="0.0000"/>
                </c:manualLayout>
              </c:layout>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layout>
                <c:manualLayout>
                  <c:x val="0.0350"/>
                  <c:y val="0.0000"/>
                </c:manualLayout>
              </c:layout>
              <c:numFmt formatCode="&quot;MMM&quot;;&quot;MMM&quot;;&quot;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layout>
                <c:manualLayout>
                  <c:x val="0.0350"/>
                  <c:y val="0.0000"/>
                </c:manualLayout>
              </c:layout>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1"/>
                <c:pt idx="0">
                  <c:v>ESM Technologies, LLC</c:v>
                </c:pt>
                <c:pt idx="1">
                  <c:v>Company</c:v>
                </c:pt>
                <c:pt idx="2">
                  <c:v>Biova, LLC</c:v>
                </c:pt>
                <c:pt idx="3">
                  <c:v>Eggnovo S.L.</c:v>
                </c:pt>
                <c:pt idx="4">
                  <c:v>Dutch Eggmembrane Protein Powder</c:v>
                </c:pt>
                <c:pt idx="5">
                  <c:v>Kewpie Corporation</c:v>
                </c:pt>
                <c:pt idx="6">
                  <c:v>INNAIN</c:v>
                </c:pt>
                <c:pt idx="7">
                  <c:v>Ecovatec Solutions Inc.</c:v>
                </c:pt>
                <c:pt idx="8">
                  <c:v>Biovotec</c:v>
                </c:pt>
                <c:pt idx="9">
                  <c:v>Microcore Research Laboratories India Pvt. Ltd.</c:v>
                </c:pt>
                <c:pt idx="10">
                  <c:v>Others</c:v>
                </c:pt>
              </c:strCache>
            </c:strRef>
          </c:cat>
          <c:val>
            <c:numRef>
              <c:numCache>
                <c:formatCode>General</c:formatCode>
                <c:ptCount val="11"/>
                <c:pt idx="0">
                  <c:v>15.570454803610694</c:v>
                </c:pt>
                <c:pt idx="1">
                  <c:v>10.546713911504883</c:v>
                </c:pt>
                <c:pt idx="2">
                  <c:v>10.489494550876001</c:v>
                </c:pt>
                <c:pt idx="3">
                  <c:v>11.523850319189417</c:v>
                </c:pt>
                <c:pt idx="4">
                  <c:v>9.716274527037694</c:v>
                </c:pt>
                <c:pt idx="5">
                  <c:v>6.041847824962319</c:v>
                </c:pt>
                <c:pt idx="6">
                  <c:v>4.100995695833606</c:v>
                </c:pt>
                <c:pt idx="7">
                  <c:v>3.8524851858046234</c:v>
                </c:pt>
                <c:pt idx="8">
                  <c:v>3.889793811996375</c:v>
                </c:pt>
                <c:pt idx="9">
                  <c:v>2.9792010725276863</c:v>
                </c:pt>
                <c:pt idx="10">
                  <c:v>21.288888296656708</c:v>
                </c:pt>
              </c:numCache>
            </c:numRef>
          </c:val>
        </c:ser>
        <c:dLbls>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a:p>
  </c:txPr>
</c:chartSpace>
</file>

<file path=ppt/charts/chart143.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1"/>
          <c:y val="0.04"/>
          <c:w val="0.68"/>
          <c:h val="0.92"/>
        </c:manualLayout>
      </c:layout>
      <c:doughnutChart>
        <c:varyColors val="0"/>
        <c:ser>
          <c:idx val="0"/>
          <c:order val="0"/>
          <c:tx>
            <c:strRef>
              <c:strCache>
                <c:ptCount val="1"/>
                <c:pt idx="0">
                  <c:v>Share</c:v>
                </c:pt>
              </c:strCache>
            </c:strRef>
          </c:tx>
          <c:spPr/>
          <c:dPt>
            <c:idx val="0"/>
            <c:spPr>
              <a:solidFill>
                <a:srgbClr val="2A5F8F"/>
              </a:solidFill>
            </c:spPr>
          </c:dPt>
          <c:dPt>
            <c:idx val="1"/>
            <c:spPr>
              <a:solidFill>
                <a:srgbClr val="0081E2"/>
              </a:solidFill>
            </c:spPr>
          </c:dPt>
          <c:dPt>
            <c:idx val="2"/>
            <c:spPr>
              <a:solidFill>
                <a:srgbClr val="0E2A5C"/>
              </a:solidFill>
            </c:spPr>
          </c:dPt>
          <c:dPt>
            <c:idx val="3"/>
            <c:spPr>
              <a:solidFill>
                <a:srgbClr val="00ACAC"/>
              </a:solidFill>
            </c:spPr>
          </c:dPt>
          <c:dPt>
            <c:idx val="4"/>
            <c:spPr>
              <a:solidFill>
                <a:srgbClr val="F47620"/>
              </a:solidFill>
            </c:spPr>
          </c:dPt>
          <c:dPt>
            <c:idx val="5"/>
            <c:spPr>
              <a:solidFill>
                <a:srgbClr val="79C3EC"/>
              </a:solidFill>
            </c:spPr>
          </c:dPt>
          <c:dPt>
            <c:idx val="6"/>
            <c:spPr>
              <a:solidFill>
                <a:srgbClr val="586272"/>
              </a:solidFill>
            </c:spPr>
          </c:dPt>
          <c:dPt>
            <c:idx val="7"/>
            <c:spPr>
              <a:solidFill>
                <a:srgbClr val="1F476B"/>
              </a:solidFill>
            </c:spPr>
          </c:dPt>
          <c:dPt>
            <c:idx val="8"/>
            <c:spPr>
              <a:solidFill>
                <a:srgbClr val="BCBEC0"/>
              </a:solidFill>
            </c:spPr>
          </c:dPt>
          <c:dPt>
            <c:idx val="9"/>
            <c:spPr>
              <a:solidFill>
                <a:srgbClr val="3DC6C4"/>
              </a:solidFill>
            </c:spPr>
          </c:dPt>
          <c:dPt>
            <c:idx val="10"/>
            <c:spPr>
              <a:solidFill>
                <a:srgbClr val="B9B3AC"/>
              </a:solidFill>
            </c:spPr>
          </c:dPt>
          <c:dLbls>
            <c:dLbl>
              <c:idx val="0"/>
              <c:layout>
                <c:manualLayout>
                  <c:x val="0.0350"/>
                  <c:y val="0.0000"/>
                </c:manualLayout>
              </c:layout>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layout>
                <c:manualLayout>
                  <c:x val="0.0350"/>
                  <c:y val="0.0000"/>
                </c:manualLayout>
              </c:layout>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layout>
                <c:manualLayout>
                  <c:x val="0.0350"/>
                  <c:y val="0.0000"/>
                </c:manualLayout>
              </c:layout>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layout>
                <c:manualLayout>
                  <c:x val="0.0350"/>
                  <c:y val="0.0000"/>
                </c:manualLayout>
              </c:layout>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layout>
                <c:manualLayout>
                  <c:x val="0.0350"/>
                  <c:y val="0.0000"/>
                </c:manualLayout>
              </c:layout>
              <c:numFmt formatCode="&quot;MMM&quot;;&quot;MMM&quot;;&quot;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layout>
                <c:manualLayout>
                  <c:x val="0.0350"/>
                  <c:y val="0.0000"/>
                </c:manualLayout>
              </c:layout>
              <c:numFmt formatCode="&quot;MMM&quot;;&quot;MMM&quot;;&quot;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layout>
                <c:manualLayout>
                  <c:x val="0.0350"/>
                  <c:y val="0.0000"/>
                </c:manualLayout>
              </c:layout>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layout>
                <c:manualLayout>
                  <c:x val="0.0350"/>
                  <c:y val="0.0000"/>
                </c:manualLayout>
              </c:layout>
              <c:numFmt formatCode="&quot;MMM&quot;;&quot;MMM&quot;;&quot;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layout>
                <c:manualLayout>
                  <c:x val="0.0350"/>
                  <c:y val="0.0000"/>
                </c:manualLayout>
              </c:layout>
              <c:numFmt formatCode="&quot;MMM&quot;;&quot;MMM&quot;;&quot;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layout>
                <c:manualLayout>
                  <c:x val="0.0350"/>
                  <c:y val="0.0000"/>
                </c:manualLayout>
              </c:layout>
              <c:numFmt formatCode="&quot;MMM&quot;;&quot;MMM&quot;;&quot;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layout>
                <c:manualLayout>
                  <c:x val="0.0350"/>
                  <c:y val="0.0000"/>
                </c:manualLayout>
              </c:layout>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1"/>
                <c:pt idx="0">
                  <c:v>ESM Technologies, LLC</c:v>
                </c:pt>
                <c:pt idx="1">
                  <c:v>Company</c:v>
                </c:pt>
                <c:pt idx="2">
                  <c:v>Biova, LLC</c:v>
                </c:pt>
                <c:pt idx="3">
                  <c:v>Eggnovo S.L.</c:v>
                </c:pt>
                <c:pt idx="4">
                  <c:v>Dutch Eggmembrane Protein Powder</c:v>
                </c:pt>
                <c:pt idx="5">
                  <c:v>Kewpie Corporation</c:v>
                </c:pt>
                <c:pt idx="6">
                  <c:v>INNAIN</c:v>
                </c:pt>
                <c:pt idx="7">
                  <c:v>Ecovatec Solutions Inc.</c:v>
                </c:pt>
                <c:pt idx="8">
                  <c:v>Biovotec</c:v>
                </c:pt>
                <c:pt idx="9">
                  <c:v>Microcore Research Laboratories India Pvt. Ltd.</c:v>
                </c:pt>
                <c:pt idx="10">
                  <c:v>Others</c:v>
                </c:pt>
              </c:strCache>
            </c:strRef>
          </c:cat>
          <c:val>
            <c:numRef>
              <c:numCache>
                <c:formatCode>General</c:formatCode>
                <c:ptCount val="11"/>
                <c:pt idx="0">
                  <c:v>11.931858870012501</c:v>
                </c:pt>
                <c:pt idx="1">
                  <c:v>12.495250983383206</c:v>
                </c:pt>
                <c:pt idx="2">
                  <c:v>13.557011133261542</c:v>
                </c:pt>
                <c:pt idx="3">
                  <c:v>11.024479649083794</c:v>
                </c:pt>
                <c:pt idx="4">
                  <c:v>6.975036720459171</c:v>
                </c:pt>
                <c:pt idx="5">
                  <c:v>4.918850211127804</c:v>
                </c:pt>
                <c:pt idx="6">
                  <c:v>5.131252406943278</c:v>
                </c:pt>
                <c:pt idx="7">
                  <c:v>4.808839258461541</c:v>
                </c:pt>
                <c:pt idx="8">
                  <c:v>3.5084788144252483</c:v>
                </c:pt>
                <c:pt idx="9">
                  <c:v>2.100246059545411</c:v>
                </c:pt>
                <c:pt idx="10">
                  <c:v>23.5486958932965</c:v>
                </c:pt>
              </c:numCache>
            </c:numRef>
          </c:val>
        </c:ser>
        <c:dLbls>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a:p>
  </c:txPr>
</c:chartSpace>
</file>

<file path=ppt/charts/chart14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strCache>
                <c:ptCount val="1"/>
                <c:pt idx="0">
                  <c:v>S1</c:v>
                </c:pt>
              </c:strCache>
            </c:strRef>
          </c:tx>
          <c:spPr>
            <a:solidFill>
              <a:srgbClr val="1668A8"/>
            </a:solidFill>
            <a:ln>
              <a:noFill/>
            </a:ln>
          </c:spPr>
          <c:dLbls>
            <c:dLbl>
              <c:idx val="0"/>
              <c:numFmt formatCode="&quot;MMMMM&quot;;&quot;MMMMM&quot;;&quot;M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quot;;&quot;MMMMM&quot;;&quot;M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quot;;&quot;MMMMM&quot;;&quot;M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MM&quot;;&quot;MMMMMMM&quot;;&quot;MMM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4"/>
                <c:pt idx="0">
                  <c:v>Dietary Supplements &amp; Nutraceuticals</c:v>
                </c:pt>
                <c:pt idx="1">
                  <c:v>Functional Food &amp; Beverages</c:v>
                </c:pt>
                <c:pt idx="2">
                  <c:v>Cosmetics &amp; Personal Care</c:v>
                </c:pt>
                <c:pt idx="3">
                  <c:v>Pharmaceuticals &amp; Biomedical</c:v>
                </c:pt>
              </c:strCache>
            </c:strRef>
          </c:cat>
          <c:val>
            <c:numRef>
              <c:numCache>
                <c:formatCode>General</c:formatCode>
                <c:ptCount val="4"/>
                <c:pt idx="0">
                  <c:v>760.6516955605224</c:v>
                </c:pt>
                <c:pt idx="1">
                  <c:v>423.1774967089121</c:v>
                </c:pt>
                <c:pt idx="2">
                  <c:v>532.660001616456</c:v>
                </c:pt>
                <c:pt idx="3">
                  <c:v>1006.2450332716091</c:v>
                </c:pt>
              </c:numCache>
            </c:numRef>
          </c:val>
        </c:ser>
        <c:dLbls>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1328.2434439185242"/>
          <c:min val="0.0"/>
        </c:scaling>
        <c:delete val="0"/>
        <c:axPos val="l"/>
        <c:numFmt formatCode="#,##0" sourceLinked="0"/>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4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strCache>
                <c:ptCount val="1"/>
                <c:pt idx="0">
                  <c:v>S1</c:v>
                </c:pt>
              </c:strCache>
            </c:strRef>
          </c:tx>
          <c:spPr>
            <a:solidFill>
              <a:srgbClr val="0E3A5F"/>
            </a:solidFill>
            <a:ln>
              <a:noFill/>
            </a:ln>
          </c:spPr>
          <c:dLbls>
            <c:dLbl>
              <c:idx val="0"/>
              <c:numFmt formatCode="&quot;MMMMM&quot;;&quot;MMMMM&quot;;&quot;M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quot;;&quot;MMMMM&quot;;&quot;M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quot;;&quot;MMMMM&quot;;&quot;M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quot;;&quot;MMMMM&quot;;&quot;M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quot;;&quot;MMMMM&quot;;&quot;M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5"/>
                <c:pt idx="0">
                  <c:v>North America</c:v>
                </c:pt>
                <c:pt idx="1">
                  <c:v>Europe</c:v>
                </c:pt>
                <c:pt idx="2">
                  <c:v>South Asia &amp; Pacific</c:v>
                </c:pt>
                <c:pt idx="3">
                  <c:v>East Asia</c:v>
                </c:pt>
                <c:pt idx="4">
                  <c:v>Rest of the World</c:v>
                </c:pt>
              </c:strCache>
            </c:strRef>
          </c:cat>
          <c:val>
            <c:numRef>
              <c:numCache>
                <c:formatCode>General</c:formatCode>
                <c:ptCount val="5"/>
                <c:pt idx="0">
                  <c:v>903.8968721564273</c:v>
                </c:pt>
                <c:pt idx="1">
                  <c:v>550.2000135706493</c:v>
                </c:pt>
                <c:pt idx="2">
                  <c:v>296.70691725628416</c:v>
                </c:pt>
                <c:pt idx="3">
                  <c:v>335.2561047284525</c:v>
                </c:pt>
                <c:pt idx="4">
                  <c:v>636.6743194456863</c:v>
                </c:pt>
              </c:numCache>
            </c:numRef>
          </c:val>
        </c:ser>
        <c:dLbls>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1193.1438712464842"/>
          <c:min val="0.0"/>
        </c:scaling>
        <c:delete val="0"/>
        <c:axPos val="l"/>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46.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1"/>
          <c:y val="0.04"/>
          <c:w val="0.68"/>
          <c:h val="0.92"/>
        </c:manualLayout>
      </c:layout>
      <c:doughnutChart>
        <c:varyColors val="0"/>
        <c:ser>
          <c:idx val="0"/>
          <c:order val="0"/>
          <c:tx>
            <c:strRef>
              <c:strCache>
                <c:ptCount val="1"/>
                <c:pt idx="0">
                  <c:v>Share</c:v>
                </c:pt>
              </c:strCache>
            </c:strRef>
          </c:tx>
          <c:spPr/>
          <c:dPt>
            <c:idx val="0"/>
            <c:spPr>
              <a:solidFill>
                <a:srgbClr val="2A5F8F"/>
              </a:solidFill>
            </c:spPr>
          </c:dPt>
          <c:dPt>
            <c:idx val="1"/>
            <c:spPr>
              <a:solidFill>
                <a:srgbClr val="0081E2"/>
              </a:solidFill>
            </c:spPr>
          </c:dPt>
          <c:dPt>
            <c:idx val="2"/>
            <c:spPr>
              <a:solidFill>
                <a:srgbClr val="0E2A5C"/>
              </a:solidFill>
            </c:spPr>
          </c:dPt>
          <c:dLbls>
            <c:dLbl>
              <c:idx val="0"/>
              <c:layout>
                <c:manualLayout>
                  <c:x val="0.0350"/>
                  <c:y val="0.0000"/>
                </c:manualLayout>
              </c:layout>
              <c:numFmt formatCode="&quot;MMMMM&quot;;&quot;MMMMM&quot;;&quot;M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layout>
                <c:manualLayout>
                  <c:x val="0.0350"/>
                  <c:y val="0.0000"/>
                </c:manualLayout>
              </c:layout>
              <c:numFmt formatCode="&quot;MMMMM&quot;;&quot;MMMMM&quot;;&quot;M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layout>
                <c:manualLayout>
                  <c:x val="0.0350"/>
                  <c:y val="0.0000"/>
                </c:manualLayout>
              </c:layout>
              <c:numFmt formatCode="&quot;MMMMMMM&quot;;&quot;MMMMMMM&quot;;&quot;MMM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3"/>
                <c:pt idx="0">
                  <c:v>Micronized Eggshell Membrane</c:v>
                </c:pt>
                <c:pt idx="1">
                  <c:v>Specialty Extracted Protein Fractions</c:v>
                </c:pt>
                <c:pt idx="2">
                  <c:v>Hydrolyzed Eggshell Membrane</c:v>
                </c:pt>
              </c:strCache>
            </c:strRef>
          </c:cat>
          <c:val>
            <c:numRef>
              <c:numCache>
                <c:formatCode>General</c:formatCode>
                <c:ptCount val="3"/>
                <c:pt idx="0">
                  <c:v>546.4521388732086</c:v>
                </c:pt>
                <c:pt idx="1">
                  <c:v>759.6954741615889</c:v>
                </c:pt>
                <c:pt idx="2">
                  <c:v>1416.5866141227018</c:v>
                </c:pt>
              </c:numCache>
            </c:numRef>
          </c:val>
        </c:ser>
        <c:dLbls>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a:p>
  </c:txPr>
</c:chartSpace>
</file>

<file path=ppt/charts/chart14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strCache>
                <c:ptCount val="1"/>
                <c:pt idx="0">
                  <c:v>SAM</c:v>
                </c:pt>
              </c:strCache>
            </c:strRef>
          </c:tx>
          <c:spPr>
            <a:solidFill>
              <a:srgbClr val="69B1E0"/>
            </a:solidFill>
            <a:ln>
              <a:noFill/>
            </a:ln>
          </c:spPr>
          <c:dLbls>
            <c:dLbl>
              <c:idx val="0"/>
              <c:numFmt formatCode="&quot;MMMMMMM&quot;;&quot;MMMMMMM&quot;;&quot;MMM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MM&quot;;&quot;MMMMMMM&quot;;&quot;MMM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MM&quot;;&quot;MMMMMMM&quot;;&quot;MMM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MM&quot;;&quot;MMMMMMM&quot;;&quot;MMM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quot;;&quot;MMMMM&quot;;&quot;M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0&quot;%&quot;"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5"/>
                <c:pt idx="0">
                  <c:v>North America</c:v>
                </c:pt>
                <c:pt idx="1">
                  <c:v>Europe</c:v>
                </c:pt>
                <c:pt idx="2">
                  <c:v>South Asia &amp; Pacific</c:v>
                </c:pt>
                <c:pt idx="3">
                  <c:v>East Asia</c:v>
                </c:pt>
                <c:pt idx="4">
                  <c:v>Rest of the World</c:v>
                </c:pt>
              </c:strCache>
            </c:strRef>
          </c:cat>
          <c:val>
            <c:numRef>
              <c:numCache>
                <c:formatCode>General</c:formatCode>
                <c:ptCount val="5"/>
                <c:pt idx="0">
                  <c:v>2757.872208</c:v>
                </c:pt>
                <c:pt idx="1">
                  <c:v>2479.0574956118935</c:v>
                </c:pt>
                <c:pt idx="2">
                  <c:v>1811.7386216527998</c:v>
                </c:pt>
                <c:pt idx="3">
                  <c:v>1160.7022605183133</c:v>
                </c:pt>
                <c:pt idx="4">
                  <c:v>920.8583328146864</c:v>
                </c:pt>
              </c:numCache>
            </c:numRef>
          </c:val>
        </c:ser>
        <c:ser>
          <c:idx val="1"/>
          <c:order val="1"/>
          <c:tx>
            <c:strRef>
              <c:strCache>
                <c:ptCount val="1"/>
                <c:pt idx="0">
                  <c:v>SOM</c:v>
                </c:pt>
              </c:strCache>
            </c:strRef>
          </c:tx>
          <c:spPr>
            <a:solidFill>
              <a:srgbClr val="2A5F8F"/>
            </a:solidFill>
            <a:ln>
              <a:noFill/>
            </a:ln>
          </c:spPr>
          <c:dLbls>
            <c:dLbl>
              <c:idx val="0"/>
              <c:numFmt formatCode="&quot;MMMMM&quot;;&quot;MMMMM&quot;;&quot;M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quot;;&quot;MMMMM&quot;;&quot;M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quot;;&quot;MMMMM&quot;;&quot;M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quot;;&quot;MMMMM&quot;;&quot;M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quot;;&quot;MMMMM&quot;;&quot;M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0&quot;%&quot;"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5"/>
                <c:pt idx="0">
                  <c:v>North America</c:v>
                </c:pt>
                <c:pt idx="1">
                  <c:v>Europe</c:v>
                </c:pt>
                <c:pt idx="2">
                  <c:v>South Asia &amp; Pacific</c:v>
                </c:pt>
                <c:pt idx="3">
                  <c:v>East Asia</c:v>
                </c:pt>
                <c:pt idx="4">
                  <c:v>Rest of the World</c:v>
                </c:pt>
              </c:strCache>
            </c:strRef>
          </c:cat>
          <c:val>
            <c:numRef>
              <c:numCache>
                <c:formatCode>General</c:formatCode>
                <c:ptCount val="5"/>
                <c:pt idx="0">
                  <c:v>903.8968721564273</c:v>
                </c:pt>
                <c:pt idx="1">
                  <c:v>550.2000135706493</c:v>
                </c:pt>
                <c:pt idx="2">
                  <c:v>296.70691725628416</c:v>
                </c:pt>
                <c:pt idx="3">
                  <c:v>335.2561047284525</c:v>
                </c:pt>
                <c:pt idx="4">
                  <c:v>636.6743194456863</c:v>
                </c:pt>
              </c:numCache>
            </c:numRef>
          </c:val>
        </c:ser>
        <c:dLbls>
          <c:numFmt formatCode="0.0&quot;%&quot;"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3530.07642624"/>
          <c:min val="0.0"/>
        </c:scaling>
        <c:delete val="0"/>
        <c:axPos val="b"/>
        <c:numFmt formatCode="0&quot;%&quot;" sourceLinked="0"/>
        <c:majorTickMark val="out"/>
        <c:minorTickMark val="none"/>
        <c:tickLblPos val="nextTo"/>
        <c:spPr>
          <a:ln>
            <a:solidFill>
              <a:srgbClr val="C9D6E4"/>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2.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3.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4.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5.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7.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8.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9.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0.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1.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3.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4.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5.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6.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7.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8.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9.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1.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2.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3.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4.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5.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8.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9.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0.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2.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3.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4.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5.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6.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7.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8.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9.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1.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2.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3.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6.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7.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9.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0.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2.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3.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5.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6.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8.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9.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1.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2.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3.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5.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6.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7.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8.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9.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0.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1.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2.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3.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4.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5.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6.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8.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9.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0.xml"/></Relationships>
</file>

<file path=ppt/notesSlides/_rels/notesSlide2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1.xml"/></Relationships>
</file>

<file path=ppt/notesSlides/_rels/notesSlide2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3.xml"/></Relationships>
</file>

<file path=ppt/notesSlides/_rels/notesSlide2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4.xml"/></Relationships>
</file>

<file path=ppt/notesSlides/_rels/notesSlide2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5.xml"/></Relationships>
</file>

<file path=ppt/notesSlides/_rels/notesSlide2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6.xml"/></Relationships>
</file>

<file path=ppt/notesSlides/_rels/notesSlide2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7.xml"/></Relationships>
</file>

<file path=ppt/notesSlides/_rels/notesSlide2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8.xml"/></Relationships>
</file>

<file path=ppt/notesSlides/_rels/notesSlide2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9.xml"/></Relationships>
</file>

<file path=ppt/notesSlides/_rels/notesSlide2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0.xml"/></Relationships>
</file>

<file path=ppt/notesSlides/_rels/notesSlide2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4.xml"/></Relationships>
</file>

<file path=ppt/notesSlides/_rels/notesSlide2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5.xml"/></Relationships>
</file>

<file path=ppt/notesSlides/_rels/notesSlide2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6.xml"/></Relationships>
</file>

<file path=ppt/notesSlides/_rels/notesSlide2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7.xml"/></Relationships>
</file>

<file path=ppt/notesSlides/_rels/notesSlide2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8.xml"/></Relationships>
</file>

<file path=ppt/notesSlides/_rels/notesSlide2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9.xml"/></Relationships>
</file>

<file path=ppt/notesSlides/_rels/notesSlide2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0.xml"/></Relationships>
</file>

<file path=ppt/notesSlides/_rels/notesSlide2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1.xml"/></Relationships>
</file>

<file path=ppt/notesSlides/_rels/notesSlide2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2.xml"/></Relationships>
</file>

<file path=ppt/notesSlides/_rels/notesSlide2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3.xml"/></Relationships>
</file>

<file path=ppt/notesSlides/_rels/notesSlide2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4.xml"/></Relationships>
</file>

<file path=ppt/notesSlides/_rels/notesSlide2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5.xml"/></Relationships>
</file>

<file path=ppt/notesSlides/_rels/notesSlide2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6.xml"/></Relationships>
</file>

<file path=ppt/notesSlides/_rels/notesSlide2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2.xml"/></Relationships>
</file>

<file path=ppt/notesSlides/_rels/notesSlide2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3.xml"/></Relationships>
</file>

<file path=ppt/notesSlides/_rels/notesSlide2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4.xml"/></Relationships>
</file>

<file path=ppt/notesSlides/_rels/notesSlide2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5.xml"/></Relationships>
</file>

<file path=ppt/notesSlides/_rels/notesSlide2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6.xml"/></Relationships>
</file>

<file path=ppt/notesSlides/_rels/notesSlide2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8.xml"/></Relationships>
</file>

<file path=ppt/notesSlides/_rels/notesSlide2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9.xml"/></Relationships>
</file>

<file path=ppt/notesSlides/_rels/notesSlide2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0.xml"/></Relationships>
</file>

<file path=ppt/notesSlides/_rels/notesSlide2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1.xml"/></Relationships>
</file>

<file path=ppt/notesSlides/_rels/notesSlide2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2.xml"/></Relationships>
</file>

<file path=ppt/notesSlides/_rels/notesSlide2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2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2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2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2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2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2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Egg Protein Membrane Market Market Signals Market Signals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Market Overview (section breaker)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Egg Protein Membrane Market Market Taxonomy Geographic Coverage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Egg Protein Membrane Market Market Taxonomy Market Segments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Egg Protein Membrane Market Market Taxonomy Company Coverage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Global Market Outlook (section breaker)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Egg Protein Membrane Market Global Overview Volume Market Summary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Egg Protein Membrane Market Global Overview Pricing &amp; Price Index</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Egg Protein Membrane Market Global Overview Value Market Summary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Egg Protein Membrane Market Global Overview Market Volume &amp;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Egg Protein Membrane Market Global Overview Country Outlook  (1/2)</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Egg Protein Membrane Market Global Overview Country Outlook  (2/2)</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Egg Protein Membrane Market Global Overview Market Overview (1/4)</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Egg Protein Membrane Market Global Overview Supply Side Trends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Egg Protein Membrane Market Global Overview Analysis and Recommendation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Egg Protein Membrane Market Global Overview Scenario Outlook (4/4)</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Egg Protein Membrane Market By Region Global Egg Protein Membrane – Regional Outlook</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Egg Protein Membrane Market By Region Market Analysis By Region (1/2)</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Egg Protein Membrane Market By Region Market Analysis By Region (2/2)</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Egg Protein Membrane Market By Region Volume Share Analysis By Region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Egg Protein Membrane Market By Region Value Share Analysis By Region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Egg Protein Membrane Market By Region Market Trends By Region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Egg Protein Membrane Market By Region Top Countries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Egg Protein Membrane Market Product Type By Product Type Segment Outlook</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Egg Protein Membrane Market Product Type Market Structure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Egg Protein Membrane Market Product Type Absolute $ Analysis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Egg Protein Membrane Market Product Type Market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Egg Protein Membrane Market Product Type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Egg Protein Membrane Market Extraction / Processing Method By Extraction / Processing Method Segment Outlook</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Egg Protein Membrane Market Extraction / Processing Method Market Structure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Egg Protein Membrane Market Extraction / Processing Method Absolute $ Analysis</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Egg Protein Membrane Market Extraction / Processing Method Market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Egg Protein Membrane Market Extraction / Processing Method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Egg Protein Membrane Market Source By Source Segment Outlook</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Egg Protein Membrane Market Source Market Structure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Egg Protein Membrane Market Source Absolute $ Analysis</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Egg Protein Membrane Market Source Market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Egg Protein Membrane Market Source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Egg Protein Membrane Market Form By Form Segment Outlook</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Egg Protein Membrane Market Form Market Structure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Egg Protein Membrane Market Form Absolute $ Analysis</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Egg Protein Membrane Market Form Market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Egg Protein Membrane Market Form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Egg Protein Membrane Market Application By Application Segment Outlook</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Egg Protein Membrane Market Application Market Structure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Egg Protein Membrane Market Application Absolute $ Analysis  (1/2)</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Egg Protein Membrane Market Application Absolute $ Analysis  (2/2)</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Egg Protein Membrane Market Application Market Value Analysis  (1/2)</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Egg Protein Membrane Market Application Market Value Analysis  (2/2)</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Egg Protein Membrane Market Application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Egg Protein Membrane Market Sales Channel By Sales Channel Segment Outlook</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Egg Protein Membrane Market Sales Channel Market Structure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Egg Protein Membrane Market Sales Channel Absolute $ Analysis</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Egg Protein Membrane Market Sales Channel Market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Egg Protein Membrane Market Sales Channel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Egg Protein Membrane Market Product Type × Source Market Snapshot</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Egg Protein Membrane Market Product Type × Source Market Share Analysis</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Egg Protein Membrane Market Product Type × Source Absolute $ Opportunity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Egg Protein Membrane Market Product Type × Application Market Snapshot  (1/3)</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Egg Protein Membrane Market Product Type × Application Market Snapshot  (2/3)</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Egg Protein Membrane Market Product Type × Application Market Snapshot  (3/3)</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Egg Protein Membrane Market Product Type × Application Market Share Analysis</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Egg Protein Membrane Market Product Type × Application Absolute $ Opportunity &amp; Attractiveness  (1/3)</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Egg Protein Membrane Market Product Type × Application Absolute $ Opportunity &amp; Attractiveness  (2/3)</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Egg Protein Membrane Market Product Type × Application Absolute $ Opportunity &amp; Attractiveness  (3/3)</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North America Market Outlook (section breaker)</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Egg Protein Membrane Market North America Overview Volume Market Summary</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Egg Protein Membrane Market North America Overview Pricing &amp; Price Index</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Egg Protein Membrane Market North America Overview Value Market Summary</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Egg Protein Membrane Market North America Overview Market Volume &amp;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Egg Protein Membrane Market North America Overview Country Outlook</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Egg Protein Membrane Market North America Overview Market Overview (1/4)</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Egg Protein Membrane Market North America Overview Supply Side Trends</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Egg Protein Membrane Market North America Overview Analysis and Recommendation</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Egg Protein Membrane Market North America Overview Scenario Outlook (4/4)</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Egg Protein Membrane Market By Country North America Egg Protein Membrane – Country Outlook</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Egg Protein Membrane Market By Country Market Analysis By Country (1/2)</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Egg Protein Membrane Market By Country Market Analysis By Country (2/2)</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Egg Protein Membrane Market By Country Volume Share Analysis By Country</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Egg Protein Membrane Market By Country Value Share Analysis By Country</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Egg Protein Membrane Market By Country Market Trends By Country</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Egg Protein Membrane Market By Country Top Countries</a:t>
            </a:r>
          </a:p>
        </p:txBody>
      </p:sp>
      <p:sp>
        <p:nvSpPr>
          <p:cNvPr id="4" name="Slide Number Placeholder 3"/>
          <p:cNvSpPr>
            <a:spLocks noGrp="1"/>
          </p:cNvSpPr>
          <p:nvPr>
            <p:ph type="sldNum" idx="5" sz="quarter"/>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Egg Protein Membrane Market Product Type By Product Type Segment Outlook</a:t>
            </a:r>
          </a:p>
        </p:txBody>
      </p:sp>
      <p:sp>
        <p:nvSpPr>
          <p:cNvPr id="4" name="Slide Number Placeholder 3"/>
          <p:cNvSpPr>
            <a:spLocks noGrp="1"/>
          </p:cNvSpPr>
          <p:nvPr>
            <p:ph type="sldNum" idx="5" sz="quarter"/>
          </p:nvPr>
        </p:nvSpPr>
        <p:spPr/>
      </p:sp>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Egg Protein Membrane Market Product Type Market Structure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1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Egg Protein Membrane Market Product Type Absolute $ Analysis</a:t>
            </a:r>
          </a:p>
        </p:txBody>
      </p:sp>
      <p:sp>
        <p:nvSpPr>
          <p:cNvPr id="4" name="Slide Number Placeholder 3"/>
          <p:cNvSpPr>
            <a:spLocks noGrp="1"/>
          </p:cNvSpPr>
          <p:nvPr>
            <p:ph type="sldNum" idx="5" sz="quarter"/>
          </p:nvPr>
        </p:nvSpPr>
        <p:spPr/>
      </p:sp>
    </p:spTree>
  </p:cSld>
  <p:clrMapOvr>
    <a:masterClrMapping/>
  </p:clrMapOvr>
</p:notes>
</file>

<file path=ppt/notesSlides/notesSlide1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Egg Protein Membrane Market Product Type Market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1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Egg Protein Membrane Market Product Type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1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Egg Protein Membrane Market Extraction / Processing Method By Extraction / Processing Method Segment Outlook</a:t>
            </a:r>
          </a:p>
        </p:txBody>
      </p:sp>
      <p:sp>
        <p:nvSpPr>
          <p:cNvPr id="4" name="Slide Number Placeholder 3"/>
          <p:cNvSpPr>
            <a:spLocks noGrp="1"/>
          </p:cNvSpPr>
          <p:nvPr>
            <p:ph type="sldNum" idx="5" sz="quarter"/>
          </p:nvPr>
        </p:nvSpPr>
        <p:spPr/>
      </p:sp>
    </p:spTree>
  </p:cSld>
  <p:clrMapOvr>
    <a:masterClrMapping/>
  </p:clrMapOvr>
</p:notes>
</file>

<file path=ppt/notesSlides/notesSlide1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Egg Protein Membrane Market Extraction / Processing Method Market Structure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1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Egg Protein Membrane Market Extraction / Processing Method Absolute $ Analysis</a:t>
            </a:r>
          </a:p>
        </p:txBody>
      </p:sp>
      <p:sp>
        <p:nvSpPr>
          <p:cNvPr id="4" name="Slide Number Placeholder 3"/>
          <p:cNvSpPr>
            <a:spLocks noGrp="1"/>
          </p:cNvSpPr>
          <p:nvPr>
            <p:ph type="sldNum" idx="5" sz="quarter"/>
          </p:nvPr>
        </p:nvSpPr>
        <p:spPr/>
      </p:sp>
    </p:spTree>
  </p:cSld>
  <p:clrMapOvr>
    <a:masterClrMapping/>
  </p:clrMapOvr>
</p:notes>
</file>

<file path=ppt/notesSlides/notesSlide1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Egg Protein Membrane Market Extraction / Processing Method Market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1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Egg Protein Membrane Market Extraction / Processing Method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1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Egg Protein Membrane Market Source By Source Segment Outlook</a:t>
            </a:r>
          </a:p>
        </p:txBody>
      </p:sp>
      <p:sp>
        <p:nvSpPr>
          <p:cNvPr id="4" name="Slide Number Placeholder 3"/>
          <p:cNvSpPr>
            <a:spLocks noGrp="1"/>
          </p:cNvSpPr>
          <p:nvPr>
            <p:ph type="sldNum" idx="5" sz="quarter"/>
          </p:nvPr>
        </p:nvSpPr>
        <p:spPr/>
      </p:sp>
    </p:spTree>
  </p:cSld>
  <p:clrMapOvr>
    <a:masterClrMapping/>
  </p:clrMapOvr>
</p:notes>
</file>

<file path=ppt/notesSlides/notesSlide1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Egg Protein Membrane Market Source Market Structure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1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Egg Protein Membrane Market Source Absolute $ Analysis</a:t>
            </a:r>
          </a:p>
        </p:txBody>
      </p:sp>
      <p:sp>
        <p:nvSpPr>
          <p:cNvPr id="4" name="Slide Number Placeholder 3"/>
          <p:cNvSpPr>
            <a:spLocks noGrp="1"/>
          </p:cNvSpPr>
          <p:nvPr>
            <p:ph type="sldNum" idx="5" sz="quarter"/>
          </p:nvPr>
        </p:nvSpPr>
        <p:spPr/>
      </p:sp>
    </p:spTree>
  </p:cSld>
  <p:clrMapOvr>
    <a:masterClrMapping/>
  </p:clrMapOvr>
</p:notes>
</file>

<file path=ppt/notesSlides/notesSlide1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Egg Protein Membrane Market Source Market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1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Egg Protein Membrane Market Source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1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Egg Protein Membrane Market Form By Form Segment Outlook</a:t>
            </a:r>
          </a:p>
        </p:txBody>
      </p:sp>
      <p:sp>
        <p:nvSpPr>
          <p:cNvPr id="4" name="Slide Number Placeholder 3"/>
          <p:cNvSpPr>
            <a:spLocks noGrp="1"/>
          </p:cNvSpPr>
          <p:nvPr>
            <p:ph type="sldNum" idx="5" sz="quarter"/>
          </p:nvPr>
        </p:nvSpPr>
        <p:spPr/>
      </p:sp>
    </p:spTree>
  </p:cSld>
  <p:clrMapOvr>
    <a:masterClrMapping/>
  </p:clrMapOvr>
</p:notes>
</file>

<file path=ppt/notesSlides/notesSlide1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Egg Protein Membrane Market Form Market Structure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1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Egg Protein Membrane Market Form Absolute $ Analysis</a:t>
            </a:r>
          </a:p>
        </p:txBody>
      </p:sp>
      <p:sp>
        <p:nvSpPr>
          <p:cNvPr id="4" name="Slide Number Placeholder 3"/>
          <p:cNvSpPr>
            <a:spLocks noGrp="1"/>
          </p:cNvSpPr>
          <p:nvPr>
            <p:ph type="sldNum" idx="5" sz="quarter"/>
          </p:nvPr>
        </p:nvSpPr>
        <p:spPr/>
      </p:sp>
    </p:spTree>
  </p:cSld>
  <p:clrMapOvr>
    <a:masterClrMapping/>
  </p:clrMapOvr>
</p:notes>
</file>

<file path=ppt/notesSlides/notesSlide1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Egg Protein Membrane Market Form Market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1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Egg Protein Membrane Market Form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1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Egg Protein Membrane Market Application By Application Segment Outlook</a:t>
            </a:r>
          </a:p>
        </p:txBody>
      </p:sp>
      <p:sp>
        <p:nvSpPr>
          <p:cNvPr id="4" name="Slide Number Placeholder 3"/>
          <p:cNvSpPr>
            <a:spLocks noGrp="1"/>
          </p:cNvSpPr>
          <p:nvPr>
            <p:ph type="sldNum" idx="5" sz="quarter"/>
          </p:nvPr>
        </p:nvSpPr>
        <p:spPr/>
      </p:sp>
    </p:spTree>
  </p:cSld>
  <p:clrMapOvr>
    <a:masterClrMapping/>
  </p:clrMapOvr>
</p:notes>
</file>

<file path=ppt/notesSlides/notesSlide1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Egg Protein Membrane Market Application Market Structure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1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Egg Protein Membrane Market Application Absolute $ Analysis  (1/2)</a:t>
            </a:r>
          </a:p>
        </p:txBody>
      </p:sp>
      <p:sp>
        <p:nvSpPr>
          <p:cNvPr id="4" name="Slide Number Placeholder 3"/>
          <p:cNvSpPr>
            <a:spLocks noGrp="1"/>
          </p:cNvSpPr>
          <p:nvPr>
            <p:ph type="sldNum" idx="5" sz="quarter"/>
          </p:nvPr>
        </p:nvSpPr>
        <p:spPr/>
      </p:sp>
    </p:spTree>
  </p:cSld>
  <p:clrMapOvr>
    <a:masterClrMapping/>
  </p:clrMapOvr>
</p:notes>
</file>

<file path=ppt/notesSlides/notesSlide1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Egg Protein Membrane Market Application Absolute $ Analysis  (2/2)</a:t>
            </a:r>
          </a:p>
        </p:txBody>
      </p:sp>
      <p:sp>
        <p:nvSpPr>
          <p:cNvPr id="4" name="Slide Number Placeholder 3"/>
          <p:cNvSpPr>
            <a:spLocks noGrp="1"/>
          </p:cNvSpPr>
          <p:nvPr>
            <p:ph type="sldNum" idx="5" sz="quarter"/>
          </p:nvPr>
        </p:nvSpPr>
        <p:spPr/>
      </p:sp>
    </p:spTree>
  </p:cSld>
  <p:clrMapOvr>
    <a:masterClrMapping/>
  </p:clrMapOvr>
</p:notes>
</file>

<file path=ppt/notesSlides/notesSlide1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Egg Protein Membrane Market Application Market Value Analysis  (1/2)</a:t>
            </a:r>
          </a:p>
        </p:txBody>
      </p:sp>
      <p:sp>
        <p:nvSpPr>
          <p:cNvPr id="4" name="Slide Number Placeholder 3"/>
          <p:cNvSpPr>
            <a:spLocks noGrp="1"/>
          </p:cNvSpPr>
          <p:nvPr>
            <p:ph type="sldNum" idx="5" sz="quarter"/>
          </p:nvPr>
        </p:nvSpPr>
        <p:spPr/>
      </p:sp>
    </p:spTree>
  </p:cSld>
  <p:clrMapOvr>
    <a:masterClrMapping/>
  </p:clrMapOvr>
</p:notes>
</file>

<file path=ppt/notesSlides/notesSlide1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Egg Protein Membrane Market Application Market Value Analysis  (2/2)</a:t>
            </a:r>
          </a:p>
        </p:txBody>
      </p:sp>
      <p:sp>
        <p:nvSpPr>
          <p:cNvPr id="4" name="Slide Number Placeholder 3"/>
          <p:cNvSpPr>
            <a:spLocks noGrp="1"/>
          </p:cNvSpPr>
          <p:nvPr>
            <p:ph type="sldNum" idx="5" sz="quarter"/>
          </p:nvPr>
        </p:nvSpPr>
        <p:spPr/>
      </p:sp>
    </p:spTree>
  </p:cSld>
  <p:clrMapOvr>
    <a:masterClrMapping/>
  </p:clrMapOvr>
</p:notes>
</file>

<file path=ppt/notesSlides/notesSlide1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Egg Protein Membrane Market Application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1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Egg Protein Membrane Market Sales Channel By Sales Channel Segment Outlook</a:t>
            </a:r>
          </a:p>
        </p:txBody>
      </p:sp>
      <p:sp>
        <p:nvSpPr>
          <p:cNvPr id="4" name="Slide Number Placeholder 3"/>
          <p:cNvSpPr>
            <a:spLocks noGrp="1"/>
          </p:cNvSpPr>
          <p:nvPr>
            <p:ph type="sldNum" idx="5" sz="quarter"/>
          </p:nvPr>
        </p:nvSpPr>
        <p:spPr/>
      </p:sp>
    </p:spTree>
  </p:cSld>
  <p:clrMapOvr>
    <a:masterClrMapping/>
  </p:clrMapOvr>
</p:notes>
</file>

<file path=ppt/notesSlides/notesSlide1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Egg Protein Membrane Market Sales Channel Market Structure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1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Egg Protein Membrane Market Sales Channel Absolute $ Analysis</a:t>
            </a:r>
          </a:p>
        </p:txBody>
      </p:sp>
      <p:sp>
        <p:nvSpPr>
          <p:cNvPr id="4" name="Slide Number Placeholder 3"/>
          <p:cNvSpPr>
            <a:spLocks noGrp="1"/>
          </p:cNvSpPr>
          <p:nvPr>
            <p:ph type="sldNum" idx="5" sz="quarter"/>
          </p:nvPr>
        </p:nvSpPr>
        <p:spPr/>
      </p:sp>
    </p:spTree>
  </p:cSld>
  <p:clrMapOvr>
    <a:masterClrMapping/>
  </p:clrMapOvr>
</p:notes>
</file>

<file path=ppt/notesSlides/notesSlide1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Egg Protein Membrane Market Sales Channel Market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1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Egg Protein Membrane Market Sales Channel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1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Egg Protein Membrane Market Product Type × Source Market Snapshot</a:t>
            </a:r>
          </a:p>
        </p:txBody>
      </p:sp>
      <p:sp>
        <p:nvSpPr>
          <p:cNvPr id="4" name="Slide Number Placeholder 3"/>
          <p:cNvSpPr>
            <a:spLocks noGrp="1"/>
          </p:cNvSpPr>
          <p:nvPr>
            <p:ph type="sldNum" idx="5" sz="quarter"/>
          </p:nvPr>
        </p:nvSpPr>
        <p:spPr/>
      </p:sp>
    </p:spTree>
  </p:cSld>
  <p:clrMapOvr>
    <a:masterClrMapping/>
  </p:clrMapOvr>
</p:notes>
</file>

<file path=ppt/notesSlides/notesSlide1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Egg Protein Membrane Market Product Type × Source Market Share Analysis</a:t>
            </a:r>
          </a:p>
        </p:txBody>
      </p:sp>
      <p:sp>
        <p:nvSpPr>
          <p:cNvPr id="4" name="Slide Number Placeholder 3"/>
          <p:cNvSpPr>
            <a:spLocks noGrp="1"/>
          </p:cNvSpPr>
          <p:nvPr>
            <p:ph type="sldNum" idx="5" sz="quarter"/>
          </p:nvPr>
        </p:nvSpPr>
        <p:spPr/>
      </p:sp>
    </p:spTree>
  </p:cSld>
  <p:clrMapOvr>
    <a:masterClrMapping/>
  </p:clrMapOvr>
</p:notes>
</file>

<file path=ppt/notesSlides/notesSlide1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Egg Protein Membrane Market Product Type × Source Absolute $ Opportunity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1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Egg Protein Membrane Market Product Type × Application Market Snapshot  (1/3)</a:t>
            </a:r>
          </a:p>
        </p:txBody>
      </p:sp>
      <p:sp>
        <p:nvSpPr>
          <p:cNvPr id="4" name="Slide Number Placeholder 3"/>
          <p:cNvSpPr>
            <a:spLocks noGrp="1"/>
          </p:cNvSpPr>
          <p:nvPr>
            <p:ph type="sldNum" idx="5" sz="quarter"/>
          </p:nvPr>
        </p:nvSpPr>
        <p:spPr/>
      </p:sp>
    </p:spTree>
  </p:cSld>
  <p:clrMapOvr>
    <a:masterClrMapping/>
  </p:clrMapOvr>
</p:notes>
</file>

<file path=ppt/notesSlides/notesSlide1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Egg Protein Membrane Market Product Type × Application Market Snapshot  (2/3)</a:t>
            </a:r>
          </a:p>
        </p:txBody>
      </p:sp>
      <p:sp>
        <p:nvSpPr>
          <p:cNvPr id="4" name="Slide Number Placeholder 3"/>
          <p:cNvSpPr>
            <a:spLocks noGrp="1"/>
          </p:cNvSpPr>
          <p:nvPr>
            <p:ph type="sldNum" idx="5" sz="quarter"/>
          </p:nvPr>
        </p:nvSpPr>
        <p:spPr/>
      </p:sp>
    </p:spTree>
  </p:cSld>
  <p:clrMapOvr>
    <a:masterClrMapping/>
  </p:clrMapOvr>
</p:notes>
</file>

<file path=ppt/notesSlides/notesSlide1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Egg Protein Membrane Market Product Type × Application Market Snapshot  (3/3)</a:t>
            </a:r>
          </a:p>
        </p:txBody>
      </p:sp>
      <p:sp>
        <p:nvSpPr>
          <p:cNvPr id="4" name="Slide Number Placeholder 3"/>
          <p:cNvSpPr>
            <a:spLocks noGrp="1"/>
          </p:cNvSpPr>
          <p:nvPr>
            <p:ph type="sldNum" idx="5" sz="quarter"/>
          </p:nvPr>
        </p:nvSpPr>
        <p:spPr/>
      </p:sp>
    </p:spTree>
  </p:cSld>
  <p:clrMapOvr>
    <a:masterClrMapping/>
  </p:clrMapOvr>
</p:notes>
</file>

<file path=ppt/notesSlides/notesSlide1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Egg Protein Membrane Market Product Type × Application Market Share Analysis</a:t>
            </a:r>
          </a:p>
        </p:txBody>
      </p:sp>
      <p:sp>
        <p:nvSpPr>
          <p:cNvPr id="4" name="Slide Number Placeholder 3"/>
          <p:cNvSpPr>
            <a:spLocks noGrp="1"/>
          </p:cNvSpPr>
          <p:nvPr>
            <p:ph type="sldNum" idx="5" sz="quarter"/>
          </p:nvPr>
        </p:nvSpPr>
        <p:spPr/>
      </p:sp>
    </p:spTree>
  </p:cSld>
  <p:clrMapOvr>
    <a:masterClrMapping/>
  </p:clrMapOvr>
</p:notes>
</file>

<file path=ppt/notesSlides/notesSlide1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Egg Protein Membrane Market Product Type × Application Absolute $ Opportunity &amp; Attractiveness  (1/3)</a:t>
            </a:r>
          </a:p>
        </p:txBody>
      </p:sp>
      <p:sp>
        <p:nvSpPr>
          <p:cNvPr id="4" name="Slide Number Placeholder 3"/>
          <p:cNvSpPr>
            <a:spLocks noGrp="1"/>
          </p:cNvSpPr>
          <p:nvPr>
            <p:ph type="sldNum" idx="5" sz="quarter"/>
          </p:nvPr>
        </p:nvSpPr>
        <p:spPr/>
      </p:sp>
    </p:spTree>
  </p:cSld>
  <p:clrMapOvr>
    <a:masterClrMapping/>
  </p:clrMapOvr>
</p:notes>
</file>

<file path=ppt/notesSlides/notesSlide1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Egg Protein Membrane Market Product Type × Application Absolute $ Opportunity &amp; Attractiveness  (2/3)</a:t>
            </a:r>
          </a:p>
        </p:txBody>
      </p:sp>
      <p:sp>
        <p:nvSpPr>
          <p:cNvPr id="4" name="Slide Number Placeholder 3"/>
          <p:cNvSpPr>
            <a:spLocks noGrp="1"/>
          </p:cNvSpPr>
          <p:nvPr>
            <p:ph type="sldNum" idx="5" sz="quarter"/>
          </p:nvPr>
        </p:nvSpPr>
        <p:spPr/>
      </p:sp>
    </p:spTree>
  </p:cSld>
  <p:clrMapOvr>
    <a:masterClrMapping/>
  </p:clrMapOvr>
</p:notes>
</file>

<file path=ppt/notesSlides/notesSlide1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Egg Protein Membrane Market Product Type × Application Absolute $ Opportunity &amp; Attractiveness  (3/3)</a:t>
            </a:r>
          </a:p>
        </p:txBody>
      </p:sp>
      <p:sp>
        <p:nvSpPr>
          <p:cNvPr id="4" name="Slide Number Placeholder 3"/>
          <p:cNvSpPr>
            <a:spLocks noGrp="1"/>
          </p:cNvSpPr>
          <p:nvPr>
            <p:ph type="sldNum" idx="5" sz="quarter"/>
          </p:nvPr>
        </p:nvSpPr>
        <p:spPr/>
      </p:sp>
    </p:spTree>
  </p:cSld>
  <p:clrMapOvr>
    <a:masterClrMapping/>
  </p:clrMapOvr>
</p:notes>
</file>

<file path=ppt/notesSlides/notesSlide1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Country Market Outlook (section breaker)</a:t>
            </a:r>
          </a:p>
        </p:txBody>
      </p:sp>
      <p:sp>
        <p:nvSpPr>
          <p:cNvPr id="4" name="Slide Number Placeholder 3"/>
          <p:cNvSpPr>
            <a:spLocks noGrp="1"/>
          </p:cNvSpPr>
          <p:nvPr>
            <p:ph type="sldNum" idx="5" sz="quarter"/>
          </p:nvPr>
        </p:nvSpPr>
        <p:spPr/>
      </p:sp>
    </p:spTree>
  </p:cSld>
  <p:clrMapOvr>
    <a:masterClrMapping/>
  </p:clrMapOvr>
</p:notes>
</file>

<file path=ppt/notesSlides/notesSlide1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Egg Protein Membrane Market Country Overview Volume Overview</a:t>
            </a:r>
          </a:p>
        </p:txBody>
      </p:sp>
      <p:sp>
        <p:nvSpPr>
          <p:cNvPr id="4" name="Slide Number Placeholder 3"/>
          <p:cNvSpPr>
            <a:spLocks noGrp="1"/>
          </p:cNvSpPr>
          <p:nvPr>
            <p:ph type="sldNum" idx="5" sz="quarter"/>
          </p:nvPr>
        </p:nvSpPr>
        <p:spPr/>
      </p:sp>
    </p:spTree>
  </p:cSld>
  <p:clrMapOvr>
    <a:masterClrMapping/>
  </p:clrMapOvr>
</p:notes>
</file>

<file path=ppt/notesSlides/notesSlide1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Egg Protein Membrane Market Country Overview Value Overview</a:t>
            </a:r>
          </a:p>
        </p:txBody>
      </p:sp>
      <p:sp>
        <p:nvSpPr>
          <p:cNvPr id="4" name="Slide Number Placeholder 3"/>
          <p:cNvSpPr>
            <a:spLocks noGrp="1"/>
          </p:cNvSpPr>
          <p:nvPr>
            <p:ph type="sldNum" idx="5" sz="quarter"/>
          </p:nvPr>
        </p:nvSpPr>
        <p:spPr/>
      </p:sp>
    </p:spTree>
  </p:cSld>
  <p:clrMapOvr>
    <a:masterClrMapping/>
  </p:clrMapOvr>
</p:notes>
</file>

<file path=ppt/notesSlides/notesSlide1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Egg Protein Membrane Market Country Overview Key Segments (Value)</a:t>
            </a:r>
          </a:p>
        </p:txBody>
      </p:sp>
      <p:sp>
        <p:nvSpPr>
          <p:cNvPr id="4" name="Slide Number Placeholder 3"/>
          <p:cNvSpPr>
            <a:spLocks noGrp="1"/>
          </p:cNvSpPr>
          <p:nvPr>
            <p:ph type="sldNum" idx="5" sz="quarter"/>
          </p:nvPr>
        </p:nvSpPr>
        <p:spPr/>
      </p:sp>
    </p:spTree>
  </p:cSld>
  <p:clrMapOvr>
    <a:masterClrMapping/>
  </p:clrMapOvr>
</p:notes>
</file>

<file path=ppt/notesSlides/notesSlide1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Egg Protein Membrane Market Country Product Type Segmental</a:t>
            </a:r>
          </a:p>
        </p:txBody>
      </p:sp>
      <p:sp>
        <p:nvSpPr>
          <p:cNvPr id="4" name="Slide Number Placeholder 3"/>
          <p:cNvSpPr>
            <a:spLocks noGrp="1"/>
          </p:cNvSpPr>
          <p:nvPr>
            <p:ph type="sldNum" idx="5" sz="quarter"/>
          </p:nvPr>
        </p:nvSpPr>
        <p:spPr/>
      </p:sp>
    </p:spTree>
  </p:cSld>
  <p:clrMapOvr>
    <a:masterClrMapping/>
  </p:clrMapOvr>
</p:notes>
</file>

<file path=ppt/notesSlides/notesSlide1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Egg Protein Membrane Market Country Product Type Table (Volume &amp; Value)</a:t>
            </a:r>
          </a:p>
        </p:txBody>
      </p:sp>
      <p:sp>
        <p:nvSpPr>
          <p:cNvPr id="4" name="Slide Number Placeholder 3"/>
          <p:cNvSpPr>
            <a:spLocks noGrp="1"/>
          </p:cNvSpPr>
          <p:nvPr>
            <p:ph type="sldNum" idx="5" sz="quarter"/>
          </p:nvPr>
        </p:nvSpPr>
        <p:spPr/>
      </p:sp>
    </p:spTree>
  </p:cSld>
  <p:clrMapOvr>
    <a:masterClrMapping/>
  </p:clrMapOvr>
</p:notes>
</file>

<file path=ppt/notesSlides/notesSlide1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Egg Protein Membrane Market Country Extraction / Processing Method Segmental</a:t>
            </a:r>
          </a:p>
        </p:txBody>
      </p:sp>
      <p:sp>
        <p:nvSpPr>
          <p:cNvPr id="4" name="Slide Number Placeholder 3"/>
          <p:cNvSpPr>
            <a:spLocks noGrp="1"/>
          </p:cNvSpPr>
          <p:nvPr>
            <p:ph type="sldNum" idx="5" sz="quarter"/>
          </p:nvPr>
        </p:nvSpPr>
        <p:spPr/>
      </p:sp>
    </p:spTree>
  </p:cSld>
  <p:clrMapOvr>
    <a:masterClrMapping/>
  </p:clrMapOvr>
</p:notes>
</file>

<file path=ppt/notesSlides/notesSlide1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Egg Protein Membrane Market Country Extraction / Processing Method Table (Volume &amp; Value)</a:t>
            </a:r>
          </a:p>
        </p:txBody>
      </p:sp>
      <p:sp>
        <p:nvSpPr>
          <p:cNvPr id="4" name="Slide Number Placeholder 3"/>
          <p:cNvSpPr>
            <a:spLocks noGrp="1"/>
          </p:cNvSpPr>
          <p:nvPr>
            <p:ph type="sldNum" idx="5" sz="quarter"/>
          </p:nvPr>
        </p:nvSpPr>
        <p:spPr/>
      </p:sp>
    </p:spTree>
  </p:cSld>
  <p:clrMapOvr>
    <a:masterClrMapping/>
  </p:clrMapOvr>
</p:notes>
</file>

<file path=ppt/notesSlides/notesSlide1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Egg Protein Membrane Market Country Source Segmental</a:t>
            </a:r>
          </a:p>
        </p:txBody>
      </p:sp>
      <p:sp>
        <p:nvSpPr>
          <p:cNvPr id="4" name="Slide Number Placeholder 3"/>
          <p:cNvSpPr>
            <a:spLocks noGrp="1"/>
          </p:cNvSpPr>
          <p:nvPr>
            <p:ph type="sldNum" idx="5" sz="quarter"/>
          </p:nvPr>
        </p:nvSpPr>
        <p:spPr/>
      </p:sp>
    </p:spTree>
  </p:cSld>
  <p:clrMapOvr>
    <a:masterClrMapping/>
  </p:clrMapOvr>
</p:notes>
</file>

<file path=ppt/notesSlides/notesSlide1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Egg Protein Membrane Market Country Source Table (Volume &amp; Value)</a:t>
            </a:r>
          </a:p>
        </p:txBody>
      </p:sp>
      <p:sp>
        <p:nvSpPr>
          <p:cNvPr id="4" name="Slide Number Placeholder 3"/>
          <p:cNvSpPr>
            <a:spLocks noGrp="1"/>
          </p:cNvSpPr>
          <p:nvPr>
            <p:ph type="sldNum" idx="5" sz="quarter"/>
          </p:nvPr>
        </p:nvSpPr>
        <p:spPr/>
      </p:sp>
    </p:spTree>
  </p:cSld>
  <p:clrMapOvr>
    <a:masterClrMapping/>
  </p:clrMapOvr>
</p:notes>
</file>

<file path=ppt/notesSlides/notesSlide1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Egg Protein Membrane Market Country Form Segmental</a:t>
            </a:r>
          </a:p>
        </p:txBody>
      </p:sp>
      <p:sp>
        <p:nvSpPr>
          <p:cNvPr id="4" name="Slide Number Placeholder 3"/>
          <p:cNvSpPr>
            <a:spLocks noGrp="1"/>
          </p:cNvSpPr>
          <p:nvPr>
            <p:ph type="sldNum" idx="5" sz="quarter"/>
          </p:nvPr>
        </p:nvSpPr>
        <p:spPr/>
      </p:sp>
    </p:spTree>
  </p:cSld>
  <p:clrMapOvr>
    <a:masterClrMapping/>
  </p:clrMapOvr>
</p:notes>
</file>

<file path=ppt/notesSlides/notesSlide1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Egg Protein Membrane Market Country Form Table (Volume &amp; Value)</a:t>
            </a:r>
          </a:p>
        </p:txBody>
      </p:sp>
      <p:sp>
        <p:nvSpPr>
          <p:cNvPr id="4" name="Slide Number Placeholder 3"/>
          <p:cNvSpPr>
            <a:spLocks noGrp="1"/>
          </p:cNvSpPr>
          <p:nvPr>
            <p:ph type="sldNum" idx="5" sz="quarter"/>
          </p:nvPr>
        </p:nvSpPr>
        <p:spPr/>
      </p:sp>
    </p:spTree>
  </p:cSld>
  <p:clrMapOvr>
    <a:masterClrMapping/>
  </p:clrMapOvr>
</p:notes>
</file>

<file path=ppt/notesSlides/notesSlide1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Egg Protein Membrane Market Country Application Segmental</a:t>
            </a:r>
          </a:p>
        </p:txBody>
      </p:sp>
      <p:sp>
        <p:nvSpPr>
          <p:cNvPr id="4" name="Slide Number Placeholder 3"/>
          <p:cNvSpPr>
            <a:spLocks noGrp="1"/>
          </p:cNvSpPr>
          <p:nvPr>
            <p:ph type="sldNum" idx="5" sz="quarter"/>
          </p:nvPr>
        </p:nvSpPr>
        <p:spPr/>
      </p:sp>
    </p:spTree>
  </p:cSld>
  <p:clrMapOvr>
    <a:masterClrMapping/>
  </p:clrMapOvr>
</p:notes>
</file>

<file path=ppt/notesSlides/notesSlide1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Egg Protein Membrane Market Country Application Table (Volume &amp; Value)  (2/2)</a:t>
            </a:r>
          </a:p>
        </p:txBody>
      </p:sp>
      <p:sp>
        <p:nvSpPr>
          <p:cNvPr id="4" name="Slide Number Placeholder 3"/>
          <p:cNvSpPr>
            <a:spLocks noGrp="1"/>
          </p:cNvSpPr>
          <p:nvPr>
            <p:ph type="sldNum" idx="5" sz="quarter"/>
          </p:nvPr>
        </p:nvSpPr>
        <p:spPr/>
      </p:sp>
    </p:spTree>
  </p:cSld>
  <p:clrMapOvr>
    <a:masterClrMapping/>
  </p:clrMapOvr>
</p:notes>
</file>

<file path=ppt/notesSlides/notesSlide1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Egg Protein Membrane Market Country Sales Channel Segmental</a:t>
            </a:r>
          </a:p>
        </p:txBody>
      </p:sp>
      <p:sp>
        <p:nvSpPr>
          <p:cNvPr id="4" name="Slide Number Placeholder 3"/>
          <p:cNvSpPr>
            <a:spLocks noGrp="1"/>
          </p:cNvSpPr>
          <p:nvPr>
            <p:ph type="sldNum" idx="5" sz="quarter"/>
          </p:nvPr>
        </p:nvSpPr>
        <p:spPr/>
      </p:sp>
    </p:spTree>
  </p:cSld>
  <p:clrMapOvr>
    <a:masterClrMapping/>
  </p:clrMapOvr>
</p:notes>
</file>

<file path=ppt/notesSlides/notesSlide1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Egg Protein Membrane Market Country Sales Channel Table (Volume &amp; Value)</a:t>
            </a:r>
          </a:p>
        </p:txBody>
      </p:sp>
      <p:sp>
        <p:nvSpPr>
          <p:cNvPr id="4" name="Slide Number Placeholder 3"/>
          <p:cNvSpPr>
            <a:spLocks noGrp="1"/>
          </p:cNvSpPr>
          <p:nvPr>
            <p:ph type="sldNum" idx="5" sz="quarter"/>
          </p:nvPr>
        </p:nvSpPr>
        <p:spPr/>
      </p:sp>
    </p:spTree>
  </p:cSld>
  <p:clrMapOvr>
    <a:masterClrMapping/>
  </p:clrMapOvr>
</p:notes>
</file>

<file path=ppt/notesSlides/notesSlide1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Pricing Assessment (section breaker)</a:t>
            </a:r>
          </a:p>
        </p:txBody>
      </p:sp>
      <p:sp>
        <p:nvSpPr>
          <p:cNvPr id="4" name="Slide Number Placeholder 3"/>
          <p:cNvSpPr>
            <a:spLocks noGrp="1"/>
          </p:cNvSpPr>
          <p:nvPr>
            <p:ph type="sldNum" idx="5" sz="quarter"/>
          </p:nvPr>
        </p:nvSpPr>
        <p:spPr/>
      </p:sp>
    </p:spTree>
  </p:cSld>
  <p:clrMapOvr>
    <a:masterClrMapping/>
  </p:clrMapOvr>
</p:notes>
</file>

<file path=ppt/notesSlides/notesSlide1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Egg Protein Membrane Market Pricing Product Pricing &amp; Regional Price Index Trends</a:t>
            </a:r>
          </a:p>
        </p:txBody>
      </p:sp>
      <p:sp>
        <p:nvSpPr>
          <p:cNvPr id="4" name="Slide Number Placeholder 3"/>
          <p:cNvSpPr>
            <a:spLocks noGrp="1"/>
          </p:cNvSpPr>
          <p:nvPr>
            <p:ph type="sldNum" idx="5" sz="quarter"/>
          </p:nvPr>
        </p:nvSpPr>
        <p:spPr/>
      </p:sp>
    </p:spTree>
  </p:cSld>
  <p:clrMapOvr>
    <a:masterClrMapping/>
  </p:clrMapOvr>
</p:notes>
</file>

<file path=ppt/notesSlides/notesSlide1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Egg Protein Membrane Market Pricing Global Pricing Assessment</a:t>
            </a:r>
          </a:p>
        </p:txBody>
      </p:sp>
      <p:sp>
        <p:nvSpPr>
          <p:cNvPr id="4" name="Slide Number Placeholder 3"/>
          <p:cNvSpPr>
            <a:spLocks noGrp="1"/>
          </p:cNvSpPr>
          <p:nvPr>
            <p:ph type="sldNum" idx="5" sz="quarter"/>
          </p:nvPr>
        </p:nvSpPr>
        <p:spPr/>
      </p:sp>
    </p:spTree>
  </p:cSld>
  <p:clrMapOvr>
    <a:masterClrMapping/>
  </p:clrMapOvr>
</p:notes>
</file>

<file path=ppt/notesSlides/notesSlide1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Egg Protein Membrane Market Pricing Global Pricing Assessment</a:t>
            </a:r>
          </a:p>
        </p:txBody>
      </p:sp>
      <p:sp>
        <p:nvSpPr>
          <p:cNvPr id="4" name="Slide Number Placeholder 3"/>
          <p:cNvSpPr>
            <a:spLocks noGrp="1"/>
          </p:cNvSpPr>
          <p:nvPr>
            <p:ph type="sldNum" idx="5" sz="quarter"/>
          </p:nvPr>
        </p:nvSpPr>
        <p:spPr/>
      </p:sp>
    </p:spTree>
  </p:cSld>
  <p:clrMapOvr>
    <a:masterClrMapping/>
  </p:clrMapOvr>
</p:notes>
</file>

<file path=ppt/notesSlides/notesSlide1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Egg Protein Membrane Market Pricing Global Pricing Assessment</a:t>
            </a:r>
          </a:p>
        </p:txBody>
      </p:sp>
      <p:sp>
        <p:nvSpPr>
          <p:cNvPr id="4" name="Slide Number Placeholder 3"/>
          <p:cNvSpPr>
            <a:spLocks noGrp="1"/>
          </p:cNvSpPr>
          <p:nvPr>
            <p:ph type="sldNum" idx="5" sz="quarter"/>
          </p:nvPr>
        </p:nvSpPr>
        <p:spPr/>
      </p:sp>
    </p:spTree>
  </p:cSld>
  <p:clrMapOvr>
    <a:masterClrMapping/>
  </p:clrMapOvr>
</p:notes>
</file>

<file path=ppt/notesSlides/notesSlide1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Egg Protein Membrane Market Pricing Price Positioning &amp; Key Findings</a:t>
            </a:r>
          </a:p>
        </p:txBody>
      </p:sp>
      <p:sp>
        <p:nvSpPr>
          <p:cNvPr id="4" name="Slide Number Placeholder 3"/>
          <p:cNvSpPr>
            <a:spLocks noGrp="1"/>
          </p:cNvSpPr>
          <p:nvPr>
            <p:ph type="sldNum" idx="5" sz="quarter"/>
          </p:nvPr>
        </p:nvSpPr>
        <p:spPr/>
      </p:sp>
    </p:spTree>
  </p:cSld>
  <p:clrMapOvr>
    <a:masterClrMapping/>
  </p:clrMapOvr>
</p:notes>
</file>

<file path=ppt/notesSlides/notesSlide1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Egg Protein Membrane Market Pricing Key Pricing Drivers</a:t>
            </a:r>
          </a:p>
        </p:txBody>
      </p:sp>
      <p:sp>
        <p:nvSpPr>
          <p:cNvPr id="4" name="Slide Number Placeholder 3"/>
          <p:cNvSpPr>
            <a:spLocks noGrp="1"/>
          </p:cNvSpPr>
          <p:nvPr>
            <p:ph type="sldNum" idx="5" sz="quarter"/>
          </p:nvPr>
        </p:nvSpPr>
        <p:spPr/>
      </p:sp>
    </p:spTree>
  </p:cSld>
  <p:clrMapOvr>
    <a:masterClrMapping/>
  </p:clrMapOvr>
</p:notes>
</file>

<file path=ppt/notesSlides/notesSlide1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Egg Protein Membrane Market Pricing Factors Impacting Pricing</a:t>
            </a:r>
          </a:p>
        </p:txBody>
      </p:sp>
      <p:sp>
        <p:nvSpPr>
          <p:cNvPr id="4" name="Slide Number Placeholder 3"/>
          <p:cNvSpPr>
            <a:spLocks noGrp="1"/>
          </p:cNvSpPr>
          <p:nvPr>
            <p:ph type="sldNum" idx="5" sz="quarter"/>
          </p:nvPr>
        </p:nvSpPr>
        <p:spPr/>
      </p:sp>
    </p:spTree>
  </p:cSld>
  <p:clrMapOvr>
    <a:masterClrMapping/>
  </p:clrMapOvr>
</p:notes>
</file>

<file path=ppt/notesSlides/notesSlide1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Egg Protein Membrane Market Pricing Regional Price Assessment</a:t>
            </a:r>
          </a:p>
        </p:txBody>
      </p:sp>
      <p:sp>
        <p:nvSpPr>
          <p:cNvPr id="4" name="Slide Number Placeholder 3"/>
          <p:cNvSpPr>
            <a:spLocks noGrp="1"/>
          </p:cNvSpPr>
          <p:nvPr>
            <p:ph type="sldNum" idx="5" sz="quarter"/>
          </p:nvPr>
        </p:nvSpPr>
        <p:spPr/>
      </p:sp>
    </p:spTree>
  </p:cSld>
  <p:clrMapOvr>
    <a:masterClrMapping/>
  </p:clrMapOvr>
</p:notes>
</file>

<file path=ppt/notesSlides/notesSlide2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Egg Protein Membrane Market Pricing Global Pricing Benchmarking</a:t>
            </a:r>
          </a:p>
        </p:txBody>
      </p:sp>
      <p:sp>
        <p:nvSpPr>
          <p:cNvPr id="4" name="Slide Number Placeholder 3"/>
          <p:cNvSpPr>
            <a:spLocks noGrp="1"/>
          </p:cNvSpPr>
          <p:nvPr>
            <p:ph type="sldNum" idx="5" sz="quarter"/>
          </p:nvPr>
        </p:nvSpPr>
        <p:spPr/>
      </p:sp>
    </p:spTree>
  </p:cSld>
  <p:clrMapOvr>
    <a:masterClrMapping/>
  </p:clrMapOvr>
</p:notes>
</file>

<file path=ppt/notesSlides/notesSlide2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Egg Protein Membrane Market Pricing Price Forecast &amp; Dynamics</a:t>
            </a:r>
          </a:p>
        </p:txBody>
      </p:sp>
      <p:sp>
        <p:nvSpPr>
          <p:cNvPr id="4" name="Slide Number Placeholder 3"/>
          <p:cNvSpPr>
            <a:spLocks noGrp="1"/>
          </p:cNvSpPr>
          <p:nvPr>
            <p:ph type="sldNum" idx="5" sz="quarter"/>
          </p:nvPr>
        </p:nvSpPr>
        <p:spPr/>
      </p:sp>
    </p:spTree>
  </p:cSld>
  <p:clrMapOvr>
    <a:masterClrMapping/>
  </p:clrMapOvr>
</p:notes>
</file>

<file path=ppt/notesSlides/notesSlide2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Egg Protein Membrane Market Pricing Competitor Pricing Strategies</a:t>
            </a:r>
          </a:p>
        </p:txBody>
      </p:sp>
      <p:sp>
        <p:nvSpPr>
          <p:cNvPr id="4" name="Slide Number Placeholder 3"/>
          <p:cNvSpPr>
            <a:spLocks noGrp="1"/>
          </p:cNvSpPr>
          <p:nvPr>
            <p:ph type="sldNum" idx="5" sz="quarter"/>
          </p:nvPr>
        </p:nvSpPr>
        <p:spPr/>
      </p:sp>
    </p:spTree>
  </p:cSld>
  <p:clrMapOvr>
    <a:masterClrMapping/>
  </p:clrMapOvr>
</p:notes>
</file>

<file path=ppt/notesSlides/notesSlide2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Supply Chain Analysis (section breaker)</a:t>
            </a:r>
          </a:p>
        </p:txBody>
      </p:sp>
      <p:sp>
        <p:nvSpPr>
          <p:cNvPr id="4" name="Slide Number Placeholder 3"/>
          <p:cNvSpPr>
            <a:spLocks noGrp="1"/>
          </p:cNvSpPr>
          <p:nvPr>
            <p:ph type="sldNum" idx="5" sz="quarter"/>
          </p:nvPr>
        </p:nvSpPr>
        <p:spPr/>
      </p:sp>
    </p:spTree>
  </p:cSld>
  <p:clrMapOvr>
    <a:masterClrMapping/>
  </p:clrMapOvr>
</p:notes>
</file>

<file path=ppt/notesSlides/notesSlide2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Egg Protein Membrane Market Supply Chain Analysis Value Chain &amp; Stakeholder Mapping</a:t>
            </a:r>
          </a:p>
        </p:txBody>
      </p:sp>
      <p:sp>
        <p:nvSpPr>
          <p:cNvPr id="4" name="Slide Number Placeholder 3"/>
          <p:cNvSpPr>
            <a:spLocks noGrp="1"/>
          </p:cNvSpPr>
          <p:nvPr>
            <p:ph type="sldNum" idx="5" sz="quarter"/>
          </p:nvPr>
        </p:nvSpPr>
        <p:spPr/>
      </p:sp>
    </p:spTree>
  </p:cSld>
  <p:clrMapOvr>
    <a:masterClrMapping/>
  </p:clrMapOvr>
</p:notes>
</file>

<file path=ppt/notesSlides/notesSlide2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Egg Protein Membrane Market Supply Chain Analysis Operating Margin Analysis</a:t>
            </a:r>
          </a:p>
        </p:txBody>
      </p:sp>
      <p:sp>
        <p:nvSpPr>
          <p:cNvPr id="4" name="Slide Number Placeholder 3"/>
          <p:cNvSpPr>
            <a:spLocks noGrp="1"/>
          </p:cNvSpPr>
          <p:nvPr>
            <p:ph type="sldNum" idx="5" sz="quarter"/>
          </p:nvPr>
        </p:nvSpPr>
        <p:spPr/>
      </p:sp>
    </p:spTree>
  </p:cSld>
  <p:clrMapOvr>
    <a:masterClrMapping/>
  </p:clrMapOvr>
</p:notes>
</file>

<file path=ppt/notesSlides/notesSlide2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Egg Protein Membrane Market Supply Chain Analysis Buyers Assessment</a:t>
            </a:r>
          </a:p>
        </p:txBody>
      </p:sp>
      <p:sp>
        <p:nvSpPr>
          <p:cNvPr id="4" name="Slide Number Placeholder 3"/>
          <p:cNvSpPr>
            <a:spLocks noGrp="1"/>
          </p:cNvSpPr>
          <p:nvPr>
            <p:ph type="sldNum" idx="5" sz="quarter"/>
          </p:nvPr>
        </p:nvSpPr>
        <p:spPr/>
      </p:sp>
    </p:spTree>
  </p:cSld>
  <p:clrMapOvr>
    <a:masterClrMapping/>
  </p:clrMapOvr>
</p:notes>
</file>

<file path=ppt/notesSlides/notesSlide2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Market Dynamics (section breaker)</a:t>
            </a:r>
          </a:p>
        </p:txBody>
      </p:sp>
      <p:sp>
        <p:nvSpPr>
          <p:cNvPr id="4" name="Slide Number Placeholder 3"/>
          <p:cNvSpPr>
            <a:spLocks noGrp="1"/>
          </p:cNvSpPr>
          <p:nvPr>
            <p:ph type="sldNum" idx="5" sz="quarter"/>
          </p:nvPr>
        </p:nvSpPr>
        <p:spPr/>
      </p:sp>
    </p:spTree>
  </p:cSld>
  <p:clrMapOvr>
    <a:masterClrMapping/>
  </p:clrMapOvr>
</p:notes>
</file>

<file path=ppt/notesSlides/notesSlide2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Egg Protein Membrane Market Market Dynamics Market Dynamics &amp; Forces Market Dynamics by Geography</a:t>
            </a:r>
          </a:p>
        </p:txBody>
      </p:sp>
      <p:sp>
        <p:nvSpPr>
          <p:cNvPr id="4" name="Slide Number Placeholder 3"/>
          <p:cNvSpPr>
            <a:spLocks noGrp="1"/>
          </p:cNvSpPr>
          <p:nvPr>
            <p:ph type="sldNum" idx="5" sz="quarter"/>
          </p:nvPr>
        </p:nvSpPr>
        <p:spPr/>
      </p:sp>
    </p:spTree>
  </p:cSld>
  <p:clrMapOvr>
    <a:masterClrMapping/>
  </p:clrMapOvr>
</p:notes>
</file>

<file path=ppt/notesSlides/notesSlide2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Egg Protein Membrane Market Market Dynamics Market Dynamics &amp; Forces Driving Factors Supply Side (1/2)</a:t>
            </a:r>
          </a:p>
        </p:txBody>
      </p:sp>
      <p:sp>
        <p:nvSpPr>
          <p:cNvPr id="4" name="Slide Number Placeholder 3"/>
          <p:cNvSpPr>
            <a:spLocks noGrp="1"/>
          </p:cNvSpPr>
          <p:nvPr>
            <p:ph type="sldNum" idx="5" sz="quarter"/>
          </p:nvPr>
        </p:nvSpPr>
        <p:spPr/>
      </p:sp>
    </p:spTree>
  </p:cSld>
  <p:clrMapOvr>
    <a:masterClrMapping/>
  </p:clrMapOvr>
</p:notes>
</file>

<file path=ppt/notesSlides/notesSlide2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Egg Protein Membrane Market Market Dynamics Market Dynamics &amp; Forces Driving Factors Demand Side (2/2)</a:t>
            </a:r>
          </a:p>
        </p:txBody>
      </p:sp>
      <p:sp>
        <p:nvSpPr>
          <p:cNvPr id="4" name="Slide Number Placeholder 3"/>
          <p:cNvSpPr>
            <a:spLocks noGrp="1"/>
          </p:cNvSpPr>
          <p:nvPr>
            <p:ph type="sldNum" idx="5" sz="quarter"/>
          </p:nvPr>
        </p:nvSpPr>
        <p:spPr/>
      </p:sp>
    </p:spTree>
  </p:cSld>
  <p:clrMapOvr>
    <a:masterClrMapping/>
  </p:clrMapOvr>
</p:notes>
</file>

<file path=ppt/notesSlides/notesSlide2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Egg Protein Membrane Market Market Dynamics Market Dynamics &amp; Forces Market Restraints</a:t>
            </a:r>
          </a:p>
        </p:txBody>
      </p:sp>
      <p:sp>
        <p:nvSpPr>
          <p:cNvPr id="4" name="Slide Number Placeholder 3"/>
          <p:cNvSpPr>
            <a:spLocks noGrp="1"/>
          </p:cNvSpPr>
          <p:nvPr>
            <p:ph type="sldNum" idx="5" sz="quarter"/>
          </p:nvPr>
        </p:nvSpPr>
        <p:spPr/>
      </p:sp>
    </p:spTree>
  </p:cSld>
  <p:clrMapOvr>
    <a:masterClrMapping/>
  </p:clrMapOvr>
</p:notes>
</file>

<file path=ppt/notesSlides/notesSlide2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Egg Protein Membrane Market Market Dynamics Market Dynamics &amp; Forces Market Opportunities</a:t>
            </a:r>
          </a:p>
        </p:txBody>
      </p:sp>
      <p:sp>
        <p:nvSpPr>
          <p:cNvPr id="4" name="Slide Number Placeholder 3"/>
          <p:cNvSpPr>
            <a:spLocks noGrp="1"/>
          </p:cNvSpPr>
          <p:nvPr>
            <p:ph type="sldNum" idx="5" sz="quarter"/>
          </p:nvPr>
        </p:nvSpPr>
        <p:spPr/>
      </p:sp>
    </p:spTree>
  </p:cSld>
  <p:clrMapOvr>
    <a:masterClrMapping/>
  </p:clrMapOvr>
</p:notes>
</file>

<file path=ppt/notesSlides/notesSlide2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Egg Protein Membrane Market Market Dynamics Market Dynamics &amp; Forces Recent Developments &amp; Milestones</a:t>
            </a:r>
          </a:p>
        </p:txBody>
      </p:sp>
      <p:sp>
        <p:nvSpPr>
          <p:cNvPr id="4" name="Slide Number Placeholder 3"/>
          <p:cNvSpPr>
            <a:spLocks noGrp="1"/>
          </p:cNvSpPr>
          <p:nvPr>
            <p:ph type="sldNum" idx="5" sz="quarter"/>
          </p:nvPr>
        </p:nvSpPr>
        <p:spPr/>
      </p:sp>
    </p:spTree>
  </p:cSld>
  <p:clrMapOvr>
    <a:masterClrMapping/>
  </p:clrMapOvr>
</p:notes>
</file>

<file path=ppt/notesSlides/notesSlide2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Egg Protein Membrane Market Market Dynamics Market Dynamics &amp; Forces Five Forces Analysis</a:t>
            </a:r>
          </a:p>
        </p:txBody>
      </p:sp>
      <p:sp>
        <p:nvSpPr>
          <p:cNvPr id="4" name="Slide Number Placeholder 3"/>
          <p:cNvSpPr>
            <a:spLocks noGrp="1"/>
          </p:cNvSpPr>
          <p:nvPr>
            <p:ph type="sldNum" idx="5" sz="quarter"/>
          </p:nvPr>
        </p:nvSpPr>
        <p:spPr/>
      </p:sp>
    </p:spTree>
  </p:cSld>
  <p:clrMapOvr>
    <a:masterClrMapping/>
  </p:clrMapOvr>
</p:notes>
</file>

<file path=ppt/notesSlides/notesSlide2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Competition Assessment (section breaker)</a:t>
            </a:r>
          </a:p>
        </p:txBody>
      </p:sp>
      <p:sp>
        <p:nvSpPr>
          <p:cNvPr id="4" name="Slide Number Placeholder 3"/>
          <p:cNvSpPr>
            <a:spLocks noGrp="1"/>
          </p:cNvSpPr>
          <p:nvPr>
            <p:ph type="sldNum" idx="5" sz="quarter"/>
          </p:nvPr>
        </p:nvSpPr>
        <p:spPr/>
      </p:sp>
    </p:spTree>
  </p:cSld>
  <p:clrMapOvr>
    <a:masterClrMapping/>
  </p:clrMapOvr>
</p:notes>
</file>

<file path=ppt/notesSlides/notesSlide2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Egg Protein Membrane Market Competitor Competitive Landscape Competitive Landscape at a Glance</a:t>
            </a:r>
          </a:p>
        </p:txBody>
      </p:sp>
      <p:sp>
        <p:nvSpPr>
          <p:cNvPr id="4" name="Slide Number Placeholder 3"/>
          <p:cNvSpPr>
            <a:spLocks noGrp="1"/>
          </p:cNvSpPr>
          <p:nvPr>
            <p:ph type="sldNum" idx="5" sz="quarter"/>
          </p:nvPr>
        </p:nvSpPr>
        <p:spPr/>
      </p:sp>
    </p:spTree>
  </p:cSld>
  <p:clrMapOvr>
    <a:masterClrMapping/>
  </p:clrMapOvr>
</p:notes>
</file>

<file path=ppt/notesSlides/notesSlide2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Egg Protein Membrane Market Competitor Competitive Landscape Segment Leadership Map</a:t>
            </a:r>
          </a:p>
        </p:txBody>
      </p:sp>
      <p:sp>
        <p:nvSpPr>
          <p:cNvPr id="4" name="Slide Number Placeholder 3"/>
          <p:cNvSpPr>
            <a:spLocks noGrp="1"/>
          </p:cNvSpPr>
          <p:nvPr>
            <p:ph type="sldNum" idx="5" sz="quarter"/>
          </p:nvPr>
        </p:nvSpPr>
        <p:spPr/>
      </p:sp>
    </p:spTree>
  </p:cSld>
  <p:clrMapOvr>
    <a:masterClrMapping/>
  </p:clrMapOvr>
</p:notes>
</file>

<file path=ppt/notesSlides/notesSlide2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Egg Protein Membrane Market Competitor Competitive Landscape Value Chain Positioning</a:t>
            </a:r>
          </a:p>
        </p:txBody>
      </p:sp>
      <p:sp>
        <p:nvSpPr>
          <p:cNvPr id="4" name="Slide Number Placeholder 3"/>
          <p:cNvSpPr>
            <a:spLocks noGrp="1"/>
          </p:cNvSpPr>
          <p:nvPr>
            <p:ph type="sldNum" idx="5" sz="quarter"/>
          </p:nvPr>
        </p:nvSpPr>
        <p:spPr/>
      </p:sp>
    </p:spTree>
  </p:cSld>
  <p:clrMapOvr>
    <a:masterClrMapping/>
  </p:clrMapOvr>
</p:notes>
</file>

<file path=ppt/notesSlides/notesSlide2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Egg Protein Membrane Market Competitor Competitive Landscape Player Landscape</a:t>
            </a:r>
          </a:p>
        </p:txBody>
      </p:sp>
      <p:sp>
        <p:nvSpPr>
          <p:cNvPr id="4" name="Slide Number Placeholder 3"/>
          <p:cNvSpPr>
            <a:spLocks noGrp="1"/>
          </p:cNvSpPr>
          <p:nvPr>
            <p:ph type="sldNum" idx="5" sz="quarter"/>
          </p:nvPr>
        </p:nvSpPr>
        <p:spPr/>
      </p:sp>
    </p:spTree>
  </p:cSld>
  <p:clrMapOvr>
    <a:masterClrMapping/>
  </p:clrMapOvr>
</p:notes>
</file>

<file path=ppt/notesSlides/notesSlide2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Egg Protein Membrane Market Competitor Competitive Landscape Corporate Scorecard</a:t>
            </a:r>
          </a:p>
        </p:txBody>
      </p:sp>
      <p:sp>
        <p:nvSpPr>
          <p:cNvPr id="4" name="Slide Number Placeholder 3"/>
          <p:cNvSpPr>
            <a:spLocks noGrp="1"/>
          </p:cNvSpPr>
          <p:nvPr>
            <p:ph type="sldNum" idx="5" sz="quarter"/>
          </p:nvPr>
        </p:nvSpPr>
        <p:spPr/>
      </p:sp>
    </p:spTree>
  </p:cSld>
  <p:clrMapOvr>
    <a:masterClrMapping/>
  </p:clrMapOvr>
</p:notes>
</file>

<file path=ppt/notesSlides/notesSlide2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Egg Protein Membrane Market Competitor Competitive Landscape Offering Scorecard</a:t>
            </a:r>
          </a:p>
        </p:txBody>
      </p:sp>
      <p:sp>
        <p:nvSpPr>
          <p:cNvPr id="4" name="Slide Number Placeholder 3"/>
          <p:cNvSpPr>
            <a:spLocks noGrp="1"/>
          </p:cNvSpPr>
          <p:nvPr>
            <p:ph type="sldNum" idx="5" sz="quarter"/>
          </p:nvPr>
        </p:nvSpPr>
        <p:spPr/>
      </p:sp>
    </p:spTree>
  </p:cSld>
  <p:clrMapOvr>
    <a:masterClrMapping/>
  </p:clrMapOvr>
</p:notes>
</file>

<file path=ppt/notesSlides/notesSlide2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Egg Protein Membrane Market Competitor Competitive Landscape Execution Scorecard</a:t>
            </a:r>
          </a:p>
        </p:txBody>
      </p:sp>
      <p:sp>
        <p:nvSpPr>
          <p:cNvPr id="4" name="Slide Number Placeholder 3"/>
          <p:cNvSpPr>
            <a:spLocks noGrp="1"/>
          </p:cNvSpPr>
          <p:nvPr>
            <p:ph type="sldNum" idx="5" sz="quarter"/>
          </p:nvPr>
        </p:nvSpPr>
        <p:spPr/>
      </p:sp>
    </p:spTree>
  </p:cSld>
  <p:clrMapOvr>
    <a:masterClrMapping/>
  </p:clrMapOvr>
</p:notes>
</file>

<file path=ppt/notesSlides/notesSlide2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Egg Protein Membrane Market Competitor Competitive Landscape Success Factors</a:t>
            </a:r>
          </a:p>
        </p:txBody>
      </p:sp>
      <p:sp>
        <p:nvSpPr>
          <p:cNvPr id="4" name="Slide Number Placeholder 3"/>
          <p:cNvSpPr>
            <a:spLocks noGrp="1"/>
          </p:cNvSpPr>
          <p:nvPr>
            <p:ph type="sldNum" idx="5" sz="quarter"/>
          </p:nvPr>
        </p:nvSpPr>
        <p:spPr/>
      </p:sp>
    </p:spTree>
  </p:cSld>
  <p:clrMapOvr>
    <a:masterClrMapping/>
  </p:clrMapOvr>
</p:notes>
</file>

<file path=ppt/notesSlides/notesSlide2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Egg Protein Membrane Market Competitor Competitive Landscape Strategic Activity Tracker</a:t>
            </a:r>
          </a:p>
        </p:txBody>
      </p:sp>
      <p:sp>
        <p:nvSpPr>
          <p:cNvPr id="4" name="Slide Number Placeholder 3"/>
          <p:cNvSpPr>
            <a:spLocks noGrp="1"/>
          </p:cNvSpPr>
          <p:nvPr>
            <p:ph type="sldNum" idx="5" sz="quarter"/>
          </p:nvPr>
        </p:nvSpPr>
        <p:spPr/>
      </p:sp>
    </p:spTree>
  </p:cSld>
  <p:clrMapOvr>
    <a:masterClrMapping/>
  </p:clrMapOvr>
</p:notes>
</file>

<file path=ppt/notesSlides/notesSlide2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Egg Protein Membrane Market Competitor Competitive Landscape Strategic Activity by Function</a:t>
            </a:r>
          </a:p>
        </p:txBody>
      </p:sp>
      <p:sp>
        <p:nvSpPr>
          <p:cNvPr id="4" name="Slide Number Placeholder 3"/>
          <p:cNvSpPr>
            <a:spLocks noGrp="1"/>
          </p:cNvSpPr>
          <p:nvPr>
            <p:ph type="sldNum" idx="5" sz="quarter"/>
          </p:nvPr>
        </p:nvSpPr>
        <p:spPr/>
      </p:sp>
    </p:spTree>
  </p:cSld>
  <p:clrMapOvr>
    <a:masterClrMapping/>
  </p:clrMapOvr>
</p:notes>
</file>

<file path=ppt/notesSlides/notesSlide2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Egg Protein Membrane Market Competitor Competitive Landscape Industry Structure Landscape  (1/2)</a:t>
            </a:r>
          </a:p>
        </p:txBody>
      </p:sp>
      <p:sp>
        <p:nvSpPr>
          <p:cNvPr id="4" name="Slide Number Placeholder 3"/>
          <p:cNvSpPr>
            <a:spLocks noGrp="1"/>
          </p:cNvSpPr>
          <p:nvPr>
            <p:ph type="sldNum" idx="5" sz="quarter"/>
          </p:nvPr>
        </p:nvSpPr>
        <p:spPr/>
      </p:sp>
    </p:spTree>
  </p:cSld>
  <p:clrMapOvr>
    <a:masterClrMapping/>
  </p:clrMapOvr>
</p:notes>
</file>

<file path=ppt/notesSlides/notesSlide2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Egg Protein Membrane Market Competitor Competitive Landscape Industry Structure Landscape  (2/2)</a:t>
            </a:r>
          </a:p>
        </p:txBody>
      </p:sp>
      <p:sp>
        <p:nvSpPr>
          <p:cNvPr id="4" name="Slide Number Placeholder 3"/>
          <p:cNvSpPr>
            <a:spLocks noGrp="1"/>
          </p:cNvSpPr>
          <p:nvPr>
            <p:ph type="sldNum" idx="5" sz="quarter"/>
          </p:nvPr>
        </p:nvSpPr>
        <p:spPr/>
      </p:sp>
    </p:spTree>
  </p:cSld>
  <p:clrMapOvr>
    <a:masterClrMapping/>
  </p:clrMapOvr>
</p:notes>
</file>

<file path=ppt/notesSlides/notesSlide2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Egg Protein Membrane Market Competitor Competitive Landscape Competitive Dashboard</a:t>
            </a:r>
          </a:p>
        </p:txBody>
      </p:sp>
      <p:sp>
        <p:nvSpPr>
          <p:cNvPr id="4" name="Slide Number Placeholder 3"/>
          <p:cNvSpPr>
            <a:spLocks noGrp="1"/>
          </p:cNvSpPr>
          <p:nvPr>
            <p:ph type="sldNum" idx="5" sz="quarter"/>
          </p:nvPr>
        </p:nvSpPr>
        <p:spPr/>
      </p:sp>
    </p:spTree>
  </p:cSld>
  <p:clrMapOvr>
    <a:masterClrMapping/>
  </p:clrMapOvr>
</p:notes>
</file>

<file path=ppt/notesSlides/notesSlide2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Egg Protein Membrane Market Competitor Market Share by Leading Players Advice for Vendors &amp; Suppliers</a:t>
            </a:r>
          </a:p>
        </p:txBody>
      </p:sp>
      <p:sp>
        <p:nvSpPr>
          <p:cNvPr id="4" name="Slide Number Placeholder 3"/>
          <p:cNvSpPr>
            <a:spLocks noGrp="1"/>
          </p:cNvSpPr>
          <p:nvPr>
            <p:ph type="sldNum" idx="5" sz="quarter"/>
          </p:nvPr>
        </p:nvSpPr>
        <p:spPr/>
      </p:sp>
    </p:spTree>
  </p:cSld>
  <p:clrMapOvr>
    <a:masterClrMapping/>
  </p:clrMapOvr>
</p:notes>
</file>

<file path=ppt/notesSlides/notesSlide2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Egg Protein Membrane Market Competitor Market Share by Leading Players Company Value Share</a:t>
            </a:r>
          </a:p>
        </p:txBody>
      </p:sp>
      <p:sp>
        <p:nvSpPr>
          <p:cNvPr id="4" name="Slide Number Placeholder 3"/>
          <p:cNvSpPr>
            <a:spLocks noGrp="1"/>
          </p:cNvSpPr>
          <p:nvPr>
            <p:ph type="sldNum" idx="5" sz="quarter"/>
          </p:nvPr>
        </p:nvSpPr>
        <p:spPr/>
      </p:sp>
    </p:spTree>
  </p:cSld>
  <p:clrMapOvr>
    <a:masterClrMapping/>
  </p:clrMapOvr>
</p:notes>
</file>

<file path=ppt/notesSlides/notesSlide2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Egg Protein Membrane Market Competitor Market Share by Leading Players Company Share by Product Type</a:t>
            </a:r>
          </a:p>
        </p:txBody>
      </p:sp>
      <p:sp>
        <p:nvSpPr>
          <p:cNvPr id="4" name="Slide Number Placeholder 3"/>
          <p:cNvSpPr>
            <a:spLocks noGrp="1"/>
          </p:cNvSpPr>
          <p:nvPr>
            <p:ph type="sldNum" idx="5" sz="quarter"/>
          </p:nvPr>
        </p:nvSpPr>
        <p:spPr/>
      </p:sp>
    </p:spTree>
  </p:cSld>
  <p:clrMapOvr>
    <a:masterClrMapping/>
  </p:clrMapOvr>
</p:notes>
</file>

<file path=ppt/notesSlides/notesSlide2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Egg Protein Membrane Market Competitor Market Share by Leading Players Company Share by Region</a:t>
            </a:r>
          </a:p>
        </p:txBody>
      </p:sp>
      <p:sp>
        <p:nvSpPr>
          <p:cNvPr id="4" name="Slide Number Placeholder 3"/>
          <p:cNvSpPr>
            <a:spLocks noGrp="1"/>
          </p:cNvSpPr>
          <p:nvPr>
            <p:ph type="sldNum" idx="5" sz="quarter"/>
          </p:nvPr>
        </p:nvSpPr>
        <p:spPr/>
      </p:sp>
    </p:spTree>
  </p:cSld>
  <p:clrMapOvr>
    <a:masterClrMapping/>
  </p:clrMapOvr>
</p:notes>
</file>

<file path=ppt/notesSlides/notesSlide2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Egg Protein Membrane Market Competitor Market Share by Leading Players Who Shaped Growth</a:t>
            </a:r>
          </a:p>
        </p:txBody>
      </p:sp>
      <p:sp>
        <p:nvSpPr>
          <p:cNvPr id="4" name="Slide Number Placeholder 3"/>
          <p:cNvSpPr>
            <a:spLocks noGrp="1"/>
          </p:cNvSpPr>
          <p:nvPr>
            <p:ph type="sldNum" idx="5" sz="quarter"/>
          </p:nvPr>
        </p:nvSpPr>
        <p:spPr/>
      </p:sp>
    </p:spTree>
  </p:cSld>
  <p:clrMapOvr>
    <a:masterClrMapping/>
  </p:clrMapOvr>
</p:notes>
</file>

<file path=ppt/notesSlides/notesSlide2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Egg Protein Membrane Market Competitor Company Profiles &amp; Strategic Benchmarking ESM Technologies, LLC Snapshot</a:t>
            </a:r>
          </a:p>
        </p:txBody>
      </p:sp>
      <p:sp>
        <p:nvSpPr>
          <p:cNvPr id="4" name="Slide Number Placeholder 3"/>
          <p:cNvSpPr>
            <a:spLocks noGrp="1"/>
          </p:cNvSpPr>
          <p:nvPr>
            <p:ph type="sldNum" idx="5" sz="quarter"/>
          </p:nvPr>
        </p:nvSpPr>
        <p:spPr/>
      </p:sp>
    </p:spTree>
  </p:cSld>
  <p:clrMapOvr>
    <a:masterClrMapping/>
  </p:clrMapOvr>
</p:notes>
</file>

<file path=ppt/notesSlides/notesSlide2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Egg Protein Membrane Market Competitor Company Profiles &amp; Strategic Benchmarking ESM Technologies, LLC Penetration &amp; Win</a:t>
            </a:r>
          </a:p>
        </p:txBody>
      </p:sp>
      <p:sp>
        <p:nvSpPr>
          <p:cNvPr id="4" name="Slide Number Placeholder 3"/>
          <p:cNvSpPr>
            <a:spLocks noGrp="1"/>
          </p:cNvSpPr>
          <p:nvPr>
            <p:ph type="sldNum" idx="5" sz="quarter"/>
          </p:nvPr>
        </p:nvSpPr>
        <p:spPr/>
      </p:sp>
    </p:spTree>
  </p:cSld>
  <p:clrMapOvr>
    <a:masterClrMapping/>
  </p:clrMapOvr>
</p:notes>
</file>

<file path=ppt/notesSlides/notesSlide2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Egg Protein Membrane Market Competitor Company Profiles &amp; Strategic Benchmarking ESM Technologies, LLC SWOT Analysis</a:t>
            </a:r>
          </a:p>
        </p:txBody>
      </p:sp>
      <p:sp>
        <p:nvSpPr>
          <p:cNvPr id="4" name="Slide Number Placeholder 3"/>
          <p:cNvSpPr>
            <a:spLocks noGrp="1"/>
          </p:cNvSpPr>
          <p:nvPr>
            <p:ph type="sldNum" idx="5" sz="quarter"/>
          </p:nvPr>
        </p:nvSpPr>
        <p:spPr/>
      </p:sp>
    </p:spTree>
  </p:cSld>
  <p:clrMapOvr>
    <a:masterClrMapping/>
  </p:clrMapOvr>
</p:notes>
</file>

<file path=ppt/notesSlides/notesSlide2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Egg Protein Membrane Market Competitor Company Profiles &amp; Strategic Benchmarking ESM Technologies, LLC Key Financials</a:t>
            </a:r>
          </a:p>
        </p:txBody>
      </p:sp>
      <p:sp>
        <p:nvSpPr>
          <p:cNvPr id="4" name="Slide Number Placeholder 3"/>
          <p:cNvSpPr>
            <a:spLocks noGrp="1"/>
          </p:cNvSpPr>
          <p:nvPr>
            <p:ph type="sldNum" idx="5" sz="quarter"/>
          </p:nvPr>
        </p:nvSpPr>
        <p:spPr/>
      </p:sp>
    </p:spTree>
  </p:cSld>
  <p:clrMapOvr>
    <a:masterClrMapping/>
  </p:clrMapOvr>
</p:notes>
</file>

<file path=ppt/notesSlides/notesSlide2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Egg Protein Membrane Market Competitor Company Profiles &amp; Strategic Benchmarking ESM Technologies, LLC Strategy Analysis</a:t>
            </a:r>
          </a:p>
        </p:txBody>
      </p:sp>
      <p:sp>
        <p:nvSpPr>
          <p:cNvPr id="4" name="Slide Number Placeholder 3"/>
          <p:cNvSpPr>
            <a:spLocks noGrp="1"/>
          </p:cNvSpPr>
          <p:nvPr>
            <p:ph type="sldNum" idx="5" sz="quarter"/>
          </p:nvPr>
        </p:nvSpPr>
        <p:spPr/>
      </p:sp>
    </p:spTree>
  </p:cSld>
  <p:clrMapOvr>
    <a:masterClrMapping/>
  </p:clrMapOvr>
</p:notes>
</file>

<file path=ppt/notesSlides/notesSlide2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Egg Protein Membrane Market Table of Contents  (1/6)</a:t>
            </a:r>
          </a:p>
        </p:txBody>
      </p:sp>
      <p:sp>
        <p:nvSpPr>
          <p:cNvPr id="4" name="Slide Number Placeholder 3"/>
          <p:cNvSpPr>
            <a:spLocks noGrp="1"/>
          </p:cNvSpPr>
          <p:nvPr>
            <p:ph type="sldNum" idx="5" sz="quarter"/>
          </p:nvPr>
        </p:nvSpPr>
        <p:spPr/>
      </p:sp>
    </p:spTree>
  </p:cSld>
  <p:clrMapOvr>
    <a:masterClrMapping/>
  </p:clrMapOvr>
</p:notes>
</file>

<file path=ppt/notesSlides/notesSlide2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Egg Protein Membrane Market Table of Contents  (2/6)</a:t>
            </a:r>
          </a:p>
        </p:txBody>
      </p:sp>
      <p:sp>
        <p:nvSpPr>
          <p:cNvPr id="4" name="Slide Number Placeholder 3"/>
          <p:cNvSpPr>
            <a:spLocks noGrp="1"/>
          </p:cNvSpPr>
          <p:nvPr>
            <p:ph type="sldNum" idx="5" sz="quarter"/>
          </p:nvPr>
        </p:nvSpPr>
        <p:spPr/>
      </p:sp>
    </p:spTree>
  </p:cSld>
  <p:clrMapOvr>
    <a:masterClrMapping/>
  </p:clrMapOvr>
</p:notes>
</file>

<file path=ppt/notesSlides/notesSlide2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Egg Protein Membrane Market Table of Contents  (3/6)</a:t>
            </a:r>
          </a:p>
        </p:txBody>
      </p:sp>
      <p:sp>
        <p:nvSpPr>
          <p:cNvPr id="4" name="Slide Number Placeholder 3"/>
          <p:cNvSpPr>
            <a:spLocks noGrp="1"/>
          </p:cNvSpPr>
          <p:nvPr>
            <p:ph type="sldNum" idx="5" sz="quarter"/>
          </p:nvPr>
        </p:nvSpPr>
        <p:spPr/>
      </p:sp>
    </p:spTree>
  </p:cSld>
  <p:clrMapOvr>
    <a:masterClrMapping/>
  </p:clrMapOvr>
</p:notes>
</file>

<file path=ppt/notesSlides/notesSlide2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Egg Protein Membrane Market Table of Contents  (4/6)</a:t>
            </a:r>
          </a:p>
        </p:txBody>
      </p:sp>
      <p:sp>
        <p:nvSpPr>
          <p:cNvPr id="4" name="Slide Number Placeholder 3"/>
          <p:cNvSpPr>
            <a:spLocks noGrp="1"/>
          </p:cNvSpPr>
          <p:nvPr>
            <p:ph type="sldNum" idx="5" sz="quarter"/>
          </p:nvPr>
        </p:nvSpPr>
        <p:spPr/>
      </p:sp>
    </p:spTree>
  </p:cSld>
  <p:clrMapOvr>
    <a:masterClrMapping/>
  </p:clrMapOvr>
</p:notes>
</file>

<file path=ppt/notesSlides/notesSlide2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Egg Protein Membrane Market Table of Contents  (5/6)</a:t>
            </a:r>
          </a:p>
        </p:txBody>
      </p:sp>
      <p:sp>
        <p:nvSpPr>
          <p:cNvPr id="4" name="Slide Number Placeholder 3"/>
          <p:cNvSpPr>
            <a:spLocks noGrp="1"/>
          </p:cNvSpPr>
          <p:nvPr>
            <p:ph type="sldNum" idx="5" sz="quarter"/>
          </p:nvPr>
        </p:nvSpPr>
        <p:spPr/>
      </p:sp>
    </p:spTree>
  </p:cSld>
  <p:clrMapOvr>
    <a:masterClrMapping/>
  </p:clrMapOvr>
</p:notes>
</file>

<file path=ppt/notesSlides/notesSlide2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Egg Protein Membrane Market Table of Contents  (6/6)</a:t>
            </a:r>
          </a:p>
        </p:txBody>
      </p:sp>
      <p:sp>
        <p:nvSpPr>
          <p:cNvPr id="4" name="Slide Number Placeholder 3"/>
          <p:cNvSpPr>
            <a:spLocks noGrp="1"/>
          </p:cNvSpPr>
          <p:nvPr>
            <p:ph type="sldNum" idx="5" sz="quarter"/>
          </p:nvPr>
        </p:nvSpPr>
        <p:spPr/>
      </p:sp>
    </p:spTree>
  </p:cSld>
  <p:clrMapOvr>
    <a:masterClrMapping/>
  </p:clrMapOvr>
</p:notes>
</file>

<file path=ppt/notesSlides/notesSlide2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Egg Protein Membrane Market List of Figures  (1/4)</a:t>
            </a:r>
          </a:p>
        </p:txBody>
      </p:sp>
      <p:sp>
        <p:nvSpPr>
          <p:cNvPr id="4" name="Slide Number Placeholder 3"/>
          <p:cNvSpPr>
            <a:spLocks noGrp="1"/>
          </p:cNvSpPr>
          <p:nvPr>
            <p:ph type="sldNum" idx="5" sz="quarter"/>
          </p:nvPr>
        </p:nvSpPr>
        <p:spPr/>
      </p:sp>
    </p:spTree>
  </p:cSld>
  <p:clrMapOvr>
    <a:masterClrMapping/>
  </p:clrMapOvr>
</p:notes>
</file>

<file path=ppt/notesSlides/notesSlide2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Egg Protein Membrane Market List of Figures  (2/4)</a:t>
            </a:r>
          </a:p>
        </p:txBody>
      </p:sp>
      <p:sp>
        <p:nvSpPr>
          <p:cNvPr id="4" name="Slide Number Placeholder 3"/>
          <p:cNvSpPr>
            <a:spLocks noGrp="1"/>
          </p:cNvSpPr>
          <p:nvPr>
            <p:ph type="sldNum" idx="5" sz="quarter"/>
          </p:nvPr>
        </p:nvSpPr>
        <p:spPr/>
      </p:sp>
    </p:spTree>
  </p:cSld>
  <p:clrMapOvr>
    <a:masterClrMapping/>
  </p:clrMapOvr>
</p:notes>
</file>

<file path=ppt/notesSlides/notesSlide2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Egg Protein Membrane Market List of Figures  (3/4)</a:t>
            </a:r>
          </a:p>
        </p:txBody>
      </p:sp>
      <p:sp>
        <p:nvSpPr>
          <p:cNvPr id="4" name="Slide Number Placeholder 3"/>
          <p:cNvSpPr>
            <a:spLocks noGrp="1"/>
          </p:cNvSpPr>
          <p:nvPr>
            <p:ph type="sldNum" idx="5" sz="quarter"/>
          </p:nvPr>
        </p:nvSpPr>
        <p:spPr/>
      </p:sp>
    </p:spTree>
  </p:cSld>
  <p:clrMapOvr>
    <a:masterClrMapping/>
  </p:clrMapOvr>
</p:notes>
</file>

<file path=ppt/notesSlides/notesSlide2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Egg Protein Membrane Market List of Figures  (4/4)</a:t>
            </a:r>
          </a:p>
        </p:txBody>
      </p:sp>
      <p:sp>
        <p:nvSpPr>
          <p:cNvPr id="4" name="Slide Number Placeholder 3"/>
          <p:cNvSpPr>
            <a:spLocks noGrp="1"/>
          </p:cNvSpPr>
          <p:nvPr>
            <p:ph type="sldNum" idx="5" sz="quarter"/>
          </p:nvPr>
        </p:nvSpPr>
        <p:spPr/>
      </p:sp>
    </p:spTree>
  </p:cSld>
  <p:clrMapOvr>
    <a:masterClrMapping/>
  </p:clrMapOvr>
</p:notes>
</file>

<file path=ppt/notesSlides/notesSlide2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Egg Protein Membrane Market List of Tables  (1/4)</a:t>
            </a:r>
          </a:p>
        </p:txBody>
      </p:sp>
      <p:sp>
        <p:nvSpPr>
          <p:cNvPr id="4" name="Slide Number Placeholder 3"/>
          <p:cNvSpPr>
            <a:spLocks noGrp="1"/>
          </p:cNvSpPr>
          <p:nvPr>
            <p:ph type="sldNum" idx="5" sz="quarter"/>
          </p:nvPr>
        </p:nvSpPr>
        <p:spPr/>
      </p:sp>
    </p:spTree>
  </p:cSld>
  <p:clrMapOvr>
    <a:masterClrMapping/>
  </p:clrMapOvr>
</p:notes>
</file>

<file path=ppt/notesSlides/notesSlide2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Egg Protein Membrane Market List of Tables  (2/4)</a:t>
            </a:r>
          </a:p>
        </p:txBody>
      </p:sp>
      <p:sp>
        <p:nvSpPr>
          <p:cNvPr id="4" name="Slide Number Placeholder 3"/>
          <p:cNvSpPr>
            <a:spLocks noGrp="1"/>
          </p:cNvSpPr>
          <p:nvPr>
            <p:ph type="sldNum" idx="5" sz="quarter"/>
          </p:nvPr>
        </p:nvSpPr>
        <p:spPr/>
      </p:sp>
    </p:spTree>
  </p:cSld>
  <p:clrMapOvr>
    <a:masterClrMapping/>
  </p:clrMapOvr>
</p:notes>
</file>

<file path=ppt/notesSlides/notesSlide2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Egg Protein Membrane Market List of Tables  (3/4)</a:t>
            </a:r>
          </a:p>
        </p:txBody>
      </p:sp>
      <p:sp>
        <p:nvSpPr>
          <p:cNvPr id="4" name="Slide Number Placeholder 3"/>
          <p:cNvSpPr>
            <a:spLocks noGrp="1"/>
          </p:cNvSpPr>
          <p:nvPr>
            <p:ph type="sldNum" idx="5" sz="quarter"/>
          </p:nvPr>
        </p:nvSpPr>
        <p:spPr/>
      </p:sp>
    </p:spTree>
  </p:cSld>
  <p:clrMapOvr>
    <a:masterClrMapping/>
  </p:clrMapOvr>
</p:notes>
</file>

<file path=ppt/notesSlides/notesSlide2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Egg Protein Membrane Market List of Tables  (4/4)</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68.jpg"/><Relationship Id="rId3" Type="http://schemas.openxmlformats.org/officeDocument/2006/relationships/image" Target="../media/image66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3.xml"/><Relationship Id="rId4" Type="http://schemas.openxmlformats.org/officeDocument/2006/relationships/slide" Target="slide5.xml"/><Relationship Id="rId5" Type="http://schemas.openxmlformats.org/officeDocument/2006/relationships/slide" Target="slide6.xml"/><Relationship Id="rId6" Type="http://schemas.openxmlformats.org/officeDocument/2006/relationships/slide" Target="slide10.xml"/><Relationship Id="rId7" Type="http://schemas.openxmlformats.org/officeDocument/2006/relationships/slide" Target="slide17.xml"/><Relationship Id="rId8" Type="http://schemas.openxmlformats.org/officeDocument/2006/relationships/slide" Target="slide26.xml"/><Relationship Id="rId9" Type="http://schemas.openxmlformats.org/officeDocument/2006/relationships/slide" Target="slide27.xml"/><Relationship Id="rId10" Type="http://schemas.openxmlformats.org/officeDocument/2006/relationships/slide" Target="slide38.xml"/><Relationship Id="rId11" Type="http://schemas.openxmlformats.org/officeDocument/2006/relationships/slide" Target="slide46.xml"/><Relationship Id="rId12" Type="http://schemas.openxmlformats.org/officeDocument/2006/relationships/slide" Target="slide85.xml"/><Relationship Id="rId13" Type="http://schemas.openxmlformats.org/officeDocument/2006/relationships/slide" Target="slide98.xml"/><Relationship Id="rId14" Type="http://schemas.openxmlformats.org/officeDocument/2006/relationships/slide" Target="slide99.xml"/><Relationship Id="rId15" Type="http://schemas.openxmlformats.org/officeDocument/2006/relationships/slide" Target="slide109.xml"/><Relationship Id="rId16" Type="http://schemas.openxmlformats.org/officeDocument/2006/relationships/slide" Target="slide117.xml"/><Relationship Id="rId17" Type="http://schemas.openxmlformats.org/officeDocument/2006/relationships/slide" Target="slide156.xml"/><Relationship Id="rId18" Type="http://schemas.openxmlformats.org/officeDocument/2006/relationships/slide" Target="slide169.xml"/><Relationship Id="rId19" Type="http://schemas.openxmlformats.org/officeDocument/2006/relationships/slide" Target="slide170.xml"/><Relationship Id="rId20" Type="http://schemas.openxmlformats.org/officeDocument/2006/relationships/slide" Target="slide174.xml"/><Relationship Id="rId21" Type="http://schemas.openxmlformats.org/officeDocument/2006/relationships/slide" Target="slide193.xml"/><Relationship Id="rId22" Type="http://schemas.openxmlformats.org/officeDocument/2006/relationships/slide" Target="slide194.xml"/><Relationship Id="rId23" Type="http://schemas.openxmlformats.org/officeDocument/2006/relationships/slide" Target="slide207.xml"/><Relationship Id="rId24" Type="http://schemas.openxmlformats.org/officeDocument/2006/relationships/slide" Target="slide211.xml"/><Relationship Id="rId25" Type="http://schemas.openxmlformats.org/officeDocument/2006/relationships/slide" Target="slide212.xml"/><Relationship Id="rId26" Type="http://schemas.openxmlformats.org/officeDocument/2006/relationships/slide" Target="slide220.xml"/><Relationship Id="rId27" Type="http://schemas.openxmlformats.org/officeDocument/2006/relationships/slide" Target="slide233.xml"/><Relationship Id="rId28" Type="http://schemas.openxmlformats.org/officeDocument/2006/relationships/slide" Target="slide221.xml"/><Relationship Id="rId29" Type="http://schemas.openxmlformats.org/officeDocument/2006/relationships/slide" Target="slide22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4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5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5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5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5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5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5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5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5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5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5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6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6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6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xml"/><Relationship Id="rId4" Type="http://schemas.openxmlformats.org/officeDocument/2006/relationships/chart" Target="../charts/chart2.xml"/><Relationship Id="rId5" Type="http://schemas.openxmlformats.org/officeDocument/2006/relationships/notesSlide" Target="../notesSlides/notesSlide7.xml"/><Relationship Id="rId6" Type="http://schemas.openxmlformats.org/officeDocument/2006/relationships/image" Target="../media/image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 Id="rId4" Type="http://schemas.openxmlformats.org/officeDocument/2006/relationships/image" Target="../media/image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3.xml"/><Relationship Id="rId4" Type="http://schemas.openxmlformats.org/officeDocument/2006/relationships/chart" Target="../charts/chart4.xml"/><Relationship Id="rId5" Type="http://schemas.openxmlformats.org/officeDocument/2006/relationships/notesSlide" Target="../notesSlides/notesSlide9.xml"/><Relationship Id="rId6" Type="http://schemas.openxmlformats.org/officeDocument/2006/relationships/image" Target="../media/image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5.xml"/><Relationship Id="rId4" Type="http://schemas.openxmlformats.org/officeDocument/2006/relationships/chart" Target="../charts/chart6.xml"/><Relationship Id="rId5" Type="http://schemas.openxmlformats.org/officeDocument/2006/relationships/notesSlide" Target="../notesSlides/notesSlide10.xml"/><Relationship Id="rId6" Type="http://schemas.openxmlformats.org/officeDocument/2006/relationships/image" Target="../media/image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7.xml"/><Relationship Id="rId4" Type="http://schemas.openxmlformats.org/officeDocument/2006/relationships/chart" Target="../charts/chart8.xml"/><Relationship Id="rId5" Type="http://schemas.openxmlformats.org/officeDocument/2006/relationships/notesSlide" Target="../notesSlides/notesSlide11.xml"/><Relationship Id="rId6" Type="http://schemas.openxmlformats.org/officeDocument/2006/relationships/image" Target="../media/image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 Id="rId4" Type="http://schemas.openxmlformats.org/officeDocument/2006/relationships/image" Target="../media/image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xml"/><Relationship Id="rId4" Type="http://schemas.openxmlformats.org/officeDocument/2006/relationships/image" Target="../media/image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9.xml"/><Relationship Id="rId4" Type="http://schemas.openxmlformats.org/officeDocument/2006/relationships/notesSlide" Target="../notesSlides/notesSlide14.xml"/><Relationship Id="rId5" Type="http://schemas.openxmlformats.org/officeDocument/2006/relationships/image" Target="../media/image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xml"/><Relationship Id="rId4" Type="http://schemas.openxmlformats.org/officeDocument/2006/relationships/image" Target="../media/image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0.xml"/><Relationship Id="rId4" Type="http://schemas.openxmlformats.org/officeDocument/2006/relationships/notesSlide" Target="../notesSlides/notesSlide16.xml"/><Relationship Id="rId5" Type="http://schemas.openxmlformats.org/officeDocument/2006/relationships/image" Target="../media/image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xml"/><Relationship Id="rId4" Type="http://schemas.openxmlformats.org/officeDocument/2006/relationships/image" Target="../media/image60.png"/><Relationship Id="rId5" Type="http://schemas.openxmlformats.org/officeDocument/2006/relationships/image" Target="../media/image61.png"/><Relationship Id="rId6" Type="http://schemas.openxmlformats.org/officeDocument/2006/relationships/image" Target="../media/image62.png"/><Relationship Id="rId7" Type="http://schemas.openxmlformats.org/officeDocument/2006/relationships/image" Target="../media/image63.png"/><Relationship Id="rId8" Type="http://schemas.openxmlformats.org/officeDocument/2006/relationships/image" Target="../media/image64.png"/><Relationship Id="rId9" Type="http://schemas.openxmlformats.org/officeDocument/2006/relationships/image" Target="../media/image65.png"/><Relationship Id="rId10" Type="http://schemas.openxmlformats.org/officeDocument/2006/relationships/image" Target="../media/image66.png"/><Relationship Id="rId11" Type="http://schemas.openxmlformats.org/officeDocument/2006/relationships/image" Target="../media/image67.png"/><Relationship Id="rId12" Type="http://schemas.openxmlformats.org/officeDocument/2006/relationships/image" Target="../media/image68.png"/><Relationship Id="rId13" Type="http://schemas.openxmlformats.org/officeDocument/2006/relationships/image" Target="../media/image69.png"/><Relationship Id="rId14" Type="http://schemas.openxmlformats.org/officeDocument/2006/relationships/image" Target="../media/image70.png"/><Relationship Id="rId15" Type="http://schemas.openxmlformats.org/officeDocument/2006/relationships/image" Target="../media/image71.png"/><Relationship Id="rId16" Type="http://schemas.openxmlformats.org/officeDocument/2006/relationships/image" Target="../media/image72.png"/><Relationship Id="rId17" Type="http://schemas.openxmlformats.org/officeDocument/2006/relationships/image" Target="../media/image73.png"/><Relationship Id="rId18" Type="http://schemas.openxmlformats.org/officeDocument/2006/relationships/image" Target="../media/image74.png"/><Relationship Id="rId19" Type="http://schemas.openxmlformats.org/officeDocument/2006/relationships/image" Target="../media/image75.png"/><Relationship Id="rId20" Type="http://schemas.openxmlformats.org/officeDocument/2006/relationships/image" Target="../media/image76.png"/><Relationship Id="rId21" Type="http://schemas.openxmlformats.org/officeDocument/2006/relationships/image" Target="../media/image77.png"/><Relationship Id="rId22" Type="http://schemas.openxmlformats.org/officeDocument/2006/relationships/image" Target="../media/image2.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1.xml"/><Relationship Id="rId4" Type="http://schemas.openxmlformats.org/officeDocument/2006/relationships/notesSlide" Target="../notesSlides/notesSlide18.xml"/><Relationship Id="rId5" Type="http://schemas.openxmlformats.org/officeDocument/2006/relationships/image" Target="../media/image2.png"/><Relationship Id="rId6" Type="http://schemas.openxmlformats.org/officeDocument/2006/relationships/image" Target="../media/image89.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2.xml"/><Relationship Id="rId4" Type="http://schemas.openxmlformats.org/officeDocument/2006/relationships/notesSlide" Target="../notesSlides/notesSlide19.xml"/><Relationship Id="rId5" Type="http://schemas.openxmlformats.org/officeDocument/2006/relationships/image" Target="../media/image2.png"/><Relationship Id="rId6" Type="http://schemas.openxmlformats.org/officeDocument/2006/relationships/image" Target="../media/image102.png"/><Relationship Id="rId7" Type="http://schemas.openxmlformats.org/officeDocument/2006/relationships/image" Target="../media/image103.png"/><Relationship Id="rId8" Type="http://schemas.openxmlformats.org/officeDocument/2006/relationships/image" Target="../media/image104.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xml"/><Relationship Id="rId4" Type="http://schemas.openxmlformats.org/officeDocument/2006/relationships/image" Target="../media/image2.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xml"/><Relationship Id="rId4" Type="http://schemas.openxmlformats.org/officeDocument/2006/relationships/image" Target="../media/image2.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3.xml"/><Relationship Id="rId4" Type="http://schemas.openxmlformats.org/officeDocument/2006/relationships/chart" Target="../charts/chart14.xml"/><Relationship Id="rId5" Type="http://schemas.openxmlformats.org/officeDocument/2006/relationships/notesSlide" Target="../notesSlides/notesSlide2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3.xml"/><Relationship Id="rId4" Type="http://schemas.openxmlformats.org/officeDocument/2006/relationships/image" Target="../media/image2.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4.xml"/><Relationship Id="rId4" Type="http://schemas.openxmlformats.org/officeDocument/2006/relationships/image" Target="../media/image107.png"/><Relationship Id="rId5" Type="http://schemas.openxmlformats.org/officeDocument/2006/relationships/image" Target="../media/image108.png"/><Relationship Id="rId6" Type="http://schemas.openxmlformats.org/officeDocument/2006/relationships/image" Target="../media/image109.png"/><Relationship Id="rId7" Type="http://schemas.openxmlformats.org/officeDocument/2006/relationships/image" Target="../media/image110.png"/><Relationship Id="rId8" Type="http://schemas.openxmlformats.org/officeDocument/2006/relationships/image" Target="../media/image111.png"/><Relationship Id="rId9" Type="http://schemas.openxmlformats.org/officeDocument/2006/relationships/image" Target="../media/image74.png"/><Relationship Id="rId10" Type="http://schemas.openxmlformats.org/officeDocument/2006/relationships/image" Target="../media/image112.png"/><Relationship Id="rId11" Type="http://schemas.openxmlformats.org/officeDocument/2006/relationships/image" Target="../media/image113.png"/><Relationship Id="rId12" Type="http://schemas.openxmlformats.org/officeDocument/2006/relationships/image" Target="../media/image114.png"/><Relationship Id="rId13" Type="http://schemas.openxmlformats.org/officeDocument/2006/relationships/image" Target="../media/image2.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5.xml"/><Relationship Id="rId4" Type="http://schemas.openxmlformats.org/officeDocument/2006/relationships/chart" Target="../charts/chart16.xml"/><Relationship Id="rId5" Type="http://schemas.openxmlformats.org/officeDocument/2006/relationships/notesSlide" Target="../notesSlides/notesSlide25.xml"/><Relationship Id="rId6" Type="http://schemas.openxmlformats.org/officeDocument/2006/relationships/image" Target="../media/image2.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7.xml"/><Relationship Id="rId4" Type="http://schemas.openxmlformats.org/officeDocument/2006/relationships/chart" Target="../charts/chart18.xml"/><Relationship Id="rId5" Type="http://schemas.openxmlformats.org/officeDocument/2006/relationships/chart" Target="../charts/chart19.xml"/><Relationship Id="rId6" Type="http://schemas.openxmlformats.org/officeDocument/2006/relationships/notesSlide" Target="../notesSlides/notesSlide26.xml"/><Relationship Id="rId7" Type="http://schemas.openxmlformats.org/officeDocument/2006/relationships/image" Target="../media/image2.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8.xml"/><Relationship Id="rId4" Type="http://schemas.openxmlformats.org/officeDocument/2006/relationships/image" Target="../media/image2.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20.xml"/><Relationship Id="rId4" Type="http://schemas.openxmlformats.org/officeDocument/2006/relationships/notesSlide" Target="../notesSlides/notesSlide29.xml"/><Relationship Id="rId5" Type="http://schemas.openxmlformats.org/officeDocument/2006/relationships/image" Target="../media/image2.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2.xml"/><Relationship Id="rId4" Type="http://schemas.openxmlformats.org/officeDocument/2006/relationships/image" Target="../media/image142.png"/><Relationship Id="rId5" Type="http://schemas.openxmlformats.org/officeDocument/2006/relationships/image" Target="../media/image143.png"/><Relationship Id="rId6" Type="http://schemas.openxmlformats.org/officeDocument/2006/relationships/image" Target="../media/image74.png"/><Relationship Id="rId7" Type="http://schemas.openxmlformats.org/officeDocument/2006/relationships/image" Target="../media/image144.png"/><Relationship Id="rId8" Type="http://schemas.openxmlformats.org/officeDocument/2006/relationships/image" Target="../media/image145.png"/><Relationship Id="rId9" Type="http://schemas.openxmlformats.org/officeDocument/2006/relationships/image" Target="../media/image146.png"/><Relationship Id="rId10" Type="http://schemas.openxmlformats.org/officeDocument/2006/relationships/image" Target="../media/image147.png"/><Relationship Id="rId11" Type="http://schemas.openxmlformats.org/officeDocument/2006/relationships/image" Target="../media/image148.png"/><Relationship Id="rId12" Type="http://schemas.openxmlformats.org/officeDocument/2006/relationships/image" Target="../media/image149.png"/><Relationship Id="rId13" Type="http://schemas.openxmlformats.org/officeDocument/2006/relationships/image" Target="../media/image150.png"/><Relationship Id="rId14" Type="http://schemas.openxmlformats.org/officeDocument/2006/relationships/image" Target="../media/image151.png"/><Relationship Id="rId15" Type="http://schemas.openxmlformats.org/officeDocument/2006/relationships/image" Target="../media/image152.png"/><Relationship Id="rId16" Type="http://schemas.openxmlformats.org/officeDocument/2006/relationships/image" Target="../media/image2.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21.xml"/><Relationship Id="rId4" Type="http://schemas.openxmlformats.org/officeDocument/2006/relationships/chart" Target="../charts/chart22.xml"/><Relationship Id="rId5" Type="http://schemas.openxmlformats.org/officeDocument/2006/relationships/notesSlide" Target="../notesSlides/notesSlide33.xml"/><Relationship Id="rId6" Type="http://schemas.openxmlformats.org/officeDocument/2006/relationships/image" Target="../media/image2.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23.xml"/><Relationship Id="rId4" Type="http://schemas.openxmlformats.org/officeDocument/2006/relationships/chart" Target="../charts/chart24.xml"/><Relationship Id="rId5" Type="http://schemas.openxmlformats.org/officeDocument/2006/relationships/chart" Target="../charts/chart25.xml"/><Relationship Id="rId6" Type="http://schemas.openxmlformats.org/officeDocument/2006/relationships/chart" Target="../charts/chart26.xml"/><Relationship Id="rId7" Type="http://schemas.openxmlformats.org/officeDocument/2006/relationships/notesSlide" Target="../notesSlides/notesSlide34.xml"/><Relationship Id="rId8" Type="http://schemas.openxmlformats.org/officeDocument/2006/relationships/image" Target="../media/image2.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6.xml"/><Relationship Id="rId4" Type="http://schemas.openxmlformats.org/officeDocument/2006/relationships/image" Target="../media/image2.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27.xml"/><Relationship Id="rId4" Type="http://schemas.openxmlformats.org/officeDocument/2006/relationships/notesSlide" Target="../notesSlides/notesSlide37.xml"/><Relationship Id="rId5" Type="http://schemas.openxmlformats.org/officeDocument/2006/relationships/image" Target="../media/image2.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0.xml"/><Relationship Id="rId4" Type="http://schemas.openxmlformats.org/officeDocument/2006/relationships/image" Target="../media/image186.png"/><Relationship Id="rId5" Type="http://schemas.openxmlformats.org/officeDocument/2006/relationships/image" Target="../media/image187.png"/><Relationship Id="rId6" Type="http://schemas.openxmlformats.org/officeDocument/2006/relationships/image" Target="../media/image104.png"/><Relationship Id="rId7" Type="http://schemas.openxmlformats.org/officeDocument/2006/relationships/image" Target="../media/image188.png"/><Relationship Id="rId8" Type="http://schemas.openxmlformats.org/officeDocument/2006/relationships/image" Target="../media/image189.png"/><Relationship Id="rId9" Type="http://schemas.openxmlformats.org/officeDocument/2006/relationships/image" Target="../media/image77.png"/><Relationship Id="rId10" Type="http://schemas.openxmlformats.org/officeDocument/2006/relationships/image" Target="../media/image2.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28.xml"/><Relationship Id="rId4" Type="http://schemas.openxmlformats.org/officeDocument/2006/relationships/chart" Target="../charts/chart29.xml"/><Relationship Id="rId5" Type="http://schemas.openxmlformats.org/officeDocument/2006/relationships/notesSlide" Target="../notesSlides/notesSlide41.xml"/><Relationship Id="rId6" Type="http://schemas.openxmlformats.org/officeDocument/2006/relationships/image" Target="../media/image2.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30.xml"/><Relationship Id="rId4" Type="http://schemas.openxmlformats.org/officeDocument/2006/relationships/chart" Target="../charts/chart31.xml"/><Relationship Id="rId5" Type="http://schemas.openxmlformats.org/officeDocument/2006/relationships/notesSlide" Target="../notesSlides/notesSlide42.xml"/><Relationship Id="rId6" Type="http://schemas.openxmlformats.org/officeDocument/2006/relationships/image" Target="../media/image2.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4.xml"/><Relationship Id="rId4" Type="http://schemas.openxmlformats.org/officeDocument/2006/relationships/image" Target="../media/image2.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32.xml"/><Relationship Id="rId4" Type="http://schemas.openxmlformats.org/officeDocument/2006/relationships/notesSlide" Target="../notesSlides/notesSlide45.xml"/><Relationship Id="rId5" Type="http://schemas.openxmlformats.org/officeDocument/2006/relationships/image" Target="../media/image2.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8.xml"/><Relationship Id="rId4" Type="http://schemas.openxmlformats.org/officeDocument/2006/relationships/image" Target="../media/image208.png"/><Relationship Id="rId5" Type="http://schemas.openxmlformats.org/officeDocument/2006/relationships/image" Target="../media/image209.png"/><Relationship Id="rId6" Type="http://schemas.openxmlformats.org/officeDocument/2006/relationships/image" Target="../media/image210.png"/><Relationship Id="rId7" Type="http://schemas.openxmlformats.org/officeDocument/2006/relationships/image" Target="../media/image211.png"/><Relationship Id="rId8" Type="http://schemas.openxmlformats.org/officeDocument/2006/relationships/image" Target="../media/image212.png"/><Relationship Id="rId9" Type="http://schemas.openxmlformats.org/officeDocument/2006/relationships/image" Target="../media/image149.png"/><Relationship Id="rId10" Type="http://schemas.openxmlformats.org/officeDocument/2006/relationships/image" Target="../media/image2.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33.xml"/><Relationship Id="rId4" Type="http://schemas.openxmlformats.org/officeDocument/2006/relationships/chart" Target="../charts/chart34.xml"/><Relationship Id="rId5" Type="http://schemas.openxmlformats.org/officeDocument/2006/relationships/notesSlide" Target="../notesSlides/notesSlide49.xml"/><Relationship Id="rId6" Type="http://schemas.openxmlformats.org/officeDocument/2006/relationships/image" Target="../media/image2.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35.xml"/><Relationship Id="rId4" Type="http://schemas.openxmlformats.org/officeDocument/2006/relationships/chart" Target="../charts/chart36.xml"/><Relationship Id="rId5" Type="http://schemas.openxmlformats.org/officeDocument/2006/relationships/notesSlide" Target="../notesSlides/notesSlide50.xml"/><Relationship Id="rId6" Type="http://schemas.openxmlformats.org/officeDocument/2006/relationships/image" Target="../media/image2.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2.xml"/><Relationship Id="rId4" Type="http://schemas.openxmlformats.org/officeDocument/2006/relationships/image" Target="../media/image2.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37.xml"/><Relationship Id="rId4" Type="http://schemas.openxmlformats.org/officeDocument/2006/relationships/notesSlide" Target="../notesSlides/notesSlide53.xml"/><Relationship Id="rId5" Type="http://schemas.openxmlformats.org/officeDocument/2006/relationships/image" Target="../media/image2.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6.xml"/><Relationship Id="rId4" Type="http://schemas.openxmlformats.org/officeDocument/2006/relationships/image" Target="../media/image231.png"/><Relationship Id="rId5" Type="http://schemas.openxmlformats.org/officeDocument/2006/relationships/image" Target="../media/image232.png"/><Relationship Id="rId6" Type="http://schemas.openxmlformats.org/officeDocument/2006/relationships/image" Target="../media/image233.png"/><Relationship Id="rId7" Type="http://schemas.openxmlformats.org/officeDocument/2006/relationships/image" Target="../media/image234.png"/><Relationship Id="rId8" Type="http://schemas.openxmlformats.org/officeDocument/2006/relationships/image" Target="../media/image235.png"/><Relationship Id="rId9" Type="http://schemas.openxmlformats.org/officeDocument/2006/relationships/image" Target="../media/image236.png"/><Relationship Id="rId10" Type="http://schemas.openxmlformats.org/officeDocument/2006/relationships/image" Target="../media/image237.png"/><Relationship Id="rId11" Type="http://schemas.openxmlformats.org/officeDocument/2006/relationships/image" Target="../media/image238.png"/><Relationship Id="rId12" Type="http://schemas.openxmlformats.org/officeDocument/2006/relationships/image" Target="../media/image239.png"/><Relationship Id="rId13" Type="http://schemas.openxmlformats.org/officeDocument/2006/relationships/image" Target="../media/image240.png"/><Relationship Id="rId14" Type="http://schemas.openxmlformats.org/officeDocument/2006/relationships/image" Target="../media/image241.png"/><Relationship Id="rId15" Type="http://schemas.openxmlformats.org/officeDocument/2006/relationships/image" Target="../media/image242.png"/><Relationship Id="rId16" Type="http://schemas.openxmlformats.org/officeDocument/2006/relationships/image" Target="../media/image243.png"/><Relationship Id="rId17" Type="http://schemas.openxmlformats.org/officeDocument/2006/relationships/image" Target="../media/image244.png"/><Relationship Id="rId18" Type="http://schemas.openxmlformats.org/officeDocument/2006/relationships/image" Target="../media/image245.png"/><Relationship Id="rId19" Type="http://schemas.openxmlformats.org/officeDocument/2006/relationships/image" Target="../media/image246.png"/><Relationship Id="rId20" Type="http://schemas.openxmlformats.org/officeDocument/2006/relationships/image" Target="../media/image247.png"/><Relationship Id="rId21" Type="http://schemas.openxmlformats.org/officeDocument/2006/relationships/image" Target="../media/image114.png"/><Relationship Id="rId22" Type="http://schemas.openxmlformats.org/officeDocument/2006/relationships/image" Target="../media/image2.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38.xml"/><Relationship Id="rId4" Type="http://schemas.openxmlformats.org/officeDocument/2006/relationships/chart" Target="../charts/chart39.xml"/><Relationship Id="rId5" Type="http://schemas.openxmlformats.org/officeDocument/2006/relationships/notesSlide" Target="../notesSlides/notesSlide57.xml"/><Relationship Id="rId6" Type="http://schemas.openxmlformats.org/officeDocument/2006/relationships/image" Target="../media/image2.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40.xml"/><Relationship Id="rId4" Type="http://schemas.openxmlformats.org/officeDocument/2006/relationships/chart" Target="../charts/chart41.xml"/><Relationship Id="rId5" Type="http://schemas.openxmlformats.org/officeDocument/2006/relationships/chart" Target="../charts/chart42.xml"/><Relationship Id="rId6" Type="http://schemas.openxmlformats.org/officeDocument/2006/relationships/chart" Target="../charts/chart43.xml"/><Relationship Id="rId7" Type="http://schemas.openxmlformats.org/officeDocument/2006/relationships/notesSlide" Target="../notesSlides/notesSlide58.xml"/><Relationship Id="rId8" Type="http://schemas.openxmlformats.org/officeDocument/2006/relationships/image" Target="../media/image2.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44.xml"/><Relationship Id="rId4" Type="http://schemas.openxmlformats.org/officeDocument/2006/relationships/chart" Target="../charts/chart45.xml"/><Relationship Id="rId5" Type="http://schemas.openxmlformats.org/officeDocument/2006/relationships/notesSlide" Target="../notesSlides/notesSlide59.xml"/><Relationship Id="rId6" Type="http://schemas.openxmlformats.org/officeDocument/2006/relationships/image" Target="../media/image2.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2.xml"/><Relationship Id="rId4" Type="http://schemas.openxmlformats.org/officeDocument/2006/relationships/image" Target="../media/image2.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3.xml"/><Relationship Id="rId4" Type="http://schemas.openxmlformats.org/officeDocument/2006/relationships/image" Target="../media/image2.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46.xml"/><Relationship Id="rId4" Type="http://schemas.openxmlformats.org/officeDocument/2006/relationships/notesSlide" Target="../notesSlides/notesSlide64.xml"/><Relationship Id="rId5" Type="http://schemas.openxmlformats.org/officeDocument/2006/relationships/image" Target="../media/image2.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9.xml"/><Relationship Id="rId4" Type="http://schemas.openxmlformats.org/officeDocument/2006/relationships/image" Target="../media/image298.png"/><Relationship Id="rId5" Type="http://schemas.openxmlformats.org/officeDocument/2006/relationships/image" Target="../media/image299.png"/><Relationship Id="rId6" Type="http://schemas.openxmlformats.org/officeDocument/2006/relationships/image" Target="../media/image104.png"/><Relationship Id="rId7" Type="http://schemas.openxmlformats.org/officeDocument/2006/relationships/image" Target="../media/image300.png"/><Relationship Id="rId8" Type="http://schemas.openxmlformats.org/officeDocument/2006/relationships/image" Target="../media/image301.png"/><Relationship Id="rId9" Type="http://schemas.openxmlformats.org/officeDocument/2006/relationships/image" Target="../media/image77.png"/><Relationship Id="rId10" Type="http://schemas.openxmlformats.org/officeDocument/2006/relationships/image" Target="../media/image2.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47.xml"/><Relationship Id="rId4" Type="http://schemas.openxmlformats.org/officeDocument/2006/relationships/chart" Target="../charts/chart48.xml"/><Relationship Id="rId5" Type="http://schemas.openxmlformats.org/officeDocument/2006/relationships/notesSlide" Target="../notesSlides/notesSlide70.xml"/><Relationship Id="rId6" Type="http://schemas.openxmlformats.org/officeDocument/2006/relationships/image" Target="../media/image2.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49.xml"/><Relationship Id="rId4" Type="http://schemas.openxmlformats.org/officeDocument/2006/relationships/chart" Target="../charts/chart50.xml"/><Relationship Id="rId5" Type="http://schemas.openxmlformats.org/officeDocument/2006/relationships/notesSlide" Target="../notesSlides/notesSlide71.xml"/><Relationship Id="rId6" Type="http://schemas.openxmlformats.org/officeDocument/2006/relationships/image" Target="../media/image2.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3.xml"/><Relationship Id="rId4" Type="http://schemas.openxmlformats.org/officeDocument/2006/relationships/image" Target="../media/image2.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51.xml"/><Relationship Id="rId4" Type="http://schemas.openxmlformats.org/officeDocument/2006/relationships/notesSlide" Target="../notesSlides/notesSlide74.xml"/><Relationship Id="rId5" Type="http://schemas.openxmlformats.org/officeDocument/2006/relationships/image" Target="../media/image2.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7.xml"/><Relationship Id="rId4" Type="http://schemas.openxmlformats.org/officeDocument/2006/relationships/image" Target="../media/image2.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52.xml"/><Relationship Id="rId4" Type="http://schemas.openxmlformats.org/officeDocument/2006/relationships/notesSlide" Target="../notesSlides/notesSlide78.xml"/><Relationship Id="rId5" Type="http://schemas.openxmlformats.org/officeDocument/2006/relationships/image" Target="../media/image2.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9.xml"/><Relationship Id="rId4" Type="http://schemas.openxmlformats.org/officeDocument/2006/relationships/image" Target="../media/image2.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0.xml"/><Relationship Id="rId4" Type="http://schemas.openxmlformats.org/officeDocument/2006/relationships/image" Target="../media/image2.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1.xml"/><Relationship Id="rId4" Type="http://schemas.openxmlformats.org/officeDocument/2006/relationships/image" Target="../media/image2.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2.xml"/><Relationship Id="rId4" Type="http://schemas.openxmlformats.org/officeDocument/2006/relationships/image" Target="../media/image2.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53.xml"/><Relationship Id="rId4" Type="http://schemas.openxmlformats.org/officeDocument/2006/relationships/notesSlide" Target="../notesSlides/notesSlide83.xml"/><Relationship Id="rId5" Type="http://schemas.openxmlformats.org/officeDocument/2006/relationships/image" Target="../media/image2.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4.xml"/><Relationship Id="rId4" Type="http://schemas.openxmlformats.org/officeDocument/2006/relationships/image" Target="../media/image2.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5.xml"/><Relationship Id="rId4" Type="http://schemas.openxmlformats.org/officeDocument/2006/relationships/image" Target="../media/image2.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6.xml"/><Relationship Id="rId4" Type="http://schemas.openxmlformats.org/officeDocument/2006/relationships/image" Target="../media/image2.pn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54.xml"/><Relationship Id="rId4" Type="http://schemas.openxmlformats.org/officeDocument/2006/relationships/chart" Target="../charts/chart55.xml"/><Relationship Id="rId5" Type="http://schemas.openxmlformats.org/officeDocument/2006/relationships/notesSlide" Target="../notesSlides/notesSlide88.xml"/><Relationship Id="rId6" Type="http://schemas.openxmlformats.org/officeDocument/2006/relationships/image" Target="../media/image2.pn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9.xml"/><Relationship Id="rId4" Type="http://schemas.openxmlformats.org/officeDocument/2006/relationships/image" Target="../media/image2.pn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56.xml"/><Relationship Id="rId4" Type="http://schemas.openxmlformats.org/officeDocument/2006/relationships/chart" Target="../charts/chart57.xml"/><Relationship Id="rId5" Type="http://schemas.openxmlformats.org/officeDocument/2006/relationships/notesSlide" Target="../notesSlides/notesSlide90.xml"/><Relationship Id="rId6" Type="http://schemas.openxmlformats.org/officeDocument/2006/relationships/image" Target="../media/image2.pn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58.xml"/><Relationship Id="rId4" Type="http://schemas.openxmlformats.org/officeDocument/2006/relationships/chart" Target="../charts/chart59.xml"/><Relationship Id="rId5" Type="http://schemas.openxmlformats.org/officeDocument/2006/relationships/notesSlide" Target="../notesSlides/notesSlide91.xml"/><Relationship Id="rId6" Type="http://schemas.openxmlformats.org/officeDocument/2006/relationships/image" Target="../media/image2.pn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60.xml"/><Relationship Id="rId4" Type="http://schemas.openxmlformats.org/officeDocument/2006/relationships/chart" Target="../charts/chart61.xml"/><Relationship Id="rId5" Type="http://schemas.openxmlformats.org/officeDocument/2006/relationships/notesSlide" Target="../notesSlides/notesSlide92.xml"/><Relationship Id="rId6" Type="http://schemas.openxmlformats.org/officeDocument/2006/relationships/image" Target="../media/image2.pn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3.xml"/><Relationship Id="rId4" Type="http://schemas.openxmlformats.org/officeDocument/2006/relationships/image" Target="../media/image2.pn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62.xml"/><Relationship Id="rId4" Type="http://schemas.openxmlformats.org/officeDocument/2006/relationships/notesSlide" Target="../notesSlides/notesSlide94.xml"/><Relationship Id="rId5" Type="http://schemas.openxmlformats.org/officeDocument/2006/relationships/image" Target="../media/image2.pn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5.xml"/><Relationship Id="rId4" Type="http://schemas.openxmlformats.org/officeDocument/2006/relationships/image" Target="../media/image2.pn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63.xml"/><Relationship Id="rId4" Type="http://schemas.openxmlformats.org/officeDocument/2006/relationships/notesSlide" Target="../notesSlides/notesSlide96.xml"/><Relationship Id="rId5" Type="http://schemas.openxmlformats.org/officeDocument/2006/relationships/image" Target="../media/image2.pn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7.xml"/><Relationship Id="rId4" Type="http://schemas.openxmlformats.org/officeDocument/2006/relationships/image" Target="../media/image2.pn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64.xml"/><Relationship Id="rId4" Type="http://schemas.openxmlformats.org/officeDocument/2006/relationships/notesSlide" Target="../notesSlides/notesSlide98.xml"/><Relationship Id="rId5" Type="http://schemas.openxmlformats.org/officeDocument/2006/relationships/image" Target="../media/image2.pn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65.xml"/><Relationship Id="rId4" Type="http://schemas.openxmlformats.org/officeDocument/2006/relationships/notesSlide" Target="../notesSlides/notesSlide99.xml"/><Relationship Id="rId5" Type="http://schemas.openxmlformats.org/officeDocument/2006/relationships/image" Target="../media/image2.png"/></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0.xml"/><Relationship Id="rId4" Type="http://schemas.openxmlformats.org/officeDocument/2006/relationships/image" Target="../media/image2.png"/></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1.xml"/><Relationship Id="rId4" Type="http://schemas.openxmlformats.org/officeDocument/2006/relationships/image" Target="../media/image2.pn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66.xml"/><Relationship Id="rId4" Type="http://schemas.openxmlformats.org/officeDocument/2006/relationships/chart" Target="../charts/chart67.xml"/><Relationship Id="rId5" Type="http://schemas.openxmlformats.org/officeDocument/2006/relationships/notesSlide" Target="../notesSlides/notesSlide102.xml"/><Relationship Id="rId6" Type="http://schemas.openxmlformats.org/officeDocument/2006/relationships/image" Target="../media/image2.png"/></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3.xml"/><Relationship Id="rId4" Type="http://schemas.openxmlformats.org/officeDocument/2006/relationships/image" Target="../media/image2.png"/></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4.xml"/><Relationship Id="rId4" Type="http://schemas.openxmlformats.org/officeDocument/2006/relationships/image" Target="../media/image431.png"/><Relationship Id="rId5" Type="http://schemas.openxmlformats.org/officeDocument/2006/relationships/image" Target="../media/image432.png"/><Relationship Id="rId6" Type="http://schemas.openxmlformats.org/officeDocument/2006/relationships/image" Target="../media/image433.png"/><Relationship Id="rId7" Type="http://schemas.openxmlformats.org/officeDocument/2006/relationships/image" Target="../media/image434.png"/><Relationship Id="rId8" Type="http://schemas.openxmlformats.org/officeDocument/2006/relationships/image" Target="../media/image435.png"/><Relationship Id="rId9" Type="http://schemas.openxmlformats.org/officeDocument/2006/relationships/image" Target="../media/image436.png"/><Relationship Id="rId10" Type="http://schemas.openxmlformats.org/officeDocument/2006/relationships/image" Target="../media/image437.png"/><Relationship Id="rId11" Type="http://schemas.openxmlformats.org/officeDocument/2006/relationships/image" Target="../media/image438.png"/><Relationship Id="rId12" Type="http://schemas.openxmlformats.org/officeDocument/2006/relationships/image" Target="../media/image77.png"/><Relationship Id="rId13" Type="http://schemas.openxmlformats.org/officeDocument/2006/relationships/image" Target="../media/image2.png"/></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68.xml"/><Relationship Id="rId4" Type="http://schemas.openxmlformats.org/officeDocument/2006/relationships/chart" Target="../charts/chart69.xml"/><Relationship Id="rId5" Type="http://schemas.openxmlformats.org/officeDocument/2006/relationships/notesSlide" Target="../notesSlides/notesSlide105.xml"/><Relationship Id="rId6" Type="http://schemas.openxmlformats.org/officeDocument/2006/relationships/image" Target="../media/image2.png"/></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70.xml"/><Relationship Id="rId4" Type="http://schemas.openxmlformats.org/officeDocument/2006/relationships/chart" Target="../charts/chart71.xml"/><Relationship Id="rId5" Type="http://schemas.openxmlformats.org/officeDocument/2006/relationships/chart" Target="../charts/chart72.xml"/><Relationship Id="rId6" Type="http://schemas.openxmlformats.org/officeDocument/2006/relationships/notesSlide" Target="../notesSlides/notesSlide106.xml"/><Relationship Id="rId7" Type="http://schemas.openxmlformats.org/officeDocument/2006/relationships/image" Target="../media/image2.png"/></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8.xml"/><Relationship Id="rId4" Type="http://schemas.openxmlformats.org/officeDocument/2006/relationships/image" Target="../media/image2.png"/></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73.xml"/><Relationship Id="rId4" Type="http://schemas.openxmlformats.org/officeDocument/2006/relationships/notesSlide" Target="../notesSlides/notesSlide109.xml"/><Relationship Id="rId5" Type="http://schemas.openxmlformats.org/officeDocument/2006/relationships/image" Target="../media/image2.png"/></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2.xml"/><Relationship Id="rId4" Type="http://schemas.openxmlformats.org/officeDocument/2006/relationships/image" Target="../media/image454.png"/><Relationship Id="rId5" Type="http://schemas.openxmlformats.org/officeDocument/2006/relationships/image" Target="../media/image455.png"/><Relationship Id="rId6" Type="http://schemas.openxmlformats.org/officeDocument/2006/relationships/image" Target="../media/image149.png"/><Relationship Id="rId7" Type="http://schemas.openxmlformats.org/officeDocument/2006/relationships/image" Target="../media/image456.png"/><Relationship Id="rId8" Type="http://schemas.openxmlformats.org/officeDocument/2006/relationships/image" Target="../media/image457.png"/><Relationship Id="rId9" Type="http://schemas.openxmlformats.org/officeDocument/2006/relationships/image" Target="../media/image436.png"/><Relationship Id="rId10" Type="http://schemas.openxmlformats.org/officeDocument/2006/relationships/image" Target="../media/image458.png"/><Relationship Id="rId11" Type="http://schemas.openxmlformats.org/officeDocument/2006/relationships/image" Target="../media/image459.png"/><Relationship Id="rId12" Type="http://schemas.openxmlformats.org/officeDocument/2006/relationships/image" Target="../media/image460.png"/><Relationship Id="rId13" Type="http://schemas.openxmlformats.org/officeDocument/2006/relationships/image" Target="../media/image461.png"/><Relationship Id="rId14" Type="http://schemas.openxmlformats.org/officeDocument/2006/relationships/image" Target="../media/image462.png"/><Relationship Id="rId15" Type="http://schemas.openxmlformats.org/officeDocument/2006/relationships/image" Target="../media/image463.png"/><Relationship Id="rId16" Type="http://schemas.openxmlformats.org/officeDocument/2006/relationships/image" Target="../media/image2.png"/></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74.xml"/><Relationship Id="rId4" Type="http://schemas.openxmlformats.org/officeDocument/2006/relationships/chart" Target="../charts/chart75.xml"/><Relationship Id="rId5" Type="http://schemas.openxmlformats.org/officeDocument/2006/relationships/notesSlide" Target="../notesSlides/notesSlide113.xml"/><Relationship Id="rId6" Type="http://schemas.openxmlformats.org/officeDocument/2006/relationships/image" Target="../media/image2.png"/></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76.xml"/><Relationship Id="rId4" Type="http://schemas.openxmlformats.org/officeDocument/2006/relationships/chart" Target="../charts/chart77.xml"/><Relationship Id="rId5" Type="http://schemas.openxmlformats.org/officeDocument/2006/relationships/chart" Target="../charts/chart78.xml"/><Relationship Id="rId6" Type="http://schemas.openxmlformats.org/officeDocument/2006/relationships/chart" Target="../charts/chart79.xml"/><Relationship Id="rId7" Type="http://schemas.openxmlformats.org/officeDocument/2006/relationships/notesSlide" Target="../notesSlides/notesSlide114.xml"/><Relationship Id="rId8" Type="http://schemas.openxmlformats.org/officeDocument/2006/relationships/image" Target="../media/image2.png"/></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6.xml"/><Relationship Id="rId4" Type="http://schemas.openxmlformats.org/officeDocument/2006/relationships/image" Target="../media/image2.png"/></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80.xml"/><Relationship Id="rId4" Type="http://schemas.openxmlformats.org/officeDocument/2006/relationships/notesSlide" Target="../notesSlides/notesSlide117.xml"/><Relationship Id="rId5" Type="http://schemas.openxmlformats.org/officeDocument/2006/relationships/image" Target="../media/image2.png"/></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0.xml"/><Relationship Id="rId4" Type="http://schemas.openxmlformats.org/officeDocument/2006/relationships/image" Target="../media/image484.png"/><Relationship Id="rId5" Type="http://schemas.openxmlformats.org/officeDocument/2006/relationships/image" Target="../media/image485.png"/><Relationship Id="rId6" Type="http://schemas.openxmlformats.org/officeDocument/2006/relationships/image" Target="../media/image109.png"/><Relationship Id="rId7" Type="http://schemas.openxmlformats.org/officeDocument/2006/relationships/image" Target="../media/image486.png"/><Relationship Id="rId8" Type="http://schemas.openxmlformats.org/officeDocument/2006/relationships/image" Target="../media/image487.png"/><Relationship Id="rId9" Type="http://schemas.openxmlformats.org/officeDocument/2006/relationships/image" Target="../media/image62.png"/><Relationship Id="rId10" Type="http://schemas.openxmlformats.org/officeDocument/2006/relationships/image" Target="../media/image2.png"/></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81.xml"/><Relationship Id="rId4" Type="http://schemas.openxmlformats.org/officeDocument/2006/relationships/chart" Target="../charts/chart82.xml"/><Relationship Id="rId5" Type="http://schemas.openxmlformats.org/officeDocument/2006/relationships/notesSlide" Target="../notesSlides/notesSlide121.xml"/><Relationship Id="rId6" Type="http://schemas.openxmlformats.org/officeDocument/2006/relationships/image" Target="../media/image2.png"/></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83.xml"/><Relationship Id="rId4" Type="http://schemas.openxmlformats.org/officeDocument/2006/relationships/chart" Target="../charts/chart84.xml"/><Relationship Id="rId5" Type="http://schemas.openxmlformats.org/officeDocument/2006/relationships/notesSlide" Target="../notesSlides/notesSlide122.xml"/><Relationship Id="rId6" Type="http://schemas.openxmlformats.org/officeDocument/2006/relationships/image" Target="../media/image2.png"/></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4.xml"/><Relationship Id="rId4" Type="http://schemas.openxmlformats.org/officeDocument/2006/relationships/image" Target="../media/image2.png"/></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85.xml"/><Relationship Id="rId4" Type="http://schemas.openxmlformats.org/officeDocument/2006/relationships/notesSlide" Target="../notesSlides/notesSlide125.xml"/><Relationship Id="rId5" Type="http://schemas.openxmlformats.org/officeDocument/2006/relationships/image" Target="../media/image2.png"/></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8.xml"/><Relationship Id="rId4" Type="http://schemas.openxmlformats.org/officeDocument/2006/relationships/image" Target="../media/image498.png"/><Relationship Id="rId5" Type="http://schemas.openxmlformats.org/officeDocument/2006/relationships/image" Target="../media/image499.png"/><Relationship Id="rId6" Type="http://schemas.openxmlformats.org/officeDocument/2006/relationships/image" Target="../media/image500.png"/><Relationship Id="rId7" Type="http://schemas.openxmlformats.org/officeDocument/2006/relationships/image" Target="../media/image501.png"/><Relationship Id="rId8" Type="http://schemas.openxmlformats.org/officeDocument/2006/relationships/image" Target="../media/image502.png"/><Relationship Id="rId9" Type="http://schemas.openxmlformats.org/officeDocument/2006/relationships/image" Target="../media/image242.png"/><Relationship Id="rId10" Type="http://schemas.openxmlformats.org/officeDocument/2006/relationships/image" Target="../media/image2.png"/></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86.xml"/><Relationship Id="rId4" Type="http://schemas.openxmlformats.org/officeDocument/2006/relationships/chart" Target="../charts/chart87.xml"/><Relationship Id="rId5" Type="http://schemas.openxmlformats.org/officeDocument/2006/relationships/notesSlide" Target="../notesSlides/notesSlide129.xml"/><Relationship Id="rId6" Type="http://schemas.openxmlformats.org/officeDocument/2006/relationships/image" Target="../media/image2.png"/></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88.xml"/><Relationship Id="rId4" Type="http://schemas.openxmlformats.org/officeDocument/2006/relationships/chart" Target="../charts/chart89.xml"/><Relationship Id="rId5" Type="http://schemas.openxmlformats.org/officeDocument/2006/relationships/notesSlide" Target="../notesSlides/notesSlide130.xml"/><Relationship Id="rId6" Type="http://schemas.openxmlformats.org/officeDocument/2006/relationships/image" Target="../media/image2.png"/></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2.xml"/><Relationship Id="rId4" Type="http://schemas.openxmlformats.org/officeDocument/2006/relationships/image" Target="../media/image2.png"/></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90.xml"/><Relationship Id="rId4" Type="http://schemas.openxmlformats.org/officeDocument/2006/relationships/notesSlide" Target="../notesSlides/notesSlide133.xml"/><Relationship Id="rId5" Type="http://schemas.openxmlformats.org/officeDocument/2006/relationships/image" Target="../media/image2.png"/></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6.xml"/><Relationship Id="rId4" Type="http://schemas.openxmlformats.org/officeDocument/2006/relationships/image" Target="../media/image513.png"/><Relationship Id="rId5" Type="http://schemas.openxmlformats.org/officeDocument/2006/relationships/image" Target="../media/image514.png"/><Relationship Id="rId6" Type="http://schemas.openxmlformats.org/officeDocument/2006/relationships/image" Target="../media/image515.png"/><Relationship Id="rId7" Type="http://schemas.openxmlformats.org/officeDocument/2006/relationships/image" Target="../media/image516.png"/><Relationship Id="rId8" Type="http://schemas.openxmlformats.org/officeDocument/2006/relationships/image" Target="../media/image517.png"/><Relationship Id="rId9" Type="http://schemas.openxmlformats.org/officeDocument/2006/relationships/image" Target="../media/image518.png"/><Relationship Id="rId10" Type="http://schemas.openxmlformats.org/officeDocument/2006/relationships/image" Target="../media/image519.png"/><Relationship Id="rId11" Type="http://schemas.openxmlformats.org/officeDocument/2006/relationships/image" Target="../media/image520.png"/><Relationship Id="rId12" Type="http://schemas.openxmlformats.org/officeDocument/2006/relationships/image" Target="../media/image521.png"/><Relationship Id="rId13" Type="http://schemas.openxmlformats.org/officeDocument/2006/relationships/image" Target="../media/image522.png"/><Relationship Id="rId14" Type="http://schemas.openxmlformats.org/officeDocument/2006/relationships/image" Target="../media/image523.png"/><Relationship Id="rId15" Type="http://schemas.openxmlformats.org/officeDocument/2006/relationships/image" Target="../media/image524.png"/><Relationship Id="rId16" Type="http://schemas.openxmlformats.org/officeDocument/2006/relationships/image" Target="../media/image525.png"/><Relationship Id="rId17" Type="http://schemas.openxmlformats.org/officeDocument/2006/relationships/image" Target="../media/image526.png"/><Relationship Id="rId18" Type="http://schemas.openxmlformats.org/officeDocument/2006/relationships/image" Target="../media/image527.png"/><Relationship Id="rId19" Type="http://schemas.openxmlformats.org/officeDocument/2006/relationships/image" Target="../media/image528.png"/><Relationship Id="rId20" Type="http://schemas.openxmlformats.org/officeDocument/2006/relationships/image" Target="../media/image529.png"/><Relationship Id="rId21" Type="http://schemas.openxmlformats.org/officeDocument/2006/relationships/image" Target="../media/image436.png"/><Relationship Id="rId22" Type="http://schemas.openxmlformats.org/officeDocument/2006/relationships/image" Target="../media/image2.png"/></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91.xml"/><Relationship Id="rId4" Type="http://schemas.openxmlformats.org/officeDocument/2006/relationships/chart" Target="../charts/chart92.xml"/><Relationship Id="rId5" Type="http://schemas.openxmlformats.org/officeDocument/2006/relationships/notesSlide" Target="../notesSlides/notesSlide137.xml"/><Relationship Id="rId6" Type="http://schemas.openxmlformats.org/officeDocument/2006/relationships/image" Target="../media/image2.png"/></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93.xml"/><Relationship Id="rId4" Type="http://schemas.openxmlformats.org/officeDocument/2006/relationships/chart" Target="../charts/chart94.xml"/><Relationship Id="rId5" Type="http://schemas.openxmlformats.org/officeDocument/2006/relationships/chart" Target="../charts/chart95.xml"/><Relationship Id="rId6" Type="http://schemas.openxmlformats.org/officeDocument/2006/relationships/chart" Target="../charts/chart96.xml"/><Relationship Id="rId7" Type="http://schemas.openxmlformats.org/officeDocument/2006/relationships/notesSlide" Target="../notesSlides/notesSlide138.xml"/><Relationship Id="rId8" Type="http://schemas.openxmlformats.org/officeDocument/2006/relationships/image" Target="../media/image2.png"/></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97.xml"/><Relationship Id="rId4" Type="http://schemas.openxmlformats.org/officeDocument/2006/relationships/chart" Target="../charts/chart98.xml"/><Relationship Id="rId5" Type="http://schemas.openxmlformats.org/officeDocument/2006/relationships/notesSlide" Target="../notesSlides/notesSlide139.xml"/><Relationship Id="rId6" Type="http://schemas.openxmlformats.org/officeDocument/2006/relationships/image" Target="../media/image2.png"/></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2.xml"/><Relationship Id="rId4" Type="http://schemas.openxmlformats.org/officeDocument/2006/relationships/image" Target="../media/image2.png"/></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3.xml"/><Relationship Id="rId4" Type="http://schemas.openxmlformats.org/officeDocument/2006/relationships/image" Target="../media/image2.png"/></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99.xml"/><Relationship Id="rId4" Type="http://schemas.openxmlformats.org/officeDocument/2006/relationships/notesSlide" Target="../notesSlides/notesSlide144.xml"/><Relationship Id="rId5" Type="http://schemas.openxmlformats.org/officeDocument/2006/relationships/image" Target="../media/image2.png"/></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9.xml"/><Relationship Id="rId4" Type="http://schemas.openxmlformats.org/officeDocument/2006/relationships/image" Target="../media/image560.png"/><Relationship Id="rId5" Type="http://schemas.openxmlformats.org/officeDocument/2006/relationships/image" Target="../media/image561.png"/><Relationship Id="rId6" Type="http://schemas.openxmlformats.org/officeDocument/2006/relationships/image" Target="../media/image62.png"/><Relationship Id="rId7" Type="http://schemas.openxmlformats.org/officeDocument/2006/relationships/image" Target="../media/image562.png"/><Relationship Id="rId8" Type="http://schemas.openxmlformats.org/officeDocument/2006/relationships/image" Target="../media/image563.png"/><Relationship Id="rId9" Type="http://schemas.openxmlformats.org/officeDocument/2006/relationships/image" Target="../media/image109.png"/><Relationship Id="rId10" Type="http://schemas.openxmlformats.org/officeDocument/2006/relationships/image" Target="../media/image2.png"/></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00.xml"/><Relationship Id="rId4" Type="http://schemas.openxmlformats.org/officeDocument/2006/relationships/chart" Target="../charts/chart101.xml"/><Relationship Id="rId5" Type="http://schemas.openxmlformats.org/officeDocument/2006/relationships/notesSlide" Target="../notesSlides/notesSlide150.xml"/><Relationship Id="rId6" Type="http://schemas.openxmlformats.org/officeDocument/2006/relationships/image" Target="../media/image2.png"/></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02.xml"/><Relationship Id="rId4" Type="http://schemas.openxmlformats.org/officeDocument/2006/relationships/chart" Target="../charts/chart103.xml"/><Relationship Id="rId5" Type="http://schemas.openxmlformats.org/officeDocument/2006/relationships/notesSlide" Target="../notesSlides/notesSlide151.xml"/><Relationship Id="rId6" Type="http://schemas.openxmlformats.org/officeDocument/2006/relationships/image" Target="../media/image2.png"/></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3.xml"/><Relationship Id="rId4" Type="http://schemas.openxmlformats.org/officeDocument/2006/relationships/image" Target="../media/image2.png"/></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04.xml"/><Relationship Id="rId4" Type="http://schemas.openxmlformats.org/officeDocument/2006/relationships/notesSlide" Target="../notesSlides/notesSlide154.xml"/><Relationship Id="rId5" Type="http://schemas.openxmlformats.org/officeDocument/2006/relationships/image" Target="../media/image2.png"/></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7.xml"/><Relationship Id="rId4" Type="http://schemas.openxmlformats.org/officeDocument/2006/relationships/image" Target="../media/image2.png"/></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05.xml"/><Relationship Id="rId4" Type="http://schemas.openxmlformats.org/officeDocument/2006/relationships/notesSlide" Target="../notesSlides/notesSlide158.xml"/><Relationship Id="rId5" Type="http://schemas.openxmlformats.org/officeDocument/2006/relationships/image" Target="../media/image2.png"/></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9.xml"/><Relationship Id="rId4" Type="http://schemas.openxmlformats.org/officeDocument/2006/relationships/image" Target="../media/image2.png"/></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0.xml"/><Relationship Id="rId4" Type="http://schemas.openxmlformats.org/officeDocument/2006/relationships/image" Target="../media/image2.png"/></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1.xml"/><Relationship Id="rId4" Type="http://schemas.openxmlformats.org/officeDocument/2006/relationships/image" Target="../media/image2.png"/></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2.xml"/><Relationship Id="rId4" Type="http://schemas.openxmlformats.org/officeDocument/2006/relationships/image" Target="../media/image2.png"/></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06.xml"/><Relationship Id="rId4" Type="http://schemas.openxmlformats.org/officeDocument/2006/relationships/notesSlide" Target="../notesSlides/notesSlide163.xml"/><Relationship Id="rId5" Type="http://schemas.openxmlformats.org/officeDocument/2006/relationships/image" Target="../media/image2.png"/></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4.xml"/><Relationship Id="rId4" Type="http://schemas.openxmlformats.org/officeDocument/2006/relationships/image" Target="../media/image2.png"/></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5.xml"/><Relationship Id="rId4" Type="http://schemas.openxmlformats.org/officeDocument/2006/relationships/image" Target="../media/image2.png"/></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6.xml"/><Relationship Id="rId4" Type="http://schemas.openxmlformats.org/officeDocument/2006/relationships/image" Target="../media/image2.png"/></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7.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07.xml"/><Relationship Id="rId4" Type="http://schemas.openxmlformats.org/officeDocument/2006/relationships/chart" Target="../charts/chart108.xml"/><Relationship Id="rId5" Type="http://schemas.openxmlformats.org/officeDocument/2006/relationships/chart" Target="../charts/chart109.xml"/><Relationship Id="rId6" Type="http://schemas.openxmlformats.org/officeDocument/2006/relationships/chart" Target="../charts/chart110.xml"/><Relationship Id="rId7" Type="http://schemas.openxmlformats.org/officeDocument/2006/relationships/notesSlide" Target="../notesSlides/notesSlide168.xml"/><Relationship Id="rId8" Type="http://schemas.openxmlformats.org/officeDocument/2006/relationships/image" Target="../media/image2.png"/></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11.xml"/><Relationship Id="rId4" Type="http://schemas.openxmlformats.org/officeDocument/2006/relationships/chart" Target="../charts/chart112.xml"/><Relationship Id="rId5" Type="http://schemas.openxmlformats.org/officeDocument/2006/relationships/chart" Target="../charts/chart113.xml"/><Relationship Id="rId6" Type="http://schemas.openxmlformats.org/officeDocument/2006/relationships/chart" Target="../charts/chart114.xml"/><Relationship Id="rId7" Type="http://schemas.openxmlformats.org/officeDocument/2006/relationships/notesSlide" Target="../notesSlides/notesSlide169.xml"/><Relationship Id="rId8" Type="http://schemas.openxmlformats.org/officeDocument/2006/relationships/image" Target="../media/image2.png"/></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15.xml"/><Relationship Id="rId4" Type="http://schemas.openxmlformats.org/officeDocument/2006/relationships/chart" Target="../charts/chart116.xml"/><Relationship Id="rId5" Type="http://schemas.openxmlformats.org/officeDocument/2006/relationships/chart" Target="../charts/chart117.xml"/><Relationship Id="rId6" Type="http://schemas.openxmlformats.org/officeDocument/2006/relationships/chart" Target="../charts/chart118.xml"/><Relationship Id="rId7" Type="http://schemas.openxmlformats.org/officeDocument/2006/relationships/chart" Target="../charts/chart119.xml"/><Relationship Id="rId8" Type="http://schemas.openxmlformats.org/officeDocument/2006/relationships/chart" Target="../charts/chart120.xml"/><Relationship Id="rId9" Type="http://schemas.openxmlformats.org/officeDocument/2006/relationships/notesSlide" Target="../notesSlides/notesSlide170.xml"/><Relationship Id="rId10" Type="http://schemas.openxmlformats.org/officeDocument/2006/relationships/image" Target="../media/image2.png"/></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21.xml"/><Relationship Id="rId4" Type="http://schemas.openxmlformats.org/officeDocument/2006/relationships/chart" Target="../charts/chart122.xml"/><Relationship Id="rId5" Type="http://schemas.openxmlformats.org/officeDocument/2006/relationships/notesSlide" Target="../notesSlides/notesSlide171.xml"/><Relationship Id="rId6" Type="http://schemas.openxmlformats.org/officeDocument/2006/relationships/image" Target="../media/image2.png"/></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2.xml"/><Relationship Id="rId4" Type="http://schemas.openxmlformats.org/officeDocument/2006/relationships/image" Target="../media/image2.png"/></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23.xml"/><Relationship Id="rId4" Type="http://schemas.openxmlformats.org/officeDocument/2006/relationships/chart" Target="../charts/chart124.xml"/><Relationship Id="rId5" Type="http://schemas.openxmlformats.org/officeDocument/2006/relationships/notesSlide" Target="../notesSlides/notesSlide174.xml"/><Relationship Id="rId6" Type="http://schemas.openxmlformats.org/officeDocument/2006/relationships/image" Target="../media/image2.png"/></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5.xml"/><Relationship Id="rId4" Type="http://schemas.openxmlformats.org/officeDocument/2006/relationships/image" Target="../media/image2.png"/></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25.xml"/><Relationship Id="rId4" Type="http://schemas.openxmlformats.org/officeDocument/2006/relationships/chart" Target="../charts/chart126.xml"/><Relationship Id="rId5" Type="http://schemas.openxmlformats.org/officeDocument/2006/relationships/notesSlide" Target="../notesSlides/notesSlide177.xml"/><Relationship Id="rId6" Type="http://schemas.openxmlformats.org/officeDocument/2006/relationships/image" Target="../media/image2.png"/></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8.xml"/><Relationship Id="rId4" Type="http://schemas.openxmlformats.org/officeDocument/2006/relationships/image" Target="../media/image2.png"/></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27.xml"/><Relationship Id="rId4" Type="http://schemas.openxmlformats.org/officeDocument/2006/relationships/chart" Target="../charts/chart128.xml"/><Relationship Id="rId5" Type="http://schemas.openxmlformats.org/officeDocument/2006/relationships/notesSlide" Target="../notesSlides/notesSlide180.xml"/><Relationship Id="rId6" Type="http://schemas.openxmlformats.org/officeDocument/2006/relationships/image" Target="../media/image2.png"/></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1.xml"/><Relationship Id="rId4" Type="http://schemas.openxmlformats.org/officeDocument/2006/relationships/image" Target="../media/image2.png"/></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29.xml"/><Relationship Id="rId4" Type="http://schemas.openxmlformats.org/officeDocument/2006/relationships/chart" Target="../charts/chart130.xml"/><Relationship Id="rId5" Type="http://schemas.openxmlformats.org/officeDocument/2006/relationships/notesSlide" Target="../notesSlides/notesSlide183.xml"/><Relationship Id="rId6" Type="http://schemas.openxmlformats.org/officeDocument/2006/relationships/image" Target="../media/image2.png"/></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5.xml"/><Relationship Id="rId4" Type="http://schemas.openxmlformats.org/officeDocument/2006/relationships/image" Target="../media/image2.png"/></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31.xml"/><Relationship Id="rId4" Type="http://schemas.openxmlformats.org/officeDocument/2006/relationships/chart" Target="../charts/chart132.xml"/><Relationship Id="rId5" Type="http://schemas.openxmlformats.org/officeDocument/2006/relationships/notesSlide" Target="../notesSlides/notesSlide188.xml"/><Relationship Id="rId6" Type="http://schemas.openxmlformats.org/officeDocument/2006/relationships/image" Target="../media/image2.png"/></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9.xml"/><Relationship Id="rId4" Type="http://schemas.openxmlformats.org/officeDocument/2006/relationships/image" Target="../media/image2.png"/></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1.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2.xml"/><Relationship Id="rId4" Type="http://schemas.openxmlformats.org/officeDocument/2006/relationships/image" Target="../media/image2.png"/></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33.xml"/><Relationship Id="rId4" Type="http://schemas.openxmlformats.org/officeDocument/2006/relationships/chart" Target="../charts/chart134.xml"/><Relationship Id="rId5" Type="http://schemas.openxmlformats.org/officeDocument/2006/relationships/notesSlide" Target="../notesSlides/notesSlide193.xml"/><Relationship Id="rId6" Type="http://schemas.openxmlformats.org/officeDocument/2006/relationships/image" Target="../media/image2.png"/></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35.xml"/><Relationship Id="rId4" Type="http://schemas.openxmlformats.org/officeDocument/2006/relationships/notesSlide" Target="../notesSlides/notesSlide194.xml"/><Relationship Id="rId5" Type="http://schemas.openxmlformats.org/officeDocument/2006/relationships/image" Target="../media/image2.png"/></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36.xml"/><Relationship Id="rId4" Type="http://schemas.openxmlformats.org/officeDocument/2006/relationships/notesSlide" Target="../notesSlides/notesSlide195.xml"/><Relationship Id="rId5" Type="http://schemas.openxmlformats.org/officeDocument/2006/relationships/image" Target="../media/image2.png"/></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6.xml"/><Relationship Id="rId4" Type="http://schemas.openxmlformats.org/officeDocument/2006/relationships/image" Target="../media/image2.png"/></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7.xml"/><Relationship Id="rId4" Type="http://schemas.openxmlformats.org/officeDocument/2006/relationships/image" Target="../media/image2.png"/></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8.xml"/><Relationship Id="rId4" Type="http://schemas.openxmlformats.org/officeDocument/2006/relationships/image" Target="../media/image2.png"/></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9.xml"/><Relationship Id="rId4" Type="http://schemas.openxmlformats.org/officeDocument/2006/relationships/image" Target="../media/image2.png"/></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0.xml"/><Relationship Id="rId4" Type="http://schemas.openxmlformats.org/officeDocument/2006/relationships/image" Target="../media/image2.png"/></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1.xml"/><Relationship Id="rId4" Type="http://schemas.openxmlformats.org/officeDocument/2006/relationships/image" Target="../media/image2.png"/></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2.xml"/><Relationship Id="rId4" Type="http://schemas.openxmlformats.org/officeDocument/2006/relationships/image" Target="../media/image2.png"/></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3.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4.xml"/><Relationship Id="rId4" Type="http://schemas.openxmlformats.org/officeDocument/2006/relationships/image" Target="../media/image2.png"/></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5.xml"/><Relationship Id="rId4" Type="http://schemas.openxmlformats.org/officeDocument/2006/relationships/image" Target="../media/image2.png"/></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6.xml"/><Relationship Id="rId4" Type="http://schemas.openxmlformats.org/officeDocument/2006/relationships/image" Target="../media/image2.png"/></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7.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8.xml"/><Relationship Id="rId4" Type="http://schemas.openxmlformats.org/officeDocument/2006/relationships/image" Target="../media/image2.png"/></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9.xml"/><Relationship Id="rId4" Type="http://schemas.openxmlformats.org/officeDocument/2006/relationships/image" Target="../media/image2.png"/></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0.xml"/><Relationship Id="rId4" Type="http://schemas.openxmlformats.org/officeDocument/2006/relationships/image" Target="../media/image2.png"/></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1.xml"/><Relationship Id="rId4" Type="http://schemas.openxmlformats.org/officeDocument/2006/relationships/image" Target="../media/image2.png"/></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2.xml"/><Relationship Id="rId4" Type="http://schemas.openxmlformats.org/officeDocument/2006/relationships/image" Target="../media/image2.png"/></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3.xml"/><Relationship Id="rId4" Type="http://schemas.openxmlformats.org/officeDocument/2006/relationships/image" Target="../media/image2.png"/></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4.xml"/><Relationship Id="rId4" Type="http://schemas.openxmlformats.org/officeDocument/2006/relationships/image" Target="../media/image2.png"/></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5.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29.xml"/><Relationship Id="rId4" Type="http://schemas.openxmlformats.org/officeDocument/2006/relationships/image" Target="../media/image2.png"/></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37.xml"/><Relationship Id="rId4" Type="http://schemas.openxmlformats.org/officeDocument/2006/relationships/notesSlide" Target="../notesSlides/notesSlide230.xml"/><Relationship Id="rId5" Type="http://schemas.openxmlformats.org/officeDocument/2006/relationships/image" Target="../media/image2.png"/></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38.xml"/><Relationship Id="rId4" Type="http://schemas.openxmlformats.org/officeDocument/2006/relationships/chart" Target="../charts/chart139.xml"/><Relationship Id="rId5" Type="http://schemas.openxmlformats.org/officeDocument/2006/relationships/chart" Target="../charts/chart140.xml"/><Relationship Id="rId6" Type="http://schemas.openxmlformats.org/officeDocument/2006/relationships/notesSlide" Target="../notesSlides/notesSlide231.xml"/><Relationship Id="rId7" Type="http://schemas.openxmlformats.org/officeDocument/2006/relationships/image" Target="../media/image2.png"/></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41.xml"/><Relationship Id="rId4" Type="http://schemas.openxmlformats.org/officeDocument/2006/relationships/chart" Target="../charts/chart142.xml"/><Relationship Id="rId5" Type="http://schemas.openxmlformats.org/officeDocument/2006/relationships/chart" Target="../charts/chart143.xml"/><Relationship Id="rId6" Type="http://schemas.openxmlformats.org/officeDocument/2006/relationships/notesSlide" Target="../notesSlides/notesSlide232.xml"/><Relationship Id="rId7" Type="http://schemas.openxmlformats.org/officeDocument/2006/relationships/image" Target="../media/image2.png"/></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33.xml"/><Relationship Id="rId4" Type="http://schemas.openxmlformats.org/officeDocument/2006/relationships/image" Target="../media/image2.png"/></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44.xml"/><Relationship Id="rId4" Type="http://schemas.openxmlformats.org/officeDocument/2006/relationships/chart" Target="../charts/chart145.xml"/><Relationship Id="rId5" Type="http://schemas.openxmlformats.org/officeDocument/2006/relationships/chart" Target="../charts/chart146.xml"/><Relationship Id="rId6" Type="http://schemas.openxmlformats.org/officeDocument/2006/relationships/notesSlide" Target="../notesSlides/notesSlide234.xml"/><Relationship Id="rId7" Type="http://schemas.openxmlformats.org/officeDocument/2006/relationships/image" Target="../media/image2.png"/></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47.xml"/><Relationship Id="rId4" Type="http://schemas.openxmlformats.org/officeDocument/2006/relationships/notesSlide" Target="../notesSlides/notesSlide235.xml"/><Relationship Id="rId5" Type="http://schemas.openxmlformats.org/officeDocument/2006/relationships/image" Target="../media/image2.png"/></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36.xml"/><Relationship Id="rId4" Type="http://schemas.openxmlformats.org/officeDocument/2006/relationships/image" Target="../media/image2.png"/></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37.xml"/><Relationship Id="rId4" Type="http://schemas.openxmlformats.org/officeDocument/2006/relationships/image" Target="../media/image2.png"/></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38.xml"/><Relationship Id="rId4" Type="http://schemas.openxmlformats.org/officeDocument/2006/relationships/image" Target="../media/image2.png"/></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6.xml"/><Relationship Id="rId4" Type="http://schemas.openxmlformats.org/officeDocument/2006/relationships/image" Target="../media/image2.png"/></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7.xml"/><Relationship Id="rId4" Type="http://schemas.openxmlformats.org/officeDocument/2006/relationships/image" Target="../media/image2.png"/></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8.xml"/><Relationship Id="rId4" Type="http://schemas.openxmlformats.org/officeDocument/2006/relationships/image" Target="../media/image2.png"/></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9.xml"/><Relationship Id="rId4" Type="http://schemas.openxmlformats.org/officeDocument/2006/relationships/image" Target="../media/image2.png"/></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20.xml"/><Relationship Id="rId4" Type="http://schemas.openxmlformats.org/officeDocument/2006/relationships/image" Target="../media/image2.png"/></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21.xml"/><Relationship Id="rId4" Type="http://schemas.openxmlformats.org/officeDocument/2006/relationships/image" Target="../media/image2.png"/></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22.xml"/><Relationship Id="rId4" Type="http://schemas.openxmlformats.org/officeDocument/2006/relationships/image" Target="../media/image2.png"/></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23.xml"/><Relationship Id="rId4" Type="http://schemas.openxmlformats.org/officeDocument/2006/relationships/image" Target="../media/image2.png"/></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24.xml"/><Relationship Id="rId4" Type="http://schemas.openxmlformats.org/officeDocument/2006/relationships/image" Target="../media/image2.png"/></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25.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26.xml"/><Relationship Id="rId4" Type="http://schemas.openxmlformats.org/officeDocument/2006/relationships/image" Target="../media/image2.png"/></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27.xml"/><Relationship Id="rId4" Type="http://schemas.openxmlformats.org/officeDocument/2006/relationships/image" Target="../media/image2.png"/></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28.xml"/><Relationship Id="rId4" Type="http://schemas.openxmlformats.org/officeDocument/2006/relationships/image" Target="../media/image2.png"/></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70.jpg"/><Relationship Id="rId3" Type="http://schemas.openxmlformats.org/officeDocument/2006/relationships/image" Target="../media/image67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pic>
        <p:nvPicPr>
          <p:cNvPr id="3" name="Picture 17">
            <a:extLst>
              <a:ext uri="{FF2B5EF4-FFF2-40B4-BE49-F238E27FC236}">
                <a16:creationId xmlns:a16="http://schemas.microsoft.com/office/drawing/2014/main" id="{A0C23977-F6BF-1BE4-6D85-57D27DB65745}"/>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540" r="6551"/>
          <a:stretch/>
        </p:blipFill>
        <p:spPr>
          <a:xfrm>
            <a:off x="0" y="-1"/>
            <a:ext cx="12192000" cy="6858000"/>
          </a:xfrm>
          <a:prstGeom prst="rect">
            <a:avLst/>
          </a:prstGeom>
        </p:spPr>
      </p:pic>
      <p:pic>
        <p:nvPicPr>
          <p:cNvPr id="4" name="Picture 1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628811" y="117564"/>
            <a:ext cx="1563189" cy="1172392"/>
          </a:xfrm>
          <a:prstGeom prst="rect">
            <a:avLst/>
          </a:prstGeom>
        </p:spPr>
      </p:pic>
      <p:sp>
        <p:nvSpPr>
          <p:cNvPr id="5" name="Rectangle 19"/>
          <p:cNvSpPr/>
          <p:nvPr userDrawn="1"/>
        </p:nvSpPr>
        <p:spPr bwMode="gray">
          <a:xfrm>
            <a:off x="161109" y="6503175"/>
            <a:ext cx="3372718" cy="169277"/>
          </a:xfrm>
          <a:prstGeom prst="rect">
            <a:avLst/>
          </a:prstGeom>
        </p:spPr>
        <p:txBody>
          <a:bodyPr wrap="none" lIns="0" tIns="0" rIns="0" bIns="0">
            <a:spAutoFit/>
          </a:bodyPr>
          <a:lstStyle/>
          <a:p>
            <a:pPr algn="l">
              <a:spcBef>
                <a:spcPts val="200"/>
              </a:spcBef>
              <a:spcAft>
                <a:spcPts val="200"/>
              </a:spcAft>
              <a:tabLst>
                <a:tab pos="931344" algn="l"/>
              </a:tabLst>
              <a:defRPr/>
            </a:pPr>
            <a:r>
              <a:rPr lang="en-US" sz="1100" dirty="0">
                <a:solidFill>
                  <a:srgbClr val="000000"/>
                </a:solidFill>
                <a:ea typeface="ＭＳ Ｐゴシック" charset="0"/>
              </a:rPr>
              <a:t>©2026 Transparency Market Research, All Rights Reserved</a:t>
            </a:r>
            <a:endParaRPr lang="en-GB" sz="1100" dirty="0">
              <a:solidFill>
                <a:srgbClr val="000000"/>
              </a:solidFill>
              <a:ea typeface="ＭＳ Ｐゴシック" charset="0"/>
            </a:endParaRPr>
          </a:p>
        </p:txBody>
      </p:sp>
      <p:sp>
        <p:nvSpPr>
          <p:cNvPr id="6" name="Cover bottom line"/>
          <p:cNvSpPr/>
          <p:nvPr/>
        </p:nvSpPr>
        <p:spPr>
          <a:xfrm>
            <a:off x="8622792" y="6172200"/>
            <a:ext cx="2651760" cy="22860"/>
          </a:xfrm>
          <a:prstGeom prst="rect">
            <a:avLst/>
          </a:prstGeom>
          <a:solidFill>
            <a:srgbClr val="3F7396"/>
          </a:solidFill>
          <a:ln>
            <a:noFill/>
          </a:ln>
        </p:spPr>
        <p:style>
          <a:lnRef idx="1">
            <a:srgbClr val="2A5F8F"/>
          </a:lnRef>
          <a:fillRef idx="3">
            <a:srgbClr val="2A5F8F"/>
          </a:fillRef>
          <a:effectRef idx="2">
            <a:srgbClr val="2A5F8F"/>
          </a:effectRef>
          <a:fontRef idx="minor">
            <a:srgbClr val="FFFFFF"/>
          </a:fontRef>
        </p:style>
        <p:txBody>
          <a:bodyPr rtlCol="0" anchor="ctr"/>
          <a:lstStyle/>
          <a:p>
            <a:pPr algn="ctr"/>
            <a:endParaRPr/>
          </a:p>
        </p:txBody>
      </p:sp>
      <p:sp>
        <p:nvSpPr>
          <p:cNvPr id="7" name="Title 1">
            <a:extLst>
              <a:ext uri="{FF2B5EF4-FFF2-40B4-BE49-F238E27FC236}">
                <a16:creationId xmlns:a16="http://schemas.microsoft.com/office/drawing/2014/main" id="{C7021366-A59A-8F49-E457-CE02C74158AB}"/>
              </a:ext>
            </a:extLst>
          </p:cNvPr>
          <p:cNvSpPr>
            <a:spLocks noGrp="1"/>
          </p:cNvSpPr>
          <p:nvPr/>
        </p:nvSpPr>
        <p:spPr bwMode="gray">
          <a:xfrm>
            <a:off x="2887038" y="1480455"/>
            <a:ext cx="9216989" cy="2114377"/>
          </a:xfrm>
        </p:spPr>
        <p:txBody>
          <a:bodyPr anchor="b">
            <a:noAutofit/>
          </a:bodyPr>
          <a:lstStyle>
            <a:lvl1pPr algn="l">
              <a:defRPr sz="3600" b="1">
                <a:solidFill>
                  <a:sysClr val="windowText" lastClr="000000"/>
                </a:solidFill>
                <a:latin typeface="Calibri" panose="020F0502020204030204" pitchFamily="34" charset="0"/>
                <a:cs typeface="Calibri" panose="020F0502020204030204" pitchFamily="34" charset="0"/>
              </a:defRPr>
            </a:lvl1pPr>
          </a:lstStyle>
          <a:p>
            <a:r>
              <a:rPr lang="en-US" noProof="0" dirty="0" sz="3600"/>
              <a:t>Egg Protein Membrane Market</a:t>
            </a:r>
            <a:endParaRPr lang="en-GB" noProof="0" dirty="0"/>
          </a:p>
        </p:txBody>
      </p:sp>
      <p:sp>
        <p:nvSpPr>
          <p:cNvPr id="8" name="Subtitle 2">
            <a:extLst>
              <a:ext uri="{FF2B5EF4-FFF2-40B4-BE49-F238E27FC236}">
                <a16:creationId xmlns:a16="http://schemas.microsoft.com/office/drawing/2014/main" id="{892EDD5C-8176-C4BE-C570-D3D16C8D35E6}"/>
              </a:ext>
            </a:extLst>
          </p:cNvPr>
          <p:cNvSpPr>
            <a:spLocks noGrp="1"/>
          </p:cNvSpPr>
          <p:nvPr/>
        </p:nvSpPr>
        <p:spPr bwMode="gray">
          <a:xfrm>
            <a:off x="2887038" y="3612121"/>
            <a:ext cx="9216989" cy="898917"/>
          </a:xfrm>
        </p:spPr>
        <p:txBody>
          <a:bodyPr>
            <a:noAutofit/>
          </a:bodyPr>
          <a:lstStyle>
            <a:lvl1pPr marL="0" indent="0" algn="l">
              <a:buNone/>
              <a:defRPr sz="1800">
                <a:solidFill>
                  <a:sysClr val="windowText" lastClr="000000"/>
                </a:solidFill>
                <a:latin typeface="Calibri" panose="020F0502020204030204" pitchFamily="34" charset="0"/>
                <a:cs typeface="Calibri" panose="020F0502020204030204" pitchFamily="34" charset="0"/>
              </a:defRPr>
            </a:lvl1pPr>
            <a:lvl2pPr marL="457196" indent="0" algn="ctr">
              <a:buNone/>
              <a:defRPr sz="2000"/>
            </a:lvl2pPr>
            <a:lvl3pPr marL="914391" indent="0" algn="ctr">
              <a:buNone/>
              <a:defRPr sz="1800"/>
            </a:lvl3pPr>
            <a:lvl4pPr marL="1371587" indent="0" algn="ctr">
              <a:buNone/>
              <a:defRPr sz="1600"/>
            </a:lvl4pPr>
            <a:lvl5pPr marL="1828783" indent="0" algn="ctr">
              <a:buNone/>
              <a:defRPr sz="1600"/>
            </a:lvl5pPr>
            <a:lvl6pPr marL="2285978" indent="0" algn="ctr">
              <a:buNone/>
              <a:defRPr sz="1600"/>
            </a:lvl6pPr>
            <a:lvl7pPr marL="2743174" indent="0" algn="ctr">
              <a:buNone/>
              <a:defRPr sz="1600"/>
            </a:lvl7pPr>
            <a:lvl8pPr marL="3200370" indent="0" algn="ctr">
              <a:buNone/>
              <a:defRPr sz="1600"/>
            </a:lvl8pPr>
            <a:lvl9pPr marL="3657565" indent="0" algn="ctr">
              <a:buNone/>
              <a:defRPr sz="1600"/>
            </a:lvl9pPr>
          </a:lstStyle>
          <a:p>
            <a:r>
              <a:rPr lang="en-US" sz="2000" noProof="0" dirty="0"/>
              <a:t>Global Industry Analysis 2021–2025 and Opportunity Assessment, 2026–2036</a:t>
            </a:r>
            <a:endParaRPr lang="en-GB" sz="2000" noProof="0" dirty="0"/>
          </a:p>
        </p:txBody>
      </p:sp>
      <p:sp>
        <p:nvSpPr>
          <p:cNvPr id="8" name="Front Page Tag">
            <a:extLst>
              <a:ext uri="{FF2B5EF4-FFF2-40B4-BE49-F238E27FC236}">
                <a16:creationId xmlns:a16="http://schemas.microsoft.com/office/drawing/2014/main" id="{892EDD5C-8176-C4BE-C570-D3D16C8D35E6}"/>
              </a:ext>
            </a:extLst>
          </p:cNvPr>
          <p:cNvSpPr>
            <a:spLocks noGrp="1"/>
          </p:cNvSpPr>
          <p:nvPr/>
        </p:nvSpPr>
        <p:spPr bwMode="gray">
          <a:xfrm>
            <a:off x="2887038" y="2450000"/>
            <a:ext cx="9216989" cy="898917"/>
          </a:xfrm>
        </p:spPr>
        <p:txBody>
          <a:bodyPr>
            <a:noAutofit/>
          </a:bodyPr>
          <a:lstStyle>
            <a:lvl1pPr marL="0" indent="0" algn="l">
              <a:buNone/>
              <a:defRPr sz="1800">
                <a:solidFill>
                  <a:sysClr val="windowText" lastClr="000000"/>
                </a:solidFill>
                <a:latin typeface="Calibri" panose="020F0502020204030204" pitchFamily="34" charset="0"/>
                <a:cs typeface="Calibri" panose="020F0502020204030204" pitchFamily="34" charset="0"/>
              </a:defRPr>
            </a:lvl1pPr>
            <a:lvl2pPr marL="457196" indent="0" algn="ctr">
              <a:buNone/>
              <a:defRPr sz="2000"/>
            </a:lvl2pPr>
            <a:lvl3pPr marL="914391" indent="0" algn="ctr">
              <a:buNone/>
              <a:defRPr sz="1800"/>
            </a:lvl3pPr>
            <a:lvl4pPr marL="1371587" indent="0" algn="ctr">
              <a:buNone/>
              <a:defRPr sz="1600"/>
            </a:lvl4pPr>
            <a:lvl5pPr marL="1828783" indent="0" algn="ctr">
              <a:buNone/>
              <a:defRPr sz="1600"/>
            </a:lvl5pPr>
            <a:lvl6pPr marL="2285978" indent="0" algn="ctr">
              <a:buNone/>
              <a:defRPr sz="1600"/>
            </a:lvl6pPr>
            <a:lvl7pPr marL="2743174" indent="0" algn="ctr">
              <a:buNone/>
              <a:defRPr sz="1600"/>
            </a:lvl7pPr>
            <a:lvl8pPr marL="3200370" indent="0" algn="ctr">
              <a:buNone/>
              <a:defRPr sz="1600"/>
            </a:lvl8pPr>
            <a:lvl9pPr marL="3657565" indent="0" algn="ctr">
              <a:buNone/>
              <a:defRPr sz="1600"/>
            </a:lvl9pPr>
          </a:lstStyle>
          <a:p>
            <a:r>
              <a:rPr lang="en-US" sz="2000" noProof="0" dirty="0" b="1">
                <a:solidFill>
                  <a:srgbClr val="0070C0"/>
                </a:solidFill>
              </a:rPr>
              <a:t>Sample Report | 2026</a:t>
            </a:r>
            <a:endParaRPr lang="en-GB" sz="2000" noProof="0" dirty="0"/>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Agenda</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Storyline of the report by section · click a section card to jump to it</a:t>
            </a:r>
          </a:p>
        </p:txBody>
      </p:sp>
      <p:sp>
        <p:nvSpPr>
          <p:cNvPr id="7" name="Rounded Rectangle 6">
            <a:hlinkClick action="ppaction://hlinksldjump" r:id="rId3"/>
          </p:cNvPr>
          <p:cNvSpPr/>
          <p:nvPr/>
        </p:nvSpPr>
        <p:spPr>
          <a:xfrm>
            <a:off x="314325" y="1135037"/>
            <a:ext cx="5657850" cy="295101"/>
          </a:xfrm>
          <a:prstGeom prst="roundRect">
            <a:avLst>
              <a:gd name="adj" fmla="val 24742"/>
            </a:avLst>
          </a:prstGeom>
          <a:solidFill>
            <a:srgbClr val="EBF2F9"/>
          </a:solidFill>
          <a:ln w="6350">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E2A5C"/>
                </a:solidFill>
                <a:latin typeface="Calibri"/>
              </a:rPr>
              <a:t>1. Market Signals</a:t>
            </a:r>
          </a:p>
        </p:txBody>
      </p:sp>
      <p:sp>
        <p:nvSpPr>
          <p:cNvPr id="8" name="Rounded Rectangle 7">
            <a:hlinkClick action="ppaction://hlinksldjump" r:id="rId4"/>
          </p:cNvPr>
          <p:cNvSpPr/>
          <p:nvPr/>
        </p:nvSpPr>
        <p:spPr>
          <a:xfrm>
            <a:off x="142875" y="1494026"/>
            <a:ext cx="5829300" cy="310313"/>
          </a:xfrm>
          <a:prstGeom prst="roundRect">
            <a:avLst>
              <a:gd name="adj" fmla="val 23529"/>
            </a:avLst>
          </a:prstGeom>
          <a:solidFill>
            <a:srgbClr val="EBF2F9"/>
          </a:solidFill>
          <a:ln w="12700">
            <a:solidFill>
              <a:srgbClr val="0E2A5C"/>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300" b="1">
                <a:solidFill>
                  <a:srgbClr val="0E2A5C"/>
                </a:solidFill>
                <a:latin typeface="Calibri"/>
              </a:rPr>
              <a:t>Market Overview</a:t>
            </a:r>
          </a:p>
        </p:txBody>
      </p:sp>
      <p:sp>
        <p:nvSpPr>
          <p:cNvPr id="9" name="Rounded Rectangle 8">
            <a:hlinkClick action="ppaction://hlinksldjump" r:id="rId5"/>
          </p:cNvPr>
          <p:cNvSpPr/>
          <p:nvPr/>
        </p:nvSpPr>
        <p:spPr>
          <a:xfrm>
            <a:off x="314325" y="1868227"/>
            <a:ext cx="5657850" cy="295101"/>
          </a:xfrm>
          <a:prstGeom prst="roundRect">
            <a:avLst>
              <a:gd name="adj" fmla="val 24742"/>
            </a:avLst>
          </a:prstGeom>
          <a:solidFill>
            <a:srgbClr val="EBF2F9"/>
          </a:solidFill>
          <a:ln w="6350">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E2A5C"/>
                </a:solidFill>
                <a:latin typeface="Calibri"/>
              </a:rPr>
              <a:t>2. Market Taxonomy</a:t>
            </a:r>
          </a:p>
        </p:txBody>
      </p:sp>
      <p:sp>
        <p:nvSpPr>
          <p:cNvPr id="10" name="Rounded Rectangle 9">
            <a:hlinkClick action="ppaction://hlinksldjump" r:id="rId6"/>
          </p:cNvPr>
          <p:cNvSpPr/>
          <p:nvPr/>
        </p:nvSpPr>
        <p:spPr>
          <a:xfrm>
            <a:off x="314325" y="2227216"/>
            <a:ext cx="5657850" cy="295101"/>
          </a:xfrm>
          <a:prstGeom prst="roundRect">
            <a:avLst>
              <a:gd name="adj" fmla="val 24742"/>
            </a:avLst>
          </a:prstGeom>
          <a:solidFill>
            <a:srgbClr val="EBF2F9"/>
          </a:solidFill>
          <a:ln w="6350">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E2A5C"/>
                </a:solidFill>
                <a:latin typeface="Calibri"/>
              </a:rPr>
              <a:t>3. Table of Contents</a:t>
            </a:r>
          </a:p>
        </p:txBody>
      </p:sp>
      <p:sp>
        <p:nvSpPr>
          <p:cNvPr id="11" name="Rounded Rectangle 10">
            <a:hlinkClick action="ppaction://hlinksldjump" r:id="rId7"/>
          </p:cNvPr>
          <p:cNvSpPr/>
          <p:nvPr/>
        </p:nvSpPr>
        <p:spPr>
          <a:xfrm>
            <a:off x="314325" y="2586205"/>
            <a:ext cx="5657850" cy="295101"/>
          </a:xfrm>
          <a:prstGeom prst="roundRect">
            <a:avLst>
              <a:gd name="adj" fmla="val 24742"/>
            </a:avLst>
          </a:prstGeom>
          <a:solidFill>
            <a:srgbClr val="EBF2F9"/>
          </a:solidFill>
          <a:ln w="6350">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E2A5C"/>
                </a:solidFill>
                <a:latin typeface="Calibri"/>
              </a:rPr>
              <a:t>4. List of Figures, List of Tables</a:t>
            </a:r>
          </a:p>
        </p:txBody>
      </p:sp>
      <p:sp>
        <p:nvSpPr>
          <p:cNvPr id="12" name="Rounded Rectangle 11">
            <a:hlinkClick action="ppaction://hlinksldjump" r:id="rId8"/>
          </p:cNvPr>
          <p:cNvSpPr/>
          <p:nvPr/>
        </p:nvSpPr>
        <p:spPr>
          <a:xfrm>
            <a:off x="142875" y="2945194"/>
            <a:ext cx="5829300" cy="310313"/>
          </a:xfrm>
          <a:prstGeom prst="roundRect">
            <a:avLst>
              <a:gd name="adj" fmla="val 23529"/>
            </a:avLst>
          </a:prstGeom>
          <a:solidFill>
            <a:srgbClr val="EBF2F9"/>
          </a:solidFill>
          <a:ln w="12700">
            <a:solidFill>
              <a:srgbClr val="0E2A5C"/>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300" b="1">
                <a:solidFill>
                  <a:srgbClr val="0E2A5C"/>
                </a:solidFill>
                <a:latin typeface="Calibri"/>
              </a:rPr>
              <a:t>Global Market Outlook</a:t>
            </a:r>
          </a:p>
        </p:txBody>
      </p:sp>
      <p:sp>
        <p:nvSpPr>
          <p:cNvPr id="13" name="Rounded Rectangle 12">
            <a:hlinkClick action="ppaction://hlinksldjump" r:id="rId9"/>
          </p:cNvPr>
          <p:cNvSpPr/>
          <p:nvPr/>
        </p:nvSpPr>
        <p:spPr>
          <a:xfrm>
            <a:off x="314325" y="3319395"/>
            <a:ext cx="5657850" cy="295101"/>
          </a:xfrm>
          <a:prstGeom prst="roundRect">
            <a:avLst>
              <a:gd name="adj" fmla="val 24742"/>
            </a:avLst>
          </a:prstGeom>
          <a:solidFill>
            <a:srgbClr val="EBF2F9"/>
          </a:solidFill>
          <a:ln w="6350">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E2A5C"/>
                </a:solidFill>
                <a:latin typeface="Calibri"/>
              </a:rPr>
              <a:t>5. Egg Protein Membrane Market Global Overview</a:t>
            </a:r>
          </a:p>
        </p:txBody>
      </p:sp>
      <p:sp>
        <p:nvSpPr>
          <p:cNvPr id="14" name="Rounded Rectangle 13">
            <a:hlinkClick action="ppaction://hlinksldjump" r:id="rId10"/>
          </p:cNvPr>
          <p:cNvSpPr/>
          <p:nvPr/>
        </p:nvSpPr>
        <p:spPr>
          <a:xfrm>
            <a:off x="314325" y="3678384"/>
            <a:ext cx="5657850" cy="295101"/>
          </a:xfrm>
          <a:prstGeom prst="roundRect">
            <a:avLst>
              <a:gd name="adj" fmla="val 24742"/>
            </a:avLst>
          </a:prstGeom>
          <a:solidFill>
            <a:srgbClr val="EBF2F9"/>
          </a:solidFill>
          <a:ln w="6350">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E2A5C"/>
                </a:solidFill>
                <a:latin typeface="Calibri"/>
              </a:rPr>
              <a:t>6. Global Market Analysis By Region</a:t>
            </a:r>
          </a:p>
        </p:txBody>
      </p:sp>
      <p:sp>
        <p:nvSpPr>
          <p:cNvPr id="15" name="Rounded Rectangle 14">
            <a:hlinkClick action="ppaction://hlinksldjump" r:id="rId11"/>
          </p:cNvPr>
          <p:cNvSpPr/>
          <p:nvPr/>
        </p:nvSpPr>
        <p:spPr>
          <a:xfrm>
            <a:off x="314325" y="4037373"/>
            <a:ext cx="5657850" cy="295101"/>
          </a:xfrm>
          <a:prstGeom prst="roundRect">
            <a:avLst>
              <a:gd name="adj" fmla="val 24742"/>
            </a:avLst>
          </a:prstGeom>
          <a:solidFill>
            <a:srgbClr val="EBF2F9"/>
          </a:solidFill>
          <a:ln w="6350">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E2A5C"/>
                </a:solidFill>
                <a:latin typeface="Calibri"/>
              </a:rPr>
              <a:t>7. Global Market Analysis By Segments</a:t>
            </a:r>
          </a:p>
        </p:txBody>
      </p:sp>
      <p:sp>
        <p:nvSpPr>
          <p:cNvPr id="16" name="Rounded Rectangle 15">
            <a:hlinkClick action="ppaction://hlinksldjump" r:id="rId12"/>
          </p:cNvPr>
          <p:cNvSpPr/>
          <p:nvPr/>
        </p:nvSpPr>
        <p:spPr>
          <a:xfrm>
            <a:off x="314325" y="4396362"/>
            <a:ext cx="5657850" cy="295101"/>
          </a:xfrm>
          <a:prstGeom prst="roundRect">
            <a:avLst>
              <a:gd name="adj" fmla="val 24742"/>
            </a:avLst>
          </a:prstGeom>
          <a:solidFill>
            <a:srgbClr val="EBF2F9"/>
          </a:solidFill>
          <a:ln w="6350">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E2A5C"/>
                </a:solidFill>
                <a:latin typeface="Calibri"/>
              </a:rPr>
              <a:t>8. Cross-sectional Assessment</a:t>
            </a:r>
          </a:p>
        </p:txBody>
      </p:sp>
      <p:sp>
        <p:nvSpPr>
          <p:cNvPr id="17" name="Rounded Rectangle 16">
            <a:hlinkClick action="ppaction://hlinksldjump" r:id="rId13"/>
          </p:cNvPr>
          <p:cNvSpPr/>
          <p:nvPr/>
        </p:nvSpPr>
        <p:spPr>
          <a:xfrm>
            <a:off x="142875" y="4755351"/>
            <a:ext cx="5829300" cy="310313"/>
          </a:xfrm>
          <a:prstGeom prst="roundRect">
            <a:avLst>
              <a:gd name="adj" fmla="val 23529"/>
            </a:avLst>
          </a:prstGeom>
          <a:solidFill>
            <a:srgbClr val="EBF2F9"/>
          </a:solidFill>
          <a:ln w="12700">
            <a:solidFill>
              <a:srgbClr val="0E2A5C"/>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300" b="1">
                <a:solidFill>
                  <a:srgbClr val="0E2A5C"/>
                </a:solidFill>
                <a:latin typeface="Calibri"/>
              </a:rPr>
              <a:t>North America Market Outlook</a:t>
            </a:r>
          </a:p>
        </p:txBody>
      </p:sp>
      <p:sp>
        <p:nvSpPr>
          <p:cNvPr id="18" name="Rounded Rectangle 17">
            <a:hlinkClick action="ppaction://hlinksldjump" r:id="rId14"/>
          </p:cNvPr>
          <p:cNvSpPr/>
          <p:nvPr/>
        </p:nvSpPr>
        <p:spPr>
          <a:xfrm>
            <a:off x="314325" y="5129552"/>
            <a:ext cx="5657850" cy="295101"/>
          </a:xfrm>
          <a:prstGeom prst="roundRect">
            <a:avLst>
              <a:gd name="adj" fmla="val 24742"/>
            </a:avLst>
          </a:prstGeom>
          <a:solidFill>
            <a:srgbClr val="EBF2F9"/>
          </a:solidFill>
          <a:ln w="6350">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E2A5C"/>
                </a:solidFill>
                <a:latin typeface="Calibri"/>
              </a:rPr>
              <a:t>9. North America Overview</a:t>
            </a:r>
          </a:p>
        </p:txBody>
      </p:sp>
      <p:sp>
        <p:nvSpPr>
          <p:cNvPr id="19" name="Rounded Rectangle 18">
            <a:hlinkClick action="ppaction://hlinksldjump" r:id="rId15"/>
          </p:cNvPr>
          <p:cNvSpPr/>
          <p:nvPr/>
        </p:nvSpPr>
        <p:spPr>
          <a:xfrm>
            <a:off x="314325" y="5488541"/>
            <a:ext cx="5657850" cy="295101"/>
          </a:xfrm>
          <a:prstGeom prst="roundRect">
            <a:avLst>
              <a:gd name="adj" fmla="val 24742"/>
            </a:avLst>
          </a:prstGeom>
          <a:solidFill>
            <a:srgbClr val="EBF2F9"/>
          </a:solidFill>
          <a:ln w="6350">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E2A5C"/>
                </a:solidFill>
                <a:latin typeface="Calibri"/>
              </a:rPr>
              <a:t>10. North America Market Analysis By Country</a:t>
            </a:r>
          </a:p>
        </p:txBody>
      </p:sp>
      <p:sp>
        <p:nvSpPr>
          <p:cNvPr id="20" name="Rounded Rectangle 19">
            <a:hlinkClick action="ppaction://hlinksldjump" r:id="rId16"/>
          </p:cNvPr>
          <p:cNvSpPr/>
          <p:nvPr/>
        </p:nvSpPr>
        <p:spPr>
          <a:xfrm>
            <a:off x="314325" y="5847530"/>
            <a:ext cx="5657850" cy="295101"/>
          </a:xfrm>
          <a:prstGeom prst="roundRect">
            <a:avLst>
              <a:gd name="adj" fmla="val 24742"/>
            </a:avLst>
          </a:prstGeom>
          <a:solidFill>
            <a:srgbClr val="EBF2F9"/>
          </a:solidFill>
          <a:ln w="6350">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E2A5C"/>
                </a:solidFill>
                <a:latin typeface="Calibri"/>
              </a:rPr>
              <a:t>11. North America Market Analysis By Segments</a:t>
            </a:r>
          </a:p>
        </p:txBody>
      </p:sp>
      <p:sp>
        <p:nvSpPr>
          <p:cNvPr id="21" name="Rounded Rectangle 20">
            <a:hlinkClick action="ppaction://hlinksldjump" r:id="rId17"/>
          </p:cNvPr>
          <p:cNvSpPr/>
          <p:nvPr/>
        </p:nvSpPr>
        <p:spPr>
          <a:xfrm>
            <a:off x="314325" y="6206519"/>
            <a:ext cx="5657850" cy="295101"/>
          </a:xfrm>
          <a:prstGeom prst="roundRect">
            <a:avLst>
              <a:gd name="adj" fmla="val 24742"/>
            </a:avLst>
          </a:prstGeom>
          <a:solidFill>
            <a:srgbClr val="EBF2F9"/>
          </a:solidFill>
          <a:ln w="6350">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E2A5C"/>
                </a:solidFill>
                <a:latin typeface="Calibri"/>
              </a:rPr>
              <a:t>12. Cross-sectional Assessment</a:t>
            </a:r>
          </a:p>
        </p:txBody>
      </p:sp>
      <p:sp>
        <p:nvSpPr>
          <p:cNvPr id="22" name="Rounded Rectangle 21">
            <a:hlinkClick action="ppaction://hlinksldjump" r:id="rId18"/>
          </p:cNvPr>
          <p:cNvSpPr/>
          <p:nvPr/>
        </p:nvSpPr>
        <p:spPr>
          <a:xfrm>
            <a:off x="6219825" y="1135037"/>
            <a:ext cx="5829300" cy="310313"/>
          </a:xfrm>
          <a:prstGeom prst="roundRect">
            <a:avLst>
              <a:gd name="adj" fmla="val 23529"/>
            </a:avLst>
          </a:prstGeom>
          <a:solidFill>
            <a:srgbClr val="EBF2F9"/>
          </a:solidFill>
          <a:ln w="12700">
            <a:solidFill>
              <a:srgbClr val="0E2A5C"/>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300" b="1">
                <a:solidFill>
                  <a:srgbClr val="0E2A5C"/>
                </a:solidFill>
                <a:latin typeface="Calibri"/>
              </a:rPr>
              <a:t>Country Market Outlook</a:t>
            </a:r>
          </a:p>
        </p:txBody>
      </p:sp>
      <p:sp>
        <p:nvSpPr>
          <p:cNvPr id="23" name="Rounded Rectangle 22">
            <a:hlinkClick action="ppaction://hlinksldjump" r:id="rId19"/>
          </p:cNvPr>
          <p:cNvSpPr/>
          <p:nvPr/>
        </p:nvSpPr>
        <p:spPr>
          <a:xfrm>
            <a:off x="6391275" y="1509238"/>
            <a:ext cx="5657850" cy="295101"/>
          </a:xfrm>
          <a:prstGeom prst="roundRect">
            <a:avLst>
              <a:gd name="adj" fmla="val 24742"/>
            </a:avLst>
          </a:prstGeom>
          <a:solidFill>
            <a:srgbClr val="EBF2F9"/>
          </a:solidFill>
          <a:ln w="6350">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E2A5C"/>
                </a:solidFill>
                <a:latin typeface="Calibri"/>
              </a:rPr>
              <a:t>13. Egg Protein Membrane Market Overview (Volume &amp; Value)</a:t>
            </a:r>
          </a:p>
        </p:txBody>
      </p:sp>
      <p:sp>
        <p:nvSpPr>
          <p:cNvPr id="24" name="Rounded Rectangle 23">
            <a:hlinkClick action="ppaction://hlinksldjump" r:id="rId20"/>
          </p:cNvPr>
          <p:cNvSpPr/>
          <p:nvPr/>
        </p:nvSpPr>
        <p:spPr>
          <a:xfrm>
            <a:off x="6391275" y="1868227"/>
            <a:ext cx="5657850" cy="295101"/>
          </a:xfrm>
          <a:prstGeom prst="roundRect">
            <a:avLst>
              <a:gd name="adj" fmla="val 24742"/>
            </a:avLst>
          </a:prstGeom>
          <a:solidFill>
            <a:srgbClr val="EBF2F9"/>
          </a:solidFill>
          <a:ln w="6350">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E2A5C"/>
                </a:solidFill>
                <a:latin typeface="Calibri"/>
              </a:rPr>
              <a:t>14. Segment Overview (Volume &amp; Value)</a:t>
            </a:r>
          </a:p>
        </p:txBody>
      </p:sp>
      <p:sp>
        <p:nvSpPr>
          <p:cNvPr id="25" name="Rounded Rectangle 24">
            <a:hlinkClick action="ppaction://hlinksldjump" r:id="rId21"/>
          </p:cNvPr>
          <p:cNvSpPr/>
          <p:nvPr/>
        </p:nvSpPr>
        <p:spPr>
          <a:xfrm>
            <a:off x="6219825" y="2227216"/>
            <a:ext cx="5829300" cy="310313"/>
          </a:xfrm>
          <a:prstGeom prst="roundRect">
            <a:avLst>
              <a:gd name="adj" fmla="val 23529"/>
            </a:avLst>
          </a:prstGeom>
          <a:solidFill>
            <a:srgbClr val="EBF2F9"/>
          </a:solidFill>
          <a:ln w="12700">
            <a:solidFill>
              <a:srgbClr val="0E2A5C"/>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300" b="1">
                <a:solidFill>
                  <a:srgbClr val="0E2A5C"/>
                </a:solidFill>
                <a:latin typeface="Calibri"/>
              </a:rPr>
              <a:t>Pricing Assessment</a:t>
            </a:r>
          </a:p>
        </p:txBody>
      </p:sp>
      <p:sp>
        <p:nvSpPr>
          <p:cNvPr id="26" name="Rounded Rectangle 25">
            <a:hlinkClick action="ppaction://hlinksldjump" r:id="rId22"/>
          </p:cNvPr>
          <p:cNvSpPr/>
          <p:nvPr/>
        </p:nvSpPr>
        <p:spPr>
          <a:xfrm>
            <a:off x="6391275" y="2601417"/>
            <a:ext cx="5657850" cy="295101"/>
          </a:xfrm>
          <a:prstGeom prst="roundRect">
            <a:avLst>
              <a:gd name="adj" fmla="val 24742"/>
            </a:avLst>
          </a:prstGeom>
          <a:solidFill>
            <a:srgbClr val="EBF2F9"/>
          </a:solidFill>
          <a:ln w="6350">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E2A5C"/>
                </a:solidFill>
                <a:latin typeface="Calibri"/>
              </a:rPr>
              <a:t>15. Egg Protein Membrane Market Pricing Analysis</a:t>
            </a:r>
          </a:p>
        </p:txBody>
      </p:sp>
      <p:sp>
        <p:nvSpPr>
          <p:cNvPr id="27" name="Rounded Rectangle 26">
            <a:hlinkClick action="ppaction://hlinksldjump" r:id="rId23"/>
          </p:cNvPr>
          <p:cNvSpPr/>
          <p:nvPr/>
        </p:nvSpPr>
        <p:spPr>
          <a:xfrm>
            <a:off x="6391275" y="2960406"/>
            <a:ext cx="5657850" cy="295101"/>
          </a:xfrm>
          <a:prstGeom prst="roundRect">
            <a:avLst>
              <a:gd name="adj" fmla="val 24742"/>
            </a:avLst>
          </a:prstGeom>
          <a:solidFill>
            <a:srgbClr val="EBF2F9"/>
          </a:solidFill>
          <a:ln w="6350">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E2A5C"/>
                </a:solidFill>
                <a:latin typeface="Calibri"/>
              </a:rPr>
              <a:t>16. Supply Chain Analysis</a:t>
            </a:r>
          </a:p>
        </p:txBody>
      </p:sp>
      <p:sp>
        <p:nvSpPr>
          <p:cNvPr id="28" name="Rounded Rectangle 27">
            <a:hlinkClick action="ppaction://hlinksldjump" r:id="rId24"/>
          </p:cNvPr>
          <p:cNvSpPr/>
          <p:nvPr/>
        </p:nvSpPr>
        <p:spPr>
          <a:xfrm>
            <a:off x="6219825" y="3319395"/>
            <a:ext cx="5829300" cy="310313"/>
          </a:xfrm>
          <a:prstGeom prst="roundRect">
            <a:avLst>
              <a:gd name="adj" fmla="val 23529"/>
            </a:avLst>
          </a:prstGeom>
          <a:solidFill>
            <a:srgbClr val="EBF2F9"/>
          </a:solidFill>
          <a:ln w="12700">
            <a:solidFill>
              <a:srgbClr val="0E2A5C"/>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300" b="1">
                <a:solidFill>
                  <a:srgbClr val="0E2A5C"/>
                </a:solidFill>
                <a:latin typeface="Calibri"/>
              </a:rPr>
              <a:t>Market Dynamics</a:t>
            </a:r>
          </a:p>
        </p:txBody>
      </p:sp>
      <p:sp>
        <p:nvSpPr>
          <p:cNvPr id="29" name="Rounded Rectangle 28">
            <a:hlinkClick action="ppaction://hlinksldjump" r:id="rId25"/>
          </p:cNvPr>
          <p:cNvSpPr/>
          <p:nvPr/>
        </p:nvSpPr>
        <p:spPr>
          <a:xfrm>
            <a:off x="6391275" y="3693596"/>
            <a:ext cx="5657850" cy="295101"/>
          </a:xfrm>
          <a:prstGeom prst="roundRect">
            <a:avLst>
              <a:gd name="adj" fmla="val 24742"/>
            </a:avLst>
          </a:prstGeom>
          <a:solidFill>
            <a:srgbClr val="EBF2F9"/>
          </a:solidFill>
          <a:ln w="6350">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E2A5C"/>
                </a:solidFill>
                <a:latin typeface="Calibri"/>
              </a:rPr>
              <a:t>17. Market Dynamics &amp; Forces</a:t>
            </a:r>
          </a:p>
        </p:txBody>
      </p:sp>
      <p:sp>
        <p:nvSpPr>
          <p:cNvPr id="30" name="Rounded Rectangle 29">
            <a:hlinkClick action="ppaction://hlinksldjump" r:id="rId26"/>
          </p:cNvPr>
          <p:cNvSpPr/>
          <p:nvPr/>
        </p:nvSpPr>
        <p:spPr>
          <a:xfrm>
            <a:off x="6219825" y="4052585"/>
            <a:ext cx="5829300" cy="310313"/>
          </a:xfrm>
          <a:prstGeom prst="roundRect">
            <a:avLst>
              <a:gd name="adj" fmla="val 23529"/>
            </a:avLst>
          </a:prstGeom>
          <a:solidFill>
            <a:srgbClr val="EBF2F9"/>
          </a:solidFill>
          <a:ln w="12700">
            <a:solidFill>
              <a:srgbClr val="0E2A5C"/>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300" b="1">
                <a:solidFill>
                  <a:srgbClr val="0E2A5C"/>
                </a:solidFill>
                <a:latin typeface="Calibri"/>
              </a:rPr>
              <a:t>Competition Assessment</a:t>
            </a:r>
          </a:p>
        </p:txBody>
      </p:sp>
      <p:sp>
        <p:nvSpPr>
          <p:cNvPr id="31" name="Rounded Rectangle 30">
            <a:hlinkClick action="ppaction://hlinksldjump" r:id="rId27"/>
          </p:cNvPr>
          <p:cNvSpPr/>
          <p:nvPr/>
        </p:nvSpPr>
        <p:spPr>
          <a:xfrm>
            <a:off x="6391275" y="5144764"/>
            <a:ext cx="5657850" cy="295101"/>
          </a:xfrm>
          <a:prstGeom prst="roundRect">
            <a:avLst>
              <a:gd name="adj" fmla="val 24742"/>
            </a:avLst>
          </a:prstGeom>
          <a:solidFill>
            <a:srgbClr val="EBF2F9"/>
          </a:solidFill>
          <a:ln w="6350">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E2A5C"/>
                </a:solidFill>
                <a:latin typeface="Calibri"/>
              </a:rPr>
              <a:t>20. Competitive Landscape</a:t>
            </a:r>
          </a:p>
        </p:txBody>
      </p:sp>
      <p:sp>
        <p:nvSpPr>
          <p:cNvPr id="32" name="Rounded Rectangle 31">
            <a:hlinkClick action="ppaction://hlinksldjump" r:id="rId28"/>
          </p:cNvPr>
          <p:cNvSpPr/>
          <p:nvPr/>
        </p:nvSpPr>
        <p:spPr>
          <a:xfrm>
            <a:off x="6391275" y="4426786"/>
            <a:ext cx="5657850" cy="295101"/>
          </a:xfrm>
          <a:prstGeom prst="roundRect">
            <a:avLst>
              <a:gd name="adj" fmla="val 24742"/>
            </a:avLst>
          </a:prstGeom>
          <a:solidFill>
            <a:srgbClr val="EBF2F9"/>
          </a:solidFill>
          <a:ln w="6350">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E2A5C"/>
                </a:solidFill>
                <a:latin typeface="Calibri"/>
              </a:rPr>
              <a:t>18. Market Share by Leading Players</a:t>
            </a:r>
          </a:p>
        </p:txBody>
      </p:sp>
      <p:sp>
        <p:nvSpPr>
          <p:cNvPr id="33" name="Rounded Rectangle 32">
            <a:hlinkClick action="ppaction://hlinksldjump" r:id="rId29"/>
          </p:cNvPr>
          <p:cNvSpPr/>
          <p:nvPr/>
        </p:nvSpPr>
        <p:spPr>
          <a:xfrm>
            <a:off x="6391275" y="4785775"/>
            <a:ext cx="5657850" cy="295101"/>
          </a:xfrm>
          <a:prstGeom prst="roundRect">
            <a:avLst>
              <a:gd name="adj" fmla="val 24742"/>
            </a:avLst>
          </a:prstGeom>
          <a:solidFill>
            <a:srgbClr val="EBF2F9"/>
          </a:solidFill>
          <a:ln w="6350">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E2A5C"/>
                </a:solidFill>
                <a:latin typeface="Calibri"/>
              </a:rPr>
              <a:t>19. Company Profiles &amp; Strategic Benchmarking</a:t>
            </a:r>
          </a:p>
        </p:txBody>
      </p:sp>
      <p:sp>
        <p:nvSpPr>
          <p:cNvPr id="34" name="Rectangle 33"/>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3F8FD"/>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3F8FD"/>
              </a:gs>
              <a:gs pos="100000">
                <a:srgbClr val="DCE9F6"/>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FE0F0">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9C8E6">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B7D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A5F8F"/>
              </a:gs>
              <a:gs pos="100000">
                <a:srgbClr val="6FA6D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MR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a:t>
            </a:r>
          </a:p>
        </p:txBody>
      </p:sp>
      <p:pic>
        <p:nvPicPr>
          <p:cNvPr id="8" name="Picture 7" descr="tmr_logo.png"/>
          <p:cNvPicPr>
            <a:picLocks noChangeAspect="1"/>
          </p:cNvPicPr>
          <p:nvPr/>
        </p:nvPicPr>
        <p:blipFill>
          <a:blip r:embed="rId2"/>
          <a:stretch>
            <a:fillRect/>
          </a:stretch>
        </p:blipFill>
        <p:spPr>
          <a:xfrm>
            <a:off x="411480" y="274320"/>
            <a:ext cx="1307592" cy="975505"/>
          </a:xfrm>
          <a:prstGeom prst="rect">
            <a:avLst/>
          </a:prstGeom>
        </p:spPr>
      </p:pic>
      <p:sp>
        <p:nvSpPr>
          <p:cNvPr id="9" name="TextBox 8"/>
          <p:cNvSpPr txBox="1"/>
          <p:nvPr/>
        </p:nvSpPr>
        <p:spPr>
          <a:xfrm>
            <a:off x="914400" y="3146425"/>
            <a:ext cx="8572500" cy="304800"/>
          </a:xfrm>
          <a:prstGeom prst="rect">
            <a:avLst/>
          </a:prstGeom>
          <a:noFill/>
        </p:spPr>
        <p:txBody>
          <a:bodyPr wrap="none" lIns="0" tIns="0">
            <a:spAutoFit/>
          </a:bodyPr>
          <a:lstStyle/>
          <a:p>
            <a:r>
              <a:rPr sz="1800" b="0">
                <a:solidFill>
                  <a:srgbClr val="2A5F8F"/>
                </a:solidFill>
                <a:latin typeface="Calibri"/>
              </a:rPr>
              <a:t>Egg Protein Membrane Market</a:t>
            </a:r>
          </a:p>
        </p:txBody>
      </p:sp>
      <p:sp>
        <p:nvSpPr>
          <p:cNvPr id="10" name="TMR Section Title"/>
          <p:cNvSpPr txBox="1"/>
          <p:nvPr/>
        </p:nvSpPr>
        <p:spPr>
          <a:xfrm>
            <a:off x="914400" y="3489325"/>
            <a:ext cx="8572500" cy="514350"/>
          </a:xfrm>
          <a:prstGeom prst="rect">
            <a:avLst/>
          </a:prstGeom>
          <a:noFill/>
        </p:spPr>
        <p:txBody>
          <a:bodyPr wrap="square" lIns="0" rIns="0" tIns="0">
            <a:spAutoFit/>
          </a:bodyPr>
          <a:lstStyle/>
          <a:p>
            <a:r>
              <a:rPr sz="3000" b="1">
                <a:solidFill>
                  <a:srgbClr val="0E2A5C"/>
                </a:solidFill>
                <a:latin typeface="Calibri"/>
              </a:rPr>
              <a:t>Market Signals</a:t>
            </a:r>
          </a:p>
        </p:txBody>
      </p:sp>
      <p:sp>
        <p:nvSpPr>
          <p:cNvPr id="11" name="TextBox 10"/>
          <p:cNvSpPr txBox="1"/>
          <p:nvPr/>
        </p:nvSpPr>
        <p:spPr>
          <a:xfrm>
            <a:off x="914400" y="4175125"/>
            <a:ext cx="8458200" cy="4889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Signals</a:t>
            </a:r>
          </a:p>
        </p:txBody>
      </p:sp>
      <p:sp>
        <p:nvSpPr>
          <p:cNvPr id="12" name="Rectangle 11"/>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Market Signals Reshaping Egg Protein Membrane Demand</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Signals reshaping Egg Protein Membrane demand, the evidence behind each and what it implies for the global market</a:t>
            </a:r>
          </a:p>
        </p:txBody>
      </p:sp>
      <p:graphicFrame>
        <p:nvGraphicFramePr>
          <p:cNvPr id="7" name="Table 6"/>
          <p:cNvGraphicFramePr>
            <a:graphicFrameLocks noGrp="1"/>
          </p:cNvGraphicFramePr>
          <p:nvPr/>
        </p:nvGraphicFramePr>
        <p:xfrm>
          <a:off x="142875" y="1062022"/>
          <a:ext cx="11906250" cy="5549125"/>
        </p:xfrm>
        <a:graphic>
          <a:graphicData uri="http://schemas.openxmlformats.org/drawingml/2006/table">
            <a:tbl>
              <a:tblPr>
                <a:tableStyleId>{5C22544A-7EE6-4342-B048-85BDC9FD1C3A}</a:tableStyleId>
              </a:tblPr>
              <a:tblGrid>
                <a:gridCol w="3571875"/>
                <a:gridCol w="5000625"/>
                <a:gridCol w="3333750"/>
              </a:tblGrid>
              <a:tr h="346820">
                <a:tc>
                  <a:txBody>
                    <a:bodyPr wrap="square"/>
                    <a:lstStyle/>
                    <a:p>
                      <a:pPr algn="l"/>
                      <a:r>
                        <a:rPr sz="1100" b="1">
                          <a:solidFill>
                            <a:srgbClr val="0E2A5C"/>
                          </a:solidFill>
                          <a:latin typeface="Calibri"/>
                        </a:rPr>
                        <a:t>QUESTIONS WE'RE HEARING</a:t>
                      </a:r>
                    </a:p>
                  </a:txBody>
                  <a:tcPr marL="70000" marR="70000" marT="45000" marB="45000" anchor="ctr">
                    <a:solidFill>
                      <a:srgbClr val="EBF2F9"/>
                    </a:solidFill>
                  </a:tcPr>
                </a:tc>
                <a:tc>
                  <a:txBody>
                    <a:bodyPr wrap="square"/>
                    <a:lstStyle/>
                    <a:p>
                      <a:pPr algn="l"/>
                      <a:r>
                        <a:rPr sz="1100" b="1">
                          <a:solidFill>
                            <a:srgbClr val="0E2A5C"/>
                          </a:solidFill>
                          <a:latin typeface="Calibri"/>
                        </a:rPr>
                        <a:t>WHAT WE'RE OBSERVING</a:t>
                      </a:r>
                    </a:p>
                  </a:txBody>
                  <a:tcPr marL="70000" marR="70000" marT="45000" marB="45000" anchor="ctr">
                    <a:solidFill>
                      <a:srgbClr val="EBF2F9"/>
                    </a:solidFill>
                  </a:tcPr>
                </a:tc>
                <a:tc>
                  <a:txBody>
                    <a:bodyPr wrap="square"/>
                    <a:lstStyle/>
                    <a:p>
                      <a:pPr algn="l"/>
                      <a:r>
                        <a:rPr sz="1100" b="1">
                          <a:solidFill>
                            <a:srgbClr val="0E2A5C"/>
                          </a:solidFill>
                          <a:latin typeface="Calibri"/>
                        </a:rPr>
                        <a:t>SELECT DATA POINTS</a:t>
                      </a:r>
                    </a:p>
                  </a:txBody>
                  <a:tcPr marL="70000" marR="70000" marT="45000" marB="45000" anchor="ctr">
                    <a:solidFill>
                      <a:srgbClr val="EBF2F9"/>
                    </a:solidFill>
                  </a:tcPr>
                </a:tc>
              </a:tr>
              <a:tr h="1040461">
                <a:tc>
                  <a:txBody>
                    <a:bodyPr wrap="square"/>
                    <a:lstStyle/>
                    <a:p>
                      <a:pPr algn="l"/>
                      <a:r>
                        <a:rPr sz="1100" b="1">
                          <a:solidFill>
                            <a:srgbClr val="0E2A5C"/>
                          </a:solidFill>
                          <a:latin typeface="Calibri"/>
                        </a:rPr>
                        <a:t>How fast is Egg Protein Membrane demand set to grow through 2036?</a:t>
                      </a:r>
                    </a:p>
                  </a:txBody>
                  <a:tcPr marL="70000" marR="70000" marT="45000" marB="45000" anchor="ctr">
                    <a:solidFill>
                      <a:srgbClr val="FFFFFF"/>
                    </a:solidFill>
                  </a:tcPr>
                </a:tc>
                <a:tc>
                  <a:txBody>
                    <a:bodyPr wrap="square"/>
                    <a:lstStyle/>
                    <a:p>
                      <a:pPr algn="l"/>
                      <a:r>
                        <a:rPr sz="1100" b="0">
                          <a:solidFill>
                            <a:srgbClr val="2E2E2E"/>
                          </a:solidFill>
                          <a:latin typeface="Calibri"/>
                        </a:rPr>
                        <a:t/>
                      </a:r>
                    </a:p>
                  </a:txBody>
                  <a:tcPr marL="70000" marR="70000" marT="45000" marB="45000" anchor="ctr">
                    <a:solidFill>
                      <a:srgbClr val="FFFFFF"/>
                    </a:solidFill>
                  </a:tcPr>
                </a:tc>
                <a:tc>
                  <a:txBody>
                    <a:bodyPr wrap="square"/>
                    <a:lstStyle/>
                    <a:p>
                      <a:pPr algn="l"/>
                      <a:r>
                        <a:rPr sz="1100"/>
                        <a:t> </a:t>
                      </a:r>
                    </a:p>
                  </a:txBody>
                  <a:tcPr marL="70000" marR="70000" marT="45000" marB="45000" anchor="ctr">
                    <a:solidFill>
                      <a:srgbClr val="FFFFFF"/>
                    </a:solidFill>
                  </a:tcPr>
                </a:tc>
              </a:tr>
              <a:tr h="1040461">
                <a:tc>
                  <a:txBody>
                    <a:bodyPr wrap="square"/>
                    <a:lstStyle/>
                    <a:p>
                      <a:pPr algn="l"/>
                      <a:r>
                        <a:rPr sz="1100" b="1">
                          <a:solidFill>
                            <a:srgbClr val="0E2A5C"/>
                          </a:solidFill>
                          <a:latin typeface="Calibri"/>
                        </a:rPr>
                        <a:t>Which product type categories are buyers prioritising?</a:t>
                      </a:r>
                    </a:p>
                  </a:txBody>
                  <a:tcPr marL="70000" marR="70000" marT="45000" marB="45000" anchor="ctr">
                    <a:solidFill>
                      <a:srgbClr val="F6F9FC"/>
                    </a:solidFill>
                  </a:tcPr>
                </a:tc>
                <a:tc>
                  <a:txBody>
                    <a:bodyPr wrap="square"/>
                    <a:lstStyle/>
                    <a:p>
                      <a:pPr algn="l"/>
                      <a:r>
                        <a:rPr sz="1100" b="0">
                          <a:solidFill>
                            <a:srgbClr val="2E2E2E"/>
                          </a:solidFill>
                          <a:latin typeface="Calibri"/>
                        </a:rPr>
                        <a:t/>
                      </a:r>
                    </a:p>
                  </a:txBody>
                  <a:tcPr marL="70000" marR="70000" marT="45000" marB="45000" anchor="ctr">
                    <a:solidFill>
                      <a:srgbClr val="F6F9FC"/>
                    </a:solidFill>
                  </a:tcPr>
                </a:tc>
                <a:tc>
                  <a:txBody>
                    <a:bodyPr wrap="square"/>
                    <a:lstStyle/>
                    <a:p>
                      <a:pPr algn="l"/>
                      <a:r>
                        <a:rPr sz="1100" b="0">
                          <a:solidFill>
                            <a:srgbClr val="2E2E2E"/>
                          </a:solidFill>
                          <a:latin typeface="Calibri"/>
                        </a:rPr>
                        <a:t/>
                      </a:r>
                    </a:p>
                  </a:txBody>
                  <a:tcPr marL="70000" marR="70000" marT="45000" marB="45000" anchor="ctr">
                    <a:solidFill>
                      <a:srgbClr val="F6F9FC"/>
                    </a:solidFill>
                  </a:tcPr>
                </a:tc>
              </a:tr>
              <a:tr h="1040461">
                <a:tc>
                  <a:txBody>
                    <a:bodyPr wrap="square"/>
                    <a:lstStyle/>
                    <a:p>
                      <a:pPr algn="l"/>
                      <a:r>
                        <a:rPr sz="1100" b="1">
                          <a:solidFill>
                            <a:srgbClr val="0E2A5C"/>
                          </a:solidFill>
                          <a:latin typeface="Calibri"/>
                        </a:rPr>
                        <a:t>Where is incremental demand concentrating?</a:t>
                      </a:r>
                    </a:p>
                  </a:txBody>
                  <a:tcPr marL="70000" marR="70000" marT="45000" marB="45000" anchor="ctr">
                    <a:solidFill>
                      <a:srgbClr val="FFFFFF"/>
                    </a:solidFill>
                  </a:tcPr>
                </a:tc>
                <a:tc>
                  <a:txBody>
                    <a:bodyPr wrap="square"/>
                    <a:lstStyle/>
                    <a:p>
                      <a:pPr algn="l"/>
                      <a:r>
                        <a:rPr sz="1100" b="0">
                          <a:solidFill>
                            <a:srgbClr val="2E2E2E"/>
                          </a:solidFill>
                          <a:latin typeface="Calibri"/>
                        </a:rPr>
                        <a:t/>
                      </a:r>
                    </a:p>
                  </a:txBody>
                  <a:tcPr marL="70000" marR="70000" marT="45000" marB="45000" anchor="ctr">
                    <a:solidFill>
                      <a:srgbClr val="FFFFFF"/>
                    </a:solidFill>
                  </a:tcPr>
                </a:tc>
                <a:tc>
                  <a:txBody>
                    <a:bodyPr wrap="square"/>
                    <a:lstStyle/>
                    <a:p>
                      <a:pPr algn="l"/>
                      <a:r>
                        <a:rPr sz="1100" b="0">
                          <a:solidFill>
                            <a:srgbClr val="2E2E2E"/>
                          </a:solidFill>
                          <a:latin typeface="Calibri"/>
                        </a:rPr>
                        <a:t/>
                      </a:r>
                    </a:p>
                  </a:txBody>
                  <a:tcPr marL="70000" marR="70000" marT="45000" marB="45000" anchor="ctr">
                    <a:solidFill>
                      <a:srgbClr val="FFFFFF"/>
                    </a:solidFill>
                  </a:tcPr>
                </a:tc>
              </a:tr>
              <a:tr h="1040461">
                <a:tc>
                  <a:txBody>
                    <a:bodyPr wrap="square"/>
                    <a:lstStyle/>
                    <a:p>
                      <a:pPr algn="l"/>
                      <a:r>
                        <a:rPr sz="1100" b="1">
                          <a:solidFill>
                            <a:srgbClr val="0E2A5C"/>
                          </a:solidFill>
                          <a:latin typeface="Calibri"/>
                        </a:rPr>
                        <a:t>Which regions will drive the next wave of Egg Protein Membrane demand?</a:t>
                      </a:r>
                    </a:p>
                  </a:txBody>
                  <a:tcPr marL="70000" marR="70000" marT="45000" marB="45000" anchor="ctr">
                    <a:solidFill>
                      <a:srgbClr val="F6F9FC"/>
                    </a:solidFill>
                  </a:tcPr>
                </a:tc>
                <a:tc>
                  <a:txBody>
                    <a:bodyPr wrap="square"/>
                    <a:lstStyle/>
                    <a:p>
                      <a:pPr algn="l"/>
                      <a:r>
                        <a:rPr sz="1100" b="0">
                          <a:solidFill>
                            <a:srgbClr val="2E2E2E"/>
                          </a:solidFill>
                          <a:latin typeface="Calibri"/>
                        </a:rPr>
                        <a:t/>
                      </a:r>
                    </a:p>
                  </a:txBody>
                  <a:tcPr marL="70000" marR="70000" marT="45000" marB="45000" anchor="ctr">
                    <a:solidFill>
                      <a:srgbClr val="F6F9FC"/>
                    </a:solidFill>
                  </a:tcPr>
                </a:tc>
                <a:tc>
                  <a:txBody>
                    <a:bodyPr wrap="square"/>
                    <a:lstStyle/>
                    <a:p>
                      <a:pPr algn="l"/>
                      <a:r>
                        <a:rPr sz="1100" b="0">
                          <a:solidFill>
                            <a:srgbClr val="2E2E2E"/>
                          </a:solidFill>
                          <a:latin typeface="Calibri"/>
                        </a:rPr>
                        <a:t/>
                      </a:r>
                    </a:p>
                  </a:txBody>
                  <a:tcPr marL="70000" marR="70000" marT="45000" marB="45000" anchor="ctr">
                    <a:solidFill>
                      <a:srgbClr val="F6F9FC"/>
                    </a:solidFill>
                  </a:tcPr>
                </a:tc>
              </a:tr>
              <a:tr h="1040461">
                <a:tc>
                  <a:txBody>
                    <a:bodyPr wrap="square"/>
                    <a:lstStyle/>
                    <a:p>
                      <a:pPr algn="l"/>
                      <a:r>
                        <a:rPr sz="1100" b="1">
                          <a:solidFill>
                            <a:srgbClr val="0E2A5C"/>
                          </a:solidFill>
                          <a:latin typeface="Calibri"/>
                        </a:rPr>
                        <a:t>Where should suppliers focus investment?</a:t>
                      </a:r>
                    </a:p>
                  </a:txBody>
                  <a:tcPr marL="70000" marR="70000" marT="45000" marB="45000" anchor="ctr">
                    <a:solidFill>
                      <a:srgbClr val="FFFFFF"/>
                    </a:solidFill>
                  </a:tcPr>
                </a:tc>
                <a:tc>
                  <a:txBody>
                    <a:bodyPr wrap="square"/>
                    <a:lstStyle/>
                    <a:p>
                      <a:pPr algn="l"/>
                      <a:r>
                        <a:rPr sz="1100" b="0">
                          <a:solidFill>
                            <a:srgbClr val="2E2E2E"/>
                          </a:solidFill>
                          <a:latin typeface="Calibri"/>
                        </a:rPr>
                        <a:t/>
                      </a:r>
                    </a:p>
                  </a:txBody>
                  <a:tcPr marL="70000" marR="70000" marT="45000" marB="45000" anchor="ctr">
                    <a:solidFill>
                      <a:srgbClr val="FFFFFF"/>
                    </a:solidFill>
                  </a:tcPr>
                </a:tc>
                <a:tc>
                  <a:txBody>
                    <a:bodyPr wrap="square"/>
                    <a:lstStyle/>
                    <a:p>
                      <a:pPr algn="l"/>
                      <a:r>
                        <a:rPr sz="1100" b="0">
                          <a:solidFill>
                            <a:srgbClr val="2E2E2E"/>
                          </a:solidFill>
                          <a:latin typeface="Calibri"/>
                        </a:rPr>
                        <a:t/>
                      </a:r>
                    </a:p>
                  </a:txBody>
                  <a:tcPr marL="70000" marR="70000" marT="45000" marB="45000" anchor="ctr">
                    <a:solidFill>
                      <a:srgbClr val="FFFFFF"/>
                    </a:solidFill>
                  </a:tcPr>
                </a:tc>
              </a:tr>
            </a:tbl>
          </a:graphicData>
        </a:graphic>
      </p:graphicFrame>
      <p:sp>
        <p:nvSpPr>
          <p:cNvPr id="8" name="Rectangle 7"/>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
        <p:nvSpPr>
          <p:cNvPr id="10" name="TextBox 9"/>
          <p:cNvSpPr txBox="1"/>
          <p:nvPr/>
        </p:nvSpPr>
        <p:spPr>
          <a:xfrm>
            <a:off x="3784750" y="1761432"/>
            <a:ext cx="1689844" cy="186689"/>
          </a:xfrm>
          <a:prstGeom prst="rect">
            <a:avLst/>
          </a:prstGeom>
          <a:noFill/>
        </p:spPr>
        <p:txBody>
          <a:bodyPr wrap="none" lIns="0" rIns="0" tIns="0" bIns="0">
            <a:spAutoFit/>
          </a:bodyPr>
          <a:lstStyle/>
          <a:p>
            <a:r>
              <a:rPr sz="1100" b="0">
                <a:solidFill>
                  <a:srgbClr val="2E2E2E"/>
                </a:solidFill>
                <a:latin typeface="Calibri"/>
              </a:rPr>
              <a:t>Global demand expands at a</a:t>
            </a:r>
          </a:p>
        </p:txBody>
      </p:sp>
      <p:pic>
        <p:nvPicPr>
          <p:cNvPr id="11" name="Picture 10" descr="lock.png"/>
          <p:cNvPicPr>
            <a:picLocks noChangeAspect="1"/>
          </p:cNvPicPr>
          <p:nvPr/>
        </p:nvPicPr>
        <p:blipFill>
          <a:blip r:embed="rId4"/>
          <a:stretch>
            <a:fillRect/>
          </a:stretch>
        </p:blipFill>
        <p:spPr>
          <a:xfrm>
            <a:off x="5422645" y="1751653"/>
            <a:ext cx="128699" cy="187198"/>
          </a:xfrm>
          <a:prstGeom prst="rect">
            <a:avLst/>
          </a:prstGeom>
        </p:spPr>
      </p:pic>
      <p:sp>
        <p:nvSpPr>
          <p:cNvPr id="12" name="TextBox 11"/>
          <p:cNvSpPr txBox="1"/>
          <p:nvPr/>
        </p:nvSpPr>
        <p:spPr>
          <a:xfrm>
            <a:off x="5590141" y="1761432"/>
            <a:ext cx="2708109" cy="186689"/>
          </a:xfrm>
          <a:prstGeom prst="rect">
            <a:avLst/>
          </a:prstGeom>
          <a:noFill/>
        </p:spPr>
        <p:txBody>
          <a:bodyPr wrap="none" lIns="0" rIns="0" tIns="0" bIns="0">
            <a:spAutoFit/>
          </a:bodyPr>
          <a:lstStyle/>
          <a:p>
            <a:r>
              <a:rPr sz="1100" b="0">
                <a:solidFill>
                  <a:srgbClr val="2E2E2E"/>
                </a:solidFill>
                <a:latin typeface="Calibri"/>
              </a:rPr>
              <a:t>forecast CAGR (2026–2036), accelerating from</a:t>
            </a:r>
          </a:p>
        </p:txBody>
      </p:sp>
      <p:pic>
        <p:nvPicPr>
          <p:cNvPr id="13" name="Picture 12" descr="lock.png"/>
          <p:cNvPicPr>
            <a:picLocks noChangeAspect="1"/>
          </p:cNvPicPr>
          <p:nvPr/>
        </p:nvPicPr>
        <p:blipFill>
          <a:blip r:embed="rId4"/>
          <a:stretch>
            <a:fillRect/>
          </a:stretch>
        </p:blipFill>
        <p:spPr>
          <a:xfrm>
            <a:off x="8246302" y="1751653"/>
            <a:ext cx="128699" cy="187198"/>
          </a:xfrm>
          <a:prstGeom prst="rect">
            <a:avLst/>
          </a:prstGeom>
        </p:spPr>
      </p:pic>
      <p:sp>
        <p:nvSpPr>
          <p:cNvPr id="14" name="TextBox 13"/>
          <p:cNvSpPr txBox="1"/>
          <p:nvPr/>
        </p:nvSpPr>
        <p:spPr>
          <a:xfrm>
            <a:off x="3784750" y="1929072"/>
            <a:ext cx="1137865" cy="186689"/>
          </a:xfrm>
          <a:prstGeom prst="rect">
            <a:avLst/>
          </a:prstGeom>
          <a:noFill/>
        </p:spPr>
        <p:txBody>
          <a:bodyPr wrap="none" lIns="0" rIns="0" tIns="0" bIns="0">
            <a:spAutoFit/>
          </a:bodyPr>
          <a:lstStyle/>
          <a:p>
            <a:r>
              <a:rPr sz="1100" b="0">
                <a:solidFill>
                  <a:srgbClr val="2E2E2E"/>
                </a:solidFill>
                <a:latin typeface="Calibri"/>
              </a:rPr>
              <a:t>across 2021–2025.</a:t>
            </a:r>
          </a:p>
        </p:txBody>
      </p:sp>
      <p:pic>
        <p:nvPicPr>
          <p:cNvPr id="15" name="Picture 14" descr="lock.png"/>
          <p:cNvPicPr>
            <a:picLocks noChangeAspect="1"/>
          </p:cNvPicPr>
          <p:nvPr/>
        </p:nvPicPr>
        <p:blipFill>
          <a:blip r:embed="rId4"/>
          <a:stretch>
            <a:fillRect/>
          </a:stretch>
        </p:blipFill>
        <p:spPr>
          <a:xfrm>
            <a:off x="10214228" y="1689042"/>
            <a:ext cx="330041" cy="480060"/>
          </a:xfrm>
          <a:prstGeom prst="rect">
            <a:avLst/>
          </a:prstGeom>
        </p:spPr>
      </p:pic>
      <p:sp>
        <p:nvSpPr>
          <p:cNvPr id="16" name="TextBox 15"/>
          <p:cNvSpPr txBox="1"/>
          <p:nvPr/>
        </p:nvSpPr>
        <p:spPr>
          <a:xfrm>
            <a:off x="3784750" y="2801893"/>
            <a:ext cx="3165152" cy="186689"/>
          </a:xfrm>
          <a:prstGeom prst="rect">
            <a:avLst/>
          </a:prstGeom>
          <a:noFill/>
        </p:spPr>
        <p:txBody>
          <a:bodyPr wrap="none" lIns="0" rIns="0" tIns="0" bIns="0">
            <a:spAutoFit/>
          </a:bodyPr>
          <a:lstStyle/>
          <a:p>
            <a:r>
              <a:rPr sz="1100" b="0">
                <a:solidFill>
                  <a:srgbClr val="2E2E2E"/>
                </a:solidFill>
                <a:latin typeface="Calibri"/>
              </a:rPr>
              <a:t>Micronized Eggshell Membrane leads Product Type, at</a:t>
            </a:r>
          </a:p>
        </p:txBody>
      </p:sp>
      <p:pic>
        <p:nvPicPr>
          <p:cNvPr id="17" name="Picture 16" descr="lock.png"/>
          <p:cNvPicPr>
            <a:picLocks noChangeAspect="1"/>
          </p:cNvPicPr>
          <p:nvPr/>
        </p:nvPicPr>
        <p:blipFill>
          <a:blip r:embed="rId4"/>
          <a:stretch>
            <a:fillRect/>
          </a:stretch>
        </p:blipFill>
        <p:spPr>
          <a:xfrm>
            <a:off x="6897954" y="2792114"/>
            <a:ext cx="128699" cy="187198"/>
          </a:xfrm>
          <a:prstGeom prst="rect">
            <a:avLst/>
          </a:prstGeom>
        </p:spPr>
      </p:pic>
      <p:sp>
        <p:nvSpPr>
          <p:cNvPr id="18" name="TextBox 17"/>
          <p:cNvSpPr txBox="1"/>
          <p:nvPr/>
        </p:nvSpPr>
        <p:spPr>
          <a:xfrm>
            <a:off x="7065449" y="2801893"/>
            <a:ext cx="1367606" cy="186689"/>
          </a:xfrm>
          <a:prstGeom prst="rect">
            <a:avLst/>
          </a:prstGeom>
          <a:noFill/>
        </p:spPr>
        <p:txBody>
          <a:bodyPr wrap="none" lIns="0" rIns="0" tIns="0" bIns="0">
            <a:spAutoFit/>
          </a:bodyPr>
          <a:lstStyle/>
          <a:p>
            <a:r>
              <a:rPr sz="1100" b="0">
                <a:solidFill>
                  <a:srgbClr val="2E2E2E"/>
                </a:solidFill>
                <a:latin typeface="Calibri"/>
              </a:rPr>
              <a:t>of 2036 value, within a</a:t>
            </a:r>
          </a:p>
        </p:txBody>
      </p:sp>
      <p:sp>
        <p:nvSpPr>
          <p:cNvPr id="19" name="TextBox 18"/>
          <p:cNvSpPr txBox="1"/>
          <p:nvPr/>
        </p:nvSpPr>
        <p:spPr>
          <a:xfrm>
            <a:off x="3784750" y="2969533"/>
            <a:ext cx="1645096" cy="186689"/>
          </a:xfrm>
          <a:prstGeom prst="rect">
            <a:avLst/>
          </a:prstGeom>
          <a:noFill/>
        </p:spPr>
        <p:txBody>
          <a:bodyPr wrap="none" lIns="0" rIns="0" tIns="0" bIns="0">
            <a:spAutoFit/>
          </a:bodyPr>
          <a:lstStyle/>
          <a:p>
            <a:r>
              <a:rPr sz="1100" b="0">
                <a:solidFill>
                  <a:srgbClr val="2E2E2E"/>
                </a:solidFill>
                <a:latin typeface="Calibri"/>
              </a:rPr>
              <a:t>mix of 3 tracked categories.</a:t>
            </a:r>
          </a:p>
        </p:txBody>
      </p:sp>
      <p:sp>
        <p:nvSpPr>
          <p:cNvPr id="20" name="TextBox 19"/>
          <p:cNvSpPr txBox="1"/>
          <p:nvPr/>
        </p:nvSpPr>
        <p:spPr>
          <a:xfrm>
            <a:off x="8785375" y="2801893"/>
            <a:ext cx="2275383" cy="186689"/>
          </a:xfrm>
          <a:prstGeom prst="rect">
            <a:avLst/>
          </a:prstGeom>
          <a:noFill/>
        </p:spPr>
        <p:txBody>
          <a:bodyPr wrap="none" lIns="0" rIns="0" tIns="0" bIns="0">
            <a:spAutoFit/>
          </a:bodyPr>
          <a:lstStyle/>
          <a:p>
            <a:r>
              <a:rPr sz="1100" b="0">
                <a:solidFill>
                  <a:srgbClr val="2E2E2E"/>
                </a:solidFill>
                <a:latin typeface="Calibri"/>
              </a:rPr>
              <a:t>Lead: Micronized Eggshell Membrane ·</a:t>
            </a:r>
          </a:p>
        </p:txBody>
      </p:sp>
      <p:pic>
        <p:nvPicPr>
          <p:cNvPr id="21" name="Picture 20" descr="lock.png"/>
          <p:cNvPicPr>
            <a:picLocks noChangeAspect="1"/>
          </p:cNvPicPr>
          <p:nvPr/>
        </p:nvPicPr>
        <p:blipFill>
          <a:blip r:embed="rId4"/>
          <a:stretch>
            <a:fillRect/>
          </a:stretch>
        </p:blipFill>
        <p:spPr>
          <a:xfrm>
            <a:off x="11008810" y="2792114"/>
            <a:ext cx="128699" cy="187198"/>
          </a:xfrm>
          <a:prstGeom prst="rect">
            <a:avLst/>
          </a:prstGeom>
        </p:spPr>
      </p:pic>
      <p:sp>
        <p:nvSpPr>
          <p:cNvPr id="22" name="TextBox 21"/>
          <p:cNvSpPr txBox="1"/>
          <p:nvPr/>
        </p:nvSpPr>
        <p:spPr>
          <a:xfrm>
            <a:off x="11176306" y="2801893"/>
            <a:ext cx="389433" cy="186689"/>
          </a:xfrm>
          <a:prstGeom prst="rect">
            <a:avLst/>
          </a:prstGeom>
          <a:noFill/>
        </p:spPr>
        <p:txBody>
          <a:bodyPr wrap="none" lIns="0" rIns="0" tIns="0" bIns="0">
            <a:spAutoFit/>
          </a:bodyPr>
          <a:lstStyle/>
          <a:p>
            <a:r>
              <a:rPr sz="1100" b="0">
                <a:solidFill>
                  <a:srgbClr val="2E2E2E"/>
                </a:solidFill>
                <a:latin typeface="Calibri"/>
              </a:rPr>
              <a:t>share</a:t>
            </a:r>
          </a:p>
        </p:txBody>
      </p:sp>
      <p:sp>
        <p:nvSpPr>
          <p:cNvPr id="23" name="TextBox 22"/>
          <p:cNvSpPr txBox="1"/>
          <p:nvPr/>
        </p:nvSpPr>
        <p:spPr>
          <a:xfrm>
            <a:off x="8785375" y="2969533"/>
            <a:ext cx="444549" cy="186689"/>
          </a:xfrm>
          <a:prstGeom prst="rect">
            <a:avLst/>
          </a:prstGeom>
          <a:noFill/>
        </p:spPr>
        <p:txBody>
          <a:bodyPr wrap="none" lIns="0" rIns="0" tIns="0" bIns="0">
            <a:spAutoFit/>
          </a:bodyPr>
          <a:lstStyle/>
          <a:p>
            <a:r>
              <a:rPr sz="1100" b="0">
                <a:solidFill>
                  <a:srgbClr val="2E2E2E"/>
                </a:solidFill>
                <a:latin typeface="Calibri"/>
              </a:rPr>
              <a:t>(2036)</a:t>
            </a:r>
          </a:p>
        </p:txBody>
      </p:sp>
      <p:sp>
        <p:nvSpPr>
          <p:cNvPr id="24" name="TextBox 23"/>
          <p:cNvSpPr txBox="1"/>
          <p:nvPr/>
        </p:nvSpPr>
        <p:spPr>
          <a:xfrm>
            <a:off x="3784750" y="3842354"/>
            <a:ext cx="4356665" cy="186689"/>
          </a:xfrm>
          <a:prstGeom prst="rect">
            <a:avLst/>
          </a:prstGeom>
          <a:noFill/>
        </p:spPr>
        <p:txBody>
          <a:bodyPr wrap="none" lIns="0" rIns="0" tIns="0" bIns="0">
            <a:spAutoFit/>
          </a:bodyPr>
          <a:lstStyle/>
          <a:p>
            <a:r>
              <a:rPr sz="1100" b="0">
                <a:solidFill>
                  <a:srgbClr val="2E2E2E"/>
                </a:solidFill>
                <a:latin typeface="Calibri"/>
              </a:rPr>
              <a:t>Functional Food &amp; Beverages is the fastest-growing part of Application, at a</a:t>
            </a:r>
          </a:p>
        </p:txBody>
      </p:sp>
      <p:pic>
        <p:nvPicPr>
          <p:cNvPr id="25" name="Picture 24" descr="lock.png"/>
          <p:cNvPicPr>
            <a:picLocks noChangeAspect="1"/>
          </p:cNvPicPr>
          <p:nvPr/>
        </p:nvPicPr>
        <p:blipFill>
          <a:blip r:embed="rId4"/>
          <a:stretch>
            <a:fillRect/>
          </a:stretch>
        </p:blipFill>
        <p:spPr>
          <a:xfrm>
            <a:off x="8089467" y="3832575"/>
            <a:ext cx="128699" cy="187198"/>
          </a:xfrm>
          <a:prstGeom prst="rect">
            <a:avLst/>
          </a:prstGeom>
        </p:spPr>
      </p:pic>
      <p:sp>
        <p:nvSpPr>
          <p:cNvPr id="26" name="TextBox 25"/>
          <p:cNvSpPr txBox="1"/>
          <p:nvPr/>
        </p:nvSpPr>
        <p:spPr>
          <a:xfrm>
            <a:off x="3784750" y="4009994"/>
            <a:ext cx="2537031" cy="186689"/>
          </a:xfrm>
          <a:prstGeom prst="rect">
            <a:avLst/>
          </a:prstGeom>
          <a:noFill/>
        </p:spPr>
        <p:txBody>
          <a:bodyPr wrap="none" lIns="0" rIns="0" tIns="0" bIns="0">
            <a:spAutoFit/>
          </a:bodyPr>
          <a:lstStyle/>
          <a:p>
            <a:r>
              <a:rPr sz="1100" b="0">
                <a:solidFill>
                  <a:srgbClr val="2E2E2E"/>
                </a:solidFill>
                <a:latin typeface="Calibri"/>
              </a:rPr>
              <a:t>forecast CAGR outpacing the wider market.</a:t>
            </a:r>
          </a:p>
        </p:txBody>
      </p:sp>
      <p:sp>
        <p:nvSpPr>
          <p:cNvPr id="27" name="TextBox 26"/>
          <p:cNvSpPr txBox="1"/>
          <p:nvPr/>
        </p:nvSpPr>
        <p:spPr>
          <a:xfrm>
            <a:off x="8785375" y="3926174"/>
            <a:ext cx="2269837" cy="186689"/>
          </a:xfrm>
          <a:prstGeom prst="rect">
            <a:avLst/>
          </a:prstGeom>
          <a:noFill/>
        </p:spPr>
        <p:txBody>
          <a:bodyPr wrap="none" lIns="0" rIns="0" tIns="0" bIns="0">
            <a:spAutoFit/>
          </a:bodyPr>
          <a:lstStyle/>
          <a:p>
            <a:r>
              <a:rPr sz="1100" b="0">
                <a:solidFill>
                  <a:srgbClr val="2E2E2E"/>
                </a:solidFill>
                <a:latin typeface="Calibri"/>
              </a:rPr>
              <a:t>Fastest: Functional Food &amp; Beverages ·</a:t>
            </a:r>
          </a:p>
        </p:txBody>
      </p:sp>
      <p:pic>
        <p:nvPicPr>
          <p:cNvPr id="28" name="Picture 27" descr="lock.png"/>
          <p:cNvPicPr>
            <a:picLocks noChangeAspect="1"/>
          </p:cNvPicPr>
          <p:nvPr/>
        </p:nvPicPr>
        <p:blipFill>
          <a:blip r:embed="rId4"/>
          <a:stretch>
            <a:fillRect/>
          </a:stretch>
        </p:blipFill>
        <p:spPr>
          <a:xfrm>
            <a:off x="11003263" y="3916395"/>
            <a:ext cx="128699" cy="187198"/>
          </a:xfrm>
          <a:prstGeom prst="rect">
            <a:avLst/>
          </a:prstGeom>
        </p:spPr>
      </p:pic>
      <p:sp>
        <p:nvSpPr>
          <p:cNvPr id="29" name="TextBox 28"/>
          <p:cNvSpPr txBox="1"/>
          <p:nvPr/>
        </p:nvSpPr>
        <p:spPr>
          <a:xfrm>
            <a:off x="11170759" y="3926174"/>
            <a:ext cx="502377" cy="186689"/>
          </a:xfrm>
          <a:prstGeom prst="rect">
            <a:avLst/>
          </a:prstGeom>
          <a:noFill/>
        </p:spPr>
        <p:txBody>
          <a:bodyPr wrap="none" lIns="0" rIns="0" tIns="0" bIns="0">
            <a:spAutoFit/>
          </a:bodyPr>
          <a:lstStyle/>
          <a:p>
            <a:r>
              <a:rPr sz="1100" b="0">
                <a:solidFill>
                  <a:srgbClr val="2E2E2E"/>
                </a:solidFill>
                <a:latin typeface="Calibri"/>
              </a:rPr>
              <a:t>F-CAGR</a:t>
            </a:r>
          </a:p>
        </p:txBody>
      </p:sp>
      <p:sp>
        <p:nvSpPr>
          <p:cNvPr id="30" name="TextBox 29"/>
          <p:cNvSpPr txBox="1"/>
          <p:nvPr/>
        </p:nvSpPr>
        <p:spPr>
          <a:xfrm>
            <a:off x="3784750" y="4882815"/>
            <a:ext cx="2673474" cy="186689"/>
          </a:xfrm>
          <a:prstGeom prst="rect">
            <a:avLst/>
          </a:prstGeom>
          <a:noFill/>
        </p:spPr>
        <p:txBody>
          <a:bodyPr wrap="none" lIns="0" rIns="0" tIns="0" bIns="0">
            <a:spAutoFit/>
          </a:bodyPr>
          <a:lstStyle/>
          <a:p>
            <a:r>
              <a:rPr sz="1100" b="0">
                <a:solidFill>
                  <a:srgbClr val="2E2E2E"/>
                </a:solidFill>
                <a:latin typeface="Calibri"/>
              </a:rPr>
              <a:t>North America is the largest regional market (</a:t>
            </a:r>
          </a:p>
        </p:txBody>
      </p:sp>
      <p:pic>
        <p:nvPicPr>
          <p:cNvPr id="31" name="Picture 30" descr="lock.png"/>
          <p:cNvPicPr>
            <a:picLocks noChangeAspect="1"/>
          </p:cNvPicPr>
          <p:nvPr/>
        </p:nvPicPr>
        <p:blipFill>
          <a:blip r:embed="rId4"/>
          <a:stretch>
            <a:fillRect/>
          </a:stretch>
        </p:blipFill>
        <p:spPr>
          <a:xfrm>
            <a:off x="6406275" y="4873036"/>
            <a:ext cx="128699" cy="187198"/>
          </a:xfrm>
          <a:prstGeom prst="rect">
            <a:avLst/>
          </a:prstGeom>
        </p:spPr>
      </p:pic>
      <p:sp>
        <p:nvSpPr>
          <p:cNvPr id="32" name="TextBox 31"/>
          <p:cNvSpPr txBox="1"/>
          <p:nvPr/>
        </p:nvSpPr>
        <p:spPr>
          <a:xfrm>
            <a:off x="6573771" y="4882815"/>
            <a:ext cx="2016720" cy="186689"/>
          </a:xfrm>
          <a:prstGeom prst="rect">
            <a:avLst/>
          </a:prstGeom>
          <a:noFill/>
        </p:spPr>
        <p:txBody>
          <a:bodyPr wrap="none" lIns="0" rIns="0" tIns="0" bIns="0">
            <a:spAutoFit/>
          </a:bodyPr>
          <a:lstStyle/>
          <a:p>
            <a:r>
              <a:rPr sz="1100" b="0">
                <a:solidFill>
                  <a:srgbClr val="2E2E2E"/>
                </a:solidFill>
                <a:latin typeface="Calibri"/>
              </a:rPr>
              <a:t>of 2036 value), while South Asia &amp;</a:t>
            </a:r>
          </a:p>
        </p:txBody>
      </p:sp>
      <p:sp>
        <p:nvSpPr>
          <p:cNvPr id="33" name="TextBox 32"/>
          <p:cNvSpPr txBox="1"/>
          <p:nvPr/>
        </p:nvSpPr>
        <p:spPr>
          <a:xfrm>
            <a:off x="3784750" y="5050455"/>
            <a:ext cx="1374154" cy="186689"/>
          </a:xfrm>
          <a:prstGeom prst="rect">
            <a:avLst/>
          </a:prstGeom>
          <a:noFill/>
        </p:spPr>
        <p:txBody>
          <a:bodyPr wrap="none" lIns="0" rIns="0" tIns="0" bIns="0">
            <a:spAutoFit/>
          </a:bodyPr>
          <a:lstStyle/>
          <a:p>
            <a:r>
              <a:rPr sz="1100" b="0">
                <a:solidFill>
                  <a:srgbClr val="2E2E2E"/>
                </a:solidFill>
                <a:latin typeface="Calibri"/>
              </a:rPr>
              <a:t>Pacific grows fastest at</a:t>
            </a:r>
          </a:p>
        </p:txBody>
      </p:sp>
      <p:pic>
        <p:nvPicPr>
          <p:cNvPr id="34" name="Picture 33" descr="lock.png"/>
          <p:cNvPicPr>
            <a:picLocks noChangeAspect="1"/>
          </p:cNvPicPr>
          <p:nvPr/>
        </p:nvPicPr>
        <p:blipFill>
          <a:blip r:embed="rId4"/>
          <a:stretch>
            <a:fillRect/>
          </a:stretch>
        </p:blipFill>
        <p:spPr>
          <a:xfrm>
            <a:off x="5106956" y="5040676"/>
            <a:ext cx="128699" cy="187198"/>
          </a:xfrm>
          <a:prstGeom prst="rect">
            <a:avLst/>
          </a:prstGeom>
        </p:spPr>
      </p:pic>
      <p:sp>
        <p:nvSpPr>
          <p:cNvPr id="35" name="TextBox 34"/>
          <p:cNvSpPr txBox="1"/>
          <p:nvPr/>
        </p:nvSpPr>
        <p:spPr>
          <a:xfrm>
            <a:off x="5274452" y="5050455"/>
            <a:ext cx="111397" cy="186689"/>
          </a:xfrm>
          <a:prstGeom prst="rect">
            <a:avLst/>
          </a:prstGeom>
          <a:noFill/>
        </p:spPr>
        <p:txBody>
          <a:bodyPr wrap="none" lIns="0" rIns="0" tIns="0" bIns="0">
            <a:spAutoFit/>
          </a:bodyPr>
          <a:lstStyle/>
          <a:p>
            <a:r>
              <a:rPr sz="1100" b="0">
                <a:solidFill>
                  <a:srgbClr val="2E2E2E"/>
                </a:solidFill>
                <a:latin typeface="Calibri"/>
              </a:rPr>
              <a:t>.</a:t>
            </a:r>
          </a:p>
        </p:txBody>
      </p:sp>
      <p:sp>
        <p:nvSpPr>
          <p:cNvPr id="36" name="TextBox 35"/>
          <p:cNvSpPr txBox="1"/>
          <p:nvPr/>
        </p:nvSpPr>
        <p:spPr>
          <a:xfrm>
            <a:off x="8785375" y="4882815"/>
            <a:ext cx="1464195" cy="186689"/>
          </a:xfrm>
          <a:prstGeom prst="rect">
            <a:avLst/>
          </a:prstGeom>
          <a:noFill/>
        </p:spPr>
        <p:txBody>
          <a:bodyPr wrap="none" lIns="0" rIns="0" tIns="0" bIns="0">
            <a:spAutoFit/>
          </a:bodyPr>
          <a:lstStyle/>
          <a:p>
            <a:r>
              <a:rPr sz="1100" b="0">
                <a:solidFill>
                  <a:srgbClr val="2E2E2E"/>
                </a:solidFill>
                <a:latin typeface="Calibri"/>
              </a:rPr>
              <a:t>Largest: North America (</a:t>
            </a:r>
          </a:p>
        </p:txBody>
      </p:sp>
      <p:pic>
        <p:nvPicPr>
          <p:cNvPr id="37" name="Picture 36" descr="lock.png"/>
          <p:cNvPicPr>
            <a:picLocks noChangeAspect="1"/>
          </p:cNvPicPr>
          <p:nvPr/>
        </p:nvPicPr>
        <p:blipFill>
          <a:blip r:embed="rId4"/>
          <a:stretch>
            <a:fillRect/>
          </a:stretch>
        </p:blipFill>
        <p:spPr>
          <a:xfrm>
            <a:off x="10197622" y="4873036"/>
            <a:ext cx="128699" cy="187198"/>
          </a:xfrm>
          <a:prstGeom prst="rect">
            <a:avLst/>
          </a:prstGeom>
        </p:spPr>
      </p:pic>
      <p:sp>
        <p:nvSpPr>
          <p:cNvPr id="38" name="TextBox 37"/>
          <p:cNvSpPr txBox="1"/>
          <p:nvPr/>
        </p:nvSpPr>
        <p:spPr>
          <a:xfrm>
            <a:off x="10365118" y="4882815"/>
            <a:ext cx="1413931" cy="186689"/>
          </a:xfrm>
          <a:prstGeom prst="rect">
            <a:avLst/>
          </a:prstGeom>
          <a:noFill/>
        </p:spPr>
        <p:txBody>
          <a:bodyPr wrap="none" lIns="0" rIns="0" tIns="0" bIns="0">
            <a:spAutoFit/>
          </a:bodyPr>
          <a:lstStyle/>
          <a:p>
            <a:r>
              <a:rPr sz="1100" b="0">
                <a:solidFill>
                  <a:srgbClr val="2E2E2E"/>
                </a:solidFill>
                <a:latin typeface="Calibri"/>
              </a:rPr>
              <a:t>) · Fastest: South Asia &amp;</a:t>
            </a:r>
          </a:p>
        </p:txBody>
      </p:sp>
      <p:sp>
        <p:nvSpPr>
          <p:cNvPr id="39" name="TextBox 38"/>
          <p:cNvSpPr txBox="1"/>
          <p:nvPr/>
        </p:nvSpPr>
        <p:spPr>
          <a:xfrm>
            <a:off x="8785375" y="5050455"/>
            <a:ext cx="514672" cy="186689"/>
          </a:xfrm>
          <a:prstGeom prst="rect">
            <a:avLst/>
          </a:prstGeom>
          <a:noFill/>
        </p:spPr>
        <p:txBody>
          <a:bodyPr wrap="none" lIns="0" rIns="0" tIns="0" bIns="0">
            <a:spAutoFit/>
          </a:bodyPr>
          <a:lstStyle/>
          <a:p>
            <a:r>
              <a:rPr sz="1100" b="0">
                <a:solidFill>
                  <a:srgbClr val="2E2E2E"/>
                </a:solidFill>
                <a:latin typeface="Calibri"/>
              </a:rPr>
              <a:t>Pacific (</a:t>
            </a:r>
          </a:p>
        </p:txBody>
      </p:sp>
      <p:pic>
        <p:nvPicPr>
          <p:cNvPr id="40" name="Picture 39" descr="lock.png"/>
          <p:cNvPicPr>
            <a:picLocks noChangeAspect="1"/>
          </p:cNvPicPr>
          <p:nvPr/>
        </p:nvPicPr>
        <p:blipFill>
          <a:blip r:embed="rId4"/>
          <a:stretch>
            <a:fillRect/>
          </a:stretch>
        </p:blipFill>
        <p:spPr>
          <a:xfrm>
            <a:off x="9248099" y="5040676"/>
            <a:ext cx="128699" cy="187198"/>
          </a:xfrm>
          <a:prstGeom prst="rect">
            <a:avLst/>
          </a:prstGeom>
        </p:spPr>
      </p:pic>
      <p:sp>
        <p:nvSpPr>
          <p:cNvPr id="41" name="TextBox 40"/>
          <p:cNvSpPr txBox="1"/>
          <p:nvPr/>
        </p:nvSpPr>
        <p:spPr>
          <a:xfrm>
            <a:off x="9415594" y="5050455"/>
            <a:ext cx="118491" cy="186689"/>
          </a:xfrm>
          <a:prstGeom prst="rect">
            <a:avLst/>
          </a:prstGeom>
          <a:noFill/>
        </p:spPr>
        <p:txBody>
          <a:bodyPr wrap="none" lIns="0" rIns="0" tIns="0" bIns="0">
            <a:spAutoFit/>
          </a:bodyPr>
          <a:lstStyle/>
          <a:p>
            <a:r>
              <a:rPr sz="1100" b="0">
                <a:solidFill>
                  <a:srgbClr val="2E2E2E"/>
                </a:solidFill>
                <a:latin typeface="Calibri"/>
              </a:rPr>
              <a:t>)</a:t>
            </a:r>
          </a:p>
        </p:txBody>
      </p:sp>
      <p:sp>
        <p:nvSpPr>
          <p:cNvPr id="42" name="TextBox 41"/>
          <p:cNvSpPr txBox="1"/>
          <p:nvPr/>
        </p:nvSpPr>
        <p:spPr>
          <a:xfrm>
            <a:off x="3784750" y="5923276"/>
            <a:ext cx="945777" cy="186689"/>
          </a:xfrm>
          <a:prstGeom prst="rect">
            <a:avLst/>
          </a:prstGeom>
          <a:noFill/>
        </p:spPr>
        <p:txBody>
          <a:bodyPr wrap="none" lIns="0" rIns="0" tIns="0" bIns="0">
            <a:spAutoFit/>
          </a:bodyPr>
          <a:lstStyle/>
          <a:p>
            <a:r>
              <a:rPr sz="1100" b="0">
                <a:solidFill>
                  <a:srgbClr val="2E2E2E"/>
                </a:solidFill>
                <a:latin typeface="Calibri"/>
              </a:rPr>
              <a:t>An incremental</a:t>
            </a:r>
          </a:p>
        </p:txBody>
      </p:sp>
      <p:pic>
        <p:nvPicPr>
          <p:cNvPr id="43" name="Picture 42" descr="lock.png"/>
          <p:cNvPicPr>
            <a:picLocks noChangeAspect="1"/>
          </p:cNvPicPr>
          <p:nvPr/>
        </p:nvPicPr>
        <p:blipFill>
          <a:blip r:embed="rId4"/>
          <a:stretch>
            <a:fillRect/>
          </a:stretch>
        </p:blipFill>
        <p:spPr>
          <a:xfrm>
            <a:off x="4678579" y="5913497"/>
            <a:ext cx="128699" cy="187198"/>
          </a:xfrm>
          <a:prstGeom prst="rect">
            <a:avLst/>
          </a:prstGeom>
        </p:spPr>
      </p:pic>
      <p:sp>
        <p:nvSpPr>
          <p:cNvPr id="44" name="TextBox 43"/>
          <p:cNvSpPr txBox="1"/>
          <p:nvPr/>
        </p:nvSpPr>
        <p:spPr>
          <a:xfrm>
            <a:off x="4846075" y="5923276"/>
            <a:ext cx="3125043" cy="186689"/>
          </a:xfrm>
          <a:prstGeom prst="rect">
            <a:avLst/>
          </a:prstGeom>
          <a:noFill/>
        </p:spPr>
        <p:txBody>
          <a:bodyPr wrap="none" lIns="0" rIns="0" tIns="0" bIns="0">
            <a:spAutoFit/>
          </a:bodyPr>
          <a:lstStyle/>
          <a:p>
            <a:r>
              <a:rPr sz="1100" b="0">
                <a:solidFill>
                  <a:srgbClr val="2E2E2E"/>
                </a:solidFill>
                <a:latin typeface="Calibri"/>
              </a:rPr>
              <a:t>US$ Mn of demand is added between 2026 and 2036,</a:t>
            </a:r>
          </a:p>
        </p:txBody>
      </p:sp>
      <p:sp>
        <p:nvSpPr>
          <p:cNvPr id="45" name="TextBox 44"/>
          <p:cNvSpPr txBox="1"/>
          <p:nvPr/>
        </p:nvSpPr>
        <p:spPr>
          <a:xfrm>
            <a:off x="3784750" y="6090916"/>
            <a:ext cx="3324497" cy="186689"/>
          </a:xfrm>
          <a:prstGeom prst="rect">
            <a:avLst/>
          </a:prstGeom>
          <a:noFill/>
        </p:spPr>
        <p:txBody>
          <a:bodyPr wrap="none" lIns="0" rIns="0" tIns="0" bIns="0">
            <a:spAutoFit/>
          </a:bodyPr>
          <a:lstStyle/>
          <a:p>
            <a:r>
              <a:rPr sz="1100" b="0">
                <a:solidFill>
                  <a:srgbClr val="2E2E2E"/>
                </a:solidFill>
                <a:latin typeface="Calibri"/>
              </a:rPr>
              <a:t>front-loaded in the leading categories and regions above.</a:t>
            </a:r>
          </a:p>
        </p:txBody>
      </p:sp>
      <p:sp>
        <p:nvSpPr>
          <p:cNvPr id="46" name="TextBox 45"/>
          <p:cNvSpPr txBox="1"/>
          <p:nvPr/>
        </p:nvSpPr>
        <p:spPr>
          <a:xfrm>
            <a:off x="8785375" y="6007096"/>
            <a:ext cx="857919" cy="186689"/>
          </a:xfrm>
          <a:prstGeom prst="rect">
            <a:avLst/>
          </a:prstGeom>
          <a:noFill/>
        </p:spPr>
        <p:txBody>
          <a:bodyPr wrap="none" lIns="0" rIns="0" tIns="0" bIns="0">
            <a:spAutoFit/>
          </a:bodyPr>
          <a:lstStyle/>
          <a:p>
            <a:r>
              <a:rPr sz="1100" b="0">
                <a:solidFill>
                  <a:srgbClr val="2E2E2E"/>
                </a:solidFill>
                <a:latin typeface="Calibri"/>
              </a:rPr>
              <a:t>$ opportunity</a:t>
            </a:r>
          </a:p>
        </p:txBody>
      </p:sp>
      <p:pic>
        <p:nvPicPr>
          <p:cNvPr id="47" name="Picture 46" descr="lock.png"/>
          <p:cNvPicPr>
            <a:picLocks noChangeAspect="1"/>
          </p:cNvPicPr>
          <p:nvPr/>
        </p:nvPicPr>
        <p:blipFill>
          <a:blip r:embed="rId4"/>
          <a:stretch>
            <a:fillRect/>
          </a:stretch>
        </p:blipFill>
        <p:spPr>
          <a:xfrm>
            <a:off x="9591346" y="5997317"/>
            <a:ext cx="128699" cy="187198"/>
          </a:xfrm>
          <a:prstGeom prst="rect">
            <a:avLst/>
          </a:prstGeom>
        </p:spPr>
      </p:pic>
      <p:sp>
        <p:nvSpPr>
          <p:cNvPr id="48" name="TextBox 47"/>
          <p:cNvSpPr txBox="1"/>
          <p:nvPr/>
        </p:nvSpPr>
        <p:spPr>
          <a:xfrm>
            <a:off x="9758842" y="6007096"/>
            <a:ext cx="1345778" cy="186689"/>
          </a:xfrm>
          <a:prstGeom prst="rect">
            <a:avLst/>
          </a:prstGeom>
          <a:noFill/>
        </p:spPr>
        <p:txBody>
          <a:bodyPr wrap="none" lIns="0" rIns="0" tIns="0" bIns="0">
            <a:spAutoFit/>
          </a:bodyPr>
          <a:lstStyle/>
          <a:p>
            <a:r>
              <a:rPr sz="1100" b="0">
                <a:solidFill>
                  <a:srgbClr val="2E2E2E"/>
                </a:solidFill>
                <a:latin typeface="Calibri"/>
              </a:rPr>
              <a:t>US$ Mn (2026–2036) ·</a:t>
            </a:r>
          </a:p>
        </p:txBody>
      </p:sp>
      <p:pic>
        <p:nvPicPr>
          <p:cNvPr id="49" name="Picture 48" descr="lock.png"/>
          <p:cNvPicPr>
            <a:picLocks noChangeAspect="1"/>
          </p:cNvPicPr>
          <p:nvPr/>
        </p:nvPicPr>
        <p:blipFill>
          <a:blip r:embed="rId4"/>
          <a:stretch>
            <a:fillRect/>
          </a:stretch>
        </p:blipFill>
        <p:spPr>
          <a:xfrm>
            <a:off x="11052672" y="5997317"/>
            <a:ext cx="128699" cy="187198"/>
          </a:xfrm>
          <a:prstGeom prst="rect">
            <a:avLst/>
          </a:prstGeom>
        </p:spPr>
      </p:pic>
      <p:sp>
        <p:nvSpPr>
          <p:cNvPr id="50" name="TextBox 49"/>
          <p:cNvSpPr txBox="1"/>
          <p:nvPr/>
        </p:nvSpPr>
        <p:spPr>
          <a:xfrm>
            <a:off x="11220167" y="6007096"/>
            <a:ext cx="528315" cy="186689"/>
          </a:xfrm>
          <a:prstGeom prst="rect">
            <a:avLst/>
          </a:prstGeom>
          <a:noFill/>
        </p:spPr>
        <p:txBody>
          <a:bodyPr wrap="none" lIns="0" rIns="0" tIns="0" bIns="0">
            <a:spAutoFit/>
          </a:bodyPr>
          <a:lstStyle/>
          <a:p>
            <a:r>
              <a:rPr sz="1100" b="0">
                <a:solidFill>
                  <a:srgbClr val="2E2E2E"/>
                </a:solidFill>
                <a:latin typeface="Calibri"/>
              </a:rPr>
              <a:t>by 2031</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2A63"/>
        </a:solidFill>
        <a:effectLst/>
      </p:bgPr>
    </p:bg>
    <p:spTree>
      <p:nvGrpSpPr>
        <p:cNvPr id="1" name=""/>
        <p:cNvGrpSpPr/>
        <p:nvPr/>
      </p:nvGrpSpPr>
      <p:grpSpPr/>
      <p:sp>
        <p:nvSpPr>
          <p:cNvPr id="2" name="TMR Section Breaker"/>
          <p:cNvSpPr/>
          <p:nvPr/>
        </p:nvSpPr>
        <p:spPr>
          <a:xfrm>
            <a:off x="0" y="0"/>
            <a:ext cx="12192000" cy="6858000"/>
          </a:xfrm>
          <a:prstGeom prst="rect">
            <a:avLst/>
          </a:prstGeom>
          <a:gradFill rotWithShape="1">
            <a:gsLst>
              <a:gs pos="0">
                <a:srgbClr val="0A2A63"/>
              </a:gs>
              <a:gs pos="100000">
                <a:srgbClr val="0F3F8F"/>
              </a:gs>
            </a:gsLst>
            <a:lin scaled="0" ang="19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35280" y="198120"/>
            <a:ext cx="1459992" cy="112790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411480" y="274320"/>
            <a:ext cx="1307592" cy="975505"/>
          </a:xfrm>
          <a:prstGeom prst="rect">
            <a:avLst/>
          </a:prstGeom>
        </p:spPr>
      </p:pic>
      <p:sp>
        <p:nvSpPr>
          <p:cNvPr id="5" name="TextBox 4"/>
          <p:cNvSpPr txBox="1"/>
          <p:nvPr/>
        </p:nvSpPr>
        <p:spPr>
          <a:xfrm>
            <a:off x="914400" y="3000375"/>
            <a:ext cx="7239000" cy="247650"/>
          </a:xfrm>
          <a:prstGeom prst="rect">
            <a:avLst/>
          </a:prstGeom>
          <a:noFill/>
        </p:spPr>
        <p:txBody>
          <a:bodyPr wrap="none" lIns="0" tIns="0">
            <a:spAutoFit/>
          </a:bodyPr>
          <a:lstStyle/>
          <a:p>
            <a:r>
              <a:rPr sz="1400" b="0">
                <a:solidFill>
                  <a:srgbClr val="8FC8F2"/>
                </a:solidFill>
                <a:latin typeface="Calibri"/>
              </a:rPr>
              <a:t>Egg Protein Membrane Market</a:t>
            </a:r>
          </a:p>
        </p:txBody>
      </p:sp>
      <p:sp>
        <p:nvSpPr>
          <p:cNvPr id="6" name="TMR Breaker Title"/>
          <p:cNvSpPr txBox="1"/>
          <p:nvPr/>
        </p:nvSpPr>
        <p:spPr>
          <a:xfrm>
            <a:off x="914400" y="3305175"/>
            <a:ext cx="7239000" cy="514350"/>
          </a:xfrm>
          <a:prstGeom prst="rect">
            <a:avLst/>
          </a:prstGeom>
          <a:noFill/>
        </p:spPr>
        <p:txBody>
          <a:bodyPr wrap="square" lIns="0" rIns="0" tIns="0">
            <a:spAutoFit/>
          </a:bodyPr>
          <a:lstStyle/>
          <a:p>
            <a:r>
              <a:rPr sz="3000" b="1" cap="all" spc="400">
                <a:solidFill>
                  <a:srgbClr val="FFFFFF"/>
                </a:solidFill>
                <a:latin typeface="Calibri"/>
              </a:rPr>
              <a:t>Market Overview</a:t>
            </a:r>
          </a:p>
        </p:txBody>
      </p:sp>
      <p:sp>
        <p:nvSpPr>
          <p:cNvPr id="7" name="TextBox 6"/>
          <p:cNvSpPr txBox="1"/>
          <p:nvPr/>
        </p:nvSpPr>
        <p:spPr>
          <a:xfrm>
            <a:off x="914400" y="4010025"/>
            <a:ext cx="71247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Market Taxonomy</a:t>
            </a:r>
          </a:p>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Table of Contents</a:t>
            </a:r>
          </a:p>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List of Figures, List of Tables</a:t>
            </a:r>
          </a:p>
        </p:txBody>
      </p:sp>
      <p:sp>
        <p:nvSpPr>
          <p:cNvPr id="8" name="TextBox 7"/>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C9DCEE"/>
                </a:solidFill>
                <a:latin typeface="Calibri"/>
              </a:rPr>
              <a:t>©2026 Transparency Market Research, All Rights Reserved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3F8FD"/>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3F8FD"/>
              </a:gs>
              <a:gs pos="100000">
                <a:srgbClr val="DCE9F6"/>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FE0F0">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9C8E6">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B7D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A5F8F"/>
              </a:gs>
              <a:gs pos="100000">
                <a:srgbClr val="6FA6D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MR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2</a:t>
            </a:r>
          </a:p>
        </p:txBody>
      </p:sp>
      <p:pic>
        <p:nvPicPr>
          <p:cNvPr id="8" name="Picture 7" descr="tmr_logo.png"/>
          <p:cNvPicPr>
            <a:picLocks noChangeAspect="1"/>
          </p:cNvPicPr>
          <p:nvPr/>
        </p:nvPicPr>
        <p:blipFill>
          <a:blip r:embed="rId2"/>
          <a:stretch>
            <a:fillRect/>
          </a:stretch>
        </p:blipFill>
        <p:spPr>
          <a:xfrm>
            <a:off x="411480" y="274320"/>
            <a:ext cx="1307592" cy="975505"/>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2A5F8F"/>
                </a:solidFill>
                <a:latin typeface="Calibri"/>
              </a:rPr>
              <a:t>Egg Protein Membrane Market</a:t>
            </a:r>
          </a:p>
        </p:txBody>
      </p:sp>
      <p:sp>
        <p:nvSpPr>
          <p:cNvPr id="10" name="TMR Section Title"/>
          <p:cNvSpPr txBox="1"/>
          <p:nvPr/>
        </p:nvSpPr>
        <p:spPr>
          <a:xfrm>
            <a:off x="914400" y="3095625"/>
            <a:ext cx="8572500" cy="514350"/>
          </a:xfrm>
          <a:prstGeom prst="rect">
            <a:avLst/>
          </a:prstGeom>
          <a:noFill/>
        </p:spPr>
        <p:txBody>
          <a:bodyPr wrap="square" lIns="0" rIns="0" tIns="0">
            <a:spAutoFit/>
          </a:bodyPr>
          <a:lstStyle/>
          <a:p>
            <a:r>
              <a:rPr sz="3000" b="1">
                <a:solidFill>
                  <a:srgbClr val="0E2A5C"/>
                </a:solidFill>
                <a:latin typeface="Calibri"/>
              </a:rPr>
              <a:t>Market Taxonomy</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Geographic Coverage</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Segments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Company Coverage</a:t>
            </a:r>
          </a:p>
        </p:txBody>
      </p:sp>
      <p:sp>
        <p:nvSpPr>
          <p:cNvPr id="12" name="Rectangle 11"/>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Market Taxonomy Regions</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Geographic scope of the study: the global market broken into 6 regions and the countries assessed under each</a:t>
            </a:r>
          </a:p>
        </p:txBody>
      </p:sp>
      <p:cxnSp>
        <p:nvCxnSpPr>
          <p:cNvPr id="7" name="Connector 6"/>
          <p:cNvCxnSpPr/>
          <p:nvPr/>
        </p:nvCxnSpPr>
        <p:spPr>
          <a:xfrm>
            <a:off x="6096000" y="1445350"/>
            <a:ext cx="0" cy="182537"/>
          </a:xfrm>
          <a:prstGeom prst="line">
            <a:avLst/>
          </a:prstGeom>
          <a:ln w="15875">
            <a:solidFill>
              <a:srgbClr val="79C3EC"/>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085850" y="1627887"/>
            <a:ext cx="10010775" cy="0"/>
          </a:xfrm>
          <a:prstGeom prst="line">
            <a:avLst/>
          </a:prstGeom>
          <a:ln w="15875">
            <a:solidFill>
              <a:srgbClr val="79C3EC"/>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085850" y="1627887"/>
            <a:ext cx="0" cy="182537"/>
          </a:xfrm>
          <a:prstGeom prst="line">
            <a:avLst/>
          </a:prstGeom>
          <a:ln w="15875">
            <a:solidFill>
              <a:srgbClr val="79C3EC"/>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3086100" y="1627887"/>
            <a:ext cx="0" cy="182537"/>
          </a:xfrm>
          <a:prstGeom prst="line">
            <a:avLst/>
          </a:prstGeom>
          <a:ln w="15875">
            <a:solidFill>
              <a:srgbClr val="79C3EC"/>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5086350" y="1627887"/>
            <a:ext cx="0" cy="182537"/>
          </a:xfrm>
          <a:prstGeom prst="line">
            <a:avLst/>
          </a:prstGeom>
          <a:ln w="15875">
            <a:solidFill>
              <a:srgbClr val="79C3EC"/>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096125" y="1627887"/>
            <a:ext cx="0" cy="182537"/>
          </a:xfrm>
          <a:prstGeom prst="line">
            <a:avLst/>
          </a:prstGeom>
          <a:ln w="15875">
            <a:solidFill>
              <a:srgbClr val="79C3EC"/>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9096375" y="1627887"/>
            <a:ext cx="0" cy="182537"/>
          </a:xfrm>
          <a:prstGeom prst="line">
            <a:avLst/>
          </a:prstGeom>
          <a:ln w="15875">
            <a:solidFill>
              <a:srgbClr val="79C3EC"/>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1096625" y="1627887"/>
            <a:ext cx="0" cy="182537"/>
          </a:xfrm>
          <a:prstGeom prst="line">
            <a:avLst/>
          </a:prstGeom>
          <a:ln w="15875">
            <a:solidFill>
              <a:srgbClr val="79C3EC"/>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52525" y="2111610"/>
            <a:ext cx="0" cy="155156"/>
          </a:xfrm>
          <a:prstGeom prst="line">
            <a:avLst/>
          </a:prstGeom>
          <a:ln w="15875">
            <a:solidFill>
              <a:srgbClr val="79C3EC"/>
            </a:solidFill>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152525" y="2567952"/>
            <a:ext cx="0" cy="73015"/>
          </a:xfrm>
          <a:prstGeom prst="line">
            <a:avLst/>
          </a:prstGeom>
          <a:ln w="15875">
            <a:solidFill>
              <a:srgbClr val="79C3EC"/>
            </a:solidFill>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3152775" y="2111610"/>
            <a:ext cx="0" cy="155156"/>
          </a:xfrm>
          <a:prstGeom prst="line">
            <a:avLst/>
          </a:prstGeom>
          <a:ln w="15875">
            <a:solidFill>
              <a:srgbClr val="79C3EC"/>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3152775" y="2567952"/>
            <a:ext cx="0" cy="73015"/>
          </a:xfrm>
          <a:prstGeom prst="line">
            <a:avLst/>
          </a:prstGeom>
          <a:ln w="15875">
            <a:solidFill>
              <a:srgbClr val="79C3EC"/>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3152775" y="2942153"/>
            <a:ext cx="0" cy="73015"/>
          </a:xfrm>
          <a:prstGeom prst="line">
            <a:avLst/>
          </a:prstGeom>
          <a:ln w="15875">
            <a:solidFill>
              <a:srgbClr val="79C3EC"/>
            </a:solidFill>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3152775" y="3316354"/>
            <a:ext cx="0" cy="73015"/>
          </a:xfrm>
          <a:prstGeom prst="line">
            <a:avLst/>
          </a:prstGeom>
          <a:ln w="15875">
            <a:solidFill>
              <a:srgbClr val="79C3EC"/>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5153025" y="2111610"/>
            <a:ext cx="0" cy="155156"/>
          </a:xfrm>
          <a:prstGeom prst="line">
            <a:avLst/>
          </a:prstGeom>
          <a:ln w="15875">
            <a:solidFill>
              <a:srgbClr val="79C3EC"/>
            </a:solidFill>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5153025" y="2567952"/>
            <a:ext cx="0" cy="63888"/>
          </a:xfrm>
          <a:prstGeom prst="line">
            <a:avLst/>
          </a:prstGeom>
          <a:ln w="15875">
            <a:solidFill>
              <a:srgbClr val="79C3EC"/>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5153025" y="2933026"/>
            <a:ext cx="0" cy="63888"/>
          </a:xfrm>
          <a:prstGeom prst="line">
            <a:avLst/>
          </a:prstGeom>
          <a:ln w="15875">
            <a:solidFill>
              <a:srgbClr val="79C3EC"/>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5153025" y="3298100"/>
            <a:ext cx="0" cy="63888"/>
          </a:xfrm>
          <a:prstGeom prst="line">
            <a:avLst/>
          </a:prstGeom>
          <a:ln w="15875">
            <a:solidFill>
              <a:srgbClr val="79C3EC"/>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5153025" y="3663174"/>
            <a:ext cx="0" cy="63888"/>
          </a:xfrm>
          <a:prstGeom prst="line">
            <a:avLst/>
          </a:prstGeom>
          <a:ln w="15875">
            <a:solidFill>
              <a:srgbClr val="79C3EC"/>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5153025" y="4028248"/>
            <a:ext cx="0" cy="63888"/>
          </a:xfrm>
          <a:prstGeom prst="line">
            <a:avLst/>
          </a:prstGeom>
          <a:ln w="15875">
            <a:solidFill>
              <a:srgbClr val="79C3EC"/>
            </a:solidFill>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5153025" y="4393322"/>
            <a:ext cx="0" cy="73015"/>
          </a:xfrm>
          <a:prstGeom prst="line">
            <a:avLst/>
          </a:prstGeom>
          <a:ln w="15875">
            <a:solidFill>
              <a:srgbClr val="79C3EC"/>
            </a:solidFill>
          </a:ln>
          <a:effectLst/>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5153025" y="4767523"/>
            <a:ext cx="0" cy="63888"/>
          </a:xfrm>
          <a:prstGeom prst="line">
            <a:avLst/>
          </a:prstGeom>
          <a:ln w="15875">
            <a:solidFill>
              <a:srgbClr val="79C3EC"/>
            </a:solidFill>
          </a:ln>
          <a:effectLst/>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5153025" y="5132597"/>
            <a:ext cx="0" cy="63888"/>
          </a:xfrm>
          <a:prstGeom prst="line">
            <a:avLst/>
          </a:prstGeom>
          <a:ln w="15875">
            <a:solidFill>
              <a:srgbClr val="79C3EC"/>
            </a:solidFill>
          </a:ln>
          <a:effectLst/>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5153025" y="5497671"/>
            <a:ext cx="0" cy="63888"/>
          </a:xfrm>
          <a:prstGeom prst="line">
            <a:avLst/>
          </a:prstGeom>
          <a:ln w="15875">
            <a:solidFill>
              <a:srgbClr val="79C3EC"/>
            </a:solidFill>
          </a:ln>
          <a:effectLst/>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5153025" y="5862745"/>
            <a:ext cx="0" cy="63888"/>
          </a:xfrm>
          <a:prstGeom prst="line">
            <a:avLst/>
          </a:prstGeom>
          <a:ln w="15875">
            <a:solidFill>
              <a:srgbClr val="79C3EC"/>
            </a:solidFill>
          </a:ln>
          <a:effectLst/>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5153025" y="6227819"/>
            <a:ext cx="0" cy="63888"/>
          </a:xfrm>
          <a:prstGeom prst="line">
            <a:avLst/>
          </a:prstGeom>
          <a:ln w="15875">
            <a:solidFill>
              <a:srgbClr val="79C3EC"/>
            </a:solidFill>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7162800" y="2111610"/>
            <a:ext cx="0" cy="155156"/>
          </a:xfrm>
          <a:prstGeom prst="line">
            <a:avLst/>
          </a:prstGeom>
          <a:ln w="15875">
            <a:solidFill>
              <a:srgbClr val="79C3EC"/>
            </a:solidFill>
          </a:ln>
          <a:effectLst/>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7162800" y="2567952"/>
            <a:ext cx="0" cy="73015"/>
          </a:xfrm>
          <a:prstGeom prst="line">
            <a:avLst/>
          </a:prstGeom>
          <a:ln w="15875">
            <a:solidFill>
              <a:srgbClr val="79C3EC"/>
            </a:solidFill>
          </a:ln>
          <a:effectLst/>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7162800" y="2942153"/>
            <a:ext cx="0" cy="73015"/>
          </a:xfrm>
          <a:prstGeom prst="line">
            <a:avLst/>
          </a:prstGeom>
          <a:ln w="15875">
            <a:solidFill>
              <a:srgbClr val="79C3EC"/>
            </a:solidFill>
          </a:ln>
          <a:effectLst/>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9163050" y="2111610"/>
            <a:ext cx="0" cy="155156"/>
          </a:xfrm>
          <a:prstGeom prst="line">
            <a:avLst/>
          </a:prstGeom>
          <a:ln w="15875">
            <a:solidFill>
              <a:srgbClr val="79C3EC"/>
            </a:solidFill>
          </a:ln>
          <a:effectLst/>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9163050" y="2567952"/>
            <a:ext cx="0" cy="73015"/>
          </a:xfrm>
          <a:prstGeom prst="line">
            <a:avLst/>
          </a:prstGeom>
          <a:ln w="15875">
            <a:solidFill>
              <a:srgbClr val="79C3EC"/>
            </a:solidFill>
          </a:ln>
          <a:effectLst/>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9163050" y="2942153"/>
            <a:ext cx="0" cy="73015"/>
          </a:xfrm>
          <a:prstGeom prst="line">
            <a:avLst/>
          </a:prstGeom>
          <a:ln w="15875">
            <a:solidFill>
              <a:srgbClr val="79C3EC"/>
            </a:solidFill>
          </a:ln>
          <a:effectLst/>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9163050" y="3316354"/>
            <a:ext cx="0" cy="73015"/>
          </a:xfrm>
          <a:prstGeom prst="line">
            <a:avLst/>
          </a:prstGeom>
          <a:ln w="15875">
            <a:solidFill>
              <a:srgbClr val="79C3EC"/>
            </a:solidFill>
          </a:ln>
          <a:effectLst/>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9163050" y="3690555"/>
            <a:ext cx="0" cy="73015"/>
          </a:xfrm>
          <a:prstGeom prst="line">
            <a:avLst/>
          </a:prstGeom>
          <a:ln w="15875">
            <a:solidFill>
              <a:srgbClr val="79C3EC"/>
            </a:solidFill>
          </a:ln>
          <a:effectLst/>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9163050" y="4064755"/>
            <a:ext cx="0" cy="73015"/>
          </a:xfrm>
          <a:prstGeom prst="line">
            <a:avLst/>
          </a:prstGeom>
          <a:ln w="15875">
            <a:solidFill>
              <a:srgbClr val="79C3EC"/>
            </a:solidFill>
          </a:ln>
          <a:effectLst/>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9163050" y="4438956"/>
            <a:ext cx="0" cy="73015"/>
          </a:xfrm>
          <a:prstGeom prst="line">
            <a:avLst/>
          </a:prstGeom>
          <a:ln w="15875">
            <a:solidFill>
              <a:srgbClr val="79C3EC"/>
            </a:solidFill>
          </a:ln>
          <a:effectLst/>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9163050" y="4813157"/>
            <a:ext cx="0" cy="73015"/>
          </a:xfrm>
          <a:prstGeom prst="line">
            <a:avLst/>
          </a:prstGeom>
          <a:ln w="15875">
            <a:solidFill>
              <a:srgbClr val="79C3EC"/>
            </a:solidFill>
          </a:ln>
          <a:effectLst/>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9163050" y="5187358"/>
            <a:ext cx="0" cy="73015"/>
          </a:xfrm>
          <a:prstGeom prst="line">
            <a:avLst/>
          </a:prstGeom>
          <a:ln w="15875">
            <a:solidFill>
              <a:srgbClr val="79C3EC"/>
            </a:solidFill>
          </a:ln>
          <a:effectLst/>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11163300" y="2111610"/>
            <a:ext cx="0" cy="155156"/>
          </a:xfrm>
          <a:prstGeom prst="line">
            <a:avLst/>
          </a:prstGeom>
          <a:ln w="15875">
            <a:solidFill>
              <a:srgbClr val="79C3EC"/>
            </a:solidFill>
          </a:ln>
          <a:effectLst/>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11163300" y="2567952"/>
            <a:ext cx="0" cy="73015"/>
          </a:xfrm>
          <a:prstGeom prst="line">
            <a:avLst/>
          </a:prstGeom>
          <a:ln w="15875">
            <a:solidFill>
              <a:srgbClr val="79C3EC"/>
            </a:solidFill>
          </a:ln>
          <a:effectLst/>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11163300" y="2942153"/>
            <a:ext cx="0" cy="73015"/>
          </a:xfrm>
          <a:prstGeom prst="line">
            <a:avLst/>
          </a:prstGeom>
          <a:ln w="15875">
            <a:solidFill>
              <a:srgbClr val="79C3EC"/>
            </a:solidFill>
          </a:ln>
          <a:effectLst/>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11163300" y="3316354"/>
            <a:ext cx="0" cy="73015"/>
          </a:xfrm>
          <a:prstGeom prst="line">
            <a:avLst/>
          </a:prstGeom>
          <a:ln w="15875">
            <a:solidFill>
              <a:srgbClr val="79C3EC"/>
            </a:solidFill>
          </a:ln>
          <a:effectLst/>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11163300" y="3690555"/>
            <a:ext cx="0" cy="73015"/>
          </a:xfrm>
          <a:prstGeom prst="line">
            <a:avLst/>
          </a:prstGeom>
          <a:ln w="15875">
            <a:solidFill>
              <a:srgbClr val="79C3EC"/>
            </a:solidFill>
          </a:ln>
          <a:effectLst/>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11163300" y="4064755"/>
            <a:ext cx="0" cy="73015"/>
          </a:xfrm>
          <a:prstGeom prst="line">
            <a:avLst/>
          </a:prstGeom>
          <a:ln w="15875">
            <a:solidFill>
              <a:srgbClr val="79C3EC"/>
            </a:solidFill>
          </a:ln>
          <a:effectLst/>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11163300" y="4438956"/>
            <a:ext cx="0" cy="73015"/>
          </a:xfrm>
          <a:prstGeom prst="line">
            <a:avLst/>
          </a:prstGeom>
          <a:ln w="15875">
            <a:solidFill>
              <a:srgbClr val="79C3EC"/>
            </a:solidFill>
          </a:ln>
          <a:effectLst/>
        </p:spPr>
        <p:style>
          <a:lnRef idx="2">
            <a:schemeClr val="accent1"/>
          </a:lnRef>
          <a:fillRef idx="0">
            <a:schemeClr val="accent1"/>
          </a:fillRef>
          <a:effectRef idx="1">
            <a:schemeClr val="accent1"/>
          </a:effectRef>
          <a:fontRef idx="minor">
            <a:schemeClr val="tx1"/>
          </a:fontRef>
        </p:style>
      </p:cxnSp>
      <p:sp>
        <p:nvSpPr>
          <p:cNvPr id="52" name="Rounded Rectangle 51"/>
          <p:cNvSpPr/>
          <p:nvPr/>
        </p:nvSpPr>
        <p:spPr>
          <a:xfrm>
            <a:off x="4667250" y="1080276"/>
            <a:ext cx="2857500" cy="365074"/>
          </a:xfrm>
          <a:prstGeom prst="roundRect">
            <a:avLst>
              <a:gd name="adj" fmla="val 17500"/>
            </a:avLst>
          </a:prstGeom>
          <a:solidFill>
            <a:srgbClr val="0E2A5C"/>
          </a:solidFill>
          <a:ln w="12700">
            <a:solidFill>
              <a:srgbClr val="0E2A5C"/>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ctr"/>
            <a:r>
              <a:rPr sz="1500" b="1">
                <a:solidFill>
                  <a:srgbClr val="FFFFFF"/>
                </a:solidFill>
                <a:latin typeface="Calibri"/>
              </a:rPr>
              <a:t>Egg Protein Membrane Market</a:t>
            </a:r>
          </a:p>
        </p:txBody>
      </p:sp>
      <p:sp>
        <p:nvSpPr>
          <p:cNvPr id="53" name="Rounded Rectangle 52"/>
          <p:cNvSpPr/>
          <p:nvPr/>
        </p:nvSpPr>
        <p:spPr>
          <a:xfrm>
            <a:off x="142875" y="1810424"/>
            <a:ext cx="1885950" cy="301186"/>
          </a:xfrm>
          <a:prstGeom prst="roundRect">
            <a:avLst>
              <a:gd name="adj" fmla="val 21212"/>
            </a:avLst>
          </a:prstGeom>
          <a:solidFill>
            <a:srgbClr val="2A5F8F"/>
          </a:solidFill>
          <a:ln w="12700">
            <a:solidFill>
              <a:srgbClr val="2A5F8F"/>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ctr"/>
            <a:r>
              <a:rPr sz="1100" b="1">
                <a:solidFill>
                  <a:srgbClr val="FFFFFF"/>
                </a:solidFill>
                <a:latin typeface="Calibri"/>
              </a:rPr>
              <a:t>North America</a:t>
            </a:r>
          </a:p>
        </p:txBody>
      </p:sp>
      <p:sp>
        <p:nvSpPr>
          <p:cNvPr id="54" name="Rounded Rectangle 53"/>
          <p:cNvSpPr/>
          <p:nvPr/>
        </p:nvSpPr>
        <p:spPr>
          <a:xfrm>
            <a:off x="276225" y="2266766"/>
            <a:ext cx="1752600" cy="301186"/>
          </a:xfrm>
          <a:prstGeom prst="roundRect">
            <a:avLst>
              <a:gd name="adj" fmla="val 21212"/>
            </a:avLst>
          </a:prstGeom>
          <a:solidFill>
            <a:srgbClr val="FFFFFF"/>
          </a:solidFill>
          <a:ln w="12700">
            <a:solidFill>
              <a:srgbClr val="79C3EC"/>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E2A5C"/>
                </a:solidFill>
                <a:latin typeface="Calibri"/>
              </a:rPr>
              <a:t>U.S.</a:t>
            </a:r>
          </a:p>
        </p:txBody>
      </p:sp>
      <p:sp>
        <p:nvSpPr>
          <p:cNvPr id="55" name="Rounded Rectangle 54"/>
          <p:cNvSpPr/>
          <p:nvPr/>
        </p:nvSpPr>
        <p:spPr>
          <a:xfrm>
            <a:off x="276225" y="2640967"/>
            <a:ext cx="1752600" cy="301186"/>
          </a:xfrm>
          <a:prstGeom prst="roundRect">
            <a:avLst>
              <a:gd name="adj" fmla="val 21212"/>
            </a:avLst>
          </a:prstGeom>
          <a:solidFill>
            <a:srgbClr val="FFFFFF"/>
          </a:solidFill>
          <a:ln w="12700">
            <a:solidFill>
              <a:srgbClr val="79C3EC"/>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E2A5C"/>
                </a:solidFill>
                <a:latin typeface="Calibri"/>
              </a:rPr>
              <a:t>Canada</a:t>
            </a:r>
          </a:p>
        </p:txBody>
      </p:sp>
      <p:sp>
        <p:nvSpPr>
          <p:cNvPr id="56" name="Rounded Rectangle 55"/>
          <p:cNvSpPr/>
          <p:nvPr/>
        </p:nvSpPr>
        <p:spPr>
          <a:xfrm>
            <a:off x="2143125" y="1810424"/>
            <a:ext cx="1885950" cy="301186"/>
          </a:xfrm>
          <a:prstGeom prst="roundRect">
            <a:avLst>
              <a:gd name="adj" fmla="val 21212"/>
            </a:avLst>
          </a:prstGeom>
          <a:solidFill>
            <a:srgbClr val="2A5F8F"/>
          </a:solidFill>
          <a:ln w="12700">
            <a:solidFill>
              <a:srgbClr val="2A5F8F"/>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ctr"/>
            <a:r>
              <a:rPr sz="1100" b="1">
                <a:solidFill>
                  <a:srgbClr val="FFFFFF"/>
                </a:solidFill>
                <a:latin typeface="Calibri"/>
              </a:rPr>
              <a:t>Latin America</a:t>
            </a:r>
          </a:p>
        </p:txBody>
      </p:sp>
      <p:sp>
        <p:nvSpPr>
          <p:cNvPr id="57" name="Rounded Rectangle 56"/>
          <p:cNvSpPr/>
          <p:nvPr/>
        </p:nvSpPr>
        <p:spPr>
          <a:xfrm>
            <a:off x="2276475" y="2266766"/>
            <a:ext cx="1752600" cy="301186"/>
          </a:xfrm>
          <a:prstGeom prst="roundRect">
            <a:avLst>
              <a:gd name="adj" fmla="val 21212"/>
            </a:avLst>
          </a:prstGeom>
          <a:solidFill>
            <a:srgbClr val="FFFFFF"/>
          </a:solidFill>
          <a:ln w="12700">
            <a:solidFill>
              <a:srgbClr val="79C3EC"/>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E2A5C"/>
                </a:solidFill>
                <a:latin typeface="Calibri"/>
              </a:rPr>
              <a:t>Brazil</a:t>
            </a:r>
          </a:p>
        </p:txBody>
      </p:sp>
      <p:sp>
        <p:nvSpPr>
          <p:cNvPr id="58" name="Rounded Rectangle 57"/>
          <p:cNvSpPr/>
          <p:nvPr/>
        </p:nvSpPr>
        <p:spPr>
          <a:xfrm>
            <a:off x="2276475" y="2640967"/>
            <a:ext cx="1752600" cy="301186"/>
          </a:xfrm>
          <a:prstGeom prst="roundRect">
            <a:avLst>
              <a:gd name="adj" fmla="val 21212"/>
            </a:avLst>
          </a:prstGeom>
          <a:solidFill>
            <a:srgbClr val="FFFFFF"/>
          </a:solidFill>
          <a:ln w="12700">
            <a:solidFill>
              <a:srgbClr val="79C3EC"/>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E2A5C"/>
                </a:solidFill>
                <a:latin typeface="Calibri"/>
              </a:rPr>
              <a:t>Mexico</a:t>
            </a:r>
          </a:p>
        </p:txBody>
      </p:sp>
      <p:sp>
        <p:nvSpPr>
          <p:cNvPr id="59" name="Rounded Rectangle 58"/>
          <p:cNvSpPr/>
          <p:nvPr/>
        </p:nvSpPr>
        <p:spPr>
          <a:xfrm>
            <a:off x="2276475" y="3015168"/>
            <a:ext cx="1752600" cy="301186"/>
          </a:xfrm>
          <a:prstGeom prst="roundRect">
            <a:avLst>
              <a:gd name="adj" fmla="val 21212"/>
            </a:avLst>
          </a:prstGeom>
          <a:solidFill>
            <a:srgbClr val="FFFFFF"/>
          </a:solidFill>
          <a:ln w="12700">
            <a:solidFill>
              <a:srgbClr val="79C3EC"/>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E2A5C"/>
                </a:solidFill>
                <a:latin typeface="Calibri"/>
              </a:rPr>
              <a:t>Colombia</a:t>
            </a:r>
          </a:p>
        </p:txBody>
      </p:sp>
      <p:sp>
        <p:nvSpPr>
          <p:cNvPr id="60" name="Rounded Rectangle 59"/>
          <p:cNvSpPr/>
          <p:nvPr/>
        </p:nvSpPr>
        <p:spPr>
          <a:xfrm>
            <a:off x="2276475" y="3389369"/>
            <a:ext cx="1752600" cy="301186"/>
          </a:xfrm>
          <a:prstGeom prst="roundRect">
            <a:avLst>
              <a:gd name="adj" fmla="val 21212"/>
            </a:avLst>
          </a:prstGeom>
          <a:solidFill>
            <a:srgbClr val="FFFFFF"/>
          </a:solidFill>
          <a:ln w="12700">
            <a:solidFill>
              <a:srgbClr val="79C3EC"/>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E2A5C"/>
                </a:solidFill>
                <a:latin typeface="Calibri"/>
              </a:rPr>
              <a:t>Rest of Latin America</a:t>
            </a:r>
          </a:p>
        </p:txBody>
      </p:sp>
      <p:sp>
        <p:nvSpPr>
          <p:cNvPr id="61" name="Rounded Rectangle 60"/>
          <p:cNvSpPr/>
          <p:nvPr/>
        </p:nvSpPr>
        <p:spPr>
          <a:xfrm>
            <a:off x="4143375" y="1810424"/>
            <a:ext cx="1885950" cy="301186"/>
          </a:xfrm>
          <a:prstGeom prst="roundRect">
            <a:avLst>
              <a:gd name="adj" fmla="val 21212"/>
            </a:avLst>
          </a:prstGeom>
          <a:solidFill>
            <a:srgbClr val="2A5F8F"/>
          </a:solidFill>
          <a:ln w="12700">
            <a:solidFill>
              <a:srgbClr val="2A5F8F"/>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ctr"/>
            <a:r>
              <a:rPr sz="1100" b="1">
                <a:solidFill>
                  <a:srgbClr val="FFFFFF"/>
                </a:solidFill>
                <a:latin typeface="Calibri"/>
              </a:rPr>
              <a:t>Europe</a:t>
            </a:r>
          </a:p>
        </p:txBody>
      </p:sp>
      <p:sp>
        <p:nvSpPr>
          <p:cNvPr id="62" name="Rounded Rectangle 61"/>
          <p:cNvSpPr/>
          <p:nvPr/>
        </p:nvSpPr>
        <p:spPr>
          <a:xfrm>
            <a:off x="4276725" y="2266766"/>
            <a:ext cx="1752600" cy="301186"/>
          </a:xfrm>
          <a:prstGeom prst="roundRect">
            <a:avLst>
              <a:gd name="adj" fmla="val 21212"/>
            </a:avLst>
          </a:prstGeom>
          <a:solidFill>
            <a:srgbClr val="FFFFFF"/>
          </a:solidFill>
          <a:ln w="12700">
            <a:solidFill>
              <a:srgbClr val="79C3EC"/>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E2A5C"/>
                </a:solidFill>
                <a:latin typeface="Calibri"/>
              </a:rPr>
              <a:t>Germany</a:t>
            </a:r>
          </a:p>
        </p:txBody>
      </p:sp>
      <p:sp>
        <p:nvSpPr>
          <p:cNvPr id="63" name="Rounded Rectangle 62"/>
          <p:cNvSpPr/>
          <p:nvPr/>
        </p:nvSpPr>
        <p:spPr>
          <a:xfrm>
            <a:off x="4276725" y="2631840"/>
            <a:ext cx="1752600" cy="301186"/>
          </a:xfrm>
          <a:prstGeom prst="roundRect">
            <a:avLst>
              <a:gd name="adj" fmla="val 21212"/>
            </a:avLst>
          </a:prstGeom>
          <a:solidFill>
            <a:srgbClr val="FFFFFF"/>
          </a:solidFill>
          <a:ln w="12700">
            <a:solidFill>
              <a:srgbClr val="79C3EC"/>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E2A5C"/>
                </a:solidFill>
                <a:latin typeface="Calibri"/>
              </a:rPr>
              <a:t>U.K.</a:t>
            </a:r>
          </a:p>
        </p:txBody>
      </p:sp>
      <p:sp>
        <p:nvSpPr>
          <p:cNvPr id="64" name="Rounded Rectangle 63"/>
          <p:cNvSpPr/>
          <p:nvPr/>
        </p:nvSpPr>
        <p:spPr>
          <a:xfrm>
            <a:off x="4276725" y="2996914"/>
            <a:ext cx="1752600" cy="301186"/>
          </a:xfrm>
          <a:prstGeom prst="roundRect">
            <a:avLst>
              <a:gd name="adj" fmla="val 21212"/>
            </a:avLst>
          </a:prstGeom>
          <a:solidFill>
            <a:srgbClr val="FFFFFF"/>
          </a:solidFill>
          <a:ln w="12700">
            <a:solidFill>
              <a:srgbClr val="79C3EC"/>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E2A5C"/>
                </a:solidFill>
                <a:latin typeface="Calibri"/>
              </a:rPr>
              <a:t>France</a:t>
            </a:r>
          </a:p>
        </p:txBody>
      </p:sp>
      <p:sp>
        <p:nvSpPr>
          <p:cNvPr id="65" name="Rounded Rectangle 64"/>
          <p:cNvSpPr/>
          <p:nvPr/>
        </p:nvSpPr>
        <p:spPr>
          <a:xfrm>
            <a:off x="4276725" y="3361988"/>
            <a:ext cx="1752600" cy="301186"/>
          </a:xfrm>
          <a:prstGeom prst="roundRect">
            <a:avLst>
              <a:gd name="adj" fmla="val 21212"/>
            </a:avLst>
          </a:prstGeom>
          <a:solidFill>
            <a:srgbClr val="FFFFFF"/>
          </a:solidFill>
          <a:ln w="12700">
            <a:solidFill>
              <a:srgbClr val="79C3EC"/>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E2A5C"/>
                </a:solidFill>
                <a:latin typeface="Calibri"/>
              </a:rPr>
              <a:t>Italy</a:t>
            </a:r>
          </a:p>
        </p:txBody>
      </p:sp>
      <p:sp>
        <p:nvSpPr>
          <p:cNvPr id="66" name="Rounded Rectangle 65"/>
          <p:cNvSpPr/>
          <p:nvPr/>
        </p:nvSpPr>
        <p:spPr>
          <a:xfrm>
            <a:off x="4276725" y="3727062"/>
            <a:ext cx="1752600" cy="301186"/>
          </a:xfrm>
          <a:prstGeom prst="roundRect">
            <a:avLst>
              <a:gd name="adj" fmla="val 21212"/>
            </a:avLst>
          </a:prstGeom>
          <a:solidFill>
            <a:srgbClr val="FFFFFF"/>
          </a:solidFill>
          <a:ln w="12700">
            <a:solidFill>
              <a:srgbClr val="79C3EC"/>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E2A5C"/>
                </a:solidFill>
                <a:latin typeface="Calibri"/>
              </a:rPr>
              <a:t>Spain</a:t>
            </a:r>
          </a:p>
        </p:txBody>
      </p:sp>
      <p:sp>
        <p:nvSpPr>
          <p:cNvPr id="67" name="Rounded Rectangle 66"/>
          <p:cNvSpPr/>
          <p:nvPr/>
        </p:nvSpPr>
        <p:spPr>
          <a:xfrm>
            <a:off x="4276725" y="4092136"/>
            <a:ext cx="1752600" cy="301186"/>
          </a:xfrm>
          <a:prstGeom prst="roundRect">
            <a:avLst>
              <a:gd name="adj" fmla="val 21212"/>
            </a:avLst>
          </a:prstGeom>
          <a:solidFill>
            <a:srgbClr val="FFFFFF"/>
          </a:solidFill>
          <a:ln w="12700">
            <a:solidFill>
              <a:srgbClr val="79C3EC"/>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E2A5C"/>
                </a:solidFill>
                <a:latin typeface="Calibri"/>
              </a:rPr>
              <a:t>Belgium</a:t>
            </a:r>
          </a:p>
        </p:txBody>
      </p:sp>
      <p:sp>
        <p:nvSpPr>
          <p:cNvPr id="68" name="Rounded Rectangle 67"/>
          <p:cNvSpPr/>
          <p:nvPr/>
        </p:nvSpPr>
        <p:spPr>
          <a:xfrm>
            <a:off x="4276725" y="4466337"/>
            <a:ext cx="1752600" cy="301186"/>
          </a:xfrm>
          <a:prstGeom prst="roundRect">
            <a:avLst>
              <a:gd name="adj" fmla="val 21212"/>
            </a:avLst>
          </a:prstGeom>
          <a:solidFill>
            <a:srgbClr val="FFFFFF"/>
          </a:solidFill>
          <a:ln w="12700">
            <a:solidFill>
              <a:srgbClr val="79C3EC"/>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E2A5C"/>
                </a:solidFill>
                <a:latin typeface="Calibri"/>
              </a:rPr>
              <a:t>Netherlands</a:t>
            </a:r>
          </a:p>
        </p:txBody>
      </p:sp>
      <p:sp>
        <p:nvSpPr>
          <p:cNvPr id="69" name="Rounded Rectangle 68"/>
          <p:cNvSpPr/>
          <p:nvPr/>
        </p:nvSpPr>
        <p:spPr>
          <a:xfrm>
            <a:off x="4276725" y="4831411"/>
            <a:ext cx="1752600" cy="301186"/>
          </a:xfrm>
          <a:prstGeom prst="roundRect">
            <a:avLst>
              <a:gd name="adj" fmla="val 21212"/>
            </a:avLst>
          </a:prstGeom>
          <a:solidFill>
            <a:srgbClr val="FFFFFF"/>
          </a:solidFill>
          <a:ln w="12700">
            <a:solidFill>
              <a:srgbClr val="79C3EC"/>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E2A5C"/>
                </a:solidFill>
                <a:latin typeface="Calibri"/>
              </a:rPr>
              <a:t>Nordic</a:t>
            </a:r>
          </a:p>
        </p:txBody>
      </p:sp>
      <p:sp>
        <p:nvSpPr>
          <p:cNvPr id="70" name="Rounded Rectangle 69"/>
          <p:cNvSpPr/>
          <p:nvPr/>
        </p:nvSpPr>
        <p:spPr>
          <a:xfrm>
            <a:off x="4276725" y="5196485"/>
            <a:ext cx="1752600" cy="301186"/>
          </a:xfrm>
          <a:prstGeom prst="roundRect">
            <a:avLst>
              <a:gd name="adj" fmla="val 21212"/>
            </a:avLst>
          </a:prstGeom>
          <a:solidFill>
            <a:srgbClr val="FFFFFF"/>
          </a:solidFill>
          <a:ln w="12700">
            <a:solidFill>
              <a:srgbClr val="79C3EC"/>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E2A5C"/>
                </a:solidFill>
                <a:latin typeface="Calibri"/>
              </a:rPr>
              <a:t>Switzerland</a:t>
            </a:r>
          </a:p>
        </p:txBody>
      </p:sp>
      <p:sp>
        <p:nvSpPr>
          <p:cNvPr id="71" name="Rounded Rectangle 70"/>
          <p:cNvSpPr/>
          <p:nvPr/>
        </p:nvSpPr>
        <p:spPr>
          <a:xfrm>
            <a:off x="4276725" y="5561559"/>
            <a:ext cx="1752600" cy="301186"/>
          </a:xfrm>
          <a:prstGeom prst="roundRect">
            <a:avLst>
              <a:gd name="adj" fmla="val 21212"/>
            </a:avLst>
          </a:prstGeom>
          <a:solidFill>
            <a:srgbClr val="FFFFFF"/>
          </a:solidFill>
          <a:ln w="12700">
            <a:solidFill>
              <a:srgbClr val="79C3EC"/>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E2A5C"/>
                </a:solidFill>
                <a:latin typeface="Calibri"/>
              </a:rPr>
              <a:t>Russia</a:t>
            </a:r>
          </a:p>
        </p:txBody>
      </p:sp>
      <p:sp>
        <p:nvSpPr>
          <p:cNvPr id="72" name="Rounded Rectangle 71"/>
          <p:cNvSpPr/>
          <p:nvPr/>
        </p:nvSpPr>
        <p:spPr>
          <a:xfrm>
            <a:off x="4276725" y="5926633"/>
            <a:ext cx="1752600" cy="301186"/>
          </a:xfrm>
          <a:prstGeom prst="roundRect">
            <a:avLst>
              <a:gd name="adj" fmla="val 21212"/>
            </a:avLst>
          </a:prstGeom>
          <a:solidFill>
            <a:srgbClr val="FFFFFF"/>
          </a:solidFill>
          <a:ln w="12700">
            <a:solidFill>
              <a:srgbClr val="79C3EC"/>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E2A5C"/>
                </a:solidFill>
                <a:latin typeface="Calibri"/>
              </a:rPr>
              <a:t>Poland</a:t>
            </a:r>
          </a:p>
        </p:txBody>
      </p:sp>
      <p:sp>
        <p:nvSpPr>
          <p:cNvPr id="73" name="Rounded Rectangle 72"/>
          <p:cNvSpPr/>
          <p:nvPr/>
        </p:nvSpPr>
        <p:spPr>
          <a:xfrm>
            <a:off x="4276725" y="6291707"/>
            <a:ext cx="1752600" cy="301186"/>
          </a:xfrm>
          <a:prstGeom prst="roundRect">
            <a:avLst>
              <a:gd name="adj" fmla="val 21212"/>
            </a:avLst>
          </a:prstGeom>
          <a:solidFill>
            <a:srgbClr val="FFFFFF"/>
          </a:solidFill>
          <a:ln w="12700">
            <a:solidFill>
              <a:srgbClr val="79C3EC"/>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E2A5C"/>
                </a:solidFill>
                <a:latin typeface="Calibri"/>
              </a:rPr>
              <a:t>Rest of Europe</a:t>
            </a:r>
          </a:p>
        </p:txBody>
      </p:sp>
      <p:sp>
        <p:nvSpPr>
          <p:cNvPr id="74" name="Rounded Rectangle 73"/>
          <p:cNvSpPr/>
          <p:nvPr/>
        </p:nvSpPr>
        <p:spPr>
          <a:xfrm>
            <a:off x="6153150" y="1810424"/>
            <a:ext cx="1885950" cy="301186"/>
          </a:xfrm>
          <a:prstGeom prst="roundRect">
            <a:avLst>
              <a:gd name="adj" fmla="val 21212"/>
            </a:avLst>
          </a:prstGeom>
          <a:solidFill>
            <a:srgbClr val="2A5F8F"/>
          </a:solidFill>
          <a:ln w="12700">
            <a:solidFill>
              <a:srgbClr val="2A5F8F"/>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ctr"/>
            <a:r>
              <a:rPr sz="1100" b="1">
                <a:solidFill>
                  <a:srgbClr val="FFFFFF"/>
                </a:solidFill>
                <a:latin typeface="Calibri"/>
              </a:rPr>
              <a:t>East Asia</a:t>
            </a:r>
          </a:p>
        </p:txBody>
      </p:sp>
      <p:sp>
        <p:nvSpPr>
          <p:cNvPr id="75" name="Rounded Rectangle 74"/>
          <p:cNvSpPr/>
          <p:nvPr/>
        </p:nvSpPr>
        <p:spPr>
          <a:xfrm>
            <a:off x="6286500" y="2266766"/>
            <a:ext cx="1752600" cy="301186"/>
          </a:xfrm>
          <a:prstGeom prst="roundRect">
            <a:avLst>
              <a:gd name="adj" fmla="val 21212"/>
            </a:avLst>
          </a:prstGeom>
          <a:solidFill>
            <a:srgbClr val="FFFFFF"/>
          </a:solidFill>
          <a:ln w="12700">
            <a:solidFill>
              <a:srgbClr val="79C3EC"/>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E2A5C"/>
                </a:solidFill>
                <a:latin typeface="Calibri"/>
              </a:rPr>
              <a:t>China</a:t>
            </a:r>
          </a:p>
        </p:txBody>
      </p:sp>
      <p:sp>
        <p:nvSpPr>
          <p:cNvPr id="76" name="Rounded Rectangle 75"/>
          <p:cNvSpPr/>
          <p:nvPr/>
        </p:nvSpPr>
        <p:spPr>
          <a:xfrm>
            <a:off x="6286500" y="2640967"/>
            <a:ext cx="1752600" cy="301186"/>
          </a:xfrm>
          <a:prstGeom prst="roundRect">
            <a:avLst>
              <a:gd name="adj" fmla="val 21212"/>
            </a:avLst>
          </a:prstGeom>
          <a:solidFill>
            <a:srgbClr val="FFFFFF"/>
          </a:solidFill>
          <a:ln w="12700">
            <a:solidFill>
              <a:srgbClr val="79C3EC"/>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E2A5C"/>
                </a:solidFill>
                <a:latin typeface="Calibri"/>
              </a:rPr>
              <a:t>Japan</a:t>
            </a:r>
          </a:p>
        </p:txBody>
      </p:sp>
      <p:sp>
        <p:nvSpPr>
          <p:cNvPr id="77" name="Rounded Rectangle 76"/>
          <p:cNvSpPr/>
          <p:nvPr/>
        </p:nvSpPr>
        <p:spPr>
          <a:xfrm>
            <a:off x="6286500" y="3015168"/>
            <a:ext cx="1752600" cy="301186"/>
          </a:xfrm>
          <a:prstGeom prst="roundRect">
            <a:avLst>
              <a:gd name="adj" fmla="val 21212"/>
            </a:avLst>
          </a:prstGeom>
          <a:solidFill>
            <a:srgbClr val="FFFFFF"/>
          </a:solidFill>
          <a:ln w="12700">
            <a:solidFill>
              <a:srgbClr val="79C3EC"/>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E2A5C"/>
                </a:solidFill>
                <a:latin typeface="Calibri"/>
              </a:rPr>
              <a:t>South Korea</a:t>
            </a:r>
          </a:p>
        </p:txBody>
      </p:sp>
      <p:sp>
        <p:nvSpPr>
          <p:cNvPr id="78" name="Rounded Rectangle 77"/>
          <p:cNvSpPr/>
          <p:nvPr/>
        </p:nvSpPr>
        <p:spPr>
          <a:xfrm>
            <a:off x="8153400" y="1810424"/>
            <a:ext cx="1885950" cy="301186"/>
          </a:xfrm>
          <a:prstGeom prst="roundRect">
            <a:avLst>
              <a:gd name="adj" fmla="val 21212"/>
            </a:avLst>
          </a:prstGeom>
          <a:solidFill>
            <a:srgbClr val="2A5F8F"/>
          </a:solidFill>
          <a:ln w="12700">
            <a:solidFill>
              <a:srgbClr val="2A5F8F"/>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ctr"/>
            <a:r>
              <a:rPr sz="1100" b="1">
                <a:solidFill>
                  <a:srgbClr val="FFFFFF"/>
                </a:solidFill>
                <a:latin typeface="Calibri"/>
              </a:rPr>
              <a:t>South Asia &amp; Pacific</a:t>
            </a:r>
          </a:p>
        </p:txBody>
      </p:sp>
      <p:sp>
        <p:nvSpPr>
          <p:cNvPr id="79" name="Rounded Rectangle 78"/>
          <p:cNvSpPr/>
          <p:nvPr/>
        </p:nvSpPr>
        <p:spPr>
          <a:xfrm>
            <a:off x="8286750" y="2266766"/>
            <a:ext cx="1752600" cy="301186"/>
          </a:xfrm>
          <a:prstGeom prst="roundRect">
            <a:avLst>
              <a:gd name="adj" fmla="val 21212"/>
            </a:avLst>
          </a:prstGeom>
          <a:solidFill>
            <a:srgbClr val="FFFFFF"/>
          </a:solidFill>
          <a:ln w="12700">
            <a:solidFill>
              <a:srgbClr val="79C3EC"/>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E2A5C"/>
                </a:solidFill>
                <a:latin typeface="Calibri"/>
              </a:rPr>
              <a:t>India</a:t>
            </a:r>
          </a:p>
        </p:txBody>
      </p:sp>
      <p:sp>
        <p:nvSpPr>
          <p:cNvPr id="80" name="Rounded Rectangle 79"/>
          <p:cNvSpPr/>
          <p:nvPr/>
        </p:nvSpPr>
        <p:spPr>
          <a:xfrm>
            <a:off x="8286750" y="2640967"/>
            <a:ext cx="1752600" cy="301186"/>
          </a:xfrm>
          <a:prstGeom prst="roundRect">
            <a:avLst>
              <a:gd name="adj" fmla="val 21212"/>
            </a:avLst>
          </a:prstGeom>
          <a:solidFill>
            <a:srgbClr val="FFFFFF"/>
          </a:solidFill>
          <a:ln w="12700">
            <a:solidFill>
              <a:srgbClr val="79C3EC"/>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E2A5C"/>
                </a:solidFill>
                <a:latin typeface="Calibri"/>
              </a:rPr>
              <a:t>Thailand</a:t>
            </a:r>
          </a:p>
        </p:txBody>
      </p:sp>
      <p:sp>
        <p:nvSpPr>
          <p:cNvPr id="81" name="Rounded Rectangle 80"/>
          <p:cNvSpPr/>
          <p:nvPr/>
        </p:nvSpPr>
        <p:spPr>
          <a:xfrm>
            <a:off x="8286750" y="3015168"/>
            <a:ext cx="1752600" cy="301186"/>
          </a:xfrm>
          <a:prstGeom prst="roundRect">
            <a:avLst>
              <a:gd name="adj" fmla="val 21212"/>
            </a:avLst>
          </a:prstGeom>
          <a:solidFill>
            <a:srgbClr val="FFFFFF"/>
          </a:solidFill>
          <a:ln w="12700">
            <a:solidFill>
              <a:srgbClr val="79C3EC"/>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E2A5C"/>
                </a:solidFill>
                <a:latin typeface="Calibri"/>
              </a:rPr>
              <a:t>Malaysia</a:t>
            </a:r>
          </a:p>
        </p:txBody>
      </p:sp>
      <p:sp>
        <p:nvSpPr>
          <p:cNvPr id="82" name="Rounded Rectangle 81"/>
          <p:cNvSpPr/>
          <p:nvPr/>
        </p:nvSpPr>
        <p:spPr>
          <a:xfrm>
            <a:off x="8286750" y="3389369"/>
            <a:ext cx="1752600" cy="301186"/>
          </a:xfrm>
          <a:prstGeom prst="roundRect">
            <a:avLst>
              <a:gd name="adj" fmla="val 21212"/>
            </a:avLst>
          </a:prstGeom>
          <a:solidFill>
            <a:srgbClr val="FFFFFF"/>
          </a:solidFill>
          <a:ln w="12700">
            <a:solidFill>
              <a:srgbClr val="79C3EC"/>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E2A5C"/>
                </a:solidFill>
                <a:latin typeface="Calibri"/>
              </a:rPr>
              <a:t>Indonesia</a:t>
            </a:r>
          </a:p>
        </p:txBody>
      </p:sp>
      <p:sp>
        <p:nvSpPr>
          <p:cNvPr id="83" name="Rounded Rectangle 82"/>
          <p:cNvSpPr/>
          <p:nvPr/>
        </p:nvSpPr>
        <p:spPr>
          <a:xfrm>
            <a:off x="8286750" y="3763569"/>
            <a:ext cx="1752600" cy="301186"/>
          </a:xfrm>
          <a:prstGeom prst="roundRect">
            <a:avLst>
              <a:gd name="adj" fmla="val 21212"/>
            </a:avLst>
          </a:prstGeom>
          <a:solidFill>
            <a:srgbClr val="FFFFFF"/>
          </a:solidFill>
          <a:ln w="12700">
            <a:solidFill>
              <a:srgbClr val="79C3EC"/>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E2A5C"/>
                </a:solidFill>
                <a:latin typeface="Calibri"/>
              </a:rPr>
              <a:t>Singapore</a:t>
            </a:r>
          </a:p>
        </p:txBody>
      </p:sp>
      <p:sp>
        <p:nvSpPr>
          <p:cNvPr id="84" name="Rounded Rectangle 83"/>
          <p:cNvSpPr/>
          <p:nvPr/>
        </p:nvSpPr>
        <p:spPr>
          <a:xfrm>
            <a:off x="8286750" y="4137770"/>
            <a:ext cx="1752600" cy="301186"/>
          </a:xfrm>
          <a:prstGeom prst="roundRect">
            <a:avLst>
              <a:gd name="adj" fmla="val 21212"/>
            </a:avLst>
          </a:prstGeom>
          <a:solidFill>
            <a:srgbClr val="FFFFFF"/>
          </a:solidFill>
          <a:ln w="12700">
            <a:solidFill>
              <a:srgbClr val="79C3EC"/>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E2A5C"/>
                </a:solidFill>
                <a:latin typeface="Calibri"/>
              </a:rPr>
              <a:t>Philippines</a:t>
            </a:r>
          </a:p>
        </p:txBody>
      </p:sp>
      <p:sp>
        <p:nvSpPr>
          <p:cNvPr id="85" name="Rounded Rectangle 84"/>
          <p:cNvSpPr/>
          <p:nvPr/>
        </p:nvSpPr>
        <p:spPr>
          <a:xfrm>
            <a:off x="8286750" y="4511971"/>
            <a:ext cx="1752600" cy="301186"/>
          </a:xfrm>
          <a:prstGeom prst="roundRect">
            <a:avLst>
              <a:gd name="adj" fmla="val 21212"/>
            </a:avLst>
          </a:prstGeom>
          <a:solidFill>
            <a:srgbClr val="FFFFFF"/>
          </a:solidFill>
          <a:ln w="12700">
            <a:solidFill>
              <a:srgbClr val="79C3EC"/>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E2A5C"/>
                </a:solidFill>
                <a:latin typeface="Calibri"/>
              </a:rPr>
              <a:t>Australia</a:t>
            </a:r>
          </a:p>
        </p:txBody>
      </p:sp>
      <p:sp>
        <p:nvSpPr>
          <p:cNvPr id="86" name="Rounded Rectangle 85"/>
          <p:cNvSpPr/>
          <p:nvPr/>
        </p:nvSpPr>
        <p:spPr>
          <a:xfrm>
            <a:off x="8286750" y="4886172"/>
            <a:ext cx="1752600" cy="301186"/>
          </a:xfrm>
          <a:prstGeom prst="roundRect">
            <a:avLst>
              <a:gd name="adj" fmla="val 21212"/>
            </a:avLst>
          </a:prstGeom>
          <a:solidFill>
            <a:srgbClr val="FFFFFF"/>
          </a:solidFill>
          <a:ln w="12700">
            <a:solidFill>
              <a:srgbClr val="79C3EC"/>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E2A5C"/>
                </a:solidFill>
                <a:latin typeface="Calibri"/>
              </a:rPr>
              <a:t>New Zealand</a:t>
            </a:r>
          </a:p>
        </p:txBody>
      </p:sp>
      <p:sp>
        <p:nvSpPr>
          <p:cNvPr id="87" name="Rounded Rectangle 86"/>
          <p:cNvSpPr/>
          <p:nvPr/>
        </p:nvSpPr>
        <p:spPr>
          <a:xfrm>
            <a:off x="8286750" y="5260373"/>
            <a:ext cx="1752600" cy="301186"/>
          </a:xfrm>
          <a:prstGeom prst="roundRect">
            <a:avLst>
              <a:gd name="adj" fmla="val 21212"/>
            </a:avLst>
          </a:prstGeom>
          <a:solidFill>
            <a:srgbClr val="FFFFFF"/>
          </a:solidFill>
          <a:ln w="12700">
            <a:solidFill>
              <a:srgbClr val="79C3EC"/>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E2A5C"/>
                </a:solidFill>
                <a:latin typeface="Calibri"/>
              </a:rPr>
              <a:t>Rest of South Asia</a:t>
            </a:r>
          </a:p>
        </p:txBody>
      </p:sp>
      <p:sp>
        <p:nvSpPr>
          <p:cNvPr id="88" name="Rounded Rectangle 87"/>
          <p:cNvSpPr/>
          <p:nvPr/>
        </p:nvSpPr>
        <p:spPr>
          <a:xfrm>
            <a:off x="10153650" y="1810424"/>
            <a:ext cx="1885950" cy="301186"/>
          </a:xfrm>
          <a:prstGeom prst="roundRect">
            <a:avLst>
              <a:gd name="adj" fmla="val 21212"/>
            </a:avLst>
          </a:prstGeom>
          <a:solidFill>
            <a:srgbClr val="2A5F8F"/>
          </a:solidFill>
          <a:ln w="12700">
            <a:solidFill>
              <a:srgbClr val="2A5F8F"/>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ctr"/>
            <a:r>
              <a:rPr sz="1100" b="1">
                <a:solidFill>
                  <a:srgbClr val="FFFFFF"/>
                </a:solidFill>
                <a:latin typeface="Calibri"/>
              </a:rPr>
              <a:t>Middle East and Africa</a:t>
            </a:r>
          </a:p>
        </p:txBody>
      </p:sp>
      <p:sp>
        <p:nvSpPr>
          <p:cNvPr id="89" name="Rounded Rectangle 88"/>
          <p:cNvSpPr/>
          <p:nvPr/>
        </p:nvSpPr>
        <p:spPr>
          <a:xfrm>
            <a:off x="10287000" y="2266766"/>
            <a:ext cx="1752600" cy="301186"/>
          </a:xfrm>
          <a:prstGeom prst="roundRect">
            <a:avLst>
              <a:gd name="adj" fmla="val 21212"/>
            </a:avLst>
          </a:prstGeom>
          <a:solidFill>
            <a:srgbClr val="FFFFFF"/>
          </a:solidFill>
          <a:ln w="12700">
            <a:solidFill>
              <a:srgbClr val="79C3EC"/>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E2A5C"/>
                </a:solidFill>
                <a:latin typeface="Calibri"/>
              </a:rPr>
              <a:t>Turkey</a:t>
            </a:r>
          </a:p>
        </p:txBody>
      </p:sp>
      <p:sp>
        <p:nvSpPr>
          <p:cNvPr id="90" name="Rounded Rectangle 89"/>
          <p:cNvSpPr/>
          <p:nvPr/>
        </p:nvSpPr>
        <p:spPr>
          <a:xfrm>
            <a:off x="10287000" y="2640967"/>
            <a:ext cx="1752600" cy="301186"/>
          </a:xfrm>
          <a:prstGeom prst="roundRect">
            <a:avLst>
              <a:gd name="adj" fmla="val 21212"/>
            </a:avLst>
          </a:prstGeom>
          <a:solidFill>
            <a:srgbClr val="FFFFFF"/>
          </a:solidFill>
          <a:ln w="12700">
            <a:solidFill>
              <a:srgbClr val="79C3EC"/>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E2A5C"/>
                </a:solidFill>
                <a:latin typeface="Calibri"/>
              </a:rPr>
              <a:t>UAE</a:t>
            </a:r>
          </a:p>
        </p:txBody>
      </p:sp>
      <p:sp>
        <p:nvSpPr>
          <p:cNvPr id="91" name="Rounded Rectangle 90"/>
          <p:cNvSpPr/>
          <p:nvPr/>
        </p:nvSpPr>
        <p:spPr>
          <a:xfrm>
            <a:off x="10287000" y="3015168"/>
            <a:ext cx="1752600" cy="301186"/>
          </a:xfrm>
          <a:prstGeom prst="roundRect">
            <a:avLst>
              <a:gd name="adj" fmla="val 21212"/>
            </a:avLst>
          </a:prstGeom>
          <a:solidFill>
            <a:srgbClr val="FFFFFF"/>
          </a:solidFill>
          <a:ln w="12700">
            <a:solidFill>
              <a:srgbClr val="79C3EC"/>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E2A5C"/>
                </a:solidFill>
                <a:latin typeface="Calibri"/>
              </a:rPr>
              <a:t>Saudi Arabia</a:t>
            </a:r>
          </a:p>
        </p:txBody>
      </p:sp>
      <p:sp>
        <p:nvSpPr>
          <p:cNvPr id="92" name="Rounded Rectangle 91"/>
          <p:cNvSpPr/>
          <p:nvPr/>
        </p:nvSpPr>
        <p:spPr>
          <a:xfrm>
            <a:off x="10287000" y="3389369"/>
            <a:ext cx="1752600" cy="301186"/>
          </a:xfrm>
          <a:prstGeom prst="roundRect">
            <a:avLst>
              <a:gd name="adj" fmla="val 21212"/>
            </a:avLst>
          </a:prstGeom>
          <a:solidFill>
            <a:srgbClr val="FFFFFF"/>
          </a:solidFill>
          <a:ln w="12700">
            <a:solidFill>
              <a:srgbClr val="79C3EC"/>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E2A5C"/>
                </a:solidFill>
                <a:latin typeface="Calibri"/>
              </a:rPr>
              <a:t>Israel</a:t>
            </a:r>
          </a:p>
        </p:txBody>
      </p:sp>
      <p:sp>
        <p:nvSpPr>
          <p:cNvPr id="93" name="Rounded Rectangle 92"/>
          <p:cNvSpPr/>
          <p:nvPr/>
        </p:nvSpPr>
        <p:spPr>
          <a:xfrm>
            <a:off x="10287000" y="3763569"/>
            <a:ext cx="1752600" cy="301186"/>
          </a:xfrm>
          <a:prstGeom prst="roundRect">
            <a:avLst>
              <a:gd name="adj" fmla="val 21212"/>
            </a:avLst>
          </a:prstGeom>
          <a:solidFill>
            <a:srgbClr val="FFFFFF"/>
          </a:solidFill>
          <a:ln w="12700">
            <a:solidFill>
              <a:srgbClr val="79C3EC"/>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E2A5C"/>
                </a:solidFill>
                <a:latin typeface="Calibri"/>
              </a:rPr>
              <a:t>Other GCC Countries</a:t>
            </a:r>
          </a:p>
        </p:txBody>
      </p:sp>
      <p:sp>
        <p:nvSpPr>
          <p:cNvPr id="94" name="Rounded Rectangle 93"/>
          <p:cNvSpPr/>
          <p:nvPr/>
        </p:nvSpPr>
        <p:spPr>
          <a:xfrm>
            <a:off x="10287000" y="4137770"/>
            <a:ext cx="1752600" cy="301186"/>
          </a:xfrm>
          <a:prstGeom prst="roundRect">
            <a:avLst>
              <a:gd name="adj" fmla="val 21212"/>
            </a:avLst>
          </a:prstGeom>
          <a:solidFill>
            <a:srgbClr val="FFFFFF"/>
          </a:solidFill>
          <a:ln w="12700">
            <a:solidFill>
              <a:srgbClr val="79C3EC"/>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E2A5C"/>
                </a:solidFill>
                <a:latin typeface="Calibri"/>
              </a:rPr>
              <a:t>North Africa</a:t>
            </a:r>
          </a:p>
        </p:txBody>
      </p:sp>
      <p:sp>
        <p:nvSpPr>
          <p:cNvPr id="95" name="Rounded Rectangle 94"/>
          <p:cNvSpPr/>
          <p:nvPr/>
        </p:nvSpPr>
        <p:spPr>
          <a:xfrm>
            <a:off x="10287000" y="4511971"/>
            <a:ext cx="1752600" cy="301186"/>
          </a:xfrm>
          <a:prstGeom prst="roundRect">
            <a:avLst>
              <a:gd name="adj" fmla="val 21212"/>
            </a:avLst>
          </a:prstGeom>
          <a:solidFill>
            <a:srgbClr val="FFFFFF"/>
          </a:solidFill>
          <a:ln w="12700">
            <a:solidFill>
              <a:srgbClr val="79C3EC"/>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E2A5C"/>
                </a:solidFill>
                <a:latin typeface="Calibri"/>
              </a:rPr>
              <a:t>South Africa</a:t>
            </a:r>
          </a:p>
        </p:txBody>
      </p:sp>
      <p:sp>
        <p:nvSpPr>
          <p:cNvPr id="96" name="Rectangle 95"/>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Market Taxonomy Segments</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Segmentation framework of the study: 6 axes and the sub-segments sized under each</a:t>
            </a:r>
          </a:p>
        </p:txBody>
      </p:sp>
      <p:sp>
        <p:nvSpPr>
          <p:cNvPr id="7" name="Rectangle 6"/>
          <p:cNvSpPr/>
          <p:nvPr/>
        </p:nvSpPr>
        <p:spPr>
          <a:xfrm>
            <a:off x="142875" y="1028700"/>
            <a:ext cx="2876550" cy="760095"/>
          </a:xfrm>
          <a:prstGeom prst="rect">
            <a:avLst/>
          </a:prstGeom>
          <a:solidFill>
            <a:srgbClr val="FFFFFF"/>
          </a:solidFill>
          <a:ln w="1270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42875" y="1028700"/>
            <a:ext cx="2876550" cy="228600"/>
          </a:xfrm>
          <a:prstGeom prst="rect">
            <a:avLst/>
          </a:prstGeom>
          <a:solidFill>
            <a:srgbClr val="0E2A5C"/>
          </a:solidFill>
          <a:ln w="12700">
            <a:solidFill>
              <a:srgbClr val="0E2A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19075" y="1028700"/>
            <a:ext cx="2724150" cy="228600"/>
          </a:xfrm>
          <a:prstGeom prst="rect">
            <a:avLst/>
          </a:prstGeom>
          <a:noFill/>
        </p:spPr>
        <p:txBody>
          <a:bodyPr wrap="square" lIns="28575" rIns="28575" tIns="9525" bIns="9525" anchor="ctr">
            <a:spAutoFit/>
          </a:bodyPr>
          <a:lstStyle/>
          <a:p>
            <a:pPr algn="l"/>
            <a:r>
              <a:rPr sz="1100" b="1">
                <a:solidFill>
                  <a:srgbClr val="FFFFFF"/>
                </a:solidFill>
                <a:latin typeface="Calibri"/>
              </a:rPr>
              <a:t>By Product Type</a:t>
            </a:r>
          </a:p>
        </p:txBody>
      </p:sp>
      <p:sp>
        <p:nvSpPr>
          <p:cNvPr id="10" name="TextBox 9"/>
          <p:cNvSpPr txBox="1"/>
          <p:nvPr/>
        </p:nvSpPr>
        <p:spPr>
          <a:xfrm>
            <a:off x="200025" y="125730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1" name="TextBox 10"/>
          <p:cNvSpPr txBox="1"/>
          <p:nvPr/>
        </p:nvSpPr>
        <p:spPr>
          <a:xfrm>
            <a:off x="390525" y="1257300"/>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Micronized Eggshell Membrane</a:t>
            </a:r>
          </a:p>
        </p:txBody>
      </p:sp>
      <p:cxnSp>
        <p:nvCxnSpPr>
          <p:cNvPr id="12" name="Connector 11"/>
          <p:cNvCxnSpPr/>
          <p:nvPr/>
        </p:nvCxnSpPr>
        <p:spPr>
          <a:xfrm>
            <a:off x="152400" y="143446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200025" y="143446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4" name="TextBox 13"/>
          <p:cNvSpPr txBox="1"/>
          <p:nvPr/>
        </p:nvSpPr>
        <p:spPr>
          <a:xfrm>
            <a:off x="390525" y="1434465"/>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Hydrolyzed Eggshell Membrane</a:t>
            </a:r>
          </a:p>
        </p:txBody>
      </p:sp>
      <p:cxnSp>
        <p:nvCxnSpPr>
          <p:cNvPr id="15" name="Connector 14"/>
          <p:cNvCxnSpPr/>
          <p:nvPr/>
        </p:nvCxnSpPr>
        <p:spPr>
          <a:xfrm>
            <a:off x="152400" y="161163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200025" y="161163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7" name="TextBox 16"/>
          <p:cNvSpPr txBox="1"/>
          <p:nvPr/>
        </p:nvSpPr>
        <p:spPr>
          <a:xfrm>
            <a:off x="390525" y="1611630"/>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Specialty Extracted Protein Fractions</a:t>
            </a:r>
          </a:p>
        </p:txBody>
      </p:sp>
      <p:sp>
        <p:nvSpPr>
          <p:cNvPr id="18" name="Rectangle 17"/>
          <p:cNvSpPr/>
          <p:nvPr/>
        </p:nvSpPr>
        <p:spPr>
          <a:xfrm>
            <a:off x="3152775" y="1028700"/>
            <a:ext cx="2876550" cy="937260"/>
          </a:xfrm>
          <a:prstGeom prst="rect">
            <a:avLst/>
          </a:prstGeom>
          <a:solidFill>
            <a:srgbClr val="FFFFFF"/>
          </a:solidFill>
          <a:ln w="1270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152775" y="1028700"/>
            <a:ext cx="2876550" cy="228600"/>
          </a:xfrm>
          <a:prstGeom prst="rect">
            <a:avLst/>
          </a:prstGeom>
          <a:solidFill>
            <a:srgbClr val="0E2A5C"/>
          </a:solidFill>
          <a:ln w="12700">
            <a:solidFill>
              <a:srgbClr val="0E2A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228975" y="1028700"/>
            <a:ext cx="2724150" cy="228600"/>
          </a:xfrm>
          <a:prstGeom prst="rect">
            <a:avLst/>
          </a:prstGeom>
          <a:noFill/>
        </p:spPr>
        <p:txBody>
          <a:bodyPr wrap="square" lIns="28575" rIns="28575" tIns="9525" bIns="9525" anchor="ctr">
            <a:spAutoFit/>
          </a:bodyPr>
          <a:lstStyle/>
          <a:p>
            <a:pPr algn="l"/>
            <a:r>
              <a:rPr sz="1100" b="1">
                <a:solidFill>
                  <a:srgbClr val="FFFFFF"/>
                </a:solidFill>
                <a:latin typeface="Calibri"/>
              </a:rPr>
              <a:t>By Extraction / Processing Method</a:t>
            </a:r>
          </a:p>
        </p:txBody>
      </p:sp>
      <p:sp>
        <p:nvSpPr>
          <p:cNvPr id="21" name="TextBox 20"/>
          <p:cNvSpPr txBox="1"/>
          <p:nvPr/>
        </p:nvSpPr>
        <p:spPr>
          <a:xfrm>
            <a:off x="3209925" y="125730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22" name="TextBox 21"/>
          <p:cNvSpPr txBox="1"/>
          <p:nvPr/>
        </p:nvSpPr>
        <p:spPr>
          <a:xfrm>
            <a:off x="3400425" y="1257300"/>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Mechanical Separation &amp; Micronization</a:t>
            </a:r>
          </a:p>
        </p:txBody>
      </p:sp>
      <p:cxnSp>
        <p:nvCxnSpPr>
          <p:cNvPr id="23" name="Connector 22"/>
          <p:cNvCxnSpPr/>
          <p:nvPr/>
        </p:nvCxnSpPr>
        <p:spPr>
          <a:xfrm>
            <a:off x="3162300" y="143446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3209925" y="143446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25" name="TextBox 24"/>
          <p:cNvSpPr txBox="1"/>
          <p:nvPr/>
        </p:nvSpPr>
        <p:spPr>
          <a:xfrm>
            <a:off x="3400425" y="1434465"/>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Enzymatic Hydrolysis</a:t>
            </a:r>
          </a:p>
        </p:txBody>
      </p:sp>
      <p:cxnSp>
        <p:nvCxnSpPr>
          <p:cNvPr id="26" name="Connector 25"/>
          <p:cNvCxnSpPr/>
          <p:nvPr/>
        </p:nvCxnSpPr>
        <p:spPr>
          <a:xfrm>
            <a:off x="3162300" y="161163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3209925" y="161163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28" name="TextBox 27"/>
          <p:cNvSpPr txBox="1"/>
          <p:nvPr/>
        </p:nvSpPr>
        <p:spPr>
          <a:xfrm>
            <a:off x="3400425" y="1611630"/>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Chemical Hydrolysis / Solubilization</a:t>
            </a:r>
          </a:p>
        </p:txBody>
      </p:sp>
      <p:cxnSp>
        <p:nvCxnSpPr>
          <p:cNvPr id="29" name="Connector 28"/>
          <p:cNvCxnSpPr/>
          <p:nvPr/>
        </p:nvCxnSpPr>
        <p:spPr>
          <a:xfrm>
            <a:off x="3162300" y="178879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3209925" y="178879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31" name="TextBox 30"/>
          <p:cNvSpPr txBox="1"/>
          <p:nvPr/>
        </p:nvSpPr>
        <p:spPr>
          <a:xfrm>
            <a:off x="3400425" y="1788795"/>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Other / Hybrid Processing Methods</a:t>
            </a:r>
          </a:p>
        </p:txBody>
      </p:sp>
      <p:sp>
        <p:nvSpPr>
          <p:cNvPr id="32" name="Rectangle 31"/>
          <p:cNvSpPr/>
          <p:nvPr/>
        </p:nvSpPr>
        <p:spPr>
          <a:xfrm>
            <a:off x="6162675" y="1028700"/>
            <a:ext cx="2876550" cy="582930"/>
          </a:xfrm>
          <a:prstGeom prst="rect">
            <a:avLst/>
          </a:prstGeom>
          <a:solidFill>
            <a:srgbClr val="FFFFFF"/>
          </a:solidFill>
          <a:ln w="1270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162675" y="1028700"/>
            <a:ext cx="2876550" cy="228600"/>
          </a:xfrm>
          <a:prstGeom prst="rect">
            <a:avLst/>
          </a:prstGeom>
          <a:solidFill>
            <a:srgbClr val="0E2A5C"/>
          </a:solidFill>
          <a:ln w="12700">
            <a:solidFill>
              <a:srgbClr val="0E2A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238875" y="1028700"/>
            <a:ext cx="2724150" cy="228600"/>
          </a:xfrm>
          <a:prstGeom prst="rect">
            <a:avLst/>
          </a:prstGeom>
          <a:noFill/>
        </p:spPr>
        <p:txBody>
          <a:bodyPr wrap="square" lIns="28575" rIns="28575" tIns="9525" bIns="9525" anchor="ctr">
            <a:spAutoFit/>
          </a:bodyPr>
          <a:lstStyle/>
          <a:p>
            <a:pPr algn="l"/>
            <a:r>
              <a:rPr sz="1100" b="1">
                <a:solidFill>
                  <a:srgbClr val="FFFFFF"/>
                </a:solidFill>
                <a:latin typeface="Calibri"/>
              </a:rPr>
              <a:t>By Source</a:t>
            </a:r>
          </a:p>
        </p:txBody>
      </p:sp>
      <p:sp>
        <p:nvSpPr>
          <p:cNvPr id="35" name="TextBox 34"/>
          <p:cNvSpPr txBox="1"/>
          <p:nvPr/>
        </p:nvSpPr>
        <p:spPr>
          <a:xfrm>
            <a:off x="6219825" y="125730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36" name="TextBox 35"/>
          <p:cNvSpPr txBox="1"/>
          <p:nvPr/>
        </p:nvSpPr>
        <p:spPr>
          <a:xfrm>
            <a:off x="6410325" y="1257300"/>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Chicken Eggshell Membrane</a:t>
            </a:r>
          </a:p>
        </p:txBody>
      </p:sp>
      <p:cxnSp>
        <p:nvCxnSpPr>
          <p:cNvPr id="37" name="Connector 36"/>
          <p:cNvCxnSpPr/>
          <p:nvPr/>
        </p:nvCxnSpPr>
        <p:spPr>
          <a:xfrm>
            <a:off x="6172200" y="143446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6219825" y="143446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39" name="TextBox 38"/>
          <p:cNvSpPr txBox="1"/>
          <p:nvPr/>
        </p:nvSpPr>
        <p:spPr>
          <a:xfrm>
            <a:off x="6410325" y="1434465"/>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Other Poultry Eggshell Membrane</a:t>
            </a:r>
          </a:p>
        </p:txBody>
      </p:sp>
      <p:sp>
        <p:nvSpPr>
          <p:cNvPr id="40" name="Rectangle 39"/>
          <p:cNvSpPr/>
          <p:nvPr/>
        </p:nvSpPr>
        <p:spPr>
          <a:xfrm>
            <a:off x="6162675" y="1725930"/>
            <a:ext cx="2876550" cy="2886075"/>
          </a:xfrm>
          <a:prstGeom prst="rect">
            <a:avLst/>
          </a:prstGeom>
          <a:solidFill>
            <a:srgbClr val="FFFFFF"/>
          </a:solidFill>
          <a:ln w="1270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162675" y="1725930"/>
            <a:ext cx="2876550" cy="228600"/>
          </a:xfrm>
          <a:prstGeom prst="rect">
            <a:avLst/>
          </a:prstGeom>
          <a:solidFill>
            <a:srgbClr val="0E2A5C"/>
          </a:solidFill>
          <a:ln w="12700">
            <a:solidFill>
              <a:srgbClr val="0E2A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238875" y="1725930"/>
            <a:ext cx="2724150" cy="228600"/>
          </a:xfrm>
          <a:prstGeom prst="rect">
            <a:avLst/>
          </a:prstGeom>
          <a:noFill/>
        </p:spPr>
        <p:txBody>
          <a:bodyPr wrap="square" lIns="28575" rIns="28575" tIns="9525" bIns="9525" anchor="ctr">
            <a:spAutoFit/>
          </a:bodyPr>
          <a:lstStyle/>
          <a:p>
            <a:pPr algn="l"/>
            <a:r>
              <a:rPr sz="1100" b="1">
                <a:solidFill>
                  <a:srgbClr val="FFFFFF"/>
                </a:solidFill>
                <a:latin typeface="Calibri"/>
              </a:rPr>
              <a:t>By Application</a:t>
            </a:r>
          </a:p>
        </p:txBody>
      </p:sp>
      <p:sp>
        <p:nvSpPr>
          <p:cNvPr id="43" name="TextBox 42"/>
          <p:cNvSpPr txBox="1"/>
          <p:nvPr/>
        </p:nvSpPr>
        <p:spPr>
          <a:xfrm>
            <a:off x="6219825" y="195453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44" name="TextBox 43"/>
          <p:cNvSpPr txBox="1"/>
          <p:nvPr/>
        </p:nvSpPr>
        <p:spPr>
          <a:xfrm>
            <a:off x="6410325" y="1954530"/>
            <a:ext cx="2590800" cy="177165"/>
          </a:xfrm>
          <a:prstGeom prst="rect">
            <a:avLst/>
          </a:prstGeom>
          <a:noFill/>
        </p:spPr>
        <p:txBody>
          <a:bodyPr wrap="square" lIns="28575" rIns="28575" tIns="9525" bIns="9525" anchor="ctr">
            <a:spAutoFit/>
          </a:bodyPr>
          <a:lstStyle/>
          <a:p>
            <a:pPr algn="l"/>
            <a:r>
              <a:rPr sz="1100" b="1">
                <a:solidFill>
                  <a:srgbClr val="2E2E2E"/>
                </a:solidFill>
                <a:latin typeface="Calibri"/>
              </a:rPr>
              <a:t>Dietary Supplements &amp; Nutraceuticals</a:t>
            </a:r>
          </a:p>
        </p:txBody>
      </p:sp>
      <p:cxnSp>
        <p:nvCxnSpPr>
          <p:cNvPr id="45" name="Connector 44"/>
          <p:cNvCxnSpPr/>
          <p:nvPr/>
        </p:nvCxnSpPr>
        <p:spPr>
          <a:xfrm>
            <a:off x="6172200" y="213169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6391275" y="213169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47" name="TextBox 46"/>
          <p:cNvSpPr txBox="1"/>
          <p:nvPr/>
        </p:nvSpPr>
        <p:spPr>
          <a:xfrm>
            <a:off x="6581775" y="213169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Joint &amp; Bone Health</a:t>
            </a:r>
          </a:p>
        </p:txBody>
      </p:sp>
      <p:cxnSp>
        <p:nvCxnSpPr>
          <p:cNvPr id="48" name="Connector 47"/>
          <p:cNvCxnSpPr/>
          <p:nvPr/>
        </p:nvCxnSpPr>
        <p:spPr>
          <a:xfrm>
            <a:off x="6172200" y="230886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6391275" y="230886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50" name="TextBox 49"/>
          <p:cNvSpPr txBox="1"/>
          <p:nvPr/>
        </p:nvSpPr>
        <p:spPr>
          <a:xfrm>
            <a:off x="6581775" y="2308860"/>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Skin, Hair &amp; Nail Health</a:t>
            </a:r>
          </a:p>
        </p:txBody>
      </p:sp>
      <p:cxnSp>
        <p:nvCxnSpPr>
          <p:cNvPr id="51" name="Connector 50"/>
          <p:cNvCxnSpPr/>
          <p:nvPr/>
        </p:nvCxnSpPr>
        <p:spPr>
          <a:xfrm>
            <a:off x="6172200" y="248602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52" name="TextBox 51"/>
          <p:cNvSpPr txBox="1"/>
          <p:nvPr/>
        </p:nvSpPr>
        <p:spPr>
          <a:xfrm>
            <a:off x="6391275" y="248602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53" name="TextBox 52"/>
          <p:cNvSpPr txBox="1"/>
          <p:nvPr/>
        </p:nvSpPr>
        <p:spPr>
          <a:xfrm>
            <a:off x="6581775" y="248602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Others</a:t>
            </a:r>
          </a:p>
        </p:txBody>
      </p:sp>
      <p:cxnSp>
        <p:nvCxnSpPr>
          <p:cNvPr id="54" name="Connector 53"/>
          <p:cNvCxnSpPr/>
          <p:nvPr/>
        </p:nvCxnSpPr>
        <p:spPr>
          <a:xfrm>
            <a:off x="6172200" y="266319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55" name="TextBox 54"/>
          <p:cNvSpPr txBox="1"/>
          <p:nvPr/>
        </p:nvSpPr>
        <p:spPr>
          <a:xfrm>
            <a:off x="6219825" y="266319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56" name="TextBox 55"/>
          <p:cNvSpPr txBox="1"/>
          <p:nvPr/>
        </p:nvSpPr>
        <p:spPr>
          <a:xfrm>
            <a:off x="6410325" y="2663190"/>
            <a:ext cx="2590800" cy="177165"/>
          </a:xfrm>
          <a:prstGeom prst="rect">
            <a:avLst/>
          </a:prstGeom>
          <a:noFill/>
        </p:spPr>
        <p:txBody>
          <a:bodyPr wrap="square" lIns="28575" rIns="28575" tIns="9525" bIns="9525" anchor="ctr">
            <a:spAutoFit/>
          </a:bodyPr>
          <a:lstStyle/>
          <a:p>
            <a:pPr algn="l"/>
            <a:r>
              <a:rPr sz="1100" b="1">
                <a:solidFill>
                  <a:srgbClr val="2E2E2E"/>
                </a:solidFill>
                <a:latin typeface="Calibri"/>
              </a:rPr>
              <a:t>Functional Food &amp; Beverages</a:t>
            </a:r>
          </a:p>
        </p:txBody>
      </p:sp>
      <p:cxnSp>
        <p:nvCxnSpPr>
          <p:cNvPr id="57" name="Connector 56"/>
          <p:cNvCxnSpPr/>
          <p:nvPr/>
        </p:nvCxnSpPr>
        <p:spPr>
          <a:xfrm>
            <a:off x="6172200" y="284035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58" name="TextBox 57"/>
          <p:cNvSpPr txBox="1"/>
          <p:nvPr/>
        </p:nvSpPr>
        <p:spPr>
          <a:xfrm>
            <a:off x="6219825" y="284035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59" name="TextBox 58"/>
          <p:cNvSpPr txBox="1"/>
          <p:nvPr/>
        </p:nvSpPr>
        <p:spPr>
          <a:xfrm>
            <a:off x="6410325" y="2840355"/>
            <a:ext cx="2590800" cy="177165"/>
          </a:xfrm>
          <a:prstGeom prst="rect">
            <a:avLst/>
          </a:prstGeom>
          <a:noFill/>
        </p:spPr>
        <p:txBody>
          <a:bodyPr wrap="square" lIns="28575" rIns="28575" tIns="9525" bIns="9525" anchor="ctr">
            <a:spAutoFit/>
          </a:bodyPr>
          <a:lstStyle/>
          <a:p>
            <a:pPr algn="l"/>
            <a:r>
              <a:rPr sz="1100" b="1">
                <a:solidFill>
                  <a:srgbClr val="2E2E2E"/>
                </a:solidFill>
                <a:latin typeface="Calibri"/>
              </a:rPr>
              <a:t>Cosmetics &amp; Personal Care</a:t>
            </a:r>
          </a:p>
        </p:txBody>
      </p:sp>
      <p:cxnSp>
        <p:nvCxnSpPr>
          <p:cNvPr id="60" name="Connector 59"/>
          <p:cNvCxnSpPr/>
          <p:nvPr/>
        </p:nvCxnSpPr>
        <p:spPr>
          <a:xfrm>
            <a:off x="6172200" y="301752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6391275" y="301752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62" name="TextBox 61"/>
          <p:cNvSpPr txBox="1"/>
          <p:nvPr/>
        </p:nvSpPr>
        <p:spPr>
          <a:xfrm>
            <a:off x="6581775" y="3017520"/>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Skin Care</a:t>
            </a:r>
          </a:p>
        </p:txBody>
      </p:sp>
      <p:cxnSp>
        <p:nvCxnSpPr>
          <p:cNvPr id="63" name="Connector 62"/>
          <p:cNvCxnSpPr/>
          <p:nvPr/>
        </p:nvCxnSpPr>
        <p:spPr>
          <a:xfrm>
            <a:off x="6172200" y="319468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64" name="TextBox 63"/>
          <p:cNvSpPr txBox="1"/>
          <p:nvPr/>
        </p:nvSpPr>
        <p:spPr>
          <a:xfrm>
            <a:off x="6391275" y="319468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65" name="TextBox 64"/>
          <p:cNvSpPr txBox="1"/>
          <p:nvPr/>
        </p:nvSpPr>
        <p:spPr>
          <a:xfrm>
            <a:off x="6581775" y="319468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Hair Care</a:t>
            </a:r>
          </a:p>
        </p:txBody>
      </p:sp>
      <p:cxnSp>
        <p:nvCxnSpPr>
          <p:cNvPr id="66" name="Connector 65"/>
          <p:cNvCxnSpPr/>
          <p:nvPr/>
        </p:nvCxnSpPr>
        <p:spPr>
          <a:xfrm>
            <a:off x="6172200" y="337185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67" name="TextBox 66"/>
          <p:cNvSpPr txBox="1"/>
          <p:nvPr/>
        </p:nvSpPr>
        <p:spPr>
          <a:xfrm>
            <a:off x="6219825" y="337185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68" name="TextBox 67"/>
          <p:cNvSpPr txBox="1"/>
          <p:nvPr/>
        </p:nvSpPr>
        <p:spPr>
          <a:xfrm>
            <a:off x="6410325" y="3371850"/>
            <a:ext cx="2590800" cy="177165"/>
          </a:xfrm>
          <a:prstGeom prst="rect">
            <a:avLst/>
          </a:prstGeom>
          <a:noFill/>
        </p:spPr>
        <p:txBody>
          <a:bodyPr wrap="square" lIns="28575" rIns="28575" tIns="9525" bIns="9525" anchor="ctr">
            <a:spAutoFit/>
          </a:bodyPr>
          <a:lstStyle/>
          <a:p>
            <a:pPr algn="l"/>
            <a:r>
              <a:rPr sz="1100" b="1">
                <a:solidFill>
                  <a:srgbClr val="2E2E2E"/>
                </a:solidFill>
                <a:latin typeface="Calibri"/>
              </a:rPr>
              <a:t>Pharmaceuticals &amp; Biomedical</a:t>
            </a:r>
          </a:p>
        </p:txBody>
      </p:sp>
      <p:cxnSp>
        <p:nvCxnSpPr>
          <p:cNvPr id="69" name="Connector 68"/>
          <p:cNvCxnSpPr/>
          <p:nvPr/>
        </p:nvCxnSpPr>
        <p:spPr>
          <a:xfrm>
            <a:off x="6172200" y="354901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70" name="TextBox 69"/>
          <p:cNvSpPr txBox="1"/>
          <p:nvPr/>
        </p:nvSpPr>
        <p:spPr>
          <a:xfrm>
            <a:off x="6391275" y="354901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71" name="TextBox 70"/>
          <p:cNvSpPr txBox="1"/>
          <p:nvPr/>
        </p:nvSpPr>
        <p:spPr>
          <a:xfrm>
            <a:off x="6581775" y="354901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Wound Care &amp; Dressings</a:t>
            </a:r>
          </a:p>
        </p:txBody>
      </p:sp>
      <p:cxnSp>
        <p:nvCxnSpPr>
          <p:cNvPr id="72" name="Connector 71"/>
          <p:cNvCxnSpPr/>
          <p:nvPr/>
        </p:nvCxnSpPr>
        <p:spPr>
          <a:xfrm>
            <a:off x="6172200" y="372618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73" name="TextBox 72"/>
          <p:cNvSpPr txBox="1"/>
          <p:nvPr/>
        </p:nvSpPr>
        <p:spPr>
          <a:xfrm>
            <a:off x="6391275" y="372618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74" name="TextBox 73"/>
          <p:cNvSpPr txBox="1"/>
          <p:nvPr/>
        </p:nvSpPr>
        <p:spPr>
          <a:xfrm>
            <a:off x="6581775" y="3726180"/>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Tissue Engineering &amp; Drug Delivery</a:t>
            </a:r>
          </a:p>
        </p:txBody>
      </p:sp>
      <p:cxnSp>
        <p:nvCxnSpPr>
          <p:cNvPr id="75" name="Connector 74"/>
          <p:cNvCxnSpPr/>
          <p:nvPr/>
        </p:nvCxnSpPr>
        <p:spPr>
          <a:xfrm>
            <a:off x="6172200" y="390334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76" name="TextBox 75"/>
          <p:cNvSpPr txBox="1"/>
          <p:nvPr/>
        </p:nvSpPr>
        <p:spPr>
          <a:xfrm>
            <a:off x="6219825" y="390334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77" name="TextBox 76"/>
          <p:cNvSpPr txBox="1"/>
          <p:nvPr/>
        </p:nvSpPr>
        <p:spPr>
          <a:xfrm>
            <a:off x="6410325" y="3903345"/>
            <a:ext cx="2590800" cy="177165"/>
          </a:xfrm>
          <a:prstGeom prst="rect">
            <a:avLst/>
          </a:prstGeom>
          <a:noFill/>
        </p:spPr>
        <p:txBody>
          <a:bodyPr wrap="square" lIns="28575" rIns="28575" tIns="9525" bIns="9525" anchor="ctr">
            <a:spAutoFit/>
          </a:bodyPr>
          <a:lstStyle/>
          <a:p>
            <a:pPr algn="l"/>
            <a:r>
              <a:rPr sz="1100" b="1">
                <a:solidFill>
                  <a:srgbClr val="2E2E2E"/>
                </a:solidFill>
                <a:latin typeface="Calibri"/>
              </a:rPr>
              <a:t>Animal Nutrition &amp; Pet Care</a:t>
            </a:r>
          </a:p>
        </p:txBody>
      </p:sp>
      <p:cxnSp>
        <p:nvCxnSpPr>
          <p:cNvPr id="78" name="Connector 77"/>
          <p:cNvCxnSpPr/>
          <p:nvPr/>
        </p:nvCxnSpPr>
        <p:spPr>
          <a:xfrm>
            <a:off x="6172200" y="408051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79" name="TextBox 78"/>
          <p:cNvSpPr txBox="1"/>
          <p:nvPr/>
        </p:nvSpPr>
        <p:spPr>
          <a:xfrm>
            <a:off x="6391275" y="408051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80" name="TextBox 79"/>
          <p:cNvSpPr txBox="1"/>
          <p:nvPr/>
        </p:nvSpPr>
        <p:spPr>
          <a:xfrm>
            <a:off x="6581775" y="4080510"/>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Pet Joint &amp; Skin Supplements</a:t>
            </a:r>
          </a:p>
        </p:txBody>
      </p:sp>
      <p:cxnSp>
        <p:nvCxnSpPr>
          <p:cNvPr id="81" name="Connector 80"/>
          <p:cNvCxnSpPr/>
          <p:nvPr/>
        </p:nvCxnSpPr>
        <p:spPr>
          <a:xfrm>
            <a:off x="6172200" y="425767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82" name="TextBox 81"/>
          <p:cNvSpPr txBox="1"/>
          <p:nvPr/>
        </p:nvSpPr>
        <p:spPr>
          <a:xfrm>
            <a:off x="6391275" y="425767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83" name="TextBox 82"/>
          <p:cNvSpPr txBox="1"/>
          <p:nvPr/>
        </p:nvSpPr>
        <p:spPr>
          <a:xfrm>
            <a:off x="6581775" y="425767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Livestock &amp; Poultry Feed</a:t>
            </a:r>
          </a:p>
        </p:txBody>
      </p:sp>
      <p:cxnSp>
        <p:nvCxnSpPr>
          <p:cNvPr id="84" name="Connector 83"/>
          <p:cNvCxnSpPr/>
          <p:nvPr/>
        </p:nvCxnSpPr>
        <p:spPr>
          <a:xfrm>
            <a:off x="6172200" y="443484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85" name="TextBox 84"/>
          <p:cNvSpPr txBox="1"/>
          <p:nvPr/>
        </p:nvSpPr>
        <p:spPr>
          <a:xfrm>
            <a:off x="6219825" y="443484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86" name="TextBox 85"/>
          <p:cNvSpPr txBox="1"/>
          <p:nvPr/>
        </p:nvSpPr>
        <p:spPr>
          <a:xfrm>
            <a:off x="6410325" y="4434840"/>
            <a:ext cx="2590800" cy="177165"/>
          </a:xfrm>
          <a:prstGeom prst="rect">
            <a:avLst/>
          </a:prstGeom>
          <a:noFill/>
        </p:spPr>
        <p:txBody>
          <a:bodyPr wrap="square" lIns="28575" rIns="28575" tIns="9525" bIns="9525" anchor="ctr">
            <a:spAutoFit/>
          </a:bodyPr>
          <a:lstStyle/>
          <a:p>
            <a:pPr algn="l"/>
            <a:r>
              <a:rPr sz="1100" b="1">
                <a:solidFill>
                  <a:srgbClr val="2E2E2E"/>
                </a:solidFill>
                <a:latin typeface="Calibri"/>
              </a:rPr>
              <a:t>Industrial &amp; Biomaterials</a:t>
            </a:r>
          </a:p>
        </p:txBody>
      </p:sp>
      <p:sp>
        <p:nvSpPr>
          <p:cNvPr id="87" name="Rectangle 86"/>
          <p:cNvSpPr/>
          <p:nvPr/>
        </p:nvSpPr>
        <p:spPr>
          <a:xfrm>
            <a:off x="9172575" y="1028700"/>
            <a:ext cx="2876550" cy="582930"/>
          </a:xfrm>
          <a:prstGeom prst="rect">
            <a:avLst/>
          </a:prstGeom>
          <a:solidFill>
            <a:srgbClr val="FFFFFF"/>
          </a:solidFill>
          <a:ln w="1270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Rectangle 87"/>
          <p:cNvSpPr/>
          <p:nvPr/>
        </p:nvSpPr>
        <p:spPr>
          <a:xfrm>
            <a:off x="9172575" y="1028700"/>
            <a:ext cx="2876550" cy="228600"/>
          </a:xfrm>
          <a:prstGeom prst="rect">
            <a:avLst/>
          </a:prstGeom>
          <a:solidFill>
            <a:srgbClr val="0E2A5C"/>
          </a:solidFill>
          <a:ln w="12700">
            <a:solidFill>
              <a:srgbClr val="0E2A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9248775" y="1028700"/>
            <a:ext cx="2724150" cy="228600"/>
          </a:xfrm>
          <a:prstGeom prst="rect">
            <a:avLst/>
          </a:prstGeom>
          <a:noFill/>
        </p:spPr>
        <p:txBody>
          <a:bodyPr wrap="square" lIns="28575" rIns="28575" tIns="9525" bIns="9525" anchor="ctr">
            <a:spAutoFit/>
          </a:bodyPr>
          <a:lstStyle/>
          <a:p>
            <a:pPr algn="l"/>
            <a:r>
              <a:rPr sz="1100" b="1">
                <a:solidFill>
                  <a:srgbClr val="FFFFFF"/>
                </a:solidFill>
                <a:latin typeface="Calibri"/>
              </a:rPr>
              <a:t>By Form</a:t>
            </a:r>
          </a:p>
        </p:txBody>
      </p:sp>
      <p:sp>
        <p:nvSpPr>
          <p:cNvPr id="90" name="TextBox 89"/>
          <p:cNvSpPr txBox="1"/>
          <p:nvPr/>
        </p:nvSpPr>
        <p:spPr>
          <a:xfrm>
            <a:off x="9229725" y="125730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91" name="TextBox 90"/>
          <p:cNvSpPr txBox="1"/>
          <p:nvPr/>
        </p:nvSpPr>
        <p:spPr>
          <a:xfrm>
            <a:off x="9420225" y="1257300"/>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Powder</a:t>
            </a:r>
          </a:p>
        </p:txBody>
      </p:sp>
      <p:cxnSp>
        <p:nvCxnSpPr>
          <p:cNvPr id="92" name="Connector 91"/>
          <p:cNvCxnSpPr/>
          <p:nvPr/>
        </p:nvCxnSpPr>
        <p:spPr>
          <a:xfrm>
            <a:off x="9182100" y="143446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93" name="TextBox 92"/>
          <p:cNvSpPr txBox="1"/>
          <p:nvPr/>
        </p:nvSpPr>
        <p:spPr>
          <a:xfrm>
            <a:off x="9229725" y="143446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94" name="TextBox 93"/>
          <p:cNvSpPr txBox="1"/>
          <p:nvPr/>
        </p:nvSpPr>
        <p:spPr>
          <a:xfrm>
            <a:off x="9420225" y="1434465"/>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Liquid / Concentrate</a:t>
            </a:r>
          </a:p>
        </p:txBody>
      </p:sp>
      <p:sp>
        <p:nvSpPr>
          <p:cNvPr id="95" name="Rectangle 94"/>
          <p:cNvSpPr/>
          <p:nvPr/>
        </p:nvSpPr>
        <p:spPr>
          <a:xfrm>
            <a:off x="9172575" y="1725930"/>
            <a:ext cx="2876550" cy="582930"/>
          </a:xfrm>
          <a:prstGeom prst="rect">
            <a:avLst/>
          </a:prstGeom>
          <a:solidFill>
            <a:srgbClr val="FFFFFF"/>
          </a:solidFill>
          <a:ln w="1270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Rectangle 95"/>
          <p:cNvSpPr/>
          <p:nvPr/>
        </p:nvSpPr>
        <p:spPr>
          <a:xfrm>
            <a:off x="9172575" y="1725930"/>
            <a:ext cx="2876550" cy="228600"/>
          </a:xfrm>
          <a:prstGeom prst="rect">
            <a:avLst/>
          </a:prstGeom>
          <a:solidFill>
            <a:srgbClr val="0E2A5C"/>
          </a:solidFill>
          <a:ln w="12700">
            <a:solidFill>
              <a:srgbClr val="0E2A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9248775" y="1725930"/>
            <a:ext cx="2724150" cy="228600"/>
          </a:xfrm>
          <a:prstGeom prst="rect">
            <a:avLst/>
          </a:prstGeom>
          <a:noFill/>
        </p:spPr>
        <p:txBody>
          <a:bodyPr wrap="square" lIns="28575" rIns="28575" tIns="9525" bIns="9525" anchor="ctr">
            <a:spAutoFit/>
          </a:bodyPr>
          <a:lstStyle/>
          <a:p>
            <a:pPr algn="l"/>
            <a:r>
              <a:rPr sz="1100" b="1">
                <a:solidFill>
                  <a:srgbClr val="FFFFFF"/>
                </a:solidFill>
                <a:latin typeface="Calibri"/>
              </a:rPr>
              <a:t>By Sales Channel</a:t>
            </a:r>
          </a:p>
        </p:txBody>
      </p:sp>
      <p:sp>
        <p:nvSpPr>
          <p:cNvPr id="98" name="TextBox 97"/>
          <p:cNvSpPr txBox="1"/>
          <p:nvPr/>
        </p:nvSpPr>
        <p:spPr>
          <a:xfrm>
            <a:off x="9229725" y="195453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99" name="TextBox 98"/>
          <p:cNvSpPr txBox="1"/>
          <p:nvPr/>
        </p:nvSpPr>
        <p:spPr>
          <a:xfrm>
            <a:off x="9420225" y="1954530"/>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Direct</a:t>
            </a:r>
          </a:p>
        </p:txBody>
      </p:sp>
      <p:cxnSp>
        <p:nvCxnSpPr>
          <p:cNvPr id="100" name="Connector 99"/>
          <p:cNvCxnSpPr/>
          <p:nvPr/>
        </p:nvCxnSpPr>
        <p:spPr>
          <a:xfrm>
            <a:off x="9182100" y="213169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01" name="TextBox 100"/>
          <p:cNvSpPr txBox="1"/>
          <p:nvPr/>
        </p:nvSpPr>
        <p:spPr>
          <a:xfrm>
            <a:off x="9229725" y="213169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02" name="TextBox 101"/>
          <p:cNvSpPr txBox="1"/>
          <p:nvPr/>
        </p:nvSpPr>
        <p:spPr>
          <a:xfrm>
            <a:off x="9420225" y="2131695"/>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Distributors &amp; Traders</a:t>
            </a:r>
          </a:p>
        </p:txBody>
      </p:sp>
      <p:sp>
        <p:nvSpPr>
          <p:cNvPr id="103" name="Rectangle 102"/>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Egg Protein Membrane Market Company Coverage</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Companies profiled and benchmarked across the competition assessment</a:t>
            </a:r>
          </a:p>
        </p:txBody>
      </p:sp>
      <p:sp>
        <p:nvSpPr>
          <p:cNvPr id="7" name="TextBox 6"/>
          <p:cNvSpPr txBox="1"/>
          <p:nvPr/>
        </p:nvSpPr>
        <p:spPr>
          <a:xfrm>
            <a:off x="142875" y="1007261"/>
            <a:ext cx="11906250" cy="182537"/>
          </a:xfrm>
          <a:prstGeom prst="rect">
            <a:avLst/>
          </a:prstGeom>
          <a:noFill/>
        </p:spPr>
        <p:txBody>
          <a:bodyPr wrap="square" lIns="28575" rIns="28575" tIns="9525" bIns="9525" anchor="ctr">
            <a:spAutoFit/>
          </a:bodyPr>
          <a:lstStyle/>
          <a:p>
            <a:pPr algn="l"/>
            <a:r>
              <a:rPr sz="1100" b="0">
                <a:solidFill>
                  <a:srgbClr val="6C7A89"/>
                </a:solidFill>
                <a:latin typeface="Calibri"/>
              </a:rPr>
              <a:t>Companies covered in this study of the Egg Protein Membrane Market profiled and benchmarked in the Competition Assessment section.</a:t>
            </a:r>
          </a:p>
        </p:txBody>
      </p:sp>
      <p:sp>
        <p:nvSpPr>
          <p:cNvPr id="8" name="Rectangle 7"/>
          <p:cNvSpPr/>
          <p:nvPr/>
        </p:nvSpPr>
        <p:spPr>
          <a:xfrm>
            <a:off x="142875" y="1582253"/>
            <a:ext cx="5857875" cy="4590805"/>
          </a:xfrm>
          <a:prstGeom prst="rect">
            <a:avLst/>
          </a:prstGeom>
          <a:solidFill>
            <a:srgbClr val="FFFFFF"/>
          </a:solidFill>
          <a:ln w="1270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42875" y="1582253"/>
            <a:ext cx="5857875" cy="273805"/>
          </a:xfrm>
          <a:prstGeom prst="rect">
            <a:avLst/>
          </a:prstGeom>
          <a:solidFill>
            <a:srgbClr val="0E2A5C"/>
          </a:solidFill>
          <a:ln w="12700">
            <a:solidFill>
              <a:srgbClr val="0E2A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2875" y="1646141"/>
            <a:ext cx="5857875" cy="164283"/>
          </a:xfrm>
          <a:prstGeom prst="rect">
            <a:avLst/>
          </a:prstGeom>
          <a:noFill/>
        </p:spPr>
        <p:txBody>
          <a:bodyPr wrap="square" lIns="28575" rIns="28575" tIns="9525" bIns="9525" anchor="ctr">
            <a:spAutoFit/>
          </a:bodyPr>
          <a:lstStyle/>
          <a:p>
            <a:pPr algn="ctr"/>
            <a:r>
              <a:rPr sz="1100" b="1">
                <a:solidFill>
                  <a:srgbClr val="FFFFFF"/>
                </a:solidFill>
                <a:latin typeface="Calibri"/>
              </a:rPr>
              <a:t>List Companies</a:t>
            </a:r>
          </a:p>
        </p:txBody>
      </p:sp>
      <p:sp>
        <p:nvSpPr>
          <p:cNvPr id="11" name="TextBox 10"/>
          <p:cNvSpPr txBox="1"/>
          <p:nvPr/>
        </p:nvSpPr>
        <p:spPr>
          <a:xfrm>
            <a:off x="333375" y="1856058"/>
            <a:ext cx="190500" cy="392455"/>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12" name="TextBox 11"/>
          <p:cNvSpPr txBox="1"/>
          <p:nvPr/>
        </p:nvSpPr>
        <p:spPr>
          <a:xfrm>
            <a:off x="581025" y="1856058"/>
            <a:ext cx="5324475" cy="392455"/>
          </a:xfrm>
          <a:prstGeom prst="rect">
            <a:avLst/>
          </a:prstGeom>
          <a:noFill/>
        </p:spPr>
        <p:txBody>
          <a:bodyPr wrap="square" lIns="28575" rIns="28575" tIns="9525" bIns="9525" anchor="ctr">
            <a:spAutoFit/>
          </a:bodyPr>
          <a:lstStyle/>
          <a:p>
            <a:pPr algn="l"/>
            <a:r>
              <a:rPr sz="1100" b="0">
                <a:solidFill>
                  <a:srgbClr val="2E2E2E"/>
                </a:solidFill>
                <a:latin typeface="Calibri"/>
              </a:rPr>
              <a:t>ESM Technologies, LLC</a:t>
            </a:r>
          </a:p>
        </p:txBody>
      </p:sp>
      <p:sp>
        <p:nvSpPr>
          <p:cNvPr id="13" name="Rectangle 12"/>
          <p:cNvSpPr/>
          <p:nvPr/>
        </p:nvSpPr>
        <p:spPr>
          <a:xfrm>
            <a:off x="152400" y="2248513"/>
            <a:ext cx="5838825" cy="392455"/>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4" name="Connector 13"/>
          <p:cNvCxnSpPr/>
          <p:nvPr/>
        </p:nvCxnSpPr>
        <p:spPr>
          <a:xfrm>
            <a:off x="152400" y="2248513"/>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333375" y="2248513"/>
            <a:ext cx="190500" cy="392455"/>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16" name="TextBox 15"/>
          <p:cNvSpPr txBox="1"/>
          <p:nvPr/>
        </p:nvSpPr>
        <p:spPr>
          <a:xfrm>
            <a:off x="581025" y="2248513"/>
            <a:ext cx="5324475" cy="392455"/>
          </a:xfrm>
          <a:prstGeom prst="rect">
            <a:avLst/>
          </a:prstGeom>
          <a:noFill/>
        </p:spPr>
        <p:txBody>
          <a:bodyPr wrap="square" lIns="28575" rIns="28575" tIns="9525" bIns="9525" anchor="ctr">
            <a:spAutoFit/>
          </a:bodyPr>
          <a:lstStyle/>
          <a:p>
            <a:pPr algn="l"/>
            <a:r>
              <a:rPr sz="1100" b="0">
                <a:solidFill>
                  <a:srgbClr val="2E2E2E"/>
                </a:solidFill>
                <a:latin typeface="Calibri"/>
              </a:rPr>
              <a:t>Company</a:t>
            </a:r>
          </a:p>
        </p:txBody>
      </p:sp>
      <p:cxnSp>
        <p:nvCxnSpPr>
          <p:cNvPr id="17" name="Connector 16"/>
          <p:cNvCxnSpPr/>
          <p:nvPr/>
        </p:nvCxnSpPr>
        <p:spPr>
          <a:xfrm>
            <a:off x="152400" y="2640967"/>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333375" y="2640967"/>
            <a:ext cx="190500" cy="392455"/>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19" name="TextBox 18"/>
          <p:cNvSpPr txBox="1"/>
          <p:nvPr/>
        </p:nvSpPr>
        <p:spPr>
          <a:xfrm>
            <a:off x="581025" y="2640967"/>
            <a:ext cx="5324475" cy="392455"/>
          </a:xfrm>
          <a:prstGeom prst="rect">
            <a:avLst/>
          </a:prstGeom>
          <a:noFill/>
        </p:spPr>
        <p:txBody>
          <a:bodyPr wrap="square" lIns="28575" rIns="28575" tIns="9525" bIns="9525" anchor="ctr">
            <a:spAutoFit/>
          </a:bodyPr>
          <a:lstStyle/>
          <a:p>
            <a:pPr algn="l"/>
            <a:r>
              <a:rPr sz="1100" b="0">
                <a:solidFill>
                  <a:srgbClr val="2E2E2E"/>
                </a:solidFill>
                <a:latin typeface="Calibri"/>
              </a:rPr>
              <a:t>Biova, LLC</a:t>
            </a:r>
          </a:p>
        </p:txBody>
      </p:sp>
      <p:sp>
        <p:nvSpPr>
          <p:cNvPr id="20" name="Rectangle 19"/>
          <p:cNvSpPr/>
          <p:nvPr/>
        </p:nvSpPr>
        <p:spPr>
          <a:xfrm>
            <a:off x="152400" y="3033422"/>
            <a:ext cx="5838825" cy="392455"/>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1" name="Connector 20"/>
          <p:cNvCxnSpPr/>
          <p:nvPr/>
        </p:nvCxnSpPr>
        <p:spPr>
          <a:xfrm>
            <a:off x="152400" y="3033422"/>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333375" y="3033422"/>
            <a:ext cx="190500" cy="392455"/>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23" name="TextBox 22"/>
          <p:cNvSpPr txBox="1"/>
          <p:nvPr/>
        </p:nvSpPr>
        <p:spPr>
          <a:xfrm>
            <a:off x="581025" y="3033422"/>
            <a:ext cx="5324475" cy="392455"/>
          </a:xfrm>
          <a:prstGeom prst="rect">
            <a:avLst/>
          </a:prstGeom>
          <a:noFill/>
        </p:spPr>
        <p:txBody>
          <a:bodyPr wrap="square" lIns="28575" rIns="28575" tIns="9525" bIns="9525" anchor="ctr">
            <a:spAutoFit/>
          </a:bodyPr>
          <a:lstStyle/>
          <a:p>
            <a:pPr algn="l"/>
            <a:r>
              <a:rPr sz="1100" b="0">
                <a:solidFill>
                  <a:srgbClr val="2E2E2E"/>
                </a:solidFill>
                <a:latin typeface="Calibri"/>
              </a:rPr>
              <a:t>Eggnovo S.L.</a:t>
            </a:r>
          </a:p>
        </p:txBody>
      </p:sp>
      <p:cxnSp>
        <p:nvCxnSpPr>
          <p:cNvPr id="24" name="Connector 23"/>
          <p:cNvCxnSpPr/>
          <p:nvPr/>
        </p:nvCxnSpPr>
        <p:spPr>
          <a:xfrm>
            <a:off x="152400" y="3425876"/>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333375" y="3425876"/>
            <a:ext cx="190500" cy="392455"/>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26" name="TextBox 25"/>
          <p:cNvSpPr txBox="1"/>
          <p:nvPr/>
        </p:nvSpPr>
        <p:spPr>
          <a:xfrm>
            <a:off x="581025" y="3425876"/>
            <a:ext cx="5324475" cy="392455"/>
          </a:xfrm>
          <a:prstGeom prst="rect">
            <a:avLst/>
          </a:prstGeom>
          <a:noFill/>
        </p:spPr>
        <p:txBody>
          <a:bodyPr wrap="square" lIns="28575" rIns="28575" tIns="9525" bIns="9525" anchor="ctr">
            <a:spAutoFit/>
          </a:bodyPr>
          <a:lstStyle/>
          <a:p>
            <a:pPr algn="l"/>
            <a:r>
              <a:rPr sz="1100" b="0">
                <a:solidFill>
                  <a:srgbClr val="2E2E2E"/>
                </a:solidFill>
                <a:latin typeface="Calibri"/>
              </a:rPr>
              <a:t>Dutch Eggmembrane Protein Powder (DEPP) B.V.</a:t>
            </a:r>
          </a:p>
        </p:txBody>
      </p:sp>
      <p:sp>
        <p:nvSpPr>
          <p:cNvPr id="27" name="Rectangle 26"/>
          <p:cNvSpPr/>
          <p:nvPr/>
        </p:nvSpPr>
        <p:spPr>
          <a:xfrm>
            <a:off x="152400" y="3818331"/>
            <a:ext cx="5838825" cy="392455"/>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8" name="Connector 27"/>
          <p:cNvCxnSpPr/>
          <p:nvPr/>
        </p:nvCxnSpPr>
        <p:spPr>
          <a:xfrm>
            <a:off x="152400" y="3818331"/>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333375" y="3818331"/>
            <a:ext cx="190500" cy="392455"/>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30" name="TextBox 29"/>
          <p:cNvSpPr txBox="1"/>
          <p:nvPr/>
        </p:nvSpPr>
        <p:spPr>
          <a:xfrm>
            <a:off x="581025" y="3818331"/>
            <a:ext cx="5324475" cy="392455"/>
          </a:xfrm>
          <a:prstGeom prst="rect">
            <a:avLst/>
          </a:prstGeom>
          <a:noFill/>
        </p:spPr>
        <p:txBody>
          <a:bodyPr wrap="square" lIns="28575" rIns="28575" tIns="9525" bIns="9525" anchor="ctr">
            <a:spAutoFit/>
          </a:bodyPr>
          <a:lstStyle/>
          <a:p>
            <a:pPr algn="l"/>
            <a:r>
              <a:rPr sz="1100" b="0">
                <a:solidFill>
                  <a:srgbClr val="2E2E2E"/>
                </a:solidFill>
                <a:latin typeface="Calibri"/>
              </a:rPr>
              <a:t>Kewpie Corporation</a:t>
            </a:r>
          </a:p>
        </p:txBody>
      </p:sp>
      <p:cxnSp>
        <p:nvCxnSpPr>
          <p:cNvPr id="31" name="Connector 30"/>
          <p:cNvCxnSpPr/>
          <p:nvPr/>
        </p:nvCxnSpPr>
        <p:spPr>
          <a:xfrm>
            <a:off x="152400" y="4210785"/>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333375" y="4210785"/>
            <a:ext cx="190500" cy="392455"/>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33" name="TextBox 32"/>
          <p:cNvSpPr txBox="1"/>
          <p:nvPr/>
        </p:nvSpPr>
        <p:spPr>
          <a:xfrm>
            <a:off x="581025" y="4210785"/>
            <a:ext cx="5324475" cy="392455"/>
          </a:xfrm>
          <a:prstGeom prst="rect">
            <a:avLst/>
          </a:prstGeom>
          <a:noFill/>
        </p:spPr>
        <p:txBody>
          <a:bodyPr wrap="square" lIns="28575" rIns="28575" tIns="9525" bIns="9525" anchor="ctr">
            <a:spAutoFit/>
          </a:bodyPr>
          <a:lstStyle/>
          <a:p>
            <a:pPr algn="l"/>
            <a:r>
              <a:rPr sz="1100" b="0">
                <a:solidFill>
                  <a:srgbClr val="2E2E2E"/>
                </a:solidFill>
                <a:latin typeface="Calibri"/>
              </a:rPr>
              <a:t>INNAIN</a:t>
            </a:r>
          </a:p>
        </p:txBody>
      </p:sp>
      <p:sp>
        <p:nvSpPr>
          <p:cNvPr id="34" name="Rectangle 33"/>
          <p:cNvSpPr/>
          <p:nvPr/>
        </p:nvSpPr>
        <p:spPr>
          <a:xfrm>
            <a:off x="152400" y="4603240"/>
            <a:ext cx="5838825" cy="392455"/>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5" name="Connector 34"/>
          <p:cNvCxnSpPr/>
          <p:nvPr/>
        </p:nvCxnSpPr>
        <p:spPr>
          <a:xfrm>
            <a:off x="152400" y="4603240"/>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333375" y="4603240"/>
            <a:ext cx="190500" cy="392455"/>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37" name="TextBox 36"/>
          <p:cNvSpPr txBox="1"/>
          <p:nvPr/>
        </p:nvSpPr>
        <p:spPr>
          <a:xfrm>
            <a:off x="581025" y="4603240"/>
            <a:ext cx="5324475" cy="392455"/>
          </a:xfrm>
          <a:prstGeom prst="rect">
            <a:avLst/>
          </a:prstGeom>
          <a:noFill/>
        </p:spPr>
        <p:txBody>
          <a:bodyPr wrap="square" lIns="28575" rIns="28575" tIns="9525" bIns="9525" anchor="ctr">
            <a:spAutoFit/>
          </a:bodyPr>
          <a:lstStyle/>
          <a:p>
            <a:pPr algn="l"/>
            <a:r>
              <a:rPr sz="1100" b="0">
                <a:solidFill>
                  <a:srgbClr val="2E2E2E"/>
                </a:solidFill>
                <a:latin typeface="Calibri"/>
              </a:rPr>
              <a:t>Ecovatec Solutions Inc.</a:t>
            </a:r>
          </a:p>
        </p:txBody>
      </p:sp>
      <p:cxnSp>
        <p:nvCxnSpPr>
          <p:cNvPr id="38" name="Connector 37"/>
          <p:cNvCxnSpPr/>
          <p:nvPr/>
        </p:nvCxnSpPr>
        <p:spPr>
          <a:xfrm>
            <a:off x="152400" y="4995694"/>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333375" y="4995694"/>
            <a:ext cx="190500" cy="392455"/>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40" name="TextBox 39"/>
          <p:cNvSpPr txBox="1"/>
          <p:nvPr/>
        </p:nvSpPr>
        <p:spPr>
          <a:xfrm>
            <a:off x="581025" y="4995694"/>
            <a:ext cx="5324475" cy="392455"/>
          </a:xfrm>
          <a:prstGeom prst="rect">
            <a:avLst/>
          </a:prstGeom>
          <a:noFill/>
        </p:spPr>
        <p:txBody>
          <a:bodyPr wrap="square" lIns="28575" rIns="28575" tIns="9525" bIns="9525" anchor="ctr">
            <a:spAutoFit/>
          </a:bodyPr>
          <a:lstStyle/>
          <a:p>
            <a:pPr algn="l"/>
            <a:r>
              <a:rPr sz="1100" b="0">
                <a:solidFill>
                  <a:srgbClr val="2E2E2E"/>
                </a:solidFill>
                <a:latin typeface="Calibri"/>
              </a:rPr>
              <a:t>Biovotec</a:t>
            </a:r>
          </a:p>
        </p:txBody>
      </p:sp>
      <p:sp>
        <p:nvSpPr>
          <p:cNvPr id="41" name="Rectangle 40"/>
          <p:cNvSpPr/>
          <p:nvPr/>
        </p:nvSpPr>
        <p:spPr>
          <a:xfrm>
            <a:off x="152400" y="5388149"/>
            <a:ext cx="5838825" cy="392455"/>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2" name="Connector 41"/>
          <p:cNvCxnSpPr/>
          <p:nvPr/>
        </p:nvCxnSpPr>
        <p:spPr>
          <a:xfrm>
            <a:off x="152400" y="5388149"/>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333375" y="5388149"/>
            <a:ext cx="190500" cy="392455"/>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44" name="TextBox 43"/>
          <p:cNvSpPr txBox="1"/>
          <p:nvPr/>
        </p:nvSpPr>
        <p:spPr>
          <a:xfrm>
            <a:off x="581025" y="5388149"/>
            <a:ext cx="5324475" cy="392455"/>
          </a:xfrm>
          <a:prstGeom prst="rect">
            <a:avLst/>
          </a:prstGeom>
          <a:noFill/>
        </p:spPr>
        <p:txBody>
          <a:bodyPr wrap="square" lIns="28575" rIns="28575" tIns="9525" bIns="9525" anchor="ctr">
            <a:spAutoFit/>
          </a:bodyPr>
          <a:lstStyle/>
          <a:p>
            <a:pPr algn="l"/>
            <a:r>
              <a:rPr sz="1100" b="0">
                <a:solidFill>
                  <a:srgbClr val="2E2E2E"/>
                </a:solidFill>
                <a:latin typeface="Calibri"/>
              </a:rPr>
              <a:t>Microcore Research Laboratories India Pvt. Ltd.</a:t>
            </a:r>
          </a:p>
        </p:txBody>
      </p:sp>
      <p:cxnSp>
        <p:nvCxnSpPr>
          <p:cNvPr id="45" name="Connector 44"/>
          <p:cNvCxnSpPr/>
          <p:nvPr/>
        </p:nvCxnSpPr>
        <p:spPr>
          <a:xfrm>
            <a:off x="152400" y="5780603"/>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333375" y="5780603"/>
            <a:ext cx="190500" cy="392455"/>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47" name="TextBox 46"/>
          <p:cNvSpPr txBox="1"/>
          <p:nvPr/>
        </p:nvSpPr>
        <p:spPr>
          <a:xfrm>
            <a:off x="581025" y="5780603"/>
            <a:ext cx="5324475" cy="392455"/>
          </a:xfrm>
          <a:prstGeom prst="rect">
            <a:avLst/>
          </a:prstGeom>
          <a:noFill/>
        </p:spPr>
        <p:txBody>
          <a:bodyPr wrap="square" lIns="28575" rIns="28575" tIns="9525" bIns="9525" anchor="ctr">
            <a:spAutoFit/>
          </a:bodyPr>
          <a:lstStyle/>
          <a:p>
            <a:pPr algn="l"/>
            <a:r>
              <a:rPr sz="1100" b="0">
                <a:solidFill>
                  <a:srgbClr val="2E2E2E"/>
                </a:solidFill>
                <a:latin typeface="Calibri"/>
              </a:rPr>
              <a:t>Egglin Gıda</a:t>
            </a:r>
          </a:p>
        </p:txBody>
      </p:sp>
      <p:sp>
        <p:nvSpPr>
          <p:cNvPr id="48" name="Rectangle 47"/>
          <p:cNvSpPr/>
          <p:nvPr/>
        </p:nvSpPr>
        <p:spPr>
          <a:xfrm>
            <a:off x="6191250" y="1582253"/>
            <a:ext cx="5857875" cy="4590805"/>
          </a:xfrm>
          <a:prstGeom prst="rect">
            <a:avLst/>
          </a:prstGeom>
          <a:solidFill>
            <a:srgbClr val="FFFFFF"/>
          </a:solidFill>
          <a:ln w="1270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6191250" y="1582253"/>
            <a:ext cx="5857875" cy="273805"/>
          </a:xfrm>
          <a:prstGeom prst="rect">
            <a:avLst/>
          </a:prstGeom>
          <a:solidFill>
            <a:srgbClr val="0E2A5C"/>
          </a:solidFill>
          <a:ln w="12700">
            <a:solidFill>
              <a:srgbClr val="0E2A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191250" y="1646141"/>
            <a:ext cx="5857875" cy="164283"/>
          </a:xfrm>
          <a:prstGeom prst="rect">
            <a:avLst/>
          </a:prstGeom>
          <a:noFill/>
        </p:spPr>
        <p:txBody>
          <a:bodyPr wrap="square" lIns="28575" rIns="28575" tIns="9525" bIns="9525" anchor="ctr">
            <a:spAutoFit/>
          </a:bodyPr>
          <a:lstStyle/>
          <a:p>
            <a:pPr algn="ctr"/>
            <a:r>
              <a:rPr sz="1100" b="1">
                <a:solidFill>
                  <a:srgbClr val="FFFFFF"/>
                </a:solidFill>
                <a:latin typeface="Calibri"/>
              </a:rPr>
              <a:t>List Companies</a:t>
            </a:r>
          </a:p>
        </p:txBody>
      </p:sp>
      <p:sp>
        <p:nvSpPr>
          <p:cNvPr id="51" name="TextBox 50"/>
          <p:cNvSpPr txBox="1"/>
          <p:nvPr/>
        </p:nvSpPr>
        <p:spPr>
          <a:xfrm>
            <a:off x="6381750" y="1856058"/>
            <a:ext cx="190500" cy="392455"/>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52" name="TextBox 51"/>
          <p:cNvSpPr txBox="1"/>
          <p:nvPr/>
        </p:nvSpPr>
        <p:spPr>
          <a:xfrm>
            <a:off x="6629400" y="1856058"/>
            <a:ext cx="5324475" cy="392455"/>
          </a:xfrm>
          <a:prstGeom prst="rect">
            <a:avLst/>
          </a:prstGeom>
          <a:noFill/>
        </p:spPr>
        <p:txBody>
          <a:bodyPr wrap="square" lIns="28575" rIns="28575" tIns="9525" bIns="9525" anchor="ctr">
            <a:spAutoFit/>
          </a:bodyPr>
          <a:lstStyle/>
          <a:p>
            <a:pPr algn="l"/>
            <a:r>
              <a:rPr sz="1100" b="0">
                <a:solidFill>
                  <a:srgbClr val="2E2E2E"/>
                </a:solidFill>
                <a:latin typeface="Calibri"/>
              </a:rPr>
              <a:t>ALMADO Inc.</a:t>
            </a:r>
          </a:p>
        </p:txBody>
      </p:sp>
      <p:sp>
        <p:nvSpPr>
          <p:cNvPr id="53" name="Rectangle 52"/>
          <p:cNvSpPr/>
          <p:nvPr/>
        </p:nvSpPr>
        <p:spPr>
          <a:xfrm>
            <a:off x="6200775" y="2248513"/>
            <a:ext cx="5838825" cy="392455"/>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4" name="Connector 53"/>
          <p:cNvCxnSpPr/>
          <p:nvPr/>
        </p:nvCxnSpPr>
        <p:spPr>
          <a:xfrm>
            <a:off x="6200775" y="2248513"/>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55" name="TextBox 54"/>
          <p:cNvSpPr txBox="1"/>
          <p:nvPr/>
        </p:nvSpPr>
        <p:spPr>
          <a:xfrm>
            <a:off x="6381750" y="2248513"/>
            <a:ext cx="190500" cy="392455"/>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56" name="TextBox 55"/>
          <p:cNvSpPr txBox="1"/>
          <p:nvPr/>
        </p:nvSpPr>
        <p:spPr>
          <a:xfrm>
            <a:off x="6629400" y="2248513"/>
            <a:ext cx="5324475" cy="392455"/>
          </a:xfrm>
          <a:prstGeom prst="rect">
            <a:avLst/>
          </a:prstGeom>
          <a:noFill/>
        </p:spPr>
        <p:txBody>
          <a:bodyPr wrap="square" lIns="28575" rIns="28575" tIns="9525" bIns="9525" anchor="ctr">
            <a:spAutoFit/>
          </a:bodyPr>
          <a:lstStyle/>
          <a:p>
            <a:pPr algn="l"/>
            <a:r>
              <a:rPr sz="1100" b="0">
                <a:solidFill>
                  <a:srgbClr val="2E2E2E"/>
                </a:solidFill>
                <a:latin typeface="Calibri"/>
              </a:rPr>
              <a:t>Shaanxi Yuantai Biological Technology Co., Ltd. (YTBIO)</a:t>
            </a:r>
          </a:p>
        </p:txBody>
      </p:sp>
      <p:cxnSp>
        <p:nvCxnSpPr>
          <p:cNvPr id="57" name="Connector 56"/>
          <p:cNvCxnSpPr/>
          <p:nvPr/>
        </p:nvCxnSpPr>
        <p:spPr>
          <a:xfrm>
            <a:off x="6200775" y="2640967"/>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58" name="TextBox 57"/>
          <p:cNvSpPr txBox="1"/>
          <p:nvPr/>
        </p:nvSpPr>
        <p:spPr>
          <a:xfrm>
            <a:off x="6381750" y="2640967"/>
            <a:ext cx="190500" cy="392455"/>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59" name="TextBox 58"/>
          <p:cNvSpPr txBox="1"/>
          <p:nvPr/>
        </p:nvSpPr>
        <p:spPr>
          <a:xfrm>
            <a:off x="6629400" y="2640967"/>
            <a:ext cx="5324475" cy="392455"/>
          </a:xfrm>
          <a:prstGeom prst="rect">
            <a:avLst/>
          </a:prstGeom>
          <a:noFill/>
        </p:spPr>
        <p:txBody>
          <a:bodyPr wrap="square" lIns="28575" rIns="28575" tIns="9525" bIns="9525" anchor="ctr">
            <a:spAutoFit/>
          </a:bodyPr>
          <a:lstStyle/>
          <a:p>
            <a:pPr algn="l"/>
            <a:r>
              <a:rPr sz="1100" b="0">
                <a:solidFill>
                  <a:srgbClr val="2E2E2E"/>
                </a:solidFill>
                <a:latin typeface="Calibri"/>
              </a:rPr>
              <a:t>Botanical Cube Inc.</a:t>
            </a:r>
          </a:p>
        </p:txBody>
      </p:sp>
      <p:sp>
        <p:nvSpPr>
          <p:cNvPr id="60" name="Rectangle 59"/>
          <p:cNvSpPr/>
          <p:nvPr/>
        </p:nvSpPr>
        <p:spPr>
          <a:xfrm>
            <a:off x="6200775" y="3033422"/>
            <a:ext cx="5838825" cy="392455"/>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1" name="Connector 60"/>
          <p:cNvCxnSpPr/>
          <p:nvPr/>
        </p:nvCxnSpPr>
        <p:spPr>
          <a:xfrm>
            <a:off x="6200775" y="3033422"/>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62" name="TextBox 61"/>
          <p:cNvSpPr txBox="1"/>
          <p:nvPr/>
        </p:nvSpPr>
        <p:spPr>
          <a:xfrm>
            <a:off x="6381750" y="3033422"/>
            <a:ext cx="190500" cy="392455"/>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63" name="TextBox 62"/>
          <p:cNvSpPr txBox="1"/>
          <p:nvPr/>
        </p:nvSpPr>
        <p:spPr>
          <a:xfrm>
            <a:off x="6629400" y="3033422"/>
            <a:ext cx="5324475" cy="392455"/>
          </a:xfrm>
          <a:prstGeom prst="rect">
            <a:avLst/>
          </a:prstGeom>
          <a:noFill/>
        </p:spPr>
        <p:txBody>
          <a:bodyPr wrap="square" lIns="28575" rIns="28575" tIns="9525" bIns="9525" anchor="ctr">
            <a:spAutoFit/>
          </a:bodyPr>
          <a:lstStyle/>
          <a:p>
            <a:pPr algn="l"/>
            <a:r>
              <a:rPr sz="1100" b="0">
                <a:solidFill>
                  <a:srgbClr val="2E2E2E"/>
                </a:solidFill>
                <a:latin typeface="Calibri"/>
              </a:rPr>
              <a:t>Yihui Biotechnology</a:t>
            </a:r>
          </a:p>
        </p:txBody>
      </p:sp>
      <p:cxnSp>
        <p:nvCxnSpPr>
          <p:cNvPr id="64" name="Connector 63"/>
          <p:cNvCxnSpPr/>
          <p:nvPr/>
        </p:nvCxnSpPr>
        <p:spPr>
          <a:xfrm>
            <a:off x="6200775" y="3425876"/>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65" name="TextBox 64"/>
          <p:cNvSpPr txBox="1"/>
          <p:nvPr/>
        </p:nvSpPr>
        <p:spPr>
          <a:xfrm>
            <a:off x="6381750" y="3425876"/>
            <a:ext cx="190500" cy="392455"/>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66" name="TextBox 65"/>
          <p:cNvSpPr txBox="1"/>
          <p:nvPr/>
        </p:nvSpPr>
        <p:spPr>
          <a:xfrm>
            <a:off x="6629400" y="3425876"/>
            <a:ext cx="5324475" cy="392455"/>
          </a:xfrm>
          <a:prstGeom prst="rect">
            <a:avLst/>
          </a:prstGeom>
          <a:noFill/>
        </p:spPr>
        <p:txBody>
          <a:bodyPr wrap="square" lIns="28575" rIns="28575" tIns="9525" bIns="9525" anchor="ctr">
            <a:spAutoFit/>
          </a:bodyPr>
          <a:lstStyle/>
          <a:p>
            <a:pPr algn="l"/>
            <a:r>
              <a:rPr sz="1100" b="0">
                <a:solidFill>
                  <a:srgbClr val="2E2E2E"/>
                </a:solidFill>
                <a:latin typeface="Calibri"/>
              </a:rPr>
              <a:t>Certified Nutraceuticals Inc.</a:t>
            </a:r>
          </a:p>
        </p:txBody>
      </p:sp>
      <p:sp>
        <p:nvSpPr>
          <p:cNvPr id="67" name="Rectangle 66"/>
          <p:cNvSpPr/>
          <p:nvPr/>
        </p:nvSpPr>
        <p:spPr>
          <a:xfrm>
            <a:off x="6200775" y="3818331"/>
            <a:ext cx="5838825" cy="392455"/>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8" name="Connector 67"/>
          <p:cNvCxnSpPr/>
          <p:nvPr/>
        </p:nvCxnSpPr>
        <p:spPr>
          <a:xfrm>
            <a:off x="6200775" y="3818331"/>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69" name="TextBox 68"/>
          <p:cNvSpPr txBox="1"/>
          <p:nvPr/>
        </p:nvSpPr>
        <p:spPr>
          <a:xfrm>
            <a:off x="6381750" y="3818331"/>
            <a:ext cx="190500" cy="392455"/>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70" name="TextBox 69"/>
          <p:cNvSpPr txBox="1"/>
          <p:nvPr/>
        </p:nvSpPr>
        <p:spPr>
          <a:xfrm>
            <a:off x="6629400" y="3818331"/>
            <a:ext cx="5324475" cy="392455"/>
          </a:xfrm>
          <a:prstGeom prst="rect">
            <a:avLst/>
          </a:prstGeom>
          <a:noFill/>
        </p:spPr>
        <p:txBody>
          <a:bodyPr wrap="square" lIns="28575" rIns="28575" tIns="9525" bIns="9525" anchor="ctr">
            <a:spAutoFit/>
          </a:bodyPr>
          <a:lstStyle/>
          <a:p>
            <a:pPr algn="l"/>
            <a:r>
              <a:rPr sz="1100" b="0">
                <a:solidFill>
                  <a:srgbClr val="2E2E2E"/>
                </a:solidFill>
                <a:latin typeface="Calibri"/>
              </a:rPr>
              <a:t>Bolise Co., Limited</a:t>
            </a:r>
          </a:p>
        </p:txBody>
      </p:sp>
      <p:cxnSp>
        <p:nvCxnSpPr>
          <p:cNvPr id="71" name="Connector 70"/>
          <p:cNvCxnSpPr/>
          <p:nvPr/>
        </p:nvCxnSpPr>
        <p:spPr>
          <a:xfrm>
            <a:off x="6200775" y="4210785"/>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72" name="TextBox 71"/>
          <p:cNvSpPr txBox="1"/>
          <p:nvPr/>
        </p:nvSpPr>
        <p:spPr>
          <a:xfrm>
            <a:off x="6381750" y="4210785"/>
            <a:ext cx="190500" cy="392455"/>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73" name="TextBox 72"/>
          <p:cNvSpPr txBox="1"/>
          <p:nvPr/>
        </p:nvSpPr>
        <p:spPr>
          <a:xfrm>
            <a:off x="6629400" y="4210785"/>
            <a:ext cx="5324475" cy="392455"/>
          </a:xfrm>
          <a:prstGeom prst="rect">
            <a:avLst/>
          </a:prstGeom>
          <a:noFill/>
        </p:spPr>
        <p:txBody>
          <a:bodyPr wrap="square" lIns="28575" rIns="28575" tIns="9525" bIns="9525" anchor="ctr">
            <a:spAutoFit/>
          </a:bodyPr>
          <a:lstStyle/>
          <a:p>
            <a:pPr algn="l"/>
            <a:r>
              <a:rPr sz="1100" b="0">
                <a:solidFill>
                  <a:srgbClr val="2E2E2E"/>
                </a:solidFill>
                <a:latin typeface="Calibri"/>
              </a:rPr>
              <a:t>Mitushi Biopharma</a:t>
            </a:r>
          </a:p>
        </p:txBody>
      </p:sp>
      <p:sp>
        <p:nvSpPr>
          <p:cNvPr id="74" name="Rectangle 73"/>
          <p:cNvSpPr/>
          <p:nvPr/>
        </p:nvSpPr>
        <p:spPr>
          <a:xfrm>
            <a:off x="6200775" y="4603240"/>
            <a:ext cx="5838825" cy="392455"/>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5" name="Connector 74"/>
          <p:cNvCxnSpPr/>
          <p:nvPr/>
        </p:nvCxnSpPr>
        <p:spPr>
          <a:xfrm>
            <a:off x="6200775" y="4603240"/>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76" name="TextBox 75"/>
          <p:cNvSpPr txBox="1"/>
          <p:nvPr/>
        </p:nvSpPr>
        <p:spPr>
          <a:xfrm>
            <a:off x="6381750" y="4603240"/>
            <a:ext cx="190500" cy="392455"/>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77" name="TextBox 76"/>
          <p:cNvSpPr txBox="1"/>
          <p:nvPr/>
        </p:nvSpPr>
        <p:spPr>
          <a:xfrm>
            <a:off x="6629400" y="4603240"/>
            <a:ext cx="5324475" cy="392455"/>
          </a:xfrm>
          <a:prstGeom prst="rect">
            <a:avLst/>
          </a:prstGeom>
          <a:noFill/>
        </p:spPr>
        <p:txBody>
          <a:bodyPr wrap="square" lIns="28575" rIns="28575" tIns="9525" bIns="9525" anchor="ctr">
            <a:spAutoFit/>
          </a:bodyPr>
          <a:lstStyle/>
          <a:p>
            <a:pPr algn="l"/>
            <a:r>
              <a:rPr sz="1100" b="0">
                <a:solidFill>
                  <a:srgbClr val="2E2E2E"/>
                </a:solidFill>
                <a:latin typeface="Calibri"/>
              </a:rPr>
              <a:t>Baoding Faithful Industry Co., Ltd.</a:t>
            </a:r>
          </a:p>
        </p:txBody>
      </p:sp>
      <p:cxnSp>
        <p:nvCxnSpPr>
          <p:cNvPr id="78" name="Connector 77"/>
          <p:cNvCxnSpPr/>
          <p:nvPr/>
        </p:nvCxnSpPr>
        <p:spPr>
          <a:xfrm>
            <a:off x="6200775" y="4995694"/>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79" name="TextBox 78"/>
          <p:cNvSpPr txBox="1"/>
          <p:nvPr/>
        </p:nvSpPr>
        <p:spPr>
          <a:xfrm>
            <a:off x="6381750" y="4995694"/>
            <a:ext cx="190500" cy="392455"/>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80" name="TextBox 79"/>
          <p:cNvSpPr txBox="1"/>
          <p:nvPr/>
        </p:nvSpPr>
        <p:spPr>
          <a:xfrm>
            <a:off x="6629400" y="4995694"/>
            <a:ext cx="5324475" cy="392455"/>
          </a:xfrm>
          <a:prstGeom prst="rect">
            <a:avLst/>
          </a:prstGeom>
          <a:noFill/>
        </p:spPr>
        <p:txBody>
          <a:bodyPr wrap="square" lIns="28575" rIns="28575" tIns="9525" bIns="9525" anchor="ctr">
            <a:spAutoFit/>
          </a:bodyPr>
          <a:lstStyle/>
          <a:p>
            <a:pPr algn="l"/>
            <a:r>
              <a:rPr sz="1100" b="0">
                <a:solidFill>
                  <a:srgbClr val="2E2E2E"/>
                </a:solidFill>
                <a:latin typeface="Calibri"/>
              </a:rPr>
              <a:t>Xi'an Faitury Bio-Tech Co., Ltd.</a:t>
            </a:r>
          </a:p>
        </p:txBody>
      </p:sp>
      <p:sp>
        <p:nvSpPr>
          <p:cNvPr id="81" name="Rectangle 80"/>
          <p:cNvSpPr/>
          <p:nvPr/>
        </p:nvSpPr>
        <p:spPr>
          <a:xfrm>
            <a:off x="6200775" y="5388149"/>
            <a:ext cx="5838825" cy="392455"/>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2" name="Connector 81"/>
          <p:cNvCxnSpPr/>
          <p:nvPr/>
        </p:nvCxnSpPr>
        <p:spPr>
          <a:xfrm>
            <a:off x="6200775" y="5388149"/>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83" name="TextBox 82"/>
          <p:cNvSpPr txBox="1"/>
          <p:nvPr/>
        </p:nvSpPr>
        <p:spPr>
          <a:xfrm>
            <a:off x="6381750" y="5388149"/>
            <a:ext cx="190500" cy="392455"/>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84" name="TextBox 83"/>
          <p:cNvSpPr txBox="1"/>
          <p:nvPr/>
        </p:nvSpPr>
        <p:spPr>
          <a:xfrm>
            <a:off x="6629400" y="5388149"/>
            <a:ext cx="5324475" cy="392455"/>
          </a:xfrm>
          <a:prstGeom prst="rect">
            <a:avLst/>
          </a:prstGeom>
          <a:noFill/>
        </p:spPr>
        <p:txBody>
          <a:bodyPr wrap="square" lIns="28575" rIns="28575" tIns="9525" bIns="9525" anchor="ctr">
            <a:spAutoFit/>
          </a:bodyPr>
          <a:lstStyle/>
          <a:p>
            <a:pPr algn="l"/>
            <a:r>
              <a:rPr sz="1100" b="0">
                <a:solidFill>
                  <a:srgbClr val="2E2E2E"/>
                </a:solidFill>
                <a:latin typeface="Calibri"/>
              </a:rPr>
              <a:t>Xi'an Ruierli Biological Engineering Co., Ltd.</a:t>
            </a:r>
          </a:p>
        </p:txBody>
      </p:sp>
      <p:cxnSp>
        <p:nvCxnSpPr>
          <p:cNvPr id="85" name="Connector 84"/>
          <p:cNvCxnSpPr/>
          <p:nvPr/>
        </p:nvCxnSpPr>
        <p:spPr>
          <a:xfrm>
            <a:off x="6200775" y="5780603"/>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86" name="TextBox 85"/>
          <p:cNvSpPr txBox="1"/>
          <p:nvPr/>
        </p:nvSpPr>
        <p:spPr>
          <a:xfrm>
            <a:off x="142875" y="6337341"/>
            <a:ext cx="11906250" cy="182537"/>
          </a:xfrm>
          <a:prstGeom prst="rect">
            <a:avLst/>
          </a:prstGeom>
          <a:noFill/>
        </p:spPr>
        <p:txBody>
          <a:bodyPr wrap="square" lIns="28575" rIns="28575" tIns="9525" bIns="9525" anchor="ctr">
            <a:spAutoFit/>
          </a:bodyPr>
          <a:lstStyle/>
          <a:p>
            <a:pPr algn="l"/>
            <a:r>
              <a:rPr sz="1100" b="1">
                <a:solidFill>
                  <a:srgbClr val="B06A2C"/>
                </a:solidFill>
                <a:latin typeface="Calibri"/>
              </a:rPr>
              <a:t>Note: the list of companies is indicative and can be customised on request.</a:t>
            </a:r>
          </a:p>
        </p:txBody>
      </p:sp>
      <p:sp>
        <p:nvSpPr>
          <p:cNvPr id="87" name="Rectangle 86"/>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3F8FD"/>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3F8FD"/>
              </a:gs>
              <a:gs pos="100000">
                <a:srgbClr val="DCE9F6"/>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FE0F0">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9C8E6">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B7D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A5F8F"/>
              </a:gs>
              <a:gs pos="100000">
                <a:srgbClr val="6FA6D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MR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3</a:t>
            </a:r>
          </a:p>
        </p:txBody>
      </p:sp>
      <p:pic>
        <p:nvPicPr>
          <p:cNvPr id="8" name="Picture 7" descr="tmr_logo.png"/>
          <p:cNvPicPr>
            <a:picLocks noChangeAspect="1"/>
          </p:cNvPicPr>
          <p:nvPr/>
        </p:nvPicPr>
        <p:blipFill>
          <a:blip r:embed="rId2"/>
          <a:stretch>
            <a:fillRect/>
          </a:stretch>
        </p:blipFill>
        <p:spPr>
          <a:xfrm>
            <a:off x="411480" y="274320"/>
            <a:ext cx="1307592" cy="975505"/>
          </a:xfrm>
          <a:prstGeom prst="rect">
            <a:avLst/>
          </a:prstGeom>
        </p:spPr>
      </p:pic>
      <p:sp>
        <p:nvSpPr>
          <p:cNvPr id="9" name="TextBox 8"/>
          <p:cNvSpPr txBox="1"/>
          <p:nvPr/>
        </p:nvSpPr>
        <p:spPr>
          <a:xfrm>
            <a:off x="914400" y="3146425"/>
            <a:ext cx="8572500" cy="304800"/>
          </a:xfrm>
          <a:prstGeom prst="rect">
            <a:avLst/>
          </a:prstGeom>
          <a:noFill/>
        </p:spPr>
        <p:txBody>
          <a:bodyPr wrap="none" lIns="0" tIns="0">
            <a:spAutoFit/>
          </a:bodyPr>
          <a:lstStyle/>
          <a:p>
            <a:r>
              <a:rPr sz="1800" b="0">
                <a:solidFill>
                  <a:srgbClr val="2A5F8F"/>
                </a:solidFill>
                <a:latin typeface="Calibri"/>
              </a:rPr>
              <a:t>Egg Protein Membrane Market</a:t>
            </a:r>
          </a:p>
        </p:txBody>
      </p:sp>
      <p:sp>
        <p:nvSpPr>
          <p:cNvPr id="10" name="TMR Section Title"/>
          <p:cNvSpPr txBox="1"/>
          <p:nvPr/>
        </p:nvSpPr>
        <p:spPr>
          <a:xfrm>
            <a:off x="914400" y="3489325"/>
            <a:ext cx="8572500" cy="514350"/>
          </a:xfrm>
          <a:prstGeom prst="rect">
            <a:avLst/>
          </a:prstGeom>
          <a:noFill/>
        </p:spPr>
        <p:txBody>
          <a:bodyPr wrap="square" lIns="0" rIns="0" tIns="0">
            <a:spAutoFit/>
          </a:bodyPr>
          <a:lstStyle/>
          <a:p>
            <a:r>
              <a:rPr sz="3000" b="1">
                <a:solidFill>
                  <a:srgbClr val="0E2A5C"/>
                </a:solidFill>
                <a:latin typeface="Calibri"/>
              </a:rPr>
              <a:t>Table of Contents</a:t>
            </a:r>
          </a:p>
        </p:txBody>
      </p:sp>
      <p:sp>
        <p:nvSpPr>
          <p:cNvPr id="11" name="TextBox 10"/>
          <p:cNvSpPr txBox="1"/>
          <p:nvPr/>
        </p:nvSpPr>
        <p:spPr>
          <a:xfrm>
            <a:off x="914400" y="4175125"/>
            <a:ext cx="8458200" cy="4889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The full contents of this study, as delivered</a:t>
            </a:r>
          </a:p>
        </p:txBody>
      </p:sp>
      <p:sp>
        <p:nvSpPr>
          <p:cNvPr id="12" name="Rectangle 11"/>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76200"/>
            <a:ext cx="10896600"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Table of Contents (1/6)</a:t>
            </a:r>
          </a:p>
        </p:txBody>
      </p:sp>
      <p:graphicFrame>
        <p:nvGraphicFramePr>
          <p:cNvPr id="6" name="TMR Contents Table"/>
          <p:cNvGraphicFramePr>
            <a:graphicFrameLocks noGrp="1"/>
          </p:cNvGraphicFramePr>
          <p:nvPr/>
        </p:nvGraphicFramePr>
        <p:xfrm>
          <a:off x="142875" y="981075"/>
          <a:ext cx="5876925" cy="5257800"/>
        </p:xfrm>
        <a:graphic>
          <a:graphicData uri="http://schemas.openxmlformats.org/drawingml/2006/table">
            <a:tbl>
              <a:tblPr>
                <a:tableStyleId>{3B4B98B0-60AC-42C2-AFA5-B58CD77FA1E5}</a:tableStyleId>
              </a:tblPr>
              <a:tblGrid>
                <a:gridCol w="5876925"/>
              </a:tblGrid>
              <a:tr h="175260">
                <a:tc>
                  <a:txBody>
                    <a:bodyPr wrap="square"/>
                    <a:lstStyle/>
                    <a:p>
                      <a:pPr algn="l"/>
                      <a:r>
                        <a:rPr sz="1100" b="1" i="0">
                          <a:solidFill>
                            <a:srgbClr val="000000"/>
                          </a:solidFill>
                          <a:latin typeface="Symbol"/>
                        </a:rPr>
                        <a:t></a:t>
                      </a:r>
                      <a:r>
                        <a:rPr sz="700" b="1" i="0">
                          <a:solidFill>
                            <a:srgbClr val="000000"/>
                          </a:solidFill>
                          <a:latin typeface="Times New Roman"/>
                        </a:rPr>
                        <a:t>         </a:t>
                      </a:r>
                      <a:r>
                        <a:rPr sz="1100" b="1" i="0">
                          <a:solidFill>
                            <a:srgbClr val="000000"/>
                          </a:solidFill>
                          <a:latin typeface="Calibri"/>
                        </a:rPr>
                        <a:t>Executive Summary</a:t>
                      </a:r>
                      <a:endParaRPr sz="1100"/>
                    </a:p>
                  </a:txBody>
                  <a:tcPr marL="171450" marR="9525" marT="9525" marB="0" anchor="ctr"/>
                </a:tc>
              </a:tr>
              <a:tr h="175260">
                <a:tc>
                  <a:txBody>
                    <a:bodyPr wrap="square"/>
                    <a:lstStyle/>
                    <a:p>
                      <a:pPr algn="l"/>
                      <a:r>
                        <a:rPr sz="1100" b="0" i="0">
                          <a:solidFill>
                            <a:srgbClr val="0070C0"/>
                          </a:solidFill>
                          <a:latin typeface="Courier New"/>
                        </a:rPr>
                        <a:t>o</a:t>
                      </a:r>
                      <a:r>
                        <a:rPr sz="700" b="0" i="0">
                          <a:solidFill>
                            <a:srgbClr val="0070C0"/>
                          </a:solidFill>
                          <a:latin typeface="Times New Roman"/>
                        </a:rPr>
                        <a:t>        </a:t>
                      </a:r>
                      <a:r>
                        <a:rPr sz="1100" b="0" i="0">
                          <a:solidFill>
                            <a:srgbClr val="0070C0"/>
                          </a:solidFill>
                          <a:latin typeface="Calibri"/>
                        </a:rPr>
                        <a:t>Global Market Snapshot</a:t>
                      </a:r>
                      <a:endParaRPr sz="1100"/>
                    </a:p>
                  </a:txBody>
                  <a:tcPr marL="685800" marR="9525" marT="9525" marB="0" anchor="ctr"/>
                </a:tc>
              </a:tr>
              <a:tr h="175260">
                <a:tc>
                  <a:txBody>
                    <a:bodyPr wrap="square"/>
                    <a:lstStyle/>
                    <a:p>
                      <a:pPr algn="l"/>
                      <a:r>
                        <a:rPr sz="1100" b="0" i="0">
                          <a:solidFill>
                            <a:srgbClr val="0070C0"/>
                          </a:solidFill>
                          <a:latin typeface="Courier New"/>
                        </a:rPr>
                        <a:t>o</a:t>
                      </a:r>
                      <a:r>
                        <a:rPr sz="700" b="0" i="0">
                          <a:solidFill>
                            <a:srgbClr val="0070C0"/>
                          </a:solidFill>
                          <a:latin typeface="Times New Roman"/>
                        </a:rPr>
                        <a:t>        </a:t>
                      </a:r>
                      <a:r>
                        <a:rPr sz="1100" b="0" i="0">
                          <a:solidFill>
                            <a:srgbClr val="0070C0"/>
                          </a:solidFill>
                          <a:latin typeface="Calibri"/>
                        </a:rPr>
                        <a:t>Key Demand Trends</a:t>
                      </a:r>
                      <a:endParaRPr sz="1100"/>
                    </a:p>
                  </a:txBody>
                  <a:tcPr marL="685800" marR="9525" marT="9525" marB="0" anchor="ctr"/>
                </a:tc>
              </a:tr>
              <a:tr h="175260">
                <a:tc>
                  <a:txBody>
                    <a:bodyPr wrap="square"/>
                    <a:lstStyle/>
                    <a:p>
                      <a:pPr algn="l"/>
                      <a:r>
                        <a:rPr sz="1100" b="0" i="0">
                          <a:solidFill>
                            <a:srgbClr val="0070C0"/>
                          </a:solidFill>
                          <a:latin typeface="Courier New"/>
                        </a:rPr>
                        <a:t>o</a:t>
                      </a:r>
                      <a:r>
                        <a:rPr sz="700" b="0" i="0">
                          <a:solidFill>
                            <a:srgbClr val="0070C0"/>
                          </a:solidFill>
                          <a:latin typeface="Times New Roman"/>
                        </a:rPr>
                        <a:t>        </a:t>
                      </a:r>
                      <a:r>
                        <a:rPr sz="1100" b="0" i="0">
                          <a:solidFill>
                            <a:srgbClr val="0070C0"/>
                          </a:solidFill>
                          <a:latin typeface="Calibri"/>
                        </a:rPr>
                        <a:t>Key Supply Trends</a:t>
                      </a:r>
                      <a:endParaRPr sz="1100"/>
                    </a:p>
                  </a:txBody>
                  <a:tcPr marL="685800" marR="9525" marT="9525" marB="0" anchor="ctr"/>
                </a:tc>
              </a:tr>
              <a:tr h="175260">
                <a:tc>
                  <a:txBody>
                    <a:bodyPr wrap="square"/>
                    <a:lstStyle/>
                    <a:p>
                      <a:pPr algn="l"/>
                      <a:r>
                        <a:rPr sz="1100" b="0" i="0">
                          <a:solidFill>
                            <a:srgbClr val="0070C0"/>
                          </a:solidFill>
                          <a:latin typeface="Courier New"/>
                        </a:rPr>
                        <a:t>o</a:t>
                      </a:r>
                      <a:r>
                        <a:rPr sz="700" b="0" i="0">
                          <a:solidFill>
                            <a:srgbClr val="0070C0"/>
                          </a:solidFill>
                          <a:latin typeface="Times New Roman"/>
                        </a:rPr>
                        <a:t>        </a:t>
                      </a:r>
                      <a:r>
                        <a:rPr sz="1100" b="0" i="0">
                          <a:solidFill>
                            <a:srgbClr val="0070C0"/>
                          </a:solidFill>
                          <a:latin typeface="Calibri"/>
                        </a:rPr>
                        <a:t>Technology Roadmap</a:t>
                      </a:r>
                      <a:endParaRPr sz="1100"/>
                    </a:p>
                  </a:txBody>
                  <a:tcPr marL="685800" marR="9525" marT="9525" marB="0" anchor="ctr"/>
                </a:tc>
              </a:tr>
              <a:tr h="175260">
                <a:tc>
                  <a:txBody>
                    <a:bodyPr wrap="square"/>
                    <a:lstStyle/>
                    <a:p>
                      <a:pPr algn="l"/>
                      <a:r>
                        <a:rPr sz="1100" b="0" i="0">
                          <a:solidFill>
                            <a:srgbClr val="0070C0"/>
                          </a:solidFill>
                          <a:latin typeface="Courier New"/>
                        </a:rPr>
                        <a:t>o</a:t>
                      </a:r>
                      <a:r>
                        <a:rPr sz="700" b="0" i="0">
                          <a:solidFill>
                            <a:srgbClr val="0070C0"/>
                          </a:solidFill>
                          <a:latin typeface="Times New Roman"/>
                        </a:rPr>
                        <a:t>        </a:t>
                      </a:r>
                      <a:r>
                        <a:rPr sz="1100" b="0" i="0">
                          <a:solidFill>
                            <a:srgbClr val="0070C0"/>
                          </a:solidFill>
                          <a:latin typeface="Calibri"/>
                        </a:rPr>
                        <a:t>Analyst Takeaways &amp; Recommendations</a:t>
                      </a:r>
                      <a:endParaRPr sz="1100"/>
                    </a:p>
                  </a:txBody>
                  <a:tcPr marL="685800" marR="9525" marT="9525" marB="0" anchor="ctr"/>
                </a:tc>
              </a:tr>
              <a:tr h="175260">
                <a:tc>
                  <a:txBody>
                    <a:bodyPr wrap="square"/>
                    <a:lstStyle/>
                    <a:p>
                      <a:pPr algn="l"/>
                      <a:r>
                        <a:rPr sz="1100" b="1" i="0">
                          <a:solidFill>
                            <a:srgbClr val="000000"/>
                          </a:solidFill>
                          <a:latin typeface="Calibri"/>
                        </a:rPr>
                        <a:t>1.</a:t>
                      </a:r>
                      <a:r>
                        <a:rPr sz="700" b="1" i="0">
                          <a:solidFill>
                            <a:srgbClr val="000000"/>
                          </a:solidFill>
                          <a:latin typeface="Times New Roman"/>
                        </a:rPr>
                        <a:t>       </a:t>
                      </a:r>
                      <a:r>
                        <a:rPr sz="1100" b="1" i="0">
                          <a:solidFill>
                            <a:srgbClr val="000000"/>
                          </a:solidFill>
                          <a:latin typeface="Calibri"/>
                        </a:rPr>
                        <a:t>Market Overview</a:t>
                      </a:r>
                      <a:endParaRPr sz="1100"/>
                    </a:p>
                  </a:txBody>
                  <a:tcPr marL="171450" marR="9525" marT="9525" marB="0" anchor="ctr"/>
                </a:tc>
              </a:tr>
              <a:tr h="175260">
                <a:tc>
                  <a:txBody>
                    <a:bodyPr wrap="square"/>
                    <a:lstStyle/>
                    <a:p>
                      <a:pPr algn="l"/>
                      <a:r>
                        <a:rPr sz="1100" b="0" i="0">
                          <a:solidFill>
                            <a:srgbClr val="0070C0"/>
                          </a:solidFill>
                          <a:latin typeface="Calibri"/>
                        </a:rPr>
                        <a:t>1.1.</a:t>
                      </a:r>
                      <a:r>
                        <a:rPr sz="700" b="0" i="0">
                          <a:solidFill>
                            <a:srgbClr val="0070C0"/>
                          </a:solidFill>
                          <a:latin typeface="Times New Roman"/>
                        </a:rPr>
                        <a:t>    </a:t>
                      </a:r>
                      <a:r>
                        <a:rPr sz="1100" b="0" i="0">
                          <a:solidFill>
                            <a:srgbClr val="0070C0"/>
                          </a:solidFill>
                          <a:latin typeface="Calibri"/>
                        </a:rPr>
                        <a:t>Market Coverage / Taxonomy</a:t>
                      </a:r>
                      <a:endParaRPr sz="1100"/>
                    </a:p>
                  </a:txBody>
                  <a:tcPr marL="428625" marR="9525" marT="9525" marB="0" anchor="ctr"/>
                </a:tc>
              </a:tr>
              <a:tr h="175260">
                <a:tc>
                  <a:txBody>
                    <a:bodyPr wrap="square"/>
                    <a:lstStyle/>
                    <a:p>
                      <a:pPr algn="l"/>
                      <a:r>
                        <a:rPr sz="1100" b="0" i="0">
                          <a:solidFill>
                            <a:srgbClr val="0070C0"/>
                          </a:solidFill>
                          <a:latin typeface="Calibri"/>
                        </a:rPr>
                        <a:t>1.2.</a:t>
                      </a:r>
                      <a:r>
                        <a:rPr sz="700" b="0" i="0">
                          <a:solidFill>
                            <a:srgbClr val="0070C0"/>
                          </a:solidFill>
                          <a:latin typeface="Times New Roman"/>
                        </a:rPr>
                        <a:t>    </a:t>
                      </a:r>
                      <a:r>
                        <a:rPr sz="1100" b="0" i="0">
                          <a:solidFill>
                            <a:srgbClr val="0070C0"/>
                          </a:solidFill>
                          <a:latin typeface="Calibri"/>
                        </a:rPr>
                        <a:t>Market Definition By Segments Covered</a:t>
                      </a:r>
                      <a:endParaRPr sz="1100"/>
                    </a:p>
                  </a:txBody>
                  <a:tcPr marL="428625" marR="9525" marT="9525" marB="0" anchor="ctr"/>
                </a:tc>
              </a:tr>
              <a:tr h="175260">
                <a:tc>
                  <a:txBody>
                    <a:bodyPr wrap="square"/>
                    <a:lstStyle/>
                    <a:p>
                      <a:pPr algn="l"/>
                      <a:r>
                        <a:rPr sz="1100" b="1" i="0">
                          <a:solidFill>
                            <a:srgbClr val="000000"/>
                          </a:solidFill>
                          <a:latin typeface="Calibri"/>
                        </a:rPr>
                        <a:t>Section 1: Global Market Outlook</a:t>
                      </a:r>
                      <a:endParaRPr sz="1100"/>
                    </a:p>
                  </a:txBody>
                  <a:tcPr marL="9525" marR="9525" marT="9525" marB="0" anchor="ctr"/>
                </a:tc>
              </a:tr>
              <a:tr h="175260">
                <a:tc>
                  <a:txBody>
                    <a:bodyPr wrap="square"/>
                    <a:lstStyle/>
                    <a:p>
                      <a:pPr algn="l"/>
                      <a:r>
                        <a:rPr sz="1100" b="1" i="0">
                          <a:solidFill>
                            <a:srgbClr val="000000"/>
                          </a:solidFill>
                          <a:latin typeface="Calibri"/>
                        </a:rPr>
                        <a:t>2.</a:t>
                      </a:r>
                      <a:r>
                        <a:rPr sz="700" b="1" i="0">
                          <a:solidFill>
                            <a:srgbClr val="000000"/>
                          </a:solidFill>
                          <a:latin typeface="Times New Roman"/>
                        </a:rPr>
                        <a:t>       </a:t>
                      </a:r>
                      <a:r>
                        <a:rPr sz="1100" b="1" i="0">
                          <a:solidFill>
                            <a:srgbClr val="000000"/>
                          </a:solidFill>
                          <a:latin typeface="Calibri"/>
                        </a:rPr>
                        <a:t>Global Market Size (Value &amp; Volume) 2021–2036</a:t>
                      </a:r>
                      <a:endParaRPr sz="1100"/>
                    </a:p>
                  </a:txBody>
                  <a:tcPr marL="171450" marR="9525" marT="9525" marB="0" anchor="ctr"/>
                </a:tc>
              </a:tr>
              <a:tr h="175260">
                <a:tc>
                  <a:txBody>
                    <a:bodyPr wrap="square"/>
                    <a:lstStyle/>
                    <a:p>
                      <a:pPr algn="l"/>
                      <a:r>
                        <a:rPr sz="1100" b="0" i="0">
                          <a:solidFill>
                            <a:srgbClr val="0070C0"/>
                          </a:solidFill>
                          <a:latin typeface="Calibri"/>
                        </a:rPr>
                        <a:t>2.1.</a:t>
                      </a:r>
                      <a:r>
                        <a:rPr sz="700" b="0" i="0">
                          <a:solidFill>
                            <a:srgbClr val="0070C0"/>
                          </a:solidFill>
                          <a:latin typeface="Times New Roman"/>
                        </a:rPr>
                        <a:t>    </a:t>
                      </a:r>
                      <a:r>
                        <a:rPr sz="1100" b="0" i="0">
                          <a:solidFill>
                            <a:srgbClr val="0070C0"/>
                          </a:solidFill>
                          <a:latin typeface="Calibri"/>
                        </a:rPr>
                        <a:t>2021–2025: Historical Analysis</a:t>
                      </a:r>
                      <a:endParaRPr sz="1100"/>
                    </a:p>
                  </a:txBody>
                  <a:tcPr marL="428625" marR="9525" marT="9525" marB="0" anchor="ctr"/>
                </a:tc>
              </a:tr>
              <a:tr h="175260">
                <a:tc>
                  <a:txBody>
                    <a:bodyPr wrap="square"/>
                    <a:lstStyle/>
                    <a:p>
                      <a:pPr algn="l"/>
                      <a:r>
                        <a:rPr sz="1100" b="0" i="0">
                          <a:solidFill>
                            <a:srgbClr val="0070C0"/>
                          </a:solidFill>
                          <a:latin typeface="Calibri"/>
                        </a:rPr>
                        <a:t>2.2.</a:t>
                      </a:r>
                      <a:r>
                        <a:rPr sz="700" b="0" i="0">
                          <a:solidFill>
                            <a:srgbClr val="0070C0"/>
                          </a:solidFill>
                          <a:latin typeface="Times New Roman"/>
                        </a:rPr>
                        <a:t>    </a:t>
                      </a:r>
                      <a:r>
                        <a:rPr sz="1100" b="0" i="0">
                          <a:solidFill>
                            <a:srgbClr val="0070C0"/>
                          </a:solidFill>
                          <a:latin typeface="Calibri"/>
                        </a:rPr>
                        <a:t>2026–2036: Forecast Outlook</a:t>
                      </a:r>
                      <a:endParaRPr sz="1100"/>
                    </a:p>
                  </a:txBody>
                  <a:tcPr marL="428625" marR="9525" marT="9525" marB="0" anchor="ctr"/>
                </a:tc>
              </a:tr>
              <a:tr h="175260">
                <a:tc>
                  <a:txBody>
                    <a:bodyPr wrap="square"/>
                    <a:lstStyle/>
                    <a:p>
                      <a:pPr algn="l"/>
                      <a:r>
                        <a:rPr sz="1100" b="0" i="0">
                          <a:solidFill>
                            <a:srgbClr val="0070C0"/>
                          </a:solidFill>
                          <a:latin typeface="Calibri"/>
                        </a:rPr>
                        <a:t>2.3.</a:t>
                      </a:r>
                      <a:r>
                        <a:rPr sz="700" b="0" i="0">
                          <a:solidFill>
                            <a:srgbClr val="0070C0"/>
                          </a:solidFill>
                          <a:latin typeface="Times New Roman"/>
                        </a:rPr>
                        <a:t>    </a:t>
                      </a:r>
                      <a:r>
                        <a:rPr sz="1100" b="0" i="0">
                          <a:solidFill>
                            <a:srgbClr val="0070C0"/>
                          </a:solidFill>
                          <a:latin typeface="Calibri"/>
                        </a:rPr>
                        <a:t>Y-o-Y Growth Trend Analysis</a:t>
                      </a:r>
                      <a:endParaRPr sz="1100"/>
                    </a:p>
                  </a:txBody>
                  <a:tcPr marL="428625" marR="9525" marT="9525" marB="0" anchor="ctr"/>
                </a:tc>
              </a:tr>
              <a:tr h="175260">
                <a:tc>
                  <a:txBody>
                    <a:bodyPr wrap="square"/>
                    <a:lstStyle/>
                    <a:p>
                      <a:pPr algn="l"/>
                      <a:r>
                        <a:rPr sz="1100" b="0" i="0">
                          <a:solidFill>
                            <a:srgbClr val="0070C0"/>
                          </a:solidFill>
                          <a:latin typeface="Calibri"/>
                        </a:rPr>
                        <a:t>2.4.</a:t>
                      </a:r>
                      <a:r>
                        <a:rPr sz="700" b="0" i="0">
                          <a:solidFill>
                            <a:srgbClr val="0070C0"/>
                          </a:solidFill>
                          <a:latin typeface="Times New Roman"/>
                        </a:rPr>
                        <a:t>    </a:t>
                      </a:r>
                      <a:r>
                        <a:rPr sz="1100" b="0" i="0">
                          <a:solidFill>
                            <a:srgbClr val="0070C0"/>
                          </a:solidFill>
                          <a:latin typeface="Calibri"/>
                        </a:rPr>
                        <a:t>Absolute $ Opportunity Analysis</a:t>
                      </a:r>
                      <a:endParaRPr sz="1100"/>
                    </a:p>
                  </a:txBody>
                  <a:tcPr marL="428625" marR="9525" marT="9525" marB="0" anchor="ctr"/>
                </a:tc>
              </a:tr>
              <a:tr h="175260">
                <a:tc>
                  <a:txBody>
                    <a:bodyPr wrap="square"/>
                    <a:lstStyle/>
                    <a:p>
                      <a:pPr algn="l"/>
                      <a:r>
                        <a:rPr sz="1100" b="1" i="0">
                          <a:solidFill>
                            <a:srgbClr val="000000"/>
                          </a:solidFill>
                          <a:latin typeface="Calibri"/>
                        </a:rPr>
                        <a:t>3.</a:t>
                      </a:r>
                      <a:r>
                        <a:rPr sz="700" b="1" i="0">
                          <a:solidFill>
                            <a:srgbClr val="000000"/>
                          </a:solidFill>
                          <a:latin typeface="Times New Roman"/>
                        </a:rPr>
                        <a:t>       </a:t>
                      </a:r>
                      <a:r>
                        <a:rPr sz="1100" b="1" i="0">
                          <a:solidFill>
                            <a:srgbClr val="000000"/>
                          </a:solidFill>
                          <a:latin typeface="Calibri"/>
                        </a:rPr>
                        <a:t>Global Market (Value- Volume) Analysis 2021-2036, By Product Type</a:t>
                      </a:r>
                      <a:endParaRPr sz="1100"/>
                    </a:p>
                  </a:txBody>
                  <a:tcPr marL="171450" marR="9525" marT="9525" marB="0" anchor="ctr"/>
                </a:tc>
              </a:tr>
              <a:tr h="175260">
                <a:tc>
                  <a:txBody>
                    <a:bodyPr wrap="square"/>
                    <a:lstStyle/>
                    <a:p>
                      <a:pPr algn="l"/>
                      <a:r>
                        <a:rPr sz="1100" b="0" i="0">
                          <a:solidFill>
                            <a:srgbClr val="0070C0"/>
                          </a:solidFill>
                          <a:latin typeface="Calibri"/>
                        </a:rPr>
                        <a:t>3.1.</a:t>
                      </a:r>
                      <a:r>
                        <a:rPr sz="700" b="0" i="0">
                          <a:solidFill>
                            <a:srgbClr val="0070C0"/>
                          </a:solidFill>
                          <a:latin typeface="Times New Roman"/>
                        </a:rPr>
                        <a:t>    </a:t>
                      </a:r>
                      <a:r>
                        <a:rPr sz="1100" b="0" i="0">
                          <a:solidFill>
                            <a:srgbClr val="0070C0"/>
                          </a:solidFill>
                          <a:latin typeface="Calibri"/>
                        </a:rPr>
                        <a:t>Introduction / Key Findings</a:t>
                      </a:r>
                      <a:endParaRPr sz="1100"/>
                    </a:p>
                  </a:txBody>
                  <a:tcPr marL="428625" marR="9525" marT="9525" marB="0" anchor="ctr"/>
                </a:tc>
              </a:tr>
              <a:tr h="175260">
                <a:tc>
                  <a:txBody>
                    <a:bodyPr wrap="square"/>
                    <a:lstStyle/>
                    <a:p>
                      <a:pPr algn="l"/>
                      <a:r>
                        <a:rPr sz="1100" b="0" i="0">
                          <a:solidFill>
                            <a:srgbClr val="0070C0"/>
                          </a:solidFill>
                          <a:latin typeface="Calibri"/>
                        </a:rPr>
                        <a:t>3.2.</a:t>
                      </a:r>
                      <a:r>
                        <a:rPr sz="700" b="0" i="0">
                          <a:solidFill>
                            <a:srgbClr val="0070C0"/>
                          </a:solidFill>
                          <a:latin typeface="Times New Roman"/>
                        </a:rPr>
                        <a:t>    </a:t>
                      </a:r>
                      <a:r>
                        <a:rPr sz="1100" b="0" i="0">
                          <a:solidFill>
                            <a:srgbClr val="0070C0"/>
                          </a:solidFill>
                          <a:latin typeface="Calibri"/>
                        </a:rPr>
                        <a:t>2021–2025: Historical Analysis</a:t>
                      </a:r>
                      <a:endParaRPr sz="1100"/>
                    </a:p>
                  </a:txBody>
                  <a:tcPr marL="428625" marR="9525" marT="9525" marB="0" anchor="ctr"/>
                </a:tc>
              </a:tr>
              <a:tr h="175260">
                <a:tc>
                  <a:txBody>
                    <a:bodyPr wrap="square"/>
                    <a:lstStyle/>
                    <a:p>
                      <a:pPr algn="l"/>
                      <a:r>
                        <a:rPr sz="1100" b="0" i="0">
                          <a:solidFill>
                            <a:srgbClr val="0070C0"/>
                          </a:solidFill>
                          <a:latin typeface="Calibri"/>
                        </a:rPr>
                        <a:t>3.3.</a:t>
                      </a:r>
                      <a:r>
                        <a:rPr sz="700" b="0" i="0">
                          <a:solidFill>
                            <a:srgbClr val="0070C0"/>
                          </a:solidFill>
                          <a:latin typeface="Times New Roman"/>
                        </a:rPr>
                        <a:t>    </a:t>
                      </a:r>
                      <a:r>
                        <a:rPr sz="1100" b="0" i="0">
                          <a:solidFill>
                            <a:srgbClr val="0070C0"/>
                          </a:solidFill>
                          <a:latin typeface="Calibri"/>
                        </a:rPr>
                        <a:t>2026–2036: Forecast Outlook</a:t>
                      </a:r>
                      <a:endParaRPr sz="1100"/>
                    </a:p>
                  </a:txBody>
                  <a:tcPr marL="428625" marR="9525" marT="9525" marB="0" anchor="ctr"/>
                </a:tc>
              </a:tr>
              <a:tr h="175260">
                <a:tc>
                  <a:txBody>
                    <a:bodyPr wrap="square"/>
                    <a:lstStyle/>
                    <a:p>
                      <a:pPr algn="l"/>
                      <a:r>
                        <a:rPr sz="1100" b="0" i="0">
                          <a:solidFill>
                            <a:srgbClr val="0070C0"/>
                          </a:solidFill>
                          <a:latin typeface="Calibri"/>
                        </a:rPr>
                        <a:t>3.4.</a:t>
                      </a:r>
                      <a:r>
                        <a:rPr sz="700" b="0" i="0">
                          <a:solidFill>
                            <a:srgbClr val="0070C0"/>
                          </a:solidFill>
                          <a:latin typeface="Times New Roman"/>
                        </a:rPr>
                        <a:t>    </a:t>
                      </a:r>
                      <a:r>
                        <a:rPr sz="1100" b="0" i="0">
                          <a:solidFill>
                            <a:srgbClr val="0070C0"/>
                          </a:solidFill>
                          <a:latin typeface="Calibri"/>
                        </a:rPr>
                        <a:t>Y-o-Y Growth Trend Analysis</a:t>
                      </a:r>
                      <a:endParaRPr sz="1100"/>
                    </a:p>
                  </a:txBody>
                  <a:tcPr marL="428625" marR="9525" marT="9525" marB="0" anchor="ctr"/>
                </a:tc>
              </a:tr>
              <a:tr h="175260">
                <a:tc>
                  <a:txBody>
                    <a:bodyPr wrap="square"/>
                    <a:lstStyle/>
                    <a:p>
                      <a:pPr algn="l"/>
                      <a:r>
                        <a:rPr sz="1100" b="0" i="0">
                          <a:solidFill>
                            <a:srgbClr val="0070C0"/>
                          </a:solidFill>
                          <a:latin typeface="Calibri"/>
                        </a:rPr>
                        <a:t>3.5.</a:t>
                      </a:r>
                      <a:r>
                        <a:rPr sz="700" b="0" i="0">
                          <a:solidFill>
                            <a:srgbClr val="0070C0"/>
                          </a:solidFill>
                          <a:latin typeface="Times New Roman"/>
                        </a:rPr>
                        <a:t>    </a:t>
                      </a:r>
                      <a:r>
                        <a:rPr sz="1100" b="0" i="0">
                          <a:solidFill>
                            <a:srgbClr val="0070C0"/>
                          </a:solidFill>
                          <a:latin typeface="Calibri"/>
                        </a:rPr>
                        <a:t>Market Share Analysis</a:t>
                      </a:r>
                      <a:endParaRPr sz="1100"/>
                    </a:p>
                  </a:txBody>
                  <a:tcPr marL="428625" marR="9525" marT="9525" marB="0" anchor="ctr"/>
                </a:tc>
              </a:tr>
              <a:tr h="175260">
                <a:tc>
                  <a:txBody>
                    <a:bodyPr wrap="square"/>
                    <a:lstStyle/>
                    <a:p>
                      <a:pPr algn="l"/>
                      <a:r>
                        <a:rPr sz="1100" b="0" i="0">
                          <a:solidFill>
                            <a:srgbClr val="000000"/>
                          </a:solidFill>
                          <a:latin typeface="Calibri"/>
                        </a:rPr>
                        <a:t>3.5.1.</a:t>
                      </a:r>
                      <a:r>
                        <a:rPr sz="700" b="0" i="0">
                          <a:solidFill>
                            <a:srgbClr val="000000"/>
                          </a:solidFill>
                          <a:latin typeface="Times New Roman"/>
                        </a:rPr>
                        <a:t>   </a:t>
                      </a:r>
                      <a:r>
                        <a:rPr sz="1100" b="0" i="0">
                          <a:solidFill>
                            <a:srgbClr val="000000"/>
                          </a:solidFill>
                          <a:latin typeface="Calibri"/>
                        </a:rPr>
                        <a:t>Micronized (Non-hydrolyzed) Eggshell Membrane</a:t>
                      </a:r>
                      <a:endParaRPr sz="1100"/>
                    </a:p>
                  </a:txBody>
                  <a:tcPr marL="771525" marR="9525" marT="9525" marB="0" anchor="ctr"/>
                </a:tc>
              </a:tr>
              <a:tr h="175260">
                <a:tc>
                  <a:txBody>
                    <a:bodyPr wrap="square"/>
                    <a:lstStyle/>
                    <a:p>
                      <a:pPr algn="l"/>
                      <a:r>
                        <a:rPr sz="1100" b="0" i="0">
                          <a:solidFill>
                            <a:srgbClr val="000000"/>
                          </a:solidFill>
                          <a:latin typeface="Calibri"/>
                        </a:rPr>
                        <a:t>3.5.2.</a:t>
                      </a:r>
                      <a:r>
                        <a:rPr sz="700" b="0" i="0">
                          <a:solidFill>
                            <a:srgbClr val="000000"/>
                          </a:solidFill>
                          <a:latin typeface="Times New Roman"/>
                        </a:rPr>
                        <a:t>   </a:t>
                      </a:r>
                      <a:r>
                        <a:rPr sz="1100" b="0" i="0">
                          <a:solidFill>
                            <a:srgbClr val="000000"/>
                          </a:solidFill>
                          <a:latin typeface="Calibri"/>
                        </a:rPr>
                        <a:t>Hydrolyzed Eggshell Membrane</a:t>
                      </a:r>
                      <a:endParaRPr sz="1100"/>
                    </a:p>
                  </a:txBody>
                  <a:tcPr marL="771525" marR="9525" marT="9525" marB="0" anchor="ctr"/>
                </a:tc>
              </a:tr>
              <a:tr h="175260">
                <a:tc>
                  <a:txBody>
                    <a:bodyPr wrap="square"/>
                    <a:lstStyle/>
                    <a:p>
                      <a:pPr algn="l"/>
                      <a:r>
                        <a:rPr sz="1100" b="0" i="0">
                          <a:solidFill>
                            <a:srgbClr val="000000"/>
                          </a:solidFill>
                          <a:latin typeface="Calibri"/>
                        </a:rPr>
                        <a:t>3.5.3.</a:t>
                      </a:r>
                      <a:r>
                        <a:rPr sz="700" b="0" i="0">
                          <a:solidFill>
                            <a:srgbClr val="000000"/>
                          </a:solidFill>
                          <a:latin typeface="Times New Roman"/>
                        </a:rPr>
                        <a:t>   </a:t>
                      </a:r>
                      <a:r>
                        <a:rPr sz="1100" b="0" i="0">
                          <a:solidFill>
                            <a:srgbClr val="000000"/>
                          </a:solidFill>
                          <a:latin typeface="Calibri"/>
                        </a:rPr>
                        <a:t>Specialty Extracted Protein Fractions (Others)</a:t>
                      </a:r>
                      <a:endParaRPr sz="1100"/>
                    </a:p>
                  </a:txBody>
                  <a:tcPr marL="771525" marR="9525" marT="9525" marB="0" anchor="ctr"/>
                </a:tc>
              </a:tr>
              <a:tr h="175260">
                <a:tc>
                  <a:txBody>
                    <a:bodyPr wrap="square"/>
                    <a:lstStyle/>
                    <a:p>
                      <a:pPr algn="l"/>
                      <a:r>
                        <a:rPr sz="1100" b="1" i="0">
                          <a:solidFill>
                            <a:srgbClr val="000000"/>
                          </a:solidFill>
                          <a:latin typeface="Calibri"/>
                        </a:rPr>
                        <a:t>4.</a:t>
                      </a:r>
                      <a:r>
                        <a:rPr sz="700" b="1" i="0">
                          <a:solidFill>
                            <a:srgbClr val="000000"/>
                          </a:solidFill>
                          <a:latin typeface="Times New Roman"/>
                        </a:rPr>
                        <a:t>       </a:t>
                      </a:r>
                      <a:r>
                        <a:rPr sz="1100" b="1" i="0">
                          <a:solidFill>
                            <a:srgbClr val="000000"/>
                          </a:solidFill>
                          <a:latin typeface="Calibri"/>
                        </a:rPr>
                        <a:t>Global Market (Value- Volume) Analysis 2021–2036, By Extraction / Processing Method</a:t>
                      </a:r>
                      <a:endParaRPr sz="1100"/>
                    </a:p>
                  </a:txBody>
                  <a:tcPr marL="171450" marR="9525" marT="9525" marB="0" anchor="ctr"/>
                </a:tc>
              </a:tr>
              <a:tr h="175260">
                <a:tc>
                  <a:txBody>
                    <a:bodyPr wrap="square"/>
                    <a:lstStyle/>
                    <a:p>
                      <a:pPr algn="l"/>
                      <a:r>
                        <a:rPr sz="1100" b="0" i="0">
                          <a:solidFill>
                            <a:srgbClr val="0070C0"/>
                          </a:solidFill>
                          <a:latin typeface="Calibri"/>
                        </a:rPr>
                        <a:t>4.1.</a:t>
                      </a:r>
                      <a:r>
                        <a:rPr sz="700" b="0" i="0">
                          <a:solidFill>
                            <a:srgbClr val="0070C0"/>
                          </a:solidFill>
                          <a:latin typeface="Times New Roman"/>
                        </a:rPr>
                        <a:t>    </a:t>
                      </a:r>
                      <a:r>
                        <a:rPr sz="1100" b="0" i="0">
                          <a:solidFill>
                            <a:srgbClr val="0070C0"/>
                          </a:solidFill>
                          <a:latin typeface="Calibri"/>
                        </a:rPr>
                        <a:t>Introduction / Key Findings</a:t>
                      </a:r>
                      <a:endParaRPr sz="1100"/>
                    </a:p>
                  </a:txBody>
                  <a:tcPr marL="428625" marR="9525" marT="9525" marB="0" anchor="ctr"/>
                </a:tc>
              </a:tr>
              <a:tr h="175260">
                <a:tc>
                  <a:txBody>
                    <a:bodyPr wrap="square"/>
                    <a:lstStyle/>
                    <a:p>
                      <a:pPr algn="l"/>
                      <a:r>
                        <a:rPr sz="1100" b="0" i="0">
                          <a:solidFill>
                            <a:srgbClr val="0070C0"/>
                          </a:solidFill>
                          <a:latin typeface="Calibri"/>
                        </a:rPr>
                        <a:t>4.2.</a:t>
                      </a:r>
                      <a:r>
                        <a:rPr sz="700" b="0" i="0">
                          <a:solidFill>
                            <a:srgbClr val="0070C0"/>
                          </a:solidFill>
                          <a:latin typeface="Times New Roman"/>
                        </a:rPr>
                        <a:t>    </a:t>
                      </a:r>
                      <a:r>
                        <a:rPr sz="1100" b="0" i="0">
                          <a:solidFill>
                            <a:srgbClr val="0070C0"/>
                          </a:solidFill>
                          <a:latin typeface="Calibri"/>
                        </a:rPr>
                        <a:t>2021–2025: Historical Analysis</a:t>
                      </a:r>
                      <a:endParaRPr sz="1100"/>
                    </a:p>
                  </a:txBody>
                  <a:tcPr marL="428625" marR="9525" marT="9525" marB="0" anchor="ctr"/>
                </a:tc>
              </a:tr>
              <a:tr h="175260">
                <a:tc>
                  <a:txBody>
                    <a:bodyPr wrap="square"/>
                    <a:lstStyle/>
                    <a:p>
                      <a:pPr algn="l"/>
                      <a:r>
                        <a:rPr sz="1100" b="0" i="0">
                          <a:solidFill>
                            <a:srgbClr val="0070C0"/>
                          </a:solidFill>
                          <a:latin typeface="Calibri"/>
                        </a:rPr>
                        <a:t>4.3.</a:t>
                      </a:r>
                      <a:r>
                        <a:rPr sz="700" b="0" i="0">
                          <a:solidFill>
                            <a:srgbClr val="0070C0"/>
                          </a:solidFill>
                          <a:latin typeface="Times New Roman"/>
                        </a:rPr>
                        <a:t>    </a:t>
                      </a:r>
                      <a:r>
                        <a:rPr sz="1100" b="0" i="0">
                          <a:solidFill>
                            <a:srgbClr val="0070C0"/>
                          </a:solidFill>
                          <a:latin typeface="Calibri"/>
                        </a:rPr>
                        <a:t>2026–2036: Forecast Outlook</a:t>
                      </a:r>
                      <a:endParaRPr sz="1100"/>
                    </a:p>
                  </a:txBody>
                  <a:tcPr marL="428625" marR="9525" marT="9525" marB="0" anchor="ctr"/>
                </a:tc>
              </a:tr>
              <a:tr h="175260">
                <a:tc>
                  <a:txBody>
                    <a:bodyPr wrap="square"/>
                    <a:lstStyle/>
                    <a:p>
                      <a:pPr algn="l"/>
                      <a:r>
                        <a:rPr sz="1100" b="0" i="0">
                          <a:solidFill>
                            <a:srgbClr val="0070C0"/>
                          </a:solidFill>
                          <a:latin typeface="Calibri"/>
                        </a:rPr>
                        <a:t>4.4.</a:t>
                      </a:r>
                      <a:r>
                        <a:rPr sz="700" b="0" i="0">
                          <a:solidFill>
                            <a:srgbClr val="0070C0"/>
                          </a:solidFill>
                          <a:latin typeface="Times New Roman"/>
                        </a:rPr>
                        <a:t>    </a:t>
                      </a:r>
                      <a:r>
                        <a:rPr sz="1100" b="0" i="0">
                          <a:solidFill>
                            <a:srgbClr val="0070C0"/>
                          </a:solidFill>
                          <a:latin typeface="Calibri"/>
                        </a:rPr>
                        <a:t>Y-o-Y Growth Trend Analysis</a:t>
                      </a:r>
                      <a:endParaRPr sz="1100"/>
                    </a:p>
                  </a:txBody>
                  <a:tcPr marL="428625" marR="9525" marT="9525" marB="0" anchor="ctr"/>
                </a:tc>
              </a:tr>
              <a:tr h="175260">
                <a:tc>
                  <a:txBody>
                    <a:bodyPr wrap="square"/>
                    <a:lstStyle/>
                    <a:p>
                      <a:pPr algn="l"/>
                      <a:r>
                        <a:rPr sz="1100" b="0" i="0">
                          <a:solidFill>
                            <a:srgbClr val="0070C0"/>
                          </a:solidFill>
                          <a:latin typeface="Calibri"/>
                        </a:rPr>
                        <a:t>4.5.</a:t>
                      </a:r>
                      <a:r>
                        <a:rPr sz="700" b="0" i="0">
                          <a:solidFill>
                            <a:srgbClr val="0070C0"/>
                          </a:solidFill>
                          <a:latin typeface="Times New Roman"/>
                        </a:rPr>
                        <a:t>    </a:t>
                      </a:r>
                      <a:r>
                        <a:rPr sz="1100" b="0" i="0">
                          <a:solidFill>
                            <a:srgbClr val="0070C0"/>
                          </a:solidFill>
                          <a:latin typeface="Calibri"/>
                        </a:rPr>
                        <a:t>Market Share Analysis</a:t>
                      </a:r>
                      <a:endParaRPr sz="1100"/>
                    </a:p>
                  </a:txBody>
                  <a:tcPr marL="428625" marR="9525" marT="9525" marB="0" anchor="ctr"/>
                </a:tc>
              </a:tr>
            </a:tbl>
          </a:graphicData>
        </a:graphic>
      </p:graphicFrame>
      <p:graphicFrame>
        <p:nvGraphicFramePr>
          <p:cNvPr id="7" name="TMR Contents Table"/>
          <p:cNvGraphicFramePr>
            <a:graphicFrameLocks noGrp="1"/>
          </p:cNvGraphicFramePr>
          <p:nvPr/>
        </p:nvGraphicFramePr>
        <p:xfrm>
          <a:off x="6172200" y="981075"/>
          <a:ext cx="5876925" cy="5257800"/>
        </p:xfrm>
        <a:graphic>
          <a:graphicData uri="http://schemas.openxmlformats.org/drawingml/2006/table">
            <a:tbl>
              <a:tblPr>
                <a:tableStyleId>{3B4B98B0-60AC-42C2-AFA5-B58CD77FA1E5}</a:tableStyleId>
              </a:tblPr>
              <a:tblGrid>
                <a:gridCol w="5876925"/>
              </a:tblGrid>
              <a:tr h="175260">
                <a:tc>
                  <a:txBody>
                    <a:bodyPr wrap="square"/>
                    <a:lstStyle/>
                    <a:p>
                      <a:pPr algn="l"/>
                      <a:r>
                        <a:rPr sz="1100" b="0" i="0">
                          <a:solidFill>
                            <a:srgbClr val="000000"/>
                          </a:solidFill>
                          <a:latin typeface="Calibri"/>
                        </a:rPr>
                        <a:t>4.5.1.</a:t>
                      </a:r>
                      <a:r>
                        <a:rPr sz="700" b="0" i="0">
                          <a:solidFill>
                            <a:srgbClr val="000000"/>
                          </a:solidFill>
                          <a:latin typeface="Times New Roman"/>
                        </a:rPr>
                        <a:t>   </a:t>
                      </a:r>
                      <a:r>
                        <a:rPr sz="1100" b="0" i="0">
                          <a:solidFill>
                            <a:srgbClr val="000000"/>
                          </a:solidFill>
                          <a:latin typeface="Calibri"/>
                        </a:rPr>
                        <a:t>Mechanical Separation &amp; Micronization</a:t>
                      </a:r>
                      <a:endParaRPr sz="1100"/>
                    </a:p>
                  </a:txBody>
                  <a:tcPr marL="771525" marR="9525" marT="9525" marB="0" anchor="ctr"/>
                </a:tc>
              </a:tr>
              <a:tr h="175260">
                <a:tc>
                  <a:txBody>
                    <a:bodyPr wrap="square"/>
                    <a:lstStyle/>
                    <a:p>
                      <a:pPr algn="l"/>
                      <a:r>
                        <a:rPr sz="1100" b="0" i="0">
                          <a:solidFill>
                            <a:srgbClr val="000000"/>
                          </a:solidFill>
                          <a:latin typeface="Calibri"/>
                        </a:rPr>
                        <a:t>4.5.2.</a:t>
                      </a:r>
                      <a:r>
                        <a:rPr sz="700" b="0" i="0">
                          <a:solidFill>
                            <a:srgbClr val="000000"/>
                          </a:solidFill>
                          <a:latin typeface="Times New Roman"/>
                        </a:rPr>
                        <a:t>   </a:t>
                      </a:r>
                      <a:r>
                        <a:rPr sz="1100" b="0" i="0">
                          <a:solidFill>
                            <a:srgbClr val="000000"/>
                          </a:solidFill>
                          <a:latin typeface="Calibri"/>
                        </a:rPr>
                        <a:t>Enzymatic Hydrolysis</a:t>
                      </a:r>
                      <a:endParaRPr sz="1100"/>
                    </a:p>
                  </a:txBody>
                  <a:tcPr marL="771525" marR="9525" marT="9525" marB="0" anchor="ctr"/>
                </a:tc>
              </a:tr>
              <a:tr h="175260">
                <a:tc>
                  <a:txBody>
                    <a:bodyPr wrap="square"/>
                    <a:lstStyle/>
                    <a:p>
                      <a:pPr algn="l"/>
                      <a:r>
                        <a:rPr sz="1100" b="0" i="0">
                          <a:solidFill>
                            <a:srgbClr val="000000"/>
                          </a:solidFill>
                          <a:latin typeface="Calibri"/>
                        </a:rPr>
                        <a:t>4.5.3.</a:t>
                      </a:r>
                      <a:r>
                        <a:rPr sz="700" b="0" i="0">
                          <a:solidFill>
                            <a:srgbClr val="000000"/>
                          </a:solidFill>
                          <a:latin typeface="Times New Roman"/>
                        </a:rPr>
                        <a:t>   </a:t>
                      </a:r>
                      <a:r>
                        <a:rPr sz="1100" b="0" i="0">
                          <a:solidFill>
                            <a:srgbClr val="000000"/>
                          </a:solidFill>
                          <a:latin typeface="Calibri"/>
                        </a:rPr>
                        <a:t>Chemical Hydrolysis / Solubilization (Acid / Alkali / Reduction-based)</a:t>
                      </a:r>
                      <a:endParaRPr sz="1100"/>
                    </a:p>
                  </a:txBody>
                  <a:tcPr marL="771525" marR="9525" marT="9525" marB="0" anchor="ctr"/>
                </a:tc>
              </a:tr>
              <a:tr h="350520">
                <a:tc>
                  <a:txBody>
                    <a:bodyPr wrap="square"/>
                    <a:lstStyle/>
                    <a:p>
                      <a:pPr algn="l"/>
                      <a:r>
                        <a:rPr sz="1100" b="0" i="0">
                          <a:solidFill>
                            <a:srgbClr val="000000"/>
                          </a:solidFill>
                          <a:latin typeface="Calibri"/>
                        </a:rPr>
                        <a:t>4.5.4.</a:t>
                      </a:r>
                      <a:r>
                        <a:rPr sz="700" b="0" i="0">
                          <a:solidFill>
                            <a:srgbClr val="000000"/>
                          </a:solidFill>
                          <a:latin typeface="Times New Roman"/>
                        </a:rPr>
                        <a:t>   </a:t>
                      </a:r>
                      <a:r>
                        <a:rPr sz="1100" b="0" i="0">
                          <a:solidFill>
                            <a:srgbClr val="000000"/>
                          </a:solidFill>
                          <a:latin typeface="Calibri"/>
                        </a:rPr>
                        <a:t>Other / Hybrid Processing Methods (Subcritical Water, Ultrasound / Microwave-assisted)</a:t>
                      </a:r>
                      <a:endParaRPr sz="1100"/>
                    </a:p>
                  </a:txBody>
                  <a:tcPr marL="771525" marR="9525" marT="9525" marB="0" anchor="ctr"/>
                </a:tc>
              </a:tr>
              <a:tr h="175260">
                <a:tc>
                  <a:txBody>
                    <a:bodyPr wrap="square"/>
                    <a:lstStyle/>
                    <a:p>
                      <a:pPr algn="l"/>
                      <a:r>
                        <a:rPr sz="1100" b="1" i="0">
                          <a:solidFill>
                            <a:srgbClr val="000000"/>
                          </a:solidFill>
                          <a:latin typeface="Calibri"/>
                        </a:rPr>
                        <a:t>5.</a:t>
                      </a:r>
                      <a:r>
                        <a:rPr sz="700" b="1" i="0">
                          <a:solidFill>
                            <a:srgbClr val="000000"/>
                          </a:solidFill>
                          <a:latin typeface="Times New Roman"/>
                        </a:rPr>
                        <a:t>       </a:t>
                      </a:r>
                      <a:r>
                        <a:rPr sz="1100" b="1" i="0">
                          <a:solidFill>
                            <a:srgbClr val="000000"/>
                          </a:solidFill>
                          <a:latin typeface="Calibri"/>
                        </a:rPr>
                        <a:t>Global Market (Value- Volume) Analysis 2021–2036, By Source</a:t>
                      </a:r>
                      <a:endParaRPr sz="1100"/>
                    </a:p>
                  </a:txBody>
                  <a:tcPr marL="171450" marR="9525" marT="9525" marB="0" anchor="ctr"/>
                </a:tc>
              </a:tr>
              <a:tr h="175260">
                <a:tc>
                  <a:txBody>
                    <a:bodyPr wrap="square"/>
                    <a:lstStyle/>
                    <a:p>
                      <a:pPr algn="l"/>
                      <a:r>
                        <a:rPr sz="1100" b="0" i="0">
                          <a:solidFill>
                            <a:srgbClr val="0070C0"/>
                          </a:solidFill>
                          <a:latin typeface="Calibri"/>
                        </a:rPr>
                        <a:t>5.1.</a:t>
                      </a:r>
                      <a:r>
                        <a:rPr sz="700" b="0" i="0">
                          <a:solidFill>
                            <a:srgbClr val="0070C0"/>
                          </a:solidFill>
                          <a:latin typeface="Times New Roman"/>
                        </a:rPr>
                        <a:t>    </a:t>
                      </a:r>
                      <a:r>
                        <a:rPr sz="1100" b="0" i="0">
                          <a:solidFill>
                            <a:srgbClr val="0070C0"/>
                          </a:solidFill>
                          <a:latin typeface="Calibri"/>
                        </a:rPr>
                        <a:t>Introduction / Key Findings</a:t>
                      </a:r>
                      <a:endParaRPr sz="1100"/>
                    </a:p>
                  </a:txBody>
                  <a:tcPr marL="428625" marR="9525" marT="9525" marB="0" anchor="ctr"/>
                </a:tc>
              </a:tr>
              <a:tr h="175260">
                <a:tc>
                  <a:txBody>
                    <a:bodyPr wrap="square"/>
                    <a:lstStyle/>
                    <a:p>
                      <a:pPr algn="l"/>
                      <a:r>
                        <a:rPr sz="1100" b="0" i="0">
                          <a:solidFill>
                            <a:srgbClr val="0070C0"/>
                          </a:solidFill>
                          <a:latin typeface="Calibri"/>
                        </a:rPr>
                        <a:t>5.2.</a:t>
                      </a:r>
                      <a:r>
                        <a:rPr sz="700" b="0" i="0">
                          <a:solidFill>
                            <a:srgbClr val="0070C0"/>
                          </a:solidFill>
                          <a:latin typeface="Times New Roman"/>
                        </a:rPr>
                        <a:t>    </a:t>
                      </a:r>
                      <a:r>
                        <a:rPr sz="1100" b="0" i="0">
                          <a:solidFill>
                            <a:srgbClr val="0070C0"/>
                          </a:solidFill>
                          <a:latin typeface="Calibri"/>
                        </a:rPr>
                        <a:t>2021–2025: Historical Analysis</a:t>
                      </a:r>
                      <a:endParaRPr sz="1100"/>
                    </a:p>
                  </a:txBody>
                  <a:tcPr marL="428625" marR="9525" marT="9525" marB="0" anchor="ctr"/>
                </a:tc>
              </a:tr>
              <a:tr h="175260">
                <a:tc>
                  <a:txBody>
                    <a:bodyPr wrap="square"/>
                    <a:lstStyle/>
                    <a:p>
                      <a:pPr algn="l"/>
                      <a:r>
                        <a:rPr sz="1100" b="0" i="0">
                          <a:solidFill>
                            <a:srgbClr val="0070C0"/>
                          </a:solidFill>
                          <a:latin typeface="Calibri"/>
                        </a:rPr>
                        <a:t>5.3.</a:t>
                      </a:r>
                      <a:r>
                        <a:rPr sz="700" b="0" i="0">
                          <a:solidFill>
                            <a:srgbClr val="0070C0"/>
                          </a:solidFill>
                          <a:latin typeface="Times New Roman"/>
                        </a:rPr>
                        <a:t>    </a:t>
                      </a:r>
                      <a:r>
                        <a:rPr sz="1100" b="0" i="0">
                          <a:solidFill>
                            <a:srgbClr val="0070C0"/>
                          </a:solidFill>
                          <a:latin typeface="Calibri"/>
                        </a:rPr>
                        <a:t>2026–2036: Forecast Outlook</a:t>
                      </a:r>
                      <a:endParaRPr sz="1100"/>
                    </a:p>
                  </a:txBody>
                  <a:tcPr marL="428625" marR="9525" marT="9525" marB="0" anchor="ctr"/>
                </a:tc>
              </a:tr>
              <a:tr h="175260">
                <a:tc>
                  <a:txBody>
                    <a:bodyPr wrap="square"/>
                    <a:lstStyle/>
                    <a:p>
                      <a:pPr algn="l"/>
                      <a:r>
                        <a:rPr sz="1100" b="0" i="0">
                          <a:solidFill>
                            <a:srgbClr val="0070C0"/>
                          </a:solidFill>
                          <a:latin typeface="Calibri"/>
                        </a:rPr>
                        <a:t>5.4.</a:t>
                      </a:r>
                      <a:r>
                        <a:rPr sz="700" b="0" i="0">
                          <a:solidFill>
                            <a:srgbClr val="0070C0"/>
                          </a:solidFill>
                          <a:latin typeface="Times New Roman"/>
                        </a:rPr>
                        <a:t>    </a:t>
                      </a:r>
                      <a:r>
                        <a:rPr sz="1100" b="0" i="0">
                          <a:solidFill>
                            <a:srgbClr val="0070C0"/>
                          </a:solidFill>
                          <a:latin typeface="Calibri"/>
                        </a:rPr>
                        <a:t>Y-o-Y Growth Trend Analysis</a:t>
                      </a:r>
                      <a:endParaRPr sz="1100"/>
                    </a:p>
                  </a:txBody>
                  <a:tcPr marL="428625" marR="9525" marT="9525" marB="0" anchor="ctr"/>
                </a:tc>
              </a:tr>
              <a:tr h="175260">
                <a:tc>
                  <a:txBody>
                    <a:bodyPr wrap="square"/>
                    <a:lstStyle/>
                    <a:p>
                      <a:pPr algn="l"/>
                      <a:r>
                        <a:rPr sz="1100" b="0" i="0">
                          <a:solidFill>
                            <a:srgbClr val="0070C0"/>
                          </a:solidFill>
                          <a:latin typeface="Calibri"/>
                        </a:rPr>
                        <a:t>5.5.</a:t>
                      </a:r>
                      <a:r>
                        <a:rPr sz="700" b="0" i="0">
                          <a:solidFill>
                            <a:srgbClr val="0070C0"/>
                          </a:solidFill>
                          <a:latin typeface="Times New Roman"/>
                        </a:rPr>
                        <a:t>    </a:t>
                      </a:r>
                      <a:r>
                        <a:rPr sz="1100" b="0" i="0">
                          <a:solidFill>
                            <a:srgbClr val="0070C0"/>
                          </a:solidFill>
                          <a:latin typeface="Calibri"/>
                        </a:rPr>
                        <a:t>Market Share Analysis</a:t>
                      </a:r>
                      <a:endParaRPr sz="1100"/>
                    </a:p>
                  </a:txBody>
                  <a:tcPr marL="428625" marR="9525" marT="9525" marB="0" anchor="ctr"/>
                </a:tc>
              </a:tr>
              <a:tr h="175260">
                <a:tc>
                  <a:txBody>
                    <a:bodyPr wrap="square"/>
                    <a:lstStyle/>
                    <a:p>
                      <a:pPr algn="l"/>
                      <a:r>
                        <a:rPr sz="1100" b="0" i="0">
                          <a:solidFill>
                            <a:srgbClr val="000000"/>
                          </a:solidFill>
                          <a:latin typeface="Calibri"/>
                        </a:rPr>
                        <a:t>5.5.1.</a:t>
                      </a:r>
                      <a:r>
                        <a:rPr sz="700" b="0" i="0">
                          <a:solidFill>
                            <a:srgbClr val="000000"/>
                          </a:solidFill>
                          <a:latin typeface="Times New Roman"/>
                        </a:rPr>
                        <a:t>   </a:t>
                      </a:r>
                      <a:r>
                        <a:rPr sz="1100" b="0" i="0">
                          <a:solidFill>
                            <a:srgbClr val="000000"/>
                          </a:solidFill>
                          <a:latin typeface="Calibri"/>
                        </a:rPr>
                        <a:t>Chicken Eggshell Membrane</a:t>
                      </a:r>
                      <a:endParaRPr sz="1100"/>
                    </a:p>
                  </a:txBody>
                  <a:tcPr marL="771525" marR="9525" marT="9525" marB="0" anchor="ctr"/>
                </a:tc>
              </a:tr>
              <a:tr h="175260">
                <a:tc>
                  <a:txBody>
                    <a:bodyPr wrap="square"/>
                    <a:lstStyle/>
                    <a:p>
                      <a:pPr algn="l"/>
                      <a:r>
                        <a:rPr sz="1100" b="0" i="0">
                          <a:solidFill>
                            <a:srgbClr val="000000"/>
                          </a:solidFill>
                          <a:latin typeface="Calibri"/>
                        </a:rPr>
                        <a:t>5.5.2.</a:t>
                      </a:r>
                      <a:r>
                        <a:rPr sz="700" b="0" i="0">
                          <a:solidFill>
                            <a:srgbClr val="000000"/>
                          </a:solidFill>
                          <a:latin typeface="Times New Roman"/>
                        </a:rPr>
                        <a:t>   </a:t>
                      </a:r>
                      <a:r>
                        <a:rPr sz="1100" b="0" i="0">
                          <a:solidFill>
                            <a:srgbClr val="000000"/>
                          </a:solidFill>
                          <a:latin typeface="Calibri"/>
                        </a:rPr>
                        <a:t>Other Poultry Eggshell Membrane (Duck, Quail, Turkey, Others)</a:t>
                      </a:r>
                      <a:endParaRPr sz="1100"/>
                    </a:p>
                  </a:txBody>
                  <a:tcPr marL="771525" marR="9525" marT="9525" marB="0" anchor="ctr"/>
                </a:tc>
              </a:tr>
              <a:tr h="175260">
                <a:tc>
                  <a:txBody>
                    <a:bodyPr wrap="square"/>
                    <a:lstStyle/>
                    <a:p>
                      <a:pPr algn="l"/>
                      <a:r>
                        <a:rPr sz="1100" b="1" i="0">
                          <a:solidFill>
                            <a:srgbClr val="000000"/>
                          </a:solidFill>
                          <a:latin typeface="Calibri"/>
                        </a:rPr>
                        <a:t>6.</a:t>
                      </a:r>
                      <a:r>
                        <a:rPr sz="700" b="1" i="0">
                          <a:solidFill>
                            <a:srgbClr val="000000"/>
                          </a:solidFill>
                          <a:latin typeface="Times New Roman"/>
                        </a:rPr>
                        <a:t>       </a:t>
                      </a:r>
                      <a:r>
                        <a:rPr sz="1100" b="1" i="0">
                          <a:solidFill>
                            <a:srgbClr val="000000"/>
                          </a:solidFill>
                          <a:latin typeface="Calibri"/>
                        </a:rPr>
                        <a:t>Global Market (Value- Volume) Analysis 2021–2036, By Form</a:t>
                      </a:r>
                      <a:endParaRPr sz="1100"/>
                    </a:p>
                  </a:txBody>
                  <a:tcPr marL="171450" marR="9525" marT="9525" marB="0" anchor="ctr"/>
                </a:tc>
              </a:tr>
              <a:tr h="175260">
                <a:tc>
                  <a:txBody>
                    <a:bodyPr wrap="square"/>
                    <a:lstStyle/>
                    <a:p>
                      <a:pPr algn="l"/>
                      <a:r>
                        <a:rPr sz="1100" b="0" i="0">
                          <a:solidFill>
                            <a:srgbClr val="0070C0"/>
                          </a:solidFill>
                          <a:latin typeface="Calibri"/>
                        </a:rPr>
                        <a:t>6.1.</a:t>
                      </a:r>
                      <a:r>
                        <a:rPr sz="700" b="0" i="0">
                          <a:solidFill>
                            <a:srgbClr val="0070C0"/>
                          </a:solidFill>
                          <a:latin typeface="Times New Roman"/>
                        </a:rPr>
                        <a:t>    </a:t>
                      </a:r>
                      <a:r>
                        <a:rPr sz="1100" b="0" i="0">
                          <a:solidFill>
                            <a:srgbClr val="0070C0"/>
                          </a:solidFill>
                          <a:latin typeface="Calibri"/>
                        </a:rPr>
                        <a:t>Introduction / Key Findings</a:t>
                      </a:r>
                      <a:endParaRPr sz="1100"/>
                    </a:p>
                  </a:txBody>
                  <a:tcPr marL="428625" marR="9525" marT="9525" marB="0" anchor="ctr"/>
                </a:tc>
              </a:tr>
              <a:tr h="175260">
                <a:tc>
                  <a:txBody>
                    <a:bodyPr wrap="square"/>
                    <a:lstStyle/>
                    <a:p>
                      <a:pPr algn="l"/>
                      <a:r>
                        <a:rPr sz="1100" b="0" i="0">
                          <a:solidFill>
                            <a:srgbClr val="0070C0"/>
                          </a:solidFill>
                          <a:latin typeface="Calibri"/>
                        </a:rPr>
                        <a:t>6.2.</a:t>
                      </a:r>
                      <a:r>
                        <a:rPr sz="700" b="0" i="0">
                          <a:solidFill>
                            <a:srgbClr val="0070C0"/>
                          </a:solidFill>
                          <a:latin typeface="Times New Roman"/>
                        </a:rPr>
                        <a:t>    </a:t>
                      </a:r>
                      <a:r>
                        <a:rPr sz="1100" b="0" i="0">
                          <a:solidFill>
                            <a:srgbClr val="0070C0"/>
                          </a:solidFill>
                          <a:latin typeface="Calibri"/>
                        </a:rPr>
                        <a:t>2021–2025: Historical Analysis</a:t>
                      </a:r>
                      <a:endParaRPr sz="1100"/>
                    </a:p>
                  </a:txBody>
                  <a:tcPr marL="428625" marR="9525" marT="9525" marB="0" anchor="ctr"/>
                </a:tc>
              </a:tr>
              <a:tr h="175260">
                <a:tc>
                  <a:txBody>
                    <a:bodyPr wrap="square"/>
                    <a:lstStyle/>
                    <a:p>
                      <a:pPr algn="l"/>
                      <a:r>
                        <a:rPr sz="1100" b="0" i="0">
                          <a:solidFill>
                            <a:srgbClr val="0070C0"/>
                          </a:solidFill>
                          <a:latin typeface="Calibri"/>
                        </a:rPr>
                        <a:t>6.3.</a:t>
                      </a:r>
                      <a:r>
                        <a:rPr sz="700" b="0" i="0">
                          <a:solidFill>
                            <a:srgbClr val="0070C0"/>
                          </a:solidFill>
                          <a:latin typeface="Times New Roman"/>
                        </a:rPr>
                        <a:t>    </a:t>
                      </a:r>
                      <a:r>
                        <a:rPr sz="1100" b="0" i="0">
                          <a:solidFill>
                            <a:srgbClr val="0070C0"/>
                          </a:solidFill>
                          <a:latin typeface="Calibri"/>
                        </a:rPr>
                        <a:t>2026–2036: Forecast Outlook</a:t>
                      </a:r>
                      <a:endParaRPr sz="1100"/>
                    </a:p>
                  </a:txBody>
                  <a:tcPr marL="428625" marR="9525" marT="9525" marB="0" anchor="ctr"/>
                </a:tc>
              </a:tr>
              <a:tr h="175260">
                <a:tc>
                  <a:txBody>
                    <a:bodyPr wrap="square"/>
                    <a:lstStyle/>
                    <a:p>
                      <a:pPr algn="l"/>
                      <a:r>
                        <a:rPr sz="1100" b="0" i="0">
                          <a:solidFill>
                            <a:srgbClr val="0070C0"/>
                          </a:solidFill>
                          <a:latin typeface="Calibri"/>
                        </a:rPr>
                        <a:t>6.4.</a:t>
                      </a:r>
                      <a:r>
                        <a:rPr sz="700" b="0" i="0">
                          <a:solidFill>
                            <a:srgbClr val="0070C0"/>
                          </a:solidFill>
                          <a:latin typeface="Times New Roman"/>
                        </a:rPr>
                        <a:t>    </a:t>
                      </a:r>
                      <a:r>
                        <a:rPr sz="1100" b="0" i="0">
                          <a:solidFill>
                            <a:srgbClr val="0070C0"/>
                          </a:solidFill>
                          <a:latin typeface="Calibri"/>
                        </a:rPr>
                        <a:t>Y-o-Y Growth Trend Analysis</a:t>
                      </a:r>
                      <a:endParaRPr sz="1100"/>
                    </a:p>
                  </a:txBody>
                  <a:tcPr marL="428625" marR="9525" marT="9525" marB="0" anchor="ctr"/>
                </a:tc>
              </a:tr>
              <a:tr h="175260">
                <a:tc>
                  <a:txBody>
                    <a:bodyPr wrap="square"/>
                    <a:lstStyle/>
                    <a:p>
                      <a:pPr algn="l"/>
                      <a:r>
                        <a:rPr sz="1100" b="0" i="0">
                          <a:solidFill>
                            <a:srgbClr val="0070C0"/>
                          </a:solidFill>
                          <a:latin typeface="Calibri"/>
                        </a:rPr>
                        <a:t>6.5.</a:t>
                      </a:r>
                      <a:r>
                        <a:rPr sz="700" b="0" i="0">
                          <a:solidFill>
                            <a:srgbClr val="0070C0"/>
                          </a:solidFill>
                          <a:latin typeface="Times New Roman"/>
                        </a:rPr>
                        <a:t>    </a:t>
                      </a:r>
                      <a:r>
                        <a:rPr sz="1100" b="0" i="0">
                          <a:solidFill>
                            <a:srgbClr val="0070C0"/>
                          </a:solidFill>
                          <a:latin typeface="Calibri"/>
                        </a:rPr>
                        <a:t>Market Share Analysis</a:t>
                      </a:r>
                      <a:endParaRPr sz="1100"/>
                    </a:p>
                  </a:txBody>
                  <a:tcPr marL="428625" marR="9525" marT="9525" marB="0" anchor="ctr"/>
                </a:tc>
              </a:tr>
              <a:tr h="175260">
                <a:tc>
                  <a:txBody>
                    <a:bodyPr wrap="square"/>
                    <a:lstStyle/>
                    <a:p>
                      <a:pPr algn="l"/>
                      <a:r>
                        <a:rPr sz="1100" b="0" i="0">
                          <a:solidFill>
                            <a:srgbClr val="000000"/>
                          </a:solidFill>
                          <a:latin typeface="Calibri"/>
                        </a:rPr>
                        <a:t>6.5.1.</a:t>
                      </a:r>
                      <a:r>
                        <a:rPr sz="700" b="0" i="0">
                          <a:solidFill>
                            <a:srgbClr val="000000"/>
                          </a:solidFill>
                          <a:latin typeface="Times New Roman"/>
                        </a:rPr>
                        <a:t>   </a:t>
                      </a:r>
                      <a:r>
                        <a:rPr sz="1100" b="0" i="0">
                          <a:solidFill>
                            <a:srgbClr val="000000"/>
                          </a:solidFill>
                          <a:latin typeface="Calibri"/>
                        </a:rPr>
                        <a:t>Powder</a:t>
                      </a:r>
                      <a:endParaRPr sz="1100"/>
                    </a:p>
                  </a:txBody>
                  <a:tcPr marL="771525" marR="9525" marT="9525" marB="0" anchor="ctr"/>
                </a:tc>
              </a:tr>
              <a:tr h="175260">
                <a:tc>
                  <a:txBody>
                    <a:bodyPr wrap="square"/>
                    <a:lstStyle/>
                    <a:p>
                      <a:pPr algn="l"/>
                      <a:r>
                        <a:rPr sz="1100" b="0" i="0">
                          <a:solidFill>
                            <a:srgbClr val="000000"/>
                          </a:solidFill>
                          <a:latin typeface="Calibri"/>
                        </a:rPr>
                        <a:t>6.5.2.</a:t>
                      </a:r>
                      <a:r>
                        <a:rPr sz="700" b="0" i="0">
                          <a:solidFill>
                            <a:srgbClr val="000000"/>
                          </a:solidFill>
                          <a:latin typeface="Times New Roman"/>
                        </a:rPr>
                        <a:t>   </a:t>
                      </a:r>
                      <a:r>
                        <a:rPr sz="1100" b="0" i="0">
                          <a:solidFill>
                            <a:srgbClr val="000000"/>
                          </a:solidFill>
                          <a:latin typeface="Calibri"/>
                        </a:rPr>
                        <a:t>Liquid / Concentrate</a:t>
                      </a:r>
                      <a:endParaRPr sz="1100"/>
                    </a:p>
                  </a:txBody>
                  <a:tcPr marL="771525" marR="9525" marT="9525" marB="0" anchor="ctr"/>
                </a:tc>
              </a:tr>
              <a:tr h="175260">
                <a:tc>
                  <a:txBody>
                    <a:bodyPr wrap="square"/>
                    <a:lstStyle/>
                    <a:p>
                      <a:pPr algn="l"/>
                      <a:r>
                        <a:rPr sz="1100" b="1" i="0">
                          <a:solidFill>
                            <a:srgbClr val="000000"/>
                          </a:solidFill>
                          <a:latin typeface="Calibri"/>
                        </a:rPr>
                        <a:t>7.</a:t>
                      </a:r>
                      <a:r>
                        <a:rPr sz="700" b="1" i="0">
                          <a:solidFill>
                            <a:srgbClr val="000000"/>
                          </a:solidFill>
                          <a:latin typeface="Times New Roman"/>
                        </a:rPr>
                        <a:t>       </a:t>
                      </a:r>
                      <a:r>
                        <a:rPr sz="1100" b="1" i="0">
                          <a:solidFill>
                            <a:srgbClr val="000000"/>
                          </a:solidFill>
                          <a:latin typeface="Calibri"/>
                        </a:rPr>
                        <a:t>Global Market (Value- Volume) Analysis 2021–2036, By Application</a:t>
                      </a:r>
                      <a:endParaRPr sz="1100"/>
                    </a:p>
                  </a:txBody>
                  <a:tcPr marL="171450" marR="9525" marT="9525" marB="0" anchor="ctr"/>
                </a:tc>
              </a:tr>
              <a:tr h="175260">
                <a:tc>
                  <a:txBody>
                    <a:bodyPr wrap="square"/>
                    <a:lstStyle/>
                    <a:p>
                      <a:pPr algn="l"/>
                      <a:r>
                        <a:rPr sz="1100" b="0" i="0">
                          <a:solidFill>
                            <a:srgbClr val="0070C0"/>
                          </a:solidFill>
                          <a:latin typeface="Calibri"/>
                        </a:rPr>
                        <a:t>7.1.</a:t>
                      </a:r>
                      <a:r>
                        <a:rPr sz="700" b="0" i="0">
                          <a:solidFill>
                            <a:srgbClr val="0070C0"/>
                          </a:solidFill>
                          <a:latin typeface="Times New Roman"/>
                        </a:rPr>
                        <a:t>    </a:t>
                      </a:r>
                      <a:r>
                        <a:rPr sz="1100" b="0" i="0">
                          <a:solidFill>
                            <a:srgbClr val="0070C0"/>
                          </a:solidFill>
                          <a:latin typeface="Calibri"/>
                        </a:rPr>
                        <a:t>Introduction / Key Findings</a:t>
                      </a:r>
                      <a:endParaRPr sz="1100"/>
                    </a:p>
                  </a:txBody>
                  <a:tcPr marL="428625" marR="9525" marT="9525" marB="0" anchor="ctr"/>
                </a:tc>
              </a:tr>
              <a:tr h="175260">
                <a:tc>
                  <a:txBody>
                    <a:bodyPr wrap="square"/>
                    <a:lstStyle/>
                    <a:p>
                      <a:pPr algn="l"/>
                      <a:r>
                        <a:rPr sz="1100" b="0" i="0">
                          <a:solidFill>
                            <a:srgbClr val="0070C0"/>
                          </a:solidFill>
                          <a:latin typeface="Calibri"/>
                        </a:rPr>
                        <a:t>7.2.</a:t>
                      </a:r>
                      <a:r>
                        <a:rPr sz="700" b="0" i="0">
                          <a:solidFill>
                            <a:srgbClr val="0070C0"/>
                          </a:solidFill>
                          <a:latin typeface="Times New Roman"/>
                        </a:rPr>
                        <a:t>    </a:t>
                      </a:r>
                      <a:r>
                        <a:rPr sz="1100" b="0" i="0">
                          <a:solidFill>
                            <a:srgbClr val="0070C0"/>
                          </a:solidFill>
                          <a:latin typeface="Calibri"/>
                        </a:rPr>
                        <a:t>2021–2025: Historical Analysis</a:t>
                      </a:r>
                      <a:endParaRPr sz="1100"/>
                    </a:p>
                  </a:txBody>
                  <a:tcPr marL="428625" marR="9525" marT="9525" marB="0" anchor="ctr"/>
                </a:tc>
              </a:tr>
              <a:tr h="175260">
                <a:tc>
                  <a:txBody>
                    <a:bodyPr wrap="square"/>
                    <a:lstStyle/>
                    <a:p>
                      <a:pPr algn="l"/>
                      <a:r>
                        <a:rPr sz="1100" b="0" i="0">
                          <a:solidFill>
                            <a:srgbClr val="0070C0"/>
                          </a:solidFill>
                          <a:latin typeface="Calibri"/>
                        </a:rPr>
                        <a:t>7.3.</a:t>
                      </a:r>
                      <a:r>
                        <a:rPr sz="700" b="0" i="0">
                          <a:solidFill>
                            <a:srgbClr val="0070C0"/>
                          </a:solidFill>
                          <a:latin typeface="Times New Roman"/>
                        </a:rPr>
                        <a:t>    </a:t>
                      </a:r>
                      <a:r>
                        <a:rPr sz="1100" b="0" i="0">
                          <a:solidFill>
                            <a:srgbClr val="0070C0"/>
                          </a:solidFill>
                          <a:latin typeface="Calibri"/>
                        </a:rPr>
                        <a:t>2026–2036: Forecast Outlook</a:t>
                      </a:r>
                      <a:endParaRPr sz="1100"/>
                    </a:p>
                  </a:txBody>
                  <a:tcPr marL="428625" marR="9525" marT="9525" marB="0" anchor="ctr"/>
                </a:tc>
              </a:tr>
              <a:tr h="175260">
                <a:tc>
                  <a:txBody>
                    <a:bodyPr wrap="square"/>
                    <a:lstStyle/>
                    <a:p>
                      <a:pPr algn="l"/>
                      <a:r>
                        <a:rPr sz="1100" b="0" i="0">
                          <a:solidFill>
                            <a:srgbClr val="0070C0"/>
                          </a:solidFill>
                          <a:latin typeface="Calibri"/>
                        </a:rPr>
                        <a:t>7.4.</a:t>
                      </a:r>
                      <a:r>
                        <a:rPr sz="700" b="0" i="0">
                          <a:solidFill>
                            <a:srgbClr val="0070C0"/>
                          </a:solidFill>
                          <a:latin typeface="Times New Roman"/>
                        </a:rPr>
                        <a:t>    </a:t>
                      </a:r>
                      <a:r>
                        <a:rPr sz="1100" b="0" i="0">
                          <a:solidFill>
                            <a:srgbClr val="0070C0"/>
                          </a:solidFill>
                          <a:latin typeface="Calibri"/>
                        </a:rPr>
                        <a:t>Y-o-Y Growth Trend Analysis</a:t>
                      </a:r>
                      <a:endParaRPr sz="1100"/>
                    </a:p>
                  </a:txBody>
                  <a:tcPr marL="428625" marR="9525" marT="9525" marB="0" anchor="ctr"/>
                </a:tc>
              </a:tr>
              <a:tr h="175260">
                <a:tc>
                  <a:txBody>
                    <a:bodyPr wrap="square"/>
                    <a:lstStyle/>
                    <a:p>
                      <a:pPr algn="l"/>
                      <a:r>
                        <a:rPr sz="1100" b="0" i="0">
                          <a:solidFill>
                            <a:srgbClr val="0070C0"/>
                          </a:solidFill>
                          <a:latin typeface="Calibri"/>
                        </a:rPr>
                        <a:t>7.5.</a:t>
                      </a:r>
                      <a:r>
                        <a:rPr sz="700" b="0" i="0">
                          <a:solidFill>
                            <a:srgbClr val="0070C0"/>
                          </a:solidFill>
                          <a:latin typeface="Times New Roman"/>
                        </a:rPr>
                        <a:t>    </a:t>
                      </a:r>
                      <a:r>
                        <a:rPr sz="1100" b="0" i="0">
                          <a:solidFill>
                            <a:srgbClr val="0070C0"/>
                          </a:solidFill>
                          <a:latin typeface="Calibri"/>
                        </a:rPr>
                        <a:t>Market Share Analysis</a:t>
                      </a:r>
                      <a:endParaRPr sz="1100"/>
                    </a:p>
                  </a:txBody>
                  <a:tcPr marL="428625" marR="9525" marT="9525" marB="0" anchor="ctr"/>
                </a:tc>
              </a:tr>
              <a:tr h="175260">
                <a:tc>
                  <a:txBody>
                    <a:bodyPr wrap="square"/>
                    <a:lstStyle/>
                    <a:p>
                      <a:pPr algn="l"/>
                      <a:r>
                        <a:rPr sz="1100" b="0" i="0">
                          <a:solidFill>
                            <a:srgbClr val="000000"/>
                          </a:solidFill>
                          <a:latin typeface="Calibri"/>
                        </a:rPr>
                        <a:t>7.5.1.</a:t>
                      </a:r>
                      <a:r>
                        <a:rPr sz="700" b="0" i="0">
                          <a:solidFill>
                            <a:srgbClr val="000000"/>
                          </a:solidFill>
                          <a:latin typeface="Times New Roman"/>
                        </a:rPr>
                        <a:t>   </a:t>
                      </a:r>
                      <a:r>
                        <a:rPr sz="1100" b="0" i="0">
                          <a:solidFill>
                            <a:srgbClr val="000000"/>
                          </a:solidFill>
                          <a:latin typeface="Calibri"/>
                        </a:rPr>
                        <a:t>Dietary Supplements &amp; Nutraceuticals</a:t>
                      </a:r>
                      <a:endParaRPr sz="1100"/>
                    </a:p>
                  </a:txBody>
                  <a:tcPr marL="771525" marR="9525" marT="9525" marB="0" anchor="ctr"/>
                </a:tc>
              </a:tr>
              <a:tr h="175260">
                <a:tc>
                  <a:txBody>
                    <a:bodyPr wrap="square"/>
                    <a:lstStyle/>
                    <a:p>
                      <a:pPr algn="l"/>
                      <a:r>
                        <a:rPr sz="1100" b="0" i="1">
                          <a:solidFill>
                            <a:srgbClr val="000000"/>
                          </a:solidFill>
                          <a:latin typeface="Calibri"/>
                        </a:rPr>
                        <a:t>7.5.1.1.</a:t>
                      </a:r>
                      <a:r>
                        <a:rPr sz="700" b="0" i="1">
                          <a:solidFill>
                            <a:srgbClr val="000000"/>
                          </a:solidFill>
                          <a:latin typeface="Times New Roman"/>
                        </a:rPr>
                        <a:t>    </a:t>
                      </a:r>
                      <a:r>
                        <a:rPr sz="1100" b="0" i="1">
                          <a:solidFill>
                            <a:srgbClr val="000000"/>
                          </a:solidFill>
                          <a:latin typeface="Calibri"/>
                        </a:rPr>
                        <a:t>Joint &amp; Bone Health</a:t>
                      </a:r>
                      <a:endParaRPr sz="1100"/>
                    </a:p>
                  </a:txBody>
                  <a:tcPr marL="1028700" marR="9525" marT="9525" marB="0" anchor="ctr"/>
                </a:tc>
              </a:tr>
              <a:tr h="175260">
                <a:tc>
                  <a:txBody>
                    <a:bodyPr wrap="square"/>
                    <a:lstStyle/>
                    <a:p>
                      <a:pPr algn="l"/>
                      <a:r>
                        <a:rPr sz="1100" b="0" i="1">
                          <a:solidFill>
                            <a:srgbClr val="000000"/>
                          </a:solidFill>
                          <a:latin typeface="Calibri"/>
                        </a:rPr>
                        <a:t>7.5.1.2.</a:t>
                      </a:r>
                      <a:r>
                        <a:rPr sz="700" b="0" i="1">
                          <a:solidFill>
                            <a:srgbClr val="000000"/>
                          </a:solidFill>
                          <a:latin typeface="Times New Roman"/>
                        </a:rPr>
                        <a:t>    </a:t>
                      </a:r>
                      <a:r>
                        <a:rPr sz="1100" b="0" i="1">
                          <a:solidFill>
                            <a:srgbClr val="000000"/>
                          </a:solidFill>
                          <a:latin typeface="Calibri"/>
                        </a:rPr>
                        <a:t>Skin, Hair &amp; Nail Health</a:t>
                      </a:r>
                      <a:endParaRPr sz="1100"/>
                    </a:p>
                  </a:txBody>
                  <a:tcPr marL="1028700" marR="9525" marT="9525" marB="0" anchor="ctr"/>
                </a:tc>
              </a:tr>
            </a:tbl>
          </a:graphicData>
        </a:graphic>
      </p:graphicFrame>
      <p:sp>
        <p:nvSpPr>
          <p:cNvPr id="8" name="Rectangle 7"/>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76200"/>
            <a:ext cx="10896600"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Table of Contents (2/6)</a:t>
            </a:r>
          </a:p>
        </p:txBody>
      </p:sp>
      <p:graphicFrame>
        <p:nvGraphicFramePr>
          <p:cNvPr id="6" name="TMR Contents Table"/>
          <p:cNvGraphicFramePr>
            <a:graphicFrameLocks noGrp="1"/>
          </p:cNvGraphicFramePr>
          <p:nvPr/>
        </p:nvGraphicFramePr>
        <p:xfrm>
          <a:off x="142875" y="981075"/>
          <a:ext cx="5876925" cy="5257800"/>
        </p:xfrm>
        <a:graphic>
          <a:graphicData uri="http://schemas.openxmlformats.org/drawingml/2006/table">
            <a:tbl>
              <a:tblPr>
                <a:tableStyleId>{3B4B98B0-60AC-42C2-AFA5-B58CD77FA1E5}</a:tableStyleId>
              </a:tblPr>
              <a:tblGrid>
                <a:gridCol w="5876925"/>
              </a:tblGrid>
              <a:tr h="175260">
                <a:tc>
                  <a:txBody>
                    <a:bodyPr wrap="square"/>
                    <a:lstStyle/>
                    <a:p>
                      <a:pPr algn="l"/>
                      <a:r>
                        <a:rPr sz="1100" b="0" i="1">
                          <a:solidFill>
                            <a:srgbClr val="000000"/>
                          </a:solidFill>
                          <a:latin typeface="Calibri"/>
                        </a:rPr>
                        <a:t>7.5.1.3.</a:t>
                      </a:r>
                      <a:r>
                        <a:rPr sz="700" b="0" i="1">
                          <a:solidFill>
                            <a:srgbClr val="000000"/>
                          </a:solidFill>
                          <a:latin typeface="Times New Roman"/>
                        </a:rPr>
                        <a:t>    </a:t>
                      </a:r>
                      <a:r>
                        <a:rPr sz="1100" b="0" i="1">
                          <a:solidFill>
                            <a:srgbClr val="000000"/>
                          </a:solidFill>
                          <a:latin typeface="Calibri"/>
                        </a:rPr>
                        <a:t>Others</a:t>
                      </a:r>
                      <a:endParaRPr sz="1100"/>
                    </a:p>
                  </a:txBody>
                  <a:tcPr marL="1028700" marR="9525" marT="9525" marB="0" anchor="ctr"/>
                </a:tc>
              </a:tr>
              <a:tr h="175260">
                <a:tc>
                  <a:txBody>
                    <a:bodyPr wrap="square"/>
                    <a:lstStyle/>
                    <a:p>
                      <a:pPr algn="l"/>
                      <a:r>
                        <a:rPr sz="1100" b="0" i="0">
                          <a:solidFill>
                            <a:srgbClr val="000000"/>
                          </a:solidFill>
                          <a:latin typeface="Calibri"/>
                        </a:rPr>
                        <a:t>7.5.2.</a:t>
                      </a:r>
                      <a:r>
                        <a:rPr sz="700" b="0" i="0">
                          <a:solidFill>
                            <a:srgbClr val="000000"/>
                          </a:solidFill>
                          <a:latin typeface="Times New Roman"/>
                        </a:rPr>
                        <a:t>   </a:t>
                      </a:r>
                      <a:r>
                        <a:rPr sz="1100" b="0" i="0">
                          <a:solidFill>
                            <a:srgbClr val="000000"/>
                          </a:solidFill>
                          <a:latin typeface="Calibri"/>
                        </a:rPr>
                        <a:t>Functional Food &amp; Beverages</a:t>
                      </a:r>
                      <a:endParaRPr sz="1100"/>
                    </a:p>
                  </a:txBody>
                  <a:tcPr marL="771525" marR="9525" marT="9525" marB="0" anchor="ctr"/>
                </a:tc>
              </a:tr>
              <a:tr h="175260">
                <a:tc>
                  <a:txBody>
                    <a:bodyPr wrap="square"/>
                    <a:lstStyle/>
                    <a:p>
                      <a:pPr algn="l"/>
                      <a:r>
                        <a:rPr sz="1100" b="0" i="0">
                          <a:solidFill>
                            <a:srgbClr val="000000"/>
                          </a:solidFill>
                          <a:latin typeface="Calibri"/>
                        </a:rPr>
                        <a:t>7.5.3.</a:t>
                      </a:r>
                      <a:r>
                        <a:rPr sz="700" b="0" i="0">
                          <a:solidFill>
                            <a:srgbClr val="000000"/>
                          </a:solidFill>
                          <a:latin typeface="Times New Roman"/>
                        </a:rPr>
                        <a:t>   </a:t>
                      </a:r>
                      <a:r>
                        <a:rPr sz="1100" b="0" i="0">
                          <a:solidFill>
                            <a:srgbClr val="000000"/>
                          </a:solidFill>
                          <a:latin typeface="Calibri"/>
                        </a:rPr>
                        <a:t>Cosmetics &amp; Personal Care</a:t>
                      </a:r>
                      <a:endParaRPr sz="1100"/>
                    </a:p>
                  </a:txBody>
                  <a:tcPr marL="771525" marR="9525" marT="9525" marB="0" anchor="ctr"/>
                </a:tc>
              </a:tr>
              <a:tr h="175260">
                <a:tc>
                  <a:txBody>
                    <a:bodyPr wrap="square"/>
                    <a:lstStyle/>
                    <a:p>
                      <a:pPr algn="l"/>
                      <a:r>
                        <a:rPr sz="1100" b="0" i="1">
                          <a:solidFill>
                            <a:srgbClr val="000000"/>
                          </a:solidFill>
                          <a:latin typeface="Calibri"/>
                        </a:rPr>
                        <a:t>7.5.3.1.</a:t>
                      </a:r>
                      <a:r>
                        <a:rPr sz="700" b="0" i="1">
                          <a:solidFill>
                            <a:srgbClr val="000000"/>
                          </a:solidFill>
                          <a:latin typeface="Times New Roman"/>
                        </a:rPr>
                        <a:t>    </a:t>
                      </a:r>
                      <a:r>
                        <a:rPr sz="1100" b="0" i="1">
                          <a:solidFill>
                            <a:srgbClr val="000000"/>
                          </a:solidFill>
                          <a:latin typeface="Calibri"/>
                        </a:rPr>
                        <a:t>Skin Care</a:t>
                      </a:r>
                      <a:endParaRPr sz="1100"/>
                    </a:p>
                  </a:txBody>
                  <a:tcPr marL="1028700" marR="9525" marT="9525" marB="0" anchor="ctr"/>
                </a:tc>
              </a:tr>
              <a:tr h="175260">
                <a:tc>
                  <a:txBody>
                    <a:bodyPr wrap="square"/>
                    <a:lstStyle/>
                    <a:p>
                      <a:pPr algn="l"/>
                      <a:r>
                        <a:rPr sz="1100" b="0" i="1">
                          <a:solidFill>
                            <a:srgbClr val="000000"/>
                          </a:solidFill>
                          <a:latin typeface="Calibri"/>
                        </a:rPr>
                        <a:t>7.5.3.2.</a:t>
                      </a:r>
                      <a:r>
                        <a:rPr sz="700" b="0" i="1">
                          <a:solidFill>
                            <a:srgbClr val="000000"/>
                          </a:solidFill>
                          <a:latin typeface="Times New Roman"/>
                        </a:rPr>
                        <a:t>    </a:t>
                      </a:r>
                      <a:r>
                        <a:rPr sz="1100" b="0" i="1">
                          <a:solidFill>
                            <a:srgbClr val="000000"/>
                          </a:solidFill>
                          <a:latin typeface="Calibri"/>
                        </a:rPr>
                        <a:t>Hair Care</a:t>
                      </a:r>
                      <a:endParaRPr sz="1100"/>
                    </a:p>
                  </a:txBody>
                  <a:tcPr marL="1028700" marR="9525" marT="9525" marB="0" anchor="ctr"/>
                </a:tc>
              </a:tr>
              <a:tr h="175260">
                <a:tc>
                  <a:txBody>
                    <a:bodyPr wrap="square"/>
                    <a:lstStyle/>
                    <a:p>
                      <a:pPr algn="l"/>
                      <a:r>
                        <a:rPr sz="1100" b="0" i="0">
                          <a:solidFill>
                            <a:srgbClr val="000000"/>
                          </a:solidFill>
                          <a:latin typeface="Calibri"/>
                        </a:rPr>
                        <a:t>7.5.4.</a:t>
                      </a:r>
                      <a:r>
                        <a:rPr sz="700" b="0" i="0">
                          <a:solidFill>
                            <a:srgbClr val="000000"/>
                          </a:solidFill>
                          <a:latin typeface="Times New Roman"/>
                        </a:rPr>
                        <a:t>   </a:t>
                      </a:r>
                      <a:r>
                        <a:rPr sz="1100" b="0" i="0">
                          <a:solidFill>
                            <a:srgbClr val="000000"/>
                          </a:solidFill>
                          <a:latin typeface="Calibri"/>
                        </a:rPr>
                        <a:t>Pharmaceuticals &amp; Biomedical</a:t>
                      </a:r>
                      <a:endParaRPr sz="1100"/>
                    </a:p>
                  </a:txBody>
                  <a:tcPr marL="771525" marR="9525" marT="9525" marB="0" anchor="ctr"/>
                </a:tc>
              </a:tr>
              <a:tr h="175260">
                <a:tc>
                  <a:txBody>
                    <a:bodyPr wrap="square"/>
                    <a:lstStyle/>
                    <a:p>
                      <a:pPr algn="l"/>
                      <a:r>
                        <a:rPr sz="1100" b="0" i="1">
                          <a:solidFill>
                            <a:srgbClr val="000000"/>
                          </a:solidFill>
                          <a:latin typeface="Calibri"/>
                        </a:rPr>
                        <a:t>7.5.4.1.</a:t>
                      </a:r>
                      <a:r>
                        <a:rPr sz="700" b="0" i="1">
                          <a:solidFill>
                            <a:srgbClr val="000000"/>
                          </a:solidFill>
                          <a:latin typeface="Times New Roman"/>
                        </a:rPr>
                        <a:t>    </a:t>
                      </a:r>
                      <a:r>
                        <a:rPr sz="1100" b="0" i="1">
                          <a:solidFill>
                            <a:srgbClr val="000000"/>
                          </a:solidFill>
                          <a:latin typeface="Calibri"/>
                        </a:rPr>
                        <a:t>Wound Care &amp; Dressings</a:t>
                      </a:r>
                      <a:endParaRPr sz="1100"/>
                    </a:p>
                  </a:txBody>
                  <a:tcPr marL="1028700" marR="9525" marT="9525" marB="0" anchor="ctr"/>
                </a:tc>
              </a:tr>
              <a:tr h="175260">
                <a:tc>
                  <a:txBody>
                    <a:bodyPr wrap="square"/>
                    <a:lstStyle/>
                    <a:p>
                      <a:pPr algn="l"/>
                      <a:r>
                        <a:rPr sz="1100" b="0" i="1">
                          <a:solidFill>
                            <a:srgbClr val="000000"/>
                          </a:solidFill>
                          <a:latin typeface="Calibri"/>
                        </a:rPr>
                        <a:t>7.5.4.2.</a:t>
                      </a:r>
                      <a:r>
                        <a:rPr sz="700" b="0" i="1">
                          <a:solidFill>
                            <a:srgbClr val="000000"/>
                          </a:solidFill>
                          <a:latin typeface="Times New Roman"/>
                        </a:rPr>
                        <a:t>    </a:t>
                      </a:r>
                      <a:r>
                        <a:rPr sz="1100" b="0" i="1">
                          <a:solidFill>
                            <a:srgbClr val="000000"/>
                          </a:solidFill>
                          <a:latin typeface="Calibri"/>
                        </a:rPr>
                        <a:t>Tissue Engineering &amp; Drug Delivery</a:t>
                      </a:r>
                      <a:endParaRPr sz="1100"/>
                    </a:p>
                  </a:txBody>
                  <a:tcPr marL="1028700" marR="9525" marT="9525" marB="0" anchor="ctr"/>
                </a:tc>
              </a:tr>
              <a:tr h="175260">
                <a:tc>
                  <a:txBody>
                    <a:bodyPr wrap="square"/>
                    <a:lstStyle/>
                    <a:p>
                      <a:pPr algn="l"/>
                      <a:r>
                        <a:rPr sz="1100" b="0" i="0">
                          <a:solidFill>
                            <a:srgbClr val="000000"/>
                          </a:solidFill>
                          <a:latin typeface="Calibri"/>
                        </a:rPr>
                        <a:t>7.5.5.</a:t>
                      </a:r>
                      <a:r>
                        <a:rPr sz="700" b="0" i="0">
                          <a:solidFill>
                            <a:srgbClr val="000000"/>
                          </a:solidFill>
                          <a:latin typeface="Times New Roman"/>
                        </a:rPr>
                        <a:t>   </a:t>
                      </a:r>
                      <a:r>
                        <a:rPr sz="1100" b="0" i="0">
                          <a:solidFill>
                            <a:srgbClr val="000000"/>
                          </a:solidFill>
                          <a:latin typeface="Calibri"/>
                        </a:rPr>
                        <a:t>Animal Nutrition &amp; Pet Care</a:t>
                      </a:r>
                      <a:endParaRPr sz="1100"/>
                    </a:p>
                  </a:txBody>
                  <a:tcPr marL="771525" marR="9525" marT="9525" marB="0" anchor="ctr"/>
                </a:tc>
              </a:tr>
              <a:tr h="175260">
                <a:tc>
                  <a:txBody>
                    <a:bodyPr wrap="square"/>
                    <a:lstStyle/>
                    <a:p>
                      <a:pPr algn="l"/>
                      <a:r>
                        <a:rPr sz="1100" b="0" i="1">
                          <a:solidFill>
                            <a:srgbClr val="000000"/>
                          </a:solidFill>
                          <a:latin typeface="Calibri"/>
                        </a:rPr>
                        <a:t>7.5.5.1.</a:t>
                      </a:r>
                      <a:r>
                        <a:rPr sz="700" b="0" i="1">
                          <a:solidFill>
                            <a:srgbClr val="000000"/>
                          </a:solidFill>
                          <a:latin typeface="Times New Roman"/>
                        </a:rPr>
                        <a:t>    </a:t>
                      </a:r>
                      <a:r>
                        <a:rPr sz="1100" b="0" i="1">
                          <a:solidFill>
                            <a:srgbClr val="000000"/>
                          </a:solidFill>
                          <a:latin typeface="Calibri"/>
                        </a:rPr>
                        <a:t>Pet Joint &amp; Skin Supplements</a:t>
                      </a:r>
                      <a:endParaRPr sz="1100"/>
                    </a:p>
                  </a:txBody>
                  <a:tcPr marL="1028700" marR="9525" marT="9525" marB="0" anchor="ctr"/>
                </a:tc>
              </a:tr>
              <a:tr h="175260">
                <a:tc>
                  <a:txBody>
                    <a:bodyPr wrap="square"/>
                    <a:lstStyle/>
                    <a:p>
                      <a:pPr algn="l"/>
                      <a:r>
                        <a:rPr sz="1100" b="0" i="1">
                          <a:solidFill>
                            <a:srgbClr val="000000"/>
                          </a:solidFill>
                          <a:latin typeface="Calibri"/>
                        </a:rPr>
                        <a:t>7.5.5.2.</a:t>
                      </a:r>
                      <a:r>
                        <a:rPr sz="700" b="0" i="1">
                          <a:solidFill>
                            <a:srgbClr val="000000"/>
                          </a:solidFill>
                          <a:latin typeface="Times New Roman"/>
                        </a:rPr>
                        <a:t>    </a:t>
                      </a:r>
                      <a:r>
                        <a:rPr sz="1100" b="0" i="1">
                          <a:solidFill>
                            <a:srgbClr val="000000"/>
                          </a:solidFill>
                          <a:latin typeface="Calibri"/>
                        </a:rPr>
                        <a:t>Livestock &amp; Poultry Feed</a:t>
                      </a:r>
                      <a:endParaRPr sz="1100"/>
                    </a:p>
                  </a:txBody>
                  <a:tcPr marL="1028700" marR="9525" marT="9525" marB="0" anchor="ctr"/>
                </a:tc>
              </a:tr>
              <a:tr h="175260">
                <a:tc>
                  <a:txBody>
                    <a:bodyPr wrap="square"/>
                    <a:lstStyle/>
                    <a:p>
                      <a:pPr algn="l"/>
                      <a:r>
                        <a:rPr sz="1100" b="0" i="0">
                          <a:solidFill>
                            <a:srgbClr val="000000"/>
                          </a:solidFill>
                          <a:latin typeface="Calibri"/>
                        </a:rPr>
                        <a:t>7.5.6.</a:t>
                      </a:r>
                      <a:r>
                        <a:rPr sz="700" b="0" i="0">
                          <a:solidFill>
                            <a:srgbClr val="000000"/>
                          </a:solidFill>
                          <a:latin typeface="Times New Roman"/>
                        </a:rPr>
                        <a:t>   </a:t>
                      </a:r>
                      <a:r>
                        <a:rPr sz="1100" b="0" i="0">
                          <a:solidFill>
                            <a:srgbClr val="000000"/>
                          </a:solidFill>
                          <a:latin typeface="Calibri"/>
                        </a:rPr>
                        <a:t>Industrial &amp; Biomaterials (Adsorbents, Biosensors, Coatings)</a:t>
                      </a:r>
                      <a:endParaRPr sz="1100"/>
                    </a:p>
                  </a:txBody>
                  <a:tcPr marL="771525" marR="9525" marT="9525" marB="0" anchor="ctr"/>
                </a:tc>
              </a:tr>
              <a:tr h="175260">
                <a:tc>
                  <a:txBody>
                    <a:bodyPr wrap="square"/>
                    <a:lstStyle/>
                    <a:p>
                      <a:pPr algn="l"/>
                      <a:r>
                        <a:rPr sz="1100" b="1" i="0">
                          <a:solidFill>
                            <a:srgbClr val="000000"/>
                          </a:solidFill>
                          <a:latin typeface="Calibri"/>
                        </a:rPr>
                        <a:t>8.</a:t>
                      </a:r>
                      <a:r>
                        <a:rPr sz="700" b="1" i="0">
                          <a:solidFill>
                            <a:srgbClr val="000000"/>
                          </a:solidFill>
                          <a:latin typeface="Times New Roman"/>
                        </a:rPr>
                        <a:t>       </a:t>
                      </a:r>
                      <a:r>
                        <a:rPr sz="1100" b="1" i="0">
                          <a:solidFill>
                            <a:srgbClr val="000000"/>
                          </a:solidFill>
                          <a:latin typeface="Calibri"/>
                        </a:rPr>
                        <a:t>Global Market (Value- Volume) Analysis 2021–2036, By Sales Channel</a:t>
                      </a:r>
                      <a:endParaRPr sz="1100"/>
                    </a:p>
                  </a:txBody>
                  <a:tcPr marL="171450" marR="9525" marT="9525" marB="0" anchor="ctr"/>
                </a:tc>
              </a:tr>
              <a:tr h="175260">
                <a:tc>
                  <a:txBody>
                    <a:bodyPr wrap="square"/>
                    <a:lstStyle/>
                    <a:p>
                      <a:pPr algn="l"/>
                      <a:r>
                        <a:rPr sz="1100" b="0" i="0">
                          <a:solidFill>
                            <a:srgbClr val="0070C0"/>
                          </a:solidFill>
                          <a:latin typeface="Calibri"/>
                        </a:rPr>
                        <a:t>8.1.</a:t>
                      </a:r>
                      <a:r>
                        <a:rPr sz="700" b="0" i="0">
                          <a:solidFill>
                            <a:srgbClr val="0070C0"/>
                          </a:solidFill>
                          <a:latin typeface="Times New Roman"/>
                        </a:rPr>
                        <a:t>    </a:t>
                      </a:r>
                      <a:r>
                        <a:rPr sz="1100" b="0" i="0">
                          <a:solidFill>
                            <a:srgbClr val="0070C0"/>
                          </a:solidFill>
                          <a:latin typeface="Calibri"/>
                        </a:rPr>
                        <a:t>Introduction / Key Findings</a:t>
                      </a:r>
                      <a:endParaRPr sz="1100"/>
                    </a:p>
                  </a:txBody>
                  <a:tcPr marL="428625" marR="9525" marT="9525" marB="0" anchor="ctr"/>
                </a:tc>
              </a:tr>
              <a:tr h="175260">
                <a:tc>
                  <a:txBody>
                    <a:bodyPr wrap="square"/>
                    <a:lstStyle/>
                    <a:p>
                      <a:pPr algn="l"/>
                      <a:r>
                        <a:rPr sz="1100" b="0" i="0">
                          <a:solidFill>
                            <a:srgbClr val="0070C0"/>
                          </a:solidFill>
                          <a:latin typeface="Calibri"/>
                        </a:rPr>
                        <a:t>8.2.</a:t>
                      </a:r>
                      <a:r>
                        <a:rPr sz="700" b="0" i="0">
                          <a:solidFill>
                            <a:srgbClr val="0070C0"/>
                          </a:solidFill>
                          <a:latin typeface="Times New Roman"/>
                        </a:rPr>
                        <a:t>    </a:t>
                      </a:r>
                      <a:r>
                        <a:rPr sz="1100" b="0" i="0">
                          <a:solidFill>
                            <a:srgbClr val="0070C0"/>
                          </a:solidFill>
                          <a:latin typeface="Calibri"/>
                        </a:rPr>
                        <a:t>2021–2025: Historical Analysis</a:t>
                      </a:r>
                      <a:endParaRPr sz="1100"/>
                    </a:p>
                  </a:txBody>
                  <a:tcPr marL="428625" marR="9525" marT="9525" marB="0" anchor="ctr"/>
                </a:tc>
              </a:tr>
              <a:tr h="175260">
                <a:tc>
                  <a:txBody>
                    <a:bodyPr wrap="square"/>
                    <a:lstStyle/>
                    <a:p>
                      <a:pPr algn="l"/>
                      <a:r>
                        <a:rPr sz="1100" b="0" i="0">
                          <a:solidFill>
                            <a:srgbClr val="0070C0"/>
                          </a:solidFill>
                          <a:latin typeface="Calibri"/>
                        </a:rPr>
                        <a:t>8.3.</a:t>
                      </a:r>
                      <a:r>
                        <a:rPr sz="700" b="0" i="0">
                          <a:solidFill>
                            <a:srgbClr val="0070C0"/>
                          </a:solidFill>
                          <a:latin typeface="Times New Roman"/>
                        </a:rPr>
                        <a:t>    </a:t>
                      </a:r>
                      <a:r>
                        <a:rPr sz="1100" b="0" i="0">
                          <a:solidFill>
                            <a:srgbClr val="0070C0"/>
                          </a:solidFill>
                          <a:latin typeface="Calibri"/>
                        </a:rPr>
                        <a:t>2026–2036: Forecast Outlook</a:t>
                      </a:r>
                      <a:endParaRPr sz="1100"/>
                    </a:p>
                  </a:txBody>
                  <a:tcPr marL="428625" marR="9525" marT="9525" marB="0" anchor="ctr"/>
                </a:tc>
              </a:tr>
              <a:tr h="175260">
                <a:tc>
                  <a:txBody>
                    <a:bodyPr wrap="square"/>
                    <a:lstStyle/>
                    <a:p>
                      <a:pPr algn="l"/>
                      <a:r>
                        <a:rPr sz="1100" b="0" i="0">
                          <a:solidFill>
                            <a:srgbClr val="0070C0"/>
                          </a:solidFill>
                          <a:latin typeface="Calibri"/>
                        </a:rPr>
                        <a:t>8.4.</a:t>
                      </a:r>
                      <a:r>
                        <a:rPr sz="700" b="0" i="0">
                          <a:solidFill>
                            <a:srgbClr val="0070C0"/>
                          </a:solidFill>
                          <a:latin typeface="Times New Roman"/>
                        </a:rPr>
                        <a:t>    </a:t>
                      </a:r>
                      <a:r>
                        <a:rPr sz="1100" b="0" i="0">
                          <a:solidFill>
                            <a:srgbClr val="0070C0"/>
                          </a:solidFill>
                          <a:latin typeface="Calibri"/>
                        </a:rPr>
                        <a:t>Y-o-Y Growth Trend Analysis</a:t>
                      </a:r>
                      <a:endParaRPr sz="1100"/>
                    </a:p>
                  </a:txBody>
                  <a:tcPr marL="428625" marR="9525" marT="9525" marB="0" anchor="ctr"/>
                </a:tc>
              </a:tr>
              <a:tr h="175260">
                <a:tc>
                  <a:txBody>
                    <a:bodyPr wrap="square"/>
                    <a:lstStyle/>
                    <a:p>
                      <a:pPr algn="l"/>
                      <a:r>
                        <a:rPr sz="1100" b="0" i="0">
                          <a:solidFill>
                            <a:srgbClr val="0070C0"/>
                          </a:solidFill>
                          <a:latin typeface="Calibri"/>
                        </a:rPr>
                        <a:t>8.5.</a:t>
                      </a:r>
                      <a:r>
                        <a:rPr sz="700" b="0" i="0">
                          <a:solidFill>
                            <a:srgbClr val="0070C0"/>
                          </a:solidFill>
                          <a:latin typeface="Times New Roman"/>
                        </a:rPr>
                        <a:t>    </a:t>
                      </a:r>
                      <a:r>
                        <a:rPr sz="1100" b="0" i="0">
                          <a:solidFill>
                            <a:srgbClr val="0070C0"/>
                          </a:solidFill>
                          <a:latin typeface="Calibri"/>
                        </a:rPr>
                        <a:t>Market Share Analysis</a:t>
                      </a:r>
                      <a:endParaRPr sz="1100"/>
                    </a:p>
                  </a:txBody>
                  <a:tcPr marL="428625" marR="9525" marT="9525" marB="0" anchor="ctr"/>
                </a:tc>
              </a:tr>
              <a:tr h="175260">
                <a:tc>
                  <a:txBody>
                    <a:bodyPr wrap="square"/>
                    <a:lstStyle/>
                    <a:p>
                      <a:pPr algn="l"/>
                      <a:r>
                        <a:rPr sz="1100" b="0" i="0">
                          <a:solidFill>
                            <a:srgbClr val="000000"/>
                          </a:solidFill>
                          <a:latin typeface="Calibri"/>
                        </a:rPr>
                        <a:t>8.5.1.</a:t>
                      </a:r>
                      <a:r>
                        <a:rPr sz="700" b="0" i="0">
                          <a:solidFill>
                            <a:srgbClr val="000000"/>
                          </a:solidFill>
                          <a:latin typeface="Times New Roman"/>
                        </a:rPr>
                        <a:t>   </a:t>
                      </a:r>
                      <a:r>
                        <a:rPr sz="1100" b="0" i="0">
                          <a:solidFill>
                            <a:srgbClr val="000000"/>
                          </a:solidFill>
                          <a:latin typeface="Calibri"/>
                        </a:rPr>
                        <a:t>Sales Channel 1</a:t>
                      </a:r>
                      <a:endParaRPr sz="1100"/>
                    </a:p>
                  </a:txBody>
                  <a:tcPr marL="771525" marR="9525" marT="9525" marB="0" anchor="ctr"/>
                </a:tc>
              </a:tr>
              <a:tr h="175260">
                <a:tc>
                  <a:txBody>
                    <a:bodyPr wrap="square"/>
                    <a:lstStyle/>
                    <a:p>
                      <a:pPr algn="l"/>
                      <a:r>
                        <a:rPr sz="1100" b="0" i="0">
                          <a:solidFill>
                            <a:srgbClr val="000000"/>
                          </a:solidFill>
                          <a:latin typeface="Calibri"/>
                        </a:rPr>
                        <a:t>8.5.2.</a:t>
                      </a:r>
                      <a:r>
                        <a:rPr sz="700" b="0" i="0">
                          <a:solidFill>
                            <a:srgbClr val="000000"/>
                          </a:solidFill>
                          <a:latin typeface="Times New Roman"/>
                        </a:rPr>
                        <a:t>   </a:t>
                      </a:r>
                      <a:r>
                        <a:rPr sz="1100" b="0" i="0">
                          <a:solidFill>
                            <a:srgbClr val="000000"/>
                          </a:solidFill>
                          <a:latin typeface="Calibri"/>
                        </a:rPr>
                        <a:t>Sales Channel 2</a:t>
                      </a:r>
                      <a:endParaRPr sz="1100"/>
                    </a:p>
                  </a:txBody>
                  <a:tcPr marL="771525" marR="9525" marT="9525" marB="0" anchor="ctr"/>
                </a:tc>
              </a:tr>
              <a:tr h="175260">
                <a:tc>
                  <a:txBody>
                    <a:bodyPr wrap="square"/>
                    <a:lstStyle/>
                    <a:p>
                      <a:pPr algn="l"/>
                      <a:r>
                        <a:rPr sz="1100" b="0" i="0">
                          <a:solidFill>
                            <a:srgbClr val="000000"/>
                          </a:solidFill>
                          <a:latin typeface="Calibri"/>
                        </a:rPr>
                        <a:t>8.5.3.</a:t>
                      </a:r>
                      <a:r>
                        <a:rPr sz="700" b="0" i="0">
                          <a:solidFill>
                            <a:srgbClr val="000000"/>
                          </a:solidFill>
                          <a:latin typeface="Times New Roman"/>
                        </a:rPr>
                        <a:t>   </a:t>
                      </a:r>
                      <a:r>
                        <a:rPr sz="1100" b="0" i="0">
                          <a:solidFill>
                            <a:srgbClr val="000000"/>
                          </a:solidFill>
                          <a:latin typeface="Calibri"/>
                        </a:rPr>
                        <a:t>Sales Channel 3</a:t>
                      </a:r>
                      <a:endParaRPr sz="1100"/>
                    </a:p>
                  </a:txBody>
                  <a:tcPr marL="771525" marR="9525" marT="9525" marB="0" anchor="ctr"/>
                </a:tc>
              </a:tr>
              <a:tr h="175260">
                <a:tc>
                  <a:txBody>
                    <a:bodyPr wrap="square"/>
                    <a:lstStyle/>
                    <a:p>
                      <a:pPr algn="l"/>
                      <a:r>
                        <a:rPr sz="1100" b="0" i="0">
                          <a:solidFill>
                            <a:srgbClr val="000000"/>
                          </a:solidFill>
                          <a:latin typeface="Calibri"/>
                        </a:rPr>
                        <a:t>8.5.4.</a:t>
                      </a:r>
                      <a:r>
                        <a:rPr sz="700" b="0" i="0">
                          <a:solidFill>
                            <a:srgbClr val="000000"/>
                          </a:solidFill>
                          <a:latin typeface="Times New Roman"/>
                        </a:rPr>
                        <a:t>   </a:t>
                      </a:r>
                      <a:r>
                        <a:rPr sz="1100" b="0" i="0">
                          <a:solidFill>
                            <a:srgbClr val="000000"/>
                          </a:solidFill>
                          <a:latin typeface="Calibri"/>
                        </a:rPr>
                        <a:t>Sales Channel 4</a:t>
                      </a:r>
                      <a:endParaRPr sz="1100"/>
                    </a:p>
                  </a:txBody>
                  <a:tcPr marL="771525" marR="9525" marT="9525" marB="0" anchor="ctr"/>
                </a:tc>
              </a:tr>
              <a:tr h="175260">
                <a:tc>
                  <a:txBody>
                    <a:bodyPr wrap="square"/>
                    <a:lstStyle/>
                    <a:p>
                      <a:pPr algn="l"/>
                      <a:r>
                        <a:rPr sz="1100" b="0" i="0">
                          <a:solidFill>
                            <a:srgbClr val="000000"/>
                          </a:solidFill>
                          <a:latin typeface="Calibri"/>
                        </a:rPr>
                        <a:t>8.5.5.</a:t>
                      </a:r>
                      <a:r>
                        <a:rPr sz="700" b="0" i="0">
                          <a:solidFill>
                            <a:srgbClr val="000000"/>
                          </a:solidFill>
                          <a:latin typeface="Times New Roman"/>
                        </a:rPr>
                        <a:t>   </a:t>
                      </a:r>
                      <a:r>
                        <a:rPr sz="1100" b="0" i="0">
                          <a:solidFill>
                            <a:srgbClr val="000000"/>
                          </a:solidFill>
                          <a:latin typeface="Calibri"/>
                        </a:rPr>
                        <a:t>Sales Channel 5</a:t>
                      </a:r>
                      <a:endParaRPr sz="1100"/>
                    </a:p>
                  </a:txBody>
                  <a:tcPr marL="771525" marR="9525" marT="9525" marB="0" anchor="ctr"/>
                </a:tc>
              </a:tr>
              <a:tr h="175260">
                <a:tc>
                  <a:txBody>
                    <a:bodyPr wrap="square"/>
                    <a:lstStyle/>
                    <a:p>
                      <a:pPr algn="l"/>
                      <a:r>
                        <a:rPr sz="1100" b="0" i="0">
                          <a:solidFill>
                            <a:srgbClr val="000000"/>
                          </a:solidFill>
                          <a:latin typeface="Calibri"/>
                        </a:rPr>
                        <a:t>8.5.6.</a:t>
                      </a:r>
                      <a:r>
                        <a:rPr sz="700" b="0" i="0">
                          <a:solidFill>
                            <a:srgbClr val="000000"/>
                          </a:solidFill>
                          <a:latin typeface="Times New Roman"/>
                        </a:rPr>
                        <a:t>   </a:t>
                      </a:r>
                      <a:r>
                        <a:rPr sz="1100" b="0" i="0">
                          <a:solidFill>
                            <a:srgbClr val="000000"/>
                          </a:solidFill>
                          <a:latin typeface="Calibri"/>
                        </a:rPr>
                        <a:t>Sales Channel 6</a:t>
                      </a:r>
                      <a:endParaRPr sz="1100"/>
                    </a:p>
                  </a:txBody>
                  <a:tcPr marL="771525" marR="9525" marT="9525" marB="0" anchor="ctr"/>
                </a:tc>
              </a:tr>
              <a:tr h="175260">
                <a:tc>
                  <a:txBody>
                    <a:bodyPr wrap="square"/>
                    <a:lstStyle/>
                    <a:p>
                      <a:pPr algn="l"/>
                      <a:r>
                        <a:rPr sz="1100" b="1" i="0">
                          <a:solidFill>
                            <a:srgbClr val="000000"/>
                          </a:solidFill>
                          <a:latin typeface="Calibri"/>
                        </a:rPr>
                        <a:t>9.</a:t>
                      </a:r>
                      <a:r>
                        <a:rPr sz="700" b="1" i="0">
                          <a:solidFill>
                            <a:srgbClr val="000000"/>
                          </a:solidFill>
                          <a:latin typeface="Times New Roman"/>
                        </a:rPr>
                        <a:t>       </a:t>
                      </a:r>
                      <a:r>
                        <a:rPr sz="1100" b="1" i="0">
                          <a:solidFill>
                            <a:srgbClr val="000000"/>
                          </a:solidFill>
                          <a:latin typeface="Calibri"/>
                        </a:rPr>
                        <a:t>Global Market (Value- Volume) Analysis 2021–2036, by Region</a:t>
                      </a:r>
                      <a:endParaRPr sz="1100"/>
                    </a:p>
                  </a:txBody>
                  <a:tcPr marL="171450" marR="9525" marT="9525" marB="0" anchor="ctr"/>
                </a:tc>
              </a:tr>
              <a:tr h="175260">
                <a:tc>
                  <a:txBody>
                    <a:bodyPr wrap="square"/>
                    <a:lstStyle/>
                    <a:p>
                      <a:pPr algn="l"/>
                      <a:r>
                        <a:rPr sz="1100" b="0" i="0">
                          <a:solidFill>
                            <a:srgbClr val="0070C0"/>
                          </a:solidFill>
                          <a:latin typeface="Calibri"/>
                        </a:rPr>
                        <a:t>9.1.</a:t>
                      </a:r>
                      <a:r>
                        <a:rPr sz="700" b="0" i="0">
                          <a:solidFill>
                            <a:srgbClr val="0070C0"/>
                          </a:solidFill>
                          <a:latin typeface="Times New Roman"/>
                        </a:rPr>
                        <a:t>    </a:t>
                      </a:r>
                      <a:r>
                        <a:rPr sz="1100" b="0" i="0">
                          <a:solidFill>
                            <a:srgbClr val="0070C0"/>
                          </a:solidFill>
                          <a:latin typeface="Calibri"/>
                        </a:rPr>
                        <a:t>Introduction / Key Findings</a:t>
                      </a:r>
                      <a:endParaRPr sz="1100"/>
                    </a:p>
                  </a:txBody>
                  <a:tcPr marL="428625" marR="9525" marT="9525" marB="0" anchor="ctr"/>
                </a:tc>
              </a:tr>
              <a:tr h="175260">
                <a:tc>
                  <a:txBody>
                    <a:bodyPr wrap="square"/>
                    <a:lstStyle/>
                    <a:p>
                      <a:pPr algn="l"/>
                      <a:r>
                        <a:rPr sz="1100" b="0" i="0">
                          <a:solidFill>
                            <a:srgbClr val="0070C0"/>
                          </a:solidFill>
                          <a:latin typeface="Calibri"/>
                        </a:rPr>
                        <a:t>9.2.</a:t>
                      </a:r>
                      <a:r>
                        <a:rPr sz="700" b="0" i="0">
                          <a:solidFill>
                            <a:srgbClr val="0070C0"/>
                          </a:solidFill>
                          <a:latin typeface="Times New Roman"/>
                        </a:rPr>
                        <a:t>    </a:t>
                      </a:r>
                      <a:r>
                        <a:rPr sz="1100" b="0" i="0">
                          <a:solidFill>
                            <a:srgbClr val="0070C0"/>
                          </a:solidFill>
                          <a:latin typeface="Calibri"/>
                        </a:rPr>
                        <a:t>2021–2025: Historical Analysis</a:t>
                      </a:r>
                      <a:endParaRPr sz="1100"/>
                    </a:p>
                  </a:txBody>
                  <a:tcPr marL="428625" marR="9525" marT="9525" marB="0" anchor="ctr"/>
                </a:tc>
              </a:tr>
              <a:tr h="175260">
                <a:tc>
                  <a:txBody>
                    <a:bodyPr wrap="square"/>
                    <a:lstStyle/>
                    <a:p>
                      <a:pPr algn="l"/>
                      <a:r>
                        <a:rPr sz="1100" b="0" i="0">
                          <a:solidFill>
                            <a:srgbClr val="0070C0"/>
                          </a:solidFill>
                          <a:latin typeface="Calibri"/>
                        </a:rPr>
                        <a:t>9.3.</a:t>
                      </a:r>
                      <a:r>
                        <a:rPr sz="700" b="0" i="0">
                          <a:solidFill>
                            <a:srgbClr val="0070C0"/>
                          </a:solidFill>
                          <a:latin typeface="Times New Roman"/>
                        </a:rPr>
                        <a:t>    </a:t>
                      </a:r>
                      <a:r>
                        <a:rPr sz="1100" b="0" i="0">
                          <a:solidFill>
                            <a:srgbClr val="0070C0"/>
                          </a:solidFill>
                          <a:latin typeface="Calibri"/>
                        </a:rPr>
                        <a:t>2026–2036: Forecast Outlook</a:t>
                      </a:r>
                      <a:endParaRPr sz="1100"/>
                    </a:p>
                  </a:txBody>
                  <a:tcPr marL="428625" marR="9525" marT="9525" marB="0" anchor="ctr"/>
                </a:tc>
              </a:tr>
              <a:tr h="175260">
                <a:tc>
                  <a:txBody>
                    <a:bodyPr wrap="square"/>
                    <a:lstStyle/>
                    <a:p>
                      <a:pPr algn="l"/>
                      <a:r>
                        <a:rPr sz="1100" b="0" i="0">
                          <a:solidFill>
                            <a:srgbClr val="0070C0"/>
                          </a:solidFill>
                          <a:latin typeface="Calibri"/>
                        </a:rPr>
                        <a:t>9.4.</a:t>
                      </a:r>
                      <a:r>
                        <a:rPr sz="700" b="0" i="0">
                          <a:solidFill>
                            <a:srgbClr val="0070C0"/>
                          </a:solidFill>
                          <a:latin typeface="Times New Roman"/>
                        </a:rPr>
                        <a:t>    </a:t>
                      </a:r>
                      <a:r>
                        <a:rPr sz="1100" b="0" i="0">
                          <a:solidFill>
                            <a:srgbClr val="0070C0"/>
                          </a:solidFill>
                          <a:latin typeface="Calibri"/>
                        </a:rPr>
                        <a:t>Y-o-Y Growth Trend Analysis</a:t>
                      </a:r>
                      <a:endParaRPr sz="1100"/>
                    </a:p>
                  </a:txBody>
                  <a:tcPr marL="428625" marR="9525" marT="9525" marB="0" anchor="ctr"/>
                </a:tc>
              </a:tr>
              <a:tr h="175260">
                <a:tc>
                  <a:txBody>
                    <a:bodyPr wrap="square"/>
                    <a:lstStyle/>
                    <a:p>
                      <a:pPr algn="l"/>
                      <a:r>
                        <a:rPr sz="1100" b="0" i="0">
                          <a:solidFill>
                            <a:srgbClr val="0070C0"/>
                          </a:solidFill>
                          <a:latin typeface="Calibri"/>
                        </a:rPr>
                        <a:t>9.5.</a:t>
                      </a:r>
                      <a:r>
                        <a:rPr sz="700" b="0" i="0">
                          <a:solidFill>
                            <a:srgbClr val="0070C0"/>
                          </a:solidFill>
                          <a:latin typeface="Times New Roman"/>
                        </a:rPr>
                        <a:t>    </a:t>
                      </a:r>
                      <a:r>
                        <a:rPr sz="1100" b="0" i="0">
                          <a:solidFill>
                            <a:srgbClr val="0070C0"/>
                          </a:solidFill>
                          <a:latin typeface="Calibri"/>
                        </a:rPr>
                        <a:t>Market Share Analysis</a:t>
                      </a:r>
                      <a:endParaRPr sz="1100"/>
                    </a:p>
                  </a:txBody>
                  <a:tcPr marL="428625" marR="9525" marT="9525" marB="0" anchor="ctr"/>
                </a:tc>
              </a:tr>
            </a:tbl>
          </a:graphicData>
        </a:graphic>
      </p:graphicFrame>
      <p:graphicFrame>
        <p:nvGraphicFramePr>
          <p:cNvPr id="7" name="TMR Contents Table"/>
          <p:cNvGraphicFramePr>
            <a:graphicFrameLocks noGrp="1"/>
          </p:cNvGraphicFramePr>
          <p:nvPr/>
        </p:nvGraphicFramePr>
        <p:xfrm>
          <a:off x="6172200" y="981075"/>
          <a:ext cx="5876925" cy="5257800"/>
        </p:xfrm>
        <a:graphic>
          <a:graphicData uri="http://schemas.openxmlformats.org/drawingml/2006/table">
            <a:tbl>
              <a:tblPr>
                <a:tableStyleId>{3B4B98B0-60AC-42C2-AFA5-B58CD77FA1E5}</a:tableStyleId>
              </a:tblPr>
              <a:tblGrid>
                <a:gridCol w="5876925"/>
              </a:tblGrid>
              <a:tr h="175260">
                <a:tc>
                  <a:txBody>
                    <a:bodyPr wrap="square"/>
                    <a:lstStyle/>
                    <a:p>
                      <a:pPr algn="l"/>
                      <a:r>
                        <a:rPr sz="1100" b="0" i="0">
                          <a:solidFill>
                            <a:srgbClr val="000000"/>
                          </a:solidFill>
                          <a:latin typeface="Calibri"/>
                        </a:rPr>
                        <a:t>9.5.1.</a:t>
                      </a:r>
                      <a:r>
                        <a:rPr sz="700" b="0" i="0">
                          <a:solidFill>
                            <a:srgbClr val="000000"/>
                          </a:solidFill>
                          <a:latin typeface="Times New Roman"/>
                        </a:rPr>
                        <a:t>   </a:t>
                      </a:r>
                      <a:r>
                        <a:rPr sz="1100" b="0" i="0">
                          <a:solidFill>
                            <a:srgbClr val="000000"/>
                          </a:solidFill>
                          <a:latin typeface="Calibri"/>
                        </a:rPr>
                        <a:t>North America</a:t>
                      </a:r>
                      <a:endParaRPr sz="1100"/>
                    </a:p>
                  </a:txBody>
                  <a:tcPr marL="771525" marR="9525" marT="9525" marB="0" anchor="ctr"/>
                </a:tc>
              </a:tr>
              <a:tr h="175260">
                <a:tc>
                  <a:txBody>
                    <a:bodyPr wrap="square"/>
                    <a:lstStyle/>
                    <a:p>
                      <a:pPr algn="l"/>
                      <a:r>
                        <a:rPr sz="1100" b="0" i="1">
                          <a:solidFill>
                            <a:srgbClr val="000000"/>
                          </a:solidFill>
                          <a:latin typeface="Calibri"/>
                        </a:rPr>
                        <a:t>9.5.1.1.</a:t>
                      </a:r>
                      <a:r>
                        <a:rPr sz="700" b="0" i="1">
                          <a:solidFill>
                            <a:srgbClr val="000000"/>
                          </a:solidFill>
                          <a:latin typeface="Times New Roman"/>
                        </a:rPr>
                        <a:t>    </a:t>
                      </a:r>
                      <a:r>
                        <a:rPr sz="1100" b="0" i="1">
                          <a:solidFill>
                            <a:srgbClr val="000000"/>
                          </a:solidFill>
                          <a:latin typeface="Calibri"/>
                        </a:rPr>
                        <a:t>U.S.</a:t>
                      </a:r>
                      <a:endParaRPr sz="1100"/>
                    </a:p>
                  </a:txBody>
                  <a:tcPr marL="1028700" marR="9525" marT="9525" marB="0" anchor="ctr"/>
                </a:tc>
              </a:tr>
              <a:tr h="175260">
                <a:tc>
                  <a:txBody>
                    <a:bodyPr wrap="square"/>
                    <a:lstStyle/>
                    <a:p>
                      <a:pPr algn="l"/>
                      <a:r>
                        <a:rPr sz="1100" b="0" i="1">
                          <a:solidFill>
                            <a:srgbClr val="000000"/>
                          </a:solidFill>
                          <a:latin typeface="Calibri"/>
                        </a:rPr>
                        <a:t>9.5.1.2.</a:t>
                      </a:r>
                      <a:r>
                        <a:rPr sz="700" b="0" i="1">
                          <a:solidFill>
                            <a:srgbClr val="000000"/>
                          </a:solidFill>
                          <a:latin typeface="Times New Roman"/>
                        </a:rPr>
                        <a:t>    </a:t>
                      </a:r>
                      <a:r>
                        <a:rPr sz="1100" b="0" i="1">
                          <a:solidFill>
                            <a:srgbClr val="000000"/>
                          </a:solidFill>
                          <a:latin typeface="Calibri"/>
                        </a:rPr>
                        <a:t>Canada</a:t>
                      </a:r>
                      <a:endParaRPr sz="1100"/>
                    </a:p>
                  </a:txBody>
                  <a:tcPr marL="1028700" marR="9525" marT="9525" marB="0" anchor="ctr"/>
                </a:tc>
              </a:tr>
              <a:tr h="175260">
                <a:tc>
                  <a:txBody>
                    <a:bodyPr wrap="square"/>
                    <a:lstStyle/>
                    <a:p>
                      <a:pPr algn="l"/>
                      <a:r>
                        <a:rPr sz="1100" b="0" i="0">
                          <a:solidFill>
                            <a:srgbClr val="000000"/>
                          </a:solidFill>
                          <a:latin typeface="Calibri"/>
                        </a:rPr>
                        <a:t>9.5.2.</a:t>
                      </a:r>
                      <a:r>
                        <a:rPr sz="700" b="0" i="0">
                          <a:solidFill>
                            <a:srgbClr val="000000"/>
                          </a:solidFill>
                          <a:latin typeface="Times New Roman"/>
                        </a:rPr>
                        <a:t>   </a:t>
                      </a:r>
                      <a:r>
                        <a:rPr sz="1100" b="0" i="0">
                          <a:solidFill>
                            <a:srgbClr val="000000"/>
                          </a:solidFill>
                          <a:latin typeface="Calibri"/>
                        </a:rPr>
                        <a:t>Latin America</a:t>
                      </a:r>
                      <a:endParaRPr sz="1100"/>
                    </a:p>
                  </a:txBody>
                  <a:tcPr marL="771525" marR="9525" marT="9525" marB="0" anchor="ctr"/>
                </a:tc>
              </a:tr>
              <a:tr h="175260">
                <a:tc>
                  <a:txBody>
                    <a:bodyPr wrap="square"/>
                    <a:lstStyle/>
                    <a:p>
                      <a:pPr algn="l"/>
                      <a:r>
                        <a:rPr sz="1100" b="0" i="1">
                          <a:solidFill>
                            <a:srgbClr val="000000"/>
                          </a:solidFill>
                          <a:latin typeface="Calibri"/>
                        </a:rPr>
                        <a:t>9.5.2.1.</a:t>
                      </a:r>
                      <a:r>
                        <a:rPr sz="700" b="0" i="1">
                          <a:solidFill>
                            <a:srgbClr val="000000"/>
                          </a:solidFill>
                          <a:latin typeface="Times New Roman"/>
                        </a:rPr>
                        <a:t>    </a:t>
                      </a:r>
                      <a:r>
                        <a:rPr sz="1100" b="0" i="1">
                          <a:solidFill>
                            <a:srgbClr val="000000"/>
                          </a:solidFill>
                          <a:latin typeface="Calibri"/>
                        </a:rPr>
                        <a:t>Brazil</a:t>
                      </a:r>
                      <a:endParaRPr sz="1100"/>
                    </a:p>
                  </a:txBody>
                  <a:tcPr marL="1028700" marR="9525" marT="9525" marB="0" anchor="ctr"/>
                </a:tc>
              </a:tr>
              <a:tr h="175260">
                <a:tc>
                  <a:txBody>
                    <a:bodyPr wrap="square"/>
                    <a:lstStyle/>
                    <a:p>
                      <a:pPr algn="l"/>
                      <a:r>
                        <a:rPr sz="1100" b="0" i="1">
                          <a:solidFill>
                            <a:srgbClr val="000000"/>
                          </a:solidFill>
                          <a:latin typeface="Calibri"/>
                        </a:rPr>
                        <a:t>9.5.2.2.</a:t>
                      </a:r>
                      <a:r>
                        <a:rPr sz="700" b="0" i="1">
                          <a:solidFill>
                            <a:srgbClr val="000000"/>
                          </a:solidFill>
                          <a:latin typeface="Times New Roman"/>
                        </a:rPr>
                        <a:t>    </a:t>
                      </a:r>
                      <a:r>
                        <a:rPr sz="1100" b="0" i="1">
                          <a:solidFill>
                            <a:srgbClr val="000000"/>
                          </a:solidFill>
                          <a:latin typeface="Calibri"/>
                        </a:rPr>
                        <a:t>Mexico</a:t>
                      </a:r>
                      <a:endParaRPr sz="1100"/>
                    </a:p>
                  </a:txBody>
                  <a:tcPr marL="1028700" marR="9525" marT="9525" marB="0" anchor="ctr"/>
                </a:tc>
              </a:tr>
              <a:tr h="175260">
                <a:tc>
                  <a:txBody>
                    <a:bodyPr wrap="square"/>
                    <a:lstStyle/>
                    <a:p>
                      <a:pPr algn="l"/>
                      <a:r>
                        <a:rPr sz="1100" b="0" i="1">
                          <a:solidFill>
                            <a:srgbClr val="000000"/>
                          </a:solidFill>
                          <a:latin typeface="Calibri"/>
                        </a:rPr>
                        <a:t>9.5.2.3.</a:t>
                      </a:r>
                      <a:r>
                        <a:rPr sz="700" b="0" i="1">
                          <a:solidFill>
                            <a:srgbClr val="000000"/>
                          </a:solidFill>
                          <a:latin typeface="Times New Roman"/>
                        </a:rPr>
                        <a:t>    </a:t>
                      </a:r>
                      <a:r>
                        <a:rPr sz="1100" b="0" i="1">
                          <a:solidFill>
                            <a:srgbClr val="000000"/>
                          </a:solidFill>
                          <a:latin typeface="Calibri"/>
                        </a:rPr>
                        <a:t>Rest of LATAM</a:t>
                      </a:r>
                      <a:endParaRPr sz="1100"/>
                    </a:p>
                  </a:txBody>
                  <a:tcPr marL="1028700" marR="9525" marT="9525" marB="0" anchor="ctr"/>
                </a:tc>
              </a:tr>
              <a:tr h="175260">
                <a:tc>
                  <a:txBody>
                    <a:bodyPr wrap="square"/>
                    <a:lstStyle/>
                    <a:p>
                      <a:pPr algn="l"/>
                      <a:r>
                        <a:rPr sz="1100" b="0" i="0">
                          <a:solidFill>
                            <a:srgbClr val="000000"/>
                          </a:solidFill>
                          <a:latin typeface="Calibri"/>
                        </a:rPr>
                        <a:t>9.5.3.</a:t>
                      </a:r>
                      <a:r>
                        <a:rPr sz="700" b="0" i="0">
                          <a:solidFill>
                            <a:srgbClr val="000000"/>
                          </a:solidFill>
                          <a:latin typeface="Times New Roman"/>
                        </a:rPr>
                        <a:t>   </a:t>
                      </a:r>
                      <a:r>
                        <a:rPr sz="1100" b="0" i="0">
                          <a:solidFill>
                            <a:srgbClr val="000000"/>
                          </a:solidFill>
                          <a:latin typeface="Calibri"/>
                        </a:rPr>
                        <a:t>East Asia</a:t>
                      </a:r>
                      <a:endParaRPr sz="1100"/>
                    </a:p>
                  </a:txBody>
                  <a:tcPr marL="771525" marR="9525" marT="9525" marB="0" anchor="ctr"/>
                </a:tc>
              </a:tr>
              <a:tr h="175260">
                <a:tc>
                  <a:txBody>
                    <a:bodyPr wrap="square"/>
                    <a:lstStyle/>
                    <a:p>
                      <a:pPr algn="l"/>
                      <a:r>
                        <a:rPr sz="1100" b="0" i="1">
                          <a:solidFill>
                            <a:srgbClr val="000000"/>
                          </a:solidFill>
                          <a:latin typeface="Calibri"/>
                        </a:rPr>
                        <a:t>9.5.3.1.</a:t>
                      </a:r>
                      <a:r>
                        <a:rPr sz="700" b="0" i="1">
                          <a:solidFill>
                            <a:srgbClr val="000000"/>
                          </a:solidFill>
                          <a:latin typeface="Times New Roman"/>
                        </a:rPr>
                        <a:t>    </a:t>
                      </a:r>
                      <a:r>
                        <a:rPr sz="1100" b="0" i="1">
                          <a:solidFill>
                            <a:srgbClr val="000000"/>
                          </a:solidFill>
                          <a:latin typeface="Calibri"/>
                        </a:rPr>
                        <a:t>China</a:t>
                      </a:r>
                      <a:endParaRPr sz="1100"/>
                    </a:p>
                  </a:txBody>
                  <a:tcPr marL="1028700" marR="9525" marT="9525" marB="0" anchor="ctr"/>
                </a:tc>
              </a:tr>
              <a:tr h="175260">
                <a:tc>
                  <a:txBody>
                    <a:bodyPr wrap="square"/>
                    <a:lstStyle/>
                    <a:p>
                      <a:pPr algn="l"/>
                      <a:r>
                        <a:rPr sz="1100" b="0" i="1">
                          <a:solidFill>
                            <a:srgbClr val="000000"/>
                          </a:solidFill>
                          <a:latin typeface="Calibri"/>
                        </a:rPr>
                        <a:t>9.5.3.2.</a:t>
                      </a:r>
                      <a:r>
                        <a:rPr sz="700" b="0" i="1">
                          <a:solidFill>
                            <a:srgbClr val="000000"/>
                          </a:solidFill>
                          <a:latin typeface="Times New Roman"/>
                        </a:rPr>
                        <a:t>    </a:t>
                      </a:r>
                      <a:r>
                        <a:rPr sz="1100" b="0" i="1">
                          <a:solidFill>
                            <a:srgbClr val="000000"/>
                          </a:solidFill>
                          <a:latin typeface="Calibri"/>
                        </a:rPr>
                        <a:t>Japan</a:t>
                      </a:r>
                      <a:endParaRPr sz="1100"/>
                    </a:p>
                  </a:txBody>
                  <a:tcPr marL="1028700" marR="9525" marT="9525" marB="0" anchor="ctr"/>
                </a:tc>
              </a:tr>
              <a:tr h="175260">
                <a:tc>
                  <a:txBody>
                    <a:bodyPr wrap="square"/>
                    <a:lstStyle/>
                    <a:p>
                      <a:pPr algn="l"/>
                      <a:r>
                        <a:rPr sz="1100" b="0" i="1">
                          <a:solidFill>
                            <a:srgbClr val="000000"/>
                          </a:solidFill>
                          <a:latin typeface="Calibri"/>
                        </a:rPr>
                        <a:t>9.5.3.3.</a:t>
                      </a:r>
                      <a:r>
                        <a:rPr sz="700" b="0" i="1">
                          <a:solidFill>
                            <a:srgbClr val="000000"/>
                          </a:solidFill>
                          <a:latin typeface="Times New Roman"/>
                        </a:rPr>
                        <a:t>    </a:t>
                      </a:r>
                      <a:r>
                        <a:rPr sz="1100" b="0" i="1">
                          <a:solidFill>
                            <a:srgbClr val="000000"/>
                          </a:solidFill>
                          <a:latin typeface="Calibri"/>
                        </a:rPr>
                        <a:t>S Korea</a:t>
                      </a:r>
                      <a:endParaRPr sz="1100"/>
                    </a:p>
                  </a:txBody>
                  <a:tcPr marL="1028700" marR="9525" marT="9525" marB="0" anchor="ctr"/>
                </a:tc>
              </a:tr>
              <a:tr h="175260">
                <a:tc>
                  <a:txBody>
                    <a:bodyPr wrap="square"/>
                    <a:lstStyle/>
                    <a:p>
                      <a:pPr algn="l"/>
                      <a:r>
                        <a:rPr sz="1100" b="0" i="0">
                          <a:solidFill>
                            <a:srgbClr val="000000"/>
                          </a:solidFill>
                          <a:latin typeface="Calibri"/>
                        </a:rPr>
                        <a:t>9.5.4.</a:t>
                      </a:r>
                      <a:r>
                        <a:rPr sz="700" b="0" i="0">
                          <a:solidFill>
                            <a:srgbClr val="000000"/>
                          </a:solidFill>
                          <a:latin typeface="Times New Roman"/>
                        </a:rPr>
                        <a:t>   </a:t>
                      </a:r>
                      <a:r>
                        <a:rPr sz="1100" b="0" i="0">
                          <a:solidFill>
                            <a:srgbClr val="000000"/>
                          </a:solidFill>
                          <a:latin typeface="Calibri"/>
                        </a:rPr>
                        <a:t>South Asia &amp; Pacific</a:t>
                      </a:r>
                      <a:endParaRPr sz="1100"/>
                    </a:p>
                  </a:txBody>
                  <a:tcPr marL="771525" marR="9525" marT="9525" marB="0" anchor="ctr"/>
                </a:tc>
              </a:tr>
              <a:tr h="175260">
                <a:tc>
                  <a:txBody>
                    <a:bodyPr wrap="square"/>
                    <a:lstStyle/>
                    <a:p>
                      <a:pPr algn="l"/>
                      <a:r>
                        <a:rPr sz="1100" b="0" i="1">
                          <a:solidFill>
                            <a:srgbClr val="000000"/>
                          </a:solidFill>
                          <a:latin typeface="Calibri"/>
                        </a:rPr>
                        <a:t>9.5.4.1.</a:t>
                      </a:r>
                      <a:r>
                        <a:rPr sz="700" b="0" i="1">
                          <a:solidFill>
                            <a:srgbClr val="000000"/>
                          </a:solidFill>
                          <a:latin typeface="Times New Roman"/>
                        </a:rPr>
                        <a:t>    </a:t>
                      </a:r>
                      <a:r>
                        <a:rPr sz="1100" b="0" i="1">
                          <a:solidFill>
                            <a:srgbClr val="000000"/>
                          </a:solidFill>
                          <a:latin typeface="Calibri"/>
                        </a:rPr>
                        <a:t>India</a:t>
                      </a:r>
                      <a:endParaRPr sz="1100"/>
                    </a:p>
                  </a:txBody>
                  <a:tcPr marL="1028700" marR="9525" marT="9525" marB="0" anchor="ctr"/>
                </a:tc>
              </a:tr>
              <a:tr h="175260">
                <a:tc>
                  <a:txBody>
                    <a:bodyPr wrap="square"/>
                    <a:lstStyle/>
                    <a:p>
                      <a:pPr algn="l"/>
                      <a:r>
                        <a:rPr sz="1100" b="0" i="1">
                          <a:solidFill>
                            <a:srgbClr val="000000"/>
                          </a:solidFill>
                          <a:latin typeface="Calibri"/>
                        </a:rPr>
                        <a:t>9.5.4.2.</a:t>
                      </a:r>
                      <a:r>
                        <a:rPr sz="700" b="0" i="1">
                          <a:solidFill>
                            <a:srgbClr val="000000"/>
                          </a:solidFill>
                          <a:latin typeface="Times New Roman"/>
                        </a:rPr>
                        <a:t>    </a:t>
                      </a:r>
                      <a:r>
                        <a:rPr sz="1100" b="0" i="1">
                          <a:solidFill>
                            <a:srgbClr val="000000"/>
                          </a:solidFill>
                          <a:latin typeface="Calibri"/>
                        </a:rPr>
                        <a:t>Thailand</a:t>
                      </a:r>
                      <a:endParaRPr sz="1100"/>
                    </a:p>
                  </a:txBody>
                  <a:tcPr marL="1028700" marR="9525" marT="9525" marB="0" anchor="ctr"/>
                </a:tc>
              </a:tr>
              <a:tr h="175260">
                <a:tc>
                  <a:txBody>
                    <a:bodyPr wrap="square"/>
                    <a:lstStyle/>
                    <a:p>
                      <a:pPr algn="l"/>
                      <a:r>
                        <a:rPr sz="1100" b="0" i="1">
                          <a:solidFill>
                            <a:srgbClr val="000000"/>
                          </a:solidFill>
                          <a:latin typeface="Calibri"/>
                        </a:rPr>
                        <a:t>9.5.4.3.</a:t>
                      </a:r>
                      <a:r>
                        <a:rPr sz="700" b="0" i="1">
                          <a:solidFill>
                            <a:srgbClr val="000000"/>
                          </a:solidFill>
                          <a:latin typeface="Times New Roman"/>
                        </a:rPr>
                        <a:t>    </a:t>
                      </a:r>
                      <a:r>
                        <a:rPr sz="1100" b="0" i="1">
                          <a:solidFill>
                            <a:srgbClr val="000000"/>
                          </a:solidFill>
                          <a:latin typeface="Calibri"/>
                        </a:rPr>
                        <a:t>Malaysia</a:t>
                      </a:r>
                      <a:endParaRPr sz="1100"/>
                    </a:p>
                  </a:txBody>
                  <a:tcPr marL="1028700" marR="9525" marT="9525" marB="0" anchor="ctr"/>
                </a:tc>
              </a:tr>
              <a:tr h="175260">
                <a:tc>
                  <a:txBody>
                    <a:bodyPr wrap="square"/>
                    <a:lstStyle/>
                    <a:p>
                      <a:pPr algn="l"/>
                      <a:r>
                        <a:rPr sz="1100" b="0" i="1">
                          <a:solidFill>
                            <a:srgbClr val="000000"/>
                          </a:solidFill>
                          <a:latin typeface="Calibri"/>
                        </a:rPr>
                        <a:t>9.5.4.4.</a:t>
                      </a:r>
                      <a:r>
                        <a:rPr sz="700" b="0" i="1">
                          <a:solidFill>
                            <a:srgbClr val="000000"/>
                          </a:solidFill>
                          <a:latin typeface="Times New Roman"/>
                        </a:rPr>
                        <a:t>    </a:t>
                      </a:r>
                      <a:r>
                        <a:rPr sz="1100" b="0" i="1">
                          <a:solidFill>
                            <a:srgbClr val="000000"/>
                          </a:solidFill>
                          <a:latin typeface="Calibri"/>
                        </a:rPr>
                        <a:t>Indonesia</a:t>
                      </a:r>
                      <a:endParaRPr sz="1100"/>
                    </a:p>
                  </a:txBody>
                  <a:tcPr marL="1028700" marR="9525" marT="9525" marB="0" anchor="ctr"/>
                </a:tc>
              </a:tr>
              <a:tr h="175260">
                <a:tc>
                  <a:txBody>
                    <a:bodyPr wrap="square"/>
                    <a:lstStyle/>
                    <a:p>
                      <a:pPr algn="l"/>
                      <a:r>
                        <a:rPr sz="1100" b="0" i="1">
                          <a:solidFill>
                            <a:srgbClr val="000000"/>
                          </a:solidFill>
                          <a:latin typeface="Calibri"/>
                        </a:rPr>
                        <a:t>9.5.4.5.</a:t>
                      </a:r>
                      <a:r>
                        <a:rPr sz="700" b="0" i="1">
                          <a:solidFill>
                            <a:srgbClr val="000000"/>
                          </a:solidFill>
                          <a:latin typeface="Times New Roman"/>
                        </a:rPr>
                        <a:t>    </a:t>
                      </a:r>
                      <a:r>
                        <a:rPr sz="1100" b="0" i="1">
                          <a:solidFill>
                            <a:srgbClr val="000000"/>
                          </a:solidFill>
                          <a:latin typeface="Calibri"/>
                        </a:rPr>
                        <a:t>Philippines</a:t>
                      </a:r>
                      <a:endParaRPr sz="1100"/>
                    </a:p>
                  </a:txBody>
                  <a:tcPr marL="1028700" marR="9525" marT="9525" marB="0" anchor="ctr"/>
                </a:tc>
              </a:tr>
              <a:tr h="175260">
                <a:tc>
                  <a:txBody>
                    <a:bodyPr wrap="square"/>
                    <a:lstStyle/>
                    <a:p>
                      <a:pPr algn="l"/>
                      <a:r>
                        <a:rPr sz="1100" b="0" i="1">
                          <a:solidFill>
                            <a:srgbClr val="000000"/>
                          </a:solidFill>
                          <a:latin typeface="Calibri"/>
                        </a:rPr>
                        <a:t>9.5.4.6.</a:t>
                      </a:r>
                      <a:r>
                        <a:rPr sz="700" b="0" i="1">
                          <a:solidFill>
                            <a:srgbClr val="000000"/>
                          </a:solidFill>
                          <a:latin typeface="Times New Roman"/>
                        </a:rPr>
                        <a:t>    </a:t>
                      </a:r>
                      <a:r>
                        <a:rPr sz="1100" b="0" i="1">
                          <a:solidFill>
                            <a:srgbClr val="000000"/>
                          </a:solidFill>
                          <a:latin typeface="Calibri"/>
                        </a:rPr>
                        <a:t>Singapore</a:t>
                      </a:r>
                      <a:endParaRPr sz="1100"/>
                    </a:p>
                  </a:txBody>
                  <a:tcPr marL="1028700" marR="9525" marT="9525" marB="0" anchor="ctr"/>
                </a:tc>
              </a:tr>
              <a:tr h="175260">
                <a:tc>
                  <a:txBody>
                    <a:bodyPr wrap="square"/>
                    <a:lstStyle/>
                    <a:p>
                      <a:pPr algn="l"/>
                      <a:r>
                        <a:rPr sz="1100" b="0" i="1">
                          <a:solidFill>
                            <a:srgbClr val="000000"/>
                          </a:solidFill>
                          <a:latin typeface="Calibri"/>
                        </a:rPr>
                        <a:t>9.5.4.7.</a:t>
                      </a:r>
                      <a:r>
                        <a:rPr sz="700" b="0" i="1">
                          <a:solidFill>
                            <a:srgbClr val="000000"/>
                          </a:solidFill>
                          <a:latin typeface="Times New Roman"/>
                        </a:rPr>
                        <a:t>    </a:t>
                      </a:r>
                      <a:r>
                        <a:rPr sz="1100" b="0" i="1">
                          <a:solidFill>
                            <a:srgbClr val="000000"/>
                          </a:solidFill>
                          <a:latin typeface="Calibri"/>
                        </a:rPr>
                        <a:t>Australia</a:t>
                      </a:r>
                      <a:endParaRPr sz="1100"/>
                    </a:p>
                  </a:txBody>
                  <a:tcPr marL="1028700" marR="9525" marT="9525" marB="0" anchor="ctr"/>
                </a:tc>
              </a:tr>
              <a:tr h="175260">
                <a:tc>
                  <a:txBody>
                    <a:bodyPr wrap="square"/>
                    <a:lstStyle/>
                    <a:p>
                      <a:pPr algn="l"/>
                      <a:r>
                        <a:rPr sz="1100" b="0" i="1">
                          <a:solidFill>
                            <a:srgbClr val="000000"/>
                          </a:solidFill>
                          <a:latin typeface="Calibri"/>
                        </a:rPr>
                        <a:t>9.5.4.8.</a:t>
                      </a:r>
                      <a:r>
                        <a:rPr sz="700" b="0" i="1">
                          <a:solidFill>
                            <a:srgbClr val="000000"/>
                          </a:solidFill>
                          <a:latin typeface="Times New Roman"/>
                        </a:rPr>
                        <a:t>    </a:t>
                      </a:r>
                      <a:r>
                        <a:rPr sz="1100" b="0" i="1">
                          <a:solidFill>
                            <a:srgbClr val="000000"/>
                          </a:solidFill>
                          <a:latin typeface="Calibri"/>
                        </a:rPr>
                        <a:t>New Zealand</a:t>
                      </a:r>
                      <a:endParaRPr sz="1100"/>
                    </a:p>
                  </a:txBody>
                  <a:tcPr marL="1028700" marR="9525" marT="9525" marB="0" anchor="ctr"/>
                </a:tc>
              </a:tr>
              <a:tr h="175260">
                <a:tc>
                  <a:txBody>
                    <a:bodyPr wrap="square"/>
                    <a:lstStyle/>
                    <a:p>
                      <a:pPr algn="l"/>
                      <a:r>
                        <a:rPr sz="1100" b="0" i="1">
                          <a:solidFill>
                            <a:srgbClr val="000000"/>
                          </a:solidFill>
                          <a:latin typeface="Calibri"/>
                        </a:rPr>
                        <a:t>9.5.4.9.</a:t>
                      </a:r>
                      <a:r>
                        <a:rPr sz="700" b="0" i="1">
                          <a:solidFill>
                            <a:srgbClr val="000000"/>
                          </a:solidFill>
                          <a:latin typeface="Times New Roman"/>
                        </a:rPr>
                        <a:t>    </a:t>
                      </a:r>
                      <a:r>
                        <a:rPr sz="1100" b="0" i="1">
                          <a:solidFill>
                            <a:srgbClr val="000000"/>
                          </a:solidFill>
                          <a:latin typeface="Calibri"/>
                        </a:rPr>
                        <a:t>Rest of South East Asia</a:t>
                      </a:r>
                      <a:endParaRPr sz="1100"/>
                    </a:p>
                  </a:txBody>
                  <a:tcPr marL="1028700" marR="9525" marT="9525" marB="0" anchor="ctr"/>
                </a:tc>
              </a:tr>
              <a:tr h="175260">
                <a:tc>
                  <a:txBody>
                    <a:bodyPr wrap="square"/>
                    <a:lstStyle/>
                    <a:p>
                      <a:pPr algn="l"/>
                      <a:r>
                        <a:rPr sz="1100" b="0" i="0">
                          <a:solidFill>
                            <a:srgbClr val="000000"/>
                          </a:solidFill>
                          <a:latin typeface="Calibri"/>
                        </a:rPr>
                        <a:t>9.5.5.</a:t>
                      </a:r>
                      <a:r>
                        <a:rPr sz="700" b="0" i="0">
                          <a:solidFill>
                            <a:srgbClr val="000000"/>
                          </a:solidFill>
                          <a:latin typeface="Times New Roman"/>
                        </a:rPr>
                        <a:t>   </a:t>
                      </a:r>
                      <a:r>
                        <a:rPr sz="1100" b="0" i="0">
                          <a:solidFill>
                            <a:srgbClr val="000000"/>
                          </a:solidFill>
                          <a:latin typeface="Calibri"/>
                        </a:rPr>
                        <a:t>Europe</a:t>
                      </a:r>
                      <a:endParaRPr sz="1100"/>
                    </a:p>
                  </a:txBody>
                  <a:tcPr marL="771525" marR="9525" marT="9525" marB="0" anchor="ctr"/>
                </a:tc>
              </a:tr>
              <a:tr h="175260">
                <a:tc>
                  <a:txBody>
                    <a:bodyPr wrap="square"/>
                    <a:lstStyle/>
                    <a:p>
                      <a:pPr algn="l"/>
                      <a:r>
                        <a:rPr sz="1100" b="0" i="1">
                          <a:solidFill>
                            <a:srgbClr val="000000"/>
                          </a:solidFill>
                          <a:latin typeface="Calibri"/>
                        </a:rPr>
                        <a:t>9.5.5.1.</a:t>
                      </a:r>
                      <a:r>
                        <a:rPr sz="700" b="0" i="1">
                          <a:solidFill>
                            <a:srgbClr val="000000"/>
                          </a:solidFill>
                          <a:latin typeface="Times New Roman"/>
                        </a:rPr>
                        <a:t>    </a:t>
                      </a:r>
                      <a:r>
                        <a:rPr sz="1100" b="0" i="1">
                          <a:solidFill>
                            <a:srgbClr val="000000"/>
                          </a:solidFill>
                          <a:latin typeface="Calibri"/>
                        </a:rPr>
                        <a:t>Germany</a:t>
                      </a:r>
                      <a:endParaRPr sz="1100"/>
                    </a:p>
                  </a:txBody>
                  <a:tcPr marL="1028700" marR="9525" marT="9525" marB="0" anchor="ctr"/>
                </a:tc>
              </a:tr>
              <a:tr h="175260">
                <a:tc>
                  <a:txBody>
                    <a:bodyPr wrap="square"/>
                    <a:lstStyle/>
                    <a:p>
                      <a:pPr algn="l"/>
                      <a:r>
                        <a:rPr sz="1100" b="0" i="1">
                          <a:solidFill>
                            <a:srgbClr val="000000"/>
                          </a:solidFill>
                          <a:latin typeface="Calibri"/>
                        </a:rPr>
                        <a:t>9.5.5.2.</a:t>
                      </a:r>
                      <a:r>
                        <a:rPr sz="700" b="0" i="1">
                          <a:solidFill>
                            <a:srgbClr val="000000"/>
                          </a:solidFill>
                          <a:latin typeface="Times New Roman"/>
                        </a:rPr>
                        <a:t>    </a:t>
                      </a:r>
                      <a:r>
                        <a:rPr sz="1100" b="0" i="1">
                          <a:solidFill>
                            <a:srgbClr val="000000"/>
                          </a:solidFill>
                          <a:latin typeface="Calibri"/>
                        </a:rPr>
                        <a:t>U.K.</a:t>
                      </a:r>
                      <a:endParaRPr sz="1100"/>
                    </a:p>
                  </a:txBody>
                  <a:tcPr marL="1028700" marR="9525" marT="9525" marB="0" anchor="ctr"/>
                </a:tc>
              </a:tr>
              <a:tr h="175260">
                <a:tc>
                  <a:txBody>
                    <a:bodyPr wrap="square"/>
                    <a:lstStyle/>
                    <a:p>
                      <a:pPr algn="l"/>
                      <a:r>
                        <a:rPr sz="1100" b="0" i="1">
                          <a:solidFill>
                            <a:srgbClr val="000000"/>
                          </a:solidFill>
                          <a:latin typeface="Calibri"/>
                        </a:rPr>
                        <a:t>9.5.5.3.</a:t>
                      </a:r>
                      <a:r>
                        <a:rPr sz="700" b="0" i="1">
                          <a:solidFill>
                            <a:srgbClr val="000000"/>
                          </a:solidFill>
                          <a:latin typeface="Times New Roman"/>
                        </a:rPr>
                        <a:t>    </a:t>
                      </a:r>
                      <a:r>
                        <a:rPr sz="1100" b="0" i="1">
                          <a:solidFill>
                            <a:srgbClr val="000000"/>
                          </a:solidFill>
                          <a:latin typeface="Calibri"/>
                        </a:rPr>
                        <a:t>France</a:t>
                      </a:r>
                      <a:endParaRPr sz="1100"/>
                    </a:p>
                  </a:txBody>
                  <a:tcPr marL="1028700" marR="9525" marT="9525" marB="0" anchor="ctr"/>
                </a:tc>
              </a:tr>
              <a:tr h="175260">
                <a:tc>
                  <a:txBody>
                    <a:bodyPr wrap="square"/>
                    <a:lstStyle/>
                    <a:p>
                      <a:pPr algn="l"/>
                      <a:r>
                        <a:rPr sz="1100" b="0" i="1">
                          <a:solidFill>
                            <a:srgbClr val="000000"/>
                          </a:solidFill>
                          <a:latin typeface="Calibri"/>
                        </a:rPr>
                        <a:t>9.5.5.4.</a:t>
                      </a:r>
                      <a:r>
                        <a:rPr sz="700" b="0" i="1">
                          <a:solidFill>
                            <a:srgbClr val="000000"/>
                          </a:solidFill>
                          <a:latin typeface="Times New Roman"/>
                        </a:rPr>
                        <a:t>    </a:t>
                      </a:r>
                      <a:r>
                        <a:rPr sz="1100" b="0" i="1">
                          <a:solidFill>
                            <a:srgbClr val="000000"/>
                          </a:solidFill>
                          <a:latin typeface="Calibri"/>
                        </a:rPr>
                        <a:t>Italy</a:t>
                      </a:r>
                      <a:endParaRPr sz="1100"/>
                    </a:p>
                  </a:txBody>
                  <a:tcPr marL="1028700" marR="9525" marT="9525" marB="0" anchor="ctr"/>
                </a:tc>
              </a:tr>
              <a:tr h="175260">
                <a:tc>
                  <a:txBody>
                    <a:bodyPr wrap="square"/>
                    <a:lstStyle/>
                    <a:p>
                      <a:pPr algn="l"/>
                      <a:r>
                        <a:rPr sz="1100" b="0" i="1">
                          <a:solidFill>
                            <a:srgbClr val="000000"/>
                          </a:solidFill>
                          <a:latin typeface="Calibri"/>
                        </a:rPr>
                        <a:t>9.5.5.5.</a:t>
                      </a:r>
                      <a:r>
                        <a:rPr sz="700" b="0" i="1">
                          <a:solidFill>
                            <a:srgbClr val="000000"/>
                          </a:solidFill>
                          <a:latin typeface="Times New Roman"/>
                        </a:rPr>
                        <a:t>    </a:t>
                      </a:r>
                      <a:r>
                        <a:rPr sz="1100" b="0" i="1">
                          <a:solidFill>
                            <a:srgbClr val="000000"/>
                          </a:solidFill>
                          <a:latin typeface="Calibri"/>
                        </a:rPr>
                        <a:t>Spain</a:t>
                      </a:r>
                      <a:endParaRPr sz="1100"/>
                    </a:p>
                  </a:txBody>
                  <a:tcPr marL="1028700" marR="9525" marT="9525" marB="0" anchor="ctr"/>
                </a:tc>
              </a:tr>
              <a:tr h="175260">
                <a:tc>
                  <a:txBody>
                    <a:bodyPr wrap="square"/>
                    <a:lstStyle/>
                    <a:p>
                      <a:pPr algn="l"/>
                      <a:r>
                        <a:rPr sz="1100" b="0" i="1">
                          <a:solidFill>
                            <a:srgbClr val="000000"/>
                          </a:solidFill>
                          <a:latin typeface="Calibri"/>
                        </a:rPr>
                        <a:t>9.5.5.6.</a:t>
                      </a:r>
                      <a:r>
                        <a:rPr sz="700" b="0" i="1">
                          <a:solidFill>
                            <a:srgbClr val="000000"/>
                          </a:solidFill>
                          <a:latin typeface="Times New Roman"/>
                        </a:rPr>
                        <a:t>    </a:t>
                      </a:r>
                      <a:r>
                        <a:rPr sz="1100" b="0" i="1">
                          <a:solidFill>
                            <a:srgbClr val="000000"/>
                          </a:solidFill>
                          <a:latin typeface="Calibri"/>
                        </a:rPr>
                        <a:t>Belgium</a:t>
                      </a:r>
                      <a:endParaRPr sz="1100"/>
                    </a:p>
                  </a:txBody>
                  <a:tcPr marL="1028700" marR="9525" marT="9525" marB="0" anchor="ctr"/>
                </a:tc>
              </a:tr>
              <a:tr h="175260">
                <a:tc>
                  <a:txBody>
                    <a:bodyPr wrap="square"/>
                    <a:lstStyle/>
                    <a:p>
                      <a:pPr algn="l"/>
                      <a:r>
                        <a:rPr sz="1100" b="0" i="1">
                          <a:solidFill>
                            <a:srgbClr val="000000"/>
                          </a:solidFill>
                          <a:latin typeface="Calibri"/>
                        </a:rPr>
                        <a:t>9.5.5.7.</a:t>
                      </a:r>
                      <a:r>
                        <a:rPr sz="700" b="0" i="1">
                          <a:solidFill>
                            <a:srgbClr val="000000"/>
                          </a:solidFill>
                          <a:latin typeface="Times New Roman"/>
                        </a:rPr>
                        <a:t>    </a:t>
                      </a:r>
                      <a:r>
                        <a:rPr sz="1100" b="0" i="1">
                          <a:solidFill>
                            <a:srgbClr val="000000"/>
                          </a:solidFill>
                          <a:latin typeface="Calibri"/>
                        </a:rPr>
                        <a:t>Netherlands</a:t>
                      </a:r>
                      <a:endParaRPr sz="1100"/>
                    </a:p>
                  </a:txBody>
                  <a:tcPr marL="1028700" marR="9525" marT="9525" marB="0" anchor="ctr"/>
                </a:tc>
              </a:tr>
              <a:tr h="175260">
                <a:tc>
                  <a:txBody>
                    <a:bodyPr wrap="square"/>
                    <a:lstStyle/>
                    <a:p>
                      <a:pPr algn="l"/>
                      <a:r>
                        <a:rPr sz="1100" b="0" i="1">
                          <a:solidFill>
                            <a:srgbClr val="000000"/>
                          </a:solidFill>
                          <a:latin typeface="Calibri"/>
                        </a:rPr>
                        <a:t>9.5.5.8.</a:t>
                      </a:r>
                      <a:r>
                        <a:rPr sz="700" b="0" i="1">
                          <a:solidFill>
                            <a:srgbClr val="000000"/>
                          </a:solidFill>
                          <a:latin typeface="Times New Roman"/>
                        </a:rPr>
                        <a:t>    </a:t>
                      </a:r>
                      <a:r>
                        <a:rPr sz="1100" b="0" i="1">
                          <a:solidFill>
                            <a:srgbClr val="000000"/>
                          </a:solidFill>
                          <a:latin typeface="Calibri"/>
                        </a:rPr>
                        <a:t>Nordic</a:t>
                      </a:r>
                      <a:endParaRPr sz="1100"/>
                    </a:p>
                  </a:txBody>
                  <a:tcPr marL="1028700" marR="9525" marT="9525" marB="0" anchor="ctr"/>
                </a:tc>
              </a:tr>
            </a:tbl>
          </a:graphicData>
        </a:graphic>
      </p:graphicFrame>
      <p:sp>
        <p:nvSpPr>
          <p:cNvPr id="8" name="Rectangle 7"/>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76200"/>
            <a:ext cx="10896600"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Table of Contents (3/6)</a:t>
            </a:r>
          </a:p>
        </p:txBody>
      </p:sp>
      <p:graphicFrame>
        <p:nvGraphicFramePr>
          <p:cNvPr id="6" name="TMR Contents Table"/>
          <p:cNvGraphicFramePr>
            <a:graphicFrameLocks noGrp="1"/>
          </p:cNvGraphicFramePr>
          <p:nvPr/>
        </p:nvGraphicFramePr>
        <p:xfrm>
          <a:off x="142875" y="981075"/>
          <a:ext cx="5876925" cy="5257800"/>
        </p:xfrm>
        <a:graphic>
          <a:graphicData uri="http://schemas.openxmlformats.org/drawingml/2006/table">
            <a:tbl>
              <a:tblPr>
                <a:tableStyleId>{3B4B98B0-60AC-42C2-AFA5-B58CD77FA1E5}</a:tableStyleId>
              </a:tblPr>
              <a:tblGrid>
                <a:gridCol w="5876925"/>
              </a:tblGrid>
              <a:tr h="175260">
                <a:tc>
                  <a:txBody>
                    <a:bodyPr wrap="square"/>
                    <a:lstStyle/>
                    <a:p>
                      <a:pPr algn="l"/>
                      <a:r>
                        <a:rPr sz="1100" b="0" i="1">
                          <a:solidFill>
                            <a:srgbClr val="000000"/>
                          </a:solidFill>
                          <a:latin typeface="Calibri"/>
                        </a:rPr>
                        <a:t>9.5.5.9.</a:t>
                      </a:r>
                      <a:r>
                        <a:rPr sz="700" b="0" i="1">
                          <a:solidFill>
                            <a:srgbClr val="000000"/>
                          </a:solidFill>
                          <a:latin typeface="Times New Roman"/>
                        </a:rPr>
                        <a:t>    </a:t>
                      </a:r>
                      <a:r>
                        <a:rPr sz="1100" b="0" i="1">
                          <a:solidFill>
                            <a:srgbClr val="000000"/>
                          </a:solidFill>
                          <a:latin typeface="Calibri"/>
                        </a:rPr>
                        <a:t>Russia</a:t>
                      </a:r>
                      <a:endParaRPr sz="1100"/>
                    </a:p>
                  </a:txBody>
                  <a:tcPr marL="1028700" marR="9525" marT="9525" marB="0" anchor="ctr"/>
                </a:tc>
              </a:tr>
              <a:tr h="175260">
                <a:tc>
                  <a:txBody>
                    <a:bodyPr wrap="square"/>
                    <a:lstStyle/>
                    <a:p>
                      <a:pPr algn="l"/>
                      <a:r>
                        <a:rPr sz="1100" b="0" i="1">
                          <a:solidFill>
                            <a:srgbClr val="000000"/>
                          </a:solidFill>
                          <a:latin typeface="Calibri"/>
                        </a:rPr>
                        <a:t>9.5.5.10.</a:t>
                      </a:r>
                      <a:r>
                        <a:rPr sz="700" b="0" i="1">
                          <a:solidFill>
                            <a:srgbClr val="000000"/>
                          </a:solidFill>
                          <a:latin typeface="Times New Roman"/>
                        </a:rPr>
                        <a:t> </a:t>
                      </a:r>
                      <a:r>
                        <a:rPr sz="1100" b="0" i="1">
                          <a:solidFill>
                            <a:srgbClr val="000000"/>
                          </a:solidFill>
                          <a:latin typeface="Calibri"/>
                        </a:rPr>
                        <a:t>Poland</a:t>
                      </a:r>
                      <a:endParaRPr sz="1100"/>
                    </a:p>
                  </a:txBody>
                  <a:tcPr marL="1028700" marR="9525" marT="9525" marB="0" anchor="ctr"/>
                </a:tc>
              </a:tr>
              <a:tr h="175260">
                <a:tc>
                  <a:txBody>
                    <a:bodyPr wrap="square"/>
                    <a:lstStyle/>
                    <a:p>
                      <a:pPr algn="l"/>
                      <a:r>
                        <a:rPr sz="1100" b="0" i="1">
                          <a:solidFill>
                            <a:srgbClr val="000000"/>
                          </a:solidFill>
                          <a:latin typeface="Calibri"/>
                        </a:rPr>
                        <a:t>9.5.5.11.</a:t>
                      </a:r>
                      <a:r>
                        <a:rPr sz="700" b="0" i="1">
                          <a:solidFill>
                            <a:srgbClr val="000000"/>
                          </a:solidFill>
                          <a:latin typeface="Times New Roman"/>
                        </a:rPr>
                        <a:t> </a:t>
                      </a:r>
                      <a:r>
                        <a:rPr sz="1100" b="0" i="1">
                          <a:solidFill>
                            <a:srgbClr val="000000"/>
                          </a:solidFill>
                          <a:latin typeface="Calibri"/>
                        </a:rPr>
                        <a:t>Switzerland</a:t>
                      </a:r>
                      <a:endParaRPr sz="1100"/>
                    </a:p>
                  </a:txBody>
                  <a:tcPr marL="1028700" marR="9525" marT="9525" marB="0" anchor="ctr"/>
                </a:tc>
              </a:tr>
              <a:tr h="175260">
                <a:tc>
                  <a:txBody>
                    <a:bodyPr wrap="square"/>
                    <a:lstStyle/>
                    <a:p>
                      <a:pPr algn="l"/>
                      <a:r>
                        <a:rPr sz="1100" b="0" i="1">
                          <a:solidFill>
                            <a:srgbClr val="000000"/>
                          </a:solidFill>
                          <a:latin typeface="Calibri"/>
                        </a:rPr>
                        <a:t>9.5.5.12.</a:t>
                      </a:r>
                      <a:r>
                        <a:rPr sz="700" b="0" i="1">
                          <a:solidFill>
                            <a:srgbClr val="000000"/>
                          </a:solidFill>
                          <a:latin typeface="Times New Roman"/>
                        </a:rPr>
                        <a:t> </a:t>
                      </a:r>
                      <a:r>
                        <a:rPr sz="1100" b="0" i="1">
                          <a:solidFill>
                            <a:srgbClr val="000000"/>
                          </a:solidFill>
                          <a:latin typeface="Calibri"/>
                        </a:rPr>
                        <a:t>Rest of Europe</a:t>
                      </a:r>
                      <a:endParaRPr sz="1100"/>
                    </a:p>
                  </a:txBody>
                  <a:tcPr marL="1028700" marR="9525" marT="9525" marB="0" anchor="ctr"/>
                </a:tc>
              </a:tr>
              <a:tr h="175260">
                <a:tc>
                  <a:txBody>
                    <a:bodyPr wrap="square"/>
                    <a:lstStyle/>
                    <a:p>
                      <a:pPr algn="l"/>
                      <a:r>
                        <a:rPr sz="1100" b="0" i="0">
                          <a:solidFill>
                            <a:srgbClr val="000000"/>
                          </a:solidFill>
                          <a:latin typeface="Calibri"/>
                        </a:rPr>
                        <a:t>9.5.6.</a:t>
                      </a:r>
                      <a:r>
                        <a:rPr sz="700" b="0" i="0">
                          <a:solidFill>
                            <a:srgbClr val="000000"/>
                          </a:solidFill>
                          <a:latin typeface="Times New Roman"/>
                        </a:rPr>
                        <a:t>   </a:t>
                      </a:r>
                      <a:r>
                        <a:rPr sz="1100" b="0" i="0">
                          <a:solidFill>
                            <a:srgbClr val="000000"/>
                          </a:solidFill>
                          <a:latin typeface="Calibri"/>
                        </a:rPr>
                        <a:t>Middle East &amp; Africa</a:t>
                      </a:r>
                      <a:endParaRPr sz="1100"/>
                    </a:p>
                  </a:txBody>
                  <a:tcPr marL="771525" marR="9525" marT="9525" marB="0" anchor="ctr"/>
                </a:tc>
              </a:tr>
              <a:tr h="175260">
                <a:tc>
                  <a:txBody>
                    <a:bodyPr wrap="square"/>
                    <a:lstStyle/>
                    <a:p>
                      <a:pPr algn="l"/>
                      <a:r>
                        <a:rPr sz="1100" b="0" i="1">
                          <a:solidFill>
                            <a:srgbClr val="000000"/>
                          </a:solidFill>
                          <a:latin typeface="Calibri"/>
                        </a:rPr>
                        <a:t>9.5.6.1.</a:t>
                      </a:r>
                      <a:r>
                        <a:rPr sz="700" b="0" i="1">
                          <a:solidFill>
                            <a:srgbClr val="000000"/>
                          </a:solidFill>
                          <a:latin typeface="Times New Roman"/>
                        </a:rPr>
                        <a:t>    </a:t>
                      </a:r>
                      <a:r>
                        <a:rPr sz="1100" b="0" i="1">
                          <a:solidFill>
                            <a:srgbClr val="000000"/>
                          </a:solidFill>
                          <a:latin typeface="Calibri"/>
                        </a:rPr>
                        <a:t>UAE</a:t>
                      </a:r>
                      <a:endParaRPr sz="1100"/>
                    </a:p>
                  </a:txBody>
                  <a:tcPr marL="1028700" marR="9525" marT="9525" marB="0" anchor="ctr"/>
                </a:tc>
              </a:tr>
              <a:tr h="175260">
                <a:tc>
                  <a:txBody>
                    <a:bodyPr wrap="square"/>
                    <a:lstStyle/>
                    <a:p>
                      <a:pPr algn="l"/>
                      <a:r>
                        <a:rPr sz="1100" b="0" i="1">
                          <a:solidFill>
                            <a:srgbClr val="000000"/>
                          </a:solidFill>
                          <a:latin typeface="Calibri"/>
                        </a:rPr>
                        <a:t>9.5.6.2.</a:t>
                      </a:r>
                      <a:r>
                        <a:rPr sz="700" b="0" i="1">
                          <a:solidFill>
                            <a:srgbClr val="000000"/>
                          </a:solidFill>
                          <a:latin typeface="Times New Roman"/>
                        </a:rPr>
                        <a:t>    </a:t>
                      </a:r>
                      <a:r>
                        <a:rPr sz="1100" b="0" i="1">
                          <a:solidFill>
                            <a:srgbClr val="000000"/>
                          </a:solidFill>
                          <a:latin typeface="Calibri"/>
                        </a:rPr>
                        <a:t>Saudi Arabia</a:t>
                      </a:r>
                      <a:endParaRPr sz="1100"/>
                    </a:p>
                  </a:txBody>
                  <a:tcPr marL="1028700" marR="9525" marT="9525" marB="0" anchor="ctr"/>
                </a:tc>
              </a:tr>
              <a:tr h="175260">
                <a:tc>
                  <a:txBody>
                    <a:bodyPr wrap="square"/>
                    <a:lstStyle/>
                    <a:p>
                      <a:pPr algn="l"/>
                      <a:r>
                        <a:rPr sz="1100" b="0" i="1">
                          <a:solidFill>
                            <a:srgbClr val="000000"/>
                          </a:solidFill>
                          <a:latin typeface="Calibri"/>
                        </a:rPr>
                        <a:t>9.5.6.3.</a:t>
                      </a:r>
                      <a:r>
                        <a:rPr sz="700" b="0" i="1">
                          <a:solidFill>
                            <a:srgbClr val="000000"/>
                          </a:solidFill>
                          <a:latin typeface="Times New Roman"/>
                        </a:rPr>
                        <a:t>    </a:t>
                      </a:r>
                      <a:r>
                        <a:rPr sz="1100" b="0" i="1">
                          <a:solidFill>
                            <a:srgbClr val="000000"/>
                          </a:solidFill>
                          <a:latin typeface="Calibri"/>
                        </a:rPr>
                        <a:t>Turkey</a:t>
                      </a:r>
                      <a:endParaRPr sz="1100"/>
                    </a:p>
                  </a:txBody>
                  <a:tcPr marL="1028700" marR="9525" marT="9525" marB="0" anchor="ctr"/>
                </a:tc>
              </a:tr>
              <a:tr h="175260">
                <a:tc>
                  <a:txBody>
                    <a:bodyPr wrap="square"/>
                    <a:lstStyle/>
                    <a:p>
                      <a:pPr algn="l"/>
                      <a:r>
                        <a:rPr sz="1100" b="0" i="1">
                          <a:solidFill>
                            <a:srgbClr val="000000"/>
                          </a:solidFill>
                          <a:latin typeface="Calibri"/>
                        </a:rPr>
                        <a:t>9.5.6.4.</a:t>
                      </a:r>
                      <a:r>
                        <a:rPr sz="700" b="0" i="1">
                          <a:solidFill>
                            <a:srgbClr val="000000"/>
                          </a:solidFill>
                          <a:latin typeface="Times New Roman"/>
                        </a:rPr>
                        <a:t>    </a:t>
                      </a:r>
                      <a:r>
                        <a:rPr sz="1100" b="0" i="1">
                          <a:solidFill>
                            <a:srgbClr val="000000"/>
                          </a:solidFill>
                          <a:latin typeface="Calibri"/>
                        </a:rPr>
                        <a:t>Israel</a:t>
                      </a:r>
                      <a:endParaRPr sz="1100"/>
                    </a:p>
                  </a:txBody>
                  <a:tcPr marL="1028700" marR="9525" marT="9525" marB="0" anchor="ctr"/>
                </a:tc>
              </a:tr>
              <a:tr h="175260">
                <a:tc>
                  <a:txBody>
                    <a:bodyPr wrap="square"/>
                    <a:lstStyle/>
                    <a:p>
                      <a:pPr algn="l"/>
                      <a:r>
                        <a:rPr sz="1100" b="0" i="1">
                          <a:solidFill>
                            <a:srgbClr val="000000"/>
                          </a:solidFill>
                          <a:latin typeface="Calibri"/>
                        </a:rPr>
                        <a:t>9.5.6.5.</a:t>
                      </a:r>
                      <a:r>
                        <a:rPr sz="700" b="0" i="1">
                          <a:solidFill>
                            <a:srgbClr val="000000"/>
                          </a:solidFill>
                          <a:latin typeface="Times New Roman"/>
                        </a:rPr>
                        <a:t>    </a:t>
                      </a:r>
                      <a:r>
                        <a:rPr sz="1100" b="0" i="1">
                          <a:solidFill>
                            <a:srgbClr val="000000"/>
                          </a:solidFill>
                          <a:latin typeface="Calibri"/>
                        </a:rPr>
                        <a:t>Rest of GCC</a:t>
                      </a:r>
                      <a:endParaRPr sz="1100"/>
                    </a:p>
                  </a:txBody>
                  <a:tcPr marL="1028700" marR="9525" marT="9525" marB="0" anchor="ctr"/>
                </a:tc>
              </a:tr>
              <a:tr h="175260">
                <a:tc>
                  <a:txBody>
                    <a:bodyPr wrap="square"/>
                    <a:lstStyle/>
                    <a:p>
                      <a:pPr algn="l"/>
                      <a:r>
                        <a:rPr sz="1100" b="0" i="1">
                          <a:solidFill>
                            <a:srgbClr val="000000"/>
                          </a:solidFill>
                          <a:latin typeface="Calibri"/>
                        </a:rPr>
                        <a:t>9.5.6.6.</a:t>
                      </a:r>
                      <a:r>
                        <a:rPr sz="700" b="0" i="1">
                          <a:solidFill>
                            <a:srgbClr val="000000"/>
                          </a:solidFill>
                          <a:latin typeface="Times New Roman"/>
                        </a:rPr>
                        <a:t>    </a:t>
                      </a:r>
                      <a:r>
                        <a:rPr sz="1100" b="0" i="1">
                          <a:solidFill>
                            <a:srgbClr val="000000"/>
                          </a:solidFill>
                          <a:latin typeface="Calibri"/>
                        </a:rPr>
                        <a:t>South Africa</a:t>
                      </a:r>
                      <a:endParaRPr sz="1100"/>
                    </a:p>
                  </a:txBody>
                  <a:tcPr marL="1028700" marR="9525" marT="9525" marB="0" anchor="ctr"/>
                </a:tc>
              </a:tr>
              <a:tr h="175260">
                <a:tc>
                  <a:txBody>
                    <a:bodyPr wrap="square"/>
                    <a:lstStyle/>
                    <a:p>
                      <a:pPr algn="l"/>
                      <a:r>
                        <a:rPr sz="1100" b="0" i="1">
                          <a:solidFill>
                            <a:srgbClr val="000000"/>
                          </a:solidFill>
                          <a:latin typeface="Calibri"/>
                        </a:rPr>
                        <a:t>9.5.6.7.</a:t>
                      </a:r>
                      <a:r>
                        <a:rPr sz="700" b="0" i="1">
                          <a:solidFill>
                            <a:srgbClr val="000000"/>
                          </a:solidFill>
                          <a:latin typeface="Times New Roman"/>
                        </a:rPr>
                        <a:t>    </a:t>
                      </a:r>
                      <a:r>
                        <a:rPr sz="1100" b="0" i="1">
                          <a:solidFill>
                            <a:srgbClr val="000000"/>
                          </a:solidFill>
                          <a:latin typeface="Calibri"/>
                        </a:rPr>
                        <a:t>Rest if MEA</a:t>
                      </a:r>
                      <a:endParaRPr sz="1100"/>
                    </a:p>
                  </a:txBody>
                  <a:tcPr marL="1028700" marR="9525" marT="9525" marB="0" anchor="ctr"/>
                </a:tc>
              </a:tr>
              <a:tr h="175260">
                <a:tc>
                  <a:txBody>
                    <a:bodyPr wrap="square"/>
                    <a:lstStyle/>
                    <a:p>
                      <a:pPr algn="l"/>
                      <a:r>
                        <a:rPr sz="1100" b="0" i="1">
                          <a:solidFill>
                            <a:srgbClr val="EE0000"/>
                          </a:solidFill>
                          <a:latin typeface="Calibri"/>
                        </a:rPr>
                        <a:t>Note: Value &amp; Volume (US$ Mn / MT) for all segments will be provided for each region/ Country</a:t>
                      </a:r>
                      <a:endParaRPr sz="1100"/>
                    </a:p>
                  </a:txBody>
                  <a:tcPr marL="9525" marR="9525" marT="9525" marB="0" anchor="ctr"/>
                </a:tc>
              </a:tr>
              <a:tr h="175260">
                <a:tc>
                  <a:txBody>
                    <a:bodyPr wrap="square"/>
                    <a:lstStyle/>
                    <a:p>
                      <a:pPr algn="l"/>
                      <a:r>
                        <a:rPr sz="1100" b="1" i="0">
                          <a:solidFill>
                            <a:srgbClr val="000000"/>
                          </a:solidFill>
                          <a:latin typeface="Calibri"/>
                        </a:rPr>
                        <a:t>10.</a:t>
                      </a:r>
                      <a:r>
                        <a:rPr sz="700" b="1" i="0">
                          <a:solidFill>
                            <a:srgbClr val="000000"/>
                          </a:solidFill>
                          <a:latin typeface="Times New Roman"/>
                        </a:rPr>
                        <a:t>    </a:t>
                      </a:r>
                      <a:r>
                        <a:rPr sz="1100" b="1" i="0">
                          <a:solidFill>
                            <a:srgbClr val="000000"/>
                          </a:solidFill>
                          <a:latin typeface="Calibri"/>
                        </a:rPr>
                        <a:t>Cross-sectional Assessment</a:t>
                      </a:r>
                      <a:endParaRPr sz="1100"/>
                    </a:p>
                  </a:txBody>
                  <a:tcPr marL="171450" marR="9525" marT="9525" marB="0" anchor="ctr"/>
                </a:tc>
              </a:tr>
              <a:tr h="175260">
                <a:tc>
                  <a:txBody>
                    <a:bodyPr wrap="square"/>
                    <a:lstStyle/>
                    <a:p>
                      <a:pPr algn="l"/>
                      <a:r>
                        <a:rPr sz="1100" b="0" i="0">
                          <a:solidFill>
                            <a:srgbClr val="0070C0"/>
                          </a:solidFill>
                          <a:latin typeface="Calibri"/>
                        </a:rPr>
                        <a:t>10.1.</a:t>
                      </a:r>
                      <a:r>
                        <a:rPr sz="700" b="0" i="0">
                          <a:solidFill>
                            <a:srgbClr val="0070C0"/>
                          </a:solidFill>
                          <a:latin typeface="Times New Roman"/>
                        </a:rPr>
                        <a:t>  </a:t>
                      </a:r>
                      <a:r>
                        <a:rPr sz="1100" b="0" i="0">
                          <a:solidFill>
                            <a:srgbClr val="0070C0"/>
                          </a:solidFill>
                          <a:latin typeface="Calibri"/>
                        </a:rPr>
                        <a:t>Product Type X Source</a:t>
                      </a:r>
                      <a:endParaRPr sz="1100"/>
                    </a:p>
                  </a:txBody>
                  <a:tcPr marL="428625" marR="9525" marT="9525" marB="0" anchor="ctr"/>
                </a:tc>
              </a:tr>
              <a:tr h="175260">
                <a:tc>
                  <a:txBody>
                    <a:bodyPr wrap="square"/>
                    <a:lstStyle/>
                    <a:p>
                      <a:pPr algn="l"/>
                      <a:r>
                        <a:rPr sz="1100" b="0" i="0">
                          <a:solidFill>
                            <a:srgbClr val="0070C0"/>
                          </a:solidFill>
                          <a:latin typeface="Calibri"/>
                        </a:rPr>
                        <a:t>10.2.</a:t>
                      </a:r>
                      <a:r>
                        <a:rPr sz="700" b="0" i="0">
                          <a:solidFill>
                            <a:srgbClr val="0070C0"/>
                          </a:solidFill>
                          <a:latin typeface="Times New Roman"/>
                        </a:rPr>
                        <a:t>  </a:t>
                      </a:r>
                      <a:r>
                        <a:rPr sz="1100" b="0" i="0">
                          <a:solidFill>
                            <a:srgbClr val="0070C0"/>
                          </a:solidFill>
                          <a:latin typeface="Calibri"/>
                        </a:rPr>
                        <a:t>Product Type X Application</a:t>
                      </a:r>
                      <a:endParaRPr sz="1100"/>
                    </a:p>
                  </a:txBody>
                  <a:tcPr marL="428625" marR="9525" marT="9525" marB="0" anchor="ctr"/>
                </a:tc>
              </a:tr>
              <a:tr h="175260">
                <a:tc>
                  <a:txBody>
                    <a:bodyPr wrap="square"/>
                    <a:lstStyle/>
                    <a:p>
                      <a:pPr algn="l"/>
                      <a:r>
                        <a:rPr sz="1100" b="0" i="1">
                          <a:solidFill>
                            <a:srgbClr val="EE0000"/>
                          </a:solidFill>
                          <a:latin typeface="Calibri"/>
                        </a:rPr>
                        <a:t>Note: Cross Sectional Assessment shall be provided on custom request</a:t>
                      </a:r>
                      <a:endParaRPr sz="1100"/>
                    </a:p>
                  </a:txBody>
                  <a:tcPr marL="9525" marR="9525" marT="9525" marB="0" anchor="ctr"/>
                </a:tc>
              </a:tr>
              <a:tr h="175260">
                <a:tc>
                  <a:txBody>
                    <a:bodyPr wrap="square"/>
                    <a:lstStyle/>
                    <a:p>
                      <a:pPr algn="l"/>
                      <a:r>
                        <a:rPr sz="1100" b="1" i="0">
                          <a:solidFill>
                            <a:srgbClr val="000000"/>
                          </a:solidFill>
                          <a:latin typeface="Calibri"/>
                        </a:rPr>
                        <a:t>Section 2: Regional and Country Market Outlook</a:t>
                      </a:r>
                      <a:endParaRPr sz="1100"/>
                    </a:p>
                  </a:txBody>
                  <a:tcPr marL="9525" marR="9525" marT="9525" marB="0" anchor="ctr"/>
                </a:tc>
              </a:tr>
              <a:tr h="175260">
                <a:tc>
                  <a:txBody>
                    <a:bodyPr wrap="square"/>
                    <a:lstStyle/>
                    <a:p>
                      <a:pPr algn="l"/>
                      <a:r>
                        <a:rPr sz="1100" b="1" i="0">
                          <a:solidFill>
                            <a:srgbClr val="000000"/>
                          </a:solidFill>
                          <a:latin typeface="Calibri"/>
                        </a:rPr>
                        <a:t>11.</a:t>
                      </a:r>
                      <a:r>
                        <a:rPr sz="700" b="1" i="0">
                          <a:solidFill>
                            <a:srgbClr val="000000"/>
                          </a:solidFill>
                          <a:latin typeface="Times New Roman"/>
                        </a:rPr>
                        <a:t>    </a:t>
                      </a:r>
                      <a:r>
                        <a:rPr sz="1100" b="1" i="0">
                          <a:solidFill>
                            <a:srgbClr val="000000"/>
                          </a:solidFill>
                          <a:latin typeface="Calibri"/>
                        </a:rPr>
                        <a:t>North America Market Size (Value &amp; Volume) 2021–2036</a:t>
                      </a:r>
                      <a:endParaRPr sz="1100"/>
                    </a:p>
                  </a:txBody>
                  <a:tcPr marL="171450" marR="9525" marT="9525" marB="0" anchor="ctr"/>
                </a:tc>
              </a:tr>
              <a:tr h="175260">
                <a:tc>
                  <a:txBody>
                    <a:bodyPr wrap="square"/>
                    <a:lstStyle/>
                    <a:p>
                      <a:pPr algn="l"/>
                      <a:r>
                        <a:rPr sz="1100" b="0" i="0">
                          <a:solidFill>
                            <a:srgbClr val="0070C0"/>
                          </a:solidFill>
                          <a:latin typeface="Calibri"/>
                        </a:rPr>
                        <a:t>11.1.</a:t>
                      </a:r>
                      <a:r>
                        <a:rPr sz="700" b="0" i="0">
                          <a:solidFill>
                            <a:srgbClr val="0070C0"/>
                          </a:solidFill>
                          <a:latin typeface="Times New Roman"/>
                        </a:rPr>
                        <a:t>  </a:t>
                      </a:r>
                      <a:r>
                        <a:rPr sz="1100" b="0" i="0">
                          <a:solidFill>
                            <a:srgbClr val="0070C0"/>
                          </a:solidFill>
                          <a:latin typeface="Calibri"/>
                        </a:rPr>
                        <a:t>2021–2025: Historical Analysis</a:t>
                      </a:r>
                      <a:endParaRPr sz="1100"/>
                    </a:p>
                  </a:txBody>
                  <a:tcPr marL="428625" marR="9525" marT="9525" marB="0" anchor="ctr"/>
                </a:tc>
              </a:tr>
              <a:tr h="175260">
                <a:tc>
                  <a:txBody>
                    <a:bodyPr wrap="square"/>
                    <a:lstStyle/>
                    <a:p>
                      <a:pPr algn="l"/>
                      <a:r>
                        <a:rPr sz="1100" b="0" i="0">
                          <a:solidFill>
                            <a:srgbClr val="0070C0"/>
                          </a:solidFill>
                          <a:latin typeface="Calibri"/>
                        </a:rPr>
                        <a:t>11.2.</a:t>
                      </a:r>
                      <a:r>
                        <a:rPr sz="700" b="0" i="0">
                          <a:solidFill>
                            <a:srgbClr val="0070C0"/>
                          </a:solidFill>
                          <a:latin typeface="Times New Roman"/>
                        </a:rPr>
                        <a:t>  </a:t>
                      </a:r>
                      <a:r>
                        <a:rPr sz="1100" b="0" i="0">
                          <a:solidFill>
                            <a:srgbClr val="0070C0"/>
                          </a:solidFill>
                          <a:latin typeface="Calibri"/>
                        </a:rPr>
                        <a:t>2026–2036: Forecast Outlook</a:t>
                      </a:r>
                      <a:endParaRPr sz="1100"/>
                    </a:p>
                  </a:txBody>
                  <a:tcPr marL="428625" marR="9525" marT="9525" marB="0" anchor="ctr"/>
                </a:tc>
              </a:tr>
              <a:tr h="175260">
                <a:tc>
                  <a:txBody>
                    <a:bodyPr wrap="square"/>
                    <a:lstStyle/>
                    <a:p>
                      <a:pPr algn="l"/>
                      <a:r>
                        <a:rPr sz="1100" b="0" i="0">
                          <a:solidFill>
                            <a:srgbClr val="0070C0"/>
                          </a:solidFill>
                          <a:latin typeface="Calibri"/>
                        </a:rPr>
                        <a:t>11.3.</a:t>
                      </a:r>
                      <a:r>
                        <a:rPr sz="700" b="0" i="0">
                          <a:solidFill>
                            <a:srgbClr val="0070C0"/>
                          </a:solidFill>
                          <a:latin typeface="Times New Roman"/>
                        </a:rPr>
                        <a:t>  </a:t>
                      </a:r>
                      <a:r>
                        <a:rPr sz="1100" b="0" i="0">
                          <a:solidFill>
                            <a:srgbClr val="0070C0"/>
                          </a:solidFill>
                          <a:latin typeface="Calibri"/>
                        </a:rPr>
                        <a:t>Y-o-Y Growth Trend Analysis</a:t>
                      </a:r>
                      <a:endParaRPr sz="1100"/>
                    </a:p>
                  </a:txBody>
                  <a:tcPr marL="428625" marR="9525" marT="9525" marB="0" anchor="ctr"/>
                </a:tc>
              </a:tr>
              <a:tr h="175260">
                <a:tc>
                  <a:txBody>
                    <a:bodyPr wrap="square"/>
                    <a:lstStyle/>
                    <a:p>
                      <a:pPr algn="l"/>
                      <a:r>
                        <a:rPr sz="1100" b="0" i="0">
                          <a:solidFill>
                            <a:srgbClr val="0070C0"/>
                          </a:solidFill>
                          <a:latin typeface="Calibri"/>
                        </a:rPr>
                        <a:t>11.4.</a:t>
                      </a:r>
                      <a:r>
                        <a:rPr sz="700" b="0" i="0">
                          <a:solidFill>
                            <a:srgbClr val="0070C0"/>
                          </a:solidFill>
                          <a:latin typeface="Times New Roman"/>
                        </a:rPr>
                        <a:t>  </a:t>
                      </a:r>
                      <a:r>
                        <a:rPr sz="1100" b="0" i="0">
                          <a:solidFill>
                            <a:srgbClr val="0070C0"/>
                          </a:solidFill>
                          <a:latin typeface="Calibri"/>
                        </a:rPr>
                        <a:t>Absolute $ Opportunity Analysis</a:t>
                      </a:r>
                      <a:endParaRPr sz="1100"/>
                    </a:p>
                  </a:txBody>
                  <a:tcPr marL="428625" marR="9525" marT="9525" marB="0" anchor="ctr"/>
                </a:tc>
              </a:tr>
              <a:tr h="175260">
                <a:tc>
                  <a:txBody>
                    <a:bodyPr wrap="square"/>
                    <a:lstStyle/>
                    <a:p>
                      <a:pPr algn="l"/>
                      <a:r>
                        <a:rPr sz="1100" b="0" i="0">
                          <a:solidFill>
                            <a:srgbClr val="000000"/>
                          </a:solidFill>
                          <a:latin typeface="Calibri"/>
                        </a:rPr>
                        <a:t>11.4.1.</a:t>
                      </a:r>
                      <a:r>
                        <a:rPr sz="700" b="0" i="0">
                          <a:solidFill>
                            <a:srgbClr val="000000"/>
                          </a:solidFill>
                          <a:latin typeface="Times New Roman"/>
                        </a:rPr>
                        <a:t> </a:t>
                      </a:r>
                      <a:r>
                        <a:rPr sz="1100" b="0" i="0">
                          <a:solidFill>
                            <a:srgbClr val="000000"/>
                          </a:solidFill>
                          <a:latin typeface="Calibri"/>
                        </a:rPr>
                        <a:t>By Product Type</a:t>
                      </a:r>
                      <a:endParaRPr sz="1100"/>
                    </a:p>
                  </a:txBody>
                  <a:tcPr marL="771525" marR="9525" marT="9525" marB="0" anchor="ctr"/>
                </a:tc>
              </a:tr>
              <a:tr h="175260">
                <a:tc>
                  <a:txBody>
                    <a:bodyPr wrap="square"/>
                    <a:lstStyle/>
                    <a:p>
                      <a:pPr algn="l"/>
                      <a:r>
                        <a:rPr sz="1100" b="0" i="0">
                          <a:solidFill>
                            <a:srgbClr val="000000"/>
                          </a:solidFill>
                          <a:latin typeface="Calibri"/>
                        </a:rPr>
                        <a:t>11.4.2.</a:t>
                      </a:r>
                      <a:r>
                        <a:rPr sz="700" b="0" i="0">
                          <a:solidFill>
                            <a:srgbClr val="000000"/>
                          </a:solidFill>
                          <a:latin typeface="Times New Roman"/>
                        </a:rPr>
                        <a:t> </a:t>
                      </a:r>
                      <a:r>
                        <a:rPr sz="1100" b="0" i="0">
                          <a:solidFill>
                            <a:srgbClr val="000000"/>
                          </a:solidFill>
                          <a:latin typeface="Calibri"/>
                        </a:rPr>
                        <a:t>By Extraction / Processing Method</a:t>
                      </a:r>
                      <a:endParaRPr sz="1100"/>
                    </a:p>
                  </a:txBody>
                  <a:tcPr marL="771525" marR="9525" marT="9525" marB="0" anchor="ctr"/>
                </a:tc>
              </a:tr>
              <a:tr h="175260">
                <a:tc>
                  <a:txBody>
                    <a:bodyPr wrap="square"/>
                    <a:lstStyle/>
                    <a:p>
                      <a:pPr algn="l"/>
                      <a:r>
                        <a:rPr sz="1100" b="0" i="0">
                          <a:solidFill>
                            <a:srgbClr val="000000"/>
                          </a:solidFill>
                          <a:latin typeface="Calibri"/>
                        </a:rPr>
                        <a:t>11.4.3.</a:t>
                      </a:r>
                      <a:r>
                        <a:rPr sz="700" b="0" i="0">
                          <a:solidFill>
                            <a:srgbClr val="000000"/>
                          </a:solidFill>
                          <a:latin typeface="Times New Roman"/>
                        </a:rPr>
                        <a:t> </a:t>
                      </a:r>
                      <a:r>
                        <a:rPr sz="1100" b="0" i="0">
                          <a:solidFill>
                            <a:srgbClr val="000000"/>
                          </a:solidFill>
                          <a:latin typeface="Calibri"/>
                        </a:rPr>
                        <a:t>By Source</a:t>
                      </a:r>
                      <a:endParaRPr sz="1100"/>
                    </a:p>
                  </a:txBody>
                  <a:tcPr marL="771525" marR="9525" marT="9525" marB="0" anchor="ctr"/>
                </a:tc>
              </a:tr>
              <a:tr h="175260">
                <a:tc>
                  <a:txBody>
                    <a:bodyPr wrap="square"/>
                    <a:lstStyle/>
                    <a:p>
                      <a:pPr algn="l"/>
                      <a:r>
                        <a:rPr sz="1100" b="0" i="0">
                          <a:solidFill>
                            <a:srgbClr val="000000"/>
                          </a:solidFill>
                          <a:latin typeface="Calibri"/>
                        </a:rPr>
                        <a:t>11.4.4.</a:t>
                      </a:r>
                      <a:r>
                        <a:rPr sz="700" b="0" i="0">
                          <a:solidFill>
                            <a:srgbClr val="000000"/>
                          </a:solidFill>
                          <a:latin typeface="Times New Roman"/>
                        </a:rPr>
                        <a:t> </a:t>
                      </a:r>
                      <a:r>
                        <a:rPr sz="1100" b="0" i="0">
                          <a:solidFill>
                            <a:srgbClr val="000000"/>
                          </a:solidFill>
                          <a:latin typeface="Calibri"/>
                        </a:rPr>
                        <a:t>By Form</a:t>
                      </a:r>
                      <a:endParaRPr sz="1100"/>
                    </a:p>
                  </a:txBody>
                  <a:tcPr marL="771525" marR="9525" marT="9525" marB="0" anchor="ctr"/>
                </a:tc>
              </a:tr>
              <a:tr h="175260">
                <a:tc>
                  <a:txBody>
                    <a:bodyPr wrap="square"/>
                    <a:lstStyle/>
                    <a:p>
                      <a:pPr algn="l"/>
                      <a:r>
                        <a:rPr sz="1100" b="0" i="0">
                          <a:solidFill>
                            <a:srgbClr val="000000"/>
                          </a:solidFill>
                          <a:latin typeface="Calibri"/>
                        </a:rPr>
                        <a:t>11.4.5.</a:t>
                      </a:r>
                      <a:r>
                        <a:rPr sz="700" b="0" i="0">
                          <a:solidFill>
                            <a:srgbClr val="000000"/>
                          </a:solidFill>
                          <a:latin typeface="Times New Roman"/>
                        </a:rPr>
                        <a:t> </a:t>
                      </a:r>
                      <a:r>
                        <a:rPr sz="1100" b="0" i="0">
                          <a:solidFill>
                            <a:srgbClr val="000000"/>
                          </a:solidFill>
                          <a:latin typeface="Calibri"/>
                        </a:rPr>
                        <a:t>By Application</a:t>
                      </a:r>
                      <a:endParaRPr sz="1100"/>
                    </a:p>
                  </a:txBody>
                  <a:tcPr marL="771525" marR="9525" marT="9525" marB="0" anchor="ctr"/>
                </a:tc>
              </a:tr>
              <a:tr h="175260">
                <a:tc>
                  <a:txBody>
                    <a:bodyPr wrap="square"/>
                    <a:lstStyle/>
                    <a:p>
                      <a:pPr algn="l"/>
                      <a:r>
                        <a:rPr sz="1100" b="0" i="0">
                          <a:solidFill>
                            <a:srgbClr val="000000"/>
                          </a:solidFill>
                          <a:latin typeface="Calibri"/>
                        </a:rPr>
                        <a:t>11.4.6.</a:t>
                      </a:r>
                      <a:r>
                        <a:rPr sz="700" b="0" i="0">
                          <a:solidFill>
                            <a:srgbClr val="000000"/>
                          </a:solidFill>
                          <a:latin typeface="Times New Roman"/>
                        </a:rPr>
                        <a:t> </a:t>
                      </a:r>
                      <a:r>
                        <a:rPr sz="1100" b="0" i="0">
                          <a:solidFill>
                            <a:srgbClr val="000000"/>
                          </a:solidFill>
                          <a:latin typeface="Calibri"/>
                        </a:rPr>
                        <a:t>By Sales Channel</a:t>
                      </a:r>
                      <a:endParaRPr sz="1100"/>
                    </a:p>
                  </a:txBody>
                  <a:tcPr marL="771525" marR="9525" marT="9525" marB="0" anchor="ctr"/>
                </a:tc>
              </a:tr>
              <a:tr h="175260">
                <a:tc>
                  <a:txBody>
                    <a:bodyPr wrap="square"/>
                    <a:lstStyle/>
                    <a:p>
                      <a:pPr algn="l"/>
                      <a:r>
                        <a:rPr sz="1100" b="0" i="0">
                          <a:solidFill>
                            <a:srgbClr val="000000"/>
                          </a:solidFill>
                          <a:latin typeface="Calibri"/>
                        </a:rPr>
                        <a:t>11.4.7.</a:t>
                      </a:r>
                      <a:r>
                        <a:rPr sz="700" b="0" i="0">
                          <a:solidFill>
                            <a:srgbClr val="000000"/>
                          </a:solidFill>
                          <a:latin typeface="Times New Roman"/>
                        </a:rPr>
                        <a:t> </a:t>
                      </a:r>
                      <a:r>
                        <a:rPr sz="1100" b="0" i="0">
                          <a:solidFill>
                            <a:srgbClr val="000000"/>
                          </a:solidFill>
                          <a:latin typeface="Calibri"/>
                        </a:rPr>
                        <a:t>By Country</a:t>
                      </a:r>
                      <a:endParaRPr sz="1100"/>
                    </a:p>
                  </a:txBody>
                  <a:tcPr marL="771525" marR="9525" marT="9525" marB="0" anchor="ctr"/>
                </a:tc>
              </a:tr>
            </a:tbl>
          </a:graphicData>
        </a:graphic>
      </p:graphicFrame>
      <p:graphicFrame>
        <p:nvGraphicFramePr>
          <p:cNvPr id="7" name="TMR Contents Table"/>
          <p:cNvGraphicFramePr>
            <a:graphicFrameLocks noGrp="1"/>
          </p:cNvGraphicFramePr>
          <p:nvPr/>
        </p:nvGraphicFramePr>
        <p:xfrm>
          <a:off x="6172200" y="981075"/>
          <a:ext cx="5876925" cy="5257800"/>
        </p:xfrm>
        <a:graphic>
          <a:graphicData uri="http://schemas.openxmlformats.org/drawingml/2006/table">
            <a:tbl>
              <a:tblPr>
                <a:tableStyleId>{3B4B98B0-60AC-42C2-AFA5-B58CD77FA1E5}</a:tableStyleId>
              </a:tblPr>
              <a:tblGrid>
                <a:gridCol w="5876925"/>
              </a:tblGrid>
              <a:tr h="175260">
                <a:tc>
                  <a:txBody>
                    <a:bodyPr wrap="square"/>
                    <a:lstStyle/>
                    <a:p>
                      <a:pPr algn="l"/>
                      <a:r>
                        <a:rPr sz="1100" b="1" i="0">
                          <a:solidFill>
                            <a:srgbClr val="000000"/>
                          </a:solidFill>
                          <a:latin typeface="Calibri"/>
                        </a:rPr>
                        <a:t>12.</a:t>
                      </a:r>
                      <a:r>
                        <a:rPr sz="700" b="1" i="0">
                          <a:solidFill>
                            <a:srgbClr val="000000"/>
                          </a:solidFill>
                          <a:latin typeface="Times New Roman"/>
                        </a:rPr>
                        <a:t>    </a:t>
                      </a:r>
                      <a:r>
                        <a:rPr sz="1100" b="1" i="0">
                          <a:solidFill>
                            <a:srgbClr val="000000"/>
                          </a:solidFill>
                          <a:latin typeface="Calibri"/>
                        </a:rPr>
                        <a:t>Latin America Market Size (Value &amp; Volume) 2021–2036</a:t>
                      </a:r>
                      <a:endParaRPr sz="1100"/>
                    </a:p>
                  </a:txBody>
                  <a:tcPr marL="171450" marR="9525" marT="9525" marB="0" anchor="ctr"/>
                </a:tc>
              </a:tr>
              <a:tr h="175260">
                <a:tc>
                  <a:txBody>
                    <a:bodyPr wrap="square"/>
                    <a:lstStyle/>
                    <a:p>
                      <a:pPr algn="l"/>
                      <a:r>
                        <a:rPr sz="1100" b="0" i="0">
                          <a:solidFill>
                            <a:srgbClr val="0070C0"/>
                          </a:solidFill>
                          <a:latin typeface="Calibri"/>
                        </a:rPr>
                        <a:t>12.1.</a:t>
                      </a:r>
                      <a:r>
                        <a:rPr sz="700" b="0" i="0">
                          <a:solidFill>
                            <a:srgbClr val="0070C0"/>
                          </a:solidFill>
                          <a:latin typeface="Times New Roman"/>
                        </a:rPr>
                        <a:t>  </a:t>
                      </a:r>
                      <a:r>
                        <a:rPr sz="1100" b="0" i="0">
                          <a:solidFill>
                            <a:srgbClr val="0070C0"/>
                          </a:solidFill>
                          <a:latin typeface="Calibri"/>
                        </a:rPr>
                        <a:t>2021–2025: Historical Analysis</a:t>
                      </a:r>
                      <a:endParaRPr sz="1100"/>
                    </a:p>
                  </a:txBody>
                  <a:tcPr marL="428625" marR="9525" marT="9525" marB="0" anchor="ctr"/>
                </a:tc>
              </a:tr>
              <a:tr h="175260">
                <a:tc>
                  <a:txBody>
                    <a:bodyPr wrap="square"/>
                    <a:lstStyle/>
                    <a:p>
                      <a:pPr algn="l"/>
                      <a:r>
                        <a:rPr sz="1100" b="0" i="0">
                          <a:solidFill>
                            <a:srgbClr val="0070C0"/>
                          </a:solidFill>
                          <a:latin typeface="Calibri"/>
                        </a:rPr>
                        <a:t>12.2.</a:t>
                      </a:r>
                      <a:r>
                        <a:rPr sz="700" b="0" i="0">
                          <a:solidFill>
                            <a:srgbClr val="0070C0"/>
                          </a:solidFill>
                          <a:latin typeface="Times New Roman"/>
                        </a:rPr>
                        <a:t>  </a:t>
                      </a:r>
                      <a:r>
                        <a:rPr sz="1100" b="0" i="0">
                          <a:solidFill>
                            <a:srgbClr val="0070C0"/>
                          </a:solidFill>
                          <a:latin typeface="Calibri"/>
                        </a:rPr>
                        <a:t>2026–2036: Forecast Outlook</a:t>
                      </a:r>
                      <a:endParaRPr sz="1100"/>
                    </a:p>
                  </a:txBody>
                  <a:tcPr marL="428625" marR="9525" marT="9525" marB="0" anchor="ctr"/>
                </a:tc>
              </a:tr>
              <a:tr h="175260">
                <a:tc>
                  <a:txBody>
                    <a:bodyPr wrap="square"/>
                    <a:lstStyle/>
                    <a:p>
                      <a:pPr algn="l"/>
                      <a:r>
                        <a:rPr sz="1100" b="0" i="0">
                          <a:solidFill>
                            <a:srgbClr val="0070C0"/>
                          </a:solidFill>
                          <a:latin typeface="Calibri"/>
                        </a:rPr>
                        <a:t>12.3.</a:t>
                      </a:r>
                      <a:r>
                        <a:rPr sz="700" b="0" i="0">
                          <a:solidFill>
                            <a:srgbClr val="0070C0"/>
                          </a:solidFill>
                          <a:latin typeface="Times New Roman"/>
                        </a:rPr>
                        <a:t>  </a:t>
                      </a:r>
                      <a:r>
                        <a:rPr sz="1100" b="0" i="0">
                          <a:solidFill>
                            <a:srgbClr val="0070C0"/>
                          </a:solidFill>
                          <a:latin typeface="Calibri"/>
                        </a:rPr>
                        <a:t>Y-o-Y Growth Trend Analysis</a:t>
                      </a:r>
                      <a:endParaRPr sz="1100"/>
                    </a:p>
                  </a:txBody>
                  <a:tcPr marL="428625" marR="9525" marT="9525" marB="0" anchor="ctr"/>
                </a:tc>
              </a:tr>
              <a:tr h="175260">
                <a:tc>
                  <a:txBody>
                    <a:bodyPr wrap="square"/>
                    <a:lstStyle/>
                    <a:p>
                      <a:pPr algn="l"/>
                      <a:r>
                        <a:rPr sz="1100" b="0" i="0">
                          <a:solidFill>
                            <a:srgbClr val="0070C0"/>
                          </a:solidFill>
                          <a:latin typeface="Calibri"/>
                        </a:rPr>
                        <a:t>12.4.</a:t>
                      </a:r>
                      <a:r>
                        <a:rPr sz="700" b="0" i="0">
                          <a:solidFill>
                            <a:srgbClr val="0070C0"/>
                          </a:solidFill>
                          <a:latin typeface="Times New Roman"/>
                        </a:rPr>
                        <a:t>  </a:t>
                      </a:r>
                      <a:r>
                        <a:rPr sz="1100" b="0" i="0">
                          <a:solidFill>
                            <a:srgbClr val="0070C0"/>
                          </a:solidFill>
                          <a:latin typeface="Calibri"/>
                        </a:rPr>
                        <a:t>Absolute $ Opportunity Analysis</a:t>
                      </a:r>
                      <a:endParaRPr sz="1100"/>
                    </a:p>
                  </a:txBody>
                  <a:tcPr marL="428625" marR="9525" marT="9525" marB="0" anchor="ctr"/>
                </a:tc>
              </a:tr>
              <a:tr h="175260">
                <a:tc>
                  <a:txBody>
                    <a:bodyPr wrap="square"/>
                    <a:lstStyle/>
                    <a:p>
                      <a:pPr algn="l"/>
                      <a:r>
                        <a:rPr sz="1100" b="0" i="0">
                          <a:solidFill>
                            <a:srgbClr val="000000"/>
                          </a:solidFill>
                          <a:latin typeface="Calibri"/>
                        </a:rPr>
                        <a:t>12.4.1.</a:t>
                      </a:r>
                      <a:r>
                        <a:rPr sz="700" b="0" i="0">
                          <a:solidFill>
                            <a:srgbClr val="000000"/>
                          </a:solidFill>
                          <a:latin typeface="Times New Roman"/>
                        </a:rPr>
                        <a:t> </a:t>
                      </a:r>
                      <a:r>
                        <a:rPr sz="1100" b="0" i="0">
                          <a:solidFill>
                            <a:srgbClr val="000000"/>
                          </a:solidFill>
                          <a:latin typeface="Calibri"/>
                        </a:rPr>
                        <a:t>By Product Type</a:t>
                      </a:r>
                      <a:endParaRPr sz="1100"/>
                    </a:p>
                  </a:txBody>
                  <a:tcPr marL="771525" marR="9525" marT="9525" marB="0" anchor="ctr"/>
                </a:tc>
              </a:tr>
              <a:tr h="175260">
                <a:tc>
                  <a:txBody>
                    <a:bodyPr wrap="square"/>
                    <a:lstStyle/>
                    <a:p>
                      <a:pPr algn="l"/>
                      <a:r>
                        <a:rPr sz="1100" b="0" i="0">
                          <a:solidFill>
                            <a:srgbClr val="000000"/>
                          </a:solidFill>
                          <a:latin typeface="Calibri"/>
                        </a:rPr>
                        <a:t>12.4.2.</a:t>
                      </a:r>
                      <a:r>
                        <a:rPr sz="700" b="0" i="0">
                          <a:solidFill>
                            <a:srgbClr val="000000"/>
                          </a:solidFill>
                          <a:latin typeface="Times New Roman"/>
                        </a:rPr>
                        <a:t> </a:t>
                      </a:r>
                      <a:r>
                        <a:rPr sz="1100" b="0" i="0">
                          <a:solidFill>
                            <a:srgbClr val="000000"/>
                          </a:solidFill>
                          <a:latin typeface="Calibri"/>
                        </a:rPr>
                        <a:t>By Extraction / Processing Method</a:t>
                      </a:r>
                      <a:endParaRPr sz="1100"/>
                    </a:p>
                  </a:txBody>
                  <a:tcPr marL="771525" marR="9525" marT="9525" marB="0" anchor="ctr"/>
                </a:tc>
              </a:tr>
              <a:tr h="175260">
                <a:tc>
                  <a:txBody>
                    <a:bodyPr wrap="square"/>
                    <a:lstStyle/>
                    <a:p>
                      <a:pPr algn="l"/>
                      <a:r>
                        <a:rPr sz="1100" b="0" i="0">
                          <a:solidFill>
                            <a:srgbClr val="000000"/>
                          </a:solidFill>
                          <a:latin typeface="Calibri"/>
                        </a:rPr>
                        <a:t>12.4.3.</a:t>
                      </a:r>
                      <a:r>
                        <a:rPr sz="700" b="0" i="0">
                          <a:solidFill>
                            <a:srgbClr val="000000"/>
                          </a:solidFill>
                          <a:latin typeface="Times New Roman"/>
                        </a:rPr>
                        <a:t> </a:t>
                      </a:r>
                      <a:r>
                        <a:rPr sz="1100" b="0" i="0">
                          <a:solidFill>
                            <a:srgbClr val="000000"/>
                          </a:solidFill>
                          <a:latin typeface="Calibri"/>
                        </a:rPr>
                        <a:t>By Source</a:t>
                      </a:r>
                      <a:endParaRPr sz="1100"/>
                    </a:p>
                  </a:txBody>
                  <a:tcPr marL="771525" marR="9525" marT="9525" marB="0" anchor="ctr"/>
                </a:tc>
              </a:tr>
              <a:tr h="175260">
                <a:tc>
                  <a:txBody>
                    <a:bodyPr wrap="square"/>
                    <a:lstStyle/>
                    <a:p>
                      <a:pPr algn="l"/>
                      <a:r>
                        <a:rPr sz="1100" b="0" i="0">
                          <a:solidFill>
                            <a:srgbClr val="000000"/>
                          </a:solidFill>
                          <a:latin typeface="Calibri"/>
                        </a:rPr>
                        <a:t>12.4.4.</a:t>
                      </a:r>
                      <a:r>
                        <a:rPr sz="700" b="0" i="0">
                          <a:solidFill>
                            <a:srgbClr val="000000"/>
                          </a:solidFill>
                          <a:latin typeface="Times New Roman"/>
                        </a:rPr>
                        <a:t> </a:t>
                      </a:r>
                      <a:r>
                        <a:rPr sz="1100" b="0" i="0">
                          <a:solidFill>
                            <a:srgbClr val="000000"/>
                          </a:solidFill>
                          <a:latin typeface="Calibri"/>
                        </a:rPr>
                        <a:t>By Form</a:t>
                      </a:r>
                      <a:endParaRPr sz="1100"/>
                    </a:p>
                  </a:txBody>
                  <a:tcPr marL="771525" marR="9525" marT="9525" marB="0" anchor="ctr"/>
                </a:tc>
              </a:tr>
              <a:tr h="175260">
                <a:tc>
                  <a:txBody>
                    <a:bodyPr wrap="square"/>
                    <a:lstStyle/>
                    <a:p>
                      <a:pPr algn="l"/>
                      <a:r>
                        <a:rPr sz="1100" b="0" i="0">
                          <a:solidFill>
                            <a:srgbClr val="000000"/>
                          </a:solidFill>
                          <a:latin typeface="Calibri"/>
                        </a:rPr>
                        <a:t>12.4.5.</a:t>
                      </a:r>
                      <a:r>
                        <a:rPr sz="700" b="0" i="0">
                          <a:solidFill>
                            <a:srgbClr val="000000"/>
                          </a:solidFill>
                          <a:latin typeface="Times New Roman"/>
                        </a:rPr>
                        <a:t> </a:t>
                      </a:r>
                      <a:r>
                        <a:rPr sz="1100" b="0" i="0">
                          <a:solidFill>
                            <a:srgbClr val="000000"/>
                          </a:solidFill>
                          <a:latin typeface="Calibri"/>
                        </a:rPr>
                        <a:t>By Application</a:t>
                      </a:r>
                      <a:endParaRPr sz="1100"/>
                    </a:p>
                  </a:txBody>
                  <a:tcPr marL="771525" marR="9525" marT="9525" marB="0" anchor="ctr"/>
                </a:tc>
              </a:tr>
              <a:tr h="175260">
                <a:tc>
                  <a:txBody>
                    <a:bodyPr wrap="square"/>
                    <a:lstStyle/>
                    <a:p>
                      <a:pPr algn="l"/>
                      <a:r>
                        <a:rPr sz="1100" b="0" i="0">
                          <a:solidFill>
                            <a:srgbClr val="000000"/>
                          </a:solidFill>
                          <a:latin typeface="Calibri"/>
                        </a:rPr>
                        <a:t>12.4.6.</a:t>
                      </a:r>
                      <a:r>
                        <a:rPr sz="700" b="0" i="0">
                          <a:solidFill>
                            <a:srgbClr val="000000"/>
                          </a:solidFill>
                          <a:latin typeface="Times New Roman"/>
                        </a:rPr>
                        <a:t> </a:t>
                      </a:r>
                      <a:r>
                        <a:rPr sz="1100" b="0" i="0">
                          <a:solidFill>
                            <a:srgbClr val="000000"/>
                          </a:solidFill>
                          <a:latin typeface="Calibri"/>
                        </a:rPr>
                        <a:t>By Sales Channel</a:t>
                      </a:r>
                      <a:endParaRPr sz="1100"/>
                    </a:p>
                  </a:txBody>
                  <a:tcPr marL="771525" marR="9525" marT="9525" marB="0" anchor="ctr"/>
                </a:tc>
              </a:tr>
              <a:tr h="175260">
                <a:tc>
                  <a:txBody>
                    <a:bodyPr wrap="square"/>
                    <a:lstStyle/>
                    <a:p>
                      <a:pPr algn="l"/>
                      <a:r>
                        <a:rPr sz="1100" b="0" i="0">
                          <a:solidFill>
                            <a:srgbClr val="000000"/>
                          </a:solidFill>
                          <a:latin typeface="Calibri"/>
                        </a:rPr>
                        <a:t>12.4.7.</a:t>
                      </a:r>
                      <a:r>
                        <a:rPr sz="700" b="0" i="0">
                          <a:solidFill>
                            <a:srgbClr val="000000"/>
                          </a:solidFill>
                          <a:latin typeface="Times New Roman"/>
                        </a:rPr>
                        <a:t> </a:t>
                      </a:r>
                      <a:r>
                        <a:rPr sz="1100" b="0" i="0">
                          <a:solidFill>
                            <a:srgbClr val="000000"/>
                          </a:solidFill>
                          <a:latin typeface="Calibri"/>
                        </a:rPr>
                        <a:t>By Country</a:t>
                      </a:r>
                      <a:endParaRPr sz="1100"/>
                    </a:p>
                  </a:txBody>
                  <a:tcPr marL="771525" marR="9525" marT="9525" marB="0" anchor="ctr"/>
                </a:tc>
              </a:tr>
              <a:tr h="175260">
                <a:tc>
                  <a:txBody>
                    <a:bodyPr wrap="square"/>
                    <a:lstStyle/>
                    <a:p>
                      <a:pPr algn="l"/>
                      <a:r>
                        <a:rPr sz="1100" b="1" i="0">
                          <a:solidFill>
                            <a:srgbClr val="000000"/>
                          </a:solidFill>
                          <a:latin typeface="Calibri"/>
                        </a:rPr>
                        <a:t>13.</a:t>
                      </a:r>
                      <a:r>
                        <a:rPr sz="700" b="1" i="0">
                          <a:solidFill>
                            <a:srgbClr val="000000"/>
                          </a:solidFill>
                          <a:latin typeface="Times New Roman"/>
                        </a:rPr>
                        <a:t>    </a:t>
                      </a:r>
                      <a:r>
                        <a:rPr sz="1100" b="1" i="0">
                          <a:solidFill>
                            <a:srgbClr val="000000"/>
                          </a:solidFill>
                          <a:latin typeface="Calibri"/>
                        </a:rPr>
                        <a:t>Europe Market Size (Value &amp; Volume) 2021–2036</a:t>
                      </a:r>
                      <a:endParaRPr sz="1100"/>
                    </a:p>
                  </a:txBody>
                  <a:tcPr marL="171450" marR="9525" marT="9525" marB="0" anchor="ctr"/>
                </a:tc>
              </a:tr>
              <a:tr h="175260">
                <a:tc>
                  <a:txBody>
                    <a:bodyPr wrap="square"/>
                    <a:lstStyle/>
                    <a:p>
                      <a:pPr algn="l"/>
                      <a:r>
                        <a:rPr sz="1100" b="0" i="0">
                          <a:solidFill>
                            <a:srgbClr val="0070C0"/>
                          </a:solidFill>
                          <a:latin typeface="Calibri"/>
                        </a:rPr>
                        <a:t>13.1.</a:t>
                      </a:r>
                      <a:r>
                        <a:rPr sz="700" b="0" i="0">
                          <a:solidFill>
                            <a:srgbClr val="0070C0"/>
                          </a:solidFill>
                          <a:latin typeface="Times New Roman"/>
                        </a:rPr>
                        <a:t>  </a:t>
                      </a:r>
                      <a:r>
                        <a:rPr sz="1100" b="0" i="0">
                          <a:solidFill>
                            <a:srgbClr val="0070C0"/>
                          </a:solidFill>
                          <a:latin typeface="Calibri"/>
                        </a:rPr>
                        <a:t>2021–2025: Historical Analysis</a:t>
                      </a:r>
                      <a:endParaRPr sz="1100"/>
                    </a:p>
                  </a:txBody>
                  <a:tcPr marL="428625" marR="9525" marT="9525" marB="0" anchor="ctr"/>
                </a:tc>
              </a:tr>
              <a:tr h="175260">
                <a:tc>
                  <a:txBody>
                    <a:bodyPr wrap="square"/>
                    <a:lstStyle/>
                    <a:p>
                      <a:pPr algn="l"/>
                      <a:r>
                        <a:rPr sz="1100" b="0" i="0">
                          <a:solidFill>
                            <a:srgbClr val="0070C0"/>
                          </a:solidFill>
                          <a:latin typeface="Calibri"/>
                        </a:rPr>
                        <a:t>13.2.</a:t>
                      </a:r>
                      <a:r>
                        <a:rPr sz="700" b="0" i="0">
                          <a:solidFill>
                            <a:srgbClr val="0070C0"/>
                          </a:solidFill>
                          <a:latin typeface="Times New Roman"/>
                        </a:rPr>
                        <a:t>  </a:t>
                      </a:r>
                      <a:r>
                        <a:rPr sz="1100" b="0" i="0">
                          <a:solidFill>
                            <a:srgbClr val="0070C0"/>
                          </a:solidFill>
                          <a:latin typeface="Calibri"/>
                        </a:rPr>
                        <a:t>2026–2036: Forecast Outlook</a:t>
                      </a:r>
                      <a:endParaRPr sz="1100"/>
                    </a:p>
                  </a:txBody>
                  <a:tcPr marL="428625" marR="9525" marT="9525" marB="0" anchor="ctr"/>
                </a:tc>
              </a:tr>
              <a:tr h="175260">
                <a:tc>
                  <a:txBody>
                    <a:bodyPr wrap="square"/>
                    <a:lstStyle/>
                    <a:p>
                      <a:pPr algn="l"/>
                      <a:r>
                        <a:rPr sz="1100" b="0" i="0">
                          <a:solidFill>
                            <a:srgbClr val="0070C0"/>
                          </a:solidFill>
                          <a:latin typeface="Calibri"/>
                        </a:rPr>
                        <a:t>13.3.</a:t>
                      </a:r>
                      <a:r>
                        <a:rPr sz="700" b="0" i="0">
                          <a:solidFill>
                            <a:srgbClr val="0070C0"/>
                          </a:solidFill>
                          <a:latin typeface="Times New Roman"/>
                        </a:rPr>
                        <a:t>  </a:t>
                      </a:r>
                      <a:r>
                        <a:rPr sz="1100" b="0" i="0">
                          <a:solidFill>
                            <a:srgbClr val="0070C0"/>
                          </a:solidFill>
                          <a:latin typeface="Calibri"/>
                        </a:rPr>
                        <a:t>Y-o-Y Growth Trend Analysis</a:t>
                      </a:r>
                      <a:endParaRPr sz="1100"/>
                    </a:p>
                  </a:txBody>
                  <a:tcPr marL="428625" marR="9525" marT="9525" marB="0" anchor="ctr"/>
                </a:tc>
              </a:tr>
              <a:tr h="175260">
                <a:tc>
                  <a:txBody>
                    <a:bodyPr wrap="square"/>
                    <a:lstStyle/>
                    <a:p>
                      <a:pPr algn="l"/>
                      <a:r>
                        <a:rPr sz="1100" b="0" i="0">
                          <a:solidFill>
                            <a:srgbClr val="0070C0"/>
                          </a:solidFill>
                          <a:latin typeface="Calibri"/>
                        </a:rPr>
                        <a:t>13.4.</a:t>
                      </a:r>
                      <a:r>
                        <a:rPr sz="700" b="0" i="0">
                          <a:solidFill>
                            <a:srgbClr val="0070C0"/>
                          </a:solidFill>
                          <a:latin typeface="Times New Roman"/>
                        </a:rPr>
                        <a:t>  </a:t>
                      </a:r>
                      <a:r>
                        <a:rPr sz="1100" b="0" i="0">
                          <a:solidFill>
                            <a:srgbClr val="0070C0"/>
                          </a:solidFill>
                          <a:latin typeface="Calibri"/>
                        </a:rPr>
                        <a:t>Absolute $ Opportunity Analysis</a:t>
                      </a:r>
                      <a:endParaRPr sz="1100"/>
                    </a:p>
                  </a:txBody>
                  <a:tcPr marL="428625" marR="9525" marT="9525" marB="0" anchor="ctr"/>
                </a:tc>
              </a:tr>
              <a:tr h="175260">
                <a:tc>
                  <a:txBody>
                    <a:bodyPr wrap="square"/>
                    <a:lstStyle/>
                    <a:p>
                      <a:pPr algn="l"/>
                      <a:r>
                        <a:rPr sz="1100" b="0" i="0">
                          <a:solidFill>
                            <a:srgbClr val="000000"/>
                          </a:solidFill>
                          <a:latin typeface="Calibri"/>
                        </a:rPr>
                        <a:t>13.4.1.</a:t>
                      </a:r>
                      <a:r>
                        <a:rPr sz="700" b="0" i="0">
                          <a:solidFill>
                            <a:srgbClr val="000000"/>
                          </a:solidFill>
                          <a:latin typeface="Times New Roman"/>
                        </a:rPr>
                        <a:t> </a:t>
                      </a:r>
                      <a:r>
                        <a:rPr sz="1100" b="0" i="0">
                          <a:solidFill>
                            <a:srgbClr val="000000"/>
                          </a:solidFill>
                          <a:latin typeface="Calibri"/>
                        </a:rPr>
                        <a:t>By Product Type</a:t>
                      </a:r>
                      <a:endParaRPr sz="1100"/>
                    </a:p>
                  </a:txBody>
                  <a:tcPr marL="771525" marR="9525" marT="9525" marB="0" anchor="ctr"/>
                </a:tc>
              </a:tr>
              <a:tr h="175260">
                <a:tc>
                  <a:txBody>
                    <a:bodyPr wrap="square"/>
                    <a:lstStyle/>
                    <a:p>
                      <a:pPr algn="l"/>
                      <a:r>
                        <a:rPr sz="1100" b="0" i="0">
                          <a:solidFill>
                            <a:srgbClr val="000000"/>
                          </a:solidFill>
                          <a:latin typeface="Calibri"/>
                        </a:rPr>
                        <a:t>13.4.2.</a:t>
                      </a:r>
                      <a:r>
                        <a:rPr sz="700" b="0" i="0">
                          <a:solidFill>
                            <a:srgbClr val="000000"/>
                          </a:solidFill>
                          <a:latin typeface="Times New Roman"/>
                        </a:rPr>
                        <a:t> </a:t>
                      </a:r>
                      <a:r>
                        <a:rPr sz="1100" b="0" i="0">
                          <a:solidFill>
                            <a:srgbClr val="000000"/>
                          </a:solidFill>
                          <a:latin typeface="Calibri"/>
                        </a:rPr>
                        <a:t>By Extraction / Processing Method</a:t>
                      </a:r>
                      <a:endParaRPr sz="1100"/>
                    </a:p>
                  </a:txBody>
                  <a:tcPr marL="771525" marR="9525" marT="9525" marB="0" anchor="ctr"/>
                </a:tc>
              </a:tr>
              <a:tr h="175260">
                <a:tc>
                  <a:txBody>
                    <a:bodyPr wrap="square"/>
                    <a:lstStyle/>
                    <a:p>
                      <a:pPr algn="l"/>
                      <a:r>
                        <a:rPr sz="1100" b="0" i="0">
                          <a:solidFill>
                            <a:srgbClr val="000000"/>
                          </a:solidFill>
                          <a:latin typeface="Calibri"/>
                        </a:rPr>
                        <a:t>13.4.3.</a:t>
                      </a:r>
                      <a:r>
                        <a:rPr sz="700" b="0" i="0">
                          <a:solidFill>
                            <a:srgbClr val="000000"/>
                          </a:solidFill>
                          <a:latin typeface="Times New Roman"/>
                        </a:rPr>
                        <a:t> </a:t>
                      </a:r>
                      <a:r>
                        <a:rPr sz="1100" b="0" i="0">
                          <a:solidFill>
                            <a:srgbClr val="000000"/>
                          </a:solidFill>
                          <a:latin typeface="Calibri"/>
                        </a:rPr>
                        <a:t>By Source</a:t>
                      </a:r>
                      <a:endParaRPr sz="1100"/>
                    </a:p>
                  </a:txBody>
                  <a:tcPr marL="771525" marR="9525" marT="9525" marB="0" anchor="ctr"/>
                </a:tc>
              </a:tr>
              <a:tr h="175260">
                <a:tc>
                  <a:txBody>
                    <a:bodyPr wrap="square"/>
                    <a:lstStyle/>
                    <a:p>
                      <a:pPr algn="l"/>
                      <a:r>
                        <a:rPr sz="1100" b="0" i="0">
                          <a:solidFill>
                            <a:srgbClr val="000000"/>
                          </a:solidFill>
                          <a:latin typeface="Calibri"/>
                        </a:rPr>
                        <a:t>13.4.4.</a:t>
                      </a:r>
                      <a:r>
                        <a:rPr sz="700" b="0" i="0">
                          <a:solidFill>
                            <a:srgbClr val="000000"/>
                          </a:solidFill>
                          <a:latin typeface="Times New Roman"/>
                        </a:rPr>
                        <a:t> </a:t>
                      </a:r>
                      <a:r>
                        <a:rPr sz="1100" b="0" i="0">
                          <a:solidFill>
                            <a:srgbClr val="000000"/>
                          </a:solidFill>
                          <a:latin typeface="Calibri"/>
                        </a:rPr>
                        <a:t>By Form</a:t>
                      </a:r>
                      <a:endParaRPr sz="1100"/>
                    </a:p>
                  </a:txBody>
                  <a:tcPr marL="771525" marR="9525" marT="9525" marB="0" anchor="ctr"/>
                </a:tc>
              </a:tr>
              <a:tr h="175260">
                <a:tc>
                  <a:txBody>
                    <a:bodyPr wrap="square"/>
                    <a:lstStyle/>
                    <a:p>
                      <a:pPr algn="l"/>
                      <a:r>
                        <a:rPr sz="1100" b="0" i="0">
                          <a:solidFill>
                            <a:srgbClr val="000000"/>
                          </a:solidFill>
                          <a:latin typeface="Calibri"/>
                        </a:rPr>
                        <a:t>13.4.5.</a:t>
                      </a:r>
                      <a:r>
                        <a:rPr sz="700" b="0" i="0">
                          <a:solidFill>
                            <a:srgbClr val="000000"/>
                          </a:solidFill>
                          <a:latin typeface="Times New Roman"/>
                        </a:rPr>
                        <a:t> </a:t>
                      </a:r>
                      <a:r>
                        <a:rPr sz="1100" b="0" i="0">
                          <a:solidFill>
                            <a:srgbClr val="000000"/>
                          </a:solidFill>
                          <a:latin typeface="Calibri"/>
                        </a:rPr>
                        <a:t>By Application</a:t>
                      </a:r>
                      <a:endParaRPr sz="1100"/>
                    </a:p>
                  </a:txBody>
                  <a:tcPr marL="771525" marR="9525" marT="9525" marB="0" anchor="ctr"/>
                </a:tc>
              </a:tr>
              <a:tr h="175260">
                <a:tc>
                  <a:txBody>
                    <a:bodyPr wrap="square"/>
                    <a:lstStyle/>
                    <a:p>
                      <a:pPr algn="l"/>
                      <a:r>
                        <a:rPr sz="1100" b="0" i="0">
                          <a:solidFill>
                            <a:srgbClr val="000000"/>
                          </a:solidFill>
                          <a:latin typeface="Calibri"/>
                        </a:rPr>
                        <a:t>13.4.6.</a:t>
                      </a:r>
                      <a:r>
                        <a:rPr sz="700" b="0" i="0">
                          <a:solidFill>
                            <a:srgbClr val="000000"/>
                          </a:solidFill>
                          <a:latin typeface="Times New Roman"/>
                        </a:rPr>
                        <a:t> </a:t>
                      </a:r>
                      <a:r>
                        <a:rPr sz="1100" b="0" i="0">
                          <a:solidFill>
                            <a:srgbClr val="000000"/>
                          </a:solidFill>
                          <a:latin typeface="Calibri"/>
                        </a:rPr>
                        <a:t>By Sales Channel</a:t>
                      </a:r>
                      <a:endParaRPr sz="1100"/>
                    </a:p>
                  </a:txBody>
                  <a:tcPr marL="771525" marR="9525" marT="9525" marB="0" anchor="ctr"/>
                </a:tc>
              </a:tr>
              <a:tr h="175260">
                <a:tc>
                  <a:txBody>
                    <a:bodyPr wrap="square"/>
                    <a:lstStyle/>
                    <a:p>
                      <a:pPr algn="l"/>
                      <a:r>
                        <a:rPr sz="1100" b="0" i="0">
                          <a:solidFill>
                            <a:srgbClr val="000000"/>
                          </a:solidFill>
                          <a:latin typeface="Calibri"/>
                        </a:rPr>
                        <a:t>13.4.7.</a:t>
                      </a:r>
                      <a:r>
                        <a:rPr sz="700" b="0" i="0">
                          <a:solidFill>
                            <a:srgbClr val="000000"/>
                          </a:solidFill>
                          <a:latin typeface="Times New Roman"/>
                        </a:rPr>
                        <a:t> </a:t>
                      </a:r>
                      <a:r>
                        <a:rPr sz="1100" b="0" i="0">
                          <a:solidFill>
                            <a:srgbClr val="000000"/>
                          </a:solidFill>
                          <a:latin typeface="Calibri"/>
                        </a:rPr>
                        <a:t>By Country</a:t>
                      </a:r>
                      <a:endParaRPr sz="1100"/>
                    </a:p>
                  </a:txBody>
                  <a:tcPr marL="771525" marR="9525" marT="9525" marB="0" anchor="ctr"/>
                </a:tc>
              </a:tr>
              <a:tr h="175260">
                <a:tc>
                  <a:txBody>
                    <a:bodyPr wrap="square"/>
                    <a:lstStyle/>
                    <a:p>
                      <a:pPr algn="l"/>
                      <a:r>
                        <a:rPr sz="1100" b="1" i="0">
                          <a:solidFill>
                            <a:srgbClr val="000000"/>
                          </a:solidFill>
                          <a:latin typeface="Calibri"/>
                        </a:rPr>
                        <a:t>14.</a:t>
                      </a:r>
                      <a:r>
                        <a:rPr sz="700" b="1" i="0">
                          <a:solidFill>
                            <a:srgbClr val="000000"/>
                          </a:solidFill>
                          <a:latin typeface="Times New Roman"/>
                        </a:rPr>
                        <a:t>    </a:t>
                      </a:r>
                      <a:r>
                        <a:rPr sz="1100" b="1" i="0">
                          <a:solidFill>
                            <a:srgbClr val="000000"/>
                          </a:solidFill>
                          <a:latin typeface="Calibri"/>
                        </a:rPr>
                        <a:t>East Asia Market Size (Value &amp; Volume) 2021–2036</a:t>
                      </a:r>
                      <a:endParaRPr sz="1100"/>
                    </a:p>
                  </a:txBody>
                  <a:tcPr marL="171450" marR="9525" marT="9525" marB="0" anchor="ctr"/>
                </a:tc>
              </a:tr>
              <a:tr h="175260">
                <a:tc>
                  <a:txBody>
                    <a:bodyPr wrap="square"/>
                    <a:lstStyle/>
                    <a:p>
                      <a:pPr algn="l"/>
                      <a:r>
                        <a:rPr sz="1100" b="0" i="0">
                          <a:solidFill>
                            <a:srgbClr val="0070C0"/>
                          </a:solidFill>
                          <a:latin typeface="Calibri"/>
                        </a:rPr>
                        <a:t>14.1.</a:t>
                      </a:r>
                      <a:r>
                        <a:rPr sz="700" b="0" i="0">
                          <a:solidFill>
                            <a:srgbClr val="0070C0"/>
                          </a:solidFill>
                          <a:latin typeface="Times New Roman"/>
                        </a:rPr>
                        <a:t>  </a:t>
                      </a:r>
                      <a:r>
                        <a:rPr sz="1100" b="0" i="0">
                          <a:solidFill>
                            <a:srgbClr val="0070C0"/>
                          </a:solidFill>
                          <a:latin typeface="Calibri"/>
                        </a:rPr>
                        <a:t>2021–2025: Historical Analysis</a:t>
                      </a:r>
                      <a:endParaRPr sz="1100"/>
                    </a:p>
                  </a:txBody>
                  <a:tcPr marL="428625" marR="9525" marT="9525" marB="0" anchor="ctr"/>
                </a:tc>
              </a:tr>
              <a:tr h="175260">
                <a:tc>
                  <a:txBody>
                    <a:bodyPr wrap="square"/>
                    <a:lstStyle/>
                    <a:p>
                      <a:pPr algn="l"/>
                      <a:r>
                        <a:rPr sz="1100" b="0" i="0">
                          <a:solidFill>
                            <a:srgbClr val="0070C0"/>
                          </a:solidFill>
                          <a:latin typeface="Calibri"/>
                        </a:rPr>
                        <a:t>14.2.</a:t>
                      </a:r>
                      <a:r>
                        <a:rPr sz="700" b="0" i="0">
                          <a:solidFill>
                            <a:srgbClr val="0070C0"/>
                          </a:solidFill>
                          <a:latin typeface="Times New Roman"/>
                        </a:rPr>
                        <a:t>  </a:t>
                      </a:r>
                      <a:r>
                        <a:rPr sz="1100" b="0" i="0">
                          <a:solidFill>
                            <a:srgbClr val="0070C0"/>
                          </a:solidFill>
                          <a:latin typeface="Calibri"/>
                        </a:rPr>
                        <a:t>2026–2036: Forecast Outlook</a:t>
                      </a:r>
                      <a:endParaRPr sz="1100"/>
                    </a:p>
                  </a:txBody>
                  <a:tcPr marL="428625" marR="9525" marT="9525" marB="0" anchor="ctr"/>
                </a:tc>
              </a:tr>
              <a:tr h="175260">
                <a:tc>
                  <a:txBody>
                    <a:bodyPr wrap="square"/>
                    <a:lstStyle/>
                    <a:p>
                      <a:pPr algn="l"/>
                      <a:r>
                        <a:rPr sz="1100" b="0" i="0">
                          <a:solidFill>
                            <a:srgbClr val="0070C0"/>
                          </a:solidFill>
                          <a:latin typeface="Calibri"/>
                        </a:rPr>
                        <a:t>14.3.</a:t>
                      </a:r>
                      <a:r>
                        <a:rPr sz="700" b="0" i="0">
                          <a:solidFill>
                            <a:srgbClr val="0070C0"/>
                          </a:solidFill>
                          <a:latin typeface="Times New Roman"/>
                        </a:rPr>
                        <a:t>  </a:t>
                      </a:r>
                      <a:r>
                        <a:rPr sz="1100" b="0" i="0">
                          <a:solidFill>
                            <a:srgbClr val="0070C0"/>
                          </a:solidFill>
                          <a:latin typeface="Calibri"/>
                        </a:rPr>
                        <a:t>Y-o-Y Growth Trend Analysis</a:t>
                      </a:r>
                      <a:endParaRPr sz="1100"/>
                    </a:p>
                  </a:txBody>
                  <a:tcPr marL="428625" marR="9525" marT="9525" marB="0" anchor="ctr"/>
                </a:tc>
              </a:tr>
              <a:tr h="175260">
                <a:tc>
                  <a:txBody>
                    <a:bodyPr wrap="square"/>
                    <a:lstStyle/>
                    <a:p>
                      <a:pPr algn="l"/>
                      <a:r>
                        <a:rPr sz="1100" b="0" i="0">
                          <a:solidFill>
                            <a:srgbClr val="0070C0"/>
                          </a:solidFill>
                          <a:latin typeface="Calibri"/>
                        </a:rPr>
                        <a:t>14.4.</a:t>
                      </a:r>
                      <a:r>
                        <a:rPr sz="700" b="0" i="0">
                          <a:solidFill>
                            <a:srgbClr val="0070C0"/>
                          </a:solidFill>
                          <a:latin typeface="Times New Roman"/>
                        </a:rPr>
                        <a:t>  </a:t>
                      </a:r>
                      <a:r>
                        <a:rPr sz="1100" b="0" i="0">
                          <a:solidFill>
                            <a:srgbClr val="0070C0"/>
                          </a:solidFill>
                          <a:latin typeface="Calibri"/>
                        </a:rPr>
                        <a:t>Absolute $ Opportunity Analysis</a:t>
                      </a:r>
                      <a:endParaRPr sz="1100"/>
                    </a:p>
                  </a:txBody>
                  <a:tcPr marL="428625" marR="9525" marT="9525" marB="0" anchor="ctr"/>
                </a:tc>
              </a:tr>
              <a:tr h="175260">
                <a:tc>
                  <a:txBody>
                    <a:bodyPr wrap="square"/>
                    <a:lstStyle/>
                    <a:p>
                      <a:pPr algn="l"/>
                      <a:r>
                        <a:rPr sz="1100" b="0" i="0">
                          <a:solidFill>
                            <a:srgbClr val="000000"/>
                          </a:solidFill>
                          <a:latin typeface="Calibri"/>
                        </a:rPr>
                        <a:t>14.4.1.</a:t>
                      </a:r>
                      <a:r>
                        <a:rPr sz="700" b="0" i="0">
                          <a:solidFill>
                            <a:srgbClr val="000000"/>
                          </a:solidFill>
                          <a:latin typeface="Times New Roman"/>
                        </a:rPr>
                        <a:t> </a:t>
                      </a:r>
                      <a:r>
                        <a:rPr sz="1100" b="0" i="0">
                          <a:solidFill>
                            <a:srgbClr val="000000"/>
                          </a:solidFill>
                          <a:latin typeface="Calibri"/>
                        </a:rPr>
                        <a:t>By Product Type</a:t>
                      </a:r>
                      <a:endParaRPr sz="1100"/>
                    </a:p>
                  </a:txBody>
                  <a:tcPr marL="771525" marR="9525" marT="9525" marB="0" anchor="ctr"/>
                </a:tc>
              </a:tr>
            </a:tbl>
          </a:graphicData>
        </a:graphic>
      </p:graphicFrame>
      <p:sp>
        <p:nvSpPr>
          <p:cNvPr id="8" name="Rectangle 7"/>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76200"/>
            <a:ext cx="10896600"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Table of Contents (4/6)</a:t>
            </a:r>
          </a:p>
        </p:txBody>
      </p:sp>
      <p:graphicFrame>
        <p:nvGraphicFramePr>
          <p:cNvPr id="6" name="TMR Contents Table"/>
          <p:cNvGraphicFramePr>
            <a:graphicFrameLocks noGrp="1"/>
          </p:cNvGraphicFramePr>
          <p:nvPr/>
        </p:nvGraphicFramePr>
        <p:xfrm>
          <a:off x="142875" y="981075"/>
          <a:ext cx="5876925" cy="5257800"/>
        </p:xfrm>
        <a:graphic>
          <a:graphicData uri="http://schemas.openxmlformats.org/drawingml/2006/table">
            <a:tbl>
              <a:tblPr>
                <a:tableStyleId>{3B4B98B0-60AC-42C2-AFA5-B58CD77FA1E5}</a:tableStyleId>
              </a:tblPr>
              <a:tblGrid>
                <a:gridCol w="5876925"/>
              </a:tblGrid>
              <a:tr h="175260">
                <a:tc>
                  <a:txBody>
                    <a:bodyPr wrap="square"/>
                    <a:lstStyle/>
                    <a:p>
                      <a:pPr algn="l"/>
                      <a:r>
                        <a:rPr sz="1100" b="0" i="0">
                          <a:solidFill>
                            <a:srgbClr val="000000"/>
                          </a:solidFill>
                          <a:latin typeface="Calibri"/>
                        </a:rPr>
                        <a:t>14.4.2.</a:t>
                      </a:r>
                      <a:r>
                        <a:rPr sz="700" b="0" i="0">
                          <a:solidFill>
                            <a:srgbClr val="000000"/>
                          </a:solidFill>
                          <a:latin typeface="Times New Roman"/>
                        </a:rPr>
                        <a:t> </a:t>
                      </a:r>
                      <a:r>
                        <a:rPr sz="1100" b="0" i="0">
                          <a:solidFill>
                            <a:srgbClr val="000000"/>
                          </a:solidFill>
                          <a:latin typeface="Calibri"/>
                        </a:rPr>
                        <a:t>By Extraction / Processing Method</a:t>
                      </a:r>
                      <a:endParaRPr sz="1100"/>
                    </a:p>
                  </a:txBody>
                  <a:tcPr marL="771525" marR="9525" marT="9525" marB="0" anchor="ctr"/>
                </a:tc>
              </a:tr>
              <a:tr h="175260">
                <a:tc>
                  <a:txBody>
                    <a:bodyPr wrap="square"/>
                    <a:lstStyle/>
                    <a:p>
                      <a:pPr algn="l"/>
                      <a:r>
                        <a:rPr sz="1100" b="0" i="0">
                          <a:solidFill>
                            <a:srgbClr val="000000"/>
                          </a:solidFill>
                          <a:latin typeface="Calibri"/>
                        </a:rPr>
                        <a:t>14.4.3.</a:t>
                      </a:r>
                      <a:r>
                        <a:rPr sz="700" b="0" i="0">
                          <a:solidFill>
                            <a:srgbClr val="000000"/>
                          </a:solidFill>
                          <a:latin typeface="Times New Roman"/>
                        </a:rPr>
                        <a:t> </a:t>
                      </a:r>
                      <a:r>
                        <a:rPr sz="1100" b="0" i="0">
                          <a:solidFill>
                            <a:srgbClr val="000000"/>
                          </a:solidFill>
                          <a:latin typeface="Calibri"/>
                        </a:rPr>
                        <a:t>By Source</a:t>
                      </a:r>
                      <a:endParaRPr sz="1100"/>
                    </a:p>
                  </a:txBody>
                  <a:tcPr marL="771525" marR="9525" marT="9525" marB="0" anchor="ctr"/>
                </a:tc>
              </a:tr>
              <a:tr h="175260">
                <a:tc>
                  <a:txBody>
                    <a:bodyPr wrap="square"/>
                    <a:lstStyle/>
                    <a:p>
                      <a:pPr algn="l"/>
                      <a:r>
                        <a:rPr sz="1100" b="0" i="0">
                          <a:solidFill>
                            <a:srgbClr val="000000"/>
                          </a:solidFill>
                          <a:latin typeface="Calibri"/>
                        </a:rPr>
                        <a:t>14.4.4.</a:t>
                      </a:r>
                      <a:r>
                        <a:rPr sz="700" b="0" i="0">
                          <a:solidFill>
                            <a:srgbClr val="000000"/>
                          </a:solidFill>
                          <a:latin typeface="Times New Roman"/>
                        </a:rPr>
                        <a:t> </a:t>
                      </a:r>
                      <a:r>
                        <a:rPr sz="1100" b="0" i="0">
                          <a:solidFill>
                            <a:srgbClr val="000000"/>
                          </a:solidFill>
                          <a:latin typeface="Calibri"/>
                        </a:rPr>
                        <a:t>By Form</a:t>
                      </a:r>
                      <a:endParaRPr sz="1100"/>
                    </a:p>
                  </a:txBody>
                  <a:tcPr marL="771525" marR="9525" marT="9525" marB="0" anchor="ctr"/>
                </a:tc>
              </a:tr>
              <a:tr h="175260">
                <a:tc>
                  <a:txBody>
                    <a:bodyPr wrap="square"/>
                    <a:lstStyle/>
                    <a:p>
                      <a:pPr algn="l"/>
                      <a:r>
                        <a:rPr sz="1100" b="0" i="0">
                          <a:solidFill>
                            <a:srgbClr val="000000"/>
                          </a:solidFill>
                          <a:latin typeface="Calibri"/>
                        </a:rPr>
                        <a:t>14.4.5.</a:t>
                      </a:r>
                      <a:r>
                        <a:rPr sz="700" b="0" i="0">
                          <a:solidFill>
                            <a:srgbClr val="000000"/>
                          </a:solidFill>
                          <a:latin typeface="Times New Roman"/>
                        </a:rPr>
                        <a:t> </a:t>
                      </a:r>
                      <a:r>
                        <a:rPr sz="1100" b="0" i="0">
                          <a:solidFill>
                            <a:srgbClr val="000000"/>
                          </a:solidFill>
                          <a:latin typeface="Calibri"/>
                        </a:rPr>
                        <a:t>By Application</a:t>
                      </a:r>
                      <a:endParaRPr sz="1100"/>
                    </a:p>
                  </a:txBody>
                  <a:tcPr marL="771525" marR="9525" marT="9525" marB="0" anchor="ctr"/>
                </a:tc>
              </a:tr>
              <a:tr h="175260">
                <a:tc>
                  <a:txBody>
                    <a:bodyPr wrap="square"/>
                    <a:lstStyle/>
                    <a:p>
                      <a:pPr algn="l"/>
                      <a:r>
                        <a:rPr sz="1100" b="0" i="0">
                          <a:solidFill>
                            <a:srgbClr val="000000"/>
                          </a:solidFill>
                          <a:latin typeface="Calibri"/>
                        </a:rPr>
                        <a:t>14.4.6.</a:t>
                      </a:r>
                      <a:r>
                        <a:rPr sz="700" b="0" i="0">
                          <a:solidFill>
                            <a:srgbClr val="000000"/>
                          </a:solidFill>
                          <a:latin typeface="Times New Roman"/>
                        </a:rPr>
                        <a:t> </a:t>
                      </a:r>
                      <a:r>
                        <a:rPr sz="1100" b="0" i="0">
                          <a:solidFill>
                            <a:srgbClr val="000000"/>
                          </a:solidFill>
                          <a:latin typeface="Calibri"/>
                        </a:rPr>
                        <a:t>By Sales Channel</a:t>
                      </a:r>
                      <a:endParaRPr sz="1100"/>
                    </a:p>
                  </a:txBody>
                  <a:tcPr marL="771525" marR="9525" marT="9525" marB="0" anchor="ctr"/>
                </a:tc>
              </a:tr>
              <a:tr h="175260">
                <a:tc>
                  <a:txBody>
                    <a:bodyPr wrap="square"/>
                    <a:lstStyle/>
                    <a:p>
                      <a:pPr algn="l"/>
                      <a:r>
                        <a:rPr sz="1100" b="0" i="0">
                          <a:solidFill>
                            <a:srgbClr val="000000"/>
                          </a:solidFill>
                          <a:latin typeface="Calibri"/>
                        </a:rPr>
                        <a:t>14.4.7.</a:t>
                      </a:r>
                      <a:r>
                        <a:rPr sz="700" b="0" i="0">
                          <a:solidFill>
                            <a:srgbClr val="000000"/>
                          </a:solidFill>
                          <a:latin typeface="Times New Roman"/>
                        </a:rPr>
                        <a:t> </a:t>
                      </a:r>
                      <a:r>
                        <a:rPr sz="1100" b="0" i="0">
                          <a:solidFill>
                            <a:srgbClr val="000000"/>
                          </a:solidFill>
                          <a:latin typeface="Calibri"/>
                        </a:rPr>
                        <a:t>By Country</a:t>
                      </a:r>
                      <a:endParaRPr sz="1100"/>
                    </a:p>
                  </a:txBody>
                  <a:tcPr marL="771525" marR="9525" marT="9525" marB="0" anchor="ctr"/>
                </a:tc>
              </a:tr>
              <a:tr h="175260">
                <a:tc>
                  <a:txBody>
                    <a:bodyPr wrap="square"/>
                    <a:lstStyle/>
                    <a:p>
                      <a:pPr algn="l"/>
                      <a:r>
                        <a:rPr sz="1100" b="1" i="0">
                          <a:solidFill>
                            <a:srgbClr val="000000"/>
                          </a:solidFill>
                          <a:latin typeface="Calibri"/>
                        </a:rPr>
                        <a:t>15.</a:t>
                      </a:r>
                      <a:r>
                        <a:rPr sz="700" b="1" i="0">
                          <a:solidFill>
                            <a:srgbClr val="000000"/>
                          </a:solidFill>
                          <a:latin typeface="Times New Roman"/>
                        </a:rPr>
                        <a:t>    </a:t>
                      </a:r>
                      <a:r>
                        <a:rPr sz="1100" b="1" i="0">
                          <a:solidFill>
                            <a:srgbClr val="000000"/>
                          </a:solidFill>
                          <a:latin typeface="Calibri"/>
                        </a:rPr>
                        <a:t>South Asia &amp; Pacific Market Size (Value &amp; Volume) 2021–2036</a:t>
                      </a:r>
                      <a:endParaRPr sz="1100"/>
                    </a:p>
                  </a:txBody>
                  <a:tcPr marL="171450" marR="9525" marT="9525" marB="0" anchor="ctr"/>
                </a:tc>
              </a:tr>
              <a:tr h="175260">
                <a:tc>
                  <a:txBody>
                    <a:bodyPr wrap="square"/>
                    <a:lstStyle/>
                    <a:p>
                      <a:pPr algn="l"/>
                      <a:r>
                        <a:rPr sz="1100" b="0" i="0">
                          <a:solidFill>
                            <a:srgbClr val="0070C0"/>
                          </a:solidFill>
                          <a:latin typeface="Calibri"/>
                        </a:rPr>
                        <a:t>15.1.</a:t>
                      </a:r>
                      <a:r>
                        <a:rPr sz="700" b="0" i="0">
                          <a:solidFill>
                            <a:srgbClr val="0070C0"/>
                          </a:solidFill>
                          <a:latin typeface="Times New Roman"/>
                        </a:rPr>
                        <a:t>  </a:t>
                      </a:r>
                      <a:r>
                        <a:rPr sz="1100" b="0" i="0">
                          <a:solidFill>
                            <a:srgbClr val="0070C0"/>
                          </a:solidFill>
                          <a:latin typeface="Calibri"/>
                        </a:rPr>
                        <a:t>2021–2025: Historical Analysis</a:t>
                      </a:r>
                      <a:endParaRPr sz="1100"/>
                    </a:p>
                  </a:txBody>
                  <a:tcPr marL="428625" marR="9525" marT="9525" marB="0" anchor="ctr"/>
                </a:tc>
              </a:tr>
              <a:tr h="175260">
                <a:tc>
                  <a:txBody>
                    <a:bodyPr wrap="square"/>
                    <a:lstStyle/>
                    <a:p>
                      <a:pPr algn="l"/>
                      <a:r>
                        <a:rPr sz="1100" b="0" i="0">
                          <a:solidFill>
                            <a:srgbClr val="0070C0"/>
                          </a:solidFill>
                          <a:latin typeface="Calibri"/>
                        </a:rPr>
                        <a:t>15.2.</a:t>
                      </a:r>
                      <a:r>
                        <a:rPr sz="700" b="0" i="0">
                          <a:solidFill>
                            <a:srgbClr val="0070C0"/>
                          </a:solidFill>
                          <a:latin typeface="Times New Roman"/>
                        </a:rPr>
                        <a:t>  </a:t>
                      </a:r>
                      <a:r>
                        <a:rPr sz="1100" b="0" i="0">
                          <a:solidFill>
                            <a:srgbClr val="0070C0"/>
                          </a:solidFill>
                          <a:latin typeface="Calibri"/>
                        </a:rPr>
                        <a:t>2026–2036: Forecast Outlook</a:t>
                      </a:r>
                      <a:endParaRPr sz="1100"/>
                    </a:p>
                  </a:txBody>
                  <a:tcPr marL="428625" marR="9525" marT="9525" marB="0" anchor="ctr"/>
                </a:tc>
              </a:tr>
              <a:tr h="175260">
                <a:tc>
                  <a:txBody>
                    <a:bodyPr wrap="square"/>
                    <a:lstStyle/>
                    <a:p>
                      <a:pPr algn="l"/>
                      <a:r>
                        <a:rPr sz="1100" b="0" i="0">
                          <a:solidFill>
                            <a:srgbClr val="0070C0"/>
                          </a:solidFill>
                          <a:latin typeface="Calibri"/>
                        </a:rPr>
                        <a:t>15.3.</a:t>
                      </a:r>
                      <a:r>
                        <a:rPr sz="700" b="0" i="0">
                          <a:solidFill>
                            <a:srgbClr val="0070C0"/>
                          </a:solidFill>
                          <a:latin typeface="Times New Roman"/>
                        </a:rPr>
                        <a:t>  </a:t>
                      </a:r>
                      <a:r>
                        <a:rPr sz="1100" b="0" i="0">
                          <a:solidFill>
                            <a:srgbClr val="0070C0"/>
                          </a:solidFill>
                          <a:latin typeface="Calibri"/>
                        </a:rPr>
                        <a:t>Y-o-Y Growth Trend Analysis</a:t>
                      </a:r>
                      <a:endParaRPr sz="1100"/>
                    </a:p>
                  </a:txBody>
                  <a:tcPr marL="428625" marR="9525" marT="9525" marB="0" anchor="ctr"/>
                </a:tc>
              </a:tr>
              <a:tr h="175260">
                <a:tc>
                  <a:txBody>
                    <a:bodyPr wrap="square"/>
                    <a:lstStyle/>
                    <a:p>
                      <a:pPr algn="l"/>
                      <a:r>
                        <a:rPr sz="1100" b="0" i="0">
                          <a:solidFill>
                            <a:srgbClr val="0070C0"/>
                          </a:solidFill>
                          <a:latin typeface="Calibri"/>
                        </a:rPr>
                        <a:t>15.4.</a:t>
                      </a:r>
                      <a:r>
                        <a:rPr sz="700" b="0" i="0">
                          <a:solidFill>
                            <a:srgbClr val="0070C0"/>
                          </a:solidFill>
                          <a:latin typeface="Times New Roman"/>
                        </a:rPr>
                        <a:t>  </a:t>
                      </a:r>
                      <a:r>
                        <a:rPr sz="1100" b="0" i="0">
                          <a:solidFill>
                            <a:srgbClr val="0070C0"/>
                          </a:solidFill>
                          <a:latin typeface="Calibri"/>
                        </a:rPr>
                        <a:t>Absolute $ Opportunity Analysis</a:t>
                      </a:r>
                      <a:endParaRPr sz="1100"/>
                    </a:p>
                  </a:txBody>
                  <a:tcPr marL="428625" marR="9525" marT="9525" marB="0" anchor="ctr"/>
                </a:tc>
              </a:tr>
              <a:tr h="175260">
                <a:tc>
                  <a:txBody>
                    <a:bodyPr wrap="square"/>
                    <a:lstStyle/>
                    <a:p>
                      <a:pPr algn="l"/>
                      <a:r>
                        <a:rPr sz="1100" b="0" i="0">
                          <a:solidFill>
                            <a:srgbClr val="000000"/>
                          </a:solidFill>
                          <a:latin typeface="Calibri"/>
                        </a:rPr>
                        <a:t>15.4.1.</a:t>
                      </a:r>
                      <a:r>
                        <a:rPr sz="700" b="0" i="0">
                          <a:solidFill>
                            <a:srgbClr val="000000"/>
                          </a:solidFill>
                          <a:latin typeface="Times New Roman"/>
                        </a:rPr>
                        <a:t> </a:t>
                      </a:r>
                      <a:r>
                        <a:rPr sz="1100" b="0" i="0">
                          <a:solidFill>
                            <a:srgbClr val="000000"/>
                          </a:solidFill>
                          <a:latin typeface="Calibri"/>
                        </a:rPr>
                        <a:t>By Product Type</a:t>
                      </a:r>
                      <a:endParaRPr sz="1100"/>
                    </a:p>
                  </a:txBody>
                  <a:tcPr marL="771525" marR="9525" marT="9525" marB="0" anchor="ctr"/>
                </a:tc>
              </a:tr>
              <a:tr h="175260">
                <a:tc>
                  <a:txBody>
                    <a:bodyPr wrap="square"/>
                    <a:lstStyle/>
                    <a:p>
                      <a:pPr algn="l"/>
                      <a:r>
                        <a:rPr sz="1100" b="0" i="0">
                          <a:solidFill>
                            <a:srgbClr val="000000"/>
                          </a:solidFill>
                          <a:latin typeface="Calibri"/>
                        </a:rPr>
                        <a:t>15.4.2.</a:t>
                      </a:r>
                      <a:r>
                        <a:rPr sz="700" b="0" i="0">
                          <a:solidFill>
                            <a:srgbClr val="000000"/>
                          </a:solidFill>
                          <a:latin typeface="Times New Roman"/>
                        </a:rPr>
                        <a:t> </a:t>
                      </a:r>
                      <a:r>
                        <a:rPr sz="1100" b="0" i="0">
                          <a:solidFill>
                            <a:srgbClr val="000000"/>
                          </a:solidFill>
                          <a:latin typeface="Calibri"/>
                        </a:rPr>
                        <a:t>By Extraction / Processing Method</a:t>
                      </a:r>
                      <a:endParaRPr sz="1100"/>
                    </a:p>
                  </a:txBody>
                  <a:tcPr marL="771525" marR="9525" marT="9525" marB="0" anchor="ctr"/>
                </a:tc>
              </a:tr>
              <a:tr h="175260">
                <a:tc>
                  <a:txBody>
                    <a:bodyPr wrap="square"/>
                    <a:lstStyle/>
                    <a:p>
                      <a:pPr algn="l"/>
                      <a:r>
                        <a:rPr sz="1100" b="0" i="0">
                          <a:solidFill>
                            <a:srgbClr val="000000"/>
                          </a:solidFill>
                          <a:latin typeface="Calibri"/>
                        </a:rPr>
                        <a:t>15.4.3.</a:t>
                      </a:r>
                      <a:r>
                        <a:rPr sz="700" b="0" i="0">
                          <a:solidFill>
                            <a:srgbClr val="000000"/>
                          </a:solidFill>
                          <a:latin typeface="Times New Roman"/>
                        </a:rPr>
                        <a:t> </a:t>
                      </a:r>
                      <a:r>
                        <a:rPr sz="1100" b="0" i="0">
                          <a:solidFill>
                            <a:srgbClr val="000000"/>
                          </a:solidFill>
                          <a:latin typeface="Calibri"/>
                        </a:rPr>
                        <a:t>By Source</a:t>
                      </a:r>
                      <a:endParaRPr sz="1100"/>
                    </a:p>
                  </a:txBody>
                  <a:tcPr marL="771525" marR="9525" marT="9525" marB="0" anchor="ctr"/>
                </a:tc>
              </a:tr>
              <a:tr h="175260">
                <a:tc>
                  <a:txBody>
                    <a:bodyPr wrap="square"/>
                    <a:lstStyle/>
                    <a:p>
                      <a:pPr algn="l"/>
                      <a:r>
                        <a:rPr sz="1100" b="0" i="0">
                          <a:solidFill>
                            <a:srgbClr val="000000"/>
                          </a:solidFill>
                          <a:latin typeface="Calibri"/>
                        </a:rPr>
                        <a:t>15.4.4.</a:t>
                      </a:r>
                      <a:r>
                        <a:rPr sz="700" b="0" i="0">
                          <a:solidFill>
                            <a:srgbClr val="000000"/>
                          </a:solidFill>
                          <a:latin typeface="Times New Roman"/>
                        </a:rPr>
                        <a:t> </a:t>
                      </a:r>
                      <a:r>
                        <a:rPr sz="1100" b="0" i="0">
                          <a:solidFill>
                            <a:srgbClr val="000000"/>
                          </a:solidFill>
                          <a:latin typeface="Calibri"/>
                        </a:rPr>
                        <a:t>By Form</a:t>
                      </a:r>
                      <a:endParaRPr sz="1100"/>
                    </a:p>
                  </a:txBody>
                  <a:tcPr marL="771525" marR="9525" marT="9525" marB="0" anchor="ctr"/>
                </a:tc>
              </a:tr>
              <a:tr h="175260">
                <a:tc>
                  <a:txBody>
                    <a:bodyPr wrap="square"/>
                    <a:lstStyle/>
                    <a:p>
                      <a:pPr algn="l"/>
                      <a:r>
                        <a:rPr sz="1100" b="0" i="0">
                          <a:solidFill>
                            <a:srgbClr val="000000"/>
                          </a:solidFill>
                          <a:latin typeface="Calibri"/>
                        </a:rPr>
                        <a:t>15.4.5.</a:t>
                      </a:r>
                      <a:r>
                        <a:rPr sz="700" b="0" i="0">
                          <a:solidFill>
                            <a:srgbClr val="000000"/>
                          </a:solidFill>
                          <a:latin typeface="Times New Roman"/>
                        </a:rPr>
                        <a:t> </a:t>
                      </a:r>
                      <a:r>
                        <a:rPr sz="1100" b="0" i="0">
                          <a:solidFill>
                            <a:srgbClr val="000000"/>
                          </a:solidFill>
                          <a:latin typeface="Calibri"/>
                        </a:rPr>
                        <a:t>By Application</a:t>
                      </a:r>
                      <a:endParaRPr sz="1100"/>
                    </a:p>
                  </a:txBody>
                  <a:tcPr marL="771525" marR="9525" marT="9525" marB="0" anchor="ctr"/>
                </a:tc>
              </a:tr>
              <a:tr h="175260">
                <a:tc>
                  <a:txBody>
                    <a:bodyPr wrap="square"/>
                    <a:lstStyle/>
                    <a:p>
                      <a:pPr algn="l"/>
                      <a:r>
                        <a:rPr sz="1100" b="0" i="0">
                          <a:solidFill>
                            <a:srgbClr val="000000"/>
                          </a:solidFill>
                          <a:latin typeface="Calibri"/>
                        </a:rPr>
                        <a:t>15.4.6.</a:t>
                      </a:r>
                      <a:r>
                        <a:rPr sz="700" b="0" i="0">
                          <a:solidFill>
                            <a:srgbClr val="000000"/>
                          </a:solidFill>
                          <a:latin typeface="Times New Roman"/>
                        </a:rPr>
                        <a:t> </a:t>
                      </a:r>
                      <a:r>
                        <a:rPr sz="1100" b="0" i="0">
                          <a:solidFill>
                            <a:srgbClr val="000000"/>
                          </a:solidFill>
                          <a:latin typeface="Calibri"/>
                        </a:rPr>
                        <a:t>By Sales Channel</a:t>
                      </a:r>
                      <a:endParaRPr sz="1100"/>
                    </a:p>
                  </a:txBody>
                  <a:tcPr marL="771525" marR="9525" marT="9525" marB="0" anchor="ctr"/>
                </a:tc>
              </a:tr>
              <a:tr h="175260">
                <a:tc>
                  <a:txBody>
                    <a:bodyPr wrap="square"/>
                    <a:lstStyle/>
                    <a:p>
                      <a:pPr algn="l"/>
                      <a:r>
                        <a:rPr sz="1100" b="0" i="0">
                          <a:solidFill>
                            <a:srgbClr val="000000"/>
                          </a:solidFill>
                          <a:latin typeface="Calibri"/>
                        </a:rPr>
                        <a:t>15.4.7.</a:t>
                      </a:r>
                      <a:r>
                        <a:rPr sz="700" b="0" i="0">
                          <a:solidFill>
                            <a:srgbClr val="000000"/>
                          </a:solidFill>
                          <a:latin typeface="Times New Roman"/>
                        </a:rPr>
                        <a:t> </a:t>
                      </a:r>
                      <a:r>
                        <a:rPr sz="1100" b="0" i="0">
                          <a:solidFill>
                            <a:srgbClr val="000000"/>
                          </a:solidFill>
                          <a:latin typeface="Calibri"/>
                        </a:rPr>
                        <a:t>By Country</a:t>
                      </a:r>
                      <a:endParaRPr sz="1100"/>
                    </a:p>
                  </a:txBody>
                  <a:tcPr marL="771525" marR="9525" marT="9525" marB="0" anchor="ctr"/>
                </a:tc>
              </a:tr>
              <a:tr h="175260">
                <a:tc>
                  <a:txBody>
                    <a:bodyPr wrap="square"/>
                    <a:lstStyle/>
                    <a:p>
                      <a:pPr algn="l"/>
                      <a:r>
                        <a:rPr sz="1100" b="1" i="0">
                          <a:solidFill>
                            <a:srgbClr val="000000"/>
                          </a:solidFill>
                          <a:latin typeface="Calibri"/>
                        </a:rPr>
                        <a:t>16.</a:t>
                      </a:r>
                      <a:r>
                        <a:rPr sz="700" b="1" i="0">
                          <a:solidFill>
                            <a:srgbClr val="000000"/>
                          </a:solidFill>
                          <a:latin typeface="Times New Roman"/>
                        </a:rPr>
                        <a:t>    </a:t>
                      </a:r>
                      <a:r>
                        <a:rPr sz="1100" b="1" i="0">
                          <a:solidFill>
                            <a:srgbClr val="000000"/>
                          </a:solidFill>
                          <a:latin typeface="Calibri"/>
                        </a:rPr>
                        <a:t>Middle East &amp; Africa Market Size (Value &amp; Volume) 2021–2036</a:t>
                      </a:r>
                      <a:endParaRPr sz="1100"/>
                    </a:p>
                  </a:txBody>
                  <a:tcPr marL="171450" marR="9525" marT="9525" marB="0" anchor="ctr"/>
                </a:tc>
              </a:tr>
              <a:tr h="175260">
                <a:tc>
                  <a:txBody>
                    <a:bodyPr wrap="square"/>
                    <a:lstStyle/>
                    <a:p>
                      <a:pPr algn="l"/>
                      <a:r>
                        <a:rPr sz="1100" b="0" i="0">
                          <a:solidFill>
                            <a:srgbClr val="0070C0"/>
                          </a:solidFill>
                          <a:latin typeface="Calibri"/>
                        </a:rPr>
                        <a:t>16.1.</a:t>
                      </a:r>
                      <a:r>
                        <a:rPr sz="700" b="0" i="0">
                          <a:solidFill>
                            <a:srgbClr val="0070C0"/>
                          </a:solidFill>
                          <a:latin typeface="Times New Roman"/>
                        </a:rPr>
                        <a:t>  </a:t>
                      </a:r>
                      <a:r>
                        <a:rPr sz="1100" b="0" i="0">
                          <a:solidFill>
                            <a:srgbClr val="0070C0"/>
                          </a:solidFill>
                          <a:latin typeface="Calibri"/>
                        </a:rPr>
                        <a:t>2021–2025: Historical Analysis</a:t>
                      </a:r>
                      <a:endParaRPr sz="1100"/>
                    </a:p>
                  </a:txBody>
                  <a:tcPr marL="428625" marR="9525" marT="9525" marB="0" anchor="ctr"/>
                </a:tc>
              </a:tr>
              <a:tr h="175260">
                <a:tc>
                  <a:txBody>
                    <a:bodyPr wrap="square"/>
                    <a:lstStyle/>
                    <a:p>
                      <a:pPr algn="l"/>
                      <a:r>
                        <a:rPr sz="1100" b="0" i="0">
                          <a:solidFill>
                            <a:srgbClr val="0070C0"/>
                          </a:solidFill>
                          <a:latin typeface="Calibri"/>
                        </a:rPr>
                        <a:t>16.2.</a:t>
                      </a:r>
                      <a:r>
                        <a:rPr sz="700" b="0" i="0">
                          <a:solidFill>
                            <a:srgbClr val="0070C0"/>
                          </a:solidFill>
                          <a:latin typeface="Times New Roman"/>
                        </a:rPr>
                        <a:t>  </a:t>
                      </a:r>
                      <a:r>
                        <a:rPr sz="1100" b="0" i="0">
                          <a:solidFill>
                            <a:srgbClr val="0070C0"/>
                          </a:solidFill>
                          <a:latin typeface="Calibri"/>
                        </a:rPr>
                        <a:t>2026–2036: Forecast Outlook</a:t>
                      </a:r>
                      <a:endParaRPr sz="1100"/>
                    </a:p>
                  </a:txBody>
                  <a:tcPr marL="428625" marR="9525" marT="9525" marB="0" anchor="ctr"/>
                </a:tc>
              </a:tr>
              <a:tr h="175260">
                <a:tc>
                  <a:txBody>
                    <a:bodyPr wrap="square"/>
                    <a:lstStyle/>
                    <a:p>
                      <a:pPr algn="l"/>
                      <a:r>
                        <a:rPr sz="1100" b="0" i="0">
                          <a:solidFill>
                            <a:srgbClr val="0070C0"/>
                          </a:solidFill>
                          <a:latin typeface="Calibri"/>
                        </a:rPr>
                        <a:t>16.3.</a:t>
                      </a:r>
                      <a:r>
                        <a:rPr sz="700" b="0" i="0">
                          <a:solidFill>
                            <a:srgbClr val="0070C0"/>
                          </a:solidFill>
                          <a:latin typeface="Times New Roman"/>
                        </a:rPr>
                        <a:t>  </a:t>
                      </a:r>
                      <a:r>
                        <a:rPr sz="1100" b="0" i="0">
                          <a:solidFill>
                            <a:srgbClr val="0070C0"/>
                          </a:solidFill>
                          <a:latin typeface="Calibri"/>
                        </a:rPr>
                        <a:t>Y-o-Y Growth Trend Analysis</a:t>
                      </a:r>
                      <a:endParaRPr sz="1100"/>
                    </a:p>
                  </a:txBody>
                  <a:tcPr marL="428625" marR="9525" marT="9525" marB="0" anchor="ctr"/>
                </a:tc>
              </a:tr>
              <a:tr h="175260">
                <a:tc>
                  <a:txBody>
                    <a:bodyPr wrap="square"/>
                    <a:lstStyle/>
                    <a:p>
                      <a:pPr algn="l"/>
                      <a:r>
                        <a:rPr sz="1100" b="0" i="0">
                          <a:solidFill>
                            <a:srgbClr val="0070C0"/>
                          </a:solidFill>
                          <a:latin typeface="Calibri"/>
                        </a:rPr>
                        <a:t>16.4.</a:t>
                      </a:r>
                      <a:r>
                        <a:rPr sz="700" b="0" i="0">
                          <a:solidFill>
                            <a:srgbClr val="0070C0"/>
                          </a:solidFill>
                          <a:latin typeface="Times New Roman"/>
                        </a:rPr>
                        <a:t>  </a:t>
                      </a:r>
                      <a:r>
                        <a:rPr sz="1100" b="0" i="0">
                          <a:solidFill>
                            <a:srgbClr val="0070C0"/>
                          </a:solidFill>
                          <a:latin typeface="Calibri"/>
                        </a:rPr>
                        <a:t>Absolute $ Opportunity Analysis</a:t>
                      </a:r>
                      <a:endParaRPr sz="1100"/>
                    </a:p>
                  </a:txBody>
                  <a:tcPr marL="428625" marR="9525" marT="9525" marB="0" anchor="ctr"/>
                </a:tc>
              </a:tr>
              <a:tr h="175260">
                <a:tc>
                  <a:txBody>
                    <a:bodyPr wrap="square"/>
                    <a:lstStyle/>
                    <a:p>
                      <a:pPr algn="l"/>
                      <a:r>
                        <a:rPr sz="1100" b="0" i="0">
                          <a:solidFill>
                            <a:srgbClr val="000000"/>
                          </a:solidFill>
                          <a:latin typeface="Calibri"/>
                        </a:rPr>
                        <a:t>16.4.1.</a:t>
                      </a:r>
                      <a:r>
                        <a:rPr sz="700" b="0" i="0">
                          <a:solidFill>
                            <a:srgbClr val="000000"/>
                          </a:solidFill>
                          <a:latin typeface="Times New Roman"/>
                        </a:rPr>
                        <a:t> </a:t>
                      </a:r>
                      <a:r>
                        <a:rPr sz="1100" b="0" i="0">
                          <a:solidFill>
                            <a:srgbClr val="000000"/>
                          </a:solidFill>
                          <a:latin typeface="Calibri"/>
                        </a:rPr>
                        <a:t>By Product Type</a:t>
                      </a:r>
                      <a:endParaRPr sz="1100"/>
                    </a:p>
                  </a:txBody>
                  <a:tcPr marL="771525" marR="9525" marT="9525" marB="0" anchor="ctr"/>
                </a:tc>
              </a:tr>
              <a:tr h="175260">
                <a:tc>
                  <a:txBody>
                    <a:bodyPr wrap="square"/>
                    <a:lstStyle/>
                    <a:p>
                      <a:pPr algn="l"/>
                      <a:r>
                        <a:rPr sz="1100" b="0" i="0">
                          <a:solidFill>
                            <a:srgbClr val="000000"/>
                          </a:solidFill>
                          <a:latin typeface="Calibri"/>
                        </a:rPr>
                        <a:t>16.4.2.</a:t>
                      </a:r>
                      <a:r>
                        <a:rPr sz="700" b="0" i="0">
                          <a:solidFill>
                            <a:srgbClr val="000000"/>
                          </a:solidFill>
                          <a:latin typeface="Times New Roman"/>
                        </a:rPr>
                        <a:t> </a:t>
                      </a:r>
                      <a:r>
                        <a:rPr sz="1100" b="0" i="0">
                          <a:solidFill>
                            <a:srgbClr val="000000"/>
                          </a:solidFill>
                          <a:latin typeface="Calibri"/>
                        </a:rPr>
                        <a:t>By Extraction / Processing Method</a:t>
                      </a:r>
                      <a:endParaRPr sz="1100"/>
                    </a:p>
                  </a:txBody>
                  <a:tcPr marL="771525" marR="9525" marT="9525" marB="0" anchor="ctr"/>
                </a:tc>
              </a:tr>
              <a:tr h="175260">
                <a:tc>
                  <a:txBody>
                    <a:bodyPr wrap="square"/>
                    <a:lstStyle/>
                    <a:p>
                      <a:pPr algn="l"/>
                      <a:r>
                        <a:rPr sz="1100" b="0" i="0">
                          <a:solidFill>
                            <a:srgbClr val="000000"/>
                          </a:solidFill>
                          <a:latin typeface="Calibri"/>
                        </a:rPr>
                        <a:t>16.4.3.</a:t>
                      </a:r>
                      <a:r>
                        <a:rPr sz="700" b="0" i="0">
                          <a:solidFill>
                            <a:srgbClr val="000000"/>
                          </a:solidFill>
                          <a:latin typeface="Times New Roman"/>
                        </a:rPr>
                        <a:t> </a:t>
                      </a:r>
                      <a:r>
                        <a:rPr sz="1100" b="0" i="0">
                          <a:solidFill>
                            <a:srgbClr val="000000"/>
                          </a:solidFill>
                          <a:latin typeface="Calibri"/>
                        </a:rPr>
                        <a:t>By Source</a:t>
                      </a:r>
                      <a:endParaRPr sz="1100"/>
                    </a:p>
                  </a:txBody>
                  <a:tcPr marL="771525" marR="9525" marT="9525" marB="0" anchor="ctr"/>
                </a:tc>
              </a:tr>
              <a:tr h="175260">
                <a:tc>
                  <a:txBody>
                    <a:bodyPr wrap="square"/>
                    <a:lstStyle/>
                    <a:p>
                      <a:pPr algn="l"/>
                      <a:r>
                        <a:rPr sz="1100" b="0" i="0">
                          <a:solidFill>
                            <a:srgbClr val="000000"/>
                          </a:solidFill>
                          <a:latin typeface="Calibri"/>
                        </a:rPr>
                        <a:t>16.4.4.</a:t>
                      </a:r>
                      <a:r>
                        <a:rPr sz="700" b="0" i="0">
                          <a:solidFill>
                            <a:srgbClr val="000000"/>
                          </a:solidFill>
                          <a:latin typeface="Times New Roman"/>
                        </a:rPr>
                        <a:t> </a:t>
                      </a:r>
                      <a:r>
                        <a:rPr sz="1100" b="0" i="0">
                          <a:solidFill>
                            <a:srgbClr val="000000"/>
                          </a:solidFill>
                          <a:latin typeface="Calibri"/>
                        </a:rPr>
                        <a:t>By Form</a:t>
                      </a:r>
                      <a:endParaRPr sz="1100"/>
                    </a:p>
                  </a:txBody>
                  <a:tcPr marL="771525" marR="9525" marT="9525" marB="0" anchor="ctr"/>
                </a:tc>
              </a:tr>
              <a:tr h="175260">
                <a:tc>
                  <a:txBody>
                    <a:bodyPr wrap="square"/>
                    <a:lstStyle/>
                    <a:p>
                      <a:pPr algn="l"/>
                      <a:r>
                        <a:rPr sz="1100" b="0" i="0">
                          <a:solidFill>
                            <a:srgbClr val="000000"/>
                          </a:solidFill>
                          <a:latin typeface="Calibri"/>
                        </a:rPr>
                        <a:t>16.4.5.</a:t>
                      </a:r>
                      <a:r>
                        <a:rPr sz="700" b="0" i="0">
                          <a:solidFill>
                            <a:srgbClr val="000000"/>
                          </a:solidFill>
                          <a:latin typeface="Times New Roman"/>
                        </a:rPr>
                        <a:t> </a:t>
                      </a:r>
                      <a:r>
                        <a:rPr sz="1100" b="0" i="0">
                          <a:solidFill>
                            <a:srgbClr val="000000"/>
                          </a:solidFill>
                          <a:latin typeface="Calibri"/>
                        </a:rPr>
                        <a:t>By Application</a:t>
                      </a:r>
                      <a:endParaRPr sz="1100"/>
                    </a:p>
                  </a:txBody>
                  <a:tcPr marL="771525" marR="9525" marT="9525" marB="0" anchor="ctr"/>
                </a:tc>
              </a:tr>
              <a:tr h="175260">
                <a:tc>
                  <a:txBody>
                    <a:bodyPr wrap="square"/>
                    <a:lstStyle/>
                    <a:p>
                      <a:pPr algn="l"/>
                      <a:r>
                        <a:rPr sz="1100" b="0" i="0">
                          <a:solidFill>
                            <a:srgbClr val="000000"/>
                          </a:solidFill>
                          <a:latin typeface="Calibri"/>
                        </a:rPr>
                        <a:t>16.4.6.</a:t>
                      </a:r>
                      <a:r>
                        <a:rPr sz="700" b="0" i="0">
                          <a:solidFill>
                            <a:srgbClr val="000000"/>
                          </a:solidFill>
                          <a:latin typeface="Times New Roman"/>
                        </a:rPr>
                        <a:t> </a:t>
                      </a:r>
                      <a:r>
                        <a:rPr sz="1100" b="0" i="0">
                          <a:solidFill>
                            <a:srgbClr val="000000"/>
                          </a:solidFill>
                          <a:latin typeface="Calibri"/>
                        </a:rPr>
                        <a:t>By Sales Channel</a:t>
                      </a:r>
                      <a:endParaRPr sz="1100"/>
                    </a:p>
                  </a:txBody>
                  <a:tcPr marL="771525" marR="9525" marT="9525" marB="0" anchor="ctr"/>
                </a:tc>
              </a:tr>
              <a:tr h="175260">
                <a:tc>
                  <a:txBody>
                    <a:bodyPr wrap="square"/>
                    <a:lstStyle/>
                    <a:p>
                      <a:pPr algn="l"/>
                      <a:r>
                        <a:rPr sz="1100" b="0" i="0">
                          <a:solidFill>
                            <a:srgbClr val="000000"/>
                          </a:solidFill>
                          <a:latin typeface="Calibri"/>
                        </a:rPr>
                        <a:t>16.4.7.</a:t>
                      </a:r>
                      <a:r>
                        <a:rPr sz="700" b="0" i="0">
                          <a:solidFill>
                            <a:srgbClr val="000000"/>
                          </a:solidFill>
                          <a:latin typeface="Times New Roman"/>
                        </a:rPr>
                        <a:t> </a:t>
                      </a:r>
                      <a:r>
                        <a:rPr sz="1100" b="0" i="0">
                          <a:solidFill>
                            <a:srgbClr val="000000"/>
                          </a:solidFill>
                          <a:latin typeface="Calibri"/>
                        </a:rPr>
                        <a:t>By Country</a:t>
                      </a:r>
                      <a:endParaRPr sz="1100"/>
                    </a:p>
                  </a:txBody>
                  <a:tcPr marL="771525" marR="9525" marT="9525" marB="0" anchor="ctr"/>
                </a:tc>
              </a:tr>
            </a:tbl>
          </a:graphicData>
        </a:graphic>
      </p:graphicFrame>
      <p:graphicFrame>
        <p:nvGraphicFramePr>
          <p:cNvPr id="7" name="TMR Contents Table"/>
          <p:cNvGraphicFramePr>
            <a:graphicFrameLocks noGrp="1"/>
          </p:cNvGraphicFramePr>
          <p:nvPr/>
        </p:nvGraphicFramePr>
        <p:xfrm>
          <a:off x="6172200" y="981075"/>
          <a:ext cx="5876925" cy="5257800"/>
        </p:xfrm>
        <a:graphic>
          <a:graphicData uri="http://schemas.openxmlformats.org/drawingml/2006/table">
            <a:tbl>
              <a:tblPr>
                <a:tableStyleId>{3B4B98B0-60AC-42C2-AFA5-B58CD77FA1E5}</a:tableStyleId>
              </a:tblPr>
              <a:tblGrid>
                <a:gridCol w="5876925"/>
              </a:tblGrid>
              <a:tr h="175260">
                <a:tc>
                  <a:txBody>
                    <a:bodyPr wrap="square"/>
                    <a:lstStyle/>
                    <a:p>
                      <a:pPr algn="l"/>
                      <a:r>
                        <a:rPr sz="1100" b="1" i="0">
                          <a:solidFill>
                            <a:srgbClr val="000000"/>
                          </a:solidFill>
                          <a:latin typeface="Calibri"/>
                        </a:rPr>
                        <a:t>Section 3: Pricing Assessment</a:t>
                      </a:r>
                      <a:endParaRPr sz="1100"/>
                    </a:p>
                  </a:txBody>
                  <a:tcPr marL="9525" marR="9525" marT="9525" marB="0" anchor="ctr"/>
                </a:tc>
              </a:tr>
              <a:tr h="175260">
                <a:tc>
                  <a:txBody>
                    <a:bodyPr wrap="square"/>
                    <a:lstStyle/>
                    <a:p>
                      <a:pPr algn="l"/>
                      <a:r>
                        <a:rPr sz="1100" b="1" i="0">
                          <a:solidFill>
                            <a:srgbClr val="000000"/>
                          </a:solidFill>
                          <a:latin typeface="Calibri"/>
                        </a:rPr>
                        <a:t>17.</a:t>
                      </a:r>
                      <a:r>
                        <a:rPr sz="700" b="1" i="0">
                          <a:solidFill>
                            <a:srgbClr val="000000"/>
                          </a:solidFill>
                          <a:latin typeface="Times New Roman"/>
                        </a:rPr>
                        <a:t>    </a:t>
                      </a:r>
                      <a:r>
                        <a:rPr sz="1100" b="1" i="0">
                          <a:solidFill>
                            <a:srgbClr val="000000"/>
                          </a:solidFill>
                          <a:latin typeface="Calibri"/>
                        </a:rPr>
                        <a:t>Global Pricing Analysis</a:t>
                      </a:r>
                      <a:endParaRPr sz="1100"/>
                    </a:p>
                  </a:txBody>
                  <a:tcPr marL="171450" marR="9525" marT="9525" marB="0" anchor="ctr"/>
                </a:tc>
              </a:tr>
              <a:tr h="175260">
                <a:tc>
                  <a:txBody>
                    <a:bodyPr wrap="square"/>
                    <a:lstStyle/>
                    <a:p>
                      <a:pPr algn="l"/>
                      <a:r>
                        <a:rPr sz="1100" b="0" i="0">
                          <a:solidFill>
                            <a:srgbClr val="0070C0"/>
                          </a:solidFill>
                          <a:latin typeface="Calibri"/>
                        </a:rPr>
                        <a:t>17.1.</a:t>
                      </a:r>
                      <a:r>
                        <a:rPr sz="700" b="0" i="0">
                          <a:solidFill>
                            <a:srgbClr val="0070C0"/>
                          </a:solidFill>
                          <a:latin typeface="Times New Roman"/>
                        </a:rPr>
                        <a:t>  </a:t>
                      </a:r>
                      <a:r>
                        <a:rPr sz="1100" b="0" i="0">
                          <a:solidFill>
                            <a:srgbClr val="0070C0"/>
                          </a:solidFill>
                          <a:latin typeface="Calibri"/>
                        </a:rPr>
                        <a:t>Regional Price Assessment</a:t>
                      </a:r>
                      <a:endParaRPr sz="1100"/>
                    </a:p>
                  </a:txBody>
                  <a:tcPr marL="428625" marR="9525" marT="9525" marB="0" anchor="ctr"/>
                </a:tc>
              </a:tr>
              <a:tr h="175260">
                <a:tc>
                  <a:txBody>
                    <a:bodyPr wrap="square"/>
                    <a:lstStyle/>
                    <a:p>
                      <a:pPr algn="l"/>
                      <a:r>
                        <a:rPr sz="1100" b="0" i="0">
                          <a:solidFill>
                            <a:srgbClr val="000000"/>
                          </a:solidFill>
                          <a:latin typeface="Calibri"/>
                        </a:rPr>
                        <a:t>17.1.1.</a:t>
                      </a:r>
                      <a:r>
                        <a:rPr sz="700" b="0" i="0">
                          <a:solidFill>
                            <a:srgbClr val="000000"/>
                          </a:solidFill>
                          <a:latin typeface="Times New Roman"/>
                        </a:rPr>
                        <a:t> </a:t>
                      </a:r>
                      <a:r>
                        <a:rPr sz="1100" b="0" i="0">
                          <a:solidFill>
                            <a:srgbClr val="000000"/>
                          </a:solidFill>
                          <a:latin typeface="Calibri"/>
                        </a:rPr>
                        <a:t>Manufacturer Level Pricing</a:t>
                      </a:r>
                      <a:endParaRPr sz="1100"/>
                    </a:p>
                  </a:txBody>
                  <a:tcPr marL="771525" marR="9525" marT="9525" marB="0" anchor="ctr"/>
                </a:tc>
              </a:tr>
              <a:tr h="175260">
                <a:tc>
                  <a:txBody>
                    <a:bodyPr wrap="square"/>
                    <a:lstStyle/>
                    <a:p>
                      <a:pPr algn="l"/>
                      <a:r>
                        <a:rPr sz="1100" b="0" i="0">
                          <a:solidFill>
                            <a:srgbClr val="000000"/>
                          </a:solidFill>
                          <a:latin typeface="Calibri"/>
                        </a:rPr>
                        <a:t>17.1.2.</a:t>
                      </a:r>
                      <a:r>
                        <a:rPr sz="700" b="0" i="0">
                          <a:solidFill>
                            <a:srgbClr val="000000"/>
                          </a:solidFill>
                          <a:latin typeface="Times New Roman"/>
                        </a:rPr>
                        <a:t> </a:t>
                      </a:r>
                      <a:r>
                        <a:rPr sz="1100" b="0" i="0">
                          <a:solidFill>
                            <a:srgbClr val="000000"/>
                          </a:solidFill>
                          <a:latin typeface="Calibri"/>
                        </a:rPr>
                        <a:t>Distributor Level Pricing</a:t>
                      </a:r>
                      <a:endParaRPr sz="1100"/>
                    </a:p>
                  </a:txBody>
                  <a:tcPr marL="771525" marR="9525" marT="9525" marB="0" anchor="ctr"/>
                </a:tc>
              </a:tr>
              <a:tr h="175260">
                <a:tc>
                  <a:txBody>
                    <a:bodyPr wrap="square"/>
                    <a:lstStyle/>
                    <a:p>
                      <a:pPr algn="l"/>
                      <a:r>
                        <a:rPr sz="1100" b="0" i="0">
                          <a:solidFill>
                            <a:srgbClr val="000000"/>
                          </a:solidFill>
                          <a:latin typeface="Calibri"/>
                        </a:rPr>
                        <a:t>17.1.3.</a:t>
                      </a:r>
                      <a:r>
                        <a:rPr sz="700" b="0" i="0">
                          <a:solidFill>
                            <a:srgbClr val="000000"/>
                          </a:solidFill>
                          <a:latin typeface="Times New Roman"/>
                        </a:rPr>
                        <a:t> </a:t>
                      </a:r>
                      <a:r>
                        <a:rPr sz="1100" b="0" i="0">
                          <a:solidFill>
                            <a:srgbClr val="000000"/>
                          </a:solidFill>
                          <a:latin typeface="Calibri"/>
                        </a:rPr>
                        <a:t>Retail Pricing (where applicable)</a:t>
                      </a:r>
                      <a:endParaRPr sz="1100"/>
                    </a:p>
                  </a:txBody>
                  <a:tcPr marL="771525" marR="9525" marT="9525" marB="0" anchor="ctr"/>
                </a:tc>
              </a:tr>
              <a:tr h="350520">
                <a:tc>
                  <a:txBody>
                    <a:bodyPr wrap="square"/>
                    <a:lstStyle/>
                    <a:p>
                      <a:pPr algn="l"/>
                      <a:r>
                        <a:rPr sz="1100" b="0" i="0">
                          <a:solidFill>
                            <a:srgbClr val="0070C0"/>
                          </a:solidFill>
                          <a:latin typeface="Calibri"/>
                        </a:rPr>
                        <a:t>17.2.</a:t>
                      </a:r>
                      <a:r>
                        <a:rPr sz="700" b="0" i="0">
                          <a:solidFill>
                            <a:srgbClr val="0070C0"/>
                          </a:solidFill>
                          <a:latin typeface="Times New Roman"/>
                        </a:rPr>
                        <a:t>  </a:t>
                      </a:r>
                      <a:r>
                        <a:rPr sz="1100" b="0" i="0">
                          <a:solidFill>
                            <a:srgbClr val="0070C0"/>
                          </a:solidFill>
                          <a:latin typeface="Calibri"/>
                        </a:rPr>
                        <a:t>Global and Regional Egg Membrane Protein Price Benchmarks by Product Type (USD/kg)</a:t>
                      </a:r>
                      <a:endParaRPr sz="1100"/>
                    </a:p>
                  </a:txBody>
                  <a:tcPr marL="428625" marR="9525" marT="9525" marB="0" anchor="ctr"/>
                </a:tc>
              </a:tr>
              <a:tr h="175260">
                <a:tc>
                  <a:txBody>
                    <a:bodyPr wrap="square"/>
                    <a:lstStyle/>
                    <a:p>
                      <a:pPr algn="l"/>
                      <a:r>
                        <a:rPr sz="1100" b="0" i="0">
                          <a:solidFill>
                            <a:srgbClr val="0070C0"/>
                          </a:solidFill>
                          <a:latin typeface="Calibri"/>
                        </a:rPr>
                        <a:t>17.3.</a:t>
                      </a:r>
                      <a:r>
                        <a:rPr sz="700" b="0" i="0">
                          <a:solidFill>
                            <a:srgbClr val="0070C0"/>
                          </a:solidFill>
                          <a:latin typeface="Times New Roman"/>
                        </a:rPr>
                        <a:t>  </a:t>
                      </a:r>
                      <a:r>
                        <a:rPr sz="1100" b="0" i="0">
                          <a:solidFill>
                            <a:srgbClr val="0070C0"/>
                          </a:solidFill>
                          <a:latin typeface="Calibri"/>
                        </a:rPr>
                        <a:t>Historical Price Trends and Forecast CAGR by Product Type (2021–2036)</a:t>
                      </a:r>
                      <a:endParaRPr sz="1100"/>
                    </a:p>
                  </a:txBody>
                  <a:tcPr marL="428625" marR="9525" marT="9525" marB="0" anchor="ctr"/>
                </a:tc>
              </a:tr>
              <a:tr h="350520">
                <a:tc>
                  <a:txBody>
                    <a:bodyPr wrap="square"/>
                    <a:lstStyle/>
                    <a:p>
                      <a:pPr algn="l"/>
                      <a:r>
                        <a:rPr sz="1100" b="0" i="0">
                          <a:solidFill>
                            <a:srgbClr val="0070C0"/>
                          </a:solidFill>
                          <a:latin typeface="Calibri"/>
                        </a:rPr>
                        <a:t>17.4.</a:t>
                      </a:r>
                      <a:r>
                        <a:rPr sz="700" b="0" i="0">
                          <a:solidFill>
                            <a:srgbClr val="0070C0"/>
                          </a:solidFill>
                          <a:latin typeface="Times New Roman"/>
                        </a:rPr>
                        <a:t>  </a:t>
                      </a:r>
                      <a:r>
                        <a:rPr sz="1100" b="0" i="0">
                          <a:solidFill>
                            <a:srgbClr val="0070C0"/>
                          </a:solidFill>
                          <a:latin typeface="Calibri"/>
                        </a:rPr>
                        <a:t>Application-wise Ingredient Pricing Across Nutraceuticals, Cosmetics, Functional Foods, Pharmaceuticals, and Animal Nutrition</a:t>
                      </a:r>
                      <a:endParaRPr sz="1100"/>
                    </a:p>
                  </a:txBody>
                  <a:tcPr marL="428625" marR="9525" marT="9525" marB="0" anchor="ctr"/>
                </a:tc>
              </a:tr>
              <a:tr h="175260">
                <a:tc>
                  <a:txBody>
                    <a:bodyPr wrap="square"/>
                    <a:lstStyle/>
                    <a:p>
                      <a:pPr algn="l"/>
                      <a:r>
                        <a:rPr sz="1100" b="0" i="0">
                          <a:solidFill>
                            <a:srgbClr val="0070C0"/>
                          </a:solidFill>
                          <a:latin typeface="Calibri"/>
                        </a:rPr>
                        <a:t>17.5.</a:t>
                      </a:r>
                      <a:r>
                        <a:rPr sz="700" b="0" i="0">
                          <a:solidFill>
                            <a:srgbClr val="0070C0"/>
                          </a:solidFill>
                          <a:latin typeface="Times New Roman"/>
                        </a:rPr>
                        <a:t>  </a:t>
                      </a:r>
                      <a:r>
                        <a:rPr sz="1100" b="0" i="0">
                          <a:solidFill>
                            <a:srgbClr val="0070C0"/>
                          </a:solidFill>
                          <a:latin typeface="Calibri"/>
                        </a:rPr>
                        <a:t>Country-wise Price Comparison (Product Type)</a:t>
                      </a:r>
                      <a:endParaRPr sz="1100"/>
                    </a:p>
                  </a:txBody>
                  <a:tcPr marL="428625" marR="9525" marT="9525" marB="0" anchor="ctr"/>
                </a:tc>
              </a:tr>
              <a:tr h="175260">
                <a:tc>
                  <a:txBody>
                    <a:bodyPr wrap="square"/>
                    <a:lstStyle/>
                    <a:p>
                      <a:pPr algn="l"/>
                      <a:r>
                        <a:rPr sz="1100" b="0" i="0">
                          <a:solidFill>
                            <a:srgbClr val="0070C0"/>
                          </a:solidFill>
                          <a:latin typeface="Calibri"/>
                        </a:rPr>
                        <a:t>17.6.</a:t>
                      </a:r>
                      <a:r>
                        <a:rPr sz="700" b="0" i="0">
                          <a:solidFill>
                            <a:srgbClr val="0070C0"/>
                          </a:solidFill>
                          <a:latin typeface="Times New Roman"/>
                        </a:rPr>
                        <a:t>  </a:t>
                      </a:r>
                      <a:r>
                        <a:rPr sz="1100" b="0" i="0">
                          <a:solidFill>
                            <a:srgbClr val="0070C0"/>
                          </a:solidFill>
                          <a:latin typeface="Calibri"/>
                        </a:rPr>
                        <a:t>Price Forecast till 2036</a:t>
                      </a:r>
                      <a:endParaRPr sz="1100"/>
                    </a:p>
                  </a:txBody>
                  <a:tcPr marL="428625" marR="9525" marT="9525" marB="0" anchor="ctr"/>
                </a:tc>
              </a:tr>
              <a:tr h="175260">
                <a:tc>
                  <a:txBody>
                    <a:bodyPr wrap="square"/>
                    <a:lstStyle/>
                    <a:p>
                      <a:pPr algn="l"/>
                      <a:r>
                        <a:rPr sz="1100" b="0" i="0">
                          <a:solidFill>
                            <a:srgbClr val="0070C0"/>
                          </a:solidFill>
                          <a:latin typeface="Calibri"/>
                        </a:rPr>
                        <a:t>17.7.</a:t>
                      </a:r>
                      <a:r>
                        <a:rPr sz="700" b="0" i="0">
                          <a:solidFill>
                            <a:srgbClr val="0070C0"/>
                          </a:solidFill>
                          <a:latin typeface="Times New Roman"/>
                        </a:rPr>
                        <a:t>  </a:t>
                      </a:r>
                      <a:r>
                        <a:rPr sz="1100" b="0" i="0">
                          <a:solidFill>
                            <a:srgbClr val="0070C0"/>
                          </a:solidFill>
                          <a:latin typeface="Calibri"/>
                        </a:rPr>
                        <a:t>Factors Impacting Pricing</a:t>
                      </a:r>
                      <a:endParaRPr sz="1100"/>
                    </a:p>
                  </a:txBody>
                  <a:tcPr marL="428625" marR="9525" marT="9525" marB="0" anchor="ctr"/>
                </a:tc>
              </a:tr>
              <a:tr h="175260">
                <a:tc>
                  <a:txBody>
                    <a:bodyPr wrap="square"/>
                    <a:lstStyle/>
                    <a:p>
                      <a:pPr algn="l"/>
                      <a:r>
                        <a:rPr sz="1100" b="0" i="0">
                          <a:solidFill>
                            <a:srgbClr val="0070C0"/>
                          </a:solidFill>
                          <a:latin typeface="Calibri"/>
                        </a:rPr>
                        <a:t>17.8.</a:t>
                      </a:r>
                      <a:r>
                        <a:rPr sz="700" b="0" i="0">
                          <a:solidFill>
                            <a:srgbClr val="0070C0"/>
                          </a:solidFill>
                          <a:latin typeface="Times New Roman"/>
                        </a:rPr>
                        <a:t>  </a:t>
                      </a:r>
                      <a:r>
                        <a:rPr sz="1100" b="0" i="0">
                          <a:solidFill>
                            <a:srgbClr val="0070C0"/>
                          </a:solidFill>
                          <a:latin typeface="Calibri"/>
                        </a:rPr>
                        <a:t>Competitor Pricing Strategies</a:t>
                      </a:r>
                      <a:endParaRPr sz="1100"/>
                    </a:p>
                  </a:txBody>
                  <a:tcPr marL="428625" marR="9525" marT="9525" marB="0" anchor="ctr"/>
                </a:tc>
              </a:tr>
              <a:tr h="175260">
                <a:tc>
                  <a:txBody>
                    <a:bodyPr wrap="square"/>
                    <a:lstStyle/>
                    <a:p>
                      <a:pPr algn="l"/>
                      <a:r>
                        <a:rPr sz="1100" b="1" i="0">
                          <a:solidFill>
                            <a:srgbClr val="000000"/>
                          </a:solidFill>
                          <a:latin typeface="Calibri"/>
                        </a:rPr>
                        <a:t>Section 4: Market Dynamics</a:t>
                      </a:r>
                      <a:endParaRPr sz="1100"/>
                    </a:p>
                  </a:txBody>
                  <a:tcPr marL="9525" marR="9525" marT="9525" marB="0" anchor="ctr"/>
                </a:tc>
              </a:tr>
              <a:tr h="175260">
                <a:tc>
                  <a:txBody>
                    <a:bodyPr wrap="square"/>
                    <a:lstStyle/>
                    <a:p>
                      <a:pPr algn="l"/>
                      <a:r>
                        <a:rPr sz="1100" b="1" i="0">
                          <a:solidFill>
                            <a:srgbClr val="000000"/>
                          </a:solidFill>
                          <a:latin typeface="Calibri"/>
                        </a:rPr>
                        <a:t>18.</a:t>
                      </a:r>
                      <a:r>
                        <a:rPr sz="700" b="1" i="0">
                          <a:solidFill>
                            <a:srgbClr val="000000"/>
                          </a:solidFill>
                          <a:latin typeface="Times New Roman"/>
                        </a:rPr>
                        <a:t>    </a:t>
                      </a:r>
                      <a:r>
                        <a:rPr sz="1100" b="1" i="0">
                          <a:solidFill>
                            <a:srgbClr val="000000"/>
                          </a:solidFill>
                          <a:latin typeface="Calibri"/>
                        </a:rPr>
                        <a:t>Innovation Tracker</a:t>
                      </a:r>
                      <a:endParaRPr sz="1100"/>
                    </a:p>
                  </a:txBody>
                  <a:tcPr marL="171450" marR="9525" marT="9525" marB="0" anchor="ctr"/>
                </a:tc>
              </a:tr>
              <a:tr h="175260">
                <a:tc>
                  <a:txBody>
                    <a:bodyPr wrap="square"/>
                    <a:lstStyle/>
                    <a:p>
                      <a:pPr algn="l"/>
                      <a:r>
                        <a:rPr sz="1100" b="0" i="0">
                          <a:solidFill>
                            <a:srgbClr val="0070C0"/>
                          </a:solidFill>
                          <a:latin typeface="Calibri"/>
                        </a:rPr>
                        <a:t>18.1.</a:t>
                      </a:r>
                      <a:r>
                        <a:rPr sz="700" b="0" i="0">
                          <a:solidFill>
                            <a:srgbClr val="0070C0"/>
                          </a:solidFill>
                          <a:latin typeface="Times New Roman"/>
                        </a:rPr>
                        <a:t>  </a:t>
                      </a:r>
                      <a:r>
                        <a:rPr sz="1100" b="0" i="0">
                          <a:solidFill>
                            <a:srgbClr val="0070C0"/>
                          </a:solidFill>
                          <a:latin typeface="Calibri"/>
                        </a:rPr>
                        <a:t>Major Deals and Strategic Alliance</a:t>
                      </a:r>
                      <a:endParaRPr sz="1100"/>
                    </a:p>
                  </a:txBody>
                  <a:tcPr marL="428625" marR="9525" marT="9525" marB="0" anchor="ctr"/>
                </a:tc>
              </a:tr>
              <a:tr h="175260">
                <a:tc>
                  <a:txBody>
                    <a:bodyPr wrap="square"/>
                    <a:lstStyle/>
                    <a:p>
                      <a:pPr algn="l"/>
                      <a:r>
                        <a:rPr sz="1100" b="0" i="0">
                          <a:solidFill>
                            <a:srgbClr val="000000"/>
                          </a:solidFill>
                          <a:latin typeface="Calibri"/>
                        </a:rPr>
                        <a:t>18.1.1.</a:t>
                      </a:r>
                      <a:r>
                        <a:rPr sz="700" b="0" i="0">
                          <a:solidFill>
                            <a:srgbClr val="000000"/>
                          </a:solidFill>
                          <a:latin typeface="Times New Roman"/>
                        </a:rPr>
                        <a:t> </a:t>
                      </a:r>
                      <a:r>
                        <a:rPr sz="1100" b="0" i="0">
                          <a:solidFill>
                            <a:srgbClr val="000000"/>
                          </a:solidFill>
                          <a:latin typeface="Calibri"/>
                        </a:rPr>
                        <a:t>Joint Ventures, M&amp;A, Licensing &amp; Partnerships</a:t>
                      </a:r>
                      <a:endParaRPr sz="1100"/>
                    </a:p>
                  </a:txBody>
                  <a:tcPr marL="771525" marR="9525" marT="9525" marB="0" anchor="ctr"/>
                </a:tc>
              </a:tr>
              <a:tr h="175260">
                <a:tc>
                  <a:txBody>
                    <a:bodyPr wrap="square"/>
                    <a:lstStyle/>
                    <a:p>
                      <a:pPr algn="l"/>
                      <a:r>
                        <a:rPr sz="1100" b="0" i="0">
                          <a:solidFill>
                            <a:srgbClr val="000000"/>
                          </a:solidFill>
                          <a:latin typeface="Calibri"/>
                        </a:rPr>
                        <a:t>18.1.2.</a:t>
                      </a:r>
                      <a:r>
                        <a:rPr sz="700" b="0" i="0">
                          <a:solidFill>
                            <a:srgbClr val="000000"/>
                          </a:solidFill>
                          <a:latin typeface="Times New Roman"/>
                        </a:rPr>
                        <a:t> </a:t>
                      </a:r>
                      <a:r>
                        <a:rPr sz="1100" b="0" i="0">
                          <a:solidFill>
                            <a:srgbClr val="000000"/>
                          </a:solidFill>
                          <a:latin typeface="Calibri"/>
                        </a:rPr>
                        <a:t>Technology Collaboration</a:t>
                      </a:r>
                      <a:endParaRPr sz="1100"/>
                    </a:p>
                  </a:txBody>
                  <a:tcPr marL="771525" marR="9525" marT="9525" marB="0" anchor="ctr"/>
                </a:tc>
              </a:tr>
              <a:tr h="175260">
                <a:tc>
                  <a:txBody>
                    <a:bodyPr wrap="square"/>
                    <a:lstStyle/>
                    <a:p>
                      <a:pPr algn="l"/>
                      <a:r>
                        <a:rPr sz="1100" b="0" i="0">
                          <a:solidFill>
                            <a:srgbClr val="000000"/>
                          </a:solidFill>
                          <a:latin typeface="Calibri"/>
                        </a:rPr>
                        <a:t>18.1.3.</a:t>
                      </a:r>
                      <a:r>
                        <a:rPr sz="700" b="0" i="0">
                          <a:solidFill>
                            <a:srgbClr val="000000"/>
                          </a:solidFill>
                          <a:latin typeface="Times New Roman"/>
                        </a:rPr>
                        <a:t> </a:t>
                      </a:r>
                      <a:r>
                        <a:rPr sz="1100" b="0" i="0">
                          <a:solidFill>
                            <a:srgbClr val="000000"/>
                          </a:solidFill>
                          <a:latin typeface="Calibri"/>
                        </a:rPr>
                        <a:t>Strategic Divestments/ Investments</a:t>
                      </a:r>
                      <a:endParaRPr sz="1100"/>
                    </a:p>
                  </a:txBody>
                  <a:tcPr marL="771525" marR="9525" marT="9525" marB="0" anchor="ctr"/>
                </a:tc>
              </a:tr>
              <a:tr h="175260">
                <a:tc>
                  <a:txBody>
                    <a:bodyPr wrap="square"/>
                    <a:lstStyle/>
                    <a:p>
                      <a:pPr algn="l"/>
                      <a:r>
                        <a:rPr sz="1100" b="0" i="0">
                          <a:solidFill>
                            <a:srgbClr val="0070C0"/>
                          </a:solidFill>
                          <a:latin typeface="Calibri"/>
                        </a:rPr>
                        <a:t>18.2.</a:t>
                      </a:r>
                      <a:r>
                        <a:rPr sz="700" b="0" i="0">
                          <a:solidFill>
                            <a:srgbClr val="0070C0"/>
                          </a:solidFill>
                          <a:latin typeface="Times New Roman"/>
                        </a:rPr>
                        <a:t>  </a:t>
                      </a:r>
                      <a:r>
                        <a:rPr sz="1100" b="0" i="0">
                          <a:solidFill>
                            <a:srgbClr val="0070C0"/>
                          </a:solidFill>
                          <a:latin typeface="Calibri"/>
                        </a:rPr>
                        <a:t>Product Launches &amp; Development</a:t>
                      </a:r>
                      <a:endParaRPr sz="1100"/>
                    </a:p>
                  </a:txBody>
                  <a:tcPr marL="428625" marR="9525" marT="9525" marB="0" anchor="ctr"/>
                </a:tc>
              </a:tr>
              <a:tr h="175260">
                <a:tc>
                  <a:txBody>
                    <a:bodyPr wrap="square"/>
                    <a:lstStyle/>
                    <a:p>
                      <a:pPr algn="l"/>
                      <a:r>
                        <a:rPr sz="1100" b="1" i="0">
                          <a:solidFill>
                            <a:srgbClr val="000000"/>
                          </a:solidFill>
                          <a:latin typeface="Calibri"/>
                        </a:rPr>
                        <a:t>19.</a:t>
                      </a:r>
                      <a:r>
                        <a:rPr sz="700" b="1" i="0">
                          <a:solidFill>
                            <a:srgbClr val="000000"/>
                          </a:solidFill>
                          <a:latin typeface="Times New Roman"/>
                        </a:rPr>
                        <a:t>    </a:t>
                      </a:r>
                      <a:r>
                        <a:rPr sz="1100" b="1" i="0">
                          <a:solidFill>
                            <a:srgbClr val="000000"/>
                          </a:solidFill>
                          <a:latin typeface="Calibri"/>
                        </a:rPr>
                        <a:t>Stakeholder Perspectives – Manufacturer, Customer &amp; Distributor Insights</a:t>
                      </a:r>
                      <a:endParaRPr sz="1100"/>
                    </a:p>
                  </a:txBody>
                  <a:tcPr marL="171450" marR="9525" marT="9525" marB="0" anchor="ctr"/>
                </a:tc>
              </a:tr>
              <a:tr h="175260">
                <a:tc>
                  <a:txBody>
                    <a:bodyPr wrap="square"/>
                    <a:lstStyle/>
                    <a:p>
                      <a:pPr algn="l"/>
                      <a:r>
                        <a:rPr sz="1100" b="0" i="0">
                          <a:solidFill>
                            <a:srgbClr val="0070C0"/>
                          </a:solidFill>
                          <a:latin typeface="Calibri"/>
                        </a:rPr>
                        <a:t>19.1.</a:t>
                      </a:r>
                      <a:r>
                        <a:rPr sz="700" b="0" i="0">
                          <a:solidFill>
                            <a:srgbClr val="0070C0"/>
                          </a:solidFill>
                          <a:latin typeface="Times New Roman"/>
                        </a:rPr>
                        <a:t>  </a:t>
                      </a:r>
                      <a:r>
                        <a:rPr sz="1100" b="0" i="0">
                          <a:solidFill>
                            <a:srgbClr val="0070C0"/>
                          </a:solidFill>
                          <a:latin typeface="Calibri"/>
                        </a:rPr>
                        <a:t>Stakeholder Insights</a:t>
                      </a:r>
                      <a:endParaRPr sz="1100"/>
                    </a:p>
                  </a:txBody>
                  <a:tcPr marL="428625" marR="9525" marT="9525" marB="0" anchor="ctr"/>
                </a:tc>
              </a:tr>
              <a:tr h="175260">
                <a:tc>
                  <a:txBody>
                    <a:bodyPr wrap="square"/>
                    <a:lstStyle/>
                    <a:p>
                      <a:pPr algn="l"/>
                      <a:r>
                        <a:rPr sz="1100" b="0" i="0">
                          <a:solidFill>
                            <a:srgbClr val="000000"/>
                          </a:solidFill>
                          <a:latin typeface="Calibri"/>
                        </a:rPr>
                        <a:t>19.1.1.</a:t>
                      </a:r>
                      <a:r>
                        <a:rPr sz="700" b="0" i="0">
                          <a:solidFill>
                            <a:srgbClr val="000000"/>
                          </a:solidFill>
                          <a:latin typeface="Times New Roman"/>
                        </a:rPr>
                        <a:t> </a:t>
                      </a:r>
                      <a:r>
                        <a:rPr sz="1100" b="0" i="0">
                          <a:solidFill>
                            <a:srgbClr val="000000"/>
                          </a:solidFill>
                          <a:latin typeface="Calibri"/>
                        </a:rPr>
                        <a:t>Manufacturers</a:t>
                      </a:r>
                      <a:endParaRPr sz="1100"/>
                    </a:p>
                  </a:txBody>
                  <a:tcPr marL="771525" marR="9525" marT="9525" marB="0" anchor="ctr"/>
                </a:tc>
              </a:tr>
              <a:tr h="175260">
                <a:tc>
                  <a:txBody>
                    <a:bodyPr wrap="square"/>
                    <a:lstStyle/>
                    <a:p>
                      <a:pPr algn="l"/>
                      <a:r>
                        <a:rPr sz="1100" b="0" i="0">
                          <a:solidFill>
                            <a:srgbClr val="000000"/>
                          </a:solidFill>
                          <a:latin typeface="Calibri"/>
                        </a:rPr>
                        <a:t>19.1.2.</a:t>
                      </a:r>
                      <a:r>
                        <a:rPr sz="700" b="0" i="0">
                          <a:solidFill>
                            <a:srgbClr val="000000"/>
                          </a:solidFill>
                          <a:latin typeface="Times New Roman"/>
                        </a:rPr>
                        <a:t> </a:t>
                      </a:r>
                      <a:r>
                        <a:rPr sz="1100" b="0" i="0">
                          <a:solidFill>
                            <a:srgbClr val="000000"/>
                          </a:solidFill>
                          <a:latin typeface="Calibri"/>
                        </a:rPr>
                        <a:t>Customers</a:t>
                      </a:r>
                      <a:endParaRPr sz="1100"/>
                    </a:p>
                  </a:txBody>
                  <a:tcPr marL="771525" marR="9525" marT="9525" marB="0" anchor="ctr"/>
                </a:tc>
              </a:tr>
              <a:tr h="175260">
                <a:tc>
                  <a:txBody>
                    <a:bodyPr wrap="square"/>
                    <a:lstStyle/>
                    <a:p>
                      <a:pPr algn="l"/>
                      <a:r>
                        <a:rPr sz="1100" b="0" i="0">
                          <a:solidFill>
                            <a:srgbClr val="000000"/>
                          </a:solidFill>
                          <a:latin typeface="Calibri"/>
                        </a:rPr>
                        <a:t>19.1.3.</a:t>
                      </a:r>
                      <a:r>
                        <a:rPr sz="700" b="0" i="0">
                          <a:solidFill>
                            <a:srgbClr val="000000"/>
                          </a:solidFill>
                          <a:latin typeface="Times New Roman"/>
                        </a:rPr>
                        <a:t> </a:t>
                      </a:r>
                      <a:r>
                        <a:rPr sz="1100" b="0" i="0">
                          <a:solidFill>
                            <a:srgbClr val="000000"/>
                          </a:solidFill>
                          <a:latin typeface="Calibri"/>
                        </a:rPr>
                        <a:t>Distributors</a:t>
                      </a:r>
                      <a:endParaRPr sz="1100"/>
                    </a:p>
                  </a:txBody>
                  <a:tcPr marL="771525" marR="9525" marT="9525" marB="0" anchor="ctr"/>
                </a:tc>
              </a:tr>
              <a:tr h="175260">
                <a:tc>
                  <a:txBody>
                    <a:bodyPr wrap="square"/>
                    <a:lstStyle/>
                    <a:p>
                      <a:pPr algn="l"/>
                      <a:r>
                        <a:rPr sz="1100" b="0" i="0">
                          <a:solidFill>
                            <a:srgbClr val="0070C0"/>
                          </a:solidFill>
                          <a:latin typeface="Calibri"/>
                        </a:rPr>
                        <a:t>19.2.</a:t>
                      </a:r>
                      <a:r>
                        <a:rPr sz="700" b="0" i="0">
                          <a:solidFill>
                            <a:srgbClr val="0070C0"/>
                          </a:solidFill>
                          <a:latin typeface="Times New Roman"/>
                        </a:rPr>
                        <a:t>  </a:t>
                      </a:r>
                      <a:r>
                        <a:rPr sz="1100" b="0" i="0">
                          <a:solidFill>
                            <a:srgbClr val="0070C0"/>
                          </a:solidFill>
                          <a:latin typeface="Calibri"/>
                        </a:rPr>
                        <a:t>Country- Level Market Drivers</a:t>
                      </a:r>
                      <a:endParaRPr sz="1100"/>
                    </a:p>
                  </a:txBody>
                  <a:tcPr marL="428625" marR="9525" marT="9525" marB="0" anchor="ctr"/>
                </a:tc>
              </a:tr>
              <a:tr h="175260">
                <a:tc>
                  <a:txBody>
                    <a:bodyPr wrap="square"/>
                    <a:lstStyle/>
                    <a:p>
                      <a:pPr algn="l"/>
                      <a:r>
                        <a:rPr sz="1100" b="0" i="0">
                          <a:solidFill>
                            <a:srgbClr val="000000"/>
                          </a:solidFill>
                          <a:latin typeface="Calibri"/>
                        </a:rPr>
                        <a:t>19.2.1.</a:t>
                      </a:r>
                      <a:r>
                        <a:rPr sz="700" b="0" i="0">
                          <a:solidFill>
                            <a:srgbClr val="000000"/>
                          </a:solidFill>
                          <a:latin typeface="Times New Roman"/>
                        </a:rPr>
                        <a:t> </a:t>
                      </a:r>
                      <a:r>
                        <a:rPr sz="1100" b="0" i="0">
                          <a:solidFill>
                            <a:srgbClr val="000000"/>
                          </a:solidFill>
                          <a:latin typeface="Calibri"/>
                        </a:rPr>
                        <a:t>Supply Side Drivers</a:t>
                      </a:r>
                      <a:endParaRPr sz="1100"/>
                    </a:p>
                  </a:txBody>
                  <a:tcPr marL="771525" marR="9525" marT="9525" marB="0" anchor="ctr"/>
                </a:tc>
              </a:tr>
              <a:tr h="175260">
                <a:tc>
                  <a:txBody>
                    <a:bodyPr wrap="square"/>
                    <a:lstStyle/>
                    <a:p>
                      <a:pPr algn="l"/>
                      <a:r>
                        <a:rPr sz="1100" b="0" i="0">
                          <a:solidFill>
                            <a:srgbClr val="000000"/>
                          </a:solidFill>
                          <a:latin typeface="Calibri"/>
                        </a:rPr>
                        <a:t>19.2.2.</a:t>
                      </a:r>
                      <a:r>
                        <a:rPr sz="700" b="0" i="0">
                          <a:solidFill>
                            <a:srgbClr val="000000"/>
                          </a:solidFill>
                          <a:latin typeface="Times New Roman"/>
                        </a:rPr>
                        <a:t> </a:t>
                      </a:r>
                      <a:r>
                        <a:rPr sz="1100" b="0" i="0">
                          <a:solidFill>
                            <a:srgbClr val="000000"/>
                          </a:solidFill>
                          <a:latin typeface="Calibri"/>
                        </a:rPr>
                        <a:t>Demand Side drivers</a:t>
                      </a:r>
                      <a:endParaRPr sz="1100"/>
                    </a:p>
                  </a:txBody>
                  <a:tcPr marL="771525" marR="9525" marT="9525" marB="0" anchor="ctr"/>
                </a:tc>
              </a:tr>
            </a:tbl>
          </a:graphicData>
        </a:graphic>
      </p:graphicFrame>
      <p:sp>
        <p:nvSpPr>
          <p:cNvPr id="8" name="Rectangle 7"/>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76200"/>
            <a:ext cx="10896600"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Table of Contents (5/6)</a:t>
            </a:r>
          </a:p>
        </p:txBody>
      </p:sp>
      <p:graphicFrame>
        <p:nvGraphicFramePr>
          <p:cNvPr id="6" name="TMR Contents Table"/>
          <p:cNvGraphicFramePr>
            <a:graphicFrameLocks noGrp="1"/>
          </p:cNvGraphicFramePr>
          <p:nvPr/>
        </p:nvGraphicFramePr>
        <p:xfrm>
          <a:off x="142875" y="981075"/>
          <a:ext cx="5876925" cy="5257800"/>
        </p:xfrm>
        <a:graphic>
          <a:graphicData uri="http://schemas.openxmlformats.org/drawingml/2006/table">
            <a:tbl>
              <a:tblPr>
                <a:tableStyleId>{3B4B98B0-60AC-42C2-AFA5-B58CD77FA1E5}</a:tableStyleId>
              </a:tblPr>
              <a:tblGrid>
                <a:gridCol w="5876925"/>
              </a:tblGrid>
              <a:tr h="175260">
                <a:tc>
                  <a:txBody>
                    <a:bodyPr wrap="square"/>
                    <a:lstStyle/>
                    <a:p>
                      <a:pPr algn="l"/>
                      <a:r>
                        <a:rPr sz="1100" b="0" i="0">
                          <a:solidFill>
                            <a:srgbClr val="000000"/>
                          </a:solidFill>
                          <a:latin typeface="Calibri"/>
                        </a:rPr>
                        <a:t>19.2.3.</a:t>
                      </a:r>
                      <a:r>
                        <a:rPr sz="700" b="0" i="0">
                          <a:solidFill>
                            <a:srgbClr val="000000"/>
                          </a:solidFill>
                          <a:latin typeface="Times New Roman"/>
                        </a:rPr>
                        <a:t> </a:t>
                      </a:r>
                      <a:r>
                        <a:rPr sz="1100" b="0" i="0">
                          <a:solidFill>
                            <a:srgbClr val="000000"/>
                          </a:solidFill>
                          <a:latin typeface="Calibri"/>
                        </a:rPr>
                        <a:t>Economic Side Drivers</a:t>
                      </a:r>
                      <a:endParaRPr sz="1100"/>
                    </a:p>
                  </a:txBody>
                  <a:tcPr marL="771525" marR="9525" marT="9525" marB="0" anchor="ctr"/>
                </a:tc>
              </a:tr>
              <a:tr h="175260">
                <a:tc>
                  <a:txBody>
                    <a:bodyPr wrap="square"/>
                    <a:lstStyle/>
                    <a:p>
                      <a:pPr algn="l"/>
                      <a:r>
                        <a:rPr sz="1100" b="0" i="0">
                          <a:solidFill>
                            <a:srgbClr val="0070C0"/>
                          </a:solidFill>
                          <a:latin typeface="Calibri"/>
                        </a:rPr>
                        <a:t>19.3.</a:t>
                      </a:r>
                      <a:r>
                        <a:rPr sz="700" b="0" i="0">
                          <a:solidFill>
                            <a:srgbClr val="0070C0"/>
                          </a:solidFill>
                          <a:latin typeface="Times New Roman"/>
                        </a:rPr>
                        <a:t>  </a:t>
                      </a:r>
                      <a:r>
                        <a:rPr sz="1100" b="0" i="0">
                          <a:solidFill>
                            <a:srgbClr val="0070C0"/>
                          </a:solidFill>
                          <a:latin typeface="Calibri"/>
                        </a:rPr>
                        <a:t>Country Level Restraints</a:t>
                      </a:r>
                      <a:endParaRPr sz="1100"/>
                    </a:p>
                  </a:txBody>
                  <a:tcPr marL="428625" marR="9525" marT="9525" marB="0" anchor="ctr"/>
                </a:tc>
              </a:tr>
              <a:tr h="175260">
                <a:tc>
                  <a:txBody>
                    <a:bodyPr wrap="square"/>
                    <a:lstStyle/>
                    <a:p>
                      <a:pPr algn="l"/>
                      <a:r>
                        <a:rPr sz="1100" b="0" i="0">
                          <a:solidFill>
                            <a:srgbClr val="0070C0"/>
                          </a:solidFill>
                          <a:latin typeface="Calibri"/>
                        </a:rPr>
                        <a:t>19.4.</a:t>
                      </a:r>
                      <a:r>
                        <a:rPr sz="700" b="0" i="0">
                          <a:solidFill>
                            <a:srgbClr val="0070C0"/>
                          </a:solidFill>
                          <a:latin typeface="Times New Roman"/>
                        </a:rPr>
                        <a:t>  </a:t>
                      </a:r>
                      <a:r>
                        <a:rPr sz="1100" b="0" i="0">
                          <a:solidFill>
                            <a:srgbClr val="0070C0"/>
                          </a:solidFill>
                          <a:latin typeface="Calibri"/>
                        </a:rPr>
                        <a:t>Country Level Opportunity</a:t>
                      </a:r>
                      <a:endParaRPr sz="1100"/>
                    </a:p>
                  </a:txBody>
                  <a:tcPr marL="428625" marR="9525" marT="9525" marB="0" anchor="ctr"/>
                </a:tc>
              </a:tr>
              <a:tr h="175260">
                <a:tc>
                  <a:txBody>
                    <a:bodyPr wrap="square"/>
                    <a:lstStyle/>
                    <a:p>
                      <a:pPr algn="l"/>
                      <a:r>
                        <a:rPr sz="1100" b="0" i="0">
                          <a:solidFill>
                            <a:srgbClr val="0070C0"/>
                          </a:solidFill>
                          <a:latin typeface="Calibri"/>
                        </a:rPr>
                        <a:t>19.5.</a:t>
                      </a:r>
                      <a:r>
                        <a:rPr sz="700" b="0" i="0">
                          <a:solidFill>
                            <a:srgbClr val="0070C0"/>
                          </a:solidFill>
                          <a:latin typeface="Times New Roman"/>
                        </a:rPr>
                        <a:t>  </a:t>
                      </a:r>
                      <a:r>
                        <a:rPr sz="1100" b="0" i="0">
                          <a:solidFill>
                            <a:srgbClr val="0070C0"/>
                          </a:solidFill>
                          <a:latin typeface="Calibri"/>
                        </a:rPr>
                        <a:t>Country Level Market Trends</a:t>
                      </a:r>
                      <a:endParaRPr sz="1100"/>
                    </a:p>
                  </a:txBody>
                  <a:tcPr marL="428625" marR="9525" marT="9525" marB="0" anchor="ctr"/>
                </a:tc>
              </a:tr>
              <a:tr h="175260">
                <a:tc>
                  <a:txBody>
                    <a:bodyPr wrap="square"/>
                    <a:lstStyle/>
                    <a:p>
                      <a:pPr algn="l"/>
                      <a:r>
                        <a:rPr sz="1100" b="0" i="0">
                          <a:solidFill>
                            <a:srgbClr val="0070C0"/>
                          </a:solidFill>
                          <a:latin typeface="Calibri"/>
                        </a:rPr>
                        <a:t>19.6.</a:t>
                      </a:r>
                      <a:r>
                        <a:rPr sz="700" b="0" i="0">
                          <a:solidFill>
                            <a:srgbClr val="0070C0"/>
                          </a:solidFill>
                          <a:latin typeface="Times New Roman"/>
                        </a:rPr>
                        <a:t>  </a:t>
                      </a:r>
                      <a:r>
                        <a:rPr sz="1100" b="0" i="0">
                          <a:solidFill>
                            <a:srgbClr val="0070C0"/>
                          </a:solidFill>
                          <a:latin typeface="Calibri"/>
                        </a:rPr>
                        <a:t>Forecast Factors – Top 20 Drivers by Relevance &amp; Impact</a:t>
                      </a:r>
                      <a:endParaRPr sz="1100"/>
                    </a:p>
                  </a:txBody>
                  <a:tcPr marL="428625" marR="9525" marT="9525" marB="0" anchor="ctr"/>
                </a:tc>
              </a:tr>
              <a:tr h="175260">
                <a:tc>
                  <a:txBody>
                    <a:bodyPr wrap="square"/>
                    <a:lstStyle/>
                    <a:p>
                      <a:pPr algn="l"/>
                      <a:r>
                        <a:rPr sz="1100" b="0" i="0">
                          <a:solidFill>
                            <a:srgbClr val="0070C0"/>
                          </a:solidFill>
                          <a:latin typeface="Calibri"/>
                        </a:rPr>
                        <a:t>19.7.</a:t>
                      </a:r>
                      <a:r>
                        <a:rPr sz="700" b="0" i="0">
                          <a:solidFill>
                            <a:srgbClr val="0070C0"/>
                          </a:solidFill>
                          <a:latin typeface="Times New Roman"/>
                        </a:rPr>
                        <a:t>  </a:t>
                      </a:r>
                      <a:r>
                        <a:rPr sz="1100" b="0" i="0">
                          <a:solidFill>
                            <a:srgbClr val="0070C0"/>
                          </a:solidFill>
                          <a:latin typeface="Calibri"/>
                        </a:rPr>
                        <a:t>Regional Macro-&amp; Micro Economic Indicators</a:t>
                      </a:r>
                      <a:endParaRPr sz="1100"/>
                    </a:p>
                  </a:txBody>
                  <a:tcPr marL="428625" marR="9525" marT="9525" marB="0" anchor="ctr"/>
                </a:tc>
              </a:tr>
              <a:tr h="175260">
                <a:tc>
                  <a:txBody>
                    <a:bodyPr wrap="square"/>
                    <a:lstStyle/>
                    <a:p>
                      <a:pPr algn="l"/>
                      <a:r>
                        <a:rPr sz="1100" b="0" i="0">
                          <a:solidFill>
                            <a:srgbClr val="0070C0"/>
                          </a:solidFill>
                          <a:latin typeface="Calibri"/>
                        </a:rPr>
                        <a:t>19.8.</a:t>
                      </a:r>
                      <a:r>
                        <a:rPr sz="700" b="0" i="0">
                          <a:solidFill>
                            <a:srgbClr val="0070C0"/>
                          </a:solidFill>
                          <a:latin typeface="Times New Roman"/>
                        </a:rPr>
                        <a:t>  </a:t>
                      </a:r>
                      <a:r>
                        <a:rPr sz="1100" b="0" i="0">
                          <a:solidFill>
                            <a:srgbClr val="0070C0"/>
                          </a:solidFill>
                          <a:latin typeface="Calibri"/>
                        </a:rPr>
                        <a:t>PESTEL Analysis</a:t>
                      </a:r>
                      <a:endParaRPr sz="1100"/>
                    </a:p>
                  </a:txBody>
                  <a:tcPr marL="428625" marR="9525" marT="9525" marB="0" anchor="ctr"/>
                </a:tc>
              </a:tr>
              <a:tr h="175260">
                <a:tc>
                  <a:txBody>
                    <a:bodyPr wrap="square"/>
                    <a:lstStyle/>
                    <a:p>
                      <a:pPr algn="l"/>
                      <a:r>
                        <a:rPr sz="1100" b="0" i="0">
                          <a:solidFill>
                            <a:srgbClr val="0070C0"/>
                          </a:solidFill>
                          <a:latin typeface="Calibri"/>
                        </a:rPr>
                        <a:t>19.9.</a:t>
                      </a:r>
                      <a:r>
                        <a:rPr sz="700" b="0" i="0">
                          <a:solidFill>
                            <a:srgbClr val="0070C0"/>
                          </a:solidFill>
                          <a:latin typeface="Times New Roman"/>
                        </a:rPr>
                        <a:t>  </a:t>
                      </a:r>
                      <a:r>
                        <a:rPr sz="1100" b="0" i="0">
                          <a:solidFill>
                            <a:srgbClr val="0070C0"/>
                          </a:solidFill>
                          <a:latin typeface="Calibri"/>
                        </a:rPr>
                        <a:t>Porter’s Analysis</a:t>
                      </a:r>
                      <a:endParaRPr sz="1100"/>
                    </a:p>
                  </a:txBody>
                  <a:tcPr marL="428625" marR="9525" marT="9525" marB="0" anchor="ctr"/>
                </a:tc>
              </a:tr>
              <a:tr h="175260">
                <a:tc>
                  <a:txBody>
                    <a:bodyPr wrap="square"/>
                    <a:lstStyle/>
                    <a:p>
                      <a:pPr algn="l"/>
                      <a:r>
                        <a:rPr sz="1100" b="1" i="0">
                          <a:solidFill>
                            <a:srgbClr val="000000"/>
                          </a:solidFill>
                          <a:latin typeface="Calibri"/>
                        </a:rPr>
                        <a:t>20.</a:t>
                      </a:r>
                      <a:r>
                        <a:rPr sz="700" b="1" i="0">
                          <a:solidFill>
                            <a:srgbClr val="000000"/>
                          </a:solidFill>
                          <a:latin typeface="Times New Roman"/>
                        </a:rPr>
                        <a:t>    </a:t>
                      </a:r>
                      <a:r>
                        <a:rPr sz="1100" b="1" i="0">
                          <a:solidFill>
                            <a:srgbClr val="000000"/>
                          </a:solidFill>
                          <a:latin typeface="Calibri"/>
                        </a:rPr>
                        <a:t>Regulatory Compliance, Safety and Market Access Assessment</a:t>
                      </a:r>
                      <a:endParaRPr sz="1100"/>
                    </a:p>
                  </a:txBody>
                  <a:tcPr marL="171450" marR="9525" marT="9525" marB="0" anchor="ctr"/>
                </a:tc>
              </a:tr>
              <a:tr h="175260">
                <a:tc>
                  <a:txBody>
                    <a:bodyPr wrap="square"/>
                    <a:lstStyle/>
                    <a:p>
                      <a:pPr algn="l"/>
                      <a:r>
                        <a:rPr sz="1100" b="0" i="0">
                          <a:solidFill>
                            <a:srgbClr val="0070C0"/>
                          </a:solidFill>
                          <a:latin typeface="Calibri"/>
                        </a:rPr>
                        <a:t>20.1.</a:t>
                      </a:r>
                      <a:r>
                        <a:rPr sz="700" b="0" i="0">
                          <a:solidFill>
                            <a:srgbClr val="0070C0"/>
                          </a:solidFill>
                          <a:latin typeface="Times New Roman"/>
                        </a:rPr>
                        <a:t>  </a:t>
                      </a:r>
                      <a:r>
                        <a:rPr sz="1100" b="0" i="0">
                          <a:solidFill>
                            <a:srgbClr val="0070C0"/>
                          </a:solidFill>
                          <a:latin typeface="Calibri"/>
                        </a:rPr>
                        <a:t>Regulatory Classification by Application across Major Global Markets</a:t>
                      </a:r>
                      <a:endParaRPr sz="1100"/>
                    </a:p>
                  </a:txBody>
                  <a:tcPr marL="428625" marR="9525" marT="9525" marB="0" anchor="ctr"/>
                </a:tc>
              </a:tr>
              <a:tr h="350520">
                <a:tc>
                  <a:txBody>
                    <a:bodyPr wrap="square"/>
                    <a:lstStyle/>
                    <a:p>
                      <a:pPr algn="l"/>
                      <a:r>
                        <a:rPr sz="1100" b="0" i="0">
                          <a:solidFill>
                            <a:srgbClr val="0070C0"/>
                          </a:solidFill>
                          <a:latin typeface="Calibri"/>
                        </a:rPr>
                        <a:t>20.2.</a:t>
                      </a:r>
                      <a:r>
                        <a:rPr sz="700" b="0" i="0">
                          <a:solidFill>
                            <a:srgbClr val="0070C0"/>
                          </a:solidFill>
                          <a:latin typeface="Times New Roman"/>
                        </a:rPr>
                        <a:t>  </a:t>
                      </a:r>
                      <a:r>
                        <a:rPr sz="1100" b="0" i="0">
                          <a:solidFill>
                            <a:srgbClr val="0070C0"/>
                          </a:solidFill>
                          <a:latin typeface="Calibri"/>
                        </a:rPr>
                        <a:t>Country-wise Permissibility and Market Access Requirements for Food, Supplements, Cosmetics, Pharmaceuticals, and Animal Nutrition</a:t>
                      </a:r>
                      <a:endParaRPr sz="1100"/>
                    </a:p>
                  </a:txBody>
                  <a:tcPr marL="428625" marR="9525" marT="9525" marB="0" anchor="ctr"/>
                </a:tc>
              </a:tr>
              <a:tr h="350520">
                <a:tc>
                  <a:txBody>
                    <a:bodyPr wrap="square"/>
                    <a:lstStyle/>
                    <a:p>
                      <a:pPr algn="l"/>
                      <a:r>
                        <a:rPr sz="1100" b="0" i="0">
                          <a:solidFill>
                            <a:srgbClr val="0070C0"/>
                          </a:solidFill>
                          <a:latin typeface="Calibri"/>
                        </a:rPr>
                        <a:t>20.3.</a:t>
                      </a:r>
                      <a:r>
                        <a:rPr sz="700" b="0" i="0">
                          <a:solidFill>
                            <a:srgbClr val="0070C0"/>
                          </a:solidFill>
                          <a:latin typeface="Times New Roman"/>
                        </a:rPr>
                        <a:t>  </a:t>
                      </a:r>
                      <a:r>
                        <a:rPr sz="1100" b="0" i="0">
                          <a:solidFill>
                            <a:srgbClr val="0070C0"/>
                          </a:solidFill>
                          <a:latin typeface="Calibri"/>
                        </a:rPr>
                        <a:t>Safety Assessment Requirements by Microbiological Quality, Contaminants, Residual Chemicals, and Allergen Risk</a:t>
                      </a:r>
                      <a:endParaRPr sz="1100"/>
                    </a:p>
                  </a:txBody>
                  <a:tcPr marL="428625" marR="9525" marT="9525" marB="0" anchor="ctr"/>
                </a:tc>
              </a:tr>
              <a:tr h="350520">
                <a:tc>
                  <a:txBody>
                    <a:bodyPr wrap="square"/>
                    <a:lstStyle/>
                    <a:p>
                      <a:pPr algn="l"/>
                      <a:r>
                        <a:rPr sz="1100" b="0" i="0">
                          <a:solidFill>
                            <a:srgbClr val="0070C0"/>
                          </a:solidFill>
                          <a:latin typeface="Calibri"/>
                        </a:rPr>
                        <a:t>20.4.</a:t>
                      </a:r>
                      <a:r>
                        <a:rPr sz="700" b="0" i="0">
                          <a:solidFill>
                            <a:srgbClr val="0070C0"/>
                          </a:solidFill>
                          <a:latin typeface="Times New Roman"/>
                        </a:rPr>
                        <a:t>  </a:t>
                      </a:r>
                      <a:r>
                        <a:rPr sz="1100" b="0" i="0">
                          <a:solidFill>
                            <a:srgbClr val="0070C0"/>
                          </a:solidFill>
                          <a:latin typeface="Calibri"/>
                        </a:rPr>
                        <a:t>Product-specific Standards for Identity, Purity, Composition, Manufacturing Consistency, and Batch Traceability</a:t>
                      </a:r>
                      <a:endParaRPr sz="1100"/>
                    </a:p>
                  </a:txBody>
                  <a:tcPr marL="428625" marR="9525" marT="9525" marB="0" anchor="ctr"/>
                </a:tc>
              </a:tr>
              <a:tr h="350520">
                <a:tc>
                  <a:txBody>
                    <a:bodyPr wrap="square"/>
                    <a:lstStyle/>
                    <a:p>
                      <a:pPr algn="l"/>
                      <a:r>
                        <a:rPr sz="1100" b="0" i="0">
                          <a:solidFill>
                            <a:srgbClr val="0070C0"/>
                          </a:solidFill>
                          <a:latin typeface="Calibri"/>
                        </a:rPr>
                        <a:t>20.5.</a:t>
                      </a:r>
                      <a:r>
                        <a:rPr sz="700" b="0" i="0">
                          <a:solidFill>
                            <a:srgbClr val="0070C0"/>
                          </a:solidFill>
                          <a:latin typeface="Times New Roman"/>
                        </a:rPr>
                        <a:t>  </a:t>
                      </a:r>
                      <a:r>
                        <a:rPr sz="1100" b="0" i="0">
                          <a:solidFill>
                            <a:srgbClr val="0070C0"/>
                          </a:solidFill>
                          <a:latin typeface="Calibri"/>
                        </a:rPr>
                        <a:t>Certification and Quality Management Requirements by Buyer Industry and Export Destination</a:t>
                      </a:r>
                      <a:endParaRPr sz="1100"/>
                    </a:p>
                  </a:txBody>
                  <a:tcPr marL="428625" marR="9525" marT="9525" marB="0" anchor="ctr"/>
                </a:tc>
              </a:tr>
              <a:tr h="350520">
                <a:tc>
                  <a:txBody>
                    <a:bodyPr wrap="square"/>
                    <a:lstStyle/>
                    <a:p>
                      <a:pPr algn="l"/>
                      <a:r>
                        <a:rPr sz="1100" b="0" i="0">
                          <a:solidFill>
                            <a:srgbClr val="0070C0"/>
                          </a:solidFill>
                          <a:latin typeface="Calibri"/>
                        </a:rPr>
                        <a:t>20.6.</a:t>
                      </a:r>
                      <a:r>
                        <a:rPr sz="700" b="0" i="0">
                          <a:solidFill>
                            <a:srgbClr val="0070C0"/>
                          </a:solidFill>
                          <a:latin typeface="Times New Roman"/>
                        </a:rPr>
                        <a:t>  </a:t>
                      </a:r>
                      <a:r>
                        <a:rPr sz="1100" b="0" i="0">
                          <a:solidFill>
                            <a:srgbClr val="0070C0"/>
                          </a:solidFill>
                          <a:latin typeface="Calibri"/>
                        </a:rPr>
                        <a:t>Regulatory Compliance Cost, Approval Timelines, and Market Entry Constraints by Region and Application</a:t>
                      </a:r>
                      <a:endParaRPr sz="1100"/>
                    </a:p>
                  </a:txBody>
                  <a:tcPr marL="428625" marR="9525" marT="9525" marB="0" anchor="ctr"/>
                </a:tc>
              </a:tr>
              <a:tr h="175260">
                <a:tc>
                  <a:txBody>
                    <a:bodyPr wrap="square"/>
                    <a:lstStyle/>
                    <a:p>
                      <a:pPr algn="l"/>
                      <a:r>
                        <a:rPr sz="1100" b="1" i="0">
                          <a:solidFill>
                            <a:srgbClr val="000000"/>
                          </a:solidFill>
                          <a:latin typeface="Calibri"/>
                        </a:rPr>
                        <a:t>Section 5: Production, Trade &amp; Buyers Assessment</a:t>
                      </a:r>
                      <a:endParaRPr sz="1100"/>
                    </a:p>
                  </a:txBody>
                  <a:tcPr marL="9525" marR="9525" marT="9525" marB="0" anchor="ctr"/>
                </a:tc>
              </a:tr>
              <a:tr h="175260">
                <a:tc>
                  <a:txBody>
                    <a:bodyPr wrap="square"/>
                    <a:lstStyle/>
                    <a:p>
                      <a:pPr algn="l"/>
                      <a:r>
                        <a:rPr sz="1100" b="1" i="0">
                          <a:solidFill>
                            <a:srgbClr val="000000"/>
                          </a:solidFill>
                          <a:latin typeface="Calibri"/>
                        </a:rPr>
                        <a:t>21.</a:t>
                      </a:r>
                      <a:r>
                        <a:rPr sz="700" b="1" i="0">
                          <a:solidFill>
                            <a:srgbClr val="000000"/>
                          </a:solidFill>
                          <a:latin typeface="Times New Roman"/>
                        </a:rPr>
                        <a:t>    </a:t>
                      </a:r>
                      <a:r>
                        <a:rPr sz="1100" b="1" i="0">
                          <a:solidFill>
                            <a:srgbClr val="000000"/>
                          </a:solidFill>
                          <a:latin typeface="Calibri"/>
                        </a:rPr>
                        <a:t>Global Market- Production and Trade Analysis</a:t>
                      </a:r>
                      <a:endParaRPr sz="1100"/>
                    </a:p>
                  </a:txBody>
                  <a:tcPr marL="171450" marR="9525" marT="9525" marB="0" anchor="ctr"/>
                </a:tc>
              </a:tr>
              <a:tr h="175260">
                <a:tc>
                  <a:txBody>
                    <a:bodyPr wrap="square"/>
                    <a:lstStyle/>
                    <a:p>
                      <a:pPr algn="l"/>
                      <a:r>
                        <a:rPr sz="1100" b="0" i="0">
                          <a:solidFill>
                            <a:srgbClr val="0070C0"/>
                          </a:solidFill>
                          <a:latin typeface="Calibri"/>
                        </a:rPr>
                        <a:t>21.1.</a:t>
                      </a:r>
                      <a:r>
                        <a:rPr sz="700" b="0" i="0">
                          <a:solidFill>
                            <a:srgbClr val="0070C0"/>
                          </a:solidFill>
                          <a:latin typeface="Times New Roman"/>
                        </a:rPr>
                        <a:t>  </a:t>
                      </a:r>
                      <a:r>
                        <a:rPr sz="1100" b="0" i="0">
                          <a:solidFill>
                            <a:srgbClr val="0070C0"/>
                          </a:solidFill>
                          <a:latin typeface="Calibri"/>
                        </a:rPr>
                        <a:t>Production Volume (MT), (2021-2026) by Region/ Country</a:t>
                      </a:r>
                      <a:endParaRPr sz="1100"/>
                    </a:p>
                  </a:txBody>
                  <a:tcPr marL="428625" marR="9525" marT="9525" marB="0" anchor="ctr"/>
                </a:tc>
              </a:tr>
              <a:tr h="175260">
                <a:tc>
                  <a:txBody>
                    <a:bodyPr wrap="square"/>
                    <a:lstStyle/>
                    <a:p>
                      <a:pPr algn="l"/>
                      <a:r>
                        <a:rPr sz="1100" b="0" i="0">
                          <a:solidFill>
                            <a:srgbClr val="0070C0"/>
                          </a:solidFill>
                          <a:latin typeface="Calibri"/>
                        </a:rPr>
                        <a:t>21.2.</a:t>
                      </a:r>
                      <a:r>
                        <a:rPr sz="700" b="0" i="0">
                          <a:solidFill>
                            <a:srgbClr val="0070C0"/>
                          </a:solidFill>
                          <a:latin typeface="Times New Roman"/>
                        </a:rPr>
                        <a:t>  </a:t>
                      </a:r>
                      <a:r>
                        <a:rPr sz="1100" b="0" i="0">
                          <a:solidFill>
                            <a:srgbClr val="0070C0"/>
                          </a:solidFill>
                          <a:latin typeface="Calibri"/>
                        </a:rPr>
                        <a:t>Exports: Key Countries, Share &amp; Value (US$ Mn / MT)</a:t>
                      </a:r>
                      <a:endParaRPr sz="1100"/>
                    </a:p>
                  </a:txBody>
                  <a:tcPr marL="428625" marR="9525" marT="9525" marB="0" anchor="ctr"/>
                </a:tc>
              </a:tr>
              <a:tr h="175260">
                <a:tc>
                  <a:txBody>
                    <a:bodyPr wrap="square"/>
                    <a:lstStyle/>
                    <a:p>
                      <a:pPr algn="l"/>
                      <a:r>
                        <a:rPr sz="1100" b="0" i="0">
                          <a:solidFill>
                            <a:srgbClr val="0070C0"/>
                          </a:solidFill>
                          <a:latin typeface="Calibri"/>
                        </a:rPr>
                        <a:t>21.3.</a:t>
                      </a:r>
                      <a:r>
                        <a:rPr sz="700" b="0" i="0">
                          <a:solidFill>
                            <a:srgbClr val="0070C0"/>
                          </a:solidFill>
                          <a:latin typeface="Times New Roman"/>
                        </a:rPr>
                        <a:t>  </a:t>
                      </a:r>
                      <a:r>
                        <a:rPr sz="1100" b="0" i="0">
                          <a:solidFill>
                            <a:srgbClr val="0070C0"/>
                          </a:solidFill>
                          <a:latin typeface="Calibri"/>
                        </a:rPr>
                        <a:t>Imports: Key Countries, Share &amp; Value (US$ Mn / MT)</a:t>
                      </a:r>
                      <a:endParaRPr sz="1100"/>
                    </a:p>
                  </a:txBody>
                  <a:tcPr marL="428625" marR="9525" marT="9525" marB="0" anchor="ctr"/>
                </a:tc>
              </a:tr>
              <a:tr h="175260">
                <a:tc>
                  <a:txBody>
                    <a:bodyPr wrap="square"/>
                    <a:lstStyle/>
                    <a:p>
                      <a:pPr algn="l"/>
                      <a:r>
                        <a:rPr sz="1100" b="0" i="0">
                          <a:solidFill>
                            <a:srgbClr val="0070C0"/>
                          </a:solidFill>
                          <a:latin typeface="Calibri"/>
                        </a:rPr>
                        <a:t>21.4.</a:t>
                      </a:r>
                      <a:r>
                        <a:rPr sz="700" b="0" i="0">
                          <a:solidFill>
                            <a:srgbClr val="0070C0"/>
                          </a:solidFill>
                          <a:latin typeface="Times New Roman"/>
                        </a:rPr>
                        <a:t>  </a:t>
                      </a:r>
                      <a:r>
                        <a:rPr sz="1100" b="0" i="0">
                          <a:solidFill>
                            <a:srgbClr val="0070C0"/>
                          </a:solidFill>
                          <a:latin typeface="Calibri"/>
                        </a:rPr>
                        <a:t>Global Supply-Demand Overview (Prod., Sales, Import, Export)</a:t>
                      </a:r>
                      <a:endParaRPr sz="1100"/>
                    </a:p>
                  </a:txBody>
                  <a:tcPr marL="428625" marR="9525" marT="9525" marB="0" anchor="ctr"/>
                </a:tc>
              </a:tr>
              <a:tr h="175260">
                <a:tc>
                  <a:txBody>
                    <a:bodyPr wrap="square"/>
                    <a:lstStyle/>
                    <a:p>
                      <a:pPr algn="l"/>
                      <a:r>
                        <a:rPr sz="1100" b="1" i="0">
                          <a:solidFill>
                            <a:srgbClr val="000000"/>
                          </a:solidFill>
                          <a:latin typeface="Calibri"/>
                        </a:rPr>
                        <a:t>22.</a:t>
                      </a:r>
                      <a:r>
                        <a:rPr sz="700" b="1" i="0">
                          <a:solidFill>
                            <a:srgbClr val="000000"/>
                          </a:solidFill>
                          <a:latin typeface="Times New Roman"/>
                        </a:rPr>
                        <a:t>    </a:t>
                      </a:r>
                      <a:r>
                        <a:rPr sz="1100" b="1" i="0">
                          <a:solidFill>
                            <a:srgbClr val="000000"/>
                          </a:solidFill>
                          <a:latin typeface="Calibri"/>
                        </a:rPr>
                        <a:t>Production Capacity Assessment</a:t>
                      </a:r>
                      <a:endParaRPr sz="1100"/>
                    </a:p>
                  </a:txBody>
                  <a:tcPr marL="171450" marR="9525" marT="9525" marB="0" anchor="ctr"/>
                </a:tc>
              </a:tr>
              <a:tr h="350520">
                <a:tc>
                  <a:txBody>
                    <a:bodyPr wrap="square"/>
                    <a:lstStyle/>
                    <a:p>
                      <a:pPr algn="l"/>
                      <a:r>
                        <a:rPr sz="1100" b="0" i="0">
                          <a:solidFill>
                            <a:srgbClr val="0070C0"/>
                          </a:solidFill>
                          <a:latin typeface="Calibri"/>
                        </a:rPr>
                        <a:t>22.1.</a:t>
                      </a:r>
                      <a:r>
                        <a:rPr sz="700" b="0" i="0">
                          <a:solidFill>
                            <a:srgbClr val="0070C0"/>
                          </a:solidFill>
                          <a:latin typeface="Times New Roman"/>
                        </a:rPr>
                        <a:t>  </a:t>
                      </a:r>
                      <a:r>
                        <a:rPr sz="1100" b="0" i="0">
                          <a:solidFill>
                            <a:srgbClr val="0070C0"/>
                          </a:solidFill>
                          <a:latin typeface="Calibri"/>
                        </a:rPr>
                        <a:t>Existing and Announced Production Capacity by Manufacturer, Country, Product Fraction, and Processing Technology</a:t>
                      </a:r>
                      <a:endParaRPr sz="1100"/>
                    </a:p>
                  </a:txBody>
                  <a:tcPr marL="428625" marR="9525" marT="9525" marB="0" anchor="ctr"/>
                </a:tc>
              </a:tr>
              <a:tr h="175260">
                <a:tc>
                  <a:txBody>
                    <a:bodyPr wrap="square"/>
                    <a:lstStyle/>
                    <a:p>
                      <a:pPr algn="l"/>
                      <a:endParaRPr sz="1100"/>
                    </a:p>
                  </a:txBody>
                  <a:tcPr marL="9525" marR="9525" marT="9525" marB="0" anchor="ctr"/>
                </a:tc>
              </a:tr>
            </a:tbl>
          </a:graphicData>
        </a:graphic>
      </p:graphicFrame>
      <p:graphicFrame>
        <p:nvGraphicFramePr>
          <p:cNvPr id="7" name="TMR Contents Table"/>
          <p:cNvGraphicFramePr>
            <a:graphicFrameLocks noGrp="1"/>
          </p:cNvGraphicFramePr>
          <p:nvPr/>
        </p:nvGraphicFramePr>
        <p:xfrm>
          <a:off x="6172200" y="981075"/>
          <a:ext cx="5876925" cy="5257800"/>
        </p:xfrm>
        <a:graphic>
          <a:graphicData uri="http://schemas.openxmlformats.org/drawingml/2006/table">
            <a:tbl>
              <a:tblPr>
                <a:tableStyleId>{3B4B98B0-60AC-42C2-AFA5-B58CD77FA1E5}</a:tableStyleId>
              </a:tblPr>
              <a:tblGrid>
                <a:gridCol w="5876925"/>
              </a:tblGrid>
              <a:tr h="350520">
                <a:tc>
                  <a:txBody>
                    <a:bodyPr wrap="square"/>
                    <a:lstStyle/>
                    <a:p>
                      <a:pPr algn="l"/>
                      <a:r>
                        <a:rPr sz="1100" b="0" i="0">
                          <a:solidFill>
                            <a:srgbClr val="0070C0"/>
                          </a:solidFill>
                          <a:latin typeface="Calibri"/>
                        </a:rPr>
                        <a:t>22.2.</a:t>
                      </a:r>
                      <a:r>
                        <a:rPr sz="700" b="0" i="0">
                          <a:solidFill>
                            <a:srgbClr val="0070C0"/>
                          </a:solidFill>
                          <a:latin typeface="Times New Roman"/>
                        </a:rPr>
                        <a:t>  </a:t>
                      </a:r>
                      <a:r>
                        <a:rPr sz="1100" b="0" i="0">
                          <a:solidFill>
                            <a:srgbClr val="0070C0"/>
                          </a:solidFill>
                          <a:latin typeface="Calibri"/>
                        </a:rPr>
                        <a:t>Actual Production Volume, Capacity Utilization, Throughput, and Annual Yield Efficiency</a:t>
                      </a:r>
                      <a:endParaRPr sz="1100"/>
                    </a:p>
                  </a:txBody>
                  <a:tcPr marL="428625" marR="9525" marT="9525" marB="0" anchor="ctr"/>
                </a:tc>
              </a:tr>
              <a:tr h="350520">
                <a:tc>
                  <a:txBody>
                    <a:bodyPr wrap="square"/>
                    <a:lstStyle/>
                    <a:p>
                      <a:pPr algn="l"/>
                      <a:r>
                        <a:rPr sz="1100" b="0" i="0">
                          <a:solidFill>
                            <a:srgbClr val="0070C0"/>
                          </a:solidFill>
                          <a:latin typeface="Calibri"/>
                        </a:rPr>
                        <a:t>22.3.</a:t>
                      </a:r>
                      <a:r>
                        <a:rPr sz="700" b="0" i="0">
                          <a:solidFill>
                            <a:srgbClr val="0070C0"/>
                          </a:solidFill>
                          <a:latin typeface="Times New Roman"/>
                        </a:rPr>
                        <a:t>  </a:t>
                      </a:r>
                      <a:r>
                        <a:rPr sz="1100" b="0" i="0">
                          <a:solidFill>
                            <a:srgbClr val="0070C0"/>
                          </a:solidFill>
                          <a:latin typeface="Calibri"/>
                        </a:rPr>
                        <a:t>Manufacturing Yield and Bioactive Recovery Benchmarking across Pilot, Demonstration, and Commercial Scales</a:t>
                      </a:r>
                      <a:endParaRPr sz="1100"/>
                    </a:p>
                  </a:txBody>
                  <a:tcPr marL="428625" marR="9525" marT="9525" marB="0" anchor="ctr"/>
                </a:tc>
              </a:tr>
              <a:tr h="175260">
                <a:tc>
                  <a:txBody>
                    <a:bodyPr wrap="square"/>
                    <a:lstStyle/>
                    <a:p>
                      <a:pPr algn="l"/>
                      <a:r>
                        <a:rPr sz="1100" b="1" i="0">
                          <a:solidFill>
                            <a:srgbClr val="000000"/>
                          </a:solidFill>
                          <a:latin typeface="Calibri"/>
                        </a:rPr>
                        <a:t>23.</a:t>
                      </a:r>
                      <a:r>
                        <a:rPr sz="700" b="1" i="0">
                          <a:solidFill>
                            <a:srgbClr val="000000"/>
                          </a:solidFill>
                          <a:latin typeface="Times New Roman"/>
                        </a:rPr>
                        <a:t>    </a:t>
                      </a:r>
                      <a:r>
                        <a:rPr sz="1100" b="1" i="0">
                          <a:solidFill>
                            <a:srgbClr val="000000"/>
                          </a:solidFill>
                          <a:latin typeface="Calibri"/>
                        </a:rPr>
                        <a:t>Buyer Identification and B2B Commercialization Structure</a:t>
                      </a:r>
                      <a:endParaRPr sz="1100"/>
                    </a:p>
                  </a:txBody>
                  <a:tcPr marL="171450" marR="9525" marT="9525" marB="0" anchor="ctr"/>
                </a:tc>
              </a:tr>
              <a:tr h="525780">
                <a:tc>
                  <a:txBody>
                    <a:bodyPr wrap="square"/>
                    <a:lstStyle/>
                    <a:p>
                      <a:pPr algn="l"/>
                      <a:r>
                        <a:rPr sz="1100" b="0" i="0">
                          <a:solidFill>
                            <a:srgbClr val="0070C0"/>
                          </a:solidFill>
                          <a:latin typeface="Calibri"/>
                        </a:rPr>
                        <a:t>23.1.</a:t>
                      </a:r>
                      <a:r>
                        <a:rPr sz="700" b="0" i="0">
                          <a:solidFill>
                            <a:srgbClr val="0070C0"/>
                          </a:solidFill>
                          <a:latin typeface="Times New Roman"/>
                        </a:rPr>
                        <a:t>  </a:t>
                      </a:r>
                      <a:r>
                        <a:rPr sz="1100" b="0" i="0">
                          <a:solidFill>
                            <a:srgbClr val="0070C0"/>
                          </a:solidFill>
                          <a:latin typeface="Calibri"/>
                        </a:rPr>
                        <a:t>Target Buyer Universe by Nutraceutical Brands, Supplement Manufacturers, Cosmetic Formulators, Food Companies, Pharmaceutical Developers, and Animal Nutrition Businesses</a:t>
                      </a:r>
                      <a:endParaRPr sz="1100"/>
                    </a:p>
                  </a:txBody>
                  <a:tcPr marL="428625" marR="9525" marT="9525" marB="0" anchor="ctr"/>
                </a:tc>
              </a:tr>
              <a:tr h="350520">
                <a:tc>
                  <a:txBody>
                    <a:bodyPr wrap="square"/>
                    <a:lstStyle/>
                    <a:p>
                      <a:pPr algn="l"/>
                      <a:r>
                        <a:rPr sz="1100" b="0" i="0">
                          <a:solidFill>
                            <a:srgbClr val="0070C0"/>
                          </a:solidFill>
                          <a:latin typeface="Calibri"/>
                        </a:rPr>
                        <a:t>23.2.</a:t>
                      </a:r>
                      <a:r>
                        <a:rPr sz="700" b="0" i="0">
                          <a:solidFill>
                            <a:srgbClr val="0070C0"/>
                          </a:solidFill>
                          <a:latin typeface="Times New Roman"/>
                        </a:rPr>
                        <a:t>  </a:t>
                      </a:r>
                      <a:r>
                        <a:rPr sz="1100" b="0" i="0">
                          <a:solidFill>
                            <a:srgbClr val="0070C0"/>
                          </a:solidFill>
                          <a:latin typeface="Calibri"/>
                        </a:rPr>
                        <a:t>Buyer Demand Potential by Application, Product Fraction, Annual Procurement Volume, and Geographic Market</a:t>
                      </a:r>
                      <a:endParaRPr sz="1100"/>
                    </a:p>
                  </a:txBody>
                  <a:tcPr marL="428625" marR="9525" marT="9525" marB="0" anchor="ctr"/>
                </a:tc>
              </a:tr>
              <a:tr h="350520">
                <a:tc>
                  <a:txBody>
                    <a:bodyPr wrap="square"/>
                    <a:lstStyle/>
                    <a:p>
                      <a:pPr algn="l"/>
                      <a:r>
                        <a:rPr sz="1100" b="0" i="0">
                          <a:solidFill>
                            <a:srgbClr val="0070C0"/>
                          </a:solidFill>
                          <a:latin typeface="Calibri"/>
                        </a:rPr>
                        <a:t>23.3.</a:t>
                      </a:r>
                      <a:r>
                        <a:rPr sz="700" b="0" i="0">
                          <a:solidFill>
                            <a:srgbClr val="0070C0"/>
                          </a:solidFill>
                          <a:latin typeface="Times New Roman"/>
                        </a:rPr>
                        <a:t>  </a:t>
                      </a:r>
                      <a:r>
                        <a:rPr sz="1100" b="0" i="0">
                          <a:solidFill>
                            <a:srgbClr val="0070C0"/>
                          </a:solidFill>
                          <a:latin typeface="Calibri"/>
                        </a:rPr>
                        <a:t>Procurement Criteria by Price, Purity, Functional Performance, Standardization, Certification, and Traceability</a:t>
                      </a:r>
                      <a:endParaRPr sz="1100"/>
                    </a:p>
                  </a:txBody>
                  <a:tcPr marL="428625" marR="9525" marT="9525" marB="0" anchor="ctr"/>
                </a:tc>
              </a:tr>
              <a:tr h="350520">
                <a:tc>
                  <a:txBody>
                    <a:bodyPr wrap="square"/>
                    <a:lstStyle/>
                    <a:p>
                      <a:pPr algn="l"/>
                      <a:r>
                        <a:rPr sz="1100" b="0" i="0">
                          <a:solidFill>
                            <a:srgbClr val="0070C0"/>
                          </a:solidFill>
                          <a:latin typeface="Calibri"/>
                        </a:rPr>
                        <a:t>23.4.</a:t>
                      </a:r>
                      <a:r>
                        <a:rPr sz="700" b="0" i="0">
                          <a:solidFill>
                            <a:srgbClr val="0070C0"/>
                          </a:solidFill>
                          <a:latin typeface="Times New Roman"/>
                        </a:rPr>
                        <a:t>  </a:t>
                      </a:r>
                      <a:r>
                        <a:rPr sz="1100" b="0" i="0">
                          <a:solidFill>
                            <a:srgbClr val="0070C0"/>
                          </a:solidFill>
                          <a:latin typeface="Calibri"/>
                        </a:rPr>
                        <a:t>Buyer Concentration by Industry, Country, Annual Ingredient Spend, and Procurement Volume</a:t>
                      </a:r>
                      <a:endParaRPr sz="1100"/>
                    </a:p>
                  </a:txBody>
                  <a:tcPr marL="428625" marR="9525" marT="9525" marB="0" anchor="ctr"/>
                </a:tc>
              </a:tr>
              <a:tr h="350520">
                <a:tc>
                  <a:txBody>
                    <a:bodyPr wrap="square"/>
                    <a:lstStyle/>
                    <a:p>
                      <a:pPr algn="l"/>
                      <a:r>
                        <a:rPr sz="1100" b="0" i="0">
                          <a:solidFill>
                            <a:srgbClr val="0070C0"/>
                          </a:solidFill>
                          <a:latin typeface="Calibri"/>
                        </a:rPr>
                        <a:t>23.5.</a:t>
                      </a:r>
                      <a:r>
                        <a:rPr sz="700" b="0" i="0">
                          <a:solidFill>
                            <a:srgbClr val="0070C0"/>
                          </a:solidFill>
                          <a:latin typeface="Times New Roman"/>
                        </a:rPr>
                        <a:t>  </a:t>
                      </a:r>
                      <a:r>
                        <a:rPr sz="1100" b="0" i="0">
                          <a:solidFill>
                            <a:srgbClr val="0070C0"/>
                          </a:solidFill>
                          <a:latin typeface="Calibri"/>
                        </a:rPr>
                        <a:t>Prospective Buyer Prioritization by Application Fit, Revenue Potential, Technical Readiness, and Partnership Feasibility</a:t>
                      </a:r>
                      <a:endParaRPr sz="1100"/>
                    </a:p>
                  </a:txBody>
                  <a:tcPr marL="428625" marR="9525" marT="9525" marB="0" anchor="ctr"/>
                </a:tc>
              </a:tr>
              <a:tr h="175260">
                <a:tc>
                  <a:txBody>
                    <a:bodyPr wrap="square"/>
                    <a:lstStyle/>
                    <a:p>
                      <a:pPr algn="l"/>
                      <a:r>
                        <a:rPr sz="1100" b="1" i="0">
                          <a:solidFill>
                            <a:srgbClr val="000000"/>
                          </a:solidFill>
                          <a:latin typeface="Calibri"/>
                        </a:rPr>
                        <a:t>24.</a:t>
                      </a:r>
                      <a:r>
                        <a:rPr sz="700" b="1" i="0">
                          <a:solidFill>
                            <a:srgbClr val="000000"/>
                          </a:solidFill>
                          <a:latin typeface="Times New Roman"/>
                        </a:rPr>
                        <a:t>    </a:t>
                      </a:r>
                      <a:r>
                        <a:rPr sz="1100" b="1" i="0">
                          <a:solidFill>
                            <a:srgbClr val="000000"/>
                          </a:solidFill>
                          <a:latin typeface="Calibri"/>
                        </a:rPr>
                        <a:t>Value Chain Analysis</a:t>
                      </a:r>
                      <a:endParaRPr sz="1100"/>
                    </a:p>
                  </a:txBody>
                  <a:tcPr marL="171450" marR="9525" marT="9525" marB="0" anchor="ctr"/>
                </a:tc>
              </a:tr>
              <a:tr h="175260">
                <a:tc>
                  <a:txBody>
                    <a:bodyPr wrap="square"/>
                    <a:lstStyle/>
                    <a:p>
                      <a:pPr algn="l"/>
                      <a:r>
                        <a:rPr sz="1100" b="0" i="0">
                          <a:solidFill>
                            <a:srgbClr val="0070C0"/>
                          </a:solidFill>
                          <a:latin typeface="Calibri"/>
                        </a:rPr>
                        <a:t>24.1.</a:t>
                      </a:r>
                      <a:r>
                        <a:rPr sz="700" b="0" i="0">
                          <a:solidFill>
                            <a:srgbClr val="0070C0"/>
                          </a:solidFill>
                          <a:latin typeface="Times New Roman"/>
                        </a:rPr>
                        <a:t>  </a:t>
                      </a:r>
                      <a:r>
                        <a:rPr sz="1100" b="0" i="0">
                          <a:solidFill>
                            <a:srgbClr val="0070C0"/>
                          </a:solidFill>
                          <a:latin typeface="Calibri"/>
                        </a:rPr>
                        <a:t>Industry-Wide Operating Margin</a:t>
                      </a:r>
                      <a:endParaRPr sz="1100"/>
                    </a:p>
                  </a:txBody>
                  <a:tcPr marL="428625" marR="9525" marT="9525" marB="0" anchor="ctr"/>
                </a:tc>
              </a:tr>
              <a:tr h="175260">
                <a:tc>
                  <a:txBody>
                    <a:bodyPr wrap="square"/>
                    <a:lstStyle/>
                    <a:p>
                      <a:pPr algn="l"/>
                      <a:r>
                        <a:rPr sz="1100" b="0" i="0">
                          <a:solidFill>
                            <a:srgbClr val="000000"/>
                          </a:solidFill>
                          <a:latin typeface="Calibri"/>
                        </a:rPr>
                        <a:t>24.1.1.</a:t>
                      </a:r>
                      <a:r>
                        <a:rPr sz="700" b="0" i="0">
                          <a:solidFill>
                            <a:srgbClr val="000000"/>
                          </a:solidFill>
                          <a:latin typeface="Times New Roman"/>
                        </a:rPr>
                        <a:t> </a:t>
                      </a:r>
                      <a:r>
                        <a:rPr sz="1100" b="0" i="0">
                          <a:solidFill>
                            <a:srgbClr val="000000"/>
                          </a:solidFill>
                          <a:latin typeface="Calibri"/>
                        </a:rPr>
                        <a:t>Operating margins at each node of supply chain</a:t>
                      </a:r>
                      <a:endParaRPr sz="1100"/>
                    </a:p>
                  </a:txBody>
                  <a:tcPr marL="771525" marR="9525" marT="9525" marB="0" anchor="ctr"/>
                </a:tc>
              </a:tr>
              <a:tr h="175260">
                <a:tc>
                  <a:txBody>
                    <a:bodyPr wrap="square"/>
                    <a:lstStyle/>
                    <a:p>
                      <a:pPr algn="l"/>
                      <a:r>
                        <a:rPr sz="1100" b="0" i="0">
                          <a:solidFill>
                            <a:srgbClr val="000000"/>
                          </a:solidFill>
                          <a:latin typeface="Calibri"/>
                        </a:rPr>
                        <a:t>24.1.2.</a:t>
                      </a:r>
                      <a:r>
                        <a:rPr sz="700" b="0" i="0">
                          <a:solidFill>
                            <a:srgbClr val="000000"/>
                          </a:solidFill>
                          <a:latin typeface="Times New Roman"/>
                        </a:rPr>
                        <a:t> </a:t>
                      </a:r>
                      <a:r>
                        <a:rPr sz="1100" b="0" i="0">
                          <a:solidFill>
                            <a:srgbClr val="000000"/>
                          </a:solidFill>
                          <a:latin typeface="Calibri"/>
                        </a:rPr>
                        <a:t>Operating margins Comparison to Parent/Associated Market</a:t>
                      </a:r>
                      <a:endParaRPr sz="1100"/>
                    </a:p>
                  </a:txBody>
                  <a:tcPr marL="771525" marR="9525" marT="9525" marB="0" anchor="ctr"/>
                </a:tc>
              </a:tr>
              <a:tr h="175260">
                <a:tc>
                  <a:txBody>
                    <a:bodyPr wrap="square"/>
                    <a:lstStyle/>
                    <a:p>
                      <a:pPr algn="l"/>
                      <a:r>
                        <a:rPr sz="1100" b="0" i="0">
                          <a:solidFill>
                            <a:srgbClr val="0070C0"/>
                          </a:solidFill>
                          <a:latin typeface="Calibri"/>
                        </a:rPr>
                        <a:t>24.2.</a:t>
                      </a:r>
                      <a:r>
                        <a:rPr sz="700" b="0" i="0">
                          <a:solidFill>
                            <a:srgbClr val="0070C0"/>
                          </a:solidFill>
                          <a:latin typeface="Times New Roman"/>
                        </a:rPr>
                        <a:t>  </a:t>
                      </a:r>
                      <a:r>
                        <a:rPr sz="1100" b="0" i="0">
                          <a:solidFill>
                            <a:srgbClr val="0070C0"/>
                          </a:solidFill>
                          <a:latin typeface="Calibri"/>
                        </a:rPr>
                        <a:t>Margin Optimization Strategies</a:t>
                      </a:r>
                      <a:endParaRPr sz="1100"/>
                    </a:p>
                  </a:txBody>
                  <a:tcPr marL="428625" marR="9525" marT="9525" marB="0" anchor="ctr"/>
                </a:tc>
              </a:tr>
              <a:tr h="175260">
                <a:tc>
                  <a:txBody>
                    <a:bodyPr wrap="square"/>
                    <a:lstStyle/>
                    <a:p>
                      <a:pPr algn="l"/>
                      <a:r>
                        <a:rPr sz="1100" b="0" i="0">
                          <a:solidFill>
                            <a:srgbClr val="0070C0"/>
                          </a:solidFill>
                          <a:latin typeface="Calibri"/>
                        </a:rPr>
                        <a:t>24.3.</a:t>
                      </a:r>
                      <a:r>
                        <a:rPr sz="700" b="0" i="0">
                          <a:solidFill>
                            <a:srgbClr val="0070C0"/>
                          </a:solidFill>
                          <a:latin typeface="Times New Roman"/>
                        </a:rPr>
                        <a:t>  </a:t>
                      </a:r>
                      <a:r>
                        <a:rPr sz="1100" b="0" i="0">
                          <a:solidFill>
                            <a:srgbClr val="0070C0"/>
                          </a:solidFill>
                          <a:latin typeface="Calibri"/>
                        </a:rPr>
                        <a:t>List of Active Market Participants</a:t>
                      </a:r>
                      <a:endParaRPr sz="1100"/>
                    </a:p>
                  </a:txBody>
                  <a:tcPr marL="428625" marR="9525" marT="9525" marB="0" anchor="ctr"/>
                </a:tc>
              </a:tr>
              <a:tr h="175260">
                <a:tc>
                  <a:txBody>
                    <a:bodyPr wrap="square"/>
                    <a:lstStyle/>
                    <a:p>
                      <a:pPr algn="l"/>
                      <a:r>
                        <a:rPr sz="1100" b="0" i="0">
                          <a:solidFill>
                            <a:srgbClr val="000000"/>
                          </a:solidFill>
                          <a:latin typeface="Calibri"/>
                        </a:rPr>
                        <a:t>24.3.1.</a:t>
                      </a:r>
                      <a:r>
                        <a:rPr sz="700" b="0" i="0">
                          <a:solidFill>
                            <a:srgbClr val="000000"/>
                          </a:solidFill>
                          <a:latin typeface="Times New Roman"/>
                        </a:rPr>
                        <a:t> </a:t>
                      </a:r>
                      <a:r>
                        <a:rPr sz="1100" b="0" i="0">
                          <a:solidFill>
                            <a:srgbClr val="000000"/>
                          </a:solidFill>
                          <a:latin typeface="Calibri"/>
                        </a:rPr>
                        <a:t>Product Manufacturers/ Key Brands</a:t>
                      </a:r>
                      <a:endParaRPr sz="1100"/>
                    </a:p>
                  </a:txBody>
                  <a:tcPr marL="771525" marR="9525" marT="9525" marB="0" anchor="ctr"/>
                </a:tc>
              </a:tr>
              <a:tr h="175260">
                <a:tc>
                  <a:txBody>
                    <a:bodyPr wrap="square"/>
                    <a:lstStyle/>
                    <a:p>
                      <a:pPr algn="l"/>
                      <a:r>
                        <a:rPr sz="1100" b="0" i="0">
                          <a:solidFill>
                            <a:srgbClr val="000000"/>
                          </a:solidFill>
                          <a:latin typeface="Calibri"/>
                        </a:rPr>
                        <a:t>24.3.2.</a:t>
                      </a:r>
                      <a:r>
                        <a:rPr sz="700" b="0" i="0">
                          <a:solidFill>
                            <a:srgbClr val="000000"/>
                          </a:solidFill>
                          <a:latin typeface="Times New Roman"/>
                        </a:rPr>
                        <a:t> </a:t>
                      </a:r>
                      <a:r>
                        <a:rPr sz="1100" b="0" i="0">
                          <a:solidFill>
                            <a:srgbClr val="000000"/>
                          </a:solidFill>
                          <a:latin typeface="Calibri"/>
                        </a:rPr>
                        <a:t>Distributors/Suppliers</a:t>
                      </a:r>
                      <a:endParaRPr sz="1100"/>
                    </a:p>
                  </a:txBody>
                  <a:tcPr marL="771525" marR="9525" marT="9525" marB="0" anchor="ctr"/>
                </a:tc>
              </a:tr>
              <a:tr h="175260">
                <a:tc>
                  <a:txBody>
                    <a:bodyPr wrap="square"/>
                    <a:lstStyle/>
                    <a:p>
                      <a:pPr algn="l"/>
                      <a:r>
                        <a:rPr sz="1100" b="0" i="0">
                          <a:solidFill>
                            <a:srgbClr val="000000"/>
                          </a:solidFill>
                          <a:latin typeface="Calibri"/>
                        </a:rPr>
                        <a:t>24.3.3.</a:t>
                      </a:r>
                      <a:r>
                        <a:rPr sz="700" b="0" i="0">
                          <a:solidFill>
                            <a:srgbClr val="000000"/>
                          </a:solidFill>
                          <a:latin typeface="Times New Roman"/>
                        </a:rPr>
                        <a:t> </a:t>
                      </a:r>
                      <a:r>
                        <a:rPr sz="1100" b="0" i="0">
                          <a:solidFill>
                            <a:srgbClr val="000000"/>
                          </a:solidFill>
                          <a:latin typeface="Calibri"/>
                        </a:rPr>
                        <a:t>End Users</a:t>
                      </a:r>
                      <a:endParaRPr sz="1100"/>
                    </a:p>
                  </a:txBody>
                  <a:tcPr marL="771525" marR="9525" marT="9525" marB="0" anchor="ctr"/>
                </a:tc>
              </a:tr>
              <a:tr h="350520">
                <a:tc>
                  <a:txBody>
                    <a:bodyPr wrap="square"/>
                    <a:lstStyle/>
                    <a:p>
                      <a:pPr algn="l"/>
                      <a:r>
                        <a:rPr sz="1100" b="0" i="1">
                          <a:solidFill>
                            <a:srgbClr val="FF0000"/>
                          </a:solidFill>
                          <a:latin typeface="Calibri"/>
                        </a:rPr>
                        <a:t>Note: The section lists 20-30 active market participants. For a comprehensive list, please contact the respective sales personnel</a:t>
                      </a:r>
                      <a:endParaRPr sz="1100"/>
                    </a:p>
                  </a:txBody>
                  <a:tcPr marL="9525" marR="9525" marT="9525" marB="0" anchor="ctr"/>
                </a:tc>
              </a:tr>
              <a:tr h="175260">
                <a:tc>
                  <a:txBody>
                    <a:bodyPr wrap="square"/>
                    <a:lstStyle/>
                    <a:p>
                      <a:pPr algn="l"/>
                      <a:r>
                        <a:rPr sz="1100" b="1" i="0">
                          <a:solidFill>
                            <a:srgbClr val="000000"/>
                          </a:solidFill>
                          <a:latin typeface="Calibri"/>
                        </a:rPr>
                        <a:t>Section 6: Competition Assessment</a:t>
                      </a:r>
                      <a:endParaRPr sz="1100"/>
                    </a:p>
                  </a:txBody>
                  <a:tcPr marL="9525" marR="9525" marT="9525" marB="0" anchor="ctr"/>
                </a:tc>
              </a:tr>
              <a:tr h="175260">
                <a:tc>
                  <a:txBody>
                    <a:bodyPr wrap="square"/>
                    <a:lstStyle/>
                    <a:p>
                      <a:pPr algn="l"/>
                      <a:r>
                        <a:rPr sz="1100" b="1" i="0">
                          <a:solidFill>
                            <a:srgbClr val="000000"/>
                          </a:solidFill>
                          <a:latin typeface="Calibri"/>
                        </a:rPr>
                        <a:t>25.</a:t>
                      </a:r>
                      <a:r>
                        <a:rPr sz="700" b="1" i="0">
                          <a:solidFill>
                            <a:srgbClr val="000000"/>
                          </a:solidFill>
                          <a:latin typeface="Times New Roman"/>
                        </a:rPr>
                        <a:t>    </a:t>
                      </a:r>
                      <a:r>
                        <a:rPr sz="1100" b="1" i="0">
                          <a:solidFill>
                            <a:srgbClr val="000000"/>
                          </a:solidFill>
                          <a:latin typeface="Calibri"/>
                        </a:rPr>
                        <a:t>Competition at a Glance- a Dashboard View</a:t>
                      </a:r>
                      <a:endParaRPr sz="1100"/>
                    </a:p>
                  </a:txBody>
                  <a:tcPr marL="171450" marR="9525" marT="9525" marB="0" anchor="ctr"/>
                </a:tc>
              </a:tr>
              <a:tr h="175260">
                <a:tc>
                  <a:txBody>
                    <a:bodyPr wrap="square"/>
                    <a:lstStyle/>
                    <a:p>
                      <a:pPr algn="l"/>
                      <a:r>
                        <a:rPr sz="1100" b="1" i="0">
                          <a:solidFill>
                            <a:srgbClr val="000000"/>
                          </a:solidFill>
                          <a:latin typeface="Calibri"/>
                        </a:rPr>
                        <a:t>26.</a:t>
                      </a:r>
                      <a:r>
                        <a:rPr sz="700" b="1" i="0">
                          <a:solidFill>
                            <a:srgbClr val="000000"/>
                          </a:solidFill>
                          <a:latin typeface="Times New Roman"/>
                        </a:rPr>
                        <a:t>    </a:t>
                      </a:r>
                      <a:r>
                        <a:rPr sz="1100" b="1" i="0">
                          <a:solidFill>
                            <a:srgbClr val="000000"/>
                          </a:solidFill>
                          <a:latin typeface="Calibri"/>
                        </a:rPr>
                        <a:t>Company Share (%) Analysis, 2023, 2025, 2026</a:t>
                      </a:r>
                      <a:endParaRPr sz="1100"/>
                    </a:p>
                  </a:txBody>
                  <a:tcPr marL="171450" marR="9525" marT="9525" marB="0" anchor="ctr"/>
                </a:tc>
              </a:tr>
            </a:tbl>
          </a:graphicData>
        </a:graphic>
      </p:graphicFrame>
      <p:sp>
        <p:nvSpPr>
          <p:cNvPr id="8" name="Rectangle 7"/>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76200"/>
            <a:ext cx="10896600"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Table of Contents (6/6)</a:t>
            </a:r>
          </a:p>
        </p:txBody>
      </p:sp>
      <p:graphicFrame>
        <p:nvGraphicFramePr>
          <p:cNvPr id="6" name="TMR Contents Table"/>
          <p:cNvGraphicFramePr>
            <a:graphicFrameLocks noGrp="1"/>
          </p:cNvGraphicFramePr>
          <p:nvPr/>
        </p:nvGraphicFramePr>
        <p:xfrm>
          <a:off x="142875" y="981075"/>
          <a:ext cx="5876925" cy="5257800"/>
        </p:xfrm>
        <a:graphic>
          <a:graphicData uri="http://schemas.openxmlformats.org/drawingml/2006/table">
            <a:tbl>
              <a:tblPr>
                <a:tableStyleId>{3B4B98B0-60AC-42C2-AFA5-B58CD77FA1E5}</a:tableStyleId>
              </a:tblPr>
              <a:tblGrid>
                <a:gridCol w="5876925"/>
              </a:tblGrid>
              <a:tr h="175260">
                <a:tc>
                  <a:txBody>
                    <a:bodyPr wrap="square"/>
                    <a:lstStyle/>
                    <a:p>
                      <a:pPr algn="l"/>
                      <a:r>
                        <a:rPr sz="1100" b="0" i="0">
                          <a:solidFill>
                            <a:srgbClr val="0070C0"/>
                          </a:solidFill>
                          <a:latin typeface="Calibri"/>
                        </a:rPr>
                        <a:t>26.1.</a:t>
                      </a:r>
                      <a:r>
                        <a:rPr sz="700" b="0" i="0">
                          <a:solidFill>
                            <a:srgbClr val="0070C0"/>
                          </a:solidFill>
                          <a:latin typeface="Times New Roman"/>
                        </a:rPr>
                        <a:t>  </a:t>
                      </a:r>
                      <a:r>
                        <a:rPr sz="1100" b="0" i="0">
                          <a:solidFill>
                            <a:srgbClr val="0070C0"/>
                          </a:solidFill>
                          <a:latin typeface="Calibri"/>
                        </a:rPr>
                        <a:t>By Region</a:t>
                      </a:r>
                      <a:endParaRPr sz="1100"/>
                    </a:p>
                  </a:txBody>
                  <a:tcPr marL="428625" marR="9525" marT="9525" marB="0" anchor="ctr"/>
                </a:tc>
              </a:tr>
              <a:tr h="175260">
                <a:tc>
                  <a:txBody>
                    <a:bodyPr wrap="square"/>
                    <a:lstStyle/>
                    <a:p>
                      <a:pPr algn="l"/>
                      <a:r>
                        <a:rPr sz="1100" b="0" i="0">
                          <a:solidFill>
                            <a:srgbClr val="0070C0"/>
                          </a:solidFill>
                          <a:latin typeface="Calibri"/>
                        </a:rPr>
                        <a:t>26.2.</a:t>
                      </a:r>
                      <a:r>
                        <a:rPr sz="700" b="0" i="0">
                          <a:solidFill>
                            <a:srgbClr val="0070C0"/>
                          </a:solidFill>
                          <a:latin typeface="Times New Roman"/>
                        </a:rPr>
                        <a:t>  </a:t>
                      </a:r>
                      <a:r>
                        <a:rPr sz="1100" b="0" i="0">
                          <a:solidFill>
                            <a:srgbClr val="0070C0"/>
                          </a:solidFill>
                          <a:latin typeface="Calibri"/>
                        </a:rPr>
                        <a:t>By Product Type</a:t>
                      </a:r>
                      <a:endParaRPr sz="1100"/>
                    </a:p>
                  </a:txBody>
                  <a:tcPr marL="428625" marR="9525" marT="9525" marB="0" anchor="ctr"/>
                </a:tc>
              </a:tr>
              <a:tr h="175260">
                <a:tc>
                  <a:txBody>
                    <a:bodyPr wrap="square"/>
                    <a:lstStyle/>
                    <a:p>
                      <a:pPr algn="l"/>
                      <a:r>
                        <a:rPr sz="1100" b="0" i="0">
                          <a:solidFill>
                            <a:srgbClr val="0070C0"/>
                          </a:solidFill>
                          <a:latin typeface="Calibri"/>
                        </a:rPr>
                        <a:t>26.3.</a:t>
                      </a:r>
                      <a:r>
                        <a:rPr sz="700" b="0" i="0">
                          <a:solidFill>
                            <a:srgbClr val="0070C0"/>
                          </a:solidFill>
                          <a:latin typeface="Times New Roman"/>
                        </a:rPr>
                        <a:t>  </a:t>
                      </a:r>
                      <a:r>
                        <a:rPr sz="1100" b="0" i="0">
                          <a:solidFill>
                            <a:srgbClr val="0070C0"/>
                          </a:solidFill>
                          <a:latin typeface="Calibri"/>
                        </a:rPr>
                        <a:t>By End Use Application</a:t>
                      </a:r>
                      <a:endParaRPr sz="1100"/>
                    </a:p>
                  </a:txBody>
                  <a:tcPr marL="428625" marR="9525" marT="9525" marB="0" anchor="ctr"/>
                </a:tc>
              </a:tr>
              <a:tr h="175260">
                <a:tc>
                  <a:txBody>
                    <a:bodyPr wrap="square"/>
                    <a:lstStyle/>
                    <a:p>
                      <a:pPr algn="l"/>
                      <a:r>
                        <a:rPr sz="1100" b="1" i="0">
                          <a:solidFill>
                            <a:srgbClr val="000000"/>
                          </a:solidFill>
                          <a:latin typeface="Calibri"/>
                        </a:rPr>
                        <a:t>27.</a:t>
                      </a:r>
                      <a:r>
                        <a:rPr sz="700" b="1" i="0">
                          <a:solidFill>
                            <a:srgbClr val="000000"/>
                          </a:solidFill>
                          <a:latin typeface="Times New Roman"/>
                        </a:rPr>
                        <a:t>    </a:t>
                      </a:r>
                      <a:r>
                        <a:rPr sz="1100" b="1" i="0">
                          <a:solidFill>
                            <a:srgbClr val="000000"/>
                          </a:solidFill>
                          <a:latin typeface="Calibri"/>
                        </a:rPr>
                        <a:t>Company Profile</a:t>
                      </a:r>
                      <a:endParaRPr sz="1100"/>
                    </a:p>
                  </a:txBody>
                  <a:tcPr marL="171450" marR="9525" marT="9525" marB="0" anchor="ctr"/>
                </a:tc>
              </a:tr>
              <a:tr h="175260">
                <a:tc>
                  <a:txBody>
                    <a:bodyPr wrap="square"/>
                    <a:lstStyle/>
                    <a:p>
                      <a:pPr algn="l"/>
                      <a:r>
                        <a:rPr sz="1100" b="0" i="0">
                          <a:solidFill>
                            <a:srgbClr val="0070C0"/>
                          </a:solidFill>
                          <a:latin typeface="Calibri"/>
                        </a:rPr>
                        <a:t>27.1.</a:t>
                      </a:r>
                      <a:r>
                        <a:rPr sz="700" b="0" i="0">
                          <a:solidFill>
                            <a:srgbClr val="0070C0"/>
                          </a:solidFill>
                          <a:latin typeface="Times New Roman"/>
                        </a:rPr>
                        <a:t>  </a:t>
                      </a:r>
                      <a:r>
                        <a:rPr sz="1100" b="0" i="0">
                          <a:solidFill>
                            <a:srgbClr val="0070C0"/>
                          </a:solidFill>
                          <a:latin typeface="Calibri"/>
                        </a:rPr>
                        <a:t>ESM Technologies, LLC (Stratum Nutrition)</a:t>
                      </a:r>
                      <a:endParaRPr sz="1100"/>
                    </a:p>
                  </a:txBody>
                  <a:tcPr marL="428625" marR="9525" marT="9525" marB="0" anchor="ctr"/>
                </a:tc>
              </a:tr>
              <a:tr h="175260">
                <a:tc>
                  <a:txBody>
                    <a:bodyPr wrap="square"/>
                    <a:lstStyle/>
                    <a:p>
                      <a:pPr algn="l"/>
                      <a:r>
                        <a:rPr sz="1100" b="0" i="0">
                          <a:solidFill>
                            <a:srgbClr val="000000"/>
                          </a:solidFill>
                          <a:latin typeface="Calibri"/>
                        </a:rPr>
                        <a:t>27.1.1.</a:t>
                      </a:r>
                      <a:r>
                        <a:rPr sz="700" b="0" i="0">
                          <a:solidFill>
                            <a:srgbClr val="000000"/>
                          </a:solidFill>
                          <a:latin typeface="Times New Roman"/>
                        </a:rPr>
                        <a:t> </a:t>
                      </a:r>
                      <a:r>
                        <a:rPr sz="1100" b="0" i="0">
                          <a:solidFill>
                            <a:srgbClr val="000000"/>
                          </a:solidFill>
                          <a:latin typeface="Calibri"/>
                        </a:rPr>
                        <a:t>Product Portfolio</a:t>
                      </a:r>
                      <a:endParaRPr sz="1100"/>
                    </a:p>
                  </a:txBody>
                  <a:tcPr marL="771525" marR="9525" marT="9525" marB="0" anchor="ctr"/>
                </a:tc>
              </a:tr>
              <a:tr h="175260">
                <a:tc>
                  <a:txBody>
                    <a:bodyPr wrap="square"/>
                    <a:lstStyle/>
                    <a:p>
                      <a:pPr algn="l"/>
                      <a:r>
                        <a:rPr sz="1100" b="0" i="0">
                          <a:solidFill>
                            <a:srgbClr val="000000"/>
                          </a:solidFill>
                          <a:latin typeface="Calibri"/>
                        </a:rPr>
                        <a:t>27.1.2.</a:t>
                      </a:r>
                      <a:r>
                        <a:rPr sz="700" b="0" i="0">
                          <a:solidFill>
                            <a:srgbClr val="000000"/>
                          </a:solidFill>
                          <a:latin typeface="Times New Roman"/>
                        </a:rPr>
                        <a:t> </a:t>
                      </a:r>
                      <a:r>
                        <a:rPr sz="1100" b="0" i="0">
                          <a:solidFill>
                            <a:srgbClr val="000000"/>
                          </a:solidFill>
                          <a:latin typeface="Calibri"/>
                        </a:rPr>
                        <a:t>Pricing Analysis (USD Per Unit) By Product Type</a:t>
                      </a:r>
                      <a:endParaRPr sz="1100"/>
                    </a:p>
                  </a:txBody>
                  <a:tcPr marL="771525" marR="9525" marT="9525" marB="0" anchor="ctr"/>
                </a:tc>
              </a:tr>
              <a:tr h="175260">
                <a:tc>
                  <a:txBody>
                    <a:bodyPr wrap="square"/>
                    <a:lstStyle/>
                    <a:p>
                      <a:pPr algn="l"/>
                      <a:r>
                        <a:rPr sz="1100" b="0" i="0">
                          <a:solidFill>
                            <a:srgbClr val="000000"/>
                          </a:solidFill>
                          <a:latin typeface="Calibri"/>
                        </a:rPr>
                        <a:t>27.1.3.</a:t>
                      </a:r>
                      <a:r>
                        <a:rPr sz="700" b="0" i="0">
                          <a:solidFill>
                            <a:srgbClr val="000000"/>
                          </a:solidFill>
                          <a:latin typeface="Times New Roman"/>
                        </a:rPr>
                        <a:t> </a:t>
                      </a:r>
                      <a:r>
                        <a:rPr sz="1100" b="0" i="0">
                          <a:solidFill>
                            <a:srgbClr val="000000"/>
                          </a:solidFill>
                          <a:latin typeface="Calibri"/>
                        </a:rPr>
                        <a:t>Sales Footprint</a:t>
                      </a:r>
                      <a:endParaRPr sz="1100"/>
                    </a:p>
                  </a:txBody>
                  <a:tcPr marL="771525" marR="9525" marT="9525" marB="0" anchor="ctr"/>
                </a:tc>
              </a:tr>
              <a:tr h="175260">
                <a:tc>
                  <a:txBody>
                    <a:bodyPr wrap="square"/>
                    <a:lstStyle/>
                    <a:p>
                      <a:pPr algn="l"/>
                      <a:r>
                        <a:rPr sz="1100" b="0" i="0">
                          <a:solidFill>
                            <a:srgbClr val="000000"/>
                          </a:solidFill>
                          <a:latin typeface="Calibri"/>
                        </a:rPr>
                        <a:t>27.1.4.</a:t>
                      </a:r>
                      <a:r>
                        <a:rPr sz="700" b="0" i="0">
                          <a:solidFill>
                            <a:srgbClr val="000000"/>
                          </a:solidFill>
                          <a:latin typeface="Times New Roman"/>
                        </a:rPr>
                        <a:t> </a:t>
                      </a:r>
                      <a:r>
                        <a:rPr sz="1100" b="0" i="0">
                          <a:solidFill>
                            <a:srgbClr val="000000"/>
                          </a:solidFill>
                          <a:latin typeface="Calibri"/>
                        </a:rPr>
                        <a:t>Strategy Overview</a:t>
                      </a:r>
                      <a:endParaRPr sz="1100"/>
                    </a:p>
                  </a:txBody>
                  <a:tcPr marL="771525" marR="9525" marT="9525" marB="0" anchor="ctr"/>
                </a:tc>
              </a:tr>
              <a:tr h="175260">
                <a:tc>
                  <a:txBody>
                    <a:bodyPr wrap="square"/>
                    <a:lstStyle/>
                    <a:p>
                      <a:pPr algn="l"/>
                      <a:r>
                        <a:rPr sz="1100" b="0" i="1">
                          <a:solidFill>
                            <a:srgbClr val="000000"/>
                          </a:solidFill>
                          <a:latin typeface="Calibri"/>
                        </a:rPr>
                        <a:t>27.1.4.1.</a:t>
                      </a:r>
                      <a:r>
                        <a:rPr sz="700" b="0" i="1">
                          <a:solidFill>
                            <a:srgbClr val="000000"/>
                          </a:solidFill>
                          <a:latin typeface="Times New Roman"/>
                        </a:rPr>
                        <a:t> </a:t>
                      </a:r>
                      <a:r>
                        <a:rPr sz="1100" b="0" i="1">
                          <a:solidFill>
                            <a:srgbClr val="000000"/>
                          </a:solidFill>
                          <a:latin typeface="Calibri"/>
                        </a:rPr>
                        <a:t>Marketing Strategy</a:t>
                      </a:r>
                      <a:endParaRPr sz="1100"/>
                    </a:p>
                  </a:txBody>
                  <a:tcPr marL="1028700" marR="9525" marT="9525" marB="0" anchor="ctr"/>
                </a:tc>
              </a:tr>
              <a:tr h="175260">
                <a:tc>
                  <a:txBody>
                    <a:bodyPr wrap="square"/>
                    <a:lstStyle/>
                    <a:p>
                      <a:pPr algn="l"/>
                      <a:r>
                        <a:rPr sz="1100" b="0" i="1">
                          <a:solidFill>
                            <a:srgbClr val="000000"/>
                          </a:solidFill>
                          <a:latin typeface="Calibri"/>
                        </a:rPr>
                        <a:t>27.1.4.2.</a:t>
                      </a:r>
                      <a:r>
                        <a:rPr sz="700" b="0" i="1">
                          <a:solidFill>
                            <a:srgbClr val="000000"/>
                          </a:solidFill>
                          <a:latin typeface="Times New Roman"/>
                        </a:rPr>
                        <a:t> </a:t>
                      </a:r>
                      <a:r>
                        <a:rPr sz="1100" b="0" i="1">
                          <a:solidFill>
                            <a:srgbClr val="000000"/>
                          </a:solidFill>
                          <a:latin typeface="Calibri"/>
                        </a:rPr>
                        <a:t>Product Strategy</a:t>
                      </a:r>
                      <a:endParaRPr sz="1100"/>
                    </a:p>
                  </a:txBody>
                  <a:tcPr marL="1028700" marR="9525" marT="9525" marB="0" anchor="ctr"/>
                </a:tc>
              </a:tr>
              <a:tr h="175260">
                <a:tc>
                  <a:txBody>
                    <a:bodyPr wrap="square"/>
                    <a:lstStyle/>
                    <a:p>
                      <a:pPr algn="l"/>
                      <a:r>
                        <a:rPr sz="1100" b="0" i="1">
                          <a:solidFill>
                            <a:srgbClr val="000000"/>
                          </a:solidFill>
                          <a:latin typeface="Calibri"/>
                        </a:rPr>
                        <a:t>27.1.4.3.</a:t>
                      </a:r>
                      <a:r>
                        <a:rPr sz="700" b="0" i="1">
                          <a:solidFill>
                            <a:srgbClr val="000000"/>
                          </a:solidFill>
                          <a:latin typeface="Times New Roman"/>
                        </a:rPr>
                        <a:t> </a:t>
                      </a:r>
                      <a:r>
                        <a:rPr sz="1100" b="0" i="1">
                          <a:solidFill>
                            <a:srgbClr val="000000"/>
                          </a:solidFill>
                          <a:latin typeface="Calibri"/>
                        </a:rPr>
                        <a:t>Channel Strategy</a:t>
                      </a:r>
                      <a:endParaRPr sz="1100"/>
                    </a:p>
                  </a:txBody>
                  <a:tcPr marL="1028700" marR="9525" marT="9525" marB="0" anchor="ctr"/>
                </a:tc>
              </a:tr>
              <a:tr h="175260">
                <a:tc>
                  <a:txBody>
                    <a:bodyPr wrap="square"/>
                    <a:lstStyle/>
                    <a:p>
                      <a:pPr algn="l"/>
                      <a:r>
                        <a:rPr sz="1100" b="0" i="1">
                          <a:solidFill>
                            <a:srgbClr val="000000"/>
                          </a:solidFill>
                          <a:latin typeface="Calibri"/>
                        </a:rPr>
                        <a:t>27.1.4.4.</a:t>
                      </a:r>
                      <a:r>
                        <a:rPr sz="700" b="0" i="1">
                          <a:solidFill>
                            <a:srgbClr val="000000"/>
                          </a:solidFill>
                          <a:latin typeface="Times New Roman"/>
                        </a:rPr>
                        <a:t> </a:t>
                      </a:r>
                      <a:r>
                        <a:rPr sz="1100" b="0" i="1">
                          <a:solidFill>
                            <a:srgbClr val="000000"/>
                          </a:solidFill>
                          <a:latin typeface="Calibri"/>
                        </a:rPr>
                        <a:t>Pricing Strategy</a:t>
                      </a:r>
                      <a:endParaRPr sz="1100"/>
                    </a:p>
                  </a:txBody>
                  <a:tcPr marL="1028700" marR="9525" marT="9525" marB="0" anchor="ctr"/>
                </a:tc>
              </a:tr>
              <a:tr h="175260">
                <a:tc>
                  <a:txBody>
                    <a:bodyPr wrap="square"/>
                    <a:lstStyle/>
                    <a:p>
                      <a:pPr algn="l"/>
                      <a:r>
                        <a:rPr sz="1100" b="0" i="0">
                          <a:solidFill>
                            <a:srgbClr val="000000"/>
                          </a:solidFill>
                          <a:latin typeface="Calibri"/>
                        </a:rPr>
                        <a:t>27.1.5.</a:t>
                      </a:r>
                      <a:r>
                        <a:rPr sz="700" b="0" i="0">
                          <a:solidFill>
                            <a:srgbClr val="000000"/>
                          </a:solidFill>
                          <a:latin typeface="Times New Roman"/>
                        </a:rPr>
                        <a:t> </a:t>
                      </a:r>
                      <a:r>
                        <a:rPr sz="1100" b="0" i="0">
                          <a:solidFill>
                            <a:srgbClr val="000000"/>
                          </a:solidFill>
                          <a:latin typeface="Calibri"/>
                        </a:rPr>
                        <a:t>SWOT</a:t>
                      </a:r>
                      <a:endParaRPr sz="1100"/>
                    </a:p>
                  </a:txBody>
                  <a:tcPr marL="771525" marR="9525" marT="9525" marB="0" anchor="ctr"/>
                </a:tc>
              </a:tr>
              <a:tr h="175260">
                <a:tc>
                  <a:txBody>
                    <a:bodyPr wrap="square"/>
                    <a:lstStyle/>
                    <a:p>
                      <a:pPr algn="l"/>
                      <a:r>
                        <a:rPr sz="1100" b="0" i="0">
                          <a:solidFill>
                            <a:srgbClr val="000000"/>
                          </a:solidFill>
                          <a:latin typeface="Calibri"/>
                        </a:rPr>
                        <a:t>27.1.6.</a:t>
                      </a:r>
                      <a:r>
                        <a:rPr sz="700" b="0" i="0">
                          <a:solidFill>
                            <a:srgbClr val="000000"/>
                          </a:solidFill>
                          <a:latin typeface="Times New Roman"/>
                        </a:rPr>
                        <a:t> </a:t>
                      </a:r>
                      <a:r>
                        <a:rPr sz="1100" b="0" i="0">
                          <a:solidFill>
                            <a:srgbClr val="000000"/>
                          </a:solidFill>
                          <a:latin typeface="Calibri"/>
                        </a:rPr>
                        <a:t>Analyst Comment</a:t>
                      </a:r>
                      <a:endParaRPr sz="1100"/>
                    </a:p>
                  </a:txBody>
                  <a:tcPr marL="771525" marR="9525" marT="9525" marB="0" anchor="ctr"/>
                </a:tc>
              </a:tr>
              <a:tr h="175260">
                <a:tc>
                  <a:txBody>
                    <a:bodyPr wrap="square"/>
                    <a:lstStyle/>
                    <a:p>
                      <a:pPr algn="l"/>
                      <a:r>
                        <a:rPr sz="1100" b="0" i="1">
                          <a:solidFill>
                            <a:srgbClr val="EE0000"/>
                          </a:solidFill>
                          <a:latin typeface="Calibri"/>
                        </a:rPr>
                        <a:t>Note: All companies shall be indicated in similar manner</a:t>
                      </a:r>
                      <a:endParaRPr sz="1100"/>
                    </a:p>
                  </a:txBody>
                  <a:tcPr marL="9525" marR="9525" marT="9525" marB="0" anchor="ctr"/>
                </a:tc>
              </a:tr>
              <a:tr h="175260">
                <a:tc>
                  <a:txBody>
                    <a:bodyPr wrap="square"/>
                    <a:lstStyle/>
                    <a:p>
                      <a:pPr algn="l"/>
                      <a:r>
                        <a:rPr sz="1100" b="0" i="0">
                          <a:solidFill>
                            <a:srgbClr val="0070C0"/>
                          </a:solidFill>
                          <a:latin typeface="Calibri"/>
                        </a:rPr>
                        <a:t>27.2.</a:t>
                      </a:r>
                      <a:r>
                        <a:rPr sz="700" b="0" i="0">
                          <a:solidFill>
                            <a:srgbClr val="0070C0"/>
                          </a:solidFill>
                          <a:latin typeface="Times New Roman"/>
                        </a:rPr>
                        <a:t>  </a:t>
                      </a:r>
                      <a:r>
                        <a:rPr sz="1100" b="0" i="0">
                          <a:solidFill>
                            <a:srgbClr val="0070C0"/>
                          </a:solidFill>
                          <a:latin typeface="Calibri"/>
                        </a:rPr>
                        <a:t>Biova, LLC</a:t>
                      </a:r>
                      <a:endParaRPr sz="1100"/>
                    </a:p>
                  </a:txBody>
                  <a:tcPr marL="428625" marR="9525" marT="9525" marB="0" anchor="ctr"/>
                </a:tc>
              </a:tr>
              <a:tr h="175260">
                <a:tc>
                  <a:txBody>
                    <a:bodyPr wrap="square"/>
                    <a:lstStyle/>
                    <a:p>
                      <a:pPr algn="l"/>
                      <a:r>
                        <a:rPr sz="1100" b="0" i="0">
                          <a:solidFill>
                            <a:srgbClr val="0070C0"/>
                          </a:solidFill>
                          <a:latin typeface="Calibri"/>
                        </a:rPr>
                        <a:t>27.3.</a:t>
                      </a:r>
                      <a:r>
                        <a:rPr sz="700" b="0" i="0">
                          <a:solidFill>
                            <a:srgbClr val="0070C0"/>
                          </a:solidFill>
                          <a:latin typeface="Times New Roman"/>
                        </a:rPr>
                        <a:t>  </a:t>
                      </a:r>
                      <a:r>
                        <a:rPr sz="1100" b="0" i="0">
                          <a:solidFill>
                            <a:srgbClr val="0070C0"/>
                          </a:solidFill>
                          <a:latin typeface="Calibri"/>
                        </a:rPr>
                        <a:t>Eggnovo S.L.</a:t>
                      </a:r>
                      <a:endParaRPr sz="1100"/>
                    </a:p>
                  </a:txBody>
                  <a:tcPr marL="428625" marR="9525" marT="9525" marB="0" anchor="ctr"/>
                </a:tc>
              </a:tr>
              <a:tr h="175260">
                <a:tc>
                  <a:txBody>
                    <a:bodyPr wrap="square"/>
                    <a:lstStyle/>
                    <a:p>
                      <a:pPr algn="l"/>
                      <a:r>
                        <a:rPr sz="1100" b="0" i="0">
                          <a:solidFill>
                            <a:srgbClr val="0070C0"/>
                          </a:solidFill>
                          <a:latin typeface="Calibri"/>
                        </a:rPr>
                        <a:t>27.4.</a:t>
                      </a:r>
                      <a:r>
                        <a:rPr sz="700" b="0" i="0">
                          <a:solidFill>
                            <a:srgbClr val="0070C0"/>
                          </a:solidFill>
                          <a:latin typeface="Times New Roman"/>
                        </a:rPr>
                        <a:t>  </a:t>
                      </a:r>
                      <a:r>
                        <a:rPr sz="1100" b="0" i="0">
                          <a:solidFill>
                            <a:srgbClr val="0070C0"/>
                          </a:solidFill>
                          <a:latin typeface="Calibri"/>
                        </a:rPr>
                        <a:t>Dutch Eggmembrane Protein Powder (DEPP) B.V.</a:t>
                      </a:r>
                      <a:endParaRPr sz="1100"/>
                    </a:p>
                  </a:txBody>
                  <a:tcPr marL="428625" marR="9525" marT="9525" marB="0" anchor="ctr"/>
                </a:tc>
              </a:tr>
              <a:tr h="175260">
                <a:tc>
                  <a:txBody>
                    <a:bodyPr wrap="square"/>
                    <a:lstStyle/>
                    <a:p>
                      <a:pPr algn="l"/>
                      <a:r>
                        <a:rPr sz="1100" b="0" i="0">
                          <a:solidFill>
                            <a:srgbClr val="0070C0"/>
                          </a:solidFill>
                          <a:latin typeface="Calibri"/>
                        </a:rPr>
                        <a:t>27.5.</a:t>
                      </a:r>
                      <a:r>
                        <a:rPr sz="700" b="0" i="0">
                          <a:solidFill>
                            <a:srgbClr val="0070C0"/>
                          </a:solidFill>
                          <a:latin typeface="Times New Roman"/>
                        </a:rPr>
                        <a:t>  </a:t>
                      </a:r>
                      <a:r>
                        <a:rPr sz="1100" b="0" i="0">
                          <a:solidFill>
                            <a:srgbClr val="0070C0"/>
                          </a:solidFill>
                          <a:latin typeface="Calibri"/>
                        </a:rPr>
                        <a:t>Kewpie Corporation</a:t>
                      </a:r>
                      <a:endParaRPr sz="1100"/>
                    </a:p>
                  </a:txBody>
                  <a:tcPr marL="428625" marR="9525" marT="9525" marB="0" anchor="ctr"/>
                </a:tc>
              </a:tr>
              <a:tr h="175260">
                <a:tc>
                  <a:txBody>
                    <a:bodyPr wrap="square"/>
                    <a:lstStyle/>
                    <a:p>
                      <a:pPr algn="l"/>
                      <a:r>
                        <a:rPr sz="1100" b="0" i="0">
                          <a:solidFill>
                            <a:srgbClr val="0070C0"/>
                          </a:solidFill>
                          <a:latin typeface="Calibri"/>
                        </a:rPr>
                        <a:t>27.6.</a:t>
                      </a:r>
                      <a:r>
                        <a:rPr sz="700" b="0" i="0">
                          <a:solidFill>
                            <a:srgbClr val="0070C0"/>
                          </a:solidFill>
                          <a:latin typeface="Times New Roman"/>
                        </a:rPr>
                        <a:t>  </a:t>
                      </a:r>
                      <a:r>
                        <a:rPr sz="1100" b="0" i="0">
                          <a:solidFill>
                            <a:srgbClr val="0070C0"/>
                          </a:solidFill>
                          <a:latin typeface="Calibri"/>
                        </a:rPr>
                        <a:t>INNAIN</a:t>
                      </a:r>
                      <a:endParaRPr sz="1100"/>
                    </a:p>
                  </a:txBody>
                  <a:tcPr marL="428625" marR="9525" marT="9525" marB="0" anchor="ctr"/>
                </a:tc>
              </a:tr>
              <a:tr h="175260">
                <a:tc>
                  <a:txBody>
                    <a:bodyPr wrap="square"/>
                    <a:lstStyle/>
                    <a:p>
                      <a:pPr algn="l"/>
                      <a:r>
                        <a:rPr sz="1100" b="0" i="0">
                          <a:solidFill>
                            <a:srgbClr val="0070C0"/>
                          </a:solidFill>
                          <a:latin typeface="Calibri"/>
                        </a:rPr>
                        <a:t>27.7.</a:t>
                      </a:r>
                      <a:r>
                        <a:rPr sz="700" b="0" i="0">
                          <a:solidFill>
                            <a:srgbClr val="0070C0"/>
                          </a:solidFill>
                          <a:latin typeface="Times New Roman"/>
                        </a:rPr>
                        <a:t>  </a:t>
                      </a:r>
                      <a:r>
                        <a:rPr sz="1100" b="0" i="0">
                          <a:solidFill>
                            <a:srgbClr val="0070C0"/>
                          </a:solidFill>
                          <a:latin typeface="Calibri"/>
                        </a:rPr>
                        <a:t>Ecovatec Solutions Inc.</a:t>
                      </a:r>
                      <a:endParaRPr sz="1100"/>
                    </a:p>
                  </a:txBody>
                  <a:tcPr marL="428625" marR="9525" marT="9525" marB="0" anchor="ctr"/>
                </a:tc>
              </a:tr>
              <a:tr h="175260">
                <a:tc>
                  <a:txBody>
                    <a:bodyPr wrap="square"/>
                    <a:lstStyle/>
                    <a:p>
                      <a:pPr algn="l"/>
                      <a:r>
                        <a:rPr sz="1100" b="0" i="0">
                          <a:solidFill>
                            <a:srgbClr val="0070C0"/>
                          </a:solidFill>
                          <a:latin typeface="Calibri"/>
                        </a:rPr>
                        <a:t>27.8.</a:t>
                      </a:r>
                      <a:r>
                        <a:rPr sz="700" b="0" i="0">
                          <a:solidFill>
                            <a:srgbClr val="0070C0"/>
                          </a:solidFill>
                          <a:latin typeface="Times New Roman"/>
                        </a:rPr>
                        <a:t>  </a:t>
                      </a:r>
                      <a:r>
                        <a:rPr sz="1100" b="0" i="0">
                          <a:solidFill>
                            <a:srgbClr val="0070C0"/>
                          </a:solidFill>
                          <a:latin typeface="Calibri"/>
                        </a:rPr>
                        <a:t>Biovotec</a:t>
                      </a:r>
                      <a:endParaRPr sz="1100"/>
                    </a:p>
                  </a:txBody>
                  <a:tcPr marL="428625" marR="9525" marT="9525" marB="0" anchor="ctr"/>
                </a:tc>
              </a:tr>
              <a:tr h="175260">
                <a:tc>
                  <a:txBody>
                    <a:bodyPr wrap="square"/>
                    <a:lstStyle/>
                    <a:p>
                      <a:pPr algn="l"/>
                      <a:r>
                        <a:rPr sz="1100" b="0" i="0">
                          <a:solidFill>
                            <a:srgbClr val="0070C0"/>
                          </a:solidFill>
                          <a:latin typeface="Calibri"/>
                        </a:rPr>
                        <a:t>27.9.</a:t>
                      </a:r>
                      <a:r>
                        <a:rPr sz="700" b="0" i="0">
                          <a:solidFill>
                            <a:srgbClr val="0070C0"/>
                          </a:solidFill>
                          <a:latin typeface="Times New Roman"/>
                        </a:rPr>
                        <a:t>  </a:t>
                      </a:r>
                      <a:r>
                        <a:rPr sz="1100" b="0" i="0">
                          <a:solidFill>
                            <a:srgbClr val="0070C0"/>
                          </a:solidFill>
                          <a:latin typeface="Calibri"/>
                        </a:rPr>
                        <a:t>Microcore Research Laboratories India Pvt. Ltd.</a:t>
                      </a:r>
                      <a:endParaRPr sz="1100"/>
                    </a:p>
                  </a:txBody>
                  <a:tcPr marL="428625" marR="9525" marT="9525" marB="0" anchor="ctr"/>
                </a:tc>
              </a:tr>
              <a:tr h="175260">
                <a:tc>
                  <a:txBody>
                    <a:bodyPr wrap="square"/>
                    <a:lstStyle/>
                    <a:p>
                      <a:pPr algn="l"/>
                      <a:r>
                        <a:rPr sz="1100" b="0" i="0">
                          <a:solidFill>
                            <a:srgbClr val="0070C0"/>
                          </a:solidFill>
                          <a:latin typeface="Calibri"/>
                        </a:rPr>
                        <a:t>27.10.</a:t>
                      </a:r>
                      <a:r>
                        <a:rPr sz="700" b="0" i="0">
                          <a:solidFill>
                            <a:srgbClr val="0070C0"/>
                          </a:solidFill>
                          <a:latin typeface="Times New Roman"/>
                        </a:rPr>
                        <a:t> </a:t>
                      </a:r>
                      <a:r>
                        <a:rPr sz="1100" b="0" i="0">
                          <a:solidFill>
                            <a:srgbClr val="0070C0"/>
                          </a:solidFill>
                          <a:latin typeface="Calibri"/>
                        </a:rPr>
                        <a:t>Egglin Gıda (Egglin Food)</a:t>
                      </a:r>
                      <a:endParaRPr sz="1100"/>
                    </a:p>
                  </a:txBody>
                  <a:tcPr marL="428625" marR="9525" marT="9525" marB="0" anchor="ctr"/>
                </a:tc>
              </a:tr>
              <a:tr h="175260">
                <a:tc>
                  <a:txBody>
                    <a:bodyPr wrap="square"/>
                    <a:lstStyle/>
                    <a:p>
                      <a:pPr algn="l"/>
                      <a:r>
                        <a:rPr sz="1100" b="0" i="0">
                          <a:solidFill>
                            <a:srgbClr val="0070C0"/>
                          </a:solidFill>
                          <a:latin typeface="Calibri"/>
                        </a:rPr>
                        <a:t>27.11.</a:t>
                      </a:r>
                      <a:r>
                        <a:rPr sz="700" b="0" i="0">
                          <a:solidFill>
                            <a:srgbClr val="0070C0"/>
                          </a:solidFill>
                          <a:latin typeface="Times New Roman"/>
                        </a:rPr>
                        <a:t> </a:t>
                      </a:r>
                      <a:r>
                        <a:rPr sz="1100" b="0" i="0">
                          <a:solidFill>
                            <a:srgbClr val="0070C0"/>
                          </a:solidFill>
                          <a:latin typeface="Calibri"/>
                        </a:rPr>
                        <a:t>ALMADO Inc.</a:t>
                      </a:r>
                      <a:endParaRPr sz="1100"/>
                    </a:p>
                  </a:txBody>
                  <a:tcPr marL="428625" marR="9525" marT="9525" marB="0" anchor="ctr"/>
                </a:tc>
              </a:tr>
              <a:tr h="175260">
                <a:tc>
                  <a:txBody>
                    <a:bodyPr wrap="square"/>
                    <a:lstStyle/>
                    <a:p>
                      <a:pPr algn="l"/>
                      <a:r>
                        <a:rPr sz="1100" b="0" i="0">
                          <a:solidFill>
                            <a:srgbClr val="0070C0"/>
                          </a:solidFill>
                          <a:latin typeface="Calibri"/>
                        </a:rPr>
                        <a:t>27.12.</a:t>
                      </a:r>
                      <a:r>
                        <a:rPr sz="700" b="0" i="0">
                          <a:solidFill>
                            <a:srgbClr val="0070C0"/>
                          </a:solidFill>
                          <a:latin typeface="Times New Roman"/>
                        </a:rPr>
                        <a:t> </a:t>
                      </a:r>
                      <a:r>
                        <a:rPr sz="1100" b="0" i="0">
                          <a:solidFill>
                            <a:srgbClr val="0070C0"/>
                          </a:solidFill>
                          <a:latin typeface="Calibri"/>
                        </a:rPr>
                        <a:t>Shaanxi Yuantai Biological Technology Co., Ltd. (YTBIO)</a:t>
                      </a:r>
                      <a:endParaRPr sz="1100"/>
                    </a:p>
                  </a:txBody>
                  <a:tcPr marL="428625" marR="9525" marT="9525" marB="0" anchor="ctr"/>
                </a:tc>
              </a:tr>
              <a:tr h="175260">
                <a:tc>
                  <a:txBody>
                    <a:bodyPr wrap="square"/>
                    <a:lstStyle/>
                    <a:p>
                      <a:pPr algn="l"/>
                      <a:r>
                        <a:rPr sz="1100" b="0" i="0">
                          <a:solidFill>
                            <a:srgbClr val="0070C0"/>
                          </a:solidFill>
                          <a:latin typeface="Calibri"/>
                        </a:rPr>
                        <a:t>27.13.</a:t>
                      </a:r>
                      <a:r>
                        <a:rPr sz="700" b="0" i="0">
                          <a:solidFill>
                            <a:srgbClr val="0070C0"/>
                          </a:solidFill>
                          <a:latin typeface="Times New Roman"/>
                        </a:rPr>
                        <a:t> </a:t>
                      </a:r>
                      <a:r>
                        <a:rPr sz="1100" b="0" i="0">
                          <a:solidFill>
                            <a:srgbClr val="0070C0"/>
                          </a:solidFill>
                          <a:latin typeface="Calibri"/>
                        </a:rPr>
                        <a:t>Botanical Cube Inc.</a:t>
                      </a:r>
                      <a:endParaRPr sz="1100"/>
                    </a:p>
                  </a:txBody>
                  <a:tcPr marL="428625" marR="9525" marT="9525" marB="0" anchor="ctr"/>
                </a:tc>
              </a:tr>
              <a:tr h="175260">
                <a:tc>
                  <a:txBody>
                    <a:bodyPr wrap="square"/>
                    <a:lstStyle/>
                    <a:p>
                      <a:pPr algn="l"/>
                      <a:r>
                        <a:rPr sz="1100" b="0" i="0">
                          <a:solidFill>
                            <a:srgbClr val="0070C0"/>
                          </a:solidFill>
                          <a:latin typeface="Calibri"/>
                        </a:rPr>
                        <a:t>27.14.</a:t>
                      </a:r>
                      <a:r>
                        <a:rPr sz="700" b="0" i="0">
                          <a:solidFill>
                            <a:srgbClr val="0070C0"/>
                          </a:solidFill>
                          <a:latin typeface="Times New Roman"/>
                        </a:rPr>
                        <a:t> </a:t>
                      </a:r>
                      <a:r>
                        <a:rPr sz="1100" b="0" i="0">
                          <a:solidFill>
                            <a:srgbClr val="0070C0"/>
                          </a:solidFill>
                          <a:latin typeface="Calibri"/>
                        </a:rPr>
                        <a:t>Yihui Biotechnology (YIHUI BIO)</a:t>
                      </a:r>
                      <a:endParaRPr sz="1100"/>
                    </a:p>
                  </a:txBody>
                  <a:tcPr marL="428625" marR="9525" marT="9525" marB="0" anchor="ctr"/>
                </a:tc>
              </a:tr>
              <a:tr h="175260">
                <a:tc>
                  <a:txBody>
                    <a:bodyPr wrap="square"/>
                    <a:lstStyle/>
                    <a:p>
                      <a:pPr algn="l"/>
                      <a:r>
                        <a:rPr sz="1100" b="0" i="0">
                          <a:solidFill>
                            <a:srgbClr val="0070C0"/>
                          </a:solidFill>
                          <a:latin typeface="Calibri"/>
                        </a:rPr>
                        <a:t>27.15.</a:t>
                      </a:r>
                      <a:r>
                        <a:rPr sz="700" b="0" i="0">
                          <a:solidFill>
                            <a:srgbClr val="0070C0"/>
                          </a:solidFill>
                          <a:latin typeface="Times New Roman"/>
                        </a:rPr>
                        <a:t> </a:t>
                      </a:r>
                      <a:r>
                        <a:rPr sz="1100" b="0" i="0">
                          <a:solidFill>
                            <a:srgbClr val="0070C0"/>
                          </a:solidFill>
                          <a:latin typeface="Calibri"/>
                        </a:rPr>
                        <a:t>Certified Nutraceuticals Inc.</a:t>
                      </a:r>
                      <a:endParaRPr sz="1100"/>
                    </a:p>
                  </a:txBody>
                  <a:tcPr marL="428625" marR="9525" marT="9525" marB="0" anchor="ctr"/>
                </a:tc>
              </a:tr>
            </a:tbl>
          </a:graphicData>
        </a:graphic>
      </p:graphicFrame>
      <p:graphicFrame>
        <p:nvGraphicFramePr>
          <p:cNvPr id="7" name="TMR Contents Table"/>
          <p:cNvGraphicFramePr>
            <a:graphicFrameLocks noGrp="1"/>
          </p:cNvGraphicFramePr>
          <p:nvPr/>
        </p:nvGraphicFramePr>
        <p:xfrm>
          <a:off x="6172200" y="981075"/>
          <a:ext cx="5876925" cy="1402080"/>
        </p:xfrm>
        <a:graphic>
          <a:graphicData uri="http://schemas.openxmlformats.org/drawingml/2006/table">
            <a:tbl>
              <a:tblPr>
                <a:tableStyleId>{3B4B98B0-60AC-42C2-AFA5-B58CD77FA1E5}</a:tableStyleId>
              </a:tblPr>
              <a:tblGrid>
                <a:gridCol w="5876925"/>
              </a:tblGrid>
              <a:tr h="175260">
                <a:tc>
                  <a:txBody>
                    <a:bodyPr wrap="square"/>
                    <a:lstStyle/>
                    <a:p>
                      <a:pPr algn="l"/>
                      <a:r>
                        <a:rPr sz="1100" b="0" i="0">
                          <a:solidFill>
                            <a:srgbClr val="0070C0"/>
                          </a:solidFill>
                          <a:latin typeface="Calibri"/>
                        </a:rPr>
                        <a:t>27.16.</a:t>
                      </a:r>
                      <a:r>
                        <a:rPr sz="700" b="0" i="0">
                          <a:solidFill>
                            <a:srgbClr val="0070C0"/>
                          </a:solidFill>
                          <a:latin typeface="Times New Roman"/>
                        </a:rPr>
                        <a:t> </a:t>
                      </a:r>
                      <a:r>
                        <a:rPr sz="1100" b="0" i="0">
                          <a:solidFill>
                            <a:srgbClr val="0070C0"/>
                          </a:solidFill>
                          <a:latin typeface="Calibri"/>
                        </a:rPr>
                        <a:t>Bolise Co., Limited</a:t>
                      </a:r>
                      <a:endParaRPr sz="1100"/>
                    </a:p>
                  </a:txBody>
                  <a:tcPr marL="428625" marR="9525" marT="9525" marB="0" anchor="ctr"/>
                </a:tc>
              </a:tr>
              <a:tr h="175260">
                <a:tc>
                  <a:txBody>
                    <a:bodyPr wrap="square"/>
                    <a:lstStyle/>
                    <a:p>
                      <a:pPr algn="l"/>
                      <a:r>
                        <a:rPr sz="1100" b="0" i="0">
                          <a:solidFill>
                            <a:srgbClr val="0070C0"/>
                          </a:solidFill>
                          <a:latin typeface="Calibri"/>
                        </a:rPr>
                        <a:t>27.17.</a:t>
                      </a:r>
                      <a:r>
                        <a:rPr sz="700" b="0" i="0">
                          <a:solidFill>
                            <a:srgbClr val="0070C0"/>
                          </a:solidFill>
                          <a:latin typeface="Times New Roman"/>
                        </a:rPr>
                        <a:t> </a:t>
                      </a:r>
                      <a:r>
                        <a:rPr sz="1100" b="0" i="0">
                          <a:solidFill>
                            <a:srgbClr val="0070C0"/>
                          </a:solidFill>
                          <a:latin typeface="Calibri"/>
                        </a:rPr>
                        <a:t>Mitushi Biopharma</a:t>
                      </a:r>
                      <a:endParaRPr sz="1100"/>
                    </a:p>
                  </a:txBody>
                  <a:tcPr marL="428625" marR="9525" marT="9525" marB="0" anchor="ctr"/>
                </a:tc>
              </a:tr>
              <a:tr h="175260">
                <a:tc>
                  <a:txBody>
                    <a:bodyPr wrap="square"/>
                    <a:lstStyle/>
                    <a:p>
                      <a:pPr algn="l"/>
                      <a:r>
                        <a:rPr sz="1100" b="0" i="0">
                          <a:solidFill>
                            <a:srgbClr val="0070C0"/>
                          </a:solidFill>
                          <a:latin typeface="Calibri"/>
                        </a:rPr>
                        <a:t>27.18.</a:t>
                      </a:r>
                      <a:r>
                        <a:rPr sz="700" b="0" i="0">
                          <a:solidFill>
                            <a:srgbClr val="0070C0"/>
                          </a:solidFill>
                          <a:latin typeface="Times New Roman"/>
                        </a:rPr>
                        <a:t> </a:t>
                      </a:r>
                      <a:r>
                        <a:rPr sz="1100" b="0" i="0">
                          <a:solidFill>
                            <a:srgbClr val="0070C0"/>
                          </a:solidFill>
                          <a:latin typeface="Calibri"/>
                        </a:rPr>
                        <a:t>Baoding Faithful Industry Co., Ltd.</a:t>
                      </a:r>
                      <a:endParaRPr sz="1100"/>
                    </a:p>
                  </a:txBody>
                  <a:tcPr marL="428625" marR="9525" marT="9525" marB="0" anchor="ctr"/>
                </a:tc>
              </a:tr>
              <a:tr h="175260">
                <a:tc>
                  <a:txBody>
                    <a:bodyPr wrap="square"/>
                    <a:lstStyle/>
                    <a:p>
                      <a:pPr algn="l"/>
                      <a:r>
                        <a:rPr sz="1100" b="0" i="0">
                          <a:solidFill>
                            <a:srgbClr val="0070C0"/>
                          </a:solidFill>
                          <a:latin typeface="Calibri"/>
                        </a:rPr>
                        <a:t>27.19.</a:t>
                      </a:r>
                      <a:r>
                        <a:rPr sz="700" b="0" i="0">
                          <a:solidFill>
                            <a:srgbClr val="0070C0"/>
                          </a:solidFill>
                          <a:latin typeface="Times New Roman"/>
                        </a:rPr>
                        <a:t> </a:t>
                      </a:r>
                      <a:r>
                        <a:rPr sz="1100" b="0" i="0">
                          <a:solidFill>
                            <a:srgbClr val="0070C0"/>
                          </a:solidFill>
                          <a:latin typeface="Calibri"/>
                        </a:rPr>
                        <a:t>Xi'an Faitury Bio-Tech Co., Ltd.</a:t>
                      </a:r>
                      <a:endParaRPr sz="1100"/>
                    </a:p>
                  </a:txBody>
                  <a:tcPr marL="428625" marR="9525" marT="9525" marB="0" anchor="ctr"/>
                </a:tc>
              </a:tr>
              <a:tr h="175260">
                <a:tc>
                  <a:txBody>
                    <a:bodyPr wrap="square"/>
                    <a:lstStyle/>
                    <a:p>
                      <a:pPr algn="l"/>
                      <a:r>
                        <a:rPr sz="1100" b="0" i="0">
                          <a:solidFill>
                            <a:srgbClr val="0070C0"/>
                          </a:solidFill>
                          <a:latin typeface="Calibri"/>
                        </a:rPr>
                        <a:t>27.20.</a:t>
                      </a:r>
                      <a:r>
                        <a:rPr sz="700" b="0" i="0">
                          <a:solidFill>
                            <a:srgbClr val="0070C0"/>
                          </a:solidFill>
                          <a:latin typeface="Times New Roman"/>
                        </a:rPr>
                        <a:t> </a:t>
                      </a:r>
                      <a:r>
                        <a:rPr sz="1100" b="0" i="0">
                          <a:solidFill>
                            <a:srgbClr val="0070C0"/>
                          </a:solidFill>
                          <a:latin typeface="Calibri"/>
                        </a:rPr>
                        <a:t>Xi'an Ruierli Biological Engineering Co., Ltd.</a:t>
                      </a:r>
                      <a:endParaRPr sz="1100"/>
                    </a:p>
                  </a:txBody>
                  <a:tcPr marL="428625" marR="9525" marT="9525" marB="0" anchor="ctr"/>
                </a:tc>
              </a:tr>
              <a:tr h="175260">
                <a:tc>
                  <a:txBody>
                    <a:bodyPr wrap="square"/>
                    <a:lstStyle/>
                    <a:p>
                      <a:pPr algn="l"/>
                      <a:r>
                        <a:rPr sz="1100" b="0" i="0">
                          <a:solidFill>
                            <a:srgbClr val="0070C0"/>
                          </a:solidFill>
                          <a:latin typeface="Calibri"/>
                        </a:rPr>
                        <a:t>27.21.</a:t>
                      </a:r>
                      <a:r>
                        <a:rPr sz="700" b="0" i="0">
                          <a:solidFill>
                            <a:srgbClr val="0070C0"/>
                          </a:solidFill>
                          <a:latin typeface="Times New Roman"/>
                        </a:rPr>
                        <a:t> </a:t>
                      </a:r>
                      <a:r>
                        <a:rPr sz="1100" b="0" i="0">
                          <a:solidFill>
                            <a:srgbClr val="0070C0"/>
                          </a:solidFill>
                          <a:latin typeface="Calibri"/>
                        </a:rPr>
                        <a:t>Others on request</a:t>
                      </a:r>
                      <a:endParaRPr sz="1100"/>
                    </a:p>
                  </a:txBody>
                  <a:tcPr marL="428625" marR="9525" marT="9525" marB="0" anchor="ctr"/>
                </a:tc>
              </a:tr>
              <a:tr h="175260">
                <a:tc>
                  <a:txBody>
                    <a:bodyPr wrap="square"/>
                    <a:lstStyle/>
                    <a:p>
                      <a:pPr algn="l"/>
                      <a:r>
                        <a:rPr sz="1100" b="1" i="0">
                          <a:solidFill>
                            <a:srgbClr val="000000"/>
                          </a:solidFill>
                          <a:latin typeface="Calibri"/>
                        </a:rPr>
                        <a:t>28.</a:t>
                      </a:r>
                      <a:r>
                        <a:rPr sz="700" b="1" i="0">
                          <a:solidFill>
                            <a:srgbClr val="000000"/>
                          </a:solidFill>
                          <a:latin typeface="Times New Roman"/>
                        </a:rPr>
                        <a:t>    </a:t>
                      </a:r>
                      <a:r>
                        <a:rPr sz="1100" b="1" i="0">
                          <a:solidFill>
                            <a:srgbClr val="000000"/>
                          </a:solidFill>
                          <a:latin typeface="Calibri"/>
                        </a:rPr>
                        <a:t>Assumptions and Acronyms Used</a:t>
                      </a:r>
                      <a:endParaRPr sz="1100"/>
                    </a:p>
                  </a:txBody>
                  <a:tcPr marL="171450" marR="9525" marT="9525" marB="0" anchor="ctr"/>
                </a:tc>
              </a:tr>
              <a:tr h="175260">
                <a:tc>
                  <a:txBody>
                    <a:bodyPr wrap="square"/>
                    <a:lstStyle/>
                    <a:p>
                      <a:pPr algn="l"/>
                      <a:r>
                        <a:rPr sz="1100" b="1" i="0">
                          <a:solidFill>
                            <a:srgbClr val="000000"/>
                          </a:solidFill>
                          <a:latin typeface="Calibri"/>
                        </a:rPr>
                        <a:t>29.</a:t>
                      </a:r>
                      <a:r>
                        <a:rPr sz="700" b="1" i="0">
                          <a:solidFill>
                            <a:srgbClr val="000000"/>
                          </a:solidFill>
                          <a:latin typeface="Times New Roman"/>
                        </a:rPr>
                        <a:t>    </a:t>
                      </a:r>
                      <a:r>
                        <a:rPr sz="1100" b="1" i="0">
                          <a:solidFill>
                            <a:srgbClr val="000000"/>
                          </a:solidFill>
                          <a:latin typeface="Calibri"/>
                        </a:rPr>
                        <a:t>Research Methodology</a:t>
                      </a:r>
                      <a:endParaRPr sz="1100"/>
                    </a:p>
                  </a:txBody>
                  <a:tcPr marL="171450" marR="9525" marT="9525" marB="0" anchor="ctr"/>
                </a:tc>
              </a:tr>
            </a:tbl>
          </a:graphicData>
        </a:graphic>
      </p:graphicFrame>
      <p:sp>
        <p:nvSpPr>
          <p:cNvPr id="8" name="Rectangle 7"/>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3F8FD"/>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3F8FD"/>
              </a:gs>
              <a:gs pos="100000">
                <a:srgbClr val="DCE9F6"/>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FE0F0">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9C8E6">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B7D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A5F8F"/>
              </a:gs>
              <a:gs pos="100000">
                <a:srgbClr val="6FA6D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MR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4</a:t>
            </a:r>
          </a:p>
        </p:txBody>
      </p:sp>
      <p:pic>
        <p:nvPicPr>
          <p:cNvPr id="8" name="Picture 7" descr="tmr_logo.png"/>
          <p:cNvPicPr>
            <a:picLocks noChangeAspect="1"/>
          </p:cNvPicPr>
          <p:nvPr/>
        </p:nvPicPr>
        <p:blipFill>
          <a:blip r:embed="rId2"/>
          <a:stretch>
            <a:fillRect/>
          </a:stretch>
        </p:blipFill>
        <p:spPr>
          <a:xfrm>
            <a:off x="411480" y="274320"/>
            <a:ext cx="1307592" cy="975505"/>
          </a:xfrm>
          <a:prstGeom prst="rect">
            <a:avLst/>
          </a:prstGeom>
        </p:spPr>
      </p:pic>
      <p:sp>
        <p:nvSpPr>
          <p:cNvPr id="9" name="TextBox 8"/>
          <p:cNvSpPr txBox="1"/>
          <p:nvPr/>
        </p:nvSpPr>
        <p:spPr>
          <a:xfrm>
            <a:off x="914400" y="2949575"/>
            <a:ext cx="8572500" cy="304800"/>
          </a:xfrm>
          <a:prstGeom prst="rect">
            <a:avLst/>
          </a:prstGeom>
          <a:noFill/>
        </p:spPr>
        <p:txBody>
          <a:bodyPr wrap="none" lIns="0" tIns="0">
            <a:spAutoFit/>
          </a:bodyPr>
          <a:lstStyle/>
          <a:p>
            <a:r>
              <a:rPr sz="1800" b="0">
                <a:solidFill>
                  <a:srgbClr val="2A5F8F"/>
                </a:solidFill>
                <a:latin typeface="Calibri"/>
              </a:rPr>
              <a:t>Egg Protein Membrane Market</a:t>
            </a:r>
          </a:p>
        </p:txBody>
      </p:sp>
      <p:sp>
        <p:nvSpPr>
          <p:cNvPr id="10" name="TMR Section Title"/>
          <p:cNvSpPr txBox="1"/>
          <p:nvPr/>
        </p:nvSpPr>
        <p:spPr>
          <a:xfrm>
            <a:off x="914400" y="3292475"/>
            <a:ext cx="8572500" cy="514350"/>
          </a:xfrm>
          <a:prstGeom prst="rect">
            <a:avLst/>
          </a:prstGeom>
          <a:noFill/>
        </p:spPr>
        <p:txBody>
          <a:bodyPr wrap="square" lIns="0" rIns="0" tIns="0">
            <a:spAutoFit/>
          </a:bodyPr>
          <a:lstStyle/>
          <a:p>
            <a:r>
              <a:rPr sz="3000" b="1">
                <a:solidFill>
                  <a:srgbClr val="0E2A5C"/>
                </a:solidFill>
                <a:latin typeface="Calibri"/>
              </a:rPr>
              <a:t>List of Figures, List of Tables</a:t>
            </a:r>
          </a:p>
        </p:txBody>
      </p:sp>
      <p:sp>
        <p:nvSpPr>
          <p:cNvPr id="11" name="TextBox 10"/>
          <p:cNvSpPr txBox="1"/>
          <p:nvPr/>
        </p:nvSpPr>
        <p:spPr>
          <a:xfrm>
            <a:off x="914400" y="3978275"/>
            <a:ext cx="8458200" cy="8826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Every figure in the full study, by analysis block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Every table in the full study, by analysis block</a:t>
            </a:r>
          </a:p>
        </p:txBody>
      </p:sp>
      <p:sp>
        <p:nvSpPr>
          <p:cNvPr id="12" name="Rectangle 11"/>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76200"/>
            <a:ext cx="10896600"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List of Figures (1/4)</a:t>
            </a:r>
          </a:p>
        </p:txBody>
      </p:sp>
      <p:graphicFrame>
        <p:nvGraphicFramePr>
          <p:cNvPr id="6" name="TMR Contents Table"/>
          <p:cNvGraphicFramePr>
            <a:graphicFrameLocks noGrp="1"/>
          </p:cNvGraphicFramePr>
          <p:nvPr/>
        </p:nvGraphicFramePr>
        <p:xfrm>
          <a:off x="142875" y="981075"/>
          <a:ext cx="5876925" cy="5257786"/>
        </p:xfrm>
        <a:graphic>
          <a:graphicData uri="http://schemas.openxmlformats.org/drawingml/2006/table">
            <a:tbl>
              <a:tblPr>
                <a:tableStyleId>{3B4B98B0-60AC-42C2-AFA5-B58CD77FA1E5}</a:tableStyleId>
              </a:tblPr>
              <a:tblGrid>
                <a:gridCol w="5876925"/>
              </a:tblGrid>
              <a:tr h="169606">
                <a:tc>
                  <a:txBody>
                    <a:bodyPr wrap="square"/>
                    <a:lstStyle/>
                    <a:p>
                      <a:pPr algn="l"/>
                      <a:r>
                        <a:rPr sz="1050" b="0" i="0">
                          <a:solidFill>
                            <a:srgbClr val="000000"/>
                          </a:solidFill>
                          <a:latin typeface="Calibri"/>
                        </a:rPr>
                        <a:t>Figure 1: Global Market Value and YoY Growth, US$ Mn and %, 2021–2036</a:t>
                      </a:r>
                      <a:endParaRPr sz="1050"/>
                    </a:p>
                  </a:txBody>
                  <a:tcPr marL="9525" marR="9525" marT="9525" marB="0" anchor="ctr"/>
                </a:tc>
              </a:tr>
              <a:tr h="169606">
                <a:tc>
                  <a:txBody>
                    <a:bodyPr wrap="square"/>
                    <a:lstStyle/>
                    <a:p>
                      <a:pPr algn="l"/>
                      <a:r>
                        <a:rPr sz="1050" b="0" i="0">
                          <a:solidFill>
                            <a:srgbClr val="000000"/>
                          </a:solidFill>
                          <a:latin typeface="Calibri"/>
                        </a:rPr>
                        <a:t>Figure 2: Global Market Value Snapshot, US$ Mn, 2026 and 2036</a:t>
                      </a:r>
                      <a:endParaRPr sz="1050"/>
                    </a:p>
                  </a:txBody>
                  <a:tcPr marL="9525" marR="9525" marT="9525" marB="0" anchor="ctr"/>
                </a:tc>
              </a:tr>
              <a:tr h="169606">
                <a:tc>
                  <a:txBody>
                    <a:bodyPr wrap="square"/>
                    <a:lstStyle/>
                    <a:p>
                      <a:pPr algn="l"/>
                      <a:r>
                        <a:rPr sz="1050" b="0" i="0">
                          <a:solidFill>
                            <a:srgbClr val="000000"/>
                          </a:solidFill>
                          <a:latin typeface="Calibri"/>
                        </a:rPr>
                        <a:t>Figure 3: Global Market Taxonomy by Segment, 2026</a:t>
                      </a:r>
                      <a:endParaRPr sz="1050"/>
                    </a:p>
                  </a:txBody>
                  <a:tcPr marL="9525" marR="9525" marT="9525" marB="0" anchor="ctr"/>
                </a:tc>
              </a:tr>
              <a:tr h="169606">
                <a:tc>
                  <a:txBody>
                    <a:bodyPr wrap="square"/>
                    <a:lstStyle/>
                    <a:p>
                      <a:pPr algn="l"/>
                      <a:r>
                        <a:rPr sz="1050" b="0" i="0">
                          <a:solidFill>
                            <a:srgbClr val="000000"/>
                          </a:solidFill>
                          <a:latin typeface="Calibri"/>
                        </a:rPr>
                        <a:t>Figure 4: Global Market Share by Product Type, %, 2026</a:t>
                      </a:r>
                      <a:endParaRPr sz="1050"/>
                    </a:p>
                  </a:txBody>
                  <a:tcPr marL="9525" marR="9525" marT="9525" marB="0" anchor="ctr"/>
                </a:tc>
              </a:tr>
              <a:tr h="169606">
                <a:tc>
                  <a:txBody>
                    <a:bodyPr wrap="square"/>
                    <a:lstStyle/>
                    <a:p>
                      <a:pPr algn="l"/>
                      <a:r>
                        <a:rPr sz="1050" b="0" i="0">
                          <a:solidFill>
                            <a:srgbClr val="000000"/>
                          </a:solidFill>
                          <a:latin typeface="Calibri"/>
                        </a:rPr>
                        <a:t>Figure 5: Global Market Share by Extraction / Processing Method, %, 2026</a:t>
                      </a:r>
                      <a:endParaRPr sz="1050"/>
                    </a:p>
                  </a:txBody>
                  <a:tcPr marL="9525" marR="9525" marT="9525" marB="0" anchor="ctr"/>
                </a:tc>
              </a:tr>
              <a:tr h="169606">
                <a:tc>
                  <a:txBody>
                    <a:bodyPr wrap="square"/>
                    <a:lstStyle/>
                    <a:p>
                      <a:pPr algn="l"/>
                      <a:r>
                        <a:rPr sz="1050" b="0" i="0">
                          <a:solidFill>
                            <a:srgbClr val="000000"/>
                          </a:solidFill>
                          <a:latin typeface="Calibri"/>
                        </a:rPr>
                        <a:t>Figure 6: Global Market Share by Source, %, 2026</a:t>
                      </a:r>
                      <a:endParaRPr sz="1050"/>
                    </a:p>
                  </a:txBody>
                  <a:tcPr marL="9525" marR="9525" marT="9525" marB="0" anchor="ctr"/>
                </a:tc>
              </a:tr>
              <a:tr h="169606">
                <a:tc>
                  <a:txBody>
                    <a:bodyPr wrap="square"/>
                    <a:lstStyle/>
                    <a:p>
                      <a:pPr algn="l"/>
                      <a:r>
                        <a:rPr sz="1050" b="0" i="0">
                          <a:solidFill>
                            <a:srgbClr val="000000"/>
                          </a:solidFill>
                          <a:latin typeface="Calibri"/>
                        </a:rPr>
                        <a:t>Figure 7: Global Market Share by Form, %, 2026</a:t>
                      </a:r>
                      <a:endParaRPr sz="1050"/>
                    </a:p>
                  </a:txBody>
                  <a:tcPr marL="9525" marR="9525" marT="9525" marB="0" anchor="ctr"/>
                </a:tc>
              </a:tr>
              <a:tr h="169606">
                <a:tc>
                  <a:txBody>
                    <a:bodyPr wrap="square"/>
                    <a:lstStyle/>
                    <a:p>
                      <a:pPr algn="l"/>
                      <a:r>
                        <a:rPr sz="1050" b="0" i="0">
                          <a:solidFill>
                            <a:srgbClr val="000000"/>
                          </a:solidFill>
                          <a:latin typeface="Calibri"/>
                        </a:rPr>
                        <a:t>Figure 8: Global Market Share by Application, %, 2026</a:t>
                      </a:r>
                      <a:endParaRPr sz="1050"/>
                    </a:p>
                  </a:txBody>
                  <a:tcPr marL="9525" marR="9525" marT="9525" marB="0" anchor="ctr"/>
                </a:tc>
              </a:tr>
              <a:tr h="169606">
                <a:tc>
                  <a:txBody>
                    <a:bodyPr wrap="square"/>
                    <a:lstStyle/>
                    <a:p>
                      <a:pPr algn="l"/>
                      <a:r>
                        <a:rPr sz="1050" b="0" i="0">
                          <a:solidFill>
                            <a:srgbClr val="000000"/>
                          </a:solidFill>
                          <a:latin typeface="Calibri"/>
                        </a:rPr>
                        <a:t>Figure 9: Global Market Share by Sales Channel, %, 2026</a:t>
                      </a:r>
                      <a:endParaRPr sz="1050"/>
                    </a:p>
                  </a:txBody>
                  <a:tcPr marL="9525" marR="9525" marT="9525" marB="0" anchor="ctr"/>
                </a:tc>
              </a:tr>
              <a:tr h="169606">
                <a:tc>
                  <a:txBody>
                    <a:bodyPr wrap="square"/>
                    <a:lstStyle/>
                    <a:p>
                      <a:pPr algn="l"/>
                      <a:r>
                        <a:rPr sz="1050" b="0" i="0">
                          <a:solidFill>
                            <a:srgbClr val="000000"/>
                          </a:solidFill>
                          <a:latin typeface="Calibri"/>
                        </a:rPr>
                        <a:t>Figure 10: Global Market Historical Value, US$ Mn, 2021–2025</a:t>
                      </a:r>
                      <a:endParaRPr sz="1050"/>
                    </a:p>
                  </a:txBody>
                  <a:tcPr marL="9525" marR="9525" marT="9525" marB="0" anchor="ctr"/>
                </a:tc>
              </a:tr>
              <a:tr h="169606">
                <a:tc>
                  <a:txBody>
                    <a:bodyPr wrap="square"/>
                    <a:lstStyle/>
                    <a:p>
                      <a:pPr algn="l"/>
                      <a:r>
                        <a:rPr sz="1050" b="0" i="0">
                          <a:solidFill>
                            <a:srgbClr val="000000"/>
                          </a:solidFill>
                          <a:latin typeface="Calibri"/>
                        </a:rPr>
                        <a:t>Figure 11: Global Market Forecast Value, US$ Mn, 2026–2036</a:t>
                      </a:r>
                      <a:endParaRPr sz="1050"/>
                    </a:p>
                  </a:txBody>
                  <a:tcPr marL="9525" marR="9525" marT="9525" marB="0" anchor="ctr"/>
                </a:tc>
              </a:tr>
              <a:tr h="169606">
                <a:tc>
                  <a:txBody>
                    <a:bodyPr wrap="square"/>
                    <a:lstStyle/>
                    <a:p>
                      <a:pPr algn="l"/>
                      <a:r>
                        <a:rPr sz="1050" b="0" i="0">
                          <a:solidFill>
                            <a:srgbClr val="000000"/>
                          </a:solidFill>
                          <a:latin typeface="Calibri"/>
                        </a:rPr>
                        <a:t>Figure 12: Global Market YoY Growth, %, 2021–2036</a:t>
                      </a:r>
                      <a:endParaRPr sz="1050"/>
                    </a:p>
                  </a:txBody>
                  <a:tcPr marL="9525" marR="9525" marT="9525" marB="0" anchor="ctr"/>
                </a:tc>
              </a:tr>
              <a:tr h="169606">
                <a:tc>
                  <a:txBody>
                    <a:bodyPr wrap="square"/>
                    <a:lstStyle/>
                    <a:p>
                      <a:pPr algn="l"/>
                      <a:r>
                        <a:rPr sz="1050" b="0" i="0">
                          <a:solidFill>
                            <a:srgbClr val="000000"/>
                          </a:solidFill>
                          <a:latin typeface="Calibri"/>
                        </a:rPr>
                        <a:t>Figure 13: Global Market Volume and YoY Growth, MT and %, 2021–2036</a:t>
                      </a:r>
                      <a:endParaRPr sz="1050"/>
                    </a:p>
                  </a:txBody>
                  <a:tcPr marL="9525" marR="9525" marT="9525" marB="0" anchor="ctr"/>
                </a:tc>
              </a:tr>
              <a:tr h="169606">
                <a:tc>
                  <a:txBody>
                    <a:bodyPr wrap="square"/>
                    <a:lstStyle/>
                    <a:p>
                      <a:pPr algn="l"/>
                      <a:r>
                        <a:rPr sz="1050" b="0" i="0">
                          <a:solidFill>
                            <a:srgbClr val="000000"/>
                          </a:solidFill>
                          <a:latin typeface="Calibri"/>
                        </a:rPr>
                        <a:t>Figure 14: Global Market Volume vs Value CAGR Comparison, %, 2026–2036</a:t>
                      </a:r>
                      <a:endParaRPr sz="1050"/>
                    </a:p>
                  </a:txBody>
                  <a:tcPr marL="9525" marR="9525" marT="9525" marB="0" anchor="ctr"/>
                </a:tc>
              </a:tr>
              <a:tr h="169606">
                <a:tc>
                  <a:txBody>
                    <a:bodyPr wrap="square"/>
                    <a:lstStyle/>
                    <a:p>
                      <a:pPr algn="l"/>
                      <a:r>
                        <a:rPr sz="1050" b="0" i="0">
                          <a:solidFill>
                            <a:srgbClr val="000000"/>
                          </a:solidFill>
                          <a:latin typeface="Calibri"/>
                        </a:rPr>
                        <a:t>Figure 15: Global Market Average Selling Price, US$/MT, 2021–2036</a:t>
                      </a:r>
                      <a:endParaRPr sz="1050"/>
                    </a:p>
                  </a:txBody>
                  <a:tcPr marL="9525" marR="9525" marT="9525" marB="0" anchor="ctr"/>
                </a:tc>
              </a:tr>
              <a:tr h="169606">
                <a:tc>
                  <a:txBody>
                    <a:bodyPr wrap="square"/>
                    <a:lstStyle/>
                    <a:p>
                      <a:pPr algn="l"/>
                      <a:r>
                        <a:rPr sz="1050" b="0" i="0">
                          <a:solidFill>
                            <a:srgbClr val="000000"/>
                          </a:solidFill>
                          <a:latin typeface="Calibri"/>
                        </a:rPr>
                        <a:t>Figure 16: Global Market Absolute $ Opportunity, US$ Mn, 2026–2036</a:t>
                      </a:r>
                      <a:endParaRPr sz="1050"/>
                    </a:p>
                  </a:txBody>
                  <a:tcPr marL="9525" marR="9525" marT="9525" marB="0" anchor="ctr"/>
                </a:tc>
              </a:tr>
              <a:tr h="169606">
                <a:tc>
                  <a:txBody>
                    <a:bodyPr wrap="square"/>
                    <a:lstStyle/>
                    <a:p>
                      <a:pPr algn="l"/>
                      <a:r>
                        <a:rPr sz="1050" b="0" i="0">
                          <a:solidFill>
                            <a:srgbClr val="000000"/>
                          </a:solidFill>
                          <a:latin typeface="Calibri"/>
                        </a:rPr>
                        <a:t>Figure 17: Global Market Incremental Opportunity by Year, US$ Mn, 2026–2036</a:t>
                      </a:r>
                      <a:endParaRPr sz="1050"/>
                    </a:p>
                  </a:txBody>
                  <a:tcPr marL="9525" marR="9525" marT="9525" marB="0" anchor="ctr"/>
                </a:tc>
              </a:tr>
              <a:tr h="169606">
                <a:tc>
                  <a:txBody>
                    <a:bodyPr wrap="square"/>
                    <a:lstStyle/>
                    <a:p>
                      <a:pPr algn="l"/>
                      <a:r>
                        <a:rPr sz="1050" b="0" i="0">
                          <a:solidFill>
                            <a:srgbClr val="000000"/>
                          </a:solidFill>
                          <a:latin typeface="Calibri"/>
                        </a:rPr>
                        <a:t>Figure 18: Global Market Historical vs Forecast CAGR, %, 2021–2036</a:t>
                      </a:r>
                      <a:endParaRPr sz="1050"/>
                    </a:p>
                  </a:txBody>
                  <a:tcPr marL="9525" marR="9525" marT="9525" marB="0" anchor="ctr"/>
                </a:tc>
              </a:tr>
              <a:tr h="169606">
                <a:tc>
                  <a:txBody>
                    <a:bodyPr wrap="square"/>
                    <a:lstStyle/>
                    <a:p>
                      <a:pPr algn="l"/>
                      <a:r>
                        <a:rPr sz="1050" b="0" i="0">
                          <a:solidFill>
                            <a:srgbClr val="000000"/>
                          </a:solidFill>
                          <a:latin typeface="Calibri"/>
                        </a:rPr>
                        <a:t>Figure 19: Global Market Value by Scenario (Optimistic, Likely, Pessimistic), US$ Mn, 2026–2036</a:t>
                      </a:r>
                      <a:endParaRPr sz="1050"/>
                    </a:p>
                  </a:txBody>
                  <a:tcPr marL="9525" marR="9525" marT="9525" marB="0" anchor="ctr"/>
                </a:tc>
              </a:tr>
              <a:tr h="169606">
                <a:tc>
                  <a:txBody>
                    <a:bodyPr wrap="square"/>
                    <a:lstStyle/>
                    <a:p>
                      <a:pPr algn="l"/>
                      <a:r>
                        <a:rPr sz="1050" b="0" i="0">
                          <a:solidFill>
                            <a:srgbClr val="000000"/>
                          </a:solidFill>
                          <a:latin typeface="Calibri"/>
                        </a:rPr>
                        <a:t>Figure 20: Global Market Size Evolution Index, 2025=100, 2021–2036</a:t>
                      </a:r>
                      <a:endParaRPr sz="1050"/>
                    </a:p>
                  </a:txBody>
                  <a:tcPr marL="9525" marR="9525" marT="9525" marB="0" anchor="ctr"/>
                </a:tc>
              </a:tr>
              <a:tr h="169606">
                <a:tc>
                  <a:txBody>
                    <a:bodyPr wrap="square"/>
                    <a:lstStyle/>
                    <a:p>
                      <a:pPr algn="l"/>
                      <a:r>
                        <a:rPr sz="1050" b="0" i="0">
                          <a:solidFill>
                            <a:srgbClr val="000000"/>
                          </a:solidFill>
                          <a:latin typeface="Calibri"/>
                        </a:rPr>
                        <a:t>Figure 21: Global Market Value by Product Type, US$ Mn, 2021–2036</a:t>
                      </a:r>
                      <a:endParaRPr sz="1050"/>
                    </a:p>
                  </a:txBody>
                  <a:tcPr marL="9525" marR="9525" marT="9525" marB="0" anchor="ctr"/>
                </a:tc>
              </a:tr>
              <a:tr h="169606">
                <a:tc>
                  <a:txBody>
                    <a:bodyPr wrap="square"/>
                    <a:lstStyle/>
                    <a:p>
                      <a:pPr algn="l"/>
                      <a:r>
                        <a:rPr sz="1050" b="0" i="0">
                          <a:solidFill>
                            <a:srgbClr val="000000"/>
                          </a:solidFill>
                          <a:latin typeface="Calibri"/>
                        </a:rPr>
                        <a:t>Figure 22: Global Market Value by Extraction / Processing Method, US$ Mn, 2021–2036</a:t>
                      </a:r>
                      <a:endParaRPr sz="1050"/>
                    </a:p>
                  </a:txBody>
                  <a:tcPr marL="9525" marR="9525" marT="9525" marB="0" anchor="ctr"/>
                </a:tc>
              </a:tr>
              <a:tr h="169606">
                <a:tc>
                  <a:txBody>
                    <a:bodyPr wrap="square"/>
                    <a:lstStyle/>
                    <a:p>
                      <a:pPr algn="l"/>
                      <a:r>
                        <a:rPr sz="1050" b="0" i="0">
                          <a:solidFill>
                            <a:srgbClr val="000000"/>
                          </a:solidFill>
                          <a:latin typeface="Calibri"/>
                        </a:rPr>
                        <a:t>Figure 23: Global Market Value by Source, US$ Mn, 2021–2036</a:t>
                      </a:r>
                      <a:endParaRPr sz="1050"/>
                    </a:p>
                  </a:txBody>
                  <a:tcPr marL="9525" marR="9525" marT="9525" marB="0" anchor="ctr"/>
                </a:tc>
              </a:tr>
              <a:tr h="169606">
                <a:tc>
                  <a:txBody>
                    <a:bodyPr wrap="square"/>
                    <a:lstStyle/>
                    <a:p>
                      <a:pPr algn="l"/>
                      <a:r>
                        <a:rPr sz="1050" b="0" i="0">
                          <a:solidFill>
                            <a:srgbClr val="000000"/>
                          </a:solidFill>
                          <a:latin typeface="Calibri"/>
                        </a:rPr>
                        <a:t>Figure 24: Global Market Value by Form, US$ Mn, 2021–2036</a:t>
                      </a:r>
                      <a:endParaRPr sz="1050"/>
                    </a:p>
                  </a:txBody>
                  <a:tcPr marL="9525" marR="9525" marT="9525" marB="0" anchor="ctr"/>
                </a:tc>
              </a:tr>
              <a:tr h="169606">
                <a:tc>
                  <a:txBody>
                    <a:bodyPr wrap="square"/>
                    <a:lstStyle/>
                    <a:p>
                      <a:pPr algn="l"/>
                      <a:r>
                        <a:rPr sz="1050" b="0" i="0">
                          <a:solidFill>
                            <a:srgbClr val="000000"/>
                          </a:solidFill>
                          <a:latin typeface="Calibri"/>
                        </a:rPr>
                        <a:t>Figure 25: Global Market Value by Application, US$ Mn, 2021–2036</a:t>
                      </a:r>
                      <a:endParaRPr sz="1050"/>
                    </a:p>
                  </a:txBody>
                  <a:tcPr marL="9525" marR="9525" marT="9525" marB="0" anchor="ctr"/>
                </a:tc>
              </a:tr>
              <a:tr h="169606">
                <a:tc>
                  <a:txBody>
                    <a:bodyPr wrap="square"/>
                    <a:lstStyle/>
                    <a:p>
                      <a:pPr algn="l"/>
                      <a:r>
                        <a:rPr sz="1050" b="0" i="0">
                          <a:solidFill>
                            <a:srgbClr val="000000"/>
                          </a:solidFill>
                          <a:latin typeface="Calibri"/>
                        </a:rPr>
                        <a:t>Figure 26: Global Market Value by Sales Channel, US$ Mn, 2021–2036</a:t>
                      </a:r>
                      <a:endParaRPr sz="1050"/>
                    </a:p>
                  </a:txBody>
                  <a:tcPr marL="9525" marR="9525" marT="9525" marB="0" anchor="ctr"/>
                </a:tc>
              </a:tr>
              <a:tr h="169606">
                <a:tc>
                  <a:txBody>
                    <a:bodyPr wrap="square"/>
                    <a:lstStyle/>
                    <a:p>
                      <a:pPr algn="l"/>
                      <a:r>
                        <a:rPr sz="1050" b="0" i="0">
                          <a:solidFill>
                            <a:srgbClr val="000000"/>
                          </a:solidFill>
                          <a:latin typeface="Calibri"/>
                        </a:rPr>
                        <a:t>Figure 27: Global Market Share by Product Type, %, 2026 and 2036</a:t>
                      </a:r>
                      <a:endParaRPr sz="1050"/>
                    </a:p>
                  </a:txBody>
                  <a:tcPr marL="9525" marR="9525" marT="9525" marB="0" anchor="ctr"/>
                </a:tc>
              </a:tr>
              <a:tr h="169606">
                <a:tc>
                  <a:txBody>
                    <a:bodyPr wrap="square"/>
                    <a:lstStyle/>
                    <a:p>
                      <a:pPr algn="l"/>
                      <a:r>
                        <a:rPr sz="1050" b="0" i="0">
                          <a:solidFill>
                            <a:srgbClr val="000000"/>
                          </a:solidFill>
                          <a:latin typeface="Calibri"/>
                        </a:rPr>
                        <a:t>Figure 28: Global Market Share by Extraction / Processing Method, %, 2026 and 2036</a:t>
                      </a:r>
                      <a:endParaRPr sz="1050"/>
                    </a:p>
                  </a:txBody>
                  <a:tcPr marL="9525" marR="9525" marT="9525" marB="0" anchor="ctr"/>
                </a:tc>
              </a:tr>
              <a:tr h="169606">
                <a:tc>
                  <a:txBody>
                    <a:bodyPr wrap="square"/>
                    <a:lstStyle/>
                    <a:p>
                      <a:pPr algn="l"/>
                      <a:r>
                        <a:rPr sz="1050" b="0" i="0">
                          <a:solidFill>
                            <a:srgbClr val="000000"/>
                          </a:solidFill>
                          <a:latin typeface="Calibri"/>
                        </a:rPr>
                        <a:t>Figure 29: Global Market Share by Source, %, 2026 and 2036</a:t>
                      </a:r>
                      <a:endParaRPr sz="1050"/>
                    </a:p>
                  </a:txBody>
                  <a:tcPr marL="9525" marR="9525" marT="9525" marB="0" anchor="ctr"/>
                </a:tc>
              </a:tr>
              <a:tr h="169606">
                <a:tc>
                  <a:txBody>
                    <a:bodyPr wrap="square"/>
                    <a:lstStyle/>
                    <a:p>
                      <a:pPr algn="l"/>
                      <a:r>
                        <a:rPr sz="1050" b="0" i="0">
                          <a:solidFill>
                            <a:srgbClr val="000000"/>
                          </a:solidFill>
                          <a:latin typeface="Calibri"/>
                        </a:rPr>
                        <a:t>Figure 30: Global Market Share by Form, %, 2026 and 2036</a:t>
                      </a:r>
                      <a:endParaRPr sz="1050"/>
                    </a:p>
                  </a:txBody>
                  <a:tcPr marL="9525" marR="9525" marT="9525" marB="0" anchor="ctr"/>
                </a:tc>
              </a:tr>
              <a:tr h="169606">
                <a:tc>
                  <a:txBody>
                    <a:bodyPr wrap="square"/>
                    <a:lstStyle/>
                    <a:p>
                      <a:pPr algn="l"/>
                      <a:r>
                        <a:rPr sz="1050" b="0" i="0">
                          <a:solidFill>
                            <a:srgbClr val="000000"/>
                          </a:solidFill>
                          <a:latin typeface="Calibri"/>
                        </a:rPr>
                        <a:t>Figure 31: Global Market Share by Application, %, 2026 and 2036</a:t>
                      </a:r>
                      <a:endParaRPr sz="1050"/>
                    </a:p>
                  </a:txBody>
                  <a:tcPr marL="9525" marR="9525" marT="9525" marB="0" anchor="ctr"/>
                </a:tc>
              </a:tr>
            </a:tbl>
          </a:graphicData>
        </a:graphic>
      </p:graphicFrame>
      <p:graphicFrame>
        <p:nvGraphicFramePr>
          <p:cNvPr id="7" name="TMR Contents Table"/>
          <p:cNvGraphicFramePr>
            <a:graphicFrameLocks noGrp="1"/>
          </p:cNvGraphicFramePr>
          <p:nvPr/>
        </p:nvGraphicFramePr>
        <p:xfrm>
          <a:off x="6172200" y="981075"/>
          <a:ext cx="5876925" cy="5257812"/>
        </p:xfrm>
        <a:graphic>
          <a:graphicData uri="http://schemas.openxmlformats.org/drawingml/2006/table">
            <a:tbl>
              <a:tblPr>
                <a:tableStyleId>{3B4B98B0-60AC-42C2-AFA5-B58CD77FA1E5}</a:tableStyleId>
              </a:tblPr>
              <a:tblGrid>
                <a:gridCol w="5876925"/>
              </a:tblGrid>
              <a:tr h="169826">
                <a:tc>
                  <a:txBody>
                    <a:bodyPr wrap="square"/>
                    <a:lstStyle/>
                    <a:p>
                      <a:pPr algn="l"/>
                      <a:r>
                        <a:rPr sz="1050" b="0" i="0">
                          <a:solidFill>
                            <a:srgbClr val="000000"/>
                          </a:solidFill>
                          <a:latin typeface="Calibri"/>
                        </a:rPr>
                        <a:t>Figure 32: Global Market Share by Sales Channel, %, 2026 and 2036</a:t>
                      </a:r>
                      <a:endParaRPr sz="1050"/>
                    </a:p>
                  </a:txBody>
                  <a:tcPr marL="9525" marR="9525" marT="9525" marB="0" anchor="ctr"/>
                </a:tc>
              </a:tr>
              <a:tr h="169826">
                <a:tc>
                  <a:txBody>
                    <a:bodyPr wrap="square"/>
                    <a:lstStyle/>
                    <a:p>
                      <a:pPr algn="l"/>
                      <a:r>
                        <a:rPr sz="1050" b="0" i="0">
                          <a:solidFill>
                            <a:srgbClr val="000000"/>
                          </a:solidFill>
                          <a:latin typeface="Calibri"/>
                        </a:rPr>
                        <a:t>Figure 33: Global Market Absolute $ Opportunity by Product Type, US$ Mn, 2026–2036</a:t>
                      </a:r>
                      <a:endParaRPr sz="1050"/>
                    </a:p>
                  </a:txBody>
                  <a:tcPr marL="9525" marR="9525" marT="9525" marB="0" anchor="ctr"/>
                </a:tc>
              </a:tr>
              <a:tr h="332858">
                <a:tc>
                  <a:txBody>
                    <a:bodyPr wrap="square"/>
                    <a:lstStyle/>
                    <a:p>
                      <a:pPr algn="l"/>
                      <a:r>
                        <a:rPr sz="1050" b="0" i="0">
                          <a:solidFill>
                            <a:srgbClr val="000000"/>
                          </a:solidFill>
                          <a:latin typeface="Calibri"/>
                        </a:rPr>
                        <a:t>Figure 34: Global Market Absolute $ Opportunity by Extraction / Processing Method, US$ Mn, 2026–2036</a:t>
                      </a:r>
                      <a:endParaRPr sz="1050"/>
                    </a:p>
                  </a:txBody>
                  <a:tcPr marL="9525" marR="9525" marT="9525" marB="0" anchor="ctr"/>
                </a:tc>
              </a:tr>
              <a:tr h="169826">
                <a:tc>
                  <a:txBody>
                    <a:bodyPr wrap="square"/>
                    <a:lstStyle/>
                    <a:p>
                      <a:pPr algn="l"/>
                      <a:r>
                        <a:rPr sz="1050" b="0" i="0">
                          <a:solidFill>
                            <a:srgbClr val="000000"/>
                          </a:solidFill>
                          <a:latin typeface="Calibri"/>
                        </a:rPr>
                        <a:t>Figure 35: Global Market Absolute $ Opportunity by Source, US$ Mn, 2026–2036</a:t>
                      </a:r>
                      <a:endParaRPr sz="1050"/>
                    </a:p>
                  </a:txBody>
                  <a:tcPr marL="9525" marR="9525" marT="9525" marB="0" anchor="ctr"/>
                </a:tc>
              </a:tr>
              <a:tr h="169826">
                <a:tc>
                  <a:txBody>
                    <a:bodyPr wrap="square"/>
                    <a:lstStyle/>
                    <a:p>
                      <a:pPr algn="l"/>
                      <a:r>
                        <a:rPr sz="1050" b="0" i="0">
                          <a:solidFill>
                            <a:srgbClr val="000000"/>
                          </a:solidFill>
                          <a:latin typeface="Calibri"/>
                        </a:rPr>
                        <a:t>Figure 36: Global Market Absolute $ Opportunity by Form, US$ Mn, 2026–2036</a:t>
                      </a:r>
                      <a:endParaRPr sz="1050"/>
                    </a:p>
                  </a:txBody>
                  <a:tcPr marL="9525" marR="9525" marT="9525" marB="0" anchor="ctr"/>
                </a:tc>
              </a:tr>
              <a:tr h="169826">
                <a:tc>
                  <a:txBody>
                    <a:bodyPr wrap="square"/>
                    <a:lstStyle/>
                    <a:p>
                      <a:pPr algn="l"/>
                      <a:r>
                        <a:rPr sz="1050" b="0" i="0">
                          <a:solidFill>
                            <a:srgbClr val="000000"/>
                          </a:solidFill>
                          <a:latin typeface="Calibri"/>
                        </a:rPr>
                        <a:t>Figure 37: Global Market Absolute $ Opportunity by Application, US$ Mn, 2026–2036</a:t>
                      </a:r>
                      <a:endParaRPr sz="1050"/>
                    </a:p>
                  </a:txBody>
                  <a:tcPr marL="9525" marR="9525" marT="9525" marB="0" anchor="ctr"/>
                </a:tc>
              </a:tr>
              <a:tr h="169826">
                <a:tc>
                  <a:txBody>
                    <a:bodyPr wrap="square"/>
                    <a:lstStyle/>
                    <a:p>
                      <a:pPr algn="l"/>
                      <a:r>
                        <a:rPr sz="1050" b="0" i="0">
                          <a:solidFill>
                            <a:srgbClr val="000000"/>
                          </a:solidFill>
                          <a:latin typeface="Calibri"/>
                        </a:rPr>
                        <a:t>Figure 38: Global Market Absolute $ Opportunity by Sales Channel, US$ Mn, 2026–2036</a:t>
                      </a:r>
                      <a:endParaRPr sz="1050"/>
                    </a:p>
                  </a:txBody>
                  <a:tcPr marL="9525" marR="9525" marT="9525" marB="0" anchor="ctr"/>
                </a:tc>
              </a:tr>
              <a:tr h="169826">
                <a:tc>
                  <a:txBody>
                    <a:bodyPr wrap="square"/>
                    <a:lstStyle/>
                    <a:p>
                      <a:pPr algn="l"/>
                      <a:r>
                        <a:rPr sz="1050" b="0" i="0">
                          <a:solidFill>
                            <a:srgbClr val="000000"/>
                          </a:solidFill>
                          <a:latin typeface="Calibri"/>
                        </a:rPr>
                        <a:t>Figure 39: Global Market BPS Share Change by Product Type, 2026–2036</a:t>
                      </a:r>
                      <a:endParaRPr sz="1050"/>
                    </a:p>
                  </a:txBody>
                  <a:tcPr marL="9525" marR="9525" marT="9525" marB="0" anchor="ctr"/>
                </a:tc>
              </a:tr>
              <a:tr h="169826">
                <a:tc>
                  <a:txBody>
                    <a:bodyPr wrap="square"/>
                    <a:lstStyle/>
                    <a:p>
                      <a:pPr algn="l"/>
                      <a:r>
                        <a:rPr sz="1050" b="0" i="0">
                          <a:solidFill>
                            <a:srgbClr val="000000"/>
                          </a:solidFill>
                          <a:latin typeface="Calibri"/>
                        </a:rPr>
                        <a:t>Figure 40: Global Market BPS Share Change by Extraction / Processing Method, 2026–2036</a:t>
                      </a:r>
                      <a:endParaRPr sz="1050"/>
                    </a:p>
                  </a:txBody>
                  <a:tcPr marL="9525" marR="9525" marT="9525" marB="0" anchor="ctr"/>
                </a:tc>
              </a:tr>
              <a:tr h="169826">
                <a:tc>
                  <a:txBody>
                    <a:bodyPr wrap="square"/>
                    <a:lstStyle/>
                    <a:p>
                      <a:pPr algn="l"/>
                      <a:r>
                        <a:rPr sz="1050" b="0" i="0">
                          <a:solidFill>
                            <a:srgbClr val="000000"/>
                          </a:solidFill>
                          <a:latin typeface="Calibri"/>
                        </a:rPr>
                        <a:t>Figure 41: Global Market BPS Share Change by Source, 2026–2036</a:t>
                      </a:r>
                      <a:endParaRPr sz="1050"/>
                    </a:p>
                  </a:txBody>
                  <a:tcPr marL="9525" marR="9525" marT="9525" marB="0" anchor="ctr"/>
                </a:tc>
              </a:tr>
              <a:tr h="169826">
                <a:tc>
                  <a:txBody>
                    <a:bodyPr wrap="square"/>
                    <a:lstStyle/>
                    <a:p>
                      <a:pPr algn="l"/>
                      <a:r>
                        <a:rPr sz="1050" b="0" i="0">
                          <a:solidFill>
                            <a:srgbClr val="000000"/>
                          </a:solidFill>
                          <a:latin typeface="Calibri"/>
                        </a:rPr>
                        <a:t>Figure 42: Global Market BPS Share Change by Form, 2026–2036</a:t>
                      </a:r>
                      <a:endParaRPr sz="1050"/>
                    </a:p>
                  </a:txBody>
                  <a:tcPr marL="9525" marR="9525" marT="9525" marB="0" anchor="ctr"/>
                </a:tc>
              </a:tr>
              <a:tr h="169826">
                <a:tc>
                  <a:txBody>
                    <a:bodyPr wrap="square"/>
                    <a:lstStyle/>
                    <a:p>
                      <a:pPr algn="l"/>
                      <a:r>
                        <a:rPr sz="1050" b="0" i="0">
                          <a:solidFill>
                            <a:srgbClr val="000000"/>
                          </a:solidFill>
                          <a:latin typeface="Calibri"/>
                        </a:rPr>
                        <a:t>Figure 43: Global Market BPS Share Change by Application, 2026–2036</a:t>
                      </a:r>
                      <a:endParaRPr sz="1050"/>
                    </a:p>
                  </a:txBody>
                  <a:tcPr marL="9525" marR="9525" marT="9525" marB="0" anchor="ctr"/>
                </a:tc>
              </a:tr>
              <a:tr h="169826">
                <a:tc>
                  <a:txBody>
                    <a:bodyPr wrap="square"/>
                    <a:lstStyle/>
                    <a:p>
                      <a:pPr algn="l"/>
                      <a:r>
                        <a:rPr sz="1050" b="0" i="0">
                          <a:solidFill>
                            <a:srgbClr val="000000"/>
                          </a:solidFill>
                          <a:latin typeface="Calibri"/>
                        </a:rPr>
                        <a:t>Figure 44: Global Market BPS Share Change by Sales Channel, 2026–2036</a:t>
                      </a:r>
                      <a:endParaRPr sz="1050"/>
                    </a:p>
                  </a:txBody>
                  <a:tcPr marL="9525" marR="9525" marT="9525" marB="0" anchor="ctr"/>
                </a:tc>
              </a:tr>
              <a:tr h="169826">
                <a:tc>
                  <a:txBody>
                    <a:bodyPr wrap="square"/>
                    <a:lstStyle/>
                    <a:p>
                      <a:pPr algn="l"/>
                      <a:r>
                        <a:rPr sz="1050" b="0" i="0">
                          <a:solidFill>
                            <a:srgbClr val="000000"/>
                          </a:solidFill>
                          <a:latin typeface="Calibri"/>
                        </a:rPr>
                        <a:t>Figure 45: Global Market YoY Growth by Product Type, %, 2026–2036</a:t>
                      </a:r>
                      <a:endParaRPr sz="1050"/>
                    </a:p>
                  </a:txBody>
                  <a:tcPr marL="9525" marR="9525" marT="9525" marB="0" anchor="ctr"/>
                </a:tc>
              </a:tr>
              <a:tr h="169826">
                <a:tc>
                  <a:txBody>
                    <a:bodyPr wrap="square"/>
                    <a:lstStyle/>
                    <a:p>
                      <a:pPr algn="l"/>
                      <a:r>
                        <a:rPr sz="1050" b="0" i="0">
                          <a:solidFill>
                            <a:srgbClr val="000000"/>
                          </a:solidFill>
                          <a:latin typeface="Calibri"/>
                        </a:rPr>
                        <a:t>Figure 46: Global Market YoY Growth by Extraction / Processing Method, %, 2026–2036</a:t>
                      </a:r>
                      <a:endParaRPr sz="1050"/>
                    </a:p>
                  </a:txBody>
                  <a:tcPr marL="9525" marR="9525" marT="9525" marB="0" anchor="ctr"/>
                </a:tc>
              </a:tr>
              <a:tr h="169826">
                <a:tc>
                  <a:txBody>
                    <a:bodyPr wrap="square"/>
                    <a:lstStyle/>
                    <a:p>
                      <a:pPr algn="l"/>
                      <a:r>
                        <a:rPr sz="1050" b="0" i="0">
                          <a:solidFill>
                            <a:srgbClr val="000000"/>
                          </a:solidFill>
                          <a:latin typeface="Calibri"/>
                        </a:rPr>
                        <a:t>Figure 47: Global Market YoY Growth by Source, %, 2026–2036</a:t>
                      </a:r>
                      <a:endParaRPr sz="1050"/>
                    </a:p>
                  </a:txBody>
                  <a:tcPr marL="9525" marR="9525" marT="9525" marB="0" anchor="ctr"/>
                </a:tc>
              </a:tr>
              <a:tr h="169826">
                <a:tc>
                  <a:txBody>
                    <a:bodyPr wrap="square"/>
                    <a:lstStyle/>
                    <a:p>
                      <a:pPr algn="l"/>
                      <a:r>
                        <a:rPr sz="1050" b="0" i="0">
                          <a:solidFill>
                            <a:srgbClr val="000000"/>
                          </a:solidFill>
                          <a:latin typeface="Calibri"/>
                        </a:rPr>
                        <a:t>Figure 48: Global Market YoY Growth by Form, %, 2026–2036</a:t>
                      </a:r>
                      <a:endParaRPr sz="1050"/>
                    </a:p>
                  </a:txBody>
                  <a:tcPr marL="9525" marR="9525" marT="9525" marB="0" anchor="ctr"/>
                </a:tc>
              </a:tr>
              <a:tr h="169826">
                <a:tc>
                  <a:txBody>
                    <a:bodyPr wrap="square"/>
                    <a:lstStyle/>
                    <a:p>
                      <a:pPr algn="l"/>
                      <a:r>
                        <a:rPr sz="1050" b="0" i="0">
                          <a:solidFill>
                            <a:srgbClr val="000000"/>
                          </a:solidFill>
                          <a:latin typeface="Calibri"/>
                        </a:rPr>
                        <a:t>Figure 49: Global Market YoY Growth by Application, %, 2026–2036</a:t>
                      </a:r>
                      <a:endParaRPr sz="1050"/>
                    </a:p>
                  </a:txBody>
                  <a:tcPr marL="9525" marR="9525" marT="9525" marB="0" anchor="ctr"/>
                </a:tc>
              </a:tr>
              <a:tr h="169826">
                <a:tc>
                  <a:txBody>
                    <a:bodyPr wrap="square"/>
                    <a:lstStyle/>
                    <a:p>
                      <a:pPr algn="l"/>
                      <a:r>
                        <a:rPr sz="1050" b="0" i="0">
                          <a:solidFill>
                            <a:srgbClr val="000000"/>
                          </a:solidFill>
                          <a:latin typeface="Calibri"/>
                        </a:rPr>
                        <a:t>Figure 50: Global Market YoY Growth by Sales Channel, %, 2026–2036</a:t>
                      </a:r>
                      <a:endParaRPr sz="1050"/>
                    </a:p>
                  </a:txBody>
                  <a:tcPr marL="9525" marR="9525" marT="9525" marB="0" anchor="ctr"/>
                </a:tc>
              </a:tr>
              <a:tr h="169826">
                <a:tc>
                  <a:txBody>
                    <a:bodyPr wrap="square"/>
                    <a:lstStyle/>
                    <a:p>
                      <a:pPr algn="l"/>
                      <a:r>
                        <a:rPr sz="1050" b="0" i="0">
                          <a:solidFill>
                            <a:srgbClr val="000000"/>
                          </a:solidFill>
                          <a:latin typeface="Calibri"/>
                        </a:rPr>
                        <a:t>Figure 51: Global Market Attractiveness by Product Type, 2026–2036</a:t>
                      </a:r>
                      <a:endParaRPr sz="1050"/>
                    </a:p>
                  </a:txBody>
                  <a:tcPr marL="9525" marR="9525" marT="9525" marB="0" anchor="ctr"/>
                </a:tc>
              </a:tr>
              <a:tr h="169826">
                <a:tc>
                  <a:txBody>
                    <a:bodyPr wrap="square"/>
                    <a:lstStyle/>
                    <a:p>
                      <a:pPr algn="l"/>
                      <a:r>
                        <a:rPr sz="1050" b="0" i="0">
                          <a:solidFill>
                            <a:srgbClr val="000000"/>
                          </a:solidFill>
                          <a:latin typeface="Calibri"/>
                        </a:rPr>
                        <a:t>Figure 52: Global Market Attractiveness by Extraction / Processing Method, 2026–2036</a:t>
                      </a:r>
                      <a:endParaRPr sz="1050"/>
                    </a:p>
                  </a:txBody>
                  <a:tcPr marL="9525" marR="9525" marT="9525" marB="0" anchor="ctr"/>
                </a:tc>
              </a:tr>
              <a:tr h="169826">
                <a:tc>
                  <a:txBody>
                    <a:bodyPr wrap="square"/>
                    <a:lstStyle/>
                    <a:p>
                      <a:pPr algn="l"/>
                      <a:r>
                        <a:rPr sz="1050" b="0" i="0">
                          <a:solidFill>
                            <a:srgbClr val="000000"/>
                          </a:solidFill>
                          <a:latin typeface="Calibri"/>
                        </a:rPr>
                        <a:t>Figure 53: Global Market Attractiveness by Source, 2026–2036</a:t>
                      </a:r>
                      <a:endParaRPr sz="1050"/>
                    </a:p>
                  </a:txBody>
                  <a:tcPr marL="9525" marR="9525" marT="9525" marB="0" anchor="ctr"/>
                </a:tc>
              </a:tr>
              <a:tr h="169826">
                <a:tc>
                  <a:txBody>
                    <a:bodyPr wrap="square"/>
                    <a:lstStyle/>
                    <a:p>
                      <a:pPr algn="l"/>
                      <a:r>
                        <a:rPr sz="1050" b="0" i="0">
                          <a:solidFill>
                            <a:srgbClr val="000000"/>
                          </a:solidFill>
                          <a:latin typeface="Calibri"/>
                        </a:rPr>
                        <a:t>Figure 54: Global Market Attractiveness by Form, 2026–2036</a:t>
                      </a:r>
                      <a:endParaRPr sz="1050"/>
                    </a:p>
                  </a:txBody>
                  <a:tcPr marL="9525" marR="9525" marT="9525" marB="0" anchor="ctr"/>
                </a:tc>
              </a:tr>
              <a:tr h="169826">
                <a:tc>
                  <a:txBody>
                    <a:bodyPr wrap="square"/>
                    <a:lstStyle/>
                    <a:p>
                      <a:pPr algn="l"/>
                      <a:r>
                        <a:rPr sz="1050" b="0" i="0">
                          <a:solidFill>
                            <a:srgbClr val="000000"/>
                          </a:solidFill>
                          <a:latin typeface="Calibri"/>
                        </a:rPr>
                        <a:t>Figure 55: Global Market Attractiveness by Application, 2026–2036</a:t>
                      </a:r>
                      <a:endParaRPr sz="1050"/>
                    </a:p>
                  </a:txBody>
                  <a:tcPr marL="9525" marR="9525" marT="9525" marB="0" anchor="ctr"/>
                </a:tc>
              </a:tr>
              <a:tr h="169826">
                <a:tc>
                  <a:txBody>
                    <a:bodyPr wrap="square"/>
                    <a:lstStyle/>
                    <a:p>
                      <a:pPr algn="l"/>
                      <a:r>
                        <a:rPr sz="1050" b="0" i="0">
                          <a:solidFill>
                            <a:srgbClr val="000000"/>
                          </a:solidFill>
                          <a:latin typeface="Calibri"/>
                        </a:rPr>
                        <a:t>Figure 56: Global Market Attractiveness by Sales Channel, 2026–2036</a:t>
                      </a:r>
                      <a:endParaRPr sz="1050"/>
                    </a:p>
                  </a:txBody>
                  <a:tcPr marL="9525" marR="9525" marT="9525" marB="0" anchor="ctr"/>
                </a:tc>
              </a:tr>
              <a:tr h="169826">
                <a:tc>
                  <a:txBody>
                    <a:bodyPr wrap="square"/>
                    <a:lstStyle/>
                    <a:p>
                      <a:pPr algn="l"/>
                      <a:r>
                        <a:rPr sz="1050" b="0" i="0">
                          <a:solidFill>
                            <a:srgbClr val="000000"/>
                          </a:solidFill>
                          <a:latin typeface="Calibri"/>
                        </a:rPr>
                        <a:t>Figure 57: Global Market Volume by Product Type, MT, 2021–2036</a:t>
                      </a:r>
                      <a:endParaRPr sz="1050"/>
                    </a:p>
                  </a:txBody>
                  <a:tcPr marL="9525" marR="9525" marT="9525" marB="0" anchor="ctr"/>
                </a:tc>
              </a:tr>
              <a:tr h="169826">
                <a:tc>
                  <a:txBody>
                    <a:bodyPr wrap="square"/>
                    <a:lstStyle/>
                    <a:p>
                      <a:pPr algn="l"/>
                      <a:r>
                        <a:rPr sz="1050" b="0" i="0">
                          <a:solidFill>
                            <a:srgbClr val="000000"/>
                          </a:solidFill>
                          <a:latin typeface="Calibri"/>
                        </a:rPr>
                        <a:t>Figure 58: Global Market Volume by Extraction / Processing Method, MT, 2021–2036</a:t>
                      </a:r>
                      <a:endParaRPr sz="1050"/>
                    </a:p>
                  </a:txBody>
                  <a:tcPr marL="9525" marR="9525" marT="9525" marB="0" anchor="ctr"/>
                </a:tc>
              </a:tr>
              <a:tr h="169826">
                <a:tc>
                  <a:txBody>
                    <a:bodyPr wrap="square"/>
                    <a:lstStyle/>
                    <a:p>
                      <a:pPr algn="l"/>
                      <a:r>
                        <a:rPr sz="1050" b="0" i="0">
                          <a:solidFill>
                            <a:srgbClr val="000000"/>
                          </a:solidFill>
                          <a:latin typeface="Calibri"/>
                        </a:rPr>
                        <a:t>Figure 59: Global Market Volume by Source, MT, 2021–2036</a:t>
                      </a:r>
                      <a:endParaRPr sz="1050"/>
                    </a:p>
                  </a:txBody>
                  <a:tcPr marL="9525" marR="9525" marT="9525" marB="0" anchor="ctr"/>
                </a:tc>
              </a:tr>
              <a:tr h="169826">
                <a:tc>
                  <a:txBody>
                    <a:bodyPr wrap="square"/>
                    <a:lstStyle/>
                    <a:p>
                      <a:pPr algn="l"/>
                      <a:r>
                        <a:rPr sz="1050" b="0" i="0">
                          <a:solidFill>
                            <a:srgbClr val="000000"/>
                          </a:solidFill>
                          <a:latin typeface="Calibri"/>
                        </a:rPr>
                        <a:t>Figure 60: Global Market Volume by Form, MT, 2021–2036</a:t>
                      </a:r>
                      <a:endParaRPr sz="1050"/>
                    </a:p>
                  </a:txBody>
                  <a:tcPr marL="9525" marR="9525" marT="9525" marB="0" anchor="ctr"/>
                </a:tc>
              </a:tr>
              <a:tr h="169826">
                <a:tc>
                  <a:txBody>
                    <a:bodyPr wrap="square"/>
                    <a:lstStyle/>
                    <a:p>
                      <a:pPr algn="l"/>
                      <a:r>
                        <a:rPr sz="1050" b="0" i="0">
                          <a:solidFill>
                            <a:srgbClr val="000000"/>
                          </a:solidFill>
                          <a:latin typeface="Calibri"/>
                        </a:rPr>
                        <a:t>Figure 61: Global Market Volume by Application, MT, 2021–2036</a:t>
                      </a:r>
                      <a:endParaRPr sz="1050"/>
                    </a:p>
                  </a:txBody>
                  <a:tcPr marL="9525" marR="9525" marT="9525" marB="0" anchor="ctr"/>
                </a:tc>
              </a:tr>
            </a:tbl>
          </a:graphicData>
        </a:graphic>
      </p:graphicFrame>
      <p:sp>
        <p:nvSpPr>
          <p:cNvPr id="8" name="Rectangle 7"/>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76200"/>
            <a:ext cx="10896600"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List of Figures (2/4)</a:t>
            </a:r>
          </a:p>
        </p:txBody>
      </p:sp>
      <p:graphicFrame>
        <p:nvGraphicFramePr>
          <p:cNvPr id="6" name="TMR Contents Table"/>
          <p:cNvGraphicFramePr>
            <a:graphicFrameLocks noGrp="1"/>
          </p:cNvGraphicFramePr>
          <p:nvPr/>
        </p:nvGraphicFramePr>
        <p:xfrm>
          <a:off x="142875" y="981075"/>
          <a:ext cx="5876925" cy="5257786"/>
        </p:xfrm>
        <a:graphic>
          <a:graphicData uri="http://schemas.openxmlformats.org/drawingml/2006/table">
            <a:tbl>
              <a:tblPr>
                <a:tableStyleId>{3B4B98B0-60AC-42C2-AFA5-B58CD77FA1E5}</a:tableStyleId>
              </a:tblPr>
              <a:tblGrid>
                <a:gridCol w="5876925"/>
              </a:tblGrid>
              <a:tr h="169606">
                <a:tc>
                  <a:txBody>
                    <a:bodyPr wrap="square"/>
                    <a:lstStyle/>
                    <a:p>
                      <a:pPr algn="l"/>
                      <a:r>
                        <a:rPr sz="1050" b="0" i="0">
                          <a:solidFill>
                            <a:srgbClr val="000000"/>
                          </a:solidFill>
                          <a:latin typeface="Calibri"/>
                        </a:rPr>
                        <a:t>Figure 62: Global Market Volume by Sales Channel, MT, 2021–2036</a:t>
                      </a:r>
                      <a:endParaRPr sz="1050"/>
                    </a:p>
                  </a:txBody>
                  <a:tcPr marL="9525" marR="9525" marT="9525" marB="0" anchor="ctr"/>
                </a:tc>
              </a:tr>
              <a:tr h="169606">
                <a:tc>
                  <a:txBody>
                    <a:bodyPr wrap="square"/>
                    <a:lstStyle/>
                    <a:p>
                      <a:pPr algn="l"/>
                      <a:r>
                        <a:rPr sz="1050" b="0" i="0">
                          <a:solidFill>
                            <a:srgbClr val="000000"/>
                          </a:solidFill>
                          <a:latin typeface="Calibri"/>
                        </a:rPr>
                        <a:t>Figure 63: Global Market Average Selling Price by Product Type, US$/MT, 2021–2036</a:t>
                      </a:r>
                      <a:endParaRPr sz="1050"/>
                    </a:p>
                  </a:txBody>
                  <a:tcPr marL="9525" marR="9525" marT="9525" marB="0" anchor="ctr"/>
                </a:tc>
              </a:tr>
              <a:tr h="169606">
                <a:tc>
                  <a:txBody>
                    <a:bodyPr wrap="square"/>
                    <a:lstStyle/>
                    <a:p>
                      <a:pPr algn="l"/>
                      <a:r>
                        <a:rPr sz="1050" b="0" i="0">
                          <a:solidFill>
                            <a:srgbClr val="000000"/>
                          </a:solidFill>
                          <a:latin typeface="Calibri"/>
                        </a:rPr>
                        <a:t>Figure 64: Product Type × Extraction / Processing Method Opportunity Matrix, 2026–2036</a:t>
                      </a:r>
                      <a:endParaRPr sz="1050"/>
                    </a:p>
                  </a:txBody>
                  <a:tcPr marL="9525" marR="9525" marT="9525" marB="0" anchor="ctr"/>
                </a:tc>
              </a:tr>
              <a:tr h="169606">
                <a:tc>
                  <a:txBody>
                    <a:bodyPr wrap="square"/>
                    <a:lstStyle/>
                    <a:p>
                      <a:pPr algn="l"/>
                      <a:r>
                        <a:rPr sz="1050" b="0" i="0">
                          <a:solidFill>
                            <a:srgbClr val="000000"/>
                          </a:solidFill>
                          <a:latin typeface="Calibri"/>
                        </a:rPr>
                        <a:t>Figure 65: Product Type × Source Opportunity Matrix, 2026–2036</a:t>
                      </a:r>
                      <a:endParaRPr sz="1050"/>
                    </a:p>
                  </a:txBody>
                  <a:tcPr marL="9525" marR="9525" marT="9525" marB="0" anchor="ctr"/>
                </a:tc>
              </a:tr>
              <a:tr h="169606">
                <a:tc>
                  <a:txBody>
                    <a:bodyPr wrap="square"/>
                    <a:lstStyle/>
                    <a:p>
                      <a:pPr algn="l"/>
                      <a:r>
                        <a:rPr sz="1050" b="0" i="0">
                          <a:solidFill>
                            <a:srgbClr val="000000"/>
                          </a:solidFill>
                          <a:latin typeface="Calibri"/>
                        </a:rPr>
                        <a:t>Figure 66: Product Type × Form Opportunity Matrix, 2026–2036</a:t>
                      </a:r>
                      <a:endParaRPr sz="1050"/>
                    </a:p>
                  </a:txBody>
                  <a:tcPr marL="9525" marR="9525" marT="9525" marB="0" anchor="ctr"/>
                </a:tc>
              </a:tr>
              <a:tr h="169606">
                <a:tc>
                  <a:txBody>
                    <a:bodyPr wrap="square"/>
                    <a:lstStyle/>
                    <a:p>
                      <a:pPr algn="l"/>
                      <a:r>
                        <a:rPr sz="1050" b="0" i="0">
                          <a:solidFill>
                            <a:srgbClr val="000000"/>
                          </a:solidFill>
                          <a:latin typeface="Calibri"/>
                        </a:rPr>
                        <a:t>Figure 67: Product Type × Application Opportunity Matrix, 2026–2036</a:t>
                      </a:r>
                      <a:endParaRPr sz="1050"/>
                    </a:p>
                  </a:txBody>
                  <a:tcPr marL="9525" marR="9525" marT="9525" marB="0" anchor="ctr"/>
                </a:tc>
              </a:tr>
              <a:tr h="169606">
                <a:tc>
                  <a:txBody>
                    <a:bodyPr wrap="square"/>
                    <a:lstStyle/>
                    <a:p>
                      <a:pPr algn="l"/>
                      <a:r>
                        <a:rPr sz="1050" b="0" i="0">
                          <a:solidFill>
                            <a:srgbClr val="000000"/>
                          </a:solidFill>
                          <a:latin typeface="Calibri"/>
                        </a:rPr>
                        <a:t>Figure 68: Product Type × Sales Channel Opportunity Matrix, 2026–2036</a:t>
                      </a:r>
                      <a:endParaRPr sz="1050"/>
                    </a:p>
                  </a:txBody>
                  <a:tcPr marL="9525" marR="9525" marT="9525" marB="0" anchor="ctr"/>
                </a:tc>
              </a:tr>
              <a:tr h="169606">
                <a:tc>
                  <a:txBody>
                    <a:bodyPr wrap="square"/>
                    <a:lstStyle/>
                    <a:p>
                      <a:pPr algn="l"/>
                      <a:r>
                        <a:rPr sz="1050" b="0" i="0">
                          <a:solidFill>
                            <a:srgbClr val="000000"/>
                          </a:solidFill>
                          <a:latin typeface="Calibri"/>
                        </a:rPr>
                        <a:t>Figure 69: Extraction / Processing Method × Source Opportunity Matrix, 2026–2036</a:t>
                      </a:r>
                      <a:endParaRPr sz="1050"/>
                    </a:p>
                  </a:txBody>
                  <a:tcPr marL="9525" marR="9525" marT="9525" marB="0" anchor="ctr"/>
                </a:tc>
              </a:tr>
              <a:tr h="169606">
                <a:tc>
                  <a:txBody>
                    <a:bodyPr wrap="square"/>
                    <a:lstStyle/>
                    <a:p>
                      <a:pPr algn="l"/>
                      <a:r>
                        <a:rPr sz="1050" b="0" i="0">
                          <a:solidFill>
                            <a:srgbClr val="000000"/>
                          </a:solidFill>
                          <a:latin typeface="Calibri"/>
                        </a:rPr>
                        <a:t>Figure 70: Extraction / Processing Method × Form Opportunity Matrix, 2026–2036</a:t>
                      </a:r>
                      <a:endParaRPr sz="1050"/>
                    </a:p>
                  </a:txBody>
                  <a:tcPr marL="9525" marR="9525" marT="9525" marB="0" anchor="ctr"/>
                </a:tc>
              </a:tr>
              <a:tr h="169606">
                <a:tc>
                  <a:txBody>
                    <a:bodyPr wrap="square"/>
                    <a:lstStyle/>
                    <a:p>
                      <a:pPr algn="l"/>
                      <a:r>
                        <a:rPr sz="1050" b="0" i="0">
                          <a:solidFill>
                            <a:srgbClr val="000000"/>
                          </a:solidFill>
                          <a:latin typeface="Calibri"/>
                        </a:rPr>
                        <a:t>Figure 71: Extraction / Processing Method × Application Opportunity Matrix, 2026–2036</a:t>
                      </a:r>
                      <a:endParaRPr sz="1050"/>
                    </a:p>
                  </a:txBody>
                  <a:tcPr marL="9525" marR="9525" marT="9525" marB="0" anchor="ctr"/>
                </a:tc>
              </a:tr>
              <a:tr h="169606">
                <a:tc>
                  <a:txBody>
                    <a:bodyPr wrap="square"/>
                    <a:lstStyle/>
                    <a:p>
                      <a:pPr algn="l"/>
                      <a:r>
                        <a:rPr sz="1050" b="0" i="0">
                          <a:solidFill>
                            <a:srgbClr val="000000"/>
                          </a:solidFill>
                          <a:latin typeface="Calibri"/>
                        </a:rPr>
                        <a:t>Figure 72: Extraction / Processing Method × Sales Channel Opportunity Matrix, 2026–2036</a:t>
                      </a:r>
                      <a:endParaRPr sz="1050"/>
                    </a:p>
                  </a:txBody>
                  <a:tcPr marL="9525" marR="9525" marT="9525" marB="0" anchor="ctr"/>
                </a:tc>
              </a:tr>
              <a:tr h="169606">
                <a:tc>
                  <a:txBody>
                    <a:bodyPr wrap="square"/>
                    <a:lstStyle/>
                    <a:p>
                      <a:pPr algn="l"/>
                      <a:r>
                        <a:rPr sz="1050" b="0" i="0">
                          <a:solidFill>
                            <a:srgbClr val="000000"/>
                          </a:solidFill>
                          <a:latin typeface="Calibri"/>
                        </a:rPr>
                        <a:t>Figure 73: Source × Form Opportunity Matrix, 2026–2036</a:t>
                      </a:r>
                      <a:endParaRPr sz="1050"/>
                    </a:p>
                  </a:txBody>
                  <a:tcPr marL="9525" marR="9525" marT="9525" marB="0" anchor="ctr"/>
                </a:tc>
              </a:tr>
              <a:tr h="169606">
                <a:tc>
                  <a:txBody>
                    <a:bodyPr wrap="square"/>
                    <a:lstStyle/>
                    <a:p>
                      <a:pPr algn="l"/>
                      <a:r>
                        <a:rPr sz="1050" b="0" i="0">
                          <a:solidFill>
                            <a:srgbClr val="000000"/>
                          </a:solidFill>
                          <a:latin typeface="Calibri"/>
                        </a:rPr>
                        <a:t>Figure 74: Source × Application Opportunity Matrix, 2026–2036</a:t>
                      </a:r>
                      <a:endParaRPr sz="1050"/>
                    </a:p>
                  </a:txBody>
                  <a:tcPr marL="9525" marR="9525" marT="9525" marB="0" anchor="ctr"/>
                </a:tc>
              </a:tr>
              <a:tr h="169606">
                <a:tc>
                  <a:txBody>
                    <a:bodyPr wrap="square"/>
                    <a:lstStyle/>
                    <a:p>
                      <a:pPr algn="l"/>
                      <a:r>
                        <a:rPr sz="1050" b="0" i="0">
                          <a:solidFill>
                            <a:srgbClr val="000000"/>
                          </a:solidFill>
                          <a:latin typeface="Calibri"/>
                        </a:rPr>
                        <a:t>Figure 75: Source × Sales Channel Opportunity Matrix, 2026–2036</a:t>
                      </a:r>
                      <a:endParaRPr sz="1050"/>
                    </a:p>
                  </a:txBody>
                  <a:tcPr marL="9525" marR="9525" marT="9525" marB="0" anchor="ctr"/>
                </a:tc>
              </a:tr>
              <a:tr h="169606">
                <a:tc>
                  <a:txBody>
                    <a:bodyPr wrap="square"/>
                    <a:lstStyle/>
                    <a:p>
                      <a:pPr algn="l"/>
                      <a:r>
                        <a:rPr sz="1050" b="0" i="0">
                          <a:solidFill>
                            <a:srgbClr val="000000"/>
                          </a:solidFill>
                          <a:latin typeface="Calibri"/>
                        </a:rPr>
                        <a:t>Figure 76: Form × Application Opportunity Matrix, 2026–2036</a:t>
                      </a:r>
                      <a:endParaRPr sz="1050"/>
                    </a:p>
                  </a:txBody>
                  <a:tcPr marL="9525" marR="9525" marT="9525" marB="0" anchor="ctr"/>
                </a:tc>
              </a:tr>
              <a:tr h="169606">
                <a:tc>
                  <a:txBody>
                    <a:bodyPr wrap="square"/>
                    <a:lstStyle/>
                    <a:p>
                      <a:pPr algn="l"/>
                      <a:r>
                        <a:rPr sz="1050" b="0" i="0">
                          <a:solidFill>
                            <a:srgbClr val="000000"/>
                          </a:solidFill>
                          <a:latin typeface="Calibri"/>
                        </a:rPr>
                        <a:t>Figure 77: Form × Sales Channel Opportunity Matrix, 2026–2036</a:t>
                      </a:r>
                      <a:endParaRPr sz="1050"/>
                    </a:p>
                  </a:txBody>
                  <a:tcPr marL="9525" marR="9525" marT="9525" marB="0" anchor="ctr"/>
                </a:tc>
              </a:tr>
              <a:tr h="169606">
                <a:tc>
                  <a:txBody>
                    <a:bodyPr wrap="square"/>
                    <a:lstStyle/>
                    <a:p>
                      <a:pPr algn="l"/>
                      <a:r>
                        <a:rPr sz="1050" b="0" i="0">
                          <a:solidFill>
                            <a:srgbClr val="000000"/>
                          </a:solidFill>
                          <a:latin typeface="Calibri"/>
                        </a:rPr>
                        <a:t>Figure 78: Application × Sales Channel Opportunity Matrix, 2026–2036</a:t>
                      </a:r>
                      <a:endParaRPr sz="1050"/>
                    </a:p>
                  </a:txBody>
                  <a:tcPr marL="9525" marR="9525" marT="9525" marB="0" anchor="ctr"/>
                </a:tc>
              </a:tr>
              <a:tr h="169606">
                <a:tc>
                  <a:txBody>
                    <a:bodyPr wrap="square"/>
                    <a:lstStyle/>
                    <a:p>
                      <a:pPr algn="l"/>
                      <a:r>
                        <a:rPr sz="1050" b="0" i="0">
                          <a:solidFill>
                            <a:srgbClr val="000000"/>
                          </a:solidFill>
                          <a:latin typeface="Calibri"/>
                        </a:rPr>
                        <a:t>Figure 79: Region × Product Type Opportunity Matrix, 2026–2036</a:t>
                      </a:r>
                      <a:endParaRPr sz="1050"/>
                    </a:p>
                  </a:txBody>
                  <a:tcPr marL="9525" marR="9525" marT="9525" marB="0" anchor="ctr"/>
                </a:tc>
              </a:tr>
              <a:tr h="169606">
                <a:tc>
                  <a:txBody>
                    <a:bodyPr wrap="square"/>
                    <a:lstStyle/>
                    <a:p>
                      <a:pPr algn="l"/>
                      <a:r>
                        <a:rPr sz="1050" b="0" i="0">
                          <a:solidFill>
                            <a:srgbClr val="000000"/>
                          </a:solidFill>
                          <a:latin typeface="Calibri"/>
                        </a:rPr>
                        <a:t>Figure 80: Region × Extraction / Processing Method Opportunity Matrix, 2026–2036</a:t>
                      </a:r>
                      <a:endParaRPr sz="1050"/>
                    </a:p>
                  </a:txBody>
                  <a:tcPr marL="9525" marR="9525" marT="9525" marB="0" anchor="ctr"/>
                </a:tc>
              </a:tr>
              <a:tr h="169606">
                <a:tc>
                  <a:txBody>
                    <a:bodyPr wrap="square"/>
                    <a:lstStyle/>
                    <a:p>
                      <a:pPr algn="l"/>
                      <a:r>
                        <a:rPr sz="1050" b="0" i="0">
                          <a:solidFill>
                            <a:srgbClr val="000000"/>
                          </a:solidFill>
                          <a:latin typeface="Calibri"/>
                        </a:rPr>
                        <a:t>Figure 81: Region × Source Opportunity Matrix, 2026–2036</a:t>
                      </a:r>
                      <a:endParaRPr sz="1050"/>
                    </a:p>
                  </a:txBody>
                  <a:tcPr marL="9525" marR="9525" marT="9525" marB="0" anchor="ctr"/>
                </a:tc>
              </a:tr>
              <a:tr h="169606">
                <a:tc>
                  <a:txBody>
                    <a:bodyPr wrap="square"/>
                    <a:lstStyle/>
                    <a:p>
                      <a:pPr algn="l"/>
                      <a:r>
                        <a:rPr sz="1050" b="0" i="0">
                          <a:solidFill>
                            <a:srgbClr val="000000"/>
                          </a:solidFill>
                          <a:latin typeface="Calibri"/>
                        </a:rPr>
                        <a:t>Figure 82: Region × Form Opportunity Matrix, 2026–2036</a:t>
                      </a:r>
                      <a:endParaRPr sz="1050"/>
                    </a:p>
                  </a:txBody>
                  <a:tcPr marL="9525" marR="9525" marT="9525" marB="0" anchor="ctr"/>
                </a:tc>
              </a:tr>
              <a:tr h="169606">
                <a:tc>
                  <a:txBody>
                    <a:bodyPr wrap="square"/>
                    <a:lstStyle/>
                    <a:p>
                      <a:pPr algn="l"/>
                      <a:r>
                        <a:rPr sz="1050" b="0" i="0">
                          <a:solidFill>
                            <a:srgbClr val="000000"/>
                          </a:solidFill>
                          <a:latin typeface="Calibri"/>
                        </a:rPr>
                        <a:t>Figure 83: Region × Application Opportunity Matrix, 2026–2036</a:t>
                      </a:r>
                      <a:endParaRPr sz="1050"/>
                    </a:p>
                  </a:txBody>
                  <a:tcPr marL="9525" marR="9525" marT="9525" marB="0" anchor="ctr"/>
                </a:tc>
              </a:tr>
              <a:tr h="169606">
                <a:tc>
                  <a:txBody>
                    <a:bodyPr wrap="square"/>
                    <a:lstStyle/>
                    <a:p>
                      <a:pPr algn="l"/>
                      <a:r>
                        <a:rPr sz="1050" b="0" i="0">
                          <a:solidFill>
                            <a:srgbClr val="000000"/>
                          </a:solidFill>
                          <a:latin typeface="Calibri"/>
                        </a:rPr>
                        <a:t>Figure 84: Region × Sales Channel Opportunity Matrix, 2026–2036</a:t>
                      </a:r>
                      <a:endParaRPr sz="1050"/>
                    </a:p>
                  </a:txBody>
                  <a:tcPr marL="9525" marR="9525" marT="9525" marB="0" anchor="ctr"/>
                </a:tc>
              </a:tr>
              <a:tr h="169606">
                <a:tc>
                  <a:txBody>
                    <a:bodyPr wrap="square"/>
                    <a:lstStyle/>
                    <a:p>
                      <a:pPr algn="l"/>
                      <a:r>
                        <a:rPr sz="1050" b="0" i="0">
                          <a:solidFill>
                            <a:srgbClr val="000000"/>
                          </a:solidFill>
                          <a:latin typeface="Calibri"/>
                        </a:rPr>
                        <a:t>Figure 85: Global Market Value by Region, US$ Mn, 2021–2036</a:t>
                      </a:r>
                      <a:endParaRPr sz="1050"/>
                    </a:p>
                  </a:txBody>
                  <a:tcPr marL="9525" marR="9525" marT="9525" marB="0" anchor="ctr"/>
                </a:tc>
              </a:tr>
              <a:tr h="169606">
                <a:tc>
                  <a:txBody>
                    <a:bodyPr wrap="square"/>
                    <a:lstStyle/>
                    <a:p>
                      <a:pPr algn="l"/>
                      <a:r>
                        <a:rPr sz="1050" b="0" i="0">
                          <a:solidFill>
                            <a:srgbClr val="000000"/>
                          </a:solidFill>
                          <a:latin typeface="Calibri"/>
                        </a:rPr>
                        <a:t>Figure 86: Global Market Share by Region, %, 2026 and 2036</a:t>
                      </a:r>
                      <a:endParaRPr sz="1050"/>
                    </a:p>
                  </a:txBody>
                  <a:tcPr marL="9525" marR="9525" marT="9525" marB="0" anchor="ctr"/>
                </a:tc>
              </a:tr>
              <a:tr h="169606">
                <a:tc>
                  <a:txBody>
                    <a:bodyPr wrap="square"/>
                    <a:lstStyle/>
                    <a:p>
                      <a:pPr algn="l"/>
                      <a:r>
                        <a:rPr sz="1050" b="0" i="0">
                          <a:solidFill>
                            <a:srgbClr val="000000"/>
                          </a:solidFill>
                          <a:latin typeface="Calibri"/>
                        </a:rPr>
                        <a:t>Figure 87: Global Market CAGR by Region, %, 2026–2036</a:t>
                      </a:r>
                      <a:endParaRPr sz="1050"/>
                    </a:p>
                  </a:txBody>
                  <a:tcPr marL="9525" marR="9525" marT="9525" marB="0" anchor="ctr"/>
                </a:tc>
              </a:tr>
              <a:tr h="169606">
                <a:tc>
                  <a:txBody>
                    <a:bodyPr wrap="square"/>
                    <a:lstStyle/>
                    <a:p>
                      <a:pPr algn="l"/>
                      <a:r>
                        <a:rPr sz="1050" b="0" i="0">
                          <a:solidFill>
                            <a:srgbClr val="000000"/>
                          </a:solidFill>
                          <a:latin typeface="Calibri"/>
                        </a:rPr>
                        <a:t>Figure 88: Global Market Absolute $ Opportunity by Region, US$ Mn, 2026–2036</a:t>
                      </a:r>
                      <a:endParaRPr sz="1050"/>
                    </a:p>
                  </a:txBody>
                  <a:tcPr marL="9525" marR="9525" marT="9525" marB="0" anchor="ctr"/>
                </a:tc>
              </a:tr>
              <a:tr h="169606">
                <a:tc>
                  <a:txBody>
                    <a:bodyPr wrap="square"/>
                    <a:lstStyle/>
                    <a:p>
                      <a:pPr algn="l"/>
                      <a:r>
                        <a:rPr sz="1050" b="0" i="0">
                          <a:solidFill>
                            <a:srgbClr val="000000"/>
                          </a:solidFill>
                          <a:latin typeface="Calibri"/>
                        </a:rPr>
                        <a:t>Figure 89: Global Market Attractiveness by Region, 2026–2036</a:t>
                      </a:r>
                      <a:endParaRPr sz="1050"/>
                    </a:p>
                  </a:txBody>
                  <a:tcPr marL="9525" marR="9525" marT="9525" marB="0" anchor="ctr"/>
                </a:tc>
              </a:tr>
              <a:tr h="169606">
                <a:tc>
                  <a:txBody>
                    <a:bodyPr wrap="square"/>
                    <a:lstStyle/>
                    <a:p>
                      <a:pPr algn="l"/>
                      <a:r>
                        <a:rPr sz="1050" b="0" i="0">
                          <a:solidFill>
                            <a:srgbClr val="000000"/>
                          </a:solidFill>
                          <a:latin typeface="Calibri"/>
                        </a:rPr>
                        <a:t>Figure 90: Global Market BPS Share Change by Region, 2026–2036</a:t>
                      </a:r>
                      <a:endParaRPr sz="1050"/>
                    </a:p>
                  </a:txBody>
                  <a:tcPr marL="9525" marR="9525" marT="9525" marB="0" anchor="ctr"/>
                </a:tc>
              </a:tr>
              <a:tr h="169606">
                <a:tc>
                  <a:txBody>
                    <a:bodyPr wrap="square"/>
                    <a:lstStyle/>
                    <a:p>
                      <a:pPr algn="l"/>
                      <a:r>
                        <a:rPr sz="1050" b="0" i="0">
                          <a:solidFill>
                            <a:srgbClr val="000000"/>
                          </a:solidFill>
                          <a:latin typeface="Calibri"/>
                        </a:rPr>
                        <a:t>Figure 91: North America Market Value and YoY Growth, US$ Mn and %, 2021–2036</a:t>
                      </a:r>
                      <a:endParaRPr sz="1050"/>
                    </a:p>
                  </a:txBody>
                  <a:tcPr marL="9525" marR="9525" marT="9525" marB="0" anchor="ctr"/>
                </a:tc>
              </a:tr>
              <a:tr h="169606">
                <a:tc>
                  <a:txBody>
                    <a:bodyPr wrap="square"/>
                    <a:lstStyle/>
                    <a:p>
                      <a:pPr algn="l"/>
                      <a:r>
                        <a:rPr sz="1050" b="0" i="0">
                          <a:solidFill>
                            <a:srgbClr val="000000"/>
                          </a:solidFill>
                          <a:latin typeface="Calibri"/>
                        </a:rPr>
                        <a:t>Figure 92: Latin America Market Value and YoY Growth, US$ Mn and %, 2021–2036</a:t>
                      </a:r>
                      <a:endParaRPr sz="1050"/>
                    </a:p>
                  </a:txBody>
                  <a:tcPr marL="9525" marR="9525" marT="9525" marB="0" anchor="ctr"/>
                </a:tc>
              </a:tr>
            </a:tbl>
          </a:graphicData>
        </a:graphic>
      </p:graphicFrame>
      <p:graphicFrame>
        <p:nvGraphicFramePr>
          <p:cNvPr id="7" name="TMR Contents Table"/>
          <p:cNvGraphicFramePr>
            <a:graphicFrameLocks noGrp="1"/>
          </p:cNvGraphicFramePr>
          <p:nvPr/>
        </p:nvGraphicFramePr>
        <p:xfrm>
          <a:off x="6172200" y="981075"/>
          <a:ext cx="5876925" cy="5257786"/>
        </p:xfrm>
        <a:graphic>
          <a:graphicData uri="http://schemas.openxmlformats.org/drawingml/2006/table">
            <a:tbl>
              <a:tblPr>
                <a:tableStyleId>{3B4B98B0-60AC-42C2-AFA5-B58CD77FA1E5}</a:tableStyleId>
              </a:tblPr>
              <a:tblGrid>
                <a:gridCol w="5876925"/>
              </a:tblGrid>
              <a:tr h="169606">
                <a:tc>
                  <a:txBody>
                    <a:bodyPr wrap="square"/>
                    <a:lstStyle/>
                    <a:p>
                      <a:pPr algn="l"/>
                      <a:r>
                        <a:rPr sz="1050" b="0" i="0">
                          <a:solidFill>
                            <a:srgbClr val="000000"/>
                          </a:solidFill>
                          <a:latin typeface="Calibri"/>
                        </a:rPr>
                        <a:t>Figure 93: Europe Market Value and YoY Growth, US$ Mn and %, 2021–2036</a:t>
                      </a:r>
                      <a:endParaRPr sz="1050"/>
                    </a:p>
                  </a:txBody>
                  <a:tcPr marL="9525" marR="9525" marT="9525" marB="0" anchor="ctr"/>
                </a:tc>
              </a:tr>
              <a:tr h="169606">
                <a:tc>
                  <a:txBody>
                    <a:bodyPr wrap="square"/>
                    <a:lstStyle/>
                    <a:p>
                      <a:pPr algn="l"/>
                      <a:r>
                        <a:rPr sz="1050" b="0" i="0">
                          <a:solidFill>
                            <a:srgbClr val="000000"/>
                          </a:solidFill>
                          <a:latin typeface="Calibri"/>
                        </a:rPr>
                        <a:t>Figure 94: East Asia Market Value and YoY Growth, US$ Mn and %, 2021–2036</a:t>
                      </a:r>
                      <a:endParaRPr sz="1050"/>
                    </a:p>
                  </a:txBody>
                  <a:tcPr marL="9525" marR="9525" marT="9525" marB="0" anchor="ctr"/>
                </a:tc>
              </a:tr>
              <a:tr h="169606">
                <a:tc>
                  <a:txBody>
                    <a:bodyPr wrap="square"/>
                    <a:lstStyle/>
                    <a:p>
                      <a:pPr algn="l"/>
                      <a:r>
                        <a:rPr sz="1050" b="0" i="0">
                          <a:solidFill>
                            <a:srgbClr val="000000"/>
                          </a:solidFill>
                          <a:latin typeface="Calibri"/>
                        </a:rPr>
                        <a:t>Figure 95: South Asia &amp; Pacific Market Value and YoY Growth, US$ Mn and %, 2021–2036</a:t>
                      </a:r>
                      <a:endParaRPr sz="1050"/>
                    </a:p>
                  </a:txBody>
                  <a:tcPr marL="9525" marR="9525" marT="9525" marB="0" anchor="ctr"/>
                </a:tc>
              </a:tr>
              <a:tr h="169606">
                <a:tc>
                  <a:txBody>
                    <a:bodyPr wrap="square"/>
                    <a:lstStyle/>
                    <a:p>
                      <a:pPr algn="l"/>
                      <a:r>
                        <a:rPr sz="1050" b="0" i="0">
                          <a:solidFill>
                            <a:srgbClr val="000000"/>
                          </a:solidFill>
                          <a:latin typeface="Calibri"/>
                        </a:rPr>
                        <a:t>Figure 96: Middle East and Africa Market Value and YoY Growth, US$ Mn and %, 2021–2036</a:t>
                      </a:r>
                      <a:endParaRPr sz="1050"/>
                    </a:p>
                  </a:txBody>
                  <a:tcPr marL="9525" marR="9525" marT="9525" marB="0" anchor="ctr"/>
                </a:tc>
              </a:tr>
              <a:tr h="169606">
                <a:tc>
                  <a:txBody>
                    <a:bodyPr wrap="square"/>
                    <a:lstStyle/>
                    <a:p>
                      <a:pPr algn="l"/>
                      <a:r>
                        <a:rPr sz="1050" b="0" i="0">
                          <a:solidFill>
                            <a:srgbClr val="000000"/>
                          </a:solidFill>
                          <a:latin typeface="Calibri"/>
                        </a:rPr>
                        <a:t>Figure 97: North America Market Share of Global Market, %, 2026 and 2036</a:t>
                      </a:r>
                      <a:endParaRPr sz="1050"/>
                    </a:p>
                  </a:txBody>
                  <a:tcPr marL="9525" marR="9525" marT="9525" marB="0" anchor="ctr"/>
                </a:tc>
              </a:tr>
              <a:tr h="169606">
                <a:tc>
                  <a:txBody>
                    <a:bodyPr wrap="square"/>
                    <a:lstStyle/>
                    <a:p>
                      <a:pPr algn="l"/>
                      <a:r>
                        <a:rPr sz="1050" b="0" i="0">
                          <a:solidFill>
                            <a:srgbClr val="000000"/>
                          </a:solidFill>
                          <a:latin typeface="Calibri"/>
                        </a:rPr>
                        <a:t>Figure 98: Latin America Market Share of Global Market, %, 2026 and 2036</a:t>
                      </a:r>
                      <a:endParaRPr sz="1050"/>
                    </a:p>
                  </a:txBody>
                  <a:tcPr marL="9525" marR="9525" marT="9525" marB="0" anchor="ctr"/>
                </a:tc>
              </a:tr>
              <a:tr h="169606">
                <a:tc>
                  <a:txBody>
                    <a:bodyPr wrap="square"/>
                    <a:lstStyle/>
                    <a:p>
                      <a:pPr algn="l"/>
                      <a:r>
                        <a:rPr sz="1050" b="0" i="0">
                          <a:solidFill>
                            <a:srgbClr val="000000"/>
                          </a:solidFill>
                          <a:latin typeface="Calibri"/>
                        </a:rPr>
                        <a:t>Figure 99: Europe Market Share of Global Market, %, 2026 and 2036</a:t>
                      </a:r>
                      <a:endParaRPr sz="1050"/>
                    </a:p>
                  </a:txBody>
                  <a:tcPr marL="9525" marR="9525" marT="9525" marB="0" anchor="ctr"/>
                </a:tc>
              </a:tr>
              <a:tr h="169606">
                <a:tc>
                  <a:txBody>
                    <a:bodyPr wrap="square"/>
                    <a:lstStyle/>
                    <a:p>
                      <a:pPr algn="l"/>
                      <a:r>
                        <a:rPr sz="1050" b="0" i="0">
                          <a:solidFill>
                            <a:srgbClr val="000000"/>
                          </a:solidFill>
                          <a:latin typeface="Calibri"/>
                        </a:rPr>
                        <a:t>Figure 100: East Asia Market Share of Global Market, %, 2026 and 2036</a:t>
                      </a:r>
                      <a:endParaRPr sz="1050"/>
                    </a:p>
                  </a:txBody>
                  <a:tcPr marL="9525" marR="9525" marT="9525" marB="0" anchor="ctr"/>
                </a:tc>
              </a:tr>
              <a:tr h="169606">
                <a:tc>
                  <a:txBody>
                    <a:bodyPr wrap="square"/>
                    <a:lstStyle/>
                    <a:p>
                      <a:pPr algn="l"/>
                      <a:r>
                        <a:rPr sz="1050" b="0" i="0">
                          <a:solidFill>
                            <a:srgbClr val="000000"/>
                          </a:solidFill>
                          <a:latin typeface="Calibri"/>
                        </a:rPr>
                        <a:t>Figure 101: South Asia &amp; Pacific Market Share of Global Market, %, 2026 and 2036</a:t>
                      </a:r>
                      <a:endParaRPr sz="1050"/>
                    </a:p>
                  </a:txBody>
                  <a:tcPr marL="9525" marR="9525" marT="9525" marB="0" anchor="ctr"/>
                </a:tc>
              </a:tr>
              <a:tr h="169606">
                <a:tc>
                  <a:txBody>
                    <a:bodyPr wrap="square"/>
                    <a:lstStyle/>
                    <a:p>
                      <a:pPr algn="l"/>
                      <a:r>
                        <a:rPr sz="1050" b="0" i="0">
                          <a:solidFill>
                            <a:srgbClr val="000000"/>
                          </a:solidFill>
                          <a:latin typeface="Calibri"/>
                        </a:rPr>
                        <a:t>Figure 102: Middle East and Africa Market Share of Global Market, %, 2026 and 2036</a:t>
                      </a:r>
                      <a:endParaRPr sz="1050"/>
                    </a:p>
                  </a:txBody>
                  <a:tcPr marL="9525" marR="9525" marT="9525" marB="0" anchor="ctr"/>
                </a:tc>
              </a:tr>
              <a:tr h="169606">
                <a:tc>
                  <a:txBody>
                    <a:bodyPr wrap="square"/>
                    <a:lstStyle/>
                    <a:p>
                      <a:pPr algn="l"/>
                      <a:r>
                        <a:rPr sz="1050" b="0" i="0">
                          <a:solidFill>
                            <a:srgbClr val="000000"/>
                          </a:solidFill>
                          <a:latin typeface="Calibri"/>
                        </a:rPr>
                        <a:t>Figure 103: North America Market Value by Country,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104: Latin America Market Value by Country,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105: Europe Market Value by Country,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106: East Asia Market Value by Country,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107: South Asia &amp; Pacific Market Value by Country,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108: Middle East and Africa Market Value by Country,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109: North America Market Absolute $ Opportunity, US$ Mn, 2026–2036</a:t>
                      </a:r>
                      <a:endParaRPr sz="1050"/>
                    </a:p>
                  </a:txBody>
                  <a:tcPr marL="9525" marR="9525" marT="9525" marB="0" anchor="ctr"/>
                </a:tc>
              </a:tr>
              <a:tr h="169606">
                <a:tc>
                  <a:txBody>
                    <a:bodyPr wrap="square"/>
                    <a:lstStyle/>
                    <a:p>
                      <a:pPr algn="l"/>
                      <a:r>
                        <a:rPr sz="1050" b="0" i="0">
                          <a:solidFill>
                            <a:srgbClr val="000000"/>
                          </a:solidFill>
                          <a:latin typeface="Calibri"/>
                        </a:rPr>
                        <a:t>Figure 110: Latin America Market Absolute $ Opportunity, US$ Mn, 2026–2036</a:t>
                      </a:r>
                      <a:endParaRPr sz="1050"/>
                    </a:p>
                  </a:txBody>
                  <a:tcPr marL="9525" marR="9525" marT="9525" marB="0" anchor="ctr"/>
                </a:tc>
              </a:tr>
              <a:tr h="169606">
                <a:tc>
                  <a:txBody>
                    <a:bodyPr wrap="square"/>
                    <a:lstStyle/>
                    <a:p>
                      <a:pPr algn="l"/>
                      <a:r>
                        <a:rPr sz="1050" b="0" i="0">
                          <a:solidFill>
                            <a:srgbClr val="000000"/>
                          </a:solidFill>
                          <a:latin typeface="Calibri"/>
                        </a:rPr>
                        <a:t>Figure 111: Europe Market Absolute $ Opportunity, US$ Mn, 2026–2036</a:t>
                      </a:r>
                      <a:endParaRPr sz="1050"/>
                    </a:p>
                  </a:txBody>
                  <a:tcPr marL="9525" marR="9525" marT="9525" marB="0" anchor="ctr"/>
                </a:tc>
              </a:tr>
              <a:tr h="169606">
                <a:tc>
                  <a:txBody>
                    <a:bodyPr wrap="square"/>
                    <a:lstStyle/>
                    <a:p>
                      <a:pPr algn="l"/>
                      <a:r>
                        <a:rPr sz="1050" b="0" i="0">
                          <a:solidFill>
                            <a:srgbClr val="000000"/>
                          </a:solidFill>
                          <a:latin typeface="Calibri"/>
                        </a:rPr>
                        <a:t>Figure 112: U.S. Market Value and YoY Growth, US$ Mn and %, 2021–2036</a:t>
                      </a:r>
                      <a:endParaRPr sz="1050"/>
                    </a:p>
                  </a:txBody>
                  <a:tcPr marL="9525" marR="9525" marT="9525" marB="0" anchor="ctr"/>
                </a:tc>
              </a:tr>
              <a:tr h="169606">
                <a:tc>
                  <a:txBody>
                    <a:bodyPr wrap="square"/>
                    <a:lstStyle/>
                    <a:p>
                      <a:pPr algn="l"/>
                      <a:r>
                        <a:rPr sz="1050" b="0" i="0">
                          <a:solidFill>
                            <a:srgbClr val="000000"/>
                          </a:solidFill>
                          <a:latin typeface="Calibri"/>
                        </a:rPr>
                        <a:t>Figure 113: U.S. Market Value by Product Type,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114: U.S. Market Value by Application,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115: U.S. Market Share within North America, %, 2026 and 2036</a:t>
                      </a:r>
                      <a:endParaRPr sz="1050"/>
                    </a:p>
                  </a:txBody>
                  <a:tcPr marL="9525" marR="9525" marT="9525" marB="0" anchor="ctr"/>
                </a:tc>
              </a:tr>
              <a:tr h="169606">
                <a:tc>
                  <a:txBody>
                    <a:bodyPr wrap="square"/>
                    <a:lstStyle/>
                    <a:p>
                      <a:pPr algn="l"/>
                      <a:r>
                        <a:rPr sz="1050" b="0" i="0">
                          <a:solidFill>
                            <a:srgbClr val="000000"/>
                          </a:solidFill>
                          <a:latin typeface="Calibri"/>
                        </a:rPr>
                        <a:t>Figure 116: U.S. Market Value by Extraction / Processing Method,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117: U.S. Market Value by Source,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118: U.S. Market Value by Form,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119: U.S. Market Value by Sales Channel,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120: Germany Market Value and YoY Growth, US$ Mn and %, 2021–2036</a:t>
                      </a:r>
                      <a:endParaRPr sz="1050"/>
                    </a:p>
                  </a:txBody>
                  <a:tcPr marL="9525" marR="9525" marT="9525" marB="0" anchor="ctr"/>
                </a:tc>
              </a:tr>
              <a:tr h="169606">
                <a:tc>
                  <a:txBody>
                    <a:bodyPr wrap="square"/>
                    <a:lstStyle/>
                    <a:p>
                      <a:pPr algn="l"/>
                      <a:r>
                        <a:rPr sz="1050" b="0" i="0">
                          <a:solidFill>
                            <a:srgbClr val="000000"/>
                          </a:solidFill>
                          <a:latin typeface="Calibri"/>
                        </a:rPr>
                        <a:t>Figure 121: Germany Market Value by Product Type,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122: Germany Market Value by Application,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123: Germany Market Share within Europe, %, 2026 and 2036</a:t>
                      </a:r>
                      <a:endParaRPr sz="1050"/>
                    </a:p>
                  </a:txBody>
                  <a:tcPr marL="9525" marR="9525" marT="9525" marB="0" anchor="ctr"/>
                </a:tc>
              </a:tr>
            </a:tbl>
          </a:graphicData>
        </a:graphic>
      </p:graphicFrame>
      <p:sp>
        <p:nvSpPr>
          <p:cNvPr id="8" name="Rectangle 7"/>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76200"/>
            <a:ext cx="10896600"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List of Figures (3/4)</a:t>
            </a:r>
          </a:p>
        </p:txBody>
      </p:sp>
      <p:graphicFrame>
        <p:nvGraphicFramePr>
          <p:cNvPr id="6" name="TMR Contents Table"/>
          <p:cNvGraphicFramePr>
            <a:graphicFrameLocks noGrp="1"/>
          </p:cNvGraphicFramePr>
          <p:nvPr/>
        </p:nvGraphicFramePr>
        <p:xfrm>
          <a:off x="142875" y="981075"/>
          <a:ext cx="5876925" cy="5257812"/>
        </p:xfrm>
        <a:graphic>
          <a:graphicData uri="http://schemas.openxmlformats.org/drawingml/2006/table">
            <a:tbl>
              <a:tblPr>
                <a:tableStyleId>{3B4B98B0-60AC-42C2-AFA5-B58CD77FA1E5}</a:tableStyleId>
              </a:tblPr>
              <a:tblGrid>
                <a:gridCol w="5876925"/>
              </a:tblGrid>
              <a:tr h="169826">
                <a:tc>
                  <a:txBody>
                    <a:bodyPr wrap="square"/>
                    <a:lstStyle/>
                    <a:p>
                      <a:pPr algn="l"/>
                      <a:r>
                        <a:rPr sz="1050" b="0" i="0">
                          <a:solidFill>
                            <a:srgbClr val="000000"/>
                          </a:solidFill>
                          <a:latin typeface="Calibri"/>
                        </a:rPr>
                        <a:t>Figure 124: Germany Market Value by Extraction / Processing Method, US$ Mn, 2026 and 2036</a:t>
                      </a:r>
                      <a:endParaRPr sz="1050"/>
                    </a:p>
                  </a:txBody>
                  <a:tcPr marL="9525" marR="9525" marT="9525" marB="0" anchor="ctr"/>
                </a:tc>
              </a:tr>
              <a:tr h="169826">
                <a:tc>
                  <a:txBody>
                    <a:bodyPr wrap="square"/>
                    <a:lstStyle/>
                    <a:p>
                      <a:pPr algn="l"/>
                      <a:r>
                        <a:rPr sz="1050" b="0" i="0">
                          <a:solidFill>
                            <a:srgbClr val="000000"/>
                          </a:solidFill>
                          <a:latin typeface="Calibri"/>
                        </a:rPr>
                        <a:t>Figure 125: Germany Market Value by Source, US$ Mn, 2026 and 2036</a:t>
                      </a:r>
                      <a:endParaRPr sz="1050"/>
                    </a:p>
                  </a:txBody>
                  <a:tcPr marL="9525" marR="9525" marT="9525" marB="0" anchor="ctr"/>
                </a:tc>
              </a:tr>
              <a:tr h="169826">
                <a:tc>
                  <a:txBody>
                    <a:bodyPr wrap="square"/>
                    <a:lstStyle/>
                    <a:p>
                      <a:pPr algn="l"/>
                      <a:r>
                        <a:rPr sz="1050" b="0" i="0">
                          <a:solidFill>
                            <a:srgbClr val="000000"/>
                          </a:solidFill>
                          <a:latin typeface="Calibri"/>
                        </a:rPr>
                        <a:t>Figure 126: Germany Market Value by Form, US$ Mn, 2026 and 2036</a:t>
                      </a:r>
                      <a:endParaRPr sz="1050"/>
                    </a:p>
                  </a:txBody>
                  <a:tcPr marL="9525" marR="9525" marT="9525" marB="0" anchor="ctr"/>
                </a:tc>
              </a:tr>
              <a:tr h="169826">
                <a:tc>
                  <a:txBody>
                    <a:bodyPr wrap="square"/>
                    <a:lstStyle/>
                    <a:p>
                      <a:pPr algn="l"/>
                      <a:r>
                        <a:rPr sz="1050" b="0" i="0">
                          <a:solidFill>
                            <a:srgbClr val="000000"/>
                          </a:solidFill>
                          <a:latin typeface="Calibri"/>
                        </a:rPr>
                        <a:t>Figure 127: Germany Market Value by Sales Channel, US$ Mn, 2026 and 2036</a:t>
                      </a:r>
                      <a:endParaRPr sz="1050"/>
                    </a:p>
                  </a:txBody>
                  <a:tcPr marL="9525" marR="9525" marT="9525" marB="0" anchor="ctr"/>
                </a:tc>
              </a:tr>
              <a:tr h="169826">
                <a:tc>
                  <a:txBody>
                    <a:bodyPr wrap="square"/>
                    <a:lstStyle/>
                    <a:p>
                      <a:pPr algn="l"/>
                      <a:r>
                        <a:rPr sz="1050" b="0" i="0">
                          <a:solidFill>
                            <a:srgbClr val="000000"/>
                          </a:solidFill>
                          <a:latin typeface="Calibri"/>
                        </a:rPr>
                        <a:t>Figure 128: Canada Market Value and YoY Growth, US$ Mn and %, 2021–2036</a:t>
                      </a:r>
                      <a:endParaRPr sz="1050"/>
                    </a:p>
                  </a:txBody>
                  <a:tcPr marL="9525" marR="9525" marT="9525" marB="0" anchor="ctr"/>
                </a:tc>
              </a:tr>
              <a:tr h="169826">
                <a:tc>
                  <a:txBody>
                    <a:bodyPr wrap="square"/>
                    <a:lstStyle/>
                    <a:p>
                      <a:pPr algn="l"/>
                      <a:r>
                        <a:rPr sz="1050" b="0" i="0">
                          <a:solidFill>
                            <a:srgbClr val="000000"/>
                          </a:solidFill>
                          <a:latin typeface="Calibri"/>
                        </a:rPr>
                        <a:t>Figure 129: Canada Market Value by Product Type, US$ Mn, 2026 and 2036</a:t>
                      </a:r>
                      <a:endParaRPr sz="1050"/>
                    </a:p>
                  </a:txBody>
                  <a:tcPr marL="9525" marR="9525" marT="9525" marB="0" anchor="ctr"/>
                </a:tc>
              </a:tr>
              <a:tr h="169826">
                <a:tc>
                  <a:txBody>
                    <a:bodyPr wrap="square"/>
                    <a:lstStyle/>
                    <a:p>
                      <a:pPr algn="l"/>
                      <a:r>
                        <a:rPr sz="1050" b="0" i="0">
                          <a:solidFill>
                            <a:srgbClr val="000000"/>
                          </a:solidFill>
                          <a:latin typeface="Calibri"/>
                        </a:rPr>
                        <a:t>Figure 130: Canada Market Value by Application, US$ Mn, 2026 and 2036</a:t>
                      </a:r>
                      <a:endParaRPr sz="1050"/>
                    </a:p>
                  </a:txBody>
                  <a:tcPr marL="9525" marR="9525" marT="9525" marB="0" anchor="ctr"/>
                </a:tc>
              </a:tr>
              <a:tr h="169826">
                <a:tc>
                  <a:txBody>
                    <a:bodyPr wrap="square"/>
                    <a:lstStyle/>
                    <a:p>
                      <a:pPr algn="l"/>
                      <a:r>
                        <a:rPr sz="1050" b="0" i="0">
                          <a:solidFill>
                            <a:srgbClr val="000000"/>
                          </a:solidFill>
                          <a:latin typeface="Calibri"/>
                        </a:rPr>
                        <a:t>Figure 131: Canada Market Share within North America, %, 2026 and 2036</a:t>
                      </a:r>
                      <a:endParaRPr sz="1050"/>
                    </a:p>
                  </a:txBody>
                  <a:tcPr marL="9525" marR="9525" marT="9525" marB="0" anchor="ctr"/>
                </a:tc>
              </a:tr>
              <a:tr h="169826">
                <a:tc>
                  <a:txBody>
                    <a:bodyPr wrap="square"/>
                    <a:lstStyle/>
                    <a:p>
                      <a:pPr algn="l"/>
                      <a:r>
                        <a:rPr sz="1050" b="0" i="0">
                          <a:solidFill>
                            <a:srgbClr val="000000"/>
                          </a:solidFill>
                          <a:latin typeface="Calibri"/>
                        </a:rPr>
                        <a:t>Figure 132: Canada Market Value by Extraction / Processing Method, US$ Mn, 2026 and 2036</a:t>
                      </a:r>
                      <a:endParaRPr sz="1050"/>
                    </a:p>
                  </a:txBody>
                  <a:tcPr marL="9525" marR="9525" marT="9525" marB="0" anchor="ctr"/>
                </a:tc>
              </a:tr>
              <a:tr h="169826">
                <a:tc>
                  <a:txBody>
                    <a:bodyPr wrap="square"/>
                    <a:lstStyle/>
                    <a:p>
                      <a:pPr algn="l"/>
                      <a:r>
                        <a:rPr sz="1050" b="0" i="0">
                          <a:solidFill>
                            <a:srgbClr val="000000"/>
                          </a:solidFill>
                          <a:latin typeface="Calibri"/>
                        </a:rPr>
                        <a:t>Figure 133: Canada Market Value by Source, US$ Mn, 2026 and 2036</a:t>
                      </a:r>
                      <a:endParaRPr sz="1050"/>
                    </a:p>
                  </a:txBody>
                  <a:tcPr marL="9525" marR="9525" marT="9525" marB="0" anchor="ctr"/>
                </a:tc>
              </a:tr>
              <a:tr h="169826">
                <a:tc>
                  <a:txBody>
                    <a:bodyPr wrap="square"/>
                    <a:lstStyle/>
                    <a:p>
                      <a:pPr algn="l"/>
                      <a:r>
                        <a:rPr sz="1050" b="0" i="0">
                          <a:solidFill>
                            <a:srgbClr val="000000"/>
                          </a:solidFill>
                          <a:latin typeface="Calibri"/>
                        </a:rPr>
                        <a:t>Figure 134: Canada Market Value by Form, US$ Mn, 2026 and 2036</a:t>
                      </a:r>
                      <a:endParaRPr sz="1050"/>
                    </a:p>
                  </a:txBody>
                  <a:tcPr marL="9525" marR="9525" marT="9525" marB="0" anchor="ctr"/>
                </a:tc>
              </a:tr>
              <a:tr h="169826">
                <a:tc>
                  <a:txBody>
                    <a:bodyPr wrap="square"/>
                    <a:lstStyle/>
                    <a:p>
                      <a:pPr algn="l"/>
                      <a:r>
                        <a:rPr sz="1050" b="0" i="0">
                          <a:solidFill>
                            <a:srgbClr val="000000"/>
                          </a:solidFill>
                          <a:latin typeface="Calibri"/>
                        </a:rPr>
                        <a:t>Figure 135: Canada Market Value by Sales Channel, US$ Mn, 2026 and 2036</a:t>
                      </a:r>
                      <a:endParaRPr sz="1050"/>
                    </a:p>
                  </a:txBody>
                  <a:tcPr marL="9525" marR="9525" marT="9525" marB="0" anchor="ctr"/>
                </a:tc>
              </a:tr>
              <a:tr h="169826">
                <a:tc>
                  <a:txBody>
                    <a:bodyPr wrap="square"/>
                    <a:lstStyle/>
                    <a:p>
                      <a:pPr algn="l"/>
                      <a:r>
                        <a:rPr sz="1050" b="0" i="0">
                          <a:solidFill>
                            <a:srgbClr val="000000"/>
                          </a:solidFill>
                          <a:latin typeface="Calibri"/>
                        </a:rPr>
                        <a:t>Figure 136: China Market Value and YoY Growth, US$ Mn and %, 2021–2036</a:t>
                      </a:r>
                      <a:endParaRPr sz="1050"/>
                    </a:p>
                  </a:txBody>
                  <a:tcPr marL="9525" marR="9525" marT="9525" marB="0" anchor="ctr"/>
                </a:tc>
              </a:tr>
              <a:tr h="169826">
                <a:tc>
                  <a:txBody>
                    <a:bodyPr wrap="square"/>
                    <a:lstStyle/>
                    <a:p>
                      <a:pPr algn="l"/>
                      <a:r>
                        <a:rPr sz="1050" b="0" i="0">
                          <a:solidFill>
                            <a:srgbClr val="000000"/>
                          </a:solidFill>
                          <a:latin typeface="Calibri"/>
                        </a:rPr>
                        <a:t>Figure 137: China Market Value by Product Type, US$ Mn, 2026 and 2036</a:t>
                      </a:r>
                      <a:endParaRPr sz="1050"/>
                    </a:p>
                  </a:txBody>
                  <a:tcPr marL="9525" marR="9525" marT="9525" marB="0" anchor="ctr"/>
                </a:tc>
              </a:tr>
              <a:tr h="169826">
                <a:tc>
                  <a:txBody>
                    <a:bodyPr wrap="square"/>
                    <a:lstStyle/>
                    <a:p>
                      <a:pPr algn="l"/>
                      <a:r>
                        <a:rPr sz="1050" b="0" i="0">
                          <a:solidFill>
                            <a:srgbClr val="000000"/>
                          </a:solidFill>
                          <a:latin typeface="Calibri"/>
                        </a:rPr>
                        <a:t>Figure 138: India Market Value and YoY Growth, US$ Mn and %, 2021–2036</a:t>
                      </a:r>
                      <a:endParaRPr sz="1050"/>
                    </a:p>
                  </a:txBody>
                  <a:tcPr marL="9525" marR="9525" marT="9525" marB="0" anchor="ctr"/>
                </a:tc>
              </a:tr>
              <a:tr h="169826">
                <a:tc>
                  <a:txBody>
                    <a:bodyPr wrap="square"/>
                    <a:lstStyle/>
                    <a:p>
                      <a:pPr algn="l"/>
                      <a:r>
                        <a:rPr sz="1050" b="0" i="0">
                          <a:solidFill>
                            <a:srgbClr val="000000"/>
                          </a:solidFill>
                          <a:latin typeface="Calibri"/>
                        </a:rPr>
                        <a:t>Figure 139: India Market Value by Product Type, US$ Mn, 2026 and 2036</a:t>
                      </a:r>
                      <a:endParaRPr sz="1050"/>
                    </a:p>
                  </a:txBody>
                  <a:tcPr marL="9525" marR="9525" marT="9525" marB="0" anchor="ctr"/>
                </a:tc>
              </a:tr>
              <a:tr h="169826">
                <a:tc>
                  <a:txBody>
                    <a:bodyPr wrap="square"/>
                    <a:lstStyle/>
                    <a:p>
                      <a:pPr algn="l"/>
                      <a:r>
                        <a:rPr sz="1050" b="0" i="0">
                          <a:solidFill>
                            <a:srgbClr val="000000"/>
                          </a:solidFill>
                          <a:latin typeface="Calibri"/>
                        </a:rPr>
                        <a:t>Figure 140: Brazil Market Value and YoY Growth, US$ Mn and %, 2021–2036</a:t>
                      </a:r>
                      <a:endParaRPr sz="1050"/>
                    </a:p>
                  </a:txBody>
                  <a:tcPr marL="9525" marR="9525" marT="9525" marB="0" anchor="ctr"/>
                </a:tc>
              </a:tr>
              <a:tr h="169826">
                <a:tc>
                  <a:txBody>
                    <a:bodyPr wrap="square"/>
                    <a:lstStyle/>
                    <a:p>
                      <a:pPr algn="l"/>
                      <a:r>
                        <a:rPr sz="1050" b="0" i="0">
                          <a:solidFill>
                            <a:srgbClr val="000000"/>
                          </a:solidFill>
                          <a:latin typeface="Calibri"/>
                        </a:rPr>
                        <a:t>Figure 141: Brazil Market Value by Product Type, US$ Mn, 2026 and 2036</a:t>
                      </a:r>
                      <a:endParaRPr sz="1050"/>
                    </a:p>
                  </a:txBody>
                  <a:tcPr marL="9525" marR="9525" marT="9525" marB="0" anchor="ctr"/>
                </a:tc>
              </a:tr>
              <a:tr h="169826">
                <a:tc>
                  <a:txBody>
                    <a:bodyPr wrap="square"/>
                    <a:lstStyle/>
                    <a:p>
                      <a:pPr algn="l"/>
                      <a:r>
                        <a:rPr sz="1050" b="0" i="0">
                          <a:solidFill>
                            <a:srgbClr val="000000"/>
                          </a:solidFill>
                          <a:latin typeface="Calibri"/>
                        </a:rPr>
                        <a:t>Figure 142: U.K. Market Value and YoY Growth, US$ Mn and %, 2021–2036</a:t>
                      </a:r>
                      <a:endParaRPr sz="1050"/>
                    </a:p>
                  </a:txBody>
                  <a:tcPr marL="9525" marR="9525" marT="9525" marB="0" anchor="ctr"/>
                </a:tc>
              </a:tr>
              <a:tr h="169826">
                <a:tc>
                  <a:txBody>
                    <a:bodyPr wrap="square"/>
                    <a:lstStyle/>
                    <a:p>
                      <a:pPr algn="l"/>
                      <a:r>
                        <a:rPr sz="1050" b="0" i="0">
                          <a:solidFill>
                            <a:srgbClr val="000000"/>
                          </a:solidFill>
                          <a:latin typeface="Calibri"/>
                        </a:rPr>
                        <a:t>Figure 143: U.K. Market Value by Product Type, US$ Mn, 2026 and 2036</a:t>
                      </a:r>
                      <a:endParaRPr sz="1050"/>
                    </a:p>
                  </a:txBody>
                  <a:tcPr marL="9525" marR="9525" marT="9525" marB="0" anchor="ctr"/>
                </a:tc>
              </a:tr>
              <a:tr h="169826">
                <a:tc>
                  <a:txBody>
                    <a:bodyPr wrap="square"/>
                    <a:lstStyle/>
                    <a:p>
                      <a:pPr algn="l"/>
                      <a:r>
                        <a:rPr sz="1050" b="0" i="0">
                          <a:solidFill>
                            <a:srgbClr val="000000"/>
                          </a:solidFill>
                          <a:latin typeface="Calibri"/>
                        </a:rPr>
                        <a:t>Figure 144: Japan Market Value and YoY Growth, US$ Mn and %, 2021–2036</a:t>
                      </a:r>
                      <a:endParaRPr sz="1050"/>
                    </a:p>
                  </a:txBody>
                  <a:tcPr marL="9525" marR="9525" marT="9525" marB="0" anchor="ctr"/>
                </a:tc>
              </a:tr>
              <a:tr h="169826">
                <a:tc>
                  <a:txBody>
                    <a:bodyPr wrap="square"/>
                    <a:lstStyle/>
                    <a:p>
                      <a:pPr algn="l"/>
                      <a:r>
                        <a:rPr sz="1050" b="0" i="0">
                          <a:solidFill>
                            <a:srgbClr val="000000"/>
                          </a:solidFill>
                          <a:latin typeface="Calibri"/>
                        </a:rPr>
                        <a:t>Figure 145: Japan Market Value by Product Type, US$ Mn, 2026 and 2036</a:t>
                      </a:r>
                      <a:endParaRPr sz="1050"/>
                    </a:p>
                  </a:txBody>
                  <a:tcPr marL="9525" marR="9525" marT="9525" marB="0" anchor="ctr"/>
                </a:tc>
              </a:tr>
              <a:tr h="169826">
                <a:tc>
                  <a:txBody>
                    <a:bodyPr wrap="square"/>
                    <a:lstStyle/>
                    <a:p>
                      <a:pPr algn="l"/>
                      <a:r>
                        <a:rPr sz="1050" b="0" i="0">
                          <a:solidFill>
                            <a:srgbClr val="000000"/>
                          </a:solidFill>
                          <a:latin typeface="Calibri"/>
                        </a:rPr>
                        <a:t>Figure 146: France Market Value and YoY Growth, US$ Mn and %, 2021–2036</a:t>
                      </a:r>
                      <a:endParaRPr sz="1050"/>
                    </a:p>
                  </a:txBody>
                  <a:tcPr marL="9525" marR="9525" marT="9525" marB="0" anchor="ctr"/>
                </a:tc>
              </a:tr>
              <a:tr h="169826">
                <a:tc>
                  <a:txBody>
                    <a:bodyPr wrap="square"/>
                    <a:lstStyle/>
                    <a:p>
                      <a:pPr algn="l"/>
                      <a:r>
                        <a:rPr sz="1050" b="0" i="0">
                          <a:solidFill>
                            <a:srgbClr val="000000"/>
                          </a:solidFill>
                          <a:latin typeface="Calibri"/>
                        </a:rPr>
                        <a:t>Figure 147: France Market Value by Product Type, US$ Mn, 2026 and 2036</a:t>
                      </a:r>
                      <a:endParaRPr sz="1050"/>
                    </a:p>
                  </a:txBody>
                  <a:tcPr marL="9525" marR="9525" marT="9525" marB="0" anchor="ctr"/>
                </a:tc>
              </a:tr>
              <a:tr h="169826">
                <a:tc>
                  <a:txBody>
                    <a:bodyPr wrap="square"/>
                    <a:lstStyle/>
                    <a:p>
                      <a:pPr algn="l"/>
                      <a:r>
                        <a:rPr sz="1050" b="0" i="0">
                          <a:solidFill>
                            <a:srgbClr val="000000"/>
                          </a:solidFill>
                          <a:latin typeface="Calibri"/>
                        </a:rPr>
                        <a:t>Figure 148: Global Market Average Selling Price Trend, US$/MT, 2021–2036</a:t>
                      </a:r>
                      <a:endParaRPr sz="1050"/>
                    </a:p>
                  </a:txBody>
                  <a:tcPr marL="9525" marR="9525" marT="9525" marB="0" anchor="ctr"/>
                </a:tc>
              </a:tr>
              <a:tr h="169826">
                <a:tc>
                  <a:txBody>
                    <a:bodyPr wrap="square"/>
                    <a:lstStyle/>
                    <a:p>
                      <a:pPr algn="l"/>
                      <a:r>
                        <a:rPr sz="1050" b="0" i="0">
                          <a:solidFill>
                            <a:srgbClr val="000000"/>
                          </a:solidFill>
                          <a:latin typeface="Calibri"/>
                        </a:rPr>
                        <a:t>Figure 149: Global Market Average Selling Price by Region, US$/MT, 2026 and 2036</a:t>
                      </a:r>
                      <a:endParaRPr sz="1050"/>
                    </a:p>
                  </a:txBody>
                  <a:tcPr marL="9525" marR="9525" marT="9525" marB="0" anchor="ctr"/>
                </a:tc>
              </a:tr>
              <a:tr h="169826">
                <a:tc>
                  <a:txBody>
                    <a:bodyPr wrap="square"/>
                    <a:lstStyle/>
                    <a:p>
                      <a:pPr algn="l"/>
                      <a:r>
                        <a:rPr sz="1050" b="0" i="0">
                          <a:solidFill>
                            <a:srgbClr val="000000"/>
                          </a:solidFill>
                          <a:latin typeface="Calibri"/>
                        </a:rPr>
                        <a:t>Figure 150: Global Market Average Selling Price by Product Type, US$/MT, 2026 and 2036</a:t>
                      </a:r>
                      <a:endParaRPr sz="1050"/>
                    </a:p>
                  </a:txBody>
                  <a:tcPr marL="9525" marR="9525" marT="9525" marB="0" anchor="ctr"/>
                </a:tc>
              </a:tr>
              <a:tr h="332858">
                <a:tc>
                  <a:txBody>
                    <a:bodyPr wrap="square"/>
                    <a:lstStyle/>
                    <a:p>
                      <a:pPr algn="l"/>
                      <a:r>
                        <a:rPr sz="1050" b="0" i="0">
                          <a:solidFill>
                            <a:srgbClr val="000000"/>
                          </a:solidFill>
                          <a:latin typeface="Calibri"/>
                        </a:rPr>
                        <a:t>Figure 151: Global Market Average Selling Price by Extraction / Processing Method, US$/MT, 2026 and 2036</a:t>
                      </a:r>
                      <a:endParaRPr sz="1050"/>
                    </a:p>
                  </a:txBody>
                  <a:tcPr marL="9525" marR="9525" marT="9525" marB="0" anchor="ctr"/>
                </a:tc>
              </a:tr>
              <a:tr h="169826">
                <a:tc>
                  <a:txBody>
                    <a:bodyPr wrap="square"/>
                    <a:lstStyle/>
                    <a:p>
                      <a:pPr algn="l"/>
                      <a:r>
                        <a:rPr sz="1050" b="0" i="0">
                          <a:solidFill>
                            <a:srgbClr val="000000"/>
                          </a:solidFill>
                          <a:latin typeface="Calibri"/>
                        </a:rPr>
                        <a:t>Figure 152: Global Market Average Selling Price by Source, US$/MT, 2026 and 2036</a:t>
                      </a:r>
                      <a:endParaRPr sz="1050"/>
                    </a:p>
                  </a:txBody>
                  <a:tcPr marL="9525" marR="9525" marT="9525" marB="0" anchor="ctr"/>
                </a:tc>
              </a:tr>
              <a:tr h="169826">
                <a:tc>
                  <a:txBody>
                    <a:bodyPr wrap="square"/>
                    <a:lstStyle/>
                    <a:p>
                      <a:pPr algn="l"/>
                      <a:r>
                        <a:rPr sz="1050" b="0" i="0">
                          <a:solidFill>
                            <a:srgbClr val="000000"/>
                          </a:solidFill>
                          <a:latin typeface="Calibri"/>
                        </a:rPr>
                        <a:t>Figure 153: Global Market Average Selling Price by Form, US$/MT, 2026 and 2036</a:t>
                      </a:r>
                      <a:endParaRPr sz="1050"/>
                    </a:p>
                  </a:txBody>
                  <a:tcPr marL="9525" marR="9525" marT="9525" marB="0" anchor="ctr"/>
                </a:tc>
              </a:tr>
            </a:tbl>
          </a:graphicData>
        </a:graphic>
      </p:graphicFrame>
      <p:graphicFrame>
        <p:nvGraphicFramePr>
          <p:cNvPr id="7" name="TMR Contents Table"/>
          <p:cNvGraphicFramePr>
            <a:graphicFrameLocks noGrp="1"/>
          </p:cNvGraphicFramePr>
          <p:nvPr/>
        </p:nvGraphicFramePr>
        <p:xfrm>
          <a:off x="6172200" y="981075"/>
          <a:ext cx="5876925" cy="5257793"/>
        </p:xfrm>
        <a:graphic>
          <a:graphicData uri="http://schemas.openxmlformats.org/drawingml/2006/table">
            <a:tbl>
              <a:tblPr>
                <a:tableStyleId>{3B4B98B0-60AC-42C2-AFA5-B58CD77FA1E5}</a:tableStyleId>
              </a:tblPr>
              <a:tblGrid>
                <a:gridCol w="5876925"/>
              </a:tblGrid>
              <a:tr h="170045">
                <a:tc>
                  <a:txBody>
                    <a:bodyPr wrap="square"/>
                    <a:lstStyle/>
                    <a:p>
                      <a:pPr algn="l"/>
                      <a:r>
                        <a:rPr sz="1050" b="0" i="0">
                          <a:solidFill>
                            <a:srgbClr val="000000"/>
                          </a:solidFill>
                          <a:latin typeface="Calibri"/>
                        </a:rPr>
                        <a:t>Figure 154: Global Market Average Selling Price by Application, US$/MT, 2026 and 2036</a:t>
                      </a:r>
                      <a:endParaRPr sz="1050"/>
                    </a:p>
                  </a:txBody>
                  <a:tcPr marL="9525" marR="9525" marT="9525" marB="0" anchor="ctr"/>
                </a:tc>
              </a:tr>
              <a:tr h="170045">
                <a:tc>
                  <a:txBody>
                    <a:bodyPr wrap="square"/>
                    <a:lstStyle/>
                    <a:p>
                      <a:pPr algn="l"/>
                      <a:r>
                        <a:rPr sz="1050" b="0" i="0">
                          <a:solidFill>
                            <a:srgbClr val="000000"/>
                          </a:solidFill>
                          <a:latin typeface="Calibri"/>
                        </a:rPr>
                        <a:t>Figure 155: Global Market Average Selling Price by Sales Channel, US$/MT, 2026 and 2036</a:t>
                      </a:r>
                      <a:endParaRPr sz="1050"/>
                    </a:p>
                  </a:txBody>
                  <a:tcPr marL="9525" marR="9525" marT="9525" marB="0" anchor="ctr"/>
                </a:tc>
              </a:tr>
              <a:tr h="170045">
                <a:tc>
                  <a:txBody>
                    <a:bodyPr wrap="square"/>
                    <a:lstStyle/>
                    <a:p>
                      <a:pPr algn="l"/>
                      <a:r>
                        <a:rPr sz="1050" b="0" i="0">
                          <a:solidFill>
                            <a:srgbClr val="000000"/>
                          </a:solidFill>
                          <a:latin typeface="Calibri"/>
                        </a:rPr>
                        <a:t>Figure 156: Global Market Value Chain Structure, 2026</a:t>
                      </a:r>
                      <a:endParaRPr sz="1050"/>
                    </a:p>
                  </a:txBody>
                  <a:tcPr marL="9525" marR="9525" marT="9525" marB="0" anchor="ctr"/>
                </a:tc>
              </a:tr>
              <a:tr h="170045">
                <a:tc>
                  <a:txBody>
                    <a:bodyPr wrap="square"/>
                    <a:lstStyle/>
                    <a:p>
                      <a:pPr algn="l"/>
                      <a:r>
                        <a:rPr sz="1050" b="0" i="0">
                          <a:solidFill>
                            <a:srgbClr val="000000"/>
                          </a:solidFill>
                          <a:latin typeface="Calibri"/>
                        </a:rPr>
                        <a:t>Figure 157: Global Market Margin Distribution across the Value Chain, %, 2026</a:t>
                      </a:r>
                      <a:endParaRPr sz="1050"/>
                    </a:p>
                  </a:txBody>
                  <a:tcPr marL="9525" marR="9525" marT="9525" marB="0" anchor="ctr"/>
                </a:tc>
              </a:tr>
              <a:tr h="170045">
                <a:tc>
                  <a:txBody>
                    <a:bodyPr wrap="square"/>
                    <a:lstStyle/>
                    <a:p>
                      <a:pPr algn="l"/>
                      <a:r>
                        <a:rPr sz="1050" b="0" i="0">
                          <a:solidFill>
                            <a:srgbClr val="000000"/>
                          </a:solidFill>
                          <a:latin typeface="Calibri"/>
                        </a:rPr>
                        <a:t>Figure 158: Global Market Cost Structure Breakdown, %, 2026</a:t>
                      </a:r>
                      <a:endParaRPr sz="1050"/>
                    </a:p>
                  </a:txBody>
                  <a:tcPr marL="9525" marR="9525" marT="9525" marB="0" anchor="ctr"/>
                </a:tc>
              </a:tr>
              <a:tr h="170045">
                <a:tc>
                  <a:txBody>
                    <a:bodyPr wrap="square"/>
                    <a:lstStyle/>
                    <a:p>
                      <a:pPr algn="l"/>
                      <a:r>
                        <a:rPr sz="1050" b="0" i="0">
                          <a:solidFill>
                            <a:srgbClr val="000000"/>
                          </a:solidFill>
                          <a:latin typeface="Calibri"/>
                        </a:rPr>
                        <a:t>Figure 159: Global Market Pricing Pressure Assessment by Product Type, 2026–2036</a:t>
                      </a:r>
                      <a:endParaRPr sz="1050"/>
                    </a:p>
                  </a:txBody>
                  <a:tcPr marL="9525" marR="9525" marT="9525" marB="0" anchor="ctr"/>
                </a:tc>
              </a:tr>
              <a:tr h="170045">
                <a:tc>
                  <a:txBody>
                    <a:bodyPr wrap="square"/>
                    <a:lstStyle/>
                    <a:p>
                      <a:pPr algn="l"/>
                      <a:r>
                        <a:rPr sz="1050" b="0" i="0">
                          <a:solidFill>
                            <a:srgbClr val="000000"/>
                          </a:solidFill>
                          <a:latin typeface="Calibri"/>
                        </a:rPr>
                        <a:t>Figure 160: Global Market Import and Export Share by Region, %, 2025</a:t>
                      </a:r>
                      <a:endParaRPr sz="1050"/>
                    </a:p>
                  </a:txBody>
                  <a:tcPr marL="9525" marR="9525" marT="9525" marB="0" anchor="ctr"/>
                </a:tc>
              </a:tr>
              <a:tr h="170045">
                <a:tc>
                  <a:txBody>
                    <a:bodyPr wrap="square"/>
                    <a:lstStyle/>
                    <a:p>
                      <a:pPr algn="l"/>
                      <a:r>
                        <a:rPr sz="1050" b="0" i="0">
                          <a:solidFill>
                            <a:srgbClr val="000000"/>
                          </a:solidFill>
                          <a:latin typeface="Calibri"/>
                        </a:rPr>
                        <a:t>Figure 161: Global Market Trade Balance by Leading Country, US$ Mn, 2025</a:t>
                      </a:r>
                      <a:endParaRPr sz="1050"/>
                    </a:p>
                  </a:txBody>
                  <a:tcPr marL="9525" marR="9525" marT="9525" marB="0" anchor="ctr"/>
                </a:tc>
              </a:tr>
              <a:tr h="170045">
                <a:tc>
                  <a:txBody>
                    <a:bodyPr wrap="square"/>
                    <a:lstStyle/>
                    <a:p>
                      <a:pPr algn="l"/>
                      <a:r>
                        <a:rPr sz="1050" b="0" i="0">
                          <a:solidFill>
                            <a:srgbClr val="000000"/>
                          </a:solidFill>
                          <a:latin typeface="Calibri"/>
                        </a:rPr>
                        <a:t>Figure 162: Company Market Share in the Global Market, %, 2026</a:t>
                      </a:r>
                      <a:endParaRPr sz="1050"/>
                    </a:p>
                  </a:txBody>
                  <a:tcPr marL="9525" marR="9525" marT="9525" marB="0" anchor="ctr"/>
                </a:tc>
              </a:tr>
              <a:tr h="170045">
                <a:tc>
                  <a:txBody>
                    <a:bodyPr wrap="square"/>
                    <a:lstStyle/>
                    <a:p>
                      <a:pPr algn="l"/>
                      <a:r>
                        <a:rPr sz="1050" b="0" i="0">
                          <a:solidFill>
                            <a:srgbClr val="000000"/>
                          </a:solidFill>
                          <a:latin typeface="Calibri"/>
                        </a:rPr>
                        <a:t>Figure 163: Competitive Positioning of Leading Egg Protein Membrane Manufacturers, 2026</a:t>
                      </a:r>
                      <a:endParaRPr sz="1050"/>
                    </a:p>
                  </a:txBody>
                  <a:tcPr marL="9525" marR="9525" marT="9525" marB="0" anchor="ctr"/>
                </a:tc>
              </a:tr>
              <a:tr h="170045">
                <a:tc>
                  <a:txBody>
                    <a:bodyPr wrap="square"/>
                    <a:lstStyle/>
                    <a:p>
                      <a:pPr algn="l"/>
                      <a:r>
                        <a:rPr sz="1050" b="0" i="0">
                          <a:solidFill>
                            <a:srgbClr val="000000"/>
                          </a:solidFill>
                          <a:latin typeface="Calibri"/>
                        </a:rPr>
                        <a:t>Figure 164: Company Revenue from the Global Market, US$ Mn, 2026</a:t>
                      </a:r>
                      <a:endParaRPr sz="1050"/>
                    </a:p>
                  </a:txBody>
                  <a:tcPr marL="9525" marR="9525" marT="9525" marB="0" anchor="ctr"/>
                </a:tc>
              </a:tr>
              <a:tr h="170045">
                <a:tc>
                  <a:txBody>
                    <a:bodyPr wrap="square"/>
                    <a:lstStyle/>
                    <a:p>
                      <a:pPr algn="l"/>
                      <a:r>
                        <a:rPr sz="1050" b="0" i="0">
                          <a:solidFill>
                            <a:srgbClr val="000000"/>
                          </a:solidFill>
                          <a:latin typeface="Calibri"/>
                        </a:rPr>
                        <a:t>Figure 165: Global Market Concentration by Company Tier, %, 2026</a:t>
                      </a:r>
                      <a:endParaRPr sz="1050"/>
                    </a:p>
                  </a:txBody>
                  <a:tcPr marL="9525" marR="9525" marT="9525" marB="0" anchor="ctr"/>
                </a:tc>
              </a:tr>
              <a:tr h="170045">
                <a:tc>
                  <a:txBody>
                    <a:bodyPr wrap="square"/>
                    <a:lstStyle/>
                    <a:p>
                      <a:pPr algn="l"/>
                      <a:r>
                        <a:rPr sz="1050" b="0" i="0">
                          <a:solidFill>
                            <a:srgbClr val="000000"/>
                          </a:solidFill>
                          <a:latin typeface="Calibri"/>
                        </a:rPr>
                        <a:t>Figure 166: Global Market Competitive Intensity Assessment, 2026</a:t>
                      </a:r>
                      <a:endParaRPr sz="1050"/>
                    </a:p>
                  </a:txBody>
                  <a:tcPr marL="9525" marR="9525" marT="9525" marB="0" anchor="ctr"/>
                </a:tc>
              </a:tr>
              <a:tr h="170045">
                <a:tc>
                  <a:txBody>
                    <a:bodyPr wrap="square"/>
                    <a:lstStyle/>
                    <a:p>
                      <a:pPr algn="l"/>
                      <a:r>
                        <a:rPr sz="1050" b="0" i="0">
                          <a:solidFill>
                            <a:srgbClr val="000000"/>
                          </a:solidFill>
                          <a:latin typeface="Calibri"/>
                        </a:rPr>
                        <a:t>Figure 167: Company Market Share in the North America Market, %, 2026</a:t>
                      </a:r>
                      <a:endParaRPr sz="1050"/>
                    </a:p>
                  </a:txBody>
                  <a:tcPr marL="9525" marR="9525" marT="9525" marB="0" anchor="ctr"/>
                </a:tc>
              </a:tr>
              <a:tr h="170045">
                <a:tc>
                  <a:txBody>
                    <a:bodyPr wrap="square"/>
                    <a:lstStyle/>
                    <a:p>
                      <a:pPr algn="l"/>
                      <a:r>
                        <a:rPr sz="1050" b="0" i="0">
                          <a:solidFill>
                            <a:srgbClr val="000000"/>
                          </a:solidFill>
                          <a:latin typeface="Calibri"/>
                        </a:rPr>
                        <a:t>Figure 168: Company Market Share in the Latin America Market, %, 2026</a:t>
                      </a:r>
                      <a:endParaRPr sz="1050"/>
                    </a:p>
                  </a:txBody>
                  <a:tcPr marL="9525" marR="9525" marT="9525" marB="0" anchor="ctr"/>
                </a:tc>
              </a:tr>
              <a:tr h="170045">
                <a:tc>
                  <a:txBody>
                    <a:bodyPr wrap="square"/>
                    <a:lstStyle/>
                    <a:p>
                      <a:pPr algn="l"/>
                      <a:r>
                        <a:rPr sz="1050" b="0" i="0">
                          <a:solidFill>
                            <a:srgbClr val="000000"/>
                          </a:solidFill>
                          <a:latin typeface="Calibri"/>
                        </a:rPr>
                        <a:t>Figure 169: Company Market Share in the Europe Market, %, 2026</a:t>
                      </a:r>
                      <a:endParaRPr sz="1050"/>
                    </a:p>
                  </a:txBody>
                  <a:tcPr marL="9525" marR="9525" marT="9525" marB="0" anchor="ctr"/>
                </a:tc>
              </a:tr>
              <a:tr h="170045">
                <a:tc>
                  <a:txBody>
                    <a:bodyPr wrap="square"/>
                    <a:lstStyle/>
                    <a:p>
                      <a:pPr algn="l"/>
                      <a:r>
                        <a:rPr sz="1050" b="0" i="0">
                          <a:solidFill>
                            <a:srgbClr val="000000"/>
                          </a:solidFill>
                          <a:latin typeface="Calibri"/>
                        </a:rPr>
                        <a:t>Figure 170: Company Market Share in the East Asia Market, %, 2026</a:t>
                      </a:r>
                      <a:endParaRPr sz="1050"/>
                    </a:p>
                  </a:txBody>
                  <a:tcPr marL="9525" marR="9525" marT="9525" marB="0" anchor="ctr"/>
                </a:tc>
              </a:tr>
              <a:tr h="170045">
                <a:tc>
                  <a:txBody>
                    <a:bodyPr wrap="square"/>
                    <a:lstStyle/>
                    <a:p>
                      <a:pPr algn="l"/>
                      <a:r>
                        <a:rPr sz="1050" b="0" i="0">
                          <a:solidFill>
                            <a:srgbClr val="000000"/>
                          </a:solidFill>
                          <a:latin typeface="Calibri"/>
                        </a:rPr>
                        <a:t>Figure 171: Company Market Share in the South Asia &amp; Pacific Market, %, 2026</a:t>
                      </a:r>
                      <a:endParaRPr sz="1050"/>
                    </a:p>
                  </a:txBody>
                  <a:tcPr marL="9525" marR="9525" marT="9525" marB="0" anchor="ctr"/>
                </a:tc>
              </a:tr>
              <a:tr h="170045">
                <a:tc>
                  <a:txBody>
                    <a:bodyPr wrap="square"/>
                    <a:lstStyle/>
                    <a:p>
                      <a:pPr algn="l"/>
                      <a:r>
                        <a:rPr sz="1050" b="0" i="0">
                          <a:solidFill>
                            <a:srgbClr val="000000"/>
                          </a:solidFill>
                          <a:latin typeface="Calibri"/>
                        </a:rPr>
                        <a:t>Figure 172: Company Market Share in the Middle East and Africa Market, %, 2026</a:t>
                      </a:r>
                      <a:endParaRPr sz="1050"/>
                    </a:p>
                  </a:txBody>
                  <a:tcPr marL="9525" marR="9525" marT="9525" marB="0" anchor="ctr"/>
                </a:tc>
              </a:tr>
              <a:tr h="170045">
                <a:tc>
                  <a:txBody>
                    <a:bodyPr wrap="square"/>
                    <a:lstStyle/>
                    <a:p>
                      <a:pPr algn="l"/>
                      <a:r>
                        <a:rPr sz="1050" b="0" i="0">
                          <a:solidFill>
                            <a:srgbClr val="000000"/>
                          </a:solidFill>
                          <a:latin typeface="Calibri"/>
                        </a:rPr>
                        <a:t>Figure 173: ESM Technologies, LLC: Revenue from the Global Market and Share, US$ Mn and %, 2026</a:t>
                      </a:r>
                      <a:endParaRPr sz="1050"/>
                    </a:p>
                  </a:txBody>
                  <a:tcPr marL="9525" marR="9525" marT="9525" marB="0" anchor="ctr"/>
                </a:tc>
              </a:tr>
              <a:tr h="170045">
                <a:tc>
                  <a:txBody>
                    <a:bodyPr wrap="square"/>
                    <a:lstStyle/>
                    <a:p>
                      <a:pPr algn="l"/>
                      <a:r>
                        <a:rPr sz="1050" b="0" i="0">
                          <a:solidFill>
                            <a:srgbClr val="000000"/>
                          </a:solidFill>
                          <a:latin typeface="Calibri"/>
                        </a:rPr>
                        <a:t>Figure 174: Company: Revenue from the Global Market and Share, US$ Mn and %, 2026</a:t>
                      </a:r>
                      <a:endParaRPr sz="1050"/>
                    </a:p>
                  </a:txBody>
                  <a:tcPr marL="9525" marR="9525" marT="9525" marB="0" anchor="ctr"/>
                </a:tc>
              </a:tr>
              <a:tr h="170045">
                <a:tc>
                  <a:txBody>
                    <a:bodyPr wrap="square"/>
                    <a:lstStyle/>
                    <a:p>
                      <a:pPr algn="l"/>
                      <a:r>
                        <a:rPr sz="1050" b="0" i="0">
                          <a:solidFill>
                            <a:srgbClr val="000000"/>
                          </a:solidFill>
                          <a:latin typeface="Calibri"/>
                        </a:rPr>
                        <a:t>Figure 175: Biova, LLC: Revenue from the Global Market and Share, US$ Mn and %, 2026</a:t>
                      </a:r>
                      <a:endParaRPr sz="1050"/>
                    </a:p>
                  </a:txBody>
                  <a:tcPr marL="9525" marR="9525" marT="9525" marB="0" anchor="ctr"/>
                </a:tc>
              </a:tr>
              <a:tr h="170045">
                <a:tc>
                  <a:txBody>
                    <a:bodyPr wrap="square"/>
                    <a:lstStyle/>
                    <a:p>
                      <a:pPr algn="l"/>
                      <a:r>
                        <a:rPr sz="1050" b="0" i="0">
                          <a:solidFill>
                            <a:srgbClr val="000000"/>
                          </a:solidFill>
                          <a:latin typeface="Calibri"/>
                        </a:rPr>
                        <a:t>Figure 176: Eggnovo S.L.: Revenue from the Global Market and Share, US$ Mn and %, 2026</a:t>
                      </a:r>
                      <a:endParaRPr sz="1050"/>
                    </a:p>
                  </a:txBody>
                  <a:tcPr marL="9525" marR="9525" marT="9525" marB="0" anchor="ctr"/>
                </a:tc>
              </a:tr>
              <a:tr h="333289">
                <a:tc>
                  <a:txBody>
                    <a:bodyPr wrap="square"/>
                    <a:lstStyle/>
                    <a:p>
                      <a:pPr algn="l"/>
                      <a:r>
                        <a:rPr sz="1050" b="0" i="0">
                          <a:solidFill>
                            <a:srgbClr val="000000"/>
                          </a:solidFill>
                          <a:latin typeface="Calibri"/>
                        </a:rPr>
                        <a:t>Figure 177: Dutch Eggmembrane Protein Powder: Revenue from the Global Market and Share, US$ Mn and %, 2026</a:t>
                      </a:r>
                      <a:endParaRPr sz="1050"/>
                    </a:p>
                  </a:txBody>
                  <a:tcPr marL="9525" marR="9525" marT="9525" marB="0" anchor="ctr"/>
                </a:tc>
              </a:tr>
              <a:tr h="170045">
                <a:tc>
                  <a:txBody>
                    <a:bodyPr wrap="square"/>
                    <a:lstStyle/>
                    <a:p>
                      <a:pPr algn="l"/>
                      <a:r>
                        <a:rPr sz="1050" b="0" i="0">
                          <a:solidFill>
                            <a:srgbClr val="000000"/>
                          </a:solidFill>
                          <a:latin typeface="Calibri"/>
                        </a:rPr>
                        <a:t>Figure 178: Kewpie Corporation: Revenue from the Global Market and Share, US$ Mn and %, 2026</a:t>
                      </a:r>
                      <a:endParaRPr sz="1050"/>
                    </a:p>
                  </a:txBody>
                  <a:tcPr marL="9525" marR="9525" marT="9525" marB="0" anchor="ctr"/>
                </a:tc>
              </a:tr>
              <a:tr h="170045">
                <a:tc>
                  <a:txBody>
                    <a:bodyPr wrap="square"/>
                    <a:lstStyle/>
                    <a:p>
                      <a:pPr algn="l"/>
                      <a:r>
                        <a:rPr sz="1050" b="0" i="0">
                          <a:solidFill>
                            <a:srgbClr val="000000"/>
                          </a:solidFill>
                          <a:latin typeface="Calibri"/>
                        </a:rPr>
                        <a:t>Figure 179: INNAIN: Revenue from the Global Market and Share, US$ Mn and %, 2026</a:t>
                      </a:r>
                      <a:endParaRPr sz="1050"/>
                    </a:p>
                  </a:txBody>
                  <a:tcPr marL="9525" marR="9525" marT="9525" marB="0" anchor="ctr"/>
                </a:tc>
              </a:tr>
              <a:tr h="170045">
                <a:tc>
                  <a:txBody>
                    <a:bodyPr wrap="square"/>
                    <a:lstStyle/>
                    <a:p>
                      <a:pPr algn="l"/>
                      <a:r>
                        <a:rPr sz="1050" b="0" i="0">
                          <a:solidFill>
                            <a:srgbClr val="000000"/>
                          </a:solidFill>
                          <a:latin typeface="Calibri"/>
                        </a:rPr>
                        <a:t>Figure 180: Ecovatec Solutions Inc.: Revenue from the Global Market and Share, US$ Mn and %, 2026</a:t>
                      </a:r>
                      <a:endParaRPr sz="1050"/>
                    </a:p>
                  </a:txBody>
                  <a:tcPr marL="9525" marR="9525" marT="9525" marB="0" anchor="ctr"/>
                </a:tc>
              </a:tr>
              <a:tr h="170045">
                <a:tc>
                  <a:txBody>
                    <a:bodyPr wrap="square"/>
                    <a:lstStyle/>
                    <a:p>
                      <a:pPr algn="l"/>
                      <a:r>
                        <a:rPr sz="1050" b="0" i="0">
                          <a:solidFill>
                            <a:srgbClr val="000000"/>
                          </a:solidFill>
                          <a:latin typeface="Calibri"/>
                        </a:rPr>
                        <a:t>Figure 181: Biovotec: Revenue from the Global Market and Share, US$ Mn and %, 2026</a:t>
                      </a:r>
                      <a:endParaRPr sz="1050"/>
                    </a:p>
                  </a:txBody>
                  <a:tcPr marL="9525" marR="9525" marT="9525" marB="0" anchor="ctr"/>
                </a:tc>
              </a:tr>
              <a:tr h="333289">
                <a:tc>
                  <a:txBody>
                    <a:bodyPr wrap="square"/>
                    <a:lstStyle/>
                    <a:p>
                      <a:pPr algn="l"/>
                      <a:r>
                        <a:rPr sz="1050" b="0" i="0">
                          <a:solidFill>
                            <a:srgbClr val="000000"/>
                          </a:solidFill>
                          <a:latin typeface="Calibri"/>
                        </a:rPr>
                        <a:t>Figure 182: Microcore Research Laboratories India Pvt. Ltd.: Revenue from the Global Market and Share, US$ Mn and %, 2026</a:t>
                      </a:r>
                      <a:endParaRPr sz="1050"/>
                    </a:p>
                  </a:txBody>
                  <a:tcPr marL="9525" marR="9525" marT="9525" marB="0" anchor="ctr"/>
                </a:tc>
              </a:tr>
            </a:tbl>
          </a:graphicData>
        </a:graphic>
      </p:graphicFrame>
      <p:sp>
        <p:nvSpPr>
          <p:cNvPr id="8" name="Rectangle 7"/>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76200"/>
            <a:ext cx="10896600"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List of Figures (4/4)</a:t>
            </a:r>
          </a:p>
        </p:txBody>
      </p:sp>
      <p:graphicFrame>
        <p:nvGraphicFramePr>
          <p:cNvPr id="6" name="TMR Contents Table"/>
          <p:cNvGraphicFramePr>
            <a:graphicFrameLocks noGrp="1"/>
          </p:cNvGraphicFramePr>
          <p:nvPr/>
        </p:nvGraphicFramePr>
        <p:xfrm>
          <a:off x="142875" y="981075"/>
          <a:ext cx="5876925" cy="3000384"/>
        </p:xfrm>
        <a:graphic>
          <a:graphicData uri="http://schemas.openxmlformats.org/drawingml/2006/table">
            <a:tbl>
              <a:tblPr>
                <a:tableStyleId>{3B4B98B0-60AC-42C2-AFA5-B58CD77FA1E5}</a:tableStyleId>
              </a:tblPr>
              <a:tblGrid>
                <a:gridCol w="5876925"/>
              </a:tblGrid>
              <a:tr h="166688">
                <a:tc>
                  <a:txBody>
                    <a:bodyPr wrap="square"/>
                    <a:lstStyle/>
                    <a:p>
                      <a:pPr algn="l"/>
                      <a:r>
                        <a:rPr sz="1050" b="0" i="0">
                          <a:solidFill>
                            <a:srgbClr val="000000"/>
                          </a:solidFill>
                          <a:latin typeface="Calibri"/>
                        </a:rPr>
                        <a:t>Figure 183: Global Market Strategic Developments by Type, %, 2025–2026</a:t>
                      </a:r>
                      <a:endParaRPr sz="1050"/>
                    </a:p>
                  </a:txBody>
                  <a:tcPr marL="9525" marR="9525" marT="9525" marB="0" anchor="ctr"/>
                </a:tc>
              </a:tr>
              <a:tr h="166688">
                <a:tc>
                  <a:txBody>
                    <a:bodyPr wrap="square"/>
                    <a:lstStyle/>
                    <a:p>
                      <a:pPr algn="l"/>
                      <a:r>
                        <a:rPr sz="1050" b="0" i="0">
                          <a:solidFill>
                            <a:srgbClr val="000000"/>
                          </a:solidFill>
                          <a:latin typeface="Calibri"/>
                        </a:rPr>
                        <a:t>Figure 184: Global Market Company Footprint by Region, 2026</a:t>
                      </a:r>
                      <a:endParaRPr sz="1050"/>
                    </a:p>
                  </a:txBody>
                  <a:tcPr marL="9525" marR="9525" marT="9525" marB="0" anchor="ctr"/>
                </a:tc>
              </a:tr>
              <a:tr h="166688">
                <a:tc>
                  <a:txBody>
                    <a:bodyPr wrap="square"/>
                    <a:lstStyle/>
                    <a:p>
                      <a:pPr algn="l"/>
                      <a:r>
                        <a:rPr sz="1050" b="0" i="0">
                          <a:solidFill>
                            <a:srgbClr val="000000"/>
                          </a:solidFill>
                          <a:latin typeface="Calibri"/>
                        </a:rPr>
                        <a:t>Figure 185: Global Market Value Forecast by Scenario, US$ Mn, 2026–2036</a:t>
                      </a:r>
                      <a:endParaRPr sz="1050"/>
                    </a:p>
                  </a:txBody>
                  <a:tcPr marL="9525" marR="9525" marT="9525" marB="0" anchor="ctr"/>
                </a:tc>
              </a:tr>
              <a:tr h="166688">
                <a:tc>
                  <a:txBody>
                    <a:bodyPr wrap="square"/>
                    <a:lstStyle/>
                    <a:p>
                      <a:pPr algn="l"/>
                      <a:r>
                        <a:rPr sz="1050" b="0" i="0">
                          <a:solidFill>
                            <a:srgbClr val="000000"/>
                          </a:solidFill>
                          <a:latin typeface="Calibri"/>
                        </a:rPr>
                        <a:t>Figure 186: Global Market YoY Growth by Scenario, %, 2026–2036</a:t>
                      </a:r>
                      <a:endParaRPr sz="1050"/>
                    </a:p>
                  </a:txBody>
                  <a:tcPr marL="9525" marR="9525" marT="9525" marB="0" anchor="ctr"/>
                </a:tc>
              </a:tr>
              <a:tr h="166688">
                <a:tc>
                  <a:txBody>
                    <a:bodyPr wrap="square"/>
                    <a:lstStyle/>
                    <a:p>
                      <a:pPr algn="l"/>
                      <a:r>
                        <a:rPr sz="1050" b="0" i="0">
                          <a:solidFill>
                            <a:srgbClr val="000000"/>
                          </a:solidFill>
                          <a:latin typeface="Calibri"/>
                        </a:rPr>
                        <a:t>Figure 187: Global Market Key Trends Impact Assessment, 2026–2036</a:t>
                      </a:r>
                      <a:endParaRPr sz="1050"/>
                    </a:p>
                  </a:txBody>
                  <a:tcPr marL="9525" marR="9525" marT="9525" marB="0" anchor="ctr"/>
                </a:tc>
              </a:tr>
              <a:tr h="166688">
                <a:tc>
                  <a:txBody>
                    <a:bodyPr wrap="square"/>
                    <a:lstStyle/>
                    <a:p>
                      <a:pPr algn="l"/>
                      <a:r>
                        <a:rPr sz="1050" b="0" i="0">
                          <a:solidFill>
                            <a:srgbClr val="000000"/>
                          </a:solidFill>
                          <a:latin typeface="Calibri"/>
                        </a:rPr>
                        <a:t>Figure 188: Global Market Drivers, Restraints and Opportunities Impact, 2026–2036</a:t>
                      </a:r>
                      <a:endParaRPr sz="1050"/>
                    </a:p>
                  </a:txBody>
                  <a:tcPr marL="9525" marR="9525" marT="9525" marB="0" anchor="ctr"/>
                </a:tc>
              </a:tr>
              <a:tr h="166688">
                <a:tc>
                  <a:txBody>
                    <a:bodyPr wrap="square"/>
                    <a:lstStyle/>
                    <a:p>
                      <a:pPr algn="l"/>
                      <a:r>
                        <a:rPr sz="1050" b="0" i="0">
                          <a:solidFill>
                            <a:srgbClr val="000000"/>
                          </a:solidFill>
                          <a:latin typeface="Calibri"/>
                        </a:rPr>
                        <a:t>Figure 189: Global Market Opportunity Map by Region and Product Type, 2026–2036</a:t>
                      </a:r>
                      <a:endParaRPr sz="1050"/>
                    </a:p>
                  </a:txBody>
                  <a:tcPr marL="9525" marR="9525" marT="9525" marB="0" anchor="ctr"/>
                </a:tc>
              </a:tr>
              <a:tr h="166688">
                <a:tc>
                  <a:txBody>
                    <a:bodyPr wrap="square"/>
                    <a:lstStyle/>
                    <a:p>
                      <a:pPr algn="l"/>
                      <a:r>
                        <a:rPr sz="1050" b="0" i="0">
                          <a:solidFill>
                            <a:srgbClr val="000000"/>
                          </a:solidFill>
                          <a:latin typeface="Calibri"/>
                        </a:rPr>
                        <a:t>Figure 190: Global Market Technology Adoption Roadmap, 2021–2036</a:t>
                      </a:r>
                      <a:endParaRPr sz="1050"/>
                    </a:p>
                  </a:txBody>
                  <a:tcPr marL="9525" marR="9525" marT="9525" marB="0" anchor="ctr"/>
                </a:tc>
              </a:tr>
              <a:tr h="166688">
                <a:tc>
                  <a:txBody>
                    <a:bodyPr wrap="square"/>
                    <a:lstStyle/>
                    <a:p>
                      <a:pPr algn="l"/>
                      <a:r>
                        <a:rPr sz="1050" b="0" i="0">
                          <a:solidFill>
                            <a:srgbClr val="000000"/>
                          </a:solidFill>
                          <a:latin typeface="Calibri"/>
                        </a:rPr>
                        <a:t>Figure 191: Global Market Emerging Opportunity Pockets by Product Type, US$ Mn, 2026–2036</a:t>
                      </a:r>
                      <a:endParaRPr sz="1050"/>
                    </a:p>
                  </a:txBody>
                  <a:tcPr marL="9525" marR="9525" marT="9525" marB="0" anchor="ctr"/>
                </a:tc>
              </a:tr>
              <a:tr h="166688">
                <a:tc>
                  <a:txBody>
                    <a:bodyPr wrap="square"/>
                    <a:lstStyle/>
                    <a:p>
                      <a:pPr algn="l"/>
                      <a:r>
                        <a:rPr sz="1050" b="0" i="0">
                          <a:solidFill>
                            <a:srgbClr val="000000"/>
                          </a:solidFill>
                          <a:latin typeface="Calibri"/>
                        </a:rPr>
                        <a:t>Figure 192: Global Market Risk and Sensitivity Analysis, %, 2026–2036</a:t>
                      </a:r>
                      <a:endParaRPr sz="1050"/>
                    </a:p>
                  </a:txBody>
                  <a:tcPr marL="9525" marR="9525" marT="9525" marB="0" anchor="ctr"/>
                </a:tc>
              </a:tr>
              <a:tr h="166688">
                <a:tc>
                  <a:txBody>
                    <a:bodyPr wrap="square"/>
                    <a:lstStyle/>
                    <a:p>
                      <a:pPr algn="l"/>
                      <a:r>
                        <a:rPr sz="1050" b="0" i="0">
                          <a:solidFill>
                            <a:srgbClr val="000000"/>
                          </a:solidFill>
                          <a:latin typeface="Calibri"/>
                        </a:rPr>
                        <a:t>Figure 193: Global Market Regulatory Landscape Timeline, 2021–2036</a:t>
                      </a:r>
                      <a:endParaRPr sz="1050"/>
                    </a:p>
                  </a:txBody>
                  <a:tcPr marL="9525" marR="9525" marT="9525" marB="0" anchor="ctr"/>
                </a:tc>
              </a:tr>
              <a:tr h="166688">
                <a:tc>
                  <a:txBody>
                    <a:bodyPr wrap="square"/>
                    <a:lstStyle/>
                    <a:p>
                      <a:pPr algn="l"/>
                      <a:r>
                        <a:rPr sz="1050" b="0" i="0">
                          <a:solidFill>
                            <a:srgbClr val="000000"/>
                          </a:solidFill>
                          <a:latin typeface="Calibri"/>
                        </a:rPr>
                        <a:t>Figure 194: Global Market Investment Hotspots by Region, 2026–2036</a:t>
                      </a:r>
                      <a:endParaRPr sz="1050"/>
                    </a:p>
                  </a:txBody>
                  <a:tcPr marL="9525" marR="9525" marT="9525" marB="0" anchor="ctr"/>
                </a:tc>
              </a:tr>
              <a:tr h="166688">
                <a:tc>
                  <a:txBody>
                    <a:bodyPr wrap="square"/>
                    <a:lstStyle/>
                    <a:p>
                      <a:pPr algn="l"/>
                      <a:r>
                        <a:rPr sz="1050" b="0" i="0">
                          <a:solidFill>
                            <a:srgbClr val="000000"/>
                          </a:solidFill>
                          <a:latin typeface="Calibri"/>
                        </a:rPr>
                        <a:t>Figure 195: Global Market Innovation Pipeline Assessment, 2026</a:t>
                      </a:r>
                      <a:endParaRPr sz="1050"/>
                    </a:p>
                  </a:txBody>
                  <a:tcPr marL="9525" marR="9525" marT="9525" marB="0" anchor="ctr"/>
                </a:tc>
              </a:tr>
              <a:tr h="166688">
                <a:tc>
                  <a:txBody>
                    <a:bodyPr wrap="square"/>
                    <a:lstStyle/>
                    <a:p>
                      <a:pPr algn="l"/>
                      <a:r>
                        <a:rPr sz="1050" b="0" i="0">
                          <a:solidFill>
                            <a:srgbClr val="000000"/>
                          </a:solidFill>
                          <a:latin typeface="Calibri"/>
                        </a:rPr>
                        <a:t>Figure 196: Global Market White-Space Opportunity Assessment, 2026–2036</a:t>
                      </a:r>
                      <a:endParaRPr sz="1050"/>
                    </a:p>
                  </a:txBody>
                  <a:tcPr marL="9525" marR="9525" marT="9525" marB="0" anchor="ctr"/>
                </a:tc>
              </a:tr>
              <a:tr h="166688">
                <a:tc>
                  <a:txBody>
                    <a:bodyPr wrap="square"/>
                    <a:lstStyle/>
                    <a:p>
                      <a:pPr algn="l"/>
                      <a:r>
                        <a:rPr sz="1050" b="0" i="0">
                          <a:solidFill>
                            <a:srgbClr val="000000"/>
                          </a:solidFill>
                          <a:latin typeface="Calibri"/>
                        </a:rPr>
                        <a:t>Figure 197: Global Market Customer Purchase Criteria Assessment, 2026</a:t>
                      </a:r>
                      <a:endParaRPr sz="1050"/>
                    </a:p>
                  </a:txBody>
                  <a:tcPr marL="9525" marR="9525" marT="9525" marB="0" anchor="ctr"/>
                </a:tc>
              </a:tr>
              <a:tr h="166688">
                <a:tc>
                  <a:txBody>
                    <a:bodyPr wrap="square"/>
                    <a:lstStyle/>
                    <a:p>
                      <a:pPr algn="l"/>
                      <a:r>
                        <a:rPr sz="1050" b="0" i="0">
                          <a:solidFill>
                            <a:srgbClr val="000000"/>
                          </a:solidFill>
                          <a:latin typeface="Calibri"/>
                        </a:rPr>
                        <a:t>Figure 198: Global Market Go-to-Market Priority by Region, 2026–2036</a:t>
                      </a:r>
                      <a:endParaRPr sz="1050"/>
                    </a:p>
                  </a:txBody>
                  <a:tcPr marL="9525" marR="9525" marT="9525" marB="0" anchor="ctr"/>
                </a:tc>
              </a:tr>
              <a:tr h="166688">
                <a:tc>
                  <a:txBody>
                    <a:bodyPr wrap="square"/>
                    <a:lstStyle/>
                    <a:p>
                      <a:pPr algn="l"/>
                      <a:r>
                        <a:rPr sz="1050" b="0" i="0">
                          <a:solidFill>
                            <a:srgbClr val="000000"/>
                          </a:solidFill>
                          <a:latin typeface="Calibri"/>
                        </a:rPr>
                        <a:t>Figure 199: Global Market Unmet Needs Analysis by Product Type, 2026</a:t>
                      </a:r>
                      <a:endParaRPr sz="1050"/>
                    </a:p>
                  </a:txBody>
                  <a:tcPr marL="9525" marR="9525" marT="9525" marB="0" anchor="ctr"/>
                </a:tc>
              </a:tr>
              <a:tr h="166688">
                <a:tc>
                  <a:txBody>
                    <a:bodyPr wrap="square"/>
                    <a:lstStyle/>
                    <a:p>
                      <a:pPr algn="l"/>
                      <a:r>
                        <a:rPr sz="1050" b="0" i="0">
                          <a:solidFill>
                            <a:srgbClr val="000000"/>
                          </a:solidFill>
                          <a:latin typeface="Calibri"/>
                        </a:rPr>
                        <a:t>Figure 200: Global Market Right-to-Win Assessment, 2026</a:t>
                      </a:r>
                      <a:endParaRPr sz="1050"/>
                    </a:p>
                  </a:txBody>
                  <a:tcPr marL="9525" marR="9525" marT="9525" marB="0" anchor="ctr"/>
                </a:tc>
              </a:tr>
            </a:tbl>
          </a:graphicData>
        </a:graphic>
      </p:graphicFrame>
      <p:sp>
        <p:nvSpPr>
          <p:cNvPr id="7" name="Rectangle 6"/>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76200"/>
            <a:ext cx="10896600"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List of Tables (1/4)</a:t>
            </a:r>
          </a:p>
        </p:txBody>
      </p:sp>
      <p:graphicFrame>
        <p:nvGraphicFramePr>
          <p:cNvPr id="6" name="TMR Contents Table"/>
          <p:cNvGraphicFramePr>
            <a:graphicFrameLocks noGrp="1"/>
          </p:cNvGraphicFramePr>
          <p:nvPr/>
        </p:nvGraphicFramePr>
        <p:xfrm>
          <a:off x="142875" y="981075"/>
          <a:ext cx="5876925" cy="5257812"/>
        </p:xfrm>
        <a:graphic>
          <a:graphicData uri="http://schemas.openxmlformats.org/drawingml/2006/table">
            <a:tbl>
              <a:tblPr>
                <a:tableStyleId>{3B4B98B0-60AC-42C2-AFA5-B58CD77FA1E5}</a:tableStyleId>
              </a:tblPr>
              <a:tblGrid>
                <a:gridCol w="5876925"/>
              </a:tblGrid>
              <a:tr h="169826">
                <a:tc>
                  <a:txBody>
                    <a:bodyPr wrap="square"/>
                    <a:lstStyle/>
                    <a:p>
                      <a:pPr algn="l"/>
                      <a:r>
                        <a:rPr sz="1050" b="0" i="0">
                          <a:solidFill>
                            <a:srgbClr val="000000"/>
                          </a:solidFill>
                          <a:latin typeface="Calibri"/>
                        </a:rPr>
                        <a:t>Table 1: Global Market Snapshot: Value, Volume and CAGR, US$ Mn, 2025–2036</a:t>
                      </a:r>
                      <a:endParaRPr sz="1050"/>
                    </a:p>
                  </a:txBody>
                  <a:tcPr marL="9525" marR="9525" marT="9525" marB="0" anchor="ctr"/>
                </a:tc>
              </a:tr>
              <a:tr h="169826">
                <a:tc>
                  <a:txBody>
                    <a:bodyPr wrap="square"/>
                    <a:lstStyle/>
                    <a:p>
                      <a:pPr algn="l"/>
                      <a:r>
                        <a:rPr sz="1050" b="0" i="0">
                          <a:solidFill>
                            <a:srgbClr val="000000"/>
                          </a:solidFill>
                          <a:latin typeface="Calibri"/>
                        </a:rPr>
                        <a:t>Table 2: Global Market Taxonomy by Segment, 2026</a:t>
                      </a:r>
                      <a:endParaRPr sz="1050"/>
                    </a:p>
                  </a:txBody>
                  <a:tcPr marL="9525" marR="9525" marT="9525" marB="0" anchor="ctr"/>
                </a:tc>
              </a:tr>
              <a:tr h="169826">
                <a:tc>
                  <a:txBody>
                    <a:bodyPr wrap="square"/>
                    <a:lstStyle/>
                    <a:p>
                      <a:pPr algn="l"/>
                      <a:r>
                        <a:rPr sz="1050" b="0" i="0">
                          <a:solidFill>
                            <a:srgbClr val="000000"/>
                          </a:solidFill>
                          <a:latin typeface="Calibri"/>
                        </a:rPr>
                        <a:t>Table 3: Global Market Scope: Inclusions and Exclusions by Segment, 2026</a:t>
                      </a:r>
                      <a:endParaRPr sz="1050"/>
                    </a:p>
                  </a:txBody>
                  <a:tcPr marL="9525" marR="9525" marT="9525" marB="0" anchor="ctr"/>
                </a:tc>
              </a:tr>
              <a:tr h="169826">
                <a:tc>
                  <a:txBody>
                    <a:bodyPr wrap="square"/>
                    <a:lstStyle/>
                    <a:p>
                      <a:pPr algn="l"/>
                      <a:r>
                        <a:rPr sz="1050" b="0" i="0">
                          <a:solidFill>
                            <a:srgbClr val="000000"/>
                          </a:solidFill>
                          <a:latin typeface="Calibri"/>
                        </a:rPr>
                        <a:t>Table 4: Global Market Key Demand Drivers and Impact Rating, 2026–2036</a:t>
                      </a:r>
                      <a:endParaRPr sz="1050"/>
                    </a:p>
                  </a:txBody>
                  <a:tcPr marL="9525" marR="9525" marT="9525" marB="0" anchor="ctr"/>
                </a:tc>
              </a:tr>
              <a:tr h="169826">
                <a:tc>
                  <a:txBody>
                    <a:bodyPr wrap="square"/>
                    <a:lstStyle/>
                    <a:p>
                      <a:pPr algn="l"/>
                      <a:r>
                        <a:rPr sz="1050" b="0" i="0">
                          <a:solidFill>
                            <a:srgbClr val="000000"/>
                          </a:solidFill>
                          <a:latin typeface="Calibri"/>
                        </a:rPr>
                        <a:t>Table 5: Global Market Key Restraints and Impact Rating, 2026–2036</a:t>
                      </a:r>
                      <a:endParaRPr sz="1050"/>
                    </a:p>
                  </a:txBody>
                  <a:tcPr marL="9525" marR="9525" marT="9525" marB="0" anchor="ctr"/>
                </a:tc>
              </a:tr>
              <a:tr h="169826">
                <a:tc>
                  <a:txBody>
                    <a:bodyPr wrap="square"/>
                    <a:lstStyle/>
                    <a:p>
                      <a:pPr algn="l"/>
                      <a:r>
                        <a:rPr sz="1050" b="0" i="0">
                          <a:solidFill>
                            <a:srgbClr val="000000"/>
                          </a:solidFill>
                          <a:latin typeface="Calibri"/>
                        </a:rPr>
                        <a:t>Table 6: Global Market Analyst Recommendations by Segment, 2026–2036</a:t>
                      </a:r>
                      <a:endParaRPr sz="1050"/>
                    </a:p>
                  </a:txBody>
                  <a:tcPr marL="9525" marR="9525" marT="9525" marB="0" anchor="ctr"/>
                </a:tc>
              </a:tr>
              <a:tr h="169826">
                <a:tc>
                  <a:txBody>
                    <a:bodyPr wrap="square"/>
                    <a:lstStyle/>
                    <a:p>
                      <a:pPr algn="l"/>
                      <a:r>
                        <a:rPr sz="1050" b="0" i="0">
                          <a:solidFill>
                            <a:srgbClr val="000000"/>
                          </a:solidFill>
                          <a:latin typeface="Calibri"/>
                        </a:rPr>
                        <a:t>Table 7: Global Market Key Market Signals and Data Points, 2026</a:t>
                      </a:r>
                      <a:endParaRPr sz="1050"/>
                    </a:p>
                  </a:txBody>
                  <a:tcPr marL="9525" marR="9525" marT="9525" marB="0" anchor="ctr"/>
                </a:tc>
              </a:tr>
              <a:tr h="169826">
                <a:tc>
                  <a:txBody>
                    <a:bodyPr wrap="square"/>
                    <a:lstStyle/>
                    <a:p>
                      <a:pPr algn="l"/>
                      <a:r>
                        <a:rPr sz="1050" b="0" i="0">
                          <a:solidFill>
                            <a:srgbClr val="000000"/>
                          </a:solidFill>
                          <a:latin typeface="Calibri"/>
                        </a:rPr>
                        <a:t>Table 8: Global Market Value and YoY Growth, US$ Mn and %, 2021–2036</a:t>
                      </a:r>
                      <a:endParaRPr sz="1050"/>
                    </a:p>
                  </a:txBody>
                  <a:tcPr marL="9525" marR="9525" marT="9525" marB="0" anchor="ctr"/>
                </a:tc>
              </a:tr>
              <a:tr h="169826">
                <a:tc>
                  <a:txBody>
                    <a:bodyPr wrap="square"/>
                    <a:lstStyle/>
                    <a:p>
                      <a:pPr algn="l"/>
                      <a:r>
                        <a:rPr sz="1050" b="0" i="0">
                          <a:solidFill>
                            <a:srgbClr val="000000"/>
                          </a:solidFill>
                          <a:latin typeface="Calibri"/>
                        </a:rPr>
                        <a:t>Table 9: Global Market Historical Value Analysis, US$ Mn, 2021–2025</a:t>
                      </a:r>
                      <a:endParaRPr sz="1050"/>
                    </a:p>
                  </a:txBody>
                  <a:tcPr marL="9525" marR="9525" marT="9525" marB="0" anchor="ctr"/>
                </a:tc>
              </a:tr>
              <a:tr h="169826">
                <a:tc>
                  <a:txBody>
                    <a:bodyPr wrap="square"/>
                    <a:lstStyle/>
                    <a:p>
                      <a:pPr algn="l"/>
                      <a:r>
                        <a:rPr sz="1050" b="0" i="0">
                          <a:solidFill>
                            <a:srgbClr val="000000"/>
                          </a:solidFill>
                          <a:latin typeface="Calibri"/>
                        </a:rPr>
                        <a:t>Table 10: Global Market Forecast Value Analysis, US$ Mn, 2026–2036</a:t>
                      </a:r>
                      <a:endParaRPr sz="1050"/>
                    </a:p>
                  </a:txBody>
                  <a:tcPr marL="9525" marR="9525" marT="9525" marB="0" anchor="ctr"/>
                </a:tc>
              </a:tr>
              <a:tr h="169826">
                <a:tc>
                  <a:txBody>
                    <a:bodyPr wrap="square"/>
                    <a:lstStyle/>
                    <a:p>
                      <a:pPr algn="l"/>
                      <a:r>
                        <a:rPr sz="1050" b="0" i="0">
                          <a:solidFill>
                            <a:srgbClr val="000000"/>
                          </a:solidFill>
                          <a:latin typeface="Calibri"/>
                        </a:rPr>
                        <a:t>Table 11: Global Market Volume and YoY Growth, MT and %, 2021–2036</a:t>
                      </a:r>
                      <a:endParaRPr sz="1050"/>
                    </a:p>
                  </a:txBody>
                  <a:tcPr marL="9525" marR="9525" marT="9525" marB="0" anchor="ctr"/>
                </a:tc>
              </a:tr>
              <a:tr h="169826">
                <a:tc>
                  <a:txBody>
                    <a:bodyPr wrap="square"/>
                    <a:lstStyle/>
                    <a:p>
                      <a:pPr algn="l"/>
                      <a:r>
                        <a:rPr sz="1050" b="0" i="0">
                          <a:solidFill>
                            <a:srgbClr val="000000"/>
                          </a:solidFill>
                          <a:latin typeface="Calibri"/>
                        </a:rPr>
                        <a:t>Table 12: Global Market Volume Forecast, MT, 2026–2036</a:t>
                      </a:r>
                      <a:endParaRPr sz="1050"/>
                    </a:p>
                  </a:txBody>
                  <a:tcPr marL="9525" marR="9525" marT="9525" marB="0" anchor="ctr"/>
                </a:tc>
              </a:tr>
              <a:tr h="169826">
                <a:tc>
                  <a:txBody>
                    <a:bodyPr wrap="square"/>
                    <a:lstStyle/>
                    <a:p>
                      <a:pPr algn="l"/>
                      <a:r>
                        <a:rPr sz="1050" b="0" i="0">
                          <a:solidFill>
                            <a:srgbClr val="000000"/>
                          </a:solidFill>
                          <a:latin typeface="Calibri"/>
                        </a:rPr>
                        <a:t>Table 13: Global Market Average Selling Price, US$/MT, 2021–2036</a:t>
                      </a:r>
                      <a:endParaRPr sz="1050"/>
                    </a:p>
                  </a:txBody>
                  <a:tcPr marL="9525" marR="9525" marT="9525" marB="0" anchor="ctr"/>
                </a:tc>
              </a:tr>
              <a:tr h="169826">
                <a:tc>
                  <a:txBody>
                    <a:bodyPr wrap="square"/>
                    <a:lstStyle/>
                    <a:p>
                      <a:pPr algn="l"/>
                      <a:r>
                        <a:rPr sz="1050" b="0" i="0">
                          <a:solidFill>
                            <a:srgbClr val="000000"/>
                          </a:solidFill>
                          <a:latin typeface="Calibri"/>
                        </a:rPr>
                        <a:t>Table 14: Global Market Average Selling Price YoY Change, %, 2026–2036</a:t>
                      </a:r>
                      <a:endParaRPr sz="1050"/>
                    </a:p>
                  </a:txBody>
                  <a:tcPr marL="9525" marR="9525" marT="9525" marB="0" anchor="ctr"/>
                </a:tc>
              </a:tr>
              <a:tr h="169826">
                <a:tc>
                  <a:txBody>
                    <a:bodyPr wrap="square"/>
                    <a:lstStyle/>
                    <a:p>
                      <a:pPr algn="l"/>
                      <a:r>
                        <a:rPr sz="1050" b="0" i="0">
                          <a:solidFill>
                            <a:srgbClr val="000000"/>
                          </a:solidFill>
                          <a:latin typeface="Calibri"/>
                        </a:rPr>
                        <a:t>Table 15: Global Market CAGR and Absolute $ Opportunity, %, US$ Mn, 2026–2036</a:t>
                      </a:r>
                      <a:endParaRPr sz="1050"/>
                    </a:p>
                  </a:txBody>
                  <a:tcPr marL="9525" marR="9525" marT="9525" marB="0" anchor="ctr"/>
                </a:tc>
              </a:tr>
              <a:tr h="169826">
                <a:tc>
                  <a:txBody>
                    <a:bodyPr wrap="square"/>
                    <a:lstStyle/>
                    <a:p>
                      <a:pPr algn="l"/>
                      <a:r>
                        <a:rPr sz="1050" b="0" i="0">
                          <a:solidFill>
                            <a:srgbClr val="000000"/>
                          </a:solidFill>
                          <a:latin typeface="Calibri"/>
                        </a:rPr>
                        <a:t>Table 16: Global Market Absolute $ Opportunity by Year, US$ Mn, 2026–2036</a:t>
                      </a:r>
                      <a:endParaRPr sz="1050"/>
                    </a:p>
                  </a:txBody>
                  <a:tcPr marL="9525" marR="9525" marT="9525" marB="0" anchor="ctr"/>
                </a:tc>
              </a:tr>
              <a:tr h="169826">
                <a:tc>
                  <a:txBody>
                    <a:bodyPr wrap="square"/>
                    <a:lstStyle/>
                    <a:p>
                      <a:pPr algn="l"/>
                      <a:r>
                        <a:rPr sz="1050" b="0" i="0">
                          <a:solidFill>
                            <a:srgbClr val="000000"/>
                          </a:solidFill>
                          <a:latin typeface="Calibri"/>
                        </a:rPr>
                        <a:t>Table 17: Global Market Value by Scenario (Optimistic, Likely, Pessimistic), US$ Mn, 2026–2036</a:t>
                      </a:r>
                      <a:endParaRPr sz="1050"/>
                    </a:p>
                  </a:txBody>
                  <a:tcPr marL="9525" marR="9525" marT="9525" marB="0" anchor="ctr"/>
                </a:tc>
              </a:tr>
              <a:tr h="169826">
                <a:tc>
                  <a:txBody>
                    <a:bodyPr wrap="square"/>
                    <a:lstStyle/>
                    <a:p>
                      <a:pPr algn="l"/>
                      <a:r>
                        <a:rPr sz="1050" b="0" i="0">
                          <a:solidFill>
                            <a:srgbClr val="000000"/>
                          </a:solidFill>
                          <a:latin typeface="Calibri"/>
                        </a:rPr>
                        <a:t>Table 18: Global Market Scenario CAGR Comparison, %, 2026–2036</a:t>
                      </a:r>
                      <a:endParaRPr sz="1050"/>
                    </a:p>
                  </a:txBody>
                  <a:tcPr marL="9525" marR="9525" marT="9525" marB="0" anchor="ctr"/>
                </a:tc>
              </a:tr>
              <a:tr h="169826">
                <a:tc>
                  <a:txBody>
                    <a:bodyPr wrap="square"/>
                    <a:lstStyle/>
                    <a:p>
                      <a:pPr algn="l"/>
                      <a:r>
                        <a:rPr sz="1050" b="0" i="0">
                          <a:solidFill>
                            <a:srgbClr val="000000"/>
                          </a:solidFill>
                          <a:latin typeface="Calibri"/>
                        </a:rPr>
                        <a:t>Table 19: Global Market Historical vs Forecast Growth Comparison, %, 2021–2036</a:t>
                      </a:r>
                      <a:endParaRPr sz="1050"/>
                    </a:p>
                  </a:txBody>
                  <a:tcPr marL="9525" marR="9525" marT="9525" marB="0" anchor="ctr"/>
                </a:tc>
              </a:tr>
              <a:tr h="169826">
                <a:tc>
                  <a:txBody>
                    <a:bodyPr wrap="square"/>
                    <a:lstStyle/>
                    <a:p>
                      <a:pPr algn="l"/>
                      <a:r>
                        <a:rPr sz="1050" b="0" i="0">
                          <a:solidFill>
                            <a:srgbClr val="000000"/>
                          </a:solidFill>
                          <a:latin typeface="Calibri"/>
                        </a:rPr>
                        <a:t>Table 20: Global Market Five-Year Block Value Summary, US$ Mn, 2021–2036</a:t>
                      </a:r>
                      <a:endParaRPr sz="1050"/>
                    </a:p>
                  </a:txBody>
                  <a:tcPr marL="9525" marR="9525" marT="9525" marB="0" anchor="ctr"/>
                </a:tc>
              </a:tr>
              <a:tr h="169826">
                <a:tc>
                  <a:txBody>
                    <a:bodyPr wrap="square"/>
                    <a:lstStyle/>
                    <a:p>
                      <a:pPr algn="l"/>
                      <a:r>
                        <a:rPr sz="1050" b="0" i="0">
                          <a:solidFill>
                            <a:srgbClr val="000000"/>
                          </a:solidFill>
                          <a:latin typeface="Calibri"/>
                        </a:rPr>
                        <a:t>Table 21: Global Market Value by Product Type, US$ Mn, 2021–2036</a:t>
                      </a:r>
                      <a:endParaRPr sz="1050"/>
                    </a:p>
                  </a:txBody>
                  <a:tcPr marL="9525" marR="9525" marT="9525" marB="0" anchor="ctr"/>
                </a:tc>
              </a:tr>
              <a:tr h="169826">
                <a:tc>
                  <a:txBody>
                    <a:bodyPr wrap="square"/>
                    <a:lstStyle/>
                    <a:p>
                      <a:pPr algn="l"/>
                      <a:r>
                        <a:rPr sz="1050" b="0" i="0">
                          <a:solidFill>
                            <a:srgbClr val="000000"/>
                          </a:solidFill>
                          <a:latin typeface="Calibri"/>
                        </a:rPr>
                        <a:t>Table 22: Global Market Value by Extraction / Processing Method, US$ Mn, 2021–2036</a:t>
                      </a:r>
                      <a:endParaRPr sz="1050"/>
                    </a:p>
                  </a:txBody>
                  <a:tcPr marL="9525" marR="9525" marT="9525" marB="0" anchor="ctr"/>
                </a:tc>
              </a:tr>
              <a:tr h="169826">
                <a:tc>
                  <a:txBody>
                    <a:bodyPr wrap="square"/>
                    <a:lstStyle/>
                    <a:p>
                      <a:pPr algn="l"/>
                      <a:r>
                        <a:rPr sz="1050" b="0" i="0">
                          <a:solidFill>
                            <a:srgbClr val="000000"/>
                          </a:solidFill>
                          <a:latin typeface="Calibri"/>
                        </a:rPr>
                        <a:t>Table 23: Global Market Value by Source, US$ Mn, 2021–2036</a:t>
                      </a:r>
                      <a:endParaRPr sz="1050"/>
                    </a:p>
                  </a:txBody>
                  <a:tcPr marL="9525" marR="9525" marT="9525" marB="0" anchor="ctr"/>
                </a:tc>
              </a:tr>
              <a:tr h="169826">
                <a:tc>
                  <a:txBody>
                    <a:bodyPr wrap="square"/>
                    <a:lstStyle/>
                    <a:p>
                      <a:pPr algn="l"/>
                      <a:r>
                        <a:rPr sz="1050" b="0" i="0">
                          <a:solidFill>
                            <a:srgbClr val="000000"/>
                          </a:solidFill>
                          <a:latin typeface="Calibri"/>
                        </a:rPr>
                        <a:t>Table 24: Global Market Value by Form, US$ Mn, 2021–2036</a:t>
                      </a:r>
                      <a:endParaRPr sz="1050"/>
                    </a:p>
                  </a:txBody>
                  <a:tcPr marL="9525" marR="9525" marT="9525" marB="0" anchor="ctr"/>
                </a:tc>
              </a:tr>
              <a:tr h="169826">
                <a:tc>
                  <a:txBody>
                    <a:bodyPr wrap="square"/>
                    <a:lstStyle/>
                    <a:p>
                      <a:pPr algn="l"/>
                      <a:r>
                        <a:rPr sz="1050" b="0" i="0">
                          <a:solidFill>
                            <a:srgbClr val="000000"/>
                          </a:solidFill>
                          <a:latin typeface="Calibri"/>
                        </a:rPr>
                        <a:t>Table 25: Global Market Value by Application, US$ Mn, 2021–2036</a:t>
                      </a:r>
                      <a:endParaRPr sz="1050"/>
                    </a:p>
                  </a:txBody>
                  <a:tcPr marL="9525" marR="9525" marT="9525" marB="0" anchor="ctr"/>
                </a:tc>
              </a:tr>
              <a:tr h="169826">
                <a:tc>
                  <a:txBody>
                    <a:bodyPr wrap="square"/>
                    <a:lstStyle/>
                    <a:p>
                      <a:pPr algn="l"/>
                      <a:r>
                        <a:rPr sz="1050" b="0" i="0">
                          <a:solidFill>
                            <a:srgbClr val="000000"/>
                          </a:solidFill>
                          <a:latin typeface="Calibri"/>
                        </a:rPr>
                        <a:t>Table 26: Global Market Value by Sales Channel, US$ Mn, 2021–2036</a:t>
                      </a:r>
                      <a:endParaRPr sz="1050"/>
                    </a:p>
                  </a:txBody>
                  <a:tcPr marL="9525" marR="9525" marT="9525" marB="0" anchor="ctr"/>
                </a:tc>
              </a:tr>
              <a:tr h="169826">
                <a:tc>
                  <a:txBody>
                    <a:bodyPr wrap="square"/>
                    <a:lstStyle/>
                    <a:p>
                      <a:pPr algn="l"/>
                      <a:r>
                        <a:rPr sz="1050" b="0" i="0">
                          <a:solidFill>
                            <a:srgbClr val="000000"/>
                          </a:solidFill>
                          <a:latin typeface="Calibri"/>
                        </a:rPr>
                        <a:t>Table 27: Global Market CAGR and Absolute $ Opportunity by Product Type, %, US$ Mn, 2026–2036</a:t>
                      </a:r>
                      <a:endParaRPr sz="1050"/>
                    </a:p>
                  </a:txBody>
                  <a:tcPr marL="9525" marR="9525" marT="9525" marB="0" anchor="ctr"/>
                </a:tc>
              </a:tr>
              <a:tr h="332858">
                <a:tc>
                  <a:txBody>
                    <a:bodyPr wrap="square"/>
                    <a:lstStyle/>
                    <a:p>
                      <a:pPr algn="l"/>
                      <a:r>
                        <a:rPr sz="1050" b="0" i="0">
                          <a:solidFill>
                            <a:srgbClr val="000000"/>
                          </a:solidFill>
                          <a:latin typeface="Calibri"/>
                        </a:rPr>
                        <a:t>Table 28: Global Market CAGR and Absolute $ Opportunity by Extraction / Processing Method, %, US$ Mn, 2026–2036</a:t>
                      </a:r>
                      <a:endParaRPr sz="1050"/>
                    </a:p>
                  </a:txBody>
                  <a:tcPr marL="9525" marR="9525" marT="9525" marB="0" anchor="ctr"/>
                </a:tc>
              </a:tr>
              <a:tr h="169826">
                <a:tc>
                  <a:txBody>
                    <a:bodyPr wrap="square"/>
                    <a:lstStyle/>
                    <a:p>
                      <a:pPr algn="l"/>
                      <a:r>
                        <a:rPr sz="1050" b="0" i="0">
                          <a:solidFill>
                            <a:srgbClr val="000000"/>
                          </a:solidFill>
                          <a:latin typeface="Calibri"/>
                        </a:rPr>
                        <a:t>Table 29: Global Market CAGR and Absolute $ Opportunity by Source, %, US$ Mn, 2026–2036</a:t>
                      </a:r>
                      <a:endParaRPr sz="1050"/>
                    </a:p>
                  </a:txBody>
                  <a:tcPr marL="9525" marR="9525" marT="9525" marB="0" anchor="ctr"/>
                </a:tc>
              </a:tr>
              <a:tr h="169826">
                <a:tc>
                  <a:txBody>
                    <a:bodyPr wrap="square"/>
                    <a:lstStyle/>
                    <a:p>
                      <a:pPr algn="l"/>
                      <a:r>
                        <a:rPr sz="1050" b="0" i="0">
                          <a:solidFill>
                            <a:srgbClr val="000000"/>
                          </a:solidFill>
                          <a:latin typeface="Calibri"/>
                        </a:rPr>
                        <a:t>Table 30: Global Market CAGR and Absolute $ Opportunity by Form, %, US$ Mn, 2026–2036</a:t>
                      </a:r>
                      <a:endParaRPr sz="1050"/>
                    </a:p>
                  </a:txBody>
                  <a:tcPr marL="9525" marR="9525" marT="9525" marB="0" anchor="ctr"/>
                </a:tc>
              </a:tr>
            </a:tbl>
          </a:graphicData>
        </a:graphic>
      </p:graphicFrame>
      <p:graphicFrame>
        <p:nvGraphicFramePr>
          <p:cNvPr id="7" name="TMR Contents Table"/>
          <p:cNvGraphicFramePr>
            <a:graphicFrameLocks noGrp="1"/>
          </p:cNvGraphicFramePr>
          <p:nvPr/>
        </p:nvGraphicFramePr>
        <p:xfrm>
          <a:off x="6172200" y="981075"/>
          <a:ext cx="5876925" cy="5257812"/>
        </p:xfrm>
        <a:graphic>
          <a:graphicData uri="http://schemas.openxmlformats.org/drawingml/2006/table">
            <a:tbl>
              <a:tblPr>
                <a:tableStyleId>{3B4B98B0-60AC-42C2-AFA5-B58CD77FA1E5}</a:tableStyleId>
              </a:tblPr>
              <a:tblGrid>
                <a:gridCol w="5876925"/>
              </a:tblGrid>
              <a:tr h="169826">
                <a:tc>
                  <a:txBody>
                    <a:bodyPr wrap="square"/>
                    <a:lstStyle/>
                    <a:p>
                      <a:pPr algn="l"/>
                      <a:r>
                        <a:rPr sz="1050" b="0" i="0">
                          <a:solidFill>
                            <a:srgbClr val="000000"/>
                          </a:solidFill>
                          <a:latin typeface="Calibri"/>
                        </a:rPr>
                        <a:t>Table 31: Global Market CAGR and Absolute $ Opportunity by Application, %, US$ Mn, 2026–2036</a:t>
                      </a:r>
                      <a:endParaRPr sz="1050"/>
                    </a:p>
                  </a:txBody>
                  <a:tcPr marL="9525" marR="9525" marT="9525" marB="0" anchor="ctr"/>
                </a:tc>
              </a:tr>
              <a:tr h="169826">
                <a:tc>
                  <a:txBody>
                    <a:bodyPr wrap="square"/>
                    <a:lstStyle/>
                    <a:p>
                      <a:pPr algn="l"/>
                      <a:r>
                        <a:rPr sz="1050" b="0" i="0">
                          <a:solidFill>
                            <a:srgbClr val="000000"/>
                          </a:solidFill>
                          <a:latin typeface="Calibri"/>
                        </a:rPr>
                        <a:t>Table 32: Global Market CAGR and Absolute $ Opportunity by Sales Channel, %, US$ Mn, 2026–2036</a:t>
                      </a:r>
                      <a:endParaRPr sz="1050"/>
                    </a:p>
                  </a:txBody>
                  <a:tcPr marL="9525" marR="9525" marT="9525" marB="0" anchor="ctr"/>
                </a:tc>
              </a:tr>
              <a:tr h="169826">
                <a:tc>
                  <a:txBody>
                    <a:bodyPr wrap="square"/>
                    <a:lstStyle/>
                    <a:p>
                      <a:pPr algn="l"/>
                      <a:r>
                        <a:rPr sz="1050" b="0" i="0">
                          <a:solidFill>
                            <a:srgbClr val="000000"/>
                          </a:solidFill>
                          <a:latin typeface="Calibri"/>
                        </a:rPr>
                        <a:t>Table 33: Global Market Share and BPS Change by Product Type, %, 2025, 2026 and 2036</a:t>
                      </a:r>
                      <a:endParaRPr sz="1050"/>
                    </a:p>
                  </a:txBody>
                  <a:tcPr marL="9525" marR="9525" marT="9525" marB="0" anchor="ctr"/>
                </a:tc>
              </a:tr>
              <a:tr h="332858">
                <a:tc>
                  <a:txBody>
                    <a:bodyPr wrap="square"/>
                    <a:lstStyle/>
                    <a:p>
                      <a:pPr algn="l"/>
                      <a:r>
                        <a:rPr sz="1050" b="0" i="0">
                          <a:solidFill>
                            <a:srgbClr val="000000"/>
                          </a:solidFill>
                          <a:latin typeface="Calibri"/>
                        </a:rPr>
                        <a:t>Table 34: Global Market Share and BPS Change by Extraction / Processing Method, %, 2025, 2026 and 2036</a:t>
                      </a:r>
                      <a:endParaRPr sz="1050"/>
                    </a:p>
                  </a:txBody>
                  <a:tcPr marL="9525" marR="9525" marT="9525" marB="0" anchor="ctr"/>
                </a:tc>
              </a:tr>
              <a:tr h="169826">
                <a:tc>
                  <a:txBody>
                    <a:bodyPr wrap="square"/>
                    <a:lstStyle/>
                    <a:p>
                      <a:pPr algn="l"/>
                      <a:r>
                        <a:rPr sz="1050" b="0" i="0">
                          <a:solidFill>
                            <a:srgbClr val="000000"/>
                          </a:solidFill>
                          <a:latin typeface="Calibri"/>
                        </a:rPr>
                        <a:t>Table 35: Global Market Share and BPS Change by Source, %, 2025, 2026 and 2036</a:t>
                      </a:r>
                      <a:endParaRPr sz="1050"/>
                    </a:p>
                  </a:txBody>
                  <a:tcPr marL="9525" marR="9525" marT="9525" marB="0" anchor="ctr"/>
                </a:tc>
              </a:tr>
              <a:tr h="169826">
                <a:tc>
                  <a:txBody>
                    <a:bodyPr wrap="square"/>
                    <a:lstStyle/>
                    <a:p>
                      <a:pPr algn="l"/>
                      <a:r>
                        <a:rPr sz="1050" b="0" i="0">
                          <a:solidFill>
                            <a:srgbClr val="000000"/>
                          </a:solidFill>
                          <a:latin typeface="Calibri"/>
                        </a:rPr>
                        <a:t>Table 36: Global Market Share and BPS Change by Form, %, 2025, 2026 and 2036</a:t>
                      </a:r>
                      <a:endParaRPr sz="1050"/>
                    </a:p>
                  </a:txBody>
                  <a:tcPr marL="9525" marR="9525" marT="9525" marB="0" anchor="ctr"/>
                </a:tc>
              </a:tr>
              <a:tr h="169826">
                <a:tc>
                  <a:txBody>
                    <a:bodyPr wrap="square"/>
                    <a:lstStyle/>
                    <a:p>
                      <a:pPr algn="l"/>
                      <a:r>
                        <a:rPr sz="1050" b="0" i="0">
                          <a:solidFill>
                            <a:srgbClr val="000000"/>
                          </a:solidFill>
                          <a:latin typeface="Calibri"/>
                        </a:rPr>
                        <a:t>Table 37: Global Market Share and BPS Change by Application, %, 2025, 2026 and 2036</a:t>
                      </a:r>
                      <a:endParaRPr sz="1050"/>
                    </a:p>
                  </a:txBody>
                  <a:tcPr marL="9525" marR="9525" marT="9525" marB="0" anchor="ctr"/>
                </a:tc>
              </a:tr>
              <a:tr h="169826">
                <a:tc>
                  <a:txBody>
                    <a:bodyPr wrap="square"/>
                    <a:lstStyle/>
                    <a:p>
                      <a:pPr algn="l"/>
                      <a:r>
                        <a:rPr sz="1050" b="0" i="0">
                          <a:solidFill>
                            <a:srgbClr val="000000"/>
                          </a:solidFill>
                          <a:latin typeface="Calibri"/>
                        </a:rPr>
                        <a:t>Table 38: Global Market Share and BPS Change by Sales Channel, %, 2025, 2026 and 2036</a:t>
                      </a:r>
                      <a:endParaRPr sz="1050"/>
                    </a:p>
                  </a:txBody>
                  <a:tcPr marL="9525" marR="9525" marT="9525" marB="0" anchor="ctr"/>
                </a:tc>
              </a:tr>
              <a:tr h="169826">
                <a:tc>
                  <a:txBody>
                    <a:bodyPr wrap="square"/>
                    <a:lstStyle/>
                    <a:p>
                      <a:pPr algn="l"/>
                      <a:r>
                        <a:rPr sz="1050" b="0" i="0">
                          <a:solidFill>
                            <a:srgbClr val="000000"/>
                          </a:solidFill>
                          <a:latin typeface="Calibri"/>
                        </a:rPr>
                        <a:t>Table 39: Global Market YoY Growth by Product Type, %, 2026–2036</a:t>
                      </a:r>
                      <a:endParaRPr sz="1050"/>
                    </a:p>
                  </a:txBody>
                  <a:tcPr marL="9525" marR="9525" marT="9525" marB="0" anchor="ctr"/>
                </a:tc>
              </a:tr>
              <a:tr h="169826">
                <a:tc>
                  <a:txBody>
                    <a:bodyPr wrap="square"/>
                    <a:lstStyle/>
                    <a:p>
                      <a:pPr algn="l"/>
                      <a:r>
                        <a:rPr sz="1050" b="0" i="0">
                          <a:solidFill>
                            <a:srgbClr val="000000"/>
                          </a:solidFill>
                          <a:latin typeface="Calibri"/>
                        </a:rPr>
                        <a:t>Table 40: Global Market YoY Growth by Extraction / Processing Method, %, 2026–2036</a:t>
                      </a:r>
                      <a:endParaRPr sz="1050"/>
                    </a:p>
                  </a:txBody>
                  <a:tcPr marL="9525" marR="9525" marT="9525" marB="0" anchor="ctr"/>
                </a:tc>
              </a:tr>
              <a:tr h="169826">
                <a:tc>
                  <a:txBody>
                    <a:bodyPr wrap="square"/>
                    <a:lstStyle/>
                    <a:p>
                      <a:pPr algn="l"/>
                      <a:r>
                        <a:rPr sz="1050" b="0" i="0">
                          <a:solidFill>
                            <a:srgbClr val="000000"/>
                          </a:solidFill>
                          <a:latin typeface="Calibri"/>
                        </a:rPr>
                        <a:t>Table 41: Global Market YoY Growth by Source, %, 2026–2036</a:t>
                      </a:r>
                      <a:endParaRPr sz="1050"/>
                    </a:p>
                  </a:txBody>
                  <a:tcPr marL="9525" marR="9525" marT="9525" marB="0" anchor="ctr"/>
                </a:tc>
              </a:tr>
              <a:tr h="169826">
                <a:tc>
                  <a:txBody>
                    <a:bodyPr wrap="square"/>
                    <a:lstStyle/>
                    <a:p>
                      <a:pPr algn="l"/>
                      <a:r>
                        <a:rPr sz="1050" b="0" i="0">
                          <a:solidFill>
                            <a:srgbClr val="000000"/>
                          </a:solidFill>
                          <a:latin typeface="Calibri"/>
                        </a:rPr>
                        <a:t>Table 42: Global Market YoY Growth by Form, %, 2026–2036</a:t>
                      </a:r>
                      <a:endParaRPr sz="1050"/>
                    </a:p>
                  </a:txBody>
                  <a:tcPr marL="9525" marR="9525" marT="9525" marB="0" anchor="ctr"/>
                </a:tc>
              </a:tr>
              <a:tr h="169826">
                <a:tc>
                  <a:txBody>
                    <a:bodyPr wrap="square"/>
                    <a:lstStyle/>
                    <a:p>
                      <a:pPr algn="l"/>
                      <a:r>
                        <a:rPr sz="1050" b="0" i="0">
                          <a:solidFill>
                            <a:srgbClr val="000000"/>
                          </a:solidFill>
                          <a:latin typeface="Calibri"/>
                        </a:rPr>
                        <a:t>Table 43: Global Market YoY Growth by Application, %, 2026–2036</a:t>
                      </a:r>
                      <a:endParaRPr sz="1050"/>
                    </a:p>
                  </a:txBody>
                  <a:tcPr marL="9525" marR="9525" marT="9525" marB="0" anchor="ctr"/>
                </a:tc>
              </a:tr>
              <a:tr h="169826">
                <a:tc>
                  <a:txBody>
                    <a:bodyPr wrap="square"/>
                    <a:lstStyle/>
                    <a:p>
                      <a:pPr algn="l"/>
                      <a:r>
                        <a:rPr sz="1050" b="0" i="0">
                          <a:solidFill>
                            <a:srgbClr val="000000"/>
                          </a:solidFill>
                          <a:latin typeface="Calibri"/>
                        </a:rPr>
                        <a:t>Table 44: Global Market YoY Growth by Sales Channel, %, 2026–2036</a:t>
                      </a:r>
                      <a:endParaRPr sz="1050"/>
                    </a:p>
                  </a:txBody>
                  <a:tcPr marL="9525" marR="9525" marT="9525" marB="0" anchor="ctr"/>
                </a:tc>
              </a:tr>
              <a:tr h="169826">
                <a:tc>
                  <a:txBody>
                    <a:bodyPr wrap="square"/>
                    <a:lstStyle/>
                    <a:p>
                      <a:pPr algn="l"/>
                      <a:r>
                        <a:rPr sz="1050" b="0" i="0">
                          <a:solidFill>
                            <a:srgbClr val="000000"/>
                          </a:solidFill>
                          <a:latin typeface="Calibri"/>
                        </a:rPr>
                        <a:t>Table 45: Global Market Volume by Product Type, MT, 2021–2036</a:t>
                      </a:r>
                      <a:endParaRPr sz="1050"/>
                    </a:p>
                  </a:txBody>
                  <a:tcPr marL="9525" marR="9525" marT="9525" marB="0" anchor="ctr"/>
                </a:tc>
              </a:tr>
              <a:tr h="169826">
                <a:tc>
                  <a:txBody>
                    <a:bodyPr wrap="square"/>
                    <a:lstStyle/>
                    <a:p>
                      <a:pPr algn="l"/>
                      <a:r>
                        <a:rPr sz="1050" b="0" i="0">
                          <a:solidFill>
                            <a:srgbClr val="000000"/>
                          </a:solidFill>
                          <a:latin typeface="Calibri"/>
                        </a:rPr>
                        <a:t>Table 46: Global Market Volume by Extraction / Processing Method, MT, 2021–2036</a:t>
                      </a:r>
                      <a:endParaRPr sz="1050"/>
                    </a:p>
                  </a:txBody>
                  <a:tcPr marL="9525" marR="9525" marT="9525" marB="0" anchor="ctr"/>
                </a:tc>
              </a:tr>
              <a:tr h="169826">
                <a:tc>
                  <a:txBody>
                    <a:bodyPr wrap="square"/>
                    <a:lstStyle/>
                    <a:p>
                      <a:pPr algn="l"/>
                      <a:r>
                        <a:rPr sz="1050" b="0" i="0">
                          <a:solidFill>
                            <a:srgbClr val="000000"/>
                          </a:solidFill>
                          <a:latin typeface="Calibri"/>
                        </a:rPr>
                        <a:t>Table 47: Global Market Volume by Source, MT, 2021–2036</a:t>
                      </a:r>
                      <a:endParaRPr sz="1050"/>
                    </a:p>
                  </a:txBody>
                  <a:tcPr marL="9525" marR="9525" marT="9525" marB="0" anchor="ctr"/>
                </a:tc>
              </a:tr>
              <a:tr h="169826">
                <a:tc>
                  <a:txBody>
                    <a:bodyPr wrap="square"/>
                    <a:lstStyle/>
                    <a:p>
                      <a:pPr algn="l"/>
                      <a:r>
                        <a:rPr sz="1050" b="0" i="0">
                          <a:solidFill>
                            <a:srgbClr val="000000"/>
                          </a:solidFill>
                          <a:latin typeface="Calibri"/>
                        </a:rPr>
                        <a:t>Table 48: Global Market Volume by Form, MT, 2021–2036</a:t>
                      </a:r>
                      <a:endParaRPr sz="1050"/>
                    </a:p>
                  </a:txBody>
                  <a:tcPr marL="9525" marR="9525" marT="9525" marB="0" anchor="ctr"/>
                </a:tc>
              </a:tr>
              <a:tr h="169826">
                <a:tc>
                  <a:txBody>
                    <a:bodyPr wrap="square"/>
                    <a:lstStyle/>
                    <a:p>
                      <a:pPr algn="l"/>
                      <a:r>
                        <a:rPr sz="1050" b="0" i="0">
                          <a:solidFill>
                            <a:srgbClr val="000000"/>
                          </a:solidFill>
                          <a:latin typeface="Calibri"/>
                        </a:rPr>
                        <a:t>Table 49: Global Market Volume by Application, MT, 2021–2036</a:t>
                      </a:r>
                      <a:endParaRPr sz="1050"/>
                    </a:p>
                  </a:txBody>
                  <a:tcPr marL="9525" marR="9525" marT="9525" marB="0" anchor="ctr"/>
                </a:tc>
              </a:tr>
              <a:tr h="169826">
                <a:tc>
                  <a:txBody>
                    <a:bodyPr wrap="square"/>
                    <a:lstStyle/>
                    <a:p>
                      <a:pPr algn="l"/>
                      <a:r>
                        <a:rPr sz="1050" b="0" i="0">
                          <a:solidFill>
                            <a:srgbClr val="000000"/>
                          </a:solidFill>
                          <a:latin typeface="Calibri"/>
                        </a:rPr>
                        <a:t>Table 50: Global Market Volume by Sales Channel, MT, 2021–2036</a:t>
                      </a:r>
                      <a:endParaRPr sz="1050"/>
                    </a:p>
                  </a:txBody>
                  <a:tcPr marL="9525" marR="9525" marT="9525" marB="0" anchor="ctr"/>
                </a:tc>
              </a:tr>
              <a:tr h="169826">
                <a:tc>
                  <a:txBody>
                    <a:bodyPr wrap="square"/>
                    <a:lstStyle/>
                    <a:p>
                      <a:pPr algn="l"/>
                      <a:r>
                        <a:rPr sz="1050" b="0" i="0">
                          <a:solidFill>
                            <a:srgbClr val="000000"/>
                          </a:solidFill>
                          <a:latin typeface="Calibri"/>
                        </a:rPr>
                        <a:t>Table 51: Global Market Average Selling Price by Product Type, US$/MT, 2021–2036</a:t>
                      </a:r>
                      <a:endParaRPr sz="1050"/>
                    </a:p>
                  </a:txBody>
                  <a:tcPr marL="9525" marR="9525" marT="9525" marB="0" anchor="ctr"/>
                </a:tc>
              </a:tr>
              <a:tr h="169826">
                <a:tc>
                  <a:txBody>
                    <a:bodyPr wrap="square"/>
                    <a:lstStyle/>
                    <a:p>
                      <a:pPr algn="l"/>
                      <a:r>
                        <a:rPr sz="1050" b="0" i="0">
                          <a:solidFill>
                            <a:srgbClr val="000000"/>
                          </a:solidFill>
                          <a:latin typeface="Calibri"/>
                        </a:rPr>
                        <a:t>Table 52: Global Market Average Selling Price by Extraction / Processing Method, US$/MT, 2021–2036</a:t>
                      </a:r>
                      <a:endParaRPr sz="1050"/>
                    </a:p>
                  </a:txBody>
                  <a:tcPr marL="9525" marR="9525" marT="9525" marB="0" anchor="ctr"/>
                </a:tc>
              </a:tr>
              <a:tr h="169826">
                <a:tc>
                  <a:txBody>
                    <a:bodyPr wrap="square"/>
                    <a:lstStyle/>
                    <a:p>
                      <a:pPr algn="l"/>
                      <a:r>
                        <a:rPr sz="1050" b="0" i="0">
                          <a:solidFill>
                            <a:srgbClr val="000000"/>
                          </a:solidFill>
                          <a:latin typeface="Calibri"/>
                        </a:rPr>
                        <a:t>Table 53: Global Market Average Selling Price by Source, US$/MT, 2021–2036</a:t>
                      </a:r>
                      <a:endParaRPr sz="1050"/>
                    </a:p>
                  </a:txBody>
                  <a:tcPr marL="9525" marR="9525" marT="9525" marB="0" anchor="ctr"/>
                </a:tc>
              </a:tr>
              <a:tr h="169826">
                <a:tc>
                  <a:txBody>
                    <a:bodyPr wrap="square"/>
                    <a:lstStyle/>
                    <a:p>
                      <a:pPr algn="l"/>
                      <a:r>
                        <a:rPr sz="1050" b="0" i="0">
                          <a:solidFill>
                            <a:srgbClr val="000000"/>
                          </a:solidFill>
                          <a:latin typeface="Calibri"/>
                        </a:rPr>
                        <a:t>Table 54: Global Market Average Selling Price by Form, US$/MT, 2021–2036</a:t>
                      </a:r>
                      <a:endParaRPr sz="1050"/>
                    </a:p>
                  </a:txBody>
                  <a:tcPr marL="9525" marR="9525" marT="9525" marB="0" anchor="ctr"/>
                </a:tc>
              </a:tr>
              <a:tr h="169826">
                <a:tc>
                  <a:txBody>
                    <a:bodyPr wrap="square"/>
                    <a:lstStyle/>
                    <a:p>
                      <a:pPr algn="l"/>
                      <a:r>
                        <a:rPr sz="1050" b="0" i="0">
                          <a:solidFill>
                            <a:srgbClr val="000000"/>
                          </a:solidFill>
                          <a:latin typeface="Calibri"/>
                        </a:rPr>
                        <a:t>Table 55: Global Market Average Selling Price by Application, US$/MT, 2021–2036</a:t>
                      </a:r>
                      <a:endParaRPr sz="1050"/>
                    </a:p>
                  </a:txBody>
                  <a:tcPr marL="9525" marR="9525" marT="9525" marB="0" anchor="ctr"/>
                </a:tc>
              </a:tr>
              <a:tr h="169826">
                <a:tc>
                  <a:txBody>
                    <a:bodyPr wrap="square"/>
                    <a:lstStyle/>
                    <a:p>
                      <a:pPr algn="l"/>
                      <a:r>
                        <a:rPr sz="1050" b="0" i="0">
                          <a:solidFill>
                            <a:srgbClr val="000000"/>
                          </a:solidFill>
                          <a:latin typeface="Calibri"/>
                        </a:rPr>
                        <a:t>Table 56: Global Market Average Selling Price by Sales Channel, US$/MT, 2021–2036</a:t>
                      </a:r>
                      <a:endParaRPr sz="1050"/>
                    </a:p>
                  </a:txBody>
                  <a:tcPr marL="9525" marR="9525" marT="9525" marB="0" anchor="ctr"/>
                </a:tc>
              </a:tr>
              <a:tr h="169826">
                <a:tc>
                  <a:txBody>
                    <a:bodyPr wrap="square"/>
                    <a:lstStyle/>
                    <a:p>
                      <a:pPr algn="l"/>
                      <a:r>
                        <a:rPr sz="1050" b="0" i="0">
                          <a:solidFill>
                            <a:srgbClr val="000000"/>
                          </a:solidFill>
                          <a:latin typeface="Calibri"/>
                        </a:rPr>
                        <a:t>Table 57: Global Market Attractiveness Index by Product Type, 2026–2036</a:t>
                      </a:r>
                      <a:endParaRPr sz="1050"/>
                    </a:p>
                  </a:txBody>
                  <a:tcPr marL="9525" marR="9525" marT="9525" marB="0" anchor="ctr"/>
                </a:tc>
              </a:tr>
              <a:tr h="169826">
                <a:tc>
                  <a:txBody>
                    <a:bodyPr wrap="square"/>
                    <a:lstStyle/>
                    <a:p>
                      <a:pPr algn="l"/>
                      <a:r>
                        <a:rPr sz="1050" b="0" i="0">
                          <a:solidFill>
                            <a:srgbClr val="000000"/>
                          </a:solidFill>
                          <a:latin typeface="Calibri"/>
                        </a:rPr>
                        <a:t>Table 58: Global Market Attractiveness Index by Extraction / Processing Method, 2026–2036</a:t>
                      </a:r>
                      <a:endParaRPr sz="1050"/>
                    </a:p>
                  </a:txBody>
                  <a:tcPr marL="9525" marR="9525" marT="9525" marB="0" anchor="ctr"/>
                </a:tc>
              </a:tr>
              <a:tr h="169826">
                <a:tc>
                  <a:txBody>
                    <a:bodyPr wrap="square"/>
                    <a:lstStyle/>
                    <a:p>
                      <a:pPr algn="l"/>
                      <a:r>
                        <a:rPr sz="1050" b="0" i="0">
                          <a:solidFill>
                            <a:srgbClr val="000000"/>
                          </a:solidFill>
                          <a:latin typeface="Calibri"/>
                        </a:rPr>
                        <a:t>Table 59: Global Market Attractiveness Index by Source, 2026–2036</a:t>
                      </a:r>
                      <a:endParaRPr sz="1050"/>
                    </a:p>
                  </a:txBody>
                  <a:tcPr marL="9525" marR="9525" marT="9525" marB="0" anchor="ctr"/>
                </a:tc>
              </a:tr>
              <a:tr h="169826">
                <a:tc>
                  <a:txBody>
                    <a:bodyPr wrap="square"/>
                    <a:lstStyle/>
                    <a:p>
                      <a:pPr algn="l"/>
                      <a:r>
                        <a:rPr sz="1050" b="0" i="0">
                          <a:solidFill>
                            <a:srgbClr val="000000"/>
                          </a:solidFill>
                          <a:latin typeface="Calibri"/>
                        </a:rPr>
                        <a:t>Table 60: Global Market Attractiveness Index by Form, 2026–2036</a:t>
                      </a:r>
                      <a:endParaRPr sz="1050"/>
                    </a:p>
                  </a:txBody>
                  <a:tcPr marL="9525" marR="9525" marT="9525" marB="0" anchor="ctr"/>
                </a:tc>
              </a:tr>
            </a:tbl>
          </a:graphicData>
        </a:graphic>
      </p:graphicFrame>
      <p:sp>
        <p:nvSpPr>
          <p:cNvPr id="8" name="Rectangle 7"/>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76200"/>
            <a:ext cx="10896600"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List of Tables (2/4)</a:t>
            </a:r>
          </a:p>
        </p:txBody>
      </p:sp>
      <p:graphicFrame>
        <p:nvGraphicFramePr>
          <p:cNvPr id="6" name="TMR Contents Table"/>
          <p:cNvGraphicFramePr>
            <a:graphicFrameLocks noGrp="1"/>
          </p:cNvGraphicFramePr>
          <p:nvPr/>
        </p:nvGraphicFramePr>
        <p:xfrm>
          <a:off x="142875" y="981075"/>
          <a:ext cx="5876925" cy="5257790"/>
        </p:xfrm>
        <a:graphic>
          <a:graphicData uri="http://schemas.openxmlformats.org/drawingml/2006/table">
            <a:tbl>
              <a:tblPr>
                <a:tableStyleId>{3B4B98B0-60AC-42C2-AFA5-B58CD77FA1E5}</a:tableStyleId>
              </a:tblPr>
              <a:tblGrid>
                <a:gridCol w="5876925"/>
              </a:tblGrid>
              <a:tr h="170486">
                <a:tc>
                  <a:txBody>
                    <a:bodyPr wrap="square"/>
                    <a:lstStyle/>
                    <a:p>
                      <a:pPr algn="l"/>
                      <a:r>
                        <a:rPr sz="1050" b="0" i="0">
                          <a:solidFill>
                            <a:srgbClr val="000000"/>
                          </a:solidFill>
                          <a:latin typeface="Calibri"/>
                        </a:rPr>
                        <a:t>Table 61: Global Market Attractiveness Index by Application, 2026–2036</a:t>
                      </a:r>
                      <a:endParaRPr sz="1050"/>
                    </a:p>
                  </a:txBody>
                  <a:tcPr marL="9525" marR="9525" marT="9525" marB="0" anchor="ctr"/>
                </a:tc>
              </a:tr>
              <a:tr h="170486">
                <a:tc>
                  <a:txBody>
                    <a:bodyPr wrap="square"/>
                    <a:lstStyle/>
                    <a:p>
                      <a:pPr algn="l"/>
                      <a:r>
                        <a:rPr sz="1050" b="0" i="0">
                          <a:solidFill>
                            <a:srgbClr val="000000"/>
                          </a:solidFill>
                          <a:latin typeface="Calibri"/>
                        </a:rPr>
                        <a:t>Table 62: Global Market Attractiveness Index by Sales Channel, 2026–2036</a:t>
                      </a:r>
                      <a:endParaRPr sz="1050"/>
                    </a:p>
                  </a:txBody>
                  <a:tcPr marL="9525" marR="9525" marT="9525" marB="0" anchor="ctr"/>
                </a:tc>
              </a:tr>
              <a:tr h="170486">
                <a:tc>
                  <a:txBody>
                    <a:bodyPr wrap="square"/>
                    <a:lstStyle/>
                    <a:p>
                      <a:pPr algn="l"/>
                      <a:r>
                        <a:rPr sz="1050" b="0" i="0">
                          <a:solidFill>
                            <a:srgbClr val="000000"/>
                          </a:solidFill>
                          <a:latin typeface="Calibri"/>
                        </a:rPr>
                        <a:t>Table 63: Global Market Value of Micronized Eggshell Membrane by Region, US$ Mn, 2021–2036</a:t>
                      </a:r>
                      <a:endParaRPr sz="1050"/>
                    </a:p>
                  </a:txBody>
                  <a:tcPr marL="9525" marR="9525" marT="9525" marB="0" anchor="ctr"/>
                </a:tc>
              </a:tr>
              <a:tr h="334153">
                <a:tc>
                  <a:txBody>
                    <a:bodyPr wrap="square"/>
                    <a:lstStyle/>
                    <a:p>
                      <a:pPr algn="l"/>
                      <a:r>
                        <a:rPr sz="1050" b="0" i="0">
                          <a:solidFill>
                            <a:srgbClr val="000000"/>
                          </a:solidFill>
                          <a:latin typeface="Calibri"/>
                        </a:rPr>
                        <a:t>Table 64: Global Market Value of Mechanical Separation &amp; Micronization by Region, US$ Mn, 2021–2036</a:t>
                      </a:r>
                      <a:endParaRPr sz="1050"/>
                    </a:p>
                  </a:txBody>
                  <a:tcPr marL="9525" marR="9525" marT="9525" marB="0" anchor="ctr"/>
                </a:tc>
              </a:tr>
              <a:tr h="170486">
                <a:tc>
                  <a:txBody>
                    <a:bodyPr wrap="square"/>
                    <a:lstStyle/>
                    <a:p>
                      <a:pPr algn="l"/>
                      <a:r>
                        <a:rPr sz="1050" b="0" i="0">
                          <a:solidFill>
                            <a:srgbClr val="000000"/>
                          </a:solidFill>
                          <a:latin typeface="Calibri"/>
                        </a:rPr>
                        <a:t>Table 65: Global Market Value of Chicken Eggshell Membrane by Region, US$ Mn, 2021–2036</a:t>
                      </a:r>
                      <a:endParaRPr sz="1050"/>
                    </a:p>
                  </a:txBody>
                  <a:tcPr marL="9525" marR="9525" marT="9525" marB="0" anchor="ctr"/>
                </a:tc>
              </a:tr>
              <a:tr h="170486">
                <a:tc>
                  <a:txBody>
                    <a:bodyPr wrap="square"/>
                    <a:lstStyle/>
                    <a:p>
                      <a:pPr algn="l"/>
                      <a:r>
                        <a:rPr sz="1050" b="0" i="0">
                          <a:solidFill>
                            <a:srgbClr val="000000"/>
                          </a:solidFill>
                          <a:latin typeface="Calibri"/>
                        </a:rPr>
                        <a:t>Table 66: Global Market Value of Powder by Region, US$ Mn, 2021–2036</a:t>
                      </a:r>
                      <a:endParaRPr sz="1050"/>
                    </a:p>
                  </a:txBody>
                  <a:tcPr marL="9525" marR="9525" marT="9525" marB="0" anchor="ctr"/>
                </a:tc>
              </a:tr>
              <a:tr h="334153">
                <a:tc>
                  <a:txBody>
                    <a:bodyPr wrap="square"/>
                    <a:lstStyle/>
                    <a:p>
                      <a:pPr algn="l"/>
                      <a:r>
                        <a:rPr sz="1050" b="0" i="0">
                          <a:solidFill>
                            <a:srgbClr val="000000"/>
                          </a:solidFill>
                          <a:latin typeface="Calibri"/>
                        </a:rPr>
                        <a:t>Table 67: Global Market Value of Dietary Supplements &amp; Nutraceuticals by Region, US$ Mn, 2021–2036</a:t>
                      </a:r>
                      <a:endParaRPr sz="1050"/>
                    </a:p>
                  </a:txBody>
                  <a:tcPr marL="9525" marR="9525" marT="9525" marB="0" anchor="ctr"/>
                </a:tc>
              </a:tr>
              <a:tr h="170486">
                <a:tc>
                  <a:txBody>
                    <a:bodyPr wrap="square"/>
                    <a:lstStyle/>
                    <a:p>
                      <a:pPr algn="l"/>
                      <a:r>
                        <a:rPr sz="1050" b="0" i="0">
                          <a:solidFill>
                            <a:srgbClr val="000000"/>
                          </a:solidFill>
                          <a:latin typeface="Calibri"/>
                        </a:rPr>
                        <a:t>Table 68: Global Market Value of Direct by Region, US$ Mn, 2021–2036</a:t>
                      </a:r>
                      <a:endParaRPr sz="1050"/>
                    </a:p>
                  </a:txBody>
                  <a:tcPr marL="9525" marR="9525" marT="9525" marB="0" anchor="ctr"/>
                </a:tc>
              </a:tr>
              <a:tr h="170486">
                <a:tc>
                  <a:txBody>
                    <a:bodyPr wrap="square"/>
                    <a:lstStyle/>
                    <a:p>
                      <a:pPr algn="l"/>
                      <a:r>
                        <a:rPr sz="1050" b="0" i="0">
                          <a:solidFill>
                            <a:srgbClr val="000000"/>
                          </a:solidFill>
                          <a:latin typeface="Calibri"/>
                        </a:rPr>
                        <a:t>Table 69: Global Market Value of Hydrolyzed Eggshell Membrane by Region, US$ Mn, 2021–2036</a:t>
                      </a:r>
                      <a:endParaRPr sz="1050"/>
                    </a:p>
                  </a:txBody>
                  <a:tcPr marL="9525" marR="9525" marT="9525" marB="0" anchor="ctr"/>
                </a:tc>
              </a:tr>
              <a:tr h="170486">
                <a:tc>
                  <a:txBody>
                    <a:bodyPr wrap="square"/>
                    <a:lstStyle/>
                    <a:p>
                      <a:pPr algn="l"/>
                      <a:r>
                        <a:rPr sz="1050" b="0" i="0">
                          <a:solidFill>
                            <a:srgbClr val="000000"/>
                          </a:solidFill>
                          <a:latin typeface="Calibri"/>
                        </a:rPr>
                        <a:t>Table 70: Global Market Value of Enzymatic Hydrolysis by Region, US$ Mn, 2021–2036</a:t>
                      </a:r>
                      <a:endParaRPr sz="1050"/>
                    </a:p>
                  </a:txBody>
                  <a:tcPr marL="9525" marR="9525" marT="9525" marB="0" anchor="ctr"/>
                </a:tc>
              </a:tr>
              <a:tr h="170486">
                <a:tc>
                  <a:txBody>
                    <a:bodyPr wrap="square"/>
                    <a:lstStyle/>
                    <a:p>
                      <a:pPr algn="l"/>
                      <a:r>
                        <a:rPr sz="1050" b="0" i="0">
                          <a:solidFill>
                            <a:srgbClr val="000000"/>
                          </a:solidFill>
                          <a:latin typeface="Calibri"/>
                        </a:rPr>
                        <a:t>Table 71: Global Market Value of Other Poultry Eggshell Membrane by Region, US$ Mn, 2021–2036</a:t>
                      </a:r>
                      <a:endParaRPr sz="1050"/>
                    </a:p>
                  </a:txBody>
                  <a:tcPr marL="9525" marR="9525" marT="9525" marB="0" anchor="ctr"/>
                </a:tc>
              </a:tr>
              <a:tr h="170486">
                <a:tc>
                  <a:txBody>
                    <a:bodyPr wrap="square"/>
                    <a:lstStyle/>
                    <a:p>
                      <a:pPr algn="l"/>
                      <a:r>
                        <a:rPr sz="1050" b="0" i="0">
                          <a:solidFill>
                            <a:srgbClr val="000000"/>
                          </a:solidFill>
                          <a:latin typeface="Calibri"/>
                        </a:rPr>
                        <a:t>Table 72: Global Market Value of Liquid / Concentrate by Region, US$ Mn, 2021–2036</a:t>
                      </a:r>
                      <a:endParaRPr sz="1050"/>
                    </a:p>
                  </a:txBody>
                  <a:tcPr marL="9525" marR="9525" marT="9525" marB="0" anchor="ctr"/>
                </a:tc>
              </a:tr>
              <a:tr h="170486">
                <a:tc>
                  <a:txBody>
                    <a:bodyPr wrap="square"/>
                    <a:lstStyle/>
                    <a:p>
                      <a:pPr algn="l"/>
                      <a:r>
                        <a:rPr sz="1050" b="0" i="0">
                          <a:solidFill>
                            <a:srgbClr val="000000"/>
                          </a:solidFill>
                          <a:latin typeface="Calibri"/>
                        </a:rPr>
                        <a:t>Table 73: Global Market Value of Functional Food &amp; Beverages by Region, US$ Mn, 2021–2036</a:t>
                      </a:r>
                      <a:endParaRPr sz="1050"/>
                    </a:p>
                  </a:txBody>
                  <a:tcPr marL="9525" marR="9525" marT="9525" marB="0" anchor="ctr"/>
                </a:tc>
              </a:tr>
              <a:tr h="170486">
                <a:tc>
                  <a:txBody>
                    <a:bodyPr wrap="square"/>
                    <a:lstStyle/>
                    <a:p>
                      <a:pPr algn="l"/>
                      <a:r>
                        <a:rPr sz="1050" b="0" i="0">
                          <a:solidFill>
                            <a:srgbClr val="000000"/>
                          </a:solidFill>
                          <a:latin typeface="Calibri"/>
                        </a:rPr>
                        <a:t>Table 74: Global Market Value of Distributors &amp; Traders by Region, US$ Mn, 2021–2036</a:t>
                      </a:r>
                      <a:endParaRPr sz="1050"/>
                    </a:p>
                  </a:txBody>
                  <a:tcPr marL="9525" marR="9525" marT="9525" marB="0" anchor="ctr"/>
                </a:tc>
              </a:tr>
              <a:tr h="170486">
                <a:tc>
                  <a:txBody>
                    <a:bodyPr wrap="square"/>
                    <a:lstStyle/>
                    <a:p>
                      <a:pPr algn="l"/>
                      <a:r>
                        <a:rPr sz="1050" b="0" i="0">
                          <a:solidFill>
                            <a:srgbClr val="000000"/>
                          </a:solidFill>
                          <a:latin typeface="Calibri"/>
                        </a:rPr>
                        <a:t>Table 75: Global Market Value of Specialty Extracted Protein Fractions by Region, US$ Mn, 2021–2036</a:t>
                      </a:r>
                      <a:endParaRPr sz="1050"/>
                    </a:p>
                  </a:txBody>
                  <a:tcPr marL="9525" marR="9525" marT="9525" marB="0" anchor="ctr"/>
                </a:tc>
              </a:tr>
              <a:tr h="334153">
                <a:tc>
                  <a:txBody>
                    <a:bodyPr wrap="square"/>
                    <a:lstStyle/>
                    <a:p>
                      <a:pPr algn="l"/>
                      <a:r>
                        <a:rPr sz="1050" b="0" i="0">
                          <a:solidFill>
                            <a:srgbClr val="000000"/>
                          </a:solidFill>
                          <a:latin typeface="Calibri"/>
                        </a:rPr>
                        <a:t>Table 76: Global Market Value by Product Type and Extraction / Processing Method, US$ Mn, 2026–2036</a:t>
                      </a:r>
                      <a:endParaRPr sz="1050"/>
                    </a:p>
                  </a:txBody>
                  <a:tcPr marL="9525" marR="9525" marT="9525" marB="0" anchor="ctr"/>
                </a:tc>
              </a:tr>
              <a:tr h="170486">
                <a:tc>
                  <a:txBody>
                    <a:bodyPr wrap="square"/>
                    <a:lstStyle/>
                    <a:p>
                      <a:pPr algn="l"/>
                      <a:r>
                        <a:rPr sz="1050" b="0" i="0">
                          <a:solidFill>
                            <a:srgbClr val="000000"/>
                          </a:solidFill>
                          <a:latin typeface="Calibri"/>
                        </a:rPr>
                        <a:t>Table 77: Global Market Value by Product Type and Source, US$ Mn, 2026–2036</a:t>
                      </a:r>
                      <a:endParaRPr sz="1050"/>
                    </a:p>
                  </a:txBody>
                  <a:tcPr marL="9525" marR="9525" marT="9525" marB="0" anchor="ctr"/>
                </a:tc>
              </a:tr>
              <a:tr h="170486">
                <a:tc>
                  <a:txBody>
                    <a:bodyPr wrap="square"/>
                    <a:lstStyle/>
                    <a:p>
                      <a:pPr algn="l"/>
                      <a:r>
                        <a:rPr sz="1050" b="0" i="0">
                          <a:solidFill>
                            <a:srgbClr val="000000"/>
                          </a:solidFill>
                          <a:latin typeface="Calibri"/>
                        </a:rPr>
                        <a:t>Table 78: Global Market Value by Product Type and Form, US$ Mn, 2026–2036</a:t>
                      </a:r>
                      <a:endParaRPr sz="1050"/>
                    </a:p>
                  </a:txBody>
                  <a:tcPr marL="9525" marR="9525" marT="9525" marB="0" anchor="ctr"/>
                </a:tc>
              </a:tr>
              <a:tr h="170486">
                <a:tc>
                  <a:txBody>
                    <a:bodyPr wrap="square"/>
                    <a:lstStyle/>
                    <a:p>
                      <a:pPr algn="l"/>
                      <a:r>
                        <a:rPr sz="1050" b="0" i="0">
                          <a:solidFill>
                            <a:srgbClr val="000000"/>
                          </a:solidFill>
                          <a:latin typeface="Calibri"/>
                        </a:rPr>
                        <a:t>Table 79: Global Market Value by Product Type and Application, US$ Mn, 2026–2036</a:t>
                      </a:r>
                      <a:endParaRPr sz="1050"/>
                    </a:p>
                  </a:txBody>
                  <a:tcPr marL="9525" marR="9525" marT="9525" marB="0" anchor="ctr"/>
                </a:tc>
              </a:tr>
              <a:tr h="170486">
                <a:tc>
                  <a:txBody>
                    <a:bodyPr wrap="square"/>
                    <a:lstStyle/>
                    <a:p>
                      <a:pPr algn="l"/>
                      <a:r>
                        <a:rPr sz="1050" b="0" i="0">
                          <a:solidFill>
                            <a:srgbClr val="000000"/>
                          </a:solidFill>
                          <a:latin typeface="Calibri"/>
                        </a:rPr>
                        <a:t>Table 80: Global Market Value by Product Type and Sales Channel, US$ Mn, 2026–2036</a:t>
                      </a:r>
                      <a:endParaRPr sz="1050"/>
                    </a:p>
                  </a:txBody>
                  <a:tcPr marL="9525" marR="9525" marT="9525" marB="0" anchor="ctr"/>
                </a:tc>
              </a:tr>
              <a:tr h="170486">
                <a:tc>
                  <a:txBody>
                    <a:bodyPr wrap="square"/>
                    <a:lstStyle/>
                    <a:p>
                      <a:pPr algn="l"/>
                      <a:r>
                        <a:rPr sz="1050" b="0" i="0">
                          <a:solidFill>
                            <a:srgbClr val="000000"/>
                          </a:solidFill>
                          <a:latin typeface="Calibri"/>
                        </a:rPr>
                        <a:t>Table 81: Global Market Value by Extraction / Processing Method and Source, US$ Mn, 2026–2036</a:t>
                      </a:r>
                      <a:endParaRPr sz="1050"/>
                    </a:p>
                  </a:txBody>
                  <a:tcPr marL="9525" marR="9525" marT="9525" marB="0" anchor="ctr"/>
                </a:tc>
              </a:tr>
              <a:tr h="170486">
                <a:tc>
                  <a:txBody>
                    <a:bodyPr wrap="square"/>
                    <a:lstStyle/>
                    <a:p>
                      <a:pPr algn="l"/>
                      <a:r>
                        <a:rPr sz="1050" b="0" i="0">
                          <a:solidFill>
                            <a:srgbClr val="000000"/>
                          </a:solidFill>
                          <a:latin typeface="Calibri"/>
                        </a:rPr>
                        <a:t>Table 82: Global Market Value by Extraction / Processing Method and Form, US$ Mn, 2026–2036</a:t>
                      </a:r>
                      <a:endParaRPr sz="1050"/>
                    </a:p>
                  </a:txBody>
                  <a:tcPr marL="9525" marR="9525" marT="9525" marB="0" anchor="ctr"/>
                </a:tc>
              </a:tr>
              <a:tr h="170486">
                <a:tc>
                  <a:txBody>
                    <a:bodyPr wrap="square"/>
                    <a:lstStyle/>
                    <a:p>
                      <a:pPr algn="l"/>
                      <a:r>
                        <a:rPr sz="1050" b="0" i="0">
                          <a:solidFill>
                            <a:srgbClr val="000000"/>
                          </a:solidFill>
                          <a:latin typeface="Calibri"/>
                        </a:rPr>
                        <a:t>Table 83: Global Market Value by Extraction / Processing Method and Application, US$ Mn, 2026–2036</a:t>
                      </a:r>
                      <a:endParaRPr sz="1050"/>
                    </a:p>
                  </a:txBody>
                  <a:tcPr marL="9525" marR="9525" marT="9525" marB="0" anchor="ctr"/>
                </a:tc>
              </a:tr>
              <a:tr h="334153">
                <a:tc>
                  <a:txBody>
                    <a:bodyPr wrap="square"/>
                    <a:lstStyle/>
                    <a:p>
                      <a:pPr algn="l"/>
                      <a:r>
                        <a:rPr sz="1050" b="0" i="0">
                          <a:solidFill>
                            <a:srgbClr val="000000"/>
                          </a:solidFill>
                          <a:latin typeface="Calibri"/>
                        </a:rPr>
                        <a:t>Table 84: Global Market Value by Extraction / Processing Method and Sales Channel, US$ Mn, 2026–2036</a:t>
                      </a:r>
                      <a:endParaRPr sz="1050"/>
                    </a:p>
                  </a:txBody>
                  <a:tcPr marL="9525" marR="9525" marT="9525" marB="0" anchor="ctr"/>
                </a:tc>
              </a:tr>
              <a:tr h="170486">
                <a:tc>
                  <a:txBody>
                    <a:bodyPr wrap="square"/>
                    <a:lstStyle/>
                    <a:p>
                      <a:pPr algn="l"/>
                      <a:r>
                        <a:rPr sz="1050" b="0" i="0">
                          <a:solidFill>
                            <a:srgbClr val="000000"/>
                          </a:solidFill>
                          <a:latin typeface="Calibri"/>
                        </a:rPr>
                        <a:t>Table 85: Global Market Value by Source and Form, US$ Mn, 2026–2036</a:t>
                      </a:r>
                      <a:endParaRPr sz="1050"/>
                    </a:p>
                  </a:txBody>
                  <a:tcPr marL="9525" marR="9525" marT="9525" marB="0" anchor="ctr"/>
                </a:tc>
              </a:tr>
              <a:tr h="170486">
                <a:tc>
                  <a:txBody>
                    <a:bodyPr wrap="square"/>
                    <a:lstStyle/>
                    <a:p>
                      <a:pPr algn="l"/>
                      <a:r>
                        <a:rPr sz="1050" b="0" i="0">
                          <a:solidFill>
                            <a:srgbClr val="000000"/>
                          </a:solidFill>
                          <a:latin typeface="Calibri"/>
                        </a:rPr>
                        <a:t>Table 86: Global Market Value by Source and Application, US$ Mn, 2026–2036</a:t>
                      </a:r>
                      <a:endParaRPr sz="1050"/>
                    </a:p>
                  </a:txBody>
                  <a:tcPr marL="9525" marR="9525" marT="9525" marB="0" anchor="ctr"/>
                </a:tc>
              </a:tr>
              <a:tr h="170486">
                <a:tc>
                  <a:txBody>
                    <a:bodyPr wrap="square"/>
                    <a:lstStyle/>
                    <a:p>
                      <a:pPr algn="l"/>
                      <a:r>
                        <a:rPr sz="1050" b="0" i="0">
                          <a:solidFill>
                            <a:srgbClr val="000000"/>
                          </a:solidFill>
                          <a:latin typeface="Calibri"/>
                        </a:rPr>
                        <a:t>Table 87: Global Market Value by Source and Sales Channel, US$ Mn, 2026–2036</a:t>
                      </a:r>
                      <a:endParaRPr sz="1050"/>
                    </a:p>
                  </a:txBody>
                  <a:tcPr marL="9525" marR="9525" marT="9525" marB="0" anchor="ctr"/>
                </a:tc>
              </a:tr>
            </a:tbl>
          </a:graphicData>
        </a:graphic>
      </p:graphicFrame>
      <p:graphicFrame>
        <p:nvGraphicFramePr>
          <p:cNvPr id="7" name="TMR Contents Table"/>
          <p:cNvGraphicFramePr>
            <a:graphicFrameLocks noGrp="1"/>
          </p:cNvGraphicFramePr>
          <p:nvPr/>
        </p:nvGraphicFramePr>
        <p:xfrm>
          <a:off x="6172200" y="981075"/>
          <a:ext cx="5876925" cy="5257812"/>
        </p:xfrm>
        <a:graphic>
          <a:graphicData uri="http://schemas.openxmlformats.org/drawingml/2006/table">
            <a:tbl>
              <a:tblPr>
                <a:tableStyleId>{3B4B98B0-60AC-42C2-AFA5-B58CD77FA1E5}</a:tableStyleId>
              </a:tblPr>
              <a:tblGrid>
                <a:gridCol w="5876925"/>
              </a:tblGrid>
              <a:tr h="169826">
                <a:tc>
                  <a:txBody>
                    <a:bodyPr wrap="square"/>
                    <a:lstStyle/>
                    <a:p>
                      <a:pPr algn="l"/>
                      <a:r>
                        <a:rPr sz="1050" b="0" i="0">
                          <a:solidFill>
                            <a:srgbClr val="000000"/>
                          </a:solidFill>
                          <a:latin typeface="Calibri"/>
                        </a:rPr>
                        <a:t>Table 88: Global Market Value by Form and Application, US$ Mn, 2026–2036</a:t>
                      </a:r>
                      <a:endParaRPr sz="1050"/>
                    </a:p>
                  </a:txBody>
                  <a:tcPr marL="9525" marR="9525" marT="9525" marB="0" anchor="ctr"/>
                </a:tc>
              </a:tr>
              <a:tr h="169826">
                <a:tc>
                  <a:txBody>
                    <a:bodyPr wrap="square"/>
                    <a:lstStyle/>
                    <a:p>
                      <a:pPr algn="l"/>
                      <a:r>
                        <a:rPr sz="1050" b="0" i="0">
                          <a:solidFill>
                            <a:srgbClr val="000000"/>
                          </a:solidFill>
                          <a:latin typeface="Calibri"/>
                        </a:rPr>
                        <a:t>Table 89: Global Market Value by Form and Sales Channel, US$ Mn, 2026–2036</a:t>
                      </a:r>
                      <a:endParaRPr sz="1050"/>
                    </a:p>
                  </a:txBody>
                  <a:tcPr marL="9525" marR="9525" marT="9525" marB="0" anchor="ctr"/>
                </a:tc>
              </a:tr>
              <a:tr h="169826">
                <a:tc>
                  <a:txBody>
                    <a:bodyPr wrap="square"/>
                    <a:lstStyle/>
                    <a:p>
                      <a:pPr algn="l"/>
                      <a:r>
                        <a:rPr sz="1050" b="0" i="0">
                          <a:solidFill>
                            <a:srgbClr val="000000"/>
                          </a:solidFill>
                          <a:latin typeface="Calibri"/>
                        </a:rPr>
                        <a:t>Table 90: Global Market Value by Application and Sales Channel, US$ Mn, 2026–2036</a:t>
                      </a:r>
                      <a:endParaRPr sz="1050"/>
                    </a:p>
                  </a:txBody>
                  <a:tcPr marL="9525" marR="9525" marT="9525" marB="0" anchor="ctr"/>
                </a:tc>
              </a:tr>
              <a:tr h="169826">
                <a:tc>
                  <a:txBody>
                    <a:bodyPr wrap="square"/>
                    <a:lstStyle/>
                    <a:p>
                      <a:pPr algn="l"/>
                      <a:r>
                        <a:rPr sz="1050" b="0" i="0">
                          <a:solidFill>
                            <a:srgbClr val="000000"/>
                          </a:solidFill>
                          <a:latin typeface="Calibri"/>
                        </a:rPr>
                        <a:t>Table 91: Global Market Value by Region and Product Type, US$ Mn, 2026–2036</a:t>
                      </a:r>
                      <a:endParaRPr sz="1050"/>
                    </a:p>
                  </a:txBody>
                  <a:tcPr marL="9525" marR="9525" marT="9525" marB="0" anchor="ctr"/>
                </a:tc>
              </a:tr>
              <a:tr h="169826">
                <a:tc>
                  <a:txBody>
                    <a:bodyPr wrap="square"/>
                    <a:lstStyle/>
                    <a:p>
                      <a:pPr algn="l"/>
                      <a:r>
                        <a:rPr sz="1050" b="0" i="0">
                          <a:solidFill>
                            <a:srgbClr val="000000"/>
                          </a:solidFill>
                          <a:latin typeface="Calibri"/>
                        </a:rPr>
                        <a:t>Table 92: Global Market Value by Region and Extraction / Processing Method, US$ Mn, 2026–2036</a:t>
                      </a:r>
                      <a:endParaRPr sz="1050"/>
                    </a:p>
                  </a:txBody>
                  <a:tcPr marL="9525" marR="9525" marT="9525" marB="0" anchor="ctr"/>
                </a:tc>
              </a:tr>
              <a:tr h="169826">
                <a:tc>
                  <a:txBody>
                    <a:bodyPr wrap="square"/>
                    <a:lstStyle/>
                    <a:p>
                      <a:pPr algn="l"/>
                      <a:r>
                        <a:rPr sz="1050" b="0" i="0">
                          <a:solidFill>
                            <a:srgbClr val="000000"/>
                          </a:solidFill>
                          <a:latin typeface="Calibri"/>
                        </a:rPr>
                        <a:t>Table 93: Global Market Value by Region and Source, US$ Mn, 2026–2036</a:t>
                      </a:r>
                      <a:endParaRPr sz="1050"/>
                    </a:p>
                  </a:txBody>
                  <a:tcPr marL="9525" marR="9525" marT="9525" marB="0" anchor="ctr"/>
                </a:tc>
              </a:tr>
              <a:tr h="169826">
                <a:tc>
                  <a:txBody>
                    <a:bodyPr wrap="square"/>
                    <a:lstStyle/>
                    <a:p>
                      <a:pPr algn="l"/>
                      <a:r>
                        <a:rPr sz="1050" b="0" i="0">
                          <a:solidFill>
                            <a:srgbClr val="000000"/>
                          </a:solidFill>
                          <a:latin typeface="Calibri"/>
                        </a:rPr>
                        <a:t>Table 94: Global Market Value by Region and Form, US$ Mn, 2026–2036</a:t>
                      </a:r>
                      <a:endParaRPr sz="1050"/>
                    </a:p>
                  </a:txBody>
                  <a:tcPr marL="9525" marR="9525" marT="9525" marB="0" anchor="ctr"/>
                </a:tc>
              </a:tr>
              <a:tr h="169826">
                <a:tc>
                  <a:txBody>
                    <a:bodyPr wrap="square"/>
                    <a:lstStyle/>
                    <a:p>
                      <a:pPr algn="l"/>
                      <a:r>
                        <a:rPr sz="1050" b="0" i="0">
                          <a:solidFill>
                            <a:srgbClr val="000000"/>
                          </a:solidFill>
                          <a:latin typeface="Calibri"/>
                        </a:rPr>
                        <a:t>Table 95: Global Market Value by Region and Application, US$ Mn, 2026–2036</a:t>
                      </a:r>
                      <a:endParaRPr sz="1050"/>
                    </a:p>
                  </a:txBody>
                  <a:tcPr marL="9525" marR="9525" marT="9525" marB="0" anchor="ctr"/>
                </a:tc>
              </a:tr>
              <a:tr h="169826">
                <a:tc>
                  <a:txBody>
                    <a:bodyPr wrap="square"/>
                    <a:lstStyle/>
                    <a:p>
                      <a:pPr algn="l"/>
                      <a:r>
                        <a:rPr sz="1050" b="0" i="0">
                          <a:solidFill>
                            <a:srgbClr val="000000"/>
                          </a:solidFill>
                          <a:latin typeface="Calibri"/>
                        </a:rPr>
                        <a:t>Table 96: Global Market Value by Region and Sales Channel, US$ Mn, 2026–2036</a:t>
                      </a:r>
                      <a:endParaRPr sz="1050"/>
                    </a:p>
                  </a:txBody>
                  <a:tcPr marL="9525" marR="9525" marT="9525" marB="0" anchor="ctr"/>
                </a:tc>
              </a:tr>
              <a:tr h="169826">
                <a:tc>
                  <a:txBody>
                    <a:bodyPr wrap="square"/>
                    <a:lstStyle/>
                    <a:p>
                      <a:pPr algn="l"/>
                      <a:r>
                        <a:rPr sz="1050" b="0" i="0">
                          <a:solidFill>
                            <a:srgbClr val="000000"/>
                          </a:solidFill>
                          <a:latin typeface="Calibri"/>
                        </a:rPr>
                        <a:t>Table 97: Global Market CAGR by Product Type and Extraction / Processing Method, %, 2026–2036</a:t>
                      </a:r>
                      <a:endParaRPr sz="1050"/>
                    </a:p>
                  </a:txBody>
                  <a:tcPr marL="9525" marR="9525" marT="9525" marB="0" anchor="ctr"/>
                </a:tc>
              </a:tr>
              <a:tr h="169826">
                <a:tc>
                  <a:txBody>
                    <a:bodyPr wrap="square"/>
                    <a:lstStyle/>
                    <a:p>
                      <a:pPr algn="l"/>
                      <a:r>
                        <a:rPr sz="1050" b="0" i="0">
                          <a:solidFill>
                            <a:srgbClr val="000000"/>
                          </a:solidFill>
                          <a:latin typeface="Calibri"/>
                        </a:rPr>
                        <a:t>Table 98: Global Market CAGR by Product Type and Source, %, 2026–2036</a:t>
                      </a:r>
                      <a:endParaRPr sz="1050"/>
                    </a:p>
                  </a:txBody>
                  <a:tcPr marL="9525" marR="9525" marT="9525" marB="0" anchor="ctr"/>
                </a:tc>
              </a:tr>
              <a:tr h="169826">
                <a:tc>
                  <a:txBody>
                    <a:bodyPr wrap="square"/>
                    <a:lstStyle/>
                    <a:p>
                      <a:pPr algn="l"/>
                      <a:r>
                        <a:rPr sz="1050" b="0" i="0">
                          <a:solidFill>
                            <a:srgbClr val="000000"/>
                          </a:solidFill>
                          <a:latin typeface="Calibri"/>
                        </a:rPr>
                        <a:t>Table 99: Global Market CAGR by Product Type and Form, %, 2026–2036</a:t>
                      </a:r>
                      <a:endParaRPr sz="1050"/>
                    </a:p>
                  </a:txBody>
                  <a:tcPr marL="9525" marR="9525" marT="9525" marB="0" anchor="ctr"/>
                </a:tc>
              </a:tr>
              <a:tr h="169826">
                <a:tc>
                  <a:txBody>
                    <a:bodyPr wrap="square"/>
                    <a:lstStyle/>
                    <a:p>
                      <a:pPr algn="l"/>
                      <a:r>
                        <a:rPr sz="1050" b="0" i="0">
                          <a:solidFill>
                            <a:srgbClr val="000000"/>
                          </a:solidFill>
                          <a:latin typeface="Calibri"/>
                        </a:rPr>
                        <a:t>Table 100: Global Market CAGR by Product Type and Application, %, 2026–2036</a:t>
                      </a:r>
                      <a:endParaRPr sz="1050"/>
                    </a:p>
                  </a:txBody>
                  <a:tcPr marL="9525" marR="9525" marT="9525" marB="0" anchor="ctr"/>
                </a:tc>
              </a:tr>
              <a:tr h="169826">
                <a:tc>
                  <a:txBody>
                    <a:bodyPr wrap="square"/>
                    <a:lstStyle/>
                    <a:p>
                      <a:pPr algn="l"/>
                      <a:r>
                        <a:rPr sz="1050" b="0" i="0">
                          <a:solidFill>
                            <a:srgbClr val="000000"/>
                          </a:solidFill>
                          <a:latin typeface="Calibri"/>
                        </a:rPr>
                        <a:t>Table 101: Global Market CAGR by Product Type and Sales Channel, %, 2026–2036</a:t>
                      </a:r>
                      <a:endParaRPr sz="1050"/>
                    </a:p>
                  </a:txBody>
                  <a:tcPr marL="9525" marR="9525" marT="9525" marB="0" anchor="ctr"/>
                </a:tc>
              </a:tr>
              <a:tr h="169826">
                <a:tc>
                  <a:txBody>
                    <a:bodyPr wrap="square"/>
                    <a:lstStyle/>
                    <a:p>
                      <a:pPr algn="l"/>
                      <a:r>
                        <a:rPr sz="1050" b="0" i="0">
                          <a:solidFill>
                            <a:srgbClr val="000000"/>
                          </a:solidFill>
                          <a:latin typeface="Calibri"/>
                        </a:rPr>
                        <a:t>Table 102: Global Market CAGR by Extraction / Processing Method and Source, %, 2026–2036</a:t>
                      </a:r>
                      <a:endParaRPr sz="1050"/>
                    </a:p>
                  </a:txBody>
                  <a:tcPr marL="9525" marR="9525" marT="9525" marB="0" anchor="ctr"/>
                </a:tc>
              </a:tr>
              <a:tr h="169826">
                <a:tc>
                  <a:txBody>
                    <a:bodyPr wrap="square"/>
                    <a:lstStyle/>
                    <a:p>
                      <a:pPr algn="l"/>
                      <a:r>
                        <a:rPr sz="1050" b="0" i="0">
                          <a:solidFill>
                            <a:srgbClr val="000000"/>
                          </a:solidFill>
                          <a:latin typeface="Calibri"/>
                        </a:rPr>
                        <a:t>Table 103: Global Market CAGR by Extraction / Processing Method and Form, %, 2026–2036</a:t>
                      </a:r>
                      <a:endParaRPr sz="1050"/>
                    </a:p>
                  </a:txBody>
                  <a:tcPr marL="9525" marR="9525" marT="9525" marB="0" anchor="ctr"/>
                </a:tc>
              </a:tr>
              <a:tr h="169826">
                <a:tc>
                  <a:txBody>
                    <a:bodyPr wrap="square"/>
                    <a:lstStyle/>
                    <a:p>
                      <a:pPr algn="l"/>
                      <a:r>
                        <a:rPr sz="1050" b="0" i="0">
                          <a:solidFill>
                            <a:srgbClr val="000000"/>
                          </a:solidFill>
                          <a:latin typeface="Calibri"/>
                        </a:rPr>
                        <a:t>Table 104: Global Market CAGR by Extraction / Processing Method and Application, %, 2026–2036</a:t>
                      </a:r>
                      <a:endParaRPr sz="1050"/>
                    </a:p>
                  </a:txBody>
                  <a:tcPr marL="9525" marR="9525" marT="9525" marB="0" anchor="ctr"/>
                </a:tc>
              </a:tr>
              <a:tr h="169826">
                <a:tc>
                  <a:txBody>
                    <a:bodyPr wrap="square"/>
                    <a:lstStyle/>
                    <a:p>
                      <a:pPr algn="l"/>
                      <a:r>
                        <a:rPr sz="1050" b="0" i="0">
                          <a:solidFill>
                            <a:srgbClr val="000000"/>
                          </a:solidFill>
                          <a:latin typeface="Calibri"/>
                        </a:rPr>
                        <a:t>Table 105: Global Market Value by Region, US$ Mn, 2021–2036</a:t>
                      </a:r>
                      <a:endParaRPr sz="1050"/>
                    </a:p>
                  </a:txBody>
                  <a:tcPr marL="9525" marR="9525" marT="9525" marB="0" anchor="ctr"/>
                </a:tc>
              </a:tr>
              <a:tr h="169826">
                <a:tc>
                  <a:txBody>
                    <a:bodyPr wrap="square"/>
                    <a:lstStyle/>
                    <a:p>
                      <a:pPr algn="l"/>
                      <a:r>
                        <a:rPr sz="1050" b="0" i="0">
                          <a:solidFill>
                            <a:srgbClr val="000000"/>
                          </a:solidFill>
                          <a:latin typeface="Calibri"/>
                        </a:rPr>
                        <a:t>Table 106: Global Market CAGR and Absolute $ Opportunity by Region, %, US$ Mn, 2026–2036</a:t>
                      </a:r>
                      <a:endParaRPr sz="1050"/>
                    </a:p>
                  </a:txBody>
                  <a:tcPr marL="9525" marR="9525" marT="9525" marB="0" anchor="ctr"/>
                </a:tc>
              </a:tr>
              <a:tr h="169826">
                <a:tc>
                  <a:txBody>
                    <a:bodyPr wrap="square"/>
                    <a:lstStyle/>
                    <a:p>
                      <a:pPr algn="l"/>
                      <a:r>
                        <a:rPr sz="1050" b="0" i="0">
                          <a:solidFill>
                            <a:srgbClr val="000000"/>
                          </a:solidFill>
                          <a:latin typeface="Calibri"/>
                        </a:rPr>
                        <a:t>Table 107: Global Market Share and BPS Change by Region, %, 2026 and 2036</a:t>
                      </a:r>
                      <a:endParaRPr sz="1050"/>
                    </a:p>
                  </a:txBody>
                  <a:tcPr marL="9525" marR="9525" marT="9525" marB="0" anchor="ctr"/>
                </a:tc>
              </a:tr>
              <a:tr h="169826">
                <a:tc>
                  <a:txBody>
                    <a:bodyPr wrap="square"/>
                    <a:lstStyle/>
                    <a:p>
                      <a:pPr algn="l"/>
                      <a:r>
                        <a:rPr sz="1050" b="0" i="0">
                          <a:solidFill>
                            <a:srgbClr val="000000"/>
                          </a:solidFill>
                          <a:latin typeface="Calibri"/>
                        </a:rPr>
                        <a:t>Table 108: Global Market Volume by Region, MT, 2021–2036</a:t>
                      </a:r>
                      <a:endParaRPr sz="1050"/>
                    </a:p>
                  </a:txBody>
                  <a:tcPr marL="9525" marR="9525" marT="9525" marB="0" anchor="ctr"/>
                </a:tc>
              </a:tr>
              <a:tr h="169826">
                <a:tc>
                  <a:txBody>
                    <a:bodyPr wrap="square"/>
                    <a:lstStyle/>
                    <a:p>
                      <a:pPr algn="l"/>
                      <a:r>
                        <a:rPr sz="1050" b="0" i="0">
                          <a:solidFill>
                            <a:srgbClr val="000000"/>
                          </a:solidFill>
                          <a:latin typeface="Calibri"/>
                        </a:rPr>
                        <a:t>Table 109: North America Market Value by Country, US$ Mn, 2021–2036</a:t>
                      </a:r>
                      <a:endParaRPr sz="1050"/>
                    </a:p>
                  </a:txBody>
                  <a:tcPr marL="9525" marR="9525" marT="9525" marB="0" anchor="ctr"/>
                </a:tc>
              </a:tr>
              <a:tr h="169826">
                <a:tc>
                  <a:txBody>
                    <a:bodyPr wrap="square"/>
                    <a:lstStyle/>
                    <a:p>
                      <a:pPr algn="l"/>
                      <a:r>
                        <a:rPr sz="1050" b="0" i="0">
                          <a:solidFill>
                            <a:srgbClr val="000000"/>
                          </a:solidFill>
                          <a:latin typeface="Calibri"/>
                        </a:rPr>
                        <a:t>Table 110: Latin America Market Value by Country, US$ Mn, 2021–2036</a:t>
                      </a:r>
                      <a:endParaRPr sz="1050"/>
                    </a:p>
                  </a:txBody>
                  <a:tcPr marL="9525" marR="9525" marT="9525" marB="0" anchor="ctr"/>
                </a:tc>
              </a:tr>
              <a:tr h="169826">
                <a:tc>
                  <a:txBody>
                    <a:bodyPr wrap="square"/>
                    <a:lstStyle/>
                    <a:p>
                      <a:pPr algn="l"/>
                      <a:r>
                        <a:rPr sz="1050" b="0" i="0">
                          <a:solidFill>
                            <a:srgbClr val="000000"/>
                          </a:solidFill>
                          <a:latin typeface="Calibri"/>
                        </a:rPr>
                        <a:t>Table 111: Europe Market Value by Country, US$ Mn, 2021–2036</a:t>
                      </a:r>
                      <a:endParaRPr sz="1050"/>
                    </a:p>
                  </a:txBody>
                  <a:tcPr marL="9525" marR="9525" marT="9525" marB="0" anchor="ctr"/>
                </a:tc>
              </a:tr>
              <a:tr h="169826">
                <a:tc>
                  <a:txBody>
                    <a:bodyPr wrap="square"/>
                    <a:lstStyle/>
                    <a:p>
                      <a:pPr algn="l"/>
                      <a:r>
                        <a:rPr sz="1050" b="0" i="0">
                          <a:solidFill>
                            <a:srgbClr val="000000"/>
                          </a:solidFill>
                          <a:latin typeface="Calibri"/>
                        </a:rPr>
                        <a:t>Table 112: East Asia Market Value by Country, US$ Mn, 2021–2036</a:t>
                      </a:r>
                      <a:endParaRPr sz="1050"/>
                    </a:p>
                  </a:txBody>
                  <a:tcPr marL="9525" marR="9525" marT="9525" marB="0" anchor="ctr"/>
                </a:tc>
              </a:tr>
              <a:tr h="169826">
                <a:tc>
                  <a:txBody>
                    <a:bodyPr wrap="square"/>
                    <a:lstStyle/>
                    <a:p>
                      <a:pPr algn="l"/>
                      <a:r>
                        <a:rPr sz="1050" b="0" i="0">
                          <a:solidFill>
                            <a:srgbClr val="000000"/>
                          </a:solidFill>
                          <a:latin typeface="Calibri"/>
                        </a:rPr>
                        <a:t>Table 113: South Asia &amp; Pacific Market Value by Country, US$ Mn, 2021–2036</a:t>
                      </a:r>
                      <a:endParaRPr sz="1050"/>
                    </a:p>
                  </a:txBody>
                  <a:tcPr marL="9525" marR="9525" marT="9525" marB="0" anchor="ctr"/>
                </a:tc>
              </a:tr>
              <a:tr h="169826">
                <a:tc>
                  <a:txBody>
                    <a:bodyPr wrap="square"/>
                    <a:lstStyle/>
                    <a:p>
                      <a:pPr algn="l"/>
                      <a:r>
                        <a:rPr sz="1050" b="0" i="0">
                          <a:solidFill>
                            <a:srgbClr val="000000"/>
                          </a:solidFill>
                          <a:latin typeface="Calibri"/>
                        </a:rPr>
                        <a:t>Table 114: Middle East and Africa Market Value by Country, US$ Mn, 2021–2036</a:t>
                      </a:r>
                      <a:endParaRPr sz="1050"/>
                    </a:p>
                  </a:txBody>
                  <a:tcPr marL="9525" marR="9525" marT="9525" marB="0" anchor="ctr"/>
                </a:tc>
              </a:tr>
              <a:tr h="332858">
                <a:tc>
                  <a:txBody>
                    <a:bodyPr wrap="square"/>
                    <a:lstStyle/>
                    <a:p>
                      <a:pPr algn="l"/>
                      <a:r>
                        <a:rPr sz="1050" b="0" i="0">
                          <a:solidFill>
                            <a:srgbClr val="000000"/>
                          </a:solidFill>
                          <a:latin typeface="Calibri"/>
                        </a:rPr>
                        <a:t>Table 115: North America Market CAGR and Absolute $ Opportunity by Country, %, US$ Mn, 2026–2036</a:t>
                      </a:r>
                      <a:endParaRPr sz="1050"/>
                    </a:p>
                  </a:txBody>
                  <a:tcPr marL="9525" marR="9525" marT="9525" marB="0" anchor="ctr"/>
                </a:tc>
              </a:tr>
              <a:tr h="169826">
                <a:tc>
                  <a:txBody>
                    <a:bodyPr wrap="square"/>
                    <a:lstStyle/>
                    <a:p>
                      <a:pPr algn="l"/>
                      <a:r>
                        <a:rPr sz="1050" b="0" i="0">
                          <a:solidFill>
                            <a:srgbClr val="000000"/>
                          </a:solidFill>
                          <a:latin typeface="Calibri"/>
                        </a:rPr>
                        <a:t>Table 116: Latin America Market CAGR and Absolute $ Opportunity by Country, %, US$ Mn, 2026–2036</a:t>
                      </a:r>
                      <a:endParaRPr sz="1050"/>
                    </a:p>
                  </a:txBody>
                  <a:tcPr marL="9525" marR="9525" marT="9525" marB="0" anchor="ctr"/>
                </a:tc>
              </a:tr>
              <a:tr h="169826">
                <a:tc>
                  <a:txBody>
                    <a:bodyPr wrap="square"/>
                    <a:lstStyle/>
                    <a:p>
                      <a:pPr algn="l"/>
                      <a:r>
                        <a:rPr sz="1050" b="0" i="0">
                          <a:solidFill>
                            <a:srgbClr val="000000"/>
                          </a:solidFill>
                          <a:latin typeface="Calibri"/>
                        </a:rPr>
                        <a:t>Table 117: Europe Market CAGR and Absolute $ Opportunity by Country, %, US$ Mn, 2026–2036</a:t>
                      </a:r>
                      <a:endParaRPr sz="1050"/>
                    </a:p>
                  </a:txBody>
                  <a:tcPr marL="9525" marR="9525" marT="9525" marB="0" anchor="ctr"/>
                </a:tc>
              </a:tr>
            </a:tbl>
          </a:graphicData>
        </a:graphic>
      </p:graphicFrame>
      <p:sp>
        <p:nvSpPr>
          <p:cNvPr id="8" name="Rectangle 7"/>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76200"/>
            <a:ext cx="10896600"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List of Tables (3/4)</a:t>
            </a:r>
          </a:p>
        </p:txBody>
      </p:sp>
      <p:graphicFrame>
        <p:nvGraphicFramePr>
          <p:cNvPr id="6" name="TMR Contents Table"/>
          <p:cNvGraphicFramePr>
            <a:graphicFrameLocks noGrp="1"/>
          </p:cNvGraphicFramePr>
          <p:nvPr/>
        </p:nvGraphicFramePr>
        <p:xfrm>
          <a:off x="142875" y="981075"/>
          <a:ext cx="5876925" cy="5257793"/>
        </p:xfrm>
        <a:graphic>
          <a:graphicData uri="http://schemas.openxmlformats.org/drawingml/2006/table">
            <a:tbl>
              <a:tblPr>
                <a:tableStyleId>{3B4B98B0-60AC-42C2-AFA5-B58CD77FA1E5}</a:tableStyleId>
              </a:tblPr>
              <a:tblGrid>
                <a:gridCol w="5876925"/>
              </a:tblGrid>
              <a:tr h="170045">
                <a:tc>
                  <a:txBody>
                    <a:bodyPr wrap="square"/>
                    <a:lstStyle/>
                    <a:p>
                      <a:pPr algn="l"/>
                      <a:r>
                        <a:rPr sz="1050" b="0" i="0">
                          <a:solidFill>
                            <a:srgbClr val="000000"/>
                          </a:solidFill>
                          <a:latin typeface="Calibri"/>
                        </a:rPr>
                        <a:t>Table 118: East Asia Market CAGR and Absolute $ Opportunity by Country, %, US$ Mn, 2026–2036</a:t>
                      </a:r>
                      <a:endParaRPr sz="1050"/>
                    </a:p>
                  </a:txBody>
                  <a:tcPr marL="9525" marR="9525" marT="9525" marB="0" anchor="ctr"/>
                </a:tc>
              </a:tr>
              <a:tr h="333289">
                <a:tc>
                  <a:txBody>
                    <a:bodyPr wrap="square"/>
                    <a:lstStyle/>
                    <a:p>
                      <a:pPr algn="l"/>
                      <a:r>
                        <a:rPr sz="1050" b="0" i="0">
                          <a:solidFill>
                            <a:srgbClr val="000000"/>
                          </a:solidFill>
                          <a:latin typeface="Calibri"/>
                        </a:rPr>
                        <a:t>Table 119: South Asia &amp; Pacific Market CAGR and Absolute $ Opportunity by Country, %, US$ Mn, 2026–2036</a:t>
                      </a:r>
                      <a:endParaRPr sz="1050"/>
                    </a:p>
                  </a:txBody>
                  <a:tcPr marL="9525" marR="9525" marT="9525" marB="0" anchor="ctr"/>
                </a:tc>
              </a:tr>
              <a:tr h="333289">
                <a:tc>
                  <a:txBody>
                    <a:bodyPr wrap="square"/>
                    <a:lstStyle/>
                    <a:p>
                      <a:pPr algn="l"/>
                      <a:r>
                        <a:rPr sz="1050" b="0" i="0">
                          <a:solidFill>
                            <a:srgbClr val="000000"/>
                          </a:solidFill>
                          <a:latin typeface="Calibri"/>
                        </a:rPr>
                        <a:t>Table 120: Middle East and Africa Market CAGR and Absolute $ Opportunity by Country, %, US$ Mn, 2026–2036</a:t>
                      </a:r>
                      <a:endParaRPr sz="1050"/>
                    </a:p>
                  </a:txBody>
                  <a:tcPr marL="9525" marR="9525" marT="9525" marB="0" anchor="ctr"/>
                </a:tc>
              </a:tr>
              <a:tr h="170045">
                <a:tc>
                  <a:txBody>
                    <a:bodyPr wrap="square"/>
                    <a:lstStyle/>
                    <a:p>
                      <a:pPr algn="l"/>
                      <a:r>
                        <a:rPr sz="1050" b="0" i="0">
                          <a:solidFill>
                            <a:srgbClr val="000000"/>
                          </a:solidFill>
                          <a:latin typeface="Calibri"/>
                        </a:rPr>
                        <a:t>Table 121: North America Market Value by Product Type, US$ Mn, 2021–2036</a:t>
                      </a:r>
                      <a:endParaRPr sz="1050"/>
                    </a:p>
                  </a:txBody>
                  <a:tcPr marL="9525" marR="9525" marT="9525" marB="0" anchor="ctr"/>
                </a:tc>
              </a:tr>
              <a:tr h="170045">
                <a:tc>
                  <a:txBody>
                    <a:bodyPr wrap="square"/>
                    <a:lstStyle/>
                    <a:p>
                      <a:pPr algn="l"/>
                      <a:r>
                        <a:rPr sz="1050" b="0" i="0">
                          <a:solidFill>
                            <a:srgbClr val="000000"/>
                          </a:solidFill>
                          <a:latin typeface="Calibri"/>
                        </a:rPr>
                        <a:t>Table 122: Latin America Market Value by Product Type, US$ Mn, 2021–2036</a:t>
                      </a:r>
                      <a:endParaRPr sz="1050"/>
                    </a:p>
                  </a:txBody>
                  <a:tcPr marL="9525" marR="9525" marT="9525" marB="0" anchor="ctr"/>
                </a:tc>
              </a:tr>
              <a:tr h="170045">
                <a:tc>
                  <a:txBody>
                    <a:bodyPr wrap="square"/>
                    <a:lstStyle/>
                    <a:p>
                      <a:pPr algn="l"/>
                      <a:r>
                        <a:rPr sz="1050" b="0" i="0">
                          <a:solidFill>
                            <a:srgbClr val="000000"/>
                          </a:solidFill>
                          <a:latin typeface="Calibri"/>
                        </a:rPr>
                        <a:t>Table 123: Europe Market Value by Product Type, US$ Mn, 2021–2036</a:t>
                      </a:r>
                      <a:endParaRPr sz="1050"/>
                    </a:p>
                  </a:txBody>
                  <a:tcPr marL="9525" marR="9525" marT="9525" marB="0" anchor="ctr"/>
                </a:tc>
              </a:tr>
              <a:tr h="170045">
                <a:tc>
                  <a:txBody>
                    <a:bodyPr wrap="square"/>
                    <a:lstStyle/>
                    <a:p>
                      <a:pPr algn="l"/>
                      <a:r>
                        <a:rPr sz="1050" b="0" i="0">
                          <a:solidFill>
                            <a:srgbClr val="000000"/>
                          </a:solidFill>
                          <a:latin typeface="Calibri"/>
                        </a:rPr>
                        <a:t>Table 124: East Asia Market Value by Product Type, US$ Mn, 2021–2036</a:t>
                      </a:r>
                      <a:endParaRPr sz="1050"/>
                    </a:p>
                  </a:txBody>
                  <a:tcPr marL="9525" marR="9525" marT="9525" marB="0" anchor="ctr"/>
                </a:tc>
              </a:tr>
              <a:tr h="170045">
                <a:tc>
                  <a:txBody>
                    <a:bodyPr wrap="square"/>
                    <a:lstStyle/>
                    <a:p>
                      <a:pPr algn="l"/>
                      <a:r>
                        <a:rPr sz="1050" b="0" i="0">
                          <a:solidFill>
                            <a:srgbClr val="000000"/>
                          </a:solidFill>
                          <a:latin typeface="Calibri"/>
                        </a:rPr>
                        <a:t>Table 125: South Asia &amp; Pacific Market Value by Product Type, US$ Mn, 2021–2036</a:t>
                      </a:r>
                      <a:endParaRPr sz="1050"/>
                    </a:p>
                  </a:txBody>
                  <a:tcPr marL="9525" marR="9525" marT="9525" marB="0" anchor="ctr"/>
                </a:tc>
              </a:tr>
              <a:tr h="170045">
                <a:tc>
                  <a:txBody>
                    <a:bodyPr wrap="square"/>
                    <a:lstStyle/>
                    <a:p>
                      <a:pPr algn="l"/>
                      <a:r>
                        <a:rPr sz="1050" b="0" i="0">
                          <a:solidFill>
                            <a:srgbClr val="000000"/>
                          </a:solidFill>
                          <a:latin typeface="Calibri"/>
                        </a:rPr>
                        <a:t>Table 126: Middle East and Africa Market Value by Product Type, US$ Mn, 2021–2036</a:t>
                      </a:r>
                      <a:endParaRPr sz="1050"/>
                    </a:p>
                  </a:txBody>
                  <a:tcPr marL="9525" marR="9525" marT="9525" marB="0" anchor="ctr"/>
                </a:tc>
              </a:tr>
              <a:tr h="170045">
                <a:tc>
                  <a:txBody>
                    <a:bodyPr wrap="square"/>
                    <a:lstStyle/>
                    <a:p>
                      <a:pPr algn="l"/>
                      <a:r>
                        <a:rPr sz="1050" b="0" i="0">
                          <a:solidFill>
                            <a:srgbClr val="000000"/>
                          </a:solidFill>
                          <a:latin typeface="Calibri"/>
                        </a:rPr>
                        <a:t>Table 127: North America Market Value by Extraction / Processing Method, US$ Mn, 2021–2036</a:t>
                      </a:r>
                      <a:endParaRPr sz="1050"/>
                    </a:p>
                  </a:txBody>
                  <a:tcPr marL="9525" marR="9525" marT="9525" marB="0" anchor="ctr"/>
                </a:tc>
              </a:tr>
              <a:tr h="170045">
                <a:tc>
                  <a:txBody>
                    <a:bodyPr wrap="square"/>
                    <a:lstStyle/>
                    <a:p>
                      <a:pPr algn="l"/>
                      <a:r>
                        <a:rPr sz="1050" b="0" i="0">
                          <a:solidFill>
                            <a:srgbClr val="000000"/>
                          </a:solidFill>
                          <a:latin typeface="Calibri"/>
                        </a:rPr>
                        <a:t>Table 128: Latin America Market Value by Extraction / Processing Method, US$ Mn, 2021–2036</a:t>
                      </a:r>
                      <a:endParaRPr sz="1050"/>
                    </a:p>
                  </a:txBody>
                  <a:tcPr marL="9525" marR="9525" marT="9525" marB="0" anchor="ctr"/>
                </a:tc>
              </a:tr>
              <a:tr h="170045">
                <a:tc>
                  <a:txBody>
                    <a:bodyPr wrap="square"/>
                    <a:lstStyle/>
                    <a:p>
                      <a:pPr algn="l"/>
                      <a:r>
                        <a:rPr sz="1050" b="0" i="0">
                          <a:solidFill>
                            <a:srgbClr val="000000"/>
                          </a:solidFill>
                          <a:latin typeface="Calibri"/>
                        </a:rPr>
                        <a:t>Table 129: Europe Market Value by Extraction / Processing Method, US$ Mn, 2021–2036</a:t>
                      </a:r>
                      <a:endParaRPr sz="1050"/>
                    </a:p>
                  </a:txBody>
                  <a:tcPr marL="9525" marR="9525" marT="9525" marB="0" anchor="ctr"/>
                </a:tc>
              </a:tr>
              <a:tr h="170045">
                <a:tc>
                  <a:txBody>
                    <a:bodyPr wrap="square"/>
                    <a:lstStyle/>
                    <a:p>
                      <a:pPr algn="l"/>
                      <a:r>
                        <a:rPr sz="1050" b="0" i="0">
                          <a:solidFill>
                            <a:srgbClr val="000000"/>
                          </a:solidFill>
                          <a:latin typeface="Calibri"/>
                        </a:rPr>
                        <a:t>Table 130: U.S. Market Value by Product Type, US$ Mn, 2021–2036</a:t>
                      </a:r>
                      <a:endParaRPr sz="1050"/>
                    </a:p>
                  </a:txBody>
                  <a:tcPr marL="9525" marR="9525" marT="9525" marB="0" anchor="ctr"/>
                </a:tc>
              </a:tr>
              <a:tr h="170045">
                <a:tc>
                  <a:txBody>
                    <a:bodyPr wrap="square"/>
                    <a:lstStyle/>
                    <a:p>
                      <a:pPr algn="l"/>
                      <a:r>
                        <a:rPr sz="1050" b="0" i="0">
                          <a:solidFill>
                            <a:srgbClr val="000000"/>
                          </a:solidFill>
                          <a:latin typeface="Calibri"/>
                        </a:rPr>
                        <a:t>Table 131: U.S. Market Historical and Forecast Growth, %, 2021–2036</a:t>
                      </a:r>
                      <a:endParaRPr sz="1050"/>
                    </a:p>
                  </a:txBody>
                  <a:tcPr marL="9525" marR="9525" marT="9525" marB="0" anchor="ctr"/>
                </a:tc>
              </a:tr>
              <a:tr h="170045">
                <a:tc>
                  <a:txBody>
                    <a:bodyPr wrap="square"/>
                    <a:lstStyle/>
                    <a:p>
                      <a:pPr algn="l"/>
                      <a:r>
                        <a:rPr sz="1050" b="0" i="0">
                          <a:solidFill>
                            <a:srgbClr val="000000"/>
                          </a:solidFill>
                          <a:latin typeface="Calibri"/>
                        </a:rPr>
                        <a:t>Table 132: U.S. Market Value by Application, US$ Mn, 2021–2036</a:t>
                      </a:r>
                      <a:endParaRPr sz="1050"/>
                    </a:p>
                  </a:txBody>
                  <a:tcPr marL="9525" marR="9525" marT="9525" marB="0" anchor="ctr"/>
                </a:tc>
              </a:tr>
              <a:tr h="170045">
                <a:tc>
                  <a:txBody>
                    <a:bodyPr wrap="square"/>
                    <a:lstStyle/>
                    <a:p>
                      <a:pPr algn="l"/>
                      <a:r>
                        <a:rPr sz="1050" b="0" i="0">
                          <a:solidFill>
                            <a:srgbClr val="000000"/>
                          </a:solidFill>
                          <a:latin typeface="Calibri"/>
                        </a:rPr>
                        <a:t>Table 133: U.S. Market Share within North America, %, 2025, 2026 and 2036</a:t>
                      </a:r>
                      <a:endParaRPr sz="1050"/>
                    </a:p>
                  </a:txBody>
                  <a:tcPr marL="9525" marR="9525" marT="9525" marB="0" anchor="ctr"/>
                </a:tc>
              </a:tr>
              <a:tr h="170045">
                <a:tc>
                  <a:txBody>
                    <a:bodyPr wrap="square"/>
                    <a:lstStyle/>
                    <a:p>
                      <a:pPr algn="l"/>
                      <a:r>
                        <a:rPr sz="1050" b="0" i="0">
                          <a:solidFill>
                            <a:srgbClr val="000000"/>
                          </a:solidFill>
                          <a:latin typeface="Calibri"/>
                        </a:rPr>
                        <a:t>Table 134: U.S. Market Value by Extraction / Processing Method, US$ Mn, 2021–2036</a:t>
                      </a:r>
                      <a:endParaRPr sz="1050"/>
                    </a:p>
                  </a:txBody>
                  <a:tcPr marL="9525" marR="9525" marT="9525" marB="0" anchor="ctr"/>
                </a:tc>
              </a:tr>
              <a:tr h="170045">
                <a:tc>
                  <a:txBody>
                    <a:bodyPr wrap="square"/>
                    <a:lstStyle/>
                    <a:p>
                      <a:pPr algn="l"/>
                      <a:r>
                        <a:rPr sz="1050" b="0" i="0">
                          <a:solidFill>
                            <a:srgbClr val="000000"/>
                          </a:solidFill>
                          <a:latin typeface="Calibri"/>
                        </a:rPr>
                        <a:t>Table 135: U.S. Market Value by Source, US$ Mn, 2021–2036</a:t>
                      </a:r>
                      <a:endParaRPr sz="1050"/>
                    </a:p>
                  </a:txBody>
                  <a:tcPr marL="9525" marR="9525" marT="9525" marB="0" anchor="ctr"/>
                </a:tc>
              </a:tr>
              <a:tr h="170045">
                <a:tc>
                  <a:txBody>
                    <a:bodyPr wrap="square"/>
                    <a:lstStyle/>
                    <a:p>
                      <a:pPr algn="l"/>
                      <a:r>
                        <a:rPr sz="1050" b="0" i="0">
                          <a:solidFill>
                            <a:srgbClr val="000000"/>
                          </a:solidFill>
                          <a:latin typeface="Calibri"/>
                        </a:rPr>
                        <a:t>Table 136: U.S. Market Value by Form, US$ Mn, 2021–2036</a:t>
                      </a:r>
                      <a:endParaRPr sz="1050"/>
                    </a:p>
                  </a:txBody>
                  <a:tcPr marL="9525" marR="9525" marT="9525" marB="0" anchor="ctr"/>
                </a:tc>
              </a:tr>
              <a:tr h="170045">
                <a:tc>
                  <a:txBody>
                    <a:bodyPr wrap="square"/>
                    <a:lstStyle/>
                    <a:p>
                      <a:pPr algn="l"/>
                      <a:r>
                        <a:rPr sz="1050" b="0" i="0">
                          <a:solidFill>
                            <a:srgbClr val="000000"/>
                          </a:solidFill>
                          <a:latin typeface="Calibri"/>
                        </a:rPr>
                        <a:t>Table 137: U.S. Market Value by Sales Channel, US$ Mn, 2021–2036</a:t>
                      </a:r>
                      <a:endParaRPr sz="1050"/>
                    </a:p>
                  </a:txBody>
                  <a:tcPr marL="9525" marR="9525" marT="9525" marB="0" anchor="ctr"/>
                </a:tc>
              </a:tr>
              <a:tr h="170045">
                <a:tc>
                  <a:txBody>
                    <a:bodyPr wrap="square"/>
                    <a:lstStyle/>
                    <a:p>
                      <a:pPr algn="l"/>
                      <a:r>
                        <a:rPr sz="1050" b="0" i="0">
                          <a:solidFill>
                            <a:srgbClr val="000000"/>
                          </a:solidFill>
                          <a:latin typeface="Calibri"/>
                        </a:rPr>
                        <a:t>Table 138: Germany Market Value by Product Type, US$ Mn, 2021–2036</a:t>
                      </a:r>
                      <a:endParaRPr sz="1050"/>
                    </a:p>
                  </a:txBody>
                  <a:tcPr marL="9525" marR="9525" marT="9525" marB="0" anchor="ctr"/>
                </a:tc>
              </a:tr>
              <a:tr h="170045">
                <a:tc>
                  <a:txBody>
                    <a:bodyPr wrap="square"/>
                    <a:lstStyle/>
                    <a:p>
                      <a:pPr algn="l"/>
                      <a:r>
                        <a:rPr sz="1050" b="0" i="0">
                          <a:solidFill>
                            <a:srgbClr val="000000"/>
                          </a:solidFill>
                          <a:latin typeface="Calibri"/>
                        </a:rPr>
                        <a:t>Table 139: Germany Market Historical and Forecast Growth, %, 2021–2036</a:t>
                      </a:r>
                      <a:endParaRPr sz="1050"/>
                    </a:p>
                  </a:txBody>
                  <a:tcPr marL="9525" marR="9525" marT="9525" marB="0" anchor="ctr"/>
                </a:tc>
              </a:tr>
              <a:tr h="170045">
                <a:tc>
                  <a:txBody>
                    <a:bodyPr wrap="square"/>
                    <a:lstStyle/>
                    <a:p>
                      <a:pPr algn="l"/>
                      <a:r>
                        <a:rPr sz="1050" b="0" i="0">
                          <a:solidFill>
                            <a:srgbClr val="000000"/>
                          </a:solidFill>
                          <a:latin typeface="Calibri"/>
                        </a:rPr>
                        <a:t>Table 140: Germany Market Value by Application, US$ Mn, 2021–2036</a:t>
                      </a:r>
                      <a:endParaRPr sz="1050"/>
                    </a:p>
                  </a:txBody>
                  <a:tcPr marL="9525" marR="9525" marT="9525" marB="0" anchor="ctr"/>
                </a:tc>
              </a:tr>
              <a:tr h="170045">
                <a:tc>
                  <a:txBody>
                    <a:bodyPr wrap="square"/>
                    <a:lstStyle/>
                    <a:p>
                      <a:pPr algn="l"/>
                      <a:r>
                        <a:rPr sz="1050" b="0" i="0">
                          <a:solidFill>
                            <a:srgbClr val="000000"/>
                          </a:solidFill>
                          <a:latin typeface="Calibri"/>
                        </a:rPr>
                        <a:t>Table 141: Germany Market Share within Europe, %, 2025, 2026 and 2036</a:t>
                      </a:r>
                      <a:endParaRPr sz="1050"/>
                    </a:p>
                  </a:txBody>
                  <a:tcPr marL="9525" marR="9525" marT="9525" marB="0" anchor="ctr"/>
                </a:tc>
              </a:tr>
              <a:tr h="170045">
                <a:tc>
                  <a:txBody>
                    <a:bodyPr wrap="square"/>
                    <a:lstStyle/>
                    <a:p>
                      <a:pPr algn="l"/>
                      <a:r>
                        <a:rPr sz="1050" b="0" i="0">
                          <a:solidFill>
                            <a:srgbClr val="000000"/>
                          </a:solidFill>
                          <a:latin typeface="Calibri"/>
                        </a:rPr>
                        <a:t>Table 142: Germany Market Value by Extraction / Processing Method, US$ Mn, 2021–2036</a:t>
                      </a:r>
                      <a:endParaRPr sz="1050"/>
                    </a:p>
                  </a:txBody>
                  <a:tcPr marL="9525" marR="9525" marT="9525" marB="0" anchor="ctr"/>
                </a:tc>
              </a:tr>
              <a:tr h="170045">
                <a:tc>
                  <a:txBody>
                    <a:bodyPr wrap="square"/>
                    <a:lstStyle/>
                    <a:p>
                      <a:pPr algn="l"/>
                      <a:r>
                        <a:rPr sz="1050" b="0" i="0">
                          <a:solidFill>
                            <a:srgbClr val="000000"/>
                          </a:solidFill>
                          <a:latin typeface="Calibri"/>
                        </a:rPr>
                        <a:t>Table 143: Germany Market Value by Source, US$ Mn, 2021–2036</a:t>
                      </a:r>
                      <a:endParaRPr sz="1050"/>
                    </a:p>
                  </a:txBody>
                  <a:tcPr marL="9525" marR="9525" marT="9525" marB="0" anchor="ctr"/>
                </a:tc>
              </a:tr>
              <a:tr h="170045">
                <a:tc>
                  <a:txBody>
                    <a:bodyPr wrap="square"/>
                    <a:lstStyle/>
                    <a:p>
                      <a:pPr algn="l"/>
                      <a:r>
                        <a:rPr sz="1050" b="0" i="0">
                          <a:solidFill>
                            <a:srgbClr val="000000"/>
                          </a:solidFill>
                          <a:latin typeface="Calibri"/>
                        </a:rPr>
                        <a:t>Table 144: Germany Market Value by Form, US$ Mn, 2021–2036</a:t>
                      </a:r>
                      <a:endParaRPr sz="1050"/>
                    </a:p>
                  </a:txBody>
                  <a:tcPr marL="9525" marR="9525" marT="9525" marB="0" anchor="ctr"/>
                </a:tc>
              </a:tr>
              <a:tr h="170045">
                <a:tc>
                  <a:txBody>
                    <a:bodyPr wrap="square"/>
                    <a:lstStyle/>
                    <a:p>
                      <a:pPr algn="l"/>
                      <a:r>
                        <a:rPr sz="1050" b="0" i="0">
                          <a:solidFill>
                            <a:srgbClr val="000000"/>
                          </a:solidFill>
                          <a:latin typeface="Calibri"/>
                        </a:rPr>
                        <a:t>Table 145: Germany Market Value by Sales Channel, US$ Mn, 2021–2036</a:t>
                      </a:r>
                      <a:endParaRPr sz="1050"/>
                    </a:p>
                  </a:txBody>
                  <a:tcPr marL="9525" marR="9525" marT="9525" marB="0" anchor="ctr"/>
                </a:tc>
              </a:tr>
              <a:tr h="170045">
                <a:tc>
                  <a:txBody>
                    <a:bodyPr wrap="square"/>
                    <a:lstStyle/>
                    <a:p>
                      <a:pPr algn="l"/>
                      <a:r>
                        <a:rPr sz="1050" b="0" i="0">
                          <a:solidFill>
                            <a:srgbClr val="000000"/>
                          </a:solidFill>
                          <a:latin typeface="Calibri"/>
                        </a:rPr>
                        <a:t>Table 146: Canada Market Value by Product Type, US$ Mn, 2021–2036</a:t>
                      </a:r>
                      <a:endParaRPr sz="1050"/>
                    </a:p>
                  </a:txBody>
                  <a:tcPr marL="9525" marR="9525" marT="9525" marB="0" anchor="ctr"/>
                </a:tc>
              </a:tr>
            </a:tbl>
          </a:graphicData>
        </a:graphic>
      </p:graphicFrame>
      <p:graphicFrame>
        <p:nvGraphicFramePr>
          <p:cNvPr id="7" name="TMR Contents Table"/>
          <p:cNvGraphicFramePr>
            <a:graphicFrameLocks noGrp="1"/>
          </p:cNvGraphicFramePr>
          <p:nvPr/>
        </p:nvGraphicFramePr>
        <p:xfrm>
          <a:off x="6172200" y="981075"/>
          <a:ext cx="5876925" cy="5257812"/>
        </p:xfrm>
        <a:graphic>
          <a:graphicData uri="http://schemas.openxmlformats.org/drawingml/2006/table">
            <a:tbl>
              <a:tblPr>
                <a:tableStyleId>{3B4B98B0-60AC-42C2-AFA5-B58CD77FA1E5}</a:tableStyleId>
              </a:tblPr>
              <a:tblGrid>
                <a:gridCol w="5876925"/>
              </a:tblGrid>
              <a:tr h="169826">
                <a:tc>
                  <a:txBody>
                    <a:bodyPr wrap="square"/>
                    <a:lstStyle/>
                    <a:p>
                      <a:pPr algn="l"/>
                      <a:r>
                        <a:rPr sz="1050" b="0" i="0">
                          <a:solidFill>
                            <a:srgbClr val="000000"/>
                          </a:solidFill>
                          <a:latin typeface="Calibri"/>
                        </a:rPr>
                        <a:t>Table 147: Canada Market Historical and Forecast Growth, %, 2021–2036</a:t>
                      </a:r>
                      <a:endParaRPr sz="1050"/>
                    </a:p>
                  </a:txBody>
                  <a:tcPr marL="9525" marR="9525" marT="9525" marB="0" anchor="ctr"/>
                </a:tc>
              </a:tr>
              <a:tr h="169826">
                <a:tc>
                  <a:txBody>
                    <a:bodyPr wrap="square"/>
                    <a:lstStyle/>
                    <a:p>
                      <a:pPr algn="l"/>
                      <a:r>
                        <a:rPr sz="1050" b="0" i="0">
                          <a:solidFill>
                            <a:srgbClr val="000000"/>
                          </a:solidFill>
                          <a:latin typeface="Calibri"/>
                        </a:rPr>
                        <a:t>Table 148: Canada Market Value by Application, US$ Mn, 2021–2036</a:t>
                      </a:r>
                      <a:endParaRPr sz="1050"/>
                    </a:p>
                  </a:txBody>
                  <a:tcPr marL="9525" marR="9525" marT="9525" marB="0" anchor="ctr"/>
                </a:tc>
              </a:tr>
              <a:tr h="169826">
                <a:tc>
                  <a:txBody>
                    <a:bodyPr wrap="square"/>
                    <a:lstStyle/>
                    <a:p>
                      <a:pPr algn="l"/>
                      <a:r>
                        <a:rPr sz="1050" b="0" i="0">
                          <a:solidFill>
                            <a:srgbClr val="000000"/>
                          </a:solidFill>
                          <a:latin typeface="Calibri"/>
                        </a:rPr>
                        <a:t>Table 149: Canada Market Share within North America, %, 2025, 2026 and 2036</a:t>
                      </a:r>
                      <a:endParaRPr sz="1050"/>
                    </a:p>
                  </a:txBody>
                  <a:tcPr marL="9525" marR="9525" marT="9525" marB="0" anchor="ctr"/>
                </a:tc>
              </a:tr>
              <a:tr h="169826">
                <a:tc>
                  <a:txBody>
                    <a:bodyPr wrap="square"/>
                    <a:lstStyle/>
                    <a:p>
                      <a:pPr algn="l"/>
                      <a:r>
                        <a:rPr sz="1050" b="0" i="0">
                          <a:solidFill>
                            <a:srgbClr val="000000"/>
                          </a:solidFill>
                          <a:latin typeface="Calibri"/>
                        </a:rPr>
                        <a:t>Table 150: Canada Market Value by Extraction / Processing Method, US$ Mn, 2021–2036</a:t>
                      </a:r>
                      <a:endParaRPr sz="1050"/>
                    </a:p>
                  </a:txBody>
                  <a:tcPr marL="9525" marR="9525" marT="9525" marB="0" anchor="ctr"/>
                </a:tc>
              </a:tr>
              <a:tr h="169826">
                <a:tc>
                  <a:txBody>
                    <a:bodyPr wrap="square"/>
                    <a:lstStyle/>
                    <a:p>
                      <a:pPr algn="l"/>
                      <a:r>
                        <a:rPr sz="1050" b="0" i="0">
                          <a:solidFill>
                            <a:srgbClr val="000000"/>
                          </a:solidFill>
                          <a:latin typeface="Calibri"/>
                        </a:rPr>
                        <a:t>Table 151: Canada Market Value by Source, US$ Mn, 2021–2036</a:t>
                      </a:r>
                      <a:endParaRPr sz="1050"/>
                    </a:p>
                  </a:txBody>
                  <a:tcPr marL="9525" marR="9525" marT="9525" marB="0" anchor="ctr"/>
                </a:tc>
              </a:tr>
              <a:tr h="169826">
                <a:tc>
                  <a:txBody>
                    <a:bodyPr wrap="square"/>
                    <a:lstStyle/>
                    <a:p>
                      <a:pPr algn="l"/>
                      <a:r>
                        <a:rPr sz="1050" b="0" i="0">
                          <a:solidFill>
                            <a:srgbClr val="000000"/>
                          </a:solidFill>
                          <a:latin typeface="Calibri"/>
                        </a:rPr>
                        <a:t>Table 152: Canada Market Value by Form, US$ Mn, 2021–2036</a:t>
                      </a:r>
                      <a:endParaRPr sz="1050"/>
                    </a:p>
                  </a:txBody>
                  <a:tcPr marL="9525" marR="9525" marT="9525" marB="0" anchor="ctr"/>
                </a:tc>
              </a:tr>
              <a:tr h="169826">
                <a:tc>
                  <a:txBody>
                    <a:bodyPr wrap="square"/>
                    <a:lstStyle/>
                    <a:p>
                      <a:pPr algn="l"/>
                      <a:r>
                        <a:rPr sz="1050" b="0" i="0">
                          <a:solidFill>
                            <a:srgbClr val="000000"/>
                          </a:solidFill>
                          <a:latin typeface="Calibri"/>
                        </a:rPr>
                        <a:t>Table 153: Canada Market Value by Sales Channel, US$ Mn, 2021–2036</a:t>
                      </a:r>
                      <a:endParaRPr sz="1050"/>
                    </a:p>
                  </a:txBody>
                  <a:tcPr marL="9525" marR="9525" marT="9525" marB="0" anchor="ctr"/>
                </a:tc>
              </a:tr>
              <a:tr h="169826">
                <a:tc>
                  <a:txBody>
                    <a:bodyPr wrap="square"/>
                    <a:lstStyle/>
                    <a:p>
                      <a:pPr algn="l"/>
                      <a:r>
                        <a:rPr sz="1050" b="0" i="0">
                          <a:solidFill>
                            <a:srgbClr val="000000"/>
                          </a:solidFill>
                          <a:latin typeface="Calibri"/>
                        </a:rPr>
                        <a:t>Table 154: China Market Value by Product Type, US$ Mn, 2021–2036</a:t>
                      </a:r>
                      <a:endParaRPr sz="1050"/>
                    </a:p>
                  </a:txBody>
                  <a:tcPr marL="9525" marR="9525" marT="9525" marB="0" anchor="ctr"/>
                </a:tc>
              </a:tr>
              <a:tr h="169826">
                <a:tc>
                  <a:txBody>
                    <a:bodyPr wrap="square"/>
                    <a:lstStyle/>
                    <a:p>
                      <a:pPr algn="l"/>
                      <a:r>
                        <a:rPr sz="1050" b="0" i="0">
                          <a:solidFill>
                            <a:srgbClr val="000000"/>
                          </a:solidFill>
                          <a:latin typeface="Calibri"/>
                        </a:rPr>
                        <a:t>Table 155: China Market Historical and Forecast Growth, %, 2021–2036</a:t>
                      </a:r>
                      <a:endParaRPr sz="1050"/>
                    </a:p>
                  </a:txBody>
                  <a:tcPr marL="9525" marR="9525" marT="9525" marB="0" anchor="ctr"/>
                </a:tc>
              </a:tr>
              <a:tr h="169826">
                <a:tc>
                  <a:txBody>
                    <a:bodyPr wrap="square"/>
                    <a:lstStyle/>
                    <a:p>
                      <a:pPr algn="l"/>
                      <a:r>
                        <a:rPr sz="1050" b="0" i="0">
                          <a:solidFill>
                            <a:srgbClr val="000000"/>
                          </a:solidFill>
                          <a:latin typeface="Calibri"/>
                        </a:rPr>
                        <a:t>Table 156: China Market Value by Application, US$ Mn, 2021–2036</a:t>
                      </a:r>
                      <a:endParaRPr sz="1050"/>
                    </a:p>
                  </a:txBody>
                  <a:tcPr marL="9525" marR="9525" marT="9525" marB="0" anchor="ctr"/>
                </a:tc>
              </a:tr>
              <a:tr h="169826">
                <a:tc>
                  <a:txBody>
                    <a:bodyPr wrap="square"/>
                    <a:lstStyle/>
                    <a:p>
                      <a:pPr algn="l"/>
                      <a:r>
                        <a:rPr sz="1050" b="0" i="0">
                          <a:solidFill>
                            <a:srgbClr val="000000"/>
                          </a:solidFill>
                          <a:latin typeface="Calibri"/>
                        </a:rPr>
                        <a:t>Table 157: India Market Value by Product Type, US$ Mn, 2021–2036</a:t>
                      </a:r>
                      <a:endParaRPr sz="1050"/>
                    </a:p>
                  </a:txBody>
                  <a:tcPr marL="9525" marR="9525" marT="9525" marB="0" anchor="ctr"/>
                </a:tc>
              </a:tr>
              <a:tr h="169826">
                <a:tc>
                  <a:txBody>
                    <a:bodyPr wrap="square"/>
                    <a:lstStyle/>
                    <a:p>
                      <a:pPr algn="l"/>
                      <a:r>
                        <a:rPr sz="1050" b="0" i="0">
                          <a:solidFill>
                            <a:srgbClr val="000000"/>
                          </a:solidFill>
                          <a:latin typeface="Calibri"/>
                        </a:rPr>
                        <a:t>Table 158: India Market Historical and Forecast Growth, %, 2021–2036</a:t>
                      </a:r>
                      <a:endParaRPr sz="1050"/>
                    </a:p>
                  </a:txBody>
                  <a:tcPr marL="9525" marR="9525" marT="9525" marB="0" anchor="ctr"/>
                </a:tc>
              </a:tr>
              <a:tr h="169826">
                <a:tc>
                  <a:txBody>
                    <a:bodyPr wrap="square"/>
                    <a:lstStyle/>
                    <a:p>
                      <a:pPr algn="l"/>
                      <a:r>
                        <a:rPr sz="1050" b="0" i="0">
                          <a:solidFill>
                            <a:srgbClr val="000000"/>
                          </a:solidFill>
                          <a:latin typeface="Calibri"/>
                        </a:rPr>
                        <a:t>Table 159: Brazil Market Value by Product Type, US$ Mn, 2021–2036</a:t>
                      </a:r>
                      <a:endParaRPr sz="1050"/>
                    </a:p>
                  </a:txBody>
                  <a:tcPr marL="9525" marR="9525" marT="9525" marB="0" anchor="ctr"/>
                </a:tc>
              </a:tr>
              <a:tr h="169826">
                <a:tc>
                  <a:txBody>
                    <a:bodyPr wrap="square"/>
                    <a:lstStyle/>
                    <a:p>
                      <a:pPr algn="l"/>
                      <a:r>
                        <a:rPr sz="1050" b="0" i="0">
                          <a:solidFill>
                            <a:srgbClr val="000000"/>
                          </a:solidFill>
                          <a:latin typeface="Calibri"/>
                        </a:rPr>
                        <a:t>Table 160: Brazil Market Historical and Forecast Growth, %, 2021–2036</a:t>
                      </a:r>
                      <a:endParaRPr sz="1050"/>
                    </a:p>
                  </a:txBody>
                  <a:tcPr marL="9525" marR="9525" marT="9525" marB="0" anchor="ctr"/>
                </a:tc>
              </a:tr>
              <a:tr h="169826">
                <a:tc>
                  <a:txBody>
                    <a:bodyPr wrap="square"/>
                    <a:lstStyle/>
                    <a:p>
                      <a:pPr algn="l"/>
                      <a:r>
                        <a:rPr sz="1050" b="0" i="0">
                          <a:solidFill>
                            <a:srgbClr val="000000"/>
                          </a:solidFill>
                          <a:latin typeface="Calibri"/>
                        </a:rPr>
                        <a:t>Table 161: U.K. Market Value by Product Type, US$ Mn, 2021–2036</a:t>
                      </a:r>
                      <a:endParaRPr sz="1050"/>
                    </a:p>
                  </a:txBody>
                  <a:tcPr marL="9525" marR="9525" marT="9525" marB="0" anchor="ctr"/>
                </a:tc>
              </a:tr>
              <a:tr h="169826">
                <a:tc>
                  <a:txBody>
                    <a:bodyPr wrap="square"/>
                    <a:lstStyle/>
                    <a:p>
                      <a:pPr algn="l"/>
                      <a:r>
                        <a:rPr sz="1050" b="0" i="0">
                          <a:solidFill>
                            <a:srgbClr val="000000"/>
                          </a:solidFill>
                          <a:latin typeface="Calibri"/>
                        </a:rPr>
                        <a:t>Table 162: U.K. Market Historical and Forecast Growth, %, 2021–2036</a:t>
                      </a:r>
                      <a:endParaRPr sz="1050"/>
                    </a:p>
                  </a:txBody>
                  <a:tcPr marL="9525" marR="9525" marT="9525" marB="0" anchor="ctr"/>
                </a:tc>
              </a:tr>
              <a:tr h="169826">
                <a:tc>
                  <a:txBody>
                    <a:bodyPr wrap="square"/>
                    <a:lstStyle/>
                    <a:p>
                      <a:pPr algn="l"/>
                      <a:r>
                        <a:rPr sz="1050" b="0" i="0">
                          <a:solidFill>
                            <a:srgbClr val="000000"/>
                          </a:solidFill>
                          <a:latin typeface="Calibri"/>
                        </a:rPr>
                        <a:t>Table 163: Market Product Price Comparison by Company and Product Type, US$/MT, 2026</a:t>
                      </a:r>
                      <a:endParaRPr sz="1050"/>
                    </a:p>
                  </a:txBody>
                  <a:tcPr marL="9525" marR="9525" marT="9525" marB="0" anchor="ctr"/>
                </a:tc>
              </a:tr>
              <a:tr h="169826">
                <a:tc>
                  <a:txBody>
                    <a:bodyPr wrap="square"/>
                    <a:lstStyle/>
                    <a:p>
                      <a:pPr algn="l"/>
                      <a:r>
                        <a:rPr sz="1050" b="0" i="0">
                          <a:solidFill>
                            <a:srgbClr val="000000"/>
                          </a:solidFill>
                          <a:latin typeface="Calibri"/>
                        </a:rPr>
                        <a:t>Table 164: Global Market Average Selling Price by Region, US$/MT, 2021–2036</a:t>
                      </a:r>
                      <a:endParaRPr sz="1050"/>
                    </a:p>
                  </a:txBody>
                  <a:tcPr marL="9525" marR="9525" marT="9525" marB="0" anchor="ctr"/>
                </a:tc>
              </a:tr>
              <a:tr h="169826">
                <a:tc>
                  <a:txBody>
                    <a:bodyPr wrap="square"/>
                    <a:lstStyle/>
                    <a:p>
                      <a:pPr algn="l"/>
                      <a:r>
                        <a:rPr sz="1050" b="0" i="0">
                          <a:solidFill>
                            <a:srgbClr val="000000"/>
                          </a:solidFill>
                          <a:latin typeface="Calibri"/>
                        </a:rPr>
                        <a:t>Table 165: Global Market Average Selling Price by Product Type, US$/MT, 2021–2036</a:t>
                      </a:r>
                      <a:endParaRPr sz="1050"/>
                    </a:p>
                  </a:txBody>
                  <a:tcPr marL="9525" marR="9525" marT="9525" marB="0" anchor="ctr"/>
                </a:tc>
              </a:tr>
              <a:tr h="332858">
                <a:tc>
                  <a:txBody>
                    <a:bodyPr wrap="square"/>
                    <a:lstStyle/>
                    <a:p>
                      <a:pPr algn="l"/>
                      <a:r>
                        <a:rPr sz="1050" b="0" i="0">
                          <a:solidFill>
                            <a:srgbClr val="000000"/>
                          </a:solidFill>
                          <a:latin typeface="Calibri"/>
                        </a:rPr>
                        <a:t>Table 166: Global Market Average Selling Price by Extraction / Processing Method, US$/MT, 2021–2036</a:t>
                      </a:r>
                      <a:endParaRPr sz="1050"/>
                    </a:p>
                  </a:txBody>
                  <a:tcPr marL="9525" marR="9525" marT="9525" marB="0" anchor="ctr"/>
                </a:tc>
              </a:tr>
              <a:tr h="169826">
                <a:tc>
                  <a:txBody>
                    <a:bodyPr wrap="square"/>
                    <a:lstStyle/>
                    <a:p>
                      <a:pPr algn="l"/>
                      <a:r>
                        <a:rPr sz="1050" b="0" i="0">
                          <a:solidFill>
                            <a:srgbClr val="000000"/>
                          </a:solidFill>
                          <a:latin typeface="Calibri"/>
                        </a:rPr>
                        <a:t>Table 167: Global Market Average Selling Price by Source, US$/MT, 2021–2036</a:t>
                      </a:r>
                      <a:endParaRPr sz="1050"/>
                    </a:p>
                  </a:txBody>
                  <a:tcPr marL="9525" marR="9525" marT="9525" marB="0" anchor="ctr"/>
                </a:tc>
              </a:tr>
              <a:tr h="169826">
                <a:tc>
                  <a:txBody>
                    <a:bodyPr wrap="square"/>
                    <a:lstStyle/>
                    <a:p>
                      <a:pPr algn="l"/>
                      <a:r>
                        <a:rPr sz="1050" b="0" i="0">
                          <a:solidFill>
                            <a:srgbClr val="000000"/>
                          </a:solidFill>
                          <a:latin typeface="Calibri"/>
                        </a:rPr>
                        <a:t>Table 168: Global Market Average Selling Price by Form, US$/MT, 2021–2036</a:t>
                      </a:r>
                      <a:endParaRPr sz="1050"/>
                    </a:p>
                  </a:txBody>
                  <a:tcPr marL="9525" marR="9525" marT="9525" marB="0" anchor="ctr"/>
                </a:tc>
              </a:tr>
              <a:tr h="169826">
                <a:tc>
                  <a:txBody>
                    <a:bodyPr wrap="square"/>
                    <a:lstStyle/>
                    <a:p>
                      <a:pPr algn="l"/>
                      <a:r>
                        <a:rPr sz="1050" b="0" i="0">
                          <a:solidFill>
                            <a:srgbClr val="000000"/>
                          </a:solidFill>
                          <a:latin typeface="Calibri"/>
                        </a:rPr>
                        <a:t>Table 169: Global Market Average Selling Price by Application, US$/MT, 2021–2036</a:t>
                      </a:r>
                      <a:endParaRPr sz="1050"/>
                    </a:p>
                  </a:txBody>
                  <a:tcPr marL="9525" marR="9525" marT="9525" marB="0" anchor="ctr"/>
                </a:tc>
              </a:tr>
              <a:tr h="169826">
                <a:tc>
                  <a:txBody>
                    <a:bodyPr wrap="square"/>
                    <a:lstStyle/>
                    <a:p>
                      <a:pPr algn="l"/>
                      <a:r>
                        <a:rPr sz="1050" b="0" i="0">
                          <a:solidFill>
                            <a:srgbClr val="000000"/>
                          </a:solidFill>
                          <a:latin typeface="Calibri"/>
                        </a:rPr>
                        <a:t>Table 170: Global Market Average Selling Price by Sales Channel, US$/MT, 2021–2036</a:t>
                      </a:r>
                      <a:endParaRPr sz="1050"/>
                    </a:p>
                  </a:txBody>
                  <a:tcPr marL="9525" marR="9525" marT="9525" marB="0" anchor="ctr"/>
                </a:tc>
              </a:tr>
              <a:tr h="169826">
                <a:tc>
                  <a:txBody>
                    <a:bodyPr wrap="square"/>
                    <a:lstStyle/>
                    <a:p>
                      <a:pPr algn="l"/>
                      <a:r>
                        <a:rPr sz="1050" b="0" i="0">
                          <a:solidFill>
                            <a:srgbClr val="000000"/>
                          </a:solidFill>
                          <a:latin typeface="Calibri"/>
                        </a:rPr>
                        <a:t>Table 171: Supplier-to-Customer Relationship Mapping in U.S., 2026</a:t>
                      </a:r>
                      <a:endParaRPr sz="1050"/>
                    </a:p>
                  </a:txBody>
                  <a:tcPr marL="9525" marR="9525" marT="9525" marB="0" anchor="ctr"/>
                </a:tc>
              </a:tr>
              <a:tr h="169826">
                <a:tc>
                  <a:txBody>
                    <a:bodyPr wrap="square"/>
                    <a:lstStyle/>
                    <a:p>
                      <a:pPr algn="l"/>
                      <a:r>
                        <a:rPr sz="1050" b="0" i="0">
                          <a:solidFill>
                            <a:srgbClr val="000000"/>
                          </a:solidFill>
                          <a:latin typeface="Calibri"/>
                        </a:rPr>
                        <a:t>Table 172: Global Market Value Chain Participants by Stage, 2026</a:t>
                      </a:r>
                      <a:endParaRPr sz="1050"/>
                    </a:p>
                  </a:txBody>
                  <a:tcPr marL="9525" marR="9525" marT="9525" marB="0" anchor="ctr"/>
                </a:tc>
              </a:tr>
              <a:tr h="169826">
                <a:tc>
                  <a:txBody>
                    <a:bodyPr wrap="square"/>
                    <a:lstStyle/>
                    <a:p>
                      <a:pPr algn="l"/>
                      <a:r>
                        <a:rPr sz="1050" b="0" i="0">
                          <a:solidFill>
                            <a:srgbClr val="000000"/>
                          </a:solidFill>
                          <a:latin typeface="Calibri"/>
                        </a:rPr>
                        <a:t>Table 173: Global Market Margin Analysis by Value Chain Stage, %, 2026</a:t>
                      </a:r>
                      <a:endParaRPr sz="1050"/>
                    </a:p>
                  </a:txBody>
                  <a:tcPr marL="9525" marR="9525" marT="9525" marB="0" anchor="ctr"/>
                </a:tc>
              </a:tr>
              <a:tr h="169826">
                <a:tc>
                  <a:txBody>
                    <a:bodyPr wrap="square"/>
                    <a:lstStyle/>
                    <a:p>
                      <a:pPr algn="l"/>
                      <a:r>
                        <a:rPr sz="1050" b="0" i="0">
                          <a:solidFill>
                            <a:srgbClr val="000000"/>
                          </a:solidFill>
                          <a:latin typeface="Calibri"/>
                        </a:rPr>
                        <a:t>Table 174: Global Market Cost Structure by Component, %, 2026</a:t>
                      </a:r>
                      <a:endParaRPr sz="1050"/>
                    </a:p>
                  </a:txBody>
                  <a:tcPr marL="9525" marR="9525" marT="9525" marB="0" anchor="ctr"/>
                </a:tc>
              </a:tr>
              <a:tr h="169826">
                <a:tc>
                  <a:txBody>
                    <a:bodyPr wrap="square"/>
                    <a:lstStyle/>
                    <a:p>
                      <a:pPr algn="l"/>
                      <a:r>
                        <a:rPr sz="1050" b="0" i="0">
                          <a:solidFill>
                            <a:srgbClr val="000000"/>
                          </a:solidFill>
                          <a:latin typeface="Calibri"/>
                        </a:rPr>
                        <a:t>Table 175: Global Market Import Value by Leading Country, US$ Mn, 2021–2025</a:t>
                      </a:r>
                      <a:endParaRPr sz="1050"/>
                    </a:p>
                  </a:txBody>
                  <a:tcPr marL="9525" marR="9525" marT="9525" marB="0" anchor="ctr"/>
                </a:tc>
              </a:tr>
              <a:tr h="169826">
                <a:tc>
                  <a:txBody>
                    <a:bodyPr wrap="square"/>
                    <a:lstStyle/>
                    <a:p>
                      <a:pPr algn="l"/>
                      <a:r>
                        <a:rPr sz="1050" b="0" i="0">
                          <a:solidFill>
                            <a:srgbClr val="000000"/>
                          </a:solidFill>
                          <a:latin typeface="Calibri"/>
                        </a:rPr>
                        <a:t>Table 176: Global Market Export Value by Leading Country, US$ Mn, 2021–2025</a:t>
                      </a:r>
                      <a:endParaRPr sz="1050"/>
                    </a:p>
                  </a:txBody>
                  <a:tcPr marL="9525" marR="9525" marT="9525" marB="0" anchor="ctr"/>
                </a:tc>
              </a:tr>
            </a:tbl>
          </a:graphicData>
        </a:graphic>
      </p:graphicFrame>
      <p:sp>
        <p:nvSpPr>
          <p:cNvPr id="8" name="Rectangle 7"/>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76200"/>
            <a:ext cx="10896600"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List of Tables (4/4)</a:t>
            </a:r>
          </a:p>
        </p:txBody>
      </p:sp>
      <p:graphicFrame>
        <p:nvGraphicFramePr>
          <p:cNvPr id="6" name="TMR Contents Table"/>
          <p:cNvGraphicFramePr>
            <a:graphicFrameLocks noGrp="1"/>
          </p:cNvGraphicFramePr>
          <p:nvPr/>
        </p:nvGraphicFramePr>
        <p:xfrm>
          <a:off x="142875" y="981075"/>
          <a:ext cx="5876925" cy="4320552"/>
        </p:xfrm>
        <a:graphic>
          <a:graphicData uri="http://schemas.openxmlformats.org/drawingml/2006/table">
            <a:tbl>
              <a:tblPr>
                <a:tableStyleId>{3B4B98B0-60AC-42C2-AFA5-B58CD77FA1E5}</a:tableStyleId>
              </a:tblPr>
              <a:tblGrid>
                <a:gridCol w="5876925"/>
              </a:tblGrid>
              <a:tr h="166688">
                <a:tc>
                  <a:txBody>
                    <a:bodyPr wrap="square"/>
                    <a:lstStyle/>
                    <a:p>
                      <a:pPr algn="l"/>
                      <a:r>
                        <a:rPr sz="1050" b="0" i="0">
                          <a:solidFill>
                            <a:srgbClr val="000000"/>
                          </a:solidFill>
                          <a:latin typeface="Calibri"/>
                        </a:rPr>
                        <a:t>Table 177: Global Market Trade Flow Matrix by Region, US$ Mn, 2025</a:t>
                      </a:r>
                      <a:endParaRPr sz="1050"/>
                    </a:p>
                  </a:txBody>
                  <a:tcPr marL="9525" marR="9525" marT="9525" marB="0" anchor="ctr"/>
                </a:tc>
              </a:tr>
              <a:tr h="166688">
                <a:tc>
                  <a:txBody>
                    <a:bodyPr wrap="square"/>
                    <a:lstStyle/>
                    <a:p>
                      <a:pPr algn="l"/>
                      <a:r>
                        <a:rPr sz="1050" b="0" i="0">
                          <a:solidFill>
                            <a:srgbClr val="000000"/>
                          </a:solidFill>
                          <a:latin typeface="Calibri"/>
                        </a:rPr>
                        <a:t>Table 178: Global Market Pricing Factors and Impact Rating, 2026–2036</a:t>
                      </a:r>
                      <a:endParaRPr sz="1050"/>
                    </a:p>
                  </a:txBody>
                  <a:tcPr marL="9525" marR="9525" marT="9525" marB="0" anchor="ctr"/>
                </a:tc>
              </a:tr>
              <a:tr h="326708">
                <a:tc>
                  <a:txBody>
                    <a:bodyPr wrap="square"/>
                    <a:lstStyle/>
                    <a:p>
                      <a:pPr algn="l"/>
                      <a:r>
                        <a:rPr sz="1050" b="0" i="0">
                          <a:solidFill>
                            <a:srgbClr val="000000"/>
                          </a:solidFill>
                          <a:latin typeface="Calibri"/>
                        </a:rPr>
                        <a:t>Table 179: Leading Egg Protein Membrane Manufacturers: Product Portfolio and Geographic Presence, 2026</a:t>
                      </a:r>
                      <a:endParaRPr sz="1050"/>
                    </a:p>
                  </a:txBody>
                  <a:tcPr marL="9525" marR="9525" marT="9525" marB="0" anchor="ctr"/>
                </a:tc>
              </a:tr>
              <a:tr h="166688">
                <a:tc>
                  <a:txBody>
                    <a:bodyPr wrap="square"/>
                    <a:lstStyle/>
                    <a:p>
                      <a:pPr algn="l"/>
                      <a:r>
                        <a:rPr sz="1050" b="0" i="0">
                          <a:solidFill>
                            <a:srgbClr val="000000"/>
                          </a:solidFill>
                          <a:latin typeface="Calibri"/>
                        </a:rPr>
                        <a:t>Table 180: Company Revenue from the Global Market, US$ Mn, 2025–2026</a:t>
                      </a:r>
                      <a:endParaRPr sz="1050"/>
                    </a:p>
                  </a:txBody>
                  <a:tcPr marL="9525" marR="9525" marT="9525" marB="0" anchor="ctr"/>
                </a:tc>
              </a:tr>
              <a:tr h="166688">
                <a:tc>
                  <a:txBody>
                    <a:bodyPr wrap="square"/>
                    <a:lstStyle/>
                    <a:p>
                      <a:pPr algn="l"/>
                      <a:r>
                        <a:rPr sz="1050" b="0" i="0">
                          <a:solidFill>
                            <a:srgbClr val="000000"/>
                          </a:solidFill>
                          <a:latin typeface="Calibri"/>
                        </a:rPr>
                        <a:t>Table 181: Company Market Share in the Global Market by Region, %, 2026</a:t>
                      </a:r>
                      <a:endParaRPr sz="1050"/>
                    </a:p>
                  </a:txBody>
                  <a:tcPr marL="9525" marR="9525" marT="9525" marB="0" anchor="ctr"/>
                </a:tc>
              </a:tr>
              <a:tr h="166688">
                <a:tc>
                  <a:txBody>
                    <a:bodyPr wrap="square"/>
                    <a:lstStyle/>
                    <a:p>
                      <a:pPr algn="l"/>
                      <a:r>
                        <a:rPr sz="1050" b="0" i="0">
                          <a:solidFill>
                            <a:srgbClr val="000000"/>
                          </a:solidFill>
                          <a:latin typeface="Calibri"/>
                        </a:rPr>
                        <a:t>Table 182: Global Market Competitive Benchmarking Matrix, 2026</a:t>
                      </a:r>
                      <a:endParaRPr sz="1050"/>
                    </a:p>
                  </a:txBody>
                  <a:tcPr marL="9525" marR="9525" marT="9525" marB="0" anchor="ctr"/>
                </a:tc>
              </a:tr>
              <a:tr h="166688">
                <a:tc>
                  <a:txBody>
                    <a:bodyPr wrap="square"/>
                    <a:lstStyle/>
                    <a:p>
                      <a:pPr algn="l"/>
                      <a:r>
                        <a:rPr sz="1050" b="0" i="0">
                          <a:solidFill>
                            <a:srgbClr val="000000"/>
                          </a:solidFill>
                          <a:latin typeface="Calibri"/>
                        </a:rPr>
                        <a:t>Table 183: Global Market Mergers, Acquisitions and Partnerships, 2021–2026</a:t>
                      </a:r>
                      <a:endParaRPr sz="1050"/>
                    </a:p>
                  </a:txBody>
                  <a:tcPr marL="9525" marR="9525" marT="9525" marB="0" anchor="ctr"/>
                </a:tc>
              </a:tr>
              <a:tr h="166688">
                <a:tc>
                  <a:txBody>
                    <a:bodyPr wrap="square"/>
                    <a:lstStyle/>
                    <a:p>
                      <a:pPr algn="l"/>
                      <a:r>
                        <a:rPr sz="1050" b="0" i="0">
                          <a:solidFill>
                            <a:srgbClr val="000000"/>
                          </a:solidFill>
                          <a:latin typeface="Calibri"/>
                        </a:rPr>
                        <a:t>Table 184: ESM Technologies, LLC: Company Overview, Products and Strategy, 2026</a:t>
                      </a:r>
                      <a:endParaRPr sz="1050"/>
                    </a:p>
                  </a:txBody>
                  <a:tcPr marL="9525" marR="9525" marT="9525" marB="0" anchor="ctr"/>
                </a:tc>
              </a:tr>
              <a:tr h="166688">
                <a:tc>
                  <a:txBody>
                    <a:bodyPr wrap="square"/>
                    <a:lstStyle/>
                    <a:p>
                      <a:pPr algn="l"/>
                      <a:r>
                        <a:rPr sz="1050" b="0" i="0">
                          <a:solidFill>
                            <a:srgbClr val="000000"/>
                          </a:solidFill>
                          <a:latin typeface="Calibri"/>
                        </a:rPr>
                        <a:t>Table 185: Company: Company Overview, Products and Strategy, 2026</a:t>
                      </a:r>
                      <a:endParaRPr sz="1050"/>
                    </a:p>
                  </a:txBody>
                  <a:tcPr marL="9525" marR="9525" marT="9525" marB="0" anchor="ctr"/>
                </a:tc>
              </a:tr>
              <a:tr h="166688">
                <a:tc>
                  <a:txBody>
                    <a:bodyPr wrap="square"/>
                    <a:lstStyle/>
                    <a:p>
                      <a:pPr algn="l"/>
                      <a:r>
                        <a:rPr sz="1050" b="0" i="0">
                          <a:solidFill>
                            <a:srgbClr val="000000"/>
                          </a:solidFill>
                          <a:latin typeface="Calibri"/>
                        </a:rPr>
                        <a:t>Table 186: Biova, LLC: Company Overview, Products and Strategy, 2026</a:t>
                      </a:r>
                      <a:endParaRPr sz="1050"/>
                    </a:p>
                  </a:txBody>
                  <a:tcPr marL="9525" marR="9525" marT="9525" marB="0" anchor="ctr"/>
                </a:tc>
              </a:tr>
              <a:tr h="166688">
                <a:tc>
                  <a:txBody>
                    <a:bodyPr wrap="square"/>
                    <a:lstStyle/>
                    <a:p>
                      <a:pPr algn="l"/>
                      <a:r>
                        <a:rPr sz="1050" b="0" i="0">
                          <a:solidFill>
                            <a:srgbClr val="000000"/>
                          </a:solidFill>
                          <a:latin typeface="Calibri"/>
                        </a:rPr>
                        <a:t>Table 187: Eggnovo S.L.: Company Overview, Products and Strategy, 2026</a:t>
                      </a:r>
                      <a:endParaRPr sz="1050"/>
                    </a:p>
                  </a:txBody>
                  <a:tcPr marL="9525" marR="9525" marT="9525" marB="0" anchor="ctr"/>
                </a:tc>
              </a:tr>
              <a:tr h="166688">
                <a:tc>
                  <a:txBody>
                    <a:bodyPr wrap="square"/>
                    <a:lstStyle/>
                    <a:p>
                      <a:pPr algn="l"/>
                      <a:r>
                        <a:rPr sz="1050" b="0" i="0">
                          <a:solidFill>
                            <a:srgbClr val="000000"/>
                          </a:solidFill>
                          <a:latin typeface="Calibri"/>
                        </a:rPr>
                        <a:t>Table 188: Dutch Eggmembrane Protein Powder: Company Overview, Products and Strategy, 2026</a:t>
                      </a:r>
                      <a:endParaRPr sz="1050"/>
                    </a:p>
                  </a:txBody>
                  <a:tcPr marL="9525" marR="9525" marT="9525" marB="0" anchor="ctr"/>
                </a:tc>
              </a:tr>
              <a:tr h="166688">
                <a:tc>
                  <a:txBody>
                    <a:bodyPr wrap="square"/>
                    <a:lstStyle/>
                    <a:p>
                      <a:pPr algn="l"/>
                      <a:r>
                        <a:rPr sz="1050" b="0" i="0">
                          <a:solidFill>
                            <a:srgbClr val="000000"/>
                          </a:solidFill>
                          <a:latin typeface="Calibri"/>
                        </a:rPr>
                        <a:t>Table 189: Kewpie Corporation: Company Overview, Products and Strategy, 2026</a:t>
                      </a:r>
                      <a:endParaRPr sz="1050"/>
                    </a:p>
                  </a:txBody>
                  <a:tcPr marL="9525" marR="9525" marT="9525" marB="0" anchor="ctr"/>
                </a:tc>
              </a:tr>
              <a:tr h="166688">
                <a:tc>
                  <a:txBody>
                    <a:bodyPr wrap="square"/>
                    <a:lstStyle/>
                    <a:p>
                      <a:pPr algn="l"/>
                      <a:r>
                        <a:rPr sz="1050" b="0" i="0">
                          <a:solidFill>
                            <a:srgbClr val="000000"/>
                          </a:solidFill>
                          <a:latin typeface="Calibri"/>
                        </a:rPr>
                        <a:t>Table 190: INNAIN: Company Overview, Products and Strategy, 2026</a:t>
                      </a:r>
                      <a:endParaRPr sz="1050"/>
                    </a:p>
                  </a:txBody>
                  <a:tcPr marL="9525" marR="9525" marT="9525" marB="0" anchor="ctr"/>
                </a:tc>
              </a:tr>
              <a:tr h="166688">
                <a:tc>
                  <a:txBody>
                    <a:bodyPr wrap="square"/>
                    <a:lstStyle/>
                    <a:p>
                      <a:pPr algn="l"/>
                      <a:r>
                        <a:rPr sz="1050" b="0" i="0">
                          <a:solidFill>
                            <a:srgbClr val="000000"/>
                          </a:solidFill>
                          <a:latin typeface="Calibri"/>
                        </a:rPr>
                        <a:t>Table 191: Ecovatec Solutions Inc.: Company Overview, Products and Strategy, 2026</a:t>
                      </a:r>
                      <a:endParaRPr sz="1050"/>
                    </a:p>
                  </a:txBody>
                  <a:tcPr marL="9525" marR="9525" marT="9525" marB="0" anchor="ctr"/>
                </a:tc>
              </a:tr>
              <a:tr h="166688">
                <a:tc>
                  <a:txBody>
                    <a:bodyPr wrap="square"/>
                    <a:lstStyle/>
                    <a:p>
                      <a:pPr algn="l"/>
                      <a:r>
                        <a:rPr sz="1050" b="0" i="0">
                          <a:solidFill>
                            <a:srgbClr val="000000"/>
                          </a:solidFill>
                          <a:latin typeface="Calibri"/>
                        </a:rPr>
                        <a:t>Table 192: Biovotec: Company Overview, Products and Strategy, 2026</a:t>
                      </a:r>
                      <a:endParaRPr sz="1050"/>
                    </a:p>
                  </a:txBody>
                  <a:tcPr marL="9525" marR="9525" marT="9525" marB="0" anchor="ctr"/>
                </a:tc>
              </a:tr>
              <a:tr h="326708">
                <a:tc>
                  <a:txBody>
                    <a:bodyPr wrap="square"/>
                    <a:lstStyle/>
                    <a:p>
                      <a:pPr algn="l"/>
                      <a:r>
                        <a:rPr sz="1050" b="0" i="0">
                          <a:solidFill>
                            <a:srgbClr val="000000"/>
                          </a:solidFill>
                          <a:latin typeface="Calibri"/>
                        </a:rPr>
                        <a:t>Table 193: Microcore Research Laboratories India Pvt. Ltd.: Company Overview, Products and Strategy, 2026</a:t>
                      </a:r>
                      <a:endParaRPr sz="1050"/>
                    </a:p>
                  </a:txBody>
                  <a:tcPr marL="9525" marR="9525" marT="9525" marB="0" anchor="ctr"/>
                </a:tc>
              </a:tr>
              <a:tr h="166688">
                <a:tc>
                  <a:txBody>
                    <a:bodyPr wrap="square"/>
                    <a:lstStyle/>
                    <a:p>
                      <a:pPr algn="l"/>
                      <a:r>
                        <a:rPr sz="1050" b="0" i="0">
                          <a:solidFill>
                            <a:srgbClr val="000000"/>
                          </a:solidFill>
                          <a:latin typeface="Calibri"/>
                        </a:rPr>
                        <a:t>Table 194: Global Market Value by Scenario and Region, US$ Mn, 2026–2036</a:t>
                      </a:r>
                      <a:endParaRPr sz="1050"/>
                    </a:p>
                  </a:txBody>
                  <a:tcPr marL="9525" marR="9525" marT="9525" marB="0" anchor="ctr"/>
                </a:tc>
              </a:tr>
              <a:tr h="166688">
                <a:tc>
                  <a:txBody>
                    <a:bodyPr wrap="square"/>
                    <a:lstStyle/>
                    <a:p>
                      <a:pPr algn="l"/>
                      <a:r>
                        <a:rPr sz="1050" b="0" i="0">
                          <a:solidFill>
                            <a:srgbClr val="000000"/>
                          </a:solidFill>
                          <a:latin typeface="Calibri"/>
                        </a:rPr>
                        <a:t>Table 195: Global Market Key Trends and Impact Rating, 2026–2036</a:t>
                      </a:r>
                      <a:endParaRPr sz="1050"/>
                    </a:p>
                  </a:txBody>
                  <a:tcPr marL="9525" marR="9525" marT="9525" marB="0" anchor="ctr"/>
                </a:tc>
              </a:tr>
              <a:tr h="166688">
                <a:tc>
                  <a:txBody>
                    <a:bodyPr wrap="square"/>
                    <a:lstStyle/>
                    <a:p>
                      <a:pPr algn="l"/>
                      <a:r>
                        <a:rPr sz="1050" b="0" i="0">
                          <a:solidFill>
                            <a:srgbClr val="000000"/>
                          </a:solidFill>
                          <a:latin typeface="Calibri"/>
                        </a:rPr>
                        <a:t>Table 196: Global Market Opportunity Assessment by Product Type, US$ Mn, 2026–2036</a:t>
                      </a:r>
                      <a:endParaRPr sz="1050"/>
                    </a:p>
                  </a:txBody>
                  <a:tcPr marL="9525" marR="9525" marT="9525" marB="0" anchor="ctr"/>
                </a:tc>
              </a:tr>
              <a:tr h="166688">
                <a:tc>
                  <a:txBody>
                    <a:bodyPr wrap="square"/>
                    <a:lstStyle/>
                    <a:p>
                      <a:pPr algn="l"/>
                      <a:r>
                        <a:rPr sz="1050" b="0" i="0">
                          <a:solidFill>
                            <a:srgbClr val="000000"/>
                          </a:solidFill>
                          <a:latin typeface="Calibri"/>
                        </a:rPr>
                        <a:t>Table 197: Global Market Scenario Assumptions, 2026–2036</a:t>
                      </a:r>
                      <a:endParaRPr sz="1050"/>
                    </a:p>
                  </a:txBody>
                  <a:tcPr marL="9525" marR="9525" marT="9525" marB="0" anchor="ctr"/>
                </a:tc>
              </a:tr>
              <a:tr h="166688">
                <a:tc>
                  <a:txBody>
                    <a:bodyPr wrap="square"/>
                    <a:lstStyle/>
                    <a:p>
                      <a:pPr algn="l"/>
                      <a:r>
                        <a:rPr sz="1050" b="0" i="0">
                          <a:solidFill>
                            <a:srgbClr val="000000"/>
                          </a:solidFill>
                          <a:latin typeface="Calibri"/>
                        </a:rPr>
                        <a:t>Table 198: Global Market Client Opportunity Prioritisation by Product Type, 2026–2036</a:t>
                      </a:r>
                      <a:endParaRPr sz="1050"/>
                    </a:p>
                  </a:txBody>
                  <a:tcPr marL="9525" marR="9525" marT="9525" marB="0" anchor="ctr"/>
                </a:tc>
              </a:tr>
              <a:tr h="166688">
                <a:tc>
                  <a:txBody>
                    <a:bodyPr wrap="square"/>
                    <a:lstStyle/>
                    <a:p>
                      <a:pPr algn="l"/>
                      <a:r>
                        <a:rPr sz="1050" b="0" i="0">
                          <a:solidFill>
                            <a:srgbClr val="000000"/>
                          </a:solidFill>
                          <a:latin typeface="Calibri"/>
                        </a:rPr>
                        <a:t>Table 199: Global Market Customer Purchase Criteria by Product Type, 2026</a:t>
                      </a:r>
                      <a:endParaRPr sz="1050"/>
                    </a:p>
                  </a:txBody>
                  <a:tcPr marL="9525" marR="9525" marT="9525" marB="0" anchor="ctr"/>
                </a:tc>
              </a:tr>
              <a:tr h="166688">
                <a:tc>
                  <a:txBody>
                    <a:bodyPr wrap="square"/>
                    <a:lstStyle/>
                    <a:p>
                      <a:pPr algn="l"/>
                      <a:r>
                        <a:rPr sz="1050" b="0" i="0">
                          <a:solidFill>
                            <a:srgbClr val="000000"/>
                          </a:solidFill>
                          <a:latin typeface="Calibri"/>
                        </a:rPr>
                        <a:t>Table 200: Global Market Strategic Recommendations and Action Plan, 2026–2036</a:t>
                      </a:r>
                      <a:endParaRPr sz="1050"/>
                    </a:p>
                  </a:txBody>
                  <a:tcPr marL="9525" marR="9525" marT="9525" marB="0" anchor="ctr"/>
                </a:tc>
              </a:tr>
            </a:tbl>
          </a:graphicData>
        </a:graphic>
      </p:graphicFrame>
      <p:sp>
        <p:nvSpPr>
          <p:cNvPr id="7" name="Rectangle 6"/>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A2A63"/>
        </a:solidFill>
        <a:effectLst/>
      </p:bgPr>
    </p:bg>
    <p:spTree>
      <p:nvGrpSpPr>
        <p:cNvPr id="1" name=""/>
        <p:cNvGrpSpPr/>
        <p:nvPr/>
      </p:nvGrpSpPr>
      <p:grpSpPr/>
      <p:sp>
        <p:nvSpPr>
          <p:cNvPr id="2" name="TMR Section Breaker"/>
          <p:cNvSpPr/>
          <p:nvPr/>
        </p:nvSpPr>
        <p:spPr>
          <a:xfrm>
            <a:off x="0" y="0"/>
            <a:ext cx="12192000" cy="6858000"/>
          </a:xfrm>
          <a:prstGeom prst="rect">
            <a:avLst/>
          </a:prstGeom>
          <a:gradFill rotWithShape="1">
            <a:gsLst>
              <a:gs pos="0">
                <a:srgbClr val="0A2A63"/>
              </a:gs>
              <a:gs pos="100000">
                <a:srgbClr val="0F3F8F"/>
              </a:gs>
            </a:gsLst>
            <a:lin scaled="0" ang="19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35280" y="198120"/>
            <a:ext cx="1459992" cy="112790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411480" y="274320"/>
            <a:ext cx="1307592" cy="975505"/>
          </a:xfrm>
          <a:prstGeom prst="rect">
            <a:avLst/>
          </a:prstGeom>
        </p:spPr>
      </p:pic>
      <p:sp>
        <p:nvSpPr>
          <p:cNvPr id="5" name="TextBox 4"/>
          <p:cNvSpPr txBox="1"/>
          <p:nvPr/>
        </p:nvSpPr>
        <p:spPr>
          <a:xfrm>
            <a:off x="914400" y="1701165"/>
            <a:ext cx="7239000" cy="247650"/>
          </a:xfrm>
          <a:prstGeom prst="rect">
            <a:avLst/>
          </a:prstGeom>
          <a:noFill/>
        </p:spPr>
        <p:txBody>
          <a:bodyPr wrap="none" lIns="0" tIns="0">
            <a:spAutoFit/>
          </a:bodyPr>
          <a:lstStyle/>
          <a:p>
            <a:r>
              <a:rPr sz="1400" b="0">
                <a:solidFill>
                  <a:srgbClr val="8FC8F2"/>
                </a:solidFill>
                <a:latin typeface="Calibri"/>
              </a:rPr>
              <a:t>Egg Protein Membrane Market</a:t>
            </a:r>
          </a:p>
        </p:txBody>
      </p:sp>
      <p:sp>
        <p:nvSpPr>
          <p:cNvPr id="6" name="TMR Breaker Title"/>
          <p:cNvSpPr txBox="1"/>
          <p:nvPr/>
        </p:nvSpPr>
        <p:spPr>
          <a:xfrm>
            <a:off x="914400" y="2005965"/>
            <a:ext cx="7239000" cy="514350"/>
          </a:xfrm>
          <a:prstGeom prst="rect">
            <a:avLst/>
          </a:prstGeom>
          <a:noFill/>
        </p:spPr>
        <p:txBody>
          <a:bodyPr wrap="square" lIns="0" rIns="0" tIns="0">
            <a:spAutoFit/>
          </a:bodyPr>
          <a:lstStyle/>
          <a:p>
            <a:r>
              <a:rPr sz="3000" b="1" cap="all" spc="400">
                <a:solidFill>
                  <a:srgbClr val="FFFFFF"/>
                </a:solidFill>
                <a:latin typeface="Calibri"/>
              </a:rPr>
              <a:t>Global Market Outlook</a:t>
            </a:r>
          </a:p>
        </p:txBody>
      </p:sp>
      <p:sp>
        <p:nvSpPr>
          <p:cNvPr id="7" name="TextBox 6"/>
          <p:cNvSpPr txBox="1"/>
          <p:nvPr/>
        </p:nvSpPr>
        <p:spPr>
          <a:xfrm>
            <a:off x="914400" y="2710815"/>
            <a:ext cx="7124700" cy="3874770"/>
          </a:xfrm>
          <a:prstGeom prst="rect">
            <a:avLst/>
          </a:prstGeom>
          <a:noFill/>
        </p:spPr>
        <p:txBody>
          <a:bodyPr wrap="square" lIns="0" rIns="0" tIns="0" bIns="0">
            <a:spAutoFit/>
          </a:bodyPr>
          <a:lstStyle/>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Global Overview</a:t>
            </a:r>
          </a:p>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Global Market Analysis By Region</a:t>
            </a:r>
          </a:p>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Global Market Analysis By Segments</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By Product Type</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By Extraction / Processing Method</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By Source</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By Form</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By Application</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By Sales Channel</a:t>
            </a:r>
          </a:p>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Cross-sectional Assessment</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Product Type × Source</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Product Type × Application</a:t>
            </a:r>
          </a:p>
        </p:txBody>
      </p:sp>
      <p:sp>
        <p:nvSpPr>
          <p:cNvPr id="8" name="TextBox 7"/>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C9DCEE"/>
                </a:solidFill>
                <a:latin typeface="Calibri"/>
              </a:rPr>
              <a:t>©2026 Transparency Market Research, All Rights Reserved</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3F8FD"/>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3F8FD"/>
              </a:gs>
              <a:gs pos="100000">
                <a:srgbClr val="DCE9F6"/>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FE0F0">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9C8E6">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B7D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A5F8F"/>
              </a:gs>
              <a:gs pos="100000">
                <a:srgbClr val="6FA6D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MR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5</a:t>
            </a:r>
          </a:p>
        </p:txBody>
      </p:sp>
      <p:pic>
        <p:nvPicPr>
          <p:cNvPr id="8" name="Picture 7" descr="tmr_logo.png"/>
          <p:cNvPicPr>
            <a:picLocks noChangeAspect="1"/>
          </p:cNvPicPr>
          <p:nvPr/>
        </p:nvPicPr>
        <p:blipFill>
          <a:blip r:embed="rId2"/>
          <a:stretch>
            <a:fillRect/>
          </a:stretch>
        </p:blipFill>
        <p:spPr>
          <a:xfrm>
            <a:off x="411480" y="274320"/>
            <a:ext cx="1307592" cy="975505"/>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2A5F8F"/>
                </a:solidFill>
                <a:latin typeface="Calibri"/>
              </a:rPr>
              <a:t>Egg Protein Membrane Market</a:t>
            </a:r>
          </a:p>
        </p:txBody>
      </p:sp>
      <p:sp>
        <p:nvSpPr>
          <p:cNvPr id="10" name="TMR Section Title"/>
          <p:cNvSpPr txBox="1"/>
          <p:nvPr/>
        </p:nvSpPr>
        <p:spPr>
          <a:xfrm>
            <a:off x="914400" y="2701925"/>
            <a:ext cx="8572500" cy="514350"/>
          </a:xfrm>
          <a:prstGeom prst="rect">
            <a:avLst/>
          </a:prstGeom>
          <a:noFill/>
        </p:spPr>
        <p:txBody>
          <a:bodyPr wrap="square" lIns="0" rIns="0" tIns="0">
            <a:spAutoFit/>
          </a:bodyPr>
          <a:lstStyle/>
          <a:p>
            <a:r>
              <a:rPr sz="3000" b="1">
                <a:solidFill>
                  <a:srgbClr val="0E2A5C"/>
                </a:solidFill>
                <a:latin typeface="Calibri"/>
              </a:rPr>
              <a:t>Global Overview</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Volume Market Summary</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Pricing &amp; Price Index</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Value Market Summary</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Volume &amp; Value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Country Outlook</a:t>
            </a:r>
          </a:p>
        </p:txBody>
      </p:sp>
      <p:sp>
        <p:nvSpPr>
          <p:cNvPr id="12" name="Rectangle 11"/>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Egg Protein Membrane Market Summary, By Volume (MT)</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global market volume growth, incremental opportunity and the geographies driving it, 2021–2036</a:t>
            </a:r>
          </a:p>
        </p:txBody>
      </p:sp>
      <p:sp>
        <p:nvSpPr>
          <p:cNvPr id="7" name="Rounded Rectangle 6"/>
          <p:cNvSpPr/>
          <p:nvPr/>
        </p:nvSpPr>
        <p:spPr>
          <a:xfrm>
            <a:off x="142875" y="1025515"/>
            <a:ext cx="2876550" cy="511104"/>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2026 MARKET SIZE (MT)</a:t>
            </a:r>
          </a:p>
          <a:p>
            <a:pPr algn="ctr">
              <a:lnSpc>
                <a:spcPct val="95000"/>
              </a:lnSpc>
            </a:pPr>
            <a:r>
              <a:rPr sz="1500" b="1">
                <a:solidFill>
                  <a:srgbClr val="2A5F8F"/>
                </a:solidFill>
                <a:latin typeface="Calibri"/>
              </a:rPr>
              <a:t> </a:t>
            </a:r>
          </a:p>
        </p:txBody>
      </p:sp>
      <p:sp>
        <p:nvSpPr>
          <p:cNvPr id="8" name="Rounded Rectangle 7"/>
          <p:cNvSpPr/>
          <p:nvPr/>
        </p:nvSpPr>
        <p:spPr>
          <a:xfrm>
            <a:off x="3143250" y="1025515"/>
            <a:ext cx="2876550" cy="511104"/>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2036 MARKET SIZE (MT)</a:t>
            </a:r>
          </a:p>
          <a:p>
            <a:pPr algn="ctr">
              <a:lnSpc>
                <a:spcPct val="95000"/>
              </a:lnSpc>
            </a:pPr>
            <a:r>
              <a:rPr sz="1500" b="1">
                <a:solidFill>
                  <a:srgbClr val="2A5F8F"/>
                </a:solidFill>
                <a:latin typeface="Calibri"/>
              </a:rPr>
              <a:t> </a:t>
            </a:r>
          </a:p>
        </p:txBody>
      </p:sp>
      <p:sp>
        <p:nvSpPr>
          <p:cNvPr id="9" name="Rounded Rectangle 8"/>
          <p:cNvSpPr/>
          <p:nvPr/>
        </p:nvSpPr>
        <p:spPr>
          <a:xfrm>
            <a:off x="6153150" y="1025515"/>
            <a:ext cx="2876550" cy="511104"/>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CAGR 2021–2025</a:t>
            </a:r>
          </a:p>
          <a:p>
            <a:pPr algn="ctr">
              <a:lnSpc>
                <a:spcPct val="95000"/>
              </a:lnSpc>
            </a:pPr>
            <a:r>
              <a:rPr sz="1500" b="1">
                <a:solidFill>
                  <a:srgbClr val="2A5F8F"/>
                </a:solidFill>
                <a:latin typeface="Calibri"/>
              </a:rPr>
              <a:t> </a:t>
            </a:r>
          </a:p>
        </p:txBody>
      </p:sp>
      <p:sp>
        <p:nvSpPr>
          <p:cNvPr id="10" name="Rounded Rectangle 9"/>
          <p:cNvSpPr/>
          <p:nvPr/>
        </p:nvSpPr>
        <p:spPr>
          <a:xfrm>
            <a:off x="9163050" y="1025515"/>
            <a:ext cx="2876550" cy="511104"/>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CAGR 2026–2036</a:t>
            </a:r>
          </a:p>
          <a:p>
            <a:pPr algn="ctr">
              <a:lnSpc>
                <a:spcPct val="95000"/>
              </a:lnSpc>
            </a:pPr>
            <a:r>
              <a:rPr sz="1500" b="1">
                <a:solidFill>
                  <a:srgbClr val="2A5F8F"/>
                </a:solidFill>
                <a:latin typeface="Calibri"/>
              </a:rPr>
              <a:t> </a:t>
            </a:r>
          </a:p>
        </p:txBody>
      </p:sp>
      <p:sp>
        <p:nvSpPr>
          <p:cNvPr id="11" name="Rounded Rectangle 10"/>
          <p:cNvSpPr/>
          <p:nvPr/>
        </p:nvSpPr>
        <p:spPr>
          <a:xfrm>
            <a:off x="142875" y="1627887"/>
            <a:ext cx="7696200" cy="2354727"/>
          </a:xfrm>
          <a:prstGeom prst="roundRect">
            <a:avLst>
              <a:gd name="adj" fmla="val 3236"/>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685037"/>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CAGR (2021–2036)</a:t>
            </a:r>
          </a:p>
        </p:txBody>
      </p:sp>
      <p:graphicFrame>
        <p:nvGraphicFramePr>
          <p:cNvPr id="13" name="Chart 12"/>
          <p:cNvGraphicFramePr>
            <a:graphicFrameLocks noGrp="1"/>
          </p:cNvGraphicFramePr>
          <p:nvPr/>
        </p:nvGraphicFramePr>
        <p:xfrm>
          <a:off x="238125" y="1913637"/>
          <a:ext cx="7505700" cy="2011827"/>
        </p:xfrm>
        <a:graphic>
          <a:graphicData uri="http://schemas.openxmlformats.org/drawingml/2006/chart">
            <c:chart xmlns:c="http://schemas.openxmlformats.org/drawingml/2006/chart" r:id="rId3"/>
          </a:graphicData>
        </a:graphic>
      </p:graphicFrame>
      <p:sp>
        <p:nvSpPr>
          <p:cNvPr id="14" name="Rounded Rectangle 13"/>
          <p:cNvSpPr/>
          <p:nvPr/>
        </p:nvSpPr>
        <p:spPr>
          <a:xfrm>
            <a:off x="142875" y="4037375"/>
            <a:ext cx="7696200" cy="2519010"/>
          </a:xfrm>
          <a:prstGeom prst="roundRect">
            <a:avLst>
              <a:gd name="adj" fmla="val 3024"/>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8125" y="4094525"/>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Incremental Market Addition (MT)</a:t>
            </a:r>
          </a:p>
        </p:txBody>
      </p:sp>
      <p:graphicFrame>
        <p:nvGraphicFramePr>
          <p:cNvPr id="16" name="Chart 15"/>
          <p:cNvGraphicFramePr>
            <a:graphicFrameLocks noGrp="1"/>
          </p:cNvGraphicFramePr>
          <p:nvPr/>
        </p:nvGraphicFramePr>
        <p:xfrm>
          <a:off x="238125" y="4323125"/>
          <a:ext cx="7505700" cy="2176110"/>
        </p:xfrm>
        <a:graphic>
          <a:graphicData uri="http://schemas.openxmlformats.org/drawingml/2006/chart">
            <c:chart xmlns:c="http://schemas.openxmlformats.org/drawingml/2006/chart" r:id="rId4"/>
          </a:graphicData>
        </a:graphic>
      </p:graphicFrame>
      <p:sp>
        <p:nvSpPr>
          <p:cNvPr id="17" name="Rounded Rectangle 16"/>
          <p:cNvSpPr/>
          <p:nvPr/>
        </p:nvSpPr>
        <p:spPr>
          <a:xfrm>
            <a:off x="7915275" y="1627887"/>
            <a:ext cx="4133850" cy="2354727"/>
          </a:xfrm>
          <a:prstGeom prst="roundRect">
            <a:avLst>
              <a:gd name="adj" fmla="val 3236"/>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48625" y="1713612"/>
            <a:ext cx="3867150" cy="209550"/>
          </a:xfrm>
          <a:prstGeom prst="rect">
            <a:avLst/>
          </a:prstGeom>
          <a:noFill/>
        </p:spPr>
        <p:txBody>
          <a:bodyPr wrap="square" lIns="0" rIns="19050" tIns="9525" bIns="9525">
            <a:spAutoFit/>
          </a:bodyPr>
          <a:lstStyle/>
          <a:p>
            <a:pPr algn="l"/>
            <a:r>
              <a:rPr sz="1300" b="1">
                <a:solidFill>
                  <a:srgbClr val="0E2A5C"/>
                </a:solidFill>
                <a:latin typeface="Calibri"/>
              </a:rPr>
              <a:t>Key Insights</a:t>
            </a:r>
          </a:p>
        </p:txBody>
      </p:sp>
      <p:sp>
        <p:nvSpPr>
          <p:cNvPr id="19" name="Rectangle 18"/>
          <p:cNvSpPr/>
          <p:nvPr/>
        </p:nvSpPr>
        <p:spPr>
          <a:xfrm>
            <a:off x="8048625" y="1951737"/>
            <a:ext cx="38671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048625" y="2037462"/>
            <a:ext cx="3867150" cy="1868952"/>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21" name="Rounded Rectangle 20"/>
          <p:cNvSpPr/>
          <p:nvPr/>
        </p:nvSpPr>
        <p:spPr>
          <a:xfrm>
            <a:off x="7915275" y="4037375"/>
            <a:ext cx="4133850" cy="2519010"/>
          </a:xfrm>
          <a:prstGeom prst="roundRect">
            <a:avLst>
              <a:gd name="adj" fmla="val 3024"/>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48625" y="4123100"/>
            <a:ext cx="3867150" cy="209550"/>
          </a:xfrm>
          <a:prstGeom prst="rect">
            <a:avLst/>
          </a:prstGeom>
          <a:noFill/>
        </p:spPr>
        <p:txBody>
          <a:bodyPr wrap="square" lIns="0" rIns="19050" tIns="9525" bIns="9525">
            <a:spAutoFit/>
          </a:bodyPr>
          <a:lstStyle/>
          <a:p>
            <a:pPr algn="l"/>
            <a:r>
              <a:rPr sz="1300" b="1">
                <a:solidFill>
                  <a:srgbClr val="0E2A5C"/>
                </a:solidFill>
                <a:latin typeface="Calibri"/>
              </a:rPr>
              <a:t>Growth Drivers</a:t>
            </a:r>
          </a:p>
        </p:txBody>
      </p:sp>
      <p:sp>
        <p:nvSpPr>
          <p:cNvPr id="23" name="Rectangle 22"/>
          <p:cNvSpPr/>
          <p:nvPr/>
        </p:nvSpPr>
        <p:spPr>
          <a:xfrm>
            <a:off x="8048625" y="4361225"/>
            <a:ext cx="38671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048625" y="4446950"/>
            <a:ext cx="3867150" cy="203323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p:txBody>
      </p:sp>
      <p:sp>
        <p:nvSpPr>
          <p:cNvPr id="25" name="Rectangle 24"/>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27" name="Picture 26" descr="lock.png"/>
          <p:cNvPicPr>
            <a:picLocks noChangeAspect="1"/>
          </p:cNvPicPr>
          <p:nvPr/>
        </p:nvPicPr>
        <p:blipFill>
          <a:blip r:embed="rId6"/>
          <a:stretch>
            <a:fillRect/>
          </a:stretch>
        </p:blipFill>
        <p:spPr>
          <a:xfrm>
            <a:off x="1502569" y="1250587"/>
            <a:ext cx="157162" cy="228600"/>
          </a:xfrm>
          <a:prstGeom prst="rect">
            <a:avLst/>
          </a:prstGeom>
        </p:spPr>
      </p:pic>
      <p:pic>
        <p:nvPicPr>
          <p:cNvPr id="28" name="Picture 27" descr="lock.png"/>
          <p:cNvPicPr>
            <a:picLocks noChangeAspect="1"/>
          </p:cNvPicPr>
          <p:nvPr/>
        </p:nvPicPr>
        <p:blipFill>
          <a:blip r:embed="rId6"/>
          <a:stretch>
            <a:fillRect/>
          </a:stretch>
        </p:blipFill>
        <p:spPr>
          <a:xfrm>
            <a:off x="4502944" y="1250587"/>
            <a:ext cx="157162" cy="228600"/>
          </a:xfrm>
          <a:prstGeom prst="rect">
            <a:avLst/>
          </a:prstGeom>
        </p:spPr>
      </p:pic>
      <p:pic>
        <p:nvPicPr>
          <p:cNvPr id="29" name="Picture 28" descr="lock.png"/>
          <p:cNvPicPr>
            <a:picLocks noChangeAspect="1"/>
          </p:cNvPicPr>
          <p:nvPr/>
        </p:nvPicPr>
        <p:blipFill>
          <a:blip r:embed="rId6"/>
          <a:stretch>
            <a:fillRect/>
          </a:stretch>
        </p:blipFill>
        <p:spPr>
          <a:xfrm>
            <a:off x="7512844" y="1250587"/>
            <a:ext cx="157162" cy="228600"/>
          </a:xfrm>
          <a:prstGeom prst="rect">
            <a:avLst/>
          </a:prstGeom>
        </p:spPr>
      </p:pic>
      <p:pic>
        <p:nvPicPr>
          <p:cNvPr id="30" name="Picture 29" descr="lock.png"/>
          <p:cNvPicPr>
            <a:picLocks noChangeAspect="1"/>
          </p:cNvPicPr>
          <p:nvPr/>
        </p:nvPicPr>
        <p:blipFill>
          <a:blip r:embed="rId6"/>
          <a:stretch>
            <a:fillRect/>
          </a:stretch>
        </p:blipFill>
        <p:spPr>
          <a:xfrm>
            <a:off x="10522744" y="1250587"/>
            <a:ext cx="157162" cy="228600"/>
          </a:xfrm>
          <a:prstGeom prst="rect">
            <a:avLst/>
          </a:prstGeom>
        </p:spPr>
      </p:pic>
      <p:pic>
        <p:nvPicPr>
          <p:cNvPr id="31" name="Picture 30" descr="lock.png"/>
          <p:cNvPicPr>
            <a:picLocks noChangeAspect="1"/>
          </p:cNvPicPr>
          <p:nvPr/>
        </p:nvPicPr>
        <p:blipFill>
          <a:blip r:embed="rId6"/>
          <a:stretch>
            <a:fillRect/>
          </a:stretch>
        </p:blipFill>
        <p:spPr>
          <a:xfrm>
            <a:off x="3991062" y="5157531"/>
            <a:ext cx="289830" cy="421571"/>
          </a:xfrm>
          <a:prstGeom prst="rect">
            <a:avLst/>
          </a:prstGeom>
        </p:spPr>
      </p:pic>
      <p:sp>
        <p:nvSpPr>
          <p:cNvPr id="32" name="TextBox 31"/>
          <p:cNvSpPr txBox="1"/>
          <p:nvPr/>
        </p:nvSpPr>
        <p:spPr>
          <a:xfrm>
            <a:off x="8048625" y="2046987"/>
            <a:ext cx="3696357" cy="194310"/>
          </a:xfrm>
          <a:prstGeom prst="rect">
            <a:avLst/>
          </a:prstGeom>
          <a:noFill/>
        </p:spPr>
        <p:txBody>
          <a:bodyPr wrap="none" lIns="0" rIns="0" tIns="0" bIns="0">
            <a:spAutoFit/>
          </a:bodyPr>
          <a:lstStyle/>
          <a:p>
            <a:r>
              <a:rPr sz="1150" b="0">
                <a:solidFill>
                  <a:srgbClr val="2E2E2E"/>
                </a:solidFill>
                <a:latin typeface="Calibri"/>
              </a:rPr>
              <a:t>Global egg protein membrane market is projected to register</a:t>
            </a:r>
          </a:p>
        </p:txBody>
      </p:sp>
      <p:pic>
        <p:nvPicPr>
          <p:cNvPr id="33" name="Picture 32" descr="lock.png"/>
          <p:cNvPicPr>
            <a:picLocks noChangeAspect="1"/>
          </p:cNvPicPr>
          <p:nvPr/>
        </p:nvPicPr>
        <p:blipFill>
          <a:blip r:embed="rId6"/>
          <a:stretch>
            <a:fillRect/>
          </a:stretch>
        </p:blipFill>
        <p:spPr>
          <a:xfrm>
            <a:off x="8034545" y="2212023"/>
            <a:ext cx="134549" cy="195707"/>
          </a:xfrm>
          <a:prstGeom prst="rect">
            <a:avLst/>
          </a:prstGeom>
        </p:spPr>
      </p:pic>
      <p:sp>
        <p:nvSpPr>
          <p:cNvPr id="34" name="TextBox 33"/>
          <p:cNvSpPr txBox="1"/>
          <p:nvPr/>
        </p:nvSpPr>
        <p:spPr>
          <a:xfrm>
            <a:off x="8209654" y="2222247"/>
            <a:ext cx="3462163" cy="194310"/>
          </a:xfrm>
          <a:prstGeom prst="rect">
            <a:avLst/>
          </a:prstGeom>
          <a:noFill/>
        </p:spPr>
        <p:txBody>
          <a:bodyPr wrap="none" lIns="0" rIns="0" tIns="0" bIns="0">
            <a:spAutoFit/>
          </a:bodyPr>
          <a:lstStyle/>
          <a:p>
            <a:r>
              <a:rPr sz="1150" b="0">
                <a:solidFill>
                  <a:srgbClr val="2E2E2E"/>
                </a:solidFill>
                <a:latin typeface="Calibri"/>
              </a:rPr>
              <a:t>X increase in volume by the end of forecast period, 2036.</a:t>
            </a:r>
          </a:p>
        </p:txBody>
      </p:sp>
      <p:sp>
        <p:nvSpPr>
          <p:cNvPr id="35" name="TextBox 34"/>
          <p:cNvSpPr txBox="1"/>
          <p:nvPr/>
        </p:nvSpPr>
        <p:spPr>
          <a:xfrm>
            <a:off x="8048625" y="2397507"/>
            <a:ext cx="3315828" cy="194310"/>
          </a:xfrm>
          <a:prstGeom prst="rect">
            <a:avLst/>
          </a:prstGeom>
          <a:noFill/>
        </p:spPr>
        <p:txBody>
          <a:bodyPr wrap="none" lIns="0" rIns="0" tIns="0" bIns="0">
            <a:spAutoFit/>
          </a:bodyPr>
          <a:lstStyle/>
          <a:p>
            <a:r>
              <a:rPr sz="1150" b="0">
                <a:solidFill>
                  <a:srgbClr val="2E2E2E"/>
                </a:solidFill>
                <a:latin typeface="Calibri"/>
              </a:rPr>
              <a:t>Global egg protein membrane market volume stood at</a:t>
            </a:r>
          </a:p>
        </p:txBody>
      </p:sp>
      <p:pic>
        <p:nvPicPr>
          <p:cNvPr id="36" name="Picture 35" descr="lock.png"/>
          <p:cNvPicPr>
            <a:picLocks noChangeAspect="1"/>
          </p:cNvPicPr>
          <p:nvPr/>
        </p:nvPicPr>
        <p:blipFill>
          <a:blip r:embed="rId6"/>
          <a:stretch>
            <a:fillRect/>
          </a:stretch>
        </p:blipFill>
        <p:spPr>
          <a:xfrm>
            <a:off x="11313607" y="2387283"/>
            <a:ext cx="134549" cy="195707"/>
          </a:xfrm>
          <a:prstGeom prst="rect">
            <a:avLst/>
          </a:prstGeom>
        </p:spPr>
      </p:pic>
      <p:sp>
        <p:nvSpPr>
          <p:cNvPr id="37" name="TextBox 36"/>
          <p:cNvSpPr txBox="1"/>
          <p:nvPr/>
        </p:nvSpPr>
        <p:spPr>
          <a:xfrm>
            <a:off x="11488716" y="2397507"/>
            <a:ext cx="272454" cy="194310"/>
          </a:xfrm>
          <a:prstGeom prst="rect">
            <a:avLst/>
          </a:prstGeom>
          <a:noFill/>
        </p:spPr>
        <p:txBody>
          <a:bodyPr wrap="none" lIns="0" rIns="0" tIns="0" bIns="0">
            <a:spAutoFit/>
          </a:bodyPr>
          <a:lstStyle/>
          <a:p>
            <a:r>
              <a:rPr sz="1150" b="0">
                <a:solidFill>
                  <a:srgbClr val="2E2E2E"/>
                </a:solidFill>
                <a:latin typeface="Calibri"/>
              </a:rPr>
              <a:t>MT</a:t>
            </a:r>
          </a:p>
        </p:txBody>
      </p:sp>
      <p:sp>
        <p:nvSpPr>
          <p:cNvPr id="38" name="TextBox 37"/>
          <p:cNvSpPr txBox="1"/>
          <p:nvPr/>
        </p:nvSpPr>
        <p:spPr>
          <a:xfrm>
            <a:off x="8048625" y="2572767"/>
            <a:ext cx="2000237" cy="194310"/>
          </a:xfrm>
          <a:prstGeom prst="rect">
            <a:avLst/>
          </a:prstGeom>
          <a:noFill/>
        </p:spPr>
        <p:txBody>
          <a:bodyPr wrap="none" lIns="0" rIns="0" tIns="0" bIns="0">
            <a:spAutoFit/>
          </a:bodyPr>
          <a:lstStyle/>
          <a:p>
            <a:r>
              <a:rPr sz="1150" b="0">
                <a:solidFill>
                  <a:srgbClr val="2E2E2E"/>
                </a:solidFill>
                <a:latin typeface="Calibri"/>
              </a:rPr>
              <a:t>in 2025 and is expected to reach</a:t>
            </a:r>
          </a:p>
        </p:txBody>
      </p:sp>
      <p:pic>
        <p:nvPicPr>
          <p:cNvPr id="39" name="Picture 38" descr="lock.png"/>
          <p:cNvPicPr>
            <a:picLocks noChangeAspect="1"/>
          </p:cNvPicPr>
          <p:nvPr/>
        </p:nvPicPr>
        <p:blipFill>
          <a:blip r:embed="rId6"/>
          <a:stretch>
            <a:fillRect/>
          </a:stretch>
        </p:blipFill>
        <p:spPr>
          <a:xfrm>
            <a:off x="9998016" y="2562543"/>
            <a:ext cx="134549" cy="195707"/>
          </a:xfrm>
          <a:prstGeom prst="rect">
            <a:avLst/>
          </a:prstGeom>
        </p:spPr>
      </p:pic>
      <p:sp>
        <p:nvSpPr>
          <p:cNvPr id="40" name="TextBox 39"/>
          <p:cNvSpPr txBox="1"/>
          <p:nvPr/>
        </p:nvSpPr>
        <p:spPr>
          <a:xfrm>
            <a:off x="10173125" y="2572767"/>
            <a:ext cx="1329035" cy="194310"/>
          </a:xfrm>
          <a:prstGeom prst="rect">
            <a:avLst/>
          </a:prstGeom>
          <a:noFill/>
        </p:spPr>
        <p:txBody>
          <a:bodyPr wrap="none" lIns="0" rIns="0" tIns="0" bIns="0">
            <a:spAutoFit/>
          </a:bodyPr>
          <a:lstStyle/>
          <a:p>
            <a:r>
              <a:rPr sz="1150" b="0">
                <a:solidFill>
                  <a:srgbClr val="2E2E2E"/>
                </a:solidFill>
                <a:latin typeface="Calibri"/>
              </a:rPr>
              <a:t>MT by 2036 end, at a</a:t>
            </a:r>
          </a:p>
        </p:txBody>
      </p:sp>
      <p:sp>
        <p:nvSpPr>
          <p:cNvPr id="41" name="TextBox 40"/>
          <p:cNvSpPr txBox="1"/>
          <p:nvPr/>
        </p:nvSpPr>
        <p:spPr>
          <a:xfrm>
            <a:off x="8048625" y="2748027"/>
            <a:ext cx="564536" cy="194310"/>
          </a:xfrm>
          <a:prstGeom prst="rect">
            <a:avLst/>
          </a:prstGeom>
          <a:noFill/>
        </p:spPr>
        <p:txBody>
          <a:bodyPr wrap="none" lIns="0" rIns="0" tIns="0" bIns="0">
            <a:spAutoFit/>
          </a:bodyPr>
          <a:lstStyle/>
          <a:p>
            <a:r>
              <a:rPr sz="1150" b="0">
                <a:solidFill>
                  <a:srgbClr val="2E2E2E"/>
                </a:solidFill>
                <a:latin typeface="Calibri"/>
              </a:rPr>
              <a:t>CAGR of</a:t>
            </a:r>
          </a:p>
        </p:txBody>
      </p:sp>
      <p:pic>
        <p:nvPicPr>
          <p:cNvPr id="42" name="Picture 41" descr="lock.png"/>
          <p:cNvPicPr>
            <a:picLocks noChangeAspect="1"/>
          </p:cNvPicPr>
          <p:nvPr/>
        </p:nvPicPr>
        <p:blipFill>
          <a:blip r:embed="rId6"/>
          <a:stretch>
            <a:fillRect/>
          </a:stretch>
        </p:blipFill>
        <p:spPr>
          <a:xfrm>
            <a:off x="8562315" y="2737803"/>
            <a:ext cx="134549" cy="195707"/>
          </a:xfrm>
          <a:prstGeom prst="rect">
            <a:avLst/>
          </a:prstGeom>
        </p:spPr>
      </p:pic>
      <p:sp>
        <p:nvSpPr>
          <p:cNvPr id="43" name="TextBox 42"/>
          <p:cNvSpPr txBox="1"/>
          <p:nvPr/>
        </p:nvSpPr>
        <p:spPr>
          <a:xfrm>
            <a:off x="8737425" y="2748027"/>
            <a:ext cx="112997" cy="194310"/>
          </a:xfrm>
          <a:prstGeom prst="rect">
            <a:avLst/>
          </a:prstGeom>
          <a:noFill/>
        </p:spPr>
        <p:txBody>
          <a:bodyPr wrap="none" lIns="0" rIns="0" tIns="0" bIns="0">
            <a:spAutoFit/>
          </a:bodyPr>
          <a:lstStyle/>
          <a:p>
            <a:r>
              <a:rPr sz="1150" b="0">
                <a:solidFill>
                  <a:srgbClr val="2E2E2E"/>
                </a:solidFill>
                <a:latin typeface="Calibri"/>
              </a:rPr>
              <a:t>.</a:t>
            </a:r>
          </a:p>
        </p:txBody>
      </p:sp>
      <p:sp>
        <p:nvSpPr>
          <p:cNvPr id="44" name="TextBox 43"/>
          <p:cNvSpPr txBox="1"/>
          <p:nvPr/>
        </p:nvSpPr>
        <p:spPr>
          <a:xfrm>
            <a:off x="8048625" y="2975864"/>
            <a:ext cx="3842122" cy="194310"/>
          </a:xfrm>
          <a:prstGeom prst="rect">
            <a:avLst/>
          </a:prstGeom>
          <a:noFill/>
        </p:spPr>
        <p:txBody>
          <a:bodyPr wrap="none" lIns="0" rIns="0" tIns="0" bIns="0">
            <a:spAutoFit/>
          </a:bodyPr>
          <a:lstStyle/>
          <a:p>
            <a:r>
              <a:rPr sz="1150" b="0">
                <a:solidFill>
                  <a:srgbClr val="2E2E2E"/>
                </a:solidFill>
                <a:latin typeface="Calibri"/>
              </a:rPr>
              <a:t>Value is projected to grow faster than volume over the forecast</a:t>
            </a:r>
          </a:p>
        </p:txBody>
      </p:sp>
      <p:sp>
        <p:nvSpPr>
          <p:cNvPr id="45" name="TextBox 44"/>
          <p:cNvSpPr txBox="1"/>
          <p:nvPr/>
        </p:nvSpPr>
        <p:spPr>
          <a:xfrm>
            <a:off x="8048625" y="3151124"/>
            <a:ext cx="3184897" cy="194310"/>
          </a:xfrm>
          <a:prstGeom prst="rect">
            <a:avLst/>
          </a:prstGeom>
          <a:noFill/>
        </p:spPr>
        <p:txBody>
          <a:bodyPr wrap="none" lIns="0" rIns="0" tIns="0" bIns="0">
            <a:spAutoFit/>
          </a:bodyPr>
          <a:lstStyle/>
          <a:p>
            <a:r>
              <a:rPr sz="1150" b="0">
                <a:solidFill>
                  <a:srgbClr val="2E2E2E"/>
                </a:solidFill>
                <a:latin typeface="Calibri"/>
              </a:rPr>
              <a:t>period, owing to an increase in average selling price.</a:t>
            </a:r>
          </a:p>
        </p:txBody>
      </p:sp>
      <p:sp>
        <p:nvSpPr>
          <p:cNvPr id="46" name="TextBox 45"/>
          <p:cNvSpPr txBox="1"/>
          <p:nvPr/>
        </p:nvSpPr>
        <p:spPr>
          <a:xfrm>
            <a:off x="8048625" y="4456475"/>
            <a:ext cx="2868835" cy="194310"/>
          </a:xfrm>
          <a:prstGeom prst="rect">
            <a:avLst/>
          </a:prstGeom>
          <a:noFill/>
        </p:spPr>
        <p:txBody>
          <a:bodyPr wrap="none" lIns="0" rIns="0" tIns="0" bIns="0">
            <a:spAutoFit/>
          </a:bodyPr>
          <a:lstStyle/>
          <a:p>
            <a:r>
              <a:rPr sz="1150" b="0">
                <a:solidFill>
                  <a:srgbClr val="2E2E2E"/>
                </a:solidFill>
                <a:latin typeface="Calibri"/>
              </a:rPr>
              <a:t>▪ 'South Asia &amp; Pacific' leads regional growth at</a:t>
            </a:r>
          </a:p>
        </p:txBody>
      </p:sp>
      <p:pic>
        <p:nvPicPr>
          <p:cNvPr id="47" name="Picture 46" descr="lock.png"/>
          <p:cNvPicPr>
            <a:picLocks noChangeAspect="1"/>
          </p:cNvPicPr>
          <p:nvPr/>
        </p:nvPicPr>
        <p:blipFill>
          <a:blip r:embed="rId6"/>
          <a:stretch>
            <a:fillRect/>
          </a:stretch>
        </p:blipFill>
        <p:spPr>
          <a:xfrm>
            <a:off x="10866614" y="4446251"/>
            <a:ext cx="134549" cy="195707"/>
          </a:xfrm>
          <a:prstGeom prst="rect">
            <a:avLst/>
          </a:prstGeom>
        </p:spPr>
      </p:pic>
      <p:sp>
        <p:nvSpPr>
          <p:cNvPr id="48" name="TextBox 47"/>
          <p:cNvSpPr txBox="1"/>
          <p:nvPr/>
        </p:nvSpPr>
        <p:spPr>
          <a:xfrm>
            <a:off x="11041723" y="4456475"/>
            <a:ext cx="446726" cy="194310"/>
          </a:xfrm>
          <a:prstGeom prst="rect">
            <a:avLst/>
          </a:prstGeom>
          <a:noFill/>
        </p:spPr>
        <p:txBody>
          <a:bodyPr wrap="none" lIns="0" rIns="0" tIns="0" bIns="0">
            <a:spAutoFit/>
          </a:bodyPr>
          <a:lstStyle/>
          <a:p>
            <a:r>
              <a:rPr sz="1150" b="0">
                <a:solidFill>
                  <a:srgbClr val="2E2E2E"/>
                </a:solidFill>
                <a:latin typeface="Calibri"/>
              </a:rPr>
              <a:t>CAGR.</a:t>
            </a:r>
          </a:p>
        </p:txBody>
      </p:sp>
      <p:sp>
        <p:nvSpPr>
          <p:cNvPr id="49" name="TextBox 48"/>
          <p:cNvSpPr txBox="1"/>
          <p:nvPr/>
        </p:nvSpPr>
        <p:spPr>
          <a:xfrm>
            <a:off x="8048625" y="4684312"/>
            <a:ext cx="3589957" cy="194310"/>
          </a:xfrm>
          <a:prstGeom prst="rect">
            <a:avLst/>
          </a:prstGeom>
          <a:noFill/>
        </p:spPr>
        <p:txBody>
          <a:bodyPr wrap="none" lIns="0" rIns="0" tIns="0" bIns="0">
            <a:spAutoFit/>
          </a:bodyPr>
          <a:lstStyle/>
          <a:p>
            <a:r>
              <a:rPr sz="1150" b="0">
                <a:solidFill>
                  <a:srgbClr val="2E2E2E"/>
                </a:solidFill>
                <a:latin typeface="Calibri"/>
              </a:rPr>
              <a:t>▪ Demand concentrates in 'Micronized Eggshell Membrane'</a:t>
            </a:r>
          </a:p>
        </p:txBody>
      </p:sp>
      <p:sp>
        <p:nvSpPr>
          <p:cNvPr id="50" name="TextBox 49"/>
          <p:cNvSpPr txBox="1"/>
          <p:nvPr/>
        </p:nvSpPr>
        <p:spPr>
          <a:xfrm>
            <a:off x="8048625" y="4859572"/>
            <a:ext cx="1308496" cy="194310"/>
          </a:xfrm>
          <a:prstGeom prst="rect">
            <a:avLst/>
          </a:prstGeom>
          <a:noFill/>
        </p:spPr>
        <p:txBody>
          <a:bodyPr wrap="none" lIns="0" rIns="0" tIns="0" bIns="0">
            <a:spAutoFit/>
          </a:bodyPr>
          <a:lstStyle/>
          <a:p>
            <a:r>
              <a:rPr sz="1150" b="0">
                <a:solidFill>
                  <a:srgbClr val="2E2E2E"/>
                </a:solidFill>
                <a:latin typeface="Calibri"/>
              </a:rPr>
              <a:t>within Product Type.</a:t>
            </a:r>
          </a:p>
        </p:txBody>
      </p:sp>
      <p:sp>
        <p:nvSpPr>
          <p:cNvPr id="51" name="TextBox 50"/>
          <p:cNvSpPr txBox="1"/>
          <p:nvPr/>
        </p:nvSpPr>
        <p:spPr>
          <a:xfrm>
            <a:off x="8048625" y="5087410"/>
            <a:ext cx="3291296" cy="194310"/>
          </a:xfrm>
          <a:prstGeom prst="rect">
            <a:avLst/>
          </a:prstGeom>
          <a:noFill/>
        </p:spPr>
        <p:txBody>
          <a:bodyPr wrap="none" lIns="0" rIns="0" tIns="0" bIns="0">
            <a:spAutoFit/>
          </a:bodyPr>
          <a:lstStyle/>
          <a:p>
            <a:r>
              <a:rPr sz="1150" b="0">
                <a:solidFill>
                  <a:srgbClr val="2E2E2E"/>
                </a:solidFill>
                <a:latin typeface="Calibri"/>
              </a:rPr>
              <a:t>▪ Product innovation and premiumisation lifting value.</a:t>
            </a:r>
          </a:p>
        </p:txBody>
      </p:sp>
      <p:sp>
        <p:nvSpPr>
          <p:cNvPr id="52" name="TextBox 51"/>
          <p:cNvSpPr txBox="1"/>
          <p:nvPr/>
        </p:nvSpPr>
        <p:spPr>
          <a:xfrm>
            <a:off x="8048625" y="5315248"/>
            <a:ext cx="2741327" cy="194310"/>
          </a:xfrm>
          <a:prstGeom prst="rect">
            <a:avLst/>
          </a:prstGeom>
          <a:noFill/>
        </p:spPr>
        <p:txBody>
          <a:bodyPr wrap="none" lIns="0" rIns="0" tIns="0" bIns="0">
            <a:spAutoFit/>
          </a:bodyPr>
          <a:lstStyle/>
          <a:p>
            <a:r>
              <a:rPr sz="1150" b="0">
                <a:solidFill>
                  <a:srgbClr val="2E2E2E"/>
                </a:solidFill>
                <a:latin typeface="Calibri"/>
              </a:rPr>
              <a:t>▪ Expanding end-use applications and access.</a:t>
            </a:r>
          </a:p>
        </p:txBody>
      </p:sp>
      <p:sp>
        <p:nvSpPr>
          <p:cNvPr id="53" name="lockshield_13"/>
          <p:cNvSpPr/>
          <p:nvPr/>
        </p:nvSpPr>
        <p:spPr>
          <a:xfrm>
            <a:off x="238125" y="1913637"/>
            <a:ext cx="7505700" cy="2011827"/>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lockshield_16"/>
          <p:cNvSpPr/>
          <p:nvPr/>
        </p:nvSpPr>
        <p:spPr>
          <a:xfrm>
            <a:off x="238125" y="4323125"/>
            <a:ext cx="7505700" cy="217611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Egg Protein Membrane Market Pricing &amp; Regional Price Index</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average price by sub-segment and price variation by region, highlighting where pricing power sits</a:t>
            </a:r>
          </a:p>
        </p:txBody>
      </p:sp>
      <p:sp>
        <p:nvSpPr>
          <p:cNvPr id="7" name="Rounded Rectangle 6"/>
          <p:cNvSpPr/>
          <p:nvPr/>
        </p:nvSpPr>
        <p:spPr>
          <a:xfrm>
            <a:off x="142875" y="1052895"/>
            <a:ext cx="7696200" cy="2665040"/>
          </a:xfrm>
          <a:prstGeom prst="roundRect">
            <a:avLst>
              <a:gd name="adj" fmla="val 285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110045"/>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Average Price by Product Type  ·  range across 2021–2036 (US$/MT)</a:t>
            </a:r>
          </a:p>
        </p:txBody>
      </p:sp>
      <p:cxnSp>
        <p:nvCxnSpPr>
          <p:cNvPr id="9" name="Connector 8"/>
          <p:cNvCxnSpPr/>
          <p:nvPr/>
        </p:nvCxnSpPr>
        <p:spPr>
          <a:xfrm>
            <a:off x="657225" y="3336935"/>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57225" y="2865938"/>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57225" y="2394940"/>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657225" y="1923943"/>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657225" y="1452945"/>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657225" y="1452945"/>
            <a:ext cx="0" cy="188399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628650" y="3336935"/>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28650" y="2865938"/>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628650" y="2394940"/>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628650" y="1923943"/>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628650" y="1452945"/>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sp>
        <p:nvSpPr>
          <p:cNvPr id="20" name="TMR Scale tick"/>
          <p:cNvSpPr txBox="1"/>
          <p:nvPr/>
        </p:nvSpPr>
        <p:spPr>
          <a:xfrm>
            <a:off x="111919" y="3270260"/>
            <a:ext cx="488156" cy="133350"/>
          </a:xfrm>
          <a:prstGeom prst="rect">
            <a:avLst/>
          </a:prstGeom>
          <a:noFill/>
        </p:spPr>
        <p:txBody>
          <a:bodyPr wrap="square" lIns="28575" rIns="28575" tIns="9525" bIns="9525" anchor="ctr">
            <a:spAutoFit/>
          </a:bodyPr>
          <a:lstStyle/>
          <a:p>
            <a:pPr algn="r"/>
            <a:r>
              <a:rPr sz="1100" b="0">
                <a:solidFill>
                  <a:srgbClr val="6C7A89"/>
                </a:solidFill>
                <a:latin typeface="Calibri"/>
              </a:rPr>
              <a:t/>
            </a:r>
          </a:p>
        </p:txBody>
      </p:sp>
      <p:sp>
        <p:nvSpPr>
          <p:cNvPr id="21" name="TMR Scale tick"/>
          <p:cNvSpPr txBox="1"/>
          <p:nvPr/>
        </p:nvSpPr>
        <p:spPr>
          <a:xfrm>
            <a:off x="111919" y="2328265"/>
            <a:ext cx="488156" cy="133350"/>
          </a:xfrm>
          <a:prstGeom prst="rect">
            <a:avLst/>
          </a:prstGeom>
          <a:noFill/>
        </p:spPr>
        <p:txBody>
          <a:bodyPr wrap="square" lIns="28575" rIns="28575" tIns="9525" bIns="9525" anchor="ctr">
            <a:spAutoFit/>
          </a:bodyPr>
          <a:lstStyle/>
          <a:p>
            <a:pPr algn="r"/>
            <a:r>
              <a:rPr sz="1100" b="0">
                <a:solidFill>
                  <a:srgbClr val="6C7A89"/>
                </a:solidFill>
                <a:latin typeface="Calibri"/>
              </a:rPr>
              <a:t/>
            </a:r>
          </a:p>
        </p:txBody>
      </p:sp>
      <p:sp>
        <p:nvSpPr>
          <p:cNvPr id="22" name="TMR Scale tick"/>
          <p:cNvSpPr txBox="1"/>
          <p:nvPr/>
        </p:nvSpPr>
        <p:spPr>
          <a:xfrm>
            <a:off x="111919" y="1386270"/>
            <a:ext cx="488156" cy="133350"/>
          </a:xfrm>
          <a:prstGeom prst="rect">
            <a:avLst/>
          </a:prstGeom>
          <a:noFill/>
        </p:spPr>
        <p:txBody>
          <a:bodyPr wrap="square" lIns="28575" rIns="28575" tIns="9525" bIns="9525" anchor="ctr">
            <a:spAutoFit/>
          </a:bodyPr>
          <a:lstStyle/>
          <a:p>
            <a:pPr algn="r"/>
            <a:r>
              <a:rPr sz="1100" b="0">
                <a:solidFill>
                  <a:srgbClr val="6C7A89"/>
                </a:solidFill>
                <a:latin typeface="Calibri"/>
              </a:rPr>
              <a:t/>
            </a:r>
          </a:p>
        </p:txBody>
      </p:sp>
      <p:cxnSp>
        <p:nvCxnSpPr>
          <p:cNvPr id="23" name="Connector 22"/>
          <p:cNvCxnSpPr/>
          <p:nvPr/>
        </p:nvCxnSpPr>
        <p:spPr>
          <a:xfrm flipV="1">
            <a:off x="1825625" y="2374595"/>
            <a:ext cx="0" cy="467011"/>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1694180" y="2841606"/>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1694180" y="2374595"/>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26" name="Rectangle 25"/>
          <p:cNvSpPr/>
          <p:nvPr/>
        </p:nvSpPr>
        <p:spPr>
          <a:xfrm>
            <a:off x="1606550" y="2490182"/>
            <a:ext cx="438150" cy="233453"/>
          </a:xfrm>
          <a:prstGeom prst="rect">
            <a:avLst/>
          </a:prstGeom>
          <a:solidFill>
            <a:srgbClr val="CFE7F5"/>
          </a:solidFill>
          <a:ln w="15875">
            <a:solidFill>
              <a:srgbClr val="0E2A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7" name="Connector 26"/>
          <p:cNvCxnSpPr/>
          <p:nvPr/>
        </p:nvCxnSpPr>
        <p:spPr>
          <a:xfrm>
            <a:off x="1606550" y="2606497"/>
            <a:ext cx="438150" cy="0"/>
          </a:xfrm>
          <a:prstGeom prst="line">
            <a:avLst/>
          </a:prstGeom>
          <a:ln w="25400">
            <a:solidFill>
              <a:srgbClr val="2A5F8F"/>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657225" y="2222195"/>
            <a:ext cx="2336800" cy="133350"/>
          </a:xfrm>
          <a:prstGeom prst="rect">
            <a:avLst/>
          </a:prstGeom>
          <a:noFill/>
        </p:spPr>
        <p:txBody>
          <a:bodyPr wrap="square" lIns="28575" rIns="28575" tIns="9525" bIns="9525">
            <a:spAutoFit/>
          </a:bodyPr>
          <a:lstStyle/>
          <a:p>
            <a:pPr algn="ctr"/>
            <a:r>
              <a:rPr sz="1100" b="1">
                <a:solidFill>
                  <a:srgbClr val="0E2A5C"/>
                </a:solidFill>
                <a:latin typeface="Calibri"/>
              </a:rPr>
              <a:t> </a:t>
            </a:r>
          </a:p>
        </p:txBody>
      </p:sp>
      <p:cxnSp>
        <p:nvCxnSpPr>
          <p:cNvPr id="29" name="Connector 28"/>
          <p:cNvCxnSpPr/>
          <p:nvPr/>
        </p:nvCxnSpPr>
        <p:spPr>
          <a:xfrm flipV="1">
            <a:off x="4162425" y="2719478"/>
            <a:ext cx="0" cy="400074"/>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4030980" y="3119552"/>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4030980" y="2719478"/>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32" name="Rectangle 31"/>
          <p:cNvSpPr/>
          <p:nvPr/>
        </p:nvSpPr>
        <p:spPr>
          <a:xfrm>
            <a:off x="3943350" y="2817863"/>
            <a:ext cx="438150" cy="199961"/>
          </a:xfrm>
          <a:prstGeom prst="rect">
            <a:avLst/>
          </a:prstGeom>
          <a:solidFill>
            <a:srgbClr val="CFE7F5"/>
          </a:solidFill>
          <a:ln w="15875">
            <a:solidFill>
              <a:srgbClr val="0E2A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3" name="Connector 32"/>
          <p:cNvCxnSpPr/>
          <p:nvPr/>
        </p:nvCxnSpPr>
        <p:spPr>
          <a:xfrm>
            <a:off x="3943350" y="2917274"/>
            <a:ext cx="438150" cy="0"/>
          </a:xfrm>
          <a:prstGeom prst="line">
            <a:avLst/>
          </a:prstGeom>
          <a:ln w="25400">
            <a:solidFill>
              <a:srgbClr val="2A5F8F"/>
            </a:solidFill>
          </a:ln>
          <a:effectLst/>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2994025" y="2567078"/>
            <a:ext cx="2336800" cy="133350"/>
          </a:xfrm>
          <a:prstGeom prst="rect">
            <a:avLst/>
          </a:prstGeom>
          <a:noFill/>
        </p:spPr>
        <p:txBody>
          <a:bodyPr wrap="square" lIns="28575" rIns="28575" tIns="9525" bIns="9525">
            <a:spAutoFit/>
          </a:bodyPr>
          <a:lstStyle/>
          <a:p>
            <a:pPr algn="ctr"/>
            <a:r>
              <a:rPr sz="1100" b="1">
                <a:solidFill>
                  <a:srgbClr val="0E2A5C"/>
                </a:solidFill>
                <a:latin typeface="Calibri"/>
              </a:rPr>
              <a:t> </a:t>
            </a:r>
          </a:p>
        </p:txBody>
      </p:sp>
      <p:cxnSp>
        <p:nvCxnSpPr>
          <p:cNvPr id="35" name="Connector 34"/>
          <p:cNvCxnSpPr/>
          <p:nvPr/>
        </p:nvCxnSpPr>
        <p:spPr>
          <a:xfrm flipV="1">
            <a:off x="6499225" y="1670329"/>
            <a:ext cx="0" cy="565736"/>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6367780" y="2236065"/>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6367780" y="1670329"/>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38" name="Rectangle 37"/>
          <p:cNvSpPr/>
          <p:nvPr/>
        </p:nvSpPr>
        <p:spPr>
          <a:xfrm>
            <a:off x="6280150" y="1811103"/>
            <a:ext cx="438150" cy="282813"/>
          </a:xfrm>
          <a:prstGeom prst="rect">
            <a:avLst/>
          </a:prstGeom>
          <a:solidFill>
            <a:srgbClr val="CFE7F5"/>
          </a:solidFill>
          <a:ln w="15875">
            <a:solidFill>
              <a:srgbClr val="0E2A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9" name="Connector 38"/>
          <p:cNvCxnSpPr/>
          <p:nvPr/>
        </p:nvCxnSpPr>
        <p:spPr>
          <a:xfrm>
            <a:off x="6280150" y="1952274"/>
            <a:ext cx="438150" cy="0"/>
          </a:xfrm>
          <a:prstGeom prst="line">
            <a:avLst/>
          </a:prstGeom>
          <a:ln w="25400">
            <a:solidFill>
              <a:srgbClr val="2A5F8F"/>
            </a:solidFill>
          </a:ln>
          <a:effectLst/>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5330825" y="1517929"/>
            <a:ext cx="2336800" cy="133350"/>
          </a:xfrm>
          <a:prstGeom prst="rect">
            <a:avLst/>
          </a:prstGeom>
          <a:noFill/>
        </p:spPr>
        <p:txBody>
          <a:bodyPr wrap="square" lIns="28575" rIns="28575" tIns="9525" bIns="9525">
            <a:spAutoFit/>
          </a:bodyPr>
          <a:lstStyle/>
          <a:p>
            <a:pPr algn="ctr"/>
            <a:r>
              <a:rPr sz="1100" b="1">
                <a:solidFill>
                  <a:srgbClr val="0E2A5C"/>
                </a:solidFill>
                <a:latin typeface="Calibri"/>
              </a:rPr>
              <a:t> </a:t>
            </a:r>
          </a:p>
        </p:txBody>
      </p:sp>
      <p:sp>
        <p:nvSpPr>
          <p:cNvPr id="41" name="TextBox 40"/>
          <p:cNvSpPr txBox="1"/>
          <p:nvPr/>
        </p:nvSpPr>
        <p:spPr>
          <a:xfrm>
            <a:off x="657225" y="3365510"/>
            <a:ext cx="2336800" cy="285750"/>
          </a:xfrm>
          <a:prstGeom prst="rect">
            <a:avLst/>
          </a:prstGeom>
          <a:noFill/>
        </p:spPr>
        <p:txBody>
          <a:bodyPr wrap="square" lIns="28575" rIns="28575" tIns="9525" bIns="9525">
            <a:spAutoFit/>
          </a:bodyPr>
          <a:lstStyle/>
          <a:p>
            <a:pPr algn="ctr"/>
            <a:r>
              <a:rPr sz="1100" b="0">
                <a:solidFill>
                  <a:srgbClr val="2E2E2E"/>
                </a:solidFill>
                <a:latin typeface="Calibri"/>
              </a:rPr>
              <a:t>Micronized Eggshell M…</a:t>
            </a:r>
          </a:p>
        </p:txBody>
      </p:sp>
      <p:sp>
        <p:nvSpPr>
          <p:cNvPr id="42" name="TextBox 41"/>
          <p:cNvSpPr txBox="1"/>
          <p:nvPr/>
        </p:nvSpPr>
        <p:spPr>
          <a:xfrm>
            <a:off x="2994025" y="3365510"/>
            <a:ext cx="2336800" cy="285750"/>
          </a:xfrm>
          <a:prstGeom prst="rect">
            <a:avLst/>
          </a:prstGeom>
          <a:noFill/>
        </p:spPr>
        <p:txBody>
          <a:bodyPr wrap="square" lIns="28575" rIns="28575" tIns="9525" bIns="9525">
            <a:spAutoFit/>
          </a:bodyPr>
          <a:lstStyle/>
          <a:p>
            <a:pPr algn="ctr"/>
            <a:r>
              <a:rPr sz="1100" b="0">
                <a:solidFill>
                  <a:srgbClr val="2E2E2E"/>
                </a:solidFill>
                <a:latin typeface="Calibri"/>
              </a:rPr>
              <a:t>Hydrolyzed Eggshell M…</a:t>
            </a:r>
          </a:p>
        </p:txBody>
      </p:sp>
      <p:sp>
        <p:nvSpPr>
          <p:cNvPr id="43" name="TextBox 42"/>
          <p:cNvSpPr txBox="1"/>
          <p:nvPr/>
        </p:nvSpPr>
        <p:spPr>
          <a:xfrm>
            <a:off x="5330825" y="3365510"/>
            <a:ext cx="2336800" cy="285750"/>
          </a:xfrm>
          <a:prstGeom prst="rect">
            <a:avLst/>
          </a:prstGeom>
          <a:noFill/>
        </p:spPr>
        <p:txBody>
          <a:bodyPr wrap="square" lIns="28575" rIns="28575" tIns="9525" bIns="9525">
            <a:spAutoFit/>
          </a:bodyPr>
          <a:lstStyle/>
          <a:p>
            <a:pPr algn="ctr"/>
            <a:r>
              <a:rPr sz="1100" b="0">
                <a:solidFill>
                  <a:srgbClr val="2E2E2E"/>
                </a:solidFill>
                <a:latin typeface="Calibri"/>
              </a:rPr>
              <a:t>Specialty Extracted P…</a:t>
            </a:r>
          </a:p>
        </p:txBody>
      </p:sp>
      <p:sp>
        <p:nvSpPr>
          <p:cNvPr id="44" name="Rounded Rectangle 43"/>
          <p:cNvSpPr/>
          <p:nvPr/>
        </p:nvSpPr>
        <p:spPr>
          <a:xfrm>
            <a:off x="142875" y="3772696"/>
            <a:ext cx="7696200" cy="2783689"/>
          </a:xfrm>
          <a:prstGeom prst="roundRect">
            <a:avLst>
              <a:gd name="adj" fmla="val 2737"/>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238125" y="3829846"/>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Price Variation by Region vs Global  ·  2026–2036</a:t>
            </a:r>
          </a:p>
        </p:txBody>
      </p:sp>
      <p:cxnSp>
        <p:nvCxnSpPr>
          <p:cNvPr id="46" name="Connector 45"/>
          <p:cNvCxnSpPr/>
          <p:nvPr/>
        </p:nvCxnSpPr>
        <p:spPr>
          <a:xfrm>
            <a:off x="619125" y="4317861"/>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619125" y="4728818"/>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619125" y="5139776"/>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619125" y="5550733"/>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619125" y="5961691"/>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619125" y="4317861"/>
            <a:ext cx="0" cy="164383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590550" y="4317861"/>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590550" y="4728818"/>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590550" y="5139776"/>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590550" y="5550733"/>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590550" y="5961691"/>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sp>
        <p:nvSpPr>
          <p:cNvPr id="57" name="TMR Scale tick"/>
          <p:cNvSpPr txBox="1"/>
          <p:nvPr/>
        </p:nvSpPr>
        <p:spPr>
          <a:xfrm>
            <a:off x="219075" y="4251186"/>
            <a:ext cx="361950" cy="133350"/>
          </a:xfrm>
          <a:prstGeom prst="rect">
            <a:avLst/>
          </a:prstGeom>
          <a:noFill/>
        </p:spPr>
        <p:txBody>
          <a:bodyPr wrap="none" lIns="0" rIns="0" tIns="0" bIns="0" anchor="ctr">
            <a:spAutoFit/>
          </a:bodyPr>
          <a:lstStyle/>
          <a:p>
            <a:pPr algn="r"/>
            <a:r>
              <a:rPr sz="1100" b="0">
                <a:solidFill>
                  <a:srgbClr val="6C7A89"/>
                </a:solidFill>
                <a:latin typeface="Calibri"/>
              </a:rPr>
              <a:t>+49%</a:t>
            </a:r>
          </a:p>
        </p:txBody>
      </p:sp>
      <p:sp>
        <p:nvSpPr>
          <p:cNvPr id="58" name="TMR Scale tick"/>
          <p:cNvSpPr txBox="1"/>
          <p:nvPr/>
        </p:nvSpPr>
        <p:spPr>
          <a:xfrm>
            <a:off x="219075" y="4662143"/>
            <a:ext cx="361950" cy="133350"/>
          </a:xfrm>
          <a:prstGeom prst="rect">
            <a:avLst/>
          </a:prstGeom>
          <a:noFill/>
        </p:spPr>
        <p:txBody>
          <a:bodyPr wrap="none" lIns="0" rIns="0" tIns="0" bIns="0" anchor="ctr">
            <a:spAutoFit/>
          </a:bodyPr>
          <a:lstStyle/>
          <a:p>
            <a:pPr algn="r"/>
            <a:r>
              <a:rPr sz="1100" b="0">
                <a:solidFill>
                  <a:srgbClr val="6C7A89"/>
                </a:solidFill>
                <a:latin typeface="Calibri"/>
              </a:rPr>
              <a:t>+25%</a:t>
            </a:r>
          </a:p>
        </p:txBody>
      </p:sp>
      <p:sp>
        <p:nvSpPr>
          <p:cNvPr id="59" name="TMR Scale tick"/>
          <p:cNvSpPr txBox="1"/>
          <p:nvPr/>
        </p:nvSpPr>
        <p:spPr>
          <a:xfrm>
            <a:off x="107156" y="5073101"/>
            <a:ext cx="473869" cy="133350"/>
          </a:xfrm>
          <a:prstGeom prst="rect">
            <a:avLst/>
          </a:prstGeom>
          <a:noFill/>
        </p:spPr>
        <p:txBody>
          <a:bodyPr wrap="square" lIns="28575" rIns="28575" tIns="9525" bIns="9525" anchor="ctr">
            <a:spAutoFit/>
          </a:bodyPr>
          <a:lstStyle/>
          <a:p>
            <a:pPr algn="r"/>
            <a:r>
              <a:rPr sz="1100" b="1">
                <a:solidFill>
                  <a:srgbClr val="6C7A89"/>
                </a:solidFill>
                <a:latin typeface="Calibri"/>
              </a:rPr>
              <a:t>Global</a:t>
            </a:r>
          </a:p>
        </p:txBody>
      </p:sp>
      <p:sp>
        <p:nvSpPr>
          <p:cNvPr id="60" name="TMR Scale tick"/>
          <p:cNvSpPr txBox="1"/>
          <p:nvPr/>
        </p:nvSpPr>
        <p:spPr>
          <a:xfrm>
            <a:off x="219075" y="5484058"/>
            <a:ext cx="361950" cy="133350"/>
          </a:xfrm>
          <a:prstGeom prst="rect">
            <a:avLst/>
          </a:prstGeom>
          <a:noFill/>
        </p:spPr>
        <p:txBody>
          <a:bodyPr wrap="none" lIns="0" rIns="0" tIns="0" bIns="0" anchor="ctr">
            <a:spAutoFit/>
          </a:bodyPr>
          <a:lstStyle/>
          <a:p>
            <a:pPr algn="r"/>
            <a:r>
              <a:rPr sz="1100" b="0">
                <a:solidFill>
                  <a:srgbClr val="6C7A89"/>
                </a:solidFill>
                <a:latin typeface="Calibri"/>
              </a:rPr>
              <a:t>-25%</a:t>
            </a:r>
          </a:p>
        </p:txBody>
      </p:sp>
      <p:sp>
        <p:nvSpPr>
          <p:cNvPr id="61" name="TMR Scale tick"/>
          <p:cNvSpPr txBox="1"/>
          <p:nvPr/>
        </p:nvSpPr>
        <p:spPr>
          <a:xfrm>
            <a:off x="219075" y="5895016"/>
            <a:ext cx="361950" cy="133350"/>
          </a:xfrm>
          <a:prstGeom prst="rect">
            <a:avLst/>
          </a:prstGeom>
          <a:noFill/>
        </p:spPr>
        <p:txBody>
          <a:bodyPr wrap="none" lIns="0" rIns="0" tIns="0" bIns="0" anchor="ctr">
            <a:spAutoFit/>
          </a:bodyPr>
          <a:lstStyle/>
          <a:p>
            <a:pPr algn="r"/>
            <a:r>
              <a:rPr sz="1100" b="0">
                <a:solidFill>
                  <a:srgbClr val="6C7A89"/>
                </a:solidFill>
                <a:latin typeface="Calibri"/>
              </a:rPr>
              <a:t>-49%</a:t>
            </a:r>
          </a:p>
        </p:txBody>
      </p:sp>
      <p:cxnSp>
        <p:nvCxnSpPr>
          <p:cNvPr id="62" name="Connector 61"/>
          <p:cNvCxnSpPr/>
          <p:nvPr/>
        </p:nvCxnSpPr>
        <p:spPr>
          <a:xfrm>
            <a:off x="619125" y="5139776"/>
            <a:ext cx="7048500" cy="0"/>
          </a:xfrm>
          <a:prstGeom prst="line">
            <a:avLst/>
          </a:prstGeom>
          <a:ln w="13970">
            <a:solidFill>
              <a:srgbClr val="6C7A89"/>
            </a:solidFill>
            <a:prstDash val="dash"/>
          </a:ln>
          <a:effectLst/>
        </p:spPr>
        <p:style>
          <a:lnRef idx="2">
            <a:schemeClr val="accent1"/>
          </a:lnRef>
          <a:fillRef idx="0">
            <a:schemeClr val="accent1"/>
          </a:fillRef>
          <a:effectRef idx="1">
            <a:schemeClr val="accent1"/>
          </a:effectRef>
          <a:fontRef idx="minor">
            <a:schemeClr val="tx1"/>
          </a:fontRef>
        </p:style>
      </p:cxnSp>
      <p:sp>
        <p:nvSpPr>
          <p:cNvPr id="63" name="Rectangle 62"/>
          <p:cNvSpPr/>
          <p:nvPr/>
        </p:nvSpPr>
        <p:spPr>
          <a:xfrm>
            <a:off x="977900" y="4423458"/>
            <a:ext cx="457200" cy="716318"/>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MR Data Label"/>
          <p:cNvSpPr txBox="1"/>
          <p:nvPr/>
        </p:nvSpPr>
        <p:spPr>
          <a:xfrm>
            <a:off x="619125" y="4280583"/>
            <a:ext cx="1174750"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65" name="Rectangle 64"/>
          <p:cNvSpPr/>
          <p:nvPr/>
        </p:nvSpPr>
        <p:spPr>
          <a:xfrm>
            <a:off x="2152650" y="5139776"/>
            <a:ext cx="457200" cy="71808"/>
          </a:xfrm>
          <a:prstGeom prst="rect">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MR Data Label"/>
          <p:cNvSpPr txBox="1"/>
          <p:nvPr/>
        </p:nvSpPr>
        <p:spPr>
          <a:xfrm>
            <a:off x="1793875" y="5221109"/>
            <a:ext cx="1174750"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67" name="Rectangle 66"/>
          <p:cNvSpPr/>
          <p:nvPr/>
        </p:nvSpPr>
        <p:spPr>
          <a:xfrm>
            <a:off x="3327400" y="4702735"/>
            <a:ext cx="457200" cy="437040"/>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MR Data Label"/>
          <p:cNvSpPr txBox="1"/>
          <p:nvPr/>
        </p:nvSpPr>
        <p:spPr>
          <a:xfrm>
            <a:off x="2968625" y="4559860"/>
            <a:ext cx="1174750"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69" name="Rectangle 68"/>
          <p:cNvSpPr/>
          <p:nvPr/>
        </p:nvSpPr>
        <p:spPr>
          <a:xfrm>
            <a:off x="4502150" y="5139776"/>
            <a:ext cx="457200" cy="518858"/>
          </a:xfrm>
          <a:prstGeom prst="rect">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MR Data Label"/>
          <p:cNvSpPr txBox="1"/>
          <p:nvPr/>
        </p:nvSpPr>
        <p:spPr>
          <a:xfrm>
            <a:off x="4143375" y="5668159"/>
            <a:ext cx="1174750"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71" name="Rectangle 70"/>
          <p:cNvSpPr/>
          <p:nvPr/>
        </p:nvSpPr>
        <p:spPr>
          <a:xfrm>
            <a:off x="5676900" y="5139776"/>
            <a:ext cx="457200" cy="669480"/>
          </a:xfrm>
          <a:prstGeom prst="rect">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MR Data Label"/>
          <p:cNvSpPr txBox="1"/>
          <p:nvPr/>
        </p:nvSpPr>
        <p:spPr>
          <a:xfrm>
            <a:off x="5318125" y="5818781"/>
            <a:ext cx="1174750"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73" name="Rectangle 72"/>
          <p:cNvSpPr/>
          <p:nvPr/>
        </p:nvSpPr>
        <p:spPr>
          <a:xfrm>
            <a:off x="6851650" y="5139776"/>
            <a:ext cx="457200" cy="139599"/>
          </a:xfrm>
          <a:prstGeom prst="rect">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MR Data Label"/>
          <p:cNvSpPr txBox="1"/>
          <p:nvPr/>
        </p:nvSpPr>
        <p:spPr>
          <a:xfrm>
            <a:off x="6492875" y="5288900"/>
            <a:ext cx="1174750"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75" name="TextBox 74"/>
          <p:cNvSpPr txBox="1"/>
          <p:nvPr/>
        </p:nvSpPr>
        <p:spPr>
          <a:xfrm>
            <a:off x="619125" y="6135380"/>
            <a:ext cx="1174750" cy="247650"/>
          </a:xfrm>
          <a:prstGeom prst="rect">
            <a:avLst/>
          </a:prstGeom>
          <a:noFill/>
        </p:spPr>
        <p:txBody>
          <a:bodyPr wrap="square" lIns="28575" rIns="28575" tIns="9525" bIns="9525">
            <a:spAutoFit/>
          </a:bodyPr>
          <a:lstStyle/>
          <a:p>
            <a:pPr algn="ctr"/>
            <a:r>
              <a:rPr sz="1100" b="0">
                <a:solidFill>
                  <a:srgbClr val="2E2E2E"/>
                </a:solidFill>
                <a:latin typeface="Calibri"/>
              </a:rPr>
              <a:t>North America</a:t>
            </a:r>
          </a:p>
        </p:txBody>
      </p:sp>
      <p:sp>
        <p:nvSpPr>
          <p:cNvPr id="76" name="TextBox 75"/>
          <p:cNvSpPr txBox="1"/>
          <p:nvPr/>
        </p:nvSpPr>
        <p:spPr>
          <a:xfrm>
            <a:off x="1793875" y="6135380"/>
            <a:ext cx="1174750" cy="247650"/>
          </a:xfrm>
          <a:prstGeom prst="rect">
            <a:avLst/>
          </a:prstGeom>
          <a:noFill/>
        </p:spPr>
        <p:txBody>
          <a:bodyPr wrap="square" lIns="28575" rIns="28575" tIns="9525" bIns="9525">
            <a:spAutoFit/>
          </a:bodyPr>
          <a:lstStyle/>
          <a:p>
            <a:pPr algn="ctr"/>
            <a:r>
              <a:rPr sz="1100" b="0">
                <a:solidFill>
                  <a:srgbClr val="2E2E2E"/>
                </a:solidFill>
                <a:latin typeface="Calibri"/>
              </a:rPr>
              <a:t>Latin America</a:t>
            </a:r>
          </a:p>
        </p:txBody>
      </p:sp>
      <p:sp>
        <p:nvSpPr>
          <p:cNvPr id="77" name="TextBox 76"/>
          <p:cNvSpPr txBox="1"/>
          <p:nvPr/>
        </p:nvSpPr>
        <p:spPr>
          <a:xfrm>
            <a:off x="2968625" y="6135380"/>
            <a:ext cx="1174750" cy="247650"/>
          </a:xfrm>
          <a:prstGeom prst="rect">
            <a:avLst/>
          </a:prstGeom>
          <a:noFill/>
        </p:spPr>
        <p:txBody>
          <a:bodyPr wrap="square" lIns="28575" rIns="28575" tIns="9525" bIns="9525">
            <a:spAutoFit/>
          </a:bodyPr>
          <a:lstStyle/>
          <a:p>
            <a:pPr algn="ctr"/>
            <a:r>
              <a:rPr sz="1100" b="0">
                <a:solidFill>
                  <a:srgbClr val="2E2E2E"/>
                </a:solidFill>
                <a:latin typeface="Calibri"/>
              </a:rPr>
              <a:t>Europe</a:t>
            </a:r>
          </a:p>
        </p:txBody>
      </p:sp>
      <p:sp>
        <p:nvSpPr>
          <p:cNvPr id="78" name="TextBox 77"/>
          <p:cNvSpPr txBox="1"/>
          <p:nvPr/>
        </p:nvSpPr>
        <p:spPr>
          <a:xfrm>
            <a:off x="4143375" y="6135380"/>
            <a:ext cx="1174750" cy="247650"/>
          </a:xfrm>
          <a:prstGeom prst="rect">
            <a:avLst/>
          </a:prstGeom>
          <a:noFill/>
        </p:spPr>
        <p:txBody>
          <a:bodyPr wrap="square" lIns="28575" rIns="28575" tIns="9525" bIns="9525">
            <a:spAutoFit/>
          </a:bodyPr>
          <a:lstStyle/>
          <a:p>
            <a:pPr algn="ctr"/>
            <a:r>
              <a:rPr sz="1100" b="0">
                <a:solidFill>
                  <a:srgbClr val="2E2E2E"/>
                </a:solidFill>
                <a:latin typeface="Calibri"/>
              </a:rPr>
              <a:t>East Asia</a:t>
            </a:r>
          </a:p>
        </p:txBody>
      </p:sp>
      <p:sp>
        <p:nvSpPr>
          <p:cNvPr id="79" name="TextBox 78"/>
          <p:cNvSpPr txBox="1"/>
          <p:nvPr/>
        </p:nvSpPr>
        <p:spPr>
          <a:xfrm>
            <a:off x="5318125" y="6135380"/>
            <a:ext cx="1174750" cy="247650"/>
          </a:xfrm>
          <a:prstGeom prst="rect">
            <a:avLst/>
          </a:prstGeom>
          <a:noFill/>
        </p:spPr>
        <p:txBody>
          <a:bodyPr wrap="square" lIns="28575" rIns="28575" tIns="9525" bIns="9525">
            <a:spAutoFit/>
          </a:bodyPr>
          <a:lstStyle/>
          <a:p>
            <a:pPr algn="ctr"/>
            <a:r>
              <a:rPr sz="1100" b="0">
                <a:solidFill>
                  <a:srgbClr val="2E2E2E"/>
                </a:solidFill>
                <a:latin typeface="Calibri"/>
              </a:rPr>
              <a:t>South Asia &amp; Pacific</a:t>
            </a:r>
          </a:p>
        </p:txBody>
      </p:sp>
      <p:sp>
        <p:nvSpPr>
          <p:cNvPr id="80" name="TextBox 79"/>
          <p:cNvSpPr txBox="1"/>
          <p:nvPr/>
        </p:nvSpPr>
        <p:spPr>
          <a:xfrm>
            <a:off x="6492875" y="6135380"/>
            <a:ext cx="1174750" cy="247650"/>
          </a:xfrm>
          <a:prstGeom prst="rect">
            <a:avLst/>
          </a:prstGeom>
          <a:noFill/>
        </p:spPr>
        <p:txBody>
          <a:bodyPr wrap="square" lIns="28575" rIns="28575" tIns="9525" bIns="9525">
            <a:spAutoFit/>
          </a:bodyPr>
          <a:lstStyle/>
          <a:p>
            <a:pPr algn="ctr"/>
            <a:r>
              <a:rPr sz="1100" b="0">
                <a:solidFill>
                  <a:srgbClr val="2E2E2E"/>
                </a:solidFill>
                <a:latin typeface="Calibri"/>
              </a:rPr>
              <a:t>Middle East and Africa</a:t>
            </a:r>
          </a:p>
        </p:txBody>
      </p:sp>
      <p:sp>
        <p:nvSpPr>
          <p:cNvPr id="81" name="Rounded Rectangle 80"/>
          <p:cNvSpPr/>
          <p:nvPr/>
        </p:nvSpPr>
        <p:spPr>
          <a:xfrm>
            <a:off x="7915275" y="1052895"/>
            <a:ext cx="4133850" cy="5503490"/>
          </a:xfrm>
          <a:prstGeom prst="roundRect">
            <a:avLst>
              <a:gd name="adj" fmla="val 1843"/>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8048625" y="1138620"/>
            <a:ext cx="3867150" cy="209550"/>
          </a:xfrm>
          <a:prstGeom prst="rect">
            <a:avLst/>
          </a:prstGeom>
          <a:noFill/>
        </p:spPr>
        <p:txBody>
          <a:bodyPr wrap="square" lIns="0" rIns="19050" tIns="9525" bIns="9525">
            <a:spAutoFit/>
          </a:bodyPr>
          <a:lstStyle/>
          <a:p>
            <a:pPr algn="l"/>
            <a:r>
              <a:rPr sz="1300" b="1">
                <a:solidFill>
                  <a:srgbClr val="0E2A5C"/>
                </a:solidFill>
                <a:latin typeface="Calibri"/>
              </a:rPr>
              <a:t>Key Takeaways</a:t>
            </a:r>
          </a:p>
        </p:txBody>
      </p:sp>
      <p:sp>
        <p:nvSpPr>
          <p:cNvPr id="83" name="Rectangle 82"/>
          <p:cNvSpPr/>
          <p:nvPr/>
        </p:nvSpPr>
        <p:spPr>
          <a:xfrm>
            <a:off x="8048625" y="1376745"/>
            <a:ext cx="38671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8048625" y="1462470"/>
            <a:ext cx="3867150" cy="501771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85" name="Rectangle 84"/>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87" name="Picture 86" descr="lock.png"/>
          <p:cNvPicPr>
            <a:picLocks noChangeAspect="1"/>
          </p:cNvPicPr>
          <p:nvPr/>
        </p:nvPicPr>
        <p:blipFill>
          <a:blip r:embed="rId4"/>
          <a:stretch>
            <a:fillRect/>
          </a:stretch>
        </p:blipFill>
        <p:spPr>
          <a:xfrm>
            <a:off x="1761275" y="2195271"/>
            <a:ext cx="128699" cy="187198"/>
          </a:xfrm>
          <a:prstGeom prst="rect">
            <a:avLst/>
          </a:prstGeom>
        </p:spPr>
      </p:pic>
      <p:pic>
        <p:nvPicPr>
          <p:cNvPr id="88" name="Picture 87" descr="lock.png"/>
          <p:cNvPicPr>
            <a:picLocks noChangeAspect="1"/>
          </p:cNvPicPr>
          <p:nvPr/>
        </p:nvPicPr>
        <p:blipFill>
          <a:blip r:embed="rId4"/>
          <a:stretch>
            <a:fillRect/>
          </a:stretch>
        </p:blipFill>
        <p:spPr>
          <a:xfrm>
            <a:off x="4098075" y="2540154"/>
            <a:ext cx="128699" cy="187198"/>
          </a:xfrm>
          <a:prstGeom prst="rect">
            <a:avLst/>
          </a:prstGeom>
        </p:spPr>
      </p:pic>
      <p:pic>
        <p:nvPicPr>
          <p:cNvPr id="89" name="Picture 88" descr="lock.png"/>
          <p:cNvPicPr>
            <a:picLocks noChangeAspect="1"/>
          </p:cNvPicPr>
          <p:nvPr/>
        </p:nvPicPr>
        <p:blipFill>
          <a:blip r:embed="rId4"/>
          <a:stretch>
            <a:fillRect/>
          </a:stretch>
        </p:blipFill>
        <p:spPr>
          <a:xfrm>
            <a:off x="6434875" y="1491005"/>
            <a:ext cx="128699" cy="187198"/>
          </a:xfrm>
          <a:prstGeom prst="rect">
            <a:avLst/>
          </a:prstGeom>
        </p:spPr>
      </p:pic>
      <p:pic>
        <p:nvPicPr>
          <p:cNvPr id="90" name="Picture 89" descr="lock.png"/>
          <p:cNvPicPr>
            <a:picLocks noChangeAspect="1"/>
          </p:cNvPicPr>
          <p:nvPr/>
        </p:nvPicPr>
        <p:blipFill>
          <a:blip r:embed="rId4"/>
          <a:stretch>
            <a:fillRect/>
          </a:stretch>
        </p:blipFill>
        <p:spPr>
          <a:xfrm>
            <a:off x="1142150" y="4253659"/>
            <a:ext cx="128699" cy="187198"/>
          </a:xfrm>
          <a:prstGeom prst="rect">
            <a:avLst/>
          </a:prstGeom>
        </p:spPr>
      </p:pic>
      <p:pic>
        <p:nvPicPr>
          <p:cNvPr id="91" name="Picture 90" descr="lock.png"/>
          <p:cNvPicPr>
            <a:picLocks noChangeAspect="1"/>
          </p:cNvPicPr>
          <p:nvPr/>
        </p:nvPicPr>
        <p:blipFill>
          <a:blip r:embed="rId4"/>
          <a:stretch>
            <a:fillRect/>
          </a:stretch>
        </p:blipFill>
        <p:spPr>
          <a:xfrm>
            <a:off x="2316900" y="5194185"/>
            <a:ext cx="128699" cy="187198"/>
          </a:xfrm>
          <a:prstGeom prst="rect">
            <a:avLst/>
          </a:prstGeom>
        </p:spPr>
      </p:pic>
      <p:pic>
        <p:nvPicPr>
          <p:cNvPr id="92" name="Picture 91" descr="lock.png"/>
          <p:cNvPicPr>
            <a:picLocks noChangeAspect="1"/>
          </p:cNvPicPr>
          <p:nvPr/>
        </p:nvPicPr>
        <p:blipFill>
          <a:blip r:embed="rId4"/>
          <a:stretch>
            <a:fillRect/>
          </a:stretch>
        </p:blipFill>
        <p:spPr>
          <a:xfrm>
            <a:off x="3491650" y="4532936"/>
            <a:ext cx="128699" cy="187198"/>
          </a:xfrm>
          <a:prstGeom prst="rect">
            <a:avLst/>
          </a:prstGeom>
        </p:spPr>
      </p:pic>
      <p:pic>
        <p:nvPicPr>
          <p:cNvPr id="93" name="Picture 92" descr="lock.png"/>
          <p:cNvPicPr>
            <a:picLocks noChangeAspect="1"/>
          </p:cNvPicPr>
          <p:nvPr/>
        </p:nvPicPr>
        <p:blipFill>
          <a:blip r:embed="rId4"/>
          <a:stretch>
            <a:fillRect/>
          </a:stretch>
        </p:blipFill>
        <p:spPr>
          <a:xfrm>
            <a:off x="4666400" y="5641235"/>
            <a:ext cx="128699" cy="187198"/>
          </a:xfrm>
          <a:prstGeom prst="rect">
            <a:avLst/>
          </a:prstGeom>
        </p:spPr>
      </p:pic>
      <p:pic>
        <p:nvPicPr>
          <p:cNvPr id="94" name="Picture 93" descr="lock.png"/>
          <p:cNvPicPr>
            <a:picLocks noChangeAspect="1"/>
          </p:cNvPicPr>
          <p:nvPr/>
        </p:nvPicPr>
        <p:blipFill>
          <a:blip r:embed="rId4"/>
          <a:stretch>
            <a:fillRect/>
          </a:stretch>
        </p:blipFill>
        <p:spPr>
          <a:xfrm>
            <a:off x="5841150" y="5791857"/>
            <a:ext cx="128699" cy="187198"/>
          </a:xfrm>
          <a:prstGeom prst="rect">
            <a:avLst/>
          </a:prstGeom>
        </p:spPr>
      </p:pic>
      <p:pic>
        <p:nvPicPr>
          <p:cNvPr id="95" name="Picture 94" descr="lock.png"/>
          <p:cNvPicPr>
            <a:picLocks noChangeAspect="1"/>
          </p:cNvPicPr>
          <p:nvPr/>
        </p:nvPicPr>
        <p:blipFill>
          <a:blip r:embed="rId4"/>
          <a:stretch>
            <a:fillRect/>
          </a:stretch>
        </p:blipFill>
        <p:spPr>
          <a:xfrm>
            <a:off x="7015900" y="5261976"/>
            <a:ext cx="128699" cy="187198"/>
          </a:xfrm>
          <a:prstGeom prst="rect">
            <a:avLst/>
          </a:prstGeom>
        </p:spPr>
      </p:pic>
      <p:sp>
        <p:nvSpPr>
          <p:cNvPr id="96" name="TextBox 95"/>
          <p:cNvSpPr txBox="1"/>
          <p:nvPr/>
        </p:nvSpPr>
        <p:spPr>
          <a:xfrm>
            <a:off x="8048625" y="1471995"/>
            <a:ext cx="3639591" cy="194310"/>
          </a:xfrm>
          <a:prstGeom prst="rect">
            <a:avLst/>
          </a:prstGeom>
          <a:noFill/>
        </p:spPr>
        <p:txBody>
          <a:bodyPr wrap="none" lIns="0" rIns="0" tIns="0" bIns="0">
            <a:spAutoFit/>
          </a:bodyPr>
          <a:lstStyle/>
          <a:p>
            <a:r>
              <a:rPr sz="1150" b="0">
                <a:solidFill>
                  <a:srgbClr val="2E2E2E"/>
                </a:solidFill>
                <a:latin typeface="Calibri"/>
              </a:rPr>
              <a:t>Specialty extracted protein fractions segment is expected to</a:t>
            </a:r>
          </a:p>
        </p:txBody>
      </p:sp>
      <p:sp>
        <p:nvSpPr>
          <p:cNvPr id="97" name="TextBox 96"/>
          <p:cNvSpPr txBox="1"/>
          <p:nvPr/>
        </p:nvSpPr>
        <p:spPr>
          <a:xfrm>
            <a:off x="8048625" y="1647255"/>
            <a:ext cx="2627225" cy="194310"/>
          </a:xfrm>
          <a:prstGeom prst="rect">
            <a:avLst/>
          </a:prstGeom>
          <a:noFill/>
        </p:spPr>
        <p:txBody>
          <a:bodyPr wrap="none" lIns="0" rIns="0" tIns="0" bIns="0">
            <a:spAutoFit/>
          </a:bodyPr>
          <a:lstStyle/>
          <a:p>
            <a:r>
              <a:rPr sz="1150" b="0">
                <a:solidFill>
                  <a:srgbClr val="2E2E2E"/>
                </a:solidFill>
                <a:latin typeface="Calibri"/>
              </a:rPr>
              <a:t>command the highest average price of US$</a:t>
            </a:r>
          </a:p>
        </p:txBody>
      </p:sp>
      <p:pic>
        <p:nvPicPr>
          <p:cNvPr id="98" name="Picture 97" descr="lock.png"/>
          <p:cNvPicPr>
            <a:picLocks noChangeAspect="1"/>
          </p:cNvPicPr>
          <p:nvPr/>
        </p:nvPicPr>
        <p:blipFill>
          <a:blip r:embed="rId4"/>
          <a:stretch>
            <a:fillRect/>
          </a:stretch>
        </p:blipFill>
        <p:spPr>
          <a:xfrm>
            <a:off x="10625004" y="1637031"/>
            <a:ext cx="134549" cy="195707"/>
          </a:xfrm>
          <a:prstGeom prst="rect">
            <a:avLst/>
          </a:prstGeom>
        </p:spPr>
      </p:pic>
      <p:sp>
        <p:nvSpPr>
          <p:cNvPr id="99" name="TextBox 98"/>
          <p:cNvSpPr txBox="1"/>
          <p:nvPr/>
        </p:nvSpPr>
        <p:spPr>
          <a:xfrm>
            <a:off x="10800113" y="1647255"/>
            <a:ext cx="1016111" cy="194310"/>
          </a:xfrm>
          <a:prstGeom prst="rect">
            <a:avLst/>
          </a:prstGeom>
          <a:noFill/>
        </p:spPr>
        <p:txBody>
          <a:bodyPr wrap="none" lIns="0" rIns="0" tIns="0" bIns="0">
            <a:spAutoFit/>
          </a:bodyPr>
          <a:lstStyle/>
          <a:p>
            <a:r>
              <a:rPr sz="1150" b="0">
                <a:solidFill>
                  <a:srgbClr val="2E2E2E"/>
                </a:solidFill>
                <a:latin typeface="Calibri"/>
              </a:rPr>
              <a:t>per MT in 2036.</a:t>
            </a:r>
          </a:p>
        </p:txBody>
      </p:sp>
      <p:sp>
        <p:nvSpPr>
          <p:cNvPr id="100" name="TextBox 99"/>
          <p:cNvSpPr txBox="1"/>
          <p:nvPr/>
        </p:nvSpPr>
        <p:spPr>
          <a:xfrm>
            <a:off x="8048625" y="1822515"/>
            <a:ext cx="3761069" cy="194310"/>
          </a:xfrm>
          <a:prstGeom prst="rect">
            <a:avLst/>
          </a:prstGeom>
          <a:noFill/>
        </p:spPr>
        <p:txBody>
          <a:bodyPr wrap="none" lIns="0" rIns="0" tIns="0" bIns="0">
            <a:spAutoFit/>
          </a:bodyPr>
          <a:lstStyle/>
          <a:p>
            <a:r>
              <a:rPr sz="1150" b="0">
                <a:solidFill>
                  <a:srgbClr val="2E2E2E"/>
                </a:solidFill>
                <a:latin typeface="Calibri"/>
              </a:rPr>
              <a:t>Average selling price of egg protein membrane is estimated at</a:t>
            </a:r>
          </a:p>
        </p:txBody>
      </p:sp>
      <p:sp>
        <p:nvSpPr>
          <p:cNvPr id="101" name="TextBox 100"/>
          <p:cNvSpPr txBox="1"/>
          <p:nvPr/>
        </p:nvSpPr>
        <p:spPr>
          <a:xfrm>
            <a:off x="8048625" y="1997775"/>
            <a:ext cx="311249" cy="194310"/>
          </a:xfrm>
          <a:prstGeom prst="rect">
            <a:avLst/>
          </a:prstGeom>
          <a:noFill/>
        </p:spPr>
        <p:txBody>
          <a:bodyPr wrap="none" lIns="0" rIns="0" tIns="0" bIns="0">
            <a:spAutoFit/>
          </a:bodyPr>
          <a:lstStyle/>
          <a:p>
            <a:r>
              <a:rPr sz="1150" b="0">
                <a:solidFill>
                  <a:srgbClr val="2E2E2E"/>
                </a:solidFill>
                <a:latin typeface="Calibri"/>
              </a:rPr>
              <a:t>US$</a:t>
            </a:r>
          </a:p>
        </p:txBody>
      </p:sp>
      <p:pic>
        <p:nvPicPr>
          <p:cNvPr id="102" name="Picture 101" descr="lock.png"/>
          <p:cNvPicPr>
            <a:picLocks noChangeAspect="1"/>
          </p:cNvPicPr>
          <p:nvPr/>
        </p:nvPicPr>
        <p:blipFill>
          <a:blip r:embed="rId4"/>
          <a:stretch>
            <a:fillRect/>
          </a:stretch>
        </p:blipFill>
        <p:spPr>
          <a:xfrm>
            <a:off x="8309028" y="1987551"/>
            <a:ext cx="134549" cy="195707"/>
          </a:xfrm>
          <a:prstGeom prst="rect">
            <a:avLst/>
          </a:prstGeom>
        </p:spPr>
      </p:pic>
      <p:sp>
        <p:nvSpPr>
          <p:cNvPr id="103" name="TextBox 102"/>
          <p:cNvSpPr txBox="1"/>
          <p:nvPr/>
        </p:nvSpPr>
        <p:spPr>
          <a:xfrm>
            <a:off x="8484137" y="1997775"/>
            <a:ext cx="3081064" cy="194310"/>
          </a:xfrm>
          <a:prstGeom prst="rect">
            <a:avLst/>
          </a:prstGeom>
          <a:noFill/>
        </p:spPr>
        <p:txBody>
          <a:bodyPr wrap="none" lIns="0" rIns="0" tIns="0" bIns="0">
            <a:spAutoFit/>
          </a:bodyPr>
          <a:lstStyle/>
          <a:p>
            <a:r>
              <a:rPr sz="1150" b="0">
                <a:solidFill>
                  <a:srgbClr val="2E2E2E"/>
                </a:solidFill>
                <a:latin typeface="Calibri"/>
              </a:rPr>
              <a:t>per MT in 2025 and is projected to increase to US$</a:t>
            </a:r>
          </a:p>
        </p:txBody>
      </p:sp>
      <p:pic>
        <p:nvPicPr>
          <p:cNvPr id="104" name="Picture 103" descr="lock.png"/>
          <p:cNvPicPr>
            <a:picLocks noChangeAspect="1"/>
          </p:cNvPicPr>
          <p:nvPr/>
        </p:nvPicPr>
        <p:blipFill>
          <a:blip r:embed="rId4"/>
          <a:stretch>
            <a:fillRect/>
          </a:stretch>
        </p:blipFill>
        <p:spPr>
          <a:xfrm>
            <a:off x="11514356" y="1987551"/>
            <a:ext cx="134549" cy="195707"/>
          </a:xfrm>
          <a:prstGeom prst="rect">
            <a:avLst/>
          </a:prstGeom>
        </p:spPr>
      </p:pic>
      <p:sp>
        <p:nvSpPr>
          <p:cNvPr id="105" name="TextBox 104"/>
          <p:cNvSpPr txBox="1"/>
          <p:nvPr/>
        </p:nvSpPr>
        <p:spPr>
          <a:xfrm>
            <a:off x="8048625" y="2173035"/>
            <a:ext cx="1048630" cy="194310"/>
          </a:xfrm>
          <a:prstGeom prst="rect">
            <a:avLst/>
          </a:prstGeom>
          <a:noFill/>
        </p:spPr>
        <p:txBody>
          <a:bodyPr wrap="none" lIns="0" rIns="0" tIns="0" bIns="0">
            <a:spAutoFit/>
          </a:bodyPr>
          <a:lstStyle/>
          <a:p>
            <a:r>
              <a:rPr sz="1150" b="0">
                <a:solidFill>
                  <a:srgbClr val="2E2E2E"/>
                </a:solidFill>
                <a:latin typeface="Calibri"/>
              </a:rPr>
              <a:t>per MT by 2036.</a:t>
            </a:r>
          </a:p>
        </p:txBody>
      </p:sp>
      <p:sp>
        <p:nvSpPr>
          <p:cNvPr id="106" name="TextBox 105"/>
          <p:cNvSpPr txBox="1"/>
          <p:nvPr/>
        </p:nvSpPr>
        <p:spPr>
          <a:xfrm>
            <a:off x="8048625" y="2400873"/>
            <a:ext cx="3783074" cy="194310"/>
          </a:xfrm>
          <a:prstGeom prst="rect">
            <a:avLst/>
          </a:prstGeom>
          <a:noFill/>
        </p:spPr>
        <p:txBody>
          <a:bodyPr wrap="none" lIns="0" rIns="0" tIns="0" bIns="0">
            <a:spAutoFit/>
          </a:bodyPr>
          <a:lstStyle/>
          <a:p>
            <a:r>
              <a:rPr sz="1150" b="0">
                <a:solidFill>
                  <a:srgbClr val="2E2E2E"/>
                </a:solidFill>
                <a:latin typeface="Calibri"/>
              </a:rPr>
              <a:t>North America is the highest-priced region, while South Asia &amp;</a:t>
            </a:r>
          </a:p>
        </p:txBody>
      </p:sp>
      <p:sp>
        <p:nvSpPr>
          <p:cNvPr id="107" name="TextBox 106"/>
          <p:cNvSpPr txBox="1"/>
          <p:nvPr/>
        </p:nvSpPr>
        <p:spPr>
          <a:xfrm>
            <a:off x="8048625" y="2576133"/>
            <a:ext cx="3821583" cy="194310"/>
          </a:xfrm>
          <a:prstGeom prst="rect">
            <a:avLst/>
          </a:prstGeom>
          <a:noFill/>
        </p:spPr>
        <p:txBody>
          <a:bodyPr wrap="none" lIns="0" rIns="0" tIns="0" bIns="0">
            <a:spAutoFit/>
          </a:bodyPr>
          <a:lstStyle/>
          <a:p>
            <a:r>
              <a:rPr sz="1150" b="0">
                <a:solidFill>
                  <a:srgbClr val="2E2E2E"/>
                </a:solidFill>
                <a:latin typeface="Calibri"/>
              </a:rPr>
              <a:t>Pacific is the most price-competitive market. Against the global</a:t>
            </a:r>
          </a:p>
        </p:txBody>
      </p:sp>
      <p:sp>
        <p:nvSpPr>
          <p:cNvPr id="108" name="TextBox 107"/>
          <p:cNvSpPr txBox="1"/>
          <p:nvPr/>
        </p:nvSpPr>
        <p:spPr>
          <a:xfrm>
            <a:off x="8048625" y="2751393"/>
            <a:ext cx="526901" cy="194310"/>
          </a:xfrm>
          <a:prstGeom prst="rect">
            <a:avLst/>
          </a:prstGeom>
          <a:noFill/>
        </p:spPr>
        <p:txBody>
          <a:bodyPr wrap="none" lIns="0" rIns="0" tIns="0" bIns="0">
            <a:spAutoFit/>
          </a:bodyPr>
          <a:lstStyle/>
          <a:p>
            <a:r>
              <a:rPr sz="1150" b="0">
                <a:solidFill>
                  <a:srgbClr val="2E2E2E"/>
                </a:solidFill>
                <a:latin typeface="Calibri"/>
              </a:rPr>
              <a:t>price of</a:t>
            </a:r>
          </a:p>
        </p:txBody>
      </p:sp>
      <p:pic>
        <p:nvPicPr>
          <p:cNvPr id="109" name="Picture 108" descr="lock.png"/>
          <p:cNvPicPr>
            <a:picLocks noChangeAspect="1"/>
          </p:cNvPicPr>
          <p:nvPr/>
        </p:nvPicPr>
        <p:blipFill>
          <a:blip r:embed="rId4"/>
          <a:stretch>
            <a:fillRect/>
          </a:stretch>
        </p:blipFill>
        <p:spPr>
          <a:xfrm>
            <a:off x="8524680" y="2741169"/>
            <a:ext cx="134549" cy="195707"/>
          </a:xfrm>
          <a:prstGeom prst="rect">
            <a:avLst/>
          </a:prstGeom>
        </p:spPr>
      </p:pic>
      <p:sp>
        <p:nvSpPr>
          <p:cNvPr id="110" name="TextBox 109"/>
          <p:cNvSpPr txBox="1"/>
          <p:nvPr/>
        </p:nvSpPr>
        <p:spPr>
          <a:xfrm>
            <a:off x="8699789" y="2751393"/>
            <a:ext cx="2962399" cy="194310"/>
          </a:xfrm>
          <a:prstGeom prst="rect">
            <a:avLst/>
          </a:prstGeom>
          <a:noFill/>
        </p:spPr>
        <p:txBody>
          <a:bodyPr wrap="none" lIns="0" rIns="0" tIns="0" bIns="0">
            <a:spAutoFit/>
          </a:bodyPr>
          <a:lstStyle/>
          <a:p>
            <a:r>
              <a:rPr sz="1150" b="0">
                <a:solidFill>
                  <a:srgbClr val="2E2E2E"/>
                </a:solidFill>
                <a:latin typeface="Calibri"/>
              </a:rPr>
              <a:t>US$/MT, 2 of 6 regions price above and 4 below.</a:t>
            </a:r>
          </a:p>
        </p:txBody>
      </p:sp>
      <p:sp>
        <p:nvSpPr>
          <p:cNvPr id="111" name="TextBox 110"/>
          <p:cNvSpPr txBox="1"/>
          <p:nvPr/>
        </p:nvSpPr>
        <p:spPr>
          <a:xfrm>
            <a:off x="8048625" y="2979230"/>
            <a:ext cx="2108063" cy="194310"/>
          </a:xfrm>
          <a:prstGeom prst="rect">
            <a:avLst/>
          </a:prstGeom>
          <a:noFill/>
        </p:spPr>
        <p:txBody>
          <a:bodyPr wrap="none" lIns="0" rIns="0" tIns="0" bIns="0">
            <a:spAutoFit/>
          </a:bodyPr>
          <a:lstStyle/>
          <a:p>
            <a:r>
              <a:rPr sz="1150" b="0">
                <a:solidFill>
                  <a:srgbClr val="2E2E2E"/>
                </a:solidFill>
                <a:latin typeface="Calibri"/>
              </a:rPr>
              <a:t>'North America' is the dearest at +</a:t>
            </a:r>
          </a:p>
        </p:txBody>
      </p:sp>
      <p:pic>
        <p:nvPicPr>
          <p:cNvPr id="112" name="Picture 111" descr="lock.png"/>
          <p:cNvPicPr>
            <a:picLocks noChangeAspect="1"/>
          </p:cNvPicPr>
          <p:nvPr/>
        </p:nvPicPr>
        <p:blipFill>
          <a:blip r:embed="rId4"/>
          <a:stretch>
            <a:fillRect/>
          </a:stretch>
        </p:blipFill>
        <p:spPr>
          <a:xfrm>
            <a:off x="10105842" y="2969007"/>
            <a:ext cx="134549" cy="195707"/>
          </a:xfrm>
          <a:prstGeom prst="rect">
            <a:avLst/>
          </a:prstGeom>
        </p:spPr>
      </p:pic>
      <p:sp>
        <p:nvSpPr>
          <p:cNvPr id="113" name="TextBox 112"/>
          <p:cNvSpPr txBox="1"/>
          <p:nvPr/>
        </p:nvSpPr>
        <p:spPr>
          <a:xfrm>
            <a:off x="10280951" y="2979230"/>
            <a:ext cx="1599455" cy="194310"/>
          </a:xfrm>
          <a:prstGeom prst="rect">
            <a:avLst/>
          </a:prstGeom>
          <a:noFill/>
        </p:spPr>
        <p:txBody>
          <a:bodyPr wrap="none" lIns="0" rIns="0" tIns="0" bIns="0">
            <a:spAutoFit/>
          </a:bodyPr>
          <a:lstStyle/>
          <a:p>
            <a:r>
              <a:rPr sz="1150" b="0">
                <a:solidFill>
                  <a:srgbClr val="2E2E2E"/>
                </a:solidFill>
                <a:latin typeface="Calibri"/>
              </a:rPr>
              <a:t>versus Global, 'South Asia</a:t>
            </a:r>
          </a:p>
        </p:txBody>
      </p:sp>
      <p:sp>
        <p:nvSpPr>
          <p:cNvPr id="114" name="TextBox 113"/>
          <p:cNvSpPr txBox="1"/>
          <p:nvPr/>
        </p:nvSpPr>
        <p:spPr>
          <a:xfrm>
            <a:off x="8048625" y="3154490"/>
            <a:ext cx="1653654" cy="194310"/>
          </a:xfrm>
          <a:prstGeom prst="rect">
            <a:avLst/>
          </a:prstGeom>
          <a:noFill/>
        </p:spPr>
        <p:txBody>
          <a:bodyPr wrap="none" lIns="0" rIns="0" tIns="0" bIns="0">
            <a:spAutoFit/>
          </a:bodyPr>
          <a:lstStyle/>
          <a:p>
            <a:r>
              <a:rPr sz="1150" b="0">
                <a:solidFill>
                  <a:srgbClr val="2E2E2E"/>
                </a:solidFill>
                <a:latin typeface="Calibri"/>
              </a:rPr>
              <a:t>&amp; Pacific' the cheapest at -</a:t>
            </a:r>
          </a:p>
        </p:txBody>
      </p:sp>
      <p:pic>
        <p:nvPicPr>
          <p:cNvPr id="115" name="Picture 114" descr="lock.png"/>
          <p:cNvPicPr>
            <a:picLocks noChangeAspect="1"/>
          </p:cNvPicPr>
          <p:nvPr/>
        </p:nvPicPr>
        <p:blipFill>
          <a:blip r:embed="rId4"/>
          <a:stretch>
            <a:fillRect/>
          </a:stretch>
        </p:blipFill>
        <p:spPr>
          <a:xfrm>
            <a:off x="9651433" y="3144267"/>
            <a:ext cx="134549" cy="195707"/>
          </a:xfrm>
          <a:prstGeom prst="rect">
            <a:avLst/>
          </a:prstGeom>
        </p:spPr>
      </p:pic>
      <p:sp>
        <p:nvSpPr>
          <p:cNvPr id="116" name="TextBox 115"/>
          <p:cNvSpPr txBox="1"/>
          <p:nvPr/>
        </p:nvSpPr>
        <p:spPr>
          <a:xfrm>
            <a:off x="9826542" y="3154490"/>
            <a:ext cx="1702147" cy="194310"/>
          </a:xfrm>
          <a:prstGeom prst="rect">
            <a:avLst/>
          </a:prstGeom>
          <a:noFill/>
        </p:spPr>
        <p:txBody>
          <a:bodyPr wrap="none" lIns="0" rIns="0" tIns="0" bIns="0">
            <a:spAutoFit/>
          </a:bodyPr>
          <a:lstStyle/>
          <a:p>
            <a:r>
              <a:rPr sz="1150" b="0">
                <a:solidFill>
                  <a:srgbClr val="2E2E2E"/>
                </a:solidFill>
                <a:latin typeface="Calibri"/>
              </a:rPr>
              <a:t>pointing to premiumisation</a:t>
            </a:r>
          </a:p>
        </p:txBody>
      </p:sp>
      <p:sp>
        <p:nvSpPr>
          <p:cNvPr id="117" name="TextBox 116"/>
          <p:cNvSpPr txBox="1"/>
          <p:nvPr/>
        </p:nvSpPr>
        <p:spPr>
          <a:xfrm>
            <a:off x="8048625" y="3329750"/>
            <a:ext cx="2365647" cy="194310"/>
          </a:xfrm>
          <a:prstGeom prst="rect">
            <a:avLst/>
          </a:prstGeom>
          <a:noFill/>
        </p:spPr>
        <p:txBody>
          <a:bodyPr wrap="none" lIns="0" rIns="0" tIns="0" bIns="0">
            <a:spAutoFit/>
          </a:bodyPr>
          <a:lstStyle/>
          <a:p>
            <a:r>
              <a:rPr sz="1150" b="0">
                <a:solidFill>
                  <a:srgbClr val="2E2E2E"/>
                </a:solidFill>
                <a:latin typeface="Calibri"/>
              </a:rPr>
              <a:t>headroom in the lower-priced regions.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Egg Protein Membrane Market Summary, By Value (US$ Mn)</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global market value growth, incremental opportunity and the geographies driving it, 2021–2036</a:t>
            </a:r>
          </a:p>
        </p:txBody>
      </p:sp>
      <p:sp>
        <p:nvSpPr>
          <p:cNvPr id="7" name="Rounded Rectangle 6"/>
          <p:cNvSpPr/>
          <p:nvPr/>
        </p:nvSpPr>
        <p:spPr>
          <a:xfrm>
            <a:off x="142875" y="1025515"/>
            <a:ext cx="2876550" cy="511104"/>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2026 MARKET SIZE (US$ MN)</a:t>
            </a:r>
          </a:p>
          <a:p>
            <a:pPr algn="ctr">
              <a:lnSpc>
                <a:spcPct val="95000"/>
              </a:lnSpc>
            </a:pPr>
            <a:r>
              <a:rPr sz="1500" b="1">
                <a:solidFill>
                  <a:srgbClr val="2A5F8F"/>
                </a:solidFill>
                <a:latin typeface="Calibri"/>
              </a:rPr>
              <a:t> </a:t>
            </a:r>
          </a:p>
        </p:txBody>
      </p:sp>
      <p:sp>
        <p:nvSpPr>
          <p:cNvPr id="8" name="Rounded Rectangle 7"/>
          <p:cNvSpPr/>
          <p:nvPr/>
        </p:nvSpPr>
        <p:spPr>
          <a:xfrm>
            <a:off x="3143250" y="1025515"/>
            <a:ext cx="2876550" cy="511104"/>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2036 MARKET SIZE (US$ MN)</a:t>
            </a:r>
          </a:p>
          <a:p>
            <a:pPr algn="ctr">
              <a:lnSpc>
                <a:spcPct val="95000"/>
              </a:lnSpc>
            </a:pPr>
            <a:r>
              <a:rPr sz="1500" b="1">
                <a:solidFill>
                  <a:srgbClr val="2A5F8F"/>
                </a:solidFill>
                <a:latin typeface="Calibri"/>
              </a:rPr>
              <a:t> </a:t>
            </a:r>
          </a:p>
        </p:txBody>
      </p:sp>
      <p:sp>
        <p:nvSpPr>
          <p:cNvPr id="9" name="Rounded Rectangle 8"/>
          <p:cNvSpPr/>
          <p:nvPr/>
        </p:nvSpPr>
        <p:spPr>
          <a:xfrm>
            <a:off x="6153150" y="1025515"/>
            <a:ext cx="2876550" cy="511104"/>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CAGR 2021–2025</a:t>
            </a:r>
          </a:p>
          <a:p>
            <a:pPr algn="ctr">
              <a:lnSpc>
                <a:spcPct val="95000"/>
              </a:lnSpc>
            </a:pPr>
            <a:r>
              <a:rPr sz="1500" b="1">
                <a:solidFill>
                  <a:srgbClr val="2A5F8F"/>
                </a:solidFill>
                <a:latin typeface="Calibri"/>
              </a:rPr>
              <a:t> </a:t>
            </a:r>
          </a:p>
        </p:txBody>
      </p:sp>
      <p:sp>
        <p:nvSpPr>
          <p:cNvPr id="10" name="Rounded Rectangle 9"/>
          <p:cNvSpPr/>
          <p:nvPr/>
        </p:nvSpPr>
        <p:spPr>
          <a:xfrm>
            <a:off x="9163050" y="1025515"/>
            <a:ext cx="2876550" cy="511104"/>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CAGR 2026–2036</a:t>
            </a:r>
          </a:p>
          <a:p>
            <a:pPr algn="ctr">
              <a:lnSpc>
                <a:spcPct val="95000"/>
              </a:lnSpc>
            </a:pPr>
            <a:r>
              <a:rPr sz="1500" b="1">
                <a:solidFill>
                  <a:srgbClr val="2A5F8F"/>
                </a:solidFill>
                <a:latin typeface="Calibri"/>
              </a:rPr>
              <a:t> </a:t>
            </a:r>
          </a:p>
        </p:txBody>
      </p:sp>
      <p:sp>
        <p:nvSpPr>
          <p:cNvPr id="11" name="Rounded Rectangle 10"/>
          <p:cNvSpPr/>
          <p:nvPr/>
        </p:nvSpPr>
        <p:spPr>
          <a:xfrm>
            <a:off x="142875" y="1627887"/>
            <a:ext cx="7696200" cy="2354727"/>
          </a:xfrm>
          <a:prstGeom prst="roundRect">
            <a:avLst>
              <a:gd name="adj" fmla="val 3236"/>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685037"/>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CAGR (2021–2036)</a:t>
            </a:r>
          </a:p>
        </p:txBody>
      </p:sp>
      <p:graphicFrame>
        <p:nvGraphicFramePr>
          <p:cNvPr id="13" name="Chart 12"/>
          <p:cNvGraphicFramePr>
            <a:graphicFrameLocks noGrp="1"/>
          </p:cNvGraphicFramePr>
          <p:nvPr/>
        </p:nvGraphicFramePr>
        <p:xfrm>
          <a:off x="238125" y="1913637"/>
          <a:ext cx="7505700" cy="2011827"/>
        </p:xfrm>
        <a:graphic>
          <a:graphicData uri="http://schemas.openxmlformats.org/drawingml/2006/chart">
            <c:chart xmlns:c="http://schemas.openxmlformats.org/drawingml/2006/chart" r:id="rId3"/>
          </a:graphicData>
        </a:graphic>
      </p:graphicFrame>
      <p:sp>
        <p:nvSpPr>
          <p:cNvPr id="14" name="Rounded Rectangle 13"/>
          <p:cNvSpPr/>
          <p:nvPr/>
        </p:nvSpPr>
        <p:spPr>
          <a:xfrm>
            <a:off x="142875" y="4037375"/>
            <a:ext cx="7696200" cy="2519010"/>
          </a:xfrm>
          <a:prstGeom prst="roundRect">
            <a:avLst>
              <a:gd name="adj" fmla="val 3024"/>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8125" y="4094525"/>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Incremental Market Addition (US$ Mn)</a:t>
            </a:r>
          </a:p>
        </p:txBody>
      </p:sp>
      <p:graphicFrame>
        <p:nvGraphicFramePr>
          <p:cNvPr id="16" name="Chart 15"/>
          <p:cNvGraphicFramePr>
            <a:graphicFrameLocks noGrp="1"/>
          </p:cNvGraphicFramePr>
          <p:nvPr/>
        </p:nvGraphicFramePr>
        <p:xfrm>
          <a:off x="238125" y="4323125"/>
          <a:ext cx="7505700" cy="2176110"/>
        </p:xfrm>
        <a:graphic>
          <a:graphicData uri="http://schemas.openxmlformats.org/drawingml/2006/chart">
            <c:chart xmlns:c="http://schemas.openxmlformats.org/drawingml/2006/chart" r:id="rId4"/>
          </a:graphicData>
        </a:graphic>
      </p:graphicFrame>
      <p:sp>
        <p:nvSpPr>
          <p:cNvPr id="17" name="Rounded Rectangle 16"/>
          <p:cNvSpPr/>
          <p:nvPr/>
        </p:nvSpPr>
        <p:spPr>
          <a:xfrm>
            <a:off x="7915275" y="1627887"/>
            <a:ext cx="4133850" cy="2354727"/>
          </a:xfrm>
          <a:prstGeom prst="roundRect">
            <a:avLst>
              <a:gd name="adj" fmla="val 3236"/>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48625" y="1713612"/>
            <a:ext cx="3867150" cy="209550"/>
          </a:xfrm>
          <a:prstGeom prst="rect">
            <a:avLst/>
          </a:prstGeom>
          <a:noFill/>
        </p:spPr>
        <p:txBody>
          <a:bodyPr wrap="square" lIns="0" rIns="19050" tIns="9525" bIns="9525">
            <a:spAutoFit/>
          </a:bodyPr>
          <a:lstStyle/>
          <a:p>
            <a:pPr algn="l"/>
            <a:r>
              <a:rPr sz="1300" b="1">
                <a:solidFill>
                  <a:srgbClr val="0E2A5C"/>
                </a:solidFill>
                <a:latin typeface="Calibri"/>
              </a:rPr>
              <a:t>Key Insights</a:t>
            </a:r>
          </a:p>
        </p:txBody>
      </p:sp>
      <p:sp>
        <p:nvSpPr>
          <p:cNvPr id="19" name="Rectangle 18"/>
          <p:cNvSpPr/>
          <p:nvPr/>
        </p:nvSpPr>
        <p:spPr>
          <a:xfrm>
            <a:off x="8048625" y="1951737"/>
            <a:ext cx="38671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048625" y="2037462"/>
            <a:ext cx="3867150" cy="1868952"/>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21" name="Rounded Rectangle 20"/>
          <p:cNvSpPr/>
          <p:nvPr/>
        </p:nvSpPr>
        <p:spPr>
          <a:xfrm>
            <a:off x="7915275" y="4037375"/>
            <a:ext cx="4133850" cy="2519010"/>
          </a:xfrm>
          <a:prstGeom prst="roundRect">
            <a:avLst>
              <a:gd name="adj" fmla="val 3024"/>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48625" y="4123100"/>
            <a:ext cx="3867150" cy="209550"/>
          </a:xfrm>
          <a:prstGeom prst="rect">
            <a:avLst/>
          </a:prstGeom>
          <a:noFill/>
        </p:spPr>
        <p:txBody>
          <a:bodyPr wrap="square" lIns="0" rIns="19050" tIns="9525" bIns="9525">
            <a:spAutoFit/>
          </a:bodyPr>
          <a:lstStyle/>
          <a:p>
            <a:pPr algn="l"/>
            <a:r>
              <a:rPr sz="1300" b="1">
                <a:solidFill>
                  <a:srgbClr val="0E2A5C"/>
                </a:solidFill>
                <a:latin typeface="Calibri"/>
              </a:rPr>
              <a:t>Growth Drivers</a:t>
            </a:r>
          </a:p>
        </p:txBody>
      </p:sp>
      <p:sp>
        <p:nvSpPr>
          <p:cNvPr id="23" name="Rectangle 22"/>
          <p:cNvSpPr/>
          <p:nvPr/>
        </p:nvSpPr>
        <p:spPr>
          <a:xfrm>
            <a:off x="8048625" y="4361225"/>
            <a:ext cx="38671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048625" y="4446950"/>
            <a:ext cx="3867150" cy="203323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p:txBody>
      </p:sp>
      <p:sp>
        <p:nvSpPr>
          <p:cNvPr id="25" name="Rectangle 24"/>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27" name="Picture 26" descr="lock.png"/>
          <p:cNvPicPr>
            <a:picLocks noChangeAspect="1"/>
          </p:cNvPicPr>
          <p:nvPr/>
        </p:nvPicPr>
        <p:blipFill>
          <a:blip r:embed="rId6"/>
          <a:stretch>
            <a:fillRect/>
          </a:stretch>
        </p:blipFill>
        <p:spPr>
          <a:xfrm>
            <a:off x="1502569" y="1250587"/>
            <a:ext cx="157162" cy="228600"/>
          </a:xfrm>
          <a:prstGeom prst="rect">
            <a:avLst/>
          </a:prstGeom>
        </p:spPr>
      </p:pic>
      <p:pic>
        <p:nvPicPr>
          <p:cNvPr id="28" name="Picture 27" descr="lock.png"/>
          <p:cNvPicPr>
            <a:picLocks noChangeAspect="1"/>
          </p:cNvPicPr>
          <p:nvPr/>
        </p:nvPicPr>
        <p:blipFill>
          <a:blip r:embed="rId6"/>
          <a:stretch>
            <a:fillRect/>
          </a:stretch>
        </p:blipFill>
        <p:spPr>
          <a:xfrm>
            <a:off x="4502944" y="1250587"/>
            <a:ext cx="157162" cy="228600"/>
          </a:xfrm>
          <a:prstGeom prst="rect">
            <a:avLst/>
          </a:prstGeom>
        </p:spPr>
      </p:pic>
      <p:pic>
        <p:nvPicPr>
          <p:cNvPr id="29" name="Picture 28" descr="lock.png"/>
          <p:cNvPicPr>
            <a:picLocks noChangeAspect="1"/>
          </p:cNvPicPr>
          <p:nvPr/>
        </p:nvPicPr>
        <p:blipFill>
          <a:blip r:embed="rId6"/>
          <a:stretch>
            <a:fillRect/>
          </a:stretch>
        </p:blipFill>
        <p:spPr>
          <a:xfrm>
            <a:off x="7512844" y="1250587"/>
            <a:ext cx="157162" cy="228600"/>
          </a:xfrm>
          <a:prstGeom prst="rect">
            <a:avLst/>
          </a:prstGeom>
        </p:spPr>
      </p:pic>
      <p:pic>
        <p:nvPicPr>
          <p:cNvPr id="30" name="Picture 29" descr="lock.png"/>
          <p:cNvPicPr>
            <a:picLocks noChangeAspect="1"/>
          </p:cNvPicPr>
          <p:nvPr/>
        </p:nvPicPr>
        <p:blipFill>
          <a:blip r:embed="rId6"/>
          <a:stretch>
            <a:fillRect/>
          </a:stretch>
        </p:blipFill>
        <p:spPr>
          <a:xfrm>
            <a:off x="10522744" y="1250587"/>
            <a:ext cx="157162" cy="228600"/>
          </a:xfrm>
          <a:prstGeom prst="rect">
            <a:avLst/>
          </a:prstGeom>
        </p:spPr>
      </p:pic>
      <p:pic>
        <p:nvPicPr>
          <p:cNvPr id="31" name="Picture 30" descr="lock.png"/>
          <p:cNvPicPr>
            <a:picLocks noChangeAspect="1"/>
          </p:cNvPicPr>
          <p:nvPr/>
        </p:nvPicPr>
        <p:blipFill>
          <a:blip r:embed="rId6"/>
          <a:stretch>
            <a:fillRect/>
          </a:stretch>
        </p:blipFill>
        <p:spPr>
          <a:xfrm>
            <a:off x="3991062" y="5157531"/>
            <a:ext cx="289830" cy="421571"/>
          </a:xfrm>
          <a:prstGeom prst="rect">
            <a:avLst/>
          </a:prstGeom>
        </p:spPr>
      </p:pic>
      <p:sp>
        <p:nvSpPr>
          <p:cNvPr id="32" name="TextBox 31"/>
          <p:cNvSpPr txBox="1"/>
          <p:nvPr/>
        </p:nvSpPr>
        <p:spPr>
          <a:xfrm>
            <a:off x="8048625" y="2046987"/>
            <a:ext cx="3278745" cy="194310"/>
          </a:xfrm>
          <a:prstGeom prst="rect">
            <a:avLst/>
          </a:prstGeom>
          <a:noFill/>
        </p:spPr>
        <p:txBody>
          <a:bodyPr wrap="none" lIns="0" rIns="0" tIns="0" bIns="0">
            <a:spAutoFit/>
          </a:bodyPr>
          <a:lstStyle/>
          <a:p>
            <a:r>
              <a:rPr sz="1150" b="0">
                <a:solidFill>
                  <a:srgbClr val="2E2E2E"/>
                </a:solidFill>
                <a:latin typeface="Calibri"/>
              </a:rPr>
              <a:t>Egg protein membrane market is projected to register</a:t>
            </a:r>
          </a:p>
        </p:txBody>
      </p:sp>
      <p:pic>
        <p:nvPicPr>
          <p:cNvPr id="33" name="Picture 32" descr="lock.png"/>
          <p:cNvPicPr>
            <a:picLocks noChangeAspect="1"/>
          </p:cNvPicPr>
          <p:nvPr/>
        </p:nvPicPr>
        <p:blipFill>
          <a:blip r:embed="rId6"/>
          <a:stretch>
            <a:fillRect/>
          </a:stretch>
        </p:blipFill>
        <p:spPr>
          <a:xfrm>
            <a:off x="11276524" y="2036763"/>
            <a:ext cx="134549" cy="195707"/>
          </a:xfrm>
          <a:prstGeom prst="rect">
            <a:avLst/>
          </a:prstGeom>
        </p:spPr>
      </p:pic>
      <p:sp>
        <p:nvSpPr>
          <p:cNvPr id="34" name="TextBox 33"/>
          <p:cNvSpPr txBox="1"/>
          <p:nvPr/>
        </p:nvSpPr>
        <p:spPr>
          <a:xfrm>
            <a:off x="11451633" y="2046987"/>
            <a:ext cx="152077" cy="194310"/>
          </a:xfrm>
          <a:prstGeom prst="rect">
            <a:avLst/>
          </a:prstGeom>
          <a:noFill/>
        </p:spPr>
        <p:txBody>
          <a:bodyPr wrap="none" lIns="0" rIns="0" tIns="0" bIns="0">
            <a:spAutoFit/>
          </a:bodyPr>
          <a:lstStyle/>
          <a:p>
            <a:r>
              <a:rPr sz="1150" b="0">
                <a:solidFill>
                  <a:srgbClr val="2E2E2E"/>
                </a:solidFill>
                <a:latin typeface="Calibri"/>
              </a:rPr>
              <a:t>X</a:t>
            </a:r>
          </a:p>
        </p:txBody>
      </p:sp>
      <p:sp>
        <p:nvSpPr>
          <p:cNvPr id="35" name="TextBox 34"/>
          <p:cNvSpPr txBox="1"/>
          <p:nvPr/>
        </p:nvSpPr>
        <p:spPr>
          <a:xfrm>
            <a:off x="8048625" y="2222247"/>
            <a:ext cx="3571986" cy="194310"/>
          </a:xfrm>
          <a:prstGeom prst="rect">
            <a:avLst/>
          </a:prstGeom>
          <a:noFill/>
        </p:spPr>
        <p:txBody>
          <a:bodyPr wrap="none" lIns="0" rIns="0" tIns="0" bIns="0">
            <a:spAutoFit/>
          </a:bodyPr>
          <a:lstStyle/>
          <a:p>
            <a:r>
              <a:rPr sz="1150" b="0">
                <a:solidFill>
                  <a:srgbClr val="2E2E2E"/>
                </a:solidFill>
                <a:latin typeface="Calibri"/>
              </a:rPr>
              <a:t>increase in its revenue by the end of forecast period, 2036.</a:t>
            </a:r>
          </a:p>
        </p:txBody>
      </p:sp>
      <p:sp>
        <p:nvSpPr>
          <p:cNvPr id="36" name="TextBox 35"/>
          <p:cNvSpPr txBox="1"/>
          <p:nvPr/>
        </p:nvSpPr>
        <p:spPr>
          <a:xfrm>
            <a:off x="8048625" y="2397507"/>
            <a:ext cx="3791346" cy="194310"/>
          </a:xfrm>
          <a:prstGeom prst="rect">
            <a:avLst/>
          </a:prstGeom>
          <a:noFill/>
        </p:spPr>
        <p:txBody>
          <a:bodyPr wrap="none" lIns="0" rIns="0" tIns="0" bIns="0">
            <a:spAutoFit/>
          </a:bodyPr>
          <a:lstStyle/>
          <a:p>
            <a:r>
              <a:rPr sz="1150" b="0">
                <a:solidFill>
                  <a:srgbClr val="2E2E2E"/>
                </a:solidFill>
                <a:latin typeface="Calibri"/>
              </a:rPr>
              <a:t>Global egg protein membrane market is expected to be valued</a:t>
            </a:r>
          </a:p>
        </p:txBody>
      </p:sp>
      <p:sp>
        <p:nvSpPr>
          <p:cNvPr id="37" name="TextBox 36"/>
          <p:cNvSpPr txBox="1"/>
          <p:nvPr/>
        </p:nvSpPr>
        <p:spPr>
          <a:xfrm>
            <a:off x="8048625" y="2572767"/>
            <a:ext cx="463289" cy="194310"/>
          </a:xfrm>
          <a:prstGeom prst="rect">
            <a:avLst/>
          </a:prstGeom>
          <a:noFill/>
        </p:spPr>
        <p:txBody>
          <a:bodyPr wrap="none" lIns="0" rIns="0" tIns="0" bIns="0">
            <a:spAutoFit/>
          </a:bodyPr>
          <a:lstStyle/>
          <a:p>
            <a:r>
              <a:rPr sz="1150" b="0">
                <a:solidFill>
                  <a:srgbClr val="2E2E2E"/>
                </a:solidFill>
                <a:latin typeface="Calibri"/>
              </a:rPr>
              <a:t>at US$</a:t>
            </a:r>
          </a:p>
        </p:txBody>
      </p:sp>
      <p:pic>
        <p:nvPicPr>
          <p:cNvPr id="38" name="Picture 37" descr="lock.png"/>
          <p:cNvPicPr>
            <a:picLocks noChangeAspect="1"/>
          </p:cNvPicPr>
          <p:nvPr/>
        </p:nvPicPr>
        <p:blipFill>
          <a:blip r:embed="rId6"/>
          <a:stretch>
            <a:fillRect/>
          </a:stretch>
        </p:blipFill>
        <p:spPr>
          <a:xfrm>
            <a:off x="8461068" y="2562543"/>
            <a:ext cx="134549" cy="195707"/>
          </a:xfrm>
          <a:prstGeom prst="rect">
            <a:avLst/>
          </a:prstGeom>
        </p:spPr>
      </p:pic>
      <p:sp>
        <p:nvSpPr>
          <p:cNvPr id="39" name="TextBox 38"/>
          <p:cNvSpPr txBox="1"/>
          <p:nvPr/>
        </p:nvSpPr>
        <p:spPr>
          <a:xfrm>
            <a:off x="8636177" y="2572767"/>
            <a:ext cx="1079723" cy="194310"/>
          </a:xfrm>
          <a:prstGeom prst="rect">
            <a:avLst/>
          </a:prstGeom>
          <a:noFill/>
        </p:spPr>
        <p:txBody>
          <a:bodyPr wrap="none" lIns="0" rIns="0" tIns="0" bIns="0">
            <a:spAutoFit/>
          </a:bodyPr>
          <a:lstStyle/>
          <a:p>
            <a:r>
              <a:rPr sz="1150" b="0">
                <a:solidFill>
                  <a:srgbClr val="2E2E2E"/>
                </a:solidFill>
                <a:latin typeface="Calibri"/>
              </a:rPr>
              <a:t>Mn by 2036 end.</a:t>
            </a:r>
          </a:p>
        </p:txBody>
      </p:sp>
      <p:sp>
        <p:nvSpPr>
          <p:cNvPr id="40" name="TextBox 39"/>
          <p:cNvSpPr txBox="1"/>
          <p:nvPr/>
        </p:nvSpPr>
        <p:spPr>
          <a:xfrm>
            <a:off x="8048625" y="2800604"/>
            <a:ext cx="3812455" cy="194310"/>
          </a:xfrm>
          <a:prstGeom prst="rect">
            <a:avLst/>
          </a:prstGeom>
          <a:noFill/>
        </p:spPr>
        <p:txBody>
          <a:bodyPr wrap="none" lIns="0" rIns="0" tIns="0" bIns="0">
            <a:spAutoFit/>
          </a:bodyPr>
          <a:lstStyle/>
          <a:p>
            <a:r>
              <a:rPr sz="1150" b="0">
                <a:solidFill>
                  <a:srgbClr val="2E2E2E"/>
                </a:solidFill>
                <a:latin typeface="Calibri"/>
              </a:rPr>
              <a:t>It is projected to create overall incremental opportunity of US$</a:t>
            </a:r>
          </a:p>
        </p:txBody>
      </p:sp>
      <p:pic>
        <p:nvPicPr>
          <p:cNvPr id="41" name="Picture 40" descr="lock.png"/>
          <p:cNvPicPr>
            <a:picLocks noChangeAspect="1"/>
          </p:cNvPicPr>
          <p:nvPr/>
        </p:nvPicPr>
        <p:blipFill>
          <a:blip r:embed="rId6"/>
          <a:stretch>
            <a:fillRect/>
          </a:stretch>
        </p:blipFill>
        <p:spPr>
          <a:xfrm>
            <a:off x="8034545" y="2965641"/>
            <a:ext cx="134549" cy="195707"/>
          </a:xfrm>
          <a:prstGeom prst="rect">
            <a:avLst/>
          </a:prstGeom>
        </p:spPr>
      </p:pic>
      <p:sp>
        <p:nvSpPr>
          <p:cNvPr id="42" name="TextBox 41"/>
          <p:cNvSpPr txBox="1"/>
          <p:nvPr/>
        </p:nvSpPr>
        <p:spPr>
          <a:xfrm>
            <a:off x="8209654" y="2975864"/>
            <a:ext cx="1455687" cy="194310"/>
          </a:xfrm>
          <a:prstGeom prst="rect">
            <a:avLst/>
          </a:prstGeom>
          <a:noFill/>
        </p:spPr>
        <p:txBody>
          <a:bodyPr wrap="none" lIns="0" rIns="0" tIns="0" bIns="0">
            <a:spAutoFit/>
          </a:bodyPr>
          <a:lstStyle/>
          <a:p>
            <a:r>
              <a:rPr sz="1150" b="0">
                <a:solidFill>
                  <a:srgbClr val="2E2E2E"/>
                </a:solidFill>
                <a:latin typeface="Calibri"/>
              </a:rPr>
              <a:t>Mn from 2025 to 2036.</a:t>
            </a:r>
          </a:p>
        </p:txBody>
      </p:sp>
      <p:sp>
        <p:nvSpPr>
          <p:cNvPr id="43" name="TextBox 42"/>
          <p:cNvSpPr txBox="1"/>
          <p:nvPr/>
        </p:nvSpPr>
        <p:spPr>
          <a:xfrm>
            <a:off x="8048625" y="4456475"/>
            <a:ext cx="2868835" cy="194310"/>
          </a:xfrm>
          <a:prstGeom prst="rect">
            <a:avLst/>
          </a:prstGeom>
          <a:noFill/>
        </p:spPr>
        <p:txBody>
          <a:bodyPr wrap="none" lIns="0" rIns="0" tIns="0" bIns="0">
            <a:spAutoFit/>
          </a:bodyPr>
          <a:lstStyle/>
          <a:p>
            <a:r>
              <a:rPr sz="1150" b="0">
                <a:solidFill>
                  <a:srgbClr val="2E2E2E"/>
                </a:solidFill>
                <a:latin typeface="Calibri"/>
              </a:rPr>
              <a:t>▪ 'South Asia &amp; Pacific' leads regional growth at</a:t>
            </a:r>
          </a:p>
        </p:txBody>
      </p:sp>
      <p:pic>
        <p:nvPicPr>
          <p:cNvPr id="44" name="Picture 43" descr="lock.png"/>
          <p:cNvPicPr>
            <a:picLocks noChangeAspect="1"/>
          </p:cNvPicPr>
          <p:nvPr/>
        </p:nvPicPr>
        <p:blipFill>
          <a:blip r:embed="rId6"/>
          <a:stretch>
            <a:fillRect/>
          </a:stretch>
        </p:blipFill>
        <p:spPr>
          <a:xfrm>
            <a:off x="10866614" y="4446251"/>
            <a:ext cx="134549" cy="195707"/>
          </a:xfrm>
          <a:prstGeom prst="rect">
            <a:avLst/>
          </a:prstGeom>
        </p:spPr>
      </p:pic>
      <p:sp>
        <p:nvSpPr>
          <p:cNvPr id="45" name="TextBox 44"/>
          <p:cNvSpPr txBox="1"/>
          <p:nvPr/>
        </p:nvSpPr>
        <p:spPr>
          <a:xfrm>
            <a:off x="11041723" y="4456475"/>
            <a:ext cx="446726" cy="194310"/>
          </a:xfrm>
          <a:prstGeom prst="rect">
            <a:avLst/>
          </a:prstGeom>
          <a:noFill/>
        </p:spPr>
        <p:txBody>
          <a:bodyPr wrap="none" lIns="0" rIns="0" tIns="0" bIns="0">
            <a:spAutoFit/>
          </a:bodyPr>
          <a:lstStyle/>
          <a:p>
            <a:r>
              <a:rPr sz="1150" b="0">
                <a:solidFill>
                  <a:srgbClr val="2E2E2E"/>
                </a:solidFill>
                <a:latin typeface="Calibri"/>
              </a:rPr>
              <a:t>CAGR.</a:t>
            </a:r>
          </a:p>
        </p:txBody>
      </p:sp>
      <p:sp>
        <p:nvSpPr>
          <p:cNvPr id="46" name="TextBox 45"/>
          <p:cNvSpPr txBox="1"/>
          <p:nvPr/>
        </p:nvSpPr>
        <p:spPr>
          <a:xfrm>
            <a:off x="8048625" y="4684312"/>
            <a:ext cx="3589957" cy="194310"/>
          </a:xfrm>
          <a:prstGeom prst="rect">
            <a:avLst/>
          </a:prstGeom>
          <a:noFill/>
        </p:spPr>
        <p:txBody>
          <a:bodyPr wrap="none" lIns="0" rIns="0" tIns="0" bIns="0">
            <a:spAutoFit/>
          </a:bodyPr>
          <a:lstStyle/>
          <a:p>
            <a:r>
              <a:rPr sz="1150" b="0">
                <a:solidFill>
                  <a:srgbClr val="2E2E2E"/>
                </a:solidFill>
                <a:latin typeface="Calibri"/>
              </a:rPr>
              <a:t>▪ Demand concentrates in 'Micronized Eggshell Membrane'</a:t>
            </a:r>
          </a:p>
        </p:txBody>
      </p:sp>
      <p:sp>
        <p:nvSpPr>
          <p:cNvPr id="47" name="TextBox 46"/>
          <p:cNvSpPr txBox="1"/>
          <p:nvPr/>
        </p:nvSpPr>
        <p:spPr>
          <a:xfrm>
            <a:off x="8048625" y="4859572"/>
            <a:ext cx="1308496" cy="194310"/>
          </a:xfrm>
          <a:prstGeom prst="rect">
            <a:avLst/>
          </a:prstGeom>
          <a:noFill/>
        </p:spPr>
        <p:txBody>
          <a:bodyPr wrap="none" lIns="0" rIns="0" tIns="0" bIns="0">
            <a:spAutoFit/>
          </a:bodyPr>
          <a:lstStyle/>
          <a:p>
            <a:r>
              <a:rPr sz="1150" b="0">
                <a:solidFill>
                  <a:srgbClr val="2E2E2E"/>
                </a:solidFill>
                <a:latin typeface="Calibri"/>
              </a:rPr>
              <a:t>within Product Type.</a:t>
            </a:r>
          </a:p>
        </p:txBody>
      </p:sp>
      <p:sp>
        <p:nvSpPr>
          <p:cNvPr id="48" name="TextBox 47"/>
          <p:cNvSpPr txBox="1"/>
          <p:nvPr/>
        </p:nvSpPr>
        <p:spPr>
          <a:xfrm>
            <a:off x="8048625" y="5087410"/>
            <a:ext cx="3291296" cy="194310"/>
          </a:xfrm>
          <a:prstGeom prst="rect">
            <a:avLst/>
          </a:prstGeom>
          <a:noFill/>
        </p:spPr>
        <p:txBody>
          <a:bodyPr wrap="none" lIns="0" rIns="0" tIns="0" bIns="0">
            <a:spAutoFit/>
          </a:bodyPr>
          <a:lstStyle/>
          <a:p>
            <a:r>
              <a:rPr sz="1150" b="0">
                <a:solidFill>
                  <a:srgbClr val="2E2E2E"/>
                </a:solidFill>
                <a:latin typeface="Calibri"/>
              </a:rPr>
              <a:t>▪ Product innovation and premiumisation lifting value.</a:t>
            </a:r>
          </a:p>
        </p:txBody>
      </p:sp>
      <p:sp>
        <p:nvSpPr>
          <p:cNvPr id="49" name="TextBox 48"/>
          <p:cNvSpPr txBox="1"/>
          <p:nvPr/>
        </p:nvSpPr>
        <p:spPr>
          <a:xfrm>
            <a:off x="8048625" y="5315248"/>
            <a:ext cx="2741327" cy="194310"/>
          </a:xfrm>
          <a:prstGeom prst="rect">
            <a:avLst/>
          </a:prstGeom>
          <a:noFill/>
        </p:spPr>
        <p:txBody>
          <a:bodyPr wrap="none" lIns="0" rIns="0" tIns="0" bIns="0">
            <a:spAutoFit/>
          </a:bodyPr>
          <a:lstStyle/>
          <a:p>
            <a:r>
              <a:rPr sz="1150" b="0">
                <a:solidFill>
                  <a:srgbClr val="2E2E2E"/>
                </a:solidFill>
                <a:latin typeface="Calibri"/>
              </a:rPr>
              <a:t>▪ Expanding end-use applications and access.</a:t>
            </a:r>
          </a:p>
        </p:txBody>
      </p:sp>
      <p:sp>
        <p:nvSpPr>
          <p:cNvPr id="50" name="lockshield_13"/>
          <p:cNvSpPr/>
          <p:nvPr/>
        </p:nvSpPr>
        <p:spPr>
          <a:xfrm>
            <a:off x="238125" y="1913637"/>
            <a:ext cx="7505700" cy="2011827"/>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lockshield_16"/>
          <p:cNvSpPr/>
          <p:nvPr/>
        </p:nvSpPr>
        <p:spPr>
          <a:xfrm>
            <a:off x="238125" y="4323125"/>
            <a:ext cx="7505700" cy="217611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Egg Protein Membrane Market Volume &amp; Value Analysis</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volume and value growth of the global market and the incremental $ opportunity it creates, 2021–2036</a:t>
            </a:r>
          </a:p>
        </p:txBody>
      </p:sp>
      <p:sp>
        <p:nvSpPr>
          <p:cNvPr id="7" name="Rounded Rectangle 6"/>
          <p:cNvSpPr/>
          <p:nvPr/>
        </p:nvSpPr>
        <p:spPr>
          <a:xfrm>
            <a:off x="142875" y="981075"/>
            <a:ext cx="4695825" cy="2571750"/>
          </a:xfrm>
          <a:prstGeom prst="roundRect">
            <a:avLst>
              <a:gd name="adj" fmla="val 2962"/>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45053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Market, 2021–2025 (Historical)</a:t>
            </a:r>
          </a:p>
        </p:txBody>
      </p:sp>
      <p:graphicFrame>
        <p:nvGraphicFramePr>
          <p:cNvPr id="9" name="Chart 8"/>
          <p:cNvGraphicFramePr>
            <a:graphicFrameLocks noGrp="1"/>
          </p:cNvGraphicFramePr>
          <p:nvPr/>
        </p:nvGraphicFramePr>
        <p:xfrm>
          <a:off x="238125" y="1266825"/>
          <a:ext cx="4505325" cy="2228850"/>
        </p:xfrm>
        <a:graphic>
          <a:graphicData uri="http://schemas.openxmlformats.org/drawingml/2006/chart">
            <c:chart xmlns:c="http://schemas.openxmlformats.org/drawingml/2006/chart" r:id="rId3"/>
          </a:graphicData>
        </a:graphic>
      </p:graphicFrame>
      <p:sp>
        <p:nvSpPr>
          <p:cNvPr id="10" name="Rounded Rectangle 9"/>
          <p:cNvSpPr/>
          <p:nvPr/>
        </p:nvSpPr>
        <p:spPr>
          <a:xfrm>
            <a:off x="4991100" y="981075"/>
            <a:ext cx="7048500" cy="2571750"/>
          </a:xfrm>
          <a:prstGeom prst="roundRect">
            <a:avLst>
              <a:gd name="adj" fmla="val 2962"/>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86350" y="1038225"/>
            <a:ext cx="6858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Market, 2026–2036 (Forecast)</a:t>
            </a:r>
          </a:p>
        </p:txBody>
      </p:sp>
      <p:graphicFrame>
        <p:nvGraphicFramePr>
          <p:cNvPr id="12" name="Chart 11"/>
          <p:cNvGraphicFramePr>
            <a:graphicFrameLocks noGrp="1"/>
          </p:cNvGraphicFramePr>
          <p:nvPr/>
        </p:nvGraphicFramePr>
        <p:xfrm>
          <a:off x="5086350" y="1266825"/>
          <a:ext cx="6858000" cy="2228850"/>
        </p:xfrm>
        <a:graphic>
          <a:graphicData uri="http://schemas.openxmlformats.org/drawingml/2006/chart">
            <c:chart xmlns:c="http://schemas.openxmlformats.org/drawingml/2006/chart" r:id="rId4"/>
          </a:graphicData>
        </a:graphic>
      </p:graphicFrame>
      <p:sp>
        <p:nvSpPr>
          <p:cNvPr id="13" name="Rounded Rectangle 12"/>
          <p:cNvSpPr/>
          <p:nvPr/>
        </p:nvSpPr>
        <p:spPr>
          <a:xfrm>
            <a:off x="142875" y="3686175"/>
            <a:ext cx="2514600" cy="733425"/>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VALUE CAGR 2021–2025</a:t>
            </a:r>
          </a:p>
          <a:p>
            <a:pPr algn="ctr">
              <a:lnSpc>
                <a:spcPct val="95000"/>
              </a:lnSpc>
            </a:pPr>
            <a:r>
              <a:rPr sz="1500" b="1">
                <a:solidFill>
                  <a:srgbClr val="2A5F8F"/>
                </a:solidFill>
                <a:latin typeface="Calibri"/>
              </a:rPr>
              <a:t> </a:t>
            </a:r>
          </a:p>
        </p:txBody>
      </p:sp>
      <p:sp>
        <p:nvSpPr>
          <p:cNvPr id="14" name="Rounded Rectangle 13"/>
          <p:cNvSpPr/>
          <p:nvPr/>
        </p:nvSpPr>
        <p:spPr>
          <a:xfrm>
            <a:off x="2809875" y="3686175"/>
            <a:ext cx="2514600" cy="733425"/>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VALUE CAGR 2026–2036</a:t>
            </a:r>
          </a:p>
          <a:p>
            <a:pPr algn="ctr">
              <a:lnSpc>
                <a:spcPct val="95000"/>
              </a:lnSpc>
            </a:pPr>
            <a:r>
              <a:rPr sz="1500" b="1">
                <a:solidFill>
                  <a:srgbClr val="2A5F8F"/>
                </a:solidFill>
                <a:latin typeface="Calibri"/>
              </a:rPr>
              <a:t> </a:t>
            </a:r>
          </a:p>
        </p:txBody>
      </p:sp>
      <p:sp>
        <p:nvSpPr>
          <p:cNvPr id="15" name="Rounded Rectangle 14"/>
          <p:cNvSpPr/>
          <p:nvPr/>
        </p:nvSpPr>
        <p:spPr>
          <a:xfrm>
            <a:off x="5476875" y="3686175"/>
            <a:ext cx="3200400" cy="733425"/>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INCREMENTAL $ OPPORTUNITY 2026–2031</a:t>
            </a:r>
          </a:p>
          <a:p>
            <a:pPr algn="ctr">
              <a:lnSpc>
                <a:spcPct val="95000"/>
              </a:lnSpc>
            </a:pPr>
            <a:r>
              <a:rPr sz="1500" b="1">
                <a:solidFill>
                  <a:srgbClr val="2A5F8F"/>
                </a:solidFill>
                <a:latin typeface="Calibri"/>
              </a:rPr>
              <a:t> </a:t>
            </a:r>
          </a:p>
        </p:txBody>
      </p:sp>
      <p:sp>
        <p:nvSpPr>
          <p:cNvPr id="16" name="Rounded Rectangle 15"/>
          <p:cNvSpPr/>
          <p:nvPr/>
        </p:nvSpPr>
        <p:spPr>
          <a:xfrm>
            <a:off x="8829675" y="3686175"/>
            <a:ext cx="3200400" cy="733425"/>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INCREMENTAL $ OPPORTUNITY 2026–2036</a:t>
            </a:r>
          </a:p>
          <a:p>
            <a:pPr algn="ctr">
              <a:lnSpc>
                <a:spcPct val="95000"/>
              </a:lnSpc>
            </a:pPr>
            <a:r>
              <a:rPr sz="1500" b="1">
                <a:solidFill>
                  <a:srgbClr val="2A5F8F"/>
                </a:solidFill>
                <a:latin typeface="Calibri"/>
              </a:rPr>
              <a:t> </a:t>
            </a:r>
          </a:p>
        </p:txBody>
      </p:sp>
      <p:sp>
        <p:nvSpPr>
          <p:cNvPr id="17" name="Rounded Rectangle 16"/>
          <p:cNvSpPr/>
          <p:nvPr/>
        </p:nvSpPr>
        <p:spPr>
          <a:xfrm>
            <a:off x="142875" y="4552950"/>
            <a:ext cx="11906250" cy="2057400"/>
          </a:xfrm>
          <a:prstGeom prst="roundRect">
            <a:avLst>
              <a:gd name="adj" fmla="val 3703"/>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76225" y="4638675"/>
            <a:ext cx="11639550" cy="209550"/>
          </a:xfrm>
          <a:prstGeom prst="rect">
            <a:avLst/>
          </a:prstGeom>
          <a:noFill/>
        </p:spPr>
        <p:txBody>
          <a:bodyPr wrap="square" lIns="0" rIns="19050" tIns="9525" bIns="9525">
            <a:spAutoFit/>
          </a:bodyPr>
          <a:lstStyle/>
          <a:p>
            <a:pPr algn="l"/>
            <a:r>
              <a:rPr sz="1300" b="1">
                <a:solidFill>
                  <a:srgbClr val="0E2A5C"/>
                </a:solidFill>
                <a:latin typeface="Calibri"/>
              </a:rPr>
              <a:t>Global Volume &amp; Value Analysis</a:t>
            </a:r>
          </a:p>
        </p:txBody>
      </p:sp>
      <p:sp>
        <p:nvSpPr>
          <p:cNvPr id="19" name="Rectangle 18"/>
          <p:cNvSpPr/>
          <p:nvPr/>
        </p:nvSpPr>
        <p:spPr>
          <a:xfrm>
            <a:off x="276225" y="4876800"/>
            <a:ext cx="116395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76225" y="4962525"/>
            <a:ext cx="11639550" cy="157162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21" name="Rectangle 20"/>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23" name="Picture 22" descr="lock.png"/>
          <p:cNvPicPr>
            <a:picLocks noChangeAspect="1"/>
          </p:cNvPicPr>
          <p:nvPr/>
        </p:nvPicPr>
        <p:blipFill>
          <a:blip r:embed="rId6"/>
          <a:stretch>
            <a:fillRect/>
          </a:stretch>
        </p:blipFill>
        <p:spPr>
          <a:xfrm>
            <a:off x="2533894" y="2050946"/>
            <a:ext cx="205327" cy="298657"/>
          </a:xfrm>
          <a:prstGeom prst="rect">
            <a:avLst/>
          </a:prstGeom>
        </p:spPr>
      </p:pic>
      <p:pic>
        <p:nvPicPr>
          <p:cNvPr id="24" name="Picture 23" descr="lock.png"/>
          <p:cNvPicPr>
            <a:picLocks noChangeAspect="1"/>
          </p:cNvPicPr>
          <p:nvPr/>
        </p:nvPicPr>
        <p:blipFill>
          <a:blip r:embed="rId6"/>
          <a:stretch>
            <a:fillRect/>
          </a:stretch>
        </p:blipFill>
        <p:spPr>
          <a:xfrm>
            <a:off x="8530846" y="2011501"/>
            <a:ext cx="259564" cy="377547"/>
          </a:xfrm>
          <a:prstGeom prst="rect">
            <a:avLst/>
          </a:prstGeom>
        </p:spPr>
      </p:pic>
      <p:pic>
        <p:nvPicPr>
          <p:cNvPr id="25" name="Picture 24" descr="lock.png"/>
          <p:cNvPicPr>
            <a:picLocks noChangeAspect="1"/>
          </p:cNvPicPr>
          <p:nvPr/>
        </p:nvPicPr>
        <p:blipFill>
          <a:blip r:embed="rId6"/>
          <a:stretch>
            <a:fillRect/>
          </a:stretch>
        </p:blipFill>
        <p:spPr>
          <a:xfrm>
            <a:off x="1321594" y="4022407"/>
            <a:ext cx="157162" cy="228600"/>
          </a:xfrm>
          <a:prstGeom prst="rect">
            <a:avLst/>
          </a:prstGeom>
        </p:spPr>
      </p:pic>
      <p:pic>
        <p:nvPicPr>
          <p:cNvPr id="26" name="Picture 25" descr="lock.png"/>
          <p:cNvPicPr>
            <a:picLocks noChangeAspect="1"/>
          </p:cNvPicPr>
          <p:nvPr/>
        </p:nvPicPr>
        <p:blipFill>
          <a:blip r:embed="rId6"/>
          <a:stretch>
            <a:fillRect/>
          </a:stretch>
        </p:blipFill>
        <p:spPr>
          <a:xfrm>
            <a:off x="3988594" y="4022407"/>
            <a:ext cx="157162" cy="228600"/>
          </a:xfrm>
          <a:prstGeom prst="rect">
            <a:avLst/>
          </a:prstGeom>
        </p:spPr>
      </p:pic>
      <p:pic>
        <p:nvPicPr>
          <p:cNvPr id="27" name="Picture 26" descr="lock.png"/>
          <p:cNvPicPr>
            <a:picLocks noChangeAspect="1"/>
          </p:cNvPicPr>
          <p:nvPr/>
        </p:nvPicPr>
        <p:blipFill>
          <a:blip r:embed="rId6"/>
          <a:stretch>
            <a:fillRect/>
          </a:stretch>
        </p:blipFill>
        <p:spPr>
          <a:xfrm>
            <a:off x="6998494" y="4022407"/>
            <a:ext cx="157162" cy="228600"/>
          </a:xfrm>
          <a:prstGeom prst="rect">
            <a:avLst/>
          </a:prstGeom>
        </p:spPr>
      </p:pic>
      <p:pic>
        <p:nvPicPr>
          <p:cNvPr id="28" name="Picture 27" descr="lock.png"/>
          <p:cNvPicPr>
            <a:picLocks noChangeAspect="1"/>
          </p:cNvPicPr>
          <p:nvPr/>
        </p:nvPicPr>
        <p:blipFill>
          <a:blip r:embed="rId6"/>
          <a:stretch>
            <a:fillRect/>
          </a:stretch>
        </p:blipFill>
        <p:spPr>
          <a:xfrm>
            <a:off x="10351294" y="4022407"/>
            <a:ext cx="157162" cy="228600"/>
          </a:xfrm>
          <a:prstGeom prst="rect">
            <a:avLst/>
          </a:prstGeom>
        </p:spPr>
      </p:pic>
      <p:sp>
        <p:nvSpPr>
          <p:cNvPr id="29" name="TextBox 28"/>
          <p:cNvSpPr txBox="1"/>
          <p:nvPr/>
        </p:nvSpPr>
        <p:spPr>
          <a:xfrm>
            <a:off x="276225" y="4972050"/>
            <a:ext cx="3278745" cy="194310"/>
          </a:xfrm>
          <a:prstGeom prst="rect">
            <a:avLst/>
          </a:prstGeom>
          <a:noFill/>
        </p:spPr>
        <p:txBody>
          <a:bodyPr wrap="none" lIns="0" rIns="0" tIns="0" bIns="0">
            <a:spAutoFit/>
          </a:bodyPr>
          <a:lstStyle/>
          <a:p>
            <a:r>
              <a:rPr sz="1150" b="0">
                <a:solidFill>
                  <a:srgbClr val="2E2E2E"/>
                </a:solidFill>
                <a:latin typeface="Calibri"/>
              </a:rPr>
              <a:t>Egg protein membrane market is projected to register</a:t>
            </a:r>
          </a:p>
        </p:txBody>
      </p:sp>
      <p:pic>
        <p:nvPicPr>
          <p:cNvPr id="30" name="Picture 29" descr="lock.png"/>
          <p:cNvPicPr>
            <a:picLocks noChangeAspect="1"/>
          </p:cNvPicPr>
          <p:nvPr/>
        </p:nvPicPr>
        <p:blipFill>
          <a:blip r:embed="rId6"/>
          <a:stretch>
            <a:fillRect/>
          </a:stretch>
        </p:blipFill>
        <p:spPr>
          <a:xfrm>
            <a:off x="3504124" y="4961826"/>
            <a:ext cx="134549" cy="195707"/>
          </a:xfrm>
          <a:prstGeom prst="rect">
            <a:avLst/>
          </a:prstGeom>
        </p:spPr>
      </p:pic>
      <p:sp>
        <p:nvSpPr>
          <p:cNvPr id="31" name="TextBox 30"/>
          <p:cNvSpPr txBox="1"/>
          <p:nvPr/>
        </p:nvSpPr>
        <p:spPr>
          <a:xfrm>
            <a:off x="3679233" y="4972050"/>
            <a:ext cx="7849368" cy="194310"/>
          </a:xfrm>
          <a:prstGeom prst="rect">
            <a:avLst/>
          </a:prstGeom>
          <a:noFill/>
        </p:spPr>
        <p:txBody>
          <a:bodyPr wrap="none" lIns="0" rIns="0" tIns="0" bIns="0">
            <a:spAutoFit/>
          </a:bodyPr>
          <a:lstStyle/>
          <a:p>
            <a:r>
              <a:rPr sz="1150" b="0">
                <a:solidFill>
                  <a:srgbClr val="2E2E2E"/>
                </a:solidFill>
                <a:latin typeface="Calibri"/>
              </a:rPr>
              <a:t>X increase in its revenue by the end of forecast period, 2036. Global egg protein membrane market is expected to be valued at US$</a:t>
            </a:r>
          </a:p>
        </p:txBody>
      </p:sp>
      <p:pic>
        <p:nvPicPr>
          <p:cNvPr id="32" name="Picture 31" descr="lock.png"/>
          <p:cNvPicPr>
            <a:picLocks noChangeAspect="1"/>
          </p:cNvPicPr>
          <p:nvPr/>
        </p:nvPicPr>
        <p:blipFill>
          <a:blip r:embed="rId6"/>
          <a:stretch>
            <a:fillRect/>
          </a:stretch>
        </p:blipFill>
        <p:spPr>
          <a:xfrm>
            <a:off x="262145" y="5137086"/>
            <a:ext cx="134549" cy="195707"/>
          </a:xfrm>
          <a:prstGeom prst="rect">
            <a:avLst/>
          </a:prstGeom>
        </p:spPr>
      </p:pic>
      <p:sp>
        <p:nvSpPr>
          <p:cNvPr id="33" name="TextBox 32"/>
          <p:cNvSpPr txBox="1"/>
          <p:nvPr/>
        </p:nvSpPr>
        <p:spPr>
          <a:xfrm>
            <a:off x="437254" y="5147310"/>
            <a:ext cx="1079723" cy="194310"/>
          </a:xfrm>
          <a:prstGeom prst="rect">
            <a:avLst/>
          </a:prstGeom>
          <a:noFill/>
        </p:spPr>
        <p:txBody>
          <a:bodyPr wrap="none" lIns="0" rIns="0" tIns="0" bIns="0">
            <a:spAutoFit/>
          </a:bodyPr>
          <a:lstStyle/>
          <a:p>
            <a:r>
              <a:rPr sz="1150" b="0">
                <a:solidFill>
                  <a:srgbClr val="2E2E2E"/>
                </a:solidFill>
                <a:latin typeface="Calibri"/>
              </a:rPr>
              <a:t>Mn by 2036 end.</a:t>
            </a:r>
          </a:p>
        </p:txBody>
      </p:sp>
      <p:sp>
        <p:nvSpPr>
          <p:cNvPr id="34" name="TextBox 33"/>
          <p:cNvSpPr txBox="1"/>
          <p:nvPr/>
        </p:nvSpPr>
        <p:spPr>
          <a:xfrm>
            <a:off x="276225" y="5375147"/>
            <a:ext cx="3812455" cy="194310"/>
          </a:xfrm>
          <a:prstGeom prst="rect">
            <a:avLst/>
          </a:prstGeom>
          <a:noFill/>
        </p:spPr>
        <p:txBody>
          <a:bodyPr wrap="none" lIns="0" rIns="0" tIns="0" bIns="0">
            <a:spAutoFit/>
          </a:bodyPr>
          <a:lstStyle/>
          <a:p>
            <a:r>
              <a:rPr sz="1150" b="0">
                <a:solidFill>
                  <a:srgbClr val="2E2E2E"/>
                </a:solidFill>
                <a:latin typeface="Calibri"/>
              </a:rPr>
              <a:t>It is projected to create overall incremental opportunity of US$</a:t>
            </a:r>
          </a:p>
        </p:txBody>
      </p:sp>
      <p:pic>
        <p:nvPicPr>
          <p:cNvPr id="35" name="Picture 34" descr="lock.png"/>
          <p:cNvPicPr>
            <a:picLocks noChangeAspect="1"/>
          </p:cNvPicPr>
          <p:nvPr/>
        </p:nvPicPr>
        <p:blipFill>
          <a:blip r:embed="rId6"/>
          <a:stretch>
            <a:fillRect/>
          </a:stretch>
        </p:blipFill>
        <p:spPr>
          <a:xfrm>
            <a:off x="4037834" y="5364924"/>
            <a:ext cx="134549" cy="195707"/>
          </a:xfrm>
          <a:prstGeom prst="rect">
            <a:avLst/>
          </a:prstGeom>
        </p:spPr>
      </p:pic>
      <p:sp>
        <p:nvSpPr>
          <p:cNvPr id="36" name="TextBox 35"/>
          <p:cNvSpPr txBox="1"/>
          <p:nvPr/>
        </p:nvSpPr>
        <p:spPr>
          <a:xfrm>
            <a:off x="4212943" y="5375147"/>
            <a:ext cx="5108934" cy="194310"/>
          </a:xfrm>
          <a:prstGeom prst="rect">
            <a:avLst/>
          </a:prstGeom>
          <a:noFill/>
        </p:spPr>
        <p:txBody>
          <a:bodyPr wrap="none" lIns="0" rIns="0" tIns="0" bIns="0">
            <a:spAutoFit/>
          </a:bodyPr>
          <a:lstStyle/>
          <a:p>
            <a:r>
              <a:rPr sz="1150" b="0">
                <a:solidFill>
                  <a:srgbClr val="2E2E2E"/>
                </a:solidFill>
                <a:latin typeface="Calibri"/>
              </a:rPr>
              <a:t>Mn from 2025 to 2036. Global egg protein membrane market is projected to register</a:t>
            </a:r>
          </a:p>
        </p:txBody>
      </p:sp>
      <p:pic>
        <p:nvPicPr>
          <p:cNvPr id="37" name="Picture 36" descr="lock.png"/>
          <p:cNvPicPr>
            <a:picLocks noChangeAspect="1"/>
          </p:cNvPicPr>
          <p:nvPr/>
        </p:nvPicPr>
        <p:blipFill>
          <a:blip r:embed="rId6"/>
          <a:stretch>
            <a:fillRect/>
          </a:stretch>
        </p:blipFill>
        <p:spPr>
          <a:xfrm>
            <a:off x="9271032" y="5364924"/>
            <a:ext cx="134549" cy="195707"/>
          </a:xfrm>
          <a:prstGeom prst="rect">
            <a:avLst/>
          </a:prstGeom>
        </p:spPr>
      </p:pic>
      <p:sp>
        <p:nvSpPr>
          <p:cNvPr id="38" name="TextBox 37"/>
          <p:cNvSpPr txBox="1"/>
          <p:nvPr/>
        </p:nvSpPr>
        <p:spPr>
          <a:xfrm>
            <a:off x="9446141" y="5375147"/>
            <a:ext cx="2121755" cy="194310"/>
          </a:xfrm>
          <a:prstGeom prst="rect">
            <a:avLst/>
          </a:prstGeom>
          <a:noFill/>
        </p:spPr>
        <p:txBody>
          <a:bodyPr wrap="none" lIns="0" rIns="0" tIns="0" bIns="0">
            <a:spAutoFit/>
          </a:bodyPr>
          <a:lstStyle/>
          <a:p>
            <a:r>
              <a:rPr sz="1150" b="0">
                <a:solidFill>
                  <a:srgbClr val="2E2E2E"/>
                </a:solidFill>
                <a:latin typeface="Calibri"/>
              </a:rPr>
              <a:t>X increase in volume by the end of</a:t>
            </a:r>
          </a:p>
        </p:txBody>
      </p:sp>
      <p:sp>
        <p:nvSpPr>
          <p:cNvPr id="39" name="TextBox 38"/>
          <p:cNvSpPr txBox="1"/>
          <p:nvPr/>
        </p:nvSpPr>
        <p:spPr>
          <a:xfrm>
            <a:off x="276225" y="5550407"/>
            <a:ext cx="1383518" cy="194310"/>
          </a:xfrm>
          <a:prstGeom prst="rect">
            <a:avLst/>
          </a:prstGeom>
          <a:noFill/>
        </p:spPr>
        <p:txBody>
          <a:bodyPr wrap="none" lIns="0" rIns="0" tIns="0" bIns="0">
            <a:spAutoFit/>
          </a:bodyPr>
          <a:lstStyle/>
          <a:p>
            <a:r>
              <a:rPr sz="1150" b="0">
                <a:solidFill>
                  <a:srgbClr val="2E2E2E"/>
                </a:solidFill>
                <a:latin typeface="Calibri"/>
              </a:rPr>
              <a:t>forecast period, 2036.</a:t>
            </a:r>
          </a:p>
        </p:txBody>
      </p:sp>
      <p:sp>
        <p:nvSpPr>
          <p:cNvPr id="40" name="TextBox 39"/>
          <p:cNvSpPr txBox="1"/>
          <p:nvPr/>
        </p:nvSpPr>
        <p:spPr>
          <a:xfrm>
            <a:off x="276225" y="5778245"/>
            <a:ext cx="3315828" cy="194310"/>
          </a:xfrm>
          <a:prstGeom prst="rect">
            <a:avLst/>
          </a:prstGeom>
          <a:noFill/>
        </p:spPr>
        <p:txBody>
          <a:bodyPr wrap="none" lIns="0" rIns="0" tIns="0" bIns="0">
            <a:spAutoFit/>
          </a:bodyPr>
          <a:lstStyle/>
          <a:p>
            <a:r>
              <a:rPr sz="1150" b="0">
                <a:solidFill>
                  <a:srgbClr val="2E2E2E"/>
                </a:solidFill>
                <a:latin typeface="Calibri"/>
              </a:rPr>
              <a:t>Global egg protein membrane market volume stood at</a:t>
            </a:r>
          </a:p>
        </p:txBody>
      </p:sp>
      <p:pic>
        <p:nvPicPr>
          <p:cNvPr id="41" name="Picture 40" descr="lock.png"/>
          <p:cNvPicPr>
            <a:picLocks noChangeAspect="1"/>
          </p:cNvPicPr>
          <p:nvPr/>
        </p:nvPicPr>
        <p:blipFill>
          <a:blip r:embed="rId6"/>
          <a:stretch>
            <a:fillRect/>
          </a:stretch>
        </p:blipFill>
        <p:spPr>
          <a:xfrm>
            <a:off x="3541207" y="5768022"/>
            <a:ext cx="134549" cy="195707"/>
          </a:xfrm>
          <a:prstGeom prst="rect">
            <a:avLst/>
          </a:prstGeom>
        </p:spPr>
      </p:pic>
      <p:sp>
        <p:nvSpPr>
          <p:cNvPr id="42" name="TextBox 41"/>
          <p:cNvSpPr txBox="1"/>
          <p:nvPr/>
        </p:nvSpPr>
        <p:spPr>
          <a:xfrm>
            <a:off x="3716316" y="5778245"/>
            <a:ext cx="2229581" cy="194310"/>
          </a:xfrm>
          <a:prstGeom prst="rect">
            <a:avLst/>
          </a:prstGeom>
          <a:noFill/>
        </p:spPr>
        <p:txBody>
          <a:bodyPr wrap="none" lIns="0" rIns="0" tIns="0" bIns="0">
            <a:spAutoFit/>
          </a:bodyPr>
          <a:lstStyle/>
          <a:p>
            <a:r>
              <a:rPr sz="1150" b="0">
                <a:solidFill>
                  <a:srgbClr val="2E2E2E"/>
                </a:solidFill>
                <a:latin typeface="Calibri"/>
              </a:rPr>
              <a:t>MT in 2025 and is expected to reach</a:t>
            </a:r>
          </a:p>
        </p:txBody>
      </p:sp>
      <p:pic>
        <p:nvPicPr>
          <p:cNvPr id="43" name="Picture 42" descr="lock.png"/>
          <p:cNvPicPr>
            <a:picLocks noChangeAspect="1"/>
          </p:cNvPicPr>
          <p:nvPr/>
        </p:nvPicPr>
        <p:blipFill>
          <a:blip r:embed="rId6"/>
          <a:stretch>
            <a:fillRect/>
          </a:stretch>
        </p:blipFill>
        <p:spPr>
          <a:xfrm>
            <a:off x="5895052" y="5768022"/>
            <a:ext cx="134549" cy="195707"/>
          </a:xfrm>
          <a:prstGeom prst="rect">
            <a:avLst/>
          </a:prstGeom>
        </p:spPr>
      </p:pic>
      <p:sp>
        <p:nvSpPr>
          <p:cNvPr id="44" name="TextBox 43"/>
          <p:cNvSpPr txBox="1"/>
          <p:nvPr/>
        </p:nvSpPr>
        <p:spPr>
          <a:xfrm>
            <a:off x="6070161" y="5778245"/>
            <a:ext cx="1850461" cy="194310"/>
          </a:xfrm>
          <a:prstGeom prst="rect">
            <a:avLst/>
          </a:prstGeom>
          <a:noFill/>
        </p:spPr>
        <p:txBody>
          <a:bodyPr wrap="none" lIns="0" rIns="0" tIns="0" bIns="0">
            <a:spAutoFit/>
          </a:bodyPr>
          <a:lstStyle/>
          <a:p>
            <a:r>
              <a:rPr sz="1150" b="0">
                <a:solidFill>
                  <a:srgbClr val="2E2E2E"/>
                </a:solidFill>
                <a:latin typeface="Calibri"/>
              </a:rPr>
              <a:t>MT by 2036 end, at a CAGR of</a:t>
            </a:r>
          </a:p>
        </p:txBody>
      </p:sp>
      <p:pic>
        <p:nvPicPr>
          <p:cNvPr id="45" name="Picture 44" descr="lock.png"/>
          <p:cNvPicPr>
            <a:picLocks noChangeAspect="1"/>
          </p:cNvPicPr>
          <p:nvPr/>
        </p:nvPicPr>
        <p:blipFill>
          <a:blip r:embed="rId6"/>
          <a:stretch>
            <a:fillRect/>
          </a:stretch>
        </p:blipFill>
        <p:spPr>
          <a:xfrm>
            <a:off x="7869777" y="5768022"/>
            <a:ext cx="134549" cy="195707"/>
          </a:xfrm>
          <a:prstGeom prst="rect">
            <a:avLst/>
          </a:prstGeom>
        </p:spPr>
      </p:pic>
      <p:sp>
        <p:nvSpPr>
          <p:cNvPr id="46" name="TextBox 45"/>
          <p:cNvSpPr txBox="1"/>
          <p:nvPr/>
        </p:nvSpPr>
        <p:spPr>
          <a:xfrm>
            <a:off x="8044886" y="5778245"/>
            <a:ext cx="3395699" cy="194310"/>
          </a:xfrm>
          <a:prstGeom prst="rect">
            <a:avLst/>
          </a:prstGeom>
          <a:noFill/>
        </p:spPr>
        <p:txBody>
          <a:bodyPr wrap="none" lIns="0" rIns="0" tIns="0" bIns="0">
            <a:spAutoFit/>
          </a:bodyPr>
          <a:lstStyle/>
          <a:p>
            <a:r>
              <a:rPr sz="1150" b="0">
                <a:solidFill>
                  <a:srgbClr val="2E2E2E"/>
                </a:solidFill>
                <a:latin typeface="Calibri"/>
              </a:rPr>
              <a:t>. Value is projected to grow faster than volume over the</a:t>
            </a:r>
          </a:p>
        </p:txBody>
      </p:sp>
      <p:sp>
        <p:nvSpPr>
          <p:cNvPr id="47" name="TextBox 46"/>
          <p:cNvSpPr txBox="1"/>
          <p:nvPr/>
        </p:nvSpPr>
        <p:spPr>
          <a:xfrm>
            <a:off x="276225" y="5953505"/>
            <a:ext cx="3701206" cy="194310"/>
          </a:xfrm>
          <a:prstGeom prst="rect">
            <a:avLst/>
          </a:prstGeom>
          <a:noFill/>
        </p:spPr>
        <p:txBody>
          <a:bodyPr wrap="none" lIns="0" rIns="0" tIns="0" bIns="0">
            <a:spAutoFit/>
          </a:bodyPr>
          <a:lstStyle/>
          <a:p>
            <a:r>
              <a:rPr sz="1150" b="0">
                <a:solidFill>
                  <a:srgbClr val="2E2E2E"/>
                </a:solidFill>
                <a:latin typeface="Calibri"/>
              </a:rPr>
              <a:t>forecast period, owing to an increase in average selling price.</a:t>
            </a:r>
          </a:p>
        </p:txBody>
      </p:sp>
      <p:sp>
        <p:nvSpPr>
          <p:cNvPr id="48" name="lockshield_9"/>
          <p:cNvSpPr/>
          <p:nvPr/>
        </p:nvSpPr>
        <p:spPr>
          <a:xfrm>
            <a:off x="238125" y="1266825"/>
            <a:ext cx="4505325" cy="22288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lockshield_12"/>
          <p:cNvSpPr/>
          <p:nvPr/>
        </p:nvSpPr>
        <p:spPr>
          <a:xfrm>
            <a:off x="5086350" y="1266825"/>
            <a:ext cx="6858000" cy="22288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Egg Protein Membrane Market Summary Country Indices (Value) (1/2)</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Country outlook ranking 2036 market size, growth and absolute-growth indices to highlight the strongest markets</a:t>
            </a:r>
          </a:p>
        </p:txBody>
      </p:sp>
      <p:sp>
        <p:nvSpPr>
          <p:cNvPr id="7" name="Rounded Rectangle 6"/>
          <p:cNvSpPr/>
          <p:nvPr/>
        </p:nvSpPr>
        <p:spPr>
          <a:xfrm>
            <a:off x="142875" y="1007261"/>
            <a:ext cx="3933825" cy="2445995"/>
          </a:xfrm>
          <a:prstGeom prst="roundRect">
            <a:avLst>
              <a:gd name="adj" fmla="val 3115"/>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64411"/>
            <a:ext cx="37433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Top 10 Countries By CAGR Index</a:t>
            </a:r>
          </a:p>
        </p:txBody>
      </p:sp>
      <p:graphicFrame>
        <p:nvGraphicFramePr>
          <p:cNvPr id="9" name="Chart 8"/>
          <p:cNvGraphicFramePr>
            <a:graphicFrameLocks noGrp="1"/>
          </p:cNvGraphicFramePr>
          <p:nvPr/>
        </p:nvGraphicFramePr>
        <p:xfrm>
          <a:off x="238125" y="1293011"/>
          <a:ext cx="3743325" cy="2103095"/>
        </p:xfrm>
        <a:graphic>
          <a:graphicData uri="http://schemas.openxmlformats.org/drawingml/2006/chart">
            <c:chart xmlns:c="http://schemas.openxmlformats.org/drawingml/2006/chart" r:id="rId3"/>
          </a:graphicData>
        </a:graphic>
      </p:graphicFrame>
      <p:sp>
        <p:nvSpPr>
          <p:cNvPr id="10" name="Rounded Rectangle 9"/>
          <p:cNvSpPr/>
          <p:nvPr/>
        </p:nvSpPr>
        <p:spPr>
          <a:xfrm>
            <a:off x="142875" y="3489764"/>
            <a:ext cx="3933825" cy="2436869"/>
          </a:xfrm>
          <a:prstGeom prst="roundRect">
            <a:avLst>
              <a:gd name="adj" fmla="val 3126"/>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152400" y="3565964"/>
          <a:ext cx="3914776" cy="2132071"/>
        </p:xfrm>
        <a:graphic>
          <a:graphicData uri="http://schemas.openxmlformats.org/drawingml/2006/table">
            <a:tbl>
              <a:tblPr>
                <a:tableStyleId>{5C22544A-7EE6-4342-B048-85BDC9FD1C3A}</a:tableStyleId>
              </a:tblPr>
              <a:tblGrid>
                <a:gridCol w="1013910"/>
                <a:gridCol w="969873"/>
                <a:gridCol w="661933"/>
                <a:gridCol w="1269060"/>
              </a:tblGrid>
              <a:tr h="246126">
                <a:tc>
                  <a:txBody>
                    <a:bodyPr wrap="none"/>
                    <a:lstStyle/>
                    <a:p>
                      <a:pPr algn="l"/>
                      <a:r>
                        <a:rPr sz="1100" b="1">
                          <a:solidFill>
                            <a:srgbClr val="0E2A5C"/>
                          </a:solidFill>
                          <a:latin typeface="Calibri"/>
                        </a:rPr>
                        <a:t>Country</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CAGR Index</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F-CAGR</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 Opp (US$ Mn)</a:t>
                      </a:r>
                      <a:endParaRPr sz="1100"/>
                    </a:p>
                  </a:txBody>
                  <a:tcPr marL="47625" marR="38100" marT="19050" marB="19050" anchor="ctr">
                    <a:solidFill>
                      <a:srgbClr val="EBF2F9"/>
                    </a:solidFill>
                  </a:tcPr>
                </a:tc>
              </a:tr>
              <a:tr h="377189">
                <a:tc>
                  <a:txBody>
                    <a:bodyPr wrap="none"/>
                    <a:lstStyle/>
                    <a:p>
                      <a:pPr algn="l"/>
                      <a:r>
                        <a:rPr sz="1100" b="1">
                          <a:solidFill>
                            <a:srgbClr val="2E2E2E"/>
                          </a:solidFill>
                          <a:latin typeface="Calibri"/>
                        </a:rPr>
                        <a:t>India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77189">
                <a:tc>
                  <a:txBody>
                    <a:bodyPr wrap="none"/>
                    <a:lstStyle/>
                    <a:p>
                      <a:pPr algn="l"/>
                      <a:r>
                        <a:rPr sz="1100" b="1">
                          <a:solidFill>
                            <a:srgbClr val="2E2E2E"/>
                          </a:solidFill>
                          <a:latin typeface="Calibri"/>
                        </a:rPr>
                        <a:t>Germany</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377189">
                <a:tc>
                  <a:txBody>
                    <a:bodyPr wrap="none"/>
                    <a:lstStyle/>
                    <a:p>
                      <a:pPr algn="l"/>
                      <a:r>
                        <a:rPr sz="1100" b="1">
                          <a:solidFill>
                            <a:srgbClr val="2E2E2E"/>
                          </a:solidFill>
                          <a:latin typeface="Calibri"/>
                        </a:rPr>
                        <a:t>Netherlands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77189">
                <a:tc>
                  <a:txBody>
                    <a:bodyPr wrap="none"/>
                    <a:lstStyle/>
                    <a:p>
                      <a:pPr algn="l"/>
                      <a:r>
                        <a:rPr sz="1100" b="1">
                          <a:solidFill>
                            <a:srgbClr val="2E2E2E"/>
                          </a:solidFill>
                          <a:latin typeface="Calibri"/>
                        </a:rPr>
                        <a:t>France</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377189">
                <a:tc>
                  <a:txBody>
                    <a:bodyPr wrap="none"/>
                    <a:lstStyle/>
                    <a:p>
                      <a:pPr algn="l"/>
                      <a:r>
                        <a:rPr sz="1100" b="1">
                          <a:solidFill>
                            <a:srgbClr val="2E2E2E"/>
                          </a:solidFill>
                          <a:latin typeface="Calibri"/>
                        </a:rPr>
                        <a:t>Brazil</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bl>
          </a:graphicData>
        </a:graphic>
      </p:graphicFrame>
      <p:sp>
        <p:nvSpPr>
          <p:cNvPr id="12" name="TextBox 11"/>
          <p:cNvSpPr txBox="1"/>
          <p:nvPr/>
        </p:nvSpPr>
        <p:spPr>
          <a:xfrm>
            <a:off x="219075" y="5707558"/>
            <a:ext cx="3781425"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13" name="Rounded Rectangle 12"/>
          <p:cNvSpPr/>
          <p:nvPr/>
        </p:nvSpPr>
        <p:spPr>
          <a:xfrm>
            <a:off x="4114800" y="1007261"/>
            <a:ext cx="3933825" cy="4928498"/>
          </a:xfrm>
          <a:prstGeom prst="roundRect">
            <a:avLst>
              <a:gd name="adj" fmla="val 1937"/>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210050" y="1064411"/>
            <a:ext cx="37433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2036 Market By Country (US$ Mn)  ·  Top 10</a:t>
            </a:r>
          </a:p>
        </p:txBody>
      </p:sp>
      <p:sp>
        <p:nvSpPr>
          <p:cNvPr id="15" name="Rectangle 14"/>
          <p:cNvSpPr/>
          <p:nvPr/>
        </p:nvSpPr>
        <p:spPr>
          <a:xfrm>
            <a:off x="4210050" y="1293011"/>
            <a:ext cx="2374032" cy="2004399"/>
          </a:xfrm>
          <a:prstGeom prst="rect">
            <a:avLst/>
          </a:prstGeom>
          <a:solidFill>
            <a:srgbClr val="2A5F8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U.S.</a:t>
            </a:r>
          </a:p>
          <a:p>
            <a:pPr algn="ctr"/>
            <a:r>
              <a:rPr sz="1100" b="0">
                <a:solidFill>
                  <a:srgbClr val="FFFFFF"/>
                </a:solidFill>
                <a:latin typeface="Calibri"/>
              </a:rPr>
              <a:t> </a:t>
            </a:r>
          </a:p>
        </p:txBody>
      </p:sp>
      <p:sp>
        <p:nvSpPr>
          <p:cNvPr id="16" name="Rectangle 15"/>
          <p:cNvSpPr/>
          <p:nvPr/>
        </p:nvSpPr>
        <p:spPr>
          <a:xfrm>
            <a:off x="6584082" y="1293011"/>
            <a:ext cx="1369293" cy="2004399"/>
          </a:xfrm>
          <a:prstGeom prst="rect">
            <a:avLst/>
          </a:prstGeom>
          <a:solidFill>
            <a:srgbClr val="0081E2"/>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Germany</a:t>
            </a:r>
          </a:p>
          <a:p>
            <a:pPr algn="ctr"/>
            <a:r>
              <a:rPr sz="1100" b="0">
                <a:solidFill>
                  <a:srgbClr val="FFFFFF"/>
                </a:solidFill>
                <a:latin typeface="Calibri"/>
              </a:rPr>
              <a:t> </a:t>
            </a:r>
          </a:p>
        </p:txBody>
      </p:sp>
      <p:sp>
        <p:nvSpPr>
          <p:cNvPr id="17" name="Rectangle 16"/>
          <p:cNvSpPr/>
          <p:nvPr/>
        </p:nvSpPr>
        <p:spPr>
          <a:xfrm>
            <a:off x="4210050" y="3297410"/>
            <a:ext cx="1575606" cy="1459081"/>
          </a:xfrm>
          <a:prstGeom prst="rect">
            <a:avLst/>
          </a:prstGeom>
          <a:solidFill>
            <a:srgbClr val="0E2A5C"/>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Canada</a:t>
            </a:r>
          </a:p>
          <a:p>
            <a:pPr algn="ctr"/>
            <a:r>
              <a:rPr sz="1100" b="0">
                <a:solidFill>
                  <a:srgbClr val="FFFFFF"/>
                </a:solidFill>
                <a:latin typeface="Calibri"/>
              </a:rPr>
              <a:t> </a:t>
            </a:r>
          </a:p>
        </p:txBody>
      </p:sp>
      <p:sp>
        <p:nvSpPr>
          <p:cNvPr id="18" name="Rectangle 17"/>
          <p:cNvSpPr/>
          <p:nvPr/>
        </p:nvSpPr>
        <p:spPr>
          <a:xfrm>
            <a:off x="4210050" y="4756491"/>
            <a:ext cx="1575606" cy="1122118"/>
          </a:xfrm>
          <a:prstGeom prst="rect">
            <a:avLst/>
          </a:prstGeom>
          <a:solidFill>
            <a:srgbClr val="00ACAC"/>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China</a:t>
            </a:r>
          </a:p>
          <a:p>
            <a:pPr algn="ctr"/>
            <a:r>
              <a:rPr sz="1100" b="0">
                <a:solidFill>
                  <a:srgbClr val="FFFFFF"/>
                </a:solidFill>
                <a:latin typeface="Calibri"/>
              </a:rPr>
              <a:t> </a:t>
            </a:r>
          </a:p>
        </p:txBody>
      </p:sp>
      <p:sp>
        <p:nvSpPr>
          <p:cNvPr id="19" name="Rectangle 18"/>
          <p:cNvSpPr/>
          <p:nvPr/>
        </p:nvSpPr>
        <p:spPr>
          <a:xfrm>
            <a:off x="5785656" y="3297410"/>
            <a:ext cx="1189588" cy="1132386"/>
          </a:xfrm>
          <a:prstGeom prst="rect">
            <a:avLst/>
          </a:prstGeom>
          <a:solidFill>
            <a:srgbClr val="F4762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India</a:t>
            </a:r>
          </a:p>
          <a:p>
            <a:pPr algn="ctr"/>
            <a:r>
              <a:rPr sz="1100" b="0">
                <a:solidFill>
                  <a:srgbClr val="FFFFFF"/>
                </a:solidFill>
                <a:latin typeface="Calibri"/>
              </a:rPr>
              <a:t> </a:t>
            </a:r>
          </a:p>
        </p:txBody>
      </p:sp>
      <p:sp>
        <p:nvSpPr>
          <p:cNvPr id="20" name="Rectangle 19"/>
          <p:cNvSpPr/>
          <p:nvPr/>
        </p:nvSpPr>
        <p:spPr>
          <a:xfrm>
            <a:off x="6975244" y="3297410"/>
            <a:ext cx="978131" cy="1132386"/>
          </a:xfrm>
          <a:prstGeom prst="rect">
            <a:avLst/>
          </a:prstGeom>
          <a:solidFill>
            <a:srgbClr val="79C3EC"/>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2E2E2E"/>
                </a:solidFill>
                <a:latin typeface="Calibri"/>
              </a:rPr>
              <a:t>Brazil</a:t>
            </a:r>
          </a:p>
          <a:p>
            <a:pPr algn="ctr"/>
            <a:r>
              <a:rPr sz="1100" b="0">
                <a:solidFill>
                  <a:srgbClr val="2E2E2E"/>
                </a:solidFill>
                <a:latin typeface="Calibri"/>
              </a:rPr>
              <a:t> </a:t>
            </a:r>
          </a:p>
        </p:txBody>
      </p:sp>
      <p:sp>
        <p:nvSpPr>
          <p:cNvPr id="21" name="Rectangle 20"/>
          <p:cNvSpPr/>
          <p:nvPr/>
        </p:nvSpPr>
        <p:spPr>
          <a:xfrm>
            <a:off x="5785656" y="4429795"/>
            <a:ext cx="1187161" cy="808402"/>
          </a:xfrm>
          <a:prstGeom prst="rect">
            <a:avLst/>
          </a:prstGeom>
          <a:solidFill>
            <a:srgbClr val="586272"/>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U.K.</a:t>
            </a:r>
          </a:p>
          <a:p>
            <a:pPr algn="ctr"/>
            <a:r>
              <a:rPr sz="1100" b="0">
                <a:solidFill>
                  <a:srgbClr val="FFFFFF"/>
                </a:solidFill>
                <a:latin typeface="Calibri"/>
              </a:rPr>
              <a:t> </a:t>
            </a:r>
          </a:p>
        </p:txBody>
      </p:sp>
      <p:sp>
        <p:nvSpPr>
          <p:cNvPr id="22" name="Rectangle 21"/>
          <p:cNvSpPr/>
          <p:nvPr/>
        </p:nvSpPr>
        <p:spPr>
          <a:xfrm>
            <a:off x="5785656" y="5238198"/>
            <a:ext cx="1187161" cy="640412"/>
          </a:xfrm>
          <a:prstGeom prst="rect">
            <a:avLst/>
          </a:prstGeom>
          <a:solidFill>
            <a:srgbClr val="1F47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Japan</a:t>
            </a:r>
          </a:p>
          <a:p>
            <a:pPr algn="ctr"/>
            <a:r>
              <a:rPr sz="1100" b="0">
                <a:solidFill>
                  <a:srgbClr val="FFFFFF"/>
                </a:solidFill>
                <a:latin typeface="Calibri"/>
              </a:rPr>
              <a:t> </a:t>
            </a:r>
          </a:p>
        </p:txBody>
      </p:sp>
      <p:sp>
        <p:nvSpPr>
          <p:cNvPr id="23" name="Rectangle 22"/>
          <p:cNvSpPr/>
          <p:nvPr/>
        </p:nvSpPr>
        <p:spPr>
          <a:xfrm>
            <a:off x="6972817" y="4429795"/>
            <a:ext cx="980558" cy="761836"/>
          </a:xfrm>
          <a:prstGeom prst="rect">
            <a:avLst/>
          </a:prstGeom>
          <a:solidFill>
            <a:srgbClr val="BCBEC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2E2E2E"/>
                </a:solidFill>
                <a:latin typeface="Calibri"/>
              </a:rPr>
              <a:t>France</a:t>
            </a:r>
          </a:p>
          <a:p>
            <a:pPr algn="ctr"/>
            <a:r>
              <a:rPr sz="1100" b="0">
                <a:solidFill>
                  <a:srgbClr val="2E2E2E"/>
                </a:solidFill>
                <a:latin typeface="Calibri"/>
              </a:rPr>
              <a:t> </a:t>
            </a:r>
          </a:p>
        </p:txBody>
      </p:sp>
      <p:sp>
        <p:nvSpPr>
          <p:cNvPr id="24" name="Rectangle 23"/>
          <p:cNvSpPr/>
          <p:nvPr/>
        </p:nvSpPr>
        <p:spPr>
          <a:xfrm>
            <a:off x="6972817" y="5191631"/>
            <a:ext cx="980558" cy="686979"/>
          </a:xfrm>
          <a:prstGeom prst="rect">
            <a:avLst/>
          </a:prstGeom>
          <a:solidFill>
            <a:srgbClr val="3DC6C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2E2E2E"/>
                </a:solidFill>
                <a:latin typeface="Calibri"/>
              </a:rPr>
              <a:t>Turkey</a:t>
            </a:r>
          </a:p>
          <a:p>
            <a:pPr algn="ctr"/>
            <a:r>
              <a:rPr sz="1100" b="0">
                <a:solidFill>
                  <a:srgbClr val="2E2E2E"/>
                </a:solidFill>
                <a:latin typeface="Calibri"/>
              </a:rPr>
              <a:t> </a:t>
            </a:r>
          </a:p>
        </p:txBody>
      </p:sp>
      <p:sp>
        <p:nvSpPr>
          <p:cNvPr id="25" name="Rounded Rectangle 24"/>
          <p:cNvSpPr/>
          <p:nvPr/>
        </p:nvSpPr>
        <p:spPr>
          <a:xfrm>
            <a:off x="8086725" y="1007261"/>
            <a:ext cx="3933825" cy="2436869"/>
          </a:xfrm>
          <a:prstGeom prst="roundRect">
            <a:avLst>
              <a:gd name="adj" fmla="val 3126"/>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181975" y="1064411"/>
            <a:ext cx="37433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Top 10 Countries By Absolute Index</a:t>
            </a:r>
          </a:p>
        </p:txBody>
      </p:sp>
      <p:graphicFrame>
        <p:nvGraphicFramePr>
          <p:cNvPr id="27" name="Chart 26"/>
          <p:cNvGraphicFramePr>
            <a:graphicFrameLocks noGrp="1"/>
          </p:cNvGraphicFramePr>
          <p:nvPr/>
        </p:nvGraphicFramePr>
        <p:xfrm>
          <a:off x="8181975" y="1293011"/>
          <a:ext cx="3743325" cy="2093969"/>
        </p:xfrm>
        <a:graphic>
          <a:graphicData uri="http://schemas.openxmlformats.org/drawingml/2006/chart">
            <c:chart xmlns:c="http://schemas.openxmlformats.org/drawingml/2006/chart" r:id="rId4"/>
          </a:graphicData>
        </a:graphic>
      </p:graphicFrame>
      <p:sp>
        <p:nvSpPr>
          <p:cNvPr id="28" name="Rounded Rectangle 27"/>
          <p:cNvSpPr/>
          <p:nvPr/>
        </p:nvSpPr>
        <p:spPr>
          <a:xfrm>
            <a:off x="8086725" y="3471510"/>
            <a:ext cx="3933825" cy="2464249"/>
          </a:xfrm>
          <a:prstGeom prst="roundRect">
            <a:avLst>
              <a:gd name="adj" fmla="val 3092"/>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29" name="Table 28"/>
          <p:cNvGraphicFramePr>
            <a:graphicFrameLocks noGrp="1"/>
          </p:cNvGraphicFramePr>
          <p:nvPr/>
        </p:nvGraphicFramePr>
        <p:xfrm>
          <a:off x="8096250" y="3547710"/>
          <a:ext cx="3927746" cy="2159451"/>
        </p:xfrm>
        <a:graphic>
          <a:graphicData uri="http://schemas.openxmlformats.org/drawingml/2006/table">
            <a:tbl>
              <a:tblPr>
                <a:tableStyleId>{5C22544A-7EE6-4342-B048-85BDC9FD1C3A}</a:tableStyleId>
              </a:tblPr>
              <a:tblGrid>
                <a:gridCol w="710293"/>
                <a:gridCol w="1068161"/>
                <a:gridCol w="1068161"/>
                <a:gridCol w="1081131"/>
              </a:tblGrid>
              <a:tr h="246126">
                <a:tc>
                  <a:txBody>
                    <a:bodyPr wrap="none"/>
                    <a:lstStyle/>
                    <a:p>
                      <a:pPr algn="l"/>
                      <a:r>
                        <a:rPr sz="1100" b="1">
                          <a:solidFill>
                            <a:srgbClr val="0E2A5C"/>
                          </a:solidFill>
                          <a:latin typeface="Calibri"/>
                        </a:rPr>
                        <a:t>Country</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Absolute Index</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F-CAGR</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 Opp (US$ Mn)</a:t>
                      </a:r>
                      <a:endParaRPr sz="1100"/>
                    </a:p>
                  </a:txBody>
                  <a:tcPr marL="47625" marR="38100" marT="19050" marB="19050" anchor="ctr">
                    <a:solidFill>
                      <a:srgbClr val="EBF2F9"/>
                    </a:solidFill>
                  </a:tcPr>
                </a:tc>
              </a:tr>
              <a:tr h="382665">
                <a:tc>
                  <a:txBody>
                    <a:bodyPr wrap="none"/>
                    <a:lstStyle/>
                    <a:p>
                      <a:pPr algn="l"/>
                      <a:r>
                        <a:rPr sz="1100" b="1">
                          <a:solidFill>
                            <a:srgbClr val="2E2E2E"/>
                          </a:solidFill>
                          <a:latin typeface="Calibri"/>
                        </a:rPr>
                        <a:t>U.S.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82665">
                <a:tc>
                  <a:txBody>
                    <a:bodyPr wrap="none"/>
                    <a:lstStyle/>
                    <a:p>
                      <a:pPr algn="l"/>
                      <a:r>
                        <a:rPr sz="1100" b="1">
                          <a:solidFill>
                            <a:srgbClr val="2E2E2E"/>
                          </a:solidFill>
                          <a:latin typeface="Calibri"/>
                        </a:rPr>
                        <a:t>Germany</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382665">
                <a:tc>
                  <a:txBody>
                    <a:bodyPr wrap="none"/>
                    <a:lstStyle/>
                    <a:p>
                      <a:pPr algn="l"/>
                      <a:r>
                        <a:rPr sz="1100" b="1">
                          <a:solidFill>
                            <a:srgbClr val="2E2E2E"/>
                          </a:solidFill>
                          <a:latin typeface="Calibri"/>
                        </a:rPr>
                        <a:t>Canada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82665">
                <a:tc>
                  <a:txBody>
                    <a:bodyPr wrap="none"/>
                    <a:lstStyle/>
                    <a:p>
                      <a:pPr algn="l"/>
                      <a:r>
                        <a:rPr sz="1100" b="1">
                          <a:solidFill>
                            <a:srgbClr val="2E2E2E"/>
                          </a:solidFill>
                          <a:latin typeface="Calibri"/>
                        </a:rPr>
                        <a:t>China</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382665">
                <a:tc>
                  <a:txBody>
                    <a:bodyPr wrap="none"/>
                    <a:lstStyle/>
                    <a:p>
                      <a:pPr algn="l"/>
                      <a:r>
                        <a:rPr sz="1100" b="1">
                          <a:solidFill>
                            <a:srgbClr val="2E2E2E"/>
                          </a:solidFill>
                          <a:latin typeface="Calibri"/>
                        </a:rPr>
                        <a:t>India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bl>
          </a:graphicData>
        </a:graphic>
      </p:graphicFrame>
      <p:sp>
        <p:nvSpPr>
          <p:cNvPr id="30" name="TextBox 29"/>
          <p:cNvSpPr txBox="1"/>
          <p:nvPr/>
        </p:nvSpPr>
        <p:spPr>
          <a:xfrm>
            <a:off x="8162925" y="5716684"/>
            <a:ext cx="3781425"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31" name="Rounded Rectangle 30"/>
          <p:cNvSpPr/>
          <p:nvPr/>
        </p:nvSpPr>
        <p:spPr>
          <a:xfrm>
            <a:off x="142875" y="6027028"/>
            <a:ext cx="10858500" cy="602372"/>
          </a:xfrm>
          <a:prstGeom prst="roundRect">
            <a:avLst>
              <a:gd name="adj" fmla="val 1264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32" name="Rectangle 31"/>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34" name="Picture 33" descr="lock.png"/>
          <p:cNvPicPr>
            <a:picLocks noChangeAspect="1"/>
          </p:cNvPicPr>
          <p:nvPr/>
        </p:nvPicPr>
        <p:blipFill>
          <a:blip r:embed="rId6"/>
          <a:stretch>
            <a:fillRect/>
          </a:stretch>
        </p:blipFill>
        <p:spPr>
          <a:xfrm>
            <a:off x="3188017" y="2125483"/>
            <a:ext cx="183356" cy="266700"/>
          </a:xfrm>
          <a:prstGeom prst="rect">
            <a:avLst/>
          </a:prstGeom>
        </p:spPr>
      </p:pic>
      <p:pic>
        <p:nvPicPr>
          <p:cNvPr id="35" name="Picture 34" descr="lock.png"/>
          <p:cNvPicPr>
            <a:picLocks noChangeAspect="1"/>
          </p:cNvPicPr>
          <p:nvPr/>
        </p:nvPicPr>
        <p:blipFill>
          <a:blip r:embed="rId6"/>
          <a:stretch>
            <a:fillRect/>
          </a:stretch>
        </p:blipFill>
        <p:spPr>
          <a:xfrm>
            <a:off x="2447283" y="4512977"/>
            <a:ext cx="332867" cy="484170"/>
          </a:xfrm>
          <a:prstGeom prst="rect">
            <a:avLst/>
          </a:prstGeom>
        </p:spPr>
      </p:pic>
      <p:pic>
        <p:nvPicPr>
          <p:cNvPr id="36" name="Picture 35" descr="lock.png"/>
          <p:cNvPicPr>
            <a:picLocks noChangeAspect="1"/>
          </p:cNvPicPr>
          <p:nvPr/>
        </p:nvPicPr>
        <p:blipFill>
          <a:blip r:embed="rId6"/>
          <a:stretch>
            <a:fillRect/>
          </a:stretch>
        </p:blipFill>
        <p:spPr>
          <a:xfrm>
            <a:off x="5339440" y="2295210"/>
            <a:ext cx="115252" cy="167639"/>
          </a:xfrm>
          <a:prstGeom prst="rect">
            <a:avLst/>
          </a:prstGeom>
        </p:spPr>
      </p:pic>
      <p:pic>
        <p:nvPicPr>
          <p:cNvPr id="37" name="Picture 36" descr="lock.png"/>
          <p:cNvPicPr>
            <a:picLocks noChangeAspect="1"/>
          </p:cNvPicPr>
          <p:nvPr/>
        </p:nvPicPr>
        <p:blipFill>
          <a:blip r:embed="rId6"/>
          <a:stretch>
            <a:fillRect/>
          </a:stretch>
        </p:blipFill>
        <p:spPr>
          <a:xfrm>
            <a:off x="7211102" y="2295210"/>
            <a:ext cx="115252" cy="167639"/>
          </a:xfrm>
          <a:prstGeom prst="rect">
            <a:avLst/>
          </a:prstGeom>
        </p:spPr>
      </p:pic>
      <p:pic>
        <p:nvPicPr>
          <p:cNvPr id="38" name="Picture 37" descr="lock.png"/>
          <p:cNvPicPr>
            <a:picLocks noChangeAspect="1"/>
          </p:cNvPicPr>
          <p:nvPr/>
        </p:nvPicPr>
        <p:blipFill>
          <a:blip r:embed="rId6"/>
          <a:stretch>
            <a:fillRect/>
          </a:stretch>
        </p:blipFill>
        <p:spPr>
          <a:xfrm>
            <a:off x="4940227" y="4026950"/>
            <a:ext cx="115252" cy="167639"/>
          </a:xfrm>
          <a:prstGeom prst="rect">
            <a:avLst/>
          </a:prstGeom>
        </p:spPr>
      </p:pic>
      <p:pic>
        <p:nvPicPr>
          <p:cNvPr id="39" name="Picture 38" descr="lock.png"/>
          <p:cNvPicPr>
            <a:picLocks noChangeAspect="1"/>
          </p:cNvPicPr>
          <p:nvPr/>
        </p:nvPicPr>
        <p:blipFill>
          <a:blip r:embed="rId6"/>
          <a:stretch>
            <a:fillRect/>
          </a:stretch>
        </p:blipFill>
        <p:spPr>
          <a:xfrm>
            <a:off x="4940227" y="5317550"/>
            <a:ext cx="115252" cy="167639"/>
          </a:xfrm>
          <a:prstGeom prst="rect">
            <a:avLst/>
          </a:prstGeom>
        </p:spPr>
      </p:pic>
      <p:pic>
        <p:nvPicPr>
          <p:cNvPr id="40" name="Picture 39" descr="lock.png"/>
          <p:cNvPicPr>
            <a:picLocks noChangeAspect="1"/>
          </p:cNvPicPr>
          <p:nvPr/>
        </p:nvPicPr>
        <p:blipFill>
          <a:blip r:embed="rId6"/>
          <a:stretch>
            <a:fillRect/>
          </a:stretch>
        </p:blipFill>
        <p:spPr>
          <a:xfrm>
            <a:off x="6322824" y="3863603"/>
            <a:ext cx="115252" cy="167639"/>
          </a:xfrm>
          <a:prstGeom prst="rect">
            <a:avLst/>
          </a:prstGeom>
        </p:spPr>
      </p:pic>
      <p:pic>
        <p:nvPicPr>
          <p:cNvPr id="41" name="Picture 40" descr="lock.png"/>
          <p:cNvPicPr>
            <a:picLocks noChangeAspect="1"/>
          </p:cNvPicPr>
          <p:nvPr/>
        </p:nvPicPr>
        <p:blipFill>
          <a:blip r:embed="rId6"/>
          <a:stretch>
            <a:fillRect/>
          </a:stretch>
        </p:blipFill>
        <p:spPr>
          <a:xfrm>
            <a:off x="7406683" y="3863603"/>
            <a:ext cx="115252" cy="167639"/>
          </a:xfrm>
          <a:prstGeom prst="rect">
            <a:avLst/>
          </a:prstGeom>
        </p:spPr>
      </p:pic>
      <p:pic>
        <p:nvPicPr>
          <p:cNvPr id="42" name="Picture 41" descr="lock.png"/>
          <p:cNvPicPr>
            <a:picLocks noChangeAspect="1"/>
          </p:cNvPicPr>
          <p:nvPr/>
        </p:nvPicPr>
        <p:blipFill>
          <a:blip r:embed="rId6"/>
          <a:stretch>
            <a:fillRect/>
          </a:stretch>
        </p:blipFill>
        <p:spPr>
          <a:xfrm>
            <a:off x="6321610" y="4833996"/>
            <a:ext cx="115252" cy="167639"/>
          </a:xfrm>
          <a:prstGeom prst="rect">
            <a:avLst/>
          </a:prstGeom>
        </p:spPr>
      </p:pic>
      <p:pic>
        <p:nvPicPr>
          <p:cNvPr id="43" name="Picture 42" descr="lock.png"/>
          <p:cNvPicPr>
            <a:picLocks noChangeAspect="1"/>
          </p:cNvPicPr>
          <p:nvPr/>
        </p:nvPicPr>
        <p:blipFill>
          <a:blip r:embed="rId6"/>
          <a:stretch>
            <a:fillRect/>
          </a:stretch>
        </p:blipFill>
        <p:spPr>
          <a:xfrm>
            <a:off x="6321610" y="5558404"/>
            <a:ext cx="115252" cy="167639"/>
          </a:xfrm>
          <a:prstGeom prst="rect">
            <a:avLst/>
          </a:prstGeom>
        </p:spPr>
      </p:pic>
      <p:pic>
        <p:nvPicPr>
          <p:cNvPr id="44" name="Picture 43" descr="lock.png"/>
          <p:cNvPicPr>
            <a:picLocks noChangeAspect="1"/>
          </p:cNvPicPr>
          <p:nvPr/>
        </p:nvPicPr>
        <p:blipFill>
          <a:blip r:embed="rId6"/>
          <a:stretch>
            <a:fillRect/>
          </a:stretch>
        </p:blipFill>
        <p:spPr>
          <a:xfrm>
            <a:off x="7405470" y="4810713"/>
            <a:ext cx="115252" cy="167639"/>
          </a:xfrm>
          <a:prstGeom prst="rect">
            <a:avLst/>
          </a:prstGeom>
        </p:spPr>
      </p:pic>
      <p:pic>
        <p:nvPicPr>
          <p:cNvPr id="45" name="Picture 44" descr="lock.png"/>
          <p:cNvPicPr>
            <a:picLocks noChangeAspect="1"/>
          </p:cNvPicPr>
          <p:nvPr/>
        </p:nvPicPr>
        <p:blipFill>
          <a:blip r:embed="rId6"/>
          <a:stretch>
            <a:fillRect/>
          </a:stretch>
        </p:blipFill>
        <p:spPr>
          <a:xfrm>
            <a:off x="7405470" y="5535120"/>
            <a:ext cx="115252" cy="167639"/>
          </a:xfrm>
          <a:prstGeom prst="rect">
            <a:avLst/>
          </a:prstGeom>
        </p:spPr>
      </p:pic>
      <p:pic>
        <p:nvPicPr>
          <p:cNvPr id="46" name="Picture 45" descr="lock.png"/>
          <p:cNvPicPr>
            <a:picLocks noChangeAspect="1"/>
          </p:cNvPicPr>
          <p:nvPr/>
        </p:nvPicPr>
        <p:blipFill>
          <a:blip r:embed="rId6"/>
          <a:stretch>
            <a:fillRect/>
          </a:stretch>
        </p:blipFill>
        <p:spPr>
          <a:xfrm>
            <a:off x="11131867" y="2120920"/>
            <a:ext cx="183356" cy="266700"/>
          </a:xfrm>
          <a:prstGeom prst="rect">
            <a:avLst/>
          </a:prstGeom>
        </p:spPr>
      </p:pic>
      <p:pic>
        <p:nvPicPr>
          <p:cNvPr id="47" name="Picture 46" descr="lock.png"/>
          <p:cNvPicPr>
            <a:picLocks noChangeAspect="1"/>
          </p:cNvPicPr>
          <p:nvPr/>
        </p:nvPicPr>
        <p:blipFill>
          <a:blip r:embed="rId6"/>
          <a:stretch>
            <a:fillRect/>
          </a:stretch>
        </p:blipFill>
        <p:spPr>
          <a:xfrm>
            <a:off x="10208848" y="4492667"/>
            <a:ext cx="354517" cy="515661"/>
          </a:xfrm>
          <a:prstGeom prst="rect">
            <a:avLst/>
          </a:prstGeom>
        </p:spPr>
      </p:pic>
      <p:sp>
        <p:nvSpPr>
          <p:cNvPr id="48" name="TextBox 47"/>
          <p:cNvSpPr txBox="1"/>
          <p:nvPr/>
        </p:nvSpPr>
        <p:spPr>
          <a:xfrm>
            <a:off x="257175" y="6160574"/>
            <a:ext cx="3639641" cy="186689"/>
          </a:xfrm>
          <a:prstGeom prst="rect">
            <a:avLst/>
          </a:prstGeom>
          <a:noFill/>
        </p:spPr>
        <p:txBody>
          <a:bodyPr wrap="none" lIns="0" rIns="0" tIns="0" bIns="0">
            <a:spAutoFit/>
          </a:bodyPr>
          <a:lstStyle/>
          <a:p>
            <a:r>
              <a:rPr sz="1100" b="0">
                <a:solidFill>
                  <a:srgbClr val="2E2E2E"/>
                </a:solidFill>
                <a:latin typeface="Calibri"/>
              </a:rPr>
              <a:t>The U.S. egg protein membrane market is projected to register</a:t>
            </a:r>
          </a:p>
        </p:txBody>
      </p:sp>
      <p:pic>
        <p:nvPicPr>
          <p:cNvPr id="49" name="Picture 48" descr="lock.png"/>
          <p:cNvPicPr>
            <a:picLocks noChangeAspect="1"/>
          </p:cNvPicPr>
          <p:nvPr/>
        </p:nvPicPr>
        <p:blipFill>
          <a:blip r:embed="rId6"/>
          <a:stretch>
            <a:fillRect/>
          </a:stretch>
        </p:blipFill>
        <p:spPr>
          <a:xfrm>
            <a:off x="3844868" y="6150795"/>
            <a:ext cx="128699" cy="187198"/>
          </a:xfrm>
          <a:prstGeom prst="rect">
            <a:avLst/>
          </a:prstGeom>
        </p:spPr>
      </p:pic>
      <p:sp>
        <p:nvSpPr>
          <p:cNvPr id="50" name="TextBox 49"/>
          <p:cNvSpPr txBox="1"/>
          <p:nvPr/>
        </p:nvSpPr>
        <p:spPr>
          <a:xfrm>
            <a:off x="4012363" y="6160574"/>
            <a:ext cx="4298833" cy="186689"/>
          </a:xfrm>
          <a:prstGeom prst="rect">
            <a:avLst/>
          </a:prstGeom>
          <a:noFill/>
        </p:spPr>
        <p:txBody>
          <a:bodyPr wrap="none" lIns="0" rIns="0" tIns="0" bIns="0">
            <a:spAutoFit/>
          </a:bodyPr>
          <a:lstStyle/>
          <a:p>
            <a:r>
              <a:rPr sz="1100" b="0">
                <a:solidFill>
                  <a:srgbClr val="2E2E2E"/>
                </a:solidFill>
                <a:latin typeface="Calibri"/>
              </a:rPr>
              <a:t>X higher value than Germany in 2036. India posts the highest CAGR Index (</a:t>
            </a:r>
          </a:p>
        </p:txBody>
      </p:sp>
      <p:pic>
        <p:nvPicPr>
          <p:cNvPr id="51" name="Picture 50" descr="lock.png"/>
          <p:cNvPicPr>
            <a:picLocks noChangeAspect="1"/>
          </p:cNvPicPr>
          <p:nvPr/>
        </p:nvPicPr>
        <p:blipFill>
          <a:blip r:embed="rId6"/>
          <a:stretch>
            <a:fillRect/>
          </a:stretch>
        </p:blipFill>
        <p:spPr>
          <a:xfrm>
            <a:off x="8259249" y="6150795"/>
            <a:ext cx="128699" cy="187198"/>
          </a:xfrm>
          <a:prstGeom prst="rect">
            <a:avLst/>
          </a:prstGeom>
        </p:spPr>
      </p:pic>
      <p:sp>
        <p:nvSpPr>
          <p:cNvPr id="52" name="TextBox 51"/>
          <p:cNvSpPr txBox="1"/>
          <p:nvPr/>
        </p:nvSpPr>
        <p:spPr>
          <a:xfrm>
            <a:off x="8426744" y="6160574"/>
            <a:ext cx="789979" cy="186689"/>
          </a:xfrm>
          <a:prstGeom prst="rect">
            <a:avLst/>
          </a:prstGeom>
          <a:noFill/>
        </p:spPr>
        <p:txBody>
          <a:bodyPr wrap="none" lIns="0" rIns="0" tIns="0" bIns="0">
            <a:spAutoFit/>
          </a:bodyPr>
          <a:lstStyle/>
          <a:p>
            <a:r>
              <a:rPr sz="1100" b="0">
                <a:solidFill>
                  <a:srgbClr val="2E2E2E"/>
                </a:solidFill>
                <a:latin typeface="Calibri"/>
              </a:rPr>
              <a:t>), growing at</a:t>
            </a:r>
          </a:p>
        </p:txBody>
      </p:sp>
      <p:pic>
        <p:nvPicPr>
          <p:cNvPr id="53" name="Picture 52" descr="lock.png"/>
          <p:cNvPicPr>
            <a:picLocks noChangeAspect="1"/>
          </p:cNvPicPr>
          <p:nvPr/>
        </p:nvPicPr>
        <p:blipFill>
          <a:blip r:embed="rId6"/>
          <a:stretch>
            <a:fillRect/>
          </a:stretch>
        </p:blipFill>
        <p:spPr>
          <a:xfrm>
            <a:off x="9164776" y="6150795"/>
            <a:ext cx="128699" cy="187198"/>
          </a:xfrm>
          <a:prstGeom prst="rect">
            <a:avLst/>
          </a:prstGeom>
        </p:spPr>
      </p:pic>
      <p:sp>
        <p:nvSpPr>
          <p:cNvPr id="54" name="TextBox 53"/>
          <p:cNvSpPr txBox="1"/>
          <p:nvPr/>
        </p:nvSpPr>
        <p:spPr>
          <a:xfrm>
            <a:off x="9332272" y="6160574"/>
            <a:ext cx="1080020" cy="186689"/>
          </a:xfrm>
          <a:prstGeom prst="rect">
            <a:avLst/>
          </a:prstGeom>
          <a:noFill/>
        </p:spPr>
        <p:txBody>
          <a:bodyPr wrap="none" lIns="0" rIns="0" tIns="0" bIns="0">
            <a:spAutoFit/>
          </a:bodyPr>
          <a:lstStyle/>
          <a:p>
            <a:r>
              <a:rPr sz="1100" b="0">
                <a:solidFill>
                  <a:srgbClr val="2E2E2E"/>
                </a:solidFill>
                <a:latin typeface="Calibri"/>
              </a:rPr>
              <a:t>against the global</a:t>
            </a:r>
          </a:p>
        </p:txBody>
      </p:sp>
      <p:sp>
        <p:nvSpPr>
          <p:cNvPr id="55" name="TextBox 54"/>
          <p:cNvSpPr txBox="1"/>
          <p:nvPr/>
        </p:nvSpPr>
        <p:spPr>
          <a:xfrm>
            <a:off x="257175" y="6328214"/>
            <a:ext cx="3580159" cy="186689"/>
          </a:xfrm>
          <a:prstGeom prst="rect">
            <a:avLst/>
          </a:prstGeom>
          <a:noFill/>
        </p:spPr>
        <p:txBody>
          <a:bodyPr wrap="none" lIns="0" rIns="0" tIns="0" bIns="0">
            <a:spAutoFit/>
          </a:bodyPr>
          <a:lstStyle/>
          <a:p>
            <a:r>
              <a:rPr sz="1100" b="0">
                <a:solidFill>
                  <a:srgbClr val="2E2E2E"/>
                </a:solidFill>
                <a:latin typeface="Calibri"/>
              </a:rPr>
              <a:t>benchmark, while U.S. offers the largest absolute opportunity</a:t>
            </a:r>
          </a:p>
        </p:txBody>
      </p:sp>
      <p:pic>
        <p:nvPicPr>
          <p:cNvPr id="56" name="Picture 55" descr="lock.png"/>
          <p:cNvPicPr>
            <a:picLocks noChangeAspect="1"/>
          </p:cNvPicPr>
          <p:nvPr/>
        </p:nvPicPr>
        <p:blipFill>
          <a:blip r:embed="rId6"/>
          <a:stretch>
            <a:fillRect/>
          </a:stretch>
        </p:blipFill>
        <p:spPr>
          <a:xfrm>
            <a:off x="3785386" y="6318435"/>
            <a:ext cx="128699" cy="187198"/>
          </a:xfrm>
          <a:prstGeom prst="rect">
            <a:avLst/>
          </a:prstGeom>
        </p:spPr>
      </p:pic>
      <p:sp>
        <p:nvSpPr>
          <p:cNvPr id="57" name="TextBox 56"/>
          <p:cNvSpPr txBox="1"/>
          <p:nvPr/>
        </p:nvSpPr>
        <p:spPr>
          <a:xfrm>
            <a:off x="3952882" y="6328214"/>
            <a:ext cx="3311946" cy="186689"/>
          </a:xfrm>
          <a:prstGeom prst="rect">
            <a:avLst/>
          </a:prstGeom>
          <a:noFill/>
        </p:spPr>
        <p:txBody>
          <a:bodyPr wrap="none" lIns="0" rIns="0" tIns="0" bIns="0">
            <a:spAutoFit/>
          </a:bodyPr>
          <a:lstStyle/>
          <a:p>
            <a:r>
              <a:rPr sz="1100" b="0">
                <a:solidFill>
                  <a:srgbClr val="2E2E2E"/>
                </a:solidFill>
                <a:latin typeface="Calibri"/>
              </a:rPr>
              <a:t>US$ Mn of incremental market between 2026 and 2036 (</a:t>
            </a:r>
          </a:p>
        </p:txBody>
      </p:sp>
      <p:pic>
        <p:nvPicPr>
          <p:cNvPr id="58" name="Picture 57" descr="lock.png"/>
          <p:cNvPicPr>
            <a:picLocks noChangeAspect="1"/>
          </p:cNvPicPr>
          <p:nvPr/>
        </p:nvPicPr>
        <p:blipFill>
          <a:blip r:embed="rId6"/>
          <a:stretch>
            <a:fillRect/>
          </a:stretch>
        </p:blipFill>
        <p:spPr>
          <a:xfrm>
            <a:off x="7212880" y="6318435"/>
            <a:ext cx="128699" cy="187198"/>
          </a:xfrm>
          <a:prstGeom prst="rect">
            <a:avLst/>
          </a:prstGeom>
        </p:spPr>
      </p:pic>
      <p:sp>
        <p:nvSpPr>
          <p:cNvPr id="59" name="TextBox 58"/>
          <p:cNvSpPr txBox="1"/>
          <p:nvPr/>
        </p:nvSpPr>
        <p:spPr>
          <a:xfrm>
            <a:off x="7380376" y="6328214"/>
            <a:ext cx="1483568" cy="186689"/>
          </a:xfrm>
          <a:prstGeom prst="rect">
            <a:avLst/>
          </a:prstGeom>
          <a:noFill/>
        </p:spPr>
        <p:txBody>
          <a:bodyPr wrap="none" lIns="0" rIns="0" tIns="0" bIns="0">
            <a:spAutoFit/>
          </a:bodyPr>
          <a:lstStyle/>
          <a:p>
            <a:r>
              <a:rPr sz="1100" b="0">
                <a:solidFill>
                  <a:srgbClr val="2E2E2E"/>
                </a:solidFill>
                <a:latin typeface="Calibri"/>
              </a:rPr>
              <a:t>of the global increment).</a:t>
            </a:r>
          </a:p>
        </p:txBody>
      </p:sp>
      <p:sp>
        <p:nvSpPr>
          <p:cNvPr id="60" name="lockshield_9"/>
          <p:cNvSpPr/>
          <p:nvPr/>
        </p:nvSpPr>
        <p:spPr>
          <a:xfrm>
            <a:off x="238125" y="1293011"/>
            <a:ext cx="3743325" cy="210309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lockshield_27"/>
          <p:cNvSpPr/>
          <p:nvPr/>
        </p:nvSpPr>
        <p:spPr>
          <a:xfrm>
            <a:off x="8181975" y="1293011"/>
            <a:ext cx="3743325" cy="2093969"/>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Egg Protein Membrane Market Summary Country Indices (Value) (2/2)</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Country outlook ranking 2036 market size, growth and absolute-growth indices to highlight the strongest markets</a:t>
            </a:r>
          </a:p>
        </p:txBody>
      </p:sp>
      <p:sp>
        <p:nvSpPr>
          <p:cNvPr id="7" name="Rounded Rectangle 6"/>
          <p:cNvSpPr/>
          <p:nvPr/>
        </p:nvSpPr>
        <p:spPr>
          <a:xfrm>
            <a:off x="142875" y="981075"/>
            <a:ext cx="11906250" cy="1790700"/>
          </a:xfrm>
          <a:prstGeom prst="roundRect">
            <a:avLst>
              <a:gd name="adj" fmla="val 4255"/>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8" name="Table 7"/>
          <p:cNvGraphicFramePr>
            <a:graphicFrameLocks noGrp="1"/>
          </p:cNvGraphicFramePr>
          <p:nvPr/>
        </p:nvGraphicFramePr>
        <p:xfrm>
          <a:off x="152400" y="1057275"/>
          <a:ext cx="11887199" cy="1485896"/>
        </p:xfrm>
        <a:graphic>
          <a:graphicData uri="http://schemas.openxmlformats.org/drawingml/2006/table">
            <a:tbl>
              <a:tblPr>
                <a:tableStyleId>{5C22544A-7EE6-4342-B048-85BDC9FD1C3A}</a:tableStyleId>
              </a:tblPr>
              <a:tblGrid>
                <a:gridCol w="1994456"/>
                <a:gridCol w="3297581"/>
                <a:gridCol w="3297581"/>
                <a:gridCol w="3297581"/>
              </a:tblGrid>
              <a:tr h="246126">
                <a:tc>
                  <a:txBody>
                    <a:bodyPr wrap="none"/>
                    <a:lstStyle/>
                    <a:p>
                      <a:pPr algn="l"/>
                      <a:r>
                        <a:rPr sz="1100" b="1">
                          <a:solidFill>
                            <a:srgbClr val="0E2A5C"/>
                          </a:solidFill>
                          <a:latin typeface="Calibri"/>
                        </a:rPr>
                        <a:t>Country</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CAGR Index</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F-CAGR</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 Opp (US$ Mn)</a:t>
                      </a:r>
                      <a:endParaRPr sz="1100"/>
                    </a:p>
                  </a:txBody>
                  <a:tcPr marL="47625" marR="38100" marT="19050" marB="19050" anchor="ctr">
                    <a:solidFill>
                      <a:srgbClr val="EBF2F9"/>
                    </a:solidFill>
                  </a:tcPr>
                </a:tc>
              </a:tr>
              <a:tr h="247954">
                <a:tc>
                  <a:txBody>
                    <a:bodyPr wrap="none"/>
                    <a:lstStyle/>
                    <a:p>
                      <a:pPr algn="l"/>
                      <a:r>
                        <a:rPr sz="1100" b="1">
                          <a:solidFill>
                            <a:srgbClr val="2E2E2E"/>
                          </a:solidFill>
                          <a:latin typeface="Calibri"/>
                        </a:rPr>
                        <a:t>Thailand</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954">
                <a:tc>
                  <a:txBody>
                    <a:bodyPr wrap="none"/>
                    <a:lstStyle/>
                    <a:p>
                      <a:pPr algn="l"/>
                      <a:r>
                        <a:rPr sz="1100" b="1">
                          <a:solidFill>
                            <a:srgbClr val="2E2E2E"/>
                          </a:solidFill>
                          <a:latin typeface="Calibri"/>
                        </a:rPr>
                        <a:t>Spain</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7954">
                <a:tc>
                  <a:txBody>
                    <a:bodyPr wrap="none"/>
                    <a:lstStyle/>
                    <a:p>
                      <a:pPr algn="l"/>
                      <a:r>
                        <a:rPr sz="1100" b="1">
                          <a:solidFill>
                            <a:srgbClr val="2E2E2E"/>
                          </a:solidFill>
                          <a:latin typeface="Calibri"/>
                        </a:rPr>
                        <a:t>Malaysia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954">
                <a:tc>
                  <a:txBody>
                    <a:bodyPr wrap="none"/>
                    <a:lstStyle/>
                    <a:p>
                      <a:pPr algn="l"/>
                      <a:r>
                        <a:rPr sz="1100" b="1">
                          <a:solidFill>
                            <a:srgbClr val="2E2E2E"/>
                          </a:solidFill>
                          <a:latin typeface="Calibri"/>
                        </a:rPr>
                        <a:t>China</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7954">
                <a:tc>
                  <a:txBody>
                    <a:bodyPr wrap="none"/>
                    <a:lstStyle/>
                    <a:p>
                      <a:pPr algn="l"/>
                      <a:r>
                        <a:rPr sz="1100" b="1">
                          <a:solidFill>
                            <a:srgbClr val="2E2E2E"/>
                          </a:solidFill>
                          <a:latin typeface="Calibri"/>
                        </a:rPr>
                        <a:t>Mexico</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bl>
          </a:graphicData>
        </a:graphic>
      </p:graphicFrame>
      <p:sp>
        <p:nvSpPr>
          <p:cNvPr id="9" name="TextBox 8"/>
          <p:cNvSpPr txBox="1"/>
          <p:nvPr/>
        </p:nvSpPr>
        <p:spPr>
          <a:xfrm>
            <a:off x="219075" y="255270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10" name="Rounded Rectangle 9"/>
          <p:cNvSpPr/>
          <p:nvPr/>
        </p:nvSpPr>
        <p:spPr>
          <a:xfrm>
            <a:off x="142875" y="2905125"/>
            <a:ext cx="11906250" cy="1790700"/>
          </a:xfrm>
          <a:prstGeom prst="roundRect">
            <a:avLst>
              <a:gd name="adj" fmla="val 4255"/>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152400" y="2981325"/>
          <a:ext cx="11887201" cy="1485896"/>
        </p:xfrm>
        <a:graphic>
          <a:graphicData uri="http://schemas.openxmlformats.org/drawingml/2006/table">
            <a:tbl>
              <a:tblPr>
                <a:tableStyleId>{5C22544A-7EE6-4342-B048-85BDC9FD1C3A}</a:tableStyleId>
              </a:tblPr>
              <a:tblGrid>
                <a:gridCol w="1943458"/>
                <a:gridCol w="3314581"/>
                <a:gridCol w="3314581"/>
                <a:gridCol w="3314581"/>
              </a:tblGrid>
              <a:tr h="246126">
                <a:tc>
                  <a:txBody>
                    <a:bodyPr wrap="none"/>
                    <a:lstStyle/>
                    <a:p>
                      <a:pPr algn="l"/>
                      <a:r>
                        <a:rPr sz="1100" b="1">
                          <a:solidFill>
                            <a:srgbClr val="0E2A5C"/>
                          </a:solidFill>
                          <a:latin typeface="Calibri"/>
                        </a:rPr>
                        <a:t>Country</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Absolute Index</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F-CAGR</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 Opp (US$ Mn)</a:t>
                      </a:r>
                      <a:endParaRPr sz="1100"/>
                    </a:p>
                  </a:txBody>
                  <a:tcPr marL="47625" marR="38100" marT="19050" marB="19050" anchor="ctr">
                    <a:solidFill>
                      <a:srgbClr val="EBF2F9"/>
                    </a:solidFill>
                  </a:tcPr>
                </a:tc>
              </a:tr>
              <a:tr h="247954">
                <a:tc>
                  <a:txBody>
                    <a:bodyPr wrap="none"/>
                    <a:lstStyle/>
                    <a:p>
                      <a:pPr algn="l"/>
                      <a:r>
                        <a:rPr sz="1100" b="1">
                          <a:solidFill>
                            <a:srgbClr val="2E2E2E"/>
                          </a:solidFill>
                          <a:latin typeface="Calibri"/>
                        </a:rPr>
                        <a:t>Brazil</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954">
                <a:tc>
                  <a:txBody>
                    <a:bodyPr wrap="none"/>
                    <a:lstStyle/>
                    <a:p>
                      <a:pPr algn="l"/>
                      <a:r>
                        <a:rPr sz="1100" b="1">
                          <a:solidFill>
                            <a:srgbClr val="2E2E2E"/>
                          </a:solidFill>
                          <a:latin typeface="Calibri"/>
                        </a:rPr>
                        <a:t>France</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7954">
                <a:tc>
                  <a:txBody>
                    <a:bodyPr wrap="none"/>
                    <a:lstStyle/>
                    <a:p>
                      <a:pPr algn="l"/>
                      <a:r>
                        <a:rPr sz="1100" b="1">
                          <a:solidFill>
                            <a:srgbClr val="2E2E2E"/>
                          </a:solidFill>
                          <a:latin typeface="Calibri"/>
                        </a:rPr>
                        <a:t>U.K.</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954">
                <a:tc>
                  <a:txBody>
                    <a:bodyPr wrap="none"/>
                    <a:lstStyle/>
                    <a:p>
                      <a:pPr algn="l"/>
                      <a:r>
                        <a:rPr sz="1100" b="1">
                          <a:solidFill>
                            <a:srgbClr val="2E2E2E"/>
                          </a:solidFill>
                          <a:latin typeface="Calibri"/>
                        </a:rPr>
                        <a:t>Japan</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7954">
                <a:tc>
                  <a:txBody>
                    <a:bodyPr wrap="none"/>
                    <a:lstStyle/>
                    <a:p>
                      <a:pPr algn="l"/>
                      <a:r>
                        <a:rPr sz="1100" b="1">
                          <a:solidFill>
                            <a:srgbClr val="2E2E2E"/>
                          </a:solidFill>
                          <a:latin typeface="Calibri"/>
                        </a:rPr>
                        <a:t>Thailand</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bl>
          </a:graphicData>
        </a:graphic>
      </p:graphicFrame>
      <p:sp>
        <p:nvSpPr>
          <p:cNvPr id="12" name="TextBox 11"/>
          <p:cNvSpPr txBox="1"/>
          <p:nvPr/>
        </p:nvSpPr>
        <p:spPr>
          <a:xfrm>
            <a:off x="219075" y="447675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13" name="Rectangle 12"/>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5" name="Picture 14" descr="lock.png"/>
          <p:cNvPicPr>
            <a:picLocks noChangeAspect="1"/>
          </p:cNvPicPr>
          <p:nvPr/>
        </p:nvPicPr>
        <p:blipFill>
          <a:blip r:embed="rId4"/>
          <a:stretch>
            <a:fillRect/>
          </a:stretch>
        </p:blipFill>
        <p:spPr>
          <a:xfrm>
            <a:off x="6906537" y="1656588"/>
            <a:ext cx="366712" cy="533400"/>
          </a:xfrm>
          <a:prstGeom prst="rect">
            <a:avLst/>
          </a:prstGeom>
        </p:spPr>
      </p:pic>
      <p:pic>
        <p:nvPicPr>
          <p:cNvPr id="16" name="Picture 15" descr="lock.png"/>
          <p:cNvPicPr>
            <a:picLocks noChangeAspect="1"/>
          </p:cNvPicPr>
          <p:nvPr/>
        </p:nvPicPr>
        <p:blipFill>
          <a:blip r:embed="rId4"/>
          <a:stretch>
            <a:fillRect/>
          </a:stretch>
        </p:blipFill>
        <p:spPr>
          <a:xfrm>
            <a:off x="6881039" y="3580638"/>
            <a:ext cx="366712" cy="533400"/>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Market Overview (1/4)</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Executive summary of market size, competitive landscape and the drivers, restraints and trends shaping demand</a:t>
            </a:r>
          </a:p>
        </p:txBody>
      </p:sp>
      <p:sp>
        <p:nvSpPr>
          <p:cNvPr id="7" name="Rounded Rectangle 6"/>
          <p:cNvSpPr/>
          <p:nvPr/>
        </p:nvSpPr>
        <p:spPr>
          <a:xfrm>
            <a:off x="142875" y="981075"/>
            <a:ext cx="11906250" cy="1685925"/>
          </a:xfrm>
          <a:prstGeom prst="roundRect">
            <a:avLst>
              <a:gd name="adj" fmla="val 451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6225" y="1066800"/>
            <a:ext cx="11639550" cy="209550"/>
          </a:xfrm>
          <a:prstGeom prst="rect">
            <a:avLst/>
          </a:prstGeom>
          <a:noFill/>
        </p:spPr>
        <p:txBody>
          <a:bodyPr wrap="square" lIns="0" rIns="19050" tIns="9525" bIns="9525">
            <a:spAutoFit/>
          </a:bodyPr>
          <a:lstStyle/>
          <a:p>
            <a:pPr algn="l"/>
            <a:r>
              <a:rPr sz="1300" b="1">
                <a:solidFill>
                  <a:srgbClr val="0E2A5C"/>
                </a:solidFill>
                <a:latin typeface="Calibri"/>
              </a:rPr>
              <a:t>Market Overview</a:t>
            </a:r>
          </a:p>
        </p:txBody>
      </p:sp>
      <p:sp>
        <p:nvSpPr>
          <p:cNvPr id="9" name="Rectangle 8"/>
          <p:cNvSpPr/>
          <p:nvPr/>
        </p:nvSpPr>
        <p:spPr>
          <a:xfrm>
            <a:off x="276225" y="1304925"/>
            <a:ext cx="116395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6225" y="1390650"/>
            <a:ext cx="11639550" cy="12001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1" name="Rounded Rectangle 10"/>
          <p:cNvSpPr/>
          <p:nvPr/>
        </p:nvSpPr>
        <p:spPr>
          <a:xfrm>
            <a:off x="142875" y="2800350"/>
            <a:ext cx="11906250" cy="1571625"/>
          </a:xfrm>
          <a:prstGeom prst="roundRect">
            <a:avLst>
              <a:gd name="adj" fmla="val 484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6225" y="2886075"/>
            <a:ext cx="11639550" cy="209550"/>
          </a:xfrm>
          <a:prstGeom prst="rect">
            <a:avLst/>
          </a:prstGeom>
          <a:noFill/>
        </p:spPr>
        <p:txBody>
          <a:bodyPr wrap="square" lIns="0" rIns="19050" tIns="9525" bIns="9525">
            <a:spAutoFit/>
          </a:bodyPr>
          <a:lstStyle/>
          <a:p>
            <a:pPr algn="l"/>
            <a:r>
              <a:rPr sz="1300" b="1">
                <a:solidFill>
                  <a:srgbClr val="0E2A5C"/>
                </a:solidFill>
                <a:latin typeface="Calibri"/>
              </a:rPr>
              <a:t>Competitive Landscape</a:t>
            </a:r>
          </a:p>
        </p:txBody>
      </p:sp>
      <p:sp>
        <p:nvSpPr>
          <p:cNvPr id="13" name="Rectangle 12"/>
          <p:cNvSpPr/>
          <p:nvPr/>
        </p:nvSpPr>
        <p:spPr>
          <a:xfrm>
            <a:off x="276225" y="3124200"/>
            <a:ext cx="116395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6225" y="3209925"/>
            <a:ext cx="11639550" cy="10858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p:txBody>
      </p:sp>
      <p:sp>
        <p:nvSpPr>
          <p:cNvPr id="15" name="Rounded Rectangle 14"/>
          <p:cNvSpPr/>
          <p:nvPr/>
        </p:nvSpPr>
        <p:spPr>
          <a:xfrm>
            <a:off x="142875" y="4505325"/>
            <a:ext cx="3943350" cy="2124075"/>
          </a:xfrm>
          <a:prstGeom prst="roundRect">
            <a:avLst>
              <a:gd name="adj" fmla="val 3587"/>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6225" y="4591050"/>
            <a:ext cx="3676650" cy="209550"/>
          </a:xfrm>
          <a:prstGeom prst="rect">
            <a:avLst/>
          </a:prstGeom>
          <a:noFill/>
        </p:spPr>
        <p:txBody>
          <a:bodyPr wrap="square" lIns="0" rIns="19050" tIns="9525" bIns="9525">
            <a:spAutoFit/>
          </a:bodyPr>
          <a:lstStyle/>
          <a:p>
            <a:pPr algn="l"/>
            <a:r>
              <a:rPr sz="1300" b="1">
                <a:solidFill>
                  <a:srgbClr val="0E2A5C"/>
                </a:solidFill>
                <a:latin typeface="Calibri"/>
              </a:rPr>
              <a:t>Drivers</a:t>
            </a:r>
          </a:p>
        </p:txBody>
      </p:sp>
      <p:sp>
        <p:nvSpPr>
          <p:cNvPr id="17" name="Rectangle 16"/>
          <p:cNvSpPr/>
          <p:nvPr/>
        </p:nvSpPr>
        <p:spPr>
          <a:xfrm>
            <a:off x="276225" y="4829175"/>
            <a:ext cx="36766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76225" y="4914900"/>
            <a:ext cx="3676650" cy="16383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p:txBody>
      </p:sp>
      <p:sp>
        <p:nvSpPr>
          <p:cNvPr id="19" name="Rounded Rectangle 18"/>
          <p:cNvSpPr/>
          <p:nvPr/>
        </p:nvSpPr>
        <p:spPr>
          <a:xfrm>
            <a:off x="4238625" y="4505325"/>
            <a:ext cx="3819525" cy="2124075"/>
          </a:xfrm>
          <a:prstGeom prst="roundRect">
            <a:avLst>
              <a:gd name="adj" fmla="val 3587"/>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371975" y="4591050"/>
            <a:ext cx="3552825" cy="209550"/>
          </a:xfrm>
          <a:prstGeom prst="rect">
            <a:avLst/>
          </a:prstGeom>
          <a:noFill/>
        </p:spPr>
        <p:txBody>
          <a:bodyPr wrap="square" lIns="0" rIns="19050" tIns="9525" bIns="9525">
            <a:spAutoFit/>
          </a:bodyPr>
          <a:lstStyle/>
          <a:p>
            <a:pPr algn="l"/>
            <a:r>
              <a:rPr sz="1300" b="1">
                <a:solidFill>
                  <a:srgbClr val="0E2A5C"/>
                </a:solidFill>
                <a:latin typeface="Calibri"/>
              </a:rPr>
              <a:t>Restraints</a:t>
            </a:r>
          </a:p>
        </p:txBody>
      </p:sp>
      <p:sp>
        <p:nvSpPr>
          <p:cNvPr id="21" name="Rectangle 20"/>
          <p:cNvSpPr/>
          <p:nvPr/>
        </p:nvSpPr>
        <p:spPr>
          <a:xfrm>
            <a:off x="4371975" y="4829175"/>
            <a:ext cx="3552825"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371975" y="4914900"/>
            <a:ext cx="3552825" cy="16383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p:txBody>
      </p:sp>
      <p:sp>
        <p:nvSpPr>
          <p:cNvPr id="23" name="Rounded Rectangle 22"/>
          <p:cNvSpPr/>
          <p:nvPr/>
        </p:nvSpPr>
        <p:spPr>
          <a:xfrm>
            <a:off x="8210550" y="4505325"/>
            <a:ext cx="3819525" cy="2124075"/>
          </a:xfrm>
          <a:prstGeom prst="roundRect">
            <a:avLst>
              <a:gd name="adj" fmla="val 3587"/>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343900" y="4591050"/>
            <a:ext cx="3552825" cy="209550"/>
          </a:xfrm>
          <a:prstGeom prst="rect">
            <a:avLst/>
          </a:prstGeom>
          <a:noFill/>
        </p:spPr>
        <p:txBody>
          <a:bodyPr wrap="square" lIns="0" rIns="19050" tIns="9525" bIns="9525">
            <a:spAutoFit/>
          </a:bodyPr>
          <a:lstStyle/>
          <a:p>
            <a:pPr algn="l"/>
            <a:r>
              <a:rPr sz="1300" b="1">
                <a:solidFill>
                  <a:srgbClr val="0E2A5C"/>
                </a:solidFill>
                <a:latin typeface="Calibri"/>
              </a:rPr>
              <a:t>Trends</a:t>
            </a:r>
          </a:p>
        </p:txBody>
      </p:sp>
      <p:sp>
        <p:nvSpPr>
          <p:cNvPr id="25" name="Rectangle 24"/>
          <p:cNvSpPr/>
          <p:nvPr/>
        </p:nvSpPr>
        <p:spPr>
          <a:xfrm>
            <a:off x="8343900" y="4829175"/>
            <a:ext cx="3552825"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343900" y="4914900"/>
            <a:ext cx="3552825" cy="16383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t>
            </a:r>
            <a:r>
              <a:rPr sz="1150" b="0">
                <a:solidFill>
                  <a:srgbClr val="2E2E2E"/>
                </a:solidFill>
                <a:latin typeface="Calibri"/>
              </a:rPr>
              <a:t>Mix shifting toward 'Hydrolyzed Eggshell Membrane' and higher-growth tiers.</a:t>
            </a:r>
          </a:p>
          <a:p>
            <a:pPr algn="l">
              <a:lnSpc>
                <a:spcPct val="110000"/>
              </a:lnSpc>
              <a:spcBef>
                <a:spcPts val="0"/>
              </a:spcBef>
              <a:spcAft>
                <a:spcPts val="500"/>
              </a:spcAft>
            </a:pPr>
            <a:r>
              <a:rPr sz="1100" b="0">
                <a:solidFill>
                  <a:srgbClr val="2A5F8F"/>
                </a:solidFill>
                <a:latin typeface="Calibri"/>
              </a:rPr>
              <a:t>▪  </a:t>
            </a:r>
            <a:r>
              <a:rPr sz="1150" b="0">
                <a:solidFill>
                  <a:srgbClr val="2E2E2E"/>
                </a:solidFill>
                <a:latin typeface="Calibri"/>
              </a:rPr>
              <a:t>South Asia &amp; Pacific outpacing the global average.</a:t>
            </a:r>
          </a:p>
          <a:p>
            <a:pPr algn="l">
              <a:lnSpc>
                <a:spcPct val="110000"/>
              </a:lnSpc>
              <a:spcBef>
                <a:spcPts val="0"/>
              </a:spcBef>
              <a:spcAft>
                <a:spcPts val="500"/>
              </a:spcAft>
            </a:pPr>
            <a:r>
              <a:rPr sz="1100" b="0">
                <a:solidFill>
                  <a:srgbClr val="2A5F8F"/>
                </a:solidFill>
                <a:latin typeface="Calibri"/>
              </a:rPr>
              <a:t>▪  </a:t>
            </a:r>
            <a:r>
              <a:rPr sz="1150" b="0">
                <a:solidFill>
                  <a:srgbClr val="2E2E2E"/>
                </a:solidFill>
                <a:latin typeface="Calibri"/>
              </a:rPr>
              <a:t>Demand broadening across 3 product type categories.</a:t>
            </a:r>
          </a:p>
        </p:txBody>
      </p:sp>
      <p:sp>
        <p:nvSpPr>
          <p:cNvPr id="27" name="Rectangle 26"/>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
        <p:nvSpPr>
          <p:cNvPr id="29" name="TextBox 28"/>
          <p:cNvSpPr txBox="1"/>
          <p:nvPr/>
        </p:nvSpPr>
        <p:spPr>
          <a:xfrm>
            <a:off x="276225" y="1400175"/>
            <a:ext cx="3663838" cy="194310"/>
          </a:xfrm>
          <a:prstGeom prst="rect">
            <a:avLst/>
          </a:prstGeom>
          <a:noFill/>
        </p:spPr>
        <p:txBody>
          <a:bodyPr wrap="none" lIns="0" rIns="0" tIns="0" bIns="0">
            <a:spAutoFit/>
          </a:bodyPr>
          <a:lstStyle/>
          <a:p>
            <a:r>
              <a:rPr sz="1150" b="0">
                <a:solidFill>
                  <a:srgbClr val="2E2E2E"/>
                </a:solidFill>
                <a:latin typeface="Calibri"/>
              </a:rPr>
              <a:t>Global egg protein membrane market is expected to witness</a:t>
            </a:r>
          </a:p>
        </p:txBody>
      </p:sp>
      <p:pic>
        <p:nvPicPr>
          <p:cNvPr id="30" name="Picture 29" descr="lock.png"/>
          <p:cNvPicPr>
            <a:picLocks noChangeAspect="1"/>
          </p:cNvPicPr>
          <p:nvPr/>
        </p:nvPicPr>
        <p:blipFill>
          <a:blip r:embed="rId4"/>
          <a:stretch>
            <a:fillRect/>
          </a:stretch>
        </p:blipFill>
        <p:spPr>
          <a:xfrm>
            <a:off x="3889217" y="1389951"/>
            <a:ext cx="134549" cy="195707"/>
          </a:xfrm>
          <a:prstGeom prst="rect">
            <a:avLst/>
          </a:prstGeom>
        </p:spPr>
      </p:pic>
      <p:sp>
        <p:nvSpPr>
          <p:cNvPr id="31" name="TextBox 30"/>
          <p:cNvSpPr txBox="1"/>
          <p:nvPr/>
        </p:nvSpPr>
        <p:spPr>
          <a:xfrm>
            <a:off x="4064326" y="1400175"/>
            <a:ext cx="5552504" cy="194310"/>
          </a:xfrm>
          <a:prstGeom prst="rect">
            <a:avLst/>
          </a:prstGeom>
          <a:noFill/>
        </p:spPr>
        <p:txBody>
          <a:bodyPr wrap="none" lIns="0" rIns="0" tIns="0" bIns="0">
            <a:spAutoFit/>
          </a:bodyPr>
          <a:lstStyle/>
          <a:p>
            <a:r>
              <a:rPr sz="1150" b="0">
                <a:solidFill>
                  <a:srgbClr val="2E2E2E"/>
                </a:solidFill>
                <a:latin typeface="Calibri"/>
              </a:rPr>
              <a:t>X increase in revenue by 2036 end. Global egg protein membrane market accounted for US$</a:t>
            </a:r>
          </a:p>
        </p:txBody>
      </p:sp>
      <p:pic>
        <p:nvPicPr>
          <p:cNvPr id="32" name="Picture 31" descr="lock.png"/>
          <p:cNvPicPr>
            <a:picLocks noChangeAspect="1"/>
          </p:cNvPicPr>
          <p:nvPr/>
        </p:nvPicPr>
        <p:blipFill>
          <a:blip r:embed="rId4"/>
          <a:stretch>
            <a:fillRect/>
          </a:stretch>
        </p:blipFill>
        <p:spPr>
          <a:xfrm>
            <a:off x="9565985" y="1389951"/>
            <a:ext cx="134549" cy="195707"/>
          </a:xfrm>
          <a:prstGeom prst="rect">
            <a:avLst/>
          </a:prstGeom>
        </p:spPr>
      </p:pic>
      <p:sp>
        <p:nvSpPr>
          <p:cNvPr id="33" name="TextBox 32"/>
          <p:cNvSpPr txBox="1"/>
          <p:nvPr/>
        </p:nvSpPr>
        <p:spPr>
          <a:xfrm>
            <a:off x="9741094" y="1400175"/>
            <a:ext cx="2036179" cy="194310"/>
          </a:xfrm>
          <a:prstGeom prst="rect">
            <a:avLst/>
          </a:prstGeom>
          <a:noFill/>
        </p:spPr>
        <p:txBody>
          <a:bodyPr wrap="none" lIns="0" rIns="0" tIns="0" bIns="0">
            <a:spAutoFit/>
          </a:bodyPr>
          <a:lstStyle/>
          <a:p>
            <a:r>
              <a:rPr sz="1150" b="0">
                <a:solidFill>
                  <a:srgbClr val="2E2E2E"/>
                </a:solidFill>
                <a:latin typeface="Calibri"/>
              </a:rPr>
              <a:t>Mn in 2025, which is expected to</a:t>
            </a:r>
          </a:p>
        </p:txBody>
      </p:sp>
      <p:sp>
        <p:nvSpPr>
          <p:cNvPr id="34" name="TextBox 33"/>
          <p:cNvSpPr txBox="1"/>
          <p:nvPr/>
        </p:nvSpPr>
        <p:spPr>
          <a:xfrm>
            <a:off x="276225" y="1575435"/>
            <a:ext cx="999281" cy="194310"/>
          </a:xfrm>
          <a:prstGeom prst="rect">
            <a:avLst/>
          </a:prstGeom>
          <a:noFill/>
        </p:spPr>
        <p:txBody>
          <a:bodyPr wrap="none" lIns="0" rIns="0" tIns="0" bIns="0">
            <a:spAutoFit/>
          </a:bodyPr>
          <a:lstStyle/>
          <a:p>
            <a:r>
              <a:rPr sz="1150" b="0">
                <a:solidFill>
                  <a:srgbClr val="2E2E2E"/>
                </a:solidFill>
                <a:latin typeface="Calibri"/>
              </a:rPr>
              <a:t>increase to US$</a:t>
            </a:r>
          </a:p>
        </p:txBody>
      </p:sp>
      <p:pic>
        <p:nvPicPr>
          <p:cNvPr id="35" name="Picture 34" descr="lock.png"/>
          <p:cNvPicPr>
            <a:picLocks noChangeAspect="1"/>
          </p:cNvPicPr>
          <p:nvPr/>
        </p:nvPicPr>
        <p:blipFill>
          <a:blip r:embed="rId4"/>
          <a:stretch>
            <a:fillRect/>
          </a:stretch>
        </p:blipFill>
        <p:spPr>
          <a:xfrm>
            <a:off x="1224660" y="1565211"/>
            <a:ext cx="134549" cy="195707"/>
          </a:xfrm>
          <a:prstGeom prst="rect">
            <a:avLst/>
          </a:prstGeom>
        </p:spPr>
      </p:pic>
      <p:sp>
        <p:nvSpPr>
          <p:cNvPr id="36" name="TextBox 35"/>
          <p:cNvSpPr txBox="1"/>
          <p:nvPr/>
        </p:nvSpPr>
        <p:spPr>
          <a:xfrm>
            <a:off x="1399769" y="1575435"/>
            <a:ext cx="1527554" cy="194310"/>
          </a:xfrm>
          <a:prstGeom prst="rect">
            <a:avLst/>
          </a:prstGeom>
          <a:noFill/>
        </p:spPr>
        <p:txBody>
          <a:bodyPr wrap="none" lIns="0" rIns="0" tIns="0" bIns="0">
            <a:spAutoFit/>
          </a:bodyPr>
          <a:lstStyle/>
          <a:p>
            <a:r>
              <a:rPr sz="1150" b="0">
                <a:solidFill>
                  <a:srgbClr val="2E2E2E"/>
                </a:solidFill>
                <a:latin typeface="Calibri"/>
              </a:rPr>
              <a:t>Mn in 2036 at a CAGR of</a:t>
            </a:r>
          </a:p>
        </p:txBody>
      </p:sp>
      <p:pic>
        <p:nvPicPr>
          <p:cNvPr id="37" name="Picture 36" descr="lock.png"/>
          <p:cNvPicPr>
            <a:picLocks noChangeAspect="1"/>
          </p:cNvPicPr>
          <p:nvPr/>
        </p:nvPicPr>
        <p:blipFill>
          <a:blip r:embed="rId4"/>
          <a:stretch>
            <a:fillRect/>
          </a:stretch>
        </p:blipFill>
        <p:spPr>
          <a:xfrm>
            <a:off x="2876477" y="1565211"/>
            <a:ext cx="134549" cy="195707"/>
          </a:xfrm>
          <a:prstGeom prst="rect">
            <a:avLst/>
          </a:prstGeom>
        </p:spPr>
      </p:pic>
      <p:sp>
        <p:nvSpPr>
          <p:cNvPr id="38" name="TextBox 37"/>
          <p:cNvSpPr txBox="1"/>
          <p:nvPr/>
        </p:nvSpPr>
        <p:spPr>
          <a:xfrm>
            <a:off x="3051587" y="1575435"/>
            <a:ext cx="112997" cy="194310"/>
          </a:xfrm>
          <a:prstGeom prst="rect">
            <a:avLst/>
          </a:prstGeom>
          <a:noFill/>
        </p:spPr>
        <p:txBody>
          <a:bodyPr wrap="none" lIns="0" rIns="0" tIns="0" bIns="0">
            <a:spAutoFit/>
          </a:bodyPr>
          <a:lstStyle/>
          <a:p>
            <a:r>
              <a:rPr sz="1150" b="0">
                <a:solidFill>
                  <a:srgbClr val="2E2E2E"/>
                </a:solidFill>
                <a:latin typeface="Calibri"/>
              </a:rPr>
              <a:t>.</a:t>
            </a:r>
          </a:p>
        </p:txBody>
      </p:sp>
      <p:sp>
        <p:nvSpPr>
          <p:cNvPr id="39" name="TextBox 38"/>
          <p:cNvSpPr txBox="1"/>
          <p:nvPr/>
        </p:nvSpPr>
        <p:spPr>
          <a:xfrm>
            <a:off x="276225" y="1803273"/>
            <a:ext cx="11608444" cy="194310"/>
          </a:xfrm>
          <a:prstGeom prst="rect">
            <a:avLst/>
          </a:prstGeom>
          <a:noFill/>
        </p:spPr>
        <p:txBody>
          <a:bodyPr wrap="none" lIns="0" rIns="0" tIns="0" bIns="0">
            <a:spAutoFit/>
          </a:bodyPr>
          <a:lstStyle/>
          <a:p>
            <a:r>
              <a:rPr sz="1150" b="0">
                <a:solidFill>
                  <a:srgbClr val="2E2E2E"/>
                </a:solidFill>
                <a:latin typeface="Calibri"/>
              </a:rPr>
              <a:t>The global egg protein membrane market has been analysed on the basis of product type, extraction / processing method, source and form across the globe. North America is expected to remain</a:t>
            </a:r>
          </a:p>
        </p:txBody>
      </p:sp>
      <p:sp>
        <p:nvSpPr>
          <p:cNvPr id="40" name="TextBox 39"/>
          <p:cNvSpPr txBox="1"/>
          <p:nvPr/>
        </p:nvSpPr>
        <p:spPr>
          <a:xfrm>
            <a:off x="276225" y="1978533"/>
            <a:ext cx="7826816" cy="194310"/>
          </a:xfrm>
          <a:prstGeom prst="rect">
            <a:avLst/>
          </a:prstGeom>
          <a:noFill/>
        </p:spPr>
        <p:txBody>
          <a:bodyPr wrap="none" lIns="0" rIns="0" tIns="0" bIns="0">
            <a:spAutoFit/>
          </a:bodyPr>
          <a:lstStyle/>
          <a:p>
            <a:r>
              <a:rPr sz="1150" b="0">
                <a:solidFill>
                  <a:srgbClr val="2E2E2E"/>
                </a:solidFill>
                <a:latin typeface="Calibri"/>
              </a:rPr>
              <a:t>the largest market for egg protein membrane, while demand in South Asia &amp; Pacific is projected to increase at the highest CAGR of</a:t>
            </a:r>
          </a:p>
        </p:txBody>
      </p:sp>
      <p:pic>
        <p:nvPicPr>
          <p:cNvPr id="41" name="Picture 40" descr="lock.png"/>
          <p:cNvPicPr>
            <a:picLocks noChangeAspect="1"/>
          </p:cNvPicPr>
          <p:nvPr/>
        </p:nvPicPr>
        <p:blipFill>
          <a:blip r:embed="rId4"/>
          <a:stretch>
            <a:fillRect/>
          </a:stretch>
        </p:blipFill>
        <p:spPr>
          <a:xfrm>
            <a:off x="8052194" y="1968309"/>
            <a:ext cx="134549" cy="195707"/>
          </a:xfrm>
          <a:prstGeom prst="rect">
            <a:avLst/>
          </a:prstGeom>
        </p:spPr>
      </p:pic>
      <p:sp>
        <p:nvSpPr>
          <p:cNvPr id="42" name="TextBox 41"/>
          <p:cNvSpPr txBox="1"/>
          <p:nvPr/>
        </p:nvSpPr>
        <p:spPr>
          <a:xfrm>
            <a:off x="8227304" y="1978533"/>
            <a:ext cx="1960872" cy="194310"/>
          </a:xfrm>
          <a:prstGeom prst="rect">
            <a:avLst/>
          </a:prstGeom>
          <a:noFill/>
        </p:spPr>
        <p:txBody>
          <a:bodyPr wrap="none" lIns="0" rIns="0" tIns="0" bIns="0">
            <a:spAutoFit/>
          </a:bodyPr>
          <a:lstStyle/>
          <a:p>
            <a:r>
              <a:rPr sz="1150" b="0">
                <a:solidFill>
                  <a:srgbClr val="2E2E2E"/>
                </a:solidFill>
                <a:latin typeface="Calibri"/>
              </a:rPr>
              <a:t>throughout the forecast period.</a:t>
            </a:r>
          </a:p>
        </p:txBody>
      </p:sp>
      <p:sp>
        <p:nvSpPr>
          <p:cNvPr id="43" name="TextBox 42"/>
          <p:cNvSpPr txBox="1"/>
          <p:nvPr/>
        </p:nvSpPr>
        <p:spPr>
          <a:xfrm>
            <a:off x="276225" y="3219450"/>
            <a:ext cx="6173787" cy="194310"/>
          </a:xfrm>
          <a:prstGeom prst="rect">
            <a:avLst/>
          </a:prstGeom>
          <a:noFill/>
        </p:spPr>
        <p:txBody>
          <a:bodyPr wrap="none" lIns="0" rIns="0" tIns="0" bIns="0">
            <a:spAutoFit/>
          </a:bodyPr>
          <a:lstStyle/>
          <a:p>
            <a:r>
              <a:rPr sz="1150" b="0">
                <a:solidFill>
                  <a:srgbClr val="2E2E2E"/>
                </a:solidFill>
                <a:latin typeface="Calibri"/>
              </a:rPr>
              <a:t>▪ The market is consolidated: the leading product type category 'Micronized Eggshell Membrane' holds</a:t>
            </a:r>
          </a:p>
        </p:txBody>
      </p:sp>
      <p:pic>
        <p:nvPicPr>
          <p:cNvPr id="44" name="Picture 43" descr="lock.png"/>
          <p:cNvPicPr>
            <a:picLocks noChangeAspect="1"/>
          </p:cNvPicPr>
          <p:nvPr/>
        </p:nvPicPr>
        <p:blipFill>
          <a:blip r:embed="rId4"/>
          <a:stretch>
            <a:fillRect/>
          </a:stretch>
        </p:blipFill>
        <p:spPr>
          <a:xfrm>
            <a:off x="6399166" y="3209226"/>
            <a:ext cx="134549" cy="195707"/>
          </a:xfrm>
          <a:prstGeom prst="rect">
            <a:avLst/>
          </a:prstGeom>
        </p:spPr>
      </p:pic>
      <p:sp>
        <p:nvSpPr>
          <p:cNvPr id="45" name="TextBox 44"/>
          <p:cNvSpPr txBox="1"/>
          <p:nvPr/>
        </p:nvSpPr>
        <p:spPr>
          <a:xfrm>
            <a:off x="6574275" y="3219450"/>
            <a:ext cx="916272" cy="194310"/>
          </a:xfrm>
          <a:prstGeom prst="rect">
            <a:avLst/>
          </a:prstGeom>
          <a:noFill/>
        </p:spPr>
        <p:txBody>
          <a:bodyPr wrap="none" lIns="0" rIns="0" tIns="0" bIns="0">
            <a:spAutoFit/>
          </a:bodyPr>
          <a:lstStyle/>
          <a:p>
            <a:r>
              <a:rPr sz="1150" b="0">
                <a:solidFill>
                  <a:srgbClr val="2E2E2E"/>
                </a:solidFill>
                <a:latin typeface="Calibri"/>
              </a:rPr>
              <a:t>of 2036 value.</a:t>
            </a:r>
          </a:p>
        </p:txBody>
      </p:sp>
      <p:sp>
        <p:nvSpPr>
          <p:cNvPr id="46" name="TextBox 45"/>
          <p:cNvSpPr txBox="1"/>
          <p:nvPr/>
        </p:nvSpPr>
        <p:spPr>
          <a:xfrm>
            <a:off x="276225" y="3447287"/>
            <a:ext cx="4910968" cy="194310"/>
          </a:xfrm>
          <a:prstGeom prst="rect">
            <a:avLst/>
          </a:prstGeom>
          <a:noFill/>
        </p:spPr>
        <p:txBody>
          <a:bodyPr wrap="none" lIns="0" rIns="0" tIns="0" bIns="0">
            <a:spAutoFit/>
          </a:bodyPr>
          <a:lstStyle/>
          <a:p>
            <a:r>
              <a:rPr sz="1150" b="0">
                <a:solidFill>
                  <a:srgbClr val="2E2E2E"/>
                </a:solidFill>
                <a:latin typeface="Calibri"/>
              </a:rPr>
              <a:t>▪ Demand spans 6 regions and 8 segmentation lenses (3 product type categories).</a:t>
            </a:r>
          </a:p>
        </p:txBody>
      </p:sp>
      <p:sp>
        <p:nvSpPr>
          <p:cNvPr id="47" name="TextBox 46"/>
          <p:cNvSpPr txBox="1"/>
          <p:nvPr/>
        </p:nvSpPr>
        <p:spPr>
          <a:xfrm>
            <a:off x="276225" y="3675125"/>
            <a:ext cx="2950988" cy="194310"/>
          </a:xfrm>
          <a:prstGeom prst="rect">
            <a:avLst/>
          </a:prstGeom>
          <a:noFill/>
        </p:spPr>
        <p:txBody>
          <a:bodyPr wrap="none" lIns="0" rIns="0" tIns="0" bIns="0">
            <a:spAutoFit/>
          </a:bodyPr>
          <a:lstStyle/>
          <a:p>
            <a:r>
              <a:rPr sz="1150" b="0">
                <a:solidFill>
                  <a:srgbClr val="2E2E2E"/>
                </a:solidFill>
                <a:latin typeface="Calibri"/>
              </a:rPr>
              <a:t>▪ North America is the largest regional market at</a:t>
            </a:r>
          </a:p>
        </p:txBody>
      </p:sp>
      <p:pic>
        <p:nvPicPr>
          <p:cNvPr id="48" name="Picture 47" descr="lock.png"/>
          <p:cNvPicPr>
            <a:picLocks noChangeAspect="1"/>
          </p:cNvPicPr>
          <p:nvPr/>
        </p:nvPicPr>
        <p:blipFill>
          <a:blip r:embed="rId4"/>
          <a:stretch>
            <a:fillRect/>
          </a:stretch>
        </p:blipFill>
        <p:spPr>
          <a:xfrm>
            <a:off x="3176367" y="3664902"/>
            <a:ext cx="134549" cy="195707"/>
          </a:xfrm>
          <a:prstGeom prst="rect">
            <a:avLst/>
          </a:prstGeom>
        </p:spPr>
      </p:pic>
      <p:sp>
        <p:nvSpPr>
          <p:cNvPr id="49" name="TextBox 48"/>
          <p:cNvSpPr txBox="1"/>
          <p:nvPr/>
        </p:nvSpPr>
        <p:spPr>
          <a:xfrm>
            <a:off x="3351477" y="3675125"/>
            <a:ext cx="916272" cy="194310"/>
          </a:xfrm>
          <a:prstGeom prst="rect">
            <a:avLst/>
          </a:prstGeom>
          <a:noFill/>
        </p:spPr>
        <p:txBody>
          <a:bodyPr wrap="none" lIns="0" rIns="0" tIns="0" bIns="0">
            <a:spAutoFit/>
          </a:bodyPr>
          <a:lstStyle/>
          <a:p>
            <a:r>
              <a:rPr sz="1150" b="0">
                <a:solidFill>
                  <a:srgbClr val="2E2E2E"/>
                </a:solidFill>
                <a:latin typeface="Calibri"/>
              </a:rPr>
              <a:t>of 2036 value.</a:t>
            </a:r>
          </a:p>
        </p:txBody>
      </p:sp>
      <p:sp>
        <p:nvSpPr>
          <p:cNvPr id="50" name="TextBox 49"/>
          <p:cNvSpPr txBox="1"/>
          <p:nvPr/>
        </p:nvSpPr>
        <p:spPr>
          <a:xfrm>
            <a:off x="276225" y="4924425"/>
            <a:ext cx="3473574" cy="194310"/>
          </a:xfrm>
          <a:prstGeom prst="rect">
            <a:avLst/>
          </a:prstGeom>
          <a:noFill/>
        </p:spPr>
        <p:txBody>
          <a:bodyPr wrap="none" lIns="0" rIns="0" tIns="0" bIns="0">
            <a:spAutoFit/>
          </a:bodyPr>
          <a:lstStyle/>
          <a:p>
            <a:r>
              <a:rPr sz="1150" b="0">
                <a:solidFill>
                  <a:srgbClr val="2E2E2E"/>
                </a:solidFill>
                <a:latin typeface="Calibri"/>
              </a:rPr>
              <a:t>▪ Accelerating uptake of 'Hydrolyzed Eggshell Membrane'</a:t>
            </a:r>
          </a:p>
        </p:txBody>
      </p:sp>
      <p:sp>
        <p:nvSpPr>
          <p:cNvPr id="51" name="TextBox 50"/>
          <p:cNvSpPr txBox="1"/>
          <p:nvPr/>
        </p:nvSpPr>
        <p:spPr>
          <a:xfrm>
            <a:off x="276225" y="5099685"/>
            <a:ext cx="120414" cy="194310"/>
          </a:xfrm>
          <a:prstGeom prst="rect">
            <a:avLst/>
          </a:prstGeom>
          <a:noFill/>
        </p:spPr>
        <p:txBody>
          <a:bodyPr wrap="none" lIns="0" rIns="0" tIns="0" bIns="0">
            <a:spAutoFit/>
          </a:bodyPr>
          <a:lstStyle/>
          <a:p>
            <a:r>
              <a:rPr sz="1150" b="0">
                <a:solidFill>
                  <a:srgbClr val="2E2E2E"/>
                </a:solidFill>
                <a:latin typeface="Calibri"/>
              </a:rPr>
              <a:t>(</a:t>
            </a:r>
          </a:p>
        </p:txBody>
      </p:sp>
      <p:pic>
        <p:nvPicPr>
          <p:cNvPr id="52" name="Picture 51" descr="lock.png"/>
          <p:cNvPicPr>
            <a:picLocks noChangeAspect="1"/>
          </p:cNvPicPr>
          <p:nvPr/>
        </p:nvPicPr>
        <p:blipFill>
          <a:blip r:embed="rId4"/>
          <a:stretch>
            <a:fillRect/>
          </a:stretch>
        </p:blipFill>
        <p:spPr>
          <a:xfrm>
            <a:off x="345793" y="5089461"/>
            <a:ext cx="134549" cy="195707"/>
          </a:xfrm>
          <a:prstGeom prst="rect">
            <a:avLst/>
          </a:prstGeom>
        </p:spPr>
      </p:pic>
      <p:sp>
        <p:nvSpPr>
          <p:cNvPr id="53" name="TextBox 52"/>
          <p:cNvSpPr txBox="1"/>
          <p:nvPr/>
        </p:nvSpPr>
        <p:spPr>
          <a:xfrm>
            <a:off x="520902" y="5099685"/>
            <a:ext cx="490941" cy="194310"/>
          </a:xfrm>
          <a:prstGeom prst="rect">
            <a:avLst/>
          </a:prstGeom>
          <a:noFill/>
        </p:spPr>
        <p:txBody>
          <a:bodyPr wrap="none" lIns="0" rIns="0" tIns="0" bIns="0">
            <a:spAutoFit/>
          </a:bodyPr>
          <a:lstStyle/>
          <a:p>
            <a:r>
              <a:rPr sz="1150" b="0">
                <a:solidFill>
                  <a:srgbClr val="2E2E2E"/>
                </a:solidFill>
                <a:latin typeface="Calibri"/>
              </a:rPr>
              <a:t>CAGR).</a:t>
            </a:r>
          </a:p>
        </p:txBody>
      </p:sp>
      <p:sp>
        <p:nvSpPr>
          <p:cNvPr id="54" name="TextBox 53"/>
          <p:cNvSpPr txBox="1"/>
          <p:nvPr/>
        </p:nvSpPr>
        <p:spPr>
          <a:xfrm>
            <a:off x="276225" y="5327522"/>
            <a:ext cx="2877045" cy="194310"/>
          </a:xfrm>
          <a:prstGeom prst="rect">
            <a:avLst/>
          </a:prstGeom>
          <a:noFill/>
        </p:spPr>
        <p:txBody>
          <a:bodyPr wrap="none" lIns="0" rIns="0" tIns="0" bIns="0">
            <a:spAutoFit/>
          </a:bodyPr>
          <a:lstStyle/>
          <a:p>
            <a:r>
              <a:rPr sz="1150" b="0">
                <a:solidFill>
                  <a:srgbClr val="2E2E2E"/>
                </a:solidFill>
                <a:latin typeface="Calibri"/>
              </a:rPr>
              <a:t>▪ Fast-growing demand in South Asia &amp; Pacific (</a:t>
            </a:r>
          </a:p>
        </p:txBody>
      </p:sp>
      <p:pic>
        <p:nvPicPr>
          <p:cNvPr id="55" name="Picture 54" descr="lock.png"/>
          <p:cNvPicPr>
            <a:picLocks noChangeAspect="1"/>
          </p:cNvPicPr>
          <p:nvPr/>
        </p:nvPicPr>
        <p:blipFill>
          <a:blip r:embed="rId4"/>
          <a:stretch>
            <a:fillRect/>
          </a:stretch>
        </p:blipFill>
        <p:spPr>
          <a:xfrm>
            <a:off x="3102424" y="5317299"/>
            <a:ext cx="134549" cy="195707"/>
          </a:xfrm>
          <a:prstGeom prst="rect">
            <a:avLst/>
          </a:prstGeom>
        </p:spPr>
      </p:pic>
      <p:sp>
        <p:nvSpPr>
          <p:cNvPr id="56" name="TextBox 55"/>
          <p:cNvSpPr txBox="1"/>
          <p:nvPr/>
        </p:nvSpPr>
        <p:spPr>
          <a:xfrm>
            <a:off x="3277533" y="5327522"/>
            <a:ext cx="157212" cy="194310"/>
          </a:xfrm>
          <a:prstGeom prst="rect">
            <a:avLst/>
          </a:prstGeom>
          <a:noFill/>
        </p:spPr>
        <p:txBody>
          <a:bodyPr wrap="none" lIns="0" rIns="0" tIns="0" bIns="0">
            <a:spAutoFit/>
          </a:bodyPr>
          <a:lstStyle/>
          <a:p>
            <a:r>
              <a:rPr sz="1150" b="0">
                <a:solidFill>
                  <a:srgbClr val="2E2E2E"/>
                </a:solidFill>
                <a:latin typeface="Calibri"/>
              </a:rPr>
              <a:t>).</a:t>
            </a:r>
          </a:p>
        </p:txBody>
      </p:sp>
      <p:sp>
        <p:nvSpPr>
          <p:cNvPr id="57" name="TextBox 56"/>
          <p:cNvSpPr txBox="1"/>
          <p:nvPr/>
        </p:nvSpPr>
        <p:spPr>
          <a:xfrm>
            <a:off x="276225" y="5555360"/>
            <a:ext cx="3184865" cy="194310"/>
          </a:xfrm>
          <a:prstGeom prst="rect">
            <a:avLst/>
          </a:prstGeom>
          <a:noFill/>
        </p:spPr>
        <p:txBody>
          <a:bodyPr wrap="none" lIns="0" rIns="0" tIns="0" bIns="0">
            <a:spAutoFit/>
          </a:bodyPr>
          <a:lstStyle/>
          <a:p>
            <a:r>
              <a:rPr sz="1150" b="0">
                <a:solidFill>
                  <a:srgbClr val="2E2E2E"/>
                </a:solidFill>
                <a:latin typeface="Calibri"/>
              </a:rPr>
              <a:t>▪ Momentum in Functional Food &amp; Beverages within</a:t>
            </a:r>
          </a:p>
        </p:txBody>
      </p:sp>
      <p:sp>
        <p:nvSpPr>
          <p:cNvPr id="58" name="TextBox 57"/>
          <p:cNvSpPr txBox="1"/>
          <p:nvPr/>
        </p:nvSpPr>
        <p:spPr>
          <a:xfrm>
            <a:off x="276225" y="5730620"/>
            <a:ext cx="812440" cy="194310"/>
          </a:xfrm>
          <a:prstGeom prst="rect">
            <a:avLst/>
          </a:prstGeom>
          <a:noFill/>
        </p:spPr>
        <p:txBody>
          <a:bodyPr wrap="none" lIns="0" rIns="0" tIns="0" bIns="0">
            <a:spAutoFit/>
          </a:bodyPr>
          <a:lstStyle/>
          <a:p>
            <a:r>
              <a:rPr sz="1150" b="0">
                <a:solidFill>
                  <a:srgbClr val="2E2E2E"/>
                </a:solidFill>
                <a:latin typeface="Calibri"/>
              </a:rPr>
              <a:t>application (</a:t>
            </a:r>
          </a:p>
        </p:txBody>
      </p:sp>
      <p:pic>
        <p:nvPicPr>
          <p:cNvPr id="59" name="Picture 58" descr="lock.png"/>
          <p:cNvPicPr>
            <a:picLocks noChangeAspect="1"/>
          </p:cNvPicPr>
          <p:nvPr/>
        </p:nvPicPr>
        <p:blipFill>
          <a:blip r:embed="rId4"/>
          <a:stretch>
            <a:fillRect/>
          </a:stretch>
        </p:blipFill>
        <p:spPr>
          <a:xfrm>
            <a:off x="1037819" y="5720397"/>
            <a:ext cx="134549" cy="195707"/>
          </a:xfrm>
          <a:prstGeom prst="rect">
            <a:avLst/>
          </a:prstGeom>
        </p:spPr>
      </p:pic>
      <p:sp>
        <p:nvSpPr>
          <p:cNvPr id="60" name="TextBox 59"/>
          <p:cNvSpPr txBox="1"/>
          <p:nvPr/>
        </p:nvSpPr>
        <p:spPr>
          <a:xfrm>
            <a:off x="1212928" y="5730620"/>
            <a:ext cx="157212" cy="194310"/>
          </a:xfrm>
          <a:prstGeom prst="rect">
            <a:avLst/>
          </a:prstGeom>
          <a:noFill/>
        </p:spPr>
        <p:txBody>
          <a:bodyPr wrap="none" lIns="0" rIns="0" tIns="0" bIns="0">
            <a:spAutoFit/>
          </a:bodyPr>
          <a:lstStyle/>
          <a:p>
            <a:r>
              <a:rPr sz="1150" b="0">
                <a:solidFill>
                  <a:srgbClr val="2E2E2E"/>
                </a:solidFill>
                <a:latin typeface="Calibri"/>
              </a:rPr>
              <a:t>).</a:t>
            </a:r>
          </a:p>
        </p:txBody>
      </p:sp>
      <p:sp>
        <p:nvSpPr>
          <p:cNvPr id="61" name="TextBox 60"/>
          <p:cNvSpPr txBox="1"/>
          <p:nvPr/>
        </p:nvSpPr>
        <p:spPr>
          <a:xfrm>
            <a:off x="4371975" y="4924425"/>
            <a:ext cx="3109019" cy="194310"/>
          </a:xfrm>
          <a:prstGeom prst="rect">
            <a:avLst/>
          </a:prstGeom>
          <a:noFill/>
        </p:spPr>
        <p:txBody>
          <a:bodyPr wrap="none" lIns="0" rIns="0" tIns="0" bIns="0">
            <a:spAutoFit/>
          </a:bodyPr>
          <a:lstStyle/>
          <a:p>
            <a:r>
              <a:rPr sz="1150" b="0">
                <a:solidFill>
                  <a:srgbClr val="2E2E2E"/>
                </a:solidFill>
                <a:latin typeface="Calibri"/>
              </a:rPr>
              <a:t>▪ Slower momentum in 'Specialty Extracted Protein</a:t>
            </a:r>
          </a:p>
        </p:txBody>
      </p:sp>
      <p:sp>
        <p:nvSpPr>
          <p:cNvPr id="62" name="TextBox 61"/>
          <p:cNvSpPr txBox="1"/>
          <p:nvPr/>
        </p:nvSpPr>
        <p:spPr>
          <a:xfrm>
            <a:off x="4371975" y="5099685"/>
            <a:ext cx="729146" cy="194310"/>
          </a:xfrm>
          <a:prstGeom prst="rect">
            <a:avLst/>
          </a:prstGeom>
          <a:noFill/>
        </p:spPr>
        <p:txBody>
          <a:bodyPr wrap="none" lIns="0" rIns="0" tIns="0" bIns="0">
            <a:spAutoFit/>
          </a:bodyPr>
          <a:lstStyle/>
          <a:p>
            <a:r>
              <a:rPr sz="1150" b="0">
                <a:solidFill>
                  <a:srgbClr val="2E2E2E"/>
                </a:solidFill>
                <a:latin typeface="Calibri"/>
              </a:rPr>
              <a:t>Fractions' (</a:t>
            </a:r>
          </a:p>
        </p:txBody>
      </p:sp>
      <p:pic>
        <p:nvPicPr>
          <p:cNvPr id="63" name="Picture 62" descr="lock.png"/>
          <p:cNvPicPr>
            <a:picLocks noChangeAspect="1"/>
          </p:cNvPicPr>
          <p:nvPr/>
        </p:nvPicPr>
        <p:blipFill>
          <a:blip r:embed="rId4"/>
          <a:stretch>
            <a:fillRect/>
          </a:stretch>
        </p:blipFill>
        <p:spPr>
          <a:xfrm>
            <a:off x="5050275" y="5089461"/>
            <a:ext cx="134549" cy="195707"/>
          </a:xfrm>
          <a:prstGeom prst="rect">
            <a:avLst/>
          </a:prstGeom>
        </p:spPr>
      </p:pic>
      <p:sp>
        <p:nvSpPr>
          <p:cNvPr id="64" name="TextBox 63"/>
          <p:cNvSpPr txBox="1"/>
          <p:nvPr/>
        </p:nvSpPr>
        <p:spPr>
          <a:xfrm>
            <a:off x="5225384" y="5099685"/>
            <a:ext cx="157212" cy="194310"/>
          </a:xfrm>
          <a:prstGeom prst="rect">
            <a:avLst/>
          </a:prstGeom>
          <a:noFill/>
        </p:spPr>
        <p:txBody>
          <a:bodyPr wrap="none" lIns="0" rIns="0" tIns="0" bIns="0">
            <a:spAutoFit/>
          </a:bodyPr>
          <a:lstStyle/>
          <a:p>
            <a:r>
              <a:rPr sz="1150" b="0">
                <a:solidFill>
                  <a:srgbClr val="2E2E2E"/>
                </a:solidFill>
                <a:latin typeface="Calibri"/>
              </a:rPr>
              <a:t>).</a:t>
            </a:r>
          </a:p>
        </p:txBody>
      </p:sp>
      <p:sp>
        <p:nvSpPr>
          <p:cNvPr id="65" name="TextBox 64"/>
          <p:cNvSpPr txBox="1"/>
          <p:nvPr/>
        </p:nvSpPr>
        <p:spPr>
          <a:xfrm>
            <a:off x="4371975" y="5327522"/>
            <a:ext cx="3264197" cy="194310"/>
          </a:xfrm>
          <a:prstGeom prst="rect">
            <a:avLst/>
          </a:prstGeom>
          <a:noFill/>
        </p:spPr>
        <p:txBody>
          <a:bodyPr wrap="none" lIns="0" rIns="0" tIns="0" bIns="0">
            <a:spAutoFit/>
          </a:bodyPr>
          <a:lstStyle/>
          <a:p>
            <a:r>
              <a:rPr sz="1150" b="0">
                <a:solidFill>
                  <a:srgbClr val="2E2E2E"/>
                </a:solidFill>
                <a:latin typeface="Calibri"/>
              </a:rPr>
              <a:t>▪ Maturing demand in established categories caps the</a:t>
            </a:r>
          </a:p>
        </p:txBody>
      </p:sp>
      <p:sp>
        <p:nvSpPr>
          <p:cNvPr id="66" name="TextBox 65"/>
          <p:cNvSpPr txBox="1"/>
          <p:nvPr/>
        </p:nvSpPr>
        <p:spPr>
          <a:xfrm>
            <a:off x="4371975" y="5502782"/>
            <a:ext cx="562272" cy="194310"/>
          </a:xfrm>
          <a:prstGeom prst="rect">
            <a:avLst/>
          </a:prstGeom>
          <a:noFill/>
        </p:spPr>
        <p:txBody>
          <a:bodyPr wrap="none" lIns="0" rIns="0" tIns="0" bIns="0">
            <a:spAutoFit/>
          </a:bodyPr>
          <a:lstStyle/>
          <a:p>
            <a:r>
              <a:rPr sz="1150" b="0">
                <a:solidFill>
                  <a:srgbClr val="2E2E2E"/>
                </a:solidFill>
                <a:latin typeface="Calibri"/>
              </a:rPr>
              <a:t>blended</a:t>
            </a:r>
          </a:p>
        </p:txBody>
      </p:sp>
      <p:pic>
        <p:nvPicPr>
          <p:cNvPr id="67" name="Picture 66" descr="lock.png"/>
          <p:cNvPicPr>
            <a:picLocks noChangeAspect="1"/>
          </p:cNvPicPr>
          <p:nvPr/>
        </p:nvPicPr>
        <p:blipFill>
          <a:blip r:embed="rId4"/>
          <a:stretch>
            <a:fillRect/>
          </a:stretch>
        </p:blipFill>
        <p:spPr>
          <a:xfrm>
            <a:off x="4883401" y="5492559"/>
            <a:ext cx="134549" cy="195707"/>
          </a:xfrm>
          <a:prstGeom prst="rect">
            <a:avLst/>
          </a:prstGeom>
        </p:spPr>
      </p:pic>
      <p:sp>
        <p:nvSpPr>
          <p:cNvPr id="68" name="TextBox 67"/>
          <p:cNvSpPr txBox="1"/>
          <p:nvPr/>
        </p:nvSpPr>
        <p:spPr>
          <a:xfrm>
            <a:off x="5058510" y="5502782"/>
            <a:ext cx="446726" cy="194310"/>
          </a:xfrm>
          <a:prstGeom prst="rect">
            <a:avLst/>
          </a:prstGeom>
          <a:noFill/>
        </p:spPr>
        <p:txBody>
          <a:bodyPr wrap="none" lIns="0" rIns="0" tIns="0" bIns="0">
            <a:spAutoFit/>
          </a:bodyPr>
          <a:lstStyle/>
          <a:p>
            <a:r>
              <a:rPr sz="1150" b="0">
                <a:solidFill>
                  <a:srgbClr val="2E2E2E"/>
                </a:solidFill>
                <a:latin typeface="Calibri"/>
              </a:rPr>
              <a:t>CAGR.</a:t>
            </a:r>
          </a:p>
        </p:txBody>
      </p:sp>
      <p:sp>
        <p:nvSpPr>
          <p:cNvPr id="69" name="TextBox 68"/>
          <p:cNvSpPr txBox="1"/>
          <p:nvPr/>
        </p:nvSpPr>
        <p:spPr>
          <a:xfrm>
            <a:off x="4371975" y="5730620"/>
            <a:ext cx="3480990" cy="194310"/>
          </a:xfrm>
          <a:prstGeom prst="rect">
            <a:avLst/>
          </a:prstGeom>
          <a:noFill/>
        </p:spPr>
        <p:txBody>
          <a:bodyPr wrap="none" lIns="0" rIns="0" tIns="0" bIns="0">
            <a:spAutoFit/>
          </a:bodyPr>
          <a:lstStyle/>
          <a:p>
            <a:r>
              <a:rPr sz="1150" b="0">
                <a:solidFill>
                  <a:srgbClr val="2E2E2E"/>
                </a:solidFill>
                <a:latin typeface="Calibri"/>
              </a:rPr>
              <a:t>▪ Value concentration in 'Micronized Eggshell Membrane'</a:t>
            </a:r>
          </a:p>
        </p:txBody>
      </p:sp>
      <p:sp>
        <p:nvSpPr>
          <p:cNvPr id="70" name="TextBox 69"/>
          <p:cNvSpPr txBox="1"/>
          <p:nvPr/>
        </p:nvSpPr>
        <p:spPr>
          <a:xfrm>
            <a:off x="4371975" y="5905880"/>
            <a:ext cx="1978843" cy="194310"/>
          </a:xfrm>
          <a:prstGeom prst="rect">
            <a:avLst/>
          </a:prstGeom>
          <a:noFill/>
        </p:spPr>
        <p:txBody>
          <a:bodyPr wrap="none" lIns="0" rIns="0" tIns="0" bIns="0">
            <a:spAutoFit/>
          </a:bodyPr>
          <a:lstStyle/>
          <a:p>
            <a:r>
              <a:rPr sz="1150" b="0">
                <a:solidFill>
                  <a:srgbClr val="2E2E2E"/>
                </a:solidFill>
                <a:latin typeface="Calibri"/>
              </a:rPr>
              <a:t>raises barriers for new entrants.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Supply Side Trends</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Executive summary of recent developments, investments and R&amp;D activity shaping the supply side of the market</a:t>
            </a:r>
          </a:p>
        </p:txBody>
      </p:sp>
      <p:sp>
        <p:nvSpPr>
          <p:cNvPr id="7" name="Rounded Rectangle 6"/>
          <p:cNvSpPr/>
          <p:nvPr/>
        </p:nvSpPr>
        <p:spPr>
          <a:xfrm>
            <a:off x="142875" y="981075"/>
            <a:ext cx="5876925" cy="1733550"/>
          </a:xfrm>
          <a:prstGeom prst="roundRect">
            <a:avLst>
              <a:gd name="adj" fmla="val 4395"/>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6225" y="1066800"/>
            <a:ext cx="5610225" cy="209550"/>
          </a:xfrm>
          <a:prstGeom prst="rect">
            <a:avLst/>
          </a:prstGeom>
          <a:noFill/>
        </p:spPr>
        <p:txBody>
          <a:bodyPr wrap="square" lIns="0" rIns="19050" tIns="9525" bIns="9525">
            <a:spAutoFit/>
          </a:bodyPr>
          <a:lstStyle/>
          <a:p>
            <a:pPr algn="l"/>
            <a:r>
              <a:rPr sz="1300" b="1">
                <a:solidFill>
                  <a:srgbClr val="0E2A5C"/>
                </a:solidFill>
                <a:latin typeface="Calibri"/>
              </a:rPr>
              <a:t>Recent Developments &amp; Key Industry Activities</a:t>
            </a:r>
          </a:p>
        </p:txBody>
      </p:sp>
      <p:sp>
        <p:nvSpPr>
          <p:cNvPr id="9" name="Rectangle 8"/>
          <p:cNvSpPr/>
          <p:nvPr/>
        </p:nvSpPr>
        <p:spPr>
          <a:xfrm>
            <a:off x="276225" y="1304925"/>
            <a:ext cx="5610225"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6225" y="1390650"/>
            <a:ext cx="5610225" cy="124777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t>
            </a:r>
            <a:r>
              <a:rPr sz="1150" b="0">
                <a:solidFill>
                  <a:srgbClr val="2E2E2E"/>
                </a:solidFill>
                <a:latin typeface="Calibri"/>
              </a:rPr>
              <a:t>Capacity and product development are concentrating in 'Hydrolyzed Eggshell Membrane' and South Asia &amp; Pacific.</a:t>
            </a:r>
          </a:p>
          <a:p>
            <a:pPr algn="l">
              <a:lnSpc>
                <a:spcPct val="110000"/>
              </a:lnSpc>
              <a:spcBef>
                <a:spcPts val="0"/>
              </a:spcBef>
              <a:spcAft>
                <a:spcPts val="500"/>
              </a:spcAft>
            </a:pPr>
            <a:r>
              <a:rPr sz="1100" b="0">
                <a:solidFill>
                  <a:srgbClr val="2A5F8F"/>
                </a:solidFill>
                <a:latin typeface="Calibri"/>
              </a:rPr>
              <a:t>▪  </a:t>
            </a:r>
            <a:r>
              <a:rPr sz="1150" b="0">
                <a:solidFill>
                  <a:srgbClr val="2E2E2E"/>
                </a:solidFill>
                <a:latin typeface="Calibri"/>
              </a:rPr>
              <a:t>Portfolio expansion tracks the shift toward higher-growth product type categories.</a:t>
            </a:r>
          </a:p>
          <a:p>
            <a:pPr algn="l">
              <a:lnSpc>
                <a:spcPct val="110000"/>
              </a:lnSpc>
              <a:spcBef>
                <a:spcPts val="0"/>
              </a:spcBef>
              <a:spcAft>
                <a:spcPts val="500"/>
              </a:spcAft>
            </a:pPr>
            <a:r>
              <a:rPr sz="1100" b="0">
                <a:solidFill>
                  <a:srgbClr val="2A5F8F"/>
                </a:solidFill>
                <a:latin typeface="Calibri"/>
              </a:rPr>
              <a:t>▪  </a:t>
            </a:r>
            <a:r>
              <a:rPr sz="1150" b="0">
                <a:solidFill>
                  <a:srgbClr val="2E2E2E"/>
                </a:solidFill>
                <a:latin typeface="Calibri"/>
              </a:rPr>
              <a:t>Commercial focus is intensifying across North America and South Asia &amp; Pacific.</a:t>
            </a:r>
          </a:p>
        </p:txBody>
      </p:sp>
      <p:sp>
        <p:nvSpPr>
          <p:cNvPr id="11" name="Rounded Rectangle 10"/>
          <p:cNvSpPr/>
          <p:nvPr/>
        </p:nvSpPr>
        <p:spPr>
          <a:xfrm>
            <a:off x="6172200" y="981075"/>
            <a:ext cx="5876925" cy="1733550"/>
          </a:xfrm>
          <a:prstGeom prst="roundRect">
            <a:avLst>
              <a:gd name="adj" fmla="val 4395"/>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05550" y="1066800"/>
            <a:ext cx="5610225" cy="209550"/>
          </a:xfrm>
          <a:prstGeom prst="rect">
            <a:avLst/>
          </a:prstGeom>
          <a:noFill/>
        </p:spPr>
        <p:txBody>
          <a:bodyPr wrap="square" lIns="0" rIns="19050" tIns="9525" bIns="9525">
            <a:spAutoFit/>
          </a:bodyPr>
          <a:lstStyle/>
          <a:p>
            <a:pPr algn="l"/>
            <a:r>
              <a:rPr sz="1300" b="1">
                <a:solidFill>
                  <a:srgbClr val="0E2A5C"/>
                </a:solidFill>
                <a:latin typeface="Calibri"/>
              </a:rPr>
              <a:t>Key Insights</a:t>
            </a:r>
          </a:p>
        </p:txBody>
      </p:sp>
      <p:sp>
        <p:nvSpPr>
          <p:cNvPr id="13" name="Rectangle 12"/>
          <p:cNvSpPr/>
          <p:nvPr/>
        </p:nvSpPr>
        <p:spPr>
          <a:xfrm>
            <a:off x="6305550" y="1304925"/>
            <a:ext cx="5610225"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05550" y="1390650"/>
            <a:ext cx="5610225" cy="1247775"/>
          </a:xfrm>
          <a:prstGeom prst="rect">
            <a:avLst/>
          </a:prstGeom>
          <a:noFill/>
        </p:spPr>
        <p:txBody>
          <a:bodyPr wrap="square" lIns="0" rIns="19050" tIns="9525" bIns="9525">
            <a:spAutoFit/>
          </a:bodyPr>
          <a:lstStyle/>
          <a:p>
            <a:pPr algn="l">
              <a:lnSpc>
                <a:spcPct val="100000"/>
              </a:lnSpc>
              <a:spcBef>
                <a:spcPts val="0"/>
              </a:spcBef>
              <a:spcAft>
                <a:spcPts val="300"/>
              </a:spcAft>
            </a:pPr>
            <a:r>
              <a:rPr sz="1100" b="0">
                <a:solidFill>
                  <a:srgbClr val="2A5F8F"/>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2A5F8F"/>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2A5F8F"/>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2A5F8F"/>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2A5F8F"/>
                </a:solidFill>
                <a:latin typeface="Calibri"/>
              </a:rPr>
              <a:t/>
            </a:r>
            <a:r>
              <a:rPr sz="1100" b="0">
                <a:solidFill>
                  <a:srgbClr val="2E2E2E"/>
                </a:solidFill>
                <a:latin typeface="Calibri"/>
              </a:rPr>
              <a:t/>
            </a:r>
          </a:p>
        </p:txBody>
      </p:sp>
      <p:sp>
        <p:nvSpPr>
          <p:cNvPr id="15" name="Rounded Rectangle 14"/>
          <p:cNvSpPr/>
          <p:nvPr/>
        </p:nvSpPr>
        <p:spPr>
          <a:xfrm>
            <a:off x="142875" y="2847975"/>
            <a:ext cx="5876925" cy="1428750"/>
          </a:xfrm>
          <a:prstGeom prst="roundRect">
            <a:avLst>
              <a:gd name="adj" fmla="val 5333"/>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6225" y="2933700"/>
            <a:ext cx="5610225" cy="209550"/>
          </a:xfrm>
          <a:prstGeom prst="rect">
            <a:avLst/>
          </a:prstGeom>
          <a:noFill/>
        </p:spPr>
        <p:txBody>
          <a:bodyPr wrap="square" lIns="0" rIns="19050" tIns="9525" bIns="9525">
            <a:spAutoFit/>
          </a:bodyPr>
          <a:lstStyle/>
          <a:p>
            <a:pPr algn="l"/>
            <a:r>
              <a:rPr sz="1300" b="1">
                <a:solidFill>
                  <a:srgbClr val="0E2A5C"/>
                </a:solidFill>
                <a:latin typeface="Calibri"/>
              </a:rPr>
              <a:t>Strategic Acquisitions &amp; New Investments</a:t>
            </a:r>
          </a:p>
        </p:txBody>
      </p:sp>
      <p:sp>
        <p:nvSpPr>
          <p:cNvPr id="17" name="Rectangle 16"/>
          <p:cNvSpPr/>
          <p:nvPr/>
        </p:nvSpPr>
        <p:spPr>
          <a:xfrm>
            <a:off x="276225" y="3171825"/>
            <a:ext cx="5610225"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76225" y="3257550"/>
            <a:ext cx="5610225" cy="942975"/>
          </a:xfrm>
          <a:prstGeom prst="rect">
            <a:avLst/>
          </a:prstGeom>
          <a:noFill/>
        </p:spPr>
        <p:txBody>
          <a:bodyPr wrap="square" lIns="0" rIns="19050" tIns="9525" bIns="9525">
            <a:spAutoFit/>
          </a:bodyPr>
          <a:lstStyle/>
          <a:p>
            <a:pPr algn="l">
              <a:lnSpc>
                <a:spcPct val="100000"/>
              </a:lnSpc>
              <a:spcBef>
                <a:spcPts val="0"/>
              </a:spcBef>
              <a:spcAft>
                <a:spcPts val="300"/>
              </a:spcAft>
            </a:pPr>
            <a:r>
              <a:rPr sz="1100" b="0">
                <a:solidFill>
                  <a:srgbClr val="2A5F8F"/>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2A5F8F"/>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2A5F8F"/>
                </a:solidFill>
                <a:latin typeface="Calibri"/>
              </a:rPr>
              <a:t/>
            </a:r>
            <a:r>
              <a:rPr sz="1100" b="0">
                <a:solidFill>
                  <a:srgbClr val="2E2E2E"/>
                </a:solidFill>
                <a:latin typeface="Calibri"/>
              </a:rPr>
              <a:t/>
            </a:r>
          </a:p>
        </p:txBody>
      </p:sp>
      <p:sp>
        <p:nvSpPr>
          <p:cNvPr id="19" name="Rounded Rectangle 18"/>
          <p:cNvSpPr/>
          <p:nvPr/>
        </p:nvSpPr>
        <p:spPr>
          <a:xfrm>
            <a:off x="6172200" y="2847975"/>
            <a:ext cx="5876925" cy="1428750"/>
          </a:xfrm>
          <a:prstGeom prst="roundRect">
            <a:avLst>
              <a:gd name="adj" fmla="val 5333"/>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05550" y="2933700"/>
            <a:ext cx="5610225" cy="209550"/>
          </a:xfrm>
          <a:prstGeom prst="rect">
            <a:avLst/>
          </a:prstGeom>
          <a:noFill/>
        </p:spPr>
        <p:txBody>
          <a:bodyPr wrap="square" lIns="0" rIns="19050" tIns="9525" bIns="9525">
            <a:spAutoFit/>
          </a:bodyPr>
          <a:lstStyle/>
          <a:p>
            <a:pPr algn="l"/>
            <a:r>
              <a:rPr sz="1300" b="1">
                <a:solidFill>
                  <a:srgbClr val="0E2A5C"/>
                </a:solidFill>
                <a:latin typeface="Calibri"/>
              </a:rPr>
              <a:t>Substantial Investment in R&amp;D</a:t>
            </a:r>
          </a:p>
        </p:txBody>
      </p:sp>
      <p:sp>
        <p:nvSpPr>
          <p:cNvPr id="21" name="Rectangle 20"/>
          <p:cNvSpPr/>
          <p:nvPr/>
        </p:nvSpPr>
        <p:spPr>
          <a:xfrm>
            <a:off x="6305550" y="3171825"/>
            <a:ext cx="5610225"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05550" y="3257550"/>
            <a:ext cx="5610225" cy="942975"/>
          </a:xfrm>
          <a:prstGeom prst="rect">
            <a:avLst/>
          </a:prstGeom>
          <a:noFill/>
        </p:spPr>
        <p:txBody>
          <a:bodyPr wrap="square" lIns="0" rIns="19050" tIns="9525" bIns="9525">
            <a:spAutoFit/>
          </a:bodyPr>
          <a:lstStyle/>
          <a:p>
            <a:pPr algn="l">
              <a:lnSpc>
                <a:spcPct val="100000"/>
              </a:lnSpc>
              <a:spcBef>
                <a:spcPts val="0"/>
              </a:spcBef>
              <a:spcAft>
                <a:spcPts val="300"/>
              </a:spcAft>
            </a:pPr>
            <a:r>
              <a:rPr sz="1100" b="0">
                <a:solidFill>
                  <a:srgbClr val="2A5F8F"/>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2A5F8F"/>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2A5F8F"/>
                </a:solidFill>
                <a:latin typeface="Calibri"/>
              </a:rPr>
              <a:t/>
            </a:r>
            <a:r>
              <a:rPr sz="1100" b="0">
                <a:solidFill>
                  <a:srgbClr val="2E2E2E"/>
                </a:solidFill>
                <a:latin typeface="Calibri"/>
              </a:rPr>
              <a:t/>
            </a:r>
          </a:p>
        </p:txBody>
      </p:sp>
      <p:sp>
        <p:nvSpPr>
          <p:cNvPr id="23" name="Rounded Rectangle 22"/>
          <p:cNvSpPr/>
          <p:nvPr/>
        </p:nvSpPr>
        <p:spPr>
          <a:xfrm>
            <a:off x="142875" y="4410075"/>
            <a:ext cx="11906250" cy="2209800"/>
          </a:xfrm>
          <a:prstGeom prst="roundRect">
            <a:avLst>
              <a:gd name="adj" fmla="val 344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38125" y="4467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structure product type share (2036)</a:t>
            </a:r>
          </a:p>
        </p:txBody>
      </p:sp>
      <p:graphicFrame>
        <p:nvGraphicFramePr>
          <p:cNvPr id="25" name="Chart 24"/>
          <p:cNvGraphicFramePr>
            <a:graphicFrameLocks noGrp="1"/>
          </p:cNvGraphicFramePr>
          <p:nvPr/>
        </p:nvGraphicFramePr>
        <p:xfrm>
          <a:off x="238125" y="4695825"/>
          <a:ext cx="11715750" cy="1866900"/>
        </p:xfrm>
        <a:graphic>
          <a:graphicData uri="http://schemas.openxmlformats.org/drawingml/2006/chart">
            <c:chart xmlns:c="http://schemas.openxmlformats.org/drawingml/2006/chart" r:id="rId3"/>
          </a:graphicData>
        </a:graphic>
      </p:graphicFrame>
      <p:sp>
        <p:nvSpPr>
          <p:cNvPr id="26" name="TextBox 25"/>
          <p:cNvSpPr txBox="1"/>
          <p:nvPr/>
        </p:nvSpPr>
        <p:spPr>
          <a:xfrm>
            <a:off x="3892075" y="5514975"/>
            <a:ext cx="893125" cy="228600"/>
          </a:xfrm>
          <a:prstGeom prst="rect">
            <a:avLst/>
          </a:prstGeom>
          <a:noFill/>
        </p:spPr>
        <p:txBody>
          <a:bodyPr wrap="square" lIns="28575" rIns="28575" tIns="9525" bIns="9525" anchor="ctr">
            <a:spAutoFit/>
          </a:bodyPr>
          <a:lstStyle/>
          <a:p>
            <a:pPr algn="ctr"/>
            <a:r>
              <a:rPr sz="1300" b="1">
                <a:solidFill>
                  <a:srgbClr val="2E2E2E"/>
                </a:solidFill>
                <a:latin typeface="Calibri"/>
              </a:rPr>
              <a:t/>
            </a:r>
          </a:p>
        </p:txBody>
      </p:sp>
      <p:sp>
        <p:nvSpPr>
          <p:cNvPr id="27" name="Rectangle 26"/>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29" name="Picture 28" descr="lock.png"/>
          <p:cNvPicPr>
            <a:picLocks noChangeAspect="1"/>
          </p:cNvPicPr>
          <p:nvPr/>
        </p:nvPicPr>
        <p:blipFill>
          <a:blip r:embed="rId5"/>
          <a:stretch>
            <a:fillRect/>
          </a:stretch>
        </p:blipFill>
        <p:spPr>
          <a:xfrm>
            <a:off x="4143964" y="5349744"/>
            <a:ext cx="366052" cy="532439"/>
          </a:xfrm>
          <a:prstGeom prst="rect">
            <a:avLst/>
          </a:prstGeom>
        </p:spPr>
      </p:pic>
      <p:sp>
        <p:nvSpPr>
          <p:cNvPr id="30" name="TextBox 29"/>
          <p:cNvSpPr txBox="1"/>
          <p:nvPr/>
        </p:nvSpPr>
        <p:spPr>
          <a:xfrm>
            <a:off x="6305550" y="1400175"/>
            <a:ext cx="684113" cy="186689"/>
          </a:xfrm>
          <a:prstGeom prst="rect">
            <a:avLst/>
          </a:prstGeom>
          <a:noFill/>
        </p:spPr>
        <p:txBody>
          <a:bodyPr wrap="none" lIns="0" rIns="0" tIns="0" bIns="0">
            <a:spAutoFit/>
          </a:bodyPr>
          <a:lstStyle/>
          <a:p>
            <a:r>
              <a:rPr sz="1100" b="0">
                <a:solidFill>
                  <a:srgbClr val="2E2E2E"/>
                </a:solidFill>
                <a:latin typeface="Calibri"/>
              </a:rPr>
              <a:t>▪ 2026 size</a:t>
            </a:r>
          </a:p>
        </p:txBody>
      </p:sp>
      <p:pic>
        <p:nvPicPr>
          <p:cNvPr id="31" name="Picture 30" descr="lock.png"/>
          <p:cNvPicPr>
            <a:picLocks noChangeAspect="1"/>
          </p:cNvPicPr>
          <p:nvPr/>
        </p:nvPicPr>
        <p:blipFill>
          <a:blip r:embed="rId5"/>
          <a:stretch>
            <a:fillRect/>
          </a:stretch>
        </p:blipFill>
        <p:spPr>
          <a:xfrm>
            <a:off x="6937714" y="1390396"/>
            <a:ext cx="128699" cy="187198"/>
          </a:xfrm>
          <a:prstGeom prst="rect">
            <a:avLst/>
          </a:prstGeom>
        </p:spPr>
      </p:pic>
      <p:sp>
        <p:nvSpPr>
          <p:cNvPr id="32" name="TextBox 31"/>
          <p:cNvSpPr txBox="1"/>
          <p:nvPr/>
        </p:nvSpPr>
        <p:spPr>
          <a:xfrm>
            <a:off x="7105210" y="1400175"/>
            <a:ext cx="878383" cy="186689"/>
          </a:xfrm>
          <a:prstGeom prst="rect">
            <a:avLst/>
          </a:prstGeom>
          <a:noFill/>
        </p:spPr>
        <p:txBody>
          <a:bodyPr wrap="none" lIns="0" rIns="0" tIns="0" bIns="0">
            <a:spAutoFit/>
          </a:bodyPr>
          <a:lstStyle/>
          <a:p>
            <a:r>
              <a:rPr sz="1100" b="0">
                <a:solidFill>
                  <a:srgbClr val="2E2E2E"/>
                </a:solidFill>
                <a:latin typeface="Calibri"/>
              </a:rPr>
              <a:t>US$ Mn; 2036</a:t>
            </a:r>
          </a:p>
        </p:txBody>
      </p:sp>
      <p:pic>
        <p:nvPicPr>
          <p:cNvPr id="33" name="Picture 32" descr="lock.png"/>
          <p:cNvPicPr>
            <a:picLocks noChangeAspect="1"/>
          </p:cNvPicPr>
          <p:nvPr/>
        </p:nvPicPr>
        <p:blipFill>
          <a:blip r:embed="rId5"/>
          <a:stretch>
            <a:fillRect/>
          </a:stretch>
        </p:blipFill>
        <p:spPr>
          <a:xfrm>
            <a:off x="7931645" y="1390396"/>
            <a:ext cx="128699" cy="187198"/>
          </a:xfrm>
          <a:prstGeom prst="rect">
            <a:avLst/>
          </a:prstGeom>
        </p:spPr>
      </p:pic>
      <p:sp>
        <p:nvSpPr>
          <p:cNvPr id="34" name="TextBox 33"/>
          <p:cNvSpPr txBox="1"/>
          <p:nvPr/>
        </p:nvSpPr>
        <p:spPr>
          <a:xfrm>
            <a:off x="8099141" y="1400175"/>
            <a:ext cx="560784" cy="186689"/>
          </a:xfrm>
          <a:prstGeom prst="rect">
            <a:avLst/>
          </a:prstGeom>
          <a:noFill/>
        </p:spPr>
        <p:txBody>
          <a:bodyPr wrap="none" lIns="0" rIns="0" tIns="0" bIns="0">
            <a:spAutoFit/>
          </a:bodyPr>
          <a:lstStyle/>
          <a:p>
            <a:r>
              <a:rPr sz="1100" b="0">
                <a:solidFill>
                  <a:srgbClr val="2E2E2E"/>
                </a:solidFill>
                <a:latin typeface="Calibri"/>
              </a:rPr>
              <a:t>US$ Mn.</a:t>
            </a:r>
          </a:p>
        </p:txBody>
      </p:sp>
      <p:sp>
        <p:nvSpPr>
          <p:cNvPr id="35" name="TextBox 34"/>
          <p:cNvSpPr txBox="1"/>
          <p:nvPr/>
        </p:nvSpPr>
        <p:spPr>
          <a:xfrm>
            <a:off x="6305550" y="1618107"/>
            <a:ext cx="991842" cy="186689"/>
          </a:xfrm>
          <a:prstGeom prst="rect">
            <a:avLst/>
          </a:prstGeom>
          <a:noFill/>
        </p:spPr>
        <p:txBody>
          <a:bodyPr wrap="none" lIns="0" rIns="0" tIns="0" bIns="0">
            <a:spAutoFit/>
          </a:bodyPr>
          <a:lstStyle/>
          <a:p>
            <a:r>
              <a:rPr sz="1100" b="0">
                <a:solidFill>
                  <a:srgbClr val="2E2E2E"/>
                </a:solidFill>
                <a:latin typeface="Calibri"/>
              </a:rPr>
              <a:t>▪ Forecast CAGR</a:t>
            </a:r>
          </a:p>
        </p:txBody>
      </p:sp>
      <p:pic>
        <p:nvPicPr>
          <p:cNvPr id="36" name="Picture 35" descr="lock.png"/>
          <p:cNvPicPr>
            <a:picLocks noChangeAspect="1"/>
          </p:cNvPicPr>
          <p:nvPr/>
        </p:nvPicPr>
        <p:blipFill>
          <a:blip r:embed="rId5"/>
          <a:stretch>
            <a:fillRect/>
          </a:stretch>
        </p:blipFill>
        <p:spPr>
          <a:xfrm>
            <a:off x="7245444" y="1608328"/>
            <a:ext cx="128699" cy="187198"/>
          </a:xfrm>
          <a:prstGeom prst="rect">
            <a:avLst/>
          </a:prstGeom>
        </p:spPr>
      </p:pic>
      <p:sp>
        <p:nvSpPr>
          <p:cNvPr id="37" name="TextBox 36"/>
          <p:cNvSpPr txBox="1"/>
          <p:nvPr/>
        </p:nvSpPr>
        <p:spPr>
          <a:xfrm>
            <a:off x="7412940" y="1618107"/>
            <a:ext cx="833090" cy="186689"/>
          </a:xfrm>
          <a:prstGeom prst="rect">
            <a:avLst/>
          </a:prstGeom>
          <a:noFill/>
        </p:spPr>
        <p:txBody>
          <a:bodyPr wrap="none" lIns="0" rIns="0" tIns="0" bIns="0">
            <a:spAutoFit/>
          </a:bodyPr>
          <a:lstStyle/>
          <a:p>
            <a:r>
              <a:rPr sz="1100" b="0">
                <a:solidFill>
                  <a:srgbClr val="2E2E2E"/>
                </a:solidFill>
                <a:latin typeface="Calibri"/>
              </a:rPr>
              <a:t>(2026–2036).</a:t>
            </a:r>
          </a:p>
        </p:txBody>
      </p:sp>
      <p:sp>
        <p:nvSpPr>
          <p:cNvPr id="38" name="TextBox 37"/>
          <p:cNvSpPr txBox="1"/>
          <p:nvPr/>
        </p:nvSpPr>
        <p:spPr>
          <a:xfrm>
            <a:off x="6305550" y="1836039"/>
            <a:ext cx="2839640" cy="186689"/>
          </a:xfrm>
          <a:prstGeom prst="rect">
            <a:avLst/>
          </a:prstGeom>
          <a:noFill/>
        </p:spPr>
        <p:txBody>
          <a:bodyPr wrap="none" lIns="0" rIns="0" tIns="0" bIns="0">
            <a:spAutoFit/>
          </a:bodyPr>
          <a:lstStyle/>
          <a:p>
            <a:r>
              <a:rPr sz="1100" b="0">
                <a:solidFill>
                  <a:srgbClr val="2E2E2E"/>
                </a:solidFill>
                <a:latin typeface="Calibri"/>
              </a:rPr>
              <a:t>▪ Lead category 'Micronized Eggshell Membrane'</a:t>
            </a:r>
          </a:p>
        </p:txBody>
      </p:sp>
      <p:pic>
        <p:nvPicPr>
          <p:cNvPr id="39" name="Picture 38" descr="lock.png"/>
          <p:cNvPicPr>
            <a:picLocks noChangeAspect="1"/>
          </p:cNvPicPr>
          <p:nvPr/>
        </p:nvPicPr>
        <p:blipFill>
          <a:blip r:embed="rId5"/>
          <a:stretch>
            <a:fillRect/>
          </a:stretch>
        </p:blipFill>
        <p:spPr>
          <a:xfrm>
            <a:off x="9093242" y="1826260"/>
            <a:ext cx="128699" cy="187198"/>
          </a:xfrm>
          <a:prstGeom prst="rect">
            <a:avLst/>
          </a:prstGeom>
        </p:spPr>
      </p:pic>
      <p:sp>
        <p:nvSpPr>
          <p:cNvPr id="40" name="TextBox 39"/>
          <p:cNvSpPr txBox="1"/>
          <p:nvPr/>
        </p:nvSpPr>
        <p:spPr>
          <a:xfrm>
            <a:off x="9260738" y="1836039"/>
            <a:ext cx="543049" cy="186689"/>
          </a:xfrm>
          <a:prstGeom prst="rect">
            <a:avLst/>
          </a:prstGeom>
          <a:noFill/>
        </p:spPr>
        <p:txBody>
          <a:bodyPr wrap="none" lIns="0" rIns="0" tIns="0" bIns="0">
            <a:spAutoFit/>
          </a:bodyPr>
          <a:lstStyle/>
          <a:p>
            <a:r>
              <a:rPr sz="1100" b="0">
                <a:solidFill>
                  <a:srgbClr val="2E2E2E"/>
                </a:solidFill>
                <a:latin typeface="Calibri"/>
              </a:rPr>
              <a:t>of 2036.</a:t>
            </a:r>
          </a:p>
        </p:txBody>
      </p:sp>
      <p:sp>
        <p:nvSpPr>
          <p:cNvPr id="41" name="TextBox 40"/>
          <p:cNvSpPr txBox="1"/>
          <p:nvPr/>
        </p:nvSpPr>
        <p:spPr>
          <a:xfrm>
            <a:off x="6305550" y="2053970"/>
            <a:ext cx="1686297" cy="186689"/>
          </a:xfrm>
          <a:prstGeom prst="rect">
            <a:avLst/>
          </a:prstGeom>
          <a:noFill/>
        </p:spPr>
        <p:txBody>
          <a:bodyPr wrap="none" lIns="0" rIns="0" tIns="0" bIns="0">
            <a:spAutoFit/>
          </a:bodyPr>
          <a:lstStyle/>
          <a:p>
            <a:r>
              <a:rPr sz="1100" b="0">
                <a:solidFill>
                  <a:srgbClr val="2E2E2E"/>
                </a:solidFill>
                <a:latin typeface="Calibri"/>
              </a:rPr>
              <a:t>▪ Lead region North America</a:t>
            </a:r>
          </a:p>
        </p:txBody>
      </p:sp>
      <p:pic>
        <p:nvPicPr>
          <p:cNvPr id="42" name="Picture 41" descr="lock.png"/>
          <p:cNvPicPr>
            <a:picLocks noChangeAspect="1"/>
          </p:cNvPicPr>
          <p:nvPr/>
        </p:nvPicPr>
        <p:blipFill>
          <a:blip r:embed="rId5"/>
          <a:stretch>
            <a:fillRect/>
          </a:stretch>
        </p:blipFill>
        <p:spPr>
          <a:xfrm>
            <a:off x="7939898" y="2044192"/>
            <a:ext cx="128699" cy="187198"/>
          </a:xfrm>
          <a:prstGeom prst="rect">
            <a:avLst/>
          </a:prstGeom>
        </p:spPr>
      </p:pic>
      <p:sp>
        <p:nvSpPr>
          <p:cNvPr id="43" name="TextBox 42"/>
          <p:cNvSpPr txBox="1"/>
          <p:nvPr/>
        </p:nvSpPr>
        <p:spPr>
          <a:xfrm>
            <a:off x="8107394" y="2053970"/>
            <a:ext cx="111397" cy="186689"/>
          </a:xfrm>
          <a:prstGeom prst="rect">
            <a:avLst/>
          </a:prstGeom>
          <a:noFill/>
        </p:spPr>
        <p:txBody>
          <a:bodyPr wrap="none" lIns="0" rIns="0" tIns="0" bIns="0">
            <a:spAutoFit/>
          </a:bodyPr>
          <a:lstStyle/>
          <a:p>
            <a:r>
              <a:rPr sz="1100" b="0">
                <a:solidFill>
                  <a:srgbClr val="2E2E2E"/>
                </a:solidFill>
                <a:latin typeface="Calibri"/>
              </a:rPr>
              <a:t>.</a:t>
            </a:r>
          </a:p>
        </p:txBody>
      </p:sp>
      <p:sp>
        <p:nvSpPr>
          <p:cNvPr id="44" name="TextBox 43"/>
          <p:cNvSpPr txBox="1"/>
          <p:nvPr/>
        </p:nvSpPr>
        <p:spPr>
          <a:xfrm>
            <a:off x="6305550" y="2271903"/>
            <a:ext cx="1554782" cy="186689"/>
          </a:xfrm>
          <a:prstGeom prst="rect">
            <a:avLst/>
          </a:prstGeom>
          <a:noFill/>
        </p:spPr>
        <p:txBody>
          <a:bodyPr wrap="none" lIns="0" rIns="0" tIns="0" bIns="0">
            <a:spAutoFit/>
          </a:bodyPr>
          <a:lstStyle/>
          <a:p>
            <a:r>
              <a:rPr sz="1100" b="0">
                <a:solidFill>
                  <a:srgbClr val="2E2E2E"/>
                </a:solidFill>
                <a:latin typeface="Calibri"/>
              </a:rPr>
              <a:t>▪ Incremental opportunity</a:t>
            </a:r>
          </a:p>
        </p:txBody>
      </p:sp>
      <p:pic>
        <p:nvPicPr>
          <p:cNvPr id="45" name="Picture 44" descr="lock.png"/>
          <p:cNvPicPr>
            <a:picLocks noChangeAspect="1"/>
          </p:cNvPicPr>
          <p:nvPr/>
        </p:nvPicPr>
        <p:blipFill>
          <a:blip r:embed="rId5"/>
          <a:stretch>
            <a:fillRect/>
          </a:stretch>
        </p:blipFill>
        <p:spPr>
          <a:xfrm>
            <a:off x="7808384" y="2262124"/>
            <a:ext cx="128699" cy="187198"/>
          </a:xfrm>
          <a:prstGeom prst="rect">
            <a:avLst/>
          </a:prstGeom>
        </p:spPr>
      </p:pic>
      <p:sp>
        <p:nvSpPr>
          <p:cNvPr id="46" name="TextBox 45"/>
          <p:cNvSpPr txBox="1"/>
          <p:nvPr/>
        </p:nvSpPr>
        <p:spPr>
          <a:xfrm>
            <a:off x="7975880" y="2271903"/>
            <a:ext cx="560784" cy="186689"/>
          </a:xfrm>
          <a:prstGeom prst="rect">
            <a:avLst/>
          </a:prstGeom>
          <a:noFill/>
        </p:spPr>
        <p:txBody>
          <a:bodyPr wrap="none" lIns="0" rIns="0" tIns="0" bIns="0">
            <a:spAutoFit/>
          </a:bodyPr>
          <a:lstStyle/>
          <a:p>
            <a:r>
              <a:rPr sz="1100" b="0">
                <a:solidFill>
                  <a:srgbClr val="2E2E2E"/>
                </a:solidFill>
                <a:latin typeface="Calibri"/>
              </a:rPr>
              <a:t>US$ Mn.</a:t>
            </a:r>
          </a:p>
        </p:txBody>
      </p:sp>
      <p:sp>
        <p:nvSpPr>
          <p:cNvPr id="47" name="TextBox 46"/>
          <p:cNvSpPr txBox="1"/>
          <p:nvPr/>
        </p:nvSpPr>
        <p:spPr>
          <a:xfrm>
            <a:off x="276225" y="3267075"/>
            <a:ext cx="5143872" cy="186689"/>
          </a:xfrm>
          <a:prstGeom prst="rect">
            <a:avLst/>
          </a:prstGeom>
          <a:noFill/>
        </p:spPr>
        <p:txBody>
          <a:bodyPr wrap="none" lIns="0" rIns="0" tIns="0" bIns="0">
            <a:spAutoFit/>
          </a:bodyPr>
          <a:lstStyle/>
          <a:p>
            <a:r>
              <a:rPr sz="1100" b="0">
                <a:solidFill>
                  <a:srgbClr val="2E2E2E"/>
                </a:solidFill>
                <a:latin typeface="Calibri"/>
              </a:rPr>
              <a:t>▪ Investment is flowing toward the fastest-growing tier 'Hydrolyzed Eggshell Membrane' (</a:t>
            </a:r>
          </a:p>
        </p:txBody>
      </p:sp>
      <p:pic>
        <p:nvPicPr>
          <p:cNvPr id="48" name="Picture 47" descr="lock.png"/>
          <p:cNvPicPr>
            <a:picLocks noChangeAspect="1"/>
          </p:cNvPicPr>
          <p:nvPr/>
        </p:nvPicPr>
        <p:blipFill>
          <a:blip r:embed="rId5"/>
          <a:stretch>
            <a:fillRect/>
          </a:stretch>
        </p:blipFill>
        <p:spPr>
          <a:xfrm>
            <a:off x="5368148" y="3257296"/>
            <a:ext cx="128699" cy="187198"/>
          </a:xfrm>
          <a:prstGeom prst="rect">
            <a:avLst/>
          </a:prstGeom>
        </p:spPr>
      </p:pic>
      <p:sp>
        <p:nvSpPr>
          <p:cNvPr id="49" name="TextBox 48"/>
          <p:cNvSpPr txBox="1"/>
          <p:nvPr/>
        </p:nvSpPr>
        <p:spPr>
          <a:xfrm>
            <a:off x="5535644" y="3267075"/>
            <a:ext cx="153689" cy="186689"/>
          </a:xfrm>
          <a:prstGeom prst="rect">
            <a:avLst/>
          </a:prstGeom>
          <a:noFill/>
        </p:spPr>
        <p:txBody>
          <a:bodyPr wrap="none" lIns="0" rIns="0" tIns="0" bIns="0">
            <a:spAutoFit/>
          </a:bodyPr>
          <a:lstStyle/>
          <a:p>
            <a:r>
              <a:rPr sz="1100" b="0">
                <a:solidFill>
                  <a:srgbClr val="2E2E2E"/>
                </a:solidFill>
                <a:latin typeface="Calibri"/>
              </a:rPr>
              <a:t>).</a:t>
            </a:r>
          </a:p>
        </p:txBody>
      </p:sp>
      <p:sp>
        <p:nvSpPr>
          <p:cNvPr id="50" name="TextBox 49"/>
          <p:cNvSpPr txBox="1"/>
          <p:nvPr/>
        </p:nvSpPr>
        <p:spPr>
          <a:xfrm>
            <a:off x="276225" y="3485007"/>
            <a:ext cx="1351781" cy="186689"/>
          </a:xfrm>
          <a:prstGeom prst="rect">
            <a:avLst/>
          </a:prstGeom>
          <a:noFill/>
        </p:spPr>
        <p:txBody>
          <a:bodyPr wrap="none" lIns="0" rIns="0" tIns="0" bIns="0">
            <a:spAutoFit/>
          </a:bodyPr>
          <a:lstStyle/>
          <a:p>
            <a:r>
              <a:rPr sz="1100" b="0">
                <a:solidFill>
                  <a:srgbClr val="2E2E2E"/>
                </a:solidFill>
                <a:latin typeface="Calibri"/>
              </a:rPr>
              <a:t>▪ South Asia &amp; Pacific (</a:t>
            </a:r>
          </a:p>
        </p:txBody>
      </p:sp>
      <p:pic>
        <p:nvPicPr>
          <p:cNvPr id="51" name="Picture 50" descr="lock.png"/>
          <p:cNvPicPr>
            <a:picLocks noChangeAspect="1"/>
          </p:cNvPicPr>
          <p:nvPr/>
        </p:nvPicPr>
        <p:blipFill>
          <a:blip r:embed="rId5"/>
          <a:stretch>
            <a:fillRect/>
          </a:stretch>
        </p:blipFill>
        <p:spPr>
          <a:xfrm>
            <a:off x="1576057" y="3475228"/>
            <a:ext cx="128699" cy="187198"/>
          </a:xfrm>
          <a:prstGeom prst="rect">
            <a:avLst/>
          </a:prstGeom>
        </p:spPr>
      </p:pic>
      <p:sp>
        <p:nvSpPr>
          <p:cNvPr id="52" name="TextBox 51"/>
          <p:cNvSpPr txBox="1"/>
          <p:nvPr/>
        </p:nvSpPr>
        <p:spPr>
          <a:xfrm>
            <a:off x="1743553" y="3485007"/>
            <a:ext cx="2187525" cy="186689"/>
          </a:xfrm>
          <a:prstGeom prst="rect">
            <a:avLst/>
          </a:prstGeom>
          <a:noFill/>
        </p:spPr>
        <p:txBody>
          <a:bodyPr wrap="none" lIns="0" rIns="0" tIns="0" bIns="0">
            <a:spAutoFit/>
          </a:bodyPr>
          <a:lstStyle/>
          <a:p>
            <a:r>
              <a:rPr sz="1100" b="0">
                <a:solidFill>
                  <a:srgbClr val="2E2E2E"/>
                </a:solidFill>
                <a:latin typeface="Calibri"/>
              </a:rPr>
              <a:t>) is a priority region for new capacity.</a:t>
            </a:r>
          </a:p>
        </p:txBody>
      </p:sp>
      <p:sp>
        <p:nvSpPr>
          <p:cNvPr id="53" name="TextBox 52"/>
          <p:cNvSpPr txBox="1"/>
          <p:nvPr/>
        </p:nvSpPr>
        <p:spPr>
          <a:xfrm>
            <a:off x="276225" y="3702939"/>
            <a:ext cx="3719859" cy="186689"/>
          </a:xfrm>
          <a:prstGeom prst="rect">
            <a:avLst/>
          </a:prstGeom>
          <a:noFill/>
        </p:spPr>
        <p:txBody>
          <a:bodyPr wrap="none" lIns="0" rIns="0" tIns="0" bIns="0">
            <a:spAutoFit/>
          </a:bodyPr>
          <a:lstStyle/>
          <a:p>
            <a:r>
              <a:rPr sz="1100" b="0">
                <a:solidFill>
                  <a:srgbClr val="2E2E2E"/>
                </a:solidFill>
                <a:latin typeface="Calibri"/>
              </a:rPr>
              <a:t>▪ Scale players anchor around 'Micronized Eggshell Membrane' (</a:t>
            </a:r>
          </a:p>
        </p:txBody>
      </p:sp>
      <p:pic>
        <p:nvPicPr>
          <p:cNvPr id="54" name="Picture 53" descr="lock.png"/>
          <p:cNvPicPr>
            <a:picLocks noChangeAspect="1"/>
          </p:cNvPicPr>
          <p:nvPr/>
        </p:nvPicPr>
        <p:blipFill>
          <a:blip r:embed="rId5"/>
          <a:stretch>
            <a:fillRect/>
          </a:stretch>
        </p:blipFill>
        <p:spPr>
          <a:xfrm>
            <a:off x="3944136" y="3693160"/>
            <a:ext cx="128699" cy="187198"/>
          </a:xfrm>
          <a:prstGeom prst="rect">
            <a:avLst/>
          </a:prstGeom>
        </p:spPr>
      </p:pic>
      <p:sp>
        <p:nvSpPr>
          <p:cNvPr id="55" name="TextBox 54"/>
          <p:cNvSpPr txBox="1"/>
          <p:nvPr/>
        </p:nvSpPr>
        <p:spPr>
          <a:xfrm>
            <a:off x="4111632" y="3702939"/>
            <a:ext cx="466923" cy="186689"/>
          </a:xfrm>
          <a:prstGeom prst="rect">
            <a:avLst/>
          </a:prstGeom>
          <a:noFill/>
        </p:spPr>
        <p:txBody>
          <a:bodyPr wrap="none" lIns="0" rIns="0" tIns="0" bIns="0">
            <a:spAutoFit/>
          </a:bodyPr>
          <a:lstStyle/>
          <a:p>
            <a:r>
              <a:rPr sz="1100" b="0">
                <a:solidFill>
                  <a:srgbClr val="2E2E2E"/>
                </a:solidFill>
                <a:latin typeface="Calibri"/>
              </a:rPr>
              <a:t>share).</a:t>
            </a:r>
          </a:p>
        </p:txBody>
      </p:sp>
      <p:sp>
        <p:nvSpPr>
          <p:cNvPr id="56" name="TextBox 55"/>
          <p:cNvSpPr txBox="1"/>
          <p:nvPr/>
        </p:nvSpPr>
        <p:spPr>
          <a:xfrm>
            <a:off x="6305550" y="3267075"/>
            <a:ext cx="5540598" cy="186689"/>
          </a:xfrm>
          <a:prstGeom prst="rect">
            <a:avLst/>
          </a:prstGeom>
          <a:noFill/>
        </p:spPr>
        <p:txBody>
          <a:bodyPr wrap="none" lIns="0" rIns="0" tIns="0" bIns="0">
            <a:spAutoFit/>
          </a:bodyPr>
          <a:lstStyle/>
          <a:p>
            <a:r>
              <a:rPr sz="1100" b="0">
                <a:solidFill>
                  <a:srgbClr val="2E2E2E"/>
                </a:solidFill>
                <a:latin typeface="Calibri"/>
              </a:rPr>
              <a:t>▪ R&amp;D aligns with the migration to 'Hydrolyzed Eggshell Membrane' and adjacent premium tiers.</a:t>
            </a:r>
          </a:p>
        </p:txBody>
      </p:sp>
      <p:sp>
        <p:nvSpPr>
          <p:cNvPr id="57" name="TextBox 56"/>
          <p:cNvSpPr txBox="1"/>
          <p:nvPr/>
        </p:nvSpPr>
        <p:spPr>
          <a:xfrm>
            <a:off x="6305550" y="3485007"/>
            <a:ext cx="4406354" cy="186689"/>
          </a:xfrm>
          <a:prstGeom prst="rect">
            <a:avLst/>
          </a:prstGeom>
          <a:noFill/>
        </p:spPr>
        <p:txBody>
          <a:bodyPr wrap="none" lIns="0" rIns="0" tIns="0" bIns="0">
            <a:spAutoFit/>
          </a:bodyPr>
          <a:lstStyle/>
          <a:p>
            <a:r>
              <a:rPr sz="1100" b="0">
                <a:solidFill>
                  <a:srgbClr val="2E2E2E"/>
                </a:solidFill>
                <a:latin typeface="Calibri"/>
              </a:rPr>
              <a:t>▪ Development spend targets product type categories gaining share to 2036.</a:t>
            </a:r>
          </a:p>
        </p:txBody>
      </p:sp>
      <p:sp>
        <p:nvSpPr>
          <p:cNvPr id="58" name="TextBox 57"/>
          <p:cNvSpPr txBox="1"/>
          <p:nvPr/>
        </p:nvSpPr>
        <p:spPr>
          <a:xfrm>
            <a:off x="6305550" y="3702939"/>
            <a:ext cx="1594346" cy="186689"/>
          </a:xfrm>
          <a:prstGeom prst="rect">
            <a:avLst/>
          </a:prstGeom>
          <a:noFill/>
        </p:spPr>
        <p:txBody>
          <a:bodyPr wrap="none" lIns="0" rIns="0" tIns="0" bIns="0">
            <a:spAutoFit/>
          </a:bodyPr>
          <a:lstStyle/>
          <a:p>
            <a:r>
              <a:rPr sz="1100" b="0">
                <a:solidFill>
                  <a:srgbClr val="2E2E2E"/>
                </a:solidFill>
                <a:latin typeface="Calibri"/>
              </a:rPr>
              <a:t>▪ Innovation underpins the</a:t>
            </a:r>
          </a:p>
        </p:txBody>
      </p:sp>
      <p:pic>
        <p:nvPicPr>
          <p:cNvPr id="59" name="Picture 58" descr="lock.png"/>
          <p:cNvPicPr>
            <a:picLocks noChangeAspect="1"/>
          </p:cNvPicPr>
          <p:nvPr/>
        </p:nvPicPr>
        <p:blipFill>
          <a:blip r:embed="rId5"/>
          <a:stretch>
            <a:fillRect/>
          </a:stretch>
        </p:blipFill>
        <p:spPr>
          <a:xfrm>
            <a:off x="7847947" y="3693160"/>
            <a:ext cx="128699" cy="187198"/>
          </a:xfrm>
          <a:prstGeom prst="rect">
            <a:avLst/>
          </a:prstGeom>
        </p:spPr>
      </p:pic>
      <p:sp>
        <p:nvSpPr>
          <p:cNvPr id="60" name="TextBox 59"/>
          <p:cNvSpPr txBox="1"/>
          <p:nvPr/>
        </p:nvSpPr>
        <p:spPr>
          <a:xfrm>
            <a:off x="8015443" y="3702939"/>
            <a:ext cx="924478" cy="186689"/>
          </a:xfrm>
          <a:prstGeom prst="rect">
            <a:avLst/>
          </a:prstGeom>
          <a:noFill/>
        </p:spPr>
        <p:txBody>
          <a:bodyPr wrap="none" lIns="0" rIns="0" tIns="0" bIns="0">
            <a:spAutoFit/>
          </a:bodyPr>
          <a:lstStyle/>
          <a:p>
            <a:r>
              <a:rPr sz="1100" b="0">
                <a:solidFill>
                  <a:srgbClr val="2E2E2E"/>
                </a:solidFill>
                <a:latin typeface="Calibri"/>
              </a:rPr>
              <a:t>forecast CAGR.</a:t>
            </a:r>
          </a:p>
        </p:txBody>
      </p:sp>
      <p:sp>
        <p:nvSpPr>
          <p:cNvPr id="61" name="lockshield_25"/>
          <p:cNvSpPr/>
          <p:nvPr/>
        </p:nvSpPr>
        <p:spPr>
          <a:xfrm>
            <a:off x="238125" y="4695825"/>
            <a:ext cx="11715750" cy="18669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Analysis and Recommendation</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Executive summary of the market approach, differentiating strategy and TMR's analysis and recommendation</a:t>
            </a:r>
          </a:p>
        </p:txBody>
      </p:sp>
      <p:sp>
        <p:nvSpPr>
          <p:cNvPr id="7" name="Rounded Rectangle 6"/>
          <p:cNvSpPr/>
          <p:nvPr/>
        </p:nvSpPr>
        <p:spPr>
          <a:xfrm>
            <a:off x="142875" y="981075"/>
            <a:ext cx="5876925" cy="1685925"/>
          </a:xfrm>
          <a:prstGeom prst="roundRect">
            <a:avLst>
              <a:gd name="adj" fmla="val 451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6225" y="1066800"/>
            <a:ext cx="5610225" cy="209550"/>
          </a:xfrm>
          <a:prstGeom prst="rect">
            <a:avLst/>
          </a:prstGeom>
          <a:noFill/>
        </p:spPr>
        <p:txBody>
          <a:bodyPr wrap="square" lIns="0" rIns="19050" tIns="9525" bIns="9525">
            <a:spAutoFit/>
          </a:bodyPr>
          <a:lstStyle/>
          <a:p>
            <a:pPr algn="l"/>
            <a:r>
              <a:rPr sz="1300" b="1">
                <a:solidFill>
                  <a:srgbClr val="0E2A5C"/>
                </a:solidFill>
                <a:latin typeface="Calibri"/>
              </a:rPr>
              <a:t>Overall Market Approach</a:t>
            </a:r>
          </a:p>
        </p:txBody>
      </p:sp>
      <p:sp>
        <p:nvSpPr>
          <p:cNvPr id="9" name="Rectangle 8"/>
          <p:cNvSpPr/>
          <p:nvPr/>
        </p:nvSpPr>
        <p:spPr>
          <a:xfrm>
            <a:off x="276225" y="1304925"/>
            <a:ext cx="5610225"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6225" y="1390650"/>
            <a:ext cx="5610225" cy="12001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p:txBody>
      </p:sp>
      <p:sp>
        <p:nvSpPr>
          <p:cNvPr id="11" name="Rounded Rectangle 10"/>
          <p:cNvSpPr/>
          <p:nvPr/>
        </p:nvSpPr>
        <p:spPr>
          <a:xfrm>
            <a:off x="6172200" y="981075"/>
            <a:ext cx="5876925" cy="1685925"/>
          </a:xfrm>
          <a:prstGeom prst="roundRect">
            <a:avLst>
              <a:gd name="adj" fmla="val 451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05550" y="1066800"/>
            <a:ext cx="5610225" cy="209550"/>
          </a:xfrm>
          <a:prstGeom prst="rect">
            <a:avLst/>
          </a:prstGeom>
          <a:noFill/>
        </p:spPr>
        <p:txBody>
          <a:bodyPr wrap="square" lIns="0" rIns="19050" tIns="9525" bIns="9525">
            <a:spAutoFit/>
          </a:bodyPr>
          <a:lstStyle/>
          <a:p>
            <a:pPr algn="l"/>
            <a:r>
              <a:rPr sz="1300" b="1">
                <a:solidFill>
                  <a:srgbClr val="0E2A5C"/>
                </a:solidFill>
                <a:latin typeface="Calibri"/>
              </a:rPr>
              <a:t>Differentiating Strategy</a:t>
            </a:r>
          </a:p>
        </p:txBody>
      </p:sp>
      <p:sp>
        <p:nvSpPr>
          <p:cNvPr id="13" name="Rectangle 12"/>
          <p:cNvSpPr/>
          <p:nvPr/>
        </p:nvSpPr>
        <p:spPr>
          <a:xfrm>
            <a:off x="6305550" y="1304925"/>
            <a:ext cx="5610225"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05550" y="1390650"/>
            <a:ext cx="5610225" cy="12001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t>
            </a:r>
            <a:r>
              <a:rPr sz="1150" b="0">
                <a:solidFill>
                  <a:srgbClr val="2E2E2E"/>
                </a:solidFill>
                <a:latin typeface="Calibri"/>
              </a:rPr>
              <a:t>Differentiate through the high-growth 'Hydrolyzed Eggshell Membrane' tier and Functional Food &amp; Beverages within application.</a:t>
            </a:r>
          </a:p>
        </p:txBody>
      </p:sp>
      <p:sp>
        <p:nvSpPr>
          <p:cNvPr id="15" name="Rounded Rectangle 14"/>
          <p:cNvSpPr/>
          <p:nvPr/>
        </p:nvSpPr>
        <p:spPr>
          <a:xfrm>
            <a:off x="142875" y="2800350"/>
            <a:ext cx="5876925" cy="1685925"/>
          </a:xfrm>
          <a:prstGeom prst="roundRect">
            <a:avLst>
              <a:gd name="adj" fmla="val 451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6225" y="2886075"/>
            <a:ext cx="5610225" cy="209550"/>
          </a:xfrm>
          <a:prstGeom prst="rect">
            <a:avLst/>
          </a:prstGeom>
          <a:noFill/>
        </p:spPr>
        <p:txBody>
          <a:bodyPr wrap="square" lIns="0" rIns="19050" tIns="9525" bIns="9525">
            <a:spAutoFit/>
          </a:bodyPr>
          <a:lstStyle/>
          <a:p>
            <a:pPr algn="l"/>
            <a:r>
              <a:rPr sz="1300" b="1">
                <a:solidFill>
                  <a:srgbClr val="0E2A5C"/>
                </a:solidFill>
                <a:latin typeface="Calibri"/>
              </a:rPr>
              <a:t>Market Segment</a:t>
            </a:r>
          </a:p>
        </p:txBody>
      </p:sp>
      <p:sp>
        <p:nvSpPr>
          <p:cNvPr id="17" name="Rectangle 16"/>
          <p:cNvSpPr/>
          <p:nvPr/>
        </p:nvSpPr>
        <p:spPr>
          <a:xfrm>
            <a:off x="276225" y="3124200"/>
            <a:ext cx="5610225"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76225" y="3209925"/>
            <a:ext cx="5610225" cy="12001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p:txBody>
      </p:sp>
      <p:sp>
        <p:nvSpPr>
          <p:cNvPr id="19" name="Rounded Rectangle 18"/>
          <p:cNvSpPr/>
          <p:nvPr/>
        </p:nvSpPr>
        <p:spPr>
          <a:xfrm>
            <a:off x="6172200" y="2800350"/>
            <a:ext cx="5876925" cy="1685925"/>
          </a:xfrm>
          <a:prstGeom prst="roundRect">
            <a:avLst>
              <a:gd name="adj" fmla="val 451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05550" y="2886075"/>
            <a:ext cx="5610225" cy="209550"/>
          </a:xfrm>
          <a:prstGeom prst="rect">
            <a:avLst/>
          </a:prstGeom>
          <a:noFill/>
        </p:spPr>
        <p:txBody>
          <a:bodyPr wrap="square" lIns="0" rIns="19050" tIns="9525" bIns="9525">
            <a:spAutoFit/>
          </a:bodyPr>
          <a:lstStyle/>
          <a:p>
            <a:pPr algn="l"/>
            <a:r>
              <a:rPr sz="1300" b="1">
                <a:solidFill>
                  <a:srgbClr val="0E2A5C"/>
                </a:solidFill>
                <a:latin typeface="Calibri"/>
              </a:rPr>
              <a:t>Market Region</a:t>
            </a:r>
          </a:p>
        </p:txBody>
      </p:sp>
      <p:sp>
        <p:nvSpPr>
          <p:cNvPr id="21" name="Rectangle 20"/>
          <p:cNvSpPr/>
          <p:nvPr/>
        </p:nvSpPr>
        <p:spPr>
          <a:xfrm>
            <a:off x="6305550" y="3124200"/>
            <a:ext cx="5610225"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05550" y="3209925"/>
            <a:ext cx="5610225" cy="12001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p:txBody>
      </p:sp>
      <p:sp>
        <p:nvSpPr>
          <p:cNvPr id="23" name="Rounded Rectangle 22"/>
          <p:cNvSpPr/>
          <p:nvPr/>
        </p:nvSpPr>
        <p:spPr>
          <a:xfrm>
            <a:off x="142875" y="4619625"/>
            <a:ext cx="11906250" cy="2000250"/>
          </a:xfrm>
          <a:prstGeom prst="roundRect">
            <a:avLst>
              <a:gd name="adj" fmla="val 380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76225" y="4705350"/>
            <a:ext cx="11639550" cy="209550"/>
          </a:xfrm>
          <a:prstGeom prst="rect">
            <a:avLst/>
          </a:prstGeom>
          <a:noFill/>
        </p:spPr>
        <p:txBody>
          <a:bodyPr wrap="square" lIns="0" rIns="19050" tIns="9525" bIns="9525">
            <a:spAutoFit/>
          </a:bodyPr>
          <a:lstStyle/>
          <a:p>
            <a:pPr algn="l"/>
            <a:r>
              <a:rPr sz="1300" b="1">
                <a:solidFill>
                  <a:srgbClr val="0E2A5C"/>
                </a:solidFill>
                <a:latin typeface="Calibri"/>
              </a:rPr>
              <a:t>TMR Analysis &amp; Recommendation</a:t>
            </a:r>
          </a:p>
        </p:txBody>
      </p:sp>
      <p:sp>
        <p:nvSpPr>
          <p:cNvPr id="25" name="Rectangle 24"/>
          <p:cNvSpPr/>
          <p:nvPr/>
        </p:nvSpPr>
        <p:spPr>
          <a:xfrm>
            <a:off x="276225" y="4943475"/>
            <a:ext cx="116395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76225" y="5029200"/>
            <a:ext cx="11639550" cy="151447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p:txBody>
      </p:sp>
      <p:sp>
        <p:nvSpPr>
          <p:cNvPr id="27" name="Rectangle 26"/>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
        <p:nvSpPr>
          <p:cNvPr id="29" name="TextBox 28"/>
          <p:cNvSpPr txBox="1"/>
          <p:nvPr/>
        </p:nvSpPr>
        <p:spPr>
          <a:xfrm>
            <a:off x="276225" y="1400175"/>
            <a:ext cx="5248994" cy="194310"/>
          </a:xfrm>
          <a:prstGeom prst="rect">
            <a:avLst/>
          </a:prstGeom>
          <a:noFill/>
        </p:spPr>
        <p:txBody>
          <a:bodyPr wrap="none" lIns="0" rIns="0" tIns="0" bIns="0">
            <a:spAutoFit/>
          </a:bodyPr>
          <a:lstStyle/>
          <a:p>
            <a:r>
              <a:rPr sz="1150" b="0">
                <a:solidFill>
                  <a:srgbClr val="2E2E2E"/>
                </a:solidFill>
                <a:latin typeface="Calibri"/>
              </a:rPr>
              <a:t>▪ Balance scale in 'Micronized Eggshell Membrane' with targeted growth in 'Hydrolyzed</a:t>
            </a:r>
          </a:p>
        </p:txBody>
      </p:sp>
      <p:sp>
        <p:nvSpPr>
          <p:cNvPr id="30" name="TextBox 29"/>
          <p:cNvSpPr txBox="1"/>
          <p:nvPr/>
        </p:nvSpPr>
        <p:spPr>
          <a:xfrm>
            <a:off x="276225" y="1575435"/>
            <a:ext cx="2104355" cy="194310"/>
          </a:xfrm>
          <a:prstGeom prst="rect">
            <a:avLst/>
          </a:prstGeom>
          <a:noFill/>
        </p:spPr>
        <p:txBody>
          <a:bodyPr wrap="none" lIns="0" rIns="0" tIns="0" bIns="0">
            <a:spAutoFit/>
          </a:bodyPr>
          <a:lstStyle/>
          <a:p>
            <a:r>
              <a:rPr sz="1150" b="0">
                <a:solidFill>
                  <a:srgbClr val="2E2E2E"/>
                </a:solidFill>
                <a:latin typeface="Calibri"/>
              </a:rPr>
              <a:t>Eggshell Membrane', pursuing the</a:t>
            </a:r>
          </a:p>
        </p:txBody>
      </p:sp>
      <p:pic>
        <p:nvPicPr>
          <p:cNvPr id="31" name="Picture 30" descr="lock.png"/>
          <p:cNvPicPr>
            <a:picLocks noChangeAspect="1"/>
          </p:cNvPicPr>
          <p:nvPr/>
        </p:nvPicPr>
        <p:blipFill>
          <a:blip r:embed="rId4"/>
          <a:stretch>
            <a:fillRect/>
          </a:stretch>
        </p:blipFill>
        <p:spPr>
          <a:xfrm>
            <a:off x="2329734" y="1565211"/>
            <a:ext cx="134549" cy="195707"/>
          </a:xfrm>
          <a:prstGeom prst="rect">
            <a:avLst/>
          </a:prstGeom>
        </p:spPr>
      </p:pic>
      <p:sp>
        <p:nvSpPr>
          <p:cNvPr id="32" name="TextBox 31"/>
          <p:cNvSpPr txBox="1"/>
          <p:nvPr/>
        </p:nvSpPr>
        <p:spPr>
          <a:xfrm>
            <a:off x="2504843" y="1575435"/>
            <a:ext cx="1551800" cy="194310"/>
          </a:xfrm>
          <a:prstGeom prst="rect">
            <a:avLst/>
          </a:prstGeom>
          <a:noFill/>
        </p:spPr>
        <p:txBody>
          <a:bodyPr wrap="none" lIns="0" rIns="0" tIns="0" bIns="0">
            <a:spAutoFit/>
          </a:bodyPr>
          <a:lstStyle/>
          <a:p>
            <a:r>
              <a:rPr sz="1150" b="0">
                <a:solidFill>
                  <a:srgbClr val="2E2E2E"/>
                </a:solidFill>
                <a:latin typeface="Calibri"/>
              </a:rPr>
              <a:t>CAGR trajectory to 2036.</a:t>
            </a:r>
          </a:p>
        </p:txBody>
      </p:sp>
      <p:sp>
        <p:nvSpPr>
          <p:cNvPr id="33" name="TextBox 32"/>
          <p:cNvSpPr txBox="1"/>
          <p:nvPr/>
        </p:nvSpPr>
        <p:spPr>
          <a:xfrm>
            <a:off x="276225" y="3219450"/>
            <a:ext cx="2749599" cy="194310"/>
          </a:xfrm>
          <a:prstGeom prst="rect">
            <a:avLst/>
          </a:prstGeom>
          <a:noFill/>
        </p:spPr>
        <p:txBody>
          <a:bodyPr wrap="none" lIns="0" rIns="0" tIns="0" bIns="0">
            <a:spAutoFit/>
          </a:bodyPr>
          <a:lstStyle/>
          <a:p>
            <a:r>
              <a:rPr sz="1150" b="0">
                <a:solidFill>
                  <a:srgbClr val="2E2E2E"/>
                </a:solidFill>
                <a:latin typeface="Calibri"/>
              </a:rPr>
              <a:t>▪ Prioritise 'Hydrolyzed Eggshell Membrane' (</a:t>
            </a:r>
          </a:p>
        </p:txBody>
      </p:sp>
      <p:pic>
        <p:nvPicPr>
          <p:cNvPr id="34" name="Picture 33" descr="lock.png"/>
          <p:cNvPicPr>
            <a:picLocks noChangeAspect="1"/>
          </p:cNvPicPr>
          <p:nvPr/>
        </p:nvPicPr>
        <p:blipFill>
          <a:blip r:embed="rId4"/>
          <a:stretch>
            <a:fillRect/>
          </a:stretch>
        </p:blipFill>
        <p:spPr>
          <a:xfrm>
            <a:off x="2974978" y="3209226"/>
            <a:ext cx="134549" cy="195707"/>
          </a:xfrm>
          <a:prstGeom prst="rect">
            <a:avLst/>
          </a:prstGeom>
        </p:spPr>
      </p:pic>
      <p:sp>
        <p:nvSpPr>
          <p:cNvPr id="35" name="TextBox 34"/>
          <p:cNvSpPr txBox="1"/>
          <p:nvPr/>
        </p:nvSpPr>
        <p:spPr>
          <a:xfrm>
            <a:off x="3150087" y="3219450"/>
            <a:ext cx="2636924" cy="194310"/>
          </a:xfrm>
          <a:prstGeom prst="rect">
            <a:avLst/>
          </a:prstGeom>
          <a:noFill/>
        </p:spPr>
        <p:txBody>
          <a:bodyPr wrap="none" lIns="0" rIns="0" tIns="0" bIns="0">
            <a:spAutoFit/>
          </a:bodyPr>
          <a:lstStyle/>
          <a:p>
            <a:r>
              <a:rPr sz="1150" b="0">
                <a:solidFill>
                  <a:srgbClr val="2E2E2E"/>
                </a:solidFill>
                <a:latin typeface="Calibri"/>
              </a:rPr>
              <a:t>); 'Micronized Eggshell Membrane' anchors</a:t>
            </a:r>
          </a:p>
        </p:txBody>
      </p:sp>
      <p:pic>
        <p:nvPicPr>
          <p:cNvPr id="36" name="Picture 35" descr="lock.png"/>
          <p:cNvPicPr>
            <a:picLocks noChangeAspect="1"/>
          </p:cNvPicPr>
          <p:nvPr/>
        </p:nvPicPr>
        <p:blipFill>
          <a:blip r:embed="rId4"/>
          <a:stretch>
            <a:fillRect/>
          </a:stretch>
        </p:blipFill>
        <p:spPr>
          <a:xfrm>
            <a:off x="262145" y="3384486"/>
            <a:ext cx="134549" cy="195707"/>
          </a:xfrm>
          <a:prstGeom prst="rect">
            <a:avLst/>
          </a:prstGeom>
        </p:spPr>
      </p:pic>
      <p:sp>
        <p:nvSpPr>
          <p:cNvPr id="37" name="TextBox 36"/>
          <p:cNvSpPr txBox="1"/>
          <p:nvPr/>
        </p:nvSpPr>
        <p:spPr>
          <a:xfrm>
            <a:off x="437254" y="3394710"/>
            <a:ext cx="586519" cy="194310"/>
          </a:xfrm>
          <a:prstGeom prst="rect">
            <a:avLst/>
          </a:prstGeom>
          <a:noFill/>
        </p:spPr>
        <p:txBody>
          <a:bodyPr wrap="none" lIns="0" rIns="0" tIns="0" bIns="0">
            <a:spAutoFit/>
          </a:bodyPr>
          <a:lstStyle/>
          <a:p>
            <a:r>
              <a:rPr sz="1150" b="0">
                <a:solidFill>
                  <a:srgbClr val="2E2E2E"/>
                </a:solidFill>
                <a:latin typeface="Calibri"/>
              </a:rPr>
              <a:t>of value.</a:t>
            </a:r>
          </a:p>
        </p:txBody>
      </p:sp>
      <p:sp>
        <p:nvSpPr>
          <p:cNvPr id="38" name="TextBox 37"/>
          <p:cNvSpPr txBox="1"/>
          <p:nvPr/>
        </p:nvSpPr>
        <p:spPr>
          <a:xfrm>
            <a:off x="6305550" y="3219450"/>
            <a:ext cx="1720688" cy="194310"/>
          </a:xfrm>
          <a:prstGeom prst="rect">
            <a:avLst/>
          </a:prstGeom>
          <a:noFill/>
        </p:spPr>
        <p:txBody>
          <a:bodyPr wrap="none" lIns="0" rIns="0" tIns="0" bIns="0">
            <a:spAutoFit/>
          </a:bodyPr>
          <a:lstStyle/>
          <a:p>
            <a:r>
              <a:rPr sz="1150" b="0">
                <a:solidFill>
                  <a:srgbClr val="2E2E2E"/>
                </a:solidFill>
                <a:latin typeface="Calibri"/>
              </a:rPr>
              <a:t>▪ Lead with North America (</a:t>
            </a:r>
          </a:p>
        </p:txBody>
      </p:sp>
      <p:pic>
        <p:nvPicPr>
          <p:cNvPr id="39" name="Picture 38" descr="lock.png"/>
          <p:cNvPicPr>
            <a:picLocks noChangeAspect="1"/>
          </p:cNvPicPr>
          <p:nvPr/>
        </p:nvPicPr>
        <p:blipFill>
          <a:blip r:embed="rId4"/>
          <a:stretch>
            <a:fillRect/>
          </a:stretch>
        </p:blipFill>
        <p:spPr>
          <a:xfrm>
            <a:off x="7975392" y="3209226"/>
            <a:ext cx="134549" cy="195707"/>
          </a:xfrm>
          <a:prstGeom prst="rect">
            <a:avLst/>
          </a:prstGeom>
        </p:spPr>
      </p:pic>
      <p:sp>
        <p:nvSpPr>
          <p:cNvPr id="40" name="TextBox 39"/>
          <p:cNvSpPr txBox="1"/>
          <p:nvPr/>
        </p:nvSpPr>
        <p:spPr>
          <a:xfrm>
            <a:off x="8150501" y="3219450"/>
            <a:ext cx="2502854" cy="194310"/>
          </a:xfrm>
          <a:prstGeom prst="rect">
            <a:avLst/>
          </a:prstGeom>
          <a:noFill/>
        </p:spPr>
        <p:txBody>
          <a:bodyPr wrap="none" lIns="0" rIns="0" tIns="0" bIns="0">
            <a:spAutoFit/>
          </a:bodyPr>
          <a:lstStyle/>
          <a:p>
            <a:r>
              <a:rPr sz="1150" b="0">
                <a:solidFill>
                  <a:srgbClr val="2E2E2E"/>
                </a:solidFill>
                <a:latin typeface="Calibri"/>
              </a:rPr>
              <a:t>); capture upside in South Asia &amp; Pacific (</a:t>
            </a:r>
          </a:p>
        </p:txBody>
      </p:sp>
      <p:pic>
        <p:nvPicPr>
          <p:cNvPr id="41" name="Picture 40" descr="lock.png"/>
          <p:cNvPicPr>
            <a:picLocks noChangeAspect="1"/>
          </p:cNvPicPr>
          <p:nvPr/>
        </p:nvPicPr>
        <p:blipFill>
          <a:blip r:embed="rId4"/>
          <a:stretch>
            <a:fillRect/>
          </a:stretch>
        </p:blipFill>
        <p:spPr>
          <a:xfrm>
            <a:off x="10602510" y="3209226"/>
            <a:ext cx="134549" cy="195707"/>
          </a:xfrm>
          <a:prstGeom prst="rect">
            <a:avLst/>
          </a:prstGeom>
        </p:spPr>
      </p:pic>
      <p:sp>
        <p:nvSpPr>
          <p:cNvPr id="42" name="TextBox 41"/>
          <p:cNvSpPr txBox="1"/>
          <p:nvPr/>
        </p:nvSpPr>
        <p:spPr>
          <a:xfrm>
            <a:off x="10777620" y="3219450"/>
            <a:ext cx="157212" cy="194310"/>
          </a:xfrm>
          <a:prstGeom prst="rect">
            <a:avLst/>
          </a:prstGeom>
          <a:noFill/>
        </p:spPr>
        <p:txBody>
          <a:bodyPr wrap="none" lIns="0" rIns="0" tIns="0" bIns="0">
            <a:spAutoFit/>
          </a:bodyPr>
          <a:lstStyle/>
          <a:p>
            <a:r>
              <a:rPr sz="1150" b="0">
                <a:solidFill>
                  <a:srgbClr val="2E2E2E"/>
                </a:solidFill>
                <a:latin typeface="Calibri"/>
              </a:rPr>
              <a:t>).</a:t>
            </a:r>
          </a:p>
        </p:txBody>
      </p:sp>
      <p:sp>
        <p:nvSpPr>
          <p:cNvPr id="43" name="TextBox 42"/>
          <p:cNvSpPr txBox="1"/>
          <p:nvPr/>
        </p:nvSpPr>
        <p:spPr>
          <a:xfrm>
            <a:off x="276225" y="5038725"/>
            <a:ext cx="1846770" cy="194310"/>
          </a:xfrm>
          <a:prstGeom prst="rect">
            <a:avLst/>
          </a:prstGeom>
          <a:noFill/>
        </p:spPr>
        <p:txBody>
          <a:bodyPr wrap="none" lIns="0" rIns="0" tIns="0" bIns="0">
            <a:spAutoFit/>
          </a:bodyPr>
          <a:lstStyle/>
          <a:p>
            <a:r>
              <a:rPr sz="1150" b="0">
                <a:solidFill>
                  <a:srgbClr val="2E2E2E"/>
                </a:solidFill>
                <a:latin typeface="Calibri"/>
              </a:rPr>
              <a:t>▪ Egg Protein Membrane adds</a:t>
            </a:r>
          </a:p>
        </p:txBody>
      </p:sp>
      <p:pic>
        <p:nvPicPr>
          <p:cNvPr id="44" name="Picture 43" descr="lock.png"/>
          <p:cNvPicPr>
            <a:picLocks noChangeAspect="1"/>
          </p:cNvPicPr>
          <p:nvPr/>
        </p:nvPicPr>
        <p:blipFill>
          <a:blip r:embed="rId4"/>
          <a:stretch>
            <a:fillRect/>
          </a:stretch>
        </p:blipFill>
        <p:spPr>
          <a:xfrm>
            <a:off x="2072149" y="5028501"/>
            <a:ext cx="134549" cy="195707"/>
          </a:xfrm>
          <a:prstGeom prst="rect">
            <a:avLst/>
          </a:prstGeom>
        </p:spPr>
      </p:pic>
      <p:sp>
        <p:nvSpPr>
          <p:cNvPr id="45" name="TextBox 44"/>
          <p:cNvSpPr txBox="1"/>
          <p:nvPr/>
        </p:nvSpPr>
        <p:spPr>
          <a:xfrm>
            <a:off x="2247259" y="5038725"/>
            <a:ext cx="1815107" cy="194310"/>
          </a:xfrm>
          <a:prstGeom prst="rect">
            <a:avLst/>
          </a:prstGeom>
          <a:noFill/>
        </p:spPr>
        <p:txBody>
          <a:bodyPr wrap="none" lIns="0" rIns="0" tIns="0" bIns="0">
            <a:spAutoFit/>
          </a:bodyPr>
          <a:lstStyle/>
          <a:p>
            <a:r>
              <a:rPr sz="1150" b="0">
                <a:solidFill>
                  <a:srgbClr val="2E2E2E"/>
                </a:solidFill>
                <a:latin typeface="Calibri"/>
              </a:rPr>
              <a:t>US$ Mn of demand to 2036 a</a:t>
            </a:r>
          </a:p>
        </p:txBody>
      </p:sp>
      <p:pic>
        <p:nvPicPr>
          <p:cNvPr id="46" name="Picture 45" descr="lock.png"/>
          <p:cNvPicPr>
            <a:picLocks noChangeAspect="1"/>
          </p:cNvPicPr>
          <p:nvPr/>
        </p:nvPicPr>
        <p:blipFill>
          <a:blip r:embed="rId4"/>
          <a:stretch>
            <a:fillRect/>
          </a:stretch>
        </p:blipFill>
        <p:spPr>
          <a:xfrm>
            <a:off x="4011520" y="5028501"/>
            <a:ext cx="134549" cy="195707"/>
          </a:xfrm>
          <a:prstGeom prst="rect">
            <a:avLst/>
          </a:prstGeom>
        </p:spPr>
      </p:pic>
      <p:sp>
        <p:nvSpPr>
          <p:cNvPr id="47" name="TextBox 46"/>
          <p:cNvSpPr txBox="1"/>
          <p:nvPr/>
        </p:nvSpPr>
        <p:spPr>
          <a:xfrm>
            <a:off x="4186630" y="5038725"/>
            <a:ext cx="822709" cy="194310"/>
          </a:xfrm>
          <a:prstGeom prst="rect">
            <a:avLst/>
          </a:prstGeom>
          <a:noFill/>
        </p:spPr>
        <p:txBody>
          <a:bodyPr wrap="none" lIns="0" rIns="0" tIns="0" bIns="0">
            <a:spAutoFit/>
          </a:bodyPr>
          <a:lstStyle/>
          <a:p>
            <a:r>
              <a:rPr sz="1150" b="0">
                <a:solidFill>
                  <a:srgbClr val="2E2E2E"/>
                </a:solidFill>
                <a:latin typeface="Calibri"/>
              </a:rPr>
              <a:t>× expansion.</a:t>
            </a:r>
          </a:p>
        </p:txBody>
      </p:sp>
      <p:sp>
        <p:nvSpPr>
          <p:cNvPr id="48" name="TextBox 47"/>
          <p:cNvSpPr txBox="1"/>
          <p:nvPr/>
        </p:nvSpPr>
        <p:spPr>
          <a:xfrm>
            <a:off x="276225" y="5266563"/>
            <a:ext cx="6265639" cy="194310"/>
          </a:xfrm>
          <a:prstGeom prst="rect">
            <a:avLst/>
          </a:prstGeom>
          <a:noFill/>
        </p:spPr>
        <p:txBody>
          <a:bodyPr wrap="none" lIns="0" rIns="0" tIns="0" bIns="0">
            <a:spAutoFit/>
          </a:bodyPr>
          <a:lstStyle/>
          <a:p>
            <a:r>
              <a:rPr sz="1150" b="0">
                <a:solidFill>
                  <a:srgbClr val="2E2E2E"/>
                </a:solidFill>
                <a:latin typeface="Calibri"/>
              </a:rPr>
              <a:t>▪ Concentrate resources on the leading segment/region while seeding the fastest-growing pockets early.</a:t>
            </a:r>
          </a:p>
        </p:txBody>
      </p:sp>
      <p:sp>
        <p:nvSpPr>
          <p:cNvPr id="49" name="TextBox 48"/>
          <p:cNvSpPr txBox="1"/>
          <p:nvPr/>
        </p:nvSpPr>
        <p:spPr>
          <a:xfrm>
            <a:off x="276225" y="5494400"/>
            <a:ext cx="5238154" cy="194310"/>
          </a:xfrm>
          <a:prstGeom prst="rect">
            <a:avLst/>
          </a:prstGeom>
          <a:noFill/>
        </p:spPr>
        <p:txBody>
          <a:bodyPr wrap="none" lIns="0" rIns="0" tIns="0" bIns="0">
            <a:spAutoFit/>
          </a:bodyPr>
          <a:lstStyle/>
          <a:p>
            <a:r>
              <a:rPr sz="1150" b="0">
                <a:solidFill>
                  <a:srgbClr val="2E2E2E"/>
                </a:solidFill>
                <a:latin typeface="Calibri"/>
              </a:rPr>
              <a:t>▪ Defend share in 'Micronized Eggshell Membrane' as the value anchor of the portfolio.</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Scenario Outlook (4/4)</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Scenario outlook comparing optimistic, likely and conservative outcomes for 2036 and the CAGR behind each</a:t>
            </a:r>
          </a:p>
        </p:txBody>
      </p:sp>
      <p:sp>
        <p:nvSpPr>
          <p:cNvPr id="7" name="Rounded Rectangle 6"/>
          <p:cNvSpPr/>
          <p:nvPr/>
        </p:nvSpPr>
        <p:spPr>
          <a:xfrm>
            <a:off x="142875" y="981075"/>
            <a:ext cx="3943350" cy="695325"/>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
            </a:r>
          </a:p>
          <a:p>
            <a:pPr algn="ctr">
              <a:lnSpc>
                <a:spcPct val="95000"/>
              </a:lnSpc>
            </a:pPr>
            <a:r>
              <a:rPr sz="1500" b="1">
                <a:solidFill>
                  <a:srgbClr val="2A5F8F"/>
                </a:solidFill>
                <a:latin typeface="Calibri"/>
              </a:rPr>
              <a:t/>
            </a:r>
          </a:p>
          <a:p>
            <a:pPr algn="ctr">
              <a:lnSpc>
                <a:spcPct val="95000"/>
              </a:lnSpc>
            </a:pPr>
            <a:r>
              <a:rPr sz="1100" b="0">
                <a:solidFill>
                  <a:srgbClr val="6C7A89"/>
                </a:solidFill>
                <a:latin typeface="Calibri"/>
              </a:rPr>
              <a:t/>
            </a:r>
          </a:p>
        </p:txBody>
      </p:sp>
      <p:sp>
        <p:nvSpPr>
          <p:cNvPr id="8" name="Rounded Rectangle 7"/>
          <p:cNvSpPr/>
          <p:nvPr/>
        </p:nvSpPr>
        <p:spPr>
          <a:xfrm>
            <a:off x="4238625" y="981075"/>
            <a:ext cx="3819525" cy="695325"/>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
            </a:r>
          </a:p>
          <a:p>
            <a:pPr algn="ctr">
              <a:lnSpc>
                <a:spcPct val="95000"/>
              </a:lnSpc>
            </a:pPr>
            <a:r>
              <a:rPr sz="1500" b="1">
                <a:solidFill>
                  <a:srgbClr val="2A5F8F"/>
                </a:solidFill>
                <a:latin typeface="Calibri"/>
              </a:rPr>
              <a:t/>
            </a:r>
          </a:p>
          <a:p>
            <a:pPr algn="ctr">
              <a:lnSpc>
                <a:spcPct val="95000"/>
              </a:lnSpc>
            </a:pPr>
            <a:r>
              <a:rPr sz="1100" b="0">
                <a:solidFill>
                  <a:srgbClr val="6C7A89"/>
                </a:solidFill>
                <a:latin typeface="Calibri"/>
              </a:rPr>
              <a:t/>
            </a:r>
          </a:p>
        </p:txBody>
      </p:sp>
      <p:sp>
        <p:nvSpPr>
          <p:cNvPr id="9" name="Rounded Rectangle 8"/>
          <p:cNvSpPr/>
          <p:nvPr/>
        </p:nvSpPr>
        <p:spPr>
          <a:xfrm>
            <a:off x="8210550" y="981075"/>
            <a:ext cx="3819525" cy="695325"/>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
            </a:r>
          </a:p>
          <a:p>
            <a:pPr algn="ctr">
              <a:lnSpc>
                <a:spcPct val="95000"/>
              </a:lnSpc>
            </a:pPr>
            <a:r>
              <a:rPr sz="1500" b="1">
                <a:solidFill>
                  <a:srgbClr val="2A5F8F"/>
                </a:solidFill>
                <a:latin typeface="Calibri"/>
              </a:rPr>
              <a:t/>
            </a:r>
          </a:p>
          <a:p>
            <a:pPr algn="ctr">
              <a:lnSpc>
                <a:spcPct val="95000"/>
              </a:lnSpc>
            </a:pPr>
            <a:r>
              <a:rPr sz="1100" b="0">
                <a:solidFill>
                  <a:srgbClr val="6C7A89"/>
                </a:solidFill>
                <a:latin typeface="Calibri"/>
              </a:rPr>
              <a:t/>
            </a:r>
          </a:p>
        </p:txBody>
      </p:sp>
      <p:sp>
        <p:nvSpPr>
          <p:cNvPr id="10" name="Rounded Rectangle 9"/>
          <p:cNvSpPr/>
          <p:nvPr/>
        </p:nvSpPr>
        <p:spPr>
          <a:xfrm>
            <a:off x="142875" y="1809750"/>
            <a:ext cx="5876925" cy="3009900"/>
          </a:xfrm>
          <a:prstGeom prst="roundRect">
            <a:avLst>
              <a:gd name="adj" fmla="val 2531"/>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8669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Egg Protein Membrane Market Value (US$ Mn) Scenario Forecast, 2025 &amp; 2036</a:t>
            </a:r>
          </a:p>
        </p:txBody>
      </p:sp>
      <p:cxnSp>
        <p:nvCxnSpPr>
          <p:cNvPr id="12" name="Connector 11"/>
          <p:cNvCxnSpPr/>
          <p:nvPr/>
        </p:nvCxnSpPr>
        <p:spPr>
          <a:xfrm>
            <a:off x="238125" y="4305300"/>
            <a:ext cx="5686425" cy="0"/>
          </a:xfrm>
          <a:prstGeom prst="line">
            <a:avLst/>
          </a:prstGeom>
          <a:ln w="9525">
            <a:solidFill>
              <a:srgbClr val="BFBFBF"/>
            </a:solidFill>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706342" y="3470654"/>
            <a:ext cx="635826" cy="834646"/>
          </a:xfrm>
          <a:prstGeom prst="rect">
            <a:avLst/>
          </a:prstGeom>
          <a:solidFill>
            <a:srgbClr val="4031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043936" y="3066191"/>
            <a:ext cx="635826" cy="1239109"/>
          </a:xfrm>
          <a:prstGeom prst="rect">
            <a:avLst/>
          </a:prstGeom>
          <a:solidFill>
            <a:srgbClr val="92D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025725" y="2896124"/>
            <a:ext cx="635826" cy="1409176"/>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007515" y="2705100"/>
            <a:ext cx="635826" cy="1600200"/>
          </a:xfrm>
          <a:prstGeom prst="rect">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Connector 16"/>
          <p:cNvCxnSpPr/>
          <p:nvPr/>
        </p:nvCxnSpPr>
        <p:spPr>
          <a:xfrm>
            <a:off x="1456468" y="2932841"/>
            <a:ext cx="1568418" cy="0"/>
          </a:xfrm>
          <a:prstGeom prst="line">
            <a:avLst/>
          </a:prstGeom>
          <a:ln w="15875">
            <a:solidFill>
              <a:srgbClr val="92D050"/>
            </a:solidFill>
            <a:headEnd type="triangl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1570768" y="2828066"/>
            <a:ext cx="1358868" cy="209550"/>
          </a:xfrm>
          <a:prstGeom prst="roundRect">
            <a:avLst/>
          </a:prstGeom>
          <a:solidFill>
            <a:srgbClr val="92D0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9050" rIns="19050" tIns="0" bIns="0"/>
          <a:lstStyle/>
          <a:p>
            <a:pPr algn="ctr"/>
            <a:r>
              <a:rPr sz="1100" b="1">
                <a:solidFill>
                  <a:srgbClr val="FFFFFF"/>
                </a:solidFill>
                <a:latin typeface="Calibri"/>
              </a:rPr>
              <a:t/>
            </a:r>
          </a:p>
        </p:txBody>
      </p:sp>
      <p:cxnSp>
        <p:nvCxnSpPr>
          <p:cNvPr id="19" name="Connector 18"/>
          <p:cNvCxnSpPr/>
          <p:nvPr/>
        </p:nvCxnSpPr>
        <p:spPr>
          <a:xfrm>
            <a:off x="1456468" y="2675666"/>
            <a:ext cx="2550207" cy="0"/>
          </a:xfrm>
          <a:prstGeom prst="line">
            <a:avLst/>
          </a:prstGeom>
          <a:ln w="15875">
            <a:solidFill>
              <a:srgbClr val="0078D4"/>
            </a:solidFill>
            <a:headEnd type="triangl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1570768" y="2570891"/>
            <a:ext cx="1358868" cy="209550"/>
          </a:xfrm>
          <a:prstGeom prst="round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9050" rIns="19050" tIns="0" bIns="0"/>
          <a:lstStyle/>
          <a:p>
            <a:pPr algn="ctr"/>
            <a:r>
              <a:rPr sz="1100" b="1">
                <a:solidFill>
                  <a:srgbClr val="FFFFFF"/>
                </a:solidFill>
                <a:latin typeface="Calibri"/>
              </a:rPr>
              <a:t/>
            </a:r>
          </a:p>
        </p:txBody>
      </p:sp>
      <p:cxnSp>
        <p:nvCxnSpPr>
          <p:cNvPr id="21" name="Connector 20"/>
          <p:cNvCxnSpPr/>
          <p:nvPr/>
        </p:nvCxnSpPr>
        <p:spPr>
          <a:xfrm>
            <a:off x="1456468" y="2418491"/>
            <a:ext cx="3531997" cy="0"/>
          </a:xfrm>
          <a:prstGeom prst="line">
            <a:avLst/>
          </a:prstGeom>
          <a:ln w="15875">
            <a:solidFill>
              <a:srgbClr val="808080"/>
            </a:solidFill>
            <a:headEnd type="triangl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1570768" y="2313716"/>
            <a:ext cx="1358868" cy="209550"/>
          </a:xfrm>
          <a:prstGeom prst="roundRect">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9050" rIns="19050" tIns="0" bIns="0"/>
          <a:lstStyle/>
          <a:p>
            <a:pPr algn="ctr"/>
            <a:r>
              <a:rPr sz="1100" b="1">
                <a:solidFill>
                  <a:srgbClr val="FFFFFF"/>
                </a:solidFill>
                <a:latin typeface="Calibri"/>
              </a:rPr>
              <a:t/>
            </a:r>
          </a:p>
        </p:txBody>
      </p:sp>
      <p:sp>
        <p:nvSpPr>
          <p:cNvPr id="23" name="TextBox 22"/>
          <p:cNvSpPr txBox="1"/>
          <p:nvPr/>
        </p:nvSpPr>
        <p:spPr>
          <a:xfrm>
            <a:off x="643255" y="4333875"/>
            <a:ext cx="762000" cy="180975"/>
          </a:xfrm>
          <a:prstGeom prst="rect">
            <a:avLst/>
          </a:prstGeom>
          <a:noFill/>
        </p:spPr>
        <p:txBody>
          <a:bodyPr wrap="square" lIns="28575" rIns="28575" tIns="9525" bIns="9525" anchor="ctr">
            <a:spAutoFit/>
          </a:bodyPr>
          <a:lstStyle/>
          <a:p>
            <a:pPr algn="ctr"/>
            <a:r>
              <a:rPr sz="1100" b="1">
                <a:solidFill>
                  <a:srgbClr val="2E2E2E"/>
                </a:solidFill>
                <a:latin typeface="Calibri"/>
              </a:rPr>
              <a:t>2025</a:t>
            </a:r>
          </a:p>
        </p:txBody>
      </p:sp>
      <p:sp>
        <p:nvSpPr>
          <p:cNvPr id="24" name="TextBox 23"/>
          <p:cNvSpPr txBox="1"/>
          <p:nvPr/>
        </p:nvSpPr>
        <p:spPr>
          <a:xfrm>
            <a:off x="3962638" y="4333875"/>
            <a:ext cx="762000" cy="180975"/>
          </a:xfrm>
          <a:prstGeom prst="rect">
            <a:avLst/>
          </a:prstGeom>
          <a:noFill/>
        </p:spPr>
        <p:txBody>
          <a:bodyPr wrap="square" lIns="28575" rIns="28575" tIns="9525" bIns="9525" anchor="ctr">
            <a:spAutoFit/>
          </a:bodyPr>
          <a:lstStyle/>
          <a:p>
            <a:pPr algn="ctr"/>
            <a:r>
              <a:rPr sz="1100" b="1">
                <a:solidFill>
                  <a:srgbClr val="2E2E2E"/>
                </a:solidFill>
                <a:latin typeface="Calibri"/>
              </a:rPr>
              <a:t>2036</a:t>
            </a:r>
          </a:p>
        </p:txBody>
      </p:sp>
      <p:sp>
        <p:nvSpPr>
          <p:cNvPr id="25" name="Oval 24"/>
          <p:cNvSpPr/>
          <p:nvPr/>
        </p:nvSpPr>
        <p:spPr>
          <a:xfrm>
            <a:off x="304800" y="4572000"/>
            <a:ext cx="133350" cy="133350"/>
          </a:xfrm>
          <a:prstGeom prst="ellipse">
            <a:avLst/>
          </a:prstGeom>
          <a:solidFill>
            <a:srgbClr val="92D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5775" y="4543425"/>
            <a:ext cx="1647825" cy="190500"/>
          </a:xfrm>
          <a:prstGeom prst="rect">
            <a:avLst/>
          </a:prstGeom>
          <a:noFill/>
        </p:spPr>
        <p:txBody>
          <a:bodyPr wrap="none" lIns="28575" rIns="28575" tIns="9525" bIns="9525" anchor="ctr">
            <a:spAutoFit/>
          </a:bodyPr>
          <a:lstStyle/>
          <a:p>
            <a:pPr algn="l"/>
            <a:r>
              <a:rPr sz="1100" b="1">
                <a:solidFill>
                  <a:srgbClr val="2E2E2E"/>
                </a:solidFill>
                <a:latin typeface="Calibri"/>
              </a:rPr>
              <a:t>Conservative Scenario</a:t>
            </a:r>
          </a:p>
        </p:txBody>
      </p:sp>
      <p:sp>
        <p:nvSpPr>
          <p:cNvPr id="27" name="Oval 26"/>
          <p:cNvSpPr/>
          <p:nvPr/>
        </p:nvSpPr>
        <p:spPr>
          <a:xfrm>
            <a:off x="2200275" y="4572000"/>
            <a:ext cx="133350" cy="133350"/>
          </a:xfrm>
          <a:prstGeom prst="ellipse">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381250" y="4543425"/>
            <a:ext cx="1647825" cy="190500"/>
          </a:xfrm>
          <a:prstGeom prst="rect">
            <a:avLst/>
          </a:prstGeom>
          <a:noFill/>
        </p:spPr>
        <p:txBody>
          <a:bodyPr wrap="none" lIns="28575" rIns="28575" tIns="9525" bIns="9525" anchor="ctr">
            <a:spAutoFit/>
          </a:bodyPr>
          <a:lstStyle/>
          <a:p>
            <a:pPr algn="l"/>
            <a:r>
              <a:rPr sz="1100" b="1">
                <a:solidFill>
                  <a:srgbClr val="2E2E2E"/>
                </a:solidFill>
                <a:latin typeface="Calibri"/>
              </a:rPr>
              <a:t>Likely Scenario</a:t>
            </a:r>
          </a:p>
        </p:txBody>
      </p:sp>
      <p:sp>
        <p:nvSpPr>
          <p:cNvPr id="29" name="Oval 28"/>
          <p:cNvSpPr/>
          <p:nvPr/>
        </p:nvSpPr>
        <p:spPr>
          <a:xfrm>
            <a:off x="4095750" y="4572000"/>
            <a:ext cx="133350" cy="133350"/>
          </a:xfrm>
          <a:prstGeom prst="ellipse">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276725" y="4543425"/>
            <a:ext cx="1647825" cy="190500"/>
          </a:xfrm>
          <a:prstGeom prst="rect">
            <a:avLst/>
          </a:prstGeom>
          <a:noFill/>
        </p:spPr>
        <p:txBody>
          <a:bodyPr wrap="none" lIns="28575" rIns="28575" tIns="9525" bIns="9525" anchor="ctr">
            <a:spAutoFit/>
          </a:bodyPr>
          <a:lstStyle/>
          <a:p>
            <a:pPr algn="l"/>
            <a:r>
              <a:rPr sz="1100" b="1">
                <a:solidFill>
                  <a:srgbClr val="2E2E2E"/>
                </a:solidFill>
                <a:latin typeface="Calibri"/>
              </a:rPr>
              <a:t>Optimistic Scenario</a:t>
            </a:r>
          </a:p>
        </p:txBody>
      </p:sp>
      <p:sp>
        <p:nvSpPr>
          <p:cNvPr id="31" name="Rounded Rectangle 30"/>
          <p:cNvSpPr/>
          <p:nvPr/>
        </p:nvSpPr>
        <p:spPr>
          <a:xfrm>
            <a:off x="6172200" y="1809750"/>
            <a:ext cx="5876925" cy="3009900"/>
          </a:xfrm>
          <a:prstGeom prst="roundRect">
            <a:avLst>
              <a:gd name="adj" fmla="val 2531"/>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267450" y="18669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Egg Protein Membrane Market Attractiveness Analysis By Region, 2026–2036</a:t>
            </a:r>
          </a:p>
        </p:txBody>
      </p:sp>
      <p:graphicFrame>
        <p:nvGraphicFramePr>
          <p:cNvPr id="33" name="Chart 32"/>
          <p:cNvGraphicFramePr>
            <a:graphicFrameLocks noGrp="1"/>
          </p:cNvGraphicFramePr>
          <p:nvPr/>
        </p:nvGraphicFramePr>
        <p:xfrm>
          <a:off x="6267450" y="2266950"/>
          <a:ext cx="5686425" cy="2495550"/>
        </p:xfrm>
        <a:graphic>
          <a:graphicData uri="http://schemas.openxmlformats.org/drawingml/2006/chart">
            <c:chart xmlns:c="http://schemas.openxmlformats.org/drawingml/2006/chart" r:id="rId3"/>
          </a:graphicData>
        </a:graphic>
      </p:graphicFrame>
      <p:sp>
        <p:nvSpPr>
          <p:cNvPr id="34" name="Rounded Rectangle 33"/>
          <p:cNvSpPr/>
          <p:nvPr/>
        </p:nvSpPr>
        <p:spPr>
          <a:xfrm>
            <a:off x="142875" y="4953000"/>
            <a:ext cx="11906250" cy="1676400"/>
          </a:xfrm>
          <a:prstGeom prst="roundRect">
            <a:avLst>
              <a:gd name="adj" fmla="val 4545"/>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76225" y="5038725"/>
            <a:ext cx="11639550" cy="209550"/>
          </a:xfrm>
          <a:prstGeom prst="rect">
            <a:avLst/>
          </a:prstGeom>
          <a:noFill/>
        </p:spPr>
        <p:txBody>
          <a:bodyPr wrap="square" lIns="0" rIns="19050" tIns="9525" bIns="9525">
            <a:spAutoFit/>
          </a:bodyPr>
          <a:lstStyle/>
          <a:p>
            <a:pPr algn="l"/>
            <a:r>
              <a:rPr sz="1300" b="1">
                <a:solidFill>
                  <a:srgbClr val="0E2A5C"/>
                </a:solidFill>
                <a:latin typeface="Calibri"/>
              </a:rPr>
              <a:t>Scenario Assumptions &amp; Outlook</a:t>
            </a:r>
          </a:p>
        </p:txBody>
      </p:sp>
      <p:sp>
        <p:nvSpPr>
          <p:cNvPr id="36" name="Rectangle 35"/>
          <p:cNvSpPr/>
          <p:nvPr/>
        </p:nvSpPr>
        <p:spPr>
          <a:xfrm>
            <a:off x="276225" y="5276850"/>
            <a:ext cx="116395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76225" y="5362575"/>
            <a:ext cx="11639550" cy="119062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p:txBody>
      </p:sp>
      <p:sp>
        <p:nvSpPr>
          <p:cNvPr id="38" name="Rectangle 37"/>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40" name="Picture 39" descr="lock.png"/>
          <p:cNvPicPr>
            <a:picLocks noChangeAspect="1"/>
          </p:cNvPicPr>
          <p:nvPr/>
        </p:nvPicPr>
        <p:blipFill>
          <a:blip r:embed="rId5"/>
          <a:stretch>
            <a:fillRect/>
          </a:stretch>
        </p:blipFill>
        <p:spPr>
          <a:xfrm>
            <a:off x="2035969" y="1214437"/>
            <a:ext cx="157162" cy="228600"/>
          </a:xfrm>
          <a:prstGeom prst="rect">
            <a:avLst/>
          </a:prstGeom>
        </p:spPr>
      </p:pic>
      <p:pic>
        <p:nvPicPr>
          <p:cNvPr id="41" name="Picture 40" descr="lock.png"/>
          <p:cNvPicPr>
            <a:picLocks noChangeAspect="1"/>
          </p:cNvPicPr>
          <p:nvPr/>
        </p:nvPicPr>
        <p:blipFill>
          <a:blip r:embed="rId5"/>
          <a:stretch>
            <a:fillRect/>
          </a:stretch>
        </p:blipFill>
        <p:spPr>
          <a:xfrm>
            <a:off x="6069806" y="1214437"/>
            <a:ext cx="157162" cy="228600"/>
          </a:xfrm>
          <a:prstGeom prst="rect">
            <a:avLst/>
          </a:prstGeom>
        </p:spPr>
      </p:pic>
      <p:pic>
        <p:nvPicPr>
          <p:cNvPr id="42" name="Picture 41" descr="lock.png"/>
          <p:cNvPicPr>
            <a:picLocks noChangeAspect="1"/>
          </p:cNvPicPr>
          <p:nvPr/>
        </p:nvPicPr>
        <p:blipFill>
          <a:blip r:embed="rId5"/>
          <a:stretch>
            <a:fillRect/>
          </a:stretch>
        </p:blipFill>
        <p:spPr>
          <a:xfrm>
            <a:off x="10041731" y="1214437"/>
            <a:ext cx="157162" cy="228600"/>
          </a:xfrm>
          <a:prstGeom prst="rect">
            <a:avLst/>
          </a:prstGeom>
        </p:spPr>
      </p:pic>
      <p:sp>
        <p:nvSpPr>
          <p:cNvPr id="43" name="TextBox 42"/>
          <p:cNvSpPr txBox="1"/>
          <p:nvPr/>
        </p:nvSpPr>
        <p:spPr>
          <a:xfrm>
            <a:off x="1637332" y="1028326"/>
            <a:ext cx="1030634" cy="166573"/>
          </a:xfrm>
          <a:prstGeom prst="rect">
            <a:avLst/>
          </a:prstGeom>
          <a:noFill/>
        </p:spPr>
        <p:txBody>
          <a:bodyPr wrap="none" lIns="0" rIns="0" tIns="0" bIns="0">
            <a:spAutoFit/>
          </a:bodyPr>
          <a:lstStyle/>
          <a:p>
            <a:r>
              <a:rPr sz="968" b="1">
                <a:solidFill>
                  <a:srgbClr val="6C7A89"/>
                </a:solidFill>
                <a:latin typeface="Calibri"/>
              </a:rPr>
              <a:t>OPTIMISTIC (2036)</a:t>
            </a:r>
          </a:p>
        </p:txBody>
      </p:sp>
      <p:sp>
        <p:nvSpPr>
          <p:cNvPr id="44" name="TextBox 43"/>
          <p:cNvSpPr txBox="1"/>
          <p:nvPr/>
        </p:nvSpPr>
        <p:spPr>
          <a:xfrm>
            <a:off x="1906321" y="1481625"/>
            <a:ext cx="357112" cy="166573"/>
          </a:xfrm>
          <a:prstGeom prst="rect">
            <a:avLst/>
          </a:prstGeom>
          <a:noFill/>
        </p:spPr>
        <p:txBody>
          <a:bodyPr wrap="none" lIns="0" rIns="0" tIns="0" bIns="0">
            <a:spAutoFit/>
          </a:bodyPr>
          <a:lstStyle/>
          <a:p>
            <a:r>
              <a:rPr sz="968" b="0">
                <a:solidFill>
                  <a:srgbClr val="6C7A89"/>
                </a:solidFill>
                <a:latin typeface="Calibri"/>
              </a:rPr>
              <a:t>CAGR</a:t>
            </a:r>
          </a:p>
        </p:txBody>
      </p:sp>
      <p:pic>
        <p:nvPicPr>
          <p:cNvPr id="45" name="Picture 44" descr="lock.png"/>
          <p:cNvPicPr>
            <a:picLocks noChangeAspect="1"/>
          </p:cNvPicPr>
          <p:nvPr/>
        </p:nvPicPr>
        <p:blipFill>
          <a:blip r:embed="rId5"/>
          <a:stretch>
            <a:fillRect/>
          </a:stretch>
        </p:blipFill>
        <p:spPr>
          <a:xfrm>
            <a:off x="2208575" y="1473019"/>
            <a:ext cx="113255" cy="164734"/>
          </a:xfrm>
          <a:prstGeom prst="rect">
            <a:avLst/>
          </a:prstGeom>
        </p:spPr>
      </p:pic>
      <p:sp>
        <p:nvSpPr>
          <p:cNvPr id="46" name="TextBox 45"/>
          <p:cNvSpPr txBox="1"/>
          <p:nvPr/>
        </p:nvSpPr>
        <p:spPr>
          <a:xfrm>
            <a:off x="5807156" y="1028326"/>
            <a:ext cx="758662" cy="166573"/>
          </a:xfrm>
          <a:prstGeom prst="rect">
            <a:avLst/>
          </a:prstGeom>
          <a:noFill/>
        </p:spPr>
        <p:txBody>
          <a:bodyPr wrap="none" lIns="0" rIns="0" tIns="0" bIns="0">
            <a:spAutoFit/>
          </a:bodyPr>
          <a:lstStyle/>
          <a:p>
            <a:r>
              <a:rPr sz="968" b="1">
                <a:solidFill>
                  <a:srgbClr val="6C7A89"/>
                </a:solidFill>
                <a:latin typeface="Calibri"/>
              </a:rPr>
              <a:t>LIKELY (2036)</a:t>
            </a:r>
          </a:p>
        </p:txBody>
      </p:sp>
      <p:sp>
        <p:nvSpPr>
          <p:cNvPr id="47" name="TextBox 46"/>
          <p:cNvSpPr txBox="1"/>
          <p:nvPr/>
        </p:nvSpPr>
        <p:spPr>
          <a:xfrm>
            <a:off x="5940158" y="1481625"/>
            <a:ext cx="357112" cy="166573"/>
          </a:xfrm>
          <a:prstGeom prst="rect">
            <a:avLst/>
          </a:prstGeom>
          <a:noFill/>
        </p:spPr>
        <p:txBody>
          <a:bodyPr wrap="none" lIns="0" rIns="0" tIns="0" bIns="0">
            <a:spAutoFit/>
          </a:bodyPr>
          <a:lstStyle/>
          <a:p>
            <a:r>
              <a:rPr sz="968" b="0">
                <a:solidFill>
                  <a:srgbClr val="6C7A89"/>
                </a:solidFill>
                <a:latin typeface="Calibri"/>
              </a:rPr>
              <a:t>CAGR</a:t>
            </a:r>
          </a:p>
        </p:txBody>
      </p:sp>
      <p:pic>
        <p:nvPicPr>
          <p:cNvPr id="48" name="Picture 47" descr="lock.png"/>
          <p:cNvPicPr>
            <a:picLocks noChangeAspect="1"/>
          </p:cNvPicPr>
          <p:nvPr/>
        </p:nvPicPr>
        <p:blipFill>
          <a:blip r:embed="rId5"/>
          <a:stretch>
            <a:fillRect/>
          </a:stretch>
        </p:blipFill>
        <p:spPr>
          <a:xfrm>
            <a:off x="6242412" y="1473019"/>
            <a:ext cx="113255" cy="164734"/>
          </a:xfrm>
          <a:prstGeom prst="rect">
            <a:avLst/>
          </a:prstGeom>
        </p:spPr>
      </p:pic>
      <p:sp>
        <p:nvSpPr>
          <p:cNvPr id="49" name="TextBox 48"/>
          <p:cNvSpPr txBox="1"/>
          <p:nvPr/>
        </p:nvSpPr>
        <p:spPr>
          <a:xfrm>
            <a:off x="9548094" y="1028326"/>
            <a:ext cx="1220636" cy="166573"/>
          </a:xfrm>
          <a:prstGeom prst="rect">
            <a:avLst/>
          </a:prstGeom>
          <a:noFill/>
        </p:spPr>
        <p:txBody>
          <a:bodyPr wrap="none" lIns="0" rIns="0" tIns="0" bIns="0">
            <a:spAutoFit/>
          </a:bodyPr>
          <a:lstStyle/>
          <a:p>
            <a:r>
              <a:rPr sz="968" b="1">
                <a:solidFill>
                  <a:srgbClr val="6C7A89"/>
                </a:solidFill>
                <a:latin typeface="Calibri"/>
              </a:rPr>
              <a:t>CONSERVATIVE (2036)</a:t>
            </a:r>
          </a:p>
        </p:txBody>
      </p:sp>
      <p:sp>
        <p:nvSpPr>
          <p:cNvPr id="50" name="TextBox 49"/>
          <p:cNvSpPr txBox="1"/>
          <p:nvPr/>
        </p:nvSpPr>
        <p:spPr>
          <a:xfrm>
            <a:off x="9912083" y="1481625"/>
            <a:ext cx="357112" cy="166573"/>
          </a:xfrm>
          <a:prstGeom prst="rect">
            <a:avLst/>
          </a:prstGeom>
          <a:noFill/>
        </p:spPr>
        <p:txBody>
          <a:bodyPr wrap="none" lIns="0" rIns="0" tIns="0" bIns="0">
            <a:spAutoFit/>
          </a:bodyPr>
          <a:lstStyle/>
          <a:p>
            <a:r>
              <a:rPr sz="968" b="0">
                <a:solidFill>
                  <a:srgbClr val="6C7A89"/>
                </a:solidFill>
                <a:latin typeface="Calibri"/>
              </a:rPr>
              <a:t>CAGR</a:t>
            </a:r>
          </a:p>
        </p:txBody>
      </p:sp>
      <p:pic>
        <p:nvPicPr>
          <p:cNvPr id="51" name="Picture 50" descr="lock.png"/>
          <p:cNvPicPr>
            <a:picLocks noChangeAspect="1"/>
          </p:cNvPicPr>
          <p:nvPr/>
        </p:nvPicPr>
        <p:blipFill>
          <a:blip r:embed="rId5"/>
          <a:stretch>
            <a:fillRect/>
          </a:stretch>
        </p:blipFill>
        <p:spPr>
          <a:xfrm>
            <a:off x="10214337" y="1473019"/>
            <a:ext cx="113255" cy="164734"/>
          </a:xfrm>
          <a:prstGeom prst="rect">
            <a:avLst/>
          </a:prstGeom>
        </p:spPr>
      </p:pic>
      <p:sp>
        <p:nvSpPr>
          <p:cNvPr id="52" name="TextBox 51"/>
          <p:cNvSpPr txBox="1"/>
          <p:nvPr/>
        </p:nvSpPr>
        <p:spPr>
          <a:xfrm>
            <a:off x="2032418" y="2862432"/>
            <a:ext cx="382383" cy="159867"/>
          </a:xfrm>
          <a:prstGeom prst="rect">
            <a:avLst/>
          </a:prstGeom>
          <a:noFill/>
        </p:spPr>
        <p:txBody>
          <a:bodyPr wrap="none" lIns="0" rIns="0" tIns="0" bIns="0">
            <a:spAutoFit/>
          </a:bodyPr>
          <a:lstStyle/>
          <a:p>
            <a:r>
              <a:rPr sz="923" b="1">
                <a:solidFill>
                  <a:srgbClr val="FFFFFF"/>
                </a:solidFill>
                <a:latin typeface="Calibri"/>
              </a:rPr>
              <a:t>CAGR:</a:t>
            </a:r>
          </a:p>
        </p:txBody>
      </p:sp>
      <p:pic>
        <p:nvPicPr>
          <p:cNvPr id="53" name="Picture 52" descr="lock.png"/>
          <p:cNvPicPr>
            <a:picLocks noChangeAspect="1"/>
          </p:cNvPicPr>
          <p:nvPr/>
        </p:nvPicPr>
        <p:blipFill>
          <a:blip r:embed="rId5"/>
          <a:stretch>
            <a:fillRect/>
          </a:stretch>
        </p:blipFill>
        <p:spPr>
          <a:xfrm>
            <a:off x="2358973" y="2854217"/>
            <a:ext cx="108107" cy="157246"/>
          </a:xfrm>
          <a:prstGeom prst="rect">
            <a:avLst/>
          </a:prstGeom>
        </p:spPr>
      </p:pic>
      <p:sp>
        <p:nvSpPr>
          <p:cNvPr id="54" name="TextBox 53"/>
          <p:cNvSpPr txBox="1"/>
          <p:nvPr/>
        </p:nvSpPr>
        <p:spPr>
          <a:xfrm>
            <a:off x="2032418" y="2605257"/>
            <a:ext cx="382383" cy="159867"/>
          </a:xfrm>
          <a:prstGeom prst="rect">
            <a:avLst/>
          </a:prstGeom>
          <a:noFill/>
        </p:spPr>
        <p:txBody>
          <a:bodyPr wrap="none" lIns="0" rIns="0" tIns="0" bIns="0">
            <a:spAutoFit/>
          </a:bodyPr>
          <a:lstStyle/>
          <a:p>
            <a:r>
              <a:rPr sz="923" b="1">
                <a:solidFill>
                  <a:srgbClr val="FFFFFF"/>
                </a:solidFill>
                <a:latin typeface="Calibri"/>
              </a:rPr>
              <a:t>CAGR:</a:t>
            </a:r>
          </a:p>
        </p:txBody>
      </p:sp>
      <p:pic>
        <p:nvPicPr>
          <p:cNvPr id="55" name="Picture 54" descr="lock.png"/>
          <p:cNvPicPr>
            <a:picLocks noChangeAspect="1"/>
          </p:cNvPicPr>
          <p:nvPr/>
        </p:nvPicPr>
        <p:blipFill>
          <a:blip r:embed="rId5"/>
          <a:stretch>
            <a:fillRect/>
          </a:stretch>
        </p:blipFill>
        <p:spPr>
          <a:xfrm>
            <a:off x="2358973" y="2597042"/>
            <a:ext cx="108107" cy="157246"/>
          </a:xfrm>
          <a:prstGeom prst="rect">
            <a:avLst/>
          </a:prstGeom>
        </p:spPr>
      </p:pic>
      <p:sp>
        <p:nvSpPr>
          <p:cNvPr id="56" name="TextBox 55"/>
          <p:cNvSpPr txBox="1"/>
          <p:nvPr/>
        </p:nvSpPr>
        <p:spPr>
          <a:xfrm>
            <a:off x="2032418" y="2348082"/>
            <a:ext cx="382383" cy="159867"/>
          </a:xfrm>
          <a:prstGeom prst="rect">
            <a:avLst/>
          </a:prstGeom>
          <a:noFill/>
        </p:spPr>
        <p:txBody>
          <a:bodyPr wrap="none" lIns="0" rIns="0" tIns="0" bIns="0">
            <a:spAutoFit/>
          </a:bodyPr>
          <a:lstStyle/>
          <a:p>
            <a:r>
              <a:rPr sz="923" b="1">
                <a:solidFill>
                  <a:srgbClr val="FFFFFF"/>
                </a:solidFill>
                <a:latin typeface="Calibri"/>
              </a:rPr>
              <a:t>CAGR:</a:t>
            </a:r>
          </a:p>
        </p:txBody>
      </p:sp>
      <p:pic>
        <p:nvPicPr>
          <p:cNvPr id="57" name="Picture 56" descr="lock.png"/>
          <p:cNvPicPr>
            <a:picLocks noChangeAspect="1"/>
          </p:cNvPicPr>
          <p:nvPr/>
        </p:nvPicPr>
        <p:blipFill>
          <a:blip r:embed="rId5"/>
          <a:stretch>
            <a:fillRect/>
          </a:stretch>
        </p:blipFill>
        <p:spPr>
          <a:xfrm>
            <a:off x="2358973" y="2339867"/>
            <a:ext cx="108107" cy="157246"/>
          </a:xfrm>
          <a:prstGeom prst="rect">
            <a:avLst/>
          </a:prstGeom>
        </p:spPr>
      </p:pic>
      <p:sp>
        <p:nvSpPr>
          <p:cNvPr id="58" name="TextBox 57"/>
          <p:cNvSpPr txBox="1"/>
          <p:nvPr/>
        </p:nvSpPr>
        <p:spPr>
          <a:xfrm>
            <a:off x="276225" y="5372100"/>
            <a:ext cx="808161" cy="194310"/>
          </a:xfrm>
          <a:prstGeom prst="rect">
            <a:avLst/>
          </a:prstGeom>
          <a:noFill/>
        </p:spPr>
        <p:txBody>
          <a:bodyPr wrap="none" lIns="0" rIns="0" tIns="0" bIns="0">
            <a:spAutoFit/>
          </a:bodyPr>
          <a:lstStyle/>
          <a:p>
            <a:r>
              <a:rPr sz="1150" b="0">
                <a:solidFill>
                  <a:srgbClr val="2E2E2E"/>
                </a:solidFill>
                <a:latin typeface="Calibri"/>
              </a:rPr>
              <a:t>▪ Optimistic:</a:t>
            </a:r>
          </a:p>
        </p:txBody>
      </p:sp>
      <p:pic>
        <p:nvPicPr>
          <p:cNvPr id="59" name="Picture 58" descr="lock.png"/>
          <p:cNvPicPr>
            <a:picLocks noChangeAspect="1"/>
          </p:cNvPicPr>
          <p:nvPr/>
        </p:nvPicPr>
        <p:blipFill>
          <a:blip r:embed="rId5"/>
          <a:stretch>
            <a:fillRect/>
          </a:stretch>
        </p:blipFill>
        <p:spPr>
          <a:xfrm>
            <a:off x="1033540" y="5361876"/>
            <a:ext cx="134549" cy="195707"/>
          </a:xfrm>
          <a:prstGeom prst="rect">
            <a:avLst/>
          </a:prstGeom>
        </p:spPr>
      </p:pic>
      <p:sp>
        <p:nvSpPr>
          <p:cNvPr id="60" name="TextBox 59"/>
          <p:cNvSpPr txBox="1"/>
          <p:nvPr/>
        </p:nvSpPr>
        <p:spPr>
          <a:xfrm>
            <a:off x="1208649" y="5372100"/>
            <a:ext cx="1203808" cy="194310"/>
          </a:xfrm>
          <a:prstGeom prst="rect">
            <a:avLst/>
          </a:prstGeom>
          <a:noFill/>
        </p:spPr>
        <p:txBody>
          <a:bodyPr wrap="none" lIns="0" rIns="0" tIns="0" bIns="0">
            <a:spAutoFit/>
          </a:bodyPr>
          <a:lstStyle/>
          <a:p>
            <a:r>
              <a:rPr sz="1150" b="0">
                <a:solidFill>
                  <a:srgbClr val="2E2E2E"/>
                </a:solidFill>
                <a:latin typeface="Calibri"/>
              </a:rPr>
              <a:t>US$ Mn by 2036 at</a:t>
            </a:r>
          </a:p>
        </p:txBody>
      </p:sp>
      <p:pic>
        <p:nvPicPr>
          <p:cNvPr id="61" name="Picture 60" descr="lock.png"/>
          <p:cNvPicPr>
            <a:picLocks noChangeAspect="1"/>
          </p:cNvPicPr>
          <p:nvPr/>
        </p:nvPicPr>
        <p:blipFill>
          <a:blip r:embed="rId5"/>
          <a:stretch>
            <a:fillRect/>
          </a:stretch>
        </p:blipFill>
        <p:spPr>
          <a:xfrm>
            <a:off x="2361612" y="5361876"/>
            <a:ext cx="134549" cy="195707"/>
          </a:xfrm>
          <a:prstGeom prst="rect">
            <a:avLst/>
          </a:prstGeom>
        </p:spPr>
      </p:pic>
      <p:sp>
        <p:nvSpPr>
          <p:cNvPr id="62" name="TextBox 61"/>
          <p:cNvSpPr txBox="1"/>
          <p:nvPr/>
        </p:nvSpPr>
        <p:spPr>
          <a:xfrm>
            <a:off x="2536721" y="5372100"/>
            <a:ext cx="446726" cy="194310"/>
          </a:xfrm>
          <a:prstGeom prst="rect">
            <a:avLst/>
          </a:prstGeom>
          <a:noFill/>
        </p:spPr>
        <p:txBody>
          <a:bodyPr wrap="none" lIns="0" rIns="0" tIns="0" bIns="0">
            <a:spAutoFit/>
          </a:bodyPr>
          <a:lstStyle/>
          <a:p>
            <a:r>
              <a:rPr sz="1150" b="0">
                <a:solidFill>
                  <a:srgbClr val="2E2E2E"/>
                </a:solidFill>
                <a:latin typeface="Calibri"/>
              </a:rPr>
              <a:t>CAGR.</a:t>
            </a:r>
          </a:p>
        </p:txBody>
      </p:sp>
      <p:sp>
        <p:nvSpPr>
          <p:cNvPr id="63" name="TextBox 62"/>
          <p:cNvSpPr txBox="1"/>
          <p:nvPr/>
        </p:nvSpPr>
        <p:spPr>
          <a:xfrm>
            <a:off x="276225" y="5599938"/>
            <a:ext cx="1448271" cy="194310"/>
          </a:xfrm>
          <a:prstGeom prst="rect">
            <a:avLst/>
          </a:prstGeom>
          <a:noFill/>
        </p:spPr>
        <p:txBody>
          <a:bodyPr wrap="none" lIns="0" rIns="0" tIns="0" bIns="0">
            <a:spAutoFit/>
          </a:bodyPr>
          <a:lstStyle/>
          <a:p>
            <a:r>
              <a:rPr sz="1150" b="0">
                <a:solidFill>
                  <a:srgbClr val="2E2E2E"/>
                </a:solidFill>
                <a:latin typeface="Calibri"/>
              </a:rPr>
              <a:t>▪ Likely (base forecast):</a:t>
            </a:r>
          </a:p>
        </p:txBody>
      </p:sp>
      <p:pic>
        <p:nvPicPr>
          <p:cNvPr id="64" name="Picture 63" descr="lock.png"/>
          <p:cNvPicPr>
            <a:picLocks noChangeAspect="1"/>
          </p:cNvPicPr>
          <p:nvPr/>
        </p:nvPicPr>
        <p:blipFill>
          <a:blip r:embed="rId5"/>
          <a:stretch>
            <a:fillRect/>
          </a:stretch>
        </p:blipFill>
        <p:spPr>
          <a:xfrm>
            <a:off x="1673650" y="5589714"/>
            <a:ext cx="134549" cy="195707"/>
          </a:xfrm>
          <a:prstGeom prst="rect">
            <a:avLst/>
          </a:prstGeom>
        </p:spPr>
      </p:pic>
      <p:sp>
        <p:nvSpPr>
          <p:cNvPr id="65" name="TextBox 64"/>
          <p:cNvSpPr txBox="1"/>
          <p:nvPr/>
        </p:nvSpPr>
        <p:spPr>
          <a:xfrm>
            <a:off x="1848759" y="5599938"/>
            <a:ext cx="698053" cy="194310"/>
          </a:xfrm>
          <a:prstGeom prst="rect">
            <a:avLst/>
          </a:prstGeom>
          <a:noFill/>
        </p:spPr>
        <p:txBody>
          <a:bodyPr wrap="none" lIns="0" rIns="0" tIns="0" bIns="0">
            <a:spAutoFit/>
          </a:bodyPr>
          <a:lstStyle/>
          <a:p>
            <a:r>
              <a:rPr sz="1150" b="0">
                <a:solidFill>
                  <a:srgbClr val="2E2E2E"/>
                </a:solidFill>
                <a:latin typeface="Calibri"/>
              </a:rPr>
              <a:t>US$ Mn at</a:t>
            </a:r>
          </a:p>
        </p:txBody>
      </p:sp>
      <p:pic>
        <p:nvPicPr>
          <p:cNvPr id="66" name="Picture 65" descr="lock.png"/>
          <p:cNvPicPr>
            <a:picLocks noChangeAspect="1"/>
          </p:cNvPicPr>
          <p:nvPr/>
        </p:nvPicPr>
        <p:blipFill>
          <a:blip r:embed="rId5"/>
          <a:stretch>
            <a:fillRect/>
          </a:stretch>
        </p:blipFill>
        <p:spPr>
          <a:xfrm>
            <a:off x="2495966" y="5589714"/>
            <a:ext cx="134549" cy="195707"/>
          </a:xfrm>
          <a:prstGeom prst="rect">
            <a:avLst/>
          </a:prstGeom>
        </p:spPr>
      </p:pic>
      <p:sp>
        <p:nvSpPr>
          <p:cNvPr id="67" name="TextBox 66"/>
          <p:cNvSpPr txBox="1"/>
          <p:nvPr/>
        </p:nvSpPr>
        <p:spPr>
          <a:xfrm>
            <a:off x="2671076" y="5599938"/>
            <a:ext cx="446726" cy="194310"/>
          </a:xfrm>
          <a:prstGeom prst="rect">
            <a:avLst/>
          </a:prstGeom>
          <a:noFill/>
        </p:spPr>
        <p:txBody>
          <a:bodyPr wrap="none" lIns="0" rIns="0" tIns="0" bIns="0">
            <a:spAutoFit/>
          </a:bodyPr>
          <a:lstStyle/>
          <a:p>
            <a:r>
              <a:rPr sz="1150" b="0">
                <a:solidFill>
                  <a:srgbClr val="2E2E2E"/>
                </a:solidFill>
                <a:latin typeface="Calibri"/>
              </a:rPr>
              <a:t>CAGR.</a:t>
            </a:r>
          </a:p>
        </p:txBody>
      </p:sp>
      <p:sp>
        <p:nvSpPr>
          <p:cNvPr id="68" name="TextBox 67"/>
          <p:cNvSpPr txBox="1"/>
          <p:nvPr/>
        </p:nvSpPr>
        <p:spPr>
          <a:xfrm>
            <a:off x="276225" y="5827775"/>
            <a:ext cx="969615" cy="194310"/>
          </a:xfrm>
          <a:prstGeom prst="rect">
            <a:avLst/>
          </a:prstGeom>
          <a:noFill/>
        </p:spPr>
        <p:txBody>
          <a:bodyPr wrap="none" lIns="0" rIns="0" tIns="0" bIns="0">
            <a:spAutoFit/>
          </a:bodyPr>
          <a:lstStyle/>
          <a:p>
            <a:r>
              <a:rPr sz="1150" b="0">
                <a:solidFill>
                  <a:srgbClr val="2E2E2E"/>
                </a:solidFill>
                <a:latin typeface="Calibri"/>
              </a:rPr>
              <a:t>▪ Conservative:</a:t>
            </a:r>
          </a:p>
        </p:txBody>
      </p:sp>
      <p:pic>
        <p:nvPicPr>
          <p:cNvPr id="69" name="Picture 68" descr="lock.png"/>
          <p:cNvPicPr>
            <a:picLocks noChangeAspect="1"/>
          </p:cNvPicPr>
          <p:nvPr/>
        </p:nvPicPr>
        <p:blipFill>
          <a:blip r:embed="rId5"/>
          <a:stretch>
            <a:fillRect/>
          </a:stretch>
        </p:blipFill>
        <p:spPr>
          <a:xfrm>
            <a:off x="1194994" y="5817552"/>
            <a:ext cx="134549" cy="195707"/>
          </a:xfrm>
          <a:prstGeom prst="rect">
            <a:avLst/>
          </a:prstGeom>
        </p:spPr>
      </p:pic>
      <p:sp>
        <p:nvSpPr>
          <p:cNvPr id="70" name="TextBox 69"/>
          <p:cNvSpPr txBox="1"/>
          <p:nvPr/>
        </p:nvSpPr>
        <p:spPr>
          <a:xfrm>
            <a:off x="1370103" y="5827775"/>
            <a:ext cx="698053" cy="194310"/>
          </a:xfrm>
          <a:prstGeom prst="rect">
            <a:avLst/>
          </a:prstGeom>
          <a:noFill/>
        </p:spPr>
        <p:txBody>
          <a:bodyPr wrap="none" lIns="0" rIns="0" tIns="0" bIns="0">
            <a:spAutoFit/>
          </a:bodyPr>
          <a:lstStyle/>
          <a:p>
            <a:r>
              <a:rPr sz="1150" b="0">
                <a:solidFill>
                  <a:srgbClr val="2E2E2E"/>
                </a:solidFill>
                <a:latin typeface="Calibri"/>
              </a:rPr>
              <a:t>US$ Mn at</a:t>
            </a:r>
          </a:p>
        </p:txBody>
      </p:sp>
      <p:pic>
        <p:nvPicPr>
          <p:cNvPr id="71" name="Picture 70" descr="lock.png"/>
          <p:cNvPicPr>
            <a:picLocks noChangeAspect="1"/>
          </p:cNvPicPr>
          <p:nvPr/>
        </p:nvPicPr>
        <p:blipFill>
          <a:blip r:embed="rId5"/>
          <a:stretch>
            <a:fillRect/>
          </a:stretch>
        </p:blipFill>
        <p:spPr>
          <a:xfrm>
            <a:off x="2017310" y="5817552"/>
            <a:ext cx="134549" cy="195707"/>
          </a:xfrm>
          <a:prstGeom prst="rect">
            <a:avLst/>
          </a:prstGeom>
        </p:spPr>
      </p:pic>
      <p:sp>
        <p:nvSpPr>
          <p:cNvPr id="72" name="TextBox 71"/>
          <p:cNvSpPr txBox="1"/>
          <p:nvPr/>
        </p:nvSpPr>
        <p:spPr>
          <a:xfrm>
            <a:off x="2192420" y="5827775"/>
            <a:ext cx="446726" cy="194310"/>
          </a:xfrm>
          <a:prstGeom prst="rect">
            <a:avLst/>
          </a:prstGeom>
          <a:noFill/>
        </p:spPr>
        <p:txBody>
          <a:bodyPr wrap="none" lIns="0" rIns="0" tIns="0" bIns="0">
            <a:spAutoFit/>
          </a:bodyPr>
          <a:lstStyle/>
          <a:p>
            <a:r>
              <a:rPr sz="1150" b="0">
                <a:solidFill>
                  <a:srgbClr val="2E2E2E"/>
                </a:solidFill>
                <a:latin typeface="Calibri"/>
              </a:rPr>
              <a:t>CAGR.</a:t>
            </a:r>
          </a:p>
        </p:txBody>
      </p:sp>
      <p:sp>
        <p:nvSpPr>
          <p:cNvPr id="73" name="TextBox 72"/>
          <p:cNvSpPr txBox="1"/>
          <p:nvPr/>
        </p:nvSpPr>
        <p:spPr>
          <a:xfrm>
            <a:off x="276225" y="6055613"/>
            <a:ext cx="3660130" cy="194310"/>
          </a:xfrm>
          <a:prstGeom prst="rect">
            <a:avLst/>
          </a:prstGeom>
          <a:noFill/>
        </p:spPr>
        <p:txBody>
          <a:bodyPr wrap="none" lIns="0" rIns="0" tIns="0" bIns="0">
            <a:spAutoFit/>
          </a:bodyPr>
          <a:lstStyle/>
          <a:p>
            <a:r>
              <a:rPr sz="1150" b="0">
                <a:solidFill>
                  <a:srgbClr val="2E2E2E"/>
                </a:solidFill>
                <a:latin typeface="Calibri"/>
              </a:rPr>
              <a:t>▪ Scenarios flex the base forecast's year-on-year growth by ±</a:t>
            </a:r>
          </a:p>
        </p:txBody>
      </p:sp>
      <p:pic>
        <p:nvPicPr>
          <p:cNvPr id="74" name="Picture 73" descr="lock.png"/>
          <p:cNvPicPr>
            <a:picLocks noChangeAspect="1"/>
          </p:cNvPicPr>
          <p:nvPr/>
        </p:nvPicPr>
        <p:blipFill>
          <a:blip r:embed="rId5"/>
          <a:stretch>
            <a:fillRect/>
          </a:stretch>
        </p:blipFill>
        <p:spPr>
          <a:xfrm>
            <a:off x="3885509" y="6045390"/>
            <a:ext cx="134549" cy="195707"/>
          </a:xfrm>
          <a:prstGeom prst="rect">
            <a:avLst/>
          </a:prstGeom>
        </p:spPr>
      </p:pic>
      <p:sp>
        <p:nvSpPr>
          <p:cNvPr id="75" name="TextBox 74"/>
          <p:cNvSpPr txBox="1"/>
          <p:nvPr/>
        </p:nvSpPr>
        <p:spPr>
          <a:xfrm>
            <a:off x="4060618" y="6055613"/>
            <a:ext cx="1900683" cy="194310"/>
          </a:xfrm>
          <a:prstGeom prst="rect">
            <a:avLst/>
          </a:prstGeom>
          <a:noFill/>
        </p:spPr>
        <p:txBody>
          <a:bodyPr wrap="none" lIns="0" rIns="0" tIns="0" bIns="0">
            <a:spAutoFit/>
          </a:bodyPr>
          <a:lstStyle/>
          <a:p>
            <a:r>
              <a:rPr sz="1150" b="0">
                <a:solidFill>
                  <a:srgbClr val="2E2E2E"/>
                </a:solidFill>
                <a:latin typeface="Calibri"/>
              </a:rPr>
              <a:t>across the 2026–2036 horizon.</a:t>
            </a:r>
          </a:p>
        </p:txBody>
      </p:sp>
      <p:sp>
        <p:nvSpPr>
          <p:cNvPr id="76" name="lockshield_33"/>
          <p:cNvSpPr/>
          <p:nvPr/>
        </p:nvSpPr>
        <p:spPr>
          <a:xfrm>
            <a:off x="6267450" y="2266950"/>
            <a:ext cx="5686425" cy="24955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3F8FD"/>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3F8FD"/>
              </a:gs>
              <a:gs pos="100000">
                <a:srgbClr val="DCE9F6"/>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FE0F0">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9C8E6">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B7D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A5F8F"/>
              </a:gs>
              <a:gs pos="100000">
                <a:srgbClr val="6FA6D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MR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6</a:t>
            </a:r>
          </a:p>
        </p:txBody>
      </p:sp>
      <p:pic>
        <p:nvPicPr>
          <p:cNvPr id="8" name="Picture 7" descr="tmr_logo.png"/>
          <p:cNvPicPr>
            <a:picLocks noChangeAspect="1"/>
          </p:cNvPicPr>
          <p:nvPr/>
        </p:nvPicPr>
        <p:blipFill>
          <a:blip r:embed="rId2"/>
          <a:stretch>
            <a:fillRect/>
          </a:stretch>
        </p:blipFill>
        <p:spPr>
          <a:xfrm>
            <a:off x="411480" y="274320"/>
            <a:ext cx="1307592" cy="975505"/>
          </a:xfrm>
          <a:prstGeom prst="rect">
            <a:avLst/>
          </a:prstGeom>
        </p:spPr>
      </p:pic>
      <p:sp>
        <p:nvSpPr>
          <p:cNvPr id="9" name="TextBox 8"/>
          <p:cNvSpPr txBox="1"/>
          <p:nvPr/>
        </p:nvSpPr>
        <p:spPr>
          <a:xfrm>
            <a:off x="914400" y="2555875"/>
            <a:ext cx="8572500" cy="304800"/>
          </a:xfrm>
          <a:prstGeom prst="rect">
            <a:avLst/>
          </a:prstGeom>
          <a:noFill/>
        </p:spPr>
        <p:txBody>
          <a:bodyPr wrap="none" lIns="0" tIns="0">
            <a:spAutoFit/>
          </a:bodyPr>
          <a:lstStyle/>
          <a:p>
            <a:r>
              <a:rPr sz="1800" b="0">
                <a:solidFill>
                  <a:srgbClr val="2A5F8F"/>
                </a:solidFill>
                <a:latin typeface="Calibri"/>
              </a:rPr>
              <a:t>Egg Protein Membrane Market</a:t>
            </a:r>
          </a:p>
        </p:txBody>
      </p:sp>
      <p:sp>
        <p:nvSpPr>
          <p:cNvPr id="10" name="TMR Section Title"/>
          <p:cNvSpPr txBox="1"/>
          <p:nvPr/>
        </p:nvSpPr>
        <p:spPr>
          <a:xfrm>
            <a:off x="914400" y="2898775"/>
            <a:ext cx="8572500" cy="514350"/>
          </a:xfrm>
          <a:prstGeom prst="rect">
            <a:avLst/>
          </a:prstGeom>
          <a:noFill/>
        </p:spPr>
        <p:txBody>
          <a:bodyPr wrap="square" lIns="0" rIns="0" tIns="0">
            <a:spAutoFit/>
          </a:bodyPr>
          <a:lstStyle/>
          <a:p>
            <a:r>
              <a:rPr sz="3000" b="1">
                <a:solidFill>
                  <a:srgbClr val="0E2A5C"/>
                </a:solidFill>
                <a:latin typeface="Calibri"/>
              </a:rPr>
              <a:t>Global Market Analysis By Region</a:t>
            </a:r>
          </a:p>
        </p:txBody>
      </p:sp>
      <p:sp>
        <p:nvSpPr>
          <p:cNvPr id="11" name="TextBox 10"/>
          <p:cNvSpPr txBox="1"/>
          <p:nvPr/>
        </p:nvSpPr>
        <p:spPr>
          <a:xfrm>
            <a:off x="914400" y="3584575"/>
            <a:ext cx="8458200" cy="16700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Global Egg Protein Membrane – Regional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Analysis By Region</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Volume Share Analysis By Region</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Value Share Analysis By Region</a:t>
            </a:r>
          </a:p>
        </p:txBody>
      </p:sp>
      <p:sp>
        <p:nvSpPr>
          <p:cNvPr id="12" name="Rectangle 11"/>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Egg Protein Membrane – Regional Outlook</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Regional analysis of size, growth and share across 6 regions, highlighting where value concentrates, 2026–2036</a:t>
            </a:r>
          </a:p>
        </p:txBody>
      </p:sp>
      <p:sp>
        <p:nvSpPr>
          <p:cNvPr id="7" name="TextBox 6"/>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By Region view breaks the Global market down geographically. Each region is evaluated on market size, growth outlook and adoption trends across the forecast period.</a:t>
            </a:r>
          </a:p>
        </p:txBody>
      </p:sp>
      <p:sp>
        <p:nvSpPr>
          <p:cNvPr id="8" name="Rectangle 7"/>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Region</a:t>
            </a:r>
          </a:p>
        </p:txBody>
      </p:sp>
      <p:sp>
        <p:nvSpPr>
          <p:cNvPr id="10" name="Rectangle 9"/>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2" name="Rectangle 11"/>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4" name="Rectangle 13"/>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16" name="Rounded Rectangle 15"/>
          <p:cNvSpPr/>
          <p:nvPr/>
        </p:nvSpPr>
        <p:spPr>
          <a:xfrm>
            <a:off x="1866900" y="1773916"/>
            <a:ext cx="1571625"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866900" y="1992961"/>
            <a:ext cx="1571625"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905000"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North America</a:t>
            </a:r>
          </a:p>
        </p:txBody>
      </p:sp>
      <p:sp>
        <p:nvSpPr>
          <p:cNvPr id="19" name="Rectangle 18"/>
          <p:cNvSpPr/>
          <p:nvPr/>
        </p:nvSpPr>
        <p:spPr>
          <a:xfrm>
            <a:off x="1866900"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0" name="Rectangle 19"/>
          <p:cNvSpPr/>
          <p:nvPr/>
        </p:nvSpPr>
        <p:spPr>
          <a:xfrm>
            <a:off x="1866900"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1" name="Rectangle 20"/>
          <p:cNvSpPr/>
          <p:nvPr/>
        </p:nvSpPr>
        <p:spPr>
          <a:xfrm>
            <a:off x="1866900"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2" name="Oval 21"/>
          <p:cNvSpPr/>
          <p:nvPr/>
        </p:nvSpPr>
        <p:spPr>
          <a:xfrm>
            <a:off x="2490788"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23" name="Rounded Rectangle 22"/>
          <p:cNvSpPr/>
          <p:nvPr/>
        </p:nvSpPr>
        <p:spPr>
          <a:xfrm>
            <a:off x="3552825" y="1773916"/>
            <a:ext cx="1571625"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552825" y="1992961"/>
            <a:ext cx="1571625"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590925"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Europe</a:t>
            </a:r>
          </a:p>
        </p:txBody>
      </p:sp>
      <p:sp>
        <p:nvSpPr>
          <p:cNvPr id="26" name="Rectangle 25"/>
          <p:cNvSpPr/>
          <p:nvPr/>
        </p:nvSpPr>
        <p:spPr>
          <a:xfrm>
            <a:off x="3552825"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27" name="Rectangle 26"/>
          <p:cNvSpPr/>
          <p:nvPr/>
        </p:nvSpPr>
        <p:spPr>
          <a:xfrm>
            <a:off x="3552825"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28" name="Rectangle 27"/>
          <p:cNvSpPr/>
          <p:nvPr/>
        </p:nvSpPr>
        <p:spPr>
          <a:xfrm>
            <a:off x="3552825"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29" name="Oval 28"/>
          <p:cNvSpPr/>
          <p:nvPr/>
        </p:nvSpPr>
        <p:spPr>
          <a:xfrm>
            <a:off x="4176712"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30" name="Rounded Rectangle 29"/>
          <p:cNvSpPr/>
          <p:nvPr/>
        </p:nvSpPr>
        <p:spPr>
          <a:xfrm>
            <a:off x="5238750" y="1773916"/>
            <a:ext cx="1571625" cy="438089"/>
          </a:xfrm>
          <a:prstGeom prst="roundRect">
            <a:avLst>
              <a:gd name="adj" fmla="val 18000"/>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238750" y="1992961"/>
            <a:ext cx="1571625" cy="219044"/>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276850"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East Asia</a:t>
            </a:r>
          </a:p>
        </p:txBody>
      </p:sp>
      <p:sp>
        <p:nvSpPr>
          <p:cNvPr id="33" name="Rectangle 32"/>
          <p:cNvSpPr/>
          <p:nvPr/>
        </p:nvSpPr>
        <p:spPr>
          <a:xfrm>
            <a:off x="5238750"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4" name="Rectangle 33"/>
          <p:cNvSpPr/>
          <p:nvPr/>
        </p:nvSpPr>
        <p:spPr>
          <a:xfrm>
            <a:off x="5238750"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5" name="Rectangle 34"/>
          <p:cNvSpPr/>
          <p:nvPr/>
        </p:nvSpPr>
        <p:spPr>
          <a:xfrm>
            <a:off x="5238750"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6" name="Oval 35"/>
          <p:cNvSpPr/>
          <p:nvPr/>
        </p:nvSpPr>
        <p:spPr>
          <a:xfrm>
            <a:off x="5862638" y="1445350"/>
            <a:ext cx="323850" cy="310313"/>
          </a:xfrm>
          <a:prstGeom prst="ellipse">
            <a:avLst/>
          </a:prstGeom>
          <a:solidFill>
            <a:srgbClr val="0081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3</a:t>
            </a:r>
          </a:p>
        </p:txBody>
      </p:sp>
      <p:sp>
        <p:nvSpPr>
          <p:cNvPr id="37" name="Rounded Rectangle 36"/>
          <p:cNvSpPr/>
          <p:nvPr/>
        </p:nvSpPr>
        <p:spPr>
          <a:xfrm>
            <a:off x="6924675" y="1773916"/>
            <a:ext cx="1571625" cy="438089"/>
          </a:xfrm>
          <a:prstGeom prst="roundRect">
            <a:avLst>
              <a:gd name="adj" fmla="val 18000"/>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6924675" y="1992961"/>
            <a:ext cx="1571625" cy="219044"/>
          </a:xfrm>
          <a:prstGeom prst="rect">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962775"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South Asia &amp; Pacific</a:t>
            </a:r>
          </a:p>
        </p:txBody>
      </p:sp>
      <p:sp>
        <p:nvSpPr>
          <p:cNvPr id="40" name="Rectangle 39"/>
          <p:cNvSpPr/>
          <p:nvPr/>
        </p:nvSpPr>
        <p:spPr>
          <a:xfrm>
            <a:off x="6924675"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1" name="Rectangle 40"/>
          <p:cNvSpPr/>
          <p:nvPr/>
        </p:nvSpPr>
        <p:spPr>
          <a:xfrm>
            <a:off x="6924675"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2" name="Rectangle 41"/>
          <p:cNvSpPr/>
          <p:nvPr/>
        </p:nvSpPr>
        <p:spPr>
          <a:xfrm>
            <a:off x="6924675"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3" name="Oval 42"/>
          <p:cNvSpPr/>
          <p:nvPr/>
        </p:nvSpPr>
        <p:spPr>
          <a:xfrm>
            <a:off x="7548562" y="1445350"/>
            <a:ext cx="323850" cy="310313"/>
          </a:xfrm>
          <a:prstGeom prst="ellipse">
            <a:avLst/>
          </a:prstGeom>
          <a:solidFill>
            <a:srgbClr val="6F3CC2"/>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4</a:t>
            </a:r>
          </a:p>
        </p:txBody>
      </p:sp>
      <p:sp>
        <p:nvSpPr>
          <p:cNvPr id="44" name="Rounded Rectangle 43"/>
          <p:cNvSpPr/>
          <p:nvPr/>
        </p:nvSpPr>
        <p:spPr>
          <a:xfrm>
            <a:off x="8610600" y="1773916"/>
            <a:ext cx="1571625" cy="438089"/>
          </a:xfrm>
          <a:prstGeom prst="roundRect">
            <a:avLst>
              <a:gd name="adj" fmla="val 18000"/>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8610600" y="1992961"/>
            <a:ext cx="1571625" cy="219044"/>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648700"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Latin America</a:t>
            </a:r>
          </a:p>
        </p:txBody>
      </p:sp>
      <p:sp>
        <p:nvSpPr>
          <p:cNvPr id="47" name="Rectangle 46"/>
          <p:cNvSpPr/>
          <p:nvPr/>
        </p:nvSpPr>
        <p:spPr>
          <a:xfrm>
            <a:off x="8610600"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48" name="Rectangle 47"/>
          <p:cNvSpPr/>
          <p:nvPr/>
        </p:nvSpPr>
        <p:spPr>
          <a:xfrm>
            <a:off x="8610600"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49" name="Rectangle 48"/>
          <p:cNvSpPr/>
          <p:nvPr/>
        </p:nvSpPr>
        <p:spPr>
          <a:xfrm>
            <a:off x="8610600"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50" name="Oval 49"/>
          <p:cNvSpPr/>
          <p:nvPr/>
        </p:nvSpPr>
        <p:spPr>
          <a:xfrm>
            <a:off x="9234488" y="1445350"/>
            <a:ext cx="323850" cy="310313"/>
          </a:xfrm>
          <a:prstGeom prst="ellipse">
            <a:avLst/>
          </a:prstGeom>
          <a:solidFill>
            <a:srgbClr val="A86F00"/>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5</a:t>
            </a:r>
          </a:p>
        </p:txBody>
      </p:sp>
      <p:sp>
        <p:nvSpPr>
          <p:cNvPr id="51" name="Rounded Rectangle 50"/>
          <p:cNvSpPr/>
          <p:nvPr/>
        </p:nvSpPr>
        <p:spPr>
          <a:xfrm>
            <a:off x="10296525" y="1773916"/>
            <a:ext cx="1571625" cy="438089"/>
          </a:xfrm>
          <a:prstGeom prst="roundRect">
            <a:avLst>
              <a:gd name="adj" fmla="val 18000"/>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10296525" y="1992961"/>
            <a:ext cx="1571625" cy="219044"/>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10334625"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Middle East and Africa</a:t>
            </a:r>
          </a:p>
        </p:txBody>
      </p:sp>
      <p:sp>
        <p:nvSpPr>
          <p:cNvPr id="54" name="Rectangle 53"/>
          <p:cNvSpPr/>
          <p:nvPr/>
        </p:nvSpPr>
        <p:spPr>
          <a:xfrm>
            <a:off x="10296525"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
            </a:r>
          </a:p>
        </p:txBody>
      </p:sp>
      <p:sp>
        <p:nvSpPr>
          <p:cNvPr id="55" name="Rectangle 54"/>
          <p:cNvSpPr/>
          <p:nvPr/>
        </p:nvSpPr>
        <p:spPr>
          <a:xfrm>
            <a:off x="10296525"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
            </a:r>
          </a:p>
        </p:txBody>
      </p:sp>
      <p:sp>
        <p:nvSpPr>
          <p:cNvPr id="56" name="Rectangle 55"/>
          <p:cNvSpPr/>
          <p:nvPr/>
        </p:nvSpPr>
        <p:spPr>
          <a:xfrm>
            <a:off x="10296525"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
            </a:r>
          </a:p>
        </p:txBody>
      </p:sp>
      <p:sp>
        <p:nvSpPr>
          <p:cNvPr id="57" name="Oval 56"/>
          <p:cNvSpPr/>
          <p:nvPr/>
        </p:nvSpPr>
        <p:spPr>
          <a:xfrm>
            <a:off x="10920412" y="1445350"/>
            <a:ext cx="323850" cy="310313"/>
          </a:xfrm>
          <a:prstGeom prst="ellipse">
            <a:avLst/>
          </a:prstGeom>
          <a:solidFill>
            <a:srgbClr val="A35313"/>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6</a:t>
            </a:r>
          </a:p>
        </p:txBody>
      </p:sp>
      <p:sp>
        <p:nvSpPr>
          <p:cNvPr id="58" name="Rounded Rectangle 57"/>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B2E4A"/>
                </a:solidFill>
                <a:latin typeface="Calibri"/>
              </a:rPr>
              <a:t>Key Highlights</a:t>
            </a:r>
          </a:p>
        </p:txBody>
      </p:sp>
      <p:sp>
        <p:nvSpPr>
          <p:cNvPr id="60" name="Rectangle 59"/>
          <p:cNvSpPr/>
          <p:nvPr/>
        </p:nvSpPr>
        <p:spPr>
          <a:xfrm>
            <a:off x="457200" y="4146897"/>
            <a:ext cx="2971800" cy="18254"/>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457200" y="4219912"/>
            <a:ext cx="29718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2E2E2E"/>
                </a:solidFill>
                <a:latin typeface="Calibri"/>
              </a:rPr>
              <a:t/>
            </a:r>
          </a:p>
          <a:p>
            <a:pPr algn="l">
              <a:lnSpc>
                <a:spcPct val="110000"/>
              </a:lnSpc>
              <a:spcBef>
                <a:spcPts val="0"/>
              </a:spcBef>
              <a:spcAft>
                <a:spcPts val="500"/>
              </a:spcAft>
            </a:pPr>
            <a:r>
              <a:rPr sz="1100" b="0">
                <a:solidFill>
                  <a:srgbClr val="2E2E2E"/>
                </a:solidFill>
                <a:latin typeface="Calibri"/>
              </a:rPr>
              <a:t/>
            </a:r>
          </a:p>
        </p:txBody>
      </p:sp>
      <p:sp>
        <p:nvSpPr>
          <p:cNvPr id="62" name="Rounded Rectangle 61"/>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B2E4A"/>
                </a:solidFill>
                <a:latin typeface="Calibri"/>
              </a:rPr>
              <a:t>Region Insights</a:t>
            </a:r>
          </a:p>
        </p:txBody>
      </p:sp>
      <p:sp>
        <p:nvSpPr>
          <p:cNvPr id="64" name="Rectangle 63"/>
          <p:cNvSpPr/>
          <p:nvPr/>
        </p:nvSpPr>
        <p:spPr>
          <a:xfrm>
            <a:off x="3810000" y="4146897"/>
            <a:ext cx="4210050" cy="18254"/>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B2E4A"/>
                </a:solidFill>
                <a:latin typeface="Calibri"/>
              </a:rPr>
              <a:t/>
            </a:r>
            <a:r>
              <a:rPr sz="1100" b="1">
                <a:solidFill>
                  <a:srgbClr val="0B2E4A"/>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1">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08189"/>
                </a:solidFill>
                <a:latin typeface="Calibri"/>
              </a:rPr>
              <a:t/>
            </a:r>
            <a:r>
              <a:rPr sz="1100" b="1">
                <a:solidFill>
                  <a:srgbClr val="008189"/>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6F3CC2"/>
                </a:solidFill>
                <a:latin typeface="Calibri"/>
              </a:rPr>
              <a:t/>
            </a:r>
            <a:r>
              <a:rPr sz="1100" b="1">
                <a:solidFill>
                  <a:srgbClr val="6F3CC2"/>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A86F00"/>
                </a:solidFill>
                <a:latin typeface="Calibri"/>
              </a:rPr>
              <a:t/>
            </a:r>
            <a:r>
              <a:rPr sz="1100" b="1">
                <a:solidFill>
                  <a:srgbClr val="A86F00"/>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A35313"/>
                </a:solidFill>
                <a:latin typeface="Calibri"/>
              </a:rPr>
              <a:t/>
            </a:r>
            <a:r>
              <a:rPr sz="1100" b="1">
                <a:solidFill>
                  <a:srgbClr val="A35313"/>
                </a:solidFill>
                <a:latin typeface="Calibri"/>
              </a:rPr>
              <a:t/>
            </a:r>
            <a:r>
              <a:rPr sz="1100" b="0">
                <a:solidFill>
                  <a:srgbClr val="2E2E2E"/>
                </a:solidFill>
                <a:latin typeface="Calibri"/>
              </a:rPr>
              <a:t/>
            </a:r>
          </a:p>
        </p:txBody>
      </p:sp>
      <p:sp>
        <p:nvSpPr>
          <p:cNvPr id="66" name="Rounded Rectangle 65"/>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B2E4A"/>
                </a:solidFill>
                <a:latin typeface="Calibri"/>
              </a:rPr>
              <a:t>Region Overview</a:t>
            </a:r>
          </a:p>
        </p:txBody>
      </p:sp>
      <p:sp>
        <p:nvSpPr>
          <p:cNvPr id="68" name="Rectangle 67"/>
          <p:cNvSpPr/>
          <p:nvPr/>
        </p:nvSpPr>
        <p:spPr>
          <a:xfrm>
            <a:off x="8401050" y="4146897"/>
            <a:ext cx="3333750" cy="18254"/>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00ACAC"/>
                </a:solidFill>
                <a:latin typeface="Calibri"/>
              </a:rPr>
              <a:t>✓  </a:t>
            </a:r>
            <a:r>
              <a:rPr sz="1100" b="0">
                <a:solidFill>
                  <a:srgbClr val="2E2E2E"/>
                </a:solidFill>
                <a:latin typeface="Calibri"/>
              </a:rPr>
              <a:t>The By Region split shows where market value concentrates and where growth is fastest.</a:t>
            </a:r>
          </a:p>
          <a:p>
            <a:pPr algn="l">
              <a:lnSpc>
                <a:spcPct val="110000"/>
              </a:lnSpc>
              <a:spcBef>
                <a:spcPts val="0"/>
              </a:spcBef>
              <a:spcAft>
                <a:spcPts val="500"/>
              </a:spcAft>
            </a:pPr>
            <a:r>
              <a:rPr sz="1100" b="1">
                <a:solidFill>
                  <a:srgbClr val="00ACAC"/>
                </a:solidFill>
                <a:latin typeface="Calibri"/>
              </a:rPr>
              <a:t>✓  </a:t>
            </a:r>
            <a:r>
              <a:rPr sz="1100" b="0">
                <a:solidFill>
                  <a:srgbClr val="2E2E2E"/>
                </a:solidFill>
                <a:latin typeface="Calibri"/>
              </a:rPr>
              <a:t>Shifting demand and access dynamics are rebalancing the geographic mix through 2036.</a:t>
            </a:r>
          </a:p>
        </p:txBody>
      </p:sp>
      <p:sp>
        <p:nvSpPr>
          <p:cNvPr id="70" name="Rectangle 69"/>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B2E4A"/>
                </a:solidFill>
                <a:latin typeface="Calibri"/>
              </a:rPr>
              <a:t/>
            </a:r>
          </a:p>
        </p:txBody>
      </p:sp>
      <p:sp>
        <p:nvSpPr>
          <p:cNvPr id="72" name="TextBox 71"/>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TMR Analysis, 2026</a:t>
            </a:r>
          </a:p>
        </p:txBody>
      </p:sp>
      <p:sp>
        <p:nvSpPr>
          <p:cNvPr id="73" name="Rectangle 72"/>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75" name="Picture 74" descr="3_605_605E5C.png"/>
          <p:cNvPicPr>
            <a:picLocks noChangeAspect="1"/>
          </p:cNvPicPr>
          <p:nvPr/>
        </p:nvPicPr>
        <p:blipFill>
          <a:blip r:embed="rId4"/>
          <a:stretch>
            <a:fillRect/>
          </a:stretch>
        </p:blipFill>
        <p:spPr>
          <a:xfrm>
            <a:off x="2054848" y="2286582"/>
            <a:ext cx="1195728" cy="361950"/>
          </a:xfrm>
          <a:prstGeom prst="rect">
            <a:avLst/>
          </a:prstGeom>
        </p:spPr>
      </p:pic>
      <p:pic>
        <p:nvPicPr>
          <p:cNvPr id="76" name="Picture 75" descr="5_365_605E5C.png"/>
          <p:cNvPicPr>
            <a:picLocks noChangeAspect="1"/>
          </p:cNvPicPr>
          <p:nvPr/>
        </p:nvPicPr>
        <p:blipFill>
          <a:blip r:embed="rId5"/>
          <a:stretch>
            <a:fillRect/>
          </a:stretch>
        </p:blipFill>
        <p:spPr>
          <a:xfrm>
            <a:off x="2054848" y="2779432"/>
            <a:ext cx="1195728" cy="361950"/>
          </a:xfrm>
          <a:prstGeom prst="rect">
            <a:avLst/>
          </a:prstGeom>
        </p:spPr>
      </p:pic>
      <p:pic>
        <p:nvPicPr>
          <p:cNvPr id="77" name="Picture 76" descr="4_1__605E5C.png"/>
          <p:cNvPicPr>
            <a:picLocks noChangeAspect="1"/>
          </p:cNvPicPr>
          <p:nvPr/>
        </p:nvPicPr>
        <p:blipFill>
          <a:blip r:embed="rId6"/>
          <a:stretch>
            <a:fillRect/>
          </a:stretch>
        </p:blipFill>
        <p:spPr>
          <a:xfrm>
            <a:off x="2161494" y="3272281"/>
            <a:ext cx="982436" cy="361950"/>
          </a:xfrm>
          <a:prstGeom prst="rect">
            <a:avLst/>
          </a:prstGeom>
        </p:spPr>
      </p:pic>
      <p:pic>
        <p:nvPicPr>
          <p:cNvPr id="78" name="Picture 77" descr="2_949_605E5C.png"/>
          <p:cNvPicPr>
            <a:picLocks noChangeAspect="1"/>
          </p:cNvPicPr>
          <p:nvPr/>
        </p:nvPicPr>
        <p:blipFill>
          <a:blip r:embed="rId7"/>
          <a:stretch>
            <a:fillRect/>
          </a:stretch>
        </p:blipFill>
        <p:spPr>
          <a:xfrm>
            <a:off x="3740773" y="2286582"/>
            <a:ext cx="1195728" cy="361950"/>
          </a:xfrm>
          <a:prstGeom prst="rect">
            <a:avLst/>
          </a:prstGeom>
        </p:spPr>
      </p:pic>
      <p:pic>
        <p:nvPicPr>
          <p:cNvPr id="79" name="Picture 78" descr="5_065_605E5C.png"/>
          <p:cNvPicPr>
            <a:picLocks noChangeAspect="1"/>
          </p:cNvPicPr>
          <p:nvPr/>
        </p:nvPicPr>
        <p:blipFill>
          <a:blip r:embed="rId8"/>
          <a:stretch>
            <a:fillRect/>
          </a:stretch>
        </p:blipFill>
        <p:spPr>
          <a:xfrm>
            <a:off x="3740773" y="2779432"/>
            <a:ext cx="1195728" cy="361950"/>
          </a:xfrm>
          <a:prstGeom prst="rect">
            <a:avLst/>
          </a:prstGeom>
        </p:spPr>
      </p:pic>
      <p:pic>
        <p:nvPicPr>
          <p:cNvPr id="80" name="Picture 79" descr="5_6__605E5C.png"/>
          <p:cNvPicPr>
            <a:picLocks noChangeAspect="1"/>
          </p:cNvPicPr>
          <p:nvPr/>
        </p:nvPicPr>
        <p:blipFill>
          <a:blip r:embed="rId9"/>
          <a:stretch>
            <a:fillRect/>
          </a:stretch>
        </p:blipFill>
        <p:spPr>
          <a:xfrm>
            <a:off x="3847419" y="3272281"/>
            <a:ext cx="982436" cy="361950"/>
          </a:xfrm>
          <a:prstGeom prst="rect">
            <a:avLst/>
          </a:prstGeom>
        </p:spPr>
      </p:pic>
      <p:pic>
        <p:nvPicPr>
          <p:cNvPr id="81" name="Picture 80" descr="1_420_605E5C.png"/>
          <p:cNvPicPr>
            <a:picLocks noChangeAspect="1"/>
          </p:cNvPicPr>
          <p:nvPr/>
        </p:nvPicPr>
        <p:blipFill>
          <a:blip r:embed="rId10"/>
          <a:stretch>
            <a:fillRect/>
          </a:stretch>
        </p:blipFill>
        <p:spPr>
          <a:xfrm>
            <a:off x="5426698" y="2286582"/>
            <a:ext cx="1195728" cy="361950"/>
          </a:xfrm>
          <a:prstGeom prst="rect">
            <a:avLst/>
          </a:prstGeom>
        </p:spPr>
      </p:pic>
      <p:pic>
        <p:nvPicPr>
          <p:cNvPr id="82" name="Picture 81" descr="2_268_605E5C.png"/>
          <p:cNvPicPr>
            <a:picLocks noChangeAspect="1"/>
          </p:cNvPicPr>
          <p:nvPr/>
        </p:nvPicPr>
        <p:blipFill>
          <a:blip r:embed="rId11"/>
          <a:stretch>
            <a:fillRect/>
          </a:stretch>
        </p:blipFill>
        <p:spPr>
          <a:xfrm>
            <a:off x="5426698" y="2779432"/>
            <a:ext cx="1195728" cy="361950"/>
          </a:xfrm>
          <a:prstGeom prst="rect">
            <a:avLst/>
          </a:prstGeom>
        </p:spPr>
      </p:pic>
      <p:pic>
        <p:nvPicPr>
          <p:cNvPr id="83" name="Picture 82" descr="4_8__605E5C.png"/>
          <p:cNvPicPr>
            <a:picLocks noChangeAspect="1"/>
          </p:cNvPicPr>
          <p:nvPr/>
        </p:nvPicPr>
        <p:blipFill>
          <a:blip r:embed="rId12"/>
          <a:stretch>
            <a:fillRect/>
          </a:stretch>
        </p:blipFill>
        <p:spPr>
          <a:xfrm>
            <a:off x="5533344" y="3272281"/>
            <a:ext cx="982436" cy="361950"/>
          </a:xfrm>
          <a:prstGeom prst="rect">
            <a:avLst/>
          </a:prstGeom>
        </p:spPr>
      </p:pic>
      <p:pic>
        <p:nvPicPr>
          <p:cNvPr id="84" name="Picture 83" descr="1_311_605E5C.png"/>
          <p:cNvPicPr>
            <a:picLocks noChangeAspect="1"/>
          </p:cNvPicPr>
          <p:nvPr/>
        </p:nvPicPr>
        <p:blipFill>
          <a:blip r:embed="rId13"/>
          <a:stretch>
            <a:fillRect/>
          </a:stretch>
        </p:blipFill>
        <p:spPr>
          <a:xfrm>
            <a:off x="7112623" y="2286582"/>
            <a:ext cx="1195728" cy="361950"/>
          </a:xfrm>
          <a:prstGeom prst="rect">
            <a:avLst/>
          </a:prstGeom>
        </p:spPr>
      </p:pic>
      <p:pic>
        <p:nvPicPr>
          <p:cNvPr id="85" name="Picture 84" descr="2_316_605E5C.png"/>
          <p:cNvPicPr>
            <a:picLocks noChangeAspect="1"/>
          </p:cNvPicPr>
          <p:nvPr/>
        </p:nvPicPr>
        <p:blipFill>
          <a:blip r:embed="rId14"/>
          <a:stretch>
            <a:fillRect/>
          </a:stretch>
        </p:blipFill>
        <p:spPr>
          <a:xfrm>
            <a:off x="7112623" y="2779432"/>
            <a:ext cx="1195728" cy="361950"/>
          </a:xfrm>
          <a:prstGeom prst="rect">
            <a:avLst/>
          </a:prstGeom>
        </p:spPr>
      </p:pic>
      <p:pic>
        <p:nvPicPr>
          <p:cNvPr id="86" name="Picture 85" descr="5_9__605E5C.png"/>
          <p:cNvPicPr>
            <a:picLocks noChangeAspect="1"/>
          </p:cNvPicPr>
          <p:nvPr/>
        </p:nvPicPr>
        <p:blipFill>
          <a:blip r:embed="rId15"/>
          <a:stretch>
            <a:fillRect/>
          </a:stretch>
        </p:blipFill>
        <p:spPr>
          <a:xfrm>
            <a:off x="7219269" y="3272281"/>
            <a:ext cx="982436" cy="361950"/>
          </a:xfrm>
          <a:prstGeom prst="rect">
            <a:avLst/>
          </a:prstGeom>
        </p:spPr>
      </p:pic>
      <p:pic>
        <p:nvPicPr>
          <p:cNvPr id="87" name="Picture 86" descr="873_9_605E5C.png"/>
          <p:cNvPicPr>
            <a:picLocks noChangeAspect="1"/>
          </p:cNvPicPr>
          <p:nvPr/>
        </p:nvPicPr>
        <p:blipFill>
          <a:blip r:embed="rId16"/>
          <a:stretch>
            <a:fillRect/>
          </a:stretch>
        </p:blipFill>
        <p:spPr>
          <a:xfrm>
            <a:off x="8798548" y="2286582"/>
            <a:ext cx="1195728" cy="361950"/>
          </a:xfrm>
          <a:prstGeom prst="rect">
            <a:avLst/>
          </a:prstGeom>
        </p:spPr>
      </p:pic>
      <p:pic>
        <p:nvPicPr>
          <p:cNvPr id="88" name="Picture 87" descr="1_474_605E5C.png"/>
          <p:cNvPicPr>
            <a:picLocks noChangeAspect="1"/>
          </p:cNvPicPr>
          <p:nvPr/>
        </p:nvPicPr>
        <p:blipFill>
          <a:blip r:embed="rId17"/>
          <a:stretch>
            <a:fillRect/>
          </a:stretch>
        </p:blipFill>
        <p:spPr>
          <a:xfrm>
            <a:off x="8798548" y="2779432"/>
            <a:ext cx="1195728" cy="361950"/>
          </a:xfrm>
          <a:prstGeom prst="rect">
            <a:avLst/>
          </a:prstGeom>
        </p:spPr>
      </p:pic>
      <p:pic>
        <p:nvPicPr>
          <p:cNvPr id="89" name="Picture 88" descr="5_4__605E5C.png"/>
          <p:cNvPicPr>
            <a:picLocks noChangeAspect="1"/>
          </p:cNvPicPr>
          <p:nvPr/>
        </p:nvPicPr>
        <p:blipFill>
          <a:blip r:embed="rId18"/>
          <a:stretch>
            <a:fillRect/>
          </a:stretch>
        </p:blipFill>
        <p:spPr>
          <a:xfrm>
            <a:off x="8905194" y="3272281"/>
            <a:ext cx="982436" cy="361950"/>
          </a:xfrm>
          <a:prstGeom prst="rect">
            <a:avLst/>
          </a:prstGeom>
        </p:spPr>
      </p:pic>
      <p:pic>
        <p:nvPicPr>
          <p:cNvPr id="90" name="Picture 89" descr="740_7_605E5C.png"/>
          <p:cNvPicPr>
            <a:picLocks noChangeAspect="1"/>
          </p:cNvPicPr>
          <p:nvPr/>
        </p:nvPicPr>
        <p:blipFill>
          <a:blip r:embed="rId19"/>
          <a:stretch>
            <a:fillRect/>
          </a:stretch>
        </p:blipFill>
        <p:spPr>
          <a:xfrm>
            <a:off x="10484473" y="2286582"/>
            <a:ext cx="1195728" cy="361950"/>
          </a:xfrm>
          <a:prstGeom prst="rect">
            <a:avLst/>
          </a:prstGeom>
        </p:spPr>
      </p:pic>
      <p:pic>
        <p:nvPicPr>
          <p:cNvPr id="91" name="Picture 90" descr="1_190_605E5C.png"/>
          <p:cNvPicPr>
            <a:picLocks noChangeAspect="1"/>
          </p:cNvPicPr>
          <p:nvPr/>
        </p:nvPicPr>
        <p:blipFill>
          <a:blip r:embed="rId20"/>
          <a:stretch>
            <a:fillRect/>
          </a:stretch>
        </p:blipFill>
        <p:spPr>
          <a:xfrm>
            <a:off x="10484473" y="2779432"/>
            <a:ext cx="1195728" cy="361950"/>
          </a:xfrm>
          <a:prstGeom prst="rect">
            <a:avLst/>
          </a:prstGeom>
        </p:spPr>
      </p:pic>
      <p:pic>
        <p:nvPicPr>
          <p:cNvPr id="92" name="Picture 91" descr="4_9__605E5C.png"/>
          <p:cNvPicPr>
            <a:picLocks noChangeAspect="1"/>
          </p:cNvPicPr>
          <p:nvPr/>
        </p:nvPicPr>
        <p:blipFill>
          <a:blip r:embed="rId21"/>
          <a:stretch>
            <a:fillRect/>
          </a:stretch>
        </p:blipFill>
        <p:spPr>
          <a:xfrm>
            <a:off x="10591119" y="3272281"/>
            <a:ext cx="982436" cy="361950"/>
          </a:xfrm>
          <a:prstGeom prst="rect">
            <a:avLst/>
          </a:prstGeom>
        </p:spPr>
      </p:pic>
      <p:pic>
        <p:nvPicPr>
          <p:cNvPr id="93" name="Picture 92" descr="lock.png"/>
          <p:cNvPicPr>
            <a:picLocks noChangeAspect="1"/>
          </p:cNvPicPr>
          <p:nvPr/>
        </p:nvPicPr>
        <p:blipFill>
          <a:blip r:embed="rId22"/>
          <a:stretch>
            <a:fillRect/>
          </a:stretch>
        </p:blipFill>
        <p:spPr>
          <a:xfrm>
            <a:off x="2559367" y="2827057"/>
            <a:ext cx="183356" cy="266700"/>
          </a:xfrm>
          <a:prstGeom prst="rect">
            <a:avLst/>
          </a:prstGeom>
        </p:spPr>
      </p:pic>
      <p:pic>
        <p:nvPicPr>
          <p:cNvPr id="94" name="Picture 93" descr="lock.png"/>
          <p:cNvPicPr>
            <a:picLocks noChangeAspect="1"/>
          </p:cNvPicPr>
          <p:nvPr/>
        </p:nvPicPr>
        <p:blipFill>
          <a:blip r:embed="rId22"/>
          <a:stretch>
            <a:fillRect/>
          </a:stretch>
        </p:blipFill>
        <p:spPr>
          <a:xfrm>
            <a:off x="4245292" y="2827057"/>
            <a:ext cx="183356" cy="266700"/>
          </a:xfrm>
          <a:prstGeom prst="rect">
            <a:avLst/>
          </a:prstGeom>
        </p:spPr>
      </p:pic>
      <p:pic>
        <p:nvPicPr>
          <p:cNvPr id="95" name="Picture 94" descr="lock.png"/>
          <p:cNvPicPr>
            <a:picLocks noChangeAspect="1"/>
          </p:cNvPicPr>
          <p:nvPr/>
        </p:nvPicPr>
        <p:blipFill>
          <a:blip r:embed="rId22"/>
          <a:stretch>
            <a:fillRect/>
          </a:stretch>
        </p:blipFill>
        <p:spPr>
          <a:xfrm>
            <a:off x="5931217" y="2827057"/>
            <a:ext cx="183356" cy="266700"/>
          </a:xfrm>
          <a:prstGeom prst="rect">
            <a:avLst/>
          </a:prstGeom>
        </p:spPr>
      </p:pic>
      <p:pic>
        <p:nvPicPr>
          <p:cNvPr id="96" name="Picture 95" descr="lock.png"/>
          <p:cNvPicPr>
            <a:picLocks noChangeAspect="1"/>
          </p:cNvPicPr>
          <p:nvPr/>
        </p:nvPicPr>
        <p:blipFill>
          <a:blip r:embed="rId22"/>
          <a:stretch>
            <a:fillRect/>
          </a:stretch>
        </p:blipFill>
        <p:spPr>
          <a:xfrm>
            <a:off x="7617142" y="2827057"/>
            <a:ext cx="183356" cy="266700"/>
          </a:xfrm>
          <a:prstGeom prst="rect">
            <a:avLst/>
          </a:prstGeom>
        </p:spPr>
      </p:pic>
      <p:pic>
        <p:nvPicPr>
          <p:cNvPr id="97" name="Picture 96" descr="lock.png"/>
          <p:cNvPicPr>
            <a:picLocks noChangeAspect="1"/>
          </p:cNvPicPr>
          <p:nvPr/>
        </p:nvPicPr>
        <p:blipFill>
          <a:blip r:embed="rId22"/>
          <a:stretch>
            <a:fillRect/>
          </a:stretch>
        </p:blipFill>
        <p:spPr>
          <a:xfrm>
            <a:off x="9303067" y="2827057"/>
            <a:ext cx="183356" cy="266700"/>
          </a:xfrm>
          <a:prstGeom prst="rect">
            <a:avLst/>
          </a:prstGeom>
        </p:spPr>
      </p:pic>
      <p:pic>
        <p:nvPicPr>
          <p:cNvPr id="98" name="Picture 97" descr="lock.png"/>
          <p:cNvPicPr>
            <a:picLocks noChangeAspect="1"/>
          </p:cNvPicPr>
          <p:nvPr/>
        </p:nvPicPr>
        <p:blipFill>
          <a:blip r:embed="rId22"/>
          <a:stretch>
            <a:fillRect/>
          </a:stretch>
        </p:blipFill>
        <p:spPr>
          <a:xfrm>
            <a:off x="10988992" y="2827057"/>
            <a:ext cx="183356" cy="266700"/>
          </a:xfrm>
          <a:prstGeom prst="rect">
            <a:avLst/>
          </a:prstGeom>
        </p:spPr>
      </p:pic>
      <p:sp>
        <p:nvSpPr>
          <p:cNvPr id="99" name="TextBox 98"/>
          <p:cNvSpPr txBox="1"/>
          <p:nvPr/>
        </p:nvSpPr>
        <p:spPr>
          <a:xfrm>
            <a:off x="485775" y="4229437"/>
            <a:ext cx="2806352" cy="186689"/>
          </a:xfrm>
          <a:prstGeom prst="rect">
            <a:avLst/>
          </a:prstGeom>
          <a:noFill/>
        </p:spPr>
        <p:txBody>
          <a:bodyPr wrap="none" lIns="0" rIns="0" tIns="0" bIns="0">
            <a:spAutoFit/>
          </a:bodyPr>
          <a:lstStyle/>
          <a:p>
            <a:r>
              <a:rPr sz="1100" b="0">
                <a:solidFill>
                  <a:srgbClr val="2E2E2E"/>
                </a:solidFill>
                <a:latin typeface="Calibri"/>
              </a:rPr>
              <a:t>North America egg protein membrane market is</a:t>
            </a:r>
          </a:p>
        </p:txBody>
      </p:sp>
      <p:sp>
        <p:nvSpPr>
          <p:cNvPr id="100" name="TextBox 99"/>
          <p:cNvSpPr txBox="1"/>
          <p:nvPr/>
        </p:nvSpPr>
        <p:spPr>
          <a:xfrm>
            <a:off x="485775" y="4397077"/>
            <a:ext cx="1244550" cy="186689"/>
          </a:xfrm>
          <a:prstGeom prst="rect">
            <a:avLst/>
          </a:prstGeom>
          <a:noFill/>
        </p:spPr>
        <p:txBody>
          <a:bodyPr wrap="none" lIns="0" rIns="0" tIns="0" bIns="0">
            <a:spAutoFit/>
          </a:bodyPr>
          <a:lstStyle/>
          <a:p>
            <a:r>
              <a:rPr sz="1100" b="0">
                <a:solidFill>
                  <a:srgbClr val="2E2E2E"/>
                </a:solidFill>
                <a:latin typeface="Calibri"/>
              </a:rPr>
              <a:t>projected to register</a:t>
            </a:r>
          </a:p>
        </p:txBody>
      </p:sp>
      <p:pic>
        <p:nvPicPr>
          <p:cNvPr id="101" name="Picture 100" descr="lock.png"/>
          <p:cNvPicPr>
            <a:picLocks noChangeAspect="1"/>
          </p:cNvPicPr>
          <p:nvPr/>
        </p:nvPicPr>
        <p:blipFill>
          <a:blip r:embed="rId22"/>
          <a:stretch>
            <a:fillRect/>
          </a:stretch>
        </p:blipFill>
        <p:spPr>
          <a:xfrm>
            <a:off x="1678376" y="4387298"/>
            <a:ext cx="128699" cy="187198"/>
          </a:xfrm>
          <a:prstGeom prst="rect">
            <a:avLst/>
          </a:prstGeom>
        </p:spPr>
      </p:pic>
      <p:sp>
        <p:nvSpPr>
          <p:cNvPr id="102" name="TextBox 101"/>
          <p:cNvSpPr txBox="1"/>
          <p:nvPr/>
        </p:nvSpPr>
        <p:spPr>
          <a:xfrm>
            <a:off x="1845872" y="4397077"/>
            <a:ext cx="1172517" cy="186689"/>
          </a:xfrm>
          <a:prstGeom prst="rect">
            <a:avLst/>
          </a:prstGeom>
          <a:noFill/>
        </p:spPr>
        <p:txBody>
          <a:bodyPr wrap="none" lIns="0" rIns="0" tIns="0" bIns="0">
            <a:spAutoFit/>
          </a:bodyPr>
          <a:lstStyle/>
          <a:p>
            <a:r>
              <a:rPr sz="1100" b="0">
                <a:solidFill>
                  <a:srgbClr val="2E2E2E"/>
                </a:solidFill>
                <a:latin typeface="Calibri"/>
              </a:rPr>
              <a:t>X higher value than</a:t>
            </a:r>
          </a:p>
        </p:txBody>
      </p:sp>
      <p:sp>
        <p:nvSpPr>
          <p:cNvPr id="103" name="TextBox 102"/>
          <p:cNvSpPr txBox="1"/>
          <p:nvPr/>
        </p:nvSpPr>
        <p:spPr>
          <a:xfrm>
            <a:off x="485775" y="4564717"/>
            <a:ext cx="2914650" cy="186689"/>
          </a:xfrm>
          <a:prstGeom prst="rect">
            <a:avLst/>
          </a:prstGeom>
          <a:noFill/>
        </p:spPr>
        <p:txBody>
          <a:bodyPr wrap="none" lIns="0" rIns="0" tIns="0" bIns="0">
            <a:spAutoFit/>
          </a:bodyPr>
          <a:lstStyle/>
          <a:p>
            <a:r>
              <a:rPr sz="1100" b="0">
                <a:solidFill>
                  <a:srgbClr val="2E2E2E"/>
                </a:solidFill>
                <a:latin typeface="Calibri"/>
              </a:rPr>
              <a:t>Europe in 2036. Among egg protein membrane by</a:t>
            </a:r>
          </a:p>
        </p:txBody>
      </p:sp>
      <p:sp>
        <p:nvSpPr>
          <p:cNvPr id="104" name="TextBox 103"/>
          <p:cNvSpPr txBox="1"/>
          <p:nvPr/>
        </p:nvSpPr>
        <p:spPr>
          <a:xfrm>
            <a:off x="485775" y="4732357"/>
            <a:ext cx="2914129" cy="186689"/>
          </a:xfrm>
          <a:prstGeom prst="rect">
            <a:avLst/>
          </a:prstGeom>
          <a:noFill/>
        </p:spPr>
        <p:txBody>
          <a:bodyPr wrap="none" lIns="0" rIns="0" tIns="0" bIns="0">
            <a:spAutoFit/>
          </a:bodyPr>
          <a:lstStyle/>
          <a:p>
            <a:r>
              <a:rPr sz="1100" b="0">
                <a:solidFill>
                  <a:srgbClr val="2E2E2E"/>
                </a:solidFill>
                <a:latin typeface="Calibri"/>
              </a:rPr>
              <a:t>region, South Asia &amp; Pacific is expected to witness</a:t>
            </a:r>
          </a:p>
        </p:txBody>
      </p:sp>
      <p:sp>
        <p:nvSpPr>
          <p:cNvPr id="105" name="TextBox 104"/>
          <p:cNvSpPr txBox="1"/>
          <p:nvPr/>
        </p:nvSpPr>
        <p:spPr>
          <a:xfrm>
            <a:off x="485775" y="4899997"/>
            <a:ext cx="1212336" cy="186689"/>
          </a:xfrm>
          <a:prstGeom prst="rect">
            <a:avLst/>
          </a:prstGeom>
          <a:noFill/>
        </p:spPr>
        <p:txBody>
          <a:bodyPr wrap="none" lIns="0" rIns="0" tIns="0" bIns="0">
            <a:spAutoFit/>
          </a:bodyPr>
          <a:lstStyle/>
          <a:p>
            <a:r>
              <a:rPr sz="1100" b="0">
                <a:solidFill>
                  <a:srgbClr val="2E2E2E"/>
                </a:solidFill>
                <a:latin typeface="Calibri"/>
              </a:rPr>
              <a:t>the highest CAGR of</a:t>
            </a:r>
          </a:p>
        </p:txBody>
      </p:sp>
      <p:pic>
        <p:nvPicPr>
          <p:cNvPr id="106" name="Picture 105" descr="lock.png"/>
          <p:cNvPicPr>
            <a:picLocks noChangeAspect="1"/>
          </p:cNvPicPr>
          <p:nvPr/>
        </p:nvPicPr>
        <p:blipFill>
          <a:blip r:embed="rId22"/>
          <a:stretch>
            <a:fillRect/>
          </a:stretch>
        </p:blipFill>
        <p:spPr>
          <a:xfrm>
            <a:off x="1646163" y="4890217"/>
            <a:ext cx="128699" cy="187198"/>
          </a:xfrm>
          <a:prstGeom prst="rect">
            <a:avLst/>
          </a:prstGeom>
        </p:spPr>
      </p:pic>
      <p:sp>
        <p:nvSpPr>
          <p:cNvPr id="107" name="TextBox 106"/>
          <p:cNvSpPr txBox="1"/>
          <p:nvPr/>
        </p:nvSpPr>
        <p:spPr>
          <a:xfrm>
            <a:off x="1813659" y="4899997"/>
            <a:ext cx="1484659" cy="186689"/>
          </a:xfrm>
          <a:prstGeom prst="rect">
            <a:avLst/>
          </a:prstGeom>
          <a:noFill/>
        </p:spPr>
        <p:txBody>
          <a:bodyPr wrap="none" lIns="0" rIns="0" tIns="0" bIns="0">
            <a:spAutoFit/>
          </a:bodyPr>
          <a:lstStyle/>
          <a:p>
            <a:r>
              <a:rPr sz="1100" b="0">
                <a:solidFill>
                  <a:srgbClr val="2E2E2E"/>
                </a:solidFill>
                <a:latin typeface="Calibri"/>
              </a:rPr>
              <a:t>over the forecast period.</a:t>
            </a:r>
          </a:p>
        </p:txBody>
      </p:sp>
      <p:sp>
        <p:nvSpPr>
          <p:cNvPr id="108" name="TextBox 107"/>
          <p:cNvSpPr txBox="1"/>
          <p:nvPr/>
        </p:nvSpPr>
        <p:spPr>
          <a:xfrm>
            <a:off x="485775" y="5117929"/>
            <a:ext cx="2914650" cy="186689"/>
          </a:xfrm>
          <a:prstGeom prst="rect">
            <a:avLst/>
          </a:prstGeom>
          <a:noFill/>
        </p:spPr>
        <p:txBody>
          <a:bodyPr wrap="none" lIns="0" rIns="0" tIns="0" bIns="0">
            <a:spAutoFit/>
          </a:bodyPr>
          <a:lstStyle/>
          <a:p>
            <a:r>
              <a:rPr sz="1100" b="0">
                <a:solidFill>
                  <a:srgbClr val="2E2E2E"/>
                </a:solidFill>
                <a:latin typeface="Calibri"/>
              </a:rPr>
              <a:t>In terms of value share by region, North America is</a:t>
            </a:r>
          </a:p>
        </p:txBody>
      </p:sp>
      <p:sp>
        <p:nvSpPr>
          <p:cNvPr id="109" name="TextBox 108"/>
          <p:cNvSpPr txBox="1"/>
          <p:nvPr/>
        </p:nvSpPr>
        <p:spPr>
          <a:xfrm>
            <a:off x="485775" y="5285569"/>
            <a:ext cx="2388889" cy="186689"/>
          </a:xfrm>
          <a:prstGeom prst="rect">
            <a:avLst/>
          </a:prstGeom>
          <a:noFill/>
        </p:spPr>
        <p:txBody>
          <a:bodyPr wrap="none" lIns="0" rIns="0" tIns="0" bIns="0">
            <a:spAutoFit/>
          </a:bodyPr>
          <a:lstStyle/>
          <a:p>
            <a:r>
              <a:rPr sz="1100" b="0">
                <a:solidFill>
                  <a:srgbClr val="2E2E2E"/>
                </a:solidFill>
                <a:latin typeface="Calibri"/>
              </a:rPr>
              <a:t>expected to dominate the market, losing</a:t>
            </a:r>
          </a:p>
        </p:txBody>
      </p:sp>
      <p:pic>
        <p:nvPicPr>
          <p:cNvPr id="110" name="Picture 109" descr="lock.png"/>
          <p:cNvPicPr>
            <a:picLocks noChangeAspect="1"/>
          </p:cNvPicPr>
          <p:nvPr/>
        </p:nvPicPr>
        <p:blipFill>
          <a:blip r:embed="rId22"/>
          <a:stretch>
            <a:fillRect/>
          </a:stretch>
        </p:blipFill>
        <p:spPr>
          <a:xfrm>
            <a:off x="2822716" y="5275790"/>
            <a:ext cx="128699" cy="187198"/>
          </a:xfrm>
          <a:prstGeom prst="rect">
            <a:avLst/>
          </a:prstGeom>
        </p:spPr>
      </p:pic>
      <p:sp>
        <p:nvSpPr>
          <p:cNvPr id="111" name="TextBox 110"/>
          <p:cNvSpPr txBox="1"/>
          <p:nvPr/>
        </p:nvSpPr>
        <p:spPr>
          <a:xfrm>
            <a:off x="2990212" y="5285569"/>
            <a:ext cx="288751" cy="186689"/>
          </a:xfrm>
          <a:prstGeom prst="rect">
            <a:avLst/>
          </a:prstGeom>
          <a:noFill/>
        </p:spPr>
        <p:txBody>
          <a:bodyPr wrap="none" lIns="0" rIns="0" tIns="0" bIns="0">
            <a:spAutoFit/>
          </a:bodyPr>
          <a:lstStyle/>
          <a:p>
            <a:r>
              <a:rPr sz="1100" b="0">
                <a:solidFill>
                  <a:srgbClr val="2E2E2E"/>
                </a:solidFill>
                <a:latin typeface="Calibri"/>
              </a:rPr>
              <a:t>BPS</a:t>
            </a:r>
          </a:p>
        </p:txBody>
      </p:sp>
      <p:sp>
        <p:nvSpPr>
          <p:cNvPr id="112" name="TextBox 111"/>
          <p:cNvSpPr txBox="1"/>
          <p:nvPr/>
        </p:nvSpPr>
        <p:spPr>
          <a:xfrm>
            <a:off x="485775" y="5453209"/>
            <a:ext cx="1142231" cy="186689"/>
          </a:xfrm>
          <a:prstGeom prst="rect">
            <a:avLst/>
          </a:prstGeom>
          <a:noFill/>
        </p:spPr>
        <p:txBody>
          <a:bodyPr wrap="none" lIns="0" rIns="0" tIns="0" bIns="0">
            <a:spAutoFit/>
          </a:bodyPr>
          <a:lstStyle/>
          <a:p>
            <a:r>
              <a:rPr sz="1100" b="0">
                <a:solidFill>
                  <a:srgbClr val="2E2E2E"/>
                </a:solidFill>
                <a:latin typeface="Calibri"/>
              </a:rPr>
              <a:t>and accounting for</a:t>
            </a:r>
          </a:p>
        </p:txBody>
      </p:sp>
      <p:pic>
        <p:nvPicPr>
          <p:cNvPr id="113" name="Picture 112" descr="lock.png"/>
          <p:cNvPicPr>
            <a:picLocks noChangeAspect="1"/>
          </p:cNvPicPr>
          <p:nvPr/>
        </p:nvPicPr>
        <p:blipFill>
          <a:blip r:embed="rId22"/>
          <a:stretch>
            <a:fillRect/>
          </a:stretch>
        </p:blipFill>
        <p:spPr>
          <a:xfrm>
            <a:off x="1576057" y="5443430"/>
            <a:ext cx="128699" cy="187198"/>
          </a:xfrm>
          <a:prstGeom prst="rect">
            <a:avLst/>
          </a:prstGeom>
        </p:spPr>
      </p:pic>
      <p:sp>
        <p:nvSpPr>
          <p:cNvPr id="114" name="TextBox 113"/>
          <p:cNvSpPr txBox="1"/>
          <p:nvPr/>
        </p:nvSpPr>
        <p:spPr>
          <a:xfrm>
            <a:off x="1743553" y="5453209"/>
            <a:ext cx="908397" cy="186689"/>
          </a:xfrm>
          <a:prstGeom prst="rect">
            <a:avLst/>
          </a:prstGeom>
          <a:noFill/>
        </p:spPr>
        <p:txBody>
          <a:bodyPr wrap="none" lIns="0" rIns="0" tIns="0" bIns="0">
            <a:spAutoFit/>
          </a:bodyPr>
          <a:lstStyle/>
          <a:p>
            <a:r>
              <a:rPr sz="1100" b="0">
                <a:solidFill>
                  <a:srgbClr val="2E2E2E"/>
                </a:solidFill>
                <a:latin typeface="Calibri"/>
              </a:rPr>
              <a:t>share by 2036.</a:t>
            </a:r>
          </a:p>
        </p:txBody>
      </p:sp>
      <p:sp>
        <p:nvSpPr>
          <p:cNvPr id="115" name="TextBox 114"/>
          <p:cNvSpPr txBox="1"/>
          <p:nvPr/>
        </p:nvSpPr>
        <p:spPr>
          <a:xfrm>
            <a:off x="3838575" y="4229437"/>
            <a:ext cx="1063376" cy="186689"/>
          </a:xfrm>
          <a:prstGeom prst="rect">
            <a:avLst/>
          </a:prstGeom>
          <a:noFill/>
        </p:spPr>
        <p:txBody>
          <a:bodyPr wrap="none" lIns="0" rIns="0" tIns="0" bIns="0">
            <a:spAutoFit/>
          </a:bodyPr>
          <a:lstStyle/>
          <a:p>
            <a:r>
              <a:rPr sz="1100" b="0">
                <a:solidFill>
                  <a:srgbClr val="2E2E2E"/>
                </a:solidFill>
                <a:latin typeface="Calibri"/>
              </a:rPr>
              <a:t>● North America:</a:t>
            </a:r>
          </a:p>
        </p:txBody>
      </p:sp>
      <p:pic>
        <p:nvPicPr>
          <p:cNvPr id="116" name="Picture 115" descr="lock.png"/>
          <p:cNvPicPr>
            <a:picLocks noChangeAspect="1"/>
          </p:cNvPicPr>
          <p:nvPr/>
        </p:nvPicPr>
        <p:blipFill>
          <a:blip r:embed="rId22"/>
          <a:stretch>
            <a:fillRect/>
          </a:stretch>
        </p:blipFill>
        <p:spPr>
          <a:xfrm>
            <a:off x="4850003" y="4219658"/>
            <a:ext cx="128699" cy="187198"/>
          </a:xfrm>
          <a:prstGeom prst="rect">
            <a:avLst/>
          </a:prstGeom>
        </p:spPr>
      </p:pic>
      <p:sp>
        <p:nvSpPr>
          <p:cNvPr id="117" name="TextBox 116"/>
          <p:cNvSpPr txBox="1"/>
          <p:nvPr/>
        </p:nvSpPr>
        <p:spPr>
          <a:xfrm>
            <a:off x="5017499" y="422943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18" name="Picture 117" descr="lock.png"/>
          <p:cNvPicPr>
            <a:picLocks noChangeAspect="1"/>
          </p:cNvPicPr>
          <p:nvPr/>
        </p:nvPicPr>
        <p:blipFill>
          <a:blip r:embed="rId22"/>
          <a:stretch>
            <a:fillRect/>
          </a:stretch>
        </p:blipFill>
        <p:spPr>
          <a:xfrm>
            <a:off x="5876949" y="4219658"/>
            <a:ext cx="128699" cy="187198"/>
          </a:xfrm>
          <a:prstGeom prst="rect">
            <a:avLst/>
          </a:prstGeom>
        </p:spPr>
      </p:pic>
      <p:sp>
        <p:nvSpPr>
          <p:cNvPr id="119" name="TextBox 118"/>
          <p:cNvSpPr txBox="1"/>
          <p:nvPr/>
        </p:nvSpPr>
        <p:spPr>
          <a:xfrm>
            <a:off x="6044445" y="4229437"/>
            <a:ext cx="1419431" cy="186689"/>
          </a:xfrm>
          <a:prstGeom prst="rect">
            <a:avLst/>
          </a:prstGeom>
          <a:noFill/>
        </p:spPr>
        <p:txBody>
          <a:bodyPr wrap="none" lIns="0" rIns="0" tIns="0" bIns="0">
            <a:spAutoFit/>
          </a:bodyPr>
          <a:lstStyle/>
          <a:p>
            <a:r>
              <a:rPr sz="1100" b="0">
                <a:solidFill>
                  <a:srgbClr val="2E2E2E"/>
                </a:solidFill>
                <a:latin typeface="Calibri"/>
              </a:rPr>
              <a:t>CAGR leads the market.</a:t>
            </a:r>
          </a:p>
        </p:txBody>
      </p:sp>
      <p:sp>
        <p:nvSpPr>
          <p:cNvPr id="120" name="TextBox 119"/>
          <p:cNvSpPr txBox="1"/>
          <p:nvPr/>
        </p:nvSpPr>
        <p:spPr>
          <a:xfrm>
            <a:off x="3838575" y="4447369"/>
            <a:ext cx="636637" cy="186689"/>
          </a:xfrm>
          <a:prstGeom prst="rect">
            <a:avLst/>
          </a:prstGeom>
          <a:noFill/>
        </p:spPr>
        <p:txBody>
          <a:bodyPr wrap="none" lIns="0" rIns="0" tIns="0" bIns="0">
            <a:spAutoFit/>
          </a:bodyPr>
          <a:lstStyle/>
          <a:p>
            <a:r>
              <a:rPr sz="1100" b="0">
                <a:solidFill>
                  <a:srgbClr val="2E2E2E"/>
                </a:solidFill>
                <a:latin typeface="Calibri"/>
              </a:rPr>
              <a:t>● Europe:</a:t>
            </a:r>
          </a:p>
        </p:txBody>
      </p:sp>
      <p:pic>
        <p:nvPicPr>
          <p:cNvPr id="121" name="Picture 120" descr="lock.png"/>
          <p:cNvPicPr>
            <a:picLocks noChangeAspect="1"/>
          </p:cNvPicPr>
          <p:nvPr/>
        </p:nvPicPr>
        <p:blipFill>
          <a:blip r:embed="rId22"/>
          <a:stretch>
            <a:fillRect/>
          </a:stretch>
        </p:blipFill>
        <p:spPr>
          <a:xfrm>
            <a:off x="4423263" y="4437590"/>
            <a:ext cx="128699" cy="187198"/>
          </a:xfrm>
          <a:prstGeom prst="rect">
            <a:avLst/>
          </a:prstGeom>
        </p:spPr>
      </p:pic>
      <p:sp>
        <p:nvSpPr>
          <p:cNvPr id="122" name="TextBox 121"/>
          <p:cNvSpPr txBox="1"/>
          <p:nvPr/>
        </p:nvSpPr>
        <p:spPr>
          <a:xfrm>
            <a:off x="4590759" y="4447369"/>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23" name="Picture 122" descr="lock.png"/>
          <p:cNvPicPr>
            <a:picLocks noChangeAspect="1"/>
          </p:cNvPicPr>
          <p:nvPr/>
        </p:nvPicPr>
        <p:blipFill>
          <a:blip r:embed="rId22"/>
          <a:stretch>
            <a:fillRect/>
          </a:stretch>
        </p:blipFill>
        <p:spPr>
          <a:xfrm>
            <a:off x="5450209" y="4437590"/>
            <a:ext cx="128699" cy="187198"/>
          </a:xfrm>
          <a:prstGeom prst="rect">
            <a:avLst/>
          </a:prstGeom>
        </p:spPr>
      </p:pic>
      <p:sp>
        <p:nvSpPr>
          <p:cNvPr id="124" name="TextBox 123"/>
          <p:cNvSpPr txBox="1"/>
          <p:nvPr/>
        </p:nvSpPr>
        <p:spPr>
          <a:xfrm>
            <a:off x="5617705" y="4447369"/>
            <a:ext cx="1415611" cy="186689"/>
          </a:xfrm>
          <a:prstGeom prst="rect">
            <a:avLst/>
          </a:prstGeom>
          <a:noFill/>
        </p:spPr>
        <p:txBody>
          <a:bodyPr wrap="none" lIns="0" rIns="0" tIns="0" bIns="0">
            <a:spAutoFit/>
          </a:bodyPr>
          <a:lstStyle/>
          <a:p>
            <a:r>
              <a:rPr sz="1100" b="0">
                <a:solidFill>
                  <a:srgbClr val="2E2E2E"/>
                </a:solidFill>
                <a:latin typeface="Calibri"/>
              </a:rPr>
              <a:t>CAGR a smaller market.</a:t>
            </a:r>
          </a:p>
        </p:txBody>
      </p:sp>
      <p:sp>
        <p:nvSpPr>
          <p:cNvPr id="125" name="TextBox 124"/>
          <p:cNvSpPr txBox="1"/>
          <p:nvPr/>
        </p:nvSpPr>
        <p:spPr>
          <a:xfrm>
            <a:off x="3838575" y="4665301"/>
            <a:ext cx="732101" cy="186689"/>
          </a:xfrm>
          <a:prstGeom prst="rect">
            <a:avLst/>
          </a:prstGeom>
          <a:noFill/>
        </p:spPr>
        <p:txBody>
          <a:bodyPr wrap="none" lIns="0" rIns="0" tIns="0" bIns="0">
            <a:spAutoFit/>
          </a:bodyPr>
          <a:lstStyle/>
          <a:p>
            <a:r>
              <a:rPr sz="1100" b="0">
                <a:solidFill>
                  <a:srgbClr val="2E2E2E"/>
                </a:solidFill>
                <a:latin typeface="Calibri"/>
              </a:rPr>
              <a:t>● East Asia:</a:t>
            </a:r>
          </a:p>
        </p:txBody>
      </p:sp>
      <p:pic>
        <p:nvPicPr>
          <p:cNvPr id="126" name="Picture 125" descr="lock.png"/>
          <p:cNvPicPr>
            <a:picLocks noChangeAspect="1"/>
          </p:cNvPicPr>
          <p:nvPr/>
        </p:nvPicPr>
        <p:blipFill>
          <a:blip r:embed="rId22"/>
          <a:stretch>
            <a:fillRect/>
          </a:stretch>
        </p:blipFill>
        <p:spPr>
          <a:xfrm>
            <a:off x="4518727" y="4655522"/>
            <a:ext cx="128699" cy="187198"/>
          </a:xfrm>
          <a:prstGeom prst="rect">
            <a:avLst/>
          </a:prstGeom>
        </p:spPr>
      </p:pic>
      <p:sp>
        <p:nvSpPr>
          <p:cNvPr id="127" name="TextBox 126"/>
          <p:cNvSpPr txBox="1"/>
          <p:nvPr/>
        </p:nvSpPr>
        <p:spPr>
          <a:xfrm>
            <a:off x="4686223" y="4665301"/>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28" name="Picture 127" descr="lock.png"/>
          <p:cNvPicPr>
            <a:picLocks noChangeAspect="1"/>
          </p:cNvPicPr>
          <p:nvPr/>
        </p:nvPicPr>
        <p:blipFill>
          <a:blip r:embed="rId22"/>
          <a:stretch>
            <a:fillRect/>
          </a:stretch>
        </p:blipFill>
        <p:spPr>
          <a:xfrm>
            <a:off x="5545673" y="4655522"/>
            <a:ext cx="128699" cy="187198"/>
          </a:xfrm>
          <a:prstGeom prst="rect">
            <a:avLst/>
          </a:prstGeom>
        </p:spPr>
      </p:pic>
      <p:sp>
        <p:nvSpPr>
          <p:cNvPr id="129" name="TextBox 128"/>
          <p:cNvSpPr txBox="1"/>
          <p:nvPr/>
        </p:nvSpPr>
        <p:spPr>
          <a:xfrm>
            <a:off x="5713169" y="4665301"/>
            <a:ext cx="1415611" cy="186689"/>
          </a:xfrm>
          <a:prstGeom prst="rect">
            <a:avLst/>
          </a:prstGeom>
          <a:noFill/>
        </p:spPr>
        <p:txBody>
          <a:bodyPr wrap="none" lIns="0" rIns="0" tIns="0" bIns="0">
            <a:spAutoFit/>
          </a:bodyPr>
          <a:lstStyle/>
          <a:p>
            <a:r>
              <a:rPr sz="1100" b="0">
                <a:solidFill>
                  <a:srgbClr val="2E2E2E"/>
                </a:solidFill>
                <a:latin typeface="Calibri"/>
              </a:rPr>
              <a:t>CAGR a smaller market.</a:t>
            </a:r>
          </a:p>
        </p:txBody>
      </p:sp>
      <p:sp>
        <p:nvSpPr>
          <p:cNvPr id="130" name="TextBox 129"/>
          <p:cNvSpPr txBox="1"/>
          <p:nvPr/>
        </p:nvSpPr>
        <p:spPr>
          <a:xfrm>
            <a:off x="3838575" y="4883233"/>
            <a:ext cx="1350143" cy="186689"/>
          </a:xfrm>
          <a:prstGeom prst="rect">
            <a:avLst/>
          </a:prstGeom>
          <a:noFill/>
        </p:spPr>
        <p:txBody>
          <a:bodyPr wrap="none" lIns="0" rIns="0" tIns="0" bIns="0">
            <a:spAutoFit/>
          </a:bodyPr>
          <a:lstStyle/>
          <a:p>
            <a:r>
              <a:rPr sz="1100" b="0">
                <a:solidFill>
                  <a:srgbClr val="2E2E2E"/>
                </a:solidFill>
                <a:latin typeface="Calibri"/>
              </a:rPr>
              <a:t>● South Asia &amp; Pacific:</a:t>
            </a:r>
          </a:p>
        </p:txBody>
      </p:sp>
      <p:pic>
        <p:nvPicPr>
          <p:cNvPr id="131" name="Picture 130" descr="lock.png"/>
          <p:cNvPicPr>
            <a:picLocks noChangeAspect="1"/>
          </p:cNvPicPr>
          <p:nvPr/>
        </p:nvPicPr>
        <p:blipFill>
          <a:blip r:embed="rId22"/>
          <a:stretch>
            <a:fillRect/>
          </a:stretch>
        </p:blipFill>
        <p:spPr>
          <a:xfrm>
            <a:off x="5136770" y="4873454"/>
            <a:ext cx="128699" cy="187198"/>
          </a:xfrm>
          <a:prstGeom prst="rect">
            <a:avLst/>
          </a:prstGeom>
        </p:spPr>
      </p:pic>
      <p:sp>
        <p:nvSpPr>
          <p:cNvPr id="132" name="TextBox 131"/>
          <p:cNvSpPr txBox="1"/>
          <p:nvPr/>
        </p:nvSpPr>
        <p:spPr>
          <a:xfrm>
            <a:off x="5304266" y="4883233"/>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33" name="Picture 132" descr="lock.png"/>
          <p:cNvPicPr>
            <a:picLocks noChangeAspect="1"/>
          </p:cNvPicPr>
          <p:nvPr/>
        </p:nvPicPr>
        <p:blipFill>
          <a:blip r:embed="rId22"/>
          <a:stretch>
            <a:fillRect/>
          </a:stretch>
        </p:blipFill>
        <p:spPr>
          <a:xfrm>
            <a:off x="6163716" y="4873454"/>
            <a:ext cx="128699" cy="187198"/>
          </a:xfrm>
          <a:prstGeom prst="rect">
            <a:avLst/>
          </a:prstGeom>
        </p:spPr>
      </p:pic>
      <p:sp>
        <p:nvSpPr>
          <p:cNvPr id="134" name="TextBox 133"/>
          <p:cNvSpPr txBox="1"/>
          <p:nvPr/>
        </p:nvSpPr>
        <p:spPr>
          <a:xfrm>
            <a:off x="6331212" y="4883233"/>
            <a:ext cx="1218612" cy="186689"/>
          </a:xfrm>
          <a:prstGeom prst="rect">
            <a:avLst/>
          </a:prstGeom>
          <a:noFill/>
        </p:spPr>
        <p:txBody>
          <a:bodyPr wrap="none" lIns="0" rIns="0" tIns="0" bIns="0">
            <a:spAutoFit/>
          </a:bodyPr>
          <a:lstStyle/>
          <a:p>
            <a:r>
              <a:rPr sz="1100" b="0">
                <a:solidFill>
                  <a:srgbClr val="2E2E2E"/>
                </a:solidFill>
                <a:latin typeface="Calibri"/>
              </a:rPr>
              <a:t>CAGR grows fastest.</a:t>
            </a:r>
          </a:p>
        </p:txBody>
      </p:sp>
      <p:sp>
        <p:nvSpPr>
          <p:cNvPr id="135" name="TextBox 134"/>
          <p:cNvSpPr txBox="1"/>
          <p:nvPr/>
        </p:nvSpPr>
        <p:spPr>
          <a:xfrm>
            <a:off x="3838575" y="5101165"/>
            <a:ext cx="1008260" cy="186689"/>
          </a:xfrm>
          <a:prstGeom prst="rect">
            <a:avLst/>
          </a:prstGeom>
          <a:noFill/>
        </p:spPr>
        <p:txBody>
          <a:bodyPr wrap="none" lIns="0" rIns="0" tIns="0" bIns="0">
            <a:spAutoFit/>
          </a:bodyPr>
          <a:lstStyle/>
          <a:p>
            <a:r>
              <a:rPr sz="1100" b="0">
                <a:solidFill>
                  <a:srgbClr val="2E2E2E"/>
                </a:solidFill>
                <a:latin typeface="Calibri"/>
              </a:rPr>
              <a:t>● Latin America:</a:t>
            </a:r>
          </a:p>
        </p:txBody>
      </p:sp>
      <p:pic>
        <p:nvPicPr>
          <p:cNvPr id="136" name="Picture 135" descr="lock.png"/>
          <p:cNvPicPr>
            <a:picLocks noChangeAspect="1"/>
          </p:cNvPicPr>
          <p:nvPr/>
        </p:nvPicPr>
        <p:blipFill>
          <a:blip r:embed="rId22"/>
          <a:stretch>
            <a:fillRect/>
          </a:stretch>
        </p:blipFill>
        <p:spPr>
          <a:xfrm>
            <a:off x="4794887" y="5091385"/>
            <a:ext cx="128699" cy="187198"/>
          </a:xfrm>
          <a:prstGeom prst="rect">
            <a:avLst/>
          </a:prstGeom>
        </p:spPr>
      </p:pic>
      <p:sp>
        <p:nvSpPr>
          <p:cNvPr id="137" name="TextBox 136"/>
          <p:cNvSpPr txBox="1"/>
          <p:nvPr/>
        </p:nvSpPr>
        <p:spPr>
          <a:xfrm>
            <a:off x="4962383" y="5101165"/>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38" name="Picture 137" descr="lock.png"/>
          <p:cNvPicPr>
            <a:picLocks noChangeAspect="1"/>
          </p:cNvPicPr>
          <p:nvPr/>
        </p:nvPicPr>
        <p:blipFill>
          <a:blip r:embed="rId22"/>
          <a:stretch>
            <a:fillRect/>
          </a:stretch>
        </p:blipFill>
        <p:spPr>
          <a:xfrm>
            <a:off x="5821833" y="5091385"/>
            <a:ext cx="128699" cy="187198"/>
          </a:xfrm>
          <a:prstGeom prst="rect">
            <a:avLst/>
          </a:prstGeom>
        </p:spPr>
      </p:pic>
      <p:sp>
        <p:nvSpPr>
          <p:cNvPr id="139" name="TextBox 138"/>
          <p:cNvSpPr txBox="1"/>
          <p:nvPr/>
        </p:nvSpPr>
        <p:spPr>
          <a:xfrm>
            <a:off x="5989329" y="5101165"/>
            <a:ext cx="1415611" cy="186689"/>
          </a:xfrm>
          <a:prstGeom prst="rect">
            <a:avLst/>
          </a:prstGeom>
          <a:noFill/>
        </p:spPr>
        <p:txBody>
          <a:bodyPr wrap="none" lIns="0" rIns="0" tIns="0" bIns="0">
            <a:spAutoFit/>
          </a:bodyPr>
          <a:lstStyle/>
          <a:p>
            <a:r>
              <a:rPr sz="1100" b="0">
                <a:solidFill>
                  <a:srgbClr val="2E2E2E"/>
                </a:solidFill>
                <a:latin typeface="Calibri"/>
              </a:rPr>
              <a:t>CAGR a smaller market.</a:t>
            </a:r>
          </a:p>
        </p:txBody>
      </p:sp>
      <p:sp>
        <p:nvSpPr>
          <p:cNvPr id="140" name="TextBox 139"/>
          <p:cNvSpPr txBox="1"/>
          <p:nvPr/>
        </p:nvSpPr>
        <p:spPr>
          <a:xfrm>
            <a:off x="3838575" y="5319097"/>
            <a:ext cx="1505362" cy="186689"/>
          </a:xfrm>
          <a:prstGeom prst="rect">
            <a:avLst/>
          </a:prstGeom>
          <a:noFill/>
        </p:spPr>
        <p:txBody>
          <a:bodyPr wrap="none" lIns="0" rIns="0" tIns="0" bIns="0">
            <a:spAutoFit/>
          </a:bodyPr>
          <a:lstStyle/>
          <a:p>
            <a:r>
              <a:rPr sz="1100" b="0">
                <a:solidFill>
                  <a:srgbClr val="2E2E2E"/>
                </a:solidFill>
                <a:latin typeface="Calibri"/>
              </a:rPr>
              <a:t>● Middle East and Africa:</a:t>
            </a:r>
          </a:p>
        </p:txBody>
      </p:sp>
      <p:pic>
        <p:nvPicPr>
          <p:cNvPr id="141" name="Picture 140" descr="lock.png"/>
          <p:cNvPicPr>
            <a:picLocks noChangeAspect="1"/>
          </p:cNvPicPr>
          <p:nvPr/>
        </p:nvPicPr>
        <p:blipFill>
          <a:blip r:embed="rId22"/>
          <a:stretch>
            <a:fillRect/>
          </a:stretch>
        </p:blipFill>
        <p:spPr>
          <a:xfrm>
            <a:off x="5291988" y="5309317"/>
            <a:ext cx="128699" cy="187198"/>
          </a:xfrm>
          <a:prstGeom prst="rect">
            <a:avLst/>
          </a:prstGeom>
        </p:spPr>
      </p:pic>
      <p:sp>
        <p:nvSpPr>
          <p:cNvPr id="142" name="TextBox 141"/>
          <p:cNvSpPr txBox="1"/>
          <p:nvPr/>
        </p:nvSpPr>
        <p:spPr>
          <a:xfrm>
            <a:off x="5459484" y="531909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43" name="Picture 142" descr="lock.png"/>
          <p:cNvPicPr>
            <a:picLocks noChangeAspect="1"/>
          </p:cNvPicPr>
          <p:nvPr/>
        </p:nvPicPr>
        <p:blipFill>
          <a:blip r:embed="rId22"/>
          <a:stretch>
            <a:fillRect/>
          </a:stretch>
        </p:blipFill>
        <p:spPr>
          <a:xfrm>
            <a:off x="6318935" y="5309317"/>
            <a:ext cx="128699" cy="187198"/>
          </a:xfrm>
          <a:prstGeom prst="rect">
            <a:avLst/>
          </a:prstGeom>
        </p:spPr>
      </p:pic>
      <p:sp>
        <p:nvSpPr>
          <p:cNvPr id="144" name="TextBox 143"/>
          <p:cNvSpPr txBox="1"/>
          <p:nvPr/>
        </p:nvSpPr>
        <p:spPr>
          <a:xfrm>
            <a:off x="6486430" y="5319097"/>
            <a:ext cx="941395" cy="186689"/>
          </a:xfrm>
          <a:prstGeom prst="rect">
            <a:avLst/>
          </a:prstGeom>
          <a:noFill/>
        </p:spPr>
        <p:txBody>
          <a:bodyPr wrap="none" lIns="0" rIns="0" tIns="0" bIns="0">
            <a:spAutoFit/>
          </a:bodyPr>
          <a:lstStyle/>
          <a:p>
            <a:r>
              <a:rPr sz="1100" b="0">
                <a:solidFill>
                  <a:srgbClr val="2E2E2E"/>
                </a:solidFill>
                <a:latin typeface="Calibri"/>
              </a:rPr>
              <a:t>CAGR a smaller</a:t>
            </a:r>
          </a:p>
        </p:txBody>
      </p:sp>
      <p:sp>
        <p:nvSpPr>
          <p:cNvPr id="145" name="TextBox 144"/>
          <p:cNvSpPr txBox="1"/>
          <p:nvPr/>
        </p:nvSpPr>
        <p:spPr>
          <a:xfrm>
            <a:off x="3838575" y="5486737"/>
            <a:ext cx="518765" cy="186689"/>
          </a:xfrm>
          <a:prstGeom prst="rect">
            <a:avLst/>
          </a:prstGeom>
          <a:noFill/>
        </p:spPr>
        <p:txBody>
          <a:bodyPr wrap="none" lIns="0" rIns="0" tIns="0" bIns="0">
            <a:spAutoFit/>
          </a:bodyPr>
          <a:lstStyle/>
          <a:p>
            <a:r>
              <a:rPr sz="1100" b="0">
                <a:solidFill>
                  <a:srgbClr val="2E2E2E"/>
                </a:solidFill>
                <a:latin typeface="Calibri"/>
              </a:rPr>
              <a:t>market.</a:t>
            </a:r>
          </a:p>
        </p:txBody>
      </p:sp>
      <p:sp>
        <p:nvSpPr>
          <p:cNvPr id="146" name="TextBox 145"/>
          <p:cNvSpPr txBox="1"/>
          <p:nvPr/>
        </p:nvSpPr>
        <p:spPr>
          <a:xfrm>
            <a:off x="8524875" y="5842641"/>
            <a:ext cx="3081608" cy="194310"/>
          </a:xfrm>
          <a:prstGeom prst="rect">
            <a:avLst/>
          </a:prstGeom>
          <a:noFill/>
        </p:spPr>
        <p:txBody>
          <a:bodyPr wrap="none" lIns="0" rIns="0" tIns="0" bIns="0">
            <a:spAutoFit/>
          </a:bodyPr>
          <a:lstStyle/>
          <a:p>
            <a:r>
              <a:rPr sz="1150" b="1">
                <a:solidFill>
                  <a:srgbClr val="0B2E4A"/>
                </a:solidFill>
                <a:latin typeface="Calibri"/>
              </a:rPr>
              <a:t>The Global market is projected to grow at a CAGR</a:t>
            </a:r>
          </a:p>
        </p:txBody>
      </p:sp>
      <p:sp>
        <p:nvSpPr>
          <p:cNvPr id="147" name="TextBox 146"/>
          <p:cNvSpPr txBox="1"/>
          <p:nvPr/>
        </p:nvSpPr>
        <p:spPr>
          <a:xfrm>
            <a:off x="8524875" y="6017901"/>
            <a:ext cx="200855" cy="194310"/>
          </a:xfrm>
          <a:prstGeom prst="rect">
            <a:avLst/>
          </a:prstGeom>
          <a:noFill/>
        </p:spPr>
        <p:txBody>
          <a:bodyPr wrap="none" lIns="0" rIns="0" tIns="0" bIns="0">
            <a:spAutoFit/>
          </a:bodyPr>
          <a:lstStyle/>
          <a:p>
            <a:r>
              <a:rPr sz="1150" b="1">
                <a:solidFill>
                  <a:srgbClr val="0B2E4A"/>
                </a:solidFill>
                <a:latin typeface="Calibri"/>
              </a:rPr>
              <a:t>of</a:t>
            </a:r>
          </a:p>
        </p:txBody>
      </p:sp>
      <p:pic>
        <p:nvPicPr>
          <p:cNvPr id="148" name="Picture 147" descr="lock.png"/>
          <p:cNvPicPr>
            <a:picLocks noChangeAspect="1"/>
          </p:cNvPicPr>
          <p:nvPr/>
        </p:nvPicPr>
        <p:blipFill>
          <a:blip r:embed="rId22"/>
          <a:stretch>
            <a:fillRect/>
          </a:stretch>
        </p:blipFill>
        <p:spPr>
          <a:xfrm>
            <a:off x="8674884" y="6007677"/>
            <a:ext cx="134549" cy="195707"/>
          </a:xfrm>
          <a:prstGeom prst="rect">
            <a:avLst/>
          </a:prstGeom>
        </p:spPr>
      </p:pic>
      <p:sp>
        <p:nvSpPr>
          <p:cNvPr id="149" name="TextBox 148"/>
          <p:cNvSpPr txBox="1"/>
          <p:nvPr/>
        </p:nvSpPr>
        <p:spPr>
          <a:xfrm>
            <a:off x="8849994" y="6017901"/>
            <a:ext cx="1232619" cy="194310"/>
          </a:xfrm>
          <a:prstGeom prst="rect">
            <a:avLst/>
          </a:prstGeom>
          <a:noFill/>
        </p:spPr>
        <p:txBody>
          <a:bodyPr wrap="none" lIns="0" rIns="0" tIns="0" bIns="0">
            <a:spAutoFit/>
          </a:bodyPr>
          <a:lstStyle/>
          <a:p>
            <a:r>
              <a:rPr sz="1150" b="1">
                <a:solidFill>
                  <a:srgbClr val="0B2E4A"/>
                </a:solidFill>
                <a:latin typeface="Calibri"/>
              </a:rPr>
              <a:t>from 2026 to 2036.</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Egg Protein Membrane Market Analysis, By Region Volume (MT)</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volume share by region in 2026 and 2036, highlighting share gains and losses in basis points</a:t>
            </a:r>
          </a:p>
        </p:txBody>
      </p:sp>
      <p:sp>
        <p:nvSpPr>
          <p:cNvPr id="7" name="Rounded Rectangle 6"/>
          <p:cNvSpPr/>
          <p:nvPr/>
        </p:nvSpPr>
        <p:spPr>
          <a:xfrm>
            <a:off x="142875" y="981075"/>
            <a:ext cx="6810375" cy="4533900"/>
          </a:xfrm>
          <a:prstGeom prst="roundRect">
            <a:avLst>
              <a:gd name="adj" fmla="val 1680"/>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661987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Share and BPS Assessment By Region, 2026 &amp; 2036</a:t>
            </a:r>
          </a:p>
        </p:txBody>
      </p:sp>
      <p:graphicFrame>
        <p:nvGraphicFramePr>
          <p:cNvPr id="9" name="Chart 8"/>
          <p:cNvGraphicFramePr>
            <a:graphicFrameLocks noGrp="1"/>
          </p:cNvGraphicFramePr>
          <p:nvPr/>
        </p:nvGraphicFramePr>
        <p:xfrm>
          <a:off x="238125" y="1409700"/>
          <a:ext cx="4236720" cy="4048125"/>
        </p:xfrm>
        <a:graphic>
          <a:graphicData uri="http://schemas.openxmlformats.org/drawingml/2006/chart">
            <c:chart xmlns:c="http://schemas.openxmlformats.org/drawingml/2006/chart" r:id="rId3"/>
          </a:graphicData>
        </a:graphic>
      </p:graphicFrame>
      <p:sp>
        <p:nvSpPr>
          <p:cNvPr id="10" name="TextBox 9"/>
          <p:cNvSpPr txBox="1"/>
          <p:nvPr/>
        </p:nvSpPr>
        <p:spPr>
          <a:xfrm>
            <a:off x="4474845" y="1419225"/>
            <a:ext cx="2383155" cy="133350"/>
          </a:xfrm>
          <a:prstGeom prst="rect">
            <a:avLst/>
          </a:prstGeom>
          <a:noFill/>
        </p:spPr>
        <p:txBody>
          <a:bodyPr wrap="square" lIns="28575" rIns="28575" tIns="9525" bIns="9525" anchor="ctr">
            <a:spAutoFit/>
          </a:bodyPr>
          <a:lstStyle/>
          <a:p>
            <a:pPr algn="ctr"/>
            <a:r>
              <a:rPr sz="1300" b="1">
                <a:solidFill>
                  <a:srgbClr val="2A5F8F"/>
                </a:solidFill>
                <a:latin typeface="Calibri"/>
              </a:rPr>
              <a:t>BPS Δ  (2026→2036)</a:t>
            </a:r>
          </a:p>
        </p:txBody>
      </p:sp>
      <p:sp>
        <p:nvSpPr>
          <p:cNvPr id="11" name="TMR Lock Anchor"/>
          <p:cNvSpPr txBox="1"/>
          <p:nvPr/>
        </p:nvSpPr>
        <p:spPr>
          <a:xfrm>
            <a:off x="2489835" y="3352800"/>
            <a:ext cx="38100" cy="38100"/>
          </a:xfrm>
          <a:prstGeom prst="rect">
            <a:avLst/>
          </a:prstGeom>
          <a:noFill/>
        </p:spPr>
        <p:txBody>
          <a:bodyPr wrap="none">
            <a:spAutoFit/>
          </a:bodyPr>
          <a:lstStyle/>
          <a:p/>
        </p:txBody>
      </p:sp>
      <p:sp>
        <p:nvSpPr>
          <p:cNvPr id="12" name="TMR Legend Chip"/>
          <p:cNvSpPr/>
          <p:nvPr/>
        </p:nvSpPr>
        <p:spPr>
          <a:xfrm>
            <a:off x="4551045" y="1597422"/>
            <a:ext cx="85725" cy="85725"/>
          </a:xfrm>
          <a:prstGeom prst="rect">
            <a:avLst/>
          </a:prstGeom>
          <a:solidFill>
            <a:srgbClr val="79C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Isosceles Triangle 12"/>
          <p:cNvSpPr/>
          <p:nvPr/>
        </p:nvSpPr>
        <p:spPr>
          <a:xfrm>
            <a:off x="4712970" y="1592659"/>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BPS Name 1"/>
          <p:cNvSpPr txBox="1"/>
          <p:nvPr/>
        </p:nvSpPr>
        <p:spPr>
          <a:xfrm>
            <a:off x="4855845" y="1516459"/>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Middle East and Africa</a:t>
            </a:r>
          </a:p>
        </p:txBody>
      </p:sp>
      <p:sp>
        <p:nvSpPr>
          <p:cNvPr id="15" name="BPS Value 1"/>
          <p:cNvSpPr txBox="1"/>
          <p:nvPr/>
        </p:nvSpPr>
        <p:spPr>
          <a:xfrm>
            <a:off x="6305550" y="1578372"/>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16" name="TMR Legend Chip"/>
          <p:cNvSpPr/>
          <p:nvPr/>
        </p:nvSpPr>
        <p:spPr>
          <a:xfrm>
            <a:off x="4551045" y="1891961"/>
            <a:ext cx="85725" cy="85725"/>
          </a:xfrm>
          <a:prstGeom prst="rect">
            <a:avLst/>
          </a:prstGeom>
          <a:solidFill>
            <a:srgbClr val="F47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Isosceles Triangle 16"/>
          <p:cNvSpPr/>
          <p:nvPr/>
        </p:nvSpPr>
        <p:spPr>
          <a:xfrm>
            <a:off x="4712970" y="1887199"/>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PS Name 2"/>
          <p:cNvSpPr txBox="1"/>
          <p:nvPr/>
        </p:nvSpPr>
        <p:spPr>
          <a:xfrm>
            <a:off x="4855845" y="1810999"/>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Latin America</a:t>
            </a:r>
          </a:p>
        </p:txBody>
      </p:sp>
      <p:sp>
        <p:nvSpPr>
          <p:cNvPr id="19" name="BPS Value 2"/>
          <p:cNvSpPr txBox="1"/>
          <p:nvPr/>
        </p:nvSpPr>
        <p:spPr>
          <a:xfrm>
            <a:off x="6305550" y="1872911"/>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0" name="TMR Legend Chip"/>
          <p:cNvSpPr/>
          <p:nvPr/>
        </p:nvSpPr>
        <p:spPr>
          <a:xfrm>
            <a:off x="4551045" y="2401331"/>
            <a:ext cx="85725" cy="85725"/>
          </a:xfrm>
          <a:prstGeom prst="rect">
            <a:avLst/>
          </a:prstGeom>
          <a:solidFill>
            <a:srgbClr val="00AC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Isosceles Triangle 20"/>
          <p:cNvSpPr/>
          <p:nvPr/>
        </p:nvSpPr>
        <p:spPr>
          <a:xfrm>
            <a:off x="4712970" y="2396569"/>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BPS Name 3"/>
          <p:cNvSpPr txBox="1"/>
          <p:nvPr/>
        </p:nvSpPr>
        <p:spPr>
          <a:xfrm>
            <a:off x="4855845" y="2320369"/>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East Asia</a:t>
            </a:r>
          </a:p>
        </p:txBody>
      </p:sp>
      <p:sp>
        <p:nvSpPr>
          <p:cNvPr id="23" name="BPS Value 3"/>
          <p:cNvSpPr txBox="1"/>
          <p:nvPr/>
        </p:nvSpPr>
        <p:spPr>
          <a:xfrm>
            <a:off x="6305550" y="2382281"/>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4" name="TMR Legend Chip"/>
          <p:cNvSpPr/>
          <p:nvPr/>
        </p:nvSpPr>
        <p:spPr>
          <a:xfrm>
            <a:off x="4551045" y="3124875"/>
            <a:ext cx="85725" cy="85725"/>
          </a:xfrm>
          <a:prstGeom prst="rect">
            <a:avLst/>
          </a:prstGeom>
          <a:solidFill>
            <a:srgbClr val="0E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Isosceles Triangle 24"/>
          <p:cNvSpPr/>
          <p:nvPr/>
        </p:nvSpPr>
        <p:spPr>
          <a:xfrm rot="10800000">
            <a:off x="4712970" y="3120112"/>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BPS Name 4"/>
          <p:cNvSpPr txBox="1"/>
          <p:nvPr/>
        </p:nvSpPr>
        <p:spPr>
          <a:xfrm>
            <a:off x="4855845" y="3043912"/>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North America</a:t>
            </a:r>
          </a:p>
        </p:txBody>
      </p:sp>
      <p:sp>
        <p:nvSpPr>
          <p:cNvPr id="27" name="BPS Value 4"/>
          <p:cNvSpPr txBox="1"/>
          <p:nvPr/>
        </p:nvSpPr>
        <p:spPr>
          <a:xfrm>
            <a:off x="6305550" y="3105825"/>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8" name="TMR Legend Chip"/>
          <p:cNvSpPr/>
          <p:nvPr/>
        </p:nvSpPr>
        <p:spPr>
          <a:xfrm>
            <a:off x="4551045" y="3902093"/>
            <a:ext cx="85725" cy="85725"/>
          </a:xfrm>
          <a:prstGeom prst="rect">
            <a:avLst/>
          </a:prstGeom>
          <a:solidFill>
            <a:srgbClr val="0081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Isosceles Triangle 28"/>
          <p:cNvSpPr/>
          <p:nvPr/>
        </p:nvSpPr>
        <p:spPr>
          <a:xfrm rot="10800000">
            <a:off x="4712970" y="3897331"/>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BPS Name 5"/>
          <p:cNvSpPr txBox="1"/>
          <p:nvPr/>
        </p:nvSpPr>
        <p:spPr>
          <a:xfrm>
            <a:off x="4855845" y="3821131"/>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Europe</a:t>
            </a:r>
          </a:p>
        </p:txBody>
      </p:sp>
      <p:sp>
        <p:nvSpPr>
          <p:cNvPr id="31" name="BPS Value 5"/>
          <p:cNvSpPr txBox="1"/>
          <p:nvPr/>
        </p:nvSpPr>
        <p:spPr>
          <a:xfrm>
            <a:off x="6305550" y="3883043"/>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32" name="TMR Legend Chip"/>
          <p:cNvSpPr/>
          <p:nvPr/>
        </p:nvSpPr>
        <p:spPr>
          <a:xfrm>
            <a:off x="4551045" y="4717573"/>
            <a:ext cx="85725" cy="85725"/>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Isosceles Triangle 32"/>
          <p:cNvSpPr/>
          <p:nvPr/>
        </p:nvSpPr>
        <p:spPr>
          <a:xfrm>
            <a:off x="4712970" y="4712810"/>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BPS Name 6"/>
          <p:cNvSpPr txBox="1"/>
          <p:nvPr/>
        </p:nvSpPr>
        <p:spPr>
          <a:xfrm>
            <a:off x="4855845" y="4636610"/>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South Asia &amp; Pacific</a:t>
            </a:r>
          </a:p>
        </p:txBody>
      </p:sp>
      <p:sp>
        <p:nvSpPr>
          <p:cNvPr id="35" name="BPS Value 6"/>
          <p:cNvSpPr txBox="1"/>
          <p:nvPr/>
        </p:nvSpPr>
        <p:spPr>
          <a:xfrm>
            <a:off x="6305550" y="4698523"/>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36" name="Rounded Rectangle 35"/>
          <p:cNvSpPr/>
          <p:nvPr/>
        </p:nvSpPr>
        <p:spPr>
          <a:xfrm>
            <a:off x="7105650" y="981075"/>
            <a:ext cx="4933950" cy="4533900"/>
          </a:xfrm>
          <a:prstGeom prst="roundRect">
            <a:avLst>
              <a:gd name="adj" fmla="val 1680"/>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239000" y="1066800"/>
            <a:ext cx="4667250" cy="209550"/>
          </a:xfrm>
          <a:prstGeom prst="rect">
            <a:avLst/>
          </a:prstGeom>
          <a:noFill/>
        </p:spPr>
        <p:txBody>
          <a:bodyPr wrap="square" lIns="0" rIns="19050" tIns="9525" bIns="9525">
            <a:spAutoFit/>
          </a:bodyPr>
          <a:lstStyle/>
          <a:p>
            <a:pPr algn="l"/>
            <a:r>
              <a:rPr sz="1300" b="1">
                <a:solidFill>
                  <a:srgbClr val="0E2A5C"/>
                </a:solidFill>
                <a:latin typeface="Calibri"/>
              </a:rPr>
              <a:t>Regional Highlights</a:t>
            </a:r>
          </a:p>
        </p:txBody>
      </p:sp>
      <p:sp>
        <p:nvSpPr>
          <p:cNvPr id="38" name="Rectangle 37"/>
          <p:cNvSpPr/>
          <p:nvPr/>
        </p:nvSpPr>
        <p:spPr>
          <a:xfrm>
            <a:off x="7239000" y="1304925"/>
            <a:ext cx="46672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239000" y="1390650"/>
            <a:ext cx="4667250" cy="404812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40" name="Rounded Rectangle 39"/>
          <p:cNvSpPr/>
          <p:nvPr/>
        </p:nvSpPr>
        <p:spPr>
          <a:xfrm>
            <a:off x="142875" y="5648325"/>
            <a:ext cx="3943350" cy="981075"/>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
            </a:r>
          </a:p>
          <a:p>
            <a:pPr algn="ctr">
              <a:lnSpc>
                <a:spcPct val="95000"/>
              </a:lnSpc>
            </a:pPr>
            <a:r>
              <a:rPr sz="2000" b="1">
                <a:solidFill>
                  <a:srgbClr val="2A5F8F"/>
                </a:solidFill>
                <a:latin typeface="Calibri"/>
              </a:rPr>
              <a:t/>
            </a:r>
          </a:p>
        </p:txBody>
      </p:sp>
      <p:sp>
        <p:nvSpPr>
          <p:cNvPr id="41" name="Rounded Rectangle 40"/>
          <p:cNvSpPr/>
          <p:nvPr/>
        </p:nvSpPr>
        <p:spPr>
          <a:xfrm>
            <a:off x="4238625" y="5648325"/>
            <a:ext cx="3819525" cy="981075"/>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
            </a:r>
          </a:p>
          <a:p>
            <a:pPr algn="ctr">
              <a:lnSpc>
                <a:spcPct val="95000"/>
              </a:lnSpc>
            </a:pPr>
            <a:r>
              <a:rPr sz="2000" b="1">
                <a:solidFill>
                  <a:srgbClr val="2A5F8F"/>
                </a:solidFill>
                <a:latin typeface="Calibri"/>
              </a:rPr>
              <a:t/>
            </a:r>
          </a:p>
        </p:txBody>
      </p:sp>
      <p:sp>
        <p:nvSpPr>
          <p:cNvPr id="42" name="Rounded Rectangle 41"/>
          <p:cNvSpPr/>
          <p:nvPr/>
        </p:nvSpPr>
        <p:spPr>
          <a:xfrm>
            <a:off x="8210550" y="5648325"/>
            <a:ext cx="3819525" cy="981075"/>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CAGR (2026–2036)</a:t>
            </a:r>
          </a:p>
          <a:p>
            <a:pPr algn="ctr">
              <a:lnSpc>
                <a:spcPct val="95000"/>
              </a:lnSpc>
            </a:pPr>
            <a:r>
              <a:rPr sz="2000" b="1">
                <a:solidFill>
                  <a:srgbClr val="2A5F8F"/>
                </a:solidFill>
                <a:latin typeface="Calibri"/>
              </a:rPr>
              <a:t/>
            </a:r>
          </a:p>
        </p:txBody>
      </p:sp>
      <p:sp>
        <p:nvSpPr>
          <p:cNvPr id="43" name="Rectangle 42"/>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45" name="Picture 44" descr="lock.png"/>
          <p:cNvPicPr>
            <a:picLocks noChangeAspect="1"/>
          </p:cNvPicPr>
          <p:nvPr/>
        </p:nvPicPr>
        <p:blipFill>
          <a:blip r:embed="rId5"/>
          <a:stretch>
            <a:fillRect/>
          </a:stretch>
        </p:blipFill>
        <p:spPr>
          <a:xfrm>
            <a:off x="2333863" y="3121818"/>
            <a:ext cx="343793" cy="500062"/>
          </a:xfrm>
          <a:prstGeom prst="rect">
            <a:avLst/>
          </a:prstGeom>
        </p:spPr>
      </p:pic>
      <p:pic>
        <p:nvPicPr>
          <p:cNvPr id="46" name="Picture 45" descr="4_4__605E5C.png"/>
          <p:cNvPicPr>
            <a:picLocks noChangeAspect="1"/>
          </p:cNvPicPr>
          <p:nvPr/>
        </p:nvPicPr>
        <p:blipFill>
          <a:blip r:embed="rId6"/>
          <a:stretch>
            <a:fillRect/>
          </a:stretch>
        </p:blipFill>
        <p:spPr>
          <a:xfrm>
            <a:off x="9465355" y="5897562"/>
            <a:ext cx="1309912" cy="482599"/>
          </a:xfrm>
          <a:prstGeom prst="rect">
            <a:avLst/>
          </a:prstGeom>
        </p:spPr>
      </p:pic>
      <p:pic>
        <p:nvPicPr>
          <p:cNvPr id="47" name="Picture 46" descr="lock.png"/>
          <p:cNvPicPr>
            <a:picLocks noChangeAspect="1"/>
          </p:cNvPicPr>
          <p:nvPr/>
        </p:nvPicPr>
        <p:blipFill>
          <a:blip r:embed="rId5"/>
          <a:stretch>
            <a:fillRect/>
          </a:stretch>
        </p:blipFill>
        <p:spPr>
          <a:xfrm>
            <a:off x="10003631" y="5972175"/>
            <a:ext cx="229195" cy="333375"/>
          </a:xfrm>
          <a:prstGeom prst="rect">
            <a:avLst/>
          </a:prstGeom>
        </p:spPr>
      </p:pic>
      <p:sp>
        <p:nvSpPr>
          <p:cNvPr id="48" name="TextBox 47"/>
          <p:cNvSpPr txBox="1"/>
          <p:nvPr/>
        </p:nvSpPr>
        <p:spPr>
          <a:xfrm>
            <a:off x="7239000" y="1400175"/>
            <a:ext cx="4484799" cy="194310"/>
          </a:xfrm>
          <a:prstGeom prst="rect">
            <a:avLst/>
          </a:prstGeom>
          <a:noFill/>
        </p:spPr>
        <p:txBody>
          <a:bodyPr wrap="none" lIns="0" rIns="0" tIns="0" bIns="0">
            <a:spAutoFit/>
          </a:bodyPr>
          <a:lstStyle/>
          <a:p>
            <a:r>
              <a:rPr sz="1150" b="0">
                <a:solidFill>
                  <a:srgbClr val="2E2E2E"/>
                </a:solidFill>
                <a:latin typeface="Calibri"/>
              </a:rPr>
              <a:t>South Asia &amp; Pacific egg protein membrane market is projected to register</a:t>
            </a:r>
          </a:p>
        </p:txBody>
      </p:sp>
      <p:pic>
        <p:nvPicPr>
          <p:cNvPr id="49" name="Picture 48" descr="lock.png"/>
          <p:cNvPicPr>
            <a:picLocks noChangeAspect="1"/>
          </p:cNvPicPr>
          <p:nvPr/>
        </p:nvPicPr>
        <p:blipFill>
          <a:blip r:embed="rId5"/>
          <a:stretch>
            <a:fillRect/>
          </a:stretch>
        </p:blipFill>
        <p:spPr>
          <a:xfrm>
            <a:off x="7224920" y="1565211"/>
            <a:ext cx="134549" cy="195707"/>
          </a:xfrm>
          <a:prstGeom prst="rect">
            <a:avLst/>
          </a:prstGeom>
        </p:spPr>
      </p:pic>
      <p:sp>
        <p:nvSpPr>
          <p:cNvPr id="50" name="TextBox 49"/>
          <p:cNvSpPr txBox="1"/>
          <p:nvPr/>
        </p:nvSpPr>
        <p:spPr>
          <a:xfrm>
            <a:off x="7400029" y="1575435"/>
            <a:ext cx="4347306" cy="194310"/>
          </a:xfrm>
          <a:prstGeom prst="rect">
            <a:avLst/>
          </a:prstGeom>
          <a:noFill/>
        </p:spPr>
        <p:txBody>
          <a:bodyPr wrap="none" lIns="0" rIns="0" tIns="0" bIns="0">
            <a:spAutoFit/>
          </a:bodyPr>
          <a:lstStyle/>
          <a:p>
            <a:r>
              <a:rPr sz="1150" b="0">
                <a:solidFill>
                  <a:srgbClr val="2E2E2E"/>
                </a:solidFill>
                <a:latin typeface="Calibri"/>
              </a:rPr>
              <a:t>X higher volume than Europe in 2036. Among egg protein membrane by</a:t>
            </a:r>
          </a:p>
        </p:txBody>
      </p:sp>
      <p:sp>
        <p:nvSpPr>
          <p:cNvPr id="51" name="TextBox 50"/>
          <p:cNvSpPr txBox="1"/>
          <p:nvPr/>
        </p:nvSpPr>
        <p:spPr>
          <a:xfrm>
            <a:off x="7239000" y="1750695"/>
            <a:ext cx="4263994" cy="194310"/>
          </a:xfrm>
          <a:prstGeom prst="rect">
            <a:avLst/>
          </a:prstGeom>
          <a:noFill/>
        </p:spPr>
        <p:txBody>
          <a:bodyPr wrap="none" lIns="0" rIns="0" tIns="0" bIns="0">
            <a:spAutoFit/>
          </a:bodyPr>
          <a:lstStyle/>
          <a:p>
            <a:r>
              <a:rPr sz="1150" b="0">
                <a:solidFill>
                  <a:srgbClr val="2E2E2E"/>
                </a:solidFill>
                <a:latin typeface="Calibri"/>
              </a:rPr>
              <a:t>region, South Asia &amp; Pacific is expected to witness the highest CAGR of</a:t>
            </a:r>
          </a:p>
        </p:txBody>
      </p:sp>
      <p:pic>
        <p:nvPicPr>
          <p:cNvPr id="52" name="Picture 51" descr="lock.png"/>
          <p:cNvPicPr>
            <a:picLocks noChangeAspect="1"/>
          </p:cNvPicPr>
          <p:nvPr/>
        </p:nvPicPr>
        <p:blipFill>
          <a:blip r:embed="rId5"/>
          <a:stretch>
            <a:fillRect/>
          </a:stretch>
        </p:blipFill>
        <p:spPr>
          <a:xfrm>
            <a:off x="11452148" y="1740471"/>
            <a:ext cx="134549" cy="195707"/>
          </a:xfrm>
          <a:prstGeom prst="rect">
            <a:avLst/>
          </a:prstGeom>
        </p:spPr>
      </p:pic>
      <p:sp>
        <p:nvSpPr>
          <p:cNvPr id="53" name="TextBox 52"/>
          <p:cNvSpPr txBox="1"/>
          <p:nvPr/>
        </p:nvSpPr>
        <p:spPr>
          <a:xfrm>
            <a:off x="7239000" y="1925955"/>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54" name="TextBox 53"/>
          <p:cNvSpPr txBox="1"/>
          <p:nvPr/>
        </p:nvSpPr>
        <p:spPr>
          <a:xfrm>
            <a:off x="7239000" y="2153793"/>
            <a:ext cx="4252602" cy="194310"/>
          </a:xfrm>
          <a:prstGeom prst="rect">
            <a:avLst/>
          </a:prstGeom>
          <a:noFill/>
        </p:spPr>
        <p:txBody>
          <a:bodyPr wrap="none" lIns="0" rIns="0" tIns="0" bIns="0">
            <a:spAutoFit/>
          </a:bodyPr>
          <a:lstStyle/>
          <a:p>
            <a:r>
              <a:rPr sz="1150" b="0">
                <a:solidFill>
                  <a:srgbClr val="2E2E2E"/>
                </a:solidFill>
                <a:latin typeface="Calibri"/>
              </a:rPr>
              <a:t>In terms of volume share by region, South Asia &amp; Pacific is expected to</a:t>
            </a:r>
          </a:p>
        </p:txBody>
      </p:sp>
      <p:sp>
        <p:nvSpPr>
          <p:cNvPr id="55" name="TextBox 54"/>
          <p:cNvSpPr txBox="1"/>
          <p:nvPr/>
        </p:nvSpPr>
        <p:spPr>
          <a:xfrm>
            <a:off x="7239000" y="2329053"/>
            <a:ext cx="1837072" cy="194310"/>
          </a:xfrm>
          <a:prstGeom prst="rect">
            <a:avLst/>
          </a:prstGeom>
          <a:noFill/>
        </p:spPr>
        <p:txBody>
          <a:bodyPr wrap="none" lIns="0" rIns="0" tIns="0" bIns="0">
            <a:spAutoFit/>
          </a:bodyPr>
          <a:lstStyle/>
          <a:p>
            <a:r>
              <a:rPr sz="1150" b="0">
                <a:solidFill>
                  <a:srgbClr val="2E2E2E"/>
                </a:solidFill>
                <a:latin typeface="Calibri"/>
              </a:rPr>
              <a:t>dominate the market, gaining</a:t>
            </a:r>
          </a:p>
        </p:txBody>
      </p:sp>
      <p:pic>
        <p:nvPicPr>
          <p:cNvPr id="56" name="Picture 55" descr="lock.png"/>
          <p:cNvPicPr>
            <a:picLocks noChangeAspect="1"/>
          </p:cNvPicPr>
          <p:nvPr/>
        </p:nvPicPr>
        <p:blipFill>
          <a:blip r:embed="rId5"/>
          <a:stretch>
            <a:fillRect/>
          </a:stretch>
        </p:blipFill>
        <p:spPr>
          <a:xfrm>
            <a:off x="9025226" y="2318829"/>
            <a:ext cx="134549" cy="195707"/>
          </a:xfrm>
          <a:prstGeom prst="rect">
            <a:avLst/>
          </a:prstGeom>
        </p:spPr>
      </p:pic>
      <p:sp>
        <p:nvSpPr>
          <p:cNvPr id="57" name="TextBox 56"/>
          <p:cNvSpPr txBox="1"/>
          <p:nvPr/>
        </p:nvSpPr>
        <p:spPr>
          <a:xfrm>
            <a:off x="9200335" y="2329053"/>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58" name="Picture 57" descr="lock.png"/>
          <p:cNvPicPr>
            <a:picLocks noChangeAspect="1"/>
          </p:cNvPicPr>
          <p:nvPr/>
        </p:nvPicPr>
        <p:blipFill>
          <a:blip r:embed="rId5"/>
          <a:stretch>
            <a:fillRect/>
          </a:stretch>
        </p:blipFill>
        <p:spPr>
          <a:xfrm>
            <a:off x="10595478" y="2318829"/>
            <a:ext cx="134549" cy="195707"/>
          </a:xfrm>
          <a:prstGeom prst="rect">
            <a:avLst/>
          </a:prstGeom>
        </p:spPr>
      </p:pic>
      <p:sp>
        <p:nvSpPr>
          <p:cNvPr id="59" name="TextBox 58"/>
          <p:cNvSpPr txBox="1"/>
          <p:nvPr/>
        </p:nvSpPr>
        <p:spPr>
          <a:xfrm>
            <a:off x="10770588" y="2329053"/>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60" name="TextBox 59"/>
          <p:cNvSpPr txBox="1"/>
          <p:nvPr/>
        </p:nvSpPr>
        <p:spPr>
          <a:xfrm>
            <a:off x="7239000" y="2504313"/>
            <a:ext cx="2083531" cy="194310"/>
          </a:xfrm>
          <a:prstGeom prst="rect">
            <a:avLst/>
          </a:prstGeom>
          <a:noFill/>
        </p:spPr>
        <p:txBody>
          <a:bodyPr wrap="none" lIns="0" rIns="0" tIns="0" bIns="0">
            <a:spAutoFit/>
          </a:bodyPr>
          <a:lstStyle/>
          <a:p>
            <a:r>
              <a:rPr sz="1150" b="0">
                <a:solidFill>
                  <a:srgbClr val="2E2E2E"/>
                </a:solidFill>
                <a:latin typeface="Calibri"/>
              </a:rPr>
              <a:t>North America is expected to lose</a:t>
            </a:r>
          </a:p>
        </p:txBody>
      </p:sp>
      <p:pic>
        <p:nvPicPr>
          <p:cNvPr id="61" name="Picture 60" descr="lock.png"/>
          <p:cNvPicPr>
            <a:picLocks noChangeAspect="1"/>
          </p:cNvPicPr>
          <p:nvPr/>
        </p:nvPicPr>
        <p:blipFill>
          <a:blip r:embed="rId5"/>
          <a:stretch>
            <a:fillRect/>
          </a:stretch>
        </p:blipFill>
        <p:spPr>
          <a:xfrm>
            <a:off x="9271685" y="2494089"/>
            <a:ext cx="134549" cy="195707"/>
          </a:xfrm>
          <a:prstGeom prst="rect">
            <a:avLst/>
          </a:prstGeom>
        </p:spPr>
      </p:pic>
      <p:sp>
        <p:nvSpPr>
          <p:cNvPr id="62" name="TextBox 61"/>
          <p:cNvSpPr txBox="1"/>
          <p:nvPr/>
        </p:nvSpPr>
        <p:spPr>
          <a:xfrm>
            <a:off x="9446794" y="2504313"/>
            <a:ext cx="1926356" cy="194310"/>
          </a:xfrm>
          <a:prstGeom prst="rect">
            <a:avLst/>
          </a:prstGeom>
          <a:noFill/>
        </p:spPr>
        <p:txBody>
          <a:bodyPr wrap="none" lIns="0" rIns="0" tIns="0" bIns="0">
            <a:spAutoFit/>
          </a:bodyPr>
          <a:lstStyle/>
          <a:p>
            <a:r>
              <a:rPr sz="1150" b="0">
                <a:solidFill>
                  <a:srgbClr val="2E2E2E"/>
                </a:solidFill>
                <a:latin typeface="Calibri"/>
              </a:rPr>
              <a:t>BPS over the forecast period to</a:t>
            </a:r>
          </a:p>
        </p:txBody>
      </p:sp>
      <p:sp>
        <p:nvSpPr>
          <p:cNvPr id="63" name="TextBox 62"/>
          <p:cNvSpPr txBox="1"/>
          <p:nvPr/>
        </p:nvSpPr>
        <p:spPr>
          <a:xfrm>
            <a:off x="7239000" y="2679573"/>
            <a:ext cx="755104" cy="194310"/>
          </a:xfrm>
          <a:prstGeom prst="rect">
            <a:avLst/>
          </a:prstGeom>
          <a:noFill/>
        </p:spPr>
        <p:txBody>
          <a:bodyPr wrap="none" lIns="0" rIns="0" tIns="0" bIns="0">
            <a:spAutoFit/>
          </a:bodyPr>
          <a:lstStyle/>
          <a:p>
            <a:r>
              <a:rPr sz="1150" b="0">
                <a:solidFill>
                  <a:srgbClr val="2E2E2E"/>
                </a:solidFill>
                <a:latin typeface="Calibri"/>
              </a:rPr>
              <a:t>account for</a:t>
            </a:r>
          </a:p>
        </p:txBody>
      </p:sp>
      <p:pic>
        <p:nvPicPr>
          <p:cNvPr id="64" name="Picture 63" descr="lock.png"/>
          <p:cNvPicPr>
            <a:picLocks noChangeAspect="1"/>
          </p:cNvPicPr>
          <p:nvPr/>
        </p:nvPicPr>
        <p:blipFill>
          <a:blip r:embed="rId5"/>
          <a:stretch>
            <a:fillRect/>
          </a:stretch>
        </p:blipFill>
        <p:spPr>
          <a:xfrm>
            <a:off x="7943258" y="2669349"/>
            <a:ext cx="134549" cy="195707"/>
          </a:xfrm>
          <a:prstGeom prst="rect">
            <a:avLst/>
          </a:prstGeom>
        </p:spPr>
      </p:pic>
      <p:sp>
        <p:nvSpPr>
          <p:cNvPr id="65" name="TextBox 64"/>
          <p:cNvSpPr txBox="1"/>
          <p:nvPr/>
        </p:nvSpPr>
        <p:spPr>
          <a:xfrm>
            <a:off x="8118367" y="2679573"/>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66" name="TextBox 65"/>
          <p:cNvSpPr txBox="1"/>
          <p:nvPr/>
        </p:nvSpPr>
        <p:spPr>
          <a:xfrm>
            <a:off x="1613208" y="5877496"/>
            <a:ext cx="1078882" cy="186689"/>
          </a:xfrm>
          <a:prstGeom prst="rect">
            <a:avLst/>
          </a:prstGeom>
          <a:noFill/>
        </p:spPr>
        <p:txBody>
          <a:bodyPr wrap="none" lIns="0" rIns="0" tIns="0" bIns="0">
            <a:spAutoFit/>
          </a:bodyPr>
          <a:lstStyle/>
          <a:p>
            <a:r>
              <a:rPr sz="1100" b="1">
                <a:solidFill>
                  <a:srgbClr val="6C7A89"/>
                </a:solidFill>
                <a:latin typeface="Calibri"/>
              </a:rPr>
              <a:t>2026 TOTAL (MT)</a:t>
            </a:r>
          </a:p>
        </p:txBody>
      </p:sp>
      <p:pic>
        <p:nvPicPr>
          <p:cNvPr id="67" name="Picture 66" descr="lock.png"/>
          <p:cNvPicPr>
            <a:picLocks noChangeAspect="1"/>
          </p:cNvPicPr>
          <p:nvPr/>
        </p:nvPicPr>
        <p:blipFill>
          <a:blip r:embed="rId5"/>
          <a:stretch>
            <a:fillRect/>
          </a:stretch>
        </p:blipFill>
        <p:spPr>
          <a:xfrm>
            <a:off x="1984327" y="6077648"/>
            <a:ext cx="233998" cy="340360"/>
          </a:xfrm>
          <a:prstGeom prst="rect">
            <a:avLst/>
          </a:prstGeom>
        </p:spPr>
      </p:pic>
      <p:sp>
        <p:nvSpPr>
          <p:cNvPr id="68" name="TextBox 67"/>
          <p:cNvSpPr txBox="1"/>
          <p:nvPr/>
        </p:nvSpPr>
        <p:spPr>
          <a:xfrm>
            <a:off x="5647046" y="5877496"/>
            <a:ext cx="1078882" cy="186689"/>
          </a:xfrm>
          <a:prstGeom prst="rect">
            <a:avLst/>
          </a:prstGeom>
          <a:noFill/>
        </p:spPr>
        <p:txBody>
          <a:bodyPr wrap="none" lIns="0" rIns="0" tIns="0" bIns="0">
            <a:spAutoFit/>
          </a:bodyPr>
          <a:lstStyle/>
          <a:p>
            <a:r>
              <a:rPr sz="1100" b="1">
                <a:solidFill>
                  <a:srgbClr val="6C7A89"/>
                </a:solidFill>
                <a:latin typeface="Calibri"/>
              </a:rPr>
              <a:t>2036 TOTAL (MT)</a:t>
            </a:r>
          </a:p>
        </p:txBody>
      </p:sp>
      <p:pic>
        <p:nvPicPr>
          <p:cNvPr id="69" name="Picture 68" descr="lock.png"/>
          <p:cNvPicPr>
            <a:picLocks noChangeAspect="1"/>
          </p:cNvPicPr>
          <p:nvPr/>
        </p:nvPicPr>
        <p:blipFill>
          <a:blip r:embed="rId5"/>
          <a:stretch>
            <a:fillRect/>
          </a:stretch>
        </p:blipFill>
        <p:spPr>
          <a:xfrm>
            <a:off x="6018165" y="6077648"/>
            <a:ext cx="233998" cy="340360"/>
          </a:xfrm>
          <a:prstGeom prst="rect">
            <a:avLst/>
          </a:prstGeom>
        </p:spPr>
      </p:pic>
      <p:sp>
        <p:nvSpPr>
          <p:cNvPr id="70" name="lockshield_9"/>
          <p:cNvSpPr/>
          <p:nvPr/>
        </p:nvSpPr>
        <p:spPr>
          <a:xfrm>
            <a:off x="238125" y="1409700"/>
            <a:ext cx="4236720" cy="40481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Egg Protein Membrane Market Analysis, By Region Value (US$ Mn)</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value share by region in 2026 and 2036, highlighting share gains and losses in basis points</a:t>
            </a:r>
          </a:p>
        </p:txBody>
      </p:sp>
      <p:sp>
        <p:nvSpPr>
          <p:cNvPr id="7" name="Rounded Rectangle 6"/>
          <p:cNvSpPr/>
          <p:nvPr/>
        </p:nvSpPr>
        <p:spPr>
          <a:xfrm>
            <a:off x="142875" y="981075"/>
            <a:ext cx="6810375" cy="4533900"/>
          </a:xfrm>
          <a:prstGeom prst="roundRect">
            <a:avLst>
              <a:gd name="adj" fmla="val 1680"/>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661987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Share and BPS Assessment By Region, 2026 &amp; 2036</a:t>
            </a:r>
          </a:p>
        </p:txBody>
      </p:sp>
      <p:graphicFrame>
        <p:nvGraphicFramePr>
          <p:cNvPr id="9" name="Chart 8"/>
          <p:cNvGraphicFramePr>
            <a:graphicFrameLocks noGrp="1"/>
          </p:cNvGraphicFramePr>
          <p:nvPr/>
        </p:nvGraphicFramePr>
        <p:xfrm>
          <a:off x="238125" y="1409700"/>
          <a:ext cx="4236720" cy="4048125"/>
        </p:xfrm>
        <a:graphic>
          <a:graphicData uri="http://schemas.openxmlformats.org/drawingml/2006/chart">
            <c:chart xmlns:c="http://schemas.openxmlformats.org/drawingml/2006/chart" r:id="rId3"/>
          </a:graphicData>
        </a:graphic>
      </p:graphicFrame>
      <p:sp>
        <p:nvSpPr>
          <p:cNvPr id="10" name="TextBox 9"/>
          <p:cNvSpPr txBox="1"/>
          <p:nvPr/>
        </p:nvSpPr>
        <p:spPr>
          <a:xfrm>
            <a:off x="4474845" y="1419225"/>
            <a:ext cx="2383155" cy="133350"/>
          </a:xfrm>
          <a:prstGeom prst="rect">
            <a:avLst/>
          </a:prstGeom>
          <a:noFill/>
        </p:spPr>
        <p:txBody>
          <a:bodyPr wrap="square" lIns="28575" rIns="28575" tIns="9525" bIns="9525" anchor="ctr">
            <a:spAutoFit/>
          </a:bodyPr>
          <a:lstStyle/>
          <a:p>
            <a:pPr algn="ctr"/>
            <a:r>
              <a:rPr sz="1300" b="1">
                <a:solidFill>
                  <a:srgbClr val="2A5F8F"/>
                </a:solidFill>
                <a:latin typeface="Calibri"/>
              </a:rPr>
              <a:t>BPS Δ  (2026→2036)</a:t>
            </a:r>
          </a:p>
        </p:txBody>
      </p:sp>
      <p:sp>
        <p:nvSpPr>
          <p:cNvPr id="11" name="TMR Lock Anchor"/>
          <p:cNvSpPr txBox="1"/>
          <p:nvPr/>
        </p:nvSpPr>
        <p:spPr>
          <a:xfrm>
            <a:off x="2489835" y="3352800"/>
            <a:ext cx="38100" cy="38100"/>
          </a:xfrm>
          <a:prstGeom prst="rect">
            <a:avLst/>
          </a:prstGeom>
          <a:noFill/>
        </p:spPr>
        <p:txBody>
          <a:bodyPr wrap="none">
            <a:spAutoFit/>
          </a:bodyPr>
          <a:lstStyle/>
          <a:p/>
        </p:txBody>
      </p:sp>
      <p:sp>
        <p:nvSpPr>
          <p:cNvPr id="12" name="TMR Legend Chip"/>
          <p:cNvSpPr/>
          <p:nvPr/>
        </p:nvSpPr>
        <p:spPr>
          <a:xfrm>
            <a:off x="4551045" y="1585545"/>
            <a:ext cx="85725" cy="85725"/>
          </a:xfrm>
          <a:prstGeom prst="rect">
            <a:avLst/>
          </a:prstGeom>
          <a:solidFill>
            <a:srgbClr val="79C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Isosceles Triangle 12"/>
          <p:cNvSpPr/>
          <p:nvPr/>
        </p:nvSpPr>
        <p:spPr>
          <a:xfrm rot="10800000">
            <a:off x="4712970" y="1580783"/>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BPS Name 1"/>
          <p:cNvSpPr txBox="1"/>
          <p:nvPr/>
        </p:nvSpPr>
        <p:spPr>
          <a:xfrm>
            <a:off x="4855845" y="1504583"/>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Middle East and Africa</a:t>
            </a:r>
          </a:p>
        </p:txBody>
      </p:sp>
      <p:sp>
        <p:nvSpPr>
          <p:cNvPr id="15" name="BPS Value 1"/>
          <p:cNvSpPr txBox="1"/>
          <p:nvPr/>
        </p:nvSpPr>
        <p:spPr>
          <a:xfrm>
            <a:off x="6305550" y="1566495"/>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16" name="TMR Legend Chip"/>
          <p:cNvSpPr/>
          <p:nvPr/>
        </p:nvSpPr>
        <p:spPr>
          <a:xfrm>
            <a:off x="4551045" y="1861846"/>
            <a:ext cx="85725" cy="85725"/>
          </a:xfrm>
          <a:prstGeom prst="rect">
            <a:avLst/>
          </a:prstGeom>
          <a:solidFill>
            <a:srgbClr val="F47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Isosceles Triangle 16"/>
          <p:cNvSpPr/>
          <p:nvPr/>
        </p:nvSpPr>
        <p:spPr>
          <a:xfrm>
            <a:off x="4712970" y="1857083"/>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PS Name 2"/>
          <p:cNvSpPr txBox="1"/>
          <p:nvPr/>
        </p:nvSpPr>
        <p:spPr>
          <a:xfrm>
            <a:off x="4855845" y="1780883"/>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Latin America</a:t>
            </a:r>
          </a:p>
        </p:txBody>
      </p:sp>
      <p:sp>
        <p:nvSpPr>
          <p:cNvPr id="19" name="BPS Value 2"/>
          <p:cNvSpPr txBox="1"/>
          <p:nvPr/>
        </p:nvSpPr>
        <p:spPr>
          <a:xfrm>
            <a:off x="6305550" y="1842796"/>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0" name="TMR Legend Chip"/>
          <p:cNvSpPr/>
          <p:nvPr/>
        </p:nvSpPr>
        <p:spPr>
          <a:xfrm>
            <a:off x="4551045" y="2249968"/>
            <a:ext cx="85725" cy="85725"/>
          </a:xfrm>
          <a:prstGeom prst="rect">
            <a:avLst/>
          </a:prstGeom>
          <a:solidFill>
            <a:srgbClr val="00AC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Isosceles Triangle 20"/>
          <p:cNvSpPr/>
          <p:nvPr/>
        </p:nvSpPr>
        <p:spPr>
          <a:xfrm rot="10800000">
            <a:off x="4712970" y="2245206"/>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BPS Name 3"/>
          <p:cNvSpPr txBox="1"/>
          <p:nvPr/>
        </p:nvSpPr>
        <p:spPr>
          <a:xfrm>
            <a:off x="4855845" y="2169006"/>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East Asia</a:t>
            </a:r>
          </a:p>
        </p:txBody>
      </p:sp>
      <p:sp>
        <p:nvSpPr>
          <p:cNvPr id="23" name="BPS Value 3"/>
          <p:cNvSpPr txBox="1"/>
          <p:nvPr/>
        </p:nvSpPr>
        <p:spPr>
          <a:xfrm>
            <a:off x="6305550" y="2230918"/>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4" name="TMR Legend Chip"/>
          <p:cNvSpPr/>
          <p:nvPr/>
        </p:nvSpPr>
        <p:spPr>
          <a:xfrm>
            <a:off x="4551045" y="2725493"/>
            <a:ext cx="85725" cy="85725"/>
          </a:xfrm>
          <a:prstGeom prst="rect">
            <a:avLst/>
          </a:prstGeom>
          <a:solidFill>
            <a:srgbClr val="0E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Isosceles Triangle 24"/>
          <p:cNvSpPr/>
          <p:nvPr/>
        </p:nvSpPr>
        <p:spPr>
          <a:xfrm>
            <a:off x="4712970" y="2720730"/>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BPS Name 4"/>
          <p:cNvSpPr txBox="1"/>
          <p:nvPr/>
        </p:nvSpPr>
        <p:spPr>
          <a:xfrm>
            <a:off x="4855845" y="2644530"/>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South Asia &amp; Pacific</a:t>
            </a:r>
          </a:p>
        </p:txBody>
      </p:sp>
      <p:sp>
        <p:nvSpPr>
          <p:cNvPr id="27" name="BPS Value 4"/>
          <p:cNvSpPr txBox="1"/>
          <p:nvPr/>
        </p:nvSpPr>
        <p:spPr>
          <a:xfrm>
            <a:off x="6305550" y="2706443"/>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8" name="TMR Legend Chip"/>
          <p:cNvSpPr/>
          <p:nvPr/>
        </p:nvSpPr>
        <p:spPr>
          <a:xfrm>
            <a:off x="4551045" y="3491040"/>
            <a:ext cx="85725" cy="85725"/>
          </a:xfrm>
          <a:prstGeom prst="rect">
            <a:avLst/>
          </a:prstGeom>
          <a:solidFill>
            <a:srgbClr val="0081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Isosceles Triangle 28"/>
          <p:cNvSpPr/>
          <p:nvPr/>
        </p:nvSpPr>
        <p:spPr>
          <a:xfrm>
            <a:off x="4712970" y="3486277"/>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BPS Name 5"/>
          <p:cNvSpPr txBox="1"/>
          <p:nvPr/>
        </p:nvSpPr>
        <p:spPr>
          <a:xfrm>
            <a:off x="4855845" y="3410077"/>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Europe</a:t>
            </a:r>
          </a:p>
        </p:txBody>
      </p:sp>
      <p:sp>
        <p:nvSpPr>
          <p:cNvPr id="31" name="BPS Value 5"/>
          <p:cNvSpPr txBox="1"/>
          <p:nvPr/>
        </p:nvSpPr>
        <p:spPr>
          <a:xfrm>
            <a:off x="6305550" y="3471990"/>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32" name="TMR Legend Chip"/>
          <p:cNvSpPr/>
          <p:nvPr/>
        </p:nvSpPr>
        <p:spPr>
          <a:xfrm>
            <a:off x="4551045" y="4572777"/>
            <a:ext cx="85725" cy="85725"/>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Isosceles Triangle 32"/>
          <p:cNvSpPr/>
          <p:nvPr/>
        </p:nvSpPr>
        <p:spPr>
          <a:xfrm rot="10800000">
            <a:off x="4712970" y="4568014"/>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BPS Name 6"/>
          <p:cNvSpPr txBox="1"/>
          <p:nvPr/>
        </p:nvSpPr>
        <p:spPr>
          <a:xfrm>
            <a:off x="4855845" y="4491814"/>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North America</a:t>
            </a:r>
          </a:p>
        </p:txBody>
      </p:sp>
      <p:sp>
        <p:nvSpPr>
          <p:cNvPr id="35" name="BPS Value 6"/>
          <p:cNvSpPr txBox="1"/>
          <p:nvPr/>
        </p:nvSpPr>
        <p:spPr>
          <a:xfrm>
            <a:off x="6305550" y="4553727"/>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36" name="Rounded Rectangle 35"/>
          <p:cNvSpPr/>
          <p:nvPr/>
        </p:nvSpPr>
        <p:spPr>
          <a:xfrm>
            <a:off x="7105650" y="981075"/>
            <a:ext cx="4933950" cy="4533900"/>
          </a:xfrm>
          <a:prstGeom prst="roundRect">
            <a:avLst>
              <a:gd name="adj" fmla="val 1680"/>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239000" y="1066800"/>
            <a:ext cx="4667250" cy="209550"/>
          </a:xfrm>
          <a:prstGeom prst="rect">
            <a:avLst/>
          </a:prstGeom>
          <a:noFill/>
        </p:spPr>
        <p:txBody>
          <a:bodyPr wrap="square" lIns="0" rIns="19050" tIns="9525" bIns="9525">
            <a:spAutoFit/>
          </a:bodyPr>
          <a:lstStyle/>
          <a:p>
            <a:pPr algn="l"/>
            <a:r>
              <a:rPr sz="1300" b="1">
                <a:solidFill>
                  <a:srgbClr val="0E2A5C"/>
                </a:solidFill>
                <a:latin typeface="Calibri"/>
              </a:rPr>
              <a:t>Regional Highlights</a:t>
            </a:r>
          </a:p>
        </p:txBody>
      </p:sp>
      <p:sp>
        <p:nvSpPr>
          <p:cNvPr id="38" name="Rectangle 37"/>
          <p:cNvSpPr/>
          <p:nvPr/>
        </p:nvSpPr>
        <p:spPr>
          <a:xfrm>
            <a:off x="7239000" y="1304925"/>
            <a:ext cx="46672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239000" y="1390650"/>
            <a:ext cx="4667250" cy="404812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40" name="Rounded Rectangle 39"/>
          <p:cNvSpPr/>
          <p:nvPr/>
        </p:nvSpPr>
        <p:spPr>
          <a:xfrm>
            <a:off x="142875" y="5648325"/>
            <a:ext cx="3943350" cy="981075"/>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2026 TOTAL (US$ MN)</a:t>
            </a:r>
          </a:p>
          <a:p>
            <a:pPr algn="ctr">
              <a:lnSpc>
                <a:spcPct val="95000"/>
              </a:lnSpc>
            </a:pPr>
            <a:r>
              <a:rPr sz="2000" b="1">
                <a:solidFill>
                  <a:srgbClr val="2A5F8F"/>
                </a:solidFill>
                <a:latin typeface="Calibri"/>
              </a:rPr>
              <a:t/>
            </a:r>
          </a:p>
        </p:txBody>
      </p:sp>
      <p:sp>
        <p:nvSpPr>
          <p:cNvPr id="41" name="Rounded Rectangle 40"/>
          <p:cNvSpPr/>
          <p:nvPr/>
        </p:nvSpPr>
        <p:spPr>
          <a:xfrm>
            <a:off x="4238625" y="5648325"/>
            <a:ext cx="3819525" cy="981075"/>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2036 TOTAL (US$ MN)</a:t>
            </a:r>
          </a:p>
          <a:p>
            <a:pPr algn="ctr">
              <a:lnSpc>
                <a:spcPct val="95000"/>
              </a:lnSpc>
            </a:pPr>
            <a:r>
              <a:rPr sz="2000" b="1">
                <a:solidFill>
                  <a:srgbClr val="2A5F8F"/>
                </a:solidFill>
                <a:latin typeface="Calibri"/>
              </a:rPr>
              <a:t/>
            </a:r>
          </a:p>
        </p:txBody>
      </p:sp>
      <p:sp>
        <p:nvSpPr>
          <p:cNvPr id="42" name="Rounded Rectangle 41"/>
          <p:cNvSpPr/>
          <p:nvPr/>
        </p:nvSpPr>
        <p:spPr>
          <a:xfrm>
            <a:off x="8210550" y="5648325"/>
            <a:ext cx="3819525" cy="981075"/>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CAGR (2026–2036)</a:t>
            </a:r>
          </a:p>
          <a:p>
            <a:pPr algn="ctr">
              <a:lnSpc>
                <a:spcPct val="95000"/>
              </a:lnSpc>
            </a:pPr>
            <a:r>
              <a:rPr sz="2000" b="1">
                <a:solidFill>
                  <a:srgbClr val="2A5F8F"/>
                </a:solidFill>
                <a:latin typeface="Calibri"/>
              </a:rPr>
              <a:t/>
            </a:r>
          </a:p>
        </p:txBody>
      </p:sp>
      <p:sp>
        <p:nvSpPr>
          <p:cNvPr id="43" name="Rectangle 42"/>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45" name="Picture 44" descr="lock.png"/>
          <p:cNvPicPr>
            <a:picLocks noChangeAspect="1"/>
          </p:cNvPicPr>
          <p:nvPr/>
        </p:nvPicPr>
        <p:blipFill>
          <a:blip r:embed="rId5"/>
          <a:stretch>
            <a:fillRect/>
          </a:stretch>
        </p:blipFill>
        <p:spPr>
          <a:xfrm>
            <a:off x="2333863" y="3121818"/>
            <a:ext cx="343793" cy="500062"/>
          </a:xfrm>
          <a:prstGeom prst="rect">
            <a:avLst/>
          </a:prstGeom>
        </p:spPr>
      </p:pic>
      <p:pic>
        <p:nvPicPr>
          <p:cNvPr id="46" name="Picture 45" descr="10_900_605E5C.png"/>
          <p:cNvPicPr>
            <a:picLocks noChangeAspect="1"/>
          </p:cNvPicPr>
          <p:nvPr/>
        </p:nvPicPr>
        <p:blipFill>
          <a:blip r:embed="rId6"/>
          <a:stretch>
            <a:fillRect/>
          </a:stretch>
        </p:blipFill>
        <p:spPr>
          <a:xfrm>
            <a:off x="1175203" y="5897562"/>
            <a:ext cx="1878689" cy="482599"/>
          </a:xfrm>
          <a:prstGeom prst="rect">
            <a:avLst/>
          </a:prstGeom>
        </p:spPr>
      </p:pic>
      <p:pic>
        <p:nvPicPr>
          <p:cNvPr id="47" name="Picture 46" descr="17_679_605E5C.png"/>
          <p:cNvPicPr>
            <a:picLocks noChangeAspect="1"/>
          </p:cNvPicPr>
          <p:nvPr/>
        </p:nvPicPr>
        <p:blipFill>
          <a:blip r:embed="rId7"/>
          <a:stretch>
            <a:fillRect/>
          </a:stretch>
        </p:blipFill>
        <p:spPr>
          <a:xfrm>
            <a:off x="5209041" y="5897562"/>
            <a:ext cx="1878689" cy="482599"/>
          </a:xfrm>
          <a:prstGeom prst="rect">
            <a:avLst/>
          </a:prstGeom>
        </p:spPr>
      </p:pic>
      <p:pic>
        <p:nvPicPr>
          <p:cNvPr id="48" name="Picture 47" descr="5_0__605E5C.png"/>
          <p:cNvPicPr>
            <a:picLocks noChangeAspect="1"/>
          </p:cNvPicPr>
          <p:nvPr/>
        </p:nvPicPr>
        <p:blipFill>
          <a:blip r:embed="rId8"/>
          <a:stretch>
            <a:fillRect/>
          </a:stretch>
        </p:blipFill>
        <p:spPr>
          <a:xfrm>
            <a:off x="9465355" y="5897562"/>
            <a:ext cx="1309912" cy="482599"/>
          </a:xfrm>
          <a:prstGeom prst="rect">
            <a:avLst/>
          </a:prstGeom>
        </p:spPr>
      </p:pic>
      <p:pic>
        <p:nvPicPr>
          <p:cNvPr id="49" name="Picture 48" descr="lock.png"/>
          <p:cNvPicPr>
            <a:picLocks noChangeAspect="1"/>
          </p:cNvPicPr>
          <p:nvPr/>
        </p:nvPicPr>
        <p:blipFill>
          <a:blip r:embed="rId5"/>
          <a:stretch>
            <a:fillRect/>
          </a:stretch>
        </p:blipFill>
        <p:spPr>
          <a:xfrm>
            <a:off x="5914657" y="5893409"/>
            <a:ext cx="337498" cy="490906"/>
          </a:xfrm>
          <a:prstGeom prst="rect">
            <a:avLst/>
          </a:prstGeom>
        </p:spPr>
      </p:pic>
      <p:sp>
        <p:nvSpPr>
          <p:cNvPr id="50" name="TextBox 49"/>
          <p:cNvSpPr txBox="1"/>
          <p:nvPr/>
        </p:nvSpPr>
        <p:spPr>
          <a:xfrm>
            <a:off x="7239000" y="1400175"/>
            <a:ext cx="4184997" cy="194310"/>
          </a:xfrm>
          <a:prstGeom prst="rect">
            <a:avLst/>
          </a:prstGeom>
          <a:noFill/>
        </p:spPr>
        <p:txBody>
          <a:bodyPr wrap="none" lIns="0" rIns="0" tIns="0" bIns="0">
            <a:spAutoFit/>
          </a:bodyPr>
          <a:lstStyle/>
          <a:p>
            <a:r>
              <a:rPr sz="1150" b="0">
                <a:solidFill>
                  <a:srgbClr val="2E2E2E"/>
                </a:solidFill>
                <a:latin typeface="Calibri"/>
              </a:rPr>
              <a:t>North America egg protein membrane market is projected to register</a:t>
            </a:r>
          </a:p>
        </p:txBody>
      </p:sp>
      <p:pic>
        <p:nvPicPr>
          <p:cNvPr id="51" name="Picture 50" descr="lock.png"/>
          <p:cNvPicPr>
            <a:picLocks noChangeAspect="1"/>
          </p:cNvPicPr>
          <p:nvPr/>
        </p:nvPicPr>
        <p:blipFill>
          <a:blip r:embed="rId5"/>
          <a:stretch>
            <a:fillRect/>
          </a:stretch>
        </p:blipFill>
        <p:spPr>
          <a:xfrm>
            <a:off x="11373151" y="1389951"/>
            <a:ext cx="134549" cy="195707"/>
          </a:xfrm>
          <a:prstGeom prst="rect">
            <a:avLst/>
          </a:prstGeom>
        </p:spPr>
      </p:pic>
      <p:sp>
        <p:nvSpPr>
          <p:cNvPr id="52" name="TextBox 51"/>
          <p:cNvSpPr txBox="1"/>
          <p:nvPr/>
        </p:nvSpPr>
        <p:spPr>
          <a:xfrm>
            <a:off x="11548260" y="1400175"/>
            <a:ext cx="152077" cy="194310"/>
          </a:xfrm>
          <a:prstGeom prst="rect">
            <a:avLst/>
          </a:prstGeom>
          <a:noFill/>
        </p:spPr>
        <p:txBody>
          <a:bodyPr wrap="none" lIns="0" rIns="0" tIns="0" bIns="0">
            <a:spAutoFit/>
          </a:bodyPr>
          <a:lstStyle/>
          <a:p>
            <a:r>
              <a:rPr sz="1150" b="0">
                <a:solidFill>
                  <a:srgbClr val="2E2E2E"/>
                </a:solidFill>
                <a:latin typeface="Calibri"/>
              </a:rPr>
              <a:t>X</a:t>
            </a:r>
          </a:p>
        </p:txBody>
      </p:sp>
      <p:sp>
        <p:nvSpPr>
          <p:cNvPr id="53" name="TextBox 52"/>
          <p:cNvSpPr txBox="1"/>
          <p:nvPr/>
        </p:nvSpPr>
        <p:spPr>
          <a:xfrm>
            <a:off x="7239000" y="1575435"/>
            <a:ext cx="4564099" cy="194310"/>
          </a:xfrm>
          <a:prstGeom prst="rect">
            <a:avLst/>
          </a:prstGeom>
          <a:noFill/>
        </p:spPr>
        <p:txBody>
          <a:bodyPr wrap="none" lIns="0" rIns="0" tIns="0" bIns="0">
            <a:spAutoFit/>
          </a:bodyPr>
          <a:lstStyle/>
          <a:p>
            <a:r>
              <a:rPr sz="1150" b="0">
                <a:solidFill>
                  <a:srgbClr val="2E2E2E"/>
                </a:solidFill>
                <a:latin typeface="Calibri"/>
              </a:rPr>
              <a:t>higher value than Europe in 2036. Among egg protein membrane by region,</a:t>
            </a:r>
          </a:p>
        </p:txBody>
      </p:sp>
      <p:sp>
        <p:nvSpPr>
          <p:cNvPr id="54" name="TextBox 53"/>
          <p:cNvSpPr txBox="1"/>
          <p:nvPr/>
        </p:nvSpPr>
        <p:spPr>
          <a:xfrm>
            <a:off x="7239000" y="1750695"/>
            <a:ext cx="3814434" cy="194310"/>
          </a:xfrm>
          <a:prstGeom prst="rect">
            <a:avLst/>
          </a:prstGeom>
          <a:noFill/>
        </p:spPr>
        <p:txBody>
          <a:bodyPr wrap="none" lIns="0" rIns="0" tIns="0" bIns="0">
            <a:spAutoFit/>
          </a:bodyPr>
          <a:lstStyle/>
          <a:p>
            <a:r>
              <a:rPr sz="1150" b="0">
                <a:solidFill>
                  <a:srgbClr val="2E2E2E"/>
                </a:solidFill>
                <a:latin typeface="Calibri"/>
              </a:rPr>
              <a:t>South Asia &amp; Pacific is expected to witness the highest CAGR of</a:t>
            </a:r>
          </a:p>
        </p:txBody>
      </p:sp>
      <p:pic>
        <p:nvPicPr>
          <p:cNvPr id="55" name="Picture 54" descr="lock.png"/>
          <p:cNvPicPr>
            <a:picLocks noChangeAspect="1"/>
          </p:cNvPicPr>
          <p:nvPr/>
        </p:nvPicPr>
        <p:blipFill>
          <a:blip r:embed="rId5"/>
          <a:stretch>
            <a:fillRect/>
          </a:stretch>
        </p:blipFill>
        <p:spPr>
          <a:xfrm>
            <a:off x="11002588" y="1740471"/>
            <a:ext cx="134549" cy="195707"/>
          </a:xfrm>
          <a:prstGeom prst="rect">
            <a:avLst/>
          </a:prstGeom>
        </p:spPr>
      </p:pic>
      <p:sp>
        <p:nvSpPr>
          <p:cNvPr id="56" name="TextBox 55"/>
          <p:cNvSpPr txBox="1"/>
          <p:nvPr/>
        </p:nvSpPr>
        <p:spPr>
          <a:xfrm>
            <a:off x="11177697" y="1750695"/>
            <a:ext cx="574538" cy="194310"/>
          </a:xfrm>
          <a:prstGeom prst="rect">
            <a:avLst/>
          </a:prstGeom>
          <a:noFill/>
        </p:spPr>
        <p:txBody>
          <a:bodyPr wrap="none" lIns="0" rIns="0" tIns="0" bIns="0">
            <a:spAutoFit/>
          </a:bodyPr>
          <a:lstStyle/>
          <a:p>
            <a:r>
              <a:rPr sz="1150" b="0">
                <a:solidFill>
                  <a:srgbClr val="2E2E2E"/>
                </a:solidFill>
                <a:latin typeface="Calibri"/>
              </a:rPr>
              <a:t>over the</a:t>
            </a:r>
          </a:p>
        </p:txBody>
      </p:sp>
      <p:sp>
        <p:nvSpPr>
          <p:cNvPr id="57" name="TextBox 56"/>
          <p:cNvSpPr txBox="1"/>
          <p:nvPr/>
        </p:nvSpPr>
        <p:spPr>
          <a:xfrm>
            <a:off x="7239000" y="1925955"/>
            <a:ext cx="1017252" cy="194310"/>
          </a:xfrm>
          <a:prstGeom prst="rect">
            <a:avLst/>
          </a:prstGeom>
          <a:noFill/>
        </p:spPr>
        <p:txBody>
          <a:bodyPr wrap="none" lIns="0" rIns="0" tIns="0" bIns="0">
            <a:spAutoFit/>
          </a:bodyPr>
          <a:lstStyle/>
          <a:p>
            <a:r>
              <a:rPr sz="1150" b="0">
                <a:solidFill>
                  <a:srgbClr val="2E2E2E"/>
                </a:solidFill>
                <a:latin typeface="Calibri"/>
              </a:rPr>
              <a:t>forecast period.</a:t>
            </a:r>
          </a:p>
        </p:txBody>
      </p:sp>
      <p:sp>
        <p:nvSpPr>
          <p:cNvPr id="58" name="TextBox 57"/>
          <p:cNvSpPr txBox="1"/>
          <p:nvPr/>
        </p:nvSpPr>
        <p:spPr>
          <a:xfrm>
            <a:off x="7239000" y="2153793"/>
            <a:ext cx="4648200" cy="194310"/>
          </a:xfrm>
          <a:prstGeom prst="rect">
            <a:avLst/>
          </a:prstGeom>
          <a:noFill/>
        </p:spPr>
        <p:txBody>
          <a:bodyPr wrap="none" lIns="0" rIns="0" tIns="0" bIns="0">
            <a:spAutoFit/>
          </a:bodyPr>
          <a:lstStyle/>
          <a:p>
            <a:r>
              <a:rPr sz="1150" b="0">
                <a:solidFill>
                  <a:srgbClr val="2E2E2E"/>
                </a:solidFill>
                <a:latin typeface="Calibri"/>
              </a:rPr>
              <a:t>In terms of value share by region, North America is expected to dominate the</a:t>
            </a:r>
          </a:p>
        </p:txBody>
      </p:sp>
      <p:sp>
        <p:nvSpPr>
          <p:cNvPr id="59" name="TextBox 58"/>
          <p:cNvSpPr txBox="1"/>
          <p:nvPr/>
        </p:nvSpPr>
        <p:spPr>
          <a:xfrm>
            <a:off x="7239000" y="2329053"/>
            <a:ext cx="918554" cy="194310"/>
          </a:xfrm>
          <a:prstGeom prst="rect">
            <a:avLst/>
          </a:prstGeom>
          <a:noFill/>
        </p:spPr>
        <p:txBody>
          <a:bodyPr wrap="none" lIns="0" rIns="0" tIns="0" bIns="0">
            <a:spAutoFit/>
          </a:bodyPr>
          <a:lstStyle/>
          <a:p>
            <a:r>
              <a:rPr sz="1150" b="0">
                <a:solidFill>
                  <a:srgbClr val="2E2E2E"/>
                </a:solidFill>
                <a:latin typeface="Calibri"/>
              </a:rPr>
              <a:t>market, losing</a:t>
            </a:r>
          </a:p>
        </p:txBody>
      </p:sp>
      <p:pic>
        <p:nvPicPr>
          <p:cNvPr id="60" name="Picture 59" descr="lock.png"/>
          <p:cNvPicPr>
            <a:picLocks noChangeAspect="1"/>
          </p:cNvPicPr>
          <p:nvPr/>
        </p:nvPicPr>
        <p:blipFill>
          <a:blip r:embed="rId5"/>
          <a:stretch>
            <a:fillRect/>
          </a:stretch>
        </p:blipFill>
        <p:spPr>
          <a:xfrm>
            <a:off x="8106708" y="2318829"/>
            <a:ext cx="134549" cy="195707"/>
          </a:xfrm>
          <a:prstGeom prst="rect">
            <a:avLst/>
          </a:prstGeom>
        </p:spPr>
      </p:pic>
      <p:sp>
        <p:nvSpPr>
          <p:cNvPr id="61" name="TextBox 60"/>
          <p:cNvSpPr txBox="1"/>
          <p:nvPr/>
        </p:nvSpPr>
        <p:spPr>
          <a:xfrm>
            <a:off x="8281817" y="2329053"/>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62" name="Picture 61" descr="lock.png"/>
          <p:cNvPicPr>
            <a:picLocks noChangeAspect="1"/>
          </p:cNvPicPr>
          <p:nvPr/>
        </p:nvPicPr>
        <p:blipFill>
          <a:blip r:embed="rId5"/>
          <a:stretch>
            <a:fillRect/>
          </a:stretch>
        </p:blipFill>
        <p:spPr>
          <a:xfrm>
            <a:off x="9676961" y="2318829"/>
            <a:ext cx="134549" cy="195707"/>
          </a:xfrm>
          <a:prstGeom prst="rect">
            <a:avLst/>
          </a:prstGeom>
        </p:spPr>
      </p:pic>
      <p:sp>
        <p:nvSpPr>
          <p:cNvPr id="63" name="TextBox 62"/>
          <p:cNvSpPr txBox="1"/>
          <p:nvPr/>
        </p:nvSpPr>
        <p:spPr>
          <a:xfrm>
            <a:off x="9852070" y="2329053"/>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64" name="lockshield_9"/>
          <p:cNvSpPr/>
          <p:nvPr/>
        </p:nvSpPr>
        <p:spPr>
          <a:xfrm>
            <a:off x="238125" y="1409700"/>
            <a:ext cx="4236720" cy="40481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Egg Protein Membrane Market Share Analysis, By Region Volume (MT)</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volume and share by region, 2021–2036, highlighting the geographies gaining and ceding ground</a:t>
            </a:r>
          </a:p>
        </p:txBody>
      </p:sp>
      <p:sp>
        <p:nvSpPr>
          <p:cNvPr id="7" name="Rounded Rectangle 6"/>
          <p:cNvSpPr/>
          <p:nvPr/>
        </p:nvSpPr>
        <p:spPr>
          <a:xfrm>
            <a:off x="142875" y="981075"/>
            <a:ext cx="11906250" cy="2438400"/>
          </a:xfrm>
          <a:prstGeom prst="roundRect">
            <a:avLst>
              <a:gd name="adj" fmla="val 3125"/>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Market Size, By Region (MT)</a:t>
            </a:r>
          </a:p>
        </p:txBody>
      </p:sp>
      <p:graphicFrame>
        <p:nvGraphicFramePr>
          <p:cNvPr id="9" name="Table 8"/>
          <p:cNvGraphicFramePr>
            <a:graphicFrameLocks noGrp="1"/>
          </p:cNvGraphicFramePr>
          <p:nvPr/>
        </p:nvGraphicFramePr>
        <p:xfrm>
          <a:off x="152400" y="1238250"/>
          <a:ext cx="11887208" cy="1971675"/>
        </p:xfrm>
        <a:graphic>
          <a:graphicData uri="http://schemas.openxmlformats.org/drawingml/2006/table">
            <a:tbl>
              <a:tblPr>
                <a:tableStyleId>{5C22544A-7EE6-4342-B048-85BDC9FD1C3A}</a:tableStyleId>
              </a:tblPr>
              <a:tblGrid>
                <a:gridCol w="1524909"/>
                <a:gridCol w="609547"/>
                <a:gridCol w="609547"/>
                <a:gridCol w="609547"/>
                <a:gridCol w="609547"/>
                <a:gridCol w="609547"/>
                <a:gridCol w="609547"/>
                <a:gridCol w="609547"/>
                <a:gridCol w="609547"/>
                <a:gridCol w="609547"/>
                <a:gridCol w="609547"/>
                <a:gridCol w="609547"/>
                <a:gridCol w="609547"/>
                <a:gridCol w="609547"/>
                <a:gridCol w="609547"/>
                <a:gridCol w="609547"/>
                <a:gridCol w="609547"/>
                <a:gridCol w="609547"/>
              </a:tblGrid>
              <a:tr h="246126">
                <a:tc>
                  <a:txBody>
                    <a:bodyPr wrap="none"/>
                    <a:lstStyle/>
                    <a:p>
                      <a:pPr algn="l"/>
                      <a:r>
                        <a:rPr sz="1100" b="1">
                          <a:solidFill>
                            <a:srgbClr val="0E2A5C"/>
                          </a:solidFill>
                          <a:latin typeface="Calibri"/>
                        </a:rPr>
                        <a:t>Region</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2021A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2022A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2023A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2024A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2025A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2026E</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2027F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2028F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2029F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2030F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2031F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2032F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2033F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2034F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2035F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2036F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F-CAGR</a:t>
                      </a:r>
                      <a:endParaRPr sz="1100"/>
                    </a:p>
                  </a:txBody>
                  <a:tcPr marL="47625" marR="38100" marT="19050" marB="19050" anchor="ctr">
                    <a:solidFill>
                      <a:srgbClr val="EBF2F9"/>
                    </a:solidFill>
                  </a:tcPr>
                </a:tc>
              </a:tr>
              <a:tr h="246507">
                <a:tc>
                  <a:txBody>
                    <a:bodyPr wrap="none"/>
                    <a:lstStyle/>
                    <a:p>
                      <a:pPr algn="l"/>
                      <a:r>
                        <a:rPr sz="1100" b="1">
                          <a:solidFill>
                            <a:srgbClr val="2E2E2E"/>
                          </a:solidFill>
                          <a:latin typeface="Calibri"/>
                        </a:rPr>
                        <a:t>North America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Latin America</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6507">
                <a:tc>
                  <a:txBody>
                    <a:bodyPr wrap="none"/>
                    <a:lstStyle/>
                    <a:p>
                      <a:pPr algn="l"/>
                      <a:r>
                        <a:rPr sz="1100" b="1">
                          <a:solidFill>
                            <a:srgbClr val="2E2E2E"/>
                          </a:solidFill>
                          <a:latin typeface="Calibri"/>
                        </a:rPr>
                        <a:t>Europe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East Asia</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6507">
                <a:tc>
                  <a:txBody>
                    <a:bodyPr wrap="none"/>
                    <a:lstStyle/>
                    <a:p>
                      <a:pPr algn="l"/>
                      <a:r>
                        <a:rPr sz="1100" b="1">
                          <a:solidFill>
                            <a:srgbClr val="2E2E2E"/>
                          </a:solidFill>
                          <a:latin typeface="Calibri"/>
                        </a:rPr>
                        <a:t>South Asia &amp; Pacific</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Middle East and Africa</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6507">
                <a:tc>
                  <a:txBody>
                    <a:bodyPr wrap="none"/>
                    <a:lstStyle/>
                    <a:p>
                      <a:pPr algn="l"/>
                      <a:r>
                        <a:rPr sz="1100" b="1">
                          <a:solidFill>
                            <a:srgbClr val="2E2E2E"/>
                          </a:solidFill>
                          <a:latin typeface="Calibri"/>
                        </a:rPr>
                        <a:t>Total</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r>
            </a:tbl>
          </a:graphicData>
        </a:graphic>
      </p:graphicFrame>
      <p:sp>
        <p:nvSpPr>
          <p:cNvPr id="10" name="TextBox 9"/>
          <p:cNvSpPr txBox="1"/>
          <p:nvPr/>
        </p:nvSpPr>
        <p:spPr>
          <a:xfrm>
            <a:off x="219075" y="321945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11" name="Rounded Rectangle 10"/>
          <p:cNvSpPr/>
          <p:nvPr/>
        </p:nvSpPr>
        <p:spPr>
          <a:xfrm>
            <a:off x="142875" y="3552825"/>
            <a:ext cx="11906250" cy="3076575"/>
          </a:xfrm>
          <a:prstGeom prst="roundRect">
            <a:avLst>
              <a:gd name="adj" fmla="val 2476"/>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6225" y="3638550"/>
            <a:ext cx="11639550" cy="209550"/>
          </a:xfrm>
          <a:prstGeom prst="rect">
            <a:avLst/>
          </a:prstGeom>
          <a:noFill/>
        </p:spPr>
        <p:txBody>
          <a:bodyPr wrap="square" lIns="0" rIns="19050" tIns="9525" bIns="9525">
            <a:spAutoFit/>
          </a:bodyPr>
          <a:lstStyle/>
          <a:p>
            <a:pPr algn="l"/>
            <a:r>
              <a:rPr sz="1300" b="1">
                <a:solidFill>
                  <a:srgbClr val="0E2A5C"/>
                </a:solidFill>
                <a:latin typeface="Calibri"/>
              </a:rPr>
              <a:t>Global Volume Share Read-out, By Region</a:t>
            </a:r>
          </a:p>
        </p:txBody>
      </p:sp>
      <p:sp>
        <p:nvSpPr>
          <p:cNvPr id="13" name="Rectangle 12"/>
          <p:cNvSpPr/>
          <p:nvPr/>
        </p:nvSpPr>
        <p:spPr>
          <a:xfrm>
            <a:off x="276225" y="3876675"/>
            <a:ext cx="116395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6225" y="3962400"/>
            <a:ext cx="11639550" cy="259080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5" name="Rectangle 14"/>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7" name="Picture 16" descr="lock.png"/>
          <p:cNvPicPr>
            <a:picLocks noChangeAspect="1"/>
          </p:cNvPicPr>
          <p:nvPr/>
        </p:nvPicPr>
        <p:blipFill>
          <a:blip r:embed="rId4"/>
          <a:stretch>
            <a:fillRect/>
          </a:stretch>
        </p:blipFill>
        <p:spPr>
          <a:xfrm>
            <a:off x="6671768" y="2080450"/>
            <a:ext cx="366712" cy="533400"/>
          </a:xfrm>
          <a:prstGeom prst="rect">
            <a:avLst/>
          </a:prstGeom>
        </p:spPr>
      </p:pic>
      <p:sp>
        <p:nvSpPr>
          <p:cNvPr id="18" name="TextBox 17"/>
          <p:cNvSpPr txBox="1"/>
          <p:nvPr/>
        </p:nvSpPr>
        <p:spPr>
          <a:xfrm>
            <a:off x="276225" y="3971925"/>
            <a:ext cx="4484799" cy="194310"/>
          </a:xfrm>
          <a:prstGeom prst="rect">
            <a:avLst/>
          </a:prstGeom>
          <a:noFill/>
        </p:spPr>
        <p:txBody>
          <a:bodyPr wrap="none" lIns="0" rIns="0" tIns="0" bIns="0">
            <a:spAutoFit/>
          </a:bodyPr>
          <a:lstStyle/>
          <a:p>
            <a:r>
              <a:rPr sz="1150" b="0">
                <a:solidFill>
                  <a:srgbClr val="2E2E2E"/>
                </a:solidFill>
                <a:latin typeface="Calibri"/>
              </a:rPr>
              <a:t>South Asia &amp; Pacific egg protein membrane market is projected to register</a:t>
            </a:r>
          </a:p>
        </p:txBody>
      </p:sp>
      <p:pic>
        <p:nvPicPr>
          <p:cNvPr id="19" name="Picture 18" descr="lock.png"/>
          <p:cNvPicPr>
            <a:picLocks noChangeAspect="1"/>
          </p:cNvPicPr>
          <p:nvPr/>
        </p:nvPicPr>
        <p:blipFill>
          <a:blip r:embed="rId4"/>
          <a:stretch>
            <a:fillRect/>
          </a:stretch>
        </p:blipFill>
        <p:spPr>
          <a:xfrm>
            <a:off x="4710178" y="3961701"/>
            <a:ext cx="134549" cy="195707"/>
          </a:xfrm>
          <a:prstGeom prst="rect">
            <a:avLst/>
          </a:prstGeom>
        </p:spPr>
      </p:pic>
      <p:sp>
        <p:nvSpPr>
          <p:cNvPr id="20" name="TextBox 19"/>
          <p:cNvSpPr txBox="1"/>
          <p:nvPr/>
        </p:nvSpPr>
        <p:spPr>
          <a:xfrm>
            <a:off x="4885287" y="3971925"/>
            <a:ext cx="6863531" cy="194310"/>
          </a:xfrm>
          <a:prstGeom prst="rect">
            <a:avLst/>
          </a:prstGeom>
          <a:noFill/>
        </p:spPr>
        <p:txBody>
          <a:bodyPr wrap="none" lIns="0" rIns="0" tIns="0" bIns="0">
            <a:spAutoFit/>
          </a:bodyPr>
          <a:lstStyle/>
          <a:p>
            <a:r>
              <a:rPr sz="1150" b="0">
                <a:solidFill>
                  <a:srgbClr val="2E2E2E"/>
                </a:solidFill>
                <a:latin typeface="Calibri"/>
              </a:rPr>
              <a:t>X higher volume than Europe in 2036. Among egg protein membrane by region, South Asia &amp; Pacific is expected to</a:t>
            </a:r>
          </a:p>
        </p:txBody>
      </p:sp>
      <p:sp>
        <p:nvSpPr>
          <p:cNvPr id="21" name="TextBox 20"/>
          <p:cNvSpPr txBox="1"/>
          <p:nvPr/>
        </p:nvSpPr>
        <p:spPr>
          <a:xfrm>
            <a:off x="276225" y="4147185"/>
            <a:ext cx="1747770" cy="194310"/>
          </a:xfrm>
          <a:prstGeom prst="rect">
            <a:avLst/>
          </a:prstGeom>
          <a:noFill/>
        </p:spPr>
        <p:txBody>
          <a:bodyPr wrap="none" lIns="0" rIns="0" tIns="0" bIns="0">
            <a:spAutoFit/>
          </a:bodyPr>
          <a:lstStyle/>
          <a:p>
            <a:r>
              <a:rPr sz="1150" b="0">
                <a:solidFill>
                  <a:srgbClr val="2E2E2E"/>
                </a:solidFill>
                <a:latin typeface="Calibri"/>
              </a:rPr>
              <a:t>witness the highest CAGR of</a:t>
            </a:r>
          </a:p>
        </p:txBody>
      </p:sp>
      <p:pic>
        <p:nvPicPr>
          <p:cNvPr id="22" name="Picture 21" descr="lock.png"/>
          <p:cNvPicPr>
            <a:picLocks noChangeAspect="1"/>
          </p:cNvPicPr>
          <p:nvPr/>
        </p:nvPicPr>
        <p:blipFill>
          <a:blip r:embed="rId4"/>
          <a:stretch>
            <a:fillRect/>
          </a:stretch>
        </p:blipFill>
        <p:spPr>
          <a:xfrm>
            <a:off x="1973149" y="4136961"/>
            <a:ext cx="134549" cy="195707"/>
          </a:xfrm>
          <a:prstGeom prst="rect">
            <a:avLst/>
          </a:prstGeom>
        </p:spPr>
      </p:pic>
      <p:sp>
        <p:nvSpPr>
          <p:cNvPr id="23" name="TextBox 22"/>
          <p:cNvSpPr txBox="1"/>
          <p:nvPr/>
        </p:nvSpPr>
        <p:spPr>
          <a:xfrm>
            <a:off x="2148258" y="4147185"/>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24" name="TextBox 23"/>
          <p:cNvSpPr txBox="1"/>
          <p:nvPr/>
        </p:nvSpPr>
        <p:spPr>
          <a:xfrm>
            <a:off x="276225" y="4375022"/>
            <a:ext cx="6046564" cy="194310"/>
          </a:xfrm>
          <a:prstGeom prst="rect">
            <a:avLst/>
          </a:prstGeom>
          <a:noFill/>
        </p:spPr>
        <p:txBody>
          <a:bodyPr wrap="none" lIns="0" rIns="0" tIns="0" bIns="0">
            <a:spAutoFit/>
          </a:bodyPr>
          <a:lstStyle/>
          <a:p>
            <a:r>
              <a:rPr sz="1150" b="0">
                <a:solidFill>
                  <a:srgbClr val="2E2E2E"/>
                </a:solidFill>
                <a:latin typeface="Calibri"/>
              </a:rPr>
              <a:t>In terms of volume share by region, South Asia &amp; Pacific is expected to dominate the market, gaining</a:t>
            </a:r>
          </a:p>
        </p:txBody>
      </p:sp>
      <p:pic>
        <p:nvPicPr>
          <p:cNvPr id="25" name="Picture 24" descr="lock.png"/>
          <p:cNvPicPr>
            <a:picLocks noChangeAspect="1"/>
          </p:cNvPicPr>
          <p:nvPr/>
        </p:nvPicPr>
        <p:blipFill>
          <a:blip r:embed="rId4"/>
          <a:stretch>
            <a:fillRect/>
          </a:stretch>
        </p:blipFill>
        <p:spPr>
          <a:xfrm>
            <a:off x="6271943" y="4364799"/>
            <a:ext cx="134549" cy="195707"/>
          </a:xfrm>
          <a:prstGeom prst="rect">
            <a:avLst/>
          </a:prstGeom>
        </p:spPr>
      </p:pic>
      <p:sp>
        <p:nvSpPr>
          <p:cNvPr id="26" name="TextBox 25"/>
          <p:cNvSpPr txBox="1"/>
          <p:nvPr/>
        </p:nvSpPr>
        <p:spPr>
          <a:xfrm>
            <a:off x="6447052" y="4375022"/>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27" name="Picture 26" descr="lock.png"/>
          <p:cNvPicPr>
            <a:picLocks noChangeAspect="1"/>
          </p:cNvPicPr>
          <p:nvPr/>
        </p:nvPicPr>
        <p:blipFill>
          <a:blip r:embed="rId4"/>
          <a:stretch>
            <a:fillRect/>
          </a:stretch>
        </p:blipFill>
        <p:spPr>
          <a:xfrm>
            <a:off x="7842195" y="4364799"/>
            <a:ext cx="134549" cy="195707"/>
          </a:xfrm>
          <a:prstGeom prst="rect">
            <a:avLst/>
          </a:prstGeom>
        </p:spPr>
      </p:pic>
      <p:sp>
        <p:nvSpPr>
          <p:cNvPr id="28" name="TextBox 27"/>
          <p:cNvSpPr txBox="1"/>
          <p:nvPr/>
        </p:nvSpPr>
        <p:spPr>
          <a:xfrm>
            <a:off x="8017304" y="4375022"/>
            <a:ext cx="2986645" cy="194310"/>
          </a:xfrm>
          <a:prstGeom prst="rect">
            <a:avLst/>
          </a:prstGeom>
          <a:noFill/>
        </p:spPr>
        <p:txBody>
          <a:bodyPr wrap="none" lIns="0" rIns="0" tIns="0" bIns="0">
            <a:spAutoFit/>
          </a:bodyPr>
          <a:lstStyle/>
          <a:p>
            <a:r>
              <a:rPr sz="1150" b="0">
                <a:solidFill>
                  <a:srgbClr val="2E2E2E"/>
                </a:solidFill>
                <a:latin typeface="Calibri"/>
              </a:rPr>
              <a:t>share by 2036. North America is expected to lose</a:t>
            </a:r>
          </a:p>
        </p:txBody>
      </p:sp>
      <p:pic>
        <p:nvPicPr>
          <p:cNvPr id="29" name="Picture 28" descr="lock.png"/>
          <p:cNvPicPr>
            <a:picLocks noChangeAspect="1"/>
          </p:cNvPicPr>
          <p:nvPr/>
        </p:nvPicPr>
        <p:blipFill>
          <a:blip r:embed="rId4"/>
          <a:stretch>
            <a:fillRect/>
          </a:stretch>
        </p:blipFill>
        <p:spPr>
          <a:xfrm>
            <a:off x="10953104" y="4364799"/>
            <a:ext cx="134549" cy="195707"/>
          </a:xfrm>
          <a:prstGeom prst="rect">
            <a:avLst/>
          </a:prstGeom>
        </p:spPr>
      </p:pic>
      <p:sp>
        <p:nvSpPr>
          <p:cNvPr id="30" name="TextBox 29"/>
          <p:cNvSpPr txBox="1"/>
          <p:nvPr/>
        </p:nvSpPr>
        <p:spPr>
          <a:xfrm>
            <a:off x="11128213" y="4375022"/>
            <a:ext cx="298412" cy="194310"/>
          </a:xfrm>
          <a:prstGeom prst="rect">
            <a:avLst/>
          </a:prstGeom>
          <a:noFill/>
        </p:spPr>
        <p:txBody>
          <a:bodyPr wrap="none" lIns="0" rIns="0" tIns="0" bIns="0">
            <a:spAutoFit/>
          </a:bodyPr>
          <a:lstStyle/>
          <a:p>
            <a:r>
              <a:rPr sz="1150" b="0">
                <a:solidFill>
                  <a:srgbClr val="2E2E2E"/>
                </a:solidFill>
                <a:latin typeface="Calibri"/>
              </a:rPr>
              <a:t>BPS</a:t>
            </a:r>
          </a:p>
        </p:txBody>
      </p:sp>
      <p:sp>
        <p:nvSpPr>
          <p:cNvPr id="31" name="TextBox 30"/>
          <p:cNvSpPr txBox="1"/>
          <p:nvPr/>
        </p:nvSpPr>
        <p:spPr>
          <a:xfrm>
            <a:off x="276225" y="4550282"/>
            <a:ext cx="2383048" cy="194310"/>
          </a:xfrm>
          <a:prstGeom prst="rect">
            <a:avLst/>
          </a:prstGeom>
          <a:noFill/>
        </p:spPr>
        <p:txBody>
          <a:bodyPr wrap="none" lIns="0" rIns="0" tIns="0" bIns="0">
            <a:spAutoFit/>
          </a:bodyPr>
          <a:lstStyle/>
          <a:p>
            <a:r>
              <a:rPr sz="1150" b="0">
                <a:solidFill>
                  <a:srgbClr val="2E2E2E"/>
                </a:solidFill>
                <a:latin typeface="Calibri"/>
              </a:rPr>
              <a:t>over the forecast period to account for</a:t>
            </a:r>
          </a:p>
        </p:txBody>
      </p:sp>
      <p:pic>
        <p:nvPicPr>
          <p:cNvPr id="32" name="Picture 31" descr="lock.png"/>
          <p:cNvPicPr>
            <a:picLocks noChangeAspect="1"/>
          </p:cNvPicPr>
          <p:nvPr/>
        </p:nvPicPr>
        <p:blipFill>
          <a:blip r:embed="rId4"/>
          <a:stretch>
            <a:fillRect/>
          </a:stretch>
        </p:blipFill>
        <p:spPr>
          <a:xfrm>
            <a:off x="2608427" y="4540059"/>
            <a:ext cx="134549" cy="195707"/>
          </a:xfrm>
          <a:prstGeom prst="rect">
            <a:avLst/>
          </a:prstGeom>
        </p:spPr>
      </p:pic>
      <p:sp>
        <p:nvSpPr>
          <p:cNvPr id="33" name="TextBox 32"/>
          <p:cNvSpPr txBox="1"/>
          <p:nvPr/>
        </p:nvSpPr>
        <p:spPr>
          <a:xfrm>
            <a:off x="2783536" y="4550282"/>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Egg Protein Membrane Market Share Analysis, By Region Value (US$ Mn)</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and share by region, 2021–2036, highlighting the geographies gaining and ceding ground</a:t>
            </a:r>
          </a:p>
        </p:txBody>
      </p:sp>
      <p:sp>
        <p:nvSpPr>
          <p:cNvPr id="7" name="Rounded Rectangle 6"/>
          <p:cNvSpPr/>
          <p:nvPr/>
        </p:nvSpPr>
        <p:spPr>
          <a:xfrm>
            <a:off x="142875" y="981075"/>
            <a:ext cx="11906250" cy="2438400"/>
          </a:xfrm>
          <a:prstGeom prst="roundRect">
            <a:avLst>
              <a:gd name="adj" fmla="val 3125"/>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Market Size, By Region (US$ Mn)</a:t>
            </a:r>
          </a:p>
        </p:txBody>
      </p:sp>
      <p:graphicFrame>
        <p:nvGraphicFramePr>
          <p:cNvPr id="9" name="Table 8"/>
          <p:cNvGraphicFramePr>
            <a:graphicFrameLocks noGrp="1"/>
          </p:cNvGraphicFramePr>
          <p:nvPr/>
        </p:nvGraphicFramePr>
        <p:xfrm>
          <a:off x="152400" y="1238250"/>
          <a:ext cx="11887200" cy="1971675"/>
        </p:xfrm>
        <a:graphic>
          <a:graphicData uri="http://schemas.openxmlformats.org/drawingml/2006/table">
            <a:tbl>
              <a:tblPr>
                <a:tableStyleId>{5C22544A-7EE6-4342-B048-85BDC9FD1C3A}</a:tableStyleId>
              </a:tblPr>
              <a:tblGrid>
                <a:gridCol w="1595196"/>
                <a:gridCol w="605412"/>
                <a:gridCol w="605412"/>
                <a:gridCol w="605412"/>
                <a:gridCol w="605412"/>
                <a:gridCol w="605412"/>
                <a:gridCol w="605412"/>
                <a:gridCol w="605412"/>
                <a:gridCol w="605412"/>
                <a:gridCol w="605412"/>
                <a:gridCol w="605412"/>
                <a:gridCol w="605412"/>
                <a:gridCol w="605412"/>
                <a:gridCol w="605412"/>
                <a:gridCol w="605412"/>
                <a:gridCol w="605412"/>
                <a:gridCol w="605412"/>
                <a:gridCol w="605412"/>
              </a:tblGrid>
              <a:tr h="246126">
                <a:tc>
                  <a:txBody>
                    <a:bodyPr wrap="none"/>
                    <a:lstStyle/>
                    <a:p>
                      <a:pPr algn="l"/>
                      <a:r>
                        <a:rPr sz="1100" b="1">
                          <a:solidFill>
                            <a:srgbClr val="0E2A5C"/>
                          </a:solidFill>
                          <a:latin typeface="Calibri"/>
                        </a:rPr>
                        <a:t>Region</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2021A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2022A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2023A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2024A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2025A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2026E</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2027F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2028F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2029F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2030F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2031F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2032F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2033F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2034F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2035F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2036F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F-CAGR</a:t>
                      </a:r>
                      <a:endParaRPr sz="1100"/>
                    </a:p>
                  </a:txBody>
                  <a:tcPr marL="47625" marR="38100" marT="19050" marB="19050" anchor="ctr">
                    <a:solidFill>
                      <a:srgbClr val="EBF2F9"/>
                    </a:solidFill>
                  </a:tcPr>
                </a:tc>
              </a:tr>
              <a:tr h="246507">
                <a:tc>
                  <a:txBody>
                    <a:bodyPr wrap="none"/>
                    <a:lstStyle/>
                    <a:p>
                      <a:pPr algn="l"/>
                      <a:r>
                        <a:rPr sz="1100" b="1">
                          <a:solidFill>
                            <a:srgbClr val="2E2E2E"/>
                          </a:solidFill>
                          <a:latin typeface="Calibri"/>
                        </a:rPr>
                        <a:t>North America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Latin America</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6507">
                <a:tc>
                  <a:txBody>
                    <a:bodyPr wrap="none"/>
                    <a:lstStyle/>
                    <a:p>
                      <a:pPr algn="l"/>
                      <a:r>
                        <a:rPr sz="1100" b="1">
                          <a:solidFill>
                            <a:srgbClr val="2E2E2E"/>
                          </a:solidFill>
                          <a:latin typeface="Calibri"/>
                        </a:rPr>
                        <a:t>Europe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East Asia</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6507">
                <a:tc>
                  <a:txBody>
                    <a:bodyPr wrap="none"/>
                    <a:lstStyle/>
                    <a:p>
                      <a:pPr algn="l"/>
                      <a:r>
                        <a:rPr sz="1100" b="1">
                          <a:solidFill>
                            <a:srgbClr val="2E2E2E"/>
                          </a:solidFill>
                          <a:latin typeface="Calibri"/>
                        </a:rPr>
                        <a:t>South Asia &amp; Pacific</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Middle East and Africa</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6507">
                <a:tc>
                  <a:txBody>
                    <a:bodyPr wrap="none"/>
                    <a:lstStyle/>
                    <a:p>
                      <a:pPr algn="l"/>
                      <a:r>
                        <a:rPr sz="1100" b="1">
                          <a:solidFill>
                            <a:srgbClr val="2E2E2E"/>
                          </a:solidFill>
                          <a:latin typeface="Calibri"/>
                        </a:rPr>
                        <a:t>Total</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r>
            </a:tbl>
          </a:graphicData>
        </a:graphic>
      </p:graphicFrame>
      <p:sp>
        <p:nvSpPr>
          <p:cNvPr id="10" name="TextBox 9"/>
          <p:cNvSpPr txBox="1"/>
          <p:nvPr/>
        </p:nvSpPr>
        <p:spPr>
          <a:xfrm>
            <a:off x="219075" y="321945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11" name="Rounded Rectangle 10"/>
          <p:cNvSpPr/>
          <p:nvPr/>
        </p:nvSpPr>
        <p:spPr>
          <a:xfrm>
            <a:off x="142875" y="3552825"/>
            <a:ext cx="11906250" cy="3076575"/>
          </a:xfrm>
          <a:prstGeom prst="roundRect">
            <a:avLst>
              <a:gd name="adj" fmla="val 2476"/>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6225" y="3638550"/>
            <a:ext cx="11639550" cy="209550"/>
          </a:xfrm>
          <a:prstGeom prst="rect">
            <a:avLst/>
          </a:prstGeom>
          <a:noFill/>
        </p:spPr>
        <p:txBody>
          <a:bodyPr wrap="square" lIns="0" rIns="19050" tIns="9525" bIns="9525">
            <a:spAutoFit/>
          </a:bodyPr>
          <a:lstStyle/>
          <a:p>
            <a:pPr algn="l"/>
            <a:r>
              <a:rPr sz="1300" b="1">
                <a:solidFill>
                  <a:srgbClr val="0E2A5C"/>
                </a:solidFill>
                <a:latin typeface="Calibri"/>
              </a:rPr>
              <a:t>Global Value Share Read-out, By Region</a:t>
            </a:r>
          </a:p>
        </p:txBody>
      </p:sp>
      <p:sp>
        <p:nvSpPr>
          <p:cNvPr id="13" name="Rectangle 12"/>
          <p:cNvSpPr/>
          <p:nvPr/>
        </p:nvSpPr>
        <p:spPr>
          <a:xfrm>
            <a:off x="276225" y="3876675"/>
            <a:ext cx="116395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6225" y="3962400"/>
            <a:ext cx="11639550" cy="259080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5" name="Rectangle 14"/>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7" name="Picture 16" descr="lock.png"/>
          <p:cNvPicPr>
            <a:picLocks noChangeAspect="1"/>
          </p:cNvPicPr>
          <p:nvPr/>
        </p:nvPicPr>
        <p:blipFill>
          <a:blip r:embed="rId4"/>
          <a:stretch>
            <a:fillRect/>
          </a:stretch>
        </p:blipFill>
        <p:spPr>
          <a:xfrm>
            <a:off x="6706908" y="2080450"/>
            <a:ext cx="366712" cy="533400"/>
          </a:xfrm>
          <a:prstGeom prst="rect">
            <a:avLst/>
          </a:prstGeom>
        </p:spPr>
      </p:pic>
      <p:sp>
        <p:nvSpPr>
          <p:cNvPr id="18" name="TextBox 17"/>
          <p:cNvSpPr txBox="1"/>
          <p:nvPr/>
        </p:nvSpPr>
        <p:spPr>
          <a:xfrm>
            <a:off x="276225" y="3971925"/>
            <a:ext cx="4184997" cy="194310"/>
          </a:xfrm>
          <a:prstGeom prst="rect">
            <a:avLst/>
          </a:prstGeom>
          <a:noFill/>
        </p:spPr>
        <p:txBody>
          <a:bodyPr wrap="none" lIns="0" rIns="0" tIns="0" bIns="0">
            <a:spAutoFit/>
          </a:bodyPr>
          <a:lstStyle/>
          <a:p>
            <a:r>
              <a:rPr sz="1150" b="0">
                <a:solidFill>
                  <a:srgbClr val="2E2E2E"/>
                </a:solidFill>
                <a:latin typeface="Calibri"/>
              </a:rPr>
              <a:t>North America egg protein membrane market is projected to register</a:t>
            </a:r>
          </a:p>
        </p:txBody>
      </p:sp>
      <p:pic>
        <p:nvPicPr>
          <p:cNvPr id="19" name="Picture 18" descr="lock.png"/>
          <p:cNvPicPr>
            <a:picLocks noChangeAspect="1"/>
          </p:cNvPicPr>
          <p:nvPr/>
        </p:nvPicPr>
        <p:blipFill>
          <a:blip r:embed="rId4"/>
          <a:stretch>
            <a:fillRect/>
          </a:stretch>
        </p:blipFill>
        <p:spPr>
          <a:xfrm>
            <a:off x="4410376" y="3961701"/>
            <a:ext cx="134549" cy="195707"/>
          </a:xfrm>
          <a:prstGeom prst="rect">
            <a:avLst/>
          </a:prstGeom>
        </p:spPr>
      </p:pic>
      <p:sp>
        <p:nvSpPr>
          <p:cNvPr id="20" name="TextBox 19"/>
          <p:cNvSpPr txBox="1"/>
          <p:nvPr/>
        </p:nvSpPr>
        <p:spPr>
          <a:xfrm>
            <a:off x="4585485" y="3971925"/>
            <a:ext cx="7223521" cy="194310"/>
          </a:xfrm>
          <a:prstGeom prst="rect">
            <a:avLst/>
          </a:prstGeom>
          <a:noFill/>
        </p:spPr>
        <p:txBody>
          <a:bodyPr wrap="none" lIns="0" rIns="0" tIns="0" bIns="0">
            <a:spAutoFit/>
          </a:bodyPr>
          <a:lstStyle/>
          <a:p>
            <a:r>
              <a:rPr sz="1150" b="0">
                <a:solidFill>
                  <a:srgbClr val="2E2E2E"/>
                </a:solidFill>
                <a:latin typeface="Calibri"/>
              </a:rPr>
              <a:t>X higher value than Europe in 2036. Among egg protein membrane by region, South Asia &amp; Pacific is expected to witness</a:t>
            </a:r>
          </a:p>
        </p:txBody>
      </p:sp>
      <p:sp>
        <p:nvSpPr>
          <p:cNvPr id="21" name="TextBox 20"/>
          <p:cNvSpPr txBox="1"/>
          <p:nvPr/>
        </p:nvSpPr>
        <p:spPr>
          <a:xfrm>
            <a:off x="276225" y="4147185"/>
            <a:ext cx="1263979" cy="194310"/>
          </a:xfrm>
          <a:prstGeom prst="rect">
            <a:avLst/>
          </a:prstGeom>
          <a:noFill/>
        </p:spPr>
        <p:txBody>
          <a:bodyPr wrap="none" lIns="0" rIns="0" tIns="0" bIns="0">
            <a:spAutoFit/>
          </a:bodyPr>
          <a:lstStyle/>
          <a:p>
            <a:r>
              <a:rPr sz="1150" b="0">
                <a:solidFill>
                  <a:srgbClr val="2E2E2E"/>
                </a:solidFill>
                <a:latin typeface="Calibri"/>
              </a:rPr>
              <a:t>the highest CAGR of</a:t>
            </a:r>
          </a:p>
        </p:txBody>
      </p:sp>
      <p:pic>
        <p:nvPicPr>
          <p:cNvPr id="22" name="Picture 21" descr="lock.png"/>
          <p:cNvPicPr>
            <a:picLocks noChangeAspect="1"/>
          </p:cNvPicPr>
          <p:nvPr/>
        </p:nvPicPr>
        <p:blipFill>
          <a:blip r:embed="rId4"/>
          <a:stretch>
            <a:fillRect/>
          </a:stretch>
        </p:blipFill>
        <p:spPr>
          <a:xfrm>
            <a:off x="1489358" y="4136961"/>
            <a:ext cx="134549" cy="195707"/>
          </a:xfrm>
          <a:prstGeom prst="rect">
            <a:avLst/>
          </a:prstGeom>
        </p:spPr>
      </p:pic>
      <p:sp>
        <p:nvSpPr>
          <p:cNvPr id="23" name="TextBox 22"/>
          <p:cNvSpPr txBox="1"/>
          <p:nvPr/>
        </p:nvSpPr>
        <p:spPr>
          <a:xfrm>
            <a:off x="1664467" y="4147185"/>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24" name="TextBox 23"/>
          <p:cNvSpPr txBox="1"/>
          <p:nvPr/>
        </p:nvSpPr>
        <p:spPr>
          <a:xfrm>
            <a:off x="276225" y="4375022"/>
            <a:ext cx="5541664" cy="194310"/>
          </a:xfrm>
          <a:prstGeom prst="rect">
            <a:avLst/>
          </a:prstGeom>
          <a:noFill/>
        </p:spPr>
        <p:txBody>
          <a:bodyPr wrap="none" lIns="0" rIns="0" tIns="0" bIns="0">
            <a:spAutoFit/>
          </a:bodyPr>
          <a:lstStyle/>
          <a:p>
            <a:r>
              <a:rPr sz="1150" b="0">
                <a:solidFill>
                  <a:srgbClr val="2E2E2E"/>
                </a:solidFill>
                <a:latin typeface="Calibri"/>
              </a:rPr>
              <a:t>In terms of value share by region, North America is expected to dominate the market, losing</a:t>
            </a:r>
          </a:p>
        </p:txBody>
      </p:sp>
      <p:pic>
        <p:nvPicPr>
          <p:cNvPr id="25" name="Picture 24" descr="lock.png"/>
          <p:cNvPicPr>
            <a:picLocks noChangeAspect="1"/>
          </p:cNvPicPr>
          <p:nvPr/>
        </p:nvPicPr>
        <p:blipFill>
          <a:blip r:embed="rId4"/>
          <a:stretch>
            <a:fillRect/>
          </a:stretch>
        </p:blipFill>
        <p:spPr>
          <a:xfrm>
            <a:off x="5767043" y="4364799"/>
            <a:ext cx="134549" cy="195707"/>
          </a:xfrm>
          <a:prstGeom prst="rect">
            <a:avLst/>
          </a:prstGeom>
        </p:spPr>
      </p:pic>
      <p:sp>
        <p:nvSpPr>
          <p:cNvPr id="26" name="TextBox 25"/>
          <p:cNvSpPr txBox="1"/>
          <p:nvPr/>
        </p:nvSpPr>
        <p:spPr>
          <a:xfrm>
            <a:off x="5942153" y="4375022"/>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27" name="Picture 26" descr="lock.png"/>
          <p:cNvPicPr>
            <a:picLocks noChangeAspect="1"/>
          </p:cNvPicPr>
          <p:nvPr/>
        </p:nvPicPr>
        <p:blipFill>
          <a:blip r:embed="rId4"/>
          <a:stretch>
            <a:fillRect/>
          </a:stretch>
        </p:blipFill>
        <p:spPr>
          <a:xfrm>
            <a:off x="7337296" y="4364799"/>
            <a:ext cx="134549" cy="195707"/>
          </a:xfrm>
          <a:prstGeom prst="rect">
            <a:avLst/>
          </a:prstGeom>
        </p:spPr>
      </p:pic>
      <p:sp>
        <p:nvSpPr>
          <p:cNvPr id="28" name="TextBox 27"/>
          <p:cNvSpPr txBox="1"/>
          <p:nvPr/>
        </p:nvSpPr>
        <p:spPr>
          <a:xfrm>
            <a:off x="7512405" y="4375022"/>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Egg Protein Membrane Market Trends, By Region</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how regional volume and value shares shift over 2021–2036, highlighting who gains ground</a:t>
            </a:r>
          </a:p>
        </p:txBody>
      </p:sp>
      <p:sp>
        <p:nvSpPr>
          <p:cNvPr id="7" name="Rounded Rectangle 6"/>
          <p:cNvSpPr/>
          <p:nvPr/>
        </p:nvSpPr>
        <p:spPr>
          <a:xfrm>
            <a:off x="142875" y="981075"/>
            <a:ext cx="11906250"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Volume By Region (MT)</a:t>
            </a:r>
          </a:p>
        </p:txBody>
      </p:sp>
      <p:graphicFrame>
        <p:nvGraphicFramePr>
          <p:cNvPr id="9" name="Chart 8"/>
          <p:cNvGraphicFramePr>
            <a:graphicFrameLocks noGrp="1"/>
          </p:cNvGraphicFramePr>
          <p:nvPr/>
        </p:nvGraphicFramePr>
        <p:xfrm>
          <a:off x="238125" y="1266825"/>
          <a:ext cx="9448800" cy="2409825"/>
        </p:xfrm>
        <a:graphic>
          <a:graphicData uri="http://schemas.openxmlformats.org/drawingml/2006/chart">
            <c:chart xmlns:c="http://schemas.openxmlformats.org/drawingml/2006/chart" r:id="rId3"/>
          </a:graphicData>
        </a:graphic>
      </p:graphicFrame>
      <p:sp>
        <p:nvSpPr>
          <p:cNvPr id="10" name="Rounded Rectangle 9"/>
          <p:cNvSpPr/>
          <p:nvPr/>
        </p:nvSpPr>
        <p:spPr>
          <a:xfrm>
            <a:off x="9763125" y="1304925"/>
            <a:ext cx="2190750" cy="2333625"/>
          </a:xfrm>
          <a:prstGeom prst="roundRect">
            <a:avLst>
              <a:gd name="adj" fmla="val 347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MR Dense Legend"/>
          <p:cNvSpPr txBox="1"/>
          <p:nvPr/>
        </p:nvSpPr>
        <p:spPr>
          <a:xfrm>
            <a:off x="9839325" y="1362075"/>
            <a:ext cx="2057400" cy="171450"/>
          </a:xfrm>
          <a:prstGeom prst="rect">
            <a:avLst/>
          </a:prstGeom>
          <a:noFill/>
        </p:spPr>
        <p:txBody>
          <a:bodyPr wrap="none">
            <a:spAutoFit/>
          </a:bodyPr>
          <a:lstStyle/>
          <a:p>
            <a:pPr/>
            <a:r>
              <a:rPr sz="850" b="1">
                <a:solidFill>
                  <a:srgbClr val="6C7A89"/>
                </a:solidFill>
                <a:latin typeface="Calibri"/>
              </a:rPr>
              <a:t/>
            </a:r>
          </a:p>
        </p:txBody>
      </p:sp>
      <p:sp>
        <p:nvSpPr>
          <p:cNvPr id="12" name="TMR Dense Legend"/>
          <p:cNvSpPr txBox="1"/>
          <p:nvPr/>
        </p:nvSpPr>
        <p:spPr>
          <a:xfrm>
            <a:off x="9839325" y="1533525"/>
            <a:ext cx="2057400" cy="2047875"/>
          </a:xfrm>
          <a:prstGeom prst="rect">
            <a:avLst/>
          </a:prstGeom>
          <a:noFill/>
        </p:spPr>
        <p:txBody>
          <a:bodyPr wrap="square">
            <a:spAutoFit/>
          </a:bodyPr>
          <a:lstStyle/>
          <a:p>
            <a:pPr>
              <a:spcBef>
                <a:spcPts val="500"/>
              </a:spcBef>
            </a:pPr>
            <a:r>
              <a:rPr sz="900">
                <a:solidFill>
                  <a:srgbClr val="0E2A5C"/>
                </a:solidFill>
                <a:latin typeface="Calibri"/>
              </a:rPr>
              <a:t>■  </a:t>
            </a:r>
            <a:r>
              <a:rPr sz="750">
                <a:solidFill>
                  <a:srgbClr val="2E2E2E"/>
                </a:solidFill>
                <a:latin typeface="Calibri"/>
              </a:rPr>
              <a:t>   South Asia &amp; Pacific</a:t>
            </a:r>
          </a:p>
          <a:p>
            <a:pPr>
              <a:spcBef>
                <a:spcPts val="500"/>
              </a:spcBef>
            </a:pPr>
            <a:r>
              <a:rPr sz="900">
                <a:solidFill>
                  <a:srgbClr val="0081E2"/>
                </a:solidFill>
                <a:latin typeface="Calibri"/>
              </a:rPr>
              <a:t>■  </a:t>
            </a:r>
            <a:r>
              <a:rPr sz="750">
                <a:solidFill>
                  <a:srgbClr val="2E2E2E"/>
                </a:solidFill>
                <a:latin typeface="Calibri"/>
              </a:rPr>
              <a:t>   Europe</a:t>
            </a:r>
          </a:p>
          <a:p>
            <a:pPr>
              <a:spcBef>
                <a:spcPts val="500"/>
              </a:spcBef>
            </a:pPr>
            <a:r>
              <a:rPr sz="900">
                <a:solidFill>
                  <a:srgbClr val="2A5F8F"/>
                </a:solidFill>
                <a:latin typeface="Calibri"/>
              </a:rPr>
              <a:t>■  </a:t>
            </a:r>
            <a:r>
              <a:rPr sz="750">
                <a:solidFill>
                  <a:srgbClr val="2E2E2E"/>
                </a:solidFill>
                <a:latin typeface="Calibri"/>
              </a:rPr>
              <a:t>   North America</a:t>
            </a:r>
          </a:p>
          <a:p>
            <a:pPr>
              <a:spcBef>
                <a:spcPts val="500"/>
              </a:spcBef>
            </a:pPr>
            <a:r>
              <a:rPr sz="900">
                <a:solidFill>
                  <a:srgbClr val="00ACAC"/>
                </a:solidFill>
                <a:latin typeface="Calibri"/>
              </a:rPr>
              <a:t>■  </a:t>
            </a:r>
            <a:r>
              <a:rPr sz="750">
                <a:solidFill>
                  <a:srgbClr val="2E2E2E"/>
                </a:solidFill>
                <a:latin typeface="Calibri"/>
              </a:rPr>
              <a:t>   East Asia</a:t>
            </a:r>
          </a:p>
          <a:p>
            <a:pPr>
              <a:spcBef>
                <a:spcPts val="500"/>
              </a:spcBef>
            </a:pPr>
            <a:r>
              <a:rPr sz="900">
                <a:solidFill>
                  <a:srgbClr val="F47620"/>
                </a:solidFill>
                <a:latin typeface="Calibri"/>
              </a:rPr>
              <a:t>■  </a:t>
            </a:r>
            <a:r>
              <a:rPr sz="750">
                <a:solidFill>
                  <a:srgbClr val="2E2E2E"/>
                </a:solidFill>
                <a:latin typeface="Calibri"/>
              </a:rPr>
              <a:t>   Latin America</a:t>
            </a:r>
          </a:p>
          <a:p>
            <a:pPr>
              <a:spcBef>
                <a:spcPts val="500"/>
              </a:spcBef>
            </a:pPr>
            <a:r>
              <a:rPr sz="900">
                <a:solidFill>
                  <a:srgbClr val="79C3EC"/>
                </a:solidFill>
                <a:latin typeface="Calibri"/>
              </a:rPr>
              <a:t>■  </a:t>
            </a:r>
            <a:r>
              <a:rPr sz="750">
                <a:solidFill>
                  <a:srgbClr val="2E2E2E"/>
                </a:solidFill>
                <a:latin typeface="Calibri"/>
              </a:rPr>
              <a:t>   Middle East and Africa</a:t>
            </a:r>
          </a:p>
        </p:txBody>
      </p:sp>
      <p:sp>
        <p:nvSpPr>
          <p:cNvPr id="13" name="Rounded Rectangle 12"/>
          <p:cNvSpPr/>
          <p:nvPr/>
        </p:nvSpPr>
        <p:spPr>
          <a:xfrm>
            <a:off x="142875" y="3867150"/>
            <a:ext cx="11906250"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38125" y="3924300"/>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By Region (US$ Mn)</a:t>
            </a:r>
          </a:p>
        </p:txBody>
      </p:sp>
      <p:graphicFrame>
        <p:nvGraphicFramePr>
          <p:cNvPr id="15" name="Chart 14"/>
          <p:cNvGraphicFramePr>
            <a:graphicFrameLocks noGrp="1"/>
          </p:cNvGraphicFramePr>
          <p:nvPr/>
        </p:nvGraphicFramePr>
        <p:xfrm>
          <a:off x="238125" y="4152900"/>
          <a:ext cx="9448800" cy="2409825"/>
        </p:xfrm>
        <a:graphic>
          <a:graphicData uri="http://schemas.openxmlformats.org/drawingml/2006/chart">
            <c:chart xmlns:c="http://schemas.openxmlformats.org/drawingml/2006/chart" r:id="rId4"/>
          </a:graphicData>
        </a:graphic>
      </p:graphicFrame>
      <p:sp>
        <p:nvSpPr>
          <p:cNvPr id="16" name="Rounded Rectangle 15"/>
          <p:cNvSpPr/>
          <p:nvPr/>
        </p:nvSpPr>
        <p:spPr>
          <a:xfrm>
            <a:off x="9763125" y="4191000"/>
            <a:ext cx="2190750" cy="2333625"/>
          </a:xfrm>
          <a:prstGeom prst="roundRect">
            <a:avLst>
              <a:gd name="adj" fmla="val 347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MR Dense Legend"/>
          <p:cNvSpPr txBox="1"/>
          <p:nvPr/>
        </p:nvSpPr>
        <p:spPr>
          <a:xfrm>
            <a:off x="9839325" y="4248150"/>
            <a:ext cx="2057400" cy="171450"/>
          </a:xfrm>
          <a:prstGeom prst="rect">
            <a:avLst/>
          </a:prstGeom>
          <a:noFill/>
        </p:spPr>
        <p:txBody>
          <a:bodyPr wrap="none">
            <a:spAutoFit/>
          </a:bodyPr>
          <a:lstStyle/>
          <a:p>
            <a:pPr/>
            <a:r>
              <a:rPr sz="850" b="1">
                <a:solidFill>
                  <a:srgbClr val="6C7A89"/>
                </a:solidFill>
                <a:latin typeface="Calibri"/>
              </a:rPr>
              <a:t/>
            </a:r>
          </a:p>
        </p:txBody>
      </p:sp>
      <p:sp>
        <p:nvSpPr>
          <p:cNvPr id="18" name="TMR Dense Legend"/>
          <p:cNvSpPr txBox="1"/>
          <p:nvPr/>
        </p:nvSpPr>
        <p:spPr>
          <a:xfrm>
            <a:off x="9839325" y="4419600"/>
            <a:ext cx="2057400" cy="2047875"/>
          </a:xfrm>
          <a:prstGeom prst="rect">
            <a:avLst/>
          </a:prstGeom>
          <a:noFill/>
        </p:spPr>
        <p:txBody>
          <a:bodyPr wrap="square">
            <a:spAutoFit/>
          </a:bodyPr>
          <a:lstStyle/>
          <a:p>
            <a:pPr>
              <a:spcBef>
                <a:spcPts val="500"/>
              </a:spcBef>
            </a:pPr>
            <a:r>
              <a:rPr sz="900">
                <a:solidFill>
                  <a:srgbClr val="2A5F8F"/>
                </a:solidFill>
                <a:latin typeface="Calibri"/>
              </a:rPr>
              <a:t>■  </a:t>
            </a:r>
            <a:r>
              <a:rPr sz="750">
                <a:solidFill>
                  <a:srgbClr val="2E2E2E"/>
                </a:solidFill>
                <a:latin typeface="Calibri"/>
              </a:rPr>
              <a:t>   North America</a:t>
            </a:r>
          </a:p>
          <a:p>
            <a:pPr>
              <a:spcBef>
                <a:spcPts val="500"/>
              </a:spcBef>
            </a:pPr>
            <a:r>
              <a:rPr sz="900">
                <a:solidFill>
                  <a:srgbClr val="0081E2"/>
                </a:solidFill>
                <a:latin typeface="Calibri"/>
              </a:rPr>
              <a:t>■  </a:t>
            </a:r>
            <a:r>
              <a:rPr sz="750">
                <a:solidFill>
                  <a:srgbClr val="2E2E2E"/>
                </a:solidFill>
                <a:latin typeface="Calibri"/>
              </a:rPr>
              <a:t>   Europe</a:t>
            </a:r>
          </a:p>
          <a:p>
            <a:pPr>
              <a:spcBef>
                <a:spcPts val="500"/>
              </a:spcBef>
            </a:pPr>
            <a:r>
              <a:rPr sz="900">
                <a:solidFill>
                  <a:srgbClr val="00ACAC"/>
                </a:solidFill>
                <a:latin typeface="Calibri"/>
              </a:rPr>
              <a:t>■  </a:t>
            </a:r>
            <a:r>
              <a:rPr sz="750">
                <a:solidFill>
                  <a:srgbClr val="2E2E2E"/>
                </a:solidFill>
                <a:latin typeface="Calibri"/>
              </a:rPr>
              <a:t>   South Asia &amp; Pacific</a:t>
            </a:r>
          </a:p>
          <a:p>
            <a:pPr>
              <a:spcBef>
                <a:spcPts val="500"/>
              </a:spcBef>
            </a:pPr>
            <a:r>
              <a:rPr sz="900">
                <a:solidFill>
                  <a:srgbClr val="0E2A5C"/>
                </a:solidFill>
                <a:latin typeface="Calibri"/>
              </a:rPr>
              <a:t>■  </a:t>
            </a:r>
            <a:r>
              <a:rPr sz="750">
                <a:solidFill>
                  <a:srgbClr val="2E2E2E"/>
                </a:solidFill>
                <a:latin typeface="Calibri"/>
              </a:rPr>
              <a:t>   East Asia</a:t>
            </a:r>
          </a:p>
          <a:p>
            <a:pPr>
              <a:spcBef>
                <a:spcPts val="500"/>
              </a:spcBef>
            </a:pPr>
            <a:r>
              <a:rPr sz="900">
                <a:solidFill>
                  <a:srgbClr val="F47620"/>
                </a:solidFill>
                <a:latin typeface="Calibri"/>
              </a:rPr>
              <a:t>■  </a:t>
            </a:r>
            <a:r>
              <a:rPr sz="750">
                <a:solidFill>
                  <a:srgbClr val="2E2E2E"/>
                </a:solidFill>
                <a:latin typeface="Calibri"/>
              </a:rPr>
              <a:t>   Latin America</a:t>
            </a:r>
          </a:p>
          <a:p>
            <a:pPr>
              <a:spcBef>
                <a:spcPts val="500"/>
              </a:spcBef>
            </a:pPr>
            <a:r>
              <a:rPr sz="900">
                <a:solidFill>
                  <a:srgbClr val="79C3EC"/>
                </a:solidFill>
                <a:latin typeface="Calibri"/>
              </a:rPr>
              <a:t>■  </a:t>
            </a:r>
            <a:r>
              <a:rPr sz="750">
                <a:solidFill>
                  <a:srgbClr val="2E2E2E"/>
                </a:solidFill>
                <a:latin typeface="Calibri"/>
              </a:rPr>
              <a:t>   Middle East and Africa</a:t>
            </a:r>
          </a:p>
        </p:txBody>
      </p:sp>
      <p:sp>
        <p:nvSpPr>
          <p:cNvPr id="19" name="Rectangle 18"/>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
        <p:nvSpPr>
          <p:cNvPr id="21" name="TextBox 20"/>
          <p:cNvSpPr txBox="1"/>
          <p:nvPr/>
        </p:nvSpPr>
        <p:spPr>
          <a:xfrm>
            <a:off x="9930765" y="1407795"/>
            <a:ext cx="452511" cy="112318"/>
          </a:xfrm>
          <a:prstGeom prst="rect">
            <a:avLst/>
          </a:prstGeom>
          <a:noFill/>
        </p:spPr>
        <p:txBody>
          <a:bodyPr wrap="none" lIns="0" rIns="0" tIns="0" bIns="0">
            <a:spAutoFit/>
          </a:bodyPr>
          <a:lstStyle/>
          <a:p>
            <a:r>
              <a:rPr sz="611" b="1">
                <a:solidFill>
                  <a:srgbClr val="6C7A89"/>
                </a:solidFill>
                <a:latin typeface="Calibri"/>
              </a:rPr>
              <a:t>By segment</a:t>
            </a:r>
          </a:p>
        </p:txBody>
      </p:sp>
      <p:sp>
        <p:nvSpPr>
          <p:cNvPr id="22" name="TextBox 21"/>
          <p:cNvSpPr txBox="1"/>
          <p:nvPr/>
        </p:nvSpPr>
        <p:spPr>
          <a:xfrm>
            <a:off x="9930765" y="4293870"/>
            <a:ext cx="452511" cy="112318"/>
          </a:xfrm>
          <a:prstGeom prst="rect">
            <a:avLst/>
          </a:prstGeom>
          <a:noFill/>
        </p:spPr>
        <p:txBody>
          <a:bodyPr wrap="none" lIns="0" rIns="0" tIns="0" bIns="0">
            <a:spAutoFit/>
          </a:bodyPr>
          <a:lstStyle/>
          <a:p>
            <a:r>
              <a:rPr sz="611" b="1">
                <a:solidFill>
                  <a:srgbClr val="6C7A89"/>
                </a:solidFill>
                <a:latin typeface="Calibri"/>
              </a:rPr>
              <a:t>By segment</a:t>
            </a:r>
          </a:p>
        </p:txBody>
      </p:sp>
      <p:sp>
        <p:nvSpPr>
          <p:cNvPr id="23" name="lockshield_9"/>
          <p:cNvSpPr/>
          <p:nvPr/>
        </p:nvSpPr>
        <p:spPr>
          <a:xfrm>
            <a:off x="238125" y="1266825"/>
            <a:ext cx="9448800"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lockshield_15"/>
          <p:cNvSpPr/>
          <p:nvPr/>
        </p:nvSpPr>
        <p:spPr>
          <a:xfrm>
            <a:off x="238125" y="4152900"/>
            <a:ext cx="9448800"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Egg Protein Membrane Market Top 10 Countries (2036)</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Country hierarchy of the global market in 2036, highlighting the leading countries within each region by value</a:t>
            </a:r>
          </a:p>
        </p:txBody>
      </p:sp>
      <p:sp>
        <p:nvSpPr>
          <p:cNvPr id="7" name="Rounded Rectangle 6"/>
          <p:cNvSpPr/>
          <p:nvPr/>
        </p:nvSpPr>
        <p:spPr>
          <a:xfrm>
            <a:off x="142875" y="981075"/>
            <a:ext cx="11906250" cy="5648325"/>
          </a:xfrm>
          <a:prstGeom prst="roundRect">
            <a:avLst>
              <a:gd name="adj" fmla="val 134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market by country  ·  2036 (US$ Mn)  ·  tile size = market value</a:t>
            </a:r>
          </a:p>
        </p:txBody>
      </p:sp>
      <p:sp>
        <p:nvSpPr>
          <p:cNvPr id="9" name="Rectangle 8"/>
          <p:cNvSpPr/>
          <p:nvPr/>
        </p:nvSpPr>
        <p:spPr>
          <a:xfrm>
            <a:off x="238125" y="1266825"/>
            <a:ext cx="3247784" cy="5305425"/>
          </a:xfrm>
          <a:prstGeom prst="rect">
            <a:avLst/>
          </a:prstGeom>
          <a:solidFill>
            <a:srgbClr val="2A5F8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U.S.</a:t>
            </a:r>
          </a:p>
          <a:p>
            <a:pPr algn="ctr"/>
            <a:r>
              <a:rPr sz="1100" b="0">
                <a:solidFill>
                  <a:srgbClr val="FFFFFF"/>
                </a:solidFill>
                <a:latin typeface="Calibri"/>
              </a:rPr>
              <a:t> </a:t>
            </a:r>
          </a:p>
        </p:txBody>
      </p:sp>
      <p:sp>
        <p:nvSpPr>
          <p:cNvPr id="10" name="Rectangle 9"/>
          <p:cNvSpPr/>
          <p:nvPr/>
        </p:nvSpPr>
        <p:spPr>
          <a:xfrm>
            <a:off x="3485909" y="1266825"/>
            <a:ext cx="3442331" cy="2887119"/>
          </a:xfrm>
          <a:prstGeom prst="rect">
            <a:avLst/>
          </a:prstGeom>
          <a:solidFill>
            <a:srgbClr val="0081E2"/>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Germany</a:t>
            </a:r>
          </a:p>
          <a:p>
            <a:pPr algn="ctr"/>
            <a:r>
              <a:rPr sz="1100" b="0">
                <a:solidFill>
                  <a:srgbClr val="FFFFFF"/>
                </a:solidFill>
                <a:latin typeface="Calibri"/>
              </a:rPr>
              <a:t> </a:t>
            </a:r>
          </a:p>
        </p:txBody>
      </p:sp>
      <p:sp>
        <p:nvSpPr>
          <p:cNvPr id="11" name="Rectangle 10"/>
          <p:cNvSpPr/>
          <p:nvPr/>
        </p:nvSpPr>
        <p:spPr>
          <a:xfrm>
            <a:off x="3485909" y="4153944"/>
            <a:ext cx="3442331" cy="2418306"/>
          </a:xfrm>
          <a:prstGeom prst="rect">
            <a:avLst/>
          </a:prstGeom>
          <a:solidFill>
            <a:srgbClr val="0E2A5C"/>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Canada</a:t>
            </a:r>
          </a:p>
          <a:p>
            <a:pPr algn="ctr"/>
            <a:r>
              <a:rPr sz="1100" b="0">
                <a:solidFill>
                  <a:srgbClr val="FFFFFF"/>
                </a:solidFill>
                <a:latin typeface="Calibri"/>
              </a:rPr>
              <a:t> </a:t>
            </a:r>
          </a:p>
        </p:txBody>
      </p:sp>
      <p:sp>
        <p:nvSpPr>
          <p:cNvPr id="12" name="Rectangle 11"/>
          <p:cNvSpPr/>
          <p:nvPr/>
        </p:nvSpPr>
        <p:spPr>
          <a:xfrm>
            <a:off x="6928240" y="1266825"/>
            <a:ext cx="2852376" cy="2244483"/>
          </a:xfrm>
          <a:prstGeom prst="rect">
            <a:avLst/>
          </a:prstGeom>
          <a:solidFill>
            <a:srgbClr val="00ACAC"/>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China</a:t>
            </a:r>
          </a:p>
          <a:p>
            <a:pPr algn="ctr"/>
            <a:r>
              <a:rPr sz="1100" b="0">
                <a:solidFill>
                  <a:srgbClr val="FFFFFF"/>
                </a:solidFill>
                <a:latin typeface="Calibri"/>
              </a:rPr>
              <a:t> </a:t>
            </a:r>
          </a:p>
        </p:txBody>
      </p:sp>
      <p:sp>
        <p:nvSpPr>
          <p:cNvPr id="13" name="Rectangle 12"/>
          <p:cNvSpPr/>
          <p:nvPr/>
        </p:nvSpPr>
        <p:spPr>
          <a:xfrm>
            <a:off x="9780616" y="1266825"/>
            <a:ext cx="2173259" cy="2244483"/>
          </a:xfrm>
          <a:prstGeom prst="rect">
            <a:avLst/>
          </a:prstGeom>
          <a:solidFill>
            <a:srgbClr val="F4762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India</a:t>
            </a:r>
          </a:p>
          <a:p>
            <a:pPr algn="ctr"/>
            <a:r>
              <a:rPr sz="1100" b="0">
                <a:solidFill>
                  <a:srgbClr val="FFFFFF"/>
                </a:solidFill>
                <a:latin typeface="Calibri"/>
              </a:rPr>
              <a:t> </a:t>
            </a:r>
          </a:p>
        </p:txBody>
      </p:sp>
      <p:sp>
        <p:nvSpPr>
          <p:cNvPr id="14" name="Rectangle 13"/>
          <p:cNvSpPr/>
          <p:nvPr/>
        </p:nvSpPr>
        <p:spPr>
          <a:xfrm>
            <a:off x="6928240" y="3511308"/>
            <a:ext cx="2445628" cy="1639977"/>
          </a:xfrm>
          <a:prstGeom prst="rect">
            <a:avLst/>
          </a:prstGeom>
          <a:solidFill>
            <a:srgbClr val="79C3EC"/>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2E2E2E"/>
                </a:solidFill>
                <a:latin typeface="Calibri"/>
              </a:rPr>
              <a:t>Brazil</a:t>
            </a:r>
          </a:p>
          <a:p>
            <a:pPr algn="ctr"/>
            <a:r>
              <a:rPr sz="1100" b="0">
                <a:solidFill>
                  <a:srgbClr val="2E2E2E"/>
                </a:solidFill>
                <a:latin typeface="Calibri"/>
              </a:rPr>
              <a:t> </a:t>
            </a:r>
          </a:p>
        </p:txBody>
      </p:sp>
      <p:sp>
        <p:nvSpPr>
          <p:cNvPr id="15" name="Rectangle 14"/>
          <p:cNvSpPr/>
          <p:nvPr/>
        </p:nvSpPr>
        <p:spPr>
          <a:xfrm>
            <a:off x="6928240" y="5151284"/>
            <a:ext cx="2445628" cy="1420966"/>
          </a:xfrm>
          <a:prstGeom prst="rect">
            <a:avLst/>
          </a:prstGeom>
          <a:solidFill>
            <a:srgbClr val="586272"/>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U.K.</a:t>
            </a:r>
          </a:p>
          <a:p>
            <a:pPr algn="ctr"/>
            <a:r>
              <a:rPr sz="1100" b="0">
                <a:solidFill>
                  <a:srgbClr val="FFFFFF"/>
                </a:solidFill>
                <a:latin typeface="Calibri"/>
              </a:rPr>
              <a:t> </a:t>
            </a:r>
          </a:p>
        </p:txBody>
      </p:sp>
      <p:sp>
        <p:nvSpPr>
          <p:cNvPr id="16" name="Rectangle 15"/>
          <p:cNvSpPr/>
          <p:nvPr/>
        </p:nvSpPr>
        <p:spPr>
          <a:xfrm>
            <a:off x="9373868" y="3511308"/>
            <a:ext cx="1301342" cy="2115506"/>
          </a:xfrm>
          <a:prstGeom prst="rect">
            <a:avLst/>
          </a:prstGeom>
          <a:solidFill>
            <a:srgbClr val="1F47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Japan</a:t>
            </a:r>
          </a:p>
          <a:p>
            <a:pPr algn="ctr"/>
            <a:r>
              <a:rPr sz="1100" b="0">
                <a:solidFill>
                  <a:srgbClr val="FFFFFF"/>
                </a:solidFill>
                <a:latin typeface="Calibri"/>
              </a:rPr>
              <a:t> </a:t>
            </a:r>
          </a:p>
        </p:txBody>
      </p:sp>
      <p:sp>
        <p:nvSpPr>
          <p:cNvPr id="17" name="Rectangle 16"/>
          <p:cNvSpPr/>
          <p:nvPr/>
        </p:nvSpPr>
        <p:spPr>
          <a:xfrm>
            <a:off x="10675210" y="3511308"/>
            <a:ext cx="1278665" cy="2115506"/>
          </a:xfrm>
          <a:prstGeom prst="rect">
            <a:avLst/>
          </a:prstGeom>
          <a:solidFill>
            <a:srgbClr val="BCBEC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2E2E2E"/>
                </a:solidFill>
                <a:latin typeface="Calibri"/>
              </a:rPr>
              <a:t>France</a:t>
            </a:r>
          </a:p>
          <a:p>
            <a:pPr algn="ctr"/>
            <a:r>
              <a:rPr sz="1100" b="0">
                <a:solidFill>
                  <a:srgbClr val="2E2E2E"/>
                </a:solidFill>
                <a:latin typeface="Calibri"/>
              </a:rPr>
              <a:t> </a:t>
            </a:r>
          </a:p>
        </p:txBody>
      </p:sp>
      <p:sp>
        <p:nvSpPr>
          <p:cNvPr id="18" name="Rectangle 17"/>
          <p:cNvSpPr/>
          <p:nvPr/>
        </p:nvSpPr>
        <p:spPr>
          <a:xfrm>
            <a:off x="9373868" y="5626814"/>
            <a:ext cx="2580007" cy="945436"/>
          </a:xfrm>
          <a:prstGeom prst="rect">
            <a:avLst/>
          </a:prstGeom>
          <a:solidFill>
            <a:srgbClr val="3DC6C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2E2E2E"/>
                </a:solidFill>
                <a:latin typeface="Calibri"/>
              </a:rPr>
              <a:t>Turkey</a:t>
            </a:r>
          </a:p>
          <a:p>
            <a:pPr algn="ctr"/>
            <a:r>
              <a:rPr sz="1100" b="0">
                <a:solidFill>
                  <a:srgbClr val="2E2E2E"/>
                </a:solidFill>
                <a:latin typeface="Calibri"/>
              </a:rPr>
              <a:t> </a:t>
            </a:r>
          </a:p>
        </p:txBody>
      </p:sp>
      <p:sp>
        <p:nvSpPr>
          <p:cNvPr id="19" name="Rectangle 18"/>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21" name="Picture 20" descr="lock.png"/>
          <p:cNvPicPr>
            <a:picLocks noChangeAspect="1"/>
          </p:cNvPicPr>
          <p:nvPr/>
        </p:nvPicPr>
        <p:blipFill>
          <a:blip r:embed="rId4"/>
          <a:stretch>
            <a:fillRect/>
          </a:stretch>
        </p:blipFill>
        <p:spPr>
          <a:xfrm>
            <a:off x="1707578" y="3919537"/>
            <a:ext cx="308877" cy="449275"/>
          </a:xfrm>
          <a:prstGeom prst="rect">
            <a:avLst/>
          </a:prstGeom>
        </p:spPr>
      </p:pic>
      <p:pic>
        <p:nvPicPr>
          <p:cNvPr id="22" name="Picture 21" descr="lock.png"/>
          <p:cNvPicPr>
            <a:picLocks noChangeAspect="1"/>
          </p:cNvPicPr>
          <p:nvPr/>
        </p:nvPicPr>
        <p:blipFill>
          <a:blip r:embed="rId4"/>
          <a:stretch>
            <a:fillRect/>
          </a:stretch>
        </p:blipFill>
        <p:spPr>
          <a:xfrm>
            <a:off x="5052636" y="2710384"/>
            <a:ext cx="308877" cy="449275"/>
          </a:xfrm>
          <a:prstGeom prst="rect">
            <a:avLst/>
          </a:prstGeom>
        </p:spPr>
      </p:pic>
      <p:pic>
        <p:nvPicPr>
          <p:cNvPr id="23" name="Picture 22" descr="lock.png"/>
          <p:cNvPicPr>
            <a:picLocks noChangeAspect="1"/>
          </p:cNvPicPr>
          <p:nvPr/>
        </p:nvPicPr>
        <p:blipFill>
          <a:blip r:embed="rId4"/>
          <a:stretch>
            <a:fillRect/>
          </a:stretch>
        </p:blipFill>
        <p:spPr>
          <a:xfrm>
            <a:off x="5052636" y="5363097"/>
            <a:ext cx="308877" cy="449275"/>
          </a:xfrm>
          <a:prstGeom prst="rect">
            <a:avLst/>
          </a:prstGeom>
        </p:spPr>
      </p:pic>
      <p:pic>
        <p:nvPicPr>
          <p:cNvPr id="24" name="Picture 23" descr="lock.png"/>
          <p:cNvPicPr>
            <a:picLocks noChangeAspect="1"/>
          </p:cNvPicPr>
          <p:nvPr/>
        </p:nvPicPr>
        <p:blipFill>
          <a:blip r:embed="rId4"/>
          <a:stretch>
            <a:fillRect/>
          </a:stretch>
        </p:blipFill>
        <p:spPr>
          <a:xfrm>
            <a:off x="8199989" y="2389066"/>
            <a:ext cx="308877" cy="449275"/>
          </a:xfrm>
          <a:prstGeom prst="rect">
            <a:avLst/>
          </a:prstGeom>
        </p:spPr>
      </p:pic>
      <p:pic>
        <p:nvPicPr>
          <p:cNvPr id="25" name="Picture 24" descr="lock.png"/>
          <p:cNvPicPr>
            <a:picLocks noChangeAspect="1"/>
          </p:cNvPicPr>
          <p:nvPr/>
        </p:nvPicPr>
        <p:blipFill>
          <a:blip r:embed="rId4"/>
          <a:stretch>
            <a:fillRect/>
          </a:stretch>
        </p:blipFill>
        <p:spPr>
          <a:xfrm>
            <a:off x="10712807" y="2389066"/>
            <a:ext cx="308877" cy="449275"/>
          </a:xfrm>
          <a:prstGeom prst="rect">
            <a:avLst/>
          </a:prstGeom>
        </p:spPr>
      </p:pic>
      <p:pic>
        <p:nvPicPr>
          <p:cNvPr id="26" name="Picture 25" descr="lock.png"/>
          <p:cNvPicPr>
            <a:picLocks noChangeAspect="1"/>
          </p:cNvPicPr>
          <p:nvPr/>
        </p:nvPicPr>
        <p:blipFill>
          <a:blip r:embed="rId4"/>
          <a:stretch>
            <a:fillRect/>
          </a:stretch>
        </p:blipFill>
        <p:spPr>
          <a:xfrm>
            <a:off x="7996615" y="4331296"/>
            <a:ext cx="308877" cy="449275"/>
          </a:xfrm>
          <a:prstGeom prst="rect">
            <a:avLst/>
          </a:prstGeom>
        </p:spPr>
      </p:pic>
      <p:pic>
        <p:nvPicPr>
          <p:cNvPr id="27" name="Picture 26" descr="lock.png"/>
          <p:cNvPicPr>
            <a:picLocks noChangeAspect="1"/>
          </p:cNvPicPr>
          <p:nvPr/>
        </p:nvPicPr>
        <p:blipFill>
          <a:blip r:embed="rId4"/>
          <a:stretch>
            <a:fillRect/>
          </a:stretch>
        </p:blipFill>
        <p:spPr>
          <a:xfrm>
            <a:off x="7996615" y="5861766"/>
            <a:ext cx="308877" cy="449275"/>
          </a:xfrm>
          <a:prstGeom prst="rect">
            <a:avLst/>
          </a:prstGeom>
        </p:spPr>
      </p:pic>
      <p:pic>
        <p:nvPicPr>
          <p:cNvPr id="28" name="Picture 27" descr="lock.png"/>
          <p:cNvPicPr>
            <a:picLocks noChangeAspect="1"/>
          </p:cNvPicPr>
          <p:nvPr/>
        </p:nvPicPr>
        <p:blipFill>
          <a:blip r:embed="rId4"/>
          <a:stretch>
            <a:fillRect/>
          </a:stretch>
        </p:blipFill>
        <p:spPr>
          <a:xfrm>
            <a:off x="9870100" y="4569061"/>
            <a:ext cx="308877" cy="449275"/>
          </a:xfrm>
          <a:prstGeom prst="rect">
            <a:avLst/>
          </a:prstGeom>
        </p:spPr>
      </p:pic>
      <p:pic>
        <p:nvPicPr>
          <p:cNvPr id="29" name="Picture 28" descr="lock.png"/>
          <p:cNvPicPr>
            <a:picLocks noChangeAspect="1"/>
          </p:cNvPicPr>
          <p:nvPr/>
        </p:nvPicPr>
        <p:blipFill>
          <a:blip r:embed="rId4"/>
          <a:stretch>
            <a:fillRect/>
          </a:stretch>
        </p:blipFill>
        <p:spPr>
          <a:xfrm>
            <a:off x="11160104" y="4569061"/>
            <a:ext cx="308877" cy="449275"/>
          </a:xfrm>
          <a:prstGeom prst="rect">
            <a:avLst/>
          </a:prstGeom>
        </p:spPr>
      </p:pic>
      <p:pic>
        <p:nvPicPr>
          <p:cNvPr id="30" name="Picture 29" descr="lock.png"/>
          <p:cNvPicPr>
            <a:picLocks noChangeAspect="1"/>
          </p:cNvPicPr>
          <p:nvPr/>
        </p:nvPicPr>
        <p:blipFill>
          <a:blip r:embed="rId4"/>
          <a:stretch>
            <a:fillRect/>
          </a:stretch>
        </p:blipFill>
        <p:spPr>
          <a:xfrm>
            <a:off x="10509433" y="6099532"/>
            <a:ext cx="308877" cy="449275"/>
          </a:xfrm>
          <a:prstGeom prst="rect">
            <a:avLst/>
          </a:prstGeom>
        </p:spPr>
      </p:pic>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3F8FD"/>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3F8FD"/>
              </a:gs>
              <a:gs pos="100000">
                <a:srgbClr val="DCE9F6"/>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FE0F0">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9C8E6">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B7D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A5F8F"/>
              </a:gs>
              <a:gs pos="100000">
                <a:srgbClr val="6FA6D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MR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7</a:t>
            </a:r>
          </a:p>
        </p:txBody>
      </p:sp>
      <p:pic>
        <p:nvPicPr>
          <p:cNvPr id="8" name="Picture 7" descr="tmr_logo.png"/>
          <p:cNvPicPr>
            <a:picLocks noChangeAspect="1"/>
          </p:cNvPicPr>
          <p:nvPr/>
        </p:nvPicPr>
        <p:blipFill>
          <a:blip r:embed="rId2"/>
          <a:stretch>
            <a:fillRect/>
          </a:stretch>
        </p:blipFill>
        <p:spPr>
          <a:xfrm>
            <a:off x="411480" y="274320"/>
            <a:ext cx="1307592" cy="975505"/>
          </a:xfrm>
          <a:prstGeom prst="rect">
            <a:avLst/>
          </a:prstGeom>
        </p:spPr>
      </p:pic>
      <p:sp>
        <p:nvSpPr>
          <p:cNvPr id="9" name="TextBox 8"/>
          <p:cNvSpPr txBox="1"/>
          <p:nvPr/>
        </p:nvSpPr>
        <p:spPr>
          <a:xfrm>
            <a:off x="914400" y="2162175"/>
            <a:ext cx="8572500" cy="304800"/>
          </a:xfrm>
          <a:prstGeom prst="rect">
            <a:avLst/>
          </a:prstGeom>
          <a:noFill/>
        </p:spPr>
        <p:txBody>
          <a:bodyPr wrap="none" lIns="0" tIns="0">
            <a:spAutoFit/>
          </a:bodyPr>
          <a:lstStyle/>
          <a:p>
            <a:r>
              <a:rPr sz="1800" b="0">
                <a:solidFill>
                  <a:srgbClr val="2A5F8F"/>
                </a:solidFill>
                <a:latin typeface="Calibri"/>
              </a:rPr>
              <a:t>Egg Protein Membrane Market</a:t>
            </a:r>
          </a:p>
        </p:txBody>
      </p:sp>
      <p:sp>
        <p:nvSpPr>
          <p:cNvPr id="10" name="TMR Section Title"/>
          <p:cNvSpPr txBox="1"/>
          <p:nvPr/>
        </p:nvSpPr>
        <p:spPr>
          <a:xfrm>
            <a:off x="914400" y="2505075"/>
            <a:ext cx="8572500" cy="514350"/>
          </a:xfrm>
          <a:prstGeom prst="rect">
            <a:avLst/>
          </a:prstGeom>
          <a:noFill/>
        </p:spPr>
        <p:txBody>
          <a:bodyPr wrap="square" lIns="0" rIns="0" tIns="0">
            <a:spAutoFit/>
          </a:bodyPr>
          <a:lstStyle/>
          <a:p>
            <a:r>
              <a:rPr sz="3000" b="1">
                <a:solidFill>
                  <a:srgbClr val="0E2A5C"/>
                </a:solidFill>
                <a:latin typeface="Calibri"/>
              </a:rPr>
              <a:t>Global Market Analysis By Segments</a:t>
            </a:r>
          </a:p>
        </p:txBody>
      </p:sp>
      <p:sp>
        <p:nvSpPr>
          <p:cNvPr id="11" name="TextBox 10"/>
          <p:cNvSpPr txBox="1"/>
          <p:nvPr/>
        </p:nvSpPr>
        <p:spPr>
          <a:xfrm>
            <a:off x="914400" y="3190875"/>
            <a:ext cx="8458200" cy="24574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Product Type</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Extraction / Processing Method</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Source</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Form</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Application</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Sales Channel</a:t>
            </a:r>
          </a:p>
        </p:txBody>
      </p:sp>
      <p:sp>
        <p:nvSpPr>
          <p:cNvPr id="12" name="Rectangle 11"/>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3F8FD"/>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3F8FD"/>
              </a:gs>
              <a:gs pos="100000">
                <a:srgbClr val="DCE9F6"/>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FE0F0">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9C8E6">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B7D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A5F8F"/>
              </a:gs>
              <a:gs pos="100000">
                <a:srgbClr val="6FA6D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MR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7.1</a:t>
            </a:r>
          </a:p>
        </p:txBody>
      </p:sp>
      <p:pic>
        <p:nvPicPr>
          <p:cNvPr id="8" name="Picture 7" descr="tmr_logo.png"/>
          <p:cNvPicPr>
            <a:picLocks noChangeAspect="1"/>
          </p:cNvPicPr>
          <p:nvPr/>
        </p:nvPicPr>
        <p:blipFill>
          <a:blip r:embed="rId2"/>
          <a:stretch>
            <a:fillRect/>
          </a:stretch>
        </p:blipFill>
        <p:spPr>
          <a:xfrm>
            <a:off x="411480" y="274320"/>
            <a:ext cx="1307592" cy="975505"/>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2A5F8F"/>
                </a:solidFill>
                <a:latin typeface="Calibri"/>
              </a:rPr>
              <a:t>Egg Protein Membrane Market</a:t>
            </a:r>
          </a:p>
        </p:txBody>
      </p:sp>
      <p:sp>
        <p:nvSpPr>
          <p:cNvPr id="10" name="TMR Section Title"/>
          <p:cNvSpPr txBox="1"/>
          <p:nvPr/>
        </p:nvSpPr>
        <p:spPr>
          <a:xfrm>
            <a:off x="914400" y="2701925"/>
            <a:ext cx="8572500" cy="514350"/>
          </a:xfrm>
          <a:prstGeom prst="rect">
            <a:avLst/>
          </a:prstGeom>
          <a:noFill/>
        </p:spPr>
        <p:txBody>
          <a:bodyPr wrap="square" lIns="0" rIns="0" tIns="0">
            <a:spAutoFit/>
          </a:bodyPr>
          <a:lstStyle/>
          <a:p>
            <a:r>
              <a:rPr sz="3000" b="1">
                <a:solidFill>
                  <a:srgbClr val="0E2A5C"/>
                </a:solidFill>
                <a:latin typeface="Calibri"/>
              </a:rPr>
              <a:t>Product Type</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Product Type Segment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Structure &amp; Attractiveness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Value Analysis</a:t>
            </a:r>
          </a:p>
        </p:txBody>
      </p:sp>
      <p:sp>
        <p:nvSpPr>
          <p:cNvPr id="12" name="Rectangle 11"/>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By Product Type Segment Outlook</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Segment analysis of market size, growth and share across 3 sub-segments of Product Type, 2026–2036</a:t>
            </a:r>
          </a:p>
        </p:txBody>
      </p:sp>
      <p:sp>
        <p:nvSpPr>
          <p:cNvPr id="7" name="TextBox 6"/>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Product Type segment categorizes the market by product type. Each sub-category is evaluated on market size, growth outlook and adoption trends across the forecast period.</a:t>
            </a:r>
          </a:p>
        </p:txBody>
      </p:sp>
      <p:sp>
        <p:nvSpPr>
          <p:cNvPr id="8" name="Rectangle 7"/>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Sub-Segment</a:t>
            </a:r>
          </a:p>
        </p:txBody>
      </p:sp>
      <p:sp>
        <p:nvSpPr>
          <p:cNvPr id="10" name="Rectangle 9"/>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2" name="Rectangle 11"/>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4" name="Rectangle 13"/>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16" name="Rounded Rectangle 15"/>
          <p:cNvSpPr/>
          <p:nvPr/>
        </p:nvSpPr>
        <p:spPr>
          <a:xfrm>
            <a:off x="1866900" y="1773916"/>
            <a:ext cx="3257550"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866900" y="1992961"/>
            <a:ext cx="3257550"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90500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Calibri"/>
              </a:rPr>
              <a:t>Specialty Extracted Protein Fract…</a:t>
            </a:r>
          </a:p>
        </p:txBody>
      </p:sp>
      <p:sp>
        <p:nvSpPr>
          <p:cNvPr id="19" name="Rectangle 18"/>
          <p:cNvSpPr/>
          <p:nvPr/>
        </p:nvSpPr>
        <p:spPr>
          <a:xfrm>
            <a:off x="186690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0" name="Rectangle 19"/>
          <p:cNvSpPr/>
          <p:nvPr/>
        </p:nvSpPr>
        <p:spPr>
          <a:xfrm>
            <a:off x="186690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1" name="Rectangle 20"/>
          <p:cNvSpPr/>
          <p:nvPr/>
        </p:nvSpPr>
        <p:spPr>
          <a:xfrm>
            <a:off x="186690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2" name="Oval 21"/>
          <p:cNvSpPr/>
          <p:nvPr/>
        </p:nvSpPr>
        <p:spPr>
          <a:xfrm>
            <a:off x="3333750"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23" name="Rounded Rectangle 22"/>
          <p:cNvSpPr/>
          <p:nvPr/>
        </p:nvSpPr>
        <p:spPr>
          <a:xfrm>
            <a:off x="5238750" y="1773916"/>
            <a:ext cx="3257550"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238750" y="1992961"/>
            <a:ext cx="3257550"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7685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Calibri"/>
              </a:rPr>
              <a:t>Micronized Eggshell Membrane</a:t>
            </a:r>
          </a:p>
        </p:txBody>
      </p:sp>
      <p:sp>
        <p:nvSpPr>
          <p:cNvPr id="26" name="Rectangle 25"/>
          <p:cNvSpPr/>
          <p:nvPr/>
        </p:nvSpPr>
        <p:spPr>
          <a:xfrm>
            <a:off x="523875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27" name="Rectangle 26"/>
          <p:cNvSpPr/>
          <p:nvPr/>
        </p:nvSpPr>
        <p:spPr>
          <a:xfrm>
            <a:off x="523875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28" name="Rectangle 27"/>
          <p:cNvSpPr/>
          <p:nvPr/>
        </p:nvSpPr>
        <p:spPr>
          <a:xfrm>
            <a:off x="523875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29" name="Oval 28"/>
          <p:cNvSpPr/>
          <p:nvPr/>
        </p:nvSpPr>
        <p:spPr>
          <a:xfrm>
            <a:off x="6705600"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30" name="Rounded Rectangle 29"/>
          <p:cNvSpPr/>
          <p:nvPr/>
        </p:nvSpPr>
        <p:spPr>
          <a:xfrm>
            <a:off x="8610600" y="1773916"/>
            <a:ext cx="3257550" cy="438089"/>
          </a:xfrm>
          <a:prstGeom prst="roundRect">
            <a:avLst>
              <a:gd name="adj" fmla="val 18000"/>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610600" y="1992961"/>
            <a:ext cx="3257550" cy="219044"/>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64870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Calibri"/>
              </a:rPr>
              <a:t>Hydrolyzed Eggshell Membrane</a:t>
            </a:r>
          </a:p>
        </p:txBody>
      </p:sp>
      <p:sp>
        <p:nvSpPr>
          <p:cNvPr id="33" name="Rectangle 32"/>
          <p:cNvSpPr/>
          <p:nvPr/>
        </p:nvSpPr>
        <p:spPr>
          <a:xfrm>
            <a:off x="861060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4" name="Rectangle 33"/>
          <p:cNvSpPr/>
          <p:nvPr/>
        </p:nvSpPr>
        <p:spPr>
          <a:xfrm>
            <a:off x="861060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5" name="Rectangle 34"/>
          <p:cNvSpPr/>
          <p:nvPr/>
        </p:nvSpPr>
        <p:spPr>
          <a:xfrm>
            <a:off x="861060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6" name="Oval 35"/>
          <p:cNvSpPr/>
          <p:nvPr/>
        </p:nvSpPr>
        <p:spPr>
          <a:xfrm>
            <a:off x="10077450" y="1445350"/>
            <a:ext cx="323850" cy="310313"/>
          </a:xfrm>
          <a:prstGeom prst="ellipse">
            <a:avLst/>
          </a:prstGeom>
          <a:solidFill>
            <a:srgbClr val="0081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3</a:t>
            </a:r>
          </a:p>
        </p:txBody>
      </p:sp>
      <p:sp>
        <p:nvSpPr>
          <p:cNvPr id="37" name="Rounded Rectangle 36"/>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B2E4A"/>
                </a:solidFill>
                <a:latin typeface="Calibri"/>
              </a:rPr>
              <a:t>Key Highlights</a:t>
            </a:r>
          </a:p>
        </p:txBody>
      </p:sp>
      <p:sp>
        <p:nvSpPr>
          <p:cNvPr id="39" name="Rectangle 38"/>
          <p:cNvSpPr/>
          <p:nvPr/>
        </p:nvSpPr>
        <p:spPr>
          <a:xfrm>
            <a:off x="457200" y="4146897"/>
            <a:ext cx="2971800" cy="18254"/>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57200" y="4219912"/>
            <a:ext cx="2971800" cy="2117429"/>
          </a:xfrm>
          <a:prstGeom prst="rect">
            <a:avLst/>
          </a:prstGeom>
          <a:noFill/>
        </p:spPr>
        <p:txBody>
          <a:bodyPr wrap="square" lIns="28575" rIns="28575" tIns="9525" bIns="9525">
            <a:spAutoFit/>
          </a:bodyPr>
          <a:lstStyle/>
          <a:p>
            <a:pPr algn="l">
              <a:lnSpc>
                <a:spcPct val="105000"/>
              </a:lnSpc>
              <a:spcBef>
                <a:spcPts val="0"/>
              </a:spcBef>
              <a:spcAft>
                <a:spcPts val="300"/>
              </a:spcAft>
            </a:pPr>
            <a:r>
              <a:rPr sz="1100" b="0">
                <a:solidFill>
                  <a:srgbClr val="2E2E2E"/>
                </a:solidFill>
                <a:latin typeface="Calibri"/>
              </a:rPr>
              <a:t/>
            </a:r>
          </a:p>
          <a:p>
            <a:pPr algn="l">
              <a:lnSpc>
                <a:spcPct val="105000"/>
              </a:lnSpc>
              <a:spcBef>
                <a:spcPts val="0"/>
              </a:spcBef>
              <a:spcAft>
                <a:spcPts val="300"/>
              </a:spcAft>
            </a:pPr>
            <a:r>
              <a:rPr sz="1100" b="0">
                <a:solidFill>
                  <a:srgbClr val="2E2E2E"/>
                </a:solidFill>
                <a:latin typeface="Calibri"/>
              </a:rPr>
              <a:t/>
            </a:r>
          </a:p>
        </p:txBody>
      </p:sp>
      <p:sp>
        <p:nvSpPr>
          <p:cNvPr id="41" name="Rounded Rectangle 40"/>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B2E4A"/>
                </a:solidFill>
                <a:latin typeface="Calibri"/>
              </a:rPr>
              <a:t>Sub-Segment Insights</a:t>
            </a:r>
          </a:p>
        </p:txBody>
      </p:sp>
      <p:sp>
        <p:nvSpPr>
          <p:cNvPr id="43" name="Rectangle 42"/>
          <p:cNvSpPr/>
          <p:nvPr/>
        </p:nvSpPr>
        <p:spPr>
          <a:xfrm>
            <a:off x="3810000" y="4146897"/>
            <a:ext cx="4210050" cy="18254"/>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B2E4A"/>
                </a:solidFill>
                <a:latin typeface="Calibri"/>
              </a:rPr>
              <a:t/>
            </a:r>
            <a:r>
              <a:rPr sz="1100" b="1">
                <a:solidFill>
                  <a:srgbClr val="0B2E4A"/>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1">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08189"/>
                </a:solidFill>
                <a:latin typeface="Calibri"/>
              </a:rPr>
              <a:t/>
            </a:r>
            <a:r>
              <a:rPr sz="1100" b="1">
                <a:solidFill>
                  <a:srgbClr val="008189"/>
                </a:solidFill>
                <a:latin typeface="Calibri"/>
              </a:rPr>
              <a:t/>
            </a:r>
            <a:r>
              <a:rPr sz="1100" b="0">
                <a:solidFill>
                  <a:srgbClr val="2E2E2E"/>
                </a:solidFill>
                <a:latin typeface="Calibri"/>
              </a:rPr>
              <a:t/>
            </a:r>
          </a:p>
        </p:txBody>
      </p:sp>
      <p:sp>
        <p:nvSpPr>
          <p:cNvPr id="45" name="Rounded Rectangle 44"/>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B2E4A"/>
                </a:solidFill>
                <a:latin typeface="Calibri"/>
              </a:rPr>
              <a:t>Segment Overview</a:t>
            </a:r>
          </a:p>
        </p:txBody>
      </p:sp>
      <p:sp>
        <p:nvSpPr>
          <p:cNvPr id="47" name="Rectangle 46"/>
          <p:cNvSpPr/>
          <p:nvPr/>
        </p:nvSpPr>
        <p:spPr>
          <a:xfrm>
            <a:off x="8401050" y="4146897"/>
            <a:ext cx="3333750" cy="18254"/>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00ACAC"/>
                </a:solidFill>
                <a:latin typeface="Calibri"/>
              </a:rPr>
              <a:t>✓  </a:t>
            </a:r>
            <a:r>
              <a:rPr sz="1100" b="0">
                <a:solidFill>
                  <a:srgbClr val="2E2E2E"/>
                </a:solidFill>
                <a:latin typeface="Calibri"/>
              </a:rPr>
              <a:t>The Product Type split shows how demand is distributed across product type types and where growth concentrates.</a:t>
            </a:r>
          </a:p>
          <a:p>
            <a:pPr algn="l">
              <a:lnSpc>
                <a:spcPct val="110000"/>
              </a:lnSpc>
              <a:spcBef>
                <a:spcPts val="0"/>
              </a:spcBef>
              <a:spcAft>
                <a:spcPts val="500"/>
              </a:spcAft>
            </a:pPr>
            <a:r>
              <a:rPr sz="1100" b="1">
                <a:solidFill>
                  <a:srgbClr val="00ACAC"/>
                </a:solidFill>
                <a:latin typeface="Calibri"/>
              </a:rPr>
              <a:t>✓  </a:t>
            </a:r>
            <a:r>
              <a:rPr sz="1100" b="0">
                <a:solidFill>
                  <a:srgbClr val="2E2E2E"/>
                </a:solidFill>
                <a:latin typeface="Calibri"/>
              </a:rPr>
              <a:t>Shifting preferences and product innovation are reshaping the mix through 2036.</a:t>
            </a:r>
          </a:p>
        </p:txBody>
      </p:sp>
      <p:sp>
        <p:nvSpPr>
          <p:cNvPr id="49" name="Rectangle 48"/>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B2E4A"/>
                </a:solidFill>
                <a:latin typeface="Calibri"/>
              </a:rPr>
              <a:t/>
            </a:r>
          </a:p>
        </p:txBody>
      </p:sp>
      <p:sp>
        <p:nvSpPr>
          <p:cNvPr id="51" name="TextBox 50"/>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TMR Analysis, 2026</a:t>
            </a:r>
          </a:p>
        </p:txBody>
      </p:sp>
      <p:sp>
        <p:nvSpPr>
          <p:cNvPr id="52" name="Rectangle 51"/>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54" name="Picture 53" descr="4_281_605E5C.png"/>
          <p:cNvPicPr>
            <a:picLocks noChangeAspect="1"/>
          </p:cNvPicPr>
          <p:nvPr/>
        </p:nvPicPr>
        <p:blipFill>
          <a:blip r:embed="rId4"/>
          <a:stretch>
            <a:fillRect/>
          </a:stretch>
        </p:blipFill>
        <p:spPr>
          <a:xfrm>
            <a:off x="2897811" y="2286582"/>
            <a:ext cx="1195728" cy="361950"/>
          </a:xfrm>
          <a:prstGeom prst="rect">
            <a:avLst/>
          </a:prstGeom>
        </p:spPr>
      </p:pic>
      <p:pic>
        <p:nvPicPr>
          <p:cNvPr id="55" name="Picture 54" descr="6_317_605E5C.png"/>
          <p:cNvPicPr>
            <a:picLocks noChangeAspect="1"/>
          </p:cNvPicPr>
          <p:nvPr/>
        </p:nvPicPr>
        <p:blipFill>
          <a:blip r:embed="rId5"/>
          <a:stretch>
            <a:fillRect/>
          </a:stretch>
        </p:blipFill>
        <p:spPr>
          <a:xfrm>
            <a:off x="2897811" y="2779432"/>
            <a:ext cx="1195728" cy="361950"/>
          </a:xfrm>
          <a:prstGeom prst="rect">
            <a:avLst/>
          </a:prstGeom>
        </p:spPr>
      </p:pic>
      <p:pic>
        <p:nvPicPr>
          <p:cNvPr id="56" name="Picture 55" descr="4_0__605E5C.png"/>
          <p:cNvPicPr>
            <a:picLocks noChangeAspect="1"/>
          </p:cNvPicPr>
          <p:nvPr/>
        </p:nvPicPr>
        <p:blipFill>
          <a:blip r:embed="rId6"/>
          <a:stretch>
            <a:fillRect/>
          </a:stretch>
        </p:blipFill>
        <p:spPr>
          <a:xfrm>
            <a:off x="3004457" y="3272281"/>
            <a:ext cx="982436" cy="361950"/>
          </a:xfrm>
          <a:prstGeom prst="rect">
            <a:avLst/>
          </a:prstGeom>
        </p:spPr>
      </p:pic>
      <p:pic>
        <p:nvPicPr>
          <p:cNvPr id="57" name="Picture 56" descr="4_199_605E5C.png"/>
          <p:cNvPicPr>
            <a:picLocks noChangeAspect="1"/>
          </p:cNvPicPr>
          <p:nvPr/>
        </p:nvPicPr>
        <p:blipFill>
          <a:blip r:embed="rId7"/>
          <a:stretch>
            <a:fillRect/>
          </a:stretch>
        </p:blipFill>
        <p:spPr>
          <a:xfrm>
            <a:off x="6269661" y="2286582"/>
            <a:ext cx="1195728" cy="361950"/>
          </a:xfrm>
          <a:prstGeom prst="rect">
            <a:avLst/>
          </a:prstGeom>
        </p:spPr>
      </p:pic>
      <p:pic>
        <p:nvPicPr>
          <p:cNvPr id="58" name="Picture 57" descr="7_126_605E5C.png"/>
          <p:cNvPicPr>
            <a:picLocks noChangeAspect="1"/>
          </p:cNvPicPr>
          <p:nvPr/>
        </p:nvPicPr>
        <p:blipFill>
          <a:blip r:embed="rId8"/>
          <a:stretch>
            <a:fillRect/>
          </a:stretch>
        </p:blipFill>
        <p:spPr>
          <a:xfrm>
            <a:off x="6269661" y="2779432"/>
            <a:ext cx="1195728" cy="361950"/>
          </a:xfrm>
          <a:prstGeom prst="rect">
            <a:avLst/>
          </a:prstGeom>
        </p:spPr>
      </p:pic>
      <p:pic>
        <p:nvPicPr>
          <p:cNvPr id="59" name="Picture 58" descr="5_4__605E5C.png"/>
          <p:cNvPicPr>
            <a:picLocks noChangeAspect="1"/>
          </p:cNvPicPr>
          <p:nvPr/>
        </p:nvPicPr>
        <p:blipFill>
          <a:blip r:embed="rId9"/>
          <a:stretch>
            <a:fillRect/>
          </a:stretch>
        </p:blipFill>
        <p:spPr>
          <a:xfrm>
            <a:off x="6376307" y="3272281"/>
            <a:ext cx="982436" cy="361950"/>
          </a:xfrm>
          <a:prstGeom prst="rect">
            <a:avLst/>
          </a:prstGeom>
        </p:spPr>
      </p:pic>
      <p:pic>
        <p:nvPicPr>
          <p:cNvPr id="60" name="Picture 59" descr="2_420_605E5C.png"/>
          <p:cNvPicPr>
            <a:picLocks noChangeAspect="1"/>
          </p:cNvPicPr>
          <p:nvPr/>
        </p:nvPicPr>
        <p:blipFill>
          <a:blip r:embed="rId10"/>
          <a:stretch>
            <a:fillRect/>
          </a:stretch>
        </p:blipFill>
        <p:spPr>
          <a:xfrm>
            <a:off x="9641511" y="2286582"/>
            <a:ext cx="1195728" cy="361950"/>
          </a:xfrm>
          <a:prstGeom prst="rect">
            <a:avLst/>
          </a:prstGeom>
        </p:spPr>
      </p:pic>
      <p:pic>
        <p:nvPicPr>
          <p:cNvPr id="61" name="Picture 60" descr="4_236_605E5C.png"/>
          <p:cNvPicPr>
            <a:picLocks noChangeAspect="1"/>
          </p:cNvPicPr>
          <p:nvPr/>
        </p:nvPicPr>
        <p:blipFill>
          <a:blip r:embed="rId11"/>
          <a:stretch>
            <a:fillRect/>
          </a:stretch>
        </p:blipFill>
        <p:spPr>
          <a:xfrm>
            <a:off x="9641511" y="2779432"/>
            <a:ext cx="1195728" cy="361950"/>
          </a:xfrm>
          <a:prstGeom prst="rect">
            <a:avLst/>
          </a:prstGeom>
        </p:spPr>
      </p:pic>
      <p:pic>
        <p:nvPicPr>
          <p:cNvPr id="62" name="Picture 61" descr="5_8__605E5C.png"/>
          <p:cNvPicPr>
            <a:picLocks noChangeAspect="1"/>
          </p:cNvPicPr>
          <p:nvPr/>
        </p:nvPicPr>
        <p:blipFill>
          <a:blip r:embed="rId12"/>
          <a:stretch>
            <a:fillRect/>
          </a:stretch>
        </p:blipFill>
        <p:spPr>
          <a:xfrm>
            <a:off x="9748157" y="3272281"/>
            <a:ext cx="982436" cy="361950"/>
          </a:xfrm>
          <a:prstGeom prst="rect">
            <a:avLst/>
          </a:prstGeom>
        </p:spPr>
      </p:pic>
      <p:pic>
        <p:nvPicPr>
          <p:cNvPr id="63" name="Picture 62" descr="lock.png"/>
          <p:cNvPicPr>
            <a:picLocks noChangeAspect="1"/>
          </p:cNvPicPr>
          <p:nvPr/>
        </p:nvPicPr>
        <p:blipFill>
          <a:blip r:embed="rId13"/>
          <a:stretch>
            <a:fillRect/>
          </a:stretch>
        </p:blipFill>
        <p:spPr>
          <a:xfrm>
            <a:off x="3402330" y="2827057"/>
            <a:ext cx="183356" cy="266700"/>
          </a:xfrm>
          <a:prstGeom prst="rect">
            <a:avLst/>
          </a:prstGeom>
        </p:spPr>
      </p:pic>
      <p:pic>
        <p:nvPicPr>
          <p:cNvPr id="64" name="Picture 63" descr="lock.png"/>
          <p:cNvPicPr>
            <a:picLocks noChangeAspect="1"/>
          </p:cNvPicPr>
          <p:nvPr/>
        </p:nvPicPr>
        <p:blipFill>
          <a:blip r:embed="rId13"/>
          <a:stretch>
            <a:fillRect/>
          </a:stretch>
        </p:blipFill>
        <p:spPr>
          <a:xfrm>
            <a:off x="6774180" y="2827057"/>
            <a:ext cx="183356" cy="266700"/>
          </a:xfrm>
          <a:prstGeom prst="rect">
            <a:avLst/>
          </a:prstGeom>
        </p:spPr>
      </p:pic>
      <p:pic>
        <p:nvPicPr>
          <p:cNvPr id="65" name="Picture 64" descr="lock.png"/>
          <p:cNvPicPr>
            <a:picLocks noChangeAspect="1"/>
          </p:cNvPicPr>
          <p:nvPr/>
        </p:nvPicPr>
        <p:blipFill>
          <a:blip r:embed="rId13"/>
          <a:stretch>
            <a:fillRect/>
          </a:stretch>
        </p:blipFill>
        <p:spPr>
          <a:xfrm>
            <a:off x="10146030" y="2827057"/>
            <a:ext cx="183356" cy="266700"/>
          </a:xfrm>
          <a:prstGeom prst="rect">
            <a:avLst/>
          </a:prstGeom>
        </p:spPr>
      </p:pic>
      <p:sp>
        <p:nvSpPr>
          <p:cNvPr id="66" name="TextBox 65"/>
          <p:cNvSpPr txBox="1"/>
          <p:nvPr/>
        </p:nvSpPr>
        <p:spPr>
          <a:xfrm>
            <a:off x="485775" y="4229437"/>
            <a:ext cx="2680382" cy="179984"/>
          </a:xfrm>
          <a:prstGeom prst="rect">
            <a:avLst/>
          </a:prstGeom>
          <a:noFill/>
        </p:spPr>
        <p:txBody>
          <a:bodyPr wrap="none" lIns="0" rIns="0" tIns="0" bIns="0">
            <a:spAutoFit/>
          </a:bodyPr>
          <a:lstStyle/>
          <a:p>
            <a:r>
              <a:rPr sz="1055" b="0">
                <a:solidFill>
                  <a:srgbClr val="2E2E2E"/>
                </a:solidFill>
                <a:latin typeface="Calibri"/>
              </a:rPr>
              <a:t>Among egg protein membrane by product type,</a:t>
            </a:r>
          </a:p>
        </p:txBody>
      </p:sp>
      <p:sp>
        <p:nvSpPr>
          <p:cNvPr id="67" name="TextBox 66"/>
          <p:cNvSpPr txBox="1"/>
          <p:nvPr/>
        </p:nvSpPr>
        <p:spPr>
          <a:xfrm>
            <a:off x="485775" y="4390371"/>
            <a:ext cx="2914650" cy="179984"/>
          </a:xfrm>
          <a:prstGeom prst="rect">
            <a:avLst/>
          </a:prstGeom>
          <a:noFill/>
        </p:spPr>
        <p:txBody>
          <a:bodyPr wrap="none" lIns="0" rIns="0" tIns="0" bIns="0">
            <a:spAutoFit/>
          </a:bodyPr>
          <a:lstStyle/>
          <a:p>
            <a:r>
              <a:rPr sz="1055" b="0">
                <a:solidFill>
                  <a:srgbClr val="2E2E2E"/>
                </a:solidFill>
                <a:latin typeface="Calibri"/>
              </a:rPr>
              <a:t>hydrolyzed eggshell membrane segment is expected</a:t>
            </a:r>
          </a:p>
        </p:txBody>
      </p:sp>
      <p:sp>
        <p:nvSpPr>
          <p:cNvPr id="68" name="TextBox 67"/>
          <p:cNvSpPr txBox="1"/>
          <p:nvPr/>
        </p:nvSpPr>
        <p:spPr>
          <a:xfrm>
            <a:off x="485775" y="4551305"/>
            <a:ext cx="1757298" cy="179984"/>
          </a:xfrm>
          <a:prstGeom prst="rect">
            <a:avLst/>
          </a:prstGeom>
          <a:noFill/>
        </p:spPr>
        <p:txBody>
          <a:bodyPr wrap="none" lIns="0" rIns="0" tIns="0" bIns="0">
            <a:spAutoFit/>
          </a:bodyPr>
          <a:lstStyle/>
          <a:p>
            <a:r>
              <a:rPr sz="1055" b="0">
                <a:solidFill>
                  <a:srgbClr val="2E2E2E"/>
                </a:solidFill>
                <a:latin typeface="Calibri"/>
              </a:rPr>
              <a:t>to witness the highest CAGR of</a:t>
            </a:r>
          </a:p>
        </p:txBody>
      </p:sp>
      <p:pic>
        <p:nvPicPr>
          <p:cNvPr id="69" name="Picture 68" descr="lock.png"/>
          <p:cNvPicPr>
            <a:picLocks noChangeAspect="1"/>
          </p:cNvPicPr>
          <p:nvPr/>
        </p:nvPicPr>
        <p:blipFill>
          <a:blip r:embed="rId13"/>
          <a:stretch>
            <a:fillRect/>
          </a:stretch>
        </p:blipFill>
        <p:spPr>
          <a:xfrm>
            <a:off x="2190155" y="4541917"/>
            <a:ext cx="123551" cy="179710"/>
          </a:xfrm>
          <a:prstGeom prst="rect">
            <a:avLst/>
          </a:prstGeom>
        </p:spPr>
      </p:pic>
      <p:sp>
        <p:nvSpPr>
          <p:cNvPr id="70" name="TextBox 69"/>
          <p:cNvSpPr txBox="1"/>
          <p:nvPr/>
        </p:nvSpPr>
        <p:spPr>
          <a:xfrm>
            <a:off x="2350951" y="4551305"/>
            <a:ext cx="1007911" cy="179984"/>
          </a:xfrm>
          <a:prstGeom prst="rect">
            <a:avLst/>
          </a:prstGeom>
          <a:noFill/>
        </p:spPr>
        <p:txBody>
          <a:bodyPr wrap="none" lIns="0" rIns="0" tIns="0" bIns="0">
            <a:spAutoFit/>
          </a:bodyPr>
          <a:lstStyle/>
          <a:p>
            <a:r>
              <a:rPr sz="1055" b="0">
                <a:solidFill>
                  <a:srgbClr val="2E2E2E"/>
                </a:solidFill>
                <a:latin typeface="Calibri"/>
              </a:rPr>
              <a:t>over the forecast</a:t>
            </a:r>
          </a:p>
        </p:txBody>
      </p:sp>
      <p:sp>
        <p:nvSpPr>
          <p:cNvPr id="71" name="TextBox 70"/>
          <p:cNvSpPr txBox="1"/>
          <p:nvPr/>
        </p:nvSpPr>
        <p:spPr>
          <a:xfrm>
            <a:off x="485775" y="4712240"/>
            <a:ext cx="2888360" cy="179984"/>
          </a:xfrm>
          <a:prstGeom prst="rect">
            <a:avLst/>
          </a:prstGeom>
          <a:noFill/>
        </p:spPr>
        <p:txBody>
          <a:bodyPr wrap="none" lIns="0" rIns="0" tIns="0" bIns="0">
            <a:spAutoFit/>
          </a:bodyPr>
          <a:lstStyle/>
          <a:p>
            <a:r>
              <a:rPr sz="1055" b="0">
                <a:solidFill>
                  <a:srgbClr val="2E2E2E"/>
                </a:solidFill>
                <a:latin typeface="Calibri"/>
              </a:rPr>
              <a:t>period. In terms of value share by product type, the</a:t>
            </a:r>
          </a:p>
        </p:txBody>
      </p:sp>
      <p:sp>
        <p:nvSpPr>
          <p:cNvPr id="72" name="TextBox 71"/>
          <p:cNvSpPr txBox="1"/>
          <p:nvPr/>
        </p:nvSpPr>
        <p:spPr>
          <a:xfrm>
            <a:off x="485775" y="4873174"/>
            <a:ext cx="2914650" cy="179984"/>
          </a:xfrm>
          <a:prstGeom prst="rect">
            <a:avLst/>
          </a:prstGeom>
          <a:noFill/>
        </p:spPr>
        <p:txBody>
          <a:bodyPr wrap="none" lIns="0" rIns="0" tIns="0" bIns="0">
            <a:spAutoFit/>
          </a:bodyPr>
          <a:lstStyle/>
          <a:p>
            <a:r>
              <a:rPr sz="1055" b="0">
                <a:solidFill>
                  <a:srgbClr val="2E2E2E"/>
                </a:solidFill>
                <a:latin typeface="Calibri"/>
              </a:rPr>
              <a:t>micronized eggshell membrane segment is expected</a:t>
            </a:r>
          </a:p>
        </p:txBody>
      </p:sp>
      <p:sp>
        <p:nvSpPr>
          <p:cNvPr id="73" name="TextBox 72"/>
          <p:cNvSpPr txBox="1"/>
          <p:nvPr/>
        </p:nvSpPr>
        <p:spPr>
          <a:xfrm>
            <a:off x="485775" y="5034109"/>
            <a:ext cx="1839301" cy="179984"/>
          </a:xfrm>
          <a:prstGeom prst="rect">
            <a:avLst/>
          </a:prstGeom>
          <a:noFill/>
        </p:spPr>
        <p:txBody>
          <a:bodyPr wrap="none" lIns="0" rIns="0" tIns="0" bIns="0">
            <a:spAutoFit/>
          </a:bodyPr>
          <a:lstStyle/>
          <a:p>
            <a:r>
              <a:rPr sz="1055" b="0">
                <a:solidFill>
                  <a:srgbClr val="2E2E2E"/>
                </a:solidFill>
                <a:latin typeface="Calibri"/>
              </a:rPr>
              <a:t>to dominate the market, gaining</a:t>
            </a:r>
          </a:p>
        </p:txBody>
      </p:sp>
      <p:pic>
        <p:nvPicPr>
          <p:cNvPr id="74" name="Picture 73" descr="lock.png"/>
          <p:cNvPicPr>
            <a:picLocks noChangeAspect="1"/>
          </p:cNvPicPr>
          <p:nvPr/>
        </p:nvPicPr>
        <p:blipFill>
          <a:blip r:embed="rId13"/>
          <a:stretch>
            <a:fillRect/>
          </a:stretch>
        </p:blipFill>
        <p:spPr>
          <a:xfrm>
            <a:off x="2272157" y="5024721"/>
            <a:ext cx="123551" cy="179710"/>
          </a:xfrm>
          <a:prstGeom prst="rect">
            <a:avLst/>
          </a:prstGeom>
        </p:spPr>
      </p:pic>
      <p:sp>
        <p:nvSpPr>
          <p:cNvPr id="75" name="TextBox 74"/>
          <p:cNvSpPr txBox="1"/>
          <p:nvPr/>
        </p:nvSpPr>
        <p:spPr>
          <a:xfrm>
            <a:off x="2432953" y="5034109"/>
            <a:ext cx="515731" cy="179984"/>
          </a:xfrm>
          <a:prstGeom prst="rect">
            <a:avLst/>
          </a:prstGeom>
          <a:noFill/>
        </p:spPr>
        <p:txBody>
          <a:bodyPr wrap="none" lIns="0" rIns="0" tIns="0" bIns="0">
            <a:spAutoFit/>
          </a:bodyPr>
          <a:lstStyle/>
          <a:p>
            <a:r>
              <a:rPr sz="1055" b="0">
                <a:solidFill>
                  <a:srgbClr val="2E2E2E"/>
                </a:solidFill>
                <a:latin typeface="Calibri"/>
              </a:rPr>
              <a:t>BPS and</a:t>
            </a:r>
          </a:p>
        </p:txBody>
      </p:sp>
      <p:sp>
        <p:nvSpPr>
          <p:cNvPr id="76" name="TextBox 75"/>
          <p:cNvSpPr txBox="1"/>
          <p:nvPr/>
        </p:nvSpPr>
        <p:spPr>
          <a:xfrm>
            <a:off x="485775" y="5195043"/>
            <a:ext cx="864107" cy="179984"/>
          </a:xfrm>
          <a:prstGeom prst="rect">
            <a:avLst/>
          </a:prstGeom>
          <a:noFill/>
        </p:spPr>
        <p:txBody>
          <a:bodyPr wrap="none" lIns="0" rIns="0" tIns="0" bIns="0">
            <a:spAutoFit/>
          </a:bodyPr>
          <a:lstStyle/>
          <a:p>
            <a:r>
              <a:rPr sz="1055" b="0">
                <a:solidFill>
                  <a:srgbClr val="2E2E2E"/>
                </a:solidFill>
                <a:latin typeface="Calibri"/>
              </a:rPr>
              <a:t>accounting for</a:t>
            </a:r>
          </a:p>
        </p:txBody>
      </p:sp>
      <p:pic>
        <p:nvPicPr>
          <p:cNvPr id="77" name="Picture 76" descr="lock.png"/>
          <p:cNvPicPr>
            <a:picLocks noChangeAspect="1"/>
          </p:cNvPicPr>
          <p:nvPr/>
        </p:nvPicPr>
        <p:blipFill>
          <a:blip r:embed="rId13"/>
          <a:stretch>
            <a:fillRect/>
          </a:stretch>
        </p:blipFill>
        <p:spPr>
          <a:xfrm>
            <a:off x="1296964" y="5185655"/>
            <a:ext cx="123551" cy="179710"/>
          </a:xfrm>
          <a:prstGeom prst="rect">
            <a:avLst/>
          </a:prstGeom>
        </p:spPr>
      </p:pic>
      <p:sp>
        <p:nvSpPr>
          <p:cNvPr id="78" name="TextBox 77"/>
          <p:cNvSpPr txBox="1"/>
          <p:nvPr/>
        </p:nvSpPr>
        <p:spPr>
          <a:xfrm>
            <a:off x="1457760" y="5195043"/>
            <a:ext cx="875109" cy="179984"/>
          </a:xfrm>
          <a:prstGeom prst="rect">
            <a:avLst/>
          </a:prstGeom>
          <a:noFill/>
        </p:spPr>
        <p:txBody>
          <a:bodyPr wrap="none" lIns="0" rIns="0" tIns="0" bIns="0">
            <a:spAutoFit/>
          </a:bodyPr>
          <a:lstStyle/>
          <a:p>
            <a:r>
              <a:rPr sz="1055" b="0">
                <a:solidFill>
                  <a:srgbClr val="2E2E2E"/>
                </a:solidFill>
                <a:latin typeface="Calibri"/>
              </a:rPr>
              <a:t>share by 2036.</a:t>
            </a:r>
          </a:p>
        </p:txBody>
      </p:sp>
      <p:sp>
        <p:nvSpPr>
          <p:cNvPr id="79" name="TextBox 78"/>
          <p:cNvSpPr txBox="1"/>
          <p:nvPr/>
        </p:nvSpPr>
        <p:spPr>
          <a:xfrm>
            <a:off x="485775" y="5404258"/>
            <a:ext cx="2914650" cy="179984"/>
          </a:xfrm>
          <a:prstGeom prst="rect">
            <a:avLst/>
          </a:prstGeom>
          <a:noFill/>
        </p:spPr>
        <p:txBody>
          <a:bodyPr wrap="none" lIns="0" rIns="0" tIns="0" bIns="0">
            <a:spAutoFit/>
          </a:bodyPr>
          <a:lstStyle/>
          <a:p>
            <a:r>
              <a:rPr sz="1055" b="0">
                <a:solidFill>
                  <a:srgbClr val="2E2E2E"/>
                </a:solidFill>
                <a:latin typeface="Calibri"/>
              </a:rPr>
              <a:t>Micronized eggshell membrane segment is projected</a:t>
            </a:r>
          </a:p>
        </p:txBody>
      </p:sp>
      <p:sp>
        <p:nvSpPr>
          <p:cNvPr id="80" name="TextBox 79"/>
          <p:cNvSpPr txBox="1"/>
          <p:nvPr/>
        </p:nvSpPr>
        <p:spPr>
          <a:xfrm>
            <a:off x="485775" y="5565192"/>
            <a:ext cx="641199" cy="179984"/>
          </a:xfrm>
          <a:prstGeom prst="rect">
            <a:avLst/>
          </a:prstGeom>
          <a:noFill/>
        </p:spPr>
        <p:txBody>
          <a:bodyPr wrap="none" lIns="0" rIns="0" tIns="0" bIns="0">
            <a:spAutoFit/>
          </a:bodyPr>
          <a:lstStyle/>
          <a:p>
            <a:r>
              <a:rPr sz="1055" b="0">
                <a:solidFill>
                  <a:srgbClr val="2E2E2E"/>
                </a:solidFill>
                <a:latin typeface="Calibri"/>
              </a:rPr>
              <a:t>to register</a:t>
            </a:r>
          </a:p>
        </p:txBody>
      </p:sp>
      <p:pic>
        <p:nvPicPr>
          <p:cNvPr id="81" name="Picture 80" descr="lock.png"/>
          <p:cNvPicPr>
            <a:picLocks noChangeAspect="1"/>
          </p:cNvPicPr>
          <p:nvPr/>
        </p:nvPicPr>
        <p:blipFill>
          <a:blip r:embed="rId13"/>
          <a:stretch>
            <a:fillRect/>
          </a:stretch>
        </p:blipFill>
        <p:spPr>
          <a:xfrm>
            <a:off x="1074055" y="5555804"/>
            <a:ext cx="123551" cy="179710"/>
          </a:xfrm>
          <a:prstGeom prst="rect">
            <a:avLst/>
          </a:prstGeom>
        </p:spPr>
      </p:pic>
      <p:sp>
        <p:nvSpPr>
          <p:cNvPr id="82" name="TextBox 81"/>
          <p:cNvSpPr txBox="1"/>
          <p:nvPr/>
        </p:nvSpPr>
        <p:spPr>
          <a:xfrm>
            <a:off x="1234851" y="5565192"/>
            <a:ext cx="1637347" cy="179984"/>
          </a:xfrm>
          <a:prstGeom prst="rect">
            <a:avLst/>
          </a:prstGeom>
          <a:noFill/>
        </p:spPr>
        <p:txBody>
          <a:bodyPr wrap="none" lIns="0" rIns="0" tIns="0" bIns="0">
            <a:spAutoFit/>
          </a:bodyPr>
          <a:lstStyle/>
          <a:p>
            <a:r>
              <a:rPr sz="1055" b="0">
                <a:solidFill>
                  <a:srgbClr val="2E2E2E"/>
                </a:solidFill>
                <a:latin typeface="Calibri"/>
              </a:rPr>
              <a:t>X higher value than specialty</a:t>
            </a:r>
          </a:p>
        </p:txBody>
      </p:sp>
      <p:sp>
        <p:nvSpPr>
          <p:cNvPr id="83" name="TextBox 82"/>
          <p:cNvSpPr txBox="1"/>
          <p:nvPr/>
        </p:nvSpPr>
        <p:spPr>
          <a:xfrm>
            <a:off x="485775" y="5726126"/>
            <a:ext cx="2507241" cy="179984"/>
          </a:xfrm>
          <a:prstGeom prst="rect">
            <a:avLst/>
          </a:prstGeom>
          <a:noFill/>
        </p:spPr>
        <p:txBody>
          <a:bodyPr wrap="none" lIns="0" rIns="0" tIns="0" bIns="0">
            <a:spAutoFit/>
          </a:bodyPr>
          <a:lstStyle/>
          <a:p>
            <a:r>
              <a:rPr sz="1055" b="0">
                <a:solidFill>
                  <a:srgbClr val="2E2E2E"/>
                </a:solidFill>
                <a:latin typeface="Calibri"/>
              </a:rPr>
              <a:t>extracted protein fractions segment in 2036.</a:t>
            </a:r>
          </a:p>
        </p:txBody>
      </p:sp>
      <p:sp>
        <p:nvSpPr>
          <p:cNvPr id="84" name="TextBox 83"/>
          <p:cNvSpPr txBox="1"/>
          <p:nvPr/>
        </p:nvSpPr>
        <p:spPr>
          <a:xfrm>
            <a:off x="3838575" y="4229437"/>
            <a:ext cx="2309490" cy="186689"/>
          </a:xfrm>
          <a:prstGeom prst="rect">
            <a:avLst/>
          </a:prstGeom>
          <a:noFill/>
        </p:spPr>
        <p:txBody>
          <a:bodyPr wrap="none" lIns="0" rIns="0" tIns="0" bIns="0">
            <a:spAutoFit/>
          </a:bodyPr>
          <a:lstStyle/>
          <a:p>
            <a:r>
              <a:rPr sz="1100" b="0">
                <a:solidFill>
                  <a:srgbClr val="2E2E2E"/>
                </a:solidFill>
                <a:latin typeface="Calibri"/>
              </a:rPr>
              <a:t>● Specialty Extracted Protein Fractions:</a:t>
            </a:r>
          </a:p>
        </p:txBody>
      </p:sp>
      <p:pic>
        <p:nvPicPr>
          <p:cNvPr id="85" name="Picture 84" descr="lock.png"/>
          <p:cNvPicPr>
            <a:picLocks noChangeAspect="1"/>
          </p:cNvPicPr>
          <p:nvPr/>
        </p:nvPicPr>
        <p:blipFill>
          <a:blip r:embed="rId13"/>
          <a:stretch>
            <a:fillRect/>
          </a:stretch>
        </p:blipFill>
        <p:spPr>
          <a:xfrm>
            <a:off x="6096116" y="4219658"/>
            <a:ext cx="128699" cy="187198"/>
          </a:xfrm>
          <a:prstGeom prst="rect">
            <a:avLst/>
          </a:prstGeom>
        </p:spPr>
      </p:pic>
      <p:sp>
        <p:nvSpPr>
          <p:cNvPr id="86" name="TextBox 85"/>
          <p:cNvSpPr txBox="1"/>
          <p:nvPr/>
        </p:nvSpPr>
        <p:spPr>
          <a:xfrm>
            <a:off x="6263612" y="422943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87" name="Picture 86" descr="lock.png"/>
          <p:cNvPicPr>
            <a:picLocks noChangeAspect="1"/>
          </p:cNvPicPr>
          <p:nvPr/>
        </p:nvPicPr>
        <p:blipFill>
          <a:blip r:embed="rId13"/>
          <a:stretch>
            <a:fillRect/>
          </a:stretch>
        </p:blipFill>
        <p:spPr>
          <a:xfrm>
            <a:off x="7123062" y="4219658"/>
            <a:ext cx="128699" cy="187198"/>
          </a:xfrm>
          <a:prstGeom prst="rect">
            <a:avLst/>
          </a:prstGeom>
        </p:spPr>
      </p:pic>
      <p:sp>
        <p:nvSpPr>
          <p:cNvPr id="88" name="TextBox 87"/>
          <p:cNvSpPr txBox="1"/>
          <p:nvPr/>
        </p:nvSpPr>
        <p:spPr>
          <a:xfrm>
            <a:off x="7290558" y="4229437"/>
            <a:ext cx="395419" cy="186689"/>
          </a:xfrm>
          <a:prstGeom prst="rect">
            <a:avLst/>
          </a:prstGeom>
          <a:noFill/>
        </p:spPr>
        <p:txBody>
          <a:bodyPr wrap="none" lIns="0" rIns="0" tIns="0" bIns="0">
            <a:spAutoFit/>
          </a:bodyPr>
          <a:lstStyle/>
          <a:p>
            <a:r>
              <a:rPr sz="1100" b="0">
                <a:solidFill>
                  <a:srgbClr val="2E2E2E"/>
                </a:solidFill>
                <a:latin typeface="Calibri"/>
              </a:rPr>
              <a:t>CAGR</a:t>
            </a:r>
          </a:p>
        </p:txBody>
      </p:sp>
      <p:sp>
        <p:nvSpPr>
          <p:cNvPr id="89" name="TextBox 88"/>
          <p:cNvSpPr txBox="1"/>
          <p:nvPr/>
        </p:nvSpPr>
        <p:spPr>
          <a:xfrm>
            <a:off x="3838575" y="4397077"/>
            <a:ext cx="1152599" cy="186689"/>
          </a:xfrm>
          <a:prstGeom prst="rect">
            <a:avLst/>
          </a:prstGeom>
          <a:noFill/>
        </p:spPr>
        <p:txBody>
          <a:bodyPr wrap="none" lIns="0" rIns="0" tIns="0" bIns="0">
            <a:spAutoFit/>
          </a:bodyPr>
          <a:lstStyle/>
          <a:p>
            <a:r>
              <a:rPr sz="1100" b="0">
                <a:solidFill>
                  <a:srgbClr val="2E2E2E"/>
                </a:solidFill>
                <a:latin typeface="Calibri"/>
              </a:rPr>
              <a:t>leads the segment.</a:t>
            </a:r>
          </a:p>
        </p:txBody>
      </p:sp>
      <p:sp>
        <p:nvSpPr>
          <p:cNvPr id="90" name="TextBox 89"/>
          <p:cNvSpPr txBox="1"/>
          <p:nvPr/>
        </p:nvSpPr>
        <p:spPr>
          <a:xfrm>
            <a:off x="3838575" y="4615009"/>
            <a:ext cx="2024360" cy="186689"/>
          </a:xfrm>
          <a:prstGeom prst="rect">
            <a:avLst/>
          </a:prstGeom>
          <a:noFill/>
        </p:spPr>
        <p:txBody>
          <a:bodyPr wrap="none" lIns="0" rIns="0" tIns="0" bIns="0">
            <a:spAutoFit/>
          </a:bodyPr>
          <a:lstStyle/>
          <a:p>
            <a:r>
              <a:rPr sz="1100" b="0">
                <a:solidFill>
                  <a:srgbClr val="2E2E2E"/>
                </a:solidFill>
                <a:latin typeface="Calibri"/>
              </a:rPr>
              <a:t>● Micronized Eggshell Membrane:</a:t>
            </a:r>
          </a:p>
        </p:txBody>
      </p:sp>
      <p:pic>
        <p:nvPicPr>
          <p:cNvPr id="91" name="Picture 90" descr="lock.png"/>
          <p:cNvPicPr>
            <a:picLocks noChangeAspect="1"/>
          </p:cNvPicPr>
          <p:nvPr/>
        </p:nvPicPr>
        <p:blipFill>
          <a:blip r:embed="rId13"/>
          <a:stretch>
            <a:fillRect/>
          </a:stretch>
        </p:blipFill>
        <p:spPr>
          <a:xfrm>
            <a:off x="5810986" y="4605230"/>
            <a:ext cx="128699" cy="187198"/>
          </a:xfrm>
          <a:prstGeom prst="rect">
            <a:avLst/>
          </a:prstGeom>
        </p:spPr>
      </p:pic>
      <p:sp>
        <p:nvSpPr>
          <p:cNvPr id="92" name="TextBox 91"/>
          <p:cNvSpPr txBox="1"/>
          <p:nvPr/>
        </p:nvSpPr>
        <p:spPr>
          <a:xfrm>
            <a:off x="5978482" y="4615009"/>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93" name="Picture 92" descr="lock.png"/>
          <p:cNvPicPr>
            <a:picLocks noChangeAspect="1"/>
          </p:cNvPicPr>
          <p:nvPr/>
        </p:nvPicPr>
        <p:blipFill>
          <a:blip r:embed="rId13"/>
          <a:stretch>
            <a:fillRect/>
          </a:stretch>
        </p:blipFill>
        <p:spPr>
          <a:xfrm>
            <a:off x="6837932" y="4605230"/>
            <a:ext cx="128699" cy="187198"/>
          </a:xfrm>
          <a:prstGeom prst="rect">
            <a:avLst/>
          </a:prstGeom>
        </p:spPr>
      </p:pic>
      <p:sp>
        <p:nvSpPr>
          <p:cNvPr id="94" name="TextBox 93"/>
          <p:cNvSpPr txBox="1"/>
          <p:nvPr/>
        </p:nvSpPr>
        <p:spPr>
          <a:xfrm>
            <a:off x="7005428" y="4615009"/>
            <a:ext cx="787234" cy="186689"/>
          </a:xfrm>
          <a:prstGeom prst="rect">
            <a:avLst/>
          </a:prstGeom>
          <a:noFill/>
        </p:spPr>
        <p:txBody>
          <a:bodyPr wrap="none" lIns="0" rIns="0" tIns="0" bIns="0">
            <a:spAutoFit/>
          </a:bodyPr>
          <a:lstStyle/>
          <a:p>
            <a:r>
              <a:rPr sz="1100" b="0">
                <a:solidFill>
                  <a:srgbClr val="2E2E2E"/>
                </a:solidFill>
                <a:latin typeface="Calibri"/>
              </a:rPr>
              <a:t>CAGR serves</a:t>
            </a:r>
          </a:p>
        </p:txBody>
      </p:sp>
      <p:sp>
        <p:nvSpPr>
          <p:cNvPr id="95" name="TextBox 94"/>
          <p:cNvSpPr txBox="1"/>
          <p:nvPr/>
        </p:nvSpPr>
        <p:spPr>
          <a:xfrm>
            <a:off x="3838575" y="4782649"/>
            <a:ext cx="517673" cy="186689"/>
          </a:xfrm>
          <a:prstGeom prst="rect">
            <a:avLst/>
          </a:prstGeom>
          <a:noFill/>
        </p:spPr>
        <p:txBody>
          <a:bodyPr wrap="none" lIns="0" rIns="0" tIns="0" bIns="0">
            <a:spAutoFit/>
          </a:bodyPr>
          <a:lstStyle/>
          <a:p>
            <a:r>
              <a:rPr sz="1100" b="0">
                <a:solidFill>
                  <a:srgbClr val="2E2E2E"/>
                </a:solidFill>
                <a:latin typeface="Calibri"/>
              </a:rPr>
              <a:t>a niche.</a:t>
            </a:r>
          </a:p>
        </p:txBody>
      </p:sp>
      <p:sp>
        <p:nvSpPr>
          <p:cNvPr id="96" name="TextBox 95"/>
          <p:cNvSpPr txBox="1"/>
          <p:nvPr/>
        </p:nvSpPr>
        <p:spPr>
          <a:xfrm>
            <a:off x="3838575" y="5000581"/>
            <a:ext cx="2027088" cy="186689"/>
          </a:xfrm>
          <a:prstGeom prst="rect">
            <a:avLst/>
          </a:prstGeom>
          <a:noFill/>
        </p:spPr>
        <p:txBody>
          <a:bodyPr wrap="none" lIns="0" rIns="0" tIns="0" bIns="0">
            <a:spAutoFit/>
          </a:bodyPr>
          <a:lstStyle/>
          <a:p>
            <a:r>
              <a:rPr sz="1100" b="0">
                <a:solidFill>
                  <a:srgbClr val="2E2E2E"/>
                </a:solidFill>
                <a:latin typeface="Calibri"/>
              </a:rPr>
              <a:t>● Hydrolyzed Eggshell Membrane:</a:t>
            </a:r>
          </a:p>
        </p:txBody>
      </p:sp>
      <p:pic>
        <p:nvPicPr>
          <p:cNvPr id="97" name="Picture 96" descr="lock.png"/>
          <p:cNvPicPr>
            <a:picLocks noChangeAspect="1"/>
          </p:cNvPicPr>
          <p:nvPr/>
        </p:nvPicPr>
        <p:blipFill>
          <a:blip r:embed="rId13"/>
          <a:stretch>
            <a:fillRect/>
          </a:stretch>
        </p:blipFill>
        <p:spPr>
          <a:xfrm>
            <a:off x="5813715" y="4990801"/>
            <a:ext cx="128699" cy="187198"/>
          </a:xfrm>
          <a:prstGeom prst="rect">
            <a:avLst/>
          </a:prstGeom>
        </p:spPr>
      </p:pic>
      <p:sp>
        <p:nvSpPr>
          <p:cNvPr id="98" name="TextBox 97"/>
          <p:cNvSpPr txBox="1"/>
          <p:nvPr/>
        </p:nvSpPr>
        <p:spPr>
          <a:xfrm>
            <a:off x="5981211" y="5000581"/>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99" name="Picture 98" descr="lock.png"/>
          <p:cNvPicPr>
            <a:picLocks noChangeAspect="1"/>
          </p:cNvPicPr>
          <p:nvPr/>
        </p:nvPicPr>
        <p:blipFill>
          <a:blip r:embed="rId13"/>
          <a:stretch>
            <a:fillRect/>
          </a:stretch>
        </p:blipFill>
        <p:spPr>
          <a:xfrm>
            <a:off x="6840661" y="4990801"/>
            <a:ext cx="128699" cy="187198"/>
          </a:xfrm>
          <a:prstGeom prst="rect">
            <a:avLst/>
          </a:prstGeom>
        </p:spPr>
      </p:pic>
      <p:sp>
        <p:nvSpPr>
          <p:cNvPr id="100" name="TextBox 99"/>
          <p:cNvSpPr txBox="1"/>
          <p:nvPr/>
        </p:nvSpPr>
        <p:spPr>
          <a:xfrm>
            <a:off x="7008157" y="5000581"/>
            <a:ext cx="769771" cy="186689"/>
          </a:xfrm>
          <a:prstGeom prst="rect">
            <a:avLst/>
          </a:prstGeom>
          <a:noFill/>
        </p:spPr>
        <p:txBody>
          <a:bodyPr wrap="none" lIns="0" rIns="0" tIns="0" bIns="0">
            <a:spAutoFit/>
          </a:bodyPr>
          <a:lstStyle/>
          <a:p>
            <a:r>
              <a:rPr sz="1100" b="0">
                <a:solidFill>
                  <a:srgbClr val="2E2E2E"/>
                </a:solidFill>
                <a:latin typeface="Calibri"/>
              </a:rPr>
              <a:t>CAGR grows</a:t>
            </a:r>
          </a:p>
        </p:txBody>
      </p:sp>
      <p:sp>
        <p:nvSpPr>
          <p:cNvPr id="101" name="TextBox 100"/>
          <p:cNvSpPr txBox="1"/>
          <p:nvPr/>
        </p:nvSpPr>
        <p:spPr>
          <a:xfrm>
            <a:off x="3838575" y="5168221"/>
            <a:ext cx="493390" cy="186689"/>
          </a:xfrm>
          <a:prstGeom prst="rect">
            <a:avLst/>
          </a:prstGeom>
          <a:noFill/>
        </p:spPr>
        <p:txBody>
          <a:bodyPr wrap="none" lIns="0" rIns="0" tIns="0" bIns="0">
            <a:spAutoFit/>
          </a:bodyPr>
          <a:lstStyle/>
          <a:p>
            <a:r>
              <a:rPr sz="1100" b="0">
                <a:solidFill>
                  <a:srgbClr val="2E2E2E"/>
                </a:solidFill>
                <a:latin typeface="Calibri"/>
              </a:rPr>
              <a:t>fastest.</a:t>
            </a:r>
          </a:p>
        </p:txBody>
      </p:sp>
      <p:sp>
        <p:nvSpPr>
          <p:cNvPr id="102" name="TextBox 101"/>
          <p:cNvSpPr txBox="1"/>
          <p:nvPr/>
        </p:nvSpPr>
        <p:spPr>
          <a:xfrm>
            <a:off x="8524875" y="5842641"/>
            <a:ext cx="3162300" cy="194310"/>
          </a:xfrm>
          <a:prstGeom prst="rect">
            <a:avLst/>
          </a:prstGeom>
          <a:noFill/>
        </p:spPr>
        <p:txBody>
          <a:bodyPr wrap="none" lIns="0" rIns="0" tIns="0" bIns="0">
            <a:spAutoFit/>
          </a:bodyPr>
          <a:lstStyle/>
          <a:p>
            <a:r>
              <a:rPr sz="1150" b="1">
                <a:solidFill>
                  <a:srgbClr val="0B2E4A"/>
                </a:solidFill>
                <a:latin typeface="Calibri"/>
              </a:rPr>
              <a:t>The Product Type segment is projected to grow at a</a:t>
            </a:r>
          </a:p>
        </p:txBody>
      </p:sp>
      <p:sp>
        <p:nvSpPr>
          <p:cNvPr id="103" name="TextBox 102"/>
          <p:cNvSpPr txBox="1"/>
          <p:nvPr/>
        </p:nvSpPr>
        <p:spPr>
          <a:xfrm>
            <a:off x="8524875" y="6017901"/>
            <a:ext cx="574797" cy="194310"/>
          </a:xfrm>
          <a:prstGeom prst="rect">
            <a:avLst/>
          </a:prstGeom>
          <a:noFill/>
        </p:spPr>
        <p:txBody>
          <a:bodyPr wrap="none" lIns="0" rIns="0" tIns="0" bIns="0">
            <a:spAutoFit/>
          </a:bodyPr>
          <a:lstStyle/>
          <a:p>
            <a:r>
              <a:rPr sz="1150" b="1">
                <a:solidFill>
                  <a:srgbClr val="0B2E4A"/>
                </a:solidFill>
                <a:latin typeface="Calibri"/>
              </a:rPr>
              <a:t>CAGR of</a:t>
            </a:r>
          </a:p>
        </p:txBody>
      </p:sp>
      <p:pic>
        <p:nvPicPr>
          <p:cNvPr id="104" name="Picture 103" descr="lock.png"/>
          <p:cNvPicPr>
            <a:picLocks noChangeAspect="1"/>
          </p:cNvPicPr>
          <p:nvPr/>
        </p:nvPicPr>
        <p:blipFill>
          <a:blip r:embed="rId13"/>
          <a:stretch>
            <a:fillRect/>
          </a:stretch>
        </p:blipFill>
        <p:spPr>
          <a:xfrm>
            <a:off x="9048826" y="6007677"/>
            <a:ext cx="134549" cy="195707"/>
          </a:xfrm>
          <a:prstGeom prst="rect">
            <a:avLst/>
          </a:prstGeom>
        </p:spPr>
      </p:pic>
      <p:sp>
        <p:nvSpPr>
          <p:cNvPr id="105" name="TextBox 104"/>
          <p:cNvSpPr txBox="1"/>
          <p:nvPr/>
        </p:nvSpPr>
        <p:spPr>
          <a:xfrm>
            <a:off x="9223935" y="6017901"/>
            <a:ext cx="1232619" cy="194310"/>
          </a:xfrm>
          <a:prstGeom prst="rect">
            <a:avLst/>
          </a:prstGeom>
          <a:noFill/>
        </p:spPr>
        <p:txBody>
          <a:bodyPr wrap="none" lIns="0" rIns="0" tIns="0" bIns="0">
            <a:spAutoFit/>
          </a:bodyPr>
          <a:lstStyle/>
          <a:p>
            <a:r>
              <a:rPr sz="1150" b="1">
                <a:solidFill>
                  <a:srgbClr val="0B2E4A"/>
                </a:solidFill>
                <a:latin typeface="Calibri"/>
              </a:rPr>
              <a:t>from 2026 to 2036.</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Structure &amp; Attractiveness, By Product Type (Value)</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Product Type mix within each region and the attractiveness of each sub-segment on growth and size</a:t>
            </a:r>
          </a:p>
        </p:txBody>
      </p:sp>
      <p:sp>
        <p:nvSpPr>
          <p:cNvPr id="7" name="Rounded Rectangle 6"/>
          <p:cNvSpPr/>
          <p:nvPr/>
        </p:nvSpPr>
        <p:spPr>
          <a:xfrm>
            <a:off x="142875" y="981075"/>
            <a:ext cx="6343650" cy="4324350"/>
          </a:xfrm>
          <a:prstGeom prst="roundRect">
            <a:avLst>
              <a:gd name="adj" fmla="val 1762"/>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6153150"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Product Type mix within each region (share of 2036 value) · row label = region size (US$ Mn), largest first</a:t>
            </a:r>
          </a:p>
        </p:txBody>
      </p:sp>
      <p:graphicFrame>
        <p:nvGraphicFramePr>
          <p:cNvPr id="9" name="Chart 8"/>
          <p:cNvGraphicFramePr>
            <a:graphicFrameLocks noGrp="1"/>
          </p:cNvGraphicFramePr>
          <p:nvPr/>
        </p:nvGraphicFramePr>
        <p:xfrm>
          <a:off x="238125" y="1438275"/>
          <a:ext cx="6153150" cy="3810000"/>
        </p:xfrm>
        <a:graphic>
          <a:graphicData uri="http://schemas.openxmlformats.org/drawingml/2006/chart">
            <c:chart xmlns:c="http://schemas.openxmlformats.org/drawingml/2006/chart" r:id="rId3"/>
          </a:graphicData>
        </a:graphic>
      </p:graphicFrame>
      <p:sp>
        <p:nvSpPr>
          <p:cNvPr id="10" name="Rounded Rectangle 9"/>
          <p:cNvSpPr/>
          <p:nvPr/>
        </p:nvSpPr>
        <p:spPr>
          <a:xfrm>
            <a:off x="6638925" y="981075"/>
            <a:ext cx="5400675" cy="4324350"/>
          </a:xfrm>
          <a:prstGeom prst="roundRect">
            <a:avLst>
              <a:gd name="adj" fmla="val 1762"/>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34175" y="1038225"/>
            <a:ext cx="521017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Attractiveness, By Product Type · Bubble size represents 2036 value</a:t>
            </a:r>
          </a:p>
        </p:txBody>
      </p:sp>
      <p:graphicFrame>
        <p:nvGraphicFramePr>
          <p:cNvPr id="12" name="Chart 11"/>
          <p:cNvGraphicFramePr>
            <a:graphicFrameLocks noGrp="1"/>
          </p:cNvGraphicFramePr>
          <p:nvPr/>
        </p:nvGraphicFramePr>
        <p:xfrm>
          <a:off x="6734175" y="1438275"/>
          <a:ext cx="5210175" cy="3810000"/>
        </p:xfrm>
        <a:graphic>
          <a:graphicData uri="http://schemas.openxmlformats.org/drawingml/2006/chart">
            <c:chart xmlns:c="http://schemas.openxmlformats.org/drawingml/2006/chart" r:id="rId4"/>
          </a:graphicData>
        </a:graphic>
      </p:graphicFrame>
      <p:sp>
        <p:nvSpPr>
          <p:cNvPr id="13" name="Rounded Rectangle 12"/>
          <p:cNvSpPr/>
          <p:nvPr/>
        </p:nvSpPr>
        <p:spPr>
          <a:xfrm>
            <a:off x="142875" y="5438775"/>
            <a:ext cx="11906250" cy="1181100"/>
          </a:xfrm>
          <a:prstGeom prst="roundRect">
            <a:avLst>
              <a:gd name="adj" fmla="val 6451"/>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14" name="Rectangle 13"/>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6" name="Picture 15" descr="lock.png"/>
          <p:cNvPicPr>
            <a:picLocks noChangeAspect="1"/>
          </p:cNvPicPr>
          <p:nvPr/>
        </p:nvPicPr>
        <p:blipFill>
          <a:blip r:embed="rId6"/>
          <a:stretch>
            <a:fillRect/>
          </a:stretch>
        </p:blipFill>
        <p:spPr>
          <a:xfrm>
            <a:off x="3484684" y="3024134"/>
            <a:ext cx="320946" cy="466830"/>
          </a:xfrm>
          <a:prstGeom prst="rect">
            <a:avLst/>
          </a:prstGeom>
        </p:spPr>
      </p:pic>
      <p:sp>
        <p:nvSpPr>
          <p:cNvPr id="17" name="TextBox 16"/>
          <p:cNvSpPr txBox="1"/>
          <p:nvPr/>
        </p:nvSpPr>
        <p:spPr>
          <a:xfrm>
            <a:off x="257175" y="5694045"/>
            <a:ext cx="11617002" cy="186689"/>
          </a:xfrm>
          <a:prstGeom prst="rect">
            <a:avLst/>
          </a:prstGeom>
          <a:noFill/>
        </p:spPr>
        <p:txBody>
          <a:bodyPr wrap="none" lIns="0" rIns="0" tIns="0" bIns="0">
            <a:spAutoFit/>
          </a:bodyPr>
          <a:lstStyle/>
          <a:p>
            <a:r>
              <a:rPr sz="1100" b="0">
                <a:solidFill>
                  <a:srgbClr val="2E2E2E"/>
                </a:solidFill>
                <a:latin typeface="Calibri"/>
              </a:rPr>
              <a:t>Micronized eggshell membrane followed by specialty extracted protein fractions are expected to be the two most attractive product type segments in the global egg protein membrane market in terms of</a:t>
            </a:r>
          </a:p>
        </p:txBody>
      </p:sp>
      <p:sp>
        <p:nvSpPr>
          <p:cNvPr id="18" name="TextBox 17"/>
          <p:cNvSpPr txBox="1"/>
          <p:nvPr/>
        </p:nvSpPr>
        <p:spPr>
          <a:xfrm>
            <a:off x="257175" y="5861685"/>
            <a:ext cx="7327486" cy="186689"/>
          </a:xfrm>
          <a:prstGeom prst="rect">
            <a:avLst/>
          </a:prstGeom>
          <a:noFill/>
        </p:spPr>
        <p:txBody>
          <a:bodyPr wrap="none" lIns="0" rIns="0" tIns="0" bIns="0">
            <a:spAutoFit/>
          </a:bodyPr>
          <a:lstStyle/>
          <a:p>
            <a:r>
              <a:rPr sz="1100" b="0">
                <a:solidFill>
                  <a:srgbClr val="2E2E2E"/>
                </a:solidFill>
                <a:latin typeface="Calibri"/>
              </a:rPr>
              <a:t>value over the forecast period. Micronized eggshell membrane and specialty extracted protein fractions exhibit a CAGR index of</a:t>
            </a:r>
          </a:p>
        </p:txBody>
      </p:sp>
      <p:pic>
        <p:nvPicPr>
          <p:cNvPr id="19" name="Picture 18" descr="lock.png"/>
          <p:cNvPicPr>
            <a:picLocks noChangeAspect="1"/>
          </p:cNvPicPr>
          <p:nvPr/>
        </p:nvPicPr>
        <p:blipFill>
          <a:blip r:embed="rId6"/>
          <a:stretch>
            <a:fillRect/>
          </a:stretch>
        </p:blipFill>
        <p:spPr>
          <a:xfrm>
            <a:off x="7532712" y="5851905"/>
            <a:ext cx="128699" cy="187198"/>
          </a:xfrm>
          <a:prstGeom prst="rect">
            <a:avLst/>
          </a:prstGeom>
        </p:spPr>
      </p:pic>
      <p:sp>
        <p:nvSpPr>
          <p:cNvPr id="20" name="TextBox 19"/>
          <p:cNvSpPr txBox="1"/>
          <p:nvPr/>
        </p:nvSpPr>
        <p:spPr>
          <a:xfrm>
            <a:off x="7700208" y="586168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1" name="Picture 20" descr="lock.png"/>
          <p:cNvPicPr>
            <a:picLocks noChangeAspect="1"/>
          </p:cNvPicPr>
          <p:nvPr/>
        </p:nvPicPr>
        <p:blipFill>
          <a:blip r:embed="rId6"/>
          <a:stretch>
            <a:fillRect/>
          </a:stretch>
        </p:blipFill>
        <p:spPr>
          <a:xfrm>
            <a:off x="7938102" y="5851905"/>
            <a:ext cx="128699" cy="187198"/>
          </a:xfrm>
          <a:prstGeom prst="rect">
            <a:avLst/>
          </a:prstGeom>
        </p:spPr>
      </p:pic>
      <p:sp>
        <p:nvSpPr>
          <p:cNvPr id="22" name="TextBox 21"/>
          <p:cNvSpPr txBox="1"/>
          <p:nvPr/>
        </p:nvSpPr>
        <p:spPr>
          <a:xfrm>
            <a:off x="8105598" y="5861685"/>
            <a:ext cx="1660921" cy="186689"/>
          </a:xfrm>
          <a:prstGeom prst="rect">
            <a:avLst/>
          </a:prstGeom>
          <a:noFill/>
        </p:spPr>
        <p:txBody>
          <a:bodyPr wrap="none" lIns="0" rIns="0" tIns="0" bIns="0">
            <a:spAutoFit/>
          </a:bodyPr>
          <a:lstStyle/>
          <a:p>
            <a:r>
              <a:rPr sz="1100" b="0">
                <a:solidFill>
                  <a:srgbClr val="2E2E2E"/>
                </a:solidFill>
                <a:latin typeface="Calibri"/>
              </a:rPr>
              <a:t>and a market share index of</a:t>
            </a:r>
          </a:p>
        </p:txBody>
      </p:sp>
      <p:pic>
        <p:nvPicPr>
          <p:cNvPr id="23" name="Picture 22" descr="lock.png"/>
          <p:cNvPicPr>
            <a:picLocks noChangeAspect="1"/>
          </p:cNvPicPr>
          <p:nvPr/>
        </p:nvPicPr>
        <p:blipFill>
          <a:blip r:embed="rId6"/>
          <a:stretch>
            <a:fillRect/>
          </a:stretch>
        </p:blipFill>
        <p:spPr>
          <a:xfrm>
            <a:off x="9714572" y="5851905"/>
            <a:ext cx="128699" cy="187198"/>
          </a:xfrm>
          <a:prstGeom prst="rect">
            <a:avLst/>
          </a:prstGeom>
        </p:spPr>
      </p:pic>
      <p:sp>
        <p:nvSpPr>
          <p:cNvPr id="24" name="TextBox 23"/>
          <p:cNvSpPr txBox="1"/>
          <p:nvPr/>
        </p:nvSpPr>
        <p:spPr>
          <a:xfrm>
            <a:off x="9882067" y="586168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5" name="Picture 24" descr="lock.png"/>
          <p:cNvPicPr>
            <a:picLocks noChangeAspect="1"/>
          </p:cNvPicPr>
          <p:nvPr/>
        </p:nvPicPr>
        <p:blipFill>
          <a:blip r:embed="rId6"/>
          <a:stretch>
            <a:fillRect/>
          </a:stretch>
        </p:blipFill>
        <p:spPr>
          <a:xfrm>
            <a:off x="10119962" y="5851905"/>
            <a:ext cx="128699" cy="187198"/>
          </a:xfrm>
          <a:prstGeom prst="rect">
            <a:avLst/>
          </a:prstGeom>
        </p:spPr>
      </p:pic>
      <p:sp>
        <p:nvSpPr>
          <p:cNvPr id="26" name="TextBox 25"/>
          <p:cNvSpPr txBox="1"/>
          <p:nvPr/>
        </p:nvSpPr>
        <p:spPr>
          <a:xfrm>
            <a:off x="10287458" y="5861685"/>
            <a:ext cx="1231726" cy="186689"/>
          </a:xfrm>
          <a:prstGeom prst="rect">
            <a:avLst/>
          </a:prstGeom>
          <a:noFill/>
        </p:spPr>
        <p:txBody>
          <a:bodyPr wrap="none" lIns="0" rIns="0" tIns="0" bIns="0">
            <a:spAutoFit/>
          </a:bodyPr>
          <a:lstStyle/>
          <a:p>
            <a:r>
              <a:rPr sz="1100" b="0">
                <a:solidFill>
                  <a:srgbClr val="2E2E2E"/>
                </a:solidFill>
                <a:latin typeface="Calibri"/>
              </a:rPr>
              <a:t>respectively, against</a:t>
            </a:r>
          </a:p>
        </p:txBody>
      </p:sp>
      <p:sp>
        <p:nvSpPr>
          <p:cNvPr id="27" name="TextBox 26"/>
          <p:cNvSpPr txBox="1"/>
          <p:nvPr/>
        </p:nvSpPr>
        <p:spPr>
          <a:xfrm>
            <a:off x="257175" y="6029325"/>
            <a:ext cx="1419175" cy="186689"/>
          </a:xfrm>
          <a:prstGeom prst="rect">
            <a:avLst/>
          </a:prstGeom>
          <a:noFill/>
        </p:spPr>
        <p:txBody>
          <a:bodyPr wrap="none" lIns="0" rIns="0" tIns="0" bIns="0">
            <a:spAutoFit/>
          </a:bodyPr>
          <a:lstStyle/>
          <a:p>
            <a:r>
              <a:rPr sz="1100" b="0">
                <a:solidFill>
                  <a:srgbClr val="2E2E2E"/>
                </a:solidFill>
                <a:latin typeface="Calibri"/>
              </a:rPr>
              <a:t>the segment average of</a:t>
            </a:r>
          </a:p>
        </p:txBody>
      </p:sp>
      <p:pic>
        <p:nvPicPr>
          <p:cNvPr id="28" name="Picture 27" descr="lock.png"/>
          <p:cNvPicPr>
            <a:picLocks noChangeAspect="1"/>
          </p:cNvPicPr>
          <p:nvPr/>
        </p:nvPicPr>
        <p:blipFill>
          <a:blip r:embed="rId6"/>
          <a:stretch>
            <a:fillRect/>
          </a:stretch>
        </p:blipFill>
        <p:spPr>
          <a:xfrm>
            <a:off x="1624401" y="6019545"/>
            <a:ext cx="128699" cy="187198"/>
          </a:xfrm>
          <a:prstGeom prst="rect">
            <a:avLst/>
          </a:prstGeom>
        </p:spPr>
      </p:pic>
      <p:sp>
        <p:nvSpPr>
          <p:cNvPr id="29" name="TextBox 28"/>
          <p:cNvSpPr txBox="1"/>
          <p:nvPr/>
        </p:nvSpPr>
        <p:spPr>
          <a:xfrm>
            <a:off x="1791897" y="6029325"/>
            <a:ext cx="9428170" cy="186689"/>
          </a:xfrm>
          <a:prstGeom prst="rect">
            <a:avLst/>
          </a:prstGeom>
          <a:noFill/>
        </p:spPr>
        <p:txBody>
          <a:bodyPr wrap="none" lIns="0" rIns="0" tIns="0" bIns="0">
            <a:spAutoFit/>
          </a:bodyPr>
          <a:lstStyle/>
          <a:p>
            <a:r>
              <a:rPr sz="1100" b="0">
                <a:solidFill>
                  <a:srgbClr val="2E2E2E"/>
                </a:solidFill>
                <a:latin typeface="Calibri"/>
              </a:rPr>
              <a:t>. The hydrolyzed eggshell membrane segment is expected to be less attractive as compared to other segments over the forecast period, owing to its lower CAGR and</a:t>
            </a:r>
          </a:p>
        </p:txBody>
      </p:sp>
      <p:sp>
        <p:nvSpPr>
          <p:cNvPr id="30" name="TextBox 29"/>
          <p:cNvSpPr txBox="1"/>
          <p:nvPr/>
        </p:nvSpPr>
        <p:spPr>
          <a:xfrm>
            <a:off x="257175" y="6196965"/>
            <a:ext cx="5838262" cy="186689"/>
          </a:xfrm>
          <a:prstGeom prst="rect">
            <a:avLst/>
          </a:prstGeom>
          <a:noFill/>
        </p:spPr>
        <p:txBody>
          <a:bodyPr wrap="none" lIns="0" rIns="0" tIns="0" bIns="0">
            <a:spAutoFit/>
          </a:bodyPr>
          <a:lstStyle/>
          <a:p>
            <a:r>
              <a:rPr sz="1100" b="0">
                <a:solidFill>
                  <a:srgbClr val="2E2E2E"/>
                </a:solidFill>
                <a:latin typeface="Calibri"/>
              </a:rPr>
              <a:t>incremental opportunity. Bubbles right of the CAGR-Index line grow faster than the segment average.</a:t>
            </a:r>
          </a:p>
        </p:txBody>
      </p:sp>
      <p:sp>
        <p:nvSpPr>
          <p:cNvPr id="31" name="lockshield_9"/>
          <p:cNvSpPr/>
          <p:nvPr/>
        </p:nvSpPr>
        <p:spPr>
          <a:xfrm>
            <a:off x="238125" y="1438275"/>
            <a:ext cx="6153150"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lockshield_12"/>
          <p:cNvSpPr/>
          <p:nvPr/>
        </p:nvSpPr>
        <p:spPr>
          <a:xfrm>
            <a:off x="6734175" y="1438275"/>
            <a:ext cx="5210175"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Absolute $ Opportunity Analysis, By Product Type</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Product Type and the absolute $ opportunity each sub-segment adds, 2026–2036</a:t>
            </a:r>
          </a:p>
        </p:txBody>
      </p:sp>
      <p:sp>
        <p:nvSpPr>
          <p:cNvPr id="7" name="Rounded Rectangle 6"/>
          <p:cNvSpPr/>
          <p:nvPr/>
        </p:nvSpPr>
        <p:spPr>
          <a:xfrm>
            <a:off x="142875" y="981075"/>
            <a:ext cx="5876925"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Micronized Eggshell Membrane</a:t>
            </a:r>
          </a:p>
        </p:txBody>
      </p:sp>
      <p:graphicFrame>
        <p:nvGraphicFramePr>
          <p:cNvPr id="9" name="Chart 8"/>
          <p:cNvGraphicFramePr>
            <a:graphicFrameLocks noGrp="1"/>
          </p:cNvGraphicFramePr>
          <p:nvPr/>
        </p:nvGraphicFramePr>
        <p:xfrm>
          <a:off x="238125" y="1438275"/>
          <a:ext cx="5686425" cy="2238375"/>
        </p:xfrm>
        <a:graphic>
          <a:graphicData uri="http://schemas.openxmlformats.org/drawingml/2006/chart">
            <c:chart xmlns:c="http://schemas.openxmlformats.org/drawingml/2006/chart" r:id="rId3"/>
          </a:graphicData>
        </a:graphic>
      </p:graphicFrame>
      <p:sp>
        <p:nvSpPr>
          <p:cNvPr id="10" name="Rounded Rectangle 9"/>
          <p:cNvSpPr/>
          <p:nvPr/>
        </p:nvSpPr>
        <p:spPr>
          <a:xfrm>
            <a:off x="6172200" y="981075"/>
            <a:ext cx="5876925"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67450"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Hydrolyzed Eggshell Membrane</a:t>
            </a:r>
          </a:p>
        </p:txBody>
      </p:sp>
      <p:graphicFrame>
        <p:nvGraphicFramePr>
          <p:cNvPr id="12" name="Chart 11"/>
          <p:cNvGraphicFramePr>
            <a:graphicFrameLocks noGrp="1"/>
          </p:cNvGraphicFramePr>
          <p:nvPr/>
        </p:nvGraphicFramePr>
        <p:xfrm>
          <a:off x="6267450" y="1438275"/>
          <a:ext cx="5686425" cy="2238375"/>
        </p:xfrm>
        <a:graphic>
          <a:graphicData uri="http://schemas.openxmlformats.org/drawingml/2006/chart">
            <c:chart xmlns:c="http://schemas.openxmlformats.org/drawingml/2006/chart" r:id="rId4"/>
          </a:graphicData>
        </a:graphic>
      </p:graphicFrame>
      <p:sp>
        <p:nvSpPr>
          <p:cNvPr id="13" name="Rounded Rectangle 12"/>
          <p:cNvSpPr/>
          <p:nvPr/>
        </p:nvSpPr>
        <p:spPr>
          <a:xfrm>
            <a:off x="142875" y="3867150"/>
            <a:ext cx="5876925"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38125"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Specialty Extracted Protein Fractions</a:t>
            </a:r>
          </a:p>
        </p:txBody>
      </p:sp>
      <p:graphicFrame>
        <p:nvGraphicFramePr>
          <p:cNvPr id="15" name="Chart 14"/>
          <p:cNvGraphicFramePr>
            <a:graphicFrameLocks noGrp="1"/>
          </p:cNvGraphicFramePr>
          <p:nvPr/>
        </p:nvGraphicFramePr>
        <p:xfrm>
          <a:off x="238125" y="4324350"/>
          <a:ext cx="5686425" cy="2238375"/>
        </p:xfrm>
        <a:graphic>
          <a:graphicData uri="http://schemas.openxmlformats.org/drawingml/2006/chart">
            <c:chart xmlns:c="http://schemas.openxmlformats.org/drawingml/2006/chart" r:id="rId5"/>
          </a:graphicData>
        </a:graphic>
      </p:graphicFrame>
      <p:sp>
        <p:nvSpPr>
          <p:cNvPr id="16" name="Rounded Rectangle 15"/>
          <p:cNvSpPr/>
          <p:nvPr/>
        </p:nvSpPr>
        <p:spPr>
          <a:xfrm>
            <a:off x="6172200" y="3867150"/>
            <a:ext cx="5876925"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05550" y="3952875"/>
            <a:ext cx="5610225" cy="209550"/>
          </a:xfrm>
          <a:prstGeom prst="rect">
            <a:avLst/>
          </a:prstGeom>
          <a:noFill/>
        </p:spPr>
        <p:txBody>
          <a:bodyPr wrap="square" lIns="0" rIns="19050" tIns="9525" bIns="9525">
            <a:spAutoFit/>
          </a:bodyPr>
          <a:lstStyle/>
          <a:p>
            <a:pPr algn="l"/>
            <a:r>
              <a:rPr sz="1300" b="1">
                <a:solidFill>
                  <a:srgbClr val="0E2A5C"/>
                </a:solidFill>
                <a:latin typeface="Calibri"/>
              </a:rPr>
              <a:t>Summary of Global Absolute $ Opportunity Analysis, By Product Type</a:t>
            </a:r>
          </a:p>
        </p:txBody>
      </p:sp>
      <p:sp>
        <p:nvSpPr>
          <p:cNvPr id="18" name="Rectangle 17"/>
          <p:cNvSpPr/>
          <p:nvPr/>
        </p:nvSpPr>
        <p:spPr>
          <a:xfrm>
            <a:off x="6305550" y="4191000"/>
            <a:ext cx="5610225"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05550" y="4276725"/>
            <a:ext cx="5610225" cy="22669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20" name="Rectangle 19"/>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22" name="Picture 21" descr="lock.png"/>
          <p:cNvPicPr>
            <a:picLocks noChangeAspect="1"/>
          </p:cNvPicPr>
          <p:nvPr/>
        </p:nvPicPr>
        <p:blipFill>
          <a:blip r:embed="rId7"/>
          <a:stretch>
            <a:fillRect/>
          </a:stretch>
        </p:blipFill>
        <p:spPr>
          <a:xfrm>
            <a:off x="3100230" y="2330679"/>
            <a:ext cx="252890" cy="367840"/>
          </a:xfrm>
          <a:prstGeom prst="rect">
            <a:avLst/>
          </a:prstGeom>
        </p:spPr>
      </p:pic>
      <p:pic>
        <p:nvPicPr>
          <p:cNvPr id="23" name="Picture 22" descr="lock.png"/>
          <p:cNvPicPr>
            <a:picLocks noChangeAspect="1"/>
          </p:cNvPicPr>
          <p:nvPr/>
        </p:nvPicPr>
        <p:blipFill>
          <a:blip r:embed="rId7"/>
          <a:stretch>
            <a:fillRect/>
          </a:stretch>
        </p:blipFill>
        <p:spPr>
          <a:xfrm>
            <a:off x="9129555" y="2330679"/>
            <a:ext cx="252890" cy="367840"/>
          </a:xfrm>
          <a:prstGeom prst="rect">
            <a:avLst/>
          </a:prstGeom>
        </p:spPr>
      </p:pic>
      <p:pic>
        <p:nvPicPr>
          <p:cNvPr id="24" name="Picture 23" descr="lock.png"/>
          <p:cNvPicPr>
            <a:picLocks noChangeAspect="1"/>
          </p:cNvPicPr>
          <p:nvPr/>
        </p:nvPicPr>
        <p:blipFill>
          <a:blip r:embed="rId7"/>
          <a:stretch>
            <a:fillRect/>
          </a:stretch>
        </p:blipFill>
        <p:spPr>
          <a:xfrm>
            <a:off x="3100230" y="5216754"/>
            <a:ext cx="252890" cy="367840"/>
          </a:xfrm>
          <a:prstGeom prst="rect">
            <a:avLst/>
          </a:prstGeom>
        </p:spPr>
      </p:pic>
      <p:sp>
        <p:nvSpPr>
          <p:cNvPr id="25" name="TextBox 24"/>
          <p:cNvSpPr txBox="1"/>
          <p:nvPr/>
        </p:nvSpPr>
        <p:spPr>
          <a:xfrm>
            <a:off x="6305550" y="4286250"/>
            <a:ext cx="5362503" cy="194310"/>
          </a:xfrm>
          <a:prstGeom prst="rect">
            <a:avLst/>
          </a:prstGeom>
          <a:noFill/>
        </p:spPr>
        <p:txBody>
          <a:bodyPr wrap="none" lIns="0" rIns="0" tIns="0" bIns="0">
            <a:spAutoFit/>
          </a:bodyPr>
          <a:lstStyle/>
          <a:p>
            <a:r>
              <a:rPr sz="1150" b="0">
                <a:solidFill>
                  <a:srgbClr val="2E2E2E"/>
                </a:solidFill>
                <a:latin typeface="Calibri"/>
              </a:rPr>
              <a:t>By 2036, micronized eggshell membrane segment is anticipated to witness an increase of</a:t>
            </a:r>
          </a:p>
        </p:txBody>
      </p:sp>
      <p:pic>
        <p:nvPicPr>
          <p:cNvPr id="26" name="Picture 25" descr="lock.png"/>
          <p:cNvPicPr>
            <a:picLocks noChangeAspect="1"/>
          </p:cNvPicPr>
          <p:nvPr/>
        </p:nvPicPr>
        <p:blipFill>
          <a:blip r:embed="rId7"/>
          <a:stretch>
            <a:fillRect/>
          </a:stretch>
        </p:blipFill>
        <p:spPr>
          <a:xfrm>
            <a:off x="6291470" y="4451286"/>
            <a:ext cx="134549" cy="195707"/>
          </a:xfrm>
          <a:prstGeom prst="rect">
            <a:avLst/>
          </a:prstGeom>
        </p:spPr>
      </p:pic>
      <p:sp>
        <p:nvSpPr>
          <p:cNvPr id="27" name="TextBox 26"/>
          <p:cNvSpPr txBox="1"/>
          <p:nvPr/>
        </p:nvSpPr>
        <p:spPr>
          <a:xfrm>
            <a:off x="6466579" y="4461510"/>
            <a:ext cx="5322304" cy="194310"/>
          </a:xfrm>
          <a:prstGeom prst="rect">
            <a:avLst/>
          </a:prstGeom>
          <a:noFill/>
        </p:spPr>
        <p:txBody>
          <a:bodyPr wrap="none" lIns="0" rIns="0" tIns="0" bIns="0">
            <a:spAutoFit/>
          </a:bodyPr>
          <a:lstStyle/>
          <a:p>
            <a:r>
              <a:rPr sz="1150" b="0">
                <a:solidFill>
                  <a:srgbClr val="2E2E2E"/>
                </a:solidFill>
                <a:latin typeface="Calibri"/>
              </a:rPr>
              <a:t>X in terms of value as compared to 2026. The micronized eggshell membrane segment is</a:t>
            </a:r>
          </a:p>
        </p:txBody>
      </p:sp>
      <p:sp>
        <p:nvSpPr>
          <p:cNvPr id="28" name="TextBox 27"/>
          <p:cNvSpPr txBox="1"/>
          <p:nvPr/>
        </p:nvSpPr>
        <p:spPr>
          <a:xfrm>
            <a:off x="6305550" y="4636770"/>
            <a:ext cx="3285306" cy="194310"/>
          </a:xfrm>
          <a:prstGeom prst="rect">
            <a:avLst/>
          </a:prstGeom>
          <a:noFill/>
        </p:spPr>
        <p:txBody>
          <a:bodyPr wrap="none" lIns="0" rIns="0" tIns="0" bIns="0">
            <a:spAutoFit/>
          </a:bodyPr>
          <a:lstStyle/>
          <a:p>
            <a:r>
              <a:rPr sz="1150" b="0">
                <a:solidFill>
                  <a:srgbClr val="2E2E2E"/>
                </a:solidFill>
                <a:latin typeface="Calibri"/>
              </a:rPr>
              <a:t>expected to create an incremental opportunity of US$</a:t>
            </a:r>
          </a:p>
        </p:txBody>
      </p:sp>
      <p:pic>
        <p:nvPicPr>
          <p:cNvPr id="29" name="Picture 28" descr="lock.png"/>
          <p:cNvPicPr>
            <a:picLocks noChangeAspect="1"/>
          </p:cNvPicPr>
          <p:nvPr/>
        </p:nvPicPr>
        <p:blipFill>
          <a:blip r:embed="rId7"/>
          <a:stretch>
            <a:fillRect/>
          </a:stretch>
        </p:blipFill>
        <p:spPr>
          <a:xfrm>
            <a:off x="9540010" y="4626546"/>
            <a:ext cx="134549" cy="195707"/>
          </a:xfrm>
          <a:prstGeom prst="rect">
            <a:avLst/>
          </a:prstGeom>
        </p:spPr>
      </p:pic>
      <p:sp>
        <p:nvSpPr>
          <p:cNvPr id="30" name="TextBox 29"/>
          <p:cNvSpPr txBox="1"/>
          <p:nvPr/>
        </p:nvSpPr>
        <p:spPr>
          <a:xfrm>
            <a:off x="9715119" y="4636770"/>
            <a:ext cx="1865597" cy="194310"/>
          </a:xfrm>
          <a:prstGeom prst="rect">
            <a:avLst/>
          </a:prstGeom>
          <a:noFill/>
        </p:spPr>
        <p:txBody>
          <a:bodyPr wrap="none" lIns="0" rIns="0" tIns="0" bIns="0">
            <a:spAutoFit/>
          </a:bodyPr>
          <a:lstStyle/>
          <a:p>
            <a:r>
              <a:rPr sz="1150" b="0">
                <a:solidFill>
                  <a:srgbClr val="2E2E2E"/>
                </a:solidFill>
                <a:latin typeface="Calibri"/>
              </a:rPr>
              <a:t>Mn for the overall egg protein</a:t>
            </a:r>
          </a:p>
        </p:txBody>
      </p:sp>
      <p:sp>
        <p:nvSpPr>
          <p:cNvPr id="31" name="TextBox 30"/>
          <p:cNvSpPr txBox="1"/>
          <p:nvPr/>
        </p:nvSpPr>
        <p:spPr>
          <a:xfrm>
            <a:off x="6305550" y="4812029"/>
            <a:ext cx="2366218" cy="194310"/>
          </a:xfrm>
          <a:prstGeom prst="rect">
            <a:avLst/>
          </a:prstGeom>
          <a:noFill/>
        </p:spPr>
        <p:txBody>
          <a:bodyPr wrap="none" lIns="0" rIns="0" tIns="0" bIns="0">
            <a:spAutoFit/>
          </a:bodyPr>
          <a:lstStyle/>
          <a:p>
            <a:r>
              <a:rPr sz="1150" b="0">
                <a:solidFill>
                  <a:srgbClr val="2E2E2E"/>
                </a:solidFill>
                <a:latin typeface="Calibri"/>
              </a:rPr>
              <a:t>membrane market from 2026 to 2036.</a:t>
            </a:r>
          </a:p>
        </p:txBody>
      </p:sp>
      <p:sp>
        <p:nvSpPr>
          <p:cNvPr id="32" name="TextBox 31"/>
          <p:cNvSpPr txBox="1"/>
          <p:nvPr/>
        </p:nvSpPr>
        <p:spPr>
          <a:xfrm>
            <a:off x="6305550" y="5039867"/>
            <a:ext cx="5221609" cy="194310"/>
          </a:xfrm>
          <a:prstGeom prst="rect">
            <a:avLst/>
          </a:prstGeom>
          <a:noFill/>
        </p:spPr>
        <p:txBody>
          <a:bodyPr wrap="none" lIns="0" rIns="0" tIns="0" bIns="0">
            <a:spAutoFit/>
          </a:bodyPr>
          <a:lstStyle/>
          <a:p>
            <a:r>
              <a:rPr sz="1150" b="0">
                <a:solidFill>
                  <a:srgbClr val="2E2E2E"/>
                </a:solidFill>
                <a:latin typeface="Calibri"/>
              </a:rPr>
              <a:t>The specialty extracted protein fractions segment is expected to create an incremental</a:t>
            </a:r>
          </a:p>
        </p:txBody>
      </p:sp>
      <p:sp>
        <p:nvSpPr>
          <p:cNvPr id="33" name="TextBox 32"/>
          <p:cNvSpPr txBox="1"/>
          <p:nvPr/>
        </p:nvSpPr>
        <p:spPr>
          <a:xfrm>
            <a:off x="6305550" y="5215127"/>
            <a:ext cx="1208943" cy="194310"/>
          </a:xfrm>
          <a:prstGeom prst="rect">
            <a:avLst/>
          </a:prstGeom>
          <a:noFill/>
        </p:spPr>
        <p:txBody>
          <a:bodyPr wrap="none" lIns="0" rIns="0" tIns="0" bIns="0">
            <a:spAutoFit/>
          </a:bodyPr>
          <a:lstStyle/>
          <a:p>
            <a:r>
              <a:rPr sz="1150" b="0">
                <a:solidFill>
                  <a:srgbClr val="2E2E2E"/>
                </a:solidFill>
                <a:latin typeface="Calibri"/>
              </a:rPr>
              <a:t>opportunity of US$</a:t>
            </a:r>
          </a:p>
        </p:txBody>
      </p:sp>
      <p:pic>
        <p:nvPicPr>
          <p:cNvPr id="34" name="Picture 33" descr="lock.png"/>
          <p:cNvPicPr>
            <a:picLocks noChangeAspect="1"/>
          </p:cNvPicPr>
          <p:nvPr/>
        </p:nvPicPr>
        <p:blipFill>
          <a:blip r:embed="rId7"/>
          <a:stretch>
            <a:fillRect/>
          </a:stretch>
        </p:blipFill>
        <p:spPr>
          <a:xfrm>
            <a:off x="7463647" y="5204904"/>
            <a:ext cx="134549" cy="195707"/>
          </a:xfrm>
          <a:prstGeom prst="rect">
            <a:avLst/>
          </a:prstGeom>
        </p:spPr>
      </p:pic>
      <p:sp>
        <p:nvSpPr>
          <p:cNvPr id="35" name="TextBox 34"/>
          <p:cNvSpPr txBox="1"/>
          <p:nvPr/>
        </p:nvSpPr>
        <p:spPr>
          <a:xfrm>
            <a:off x="7638756" y="5215127"/>
            <a:ext cx="4188705" cy="194310"/>
          </a:xfrm>
          <a:prstGeom prst="rect">
            <a:avLst/>
          </a:prstGeom>
          <a:noFill/>
        </p:spPr>
        <p:txBody>
          <a:bodyPr wrap="none" lIns="0" rIns="0" tIns="0" bIns="0">
            <a:spAutoFit/>
          </a:bodyPr>
          <a:lstStyle/>
          <a:p>
            <a:r>
              <a:rPr sz="1150" b="0">
                <a:solidFill>
                  <a:srgbClr val="2E2E2E"/>
                </a:solidFill>
                <a:latin typeface="Calibri"/>
              </a:rPr>
              <a:t>Mn for the overall egg protein membrane market from 2026 to 2036.</a:t>
            </a:r>
          </a:p>
        </p:txBody>
      </p:sp>
      <p:sp>
        <p:nvSpPr>
          <p:cNvPr id="36" name="TextBox 35"/>
          <p:cNvSpPr txBox="1"/>
          <p:nvPr/>
        </p:nvSpPr>
        <p:spPr>
          <a:xfrm>
            <a:off x="6305550" y="5390387"/>
            <a:ext cx="4935215" cy="194310"/>
          </a:xfrm>
          <a:prstGeom prst="rect">
            <a:avLst/>
          </a:prstGeom>
          <a:noFill/>
        </p:spPr>
        <p:txBody>
          <a:bodyPr wrap="none" lIns="0" rIns="0" tIns="0" bIns="0">
            <a:spAutoFit/>
          </a:bodyPr>
          <a:lstStyle/>
          <a:p>
            <a:r>
              <a:rPr sz="1150" b="0">
                <a:solidFill>
                  <a:srgbClr val="2E2E2E"/>
                </a:solidFill>
                <a:latin typeface="Calibri"/>
              </a:rPr>
              <a:t>The hydrolyzed eggshell membrane segment is expected to create an incremental</a:t>
            </a:r>
          </a:p>
        </p:txBody>
      </p:sp>
      <p:sp>
        <p:nvSpPr>
          <p:cNvPr id="37" name="TextBox 36"/>
          <p:cNvSpPr txBox="1"/>
          <p:nvPr/>
        </p:nvSpPr>
        <p:spPr>
          <a:xfrm>
            <a:off x="6305550" y="5565647"/>
            <a:ext cx="1208943" cy="194310"/>
          </a:xfrm>
          <a:prstGeom prst="rect">
            <a:avLst/>
          </a:prstGeom>
          <a:noFill/>
        </p:spPr>
        <p:txBody>
          <a:bodyPr wrap="none" lIns="0" rIns="0" tIns="0" bIns="0">
            <a:spAutoFit/>
          </a:bodyPr>
          <a:lstStyle/>
          <a:p>
            <a:r>
              <a:rPr sz="1150" b="0">
                <a:solidFill>
                  <a:srgbClr val="2E2E2E"/>
                </a:solidFill>
                <a:latin typeface="Calibri"/>
              </a:rPr>
              <a:t>opportunity of US$</a:t>
            </a:r>
          </a:p>
        </p:txBody>
      </p:sp>
      <p:pic>
        <p:nvPicPr>
          <p:cNvPr id="38" name="Picture 37" descr="lock.png"/>
          <p:cNvPicPr>
            <a:picLocks noChangeAspect="1"/>
          </p:cNvPicPr>
          <p:nvPr/>
        </p:nvPicPr>
        <p:blipFill>
          <a:blip r:embed="rId7"/>
          <a:stretch>
            <a:fillRect/>
          </a:stretch>
        </p:blipFill>
        <p:spPr>
          <a:xfrm>
            <a:off x="7463647" y="5555424"/>
            <a:ext cx="134549" cy="195707"/>
          </a:xfrm>
          <a:prstGeom prst="rect">
            <a:avLst/>
          </a:prstGeom>
        </p:spPr>
      </p:pic>
      <p:sp>
        <p:nvSpPr>
          <p:cNvPr id="39" name="TextBox 38"/>
          <p:cNvSpPr txBox="1"/>
          <p:nvPr/>
        </p:nvSpPr>
        <p:spPr>
          <a:xfrm>
            <a:off x="7638756" y="5565647"/>
            <a:ext cx="4188705" cy="194310"/>
          </a:xfrm>
          <a:prstGeom prst="rect">
            <a:avLst/>
          </a:prstGeom>
          <a:noFill/>
        </p:spPr>
        <p:txBody>
          <a:bodyPr wrap="none" lIns="0" rIns="0" tIns="0" bIns="0">
            <a:spAutoFit/>
          </a:bodyPr>
          <a:lstStyle/>
          <a:p>
            <a:r>
              <a:rPr sz="1150" b="0">
                <a:solidFill>
                  <a:srgbClr val="2E2E2E"/>
                </a:solidFill>
                <a:latin typeface="Calibri"/>
              </a:rPr>
              <a:t>Mn for the overall egg protein membrane market from 2026 to 2036.</a:t>
            </a:r>
          </a:p>
        </p:txBody>
      </p:sp>
      <p:sp>
        <p:nvSpPr>
          <p:cNvPr id="40" name="lockshield_9"/>
          <p:cNvSpPr/>
          <p:nvPr/>
        </p:nvSpPr>
        <p:spPr>
          <a:xfrm>
            <a:off x="238125"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lockshield_12"/>
          <p:cNvSpPr/>
          <p:nvPr/>
        </p:nvSpPr>
        <p:spPr>
          <a:xfrm>
            <a:off x="6267450"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lockshield_15"/>
          <p:cNvSpPr/>
          <p:nvPr/>
        </p:nvSpPr>
        <p:spPr>
          <a:xfrm>
            <a:off x="238125"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Value Analysis, By Product Type (US$ Mn)</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by Product Type, 2021–2036, highlighting the sub-segments driving growth</a:t>
            </a:r>
          </a:p>
        </p:txBody>
      </p:sp>
      <p:sp>
        <p:nvSpPr>
          <p:cNvPr id="7" name="Rounded Rectangle 6"/>
          <p:cNvSpPr/>
          <p:nvPr/>
        </p:nvSpPr>
        <p:spPr>
          <a:xfrm>
            <a:off x="142875" y="981075"/>
            <a:ext cx="11906250" cy="1704975"/>
          </a:xfrm>
          <a:prstGeom prst="roundRect">
            <a:avLst>
              <a:gd name="adj" fmla="val 446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By Product Type (US$ Mn)</a:t>
            </a:r>
          </a:p>
        </p:txBody>
      </p:sp>
      <p:graphicFrame>
        <p:nvGraphicFramePr>
          <p:cNvPr id="9" name="Table 8"/>
          <p:cNvGraphicFramePr>
            <a:graphicFrameLocks noGrp="1"/>
          </p:cNvGraphicFramePr>
          <p:nvPr/>
        </p:nvGraphicFramePr>
        <p:xfrm>
          <a:off x="152400" y="1238250"/>
          <a:ext cx="11887199" cy="1238250"/>
        </p:xfrm>
        <a:graphic>
          <a:graphicData uri="http://schemas.openxmlformats.org/drawingml/2006/table">
            <a:tbl>
              <a:tblPr>
                <a:tableStyleId>{5C22544A-7EE6-4342-B048-85BDC9FD1C3A}</a:tableStyleId>
              </a:tblPr>
              <a:tblGrid>
                <a:gridCol w="2336582"/>
                <a:gridCol w="561801"/>
                <a:gridCol w="561801"/>
                <a:gridCol w="561801"/>
                <a:gridCol w="561801"/>
                <a:gridCol w="561801"/>
                <a:gridCol w="561801"/>
                <a:gridCol w="561801"/>
                <a:gridCol w="561801"/>
                <a:gridCol w="561801"/>
                <a:gridCol w="561801"/>
                <a:gridCol w="561801"/>
                <a:gridCol w="561801"/>
                <a:gridCol w="561801"/>
                <a:gridCol w="561801"/>
                <a:gridCol w="561801"/>
                <a:gridCol w="561801"/>
                <a:gridCol w="561801"/>
              </a:tblGrid>
              <a:tr h="246126">
                <a:tc>
                  <a:txBody>
                    <a:bodyPr wrap="none"/>
                    <a:lstStyle/>
                    <a:p>
                      <a:pPr algn="l"/>
                      <a:r>
                        <a:rPr sz="1100" b="1">
                          <a:solidFill>
                            <a:srgbClr val="0E2A5C"/>
                          </a:solidFill>
                          <a:latin typeface="Calibri"/>
                        </a:rPr>
                        <a:t>Product Type</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2021A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2022A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2023A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2024A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2025A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2026E</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2027F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2028F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2029F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2030F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2031F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2032F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2033F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2034F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2035F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2036F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F-CAGR</a:t>
                      </a:r>
                      <a:endParaRPr sz="1100"/>
                    </a:p>
                  </a:txBody>
                  <a:tcPr marL="47625" marR="38100" marT="19050" marB="19050" anchor="ctr">
                    <a:solidFill>
                      <a:srgbClr val="EBF2F9"/>
                    </a:solidFill>
                  </a:tcPr>
                </a:tc>
              </a:tr>
              <a:tr h="248031">
                <a:tc>
                  <a:txBody>
                    <a:bodyPr wrap="none"/>
                    <a:lstStyle/>
                    <a:p>
                      <a:pPr algn="l"/>
                      <a:r>
                        <a:rPr sz="1100" b="1">
                          <a:solidFill>
                            <a:srgbClr val="2E2E2E"/>
                          </a:solidFill>
                          <a:latin typeface="Calibri"/>
                        </a:rPr>
                        <a:t>Micronized Eggshell Membrane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8031">
                <a:tc>
                  <a:txBody>
                    <a:bodyPr wrap="none"/>
                    <a:lstStyle/>
                    <a:p>
                      <a:pPr algn="l"/>
                      <a:r>
                        <a:rPr sz="1100" b="1">
                          <a:solidFill>
                            <a:srgbClr val="2E2E2E"/>
                          </a:solidFill>
                          <a:latin typeface="Calibri"/>
                        </a:rPr>
                        <a:t>Hydrolyzed Eggshell Membrane</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8031">
                <a:tc>
                  <a:txBody>
                    <a:bodyPr wrap="none"/>
                    <a:lstStyle/>
                    <a:p>
                      <a:pPr algn="l"/>
                      <a:r>
                        <a:rPr sz="1100" b="1">
                          <a:solidFill>
                            <a:srgbClr val="2E2E2E"/>
                          </a:solidFill>
                          <a:latin typeface="Calibri"/>
                        </a:rPr>
                        <a:t>Specialty Extracted Protein Fractions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8031">
                <a:tc>
                  <a:txBody>
                    <a:bodyPr wrap="none"/>
                    <a:lstStyle/>
                    <a:p>
                      <a:pPr algn="l"/>
                      <a:r>
                        <a:rPr sz="1100" b="1">
                          <a:solidFill>
                            <a:srgbClr val="2E2E2E"/>
                          </a:solidFill>
                          <a:latin typeface="Calibri"/>
                        </a:rPr>
                        <a:t>Total</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r>
            </a:tbl>
          </a:graphicData>
        </a:graphic>
      </p:graphicFrame>
      <p:sp>
        <p:nvSpPr>
          <p:cNvPr id="10" name="TextBox 9"/>
          <p:cNvSpPr txBox="1"/>
          <p:nvPr/>
        </p:nvSpPr>
        <p:spPr>
          <a:xfrm>
            <a:off x="219075" y="248602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11" name="Rounded Rectangle 10"/>
          <p:cNvSpPr/>
          <p:nvPr/>
        </p:nvSpPr>
        <p:spPr>
          <a:xfrm>
            <a:off x="142875" y="2819400"/>
            <a:ext cx="11906250" cy="3810000"/>
          </a:xfrm>
          <a:prstGeom prst="roundRect">
            <a:avLst>
              <a:gd name="adj" fmla="val 2000"/>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6225" y="2905125"/>
            <a:ext cx="11639550" cy="209550"/>
          </a:xfrm>
          <a:prstGeom prst="rect">
            <a:avLst/>
          </a:prstGeom>
          <a:noFill/>
        </p:spPr>
        <p:txBody>
          <a:bodyPr wrap="square" lIns="0" rIns="19050" tIns="9525" bIns="9525">
            <a:spAutoFit/>
          </a:bodyPr>
          <a:lstStyle/>
          <a:p>
            <a:pPr algn="l"/>
            <a:r>
              <a:rPr sz="1300" b="1">
                <a:solidFill>
                  <a:srgbClr val="0E2A5C"/>
                </a:solidFill>
                <a:latin typeface="Calibri"/>
              </a:rPr>
              <a:t>Global Value Analysis, By Product Type</a:t>
            </a:r>
          </a:p>
        </p:txBody>
      </p:sp>
      <p:sp>
        <p:nvSpPr>
          <p:cNvPr id="13" name="Rectangle 12"/>
          <p:cNvSpPr/>
          <p:nvPr/>
        </p:nvSpPr>
        <p:spPr>
          <a:xfrm>
            <a:off x="276225" y="3143250"/>
            <a:ext cx="116395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6225" y="3228975"/>
            <a:ext cx="11639550" cy="332422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5" name="Rectangle 14"/>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7" name="Picture 16" descr="lock.png"/>
          <p:cNvPicPr>
            <a:picLocks noChangeAspect="1"/>
          </p:cNvPicPr>
          <p:nvPr/>
        </p:nvPicPr>
        <p:blipFill>
          <a:blip r:embed="rId4"/>
          <a:stretch>
            <a:fillRect/>
          </a:stretch>
        </p:blipFill>
        <p:spPr>
          <a:xfrm>
            <a:off x="7077600" y="1713738"/>
            <a:ext cx="366712" cy="533400"/>
          </a:xfrm>
          <a:prstGeom prst="rect">
            <a:avLst/>
          </a:prstGeom>
        </p:spPr>
      </p:pic>
      <p:sp>
        <p:nvSpPr>
          <p:cNvPr id="18" name="TextBox 17"/>
          <p:cNvSpPr txBox="1"/>
          <p:nvPr/>
        </p:nvSpPr>
        <p:spPr>
          <a:xfrm>
            <a:off x="276225" y="3238500"/>
            <a:ext cx="3870932" cy="194310"/>
          </a:xfrm>
          <a:prstGeom prst="rect">
            <a:avLst/>
          </a:prstGeom>
          <a:noFill/>
        </p:spPr>
        <p:txBody>
          <a:bodyPr wrap="none" lIns="0" rIns="0" tIns="0" bIns="0">
            <a:spAutoFit/>
          </a:bodyPr>
          <a:lstStyle/>
          <a:p>
            <a:r>
              <a:rPr sz="1150" b="0">
                <a:solidFill>
                  <a:srgbClr val="2E2E2E"/>
                </a:solidFill>
                <a:latin typeface="Calibri"/>
              </a:rPr>
              <a:t>Micronized eggshell membrane segment is projected to register</a:t>
            </a:r>
          </a:p>
        </p:txBody>
      </p:sp>
      <p:pic>
        <p:nvPicPr>
          <p:cNvPr id="19" name="Picture 18" descr="lock.png"/>
          <p:cNvPicPr>
            <a:picLocks noChangeAspect="1"/>
          </p:cNvPicPr>
          <p:nvPr/>
        </p:nvPicPr>
        <p:blipFill>
          <a:blip r:embed="rId4"/>
          <a:stretch>
            <a:fillRect/>
          </a:stretch>
        </p:blipFill>
        <p:spPr>
          <a:xfrm>
            <a:off x="4096311" y="3228276"/>
            <a:ext cx="134549" cy="195707"/>
          </a:xfrm>
          <a:prstGeom prst="rect">
            <a:avLst/>
          </a:prstGeom>
        </p:spPr>
      </p:pic>
      <p:sp>
        <p:nvSpPr>
          <p:cNvPr id="20" name="TextBox 19"/>
          <p:cNvSpPr txBox="1"/>
          <p:nvPr/>
        </p:nvSpPr>
        <p:spPr>
          <a:xfrm>
            <a:off x="4271420" y="3238500"/>
            <a:ext cx="7325928" cy="194310"/>
          </a:xfrm>
          <a:prstGeom prst="rect">
            <a:avLst/>
          </a:prstGeom>
          <a:noFill/>
        </p:spPr>
        <p:txBody>
          <a:bodyPr wrap="none" lIns="0" rIns="0" tIns="0" bIns="0">
            <a:spAutoFit/>
          </a:bodyPr>
          <a:lstStyle/>
          <a:p>
            <a:r>
              <a:rPr sz="1150" b="0">
                <a:solidFill>
                  <a:srgbClr val="2E2E2E"/>
                </a:solidFill>
                <a:latin typeface="Calibri"/>
              </a:rPr>
              <a:t>X higher value than specialty extracted protein fractions segment in 2036. Among egg protein membrane by product type,</a:t>
            </a:r>
          </a:p>
        </p:txBody>
      </p:sp>
      <p:sp>
        <p:nvSpPr>
          <p:cNvPr id="21" name="TextBox 20"/>
          <p:cNvSpPr txBox="1"/>
          <p:nvPr/>
        </p:nvSpPr>
        <p:spPr>
          <a:xfrm>
            <a:off x="276225" y="3413760"/>
            <a:ext cx="5047872" cy="194310"/>
          </a:xfrm>
          <a:prstGeom prst="rect">
            <a:avLst/>
          </a:prstGeom>
          <a:noFill/>
        </p:spPr>
        <p:txBody>
          <a:bodyPr wrap="none" lIns="0" rIns="0" tIns="0" bIns="0">
            <a:spAutoFit/>
          </a:bodyPr>
          <a:lstStyle/>
          <a:p>
            <a:r>
              <a:rPr sz="1150" b="0">
                <a:solidFill>
                  <a:srgbClr val="2E2E2E"/>
                </a:solidFill>
                <a:latin typeface="Calibri"/>
              </a:rPr>
              <a:t>hydrolyzed eggshell membrane segment is expected to witness the highest CAGR of</a:t>
            </a:r>
          </a:p>
        </p:txBody>
      </p:sp>
      <p:pic>
        <p:nvPicPr>
          <p:cNvPr id="22" name="Picture 21" descr="lock.png"/>
          <p:cNvPicPr>
            <a:picLocks noChangeAspect="1"/>
          </p:cNvPicPr>
          <p:nvPr/>
        </p:nvPicPr>
        <p:blipFill>
          <a:blip r:embed="rId4"/>
          <a:stretch>
            <a:fillRect/>
          </a:stretch>
        </p:blipFill>
        <p:spPr>
          <a:xfrm>
            <a:off x="5273251" y="3403536"/>
            <a:ext cx="134549" cy="195707"/>
          </a:xfrm>
          <a:prstGeom prst="rect">
            <a:avLst/>
          </a:prstGeom>
        </p:spPr>
      </p:pic>
      <p:sp>
        <p:nvSpPr>
          <p:cNvPr id="23" name="TextBox 22"/>
          <p:cNvSpPr txBox="1"/>
          <p:nvPr/>
        </p:nvSpPr>
        <p:spPr>
          <a:xfrm>
            <a:off x="5448360" y="3413760"/>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24" name="TextBox 23"/>
          <p:cNvSpPr txBox="1"/>
          <p:nvPr/>
        </p:nvSpPr>
        <p:spPr>
          <a:xfrm>
            <a:off x="276225" y="3641597"/>
            <a:ext cx="7778055" cy="194310"/>
          </a:xfrm>
          <a:prstGeom prst="rect">
            <a:avLst/>
          </a:prstGeom>
          <a:noFill/>
        </p:spPr>
        <p:txBody>
          <a:bodyPr wrap="none" lIns="0" rIns="0" tIns="0" bIns="0">
            <a:spAutoFit/>
          </a:bodyPr>
          <a:lstStyle/>
          <a:p>
            <a:r>
              <a:rPr sz="1150" b="0">
                <a:solidFill>
                  <a:srgbClr val="2E2E2E"/>
                </a:solidFill>
                <a:latin typeface="Calibri"/>
              </a:rPr>
              <a:t>In terms of value share by product type, the micronized eggshell membrane segment is expected to dominate the market, gaining</a:t>
            </a:r>
          </a:p>
        </p:txBody>
      </p:sp>
      <p:pic>
        <p:nvPicPr>
          <p:cNvPr id="25" name="Picture 24" descr="lock.png"/>
          <p:cNvPicPr>
            <a:picLocks noChangeAspect="1"/>
          </p:cNvPicPr>
          <p:nvPr/>
        </p:nvPicPr>
        <p:blipFill>
          <a:blip r:embed="rId4"/>
          <a:stretch>
            <a:fillRect/>
          </a:stretch>
        </p:blipFill>
        <p:spPr>
          <a:xfrm>
            <a:off x="8003434" y="3631374"/>
            <a:ext cx="134549" cy="195707"/>
          </a:xfrm>
          <a:prstGeom prst="rect">
            <a:avLst/>
          </a:prstGeom>
        </p:spPr>
      </p:pic>
      <p:sp>
        <p:nvSpPr>
          <p:cNvPr id="26" name="TextBox 25"/>
          <p:cNvSpPr txBox="1"/>
          <p:nvPr/>
        </p:nvSpPr>
        <p:spPr>
          <a:xfrm>
            <a:off x="8178543" y="3641597"/>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27" name="Picture 26" descr="lock.png"/>
          <p:cNvPicPr>
            <a:picLocks noChangeAspect="1"/>
          </p:cNvPicPr>
          <p:nvPr/>
        </p:nvPicPr>
        <p:blipFill>
          <a:blip r:embed="rId4"/>
          <a:stretch>
            <a:fillRect/>
          </a:stretch>
        </p:blipFill>
        <p:spPr>
          <a:xfrm>
            <a:off x="9573686" y="3631374"/>
            <a:ext cx="134549" cy="195707"/>
          </a:xfrm>
          <a:prstGeom prst="rect">
            <a:avLst/>
          </a:prstGeom>
        </p:spPr>
      </p:pic>
      <p:sp>
        <p:nvSpPr>
          <p:cNvPr id="28" name="TextBox 27"/>
          <p:cNvSpPr txBox="1"/>
          <p:nvPr/>
        </p:nvSpPr>
        <p:spPr>
          <a:xfrm>
            <a:off x="9748796" y="3641597"/>
            <a:ext cx="1754063" cy="194310"/>
          </a:xfrm>
          <a:prstGeom prst="rect">
            <a:avLst/>
          </a:prstGeom>
          <a:noFill/>
        </p:spPr>
        <p:txBody>
          <a:bodyPr wrap="none" lIns="0" rIns="0" tIns="0" bIns="0">
            <a:spAutoFit/>
          </a:bodyPr>
          <a:lstStyle/>
          <a:p>
            <a:r>
              <a:rPr sz="1150" b="0">
                <a:solidFill>
                  <a:srgbClr val="2E2E2E"/>
                </a:solidFill>
                <a:latin typeface="Calibri"/>
              </a:rPr>
              <a:t>share by 2036. The specialty</a:t>
            </a:r>
          </a:p>
        </p:txBody>
      </p:sp>
      <p:sp>
        <p:nvSpPr>
          <p:cNvPr id="29" name="TextBox 28"/>
          <p:cNvSpPr txBox="1"/>
          <p:nvPr/>
        </p:nvSpPr>
        <p:spPr>
          <a:xfrm>
            <a:off x="276225" y="3816857"/>
            <a:ext cx="3349203" cy="194310"/>
          </a:xfrm>
          <a:prstGeom prst="rect">
            <a:avLst/>
          </a:prstGeom>
          <a:noFill/>
        </p:spPr>
        <p:txBody>
          <a:bodyPr wrap="none" lIns="0" rIns="0" tIns="0" bIns="0">
            <a:spAutoFit/>
          </a:bodyPr>
          <a:lstStyle/>
          <a:p>
            <a:r>
              <a:rPr sz="1150" b="0">
                <a:solidFill>
                  <a:srgbClr val="2E2E2E"/>
                </a:solidFill>
                <a:latin typeface="Calibri"/>
              </a:rPr>
              <a:t>extracted protein fractions segment is expected to lose</a:t>
            </a:r>
          </a:p>
        </p:txBody>
      </p:sp>
      <p:pic>
        <p:nvPicPr>
          <p:cNvPr id="30" name="Picture 29" descr="lock.png"/>
          <p:cNvPicPr>
            <a:picLocks noChangeAspect="1"/>
          </p:cNvPicPr>
          <p:nvPr/>
        </p:nvPicPr>
        <p:blipFill>
          <a:blip r:embed="rId4"/>
          <a:stretch>
            <a:fillRect/>
          </a:stretch>
        </p:blipFill>
        <p:spPr>
          <a:xfrm>
            <a:off x="3574582" y="3806634"/>
            <a:ext cx="134549" cy="195707"/>
          </a:xfrm>
          <a:prstGeom prst="rect">
            <a:avLst/>
          </a:prstGeom>
        </p:spPr>
      </p:pic>
      <p:sp>
        <p:nvSpPr>
          <p:cNvPr id="31" name="TextBox 30"/>
          <p:cNvSpPr txBox="1"/>
          <p:nvPr/>
        </p:nvSpPr>
        <p:spPr>
          <a:xfrm>
            <a:off x="3749691" y="3816857"/>
            <a:ext cx="2638350" cy="194310"/>
          </a:xfrm>
          <a:prstGeom prst="rect">
            <a:avLst/>
          </a:prstGeom>
          <a:noFill/>
        </p:spPr>
        <p:txBody>
          <a:bodyPr wrap="none" lIns="0" rIns="0" tIns="0" bIns="0">
            <a:spAutoFit/>
          </a:bodyPr>
          <a:lstStyle/>
          <a:p>
            <a:r>
              <a:rPr sz="1150" b="0">
                <a:solidFill>
                  <a:srgbClr val="2E2E2E"/>
                </a:solidFill>
                <a:latin typeface="Calibri"/>
              </a:rPr>
              <a:t>BPS over the forecast period to account for</a:t>
            </a:r>
          </a:p>
        </p:txBody>
      </p:sp>
      <p:pic>
        <p:nvPicPr>
          <p:cNvPr id="32" name="Picture 31" descr="lock.png"/>
          <p:cNvPicPr>
            <a:picLocks noChangeAspect="1"/>
          </p:cNvPicPr>
          <p:nvPr/>
        </p:nvPicPr>
        <p:blipFill>
          <a:blip r:embed="rId4"/>
          <a:stretch>
            <a:fillRect/>
          </a:stretch>
        </p:blipFill>
        <p:spPr>
          <a:xfrm>
            <a:off x="6337196" y="3806634"/>
            <a:ext cx="134549" cy="195707"/>
          </a:xfrm>
          <a:prstGeom prst="rect">
            <a:avLst/>
          </a:prstGeom>
        </p:spPr>
      </p:pic>
      <p:sp>
        <p:nvSpPr>
          <p:cNvPr id="33" name="TextBox 32"/>
          <p:cNvSpPr txBox="1"/>
          <p:nvPr/>
        </p:nvSpPr>
        <p:spPr>
          <a:xfrm>
            <a:off x="6512305" y="3816857"/>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Value &amp; Share Shift, By Product Type</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Value composition by Product Type in 2021, 2026 and 2036, highlighting share shifts in basis points</a:t>
            </a:r>
          </a:p>
        </p:txBody>
      </p:sp>
      <p:sp>
        <p:nvSpPr>
          <p:cNvPr id="7" name="Rounded Rectangle 6"/>
          <p:cNvSpPr/>
          <p:nvPr/>
        </p:nvSpPr>
        <p:spPr>
          <a:xfrm>
            <a:off x="142875" y="981075"/>
            <a:ext cx="7400925" cy="5648325"/>
          </a:xfrm>
          <a:prstGeom prst="roundRect">
            <a:avLst>
              <a:gd name="adj" fmla="val 134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7210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Composition, By Product Type ·  2021 / 2026 / 2036 (US$ Mn)  ·  right axis = BPS share shift</a:t>
            </a:r>
          </a:p>
        </p:txBody>
      </p:sp>
      <p:graphicFrame>
        <p:nvGraphicFramePr>
          <p:cNvPr id="9" name="Chart 8"/>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r:id="rId3"/>
          </a:graphicData>
        </a:graphic>
      </p:graphicFrame>
      <p:sp>
        <p:nvSpPr>
          <p:cNvPr id="10" name="TextBox 9"/>
          <p:cNvSpPr txBox="1"/>
          <p:nvPr/>
        </p:nvSpPr>
        <p:spPr>
          <a:xfrm>
            <a:off x="4852797" y="1590675"/>
            <a:ext cx="2595753" cy="171069"/>
          </a:xfrm>
          <a:prstGeom prst="rect">
            <a:avLst/>
          </a:prstGeom>
          <a:noFill/>
        </p:spPr>
        <p:txBody>
          <a:bodyPr wrap="square" lIns="28575" rIns="28575" tIns="9525" bIns="9525" anchor="ctr">
            <a:spAutoFit/>
          </a:bodyPr>
          <a:lstStyle/>
          <a:p>
            <a:pPr algn="ctr"/>
            <a:r>
              <a:rPr sz="1300" b="1">
                <a:solidFill>
                  <a:srgbClr val="2A5F8F"/>
                </a:solidFill>
                <a:latin typeface="Calibri"/>
              </a:rPr>
              <a:t>BPS Δ  (2021→2036)</a:t>
            </a:r>
          </a:p>
        </p:txBody>
      </p:sp>
      <p:sp>
        <p:nvSpPr>
          <p:cNvPr id="11" name="TMR Lock Anchor"/>
          <p:cNvSpPr txBox="1"/>
          <p:nvPr/>
        </p:nvSpPr>
        <p:spPr>
          <a:xfrm>
            <a:off x="2678811" y="4014597"/>
            <a:ext cx="38100" cy="38100"/>
          </a:xfrm>
          <a:prstGeom prst="rect">
            <a:avLst/>
          </a:prstGeom>
          <a:noFill/>
        </p:spPr>
        <p:txBody>
          <a:bodyPr wrap="none">
            <a:spAutoFit/>
          </a:bodyPr>
          <a:lstStyle/>
          <a:p/>
        </p:txBody>
      </p:sp>
      <p:sp>
        <p:nvSpPr>
          <p:cNvPr id="12" name="TMR Legend Chip"/>
          <p:cNvSpPr/>
          <p:nvPr/>
        </p:nvSpPr>
        <p:spPr>
          <a:xfrm>
            <a:off x="4928997" y="2219114"/>
            <a:ext cx="85725" cy="85725"/>
          </a:xfrm>
          <a:prstGeom prst="rect">
            <a:avLst/>
          </a:prstGeom>
          <a:solidFill>
            <a:srgbClr val="0E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Isosceles Triangle 12"/>
          <p:cNvSpPr/>
          <p:nvPr/>
        </p:nvSpPr>
        <p:spPr>
          <a:xfrm>
            <a:off x="5090922" y="2214352"/>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BPS Name 1"/>
          <p:cNvSpPr txBox="1"/>
          <p:nvPr/>
        </p:nvSpPr>
        <p:spPr>
          <a:xfrm>
            <a:off x="5233797" y="2138152"/>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Hydrolyzed Eggshell Membrane</a:t>
            </a:r>
          </a:p>
        </p:txBody>
      </p:sp>
      <p:sp>
        <p:nvSpPr>
          <p:cNvPr id="15" name="BPS Value 1"/>
          <p:cNvSpPr txBox="1"/>
          <p:nvPr/>
        </p:nvSpPr>
        <p:spPr>
          <a:xfrm>
            <a:off x="6896100" y="2200064"/>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16" name="TMR Legend Chip"/>
          <p:cNvSpPr/>
          <p:nvPr/>
        </p:nvSpPr>
        <p:spPr>
          <a:xfrm>
            <a:off x="4928997" y="3583832"/>
            <a:ext cx="85725" cy="85725"/>
          </a:xfrm>
          <a:prstGeom prst="rect">
            <a:avLst/>
          </a:prstGeom>
          <a:solidFill>
            <a:srgbClr val="0081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Isosceles Triangle 16"/>
          <p:cNvSpPr/>
          <p:nvPr/>
        </p:nvSpPr>
        <p:spPr>
          <a:xfrm rot="10800000">
            <a:off x="5090922" y="3579070"/>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PS Name 2"/>
          <p:cNvSpPr txBox="1"/>
          <p:nvPr/>
        </p:nvSpPr>
        <p:spPr>
          <a:xfrm>
            <a:off x="5233797" y="3502870"/>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Specialty Extracted Protein Fractions</a:t>
            </a:r>
          </a:p>
        </p:txBody>
      </p:sp>
      <p:sp>
        <p:nvSpPr>
          <p:cNvPr id="19" name="BPS Value 2"/>
          <p:cNvSpPr txBox="1"/>
          <p:nvPr/>
        </p:nvSpPr>
        <p:spPr>
          <a:xfrm>
            <a:off x="6896100" y="3564782"/>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0" name="TMR Legend Chip"/>
          <p:cNvSpPr/>
          <p:nvPr/>
        </p:nvSpPr>
        <p:spPr>
          <a:xfrm>
            <a:off x="4928997" y="5322165"/>
            <a:ext cx="85725" cy="85725"/>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Isosceles Triangle 20"/>
          <p:cNvSpPr/>
          <p:nvPr/>
        </p:nvSpPr>
        <p:spPr>
          <a:xfrm>
            <a:off x="5090922" y="5317402"/>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BPS Name 3"/>
          <p:cNvSpPr txBox="1"/>
          <p:nvPr/>
        </p:nvSpPr>
        <p:spPr>
          <a:xfrm>
            <a:off x="5233797" y="5241202"/>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Micronized Eggshell Membrane</a:t>
            </a:r>
          </a:p>
        </p:txBody>
      </p:sp>
      <p:sp>
        <p:nvSpPr>
          <p:cNvPr id="23" name="BPS Value 3"/>
          <p:cNvSpPr txBox="1"/>
          <p:nvPr/>
        </p:nvSpPr>
        <p:spPr>
          <a:xfrm>
            <a:off x="6896100" y="5303115"/>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4" name="Rounded Rectangle 23"/>
          <p:cNvSpPr/>
          <p:nvPr/>
        </p:nvSpPr>
        <p:spPr>
          <a:xfrm>
            <a:off x="7696200" y="981075"/>
            <a:ext cx="4343400" cy="5648325"/>
          </a:xfrm>
          <a:prstGeom prst="roundRect">
            <a:avLst>
              <a:gd name="adj" fmla="val 1754"/>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E2A5C"/>
                </a:solidFill>
                <a:latin typeface="Calibri"/>
              </a:rPr>
              <a:t>Global Read-out, By Product Type</a:t>
            </a:r>
          </a:p>
        </p:txBody>
      </p:sp>
      <p:sp>
        <p:nvSpPr>
          <p:cNvPr id="26" name="Rectangle 25"/>
          <p:cNvSpPr/>
          <p:nvPr/>
        </p:nvSpPr>
        <p:spPr>
          <a:xfrm>
            <a:off x="7829550" y="1304925"/>
            <a:ext cx="407670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28" name="Rectangle 27"/>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30" name="Picture 29" descr="lock.png"/>
          <p:cNvPicPr>
            <a:picLocks noChangeAspect="1"/>
          </p:cNvPicPr>
          <p:nvPr/>
        </p:nvPicPr>
        <p:blipFill>
          <a:blip r:embed="rId5"/>
          <a:stretch>
            <a:fillRect/>
          </a:stretch>
        </p:blipFill>
        <p:spPr>
          <a:xfrm>
            <a:off x="2557843" y="3833622"/>
            <a:ext cx="275034" cy="400050"/>
          </a:xfrm>
          <a:prstGeom prst="rect">
            <a:avLst/>
          </a:prstGeom>
        </p:spPr>
      </p:pic>
      <p:sp>
        <p:nvSpPr>
          <p:cNvPr id="31" name="TextBox 30"/>
          <p:cNvSpPr txBox="1"/>
          <p:nvPr/>
        </p:nvSpPr>
        <p:spPr>
          <a:xfrm>
            <a:off x="7829550" y="1400175"/>
            <a:ext cx="4057650" cy="194310"/>
          </a:xfrm>
          <a:prstGeom prst="rect">
            <a:avLst/>
          </a:prstGeom>
          <a:noFill/>
        </p:spPr>
        <p:txBody>
          <a:bodyPr wrap="none" lIns="0" rIns="0" tIns="0" bIns="0">
            <a:spAutoFit/>
          </a:bodyPr>
          <a:lstStyle/>
          <a:p>
            <a:r>
              <a:rPr sz="1150" b="0">
                <a:solidFill>
                  <a:srgbClr val="2E2E2E"/>
                </a:solidFill>
                <a:latin typeface="Calibri"/>
              </a:rPr>
              <a:t>Among egg protein membrane by product type, hydrolyzed eggshell</a:t>
            </a:r>
          </a:p>
        </p:txBody>
      </p:sp>
      <p:sp>
        <p:nvSpPr>
          <p:cNvPr id="32" name="TextBox 31"/>
          <p:cNvSpPr txBox="1"/>
          <p:nvPr/>
        </p:nvSpPr>
        <p:spPr>
          <a:xfrm>
            <a:off x="7829550" y="1575435"/>
            <a:ext cx="3842960" cy="194310"/>
          </a:xfrm>
          <a:prstGeom prst="rect">
            <a:avLst/>
          </a:prstGeom>
          <a:noFill/>
        </p:spPr>
        <p:txBody>
          <a:bodyPr wrap="none" lIns="0" rIns="0" tIns="0" bIns="0">
            <a:spAutoFit/>
          </a:bodyPr>
          <a:lstStyle/>
          <a:p>
            <a:r>
              <a:rPr sz="1150" b="0">
                <a:solidFill>
                  <a:srgbClr val="2E2E2E"/>
                </a:solidFill>
                <a:latin typeface="Calibri"/>
              </a:rPr>
              <a:t>membrane segment is expected to witness the highest CAGR of</a:t>
            </a:r>
          </a:p>
        </p:txBody>
      </p:sp>
      <p:pic>
        <p:nvPicPr>
          <p:cNvPr id="33" name="Picture 32" descr="lock.png"/>
          <p:cNvPicPr>
            <a:picLocks noChangeAspect="1"/>
          </p:cNvPicPr>
          <p:nvPr/>
        </p:nvPicPr>
        <p:blipFill>
          <a:blip r:embed="rId5"/>
          <a:stretch>
            <a:fillRect/>
          </a:stretch>
        </p:blipFill>
        <p:spPr>
          <a:xfrm>
            <a:off x="11621663" y="1565211"/>
            <a:ext cx="134549" cy="195707"/>
          </a:xfrm>
          <a:prstGeom prst="rect">
            <a:avLst/>
          </a:prstGeom>
        </p:spPr>
      </p:pic>
      <p:sp>
        <p:nvSpPr>
          <p:cNvPr id="34" name="TextBox 33"/>
          <p:cNvSpPr txBox="1"/>
          <p:nvPr/>
        </p:nvSpPr>
        <p:spPr>
          <a:xfrm>
            <a:off x="7829550" y="1750695"/>
            <a:ext cx="3954797" cy="194310"/>
          </a:xfrm>
          <a:prstGeom prst="rect">
            <a:avLst/>
          </a:prstGeom>
          <a:noFill/>
        </p:spPr>
        <p:txBody>
          <a:bodyPr wrap="none" lIns="0" rIns="0" tIns="0" bIns="0">
            <a:spAutoFit/>
          </a:bodyPr>
          <a:lstStyle/>
          <a:p>
            <a:r>
              <a:rPr sz="1150" b="0">
                <a:solidFill>
                  <a:srgbClr val="2E2E2E"/>
                </a:solidFill>
                <a:latin typeface="Calibri"/>
              </a:rPr>
              <a:t>over the forecast period. In terms of value share by product type,</a:t>
            </a:r>
          </a:p>
        </p:txBody>
      </p:sp>
      <p:sp>
        <p:nvSpPr>
          <p:cNvPr id="35" name="TextBox 34"/>
          <p:cNvSpPr txBox="1"/>
          <p:nvPr/>
        </p:nvSpPr>
        <p:spPr>
          <a:xfrm>
            <a:off x="7829550" y="1925955"/>
            <a:ext cx="3577976" cy="194310"/>
          </a:xfrm>
          <a:prstGeom prst="rect">
            <a:avLst/>
          </a:prstGeom>
          <a:noFill/>
        </p:spPr>
        <p:txBody>
          <a:bodyPr wrap="none" lIns="0" rIns="0" tIns="0" bIns="0">
            <a:spAutoFit/>
          </a:bodyPr>
          <a:lstStyle/>
          <a:p>
            <a:r>
              <a:rPr sz="1150" b="0">
                <a:solidFill>
                  <a:srgbClr val="2E2E2E"/>
                </a:solidFill>
                <a:latin typeface="Calibri"/>
              </a:rPr>
              <a:t>the micronized eggshell membrane segment is expected to</a:t>
            </a:r>
          </a:p>
        </p:txBody>
      </p:sp>
      <p:sp>
        <p:nvSpPr>
          <p:cNvPr id="36" name="TextBox 35"/>
          <p:cNvSpPr txBox="1"/>
          <p:nvPr/>
        </p:nvSpPr>
        <p:spPr>
          <a:xfrm>
            <a:off x="7829550" y="2101215"/>
            <a:ext cx="1837072" cy="194310"/>
          </a:xfrm>
          <a:prstGeom prst="rect">
            <a:avLst/>
          </a:prstGeom>
          <a:noFill/>
        </p:spPr>
        <p:txBody>
          <a:bodyPr wrap="none" lIns="0" rIns="0" tIns="0" bIns="0">
            <a:spAutoFit/>
          </a:bodyPr>
          <a:lstStyle/>
          <a:p>
            <a:r>
              <a:rPr sz="1150" b="0">
                <a:solidFill>
                  <a:srgbClr val="2E2E2E"/>
                </a:solidFill>
                <a:latin typeface="Calibri"/>
              </a:rPr>
              <a:t>dominate the market, gaining</a:t>
            </a:r>
          </a:p>
        </p:txBody>
      </p:sp>
      <p:pic>
        <p:nvPicPr>
          <p:cNvPr id="37" name="Picture 36" descr="lock.png"/>
          <p:cNvPicPr>
            <a:picLocks noChangeAspect="1"/>
          </p:cNvPicPr>
          <p:nvPr/>
        </p:nvPicPr>
        <p:blipFill>
          <a:blip r:embed="rId5"/>
          <a:stretch>
            <a:fillRect/>
          </a:stretch>
        </p:blipFill>
        <p:spPr>
          <a:xfrm>
            <a:off x="9615776" y="2090991"/>
            <a:ext cx="134549" cy="195707"/>
          </a:xfrm>
          <a:prstGeom prst="rect">
            <a:avLst/>
          </a:prstGeom>
        </p:spPr>
      </p:pic>
      <p:sp>
        <p:nvSpPr>
          <p:cNvPr id="38" name="TextBox 37"/>
          <p:cNvSpPr txBox="1"/>
          <p:nvPr/>
        </p:nvSpPr>
        <p:spPr>
          <a:xfrm>
            <a:off x="9790885" y="2101215"/>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39" name="Picture 38" descr="lock.png"/>
          <p:cNvPicPr>
            <a:picLocks noChangeAspect="1"/>
          </p:cNvPicPr>
          <p:nvPr/>
        </p:nvPicPr>
        <p:blipFill>
          <a:blip r:embed="rId5"/>
          <a:stretch>
            <a:fillRect/>
          </a:stretch>
        </p:blipFill>
        <p:spPr>
          <a:xfrm>
            <a:off x="11186028" y="2090991"/>
            <a:ext cx="134549" cy="195707"/>
          </a:xfrm>
          <a:prstGeom prst="rect">
            <a:avLst/>
          </a:prstGeom>
        </p:spPr>
      </p:pic>
      <p:sp>
        <p:nvSpPr>
          <p:cNvPr id="40" name="TextBox 39"/>
          <p:cNvSpPr txBox="1"/>
          <p:nvPr/>
        </p:nvSpPr>
        <p:spPr>
          <a:xfrm>
            <a:off x="7829550" y="2276475"/>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41" name="TextBox 40"/>
          <p:cNvSpPr txBox="1"/>
          <p:nvPr/>
        </p:nvSpPr>
        <p:spPr>
          <a:xfrm>
            <a:off x="7829550" y="2504313"/>
            <a:ext cx="3883483" cy="194310"/>
          </a:xfrm>
          <a:prstGeom prst="rect">
            <a:avLst/>
          </a:prstGeom>
          <a:noFill/>
        </p:spPr>
        <p:txBody>
          <a:bodyPr wrap="none" lIns="0" rIns="0" tIns="0" bIns="0">
            <a:spAutoFit/>
          </a:bodyPr>
          <a:lstStyle/>
          <a:p>
            <a:r>
              <a:rPr sz="1150" b="0">
                <a:solidFill>
                  <a:srgbClr val="2E2E2E"/>
                </a:solidFill>
                <a:latin typeface="Calibri"/>
              </a:rPr>
              <a:t>The specialty extracted protein fractions segment is expected to</a:t>
            </a:r>
          </a:p>
        </p:txBody>
      </p:sp>
      <p:sp>
        <p:nvSpPr>
          <p:cNvPr id="42" name="TextBox 41"/>
          <p:cNvSpPr txBox="1"/>
          <p:nvPr/>
        </p:nvSpPr>
        <p:spPr>
          <a:xfrm>
            <a:off x="7829550" y="2679573"/>
            <a:ext cx="316669" cy="194310"/>
          </a:xfrm>
          <a:prstGeom prst="rect">
            <a:avLst/>
          </a:prstGeom>
          <a:noFill/>
        </p:spPr>
        <p:txBody>
          <a:bodyPr wrap="none" lIns="0" rIns="0" tIns="0" bIns="0">
            <a:spAutoFit/>
          </a:bodyPr>
          <a:lstStyle/>
          <a:p>
            <a:r>
              <a:rPr sz="1150" b="0">
                <a:solidFill>
                  <a:srgbClr val="2E2E2E"/>
                </a:solidFill>
                <a:latin typeface="Calibri"/>
              </a:rPr>
              <a:t>lose</a:t>
            </a:r>
          </a:p>
        </p:txBody>
      </p:sp>
      <p:pic>
        <p:nvPicPr>
          <p:cNvPr id="43" name="Picture 42" descr="lock.png"/>
          <p:cNvPicPr>
            <a:picLocks noChangeAspect="1"/>
          </p:cNvPicPr>
          <p:nvPr/>
        </p:nvPicPr>
        <p:blipFill>
          <a:blip r:embed="rId5"/>
          <a:stretch>
            <a:fillRect/>
          </a:stretch>
        </p:blipFill>
        <p:spPr>
          <a:xfrm>
            <a:off x="8095372" y="2669349"/>
            <a:ext cx="134549" cy="195707"/>
          </a:xfrm>
          <a:prstGeom prst="rect">
            <a:avLst/>
          </a:prstGeom>
        </p:spPr>
      </p:pic>
      <p:sp>
        <p:nvSpPr>
          <p:cNvPr id="44" name="TextBox 43"/>
          <p:cNvSpPr txBox="1"/>
          <p:nvPr/>
        </p:nvSpPr>
        <p:spPr>
          <a:xfrm>
            <a:off x="8270482" y="2679573"/>
            <a:ext cx="2638350" cy="194310"/>
          </a:xfrm>
          <a:prstGeom prst="rect">
            <a:avLst/>
          </a:prstGeom>
          <a:noFill/>
        </p:spPr>
        <p:txBody>
          <a:bodyPr wrap="none" lIns="0" rIns="0" tIns="0" bIns="0">
            <a:spAutoFit/>
          </a:bodyPr>
          <a:lstStyle/>
          <a:p>
            <a:r>
              <a:rPr sz="1150" b="0">
                <a:solidFill>
                  <a:srgbClr val="2E2E2E"/>
                </a:solidFill>
                <a:latin typeface="Calibri"/>
              </a:rPr>
              <a:t>BPS over the forecast period to account for</a:t>
            </a:r>
          </a:p>
        </p:txBody>
      </p:sp>
      <p:pic>
        <p:nvPicPr>
          <p:cNvPr id="45" name="Picture 44" descr="lock.png"/>
          <p:cNvPicPr>
            <a:picLocks noChangeAspect="1"/>
          </p:cNvPicPr>
          <p:nvPr/>
        </p:nvPicPr>
        <p:blipFill>
          <a:blip r:embed="rId5"/>
          <a:stretch>
            <a:fillRect/>
          </a:stretch>
        </p:blipFill>
        <p:spPr>
          <a:xfrm>
            <a:off x="10857986" y="2669349"/>
            <a:ext cx="134549" cy="195707"/>
          </a:xfrm>
          <a:prstGeom prst="rect">
            <a:avLst/>
          </a:prstGeom>
        </p:spPr>
      </p:pic>
      <p:sp>
        <p:nvSpPr>
          <p:cNvPr id="46" name="TextBox 45"/>
          <p:cNvSpPr txBox="1"/>
          <p:nvPr/>
        </p:nvSpPr>
        <p:spPr>
          <a:xfrm>
            <a:off x="11033096" y="2679573"/>
            <a:ext cx="579673" cy="194310"/>
          </a:xfrm>
          <a:prstGeom prst="rect">
            <a:avLst/>
          </a:prstGeom>
          <a:noFill/>
        </p:spPr>
        <p:txBody>
          <a:bodyPr wrap="none" lIns="0" rIns="0" tIns="0" bIns="0">
            <a:spAutoFit/>
          </a:bodyPr>
          <a:lstStyle/>
          <a:p>
            <a:r>
              <a:rPr sz="1150" b="0">
                <a:solidFill>
                  <a:srgbClr val="2E2E2E"/>
                </a:solidFill>
                <a:latin typeface="Calibri"/>
              </a:rPr>
              <a:t>share by</a:t>
            </a:r>
          </a:p>
        </p:txBody>
      </p:sp>
      <p:sp>
        <p:nvSpPr>
          <p:cNvPr id="47" name="TextBox 46"/>
          <p:cNvSpPr txBox="1"/>
          <p:nvPr/>
        </p:nvSpPr>
        <p:spPr>
          <a:xfrm>
            <a:off x="7829550" y="2854832"/>
            <a:ext cx="409661" cy="194310"/>
          </a:xfrm>
          <a:prstGeom prst="rect">
            <a:avLst/>
          </a:prstGeom>
          <a:noFill/>
        </p:spPr>
        <p:txBody>
          <a:bodyPr wrap="none" lIns="0" rIns="0" tIns="0" bIns="0">
            <a:spAutoFit/>
          </a:bodyPr>
          <a:lstStyle/>
          <a:p>
            <a:r>
              <a:rPr sz="1150" b="0">
                <a:solidFill>
                  <a:srgbClr val="2E2E2E"/>
                </a:solidFill>
                <a:latin typeface="Calibri"/>
              </a:rPr>
              <a:t>2036.</a:t>
            </a:r>
          </a:p>
        </p:txBody>
      </p:sp>
      <p:sp>
        <p:nvSpPr>
          <p:cNvPr id="48" name="lockshield_9"/>
          <p:cNvSpPr/>
          <p:nvPr/>
        </p:nvSpPr>
        <p:spPr>
          <a:xfrm>
            <a:off x="238125" y="1581150"/>
            <a:ext cx="4614672" cy="49911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3F8FD"/>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3F8FD"/>
              </a:gs>
              <a:gs pos="100000">
                <a:srgbClr val="DCE9F6"/>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FE0F0">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9C8E6">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B7D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A5F8F"/>
              </a:gs>
              <a:gs pos="100000">
                <a:srgbClr val="6FA6D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MR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7.2</a:t>
            </a:r>
          </a:p>
        </p:txBody>
      </p:sp>
      <p:pic>
        <p:nvPicPr>
          <p:cNvPr id="8" name="Picture 7" descr="tmr_logo.png"/>
          <p:cNvPicPr>
            <a:picLocks noChangeAspect="1"/>
          </p:cNvPicPr>
          <p:nvPr/>
        </p:nvPicPr>
        <p:blipFill>
          <a:blip r:embed="rId2"/>
          <a:stretch>
            <a:fillRect/>
          </a:stretch>
        </p:blipFill>
        <p:spPr>
          <a:xfrm>
            <a:off x="411480" y="274320"/>
            <a:ext cx="1307592" cy="975505"/>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2A5F8F"/>
                </a:solidFill>
                <a:latin typeface="Calibri"/>
              </a:rPr>
              <a:t>Egg Protein Membrane Market</a:t>
            </a:r>
          </a:p>
        </p:txBody>
      </p:sp>
      <p:sp>
        <p:nvSpPr>
          <p:cNvPr id="10" name="TMR Section Title"/>
          <p:cNvSpPr txBox="1"/>
          <p:nvPr/>
        </p:nvSpPr>
        <p:spPr>
          <a:xfrm>
            <a:off x="914400" y="2701925"/>
            <a:ext cx="8572500" cy="514350"/>
          </a:xfrm>
          <a:prstGeom prst="rect">
            <a:avLst/>
          </a:prstGeom>
          <a:noFill/>
        </p:spPr>
        <p:txBody>
          <a:bodyPr wrap="square" lIns="0" rIns="0" tIns="0">
            <a:spAutoFit/>
          </a:bodyPr>
          <a:lstStyle/>
          <a:p>
            <a:r>
              <a:rPr sz="3000" b="1">
                <a:solidFill>
                  <a:srgbClr val="0E2A5C"/>
                </a:solidFill>
                <a:latin typeface="Calibri"/>
              </a:rPr>
              <a:t>Extraction / Processing Method</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Extraction / Processing Method Segment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Structure &amp; Attractiveness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Value Analysis</a:t>
            </a:r>
          </a:p>
        </p:txBody>
      </p:sp>
      <p:sp>
        <p:nvSpPr>
          <p:cNvPr id="12" name="Rectangle 11"/>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By Extraction / Processing Method Segment Outlook</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Segment analysis of market size, growth and share across 4 sub-segments of Extraction / Processing Method, 2026–2036</a:t>
            </a:r>
          </a:p>
        </p:txBody>
      </p:sp>
      <p:sp>
        <p:nvSpPr>
          <p:cNvPr id="7" name="TextBox 6"/>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Extraction / Processing Method segment categorizes the market by extraction / processing method. Each sub-category is evaluated on market size, growth outlook and adoption trends across the forecast period.</a:t>
            </a:r>
          </a:p>
        </p:txBody>
      </p:sp>
      <p:sp>
        <p:nvSpPr>
          <p:cNvPr id="8" name="Rectangle 7"/>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Sub-Segment</a:t>
            </a:r>
          </a:p>
        </p:txBody>
      </p:sp>
      <p:sp>
        <p:nvSpPr>
          <p:cNvPr id="10" name="Rectangle 9"/>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2" name="Rectangle 11"/>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4" name="Rectangle 13"/>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16" name="Rounded Rectangle 15"/>
          <p:cNvSpPr/>
          <p:nvPr/>
        </p:nvSpPr>
        <p:spPr>
          <a:xfrm>
            <a:off x="1866900" y="1773916"/>
            <a:ext cx="2414588"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866900" y="1992961"/>
            <a:ext cx="2414588"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905000"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Mechanical Separation &amp; Microniza…</a:t>
            </a:r>
          </a:p>
        </p:txBody>
      </p:sp>
      <p:sp>
        <p:nvSpPr>
          <p:cNvPr id="19" name="Rectangle 18"/>
          <p:cNvSpPr/>
          <p:nvPr/>
        </p:nvSpPr>
        <p:spPr>
          <a:xfrm>
            <a:off x="1866900"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0" name="Rectangle 19"/>
          <p:cNvSpPr/>
          <p:nvPr/>
        </p:nvSpPr>
        <p:spPr>
          <a:xfrm>
            <a:off x="1866900"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1" name="Rectangle 20"/>
          <p:cNvSpPr/>
          <p:nvPr/>
        </p:nvSpPr>
        <p:spPr>
          <a:xfrm>
            <a:off x="1866900"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2" name="Oval 21"/>
          <p:cNvSpPr/>
          <p:nvPr/>
        </p:nvSpPr>
        <p:spPr>
          <a:xfrm>
            <a:off x="2912269"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23" name="Rounded Rectangle 22"/>
          <p:cNvSpPr/>
          <p:nvPr/>
        </p:nvSpPr>
        <p:spPr>
          <a:xfrm>
            <a:off x="4395788" y="1773916"/>
            <a:ext cx="2414588"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395788" y="1992961"/>
            <a:ext cx="2414588"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433888"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Other / Hybrid Processing Methods</a:t>
            </a:r>
          </a:p>
        </p:txBody>
      </p:sp>
      <p:sp>
        <p:nvSpPr>
          <p:cNvPr id="26" name="Rectangle 25"/>
          <p:cNvSpPr/>
          <p:nvPr/>
        </p:nvSpPr>
        <p:spPr>
          <a:xfrm>
            <a:off x="4395788"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27" name="Rectangle 26"/>
          <p:cNvSpPr/>
          <p:nvPr/>
        </p:nvSpPr>
        <p:spPr>
          <a:xfrm>
            <a:off x="4395788"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28" name="Rectangle 27"/>
          <p:cNvSpPr/>
          <p:nvPr/>
        </p:nvSpPr>
        <p:spPr>
          <a:xfrm>
            <a:off x="4395788"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29" name="Oval 28"/>
          <p:cNvSpPr/>
          <p:nvPr/>
        </p:nvSpPr>
        <p:spPr>
          <a:xfrm>
            <a:off x="5441156"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30" name="Rounded Rectangle 29"/>
          <p:cNvSpPr/>
          <p:nvPr/>
        </p:nvSpPr>
        <p:spPr>
          <a:xfrm>
            <a:off x="6924675" y="1773916"/>
            <a:ext cx="2414588" cy="438089"/>
          </a:xfrm>
          <a:prstGeom prst="roundRect">
            <a:avLst>
              <a:gd name="adj" fmla="val 18000"/>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924675" y="1992961"/>
            <a:ext cx="2414588" cy="219044"/>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962775"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Chemical Hydrolysis / Solubilizat…</a:t>
            </a:r>
          </a:p>
        </p:txBody>
      </p:sp>
      <p:sp>
        <p:nvSpPr>
          <p:cNvPr id="33" name="Rectangle 32"/>
          <p:cNvSpPr/>
          <p:nvPr/>
        </p:nvSpPr>
        <p:spPr>
          <a:xfrm>
            <a:off x="6924675"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4" name="Rectangle 33"/>
          <p:cNvSpPr/>
          <p:nvPr/>
        </p:nvSpPr>
        <p:spPr>
          <a:xfrm>
            <a:off x="6924675"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5" name="Rectangle 34"/>
          <p:cNvSpPr/>
          <p:nvPr/>
        </p:nvSpPr>
        <p:spPr>
          <a:xfrm>
            <a:off x="6924675"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6" name="Oval 35"/>
          <p:cNvSpPr/>
          <p:nvPr/>
        </p:nvSpPr>
        <p:spPr>
          <a:xfrm>
            <a:off x="7970044" y="1445350"/>
            <a:ext cx="323850" cy="310313"/>
          </a:xfrm>
          <a:prstGeom prst="ellipse">
            <a:avLst/>
          </a:prstGeom>
          <a:solidFill>
            <a:srgbClr val="0081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3</a:t>
            </a:r>
          </a:p>
        </p:txBody>
      </p:sp>
      <p:sp>
        <p:nvSpPr>
          <p:cNvPr id="37" name="Rounded Rectangle 36"/>
          <p:cNvSpPr/>
          <p:nvPr/>
        </p:nvSpPr>
        <p:spPr>
          <a:xfrm>
            <a:off x="9453562" y="1773916"/>
            <a:ext cx="2414588" cy="438089"/>
          </a:xfrm>
          <a:prstGeom prst="roundRect">
            <a:avLst>
              <a:gd name="adj" fmla="val 18000"/>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453562" y="1992961"/>
            <a:ext cx="2414588" cy="219044"/>
          </a:xfrm>
          <a:prstGeom prst="rect">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491662"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Enzymatic Hydrolysis</a:t>
            </a:r>
          </a:p>
        </p:txBody>
      </p:sp>
      <p:sp>
        <p:nvSpPr>
          <p:cNvPr id="40" name="Rectangle 39"/>
          <p:cNvSpPr/>
          <p:nvPr/>
        </p:nvSpPr>
        <p:spPr>
          <a:xfrm>
            <a:off x="9453562"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1" name="Rectangle 40"/>
          <p:cNvSpPr/>
          <p:nvPr/>
        </p:nvSpPr>
        <p:spPr>
          <a:xfrm>
            <a:off x="9453562"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2" name="Rectangle 41"/>
          <p:cNvSpPr/>
          <p:nvPr/>
        </p:nvSpPr>
        <p:spPr>
          <a:xfrm>
            <a:off x="9453562"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3" name="Oval 42"/>
          <p:cNvSpPr/>
          <p:nvPr/>
        </p:nvSpPr>
        <p:spPr>
          <a:xfrm>
            <a:off x="10498931" y="1445350"/>
            <a:ext cx="323850" cy="310313"/>
          </a:xfrm>
          <a:prstGeom prst="ellipse">
            <a:avLst/>
          </a:prstGeom>
          <a:solidFill>
            <a:srgbClr val="6F3CC2"/>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4</a:t>
            </a:r>
          </a:p>
        </p:txBody>
      </p:sp>
      <p:sp>
        <p:nvSpPr>
          <p:cNvPr id="44" name="Rounded Rectangle 43"/>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B2E4A"/>
                </a:solidFill>
                <a:latin typeface="Calibri"/>
              </a:rPr>
              <a:t>Key Highlights</a:t>
            </a:r>
          </a:p>
        </p:txBody>
      </p:sp>
      <p:sp>
        <p:nvSpPr>
          <p:cNvPr id="46" name="Rectangle 45"/>
          <p:cNvSpPr/>
          <p:nvPr/>
        </p:nvSpPr>
        <p:spPr>
          <a:xfrm>
            <a:off x="457200" y="4146897"/>
            <a:ext cx="2971800" cy="18254"/>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57200" y="4219912"/>
            <a:ext cx="2971800" cy="2117429"/>
          </a:xfrm>
          <a:prstGeom prst="rect">
            <a:avLst/>
          </a:prstGeom>
          <a:noFill/>
        </p:spPr>
        <p:txBody>
          <a:bodyPr wrap="square" lIns="28575" rIns="28575" tIns="9525" bIns="9525">
            <a:spAutoFit/>
          </a:bodyPr>
          <a:lstStyle/>
          <a:p>
            <a:pPr algn="l">
              <a:lnSpc>
                <a:spcPct val="105000"/>
              </a:lnSpc>
              <a:spcBef>
                <a:spcPts val="0"/>
              </a:spcBef>
              <a:spcAft>
                <a:spcPts val="300"/>
              </a:spcAft>
            </a:pPr>
            <a:r>
              <a:rPr sz="1100" b="0">
                <a:solidFill>
                  <a:srgbClr val="2E2E2E"/>
                </a:solidFill>
                <a:latin typeface="Calibri"/>
              </a:rPr>
              <a:t/>
            </a:r>
          </a:p>
          <a:p>
            <a:pPr algn="l">
              <a:lnSpc>
                <a:spcPct val="105000"/>
              </a:lnSpc>
              <a:spcBef>
                <a:spcPts val="0"/>
              </a:spcBef>
              <a:spcAft>
                <a:spcPts val="300"/>
              </a:spcAft>
            </a:pPr>
            <a:r>
              <a:rPr sz="1100" b="0">
                <a:solidFill>
                  <a:srgbClr val="2E2E2E"/>
                </a:solidFill>
                <a:latin typeface="Calibri"/>
              </a:rPr>
              <a:t/>
            </a:r>
          </a:p>
        </p:txBody>
      </p:sp>
      <p:sp>
        <p:nvSpPr>
          <p:cNvPr id="48" name="Rounded Rectangle 47"/>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B2E4A"/>
                </a:solidFill>
                <a:latin typeface="Calibri"/>
              </a:rPr>
              <a:t>Sub-Segment Insights</a:t>
            </a:r>
          </a:p>
        </p:txBody>
      </p:sp>
      <p:sp>
        <p:nvSpPr>
          <p:cNvPr id="50" name="Rectangle 49"/>
          <p:cNvSpPr/>
          <p:nvPr/>
        </p:nvSpPr>
        <p:spPr>
          <a:xfrm>
            <a:off x="3810000" y="4146897"/>
            <a:ext cx="4210050" cy="18254"/>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B2E4A"/>
                </a:solidFill>
                <a:latin typeface="Calibri"/>
              </a:rPr>
              <a:t/>
            </a:r>
            <a:r>
              <a:rPr sz="1100" b="1">
                <a:solidFill>
                  <a:srgbClr val="0B2E4A"/>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1">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08189"/>
                </a:solidFill>
                <a:latin typeface="Calibri"/>
              </a:rPr>
              <a:t/>
            </a:r>
            <a:r>
              <a:rPr sz="1100" b="1">
                <a:solidFill>
                  <a:srgbClr val="008189"/>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6F3CC2"/>
                </a:solidFill>
                <a:latin typeface="Calibri"/>
              </a:rPr>
              <a:t/>
            </a:r>
            <a:r>
              <a:rPr sz="1100" b="1">
                <a:solidFill>
                  <a:srgbClr val="6F3CC2"/>
                </a:solidFill>
                <a:latin typeface="Calibri"/>
              </a:rPr>
              <a:t/>
            </a:r>
            <a:r>
              <a:rPr sz="1100" b="0">
                <a:solidFill>
                  <a:srgbClr val="2E2E2E"/>
                </a:solidFill>
                <a:latin typeface="Calibri"/>
              </a:rPr>
              <a:t/>
            </a:r>
          </a:p>
        </p:txBody>
      </p:sp>
      <p:sp>
        <p:nvSpPr>
          <p:cNvPr id="52" name="Rounded Rectangle 51"/>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B2E4A"/>
                </a:solidFill>
                <a:latin typeface="Calibri"/>
              </a:rPr>
              <a:t>Segment Overview</a:t>
            </a:r>
          </a:p>
        </p:txBody>
      </p:sp>
      <p:sp>
        <p:nvSpPr>
          <p:cNvPr id="54" name="Rectangle 53"/>
          <p:cNvSpPr/>
          <p:nvPr/>
        </p:nvSpPr>
        <p:spPr>
          <a:xfrm>
            <a:off x="8401050" y="4146897"/>
            <a:ext cx="3333750" cy="18254"/>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00ACAC"/>
                </a:solidFill>
                <a:latin typeface="Calibri"/>
              </a:rPr>
              <a:t>✓  </a:t>
            </a:r>
            <a:r>
              <a:rPr sz="1100" b="0">
                <a:solidFill>
                  <a:srgbClr val="2E2E2E"/>
                </a:solidFill>
                <a:latin typeface="Calibri"/>
              </a:rPr>
              <a:t>The Extraction / Processing Method split shows how demand is distributed across extraction / processing method types and where growth concentrates.</a:t>
            </a:r>
          </a:p>
          <a:p>
            <a:pPr algn="l">
              <a:lnSpc>
                <a:spcPct val="110000"/>
              </a:lnSpc>
              <a:spcBef>
                <a:spcPts val="0"/>
              </a:spcBef>
              <a:spcAft>
                <a:spcPts val="500"/>
              </a:spcAft>
            </a:pPr>
            <a:r>
              <a:rPr sz="1100" b="1">
                <a:solidFill>
                  <a:srgbClr val="00ACAC"/>
                </a:solidFill>
                <a:latin typeface="Calibri"/>
              </a:rPr>
              <a:t>✓  </a:t>
            </a:r>
            <a:r>
              <a:rPr sz="1100" b="0">
                <a:solidFill>
                  <a:srgbClr val="2E2E2E"/>
                </a:solidFill>
                <a:latin typeface="Calibri"/>
              </a:rPr>
              <a:t>Shifting preferences and product innovation are reshaping the mix through 2036.</a:t>
            </a:r>
          </a:p>
        </p:txBody>
      </p:sp>
      <p:sp>
        <p:nvSpPr>
          <p:cNvPr id="56" name="Rectangle 55"/>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B2E4A"/>
                </a:solidFill>
                <a:latin typeface="Calibri"/>
              </a:rPr>
              <a:t/>
            </a:r>
          </a:p>
        </p:txBody>
      </p:sp>
      <p:sp>
        <p:nvSpPr>
          <p:cNvPr id="58" name="TextBox 57"/>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TMR Analysis, 2026</a:t>
            </a:r>
          </a:p>
        </p:txBody>
      </p:sp>
      <p:sp>
        <p:nvSpPr>
          <p:cNvPr id="59" name="Rectangle 58"/>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61" name="Picture 60" descr="4_581_605E5C.png"/>
          <p:cNvPicPr>
            <a:picLocks noChangeAspect="1"/>
          </p:cNvPicPr>
          <p:nvPr/>
        </p:nvPicPr>
        <p:blipFill>
          <a:blip r:embed="rId4"/>
          <a:stretch>
            <a:fillRect/>
          </a:stretch>
        </p:blipFill>
        <p:spPr>
          <a:xfrm>
            <a:off x="2476330" y="2286582"/>
            <a:ext cx="1195728" cy="361950"/>
          </a:xfrm>
          <a:prstGeom prst="rect">
            <a:avLst/>
          </a:prstGeom>
        </p:spPr>
      </p:pic>
      <p:pic>
        <p:nvPicPr>
          <p:cNvPr id="62" name="Picture 61" descr="7_744_605E5C.png"/>
          <p:cNvPicPr>
            <a:picLocks noChangeAspect="1"/>
          </p:cNvPicPr>
          <p:nvPr/>
        </p:nvPicPr>
        <p:blipFill>
          <a:blip r:embed="rId5"/>
          <a:stretch>
            <a:fillRect/>
          </a:stretch>
        </p:blipFill>
        <p:spPr>
          <a:xfrm>
            <a:off x="2476330" y="2779432"/>
            <a:ext cx="1195728" cy="361950"/>
          </a:xfrm>
          <a:prstGeom prst="rect">
            <a:avLst/>
          </a:prstGeom>
        </p:spPr>
      </p:pic>
      <p:pic>
        <p:nvPicPr>
          <p:cNvPr id="63" name="Picture 62" descr="5_4__605E5C.png"/>
          <p:cNvPicPr>
            <a:picLocks noChangeAspect="1"/>
          </p:cNvPicPr>
          <p:nvPr/>
        </p:nvPicPr>
        <p:blipFill>
          <a:blip r:embed="rId6"/>
          <a:stretch>
            <a:fillRect/>
          </a:stretch>
        </p:blipFill>
        <p:spPr>
          <a:xfrm>
            <a:off x="2582976" y="3272281"/>
            <a:ext cx="982436" cy="361950"/>
          </a:xfrm>
          <a:prstGeom prst="rect">
            <a:avLst/>
          </a:prstGeom>
        </p:spPr>
      </p:pic>
      <p:pic>
        <p:nvPicPr>
          <p:cNvPr id="64" name="Picture 63" descr="3_472_605E5C.png"/>
          <p:cNvPicPr>
            <a:picLocks noChangeAspect="1"/>
          </p:cNvPicPr>
          <p:nvPr/>
        </p:nvPicPr>
        <p:blipFill>
          <a:blip r:embed="rId7"/>
          <a:stretch>
            <a:fillRect/>
          </a:stretch>
        </p:blipFill>
        <p:spPr>
          <a:xfrm>
            <a:off x="5005218" y="2286582"/>
            <a:ext cx="1195728" cy="361950"/>
          </a:xfrm>
          <a:prstGeom prst="rect">
            <a:avLst/>
          </a:prstGeom>
        </p:spPr>
      </p:pic>
      <p:pic>
        <p:nvPicPr>
          <p:cNvPr id="65" name="Picture 64" descr="5_941_605E5C.png"/>
          <p:cNvPicPr>
            <a:picLocks noChangeAspect="1"/>
          </p:cNvPicPr>
          <p:nvPr/>
        </p:nvPicPr>
        <p:blipFill>
          <a:blip r:embed="rId8"/>
          <a:stretch>
            <a:fillRect/>
          </a:stretch>
        </p:blipFill>
        <p:spPr>
          <a:xfrm>
            <a:off x="5005218" y="2779432"/>
            <a:ext cx="1195728" cy="361950"/>
          </a:xfrm>
          <a:prstGeom prst="rect">
            <a:avLst/>
          </a:prstGeom>
        </p:spPr>
      </p:pic>
      <p:pic>
        <p:nvPicPr>
          <p:cNvPr id="66" name="Picture 65" descr="5_5__605E5C.png"/>
          <p:cNvPicPr>
            <a:picLocks noChangeAspect="1"/>
          </p:cNvPicPr>
          <p:nvPr/>
        </p:nvPicPr>
        <p:blipFill>
          <a:blip r:embed="rId9"/>
          <a:stretch>
            <a:fillRect/>
          </a:stretch>
        </p:blipFill>
        <p:spPr>
          <a:xfrm>
            <a:off x="5111864" y="3272281"/>
            <a:ext cx="982436" cy="361950"/>
          </a:xfrm>
          <a:prstGeom prst="rect">
            <a:avLst/>
          </a:prstGeom>
        </p:spPr>
      </p:pic>
      <p:pic>
        <p:nvPicPr>
          <p:cNvPr id="67" name="Picture 66" descr="1_825_605E5C.png"/>
          <p:cNvPicPr>
            <a:picLocks noChangeAspect="1"/>
          </p:cNvPicPr>
          <p:nvPr/>
        </p:nvPicPr>
        <p:blipFill>
          <a:blip r:embed="rId10"/>
          <a:stretch>
            <a:fillRect/>
          </a:stretch>
        </p:blipFill>
        <p:spPr>
          <a:xfrm>
            <a:off x="7534105" y="2286582"/>
            <a:ext cx="1195728" cy="361950"/>
          </a:xfrm>
          <a:prstGeom prst="rect">
            <a:avLst/>
          </a:prstGeom>
        </p:spPr>
      </p:pic>
      <p:pic>
        <p:nvPicPr>
          <p:cNvPr id="68" name="Picture 67" descr="2_845_605E5C.png"/>
          <p:cNvPicPr>
            <a:picLocks noChangeAspect="1"/>
          </p:cNvPicPr>
          <p:nvPr/>
        </p:nvPicPr>
        <p:blipFill>
          <a:blip r:embed="rId11"/>
          <a:stretch>
            <a:fillRect/>
          </a:stretch>
        </p:blipFill>
        <p:spPr>
          <a:xfrm>
            <a:off x="7534105" y="2779432"/>
            <a:ext cx="1195728" cy="361950"/>
          </a:xfrm>
          <a:prstGeom prst="rect">
            <a:avLst/>
          </a:prstGeom>
        </p:spPr>
      </p:pic>
      <p:pic>
        <p:nvPicPr>
          <p:cNvPr id="69" name="Picture 68" descr="4_5__605E5C.png"/>
          <p:cNvPicPr>
            <a:picLocks noChangeAspect="1"/>
          </p:cNvPicPr>
          <p:nvPr/>
        </p:nvPicPr>
        <p:blipFill>
          <a:blip r:embed="rId12"/>
          <a:stretch>
            <a:fillRect/>
          </a:stretch>
        </p:blipFill>
        <p:spPr>
          <a:xfrm>
            <a:off x="7640751" y="3272281"/>
            <a:ext cx="982436" cy="361950"/>
          </a:xfrm>
          <a:prstGeom prst="rect">
            <a:avLst/>
          </a:prstGeom>
        </p:spPr>
      </p:pic>
      <p:pic>
        <p:nvPicPr>
          <p:cNvPr id="70" name="Picture 69" descr="1_022_605E5C.png"/>
          <p:cNvPicPr>
            <a:picLocks noChangeAspect="1"/>
          </p:cNvPicPr>
          <p:nvPr/>
        </p:nvPicPr>
        <p:blipFill>
          <a:blip r:embed="rId13"/>
          <a:stretch>
            <a:fillRect/>
          </a:stretch>
        </p:blipFill>
        <p:spPr>
          <a:xfrm>
            <a:off x="10062992" y="2286582"/>
            <a:ext cx="1195728" cy="361950"/>
          </a:xfrm>
          <a:prstGeom prst="rect">
            <a:avLst/>
          </a:prstGeom>
        </p:spPr>
      </p:pic>
      <p:pic>
        <p:nvPicPr>
          <p:cNvPr id="71" name="Picture 70" descr="1_148_605E5C.png"/>
          <p:cNvPicPr>
            <a:picLocks noChangeAspect="1"/>
          </p:cNvPicPr>
          <p:nvPr/>
        </p:nvPicPr>
        <p:blipFill>
          <a:blip r:embed="rId14"/>
          <a:stretch>
            <a:fillRect/>
          </a:stretch>
        </p:blipFill>
        <p:spPr>
          <a:xfrm>
            <a:off x="10062992" y="2779432"/>
            <a:ext cx="1195728" cy="361950"/>
          </a:xfrm>
          <a:prstGeom prst="rect">
            <a:avLst/>
          </a:prstGeom>
        </p:spPr>
      </p:pic>
      <p:pic>
        <p:nvPicPr>
          <p:cNvPr id="72" name="Picture 71" descr="1_2__605E5C.png"/>
          <p:cNvPicPr>
            <a:picLocks noChangeAspect="1"/>
          </p:cNvPicPr>
          <p:nvPr/>
        </p:nvPicPr>
        <p:blipFill>
          <a:blip r:embed="rId15"/>
          <a:stretch>
            <a:fillRect/>
          </a:stretch>
        </p:blipFill>
        <p:spPr>
          <a:xfrm>
            <a:off x="10169638" y="3272281"/>
            <a:ext cx="982436" cy="361950"/>
          </a:xfrm>
          <a:prstGeom prst="rect">
            <a:avLst/>
          </a:prstGeom>
        </p:spPr>
      </p:pic>
      <p:pic>
        <p:nvPicPr>
          <p:cNvPr id="73" name="Picture 72" descr="lock.png"/>
          <p:cNvPicPr>
            <a:picLocks noChangeAspect="1"/>
          </p:cNvPicPr>
          <p:nvPr/>
        </p:nvPicPr>
        <p:blipFill>
          <a:blip r:embed="rId16"/>
          <a:stretch>
            <a:fillRect/>
          </a:stretch>
        </p:blipFill>
        <p:spPr>
          <a:xfrm>
            <a:off x="2980848" y="2827057"/>
            <a:ext cx="183356" cy="266700"/>
          </a:xfrm>
          <a:prstGeom prst="rect">
            <a:avLst/>
          </a:prstGeom>
        </p:spPr>
      </p:pic>
      <p:pic>
        <p:nvPicPr>
          <p:cNvPr id="74" name="Picture 73" descr="lock.png"/>
          <p:cNvPicPr>
            <a:picLocks noChangeAspect="1"/>
          </p:cNvPicPr>
          <p:nvPr/>
        </p:nvPicPr>
        <p:blipFill>
          <a:blip r:embed="rId16"/>
          <a:stretch>
            <a:fillRect/>
          </a:stretch>
        </p:blipFill>
        <p:spPr>
          <a:xfrm>
            <a:off x="5509737" y="2827057"/>
            <a:ext cx="183356" cy="266700"/>
          </a:xfrm>
          <a:prstGeom prst="rect">
            <a:avLst/>
          </a:prstGeom>
        </p:spPr>
      </p:pic>
      <p:pic>
        <p:nvPicPr>
          <p:cNvPr id="75" name="Picture 74" descr="lock.png"/>
          <p:cNvPicPr>
            <a:picLocks noChangeAspect="1"/>
          </p:cNvPicPr>
          <p:nvPr/>
        </p:nvPicPr>
        <p:blipFill>
          <a:blip r:embed="rId16"/>
          <a:stretch>
            <a:fillRect/>
          </a:stretch>
        </p:blipFill>
        <p:spPr>
          <a:xfrm>
            <a:off x="8038624" y="2827057"/>
            <a:ext cx="183356" cy="266700"/>
          </a:xfrm>
          <a:prstGeom prst="rect">
            <a:avLst/>
          </a:prstGeom>
        </p:spPr>
      </p:pic>
      <p:pic>
        <p:nvPicPr>
          <p:cNvPr id="76" name="Picture 75" descr="lock.png"/>
          <p:cNvPicPr>
            <a:picLocks noChangeAspect="1"/>
          </p:cNvPicPr>
          <p:nvPr/>
        </p:nvPicPr>
        <p:blipFill>
          <a:blip r:embed="rId16"/>
          <a:stretch>
            <a:fillRect/>
          </a:stretch>
        </p:blipFill>
        <p:spPr>
          <a:xfrm>
            <a:off x="10567511" y="2827057"/>
            <a:ext cx="183356" cy="266700"/>
          </a:xfrm>
          <a:prstGeom prst="rect">
            <a:avLst/>
          </a:prstGeom>
        </p:spPr>
      </p:pic>
      <p:sp>
        <p:nvSpPr>
          <p:cNvPr id="77" name="TextBox 76"/>
          <p:cNvSpPr txBox="1"/>
          <p:nvPr/>
        </p:nvSpPr>
        <p:spPr>
          <a:xfrm>
            <a:off x="485775" y="4229437"/>
            <a:ext cx="2579798" cy="179984"/>
          </a:xfrm>
          <a:prstGeom prst="rect">
            <a:avLst/>
          </a:prstGeom>
          <a:noFill/>
        </p:spPr>
        <p:txBody>
          <a:bodyPr wrap="none" lIns="0" rIns="0" tIns="0" bIns="0">
            <a:spAutoFit/>
          </a:bodyPr>
          <a:lstStyle/>
          <a:p>
            <a:r>
              <a:rPr sz="1055" b="0">
                <a:solidFill>
                  <a:srgbClr val="2E2E2E"/>
                </a:solidFill>
                <a:latin typeface="Calibri"/>
              </a:rPr>
              <a:t>Among egg protein membrane by extraction /</a:t>
            </a:r>
          </a:p>
        </p:txBody>
      </p:sp>
      <p:sp>
        <p:nvSpPr>
          <p:cNvPr id="78" name="TextBox 77"/>
          <p:cNvSpPr txBox="1"/>
          <p:nvPr/>
        </p:nvSpPr>
        <p:spPr>
          <a:xfrm>
            <a:off x="485775" y="4390371"/>
            <a:ext cx="2555962" cy="179984"/>
          </a:xfrm>
          <a:prstGeom prst="rect">
            <a:avLst/>
          </a:prstGeom>
          <a:noFill/>
        </p:spPr>
        <p:txBody>
          <a:bodyPr wrap="none" lIns="0" rIns="0" tIns="0" bIns="0">
            <a:spAutoFit/>
          </a:bodyPr>
          <a:lstStyle/>
          <a:p>
            <a:r>
              <a:rPr sz="1055" b="0">
                <a:solidFill>
                  <a:srgbClr val="2E2E2E"/>
                </a:solidFill>
                <a:latin typeface="Calibri"/>
              </a:rPr>
              <a:t>processing method, other / hybrid processing</a:t>
            </a:r>
          </a:p>
        </p:txBody>
      </p:sp>
      <p:sp>
        <p:nvSpPr>
          <p:cNvPr id="79" name="TextBox 78"/>
          <p:cNvSpPr txBox="1"/>
          <p:nvPr/>
        </p:nvSpPr>
        <p:spPr>
          <a:xfrm>
            <a:off x="485775" y="4551305"/>
            <a:ext cx="2914650" cy="179984"/>
          </a:xfrm>
          <a:prstGeom prst="rect">
            <a:avLst/>
          </a:prstGeom>
          <a:noFill/>
        </p:spPr>
        <p:txBody>
          <a:bodyPr wrap="none" lIns="0" rIns="0" tIns="0" bIns="0">
            <a:spAutoFit/>
          </a:bodyPr>
          <a:lstStyle/>
          <a:p>
            <a:r>
              <a:rPr sz="1055" b="0">
                <a:solidFill>
                  <a:srgbClr val="2E2E2E"/>
                </a:solidFill>
                <a:latin typeface="Calibri"/>
              </a:rPr>
              <a:t>methods segment is expected to witness the highest</a:t>
            </a:r>
          </a:p>
        </p:txBody>
      </p:sp>
      <p:sp>
        <p:nvSpPr>
          <p:cNvPr id="80" name="TextBox 79"/>
          <p:cNvSpPr txBox="1"/>
          <p:nvPr/>
        </p:nvSpPr>
        <p:spPr>
          <a:xfrm>
            <a:off x="485775" y="4712240"/>
            <a:ext cx="524620" cy="179984"/>
          </a:xfrm>
          <a:prstGeom prst="rect">
            <a:avLst/>
          </a:prstGeom>
          <a:noFill/>
        </p:spPr>
        <p:txBody>
          <a:bodyPr wrap="none" lIns="0" rIns="0" tIns="0" bIns="0">
            <a:spAutoFit/>
          </a:bodyPr>
          <a:lstStyle/>
          <a:p>
            <a:r>
              <a:rPr sz="1055" b="0">
                <a:solidFill>
                  <a:srgbClr val="2E2E2E"/>
                </a:solidFill>
                <a:latin typeface="Calibri"/>
              </a:rPr>
              <a:t>CAGR of</a:t>
            </a:r>
          </a:p>
        </p:txBody>
      </p:sp>
      <p:pic>
        <p:nvPicPr>
          <p:cNvPr id="81" name="Picture 80" descr="lock.png"/>
          <p:cNvPicPr>
            <a:picLocks noChangeAspect="1"/>
          </p:cNvPicPr>
          <p:nvPr/>
        </p:nvPicPr>
        <p:blipFill>
          <a:blip r:embed="rId16"/>
          <a:stretch>
            <a:fillRect/>
          </a:stretch>
        </p:blipFill>
        <p:spPr>
          <a:xfrm>
            <a:off x="957477" y="4702852"/>
            <a:ext cx="123551" cy="179710"/>
          </a:xfrm>
          <a:prstGeom prst="rect">
            <a:avLst/>
          </a:prstGeom>
        </p:spPr>
      </p:pic>
      <p:sp>
        <p:nvSpPr>
          <p:cNvPr id="82" name="TextBox 81"/>
          <p:cNvSpPr txBox="1"/>
          <p:nvPr/>
        </p:nvSpPr>
        <p:spPr>
          <a:xfrm>
            <a:off x="1118273" y="4712240"/>
            <a:ext cx="2053566" cy="179984"/>
          </a:xfrm>
          <a:prstGeom prst="rect">
            <a:avLst/>
          </a:prstGeom>
          <a:noFill/>
        </p:spPr>
        <p:txBody>
          <a:bodyPr wrap="none" lIns="0" rIns="0" tIns="0" bIns="0">
            <a:spAutoFit/>
          </a:bodyPr>
          <a:lstStyle/>
          <a:p>
            <a:r>
              <a:rPr sz="1055" b="0">
                <a:solidFill>
                  <a:srgbClr val="2E2E2E"/>
                </a:solidFill>
                <a:latin typeface="Calibri"/>
              </a:rPr>
              <a:t>over the forecast period. In terms of</a:t>
            </a:r>
          </a:p>
        </p:txBody>
      </p:sp>
      <p:sp>
        <p:nvSpPr>
          <p:cNvPr id="83" name="TextBox 82"/>
          <p:cNvSpPr txBox="1"/>
          <p:nvPr/>
        </p:nvSpPr>
        <p:spPr>
          <a:xfrm>
            <a:off x="485775" y="4873174"/>
            <a:ext cx="2848022" cy="179984"/>
          </a:xfrm>
          <a:prstGeom prst="rect">
            <a:avLst/>
          </a:prstGeom>
          <a:noFill/>
        </p:spPr>
        <p:txBody>
          <a:bodyPr wrap="none" lIns="0" rIns="0" tIns="0" bIns="0">
            <a:spAutoFit/>
          </a:bodyPr>
          <a:lstStyle/>
          <a:p>
            <a:r>
              <a:rPr sz="1055" b="0">
                <a:solidFill>
                  <a:srgbClr val="2E2E2E"/>
                </a:solidFill>
                <a:latin typeface="Calibri"/>
              </a:rPr>
              <a:t>value share by extraction / processing method, the</a:t>
            </a:r>
          </a:p>
        </p:txBody>
      </p:sp>
      <p:sp>
        <p:nvSpPr>
          <p:cNvPr id="84" name="TextBox 83"/>
          <p:cNvSpPr txBox="1"/>
          <p:nvPr/>
        </p:nvSpPr>
        <p:spPr>
          <a:xfrm>
            <a:off x="485775" y="5034109"/>
            <a:ext cx="2823400" cy="179984"/>
          </a:xfrm>
          <a:prstGeom prst="rect">
            <a:avLst/>
          </a:prstGeom>
          <a:noFill/>
        </p:spPr>
        <p:txBody>
          <a:bodyPr wrap="none" lIns="0" rIns="0" tIns="0" bIns="0">
            <a:spAutoFit/>
          </a:bodyPr>
          <a:lstStyle/>
          <a:p>
            <a:r>
              <a:rPr sz="1055" b="0">
                <a:solidFill>
                  <a:srgbClr val="2E2E2E"/>
                </a:solidFill>
                <a:latin typeface="Calibri"/>
              </a:rPr>
              <a:t>mechanical separation &amp; micronization segment is</a:t>
            </a:r>
          </a:p>
        </p:txBody>
      </p:sp>
      <p:sp>
        <p:nvSpPr>
          <p:cNvPr id="85" name="TextBox 84"/>
          <p:cNvSpPr txBox="1"/>
          <p:nvPr/>
        </p:nvSpPr>
        <p:spPr>
          <a:xfrm>
            <a:off x="485775" y="5195043"/>
            <a:ext cx="2371034" cy="179984"/>
          </a:xfrm>
          <a:prstGeom prst="rect">
            <a:avLst/>
          </a:prstGeom>
          <a:noFill/>
        </p:spPr>
        <p:txBody>
          <a:bodyPr wrap="none" lIns="0" rIns="0" tIns="0" bIns="0">
            <a:spAutoFit/>
          </a:bodyPr>
          <a:lstStyle/>
          <a:p>
            <a:r>
              <a:rPr sz="1055" b="0">
                <a:solidFill>
                  <a:srgbClr val="2E2E2E"/>
                </a:solidFill>
                <a:latin typeface="Calibri"/>
              </a:rPr>
              <a:t>expected to dominate the market, gaining</a:t>
            </a:r>
          </a:p>
        </p:txBody>
      </p:sp>
      <p:pic>
        <p:nvPicPr>
          <p:cNvPr id="86" name="Picture 85" descr="lock.png"/>
          <p:cNvPicPr>
            <a:picLocks noChangeAspect="1"/>
          </p:cNvPicPr>
          <p:nvPr/>
        </p:nvPicPr>
        <p:blipFill>
          <a:blip r:embed="rId16"/>
          <a:stretch>
            <a:fillRect/>
          </a:stretch>
        </p:blipFill>
        <p:spPr>
          <a:xfrm>
            <a:off x="2803890" y="5185655"/>
            <a:ext cx="123551" cy="179710"/>
          </a:xfrm>
          <a:prstGeom prst="rect">
            <a:avLst/>
          </a:prstGeom>
        </p:spPr>
      </p:pic>
      <p:sp>
        <p:nvSpPr>
          <p:cNvPr id="87" name="TextBox 86"/>
          <p:cNvSpPr txBox="1"/>
          <p:nvPr/>
        </p:nvSpPr>
        <p:spPr>
          <a:xfrm>
            <a:off x="2964686" y="5195043"/>
            <a:ext cx="280249" cy="179984"/>
          </a:xfrm>
          <a:prstGeom prst="rect">
            <a:avLst/>
          </a:prstGeom>
          <a:noFill/>
        </p:spPr>
        <p:txBody>
          <a:bodyPr wrap="none" lIns="0" rIns="0" tIns="0" bIns="0">
            <a:spAutoFit/>
          </a:bodyPr>
          <a:lstStyle/>
          <a:p>
            <a:r>
              <a:rPr sz="1055" b="0">
                <a:solidFill>
                  <a:srgbClr val="2E2E2E"/>
                </a:solidFill>
                <a:latin typeface="Calibri"/>
              </a:rPr>
              <a:t>BPS</a:t>
            </a:r>
          </a:p>
        </p:txBody>
      </p:sp>
      <p:sp>
        <p:nvSpPr>
          <p:cNvPr id="88" name="TextBox 87"/>
          <p:cNvSpPr txBox="1"/>
          <p:nvPr/>
        </p:nvSpPr>
        <p:spPr>
          <a:xfrm>
            <a:off x="485775" y="5355977"/>
            <a:ext cx="1099589" cy="179984"/>
          </a:xfrm>
          <a:prstGeom prst="rect">
            <a:avLst/>
          </a:prstGeom>
          <a:noFill/>
        </p:spPr>
        <p:txBody>
          <a:bodyPr wrap="none" lIns="0" rIns="0" tIns="0" bIns="0">
            <a:spAutoFit/>
          </a:bodyPr>
          <a:lstStyle/>
          <a:p>
            <a:r>
              <a:rPr sz="1055" b="0">
                <a:solidFill>
                  <a:srgbClr val="2E2E2E"/>
                </a:solidFill>
                <a:latin typeface="Calibri"/>
              </a:rPr>
              <a:t>and accounting for</a:t>
            </a:r>
          </a:p>
        </p:txBody>
      </p:sp>
      <p:pic>
        <p:nvPicPr>
          <p:cNvPr id="89" name="Picture 88" descr="lock.png"/>
          <p:cNvPicPr>
            <a:picLocks noChangeAspect="1"/>
          </p:cNvPicPr>
          <p:nvPr/>
        </p:nvPicPr>
        <p:blipFill>
          <a:blip r:embed="rId16"/>
          <a:stretch>
            <a:fillRect/>
          </a:stretch>
        </p:blipFill>
        <p:spPr>
          <a:xfrm>
            <a:off x="1532446" y="5346589"/>
            <a:ext cx="123551" cy="179710"/>
          </a:xfrm>
          <a:prstGeom prst="rect">
            <a:avLst/>
          </a:prstGeom>
        </p:spPr>
      </p:pic>
      <p:sp>
        <p:nvSpPr>
          <p:cNvPr id="90" name="TextBox 89"/>
          <p:cNvSpPr txBox="1"/>
          <p:nvPr/>
        </p:nvSpPr>
        <p:spPr>
          <a:xfrm>
            <a:off x="1693242" y="5355977"/>
            <a:ext cx="875109" cy="179984"/>
          </a:xfrm>
          <a:prstGeom prst="rect">
            <a:avLst/>
          </a:prstGeom>
          <a:noFill/>
        </p:spPr>
        <p:txBody>
          <a:bodyPr wrap="none" lIns="0" rIns="0" tIns="0" bIns="0">
            <a:spAutoFit/>
          </a:bodyPr>
          <a:lstStyle/>
          <a:p>
            <a:r>
              <a:rPr sz="1055" b="0">
                <a:solidFill>
                  <a:srgbClr val="2E2E2E"/>
                </a:solidFill>
                <a:latin typeface="Calibri"/>
              </a:rPr>
              <a:t>share by 2036.</a:t>
            </a:r>
          </a:p>
        </p:txBody>
      </p:sp>
      <p:sp>
        <p:nvSpPr>
          <p:cNvPr id="91" name="TextBox 90"/>
          <p:cNvSpPr txBox="1"/>
          <p:nvPr/>
        </p:nvSpPr>
        <p:spPr>
          <a:xfrm>
            <a:off x="485775" y="5565192"/>
            <a:ext cx="2830996" cy="179984"/>
          </a:xfrm>
          <a:prstGeom prst="rect">
            <a:avLst/>
          </a:prstGeom>
          <a:noFill/>
        </p:spPr>
        <p:txBody>
          <a:bodyPr wrap="none" lIns="0" rIns="0" tIns="0" bIns="0">
            <a:spAutoFit/>
          </a:bodyPr>
          <a:lstStyle/>
          <a:p>
            <a:r>
              <a:rPr sz="1055" b="0">
                <a:solidFill>
                  <a:srgbClr val="2E2E2E"/>
                </a:solidFill>
                <a:latin typeface="Calibri"/>
              </a:rPr>
              <a:t>Mechanical separation &amp; micronization segment is</a:t>
            </a:r>
          </a:p>
        </p:txBody>
      </p:sp>
      <p:sp>
        <p:nvSpPr>
          <p:cNvPr id="92" name="TextBox 91"/>
          <p:cNvSpPr txBox="1"/>
          <p:nvPr/>
        </p:nvSpPr>
        <p:spPr>
          <a:xfrm>
            <a:off x="485775" y="5726126"/>
            <a:ext cx="1197816" cy="179984"/>
          </a:xfrm>
          <a:prstGeom prst="rect">
            <a:avLst/>
          </a:prstGeom>
          <a:noFill/>
        </p:spPr>
        <p:txBody>
          <a:bodyPr wrap="none" lIns="0" rIns="0" tIns="0" bIns="0">
            <a:spAutoFit/>
          </a:bodyPr>
          <a:lstStyle/>
          <a:p>
            <a:r>
              <a:rPr sz="1055" b="0">
                <a:solidFill>
                  <a:srgbClr val="2E2E2E"/>
                </a:solidFill>
                <a:latin typeface="Calibri"/>
              </a:rPr>
              <a:t>projected to register</a:t>
            </a:r>
          </a:p>
        </p:txBody>
      </p:sp>
      <p:pic>
        <p:nvPicPr>
          <p:cNvPr id="93" name="Picture 92" descr="lock.png"/>
          <p:cNvPicPr>
            <a:picLocks noChangeAspect="1"/>
          </p:cNvPicPr>
          <p:nvPr/>
        </p:nvPicPr>
        <p:blipFill>
          <a:blip r:embed="rId16"/>
          <a:stretch>
            <a:fillRect/>
          </a:stretch>
        </p:blipFill>
        <p:spPr>
          <a:xfrm>
            <a:off x="1630672" y="5716739"/>
            <a:ext cx="123551" cy="179710"/>
          </a:xfrm>
          <a:prstGeom prst="rect">
            <a:avLst/>
          </a:prstGeom>
        </p:spPr>
      </p:pic>
      <p:sp>
        <p:nvSpPr>
          <p:cNvPr id="94" name="TextBox 93"/>
          <p:cNvSpPr txBox="1"/>
          <p:nvPr/>
        </p:nvSpPr>
        <p:spPr>
          <a:xfrm>
            <a:off x="1791468" y="5726126"/>
            <a:ext cx="1541216" cy="179984"/>
          </a:xfrm>
          <a:prstGeom prst="rect">
            <a:avLst/>
          </a:prstGeom>
          <a:noFill/>
        </p:spPr>
        <p:txBody>
          <a:bodyPr wrap="none" lIns="0" rIns="0" tIns="0" bIns="0">
            <a:spAutoFit/>
          </a:bodyPr>
          <a:lstStyle/>
          <a:p>
            <a:r>
              <a:rPr sz="1055" b="0">
                <a:solidFill>
                  <a:srgbClr val="2E2E2E"/>
                </a:solidFill>
                <a:latin typeface="Calibri"/>
              </a:rPr>
              <a:t>X higher value than other /</a:t>
            </a:r>
          </a:p>
        </p:txBody>
      </p:sp>
      <p:sp>
        <p:nvSpPr>
          <p:cNvPr id="95" name="TextBox 94"/>
          <p:cNvSpPr txBox="1"/>
          <p:nvPr/>
        </p:nvSpPr>
        <p:spPr>
          <a:xfrm>
            <a:off x="485775" y="5887061"/>
            <a:ext cx="2521386" cy="179984"/>
          </a:xfrm>
          <a:prstGeom prst="rect">
            <a:avLst/>
          </a:prstGeom>
          <a:noFill/>
        </p:spPr>
        <p:txBody>
          <a:bodyPr wrap="none" lIns="0" rIns="0" tIns="0" bIns="0">
            <a:spAutoFit/>
          </a:bodyPr>
          <a:lstStyle/>
          <a:p>
            <a:r>
              <a:rPr sz="1055" b="0">
                <a:solidFill>
                  <a:srgbClr val="2E2E2E"/>
                </a:solidFill>
                <a:latin typeface="Calibri"/>
              </a:rPr>
              <a:t>hybrid processing methods segment in 2036.</a:t>
            </a:r>
          </a:p>
        </p:txBody>
      </p:sp>
      <p:sp>
        <p:nvSpPr>
          <p:cNvPr id="96" name="TextBox 95"/>
          <p:cNvSpPr txBox="1"/>
          <p:nvPr/>
        </p:nvSpPr>
        <p:spPr>
          <a:xfrm>
            <a:off x="3838575" y="4229437"/>
            <a:ext cx="2475110" cy="186689"/>
          </a:xfrm>
          <a:prstGeom prst="rect">
            <a:avLst/>
          </a:prstGeom>
          <a:noFill/>
        </p:spPr>
        <p:txBody>
          <a:bodyPr wrap="none" lIns="0" rIns="0" tIns="0" bIns="0">
            <a:spAutoFit/>
          </a:bodyPr>
          <a:lstStyle/>
          <a:p>
            <a:r>
              <a:rPr sz="1100" b="0">
                <a:solidFill>
                  <a:srgbClr val="2E2E2E"/>
                </a:solidFill>
                <a:latin typeface="Calibri"/>
              </a:rPr>
              <a:t>● Mechanical Separation &amp; Micronization:</a:t>
            </a:r>
          </a:p>
        </p:txBody>
      </p:sp>
      <p:pic>
        <p:nvPicPr>
          <p:cNvPr id="97" name="Picture 96" descr="lock.png"/>
          <p:cNvPicPr>
            <a:picLocks noChangeAspect="1"/>
          </p:cNvPicPr>
          <p:nvPr/>
        </p:nvPicPr>
        <p:blipFill>
          <a:blip r:embed="rId16"/>
          <a:stretch>
            <a:fillRect/>
          </a:stretch>
        </p:blipFill>
        <p:spPr>
          <a:xfrm>
            <a:off x="6261737" y="4219658"/>
            <a:ext cx="128699" cy="187198"/>
          </a:xfrm>
          <a:prstGeom prst="rect">
            <a:avLst/>
          </a:prstGeom>
        </p:spPr>
      </p:pic>
      <p:sp>
        <p:nvSpPr>
          <p:cNvPr id="98" name="TextBox 97"/>
          <p:cNvSpPr txBox="1"/>
          <p:nvPr/>
        </p:nvSpPr>
        <p:spPr>
          <a:xfrm>
            <a:off x="6429233" y="422943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99" name="Picture 98" descr="lock.png"/>
          <p:cNvPicPr>
            <a:picLocks noChangeAspect="1"/>
          </p:cNvPicPr>
          <p:nvPr/>
        </p:nvPicPr>
        <p:blipFill>
          <a:blip r:embed="rId16"/>
          <a:stretch>
            <a:fillRect/>
          </a:stretch>
        </p:blipFill>
        <p:spPr>
          <a:xfrm>
            <a:off x="7288683" y="4219658"/>
            <a:ext cx="128699" cy="187198"/>
          </a:xfrm>
          <a:prstGeom prst="rect">
            <a:avLst/>
          </a:prstGeom>
        </p:spPr>
      </p:pic>
      <p:sp>
        <p:nvSpPr>
          <p:cNvPr id="100" name="TextBox 99"/>
          <p:cNvSpPr txBox="1"/>
          <p:nvPr/>
        </p:nvSpPr>
        <p:spPr>
          <a:xfrm>
            <a:off x="3838575" y="4397077"/>
            <a:ext cx="1503469" cy="186689"/>
          </a:xfrm>
          <a:prstGeom prst="rect">
            <a:avLst/>
          </a:prstGeom>
          <a:noFill/>
        </p:spPr>
        <p:txBody>
          <a:bodyPr wrap="none" lIns="0" rIns="0" tIns="0" bIns="0">
            <a:spAutoFit/>
          </a:bodyPr>
          <a:lstStyle/>
          <a:p>
            <a:r>
              <a:rPr sz="1100" b="0">
                <a:solidFill>
                  <a:srgbClr val="2E2E2E"/>
                </a:solidFill>
                <a:latin typeface="Calibri"/>
              </a:rPr>
              <a:t>CAGR leads the segment.</a:t>
            </a:r>
          </a:p>
        </p:txBody>
      </p:sp>
      <p:sp>
        <p:nvSpPr>
          <p:cNvPr id="101" name="TextBox 100"/>
          <p:cNvSpPr txBox="1"/>
          <p:nvPr/>
        </p:nvSpPr>
        <p:spPr>
          <a:xfrm>
            <a:off x="3838575" y="4615009"/>
            <a:ext cx="2234728" cy="186689"/>
          </a:xfrm>
          <a:prstGeom prst="rect">
            <a:avLst/>
          </a:prstGeom>
          <a:noFill/>
        </p:spPr>
        <p:txBody>
          <a:bodyPr wrap="none" lIns="0" rIns="0" tIns="0" bIns="0">
            <a:spAutoFit/>
          </a:bodyPr>
          <a:lstStyle/>
          <a:p>
            <a:r>
              <a:rPr sz="1100" b="0">
                <a:solidFill>
                  <a:srgbClr val="2E2E2E"/>
                </a:solidFill>
                <a:latin typeface="Calibri"/>
              </a:rPr>
              <a:t>● Other / Hybrid Processing Methods:</a:t>
            </a:r>
          </a:p>
        </p:txBody>
      </p:sp>
      <p:pic>
        <p:nvPicPr>
          <p:cNvPr id="102" name="Picture 101" descr="lock.png"/>
          <p:cNvPicPr>
            <a:picLocks noChangeAspect="1"/>
          </p:cNvPicPr>
          <p:nvPr/>
        </p:nvPicPr>
        <p:blipFill>
          <a:blip r:embed="rId16"/>
          <a:stretch>
            <a:fillRect/>
          </a:stretch>
        </p:blipFill>
        <p:spPr>
          <a:xfrm>
            <a:off x="6021355" y="4605230"/>
            <a:ext cx="128699" cy="187198"/>
          </a:xfrm>
          <a:prstGeom prst="rect">
            <a:avLst/>
          </a:prstGeom>
        </p:spPr>
      </p:pic>
      <p:sp>
        <p:nvSpPr>
          <p:cNvPr id="103" name="TextBox 102"/>
          <p:cNvSpPr txBox="1"/>
          <p:nvPr/>
        </p:nvSpPr>
        <p:spPr>
          <a:xfrm>
            <a:off x="6188851" y="4615009"/>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04" name="Picture 103" descr="lock.png"/>
          <p:cNvPicPr>
            <a:picLocks noChangeAspect="1"/>
          </p:cNvPicPr>
          <p:nvPr/>
        </p:nvPicPr>
        <p:blipFill>
          <a:blip r:embed="rId16"/>
          <a:stretch>
            <a:fillRect/>
          </a:stretch>
        </p:blipFill>
        <p:spPr>
          <a:xfrm>
            <a:off x="7048301" y="4605230"/>
            <a:ext cx="128699" cy="187198"/>
          </a:xfrm>
          <a:prstGeom prst="rect">
            <a:avLst/>
          </a:prstGeom>
        </p:spPr>
      </p:pic>
      <p:sp>
        <p:nvSpPr>
          <p:cNvPr id="105" name="TextBox 104"/>
          <p:cNvSpPr txBox="1"/>
          <p:nvPr/>
        </p:nvSpPr>
        <p:spPr>
          <a:xfrm>
            <a:off x="7215797" y="4615009"/>
            <a:ext cx="395419" cy="186689"/>
          </a:xfrm>
          <a:prstGeom prst="rect">
            <a:avLst/>
          </a:prstGeom>
          <a:noFill/>
        </p:spPr>
        <p:txBody>
          <a:bodyPr wrap="none" lIns="0" rIns="0" tIns="0" bIns="0">
            <a:spAutoFit/>
          </a:bodyPr>
          <a:lstStyle/>
          <a:p>
            <a:r>
              <a:rPr sz="1100" b="0">
                <a:solidFill>
                  <a:srgbClr val="2E2E2E"/>
                </a:solidFill>
                <a:latin typeface="Calibri"/>
              </a:rPr>
              <a:t>CAGR</a:t>
            </a:r>
          </a:p>
        </p:txBody>
      </p:sp>
      <p:sp>
        <p:nvSpPr>
          <p:cNvPr id="106" name="TextBox 105"/>
          <p:cNvSpPr txBox="1"/>
          <p:nvPr/>
        </p:nvSpPr>
        <p:spPr>
          <a:xfrm>
            <a:off x="3838575" y="4782649"/>
            <a:ext cx="867742" cy="186689"/>
          </a:xfrm>
          <a:prstGeom prst="rect">
            <a:avLst/>
          </a:prstGeom>
          <a:noFill/>
        </p:spPr>
        <p:txBody>
          <a:bodyPr wrap="none" lIns="0" rIns="0" tIns="0" bIns="0">
            <a:spAutoFit/>
          </a:bodyPr>
          <a:lstStyle/>
          <a:p>
            <a:r>
              <a:rPr sz="1100" b="0">
                <a:solidFill>
                  <a:srgbClr val="2E2E2E"/>
                </a:solidFill>
                <a:latin typeface="Calibri"/>
              </a:rPr>
              <a:t>grows fastest.</a:t>
            </a:r>
          </a:p>
        </p:txBody>
      </p:sp>
      <p:sp>
        <p:nvSpPr>
          <p:cNvPr id="107" name="TextBox 106"/>
          <p:cNvSpPr txBox="1"/>
          <p:nvPr/>
        </p:nvSpPr>
        <p:spPr>
          <a:xfrm>
            <a:off x="3838575" y="5000581"/>
            <a:ext cx="2242641" cy="186689"/>
          </a:xfrm>
          <a:prstGeom prst="rect">
            <a:avLst/>
          </a:prstGeom>
          <a:noFill/>
        </p:spPr>
        <p:txBody>
          <a:bodyPr wrap="none" lIns="0" rIns="0" tIns="0" bIns="0">
            <a:spAutoFit/>
          </a:bodyPr>
          <a:lstStyle/>
          <a:p>
            <a:r>
              <a:rPr sz="1100" b="0">
                <a:solidFill>
                  <a:srgbClr val="2E2E2E"/>
                </a:solidFill>
                <a:latin typeface="Calibri"/>
              </a:rPr>
              <a:t>● Chemical Hydrolysis / Solubilization:</a:t>
            </a:r>
          </a:p>
        </p:txBody>
      </p:sp>
      <p:pic>
        <p:nvPicPr>
          <p:cNvPr id="108" name="Picture 107" descr="lock.png"/>
          <p:cNvPicPr>
            <a:picLocks noChangeAspect="1"/>
          </p:cNvPicPr>
          <p:nvPr/>
        </p:nvPicPr>
        <p:blipFill>
          <a:blip r:embed="rId16"/>
          <a:stretch>
            <a:fillRect/>
          </a:stretch>
        </p:blipFill>
        <p:spPr>
          <a:xfrm>
            <a:off x="6029268" y="4990801"/>
            <a:ext cx="128699" cy="187198"/>
          </a:xfrm>
          <a:prstGeom prst="rect">
            <a:avLst/>
          </a:prstGeom>
        </p:spPr>
      </p:pic>
      <p:sp>
        <p:nvSpPr>
          <p:cNvPr id="109" name="TextBox 108"/>
          <p:cNvSpPr txBox="1"/>
          <p:nvPr/>
        </p:nvSpPr>
        <p:spPr>
          <a:xfrm>
            <a:off x="6196763" y="5000581"/>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10" name="Picture 109" descr="lock.png"/>
          <p:cNvPicPr>
            <a:picLocks noChangeAspect="1"/>
          </p:cNvPicPr>
          <p:nvPr/>
        </p:nvPicPr>
        <p:blipFill>
          <a:blip r:embed="rId16"/>
          <a:stretch>
            <a:fillRect/>
          </a:stretch>
        </p:blipFill>
        <p:spPr>
          <a:xfrm>
            <a:off x="7056214" y="4990801"/>
            <a:ext cx="128699" cy="187198"/>
          </a:xfrm>
          <a:prstGeom prst="rect">
            <a:avLst/>
          </a:prstGeom>
        </p:spPr>
      </p:pic>
      <p:sp>
        <p:nvSpPr>
          <p:cNvPr id="111" name="TextBox 110"/>
          <p:cNvSpPr txBox="1"/>
          <p:nvPr/>
        </p:nvSpPr>
        <p:spPr>
          <a:xfrm>
            <a:off x="7223709" y="5000581"/>
            <a:ext cx="395419" cy="186689"/>
          </a:xfrm>
          <a:prstGeom prst="rect">
            <a:avLst/>
          </a:prstGeom>
          <a:noFill/>
        </p:spPr>
        <p:txBody>
          <a:bodyPr wrap="none" lIns="0" rIns="0" tIns="0" bIns="0">
            <a:spAutoFit/>
          </a:bodyPr>
          <a:lstStyle/>
          <a:p>
            <a:r>
              <a:rPr sz="1100" b="0">
                <a:solidFill>
                  <a:srgbClr val="2E2E2E"/>
                </a:solidFill>
                <a:latin typeface="Calibri"/>
              </a:rPr>
              <a:t>CAGR</a:t>
            </a:r>
          </a:p>
        </p:txBody>
      </p:sp>
      <p:sp>
        <p:nvSpPr>
          <p:cNvPr id="112" name="TextBox 111"/>
          <p:cNvSpPr txBox="1"/>
          <p:nvPr/>
        </p:nvSpPr>
        <p:spPr>
          <a:xfrm>
            <a:off x="3838575" y="5168221"/>
            <a:ext cx="909488" cy="186689"/>
          </a:xfrm>
          <a:prstGeom prst="rect">
            <a:avLst/>
          </a:prstGeom>
          <a:noFill/>
        </p:spPr>
        <p:txBody>
          <a:bodyPr wrap="none" lIns="0" rIns="0" tIns="0" bIns="0">
            <a:spAutoFit/>
          </a:bodyPr>
          <a:lstStyle/>
          <a:p>
            <a:r>
              <a:rPr sz="1100" b="0">
                <a:solidFill>
                  <a:srgbClr val="2E2E2E"/>
                </a:solidFill>
                <a:latin typeface="Calibri"/>
              </a:rPr>
              <a:t>serves a niche.</a:t>
            </a:r>
          </a:p>
        </p:txBody>
      </p:sp>
      <p:sp>
        <p:nvSpPr>
          <p:cNvPr id="113" name="TextBox 112"/>
          <p:cNvSpPr txBox="1"/>
          <p:nvPr/>
        </p:nvSpPr>
        <p:spPr>
          <a:xfrm>
            <a:off x="3838575" y="5386153"/>
            <a:ext cx="1421085" cy="186689"/>
          </a:xfrm>
          <a:prstGeom prst="rect">
            <a:avLst/>
          </a:prstGeom>
          <a:noFill/>
        </p:spPr>
        <p:txBody>
          <a:bodyPr wrap="none" lIns="0" rIns="0" tIns="0" bIns="0">
            <a:spAutoFit/>
          </a:bodyPr>
          <a:lstStyle/>
          <a:p>
            <a:r>
              <a:rPr sz="1100" b="0">
                <a:solidFill>
                  <a:srgbClr val="2E2E2E"/>
                </a:solidFill>
                <a:latin typeface="Calibri"/>
              </a:rPr>
              <a:t>● Enzymatic Hydrolysis:</a:t>
            </a:r>
          </a:p>
        </p:txBody>
      </p:sp>
      <p:pic>
        <p:nvPicPr>
          <p:cNvPr id="114" name="Picture 113" descr="lock.png"/>
          <p:cNvPicPr>
            <a:picLocks noChangeAspect="1"/>
          </p:cNvPicPr>
          <p:nvPr/>
        </p:nvPicPr>
        <p:blipFill>
          <a:blip r:embed="rId16"/>
          <a:stretch>
            <a:fillRect/>
          </a:stretch>
        </p:blipFill>
        <p:spPr>
          <a:xfrm>
            <a:off x="5207711" y="5376373"/>
            <a:ext cx="128699" cy="187198"/>
          </a:xfrm>
          <a:prstGeom prst="rect">
            <a:avLst/>
          </a:prstGeom>
        </p:spPr>
      </p:pic>
      <p:sp>
        <p:nvSpPr>
          <p:cNvPr id="115" name="TextBox 114"/>
          <p:cNvSpPr txBox="1"/>
          <p:nvPr/>
        </p:nvSpPr>
        <p:spPr>
          <a:xfrm>
            <a:off x="5375207" y="5386153"/>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16" name="Picture 115" descr="lock.png"/>
          <p:cNvPicPr>
            <a:picLocks noChangeAspect="1"/>
          </p:cNvPicPr>
          <p:nvPr/>
        </p:nvPicPr>
        <p:blipFill>
          <a:blip r:embed="rId16"/>
          <a:stretch>
            <a:fillRect/>
          </a:stretch>
        </p:blipFill>
        <p:spPr>
          <a:xfrm>
            <a:off x="6234657" y="5376373"/>
            <a:ext cx="128699" cy="187198"/>
          </a:xfrm>
          <a:prstGeom prst="rect">
            <a:avLst/>
          </a:prstGeom>
        </p:spPr>
      </p:pic>
      <p:sp>
        <p:nvSpPr>
          <p:cNvPr id="117" name="TextBox 116"/>
          <p:cNvSpPr txBox="1"/>
          <p:nvPr/>
        </p:nvSpPr>
        <p:spPr>
          <a:xfrm>
            <a:off x="6402153" y="5386153"/>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118" name="TextBox 117"/>
          <p:cNvSpPr txBox="1"/>
          <p:nvPr/>
        </p:nvSpPr>
        <p:spPr>
          <a:xfrm>
            <a:off x="8524875" y="5856661"/>
            <a:ext cx="2699223" cy="180289"/>
          </a:xfrm>
          <a:prstGeom prst="rect">
            <a:avLst/>
          </a:prstGeom>
          <a:noFill/>
        </p:spPr>
        <p:txBody>
          <a:bodyPr wrap="none" lIns="0" rIns="0" tIns="0" bIns="0">
            <a:spAutoFit/>
          </a:bodyPr>
          <a:lstStyle/>
          <a:p>
            <a:r>
              <a:rPr sz="1057" b="1">
                <a:solidFill>
                  <a:srgbClr val="0B2E4A"/>
                </a:solidFill>
                <a:latin typeface="Calibri"/>
              </a:rPr>
              <a:t>The Extraction / Processing Method segment is</a:t>
            </a:r>
          </a:p>
        </p:txBody>
      </p:sp>
      <p:sp>
        <p:nvSpPr>
          <p:cNvPr id="119" name="TextBox 118"/>
          <p:cNvSpPr txBox="1"/>
          <p:nvPr/>
        </p:nvSpPr>
        <p:spPr>
          <a:xfrm>
            <a:off x="8524875" y="6017901"/>
            <a:ext cx="1806400" cy="180289"/>
          </a:xfrm>
          <a:prstGeom prst="rect">
            <a:avLst/>
          </a:prstGeom>
          <a:noFill/>
        </p:spPr>
        <p:txBody>
          <a:bodyPr wrap="none" lIns="0" rIns="0" tIns="0" bIns="0">
            <a:spAutoFit/>
          </a:bodyPr>
          <a:lstStyle/>
          <a:p>
            <a:r>
              <a:rPr sz="1057" b="1">
                <a:solidFill>
                  <a:srgbClr val="0B2E4A"/>
                </a:solidFill>
                <a:latin typeface="Calibri"/>
              </a:rPr>
              <a:t>projected to grow at a CAGR of</a:t>
            </a:r>
          </a:p>
        </p:txBody>
      </p:sp>
      <p:pic>
        <p:nvPicPr>
          <p:cNvPr id="120" name="Picture 119" descr="lock.png"/>
          <p:cNvPicPr>
            <a:picLocks noChangeAspect="1"/>
          </p:cNvPicPr>
          <p:nvPr/>
        </p:nvPicPr>
        <p:blipFill>
          <a:blip r:embed="rId16"/>
          <a:stretch>
            <a:fillRect/>
          </a:stretch>
        </p:blipFill>
        <p:spPr>
          <a:xfrm>
            <a:off x="10278400" y="6008495"/>
            <a:ext cx="123784" cy="180050"/>
          </a:xfrm>
          <a:prstGeom prst="rect">
            <a:avLst/>
          </a:prstGeom>
        </p:spPr>
      </p:pic>
      <p:sp>
        <p:nvSpPr>
          <p:cNvPr id="121" name="TextBox 120"/>
          <p:cNvSpPr txBox="1"/>
          <p:nvPr/>
        </p:nvSpPr>
        <p:spPr>
          <a:xfrm>
            <a:off x="10439501" y="6017901"/>
            <a:ext cx="1140105" cy="180289"/>
          </a:xfrm>
          <a:prstGeom prst="rect">
            <a:avLst/>
          </a:prstGeom>
          <a:noFill/>
        </p:spPr>
        <p:txBody>
          <a:bodyPr wrap="none" lIns="0" rIns="0" tIns="0" bIns="0">
            <a:spAutoFit/>
          </a:bodyPr>
          <a:lstStyle/>
          <a:p>
            <a:r>
              <a:rPr sz="1057" b="1">
                <a:solidFill>
                  <a:srgbClr val="0B2E4A"/>
                </a:solidFill>
                <a:latin typeface="Calibri"/>
              </a:rPr>
              <a:t>from 2026 to 2036.</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Structure &amp; Attractiveness, By Extraction / Processing Method (Value)</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Extraction / Processing Method mix within each region and the attractiveness of each sub-segment on growth and size</a:t>
            </a:r>
          </a:p>
        </p:txBody>
      </p:sp>
      <p:sp>
        <p:nvSpPr>
          <p:cNvPr id="7" name="Rounded Rectangle 6"/>
          <p:cNvSpPr/>
          <p:nvPr/>
        </p:nvSpPr>
        <p:spPr>
          <a:xfrm>
            <a:off x="142875" y="981075"/>
            <a:ext cx="6343650" cy="4324350"/>
          </a:xfrm>
          <a:prstGeom prst="roundRect">
            <a:avLst>
              <a:gd name="adj" fmla="val 1762"/>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6153150"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Extraction / Processing Method mix within each region (share of 2036 value) · row label = region size (US$ Mn), largest first</a:t>
            </a:r>
          </a:p>
        </p:txBody>
      </p:sp>
      <p:graphicFrame>
        <p:nvGraphicFramePr>
          <p:cNvPr id="9" name="Chart 8"/>
          <p:cNvGraphicFramePr>
            <a:graphicFrameLocks noGrp="1"/>
          </p:cNvGraphicFramePr>
          <p:nvPr/>
        </p:nvGraphicFramePr>
        <p:xfrm>
          <a:off x="238125" y="1438275"/>
          <a:ext cx="6153150" cy="3810000"/>
        </p:xfrm>
        <a:graphic>
          <a:graphicData uri="http://schemas.openxmlformats.org/drawingml/2006/chart">
            <c:chart xmlns:c="http://schemas.openxmlformats.org/drawingml/2006/chart" r:id="rId3"/>
          </a:graphicData>
        </a:graphic>
      </p:graphicFrame>
      <p:sp>
        <p:nvSpPr>
          <p:cNvPr id="10" name="Rounded Rectangle 9"/>
          <p:cNvSpPr/>
          <p:nvPr/>
        </p:nvSpPr>
        <p:spPr>
          <a:xfrm>
            <a:off x="6638925" y="981075"/>
            <a:ext cx="5400675" cy="4324350"/>
          </a:xfrm>
          <a:prstGeom prst="roundRect">
            <a:avLst>
              <a:gd name="adj" fmla="val 1762"/>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34175" y="1038225"/>
            <a:ext cx="521017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Attractiveness, By Extraction / Processing Method · Bubble size represents 2036 value</a:t>
            </a:r>
          </a:p>
        </p:txBody>
      </p:sp>
      <p:graphicFrame>
        <p:nvGraphicFramePr>
          <p:cNvPr id="12" name="Chart 11"/>
          <p:cNvGraphicFramePr>
            <a:graphicFrameLocks noGrp="1"/>
          </p:cNvGraphicFramePr>
          <p:nvPr/>
        </p:nvGraphicFramePr>
        <p:xfrm>
          <a:off x="6734175" y="1438275"/>
          <a:ext cx="5210175" cy="3810000"/>
        </p:xfrm>
        <a:graphic>
          <a:graphicData uri="http://schemas.openxmlformats.org/drawingml/2006/chart">
            <c:chart xmlns:c="http://schemas.openxmlformats.org/drawingml/2006/chart" r:id="rId4"/>
          </a:graphicData>
        </a:graphic>
      </p:graphicFrame>
      <p:sp>
        <p:nvSpPr>
          <p:cNvPr id="13" name="Rounded Rectangle 12"/>
          <p:cNvSpPr/>
          <p:nvPr/>
        </p:nvSpPr>
        <p:spPr>
          <a:xfrm>
            <a:off x="142875" y="5438775"/>
            <a:ext cx="11906250" cy="1181100"/>
          </a:xfrm>
          <a:prstGeom prst="roundRect">
            <a:avLst>
              <a:gd name="adj" fmla="val 6451"/>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14" name="Rectangle 13"/>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6" name="Picture 15" descr="lock.png"/>
          <p:cNvPicPr>
            <a:picLocks noChangeAspect="1"/>
          </p:cNvPicPr>
          <p:nvPr/>
        </p:nvPicPr>
        <p:blipFill>
          <a:blip r:embed="rId6"/>
          <a:stretch>
            <a:fillRect/>
          </a:stretch>
        </p:blipFill>
        <p:spPr>
          <a:xfrm>
            <a:off x="3484684" y="3024134"/>
            <a:ext cx="320946" cy="466830"/>
          </a:xfrm>
          <a:prstGeom prst="rect">
            <a:avLst/>
          </a:prstGeom>
        </p:spPr>
      </p:pic>
      <p:sp>
        <p:nvSpPr>
          <p:cNvPr id="17" name="TextBox 16"/>
          <p:cNvSpPr txBox="1"/>
          <p:nvPr/>
        </p:nvSpPr>
        <p:spPr>
          <a:xfrm>
            <a:off x="257175" y="5694045"/>
            <a:ext cx="11274846" cy="186689"/>
          </a:xfrm>
          <a:prstGeom prst="rect">
            <a:avLst/>
          </a:prstGeom>
          <a:noFill/>
        </p:spPr>
        <p:txBody>
          <a:bodyPr wrap="none" lIns="0" rIns="0" tIns="0" bIns="0">
            <a:spAutoFit/>
          </a:bodyPr>
          <a:lstStyle/>
          <a:p>
            <a:r>
              <a:rPr sz="1100" b="0">
                <a:solidFill>
                  <a:srgbClr val="2E2E2E"/>
                </a:solidFill>
                <a:latin typeface="Calibri"/>
              </a:rPr>
              <a:t>Mechanical separation &amp; micronization followed by other / hybrid processing methods are expected to be the two most attractive extraction / processing method segments in the global egg protein</a:t>
            </a:r>
          </a:p>
        </p:txBody>
      </p:sp>
      <p:sp>
        <p:nvSpPr>
          <p:cNvPr id="18" name="TextBox 17"/>
          <p:cNvSpPr txBox="1"/>
          <p:nvPr/>
        </p:nvSpPr>
        <p:spPr>
          <a:xfrm>
            <a:off x="257175" y="5861685"/>
            <a:ext cx="9425714" cy="186689"/>
          </a:xfrm>
          <a:prstGeom prst="rect">
            <a:avLst/>
          </a:prstGeom>
          <a:noFill/>
        </p:spPr>
        <p:txBody>
          <a:bodyPr wrap="none" lIns="0" rIns="0" tIns="0" bIns="0">
            <a:spAutoFit/>
          </a:bodyPr>
          <a:lstStyle/>
          <a:p>
            <a:r>
              <a:rPr sz="1100" b="0">
                <a:solidFill>
                  <a:srgbClr val="2E2E2E"/>
                </a:solidFill>
                <a:latin typeface="Calibri"/>
              </a:rPr>
              <a:t>membrane market in terms of value over the forecast period. Mechanical separation &amp; micronization and other / hybrid processing methods exhibit a CAGR index of</a:t>
            </a:r>
          </a:p>
        </p:txBody>
      </p:sp>
      <p:pic>
        <p:nvPicPr>
          <p:cNvPr id="19" name="Picture 18" descr="lock.png"/>
          <p:cNvPicPr>
            <a:picLocks noChangeAspect="1"/>
          </p:cNvPicPr>
          <p:nvPr/>
        </p:nvPicPr>
        <p:blipFill>
          <a:blip r:embed="rId6"/>
          <a:stretch>
            <a:fillRect/>
          </a:stretch>
        </p:blipFill>
        <p:spPr>
          <a:xfrm>
            <a:off x="9630941" y="5851905"/>
            <a:ext cx="128699" cy="187198"/>
          </a:xfrm>
          <a:prstGeom prst="rect">
            <a:avLst/>
          </a:prstGeom>
        </p:spPr>
      </p:pic>
      <p:sp>
        <p:nvSpPr>
          <p:cNvPr id="20" name="TextBox 19"/>
          <p:cNvSpPr txBox="1"/>
          <p:nvPr/>
        </p:nvSpPr>
        <p:spPr>
          <a:xfrm>
            <a:off x="9798437" y="586168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1" name="Picture 20" descr="lock.png"/>
          <p:cNvPicPr>
            <a:picLocks noChangeAspect="1"/>
          </p:cNvPicPr>
          <p:nvPr/>
        </p:nvPicPr>
        <p:blipFill>
          <a:blip r:embed="rId6"/>
          <a:stretch>
            <a:fillRect/>
          </a:stretch>
        </p:blipFill>
        <p:spPr>
          <a:xfrm>
            <a:off x="10036331" y="5851905"/>
            <a:ext cx="128699" cy="187198"/>
          </a:xfrm>
          <a:prstGeom prst="rect">
            <a:avLst/>
          </a:prstGeom>
        </p:spPr>
      </p:pic>
      <p:sp>
        <p:nvSpPr>
          <p:cNvPr id="22" name="TextBox 21"/>
          <p:cNvSpPr txBox="1"/>
          <p:nvPr/>
        </p:nvSpPr>
        <p:spPr>
          <a:xfrm>
            <a:off x="10203827" y="5861685"/>
            <a:ext cx="1513036" cy="186689"/>
          </a:xfrm>
          <a:prstGeom prst="rect">
            <a:avLst/>
          </a:prstGeom>
          <a:noFill/>
        </p:spPr>
        <p:txBody>
          <a:bodyPr wrap="none" lIns="0" rIns="0" tIns="0" bIns="0">
            <a:spAutoFit/>
          </a:bodyPr>
          <a:lstStyle/>
          <a:p>
            <a:r>
              <a:rPr sz="1100" b="0">
                <a:solidFill>
                  <a:srgbClr val="2E2E2E"/>
                </a:solidFill>
                <a:latin typeface="Calibri"/>
              </a:rPr>
              <a:t>and a market share index</a:t>
            </a:r>
          </a:p>
        </p:txBody>
      </p:sp>
      <p:sp>
        <p:nvSpPr>
          <p:cNvPr id="23" name="TextBox 22"/>
          <p:cNvSpPr txBox="1"/>
          <p:nvPr/>
        </p:nvSpPr>
        <p:spPr>
          <a:xfrm>
            <a:off x="257175" y="6029325"/>
            <a:ext cx="192434" cy="186689"/>
          </a:xfrm>
          <a:prstGeom prst="rect">
            <a:avLst/>
          </a:prstGeom>
          <a:noFill/>
        </p:spPr>
        <p:txBody>
          <a:bodyPr wrap="none" lIns="0" rIns="0" tIns="0" bIns="0">
            <a:spAutoFit/>
          </a:bodyPr>
          <a:lstStyle/>
          <a:p>
            <a:r>
              <a:rPr sz="1100" b="0">
                <a:solidFill>
                  <a:srgbClr val="2E2E2E"/>
                </a:solidFill>
                <a:latin typeface="Calibri"/>
              </a:rPr>
              <a:t>of</a:t>
            </a:r>
          </a:p>
        </p:txBody>
      </p:sp>
      <p:pic>
        <p:nvPicPr>
          <p:cNvPr id="24" name="Picture 23" descr="lock.png"/>
          <p:cNvPicPr>
            <a:picLocks noChangeAspect="1"/>
          </p:cNvPicPr>
          <p:nvPr/>
        </p:nvPicPr>
        <p:blipFill>
          <a:blip r:embed="rId6"/>
          <a:stretch>
            <a:fillRect/>
          </a:stretch>
        </p:blipFill>
        <p:spPr>
          <a:xfrm>
            <a:off x="397661" y="6019545"/>
            <a:ext cx="128699" cy="187198"/>
          </a:xfrm>
          <a:prstGeom prst="rect">
            <a:avLst/>
          </a:prstGeom>
        </p:spPr>
      </p:pic>
      <p:sp>
        <p:nvSpPr>
          <p:cNvPr id="25" name="TextBox 24"/>
          <p:cNvSpPr txBox="1"/>
          <p:nvPr/>
        </p:nvSpPr>
        <p:spPr>
          <a:xfrm>
            <a:off x="565157" y="602932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6" name="Picture 25" descr="lock.png"/>
          <p:cNvPicPr>
            <a:picLocks noChangeAspect="1"/>
          </p:cNvPicPr>
          <p:nvPr/>
        </p:nvPicPr>
        <p:blipFill>
          <a:blip r:embed="rId6"/>
          <a:stretch>
            <a:fillRect/>
          </a:stretch>
        </p:blipFill>
        <p:spPr>
          <a:xfrm>
            <a:off x="803051" y="6019545"/>
            <a:ext cx="128699" cy="187198"/>
          </a:xfrm>
          <a:prstGeom prst="rect">
            <a:avLst/>
          </a:prstGeom>
        </p:spPr>
      </p:pic>
      <p:sp>
        <p:nvSpPr>
          <p:cNvPr id="27" name="TextBox 26"/>
          <p:cNvSpPr txBox="1"/>
          <p:nvPr/>
        </p:nvSpPr>
        <p:spPr>
          <a:xfrm>
            <a:off x="970547" y="6029325"/>
            <a:ext cx="2606352" cy="186689"/>
          </a:xfrm>
          <a:prstGeom prst="rect">
            <a:avLst/>
          </a:prstGeom>
          <a:noFill/>
        </p:spPr>
        <p:txBody>
          <a:bodyPr wrap="none" lIns="0" rIns="0" tIns="0" bIns="0">
            <a:spAutoFit/>
          </a:bodyPr>
          <a:lstStyle/>
          <a:p>
            <a:r>
              <a:rPr sz="1100" b="0">
                <a:solidFill>
                  <a:srgbClr val="2E2E2E"/>
                </a:solidFill>
                <a:latin typeface="Calibri"/>
              </a:rPr>
              <a:t>respectively, against the segment average of</a:t>
            </a:r>
          </a:p>
        </p:txBody>
      </p:sp>
      <p:pic>
        <p:nvPicPr>
          <p:cNvPr id="28" name="Picture 27" descr="lock.png"/>
          <p:cNvPicPr>
            <a:picLocks noChangeAspect="1"/>
          </p:cNvPicPr>
          <p:nvPr/>
        </p:nvPicPr>
        <p:blipFill>
          <a:blip r:embed="rId6"/>
          <a:stretch>
            <a:fillRect/>
          </a:stretch>
        </p:blipFill>
        <p:spPr>
          <a:xfrm>
            <a:off x="3524951" y="6019545"/>
            <a:ext cx="128699" cy="187198"/>
          </a:xfrm>
          <a:prstGeom prst="rect">
            <a:avLst/>
          </a:prstGeom>
        </p:spPr>
      </p:pic>
      <p:sp>
        <p:nvSpPr>
          <p:cNvPr id="29" name="TextBox 28"/>
          <p:cNvSpPr txBox="1"/>
          <p:nvPr/>
        </p:nvSpPr>
        <p:spPr>
          <a:xfrm>
            <a:off x="3692447" y="6029325"/>
            <a:ext cx="7878117" cy="186689"/>
          </a:xfrm>
          <a:prstGeom prst="rect">
            <a:avLst/>
          </a:prstGeom>
          <a:noFill/>
        </p:spPr>
        <p:txBody>
          <a:bodyPr wrap="none" lIns="0" rIns="0" tIns="0" bIns="0">
            <a:spAutoFit/>
          </a:bodyPr>
          <a:lstStyle/>
          <a:p>
            <a:r>
              <a:rPr sz="1100" b="0">
                <a:solidFill>
                  <a:srgbClr val="2E2E2E"/>
                </a:solidFill>
                <a:latin typeface="Calibri"/>
              </a:rPr>
              <a:t>. The enzymatic hydrolysis segment is expected to be less attractive as compared to other segments over the forecast period, owing to its</a:t>
            </a:r>
          </a:p>
        </p:txBody>
      </p:sp>
      <p:sp>
        <p:nvSpPr>
          <p:cNvPr id="30" name="TextBox 29"/>
          <p:cNvSpPr txBox="1"/>
          <p:nvPr/>
        </p:nvSpPr>
        <p:spPr>
          <a:xfrm>
            <a:off x="257175" y="6196965"/>
            <a:ext cx="6790224" cy="186689"/>
          </a:xfrm>
          <a:prstGeom prst="rect">
            <a:avLst/>
          </a:prstGeom>
          <a:noFill/>
        </p:spPr>
        <p:txBody>
          <a:bodyPr wrap="none" lIns="0" rIns="0" tIns="0" bIns="0">
            <a:spAutoFit/>
          </a:bodyPr>
          <a:lstStyle/>
          <a:p>
            <a:r>
              <a:rPr sz="1100" b="0">
                <a:solidFill>
                  <a:srgbClr val="2E2E2E"/>
                </a:solidFill>
                <a:latin typeface="Calibri"/>
              </a:rPr>
              <a:t>lower CAGR and incremental opportunity. Bubbles right of the CAGR-Index line grow faster than the segment average.</a:t>
            </a:r>
          </a:p>
        </p:txBody>
      </p:sp>
      <p:sp>
        <p:nvSpPr>
          <p:cNvPr id="31" name="lockshield_9"/>
          <p:cNvSpPr/>
          <p:nvPr/>
        </p:nvSpPr>
        <p:spPr>
          <a:xfrm>
            <a:off x="238125" y="1438275"/>
            <a:ext cx="6153150"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lockshield_12"/>
          <p:cNvSpPr/>
          <p:nvPr/>
        </p:nvSpPr>
        <p:spPr>
          <a:xfrm>
            <a:off x="6734175" y="1438275"/>
            <a:ext cx="5210175"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Absolute $ Opportunity Analysis, By Extraction / Processing Method</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Extraction / Processing Method and the absolute $ opportunity each sub-segment adds, 2026–2036</a:t>
            </a:r>
          </a:p>
        </p:txBody>
      </p:sp>
      <p:sp>
        <p:nvSpPr>
          <p:cNvPr id="7" name="Rounded Rectangle 6"/>
          <p:cNvSpPr/>
          <p:nvPr/>
        </p:nvSpPr>
        <p:spPr>
          <a:xfrm>
            <a:off x="142875" y="981075"/>
            <a:ext cx="5876925"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Mechanical Separation &amp; Micronization</a:t>
            </a:r>
          </a:p>
        </p:txBody>
      </p:sp>
      <p:graphicFrame>
        <p:nvGraphicFramePr>
          <p:cNvPr id="9" name="Chart 8"/>
          <p:cNvGraphicFramePr>
            <a:graphicFrameLocks noGrp="1"/>
          </p:cNvGraphicFramePr>
          <p:nvPr/>
        </p:nvGraphicFramePr>
        <p:xfrm>
          <a:off x="238125" y="1438275"/>
          <a:ext cx="5686425" cy="2238375"/>
        </p:xfrm>
        <a:graphic>
          <a:graphicData uri="http://schemas.openxmlformats.org/drawingml/2006/chart">
            <c:chart xmlns:c="http://schemas.openxmlformats.org/drawingml/2006/chart" r:id="rId3"/>
          </a:graphicData>
        </a:graphic>
      </p:graphicFrame>
      <p:sp>
        <p:nvSpPr>
          <p:cNvPr id="10" name="Rounded Rectangle 9"/>
          <p:cNvSpPr/>
          <p:nvPr/>
        </p:nvSpPr>
        <p:spPr>
          <a:xfrm>
            <a:off x="6172200" y="981075"/>
            <a:ext cx="5876925"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67450"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Enzymatic Hydrolysis</a:t>
            </a:r>
          </a:p>
        </p:txBody>
      </p:sp>
      <p:graphicFrame>
        <p:nvGraphicFramePr>
          <p:cNvPr id="12" name="Chart 11"/>
          <p:cNvGraphicFramePr>
            <a:graphicFrameLocks noGrp="1"/>
          </p:cNvGraphicFramePr>
          <p:nvPr/>
        </p:nvGraphicFramePr>
        <p:xfrm>
          <a:off x="6267450" y="1438275"/>
          <a:ext cx="5686425" cy="2238375"/>
        </p:xfrm>
        <a:graphic>
          <a:graphicData uri="http://schemas.openxmlformats.org/drawingml/2006/chart">
            <c:chart xmlns:c="http://schemas.openxmlformats.org/drawingml/2006/chart" r:id="rId4"/>
          </a:graphicData>
        </a:graphic>
      </p:graphicFrame>
      <p:sp>
        <p:nvSpPr>
          <p:cNvPr id="13" name="Rounded Rectangle 12"/>
          <p:cNvSpPr/>
          <p:nvPr/>
        </p:nvSpPr>
        <p:spPr>
          <a:xfrm>
            <a:off x="142875" y="3867150"/>
            <a:ext cx="5876925"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38125"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Chemical Hydrolysis / Solubilization</a:t>
            </a:r>
          </a:p>
        </p:txBody>
      </p:sp>
      <p:graphicFrame>
        <p:nvGraphicFramePr>
          <p:cNvPr id="15" name="Chart 14"/>
          <p:cNvGraphicFramePr>
            <a:graphicFrameLocks noGrp="1"/>
          </p:cNvGraphicFramePr>
          <p:nvPr/>
        </p:nvGraphicFramePr>
        <p:xfrm>
          <a:off x="238125" y="4324350"/>
          <a:ext cx="5686425" cy="2238375"/>
        </p:xfrm>
        <a:graphic>
          <a:graphicData uri="http://schemas.openxmlformats.org/drawingml/2006/chart">
            <c:chart xmlns:c="http://schemas.openxmlformats.org/drawingml/2006/chart" r:id="rId5"/>
          </a:graphicData>
        </a:graphic>
      </p:graphicFrame>
      <p:sp>
        <p:nvSpPr>
          <p:cNvPr id="16" name="Rounded Rectangle 15"/>
          <p:cNvSpPr/>
          <p:nvPr/>
        </p:nvSpPr>
        <p:spPr>
          <a:xfrm>
            <a:off x="6172200" y="3867150"/>
            <a:ext cx="5876925"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67450"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Other / Hybrid Processing Methods</a:t>
            </a:r>
          </a:p>
        </p:txBody>
      </p:sp>
      <p:graphicFrame>
        <p:nvGraphicFramePr>
          <p:cNvPr id="18" name="Chart 17"/>
          <p:cNvGraphicFramePr>
            <a:graphicFrameLocks noGrp="1"/>
          </p:cNvGraphicFramePr>
          <p:nvPr/>
        </p:nvGraphicFramePr>
        <p:xfrm>
          <a:off x="6267450" y="4324350"/>
          <a:ext cx="5686425" cy="2238375"/>
        </p:xfrm>
        <a:graphic>
          <a:graphicData uri="http://schemas.openxmlformats.org/drawingml/2006/chart">
            <c:chart xmlns:c="http://schemas.openxmlformats.org/drawingml/2006/chart" r:id="rId6"/>
          </a:graphicData>
        </a:graphic>
      </p:graphicFrame>
      <p:sp>
        <p:nvSpPr>
          <p:cNvPr id="19" name="Rectangle 18"/>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21" name="Picture 20" descr="lock.png"/>
          <p:cNvPicPr>
            <a:picLocks noChangeAspect="1"/>
          </p:cNvPicPr>
          <p:nvPr/>
        </p:nvPicPr>
        <p:blipFill>
          <a:blip r:embed="rId8"/>
          <a:stretch>
            <a:fillRect/>
          </a:stretch>
        </p:blipFill>
        <p:spPr>
          <a:xfrm>
            <a:off x="3100230" y="2330679"/>
            <a:ext cx="252890" cy="367840"/>
          </a:xfrm>
          <a:prstGeom prst="rect">
            <a:avLst/>
          </a:prstGeom>
        </p:spPr>
      </p:pic>
      <p:pic>
        <p:nvPicPr>
          <p:cNvPr id="22" name="Picture 21" descr="lock.png"/>
          <p:cNvPicPr>
            <a:picLocks noChangeAspect="1"/>
          </p:cNvPicPr>
          <p:nvPr/>
        </p:nvPicPr>
        <p:blipFill>
          <a:blip r:embed="rId8"/>
          <a:stretch>
            <a:fillRect/>
          </a:stretch>
        </p:blipFill>
        <p:spPr>
          <a:xfrm>
            <a:off x="9129555" y="2330679"/>
            <a:ext cx="252890" cy="367840"/>
          </a:xfrm>
          <a:prstGeom prst="rect">
            <a:avLst/>
          </a:prstGeom>
        </p:spPr>
      </p:pic>
      <p:pic>
        <p:nvPicPr>
          <p:cNvPr id="23" name="Picture 22" descr="lock.png"/>
          <p:cNvPicPr>
            <a:picLocks noChangeAspect="1"/>
          </p:cNvPicPr>
          <p:nvPr/>
        </p:nvPicPr>
        <p:blipFill>
          <a:blip r:embed="rId8"/>
          <a:stretch>
            <a:fillRect/>
          </a:stretch>
        </p:blipFill>
        <p:spPr>
          <a:xfrm>
            <a:off x="3100230" y="5216754"/>
            <a:ext cx="252890" cy="367840"/>
          </a:xfrm>
          <a:prstGeom prst="rect">
            <a:avLst/>
          </a:prstGeom>
        </p:spPr>
      </p:pic>
      <p:pic>
        <p:nvPicPr>
          <p:cNvPr id="24" name="Picture 23" descr="lock.png"/>
          <p:cNvPicPr>
            <a:picLocks noChangeAspect="1"/>
          </p:cNvPicPr>
          <p:nvPr/>
        </p:nvPicPr>
        <p:blipFill>
          <a:blip r:embed="rId8"/>
          <a:stretch>
            <a:fillRect/>
          </a:stretch>
        </p:blipFill>
        <p:spPr>
          <a:xfrm>
            <a:off x="9129555" y="5216754"/>
            <a:ext cx="252890" cy="367840"/>
          </a:xfrm>
          <a:prstGeom prst="rect">
            <a:avLst/>
          </a:prstGeom>
        </p:spPr>
      </p:pic>
      <p:sp>
        <p:nvSpPr>
          <p:cNvPr id="25" name="lockshield_9"/>
          <p:cNvSpPr/>
          <p:nvPr/>
        </p:nvSpPr>
        <p:spPr>
          <a:xfrm>
            <a:off x="238125"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lockshield_12"/>
          <p:cNvSpPr/>
          <p:nvPr/>
        </p:nvSpPr>
        <p:spPr>
          <a:xfrm>
            <a:off x="6267450"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lockshield_15"/>
          <p:cNvSpPr/>
          <p:nvPr/>
        </p:nvSpPr>
        <p:spPr>
          <a:xfrm>
            <a:off x="238125"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lockshield_18"/>
          <p:cNvSpPr/>
          <p:nvPr/>
        </p:nvSpPr>
        <p:spPr>
          <a:xfrm>
            <a:off x="6267450"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Value Analysis, By Extraction / Processing Method (US$ Mn)</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by Extraction / Processing Method, 2021–2036, highlighting the sub-segments driving growth</a:t>
            </a:r>
          </a:p>
        </p:txBody>
      </p:sp>
      <p:sp>
        <p:nvSpPr>
          <p:cNvPr id="7" name="Rounded Rectangle 6"/>
          <p:cNvSpPr/>
          <p:nvPr/>
        </p:nvSpPr>
        <p:spPr>
          <a:xfrm>
            <a:off x="142875" y="981075"/>
            <a:ext cx="11906250" cy="1952625"/>
          </a:xfrm>
          <a:prstGeom prst="roundRect">
            <a:avLst>
              <a:gd name="adj" fmla="val 3902"/>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By Extraction / Processing Method (US$ Mn)</a:t>
            </a:r>
          </a:p>
        </p:txBody>
      </p:sp>
      <p:graphicFrame>
        <p:nvGraphicFramePr>
          <p:cNvPr id="9" name="Table 8"/>
          <p:cNvGraphicFramePr>
            <a:graphicFrameLocks noGrp="1"/>
          </p:cNvGraphicFramePr>
          <p:nvPr/>
        </p:nvGraphicFramePr>
        <p:xfrm>
          <a:off x="152400" y="1238250"/>
          <a:ext cx="11887196" cy="1485896"/>
        </p:xfrm>
        <a:graphic>
          <a:graphicData uri="http://schemas.openxmlformats.org/drawingml/2006/table">
            <a:tbl>
              <a:tblPr>
                <a:tableStyleId>{5C22544A-7EE6-4342-B048-85BDC9FD1C3A}</a:tableStyleId>
              </a:tblPr>
              <a:tblGrid>
                <a:gridCol w="2654599"/>
                <a:gridCol w="520893"/>
                <a:gridCol w="520893"/>
                <a:gridCol w="520893"/>
                <a:gridCol w="544484"/>
                <a:gridCol w="544484"/>
                <a:gridCol w="544484"/>
                <a:gridCol w="544484"/>
                <a:gridCol w="544484"/>
                <a:gridCol w="544484"/>
                <a:gridCol w="544484"/>
                <a:gridCol w="544484"/>
                <a:gridCol w="544484"/>
                <a:gridCol w="544484"/>
                <a:gridCol w="544484"/>
                <a:gridCol w="544484"/>
                <a:gridCol w="544484"/>
                <a:gridCol w="591626"/>
              </a:tblGrid>
              <a:tr h="246126">
                <a:tc>
                  <a:txBody>
                    <a:bodyPr wrap="none"/>
                    <a:lstStyle/>
                    <a:p>
                      <a:pPr algn="l"/>
                      <a:r>
                        <a:rPr sz="1100" b="1">
                          <a:solidFill>
                            <a:srgbClr val="0E2A5C"/>
                          </a:solidFill>
                          <a:latin typeface="Calibri"/>
                        </a:rPr>
                        <a:t>Extraction / Processing Method</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2021A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2022A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2023A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2024A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2025A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2026E</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2027F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2028F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2029F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2030F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2031F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2032F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2033F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2034F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2035F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2036F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F-CAGR</a:t>
                      </a:r>
                      <a:endParaRPr sz="1100"/>
                    </a:p>
                  </a:txBody>
                  <a:tcPr marL="47625" marR="38100" marT="19050" marB="19050" anchor="ctr">
                    <a:solidFill>
                      <a:srgbClr val="EBF2F9"/>
                    </a:solidFill>
                  </a:tcPr>
                </a:tc>
              </a:tr>
              <a:tr h="247954">
                <a:tc>
                  <a:txBody>
                    <a:bodyPr wrap="none"/>
                    <a:lstStyle/>
                    <a:p>
                      <a:pPr algn="l"/>
                      <a:r>
                        <a:rPr sz="1100" b="1">
                          <a:solidFill>
                            <a:srgbClr val="2E2E2E"/>
                          </a:solidFill>
                          <a:latin typeface="Calibri"/>
                        </a:rPr>
                        <a:t>Mechanical Separation &amp; Micronization</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954">
                <a:tc>
                  <a:txBody>
                    <a:bodyPr wrap="none"/>
                    <a:lstStyle/>
                    <a:p>
                      <a:pPr algn="l"/>
                      <a:r>
                        <a:rPr sz="1100" b="1">
                          <a:solidFill>
                            <a:srgbClr val="2E2E2E"/>
                          </a:solidFill>
                          <a:latin typeface="Calibri"/>
                        </a:rPr>
                        <a:t>Enzymatic Hydrolysis</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7954">
                <a:tc>
                  <a:txBody>
                    <a:bodyPr wrap="none"/>
                    <a:lstStyle/>
                    <a:p>
                      <a:pPr algn="l"/>
                      <a:r>
                        <a:rPr sz="1100" b="1">
                          <a:solidFill>
                            <a:srgbClr val="2E2E2E"/>
                          </a:solidFill>
                          <a:latin typeface="Calibri"/>
                        </a:rPr>
                        <a:t>Chemical Hydrolysis / Solubilization</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954">
                <a:tc>
                  <a:txBody>
                    <a:bodyPr wrap="none"/>
                    <a:lstStyle/>
                    <a:p>
                      <a:pPr algn="l"/>
                      <a:r>
                        <a:rPr sz="1100" b="1">
                          <a:solidFill>
                            <a:srgbClr val="2E2E2E"/>
                          </a:solidFill>
                          <a:latin typeface="Calibri"/>
                        </a:rPr>
                        <a:t>Other / Hybrid Processing Methods</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7954">
                <a:tc>
                  <a:txBody>
                    <a:bodyPr wrap="none"/>
                    <a:lstStyle/>
                    <a:p>
                      <a:pPr algn="l"/>
                      <a:r>
                        <a:rPr sz="1100" b="1">
                          <a:solidFill>
                            <a:srgbClr val="2E2E2E"/>
                          </a:solidFill>
                          <a:latin typeface="Calibri"/>
                        </a:rPr>
                        <a:t>Total</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r>
            </a:tbl>
          </a:graphicData>
        </a:graphic>
      </p:graphicFrame>
      <p:sp>
        <p:nvSpPr>
          <p:cNvPr id="10" name="TextBox 9"/>
          <p:cNvSpPr txBox="1"/>
          <p:nvPr/>
        </p:nvSpPr>
        <p:spPr>
          <a:xfrm>
            <a:off x="219075" y="273367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11" name="Rounded Rectangle 10"/>
          <p:cNvSpPr/>
          <p:nvPr/>
        </p:nvSpPr>
        <p:spPr>
          <a:xfrm>
            <a:off x="142875" y="3067050"/>
            <a:ext cx="11906250" cy="3562350"/>
          </a:xfrm>
          <a:prstGeom prst="roundRect">
            <a:avLst>
              <a:gd name="adj" fmla="val 213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6225" y="3152775"/>
            <a:ext cx="11639550" cy="209550"/>
          </a:xfrm>
          <a:prstGeom prst="rect">
            <a:avLst/>
          </a:prstGeom>
          <a:noFill/>
        </p:spPr>
        <p:txBody>
          <a:bodyPr wrap="square" lIns="0" rIns="19050" tIns="9525" bIns="9525">
            <a:spAutoFit/>
          </a:bodyPr>
          <a:lstStyle/>
          <a:p>
            <a:pPr algn="l"/>
            <a:r>
              <a:rPr sz="1300" b="1">
                <a:solidFill>
                  <a:srgbClr val="0E2A5C"/>
                </a:solidFill>
                <a:latin typeface="Calibri"/>
              </a:rPr>
              <a:t>Global Value Analysis, By Extraction / Processing Method</a:t>
            </a:r>
          </a:p>
        </p:txBody>
      </p:sp>
      <p:sp>
        <p:nvSpPr>
          <p:cNvPr id="13" name="Rectangle 12"/>
          <p:cNvSpPr/>
          <p:nvPr/>
        </p:nvSpPr>
        <p:spPr>
          <a:xfrm>
            <a:off x="276225" y="3390900"/>
            <a:ext cx="116395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6225" y="3476625"/>
            <a:ext cx="11639550" cy="307657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5" name="Rectangle 14"/>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7" name="Picture 16" descr="lock.png"/>
          <p:cNvPicPr>
            <a:picLocks noChangeAspect="1"/>
          </p:cNvPicPr>
          <p:nvPr/>
        </p:nvPicPr>
        <p:blipFill>
          <a:blip r:embed="rId4"/>
          <a:stretch>
            <a:fillRect/>
          </a:stretch>
        </p:blipFill>
        <p:spPr>
          <a:xfrm>
            <a:off x="7236607" y="1837563"/>
            <a:ext cx="366712" cy="533399"/>
          </a:xfrm>
          <a:prstGeom prst="rect">
            <a:avLst/>
          </a:prstGeom>
        </p:spPr>
      </p:pic>
      <p:sp>
        <p:nvSpPr>
          <p:cNvPr id="18" name="TextBox 17"/>
          <p:cNvSpPr txBox="1"/>
          <p:nvPr/>
        </p:nvSpPr>
        <p:spPr>
          <a:xfrm>
            <a:off x="276225" y="3486150"/>
            <a:ext cx="4330762" cy="194310"/>
          </a:xfrm>
          <a:prstGeom prst="rect">
            <a:avLst/>
          </a:prstGeom>
          <a:noFill/>
        </p:spPr>
        <p:txBody>
          <a:bodyPr wrap="none" lIns="0" rIns="0" tIns="0" bIns="0">
            <a:spAutoFit/>
          </a:bodyPr>
          <a:lstStyle/>
          <a:p>
            <a:r>
              <a:rPr sz="1150" b="0">
                <a:solidFill>
                  <a:srgbClr val="2E2E2E"/>
                </a:solidFill>
                <a:latin typeface="Calibri"/>
              </a:rPr>
              <a:t>Mechanical separation &amp; micronization segment is projected to register</a:t>
            </a:r>
          </a:p>
        </p:txBody>
      </p:sp>
      <p:pic>
        <p:nvPicPr>
          <p:cNvPr id="19" name="Picture 18" descr="lock.png"/>
          <p:cNvPicPr>
            <a:picLocks noChangeAspect="1"/>
          </p:cNvPicPr>
          <p:nvPr/>
        </p:nvPicPr>
        <p:blipFill>
          <a:blip r:embed="rId4"/>
          <a:stretch>
            <a:fillRect/>
          </a:stretch>
        </p:blipFill>
        <p:spPr>
          <a:xfrm>
            <a:off x="4556140" y="3475926"/>
            <a:ext cx="134549" cy="195707"/>
          </a:xfrm>
          <a:prstGeom prst="rect">
            <a:avLst/>
          </a:prstGeom>
        </p:spPr>
      </p:pic>
      <p:sp>
        <p:nvSpPr>
          <p:cNvPr id="20" name="TextBox 19"/>
          <p:cNvSpPr txBox="1"/>
          <p:nvPr/>
        </p:nvSpPr>
        <p:spPr>
          <a:xfrm>
            <a:off x="4731250" y="3486150"/>
            <a:ext cx="7127106" cy="194310"/>
          </a:xfrm>
          <a:prstGeom prst="rect">
            <a:avLst/>
          </a:prstGeom>
          <a:noFill/>
        </p:spPr>
        <p:txBody>
          <a:bodyPr wrap="none" lIns="0" rIns="0" tIns="0" bIns="0">
            <a:spAutoFit/>
          </a:bodyPr>
          <a:lstStyle/>
          <a:p>
            <a:r>
              <a:rPr sz="1150" b="0">
                <a:solidFill>
                  <a:srgbClr val="2E2E2E"/>
                </a:solidFill>
                <a:latin typeface="Calibri"/>
              </a:rPr>
              <a:t>X higher value than other / hybrid processing methods segment in 2036. Among egg protein membrane by extraction /</a:t>
            </a:r>
          </a:p>
        </p:txBody>
      </p:sp>
      <p:sp>
        <p:nvSpPr>
          <p:cNvPr id="21" name="TextBox 20"/>
          <p:cNvSpPr txBox="1"/>
          <p:nvPr/>
        </p:nvSpPr>
        <p:spPr>
          <a:xfrm>
            <a:off x="276225" y="3661410"/>
            <a:ext cx="6449324" cy="194310"/>
          </a:xfrm>
          <a:prstGeom prst="rect">
            <a:avLst/>
          </a:prstGeom>
          <a:noFill/>
        </p:spPr>
        <p:txBody>
          <a:bodyPr wrap="none" lIns="0" rIns="0" tIns="0" bIns="0">
            <a:spAutoFit/>
          </a:bodyPr>
          <a:lstStyle/>
          <a:p>
            <a:r>
              <a:rPr sz="1150" b="0">
                <a:solidFill>
                  <a:srgbClr val="2E2E2E"/>
                </a:solidFill>
                <a:latin typeface="Calibri"/>
              </a:rPr>
              <a:t>processing method, other / hybrid processing methods segment is expected to witness the highest CAGR of</a:t>
            </a:r>
          </a:p>
        </p:txBody>
      </p:sp>
      <p:pic>
        <p:nvPicPr>
          <p:cNvPr id="22" name="Picture 21" descr="lock.png"/>
          <p:cNvPicPr>
            <a:picLocks noChangeAspect="1"/>
          </p:cNvPicPr>
          <p:nvPr/>
        </p:nvPicPr>
        <p:blipFill>
          <a:blip r:embed="rId4"/>
          <a:stretch>
            <a:fillRect/>
          </a:stretch>
        </p:blipFill>
        <p:spPr>
          <a:xfrm>
            <a:off x="6674703" y="3651186"/>
            <a:ext cx="134549" cy="195707"/>
          </a:xfrm>
          <a:prstGeom prst="rect">
            <a:avLst/>
          </a:prstGeom>
        </p:spPr>
      </p:pic>
      <p:sp>
        <p:nvSpPr>
          <p:cNvPr id="23" name="TextBox 22"/>
          <p:cNvSpPr txBox="1"/>
          <p:nvPr/>
        </p:nvSpPr>
        <p:spPr>
          <a:xfrm>
            <a:off x="6849813" y="3661410"/>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24" name="TextBox 23"/>
          <p:cNvSpPr txBox="1"/>
          <p:nvPr/>
        </p:nvSpPr>
        <p:spPr>
          <a:xfrm>
            <a:off x="276225" y="3889247"/>
            <a:ext cx="9332689" cy="194310"/>
          </a:xfrm>
          <a:prstGeom prst="rect">
            <a:avLst/>
          </a:prstGeom>
          <a:noFill/>
        </p:spPr>
        <p:txBody>
          <a:bodyPr wrap="none" lIns="0" rIns="0" tIns="0" bIns="0">
            <a:spAutoFit/>
          </a:bodyPr>
          <a:lstStyle/>
          <a:p>
            <a:r>
              <a:rPr sz="1150" b="0">
                <a:solidFill>
                  <a:srgbClr val="2E2E2E"/>
                </a:solidFill>
                <a:latin typeface="Calibri"/>
              </a:rPr>
              <a:t>In terms of value share by extraction / processing method, the mechanical separation &amp; micronization segment is expected to dominate the market, gaining</a:t>
            </a:r>
          </a:p>
        </p:txBody>
      </p:sp>
      <p:pic>
        <p:nvPicPr>
          <p:cNvPr id="25" name="Picture 24" descr="lock.png"/>
          <p:cNvPicPr>
            <a:picLocks noChangeAspect="1"/>
          </p:cNvPicPr>
          <p:nvPr/>
        </p:nvPicPr>
        <p:blipFill>
          <a:blip r:embed="rId4"/>
          <a:stretch>
            <a:fillRect/>
          </a:stretch>
        </p:blipFill>
        <p:spPr>
          <a:xfrm>
            <a:off x="9558068" y="3879024"/>
            <a:ext cx="134549" cy="195707"/>
          </a:xfrm>
          <a:prstGeom prst="rect">
            <a:avLst/>
          </a:prstGeom>
        </p:spPr>
      </p:pic>
      <p:sp>
        <p:nvSpPr>
          <p:cNvPr id="26" name="TextBox 25"/>
          <p:cNvSpPr txBox="1"/>
          <p:nvPr/>
        </p:nvSpPr>
        <p:spPr>
          <a:xfrm>
            <a:off x="9733177" y="3889247"/>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27" name="Picture 26" descr="lock.png"/>
          <p:cNvPicPr>
            <a:picLocks noChangeAspect="1"/>
          </p:cNvPicPr>
          <p:nvPr/>
        </p:nvPicPr>
        <p:blipFill>
          <a:blip r:embed="rId4"/>
          <a:stretch>
            <a:fillRect/>
          </a:stretch>
        </p:blipFill>
        <p:spPr>
          <a:xfrm>
            <a:off x="11128320" y="3879024"/>
            <a:ext cx="134549" cy="195707"/>
          </a:xfrm>
          <a:prstGeom prst="rect">
            <a:avLst/>
          </a:prstGeom>
        </p:spPr>
      </p:pic>
      <p:sp>
        <p:nvSpPr>
          <p:cNvPr id="28" name="TextBox 27"/>
          <p:cNvSpPr txBox="1"/>
          <p:nvPr/>
        </p:nvSpPr>
        <p:spPr>
          <a:xfrm>
            <a:off x="11303429" y="3889247"/>
            <a:ext cx="403671" cy="194310"/>
          </a:xfrm>
          <a:prstGeom prst="rect">
            <a:avLst/>
          </a:prstGeom>
          <a:noFill/>
        </p:spPr>
        <p:txBody>
          <a:bodyPr wrap="none" lIns="0" rIns="0" tIns="0" bIns="0">
            <a:spAutoFit/>
          </a:bodyPr>
          <a:lstStyle/>
          <a:p>
            <a:r>
              <a:rPr sz="1150" b="0">
                <a:solidFill>
                  <a:srgbClr val="2E2E2E"/>
                </a:solidFill>
                <a:latin typeface="Calibri"/>
              </a:rPr>
              <a:t>share</a:t>
            </a:r>
          </a:p>
        </p:txBody>
      </p:sp>
      <p:sp>
        <p:nvSpPr>
          <p:cNvPr id="29" name="TextBox 28"/>
          <p:cNvSpPr txBox="1"/>
          <p:nvPr/>
        </p:nvSpPr>
        <p:spPr>
          <a:xfrm>
            <a:off x="276225" y="4064507"/>
            <a:ext cx="3787923" cy="194310"/>
          </a:xfrm>
          <a:prstGeom prst="rect">
            <a:avLst/>
          </a:prstGeom>
          <a:noFill/>
        </p:spPr>
        <p:txBody>
          <a:bodyPr wrap="none" lIns="0" rIns="0" tIns="0" bIns="0">
            <a:spAutoFit/>
          </a:bodyPr>
          <a:lstStyle/>
          <a:p>
            <a:r>
              <a:rPr sz="1150" b="0">
                <a:solidFill>
                  <a:srgbClr val="2E2E2E"/>
                </a:solidFill>
                <a:latin typeface="Calibri"/>
              </a:rPr>
              <a:t>by 2036. The enzymatic hydrolysis segment is expected to lose</a:t>
            </a:r>
          </a:p>
        </p:txBody>
      </p:sp>
      <p:pic>
        <p:nvPicPr>
          <p:cNvPr id="30" name="Picture 29" descr="lock.png"/>
          <p:cNvPicPr>
            <a:picLocks noChangeAspect="1"/>
          </p:cNvPicPr>
          <p:nvPr/>
        </p:nvPicPr>
        <p:blipFill>
          <a:blip r:embed="rId4"/>
          <a:stretch>
            <a:fillRect/>
          </a:stretch>
        </p:blipFill>
        <p:spPr>
          <a:xfrm>
            <a:off x="4013302" y="4054284"/>
            <a:ext cx="134549" cy="195707"/>
          </a:xfrm>
          <a:prstGeom prst="rect">
            <a:avLst/>
          </a:prstGeom>
        </p:spPr>
      </p:pic>
      <p:sp>
        <p:nvSpPr>
          <p:cNvPr id="31" name="TextBox 30"/>
          <p:cNvSpPr txBox="1"/>
          <p:nvPr/>
        </p:nvSpPr>
        <p:spPr>
          <a:xfrm>
            <a:off x="4188412" y="4064507"/>
            <a:ext cx="2638350" cy="194310"/>
          </a:xfrm>
          <a:prstGeom prst="rect">
            <a:avLst/>
          </a:prstGeom>
          <a:noFill/>
        </p:spPr>
        <p:txBody>
          <a:bodyPr wrap="none" lIns="0" rIns="0" tIns="0" bIns="0">
            <a:spAutoFit/>
          </a:bodyPr>
          <a:lstStyle/>
          <a:p>
            <a:r>
              <a:rPr sz="1150" b="0">
                <a:solidFill>
                  <a:srgbClr val="2E2E2E"/>
                </a:solidFill>
                <a:latin typeface="Calibri"/>
              </a:rPr>
              <a:t>BPS over the forecast period to account for</a:t>
            </a:r>
          </a:p>
        </p:txBody>
      </p:sp>
      <p:pic>
        <p:nvPicPr>
          <p:cNvPr id="32" name="Picture 31" descr="lock.png"/>
          <p:cNvPicPr>
            <a:picLocks noChangeAspect="1"/>
          </p:cNvPicPr>
          <p:nvPr/>
        </p:nvPicPr>
        <p:blipFill>
          <a:blip r:embed="rId4"/>
          <a:stretch>
            <a:fillRect/>
          </a:stretch>
        </p:blipFill>
        <p:spPr>
          <a:xfrm>
            <a:off x="6775916" y="4054284"/>
            <a:ext cx="134549" cy="195707"/>
          </a:xfrm>
          <a:prstGeom prst="rect">
            <a:avLst/>
          </a:prstGeom>
        </p:spPr>
      </p:pic>
      <p:sp>
        <p:nvSpPr>
          <p:cNvPr id="33" name="TextBox 32"/>
          <p:cNvSpPr txBox="1"/>
          <p:nvPr/>
        </p:nvSpPr>
        <p:spPr>
          <a:xfrm>
            <a:off x="6951025" y="4064507"/>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Value &amp; Share Shift, By Extraction / Processing Method</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Value composition by Extraction / Processing Method in 2021, 2026 and 2036, highlighting share shifts in basis points</a:t>
            </a:r>
          </a:p>
        </p:txBody>
      </p:sp>
      <p:sp>
        <p:nvSpPr>
          <p:cNvPr id="7" name="Rounded Rectangle 6"/>
          <p:cNvSpPr/>
          <p:nvPr/>
        </p:nvSpPr>
        <p:spPr>
          <a:xfrm>
            <a:off x="142875" y="981075"/>
            <a:ext cx="7400925" cy="5648325"/>
          </a:xfrm>
          <a:prstGeom prst="roundRect">
            <a:avLst>
              <a:gd name="adj" fmla="val 134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7210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Composition, By Extraction / Processing Method ·  2021 / 2026 / 2036 (US$ Mn)  ·  right axis = BPS share shift</a:t>
            </a:r>
          </a:p>
        </p:txBody>
      </p:sp>
      <p:graphicFrame>
        <p:nvGraphicFramePr>
          <p:cNvPr id="9" name="Chart 8"/>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r:id="rId3"/>
          </a:graphicData>
        </a:graphic>
      </p:graphicFrame>
      <p:sp>
        <p:nvSpPr>
          <p:cNvPr id="10" name="TextBox 9"/>
          <p:cNvSpPr txBox="1"/>
          <p:nvPr/>
        </p:nvSpPr>
        <p:spPr>
          <a:xfrm>
            <a:off x="4852797" y="1590675"/>
            <a:ext cx="2595753" cy="171069"/>
          </a:xfrm>
          <a:prstGeom prst="rect">
            <a:avLst/>
          </a:prstGeom>
          <a:noFill/>
        </p:spPr>
        <p:txBody>
          <a:bodyPr wrap="square" lIns="28575" rIns="28575" tIns="9525" bIns="9525" anchor="ctr">
            <a:spAutoFit/>
          </a:bodyPr>
          <a:lstStyle/>
          <a:p>
            <a:pPr algn="ctr"/>
            <a:r>
              <a:rPr sz="1300" b="1">
                <a:solidFill>
                  <a:srgbClr val="2A5F8F"/>
                </a:solidFill>
                <a:latin typeface="Calibri"/>
              </a:rPr>
              <a:t>BPS Δ  (2021→2036)</a:t>
            </a:r>
          </a:p>
        </p:txBody>
      </p:sp>
      <p:sp>
        <p:nvSpPr>
          <p:cNvPr id="11" name="TMR Lock Anchor"/>
          <p:cNvSpPr txBox="1"/>
          <p:nvPr/>
        </p:nvSpPr>
        <p:spPr>
          <a:xfrm>
            <a:off x="2678811" y="4014597"/>
            <a:ext cx="38100" cy="38100"/>
          </a:xfrm>
          <a:prstGeom prst="rect">
            <a:avLst/>
          </a:prstGeom>
          <a:noFill/>
        </p:spPr>
        <p:txBody>
          <a:bodyPr wrap="none">
            <a:spAutoFit/>
          </a:bodyPr>
          <a:lstStyle/>
          <a:p/>
        </p:txBody>
      </p:sp>
      <p:sp>
        <p:nvSpPr>
          <p:cNvPr id="12" name="TMR Legend Chip"/>
          <p:cNvSpPr/>
          <p:nvPr/>
        </p:nvSpPr>
        <p:spPr>
          <a:xfrm>
            <a:off x="4928997" y="1819779"/>
            <a:ext cx="85725" cy="85725"/>
          </a:xfrm>
          <a:prstGeom prst="rect">
            <a:avLst/>
          </a:prstGeom>
          <a:solidFill>
            <a:srgbClr val="00AC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Isosceles Triangle 12"/>
          <p:cNvSpPr/>
          <p:nvPr/>
        </p:nvSpPr>
        <p:spPr>
          <a:xfrm rot="10800000">
            <a:off x="5090922" y="1815017"/>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BPS Name 1"/>
          <p:cNvSpPr txBox="1"/>
          <p:nvPr/>
        </p:nvSpPr>
        <p:spPr>
          <a:xfrm>
            <a:off x="5233797" y="1738817"/>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Enzymatic Hydrolysis</a:t>
            </a:r>
          </a:p>
        </p:txBody>
      </p:sp>
      <p:sp>
        <p:nvSpPr>
          <p:cNvPr id="15" name="BPS Value 1"/>
          <p:cNvSpPr txBox="1"/>
          <p:nvPr/>
        </p:nvSpPr>
        <p:spPr>
          <a:xfrm>
            <a:off x="6896100" y="1800729"/>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16" name="TMR Legend Chip"/>
          <p:cNvSpPr/>
          <p:nvPr/>
        </p:nvSpPr>
        <p:spPr>
          <a:xfrm>
            <a:off x="4928997" y="2336181"/>
            <a:ext cx="85725" cy="85725"/>
          </a:xfrm>
          <a:prstGeom prst="rect">
            <a:avLst/>
          </a:prstGeom>
          <a:solidFill>
            <a:srgbClr val="0E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Isosceles Triangle 16"/>
          <p:cNvSpPr/>
          <p:nvPr/>
        </p:nvSpPr>
        <p:spPr>
          <a:xfrm rot="10800000">
            <a:off x="5090922" y="2331418"/>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PS Name 2"/>
          <p:cNvSpPr txBox="1"/>
          <p:nvPr/>
        </p:nvSpPr>
        <p:spPr>
          <a:xfrm>
            <a:off x="5233797" y="2255218"/>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Chemical Hydrolysis / Solubilization</a:t>
            </a:r>
          </a:p>
        </p:txBody>
      </p:sp>
      <p:sp>
        <p:nvSpPr>
          <p:cNvPr id="19" name="BPS Value 2"/>
          <p:cNvSpPr txBox="1"/>
          <p:nvPr/>
        </p:nvSpPr>
        <p:spPr>
          <a:xfrm>
            <a:off x="6896100" y="2317131"/>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0" name="TMR Legend Chip"/>
          <p:cNvSpPr/>
          <p:nvPr/>
        </p:nvSpPr>
        <p:spPr>
          <a:xfrm>
            <a:off x="4928997" y="3472391"/>
            <a:ext cx="85725" cy="85725"/>
          </a:xfrm>
          <a:prstGeom prst="rect">
            <a:avLst/>
          </a:prstGeom>
          <a:solidFill>
            <a:srgbClr val="0081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Isosceles Triangle 20"/>
          <p:cNvSpPr/>
          <p:nvPr/>
        </p:nvSpPr>
        <p:spPr>
          <a:xfrm>
            <a:off x="5090922" y="3467629"/>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BPS Name 3"/>
          <p:cNvSpPr txBox="1"/>
          <p:nvPr/>
        </p:nvSpPr>
        <p:spPr>
          <a:xfrm>
            <a:off x="5233797" y="3391429"/>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Other / Hybrid Processing Methods</a:t>
            </a:r>
          </a:p>
        </p:txBody>
      </p:sp>
      <p:sp>
        <p:nvSpPr>
          <p:cNvPr id="23" name="BPS Value 3"/>
          <p:cNvSpPr txBox="1"/>
          <p:nvPr/>
        </p:nvSpPr>
        <p:spPr>
          <a:xfrm>
            <a:off x="6896100" y="3453341"/>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4" name="TMR Legend Chip"/>
          <p:cNvSpPr/>
          <p:nvPr/>
        </p:nvSpPr>
        <p:spPr>
          <a:xfrm>
            <a:off x="4928997" y="5242180"/>
            <a:ext cx="85725" cy="85725"/>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Isosceles Triangle 24"/>
          <p:cNvSpPr/>
          <p:nvPr/>
        </p:nvSpPr>
        <p:spPr>
          <a:xfrm>
            <a:off x="5090922" y="5237418"/>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BPS Name 4"/>
          <p:cNvSpPr txBox="1"/>
          <p:nvPr/>
        </p:nvSpPr>
        <p:spPr>
          <a:xfrm>
            <a:off x="5233797" y="5161218"/>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Mechanical Separation &amp; Micronization</a:t>
            </a:r>
          </a:p>
        </p:txBody>
      </p:sp>
      <p:sp>
        <p:nvSpPr>
          <p:cNvPr id="27" name="BPS Value 4"/>
          <p:cNvSpPr txBox="1"/>
          <p:nvPr/>
        </p:nvSpPr>
        <p:spPr>
          <a:xfrm>
            <a:off x="6896100" y="5223130"/>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8" name="Rounded Rectangle 27"/>
          <p:cNvSpPr/>
          <p:nvPr/>
        </p:nvSpPr>
        <p:spPr>
          <a:xfrm>
            <a:off x="7696200" y="981075"/>
            <a:ext cx="4343400" cy="5648325"/>
          </a:xfrm>
          <a:prstGeom prst="roundRect">
            <a:avLst>
              <a:gd name="adj" fmla="val 1754"/>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E2A5C"/>
                </a:solidFill>
                <a:latin typeface="Calibri"/>
              </a:rPr>
              <a:t>Global Read-out, By Extraction / Processing Method</a:t>
            </a:r>
          </a:p>
        </p:txBody>
      </p:sp>
      <p:sp>
        <p:nvSpPr>
          <p:cNvPr id="30" name="Rectangle 29"/>
          <p:cNvSpPr/>
          <p:nvPr/>
        </p:nvSpPr>
        <p:spPr>
          <a:xfrm>
            <a:off x="7829550" y="1304925"/>
            <a:ext cx="407670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32" name="Rectangle 31"/>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34" name="Picture 33" descr="lock.png"/>
          <p:cNvPicPr>
            <a:picLocks noChangeAspect="1"/>
          </p:cNvPicPr>
          <p:nvPr/>
        </p:nvPicPr>
        <p:blipFill>
          <a:blip r:embed="rId5"/>
          <a:stretch>
            <a:fillRect/>
          </a:stretch>
        </p:blipFill>
        <p:spPr>
          <a:xfrm>
            <a:off x="2557843" y="3833622"/>
            <a:ext cx="275034" cy="400050"/>
          </a:xfrm>
          <a:prstGeom prst="rect">
            <a:avLst/>
          </a:prstGeom>
        </p:spPr>
      </p:pic>
      <p:sp>
        <p:nvSpPr>
          <p:cNvPr id="35" name="TextBox 34"/>
          <p:cNvSpPr txBox="1"/>
          <p:nvPr/>
        </p:nvSpPr>
        <p:spPr>
          <a:xfrm>
            <a:off x="7829550" y="1400175"/>
            <a:ext cx="4006998" cy="194310"/>
          </a:xfrm>
          <a:prstGeom prst="rect">
            <a:avLst/>
          </a:prstGeom>
          <a:noFill/>
        </p:spPr>
        <p:txBody>
          <a:bodyPr wrap="none" lIns="0" rIns="0" tIns="0" bIns="0">
            <a:spAutoFit/>
          </a:bodyPr>
          <a:lstStyle/>
          <a:p>
            <a:r>
              <a:rPr sz="1150" b="0">
                <a:solidFill>
                  <a:srgbClr val="2E2E2E"/>
                </a:solidFill>
                <a:latin typeface="Calibri"/>
              </a:rPr>
              <a:t>Among egg protein membrane by extraction / processing method,</a:t>
            </a:r>
          </a:p>
        </p:txBody>
      </p:sp>
      <p:sp>
        <p:nvSpPr>
          <p:cNvPr id="36" name="TextBox 35"/>
          <p:cNvSpPr txBox="1"/>
          <p:nvPr/>
        </p:nvSpPr>
        <p:spPr>
          <a:xfrm>
            <a:off x="7829550" y="1575435"/>
            <a:ext cx="4024114" cy="194310"/>
          </a:xfrm>
          <a:prstGeom prst="rect">
            <a:avLst/>
          </a:prstGeom>
          <a:noFill/>
        </p:spPr>
        <p:txBody>
          <a:bodyPr wrap="none" lIns="0" rIns="0" tIns="0" bIns="0">
            <a:spAutoFit/>
          </a:bodyPr>
          <a:lstStyle/>
          <a:p>
            <a:r>
              <a:rPr sz="1150" b="0">
                <a:solidFill>
                  <a:srgbClr val="2E2E2E"/>
                </a:solidFill>
                <a:latin typeface="Calibri"/>
              </a:rPr>
              <a:t>other / hybrid processing methods segment is expected to witness</a:t>
            </a:r>
          </a:p>
        </p:txBody>
      </p:sp>
      <p:sp>
        <p:nvSpPr>
          <p:cNvPr id="37" name="TextBox 36"/>
          <p:cNvSpPr txBox="1"/>
          <p:nvPr/>
        </p:nvSpPr>
        <p:spPr>
          <a:xfrm>
            <a:off x="7829550" y="1750695"/>
            <a:ext cx="1263979" cy="194310"/>
          </a:xfrm>
          <a:prstGeom prst="rect">
            <a:avLst/>
          </a:prstGeom>
          <a:noFill/>
        </p:spPr>
        <p:txBody>
          <a:bodyPr wrap="none" lIns="0" rIns="0" tIns="0" bIns="0">
            <a:spAutoFit/>
          </a:bodyPr>
          <a:lstStyle/>
          <a:p>
            <a:r>
              <a:rPr sz="1150" b="0">
                <a:solidFill>
                  <a:srgbClr val="2E2E2E"/>
                </a:solidFill>
                <a:latin typeface="Calibri"/>
              </a:rPr>
              <a:t>the highest CAGR of</a:t>
            </a:r>
          </a:p>
        </p:txBody>
      </p:sp>
      <p:pic>
        <p:nvPicPr>
          <p:cNvPr id="38" name="Picture 37" descr="lock.png"/>
          <p:cNvPicPr>
            <a:picLocks noChangeAspect="1"/>
          </p:cNvPicPr>
          <p:nvPr/>
        </p:nvPicPr>
        <p:blipFill>
          <a:blip r:embed="rId5"/>
          <a:stretch>
            <a:fillRect/>
          </a:stretch>
        </p:blipFill>
        <p:spPr>
          <a:xfrm>
            <a:off x="9042683" y="1740471"/>
            <a:ext cx="134549" cy="195707"/>
          </a:xfrm>
          <a:prstGeom prst="rect">
            <a:avLst/>
          </a:prstGeom>
        </p:spPr>
      </p:pic>
      <p:sp>
        <p:nvSpPr>
          <p:cNvPr id="39" name="TextBox 38"/>
          <p:cNvSpPr txBox="1"/>
          <p:nvPr/>
        </p:nvSpPr>
        <p:spPr>
          <a:xfrm>
            <a:off x="9217792" y="1750695"/>
            <a:ext cx="2581585" cy="194310"/>
          </a:xfrm>
          <a:prstGeom prst="rect">
            <a:avLst/>
          </a:prstGeom>
          <a:noFill/>
        </p:spPr>
        <p:txBody>
          <a:bodyPr wrap="none" lIns="0" rIns="0" tIns="0" bIns="0">
            <a:spAutoFit/>
          </a:bodyPr>
          <a:lstStyle/>
          <a:p>
            <a:r>
              <a:rPr sz="1150" b="0">
                <a:solidFill>
                  <a:srgbClr val="2E2E2E"/>
                </a:solidFill>
                <a:latin typeface="Calibri"/>
              </a:rPr>
              <a:t>over the forecast period. In terms of value</a:t>
            </a:r>
          </a:p>
        </p:txBody>
      </p:sp>
      <p:sp>
        <p:nvSpPr>
          <p:cNvPr id="40" name="TextBox 39"/>
          <p:cNvSpPr txBox="1"/>
          <p:nvPr/>
        </p:nvSpPr>
        <p:spPr>
          <a:xfrm>
            <a:off x="7829550" y="1925955"/>
            <a:ext cx="4057650" cy="194310"/>
          </a:xfrm>
          <a:prstGeom prst="rect">
            <a:avLst/>
          </a:prstGeom>
          <a:noFill/>
        </p:spPr>
        <p:txBody>
          <a:bodyPr wrap="none" lIns="0" rIns="0" tIns="0" bIns="0">
            <a:spAutoFit/>
          </a:bodyPr>
          <a:lstStyle/>
          <a:p>
            <a:r>
              <a:rPr sz="1150" b="0">
                <a:solidFill>
                  <a:srgbClr val="2E2E2E"/>
                </a:solidFill>
                <a:latin typeface="Calibri"/>
              </a:rPr>
              <a:t>share by extraction / processing method, the mechanical separation</a:t>
            </a:r>
          </a:p>
        </p:txBody>
      </p:sp>
      <p:sp>
        <p:nvSpPr>
          <p:cNvPr id="41" name="TextBox 40"/>
          <p:cNvSpPr txBox="1"/>
          <p:nvPr/>
        </p:nvSpPr>
        <p:spPr>
          <a:xfrm>
            <a:off x="7829550" y="2101215"/>
            <a:ext cx="3765103" cy="194310"/>
          </a:xfrm>
          <a:prstGeom prst="rect">
            <a:avLst/>
          </a:prstGeom>
          <a:noFill/>
        </p:spPr>
        <p:txBody>
          <a:bodyPr wrap="none" lIns="0" rIns="0" tIns="0" bIns="0">
            <a:spAutoFit/>
          </a:bodyPr>
          <a:lstStyle/>
          <a:p>
            <a:r>
              <a:rPr sz="1150" b="0">
                <a:solidFill>
                  <a:srgbClr val="2E2E2E"/>
                </a:solidFill>
                <a:latin typeface="Calibri"/>
              </a:rPr>
              <a:t>&amp; micronization segment is expected to dominate the market,</a:t>
            </a:r>
          </a:p>
        </p:txBody>
      </p:sp>
      <p:sp>
        <p:nvSpPr>
          <p:cNvPr id="42" name="TextBox 41"/>
          <p:cNvSpPr txBox="1"/>
          <p:nvPr/>
        </p:nvSpPr>
        <p:spPr>
          <a:xfrm>
            <a:off x="7829550" y="2276475"/>
            <a:ext cx="504366" cy="194310"/>
          </a:xfrm>
          <a:prstGeom prst="rect">
            <a:avLst/>
          </a:prstGeom>
          <a:noFill/>
        </p:spPr>
        <p:txBody>
          <a:bodyPr wrap="none" lIns="0" rIns="0" tIns="0" bIns="0">
            <a:spAutoFit/>
          </a:bodyPr>
          <a:lstStyle/>
          <a:p>
            <a:r>
              <a:rPr sz="1150" b="0">
                <a:solidFill>
                  <a:srgbClr val="2E2E2E"/>
                </a:solidFill>
                <a:latin typeface="Calibri"/>
              </a:rPr>
              <a:t>gaining</a:t>
            </a:r>
          </a:p>
        </p:txBody>
      </p:sp>
      <p:pic>
        <p:nvPicPr>
          <p:cNvPr id="43" name="Picture 42" descr="lock.png"/>
          <p:cNvPicPr>
            <a:picLocks noChangeAspect="1"/>
          </p:cNvPicPr>
          <p:nvPr/>
        </p:nvPicPr>
        <p:blipFill>
          <a:blip r:embed="rId5"/>
          <a:stretch>
            <a:fillRect/>
          </a:stretch>
        </p:blipFill>
        <p:spPr>
          <a:xfrm>
            <a:off x="8283070" y="2266251"/>
            <a:ext cx="134549" cy="195707"/>
          </a:xfrm>
          <a:prstGeom prst="rect">
            <a:avLst/>
          </a:prstGeom>
        </p:spPr>
      </p:pic>
      <p:sp>
        <p:nvSpPr>
          <p:cNvPr id="44" name="TextBox 43"/>
          <p:cNvSpPr txBox="1"/>
          <p:nvPr/>
        </p:nvSpPr>
        <p:spPr>
          <a:xfrm>
            <a:off x="8458179" y="2276475"/>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45" name="Picture 44" descr="lock.png"/>
          <p:cNvPicPr>
            <a:picLocks noChangeAspect="1"/>
          </p:cNvPicPr>
          <p:nvPr/>
        </p:nvPicPr>
        <p:blipFill>
          <a:blip r:embed="rId5"/>
          <a:stretch>
            <a:fillRect/>
          </a:stretch>
        </p:blipFill>
        <p:spPr>
          <a:xfrm>
            <a:off x="9853322" y="2266251"/>
            <a:ext cx="134549" cy="195707"/>
          </a:xfrm>
          <a:prstGeom prst="rect">
            <a:avLst/>
          </a:prstGeom>
        </p:spPr>
      </p:pic>
      <p:sp>
        <p:nvSpPr>
          <p:cNvPr id="46" name="TextBox 45"/>
          <p:cNvSpPr txBox="1"/>
          <p:nvPr/>
        </p:nvSpPr>
        <p:spPr>
          <a:xfrm>
            <a:off x="10028431" y="2276475"/>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47" name="TextBox 46"/>
          <p:cNvSpPr txBox="1"/>
          <p:nvPr/>
        </p:nvSpPr>
        <p:spPr>
          <a:xfrm>
            <a:off x="7829550" y="2504313"/>
            <a:ext cx="3245370" cy="194310"/>
          </a:xfrm>
          <a:prstGeom prst="rect">
            <a:avLst/>
          </a:prstGeom>
          <a:noFill/>
        </p:spPr>
        <p:txBody>
          <a:bodyPr wrap="none" lIns="0" rIns="0" tIns="0" bIns="0">
            <a:spAutoFit/>
          </a:bodyPr>
          <a:lstStyle/>
          <a:p>
            <a:r>
              <a:rPr sz="1150" b="0">
                <a:solidFill>
                  <a:srgbClr val="2E2E2E"/>
                </a:solidFill>
                <a:latin typeface="Calibri"/>
              </a:rPr>
              <a:t>The enzymatic hydrolysis segment is expected to lose</a:t>
            </a:r>
          </a:p>
        </p:txBody>
      </p:sp>
      <p:pic>
        <p:nvPicPr>
          <p:cNvPr id="48" name="Picture 47" descr="lock.png"/>
          <p:cNvPicPr>
            <a:picLocks noChangeAspect="1"/>
          </p:cNvPicPr>
          <p:nvPr/>
        </p:nvPicPr>
        <p:blipFill>
          <a:blip r:embed="rId5"/>
          <a:stretch>
            <a:fillRect/>
          </a:stretch>
        </p:blipFill>
        <p:spPr>
          <a:xfrm>
            <a:off x="11024074" y="2494089"/>
            <a:ext cx="134549" cy="195707"/>
          </a:xfrm>
          <a:prstGeom prst="rect">
            <a:avLst/>
          </a:prstGeom>
        </p:spPr>
      </p:pic>
      <p:sp>
        <p:nvSpPr>
          <p:cNvPr id="49" name="TextBox 48"/>
          <p:cNvSpPr txBox="1"/>
          <p:nvPr/>
        </p:nvSpPr>
        <p:spPr>
          <a:xfrm>
            <a:off x="11199184" y="2504313"/>
            <a:ext cx="598214" cy="194310"/>
          </a:xfrm>
          <a:prstGeom prst="rect">
            <a:avLst/>
          </a:prstGeom>
          <a:noFill/>
        </p:spPr>
        <p:txBody>
          <a:bodyPr wrap="none" lIns="0" rIns="0" tIns="0" bIns="0">
            <a:spAutoFit/>
          </a:bodyPr>
          <a:lstStyle/>
          <a:p>
            <a:r>
              <a:rPr sz="1150" b="0">
                <a:solidFill>
                  <a:srgbClr val="2E2E2E"/>
                </a:solidFill>
                <a:latin typeface="Calibri"/>
              </a:rPr>
              <a:t>BPS over</a:t>
            </a:r>
          </a:p>
        </p:txBody>
      </p:sp>
      <p:sp>
        <p:nvSpPr>
          <p:cNvPr id="50" name="TextBox 49"/>
          <p:cNvSpPr txBox="1"/>
          <p:nvPr/>
        </p:nvSpPr>
        <p:spPr>
          <a:xfrm>
            <a:off x="7829550" y="2679573"/>
            <a:ext cx="2083246" cy="194310"/>
          </a:xfrm>
          <a:prstGeom prst="rect">
            <a:avLst/>
          </a:prstGeom>
          <a:noFill/>
        </p:spPr>
        <p:txBody>
          <a:bodyPr wrap="none" lIns="0" rIns="0" tIns="0" bIns="0">
            <a:spAutoFit/>
          </a:bodyPr>
          <a:lstStyle/>
          <a:p>
            <a:r>
              <a:rPr sz="1150" b="0">
                <a:solidFill>
                  <a:srgbClr val="2E2E2E"/>
                </a:solidFill>
                <a:latin typeface="Calibri"/>
              </a:rPr>
              <a:t>the forecast period to account for</a:t>
            </a:r>
          </a:p>
        </p:txBody>
      </p:sp>
      <p:pic>
        <p:nvPicPr>
          <p:cNvPr id="51" name="Picture 50" descr="lock.png"/>
          <p:cNvPicPr>
            <a:picLocks noChangeAspect="1"/>
          </p:cNvPicPr>
          <p:nvPr/>
        </p:nvPicPr>
        <p:blipFill>
          <a:blip r:embed="rId5"/>
          <a:stretch>
            <a:fillRect/>
          </a:stretch>
        </p:blipFill>
        <p:spPr>
          <a:xfrm>
            <a:off x="9861950" y="2669349"/>
            <a:ext cx="134549" cy="195707"/>
          </a:xfrm>
          <a:prstGeom prst="rect">
            <a:avLst/>
          </a:prstGeom>
        </p:spPr>
      </p:pic>
      <p:sp>
        <p:nvSpPr>
          <p:cNvPr id="52" name="TextBox 51"/>
          <p:cNvSpPr txBox="1"/>
          <p:nvPr/>
        </p:nvSpPr>
        <p:spPr>
          <a:xfrm>
            <a:off x="10037059" y="2679573"/>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53" name="lockshield_9"/>
          <p:cNvSpPr/>
          <p:nvPr/>
        </p:nvSpPr>
        <p:spPr>
          <a:xfrm>
            <a:off x="238125" y="1581150"/>
            <a:ext cx="4614672" cy="49911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3F8FD"/>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3F8FD"/>
              </a:gs>
              <a:gs pos="100000">
                <a:srgbClr val="DCE9F6"/>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FE0F0">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9C8E6">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B7D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A5F8F"/>
              </a:gs>
              <a:gs pos="100000">
                <a:srgbClr val="6FA6D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MR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7.3</a:t>
            </a:r>
          </a:p>
        </p:txBody>
      </p:sp>
      <p:pic>
        <p:nvPicPr>
          <p:cNvPr id="8" name="Picture 7" descr="tmr_logo.png"/>
          <p:cNvPicPr>
            <a:picLocks noChangeAspect="1"/>
          </p:cNvPicPr>
          <p:nvPr/>
        </p:nvPicPr>
        <p:blipFill>
          <a:blip r:embed="rId2"/>
          <a:stretch>
            <a:fillRect/>
          </a:stretch>
        </p:blipFill>
        <p:spPr>
          <a:xfrm>
            <a:off x="411480" y="274320"/>
            <a:ext cx="1307592" cy="975505"/>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2A5F8F"/>
                </a:solidFill>
                <a:latin typeface="Calibri"/>
              </a:rPr>
              <a:t>Egg Protein Membrane Market</a:t>
            </a:r>
          </a:p>
        </p:txBody>
      </p:sp>
      <p:sp>
        <p:nvSpPr>
          <p:cNvPr id="10" name="TMR Section Title"/>
          <p:cNvSpPr txBox="1"/>
          <p:nvPr/>
        </p:nvSpPr>
        <p:spPr>
          <a:xfrm>
            <a:off x="914400" y="2701925"/>
            <a:ext cx="8572500" cy="514350"/>
          </a:xfrm>
          <a:prstGeom prst="rect">
            <a:avLst/>
          </a:prstGeom>
          <a:noFill/>
        </p:spPr>
        <p:txBody>
          <a:bodyPr wrap="square" lIns="0" rIns="0" tIns="0">
            <a:spAutoFit/>
          </a:bodyPr>
          <a:lstStyle/>
          <a:p>
            <a:r>
              <a:rPr sz="3000" b="1">
                <a:solidFill>
                  <a:srgbClr val="0E2A5C"/>
                </a:solidFill>
                <a:latin typeface="Calibri"/>
              </a:rPr>
              <a:t>Source</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Source Segment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Structure &amp; Attractiveness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Value Analysis</a:t>
            </a:r>
          </a:p>
        </p:txBody>
      </p:sp>
      <p:sp>
        <p:nvSpPr>
          <p:cNvPr id="12" name="Rectangle 11"/>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By Source Segment Outlook</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Segment analysis of market size, growth and share across 2 sub-segments of Source, 2026–2036</a:t>
            </a:r>
          </a:p>
        </p:txBody>
      </p:sp>
      <p:sp>
        <p:nvSpPr>
          <p:cNvPr id="7" name="TextBox 6"/>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Source segment categorizes the market by source. Each sub-category is evaluated on market size, growth outlook and adoption trends across the forecast period.</a:t>
            </a:r>
          </a:p>
        </p:txBody>
      </p:sp>
      <p:sp>
        <p:nvSpPr>
          <p:cNvPr id="8" name="Rectangle 7"/>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Sub-Segment</a:t>
            </a:r>
          </a:p>
        </p:txBody>
      </p:sp>
      <p:sp>
        <p:nvSpPr>
          <p:cNvPr id="10" name="Rectangle 9"/>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2" name="Rectangle 11"/>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4" name="Rectangle 13"/>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16" name="Rounded Rectangle 15"/>
          <p:cNvSpPr/>
          <p:nvPr/>
        </p:nvSpPr>
        <p:spPr>
          <a:xfrm>
            <a:off x="1866900" y="1773916"/>
            <a:ext cx="4943475"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866900" y="1992961"/>
            <a:ext cx="4943475"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905000" y="1773916"/>
            <a:ext cx="4867275" cy="438089"/>
          </a:xfrm>
          <a:prstGeom prst="rect">
            <a:avLst/>
          </a:prstGeom>
          <a:noFill/>
        </p:spPr>
        <p:txBody>
          <a:bodyPr wrap="square" lIns="28575" rIns="28575" tIns="9525" bIns="9525" anchor="ctr">
            <a:spAutoFit/>
          </a:bodyPr>
          <a:lstStyle/>
          <a:p>
            <a:pPr algn="ctr"/>
            <a:r>
              <a:rPr sz="1100" b="1">
                <a:solidFill>
                  <a:srgbClr val="FFFFFF"/>
                </a:solidFill>
                <a:latin typeface="Calibri"/>
              </a:rPr>
              <a:t>Chicken Eggshell Membrane</a:t>
            </a:r>
          </a:p>
        </p:txBody>
      </p:sp>
      <p:sp>
        <p:nvSpPr>
          <p:cNvPr id="19" name="Rectangle 18"/>
          <p:cNvSpPr/>
          <p:nvPr/>
        </p:nvSpPr>
        <p:spPr>
          <a:xfrm>
            <a:off x="1866900" y="22302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0" name="Rectangle 19"/>
          <p:cNvSpPr/>
          <p:nvPr/>
        </p:nvSpPr>
        <p:spPr>
          <a:xfrm>
            <a:off x="1866900" y="2723109"/>
            <a:ext cx="494347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1" name="Rectangle 20"/>
          <p:cNvSpPr/>
          <p:nvPr/>
        </p:nvSpPr>
        <p:spPr>
          <a:xfrm>
            <a:off x="1866900" y="32159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2" name="Oval 21"/>
          <p:cNvSpPr/>
          <p:nvPr/>
        </p:nvSpPr>
        <p:spPr>
          <a:xfrm>
            <a:off x="4176712"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23" name="Rounded Rectangle 22"/>
          <p:cNvSpPr/>
          <p:nvPr/>
        </p:nvSpPr>
        <p:spPr>
          <a:xfrm>
            <a:off x="6924675" y="1773916"/>
            <a:ext cx="4943475"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924675" y="1992961"/>
            <a:ext cx="4943475"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962775" y="1773916"/>
            <a:ext cx="4867275" cy="438089"/>
          </a:xfrm>
          <a:prstGeom prst="rect">
            <a:avLst/>
          </a:prstGeom>
          <a:noFill/>
        </p:spPr>
        <p:txBody>
          <a:bodyPr wrap="square" lIns="28575" rIns="28575" tIns="9525" bIns="9525" anchor="ctr">
            <a:spAutoFit/>
          </a:bodyPr>
          <a:lstStyle/>
          <a:p>
            <a:pPr algn="ctr"/>
            <a:r>
              <a:rPr sz="1100" b="1">
                <a:solidFill>
                  <a:srgbClr val="FFFFFF"/>
                </a:solidFill>
                <a:latin typeface="Calibri"/>
              </a:rPr>
              <a:t>Other Poultry Eggshell Membrane</a:t>
            </a:r>
          </a:p>
        </p:txBody>
      </p:sp>
      <p:sp>
        <p:nvSpPr>
          <p:cNvPr id="26" name="Rectangle 25"/>
          <p:cNvSpPr/>
          <p:nvPr/>
        </p:nvSpPr>
        <p:spPr>
          <a:xfrm>
            <a:off x="6924675" y="22302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27" name="Rectangle 26"/>
          <p:cNvSpPr/>
          <p:nvPr/>
        </p:nvSpPr>
        <p:spPr>
          <a:xfrm>
            <a:off x="6924675" y="2723109"/>
            <a:ext cx="494347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28" name="Rectangle 27"/>
          <p:cNvSpPr/>
          <p:nvPr/>
        </p:nvSpPr>
        <p:spPr>
          <a:xfrm>
            <a:off x="6924675" y="32159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29" name="Oval 28"/>
          <p:cNvSpPr/>
          <p:nvPr/>
        </p:nvSpPr>
        <p:spPr>
          <a:xfrm>
            <a:off x="9234488"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30" name="Rounded Rectangle 29"/>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B2E4A"/>
                </a:solidFill>
                <a:latin typeface="Calibri"/>
              </a:rPr>
              <a:t>Key Highlights</a:t>
            </a:r>
          </a:p>
        </p:txBody>
      </p:sp>
      <p:sp>
        <p:nvSpPr>
          <p:cNvPr id="32" name="Rectangle 31"/>
          <p:cNvSpPr/>
          <p:nvPr/>
        </p:nvSpPr>
        <p:spPr>
          <a:xfrm>
            <a:off x="457200" y="4146897"/>
            <a:ext cx="2971800" cy="18254"/>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57200" y="4219912"/>
            <a:ext cx="2971800" cy="2117429"/>
          </a:xfrm>
          <a:prstGeom prst="rect">
            <a:avLst/>
          </a:prstGeom>
          <a:noFill/>
        </p:spPr>
        <p:txBody>
          <a:bodyPr wrap="square" lIns="28575" rIns="28575" tIns="9525" bIns="9525">
            <a:spAutoFit/>
          </a:bodyPr>
          <a:lstStyle/>
          <a:p>
            <a:pPr algn="l">
              <a:lnSpc>
                <a:spcPct val="105000"/>
              </a:lnSpc>
              <a:spcBef>
                <a:spcPts val="0"/>
              </a:spcBef>
              <a:spcAft>
                <a:spcPts val="300"/>
              </a:spcAft>
            </a:pPr>
            <a:r>
              <a:rPr sz="1100" b="0">
                <a:solidFill>
                  <a:srgbClr val="2E2E2E"/>
                </a:solidFill>
                <a:latin typeface="Calibri"/>
              </a:rPr>
              <a:t/>
            </a:r>
          </a:p>
          <a:p>
            <a:pPr algn="l">
              <a:lnSpc>
                <a:spcPct val="105000"/>
              </a:lnSpc>
              <a:spcBef>
                <a:spcPts val="0"/>
              </a:spcBef>
              <a:spcAft>
                <a:spcPts val="300"/>
              </a:spcAft>
            </a:pPr>
            <a:r>
              <a:rPr sz="1100" b="0">
                <a:solidFill>
                  <a:srgbClr val="2E2E2E"/>
                </a:solidFill>
                <a:latin typeface="Calibri"/>
              </a:rPr>
              <a:t/>
            </a:r>
          </a:p>
        </p:txBody>
      </p:sp>
      <p:sp>
        <p:nvSpPr>
          <p:cNvPr id="34" name="Rounded Rectangle 33"/>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B2E4A"/>
                </a:solidFill>
                <a:latin typeface="Calibri"/>
              </a:rPr>
              <a:t>Sub-Segment Insights</a:t>
            </a:r>
          </a:p>
        </p:txBody>
      </p:sp>
      <p:sp>
        <p:nvSpPr>
          <p:cNvPr id="36" name="Rectangle 35"/>
          <p:cNvSpPr/>
          <p:nvPr/>
        </p:nvSpPr>
        <p:spPr>
          <a:xfrm>
            <a:off x="3810000" y="4146897"/>
            <a:ext cx="4210050" cy="18254"/>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B2E4A"/>
                </a:solidFill>
                <a:latin typeface="Calibri"/>
              </a:rPr>
              <a:t/>
            </a:r>
            <a:r>
              <a:rPr sz="1100" b="1">
                <a:solidFill>
                  <a:srgbClr val="0B2E4A"/>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1">
                <a:solidFill>
                  <a:srgbClr val="0E72AE"/>
                </a:solidFill>
                <a:latin typeface="Calibri"/>
              </a:rPr>
              <a:t/>
            </a:r>
            <a:r>
              <a:rPr sz="1100" b="0">
                <a:solidFill>
                  <a:srgbClr val="2E2E2E"/>
                </a:solidFill>
                <a:latin typeface="Calibri"/>
              </a:rPr>
              <a:t/>
            </a:r>
          </a:p>
        </p:txBody>
      </p:sp>
      <p:sp>
        <p:nvSpPr>
          <p:cNvPr id="38" name="Rounded Rectangle 37"/>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B2E4A"/>
                </a:solidFill>
                <a:latin typeface="Calibri"/>
              </a:rPr>
              <a:t>Segment Overview</a:t>
            </a:r>
          </a:p>
        </p:txBody>
      </p:sp>
      <p:sp>
        <p:nvSpPr>
          <p:cNvPr id="40" name="Rectangle 39"/>
          <p:cNvSpPr/>
          <p:nvPr/>
        </p:nvSpPr>
        <p:spPr>
          <a:xfrm>
            <a:off x="8401050" y="4146897"/>
            <a:ext cx="3333750" cy="18254"/>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00ACAC"/>
                </a:solidFill>
                <a:latin typeface="Calibri"/>
              </a:rPr>
              <a:t>✓  </a:t>
            </a:r>
            <a:r>
              <a:rPr sz="1100" b="0">
                <a:solidFill>
                  <a:srgbClr val="2E2E2E"/>
                </a:solidFill>
                <a:latin typeface="Calibri"/>
              </a:rPr>
              <a:t>The Source split shows how demand is distributed across source types and where growth concentrates.</a:t>
            </a:r>
          </a:p>
          <a:p>
            <a:pPr algn="l">
              <a:lnSpc>
                <a:spcPct val="110000"/>
              </a:lnSpc>
              <a:spcBef>
                <a:spcPts val="0"/>
              </a:spcBef>
              <a:spcAft>
                <a:spcPts val="500"/>
              </a:spcAft>
            </a:pPr>
            <a:r>
              <a:rPr sz="1100" b="1">
                <a:solidFill>
                  <a:srgbClr val="00ACAC"/>
                </a:solidFill>
                <a:latin typeface="Calibri"/>
              </a:rPr>
              <a:t>✓  </a:t>
            </a:r>
            <a:r>
              <a:rPr sz="1100" b="0">
                <a:solidFill>
                  <a:srgbClr val="2E2E2E"/>
                </a:solidFill>
                <a:latin typeface="Calibri"/>
              </a:rPr>
              <a:t>Shifting preferences and product innovation are reshaping the mix through 2036.</a:t>
            </a:r>
          </a:p>
        </p:txBody>
      </p:sp>
      <p:sp>
        <p:nvSpPr>
          <p:cNvPr id="42" name="Rectangle 41"/>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B2E4A"/>
                </a:solidFill>
                <a:latin typeface="Calibri"/>
              </a:rPr>
              <a:t/>
            </a:r>
          </a:p>
        </p:txBody>
      </p:sp>
      <p:sp>
        <p:nvSpPr>
          <p:cNvPr id="44" name="TextBox 43"/>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TMR Analysis, 2026</a:t>
            </a:r>
          </a:p>
        </p:txBody>
      </p:sp>
      <p:sp>
        <p:nvSpPr>
          <p:cNvPr id="45" name="Rectangle 44"/>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47" name="Picture 46" descr="8_924_605E5C.png"/>
          <p:cNvPicPr>
            <a:picLocks noChangeAspect="1"/>
          </p:cNvPicPr>
          <p:nvPr/>
        </p:nvPicPr>
        <p:blipFill>
          <a:blip r:embed="rId4"/>
          <a:stretch>
            <a:fillRect/>
          </a:stretch>
        </p:blipFill>
        <p:spPr>
          <a:xfrm>
            <a:off x="3740773" y="2286582"/>
            <a:ext cx="1195728" cy="361950"/>
          </a:xfrm>
          <a:prstGeom prst="rect">
            <a:avLst/>
          </a:prstGeom>
        </p:spPr>
      </p:pic>
      <p:pic>
        <p:nvPicPr>
          <p:cNvPr id="48" name="Picture 47" descr="14_488_605E5C.png"/>
          <p:cNvPicPr>
            <a:picLocks noChangeAspect="1"/>
          </p:cNvPicPr>
          <p:nvPr/>
        </p:nvPicPr>
        <p:blipFill>
          <a:blip r:embed="rId5"/>
          <a:stretch>
            <a:fillRect/>
          </a:stretch>
        </p:blipFill>
        <p:spPr>
          <a:xfrm>
            <a:off x="3634127" y="2779432"/>
            <a:ext cx="1409020" cy="361950"/>
          </a:xfrm>
          <a:prstGeom prst="rect">
            <a:avLst/>
          </a:prstGeom>
        </p:spPr>
      </p:pic>
      <p:pic>
        <p:nvPicPr>
          <p:cNvPr id="49" name="Picture 48" descr="5_0__605E5C.png"/>
          <p:cNvPicPr>
            <a:picLocks noChangeAspect="1"/>
          </p:cNvPicPr>
          <p:nvPr/>
        </p:nvPicPr>
        <p:blipFill>
          <a:blip r:embed="rId6"/>
          <a:stretch>
            <a:fillRect/>
          </a:stretch>
        </p:blipFill>
        <p:spPr>
          <a:xfrm>
            <a:off x="3847419" y="3272281"/>
            <a:ext cx="982436" cy="361950"/>
          </a:xfrm>
          <a:prstGeom prst="rect">
            <a:avLst/>
          </a:prstGeom>
        </p:spPr>
      </p:pic>
      <p:pic>
        <p:nvPicPr>
          <p:cNvPr id="50" name="Picture 49" descr="1_976_605E5C.png"/>
          <p:cNvPicPr>
            <a:picLocks noChangeAspect="1"/>
          </p:cNvPicPr>
          <p:nvPr/>
        </p:nvPicPr>
        <p:blipFill>
          <a:blip r:embed="rId7"/>
          <a:stretch>
            <a:fillRect/>
          </a:stretch>
        </p:blipFill>
        <p:spPr>
          <a:xfrm>
            <a:off x="8798548" y="2286582"/>
            <a:ext cx="1195728" cy="361950"/>
          </a:xfrm>
          <a:prstGeom prst="rect">
            <a:avLst/>
          </a:prstGeom>
        </p:spPr>
      </p:pic>
      <p:pic>
        <p:nvPicPr>
          <p:cNvPr id="51" name="Picture 50" descr="3_190_605E5C.png"/>
          <p:cNvPicPr>
            <a:picLocks noChangeAspect="1"/>
          </p:cNvPicPr>
          <p:nvPr/>
        </p:nvPicPr>
        <p:blipFill>
          <a:blip r:embed="rId8"/>
          <a:stretch>
            <a:fillRect/>
          </a:stretch>
        </p:blipFill>
        <p:spPr>
          <a:xfrm>
            <a:off x="8798548" y="2779432"/>
            <a:ext cx="1195728" cy="361950"/>
          </a:xfrm>
          <a:prstGeom prst="rect">
            <a:avLst/>
          </a:prstGeom>
        </p:spPr>
      </p:pic>
      <p:pic>
        <p:nvPicPr>
          <p:cNvPr id="52" name="Picture 51" descr="4_9__605E5C.png"/>
          <p:cNvPicPr>
            <a:picLocks noChangeAspect="1"/>
          </p:cNvPicPr>
          <p:nvPr/>
        </p:nvPicPr>
        <p:blipFill>
          <a:blip r:embed="rId9"/>
          <a:stretch>
            <a:fillRect/>
          </a:stretch>
        </p:blipFill>
        <p:spPr>
          <a:xfrm>
            <a:off x="8905194" y="3272281"/>
            <a:ext cx="982436" cy="361950"/>
          </a:xfrm>
          <a:prstGeom prst="rect">
            <a:avLst/>
          </a:prstGeom>
        </p:spPr>
      </p:pic>
      <p:pic>
        <p:nvPicPr>
          <p:cNvPr id="53" name="Picture 52" descr="lock.png"/>
          <p:cNvPicPr>
            <a:picLocks noChangeAspect="1"/>
          </p:cNvPicPr>
          <p:nvPr/>
        </p:nvPicPr>
        <p:blipFill>
          <a:blip r:embed="rId10"/>
          <a:stretch>
            <a:fillRect/>
          </a:stretch>
        </p:blipFill>
        <p:spPr>
          <a:xfrm>
            <a:off x="4230493" y="2805915"/>
            <a:ext cx="212425" cy="308982"/>
          </a:xfrm>
          <a:prstGeom prst="rect">
            <a:avLst/>
          </a:prstGeom>
        </p:spPr>
      </p:pic>
      <p:pic>
        <p:nvPicPr>
          <p:cNvPr id="54" name="Picture 53" descr="lock.png"/>
          <p:cNvPicPr>
            <a:picLocks noChangeAspect="1"/>
          </p:cNvPicPr>
          <p:nvPr/>
        </p:nvPicPr>
        <p:blipFill>
          <a:blip r:embed="rId10"/>
          <a:stretch>
            <a:fillRect/>
          </a:stretch>
        </p:blipFill>
        <p:spPr>
          <a:xfrm>
            <a:off x="9288268" y="2805915"/>
            <a:ext cx="212425" cy="308982"/>
          </a:xfrm>
          <a:prstGeom prst="rect">
            <a:avLst/>
          </a:prstGeom>
        </p:spPr>
      </p:pic>
      <p:sp>
        <p:nvSpPr>
          <p:cNvPr id="55" name="TextBox 54"/>
          <p:cNvSpPr txBox="1"/>
          <p:nvPr/>
        </p:nvSpPr>
        <p:spPr>
          <a:xfrm>
            <a:off x="485775" y="4229437"/>
            <a:ext cx="2896666" cy="186689"/>
          </a:xfrm>
          <a:prstGeom prst="rect">
            <a:avLst/>
          </a:prstGeom>
          <a:noFill/>
        </p:spPr>
        <p:txBody>
          <a:bodyPr wrap="none" lIns="0" rIns="0" tIns="0" bIns="0">
            <a:spAutoFit/>
          </a:bodyPr>
          <a:lstStyle/>
          <a:p>
            <a:r>
              <a:rPr sz="1100" b="0">
                <a:solidFill>
                  <a:srgbClr val="2E2E2E"/>
                </a:solidFill>
                <a:latin typeface="Calibri"/>
              </a:rPr>
              <a:t>Among egg protein membrane by source, chicken</a:t>
            </a:r>
          </a:p>
        </p:txBody>
      </p:sp>
      <p:sp>
        <p:nvSpPr>
          <p:cNvPr id="56" name="TextBox 55"/>
          <p:cNvSpPr txBox="1"/>
          <p:nvPr/>
        </p:nvSpPr>
        <p:spPr>
          <a:xfrm>
            <a:off x="485775" y="4397077"/>
            <a:ext cx="2543323" cy="186689"/>
          </a:xfrm>
          <a:prstGeom prst="rect">
            <a:avLst/>
          </a:prstGeom>
          <a:noFill/>
        </p:spPr>
        <p:txBody>
          <a:bodyPr wrap="none" lIns="0" rIns="0" tIns="0" bIns="0">
            <a:spAutoFit/>
          </a:bodyPr>
          <a:lstStyle/>
          <a:p>
            <a:r>
              <a:rPr sz="1100" b="0">
                <a:solidFill>
                  <a:srgbClr val="2E2E2E"/>
                </a:solidFill>
                <a:latin typeface="Calibri"/>
              </a:rPr>
              <a:t>eggshell membrane segment is expected to</a:t>
            </a:r>
          </a:p>
        </p:txBody>
      </p:sp>
      <p:sp>
        <p:nvSpPr>
          <p:cNvPr id="57" name="TextBox 56"/>
          <p:cNvSpPr txBox="1"/>
          <p:nvPr/>
        </p:nvSpPr>
        <p:spPr>
          <a:xfrm>
            <a:off x="485775" y="4564717"/>
            <a:ext cx="1675093" cy="186689"/>
          </a:xfrm>
          <a:prstGeom prst="rect">
            <a:avLst/>
          </a:prstGeom>
          <a:noFill/>
        </p:spPr>
        <p:txBody>
          <a:bodyPr wrap="none" lIns="0" rIns="0" tIns="0" bIns="0">
            <a:spAutoFit/>
          </a:bodyPr>
          <a:lstStyle/>
          <a:p>
            <a:r>
              <a:rPr sz="1100" b="0">
                <a:solidFill>
                  <a:srgbClr val="2E2E2E"/>
                </a:solidFill>
                <a:latin typeface="Calibri"/>
              </a:rPr>
              <a:t>witness the highest CAGR of</a:t>
            </a:r>
          </a:p>
        </p:txBody>
      </p:sp>
      <p:pic>
        <p:nvPicPr>
          <p:cNvPr id="58" name="Picture 57" descr="lock.png"/>
          <p:cNvPicPr>
            <a:picLocks noChangeAspect="1"/>
          </p:cNvPicPr>
          <p:nvPr/>
        </p:nvPicPr>
        <p:blipFill>
          <a:blip r:embed="rId10"/>
          <a:stretch>
            <a:fillRect/>
          </a:stretch>
        </p:blipFill>
        <p:spPr>
          <a:xfrm>
            <a:off x="2108919" y="4554938"/>
            <a:ext cx="128699" cy="187198"/>
          </a:xfrm>
          <a:prstGeom prst="rect">
            <a:avLst/>
          </a:prstGeom>
        </p:spPr>
      </p:pic>
      <p:sp>
        <p:nvSpPr>
          <p:cNvPr id="59" name="TextBox 58"/>
          <p:cNvSpPr txBox="1"/>
          <p:nvPr/>
        </p:nvSpPr>
        <p:spPr>
          <a:xfrm>
            <a:off x="2276415" y="4564717"/>
            <a:ext cx="1046733" cy="186689"/>
          </a:xfrm>
          <a:prstGeom prst="rect">
            <a:avLst/>
          </a:prstGeom>
          <a:noFill/>
        </p:spPr>
        <p:txBody>
          <a:bodyPr wrap="none" lIns="0" rIns="0" tIns="0" bIns="0">
            <a:spAutoFit/>
          </a:bodyPr>
          <a:lstStyle/>
          <a:p>
            <a:r>
              <a:rPr sz="1100" b="0">
                <a:solidFill>
                  <a:srgbClr val="2E2E2E"/>
                </a:solidFill>
                <a:latin typeface="Calibri"/>
              </a:rPr>
              <a:t>over the forecast</a:t>
            </a:r>
          </a:p>
        </p:txBody>
      </p:sp>
      <p:sp>
        <p:nvSpPr>
          <p:cNvPr id="60" name="TextBox 59"/>
          <p:cNvSpPr txBox="1"/>
          <p:nvPr/>
        </p:nvSpPr>
        <p:spPr>
          <a:xfrm>
            <a:off x="485775" y="4732357"/>
            <a:ext cx="2651100" cy="186689"/>
          </a:xfrm>
          <a:prstGeom prst="rect">
            <a:avLst/>
          </a:prstGeom>
          <a:noFill/>
        </p:spPr>
        <p:txBody>
          <a:bodyPr wrap="none" lIns="0" rIns="0" tIns="0" bIns="0">
            <a:spAutoFit/>
          </a:bodyPr>
          <a:lstStyle/>
          <a:p>
            <a:r>
              <a:rPr sz="1100" b="0">
                <a:solidFill>
                  <a:srgbClr val="2E2E2E"/>
                </a:solidFill>
                <a:latin typeface="Calibri"/>
              </a:rPr>
              <a:t>period. In terms of value share by source, the</a:t>
            </a:r>
          </a:p>
        </p:txBody>
      </p:sp>
      <p:sp>
        <p:nvSpPr>
          <p:cNvPr id="61" name="TextBox 60"/>
          <p:cNvSpPr txBox="1"/>
          <p:nvPr/>
        </p:nvSpPr>
        <p:spPr>
          <a:xfrm>
            <a:off x="485775" y="4899997"/>
            <a:ext cx="2853283" cy="186689"/>
          </a:xfrm>
          <a:prstGeom prst="rect">
            <a:avLst/>
          </a:prstGeom>
          <a:noFill/>
        </p:spPr>
        <p:txBody>
          <a:bodyPr wrap="none" lIns="0" rIns="0" tIns="0" bIns="0">
            <a:spAutoFit/>
          </a:bodyPr>
          <a:lstStyle/>
          <a:p>
            <a:r>
              <a:rPr sz="1100" b="0">
                <a:solidFill>
                  <a:srgbClr val="2E2E2E"/>
                </a:solidFill>
                <a:latin typeface="Calibri"/>
              </a:rPr>
              <a:t>chicken eggshell membrane segment is expected</a:t>
            </a:r>
          </a:p>
        </p:txBody>
      </p:sp>
      <p:sp>
        <p:nvSpPr>
          <p:cNvPr id="62" name="TextBox 61"/>
          <p:cNvSpPr txBox="1"/>
          <p:nvPr/>
        </p:nvSpPr>
        <p:spPr>
          <a:xfrm>
            <a:off x="485775" y="5067637"/>
            <a:ext cx="2914650" cy="186689"/>
          </a:xfrm>
          <a:prstGeom prst="rect">
            <a:avLst/>
          </a:prstGeom>
          <a:noFill/>
        </p:spPr>
        <p:txBody>
          <a:bodyPr wrap="none" lIns="0" rIns="0" tIns="0" bIns="0">
            <a:spAutoFit/>
          </a:bodyPr>
          <a:lstStyle/>
          <a:p>
            <a:r>
              <a:rPr sz="1100" b="0">
                <a:solidFill>
                  <a:srgbClr val="2E2E2E"/>
                </a:solidFill>
                <a:latin typeface="Calibri"/>
              </a:rPr>
              <a:t>to dominate the market, maintaining its share and</a:t>
            </a:r>
          </a:p>
        </p:txBody>
      </p:sp>
      <p:sp>
        <p:nvSpPr>
          <p:cNvPr id="63" name="TextBox 62"/>
          <p:cNvSpPr txBox="1"/>
          <p:nvPr/>
        </p:nvSpPr>
        <p:spPr>
          <a:xfrm>
            <a:off x="485775" y="5235277"/>
            <a:ext cx="896937" cy="186689"/>
          </a:xfrm>
          <a:prstGeom prst="rect">
            <a:avLst/>
          </a:prstGeom>
          <a:noFill/>
        </p:spPr>
        <p:txBody>
          <a:bodyPr wrap="none" lIns="0" rIns="0" tIns="0" bIns="0">
            <a:spAutoFit/>
          </a:bodyPr>
          <a:lstStyle/>
          <a:p>
            <a:r>
              <a:rPr sz="1100" b="0">
                <a:solidFill>
                  <a:srgbClr val="2E2E2E"/>
                </a:solidFill>
                <a:latin typeface="Calibri"/>
              </a:rPr>
              <a:t>accounting for</a:t>
            </a:r>
          </a:p>
        </p:txBody>
      </p:sp>
      <p:pic>
        <p:nvPicPr>
          <p:cNvPr id="64" name="Picture 63" descr="lock.png"/>
          <p:cNvPicPr>
            <a:picLocks noChangeAspect="1"/>
          </p:cNvPicPr>
          <p:nvPr/>
        </p:nvPicPr>
        <p:blipFill>
          <a:blip r:embed="rId10"/>
          <a:stretch>
            <a:fillRect/>
          </a:stretch>
        </p:blipFill>
        <p:spPr>
          <a:xfrm>
            <a:off x="1330764" y="5225498"/>
            <a:ext cx="128699" cy="187198"/>
          </a:xfrm>
          <a:prstGeom prst="rect">
            <a:avLst/>
          </a:prstGeom>
        </p:spPr>
      </p:pic>
      <p:sp>
        <p:nvSpPr>
          <p:cNvPr id="65" name="TextBox 64"/>
          <p:cNvSpPr txBox="1"/>
          <p:nvPr/>
        </p:nvSpPr>
        <p:spPr>
          <a:xfrm>
            <a:off x="1498259" y="5235277"/>
            <a:ext cx="908397" cy="186689"/>
          </a:xfrm>
          <a:prstGeom prst="rect">
            <a:avLst/>
          </a:prstGeom>
          <a:noFill/>
        </p:spPr>
        <p:txBody>
          <a:bodyPr wrap="none" lIns="0" rIns="0" tIns="0" bIns="0">
            <a:spAutoFit/>
          </a:bodyPr>
          <a:lstStyle/>
          <a:p>
            <a:r>
              <a:rPr sz="1100" b="0">
                <a:solidFill>
                  <a:srgbClr val="2E2E2E"/>
                </a:solidFill>
                <a:latin typeface="Calibri"/>
              </a:rPr>
              <a:t>share by 2036.</a:t>
            </a:r>
          </a:p>
        </p:txBody>
      </p:sp>
      <p:sp>
        <p:nvSpPr>
          <p:cNvPr id="66" name="TextBox 65"/>
          <p:cNvSpPr txBox="1"/>
          <p:nvPr/>
        </p:nvSpPr>
        <p:spPr>
          <a:xfrm>
            <a:off x="485775" y="5453209"/>
            <a:ext cx="2894483" cy="186689"/>
          </a:xfrm>
          <a:prstGeom prst="rect">
            <a:avLst/>
          </a:prstGeom>
          <a:noFill/>
        </p:spPr>
        <p:txBody>
          <a:bodyPr wrap="none" lIns="0" rIns="0" tIns="0" bIns="0">
            <a:spAutoFit/>
          </a:bodyPr>
          <a:lstStyle/>
          <a:p>
            <a:r>
              <a:rPr sz="1100" b="0">
                <a:solidFill>
                  <a:srgbClr val="2E2E2E"/>
                </a:solidFill>
                <a:latin typeface="Calibri"/>
              </a:rPr>
              <a:t>Chicken eggshell membrane segment is projected</a:t>
            </a:r>
          </a:p>
        </p:txBody>
      </p:sp>
      <p:sp>
        <p:nvSpPr>
          <p:cNvPr id="67" name="TextBox 66"/>
          <p:cNvSpPr txBox="1"/>
          <p:nvPr/>
        </p:nvSpPr>
        <p:spPr>
          <a:xfrm>
            <a:off x="485775" y="5620849"/>
            <a:ext cx="664740" cy="186689"/>
          </a:xfrm>
          <a:prstGeom prst="rect">
            <a:avLst/>
          </a:prstGeom>
          <a:noFill/>
        </p:spPr>
        <p:txBody>
          <a:bodyPr wrap="none" lIns="0" rIns="0" tIns="0" bIns="0">
            <a:spAutoFit/>
          </a:bodyPr>
          <a:lstStyle/>
          <a:p>
            <a:r>
              <a:rPr sz="1100" b="0">
                <a:solidFill>
                  <a:srgbClr val="2E2E2E"/>
                </a:solidFill>
                <a:latin typeface="Calibri"/>
              </a:rPr>
              <a:t>to register</a:t>
            </a:r>
          </a:p>
        </p:txBody>
      </p:sp>
      <p:pic>
        <p:nvPicPr>
          <p:cNvPr id="68" name="Picture 67" descr="lock.png"/>
          <p:cNvPicPr>
            <a:picLocks noChangeAspect="1"/>
          </p:cNvPicPr>
          <p:nvPr/>
        </p:nvPicPr>
        <p:blipFill>
          <a:blip r:embed="rId10"/>
          <a:stretch>
            <a:fillRect/>
          </a:stretch>
        </p:blipFill>
        <p:spPr>
          <a:xfrm>
            <a:off x="1098567" y="5611070"/>
            <a:ext cx="128699" cy="187198"/>
          </a:xfrm>
          <a:prstGeom prst="rect">
            <a:avLst/>
          </a:prstGeom>
        </p:spPr>
      </p:pic>
      <p:sp>
        <p:nvSpPr>
          <p:cNvPr id="69" name="TextBox 68"/>
          <p:cNvSpPr txBox="1"/>
          <p:nvPr/>
        </p:nvSpPr>
        <p:spPr>
          <a:xfrm>
            <a:off x="1266063" y="5620849"/>
            <a:ext cx="1959967" cy="186689"/>
          </a:xfrm>
          <a:prstGeom prst="rect">
            <a:avLst/>
          </a:prstGeom>
          <a:noFill/>
        </p:spPr>
        <p:txBody>
          <a:bodyPr wrap="none" lIns="0" rIns="0" tIns="0" bIns="0">
            <a:spAutoFit/>
          </a:bodyPr>
          <a:lstStyle/>
          <a:p>
            <a:r>
              <a:rPr sz="1100" b="0">
                <a:solidFill>
                  <a:srgbClr val="2E2E2E"/>
                </a:solidFill>
                <a:latin typeface="Calibri"/>
              </a:rPr>
              <a:t>X higher value than other poultry</a:t>
            </a:r>
          </a:p>
        </p:txBody>
      </p:sp>
      <p:sp>
        <p:nvSpPr>
          <p:cNvPr id="70" name="TextBox 69"/>
          <p:cNvSpPr txBox="1"/>
          <p:nvPr/>
        </p:nvSpPr>
        <p:spPr>
          <a:xfrm>
            <a:off x="485775" y="5788489"/>
            <a:ext cx="2206625" cy="186689"/>
          </a:xfrm>
          <a:prstGeom prst="rect">
            <a:avLst/>
          </a:prstGeom>
          <a:noFill/>
        </p:spPr>
        <p:txBody>
          <a:bodyPr wrap="none" lIns="0" rIns="0" tIns="0" bIns="0">
            <a:spAutoFit/>
          </a:bodyPr>
          <a:lstStyle/>
          <a:p>
            <a:r>
              <a:rPr sz="1100" b="0">
                <a:solidFill>
                  <a:srgbClr val="2E2E2E"/>
                </a:solidFill>
                <a:latin typeface="Calibri"/>
              </a:rPr>
              <a:t>eggshell membrane segment in 2036.</a:t>
            </a:r>
          </a:p>
        </p:txBody>
      </p:sp>
      <p:sp>
        <p:nvSpPr>
          <p:cNvPr id="71" name="TextBox 70"/>
          <p:cNvSpPr txBox="1"/>
          <p:nvPr/>
        </p:nvSpPr>
        <p:spPr>
          <a:xfrm>
            <a:off x="3838575" y="4229437"/>
            <a:ext cx="1833091" cy="186689"/>
          </a:xfrm>
          <a:prstGeom prst="rect">
            <a:avLst/>
          </a:prstGeom>
          <a:noFill/>
        </p:spPr>
        <p:txBody>
          <a:bodyPr wrap="none" lIns="0" rIns="0" tIns="0" bIns="0">
            <a:spAutoFit/>
          </a:bodyPr>
          <a:lstStyle/>
          <a:p>
            <a:r>
              <a:rPr sz="1100" b="0">
                <a:solidFill>
                  <a:srgbClr val="2E2E2E"/>
                </a:solidFill>
                <a:latin typeface="Calibri"/>
              </a:rPr>
              <a:t>● Chicken Eggshell Membrane:</a:t>
            </a:r>
          </a:p>
        </p:txBody>
      </p:sp>
      <p:pic>
        <p:nvPicPr>
          <p:cNvPr id="72" name="Picture 71" descr="lock.png"/>
          <p:cNvPicPr>
            <a:picLocks noChangeAspect="1"/>
          </p:cNvPicPr>
          <p:nvPr/>
        </p:nvPicPr>
        <p:blipFill>
          <a:blip r:embed="rId10"/>
          <a:stretch>
            <a:fillRect/>
          </a:stretch>
        </p:blipFill>
        <p:spPr>
          <a:xfrm>
            <a:off x="5619717" y="4219658"/>
            <a:ext cx="128699" cy="187198"/>
          </a:xfrm>
          <a:prstGeom prst="rect">
            <a:avLst/>
          </a:prstGeom>
        </p:spPr>
      </p:pic>
      <p:sp>
        <p:nvSpPr>
          <p:cNvPr id="73" name="TextBox 72"/>
          <p:cNvSpPr txBox="1"/>
          <p:nvPr/>
        </p:nvSpPr>
        <p:spPr>
          <a:xfrm>
            <a:off x="5787213" y="422943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74" name="Picture 73" descr="lock.png"/>
          <p:cNvPicPr>
            <a:picLocks noChangeAspect="1"/>
          </p:cNvPicPr>
          <p:nvPr/>
        </p:nvPicPr>
        <p:blipFill>
          <a:blip r:embed="rId10"/>
          <a:stretch>
            <a:fillRect/>
          </a:stretch>
        </p:blipFill>
        <p:spPr>
          <a:xfrm>
            <a:off x="6646663" y="4219658"/>
            <a:ext cx="128699" cy="187198"/>
          </a:xfrm>
          <a:prstGeom prst="rect">
            <a:avLst/>
          </a:prstGeom>
        </p:spPr>
      </p:pic>
      <p:sp>
        <p:nvSpPr>
          <p:cNvPr id="75" name="TextBox 74"/>
          <p:cNvSpPr txBox="1"/>
          <p:nvPr/>
        </p:nvSpPr>
        <p:spPr>
          <a:xfrm>
            <a:off x="6814159" y="4229437"/>
            <a:ext cx="945215" cy="186689"/>
          </a:xfrm>
          <a:prstGeom prst="rect">
            <a:avLst/>
          </a:prstGeom>
          <a:noFill/>
        </p:spPr>
        <p:txBody>
          <a:bodyPr wrap="none" lIns="0" rIns="0" tIns="0" bIns="0">
            <a:spAutoFit/>
          </a:bodyPr>
          <a:lstStyle/>
          <a:p>
            <a:r>
              <a:rPr sz="1100" b="0">
                <a:solidFill>
                  <a:srgbClr val="2E2E2E"/>
                </a:solidFill>
                <a:latin typeface="Calibri"/>
              </a:rPr>
              <a:t>CAGR leads the</a:t>
            </a:r>
          </a:p>
        </p:txBody>
      </p:sp>
      <p:sp>
        <p:nvSpPr>
          <p:cNvPr id="76" name="TextBox 75"/>
          <p:cNvSpPr txBox="1"/>
          <p:nvPr/>
        </p:nvSpPr>
        <p:spPr>
          <a:xfrm>
            <a:off x="3838575" y="4397077"/>
            <a:ext cx="602803" cy="186689"/>
          </a:xfrm>
          <a:prstGeom prst="rect">
            <a:avLst/>
          </a:prstGeom>
          <a:noFill/>
        </p:spPr>
        <p:txBody>
          <a:bodyPr wrap="none" lIns="0" rIns="0" tIns="0" bIns="0">
            <a:spAutoFit/>
          </a:bodyPr>
          <a:lstStyle/>
          <a:p>
            <a:r>
              <a:rPr sz="1100" b="0">
                <a:solidFill>
                  <a:srgbClr val="2E2E2E"/>
                </a:solidFill>
                <a:latin typeface="Calibri"/>
              </a:rPr>
              <a:t>segment.</a:t>
            </a:r>
          </a:p>
        </p:txBody>
      </p:sp>
      <p:sp>
        <p:nvSpPr>
          <p:cNvPr id="77" name="TextBox 76"/>
          <p:cNvSpPr txBox="1"/>
          <p:nvPr/>
        </p:nvSpPr>
        <p:spPr>
          <a:xfrm>
            <a:off x="3838575" y="4615009"/>
            <a:ext cx="2160785" cy="186689"/>
          </a:xfrm>
          <a:prstGeom prst="rect">
            <a:avLst/>
          </a:prstGeom>
          <a:noFill/>
        </p:spPr>
        <p:txBody>
          <a:bodyPr wrap="none" lIns="0" rIns="0" tIns="0" bIns="0">
            <a:spAutoFit/>
          </a:bodyPr>
          <a:lstStyle/>
          <a:p>
            <a:r>
              <a:rPr sz="1100" b="0">
                <a:solidFill>
                  <a:srgbClr val="2E2E2E"/>
                </a:solidFill>
                <a:latin typeface="Calibri"/>
              </a:rPr>
              <a:t>● Other Poultry Eggshell Membrane:</a:t>
            </a:r>
          </a:p>
        </p:txBody>
      </p:sp>
      <p:pic>
        <p:nvPicPr>
          <p:cNvPr id="78" name="Picture 77" descr="lock.png"/>
          <p:cNvPicPr>
            <a:picLocks noChangeAspect="1"/>
          </p:cNvPicPr>
          <p:nvPr/>
        </p:nvPicPr>
        <p:blipFill>
          <a:blip r:embed="rId10"/>
          <a:stretch>
            <a:fillRect/>
          </a:stretch>
        </p:blipFill>
        <p:spPr>
          <a:xfrm>
            <a:off x="5947412" y="4605230"/>
            <a:ext cx="128699" cy="187198"/>
          </a:xfrm>
          <a:prstGeom prst="rect">
            <a:avLst/>
          </a:prstGeom>
        </p:spPr>
      </p:pic>
      <p:sp>
        <p:nvSpPr>
          <p:cNvPr id="79" name="TextBox 78"/>
          <p:cNvSpPr txBox="1"/>
          <p:nvPr/>
        </p:nvSpPr>
        <p:spPr>
          <a:xfrm>
            <a:off x="6114908" y="4615009"/>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80" name="Picture 79" descr="lock.png"/>
          <p:cNvPicPr>
            <a:picLocks noChangeAspect="1"/>
          </p:cNvPicPr>
          <p:nvPr/>
        </p:nvPicPr>
        <p:blipFill>
          <a:blip r:embed="rId10"/>
          <a:stretch>
            <a:fillRect/>
          </a:stretch>
        </p:blipFill>
        <p:spPr>
          <a:xfrm>
            <a:off x="6974358" y="4605230"/>
            <a:ext cx="128699" cy="187198"/>
          </a:xfrm>
          <a:prstGeom prst="rect">
            <a:avLst/>
          </a:prstGeom>
        </p:spPr>
      </p:pic>
      <p:sp>
        <p:nvSpPr>
          <p:cNvPr id="81" name="TextBox 80"/>
          <p:cNvSpPr txBox="1"/>
          <p:nvPr/>
        </p:nvSpPr>
        <p:spPr>
          <a:xfrm>
            <a:off x="7141854" y="4615009"/>
            <a:ext cx="395419" cy="186689"/>
          </a:xfrm>
          <a:prstGeom prst="rect">
            <a:avLst/>
          </a:prstGeom>
          <a:noFill/>
        </p:spPr>
        <p:txBody>
          <a:bodyPr wrap="none" lIns="0" rIns="0" tIns="0" bIns="0">
            <a:spAutoFit/>
          </a:bodyPr>
          <a:lstStyle/>
          <a:p>
            <a:r>
              <a:rPr sz="1100" b="0">
                <a:solidFill>
                  <a:srgbClr val="2E2E2E"/>
                </a:solidFill>
                <a:latin typeface="Calibri"/>
              </a:rPr>
              <a:t>CAGR</a:t>
            </a:r>
          </a:p>
        </p:txBody>
      </p:sp>
      <p:sp>
        <p:nvSpPr>
          <p:cNvPr id="82" name="TextBox 81"/>
          <p:cNvSpPr txBox="1"/>
          <p:nvPr/>
        </p:nvSpPr>
        <p:spPr>
          <a:xfrm>
            <a:off x="3838575" y="4782649"/>
            <a:ext cx="909488" cy="186689"/>
          </a:xfrm>
          <a:prstGeom prst="rect">
            <a:avLst/>
          </a:prstGeom>
          <a:noFill/>
        </p:spPr>
        <p:txBody>
          <a:bodyPr wrap="none" lIns="0" rIns="0" tIns="0" bIns="0">
            <a:spAutoFit/>
          </a:bodyPr>
          <a:lstStyle/>
          <a:p>
            <a:r>
              <a:rPr sz="1100" b="0">
                <a:solidFill>
                  <a:srgbClr val="2E2E2E"/>
                </a:solidFill>
                <a:latin typeface="Calibri"/>
              </a:rPr>
              <a:t>serves a niche.</a:t>
            </a:r>
          </a:p>
        </p:txBody>
      </p:sp>
      <p:sp>
        <p:nvSpPr>
          <p:cNvPr id="83" name="TextBox 82"/>
          <p:cNvSpPr txBox="1"/>
          <p:nvPr/>
        </p:nvSpPr>
        <p:spPr>
          <a:xfrm>
            <a:off x="8524875" y="5842641"/>
            <a:ext cx="3162300" cy="194310"/>
          </a:xfrm>
          <a:prstGeom prst="rect">
            <a:avLst/>
          </a:prstGeom>
          <a:noFill/>
        </p:spPr>
        <p:txBody>
          <a:bodyPr wrap="none" lIns="0" rIns="0" tIns="0" bIns="0">
            <a:spAutoFit/>
          </a:bodyPr>
          <a:lstStyle/>
          <a:p>
            <a:r>
              <a:rPr sz="1150" b="1">
                <a:solidFill>
                  <a:srgbClr val="0B2E4A"/>
                </a:solidFill>
                <a:latin typeface="Calibri"/>
              </a:rPr>
              <a:t>The Source segment is projected to grow at a CAGR</a:t>
            </a:r>
          </a:p>
        </p:txBody>
      </p:sp>
      <p:sp>
        <p:nvSpPr>
          <p:cNvPr id="84" name="TextBox 83"/>
          <p:cNvSpPr txBox="1"/>
          <p:nvPr/>
        </p:nvSpPr>
        <p:spPr>
          <a:xfrm>
            <a:off x="8524875" y="6017901"/>
            <a:ext cx="200855" cy="194310"/>
          </a:xfrm>
          <a:prstGeom prst="rect">
            <a:avLst/>
          </a:prstGeom>
          <a:noFill/>
        </p:spPr>
        <p:txBody>
          <a:bodyPr wrap="none" lIns="0" rIns="0" tIns="0" bIns="0">
            <a:spAutoFit/>
          </a:bodyPr>
          <a:lstStyle/>
          <a:p>
            <a:r>
              <a:rPr sz="1150" b="1">
                <a:solidFill>
                  <a:srgbClr val="0B2E4A"/>
                </a:solidFill>
                <a:latin typeface="Calibri"/>
              </a:rPr>
              <a:t>of</a:t>
            </a:r>
          </a:p>
        </p:txBody>
      </p:sp>
      <p:pic>
        <p:nvPicPr>
          <p:cNvPr id="85" name="Picture 84" descr="lock.png"/>
          <p:cNvPicPr>
            <a:picLocks noChangeAspect="1"/>
          </p:cNvPicPr>
          <p:nvPr/>
        </p:nvPicPr>
        <p:blipFill>
          <a:blip r:embed="rId10"/>
          <a:stretch>
            <a:fillRect/>
          </a:stretch>
        </p:blipFill>
        <p:spPr>
          <a:xfrm>
            <a:off x="8674884" y="6007677"/>
            <a:ext cx="134549" cy="195707"/>
          </a:xfrm>
          <a:prstGeom prst="rect">
            <a:avLst/>
          </a:prstGeom>
        </p:spPr>
      </p:pic>
      <p:sp>
        <p:nvSpPr>
          <p:cNvPr id="86" name="TextBox 85"/>
          <p:cNvSpPr txBox="1"/>
          <p:nvPr/>
        </p:nvSpPr>
        <p:spPr>
          <a:xfrm>
            <a:off x="8849994" y="6017901"/>
            <a:ext cx="1232619" cy="194310"/>
          </a:xfrm>
          <a:prstGeom prst="rect">
            <a:avLst/>
          </a:prstGeom>
          <a:noFill/>
        </p:spPr>
        <p:txBody>
          <a:bodyPr wrap="none" lIns="0" rIns="0" tIns="0" bIns="0">
            <a:spAutoFit/>
          </a:bodyPr>
          <a:lstStyle/>
          <a:p>
            <a:r>
              <a:rPr sz="1150" b="1">
                <a:solidFill>
                  <a:srgbClr val="0B2E4A"/>
                </a:solidFill>
                <a:latin typeface="Calibri"/>
              </a:rPr>
              <a:t>from 2026 to 2036.</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Structure &amp; Attractiveness, By Source (Value)</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Source mix within each region and the attractiveness of each sub-segment on growth and size</a:t>
            </a:r>
          </a:p>
        </p:txBody>
      </p:sp>
      <p:sp>
        <p:nvSpPr>
          <p:cNvPr id="7" name="Rounded Rectangle 6"/>
          <p:cNvSpPr/>
          <p:nvPr/>
        </p:nvSpPr>
        <p:spPr>
          <a:xfrm>
            <a:off x="142875" y="981075"/>
            <a:ext cx="6343650" cy="4324350"/>
          </a:xfrm>
          <a:prstGeom prst="roundRect">
            <a:avLst>
              <a:gd name="adj" fmla="val 1762"/>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6153150"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Source mix within each region (share of 2036 value) · row label = region size (US$ Mn), largest first</a:t>
            </a:r>
          </a:p>
        </p:txBody>
      </p:sp>
      <p:graphicFrame>
        <p:nvGraphicFramePr>
          <p:cNvPr id="9" name="Chart 8"/>
          <p:cNvGraphicFramePr>
            <a:graphicFrameLocks noGrp="1"/>
          </p:cNvGraphicFramePr>
          <p:nvPr/>
        </p:nvGraphicFramePr>
        <p:xfrm>
          <a:off x="238125" y="1438275"/>
          <a:ext cx="6153150" cy="3810000"/>
        </p:xfrm>
        <a:graphic>
          <a:graphicData uri="http://schemas.openxmlformats.org/drawingml/2006/chart">
            <c:chart xmlns:c="http://schemas.openxmlformats.org/drawingml/2006/chart" r:id="rId3"/>
          </a:graphicData>
        </a:graphic>
      </p:graphicFrame>
      <p:sp>
        <p:nvSpPr>
          <p:cNvPr id="10" name="Rounded Rectangle 9"/>
          <p:cNvSpPr/>
          <p:nvPr/>
        </p:nvSpPr>
        <p:spPr>
          <a:xfrm>
            <a:off x="6638925" y="981075"/>
            <a:ext cx="5400675" cy="4324350"/>
          </a:xfrm>
          <a:prstGeom prst="roundRect">
            <a:avLst>
              <a:gd name="adj" fmla="val 1762"/>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34175" y="1038225"/>
            <a:ext cx="521017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Attractiveness, By Source · Bubble size represents 2036 value</a:t>
            </a:r>
          </a:p>
        </p:txBody>
      </p:sp>
      <p:graphicFrame>
        <p:nvGraphicFramePr>
          <p:cNvPr id="12" name="Chart 11"/>
          <p:cNvGraphicFramePr>
            <a:graphicFrameLocks noGrp="1"/>
          </p:cNvGraphicFramePr>
          <p:nvPr/>
        </p:nvGraphicFramePr>
        <p:xfrm>
          <a:off x="6734175" y="1266825"/>
          <a:ext cx="5210175" cy="3981450"/>
        </p:xfrm>
        <a:graphic>
          <a:graphicData uri="http://schemas.openxmlformats.org/drawingml/2006/chart">
            <c:chart xmlns:c="http://schemas.openxmlformats.org/drawingml/2006/chart" r:id="rId4"/>
          </a:graphicData>
        </a:graphic>
      </p:graphicFrame>
      <p:sp>
        <p:nvSpPr>
          <p:cNvPr id="13" name="Rounded Rectangle 12"/>
          <p:cNvSpPr/>
          <p:nvPr/>
        </p:nvSpPr>
        <p:spPr>
          <a:xfrm>
            <a:off x="142875" y="5438775"/>
            <a:ext cx="11906250" cy="1181100"/>
          </a:xfrm>
          <a:prstGeom prst="roundRect">
            <a:avLst>
              <a:gd name="adj" fmla="val 6451"/>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14" name="Rectangle 13"/>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6" name="Picture 15" descr="lock.png"/>
          <p:cNvPicPr>
            <a:picLocks noChangeAspect="1"/>
          </p:cNvPicPr>
          <p:nvPr/>
        </p:nvPicPr>
        <p:blipFill>
          <a:blip r:embed="rId6"/>
          <a:stretch>
            <a:fillRect/>
          </a:stretch>
        </p:blipFill>
        <p:spPr>
          <a:xfrm>
            <a:off x="3484684" y="3024134"/>
            <a:ext cx="320946" cy="466830"/>
          </a:xfrm>
          <a:prstGeom prst="rect">
            <a:avLst/>
          </a:prstGeom>
        </p:spPr>
      </p:pic>
      <p:sp>
        <p:nvSpPr>
          <p:cNvPr id="17" name="TextBox 16"/>
          <p:cNvSpPr txBox="1"/>
          <p:nvPr/>
        </p:nvSpPr>
        <p:spPr>
          <a:xfrm>
            <a:off x="257175" y="5777865"/>
            <a:ext cx="11550426" cy="186689"/>
          </a:xfrm>
          <a:prstGeom prst="rect">
            <a:avLst/>
          </a:prstGeom>
          <a:noFill/>
        </p:spPr>
        <p:txBody>
          <a:bodyPr wrap="none" lIns="0" rIns="0" tIns="0" bIns="0">
            <a:spAutoFit/>
          </a:bodyPr>
          <a:lstStyle/>
          <a:p>
            <a:r>
              <a:rPr sz="1100" b="0">
                <a:solidFill>
                  <a:srgbClr val="2E2E2E"/>
                </a:solidFill>
                <a:latin typeface="Calibri"/>
              </a:rPr>
              <a:t>Chicken eggshell membrane followed by other poultry eggshell membrane are expected to be the two most attractive source segments in the global egg protein membrane market in terms of value over</a:t>
            </a:r>
          </a:p>
        </p:txBody>
      </p:sp>
      <p:sp>
        <p:nvSpPr>
          <p:cNvPr id="18" name="TextBox 17"/>
          <p:cNvSpPr txBox="1"/>
          <p:nvPr/>
        </p:nvSpPr>
        <p:spPr>
          <a:xfrm>
            <a:off x="257175" y="5945505"/>
            <a:ext cx="6368412" cy="186689"/>
          </a:xfrm>
          <a:prstGeom prst="rect">
            <a:avLst/>
          </a:prstGeom>
          <a:noFill/>
        </p:spPr>
        <p:txBody>
          <a:bodyPr wrap="none" lIns="0" rIns="0" tIns="0" bIns="0">
            <a:spAutoFit/>
          </a:bodyPr>
          <a:lstStyle/>
          <a:p>
            <a:r>
              <a:rPr sz="1100" b="0">
                <a:solidFill>
                  <a:srgbClr val="2E2E2E"/>
                </a:solidFill>
                <a:latin typeface="Calibri"/>
              </a:rPr>
              <a:t>the forecast period. Chicken eggshell membrane and other poultry eggshell membrane exhibit a CAGR index of</a:t>
            </a:r>
          </a:p>
        </p:txBody>
      </p:sp>
      <p:pic>
        <p:nvPicPr>
          <p:cNvPr id="19" name="Picture 18" descr="lock.png"/>
          <p:cNvPicPr>
            <a:picLocks noChangeAspect="1"/>
          </p:cNvPicPr>
          <p:nvPr/>
        </p:nvPicPr>
        <p:blipFill>
          <a:blip r:embed="rId6"/>
          <a:stretch>
            <a:fillRect/>
          </a:stretch>
        </p:blipFill>
        <p:spPr>
          <a:xfrm>
            <a:off x="6573639" y="5935726"/>
            <a:ext cx="128699" cy="187198"/>
          </a:xfrm>
          <a:prstGeom prst="rect">
            <a:avLst/>
          </a:prstGeom>
        </p:spPr>
      </p:pic>
      <p:sp>
        <p:nvSpPr>
          <p:cNvPr id="20" name="TextBox 19"/>
          <p:cNvSpPr txBox="1"/>
          <p:nvPr/>
        </p:nvSpPr>
        <p:spPr>
          <a:xfrm>
            <a:off x="6741135" y="594550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1" name="Picture 20" descr="lock.png"/>
          <p:cNvPicPr>
            <a:picLocks noChangeAspect="1"/>
          </p:cNvPicPr>
          <p:nvPr/>
        </p:nvPicPr>
        <p:blipFill>
          <a:blip r:embed="rId6"/>
          <a:stretch>
            <a:fillRect/>
          </a:stretch>
        </p:blipFill>
        <p:spPr>
          <a:xfrm>
            <a:off x="6979029" y="5935726"/>
            <a:ext cx="128699" cy="187198"/>
          </a:xfrm>
          <a:prstGeom prst="rect">
            <a:avLst/>
          </a:prstGeom>
        </p:spPr>
      </p:pic>
      <p:sp>
        <p:nvSpPr>
          <p:cNvPr id="22" name="TextBox 21"/>
          <p:cNvSpPr txBox="1"/>
          <p:nvPr/>
        </p:nvSpPr>
        <p:spPr>
          <a:xfrm>
            <a:off x="7146525" y="5945505"/>
            <a:ext cx="1660921" cy="186689"/>
          </a:xfrm>
          <a:prstGeom prst="rect">
            <a:avLst/>
          </a:prstGeom>
          <a:noFill/>
        </p:spPr>
        <p:txBody>
          <a:bodyPr wrap="none" lIns="0" rIns="0" tIns="0" bIns="0">
            <a:spAutoFit/>
          </a:bodyPr>
          <a:lstStyle/>
          <a:p>
            <a:r>
              <a:rPr sz="1100" b="0">
                <a:solidFill>
                  <a:srgbClr val="2E2E2E"/>
                </a:solidFill>
                <a:latin typeface="Calibri"/>
              </a:rPr>
              <a:t>and a market share index of</a:t>
            </a:r>
          </a:p>
        </p:txBody>
      </p:sp>
      <p:pic>
        <p:nvPicPr>
          <p:cNvPr id="23" name="Picture 22" descr="lock.png"/>
          <p:cNvPicPr>
            <a:picLocks noChangeAspect="1"/>
          </p:cNvPicPr>
          <p:nvPr/>
        </p:nvPicPr>
        <p:blipFill>
          <a:blip r:embed="rId6"/>
          <a:stretch>
            <a:fillRect/>
          </a:stretch>
        </p:blipFill>
        <p:spPr>
          <a:xfrm>
            <a:off x="8755498" y="5935726"/>
            <a:ext cx="128699" cy="187198"/>
          </a:xfrm>
          <a:prstGeom prst="rect">
            <a:avLst/>
          </a:prstGeom>
        </p:spPr>
      </p:pic>
      <p:sp>
        <p:nvSpPr>
          <p:cNvPr id="24" name="TextBox 23"/>
          <p:cNvSpPr txBox="1"/>
          <p:nvPr/>
        </p:nvSpPr>
        <p:spPr>
          <a:xfrm>
            <a:off x="8922994" y="594550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5" name="Picture 24" descr="lock.png"/>
          <p:cNvPicPr>
            <a:picLocks noChangeAspect="1"/>
          </p:cNvPicPr>
          <p:nvPr/>
        </p:nvPicPr>
        <p:blipFill>
          <a:blip r:embed="rId6"/>
          <a:stretch>
            <a:fillRect/>
          </a:stretch>
        </p:blipFill>
        <p:spPr>
          <a:xfrm>
            <a:off x="9160889" y="5935726"/>
            <a:ext cx="128699" cy="187198"/>
          </a:xfrm>
          <a:prstGeom prst="rect">
            <a:avLst/>
          </a:prstGeom>
        </p:spPr>
      </p:pic>
      <p:sp>
        <p:nvSpPr>
          <p:cNvPr id="26" name="TextBox 25"/>
          <p:cNvSpPr txBox="1"/>
          <p:nvPr/>
        </p:nvSpPr>
        <p:spPr>
          <a:xfrm>
            <a:off x="9328384" y="5945505"/>
            <a:ext cx="1976338" cy="186689"/>
          </a:xfrm>
          <a:prstGeom prst="rect">
            <a:avLst/>
          </a:prstGeom>
          <a:noFill/>
        </p:spPr>
        <p:txBody>
          <a:bodyPr wrap="none" lIns="0" rIns="0" tIns="0" bIns="0">
            <a:spAutoFit/>
          </a:bodyPr>
          <a:lstStyle/>
          <a:p>
            <a:r>
              <a:rPr sz="1100" b="0">
                <a:solidFill>
                  <a:srgbClr val="2E2E2E"/>
                </a:solidFill>
                <a:latin typeface="Calibri"/>
              </a:rPr>
              <a:t>respectively, against the segment</a:t>
            </a:r>
          </a:p>
        </p:txBody>
      </p:sp>
      <p:sp>
        <p:nvSpPr>
          <p:cNvPr id="27" name="TextBox 26"/>
          <p:cNvSpPr txBox="1"/>
          <p:nvPr/>
        </p:nvSpPr>
        <p:spPr>
          <a:xfrm>
            <a:off x="257175" y="6113145"/>
            <a:ext cx="674563" cy="186689"/>
          </a:xfrm>
          <a:prstGeom prst="rect">
            <a:avLst/>
          </a:prstGeom>
          <a:noFill/>
        </p:spPr>
        <p:txBody>
          <a:bodyPr wrap="none" lIns="0" rIns="0" tIns="0" bIns="0">
            <a:spAutoFit/>
          </a:bodyPr>
          <a:lstStyle/>
          <a:p>
            <a:r>
              <a:rPr sz="1100" b="0">
                <a:solidFill>
                  <a:srgbClr val="2E2E2E"/>
                </a:solidFill>
                <a:latin typeface="Calibri"/>
              </a:rPr>
              <a:t>average of</a:t>
            </a:r>
          </a:p>
        </p:txBody>
      </p:sp>
      <p:pic>
        <p:nvPicPr>
          <p:cNvPr id="28" name="Picture 27" descr="lock.png"/>
          <p:cNvPicPr>
            <a:picLocks noChangeAspect="1"/>
          </p:cNvPicPr>
          <p:nvPr/>
        </p:nvPicPr>
        <p:blipFill>
          <a:blip r:embed="rId6"/>
          <a:stretch>
            <a:fillRect/>
          </a:stretch>
        </p:blipFill>
        <p:spPr>
          <a:xfrm>
            <a:off x="879790" y="6103366"/>
            <a:ext cx="128699" cy="187198"/>
          </a:xfrm>
          <a:prstGeom prst="rect">
            <a:avLst/>
          </a:prstGeom>
        </p:spPr>
      </p:pic>
      <p:sp>
        <p:nvSpPr>
          <p:cNvPr id="29" name="TextBox 28"/>
          <p:cNvSpPr txBox="1"/>
          <p:nvPr/>
        </p:nvSpPr>
        <p:spPr>
          <a:xfrm>
            <a:off x="1047285" y="6113145"/>
            <a:ext cx="4443717" cy="186689"/>
          </a:xfrm>
          <a:prstGeom prst="rect">
            <a:avLst/>
          </a:prstGeom>
          <a:noFill/>
        </p:spPr>
        <p:txBody>
          <a:bodyPr wrap="none" lIns="0" rIns="0" tIns="0" bIns="0">
            <a:spAutoFit/>
          </a:bodyPr>
          <a:lstStyle/>
          <a:p>
            <a:r>
              <a:rPr sz="1100" b="0">
                <a:solidFill>
                  <a:srgbClr val="2E2E2E"/>
                </a:solidFill>
                <a:latin typeface="Calibri"/>
              </a:rPr>
              <a:t>. Bubbles right of the CAGR-Index line grow faster than the segment average.</a:t>
            </a:r>
          </a:p>
        </p:txBody>
      </p:sp>
      <p:sp>
        <p:nvSpPr>
          <p:cNvPr id="30" name="lockshield_9"/>
          <p:cNvSpPr/>
          <p:nvPr/>
        </p:nvSpPr>
        <p:spPr>
          <a:xfrm>
            <a:off x="238125" y="1438275"/>
            <a:ext cx="6153150"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lockshield_12"/>
          <p:cNvSpPr/>
          <p:nvPr/>
        </p:nvSpPr>
        <p:spPr>
          <a:xfrm>
            <a:off x="6734175" y="1266825"/>
            <a:ext cx="5210175" cy="39814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Absolute $ Opportunity Analysis, By Source</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Source and the absolute $ opportunity each sub-segment adds, 2026–2036</a:t>
            </a:r>
          </a:p>
        </p:txBody>
      </p:sp>
      <p:sp>
        <p:nvSpPr>
          <p:cNvPr id="7" name="Rounded Rectangle 6"/>
          <p:cNvSpPr/>
          <p:nvPr/>
        </p:nvSpPr>
        <p:spPr>
          <a:xfrm>
            <a:off x="142875" y="981075"/>
            <a:ext cx="5876925" cy="5648325"/>
          </a:xfrm>
          <a:prstGeom prst="roundRect">
            <a:avLst>
              <a:gd name="adj" fmla="val 134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Chicken Eggshell Membrane</a:t>
            </a:r>
          </a:p>
        </p:txBody>
      </p:sp>
      <p:graphicFrame>
        <p:nvGraphicFramePr>
          <p:cNvPr id="9" name="Chart 8"/>
          <p:cNvGraphicFramePr>
            <a:graphicFrameLocks noGrp="1"/>
          </p:cNvGraphicFramePr>
          <p:nvPr/>
        </p:nvGraphicFramePr>
        <p:xfrm>
          <a:off x="238125" y="1438275"/>
          <a:ext cx="5686425" cy="5133975"/>
        </p:xfrm>
        <a:graphic>
          <a:graphicData uri="http://schemas.openxmlformats.org/drawingml/2006/chart">
            <c:chart xmlns:c="http://schemas.openxmlformats.org/drawingml/2006/chart" r:id="rId3"/>
          </a:graphicData>
        </a:graphic>
      </p:graphicFrame>
      <p:sp>
        <p:nvSpPr>
          <p:cNvPr id="10" name="Rounded Rectangle 9"/>
          <p:cNvSpPr/>
          <p:nvPr/>
        </p:nvSpPr>
        <p:spPr>
          <a:xfrm>
            <a:off x="6172200" y="981075"/>
            <a:ext cx="5876925" cy="5648325"/>
          </a:xfrm>
          <a:prstGeom prst="roundRect">
            <a:avLst>
              <a:gd name="adj" fmla="val 134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67450"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Other Poultry Eggshell Membrane</a:t>
            </a:r>
          </a:p>
        </p:txBody>
      </p:sp>
      <p:graphicFrame>
        <p:nvGraphicFramePr>
          <p:cNvPr id="12" name="Chart 11"/>
          <p:cNvGraphicFramePr>
            <a:graphicFrameLocks noGrp="1"/>
          </p:cNvGraphicFramePr>
          <p:nvPr/>
        </p:nvGraphicFramePr>
        <p:xfrm>
          <a:off x="6267450" y="1438275"/>
          <a:ext cx="5686425" cy="5133975"/>
        </p:xfrm>
        <a:graphic>
          <a:graphicData uri="http://schemas.openxmlformats.org/drawingml/2006/chart">
            <c:chart xmlns:c="http://schemas.openxmlformats.org/drawingml/2006/chart" r:id="rId4"/>
          </a:graphicData>
        </a:graphic>
      </p:graphicFrame>
      <p:sp>
        <p:nvSpPr>
          <p:cNvPr id="13" name="Rectangle 12"/>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5" name="Picture 14" descr="lock.png"/>
          <p:cNvPicPr>
            <a:picLocks noChangeAspect="1"/>
          </p:cNvPicPr>
          <p:nvPr/>
        </p:nvPicPr>
        <p:blipFill>
          <a:blip r:embed="rId6"/>
          <a:stretch>
            <a:fillRect/>
          </a:stretch>
        </p:blipFill>
        <p:spPr>
          <a:xfrm>
            <a:off x="3027556" y="3674659"/>
            <a:ext cx="395643" cy="575481"/>
          </a:xfrm>
          <a:prstGeom prst="rect">
            <a:avLst/>
          </a:prstGeom>
        </p:spPr>
      </p:pic>
      <p:pic>
        <p:nvPicPr>
          <p:cNvPr id="16" name="Picture 15" descr="lock.png"/>
          <p:cNvPicPr>
            <a:picLocks noChangeAspect="1"/>
          </p:cNvPicPr>
          <p:nvPr/>
        </p:nvPicPr>
        <p:blipFill>
          <a:blip r:embed="rId6"/>
          <a:stretch>
            <a:fillRect/>
          </a:stretch>
        </p:blipFill>
        <p:spPr>
          <a:xfrm>
            <a:off x="9056881" y="3674659"/>
            <a:ext cx="395643" cy="575481"/>
          </a:xfrm>
          <a:prstGeom prst="rect">
            <a:avLst/>
          </a:prstGeom>
        </p:spPr>
      </p:pic>
      <p:sp>
        <p:nvSpPr>
          <p:cNvPr id="17" name="lockshield_9"/>
          <p:cNvSpPr/>
          <p:nvPr/>
        </p:nvSpPr>
        <p:spPr>
          <a:xfrm>
            <a:off x="238125" y="1438275"/>
            <a:ext cx="5686425" cy="51339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lockshield_12"/>
          <p:cNvSpPr/>
          <p:nvPr/>
        </p:nvSpPr>
        <p:spPr>
          <a:xfrm>
            <a:off x="6267450" y="1438275"/>
            <a:ext cx="5686425" cy="51339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Value Analysis, By Source (US$ Mn)</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by Source, 2021–2036, highlighting the sub-segments driving growth</a:t>
            </a:r>
          </a:p>
        </p:txBody>
      </p:sp>
      <p:sp>
        <p:nvSpPr>
          <p:cNvPr id="7" name="Rounded Rectangle 6"/>
          <p:cNvSpPr/>
          <p:nvPr/>
        </p:nvSpPr>
        <p:spPr>
          <a:xfrm>
            <a:off x="142875" y="981075"/>
            <a:ext cx="11906250" cy="1457325"/>
          </a:xfrm>
          <a:prstGeom prst="roundRect">
            <a:avLst>
              <a:gd name="adj" fmla="val 522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By Source (US$ Mn)</a:t>
            </a:r>
          </a:p>
        </p:txBody>
      </p:sp>
      <p:graphicFrame>
        <p:nvGraphicFramePr>
          <p:cNvPr id="9" name="Table 8"/>
          <p:cNvGraphicFramePr>
            <a:graphicFrameLocks noGrp="1"/>
          </p:cNvGraphicFramePr>
          <p:nvPr/>
        </p:nvGraphicFramePr>
        <p:xfrm>
          <a:off x="152400" y="1238250"/>
          <a:ext cx="11887194" cy="990600"/>
        </p:xfrm>
        <a:graphic>
          <a:graphicData uri="http://schemas.openxmlformats.org/drawingml/2006/table">
            <a:tbl>
              <a:tblPr>
                <a:tableStyleId>{5C22544A-7EE6-4342-B048-85BDC9FD1C3A}</a:tableStyleId>
              </a:tblPr>
              <a:tblGrid>
                <a:gridCol w="2208907"/>
                <a:gridCol w="569311"/>
                <a:gridCol w="569311"/>
                <a:gridCol w="569311"/>
                <a:gridCol w="569311"/>
                <a:gridCol w="569311"/>
                <a:gridCol w="569311"/>
                <a:gridCol w="569311"/>
                <a:gridCol w="569311"/>
                <a:gridCol w="569311"/>
                <a:gridCol w="569311"/>
                <a:gridCol w="569311"/>
                <a:gridCol w="569311"/>
                <a:gridCol w="569311"/>
                <a:gridCol w="569311"/>
                <a:gridCol w="569311"/>
                <a:gridCol w="569311"/>
                <a:gridCol w="569311"/>
              </a:tblGrid>
              <a:tr h="246126">
                <a:tc>
                  <a:txBody>
                    <a:bodyPr wrap="none"/>
                    <a:lstStyle/>
                    <a:p>
                      <a:pPr algn="l"/>
                      <a:r>
                        <a:rPr sz="1100" b="1">
                          <a:solidFill>
                            <a:srgbClr val="0E2A5C"/>
                          </a:solidFill>
                          <a:latin typeface="Calibri"/>
                        </a:rPr>
                        <a:t>Source</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2021A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2022A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2023A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2024A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2025A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2026E</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2027F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2028F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2029F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2030F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2031F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2032F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2033F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2034F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2035F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2036F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F-CAGR</a:t>
                      </a:r>
                      <a:endParaRPr sz="1100"/>
                    </a:p>
                  </a:txBody>
                  <a:tcPr marL="47625" marR="38100" marT="19050" marB="19050" anchor="ctr">
                    <a:solidFill>
                      <a:srgbClr val="EBF2F9"/>
                    </a:solidFill>
                  </a:tcPr>
                </a:tc>
              </a:tr>
              <a:tr h="248158">
                <a:tc>
                  <a:txBody>
                    <a:bodyPr wrap="none"/>
                    <a:lstStyle/>
                    <a:p>
                      <a:pPr algn="l"/>
                      <a:r>
                        <a:rPr sz="1100" b="1">
                          <a:solidFill>
                            <a:srgbClr val="2E2E2E"/>
                          </a:solidFill>
                          <a:latin typeface="Calibri"/>
                        </a:rPr>
                        <a:t>Chicken Eggshell Membrane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8158">
                <a:tc>
                  <a:txBody>
                    <a:bodyPr wrap="none"/>
                    <a:lstStyle/>
                    <a:p>
                      <a:pPr algn="l"/>
                      <a:r>
                        <a:rPr sz="1100" b="1">
                          <a:solidFill>
                            <a:srgbClr val="2E2E2E"/>
                          </a:solidFill>
                          <a:latin typeface="Calibri"/>
                        </a:rPr>
                        <a:t>Other Poultry Eggshell Membrane</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8158">
                <a:tc>
                  <a:txBody>
                    <a:bodyPr wrap="none"/>
                    <a:lstStyle/>
                    <a:p>
                      <a:pPr algn="l"/>
                      <a:r>
                        <a:rPr sz="1100" b="1">
                          <a:solidFill>
                            <a:srgbClr val="2E2E2E"/>
                          </a:solidFill>
                          <a:latin typeface="Calibri"/>
                        </a:rPr>
                        <a:t>Total</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r>
            </a:tbl>
          </a:graphicData>
        </a:graphic>
      </p:graphicFrame>
      <p:sp>
        <p:nvSpPr>
          <p:cNvPr id="10" name="TextBox 9"/>
          <p:cNvSpPr txBox="1"/>
          <p:nvPr/>
        </p:nvSpPr>
        <p:spPr>
          <a:xfrm>
            <a:off x="219075" y="223837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11" name="Rounded Rectangle 10"/>
          <p:cNvSpPr/>
          <p:nvPr/>
        </p:nvSpPr>
        <p:spPr>
          <a:xfrm>
            <a:off x="142875" y="2571750"/>
            <a:ext cx="11906250" cy="4057650"/>
          </a:xfrm>
          <a:prstGeom prst="roundRect">
            <a:avLst>
              <a:gd name="adj" fmla="val 1877"/>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6225" y="2657475"/>
            <a:ext cx="11639550" cy="209550"/>
          </a:xfrm>
          <a:prstGeom prst="rect">
            <a:avLst/>
          </a:prstGeom>
          <a:noFill/>
        </p:spPr>
        <p:txBody>
          <a:bodyPr wrap="square" lIns="0" rIns="19050" tIns="9525" bIns="9525">
            <a:spAutoFit/>
          </a:bodyPr>
          <a:lstStyle/>
          <a:p>
            <a:pPr algn="l"/>
            <a:r>
              <a:rPr sz="1300" b="1">
                <a:solidFill>
                  <a:srgbClr val="0E2A5C"/>
                </a:solidFill>
                <a:latin typeface="Calibri"/>
              </a:rPr>
              <a:t>Global Value Analysis, By Source</a:t>
            </a:r>
          </a:p>
        </p:txBody>
      </p:sp>
      <p:sp>
        <p:nvSpPr>
          <p:cNvPr id="13" name="Rectangle 12"/>
          <p:cNvSpPr/>
          <p:nvPr/>
        </p:nvSpPr>
        <p:spPr>
          <a:xfrm>
            <a:off x="276225" y="2895600"/>
            <a:ext cx="116395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6225" y="2981325"/>
            <a:ext cx="11639550" cy="357187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5" name="Rectangle 14"/>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7" name="Picture 16" descr="lock.png"/>
          <p:cNvPicPr>
            <a:picLocks noChangeAspect="1"/>
          </p:cNvPicPr>
          <p:nvPr/>
        </p:nvPicPr>
        <p:blipFill>
          <a:blip r:embed="rId4"/>
          <a:stretch>
            <a:fillRect/>
          </a:stretch>
        </p:blipFill>
        <p:spPr>
          <a:xfrm>
            <a:off x="7013760" y="1589913"/>
            <a:ext cx="366712" cy="533400"/>
          </a:xfrm>
          <a:prstGeom prst="rect">
            <a:avLst/>
          </a:prstGeom>
        </p:spPr>
      </p:pic>
      <p:sp>
        <p:nvSpPr>
          <p:cNvPr id="18" name="TextBox 17"/>
          <p:cNvSpPr txBox="1"/>
          <p:nvPr/>
        </p:nvSpPr>
        <p:spPr>
          <a:xfrm>
            <a:off x="276225" y="2990850"/>
            <a:ext cx="3670969" cy="194310"/>
          </a:xfrm>
          <a:prstGeom prst="rect">
            <a:avLst/>
          </a:prstGeom>
          <a:noFill/>
        </p:spPr>
        <p:txBody>
          <a:bodyPr wrap="none" lIns="0" rIns="0" tIns="0" bIns="0">
            <a:spAutoFit/>
          </a:bodyPr>
          <a:lstStyle/>
          <a:p>
            <a:r>
              <a:rPr sz="1150" b="0">
                <a:solidFill>
                  <a:srgbClr val="2E2E2E"/>
                </a:solidFill>
                <a:latin typeface="Calibri"/>
              </a:rPr>
              <a:t>Chicken eggshell membrane segment is projected to register</a:t>
            </a:r>
          </a:p>
        </p:txBody>
      </p:sp>
      <p:pic>
        <p:nvPicPr>
          <p:cNvPr id="19" name="Picture 18" descr="lock.png"/>
          <p:cNvPicPr>
            <a:picLocks noChangeAspect="1"/>
          </p:cNvPicPr>
          <p:nvPr/>
        </p:nvPicPr>
        <p:blipFill>
          <a:blip r:embed="rId4"/>
          <a:stretch>
            <a:fillRect/>
          </a:stretch>
        </p:blipFill>
        <p:spPr>
          <a:xfrm>
            <a:off x="3896348" y="2980626"/>
            <a:ext cx="134549" cy="195707"/>
          </a:xfrm>
          <a:prstGeom prst="rect">
            <a:avLst/>
          </a:prstGeom>
        </p:spPr>
      </p:pic>
      <p:sp>
        <p:nvSpPr>
          <p:cNvPr id="20" name="TextBox 19"/>
          <p:cNvSpPr txBox="1"/>
          <p:nvPr/>
        </p:nvSpPr>
        <p:spPr>
          <a:xfrm>
            <a:off x="4071457" y="2990850"/>
            <a:ext cx="7804869" cy="194310"/>
          </a:xfrm>
          <a:prstGeom prst="rect">
            <a:avLst/>
          </a:prstGeom>
          <a:noFill/>
        </p:spPr>
        <p:txBody>
          <a:bodyPr wrap="none" lIns="0" rIns="0" tIns="0" bIns="0">
            <a:spAutoFit/>
          </a:bodyPr>
          <a:lstStyle/>
          <a:p>
            <a:r>
              <a:rPr sz="1150" b="0">
                <a:solidFill>
                  <a:srgbClr val="2E2E2E"/>
                </a:solidFill>
                <a:latin typeface="Calibri"/>
              </a:rPr>
              <a:t>X higher value than other poultry eggshell membrane segment in 2036. Among egg protein membrane by source, chicken eggshell</a:t>
            </a:r>
          </a:p>
        </p:txBody>
      </p:sp>
      <p:sp>
        <p:nvSpPr>
          <p:cNvPr id="21" name="TextBox 20"/>
          <p:cNvSpPr txBox="1"/>
          <p:nvPr/>
        </p:nvSpPr>
        <p:spPr>
          <a:xfrm>
            <a:off x="276225" y="3166110"/>
            <a:ext cx="3842960" cy="194310"/>
          </a:xfrm>
          <a:prstGeom prst="rect">
            <a:avLst/>
          </a:prstGeom>
          <a:noFill/>
        </p:spPr>
        <p:txBody>
          <a:bodyPr wrap="none" lIns="0" rIns="0" tIns="0" bIns="0">
            <a:spAutoFit/>
          </a:bodyPr>
          <a:lstStyle/>
          <a:p>
            <a:r>
              <a:rPr sz="1150" b="0">
                <a:solidFill>
                  <a:srgbClr val="2E2E2E"/>
                </a:solidFill>
                <a:latin typeface="Calibri"/>
              </a:rPr>
              <a:t>membrane segment is expected to witness the highest CAGR of</a:t>
            </a:r>
          </a:p>
        </p:txBody>
      </p:sp>
      <p:pic>
        <p:nvPicPr>
          <p:cNvPr id="22" name="Picture 21" descr="lock.png"/>
          <p:cNvPicPr>
            <a:picLocks noChangeAspect="1"/>
          </p:cNvPicPr>
          <p:nvPr/>
        </p:nvPicPr>
        <p:blipFill>
          <a:blip r:embed="rId4"/>
          <a:stretch>
            <a:fillRect/>
          </a:stretch>
        </p:blipFill>
        <p:spPr>
          <a:xfrm>
            <a:off x="4068338" y="3155886"/>
            <a:ext cx="134549" cy="195707"/>
          </a:xfrm>
          <a:prstGeom prst="rect">
            <a:avLst/>
          </a:prstGeom>
        </p:spPr>
      </p:pic>
      <p:sp>
        <p:nvSpPr>
          <p:cNvPr id="23" name="TextBox 22"/>
          <p:cNvSpPr txBox="1"/>
          <p:nvPr/>
        </p:nvSpPr>
        <p:spPr>
          <a:xfrm>
            <a:off x="4243448" y="3166110"/>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24" name="TextBox 23"/>
          <p:cNvSpPr txBox="1"/>
          <p:nvPr/>
        </p:nvSpPr>
        <p:spPr>
          <a:xfrm>
            <a:off x="276225" y="3393947"/>
            <a:ext cx="9158113" cy="194310"/>
          </a:xfrm>
          <a:prstGeom prst="rect">
            <a:avLst/>
          </a:prstGeom>
          <a:noFill/>
        </p:spPr>
        <p:txBody>
          <a:bodyPr wrap="none" lIns="0" rIns="0" tIns="0" bIns="0">
            <a:spAutoFit/>
          </a:bodyPr>
          <a:lstStyle/>
          <a:p>
            <a:r>
              <a:rPr sz="1150" b="0">
                <a:solidFill>
                  <a:srgbClr val="2E2E2E"/>
                </a:solidFill>
                <a:latin typeface="Calibri"/>
              </a:rPr>
              <a:t>In terms of value share by source, the chicken eggshell membrane segment is expected to dominate the market, maintaining its share and accounting for</a:t>
            </a:r>
          </a:p>
        </p:txBody>
      </p:sp>
      <p:pic>
        <p:nvPicPr>
          <p:cNvPr id="25" name="Picture 24" descr="lock.png"/>
          <p:cNvPicPr>
            <a:picLocks noChangeAspect="1"/>
          </p:cNvPicPr>
          <p:nvPr/>
        </p:nvPicPr>
        <p:blipFill>
          <a:blip r:embed="rId4"/>
          <a:stretch>
            <a:fillRect/>
          </a:stretch>
        </p:blipFill>
        <p:spPr>
          <a:xfrm>
            <a:off x="9383492" y="3383724"/>
            <a:ext cx="134549" cy="195707"/>
          </a:xfrm>
          <a:prstGeom prst="rect">
            <a:avLst/>
          </a:prstGeom>
        </p:spPr>
      </p:pic>
      <p:sp>
        <p:nvSpPr>
          <p:cNvPr id="26" name="TextBox 25"/>
          <p:cNvSpPr txBox="1"/>
          <p:nvPr/>
        </p:nvSpPr>
        <p:spPr>
          <a:xfrm>
            <a:off x="9558602" y="3393947"/>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Value &amp; Share Shift, By Source</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Value composition by Source in 2021, 2026 and 2036, highlighting share shifts in basis points</a:t>
            </a:r>
          </a:p>
        </p:txBody>
      </p:sp>
      <p:sp>
        <p:nvSpPr>
          <p:cNvPr id="7" name="Rounded Rectangle 6"/>
          <p:cNvSpPr/>
          <p:nvPr/>
        </p:nvSpPr>
        <p:spPr>
          <a:xfrm>
            <a:off x="142875" y="981075"/>
            <a:ext cx="7400925" cy="5648325"/>
          </a:xfrm>
          <a:prstGeom prst="roundRect">
            <a:avLst>
              <a:gd name="adj" fmla="val 134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7210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Composition, By Source ·  2021 / 2026 / 2036 (US$ Mn)  ·  right axis = BPS share shift</a:t>
            </a:r>
          </a:p>
        </p:txBody>
      </p:sp>
      <p:graphicFrame>
        <p:nvGraphicFramePr>
          <p:cNvPr id="9" name="Chart 8"/>
          <p:cNvGraphicFramePr>
            <a:graphicFrameLocks noGrp="1"/>
          </p:cNvGraphicFramePr>
          <p:nvPr/>
        </p:nvGraphicFramePr>
        <p:xfrm>
          <a:off x="238125" y="1409700"/>
          <a:ext cx="4614672" cy="5162550"/>
        </p:xfrm>
        <a:graphic>
          <a:graphicData uri="http://schemas.openxmlformats.org/drawingml/2006/chart">
            <c:chart xmlns:c="http://schemas.openxmlformats.org/drawingml/2006/chart" r:id="rId3"/>
          </a:graphicData>
        </a:graphic>
      </p:graphicFrame>
      <p:sp>
        <p:nvSpPr>
          <p:cNvPr id="10" name="TextBox 9"/>
          <p:cNvSpPr txBox="1"/>
          <p:nvPr/>
        </p:nvSpPr>
        <p:spPr>
          <a:xfrm>
            <a:off x="4852797" y="1419225"/>
            <a:ext cx="2595753" cy="177927"/>
          </a:xfrm>
          <a:prstGeom prst="rect">
            <a:avLst/>
          </a:prstGeom>
          <a:noFill/>
        </p:spPr>
        <p:txBody>
          <a:bodyPr wrap="square" lIns="28575" rIns="28575" tIns="9525" bIns="9525" anchor="ctr">
            <a:spAutoFit/>
          </a:bodyPr>
          <a:lstStyle/>
          <a:p>
            <a:pPr algn="ctr"/>
            <a:r>
              <a:rPr sz="1300" b="1">
                <a:solidFill>
                  <a:srgbClr val="2A5F8F"/>
                </a:solidFill>
                <a:latin typeface="Calibri"/>
              </a:rPr>
              <a:t>BPS Δ  (2021→2036)</a:t>
            </a:r>
          </a:p>
        </p:txBody>
      </p:sp>
      <p:sp>
        <p:nvSpPr>
          <p:cNvPr id="11" name="TMR Lock Anchor"/>
          <p:cNvSpPr txBox="1"/>
          <p:nvPr/>
        </p:nvSpPr>
        <p:spPr>
          <a:xfrm>
            <a:off x="2678811" y="3932301"/>
            <a:ext cx="38100" cy="38100"/>
          </a:xfrm>
          <a:prstGeom prst="rect">
            <a:avLst/>
          </a:prstGeom>
          <a:noFill/>
        </p:spPr>
        <p:txBody>
          <a:bodyPr wrap="none">
            <a:spAutoFit/>
          </a:bodyPr>
          <a:lstStyle/>
          <a:p/>
        </p:txBody>
      </p:sp>
      <p:sp>
        <p:nvSpPr>
          <p:cNvPr id="12" name="TMR Legend Chip"/>
          <p:cNvSpPr/>
          <p:nvPr/>
        </p:nvSpPr>
        <p:spPr>
          <a:xfrm>
            <a:off x="4928997" y="1934109"/>
            <a:ext cx="85725" cy="85725"/>
          </a:xfrm>
          <a:prstGeom prst="rect">
            <a:avLst/>
          </a:prstGeom>
          <a:solidFill>
            <a:srgbClr val="0081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Isosceles Triangle 12"/>
          <p:cNvSpPr/>
          <p:nvPr/>
        </p:nvSpPr>
        <p:spPr>
          <a:xfrm rot="10800000">
            <a:off x="5090922" y="1929346"/>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BPS Name 1"/>
          <p:cNvSpPr txBox="1"/>
          <p:nvPr/>
        </p:nvSpPr>
        <p:spPr>
          <a:xfrm>
            <a:off x="5233797" y="1853146"/>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Other Poultry Eggshell Membrane</a:t>
            </a:r>
          </a:p>
        </p:txBody>
      </p:sp>
      <p:sp>
        <p:nvSpPr>
          <p:cNvPr id="15" name="BPS Value 1"/>
          <p:cNvSpPr txBox="1"/>
          <p:nvPr/>
        </p:nvSpPr>
        <p:spPr>
          <a:xfrm>
            <a:off x="6896100" y="1915059"/>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16" name="TMR Legend Chip"/>
          <p:cNvSpPr/>
          <p:nvPr/>
        </p:nvSpPr>
        <p:spPr>
          <a:xfrm>
            <a:off x="4928997" y="4302595"/>
            <a:ext cx="85725" cy="85725"/>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Isosceles Triangle 16"/>
          <p:cNvSpPr/>
          <p:nvPr/>
        </p:nvSpPr>
        <p:spPr>
          <a:xfrm>
            <a:off x="5090922" y="4297833"/>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PS Name 2"/>
          <p:cNvSpPr txBox="1"/>
          <p:nvPr/>
        </p:nvSpPr>
        <p:spPr>
          <a:xfrm>
            <a:off x="5233797" y="4221633"/>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Chicken Eggshell Membrane</a:t>
            </a:r>
          </a:p>
        </p:txBody>
      </p:sp>
      <p:sp>
        <p:nvSpPr>
          <p:cNvPr id="19" name="BPS Value 2"/>
          <p:cNvSpPr txBox="1"/>
          <p:nvPr/>
        </p:nvSpPr>
        <p:spPr>
          <a:xfrm>
            <a:off x="6896100" y="4283545"/>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0" name="Rounded Rectangle 19"/>
          <p:cNvSpPr/>
          <p:nvPr/>
        </p:nvSpPr>
        <p:spPr>
          <a:xfrm>
            <a:off x="7696200" y="981075"/>
            <a:ext cx="4343400" cy="5648325"/>
          </a:xfrm>
          <a:prstGeom prst="roundRect">
            <a:avLst>
              <a:gd name="adj" fmla="val 1754"/>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E2A5C"/>
                </a:solidFill>
                <a:latin typeface="Calibri"/>
              </a:rPr>
              <a:t>Global Read-out, By Source</a:t>
            </a:r>
          </a:p>
        </p:txBody>
      </p:sp>
      <p:sp>
        <p:nvSpPr>
          <p:cNvPr id="22" name="Rectangle 21"/>
          <p:cNvSpPr/>
          <p:nvPr/>
        </p:nvSpPr>
        <p:spPr>
          <a:xfrm>
            <a:off x="7829550" y="1304925"/>
            <a:ext cx="407670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24" name="Rectangle 23"/>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26" name="Picture 25" descr="lock.png"/>
          <p:cNvPicPr>
            <a:picLocks noChangeAspect="1"/>
          </p:cNvPicPr>
          <p:nvPr/>
        </p:nvPicPr>
        <p:blipFill>
          <a:blip r:embed="rId5"/>
          <a:stretch>
            <a:fillRect/>
          </a:stretch>
        </p:blipFill>
        <p:spPr>
          <a:xfrm>
            <a:off x="2557843" y="3751325"/>
            <a:ext cx="275034" cy="400050"/>
          </a:xfrm>
          <a:prstGeom prst="rect">
            <a:avLst/>
          </a:prstGeom>
        </p:spPr>
      </p:pic>
      <p:sp>
        <p:nvSpPr>
          <p:cNvPr id="27" name="TextBox 26"/>
          <p:cNvSpPr txBox="1"/>
          <p:nvPr/>
        </p:nvSpPr>
        <p:spPr>
          <a:xfrm>
            <a:off x="7829550" y="1400175"/>
            <a:ext cx="3542034" cy="194310"/>
          </a:xfrm>
          <a:prstGeom prst="rect">
            <a:avLst/>
          </a:prstGeom>
          <a:noFill/>
        </p:spPr>
        <p:txBody>
          <a:bodyPr wrap="none" lIns="0" rIns="0" tIns="0" bIns="0">
            <a:spAutoFit/>
          </a:bodyPr>
          <a:lstStyle/>
          <a:p>
            <a:r>
              <a:rPr sz="1150" b="0">
                <a:solidFill>
                  <a:srgbClr val="2E2E2E"/>
                </a:solidFill>
                <a:latin typeface="Calibri"/>
              </a:rPr>
              <a:t>Among egg protein membrane by source, chicken eggshell</a:t>
            </a:r>
          </a:p>
        </p:txBody>
      </p:sp>
      <p:sp>
        <p:nvSpPr>
          <p:cNvPr id="28" name="TextBox 27"/>
          <p:cNvSpPr txBox="1"/>
          <p:nvPr/>
        </p:nvSpPr>
        <p:spPr>
          <a:xfrm>
            <a:off x="7829550" y="1575435"/>
            <a:ext cx="3842960" cy="194310"/>
          </a:xfrm>
          <a:prstGeom prst="rect">
            <a:avLst/>
          </a:prstGeom>
          <a:noFill/>
        </p:spPr>
        <p:txBody>
          <a:bodyPr wrap="none" lIns="0" rIns="0" tIns="0" bIns="0">
            <a:spAutoFit/>
          </a:bodyPr>
          <a:lstStyle/>
          <a:p>
            <a:r>
              <a:rPr sz="1150" b="0">
                <a:solidFill>
                  <a:srgbClr val="2E2E2E"/>
                </a:solidFill>
                <a:latin typeface="Calibri"/>
              </a:rPr>
              <a:t>membrane segment is expected to witness the highest CAGR of</a:t>
            </a:r>
          </a:p>
        </p:txBody>
      </p:sp>
      <p:pic>
        <p:nvPicPr>
          <p:cNvPr id="29" name="Picture 28" descr="lock.png"/>
          <p:cNvPicPr>
            <a:picLocks noChangeAspect="1"/>
          </p:cNvPicPr>
          <p:nvPr/>
        </p:nvPicPr>
        <p:blipFill>
          <a:blip r:embed="rId5"/>
          <a:stretch>
            <a:fillRect/>
          </a:stretch>
        </p:blipFill>
        <p:spPr>
          <a:xfrm>
            <a:off x="11621663" y="1565211"/>
            <a:ext cx="134549" cy="195707"/>
          </a:xfrm>
          <a:prstGeom prst="rect">
            <a:avLst/>
          </a:prstGeom>
        </p:spPr>
      </p:pic>
      <p:sp>
        <p:nvSpPr>
          <p:cNvPr id="30" name="TextBox 29"/>
          <p:cNvSpPr txBox="1"/>
          <p:nvPr/>
        </p:nvSpPr>
        <p:spPr>
          <a:xfrm>
            <a:off x="7829550" y="1750695"/>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31" name="TextBox 30"/>
          <p:cNvSpPr txBox="1"/>
          <p:nvPr/>
        </p:nvSpPr>
        <p:spPr>
          <a:xfrm>
            <a:off x="7829550" y="1978533"/>
            <a:ext cx="3997014" cy="194310"/>
          </a:xfrm>
          <a:prstGeom prst="rect">
            <a:avLst/>
          </a:prstGeom>
          <a:noFill/>
        </p:spPr>
        <p:txBody>
          <a:bodyPr wrap="none" lIns="0" rIns="0" tIns="0" bIns="0">
            <a:spAutoFit/>
          </a:bodyPr>
          <a:lstStyle/>
          <a:p>
            <a:r>
              <a:rPr sz="1150" b="0">
                <a:solidFill>
                  <a:srgbClr val="2E2E2E"/>
                </a:solidFill>
                <a:latin typeface="Calibri"/>
              </a:rPr>
              <a:t>In terms of value share by source, the chicken eggshell membrane</a:t>
            </a:r>
          </a:p>
        </p:txBody>
      </p:sp>
      <p:sp>
        <p:nvSpPr>
          <p:cNvPr id="32" name="TextBox 31"/>
          <p:cNvSpPr txBox="1"/>
          <p:nvPr/>
        </p:nvSpPr>
        <p:spPr>
          <a:xfrm>
            <a:off x="7829550" y="2153793"/>
            <a:ext cx="4056633" cy="194310"/>
          </a:xfrm>
          <a:prstGeom prst="rect">
            <a:avLst/>
          </a:prstGeom>
          <a:noFill/>
        </p:spPr>
        <p:txBody>
          <a:bodyPr wrap="none" lIns="0" rIns="0" tIns="0" bIns="0">
            <a:spAutoFit/>
          </a:bodyPr>
          <a:lstStyle/>
          <a:p>
            <a:r>
              <a:rPr sz="1150" b="0">
                <a:solidFill>
                  <a:srgbClr val="2E2E2E"/>
                </a:solidFill>
                <a:latin typeface="Calibri"/>
              </a:rPr>
              <a:t>segment is expected to dominate the market, maintaining its share</a:t>
            </a:r>
          </a:p>
        </p:txBody>
      </p:sp>
      <p:sp>
        <p:nvSpPr>
          <p:cNvPr id="33" name="TextBox 32"/>
          <p:cNvSpPr txBox="1"/>
          <p:nvPr/>
        </p:nvSpPr>
        <p:spPr>
          <a:xfrm>
            <a:off x="7829550" y="2329053"/>
            <a:ext cx="1190687" cy="194310"/>
          </a:xfrm>
          <a:prstGeom prst="rect">
            <a:avLst/>
          </a:prstGeom>
          <a:noFill/>
        </p:spPr>
        <p:txBody>
          <a:bodyPr wrap="none" lIns="0" rIns="0" tIns="0" bIns="0">
            <a:spAutoFit/>
          </a:bodyPr>
          <a:lstStyle/>
          <a:p>
            <a:r>
              <a:rPr sz="1150" b="0">
                <a:solidFill>
                  <a:srgbClr val="2E2E2E"/>
                </a:solidFill>
                <a:latin typeface="Calibri"/>
              </a:rPr>
              <a:t>and accounting for</a:t>
            </a:r>
          </a:p>
        </p:txBody>
      </p:sp>
      <p:pic>
        <p:nvPicPr>
          <p:cNvPr id="34" name="Picture 33" descr="lock.png"/>
          <p:cNvPicPr>
            <a:picLocks noChangeAspect="1"/>
          </p:cNvPicPr>
          <p:nvPr/>
        </p:nvPicPr>
        <p:blipFill>
          <a:blip r:embed="rId5"/>
          <a:stretch>
            <a:fillRect/>
          </a:stretch>
        </p:blipFill>
        <p:spPr>
          <a:xfrm>
            <a:off x="8969390" y="2318829"/>
            <a:ext cx="134549" cy="195707"/>
          </a:xfrm>
          <a:prstGeom prst="rect">
            <a:avLst/>
          </a:prstGeom>
        </p:spPr>
      </p:pic>
      <p:sp>
        <p:nvSpPr>
          <p:cNvPr id="35" name="TextBox 34"/>
          <p:cNvSpPr txBox="1"/>
          <p:nvPr/>
        </p:nvSpPr>
        <p:spPr>
          <a:xfrm>
            <a:off x="9144500" y="2329053"/>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36" name="lockshield_9"/>
          <p:cNvSpPr/>
          <p:nvPr/>
        </p:nvSpPr>
        <p:spPr>
          <a:xfrm>
            <a:off x="238125" y="1409700"/>
            <a:ext cx="4614672" cy="51625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3F8FD"/>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3F8FD"/>
              </a:gs>
              <a:gs pos="100000">
                <a:srgbClr val="DCE9F6"/>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FE0F0">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9C8E6">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B7D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A5F8F"/>
              </a:gs>
              <a:gs pos="100000">
                <a:srgbClr val="6FA6D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MR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7.4</a:t>
            </a:r>
          </a:p>
        </p:txBody>
      </p:sp>
      <p:pic>
        <p:nvPicPr>
          <p:cNvPr id="8" name="Picture 7" descr="tmr_logo.png"/>
          <p:cNvPicPr>
            <a:picLocks noChangeAspect="1"/>
          </p:cNvPicPr>
          <p:nvPr/>
        </p:nvPicPr>
        <p:blipFill>
          <a:blip r:embed="rId2"/>
          <a:stretch>
            <a:fillRect/>
          </a:stretch>
        </p:blipFill>
        <p:spPr>
          <a:xfrm>
            <a:off x="411480" y="274320"/>
            <a:ext cx="1307592" cy="975505"/>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2A5F8F"/>
                </a:solidFill>
                <a:latin typeface="Calibri"/>
              </a:rPr>
              <a:t>Egg Protein Membrane Market</a:t>
            </a:r>
          </a:p>
        </p:txBody>
      </p:sp>
      <p:sp>
        <p:nvSpPr>
          <p:cNvPr id="10" name="TMR Section Title"/>
          <p:cNvSpPr txBox="1"/>
          <p:nvPr/>
        </p:nvSpPr>
        <p:spPr>
          <a:xfrm>
            <a:off x="914400" y="2701925"/>
            <a:ext cx="8572500" cy="514350"/>
          </a:xfrm>
          <a:prstGeom prst="rect">
            <a:avLst/>
          </a:prstGeom>
          <a:noFill/>
        </p:spPr>
        <p:txBody>
          <a:bodyPr wrap="square" lIns="0" rIns="0" tIns="0">
            <a:spAutoFit/>
          </a:bodyPr>
          <a:lstStyle/>
          <a:p>
            <a:r>
              <a:rPr sz="3000" b="1">
                <a:solidFill>
                  <a:srgbClr val="0E2A5C"/>
                </a:solidFill>
                <a:latin typeface="Calibri"/>
              </a:rPr>
              <a:t>Form</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Form Segment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Structure &amp; Attractiveness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Value Analysis</a:t>
            </a:r>
          </a:p>
        </p:txBody>
      </p:sp>
      <p:sp>
        <p:nvSpPr>
          <p:cNvPr id="12" name="Rectangle 11"/>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By Form Segment Outlook</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Segment analysis of market size, growth and share across 2 sub-segments of Form, 2026–2036</a:t>
            </a:r>
          </a:p>
        </p:txBody>
      </p:sp>
      <p:sp>
        <p:nvSpPr>
          <p:cNvPr id="7" name="TextBox 6"/>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Form segment categorizes the market by form. Each sub-category is evaluated on market size, growth outlook and adoption trends across the forecast period.</a:t>
            </a:r>
          </a:p>
        </p:txBody>
      </p:sp>
      <p:sp>
        <p:nvSpPr>
          <p:cNvPr id="8" name="Rectangle 7"/>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Sub-Segment</a:t>
            </a:r>
          </a:p>
        </p:txBody>
      </p:sp>
      <p:sp>
        <p:nvSpPr>
          <p:cNvPr id="10" name="Rectangle 9"/>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2" name="Rectangle 11"/>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4" name="Rectangle 13"/>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16" name="Rounded Rectangle 15"/>
          <p:cNvSpPr/>
          <p:nvPr/>
        </p:nvSpPr>
        <p:spPr>
          <a:xfrm>
            <a:off x="1866900" y="1773916"/>
            <a:ext cx="4943475"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866900" y="1992961"/>
            <a:ext cx="4943475"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905000" y="1773916"/>
            <a:ext cx="4867275" cy="438089"/>
          </a:xfrm>
          <a:prstGeom prst="rect">
            <a:avLst/>
          </a:prstGeom>
          <a:noFill/>
        </p:spPr>
        <p:txBody>
          <a:bodyPr wrap="square" lIns="28575" rIns="28575" tIns="9525" bIns="9525" anchor="ctr">
            <a:spAutoFit/>
          </a:bodyPr>
          <a:lstStyle/>
          <a:p>
            <a:pPr algn="ctr"/>
            <a:r>
              <a:rPr sz="1100" b="1">
                <a:solidFill>
                  <a:srgbClr val="FFFFFF"/>
                </a:solidFill>
                <a:latin typeface="Calibri"/>
              </a:rPr>
              <a:t>Liquid / Concentrate</a:t>
            </a:r>
          </a:p>
        </p:txBody>
      </p:sp>
      <p:sp>
        <p:nvSpPr>
          <p:cNvPr id="19" name="Rectangle 18"/>
          <p:cNvSpPr/>
          <p:nvPr/>
        </p:nvSpPr>
        <p:spPr>
          <a:xfrm>
            <a:off x="1866900" y="22302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0" name="Rectangle 19"/>
          <p:cNvSpPr/>
          <p:nvPr/>
        </p:nvSpPr>
        <p:spPr>
          <a:xfrm>
            <a:off x="1866900" y="2723109"/>
            <a:ext cx="494347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1" name="Rectangle 20"/>
          <p:cNvSpPr/>
          <p:nvPr/>
        </p:nvSpPr>
        <p:spPr>
          <a:xfrm>
            <a:off x="1866900" y="32159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2" name="Oval 21"/>
          <p:cNvSpPr/>
          <p:nvPr/>
        </p:nvSpPr>
        <p:spPr>
          <a:xfrm>
            <a:off x="4176712"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23" name="Rounded Rectangle 22"/>
          <p:cNvSpPr/>
          <p:nvPr/>
        </p:nvSpPr>
        <p:spPr>
          <a:xfrm>
            <a:off x="6924675" y="1773916"/>
            <a:ext cx="4943475"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924675" y="1992961"/>
            <a:ext cx="4943475"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962775" y="1773916"/>
            <a:ext cx="4867275" cy="438089"/>
          </a:xfrm>
          <a:prstGeom prst="rect">
            <a:avLst/>
          </a:prstGeom>
          <a:noFill/>
        </p:spPr>
        <p:txBody>
          <a:bodyPr wrap="square" lIns="28575" rIns="28575" tIns="9525" bIns="9525" anchor="ctr">
            <a:spAutoFit/>
          </a:bodyPr>
          <a:lstStyle/>
          <a:p>
            <a:pPr algn="ctr"/>
            <a:r>
              <a:rPr sz="1100" b="1">
                <a:solidFill>
                  <a:srgbClr val="FFFFFF"/>
                </a:solidFill>
                <a:latin typeface="Calibri"/>
              </a:rPr>
              <a:t>Powder</a:t>
            </a:r>
          </a:p>
        </p:txBody>
      </p:sp>
      <p:sp>
        <p:nvSpPr>
          <p:cNvPr id="26" name="Rectangle 25"/>
          <p:cNvSpPr/>
          <p:nvPr/>
        </p:nvSpPr>
        <p:spPr>
          <a:xfrm>
            <a:off x="6924675" y="22302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27" name="Rectangle 26"/>
          <p:cNvSpPr/>
          <p:nvPr/>
        </p:nvSpPr>
        <p:spPr>
          <a:xfrm>
            <a:off x="6924675" y="2723109"/>
            <a:ext cx="494347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28" name="Rectangle 27"/>
          <p:cNvSpPr/>
          <p:nvPr/>
        </p:nvSpPr>
        <p:spPr>
          <a:xfrm>
            <a:off x="6924675" y="32159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29" name="Oval 28"/>
          <p:cNvSpPr/>
          <p:nvPr/>
        </p:nvSpPr>
        <p:spPr>
          <a:xfrm>
            <a:off x="9234488"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30" name="Rounded Rectangle 29"/>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B2E4A"/>
                </a:solidFill>
                <a:latin typeface="Calibri"/>
              </a:rPr>
              <a:t>Key Highlights</a:t>
            </a:r>
          </a:p>
        </p:txBody>
      </p:sp>
      <p:sp>
        <p:nvSpPr>
          <p:cNvPr id="32" name="Rectangle 31"/>
          <p:cNvSpPr/>
          <p:nvPr/>
        </p:nvSpPr>
        <p:spPr>
          <a:xfrm>
            <a:off x="457200" y="4146897"/>
            <a:ext cx="2971800" cy="18254"/>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57200" y="4219912"/>
            <a:ext cx="29718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2E2E2E"/>
                </a:solidFill>
                <a:latin typeface="Calibri"/>
              </a:rPr>
              <a:t/>
            </a:r>
          </a:p>
          <a:p>
            <a:pPr algn="l">
              <a:lnSpc>
                <a:spcPct val="110000"/>
              </a:lnSpc>
              <a:spcBef>
                <a:spcPts val="0"/>
              </a:spcBef>
              <a:spcAft>
                <a:spcPts val="500"/>
              </a:spcAft>
            </a:pPr>
            <a:r>
              <a:rPr sz="1100" b="0">
                <a:solidFill>
                  <a:srgbClr val="2E2E2E"/>
                </a:solidFill>
                <a:latin typeface="Calibri"/>
              </a:rPr>
              <a:t/>
            </a:r>
          </a:p>
        </p:txBody>
      </p:sp>
      <p:sp>
        <p:nvSpPr>
          <p:cNvPr id="34" name="Rounded Rectangle 33"/>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B2E4A"/>
                </a:solidFill>
                <a:latin typeface="Calibri"/>
              </a:rPr>
              <a:t>Sub-Segment Insights</a:t>
            </a:r>
          </a:p>
        </p:txBody>
      </p:sp>
      <p:sp>
        <p:nvSpPr>
          <p:cNvPr id="36" name="Rectangle 35"/>
          <p:cNvSpPr/>
          <p:nvPr/>
        </p:nvSpPr>
        <p:spPr>
          <a:xfrm>
            <a:off x="3810000" y="4146897"/>
            <a:ext cx="4210050" cy="18254"/>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B2E4A"/>
                </a:solidFill>
                <a:latin typeface="Calibri"/>
              </a:rPr>
              <a:t/>
            </a:r>
            <a:r>
              <a:rPr sz="1100" b="1">
                <a:solidFill>
                  <a:srgbClr val="0B2E4A"/>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1">
                <a:solidFill>
                  <a:srgbClr val="0E72AE"/>
                </a:solidFill>
                <a:latin typeface="Calibri"/>
              </a:rPr>
              <a:t/>
            </a:r>
            <a:r>
              <a:rPr sz="1100" b="0">
                <a:solidFill>
                  <a:srgbClr val="2E2E2E"/>
                </a:solidFill>
                <a:latin typeface="Calibri"/>
              </a:rPr>
              <a:t/>
            </a:r>
          </a:p>
        </p:txBody>
      </p:sp>
      <p:sp>
        <p:nvSpPr>
          <p:cNvPr id="38" name="Rounded Rectangle 37"/>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B2E4A"/>
                </a:solidFill>
                <a:latin typeface="Calibri"/>
              </a:rPr>
              <a:t>Segment Overview</a:t>
            </a:r>
          </a:p>
        </p:txBody>
      </p:sp>
      <p:sp>
        <p:nvSpPr>
          <p:cNvPr id="40" name="Rectangle 39"/>
          <p:cNvSpPr/>
          <p:nvPr/>
        </p:nvSpPr>
        <p:spPr>
          <a:xfrm>
            <a:off x="8401050" y="4146897"/>
            <a:ext cx="3333750" cy="18254"/>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00ACAC"/>
                </a:solidFill>
                <a:latin typeface="Calibri"/>
              </a:rPr>
              <a:t>✓  </a:t>
            </a:r>
            <a:r>
              <a:rPr sz="1100" b="0">
                <a:solidFill>
                  <a:srgbClr val="2E2E2E"/>
                </a:solidFill>
                <a:latin typeface="Calibri"/>
              </a:rPr>
              <a:t>The Form split shows how demand is distributed across form types and where growth concentrates.</a:t>
            </a:r>
          </a:p>
          <a:p>
            <a:pPr algn="l">
              <a:lnSpc>
                <a:spcPct val="110000"/>
              </a:lnSpc>
              <a:spcBef>
                <a:spcPts val="0"/>
              </a:spcBef>
              <a:spcAft>
                <a:spcPts val="500"/>
              </a:spcAft>
            </a:pPr>
            <a:r>
              <a:rPr sz="1100" b="1">
                <a:solidFill>
                  <a:srgbClr val="00ACAC"/>
                </a:solidFill>
                <a:latin typeface="Calibri"/>
              </a:rPr>
              <a:t>✓  </a:t>
            </a:r>
            <a:r>
              <a:rPr sz="1100" b="0">
                <a:solidFill>
                  <a:srgbClr val="2E2E2E"/>
                </a:solidFill>
                <a:latin typeface="Calibri"/>
              </a:rPr>
              <a:t>Shifting preferences and product innovation are reshaping the mix through 2036.</a:t>
            </a:r>
          </a:p>
        </p:txBody>
      </p:sp>
      <p:sp>
        <p:nvSpPr>
          <p:cNvPr id="42" name="Rectangle 41"/>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B2E4A"/>
                </a:solidFill>
                <a:latin typeface="Calibri"/>
              </a:rPr>
              <a:t/>
            </a:r>
          </a:p>
        </p:txBody>
      </p:sp>
      <p:sp>
        <p:nvSpPr>
          <p:cNvPr id="44" name="TextBox 43"/>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TMR Analysis, 2026</a:t>
            </a:r>
          </a:p>
        </p:txBody>
      </p:sp>
      <p:sp>
        <p:nvSpPr>
          <p:cNvPr id="45" name="Rectangle 44"/>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47" name="Picture 46" descr="8_516_605E5C.png"/>
          <p:cNvPicPr>
            <a:picLocks noChangeAspect="1"/>
          </p:cNvPicPr>
          <p:nvPr/>
        </p:nvPicPr>
        <p:blipFill>
          <a:blip r:embed="rId4"/>
          <a:stretch>
            <a:fillRect/>
          </a:stretch>
        </p:blipFill>
        <p:spPr>
          <a:xfrm>
            <a:off x="3740773" y="2286582"/>
            <a:ext cx="1195728" cy="361950"/>
          </a:xfrm>
          <a:prstGeom prst="rect">
            <a:avLst/>
          </a:prstGeom>
        </p:spPr>
      </p:pic>
      <p:pic>
        <p:nvPicPr>
          <p:cNvPr id="48" name="Picture 47" descr="13_974_605E5C.png"/>
          <p:cNvPicPr>
            <a:picLocks noChangeAspect="1"/>
          </p:cNvPicPr>
          <p:nvPr/>
        </p:nvPicPr>
        <p:blipFill>
          <a:blip r:embed="rId5"/>
          <a:stretch>
            <a:fillRect/>
          </a:stretch>
        </p:blipFill>
        <p:spPr>
          <a:xfrm>
            <a:off x="3634127" y="2779432"/>
            <a:ext cx="1409020" cy="361950"/>
          </a:xfrm>
          <a:prstGeom prst="rect">
            <a:avLst/>
          </a:prstGeom>
        </p:spPr>
      </p:pic>
      <p:pic>
        <p:nvPicPr>
          <p:cNvPr id="49" name="Picture 48" descr="5_1__605E5C.png"/>
          <p:cNvPicPr>
            <a:picLocks noChangeAspect="1"/>
          </p:cNvPicPr>
          <p:nvPr/>
        </p:nvPicPr>
        <p:blipFill>
          <a:blip r:embed="rId6"/>
          <a:stretch>
            <a:fillRect/>
          </a:stretch>
        </p:blipFill>
        <p:spPr>
          <a:xfrm>
            <a:off x="3847419" y="3272281"/>
            <a:ext cx="982436" cy="361950"/>
          </a:xfrm>
          <a:prstGeom prst="rect">
            <a:avLst/>
          </a:prstGeom>
        </p:spPr>
      </p:pic>
      <p:pic>
        <p:nvPicPr>
          <p:cNvPr id="50" name="Picture 49" descr="2_384_605E5C.png"/>
          <p:cNvPicPr>
            <a:picLocks noChangeAspect="1"/>
          </p:cNvPicPr>
          <p:nvPr/>
        </p:nvPicPr>
        <p:blipFill>
          <a:blip r:embed="rId7"/>
          <a:stretch>
            <a:fillRect/>
          </a:stretch>
        </p:blipFill>
        <p:spPr>
          <a:xfrm>
            <a:off x="8798548" y="2286582"/>
            <a:ext cx="1195728" cy="361950"/>
          </a:xfrm>
          <a:prstGeom prst="rect">
            <a:avLst/>
          </a:prstGeom>
        </p:spPr>
      </p:pic>
      <p:pic>
        <p:nvPicPr>
          <p:cNvPr id="51" name="Picture 50" descr="3_705_605E5C.png"/>
          <p:cNvPicPr>
            <a:picLocks noChangeAspect="1"/>
          </p:cNvPicPr>
          <p:nvPr/>
        </p:nvPicPr>
        <p:blipFill>
          <a:blip r:embed="rId8"/>
          <a:stretch>
            <a:fillRect/>
          </a:stretch>
        </p:blipFill>
        <p:spPr>
          <a:xfrm>
            <a:off x="8798548" y="2779432"/>
            <a:ext cx="1195728" cy="361950"/>
          </a:xfrm>
          <a:prstGeom prst="rect">
            <a:avLst/>
          </a:prstGeom>
        </p:spPr>
      </p:pic>
      <p:pic>
        <p:nvPicPr>
          <p:cNvPr id="52" name="Picture 51" descr="4_5__605E5C.png"/>
          <p:cNvPicPr>
            <a:picLocks noChangeAspect="1"/>
          </p:cNvPicPr>
          <p:nvPr/>
        </p:nvPicPr>
        <p:blipFill>
          <a:blip r:embed="rId9"/>
          <a:stretch>
            <a:fillRect/>
          </a:stretch>
        </p:blipFill>
        <p:spPr>
          <a:xfrm>
            <a:off x="8905194" y="3272281"/>
            <a:ext cx="982436" cy="361950"/>
          </a:xfrm>
          <a:prstGeom prst="rect">
            <a:avLst/>
          </a:prstGeom>
        </p:spPr>
      </p:pic>
      <p:pic>
        <p:nvPicPr>
          <p:cNvPr id="53" name="Picture 52" descr="lock.png"/>
          <p:cNvPicPr>
            <a:picLocks noChangeAspect="1"/>
          </p:cNvPicPr>
          <p:nvPr/>
        </p:nvPicPr>
        <p:blipFill>
          <a:blip r:embed="rId10"/>
          <a:stretch>
            <a:fillRect/>
          </a:stretch>
        </p:blipFill>
        <p:spPr>
          <a:xfrm>
            <a:off x="4230493" y="2805915"/>
            <a:ext cx="212425" cy="308982"/>
          </a:xfrm>
          <a:prstGeom prst="rect">
            <a:avLst/>
          </a:prstGeom>
        </p:spPr>
      </p:pic>
      <p:pic>
        <p:nvPicPr>
          <p:cNvPr id="54" name="Picture 53" descr="lock.png"/>
          <p:cNvPicPr>
            <a:picLocks noChangeAspect="1"/>
          </p:cNvPicPr>
          <p:nvPr/>
        </p:nvPicPr>
        <p:blipFill>
          <a:blip r:embed="rId10"/>
          <a:stretch>
            <a:fillRect/>
          </a:stretch>
        </p:blipFill>
        <p:spPr>
          <a:xfrm>
            <a:off x="9288268" y="2805915"/>
            <a:ext cx="212425" cy="308982"/>
          </a:xfrm>
          <a:prstGeom prst="rect">
            <a:avLst/>
          </a:prstGeom>
        </p:spPr>
      </p:pic>
      <p:sp>
        <p:nvSpPr>
          <p:cNvPr id="55" name="TextBox 54"/>
          <p:cNvSpPr txBox="1"/>
          <p:nvPr/>
        </p:nvSpPr>
        <p:spPr>
          <a:xfrm>
            <a:off x="485775" y="4229437"/>
            <a:ext cx="2765970" cy="186689"/>
          </a:xfrm>
          <a:prstGeom prst="rect">
            <a:avLst/>
          </a:prstGeom>
          <a:noFill/>
        </p:spPr>
        <p:txBody>
          <a:bodyPr wrap="none" lIns="0" rIns="0" tIns="0" bIns="0">
            <a:spAutoFit/>
          </a:bodyPr>
          <a:lstStyle/>
          <a:p>
            <a:r>
              <a:rPr sz="1100" b="0">
                <a:solidFill>
                  <a:srgbClr val="2E2E2E"/>
                </a:solidFill>
                <a:latin typeface="Calibri"/>
              </a:rPr>
              <a:t>Among egg protein membrane by form, liquid /</a:t>
            </a:r>
          </a:p>
        </p:txBody>
      </p:sp>
      <p:sp>
        <p:nvSpPr>
          <p:cNvPr id="56" name="TextBox 55"/>
          <p:cNvSpPr txBox="1"/>
          <p:nvPr/>
        </p:nvSpPr>
        <p:spPr>
          <a:xfrm>
            <a:off x="485775" y="4397077"/>
            <a:ext cx="2795711" cy="186689"/>
          </a:xfrm>
          <a:prstGeom prst="rect">
            <a:avLst/>
          </a:prstGeom>
          <a:noFill/>
        </p:spPr>
        <p:txBody>
          <a:bodyPr wrap="none" lIns="0" rIns="0" tIns="0" bIns="0">
            <a:spAutoFit/>
          </a:bodyPr>
          <a:lstStyle/>
          <a:p>
            <a:r>
              <a:rPr sz="1100" b="0">
                <a:solidFill>
                  <a:srgbClr val="2E2E2E"/>
                </a:solidFill>
                <a:latin typeface="Calibri"/>
              </a:rPr>
              <a:t>concentrate segment is expected to witness the</a:t>
            </a:r>
          </a:p>
        </p:txBody>
      </p:sp>
      <p:sp>
        <p:nvSpPr>
          <p:cNvPr id="57" name="TextBox 56"/>
          <p:cNvSpPr txBox="1"/>
          <p:nvPr/>
        </p:nvSpPr>
        <p:spPr>
          <a:xfrm>
            <a:off x="485775" y="4564717"/>
            <a:ext cx="990781" cy="186689"/>
          </a:xfrm>
          <a:prstGeom prst="rect">
            <a:avLst/>
          </a:prstGeom>
          <a:noFill/>
        </p:spPr>
        <p:txBody>
          <a:bodyPr wrap="none" lIns="0" rIns="0" tIns="0" bIns="0">
            <a:spAutoFit/>
          </a:bodyPr>
          <a:lstStyle/>
          <a:p>
            <a:r>
              <a:rPr sz="1100" b="0">
                <a:solidFill>
                  <a:srgbClr val="2E2E2E"/>
                </a:solidFill>
                <a:latin typeface="Calibri"/>
              </a:rPr>
              <a:t>highest CAGR of</a:t>
            </a:r>
          </a:p>
        </p:txBody>
      </p:sp>
      <p:pic>
        <p:nvPicPr>
          <p:cNvPr id="58" name="Picture 57" descr="lock.png"/>
          <p:cNvPicPr>
            <a:picLocks noChangeAspect="1"/>
          </p:cNvPicPr>
          <p:nvPr/>
        </p:nvPicPr>
        <p:blipFill>
          <a:blip r:embed="rId10"/>
          <a:stretch>
            <a:fillRect/>
          </a:stretch>
        </p:blipFill>
        <p:spPr>
          <a:xfrm>
            <a:off x="1424607" y="4554938"/>
            <a:ext cx="128699" cy="187198"/>
          </a:xfrm>
          <a:prstGeom prst="rect">
            <a:avLst/>
          </a:prstGeom>
        </p:spPr>
      </p:pic>
      <p:sp>
        <p:nvSpPr>
          <p:cNvPr id="59" name="TextBox 58"/>
          <p:cNvSpPr txBox="1"/>
          <p:nvPr/>
        </p:nvSpPr>
        <p:spPr>
          <a:xfrm>
            <a:off x="1592103" y="4564717"/>
            <a:ext cx="1624905" cy="186689"/>
          </a:xfrm>
          <a:prstGeom prst="rect">
            <a:avLst/>
          </a:prstGeom>
          <a:noFill/>
        </p:spPr>
        <p:txBody>
          <a:bodyPr wrap="none" lIns="0" rIns="0" tIns="0" bIns="0">
            <a:spAutoFit/>
          </a:bodyPr>
          <a:lstStyle/>
          <a:p>
            <a:r>
              <a:rPr sz="1100" b="0">
                <a:solidFill>
                  <a:srgbClr val="2E2E2E"/>
                </a:solidFill>
                <a:latin typeface="Calibri"/>
              </a:rPr>
              <a:t>over the forecast period. In</a:t>
            </a:r>
          </a:p>
        </p:txBody>
      </p:sp>
      <p:sp>
        <p:nvSpPr>
          <p:cNvPr id="60" name="TextBox 59"/>
          <p:cNvSpPr txBox="1"/>
          <p:nvPr/>
        </p:nvSpPr>
        <p:spPr>
          <a:xfrm>
            <a:off x="485775" y="4732357"/>
            <a:ext cx="2404442" cy="186689"/>
          </a:xfrm>
          <a:prstGeom prst="rect">
            <a:avLst/>
          </a:prstGeom>
          <a:noFill/>
        </p:spPr>
        <p:txBody>
          <a:bodyPr wrap="none" lIns="0" rIns="0" tIns="0" bIns="0">
            <a:spAutoFit/>
          </a:bodyPr>
          <a:lstStyle/>
          <a:p>
            <a:r>
              <a:rPr sz="1100" b="0">
                <a:solidFill>
                  <a:srgbClr val="2E2E2E"/>
                </a:solidFill>
                <a:latin typeface="Calibri"/>
              </a:rPr>
              <a:t>terms of value share by form, the liquid /</a:t>
            </a:r>
          </a:p>
        </p:txBody>
      </p:sp>
      <p:sp>
        <p:nvSpPr>
          <p:cNvPr id="61" name="TextBox 60"/>
          <p:cNvSpPr txBox="1"/>
          <p:nvPr/>
        </p:nvSpPr>
        <p:spPr>
          <a:xfrm>
            <a:off x="485775" y="4899997"/>
            <a:ext cx="2912219" cy="186689"/>
          </a:xfrm>
          <a:prstGeom prst="rect">
            <a:avLst/>
          </a:prstGeom>
          <a:noFill/>
        </p:spPr>
        <p:txBody>
          <a:bodyPr wrap="none" lIns="0" rIns="0" tIns="0" bIns="0">
            <a:spAutoFit/>
          </a:bodyPr>
          <a:lstStyle/>
          <a:p>
            <a:r>
              <a:rPr sz="1100" b="0">
                <a:solidFill>
                  <a:srgbClr val="2E2E2E"/>
                </a:solidFill>
                <a:latin typeface="Calibri"/>
              </a:rPr>
              <a:t>concentrate segment is expected to dominate the</a:t>
            </a:r>
          </a:p>
        </p:txBody>
      </p:sp>
      <p:sp>
        <p:nvSpPr>
          <p:cNvPr id="62" name="TextBox 61"/>
          <p:cNvSpPr txBox="1"/>
          <p:nvPr/>
        </p:nvSpPr>
        <p:spPr>
          <a:xfrm>
            <a:off x="485775" y="5067637"/>
            <a:ext cx="959693" cy="186689"/>
          </a:xfrm>
          <a:prstGeom prst="rect">
            <a:avLst/>
          </a:prstGeom>
          <a:noFill/>
        </p:spPr>
        <p:txBody>
          <a:bodyPr wrap="none" lIns="0" rIns="0" tIns="0" bIns="0">
            <a:spAutoFit/>
          </a:bodyPr>
          <a:lstStyle/>
          <a:p>
            <a:r>
              <a:rPr sz="1100" b="0">
                <a:solidFill>
                  <a:srgbClr val="2E2E2E"/>
                </a:solidFill>
                <a:latin typeface="Calibri"/>
              </a:rPr>
              <a:t>market, gaining</a:t>
            </a:r>
          </a:p>
        </p:txBody>
      </p:sp>
      <p:pic>
        <p:nvPicPr>
          <p:cNvPr id="63" name="Picture 62" descr="lock.png"/>
          <p:cNvPicPr>
            <a:picLocks noChangeAspect="1"/>
          </p:cNvPicPr>
          <p:nvPr/>
        </p:nvPicPr>
        <p:blipFill>
          <a:blip r:embed="rId10"/>
          <a:stretch>
            <a:fillRect/>
          </a:stretch>
        </p:blipFill>
        <p:spPr>
          <a:xfrm>
            <a:off x="1393519" y="5057858"/>
            <a:ext cx="128699" cy="187198"/>
          </a:xfrm>
          <a:prstGeom prst="rect">
            <a:avLst/>
          </a:prstGeom>
        </p:spPr>
      </p:pic>
      <p:sp>
        <p:nvSpPr>
          <p:cNvPr id="64" name="TextBox 63"/>
          <p:cNvSpPr txBox="1"/>
          <p:nvPr/>
        </p:nvSpPr>
        <p:spPr>
          <a:xfrm>
            <a:off x="1561015" y="5067637"/>
            <a:ext cx="1386433" cy="186689"/>
          </a:xfrm>
          <a:prstGeom prst="rect">
            <a:avLst/>
          </a:prstGeom>
          <a:noFill/>
        </p:spPr>
        <p:txBody>
          <a:bodyPr wrap="none" lIns="0" rIns="0" tIns="0" bIns="0">
            <a:spAutoFit/>
          </a:bodyPr>
          <a:lstStyle/>
          <a:p>
            <a:r>
              <a:rPr sz="1100" b="0">
                <a:solidFill>
                  <a:srgbClr val="2E2E2E"/>
                </a:solidFill>
                <a:latin typeface="Calibri"/>
              </a:rPr>
              <a:t>BPS and accounting for</a:t>
            </a:r>
          </a:p>
        </p:txBody>
      </p:sp>
      <p:pic>
        <p:nvPicPr>
          <p:cNvPr id="65" name="Picture 64" descr="lock.png"/>
          <p:cNvPicPr>
            <a:picLocks noChangeAspect="1"/>
          </p:cNvPicPr>
          <p:nvPr/>
        </p:nvPicPr>
        <p:blipFill>
          <a:blip r:embed="rId10"/>
          <a:stretch>
            <a:fillRect/>
          </a:stretch>
        </p:blipFill>
        <p:spPr>
          <a:xfrm>
            <a:off x="2895500" y="5057858"/>
            <a:ext cx="128699" cy="187198"/>
          </a:xfrm>
          <a:prstGeom prst="rect">
            <a:avLst/>
          </a:prstGeom>
        </p:spPr>
      </p:pic>
      <p:sp>
        <p:nvSpPr>
          <p:cNvPr id="66" name="TextBox 65"/>
          <p:cNvSpPr txBox="1"/>
          <p:nvPr/>
        </p:nvSpPr>
        <p:spPr>
          <a:xfrm>
            <a:off x="485775" y="5235277"/>
            <a:ext cx="908397" cy="186689"/>
          </a:xfrm>
          <a:prstGeom prst="rect">
            <a:avLst/>
          </a:prstGeom>
          <a:noFill/>
        </p:spPr>
        <p:txBody>
          <a:bodyPr wrap="none" lIns="0" rIns="0" tIns="0" bIns="0">
            <a:spAutoFit/>
          </a:bodyPr>
          <a:lstStyle/>
          <a:p>
            <a:r>
              <a:rPr sz="1100" b="0">
                <a:solidFill>
                  <a:srgbClr val="2E2E2E"/>
                </a:solidFill>
                <a:latin typeface="Calibri"/>
              </a:rPr>
              <a:t>share by 2036.</a:t>
            </a:r>
          </a:p>
        </p:txBody>
      </p:sp>
      <p:sp>
        <p:nvSpPr>
          <p:cNvPr id="67" name="TextBox 66"/>
          <p:cNvSpPr txBox="1"/>
          <p:nvPr/>
        </p:nvSpPr>
        <p:spPr>
          <a:xfrm>
            <a:off x="485775" y="5453209"/>
            <a:ext cx="2597894" cy="186689"/>
          </a:xfrm>
          <a:prstGeom prst="rect">
            <a:avLst/>
          </a:prstGeom>
          <a:noFill/>
        </p:spPr>
        <p:txBody>
          <a:bodyPr wrap="none" lIns="0" rIns="0" tIns="0" bIns="0">
            <a:spAutoFit/>
          </a:bodyPr>
          <a:lstStyle/>
          <a:p>
            <a:r>
              <a:rPr sz="1100" b="0">
                <a:solidFill>
                  <a:srgbClr val="2E2E2E"/>
                </a:solidFill>
                <a:latin typeface="Calibri"/>
              </a:rPr>
              <a:t>Liquid / concentrate segment is projected to</a:t>
            </a:r>
          </a:p>
        </p:txBody>
      </p:sp>
      <p:sp>
        <p:nvSpPr>
          <p:cNvPr id="68" name="TextBox 67"/>
          <p:cNvSpPr txBox="1"/>
          <p:nvPr/>
        </p:nvSpPr>
        <p:spPr>
          <a:xfrm>
            <a:off x="485775" y="5620849"/>
            <a:ext cx="512489" cy="186689"/>
          </a:xfrm>
          <a:prstGeom prst="rect">
            <a:avLst/>
          </a:prstGeom>
          <a:noFill/>
        </p:spPr>
        <p:txBody>
          <a:bodyPr wrap="none" lIns="0" rIns="0" tIns="0" bIns="0">
            <a:spAutoFit/>
          </a:bodyPr>
          <a:lstStyle/>
          <a:p>
            <a:r>
              <a:rPr sz="1100" b="0">
                <a:solidFill>
                  <a:srgbClr val="2E2E2E"/>
                </a:solidFill>
                <a:latin typeface="Calibri"/>
              </a:rPr>
              <a:t>register</a:t>
            </a:r>
          </a:p>
        </p:txBody>
      </p:sp>
      <p:pic>
        <p:nvPicPr>
          <p:cNvPr id="69" name="Picture 68" descr="lock.png"/>
          <p:cNvPicPr>
            <a:picLocks noChangeAspect="1"/>
          </p:cNvPicPr>
          <p:nvPr/>
        </p:nvPicPr>
        <p:blipFill>
          <a:blip r:embed="rId10"/>
          <a:stretch>
            <a:fillRect/>
          </a:stretch>
        </p:blipFill>
        <p:spPr>
          <a:xfrm>
            <a:off x="946316" y="5611070"/>
            <a:ext cx="128699" cy="187198"/>
          </a:xfrm>
          <a:prstGeom prst="rect">
            <a:avLst/>
          </a:prstGeom>
        </p:spPr>
      </p:pic>
      <p:sp>
        <p:nvSpPr>
          <p:cNvPr id="70" name="TextBox 69"/>
          <p:cNvSpPr txBox="1"/>
          <p:nvPr/>
        </p:nvSpPr>
        <p:spPr>
          <a:xfrm>
            <a:off x="1113812" y="5620849"/>
            <a:ext cx="2165970" cy="186689"/>
          </a:xfrm>
          <a:prstGeom prst="rect">
            <a:avLst/>
          </a:prstGeom>
          <a:noFill/>
        </p:spPr>
        <p:txBody>
          <a:bodyPr wrap="none" lIns="0" rIns="0" tIns="0" bIns="0">
            <a:spAutoFit/>
          </a:bodyPr>
          <a:lstStyle/>
          <a:p>
            <a:r>
              <a:rPr sz="1100" b="0">
                <a:solidFill>
                  <a:srgbClr val="2E2E2E"/>
                </a:solidFill>
                <a:latin typeface="Calibri"/>
              </a:rPr>
              <a:t>X higher value than powder segment</a:t>
            </a:r>
          </a:p>
        </p:txBody>
      </p:sp>
      <p:sp>
        <p:nvSpPr>
          <p:cNvPr id="71" name="TextBox 70"/>
          <p:cNvSpPr txBox="1"/>
          <p:nvPr/>
        </p:nvSpPr>
        <p:spPr>
          <a:xfrm>
            <a:off x="485775" y="5788489"/>
            <a:ext cx="532407" cy="186689"/>
          </a:xfrm>
          <a:prstGeom prst="rect">
            <a:avLst/>
          </a:prstGeom>
          <a:noFill/>
        </p:spPr>
        <p:txBody>
          <a:bodyPr wrap="none" lIns="0" rIns="0" tIns="0" bIns="0">
            <a:spAutoFit/>
          </a:bodyPr>
          <a:lstStyle/>
          <a:p>
            <a:r>
              <a:rPr sz="1100" b="0">
                <a:solidFill>
                  <a:srgbClr val="2E2E2E"/>
                </a:solidFill>
                <a:latin typeface="Calibri"/>
              </a:rPr>
              <a:t>in 2036.</a:t>
            </a:r>
          </a:p>
        </p:txBody>
      </p:sp>
      <p:sp>
        <p:nvSpPr>
          <p:cNvPr id="72" name="TextBox 71"/>
          <p:cNvSpPr txBox="1"/>
          <p:nvPr/>
        </p:nvSpPr>
        <p:spPr>
          <a:xfrm>
            <a:off x="3838575" y="4229437"/>
            <a:ext cx="1392981" cy="186689"/>
          </a:xfrm>
          <a:prstGeom prst="rect">
            <a:avLst/>
          </a:prstGeom>
          <a:noFill/>
        </p:spPr>
        <p:txBody>
          <a:bodyPr wrap="none" lIns="0" rIns="0" tIns="0" bIns="0">
            <a:spAutoFit/>
          </a:bodyPr>
          <a:lstStyle/>
          <a:p>
            <a:r>
              <a:rPr sz="1100" b="0">
                <a:solidFill>
                  <a:srgbClr val="2E2E2E"/>
                </a:solidFill>
                <a:latin typeface="Calibri"/>
              </a:rPr>
              <a:t>● Liquid / Concentrate:</a:t>
            </a:r>
          </a:p>
        </p:txBody>
      </p:sp>
      <p:pic>
        <p:nvPicPr>
          <p:cNvPr id="73" name="Picture 72" descr="lock.png"/>
          <p:cNvPicPr>
            <a:picLocks noChangeAspect="1"/>
          </p:cNvPicPr>
          <p:nvPr/>
        </p:nvPicPr>
        <p:blipFill>
          <a:blip r:embed="rId10"/>
          <a:stretch>
            <a:fillRect/>
          </a:stretch>
        </p:blipFill>
        <p:spPr>
          <a:xfrm>
            <a:off x="5179608" y="4219658"/>
            <a:ext cx="128699" cy="187198"/>
          </a:xfrm>
          <a:prstGeom prst="rect">
            <a:avLst/>
          </a:prstGeom>
        </p:spPr>
      </p:pic>
      <p:sp>
        <p:nvSpPr>
          <p:cNvPr id="74" name="TextBox 73"/>
          <p:cNvSpPr txBox="1"/>
          <p:nvPr/>
        </p:nvSpPr>
        <p:spPr>
          <a:xfrm>
            <a:off x="5347104" y="422943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75" name="Picture 74" descr="lock.png"/>
          <p:cNvPicPr>
            <a:picLocks noChangeAspect="1"/>
          </p:cNvPicPr>
          <p:nvPr/>
        </p:nvPicPr>
        <p:blipFill>
          <a:blip r:embed="rId10"/>
          <a:stretch>
            <a:fillRect/>
          </a:stretch>
        </p:blipFill>
        <p:spPr>
          <a:xfrm>
            <a:off x="6206554" y="4219658"/>
            <a:ext cx="128699" cy="187198"/>
          </a:xfrm>
          <a:prstGeom prst="rect">
            <a:avLst/>
          </a:prstGeom>
        </p:spPr>
      </p:pic>
      <p:sp>
        <p:nvSpPr>
          <p:cNvPr id="76" name="TextBox 75"/>
          <p:cNvSpPr txBox="1"/>
          <p:nvPr/>
        </p:nvSpPr>
        <p:spPr>
          <a:xfrm>
            <a:off x="6374050" y="4229437"/>
            <a:ext cx="945215" cy="186689"/>
          </a:xfrm>
          <a:prstGeom prst="rect">
            <a:avLst/>
          </a:prstGeom>
          <a:noFill/>
        </p:spPr>
        <p:txBody>
          <a:bodyPr wrap="none" lIns="0" rIns="0" tIns="0" bIns="0">
            <a:spAutoFit/>
          </a:bodyPr>
          <a:lstStyle/>
          <a:p>
            <a:r>
              <a:rPr sz="1100" b="0">
                <a:solidFill>
                  <a:srgbClr val="2E2E2E"/>
                </a:solidFill>
                <a:latin typeface="Calibri"/>
              </a:rPr>
              <a:t>CAGR leads the</a:t>
            </a:r>
          </a:p>
        </p:txBody>
      </p:sp>
      <p:sp>
        <p:nvSpPr>
          <p:cNvPr id="77" name="TextBox 76"/>
          <p:cNvSpPr txBox="1"/>
          <p:nvPr/>
        </p:nvSpPr>
        <p:spPr>
          <a:xfrm>
            <a:off x="3838575" y="4397077"/>
            <a:ext cx="602803" cy="186689"/>
          </a:xfrm>
          <a:prstGeom prst="rect">
            <a:avLst/>
          </a:prstGeom>
          <a:noFill/>
        </p:spPr>
        <p:txBody>
          <a:bodyPr wrap="none" lIns="0" rIns="0" tIns="0" bIns="0">
            <a:spAutoFit/>
          </a:bodyPr>
          <a:lstStyle/>
          <a:p>
            <a:r>
              <a:rPr sz="1100" b="0">
                <a:solidFill>
                  <a:srgbClr val="2E2E2E"/>
                </a:solidFill>
                <a:latin typeface="Calibri"/>
              </a:rPr>
              <a:t>segment.</a:t>
            </a:r>
          </a:p>
        </p:txBody>
      </p:sp>
      <p:sp>
        <p:nvSpPr>
          <p:cNvPr id="78" name="TextBox 77"/>
          <p:cNvSpPr txBox="1"/>
          <p:nvPr/>
        </p:nvSpPr>
        <p:spPr>
          <a:xfrm>
            <a:off x="3838575" y="4615009"/>
            <a:ext cx="667196" cy="186689"/>
          </a:xfrm>
          <a:prstGeom prst="rect">
            <a:avLst/>
          </a:prstGeom>
          <a:noFill/>
        </p:spPr>
        <p:txBody>
          <a:bodyPr wrap="none" lIns="0" rIns="0" tIns="0" bIns="0">
            <a:spAutoFit/>
          </a:bodyPr>
          <a:lstStyle/>
          <a:p>
            <a:r>
              <a:rPr sz="1100" b="0">
                <a:solidFill>
                  <a:srgbClr val="2E2E2E"/>
                </a:solidFill>
                <a:latin typeface="Calibri"/>
              </a:rPr>
              <a:t>● Powder:</a:t>
            </a:r>
          </a:p>
        </p:txBody>
      </p:sp>
      <p:pic>
        <p:nvPicPr>
          <p:cNvPr id="79" name="Picture 78" descr="lock.png"/>
          <p:cNvPicPr>
            <a:picLocks noChangeAspect="1"/>
          </p:cNvPicPr>
          <p:nvPr/>
        </p:nvPicPr>
        <p:blipFill>
          <a:blip r:embed="rId10"/>
          <a:stretch>
            <a:fillRect/>
          </a:stretch>
        </p:blipFill>
        <p:spPr>
          <a:xfrm>
            <a:off x="4453823" y="4605230"/>
            <a:ext cx="128699" cy="187198"/>
          </a:xfrm>
          <a:prstGeom prst="rect">
            <a:avLst/>
          </a:prstGeom>
        </p:spPr>
      </p:pic>
      <p:sp>
        <p:nvSpPr>
          <p:cNvPr id="80" name="TextBox 79"/>
          <p:cNvSpPr txBox="1"/>
          <p:nvPr/>
        </p:nvSpPr>
        <p:spPr>
          <a:xfrm>
            <a:off x="4621318" y="4615009"/>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81" name="Picture 80" descr="lock.png"/>
          <p:cNvPicPr>
            <a:picLocks noChangeAspect="1"/>
          </p:cNvPicPr>
          <p:nvPr/>
        </p:nvPicPr>
        <p:blipFill>
          <a:blip r:embed="rId10"/>
          <a:stretch>
            <a:fillRect/>
          </a:stretch>
        </p:blipFill>
        <p:spPr>
          <a:xfrm>
            <a:off x="5480769" y="4605230"/>
            <a:ext cx="128699" cy="187198"/>
          </a:xfrm>
          <a:prstGeom prst="rect">
            <a:avLst/>
          </a:prstGeom>
        </p:spPr>
      </p:pic>
      <p:sp>
        <p:nvSpPr>
          <p:cNvPr id="82" name="TextBox 81"/>
          <p:cNvSpPr txBox="1"/>
          <p:nvPr/>
        </p:nvSpPr>
        <p:spPr>
          <a:xfrm>
            <a:off x="5648264" y="4615009"/>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83" name="TextBox 82"/>
          <p:cNvSpPr txBox="1"/>
          <p:nvPr/>
        </p:nvSpPr>
        <p:spPr>
          <a:xfrm>
            <a:off x="8524875" y="5842641"/>
            <a:ext cx="3089283" cy="194310"/>
          </a:xfrm>
          <a:prstGeom prst="rect">
            <a:avLst/>
          </a:prstGeom>
          <a:noFill/>
        </p:spPr>
        <p:txBody>
          <a:bodyPr wrap="none" lIns="0" rIns="0" tIns="0" bIns="0">
            <a:spAutoFit/>
          </a:bodyPr>
          <a:lstStyle/>
          <a:p>
            <a:r>
              <a:rPr sz="1150" b="1">
                <a:solidFill>
                  <a:srgbClr val="0B2E4A"/>
                </a:solidFill>
                <a:latin typeface="Calibri"/>
              </a:rPr>
              <a:t>The Form segment is projected to grow at a CAGR</a:t>
            </a:r>
          </a:p>
        </p:txBody>
      </p:sp>
      <p:sp>
        <p:nvSpPr>
          <p:cNvPr id="84" name="TextBox 83"/>
          <p:cNvSpPr txBox="1"/>
          <p:nvPr/>
        </p:nvSpPr>
        <p:spPr>
          <a:xfrm>
            <a:off x="8524875" y="6017901"/>
            <a:ext cx="200855" cy="194310"/>
          </a:xfrm>
          <a:prstGeom prst="rect">
            <a:avLst/>
          </a:prstGeom>
          <a:noFill/>
        </p:spPr>
        <p:txBody>
          <a:bodyPr wrap="none" lIns="0" rIns="0" tIns="0" bIns="0">
            <a:spAutoFit/>
          </a:bodyPr>
          <a:lstStyle/>
          <a:p>
            <a:r>
              <a:rPr sz="1150" b="1">
                <a:solidFill>
                  <a:srgbClr val="0B2E4A"/>
                </a:solidFill>
                <a:latin typeface="Calibri"/>
              </a:rPr>
              <a:t>of</a:t>
            </a:r>
          </a:p>
        </p:txBody>
      </p:sp>
      <p:pic>
        <p:nvPicPr>
          <p:cNvPr id="85" name="Picture 84" descr="lock.png"/>
          <p:cNvPicPr>
            <a:picLocks noChangeAspect="1"/>
          </p:cNvPicPr>
          <p:nvPr/>
        </p:nvPicPr>
        <p:blipFill>
          <a:blip r:embed="rId10"/>
          <a:stretch>
            <a:fillRect/>
          </a:stretch>
        </p:blipFill>
        <p:spPr>
          <a:xfrm>
            <a:off x="8674884" y="6007677"/>
            <a:ext cx="134549" cy="195707"/>
          </a:xfrm>
          <a:prstGeom prst="rect">
            <a:avLst/>
          </a:prstGeom>
        </p:spPr>
      </p:pic>
      <p:sp>
        <p:nvSpPr>
          <p:cNvPr id="86" name="TextBox 85"/>
          <p:cNvSpPr txBox="1"/>
          <p:nvPr/>
        </p:nvSpPr>
        <p:spPr>
          <a:xfrm>
            <a:off x="8849994" y="6017901"/>
            <a:ext cx="1232619" cy="194310"/>
          </a:xfrm>
          <a:prstGeom prst="rect">
            <a:avLst/>
          </a:prstGeom>
          <a:noFill/>
        </p:spPr>
        <p:txBody>
          <a:bodyPr wrap="none" lIns="0" rIns="0" tIns="0" bIns="0">
            <a:spAutoFit/>
          </a:bodyPr>
          <a:lstStyle/>
          <a:p>
            <a:r>
              <a:rPr sz="1150" b="1">
                <a:solidFill>
                  <a:srgbClr val="0B2E4A"/>
                </a:solidFill>
                <a:latin typeface="Calibri"/>
              </a:rPr>
              <a:t>from 2026 to 2036.</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Structure &amp; Attractiveness, By Form (Value)</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Form mix within each region and the attractiveness of each sub-segment on growth and size</a:t>
            </a:r>
          </a:p>
        </p:txBody>
      </p:sp>
      <p:sp>
        <p:nvSpPr>
          <p:cNvPr id="7" name="Rounded Rectangle 6"/>
          <p:cNvSpPr/>
          <p:nvPr/>
        </p:nvSpPr>
        <p:spPr>
          <a:xfrm>
            <a:off x="142875" y="981075"/>
            <a:ext cx="6343650" cy="4324350"/>
          </a:xfrm>
          <a:prstGeom prst="roundRect">
            <a:avLst>
              <a:gd name="adj" fmla="val 1762"/>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6153150"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Form mix within each region (share of 2036 value) · row label = region size (US$ Mn), largest first</a:t>
            </a:r>
          </a:p>
        </p:txBody>
      </p:sp>
      <p:graphicFrame>
        <p:nvGraphicFramePr>
          <p:cNvPr id="9" name="Chart 8"/>
          <p:cNvGraphicFramePr>
            <a:graphicFrameLocks noGrp="1"/>
          </p:cNvGraphicFramePr>
          <p:nvPr/>
        </p:nvGraphicFramePr>
        <p:xfrm>
          <a:off x="238125" y="1438275"/>
          <a:ext cx="6153150" cy="3810000"/>
        </p:xfrm>
        <a:graphic>
          <a:graphicData uri="http://schemas.openxmlformats.org/drawingml/2006/chart">
            <c:chart xmlns:c="http://schemas.openxmlformats.org/drawingml/2006/chart" r:id="rId3"/>
          </a:graphicData>
        </a:graphic>
      </p:graphicFrame>
      <p:sp>
        <p:nvSpPr>
          <p:cNvPr id="10" name="Rounded Rectangle 9"/>
          <p:cNvSpPr/>
          <p:nvPr/>
        </p:nvSpPr>
        <p:spPr>
          <a:xfrm>
            <a:off x="6638925" y="981075"/>
            <a:ext cx="5400675" cy="4324350"/>
          </a:xfrm>
          <a:prstGeom prst="roundRect">
            <a:avLst>
              <a:gd name="adj" fmla="val 1762"/>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34175" y="1038225"/>
            <a:ext cx="521017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Attractiveness, By Form · Bubble size represents 2036 value</a:t>
            </a:r>
          </a:p>
        </p:txBody>
      </p:sp>
      <p:graphicFrame>
        <p:nvGraphicFramePr>
          <p:cNvPr id="12" name="Chart 11"/>
          <p:cNvGraphicFramePr>
            <a:graphicFrameLocks noGrp="1"/>
          </p:cNvGraphicFramePr>
          <p:nvPr/>
        </p:nvGraphicFramePr>
        <p:xfrm>
          <a:off x="6734175" y="1266825"/>
          <a:ext cx="5210175" cy="3981450"/>
        </p:xfrm>
        <a:graphic>
          <a:graphicData uri="http://schemas.openxmlformats.org/drawingml/2006/chart">
            <c:chart xmlns:c="http://schemas.openxmlformats.org/drawingml/2006/chart" r:id="rId4"/>
          </a:graphicData>
        </a:graphic>
      </p:graphicFrame>
      <p:sp>
        <p:nvSpPr>
          <p:cNvPr id="13" name="Rounded Rectangle 12"/>
          <p:cNvSpPr/>
          <p:nvPr/>
        </p:nvSpPr>
        <p:spPr>
          <a:xfrm>
            <a:off x="142875" y="5438775"/>
            <a:ext cx="11906250" cy="1181100"/>
          </a:xfrm>
          <a:prstGeom prst="roundRect">
            <a:avLst>
              <a:gd name="adj" fmla="val 6451"/>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14" name="Rectangle 13"/>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6" name="Picture 15" descr="lock.png"/>
          <p:cNvPicPr>
            <a:picLocks noChangeAspect="1"/>
          </p:cNvPicPr>
          <p:nvPr/>
        </p:nvPicPr>
        <p:blipFill>
          <a:blip r:embed="rId6"/>
          <a:stretch>
            <a:fillRect/>
          </a:stretch>
        </p:blipFill>
        <p:spPr>
          <a:xfrm>
            <a:off x="3484684" y="3024134"/>
            <a:ext cx="320946" cy="466830"/>
          </a:xfrm>
          <a:prstGeom prst="rect">
            <a:avLst/>
          </a:prstGeom>
        </p:spPr>
      </p:pic>
      <p:sp>
        <p:nvSpPr>
          <p:cNvPr id="17" name="TextBox 16"/>
          <p:cNvSpPr txBox="1"/>
          <p:nvPr/>
        </p:nvSpPr>
        <p:spPr>
          <a:xfrm>
            <a:off x="257175" y="5777865"/>
            <a:ext cx="11144696" cy="186689"/>
          </a:xfrm>
          <a:prstGeom prst="rect">
            <a:avLst/>
          </a:prstGeom>
          <a:noFill/>
        </p:spPr>
        <p:txBody>
          <a:bodyPr wrap="none" lIns="0" rIns="0" tIns="0" bIns="0">
            <a:spAutoFit/>
          </a:bodyPr>
          <a:lstStyle/>
          <a:p>
            <a:r>
              <a:rPr sz="1100" b="0">
                <a:solidFill>
                  <a:srgbClr val="2E2E2E"/>
                </a:solidFill>
                <a:latin typeface="Calibri"/>
              </a:rPr>
              <a:t>Liquid / concentrate followed by powder are expected to be the two most attractive form segments in the global egg protein membrane market in terms of value over the forecast period. Liquid /</a:t>
            </a:r>
          </a:p>
        </p:txBody>
      </p:sp>
      <p:sp>
        <p:nvSpPr>
          <p:cNvPr id="18" name="TextBox 17"/>
          <p:cNvSpPr txBox="1"/>
          <p:nvPr/>
        </p:nvSpPr>
        <p:spPr>
          <a:xfrm>
            <a:off x="257175" y="5945505"/>
            <a:ext cx="2837440" cy="186689"/>
          </a:xfrm>
          <a:prstGeom prst="rect">
            <a:avLst/>
          </a:prstGeom>
          <a:noFill/>
        </p:spPr>
        <p:txBody>
          <a:bodyPr wrap="none" lIns="0" rIns="0" tIns="0" bIns="0">
            <a:spAutoFit/>
          </a:bodyPr>
          <a:lstStyle/>
          <a:p>
            <a:r>
              <a:rPr sz="1100" b="0">
                <a:solidFill>
                  <a:srgbClr val="2E2E2E"/>
                </a:solidFill>
                <a:latin typeface="Calibri"/>
              </a:rPr>
              <a:t>concentrate and powder exhibit a CAGR index of</a:t>
            </a:r>
          </a:p>
        </p:txBody>
      </p:sp>
      <p:pic>
        <p:nvPicPr>
          <p:cNvPr id="19" name="Picture 18" descr="lock.png"/>
          <p:cNvPicPr>
            <a:picLocks noChangeAspect="1"/>
          </p:cNvPicPr>
          <p:nvPr/>
        </p:nvPicPr>
        <p:blipFill>
          <a:blip r:embed="rId6"/>
          <a:stretch>
            <a:fillRect/>
          </a:stretch>
        </p:blipFill>
        <p:spPr>
          <a:xfrm>
            <a:off x="3042667" y="5935726"/>
            <a:ext cx="128699" cy="187198"/>
          </a:xfrm>
          <a:prstGeom prst="rect">
            <a:avLst/>
          </a:prstGeom>
        </p:spPr>
      </p:pic>
      <p:sp>
        <p:nvSpPr>
          <p:cNvPr id="20" name="TextBox 19"/>
          <p:cNvSpPr txBox="1"/>
          <p:nvPr/>
        </p:nvSpPr>
        <p:spPr>
          <a:xfrm>
            <a:off x="3210163" y="594550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1" name="Picture 20" descr="lock.png"/>
          <p:cNvPicPr>
            <a:picLocks noChangeAspect="1"/>
          </p:cNvPicPr>
          <p:nvPr/>
        </p:nvPicPr>
        <p:blipFill>
          <a:blip r:embed="rId6"/>
          <a:stretch>
            <a:fillRect/>
          </a:stretch>
        </p:blipFill>
        <p:spPr>
          <a:xfrm>
            <a:off x="3448057" y="5935726"/>
            <a:ext cx="128699" cy="187198"/>
          </a:xfrm>
          <a:prstGeom prst="rect">
            <a:avLst/>
          </a:prstGeom>
        </p:spPr>
      </p:pic>
      <p:sp>
        <p:nvSpPr>
          <p:cNvPr id="22" name="TextBox 21"/>
          <p:cNvSpPr txBox="1"/>
          <p:nvPr/>
        </p:nvSpPr>
        <p:spPr>
          <a:xfrm>
            <a:off x="3615553" y="5945505"/>
            <a:ext cx="1660921" cy="186689"/>
          </a:xfrm>
          <a:prstGeom prst="rect">
            <a:avLst/>
          </a:prstGeom>
          <a:noFill/>
        </p:spPr>
        <p:txBody>
          <a:bodyPr wrap="none" lIns="0" rIns="0" tIns="0" bIns="0">
            <a:spAutoFit/>
          </a:bodyPr>
          <a:lstStyle/>
          <a:p>
            <a:r>
              <a:rPr sz="1100" b="0">
                <a:solidFill>
                  <a:srgbClr val="2E2E2E"/>
                </a:solidFill>
                <a:latin typeface="Calibri"/>
              </a:rPr>
              <a:t>and a market share index of</a:t>
            </a:r>
          </a:p>
        </p:txBody>
      </p:sp>
      <p:pic>
        <p:nvPicPr>
          <p:cNvPr id="23" name="Picture 22" descr="lock.png"/>
          <p:cNvPicPr>
            <a:picLocks noChangeAspect="1"/>
          </p:cNvPicPr>
          <p:nvPr/>
        </p:nvPicPr>
        <p:blipFill>
          <a:blip r:embed="rId6"/>
          <a:stretch>
            <a:fillRect/>
          </a:stretch>
        </p:blipFill>
        <p:spPr>
          <a:xfrm>
            <a:off x="5224526" y="5935726"/>
            <a:ext cx="128699" cy="187198"/>
          </a:xfrm>
          <a:prstGeom prst="rect">
            <a:avLst/>
          </a:prstGeom>
        </p:spPr>
      </p:pic>
      <p:sp>
        <p:nvSpPr>
          <p:cNvPr id="24" name="TextBox 23"/>
          <p:cNvSpPr txBox="1"/>
          <p:nvPr/>
        </p:nvSpPr>
        <p:spPr>
          <a:xfrm>
            <a:off x="5392022" y="594550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5" name="Picture 24" descr="lock.png"/>
          <p:cNvPicPr>
            <a:picLocks noChangeAspect="1"/>
          </p:cNvPicPr>
          <p:nvPr/>
        </p:nvPicPr>
        <p:blipFill>
          <a:blip r:embed="rId6"/>
          <a:stretch>
            <a:fillRect/>
          </a:stretch>
        </p:blipFill>
        <p:spPr>
          <a:xfrm>
            <a:off x="5629917" y="5935726"/>
            <a:ext cx="128699" cy="187198"/>
          </a:xfrm>
          <a:prstGeom prst="rect">
            <a:avLst/>
          </a:prstGeom>
        </p:spPr>
      </p:pic>
      <p:sp>
        <p:nvSpPr>
          <p:cNvPr id="26" name="TextBox 25"/>
          <p:cNvSpPr txBox="1"/>
          <p:nvPr/>
        </p:nvSpPr>
        <p:spPr>
          <a:xfrm>
            <a:off x="5797412" y="5945505"/>
            <a:ext cx="2606352" cy="186689"/>
          </a:xfrm>
          <a:prstGeom prst="rect">
            <a:avLst/>
          </a:prstGeom>
          <a:noFill/>
        </p:spPr>
        <p:txBody>
          <a:bodyPr wrap="none" lIns="0" rIns="0" tIns="0" bIns="0">
            <a:spAutoFit/>
          </a:bodyPr>
          <a:lstStyle/>
          <a:p>
            <a:r>
              <a:rPr sz="1100" b="0">
                <a:solidFill>
                  <a:srgbClr val="2E2E2E"/>
                </a:solidFill>
                <a:latin typeface="Calibri"/>
              </a:rPr>
              <a:t>respectively, against the segment average of</a:t>
            </a:r>
          </a:p>
        </p:txBody>
      </p:sp>
      <p:pic>
        <p:nvPicPr>
          <p:cNvPr id="27" name="Picture 26" descr="lock.png"/>
          <p:cNvPicPr>
            <a:picLocks noChangeAspect="1"/>
          </p:cNvPicPr>
          <p:nvPr/>
        </p:nvPicPr>
        <p:blipFill>
          <a:blip r:embed="rId6"/>
          <a:stretch>
            <a:fillRect/>
          </a:stretch>
        </p:blipFill>
        <p:spPr>
          <a:xfrm>
            <a:off x="8351816" y="5935726"/>
            <a:ext cx="128699" cy="187198"/>
          </a:xfrm>
          <a:prstGeom prst="rect">
            <a:avLst/>
          </a:prstGeom>
        </p:spPr>
      </p:pic>
      <p:sp>
        <p:nvSpPr>
          <p:cNvPr id="28" name="TextBox 27"/>
          <p:cNvSpPr txBox="1"/>
          <p:nvPr/>
        </p:nvSpPr>
        <p:spPr>
          <a:xfrm>
            <a:off x="8519312" y="5945505"/>
            <a:ext cx="2889555" cy="186689"/>
          </a:xfrm>
          <a:prstGeom prst="rect">
            <a:avLst/>
          </a:prstGeom>
          <a:noFill/>
        </p:spPr>
        <p:txBody>
          <a:bodyPr wrap="none" lIns="0" rIns="0" tIns="0" bIns="0">
            <a:spAutoFit/>
          </a:bodyPr>
          <a:lstStyle/>
          <a:p>
            <a:r>
              <a:rPr sz="1100" b="0">
                <a:solidFill>
                  <a:srgbClr val="2E2E2E"/>
                </a:solidFill>
                <a:latin typeface="Calibri"/>
              </a:rPr>
              <a:t>. Bubbles right of the CAGR-Index line grow faster</a:t>
            </a:r>
          </a:p>
        </p:txBody>
      </p:sp>
      <p:sp>
        <p:nvSpPr>
          <p:cNvPr id="29" name="TextBox 28"/>
          <p:cNvSpPr txBox="1"/>
          <p:nvPr/>
        </p:nvSpPr>
        <p:spPr>
          <a:xfrm>
            <a:off x="257175" y="6113145"/>
            <a:ext cx="1598711" cy="186689"/>
          </a:xfrm>
          <a:prstGeom prst="rect">
            <a:avLst/>
          </a:prstGeom>
          <a:noFill/>
        </p:spPr>
        <p:txBody>
          <a:bodyPr wrap="none" lIns="0" rIns="0" tIns="0" bIns="0">
            <a:spAutoFit/>
          </a:bodyPr>
          <a:lstStyle/>
          <a:p>
            <a:r>
              <a:rPr sz="1100" b="0">
                <a:solidFill>
                  <a:srgbClr val="2E2E2E"/>
                </a:solidFill>
                <a:latin typeface="Calibri"/>
              </a:rPr>
              <a:t>than the segment average.</a:t>
            </a:r>
          </a:p>
        </p:txBody>
      </p:sp>
      <p:sp>
        <p:nvSpPr>
          <p:cNvPr id="30" name="lockshield_9"/>
          <p:cNvSpPr/>
          <p:nvPr/>
        </p:nvSpPr>
        <p:spPr>
          <a:xfrm>
            <a:off x="238125" y="1438275"/>
            <a:ext cx="6153150"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lockshield_12"/>
          <p:cNvSpPr/>
          <p:nvPr/>
        </p:nvSpPr>
        <p:spPr>
          <a:xfrm>
            <a:off x="6734175" y="1266825"/>
            <a:ext cx="5210175" cy="39814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Absolute $ Opportunity Analysis, By Form</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Form and the absolute $ opportunity each sub-segment adds, 2026–2036</a:t>
            </a:r>
          </a:p>
        </p:txBody>
      </p:sp>
      <p:sp>
        <p:nvSpPr>
          <p:cNvPr id="7" name="Rounded Rectangle 6"/>
          <p:cNvSpPr/>
          <p:nvPr/>
        </p:nvSpPr>
        <p:spPr>
          <a:xfrm>
            <a:off x="142875" y="981075"/>
            <a:ext cx="5876925" cy="5648325"/>
          </a:xfrm>
          <a:prstGeom prst="roundRect">
            <a:avLst>
              <a:gd name="adj" fmla="val 134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Powder</a:t>
            </a:r>
          </a:p>
        </p:txBody>
      </p:sp>
      <p:graphicFrame>
        <p:nvGraphicFramePr>
          <p:cNvPr id="9" name="Chart 8"/>
          <p:cNvGraphicFramePr>
            <a:graphicFrameLocks noGrp="1"/>
          </p:cNvGraphicFramePr>
          <p:nvPr/>
        </p:nvGraphicFramePr>
        <p:xfrm>
          <a:off x="238125" y="1266825"/>
          <a:ext cx="5686425" cy="5305425"/>
        </p:xfrm>
        <a:graphic>
          <a:graphicData uri="http://schemas.openxmlformats.org/drawingml/2006/chart">
            <c:chart xmlns:c="http://schemas.openxmlformats.org/drawingml/2006/chart" r:id="rId3"/>
          </a:graphicData>
        </a:graphic>
      </p:graphicFrame>
      <p:sp>
        <p:nvSpPr>
          <p:cNvPr id="10" name="Rounded Rectangle 9"/>
          <p:cNvSpPr/>
          <p:nvPr/>
        </p:nvSpPr>
        <p:spPr>
          <a:xfrm>
            <a:off x="6172200" y="981075"/>
            <a:ext cx="5876925" cy="5648325"/>
          </a:xfrm>
          <a:prstGeom prst="roundRect">
            <a:avLst>
              <a:gd name="adj" fmla="val 134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67450"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Liquid / Concentrate</a:t>
            </a:r>
          </a:p>
        </p:txBody>
      </p:sp>
      <p:graphicFrame>
        <p:nvGraphicFramePr>
          <p:cNvPr id="12" name="Chart 11"/>
          <p:cNvGraphicFramePr>
            <a:graphicFrameLocks noGrp="1"/>
          </p:cNvGraphicFramePr>
          <p:nvPr/>
        </p:nvGraphicFramePr>
        <p:xfrm>
          <a:off x="6267450" y="1266825"/>
          <a:ext cx="5686425" cy="5305425"/>
        </p:xfrm>
        <a:graphic>
          <a:graphicData uri="http://schemas.openxmlformats.org/drawingml/2006/chart">
            <c:chart xmlns:c="http://schemas.openxmlformats.org/drawingml/2006/chart" r:id="rId4"/>
          </a:graphicData>
        </a:graphic>
      </p:graphicFrame>
      <p:sp>
        <p:nvSpPr>
          <p:cNvPr id="13" name="Rectangle 12"/>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5" name="Picture 14" descr="lock.png"/>
          <p:cNvPicPr>
            <a:picLocks noChangeAspect="1"/>
          </p:cNvPicPr>
          <p:nvPr/>
        </p:nvPicPr>
        <p:blipFill>
          <a:blip r:embed="rId6"/>
          <a:stretch>
            <a:fillRect/>
          </a:stretch>
        </p:blipFill>
        <p:spPr>
          <a:xfrm>
            <a:off x="3024059" y="3583939"/>
            <a:ext cx="402511" cy="585471"/>
          </a:xfrm>
          <a:prstGeom prst="rect">
            <a:avLst/>
          </a:prstGeom>
        </p:spPr>
      </p:pic>
      <p:pic>
        <p:nvPicPr>
          <p:cNvPr id="16" name="Picture 15" descr="lock.png"/>
          <p:cNvPicPr>
            <a:picLocks noChangeAspect="1"/>
          </p:cNvPicPr>
          <p:nvPr/>
        </p:nvPicPr>
        <p:blipFill>
          <a:blip r:embed="rId6"/>
          <a:stretch>
            <a:fillRect/>
          </a:stretch>
        </p:blipFill>
        <p:spPr>
          <a:xfrm>
            <a:off x="9053384" y="3583939"/>
            <a:ext cx="402511" cy="585471"/>
          </a:xfrm>
          <a:prstGeom prst="rect">
            <a:avLst/>
          </a:prstGeom>
        </p:spPr>
      </p:pic>
      <p:sp>
        <p:nvSpPr>
          <p:cNvPr id="17" name="lockshield_9"/>
          <p:cNvSpPr/>
          <p:nvPr/>
        </p:nvSpPr>
        <p:spPr>
          <a:xfrm>
            <a:off x="238125" y="1266825"/>
            <a:ext cx="5686425" cy="53054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lockshield_12"/>
          <p:cNvSpPr/>
          <p:nvPr/>
        </p:nvSpPr>
        <p:spPr>
          <a:xfrm>
            <a:off x="6267450" y="1266825"/>
            <a:ext cx="5686425" cy="53054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Value Analysis, By Form (US$ Mn)</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by Form, 2021–2036, highlighting the sub-segments driving growth</a:t>
            </a:r>
          </a:p>
        </p:txBody>
      </p:sp>
      <p:sp>
        <p:nvSpPr>
          <p:cNvPr id="7" name="Rounded Rectangle 6"/>
          <p:cNvSpPr/>
          <p:nvPr/>
        </p:nvSpPr>
        <p:spPr>
          <a:xfrm>
            <a:off x="142875" y="981075"/>
            <a:ext cx="11906250" cy="1457325"/>
          </a:xfrm>
          <a:prstGeom prst="roundRect">
            <a:avLst>
              <a:gd name="adj" fmla="val 522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By Form (US$ Mn)</a:t>
            </a:r>
          </a:p>
        </p:txBody>
      </p:sp>
      <p:graphicFrame>
        <p:nvGraphicFramePr>
          <p:cNvPr id="9" name="Table 8"/>
          <p:cNvGraphicFramePr>
            <a:graphicFrameLocks noGrp="1"/>
          </p:cNvGraphicFramePr>
          <p:nvPr/>
        </p:nvGraphicFramePr>
        <p:xfrm>
          <a:off x="152400" y="1238250"/>
          <a:ext cx="11887195" cy="990600"/>
        </p:xfrm>
        <a:graphic>
          <a:graphicData uri="http://schemas.openxmlformats.org/drawingml/2006/table">
            <a:tbl>
              <a:tblPr>
                <a:tableStyleId>{5C22544A-7EE6-4342-B048-85BDC9FD1C3A}</a:tableStyleId>
              </a:tblPr>
              <a:tblGrid>
                <a:gridCol w="1477789"/>
                <a:gridCol w="612318"/>
                <a:gridCol w="612318"/>
                <a:gridCol w="612318"/>
                <a:gridCol w="612318"/>
                <a:gridCol w="612318"/>
                <a:gridCol w="612318"/>
                <a:gridCol w="612318"/>
                <a:gridCol w="612318"/>
                <a:gridCol w="612318"/>
                <a:gridCol w="612318"/>
                <a:gridCol w="612318"/>
                <a:gridCol w="612318"/>
                <a:gridCol w="612318"/>
                <a:gridCol w="612318"/>
                <a:gridCol w="612318"/>
                <a:gridCol w="612318"/>
                <a:gridCol w="612318"/>
              </a:tblGrid>
              <a:tr h="246126">
                <a:tc>
                  <a:txBody>
                    <a:bodyPr wrap="none"/>
                    <a:lstStyle/>
                    <a:p>
                      <a:pPr algn="l"/>
                      <a:r>
                        <a:rPr sz="1100" b="1">
                          <a:solidFill>
                            <a:srgbClr val="0E2A5C"/>
                          </a:solidFill>
                          <a:latin typeface="Calibri"/>
                        </a:rPr>
                        <a:t>Form</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2021A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2022A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2023A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2024A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2025A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2026E</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2027F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2028F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2029F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2030F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2031F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2032F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2033F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2034F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2035F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2036F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F-CAGR</a:t>
                      </a:r>
                      <a:endParaRPr sz="1100"/>
                    </a:p>
                  </a:txBody>
                  <a:tcPr marL="47625" marR="38100" marT="19050" marB="19050" anchor="ctr">
                    <a:solidFill>
                      <a:srgbClr val="EBF2F9"/>
                    </a:solidFill>
                  </a:tcPr>
                </a:tc>
              </a:tr>
              <a:tr h="248158">
                <a:tc>
                  <a:txBody>
                    <a:bodyPr wrap="none"/>
                    <a:lstStyle/>
                    <a:p>
                      <a:pPr algn="l"/>
                      <a:r>
                        <a:rPr sz="1100" b="1">
                          <a:solidFill>
                            <a:srgbClr val="2E2E2E"/>
                          </a:solidFill>
                          <a:latin typeface="Calibri"/>
                        </a:rPr>
                        <a:t>Powder</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8158">
                <a:tc>
                  <a:txBody>
                    <a:bodyPr wrap="none"/>
                    <a:lstStyle/>
                    <a:p>
                      <a:pPr algn="l"/>
                      <a:r>
                        <a:rPr sz="1100" b="1">
                          <a:solidFill>
                            <a:srgbClr val="2E2E2E"/>
                          </a:solidFill>
                          <a:latin typeface="Calibri"/>
                        </a:rPr>
                        <a:t>Liquid / Concentrate</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8158">
                <a:tc>
                  <a:txBody>
                    <a:bodyPr wrap="none"/>
                    <a:lstStyle/>
                    <a:p>
                      <a:pPr algn="l"/>
                      <a:r>
                        <a:rPr sz="1100" b="1">
                          <a:solidFill>
                            <a:srgbClr val="2E2E2E"/>
                          </a:solidFill>
                          <a:latin typeface="Calibri"/>
                        </a:rPr>
                        <a:t>Total</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r>
            </a:tbl>
          </a:graphicData>
        </a:graphic>
      </p:graphicFrame>
      <p:sp>
        <p:nvSpPr>
          <p:cNvPr id="10" name="TextBox 9"/>
          <p:cNvSpPr txBox="1"/>
          <p:nvPr/>
        </p:nvSpPr>
        <p:spPr>
          <a:xfrm>
            <a:off x="219075" y="223837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11" name="Rounded Rectangle 10"/>
          <p:cNvSpPr/>
          <p:nvPr/>
        </p:nvSpPr>
        <p:spPr>
          <a:xfrm>
            <a:off x="142875" y="2571750"/>
            <a:ext cx="11906250" cy="4057650"/>
          </a:xfrm>
          <a:prstGeom prst="roundRect">
            <a:avLst>
              <a:gd name="adj" fmla="val 1877"/>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6225" y="2657475"/>
            <a:ext cx="11639550" cy="209550"/>
          </a:xfrm>
          <a:prstGeom prst="rect">
            <a:avLst/>
          </a:prstGeom>
          <a:noFill/>
        </p:spPr>
        <p:txBody>
          <a:bodyPr wrap="square" lIns="0" rIns="19050" tIns="9525" bIns="9525">
            <a:spAutoFit/>
          </a:bodyPr>
          <a:lstStyle/>
          <a:p>
            <a:pPr algn="l"/>
            <a:r>
              <a:rPr sz="1300" b="1">
                <a:solidFill>
                  <a:srgbClr val="0E2A5C"/>
                </a:solidFill>
                <a:latin typeface="Calibri"/>
              </a:rPr>
              <a:t>Global Value Analysis, By Form</a:t>
            </a:r>
          </a:p>
        </p:txBody>
      </p:sp>
      <p:sp>
        <p:nvSpPr>
          <p:cNvPr id="13" name="Rectangle 12"/>
          <p:cNvSpPr/>
          <p:nvPr/>
        </p:nvSpPr>
        <p:spPr>
          <a:xfrm>
            <a:off x="276225" y="2895600"/>
            <a:ext cx="116395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6225" y="2981325"/>
            <a:ext cx="11639550" cy="357187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5" name="Rectangle 14"/>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7" name="Picture 16" descr="lock.png"/>
          <p:cNvPicPr>
            <a:picLocks noChangeAspect="1"/>
          </p:cNvPicPr>
          <p:nvPr/>
        </p:nvPicPr>
        <p:blipFill>
          <a:blip r:embed="rId4"/>
          <a:stretch>
            <a:fillRect/>
          </a:stretch>
        </p:blipFill>
        <p:spPr>
          <a:xfrm>
            <a:off x="6648202" y="1589913"/>
            <a:ext cx="366712" cy="533400"/>
          </a:xfrm>
          <a:prstGeom prst="rect">
            <a:avLst/>
          </a:prstGeom>
        </p:spPr>
      </p:pic>
      <p:sp>
        <p:nvSpPr>
          <p:cNvPr id="18" name="TextBox 17"/>
          <p:cNvSpPr txBox="1"/>
          <p:nvPr/>
        </p:nvSpPr>
        <p:spPr>
          <a:xfrm>
            <a:off x="276225" y="2990850"/>
            <a:ext cx="3201727" cy="194310"/>
          </a:xfrm>
          <a:prstGeom prst="rect">
            <a:avLst/>
          </a:prstGeom>
          <a:noFill/>
        </p:spPr>
        <p:txBody>
          <a:bodyPr wrap="none" lIns="0" rIns="0" tIns="0" bIns="0">
            <a:spAutoFit/>
          </a:bodyPr>
          <a:lstStyle/>
          <a:p>
            <a:r>
              <a:rPr sz="1150" b="0">
                <a:solidFill>
                  <a:srgbClr val="2E2E2E"/>
                </a:solidFill>
                <a:latin typeface="Calibri"/>
              </a:rPr>
              <a:t>Liquid / concentrate segment is projected to register</a:t>
            </a:r>
          </a:p>
        </p:txBody>
      </p:sp>
      <p:pic>
        <p:nvPicPr>
          <p:cNvPr id="19" name="Picture 18" descr="lock.png"/>
          <p:cNvPicPr>
            <a:picLocks noChangeAspect="1"/>
          </p:cNvPicPr>
          <p:nvPr/>
        </p:nvPicPr>
        <p:blipFill>
          <a:blip r:embed="rId4"/>
          <a:stretch>
            <a:fillRect/>
          </a:stretch>
        </p:blipFill>
        <p:spPr>
          <a:xfrm>
            <a:off x="3427105" y="2980626"/>
            <a:ext cx="134549" cy="195707"/>
          </a:xfrm>
          <a:prstGeom prst="rect">
            <a:avLst/>
          </a:prstGeom>
        </p:spPr>
      </p:pic>
      <p:sp>
        <p:nvSpPr>
          <p:cNvPr id="20" name="TextBox 19"/>
          <p:cNvSpPr txBox="1"/>
          <p:nvPr/>
        </p:nvSpPr>
        <p:spPr>
          <a:xfrm>
            <a:off x="3602215" y="2990850"/>
            <a:ext cx="8260705" cy="194310"/>
          </a:xfrm>
          <a:prstGeom prst="rect">
            <a:avLst/>
          </a:prstGeom>
          <a:noFill/>
        </p:spPr>
        <p:txBody>
          <a:bodyPr wrap="none" lIns="0" rIns="0" tIns="0" bIns="0">
            <a:spAutoFit/>
          </a:bodyPr>
          <a:lstStyle/>
          <a:p>
            <a:r>
              <a:rPr sz="1150" b="0">
                <a:solidFill>
                  <a:srgbClr val="2E2E2E"/>
                </a:solidFill>
                <a:latin typeface="Calibri"/>
              </a:rPr>
              <a:t>X higher value than powder segment in 2036. Among egg protein membrane by form, liquid / concentrate segment is expected to witness</a:t>
            </a:r>
          </a:p>
        </p:txBody>
      </p:sp>
      <p:sp>
        <p:nvSpPr>
          <p:cNvPr id="21" name="TextBox 20"/>
          <p:cNvSpPr txBox="1"/>
          <p:nvPr/>
        </p:nvSpPr>
        <p:spPr>
          <a:xfrm>
            <a:off x="276225" y="3166110"/>
            <a:ext cx="1263979" cy="194310"/>
          </a:xfrm>
          <a:prstGeom prst="rect">
            <a:avLst/>
          </a:prstGeom>
          <a:noFill/>
        </p:spPr>
        <p:txBody>
          <a:bodyPr wrap="none" lIns="0" rIns="0" tIns="0" bIns="0">
            <a:spAutoFit/>
          </a:bodyPr>
          <a:lstStyle/>
          <a:p>
            <a:r>
              <a:rPr sz="1150" b="0">
                <a:solidFill>
                  <a:srgbClr val="2E2E2E"/>
                </a:solidFill>
                <a:latin typeface="Calibri"/>
              </a:rPr>
              <a:t>the highest CAGR of</a:t>
            </a:r>
          </a:p>
        </p:txBody>
      </p:sp>
      <p:pic>
        <p:nvPicPr>
          <p:cNvPr id="22" name="Picture 21" descr="lock.png"/>
          <p:cNvPicPr>
            <a:picLocks noChangeAspect="1"/>
          </p:cNvPicPr>
          <p:nvPr/>
        </p:nvPicPr>
        <p:blipFill>
          <a:blip r:embed="rId4"/>
          <a:stretch>
            <a:fillRect/>
          </a:stretch>
        </p:blipFill>
        <p:spPr>
          <a:xfrm>
            <a:off x="1489358" y="3155886"/>
            <a:ext cx="134549" cy="195707"/>
          </a:xfrm>
          <a:prstGeom prst="rect">
            <a:avLst/>
          </a:prstGeom>
        </p:spPr>
      </p:pic>
      <p:sp>
        <p:nvSpPr>
          <p:cNvPr id="23" name="TextBox 22"/>
          <p:cNvSpPr txBox="1"/>
          <p:nvPr/>
        </p:nvSpPr>
        <p:spPr>
          <a:xfrm>
            <a:off x="1664467" y="3166110"/>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24" name="TextBox 23"/>
          <p:cNvSpPr txBox="1"/>
          <p:nvPr/>
        </p:nvSpPr>
        <p:spPr>
          <a:xfrm>
            <a:off x="276225" y="3393947"/>
            <a:ext cx="6611652" cy="194310"/>
          </a:xfrm>
          <a:prstGeom prst="rect">
            <a:avLst/>
          </a:prstGeom>
          <a:noFill/>
        </p:spPr>
        <p:txBody>
          <a:bodyPr wrap="none" lIns="0" rIns="0" tIns="0" bIns="0">
            <a:spAutoFit/>
          </a:bodyPr>
          <a:lstStyle/>
          <a:p>
            <a:r>
              <a:rPr sz="1150" b="0">
                <a:solidFill>
                  <a:srgbClr val="2E2E2E"/>
                </a:solidFill>
                <a:latin typeface="Calibri"/>
              </a:rPr>
              <a:t>In terms of value share by form, the liquid / concentrate segment is expected to dominate the market, gaining</a:t>
            </a:r>
          </a:p>
        </p:txBody>
      </p:sp>
      <p:pic>
        <p:nvPicPr>
          <p:cNvPr id="25" name="Picture 24" descr="lock.png"/>
          <p:cNvPicPr>
            <a:picLocks noChangeAspect="1"/>
          </p:cNvPicPr>
          <p:nvPr/>
        </p:nvPicPr>
        <p:blipFill>
          <a:blip r:embed="rId4"/>
          <a:stretch>
            <a:fillRect/>
          </a:stretch>
        </p:blipFill>
        <p:spPr>
          <a:xfrm>
            <a:off x="6837031" y="3383724"/>
            <a:ext cx="134549" cy="195707"/>
          </a:xfrm>
          <a:prstGeom prst="rect">
            <a:avLst/>
          </a:prstGeom>
        </p:spPr>
      </p:pic>
      <p:sp>
        <p:nvSpPr>
          <p:cNvPr id="26" name="TextBox 25"/>
          <p:cNvSpPr txBox="1"/>
          <p:nvPr/>
        </p:nvSpPr>
        <p:spPr>
          <a:xfrm>
            <a:off x="7012140" y="3393947"/>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27" name="Picture 26" descr="lock.png"/>
          <p:cNvPicPr>
            <a:picLocks noChangeAspect="1"/>
          </p:cNvPicPr>
          <p:nvPr/>
        </p:nvPicPr>
        <p:blipFill>
          <a:blip r:embed="rId4"/>
          <a:stretch>
            <a:fillRect/>
          </a:stretch>
        </p:blipFill>
        <p:spPr>
          <a:xfrm>
            <a:off x="8407283" y="3383724"/>
            <a:ext cx="134549" cy="195707"/>
          </a:xfrm>
          <a:prstGeom prst="rect">
            <a:avLst/>
          </a:prstGeom>
        </p:spPr>
      </p:pic>
      <p:sp>
        <p:nvSpPr>
          <p:cNvPr id="28" name="TextBox 27"/>
          <p:cNvSpPr txBox="1"/>
          <p:nvPr/>
        </p:nvSpPr>
        <p:spPr>
          <a:xfrm>
            <a:off x="8582392" y="3393947"/>
            <a:ext cx="3100747" cy="194310"/>
          </a:xfrm>
          <a:prstGeom prst="rect">
            <a:avLst/>
          </a:prstGeom>
          <a:noFill/>
        </p:spPr>
        <p:txBody>
          <a:bodyPr wrap="none" lIns="0" rIns="0" tIns="0" bIns="0">
            <a:spAutoFit/>
          </a:bodyPr>
          <a:lstStyle/>
          <a:p>
            <a:r>
              <a:rPr sz="1150" b="0">
                <a:solidFill>
                  <a:srgbClr val="2E2E2E"/>
                </a:solidFill>
                <a:latin typeface="Calibri"/>
              </a:rPr>
              <a:t>share by 2036. The powder segment is expected to</a:t>
            </a:r>
          </a:p>
        </p:txBody>
      </p:sp>
      <p:sp>
        <p:nvSpPr>
          <p:cNvPr id="29" name="TextBox 28"/>
          <p:cNvSpPr txBox="1"/>
          <p:nvPr/>
        </p:nvSpPr>
        <p:spPr>
          <a:xfrm>
            <a:off x="276225" y="3569207"/>
            <a:ext cx="316669" cy="194310"/>
          </a:xfrm>
          <a:prstGeom prst="rect">
            <a:avLst/>
          </a:prstGeom>
          <a:noFill/>
        </p:spPr>
        <p:txBody>
          <a:bodyPr wrap="none" lIns="0" rIns="0" tIns="0" bIns="0">
            <a:spAutoFit/>
          </a:bodyPr>
          <a:lstStyle/>
          <a:p>
            <a:r>
              <a:rPr sz="1150" b="0">
                <a:solidFill>
                  <a:srgbClr val="2E2E2E"/>
                </a:solidFill>
                <a:latin typeface="Calibri"/>
              </a:rPr>
              <a:t>lose</a:t>
            </a:r>
          </a:p>
        </p:txBody>
      </p:sp>
      <p:pic>
        <p:nvPicPr>
          <p:cNvPr id="30" name="Picture 29" descr="lock.png"/>
          <p:cNvPicPr>
            <a:picLocks noChangeAspect="1"/>
          </p:cNvPicPr>
          <p:nvPr/>
        </p:nvPicPr>
        <p:blipFill>
          <a:blip r:embed="rId4"/>
          <a:stretch>
            <a:fillRect/>
          </a:stretch>
        </p:blipFill>
        <p:spPr>
          <a:xfrm>
            <a:off x="542047" y="3558984"/>
            <a:ext cx="134549" cy="195707"/>
          </a:xfrm>
          <a:prstGeom prst="rect">
            <a:avLst/>
          </a:prstGeom>
        </p:spPr>
      </p:pic>
      <p:sp>
        <p:nvSpPr>
          <p:cNvPr id="31" name="TextBox 30"/>
          <p:cNvSpPr txBox="1"/>
          <p:nvPr/>
        </p:nvSpPr>
        <p:spPr>
          <a:xfrm>
            <a:off x="717157" y="3569207"/>
            <a:ext cx="2638350" cy="194310"/>
          </a:xfrm>
          <a:prstGeom prst="rect">
            <a:avLst/>
          </a:prstGeom>
          <a:noFill/>
        </p:spPr>
        <p:txBody>
          <a:bodyPr wrap="none" lIns="0" rIns="0" tIns="0" bIns="0">
            <a:spAutoFit/>
          </a:bodyPr>
          <a:lstStyle/>
          <a:p>
            <a:r>
              <a:rPr sz="1150" b="0">
                <a:solidFill>
                  <a:srgbClr val="2E2E2E"/>
                </a:solidFill>
                <a:latin typeface="Calibri"/>
              </a:rPr>
              <a:t>BPS over the forecast period to account for</a:t>
            </a:r>
          </a:p>
        </p:txBody>
      </p:sp>
      <p:pic>
        <p:nvPicPr>
          <p:cNvPr id="32" name="Picture 31" descr="lock.png"/>
          <p:cNvPicPr>
            <a:picLocks noChangeAspect="1"/>
          </p:cNvPicPr>
          <p:nvPr/>
        </p:nvPicPr>
        <p:blipFill>
          <a:blip r:embed="rId4"/>
          <a:stretch>
            <a:fillRect/>
          </a:stretch>
        </p:blipFill>
        <p:spPr>
          <a:xfrm>
            <a:off x="3304661" y="3558984"/>
            <a:ext cx="134549" cy="195707"/>
          </a:xfrm>
          <a:prstGeom prst="rect">
            <a:avLst/>
          </a:prstGeom>
        </p:spPr>
      </p:pic>
      <p:sp>
        <p:nvSpPr>
          <p:cNvPr id="33" name="TextBox 32"/>
          <p:cNvSpPr txBox="1"/>
          <p:nvPr/>
        </p:nvSpPr>
        <p:spPr>
          <a:xfrm>
            <a:off x="3479771" y="3569207"/>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Value &amp; Share Shift, By Form</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Value composition by Form in 2021, 2026 and 2036, highlighting share shifts in basis points</a:t>
            </a:r>
          </a:p>
        </p:txBody>
      </p:sp>
      <p:sp>
        <p:nvSpPr>
          <p:cNvPr id="7" name="Rounded Rectangle 6"/>
          <p:cNvSpPr/>
          <p:nvPr/>
        </p:nvSpPr>
        <p:spPr>
          <a:xfrm>
            <a:off x="142875" y="981075"/>
            <a:ext cx="7400925" cy="5648325"/>
          </a:xfrm>
          <a:prstGeom prst="roundRect">
            <a:avLst>
              <a:gd name="adj" fmla="val 134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7210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Composition, By Form ·  2021 / 2026 / 2036 (US$ Mn)  ·  right axis = BPS share shift</a:t>
            </a:r>
          </a:p>
        </p:txBody>
      </p:sp>
      <p:graphicFrame>
        <p:nvGraphicFramePr>
          <p:cNvPr id="9" name="Chart 8"/>
          <p:cNvGraphicFramePr>
            <a:graphicFrameLocks noGrp="1"/>
          </p:cNvGraphicFramePr>
          <p:nvPr/>
        </p:nvGraphicFramePr>
        <p:xfrm>
          <a:off x="238125" y="1409700"/>
          <a:ext cx="4614672" cy="5162550"/>
        </p:xfrm>
        <a:graphic>
          <a:graphicData uri="http://schemas.openxmlformats.org/drawingml/2006/chart">
            <c:chart xmlns:c="http://schemas.openxmlformats.org/drawingml/2006/chart" r:id="rId3"/>
          </a:graphicData>
        </a:graphic>
      </p:graphicFrame>
      <p:sp>
        <p:nvSpPr>
          <p:cNvPr id="10" name="TextBox 9"/>
          <p:cNvSpPr txBox="1"/>
          <p:nvPr/>
        </p:nvSpPr>
        <p:spPr>
          <a:xfrm>
            <a:off x="4852797" y="1419225"/>
            <a:ext cx="2595753" cy="177927"/>
          </a:xfrm>
          <a:prstGeom prst="rect">
            <a:avLst/>
          </a:prstGeom>
          <a:noFill/>
        </p:spPr>
        <p:txBody>
          <a:bodyPr wrap="square" lIns="28575" rIns="28575" tIns="9525" bIns="9525" anchor="ctr">
            <a:spAutoFit/>
          </a:bodyPr>
          <a:lstStyle/>
          <a:p>
            <a:pPr algn="ctr"/>
            <a:r>
              <a:rPr sz="1300" b="1">
                <a:solidFill>
                  <a:srgbClr val="2A5F8F"/>
                </a:solidFill>
                <a:latin typeface="Calibri"/>
              </a:rPr>
              <a:t>BPS Δ  (2021→2036)</a:t>
            </a:r>
          </a:p>
        </p:txBody>
      </p:sp>
      <p:sp>
        <p:nvSpPr>
          <p:cNvPr id="11" name="TMR Lock Anchor"/>
          <p:cNvSpPr txBox="1"/>
          <p:nvPr/>
        </p:nvSpPr>
        <p:spPr>
          <a:xfrm>
            <a:off x="2678811" y="3932301"/>
            <a:ext cx="38100" cy="38100"/>
          </a:xfrm>
          <a:prstGeom prst="rect">
            <a:avLst/>
          </a:prstGeom>
          <a:noFill/>
        </p:spPr>
        <p:txBody>
          <a:bodyPr wrap="none">
            <a:spAutoFit/>
          </a:bodyPr>
          <a:lstStyle/>
          <a:p/>
        </p:txBody>
      </p:sp>
      <p:sp>
        <p:nvSpPr>
          <p:cNvPr id="12" name="TMR Legend Chip"/>
          <p:cNvSpPr/>
          <p:nvPr/>
        </p:nvSpPr>
        <p:spPr>
          <a:xfrm>
            <a:off x="4928997" y="2003000"/>
            <a:ext cx="85725" cy="85725"/>
          </a:xfrm>
          <a:prstGeom prst="rect">
            <a:avLst/>
          </a:prstGeom>
          <a:solidFill>
            <a:srgbClr val="0081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Isosceles Triangle 12"/>
          <p:cNvSpPr/>
          <p:nvPr/>
        </p:nvSpPr>
        <p:spPr>
          <a:xfrm rot="10800000">
            <a:off x="5090922" y="1998238"/>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BPS Name 1"/>
          <p:cNvSpPr txBox="1"/>
          <p:nvPr/>
        </p:nvSpPr>
        <p:spPr>
          <a:xfrm>
            <a:off x="5233797" y="1922038"/>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Powder</a:t>
            </a:r>
          </a:p>
        </p:txBody>
      </p:sp>
      <p:sp>
        <p:nvSpPr>
          <p:cNvPr id="15" name="BPS Value 1"/>
          <p:cNvSpPr txBox="1"/>
          <p:nvPr/>
        </p:nvSpPr>
        <p:spPr>
          <a:xfrm>
            <a:off x="6896100" y="1983950"/>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16" name="TMR Legend Chip"/>
          <p:cNvSpPr/>
          <p:nvPr/>
        </p:nvSpPr>
        <p:spPr>
          <a:xfrm>
            <a:off x="4928997" y="4371487"/>
            <a:ext cx="85725" cy="85725"/>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Isosceles Triangle 16"/>
          <p:cNvSpPr/>
          <p:nvPr/>
        </p:nvSpPr>
        <p:spPr>
          <a:xfrm>
            <a:off x="5090922" y="4366724"/>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PS Name 2"/>
          <p:cNvSpPr txBox="1"/>
          <p:nvPr/>
        </p:nvSpPr>
        <p:spPr>
          <a:xfrm>
            <a:off x="5233797" y="4290524"/>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Liquid / Concentrate</a:t>
            </a:r>
          </a:p>
        </p:txBody>
      </p:sp>
      <p:sp>
        <p:nvSpPr>
          <p:cNvPr id="19" name="BPS Value 2"/>
          <p:cNvSpPr txBox="1"/>
          <p:nvPr/>
        </p:nvSpPr>
        <p:spPr>
          <a:xfrm>
            <a:off x="6896100" y="4352437"/>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0" name="Rounded Rectangle 19"/>
          <p:cNvSpPr/>
          <p:nvPr/>
        </p:nvSpPr>
        <p:spPr>
          <a:xfrm>
            <a:off x="7696200" y="981075"/>
            <a:ext cx="4343400" cy="5648325"/>
          </a:xfrm>
          <a:prstGeom prst="roundRect">
            <a:avLst>
              <a:gd name="adj" fmla="val 1754"/>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E2A5C"/>
                </a:solidFill>
                <a:latin typeface="Calibri"/>
              </a:rPr>
              <a:t>Global Read-out, By Form</a:t>
            </a:r>
          </a:p>
        </p:txBody>
      </p:sp>
      <p:sp>
        <p:nvSpPr>
          <p:cNvPr id="22" name="Rectangle 21"/>
          <p:cNvSpPr/>
          <p:nvPr/>
        </p:nvSpPr>
        <p:spPr>
          <a:xfrm>
            <a:off x="7829550" y="1304925"/>
            <a:ext cx="407670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24" name="Rectangle 23"/>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26" name="Picture 25" descr="lock.png"/>
          <p:cNvPicPr>
            <a:picLocks noChangeAspect="1"/>
          </p:cNvPicPr>
          <p:nvPr/>
        </p:nvPicPr>
        <p:blipFill>
          <a:blip r:embed="rId5"/>
          <a:stretch>
            <a:fillRect/>
          </a:stretch>
        </p:blipFill>
        <p:spPr>
          <a:xfrm>
            <a:off x="2557843" y="3751325"/>
            <a:ext cx="275034" cy="400050"/>
          </a:xfrm>
          <a:prstGeom prst="rect">
            <a:avLst/>
          </a:prstGeom>
        </p:spPr>
      </p:pic>
      <p:sp>
        <p:nvSpPr>
          <p:cNvPr id="27" name="TextBox 26"/>
          <p:cNvSpPr txBox="1"/>
          <p:nvPr/>
        </p:nvSpPr>
        <p:spPr>
          <a:xfrm>
            <a:off x="7829550" y="1400175"/>
            <a:ext cx="3640162" cy="194310"/>
          </a:xfrm>
          <a:prstGeom prst="rect">
            <a:avLst/>
          </a:prstGeom>
          <a:noFill/>
        </p:spPr>
        <p:txBody>
          <a:bodyPr wrap="none" lIns="0" rIns="0" tIns="0" bIns="0">
            <a:spAutoFit/>
          </a:bodyPr>
          <a:lstStyle/>
          <a:p>
            <a:r>
              <a:rPr sz="1150" b="0">
                <a:solidFill>
                  <a:srgbClr val="2E2E2E"/>
                </a:solidFill>
                <a:latin typeface="Calibri"/>
              </a:rPr>
              <a:t>Among egg protein membrane by form, liquid / concentrate</a:t>
            </a:r>
          </a:p>
        </p:txBody>
      </p:sp>
      <p:sp>
        <p:nvSpPr>
          <p:cNvPr id="28" name="TextBox 27"/>
          <p:cNvSpPr txBox="1"/>
          <p:nvPr/>
        </p:nvSpPr>
        <p:spPr>
          <a:xfrm>
            <a:off x="7829550" y="1575435"/>
            <a:ext cx="3156639" cy="194310"/>
          </a:xfrm>
          <a:prstGeom prst="rect">
            <a:avLst/>
          </a:prstGeom>
          <a:noFill/>
        </p:spPr>
        <p:txBody>
          <a:bodyPr wrap="none" lIns="0" rIns="0" tIns="0" bIns="0">
            <a:spAutoFit/>
          </a:bodyPr>
          <a:lstStyle/>
          <a:p>
            <a:r>
              <a:rPr sz="1150" b="0">
                <a:solidFill>
                  <a:srgbClr val="2E2E2E"/>
                </a:solidFill>
                <a:latin typeface="Calibri"/>
              </a:rPr>
              <a:t>segment is expected to witness the highest CAGR of</a:t>
            </a:r>
          </a:p>
        </p:txBody>
      </p:sp>
      <p:pic>
        <p:nvPicPr>
          <p:cNvPr id="29" name="Picture 28" descr="lock.png"/>
          <p:cNvPicPr>
            <a:picLocks noChangeAspect="1"/>
          </p:cNvPicPr>
          <p:nvPr/>
        </p:nvPicPr>
        <p:blipFill>
          <a:blip r:embed="rId5"/>
          <a:stretch>
            <a:fillRect/>
          </a:stretch>
        </p:blipFill>
        <p:spPr>
          <a:xfrm>
            <a:off x="10935343" y="1565211"/>
            <a:ext cx="134549" cy="195707"/>
          </a:xfrm>
          <a:prstGeom prst="rect">
            <a:avLst/>
          </a:prstGeom>
        </p:spPr>
      </p:pic>
      <p:sp>
        <p:nvSpPr>
          <p:cNvPr id="30" name="TextBox 29"/>
          <p:cNvSpPr txBox="1"/>
          <p:nvPr/>
        </p:nvSpPr>
        <p:spPr>
          <a:xfrm>
            <a:off x="11110452" y="1575435"/>
            <a:ext cx="574538" cy="194310"/>
          </a:xfrm>
          <a:prstGeom prst="rect">
            <a:avLst/>
          </a:prstGeom>
          <a:noFill/>
        </p:spPr>
        <p:txBody>
          <a:bodyPr wrap="none" lIns="0" rIns="0" tIns="0" bIns="0">
            <a:spAutoFit/>
          </a:bodyPr>
          <a:lstStyle/>
          <a:p>
            <a:r>
              <a:rPr sz="1150" b="0">
                <a:solidFill>
                  <a:srgbClr val="2E2E2E"/>
                </a:solidFill>
                <a:latin typeface="Calibri"/>
              </a:rPr>
              <a:t>over the</a:t>
            </a:r>
          </a:p>
        </p:txBody>
      </p:sp>
      <p:sp>
        <p:nvSpPr>
          <p:cNvPr id="31" name="TextBox 30"/>
          <p:cNvSpPr txBox="1"/>
          <p:nvPr/>
        </p:nvSpPr>
        <p:spPr>
          <a:xfrm>
            <a:off x="7829550" y="1750695"/>
            <a:ext cx="3631034" cy="194310"/>
          </a:xfrm>
          <a:prstGeom prst="rect">
            <a:avLst/>
          </a:prstGeom>
          <a:noFill/>
        </p:spPr>
        <p:txBody>
          <a:bodyPr wrap="none" lIns="0" rIns="0" tIns="0" bIns="0">
            <a:spAutoFit/>
          </a:bodyPr>
          <a:lstStyle/>
          <a:p>
            <a:r>
              <a:rPr sz="1150" b="0">
                <a:solidFill>
                  <a:srgbClr val="2E2E2E"/>
                </a:solidFill>
                <a:latin typeface="Calibri"/>
              </a:rPr>
              <a:t>forecast period. In terms of value share by form, the liquid /</a:t>
            </a:r>
          </a:p>
        </p:txBody>
      </p:sp>
      <p:sp>
        <p:nvSpPr>
          <p:cNvPr id="32" name="TextBox 31"/>
          <p:cNvSpPr txBox="1"/>
          <p:nvPr/>
        </p:nvSpPr>
        <p:spPr>
          <a:xfrm>
            <a:off x="7829550" y="1925955"/>
            <a:ext cx="3997870" cy="194310"/>
          </a:xfrm>
          <a:prstGeom prst="rect">
            <a:avLst/>
          </a:prstGeom>
          <a:noFill/>
        </p:spPr>
        <p:txBody>
          <a:bodyPr wrap="none" lIns="0" rIns="0" tIns="0" bIns="0">
            <a:spAutoFit/>
          </a:bodyPr>
          <a:lstStyle/>
          <a:p>
            <a:r>
              <a:rPr sz="1150" b="0">
                <a:solidFill>
                  <a:srgbClr val="2E2E2E"/>
                </a:solidFill>
                <a:latin typeface="Calibri"/>
              </a:rPr>
              <a:t>concentrate segment is expected to dominate the market, gaining</a:t>
            </a:r>
          </a:p>
        </p:txBody>
      </p:sp>
      <p:pic>
        <p:nvPicPr>
          <p:cNvPr id="33" name="Picture 32" descr="lock.png"/>
          <p:cNvPicPr>
            <a:picLocks noChangeAspect="1"/>
          </p:cNvPicPr>
          <p:nvPr/>
        </p:nvPicPr>
        <p:blipFill>
          <a:blip r:embed="rId5"/>
          <a:stretch>
            <a:fillRect/>
          </a:stretch>
        </p:blipFill>
        <p:spPr>
          <a:xfrm>
            <a:off x="7815470" y="2090991"/>
            <a:ext cx="134549" cy="195707"/>
          </a:xfrm>
          <a:prstGeom prst="rect">
            <a:avLst/>
          </a:prstGeom>
        </p:spPr>
      </p:pic>
      <p:sp>
        <p:nvSpPr>
          <p:cNvPr id="34" name="TextBox 33"/>
          <p:cNvSpPr txBox="1"/>
          <p:nvPr/>
        </p:nvSpPr>
        <p:spPr>
          <a:xfrm>
            <a:off x="7990579" y="2101215"/>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35" name="Picture 34" descr="lock.png"/>
          <p:cNvPicPr>
            <a:picLocks noChangeAspect="1"/>
          </p:cNvPicPr>
          <p:nvPr/>
        </p:nvPicPr>
        <p:blipFill>
          <a:blip r:embed="rId5"/>
          <a:stretch>
            <a:fillRect/>
          </a:stretch>
        </p:blipFill>
        <p:spPr>
          <a:xfrm>
            <a:off x="9385722" y="2090991"/>
            <a:ext cx="134549" cy="195707"/>
          </a:xfrm>
          <a:prstGeom prst="rect">
            <a:avLst/>
          </a:prstGeom>
        </p:spPr>
      </p:pic>
      <p:sp>
        <p:nvSpPr>
          <p:cNvPr id="36" name="TextBox 35"/>
          <p:cNvSpPr txBox="1"/>
          <p:nvPr/>
        </p:nvSpPr>
        <p:spPr>
          <a:xfrm>
            <a:off x="9560832" y="2101215"/>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37" name="TextBox 36"/>
          <p:cNvSpPr txBox="1"/>
          <p:nvPr/>
        </p:nvSpPr>
        <p:spPr>
          <a:xfrm>
            <a:off x="7829550" y="2329053"/>
            <a:ext cx="2471191" cy="194310"/>
          </a:xfrm>
          <a:prstGeom prst="rect">
            <a:avLst/>
          </a:prstGeom>
          <a:noFill/>
        </p:spPr>
        <p:txBody>
          <a:bodyPr wrap="none" lIns="0" rIns="0" tIns="0" bIns="0">
            <a:spAutoFit/>
          </a:bodyPr>
          <a:lstStyle/>
          <a:p>
            <a:r>
              <a:rPr sz="1150" b="0">
                <a:solidFill>
                  <a:srgbClr val="2E2E2E"/>
                </a:solidFill>
                <a:latin typeface="Calibri"/>
              </a:rPr>
              <a:t>The powder segment is expected to lose</a:t>
            </a:r>
          </a:p>
        </p:txBody>
      </p:sp>
      <p:pic>
        <p:nvPicPr>
          <p:cNvPr id="38" name="Picture 37" descr="lock.png"/>
          <p:cNvPicPr>
            <a:picLocks noChangeAspect="1"/>
          </p:cNvPicPr>
          <p:nvPr/>
        </p:nvPicPr>
        <p:blipFill>
          <a:blip r:embed="rId5"/>
          <a:stretch>
            <a:fillRect/>
          </a:stretch>
        </p:blipFill>
        <p:spPr>
          <a:xfrm>
            <a:off x="10249895" y="2318829"/>
            <a:ext cx="134549" cy="195707"/>
          </a:xfrm>
          <a:prstGeom prst="rect">
            <a:avLst/>
          </a:prstGeom>
        </p:spPr>
      </p:pic>
      <p:sp>
        <p:nvSpPr>
          <p:cNvPr id="39" name="TextBox 38"/>
          <p:cNvSpPr txBox="1"/>
          <p:nvPr/>
        </p:nvSpPr>
        <p:spPr>
          <a:xfrm>
            <a:off x="10425005" y="2329053"/>
            <a:ext cx="1346150" cy="194310"/>
          </a:xfrm>
          <a:prstGeom prst="rect">
            <a:avLst/>
          </a:prstGeom>
          <a:noFill/>
        </p:spPr>
        <p:txBody>
          <a:bodyPr wrap="none" lIns="0" rIns="0" tIns="0" bIns="0">
            <a:spAutoFit/>
          </a:bodyPr>
          <a:lstStyle/>
          <a:p>
            <a:r>
              <a:rPr sz="1150" b="0">
                <a:solidFill>
                  <a:srgbClr val="2E2E2E"/>
                </a:solidFill>
                <a:latin typeface="Calibri"/>
              </a:rPr>
              <a:t>BPS over the forecast</a:t>
            </a:r>
          </a:p>
        </p:txBody>
      </p:sp>
      <p:sp>
        <p:nvSpPr>
          <p:cNvPr id="40" name="TextBox 39"/>
          <p:cNvSpPr txBox="1"/>
          <p:nvPr/>
        </p:nvSpPr>
        <p:spPr>
          <a:xfrm>
            <a:off x="7829550" y="2504313"/>
            <a:ext cx="1335310" cy="194310"/>
          </a:xfrm>
          <a:prstGeom prst="rect">
            <a:avLst/>
          </a:prstGeom>
          <a:noFill/>
        </p:spPr>
        <p:txBody>
          <a:bodyPr wrap="none" lIns="0" rIns="0" tIns="0" bIns="0">
            <a:spAutoFit/>
          </a:bodyPr>
          <a:lstStyle/>
          <a:p>
            <a:r>
              <a:rPr sz="1150" b="0">
                <a:solidFill>
                  <a:srgbClr val="2E2E2E"/>
                </a:solidFill>
                <a:latin typeface="Calibri"/>
              </a:rPr>
              <a:t>period to account for</a:t>
            </a:r>
          </a:p>
        </p:txBody>
      </p:sp>
      <p:pic>
        <p:nvPicPr>
          <p:cNvPr id="41" name="Picture 40" descr="lock.png"/>
          <p:cNvPicPr>
            <a:picLocks noChangeAspect="1"/>
          </p:cNvPicPr>
          <p:nvPr/>
        </p:nvPicPr>
        <p:blipFill>
          <a:blip r:embed="rId5"/>
          <a:stretch>
            <a:fillRect/>
          </a:stretch>
        </p:blipFill>
        <p:spPr>
          <a:xfrm>
            <a:off x="9114014" y="2494089"/>
            <a:ext cx="134549" cy="195707"/>
          </a:xfrm>
          <a:prstGeom prst="rect">
            <a:avLst/>
          </a:prstGeom>
        </p:spPr>
      </p:pic>
      <p:sp>
        <p:nvSpPr>
          <p:cNvPr id="42" name="TextBox 41"/>
          <p:cNvSpPr txBox="1"/>
          <p:nvPr/>
        </p:nvSpPr>
        <p:spPr>
          <a:xfrm>
            <a:off x="9289123" y="2504313"/>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43" name="lockshield_9"/>
          <p:cNvSpPr/>
          <p:nvPr/>
        </p:nvSpPr>
        <p:spPr>
          <a:xfrm>
            <a:off x="238125" y="1409700"/>
            <a:ext cx="4614672" cy="51625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3F8FD"/>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3F8FD"/>
              </a:gs>
              <a:gs pos="100000">
                <a:srgbClr val="DCE9F6"/>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FE0F0">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9C8E6">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B7D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A5F8F"/>
              </a:gs>
              <a:gs pos="100000">
                <a:srgbClr val="6FA6D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MR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7.5</a:t>
            </a:r>
          </a:p>
        </p:txBody>
      </p:sp>
      <p:pic>
        <p:nvPicPr>
          <p:cNvPr id="8" name="Picture 7" descr="tmr_logo.png"/>
          <p:cNvPicPr>
            <a:picLocks noChangeAspect="1"/>
          </p:cNvPicPr>
          <p:nvPr/>
        </p:nvPicPr>
        <p:blipFill>
          <a:blip r:embed="rId2"/>
          <a:stretch>
            <a:fillRect/>
          </a:stretch>
        </p:blipFill>
        <p:spPr>
          <a:xfrm>
            <a:off x="411480" y="274320"/>
            <a:ext cx="1307592" cy="975505"/>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2A5F8F"/>
                </a:solidFill>
                <a:latin typeface="Calibri"/>
              </a:rPr>
              <a:t>Egg Protein Membrane Market</a:t>
            </a:r>
          </a:p>
        </p:txBody>
      </p:sp>
      <p:sp>
        <p:nvSpPr>
          <p:cNvPr id="10" name="TMR Section Title"/>
          <p:cNvSpPr txBox="1"/>
          <p:nvPr/>
        </p:nvSpPr>
        <p:spPr>
          <a:xfrm>
            <a:off x="914400" y="2701925"/>
            <a:ext cx="8572500" cy="514350"/>
          </a:xfrm>
          <a:prstGeom prst="rect">
            <a:avLst/>
          </a:prstGeom>
          <a:noFill/>
        </p:spPr>
        <p:txBody>
          <a:bodyPr wrap="square" lIns="0" rIns="0" tIns="0">
            <a:spAutoFit/>
          </a:bodyPr>
          <a:lstStyle/>
          <a:p>
            <a:r>
              <a:rPr sz="3000" b="1">
                <a:solidFill>
                  <a:srgbClr val="0E2A5C"/>
                </a:solidFill>
                <a:latin typeface="Calibri"/>
              </a:rPr>
              <a:t>Application</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Application Segment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Structure &amp; Attractiveness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Value Analysis</a:t>
            </a:r>
          </a:p>
        </p:txBody>
      </p:sp>
      <p:sp>
        <p:nvSpPr>
          <p:cNvPr id="12" name="Rectangle 11"/>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By Application Segment Outlook</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Segment analysis of market size, growth and share across 6 sub-segments of Application, 2026–2036</a:t>
            </a:r>
          </a:p>
        </p:txBody>
      </p:sp>
      <p:sp>
        <p:nvSpPr>
          <p:cNvPr id="7" name="TextBox 6"/>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Application segment categorizes the market by application. Each sub-category is evaluated on market size, growth outlook and adoption trends across the forecast period.</a:t>
            </a:r>
          </a:p>
        </p:txBody>
      </p:sp>
      <p:sp>
        <p:nvSpPr>
          <p:cNvPr id="8" name="Rectangle 7"/>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Sub-Segment</a:t>
            </a:r>
          </a:p>
        </p:txBody>
      </p:sp>
      <p:sp>
        <p:nvSpPr>
          <p:cNvPr id="10" name="Rectangle 9"/>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2" name="Rectangle 11"/>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4" name="Rectangle 13"/>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16" name="Rounded Rectangle 15"/>
          <p:cNvSpPr/>
          <p:nvPr/>
        </p:nvSpPr>
        <p:spPr>
          <a:xfrm>
            <a:off x="1866900" y="1773916"/>
            <a:ext cx="1571625"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866900" y="1992961"/>
            <a:ext cx="1571625"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905000"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Dietary Supplements &amp; Nutraceutic…</a:t>
            </a:r>
          </a:p>
        </p:txBody>
      </p:sp>
      <p:sp>
        <p:nvSpPr>
          <p:cNvPr id="19" name="Rectangle 18"/>
          <p:cNvSpPr/>
          <p:nvPr/>
        </p:nvSpPr>
        <p:spPr>
          <a:xfrm>
            <a:off x="1866900"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0" name="Rectangle 19"/>
          <p:cNvSpPr/>
          <p:nvPr/>
        </p:nvSpPr>
        <p:spPr>
          <a:xfrm>
            <a:off x="1866900"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1" name="Rectangle 20"/>
          <p:cNvSpPr/>
          <p:nvPr/>
        </p:nvSpPr>
        <p:spPr>
          <a:xfrm>
            <a:off x="1866900"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2" name="Oval 21"/>
          <p:cNvSpPr/>
          <p:nvPr/>
        </p:nvSpPr>
        <p:spPr>
          <a:xfrm>
            <a:off x="2490788"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23" name="Rounded Rectangle 22"/>
          <p:cNvSpPr/>
          <p:nvPr/>
        </p:nvSpPr>
        <p:spPr>
          <a:xfrm>
            <a:off x="3552825" y="1773916"/>
            <a:ext cx="1571625"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552825" y="1992961"/>
            <a:ext cx="1571625"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590925"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Pharmaceuticals &amp; Biomedical</a:t>
            </a:r>
          </a:p>
        </p:txBody>
      </p:sp>
      <p:sp>
        <p:nvSpPr>
          <p:cNvPr id="26" name="Rectangle 25"/>
          <p:cNvSpPr/>
          <p:nvPr/>
        </p:nvSpPr>
        <p:spPr>
          <a:xfrm>
            <a:off x="3552825"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27" name="Rectangle 26"/>
          <p:cNvSpPr/>
          <p:nvPr/>
        </p:nvSpPr>
        <p:spPr>
          <a:xfrm>
            <a:off x="3552825"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28" name="Rectangle 27"/>
          <p:cNvSpPr/>
          <p:nvPr/>
        </p:nvSpPr>
        <p:spPr>
          <a:xfrm>
            <a:off x="3552825"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29" name="Oval 28"/>
          <p:cNvSpPr/>
          <p:nvPr/>
        </p:nvSpPr>
        <p:spPr>
          <a:xfrm>
            <a:off x="4176712"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30" name="Rounded Rectangle 29"/>
          <p:cNvSpPr/>
          <p:nvPr/>
        </p:nvSpPr>
        <p:spPr>
          <a:xfrm>
            <a:off x="5238750" y="1773916"/>
            <a:ext cx="1571625" cy="438089"/>
          </a:xfrm>
          <a:prstGeom prst="roundRect">
            <a:avLst>
              <a:gd name="adj" fmla="val 18000"/>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238750" y="1992961"/>
            <a:ext cx="1571625" cy="219044"/>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276850"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Functional Food &amp; Beverages</a:t>
            </a:r>
          </a:p>
        </p:txBody>
      </p:sp>
      <p:sp>
        <p:nvSpPr>
          <p:cNvPr id="33" name="Rectangle 32"/>
          <p:cNvSpPr/>
          <p:nvPr/>
        </p:nvSpPr>
        <p:spPr>
          <a:xfrm>
            <a:off x="5238750"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4" name="Rectangle 33"/>
          <p:cNvSpPr/>
          <p:nvPr/>
        </p:nvSpPr>
        <p:spPr>
          <a:xfrm>
            <a:off x="5238750"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5" name="Rectangle 34"/>
          <p:cNvSpPr/>
          <p:nvPr/>
        </p:nvSpPr>
        <p:spPr>
          <a:xfrm>
            <a:off x="5238750"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6" name="Oval 35"/>
          <p:cNvSpPr/>
          <p:nvPr/>
        </p:nvSpPr>
        <p:spPr>
          <a:xfrm>
            <a:off x="5862638" y="1445350"/>
            <a:ext cx="323850" cy="310313"/>
          </a:xfrm>
          <a:prstGeom prst="ellipse">
            <a:avLst/>
          </a:prstGeom>
          <a:solidFill>
            <a:srgbClr val="0081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3</a:t>
            </a:r>
          </a:p>
        </p:txBody>
      </p:sp>
      <p:sp>
        <p:nvSpPr>
          <p:cNvPr id="37" name="Rounded Rectangle 36"/>
          <p:cNvSpPr/>
          <p:nvPr/>
        </p:nvSpPr>
        <p:spPr>
          <a:xfrm>
            <a:off x="6924675" y="1773916"/>
            <a:ext cx="1571625" cy="438089"/>
          </a:xfrm>
          <a:prstGeom prst="roundRect">
            <a:avLst>
              <a:gd name="adj" fmla="val 18000"/>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6924675" y="1992961"/>
            <a:ext cx="1571625" cy="219044"/>
          </a:xfrm>
          <a:prstGeom prst="rect">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962775"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Cosmetics &amp; Personal Care</a:t>
            </a:r>
          </a:p>
        </p:txBody>
      </p:sp>
      <p:sp>
        <p:nvSpPr>
          <p:cNvPr id="40" name="Rectangle 39"/>
          <p:cNvSpPr/>
          <p:nvPr/>
        </p:nvSpPr>
        <p:spPr>
          <a:xfrm>
            <a:off x="6924675"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1" name="Rectangle 40"/>
          <p:cNvSpPr/>
          <p:nvPr/>
        </p:nvSpPr>
        <p:spPr>
          <a:xfrm>
            <a:off x="6924675"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2" name="Rectangle 41"/>
          <p:cNvSpPr/>
          <p:nvPr/>
        </p:nvSpPr>
        <p:spPr>
          <a:xfrm>
            <a:off x="6924675"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3" name="Oval 42"/>
          <p:cNvSpPr/>
          <p:nvPr/>
        </p:nvSpPr>
        <p:spPr>
          <a:xfrm>
            <a:off x="7548562" y="1445350"/>
            <a:ext cx="323850" cy="310313"/>
          </a:xfrm>
          <a:prstGeom prst="ellipse">
            <a:avLst/>
          </a:prstGeom>
          <a:solidFill>
            <a:srgbClr val="6F3CC2"/>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4</a:t>
            </a:r>
          </a:p>
        </p:txBody>
      </p:sp>
      <p:sp>
        <p:nvSpPr>
          <p:cNvPr id="44" name="Rounded Rectangle 43"/>
          <p:cNvSpPr/>
          <p:nvPr/>
        </p:nvSpPr>
        <p:spPr>
          <a:xfrm>
            <a:off x="8610600" y="1773916"/>
            <a:ext cx="1571625" cy="438089"/>
          </a:xfrm>
          <a:prstGeom prst="roundRect">
            <a:avLst>
              <a:gd name="adj" fmla="val 18000"/>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8610600" y="1992961"/>
            <a:ext cx="1571625" cy="219044"/>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648700"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Industrial &amp; Biomaterials</a:t>
            </a:r>
          </a:p>
        </p:txBody>
      </p:sp>
      <p:sp>
        <p:nvSpPr>
          <p:cNvPr id="47" name="Rectangle 46"/>
          <p:cNvSpPr/>
          <p:nvPr/>
        </p:nvSpPr>
        <p:spPr>
          <a:xfrm>
            <a:off x="8610600"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48" name="Rectangle 47"/>
          <p:cNvSpPr/>
          <p:nvPr/>
        </p:nvSpPr>
        <p:spPr>
          <a:xfrm>
            <a:off x="8610600"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49" name="Rectangle 48"/>
          <p:cNvSpPr/>
          <p:nvPr/>
        </p:nvSpPr>
        <p:spPr>
          <a:xfrm>
            <a:off x="8610600"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50" name="Oval 49"/>
          <p:cNvSpPr/>
          <p:nvPr/>
        </p:nvSpPr>
        <p:spPr>
          <a:xfrm>
            <a:off x="9234488" y="1445350"/>
            <a:ext cx="323850" cy="310313"/>
          </a:xfrm>
          <a:prstGeom prst="ellipse">
            <a:avLst/>
          </a:prstGeom>
          <a:solidFill>
            <a:srgbClr val="A86F00"/>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5</a:t>
            </a:r>
          </a:p>
        </p:txBody>
      </p:sp>
      <p:sp>
        <p:nvSpPr>
          <p:cNvPr id="51" name="Rounded Rectangle 50"/>
          <p:cNvSpPr/>
          <p:nvPr/>
        </p:nvSpPr>
        <p:spPr>
          <a:xfrm>
            <a:off x="10296525" y="1773916"/>
            <a:ext cx="1571625" cy="438089"/>
          </a:xfrm>
          <a:prstGeom prst="roundRect">
            <a:avLst>
              <a:gd name="adj" fmla="val 18000"/>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10296525" y="1992961"/>
            <a:ext cx="1571625" cy="219044"/>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10334625"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Animal Nutrition &amp; Pet Care</a:t>
            </a:r>
          </a:p>
        </p:txBody>
      </p:sp>
      <p:sp>
        <p:nvSpPr>
          <p:cNvPr id="54" name="Rectangle 53"/>
          <p:cNvSpPr/>
          <p:nvPr/>
        </p:nvSpPr>
        <p:spPr>
          <a:xfrm>
            <a:off x="10296525"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
            </a:r>
          </a:p>
        </p:txBody>
      </p:sp>
      <p:sp>
        <p:nvSpPr>
          <p:cNvPr id="55" name="Rectangle 54"/>
          <p:cNvSpPr/>
          <p:nvPr/>
        </p:nvSpPr>
        <p:spPr>
          <a:xfrm>
            <a:off x="10296525"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
            </a:r>
          </a:p>
        </p:txBody>
      </p:sp>
      <p:sp>
        <p:nvSpPr>
          <p:cNvPr id="56" name="Rectangle 55"/>
          <p:cNvSpPr/>
          <p:nvPr/>
        </p:nvSpPr>
        <p:spPr>
          <a:xfrm>
            <a:off x="10296525"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
            </a:r>
          </a:p>
        </p:txBody>
      </p:sp>
      <p:sp>
        <p:nvSpPr>
          <p:cNvPr id="57" name="Oval 56"/>
          <p:cNvSpPr/>
          <p:nvPr/>
        </p:nvSpPr>
        <p:spPr>
          <a:xfrm>
            <a:off x="10920412" y="1445350"/>
            <a:ext cx="323850" cy="310313"/>
          </a:xfrm>
          <a:prstGeom prst="ellipse">
            <a:avLst/>
          </a:prstGeom>
          <a:solidFill>
            <a:srgbClr val="A35313"/>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6</a:t>
            </a:r>
          </a:p>
        </p:txBody>
      </p:sp>
      <p:sp>
        <p:nvSpPr>
          <p:cNvPr id="58" name="Rounded Rectangle 57"/>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B2E4A"/>
                </a:solidFill>
                <a:latin typeface="Calibri"/>
              </a:rPr>
              <a:t>Key Highlights</a:t>
            </a:r>
          </a:p>
        </p:txBody>
      </p:sp>
      <p:sp>
        <p:nvSpPr>
          <p:cNvPr id="60" name="Rectangle 59"/>
          <p:cNvSpPr/>
          <p:nvPr/>
        </p:nvSpPr>
        <p:spPr>
          <a:xfrm>
            <a:off x="457200" y="4146897"/>
            <a:ext cx="2971800" cy="18254"/>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457200" y="4219912"/>
            <a:ext cx="29718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2E2E2E"/>
                </a:solidFill>
                <a:latin typeface="Calibri"/>
              </a:rPr>
              <a:t/>
            </a:r>
          </a:p>
          <a:p>
            <a:pPr algn="l">
              <a:lnSpc>
                <a:spcPct val="110000"/>
              </a:lnSpc>
              <a:spcBef>
                <a:spcPts val="0"/>
              </a:spcBef>
              <a:spcAft>
                <a:spcPts val="500"/>
              </a:spcAft>
            </a:pPr>
            <a:r>
              <a:rPr sz="1100" b="0">
                <a:solidFill>
                  <a:srgbClr val="2E2E2E"/>
                </a:solidFill>
                <a:latin typeface="Calibri"/>
              </a:rPr>
              <a:t/>
            </a:r>
          </a:p>
        </p:txBody>
      </p:sp>
      <p:sp>
        <p:nvSpPr>
          <p:cNvPr id="62" name="Rounded Rectangle 61"/>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B2E4A"/>
                </a:solidFill>
                <a:latin typeface="Calibri"/>
              </a:rPr>
              <a:t>Sub-Segment Insights</a:t>
            </a:r>
          </a:p>
        </p:txBody>
      </p:sp>
      <p:sp>
        <p:nvSpPr>
          <p:cNvPr id="64" name="Rectangle 63"/>
          <p:cNvSpPr/>
          <p:nvPr/>
        </p:nvSpPr>
        <p:spPr>
          <a:xfrm>
            <a:off x="3810000" y="4146897"/>
            <a:ext cx="4210050" cy="18254"/>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3810000" y="4219912"/>
            <a:ext cx="4210050" cy="2117429"/>
          </a:xfrm>
          <a:prstGeom prst="rect">
            <a:avLst/>
          </a:prstGeom>
          <a:noFill/>
        </p:spPr>
        <p:txBody>
          <a:bodyPr wrap="square" lIns="28575" rIns="28575" tIns="9525" bIns="9525">
            <a:spAutoFit/>
          </a:bodyPr>
          <a:lstStyle/>
          <a:p>
            <a:pPr algn="l">
              <a:lnSpc>
                <a:spcPct val="105000"/>
              </a:lnSpc>
              <a:spcBef>
                <a:spcPts val="0"/>
              </a:spcBef>
              <a:spcAft>
                <a:spcPts val="300"/>
              </a:spcAft>
            </a:pPr>
            <a:r>
              <a:rPr sz="1100" b="0">
                <a:solidFill>
                  <a:srgbClr val="0B2E4A"/>
                </a:solidFill>
                <a:latin typeface="Calibri"/>
              </a:rPr>
              <a:t/>
            </a:r>
            <a:r>
              <a:rPr sz="1100" b="1">
                <a:solidFill>
                  <a:srgbClr val="0B2E4A"/>
                </a:solidFill>
                <a:latin typeface="Calibri"/>
              </a:rPr>
              <a:t/>
            </a:r>
            <a:r>
              <a:rPr sz="1100" b="0">
                <a:solidFill>
                  <a:srgbClr val="2E2E2E"/>
                </a:solidFill>
                <a:latin typeface="Calibri"/>
              </a:rPr>
              <a:t/>
            </a:r>
          </a:p>
          <a:p>
            <a:pPr algn="l">
              <a:lnSpc>
                <a:spcPct val="105000"/>
              </a:lnSpc>
              <a:spcBef>
                <a:spcPts val="0"/>
              </a:spcBef>
              <a:spcAft>
                <a:spcPts val="300"/>
              </a:spcAft>
            </a:pPr>
            <a:r>
              <a:rPr sz="1100" b="0">
                <a:solidFill>
                  <a:srgbClr val="0E72AE"/>
                </a:solidFill>
                <a:latin typeface="Calibri"/>
              </a:rPr>
              <a:t/>
            </a:r>
            <a:r>
              <a:rPr sz="1100" b="1">
                <a:solidFill>
                  <a:srgbClr val="0E72AE"/>
                </a:solidFill>
                <a:latin typeface="Calibri"/>
              </a:rPr>
              <a:t/>
            </a:r>
            <a:r>
              <a:rPr sz="1100" b="0">
                <a:solidFill>
                  <a:srgbClr val="2E2E2E"/>
                </a:solidFill>
                <a:latin typeface="Calibri"/>
              </a:rPr>
              <a:t/>
            </a:r>
          </a:p>
          <a:p>
            <a:pPr algn="l">
              <a:lnSpc>
                <a:spcPct val="105000"/>
              </a:lnSpc>
              <a:spcBef>
                <a:spcPts val="0"/>
              </a:spcBef>
              <a:spcAft>
                <a:spcPts val="300"/>
              </a:spcAft>
            </a:pPr>
            <a:r>
              <a:rPr sz="1100" b="0">
                <a:solidFill>
                  <a:srgbClr val="008189"/>
                </a:solidFill>
                <a:latin typeface="Calibri"/>
              </a:rPr>
              <a:t/>
            </a:r>
            <a:r>
              <a:rPr sz="1100" b="1">
                <a:solidFill>
                  <a:srgbClr val="008189"/>
                </a:solidFill>
                <a:latin typeface="Calibri"/>
              </a:rPr>
              <a:t/>
            </a:r>
            <a:r>
              <a:rPr sz="1100" b="0">
                <a:solidFill>
                  <a:srgbClr val="2E2E2E"/>
                </a:solidFill>
                <a:latin typeface="Calibri"/>
              </a:rPr>
              <a:t/>
            </a:r>
          </a:p>
          <a:p>
            <a:pPr algn="l">
              <a:lnSpc>
                <a:spcPct val="105000"/>
              </a:lnSpc>
              <a:spcBef>
                <a:spcPts val="0"/>
              </a:spcBef>
              <a:spcAft>
                <a:spcPts val="300"/>
              </a:spcAft>
            </a:pPr>
            <a:r>
              <a:rPr sz="1100" b="0">
                <a:solidFill>
                  <a:srgbClr val="6F3CC2"/>
                </a:solidFill>
                <a:latin typeface="Calibri"/>
              </a:rPr>
              <a:t/>
            </a:r>
            <a:r>
              <a:rPr sz="1100" b="1">
                <a:solidFill>
                  <a:srgbClr val="6F3CC2"/>
                </a:solidFill>
                <a:latin typeface="Calibri"/>
              </a:rPr>
              <a:t/>
            </a:r>
            <a:r>
              <a:rPr sz="1100" b="0">
                <a:solidFill>
                  <a:srgbClr val="2E2E2E"/>
                </a:solidFill>
                <a:latin typeface="Calibri"/>
              </a:rPr>
              <a:t/>
            </a:r>
          </a:p>
          <a:p>
            <a:pPr algn="l">
              <a:lnSpc>
                <a:spcPct val="105000"/>
              </a:lnSpc>
              <a:spcBef>
                <a:spcPts val="0"/>
              </a:spcBef>
              <a:spcAft>
                <a:spcPts val="300"/>
              </a:spcAft>
            </a:pPr>
            <a:r>
              <a:rPr sz="1100" b="0">
                <a:solidFill>
                  <a:srgbClr val="A86F00"/>
                </a:solidFill>
                <a:latin typeface="Calibri"/>
              </a:rPr>
              <a:t/>
            </a:r>
            <a:r>
              <a:rPr sz="1100" b="1">
                <a:solidFill>
                  <a:srgbClr val="A86F00"/>
                </a:solidFill>
                <a:latin typeface="Calibri"/>
              </a:rPr>
              <a:t/>
            </a:r>
            <a:r>
              <a:rPr sz="1100" b="0">
                <a:solidFill>
                  <a:srgbClr val="2E2E2E"/>
                </a:solidFill>
                <a:latin typeface="Calibri"/>
              </a:rPr>
              <a:t/>
            </a:r>
          </a:p>
          <a:p>
            <a:pPr algn="l">
              <a:lnSpc>
                <a:spcPct val="105000"/>
              </a:lnSpc>
              <a:spcBef>
                <a:spcPts val="0"/>
              </a:spcBef>
              <a:spcAft>
                <a:spcPts val="300"/>
              </a:spcAft>
            </a:pPr>
            <a:r>
              <a:rPr sz="1100" b="0">
                <a:solidFill>
                  <a:srgbClr val="A35313"/>
                </a:solidFill>
                <a:latin typeface="Calibri"/>
              </a:rPr>
              <a:t/>
            </a:r>
            <a:r>
              <a:rPr sz="1100" b="1">
                <a:solidFill>
                  <a:srgbClr val="A35313"/>
                </a:solidFill>
                <a:latin typeface="Calibri"/>
              </a:rPr>
              <a:t/>
            </a:r>
            <a:r>
              <a:rPr sz="1100" b="0">
                <a:solidFill>
                  <a:srgbClr val="2E2E2E"/>
                </a:solidFill>
                <a:latin typeface="Calibri"/>
              </a:rPr>
              <a:t/>
            </a:r>
          </a:p>
        </p:txBody>
      </p:sp>
      <p:sp>
        <p:nvSpPr>
          <p:cNvPr id="66" name="Rounded Rectangle 65"/>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B2E4A"/>
                </a:solidFill>
                <a:latin typeface="Calibri"/>
              </a:rPr>
              <a:t>Segment Overview</a:t>
            </a:r>
          </a:p>
        </p:txBody>
      </p:sp>
      <p:sp>
        <p:nvSpPr>
          <p:cNvPr id="68" name="Rectangle 67"/>
          <p:cNvSpPr/>
          <p:nvPr/>
        </p:nvSpPr>
        <p:spPr>
          <a:xfrm>
            <a:off x="8401050" y="4146897"/>
            <a:ext cx="3333750" cy="18254"/>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00ACAC"/>
                </a:solidFill>
                <a:latin typeface="Calibri"/>
              </a:rPr>
              <a:t>✓  </a:t>
            </a:r>
            <a:r>
              <a:rPr sz="1100" b="0">
                <a:solidFill>
                  <a:srgbClr val="2E2E2E"/>
                </a:solidFill>
                <a:latin typeface="Calibri"/>
              </a:rPr>
              <a:t>The Application split shows how demand is distributed across application types and where growth concentrates.</a:t>
            </a:r>
          </a:p>
          <a:p>
            <a:pPr algn="l">
              <a:lnSpc>
                <a:spcPct val="110000"/>
              </a:lnSpc>
              <a:spcBef>
                <a:spcPts val="0"/>
              </a:spcBef>
              <a:spcAft>
                <a:spcPts val="500"/>
              </a:spcAft>
            </a:pPr>
            <a:r>
              <a:rPr sz="1100" b="1">
                <a:solidFill>
                  <a:srgbClr val="00ACAC"/>
                </a:solidFill>
                <a:latin typeface="Calibri"/>
              </a:rPr>
              <a:t>✓  </a:t>
            </a:r>
            <a:r>
              <a:rPr sz="1100" b="0">
                <a:solidFill>
                  <a:srgbClr val="2E2E2E"/>
                </a:solidFill>
                <a:latin typeface="Calibri"/>
              </a:rPr>
              <a:t>Shifting preferences and product innovation are reshaping the mix through 2036.</a:t>
            </a:r>
          </a:p>
        </p:txBody>
      </p:sp>
      <p:sp>
        <p:nvSpPr>
          <p:cNvPr id="70" name="Rectangle 69"/>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B2E4A"/>
                </a:solidFill>
                <a:latin typeface="Calibri"/>
              </a:rPr>
              <a:t/>
            </a:r>
          </a:p>
        </p:txBody>
      </p:sp>
      <p:sp>
        <p:nvSpPr>
          <p:cNvPr id="72" name="TextBox 71"/>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TMR Analysis, 2026</a:t>
            </a:r>
          </a:p>
        </p:txBody>
      </p:sp>
      <p:sp>
        <p:nvSpPr>
          <p:cNvPr id="73" name="Rectangle 72"/>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75" name="Picture 74" descr="3_895_605E5C.png"/>
          <p:cNvPicPr>
            <a:picLocks noChangeAspect="1"/>
          </p:cNvPicPr>
          <p:nvPr/>
        </p:nvPicPr>
        <p:blipFill>
          <a:blip r:embed="rId4"/>
          <a:stretch>
            <a:fillRect/>
          </a:stretch>
        </p:blipFill>
        <p:spPr>
          <a:xfrm>
            <a:off x="2054848" y="2286582"/>
            <a:ext cx="1195728" cy="361950"/>
          </a:xfrm>
          <a:prstGeom prst="rect">
            <a:avLst/>
          </a:prstGeom>
        </p:spPr>
      </p:pic>
      <p:pic>
        <p:nvPicPr>
          <p:cNvPr id="76" name="Picture 75" descr="5_933_605E5C.png"/>
          <p:cNvPicPr>
            <a:picLocks noChangeAspect="1"/>
          </p:cNvPicPr>
          <p:nvPr/>
        </p:nvPicPr>
        <p:blipFill>
          <a:blip r:embed="rId5"/>
          <a:stretch>
            <a:fillRect/>
          </a:stretch>
        </p:blipFill>
        <p:spPr>
          <a:xfrm>
            <a:off x="2054848" y="2779432"/>
            <a:ext cx="1195728" cy="361950"/>
          </a:xfrm>
          <a:prstGeom prst="rect">
            <a:avLst/>
          </a:prstGeom>
        </p:spPr>
      </p:pic>
      <p:pic>
        <p:nvPicPr>
          <p:cNvPr id="77" name="Picture 76" descr="4_3__605E5C.png"/>
          <p:cNvPicPr>
            <a:picLocks noChangeAspect="1"/>
          </p:cNvPicPr>
          <p:nvPr/>
        </p:nvPicPr>
        <p:blipFill>
          <a:blip r:embed="rId6"/>
          <a:stretch>
            <a:fillRect/>
          </a:stretch>
        </p:blipFill>
        <p:spPr>
          <a:xfrm>
            <a:off x="2161494" y="3272281"/>
            <a:ext cx="982436" cy="361950"/>
          </a:xfrm>
          <a:prstGeom prst="rect">
            <a:avLst/>
          </a:prstGeom>
        </p:spPr>
      </p:pic>
      <p:pic>
        <p:nvPicPr>
          <p:cNvPr id="78" name="Picture 77" descr="2_133_605E5C.png"/>
          <p:cNvPicPr>
            <a:picLocks noChangeAspect="1"/>
          </p:cNvPicPr>
          <p:nvPr/>
        </p:nvPicPr>
        <p:blipFill>
          <a:blip r:embed="rId7"/>
          <a:stretch>
            <a:fillRect/>
          </a:stretch>
        </p:blipFill>
        <p:spPr>
          <a:xfrm>
            <a:off x="3740773" y="2286582"/>
            <a:ext cx="1195728" cy="361950"/>
          </a:xfrm>
          <a:prstGeom prst="rect">
            <a:avLst/>
          </a:prstGeom>
        </p:spPr>
      </p:pic>
      <p:pic>
        <p:nvPicPr>
          <p:cNvPr id="79" name="Picture 78" descr="3_099_605E5C.png"/>
          <p:cNvPicPr>
            <a:picLocks noChangeAspect="1"/>
          </p:cNvPicPr>
          <p:nvPr/>
        </p:nvPicPr>
        <p:blipFill>
          <a:blip r:embed="rId8"/>
          <a:stretch>
            <a:fillRect/>
          </a:stretch>
        </p:blipFill>
        <p:spPr>
          <a:xfrm>
            <a:off x="3740773" y="2779432"/>
            <a:ext cx="1195728" cy="361950"/>
          </a:xfrm>
          <a:prstGeom prst="rect">
            <a:avLst/>
          </a:prstGeom>
        </p:spPr>
      </p:pic>
      <p:pic>
        <p:nvPicPr>
          <p:cNvPr id="80" name="Picture 79" descr="3_8__605E5C.png"/>
          <p:cNvPicPr>
            <a:picLocks noChangeAspect="1"/>
          </p:cNvPicPr>
          <p:nvPr/>
        </p:nvPicPr>
        <p:blipFill>
          <a:blip r:embed="rId9"/>
          <a:stretch>
            <a:fillRect/>
          </a:stretch>
        </p:blipFill>
        <p:spPr>
          <a:xfrm>
            <a:off x="3847419" y="3272281"/>
            <a:ext cx="982436" cy="361950"/>
          </a:xfrm>
          <a:prstGeom prst="rect">
            <a:avLst/>
          </a:prstGeom>
        </p:spPr>
      </p:pic>
      <p:pic>
        <p:nvPicPr>
          <p:cNvPr id="81" name="Picture 80" descr="1_654_605E5C.png"/>
          <p:cNvPicPr>
            <a:picLocks noChangeAspect="1"/>
          </p:cNvPicPr>
          <p:nvPr/>
        </p:nvPicPr>
        <p:blipFill>
          <a:blip r:embed="rId10"/>
          <a:stretch>
            <a:fillRect/>
          </a:stretch>
        </p:blipFill>
        <p:spPr>
          <a:xfrm>
            <a:off x="5426698" y="2286582"/>
            <a:ext cx="1195728" cy="361950"/>
          </a:xfrm>
          <a:prstGeom prst="rect">
            <a:avLst/>
          </a:prstGeom>
        </p:spPr>
      </p:pic>
      <p:pic>
        <p:nvPicPr>
          <p:cNvPr id="82" name="Picture 81" descr="3_453_605E5C.png"/>
          <p:cNvPicPr>
            <a:picLocks noChangeAspect="1"/>
          </p:cNvPicPr>
          <p:nvPr/>
        </p:nvPicPr>
        <p:blipFill>
          <a:blip r:embed="rId11"/>
          <a:stretch>
            <a:fillRect/>
          </a:stretch>
        </p:blipFill>
        <p:spPr>
          <a:xfrm>
            <a:off x="5426698" y="2779432"/>
            <a:ext cx="1195728" cy="361950"/>
          </a:xfrm>
          <a:prstGeom prst="rect">
            <a:avLst/>
          </a:prstGeom>
        </p:spPr>
      </p:pic>
      <p:pic>
        <p:nvPicPr>
          <p:cNvPr id="83" name="Picture 82" descr="7_6__605E5C.png"/>
          <p:cNvPicPr>
            <a:picLocks noChangeAspect="1"/>
          </p:cNvPicPr>
          <p:nvPr/>
        </p:nvPicPr>
        <p:blipFill>
          <a:blip r:embed="rId12"/>
          <a:stretch>
            <a:fillRect/>
          </a:stretch>
        </p:blipFill>
        <p:spPr>
          <a:xfrm>
            <a:off x="5533344" y="3272281"/>
            <a:ext cx="982436" cy="361950"/>
          </a:xfrm>
          <a:prstGeom prst="rect">
            <a:avLst/>
          </a:prstGeom>
        </p:spPr>
      </p:pic>
      <p:pic>
        <p:nvPicPr>
          <p:cNvPr id="84" name="Picture 83" descr="1_511_605E5C.png"/>
          <p:cNvPicPr>
            <a:picLocks noChangeAspect="1"/>
          </p:cNvPicPr>
          <p:nvPr/>
        </p:nvPicPr>
        <p:blipFill>
          <a:blip r:embed="rId13"/>
          <a:stretch>
            <a:fillRect/>
          </a:stretch>
        </p:blipFill>
        <p:spPr>
          <a:xfrm>
            <a:off x="7112623" y="2286582"/>
            <a:ext cx="1195728" cy="361950"/>
          </a:xfrm>
          <a:prstGeom prst="rect">
            <a:avLst/>
          </a:prstGeom>
        </p:spPr>
      </p:pic>
      <p:pic>
        <p:nvPicPr>
          <p:cNvPr id="85" name="Picture 84" descr="2_126_605E5C.png"/>
          <p:cNvPicPr>
            <a:picLocks noChangeAspect="1"/>
          </p:cNvPicPr>
          <p:nvPr/>
        </p:nvPicPr>
        <p:blipFill>
          <a:blip r:embed="rId14"/>
          <a:stretch>
            <a:fillRect/>
          </a:stretch>
        </p:blipFill>
        <p:spPr>
          <a:xfrm>
            <a:off x="7112623" y="2779432"/>
            <a:ext cx="1195728" cy="361950"/>
          </a:xfrm>
          <a:prstGeom prst="rect">
            <a:avLst/>
          </a:prstGeom>
        </p:spPr>
      </p:pic>
      <p:pic>
        <p:nvPicPr>
          <p:cNvPr id="86" name="Picture 85" descr="3_5__605E5C.png"/>
          <p:cNvPicPr>
            <a:picLocks noChangeAspect="1"/>
          </p:cNvPicPr>
          <p:nvPr/>
        </p:nvPicPr>
        <p:blipFill>
          <a:blip r:embed="rId15"/>
          <a:stretch>
            <a:fillRect/>
          </a:stretch>
        </p:blipFill>
        <p:spPr>
          <a:xfrm>
            <a:off x="7219269" y="3272281"/>
            <a:ext cx="982436" cy="361950"/>
          </a:xfrm>
          <a:prstGeom prst="rect">
            <a:avLst/>
          </a:prstGeom>
        </p:spPr>
      </p:pic>
      <p:pic>
        <p:nvPicPr>
          <p:cNvPr id="87" name="Picture 86" descr="1_100_605E5C.png"/>
          <p:cNvPicPr>
            <a:picLocks noChangeAspect="1"/>
          </p:cNvPicPr>
          <p:nvPr/>
        </p:nvPicPr>
        <p:blipFill>
          <a:blip r:embed="rId16"/>
          <a:stretch>
            <a:fillRect/>
          </a:stretch>
        </p:blipFill>
        <p:spPr>
          <a:xfrm>
            <a:off x="8798548" y="2286582"/>
            <a:ext cx="1195728" cy="361950"/>
          </a:xfrm>
          <a:prstGeom prst="rect">
            <a:avLst/>
          </a:prstGeom>
        </p:spPr>
      </p:pic>
      <p:pic>
        <p:nvPicPr>
          <p:cNvPr id="88" name="Picture 87" descr="2_007_605E5C.png"/>
          <p:cNvPicPr>
            <a:picLocks noChangeAspect="1"/>
          </p:cNvPicPr>
          <p:nvPr/>
        </p:nvPicPr>
        <p:blipFill>
          <a:blip r:embed="rId17"/>
          <a:stretch>
            <a:fillRect/>
          </a:stretch>
        </p:blipFill>
        <p:spPr>
          <a:xfrm>
            <a:off x="8798548" y="2779432"/>
            <a:ext cx="1195728" cy="361950"/>
          </a:xfrm>
          <a:prstGeom prst="rect">
            <a:avLst/>
          </a:prstGeom>
        </p:spPr>
      </p:pic>
      <p:pic>
        <p:nvPicPr>
          <p:cNvPr id="89" name="Picture 88" descr="6_2__605E5C.png"/>
          <p:cNvPicPr>
            <a:picLocks noChangeAspect="1"/>
          </p:cNvPicPr>
          <p:nvPr/>
        </p:nvPicPr>
        <p:blipFill>
          <a:blip r:embed="rId18"/>
          <a:stretch>
            <a:fillRect/>
          </a:stretch>
        </p:blipFill>
        <p:spPr>
          <a:xfrm>
            <a:off x="8905194" y="3272281"/>
            <a:ext cx="982436" cy="361950"/>
          </a:xfrm>
          <a:prstGeom prst="rect">
            <a:avLst/>
          </a:prstGeom>
        </p:spPr>
      </p:pic>
      <p:pic>
        <p:nvPicPr>
          <p:cNvPr id="90" name="Picture 89" descr="606_0_605E5C.png"/>
          <p:cNvPicPr>
            <a:picLocks noChangeAspect="1"/>
          </p:cNvPicPr>
          <p:nvPr/>
        </p:nvPicPr>
        <p:blipFill>
          <a:blip r:embed="rId19"/>
          <a:stretch>
            <a:fillRect/>
          </a:stretch>
        </p:blipFill>
        <p:spPr>
          <a:xfrm>
            <a:off x="10484473" y="2286582"/>
            <a:ext cx="1195728" cy="361950"/>
          </a:xfrm>
          <a:prstGeom prst="rect">
            <a:avLst/>
          </a:prstGeom>
        </p:spPr>
      </p:pic>
      <p:pic>
        <p:nvPicPr>
          <p:cNvPr id="91" name="Picture 90" descr="1_062_605E5C.png"/>
          <p:cNvPicPr>
            <a:picLocks noChangeAspect="1"/>
          </p:cNvPicPr>
          <p:nvPr/>
        </p:nvPicPr>
        <p:blipFill>
          <a:blip r:embed="rId20"/>
          <a:stretch>
            <a:fillRect/>
          </a:stretch>
        </p:blipFill>
        <p:spPr>
          <a:xfrm>
            <a:off x="10484473" y="2779432"/>
            <a:ext cx="1195728" cy="361950"/>
          </a:xfrm>
          <a:prstGeom prst="rect">
            <a:avLst/>
          </a:prstGeom>
        </p:spPr>
      </p:pic>
      <p:pic>
        <p:nvPicPr>
          <p:cNvPr id="92" name="Picture 91" descr="5_8__605E5C.png"/>
          <p:cNvPicPr>
            <a:picLocks noChangeAspect="1"/>
          </p:cNvPicPr>
          <p:nvPr/>
        </p:nvPicPr>
        <p:blipFill>
          <a:blip r:embed="rId21"/>
          <a:stretch>
            <a:fillRect/>
          </a:stretch>
        </p:blipFill>
        <p:spPr>
          <a:xfrm>
            <a:off x="10591119" y="3272281"/>
            <a:ext cx="982436" cy="361950"/>
          </a:xfrm>
          <a:prstGeom prst="rect">
            <a:avLst/>
          </a:prstGeom>
        </p:spPr>
      </p:pic>
      <p:pic>
        <p:nvPicPr>
          <p:cNvPr id="93" name="Picture 92" descr="lock.png"/>
          <p:cNvPicPr>
            <a:picLocks noChangeAspect="1"/>
          </p:cNvPicPr>
          <p:nvPr/>
        </p:nvPicPr>
        <p:blipFill>
          <a:blip r:embed="rId22"/>
          <a:stretch>
            <a:fillRect/>
          </a:stretch>
        </p:blipFill>
        <p:spPr>
          <a:xfrm>
            <a:off x="2559367" y="2827057"/>
            <a:ext cx="183356" cy="266700"/>
          </a:xfrm>
          <a:prstGeom prst="rect">
            <a:avLst/>
          </a:prstGeom>
        </p:spPr>
      </p:pic>
      <p:pic>
        <p:nvPicPr>
          <p:cNvPr id="94" name="Picture 93" descr="lock.png"/>
          <p:cNvPicPr>
            <a:picLocks noChangeAspect="1"/>
          </p:cNvPicPr>
          <p:nvPr/>
        </p:nvPicPr>
        <p:blipFill>
          <a:blip r:embed="rId22"/>
          <a:stretch>
            <a:fillRect/>
          </a:stretch>
        </p:blipFill>
        <p:spPr>
          <a:xfrm>
            <a:off x="4245292" y="2827057"/>
            <a:ext cx="183356" cy="266700"/>
          </a:xfrm>
          <a:prstGeom prst="rect">
            <a:avLst/>
          </a:prstGeom>
        </p:spPr>
      </p:pic>
      <p:pic>
        <p:nvPicPr>
          <p:cNvPr id="95" name="Picture 94" descr="lock.png"/>
          <p:cNvPicPr>
            <a:picLocks noChangeAspect="1"/>
          </p:cNvPicPr>
          <p:nvPr/>
        </p:nvPicPr>
        <p:blipFill>
          <a:blip r:embed="rId22"/>
          <a:stretch>
            <a:fillRect/>
          </a:stretch>
        </p:blipFill>
        <p:spPr>
          <a:xfrm>
            <a:off x="5931217" y="2827057"/>
            <a:ext cx="183356" cy="266700"/>
          </a:xfrm>
          <a:prstGeom prst="rect">
            <a:avLst/>
          </a:prstGeom>
        </p:spPr>
      </p:pic>
      <p:pic>
        <p:nvPicPr>
          <p:cNvPr id="96" name="Picture 95" descr="lock.png"/>
          <p:cNvPicPr>
            <a:picLocks noChangeAspect="1"/>
          </p:cNvPicPr>
          <p:nvPr/>
        </p:nvPicPr>
        <p:blipFill>
          <a:blip r:embed="rId22"/>
          <a:stretch>
            <a:fillRect/>
          </a:stretch>
        </p:blipFill>
        <p:spPr>
          <a:xfrm>
            <a:off x="7617142" y="2827057"/>
            <a:ext cx="183356" cy="266700"/>
          </a:xfrm>
          <a:prstGeom prst="rect">
            <a:avLst/>
          </a:prstGeom>
        </p:spPr>
      </p:pic>
      <p:pic>
        <p:nvPicPr>
          <p:cNvPr id="97" name="Picture 96" descr="lock.png"/>
          <p:cNvPicPr>
            <a:picLocks noChangeAspect="1"/>
          </p:cNvPicPr>
          <p:nvPr/>
        </p:nvPicPr>
        <p:blipFill>
          <a:blip r:embed="rId22"/>
          <a:stretch>
            <a:fillRect/>
          </a:stretch>
        </p:blipFill>
        <p:spPr>
          <a:xfrm>
            <a:off x="9303067" y="2827057"/>
            <a:ext cx="183356" cy="266700"/>
          </a:xfrm>
          <a:prstGeom prst="rect">
            <a:avLst/>
          </a:prstGeom>
        </p:spPr>
      </p:pic>
      <p:pic>
        <p:nvPicPr>
          <p:cNvPr id="98" name="Picture 97" descr="lock.png"/>
          <p:cNvPicPr>
            <a:picLocks noChangeAspect="1"/>
          </p:cNvPicPr>
          <p:nvPr/>
        </p:nvPicPr>
        <p:blipFill>
          <a:blip r:embed="rId22"/>
          <a:stretch>
            <a:fillRect/>
          </a:stretch>
        </p:blipFill>
        <p:spPr>
          <a:xfrm>
            <a:off x="10988992" y="2827057"/>
            <a:ext cx="183356" cy="266700"/>
          </a:xfrm>
          <a:prstGeom prst="rect">
            <a:avLst/>
          </a:prstGeom>
        </p:spPr>
      </p:pic>
      <p:sp>
        <p:nvSpPr>
          <p:cNvPr id="99" name="TextBox 98"/>
          <p:cNvSpPr txBox="1"/>
          <p:nvPr/>
        </p:nvSpPr>
        <p:spPr>
          <a:xfrm>
            <a:off x="485775" y="4229437"/>
            <a:ext cx="2685479" cy="186689"/>
          </a:xfrm>
          <a:prstGeom prst="rect">
            <a:avLst/>
          </a:prstGeom>
          <a:noFill/>
        </p:spPr>
        <p:txBody>
          <a:bodyPr wrap="none" lIns="0" rIns="0" tIns="0" bIns="0">
            <a:spAutoFit/>
          </a:bodyPr>
          <a:lstStyle/>
          <a:p>
            <a:r>
              <a:rPr sz="1100" b="0">
                <a:solidFill>
                  <a:srgbClr val="2E2E2E"/>
                </a:solidFill>
                <a:latin typeface="Calibri"/>
              </a:rPr>
              <a:t>Among egg protein membrane by application,</a:t>
            </a:r>
          </a:p>
        </p:txBody>
      </p:sp>
      <p:sp>
        <p:nvSpPr>
          <p:cNvPr id="100" name="TextBox 99"/>
          <p:cNvSpPr txBox="1"/>
          <p:nvPr/>
        </p:nvSpPr>
        <p:spPr>
          <a:xfrm>
            <a:off x="485775" y="4397077"/>
            <a:ext cx="2880022" cy="186689"/>
          </a:xfrm>
          <a:prstGeom prst="rect">
            <a:avLst/>
          </a:prstGeom>
          <a:noFill/>
        </p:spPr>
        <p:txBody>
          <a:bodyPr wrap="none" lIns="0" rIns="0" tIns="0" bIns="0">
            <a:spAutoFit/>
          </a:bodyPr>
          <a:lstStyle/>
          <a:p>
            <a:r>
              <a:rPr sz="1100" b="0">
                <a:solidFill>
                  <a:srgbClr val="2E2E2E"/>
                </a:solidFill>
                <a:latin typeface="Calibri"/>
              </a:rPr>
              <a:t>functional food &amp; beverages segment is expected</a:t>
            </a:r>
          </a:p>
        </p:txBody>
      </p:sp>
      <p:sp>
        <p:nvSpPr>
          <p:cNvPr id="101" name="TextBox 100"/>
          <p:cNvSpPr txBox="1"/>
          <p:nvPr/>
        </p:nvSpPr>
        <p:spPr>
          <a:xfrm>
            <a:off x="485775" y="4564717"/>
            <a:ext cx="1827344" cy="186689"/>
          </a:xfrm>
          <a:prstGeom prst="rect">
            <a:avLst/>
          </a:prstGeom>
          <a:noFill/>
        </p:spPr>
        <p:txBody>
          <a:bodyPr wrap="none" lIns="0" rIns="0" tIns="0" bIns="0">
            <a:spAutoFit/>
          </a:bodyPr>
          <a:lstStyle/>
          <a:p>
            <a:r>
              <a:rPr sz="1100" b="0">
                <a:solidFill>
                  <a:srgbClr val="2E2E2E"/>
                </a:solidFill>
                <a:latin typeface="Calibri"/>
              </a:rPr>
              <a:t>to witness the highest CAGR of</a:t>
            </a:r>
          </a:p>
        </p:txBody>
      </p:sp>
      <p:pic>
        <p:nvPicPr>
          <p:cNvPr id="102" name="Picture 101" descr="lock.png"/>
          <p:cNvPicPr>
            <a:picLocks noChangeAspect="1"/>
          </p:cNvPicPr>
          <p:nvPr/>
        </p:nvPicPr>
        <p:blipFill>
          <a:blip r:embed="rId22"/>
          <a:stretch>
            <a:fillRect/>
          </a:stretch>
        </p:blipFill>
        <p:spPr>
          <a:xfrm>
            <a:off x="2261170" y="4554938"/>
            <a:ext cx="128699" cy="187198"/>
          </a:xfrm>
          <a:prstGeom prst="rect">
            <a:avLst/>
          </a:prstGeom>
        </p:spPr>
      </p:pic>
      <p:sp>
        <p:nvSpPr>
          <p:cNvPr id="103" name="TextBox 102"/>
          <p:cNvSpPr txBox="1"/>
          <p:nvPr/>
        </p:nvSpPr>
        <p:spPr>
          <a:xfrm>
            <a:off x="2428666" y="4564717"/>
            <a:ext cx="552871" cy="186689"/>
          </a:xfrm>
          <a:prstGeom prst="rect">
            <a:avLst/>
          </a:prstGeom>
          <a:noFill/>
        </p:spPr>
        <p:txBody>
          <a:bodyPr wrap="none" lIns="0" rIns="0" tIns="0" bIns="0">
            <a:spAutoFit/>
          </a:bodyPr>
          <a:lstStyle/>
          <a:p>
            <a:r>
              <a:rPr sz="1100" b="0">
                <a:solidFill>
                  <a:srgbClr val="2E2E2E"/>
                </a:solidFill>
                <a:latin typeface="Calibri"/>
              </a:rPr>
              <a:t>over the</a:t>
            </a:r>
          </a:p>
        </p:txBody>
      </p:sp>
      <p:sp>
        <p:nvSpPr>
          <p:cNvPr id="104" name="TextBox 103"/>
          <p:cNvSpPr txBox="1"/>
          <p:nvPr/>
        </p:nvSpPr>
        <p:spPr>
          <a:xfrm>
            <a:off x="485775" y="4732357"/>
            <a:ext cx="2477566" cy="186689"/>
          </a:xfrm>
          <a:prstGeom prst="rect">
            <a:avLst/>
          </a:prstGeom>
          <a:noFill/>
        </p:spPr>
        <p:txBody>
          <a:bodyPr wrap="none" lIns="0" rIns="0" tIns="0" bIns="0">
            <a:spAutoFit/>
          </a:bodyPr>
          <a:lstStyle/>
          <a:p>
            <a:r>
              <a:rPr sz="1100" b="0">
                <a:solidFill>
                  <a:srgbClr val="2E2E2E"/>
                </a:solidFill>
                <a:latin typeface="Calibri"/>
              </a:rPr>
              <a:t>forecast period. In terms of value share by</a:t>
            </a:r>
          </a:p>
        </p:txBody>
      </p:sp>
      <p:sp>
        <p:nvSpPr>
          <p:cNvPr id="105" name="TextBox 104"/>
          <p:cNvSpPr txBox="1"/>
          <p:nvPr/>
        </p:nvSpPr>
        <p:spPr>
          <a:xfrm>
            <a:off x="485775" y="4899997"/>
            <a:ext cx="2286843" cy="186689"/>
          </a:xfrm>
          <a:prstGeom prst="rect">
            <a:avLst/>
          </a:prstGeom>
          <a:noFill/>
        </p:spPr>
        <p:txBody>
          <a:bodyPr wrap="none" lIns="0" rIns="0" tIns="0" bIns="0">
            <a:spAutoFit/>
          </a:bodyPr>
          <a:lstStyle/>
          <a:p>
            <a:r>
              <a:rPr sz="1100" b="0">
                <a:solidFill>
                  <a:srgbClr val="2E2E2E"/>
                </a:solidFill>
                <a:latin typeface="Calibri"/>
              </a:rPr>
              <a:t>application, the dietary supplements &amp;</a:t>
            </a:r>
          </a:p>
        </p:txBody>
      </p:sp>
      <p:sp>
        <p:nvSpPr>
          <p:cNvPr id="106" name="TextBox 105"/>
          <p:cNvSpPr txBox="1"/>
          <p:nvPr/>
        </p:nvSpPr>
        <p:spPr>
          <a:xfrm>
            <a:off x="485775" y="5067637"/>
            <a:ext cx="2806625" cy="186689"/>
          </a:xfrm>
          <a:prstGeom prst="rect">
            <a:avLst/>
          </a:prstGeom>
          <a:noFill/>
        </p:spPr>
        <p:txBody>
          <a:bodyPr wrap="none" lIns="0" rIns="0" tIns="0" bIns="0">
            <a:spAutoFit/>
          </a:bodyPr>
          <a:lstStyle/>
          <a:p>
            <a:r>
              <a:rPr sz="1100" b="0">
                <a:solidFill>
                  <a:srgbClr val="2E2E2E"/>
                </a:solidFill>
                <a:latin typeface="Calibri"/>
              </a:rPr>
              <a:t>nutraceuticals segment is expected to dominate</a:t>
            </a:r>
          </a:p>
        </p:txBody>
      </p:sp>
      <p:sp>
        <p:nvSpPr>
          <p:cNvPr id="107" name="TextBox 106"/>
          <p:cNvSpPr txBox="1"/>
          <p:nvPr/>
        </p:nvSpPr>
        <p:spPr>
          <a:xfrm>
            <a:off x="485775" y="5235277"/>
            <a:ext cx="1103486" cy="186689"/>
          </a:xfrm>
          <a:prstGeom prst="rect">
            <a:avLst/>
          </a:prstGeom>
          <a:noFill/>
        </p:spPr>
        <p:txBody>
          <a:bodyPr wrap="none" lIns="0" rIns="0" tIns="0" bIns="0">
            <a:spAutoFit/>
          </a:bodyPr>
          <a:lstStyle/>
          <a:p>
            <a:r>
              <a:rPr sz="1100" b="0">
                <a:solidFill>
                  <a:srgbClr val="2E2E2E"/>
                </a:solidFill>
                <a:latin typeface="Calibri"/>
              </a:rPr>
              <a:t>the market, losing</a:t>
            </a:r>
          </a:p>
        </p:txBody>
      </p:sp>
      <p:pic>
        <p:nvPicPr>
          <p:cNvPr id="108" name="Picture 107" descr="lock.png"/>
          <p:cNvPicPr>
            <a:picLocks noChangeAspect="1"/>
          </p:cNvPicPr>
          <p:nvPr/>
        </p:nvPicPr>
        <p:blipFill>
          <a:blip r:embed="rId22"/>
          <a:stretch>
            <a:fillRect/>
          </a:stretch>
        </p:blipFill>
        <p:spPr>
          <a:xfrm>
            <a:off x="1537312" y="5225498"/>
            <a:ext cx="128699" cy="187198"/>
          </a:xfrm>
          <a:prstGeom prst="rect">
            <a:avLst/>
          </a:prstGeom>
        </p:spPr>
      </p:pic>
      <p:sp>
        <p:nvSpPr>
          <p:cNvPr id="109" name="TextBox 108"/>
          <p:cNvSpPr txBox="1"/>
          <p:nvPr/>
        </p:nvSpPr>
        <p:spPr>
          <a:xfrm>
            <a:off x="1704808" y="5235277"/>
            <a:ext cx="1386433" cy="186689"/>
          </a:xfrm>
          <a:prstGeom prst="rect">
            <a:avLst/>
          </a:prstGeom>
          <a:noFill/>
        </p:spPr>
        <p:txBody>
          <a:bodyPr wrap="none" lIns="0" rIns="0" tIns="0" bIns="0">
            <a:spAutoFit/>
          </a:bodyPr>
          <a:lstStyle/>
          <a:p>
            <a:r>
              <a:rPr sz="1100" b="0">
                <a:solidFill>
                  <a:srgbClr val="2E2E2E"/>
                </a:solidFill>
                <a:latin typeface="Calibri"/>
              </a:rPr>
              <a:t>BPS and accounting for</a:t>
            </a:r>
          </a:p>
        </p:txBody>
      </p:sp>
      <p:pic>
        <p:nvPicPr>
          <p:cNvPr id="110" name="Picture 109" descr="lock.png"/>
          <p:cNvPicPr>
            <a:picLocks noChangeAspect="1"/>
          </p:cNvPicPr>
          <p:nvPr/>
        </p:nvPicPr>
        <p:blipFill>
          <a:blip r:embed="rId22"/>
          <a:stretch>
            <a:fillRect/>
          </a:stretch>
        </p:blipFill>
        <p:spPr>
          <a:xfrm>
            <a:off x="3039293" y="5225498"/>
            <a:ext cx="128699" cy="187198"/>
          </a:xfrm>
          <a:prstGeom prst="rect">
            <a:avLst/>
          </a:prstGeom>
        </p:spPr>
      </p:pic>
      <p:sp>
        <p:nvSpPr>
          <p:cNvPr id="111" name="TextBox 110"/>
          <p:cNvSpPr txBox="1"/>
          <p:nvPr/>
        </p:nvSpPr>
        <p:spPr>
          <a:xfrm>
            <a:off x="485775" y="5402917"/>
            <a:ext cx="908397" cy="186689"/>
          </a:xfrm>
          <a:prstGeom prst="rect">
            <a:avLst/>
          </a:prstGeom>
          <a:noFill/>
        </p:spPr>
        <p:txBody>
          <a:bodyPr wrap="none" lIns="0" rIns="0" tIns="0" bIns="0">
            <a:spAutoFit/>
          </a:bodyPr>
          <a:lstStyle/>
          <a:p>
            <a:r>
              <a:rPr sz="1100" b="0">
                <a:solidFill>
                  <a:srgbClr val="2E2E2E"/>
                </a:solidFill>
                <a:latin typeface="Calibri"/>
              </a:rPr>
              <a:t>share by 2036.</a:t>
            </a:r>
          </a:p>
        </p:txBody>
      </p:sp>
      <p:sp>
        <p:nvSpPr>
          <p:cNvPr id="112" name="TextBox 111"/>
          <p:cNvSpPr txBox="1"/>
          <p:nvPr/>
        </p:nvSpPr>
        <p:spPr>
          <a:xfrm>
            <a:off x="485775" y="5620849"/>
            <a:ext cx="2857648" cy="186689"/>
          </a:xfrm>
          <a:prstGeom prst="rect">
            <a:avLst/>
          </a:prstGeom>
          <a:noFill/>
        </p:spPr>
        <p:txBody>
          <a:bodyPr wrap="none" lIns="0" rIns="0" tIns="0" bIns="0">
            <a:spAutoFit/>
          </a:bodyPr>
          <a:lstStyle/>
          <a:p>
            <a:r>
              <a:rPr sz="1100" b="0">
                <a:solidFill>
                  <a:srgbClr val="2E2E2E"/>
                </a:solidFill>
                <a:latin typeface="Calibri"/>
              </a:rPr>
              <a:t>Dietary supplements &amp; nutraceuticals segment is</a:t>
            </a:r>
          </a:p>
        </p:txBody>
      </p:sp>
      <p:sp>
        <p:nvSpPr>
          <p:cNvPr id="113" name="TextBox 112"/>
          <p:cNvSpPr txBox="1"/>
          <p:nvPr/>
        </p:nvSpPr>
        <p:spPr>
          <a:xfrm>
            <a:off x="485775" y="5788489"/>
            <a:ext cx="1244550" cy="186689"/>
          </a:xfrm>
          <a:prstGeom prst="rect">
            <a:avLst/>
          </a:prstGeom>
          <a:noFill/>
        </p:spPr>
        <p:txBody>
          <a:bodyPr wrap="none" lIns="0" rIns="0" tIns="0" bIns="0">
            <a:spAutoFit/>
          </a:bodyPr>
          <a:lstStyle/>
          <a:p>
            <a:r>
              <a:rPr sz="1100" b="0">
                <a:solidFill>
                  <a:srgbClr val="2E2E2E"/>
                </a:solidFill>
                <a:latin typeface="Calibri"/>
              </a:rPr>
              <a:t>projected to register</a:t>
            </a:r>
          </a:p>
        </p:txBody>
      </p:sp>
      <p:pic>
        <p:nvPicPr>
          <p:cNvPr id="114" name="Picture 113" descr="lock.png"/>
          <p:cNvPicPr>
            <a:picLocks noChangeAspect="1"/>
          </p:cNvPicPr>
          <p:nvPr/>
        </p:nvPicPr>
        <p:blipFill>
          <a:blip r:embed="rId22"/>
          <a:stretch>
            <a:fillRect/>
          </a:stretch>
        </p:blipFill>
        <p:spPr>
          <a:xfrm>
            <a:off x="1678376" y="5778710"/>
            <a:ext cx="128699" cy="187198"/>
          </a:xfrm>
          <a:prstGeom prst="rect">
            <a:avLst/>
          </a:prstGeom>
        </p:spPr>
      </p:pic>
      <p:sp>
        <p:nvSpPr>
          <p:cNvPr id="115" name="TextBox 114"/>
          <p:cNvSpPr txBox="1"/>
          <p:nvPr/>
        </p:nvSpPr>
        <p:spPr>
          <a:xfrm>
            <a:off x="1845872" y="5788489"/>
            <a:ext cx="1172517" cy="186689"/>
          </a:xfrm>
          <a:prstGeom prst="rect">
            <a:avLst/>
          </a:prstGeom>
          <a:noFill/>
        </p:spPr>
        <p:txBody>
          <a:bodyPr wrap="none" lIns="0" rIns="0" tIns="0" bIns="0">
            <a:spAutoFit/>
          </a:bodyPr>
          <a:lstStyle/>
          <a:p>
            <a:r>
              <a:rPr sz="1100" b="0">
                <a:solidFill>
                  <a:srgbClr val="2E2E2E"/>
                </a:solidFill>
                <a:latin typeface="Calibri"/>
              </a:rPr>
              <a:t>X higher value than</a:t>
            </a:r>
          </a:p>
        </p:txBody>
      </p:sp>
      <p:sp>
        <p:nvSpPr>
          <p:cNvPr id="116" name="TextBox 115"/>
          <p:cNvSpPr txBox="1"/>
          <p:nvPr/>
        </p:nvSpPr>
        <p:spPr>
          <a:xfrm>
            <a:off x="485775" y="5956129"/>
            <a:ext cx="2695575" cy="186689"/>
          </a:xfrm>
          <a:prstGeom prst="rect">
            <a:avLst/>
          </a:prstGeom>
          <a:noFill/>
        </p:spPr>
        <p:txBody>
          <a:bodyPr wrap="none" lIns="0" rIns="0" tIns="0" bIns="0">
            <a:spAutoFit/>
          </a:bodyPr>
          <a:lstStyle/>
          <a:p>
            <a:r>
              <a:rPr sz="1100" b="0">
                <a:solidFill>
                  <a:srgbClr val="2E2E2E"/>
                </a:solidFill>
                <a:latin typeface="Calibri"/>
              </a:rPr>
              <a:t>functional food &amp; beverages segment in 2036.</a:t>
            </a:r>
          </a:p>
        </p:txBody>
      </p:sp>
      <p:sp>
        <p:nvSpPr>
          <p:cNvPr id="117" name="TextBox 116"/>
          <p:cNvSpPr txBox="1"/>
          <p:nvPr/>
        </p:nvSpPr>
        <p:spPr>
          <a:xfrm>
            <a:off x="3838575" y="4229437"/>
            <a:ext cx="2303192" cy="179984"/>
          </a:xfrm>
          <a:prstGeom prst="rect">
            <a:avLst/>
          </a:prstGeom>
          <a:noFill/>
        </p:spPr>
        <p:txBody>
          <a:bodyPr wrap="none" lIns="0" rIns="0" tIns="0" bIns="0">
            <a:spAutoFit/>
          </a:bodyPr>
          <a:lstStyle/>
          <a:p>
            <a:r>
              <a:rPr sz="1055" b="0">
                <a:solidFill>
                  <a:srgbClr val="2E2E2E"/>
                </a:solidFill>
                <a:latin typeface="Calibri"/>
              </a:rPr>
              <a:t>● Dietary Supplements &amp; Nutraceuticals:</a:t>
            </a:r>
          </a:p>
        </p:txBody>
      </p:sp>
      <p:pic>
        <p:nvPicPr>
          <p:cNvPr id="118" name="Picture 117" descr="lock.png"/>
          <p:cNvPicPr>
            <a:picLocks noChangeAspect="1"/>
          </p:cNvPicPr>
          <p:nvPr/>
        </p:nvPicPr>
        <p:blipFill>
          <a:blip r:embed="rId22"/>
          <a:stretch>
            <a:fillRect/>
          </a:stretch>
        </p:blipFill>
        <p:spPr>
          <a:xfrm>
            <a:off x="6088849" y="4220049"/>
            <a:ext cx="123551" cy="179710"/>
          </a:xfrm>
          <a:prstGeom prst="rect">
            <a:avLst/>
          </a:prstGeom>
        </p:spPr>
      </p:pic>
      <p:sp>
        <p:nvSpPr>
          <p:cNvPr id="119" name="TextBox 118"/>
          <p:cNvSpPr txBox="1"/>
          <p:nvPr/>
        </p:nvSpPr>
        <p:spPr>
          <a:xfrm>
            <a:off x="6249645" y="4229437"/>
            <a:ext cx="877990" cy="179984"/>
          </a:xfrm>
          <a:prstGeom prst="rect">
            <a:avLst/>
          </a:prstGeom>
          <a:noFill/>
        </p:spPr>
        <p:txBody>
          <a:bodyPr wrap="none" lIns="0" rIns="0" tIns="0" bIns="0">
            <a:spAutoFit/>
          </a:bodyPr>
          <a:lstStyle/>
          <a:p>
            <a:r>
              <a:rPr sz="1055" b="0">
                <a:solidFill>
                  <a:srgbClr val="2E2E2E"/>
                </a:solidFill>
                <a:latin typeface="Calibri"/>
              </a:rPr>
              <a:t>of 2026 value ·</a:t>
            </a:r>
          </a:p>
        </p:txBody>
      </p:sp>
      <p:pic>
        <p:nvPicPr>
          <p:cNvPr id="120" name="Picture 119" descr="lock.png"/>
          <p:cNvPicPr>
            <a:picLocks noChangeAspect="1"/>
          </p:cNvPicPr>
          <p:nvPr/>
        </p:nvPicPr>
        <p:blipFill>
          <a:blip r:embed="rId22"/>
          <a:stretch>
            <a:fillRect/>
          </a:stretch>
        </p:blipFill>
        <p:spPr>
          <a:xfrm>
            <a:off x="7074717" y="4220049"/>
            <a:ext cx="123551" cy="179710"/>
          </a:xfrm>
          <a:prstGeom prst="rect">
            <a:avLst/>
          </a:prstGeom>
        </p:spPr>
      </p:pic>
      <p:sp>
        <p:nvSpPr>
          <p:cNvPr id="121" name="TextBox 120"/>
          <p:cNvSpPr txBox="1"/>
          <p:nvPr/>
        </p:nvSpPr>
        <p:spPr>
          <a:xfrm>
            <a:off x="7235513" y="4229437"/>
            <a:ext cx="382650" cy="179984"/>
          </a:xfrm>
          <a:prstGeom prst="rect">
            <a:avLst/>
          </a:prstGeom>
          <a:noFill/>
        </p:spPr>
        <p:txBody>
          <a:bodyPr wrap="none" lIns="0" rIns="0" tIns="0" bIns="0">
            <a:spAutoFit/>
          </a:bodyPr>
          <a:lstStyle/>
          <a:p>
            <a:r>
              <a:rPr sz="1055" b="0">
                <a:solidFill>
                  <a:srgbClr val="2E2E2E"/>
                </a:solidFill>
                <a:latin typeface="Calibri"/>
              </a:rPr>
              <a:t>CAGR</a:t>
            </a:r>
          </a:p>
        </p:txBody>
      </p:sp>
      <p:sp>
        <p:nvSpPr>
          <p:cNvPr id="122" name="TextBox 121"/>
          <p:cNvSpPr txBox="1"/>
          <p:nvPr/>
        </p:nvSpPr>
        <p:spPr>
          <a:xfrm>
            <a:off x="3838575" y="4390371"/>
            <a:ext cx="1109543" cy="179984"/>
          </a:xfrm>
          <a:prstGeom prst="rect">
            <a:avLst/>
          </a:prstGeom>
          <a:noFill/>
        </p:spPr>
        <p:txBody>
          <a:bodyPr wrap="none" lIns="0" rIns="0" tIns="0" bIns="0">
            <a:spAutoFit/>
          </a:bodyPr>
          <a:lstStyle/>
          <a:p>
            <a:r>
              <a:rPr sz="1055" b="0">
                <a:solidFill>
                  <a:srgbClr val="2E2E2E"/>
                </a:solidFill>
                <a:latin typeface="Calibri"/>
              </a:rPr>
              <a:t>leads the segment.</a:t>
            </a:r>
          </a:p>
        </p:txBody>
      </p:sp>
      <p:sp>
        <p:nvSpPr>
          <p:cNvPr id="123" name="TextBox 122"/>
          <p:cNvSpPr txBox="1"/>
          <p:nvPr/>
        </p:nvSpPr>
        <p:spPr>
          <a:xfrm>
            <a:off x="3838575" y="4599586"/>
            <a:ext cx="1874139" cy="179984"/>
          </a:xfrm>
          <a:prstGeom prst="rect">
            <a:avLst/>
          </a:prstGeom>
          <a:noFill/>
        </p:spPr>
        <p:txBody>
          <a:bodyPr wrap="none" lIns="0" rIns="0" tIns="0" bIns="0">
            <a:spAutoFit/>
          </a:bodyPr>
          <a:lstStyle/>
          <a:p>
            <a:r>
              <a:rPr sz="1055" b="0">
                <a:solidFill>
                  <a:srgbClr val="2E2E2E"/>
                </a:solidFill>
                <a:latin typeface="Calibri"/>
              </a:rPr>
              <a:t>● Pharmaceuticals &amp; Biomedical:</a:t>
            </a:r>
          </a:p>
        </p:txBody>
      </p:sp>
      <p:pic>
        <p:nvPicPr>
          <p:cNvPr id="124" name="Picture 123" descr="lock.png"/>
          <p:cNvPicPr>
            <a:picLocks noChangeAspect="1"/>
          </p:cNvPicPr>
          <p:nvPr/>
        </p:nvPicPr>
        <p:blipFill>
          <a:blip r:embed="rId22"/>
          <a:stretch>
            <a:fillRect/>
          </a:stretch>
        </p:blipFill>
        <p:spPr>
          <a:xfrm>
            <a:off x="5659795" y="4590198"/>
            <a:ext cx="123551" cy="179710"/>
          </a:xfrm>
          <a:prstGeom prst="rect">
            <a:avLst/>
          </a:prstGeom>
        </p:spPr>
      </p:pic>
      <p:sp>
        <p:nvSpPr>
          <p:cNvPr id="125" name="TextBox 124"/>
          <p:cNvSpPr txBox="1"/>
          <p:nvPr/>
        </p:nvSpPr>
        <p:spPr>
          <a:xfrm>
            <a:off x="5820591" y="4599586"/>
            <a:ext cx="877990" cy="179984"/>
          </a:xfrm>
          <a:prstGeom prst="rect">
            <a:avLst/>
          </a:prstGeom>
          <a:noFill/>
        </p:spPr>
        <p:txBody>
          <a:bodyPr wrap="none" lIns="0" rIns="0" tIns="0" bIns="0">
            <a:spAutoFit/>
          </a:bodyPr>
          <a:lstStyle/>
          <a:p>
            <a:r>
              <a:rPr sz="1055" b="0">
                <a:solidFill>
                  <a:srgbClr val="2E2E2E"/>
                </a:solidFill>
                <a:latin typeface="Calibri"/>
              </a:rPr>
              <a:t>of 2026 value ·</a:t>
            </a:r>
          </a:p>
        </p:txBody>
      </p:sp>
      <p:pic>
        <p:nvPicPr>
          <p:cNvPr id="126" name="Picture 125" descr="lock.png"/>
          <p:cNvPicPr>
            <a:picLocks noChangeAspect="1"/>
          </p:cNvPicPr>
          <p:nvPr/>
        </p:nvPicPr>
        <p:blipFill>
          <a:blip r:embed="rId22"/>
          <a:stretch>
            <a:fillRect/>
          </a:stretch>
        </p:blipFill>
        <p:spPr>
          <a:xfrm>
            <a:off x="6645663" y="4590198"/>
            <a:ext cx="123551" cy="179710"/>
          </a:xfrm>
          <a:prstGeom prst="rect">
            <a:avLst/>
          </a:prstGeom>
        </p:spPr>
      </p:pic>
      <p:sp>
        <p:nvSpPr>
          <p:cNvPr id="127" name="TextBox 126"/>
          <p:cNvSpPr txBox="1"/>
          <p:nvPr/>
        </p:nvSpPr>
        <p:spPr>
          <a:xfrm>
            <a:off x="6806459" y="4599586"/>
            <a:ext cx="853352" cy="179984"/>
          </a:xfrm>
          <a:prstGeom prst="rect">
            <a:avLst/>
          </a:prstGeom>
          <a:noFill/>
        </p:spPr>
        <p:txBody>
          <a:bodyPr wrap="none" lIns="0" rIns="0" tIns="0" bIns="0">
            <a:spAutoFit/>
          </a:bodyPr>
          <a:lstStyle/>
          <a:p>
            <a:r>
              <a:rPr sz="1055" b="0">
                <a:solidFill>
                  <a:srgbClr val="2E2E2E"/>
                </a:solidFill>
                <a:latin typeface="Calibri"/>
              </a:rPr>
              <a:t>CAGR serves a</a:t>
            </a:r>
          </a:p>
        </p:txBody>
      </p:sp>
      <p:sp>
        <p:nvSpPr>
          <p:cNvPr id="128" name="TextBox 127"/>
          <p:cNvSpPr txBox="1"/>
          <p:nvPr/>
        </p:nvSpPr>
        <p:spPr>
          <a:xfrm>
            <a:off x="3838575" y="4760520"/>
            <a:ext cx="405455" cy="179984"/>
          </a:xfrm>
          <a:prstGeom prst="rect">
            <a:avLst/>
          </a:prstGeom>
          <a:noFill/>
        </p:spPr>
        <p:txBody>
          <a:bodyPr wrap="none" lIns="0" rIns="0" tIns="0" bIns="0">
            <a:spAutoFit/>
          </a:bodyPr>
          <a:lstStyle/>
          <a:p>
            <a:r>
              <a:rPr sz="1055" b="0">
                <a:solidFill>
                  <a:srgbClr val="2E2E2E"/>
                </a:solidFill>
                <a:latin typeface="Calibri"/>
              </a:rPr>
              <a:t>niche.</a:t>
            </a:r>
          </a:p>
        </p:txBody>
      </p:sp>
      <p:sp>
        <p:nvSpPr>
          <p:cNvPr id="129" name="TextBox 128"/>
          <p:cNvSpPr txBox="1"/>
          <p:nvPr/>
        </p:nvSpPr>
        <p:spPr>
          <a:xfrm>
            <a:off x="3838575" y="4969735"/>
            <a:ext cx="1811507" cy="179984"/>
          </a:xfrm>
          <a:prstGeom prst="rect">
            <a:avLst/>
          </a:prstGeom>
          <a:noFill/>
        </p:spPr>
        <p:txBody>
          <a:bodyPr wrap="none" lIns="0" rIns="0" tIns="0" bIns="0">
            <a:spAutoFit/>
          </a:bodyPr>
          <a:lstStyle/>
          <a:p>
            <a:r>
              <a:rPr sz="1055" b="0">
                <a:solidFill>
                  <a:srgbClr val="2E2E2E"/>
                </a:solidFill>
                <a:latin typeface="Calibri"/>
              </a:rPr>
              <a:t>● Functional Food &amp; Beverages:</a:t>
            </a:r>
          </a:p>
        </p:txBody>
      </p:sp>
      <p:pic>
        <p:nvPicPr>
          <p:cNvPr id="130" name="Picture 129" descr="lock.png"/>
          <p:cNvPicPr>
            <a:picLocks noChangeAspect="1"/>
          </p:cNvPicPr>
          <p:nvPr/>
        </p:nvPicPr>
        <p:blipFill>
          <a:blip r:embed="rId22"/>
          <a:stretch>
            <a:fillRect/>
          </a:stretch>
        </p:blipFill>
        <p:spPr>
          <a:xfrm>
            <a:off x="5597163" y="4960347"/>
            <a:ext cx="123551" cy="179710"/>
          </a:xfrm>
          <a:prstGeom prst="rect">
            <a:avLst/>
          </a:prstGeom>
        </p:spPr>
      </p:pic>
      <p:sp>
        <p:nvSpPr>
          <p:cNvPr id="131" name="TextBox 130"/>
          <p:cNvSpPr txBox="1"/>
          <p:nvPr/>
        </p:nvSpPr>
        <p:spPr>
          <a:xfrm>
            <a:off x="5757959" y="4969735"/>
            <a:ext cx="877990" cy="179984"/>
          </a:xfrm>
          <a:prstGeom prst="rect">
            <a:avLst/>
          </a:prstGeom>
          <a:noFill/>
        </p:spPr>
        <p:txBody>
          <a:bodyPr wrap="none" lIns="0" rIns="0" tIns="0" bIns="0">
            <a:spAutoFit/>
          </a:bodyPr>
          <a:lstStyle/>
          <a:p>
            <a:r>
              <a:rPr sz="1055" b="0">
                <a:solidFill>
                  <a:srgbClr val="2E2E2E"/>
                </a:solidFill>
                <a:latin typeface="Calibri"/>
              </a:rPr>
              <a:t>of 2026 value ·</a:t>
            </a:r>
          </a:p>
        </p:txBody>
      </p:sp>
      <p:pic>
        <p:nvPicPr>
          <p:cNvPr id="132" name="Picture 131" descr="lock.png"/>
          <p:cNvPicPr>
            <a:picLocks noChangeAspect="1"/>
          </p:cNvPicPr>
          <p:nvPr/>
        </p:nvPicPr>
        <p:blipFill>
          <a:blip r:embed="rId22"/>
          <a:stretch>
            <a:fillRect/>
          </a:stretch>
        </p:blipFill>
        <p:spPr>
          <a:xfrm>
            <a:off x="6583032" y="4960347"/>
            <a:ext cx="123551" cy="179710"/>
          </a:xfrm>
          <a:prstGeom prst="rect">
            <a:avLst/>
          </a:prstGeom>
        </p:spPr>
      </p:pic>
      <p:sp>
        <p:nvSpPr>
          <p:cNvPr id="133" name="TextBox 132"/>
          <p:cNvSpPr txBox="1"/>
          <p:nvPr/>
        </p:nvSpPr>
        <p:spPr>
          <a:xfrm>
            <a:off x="6743828" y="4969735"/>
            <a:ext cx="742028" cy="179984"/>
          </a:xfrm>
          <a:prstGeom prst="rect">
            <a:avLst/>
          </a:prstGeom>
          <a:noFill/>
        </p:spPr>
        <p:txBody>
          <a:bodyPr wrap="none" lIns="0" rIns="0" tIns="0" bIns="0">
            <a:spAutoFit/>
          </a:bodyPr>
          <a:lstStyle/>
          <a:p>
            <a:r>
              <a:rPr sz="1055" b="0">
                <a:solidFill>
                  <a:srgbClr val="2E2E2E"/>
                </a:solidFill>
                <a:latin typeface="Calibri"/>
              </a:rPr>
              <a:t>CAGR grows</a:t>
            </a:r>
          </a:p>
        </p:txBody>
      </p:sp>
      <p:sp>
        <p:nvSpPr>
          <p:cNvPr id="134" name="TextBox 133"/>
          <p:cNvSpPr txBox="1"/>
          <p:nvPr/>
        </p:nvSpPr>
        <p:spPr>
          <a:xfrm>
            <a:off x="3838575" y="5130669"/>
            <a:ext cx="476702" cy="179984"/>
          </a:xfrm>
          <a:prstGeom prst="rect">
            <a:avLst/>
          </a:prstGeom>
          <a:noFill/>
        </p:spPr>
        <p:txBody>
          <a:bodyPr wrap="none" lIns="0" rIns="0" tIns="0" bIns="0">
            <a:spAutoFit/>
          </a:bodyPr>
          <a:lstStyle/>
          <a:p>
            <a:r>
              <a:rPr sz="1055" b="0">
                <a:solidFill>
                  <a:srgbClr val="2E2E2E"/>
                </a:solidFill>
                <a:latin typeface="Calibri"/>
              </a:rPr>
              <a:t>fastest.</a:t>
            </a:r>
          </a:p>
        </p:txBody>
      </p:sp>
      <p:sp>
        <p:nvSpPr>
          <p:cNvPr id="135" name="TextBox 134"/>
          <p:cNvSpPr txBox="1"/>
          <p:nvPr/>
        </p:nvSpPr>
        <p:spPr>
          <a:xfrm>
            <a:off x="3838575" y="5339884"/>
            <a:ext cx="1680829" cy="179984"/>
          </a:xfrm>
          <a:prstGeom prst="rect">
            <a:avLst/>
          </a:prstGeom>
          <a:noFill/>
        </p:spPr>
        <p:txBody>
          <a:bodyPr wrap="none" lIns="0" rIns="0" tIns="0" bIns="0">
            <a:spAutoFit/>
          </a:bodyPr>
          <a:lstStyle/>
          <a:p>
            <a:r>
              <a:rPr sz="1055" b="0">
                <a:solidFill>
                  <a:srgbClr val="2E2E2E"/>
                </a:solidFill>
                <a:latin typeface="Calibri"/>
              </a:rPr>
              <a:t>● Cosmetics &amp; Personal Care:</a:t>
            </a:r>
          </a:p>
        </p:txBody>
      </p:sp>
      <p:pic>
        <p:nvPicPr>
          <p:cNvPr id="136" name="Picture 135" descr="lock.png"/>
          <p:cNvPicPr>
            <a:picLocks noChangeAspect="1"/>
          </p:cNvPicPr>
          <p:nvPr/>
        </p:nvPicPr>
        <p:blipFill>
          <a:blip r:embed="rId22"/>
          <a:stretch>
            <a:fillRect/>
          </a:stretch>
        </p:blipFill>
        <p:spPr>
          <a:xfrm>
            <a:off x="5466485" y="5330496"/>
            <a:ext cx="123551" cy="179710"/>
          </a:xfrm>
          <a:prstGeom prst="rect">
            <a:avLst/>
          </a:prstGeom>
        </p:spPr>
      </p:pic>
      <p:sp>
        <p:nvSpPr>
          <p:cNvPr id="137" name="TextBox 136"/>
          <p:cNvSpPr txBox="1"/>
          <p:nvPr/>
        </p:nvSpPr>
        <p:spPr>
          <a:xfrm>
            <a:off x="5627281" y="5339884"/>
            <a:ext cx="877990" cy="179984"/>
          </a:xfrm>
          <a:prstGeom prst="rect">
            <a:avLst/>
          </a:prstGeom>
          <a:noFill/>
        </p:spPr>
        <p:txBody>
          <a:bodyPr wrap="none" lIns="0" rIns="0" tIns="0" bIns="0">
            <a:spAutoFit/>
          </a:bodyPr>
          <a:lstStyle/>
          <a:p>
            <a:r>
              <a:rPr sz="1055" b="0">
                <a:solidFill>
                  <a:srgbClr val="2E2E2E"/>
                </a:solidFill>
                <a:latin typeface="Calibri"/>
              </a:rPr>
              <a:t>of 2026 value ·</a:t>
            </a:r>
          </a:p>
        </p:txBody>
      </p:sp>
      <p:pic>
        <p:nvPicPr>
          <p:cNvPr id="138" name="Picture 137" descr="lock.png"/>
          <p:cNvPicPr>
            <a:picLocks noChangeAspect="1"/>
          </p:cNvPicPr>
          <p:nvPr/>
        </p:nvPicPr>
        <p:blipFill>
          <a:blip r:embed="rId22"/>
          <a:stretch>
            <a:fillRect/>
          </a:stretch>
        </p:blipFill>
        <p:spPr>
          <a:xfrm>
            <a:off x="6452353" y="5330496"/>
            <a:ext cx="123551" cy="179710"/>
          </a:xfrm>
          <a:prstGeom prst="rect">
            <a:avLst/>
          </a:prstGeom>
        </p:spPr>
      </p:pic>
      <p:sp>
        <p:nvSpPr>
          <p:cNvPr id="139" name="TextBox 138"/>
          <p:cNvSpPr txBox="1"/>
          <p:nvPr/>
        </p:nvSpPr>
        <p:spPr>
          <a:xfrm>
            <a:off x="6613149" y="5339884"/>
            <a:ext cx="1212992" cy="179984"/>
          </a:xfrm>
          <a:prstGeom prst="rect">
            <a:avLst/>
          </a:prstGeom>
          <a:noFill/>
        </p:spPr>
        <p:txBody>
          <a:bodyPr wrap="none" lIns="0" rIns="0" tIns="0" bIns="0">
            <a:spAutoFit/>
          </a:bodyPr>
          <a:lstStyle/>
          <a:p>
            <a:r>
              <a:rPr sz="1055" b="0">
                <a:solidFill>
                  <a:srgbClr val="2E2E2E"/>
                </a:solidFill>
                <a:latin typeface="Calibri"/>
              </a:rPr>
              <a:t>CAGR serves a niche.</a:t>
            </a:r>
          </a:p>
        </p:txBody>
      </p:sp>
      <p:sp>
        <p:nvSpPr>
          <p:cNvPr id="140" name="TextBox 139"/>
          <p:cNvSpPr txBox="1"/>
          <p:nvPr/>
        </p:nvSpPr>
        <p:spPr>
          <a:xfrm>
            <a:off x="3838575" y="5549099"/>
            <a:ext cx="1574220" cy="179984"/>
          </a:xfrm>
          <a:prstGeom prst="rect">
            <a:avLst/>
          </a:prstGeom>
          <a:noFill/>
        </p:spPr>
        <p:txBody>
          <a:bodyPr wrap="none" lIns="0" rIns="0" tIns="0" bIns="0">
            <a:spAutoFit/>
          </a:bodyPr>
          <a:lstStyle/>
          <a:p>
            <a:r>
              <a:rPr sz="1055" b="0">
                <a:solidFill>
                  <a:srgbClr val="2E2E2E"/>
                </a:solidFill>
                <a:latin typeface="Calibri"/>
              </a:rPr>
              <a:t>● Industrial &amp; Biomaterials:</a:t>
            </a:r>
          </a:p>
        </p:txBody>
      </p:sp>
      <p:pic>
        <p:nvPicPr>
          <p:cNvPr id="141" name="Picture 140" descr="lock.png"/>
          <p:cNvPicPr>
            <a:picLocks noChangeAspect="1"/>
          </p:cNvPicPr>
          <p:nvPr/>
        </p:nvPicPr>
        <p:blipFill>
          <a:blip r:embed="rId22"/>
          <a:stretch>
            <a:fillRect/>
          </a:stretch>
        </p:blipFill>
        <p:spPr>
          <a:xfrm>
            <a:off x="5359877" y="5539711"/>
            <a:ext cx="123551" cy="179710"/>
          </a:xfrm>
          <a:prstGeom prst="rect">
            <a:avLst/>
          </a:prstGeom>
        </p:spPr>
      </p:pic>
      <p:sp>
        <p:nvSpPr>
          <p:cNvPr id="142" name="TextBox 141"/>
          <p:cNvSpPr txBox="1"/>
          <p:nvPr/>
        </p:nvSpPr>
        <p:spPr>
          <a:xfrm>
            <a:off x="5520673" y="5549099"/>
            <a:ext cx="877990" cy="179984"/>
          </a:xfrm>
          <a:prstGeom prst="rect">
            <a:avLst/>
          </a:prstGeom>
          <a:noFill/>
        </p:spPr>
        <p:txBody>
          <a:bodyPr wrap="none" lIns="0" rIns="0" tIns="0" bIns="0">
            <a:spAutoFit/>
          </a:bodyPr>
          <a:lstStyle/>
          <a:p>
            <a:r>
              <a:rPr sz="1055" b="0">
                <a:solidFill>
                  <a:srgbClr val="2E2E2E"/>
                </a:solidFill>
                <a:latin typeface="Calibri"/>
              </a:rPr>
              <a:t>of 2026 value ·</a:t>
            </a:r>
          </a:p>
        </p:txBody>
      </p:sp>
      <p:pic>
        <p:nvPicPr>
          <p:cNvPr id="143" name="Picture 142" descr="lock.png"/>
          <p:cNvPicPr>
            <a:picLocks noChangeAspect="1"/>
          </p:cNvPicPr>
          <p:nvPr/>
        </p:nvPicPr>
        <p:blipFill>
          <a:blip r:embed="rId22"/>
          <a:stretch>
            <a:fillRect/>
          </a:stretch>
        </p:blipFill>
        <p:spPr>
          <a:xfrm>
            <a:off x="6345745" y="5539711"/>
            <a:ext cx="123551" cy="179710"/>
          </a:xfrm>
          <a:prstGeom prst="rect">
            <a:avLst/>
          </a:prstGeom>
        </p:spPr>
      </p:pic>
      <p:sp>
        <p:nvSpPr>
          <p:cNvPr id="144" name="TextBox 143"/>
          <p:cNvSpPr txBox="1"/>
          <p:nvPr/>
        </p:nvSpPr>
        <p:spPr>
          <a:xfrm>
            <a:off x="6506541" y="5549099"/>
            <a:ext cx="1212992" cy="179984"/>
          </a:xfrm>
          <a:prstGeom prst="rect">
            <a:avLst/>
          </a:prstGeom>
          <a:noFill/>
        </p:spPr>
        <p:txBody>
          <a:bodyPr wrap="none" lIns="0" rIns="0" tIns="0" bIns="0">
            <a:spAutoFit/>
          </a:bodyPr>
          <a:lstStyle/>
          <a:p>
            <a:r>
              <a:rPr sz="1055" b="0">
                <a:solidFill>
                  <a:srgbClr val="2E2E2E"/>
                </a:solidFill>
                <a:latin typeface="Calibri"/>
              </a:rPr>
              <a:t>CAGR serves a niche.</a:t>
            </a:r>
          </a:p>
        </p:txBody>
      </p:sp>
      <p:sp>
        <p:nvSpPr>
          <p:cNvPr id="145" name="TextBox 144"/>
          <p:cNvSpPr txBox="1"/>
          <p:nvPr/>
        </p:nvSpPr>
        <p:spPr>
          <a:xfrm>
            <a:off x="3838575" y="5758313"/>
            <a:ext cx="1745265" cy="179984"/>
          </a:xfrm>
          <a:prstGeom prst="rect">
            <a:avLst/>
          </a:prstGeom>
          <a:noFill/>
        </p:spPr>
        <p:txBody>
          <a:bodyPr wrap="none" lIns="0" rIns="0" tIns="0" bIns="0">
            <a:spAutoFit/>
          </a:bodyPr>
          <a:lstStyle/>
          <a:p>
            <a:r>
              <a:rPr sz="1055" b="0">
                <a:solidFill>
                  <a:srgbClr val="2E2E2E"/>
                </a:solidFill>
                <a:latin typeface="Calibri"/>
              </a:rPr>
              <a:t>● Animal Nutrition &amp; Pet Care:</a:t>
            </a:r>
          </a:p>
        </p:txBody>
      </p:sp>
      <p:pic>
        <p:nvPicPr>
          <p:cNvPr id="146" name="Picture 145" descr="lock.png"/>
          <p:cNvPicPr>
            <a:picLocks noChangeAspect="1"/>
          </p:cNvPicPr>
          <p:nvPr/>
        </p:nvPicPr>
        <p:blipFill>
          <a:blip r:embed="rId22"/>
          <a:stretch>
            <a:fillRect/>
          </a:stretch>
        </p:blipFill>
        <p:spPr>
          <a:xfrm>
            <a:off x="5530922" y="5748925"/>
            <a:ext cx="123551" cy="179710"/>
          </a:xfrm>
          <a:prstGeom prst="rect">
            <a:avLst/>
          </a:prstGeom>
        </p:spPr>
      </p:pic>
      <p:sp>
        <p:nvSpPr>
          <p:cNvPr id="147" name="TextBox 146"/>
          <p:cNvSpPr txBox="1"/>
          <p:nvPr/>
        </p:nvSpPr>
        <p:spPr>
          <a:xfrm>
            <a:off x="5691718" y="5758313"/>
            <a:ext cx="877990" cy="179984"/>
          </a:xfrm>
          <a:prstGeom prst="rect">
            <a:avLst/>
          </a:prstGeom>
          <a:noFill/>
        </p:spPr>
        <p:txBody>
          <a:bodyPr wrap="none" lIns="0" rIns="0" tIns="0" bIns="0">
            <a:spAutoFit/>
          </a:bodyPr>
          <a:lstStyle/>
          <a:p>
            <a:r>
              <a:rPr sz="1055" b="0">
                <a:solidFill>
                  <a:srgbClr val="2E2E2E"/>
                </a:solidFill>
                <a:latin typeface="Calibri"/>
              </a:rPr>
              <a:t>of 2026 value ·</a:t>
            </a:r>
          </a:p>
        </p:txBody>
      </p:sp>
      <p:pic>
        <p:nvPicPr>
          <p:cNvPr id="148" name="Picture 147" descr="lock.png"/>
          <p:cNvPicPr>
            <a:picLocks noChangeAspect="1"/>
          </p:cNvPicPr>
          <p:nvPr/>
        </p:nvPicPr>
        <p:blipFill>
          <a:blip r:embed="rId22"/>
          <a:stretch>
            <a:fillRect/>
          </a:stretch>
        </p:blipFill>
        <p:spPr>
          <a:xfrm>
            <a:off x="6516790" y="5748925"/>
            <a:ext cx="123551" cy="179710"/>
          </a:xfrm>
          <a:prstGeom prst="rect">
            <a:avLst/>
          </a:prstGeom>
        </p:spPr>
      </p:pic>
      <p:sp>
        <p:nvSpPr>
          <p:cNvPr id="149" name="TextBox 148"/>
          <p:cNvSpPr txBox="1"/>
          <p:nvPr/>
        </p:nvSpPr>
        <p:spPr>
          <a:xfrm>
            <a:off x="6677586" y="5758313"/>
            <a:ext cx="853352" cy="179984"/>
          </a:xfrm>
          <a:prstGeom prst="rect">
            <a:avLst/>
          </a:prstGeom>
          <a:noFill/>
        </p:spPr>
        <p:txBody>
          <a:bodyPr wrap="none" lIns="0" rIns="0" tIns="0" bIns="0">
            <a:spAutoFit/>
          </a:bodyPr>
          <a:lstStyle/>
          <a:p>
            <a:r>
              <a:rPr sz="1055" b="0">
                <a:solidFill>
                  <a:srgbClr val="2E2E2E"/>
                </a:solidFill>
                <a:latin typeface="Calibri"/>
              </a:rPr>
              <a:t>CAGR serves a</a:t>
            </a:r>
          </a:p>
        </p:txBody>
      </p:sp>
      <p:sp>
        <p:nvSpPr>
          <p:cNvPr id="150" name="TextBox 149"/>
          <p:cNvSpPr txBox="1"/>
          <p:nvPr/>
        </p:nvSpPr>
        <p:spPr>
          <a:xfrm>
            <a:off x="3838575" y="5919248"/>
            <a:ext cx="405455" cy="179984"/>
          </a:xfrm>
          <a:prstGeom prst="rect">
            <a:avLst/>
          </a:prstGeom>
          <a:noFill/>
        </p:spPr>
        <p:txBody>
          <a:bodyPr wrap="none" lIns="0" rIns="0" tIns="0" bIns="0">
            <a:spAutoFit/>
          </a:bodyPr>
          <a:lstStyle/>
          <a:p>
            <a:r>
              <a:rPr sz="1055" b="0">
                <a:solidFill>
                  <a:srgbClr val="2E2E2E"/>
                </a:solidFill>
                <a:latin typeface="Calibri"/>
              </a:rPr>
              <a:t>niche.</a:t>
            </a:r>
          </a:p>
        </p:txBody>
      </p:sp>
      <p:sp>
        <p:nvSpPr>
          <p:cNvPr id="151" name="TextBox 150"/>
          <p:cNvSpPr txBox="1"/>
          <p:nvPr/>
        </p:nvSpPr>
        <p:spPr>
          <a:xfrm>
            <a:off x="8524875" y="5842641"/>
            <a:ext cx="3093045" cy="194310"/>
          </a:xfrm>
          <a:prstGeom prst="rect">
            <a:avLst/>
          </a:prstGeom>
          <a:noFill/>
        </p:spPr>
        <p:txBody>
          <a:bodyPr wrap="none" lIns="0" rIns="0" tIns="0" bIns="0">
            <a:spAutoFit/>
          </a:bodyPr>
          <a:lstStyle/>
          <a:p>
            <a:r>
              <a:rPr sz="1150" b="1">
                <a:solidFill>
                  <a:srgbClr val="0B2E4A"/>
                </a:solidFill>
                <a:latin typeface="Calibri"/>
              </a:rPr>
              <a:t>The Application segment is projected to grow at a</a:t>
            </a:r>
          </a:p>
        </p:txBody>
      </p:sp>
      <p:sp>
        <p:nvSpPr>
          <p:cNvPr id="152" name="TextBox 151"/>
          <p:cNvSpPr txBox="1"/>
          <p:nvPr/>
        </p:nvSpPr>
        <p:spPr>
          <a:xfrm>
            <a:off x="8524875" y="6017901"/>
            <a:ext cx="574797" cy="194310"/>
          </a:xfrm>
          <a:prstGeom prst="rect">
            <a:avLst/>
          </a:prstGeom>
          <a:noFill/>
        </p:spPr>
        <p:txBody>
          <a:bodyPr wrap="none" lIns="0" rIns="0" tIns="0" bIns="0">
            <a:spAutoFit/>
          </a:bodyPr>
          <a:lstStyle/>
          <a:p>
            <a:r>
              <a:rPr sz="1150" b="1">
                <a:solidFill>
                  <a:srgbClr val="0B2E4A"/>
                </a:solidFill>
                <a:latin typeface="Calibri"/>
              </a:rPr>
              <a:t>CAGR of</a:t>
            </a:r>
          </a:p>
        </p:txBody>
      </p:sp>
      <p:pic>
        <p:nvPicPr>
          <p:cNvPr id="153" name="Picture 152" descr="lock.png"/>
          <p:cNvPicPr>
            <a:picLocks noChangeAspect="1"/>
          </p:cNvPicPr>
          <p:nvPr/>
        </p:nvPicPr>
        <p:blipFill>
          <a:blip r:embed="rId22"/>
          <a:stretch>
            <a:fillRect/>
          </a:stretch>
        </p:blipFill>
        <p:spPr>
          <a:xfrm>
            <a:off x="9048826" y="6007677"/>
            <a:ext cx="134549" cy="195707"/>
          </a:xfrm>
          <a:prstGeom prst="rect">
            <a:avLst/>
          </a:prstGeom>
        </p:spPr>
      </p:pic>
      <p:sp>
        <p:nvSpPr>
          <p:cNvPr id="154" name="TextBox 153"/>
          <p:cNvSpPr txBox="1"/>
          <p:nvPr/>
        </p:nvSpPr>
        <p:spPr>
          <a:xfrm>
            <a:off x="9223935" y="6017901"/>
            <a:ext cx="1232619" cy="194310"/>
          </a:xfrm>
          <a:prstGeom prst="rect">
            <a:avLst/>
          </a:prstGeom>
          <a:noFill/>
        </p:spPr>
        <p:txBody>
          <a:bodyPr wrap="none" lIns="0" rIns="0" tIns="0" bIns="0">
            <a:spAutoFit/>
          </a:bodyPr>
          <a:lstStyle/>
          <a:p>
            <a:r>
              <a:rPr sz="1150" b="1">
                <a:solidFill>
                  <a:srgbClr val="0B2E4A"/>
                </a:solidFill>
                <a:latin typeface="Calibri"/>
              </a:rPr>
              <a:t>from 2026 to 2036.</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Structure &amp; Attractiveness, By Application (Value)</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Application mix within each region and the attractiveness of each sub-segment on growth and size</a:t>
            </a:r>
          </a:p>
        </p:txBody>
      </p:sp>
      <p:sp>
        <p:nvSpPr>
          <p:cNvPr id="7" name="Rounded Rectangle 6"/>
          <p:cNvSpPr/>
          <p:nvPr/>
        </p:nvSpPr>
        <p:spPr>
          <a:xfrm>
            <a:off x="142875" y="981075"/>
            <a:ext cx="6343650" cy="4324350"/>
          </a:xfrm>
          <a:prstGeom prst="roundRect">
            <a:avLst>
              <a:gd name="adj" fmla="val 1762"/>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6153150"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Application mix within each region (share of 2036 value) · row label = region size (US$ Mn), largest first</a:t>
            </a:r>
          </a:p>
        </p:txBody>
      </p:sp>
      <p:graphicFrame>
        <p:nvGraphicFramePr>
          <p:cNvPr id="9" name="Chart 8"/>
          <p:cNvGraphicFramePr>
            <a:graphicFrameLocks noGrp="1"/>
          </p:cNvGraphicFramePr>
          <p:nvPr/>
        </p:nvGraphicFramePr>
        <p:xfrm>
          <a:off x="238125" y="1438275"/>
          <a:ext cx="6153150" cy="3810000"/>
        </p:xfrm>
        <a:graphic>
          <a:graphicData uri="http://schemas.openxmlformats.org/drawingml/2006/chart">
            <c:chart xmlns:c="http://schemas.openxmlformats.org/drawingml/2006/chart" r:id="rId3"/>
          </a:graphicData>
        </a:graphic>
      </p:graphicFrame>
      <p:sp>
        <p:nvSpPr>
          <p:cNvPr id="10" name="Rounded Rectangle 9"/>
          <p:cNvSpPr/>
          <p:nvPr/>
        </p:nvSpPr>
        <p:spPr>
          <a:xfrm>
            <a:off x="6638925" y="981075"/>
            <a:ext cx="5400675" cy="4324350"/>
          </a:xfrm>
          <a:prstGeom prst="roundRect">
            <a:avLst>
              <a:gd name="adj" fmla="val 1762"/>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34175" y="1038225"/>
            <a:ext cx="521017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Attractiveness, By Application · Bubble size represents 2036 value</a:t>
            </a:r>
          </a:p>
        </p:txBody>
      </p:sp>
      <p:graphicFrame>
        <p:nvGraphicFramePr>
          <p:cNvPr id="12" name="Chart 11"/>
          <p:cNvGraphicFramePr>
            <a:graphicFrameLocks noGrp="1"/>
          </p:cNvGraphicFramePr>
          <p:nvPr/>
        </p:nvGraphicFramePr>
        <p:xfrm>
          <a:off x="6734175" y="1266825"/>
          <a:ext cx="5210175" cy="3981450"/>
        </p:xfrm>
        <a:graphic>
          <a:graphicData uri="http://schemas.openxmlformats.org/drawingml/2006/chart">
            <c:chart xmlns:c="http://schemas.openxmlformats.org/drawingml/2006/chart" r:id="rId4"/>
          </a:graphicData>
        </a:graphic>
      </p:graphicFrame>
      <p:sp>
        <p:nvSpPr>
          <p:cNvPr id="13" name="Rounded Rectangle 12"/>
          <p:cNvSpPr/>
          <p:nvPr/>
        </p:nvSpPr>
        <p:spPr>
          <a:xfrm>
            <a:off x="142875" y="5438775"/>
            <a:ext cx="11906250" cy="1181100"/>
          </a:xfrm>
          <a:prstGeom prst="roundRect">
            <a:avLst>
              <a:gd name="adj" fmla="val 6451"/>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14" name="Rectangle 13"/>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6" name="Picture 15" descr="lock.png"/>
          <p:cNvPicPr>
            <a:picLocks noChangeAspect="1"/>
          </p:cNvPicPr>
          <p:nvPr/>
        </p:nvPicPr>
        <p:blipFill>
          <a:blip r:embed="rId6"/>
          <a:stretch>
            <a:fillRect/>
          </a:stretch>
        </p:blipFill>
        <p:spPr>
          <a:xfrm>
            <a:off x="3484684" y="3024134"/>
            <a:ext cx="320946" cy="466830"/>
          </a:xfrm>
          <a:prstGeom prst="rect">
            <a:avLst/>
          </a:prstGeom>
        </p:spPr>
      </p:pic>
      <p:sp>
        <p:nvSpPr>
          <p:cNvPr id="17" name="TextBox 16"/>
          <p:cNvSpPr txBox="1"/>
          <p:nvPr/>
        </p:nvSpPr>
        <p:spPr>
          <a:xfrm>
            <a:off x="257175" y="5694045"/>
            <a:ext cx="11422459" cy="186689"/>
          </a:xfrm>
          <a:prstGeom prst="rect">
            <a:avLst/>
          </a:prstGeom>
          <a:noFill/>
        </p:spPr>
        <p:txBody>
          <a:bodyPr wrap="none" lIns="0" rIns="0" tIns="0" bIns="0">
            <a:spAutoFit/>
          </a:bodyPr>
          <a:lstStyle/>
          <a:p>
            <a:r>
              <a:rPr sz="1100" b="0">
                <a:solidFill>
                  <a:srgbClr val="2E2E2E"/>
                </a:solidFill>
                <a:latin typeface="Calibri"/>
              </a:rPr>
              <a:t>Dietary supplements &amp; nutraceuticals followed by functional food &amp; beverages are expected to be the two most attractive application segments in the global egg protein membrane market in terms of</a:t>
            </a:r>
          </a:p>
        </p:txBody>
      </p:sp>
      <p:sp>
        <p:nvSpPr>
          <p:cNvPr id="18" name="TextBox 17"/>
          <p:cNvSpPr txBox="1"/>
          <p:nvPr/>
        </p:nvSpPr>
        <p:spPr>
          <a:xfrm>
            <a:off x="257175" y="5861685"/>
            <a:ext cx="7236353" cy="186689"/>
          </a:xfrm>
          <a:prstGeom prst="rect">
            <a:avLst/>
          </a:prstGeom>
          <a:noFill/>
        </p:spPr>
        <p:txBody>
          <a:bodyPr wrap="none" lIns="0" rIns="0" tIns="0" bIns="0">
            <a:spAutoFit/>
          </a:bodyPr>
          <a:lstStyle/>
          <a:p>
            <a:r>
              <a:rPr sz="1100" b="0">
                <a:solidFill>
                  <a:srgbClr val="2E2E2E"/>
                </a:solidFill>
                <a:latin typeface="Calibri"/>
              </a:rPr>
              <a:t>value over the forecast period. Dietary supplements &amp; nutraceuticals and functional food &amp; beverages exhibit a CAGR index of</a:t>
            </a:r>
          </a:p>
        </p:txBody>
      </p:sp>
      <p:pic>
        <p:nvPicPr>
          <p:cNvPr id="19" name="Picture 18" descr="lock.png"/>
          <p:cNvPicPr>
            <a:picLocks noChangeAspect="1"/>
          </p:cNvPicPr>
          <p:nvPr/>
        </p:nvPicPr>
        <p:blipFill>
          <a:blip r:embed="rId6"/>
          <a:stretch>
            <a:fillRect/>
          </a:stretch>
        </p:blipFill>
        <p:spPr>
          <a:xfrm>
            <a:off x="7441580" y="5851905"/>
            <a:ext cx="128699" cy="187198"/>
          </a:xfrm>
          <a:prstGeom prst="rect">
            <a:avLst/>
          </a:prstGeom>
        </p:spPr>
      </p:pic>
      <p:sp>
        <p:nvSpPr>
          <p:cNvPr id="20" name="TextBox 19"/>
          <p:cNvSpPr txBox="1"/>
          <p:nvPr/>
        </p:nvSpPr>
        <p:spPr>
          <a:xfrm>
            <a:off x="7609076" y="586168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1" name="Picture 20" descr="lock.png"/>
          <p:cNvPicPr>
            <a:picLocks noChangeAspect="1"/>
          </p:cNvPicPr>
          <p:nvPr/>
        </p:nvPicPr>
        <p:blipFill>
          <a:blip r:embed="rId6"/>
          <a:stretch>
            <a:fillRect/>
          </a:stretch>
        </p:blipFill>
        <p:spPr>
          <a:xfrm>
            <a:off x="7846970" y="5851905"/>
            <a:ext cx="128699" cy="187198"/>
          </a:xfrm>
          <a:prstGeom prst="rect">
            <a:avLst/>
          </a:prstGeom>
        </p:spPr>
      </p:pic>
      <p:sp>
        <p:nvSpPr>
          <p:cNvPr id="22" name="TextBox 21"/>
          <p:cNvSpPr txBox="1"/>
          <p:nvPr/>
        </p:nvSpPr>
        <p:spPr>
          <a:xfrm>
            <a:off x="8014466" y="5861685"/>
            <a:ext cx="1660921" cy="186689"/>
          </a:xfrm>
          <a:prstGeom prst="rect">
            <a:avLst/>
          </a:prstGeom>
          <a:noFill/>
        </p:spPr>
        <p:txBody>
          <a:bodyPr wrap="none" lIns="0" rIns="0" tIns="0" bIns="0">
            <a:spAutoFit/>
          </a:bodyPr>
          <a:lstStyle/>
          <a:p>
            <a:r>
              <a:rPr sz="1100" b="0">
                <a:solidFill>
                  <a:srgbClr val="2E2E2E"/>
                </a:solidFill>
                <a:latin typeface="Calibri"/>
              </a:rPr>
              <a:t>and a market share index of</a:t>
            </a:r>
          </a:p>
        </p:txBody>
      </p:sp>
      <p:pic>
        <p:nvPicPr>
          <p:cNvPr id="23" name="Picture 22" descr="lock.png"/>
          <p:cNvPicPr>
            <a:picLocks noChangeAspect="1"/>
          </p:cNvPicPr>
          <p:nvPr/>
        </p:nvPicPr>
        <p:blipFill>
          <a:blip r:embed="rId6"/>
          <a:stretch>
            <a:fillRect/>
          </a:stretch>
        </p:blipFill>
        <p:spPr>
          <a:xfrm>
            <a:off x="9623439" y="5851905"/>
            <a:ext cx="128699" cy="187198"/>
          </a:xfrm>
          <a:prstGeom prst="rect">
            <a:avLst/>
          </a:prstGeom>
        </p:spPr>
      </p:pic>
      <p:sp>
        <p:nvSpPr>
          <p:cNvPr id="24" name="TextBox 23"/>
          <p:cNvSpPr txBox="1"/>
          <p:nvPr/>
        </p:nvSpPr>
        <p:spPr>
          <a:xfrm>
            <a:off x="9790935" y="586168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5" name="Picture 24" descr="lock.png"/>
          <p:cNvPicPr>
            <a:picLocks noChangeAspect="1"/>
          </p:cNvPicPr>
          <p:nvPr/>
        </p:nvPicPr>
        <p:blipFill>
          <a:blip r:embed="rId6"/>
          <a:stretch>
            <a:fillRect/>
          </a:stretch>
        </p:blipFill>
        <p:spPr>
          <a:xfrm>
            <a:off x="10028829" y="5851905"/>
            <a:ext cx="128699" cy="187198"/>
          </a:xfrm>
          <a:prstGeom prst="rect">
            <a:avLst/>
          </a:prstGeom>
        </p:spPr>
      </p:pic>
      <p:sp>
        <p:nvSpPr>
          <p:cNvPr id="26" name="TextBox 25"/>
          <p:cNvSpPr txBox="1"/>
          <p:nvPr/>
        </p:nvSpPr>
        <p:spPr>
          <a:xfrm>
            <a:off x="10196325" y="5861685"/>
            <a:ext cx="1231726" cy="186689"/>
          </a:xfrm>
          <a:prstGeom prst="rect">
            <a:avLst/>
          </a:prstGeom>
          <a:noFill/>
        </p:spPr>
        <p:txBody>
          <a:bodyPr wrap="none" lIns="0" rIns="0" tIns="0" bIns="0">
            <a:spAutoFit/>
          </a:bodyPr>
          <a:lstStyle/>
          <a:p>
            <a:r>
              <a:rPr sz="1100" b="0">
                <a:solidFill>
                  <a:srgbClr val="2E2E2E"/>
                </a:solidFill>
                <a:latin typeface="Calibri"/>
              </a:rPr>
              <a:t>respectively, against</a:t>
            </a:r>
          </a:p>
        </p:txBody>
      </p:sp>
      <p:sp>
        <p:nvSpPr>
          <p:cNvPr id="27" name="TextBox 26"/>
          <p:cNvSpPr txBox="1"/>
          <p:nvPr/>
        </p:nvSpPr>
        <p:spPr>
          <a:xfrm>
            <a:off x="257175" y="6029325"/>
            <a:ext cx="1419175" cy="186689"/>
          </a:xfrm>
          <a:prstGeom prst="rect">
            <a:avLst/>
          </a:prstGeom>
          <a:noFill/>
        </p:spPr>
        <p:txBody>
          <a:bodyPr wrap="none" lIns="0" rIns="0" tIns="0" bIns="0">
            <a:spAutoFit/>
          </a:bodyPr>
          <a:lstStyle/>
          <a:p>
            <a:r>
              <a:rPr sz="1100" b="0">
                <a:solidFill>
                  <a:srgbClr val="2E2E2E"/>
                </a:solidFill>
                <a:latin typeface="Calibri"/>
              </a:rPr>
              <a:t>the segment average of</a:t>
            </a:r>
          </a:p>
        </p:txBody>
      </p:sp>
      <p:pic>
        <p:nvPicPr>
          <p:cNvPr id="28" name="Picture 27" descr="lock.png"/>
          <p:cNvPicPr>
            <a:picLocks noChangeAspect="1"/>
          </p:cNvPicPr>
          <p:nvPr/>
        </p:nvPicPr>
        <p:blipFill>
          <a:blip r:embed="rId6"/>
          <a:stretch>
            <a:fillRect/>
          </a:stretch>
        </p:blipFill>
        <p:spPr>
          <a:xfrm>
            <a:off x="1624401" y="6019545"/>
            <a:ext cx="128699" cy="187198"/>
          </a:xfrm>
          <a:prstGeom prst="rect">
            <a:avLst/>
          </a:prstGeom>
        </p:spPr>
      </p:pic>
      <p:sp>
        <p:nvSpPr>
          <p:cNvPr id="29" name="TextBox 28"/>
          <p:cNvSpPr txBox="1"/>
          <p:nvPr/>
        </p:nvSpPr>
        <p:spPr>
          <a:xfrm>
            <a:off x="1791897" y="6029325"/>
            <a:ext cx="9906479" cy="186689"/>
          </a:xfrm>
          <a:prstGeom prst="rect">
            <a:avLst/>
          </a:prstGeom>
          <a:noFill/>
        </p:spPr>
        <p:txBody>
          <a:bodyPr wrap="none" lIns="0" rIns="0" tIns="0" bIns="0">
            <a:spAutoFit/>
          </a:bodyPr>
          <a:lstStyle/>
          <a:p>
            <a:r>
              <a:rPr sz="1100" b="0">
                <a:solidFill>
                  <a:srgbClr val="2E2E2E"/>
                </a:solidFill>
                <a:latin typeface="Calibri"/>
              </a:rPr>
              <a:t>. The animal nutrition &amp; pet care segment is expected to be less attractive as compared to other segments over the forecast period, owing to its lower CAGR and incremental</a:t>
            </a:r>
          </a:p>
        </p:txBody>
      </p:sp>
      <p:sp>
        <p:nvSpPr>
          <p:cNvPr id="30" name="TextBox 29"/>
          <p:cNvSpPr txBox="1"/>
          <p:nvPr/>
        </p:nvSpPr>
        <p:spPr>
          <a:xfrm>
            <a:off x="257175" y="6196965"/>
            <a:ext cx="5122845" cy="186689"/>
          </a:xfrm>
          <a:prstGeom prst="rect">
            <a:avLst/>
          </a:prstGeom>
          <a:noFill/>
        </p:spPr>
        <p:txBody>
          <a:bodyPr wrap="none" lIns="0" rIns="0" tIns="0" bIns="0">
            <a:spAutoFit/>
          </a:bodyPr>
          <a:lstStyle/>
          <a:p>
            <a:r>
              <a:rPr sz="1100" b="0">
                <a:solidFill>
                  <a:srgbClr val="2E2E2E"/>
                </a:solidFill>
                <a:latin typeface="Calibri"/>
              </a:rPr>
              <a:t>opportunity. Bubbles right of the CAGR-Index line grow faster than the segment average.</a:t>
            </a:r>
          </a:p>
        </p:txBody>
      </p:sp>
      <p:sp>
        <p:nvSpPr>
          <p:cNvPr id="31" name="lockshield_9"/>
          <p:cNvSpPr/>
          <p:nvPr/>
        </p:nvSpPr>
        <p:spPr>
          <a:xfrm>
            <a:off x="238125" y="1438275"/>
            <a:ext cx="6153150"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lockshield_12"/>
          <p:cNvSpPr/>
          <p:nvPr/>
        </p:nvSpPr>
        <p:spPr>
          <a:xfrm>
            <a:off x="6734175" y="1266825"/>
            <a:ext cx="5210175" cy="39814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Absolute $ Opportunity Analysis, By Application (1/2)</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Application and the absolute $ opportunity each sub-segment adds, 2026–2036</a:t>
            </a:r>
          </a:p>
        </p:txBody>
      </p:sp>
      <p:sp>
        <p:nvSpPr>
          <p:cNvPr id="7" name="Rounded Rectangle 6"/>
          <p:cNvSpPr/>
          <p:nvPr/>
        </p:nvSpPr>
        <p:spPr>
          <a:xfrm>
            <a:off x="142875" y="981075"/>
            <a:ext cx="5876925"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Dietary Supplements &amp; Nutraceuticals</a:t>
            </a:r>
          </a:p>
        </p:txBody>
      </p:sp>
      <p:graphicFrame>
        <p:nvGraphicFramePr>
          <p:cNvPr id="9" name="Chart 8"/>
          <p:cNvGraphicFramePr>
            <a:graphicFrameLocks noGrp="1"/>
          </p:cNvGraphicFramePr>
          <p:nvPr/>
        </p:nvGraphicFramePr>
        <p:xfrm>
          <a:off x="238125" y="1438275"/>
          <a:ext cx="5686425" cy="2238375"/>
        </p:xfrm>
        <a:graphic>
          <a:graphicData uri="http://schemas.openxmlformats.org/drawingml/2006/chart">
            <c:chart xmlns:c="http://schemas.openxmlformats.org/drawingml/2006/chart" r:id="rId3"/>
          </a:graphicData>
        </a:graphic>
      </p:graphicFrame>
      <p:sp>
        <p:nvSpPr>
          <p:cNvPr id="10" name="Rounded Rectangle 9"/>
          <p:cNvSpPr/>
          <p:nvPr/>
        </p:nvSpPr>
        <p:spPr>
          <a:xfrm>
            <a:off x="6172200" y="981075"/>
            <a:ext cx="5876925"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67450"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Functional Food &amp; Beverages</a:t>
            </a:r>
          </a:p>
        </p:txBody>
      </p:sp>
      <p:graphicFrame>
        <p:nvGraphicFramePr>
          <p:cNvPr id="12" name="Chart 11"/>
          <p:cNvGraphicFramePr>
            <a:graphicFrameLocks noGrp="1"/>
          </p:cNvGraphicFramePr>
          <p:nvPr/>
        </p:nvGraphicFramePr>
        <p:xfrm>
          <a:off x="6267450" y="1438275"/>
          <a:ext cx="5686425" cy="2238375"/>
        </p:xfrm>
        <a:graphic>
          <a:graphicData uri="http://schemas.openxmlformats.org/drawingml/2006/chart">
            <c:chart xmlns:c="http://schemas.openxmlformats.org/drawingml/2006/chart" r:id="rId4"/>
          </a:graphicData>
        </a:graphic>
      </p:graphicFrame>
      <p:sp>
        <p:nvSpPr>
          <p:cNvPr id="13" name="Rounded Rectangle 12"/>
          <p:cNvSpPr/>
          <p:nvPr/>
        </p:nvSpPr>
        <p:spPr>
          <a:xfrm>
            <a:off x="142875" y="3867150"/>
            <a:ext cx="5876925"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38125"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Cosmetics &amp; Personal Care</a:t>
            </a:r>
          </a:p>
        </p:txBody>
      </p:sp>
      <p:graphicFrame>
        <p:nvGraphicFramePr>
          <p:cNvPr id="15" name="Chart 14"/>
          <p:cNvGraphicFramePr>
            <a:graphicFrameLocks noGrp="1"/>
          </p:cNvGraphicFramePr>
          <p:nvPr/>
        </p:nvGraphicFramePr>
        <p:xfrm>
          <a:off x="238125" y="4324350"/>
          <a:ext cx="5686425" cy="2238375"/>
        </p:xfrm>
        <a:graphic>
          <a:graphicData uri="http://schemas.openxmlformats.org/drawingml/2006/chart">
            <c:chart xmlns:c="http://schemas.openxmlformats.org/drawingml/2006/chart" r:id="rId5"/>
          </a:graphicData>
        </a:graphic>
      </p:graphicFrame>
      <p:sp>
        <p:nvSpPr>
          <p:cNvPr id="16" name="Rounded Rectangle 15"/>
          <p:cNvSpPr/>
          <p:nvPr/>
        </p:nvSpPr>
        <p:spPr>
          <a:xfrm>
            <a:off x="6172200" y="3867150"/>
            <a:ext cx="5876925"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67450"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Pharmaceuticals &amp; Biomedical</a:t>
            </a:r>
          </a:p>
        </p:txBody>
      </p:sp>
      <p:graphicFrame>
        <p:nvGraphicFramePr>
          <p:cNvPr id="18" name="Chart 17"/>
          <p:cNvGraphicFramePr>
            <a:graphicFrameLocks noGrp="1"/>
          </p:cNvGraphicFramePr>
          <p:nvPr/>
        </p:nvGraphicFramePr>
        <p:xfrm>
          <a:off x="6267450" y="4324350"/>
          <a:ext cx="5686425" cy="2238375"/>
        </p:xfrm>
        <a:graphic>
          <a:graphicData uri="http://schemas.openxmlformats.org/drawingml/2006/chart">
            <c:chart xmlns:c="http://schemas.openxmlformats.org/drawingml/2006/chart" r:id="rId6"/>
          </a:graphicData>
        </a:graphic>
      </p:graphicFrame>
      <p:sp>
        <p:nvSpPr>
          <p:cNvPr id="19" name="Rectangle 18"/>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21" name="Picture 20" descr="lock.png"/>
          <p:cNvPicPr>
            <a:picLocks noChangeAspect="1"/>
          </p:cNvPicPr>
          <p:nvPr/>
        </p:nvPicPr>
        <p:blipFill>
          <a:blip r:embed="rId8"/>
          <a:stretch>
            <a:fillRect/>
          </a:stretch>
        </p:blipFill>
        <p:spPr>
          <a:xfrm>
            <a:off x="3100230" y="2330679"/>
            <a:ext cx="252890" cy="367840"/>
          </a:xfrm>
          <a:prstGeom prst="rect">
            <a:avLst/>
          </a:prstGeom>
        </p:spPr>
      </p:pic>
      <p:pic>
        <p:nvPicPr>
          <p:cNvPr id="22" name="Picture 21" descr="lock.png"/>
          <p:cNvPicPr>
            <a:picLocks noChangeAspect="1"/>
          </p:cNvPicPr>
          <p:nvPr/>
        </p:nvPicPr>
        <p:blipFill>
          <a:blip r:embed="rId8"/>
          <a:stretch>
            <a:fillRect/>
          </a:stretch>
        </p:blipFill>
        <p:spPr>
          <a:xfrm>
            <a:off x="9129555" y="2330679"/>
            <a:ext cx="252890" cy="367840"/>
          </a:xfrm>
          <a:prstGeom prst="rect">
            <a:avLst/>
          </a:prstGeom>
        </p:spPr>
      </p:pic>
      <p:pic>
        <p:nvPicPr>
          <p:cNvPr id="23" name="Picture 22" descr="lock.png"/>
          <p:cNvPicPr>
            <a:picLocks noChangeAspect="1"/>
          </p:cNvPicPr>
          <p:nvPr/>
        </p:nvPicPr>
        <p:blipFill>
          <a:blip r:embed="rId8"/>
          <a:stretch>
            <a:fillRect/>
          </a:stretch>
        </p:blipFill>
        <p:spPr>
          <a:xfrm>
            <a:off x="3100230" y="5216754"/>
            <a:ext cx="252890" cy="367840"/>
          </a:xfrm>
          <a:prstGeom prst="rect">
            <a:avLst/>
          </a:prstGeom>
        </p:spPr>
      </p:pic>
      <p:pic>
        <p:nvPicPr>
          <p:cNvPr id="24" name="Picture 23" descr="lock.png"/>
          <p:cNvPicPr>
            <a:picLocks noChangeAspect="1"/>
          </p:cNvPicPr>
          <p:nvPr/>
        </p:nvPicPr>
        <p:blipFill>
          <a:blip r:embed="rId8"/>
          <a:stretch>
            <a:fillRect/>
          </a:stretch>
        </p:blipFill>
        <p:spPr>
          <a:xfrm>
            <a:off x="9129555" y="5216754"/>
            <a:ext cx="252890" cy="367840"/>
          </a:xfrm>
          <a:prstGeom prst="rect">
            <a:avLst/>
          </a:prstGeom>
        </p:spPr>
      </p:pic>
      <p:sp>
        <p:nvSpPr>
          <p:cNvPr id="25" name="lockshield_9"/>
          <p:cNvSpPr/>
          <p:nvPr/>
        </p:nvSpPr>
        <p:spPr>
          <a:xfrm>
            <a:off x="238125"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lockshield_12"/>
          <p:cNvSpPr/>
          <p:nvPr/>
        </p:nvSpPr>
        <p:spPr>
          <a:xfrm>
            <a:off x="6267450"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lockshield_15"/>
          <p:cNvSpPr/>
          <p:nvPr/>
        </p:nvSpPr>
        <p:spPr>
          <a:xfrm>
            <a:off x="238125"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lockshield_18"/>
          <p:cNvSpPr/>
          <p:nvPr/>
        </p:nvSpPr>
        <p:spPr>
          <a:xfrm>
            <a:off x="6267450"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Absolute $ Opportunity Analysis, By Application (2/2)</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Application and the absolute $ opportunity each sub-segment adds, 2026–2036</a:t>
            </a:r>
          </a:p>
        </p:txBody>
      </p:sp>
      <p:sp>
        <p:nvSpPr>
          <p:cNvPr id="7" name="Rounded Rectangle 6"/>
          <p:cNvSpPr/>
          <p:nvPr/>
        </p:nvSpPr>
        <p:spPr>
          <a:xfrm>
            <a:off x="142875" y="981075"/>
            <a:ext cx="5876925"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Animal Nutrition &amp; Pet Care</a:t>
            </a:r>
          </a:p>
        </p:txBody>
      </p:sp>
      <p:graphicFrame>
        <p:nvGraphicFramePr>
          <p:cNvPr id="9" name="Chart 8"/>
          <p:cNvGraphicFramePr>
            <a:graphicFrameLocks noGrp="1"/>
          </p:cNvGraphicFramePr>
          <p:nvPr/>
        </p:nvGraphicFramePr>
        <p:xfrm>
          <a:off x="238125" y="1438275"/>
          <a:ext cx="5686425" cy="2238375"/>
        </p:xfrm>
        <a:graphic>
          <a:graphicData uri="http://schemas.openxmlformats.org/drawingml/2006/chart">
            <c:chart xmlns:c="http://schemas.openxmlformats.org/drawingml/2006/chart" r:id="rId3"/>
          </a:graphicData>
        </a:graphic>
      </p:graphicFrame>
      <p:sp>
        <p:nvSpPr>
          <p:cNvPr id="10" name="Rounded Rectangle 9"/>
          <p:cNvSpPr/>
          <p:nvPr/>
        </p:nvSpPr>
        <p:spPr>
          <a:xfrm>
            <a:off x="142875" y="3867150"/>
            <a:ext cx="5876925"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Industrial &amp; Biomaterials</a:t>
            </a:r>
          </a:p>
        </p:txBody>
      </p:sp>
      <p:graphicFrame>
        <p:nvGraphicFramePr>
          <p:cNvPr id="12" name="Chart 11"/>
          <p:cNvGraphicFramePr>
            <a:graphicFrameLocks noGrp="1"/>
          </p:cNvGraphicFramePr>
          <p:nvPr/>
        </p:nvGraphicFramePr>
        <p:xfrm>
          <a:off x="238125" y="4324350"/>
          <a:ext cx="5686425" cy="2238375"/>
        </p:xfrm>
        <a:graphic>
          <a:graphicData uri="http://schemas.openxmlformats.org/drawingml/2006/chart">
            <c:chart xmlns:c="http://schemas.openxmlformats.org/drawingml/2006/chart" r:id="rId4"/>
          </a:graphicData>
        </a:graphic>
      </p:graphicFrame>
      <p:sp>
        <p:nvSpPr>
          <p:cNvPr id="13" name="Rounded Rectangle 12"/>
          <p:cNvSpPr/>
          <p:nvPr/>
        </p:nvSpPr>
        <p:spPr>
          <a:xfrm>
            <a:off x="6172200" y="981075"/>
            <a:ext cx="5876925" cy="5648325"/>
          </a:xfrm>
          <a:prstGeom prst="roundRect">
            <a:avLst>
              <a:gd name="adj" fmla="val 134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05550" y="1066800"/>
            <a:ext cx="5610225" cy="209550"/>
          </a:xfrm>
          <a:prstGeom prst="rect">
            <a:avLst/>
          </a:prstGeom>
          <a:noFill/>
        </p:spPr>
        <p:txBody>
          <a:bodyPr wrap="square" lIns="0" rIns="19050" tIns="9525" bIns="9525">
            <a:spAutoFit/>
          </a:bodyPr>
          <a:lstStyle/>
          <a:p>
            <a:pPr algn="l"/>
            <a:r>
              <a:rPr sz="1300" b="1">
                <a:solidFill>
                  <a:srgbClr val="0E2A5C"/>
                </a:solidFill>
                <a:latin typeface="Calibri"/>
              </a:rPr>
              <a:t>Summary of Global Absolute $ Opportunity Analysis, By Application</a:t>
            </a:r>
          </a:p>
        </p:txBody>
      </p:sp>
      <p:sp>
        <p:nvSpPr>
          <p:cNvPr id="15" name="Rectangle 14"/>
          <p:cNvSpPr/>
          <p:nvPr/>
        </p:nvSpPr>
        <p:spPr>
          <a:xfrm>
            <a:off x="6305550" y="1304925"/>
            <a:ext cx="5610225"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05550" y="1390650"/>
            <a:ext cx="5610225"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7" name="Rectangle 16"/>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9" name="Picture 18" descr="lock.png"/>
          <p:cNvPicPr>
            <a:picLocks noChangeAspect="1"/>
          </p:cNvPicPr>
          <p:nvPr/>
        </p:nvPicPr>
        <p:blipFill>
          <a:blip r:embed="rId6"/>
          <a:stretch>
            <a:fillRect/>
          </a:stretch>
        </p:blipFill>
        <p:spPr>
          <a:xfrm>
            <a:off x="3100230" y="2330679"/>
            <a:ext cx="252890" cy="367840"/>
          </a:xfrm>
          <a:prstGeom prst="rect">
            <a:avLst/>
          </a:prstGeom>
        </p:spPr>
      </p:pic>
      <p:pic>
        <p:nvPicPr>
          <p:cNvPr id="20" name="Picture 19" descr="lock.png"/>
          <p:cNvPicPr>
            <a:picLocks noChangeAspect="1"/>
          </p:cNvPicPr>
          <p:nvPr/>
        </p:nvPicPr>
        <p:blipFill>
          <a:blip r:embed="rId6"/>
          <a:stretch>
            <a:fillRect/>
          </a:stretch>
        </p:blipFill>
        <p:spPr>
          <a:xfrm>
            <a:off x="3100230" y="5216754"/>
            <a:ext cx="252890" cy="367840"/>
          </a:xfrm>
          <a:prstGeom prst="rect">
            <a:avLst/>
          </a:prstGeom>
        </p:spPr>
      </p:pic>
      <p:sp>
        <p:nvSpPr>
          <p:cNvPr id="21" name="TextBox 20"/>
          <p:cNvSpPr txBox="1"/>
          <p:nvPr/>
        </p:nvSpPr>
        <p:spPr>
          <a:xfrm>
            <a:off x="6305550" y="1400175"/>
            <a:ext cx="5570738" cy="194310"/>
          </a:xfrm>
          <a:prstGeom prst="rect">
            <a:avLst/>
          </a:prstGeom>
          <a:noFill/>
        </p:spPr>
        <p:txBody>
          <a:bodyPr wrap="none" lIns="0" rIns="0" tIns="0" bIns="0">
            <a:spAutoFit/>
          </a:bodyPr>
          <a:lstStyle/>
          <a:p>
            <a:r>
              <a:rPr sz="1150" b="0">
                <a:solidFill>
                  <a:srgbClr val="2E2E2E"/>
                </a:solidFill>
                <a:latin typeface="Calibri"/>
              </a:rPr>
              <a:t>By 2036, dietary supplements &amp; nutraceuticals segment is anticipated to witness an increase</a:t>
            </a:r>
          </a:p>
        </p:txBody>
      </p:sp>
      <p:sp>
        <p:nvSpPr>
          <p:cNvPr id="22" name="TextBox 21"/>
          <p:cNvSpPr txBox="1"/>
          <p:nvPr/>
        </p:nvSpPr>
        <p:spPr>
          <a:xfrm>
            <a:off x="6305550" y="1575435"/>
            <a:ext cx="197718" cy="194310"/>
          </a:xfrm>
          <a:prstGeom prst="rect">
            <a:avLst/>
          </a:prstGeom>
          <a:noFill/>
        </p:spPr>
        <p:txBody>
          <a:bodyPr wrap="none" lIns="0" rIns="0" tIns="0" bIns="0">
            <a:spAutoFit/>
          </a:bodyPr>
          <a:lstStyle/>
          <a:p>
            <a:r>
              <a:rPr sz="1150" b="0">
                <a:solidFill>
                  <a:srgbClr val="2E2E2E"/>
                </a:solidFill>
                <a:latin typeface="Calibri"/>
              </a:rPr>
              <a:t>of</a:t>
            </a:r>
          </a:p>
        </p:txBody>
      </p:sp>
      <p:pic>
        <p:nvPicPr>
          <p:cNvPr id="23" name="Picture 22" descr="lock.png"/>
          <p:cNvPicPr>
            <a:picLocks noChangeAspect="1"/>
          </p:cNvPicPr>
          <p:nvPr/>
        </p:nvPicPr>
        <p:blipFill>
          <a:blip r:embed="rId6"/>
          <a:stretch>
            <a:fillRect/>
          </a:stretch>
        </p:blipFill>
        <p:spPr>
          <a:xfrm>
            <a:off x="6452422" y="1565211"/>
            <a:ext cx="134549" cy="195707"/>
          </a:xfrm>
          <a:prstGeom prst="rect">
            <a:avLst/>
          </a:prstGeom>
        </p:spPr>
      </p:pic>
      <p:sp>
        <p:nvSpPr>
          <p:cNvPr id="24" name="TextBox 23"/>
          <p:cNvSpPr txBox="1"/>
          <p:nvPr/>
        </p:nvSpPr>
        <p:spPr>
          <a:xfrm>
            <a:off x="6627531" y="1575435"/>
            <a:ext cx="5014515" cy="194310"/>
          </a:xfrm>
          <a:prstGeom prst="rect">
            <a:avLst/>
          </a:prstGeom>
          <a:noFill/>
        </p:spPr>
        <p:txBody>
          <a:bodyPr wrap="none" lIns="0" rIns="0" tIns="0" bIns="0">
            <a:spAutoFit/>
          </a:bodyPr>
          <a:lstStyle/>
          <a:p>
            <a:r>
              <a:rPr sz="1150" b="0">
                <a:solidFill>
                  <a:srgbClr val="2E2E2E"/>
                </a:solidFill>
                <a:latin typeface="Calibri"/>
              </a:rPr>
              <a:t>X in terms of value as compared to 2026. The dietary supplements &amp; nutraceuticals</a:t>
            </a:r>
          </a:p>
        </p:txBody>
      </p:sp>
      <p:sp>
        <p:nvSpPr>
          <p:cNvPr id="25" name="TextBox 24"/>
          <p:cNvSpPr txBox="1"/>
          <p:nvPr/>
        </p:nvSpPr>
        <p:spPr>
          <a:xfrm>
            <a:off x="6305550" y="1750695"/>
            <a:ext cx="3955938" cy="194310"/>
          </a:xfrm>
          <a:prstGeom prst="rect">
            <a:avLst/>
          </a:prstGeom>
          <a:noFill/>
        </p:spPr>
        <p:txBody>
          <a:bodyPr wrap="none" lIns="0" rIns="0" tIns="0" bIns="0">
            <a:spAutoFit/>
          </a:bodyPr>
          <a:lstStyle/>
          <a:p>
            <a:r>
              <a:rPr sz="1150" b="0">
                <a:solidFill>
                  <a:srgbClr val="2E2E2E"/>
                </a:solidFill>
                <a:latin typeface="Calibri"/>
              </a:rPr>
              <a:t>segment is expected to create an incremental opportunity of US$</a:t>
            </a:r>
          </a:p>
        </p:txBody>
      </p:sp>
      <p:pic>
        <p:nvPicPr>
          <p:cNvPr id="26" name="Picture 25" descr="lock.png"/>
          <p:cNvPicPr>
            <a:picLocks noChangeAspect="1"/>
          </p:cNvPicPr>
          <p:nvPr/>
        </p:nvPicPr>
        <p:blipFill>
          <a:blip r:embed="rId6"/>
          <a:stretch>
            <a:fillRect/>
          </a:stretch>
        </p:blipFill>
        <p:spPr>
          <a:xfrm>
            <a:off x="10210642" y="1740471"/>
            <a:ext cx="134549" cy="195707"/>
          </a:xfrm>
          <a:prstGeom prst="rect">
            <a:avLst/>
          </a:prstGeom>
        </p:spPr>
      </p:pic>
      <p:sp>
        <p:nvSpPr>
          <p:cNvPr id="27" name="TextBox 26"/>
          <p:cNvSpPr txBox="1"/>
          <p:nvPr/>
        </p:nvSpPr>
        <p:spPr>
          <a:xfrm>
            <a:off x="10385751" y="1750695"/>
            <a:ext cx="1395499" cy="194310"/>
          </a:xfrm>
          <a:prstGeom prst="rect">
            <a:avLst/>
          </a:prstGeom>
          <a:noFill/>
        </p:spPr>
        <p:txBody>
          <a:bodyPr wrap="none" lIns="0" rIns="0" tIns="0" bIns="0">
            <a:spAutoFit/>
          </a:bodyPr>
          <a:lstStyle/>
          <a:p>
            <a:r>
              <a:rPr sz="1150" b="0">
                <a:solidFill>
                  <a:srgbClr val="2E2E2E"/>
                </a:solidFill>
                <a:latin typeface="Calibri"/>
              </a:rPr>
              <a:t>Mn for the overall egg</a:t>
            </a:r>
          </a:p>
        </p:txBody>
      </p:sp>
      <p:sp>
        <p:nvSpPr>
          <p:cNvPr id="28" name="TextBox 27"/>
          <p:cNvSpPr txBox="1"/>
          <p:nvPr/>
        </p:nvSpPr>
        <p:spPr>
          <a:xfrm>
            <a:off x="6305550" y="1925955"/>
            <a:ext cx="2836316" cy="194310"/>
          </a:xfrm>
          <a:prstGeom prst="rect">
            <a:avLst/>
          </a:prstGeom>
          <a:noFill/>
        </p:spPr>
        <p:txBody>
          <a:bodyPr wrap="none" lIns="0" rIns="0" tIns="0" bIns="0">
            <a:spAutoFit/>
          </a:bodyPr>
          <a:lstStyle/>
          <a:p>
            <a:r>
              <a:rPr sz="1150" b="0">
                <a:solidFill>
                  <a:srgbClr val="2E2E2E"/>
                </a:solidFill>
                <a:latin typeface="Calibri"/>
              </a:rPr>
              <a:t>protein membrane market from 2026 to 2036.</a:t>
            </a:r>
          </a:p>
        </p:txBody>
      </p:sp>
      <p:sp>
        <p:nvSpPr>
          <p:cNvPr id="29" name="TextBox 28"/>
          <p:cNvSpPr txBox="1"/>
          <p:nvPr/>
        </p:nvSpPr>
        <p:spPr>
          <a:xfrm>
            <a:off x="6305550" y="2153793"/>
            <a:ext cx="5591175" cy="194310"/>
          </a:xfrm>
          <a:prstGeom prst="rect">
            <a:avLst/>
          </a:prstGeom>
          <a:noFill/>
        </p:spPr>
        <p:txBody>
          <a:bodyPr wrap="none" lIns="0" rIns="0" tIns="0" bIns="0">
            <a:spAutoFit/>
          </a:bodyPr>
          <a:lstStyle/>
          <a:p>
            <a:r>
              <a:rPr sz="1150" b="0">
                <a:solidFill>
                  <a:srgbClr val="2E2E2E"/>
                </a:solidFill>
                <a:latin typeface="Calibri"/>
              </a:rPr>
              <a:t>The functional food &amp; beverages segment is expected to create an incremental opportunity of</a:t>
            </a:r>
          </a:p>
        </p:txBody>
      </p:sp>
      <p:sp>
        <p:nvSpPr>
          <p:cNvPr id="30" name="TextBox 29"/>
          <p:cNvSpPr txBox="1"/>
          <p:nvPr/>
        </p:nvSpPr>
        <p:spPr>
          <a:xfrm>
            <a:off x="6305550" y="2329053"/>
            <a:ext cx="311249" cy="194310"/>
          </a:xfrm>
          <a:prstGeom prst="rect">
            <a:avLst/>
          </a:prstGeom>
          <a:noFill/>
        </p:spPr>
        <p:txBody>
          <a:bodyPr wrap="none" lIns="0" rIns="0" tIns="0" bIns="0">
            <a:spAutoFit/>
          </a:bodyPr>
          <a:lstStyle/>
          <a:p>
            <a:r>
              <a:rPr sz="1150" b="0">
                <a:solidFill>
                  <a:srgbClr val="2E2E2E"/>
                </a:solidFill>
                <a:latin typeface="Calibri"/>
              </a:rPr>
              <a:t>US$</a:t>
            </a:r>
          </a:p>
        </p:txBody>
      </p:sp>
      <p:pic>
        <p:nvPicPr>
          <p:cNvPr id="31" name="Picture 30" descr="lock.png"/>
          <p:cNvPicPr>
            <a:picLocks noChangeAspect="1"/>
          </p:cNvPicPr>
          <p:nvPr/>
        </p:nvPicPr>
        <p:blipFill>
          <a:blip r:embed="rId6"/>
          <a:stretch>
            <a:fillRect/>
          </a:stretch>
        </p:blipFill>
        <p:spPr>
          <a:xfrm>
            <a:off x="6565953" y="2318829"/>
            <a:ext cx="134549" cy="195707"/>
          </a:xfrm>
          <a:prstGeom prst="rect">
            <a:avLst/>
          </a:prstGeom>
        </p:spPr>
      </p:pic>
      <p:sp>
        <p:nvSpPr>
          <p:cNvPr id="32" name="TextBox 31"/>
          <p:cNvSpPr txBox="1"/>
          <p:nvPr/>
        </p:nvSpPr>
        <p:spPr>
          <a:xfrm>
            <a:off x="6741062" y="2329053"/>
            <a:ext cx="4442581" cy="194310"/>
          </a:xfrm>
          <a:prstGeom prst="rect">
            <a:avLst/>
          </a:prstGeom>
          <a:noFill/>
        </p:spPr>
        <p:txBody>
          <a:bodyPr wrap="none" lIns="0" rIns="0" tIns="0" bIns="0">
            <a:spAutoFit/>
          </a:bodyPr>
          <a:lstStyle/>
          <a:p>
            <a:r>
              <a:rPr sz="1150" b="0">
                <a:solidFill>
                  <a:srgbClr val="2E2E2E"/>
                </a:solidFill>
                <a:latin typeface="Calibri"/>
              </a:rPr>
              <a:t>Mn for the overall egg protein membrane market from 2026 to 2036. The</a:t>
            </a:r>
          </a:p>
        </p:txBody>
      </p:sp>
      <p:sp>
        <p:nvSpPr>
          <p:cNvPr id="33" name="TextBox 32"/>
          <p:cNvSpPr txBox="1"/>
          <p:nvPr/>
        </p:nvSpPr>
        <p:spPr>
          <a:xfrm>
            <a:off x="6305550" y="2504313"/>
            <a:ext cx="5516847" cy="194310"/>
          </a:xfrm>
          <a:prstGeom prst="rect">
            <a:avLst/>
          </a:prstGeom>
          <a:noFill/>
        </p:spPr>
        <p:txBody>
          <a:bodyPr wrap="none" lIns="0" rIns="0" tIns="0" bIns="0">
            <a:spAutoFit/>
          </a:bodyPr>
          <a:lstStyle/>
          <a:p>
            <a:r>
              <a:rPr sz="1150" b="0">
                <a:solidFill>
                  <a:srgbClr val="2E2E2E"/>
                </a:solidFill>
                <a:latin typeface="Calibri"/>
              </a:rPr>
              <a:t>pharmaceuticals &amp; biomedical segment is expected to create an incremental opportunity of</a:t>
            </a:r>
          </a:p>
        </p:txBody>
      </p:sp>
      <p:sp>
        <p:nvSpPr>
          <p:cNvPr id="34" name="TextBox 33"/>
          <p:cNvSpPr txBox="1"/>
          <p:nvPr/>
        </p:nvSpPr>
        <p:spPr>
          <a:xfrm>
            <a:off x="6305550" y="2679573"/>
            <a:ext cx="311249" cy="194310"/>
          </a:xfrm>
          <a:prstGeom prst="rect">
            <a:avLst/>
          </a:prstGeom>
          <a:noFill/>
        </p:spPr>
        <p:txBody>
          <a:bodyPr wrap="none" lIns="0" rIns="0" tIns="0" bIns="0">
            <a:spAutoFit/>
          </a:bodyPr>
          <a:lstStyle/>
          <a:p>
            <a:r>
              <a:rPr sz="1150" b="0">
                <a:solidFill>
                  <a:srgbClr val="2E2E2E"/>
                </a:solidFill>
                <a:latin typeface="Calibri"/>
              </a:rPr>
              <a:t>US$</a:t>
            </a:r>
          </a:p>
        </p:txBody>
      </p:sp>
      <p:pic>
        <p:nvPicPr>
          <p:cNvPr id="35" name="Picture 34" descr="lock.png"/>
          <p:cNvPicPr>
            <a:picLocks noChangeAspect="1"/>
          </p:cNvPicPr>
          <p:nvPr/>
        </p:nvPicPr>
        <p:blipFill>
          <a:blip r:embed="rId6"/>
          <a:stretch>
            <a:fillRect/>
          </a:stretch>
        </p:blipFill>
        <p:spPr>
          <a:xfrm>
            <a:off x="6565953" y="2669349"/>
            <a:ext cx="134549" cy="195707"/>
          </a:xfrm>
          <a:prstGeom prst="rect">
            <a:avLst/>
          </a:prstGeom>
        </p:spPr>
      </p:pic>
      <p:sp>
        <p:nvSpPr>
          <p:cNvPr id="36" name="TextBox 35"/>
          <p:cNvSpPr txBox="1"/>
          <p:nvPr/>
        </p:nvSpPr>
        <p:spPr>
          <a:xfrm>
            <a:off x="6741062" y="2679573"/>
            <a:ext cx="4188705" cy="194310"/>
          </a:xfrm>
          <a:prstGeom prst="rect">
            <a:avLst/>
          </a:prstGeom>
          <a:noFill/>
        </p:spPr>
        <p:txBody>
          <a:bodyPr wrap="none" lIns="0" rIns="0" tIns="0" bIns="0">
            <a:spAutoFit/>
          </a:bodyPr>
          <a:lstStyle/>
          <a:p>
            <a:r>
              <a:rPr sz="1150" b="0">
                <a:solidFill>
                  <a:srgbClr val="2E2E2E"/>
                </a:solidFill>
                <a:latin typeface="Calibri"/>
              </a:rPr>
              <a:t>Mn for the overall egg protein membrane market from 2026 to 2036.</a:t>
            </a:r>
          </a:p>
        </p:txBody>
      </p:sp>
      <p:sp>
        <p:nvSpPr>
          <p:cNvPr id="37" name="lockshield_9"/>
          <p:cNvSpPr/>
          <p:nvPr/>
        </p:nvSpPr>
        <p:spPr>
          <a:xfrm>
            <a:off x="238125"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lockshield_12"/>
          <p:cNvSpPr/>
          <p:nvPr/>
        </p:nvSpPr>
        <p:spPr>
          <a:xfrm>
            <a:off x="238125"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Value Analysis, By Application (US$ Mn) (1/2)</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by Application, 2021–2036, highlighting the sub-segments driving growth</a:t>
            </a:r>
          </a:p>
        </p:txBody>
      </p:sp>
      <p:sp>
        <p:nvSpPr>
          <p:cNvPr id="7" name="Rounded Rectangle 6"/>
          <p:cNvSpPr/>
          <p:nvPr/>
        </p:nvSpPr>
        <p:spPr>
          <a:xfrm>
            <a:off x="142875" y="981075"/>
            <a:ext cx="11906250" cy="3181350"/>
          </a:xfrm>
          <a:prstGeom prst="roundRect">
            <a:avLst>
              <a:gd name="adj" fmla="val 2395"/>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By Application (US$ Mn)</a:t>
            </a:r>
          </a:p>
        </p:txBody>
      </p:sp>
      <p:graphicFrame>
        <p:nvGraphicFramePr>
          <p:cNvPr id="9" name="Table 8"/>
          <p:cNvGraphicFramePr>
            <a:graphicFrameLocks noGrp="1"/>
          </p:cNvGraphicFramePr>
          <p:nvPr/>
        </p:nvGraphicFramePr>
        <p:xfrm>
          <a:off x="152400" y="1238250"/>
          <a:ext cx="11887206" cy="2714626"/>
        </p:xfrm>
        <a:graphic>
          <a:graphicData uri="http://schemas.openxmlformats.org/drawingml/2006/table">
            <a:tbl>
              <a:tblPr>
                <a:tableStyleId>{5C22544A-7EE6-4342-B048-85BDC9FD1C3A}</a:tableStyleId>
              </a:tblPr>
              <a:tblGrid>
                <a:gridCol w="2415911"/>
                <a:gridCol w="557135"/>
                <a:gridCol w="557135"/>
                <a:gridCol w="557135"/>
                <a:gridCol w="557135"/>
                <a:gridCol w="557135"/>
                <a:gridCol w="557135"/>
                <a:gridCol w="557135"/>
                <a:gridCol w="557135"/>
                <a:gridCol w="557135"/>
                <a:gridCol w="557135"/>
                <a:gridCol w="557135"/>
                <a:gridCol w="557135"/>
                <a:gridCol w="557135"/>
                <a:gridCol w="557135"/>
                <a:gridCol w="557135"/>
                <a:gridCol w="557135"/>
                <a:gridCol w="557135"/>
              </a:tblGrid>
              <a:tr h="246126">
                <a:tc>
                  <a:txBody>
                    <a:bodyPr wrap="none"/>
                    <a:lstStyle/>
                    <a:p>
                      <a:pPr algn="l"/>
                      <a:r>
                        <a:rPr sz="1100" b="1">
                          <a:solidFill>
                            <a:srgbClr val="0E2A5C"/>
                          </a:solidFill>
                          <a:latin typeface="Calibri"/>
                        </a:rPr>
                        <a:t>Application</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2021A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2022A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2023A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2024A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2025A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2026E</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2027F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2028F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2029F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2030F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2031F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2032F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2033F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2034F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2035F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2036F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F-CAGR</a:t>
                      </a:r>
                      <a:endParaRPr sz="1100"/>
                    </a:p>
                  </a:txBody>
                  <a:tcPr marL="47625" marR="38100" marT="19050" marB="19050" anchor="ctr">
                    <a:solidFill>
                      <a:srgbClr val="EBF2F9"/>
                    </a:solidFill>
                  </a:tcPr>
                </a:tc>
              </a:tr>
              <a:tr h="246850">
                <a:tc>
                  <a:txBody>
                    <a:bodyPr wrap="none"/>
                    <a:lstStyle/>
                    <a:p>
                      <a:pPr algn="l"/>
                      <a:r>
                        <a:rPr sz="1100" b="1">
                          <a:solidFill>
                            <a:srgbClr val="2E2E2E"/>
                          </a:solidFill>
                          <a:latin typeface="Calibri"/>
                        </a:rPr>
                        <a:t>Dietary Supplements &amp; Nutraceuticals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850">
                <a:tc>
                  <a:txBody>
                    <a:bodyPr wrap="none"/>
                    <a:lstStyle/>
                    <a:p>
                      <a:pPr algn="l"/>
                      <a:r>
                        <a:rPr sz="1100" b="1">
                          <a:solidFill>
                            <a:srgbClr val="2E2E2E"/>
                          </a:solidFill>
                          <a:latin typeface="Calibri"/>
                        </a:rPr>
                        <a:t>– Joint &amp; Bone Health</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6850">
                <a:tc>
                  <a:txBody>
                    <a:bodyPr wrap="none"/>
                    <a:lstStyle/>
                    <a:p>
                      <a:pPr algn="l"/>
                      <a:r>
                        <a:rPr sz="1100" b="1">
                          <a:solidFill>
                            <a:srgbClr val="2E2E2E"/>
                          </a:solidFill>
                          <a:latin typeface="Calibri"/>
                        </a:rPr>
                        <a:t>– Skin, Hair &amp; Nail Health</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850">
                <a:tc>
                  <a:txBody>
                    <a:bodyPr wrap="none"/>
                    <a:lstStyle/>
                    <a:p>
                      <a:pPr algn="l"/>
                      <a:r>
                        <a:rPr sz="1100" b="1">
                          <a:solidFill>
                            <a:srgbClr val="2E2E2E"/>
                          </a:solidFill>
                          <a:latin typeface="Calibri"/>
                        </a:rPr>
                        <a:t>– Others</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6850">
                <a:tc>
                  <a:txBody>
                    <a:bodyPr wrap="none"/>
                    <a:lstStyle/>
                    <a:p>
                      <a:pPr algn="l"/>
                      <a:r>
                        <a:rPr sz="1100" b="1">
                          <a:solidFill>
                            <a:srgbClr val="2E2E2E"/>
                          </a:solidFill>
                          <a:latin typeface="Calibri"/>
                        </a:rPr>
                        <a:t>Functional Food &amp; Beverages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850">
                <a:tc>
                  <a:txBody>
                    <a:bodyPr wrap="none"/>
                    <a:lstStyle/>
                    <a:p>
                      <a:pPr algn="l"/>
                      <a:r>
                        <a:rPr sz="1100" b="1">
                          <a:solidFill>
                            <a:srgbClr val="2E2E2E"/>
                          </a:solidFill>
                          <a:latin typeface="Calibri"/>
                        </a:rPr>
                        <a:t>Cosmetics &amp; Personal Care</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6850">
                <a:tc>
                  <a:txBody>
                    <a:bodyPr wrap="none"/>
                    <a:lstStyle/>
                    <a:p>
                      <a:pPr algn="l"/>
                      <a:r>
                        <a:rPr sz="1100" b="1">
                          <a:solidFill>
                            <a:srgbClr val="2E2E2E"/>
                          </a:solidFill>
                          <a:latin typeface="Calibri"/>
                        </a:rPr>
                        <a:t>– Skin Care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850">
                <a:tc>
                  <a:txBody>
                    <a:bodyPr wrap="none"/>
                    <a:lstStyle/>
                    <a:p>
                      <a:pPr algn="l"/>
                      <a:r>
                        <a:rPr sz="1100" b="1">
                          <a:solidFill>
                            <a:srgbClr val="2E2E2E"/>
                          </a:solidFill>
                          <a:latin typeface="Calibri"/>
                        </a:rPr>
                        <a:t>– Hair Care</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6850">
                <a:tc>
                  <a:txBody>
                    <a:bodyPr wrap="none"/>
                    <a:lstStyle/>
                    <a:p>
                      <a:pPr algn="l"/>
                      <a:r>
                        <a:rPr sz="1100" b="1">
                          <a:solidFill>
                            <a:srgbClr val="2E2E2E"/>
                          </a:solidFill>
                          <a:latin typeface="Calibri"/>
                        </a:rPr>
                        <a:t>Pharmaceuticals &amp; Biomedical</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850">
                <a:tc>
                  <a:txBody>
                    <a:bodyPr wrap="none"/>
                    <a:lstStyle/>
                    <a:p>
                      <a:pPr algn="l"/>
                      <a:r>
                        <a:rPr sz="1100" b="1">
                          <a:solidFill>
                            <a:srgbClr val="2E2E2E"/>
                          </a:solidFill>
                          <a:latin typeface="Calibri"/>
                        </a:rPr>
                        <a:t>– Wound Care &amp; Dressings</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bl>
          </a:graphicData>
        </a:graphic>
      </p:graphicFrame>
      <p:sp>
        <p:nvSpPr>
          <p:cNvPr id="10" name="TextBox 9"/>
          <p:cNvSpPr txBox="1"/>
          <p:nvPr/>
        </p:nvSpPr>
        <p:spPr>
          <a:xfrm>
            <a:off x="219075" y="396240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11" name="Rectangle 10"/>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3" name="Picture 12" descr="lock.png"/>
          <p:cNvPicPr>
            <a:picLocks noChangeAspect="1"/>
          </p:cNvPicPr>
          <p:nvPr/>
        </p:nvPicPr>
        <p:blipFill>
          <a:blip r:embed="rId4"/>
          <a:stretch>
            <a:fillRect/>
          </a:stretch>
        </p:blipFill>
        <p:spPr>
          <a:xfrm>
            <a:off x="7117268" y="2451926"/>
            <a:ext cx="366712" cy="533400"/>
          </a:xfrm>
          <a:prstGeom prst="rect">
            <a:avLst/>
          </a:prstGeom>
        </p:spPr>
      </p:pic>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Value Analysis, By Application (US$ Mn) (2/2)</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by Application, 2021–2036, highlighting the sub-segments driving growth</a:t>
            </a:r>
          </a:p>
        </p:txBody>
      </p:sp>
      <p:sp>
        <p:nvSpPr>
          <p:cNvPr id="7" name="Rounded Rectangle 6"/>
          <p:cNvSpPr/>
          <p:nvPr/>
        </p:nvSpPr>
        <p:spPr>
          <a:xfrm>
            <a:off x="142875" y="981075"/>
            <a:ext cx="11906250" cy="2190750"/>
          </a:xfrm>
          <a:prstGeom prst="roundRect">
            <a:avLst>
              <a:gd name="adj" fmla="val 347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By Application (US$ Mn)</a:t>
            </a:r>
          </a:p>
        </p:txBody>
      </p:sp>
      <p:graphicFrame>
        <p:nvGraphicFramePr>
          <p:cNvPr id="9" name="Table 8"/>
          <p:cNvGraphicFramePr>
            <a:graphicFrameLocks noGrp="1"/>
          </p:cNvGraphicFramePr>
          <p:nvPr/>
        </p:nvGraphicFramePr>
        <p:xfrm>
          <a:off x="152400" y="1238250"/>
          <a:ext cx="11887193" cy="1724028"/>
        </p:xfrm>
        <a:graphic>
          <a:graphicData uri="http://schemas.openxmlformats.org/drawingml/2006/table">
            <a:tbl>
              <a:tblPr>
                <a:tableStyleId>{5C22544A-7EE6-4342-B048-85BDC9FD1C3A}</a:tableStyleId>
              </a:tblPr>
              <a:tblGrid>
                <a:gridCol w="2342577"/>
                <a:gridCol w="561448"/>
                <a:gridCol w="561448"/>
                <a:gridCol w="561448"/>
                <a:gridCol w="561448"/>
                <a:gridCol w="561448"/>
                <a:gridCol w="561448"/>
                <a:gridCol w="561448"/>
                <a:gridCol w="561448"/>
                <a:gridCol w="561448"/>
                <a:gridCol w="561448"/>
                <a:gridCol w="561448"/>
                <a:gridCol w="561448"/>
                <a:gridCol w="561448"/>
                <a:gridCol w="561448"/>
                <a:gridCol w="561448"/>
                <a:gridCol w="561448"/>
                <a:gridCol w="561448"/>
              </a:tblGrid>
              <a:tr h="246126">
                <a:tc>
                  <a:txBody>
                    <a:bodyPr wrap="none"/>
                    <a:lstStyle/>
                    <a:p>
                      <a:pPr algn="l"/>
                      <a:r>
                        <a:rPr sz="1100" b="1">
                          <a:solidFill>
                            <a:srgbClr val="0E2A5C"/>
                          </a:solidFill>
                          <a:latin typeface="Calibri"/>
                        </a:rPr>
                        <a:t>Application</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2021A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2022A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2023A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2024A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2025A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2026E</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2027F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2028F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2029F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2030F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2031F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2032F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2033F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2034F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2035F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2036F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F-CAGR</a:t>
                      </a:r>
                      <a:endParaRPr sz="1100"/>
                    </a:p>
                  </a:txBody>
                  <a:tcPr marL="47625" marR="38100" marT="19050" marB="19050" anchor="ctr">
                    <a:solidFill>
                      <a:srgbClr val="EBF2F9"/>
                    </a:solidFill>
                  </a:tcPr>
                </a:tc>
              </a:tr>
              <a:tr h="246317">
                <a:tc>
                  <a:txBody>
                    <a:bodyPr wrap="none"/>
                    <a:lstStyle/>
                    <a:p>
                      <a:pPr algn="l"/>
                      <a:r>
                        <a:rPr sz="1100" b="1">
                          <a:solidFill>
                            <a:srgbClr val="2E2E2E"/>
                          </a:solidFill>
                          <a:latin typeface="Calibri"/>
                        </a:rPr>
                        <a:t>– Tissue Engineering &amp; Drug Delivery</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17">
                <a:tc>
                  <a:txBody>
                    <a:bodyPr wrap="none"/>
                    <a:lstStyle/>
                    <a:p>
                      <a:pPr algn="l"/>
                      <a:r>
                        <a:rPr sz="1100" b="1">
                          <a:solidFill>
                            <a:srgbClr val="2E2E2E"/>
                          </a:solidFill>
                          <a:latin typeface="Calibri"/>
                        </a:rPr>
                        <a:t>Animal Nutrition &amp; Pet Care</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6317">
                <a:tc>
                  <a:txBody>
                    <a:bodyPr wrap="none"/>
                    <a:lstStyle/>
                    <a:p>
                      <a:pPr algn="l"/>
                      <a:r>
                        <a:rPr sz="1100" b="1">
                          <a:solidFill>
                            <a:srgbClr val="2E2E2E"/>
                          </a:solidFill>
                          <a:latin typeface="Calibri"/>
                        </a:rPr>
                        <a:t>– Pet Joint &amp; Skin Supplements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17">
                <a:tc>
                  <a:txBody>
                    <a:bodyPr wrap="none"/>
                    <a:lstStyle/>
                    <a:p>
                      <a:pPr algn="l"/>
                      <a:r>
                        <a:rPr sz="1100" b="1">
                          <a:solidFill>
                            <a:srgbClr val="2E2E2E"/>
                          </a:solidFill>
                          <a:latin typeface="Calibri"/>
                        </a:rPr>
                        <a:t>– Livestock &amp; Poultry Feed</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6317">
                <a:tc>
                  <a:txBody>
                    <a:bodyPr wrap="none"/>
                    <a:lstStyle/>
                    <a:p>
                      <a:pPr algn="l"/>
                      <a:r>
                        <a:rPr sz="1100" b="1">
                          <a:solidFill>
                            <a:srgbClr val="2E2E2E"/>
                          </a:solidFill>
                          <a:latin typeface="Calibri"/>
                        </a:rPr>
                        <a:t>Industrial &amp; Biomaterials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17">
                <a:tc>
                  <a:txBody>
                    <a:bodyPr wrap="none"/>
                    <a:lstStyle/>
                    <a:p>
                      <a:pPr algn="l"/>
                      <a:r>
                        <a:rPr sz="1100" b="1">
                          <a:solidFill>
                            <a:srgbClr val="2E2E2E"/>
                          </a:solidFill>
                          <a:latin typeface="Calibri"/>
                        </a:rPr>
                        <a:t>Total</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r>
            </a:tbl>
          </a:graphicData>
        </a:graphic>
      </p:graphicFrame>
      <p:sp>
        <p:nvSpPr>
          <p:cNvPr id="10" name="TextBox 9"/>
          <p:cNvSpPr txBox="1"/>
          <p:nvPr/>
        </p:nvSpPr>
        <p:spPr>
          <a:xfrm>
            <a:off x="219075" y="297180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11" name="Rounded Rectangle 10"/>
          <p:cNvSpPr/>
          <p:nvPr/>
        </p:nvSpPr>
        <p:spPr>
          <a:xfrm>
            <a:off x="142875" y="3305175"/>
            <a:ext cx="11906250" cy="3324225"/>
          </a:xfrm>
          <a:prstGeom prst="roundRect">
            <a:avLst>
              <a:gd name="adj" fmla="val 2292"/>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6225" y="3390900"/>
            <a:ext cx="11639550" cy="209550"/>
          </a:xfrm>
          <a:prstGeom prst="rect">
            <a:avLst/>
          </a:prstGeom>
          <a:noFill/>
        </p:spPr>
        <p:txBody>
          <a:bodyPr wrap="square" lIns="0" rIns="19050" tIns="9525" bIns="9525">
            <a:spAutoFit/>
          </a:bodyPr>
          <a:lstStyle/>
          <a:p>
            <a:pPr algn="l"/>
            <a:r>
              <a:rPr sz="1300" b="1">
                <a:solidFill>
                  <a:srgbClr val="0E2A5C"/>
                </a:solidFill>
                <a:latin typeface="Calibri"/>
              </a:rPr>
              <a:t>Global Value Analysis, By Application</a:t>
            </a:r>
          </a:p>
        </p:txBody>
      </p:sp>
      <p:sp>
        <p:nvSpPr>
          <p:cNvPr id="13" name="Rectangle 12"/>
          <p:cNvSpPr/>
          <p:nvPr/>
        </p:nvSpPr>
        <p:spPr>
          <a:xfrm>
            <a:off x="276225" y="3629025"/>
            <a:ext cx="116395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6225" y="3714750"/>
            <a:ext cx="11639550" cy="28384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5" name="Rectangle 14"/>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7" name="Picture 16" descr="lock.png"/>
          <p:cNvPicPr>
            <a:picLocks noChangeAspect="1"/>
          </p:cNvPicPr>
          <p:nvPr/>
        </p:nvPicPr>
        <p:blipFill>
          <a:blip r:embed="rId4"/>
          <a:stretch>
            <a:fillRect/>
          </a:stretch>
        </p:blipFill>
        <p:spPr>
          <a:xfrm>
            <a:off x="7080594" y="1956627"/>
            <a:ext cx="366712" cy="533400"/>
          </a:xfrm>
          <a:prstGeom prst="rect">
            <a:avLst/>
          </a:prstGeom>
        </p:spPr>
      </p:pic>
      <p:sp>
        <p:nvSpPr>
          <p:cNvPr id="18" name="TextBox 17"/>
          <p:cNvSpPr txBox="1"/>
          <p:nvPr/>
        </p:nvSpPr>
        <p:spPr>
          <a:xfrm>
            <a:off x="276225" y="3724275"/>
            <a:ext cx="4238624" cy="194310"/>
          </a:xfrm>
          <a:prstGeom prst="rect">
            <a:avLst/>
          </a:prstGeom>
          <a:noFill/>
        </p:spPr>
        <p:txBody>
          <a:bodyPr wrap="none" lIns="0" rIns="0" tIns="0" bIns="0">
            <a:spAutoFit/>
          </a:bodyPr>
          <a:lstStyle/>
          <a:p>
            <a:r>
              <a:rPr sz="1150" b="0">
                <a:solidFill>
                  <a:srgbClr val="2E2E2E"/>
                </a:solidFill>
                <a:latin typeface="Calibri"/>
              </a:rPr>
              <a:t>Dietary supplements &amp; nutraceuticals segment is projected to register</a:t>
            </a:r>
          </a:p>
        </p:txBody>
      </p:sp>
      <p:pic>
        <p:nvPicPr>
          <p:cNvPr id="19" name="Picture 18" descr="lock.png"/>
          <p:cNvPicPr>
            <a:picLocks noChangeAspect="1"/>
          </p:cNvPicPr>
          <p:nvPr/>
        </p:nvPicPr>
        <p:blipFill>
          <a:blip r:embed="rId4"/>
          <a:stretch>
            <a:fillRect/>
          </a:stretch>
        </p:blipFill>
        <p:spPr>
          <a:xfrm>
            <a:off x="4464003" y="3714051"/>
            <a:ext cx="134549" cy="195707"/>
          </a:xfrm>
          <a:prstGeom prst="rect">
            <a:avLst/>
          </a:prstGeom>
        </p:spPr>
      </p:pic>
      <p:sp>
        <p:nvSpPr>
          <p:cNvPr id="20" name="TextBox 19"/>
          <p:cNvSpPr txBox="1"/>
          <p:nvPr/>
        </p:nvSpPr>
        <p:spPr>
          <a:xfrm>
            <a:off x="4639113" y="3724275"/>
            <a:ext cx="6754849" cy="194310"/>
          </a:xfrm>
          <a:prstGeom prst="rect">
            <a:avLst/>
          </a:prstGeom>
          <a:noFill/>
        </p:spPr>
        <p:txBody>
          <a:bodyPr wrap="none" lIns="0" rIns="0" tIns="0" bIns="0">
            <a:spAutoFit/>
          </a:bodyPr>
          <a:lstStyle/>
          <a:p>
            <a:r>
              <a:rPr sz="1150" b="0">
                <a:solidFill>
                  <a:srgbClr val="2E2E2E"/>
                </a:solidFill>
                <a:latin typeface="Calibri"/>
              </a:rPr>
              <a:t>X higher value than functional food &amp; beverages segment in 2036. Among egg protein membrane by application,</a:t>
            </a:r>
          </a:p>
        </p:txBody>
      </p:sp>
      <p:sp>
        <p:nvSpPr>
          <p:cNvPr id="21" name="TextBox 20"/>
          <p:cNvSpPr txBox="1"/>
          <p:nvPr/>
        </p:nvSpPr>
        <p:spPr>
          <a:xfrm>
            <a:off x="276225" y="3899535"/>
            <a:ext cx="4871300" cy="194310"/>
          </a:xfrm>
          <a:prstGeom prst="rect">
            <a:avLst/>
          </a:prstGeom>
          <a:noFill/>
        </p:spPr>
        <p:txBody>
          <a:bodyPr wrap="none" lIns="0" rIns="0" tIns="0" bIns="0">
            <a:spAutoFit/>
          </a:bodyPr>
          <a:lstStyle/>
          <a:p>
            <a:r>
              <a:rPr sz="1150" b="0">
                <a:solidFill>
                  <a:srgbClr val="2E2E2E"/>
                </a:solidFill>
                <a:latin typeface="Calibri"/>
              </a:rPr>
              <a:t>functional food &amp; beverages segment is expected to witness the highest CAGR of</a:t>
            </a:r>
          </a:p>
        </p:txBody>
      </p:sp>
      <p:pic>
        <p:nvPicPr>
          <p:cNvPr id="22" name="Picture 21" descr="lock.png"/>
          <p:cNvPicPr>
            <a:picLocks noChangeAspect="1"/>
          </p:cNvPicPr>
          <p:nvPr/>
        </p:nvPicPr>
        <p:blipFill>
          <a:blip r:embed="rId4"/>
          <a:stretch>
            <a:fillRect/>
          </a:stretch>
        </p:blipFill>
        <p:spPr>
          <a:xfrm>
            <a:off x="5096679" y="3889311"/>
            <a:ext cx="134549" cy="195707"/>
          </a:xfrm>
          <a:prstGeom prst="rect">
            <a:avLst/>
          </a:prstGeom>
        </p:spPr>
      </p:pic>
      <p:sp>
        <p:nvSpPr>
          <p:cNvPr id="23" name="TextBox 22"/>
          <p:cNvSpPr txBox="1"/>
          <p:nvPr/>
        </p:nvSpPr>
        <p:spPr>
          <a:xfrm>
            <a:off x="5271788" y="3899535"/>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24" name="TextBox 23"/>
          <p:cNvSpPr txBox="1"/>
          <p:nvPr/>
        </p:nvSpPr>
        <p:spPr>
          <a:xfrm>
            <a:off x="276225" y="4127372"/>
            <a:ext cx="7951489" cy="194310"/>
          </a:xfrm>
          <a:prstGeom prst="rect">
            <a:avLst/>
          </a:prstGeom>
          <a:noFill/>
        </p:spPr>
        <p:txBody>
          <a:bodyPr wrap="none" lIns="0" rIns="0" tIns="0" bIns="0">
            <a:spAutoFit/>
          </a:bodyPr>
          <a:lstStyle/>
          <a:p>
            <a:r>
              <a:rPr sz="1150" b="0">
                <a:solidFill>
                  <a:srgbClr val="2E2E2E"/>
                </a:solidFill>
                <a:latin typeface="Calibri"/>
              </a:rPr>
              <a:t>In terms of value share by application, the dietary supplements &amp; nutraceuticals segment is expected to dominate the market, losing</a:t>
            </a:r>
          </a:p>
        </p:txBody>
      </p:sp>
      <p:pic>
        <p:nvPicPr>
          <p:cNvPr id="25" name="Picture 24" descr="lock.png"/>
          <p:cNvPicPr>
            <a:picLocks noChangeAspect="1"/>
          </p:cNvPicPr>
          <p:nvPr/>
        </p:nvPicPr>
        <p:blipFill>
          <a:blip r:embed="rId4"/>
          <a:stretch>
            <a:fillRect/>
          </a:stretch>
        </p:blipFill>
        <p:spPr>
          <a:xfrm>
            <a:off x="8176868" y="4117149"/>
            <a:ext cx="134549" cy="195707"/>
          </a:xfrm>
          <a:prstGeom prst="rect">
            <a:avLst/>
          </a:prstGeom>
        </p:spPr>
      </p:pic>
      <p:sp>
        <p:nvSpPr>
          <p:cNvPr id="26" name="TextBox 25"/>
          <p:cNvSpPr txBox="1"/>
          <p:nvPr/>
        </p:nvSpPr>
        <p:spPr>
          <a:xfrm>
            <a:off x="8351978" y="4127372"/>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27" name="Picture 26" descr="lock.png"/>
          <p:cNvPicPr>
            <a:picLocks noChangeAspect="1"/>
          </p:cNvPicPr>
          <p:nvPr/>
        </p:nvPicPr>
        <p:blipFill>
          <a:blip r:embed="rId4"/>
          <a:stretch>
            <a:fillRect/>
          </a:stretch>
        </p:blipFill>
        <p:spPr>
          <a:xfrm>
            <a:off x="9747121" y="4117149"/>
            <a:ext cx="134549" cy="195707"/>
          </a:xfrm>
          <a:prstGeom prst="rect">
            <a:avLst/>
          </a:prstGeom>
        </p:spPr>
      </p:pic>
      <p:sp>
        <p:nvSpPr>
          <p:cNvPr id="28" name="TextBox 27"/>
          <p:cNvSpPr txBox="1"/>
          <p:nvPr/>
        </p:nvSpPr>
        <p:spPr>
          <a:xfrm>
            <a:off x="9922230" y="4127372"/>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Value &amp; Share Shift, By Application</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Value composition by Application in 2021, 2026 and 2036, highlighting share shifts in basis points</a:t>
            </a:r>
          </a:p>
        </p:txBody>
      </p:sp>
      <p:sp>
        <p:nvSpPr>
          <p:cNvPr id="7" name="Rounded Rectangle 6"/>
          <p:cNvSpPr/>
          <p:nvPr/>
        </p:nvSpPr>
        <p:spPr>
          <a:xfrm>
            <a:off x="142875" y="981075"/>
            <a:ext cx="7400925" cy="5648325"/>
          </a:xfrm>
          <a:prstGeom prst="roundRect">
            <a:avLst>
              <a:gd name="adj" fmla="val 134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7210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Composition, By Application ·  2021 / 2026 / 2036 (US$ Mn)  ·  right axis = BPS share shift</a:t>
            </a:r>
          </a:p>
        </p:txBody>
      </p:sp>
      <p:graphicFrame>
        <p:nvGraphicFramePr>
          <p:cNvPr id="9" name="Chart 8"/>
          <p:cNvGraphicFramePr>
            <a:graphicFrameLocks noGrp="1"/>
          </p:cNvGraphicFramePr>
          <p:nvPr/>
        </p:nvGraphicFramePr>
        <p:xfrm>
          <a:off x="238125" y="1409700"/>
          <a:ext cx="4614672" cy="5162550"/>
        </p:xfrm>
        <a:graphic>
          <a:graphicData uri="http://schemas.openxmlformats.org/drawingml/2006/chart">
            <c:chart xmlns:c="http://schemas.openxmlformats.org/drawingml/2006/chart" r:id="rId3"/>
          </a:graphicData>
        </a:graphic>
      </p:graphicFrame>
      <p:sp>
        <p:nvSpPr>
          <p:cNvPr id="10" name="TextBox 9"/>
          <p:cNvSpPr txBox="1"/>
          <p:nvPr/>
        </p:nvSpPr>
        <p:spPr>
          <a:xfrm>
            <a:off x="4852797" y="1419225"/>
            <a:ext cx="2595753" cy="177927"/>
          </a:xfrm>
          <a:prstGeom prst="rect">
            <a:avLst/>
          </a:prstGeom>
          <a:noFill/>
        </p:spPr>
        <p:txBody>
          <a:bodyPr wrap="square" lIns="28575" rIns="28575" tIns="9525" bIns="9525" anchor="ctr">
            <a:spAutoFit/>
          </a:bodyPr>
          <a:lstStyle/>
          <a:p>
            <a:pPr algn="ctr"/>
            <a:r>
              <a:rPr sz="1300" b="1">
                <a:solidFill>
                  <a:srgbClr val="2A5F8F"/>
                </a:solidFill>
                <a:latin typeface="Calibri"/>
              </a:rPr>
              <a:t>BPS Δ  (2021→2036)</a:t>
            </a:r>
          </a:p>
        </p:txBody>
      </p:sp>
      <p:sp>
        <p:nvSpPr>
          <p:cNvPr id="11" name="TMR Lock Anchor"/>
          <p:cNvSpPr txBox="1"/>
          <p:nvPr/>
        </p:nvSpPr>
        <p:spPr>
          <a:xfrm>
            <a:off x="2678811" y="3932301"/>
            <a:ext cx="38100" cy="38100"/>
          </a:xfrm>
          <a:prstGeom prst="rect">
            <a:avLst/>
          </a:prstGeom>
          <a:noFill/>
        </p:spPr>
        <p:txBody>
          <a:bodyPr wrap="none">
            <a:spAutoFit/>
          </a:bodyPr>
          <a:lstStyle/>
          <a:p/>
        </p:txBody>
      </p:sp>
      <p:sp>
        <p:nvSpPr>
          <p:cNvPr id="12" name="TMR Legend Chip"/>
          <p:cNvSpPr/>
          <p:nvPr/>
        </p:nvSpPr>
        <p:spPr>
          <a:xfrm>
            <a:off x="4928997" y="1648906"/>
            <a:ext cx="85725" cy="85725"/>
          </a:xfrm>
          <a:prstGeom prst="rect">
            <a:avLst/>
          </a:prstGeom>
          <a:solidFill>
            <a:srgbClr val="79C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Isosceles Triangle 12"/>
          <p:cNvSpPr/>
          <p:nvPr/>
        </p:nvSpPr>
        <p:spPr>
          <a:xfrm>
            <a:off x="5090922" y="1644144"/>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BPS Name 1"/>
          <p:cNvSpPr txBox="1"/>
          <p:nvPr/>
        </p:nvSpPr>
        <p:spPr>
          <a:xfrm>
            <a:off x="5233797" y="1567944"/>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Animal Nutrition &amp; Pet Care</a:t>
            </a:r>
          </a:p>
        </p:txBody>
      </p:sp>
      <p:sp>
        <p:nvSpPr>
          <p:cNvPr id="15" name="BPS Value 1"/>
          <p:cNvSpPr txBox="1"/>
          <p:nvPr/>
        </p:nvSpPr>
        <p:spPr>
          <a:xfrm>
            <a:off x="6896100" y="1629856"/>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16" name="TMR Legend Chip"/>
          <p:cNvSpPr/>
          <p:nvPr/>
        </p:nvSpPr>
        <p:spPr>
          <a:xfrm>
            <a:off x="4928997" y="2059982"/>
            <a:ext cx="85725" cy="85725"/>
          </a:xfrm>
          <a:prstGeom prst="rect">
            <a:avLst/>
          </a:prstGeom>
          <a:solidFill>
            <a:srgbClr val="F47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Isosceles Triangle 16"/>
          <p:cNvSpPr/>
          <p:nvPr/>
        </p:nvSpPr>
        <p:spPr>
          <a:xfrm>
            <a:off x="5090922" y="2055220"/>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PS Name 2"/>
          <p:cNvSpPr txBox="1"/>
          <p:nvPr/>
        </p:nvSpPr>
        <p:spPr>
          <a:xfrm>
            <a:off x="5233797" y="1979020"/>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Industrial &amp; Biomaterials</a:t>
            </a:r>
          </a:p>
        </p:txBody>
      </p:sp>
      <p:sp>
        <p:nvSpPr>
          <p:cNvPr id="19" name="BPS Value 2"/>
          <p:cNvSpPr txBox="1"/>
          <p:nvPr/>
        </p:nvSpPr>
        <p:spPr>
          <a:xfrm>
            <a:off x="6896100" y="2040932"/>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0" name="TMR Legend Chip"/>
          <p:cNvSpPr/>
          <p:nvPr/>
        </p:nvSpPr>
        <p:spPr>
          <a:xfrm>
            <a:off x="4928997" y="2613695"/>
            <a:ext cx="85725" cy="85725"/>
          </a:xfrm>
          <a:prstGeom prst="rect">
            <a:avLst/>
          </a:prstGeom>
          <a:solidFill>
            <a:srgbClr val="00AC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Isosceles Triangle 20"/>
          <p:cNvSpPr/>
          <p:nvPr/>
        </p:nvSpPr>
        <p:spPr>
          <a:xfrm rot="10800000">
            <a:off x="5090922" y="2608932"/>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BPS Name 3"/>
          <p:cNvSpPr txBox="1"/>
          <p:nvPr/>
        </p:nvSpPr>
        <p:spPr>
          <a:xfrm>
            <a:off x="5233797" y="2532732"/>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Cosmetics &amp; Personal Care</a:t>
            </a:r>
          </a:p>
        </p:txBody>
      </p:sp>
      <p:sp>
        <p:nvSpPr>
          <p:cNvPr id="23" name="BPS Value 3"/>
          <p:cNvSpPr txBox="1"/>
          <p:nvPr/>
        </p:nvSpPr>
        <p:spPr>
          <a:xfrm>
            <a:off x="6896100" y="2594645"/>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4" name="TMR Legend Chip"/>
          <p:cNvSpPr/>
          <p:nvPr/>
        </p:nvSpPr>
        <p:spPr>
          <a:xfrm>
            <a:off x="4928997" y="3313710"/>
            <a:ext cx="85725" cy="85725"/>
          </a:xfrm>
          <a:prstGeom prst="rect">
            <a:avLst/>
          </a:prstGeom>
          <a:solidFill>
            <a:srgbClr val="0E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Isosceles Triangle 24"/>
          <p:cNvSpPr/>
          <p:nvPr/>
        </p:nvSpPr>
        <p:spPr>
          <a:xfrm rot="10800000">
            <a:off x="5090922" y="3308948"/>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BPS Name 4"/>
          <p:cNvSpPr txBox="1"/>
          <p:nvPr/>
        </p:nvSpPr>
        <p:spPr>
          <a:xfrm>
            <a:off x="5233797" y="3232748"/>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Pharmaceuticals &amp; Biomedical</a:t>
            </a:r>
          </a:p>
        </p:txBody>
      </p:sp>
      <p:sp>
        <p:nvSpPr>
          <p:cNvPr id="27" name="BPS Value 4"/>
          <p:cNvSpPr txBox="1"/>
          <p:nvPr/>
        </p:nvSpPr>
        <p:spPr>
          <a:xfrm>
            <a:off x="6896100" y="3294660"/>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8" name="TMR Legend Chip"/>
          <p:cNvSpPr/>
          <p:nvPr/>
        </p:nvSpPr>
        <p:spPr>
          <a:xfrm>
            <a:off x="4928997" y="4191421"/>
            <a:ext cx="85725" cy="85725"/>
          </a:xfrm>
          <a:prstGeom prst="rect">
            <a:avLst/>
          </a:prstGeom>
          <a:solidFill>
            <a:srgbClr val="0081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Isosceles Triangle 28"/>
          <p:cNvSpPr/>
          <p:nvPr/>
        </p:nvSpPr>
        <p:spPr>
          <a:xfrm>
            <a:off x="5090922" y="4186659"/>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BPS Name 5"/>
          <p:cNvSpPr txBox="1"/>
          <p:nvPr/>
        </p:nvSpPr>
        <p:spPr>
          <a:xfrm>
            <a:off x="5233797" y="4110459"/>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Functional Food &amp; Beverages</a:t>
            </a:r>
          </a:p>
        </p:txBody>
      </p:sp>
      <p:sp>
        <p:nvSpPr>
          <p:cNvPr id="31" name="BPS Value 5"/>
          <p:cNvSpPr txBox="1"/>
          <p:nvPr/>
        </p:nvSpPr>
        <p:spPr>
          <a:xfrm>
            <a:off x="6896100" y="4172371"/>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32" name="TMR Legend Chip"/>
          <p:cNvSpPr/>
          <p:nvPr/>
        </p:nvSpPr>
        <p:spPr>
          <a:xfrm>
            <a:off x="4928997" y="5448816"/>
            <a:ext cx="85725" cy="85725"/>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Isosceles Triangle 32"/>
          <p:cNvSpPr/>
          <p:nvPr/>
        </p:nvSpPr>
        <p:spPr>
          <a:xfrm rot="10800000">
            <a:off x="5090922" y="5444054"/>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BPS Name 6"/>
          <p:cNvSpPr txBox="1"/>
          <p:nvPr/>
        </p:nvSpPr>
        <p:spPr>
          <a:xfrm>
            <a:off x="5233797" y="5367854"/>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Dietary Supplements &amp; Nutraceuticals</a:t>
            </a:r>
          </a:p>
        </p:txBody>
      </p:sp>
      <p:sp>
        <p:nvSpPr>
          <p:cNvPr id="35" name="BPS Value 6"/>
          <p:cNvSpPr txBox="1"/>
          <p:nvPr/>
        </p:nvSpPr>
        <p:spPr>
          <a:xfrm>
            <a:off x="6896100" y="5429766"/>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36" name="Rounded Rectangle 35"/>
          <p:cNvSpPr/>
          <p:nvPr/>
        </p:nvSpPr>
        <p:spPr>
          <a:xfrm>
            <a:off x="7696200" y="981075"/>
            <a:ext cx="4343400" cy="5648325"/>
          </a:xfrm>
          <a:prstGeom prst="roundRect">
            <a:avLst>
              <a:gd name="adj" fmla="val 1754"/>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E2A5C"/>
                </a:solidFill>
                <a:latin typeface="Calibri"/>
              </a:rPr>
              <a:t>Global Read-out, By Application</a:t>
            </a:r>
          </a:p>
        </p:txBody>
      </p:sp>
      <p:sp>
        <p:nvSpPr>
          <p:cNvPr id="38" name="Rectangle 37"/>
          <p:cNvSpPr/>
          <p:nvPr/>
        </p:nvSpPr>
        <p:spPr>
          <a:xfrm>
            <a:off x="7829550" y="1304925"/>
            <a:ext cx="407670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40" name="Rectangle 39"/>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42" name="Picture 41" descr="lock.png"/>
          <p:cNvPicPr>
            <a:picLocks noChangeAspect="1"/>
          </p:cNvPicPr>
          <p:nvPr/>
        </p:nvPicPr>
        <p:blipFill>
          <a:blip r:embed="rId5"/>
          <a:stretch>
            <a:fillRect/>
          </a:stretch>
        </p:blipFill>
        <p:spPr>
          <a:xfrm>
            <a:off x="2557843" y="3751325"/>
            <a:ext cx="275034" cy="400050"/>
          </a:xfrm>
          <a:prstGeom prst="rect">
            <a:avLst/>
          </a:prstGeom>
        </p:spPr>
      </p:pic>
      <p:sp>
        <p:nvSpPr>
          <p:cNvPr id="43" name="TextBox 42"/>
          <p:cNvSpPr txBox="1"/>
          <p:nvPr/>
        </p:nvSpPr>
        <p:spPr>
          <a:xfrm>
            <a:off x="7829550" y="1400175"/>
            <a:ext cx="3878064" cy="194310"/>
          </a:xfrm>
          <a:prstGeom prst="rect">
            <a:avLst/>
          </a:prstGeom>
          <a:noFill/>
        </p:spPr>
        <p:txBody>
          <a:bodyPr wrap="none" lIns="0" rIns="0" tIns="0" bIns="0">
            <a:spAutoFit/>
          </a:bodyPr>
          <a:lstStyle/>
          <a:p>
            <a:r>
              <a:rPr sz="1150" b="0">
                <a:solidFill>
                  <a:srgbClr val="2E2E2E"/>
                </a:solidFill>
                <a:latin typeface="Calibri"/>
              </a:rPr>
              <a:t>Among egg protein membrane by application, functional food &amp;</a:t>
            </a:r>
          </a:p>
        </p:txBody>
      </p:sp>
      <p:sp>
        <p:nvSpPr>
          <p:cNvPr id="44" name="TextBox 43"/>
          <p:cNvSpPr txBox="1"/>
          <p:nvPr/>
        </p:nvSpPr>
        <p:spPr>
          <a:xfrm>
            <a:off x="7829550" y="1575435"/>
            <a:ext cx="3797319" cy="194310"/>
          </a:xfrm>
          <a:prstGeom prst="rect">
            <a:avLst/>
          </a:prstGeom>
          <a:noFill/>
        </p:spPr>
        <p:txBody>
          <a:bodyPr wrap="none" lIns="0" rIns="0" tIns="0" bIns="0">
            <a:spAutoFit/>
          </a:bodyPr>
          <a:lstStyle/>
          <a:p>
            <a:r>
              <a:rPr sz="1150" b="0">
                <a:solidFill>
                  <a:srgbClr val="2E2E2E"/>
                </a:solidFill>
                <a:latin typeface="Calibri"/>
              </a:rPr>
              <a:t>beverages segment is expected to witness the highest CAGR of</a:t>
            </a:r>
          </a:p>
        </p:txBody>
      </p:sp>
      <p:pic>
        <p:nvPicPr>
          <p:cNvPr id="45" name="Picture 44" descr="lock.png"/>
          <p:cNvPicPr>
            <a:picLocks noChangeAspect="1"/>
          </p:cNvPicPr>
          <p:nvPr/>
        </p:nvPicPr>
        <p:blipFill>
          <a:blip r:embed="rId5"/>
          <a:stretch>
            <a:fillRect/>
          </a:stretch>
        </p:blipFill>
        <p:spPr>
          <a:xfrm>
            <a:off x="11576023" y="1565211"/>
            <a:ext cx="134549" cy="195707"/>
          </a:xfrm>
          <a:prstGeom prst="rect">
            <a:avLst/>
          </a:prstGeom>
        </p:spPr>
      </p:pic>
      <p:sp>
        <p:nvSpPr>
          <p:cNvPr id="46" name="TextBox 45"/>
          <p:cNvSpPr txBox="1"/>
          <p:nvPr/>
        </p:nvSpPr>
        <p:spPr>
          <a:xfrm>
            <a:off x="7829550" y="1750695"/>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47" name="TextBox 46"/>
          <p:cNvSpPr txBox="1"/>
          <p:nvPr/>
        </p:nvSpPr>
        <p:spPr>
          <a:xfrm>
            <a:off x="7829550" y="1978533"/>
            <a:ext cx="3956794" cy="194310"/>
          </a:xfrm>
          <a:prstGeom prst="rect">
            <a:avLst/>
          </a:prstGeom>
          <a:noFill/>
        </p:spPr>
        <p:txBody>
          <a:bodyPr wrap="none" lIns="0" rIns="0" tIns="0" bIns="0">
            <a:spAutoFit/>
          </a:bodyPr>
          <a:lstStyle/>
          <a:p>
            <a:r>
              <a:rPr sz="1150" b="0">
                <a:solidFill>
                  <a:srgbClr val="2E2E2E"/>
                </a:solidFill>
                <a:latin typeface="Calibri"/>
              </a:rPr>
              <a:t>In terms of value share by application, the dietary supplements &amp;</a:t>
            </a:r>
          </a:p>
        </p:txBody>
      </p:sp>
      <p:sp>
        <p:nvSpPr>
          <p:cNvPr id="48" name="TextBox 47"/>
          <p:cNvSpPr txBox="1"/>
          <p:nvPr/>
        </p:nvSpPr>
        <p:spPr>
          <a:xfrm>
            <a:off x="7829550" y="2153793"/>
            <a:ext cx="4037806" cy="194310"/>
          </a:xfrm>
          <a:prstGeom prst="rect">
            <a:avLst/>
          </a:prstGeom>
          <a:noFill/>
        </p:spPr>
        <p:txBody>
          <a:bodyPr wrap="none" lIns="0" rIns="0" tIns="0" bIns="0">
            <a:spAutoFit/>
          </a:bodyPr>
          <a:lstStyle/>
          <a:p>
            <a:r>
              <a:rPr sz="1150" b="0">
                <a:solidFill>
                  <a:srgbClr val="2E2E2E"/>
                </a:solidFill>
                <a:latin typeface="Calibri"/>
              </a:rPr>
              <a:t>nutraceuticals segment is expected to dominate the market, losing</a:t>
            </a:r>
          </a:p>
        </p:txBody>
      </p:sp>
      <p:pic>
        <p:nvPicPr>
          <p:cNvPr id="49" name="Picture 48" descr="lock.png"/>
          <p:cNvPicPr>
            <a:picLocks noChangeAspect="1"/>
          </p:cNvPicPr>
          <p:nvPr/>
        </p:nvPicPr>
        <p:blipFill>
          <a:blip r:embed="rId5"/>
          <a:stretch>
            <a:fillRect/>
          </a:stretch>
        </p:blipFill>
        <p:spPr>
          <a:xfrm>
            <a:off x="7815470" y="2318829"/>
            <a:ext cx="134549" cy="195707"/>
          </a:xfrm>
          <a:prstGeom prst="rect">
            <a:avLst/>
          </a:prstGeom>
        </p:spPr>
      </p:pic>
      <p:sp>
        <p:nvSpPr>
          <p:cNvPr id="50" name="TextBox 49"/>
          <p:cNvSpPr txBox="1"/>
          <p:nvPr/>
        </p:nvSpPr>
        <p:spPr>
          <a:xfrm>
            <a:off x="7990579" y="2329053"/>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51" name="Picture 50" descr="lock.png"/>
          <p:cNvPicPr>
            <a:picLocks noChangeAspect="1"/>
          </p:cNvPicPr>
          <p:nvPr/>
        </p:nvPicPr>
        <p:blipFill>
          <a:blip r:embed="rId5"/>
          <a:stretch>
            <a:fillRect/>
          </a:stretch>
        </p:blipFill>
        <p:spPr>
          <a:xfrm>
            <a:off x="9385722" y="2318829"/>
            <a:ext cx="134549" cy="195707"/>
          </a:xfrm>
          <a:prstGeom prst="rect">
            <a:avLst/>
          </a:prstGeom>
        </p:spPr>
      </p:pic>
      <p:sp>
        <p:nvSpPr>
          <p:cNvPr id="52" name="TextBox 51"/>
          <p:cNvSpPr txBox="1"/>
          <p:nvPr/>
        </p:nvSpPr>
        <p:spPr>
          <a:xfrm>
            <a:off x="9560832" y="2329053"/>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53" name="lockshield_9"/>
          <p:cNvSpPr/>
          <p:nvPr/>
        </p:nvSpPr>
        <p:spPr>
          <a:xfrm>
            <a:off x="238125" y="1409700"/>
            <a:ext cx="4614672" cy="51625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3F8FD"/>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3F8FD"/>
              </a:gs>
              <a:gs pos="100000">
                <a:srgbClr val="DCE9F6"/>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FE0F0">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9C8E6">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B7D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A5F8F"/>
              </a:gs>
              <a:gs pos="100000">
                <a:srgbClr val="6FA6D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MR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7.6</a:t>
            </a:r>
          </a:p>
        </p:txBody>
      </p:sp>
      <p:pic>
        <p:nvPicPr>
          <p:cNvPr id="8" name="Picture 7" descr="tmr_logo.png"/>
          <p:cNvPicPr>
            <a:picLocks noChangeAspect="1"/>
          </p:cNvPicPr>
          <p:nvPr/>
        </p:nvPicPr>
        <p:blipFill>
          <a:blip r:embed="rId2"/>
          <a:stretch>
            <a:fillRect/>
          </a:stretch>
        </p:blipFill>
        <p:spPr>
          <a:xfrm>
            <a:off x="411480" y="274320"/>
            <a:ext cx="1307592" cy="975505"/>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2A5F8F"/>
                </a:solidFill>
                <a:latin typeface="Calibri"/>
              </a:rPr>
              <a:t>Egg Protein Membrane Market</a:t>
            </a:r>
          </a:p>
        </p:txBody>
      </p:sp>
      <p:sp>
        <p:nvSpPr>
          <p:cNvPr id="10" name="TMR Section Title"/>
          <p:cNvSpPr txBox="1"/>
          <p:nvPr/>
        </p:nvSpPr>
        <p:spPr>
          <a:xfrm>
            <a:off x="914400" y="2701925"/>
            <a:ext cx="8572500" cy="514350"/>
          </a:xfrm>
          <a:prstGeom prst="rect">
            <a:avLst/>
          </a:prstGeom>
          <a:noFill/>
        </p:spPr>
        <p:txBody>
          <a:bodyPr wrap="square" lIns="0" rIns="0" tIns="0">
            <a:spAutoFit/>
          </a:bodyPr>
          <a:lstStyle/>
          <a:p>
            <a:r>
              <a:rPr sz="3000" b="1">
                <a:solidFill>
                  <a:srgbClr val="0E2A5C"/>
                </a:solidFill>
                <a:latin typeface="Calibri"/>
              </a:rPr>
              <a:t>Sales Channel</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Sales Channel Segment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Structure &amp; Attractiveness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Value Analysis</a:t>
            </a:r>
          </a:p>
        </p:txBody>
      </p:sp>
      <p:sp>
        <p:nvSpPr>
          <p:cNvPr id="12" name="Rectangle 11"/>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By Sales Channel Segment Outlook</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Segment analysis of market size, growth and share across 2 sub-segments of Sales Channel, 2026–2036</a:t>
            </a:r>
          </a:p>
        </p:txBody>
      </p:sp>
      <p:sp>
        <p:nvSpPr>
          <p:cNvPr id="7" name="TextBox 6"/>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Sales Channel segment categorizes the market by sales channel. Each sub-category is evaluated on market size, growth outlook and adoption trends across the forecast period.</a:t>
            </a:r>
          </a:p>
        </p:txBody>
      </p:sp>
      <p:sp>
        <p:nvSpPr>
          <p:cNvPr id="8" name="Rectangle 7"/>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Sub-Segment</a:t>
            </a:r>
          </a:p>
        </p:txBody>
      </p:sp>
      <p:sp>
        <p:nvSpPr>
          <p:cNvPr id="10" name="Rectangle 9"/>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2" name="Rectangle 11"/>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4" name="Rectangle 13"/>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16" name="Rounded Rectangle 15"/>
          <p:cNvSpPr/>
          <p:nvPr/>
        </p:nvSpPr>
        <p:spPr>
          <a:xfrm>
            <a:off x="1866900" y="1773916"/>
            <a:ext cx="4943475"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866900" y="1992961"/>
            <a:ext cx="4943475"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905000" y="1773916"/>
            <a:ext cx="4867275" cy="438089"/>
          </a:xfrm>
          <a:prstGeom prst="rect">
            <a:avLst/>
          </a:prstGeom>
          <a:noFill/>
        </p:spPr>
        <p:txBody>
          <a:bodyPr wrap="square" lIns="28575" rIns="28575" tIns="9525" bIns="9525" anchor="ctr">
            <a:spAutoFit/>
          </a:bodyPr>
          <a:lstStyle/>
          <a:p>
            <a:pPr algn="ctr"/>
            <a:r>
              <a:rPr sz="1100" b="1">
                <a:solidFill>
                  <a:srgbClr val="FFFFFF"/>
                </a:solidFill>
                <a:latin typeface="Calibri"/>
              </a:rPr>
              <a:t>Direct</a:t>
            </a:r>
          </a:p>
        </p:txBody>
      </p:sp>
      <p:sp>
        <p:nvSpPr>
          <p:cNvPr id="19" name="Rectangle 18"/>
          <p:cNvSpPr/>
          <p:nvPr/>
        </p:nvSpPr>
        <p:spPr>
          <a:xfrm>
            <a:off x="1866900" y="22302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0" name="Rectangle 19"/>
          <p:cNvSpPr/>
          <p:nvPr/>
        </p:nvSpPr>
        <p:spPr>
          <a:xfrm>
            <a:off x="1866900" y="2723109"/>
            <a:ext cx="494347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1" name="Rectangle 20"/>
          <p:cNvSpPr/>
          <p:nvPr/>
        </p:nvSpPr>
        <p:spPr>
          <a:xfrm>
            <a:off x="1866900" y="32159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2" name="Oval 21"/>
          <p:cNvSpPr/>
          <p:nvPr/>
        </p:nvSpPr>
        <p:spPr>
          <a:xfrm>
            <a:off x="4176712"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23" name="Rounded Rectangle 22"/>
          <p:cNvSpPr/>
          <p:nvPr/>
        </p:nvSpPr>
        <p:spPr>
          <a:xfrm>
            <a:off x="6924675" y="1773916"/>
            <a:ext cx="4943475"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924675" y="1992961"/>
            <a:ext cx="4943475"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962775" y="1773916"/>
            <a:ext cx="4867275" cy="438089"/>
          </a:xfrm>
          <a:prstGeom prst="rect">
            <a:avLst/>
          </a:prstGeom>
          <a:noFill/>
        </p:spPr>
        <p:txBody>
          <a:bodyPr wrap="square" lIns="28575" rIns="28575" tIns="9525" bIns="9525" anchor="ctr">
            <a:spAutoFit/>
          </a:bodyPr>
          <a:lstStyle/>
          <a:p>
            <a:pPr algn="ctr"/>
            <a:r>
              <a:rPr sz="1100" b="1">
                <a:solidFill>
                  <a:srgbClr val="FFFFFF"/>
                </a:solidFill>
                <a:latin typeface="Calibri"/>
              </a:rPr>
              <a:t>Distributors &amp; Traders</a:t>
            </a:r>
          </a:p>
        </p:txBody>
      </p:sp>
      <p:sp>
        <p:nvSpPr>
          <p:cNvPr id="26" name="Rectangle 25"/>
          <p:cNvSpPr/>
          <p:nvPr/>
        </p:nvSpPr>
        <p:spPr>
          <a:xfrm>
            <a:off x="6924675" y="22302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27" name="Rectangle 26"/>
          <p:cNvSpPr/>
          <p:nvPr/>
        </p:nvSpPr>
        <p:spPr>
          <a:xfrm>
            <a:off x="6924675" y="2723109"/>
            <a:ext cx="494347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28" name="Rectangle 27"/>
          <p:cNvSpPr/>
          <p:nvPr/>
        </p:nvSpPr>
        <p:spPr>
          <a:xfrm>
            <a:off x="6924675" y="32159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29" name="Oval 28"/>
          <p:cNvSpPr/>
          <p:nvPr/>
        </p:nvSpPr>
        <p:spPr>
          <a:xfrm>
            <a:off x="9234488"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30" name="Rounded Rectangle 29"/>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B2E4A"/>
                </a:solidFill>
                <a:latin typeface="Calibri"/>
              </a:rPr>
              <a:t>Key Highlights</a:t>
            </a:r>
          </a:p>
        </p:txBody>
      </p:sp>
      <p:sp>
        <p:nvSpPr>
          <p:cNvPr id="32" name="Rectangle 31"/>
          <p:cNvSpPr/>
          <p:nvPr/>
        </p:nvSpPr>
        <p:spPr>
          <a:xfrm>
            <a:off x="457200" y="4146897"/>
            <a:ext cx="2971800" cy="18254"/>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57200" y="4219912"/>
            <a:ext cx="29718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2E2E2E"/>
                </a:solidFill>
                <a:latin typeface="Calibri"/>
              </a:rPr>
              <a:t/>
            </a:r>
          </a:p>
          <a:p>
            <a:pPr algn="l">
              <a:lnSpc>
                <a:spcPct val="110000"/>
              </a:lnSpc>
              <a:spcBef>
                <a:spcPts val="0"/>
              </a:spcBef>
              <a:spcAft>
                <a:spcPts val="500"/>
              </a:spcAft>
            </a:pPr>
            <a:r>
              <a:rPr sz="1100" b="0">
                <a:solidFill>
                  <a:srgbClr val="2E2E2E"/>
                </a:solidFill>
                <a:latin typeface="Calibri"/>
              </a:rPr>
              <a:t/>
            </a:r>
          </a:p>
        </p:txBody>
      </p:sp>
      <p:sp>
        <p:nvSpPr>
          <p:cNvPr id="34" name="Rounded Rectangle 33"/>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B2E4A"/>
                </a:solidFill>
                <a:latin typeface="Calibri"/>
              </a:rPr>
              <a:t>Sub-Segment Insights</a:t>
            </a:r>
          </a:p>
        </p:txBody>
      </p:sp>
      <p:sp>
        <p:nvSpPr>
          <p:cNvPr id="36" name="Rectangle 35"/>
          <p:cNvSpPr/>
          <p:nvPr/>
        </p:nvSpPr>
        <p:spPr>
          <a:xfrm>
            <a:off x="3810000" y="4146897"/>
            <a:ext cx="4210050" cy="18254"/>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B2E4A"/>
                </a:solidFill>
                <a:latin typeface="Calibri"/>
              </a:rPr>
              <a:t/>
            </a:r>
            <a:r>
              <a:rPr sz="1100" b="1">
                <a:solidFill>
                  <a:srgbClr val="0B2E4A"/>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1">
                <a:solidFill>
                  <a:srgbClr val="0E72AE"/>
                </a:solidFill>
                <a:latin typeface="Calibri"/>
              </a:rPr>
              <a:t/>
            </a:r>
            <a:r>
              <a:rPr sz="1100" b="0">
                <a:solidFill>
                  <a:srgbClr val="2E2E2E"/>
                </a:solidFill>
                <a:latin typeface="Calibri"/>
              </a:rPr>
              <a:t/>
            </a:r>
          </a:p>
        </p:txBody>
      </p:sp>
      <p:sp>
        <p:nvSpPr>
          <p:cNvPr id="38" name="Rounded Rectangle 37"/>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B2E4A"/>
                </a:solidFill>
                <a:latin typeface="Calibri"/>
              </a:rPr>
              <a:t>Segment Overview</a:t>
            </a:r>
          </a:p>
        </p:txBody>
      </p:sp>
      <p:sp>
        <p:nvSpPr>
          <p:cNvPr id="40" name="Rectangle 39"/>
          <p:cNvSpPr/>
          <p:nvPr/>
        </p:nvSpPr>
        <p:spPr>
          <a:xfrm>
            <a:off x="8401050" y="4146897"/>
            <a:ext cx="3333750" cy="18254"/>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00ACAC"/>
                </a:solidFill>
                <a:latin typeface="Calibri"/>
              </a:rPr>
              <a:t>✓  </a:t>
            </a:r>
            <a:r>
              <a:rPr sz="1100" b="0">
                <a:solidFill>
                  <a:srgbClr val="2E2E2E"/>
                </a:solidFill>
                <a:latin typeface="Calibri"/>
              </a:rPr>
              <a:t>The Sales Channel split shows how demand is distributed across sales channel types and where growth concentrates.</a:t>
            </a:r>
          </a:p>
          <a:p>
            <a:pPr algn="l">
              <a:lnSpc>
                <a:spcPct val="110000"/>
              </a:lnSpc>
              <a:spcBef>
                <a:spcPts val="0"/>
              </a:spcBef>
              <a:spcAft>
                <a:spcPts val="500"/>
              </a:spcAft>
            </a:pPr>
            <a:r>
              <a:rPr sz="1100" b="1">
                <a:solidFill>
                  <a:srgbClr val="00ACAC"/>
                </a:solidFill>
                <a:latin typeface="Calibri"/>
              </a:rPr>
              <a:t>✓  </a:t>
            </a:r>
            <a:r>
              <a:rPr sz="1100" b="0">
                <a:solidFill>
                  <a:srgbClr val="2E2E2E"/>
                </a:solidFill>
                <a:latin typeface="Calibri"/>
              </a:rPr>
              <a:t>Shifting preferences and product innovation are reshaping the mix through 2036.</a:t>
            </a:r>
          </a:p>
        </p:txBody>
      </p:sp>
      <p:sp>
        <p:nvSpPr>
          <p:cNvPr id="42" name="Rectangle 41"/>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B2E4A"/>
                </a:solidFill>
                <a:latin typeface="Calibri"/>
              </a:rPr>
              <a:t/>
            </a:r>
          </a:p>
        </p:txBody>
      </p:sp>
      <p:sp>
        <p:nvSpPr>
          <p:cNvPr id="44" name="TextBox 43"/>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TMR Analysis, 2026</a:t>
            </a:r>
          </a:p>
        </p:txBody>
      </p:sp>
      <p:sp>
        <p:nvSpPr>
          <p:cNvPr id="45" name="Rectangle 44"/>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47" name="Picture 46" descr="6_123_605E5C.png"/>
          <p:cNvPicPr>
            <a:picLocks noChangeAspect="1"/>
          </p:cNvPicPr>
          <p:nvPr/>
        </p:nvPicPr>
        <p:blipFill>
          <a:blip r:embed="rId4"/>
          <a:stretch>
            <a:fillRect/>
          </a:stretch>
        </p:blipFill>
        <p:spPr>
          <a:xfrm>
            <a:off x="3740773" y="2286582"/>
            <a:ext cx="1195728" cy="361950"/>
          </a:xfrm>
          <a:prstGeom prst="rect">
            <a:avLst/>
          </a:prstGeom>
        </p:spPr>
      </p:pic>
      <p:pic>
        <p:nvPicPr>
          <p:cNvPr id="48" name="Picture 47" descr="9_945_605E5C.png"/>
          <p:cNvPicPr>
            <a:picLocks noChangeAspect="1"/>
          </p:cNvPicPr>
          <p:nvPr/>
        </p:nvPicPr>
        <p:blipFill>
          <a:blip r:embed="rId5"/>
          <a:stretch>
            <a:fillRect/>
          </a:stretch>
        </p:blipFill>
        <p:spPr>
          <a:xfrm>
            <a:off x="3740773" y="2779432"/>
            <a:ext cx="1195728" cy="361950"/>
          </a:xfrm>
          <a:prstGeom prst="rect">
            <a:avLst/>
          </a:prstGeom>
        </p:spPr>
      </p:pic>
      <p:pic>
        <p:nvPicPr>
          <p:cNvPr id="49" name="Picture 48" descr="5_0__605E5C.png"/>
          <p:cNvPicPr>
            <a:picLocks noChangeAspect="1"/>
          </p:cNvPicPr>
          <p:nvPr/>
        </p:nvPicPr>
        <p:blipFill>
          <a:blip r:embed="rId6"/>
          <a:stretch>
            <a:fillRect/>
          </a:stretch>
        </p:blipFill>
        <p:spPr>
          <a:xfrm>
            <a:off x="3847419" y="3272281"/>
            <a:ext cx="982436" cy="361950"/>
          </a:xfrm>
          <a:prstGeom prst="rect">
            <a:avLst/>
          </a:prstGeom>
        </p:spPr>
      </p:pic>
      <p:pic>
        <p:nvPicPr>
          <p:cNvPr id="50" name="Picture 49" descr="4_777_605E5C.png"/>
          <p:cNvPicPr>
            <a:picLocks noChangeAspect="1"/>
          </p:cNvPicPr>
          <p:nvPr/>
        </p:nvPicPr>
        <p:blipFill>
          <a:blip r:embed="rId7"/>
          <a:stretch>
            <a:fillRect/>
          </a:stretch>
        </p:blipFill>
        <p:spPr>
          <a:xfrm>
            <a:off x="8798548" y="2286582"/>
            <a:ext cx="1195728" cy="361950"/>
          </a:xfrm>
          <a:prstGeom prst="rect">
            <a:avLst/>
          </a:prstGeom>
        </p:spPr>
      </p:pic>
      <p:pic>
        <p:nvPicPr>
          <p:cNvPr id="51" name="Picture 50" descr="7_733_605E5C.png"/>
          <p:cNvPicPr>
            <a:picLocks noChangeAspect="1"/>
          </p:cNvPicPr>
          <p:nvPr/>
        </p:nvPicPr>
        <p:blipFill>
          <a:blip r:embed="rId8"/>
          <a:stretch>
            <a:fillRect/>
          </a:stretch>
        </p:blipFill>
        <p:spPr>
          <a:xfrm>
            <a:off x="8798548" y="2779432"/>
            <a:ext cx="1195728" cy="361950"/>
          </a:xfrm>
          <a:prstGeom prst="rect">
            <a:avLst/>
          </a:prstGeom>
        </p:spPr>
      </p:pic>
      <p:pic>
        <p:nvPicPr>
          <p:cNvPr id="52" name="Picture 51" descr="4_9__605E5C.png"/>
          <p:cNvPicPr>
            <a:picLocks noChangeAspect="1"/>
          </p:cNvPicPr>
          <p:nvPr/>
        </p:nvPicPr>
        <p:blipFill>
          <a:blip r:embed="rId9"/>
          <a:stretch>
            <a:fillRect/>
          </a:stretch>
        </p:blipFill>
        <p:spPr>
          <a:xfrm>
            <a:off x="8905194" y="3272281"/>
            <a:ext cx="982436" cy="361950"/>
          </a:xfrm>
          <a:prstGeom prst="rect">
            <a:avLst/>
          </a:prstGeom>
        </p:spPr>
      </p:pic>
      <p:pic>
        <p:nvPicPr>
          <p:cNvPr id="53" name="Picture 52" descr="lock.png"/>
          <p:cNvPicPr>
            <a:picLocks noChangeAspect="1"/>
          </p:cNvPicPr>
          <p:nvPr/>
        </p:nvPicPr>
        <p:blipFill>
          <a:blip r:embed="rId10"/>
          <a:stretch>
            <a:fillRect/>
          </a:stretch>
        </p:blipFill>
        <p:spPr>
          <a:xfrm>
            <a:off x="4230493" y="2805915"/>
            <a:ext cx="212425" cy="308982"/>
          </a:xfrm>
          <a:prstGeom prst="rect">
            <a:avLst/>
          </a:prstGeom>
        </p:spPr>
      </p:pic>
      <p:pic>
        <p:nvPicPr>
          <p:cNvPr id="54" name="Picture 53" descr="lock.png"/>
          <p:cNvPicPr>
            <a:picLocks noChangeAspect="1"/>
          </p:cNvPicPr>
          <p:nvPr/>
        </p:nvPicPr>
        <p:blipFill>
          <a:blip r:embed="rId10"/>
          <a:stretch>
            <a:fillRect/>
          </a:stretch>
        </p:blipFill>
        <p:spPr>
          <a:xfrm>
            <a:off x="9288268" y="2805915"/>
            <a:ext cx="212425" cy="308982"/>
          </a:xfrm>
          <a:prstGeom prst="rect">
            <a:avLst/>
          </a:prstGeom>
        </p:spPr>
      </p:pic>
      <p:sp>
        <p:nvSpPr>
          <p:cNvPr id="55" name="TextBox 54"/>
          <p:cNvSpPr txBox="1"/>
          <p:nvPr/>
        </p:nvSpPr>
        <p:spPr>
          <a:xfrm>
            <a:off x="485775" y="4229437"/>
            <a:ext cx="2812628" cy="186689"/>
          </a:xfrm>
          <a:prstGeom prst="rect">
            <a:avLst/>
          </a:prstGeom>
          <a:noFill/>
        </p:spPr>
        <p:txBody>
          <a:bodyPr wrap="none" lIns="0" rIns="0" tIns="0" bIns="0">
            <a:spAutoFit/>
          </a:bodyPr>
          <a:lstStyle/>
          <a:p>
            <a:r>
              <a:rPr sz="1100" b="0">
                <a:solidFill>
                  <a:srgbClr val="2E2E2E"/>
                </a:solidFill>
                <a:latin typeface="Calibri"/>
              </a:rPr>
              <a:t>Among egg protein membrane by sales channel,</a:t>
            </a:r>
          </a:p>
        </p:txBody>
      </p:sp>
      <p:sp>
        <p:nvSpPr>
          <p:cNvPr id="56" name="TextBox 55"/>
          <p:cNvSpPr txBox="1"/>
          <p:nvPr/>
        </p:nvSpPr>
        <p:spPr>
          <a:xfrm>
            <a:off x="485775" y="4397077"/>
            <a:ext cx="2885752" cy="186689"/>
          </a:xfrm>
          <a:prstGeom prst="rect">
            <a:avLst/>
          </a:prstGeom>
          <a:noFill/>
        </p:spPr>
        <p:txBody>
          <a:bodyPr wrap="none" lIns="0" rIns="0" tIns="0" bIns="0">
            <a:spAutoFit/>
          </a:bodyPr>
          <a:lstStyle/>
          <a:p>
            <a:r>
              <a:rPr sz="1100" b="0">
                <a:solidFill>
                  <a:srgbClr val="2E2E2E"/>
                </a:solidFill>
                <a:latin typeface="Calibri"/>
              </a:rPr>
              <a:t>direct segment is expected to witness the highest</a:t>
            </a:r>
          </a:p>
        </p:txBody>
      </p:sp>
      <p:sp>
        <p:nvSpPr>
          <p:cNvPr id="57" name="TextBox 56"/>
          <p:cNvSpPr txBox="1"/>
          <p:nvPr/>
        </p:nvSpPr>
        <p:spPr>
          <a:xfrm>
            <a:off x="485775" y="4564717"/>
            <a:ext cx="543304" cy="186689"/>
          </a:xfrm>
          <a:prstGeom prst="rect">
            <a:avLst/>
          </a:prstGeom>
          <a:noFill/>
        </p:spPr>
        <p:txBody>
          <a:bodyPr wrap="none" lIns="0" rIns="0" tIns="0" bIns="0">
            <a:spAutoFit/>
          </a:bodyPr>
          <a:lstStyle/>
          <a:p>
            <a:r>
              <a:rPr sz="1100" b="0">
                <a:solidFill>
                  <a:srgbClr val="2E2E2E"/>
                </a:solidFill>
                <a:latin typeface="Calibri"/>
              </a:rPr>
              <a:t>CAGR of</a:t>
            </a:r>
          </a:p>
        </p:txBody>
      </p:sp>
      <p:pic>
        <p:nvPicPr>
          <p:cNvPr id="58" name="Picture 57" descr="lock.png"/>
          <p:cNvPicPr>
            <a:picLocks noChangeAspect="1"/>
          </p:cNvPicPr>
          <p:nvPr/>
        </p:nvPicPr>
        <p:blipFill>
          <a:blip r:embed="rId10"/>
          <a:stretch>
            <a:fillRect/>
          </a:stretch>
        </p:blipFill>
        <p:spPr>
          <a:xfrm>
            <a:off x="977131" y="4554938"/>
            <a:ext cx="128699" cy="187198"/>
          </a:xfrm>
          <a:prstGeom prst="rect">
            <a:avLst/>
          </a:prstGeom>
        </p:spPr>
      </p:pic>
      <p:sp>
        <p:nvSpPr>
          <p:cNvPr id="59" name="TextBox 58"/>
          <p:cNvSpPr txBox="1"/>
          <p:nvPr/>
        </p:nvSpPr>
        <p:spPr>
          <a:xfrm>
            <a:off x="1144627" y="4564717"/>
            <a:ext cx="2135956" cy="186689"/>
          </a:xfrm>
          <a:prstGeom prst="rect">
            <a:avLst/>
          </a:prstGeom>
          <a:noFill/>
        </p:spPr>
        <p:txBody>
          <a:bodyPr wrap="none" lIns="0" rIns="0" tIns="0" bIns="0">
            <a:spAutoFit/>
          </a:bodyPr>
          <a:lstStyle/>
          <a:p>
            <a:r>
              <a:rPr sz="1100" b="0">
                <a:solidFill>
                  <a:srgbClr val="2E2E2E"/>
                </a:solidFill>
                <a:latin typeface="Calibri"/>
              </a:rPr>
              <a:t>over the forecast period. In terms of</a:t>
            </a:r>
          </a:p>
        </p:txBody>
      </p:sp>
      <p:sp>
        <p:nvSpPr>
          <p:cNvPr id="60" name="TextBox 59"/>
          <p:cNvSpPr txBox="1"/>
          <p:nvPr/>
        </p:nvSpPr>
        <p:spPr>
          <a:xfrm>
            <a:off x="485775" y="4732357"/>
            <a:ext cx="2914650" cy="186689"/>
          </a:xfrm>
          <a:prstGeom prst="rect">
            <a:avLst/>
          </a:prstGeom>
          <a:noFill/>
        </p:spPr>
        <p:txBody>
          <a:bodyPr wrap="none" lIns="0" rIns="0" tIns="0" bIns="0">
            <a:spAutoFit/>
          </a:bodyPr>
          <a:lstStyle/>
          <a:p>
            <a:r>
              <a:rPr sz="1100" b="0">
                <a:solidFill>
                  <a:srgbClr val="2E2E2E"/>
                </a:solidFill>
                <a:latin typeface="Calibri"/>
              </a:rPr>
              <a:t>value share by sales channel, the direct segment is</a:t>
            </a:r>
          </a:p>
        </p:txBody>
      </p:sp>
      <p:sp>
        <p:nvSpPr>
          <p:cNvPr id="61" name="TextBox 60"/>
          <p:cNvSpPr txBox="1"/>
          <p:nvPr/>
        </p:nvSpPr>
        <p:spPr>
          <a:xfrm>
            <a:off x="485775" y="4899997"/>
            <a:ext cx="2897212" cy="186689"/>
          </a:xfrm>
          <a:prstGeom prst="rect">
            <a:avLst/>
          </a:prstGeom>
          <a:noFill/>
        </p:spPr>
        <p:txBody>
          <a:bodyPr wrap="none" lIns="0" rIns="0" tIns="0" bIns="0">
            <a:spAutoFit/>
          </a:bodyPr>
          <a:lstStyle/>
          <a:p>
            <a:r>
              <a:rPr sz="1100" b="0">
                <a:solidFill>
                  <a:srgbClr val="2E2E2E"/>
                </a:solidFill>
                <a:latin typeface="Calibri"/>
              </a:rPr>
              <a:t>expected to dominate the market, maintaining its</a:t>
            </a:r>
          </a:p>
        </p:txBody>
      </p:sp>
      <p:sp>
        <p:nvSpPr>
          <p:cNvPr id="62" name="TextBox 61"/>
          <p:cNvSpPr txBox="1"/>
          <p:nvPr/>
        </p:nvSpPr>
        <p:spPr>
          <a:xfrm>
            <a:off x="485775" y="5067637"/>
            <a:ext cx="1487115" cy="186689"/>
          </a:xfrm>
          <a:prstGeom prst="rect">
            <a:avLst/>
          </a:prstGeom>
          <a:noFill/>
        </p:spPr>
        <p:txBody>
          <a:bodyPr wrap="none" lIns="0" rIns="0" tIns="0" bIns="0">
            <a:spAutoFit/>
          </a:bodyPr>
          <a:lstStyle/>
          <a:p>
            <a:r>
              <a:rPr sz="1100" b="0">
                <a:solidFill>
                  <a:srgbClr val="2E2E2E"/>
                </a:solidFill>
                <a:latin typeface="Calibri"/>
              </a:rPr>
              <a:t>share and accounting for</a:t>
            </a:r>
          </a:p>
        </p:txBody>
      </p:sp>
      <p:pic>
        <p:nvPicPr>
          <p:cNvPr id="63" name="Picture 62" descr="lock.png"/>
          <p:cNvPicPr>
            <a:picLocks noChangeAspect="1"/>
          </p:cNvPicPr>
          <p:nvPr/>
        </p:nvPicPr>
        <p:blipFill>
          <a:blip r:embed="rId10"/>
          <a:stretch>
            <a:fillRect/>
          </a:stretch>
        </p:blipFill>
        <p:spPr>
          <a:xfrm>
            <a:off x="1920942" y="5057858"/>
            <a:ext cx="128699" cy="187198"/>
          </a:xfrm>
          <a:prstGeom prst="rect">
            <a:avLst/>
          </a:prstGeom>
        </p:spPr>
      </p:pic>
      <p:sp>
        <p:nvSpPr>
          <p:cNvPr id="64" name="TextBox 63"/>
          <p:cNvSpPr txBox="1"/>
          <p:nvPr/>
        </p:nvSpPr>
        <p:spPr>
          <a:xfrm>
            <a:off x="2088437" y="5067637"/>
            <a:ext cx="908397" cy="186689"/>
          </a:xfrm>
          <a:prstGeom prst="rect">
            <a:avLst/>
          </a:prstGeom>
          <a:noFill/>
        </p:spPr>
        <p:txBody>
          <a:bodyPr wrap="none" lIns="0" rIns="0" tIns="0" bIns="0">
            <a:spAutoFit/>
          </a:bodyPr>
          <a:lstStyle/>
          <a:p>
            <a:r>
              <a:rPr sz="1100" b="0">
                <a:solidFill>
                  <a:srgbClr val="2E2E2E"/>
                </a:solidFill>
                <a:latin typeface="Calibri"/>
              </a:rPr>
              <a:t>share by 2036.</a:t>
            </a:r>
          </a:p>
        </p:txBody>
      </p:sp>
      <p:sp>
        <p:nvSpPr>
          <p:cNvPr id="65" name="TextBox 64"/>
          <p:cNvSpPr txBox="1"/>
          <p:nvPr/>
        </p:nvSpPr>
        <p:spPr>
          <a:xfrm>
            <a:off x="485775" y="5285569"/>
            <a:ext cx="2260376" cy="186689"/>
          </a:xfrm>
          <a:prstGeom prst="rect">
            <a:avLst/>
          </a:prstGeom>
          <a:noFill/>
        </p:spPr>
        <p:txBody>
          <a:bodyPr wrap="none" lIns="0" rIns="0" tIns="0" bIns="0">
            <a:spAutoFit/>
          </a:bodyPr>
          <a:lstStyle/>
          <a:p>
            <a:r>
              <a:rPr sz="1100" b="0">
                <a:solidFill>
                  <a:srgbClr val="2E2E2E"/>
                </a:solidFill>
                <a:latin typeface="Calibri"/>
              </a:rPr>
              <a:t>Direct segment is projected to register</a:t>
            </a:r>
          </a:p>
        </p:txBody>
      </p:sp>
      <p:pic>
        <p:nvPicPr>
          <p:cNvPr id="66" name="Picture 65" descr="lock.png"/>
          <p:cNvPicPr>
            <a:picLocks noChangeAspect="1"/>
          </p:cNvPicPr>
          <p:nvPr/>
        </p:nvPicPr>
        <p:blipFill>
          <a:blip r:embed="rId10"/>
          <a:stretch>
            <a:fillRect/>
          </a:stretch>
        </p:blipFill>
        <p:spPr>
          <a:xfrm>
            <a:off x="2694203" y="5275790"/>
            <a:ext cx="128699" cy="187198"/>
          </a:xfrm>
          <a:prstGeom prst="rect">
            <a:avLst/>
          </a:prstGeom>
        </p:spPr>
      </p:pic>
      <p:sp>
        <p:nvSpPr>
          <p:cNvPr id="67" name="TextBox 66"/>
          <p:cNvSpPr txBox="1"/>
          <p:nvPr/>
        </p:nvSpPr>
        <p:spPr>
          <a:xfrm>
            <a:off x="2861699" y="5285569"/>
            <a:ext cx="148778" cy="186689"/>
          </a:xfrm>
          <a:prstGeom prst="rect">
            <a:avLst/>
          </a:prstGeom>
          <a:noFill/>
        </p:spPr>
        <p:txBody>
          <a:bodyPr wrap="none" lIns="0" rIns="0" tIns="0" bIns="0">
            <a:spAutoFit/>
          </a:bodyPr>
          <a:lstStyle/>
          <a:p>
            <a:r>
              <a:rPr sz="1100" b="0">
                <a:solidFill>
                  <a:srgbClr val="2E2E2E"/>
                </a:solidFill>
                <a:latin typeface="Calibri"/>
              </a:rPr>
              <a:t>X</a:t>
            </a:r>
          </a:p>
        </p:txBody>
      </p:sp>
      <p:sp>
        <p:nvSpPr>
          <p:cNvPr id="68" name="TextBox 67"/>
          <p:cNvSpPr txBox="1"/>
          <p:nvPr/>
        </p:nvSpPr>
        <p:spPr>
          <a:xfrm>
            <a:off x="485775" y="5453209"/>
            <a:ext cx="2914650" cy="186689"/>
          </a:xfrm>
          <a:prstGeom prst="rect">
            <a:avLst/>
          </a:prstGeom>
          <a:noFill/>
        </p:spPr>
        <p:txBody>
          <a:bodyPr wrap="none" lIns="0" rIns="0" tIns="0" bIns="0">
            <a:spAutoFit/>
          </a:bodyPr>
          <a:lstStyle/>
          <a:p>
            <a:r>
              <a:rPr sz="1100" b="0">
                <a:solidFill>
                  <a:srgbClr val="2E2E2E"/>
                </a:solidFill>
                <a:latin typeface="Calibri"/>
              </a:rPr>
              <a:t>higher value than distributors &amp; traders segment in</a:t>
            </a:r>
          </a:p>
        </p:txBody>
      </p:sp>
      <p:sp>
        <p:nvSpPr>
          <p:cNvPr id="69" name="TextBox 68"/>
          <p:cNvSpPr txBox="1"/>
          <p:nvPr/>
        </p:nvSpPr>
        <p:spPr>
          <a:xfrm>
            <a:off x="485775" y="5620849"/>
            <a:ext cx="395163" cy="186689"/>
          </a:xfrm>
          <a:prstGeom prst="rect">
            <a:avLst/>
          </a:prstGeom>
          <a:noFill/>
        </p:spPr>
        <p:txBody>
          <a:bodyPr wrap="none" lIns="0" rIns="0" tIns="0" bIns="0">
            <a:spAutoFit/>
          </a:bodyPr>
          <a:lstStyle/>
          <a:p>
            <a:r>
              <a:rPr sz="1100" b="0">
                <a:solidFill>
                  <a:srgbClr val="2E2E2E"/>
                </a:solidFill>
                <a:latin typeface="Calibri"/>
              </a:rPr>
              <a:t>2036.</a:t>
            </a:r>
          </a:p>
        </p:txBody>
      </p:sp>
      <p:sp>
        <p:nvSpPr>
          <p:cNvPr id="70" name="TextBox 69"/>
          <p:cNvSpPr txBox="1"/>
          <p:nvPr/>
        </p:nvSpPr>
        <p:spPr>
          <a:xfrm>
            <a:off x="3838575" y="4229437"/>
            <a:ext cx="572244" cy="186689"/>
          </a:xfrm>
          <a:prstGeom prst="rect">
            <a:avLst/>
          </a:prstGeom>
          <a:noFill/>
        </p:spPr>
        <p:txBody>
          <a:bodyPr wrap="none" lIns="0" rIns="0" tIns="0" bIns="0">
            <a:spAutoFit/>
          </a:bodyPr>
          <a:lstStyle/>
          <a:p>
            <a:r>
              <a:rPr sz="1100" b="0">
                <a:solidFill>
                  <a:srgbClr val="2E2E2E"/>
                </a:solidFill>
                <a:latin typeface="Calibri"/>
              </a:rPr>
              <a:t>● Direct:</a:t>
            </a:r>
          </a:p>
        </p:txBody>
      </p:sp>
      <p:pic>
        <p:nvPicPr>
          <p:cNvPr id="71" name="Picture 70" descr="lock.png"/>
          <p:cNvPicPr>
            <a:picLocks noChangeAspect="1"/>
          </p:cNvPicPr>
          <p:nvPr/>
        </p:nvPicPr>
        <p:blipFill>
          <a:blip r:embed="rId10"/>
          <a:stretch>
            <a:fillRect/>
          </a:stretch>
        </p:blipFill>
        <p:spPr>
          <a:xfrm>
            <a:off x="4358870" y="4219658"/>
            <a:ext cx="128699" cy="187198"/>
          </a:xfrm>
          <a:prstGeom prst="rect">
            <a:avLst/>
          </a:prstGeom>
        </p:spPr>
      </p:pic>
      <p:sp>
        <p:nvSpPr>
          <p:cNvPr id="72" name="TextBox 71"/>
          <p:cNvSpPr txBox="1"/>
          <p:nvPr/>
        </p:nvSpPr>
        <p:spPr>
          <a:xfrm>
            <a:off x="4526366" y="422943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73" name="Picture 72" descr="lock.png"/>
          <p:cNvPicPr>
            <a:picLocks noChangeAspect="1"/>
          </p:cNvPicPr>
          <p:nvPr/>
        </p:nvPicPr>
        <p:blipFill>
          <a:blip r:embed="rId10"/>
          <a:stretch>
            <a:fillRect/>
          </a:stretch>
        </p:blipFill>
        <p:spPr>
          <a:xfrm>
            <a:off x="5385816" y="4219658"/>
            <a:ext cx="128699" cy="187198"/>
          </a:xfrm>
          <a:prstGeom prst="rect">
            <a:avLst/>
          </a:prstGeom>
        </p:spPr>
      </p:pic>
      <p:sp>
        <p:nvSpPr>
          <p:cNvPr id="74" name="TextBox 73"/>
          <p:cNvSpPr txBox="1"/>
          <p:nvPr/>
        </p:nvSpPr>
        <p:spPr>
          <a:xfrm>
            <a:off x="5553312" y="4229437"/>
            <a:ext cx="1503469" cy="186689"/>
          </a:xfrm>
          <a:prstGeom prst="rect">
            <a:avLst/>
          </a:prstGeom>
          <a:noFill/>
        </p:spPr>
        <p:txBody>
          <a:bodyPr wrap="none" lIns="0" rIns="0" tIns="0" bIns="0">
            <a:spAutoFit/>
          </a:bodyPr>
          <a:lstStyle/>
          <a:p>
            <a:r>
              <a:rPr sz="1100" b="0">
                <a:solidFill>
                  <a:srgbClr val="2E2E2E"/>
                </a:solidFill>
                <a:latin typeface="Calibri"/>
              </a:rPr>
              <a:t>CAGR leads the segment.</a:t>
            </a:r>
          </a:p>
        </p:txBody>
      </p:sp>
      <p:sp>
        <p:nvSpPr>
          <p:cNvPr id="75" name="TextBox 74"/>
          <p:cNvSpPr txBox="1"/>
          <p:nvPr/>
        </p:nvSpPr>
        <p:spPr>
          <a:xfrm>
            <a:off x="3838575" y="4447369"/>
            <a:ext cx="1489843" cy="186689"/>
          </a:xfrm>
          <a:prstGeom prst="rect">
            <a:avLst/>
          </a:prstGeom>
          <a:noFill/>
        </p:spPr>
        <p:txBody>
          <a:bodyPr wrap="none" lIns="0" rIns="0" tIns="0" bIns="0">
            <a:spAutoFit/>
          </a:bodyPr>
          <a:lstStyle/>
          <a:p>
            <a:r>
              <a:rPr sz="1100" b="0">
                <a:solidFill>
                  <a:srgbClr val="2E2E2E"/>
                </a:solidFill>
                <a:latin typeface="Calibri"/>
              </a:rPr>
              <a:t>● Distributors &amp; Traders:</a:t>
            </a:r>
          </a:p>
        </p:txBody>
      </p:sp>
      <p:pic>
        <p:nvPicPr>
          <p:cNvPr id="76" name="Picture 75" descr="lock.png"/>
          <p:cNvPicPr>
            <a:picLocks noChangeAspect="1"/>
          </p:cNvPicPr>
          <p:nvPr/>
        </p:nvPicPr>
        <p:blipFill>
          <a:blip r:embed="rId10"/>
          <a:stretch>
            <a:fillRect/>
          </a:stretch>
        </p:blipFill>
        <p:spPr>
          <a:xfrm>
            <a:off x="5276470" y="4437590"/>
            <a:ext cx="128699" cy="187198"/>
          </a:xfrm>
          <a:prstGeom prst="rect">
            <a:avLst/>
          </a:prstGeom>
        </p:spPr>
      </p:pic>
      <p:sp>
        <p:nvSpPr>
          <p:cNvPr id="77" name="TextBox 76"/>
          <p:cNvSpPr txBox="1"/>
          <p:nvPr/>
        </p:nvSpPr>
        <p:spPr>
          <a:xfrm>
            <a:off x="5443966" y="4447369"/>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78" name="Picture 77" descr="lock.png"/>
          <p:cNvPicPr>
            <a:picLocks noChangeAspect="1"/>
          </p:cNvPicPr>
          <p:nvPr/>
        </p:nvPicPr>
        <p:blipFill>
          <a:blip r:embed="rId10"/>
          <a:stretch>
            <a:fillRect/>
          </a:stretch>
        </p:blipFill>
        <p:spPr>
          <a:xfrm>
            <a:off x="6303416" y="4437590"/>
            <a:ext cx="128699" cy="187198"/>
          </a:xfrm>
          <a:prstGeom prst="rect">
            <a:avLst/>
          </a:prstGeom>
        </p:spPr>
      </p:pic>
      <p:sp>
        <p:nvSpPr>
          <p:cNvPr id="79" name="TextBox 78"/>
          <p:cNvSpPr txBox="1"/>
          <p:nvPr/>
        </p:nvSpPr>
        <p:spPr>
          <a:xfrm>
            <a:off x="6470912" y="4447369"/>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80" name="TextBox 79"/>
          <p:cNvSpPr txBox="1"/>
          <p:nvPr/>
        </p:nvSpPr>
        <p:spPr>
          <a:xfrm>
            <a:off x="8524875" y="5842641"/>
            <a:ext cx="3162300" cy="194310"/>
          </a:xfrm>
          <a:prstGeom prst="rect">
            <a:avLst/>
          </a:prstGeom>
          <a:noFill/>
        </p:spPr>
        <p:txBody>
          <a:bodyPr wrap="none" lIns="0" rIns="0" tIns="0" bIns="0">
            <a:spAutoFit/>
          </a:bodyPr>
          <a:lstStyle/>
          <a:p>
            <a:r>
              <a:rPr sz="1150" b="1">
                <a:solidFill>
                  <a:srgbClr val="0B2E4A"/>
                </a:solidFill>
                <a:latin typeface="Calibri"/>
              </a:rPr>
              <a:t>The Sales Channel segment is projected to grow at a</a:t>
            </a:r>
          </a:p>
        </p:txBody>
      </p:sp>
      <p:sp>
        <p:nvSpPr>
          <p:cNvPr id="81" name="TextBox 80"/>
          <p:cNvSpPr txBox="1"/>
          <p:nvPr/>
        </p:nvSpPr>
        <p:spPr>
          <a:xfrm>
            <a:off x="8524875" y="6017901"/>
            <a:ext cx="574797" cy="194310"/>
          </a:xfrm>
          <a:prstGeom prst="rect">
            <a:avLst/>
          </a:prstGeom>
          <a:noFill/>
        </p:spPr>
        <p:txBody>
          <a:bodyPr wrap="none" lIns="0" rIns="0" tIns="0" bIns="0">
            <a:spAutoFit/>
          </a:bodyPr>
          <a:lstStyle/>
          <a:p>
            <a:r>
              <a:rPr sz="1150" b="1">
                <a:solidFill>
                  <a:srgbClr val="0B2E4A"/>
                </a:solidFill>
                <a:latin typeface="Calibri"/>
              </a:rPr>
              <a:t>CAGR of</a:t>
            </a:r>
          </a:p>
        </p:txBody>
      </p:sp>
      <p:pic>
        <p:nvPicPr>
          <p:cNvPr id="82" name="Picture 81" descr="lock.png"/>
          <p:cNvPicPr>
            <a:picLocks noChangeAspect="1"/>
          </p:cNvPicPr>
          <p:nvPr/>
        </p:nvPicPr>
        <p:blipFill>
          <a:blip r:embed="rId10"/>
          <a:stretch>
            <a:fillRect/>
          </a:stretch>
        </p:blipFill>
        <p:spPr>
          <a:xfrm>
            <a:off x="9048826" y="6007677"/>
            <a:ext cx="134549" cy="195707"/>
          </a:xfrm>
          <a:prstGeom prst="rect">
            <a:avLst/>
          </a:prstGeom>
        </p:spPr>
      </p:pic>
      <p:sp>
        <p:nvSpPr>
          <p:cNvPr id="83" name="TextBox 82"/>
          <p:cNvSpPr txBox="1"/>
          <p:nvPr/>
        </p:nvSpPr>
        <p:spPr>
          <a:xfrm>
            <a:off x="9223935" y="6017901"/>
            <a:ext cx="1232619" cy="194310"/>
          </a:xfrm>
          <a:prstGeom prst="rect">
            <a:avLst/>
          </a:prstGeom>
          <a:noFill/>
        </p:spPr>
        <p:txBody>
          <a:bodyPr wrap="none" lIns="0" rIns="0" tIns="0" bIns="0">
            <a:spAutoFit/>
          </a:bodyPr>
          <a:lstStyle/>
          <a:p>
            <a:r>
              <a:rPr sz="1150" b="1">
                <a:solidFill>
                  <a:srgbClr val="0B2E4A"/>
                </a:solidFill>
                <a:latin typeface="Calibri"/>
              </a:rPr>
              <a:t>from 2026 to 2036.</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Structure &amp; Attractiveness, By Sales Channel (Value)</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Sales Channel mix within each region and the attractiveness of each sub-segment on growth and size</a:t>
            </a:r>
          </a:p>
        </p:txBody>
      </p:sp>
      <p:sp>
        <p:nvSpPr>
          <p:cNvPr id="7" name="Rounded Rectangle 6"/>
          <p:cNvSpPr/>
          <p:nvPr/>
        </p:nvSpPr>
        <p:spPr>
          <a:xfrm>
            <a:off x="142875" y="981075"/>
            <a:ext cx="6343650" cy="4324350"/>
          </a:xfrm>
          <a:prstGeom prst="roundRect">
            <a:avLst>
              <a:gd name="adj" fmla="val 1762"/>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6153150"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Sales Channel mix within each region (share of 2036 value) · row label = region size (US$ Mn), largest first</a:t>
            </a:r>
          </a:p>
        </p:txBody>
      </p:sp>
      <p:graphicFrame>
        <p:nvGraphicFramePr>
          <p:cNvPr id="9" name="Chart 8"/>
          <p:cNvGraphicFramePr>
            <a:graphicFrameLocks noGrp="1"/>
          </p:cNvGraphicFramePr>
          <p:nvPr/>
        </p:nvGraphicFramePr>
        <p:xfrm>
          <a:off x="238125" y="1438275"/>
          <a:ext cx="6153150" cy="3810000"/>
        </p:xfrm>
        <a:graphic>
          <a:graphicData uri="http://schemas.openxmlformats.org/drawingml/2006/chart">
            <c:chart xmlns:c="http://schemas.openxmlformats.org/drawingml/2006/chart" r:id="rId3"/>
          </a:graphicData>
        </a:graphic>
      </p:graphicFrame>
      <p:sp>
        <p:nvSpPr>
          <p:cNvPr id="10" name="Rounded Rectangle 9"/>
          <p:cNvSpPr/>
          <p:nvPr/>
        </p:nvSpPr>
        <p:spPr>
          <a:xfrm>
            <a:off x="6638925" y="981075"/>
            <a:ext cx="5400675" cy="4324350"/>
          </a:xfrm>
          <a:prstGeom prst="roundRect">
            <a:avLst>
              <a:gd name="adj" fmla="val 1762"/>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34175" y="1038225"/>
            <a:ext cx="521017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Attractiveness, By Sales Channel · Bubble size represents 2036 value</a:t>
            </a:r>
          </a:p>
        </p:txBody>
      </p:sp>
      <p:graphicFrame>
        <p:nvGraphicFramePr>
          <p:cNvPr id="12" name="Chart 11"/>
          <p:cNvGraphicFramePr>
            <a:graphicFrameLocks noGrp="1"/>
          </p:cNvGraphicFramePr>
          <p:nvPr/>
        </p:nvGraphicFramePr>
        <p:xfrm>
          <a:off x="6734175" y="1438275"/>
          <a:ext cx="5210175" cy="3810000"/>
        </p:xfrm>
        <a:graphic>
          <a:graphicData uri="http://schemas.openxmlformats.org/drawingml/2006/chart">
            <c:chart xmlns:c="http://schemas.openxmlformats.org/drawingml/2006/chart" r:id="rId4"/>
          </a:graphicData>
        </a:graphic>
      </p:graphicFrame>
      <p:sp>
        <p:nvSpPr>
          <p:cNvPr id="13" name="Rounded Rectangle 12"/>
          <p:cNvSpPr/>
          <p:nvPr/>
        </p:nvSpPr>
        <p:spPr>
          <a:xfrm>
            <a:off x="142875" y="5438775"/>
            <a:ext cx="11906250" cy="1181100"/>
          </a:xfrm>
          <a:prstGeom prst="roundRect">
            <a:avLst>
              <a:gd name="adj" fmla="val 6451"/>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14" name="Rectangle 13"/>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6" name="Picture 15" descr="lock.png"/>
          <p:cNvPicPr>
            <a:picLocks noChangeAspect="1"/>
          </p:cNvPicPr>
          <p:nvPr/>
        </p:nvPicPr>
        <p:blipFill>
          <a:blip r:embed="rId6"/>
          <a:stretch>
            <a:fillRect/>
          </a:stretch>
        </p:blipFill>
        <p:spPr>
          <a:xfrm>
            <a:off x="3484684" y="3024134"/>
            <a:ext cx="320946" cy="466830"/>
          </a:xfrm>
          <a:prstGeom prst="rect">
            <a:avLst/>
          </a:prstGeom>
        </p:spPr>
      </p:pic>
      <p:sp>
        <p:nvSpPr>
          <p:cNvPr id="17" name="TextBox 16"/>
          <p:cNvSpPr txBox="1"/>
          <p:nvPr/>
        </p:nvSpPr>
        <p:spPr>
          <a:xfrm>
            <a:off x="257175" y="5777865"/>
            <a:ext cx="11521504" cy="186689"/>
          </a:xfrm>
          <a:prstGeom prst="rect">
            <a:avLst/>
          </a:prstGeom>
          <a:noFill/>
        </p:spPr>
        <p:txBody>
          <a:bodyPr wrap="none" lIns="0" rIns="0" tIns="0" bIns="0">
            <a:spAutoFit/>
          </a:bodyPr>
          <a:lstStyle/>
          <a:p>
            <a:r>
              <a:rPr sz="1100" b="0">
                <a:solidFill>
                  <a:srgbClr val="2E2E2E"/>
                </a:solidFill>
                <a:latin typeface="Calibri"/>
              </a:rPr>
              <a:t>Direct followed by distributors &amp; traders are expected to be the two most attractive sales channel segments in the global egg protein membrane market in terms of value over the forecast period. Direct</a:t>
            </a:r>
          </a:p>
        </p:txBody>
      </p:sp>
      <p:sp>
        <p:nvSpPr>
          <p:cNvPr id="18" name="TextBox 17"/>
          <p:cNvSpPr txBox="1"/>
          <p:nvPr/>
        </p:nvSpPr>
        <p:spPr>
          <a:xfrm>
            <a:off x="257175" y="5945505"/>
            <a:ext cx="2905926" cy="186689"/>
          </a:xfrm>
          <a:prstGeom prst="rect">
            <a:avLst/>
          </a:prstGeom>
          <a:noFill/>
        </p:spPr>
        <p:txBody>
          <a:bodyPr wrap="none" lIns="0" rIns="0" tIns="0" bIns="0">
            <a:spAutoFit/>
          </a:bodyPr>
          <a:lstStyle/>
          <a:p>
            <a:r>
              <a:rPr sz="1100" b="0">
                <a:solidFill>
                  <a:srgbClr val="2E2E2E"/>
                </a:solidFill>
                <a:latin typeface="Calibri"/>
              </a:rPr>
              <a:t>and distributors &amp; traders exhibit a CAGR index of</a:t>
            </a:r>
          </a:p>
        </p:txBody>
      </p:sp>
      <p:pic>
        <p:nvPicPr>
          <p:cNvPr id="19" name="Picture 18" descr="lock.png"/>
          <p:cNvPicPr>
            <a:picLocks noChangeAspect="1"/>
          </p:cNvPicPr>
          <p:nvPr/>
        </p:nvPicPr>
        <p:blipFill>
          <a:blip r:embed="rId6"/>
          <a:stretch>
            <a:fillRect/>
          </a:stretch>
        </p:blipFill>
        <p:spPr>
          <a:xfrm>
            <a:off x="3111153" y="5935726"/>
            <a:ext cx="128699" cy="187198"/>
          </a:xfrm>
          <a:prstGeom prst="rect">
            <a:avLst/>
          </a:prstGeom>
        </p:spPr>
      </p:pic>
      <p:sp>
        <p:nvSpPr>
          <p:cNvPr id="20" name="TextBox 19"/>
          <p:cNvSpPr txBox="1"/>
          <p:nvPr/>
        </p:nvSpPr>
        <p:spPr>
          <a:xfrm>
            <a:off x="3278648" y="594550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1" name="Picture 20" descr="lock.png"/>
          <p:cNvPicPr>
            <a:picLocks noChangeAspect="1"/>
          </p:cNvPicPr>
          <p:nvPr/>
        </p:nvPicPr>
        <p:blipFill>
          <a:blip r:embed="rId6"/>
          <a:stretch>
            <a:fillRect/>
          </a:stretch>
        </p:blipFill>
        <p:spPr>
          <a:xfrm>
            <a:off x="3516543" y="5935726"/>
            <a:ext cx="128699" cy="187198"/>
          </a:xfrm>
          <a:prstGeom prst="rect">
            <a:avLst/>
          </a:prstGeom>
        </p:spPr>
      </p:pic>
      <p:sp>
        <p:nvSpPr>
          <p:cNvPr id="22" name="TextBox 21"/>
          <p:cNvSpPr txBox="1"/>
          <p:nvPr/>
        </p:nvSpPr>
        <p:spPr>
          <a:xfrm>
            <a:off x="3684039" y="5945505"/>
            <a:ext cx="1660921" cy="186689"/>
          </a:xfrm>
          <a:prstGeom prst="rect">
            <a:avLst/>
          </a:prstGeom>
          <a:noFill/>
        </p:spPr>
        <p:txBody>
          <a:bodyPr wrap="none" lIns="0" rIns="0" tIns="0" bIns="0">
            <a:spAutoFit/>
          </a:bodyPr>
          <a:lstStyle/>
          <a:p>
            <a:r>
              <a:rPr sz="1100" b="0">
                <a:solidFill>
                  <a:srgbClr val="2E2E2E"/>
                </a:solidFill>
                <a:latin typeface="Calibri"/>
              </a:rPr>
              <a:t>and a market share index of</a:t>
            </a:r>
          </a:p>
        </p:txBody>
      </p:sp>
      <p:pic>
        <p:nvPicPr>
          <p:cNvPr id="23" name="Picture 22" descr="lock.png"/>
          <p:cNvPicPr>
            <a:picLocks noChangeAspect="1"/>
          </p:cNvPicPr>
          <p:nvPr/>
        </p:nvPicPr>
        <p:blipFill>
          <a:blip r:embed="rId6"/>
          <a:stretch>
            <a:fillRect/>
          </a:stretch>
        </p:blipFill>
        <p:spPr>
          <a:xfrm>
            <a:off x="5293012" y="5935726"/>
            <a:ext cx="128699" cy="187198"/>
          </a:xfrm>
          <a:prstGeom prst="rect">
            <a:avLst/>
          </a:prstGeom>
        </p:spPr>
      </p:pic>
      <p:sp>
        <p:nvSpPr>
          <p:cNvPr id="24" name="TextBox 23"/>
          <p:cNvSpPr txBox="1"/>
          <p:nvPr/>
        </p:nvSpPr>
        <p:spPr>
          <a:xfrm>
            <a:off x="5460508" y="594550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5" name="Picture 24" descr="lock.png"/>
          <p:cNvPicPr>
            <a:picLocks noChangeAspect="1"/>
          </p:cNvPicPr>
          <p:nvPr/>
        </p:nvPicPr>
        <p:blipFill>
          <a:blip r:embed="rId6"/>
          <a:stretch>
            <a:fillRect/>
          </a:stretch>
        </p:blipFill>
        <p:spPr>
          <a:xfrm>
            <a:off x="5698402" y="5935726"/>
            <a:ext cx="128699" cy="187198"/>
          </a:xfrm>
          <a:prstGeom prst="rect">
            <a:avLst/>
          </a:prstGeom>
        </p:spPr>
      </p:pic>
      <p:sp>
        <p:nvSpPr>
          <p:cNvPr id="26" name="TextBox 25"/>
          <p:cNvSpPr txBox="1"/>
          <p:nvPr/>
        </p:nvSpPr>
        <p:spPr>
          <a:xfrm>
            <a:off x="5865898" y="5945505"/>
            <a:ext cx="2606352" cy="186689"/>
          </a:xfrm>
          <a:prstGeom prst="rect">
            <a:avLst/>
          </a:prstGeom>
          <a:noFill/>
        </p:spPr>
        <p:txBody>
          <a:bodyPr wrap="none" lIns="0" rIns="0" tIns="0" bIns="0">
            <a:spAutoFit/>
          </a:bodyPr>
          <a:lstStyle/>
          <a:p>
            <a:r>
              <a:rPr sz="1100" b="0">
                <a:solidFill>
                  <a:srgbClr val="2E2E2E"/>
                </a:solidFill>
                <a:latin typeface="Calibri"/>
              </a:rPr>
              <a:t>respectively, against the segment average of</a:t>
            </a:r>
          </a:p>
        </p:txBody>
      </p:sp>
      <p:pic>
        <p:nvPicPr>
          <p:cNvPr id="27" name="Picture 26" descr="lock.png"/>
          <p:cNvPicPr>
            <a:picLocks noChangeAspect="1"/>
          </p:cNvPicPr>
          <p:nvPr/>
        </p:nvPicPr>
        <p:blipFill>
          <a:blip r:embed="rId6"/>
          <a:stretch>
            <a:fillRect/>
          </a:stretch>
        </p:blipFill>
        <p:spPr>
          <a:xfrm>
            <a:off x="8420302" y="5935726"/>
            <a:ext cx="128699" cy="187198"/>
          </a:xfrm>
          <a:prstGeom prst="rect">
            <a:avLst/>
          </a:prstGeom>
        </p:spPr>
      </p:pic>
      <p:sp>
        <p:nvSpPr>
          <p:cNvPr id="28" name="TextBox 27"/>
          <p:cNvSpPr txBox="1"/>
          <p:nvPr/>
        </p:nvSpPr>
        <p:spPr>
          <a:xfrm>
            <a:off x="8587798" y="5945505"/>
            <a:ext cx="2889555" cy="186689"/>
          </a:xfrm>
          <a:prstGeom prst="rect">
            <a:avLst/>
          </a:prstGeom>
          <a:noFill/>
        </p:spPr>
        <p:txBody>
          <a:bodyPr wrap="none" lIns="0" rIns="0" tIns="0" bIns="0">
            <a:spAutoFit/>
          </a:bodyPr>
          <a:lstStyle/>
          <a:p>
            <a:r>
              <a:rPr sz="1100" b="0">
                <a:solidFill>
                  <a:srgbClr val="2E2E2E"/>
                </a:solidFill>
                <a:latin typeface="Calibri"/>
              </a:rPr>
              <a:t>. Bubbles right of the CAGR-Index line grow faster</a:t>
            </a:r>
          </a:p>
        </p:txBody>
      </p:sp>
      <p:sp>
        <p:nvSpPr>
          <p:cNvPr id="29" name="TextBox 28"/>
          <p:cNvSpPr txBox="1"/>
          <p:nvPr/>
        </p:nvSpPr>
        <p:spPr>
          <a:xfrm>
            <a:off x="257175" y="6113145"/>
            <a:ext cx="1598711" cy="186689"/>
          </a:xfrm>
          <a:prstGeom prst="rect">
            <a:avLst/>
          </a:prstGeom>
          <a:noFill/>
        </p:spPr>
        <p:txBody>
          <a:bodyPr wrap="none" lIns="0" rIns="0" tIns="0" bIns="0">
            <a:spAutoFit/>
          </a:bodyPr>
          <a:lstStyle/>
          <a:p>
            <a:r>
              <a:rPr sz="1100" b="0">
                <a:solidFill>
                  <a:srgbClr val="2E2E2E"/>
                </a:solidFill>
                <a:latin typeface="Calibri"/>
              </a:rPr>
              <a:t>than the segment average.</a:t>
            </a:r>
          </a:p>
        </p:txBody>
      </p:sp>
      <p:sp>
        <p:nvSpPr>
          <p:cNvPr id="30" name="lockshield_9"/>
          <p:cNvSpPr/>
          <p:nvPr/>
        </p:nvSpPr>
        <p:spPr>
          <a:xfrm>
            <a:off x="238125" y="1438275"/>
            <a:ext cx="6153150"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lockshield_12"/>
          <p:cNvSpPr/>
          <p:nvPr/>
        </p:nvSpPr>
        <p:spPr>
          <a:xfrm>
            <a:off x="6734175" y="1438275"/>
            <a:ext cx="5210175"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Absolute $ Opportunity Analysis, By Sales Channel</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Sales Channel and the absolute $ opportunity each sub-segment adds, 2026–2036</a:t>
            </a:r>
          </a:p>
        </p:txBody>
      </p:sp>
      <p:sp>
        <p:nvSpPr>
          <p:cNvPr id="7" name="Rounded Rectangle 6"/>
          <p:cNvSpPr/>
          <p:nvPr/>
        </p:nvSpPr>
        <p:spPr>
          <a:xfrm>
            <a:off x="142875" y="981075"/>
            <a:ext cx="5876925" cy="5648325"/>
          </a:xfrm>
          <a:prstGeom prst="roundRect">
            <a:avLst>
              <a:gd name="adj" fmla="val 134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Direct</a:t>
            </a:r>
          </a:p>
        </p:txBody>
      </p:sp>
      <p:graphicFrame>
        <p:nvGraphicFramePr>
          <p:cNvPr id="9" name="Chart 8"/>
          <p:cNvGraphicFramePr>
            <a:graphicFrameLocks noGrp="1"/>
          </p:cNvGraphicFramePr>
          <p:nvPr/>
        </p:nvGraphicFramePr>
        <p:xfrm>
          <a:off x="238125" y="1266825"/>
          <a:ext cx="5686425" cy="5305425"/>
        </p:xfrm>
        <a:graphic>
          <a:graphicData uri="http://schemas.openxmlformats.org/drawingml/2006/chart">
            <c:chart xmlns:c="http://schemas.openxmlformats.org/drawingml/2006/chart" r:id="rId3"/>
          </a:graphicData>
        </a:graphic>
      </p:graphicFrame>
      <p:sp>
        <p:nvSpPr>
          <p:cNvPr id="10" name="Rounded Rectangle 9"/>
          <p:cNvSpPr/>
          <p:nvPr/>
        </p:nvSpPr>
        <p:spPr>
          <a:xfrm>
            <a:off x="6172200" y="981075"/>
            <a:ext cx="5876925" cy="5648325"/>
          </a:xfrm>
          <a:prstGeom prst="roundRect">
            <a:avLst>
              <a:gd name="adj" fmla="val 134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67450"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Distributors &amp; Traders</a:t>
            </a:r>
          </a:p>
        </p:txBody>
      </p:sp>
      <p:graphicFrame>
        <p:nvGraphicFramePr>
          <p:cNvPr id="12" name="Chart 11"/>
          <p:cNvGraphicFramePr>
            <a:graphicFrameLocks noGrp="1"/>
          </p:cNvGraphicFramePr>
          <p:nvPr/>
        </p:nvGraphicFramePr>
        <p:xfrm>
          <a:off x="6267450" y="1438275"/>
          <a:ext cx="5686425" cy="5133975"/>
        </p:xfrm>
        <a:graphic>
          <a:graphicData uri="http://schemas.openxmlformats.org/drawingml/2006/chart">
            <c:chart xmlns:c="http://schemas.openxmlformats.org/drawingml/2006/chart" r:id="rId4"/>
          </a:graphicData>
        </a:graphic>
      </p:graphicFrame>
      <p:sp>
        <p:nvSpPr>
          <p:cNvPr id="13" name="Rectangle 12"/>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5" name="Picture 14" descr="lock.png"/>
          <p:cNvPicPr>
            <a:picLocks noChangeAspect="1"/>
          </p:cNvPicPr>
          <p:nvPr/>
        </p:nvPicPr>
        <p:blipFill>
          <a:blip r:embed="rId6"/>
          <a:stretch>
            <a:fillRect/>
          </a:stretch>
        </p:blipFill>
        <p:spPr>
          <a:xfrm>
            <a:off x="3024059" y="3583939"/>
            <a:ext cx="402511" cy="585471"/>
          </a:xfrm>
          <a:prstGeom prst="rect">
            <a:avLst/>
          </a:prstGeom>
        </p:spPr>
      </p:pic>
      <p:pic>
        <p:nvPicPr>
          <p:cNvPr id="16" name="Picture 15" descr="lock.png"/>
          <p:cNvPicPr>
            <a:picLocks noChangeAspect="1"/>
          </p:cNvPicPr>
          <p:nvPr/>
        </p:nvPicPr>
        <p:blipFill>
          <a:blip r:embed="rId6"/>
          <a:stretch>
            <a:fillRect/>
          </a:stretch>
        </p:blipFill>
        <p:spPr>
          <a:xfrm>
            <a:off x="9056881" y="3674659"/>
            <a:ext cx="395643" cy="575481"/>
          </a:xfrm>
          <a:prstGeom prst="rect">
            <a:avLst/>
          </a:prstGeom>
        </p:spPr>
      </p:pic>
      <p:sp>
        <p:nvSpPr>
          <p:cNvPr id="17" name="lockshield_9"/>
          <p:cNvSpPr/>
          <p:nvPr/>
        </p:nvSpPr>
        <p:spPr>
          <a:xfrm>
            <a:off x="238125" y="1266825"/>
            <a:ext cx="5686425" cy="53054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lockshield_12"/>
          <p:cNvSpPr/>
          <p:nvPr/>
        </p:nvSpPr>
        <p:spPr>
          <a:xfrm>
            <a:off x="6267450" y="1438275"/>
            <a:ext cx="5686425" cy="51339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Value Analysis, By Sales Channel (US$ Mn)</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by Sales Channel, 2021–2036, highlighting the sub-segments driving growth</a:t>
            </a:r>
          </a:p>
        </p:txBody>
      </p:sp>
      <p:sp>
        <p:nvSpPr>
          <p:cNvPr id="7" name="Rounded Rectangle 6"/>
          <p:cNvSpPr/>
          <p:nvPr/>
        </p:nvSpPr>
        <p:spPr>
          <a:xfrm>
            <a:off x="142875" y="981075"/>
            <a:ext cx="11906250" cy="1457325"/>
          </a:xfrm>
          <a:prstGeom prst="roundRect">
            <a:avLst>
              <a:gd name="adj" fmla="val 522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By Sales Channel (US$ Mn)</a:t>
            </a:r>
          </a:p>
        </p:txBody>
      </p:sp>
      <p:graphicFrame>
        <p:nvGraphicFramePr>
          <p:cNvPr id="9" name="Table 8"/>
          <p:cNvGraphicFramePr>
            <a:graphicFrameLocks noGrp="1"/>
          </p:cNvGraphicFramePr>
          <p:nvPr/>
        </p:nvGraphicFramePr>
        <p:xfrm>
          <a:off x="152400" y="1238250"/>
          <a:ext cx="11887206" cy="990600"/>
        </p:xfrm>
        <a:graphic>
          <a:graphicData uri="http://schemas.openxmlformats.org/drawingml/2006/table">
            <a:tbl>
              <a:tblPr>
                <a:tableStyleId>{5C22544A-7EE6-4342-B048-85BDC9FD1C3A}</a:tableStyleId>
              </a:tblPr>
              <a:tblGrid>
                <a:gridCol w="1578950"/>
                <a:gridCol w="606368"/>
                <a:gridCol w="606368"/>
                <a:gridCol w="606368"/>
                <a:gridCol w="606368"/>
                <a:gridCol w="606368"/>
                <a:gridCol w="606368"/>
                <a:gridCol w="606368"/>
                <a:gridCol w="606368"/>
                <a:gridCol w="606368"/>
                <a:gridCol w="606368"/>
                <a:gridCol w="606368"/>
                <a:gridCol w="606368"/>
                <a:gridCol w="606368"/>
                <a:gridCol w="606368"/>
                <a:gridCol w="606368"/>
                <a:gridCol w="606368"/>
                <a:gridCol w="606368"/>
              </a:tblGrid>
              <a:tr h="246126">
                <a:tc>
                  <a:txBody>
                    <a:bodyPr wrap="none"/>
                    <a:lstStyle/>
                    <a:p>
                      <a:pPr algn="l"/>
                      <a:r>
                        <a:rPr sz="1100" b="1">
                          <a:solidFill>
                            <a:srgbClr val="0E2A5C"/>
                          </a:solidFill>
                          <a:latin typeface="Calibri"/>
                        </a:rPr>
                        <a:t>Sales Channel</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2021A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2022A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2023A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2024A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2025A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2026E</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2027F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2028F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2029F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2030F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2031F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2032F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2033F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2034F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2035F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2036F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F-CAGR</a:t>
                      </a:r>
                      <a:endParaRPr sz="1100"/>
                    </a:p>
                  </a:txBody>
                  <a:tcPr marL="47625" marR="38100" marT="19050" marB="19050" anchor="ctr">
                    <a:solidFill>
                      <a:srgbClr val="EBF2F9"/>
                    </a:solidFill>
                  </a:tcPr>
                </a:tc>
              </a:tr>
              <a:tr h="248158">
                <a:tc>
                  <a:txBody>
                    <a:bodyPr wrap="none"/>
                    <a:lstStyle/>
                    <a:p>
                      <a:pPr algn="l"/>
                      <a:r>
                        <a:rPr sz="1100" b="1">
                          <a:solidFill>
                            <a:srgbClr val="2E2E2E"/>
                          </a:solidFill>
                          <a:latin typeface="Calibri"/>
                        </a:rPr>
                        <a:t>Direct</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8158">
                <a:tc>
                  <a:txBody>
                    <a:bodyPr wrap="none"/>
                    <a:lstStyle/>
                    <a:p>
                      <a:pPr algn="l"/>
                      <a:r>
                        <a:rPr sz="1100" b="1">
                          <a:solidFill>
                            <a:srgbClr val="2E2E2E"/>
                          </a:solidFill>
                          <a:latin typeface="Calibri"/>
                        </a:rPr>
                        <a:t>Distributors &amp; Traders</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8158">
                <a:tc>
                  <a:txBody>
                    <a:bodyPr wrap="none"/>
                    <a:lstStyle/>
                    <a:p>
                      <a:pPr algn="l"/>
                      <a:r>
                        <a:rPr sz="1100" b="1">
                          <a:solidFill>
                            <a:srgbClr val="2E2E2E"/>
                          </a:solidFill>
                          <a:latin typeface="Calibri"/>
                        </a:rPr>
                        <a:t>Total</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r>
            </a:tbl>
          </a:graphicData>
        </a:graphic>
      </p:graphicFrame>
      <p:sp>
        <p:nvSpPr>
          <p:cNvPr id="10" name="TextBox 9"/>
          <p:cNvSpPr txBox="1"/>
          <p:nvPr/>
        </p:nvSpPr>
        <p:spPr>
          <a:xfrm>
            <a:off x="219075" y="223837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11" name="Rounded Rectangle 10"/>
          <p:cNvSpPr/>
          <p:nvPr/>
        </p:nvSpPr>
        <p:spPr>
          <a:xfrm>
            <a:off x="142875" y="2571750"/>
            <a:ext cx="11906250" cy="4057650"/>
          </a:xfrm>
          <a:prstGeom prst="roundRect">
            <a:avLst>
              <a:gd name="adj" fmla="val 1877"/>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6225" y="2657475"/>
            <a:ext cx="11639550" cy="209550"/>
          </a:xfrm>
          <a:prstGeom prst="rect">
            <a:avLst/>
          </a:prstGeom>
          <a:noFill/>
        </p:spPr>
        <p:txBody>
          <a:bodyPr wrap="square" lIns="0" rIns="19050" tIns="9525" bIns="9525">
            <a:spAutoFit/>
          </a:bodyPr>
          <a:lstStyle/>
          <a:p>
            <a:pPr algn="l"/>
            <a:r>
              <a:rPr sz="1300" b="1">
                <a:solidFill>
                  <a:srgbClr val="0E2A5C"/>
                </a:solidFill>
                <a:latin typeface="Calibri"/>
              </a:rPr>
              <a:t>Global Value Analysis, By Sales Channel</a:t>
            </a:r>
          </a:p>
        </p:txBody>
      </p:sp>
      <p:sp>
        <p:nvSpPr>
          <p:cNvPr id="13" name="Rectangle 12"/>
          <p:cNvSpPr/>
          <p:nvPr/>
        </p:nvSpPr>
        <p:spPr>
          <a:xfrm>
            <a:off x="276225" y="2895600"/>
            <a:ext cx="116395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6225" y="2981325"/>
            <a:ext cx="11639550" cy="357187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5" name="Rectangle 14"/>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7" name="Picture 16" descr="lock.png"/>
          <p:cNvPicPr>
            <a:picLocks noChangeAspect="1"/>
          </p:cNvPicPr>
          <p:nvPr/>
        </p:nvPicPr>
        <p:blipFill>
          <a:blip r:embed="rId4"/>
          <a:stretch>
            <a:fillRect/>
          </a:stretch>
        </p:blipFill>
        <p:spPr>
          <a:xfrm>
            <a:off x="6698788" y="1589913"/>
            <a:ext cx="366712" cy="533400"/>
          </a:xfrm>
          <a:prstGeom prst="rect">
            <a:avLst/>
          </a:prstGeom>
        </p:spPr>
      </p:pic>
      <p:sp>
        <p:nvSpPr>
          <p:cNvPr id="18" name="TextBox 17"/>
          <p:cNvSpPr txBox="1"/>
          <p:nvPr/>
        </p:nvSpPr>
        <p:spPr>
          <a:xfrm>
            <a:off x="276225" y="2990850"/>
            <a:ext cx="2359657" cy="194310"/>
          </a:xfrm>
          <a:prstGeom prst="rect">
            <a:avLst/>
          </a:prstGeom>
          <a:noFill/>
        </p:spPr>
        <p:txBody>
          <a:bodyPr wrap="none" lIns="0" rIns="0" tIns="0" bIns="0">
            <a:spAutoFit/>
          </a:bodyPr>
          <a:lstStyle/>
          <a:p>
            <a:r>
              <a:rPr sz="1150" b="0">
                <a:solidFill>
                  <a:srgbClr val="2E2E2E"/>
                </a:solidFill>
                <a:latin typeface="Calibri"/>
              </a:rPr>
              <a:t>Direct segment is projected to register</a:t>
            </a:r>
          </a:p>
        </p:txBody>
      </p:sp>
      <p:pic>
        <p:nvPicPr>
          <p:cNvPr id="19" name="Picture 18" descr="lock.png"/>
          <p:cNvPicPr>
            <a:picLocks noChangeAspect="1"/>
          </p:cNvPicPr>
          <p:nvPr/>
        </p:nvPicPr>
        <p:blipFill>
          <a:blip r:embed="rId4"/>
          <a:stretch>
            <a:fillRect/>
          </a:stretch>
        </p:blipFill>
        <p:spPr>
          <a:xfrm>
            <a:off x="2585036" y="2980626"/>
            <a:ext cx="134549" cy="195707"/>
          </a:xfrm>
          <a:prstGeom prst="rect">
            <a:avLst/>
          </a:prstGeom>
        </p:spPr>
      </p:pic>
      <p:sp>
        <p:nvSpPr>
          <p:cNvPr id="20" name="TextBox 19"/>
          <p:cNvSpPr txBox="1"/>
          <p:nvPr/>
        </p:nvSpPr>
        <p:spPr>
          <a:xfrm>
            <a:off x="2760145" y="2990850"/>
            <a:ext cx="8990955" cy="194310"/>
          </a:xfrm>
          <a:prstGeom prst="rect">
            <a:avLst/>
          </a:prstGeom>
          <a:noFill/>
        </p:spPr>
        <p:txBody>
          <a:bodyPr wrap="none" lIns="0" rIns="0" tIns="0" bIns="0">
            <a:spAutoFit/>
          </a:bodyPr>
          <a:lstStyle/>
          <a:p>
            <a:r>
              <a:rPr sz="1150" b="0">
                <a:solidFill>
                  <a:srgbClr val="2E2E2E"/>
                </a:solidFill>
                <a:latin typeface="Calibri"/>
              </a:rPr>
              <a:t>X higher value than distributors &amp; traders segment in 2036. Among egg protein membrane by sales channel, direct segment is expected to witness the</a:t>
            </a:r>
          </a:p>
        </p:txBody>
      </p:sp>
      <p:sp>
        <p:nvSpPr>
          <p:cNvPr id="21" name="TextBox 20"/>
          <p:cNvSpPr txBox="1"/>
          <p:nvPr/>
        </p:nvSpPr>
        <p:spPr>
          <a:xfrm>
            <a:off x="276225" y="3166110"/>
            <a:ext cx="1032353" cy="194310"/>
          </a:xfrm>
          <a:prstGeom prst="rect">
            <a:avLst/>
          </a:prstGeom>
          <a:noFill/>
        </p:spPr>
        <p:txBody>
          <a:bodyPr wrap="none" lIns="0" rIns="0" tIns="0" bIns="0">
            <a:spAutoFit/>
          </a:bodyPr>
          <a:lstStyle/>
          <a:p>
            <a:r>
              <a:rPr sz="1150" b="0">
                <a:solidFill>
                  <a:srgbClr val="2E2E2E"/>
                </a:solidFill>
                <a:latin typeface="Calibri"/>
              </a:rPr>
              <a:t>highest CAGR of</a:t>
            </a:r>
          </a:p>
        </p:txBody>
      </p:sp>
      <p:pic>
        <p:nvPicPr>
          <p:cNvPr id="22" name="Picture 21" descr="lock.png"/>
          <p:cNvPicPr>
            <a:picLocks noChangeAspect="1"/>
          </p:cNvPicPr>
          <p:nvPr/>
        </p:nvPicPr>
        <p:blipFill>
          <a:blip r:embed="rId4"/>
          <a:stretch>
            <a:fillRect/>
          </a:stretch>
        </p:blipFill>
        <p:spPr>
          <a:xfrm>
            <a:off x="1257732" y="3155886"/>
            <a:ext cx="134549" cy="195707"/>
          </a:xfrm>
          <a:prstGeom prst="rect">
            <a:avLst/>
          </a:prstGeom>
        </p:spPr>
      </p:pic>
      <p:sp>
        <p:nvSpPr>
          <p:cNvPr id="23" name="TextBox 22"/>
          <p:cNvSpPr txBox="1"/>
          <p:nvPr/>
        </p:nvSpPr>
        <p:spPr>
          <a:xfrm>
            <a:off x="1432841" y="3166110"/>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24" name="TextBox 23"/>
          <p:cNvSpPr txBox="1"/>
          <p:nvPr/>
        </p:nvSpPr>
        <p:spPr>
          <a:xfrm>
            <a:off x="276225" y="3393947"/>
            <a:ext cx="8245016" cy="194310"/>
          </a:xfrm>
          <a:prstGeom prst="rect">
            <a:avLst/>
          </a:prstGeom>
          <a:noFill/>
        </p:spPr>
        <p:txBody>
          <a:bodyPr wrap="none" lIns="0" rIns="0" tIns="0" bIns="0">
            <a:spAutoFit/>
          </a:bodyPr>
          <a:lstStyle/>
          <a:p>
            <a:r>
              <a:rPr sz="1150" b="0">
                <a:solidFill>
                  <a:srgbClr val="2E2E2E"/>
                </a:solidFill>
                <a:latin typeface="Calibri"/>
              </a:rPr>
              <a:t>In terms of value share by sales channel, the direct segment is expected to dominate the market, maintaining its share and accounting for</a:t>
            </a:r>
          </a:p>
        </p:txBody>
      </p:sp>
      <p:pic>
        <p:nvPicPr>
          <p:cNvPr id="25" name="Picture 24" descr="lock.png"/>
          <p:cNvPicPr>
            <a:picLocks noChangeAspect="1"/>
          </p:cNvPicPr>
          <p:nvPr/>
        </p:nvPicPr>
        <p:blipFill>
          <a:blip r:embed="rId4"/>
          <a:stretch>
            <a:fillRect/>
          </a:stretch>
        </p:blipFill>
        <p:spPr>
          <a:xfrm>
            <a:off x="8470395" y="3383724"/>
            <a:ext cx="134549" cy="195707"/>
          </a:xfrm>
          <a:prstGeom prst="rect">
            <a:avLst/>
          </a:prstGeom>
        </p:spPr>
      </p:pic>
      <p:sp>
        <p:nvSpPr>
          <p:cNvPr id="26" name="TextBox 25"/>
          <p:cNvSpPr txBox="1"/>
          <p:nvPr/>
        </p:nvSpPr>
        <p:spPr>
          <a:xfrm>
            <a:off x="8645504" y="3393947"/>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Value &amp; Share Shift, By Sales Channel</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Value composition by Sales Channel in 2021, 2026 and 2036, highlighting share shifts in basis points</a:t>
            </a:r>
          </a:p>
        </p:txBody>
      </p:sp>
      <p:sp>
        <p:nvSpPr>
          <p:cNvPr id="7" name="Rounded Rectangle 6"/>
          <p:cNvSpPr/>
          <p:nvPr/>
        </p:nvSpPr>
        <p:spPr>
          <a:xfrm>
            <a:off x="142875" y="981075"/>
            <a:ext cx="7400925" cy="5648325"/>
          </a:xfrm>
          <a:prstGeom prst="roundRect">
            <a:avLst>
              <a:gd name="adj" fmla="val 134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7210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Composition, By Sales Channel ·  2021 / 2026 / 2036 (US$ Mn)  ·  right axis = BPS share shift</a:t>
            </a:r>
          </a:p>
        </p:txBody>
      </p:sp>
      <p:graphicFrame>
        <p:nvGraphicFramePr>
          <p:cNvPr id="9" name="Chart 8"/>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r:id="rId3"/>
          </a:graphicData>
        </a:graphic>
      </p:graphicFrame>
      <p:sp>
        <p:nvSpPr>
          <p:cNvPr id="10" name="TextBox 9"/>
          <p:cNvSpPr txBox="1"/>
          <p:nvPr/>
        </p:nvSpPr>
        <p:spPr>
          <a:xfrm>
            <a:off x="4852797" y="1590675"/>
            <a:ext cx="2595753" cy="171069"/>
          </a:xfrm>
          <a:prstGeom prst="rect">
            <a:avLst/>
          </a:prstGeom>
          <a:noFill/>
        </p:spPr>
        <p:txBody>
          <a:bodyPr wrap="square" lIns="28575" rIns="28575" tIns="9525" bIns="9525" anchor="ctr">
            <a:spAutoFit/>
          </a:bodyPr>
          <a:lstStyle/>
          <a:p>
            <a:pPr algn="ctr"/>
            <a:r>
              <a:rPr sz="1300" b="1">
                <a:solidFill>
                  <a:srgbClr val="2A5F8F"/>
                </a:solidFill>
                <a:latin typeface="Calibri"/>
              </a:rPr>
              <a:t>BPS Δ  (2021→2036)</a:t>
            </a:r>
          </a:p>
        </p:txBody>
      </p:sp>
      <p:sp>
        <p:nvSpPr>
          <p:cNvPr id="11" name="TMR Lock Anchor"/>
          <p:cNvSpPr txBox="1"/>
          <p:nvPr/>
        </p:nvSpPr>
        <p:spPr>
          <a:xfrm>
            <a:off x="2678811" y="4014597"/>
            <a:ext cx="38100" cy="38100"/>
          </a:xfrm>
          <a:prstGeom prst="rect">
            <a:avLst/>
          </a:prstGeom>
          <a:noFill/>
        </p:spPr>
        <p:txBody>
          <a:bodyPr wrap="none">
            <a:spAutoFit/>
          </a:bodyPr>
          <a:lstStyle/>
          <a:p/>
        </p:txBody>
      </p:sp>
      <p:sp>
        <p:nvSpPr>
          <p:cNvPr id="12" name="TMR Legend Chip"/>
          <p:cNvSpPr/>
          <p:nvPr/>
        </p:nvSpPr>
        <p:spPr>
          <a:xfrm>
            <a:off x="4928997" y="2671343"/>
            <a:ext cx="85725" cy="85725"/>
          </a:xfrm>
          <a:prstGeom prst="rect">
            <a:avLst/>
          </a:prstGeom>
          <a:solidFill>
            <a:srgbClr val="0081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Isosceles Triangle 12"/>
          <p:cNvSpPr/>
          <p:nvPr/>
        </p:nvSpPr>
        <p:spPr>
          <a:xfrm rot="10800000">
            <a:off x="5090922" y="2666580"/>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BPS Name 1"/>
          <p:cNvSpPr txBox="1"/>
          <p:nvPr/>
        </p:nvSpPr>
        <p:spPr>
          <a:xfrm>
            <a:off x="5233797" y="2590380"/>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Distributors &amp; Traders</a:t>
            </a:r>
          </a:p>
        </p:txBody>
      </p:sp>
      <p:sp>
        <p:nvSpPr>
          <p:cNvPr id="15" name="BPS Value 1"/>
          <p:cNvSpPr txBox="1"/>
          <p:nvPr/>
        </p:nvSpPr>
        <p:spPr>
          <a:xfrm>
            <a:off x="6896100" y="2652293"/>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16" name="TMR Legend Chip"/>
          <p:cNvSpPr/>
          <p:nvPr/>
        </p:nvSpPr>
        <p:spPr>
          <a:xfrm>
            <a:off x="4928997" y="4957533"/>
            <a:ext cx="85725" cy="85725"/>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Isosceles Triangle 16"/>
          <p:cNvSpPr/>
          <p:nvPr/>
        </p:nvSpPr>
        <p:spPr>
          <a:xfrm>
            <a:off x="5090922" y="4952771"/>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PS Name 2"/>
          <p:cNvSpPr txBox="1"/>
          <p:nvPr/>
        </p:nvSpPr>
        <p:spPr>
          <a:xfrm>
            <a:off x="5233797" y="4876571"/>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Direct</a:t>
            </a:r>
          </a:p>
        </p:txBody>
      </p:sp>
      <p:sp>
        <p:nvSpPr>
          <p:cNvPr id="19" name="BPS Value 2"/>
          <p:cNvSpPr txBox="1"/>
          <p:nvPr/>
        </p:nvSpPr>
        <p:spPr>
          <a:xfrm>
            <a:off x="6896100" y="4938483"/>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0" name="Rounded Rectangle 19"/>
          <p:cNvSpPr/>
          <p:nvPr/>
        </p:nvSpPr>
        <p:spPr>
          <a:xfrm>
            <a:off x="7696200" y="981075"/>
            <a:ext cx="4343400" cy="5648325"/>
          </a:xfrm>
          <a:prstGeom prst="roundRect">
            <a:avLst>
              <a:gd name="adj" fmla="val 1754"/>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E2A5C"/>
                </a:solidFill>
                <a:latin typeface="Calibri"/>
              </a:rPr>
              <a:t>Global Read-out, By Sales Channel</a:t>
            </a:r>
          </a:p>
        </p:txBody>
      </p:sp>
      <p:sp>
        <p:nvSpPr>
          <p:cNvPr id="22" name="Rectangle 21"/>
          <p:cNvSpPr/>
          <p:nvPr/>
        </p:nvSpPr>
        <p:spPr>
          <a:xfrm>
            <a:off x="7829550" y="1304925"/>
            <a:ext cx="407670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24" name="Rectangle 23"/>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26" name="Picture 25" descr="lock.png"/>
          <p:cNvPicPr>
            <a:picLocks noChangeAspect="1"/>
          </p:cNvPicPr>
          <p:nvPr/>
        </p:nvPicPr>
        <p:blipFill>
          <a:blip r:embed="rId5"/>
          <a:stretch>
            <a:fillRect/>
          </a:stretch>
        </p:blipFill>
        <p:spPr>
          <a:xfrm>
            <a:off x="2557843" y="3833622"/>
            <a:ext cx="275034" cy="400050"/>
          </a:xfrm>
          <a:prstGeom prst="rect">
            <a:avLst/>
          </a:prstGeom>
        </p:spPr>
      </p:pic>
      <p:sp>
        <p:nvSpPr>
          <p:cNvPr id="27" name="TextBox 26"/>
          <p:cNvSpPr txBox="1"/>
          <p:nvPr/>
        </p:nvSpPr>
        <p:spPr>
          <a:xfrm>
            <a:off x="7829550" y="1400175"/>
            <a:ext cx="3985890" cy="194310"/>
          </a:xfrm>
          <a:prstGeom prst="rect">
            <a:avLst/>
          </a:prstGeom>
          <a:noFill/>
        </p:spPr>
        <p:txBody>
          <a:bodyPr wrap="none" lIns="0" rIns="0" tIns="0" bIns="0">
            <a:spAutoFit/>
          </a:bodyPr>
          <a:lstStyle/>
          <a:p>
            <a:r>
              <a:rPr sz="1150" b="0">
                <a:solidFill>
                  <a:srgbClr val="2E2E2E"/>
                </a:solidFill>
                <a:latin typeface="Calibri"/>
              </a:rPr>
              <a:t>Among egg protein membrane by sales channel, direct segment is</a:t>
            </a:r>
          </a:p>
        </p:txBody>
      </p:sp>
      <p:sp>
        <p:nvSpPr>
          <p:cNvPr id="28" name="TextBox 27"/>
          <p:cNvSpPr txBox="1"/>
          <p:nvPr/>
        </p:nvSpPr>
        <p:spPr>
          <a:xfrm>
            <a:off x="7829550" y="1575435"/>
            <a:ext cx="2486007" cy="194310"/>
          </a:xfrm>
          <a:prstGeom prst="rect">
            <a:avLst/>
          </a:prstGeom>
          <a:noFill/>
        </p:spPr>
        <p:txBody>
          <a:bodyPr wrap="none" lIns="0" rIns="0" tIns="0" bIns="0">
            <a:spAutoFit/>
          </a:bodyPr>
          <a:lstStyle/>
          <a:p>
            <a:r>
              <a:rPr sz="1150" b="0">
                <a:solidFill>
                  <a:srgbClr val="2E2E2E"/>
                </a:solidFill>
                <a:latin typeface="Calibri"/>
              </a:rPr>
              <a:t>expected to witness the highest CAGR of</a:t>
            </a:r>
          </a:p>
        </p:txBody>
      </p:sp>
      <p:pic>
        <p:nvPicPr>
          <p:cNvPr id="29" name="Picture 28" descr="lock.png"/>
          <p:cNvPicPr>
            <a:picLocks noChangeAspect="1"/>
          </p:cNvPicPr>
          <p:nvPr/>
        </p:nvPicPr>
        <p:blipFill>
          <a:blip r:embed="rId5"/>
          <a:stretch>
            <a:fillRect/>
          </a:stretch>
        </p:blipFill>
        <p:spPr>
          <a:xfrm>
            <a:off x="10264711" y="1565211"/>
            <a:ext cx="134549" cy="195707"/>
          </a:xfrm>
          <a:prstGeom prst="rect">
            <a:avLst/>
          </a:prstGeom>
        </p:spPr>
      </p:pic>
      <p:sp>
        <p:nvSpPr>
          <p:cNvPr id="30" name="TextBox 29"/>
          <p:cNvSpPr txBox="1"/>
          <p:nvPr/>
        </p:nvSpPr>
        <p:spPr>
          <a:xfrm>
            <a:off x="10439820" y="1575435"/>
            <a:ext cx="1090848" cy="194310"/>
          </a:xfrm>
          <a:prstGeom prst="rect">
            <a:avLst/>
          </a:prstGeom>
          <a:noFill/>
        </p:spPr>
        <p:txBody>
          <a:bodyPr wrap="none" lIns="0" rIns="0" tIns="0" bIns="0">
            <a:spAutoFit/>
          </a:bodyPr>
          <a:lstStyle/>
          <a:p>
            <a:r>
              <a:rPr sz="1150" b="0">
                <a:solidFill>
                  <a:srgbClr val="2E2E2E"/>
                </a:solidFill>
                <a:latin typeface="Calibri"/>
              </a:rPr>
              <a:t>over the forecast</a:t>
            </a:r>
          </a:p>
        </p:txBody>
      </p:sp>
      <p:sp>
        <p:nvSpPr>
          <p:cNvPr id="31" name="TextBox 30"/>
          <p:cNvSpPr txBox="1"/>
          <p:nvPr/>
        </p:nvSpPr>
        <p:spPr>
          <a:xfrm>
            <a:off x="7829550" y="1750695"/>
            <a:ext cx="500943" cy="194310"/>
          </a:xfrm>
          <a:prstGeom prst="rect">
            <a:avLst/>
          </a:prstGeom>
          <a:noFill/>
        </p:spPr>
        <p:txBody>
          <a:bodyPr wrap="none" lIns="0" rIns="0" tIns="0" bIns="0">
            <a:spAutoFit/>
          </a:bodyPr>
          <a:lstStyle/>
          <a:p>
            <a:r>
              <a:rPr sz="1150" b="0">
                <a:solidFill>
                  <a:srgbClr val="2E2E2E"/>
                </a:solidFill>
                <a:latin typeface="Calibri"/>
              </a:rPr>
              <a:t>period.</a:t>
            </a:r>
          </a:p>
        </p:txBody>
      </p:sp>
      <p:sp>
        <p:nvSpPr>
          <p:cNvPr id="32" name="TextBox 31"/>
          <p:cNvSpPr txBox="1"/>
          <p:nvPr/>
        </p:nvSpPr>
        <p:spPr>
          <a:xfrm>
            <a:off x="7829550" y="1978533"/>
            <a:ext cx="3754549" cy="194310"/>
          </a:xfrm>
          <a:prstGeom prst="rect">
            <a:avLst/>
          </a:prstGeom>
          <a:noFill/>
        </p:spPr>
        <p:txBody>
          <a:bodyPr wrap="none" lIns="0" rIns="0" tIns="0" bIns="0">
            <a:spAutoFit/>
          </a:bodyPr>
          <a:lstStyle/>
          <a:p>
            <a:r>
              <a:rPr sz="1150" b="0">
                <a:solidFill>
                  <a:srgbClr val="2E2E2E"/>
                </a:solidFill>
                <a:latin typeface="Calibri"/>
              </a:rPr>
              <a:t>In terms of value share by sales channel, the direct segment is</a:t>
            </a:r>
          </a:p>
        </p:txBody>
      </p:sp>
      <p:sp>
        <p:nvSpPr>
          <p:cNvPr id="33" name="TextBox 32"/>
          <p:cNvSpPr txBox="1"/>
          <p:nvPr/>
        </p:nvSpPr>
        <p:spPr>
          <a:xfrm>
            <a:off x="7829550" y="2153793"/>
            <a:ext cx="3642444" cy="194310"/>
          </a:xfrm>
          <a:prstGeom prst="rect">
            <a:avLst/>
          </a:prstGeom>
          <a:noFill/>
        </p:spPr>
        <p:txBody>
          <a:bodyPr wrap="none" lIns="0" rIns="0" tIns="0" bIns="0">
            <a:spAutoFit/>
          </a:bodyPr>
          <a:lstStyle/>
          <a:p>
            <a:r>
              <a:rPr sz="1150" b="0">
                <a:solidFill>
                  <a:srgbClr val="2E2E2E"/>
                </a:solidFill>
                <a:latin typeface="Calibri"/>
              </a:rPr>
              <a:t>expected to dominate the market, maintaining its share and</a:t>
            </a:r>
          </a:p>
        </p:txBody>
      </p:sp>
      <p:sp>
        <p:nvSpPr>
          <p:cNvPr id="34" name="TextBox 33"/>
          <p:cNvSpPr txBox="1"/>
          <p:nvPr/>
        </p:nvSpPr>
        <p:spPr>
          <a:xfrm>
            <a:off x="7829550" y="2329053"/>
            <a:ext cx="934243" cy="194310"/>
          </a:xfrm>
          <a:prstGeom prst="rect">
            <a:avLst/>
          </a:prstGeom>
          <a:noFill/>
        </p:spPr>
        <p:txBody>
          <a:bodyPr wrap="none" lIns="0" rIns="0" tIns="0" bIns="0">
            <a:spAutoFit/>
          </a:bodyPr>
          <a:lstStyle/>
          <a:p>
            <a:r>
              <a:rPr sz="1150" b="0">
                <a:solidFill>
                  <a:srgbClr val="2E2E2E"/>
                </a:solidFill>
                <a:latin typeface="Calibri"/>
              </a:rPr>
              <a:t>accounting for</a:t>
            </a:r>
          </a:p>
        </p:txBody>
      </p:sp>
      <p:pic>
        <p:nvPicPr>
          <p:cNvPr id="35" name="Picture 34" descr="lock.png"/>
          <p:cNvPicPr>
            <a:picLocks noChangeAspect="1"/>
          </p:cNvPicPr>
          <p:nvPr/>
        </p:nvPicPr>
        <p:blipFill>
          <a:blip r:embed="rId5"/>
          <a:stretch>
            <a:fillRect/>
          </a:stretch>
        </p:blipFill>
        <p:spPr>
          <a:xfrm>
            <a:off x="8712947" y="2318829"/>
            <a:ext cx="134549" cy="195707"/>
          </a:xfrm>
          <a:prstGeom prst="rect">
            <a:avLst/>
          </a:prstGeom>
        </p:spPr>
      </p:pic>
      <p:sp>
        <p:nvSpPr>
          <p:cNvPr id="36" name="TextBox 35"/>
          <p:cNvSpPr txBox="1"/>
          <p:nvPr/>
        </p:nvSpPr>
        <p:spPr>
          <a:xfrm>
            <a:off x="8888056" y="2329053"/>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37" name="lockshield_9"/>
          <p:cNvSpPr/>
          <p:nvPr/>
        </p:nvSpPr>
        <p:spPr>
          <a:xfrm>
            <a:off x="238125" y="1581150"/>
            <a:ext cx="4614672" cy="49911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3F8FD"/>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3F8FD"/>
              </a:gs>
              <a:gs pos="100000">
                <a:srgbClr val="DCE9F6"/>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FE0F0">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9C8E6">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B7D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A5F8F"/>
              </a:gs>
              <a:gs pos="100000">
                <a:srgbClr val="6FA6D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MR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8</a:t>
            </a:r>
          </a:p>
        </p:txBody>
      </p:sp>
      <p:pic>
        <p:nvPicPr>
          <p:cNvPr id="8" name="Picture 7" descr="tmr_logo.png"/>
          <p:cNvPicPr>
            <a:picLocks noChangeAspect="1"/>
          </p:cNvPicPr>
          <p:nvPr/>
        </p:nvPicPr>
        <p:blipFill>
          <a:blip r:embed="rId2"/>
          <a:stretch>
            <a:fillRect/>
          </a:stretch>
        </p:blipFill>
        <p:spPr>
          <a:xfrm>
            <a:off x="411480" y="274320"/>
            <a:ext cx="1307592" cy="975505"/>
          </a:xfrm>
          <a:prstGeom prst="rect">
            <a:avLst/>
          </a:prstGeom>
        </p:spPr>
      </p:pic>
      <p:sp>
        <p:nvSpPr>
          <p:cNvPr id="9" name="TextBox 8"/>
          <p:cNvSpPr txBox="1"/>
          <p:nvPr/>
        </p:nvSpPr>
        <p:spPr>
          <a:xfrm>
            <a:off x="914400" y="2949575"/>
            <a:ext cx="8572500" cy="304800"/>
          </a:xfrm>
          <a:prstGeom prst="rect">
            <a:avLst/>
          </a:prstGeom>
          <a:noFill/>
        </p:spPr>
        <p:txBody>
          <a:bodyPr wrap="none" lIns="0" tIns="0">
            <a:spAutoFit/>
          </a:bodyPr>
          <a:lstStyle/>
          <a:p>
            <a:r>
              <a:rPr sz="1800" b="0">
                <a:solidFill>
                  <a:srgbClr val="2A5F8F"/>
                </a:solidFill>
                <a:latin typeface="Calibri"/>
              </a:rPr>
              <a:t>Egg Protein Membrane Market</a:t>
            </a:r>
          </a:p>
        </p:txBody>
      </p:sp>
      <p:sp>
        <p:nvSpPr>
          <p:cNvPr id="10" name="TMR Section Title"/>
          <p:cNvSpPr txBox="1"/>
          <p:nvPr/>
        </p:nvSpPr>
        <p:spPr>
          <a:xfrm>
            <a:off x="914400" y="3292475"/>
            <a:ext cx="8572500" cy="514350"/>
          </a:xfrm>
          <a:prstGeom prst="rect">
            <a:avLst/>
          </a:prstGeom>
          <a:noFill/>
        </p:spPr>
        <p:txBody>
          <a:bodyPr wrap="square" lIns="0" rIns="0" tIns="0">
            <a:spAutoFit/>
          </a:bodyPr>
          <a:lstStyle/>
          <a:p>
            <a:r>
              <a:rPr sz="3000" b="1">
                <a:solidFill>
                  <a:srgbClr val="0E2A5C"/>
                </a:solidFill>
                <a:latin typeface="Calibri"/>
              </a:rPr>
              <a:t>Cross-sectional Assessment</a:t>
            </a:r>
          </a:p>
        </p:txBody>
      </p:sp>
      <p:sp>
        <p:nvSpPr>
          <p:cNvPr id="11" name="TextBox 10"/>
          <p:cNvSpPr txBox="1"/>
          <p:nvPr/>
        </p:nvSpPr>
        <p:spPr>
          <a:xfrm>
            <a:off x="914400" y="3978275"/>
            <a:ext cx="8458200" cy="8826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Product Type × Source</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Product Type × Application</a:t>
            </a:r>
          </a:p>
        </p:txBody>
      </p:sp>
      <p:sp>
        <p:nvSpPr>
          <p:cNvPr id="12" name="Rectangle 11"/>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3F8FD"/>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3F8FD"/>
              </a:gs>
              <a:gs pos="100000">
                <a:srgbClr val="DCE9F6"/>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FE0F0">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9C8E6">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B7D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A5F8F"/>
              </a:gs>
              <a:gs pos="100000">
                <a:srgbClr val="6FA6D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MR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8.1</a:t>
            </a:r>
          </a:p>
        </p:txBody>
      </p:sp>
      <p:pic>
        <p:nvPicPr>
          <p:cNvPr id="8" name="Picture 7" descr="tmr_logo.png"/>
          <p:cNvPicPr>
            <a:picLocks noChangeAspect="1"/>
          </p:cNvPicPr>
          <p:nvPr/>
        </p:nvPicPr>
        <p:blipFill>
          <a:blip r:embed="rId2"/>
          <a:stretch>
            <a:fillRect/>
          </a:stretch>
        </p:blipFill>
        <p:spPr>
          <a:xfrm>
            <a:off x="411480" y="274320"/>
            <a:ext cx="1307592" cy="975505"/>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2A5F8F"/>
                </a:solidFill>
                <a:latin typeface="Calibri"/>
              </a:rPr>
              <a:t>Egg Protein Membrane Market</a:t>
            </a:r>
          </a:p>
        </p:txBody>
      </p:sp>
      <p:sp>
        <p:nvSpPr>
          <p:cNvPr id="10" name="TMR Section Title"/>
          <p:cNvSpPr txBox="1"/>
          <p:nvPr/>
        </p:nvSpPr>
        <p:spPr>
          <a:xfrm>
            <a:off x="914400" y="3095625"/>
            <a:ext cx="8572500" cy="514350"/>
          </a:xfrm>
          <a:prstGeom prst="rect">
            <a:avLst/>
          </a:prstGeom>
          <a:noFill/>
        </p:spPr>
        <p:txBody>
          <a:bodyPr wrap="square" lIns="0" rIns="0" tIns="0">
            <a:spAutoFit/>
          </a:bodyPr>
          <a:lstStyle/>
          <a:p>
            <a:r>
              <a:rPr sz="3000" b="1">
                <a:solidFill>
                  <a:srgbClr val="0E2A5C"/>
                </a:solidFill>
                <a:latin typeface="Calibri"/>
              </a:rPr>
              <a:t>Product Type × Source</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Snapshot</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Share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Opportunity &amp; Attractiveness</a:t>
            </a:r>
          </a:p>
        </p:txBody>
      </p:sp>
      <p:sp>
        <p:nvSpPr>
          <p:cNvPr id="12" name="Rectangle 11"/>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Snapshot: Product Type × Source, 2026E vs 2036F</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Global market value (US$ Mn) for each product type sub-segment across source sub-segments</a:t>
            </a:r>
          </a:p>
        </p:txBody>
      </p:sp>
      <p:sp>
        <p:nvSpPr>
          <p:cNvPr id="7" name="Rounded Rectangle 6"/>
          <p:cNvSpPr/>
          <p:nvPr/>
        </p:nvSpPr>
        <p:spPr>
          <a:xfrm>
            <a:off x="142875" y="981075"/>
            <a:ext cx="11906250" cy="1952625"/>
          </a:xfrm>
          <a:prstGeom prst="roundRect">
            <a:avLst>
              <a:gd name="adj" fmla="val 3902"/>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Market Value, Product Type × Source, 2026E and 2036F (US$ Mn)</a:t>
            </a:r>
          </a:p>
        </p:txBody>
      </p:sp>
      <p:graphicFrame>
        <p:nvGraphicFramePr>
          <p:cNvPr id="9" name="Table 8"/>
          <p:cNvGraphicFramePr>
            <a:graphicFrameLocks noGrp="1"/>
          </p:cNvGraphicFramePr>
          <p:nvPr/>
        </p:nvGraphicFramePr>
        <p:xfrm>
          <a:off x="152400" y="1238250"/>
          <a:ext cx="11887198" cy="1485896"/>
        </p:xfrm>
        <a:graphic>
          <a:graphicData uri="http://schemas.openxmlformats.org/drawingml/2006/table">
            <a:tbl>
              <a:tblPr>
                <a:tableStyleId>{5C22544A-7EE6-4342-B048-85BDC9FD1C3A}</a:tableStyleId>
              </a:tblPr>
              <a:tblGrid>
                <a:gridCol w="5106904"/>
                <a:gridCol w="1130049"/>
                <a:gridCol w="1130049"/>
                <a:gridCol w="1130049"/>
                <a:gridCol w="1130049"/>
                <a:gridCol w="1130049"/>
                <a:gridCol w="1130049"/>
              </a:tblGrid>
              <a:tr h="246126">
                <a:tc rowSpan="2">
                  <a:txBody>
                    <a:bodyPr wrap="none"/>
                    <a:lstStyle/>
                    <a:p>
                      <a:pPr algn="l"/>
                      <a:r>
                        <a:rPr sz="1100" b="1">
                          <a:solidFill>
                            <a:srgbClr val="0E2A5C"/>
                          </a:solidFill>
                          <a:latin typeface="Calibri"/>
                        </a:rPr>
                        <a:t>Product Type</a:t>
                      </a:r>
                      <a:endParaRPr sz="1100"/>
                    </a:p>
                  </a:txBody>
                  <a:tcPr marL="47625" marR="38100" marT="19050" marB="19050" anchor="ctr">
                    <a:solidFill>
                      <a:srgbClr val="EBF2F9"/>
                    </a:solidFill>
                  </a:tcPr>
                </a:tc>
                <a:tc gridSpan="2">
                  <a:txBody>
                    <a:bodyPr wrap="none"/>
                    <a:lstStyle/>
                    <a:p>
                      <a:pPr algn="ctr"/>
                      <a:r>
                        <a:rPr sz="1100" b="1">
                          <a:solidFill>
                            <a:srgbClr val="0E2A5C"/>
                          </a:solidFill>
                          <a:latin typeface="Calibri"/>
                        </a:rPr>
                        <a:t>Chicken Eggshell Membrane</a:t>
                      </a:r>
                      <a:endParaRPr sz="1100"/>
                    </a:p>
                  </a:txBody>
                  <a:tcPr marL="47625" marR="38100" marT="19050" marB="19050" anchor="ctr">
                    <a:solidFill>
                      <a:srgbClr val="EBF2F9"/>
                    </a:solidFill>
                  </a:tcPr>
                </a:tc>
                <a:tc hMerge="1">
                  <a:txBody>
                    <a:bodyPr wrap="none"/>
                    <a:lstStyle/>
                    <a:p>
                      <a:pPr algn="ctr"/>
                      <a:endParaRPr sz="1100"/>
                    </a:p>
                  </a:txBody>
                  <a:tcPr marL="47625" marR="38100" marT="19050" marB="19050" anchor="ctr">
                    <a:solidFill>
                      <a:srgbClr val="EBF2F9"/>
                    </a:solidFill>
                  </a:tcPr>
                </a:tc>
                <a:tc gridSpan="2">
                  <a:txBody>
                    <a:bodyPr wrap="none"/>
                    <a:lstStyle/>
                    <a:p>
                      <a:pPr algn="ctr"/>
                      <a:r>
                        <a:rPr sz="1100" b="1">
                          <a:solidFill>
                            <a:srgbClr val="0E2A5C"/>
                          </a:solidFill>
                          <a:latin typeface="Calibri"/>
                        </a:rPr>
                        <a:t>Other Poultry Eggshell Membrane</a:t>
                      </a:r>
                      <a:endParaRPr sz="1100"/>
                    </a:p>
                  </a:txBody>
                  <a:tcPr marL="47625" marR="38100" marT="19050" marB="19050" anchor="ctr">
                    <a:solidFill>
                      <a:srgbClr val="EBF2F9"/>
                    </a:solidFill>
                  </a:tcPr>
                </a:tc>
                <a:tc hMerge="1">
                  <a:txBody>
                    <a:bodyPr wrap="none"/>
                    <a:lstStyle/>
                    <a:p>
                      <a:pPr algn="ctr"/>
                      <a:endParaRPr sz="1100"/>
                    </a:p>
                  </a:txBody>
                  <a:tcPr marL="47625" marR="38100" marT="19050" marB="19050" anchor="ctr">
                    <a:solidFill>
                      <a:srgbClr val="EBF2F9"/>
                    </a:solidFill>
                  </a:tcPr>
                </a:tc>
                <a:tc gridSpan="2">
                  <a:txBody>
                    <a:bodyPr wrap="none"/>
                    <a:lstStyle/>
                    <a:p>
                      <a:pPr algn="ctr"/>
                      <a:r>
                        <a:rPr sz="1100" b="1">
                          <a:solidFill>
                            <a:srgbClr val="0E2A5C"/>
                          </a:solidFill>
                          <a:latin typeface="Calibri"/>
                        </a:rPr>
                        <a:t>Total</a:t>
                      </a:r>
                      <a:endParaRPr sz="1100"/>
                    </a:p>
                  </a:txBody>
                  <a:tcPr marL="47625" marR="38100" marT="19050" marB="19050" anchor="ctr">
                    <a:solidFill>
                      <a:srgbClr val="EBF2F9"/>
                    </a:solidFill>
                  </a:tcPr>
                </a:tc>
                <a:tc hMerge="1">
                  <a:txBody>
                    <a:bodyPr wrap="none"/>
                    <a:lstStyle/>
                    <a:p>
                      <a:pPr algn="ctr"/>
                      <a:endParaRPr sz="1100"/>
                    </a:p>
                  </a:txBody>
                  <a:tcPr marL="47625" marR="38100" marT="19050" marB="19050" anchor="ctr">
                    <a:solidFill>
                      <a:srgbClr val="EBF2F9"/>
                    </a:solidFill>
                  </a:tcPr>
                </a:tc>
              </a:tr>
              <a:tr h="247954">
                <a:tc vMerge="1">
                  <a:txBody>
                    <a:bodyPr wrap="none"/>
                    <a:lstStyle/>
                    <a:p>
                      <a:pPr algn="l"/>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2026E</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2036F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2026E</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2036F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2026E</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2036F</a:t>
                      </a:r>
                      <a:endParaRPr sz="1100"/>
                    </a:p>
                  </a:txBody>
                  <a:tcPr marL="47625" marR="38100" marT="19050" marB="19050" anchor="ctr">
                    <a:solidFill>
                      <a:srgbClr val="EBF2F9"/>
                    </a:solidFill>
                  </a:tcPr>
                </a:tc>
              </a:tr>
              <a:tr h="247954">
                <a:tc>
                  <a:txBody>
                    <a:bodyPr wrap="none"/>
                    <a:lstStyle/>
                    <a:p>
                      <a:pPr algn="l"/>
                      <a:r>
                        <a:rPr sz="1100" b="1">
                          <a:solidFill>
                            <a:srgbClr val="2E2E2E"/>
                          </a:solidFill>
                          <a:latin typeface="Calibri"/>
                        </a:rPr>
                        <a:t>Micronized Eggshell Membrane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954">
                <a:tc>
                  <a:txBody>
                    <a:bodyPr wrap="none"/>
                    <a:lstStyle/>
                    <a:p>
                      <a:pPr algn="l"/>
                      <a:r>
                        <a:rPr sz="1100" b="1">
                          <a:solidFill>
                            <a:srgbClr val="2E2E2E"/>
                          </a:solidFill>
                          <a:latin typeface="Calibri"/>
                        </a:rPr>
                        <a:t>Hydrolyzed Eggshell Membrane</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7954">
                <a:tc>
                  <a:txBody>
                    <a:bodyPr wrap="none"/>
                    <a:lstStyle/>
                    <a:p>
                      <a:pPr algn="l"/>
                      <a:r>
                        <a:rPr sz="1100" b="1">
                          <a:solidFill>
                            <a:srgbClr val="2E2E2E"/>
                          </a:solidFill>
                          <a:latin typeface="Calibri"/>
                        </a:rPr>
                        <a:t>Specialty Extracted Protein Fractions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954">
                <a:tc>
                  <a:txBody>
                    <a:bodyPr wrap="none"/>
                    <a:lstStyle/>
                    <a:p>
                      <a:pPr algn="l"/>
                      <a:r>
                        <a:rPr sz="1100" b="1">
                          <a:solidFill>
                            <a:srgbClr val="2E2E2E"/>
                          </a:solidFill>
                          <a:latin typeface="Calibri"/>
                        </a:rPr>
                        <a:t>Total</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r>
            </a:tbl>
          </a:graphicData>
        </a:graphic>
      </p:graphicFrame>
      <p:sp>
        <p:nvSpPr>
          <p:cNvPr id="10" name="TextBox 9"/>
          <p:cNvSpPr txBox="1"/>
          <p:nvPr/>
        </p:nvSpPr>
        <p:spPr>
          <a:xfrm>
            <a:off x="219075" y="273367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11" name="Rounded Rectangle 10"/>
          <p:cNvSpPr/>
          <p:nvPr/>
        </p:nvSpPr>
        <p:spPr>
          <a:xfrm>
            <a:off x="142875" y="3067050"/>
            <a:ext cx="7286625" cy="3562350"/>
          </a:xfrm>
          <a:prstGeom prst="roundRect">
            <a:avLst>
              <a:gd name="adj" fmla="val 213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3124200"/>
            <a:ext cx="70961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Flow, Product Type → Source, 2036F (US$ Mn)</a:t>
            </a:r>
          </a:p>
        </p:txBody>
      </p:sp>
      <p:sp>
        <p:nvSpPr>
          <p:cNvPr id="13" name="Freeform 12"/>
          <p:cNvSpPr/>
          <p:nvPr/>
        </p:nvSpPr>
        <p:spPr>
          <a:xfrm>
            <a:off x="2057400" y="3390900"/>
            <a:ext cx="3743325" cy="857250"/>
          </a:xfrm>
          <a:custGeom>
            <a:avLst/>
            <a:gdLst/>
            <a:ahLst/>
            <a:cxnLst/>
            <a:rect l="l" t="t" r="r" b="b"/>
            <a:pathLst>
              <a:path w="393" h="90">
                <a:moveTo>
                  <a:pt x="0" y="0"/>
                </a:moveTo>
                <a:lnTo>
                  <a:pt x="16" y="0"/>
                </a:lnTo>
                <a:lnTo>
                  <a:pt x="33" y="0"/>
                </a:lnTo>
                <a:lnTo>
                  <a:pt x="49" y="0"/>
                </a:lnTo>
                <a:lnTo>
                  <a:pt x="65" y="0"/>
                </a:lnTo>
                <a:lnTo>
                  <a:pt x="82" y="0"/>
                </a:lnTo>
                <a:lnTo>
                  <a:pt x="98" y="0"/>
                </a:lnTo>
                <a:lnTo>
                  <a:pt x="114" y="1"/>
                </a:lnTo>
                <a:lnTo>
                  <a:pt x="131" y="1"/>
                </a:lnTo>
                <a:lnTo>
                  <a:pt x="147" y="1"/>
                </a:lnTo>
                <a:lnTo>
                  <a:pt x="164" y="1"/>
                </a:lnTo>
                <a:lnTo>
                  <a:pt x="180" y="1"/>
                </a:lnTo>
                <a:lnTo>
                  <a:pt x="196" y="2"/>
                </a:lnTo>
                <a:lnTo>
                  <a:pt x="213" y="2"/>
                </a:lnTo>
                <a:lnTo>
                  <a:pt x="229" y="2"/>
                </a:lnTo>
                <a:lnTo>
                  <a:pt x="246" y="2"/>
                </a:lnTo>
                <a:lnTo>
                  <a:pt x="262" y="2"/>
                </a:lnTo>
                <a:lnTo>
                  <a:pt x="278" y="2"/>
                </a:lnTo>
                <a:lnTo>
                  <a:pt x="295" y="3"/>
                </a:lnTo>
                <a:lnTo>
                  <a:pt x="311" y="3"/>
                </a:lnTo>
                <a:lnTo>
                  <a:pt x="327" y="3"/>
                </a:lnTo>
                <a:lnTo>
                  <a:pt x="344" y="3"/>
                </a:lnTo>
                <a:lnTo>
                  <a:pt x="360" y="3"/>
                </a:lnTo>
                <a:lnTo>
                  <a:pt x="377" y="3"/>
                </a:lnTo>
                <a:lnTo>
                  <a:pt x="393" y="3"/>
                </a:lnTo>
                <a:lnTo>
                  <a:pt x="393" y="90"/>
                </a:lnTo>
                <a:lnTo>
                  <a:pt x="377" y="90"/>
                </a:lnTo>
                <a:lnTo>
                  <a:pt x="360" y="90"/>
                </a:lnTo>
                <a:lnTo>
                  <a:pt x="344" y="90"/>
                </a:lnTo>
                <a:lnTo>
                  <a:pt x="327" y="90"/>
                </a:lnTo>
                <a:lnTo>
                  <a:pt x="311" y="90"/>
                </a:lnTo>
                <a:lnTo>
                  <a:pt x="295" y="89"/>
                </a:lnTo>
                <a:lnTo>
                  <a:pt x="278" y="89"/>
                </a:lnTo>
                <a:lnTo>
                  <a:pt x="262" y="89"/>
                </a:lnTo>
                <a:lnTo>
                  <a:pt x="246" y="89"/>
                </a:lnTo>
                <a:lnTo>
                  <a:pt x="229" y="89"/>
                </a:lnTo>
                <a:lnTo>
                  <a:pt x="213" y="89"/>
                </a:lnTo>
                <a:lnTo>
                  <a:pt x="196" y="88"/>
                </a:lnTo>
                <a:lnTo>
                  <a:pt x="180" y="88"/>
                </a:lnTo>
                <a:lnTo>
                  <a:pt x="164" y="88"/>
                </a:lnTo>
                <a:lnTo>
                  <a:pt x="147" y="88"/>
                </a:lnTo>
                <a:lnTo>
                  <a:pt x="131" y="88"/>
                </a:lnTo>
                <a:lnTo>
                  <a:pt x="114" y="87"/>
                </a:lnTo>
                <a:lnTo>
                  <a:pt x="98" y="87"/>
                </a:lnTo>
                <a:lnTo>
                  <a:pt x="82" y="87"/>
                </a:lnTo>
                <a:lnTo>
                  <a:pt x="65" y="87"/>
                </a:lnTo>
                <a:lnTo>
                  <a:pt x="49" y="87"/>
                </a:lnTo>
                <a:lnTo>
                  <a:pt x="33" y="87"/>
                </a:lnTo>
                <a:lnTo>
                  <a:pt x="16" y="87"/>
                </a:lnTo>
                <a:lnTo>
                  <a:pt x="0" y="87"/>
                </a:lnTo>
                <a:close/>
              </a:path>
            </a:pathLst>
          </a:custGeom>
          <a:solidFill>
            <a:srgbClr val="2A5F8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Freeform 13"/>
          <p:cNvSpPr/>
          <p:nvPr/>
        </p:nvSpPr>
        <p:spPr>
          <a:xfrm>
            <a:off x="2057400" y="4219575"/>
            <a:ext cx="3743325" cy="1924050"/>
          </a:xfrm>
          <a:custGeom>
            <a:avLst/>
            <a:gdLst/>
            <a:ahLst/>
            <a:cxnLst/>
            <a:rect l="l" t="t" r="r" b="b"/>
            <a:pathLst>
              <a:path w="393" h="202">
                <a:moveTo>
                  <a:pt x="0" y="0"/>
                </a:moveTo>
                <a:lnTo>
                  <a:pt x="16" y="1"/>
                </a:lnTo>
                <a:lnTo>
                  <a:pt x="33" y="3"/>
                </a:lnTo>
                <a:lnTo>
                  <a:pt x="49" y="8"/>
                </a:lnTo>
                <a:lnTo>
                  <a:pt x="65" y="13"/>
                </a:lnTo>
                <a:lnTo>
                  <a:pt x="82" y="20"/>
                </a:lnTo>
                <a:lnTo>
                  <a:pt x="98" y="28"/>
                </a:lnTo>
                <a:lnTo>
                  <a:pt x="114" y="37"/>
                </a:lnTo>
                <a:lnTo>
                  <a:pt x="131" y="47"/>
                </a:lnTo>
                <a:lnTo>
                  <a:pt x="147" y="58"/>
                </a:lnTo>
                <a:lnTo>
                  <a:pt x="164" y="69"/>
                </a:lnTo>
                <a:lnTo>
                  <a:pt x="180" y="80"/>
                </a:lnTo>
                <a:lnTo>
                  <a:pt x="196" y="91"/>
                </a:lnTo>
                <a:lnTo>
                  <a:pt x="213" y="103"/>
                </a:lnTo>
                <a:lnTo>
                  <a:pt x="229" y="114"/>
                </a:lnTo>
                <a:lnTo>
                  <a:pt x="246" y="125"/>
                </a:lnTo>
                <a:lnTo>
                  <a:pt x="262" y="135"/>
                </a:lnTo>
                <a:lnTo>
                  <a:pt x="278" y="145"/>
                </a:lnTo>
                <a:lnTo>
                  <a:pt x="295" y="154"/>
                </a:lnTo>
                <a:lnTo>
                  <a:pt x="311" y="162"/>
                </a:lnTo>
                <a:lnTo>
                  <a:pt x="327" y="169"/>
                </a:lnTo>
                <a:lnTo>
                  <a:pt x="344" y="175"/>
                </a:lnTo>
                <a:lnTo>
                  <a:pt x="360" y="179"/>
                </a:lnTo>
                <a:lnTo>
                  <a:pt x="377" y="182"/>
                </a:lnTo>
                <a:lnTo>
                  <a:pt x="393" y="183"/>
                </a:lnTo>
                <a:lnTo>
                  <a:pt x="393" y="202"/>
                </a:lnTo>
                <a:lnTo>
                  <a:pt x="377" y="201"/>
                </a:lnTo>
                <a:lnTo>
                  <a:pt x="360" y="198"/>
                </a:lnTo>
                <a:lnTo>
                  <a:pt x="344" y="194"/>
                </a:lnTo>
                <a:lnTo>
                  <a:pt x="327" y="188"/>
                </a:lnTo>
                <a:lnTo>
                  <a:pt x="311" y="181"/>
                </a:lnTo>
                <a:lnTo>
                  <a:pt x="295" y="173"/>
                </a:lnTo>
                <a:lnTo>
                  <a:pt x="278" y="164"/>
                </a:lnTo>
                <a:lnTo>
                  <a:pt x="262" y="154"/>
                </a:lnTo>
                <a:lnTo>
                  <a:pt x="246" y="144"/>
                </a:lnTo>
                <a:lnTo>
                  <a:pt x="229" y="133"/>
                </a:lnTo>
                <a:lnTo>
                  <a:pt x="213" y="122"/>
                </a:lnTo>
                <a:lnTo>
                  <a:pt x="196" y="110"/>
                </a:lnTo>
                <a:lnTo>
                  <a:pt x="180" y="99"/>
                </a:lnTo>
                <a:lnTo>
                  <a:pt x="164" y="88"/>
                </a:lnTo>
                <a:lnTo>
                  <a:pt x="147" y="77"/>
                </a:lnTo>
                <a:lnTo>
                  <a:pt x="131" y="66"/>
                </a:lnTo>
                <a:lnTo>
                  <a:pt x="114" y="57"/>
                </a:lnTo>
                <a:lnTo>
                  <a:pt x="98" y="48"/>
                </a:lnTo>
                <a:lnTo>
                  <a:pt x="82" y="39"/>
                </a:lnTo>
                <a:lnTo>
                  <a:pt x="65" y="33"/>
                </a:lnTo>
                <a:lnTo>
                  <a:pt x="49" y="27"/>
                </a:lnTo>
                <a:lnTo>
                  <a:pt x="33" y="23"/>
                </a:lnTo>
                <a:lnTo>
                  <a:pt x="16" y="20"/>
                </a:lnTo>
                <a:lnTo>
                  <a:pt x="0" y="19"/>
                </a:lnTo>
                <a:close/>
              </a:path>
            </a:pathLst>
          </a:custGeom>
          <a:solidFill>
            <a:srgbClr val="2A5F8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Freeform 14"/>
          <p:cNvSpPr/>
          <p:nvPr/>
        </p:nvSpPr>
        <p:spPr>
          <a:xfrm>
            <a:off x="2057400" y="4248150"/>
            <a:ext cx="3743325" cy="1038225"/>
          </a:xfrm>
          <a:custGeom>
            <a:avLst/>
            <a:gdLst/>
            <a:ahLst/>
            <a:cxnLst/>
            <a:rect l="l" t="t" r="r" b="b"/>
            <a:pathLst>
              <a:path w="393" h="109">
                <a:moveTo>
                  <a:pt x="0" y="22"/>
                </a:moveTo>
                <a:lnTo>
                  <a:pt x="16" y="22"/>
                </a:lnTo>
                <a:lnTo>
                  <a:pt x="33" y="22"/>
                </a:lnTo>
                <a:lnTo>
                  <a:pt x="49" y="21"/>
                </a:lnTo>
                <a:lnTo>
                  <a:pt x="65" y="20"/>
                </a:lnTo>
                <a:lnTo>
                  <a:pt x="82" y="20"/>
                </a:lnTo>
                <a:lnTo>
                  <a:pt x="98" y="19"/>
                </a:lnTo>
                <a:lnTo>
                  <a:pt x="114" y="17"/>
                </a:lnTo>
                <a:lnTo>
                  <a:pt x="131" y="16"/>
                </a:lnTo>
                <a:lnTo>
                  <a:pt x="147" y="15"/>
                </a:lnTo>
                <a:lnTo>
                  <a:pt x="164" y="14"/>
                </a:lnTo>
                <a:lnTo>
                  <a:pt x="180" y="12"/>
                </a:lnTo>
                <a:lnTo>
                  <a:pt x="196" y="11"/>
                </a:lnTo>
                <a:lnTo>
                  <a:pt x="213" y="10"/>
                </a:lnTo>
                <a:lnTo>
                  <a:pt x="229" y="8"/>
                </a:lnTo>
                <a:lnTo>
                  <a:pt x="246" y="7"/>
                </a:lnTo>
                <a:lnTo>
                  <a:pt x="262" y="6"/>
                </a:lnTo>
                <a:lnTo>
                  <a:pt x="278" y="4"/>
                </a:lnTo>
                <a:lnTo>
                  <a:pt x="295" y="3"/>
                </a:lnTo>
                <a:lnTo>
                  <a:pt x="311" y="2"/>
                </a:lnTo>
                <a:lnTo>
                  <a:pt x="327" y="2"/>
                </a:lnTo>
                <a:lnTo>
                  <a:pt x="344" y="1"/>
                </a:lnTo>
                <a:lnTo>
                  <a:pt x="360" y="0"/>
                </a:lnTo>
                <a:lnTo>
                  <a:pt x="377" y="0"/>
                </a:lnTo>
                <a:lnTo>
                  <a:pt x="393" y="0"/>
                </a:lnTo>
                <a:lnTo>
                  <a:pt x="393" y="87"/>
                </a:lnTo>
                <a:lnTo>
                  <a:pt x="377" y="87"/>
                </a:lnTo>
                <a:lnTo>
                  <a:pt x="360" y="87"/>
                </a:lnTo>
                <a:lnTo>
                  <a:pt x="344" y="88"/>
                </a:lnTo>
                <a:lnTo>
                  <a:pt x="327" y="88"/>
                </a:lnTo>
                <a:lnTo>
                  <a:pt x="311" y="89"/>
                </a:lnTo>
                <a:lnTo>
                  <a:pt x="295" y="90"/>
                </a:lnTo>
                <a:lnTo>
                  <a:pt x="278" y="91"/>
                </a:lnTo>
                <a:lnTo>
                  <a:pt x="262" y="92"/>
                </a:lnTo>
                <a:lnTo>
                  <a:pt x="246" y="94"/>
                </a:lnTo>
                <a:lnTo>
                  <a:pt x="229" y="95"/>
                </a:lnTo>
                <a:lnTo>
                  <a:pt x="213" y="96"/>
                </a:lnTo>
                <a:lnTo>
                  <a:pt x="196" y="98"/>
                </a:lnTo>
                <a:lnTo>
                  <a:pt x="180" y="99"/>
                </a:lnTo>
                <a:lnTo>
                  <a:pt x="164" y="101"/>
                </a:lnTo>
                <a:lnTo>
                  <a:pt x="147" y="102"/>
                </a:lnTo>
                <a:lnTo>
                  <a:pt x="131" y="103"/>
                </a:lnTo>
                <a:lnTo>
                  <a:pt x="114" y="104"/>
                </a:lnTo>
                <a:lnTo>
                  <a:pt x="98" y="105"/>
                </a:lnTo>
                <a:lnTo>
                  <a:pt x="82" y="106"/>
                </a:lnTo>
                <a:lnTo>
                  <a:pt x="65" y="107"/>
                </a:lnTo>
                <a:lnTo>
                  <a:pt x="49" y="108"/>
                </a:lnTo>
                <a:lnTo>
                  <a:pt x="33" y="108"/>
                </a:lnTo>
                <a:lnTo>
                  <a:pt x="16" y="109"/>
                </a:lnTo>
                <a:lnTo>
                  <a:pt x="0" y="109"/>
                </a:lnTo>
                <a:close/>
              </a:path>
            </a:pathLst>
          </a:custGeom>
          <a:solidFill>
            <a:srgbClr val="0081E2">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Freeform 15"/>
          <p:cNvSpPr/>
          <p:nvPr/>
        </p:nvSpPr>
        <p:spPr>
          <a:xfrm>
            <a:off x="2057400" y="5286375"/>
            <a:ext cx="3743325" cy="1038225"/>
          </a:xfrm>
          <a:custGeom>
            <a:avLst/>
            <a:gdLst/>
            <a:ahLst/>
            <a:cxnLst/>
            <a:rect l="l" t="t" r="r" b="b"/>
            <a:pathLst>
              <a:path w="393" h="109">
                <a:moveTo>
                  <a:pt x="0" y="0"/>
                </a:moveTo>
                <a:lnTo>
                  <a:pt x="16" y="0"/>
                </a:lnTo>
                <a:lnTo>
                  <a:pt x="33" y="2"/>
                </a:lnTo>
                <a:lnTo>
                  <a:pt x="49" y="4"/>
                </a:lnTo>
                <a:lnTo>
                  <a:pt x="65" y="7"/>
                </a:lnTo>
                <a:lnTo>
                  <a:pt x="82" y="10"/>
                </a:lnTo>
                <a:lnTo>
                  <a:pt x="98" y="14"/>
                </a:lnTo>
                <a:lnTo>
                  <a:pt x="114" y="18"/>
                </a:lnTo>
                <a:lnTo>
                  <a:pt x="131" y="23"/>
                </a:lnTo>
                <a:lnTo>
                  <a:pt x="147" y="28"/>
                </a:lnTo>
                <a:lnTo>
                  <a:pt x="164" y="34"/>
                </a:lnTo>
                <a:lnTo>
                  <a:pt x="180" y="39"/>
                </a:lnTo>
                <a:lnTo>
                  <a:pt x="196" y="45"/>
                </a:lnTo>
                <a:lnTo>
                  <a:pt x="213" y="50"/>
                </a:lnTo>
                <a:lnTo>
                  <a:pt x="229" y="56"/>
                </a:lnTo>
                <a:lnTo>
                  <a:pt x="246" y="61"/>
                </a:lnTo>
                <a:lnTo>
                  <a:pt x="262" y="66"/>
                </a:lnTo>
                <a:lnTo>
                  <a:pt x="278" y="71"/>
                </a:lnTo>
                <a:lnTo>
                  <a:pt x="295" y="76"/>
                </a:lnTo>
                <a:lnTo>
                  <a:pt x="311" y="80"/>
                </a:lnTo>
                <a:lnTo>
                  <a:pt x="327" y="83"/>
                </a:lnTo>
                <a:lnTo>
                  <a:pt x="344" y="86"/>
                </a:lnTo>
                <a:lnTo>
                  <a:pt x="360" y="88"/>
                </a:lnTo>
                <a:lnTo>
                  <a:pt x="377" y="89"/>
                </a:lnTo>
                <a:lnTo>
                  <a:pt x="393" y="90"/>
                </a:lnTo>
                <a:lnTo>
                  <a:pt x="393" y="109"/>
                </a:lnTo>
                <a:lnTo>
                  <a:pt x="377" y="108"/>
                </a:lnTo>
                <a:lnTo>
                  <a:pt x="360" y="107"/>
                </a:lnTo>
                <a:lnTo>
                  <a:pt x="344" y="105"/>
                </a:lnTo>
                <a:lnTo>
                  <a:pt x="327" y="102"/>
                </a:lnTo>
                <a:lnTo>
                  <a:pt x="311" y="99"/>
                </a:lnTo>
                <a:lnTo>
                  <a:pt x="295" y="95"/>
                </a:lnTo>
                <a:lnTo>
                  <a:pt x="278" y="90"/>
                </a:lnTo>
                <a:lnTo>
                  <a:pt x="262" y="86"/>
                </a:lnTo>
                <a:lnTo>
                  <a:pt x="246" y="80"/>
                </a:lnTo>
                <a:lnTo>
                  <a:pt x="229" y="75"/>
                </a:lnTo>
                <a:lnTo>
                  <a:pt x="213" y="70"/>
                </a:lnTo>
                <a:lnTo>
                  <a:pt x="196" y="64"/>
                </a:lnTo>
                <a:lnTo>
                  <a:pt x="180" y="58"/>
                </a:lnTo>
                <a:lnTo>
                  <a:pt x="164" y="53"/>
                </a:lnTo>
                <a:lnTo>
                  <a:pt x="147" y="47"/>
                </a:lnTo>
                <a:lnTo>
                  <a:pt x="131" y="42"/>
                </a:lnTo>
                <a:lnTo>
                  <a:pt x="114" y="37"/>
                </a:lnTo>
                <a:lnTo>
                  <a:pt x="98" y="33"/>
                </a:lnTo>
                <a:lnTo>
                  <a:pt x="82" y="29"/>
                </a:lnTo>
                <a:lnTo>
                  <a:pt x="65" y="26"/>
                </a:lnTo>
                <a:lnTo>
                  <a:pt x="49" y="23"/>
                </a:lnTo>
                <a:lnTo>
                  <a:pt x="33" y="21"/>
                </a:lnTo>
                <a:lnTo>
                  <a:pt x="16" y="19"/>
                </a:lnTo>
                <a:lnTo>
                  <a:pt x="0" y="19"/>
                </a:lnTo>
                <a:close/>
              </a:path>
            </a:pathLst>
          </a:custGeom>
          <a:solidFill>
            <a:srgbClr val="0081E2">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Freeform 16"/>
          <p:cNvSpPr/>
          <p:nvPr/>
        </p:nvSpPr>
        <p:spPr>
          <a:xfrm>
            <a:off x="2057400" y="5076825"/>
            <a:ext cx="3743325" cy="1276350"/>
          </a:xfrm>
          <a:custGeom>
            <a:avLst/>
            <a:gdLst/>
            <a:ahLst/>
            <a:cxnLst/>
            <a:rect l="l" t="t" r="r" b="b"/>
            <a:pathLst>
              <a:path w="393" h="134">
                <a:moveTo>
                  <a:pt x="0" y="47"/>
                </a:moveTo>
                <a:lnTo>
                  <a:pt x="16" y="47"/>
                </a:lnTo>
                <a:lnTo>
                  <a:pt x="33" y="46"/>
                </a:lnTo>
                <a:lnTo>
                  <a:pt x="49" y="45"/>
                </a:lnTo>
                <a:lnTo>
                  <a:pt x="65" y="43"/>
                </a:lnTo>
                <a:lnTo>
                  <a:pt x="82" y="42"/>
                </a:lnTo>
                <a:lnTo>
                  <a:pt x="98" y="40"/>
                </a:lnTo>
                <a:lnTo>
                  <a:pt x="114" y="37"/>
                </a:lnTo>
                <a:lnTo>
                  <a:pt x="131" y="35"/>
                </a:lnTo>
                <a:lnTo>
                  <a:pt x="147" y="32"/>
                </a:lnTo>
                <a:lnTo>
                  <a:pt x="164" y="29"/>
                </a:lnTo>
                <a:lnTo>
                  <a:pt x="180" y="26"/>
                </a:lnTo>
                <a:lnTo>
                  <a:pt x="196" y="23"/>
                </a:lnTo>
                <a:lnTo>
                  <a:pt x="213" y="20"/>
                </a:lnTo>
                <a:lnTo>
                  <a:pt x="229" y="18"/>
                </a:lnTo>
                <a:lnTo>
                  <a:pt x="246" y="15"/>
                </a:lnTo>
                <a:lnTo>
                  <a:pt x="262" y="12"/>
                </a:lnTo>
                <a:lnTo>
                  <a:pt x="278" y="9"/>
                </a:lnTo>
                <a:lnTo>
                  <a:pt x="295" y="7"/>
                </a:lnTo>
                <a:lnTo>
                  <a:pt x="311" y="5"/>
                </a:lnTo>
                <a:lnTo>
                  <a:pt x="327" y="3"/>
                </a:lnTo>
                <a:lnTo>
                  <a:pt x="344" y="2"/>
                </a:lnTo>
                <a:lnTo>
                  <a:pt x="360" y="1"/>
                </a:lnTo>
                <a:lnTo>
                  <a:pt x="377" y="0"/>
                </a:lnTo>
                <a:lnTo>
                  <a:pt x="393" y="0"/>
                </a:lnTo>
                <a:lnTo>
                  <a:pt x="393" y="87"/>
                </a:lnTo>
                <a:lnTo>
                  <a:pt x="377" y="87"/>
                </a:lnTo>
                <a:lnTo>
                  <a:pt x="360" y="88"/>
                </a:lnTo>
                <a:lnTo>
                  <a:pt x="344" y="89"/>
                </a:lnTo>
                <a:lnTo>
                  <a:pt x="327" y="90"/>
                </a:lnTo>
                <a:lnTo>
                  <a:pt x="311" y="92"/>
                </a:lnTo>
                <a:lnTo>
                  <a:pt x="295" y="94"/>
                </a:lnTo>
                <a:lnTo>
                  <a:pt x="278" y="96"/>
                </a:lnTo>
                <a:lnTo>
                  <a:pt x="262" y="99"/>
                </a:lnTo>
                <a:lnTo>
                  <a:pt x="246" y="102"/>
                </a:lnTo>
                <a:lnTo>
                  <a:pt x="229" y="104"/>
                </a:lnTo>
                <a:lnTo>
                  <a:pt x="213" y="107"/>
                </a:lnTo>
                <a:lnTo>
                  <a:pt x="196" y="110"/>
                </a:lnTo>
                <a:lnTo>
                  <a:pt x="180" y="113"/>
                </a:lnTo>
                <a:lnTo>
                  <a:pt x="164" y="116"/>
                </a:lnTo>
                <a:lnTo>
                  <a:pt x="147" y="119"/>
                </a:lnTo>
                <a:lnTo>
                  <a:pt x="131" y="122"/>
                </a:lnTo>
                <a:lnTo>
                  <a:pt x="114" y="124"/>
                </a:lnTo>
                <a:lnTo>
                  <a:pt x="98" y="126"/>
                </a:lnTo>
                <a:lnTo>
                  <a:pt x="82" y="129"/>
                </a:lnTo>
                <a:lnTo>
                  <a:pt x="65" y="130"/>
                </a:lnTo>
                <a:lnTo>
                  <a:pt x="49" y="132"/>
                </a:lnTo>
                <a:lnTo>
                  <a:pt x="33" y="133"/>
                </a:lnTo>
                <a:lnTo>
                  <a:pt x="16" y="134"/>
                </a:lnTo>
                <a:lnTo>
                  <a:pt x="0" y="134"/>
                </a:lnTo>
                <a:close/>
              </a:path>
            </a:pathLst>
          </a:custGeom>
          <a:solidFill>
            <a:srgbClr val="0E2A5C">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Freeform 17"/>
          <p:cNvSpPr/>
          <p:nvPr/>
        </p:nvSpPr>
        <p:spPr>
          <a:xfrm>
            <a:off x="2057400" y="6324600"/>
            <a:ext cx="3743325" cy="209550"/>
          </a:xfrm>
          <a:custGeom>
            <a:avLst/>
            <a:gdLst/>
            <a:ahLst/>
            <a:cxnLst/>
            <a:rect l="l" t="t" r="r" b="b"/>
            <a:pathLst>
              <a:path w="393" h="22">
                <a:moveTo>
                  <a:pt x="0" y="3"/>
                </a:moveTo>
                <a:lnTo>
                  <a:pt x="16" y="3"/>
                </a:lnTo>
                <a:lnTo>
                  <a:pt x="33" y="3"/>
                </a:lnTo>
                <a:lnTo>
                  <a:pt x="49" y="3"/>
                </a:lnTo>
                <a:lnTo>
                  <a:pt x="65" y="3"/>
                </a:lnTo>
                <a:lnTo>
                  <a:pt x="82" y="3"/>
                </a:lnTo>
                <a:lnTo>
                  <a:pt x="98" y="2"/>
                </a:lnTo>
                <a:lnTo>
                  <a:pt x="114" y="2"/>
                </a:lnTo>
                <a:lnTo>
                  <a:pt x="131" y="2"/>
                </a:lnTo>
                <a:lnTo>
                  <a:pt x="147" y="2"/>
                </a:lnTo>
                <a:lnTo>
                  <a:pt x="164" y="2"/>
                </a:lnTo>
                <a:lnTo>
                  <a:pt x="180" y="2"/>
                </a:lnTo>
                <a:lnTo>
                  <a:pt x="196" y="1"/>
                </a:lnTo>
                <a:lnTo>
                  <a:pt x="213" y="1"/>
                </a:lnTo>
                <a:lnTo>
                  <a:pt x="229" y="1"/>
                </a:lnTo>
                <a:lnTo>
                  <a:pt x="246" y="1"/>
                </a:lnTo>
                <a:lnTo>
                  <a:pt x="262" y="1"/>
                </a:lnTo>
                <a:lnTo>
                  <a:pt x="278" y="0"/>
                </a:lnTo>
                <a:lnTo>
                  <a:pt x="295" y="0"/>
                </a:lnTo>
                <a:lnTo>
                  <a:pt x="311" y="0"/>
                </a:lnTo>
                <a:lnTo>
                  <a:pt x="327" y="0"/>
                </a:lnTo>
                <a:lnTo>
                  <a:pt x="344" y="0"/>
                </a:lnTo>
                <a:lnTo>
                  <a:pt x="360" y="0"/>
                </a:lnTo>
                <a:lnTo>
                  <a:pt x="377" y="0"/>
                </a:lnTo>
                <a:lnTo>
                  <a:pt x="393" y="0"/>
                </a:lnTo>
                <a:lnTo>
                  <a:pt x="393" y="19"/>
                </a:lnTo>
                <a:lnTo>
                  <a:pt x="377" y="19"/>
                </a:lnTo>
                <a:lnTo>
                  <a:pt x="360" y="19"/>
                </a:lnTo>
                <a:lnTo>
                  <a:pt x="344" y="19"/>
                </a:lnTo>
                <a:lnTo>
                  <a:pt x="327" y="19"/>
                </a:lnTo>
                <a:lnTo>
                  <a:pt x="311" y="19"/>
                </a:lnTo>
                <a:lnTo>
                  <a:pt x="295" y="19"/>
                </a:lnTo>
                <a:lnTo>
                  <a:pt x="278" y="20"/>
                </a:lnTo>
                <a:lnTo>
                  <a:pt x="262" y="20"/>
                </a:lnTo>
                <a:lnTo>
                  <a:pt x="246" y="20"/>
                </a:lnTo>
                <a:lnTo>
                  <a:pt x="229" y="20"/>
                </a:lnTo>
                <a:lnTo>
                  <a:pt x="213" y="20"/>
                </a:lnTo>
                <a:lnTo>
                  <a:pt x="196" y="20"/>
                </a:lnTo>
                <a:lnTo>
                  <a:pt x="180" y="21"/>
                </a:lnTo>
                <a:lnTo>
                  <a:pt x="164" y="21"/>
                </a:lnTo>
                <a:lnTo>
                  <a:pt x="147" y="21"/>
                </a:lnTo>
                <a:lnTo>
                  <a:pt x="131" y="21"/>
                </a:lnTo>
                <a:lnTo>
                  <a:pt x="114" y="21"/>
                </a:lnTo>
                <a:lnTo>
                  <a:pt x="98" y="22"/>
                </a:lnTo>
                <a:lnTo>
                  <a:pt x="82" y="22"/>
                </a:lnTo>
                <a:lnTo>
                  <a:pt x="65" y="22"/>
                </a:lnTo>
                <a:lnTo>
                  <a:pt x="49" y="22"/>
                </a:lnTo>
                <a:lnTo>
                  <a:pt x="33" y="22"/>
                </a:lnTo>
                <a:lnTo>
                  <a:pt x="16" y="22"/>
                </a:lnTo>
                <a:lnTo>
                  <a:pt x="0" y="22"/>
                </a:lnTo>
                <a:close/>
              </a:path>
            </a:pathLst>
          </a:custGeom>
          <a:solidFill>
            <a:srgbClr val="0E2A5C">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941195" y="3390900"/>
            <a:ext cx="114300" cy="10096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941195" y="4457700"/>
            <a:ext cx="114300" cy="1009650"/>
          </a:xfrm>
          <a:prstGeom prst="rect">
            <a:avLst/>
          </a:prstGeom>
          <a:solidFill>
            <a:srgbClr val="0081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941195" y="5524500"/>
            <a:ext cx="114300" cy="1009650"/>
          </a:xfrm>
          <a:prstGeom prst="rect">
            <a:avLst/>
          </a:prstGeom>
          <a:solidFill>
            <a:srgbClr val="0E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800725" y="3419475"/>
            <a:ext cx="114300" cy="2482310"/>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800725" y="5958935"/>
            <a:ext cx="114300" cy="546640"/>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57175" y="3824288"/>
            <a:ext cx="1626870" cy="142875"/>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25" name="TextBox 24"/>
          <p:cNvSpPr txBox="1"/>
          <p:nvPr/>
        </p:nvSpPr>
        <p:spPr>
          <a:xfrm>
            <a:off x="257175" y="4838700"/>
            <a:ext cx="1626870" cy="247650"/>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26" name="TextBox 25"/>
          <p:cNvSpPr txBox="1"/>
          <p:nvPr/>
        </p:nvSpPr>
        <p:spPr>
          <a:xfrm>
            <a:off x="257175" y="5957888"/>
            <a:ext cx="1626870" cy="142875"/>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27" name="TextBox 26"/>
          <p:cNvSpPr txBox="1"/>
          <p:nvPr/>
        </p:nvSpPr>
        <p:spPr>
          <a:xfrm>
            <a:off x="5972175" y="4536805"/>
            <a:ext cx="1381125" cy="247650"/>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28" name="TextBox 27"/>
          <p:cNvSpPr txBox="1"/>
          <p:nvPr/>
        </p:nvSpPr>
        <p:spPr>
          <a:xfrm>
            <a:off x="5972175" y="6108430"/>
            <a:ext cx="1381125" cy="247650"/>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29" name="Rounded Rectangle 28"/>
          <p:cNvSpPr/>
          <p:nvPr/>
        </p:nvSpPr>
        <p:spPr>
          <a:xfrm>
            <a:off x="7581900" y="3067050"/>
            <a:ext cx="4457700" cy="3562350"/>
          </a:xfrm>
          <a:prstGeom prst="roundRect">
            <a:avLst>
              <a:gd name="adj" fmla="val 213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715250" y="3152775"/>
            <a:ext cx="4191000" cy="209550"/>
          </a:xfrm>
          <a:prstGeom prst="rect">
            <a:avLst/>
          </a:prstGeom>
          <a:noFill/>
        </p:spPr>
        <p:txBody>
          <a:bodyPr wrap="square" lIns="0" rIns="19050" tIns="9525" bIns="9525">
            <a:spAutoFit/>
          </a:bodyPr>
          <a:lstStyle/>
          <a:p>
            <a:pPr algn="l"/>
            <a:r>
              <a:rPr sz="1300" b="1">
                <a:solidFill>
                  <a:srgbClr val="0E2A5C"/>
                </a:solidFill>
                <a:latin typeface="Calibri"/>
              </a:rPr>
              <a:t>Key Findings</a:t>
            </a:r>
          </a:p>
        </p:txBody>
      </p:sp>
      <p:sp>
        <p:nvSpPr>
          <p:cNvPr id="31" name="Rectangle 30"/>
          <p:cNvSpPr/>
          <p:nvPr/>
        </p:nvSpPr>
        <p:spPr>
          <a:xfrm>
            <a:off x="7715250" y="3390900"/>
            <a:ext cx="419100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715250" y="3476625"/>
            <a:ext cx="4191000" cy="307657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33" name="Rectangle 32"/>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35" name="Picture 34" descr="lock.png"/>
          <p:cNvPicPr>
            <a:picLocks noChangeAspect="1"/>
          </p:cNvPicPr>
          <p:nvPr/>
        </p:nvPicPr>
        <p:blipFill>
          <a:blip r:embed="rId4"/>
          <a:stretch>
            <a:fillRect/>
          </a:stretch>
        </p:blipFill>
        <p:spPr>
          <a:xfrm>
            <a:off x="8462761" y="1961541"/>
            <a:ext cx="366712" cy="533400"/>
          </a:xfrm>
          <a:prstGeom prst="rect">
            <a:avLst/>
          </a:prstGeom>
        </p:spPr>
      </p:pic>
      <p:sp>
        <p:nvSpPr>
          <p:cNvPr id="36" name="TextBox 35"/>
          <p:cNvSpPr txBox="1"/>
          <p:nvPr/>
        </p:nvSpPr>
        <p:spPr>
          <a:xfrm>
            <a:off x="432554" y="3835375"/>
            <a:ext cx="1397740" cy="139750"/>
          </a:xfrm>
          <a:prstGeom prst="rect">
            <a:avLst/>
          </a:prstGeom>
          <a:noFill/>
        </p:spPr>
        <p:txBody>
          <a:bodyPr wrap="none" lIns="0" rIns="0" tIns="0" bIns="0">
            <a:spAutoFit/>
          </a:bodyPr>
          <a:lstStyle/>
          <a:p>
            <a:r>
              <a:rPr sz="791" b="1">
                <a:solidFill>
                  <a:srgbClr val="2E2E2E"/>
                </a:solidFill>
                <a:latin typeface="Calibri"/>
              </a:rPr>
              <a:t>Hydrolyzed Eggshell Membrane</a:t>
            </a:r>
          </a:p>
        </p:txBody>
      </p:sp>
      <p:pic>
        <p:nvPicPr>
          <p:cNvPr id="37" name="Picture 36" descr="lock.png"/>
          <p:cNvPicPr>
            <a:picLocks noChangeAspect="1"/>
          </p:cNvPicPr>
          <p:nvPr/>
        </p:nvPicPr>
        <p:blipFill>
          <a:blip r:embed="rId4"/>
          <a:stretch>
            <a:fillRect/>
          </a:stretch>
        </p:blipFill>
        <p:spPr>
          <a:xfrm>
            <a:off x="1771555" y="3828334"/>
            <a:ext cx="92663" cy="134782"/>
          </a:xfrm>
          <a:prstGeom prst="rect">
            <a:avLst/>
          </a:prstGeom>
        </p:spPr>
      </p:pic>
      <p:sp>
        <p:nvSpPr>
          <p:cNvPr id="38" name="TextBox 37"/>
          <p:cNvSpPr txBox="1"/>
          <p:nvPr/>
        </p:nvSpPr>
        <p:spPr>
          <a:xfrm>
            <a:off x="333642" y="4841824"/>
            <a:ext cx="1531352" cy="139750"/>
          </a:xfrm>
          <a:prstGeom prst="rect">
            <a:avLst/>
          </a:prstGeom>
          <a:noFill/>
        </p:spPr>
        <p:txBody>
          <a:bodyPr wrap="none" lIns="0" rIns="0" tIns="0" bIns="0">
            <a:spAutoFit/>
          </a:bodyPr>
          <a:lstStyle/>
          <a:p>
            <a:r>
              <a:rPr sz="791" b="1">
                <a:solidFill>
                  <a:srgbClr val="2E2E2E"/>
                </a:solidFill>
                <a:latin typeface="Calibri"/>
              </a:rPr>
              <a:t>Specialty Extracted Protein Fractions</a:t>
            </a:r>
          </a:p>
        </p:txBody>
      </p:sp>
      <p:pic>
        <p:nvPicPr>
          <p:cNvPr id="39" name="Picture 38" descr="lock.png"/>
          <p:cNvPicPr>
            <a:picLocks noChangeAspect="1"/>
          </p:cNvPicPr>
          <p:nvPr/>
        </p:nvPicPr>
        <p:blipFill>
          <a:blip r:embed="rId4"/>
          <a:stretch>
            <a:fillRect/>
          </a:stretch>
        </p:blipFill>
        <p:spPr>
          <a:xfrm>
            <a:off x="1771555" y="4955484"/>
            <a:ext cx="92663" cy="134782"/>
          </a:xfrm>
          <a:prstGeom prst="rect">
            <a:avLst/>
          </a:prstGeom>
        </p:spPr>
      </p:pic>
      <p:sp>
        <p:nvSpPr>
          <p:cNvPr id="40" name="TextBox 39"/>
          <p:cNvSpPr txBox="1"/>
          <p:nvPr/>
        </p:nvSpPr>
        <p:spPr>
          <a:xfrm>
            <a:off x="436679" y="5968975"/>
            <a:ext cx="1393614" cy="139750"/>
          </a:xfrm>
          <a:prstGeom prst="rect">
            <a:avLst/>
          </a:prstGeom>
          <a:noFill/>
        </p:spPr>
        <p:txBody>
          <a:bodyPr wrap="none" lIns="0" rIns="0" tIns="0" bIns="0">
            <a:spAutoFit/>
          </a:bodyPr>
          <a:lstStyle/>
          <a:p>
            <a:r>
              <a:rPr sz="791" b="1">
                <a:solidFill>
                  <a:srgbClr val="2E2E2E"/>
                </a:solidFill>
                <a:latin typeface="Calibri"/>
              </a:rPr>
              <a:t>Micronized Eggshell Membrane</a:t>
            </a:r>
          </a:p>
        </p:txBody>
      </p:sp>
      <p:pic>
        <p:nvPicPr>
          <p:cNvPr id="41" name="Picture 40" descr="lock.png"/>
          <p:cNvPicPr>
            <a:picLocks noChangeAspect="1"/>
          </p:cNvPicPr>
          <p:nvPr/>
        </p:nvPicPr>
        <p:blipFill>
          <a:blip r:embed="rId4"/>
          <a:stretch>
            <a:fillRect/>
          </a:stretch>
        </p:blipFill>
        <p:spPr>
          <a:xfrm>
            <a:off x="1771555" y="5961934"/>
            <a:ext cx="92663" cy="134782"/>
          </a:xfrm>
          <a:prstGeom prst="rect">
            <a:avLst/>
          </a:prstGeom>
        </p:spPr>
      </p:pic>
      <p:sp>
        <p:nvSpPr>
          <p:cNvPr id="42" name="TextBox 41"/>
          <p:cNvSpPr txBox="1"/>
          <p:nvPr/>
        </p:nvSpPr>
        <p:spPr>
          <a:xfrm>
            <a:off x="5972175" y="4539929"/>
            <a:ext cx="1252561" cy="139750"/>
          </a:xfrm>
          <a:prstGeom prst="rect">
            <a:avLst/>
          </a:prstGeom>
          <a:noFill/>
        </p:spPr>
        <p:txBody>
          <a:bodyPr wrap="none" lIns="0" rIns="0" tIns="0" bIns="0">
            <a:spAutoFit/>
          </a:bodyPr>
          <a:lstStyle/>
          <a:p>
            <a:r>
              <a:rPr sz="791" b="1">
                <a:solidFill>
                  <a:srgbClr val="2E2E2E"/>
                </a:solidFill>
                <a:latin typeface="Calibri"/>
              </a:rPr>
              <a:t>Chicken Eggshell Membrane</a:t>
            </a:r>
          </a:p>
        </p:txBody>
      </p:sp>
      <p:pic>
        <p:nvPicPr>
          <p:cNvPr id="43" name="Picture 42" descr="lock.png"/>
          <p:cNvPicPr>
            <a:picLocks noChangeAspect="1"/>
          </p:cNvPicPr>
          <p:nvPr/>
        </p:nvPicPr>
        <p:blipFill>
          <a:blip r:embed="rId4"/>
          <a:stretch>
            <a:fillRect/>
          </a:stretch>
        </p:blipFill>
        <p:spPr>
          <a:xfrm>
            <a:off x="5962478" y="4653589"/>
            <a:ext cx="92663" cy="134782"/>
          </a:xfrm>
          <a:prstGeom prst="rect">
            <a:avLst/>
          </a:prstGeom>
        </p:spPr>
      </p:pic>
      <p:sp>
        <p:nvSpPr>
          <p:cNvPr id="44" name="TextBox 43"/>
          <p:cNvSpPr txBox="1"/>
          <p:nvPr/>
        </p:nvSpPr>
        <p:spPr>
          <a:xfrm>
            <a:off x="5972175" y="6111554"/>
            <a:ext cx="1008959" cy="139750"/>
          </a:xfrm>
          <a:prstGeom prst="rect">
            <a:avLst/>
          </a:prstGeom>
          <a:noFill/>
        </p:spPr>
        <p:txBody>
          <a:bodyPr wrap="none" lIns="0" rIns="0" tIns="0" bIns="0">
            <a:spAutoFit/>
          </a:bodyPr>
          <a:lstStyle/>
          <a:p>
            <a:r>
              <a:rPr sz="791" b="1">
                <a:solidFill>
                  <a:srgbClr val="2E2E2E"/>
                </a:solidFill>
                <a:latin typeface="Calibri"/>
              </a:rPr>
              <a:t>Other Poultry Eggshell</a:t>
            </a:r>
          </a:p>
        </p:txBody>
      </p:sp>
      <p:sp>
        <p:nvSpPr>
          <p:cNvPr id="45" name="TextBox 44"/>
          <p:cNvSpPr txBox="1"/>
          <p:nvPr/>
        </p:nvSpPr>
        <p:spPr>
          <a:xfrm>
            <a:off x="5972175" y="6232255"/>
            <a:ext cx="541008" cy="139750"/>
          </a:xfrm>
          <a:prstGeom prst="rect">
            <a:avLst/>
          </a:prstGeom>
          <a:noFill/>
        </p:spPr>
        <p:txBody>
          <a:bodyPr wrap="none" lIns="0" rIns="0" tIns="0" bIns="0">
            <a:spAutoFit/>
          </a:bodyPr>
          <a:lstStyle/>
          <a:p>
            <a:r>
              <a:rPr sz="791" b="1">
                <a:solidFill>
                  <a:srgbClr val="2E2E2E"/>
                </a:solidFill>
                <a:latin typeface="Calibri"/>
              </a:rPr>
              <a:t>Membrane</a:t>
            </a:r>
          </a:p>
        </p:txBody>
      </p:sp>
      <p:pic>
        <p:nvPicPr>
          <p:cNvPr id="46" name="Picture 45" descr="lock.png"/>
          <p:cNvPicPr>
            <a:picLocks noChangeAspect="1"/>
          </p:cNvPicPr>
          <p:nvPr/>
        </p:nvPicPr>
        <p:blipFill>
          <a:blip r:embed="rId4"/>
          <a:stretch>
            <a:fillRect/>
          </a:stretch>
        </p:blipFill>
        <p:spPr>
          <a:xfrm>
            <a:off x="6454444" y="6225214"/>
            <a:ext cx="92663" cy="134782"/>
          </a:xfrm>
          <a:prstGeom prst="rect">
            <a:avLst/>
          </a:prstGeom>
        </p:spPr>
      </p:pic>
      <p:sp>
        <p:nvSpPr>
          <p:cNvPr id="47" name="TextBox 46"/>
          <p:cNvSpPr txBox="1"/>
          <p:nvPr/>
        </p:nvSpPr>
        <p:spPr>
          <a:xfrm>
            <a:off x="7715250" y="3486150"/>
            <a:ext cx="4096568" cy="194310"/>
          </a:xfrm>
          <a:prstGeom prst="rect">
            <a:avLst/>
          </a:prstGeom>
          <a:noFill/>
        </p:spPr>
        <p:txBody>
          <a:bodyPr wrap="none" lIns="0" rIns="0" tIns="0" bIns="0">
            <a:spAutoFit/>
          </a:bodyPr>
          <a:lstStyle/>
          <a:p>
            <a:r>
              <a:rPr sz="1150" b="0">
                <a:solidFill>
                  <a:srgbClr val="2E2E2E"/>
                </a:solidFill>
                <a:latin typeface="Calibri"/>
              </a:rPr>
              <a:t>Hydrolyzed eggshell membrane segment is projected to account for</a:t>
            </a:r>
          </a:p>
        </p:txBody>
      </p:sp>
      <p:sp>
        <p:nvSpPr>
          <p:cNvPr id="48" name="TextBox 47"/>
          <p:cNvSpPr txBox="1"/>
          <p:nvPr/>
        </p:nvSpPr>
        <p:spPr>
          <a:xfrm>
            <a:off x="7715250" y="3661410"/>
            <a:ext cx="4137074" cy="194310"/>
          </a:xfrm>
          <a:prstGeom prst="rect">
            <a:avLst/>
          </a:prstGeom>
          <a:noFill/>
        </p:spPr>
        <p:txBody>
          <a:bodyPr wrap="none" lIns="0" rIns="0" tIns="0" bIns="0">
            <a:spAutoFit/>
          </a:bodyPr>
          <a:lstStyle/>
          <a:p>
            <a:r>
              <a:rPr sz="1150" b="0">
                <a:solidFill>
                  <a:srgbClr val="2E2E2E"/>
                </a:solidFill>
                <a:latin typeface="Calibri"/>
              </a:rPr>
              <a:t>the largest share of the global egg protein membrane market, led by</a:t>
            </a:r>
          </a:p>
        </p:txBody>
      </p:sp>
      <p:sp>
        <p:nvSpPr>
          <p:cNvPr id="49" name="TextBox 48"/>
          <p:cNvSpPr txBox="1"/>
          <p:nvPr/>
        </p:nvSpPr>
        <p:spPr>
          <a:xfrm>
            <a:off x="7715250" y="3836669"/>
            <a:ext cx="2149995" cy="194310"/>
          </a:xfrm>
          <a:prstGeom prst="rect">
            <a:avLst/>
          </a:prstGeom>
          <a:noFill/>
        </p:spPr>
        <p:txBody>
          <a:bodyPr wrap="none" lIns="0" rIns="0" tIns="0" bIns="0">
            <a:spAutoFit/>
          </a:bodyPr>
          <a:lstStyle/>
          <a:p>
            <a:r>
              <a:rPr sz="1150" b="0">
                <a:solidFill>
                  <a:srgbClr val="2E2E2E"/>
                </a:solidFill>
                <a:latin typeface="Calibri"/>
              </a:rPr>
              <a:t>chicken eggshell membrane at US$</a:t>
            </a:r>
          </a:p>
        </p:txBody>
      </p:sp>
      <p:pic>
        <p:nvPicPr>
          <p:cNvPr id="50" name="Picture 49" descr="lock.png"/>
          <p:cNvPicPr>
            <a:picLocks noChangeAspect="1"/>
          </p:cNvPicPr>
          <p:nvPr/>
        </p:nvPicPr>
        <p:blipFill>
          <a:blip r:embed="rId4"/>
          <a:stretch>
            <a:fillRect/>
          </a:stretch>
        </p:blipFill>
        <p:spPr>
          <a:xfrm>
            <a:off x="9814399" y="3826446"/>
            <a:ext cx="134549" cy="195707"/>
          </a:xfrm>
          <a:prstGeom prst="rect">
            <a:avLst/>
          </a:prstGeom>
        </p:spPr>
      </p:pic>
      <p:sp>
        <p:nvSpPr>
          <p:cNvPr id="51" name="TextBox 50"/>
          <p:cNvSpPr txBox="1"/>
          <p:nvPr/>
        </p:nvSpPr>
        <p:spPr>
          <a:xfrm>
            <a:off x="9989509" y="3836669"/>
            <a:ext cx="1519299" cy="194310"/>
          </a:xfrm>
          <a:prstGeom prst="rect">
            <a:avLst/>
          </a:prstGeom>
          <a:noFill/>
        </p:spPr>
        <p:txBody>
          <a:bodyPr wrap="none" lIns="0" rIns="0" tIns="0" bIns="0">
            <a:spAutoFit/>
          </a:bodyPr>
          <a:lstStyle/>
          <a:p>
            <a:r>
              <a:rPr sz="1150" b="0">
                <a:solidFill>
                  <a:srgbClr val="2E2E2E"/>
                </a:solidFill>
                <a:latin typeface="Calibri"/>
              </a:rPr>
              <a:t>Mn in 2036. 'Micronized</a:t>
            </a:r>
          </a:p>
        </p:txBody>
      </p:sp>
      <p:sp>
        <p:nvSpPr>
          <p:cNvPr id="52" name="TextBox 51"/>
          <p:cNvSpPr txBox="1"/>
          <p:nvPr/>
        </p:nvSpPr>
        <p:spPr>
          <a:xfrm>
            <a:off x="7715250" y="4011929"/>
            <a:ext cx="3832138" cy="194310"/>
          </a:xfrm>
          <a:prstGeom prst="rect">
            <a:avLst/>
          </a:prstGeom>
          <a:noFill/>
        </p:spPr>
        <p:txBody>
          <a:bodyPr wrap="none" lIns="0" rIns="0" tIns="0" bIns="0">
            <a:spAutoFit/>
          </a:bodyPr>
          <a:lstStyle/>
          <a:p>
            <a:r>
              <a:rPr sz="1150" b="0">
                <a:solidFill>
                  <a:srgbClr val="2E2E2E"/>
                </a:solidFill>
                <a:latin typeface="Calibri"/>
              </a:rPr>
              <a:t>Eggshell Membrane × Chicken Eggshell Membrane' is the single</a:t>
            </a:r>
          </a:p>
        </p:txBody>
      </p:sp>
      <p:sp>
        <p:nvSpPr>
          <p:cNvPr id="53" name="TextBox 52"/>
          <p:cNvSpPr txBox="1"/>
          <p:nvPr/>
        </p:nvSpPr>
        <p:spPr>
          <a:xfrm>
            <a:off x="7715250" y="4187189"/>
            <a:ext cx="1704429" cy="194310"/>
          </a:xfrm>
          <a:prstGeom prst="rect">
            <a:avLst/>
          </a:prstGeom>
          <a:noFill/>
        </p:spPr>
        <p:txBody>
          <a:bodyPr wrap="none" lIns="0" rIns="0" tIns="0" bIns="0">
            <a:spAutoFit/>
          </a:bodyPr>
          <a:lstStyle/>
          <a:p>
            <a:r>
              <a:rPr sz="1150" b="0">
                <a:solidFill>
                  <a:srgbClr val="2E2E2E"/>
                </a:solidFill>
                <a:latin typeface="Calibri"/>
              </a:rPr>
              <a:t>largest cross-sectional cell (</a:t>
            </a:r>
          </a:p>
        </p:txBody>
      </p:sp>
      <p:pic>
        <p:nvPicPr>
          <p:cNvPr id="54" name="Picture 53" descr="lock.png"/>
          <p:cNvPicPr>
            <a:picLocks noChangeAspect="1"/>
          </p:cNvPicPr>
          <p:nvPr/>
        </p:nvPicPr>
        <p:blipFill>
          <a:blip r:embed="rId4"/>
          <a:stretch>
            <a:fillRect/>
          </a:stretch>
        </p:blipFill>
        <p:spPr>
          <a:xfrm>
            <a:off x="9368833" y="4176966"/>
            <a:ext cx="134549" cy="195707"/>
          </a:xfrm>
          <a:prstGeom prst="rect">
            <a:avLst/>
          </a:prstGeom>
        </p:spPr>
      </p:pic>
      <p:sp>
        <p:nvSpPr>
          <p:cNvPr id="55" name="TextBox 54"/>
          <p:cNvSpPr txBox="1"/>
          <p:nvPr/>
        </p:nvSpPr>
        <p:spPr>
          <a:xfrm>
            <a:off x="9543942" y="4187189"/>
            <a:ext cx="2152848" cy="194310"/>
          </a:xfrm>
          <a:prstGeom prst="rect">
            <a:avLst/>
          </a:prstGeom>
          <a:noFill/>
        </p:spPr>
        <p:txBody>
          <a:bodyPr wrap="none" lIns="0" rIns="0" tIns="0" bIns="0">
            <a:spAutoFit/>
          </a:bodyPr>
          <a:lstStyle/>
          <a:p>
            <a:r>
              <a:rPr sz="1150" b="0">
                <a:solidFill>
                  <a:srgbClr val="2E2E2E"/>
                </a:solidFill>
                <a:latin typeface="Calibri"/>
              </a:rPr>
              <a:t>US$ Mn, 2026E), while 'Hydrolyzed</a:t>
            </a:r>
          </a:p>
        </p:txBody>
      </p:sp>
      <p:sp>
        <p:nvSpPr>
          <p:cNvPr id="56" name="TextBox 55"/>
          <p:cNvSpPr txBox="1"/>
          <p:nvPr/>
        </p:nvSpPr>
        <p:spPr>
          <a:xfrm>
            <a:off x="7715250" y="4362449"/>
            <a:ext cx="4171950" cy="194310"/>
          </a:xfrm>
          <a:prstGeom prst="rect">
            <a:avLst/>
          </a:prstGeom>
          <a:noFill/>
        </p:spPr>
        <p:txBody>
          <a:bodyPr wrap="none" lIns="0" rIns="0" tIns="0" bIns="0">
            <a:spAutoFit/>
          </a:bodyPr>
          <a:lstStyle/>
          <a:p>
            <a:r>
              <a:rPr sz="1150" b="0">
                <a:solidFill>
                  <a:srgbClr val="2E2E2E"/>
                </a:solidFill>
                <a:latin typeface="Calibri"/>
              </a:rPr>
              <a:t>Eggshell Membrane × Chicken Eggshell Membrane' records the fastest</a:t>
            </a:r>
          </a:p>
        </p:txBody>
      </p:sp>
      <p:sp>
        <p:nvSpPr>
          <p:cNvPr id="57" name="TextBox 56"/>
          <p:cNvSpPr txBox="1"/>
          <p:nvPr/>
        </p:nvSpPr>
        <p:spPr>
          <a:xfrm>
            <a:off x="7715250" y="4537709"/>
            <a:ext cx="1279668" cy="194310"/>
          </a:xfrm>
          <a:prstGeom prst="rect">
            <a:avLst/>
          </a:prstGeom>
          <a:noFill/>
        </p:spPr>
        <p:txBody>
          <a:bodyPr wrap="none" lIns="0" rIns="0" tIns="0" bIns="0">
            <a:spAutoFit/>
          </a:bodyPr>
          <a:lstStyle/>
          <a:p>
            <a:r>
              <a:rPr sz="1150" b="0">
                <a:solidFill>
                  <a:srgbClr val="2E2E2E"/>
                </a:solidFill>
                <a:latin typeface="Calibri"/>
              </a:rPr>
              <a:t>growth at a CAGR of</a:t>
            </a:r>
          </a:p>
        </p:txBody>
      </p:sp>
      <p:pic>
        <p:nvPicPr>
          <p:cNvPr id="58" name="Picture 57" descr="lock.png"/>
          <p:cNvPicPr>
            <a:picLocks noChangeAspect="1"/>
          </p:cNvPicPr>
          <p:nvPr/>
        </p:nvPicPr>
        <p:blipFill>
          <a:blip r:embed="rId4"/>
          <a:stretch>
            <a:fillRect/>
          </a:stretch>
        </p:blipFill>
        <p:spPr>
          <a:xfrm>
            <a:off x="8944072" y="4527486"/>
            <a:ext cx="134549" cy="195707"/>
          </a:xfrm>
          <a:prstGeom prst="rect">
            <a:avLst/>
          </a:prstGeom>
        </p:spPr>
      </p:pic>
      <p:sp>
        <p:nvSpPr>
          <p:cNvPr id="59" name="TextBox 58"/>
          <p:cNvSpPr txBox="1"/>
          <p:nvPr/>
        </p:nvSpPr>
        <p:spPr>
          <a:xfrm>
            <a:off x="9119181" y="4537709"/>
            <a:ext cx="1217001" cy="194310"/>
          </a:xfrm>
          <a:prstGeom prst="rect">
            <a:avLst/>
          </a:prstGeom>
          <a:noFill/>
        </p:spPr>
        <p:txBody>
          <a:bodyPr wrap="none" lIns="0" rIns="0" tIns="0" bIns="0">
            <a:spAutoFit/>
          </a:bodyPr>
          <a:lstStyle/>
          <a:p>
            <a:r>
              <a:rPr sz="1150" b="0">
                <a:solidFill>
                  <a:srgbClr val="2E2E2E"/>
                </a:solidFill>
                <a:latin typeface="Calibri"/>
              </a:rPr>
              <a:t>over 2026E–2036F.</a:t>
            </a:r>
          </a:p>
        </p:txBody>
      </p:sp>
      <p:sp>
        <p:nvSpPr>
          <p:cNvPr id="60" name="TextBox 59"/>
          <p:cNvSpPr txBox="1"/>
          <p:nvPr/>
        </p:nvSpPr>
        <p:spPr>
          <a:xfrm>
            <a:off x="7715250" y="4765547"/>
            <a:ext cx="3917999" cy="194310"/>
          </a:xfrm>
          <a:prstGeom prst="rect">
            <a:avLst/>
          </a:prstGeom>
          <a:noFill/>
        </p:spPr>
        <p:txBody>
          <a:bodyPr wrap="none" lIns="0" rIns="0" tIns="0" bIns="0">
            <a:spAutoFit/>
          </a:bodyPr>
          <a:lstStyle/>
          <a:p>
            <a:r>
              <a:rPr sz="1150" b="0">
                <a:solidFill>
                  <a:srgbClr val="2E2E2E"/>
                </a:solidFill>
                <a:latin typeface="Calibri"/>
              </a:rPr>
              <a:t>Combined, the top three product type × source cells generate an</a:t>
            </a:r>
          </a:p>
        </p:txBody>
      </p:sp>
      <p:sp>
        <p:nvSpPr>
          <p:cNvPr id="61" name="TextBox 60"/>
          <p:cNvSpPr txBox="1"/>
          <p:nvPr/>
        </p:nvSpPr>
        <p:spPr>
          <a:xfrm>
            <a:off x="7715250" y="4940807"/>
            <a:ext cx="1594036" cy="194310"/>
          </a:xfrm>
          <a:prstGeom prst="rect">
            <a:avLst/>
          </a:prstGeom>
          <a:noFill/>
        </p:spPr>
        <p:txBody>
          <a:bodyPr wrap="none" lIns="0" rIns="0" tIns="0" bIns="0">
            <a:spAutoFit/>
          </a:bodyPr>
          <a:lstStyle/>
          <a:p>
            <a:r>
              <a:rPr sz="1150" b="0">
                <a:solidFill>
                  <a:srgbClr val="2E2E2E"/>
                </a:solidFill>
                <a:latin typeface="Calibri"/>
              </a:rPr>
              <a:t>absolute $ opportunity of</a:t>
            </a:r>
          </a:p>
        </p:txBody>
      </p:sp>
      <p:pic>
        <p:nvPicPr>
          <p:cNvPr id="62" name="Picture 61" descr="lock.png"/>
          <p:cNvPicPr>
            <a:picLocks noChangeAspect="1"/>
          </p:cNvPicPr>
          <p:nvPr/>
        </p:nvPicPr>
        <p:blipFill>
          <a:blip r:embed="rId4"/>
          <a:stretch>
            <a:fillRect/>
          </a:stretch>
        </p:blipFill>
        <p:spPr>
          <a:xfrm>
            <a:off x="9258439" y="4930584"/>
            <a:ext cx="134549" cy="195707"/>
          </a:xfrm>
          <a:prstGeom prst="rect">
            <a:avLst/>
          </a:prstGeom>
        </p:spPr>
      </p:pic>
      <p:sp>
        <p:nvSpPr>
          <p:cNvPr id="63" name="TextBox 62"/>
          <p:cNvSpPr txBox="1"/>
          <p:nvPr/>
        </p:nvSpPr>
        <p:spPr>
          <a:xfrm>
            <a:off x="9433549" y="4940807"/>
            <a:ext cx="1155386" cy="194310"/>
          </a:xfrm>
          <a:prstGeom prst="rect">
            <a:avLst/>
          </a:prstGeom>
          <a:noFill/>
        </p:spPr>
        <p:txBody>
          <a:bodyPr wrap="none" lIns="0" rIns="0" tIns="0" bIns="0">
            <a:spAutoFit/>
          </a:bodyPr>
          <a:lstStyle/>
          <a:p>
            <a:r>
              <a:rPr sz="1150" b="0">
                <a:solidFill>
                  <a:srgbClr val="2E2E2E"/>
                </a:solidFill>
                <a:latin typeface="Calibri"/>
              </a:rPr>
              <a:t>US$ Mn by 2036F.</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Share Analysis: Product Type × Source, 2026E</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 share of global market value, each row split across all source sub-segments</a:t>
            </a:r>
          </a:p>
        </p:txBody>
      </p:sp>
      <p:sp>
        <p:nvSpPr>
          <p:cNvPr id="7" name="Rounded Rectangle 6"/>
          <p:cNvSpPr/>
          <p:nvPr/>
        </p:nvSpPr>
        <p:spPr>
          <a:xfrm>
            <a:off x="142875" y="981075"/>
            <a:ext cx="11906250" cy="1704975"/>
          </a:xfrm>
          <a:prstGeom prst="roundRect">
            <a:avLst>
              <a:gd name="adj" fmla="val 446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Share, Product Type × Source, 2026E (% of each row)</a:t>
            </a:r>
          </a:p>
        </p:txBody>
      </p:sp>
      <p:graphicFrame>
        <p:nvGraphicFramePr>
          <p:cNvPr id="9" name="Table 8"/>
          <p:cNvGraphicFramePr>
            <a:graphicFrameLocks noGrp="1"/>
          </p:cNvGraphicFramePr>
          <p:nvPr/>
        </p:nvGraphicFramePr>
        <p:xfrm>
          <a:off x="152400" y="1238250"/>
          <a:ext cx="11887201" cy="1238250"/>
        </p:xfrm>
        <a:graphic>
          <a:graphicData uri="http://schemas.openxmlformats.org/drawingml/2006/table">
            <a:tbl>
              <a:tblPr>
                <a:tableStyleId>{5C22544A-7EE6-4342-B048-85BDC9FD1C3A}</a:tableStyleId>
              </a:tblPr>
              <a:tblGrid>
                <a:gridCol w="3129313"/>
                <a:gridCol w="2919296"/>
                <a:gridCol w="2919296"/>
                <a:gridCol w="2919296"/>
              </a:tblGrid>
              <a:tr h="246126">
                <a:tc>
                  <a:txBody>
                    <a:bodyPr wrap="none"/>
                    <a:lstStyle/>
                    <a:p>
                      <a:pPr algn="l"/>
                      <a:r>
                        <a:rPr sz="1100" b="1">
                          <a:solidFill>
                            <a:srgbClr val="0E2A5C"/>
                          </a:solidFill>
                          <a:latin typeface="Calibri"/>
                        </a:rPr>
                        <a:t>Product Type</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Chicken Eggshell Membrane</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Other Poultry Eggshell Membrane</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Total</a:t>
                      </a:r>
                      <a:endParaRPr sz="1100"/>
                    </a:p>
                  </a:txBody>
                  <a:tcPr marL="47625" marR="38100" marT="19050" marB="19050" anchor="ctr">
                    <a:solidFill>
                      <a:srgbClr val="EBF2F9"/>
                    </a:solidFill>
                  </a:tcPr>
                </a:tc>
              </a:tr>
              <a:tr h="248031">
                <a:tc>
                  <a:txBody>
                    <a:bodyPr wrap="none"/>
                    <a:lstStyle/>
                    <a:p>
                      <a:pPr algn="l"/>
                      <a:r>
                        <a:rPr sz="1100" b="1">
                          <a:solidFill>
                            <a:srgbClr val="2E2E2E"/>
                          </a:solidFill>
                          <a:latin typeface="Calibri"/>
                        </a:rPr>
                        <a:t>Micronized Eggshell Membrane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8031">
                <a:tc>
                  <a:txBody>
                    <a:bodyPr wrap="none"/>
                    <a:lstStyle/>
                    <a:p>
                      <a:pPr algn="l"/>
                      <a:r>
                        <a:rPr sz="1100" b="1">
                          <a:solidFill>
                            <a:srgbClr val="2E2E2E"/>
                          </a:solidFill>
                          <a:latin typeface="Calibri"/>
                        </a:rPr>
                        <a:t>Hydrolyzed Eggshell Membrane</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8031">
                <a:tc>
                  <a:txBody>
                    <a:bodyPr wrap="none"/>
                    <a:lstStyle/>
                    <a:p>
                      <a:pPr algn="l"/>
                      <a:r>
                        <a:rPr sz="1100" b="1">
                          <a:solidFill>
                            <a:srgbClr val="2E2E2E"/>
                          </a:solidFill>
                          <a:latin typeface="Calibri"/>
                        </a:rPr>
                        <a:t>Specialty Extracted Protein Fractions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8031">
                <a:tc>
                  <a:txBody>
                    <a:bodyPr wrap="none"/>
                    <a:lstStyle/>
                    <a:p>
                      <a:pPr algn="l"/>
                      <a:r>
                        <a:rPr sz="1100" b="1">
                          <a:solidFill>
                            <a:srgbClr val="2E2E2E"/>
                          </a:solidFill>
                          <a:latin typeface="Calibri"/>
                        </a:rPr>
                        <a:t>Total</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r>
            </a:tbl>
          </a:graphicData>
        </a:graphic>
      </p:graphicFrame>
      <p:sp>
        <p:nvSpPr>
          <p:cNvPr id="10" name="TextBox 9"/>
          <p:cNvSpPr txBox="1"/>
          <p:nvPr/>
        </p:nvSpPr>
        <p:spPr>
          <a:xfrm>
            <a:off x="219075" y="248602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11" name="Rounded Rectangle 10"/>
          <p:cNvSpPr/>
          <p:nvPr/>
        </p:nvSpPr>
        <p:spPr>
          <a:xfrm>
            <a:off x="142875" y="2819400"/>
            <a:ext cx="7286625" cy="3810000"/>
          </a:xfrm>
          <a:prstGeom prst="roundRect">
            <a:avLst>
              <a:gd name="adj" fmla="val 2000"/>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2876550"/>
            <a:ext cx="70961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Source Mix by Product Type, 2026E (% share)</a:t>
            </a:r>
          </a:p>
        </p:txBody>
      </p:sp>
      <p:graphicFrame>
        <p:nvGraphicFramePr>
          <p:cNvPr id="13" name="Chart 12"/>
          <p:cNvGraphicFramePr>
            <a:graphicFrameLocks noGrp="1"/>
          </p:cNvGraphicFramePr>
          <p:nvPr/>
        </p:nvGraphicFramePr>
        <p:xfrm>
          <a:off x="238125" y="3105150"/>
          <a:ext cx="7096125" cy="3467100"/>
        </p:xfrm>
        <a:graphic>
          <a:graphicData uri="http://schemas.openxmlformats.org/drawingml/2006/chart">
            <c:chart xmlns:c="http://schemas.openxmlformats.org/drawingml/2006/chart" r:id="rId3"/>
          </a:graphicData>
        </a:graphic>
      </p:graphicFrame>
      <p:sp>
        <p:nvSpPr>
          <p:cNvPr id="14" name="Rounded Rectangle 13"/>
          <p:cNvSpPr/>
          <p:nvPr/>
        </p:nvSpPr>
        <p:spPr>
          <a:xfrm>
            <a:off x="7581900" y="2819400"/>
            <a:ext cx="4457700" cy="3810000"/>
          </a:xfrm>
          <a:prstGeom prst="roundRect">
            <a:avLst>
              <a:gd name="adj" fmla="val 2000"/>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15250" y="2905125"/>
            <a:ext cx="4191000" cy="209550"/>
          </a:xfrm>
          <a:prstGeom prst="rect">
            <a:avLst/>
          </a:prstGeom>
          <a:noFill/>
        </p:spPr>
        <p:txBody>
          <a:bodyPr wrap="square" lIns="0" rIns="19050" tIns="9525" bIns="9525">
            <a:spAutoFit/>
          </a:bodyPr>
          <a:lstStyle/>
          <a:p>
            <a:pPr algn="l"/>
            <a:r>
              <a:rPr sz="1300" b="1">
                <a:solidFill>
                  <a:srgbClr val="0E2A5C"/>
                </a:solidFill>
                <a:latin typeface="Calibri"/>
              </a:rPr>
              <a:t>Share Insights</a:t>
            </a:r>
          </a:p>
        </p:txBody>
      </p:sp>
      <p:sp>
        <p:nvSpPr>
          <p:cNvPr id="16" name="Rectangle 15"/>
          <p:cNvSpPr/>
          <p:nvPr/>
        </p:nvSpPr>
        <p:spPr>
          <a:xfrm>
            <a:off x="7715250" y="3143250"/>
            <a:ext cx="419100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15250" y="3228975"/>
            <a:ext cx="4191000" cy="332422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p:txBody>
      </p:sp>
      <p:sp>
        <p:nvSpPr>
          <p:cNvPr id="18" name="Rectangle 17"/>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20" name="Picture 19" descr="lock.png"/>
          <p:cNvPicPr>
            <a:picLocks noChangeAspect="1"/>
          </p:cNvPicPr>
          <p:nvPr/>
        </p:nvPicPr>
        <p:blipFill>
          <a:blip r:embed="rId5"/>
          <a:stretch>
            <a:fillRect/>
          </a:stretch>
        </p:blipFill>
        <p:spPr>
          <a:xfrm>
            <a:off x="7473967" y="1713738"/>
            <a:ext cx="366712" cy="533400"/>
          </a:xfrm>
          <a:prstGeom prst="rect">
            <a:avLst/>
          </a:prstGeom>
        </p:spPr>
      </p:pic>
      <p:pic>
        <p:nvPicPr>
          <p:cNvPr id="21" name="Picture 20" descr="lock.png"/>
          <p:cNvPicPr>
            <a:picLocks noChangeAspect="1"/>
          </p:cNvPicPr>
          <p:nvPr/>
        </p:nvPicPr>
        <p:blipFill>
          <a:blip r:embed="rId5"/>
          <a:stretch>
            <a:fillRect/>
          </a:stretch>
        </p:blipFill>
        <p:spPr>
          <a:xfrm>
            <a:off x="3709408" y="3864689"/>
            <a:ext cx="440818" cy="641190"/>
          </a:xfrm>
          <a:prstGeom prst="rect">
            <a:avLst/>
          </a:prstGeom>
        </p:spPr>
      </p:pic>
      <p:sp>
        <p:nvSpPr>
          <p:cNvPr id="22" name="TextBox 21"/>
          <p:cNvSpPr txBox="1"/>
          <p:nvPr/>
        </p:nvSpPr>
        <p:spPr>
          <a:xfrm>
            <a:off x="7715250" y="3238500"/>
            <a:ext cx="4171950" cy="194310"/>
          </a:xfrm>
          <a:prstGeom prst="rect">
            <a:avLst/>
          </a:prstGeom>
          <a:noFill/>
        </p:spPr>
        <p:txBody>
          <a:bodyPr wrap="none" lIns="0" rIns="0" tIns="0" bIns="0">
            <a:spAutoFit/>
          </a:bodyPr>
          <a:lstStyle/>
          <a:p>
            <a:r>
              <a:rPr sz="1150" b="0">
                <a:solidFill>
                  <a:srgbClr val="2E2E2E"/>
                </a:solidFill>
                <a:latin typeface="Calibri"/>
              </a:rPr>
              <a:t>▪ 'Chicken Eggshell Membrane' holds the highest share of 'Micronized</a:t>
            </a:r>
          </a:p>
        </p:txBody>
      </p:sp>
      <p:sp>
        <p:nvSpPr>
          <p:cNvPr id="23" name="TextBox 22"/>
          <p:cNvSpPr txBox="1"/>
          <p:nvPr/>
        </p:nvSpPr>
        <p:spPr>
          <a:xfrm>
            <a:off x="7715250" y="3413760"/>
            <a:ext cx="1437716" cy="194310"/>
          </a:xfrm>
          <a:prstGeom prst="rect">
            <a:avLst/>
          </a:prstGeom>
          <a:noFill/>
        </p:spPr>
        <p:txBody>
          <a:bodyPr wrap="none" lIns="0" rIns="0" tIns="0" bIns="0">
            <a:spAutoFit/>
          </a:bodyPr>
          <a:lstStyle/>
          <a:p>
            <a:r>
              <a:rPr sz="1150" b="0">
                <a:solidFill>
                  <a:srgbClr val="2E2E2E"/>
                </a:solidFill>
                <a:latin typeface="Calibri"/>
              </a:rPr>
              <a:t>Eggshell Membrane' at</a:t>
            </a:r>
          </a:p>
        </p:txBody>
      </p:sp>
      <p:pic>
        <p:nvPicPr>
          <p:cNvPr id="24" name="Picture 23" descr="lock.png"/>
          <p:cNvPicPr>
            <a:picLocks noChangeAspect="1"/>
          </p:cNvPicPr>
          <p:nvPr/>
        </p:nvPicPr>
        <p:blipFill>
          <a:blip r:embed="rId5"/>
          <a:stretch>
            <a:fillRect/>
          </a:stretch>
        </p:blipFill>
        <p:spPr>
          <a:xfrm>
            <a:off x="9102120" y="3403536"/>
            <a:ext cx="134549" cy="195707"/>
          </a:xfrm>
          <a:prstGeom prst="rect">
            <a:avLst/>
          </a:prstGeom>
        </p:spPr>
      </p:pic>
      <p:sp>
        <p:nvSpPr>
          <p:cNvPr id="25" name="TextBox 24"/>
          <p:cNvSpPr txBox="1"/>
          <p:nvPr/>
        </p:nvSpPr>
        <p:spPr>
          <a:xfrm>
            <a:off x="9277230" y="3413760"/>
            <a:ext cx="569404" cy="194310"/>
          </a:xfrm>
          <a:prstGeom prst="rect">
            <a:avLst/>
          </a:prstGeom>
          <a:noFill/>
        </p:spPr>
        <p:txBody>
          <a:bodyPr wrap="none" lIns="0" rIns="0" tIns="0" bIns="0">
            <a:spAutoFit/>
          </a:bodyPr>
          <a:lstStyle/>
          <a:p>
            <a:r>
              <a:rPr sz="1150" b="0">
                <a:solidFill>
                  <a:srgbClr val="2E2E2E"/>
                </a:solidFill>
                <a:latin typeface="Calibri"/>
              </a:rPr>
              <a:t>(2026E).</a:t>
            </a:r>
          </a:p>
        </p:txBody>
      </p:sp>
      <p:sp>
        <p:nvSpPr>
          <p:cNvPr id="26" name="TextBox 25"/>
          <p:cNvSpPr txBox="1"/>
          <p:nvPr/>
        </p:nvSpPr>
        <p:spPr>
          <a:xfrm>
            <a:off x="7715250" y="3641597"/>
            <a:ext cx="4121100" cy="194310"/>
          </a:xfrm>
          <a:prstGeom prst="rect">
            <a:avLst/>
          </a:prstGeom>
          <a:noFill/>
        </p:spPr>
        <p:txBody>
          <a:bodyPr wrap="none" lIns="0" rIns="0" tIns="0" bIns="0">
            <a:spAutoFit/>
          </a:bodyPr>
          <a:lstStyle/>
          <a:p>
            <a:r>
              <a:rPr sz="1150" b="0">
                <a:solidFill>
                  <a:srgbClr val="2E2E2E"/>
                </a:solidFill>
                <a:latin typeface="Calibri"/>
              </a:rPr>
              <a:t>▪ 'Micronized Eggshell Membrane' is the most concentrated product</a:t>
            </a:r>
          </a:p>
        </p:txBody>
      </p:sp>
      <p:sp>
        <p:nvSpPr>
          <p:cNvPr id="27" name="TextBox 26"/>
          <p:cNvSpPr txBox="1"/>
          <p:nvPr/>
        </p:nvSpPr>
        <p:spPr>
          <a:xfrm>
            <a:off x="7715250" y="3816857"/>
            <a:ext cx="1476511" cy="194310"/>
          </a:xfrm>
          <a:prstGeom prst="rect">
            <a:avLst/>
          </a:prstGeom>
          <a:noFill/>
        </p:spPr>
        <p:txBody>
          <a:bodyPr wrap="none" lIns="0" rIns="0" tIns="0" bIns="0">
            <a:spAutoFit/>
          </a:bodyPr>
          <a:lstStyle/>
          <a:p>
            <a:r>
              <a:rPr sz="1150" b="0">
                <a:solidFill>
                  <a:srgbClr val="2E2E2E"/>
                </a:solidFill>
                <a:latin typeface="Calibri"/>
              </a:rPr>
              <a:t>type sub-segment, with</a:t>
            </a:r>
          </a:p>
        </p:txBody>
      </p:sp>
      <p:pic>
        <p:nvPicPr>
          <p:cNvPr id="28" name="Picture 27" descr="lock.png"/>
          <p:cNvPicPr>
            <a:picLocks noChangeAspect="1"/>
          </p:cNvPicPr>
          <p:nvPr/>
        </p:nvPicPr>
        <p:blipFill>
          <a:blip r:embed="rId5"/>
          <a:stretch>
            <a:fillRect/>
          </a:stretch>
        </p:blipFill>
        <p:spPr>
          <a:xfrm>
            <a:off x="9140915" y="3806634"/>
            <a:ext cx="134549" cy="195707"/>
          </a:xfrm>
          <a:prstGeom prst="rect">
            <a:avLst/>
          </a:prstGeom>
        </p:spPr>
      </p:pic>
      <p:sp>
        <p:nvSpPr>
          <p:cNvPr id="29" name="TextBox 28"/>
          <p:cNvSpPr txBox="1"/>
          <p:nvPr/>
        </p:nvSpPr>
        <p:spPr>
          <a:xfrm>
            <a:off x="9316024" y="3816857"/>
            <a:ext cx="1972282" cy="194310"/>
          </a:xfrm>
          <a:prstGeom prst="rect">
            <a:avLst/>
          </a:prstGeom>
          <a:noFill/>
        </p:spPr>
        <p:txBody>
          <a:bodyPr wrap="none" lIns="0" rIns="0" tIns="0" bIns="0">
            <a:spAutoFit/>
          </a:bodyPr>
          <a:lstStyle/>
          <a:p>
            <a:r>
              <a:rPr sz="1150" b="0">
                <a:solidFill>
                  <a:srgbClr val="2E2E2E"/>
                </a:solidFill>
                <a:latin typeface="Calibri"/>
              </a:rPr>
              <a:t>of its value via 'Chicken Eggshell</a:t>
            </a:r>
          </a:p>
        </p:txBody>
      </p:sp>
      <p:sp>
        <p:nvSpPr>
          <p:cNvPr id="30" name="TextBox 29"/>
          <p:cNvSpPr txBox="1"/>
          <p:nvPr/>
        </p:nvSpPr>
        <p:spPr>
          <a:xfrm>
            <a:off x="7715250" y="3992117"/>
            <a:ext cx="806735" cy="194310"/>
          </a:xfrm>
          <a:prstGeom prst="rect">
            <a:avLst/>
          </a:prstGeom>
          <a:noFill/>
        </p:spPr>
        <p:txBody>
          <a:bodyPr wrap="none" lIns="0" rIns="0" tIns="0" bIns="0">
            <a:spAutoFit/>
          </a:bodyPr>
          <a:lstStyle/>
          <a:p>
            <a:r>
              <a:rPr sz="1150" b="0">
                <a:solidFill>
                  <a:srgbClr val="2E2E2E"/>
                </a:solidFill>
                <a:latin typeface="Calibri"/>
              </a:rPr>
              <a:t>Membrane'.</a:t>
            </a:r>
          </a:p>
        </p:txBody>
      </p:sp>
      <p:sp>
        <p:nvSpPr>
          <p:cNvPr id="31" name="TextBox 30"/>
          <p:cNvSpPr txBox="1"/>
          <p:nvPr/>
        </p:nvSpPr>
        <p:spPr>
          <a:xfrm>
            <a:off x="7715250" y="4219955"/>
            <a:ext cx="2346821" cy="194310"/>
          </a:xfrm>
          <a:prstGeom prst="rect">
            <a:avLst/>
          </a:prstGeom>
          <a:noFill/>
        </p:spPr>
        <p:txBody>
          <a:bodyPr wrap="none" lIns="0" rIns="0" tIns="0" bIns="0">
            <a:spAutoFit/>
          </a:bodyPr>
          <a:lstStyle/>
          <a:p>
            <a:r>
              <a:rPr sz="1150" b="0">
                <a:solidFill>
                  <a:srgbClr val="2E2E2E"/>
                </a:solidFill>
                <a:latin typeface="Calibri"/>
              </a:rPr>
              <a:t>▪ 'Chicken Eggshell Membrane' gains +</a:t>
            </a:r>
          </a:p>
        </p:txBody>
      </p:sp>
      <p:pic>
        <p:nvPicPr>
          <p:cNvPr id="32" name="Picture 31" descr="lock.png"/>
          <p:cNvPicPr>
            <a:picLocks noChangeAspect="1"/>
          </p:cNvPicPr>
          <p:nvPr/>
        </p:nvPicPr>
        <p:blipFill>
          <a:blip r:embed="rId5"/>
          <a:stretch>
            <a:fillRect/>
          </a:stretch>
        </p:blipFill>
        <p:spPr>
          <a:xfrm>
            <a:off x="10011225" y="4209732"/>
            <a:ext cx="134549" cy="195707"/>
          </a:xfrm>
          <a:prstGeom prst="rect">
            <a:avLst/>
          </a:prstGeom>
        </p:spPr>
      </p:pic>
      <p:sp>
        <p:nvSpPr>
          <p:cNvPr id="33" name="TextBox 32"/>
          <p:cNvSpPr txBox="1"/>
          <p:nvPr/>
        </p:nvSpPr>
        <p:spPr>
          <a:xfrm>
            <a:off x="10186334" y="4219955"/>
            <a:ext cx="1616000" cy="194310"/>
          </a:xfrm>
          <a:prstGeom prst="rect">
            <a:avLst/>
          </a:prstGeom>
          <a:noFill/>
        </p:spPr>
        <p:txBody>
          <a:bodyPr wrap="none" lIns="0" rIns="0" tIns="0" bIns="0">
            <a:spAutoFit/>
          </a:bodyPr>
          <a:lstStyle/>
          <a:p>
            <a:r>
              <a:rPr sz="1150" b="0">
                <a:solidFill>
                  <a:srgbClr val="2E2E2E"/>
                </a:solidFill>
                <a:latin typeface="Calibri"/>
              </a:rPr>
              <a:t>BPS of share of the Global</a:t>
            </a:r>
          </a:p>
        </p:txBody>
      </p:sp>
      <p:sp>
        <p:nvSpPr>
          <p:cNvPr id="34" name="TextBox 33"/>
          <p:cNvSpPr txBox="1"/>
          <p:nvPr/>
        </p:nvSpPr>
        <p:spPr>
          <a:xfrm>
            <a:off x="7715250" y="4395215"/>
            <a:ext cx="1462605" cy="194310"/>
          </a:xfrm>
          <a:prstGeom prst="rect">
            <a:avLst/>
          </a:prstGeom>
          <a:noFill/>
        </p:spPr>
        <p:txBody>
          <a:bodyPr wrap="none" lIns="0" rIns="0" tIns="0" bIns="0">
            <a:spAutoFit/>
          </a:bodyPr>
          <a:lstStyle/>
          <a:p>
            <a:r>
              <a:rPr sz="1150" b="0">
                <a:solidFill>
                  <a:srgbClr val="2E2E2E"/>
                </a:solidFill>
                <a:latin typeface="Calibri"/>
              </a:rPr>
              <a:t>cross-section by 2036F.</a:t>
            </a:r>
          </a:p>
        </p:txBody>
      </p:sp>
      <p:sp>
        <p:nvSpPr>
          <p:cNvPr id="35" name="lockshield_13"/>
          <p:cNvSpPr/>
          <p:nvPr/>
        </p:nvSpPr>
        <p:spPr>
          <a:xfrm>
            <a:off x="238125" y="3105150"/>
            <a:ext cx="7096125" cy="34671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Absolute $ Opportunity &amp; Attractiveness: Product Type × Source, 2026E–2036F</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Incremental value 2026E→2036F (US$ Mn) and value CAGR by cell; attractiveness index scored 1–5</a:t>
            </a:r>
          </a:p>
        </p:txBody>
      </p:sp>
      <p:sp>
        <p:nvSpPr>
          <p:cNvPr id="7" name="Rounded Rectangle 6"/>
          <p:cNvSpPr/>
          <p:nvPr/>
        </p:nvSpPr>
        <p:spPr>
          <a:xfrm>
            <a:off x="142875" y="981075"/>
            <a:ext cx="11906250" cy="1952625"/>
          </a:xfrm>
          <a:prstGeom prst="roundRect">
            <a:avLst>
              <a:gd name="adj" fmla="val 3902"/>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Incremental $ Opportunity (US$ Mn) and Value CAGR, Product Type × Source, 2026E–2036F</a:t>
            </a:r>
          </a:p>
        </p:txBody>
      </p:sp>
      <p:graphicFrame>
        <p:nvGraphicFramePr>
          <p:cNvPr id="9" name="Table 8"/>
          <p:cNvGraphicFramePr>
            <a:graphicFrameLocks noGrp="1"/>
          </p:cNvGraphicFramePr>
          <p:nvPr/>
        </p:nvGraphicFramePr>
        <p:xfrm>
          <a:off x="152400" y="1238250"/>
          <a:ext cx="11887197" cy="1485896"/>
        </p:xfrm>
        <a:graphic>
          <a:graphicData uri="http://schemas.openxmlformats.org/drawingml/2006/table">
            <a:tbl>
              <a:tblPr>
                <a:tableStyleId>{5C22544A-7EE6-4342-B048-85BDC9FD1C3A}</a:tableStyleId>
              </a:tblPr>
              <a:tblGrid>
                <a:gridCol w="4730223"/>
                <a:gridCol w="1192829"/>
                <a:gridCol w="1192829"/>
                <a:gridCol w="1192829"/>
                <a:gridCol w="1192829"/>
                <a:gridCol w="1192829"/>
                <a:gridCol w="1192829"/>
              </a:tblGrid>
              <a:tr h="246126">
                <a:tc rowSpan="2">
                  <a:txBody>
                    <a:bodyPr wrap="none"/>
                    <a:lstStyle/>
                    <a:p>
                      <a:pPr algn="l"/>
                      <a:r>
                        <a:rPr sz="1100" b="1">
                          <a:solidFill>
                            <a:srgbClr val="0E2A5C"/>
                          </a:solidFill>
                          <a:latin typeface="Calibri"/>
                        </a:rPr>
                        <a:t>Product Type</a:t>
                      </a:r>
                      <a:endParaRPr sz="1100"/>
                    </a:p>
                  </a:txBody>
                  <a:tcPr marL="47625" marR="38100" marT="19050" marB="19050" anchor="ctr">
                    <a:solidFill>
                      <a:srgbClr val="EBF2F9"/>
                    </a:solidFill>
                  </a:tcPr>
                </a:tc>
                <a:tc gridSpan="2">
                  <a:txBody>
                    <a:bodyPr wrap="none"/>
                    <a:lstStyle/>
                    <a:p>
                      <a:pPr algn="ctr"/>
                      <a:r>
                        <a:rPr sz="1100" b="1">
                          <a:solidFill>
                            <a:srgbClr val="0E2A5C"/>
                          </a:solidFill>
                          <a:latin typeface="Calibri"/>
                        </a:rPr>
                        <a:t>Chicken Eggshell Membrane</a:t>
                      </a:r>
                      <a:endParaRPr sz="1100"/>
                    </a:p>
                  </a:txBody>
                  <a:tcPr marL="47625" marR="38100" marT="19050" marB="19050" anchor="ctr">
                    <a:solidFill>
                      <a:srgbClr val="EBF2F9"/>
                    </a:solidFill>
                  </a:tcPr>
                </a:tc>
                <a:tc hMerge="1">
                  <a:txBody>
                    <a:bodyPr wrap="none"/>
                    <a:lstStyle/>
                    <a:p>
                      <a:pPr algn="ctr"/>
                      <a:endParaRPr sz="1100"/>
                    </a:p>
                  </a:txBody>
                  <a:tcPr marL="47625" marR="38100" marT="19050" marB="19050" anchor="ctr">
                    <a:solidFill>
                      <a:srgbClr val="EBF2F9"/>
                    </a:solidFill>
                  </a:tcPr>
                </a:tc>
                <a:tc gridSpan="2">
                  <a:txBody>
                    <a:bodyPr wrap="none"/>
                    <a:lstStyle/>
                    <a:p>
                      <a:pPr algn="ctr"/>
                      <a:r>
                        <a:rPr sz="1100" b="1">
                          <a:solidFill>
                            <a:srgbClr val="0E2A5C"/>
                          </a:solidFill>
                          <a:latin typeface="Calibri"/>
                        </a:rPr>
                        <a:t>Other Poultry Eggshell Membrane</a:t>
                      </a:r>
                      <a:endParaRPr sz="1100"/>
                    </a:p>
                  </a:txBody>
                  <a:tcPr marL="47625" marR="38100" marT="19050" marB="19050" anchor="ctr">
                    <a:solidFill>
                      <a:srgbClr val="EBF2F9"/>
                    </a:solidFill>
                  </a:tcPr>
                </a:tc>
                <a:tc hMerge="1">
                  <a:txBody>
                    <a:bodyPr wrap="none"/>
                    <a:lstStyle/>
                    <a:p>
                      <a:pPr algn="ctr"/>
                      <a:endParaRPr sz="1100"/>
                    </a:p>
                  </a:txBody>
                  <a:tcPr marL="47625" marR="38100" marT="19050" marB="19050" anchor="ctr">
                    <a:solidFill>
                      <a:srgbClr val="EBF2F9"/>
                    </a:solidFill>
                  </a:tcPr>
                </a:tc>
                <a:tc gridSpan="2">
                  <a:txBody>
                    <a:bodyPr wrap="none"/>
                    <a:lstStyle/>
                    <a:p>
                      <a:pPr algn="ctr"/>
                      <a:r>
                        <a:rPr sz="1100" b="1">
                          <a:solidFill>
                            <a:srgbClr val="0E2A5C"/>
                          </a:solidFill>
                          <a:latin typeface="Calibri"/>
                        </a:rPr>
                        <a:t>Total</a:t>
                      </a:r>
                      <a:endParaRPr sz="1100"/>
                    </a:p>
                  </a:txBody>
                  <a:tcPr marL="47625" marR="38100" marT="19050" marB="19050" anchor="ctr">
                    <a:solidFill>
                      <a:srgbClr val="EBF2F9"/>
                    </a:solidFill>
                  </a:tcPr>
                </a:tc>
                <a:tc hMerge="1">
                  <a:txBody>
                    <a:bodyPr wrap="none"/>
                    <a:lstStyle/>
                    <a:p>
                      <a:pPr algn="ctr"/>
                      <a:endParaRPr sz="1100"/>
                    </a:p>
                  </a:txBody>
                  <a:tcPr marL="47625" marR="38100" marT="19050" marB="19050" anchor="ctr">
                    <a:solidFill>
                      <a:srgbClr val="EBF2F9"/>
                    </a:solidFill>
                  </a:tcPr>
                </a:tc>
              </a:tr>
              <a:tr h="247954">
                <a:tc vMerge="1">
                  <a:txBody>
                    <a:bodyPr wrap="none"/>
                    <a:lstStyle/>
                    <a:p>
                      <a:pPr algn="l"/>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US$ Mn</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CAGR</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US$ Mn</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CAGR</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US$ Mn</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CAGR</a:t>
                      </a:r>
                      <a:endParaRPr sz="1100"/>
                    </a:p>
                  </a:txBody>
                  <a:tcPr marL="47625" marR="38100" marT="19050" marB="19050" anchor="ctr">
                    <a:solidFill>
                      <a:srgbClr val="EBF2F9"/>
                    </a:solidFill>
                  </a:tcPr>
                </a:tc>
              </a:tr>
              <a:tr h="247954">
                <a:tc>
                  <a:txBody>
                    <a:bodyPr wrap="none"/>
                    <a:lstStyle/>
                    <a:p>
                      <a:pPr algn="l"/>
                      <a:r>
                        <a:rPr sz="1100" b="1">
                          <a:solidFill>
                            <a:srgbClr val="2E2E2E"/>
                          </a:solidFill>
                          <a:latin typeface="Calibri"/>
                        </a:rPr>
                        <a:t>Micronized Eggshell Membrane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954">
                <a:tc>
                  <a:txBody>
                    <a:bodyPr wrap="none"/>
                    <a:lstStyle/>
                    <a:p>
                      <a:pPr algn="l"/>
                      <a:r>
                        <a:rPr sz="1100" b="1">
                          <a:solidFill>
                            <a:srgbClr val="2E2E2E"/>
                          </a:solidFill>
                          <a:latin typeface="Calibri"/>
                        </a:rPr>
                        <a:t>Hydrolyzed Eggshell Membrane</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7954">
                <a:tc>
                  <a:txBody>
                    <a:bodyPr wrap="none"/>
                    <a:lstStyle/>
                    <a:p>
                      <a:pPr algn="l"/>
                      <a:r>
                        <a:rPr sz="1100" b="1">
                          <a:solidFill>
                            <a:srgbClr val="2E2E2E"/>
                          </a:solidFill>
                          <a:latin typeface="Calibri"/>
                        </a:rPr>
                        <a:t>Specialty Extracted Protein Fractions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954">
                <a:tc>
                  <a:txBody>
                    <a:bodyPr wrap="none"/>
                    <a:lstStyle/>
                    <a:p>
                      <a:pPr algn="l"/>
                      <a:r>
                        <a:rPr sz="1100" b="1">
                          <a:solidFill>
                            <a:srgbClr val="2E2E2E"/>
                          </a:solidFill>
                          <a:latin typeface="Calibri"/>
                        </a:rPr>
                        <a:t>Total</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r>
            </a:tbl>
          </a:graphicData>
        </a:graphic>
      </p:graphicFrame>
      <p:sp>
        <p:nvSpPr>
          <p:cNvPr id="10" name="TextBox 9"/>
          <p:cNvSpPr txBox="1"/>
          <p:nvPr/>
        </p:nvSpPr>
        <p:spPr>
          <a:xfrm>
            <a:off x="219075" y="273367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11" name="Rounded Rectangle 10"/>
          <p:cNvSpPr/>
          <p:nvPr/>
        </p:nvSpPr>
        <p:spPr>
          <a:xfrm>
            <a:off x="142875" y="3067050"/>
            <a:ext cx="5600700" cy="3562350"/>
          </a:xfrm>
          <a:prstGeom prst="roundRect">
            <a:avLst>
              <a:gd name="adj" fmla="val 213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6225" y="3152775"/>
            <a:ext cx="5334000" cy="209550"/>
          </a:xfrm>
          <a:prstGeom prst="rect">
            <a:avLst/>
          </a:prstGeom>
          <a:noFill/>
        </p:spPr>
        <p:txBody>
          <a:bodyPr wrap="square" lIns="0" rIns="19050" tIns="9525" bIns="9525">
            <a:spAutoFit/>
          </a:bodyPr>
          <a:lstStyle/>
          <a:p>
            <a:pPr algn="l"/>
            <a:r>
              <a:rPr sz="1300" b="1">
                <a:solidFill>
                  <a:srgbClr val="0E2A5C"/>
                </a:solidFill>
                <a:latin typeface="Calibri"/>
              </a:rPr>
              <a:t>Top 5 Opportunity Cells (US$ Mn · CAGR · Index)</a:t>
            </a:r>
          </a:p>
        </p:txBody>
      </p:sp>
      <p:sp>
        <p:nvSpPr>
          <p:cNvPr id="13" name="Rectangle 12"/>
          <p:cNvSpPr/>
          <p:nvPr/>
        </p:nvSpPr>
        <p:spPr>
          <a:xfrm>
            <a:off x="276225" y="3390900"/>
            <a:ext cx="533400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6225" y="3476625"/>
            <a:ext cx="5334000" cy="307657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p:txBody>
      </p:sp>
      <p:sp>
        <p:nvSpPr>
          <p:cNvPr id="15" name="Rounded Rectangle 14"/>
          <p:cNvSpPr/>
          <p:nvPr/>
        </p:nvSpPr>
        <p:spPr>
          <a:xfrm>
            <a:off x="5895975" y="3067050"/>
            <a:ext cx="1943100" cy="3562350"/>
          </a:xfrm>
          <a:prstGeom prst="roundRect">
            <a:avLst>
              <a:gd name="adj" fmla="val 3921"/>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029325" y="3152775"/>
            <a:ext cx="1676400" cy="209550"/>
          </a:xfrm>
          <a:prstGeom prst="rect">
            <a:avLst/>
          </a:prstGeom>
          <a:noFill/>
        </p:spPr>
        <p:txBody>
          <a:bodyPr wrap="square" lIns="0" rIns="19050" tIns="9525" bIns="9525">
            <a:spAutoFit/>
          </a:bodyPr>
          <a:lstStyle/>
          <a:p>
            <a:pPr algn="l"/>
            <a:r>
              <a:rPr sz="1300" b="1">
                <a:solidFill>
                  <a:srgbClr val="0E2A5C"/>
                </a:solidFill>
                <a:latin typeface="Calibri"/>
              </a:rPr>
              <a:t>Largest Pool</a:t>
            </a:r>
          </a:p>
        </p:txBody>
      </p:sp>
      <p:sp>
        <p:nvSpPr>
          <p:cNvPr id="17" name="Rectangle 16"/>
          <p:cNvSpPr/>
          <p:nvPr/>
        </p:nvSpPr>
        <p:spPr>
          <a:xfrm>
            <a:off x="6029325" y="3390900"/>
            <a:ext cx="167640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029325" y="3476625"/>
            <a:ext cx="1676400" cy="307657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p:txBody>
      </p:sp>
      <p:sp>
        <p:nvSpPr>
          <p:cNvPr id="19" name="Rounded Rectangle 18"/>
          <p:cNvSpPr/>
          <p:nvPr/>
        </p:nvSpPr>
        <p:spPr>
          <a:xfrm>
            <a:off x="7991475" y="3067050"/>
            <a:ext cx="1943100" cy="3562350"/>
          </a:xfrm>
          <a:prstGeom prst="roundRect">
            <a:avLst>
              <a:gd name="adj" fmla="val 3921"/>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24825" y="3152775"/>
            <a:ext cx="1676400" cy="209550"/>
          </a:xfrm>
          <a:prstGeom prst="rect">
            <a:avLst/>
          </a:prstGeom>
          <a:noFill/>
        </p:spPr>
        <p:txBody>
          <a:bodyPr wrap="square" lIns="0" rIns="19050" tIns="9525" bIns="9525">
            <a:spAutoFit/>
          </a:bodyPr>
          <a:lstStyle/>
          <a:p>
            <a:pPr algn="l"/>
            <a:r>
              <a:rPr sz="1300" b="1">
                <a:solidFill>
                  <a:srgbClr val="0E2A5C"/>
                </a:solidFill>
                <a:latin typeface="Calibri"/>
              </a:rPr>
              <a:t>Fastest Growth</a:t>
            </a:r>
          </a:p>
        </p:txBody>
      </p:sp>
      <p:sp>
        <p:nvSpPr>
          <p:cNvPr id="21" name="Rectangle 20"/>
          <p:cNvSpPr/>
          <p:nvPr/>
        </p:nvSpPr>
        <p:spPr>
          <a:xfrm>
            <a:off x="8124825" y="3390900"/>
            <a:ext cx="167640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24825" y="3476625"/>
            <a:ext cx="1676400" cy="307657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p:txBody>
      </p:sp>
      <p:sp>
        <p:nvSpPr>
          <p:cNvPr id="23" name="Rounded Rectangle 22"/>
          <p:cNvSpPr/>
          <p:nvPr/>
        </p:nvSpPr>
        <p:spPr>
          <a:xfrm>
            <a:off x="10086975" y="3067050"/>
            <a:ext cx="1943100" cy="3562350"/>
          </a:xfrm>
          <a:prstGeom prst="roundRect">
            <a:avLst>
              <a:gd name="adj" fmla="val 3921"/>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220325" y="3152775"/>
            <a:ext cx="1676400" cy="209550"/>
          </a:xfrm>
          <a:prstGeom prst="rect">
            <a:avLst/>
          </a:prstGeom>
          <a:noFill/>
        </p:spPr>
        <p:txBody>
          <a:bodyPr wrap="square" lIns="0" rIns="19050" tIns="9525" bIns="9525">
            <a:spAutoFit/>
          </a:bodyPr>
          <a:lstStyle/>
          <a:p>
            <a:pPr algn="l"/>
            <a:r>
              <a:rPr sz="1300" b="1">
                <a:solidFill>
                  <a:srgbClr val="0E2A5C"/>
                </a:solidFill>
                <a:latin typeface="Calibri"/>
              </a:rPr>
              <a:t>Where to Play</a:t>
            </a:r>
          </a:p>
        </p:txBody>
      </p:sp>
      <p:sp>
        <p:nvSpPr>
          <p:cNvPr id="25" name="Rectangle 24"/>
          <p:cNvSpPr/>
          <p:nvPr/>
        </p:nvSpPr>
        <p:spPr>
          <a:xfrm>
            <a:off x="10220325" y="3390900"/>
            <a:ext cx="167640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220325" y="3476625"/>
            <a:ext cx="1676400" cy="307657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t>
            </a:r>
            <a:r>
              <a:rPr sz="1150" b="0">
                <a:solidFill>
                  <a:srgbClr val="2E2E2E"/>
                </a:solidFill>
                <a:latin typeface="Calibri"/>
              </a:rPr>
              <a:t>'Hydrolyzed Eggshell Membrane × Chicken Eggshell Membrane' ranks highest (5/5); 'Micronized Eggshell Membrane × Other Poultry Eggshell Membrane' lowest (1/5), a deprioritised cell.</a:t>
            </a:r>
          </a:p>
        </p:txBody>
      </p:sp>
      <p:sp>
        <p:nvSpPr>
          <p:cNvPr id="27" name="Rectangle 26"/>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29" name="Picture 28" descr="lock.png"/>
          <p:cNvPicPr>
            <a:picLocks noChangeAspect="1"/>
          </p:cNvPicPr>
          <p:nvPr/>
        </p:nvPicPr>
        <p:blipFill>
          <a:blip r:embed="rId4"/>
          <a:stretch>
            <a:fillRect/>
          </a:stretch>
        </p:blipFill>
        <p:spPr>
          <a:xfrm>
            <a:off x="8274419" y="1961541"/>
            <a:ext cx="366712" cy="533400"/>
          </a:xfrm>
          <a:prstGeom prst="rect">
            <a:avLst/>
          </a:prstGeom>
        </p:spPr>
      </p:pic>
      <p:sp>
        <p:nvSpPr>
          <p:cNvPr id="30" name="TextBox 29"/>
          <p:cNvSpPr txBox="1"/>
          <p:nvPr/>
        </p:nvSpPr>
        <p:spPr>
          <a:xfrm>
            <a:off x="276225" y="3486150"/>
            <a:ext cx="4400649" cy="194310"/>
          </a:xfrm>
          <a:prstGeom prst="rect">
            <a:avLst/>
          </a:prstGeom>
          <a:noFill/>
        </p:spPr>
        <p:txBody>
          <a:bodyPr wrap="none" lIns="0" rIns="0" tIns="0" bIns="0">
            <a:spAutoFit/>
          </a:bodyPr>
          <a:lstStyle/>
          <a:p>
            <a:r>
              <a:rPr sz="1150" b="0">
                <a:solidFill>
                  <a:srgbClr val="2E2E2E"/>
                </a:solidFill>
                <a:latin typeface="Calibri"/>
              </a:rPr>
              <a:t>▪ 1. Specialty Extracted Protein Fractions × Chicken Eggshell Membrane –</a:t>
            </a:r>
          </a:p>
        </p:txBody>
      </p:sp>
      <p:pic>
        <p:nvPicPr>
          <p:cNvPr id="31" name="Picture 30" descr="lock.png"/>
          <p:cNvPicPr>
            <a:picLocks noChangeAspect="1"/>
          </p:cNvPicPr>
          <p:nvPr/>
        </p:nvPicPr>
        <p:blipFill>
          <a:blip r:embed="rId4"/>
          <a:stretch>
            <a:fillRect/>
          </a:stretch>
        </p:blipFill>
        <p:spPr>
          <a:xfrm>
            <a:off x="4626028" y="3475926"/>
            <a:ext cx="134549" cy="195707"/>
          </a:xfrm>
          <a:prstGeom prst="rect">
            <a:avLst/>
          </a:prstGeom>
        </p:spPr>
      </p:pic>
      <p:sp>
        <p:nvSpPr>
          <p:cNvPr id="32" name="TextBox 31"/>
          <p:cNvSpPr txBox="1"/>
          <p:nvPr/>
        </p:nvSpPr>
        <p:spPr>
          <a:xfrm>
            <a:off x="4801137" y="3486150"/>
            <a:ext cx="112997" cy="194310"/>
          </a:xfrm>
          <a:prstGeom prst="rect">
            <a:avLst/>
          </a:prstGeom>
          <a:noFill/>
        </p:spPr>
        <p:txBody>
          <a:bodyPr wrap="none" lIns="0" rIns="0" tIns="0" bIns="0">
            <a:spAutoFit/>
          </a:bodyPr>
          <a:lstStyle/>
          <a:p>
            <a:r>
              <a:rPr sz="1150" b="0">
                <a:solidFill>
                  <a:srgbClr val="2E2E2E"/>
                </a:solidFill>
                <a:latin typeface="Calibri"/>
              </a:rPr>
              <a:t>·</a:t>
            </a:r>
          </a:p>
        </p:txBody>
      </p:sp>
      <p:pic>
        <p:nvPicPr>
          <p:cNvPr id="33" name="Picture 32" descr="lock.png"/>
          <p:cNvPicPr>
            <a:picLocks noChangeAspect="1"/>
          </p:cNvPicPr>
          <p:nvPr/>
        </p:nvPicPr>
        <p:blipFill>
          <a:blip r:embed="rId4"/>
          <a:stretch>
            <a:fillRect/>
          </a:stretch>
        </p:blipFill>
        <p:spPr>
          <a:xfrm>
            <a:off x="4863289" y="3475926"/>
            <a:ext cx="134549" cy="195707"/>
          </a:xfrm>
          <a:prstGeom prst="rect">
            <a:avLst/>
          </a:prstGeom>
        </p:spPr>
      </p:pic>
      <p:sp>
        <p:nvSpPr>
          <p:cNvPr id="34" name="TextBox 33"/>
          <p:cNvSpPr txBox="1"/>
          <p:nvPr/>
        </p:nvSpPr>
        <p:spPr>
          <a:xfrm>
            <a:off x="5038398" y="3486150"/>
            <a:ext cx="350899" cy="194310"/>
          </a:xfrm>
          <a:prstGeom prst="rect">
            <a:avLst/>
          </a:prstGeom>
          <a:noFill/>
        </p:spPr>
        <p:txBody>
          <a:bodyPr wrap="none" lIns="0" rIns="0" tIns="0" bIns="0">
            <a:spAutoFit/>
          </a:bodyPr>
          <a:lstStyle/>
          <a:p>
            <a:r>
              <a:rPr sz="1150" b="0">
                <a:solidFill>
                  <a:srgbClr val="2E2E2E"/>
                </a:solidFill>
                <a:latin typeface="Calibri"/>
              </a:rPr>
              <a:t>· 5/5</a:t>
            </a:r>
          </a:p>
        </p:txBody>
      </p:sp>
      <p:sp>
        <p:nvSpPr>
          <p:cNvPr id="35" name="TextBox 34"/>
          <p:cNvSpPr txBox="1"/>
          <p:nvPr/>
        </p:nvSpPr>
        <p:spPr>
          <a:xfrm>
            <a:off x="276225" y="3713987"/>
            <a:ext cx="4105411" cy="194310"/>
          </a:xfrm>
          <a:prstGeom prst="rect">
            <a:avLst/>
          </a:prstGeom>
          <a:noFill/>
        </p:spPr>
        <p:txBody>
          <a:bodyPr wrap="none" lIns="0" rIns="0" tIns="0" bIns="0">
            <a:spAutoFit/>
          </a:bodyPr>
          <a:lstStyle/>
          <a:p>
            <a:r>
              <a:rPr sz="1150" b="0">
                <a:solidFill>
                  <a:srgbClr val="2E2E2E"/>
                </a:solidFill>
                <a:latin typeface="Calibri"/>
              </a:rPr>
              <a:t>▪ 2. Hydrolyzed Eggshell Membrane × Chicken Eggshell Membrane –</a:t>
            </a:r>
          </a:p>
        </p:txBody>
      </p:sp>
      <p:pic>
        <p:nvPicPr>
          <p:cNvPr id="36" name="Picture 35" descr="lock.png"/>
          <p:cNvPicPr>
            <a:picLocks noChangeAspect="1"/>
          </p:cNvPicPr>
          <p:nvPr/>
        </p:nvPicPr>
        <p:blipFill>
          <a:blip r:embed="rId4"/>
          <a:stretch>
            <a:fillRect/>
          </a:stretch>
        </p:blipFill>
        <p:spPr>
          <a:xfrm>
            <a:off x="4330790" y="3703764"/>
            <a:ext cx="134549" cy="195707"/>
          </a:xfrm>
          <a:prstGeom prst="rect">
            <a:avLst/>
          </a:prstGeom>
        </p:spPr>
      </p:pic>
      <p:sp>
        <p:nvSpPr>
          <p:cNvPr id="37" name="TextBox 36"/>
          <p:cNvSpPr txBox="1"/>
          <p:nvPr/>
        </p:nvSpPr>
        <p:spPr>
          <a:xfrm>
            <a:off x="4505899" y="3713987"/>
            <a:ext cx="112997" cy="194310"/>
          </a:xfrm>
          <a:prstGeom prst="rect">
            <a:avLst/>
          </a:prstGeom>
          <a:noFill/>
        </p:spPr>
        <p:txBody>
          <a:bodyPr wrap="none" lIns="0" rIns="0" tIns="0" bIns="0">
            <a:spAutoFit/>
          </a:bodyPr>
          <a:lstStyle/>
          <a:p>
            <a:r>
              <a:rPr sz="1150" b="0">
                <a:solidFill>
                  <a:srgbClr val="2E2E2E"/>
                </a:solidFill>
                <a:latin typeface="Calibri"/>
              </a:rPr>
              <a:t>·</a:t>
            </a:r>
          </a:p>
        </p:txBody>
      </p:sp>
      <p:pic>
        <p:nvPicPr>
          <p:cNvPr id="38" name="Picture 37" descr="lock.png"/>
          <p:cNvPicPr>
            <a:picLocks noChangeAspect="1"/>
          </p:cNvPicPr>
          <p:nvPr/>
        </p:nvPicPr>
        <p:blipFill>
          <a:blip r:embed="rId4"/>
          <a:stretch>
            <a:fillRect/>
          </a:stretch>
        </p:blipFill>
        <p:spPr>
          <a:xfrm>
            <a:off x="4568051" y="3703764"/>
            <a:ext cx="134549" cy="195707"/>
          </a:xfrm>
          <a:prstGeom prst="rect">
            <a:avLst/>
          </a:prstGeom>
        </p:spPr>
      </p:pic>
      <p:sp>
        <p:nvSpPr>
          <p:cNvPr id="39" name="TextBox 38"/>
          <p:cNvSpPr txBox="1"/>
          <p:nvPr/>
        </p:nvSpPr>
        <p:spPr>
          <a:xfrm>
            <a:off x="4743160" y="3713987"/>
            <a:ext cx="350899" cy="194310"/>
          </a:xfrm>
          <a:prstGeom prst="rect">
            <a:avLst/>
          </a:prstGeom>
          <a:noFill/>
        </p:spPr>
        <p:txBody>
          <a:bodyPr wrap="none" lIns="0" rIns="0" tIns="0" bIns="0">
            <a:spAutoFit/>
          </a:bodyPr>
          <a:lstStyle/>
          <a:p>
            <a:r>
              <a:rPr sz="1150" b="0">
                <a:solidFill>
                  <a:srgbClr val="2E2E2E"/>
                </a:solidFill>
                <a:latin typeface="Calibri"/>
              </a:rPr>
              <a:t>· 5/5</a:t>
            </a:r>
          </a:p>
        </p:txBody>
      </p:sp>
      <p:sp>
        <p:nvSpPr>
          <p:cNvPr id="40" name="TextBox 39"/>
          <p:cNvSpPr txBox="1"/>
          <p:nvPr/>
        </p:nvSpPr>
        <p:spPr>
          <a:xfrm>
            <a:off x="276225" y="3941825"/>
            <a:ext cx="4102558" cy="194310"/>
          </a:xfrm>
          <a:prstGeom prst="rect">
            <a:avLst/>
          </a:prstGeom>
          <a:noFill/>
        </p:spPr>
        <p:txBody>
          <a:bodyPr wrap="none" lIns="0" rIns="0" tIns="0" bIns="0">
            <a:spAutoFit/>
          </a:bodyPr>
          <a:lstStyle/>
          <a:p>
            <a:r>
              <a:rPr sz="1150" b="0">
                <a:solidFill>
                  <a:srgbClr val="2E2E2E"/>
                </a:solidFill>
                <a:latin typeface="Calibri"/>
              </a:rPr>
              <a:t>▪ 3. Micronized Eggshell Membrane × Chicken Eggshell Membrane –</a:t>
            </a:r>
          </a:p>
        </p:txBody>
      </p:sp>
      <p:pic>
        <p:nvPicPr>
          <p:cNvPr id="41" name="Picture 40" descr="lock.png"/>
          <p:cNvPicPr>
            <a:picLocks noChangeAspect="1"/>
          </p:cNvPicPr>
          <p:nvPr/>
        </p:nvPicPr>
        <p:blipFill>
          <a:blip r:embed="rId4"/>
          <a:stretch>
            <a:fillRect/>
          </a:stretch>
        </p:blipFill>
        <p:spPr>
          <a:xfrm>
            <a:off x="4327937" y="3931602"/>
            <a:ext cx="134549" cy="195707"/>
          </a:xfrm>
          <a:prstGeom prst="rect">
            <a:avLst/>
          </a:prstGeom>
        </p:spPr>
      </p:pic>
      <p:sp>
        <p:nvSpPr>
          <p:cNvPr id="42" name="TextBox 41"/>
          <p:cNvSpPr txBox="1"/>
          <p:nvPr/>
        </p:nvSpPr>
        <p:spPr>
          <a:xfrm>
            <a:off x="4503047" y="3941825"/>
            <a:ext cx="112997" cy="194310"/>
          </a:xfrm>
          <a:prstGeom prst="rect">
            <a:avLst/>
          </a:prstGeom>
          <a:noFill/>
        </p:spPr>
        <p:txBody>
          <a:bodyPr wrap="none" lIns="0" rIns="0" tIns="0" bIns="0">
            <a:spAutoFit/>
          </a:bodyPr>
          <a:lstStyle/>
          <a:p>
            <a:r>
              <a:rPr sz="1150" b="0">
                <a:solidFill>
                  <a:srgbClr val="2E2E2E"/>
                </a:solidFill>
                <a:latin typeface="Calibri"/>
              </a:rPr>
              <a:t>·</a:t>
            </a:r>
          </a:p>
        </p:txBody>
      </p:sp>
      <p:pic>
        <p:nvPicPr>
          <p:cNvPr id="43" name="Picture 42" descr="lock.png"/>
          <p:cNvPicPr>
            <a:picLocks noChangeAspect="1"/>
          </p:cNvPicPr>
          <p:nvPr/>
        </p:nvPicPr>
        <p:blipFill>
          <a:blip r:embed="rId4"/>
          <a:stretch>
            <a:fillRect/>
          </a:stretch>
        </p:blipFill>
        <p:spPr>
          <a:xfrm>
            <a:off x="4565198" y="3931602"/>
            <a:ext cx="134549" cy="195707"/>
          </a:xfrm>
          <a:prstGeom prst="rect">
            <a:avLst/>
          </a:prstGeom>
        </p:spPr>
      </p:pic>
      <p:sp>
        <p:nvSpPr>
          <p:cNvPr id="44" name="TextBox 43"/>
          <p:cNvSpPr txBox="1"/>
          <p:nvPr/>
        </p:nvSpPr>
        <p:spPr>
          <a:xfrm>
            <a:off x="4740308" y="3941825"/>
            <a:ext cx="350899" cy="194310"/>
          </a:xfrm>
          <a:prstGeom prst="rect">
            <a:avLst/>
          </a:prstGeom>
          <a:noFill/>
        </p:spPr>
        <p:txBody>
          <a:bodyPr wrap="none" lIns="0" rIns="0" tIns="0" bIns="0">
            <a:spAutoFit/>
          </a:bodyPr>
          <a:lstStyle/>
          <a:p>
            <a:r>
              <a:rPr sz="1150" b="0">
                <a:solidFill>
                  <a:srgbClr val="2E2E2E"/>
                </a:solidFill>
                <a:latin typeface="Calibri"/>
              </a:rPr>
              <a:t>· 3/5</a:t>
            </a:r>
          </a:p>
        </p:txBody>
      </p:sp>
      <p:sp>
        <p:nvSpPr>
          <p:cNvPr id="45" name="TextBox 44"/>
          <p:cNvSpPr txBox="1"/>
          <p:nvPr/>
        </p:nvSpPr>
        <p:spPr>
          <a:xfrm>
            <a:off x="276225" y="4169663"/>
            <a:ext cx="4445148" cy="194310"/>
          </a:xfrm>
          <a:prstGeom prst="rect">
            <a:avLst/>
          </a:prstGeom>
          <a:noFill/>
        </p:spPr>
        <p:txBody>
          <a:bodyPr wrap="none" lIns="0" rIns="0" tIns="0" bIns="0">
            <a:spAutoFit/>
          </a:bodyPr>
          <a:lstStyle/>
          <a:p>
            <a:r>
              <a:rPr sz="1150" b="0">
                <a:solidFill>
                  <a:srgbClr val="2E2E2E"/>
                </a:solidFill>
                <a:latin typeface="Calibri"/>
              </a:rPr>
              <a:t>▪ 4. Micronized Eggshell Membrane × Other Poultry Eggshell Membrane –</a:t>
            </a:r>
          </a:p>
        </p:txBody>
      </p:sp>
      <p:pic>
        <p:nvPicPr>
          <p:cNvPr id="46" name="Picture 45" descr="lock.png"/>
          <p:cNvPicPr>
            <a:picLocks noChangeAspect="1"/>
          </p:cNvPicPr>
          <p:nvPr/>
        </p:nvPicPr>
        <p:blipFill>
          <a:blip r:embed="rId4"/>
          <a:stretch>
            <a:fillRect/>
          </a:stretch>
        </p:blipFill>
        <p:spPr>
          <a:xfrm>
            <a:off x="4670527" y="4159440"/>
            <a:ext cx="134549" cy="195707"/>
          </a:xfrm>
          <a:prstGeom prst="rect">
            <a:avLst/>
          </a:prstGeom>
        </p:spPr>
      </p:pic>
      <p:sp>
        <p:nvSpPr>
          <p:cNvPr id="47" name="TextBox 46"/>
          <p:cNvSpPr txBox="1"/>
          <p:nvPr/>
        </p:nvSpPr>
        <p:spPr>
          <a:xfrm>
            <a:off x="4845637" y="4169663"/>
            <a:ext cx="112997" cy="194310"/>
          </a:xfrm>
          <a:prstGeom prst="rect">
            <a:avLst/>
          </a:prstGeom>
          <a:noFill/>
        </p:spPr>
        <p:txBody>
          <a:bodyPr wrap="none" lIns="0" rIns="0" tIns="0" bIns="0">
            <a:spAutoFit/>
          </a:bodyPr>
          <a:lstStyle/>
          <a:p>
            <a:r>
              <a:rPr sz="1150" b="0">
                <a:solidFill>
                  <a:srgbClr val="2E2E2E"/>
                </a:solidFill>
                <a:latin typeface="Calibri"/>
              </a:rPr>
              <a:t>·</a:t>
            </a:r>
          </a:p>
        </p:txBody>
      </p:sp>
      <p:pic>
        <p:nvPicPr>
          <p:cNvPr id="48" name="Picture 47" descr="lock.png"/>
          <p:cNvPicPr>
            <a:picLocks noChangeAspect="1"/>
          </p:cNvPicPr>
          <p:nvPr/>
        </p:nvPicPr>
        <p:blipFill>
          <a:blip r:embed="rId4"/>
          <a:stretch>
            <a:fillRect/>
          </a:stretch>
        </p:blipFill>
        <p:spPr>
          <a:xfrm>
            <a:off x="4907788" y="4159440"/>
            <a:ext cx="134549" cy="195707"/>
          </a:xfrm>
          <a:prstGeom prst="rect">
            <a:avLst/>
          </a:prstGeom>
        </p:spPr>
      </p:pic>
      <p:sp>
        <p:nvSpPr>
          <p:cNvPr id="49" name="TextBox 48"/>
          <p:cNvSpPr txBox="1"/>
          <p:nvPr/>
        </p:nvSpPr>
        <p:spPr>
          <a:xfrm>
            <a:off x="5082897" y="4169663"/>
            <a:ext cx="350899" cy="194310"/>
          </a:xfrm>
          <a:prstGeom prst="rect">
            <a:avLst/>
          </a:prstGeom>
          <a:noFill/>
        </p:spPr>
        <p:txBody>
          <a:bodyPr wrap="none" lIns="0" rIns="0" tIns="0" bIns="0">
            <a:spAutoFit/>
          </a:bodyPr>
          <a:lstStyle/>
          <a:p>
            <a:r>
              <a:rPr sz="1150" b="0">
                <a:solidFill>
                  <a:srgbClr val="2E2E2E"/>
                </a:solidFill>
                <a:latin typeface="Calibri"/>
              </a:rPr>
              <a:t>· 1/5</a:t>
            </a:r>
          </a:p>
        </p:txBody>
      </p:sp>
      <p:sp>
        <p:nvSpPr>
          <p:cNvPr id="50" name="TextBox 49"/>
          <p:cNvSpPr txBox="1"/>
          <p:nvPr/>
        </p:nvSpPr>
        <p:spPr>
          <a:xfrm>
            <a:off x="276225" y="4397501"/>
            <a:ext cx="4448001" cy="194310"/>
          </a:xfrm>
          <a:prstGeom prst="rect">
            <a:avLst/>
          </a:prstGeom>
          <a:noFill/>
        </p:spPr>
        <p:txBody>
          <a:bodyPr wrap="none" lIns="0" rIns="0" tIns="0" bIns="0">
            <a:spAutoFit/>
          </a:bodyPr>
          <a:lstStyle/>
          <a:p>
            <a:r>
              <a:rPr sz="1150" b="0">
                <a:solidFill>
                  <a:srgbClr val="2E2E2E"/>
                </a:solidFill>
                <a:latin typeface="Calibri"/>
              </a:rPr>
              <a:t>▪ 5. Hydrolyzed Eggshell Membrane × Other Poultry Eggshell Membrane –</a:t>
            </a:r>
          </a:p>
        </p:txBody>
      </p:sp>
      <p:pic>
        <p:nvPicPr>
          <p:cNvPr id="51" name="Picture 50" descr="lock.png"/>
          <p:cNvPicPr>
            <a:picLocks noChangeAspect="1"/>
          </p:cNvPicPr>
          <p:nvPr/>
        </p:nvPicPr>
        <p:blipFill>
          <a:blip r:embed="rId4"/>
          <a:stretch>
            <a:fillRect/>
          </a:stretch>
        </p:blipFill>
        <p:spPr>
          <a:xfrm>
            <a:off x="4673380" y="4387278"/>
            <a:ext cx="134549" cy="195707"/>
          </a:xfrm>
          <a:prstGeom prst="rect">
            <a:avLst/>
          </a:prstGeom>
        </p:spPr>
      </p:pic>
      <p:sp>
        <p:nvSpPr>
          <p:cNvPr id="52" name="TextBox 51"/>
          <p:cNvSpPr txBox="1"/>
          <p:nvPr/>
        </p:nvSpPr>
        <p:spPr>
          <a:xfrm>
            <a:off x="4848489" y="4397501"/>
            <a:ext cx="112997" cy="194310"/>
          </a:xfrm>
          <a:prstGeom prst="rect">
            <a:avLst/>
          </a:prstGeom>
          <a:noFill/>
        </p:spPr>
        <p:txBody>
          <a:bodyPr wrap="none" lIns="0" rIns="0" tIns="0" bIns="0">
            <a:spAutoFit/>
          </a:bodyPr>
          <a:lstStyle/>
          <a:p>
            <a:r>
              <a:rPr sz="1150" b="0">
                <a:solidFill>
                  <a:srgbClr val="2E2E2E"/>
                </a:solidFill>
                <a:latin typeface="Calibri"/>
              </a:rPr>
              <a:t>·</a:t>
            </a:r>
          </a:p>
        </p:txBody>
      </p:sp>
      <p:pic>
        <p:nvPicPr>
          <p:cNvPr id="53" name="Picture 52" descr="lock.png"/>
          <p:cNvPicPr>
            <a:picLocks noChangeAspect="1"/>
          </p:cNvPicPr>
          <p:nvPr/>
        </p:nvPicPr>
        <p:blipFill>
          <a:blip r:embed="rId4"/>
          <a:stretch>
            <a:fillRect/>
          </a:stretch>
        </p:blipFill>
        <p:spPr>
          <a:xfrm>
            <a:off x="4910641" y="4387278"/>
            <a:ext cx="134549" cy="195707"/>
          </a:xfrm>
          <a:prstGeom prst="rect">
            <a:avLst/>
          </a:prstGeom>
        </p:spPr>
      </p:pic>
      <p:sp>
        <p:nvSpPr>
          <p:cNvPr id="54" name="TextBox 53"/>
          <p:cNvSpPr txBox="1"/>
          <p:nvPr/>
        </p:nvSpPr>
        <p:spPr>
          <a:xfrm>
            <a:off x="5085750" y="4397501"/>
            <a:ext cx="112997" cy="194310"/>
          </a:xfrm>
          <a:prstGeom prst="rect">
            <a:avLst/>
          </a:prstGeom>
          <a:noFill/>
        </p:spPr>
        <p:txBody>
          <a:bodyPr wrap="none" lIns="0" rIns="0" tIns="0" bIns="0">
            <a:spAutoFit/>
          </a:bodyPr>
          <a:lstStyle/>
          <a:p>
            <a:r>
              <a:rPr sz="1150" b="0">
                <a:solidFill>
                  <a:srgbClr val="2E2E2E"/>
                </a:solidFill>
                <a:latin typeface="Calibri"/>
              </a:rPr>
              <a:t>·</a:t>
            </a:r>
          </a:p>
        </p:txBody>
      </p:sp>
      <p:sp>
        <p:nvSpPr>
          <p:cNvPr id="55" name="TextBox 54"/>
          <p:cNvSpPr txBox="1"/>
          <p:nvPr/>
        </p:nvSpPr>
        <p:spPr>
          <a:xfrm>
            <a:off x="276225" y="4572761"/>
            <a:ext cx="281012" cy="194310"/>
          </a:xfrm>
          <a:prstGeom prst="rect">
            <a:avLst/>
          </a:prstGeom>
          <a:noFill/>
        </p:spPr>
        <p:txBody>
          <a:bodyPr wrap="none" lIns="0" rIns="0" tIns="0" bIns="0">
            <a:spAutoFit/>
          </a:bodyPr>
          <a:lstStyle/>
          <a:p>
            <a:r>
              <a:rPr sz="1150" b="0">
                <a:solidFill>
                  <a:srgbClr val="2E2E2E"/>
                </a:solidFill>
                <a:latin typeface="Calibri"/>
              </a:rPr>
              <a:t>1/5</a:t>
            </a:r>
          </a:p>
        </p:txBody>
      </p:sp>
      <p:sp>
        <p:nvSpPr>
          <p:cNvPr id="56" name="TextBox 55"/>
          <p:cNvSpPr txBox="1"/>
          <p:nvPr/>
        </p:nvSpPr>
        <p:spPr>
          <a:xfrm>
            <a:off x="6029325" y="3486150"/>
            <a:ext cx="1377813" cy="194310"/>
          </a:xfrm>
          <a:prstGeom prst="rect">
            <a:avLst/>
          </a:prstGeom>
          <a:noFill/>
        </p:spPr>
        <p:txBody>
          <a:bodyPr wrap="none" lIns="0" rIns="0" tIns="0" bIns="0">
            <a:spAutoFit/>
          </a:bodyPr>
          <a:lstStyle/>
          <a:p>
            <a:r>
              <a:rPr sz="1150" b="0">
                <a:solidFill>
                  <a:srgbClr val="2E2E2E"/>
                </a:solidFill>
                <a:latin typeface="Calibri"/>
              </a:rPr>
              <a:t>▪ 'Hydrolyzed Eggshell</a:t>
            </a:r>
          </a:p>
        </p:txBody>
      </p:sp>
      <p:sp>
        <p:nvSpPr>
          <p:cNvPr id="57" name="TextBox 56"/>
          <p:cNvSpPr txBox="1"/>
          <p:nvPr/>
        </p:nvSpPr>
        <p:spPr>
          <a:xfrm>
            <a:off x="6029325" y="3661410"/>
            <a:ext cx="1342727" cy="194310"/>
          </a:xfrm>
          <a:prstGeom prst="rect">
            <a:avLst/>
          </a:prstGeom>
          <a:noFill/>
        </p:spPr>
        <p:txBody>
          <a:bodyPr wrap="none" lIns="0" rIns="0" tIns="0" bIns="0">
            <a:spAutoFit/>
          </a:bodyPr>
          <a:lstStyle/>
          <a:p>
            <a:r>
              <a:rPr sz="1150" b="0">
                <a:solidFill>
                  <a:srgbClr val="2E2E2E"/>
                </a:solidFill>
                <a:latin typeface="Calibri"/>
              </a:rPr>
              <a:t>Membrane × Chicken</a:t>
            </a:r>
          </a:p>
        </p:txBody>
      </p:sp>
      <p:sp>
        <p:nvSpPr>
          <p:cNvPr id="58" name="TextBox 57"/>
          <p:cNvSpPr txBox="1"/>
          <p:nvPr/>
        </p:nvSpPr>
        <p:spPr>
          <a:xfrm>
            <a:off x="6029325" y="3836669"/>
            <a:ext cx="1599170" cy="194310"/>
          </a:xfrm>
          <a:prstGeom prst="rect">
            <a:avLst/>
          </a:prstGeom>
          <a:noFill/>
        </p:spPr>
        <p:txBody>
          <a:bodyPr wrap="none" lIns="0" rIns="0" tIns="0" bIns="0">
            <a:spAutoFit/>
          </a:bodyPr>
          <a:lstStyle/>
          <a:p>
            <a:r>
              <a:rPr sz="1150" b="0">
                <a:solidFill>
                  <a:srgbClr val="2E2E2E"/>
                </a:solidFill>
                <a:latin typeface="Calibri"/>
              </a:rPr>
              <a:t>Eggshell Membrane' adds</a:t>
            </a:r>
          </a:p>
        </p:txBody>
      </p:sp>
      <p:pic>
        <p:nvPicPr>
          <p:cNvPr id="59" name="Picture 58" descr="lock.png"/>
          <p:cNvPicPr>
            <a:picLocks noChangeAspect="1"/>
          </p:cNvPicPr>
          <p:nvPr/>
        </p:nvPicPr>
        <p:blipFill>
          <a:blip r:embed="rId4"/>
          <a:stretch>
            <a:fillRect/>
          </a:stretch>
        </p:blipFill>
        <p:spPr>
          <a:xfrm>
            <a:off x="6015245" y="4001706"/>
            <a:ext cx="134549" cy="195707"/>
          </a:xfrm>
          <a:prstGeom prst="rect">
            <a:avLst/>
          </a:prstGeom>
        </p:spPr>
      </p:pic>
      <p:sp>
        <p:nvSpPr>
          <p:cNvPr id="60" name="TextBox 59"/>
          <p:cNvSpPr txBox="1"/>
          <p:nvPr/>
        </p:nvSpPr>
        <p:spPr>
          <a:xfrm>
            <a:off x="6190354" y="4011929"/>
            <a:ext cx="1224632" cy="194310"/>
          </a:xfrm>
          <a:prstGeom prst="rect">
            <a:avLst/>
          </a:prstGeom>
          <a:noFill/>
        </p:spPr>
        <p:txBody>
          <a:bodyPr wrap="none" lIns="0" rIns="0" tIns="0" bIns="0">
            <a:spAutoFit/>
          </a:bodyPr>
          <a:lstStyle/>
          <a:p>
            <a:r>
              <a:rPr sz="1150" b="0">
                <a:solidFill>
                  <a:srgbClr val="2E2E2E"/>
                </a:solidFill>
                <a:latin typeface="Calibri"/>
              </a:rPr>
              <a:t>US$ Mn by 2036F –</a:t>
            </a:r>
          </a:p>
        </p:txBody>
      </p:sp>
      <p:pic>
        <p:nvPicPr>
          <p:cNvPr id="61" name="Picture 60" descr="lock.png"/>
          <p:cNvPicPr>
            <a:picLocks noChangeAspect="1"/>
          </p:cNvPicPr>
          <p:nvPr/>
        </p:nvPicPr>
        <p:blipFill>
          <a:blip r:embed="rId4"/>
          <a:stretch>
            <a:fillRect/>
          </a:stretch>
        </p:blipFill>
        <p:spPr>
          <a:xfrm>
            <a:off x="6015245" y="4176966"/>
            <a:ext cx="134549" cy="195707"/>
          </a:xfrm>
          <a:prstGeom prst="rect">
            <a:avLst/>
          </a:prstGeom>
        </p:spPr>
      </p:pic>
      <p:sp>
        <p:nvSpPr>
          <p:cNvPr id="62" name="TextBox 61"/>
          <p:cNvSpPr txBox="1"/>
          <p:nvPr/>
        </p:nvSpPr>
        <p:spPr>
          <a:xfrm>
            <a:off x="6190354" y="4187189"/>
            <a:ext cx="741126" cy="194310"/>
          </a:xfrm>
          <a:prstGeom prst="rect">
            <a:avLst/>
          </a:prstGeom>
          <a:noFill/>
        </p:spPr>
        <p:txBody>
          <a:bodyPr wrap="none" lIns="0" rIns="0" tIns="0" bIns="0">
            <a:spAutoFit/>
          </a:bodyPr>
          <a:lstStyle/>
          <a:p>
            <a:r>
              <a:rPr sz="1150" b="0">
                <a:solidFill>
                  <a:srgbClr val="2E2E2E"/>
                </a:solidFill>
                <a:latin typeface="Calibri"/>
              </a:rPr>
              <a:t>of the total</a:t>
            </a:r>
          </a:p>
        </p:txBody>
      </p:sp>
      <p:sp>
        <p:nvSpPr>
          <p:cNvPr id="63" name="TextBox 62"/>
          <p:cNvSpPr txBox="1"/>
          <p:nvPr/>
        </p:nvSpPr>
        <p:spPr>
          <a:xfrm>
            <a:off x="6029325" y="4362449"/>
            <a:ext cx="822994" cy="194310"/>
          </a:xfrm>
          <a:prstGeom prst="rect">
            <a:avLst/>
          </a:prstGeom>
          <a:noFill/>
        </p:spPr>
        <p:txBody>
          <a:bodyPr wrap="none" lIns="0" rIns="0" tIns="0" bIns="0">
            <a:spAutoFit/>
          </a:bodyPr>
          <a:lstStyle/>
          <a:p>
            <a:r>
              <a:rPr sz="1150" b="0">
                <a:solidFill>
                  <a:srgbClr val="2E2E2E"/>
                </a:solidFill>
                <a:latin typeface="Calibri"/>
              </a:rPr>
              <a:t>opportunity.</a:t>
            </a:r>
          </a:p>
        </p:txBody>
      </p:sp>
      <p:sp>
        <p:nvSpPr>
          <p:cNvPr id="64" name="TextBox 63"/>
          <p:cNvSpPr txBox="1"/>
          <p:nvPr/>
        </p:nvSpPr>
        <p:spPr>
          <a:xfrm>
            <a:off x="8124825" y="3486150"/>
            <a:ext cx="1377813" cy="194310"/>
          </a:xfrm>
          <a:prstGeom prst="rect">
            <a:avLst/>
          </a:prstGeom>
          <a:noFill/>
        </p:spPr>
        <p:txBody>
          <a:bodyPr wrap="none" lIns="0" rIns="0" tIns="0" bIns="0">
            <a:spAutoFit/>
          </a:bodyPr>
          <a:lstStyle/>
          <a:p>
            <a:r>
              <a:rPr sz="1150" b="0">
                <a:solidFill>
                  <a:srgbClr val="2E2E2E"/>
                </a:solidFill>
                <a:latin typeface="Calibri"/>
              </a:rPr>
              <a:t>▪ 'Hydrolyzed Eggshell</a:t>
            </a:r>
          </a:p>
        </p:txBody>
      </p:sp>
      <p:sp>
        <p:nvSpPr>
          <p:cNvPr id="65" name="TextBox 64"/>
          <p:cNvSpPr txBox="1"/>
          <p:nvPr/>
        </p:nvSpPr>
        <p:spPr>
          <a:xfrm>
            <a:off x="8124825" y="3661410"/>
            <a:ext cx="1342727" cy="194310"/>
          </a:xfrm>
          <a:prstGeom prst="rect">
            <a:avLst/>
          </a:prstGeom>
          <a:noFill/>
        </p:spPr>
        <p:txBody>
          <a:bodyPr wrap="none" lIns="0" rIns="0" tIns="0" bIns="0">
            <a:spAutoFit/>
          </a:bodyPr>
          <a:lstStyle/>
          <a:p>
            <a:r>
              <a:rPr sz="1150" b="0">
                <a:solidFill>
                  <a:srgbClr val="2E2E2E"/>
                </a:solidFill>
                <a:latin typeface="Calibri"/>
              </a:rPr>
              <a:t>Membrane × Chicken</a:t>
            </a:r>
          </a:p>
        </p:txBody>
      </p:sp>
      <p:sp>
        <p:nvSpPr>
          <p:cNvPr id="66" name="TextBox 65"/>
          <p:cNvSpPr txBox="1"/>
          <p:nvPr/>
        </p:nvSpPr>
        <p:spPr>
          <a:xfrm>
            <a:off x="8124825" y="3836669"/>
            <a:ext cx="1657350" cy="194310"/>
          </a:xfrm>
          <a:prstGeom prst="rect">
            <a:avLst/>
          </a:prstGeom>
          <a:noFill/>
        </p:spPr>
        <p:txBody>
          <a:bodyPr wrap="none" lIns="0" rIns="0" tIns="0" bIns="0">
            <a:spAutoFit/>
          </a:bodyPr>
          <a:lstStyle/>
          <a:p>
            <a:r>
              <a:rPr sz="1150" b="0">
                <a:solidFill>
                  <a:srgbClr val="2E2E2E"/>
                </a:solidFill>
                <a:latin typeface="Calibri"/>
              </a:rPr>
              <a:t>Eggshell Membrane' grows</a:t>
            </a:r>
          </a:p>
        </p:txBody>
      </p:sp>
      <p:sp>
        <p:nvSpPr>
          <p:cNvPr id="67" name="TextBox 66"/>
          <p:cNvSpPr txBox="1"/>
          <p:nvPr/>
        </p:nvSpPr>
        <p:spPr>
          <a:xfrm>
            <a:off x="8124825" y="4011929"/>
            <a:ext cx="298127" cy="194310"/>
          </a:xfrm>
          <a:prstGeom prst="rect">
            <a:avLst/>
          </a:prstGeom>
          <a:noFill/>
        </p:spPr>
        <p:txBody>
          <a:bodyPr wrap="none" lIns="0" rIns="0" tIns="0" bIns="0">
            <a:spAutoFit/>
          </a:bodyPr>
          <a:lstStyle/>
          <a:p>
            <a:r>
              <a:rPr sz="1150" b="0">
                <a:solidFill>
                  <a:srgbClr val="2E2E2E"/>
                </a:solidFill>
                <a:latin typeface="Calibri"/>
              </a:rPr>
              <a:t>at a</a:t>
            </a:r>
          </a:p>
        </p:txBody>
      </p:sp>
      <p:pic>
        <p:nvPicPr>
          <p:cNvPr id="68" name="Picture 67" descr="lock.png"/>
          <p:cNvPicPr>
            <a:picLocks noChangeAspect="1"/>
          </p:cNvPicPr>
          <p:nvPr/>
        </p:nvPicPr>
        <p:blipFill>
          <a:blip r:embed="rId4"/>
          <a:stretch>
            <a:fillRect/>
          </a:stretch>
        </p:blipFill>
        <p:spPr>
          <a:xfrm>
            <a:off x="8372106" y="4001706"/>
            <a:ext cx="134549" cy="195707"/>
          </a:xfrm>
          <a:prstGeom prst="rect">
            <a:avLst/>
          </a:prstGeom>
        </p:spPr>
      </p:pic>
      <p:sp>
        <p:nvSpPr>
          <p:cNvPr id="69" name="TextBox 68"/>
          <p:cNvSpPr txBox="1"/>
          <p:nvPr/>
        </p:nvSpPr>
        <p:spPr>
          <a:xfrm>
            <a:off x="8547215" y="4011929"/>
            <a:ext cx="446441" cy="194310"/>
          </a:xfrm>
          <a:prstGeom prst="rect">
            <a:avLst/>
          </a:prstGeom>
          <a:noFill/>
        </p:spPr>
        <p:txBody>
          <a:bodyPr wrap="none" lIns="0" rIns="0" tIns="0" bIns="0">
            <a:spAutoFit/>
          </a:bodyPr>
          <a:lstStyle/>
          <a:p>
            <a:r>
              <a:rPr sz="1150" b="0">
                <a:solidFill>
                  <a:srgbClr val="2E2E2E"/>
                </a:solidFill>
                <a:latin typeface="Calibri"/>
              </a:rPr>
              <a:t>CAGR,</a:t>
            </a:r>
          </a:p>
        </p:txBody>
      </p:sp>
      <p:pic>
        <p:nvPicPr>
          <p:cNvPr id="70" name="Picture 69" descr="lock.png"/>
          <p:cNvPicPr>
            <a:picLocks noChangeAspect="1"/>
          </p:cNvPicPr>
          <p:nvPr/>
        </p:nvPicPr>
        <p:blipFill>
          <a:blip r:embed="rId4"/>
          <a:stretch>
            <a:fillRect/>
          </a:stretch>
        </p:blipFill>
        <p:spPr>
          <a:xfrm>
            <a:off x="8942811" y="4001706"/>
            <a:ext cx="134549" cy="195707"/>
          </a:xfrm>
          <a:prstGeom prst="rect">
            <a:avLst/>
          </a:prstGeom>
        </p:spPr>
      </p:pic>
      <p:sp>
        <p:nvSpPr>
          <p:cNvPr id="71" name="TextBox 70"/>
          <p:cNvSpPr txBox="1"/>
          <p:nvPr/>
        </p:nvSpPr>
        <p:spPr>
          <a:xfrm>
            <a:off x="9117920" y="4011929"/>
            <a:ext cx="298412" cy="194310"/>
          </a:xfrm>
          <a:prstGeom prst="rect">
            <a:avLst/>
          </a:prstGeom>
          <a:noFill/>
        </p:spPr>
        <p:txBody>
          <a:bodyPr wrap="none" lIns="0" rIns="0" tIns="0" bIns="0">
            <a:spAutoFit/>
          </a:bodyPr>
          <a:lstStyle/>
          <a:p>
            <a:r>
              <a:rPr sz="1150" b="0">
                <a:solidFill>
                  <a:srgbClr val="2E2E2E"/>
                </a:solidFill>
                <a:latin typeface="Calibri"/>
              </a:rPr>
              <a:t>BPS</a:t>
            </a:r>
          </a:p>
        </p:txBody>
      </p:sp>
      <p:sp>
        <p:nvSpPr>
          <p:cNvPr id="72" name="TextBox 71"/>
          <p:cNvSpPr txBox="1"/>
          <p:nvPr/>
        </p:nvSpPr>
        <p:spPr>
          <a:xfrm>
            <a:off x="8124825" y="4187189"/>
            <a:ext cx="1517017" cy="194310"/>
          </a:xfrm>
          <a:prstGeom prst="rect">
            <a:avLst/>
          </a:prstGeom>
          <a:noFill/>
        </p:spPr>
        <p:txBody>
          <a:bodyPr wrap="none" lIns="0" rIns="0" tIns="0" bIns="0">
            <a:spAutoFit/>
          </a:bodyPr>
          <a:lstStyle/>
          <a:p>
            <a:r>
              <a:rPr sz="1150" b="0">
                <a:solidFill>
                  <a:srgbClr val="2E2E2E"/>
                </a:solidFill>
                <a:latin typeface="Calibri"/>
              </a:rPr>
              <a:t>above the cross-section.</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3F8FD"/>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3F8FD"/>
              </a:gs>
              <a:gs pos="100000">
                <a:srgbClr val="DCE9F6"/>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FE0F0">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9C8E6">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B7D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A5F8F"/>
              </a:gs>
              <a:gs pos="100000">
                <a:srgbClr val="6FA6D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MR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8.2</a:t>
            </a:r>
          </a:p>
        </p:txBody>
      </p:sp>
      <p:pic>
        <p:nvPicPr>
          <p:cNvPr id="8" name="Picture 7" descr="tmr_logo.png"/>
          <p:cNvPicPr>
            <a:picLocks noChangeAspect="1"/>
          </p:cNvPicPr>
          <p:nvPr/>
        </p:nvPicPr>
        <p:blipFill>
          <a:blip r:embed="rId2"/>
          <a:stretch>
            <a:fillRect/>
          </a:stretch>
        </p:blipFill>
        <p:spPr>
          <a:xfrm>
            <a:off x="411480" y="274320"/>
            <a:ext cx="1307592" cy="975505"/>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2A5F8F"/>
                </a:solidFill>
                <a:latin typeface="Calibri"/>
              </a:rPr>
              <a:t>Egg Protein Membrane Market</a:t>
            </a:r>
          </a:p>
        </p:txBody>
      </p:sp>
      <p:sp>
        <p:nvSpPr>
          <p:cNvPr id="10" name="TMR Section Title"/>
          <p:cNvSpPr txBox="1"/>
          <p:nvPr/>
        </p:nvSpPr>
        <p:spPr>
          <a:xfrm>
            <a:off x="914400" y="3095625"/>
            <a:ext cx="8572500" cy="514350"/>
          </a:xfrm>
          <a:prstGeom prst="rect">
            <a:avLst/>
          </a:prstGeom>
          <a:noFill/>
        </p:spPr>
        <p:txBody>
          <a:bodyPr wrap="square" lIns="0" rIns="0" tIns="0">
            <a:spAutoFit/>
          </a:bodyPr>
          <a:lstStyle/>
          <a:p>
            <a:r>
              <a:rPr sz="3000" b="1">
                <a:solidFill>
                  <a:srgbClr val="0E2A5C"/>
                </a:solidFill>
                <a:latin typeface="Calibri"/>
              </a:rPr>
              <a:t>Product Type × Application</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Snapshot</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Share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Opportunity &amp; Attractiveness</a:t>
            </a:r>
          </a:p>
        </p:txBody>
      </p:sp>
      <p:sp>
        <p:nvSpPr>
          <p:cNvPr id="12" name="Rectangle 11"/>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Snapshot: Product Type × Application, 2026E vs 2036F (1/3)</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Global market value (US$ Mn) for each product type sub-segment across application sub-segments</a:t>
            </a:r>
          </a:p>
        </p:txBody>
      </p:sp>
      <p:sp>
        <p:nvSpPr>
          <p:cNvPr id="7" name="Rounded Rectangle 6"/>
          <p:cNvSpPr/>
          <p:nvPr/>
        </p:nvSpPr>
        <p:spPr>
          <a:xfrm>
            <a:off x="142875" y="981075"/>
            <a:ext cx="11906250" cy="5114925"/>
          </a:xfrm>
          <a:prstGeom prst="roundRect">
            <a:avLst>
              <a:gd name="adj" fmla="val 148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Market Value, Product Type × Application, 2026E and 2036F (US$ Mn)</a:t>
            </a:r>
          </a:p>
        </p:txBody>
      </p:sp>
      <p:graphicFrame>
        <p:nvGraphicFramePr>
          <p:cNvPr id="9" name="Table 8"/>
          <p:cNvGraphicFramePr>
            <a:graphicFrameLocks noGrp="1"/>
          </p:cNvGraphicFramePr>
          <p:nvPr/>
        </p:nvGraphicFramePr>
        <p:xfrm>
          <a:off x="152400" y="1238250"/>
          <a:ext cx="11947159" cy="4648200"/>
        </p:xfrm>
        <a:graphic>
          <a:graphicData uri="http://schemas.openxmlformats.org/drawingml/2006/table">
            <a:tbl>
              <a:tblPr>
                <a:tableStyleId>{5C22544A-7EE6-4342-B048-85BDC9FD1C3A}</a:tableStyleId>
              </a:tblPr>
              <a:tblGrid>
                <a:gridCol w="3200398"/>
                <a:gridCol w="403992"/>
                <a:gridCol w="401750"/>
                <a:gridCol w="403992"/>
                <a:gridCol w="401750"/>
                <a:gridCol w="409598"/>
                <a:gridCol w="407355"/>
                <a:gridCol w="190987"/>
                <a:gridCol w="188744"/>
                <a:gridCol w="346817"/>
                <a:gridCol w="344574"/>
                <a:gridCol w="346817"/>
                <a:gridCol w="344574"/>
                <a:gridCol w="484710"/>
                <a:gridCol w="482468"/>
                <a:gridCol w="448835"/>
                <a:gridCol w="446593"/>
                <a:gridCol w="583365"/>
                <a:gridCol w="581123"/>
                <a:gridCol w="355768"/>
                <a:gridCol w="353526"/>
                <a:gridCol w="190987"/>
                <a:gridCol w="188744"/>
                <a:gridCol w="190987"/>
                <a:gridCol w="248705"/>
              </a:tblGrid>
              <a:tr h="1017270">
                <a:tc rowSpan="2">
                  <a:txBody>
                    <a:bodyPr wrap="none"/>
                    <a:lstStyle/>
                    <a:p>
                      <a:pPr algn="l"/>
                      <a:r>
                        <a:rPr sz="1100" b="1">
                          <a:solidFill>
                            <a:srgbClr val="0E2A5C"/>
                          </a:solidFill>
                          <a:latin typeface="Calibri"/>
                        </a:rPr>
                        <a:t>Produ</a:t>
                      </a:r>
                      <a:endParaRPr sz="1100"/>
                    </a:p>
                    <a:p>
                      <a:pPr algn="l"/>
                      <a:r>
                        <a:rPr sz="1100" b="1">
                          <a:solidFill>
                            <a:srgbClr val="0E2A5C"/>
                          </a:solidFill>
                          <a:latin typeface="Calibri"/>
                        </a:rPr>
                        <a:t>ct</a:t>
                      </a:r>
                      <a:endParaRPr sz="1100"/>
                    </a:p>
                    <a:p>
                      <a:pPr algn="l"/>
                      <a:r>
                        <a:rPr sz="1100" b="1">
                          <a:solidFill>
                            <a:srgbClr val="0E2A5C"/>
                          </a:solidFill>
                          <a:latin typeface="Calibri"/>
                        </a:rPr>
                        <a:t>Type</a:t>
                      </a:r>
                      <a:endParaRPr sz="1100"/>
                    </a:p>
                  </a:txBody>
                  <a:tcPr marL="19050" marR="14288" marT="19050" marB="19050" anchor="ctr">
                    <a:solidFill>
                      <a:srgbClr val="EBF2F9"/>
                    </a:solidFill>
                  </a:tcPr>
                </a:tc>
                <a:tc gridSpan="2">
                  <a:txBody>
                    <a:bodyPr wrap="none"/>
                    <a:lstStyle/>
                    <a:p>
                      <a:pPr algn="ctr"/>
                      <a:r>
                        <a:rPr sz="1100" b="1">
                          <a:solidFill>
                            <a:srgbClr val="0E2A5C"/>
                          </a:solidFill>
                          <a:latin typeface="Calibri"/>
                        </a:rPr>
                        <a:t>Dietary</a:t>
                      </a:r>
                      <a:endParaRPr sz="1100"/>
                    </a:p>
                    <a:p>
                      <a:pPr algn="ctr"/>
                      <a:r>
                        <a:rPr sz="1100" b="1">
                          <a:solidFill>
                            <a:srgbClr val="0E2A5C"/>
                          </a:solidFill>
                          <a:latin typeface="Calibri"/>
                        </a:rPr>
                        <a:t>Supplements &amp;</a:t>
                      </a:r>
                      <a:endParaRPr sz="1100"/>
                    </a:p>
                    <a:p>
                      <a:pPr algn="ctr"/>
                      <a:r>
                        <a:rPr sz="1100" b="1">
                          <a:solidFill>
                            <a:srgbClr val="0E2A5C"/>
                          </a:solidFill>
                          <a:latin typeface="Calibri"/>
                        </a:rPr>
                        <a:t>Nutraceuticals |</a:t>
                      </a:r>
                      <a:endParaRPr sz="1100"/>
                    </a:p>
                    <a:p>
                      <a:pPr algn="ctr"/>
                      <a:r>
                        <a:rPr sz="1100" b="1">
                          <a:solidFill>
                            <a:srgbClr val="0E2A5C"/>
                          </a:solidFill>
                          <a:latin typeface="Calibri"/>
                        </a:rPr>
                        <a:t>Joint &amp; Bone</a:t>
                      </a:r>
                      <a:endParaRPr sz="1100"/>
                    </a:p>
                    <a:p>
                      <a:pPr algn="ctr"/>
                      <a:r>
                        <a:rPr sz="1100" b="1">
                          <a:solidFill>
                            <a:srgbClr val="0E2A5C"/>
                          </a:solidFill>
                          <a:latin typeface="Calibri"/>
                        </a:rPr>
                        <a:t>Health</a:t>
                      </a:r>
                      <a:endParaRPr sz="1100"/>
                    </a:p>
                  </a:txBody>
                  <a:tcPr marL="19050" marR="14288" marT="19050" marB="19050" anchor="ctr">
                    <a:solidFill>
                      <a:srgbClr val="EBF2F9"/>
                    </a:solidFill>
                  </a:tcPr>
                </a:tc>
                <a:tc hMerge="1">
                  <a:txBody>
                    <a:bodyPr wrap="none"/>
                    <a:lstStyle/>
                    <a:p>
                      <a:pPr algn="ctr"/>
                      <a:endParaRPr sz="1100"/>
                    </a:p>
                  </a:txBody>
                  <a:tcPr marL="19050" marR="14288" marT="19050" marB="19050" anchor="ctr">
                    <a:solidFill>
                      <a:srgbClr val="EBF2F9"/>
                    </a:solidFill>
                  </a:tcPr>
                </a:tc>
                <a:tc gridSpan="2">
                  <a:txBody>
                    <a:bodyPr wrap="none"/>
                    <a:lstStyle/>
                    <a:p>
                      <a:pPr algn="ctr"/>
                      <a:r>
                        <a:rPr sz="1100" b="1">
                          <a:solidFill>
                            <a:srgbClr val="0E2A5C"/>
                          </a:solidFill>
                          <a:latin typeface="Calibri"/>
                        </a:rPr>
                        <a:t>Dietary</a:t>
                      </a:r>
                      <a:endParaRPr sz="1100"/>
                    </a:p>
                    <a:p>
                      <a:pPr algn="ctr"/>
                      <a:r>
                        <a:rPr sz="1100" b="1">
                          <a:solidFill>
                            <a:srgbClr val="0E2A5C"/>
                          </a:solidFill>
                          <a:latin typeface="Calibri"/>
                        </a:rPr>
                        <a:t>Supplements &amp;</a:t>
                      </a:r>
                      <a:endParaRPr sz="1100"/>
                    </a:p>
                    <a:p>
                      <a:pPr algn="ctr"/>
                      <a:r>
                        <a:rPr sz="1100" b="1">
                          <a:solidFill>
                            <a:srgbClr val="0E2A5C"/>
                          </a:solidFill>
                          <a:latin typeface="Calibri"/>
                        </a:rPr>
                        <a:t>Nutraceuticals |</a:t>
                      </a:r>
                      <a:endParaRPr sz="1100"/>
                    </a:p>
                    <a:p>
                      <a:pPr algn="ctr"/>
                      <a:r>
                        <a:rPr sz="1100" b="1">
                          <a:solidFill>
                            <a:srgbClr val="0E2A5C"/>
                          </a:solidFill>
                          <a:latin typeface="Calibri"/>
                        </a:rPr>
                        <a:t>Skin, Hair &amp; Nail</a:t>
                      </a:r>
                      <a:endParaRPr sz="1100"/>
                    </a:p>
                    <a:p>
                      <a:pPr algn="ctr"/>
                      <a:r>
                        <a:rPr sz="1100" b="1">
                          <a:solidFill>
                            <a:srgbClr val="0E2A5C"/>
                          </a:solidFill>
                          <a:latin typeface="Calibri"/>
                        </a:rPr>
                        <a:t>Health</a:t>
                      </a:r>
                      <a:endParaRPr sz="1100"/>
                    </a:p>
                  </a:txBody>
                  <a:tcPr marL="19050" marR="14288" marT="19050" marB="19050" anchor="ctr">
                    <a:solidFill>
                      <a:srgbClr val="EBF2F9"/>
                    </a:solidFill>
                  </a:tcPr>
                </a:tc>
                <a:tc hMerge="1">
                  <a:txBody>
                    <a:bodyPr wrap="none"/>
                    <a:lstStyle/>
                    <a:p>
                      <a:pPr algn="ctr"/>
                      <a:endParaRPr sz="1100"/>
                    </a:p>
                  </a:txBody>
                  <a:tcPr marL="19050" marR="14288" marT="19050" marB="19050" anchor="ctr">
                    <a:solidFill>
                      <a:srgbClr val="EBF2F9"/>
                    </a:solidFill>
                  </a:tcPr>
                </a:tc>
                <a:tc gridSpan="2">
                  <a:txBody>
                    <a:bodyPr wrap="none"/>
                    <a:lstStyle/>
                    <a:p>
                      <a:pPr algn="ctr"/>
                      <a:r>
                        <a:rPr sz="1100" b="1">
                          <a:solidFill>
                            <a:srgbClr val="0E2A5C"/>
                          </a:solidFill>
                          <a:latin typeface="Calibri"/>
                        </a:rPr>
                        <a:t>Dietary</a:t>
                      </a:r>
                      <a:endParaRPr sz="1100"/>
                    </a:p>
                    <a:p>
                      <a:pPr algn="ctr"/>
                      <a:r>
                        <a:rPr sz="1100" b="1">
                          <a:solidFill>
                            <a:srgbClr val="0E2A5C"/>
                          </a:solidFill>
                          <a:latin typeface="Calibri"/>
                        </a:rPr>
                        <a:t>Supplements &amp;</a:t>
                      </a:r>
                      <a:endParaRPr sz="1100"/>
                    </a:p>
                    <a:p>
                      <a:pPr algn="ctr"/>
                      <a:r>
                        <a:rPr sz="1100" b="1">
                          <a:solidFill>
                            <a:srgbClr val="0E2A5C"/>
                          </a:solidFill>
                          <a:latin typeface="Calibri"/>
                        </a:rPr>
                        <a:t>Nutraceuticals |</a:t>
                      </a:r>
                      <a:endParaRPr sz="1100"/>
                    </a:p>
                    <a:p>
                      <a:pPr algn="ctr"/>
                      <a:r>
                        <a:rPr sz="1100" b="1">
                          <a:solidFill>
                            <a:srgbClr val="0E2A5C"/>
                          </a:solidFill>
                          <a:latin typeface="Calibri"/>
                        </a:rPr>
                        <a:t>Others</a:t>
                      </a:r>
                      <a:endParaRPr sz="1100"/>
                    </a:p>
                  </a:txBody>
                  <a:tcPr marL="19050" marR="14288" marT="19050" marB="19050" anchor="ctr">
                    <a:solidFill>
                      <a:srgbClr val="EBF2F9"/>
                    </a:solidFill>
                  </a:tcPr>
                </a:tc>
                <a:tc hMerge="1">
                  <a:txBody>
                    <a:bodyPr wrap="none"/>
                    <a:lstStyle/>
                    <a:p>
                      <a:pPr algn="ctr"/>
                      <a:endParaRPr sz="1100"/>
                    </a:p>
                  </a:txBody>
                  <a:tcPr marL="19050" marR="14288" marT="19050" marB="19050" anchor="ctr">
                    <a:solidFill>
                      <a:srgbClr val="EBF2F9"/>
                    </a:solidFill>
                  </a:tcPr>
                </a:tc>
                <a:tc gridSpan="2">
                  <a:txBody>
                    <a:bodyPr wrap="none"/>
                    <a:lstStyle/>
                    <a:p>
                      <a:pPr algn="ctr"/>
                      <a:r>
                        <a:rPr sz="1100" b="1">
                          <a:solidFill>
                            <a:srgbClr val="0E2A5C"/>
                          </a:solidFill>
                          <a:latin typeface="Calibri"/>
                        </a:rPr>
                        <a:t>Functio</a:t>
                      </a:r>
                      <a:endParaRPr sz="1100"/>
                    </a:p>
                    <a:p>
                      <a:pPr algn="ctr"/>
                      <a:r>
                        <a:rPr sz="1100" b="1">
                          <a:solidFill>
                            <a:srgbClr val="0E2A5C"/>
                          </a:solidFill>
                          <a:latin typeface="Calibri"/>
                        </a:rPr>
                        <a:t>nal</a:t>
                      </a:r>
                      <a:endParaRPr sz="1100"/>
                    </a:p>
                    <a:p>
                      <a:pPr algn="ctr"/>
                      <a:r>
                        <a:rPr sz="1100" b="1">
                          <a:solidFill>
                            <a:srgbClr val="0E2A5C"/>
                          </a:solidFill>
                          <a:latin typeface="Calibri"/>
                        </a:rPr>
                        <a:t>Food &amp;</a:t>
                      </a:r>
                      <a:endParaRPr sz="1100"/>
                    </a:p>
                    <a:p>
                      <a:pPr algn="ctr"/>
                      <a:r>
                        <a:rPr sz="1100" b="1">
                          <a:solidFill>
                            <a:srgbClr val="0E2A5C"/>
                          </a:solidFill>
                          <a:latin typeface="Calibri"/>
                        </a:rPr>
                        <a:t>Bevera</a:t>
                      </a:r>
                      <a:endParaRPr sz="1100"/>
                    </a:p>
                    <a:p>
                      <a:pPr algn="ctr"/>
                      <a:r>
                        <a:rPr sz="1100" b="1">
                          <a:solidFill>
                            <a:srgbClr val="0E2A5C"/>
                          </a:solidFill>
                          <a:latin typeface="Calibri"/>
                        </a:rPr>
                        <a:t>ges</a:t>
                      </a:r>
                      <a:endParaRPr sz="1100"/>
                    </a:p>
                  </a:txBody>
                  <a:tcPr marL="19050" marR="14288" marT="19050" marB="19050" anchor="ctr">
                    <a:solidFill>
                      <a:srgbClr val="EBF2F9"/>
                    </a:solidFill>
                  </a:tcPr>
                </a:tc>
                <a:tc hMerge="1">
                  <a:txBody>
                    <a:bodyPr wrap="none"/>
                    <a:lstStyle/>
                    <a:p>
                      <a:pPr algn="ctr"/>
                      <a:endParaRPr sz="1100"/>
                    </a:p>
                  </a:txBody>
                  <a:tcPr marL="19050" marR="14288" marT="19050" marB="19050" anchor="ctr">
                    <a:solidFill>
                      <a:srgbClr val="EBF2F9"/>
                    </a:solidFill>
                  </a:tcPr>
                </a:tc>
                <a:tc gridSpan="2">
                  <a:txBody>
                    <a:bodyPr wrap="none"/>
                    <a:lstStyle/>
                    <a:p>
                      <a:pPr algn="ctr"/>
                      <a:r>
                        <a:rPr sz="1100" b="1">
                          <a:solidFill>
                            <a:srgbClr val="0E2A5C"/>
                          </a:solidFill>
                          <a:latin typeface="Calibri"/>
                        </a:rPr>
                        <a:t>Cosmetics &amp;</a:t>
                      </a:r>
                      <a:endParaRPr sz="1100"/>
                    </a:p>
                    <a:p>
                      <a:pPr algn="ctr"/>
                      <a:r>
                        <a:rPr sz="1100" b="1">
                          <a:solidFill>
                            <a:srgbClr val="0E2A5C"/>
                          </a:solidFill>
                          <a:latin typeface="Calibri"/>
                        </a:rPr>
                        <a:t>Personal Care</a:t>
                      </a:r>
                      <a:endParaRPr sz="1100"/>
                    </a:p>
                    <a:p>
                      <a:pPr algn="ctr"/>
                      <a:r>
                        <a:rPr sz="1100" b="1">
                          <a:solidFill>
                            <a:srgbClr val="0E2A5C"/>
                          </a:solidFill>
                          <a:latin typeface="Calibri"/>
                        </a:rPr>
                        <a:t>| Skin Care</a:t>
                      </a:r>
                      <a:endParaRPr sz="1100"/>
                    </a:p>
                  </a:txBody>
                  <a:tcPr marL="19050" marR="14288" marT="19050" marB="19050" anchor="ctr">
                    <a:solidFill>
                      <a:srgbClr val="EBF2F9"/>
                    </a:solidFill>
                  </a:tcPr>
                </a:tc>
                <a:tc hMerge="1">
                  <a:txBody>
                    <a:bodyPr wrap="none"/>
                    <a:lstStyle/>
                    <a:p>
                      <a:pPr algn="ctr"/>
                      <a:endParaRPr sz="1100"/>
                    </a:p>
                  </a:txBody>
                  <a:tcPr marL="19050" marR="14288" marT="19050" marB="19050" anchor="ctr">
                    <a:solidFill>
                      <a:srgbClr val="EBF2F9"/>
                    </a:solidFill>
                  </a:tcPr>
                </a:tc>
                <a:tc gridSpan="2">
                  <a:txBody>
                    <a:bodyPr wrap="none"/>
                    <a:lstStyle/>
                    <a:p>
                      <a:pPr algn="ctr"/>
                      <a:r>
                        <a:rPr sz="1100" b="1">
                          <a:solidFill>
                            <a:srgbClr val="0E2A5C"/>
                          </a:solidFill>
                          <a:latin typeface="Calibri"/>
                        </a:rPr>
                        <a:t>Cosmetics &amp;</a:t>
                      </a:r>
                      <a:endParaRPr sz="1100"/>
                    </a:p>
                    <a:p>
                      <a:pPr algn="ctr"/>
                      <a:r>
                        <a:rPr sz="1100" b="1">
                          <a:solidFill>
                            <a:srgbClr val="0E2A5C"/>
                          </a:solidFill>
                          <a:latin typeface="Calibri"/>
                        </a:rPr>
                        <a:t>Personal Care</a:t>
                      </a:r>
                      <a:endParaRPr sz="1100"/>
                    </a:p>
                    <a:p>
                      <a:pPr algn="ctr"/>
                      <a:r>
                        <a:rPr sz="1100" b="1">
                          <a:solidFill>
                            <a:srgbClr val="0E2A5C"/>
                          </a:solidFill>
                          <a:latin typeface="Calibri"/>
                        </a:rPr>
                        <a:t>| Hair Care</a:t>
                      </a:r>
                      <a:endParaRPr sz="1100"/>
                    </a:p>
                  </a:txBody>
                  <a:tcPr marL="19050" marR="14288" marT="19050" marB="19050" anchor="ctr">
                    <a:solidFill>
                      <a:srgbClr val="EBF2F9"/>
                    </a:solidFill>
                  </a:tcPr>
                </a:tc>
                <a:tc hMerge="1">
                  <a:txBody>
                    <a:bodyPr wrap="none"/>
                    <a:lstStyle/>
                    <a:p>
                      <a:pPr algn="ctr"/>
                      <a:endParaRPr sz="1100"/>
                    </a:p>
                  </a:txBody>
                  <a:tcPr marL="19050" marR="14288" marT="19050" marB="19050" anchor="ctr">
                    <a:solidFill>
                      <a:srgbClr val="EBF2F9"/>
                    </a:solidFill>
                  </a:tcPr>
                </a:tc>
                <a:tc gridSpan="2">
                  <a:txBody>
                    <a:bodyPr wrap="none"/>
                    <a:lstStyle/>
                    <a:p>
                      <a:pPr algn="ctr"/>
                      <a:r>
                        <a:rPr sz="1100" b="1">
                          <a:solidFill>
                            <a:srgbClr val="0E2A5C"/>
                          </a:solidFill>
                          <a:latin typeface="Calibri"/>
                        </a:rPr>
                        <a:t>Pharmaceuticals &amp;</a:t>
                      </a:r>
                      <a:endParaRPr sz="1100"/>
                    </a:p>
                    <a:p>
                      <a:pPr algn="ctr"/>
                      <a:r>
                        <a:rPr sz="1100" b="1">
                          <a:solidFill>
                            <a:srgbClr val="0E2A5C"/>
                          </a:solidFill>
                          <a:latin typeface="Calibri"/>
                        </a:rPr>
                        <a:t>Biomedical |</a:t>
                      </a:r>
                      <a:endParaRPr sz="1100"/>
                    </a:p>
                    <a:p>
                      <a:pPr algn="ctr"/>
                      <a:r>
                        <a:rPr sz="1100" b="1">
                          <a:solidFill>
                            <a:srgbClr val="0E2A5C"/>
                          </a:solidFill>
                          <a:latin typeface="Calibri"/>
                        </a:rPr>
                        <a:t>Wound Care &amp;</a:t>
                      </a:r>
                      <a:endParaRPr sz="1100"/>
                    </a:p>
                    <a:p>
                      <a:pPr algn="ctr"/>
                      <a:r>
                        <a:rPr sz="1100" b="1">
                          <a:solidFill>
                            <a:srgbClr val="0E2A5C"/>
                          </a:solidFill>
                          <a:latin typeface="Calibri"/>
                        </a:rPr>
                        <a:t>Dressings</a:t>
                      </a:r>
                      <a:endParaRPr sz="1100"/>
                    </a:p>
                  </a:txBody>
                  <a:tcPr marL="19050" marR="14288" marT="19050" marB="19050" anchor="ctr">
                    <a:solidFill>
                      <a:srgbClr val="EBF2F9"/>
                    </a:solidFill>
                  </a:tcPr>
                </a:tc>
                <a:tc hMerge="1">
                  <a:txBody>
                    <a:bodyPr wrap="none"/>
                    <a:lstStyle/>
                    <a:p>
                      <a:pPr algn="ctr"/>
                      <a:endParaRPr sz="1100"/>
                    </a:p>
                  </a:txBody>
                  <a:tcPr marL="19050" marR="14288" marT="19050" marB="19050" anchor="ctr">
                    <a:solidFill>
                      <a:srgbClr val="EBF2F9"/>
                    </a:solidFill>
                  </a:tcPr>
                </a:tc>
                <a:tc gridSpan="2">
                  <a:txBody>
                    <a:bodyPr wrap="none"/>
                    <a:lstStyle/>
                    <a:p>
                      <a:pPr algn="ctr"/>
                      <a:r>
                        <a:rPr sz="1100" b="1">
                          <a:solidFill>
                            <a:srgbClr val="0E2A5C"/>
                          </a:solidFill>
                          <a:latin typeface="Calibri"/>
                        </a:rPr>
                        <a:t>Pharmaceuticals &amp;</a:t>
                      </a:r>
                      <a:endParaRPr sz="1100"/>
                    </a:p>
                    <a:p>
                      <a:pPr algn="ctr"/>
                      <a:r>
                        <a:rPr sz="1100" b="1">
                          <a:solidFill>
                            <a:srgbClr val="0E2A5C"/>
                          </a:solidFill>
                          <a:latin typeface="Calibri"/>
                        </a:rPr>
                        <a:t>Biomedical |</a:t>
                      </a:r>
                      <a:endParaRPr sz="1100"/>
                    </a:p>
                    <a:p>
                      <a:pPr algn="ctr"/>
                      <a:r>
                        <a:rPr sz="1100" b="1">
                          <a:solidFill>
                            <a:srgbClr val="0E2A5C"/>
                          </a:solidFill>
                          <a:latin typeface="Calibri"/>
                        </a:rPr>
                        <a:t>Tissue Engineering</a:t>
                      </a:r>
                      <a:endParaRPr sz="1100"/>
                    </a:p>
                    <a:p>
                      <a:pPr algn="ctr"/>
                      <a:r>
                        <a:rPr sz="1100" b="1">
                          <a:solidFill>
                            <a:srgbClr val="0E2A5C"/>
                          </a:solidFill>
                          <a:latin typeface="Calibri"/>
                        </a:rPr>
                        <a:t>&amp; Drug Delivery</a:t>
                      </a:r>
                      <a:endParaRPr sz="1100"/>
                    </a:p>
                  </a:txBody>
                  <a:tcPr marL="19050" marR="14288" marT="19050" marB="19050" anchor="ctr">
                    <a:solidFill>
                      <a:srgbClr val="EBF2F9"/>
                    </a:solidFill>
                  </a:tcPr>
                </a:tc>
                <a:tc hMerge="1">
                  <a:txBody>
                    <a:bodyPr wrap="none"/>
                    <a:lstStyle/>
                    <a:p>
                      <a:pPr algn="ctr"/>
                      <a:endParaRPr sz="1100"/>
                    </a:p>
                  </a:txBody>
                  <a:tcPr marL="19050" marR="14288" marT="19050" marB="19050" anchor="ctr">
                    <a:solidFill>
                      <a:srgbClr val="EBF2F9"/>
                    </a:solidFill>
                  </a:tcPr>
                </a:tc>
                <a:tc gridSpan="2">
                  <a:txBody>
                    <a:bodyPr wrap="none"/>
                    <a:lstStyle/>
                    <a:p>
                      <a:pPr algn="ctr"/>
                      <a:r>
                        <a:rPr sz="1100" b="1">
                          <a:solidFill>
                            <a:srgbClr val="0E2A5C"/>
                          </a:solidFill>
                          <a:latin typeface="Calibri"/>
                        </a:rPr>
                        <a:t>Animal Nutrition &amp; Pet</a:t>
                      </a:r>
                      <a:endParaRPr sz="1100"/>
                    </a:p>
                    <a:p>
                      <a:pPr algn="ctr"/>
                      <a:r>
                        <a:rPr sz="1100" b="1">
                          <a:solidFill>
                            <a:srgbClr val="0E2A5C"/>
                          </a:solidFill>
                          <a:latin typeface="Calibri"/>
                        </a:rPr>
                        <a:t>Care | Pet Joint &amp; Skin</a:t>
                      </a:r>
                      <a:endParaRPr sz="1100"/>
                    </a:p>
                    <a:p>
                      <a:pPr algn="ctr"/>
                      <a:r>
                        <a:rPr sz="1100" b="1">
                          <a:solidFill>
                            <a:srgbClr val="0E2A5C"/>
                          </a:solidFill>
                          <a:latin typeface="Calibri"/>
                        </a:rPr>
                        <a:t>Supplements</a:t>
                      </a:r>
                      <a:endParaRPr sz="1100"/>
                    </a:p>
                  </a:txBody>
                  <a:tcPr marL="19050" marR="14288" marT="19050" marB="19050" anchor="ctr">
                    <a:solidFill>
                      <a:srgbClr val="EBF2F9"/>
                    </a:solidFill>
                  </a:tcPr>
                </a:tc>
                <a:tc hMerge="1">
                  <a:txBody>
                    <a:bodyPr wrap="none"/>
                    <a:lstStyle/>
                    <a:p>
                      <a:pPr algn="ctr"/>
                      <a:endParaRPr sz="1100"/>
                    </a:p>
                  </a:txBody>
                  <a:tcPr marL="19050" marR="14288" marT="19050" marB="19050" anchor="ctr">
                    <a:solidFill>
                      <a:srgbClr val="EBF2F9"/>
                    </a:solidFill>
                  </a:tcPr>
                </a:tc>
                <a:tc gridSpan="2">
                  <a:txBody>
                    <a:bodyPr wrap="none"/>
                    <a:lstStyle/>
                    <a:p>
                      <a:pPr algn="ctr"/>
                      <a:r>
                        <a:rPr sz="1100" b="1">
                          <a:solidFill>
                            <a:srgbClr val="0E2A5C"/>
                          </a:solidFill>
                          <a:latin typeface="Calibri"/>
                        </a:rPr>
                        <a:t>Animal</a:t>
                      </a:r>
                      <a:endParaRPr sz="1100"/>
                    </a:p>
                    <a:p>
                      <a:pPr algn="ctr"/>
                      <a:r>
                        <a:rPr sz="1100" b="1">
                          <a:solidFill>
                            <a:srgbClr val="0E2A5C"/>
                          </a:solidFill>
                          <a:latin typeface="Calibri"/>
                        </a:rPr>
                        <a:t>Nutrition &amp;</a:t>
                      </a:r>
                      <a:endParaRPr sz="1100"/>
                    </a:p>
                    <a:p>
                      <a:pPr algn="ctr"/>
                      <a:r>
                        <a:rPr sz="1100" b="1">
                          <a:solidFill>
                            <a:srgbClr val="0E2A5C"/>
                          </a:solidFill>
                          <a:latin typeface="Calibri"/>
                        </a:rPr>
                        <a:t>Pet Care |</a:t>
                      </a:r>
                      <a:endParaRPr sz="1100"/>
                    </a:p>
                    <a:p>
                      <a:pPr algn="ctr"/>
                      <a:r>
                        <a:rPr sz="1100" b="1">
                          <a:solidFill>
                            <a:srgbClr val="0E2A5C"/>
                          </a:solidFill>
                          <a:latin typeface="Calibri"/>
                        </a:rPr>
                        <a:t>Livestock &amp;</a:t>
                      </a:r>
                      <a:endParaRPr sz="1100"/>
                    </a:p>
                    <a:p>
                      <a:pPr algn="ctr"/>
                      <a:r>
                        <a:rPr sz="1100" b="1">
                          <a:solidFill>
                            <a:srgbClr val="0E2A5C"/>
                          </a:solidFill>
                          <a:latin typeface="Calibri"/>
                        </a:rPr>
                        <a:t>Poultry Feed</a:t>
                      </a:r>
                      <a:endParaRPr sz="1100"/>
                    </a:p>
                  </a:txBody>
                  <a:tcPr marL="19050" marR="14288" marT="19050" marB="19050" anchor="ctr">
                    <a:solidFill>
                      <a:srgbClr val="EBF2F9"/>
                    </a:solidFill>
                  </a:tcPr>
                </a:tc>
                <a:tc hMerge="1">
                  <a:txBody>
                    <a:bodyPr wrap="none"/>
                    <a:lstStyle/>
                    <a:p>
                      <a:pPr algn="ctr"/>
                      <a:endParaRPr sz="1100"/>
                    </a:p>
                  </a:txBody>
                  <a:tcPr marL="19050" marR="14288" marT="19050" marB="19050" anchor="ctr">
                    <a:solidFill>
                      <a:srgbClr val="EBF2F9"/>
                    </a:solidFill>
                  </a:tcPr>
                </a:tc>
                <a:tc gridSpan="2">
                  <a:txBody>
                    <a:bodyPr wrap="none"/>
                    <a:lstStyle/>
                    <a:p>
                      <a:pPr algn="ctr"/>
                      <a:r>
                        <a:rPr sz="1100" b="1">
                          <a:solidFill>
                            <a:srgbClr val="0E2A5C"/>
                          </a:solidFill>
                          <a:latin typeface="Calibri"/>
                        </a:rPr>
                        <a:t>Industr</a:t>
                      </a:r>
                      <a:endParaRPr sz="1100"/>
                    </a:p>
                    <a:p>
                      <a:pPr algn="ctr"/>
                      <a:r>
                        <a:rPr sz="1100" b="1">
                          <a:solidFill>
                            <a:srgbClr val="0E2A5C"/>
                          </a:solidFill>
                          <a:latin typeface="Calibri"/>
                        </a:rPr>
                        <a:t>ial &amp;</a:t>
                      </a:r>
                      <a:endParaRPr sz="1100"/>
                    </a:p>
                    <a:p>
                      <a:pPr algn="ctr"/>
                      <a:r>
                        <a:rPr sz="1100" b="1">
                          <a:solidFill>
                            <a:srgbClr val="0E2A5C"/>
                          </a:solidFill>
                          <a:latin typeface="Calibri"/>
                        </a:rPr>
                        <a:t>Biomat</a:t>
                      </a:r>
                      <a:endParaRPr sz="1100"/>
                    </a:p>
                    <a:p>
                      <a:pPr algn="ctr"/>
                      <a:r>
                        <a:rPr sz="1100" b="1">
                          <a:solidFill>
                            <a:srgbClr val="0E2A5C"/>
                          </a:solidFill>
                          <a:latin typeface="Calibri"/>
                        </a:rPr>
                        <a:t>erials</a:t>
                      </a:r>
                      <a:endParaRPr sz="1100"/>
                    </a:p>
                  </a:txBody>
                  <a:tcPr marL="19050" marR="14288" marT="19050" marB="19050" anchor="ctr">
                    <a:solidFill>
                      <a:srgbClr val="EBF2F9"/>
                    </a:solidFill>
                  </a:tcPr>
                </a:tc>
                <a:tc hMerge="1">
                  <a:txBody>
                    <a:bodyPr wrap="none"/>
                    <a:lstStyle/>
                    <a:p>
                      <a:pPr algn="ctr"/>
                      <a:endParaRPr sz="1100"/>
                    </a:p>
                  </a:txBody>
                  <a:tcPr marL="19050" marR="14288" marT="19050" marB="19050" anchor="ctr">
                    <a:solidFill>
                      <a:srgbClr val="EBF2F9"/>
                    </a:solidFill>
                  </a:tcPr>
                </a:tc>
                <a:tc gridSpan="2">
                  <a:txBody>
                    <a:bodyPr wrap="none"/>
                    <a:lstStyle/>
                    <a:p>
                      <a:pPr algn="ctr"/>
                      <a:r>
                        <a:rPr sz="1100" b="1">
                          <a:solidFill>
                            <a:srgbClr val="0E2A5C"/>
                          </a:solidFill>
                          <a:latin typeface="Calibri"/>
                        </a:rPr>
                        <a:t>Total</a:t>
                      </a:r>
                      <a:endParaRPr sz="1100"/>
                    </a:p>
                  </a:txBody>
                  <a:tcPr marL="19050" marR="14288" marT="19050" marB="19050" anchor="ctr">
                    <a:solidFill>
                      <a:srgbClr val="EBF2F9"/>
                    </a:solidFill>
                  </a:tcPr>
                </a:tc>
                <a:tc hMerge="1">
                  <a:txBody>
                    <a:bodyPr wrap="none"/>
                    <a:lstStyle/>
                    <a:p>
                      <a:pPr algn="ctr"/>
                      <a:endParaRPr sz="1100"/>
                    </a:p>
                  </a:txBody>
                  <a:tcPr marL="19050" marR="14288" marT="19050" marB="19050" anchor="ctr">
                    <a:solidFill>
                      <a:srgbClr val="EBF2F9"/>
                    </a:solidFill>
                  </a:tcPr>
                </a:tc>
              </a:tr>
              <a:tr h="1210310">
                <a:tc vMerge="1">
                  <a:txBody>
                    <a:bodyPr wrap="none"/>
                    <a:lstStyle/>
                    <a:p>
                      <a:pPr algn="l"/>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 Joint &amp; Bone Health|2026E</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 Joint &amp; Bone Health|2036F</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 Skin, Hair &amp; Nail Health|2026E</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 Skin, Hair &amp; Nail Health|2036F</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 Others|2026E</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 Others|2036F</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2026E</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2036F</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 Skin Care|2026E</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 Skin Care|2036F</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 Hair Care|2026E</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 Hair Care|2036F</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 Wound Care &amp; Dressings|2026E</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 Wound Care &amp; Dressings|2036F</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 Tissue Engineering &amp; Drug Delivery|2026E</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 Tissue Engineering &amp; Drug Delivery|2036F</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 Pet Joint &amp; Skin Supplements|2026E</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 Pet Joint &amp; Skin Supplements|2036F</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 Livestock &amp; Poultry Feed|2026E</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 Livestock &amp; Poultry Feed|2036F</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2026E</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2036F</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2026E</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2036F</a:t>
                      </a:r>
                      <a:endParaRPr sz="1100"/>
                    </a:p>
                  </a:txBody>
                  <a:tcPr marL="19050" marR="14288" marT="19050" marB="19050" anchor="ctr">
                    <a:solidFill>
                      <a:srgbClr val="EBF2F9"/>
                    </a:solidFill>
                  </a:tcPr>
                </a:tc>
              </a:tr>
              <a:tr h="1210310">
                <a:tc>
                  <a:txBody>
                    <a:bodyPr wrap="none"/>
                    <a:lstStyle/>
                    <a:p>
                      <a:pPr algn="l"/>
                      <a:r>
                        <a:rPr sz="1100" b="1">
                          <a:solidFill>
                            <a:srgbClr val="2E2E2E"/>
                          </a:solidFill>
                          <a:latin typeface="Calibri"/>
                        </a:rPr>
                        <a:t>Micro</a:t>
                      </a:r>
                      <a:endParaRPr sz="1100"/>
                    </a:p>
                    <a:p>
                      <a:pPr algn="l"/>
                      <a:r>
                        <a:rPr sz="1100" b="1">
                          <a:solidFill>
                            <a:srgbClr val="2E2E2E"/>
                          </a:solidFill>
                          <a:latin typeface="Calibri"/>
                        </a:rPr>
                        <a:t>nized</a:t>
                      </a:r>
                      <a:endParaRPr sz="1100"/>
                    </a:p>
                    <a:p>
                      <a:pPr algn="l"/>
                      <a:r>
                        <a:rPr sz="1100" b="1">
                          <a:solidFill>
                            <a:srgbClr val="2E2E2E"/>
                          </a:solidFill>
                          <a:latin typeface="Calibri"/>
                        </a:rPr>
                        <a:t>Eggsh</a:t>
                      </a:r>
                      <a:endParaRPr sz="1100"/>
                    </a:p>
                    <a:p>
                      <a:pPr algn="l"/>
                      <a:r>
                        <a:rPr sz="1100" b="1">
                          <a:solidFill>
                            <a:srgbClr val="2E2E2E"/>
                          </a:solidFill>
                          <a:latin typeface="Calibri"/>
                        </a:rPr>
                        <a:t>ell</a:t>
                      </a:r>
                      <a:endParaRPr sz="1100"/>
                    </a:p>
                    <a:p>
                      <a:pPr algn="l"/>
                      <a:r>
                        <a:rPr sz="1100" b="1">
                          <a:solidFill>
                            <a:srgbClr val="2E2E2E"/>
                          </a:solidFill>
                          <a:latin typeface="Calibri"/>
                        </a:rPr>
                        <a:t>Mem</a:t>
                      </a:r>
                      <a:endParaRPr sz="1100"/>
                    </a:p>
                    <a:p>
                      <a:pPr algn="l"/>
                      <a:r>
                        <a:rPr sz="1100" b="1">
                          <a:solidFill>
                            <a:srgbClr val="2E2E2E"/>
                          </a:solidFill>
                          <a:latin typeface="Calibri"/>
                        </a:rPr>
                        <a:t>brane</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square"/>
                    <a:lstStyle/>
                    <a:p>
                      <a:pPr algn="ctr"/>
                      <a:r>
                        <a:rPr sz="1100"/>
                        <a:t> </a:t>
                      </a:r>
                      <a:endParaRPr sz="1100"/>
                    </a:p>
                  </a:txBody>
                  <a:tcPr marL="19050" marR="14288" marT="19050" marB="19050" anchor="ctr">
                    <a:solidFill>
                      <a:srgbClr val="FFFFFF"/>
                    </a:solidFill>
                  </a:tcPr>
                </a:tc>
                <a:tc>
                  <a:txBody>
                    <a:bodyPr wrap="squar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square"/>
                    <a:lstStyle/>
                    <a:p>
                      <a:pPr algn="ctr"/>
                      <a:r>
                        <a:rPr sz="1100"/>
                        <a:t> </a:t>
                      </a:r>
                      <a:endParaRPr sz="1100"/>
                    </a:p>
                  </a:txBody>
                  <a:tcPr marL="19050" marR="14288" marT="19050" marB="19050" anchor="ctr">
                    <a:solidFill>
                      <a:srgbClr val="FFFFFF"/>
                    </a:solidFill>
                  </a:tcPr>
                </a:tc>
                <a:tc>
                  <a:txBody>
                    <a:bodyPr wrap="square"/>
                    <a:lstStyle/>
                    <a:p>
                      <a:pPr algn="ctr"/>
                      <a:r>
                        <a:rPr sz="1100"/>
                        <a:t> </a:t>
                      </a:r>
                      <a:endParaRPr sz="1100"/>
                    </a:p>
                  </a:txBody>
                  <a:tcPr marL="19050" marR="14288" marT="19050" marB="19050" anchor="ctr">
                    <a:solidFill>
                      <a:srgbClr val="FFFFFF"/>
                    </a:solidFill>
                  </a:tcPr>
                </a:tc>
                <a:tc>
                  <a:txBody>
                    <a:bodyPr wrap="square"/>
                    <a:lstStyle/>
                    <a:p>
                      <a:pPr algn="ctr"/>
                      <a:r>
                        <a:rPr sz="1100"/>
                        <a:t> </a:t>
                      </a:r>
                      <a:endParaRPr sz="1100"/>
                    </a:p>
                  </a:txBody>
                  <a:tcPr marL="19050" marR="14288" marT="19050" marB="19050" anchor="ctr">
                    <a:solidFill>
                      <a:srgbClr val="FFFFFF"/>
                    </a:solidFill>
                  </a:tcPr>
                </a:tc>
                <a:tc>
                  <a:txBody>
                    <a:bodyPr wrap="square"/>
                    <a:lstStyle/>
                    <a:p>
                      <a:pPr algn="ctr"/>
                      <a:r>
                        <a:rPr sz="1100"/>
                        <a:t> </a:t>
                      </a:r>
                      <a:endParaRPr sz="1100"/>
                    </a:p>
                  </a:txBody>
                  <a:tcPr marL="19050" marR="14288" marT="19050" marB="19050" anchor="ctr">
                    <a:solidFill>
                      <a:srgbClr val="FFFFFF"/>
                    </a:solidFill>
                  </a:tcPr>
                </a:tc>
              </a:tr>
              <a:tr h="1210310">
                <a:tc>
                  <a:txBody>
                    <a:bodyPr wrap="none"/>
                    <a:lstStyle/>
                    <a:p>
                      <a:pPr algn="l"/>
                      <a:r>
                        <a:rPr sz="1100" b="1">
                          <a:solidFill>
                            <a:srgbClr val="2E2E2E"/>
                          </a:solidFill>
                          <a:latin typeface="Calibri"/>
                        </a:rPr>
                        <a:t>Hydro</a:t>
                      </a:r>
                      <a:endParaRPr sz="1100"/>
                    </a:p>
                    <a:p>
                      <a:pPr algn="l"/>
                      <a:r>
                        <a:rPr sz="1100" b="1">
                          <a:solidFill>
                            <a:srgbClr val="2E2E2E"/>
                          </a:solidFill>
                          <a:latin typeface="Calibri"/>
                        </a:rPr>
                        <a:t>lyzed</a:t>
                      </a:r>
                      <a:endParaRPr sz="1100"/>
                    </a:p>
                    <a:p>
                      <a:pPr algn="l"/>
                      <a:r>
                        <a:rPr sz="1100" b="1">
                          <a:solidFill>
                            <a:srgbClr val="2E2E2E"/>
                          </a:solidFill>
                          <a:latin typeface="Calibri"/>
                        </a:rPr>
                        <a:t>Eggsh</a:t>
                      </a:r>
                      <a:endParaRPr sz="1100"/>
                    </a:p>
                    <a:p>
                      <a:pPr algn="l"/>
                      <a:r>
                        <a:rPr sz="1100" b="1">
                          <a:solidFill>
                            <a:srgbClr val="2E2E2E"/>
                          </a:solidFill>
                          <a:latin typeface="Calibri"/>
                        </a:rPr>
                        <a:t>ell</a:t>
                      </a:r>
                      <a:endParaRPr sz="1100"/>
                    </a:p>
                    <a:p>
                      <a:pPr algn="l"/>
                      <a:r>
                        <a:rPr sz="1100" b="1">
                          <a:solidFill>
                            <a:srgbClr val="2E2E2E"/>
                          </a:solidFill>
                          <a:latin typeface="Calibri"/>
                        </a:rPr>
                        <a:t>Mem</a:t>
                      </a:r>
                      <a:endParaRPr sz="1100"/>
                    </a:p>
                    <a:p>
                      <a:pPr algn="l"/>
                      <a:r>
                        <a:rPr sz="1100" b="1">
                          <a:solidFill>
                            <a:srgbClr val="2E2E2E"/>
                          </a:solidFill>
                          <a:latin typeface="Calibri"/>
                        </a:rPr>
                        <a:t>brane</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square"/>
                    <a:lstStyle/>
                    <a:p>
                      <a:pPr algn="ctr"/>
                      <a:r>
                        <a:rPr sz="1100"/>
                        <a:t> </a:t>
                      </a:r>
                      <a:endParaRPr sz="1100"/>
                    </a:p>
                  </a:txBody>
                  <a:tcPr marL="19050" marR="14288" marT="19050" marB="19050" anchor="ctr">
                    <a:solidFill>
                      <a:srgbClr val="F5F9FD"/>
                    </a:solidFill>
                  </a:tcPr>
                </a:tc>
                <a:tc>
                  <a:txBody>
                    <a:bodyPr wrap="squar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square"/>
                    <a:lstStyle/>
                    <a:p>
                      <a:pPr algn="ctr"/>
                      <a:r>
                        <a:rPr sz="1100"/>
                        <a:t> </a:t>
                      </a:r>
                      <a:endParaRPr sz="1100"/>
                    </a:p>
                  </a:txBody>
                  <a:tcPr marL="19050" marR="14288" marT="19050" marB="19050" anchor="ctr">
                    <a:solidFill>
                      <a:srgbClr val="F5F9FD"/>
                    </a:solidFill>
                  </a:tcPr>
                </a:tc>
                <a:tc>
                  <a:txBody>
                    <a:bodyPr wrap="square"/>
                    <a:lstStyle/>
                    <a:p>
                      <a:pPr algn="ctr"/>
                      <a:r>
                        <a:rPr sz="1100"/>
                        <a:t> </a:t>
                      </a:r>
                      <a:endParaRPr sz="1100"/>
                    </a:p>
                  </a:txBody>
                  <a:tcPr marL="19050" marR="14288" marT="19050" marB="19050" anchor="ctr">
                    <a:solidFill>
                      <a:srgbClr val="F5F9FD"/>
                    </a:solidFill>
                  </a:tcPr>
                </a:tc>
                <a:tc>
                  <a:txBody>
                    <a:bodyPr wrap="square"/>
                    <a:lstStyle/>
                    <a:p>
                      <a:pPr algn="ctr"/>
                      <a:r>
                        <a:rPr sz="1100"/>
                        <a:t> </a:t>
                      </a:r>
                      <a:endParaRPr sz="1100"/>
                    </a:p>
                  </a:txBody>
                  <a:tcPr marL="19050" marR="14288" marT="19050" marB="19050" anchor="ctr">
                    <a:solidFill>
                      <a:srgbClr val="F5F9FD"/>
                    </a:solidFill>
                  </a:tcPr>
                </a:tc>
                <a:tc>
                  <a:txBody>
                    <a:bodyPr wrap="square"/>
                    <a:lstStyle/>
                    <a:p>
                      <a:pPr algn="ctr"/>
                      <a:r>
                        <a:rPr sz="1100"/>
                        <a:t> </a:t>
                      </a:r>
                      <a:endParaRPr sz="1100"/>
                    </a:p>
                  </a:txBody>
                  <a:tcPr marL="19050" marR="14288" marT="19050" marB="19050" anchor="ctr">
                    <a:solidFill>
                      <a:srgbClr val="F5F9FD"/>
                    </a:solidFill>
                  </a:tcPr>
                </a:tc>
              </a:tr>
            </a:tbl>
          </a:graphicData>
        </a:graphic>
      </p:graphicFrame>
      <p:sp>
        <p:nvSpPr>
          <p:cNvPr id="10" name="TextBox 9"/>
          <p:cNvSpPr txBox="1"/>
          <p:nvPr/>
        </p:nvSpPr>
        <p:spPr>
          <a:xfrm>
            <a:off x="219075" y="589597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11" name="Rectangle 10"/>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3" name="Picture 12" descr="lock.png"/>
          <p:cNvPicPr>
            <a:picLocks noChangeAspect="1"/>
          </p:cNvPicPr>
          <p:nvPr/>
        </p:nvPicPr>
        <p:blipFill>
          <a:blip r:embed="rId4"/>
          <a:stretch>
            <a:fillRect/>
          </a:stretch>
        </p:blipFill>
        <p:spPr>
          <a:xfrm>
            <a:off x="6129681" y="4409440"/>
            <a:ext cx="366712" cy="533400"/>
          </a:xfrm>
          <a:prstGeom prst="rect">
            <a:avLst/>
          </a:prstGeom>
        </p:spPr>
      </p:pic>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Snapshot: Product Type × Application, 2026E vs 2036F (2/3)</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Global market value (US$ Mn) for each product type sub-segment across application sub-segments</a:t>
            </a:r>
          </a:p>
        </p:txBody>
      </p:sp>
      <p:sp>
        <p:nvSpPr>
          <p:cNvPr id="7" name="Rounded Rectangle 6"/>
          <p:cNvSpPr/>
          <p:nvPr/>
        </p:nvSpPr>
        <p:spPr>
          <a:xfrm>
            <a:off x="142875" y="981075"/>
            <a:ext cx="11906250" cy="4733925"/>
          </a:xfrm>
          <a:prstGeom prst="roundRect">
            <a:avLst>
              <a:gd name="adj" fmla="val 160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Market Value, Product Type × Application, 2026E and 2036F (US$ Mn)</a:t>
            </a:r>
          </a:p>
        </p:txBody>
      </p:sp>
      <p:graphicFrame>
        <p:nvGraphicFramePr>
          <p:cNvPr id="9" name="Table 8"/>
          <p:cNvGraphicFramePr>
            <a:graphicFrameLocks noGrp="1"/>
          </p:cNvGraphicFramePr>
          <p:nvPr/>
        </p:nvGraphicFramePr>
        <p:xfrm>
          <a:off x="152400" y="1238250"/>
          <a:ext cx="11954827" cy="4267200"/>
        </p:xfrm>
        <a:graphic>
          <a:graphicData uri="http://schemas.openxmlformats.org/drawingml/2006/table">
            <a:tbl>
              <a:tblPr>
                <a:tableStyleId>{5C22544A-7EE6-4342-B048-85BDC9FD1C3A}</a:tableStyleId>
              </a:tblPr>
              <a:tblGrid>
                <a:gridCol w="3200401"/>
                <a:gridCol w="402227"/>
                <a:gridCol w="399995"/>
                <a:gridCol w="402227"/>
                <a:gridCol w="399995"/>
                <a:gridCol w="407808"/>
                <a:gridCol w="405575"/>
                <a:gridCol w="190152"/>
                <a:gridCol w="187920"/>
                <a:gridCol w="345302"/>
                <a:gridCol w="343069"/>
                <a:gridCol w="345302"/>
                <a:gridCol w="343069"/>
                <a:gridCol w="482592"/>
                <a:gridCol w="480360"/>
                <a:gridCol w="446875"/>
                <a:gridCol w="444642"/>
                <a:gridCol w="580816"/>
                <a:gridCol w="578584"/>
                <a:gridCol w="354214"/>
                <a:gridCol w="351981"/>
                <a:gridCol w="190152"/>
                <a:gridCol w="187920"/>
                <a:gridCol w="208011"/>
                <a:gridCol w="275638"/>
              </a:tblGrid>
              <a:tr h="1017270">
                <a:tc rowSpan="2">
                  <a:txBody>
                    <a:bodyPr wrap="none"/>
                    <a:lstStyle/>
                    <a:p>
                      <a:pPr algn="l"/>
                      <a:r>
                        <a:rPr sz="1100" b="1">
                          <a:solidFill>
                            <a:srgbClr val="0E2A5C"/>
                          </a:solidFill>
                          <a:latin typeface="Calibri"/>
                        </a:rPr>
                        <a:t>Prod</a:t>
                      </a:r>
                      <a:endParaRPr sz="1100"/>
                    </a:p>
                    <a:p>
                      <a:pPr algn="l"/>
                      <a:r>
                        <a:rPr sz="1100" b="1">
                          <a:solidFill>
                            <a:srgbClr val="0E2A5C"/>
                          </a:solidFill>
                          <a:latin typeface="Calibri"/>
                        </a:rPr>
                        <a:t>uct</a:t>
                      </a:r>
                      <a:endParaRPr sz="1100"/>
                    </a:p>
                    <a:p>
                      <a:pPr algn="l"/>
                      <a:r>
                        <a:rPr sz="1100" b="1">
                          <a:solidFill>
                            <a:srgbClr val="0E2A5C"/>
                          </a:solidFill>
                          <a:latin typeface="Calibri"/>
                        </a:rPr>
                        <a:t>Type</a:t>
                      </a:r>
                      <a:endParaRPr sz="1100"/>
                    </a:p>
                  </a:txBody>
                  <a:tcPr marL="19050" marR="14288" marT="19050" marB="19050" anchor="ctr">
                    <a:solidFill>
                      <a:srgbClr val="EBF2F9"/>
                    </a:solidFill>
                  </a:tcPr>
                </a:tc>
                <a:tc gridSpan="2">
                  <a:txBody>
                    <a:bodyPr wrap="none"/>
                    <a:lstStyle/>
                    <a:p>
                      <a:pPr algn="ctr"/>
                      <a:r>
                        <a:rPr sz="1100" b="1">
                          <a:solidFill>
                            <a:srgbClr val="0E2A5C"/>
                          </a:solidFill>
                          <a:latin typeface="Calibri"/>
                        </a:rPr>
                        <a:t>Dietary</a:t>
                      </a:r>
                      <a:endParaRPr sz="1100"/>
                    </a:p>
                    <a:p>
                      <a:pPr algn="ctr"/>
                      <a:r>
                        <a:rPr sz="1100" b="1">
                          <a:solidFill>
                            <a:srgbClr val="0E2A5C"/>
                          </a:solidFill>
                          <a:latin typeface="Calibri"/>
                        </a:rPr>
                        <a:t>Supplements &amp;</a:t>
                      </a:r>
                      <a:endParaRPr sz="1100"/>
                    </a:p>
                    <a:p>
                      <a:pPr algn="ctr"/>
                      <a:r>
                        <a:rPr sz="1100" b="1">
                          <a:solidFill>
                            <a:srgbClr val="0E2A5C"/>
                          </a:solidFill>
                          <a:latin typeface="Calibri"/>
                        </a:rPr>
                        <a:t>Nutraceuticals |</a:t>
                      </a:r>
                      <a:endParaRPr sz="1100"/>
                    </a:p>
                    <a:p>
                      <a:pPr algn="ctr"/>
                      <a:r>
                        <a:rPr sz="1100" b="1">
                          <a:solidFill>
                            <a:srgbClr val="0E2A5C"/>
                          </a:solidFill>
                          <a:latin typeface="Calibri"/>
                        </a:rPr>
                        <a:t>Joint &amp; Bone</a:t>
                      </a:r>
                      <a:endParaRPr sz="1100"/>
                    </a:p>
                    <a:p>
                      <a:pPr algn="ctr"/>
                      <a:r>
                        <a:rPr sz="1100" b="1">
                          <a:solidFill>
                            <a:srgbClr val="0E2A5C"/>
                          </a:solidFill>
                          <a:latin typeface="Calibri"/>
                        </a:rPr>
                        <a:t>Health</a:t>
                      </a:r>
                      <a:endParaRPr sz="1100"/>
                    </a:p>
                  </a:txBody>
                  <a:tcPr marL="19050" marR="14288" marT="19050" marB="19050" anchor="ctr">
                    <a:solidFill>
                      <a:srgbClr val="EBF2F9"/>
                    </a:solidFill>
                  </a:tcPr>
                </a:tc>
                <a:tc hMerge="1">
                  <a:txBody>
                    <a:bodyPr wrap="none"/>
                    <a:lstStyle/>
                    <a:p>
                      <a:pPr algn="ctr"/>
                      <a:endParaRPr sz="1100"/>
                    </a:p>
                  </a:txBody>
                  <a:tcPr marL="19050" marR="14288" marT="19050" marB="19050" anchor="ctr">
                    <a:solidFill>
                      <a:srgbClr val="EBF2F9"/>
                    </a:solidFill>
                  </a:tcPr>
                </a:tc>
                <a:tc gridSpan="2">
                  <a:txBody>
                    <a:bodyPr wrap="none"/>
                    <a:lstStyle/>
                    <a:p>
                      <a:pPr algn="ctr"/>
                      <a:r>
                        <a:rPr sz="1100" b="1">
                          <a:solidFill>
                            <a:srgbClr val="0E2A5C"/>
                          </a:solidFill>
                          <a:latin typeface="Calibri"/>
                        </a:rPr>
                        <a:t>Dietary</a:t>
                      </a:r>
                      <a:endParaRPr sz="1100"/>
                    </a:p>
                    <a:p>
                      <a:pPr algn="ctr"/>
                      <a:r>
                        <a:rPr sz="1100" b="1">
                          <a:solidFill>
                            <a:srgbClr val="0E2A5C"/>
                          </a:solidFill>
                          <a:latin typeface="Calibri"/>
                        </a:rPr>
                        <a:t>Supplements &amp;</a:t>
                      </a:r>
                      <a:endParaRPr sz="1100"/>
                    </a:p>
                    <a:p>
                      <a:pPr algn="ctr"/>
                      <a:r>
                        <a:rPr sz="1100" b="1">
                          <a:solidFill>
                            <a:srgbClr val="0E2A5C"/>
                          </a:solidFill>
                          <a:latin typeface="Calibri"/>
                        </a:rPr>
                        <a:t>Nutraceuticals |</a:t>
                      </a:r>
                      <a:endParaRPr sz="1100"/>
                    </a:p>
                    <a:p>
                      <a:pPr algn="ctr"/>
                      <a:r>
                        <a:rPr sz="1100" b="1">
                          <a:solidFill>
                            <a:srgbClr val="0E2A5C"/>
                          </a:solidFill>
                          <a:latin typeface="Calibri"/>
                        </a:rPr>
                        <a:t>Skin, Hair &amp; Nail</a:t>
                      </a:r>
                      <a:endParaRPr sz="1100"/>
                    </a:p>
                    <a:p>
                      <a:pPr algn="ctr"/>
                      <a:r>
                        <a:rPr sz="1100" b="1">
                          <a:solidFill>
                            <a:srgbClr val="0E2A5C"/>
                          </a:solidFill>
                          <a:latin typeface="Calibri"/>
                        </a:rPr>
                        <a:t>Health</a:t>
                      </a:r>
                      <a:endParaRPr sz="1100"/>
                    </a:p>
                  </a:txBody>
                  <a:tcPr marL="19050" marR="14288" marT="19050" marB="19050" anchor="ctr">
                    <a:solidFill>
                      <a:srgbClr val="EBF2F9"/>
                    </a:solidFill>
                  </a:tcPr>
                </a:tc>
                <a:tc hMerge="1">
                  <a:txBody>
                    <a:bodyPr wrap="none"/>
                    <a:lstStyle/>
                    <a:p>
                      <a:pPr algn="ctr"/>
                      <a:endParaRPr sz="1100"/>
                    </a:p>
                  </a:txBody>
                  <a:tcPr marL="19050" marR="14288" marT="19050" marB="19050" anchor="ctr">
                    <a:solidFill>
                      <a:srgbClr val="EBF2F9"/>
                    </a:solidFill>
                  </a:tcPr>
                </a:tc>
                <a:tc gridSpan="2">
                  <a:txBody>
                    <a:bodyPr wrap="none"/>
                    <a:lstStyle/>
                    <a:p>
                      <a:pPr algn="ctr"/>
                      <a:r>
                        <a:rPr sz="1100" b="1">
                          <a:solidFill>
                            <a:srgbClr val="0E2A5C"/>
                          </a:solidFill>
                          <a:latin typeface="Calibri"/>
                        </a:rPr>
                        <a:t>Dietary</a:t>
                      </a:r>
                      <a:endParaRPr sz="1100"/>
                    </a:p>
                    <a:p>
                      <a:pPr algn="ctr"/>
                      <a:r>
                        <a:rPr sz="1100" b="1">
                          <a:solidFill>
                            <a:srgbClr val="0E2A5C"/>
                          </a:solidFill>
                          <a:latin typeface="Calibri"/>
                        </a:rPr>
                        <a:t>Supplements &amp;</a:t>
                      </a:r>
                      <a:endParaRPr sz="1100"/>
                    </a:p>
                    <a:p>
                      <a:pPr algn="ctr"/>
                      <a:r>
                        <a:rPr sz="1100" b="1">
                          <a:solidFill>
                            <a:srgbClr val="0E2A5C"/>
                          </a:solidFill>
                          <a:latin typeface="Calibri"/>
                        </a:rPr>
                        <a:t>Nutraceuticals |</a:t>
                      </a:r>
                      <a:endParaRPr sz="1100"/>
                    </a:p>
                    <a:p>
                      <a:pPr algn="ctr"/>
                      <a:r>
                        <a:rPr sz="1100" b="1">
                          <a:solidFill>
                            <a:srgbClr val="0E2A5C"/>
                          </a:solidFill>
                          <a:latin typeface="Calibri"/>
                        </a:rPr>
                        <a:t>Others</a:t>
                      </a:r>
                      <a:endParaRPr sz="1100"/>
                    </a:p>
                  </a:txBody>
                  <a:tcPr marL="19050" marR="14288" marT="19050" marB="19050" anchor="ctr">
                    <a:solidFill>
                      <a:srgbClr val="EBF2F9"/>
                    </a:solidFill>
                  </a:tcPr>
                </a:tc>
                <a:tc hMerge="1">
                  <a:txBody>
                    <a:bodyPr wrap="none"/>
                    <a:lstStyle/>
                    <a:p>
                      <a:pPr algn="ctr"/>
                      <a:endParaRPr sz="1100"/>
                    </a:p>
                  </a:txBody>
                  <a:tcPr marL="19050" marR="14288" marT="19050" marB="19050" anchor="ctr">
                    <a:solidFill>
                      <a:srgbClr val="EBF2F9"/>
                    </a:solidFill>
                  </a:tcPr>
                </a:tc>
                <a:tc gridSpan="2">
                  <a:txBody>
                    <a:bodyPr wrap="none"/>
                    <a:lstStyle/>
                    <a:p>
                      <a:pPr algn="ctr"/>
                      <a:r>
                        <a:rPr sz="1100" b="1">
                          <a:solidFill>
                            <a:srgbClr val="0E2A5C"/>
                          </a:solidFill>
                          <a:latin typeface="Calibri"/>
                        </a:rPr>
                        <a:t>Functio</a:t>
                      </a:r>
                      <a:endParaRPr sz="1100"/>
                    </a:p>
                    <a:p>
                      <a:pPr algn="ctr"/>
                      <a:r>
                        <a:rPr sz="1100" b="1">
                          <a:solidFill>
                            <a:srgbClr val="0E2A5C"/>
                          </a:solidFill>
                          <a:latin typeface="Calibri"/>
                        </a:rPr>
                        <a:t>nal</a:t>
                      </a:r>
                      <a:endParaRPr sz="1100"/>
                    </a:p>
                    <a:p>
                      <a:pPr algn="ctr"/>
                      <a:r>
                        <a:rPr sz="1100" b="1">
                          <a:solidFill>
                            <a:srgbClr val="0E2A5C"/>
                          </a:solidFill>
                          <a:latin typeface="Calibri"/>
                        </a:rPr>
                        <a:t>Food &amp;</a:t>
                      </a:r>
                      <a:endParaRPr sz="1100"/>
                    </a:p>
                    <a:p>
                      <a:pPr algn="ctr"/>
                      <a:r>
                        <a:rPr sz="1100" b="1">
                          <a:solidFill>
                            <a:srgbClr val="0E2A5C"/>
                          </a:solidFill>
                          <a:latin typeface="Calibri"/>
                        </a:rPr>
                        <a:t>Bevera</a:t>
                      </a:r>
                      <a:endParaRPr sz="1100"/>
                    </a:p>
                    <a:p>
                      <a:pPr algn="ctr"/>
                      <a:r>
                        <a:rPr sz="1100" b="1">
                          <a:solidFill>
                            <a:srgbClr val="0E2A5C"/>
                          </a:solidFill>
                          <a:latin typeface="Calibri"/>
                        </a:rPr>
                        <a:t>ges</a:t>
                      </a:r>
                      <a:endParaRPr sz="1100"/>
                    </a:p>
                  </a:txBody>
                  <a:tcPr marL="19050" marR="14288" marT="19050" marB="19050" anchor="ctr">
                    <a:solidFill>
                      <a:srgbClr val="EBF2F9"/>
                    </a:solidFill>
                  </a:tcPr>
                </a:tc>
                <a:tc hMerge="1">
                  <a:txBody>
                    <a:bodyPr wrap="none"/>
                    <a:lstStyle/>
                    <a:p>
                      <a:pPr algn="ctr"/>
                      <a:endParaRPr sz="1100"/>
                    </a:p>
                  </a:txBody>
                  <a:tcPr marL="19050" marR="14288" marT="19050" marB="19050" anchor="ctr">
                    <a:solidFill>
                      <a:srgbClr val="EBF2F9"/>
                    </a:solidFill>
                  </a:tcPr>
                </a:tc>
                <a:tc gridSpan="2">
                  <a:txBody>
                    <a:bodyPr wrap="none"/>
                    <a:lstStyle/>
                    <a:p>
                      <a:pPr algn="ctr"/>
                      <a:r>
                        <a:rPr sz="1100" b="1">
                          <a:solidFill>
                            <a:srgbClr val="0E2A5C"/>
                          </a:solidFill>
                          <a:latin typeface="Calibri"/>
                        </a:rPr>
                        <a:t>Cosmetics &amp;</a:t>
                      </a:r>
                      <a:endParaRPr sz="1100"/>
                    </a:p>
                    <a:p>
                      <a:pPr algn="ctr"/>
                      <a:r>
                        <a:rPr sz="1100" b="1">
                          <a:solidFill>
                            <a:srgbClr val="0E2A5C"/>
                          </a:solidFill>
                          <a:latin typeface="Calibri"/>
                        </a:rPr>
                        <a:t>Personal Care</a:t>
                      </a:r>
                      <a:endParaRPr sz="1100"/>
                    </a:p>
                    <a:p>
                      <a:pPr algn="ctr"/>
                      <a:r>
                        <a:rPr sz="1100" b="1">
                          <a:solidFill>
                            <a:srgbClr val="0E2A5C"/>
                          </a:solidFill>
                          <a:latin typeface="Calibri"/>
                        </a:rPr>
                        <a:t>| Skin Care</a:t>
                      </a:r>
                      <a:endParaRPr sz="1100"/>
                    </a:p>
                  </a:txBody>
                  <a:tcPr marL="19050" marR="14288" marT="19050" marB="19050" anchor="ctr">
                    <a:solidFill>
                      <a:srgbClr val="EBF2F9"/>
                    </a:solidFill>
                  </a:tcPr>
                </a:tc>
                <a:tc hMerge="1">
                  <a:txBody>
                    <a:bodyPr wrap="none"/>
                    <a:lstStyle/>
                    <a:p>
                      <a:pPr algn="ctr"/>
                      <a:endParaRPr sz="1100"/>
                    </a:p>
                  </a:txBody>
                  <a:tcPr marL="19050" marR="14288" marT="19050" marB="19050" anchor="ctr">
                    <a:solidFill>
                      <a:srgbClr val="EBF2F9"/>
                    </a:solidFill>
                  </a:tcPr>
                </a:tc>
                <a:tc gridSpan="2">
                  <a:txBody>
                    <a:bodyPr wrap="none"/>
                    <a:lstStyle/>
                    <a:p>
                      <a:pPr algn="ctr"/>
                      <a:r>
                        <a:rPr sz="1100" b="1">
                          <a:solidFill>
                            <a:srgbClr val="0E2A5C"/>
                          </a:solidFill>
                          <a:latin typeface="Calibri"/>
                        </a:rPr>
                        <a:t>Cosmetics &amp;</a:t>
                      </a:r>
                      <a:endParaRPr sz="1100"/>
                    </a:p>
                    <a:p>
                      <a:pPr algn="ctr"/>
                      <a:r>
                        <a:rPr sz="1100" b="1">
                          <a:solidFill>
                            <a:srgbClr val="0E2A5C"/>
                          </a:solidFill>
                          <a:latin typeface="Calibri"/>
                        </a:rPr>
                        <a:t>Personal Care</a:t>
                      </a:r>
                      <a:endParaRPr sz="1100"/>
                    </a:p>
                    <a:p>
                      <a:pPr algn="ctr"/>
                      <a:r>
                        <a:rPr sz="1100" b="1">
                          <a:solidFill>
                            <a:srgbClr val="0E2A5C"/>
                          </a:solidFill>
                          <a:latin typeface="Calibri"/>
                        </a:rPr>
                        <a:t>| Hair Care</a:t>
                      </a:r>
                      <a:endParaRPr sz="1100"/>
                    </a:p>
                  </a:txBody>
                  <a:tcPr marL="19050" marR="14288" marT="19050" marB="19050" anchor="ctr">
                    <a:solidFill>
                      <a:srgbClr val="EBF2F9"/>
                    </a:solidFill>
                  </a:tcPr>
                </a:tc>
                <a:tc hMerge="1">
                  <a:txBody>
                    <a:bodyPr wrap="none"/>
                    <a:lstStyle/>
                    <a:p>
                      <a:pPr algn="ctr"/>
                      <a:endParaRPr sz="1100"/>
                    </a:p>
                  </a:txBody>
                  <a:tcPr marL="19050" marR="14288" marT="19050" marB="19050" anchor="ctr">
                    <a:solidFill>
                      <a:srgbClr val="EBF2F9"/>
                    </a:solidFill>
                  </a:tcPr>
                </a:tc>
                <a:tc gridSpan="2">
                  <a:txBody>
                    <a:bodyPr wrap="none"/>
                    <a:lstStyle/>
                    <a:p>
                      <a:pPr algn="ctr"/>
                      <a:r>
                        <a:rPr sz="1100" b="1">
                          <a:solidFill>
                            <a:srgbClr val="0E2A5C"/>
                          </a:solidFill>
                          <a:latin typeface="Calibri"/>
                        </a:rPr>
                        <a:t>Pharmaceuticals &amp;</a:t>
                      </a:r>
                      <a:endParaRPr sz="1100"/>
                    </a:p>
                    <a:p>
                      <a:pPr algn="ctr"/>
                      <a:r>
                        <a:rPr sz="1100" b="1">
                          <a:solidFill>
                            <a:srgbClr val="0E2A5C"/>
                          </a:solidFill>
                          <a:latin typeface="Calibri"/>
                        </a:rPr>
                        <a:t>Biomedical |</a:t>
                      </a:r>
                      <a:endParaRPr sz="1100"/>
                    </a:p>
                    <a:p>
                      <a:pPr algn="ctr"/>
                      <a:r>
                        <a:rPr sz="1100" b="1">
                          <a:solidFill>
                            <a:srgbClr val="0E2A5C"/>
                          </a:solidFill>
                          <a:latin typeface="Calibri"/>
                        </a:rPr>
                        <a:t>Wound Care &amp;</a:t>
                      </a:r>
                      <a:endParaRPr sz="1100"/>
                    </a:p>
                    <a:p>
                      <a:pPr algn="ctr"/>
                      <a:r>
                        <a:rPr sz="1100" b="1">
                          <a:solidFill>
                            <a:srgbClr val="0E2A5C"/>
                          </a:solidFill>
                          <a:latin typeface="Calibri"/>
                        </a:rPr>
                        <a:t>Dressings</a:t>
                      </a:r>
                      <a:endParaRPr sz="1100"/>
                    </a:p>
                  </a:txBody>
                  <a:tcPr marL="19050" marR="14288" marT="19050" marB="19050" anchor="ctr">
                    <a:solidFill>
                      <a:srgbClr val="EBF2F9"/>
                    </a:solidFill>
                  </a:tcPr>
                </a:tc>
                <a:tc hMerge="1">
                  <a:txBody>
                    <a:bodyPr wrap="none"/>
                    <a:lstStyle/>
                    <a:p>
                      <a:pPr algn="ctr"/>
                      <a:endParaRPr sz="1100"/>
                    </a:p>
                  </a:txBody>
                  <a:tcPr marL="19050" marR="14288" marT="19050" marB="19050" anchor="ctr">
                    <a:solidFill>
                      <a:srgbClr val="EBF2F9"/>
                    </a:solidFill>
                  </a:tcPr>
                </a:tc>
                <a:tc gridSpan="2">
                  <a:txBody>
                    <a:bodyPr wrap="none"/>
                    <a:lstStyle/>
                    <a:p>
                      <a:pPr algn="ctr"/>
                      <a:r>
                        <a:rPr sz="1100" b="1">
                          <a:solidFill>
                            <a:srgbClr val="0E2A5C"/>
                          </a:solidFill>
                          <a:latin typeface="Calibri"/>
                        </a:rPr>
                        <a:t>Pharmaceuticals &amp;</a:t>
                      </a:r>
                      <a:endParaRPr sz="1100"/>
                    </a:p>
                    <a:p>
                      <a:pPr algn="ctr"/>
                      <a:r>
                        <a:rPr sz="1100" b="1">
                          <a:solidFill>
                            <a:srgbClr val="0E2A5C"/>
                          </a:solidFill>
                          <a:latin typeface="Calibri"/>
                        </a:rPr>
                        <a:t>Biomedical |</a:t>
                      </a:r>
                      <a:endParaRPr sz="1100"/>
                    </a:p>
                    <a:p>
                      <a:pPr algn="ctr"/>
                      <a:r>
                        <a:rPr sz="1100" b="1">
                          <a:solidFill>
                            <a:srgbClr val="0E2A5C"/>
                          </a:solidFill>
                          <a:latin typeface="Calibri"/>
                        </a:rPr>
                        <a:t>Tissue Engineering</a:t>
                      </a:r>
                      <a:endParaRPr sz="1100"/>
                    </a:p>
                    <a:p>
                      <a:pPr algn="ctr"/>
                      <a:r>
                        <a:rPr sz="1100" b="1">
                          <a:solidFill>
                            <a:srgbClr val="0E2A5C"/>
                          </a:solidFill>
                          <a:latin typeface="Calibri"/>
                        </a:rPr>
                        <a:t>&amp; Drug Delivery</a:t>
                      </a:r>
                      <a:endParaRPr sz="1100"/>
                    </a:p>
                  </a:txBody>
                  <a:tcPr marL="19050" marR="14288" marT="19050" marB="19050" anchor="ctr">
                    <a:solidFill>
                      <a:srgbClr val="EBF2F9"/>
                    </a:solidFill>
                  </a:tcPr>
                </a:tc>
                <a:tc hMerge="1">
                  <a:txBody>
                    <a:bodyPr wrap="none"/>
                    <a:lstStyle/>
                    <a:p>
                      <a:pPr algn="ctr"/>
                      <a:endParaRPr sz="1100"/>
                    </a:p>
                  </a:txBody>
                  <a:tcPr marL="19050" marR="14288" marT="19050" marB="19050" anchor="ctr">
                    <a:solidFill>
                      <a:srgbClr val="EBF2F9"/>
                    </a:solidFill>
                  </a:tcPr>
                </a:tc>
                <a:tc gridSpan="2">
                  <a:txBody>
                    <a:bodyPr wrap="none"/>
                    <a:lstStyle/>
                    <a:p>
                      <a:pPr algn="ctr"/>
                      <a:r>
                        <a:rPr sz="1100" b="1">
                          <a:solidFill>
                            <a:srgbClr val="0E2A5C"/>
                          </a:solidFill>
                          <a:latin typeface="Calibri"/>
                        </a:rPr>
                        <a:t>Animal Nutrition &amp; Pet</a:t>
                      </a:r>
                      <a:endParaRPr sz="1100"/>
                    </a:p>
                    <a:p>
                      <a:pPr algn="ctr"/>
                      <a:r>
                        <a:rPr sz="1100" b="1">
                          <a:solidFill>
                            <a:srgbClr val="0E2A5C"/>
                          </a:solidFill>
                          <a:latin typeface="Calibri"/>
                        </a:rPr>
                        <a:t>Care | Pet Joint &amp; Skin</a:t>
                      </a:r>
                      <a:endParaRPr sz="1100"/>
                    </a:p>
                    <a:p>
                      <a:pPr algn="ctr"/>
                      <a:r>
                        <a:rPr sz="1100" b="1">
                          <a:solidFill>
                            <a:srgbClr val="0E2A5C"/>
                          </a:solidFill>
                          <a:latin typeface="Calibri"/>
                        </a:rPr>
                        <a:t>Supplements</a:t>
                      </a:r>
                      <a:endParaRPr sz="1100"/>
                    </a:p>
                  </a:txBody>
                  <a:tcPr marL="19050" marR="14288" marT="19050" marB="19050" anchor="ctr">
                    <a:solidFill>
                      <a:srgbClr val="EBF2F9"/>
                    </a:solidFill>
                  </a:tcPr>
                </a:tc>
                <a:tc hMerge="1">
                  <a:txBody>
                    <a:bodyPr wrap="none"/>
                    <a:lstStyle/>
                    <a:p>
                      <a:pPr algn="ctr"/>
                      <a:endParaRPr sz="1100"/>
                    </a:p>
                  </a:txBody>
                  <a:tcPr marL="19050" marR="14288" marT="19050" marB="19050" anchor="ctr">
                    <a:solidFill>
                      <a:srgbClr val="EBF2F9"/>
                    </a:solidFill>
                  </a:tcPr>
                </a:tc>
                <a:tc gridSpan="2">
                  <a:txBody>
                    <a:bodyPr wrap="none"/>
                    <a:lstStyle/>
                    <a:p>
                      <a:pPr algn="ctr"/>
                      <a:r>
                        <a:rPr sz="1100" b="1">
                          <a:solidFill>
                            <a:srgbClr val="0E2A5C"/>
                          </a:solidFill>
                          <a:latin typeface="Calibri"/>
                        </a:rPr>
                        <a:t>Animal</a:t>
                      </a:r>
                      <a:endParaRPr sz="1100"/>
                    </a:p>
                    <a:p>
                      <a:pPr algn="ctr"/>
                      <a:r>
                        <a:rPr sz="1100" b="1">
                          <a:solidFill>
                            <a:srgbClr val="0E2A5C"/>
                          </a:solidFill>
                          <a:latin typeface="Calibri"/>
                        </a:rPr>
                        <a:t>Nutrition &amp;</a:t>
                      </a:r>
                      <a:endParaRPr sz="1100"/>
                    </a:p>
                    <a:p>
                      <a:pPr algn="ctr"/>
                      <a:r>
                        <a:rPr sz="1100" b="1">
                          <a:solidFill>
                            <a:srgbClr val="0E2A5C"/>
                          </a:solidFill>
                          <a:latin typeface="Calibri"/>
                        </a:rPr>
                        <a:t>Pet Care |</a:t>
                      </a:r>
                      <a:endParaRPr sz="1100"/>
                    </a:p>
                    <a:p>
                      <a:pPr algn="ctr"/>
                      <a:r>
                        <a:rPr sz="1100" b="1">
                          <a:solidFill>
                            <a:srgbClr val="0E2A5C"/>
                          </a:solidFill>
                          <a:latin typeface="Calibri"/>
                        </a:rPr>
                        <a:t>Livestock &amp;</a:t>
                      </a:r>
                      <a:endParaRPr sz="1100"/>
                    </a:p>
                    <a:p>
                      <a:pPr algn="ctr"/>
                      <a:r>
                        <a:rPr sz="1100" b="1">
                          <a:solidFill>
                            <a:srgbClr val="0E2A5C"/>
                          </a:solidFill>
                          <a:latin typeface="Calibri"/>
                        </a:rPr>
                        <a:t>Poultry Feed</a:t>
                      </a:r>
                      <a:endParaRPr sz="1100"/>
                    </a:p>
                  </a:txBody>
                  <a:tcPr marL="19050" marR="14288" marT="19050" marB="19050" anchor="ctr">
                    <a:solidFill>
                      <a:srgbClr val="EBF2F9"/>
                    </a:solidFill>
                  </a:tcPr>
                </a:tc>
                <a:tc hMerge="1">
                  <a:txBody>
                    <a:bodyPr wrap="none"/>
                    <a:lstStyle/>
                    <a:p>
                      <a:pPr algn="ctr"/>
                      <a:endParaRPr sz="1100"/>
                    </a:p>
                  </a:txBody>
                  <a:tcPr marL="19050" marR="14288" marT="19050" marB="19050" anchor="ctr">
                    <a:solidFill>
                      <a:srgbClr val="EBF2F9"/>
                    </a:solidFill>
                  </a:tcPr>
                </a:tc>
                <a:tc gridSpan="2">
                  <a:txBody>
                    <a:bodyPr wrap="none"/>
                    <a:lstStyle/>
                    <a:p>
                      <a:pPr algn="ctr"/>
                      <a:r>
                        <a:rPr sz="1100" b="1">
                          <a:solidFill>
                            <a:srgbClr val="0E2A5C"/>
                          </a:solidFill>
                          <a:latin typeface="Calibri"/>
                        </a:rPr>
                        <a:t>Industr</a:t>
                      </a:r>
                      <a:endParaRPr sz="1100"/>
                    </a:p>
                    <a:p>
                      <a:pPr algn="ctr"/>
                      <a:r>
                        <a:rPr sz="1100" b="1">
                          <a:solidFill>
                            <a:srgbClr val="0E2A5C"/>
                          </a:solidFill>
                          <a:latin typeface="Calibri"/>
                        </a:rPr>
                        <a:t>ial &amp;</a:t>
                      </a:r>
                      <a:endParaRPr sz="1100"/>
                    </a:p>
                    <a:p>
                      <a:pPr algn="ctr"/>
                      <a:r>
                        <a:rPr sz="1100" b="1">
                          <a:solidFill>
                            <a:srgbClr val="0E2A5C"/>
                          </a:solidFill>
                          <a:latin typeface="Calibri"/>
                        </a:rPr>
                        <a:t>Biomat</a:t>
                      </a:r>
                      <a:endParaRPr sz="1100"/>
                    </a:p>
                    <a:p>
                      <a:pPr algn="ctr"/>
                      <a:r>
                        <a:rPr sz="1100" b="1">
                          <a:solidFill>
                            <a:srgbClr val="0E2A5C"/>
                          </a:solidFill>
                          <a:latin typeface="Calibri"/>
                        </a:rPr>
                        <a:t>erials</a:t>
                      </a:r>
                      <a:endParaRPr sz="1100"/>
                    </a:p>
                  </a:txBody>
                  <a:tcPr marL="19050" marR="14288" marT="19050" marB="19050" anchor="ctr">
                    <a:solidFill>
                      <a:srgbClr val="EBF2F9"/>
                    </a:solidFill>
                  </a:tcPr>
                </a:tc>
                <a:tc hMerge="1">
                  <a:txBody>
                    <a:bodyPr wrap="none"/>
                    <a:lstStyle/>
                    <a:p>
                      <a:pPr algn="ctr"/>
                      <a:endParaRPr sz="1100"/>
                    </a:p>
                  </a:txBody>
                  <a:tcPr marL="19050" marR="14288" marT="19050" marB="19050" anchor="ctr">
                    <a:solidFill>
                      <a:srgbClr val="EBF2F9"/>
                    </a:solidFill>
                  </a:tcPr>
                </a:tc>
                <a:tc gridSpan="2">
                  <a:txBody>
                    <a:bodyPr wrap="none"/>
                    <a:lstStyle/>
                    <a:p>
                      <a:pPr algn="ctr"/>
                      <a:r>
                        <a:rPr sz="1100" b="1">
                          <a:solidFill>
                            <a:srgbClr val="0E2A5C"/>
                          </a:solidFill>
                          <a:latin typeface="Calibri"/>
                        </a:rPr>
                        <a:t>Total</a:t>
                      </a:r>
                      <a:endParaRPr sz="1100"/>
                    </a:p>
                  </a:txBody>
                  <a:tcPr marL="19050" marR="14288" marT="19050" marB="19050" anchor="ctr">
                    <a:solidFill>
                      <a:srgbClr val="EBF2F9"/>
                    </a:solidFill>
                  </a:tcPr>
                </a:tc>
                <a:tc hMerge="1">
                  <a:txBody>
                    <a:bodyPr wrap="none"/>
                    <a:lstStyle/>
                    <a:p>
                      <a:pPr algn="ctr"/>
                      <a:endParaRPr sz="1100"/>
                    </a:p>
                  </a:txBody>
                  <a:tcPr marL="19050" marR="14288" marT="19050" marB="19050" anchor="ctr">
                    <a:solidFill>
                      <a:srgbClr val="EBF2F9"/>
                    </a:solidFill>
                  </a:tcPr>
                </a:tc>
              </a:tr>
              <a:tr h="1211834">
                <a:tc vMerge="1">
                  <a:txBody>
                    <a:bodyPr wrap="none"/>
                    <a:lstStyle/>
                    <a:p>
                      <a:pPr algn="l"/>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 Joint &amp; Bone Health|2026E</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 Joint &amp; Bone Health|2036F</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 Skin, Hair &amp; Nail Health|2026E</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 Skin, Hair &amp; Nail Health|2036F</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 Others|2026E</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 Others|2036F</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2026E</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2036F</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 Skin Care|2026E</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 Skin Care|2036F</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 Hair Care|2026E</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 Hair Care|2036F</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 Wound Care &amp; Dressings|2026E</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 Wound Care &amp; Dressings|2036F</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 Tissue Engineering &amp; Drug Delivery|2026E</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 Tissue Engineering &amp; Drug Delivery|2036F</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 Pet Joint &amp; Skin Supplements|2026E</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 Pet Joint &amp; Skin Supplements|2036F</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 Livestock &amp; Poultry Feed|2026E</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 Livestock &amp; Poultry Feed|2036F</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2026E</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2036F</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2026E</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2036F</a:t>
                      </a:r>
                      <a:endParaRPr sz="1100"/>
                    </a:p>
                  </a:txBody>
                  <a:tcPr marL="19050" marR="14288" marT="19050" marB="19050" anchor="ctr">
                    <a:solidFill>
                      <a:srgbClr val="EBF2F9"/>
                    </a:solidFill>
                  </a:tcPr>
                </a:tc>
              </a:tr>
              <a:tr h="1597406">
                <a:tc>
                  <a:txBody>
                    <a:bodyPr wrap="none"/>
                    <a:lstStyle/>
                    <a:p>
                      <a:pPr algn="l"/>
                      <a:r>
                        <a:rPr sz="1100" b="1">
                          <a:solidFill>
                            <a:srgbClr val="2E2E2E"/>
                          </a:solidFill>
                          <a:latin typeface="Calibri"/>
                        </a:rPr>
                        <a:t>Speci</a:t>
                      </a:r>
                      <a:endParaRPr sz="1100"/>
                    </a:p>
                    <a:p>
                      <a:pPr algn="l"/>
                      <a:r>
                        <a:rPr sz="1100" b="1">
                          <a:solidFill>
                            <a:srgbClr val="2E2E2E"/>
                          </a:solidFill>
                          <a:latin typeface="Calibri"/>
                        </a:rPr>
                        <a:t>alty</a:t>
                      </a:r>
                      <a:endParaRPr sz="1100"/>
                    </a:p>
                    <a:p>
                      <a:pPr algn="l"/>
                      <a:r>
                        <a:rPr sz="1100" b="1">
                          <a:solidFill>
                            <a:srgbClr val="2E2E2E"/>
                          </a:solidFill>
                          <a:latin typeface="Calibri"/>
                        </a:rPr>
                        <a:t>Extra</a:t>
                      </a:r>
                      <a:endParaRPr sz="1100"/>
                    </a:p>
                    <a:p>
                      <a:pPr algn="l"/>
                      <a:r>
                        <a:rPr sz="1100" b="1">
                          <a:solidFill>
                            <a:srgbClr val="2E2E2E"/>
                          </a:solidFill>
                          <a:latin typeface="Calibri"/>
                        </a:rPr>
                        <a:t>cted</a:t>
                      </a:r>
                      <a:endParaRPr sz="1100"/>
                    </a:p>
                    <a:p>
                      <a:pPr algn="l"/>
                      <a:r>
                        <a:rPr sz="1100" b="1">
                          <a:solidFill>
                            <a:srgbClr val="2E2E2E"/>
                          </a:solidFill>
                          <a:latin typeface="Calibri"/>
                        </a:rPr>
                        <a:t>Prot</a:t>
                      </a:r>
                      <a:endParaRPr sz="1100"/>
                    </a:p>
                    <a:p>
                      <a:pPr algn="l"/>
                      <a:r>
                        <a:rPr sz="1100" b="1">
                          <a:solidFill>
                            <a:srgbClr val="2E2E2E"/>
                          </a:solidFill>
                          <a:latin typeface="Calibri"/>
                        </a:rPr>
                        <a:t>ein</a:t>
                      </a:r>
                      <a:endParaRPr sz="1100"/>
                    </a:p>
                    <a:p>
                      <a:pPr algn="l"/>
                      <a:r>
                        <a:rPr sz="1100" b="1">
                          <a:solidFill>
                            <a:srgbClr val="2E2E2E"/>
                          </a:solidFill>
                          <a:latin typeface="Calibri"/>
                        </a:rPr>
                        <a:t>Fract</a:t>
                      </a:r>
                      <a:endParaRPr sz="1100"/>
                    </a:p>
                    <a:p>
                      <a:pPr algn="l"/>
                      <a:r>
                        <a:rPr sz="1100" b="1">
                          <a:solidFill>
                            <a:srgbClr val="2E2E2E"/>
                          </a:solidFill>
                          <a:latin typeface="Calibri"/>
                        </a:rPr>
                        <a:t>ions</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square"/>
                    <a:lstStyle/>
                    <a:p>
                      <a:pPr algn="ctr"/>
                      <a:r>
                        <a:rPr sz="1100"/>
                        <a:t> </a:t>
                      </a:r>
                      <a:endParaRPr sz="1100"/>
                    </a:p>
                  </a:txBody>
                  <a:tcPr marL="19050" marR="14288" marT="19050" marB="19050" anchor="ctr">
                    <a:solidFill>
                      <a:srgbClr val="FFFFFF"/>
                    </a:solidFill>
                  </a:tcPr>
                </a:tc>
                <a:tc>
                  <a:txBody>
                    <a:bodyPr wrap="squar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square"/>
                    <a:lstStyle/>
                    <a:p>
                      <a:pPr algn="ctr"/>
                      <a:r>
                        <a:rPr sz="1100"/>
                        <a:t> </a:t>
                      </a:r>
                      <a:endParaRPr sz="1100"/>
                    </a:p>
                  </a:txBody>
                  <a:tcPr marL="19050" marR="14288" marT="19050" marB="19050" anchor="ctr">
                    <a:solidFill>
                      <a:srgbClr val="FFFFFF"/>
                    </a:solidFill>
                  </a:tcPr>
                </a:tc>
                <a:tc>
                  <a:txBody>
                    <a:bodyPr wrap="square"/>
                    <a:lstStyle/>
                    <a:p>
                      <a:pPr algn="ctr"/>
                      <a:r>
                        <a:rPr sz="1100"/>
                        <a:t> </a:t>
                      </a:r>
                      <a:endParaRPr sz="1100"/>
                    </a:p>
                  </a:txBody>
                  <a:tcPr marL="19050" marR="14288" marT="19050" marB="19050" anchor="ctr">
                    <a:solidFill>
                      <a:srgbClr val="FFFFFF"/>
                    </a:solidFill>
                  </a:tcPr>
                </a:tc>
                <a:tc>
                  <a:txBody>
                    <a:bodyPr wrap="square"/>
                    <a:lstStyle/>
                    <a:p>
                      <a:pPr algn="ctr"/>
                      <a:r>
                        <a:rPr sz="1100"/>
                        <a:t> </a:t>
                      </a:r>
                      <a:endParaRPr sz="1100"/>
                    </a:p>
                  </a:txBody>
                  <a:tcPr marL="19050" marR="14288" marT="19050" marB="19050" anchor="ctr">
                    <a:solidFill>
                      <a:srgbClr val="FFFFFF"/>
                    </a:solidFill>
                  </a:tcPr>
                </a:tc>
                <a:tc>
                  <a:txBody>
                    <a:bodyPr wrap="square"/>
                    <a:lstStyle/>
                    <a:p>
                      <a:pPr algn="ctr"/>
                      <a:r>
                        <a:rPr sz="1100"/>
                        <a:t> </a:t>
                      </a:r>
                      <a:endParaRPr sz="1100"/>
                    </a:p>
                  </a:txBody>
                  <a:tcPr marL="19050" marR="14288" marT="19050" marB="19050" anchor="ctr">
                    <a:solidFill>
                      <a:srgbClr val="FFFFFF"/>
                    </a:solidFill>
                  </a:tcPr>
                </a:tc>
              </a:tr>
              <a:tr h="440690">
                <a:tc>
                  <a:txBody>
                    <a:bodyPr wrap="none"/>
                    <a:lstStyle/>
                    <a:p>
                      <a:pPr algn="l"/>
                      <a:r>
                        <a:rPr sz="1100" b="1">
                          <a:solidFill>
                            <a:srgbClr val="2E2E2E"/>
                          </a:solidFill>
                          <a:latin typeface="Calibri"/>
                        </a:rPr>
                        <a:t>Total</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square"/>
                    <a:lstStyle/>
                    <a:p>
                      <a:pPr algn="ctr"/>
                      <a:r>
                        <a:rPr sz="1100"/>
                        <a:t> </a:t>
                      </a:r>
                      <a:endParaRPr sz="1100"/>
                    </a:p>
                  </a:txBody>
                  <a:tcPr marL="19050" marR="14288" marT="19050" marB="19050" anchor="ctr">
                    <a:solidFill>
                      <a:srgbClr val="EBF2F9"/>
                    </a:solidFill>
                  </a:tcPr>
                </a:tc>
                <a:tc>
                  <a:txBody>
                    <a:bodyPr wrap="square"/>
                    <a:lstStyle/>
                    <a:p>
                      <a:pPr algn="ctr"/>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square"/>
                    <a:lstStyle/>
                    <a:p>
                      <a:pPr algn="ctr"/>
                      <a:r>
                        <a:rPr sz="1100"/>
                        <a:t> </a:t>
                      </a:r>
                      <a:endParaRPr sz="1100"/>
                    </a:p>
                  </a:txBody>
                  <a:tcPr marL="19050" marR="14288" marT="19050" marB="19050" anchor="ctr">
                    <a:solidFill>
                      <a:srgbClr val="EBF2F9"/>
                    </a:solidFill>
                  </a:tcPr>
                </a:tc>
                <a:tc>
                  <a:txBody>
                    <a:bodyPr wrap="square"/>
                    <a:lstStyle/>
                    <a:p>
                      <a:pPr algn="ctr"/>
                      <a:r>
                        <a:rPr sz="1100"/>
                        <a:t> </a:t>
                      </a:r>
                      <a:endParaRPr sz="1100"/>
                    </a:p>
                  </a:txBody>
                  <a:tcPr marL="19050" marR="14288" marT="19050" marB="19050" anchor="ctr">
                    <a:solidFill>
                      <a:srgbClr val="EBF2F9"/>
                    </a:solidFill>
                  </a:tcPr>
                </a:tc>
                <a:tc>
                  <a:txBody>
                    <a:bodyPr wrap="square"/>
                    <a:lstStyle/>
                    <a:p>
                      <a:pPr algn="ctr"/>
                      <a:r>
                        <a:rPr sz="1100"/>
                        <a:t> </a:t>
                      </a:r>
                      <a:endParaRPr sz="1100"/>
                    </a:p>
                  </a:txBody>
                  <a:tcPr marL="19050" marR="14288" marT="19050" marB="19050" anchor="ctr">
                    <a:solidFill>
                      <a:srgbClr val="EBF2F9"/>
                    </a:solidFill>
                  </a:tcPr>
                </a:tc>
                <a:tc>
                  <a:txBody>
                    <a:bodyPr wrap="square"/>
                    <a:lstStyle/>
                    <a:p>
                      <a:pPr algn="ctr"/>
                      <a:r>
                        <a:rPr sz="1100"/>
                        <a:t> </a:t>
                      </a:r>
                      <a:endParaRPr sz="1100"/>
                    </a:p>
                  </a:txBody>
                  <a:tcPr marL="19050" marR="14288" marT="19050" marB="19050" anchor="ctr">
                    <a:solidFill>
                      <a:srgbClr val="EBF2F9"/>
                    </a:solidFill>
                  </a:tcPr>
                </a:tc>
              </a:tr>
            </a:tbl>
          </a:graphicData>
        </a:graphic>
      </p:graphicFrame>
      <p:sp>
        <p:nvSpPr>
          <p:cNvPr id="10" name="TextBox 9"/>
          <p:cNvSpPr txBox="1"/>
          <p:nvPr/>
        </p:nvSpPr>
        <p:spPr>
          <a:xfrm>
            <a:off x="219075" y="551497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11" name="Rectangle 10"/>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3" name="Picture 12" descr="lock.png"/>
          <p:cNvPicPr>
            <a:picLocks noChangeAspect="1"/>
          </p:cNvPicPr>
          <p:nvPr/>
        </p:nvPicPr>
        <p:blipFill>
          <a:blip r:embed="rId4"/>
          <a:stretch>
            <a:fillRect/>
          </a:stretch>
        </p:blipFill>
        <p:spPr>
          <a:xfrm>
            <a:off x="6097418" y="4219702"/>
            <a:ext cx="366712" cy="533400"/>
          </a:xfrm>
          <a:prstGeom prst="rect">
            <a:avLst/>
          </a:prstGeom>
        </p:spPr>
      </p:pic>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Snapshot: Product Type × Application, 2026E vs 2036F (3/3)</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Global market value (US$ Mn) for each product type sub-segment across application sub-segments</a:t>
            </a:r>
          </a:p>
        </p:txBody>
      </p:sp>
      <p:sp>
        <p:nvSpPr>
          <p:cNvPr id="7" name="Rounded Rectangle 6"/>
          <p:cNvSpPr/>
          <p:nvPr/>
        </p:nvSpPr>
        <p:spPr>
          <a:xfrm>
            <a:off x="142875" y="981075"/>
            <a:ext cx="7286625" cy="5648325"/>
          </a:xfrm>
          <a:prstGeom prst="roundRect">
            <a:avLst>
              <a:gd name="adj" fmla="val 134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70961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Flow, Product Type → Application, 2036F (US$ Mn)</a:t>
            </a:r>
          </a:p>
        </p:txBody>
      </p:sp>
      <p:sp>
        <p:nvSpPr>
          <p:cNvPr id="9" name="Freeform 8"/>
          <p:cNvSpPr/>
          <p:nvPr/>
        </p:nvSpPr>
        <p:spPr>
          <a:xfrm>
            <a:off x="2057400" y="1304925"/>
            <a:ext cx="3743325" cy="495300"/>
          </a:xfrm>
          <a:custGeom>
            <a:avLst/>
            <a:gdLst/>
            <a:ahLst/>
            <a:cxnLst/>
            <a:rect l="l" t="t" r="r" b="b"/>
            <a:pathLst>
              <a:path w="393" h="52">
                <a:moveTo>
                  <a:pt x="0" y="24"/>
                </a:moveTo>
                <a:lnTo>
                  <a:pt x="16" y="24"/>
                </a:lnTo>
                <a:lnTo>
                  <a:pt x="33" y="24"/>
                </a:lnTo>
                <a:lnTo>
                  <a:pt x="49" y="23"/>
                </a:lnTo>
                <a:lnTo>
                  <a:pt x="65" y="22"/>
                </a:lnTo>
                <a:lnTo>
                  <a:pt x="82" y="21"/>
                </a:lnTo>
                <a:lnTo>
                  <a:pt x="98" y="20"/>
                </a:lnTo>
                <a:lnTo>
                  <a:pt x="114" y="19"/>
                </a:lnTo>
                <a:lnTo>
                  <a:pt x="131" y="18"/>
                </a:lnTo>
                <a:lnTo>
                  <a:pt x="147" y="16"/>
                </a:lnTo>
                <a:lnTo>
                  <a:pt x="164" y="15"/>
                </a:lnTo>
                <a:lnTo>
                  <a:pt x="180" y="13"/>
                </a:lnTo>
                <a:lnTo>
                  <a:pt x="196" y="12"/>
                </a:lnTo>
                <a:lnTo>
                  <a:pt x="213" y="11"/>
                </a:lnTo>
                <a:lnTo>
                  <a:pt x="229" y="9"/>
                </a:lnTo>
                <a:lnTo>
                  <a:pt x="246" y="8"/>
                </a:lnTo>
                <a:lnTo>
                  <a:pt x="262" y="6"/>
                </a:lnTo>
                <a:lnTo>
                  <a:pt x="278" y="5"/>
                </a:lnTo>
                <a:lnTo>
                  <a:pt x="295" y="4"/>
                </a:lnTo>
                <a:lnTo>
                  <a:pt x="311" y="3"/>
                </a:lnTo>
                <a:lnTo>
                  <a:pt x="327" y="2"/>
                </a:lnTo>
                <a:lnTo>
                  <a:pt x="344" y="1"/>
                </a:lnTo>
                <a:lnTo>
                  <a:pt x="360" y="0"/>
                </a:lnTo>
                <a:lnTo>
                  <a:pt x="377" y="0"/>
                </a:lnTo>
                <a:lnTo>
                  <a:pt x="393" y="0"/>
                </a:lnTo>
                <a:lnTo>
                  <a:pt x="393" y="28"/>
                </a:lnTo>
                <a:lnTo>
                  <a:pt x="377" y="28"/>
                </a:lnTo>
                <a:lnTo>
                  <a:pt x="360" y="29"/>
                </a:lnTo>
                <a:lnTo>
                  <a:pt x="344" y="29"/>
                </a:lnTo>
                <a:lnTo>
                  <a:pt x="327" y="30"/>
                </a:lnTo>
                <a:lnTo>
                  <a:pt x="311" y="31"/>
                </a:lnTo>
                <a:lnTo>
                  <a:pt x="295" y="32"/>
                </a:lnTo>
                <a:lnTo>
                  <a:pt x="278" y="33"/>
                </a:lnTo>
                <a:lnTo>
                  <a:pt x="262" y="34"/>
                </a:lnTo>
                <a:lnTo>
                  <a:pt x="246" y="36"/>
                </a:lnTo>
                <a:lnTo>
                  <a:pt x="229" y="37"/>
                </a:lnTo>
                <a:lnTo>
                  <a:pt x="213" y="39"/>
                </a:lnTo>
                <a:lnTo>
                  <a:pt x="196" y="40"/>
                </a:lnTo>
                <a:lnTo>
                  <a:pt x="180" y="42"/>
                </a:lnTo>
                <a:lnTo>
                  <a:pt x="164" y="43"/>
                </a:lnTo>
                <a:lnTo>
                  <a:pt x="147" y="45"/>
                </a:lnTo>
                <a:lnTo>
                  <a:pt x="131" y="46"/>
                </a:lnTo>
                <a:lnTo>
                  <a:pt x="114" y="47"/>
                </a:lnTo>
                <a:lnTo>
                  <a:pt x="98" y="48"/>
                </a:lnTo>
                <a:lnTo>
                  <a:pt x="82" y="50"/>
                </a:lnTo>
                <a:lnTo>
                  <a:pt x="65" y="50"/>
                </a:lnTo>
                <a:lnTo>
                  <a:pt x="49" y="51"/>
                </a:lnTo>
                <a:lnTo>
                  <a:pt x="33" y="52"/>
                </a:lnTo>
                <a:lnTo>
                  <a:pt x="16" y="52"/>
                </a:lnTo>
                <a:lnTo>
                  <a:pt x="0" y="52"/>
                </a:lnTo>
                <a:close/>
              </a:path>
            </a:pathLst>
          </a:custGeom>
          <a:solidFill>
            <a:srgbClr val="2A5F8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Freeform 9"/>
          <p:cNvSpPr/>
          <p:nvPr/>
        </p:nvSpPr>
        <p:spPr>
          <a:xfrm>
            <a:off x="2057400" y="1800225"/>
            <a:ext cx="3743325" cy="523875"/>
          </a:xfrm>
          <a:custGeom>
            <a:avLst/>
            <a:gdLst/>
            <a:ahLst/>
            <a:cxnLst/>
            <a:rect l="l" t="t" r="r" b="b"/>
            <a:pathLst>
              <a:path w="393" h="55">
                <a:moveTo>
                  <a:pt x="0" y="0"/>
                </a:moveTo>
                <a:lnTo>
                  <a:pt x="16" y="0"/>
                </a:lnTo>
                <a:lnTo>
                  <a:pt x="33" y="1"/>
                </a:lnTo>
                <a:lnTo>
                  <a:pt x="49" y="2"/>
                </a:lnTo>
                <a:lnTo>
                  <a:pt x="65" y="3"/>
                </a:lnTo>
                <a:lnTo>
                  <a:pt x="82" y="5"/>
                </a:lnTo>
                <a:lnTo>
                  <a:pt x="98" y="6"/>
                </a:lnTo>
                <a:lnTo>
                  <a:pt x="114" y="8"/>
                </a:lnTo>
                <a:lnTo>
                  <a:pt x="131" y="10"/>
                </a:lnTo>
                <a:lnTo>
                  <a:pt x="147" y="12"/>
                </a:lnTo>
                <a:lnTo>
                  <a:pt x="164" y="15"/>
                </a:lnTo>
                <a:lnTo>
                  <a:pt x="180" y="17"/>
                </a:lnTo>
                <a:lnTo>
                  <a:pt x="196" y="19"/>
                </a:lnTo>
                <a:lnTo>
                  <a:pt x="213" y="22"/>
                </a:lnTo>
                <a:lnTo>
                  <a:pt x="229" y="24"/>
                </a:lnTo>
                <a:lnTo>
                  <a:pt x="246" y="26"/>
                </a:lnTo>
                <a:lnTo>
                  <a:pt x="262" y="29"/>
                </a:lnTo>
                <a:lnTo>
                  <a:pt x="278" y="31"/>
                </a:lnTo>
                <a:lnTo>
                  <a:pt x="295" y="33"/>
                </a:lnTo>
                <a:lnTo>
                  <a:pt x="311" y="34"/>
                </a:lnTo>
                <a:lnTo>
                  <a:pt x="327" y="36"/>
                </a:lnTo>
                <a:lnTo>
                  <a:pt x="344" y="37"/>
                </a:lnTo>
                <a:lnTo>
                  <a:pt x="360" y="38"/>
                </a:lnTo>
                <a:lnTo>
                  <a:pt x="377" y="38"/>
                </a:lnTo>
                <a:lnTo>
                  <a:pt x="393" y="39"/>
                </a:lnTo>
                <a:lnTo>
                  <a:pt x="393" y="55"/>
                </a:lnTo>
                <a:lnTo>
                  <a:pt x="377" y="55"/>
                </a:lnTo>
                <a:lnTo>
                  <a:pt x="360" y="54"/>
                </a:lnTo>
                <a:lnTo>
                  <a:pt x="344" y="53"/>
                </a:lnTo>
                <a:lnTo>
                  <a:pt x="327" y="52"/>
                </a:lnTo>
                <a:lnTo>
                  <a:pt x="311" y="51"/>
                </a:lnTo>
                <a:lnTo>
                  <a:pt x="295" y="49"/>
                </a:lnTo>
                <a:lnTo>
                  <a:pt x="278" y="47"/>
                </a:lnTo>
                <a:lnTo>
                  <a:pt x="262" y="45"/>
                </a:lnTo>
                <a:lnTo>
                  <a:pt x="246" y="43"/>
                </a:lnTo>
                <a:lnTo>
                  <a:pt x="229" y="41"/>
                </a:lnTo>
                <a:lnTo>
                  <a:pt x="213" y="38"/>
                </a:lnTo>
                <a:lnTo>
                  <a:pt x="196" y="36"/>
                </a:lnTo>
                <a:lnTo>
                  <a:pt x="180" y="33"/>
                </a:lnTo>
                <a:lnTo>
                  <a:pt x="164" y="31"/>
                </a:lnTo>
                <a:lnTo>
                  <a:pt x="147" y="29"/>
                </a:lnTo>
                <a:lnTo>
                  <a:pt x="131" y="27"/>
                </a:lnTo>
                <a:lnTo>
                  <a:pt x="114" y="25"/>
                </a:lnTo>
                <a:lnTo>
                  <a:pt x="98" y="23"/>
                </a:lnTo>
                <a:lnTo>
                  <a:pt x="82" y="21"/>
                </a:lnTo>
                <a:lnTo>
                  <a:pt x="65" y="19"/>
                </a:lnTo>
                <a:lnTo>
                  <a:pt x="49" y="18"/>
                </a:lnTo>
                <a:lnTo>
                  <a:pt x="33" y="17"/>
                </a:lnTo>
                <a:lnTo>
                  <a:pt x="16" y="17"/>
                </a:lnTo>
                <a:lnTo>
                  <a:pt x="0" y="17"/>
                </a:lnTo>
                <a:close/>
              </a:path>
            </a:pathLst>
          </a:custGeom>
          <a:solidFill>
            <a:srgbClr val="2A5F8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Freeform 10"/>
          <p:cNvSpPr/>
          <p:nvPr/>
        </p:nvSpPr>
        <p:spPr>
          <a:xfrm>
            <a:off x="2057400" y="1962150"/>
            <a:ext cx="3743325" cy="857250"/>
          </a:xfrm>
          <a:custGeom>
            <a:avLst/>
            <a:gdLst/>
            <a:ahLst/>
            <a:cxnLst/>
            <a:rect l="l" t="t" r="r" b="b"/>
            <a:pathLst>
              <a:path w="393" h="90">
                <a:moveTo>
                  <a:pt x="0" y="0"/>
                </a:moveTo>
                <a:lnTo>
                  <a:pt x="16" y="0"/>
                </a:lnTo>
                <a:lnTo>
                  <a:pt x="33" y="1"/>
                </a:lnTo>
                <a:lnTo>
                  <a:pt x="49" y="3"/>
                </a:lnTo>
                <a:lnTo>
                  <a:pt x="65" y="5"/>
                </a:lnTo>
                <a:lnTo>
                  <a:pt x="82" y="8"/>
                </a:lnTo>
                <a:lnTo>
                  <a:pt x="98" y="12"/>
                </a:lnTo>
                <a:lnTo>
                  <a:pt x="114" y="16"/>
                </a:lnTo>
                <a:lnTo>
                  <a:pt x="131" y="20"/>
                </a:lnTo>
                <a:lnTo>
                  <a:pt x="147" y="24"/>
                </a:lnTo>
                <a:lnTo>
                  <a:pt x="164" y="29"/>
                </a:lnTo>
                <a:lnTo>
                  <a:pt x="180" y="33"/>
                </a:lnTo>
                <a:lnTo>
                  <a:pt x="196" y="38"/>
                </a:lnTo>
                <a:lnTo>
                  <a:pt x="213" y="43"/>
                </a:lnTo>
                <a:lnTo>
                  <a:pt x="229" y="48"/>
                </a:lnTo>
                <a:lnTo>
                  <a:pt x="246" y="52"/>
                </a:lnTo>
                <a:lnTo>
                  <a:pt x="262" y="57"/>
                </a:lnTo>
                <a:lnTo>
                  <a:pt x="278" y="61"/>
                </a:lnTo>
                <a:lnTo>
                  <a:pt x="295" y="65"/>
                </a:lnTo>
                <a:lnTo>
                  <a:pt x="311" y="68"/>
                </a:lnTo>
                <a:lnTo>
                  <a:pt x="327" y="71"/>
                </a:lnTo>
                <a:lnTo>
                  <a:pt x="344" y="74"/>
                </a:lnTo>
                <a:lnTo>
                  <a:pt x="360" y="75"/>
                </a:lnTo>
                <a:lnTo>
                  <a:pt x="377" y="76"/>
                </a:lnTo>
                <a:lnTo>
                  <a:pt x="393" y="77"/>
                </a:lnTo>
                <a:lnTo>
                  <a:pt x="393" y="90"/>
                </a:lnTo>
                <a:lnTo>
                  <a:pt x="377" y="90"/>
                </a:lnTo>
                <a:lnTo>
                  <a:pt x="360" y="89"/>
                </a:lnTo>
                <a:lnTo>
                  <a:pt x="344" y="87"/>
                </a:lnTo>
                <a:lnTo>
                  <a:pt x="327" y="84"/>
                </a:lnTo>
                <a:lnTo>
                  <a:pt x="311" y="81"/>
                </a:lnTo>
                <a:lnTo>
                  <a:pt x="295" y="78"/>
                </a:lnTo>
                <a:lnTo>
                  <a:pt x="278" y="74"/>
                </a:lnTo>
                <a:lnTo>
                  <a:pt x="262" y="70"/>
                </a:lnTo>
                <a:lnTo>
                  <a:pt x="246" y="66"/>
                </a:lnTo>
                <a:lnTo>
                  <a:pt x="229" y="61"/>
                </a:lnTo>
                <a:lnTo>
                  <a:pt x="213" y="56"/>
                </a:lnTo>
                <a:lnTo>
                  <a:pt x="196" y="51"/>
                </a:lnTo>
                <a:lnTo>
                  <a:pt x="180" y="47"/>
                </a:lnTo>
                <a:lnTo>
                  <a:pt x="164" y="42"/>
                </a:lnTo>
                <a:lnTo>
                  <a:pt x="147" y="37"/>
                </a:lnTo>
                <a:lnTo>
                  <a:pt x="131" y="33"/>
                </a:lnTo>
                <a:lnTo>
                  <a:pt x="114" y="29"/>
                </a:lnTo>
                <a:lnTo>
                  <a:pt x="98" y="25"/>
                </a:lnTo>
                <a:lnTo>
                  <a:pt x="82" y="21"/>
                </a:lnTo>
                <a:lnTo>
                  <a:pt x="65" y="19"/>
                </a:lnTo>
                <a:lnTo>
                  <a:pt x="49" y="16"/>
                </a:lnTo>
                <a:lnTo>
                  <a:pt x="33" y="14"/>
                </a:lnTo>
                <a:lnTo>
                  <a:pt x="16" y="13"/>
                </a:lnTo>
                <a:lnTo>
                  <a:pt x="0" y="13"/>
                </a:lnTo>
                <a:close/>
              </a:path>
            </a:pathLst>
          </a:custGeom>
          <a:solidFill>
            <a:srgbClr val="2A5F8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Freeform 11"/>
          <p:cNvSpPr/>
          <p:nvPr/>
        </p:nvSpPr>
        <p:spPr>
          <a:xfrm>
            <a:off x="2057400" y="2085975"/>
            <a:ext cx="3743325" cy="1162050"/>
          </a:xfrm>
          <a:custGeom>
            <a:avLst/>
            <a:gdLst/>
            <a:ahLst/>
            <a:cxnLst/>
            <a:rect l="l" t="t" r="r" b="b"/>
            <a:pathLst>
              <a:path w="393" h="122">
                <a:moveTo>
                  <a:pt x="0" y="0"/>
                </a:moveTo>
                <a:lnTo>
                  <a:pt x="16" y="0"/>
                </a:lnTo>
                <a:lnTo>
                  <a:pt x="33" y="2"/>
                </a:lnTo>
                <a:lnTo>
                  <a:pt x="49" y="4"/>
                </a:lnTo>
                <a:lnTo>
                  <a:pt x="65" y="8"/>
                </a:lnTo>
                <a:lnTo>
                  <a:pt x="82" y="12"/>
                </a:lnTo>
                <a:lnTo>
                  <a:pt x="98" y="17"/>
                </a:lnTo>
                <a:lnTo>
                  <a:pt x="114" y="22"/>
                </a:lnTo>
                <a:lnTo>
                  <a:pt x="131" y="28"/>
                </a:lnTo>
                <a:lnTo>
                  <a:pt x="147" y="34"/>
                </a:lnTo>
                <a:lnTo>
                  <a:pt x="164" y="41"/>
                </a:lnTo>
                <a:lnTo>
                  <a:pt x="180" y="48"/>
                </a:lnTo>
                <a:lnTo>
                  <a:pt x="196" y="55"/>
                </a:lnTo>
                <a:lnTo>
                  <a:pt x="213" y="61"/>
                </a:lnTo>
                <a:lnTo>
                  <a:pt x="229" y="68"/>
                </a:lnTo>
                <a:lnTo>
                  <a:pt x="246" y="75"/>
                </a:lnTo>
                <a:lnTo>
                  <a:pt x="262" y="81"/>
                </a:lnTo>
                <a:lnTo>
                  <a:pt x="278" y="87"/>
                </a:lnTo>
                <a:lnTo>
                  <a:pt x="295" y="92"/>
                </a:lnTo>
                <a:lnTo>
                  <a:pt x="311" y="97"/>
                </a:lnTo>
                <a:lnTo>
                  <a:pt x="327" y="101"/>
                </a:lnTo>
                <a:lnTo>
                  <a:pt x="344" y="105"/>
                </a:lnTo>
                <a:lnTo>
                  <a:pt x="360" y="107"/>
                </a:lnTo>
                <a:lnTo>
                  <a:pt x="377" y="109"/>
                </a:lnTo>
                <a:lnTo>
                  <a:pt x="393" y="109"/>
                </a:lnTo>
                <a:lnTo>
                  <a:pt x="393" y="122"/>
                </a:lnTo>
                <a:lnTo>
                  <a:pt x="377" y="122"/>
                </a:lnTo>
                <a:lnTo>
                  <a:pt x="360" y="120"/>
                </a:lnTo>
                <a:lnTo>
                  <a:pt x="344" y="118"/>
                </a:lnTo>
                <a:lnTo>
                  <a:pt x="327" y="114"/>
                </a:lnTo>
                <a:lnTo>
                  <a:pt x="311" y="110"/>
                </a:lnTo>
                <a:lnTo>
                  <a:pt x="295" y="105"/>
                </a:lnTo>
                <a:lnTo>
                  <a:pt x="278" y="100"/>
                </a:lnTo>
                <a:lnTo>
                  <a:pt x="262" y="94"/>
                </a:lnTo>
                <a:lnTo>
                  <a:pt x="246" y="88"/>
                </a:lnTo>
                <a:lnTo>
                  <a:pt x="229" y="81"/>
                </a:lnTo>
                <a:lnTo>
                  <a:pt x="213" y="75"/>
                </a:lnTo>
                <a:lnTo>
                  <a:pt x="196" y="68"/>
                </a:lnTo>
                <a:lnTo>
                  <a:pt x="180" y="61"/>
                </a:lnTo>
                <a:lnTo>
                  <a:pt x="164" y="54"/>
                </a:lnTo>
                <a:lnTo>
                  <a:pt x="147" y="48"/>
                </a:lnTo>
                <a:lnTo>
                  <a:pt x="131" y="41"/>
                </a:lnTo>
                <a:lnTo>
                  <a:pt x="114" y="35"/>
                </a:lnTo>
                <a:lnTo>
                  <a:pt x="98" y="30"/>
                </a:lnTo>
                <a:lnTo>
                  <a:pt x="82" y="25"/>
                </a:lnTo>
                <a:lnTo>
                  <a:pt x="65" y="21"/>
                </a:lnTo>
                <a:lnTo>
                  <a:pt x="49" y="18"/>
                </a:lnTo>
                <a:lnTo>
                  <a:pt x="33" y="15"/>
                </a:lnTo>
                <a:lnTo>
                  <a:pt x="16" y="13"/>
                </a:lnTo>
                <a:lnTo>
                  <a:pt x="0" y="13"/>
                </a:lnTo>
                <a:close/>
              </a:path>
            </a:pathLst>
          </a:custGeom>
          <a:solidFill>
            <a:srgbClr val="2A5F8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Freeform 12"/>
          <p:cNvSpPr/>
          <p:nvPr/>
        </p:nvSpPr>
        <p:spPr>
          <a:xfrm>
            <a:off x="2057400" y="2209800"/>
            <a:ext cx="3743325" cy="1476375"/>
          </a:xfrm>
          <a:custGeom>
            <a:avLst/>
            <a:gdLst/>
            <a:ahLst/>
            <a:cxnLst/>
            <a:rect l="l" t="t" r="r" b="b"/>
            <a:pathLst>
              <a:path w="393" h="155">
                <a:moveTo>
                  <a:pt x="0" y="0"/>
                </a:moveTo>
                <a:lnTo>
                  <a:pt x="16" y="1"/>
                </a:lnTo>
                <a:lnTo>
                  <a:pt x="33" y="3"/>
                </a:lnTo>
                <a:lnTo>
                  <a:pt x="49" y="6"/>
                </a:lnTo>
                <a:lnTo>
                  <a:pt x="65" y="10"/>
                </a:lnTo>
                <a:lnTo>
                  <a:pt x="82" y="16"/>
                </a:lnTo>
                <a:lnTo>
                  <a:pt x="98" y="22"/>
                </a:lnTo>
                <a:lnTo>
                  <a:pt x="114" y="29"/>
                </a:lnTo>
                <a:lnTo>
                  <a:pt x="131" y="37"/>
                </a:lnTo>
                <a:lnTo>
                  <a:pt x="147" y="45"/>
                </a:lnTo>
                <a:lnTo>
                  <a:pt x="164" y="53"/>
                </a:lnTo>
                <a:lnTo>
                  <a:pt x="180" y="62"/>
                </a:lnTo>
                <a:lnTo>
                  <a:pt x="196" y="71"/>
                </a:lnTo>
                <a:lnTo>
                  <a:pt x="213" y="80"/>
                </a:lnTo>
                <a:lnTo>
                  <a:pt x="229" y="88"/>
                </a:lnTo>
                <a:lnTo>
                  <a:pt x="246" y="97"/>
                </a:lnTo>
                <a:lnTo>
                  <a:pt x="262" y="105"/>
                </a:lnTo>
                <a:lnTo>
                  <a:pt x="278" y="113"/>
                </a:lnTo>
                <a:lnTo>
                  <a:pt x="295" y="120"/>
                </a:lnTo>
                <a:lnTo>
                  <a:pt x="311" y="126"/>
                </a:lnTo>
                <a:lnTo>
                  <a:pt x="327" y="131"/>
                </a:lnTo>
                <a:lnTo>
                  <a:pt x="344" y="136"/>
                </a:lnTo>
                <a:lnTo>
                  <a:pt x="360" y="139"/>
                </a:lnTo>
                <a:lnTo>
                  <a:pt x="377" y="141"/>
                </a:lnTo>
                <a:lnTo>
                  <a:pt x="393" y="142"/>
                </a:lnTo>
                <a:lnTo>
                  <a:pt x="393" y="155"/>
                </a:lnTo>
                <a:lnTo>
                  <a:pt x="377" y="154"/>
                </a:lnTo>
                <a:lnTo>
                  <a:pt x="360" y="152"/>
                </a:lnTo>
                <a:lnTo>
                  <a:pt x="344" y="149"/>
                </a:lnTo>
                <a:lnTo>
                  <a:pt x="327" y="144"/>
                </a:lnTo>
                <a:lnTo>
                  <a:pt x="311" y="139"/>
                </a:lnTo>
                <a:lnTo>
                  <a:pt x="295" y="133"/>
                </a:lnTo>
                <a:lnTo>
                  <a:pt x="278" y="126"/>
                </a:lnTo>
                <a:lnTo>
                  <a:pt x="262" y="118"/>
                </a:lnTo>
                <a:lnTo>
                  <a:pt x="246" y="110"/>
                </a:lnTo>
                <a:lnTo>
                  <a:pt x="229" y="102"/>
                </a:lnTo>
                <a:lnTo>
                  <a:pt x="213" y="93"/>
                </a:lnTo>
                <a:lnTo>
                  <a:pt x="196" y="84"/>
                </a:lnTo>
                <a:lnTo>
                  <a:pt x="180" y="75"/>
                </a:lnTo>
                <a:lnTo>
                  <a:pt x="164" y="66"/>
                </a:lnTo>
                <a:lnTo>
                  <a:pt x="147" y="58"/>
                </a:lnTo>
                <a:lnTo>
                  <a:pt x="131" y="50"/>
                </a:lnTo>
                <a:lnTo>
                  <a:pt x="114" y="42"/>
                </a:lnTo>
                <a:lnTo>
                  <a:pt x="98" y="35"/>
                </a:lnTo>
                <a:lnTo>
                  <a:pt x="82" y="29"/>
                </a:lnTo>
                <a:lnTo>
                  <a:pt x="65" y="24"/>
                </a:lnTo>
                <a:lnTo>
                  <a:pt x="49" y="19"/>
                </a:lnTo>
                <a:lnTo>
                  <a:pt x="33" y="16"/>
                </a:lnTo>
                <a:lnTo>
                  <a:pt x="16" y="14"/>
                </a:lnTo>
                <a:lnTo>
                  <a:pt x="0" y="13"/>
                </a:lnTo>
                <a:close/>
              </a:path>
            </a:pathLst>
          </a:custGeom>
          <a:solidFill>
            <a:srgbClr val="2A5F8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Freeform 13"/>
          <p:cNvSpPr/>
          <p:nvPr/>
        </p:nvSpPr>
        <p:spPr>
          <a:xfrm>
            <a:off x="2057400" y="2333625"/>
            <a:ext cx="3743325" cy="1781175"/>
          </a:xfrm>
          <a:custGeom>
            <a:avLst/>
            <a:gdLst/>
            <a:ahLst/>
            <a:cxnLst/>
            <a:rect l="l" t="t" r="r" b="b"/>
            <a:pathLst>
              <a:path w="393" h="187">
                <a:moveTo>
                  <a:pt x="0" y="0"/>
                </a:moveTo>
                <a:lnTo>
                  <a:pt x="16" y="1"/>
                </a:lnTo>
                <a:lnTo>
                  <a:pt x="33" y="4"/>
                </a:lnTo>
                <a:lnTo>
                  <a:pt x="49" y="8"/>
                </a:lnTo>
                <a:lnTo>
                  <a:pt x="65" y="13"/>
                </a:lnTo>
                <a:lnTo>
                  <a:pt x="82" y="20"/>
                </a:lnTo>
                <a:lnTo>
                  <a:pt x="98" y="27"/>
                </a:lnTo>
                <a:lnTo>
                  <a:pt x="114" y="36"/>
                </a:lnTo>
                <a:lnTo>
                  <a:pt x="131" y="45"/>
                </a:lnTo>
                <a:lnTo>
                  <a:pt x="147" y="55"/>
                </a:lnTo>
                <a:lnTo>
                  <a:pt x="164" y="66"/>
                </a:lnTo>
                <a:lnTo>
                  <a:pt x="180" y="76"/>
                </a:lnTo>
                <a:lnTo>
                  <a:pt x="196" y="87"/>
                </a:lnTo>
                <a:lnTo>
                  <a:pt x="213" y="98"/>
                </a:lnTo>
                <a:lnTo>
                  <a:pt x="229" y="109"/>
                </a:lnTo>
                <a:lnTo>
                  <a:pt x="246" y="119"/>
                </a:lnTo>
                <a:lnTo>
                  <a:pt x="262" y="129"/>
                </a:lnTo>
                <a:lnTo>
                  <a:pt x="278" y="138"/>
                </a:lnTo>
                <a:lnTo>
                  <a:pt x="295" y="147"/>
                </a:lnTo>
                <a:lnTo>
                  <a:pt x="311" y="155"/>
                </a:lnTo>
                <a:lnTo>
                  <a:pt x="327" y="161"/>
                </a:lnTo>
                <a:lnTo>
                  <a:pt x="344" y="167"/>
                </a:lnTo>
                <a:lnTo>
                  <a:pt x="360" y="171"/>
                </a:lnTo>
                <a:lnTo>
                  <a:pt x="377" y="173"/>
                </a:lnTo>
                <a:lnTo>
                  <a:pt x="393" y="174"/>
                </a:lnTo>
                <a:lnTo>
                  <a:pt x="393" y="187"/>
                </a:lnTo>
                <a:lnTo>
                  <a:pt x="377" y="187"/>
                </a:lnTo>
                <a:lnTo>
                  <a:pt x="360" y="184"/>
                </a:lnTo>
                <a:lnTo>
                  <a:pt x="344" y="180"/>
                </a:lnTo>
                <a:lnTo>
                  <a:pt x="327" y="175"/>
                </a:lnTo>
                <a:lnTo>
                  <a:pt x="311" y="168"/>
                </a:lnTo>
                <a:lnTo>
                  <a:pt x="295" y="160"/>
                </a:lnTo>
                <a:lnTo>
                  <a:pt x="278" y="152"/>
                </a:lnTo>
                <a:lnTo>
                  <a:pt x="262" y="142"/>
                </a:lnTo>
                <a:lnTo>
                  <a:pt x="246" y="132"/>
                </a:lnTo>
                <a:lnTo>
                  <a:pt x="229" y="122"/>
                </a:lnTo>
                <a:lnTo>
                  <a:pt x="213" y="111"/>
                </a:lnTo>
                <a:lnTo>
                  <a:pt x="196" y="100"/>
                </a:lnTo>
                <a:lnTo>
                  <a:pt x="180" y="89"/>
                </a:lnTo>
                <a:lnTo>
                  <a:pt x="164" y="79"/>
                </a:lnTo>
                <a:lnTo>
                  <a:pt x="147" y="68"/>
                </a:lnTo>
                <a:lnTo>
                  <a:pt x="131" y="58"/>
                </a:lnTo>
                <a:lnTo>
                  <a:pt x="114" y="49"/>
                </a:lnTo>
                <a:lnTo>
                  <a:pt x="98" y="40"/>
                </a:lnTo>
                <a:lnTo>
                  <a:pt x="82" y="33"/>
                </a:lnTo>
                <a:lnTo>
                  <a:pt x="65" y="26"/>
                </a:lnTo>
                <a:lnTo>
                  <a:pt x="49" y="21"/>
                </a:lnTo>
                <a:lnTo>
                  <a:pt x="33" y="17"/>
                </a:lnTo>
                <a:lnTo>
                  <a:pt x="16" y="14"/>
                </a:lnTo>
                <a:lnTo>
                  <a:pt x="0" y="13"/>
                </a:lnTo>
                <a:close/>
              </a:path>
            </a:pathLst>
          </a:custGeom>
          <a:solidFill>
            <a:srgbClr val="2A5F8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Freeform 14"/>
          <p:cNvSpPr/>
          <p:nvPr/>
        </p:nvSpPr>
        <p:spPr>
          <a:xfrm>
            <a:off x="2057400" y="2457450"/>
            <a:ext cx="3743325" cy="2095500"/>
          </a:xfrm>
          <a:custGeom>
            <a:avLst/>
            <a:gdLst/>
            <a:ahLst/>
            <a:cxnLst/>
            <a:rect l="l" t="t" r="r" b="b"/>
            <a:pathLst>
              <a:path w="393" h="220">
                <a:moveTo>
                  <a:pt x="0" y="0"/>
                </a:moveTo>
                <a:lnTo>
                  <a:pt x="16" y="1"/>
                </a:lnTo>
                <a:lnTo>
                  <a:pt x="33" y="4"/>
                </a:lnTo>
                <a:lnTo>
                  <a:pt x="49" y="9"/>
                </a:lnTo>
                <a:lnTo>
                  <a:pt x="65" y="16"/>
                </a:lnTo>
                <a:lnTo>
                  <a:pt x="82" y="23"/>
                </a:lnTo>
                <a:lnTo>
                  <a:pt x="98" y="32"/>
                </a:lnTo>
                <a:lnTo>
                  <a:pt x="114" y="43"/>
                </a:lnTo>
                <a:lnTo>
                  <a:pt x="131" y="54"/>
                </a:lnTo>
                <a:lnTo>
                  <a:pt x="147" y="66"/>
                </a:lnTo>
                <a:lnTo>
                  <a:pt x="164" y="78"/>
                </a:lnTo>
                <a:lnTo>
                  <a:pt x="180" y="91"/>
                </a:lnTo>
                <a:lnTo>
                  <a:pt x="196" y="103"/>
                </a:lnTo>
                <a:lnTo>
                  <a:pt x="213" y="116"/>
                </a:lnTo>
                <a:lnTo>
                  <a:pt x="229" y="129"/>
                </a:lnTo>
                <a:lnTo>
                  <a:pt x="246" y="141"/>
                </a:lnTo>
                <a:lnTo>
                  <a:pt x="262" y="153"/>
                </a:lnTo>
                <a:lnTo>
                  <a:pt x="278" y="164"/>
                </a:lnTo>
                <a:lnTo>
                  <a:pt x="295" y="174"/>
                </a:lnTo>
                <a:lnTo>
                  <a:pt x="311" y="184"/>
                </a:lnTo>
                <a:lnTo>
                  <a:pt x="327" y="191"/>
                </a:lnTo>
                <a:lnTo>
                  <a:pt x="344" y="198"/>
                </a:lnTo>
                <a:lnTo>
                  <a:pt x="360" y="203"/>
                </a:lnTo>
                <a:lnTo>
                  <a:pt x="377" y="206"/>
                </a:lnTo>
                <a:lnTo>
                  <a:pt x="393" y="207"/>
                </a:lnTo>
                <a:lnTo>
                  <a:pt x="393" y="220"/>
                </a:lnTo>
                <a:lnTo>
                  <a:pt x="377" y="219"/>
                </a:lnTo>
                <a:lnTo>
                  <a:pt x="360" y="216"/>
                </a:lnTo>
                <a:lnTo>
                  <a:pt x="344" y="211"/>
                </a:lnTo>
                <a:lnTo>
                  <a:pt x="327" y="205"/>
                </a:lnTo>
                <a:lnTo>
                  <a:pt x="311" y="197"/>
                </a:lnTo>
                <a:lnTo>
                  <a:pt x="295" y="188"/>
                </a:lnTo>
                <a:lnTo>
                  <a:pt x="278" y="177"/>
                </a:lnTo>
                <a:lnTo>
                  <a:pt x="262" y="166"/>
                </a:lnTo>
                <a:lnTo>
                  <a:pt x="246" y="155"/>
                </a:lnTo>
                <a:lnTo>
                  <a:pt x="229" y="142"/>
                </a:lnTo>
                <a:lnTo>
                  <a:pt x="213" y="130"/>
                </a:lnTo>
                <a:lnTo>
                  <a:pt x="196" y="117"/>
                </a:lnTo>
                <a:lnTo>
                  <a:pt x="180" y="104"/>
                </a:lnTo>
                <a:lnTo>
                  <a:pt x="164" y="91"/>
                </a:lnTo>
                <a:lnTo>
                  <a:pt x="147" y="79"/>
                </a:lnTo>
                <a:lnTo>
                  <a:pt x="131" y="67"/>
                </a:lnTo>
                <a:lnTo>
                  <a:pt x="114" y="56"/>
                </a:lnTo>
                <a:lnTo>
                  <a:pt x="98" y="46"/>
                </a:lnTo>
                <a:lnTo>
                  <a:pt x="82" y="37"/>
                </a:lnTo>
                <a:lnTo>
                  <a:pt x="65" y="29"/>
                </a:lnTo>
                <a:lnTo>
                  <a:pt x="49" y="22"/>
                </a:lnTo>
                <a:lnTo>
                  <a:pt x="33" y="17"/>
                </a:lnTo>
                <a:lnTo>
                  <a:pt x="16" y="14"/>
                </a:lnTo>
                <a:lnTo>
                  <a:pt x="0" y="13"/>
                </a:lnTo>
                <a:close/>
              </a:path>
            </a:pathLst>
          </a:custGeom>
          <a:solidFill>
            <a:srgbClr val="2A5F8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Freeform 15"/>
          <p:cNvSpPr/>
          <p:nvPr/>
        </p:nvSpPr>
        <p:spPr>
          <a:xfrm>
            <a:off x="2057400" y="2581275"/>
            <a:ext cx="3743325" cy="2400300"/>
          </a:xfrm>
          <a:custGeom>
            <a:avLst/>
            <a:gdLst/>
            <a:ahLst/>
            <a:cxnLst/>
            <a:rect l="l" t="t" r="r" b="b"/>
            <a:pathLst>
              <a:path w="393" h="252">
                <a:moveTo>
                  <a:pt x="0" y="0"/>
                </a:moveTo>
                <a:lnTo>
                  <a:pt x="16" y="2"/>
                </a:lnTo>
                <a:lnTo>
                  <a:pt x="33" y="5"/>
                </a:lnTo>
                <a:lnTo>
                  <a:pt x="49" y="11"/>
                </a:lnTo>
                <a:lnTo>
                  <a:pt x="65" y="18"/>
                </a:lnTo>
                <a:lnTo>
                  <a:pt x="82" y="27"/>
                </a:lnTo>
                <a:lnTo>
                  <a:pt x="98" y="38"/>
                </a:lnTo>
                <a:lnTo>
                  <a:pt x="114" y="49"/>
                </a:lnTo>
                <a:lnTo>
                  <a:pt x="131" y="62"/>
                </a:lnTo>
                <a:lnTo>
                  <a:pt x="147" y="76"/>
                </a:lnTo>
                <a:lnTo>
                  <a:pt x="164" y="90"/>
                </a:lnTo>
                <a:lnTo>
                  <a:pt x="180" y="105"/>
                </a:lnTo>
                <a:lnTo>
                  <a:pt x="196" y="120"/>
                </a:lnTo>
                <a:lnTo>
                  <a:pt x="213" y="135"/>
                </a:lnTo>
                <a:lnTo>
                  <a:pt x="229" y="149"/>
                </a:lnTo>
                <a:lnTo>
                  <a:pt x="246" y="164"/>
                </a:lnTo>
                <a:lnTo>
                  <a:pt x="262" y="177"/>
                </a:lnTo>
                <a:lnTo>
                  <a:pt x="278" y="190"/>
                </a:lnTo>
                <a:lnTo>
                  <a:pt x="295" y="202"/>
                </a:lnTo>
                <a:lnTo>
                  <a:pt x="311" y="212"/>
                </a:lnTo>
                <a:lnTo>
                  <a:pt x="327" y="221"/>
                </a:lnTo>
                <a:lnTo>
                  <a:pt x="344" y="229"/>
                </a:lnTo>
                <a:lnTo>
                  <a:pt x="360" y="234"/>
                </a:lnTo>
                <a:lnTo>
                  <a:pt x="377" y="238"/>
                </a:lnTo>
                <a:lnTo>
                  <a:pt x="393" y="239"/>
                </a:lnTo>
                <a:lnTo>
                  <a:pt x="393" y="252"/>
                </a:lnTo>
                <a:lnTo>
                  <a:pt x="377" y="251"/>
                </a:lnTo>
                <a:lnTo>
                  <a:pt x="360" y="248"/>
                </a:lnTo>
                <a:lnTo>
                  <a:pt x="344" y="242"/>
                </a:lnTo>
                <a:lnTo>
                  <a:pt x="327" y="235"/>
                </a:lnTo>
                <a:lnTo>
                  <a:pt x="311" y="226"/>
                </a:lnTo>
                <a:lnTo>
                  <a:pt x="295" y="215"/>
                </a:lnTo>
                <a:lnTo>
                  <a:pt x="278" y="203"/>
                </a:lnTo>
                <a:lnTo>
                  <a:pt x="262" y="190"/>
                </a:lnTo>
                <a:lnTo>
                  <a:pt x="246" y="177"/>
                </a:lnTo>
                <a:lnTo>
                  <a:pt x="229" y="163"/>
                </a:lnTo>
                <a:lnTo>
                  <a:pt x="213" y="148"/>
                </a:lnTo>
                <a:lnTo>
                  <a:pt x="196" y="133"/>
                </a:lnTo>
                <a:lnTo>
                  <a:pt x="180" y="118"/>
                </a:lnTo>
                <a:lnTo>
                  <a:pt x="164" y="103"/>
                </a:lnTo>
                <a:lnTo>
                  <a:pt x="147" y="89"/>
                </a:lnTo>
                <a:lnTo>
                  <a:pt x="131" y="75"/>
                </a:lnTo>
                <a:lnTo>
                  <a:pt x="114" y="63"/>
                </a:lnTo>
                <a:lnTo>
                  <a:pt x="98" y="51"/>
                </a:lnTo>
                <a:lnTo>
                  <a:pt x="82" y="40"/>
                </a:lnTo>
                <a:lnTo>
                  <a:pt x="65" y="31"/>
                </a:lnTo>
                <a:lnTo>
                  <a:pt x="49" y="24"/>
                </a:lnTo>
                <a:lnTo>
                  <a:pt x="33" y="18"/>
                </a:lnTo>
                <a:lnTo>
                  <a:pt x="16" y="15"/>
                </a:lnTo>
                <a:lnTo>
                  <a:pt x="0" y="14"/>
                </a:lnTo>
                <a:close/>
              </a:path>
            </a:pathLst>
          </a:custGeom>
          <a:solidFill>
            <a:srgbClr val="2A5F8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Freeform 16"/>
          <p:cNvSpPr/>
          <p:nvPr/>
        </p:nvSpPr>
        <p:spPr>
          <a:xfrm>
            <a:off x="2057400" y="2714625"/>
            <a:ext cx="3743325" cy="2705100"/>
          </a:xfrm>
          <a:custGeom>
            <a:avLst/>
            <a:gdLst/>
            <a:ahLst/>
            <a:cxnLst/>
            <a:rect l="l" t="t" r="r" b="b"/>
            <a:pathLst>
              <a:path w="393" h="284">
                <a:moveTo>
                  <a:pt x="0" y="0"/>
                </a:moveTo>
                <a:lnTo>
                  <a:pt x="16" y="1"/>
                </a:lnTo>
                <a:lnTo>
                  <a:pt x="33" y="5"/>
                </a:lnTo>
                <a:lnTo>
                  <a:pt x="49" y="11"/>
                </a:lnTo>
                <a:lnTo>
                  <a:pt x="65" y="20"/>
                </a:lnTo>
                <a:lnTo>
                  <a:pt x="82" y="30"/>
                </a:lnTo>
                <a:lnTo>
                  <a:pt x="98" y="42"/>
                </a:lnTo>
                <a:lnTo>
                  <a:pt x="114" y="55"/>
                </a:lnTo>
                <a:lnTo>
                  <a:pt x="131" y="70"/>
                </a:lnTo>
                <a:lnTo>
                  <a:pt x="147" y="85"/>
                </a:lnTo>
                <a:lnTo>
                  <a:pt x="164" y="102"/>
                </a:lnTo>
                <a:lnTo>
                  <a:pt x="180" y="118"/>
                </a:lnTo>
                <a:lnTo>
                  <a:pt x="196" y="135"/>
                </a:lnTo>
                <a:lnTo>
                  <a:pt x="213" y="152"/>
                </a:lnTo>
                <a:lnTo>
                  <a:pt x="229" y="169"/>
                </a:lnTo>
                <a:lnTo>
                  <a:pt x="246" y="185"/>
                </a:lnTo>
                <a:lnTo>
                  <a:pt x="262" y="200"/>
                </a:lnTo>
                <a:lnTo>
                  <a:pt x="278" y="215"/>
                </a:lnTo>
                <a:lnTo>
                  <a:pt x="295" y="228"/>
                </a:lnTo>
                <a:lnTo>
                  <a:pt x="311" y="240"/>
                </a:lnTo>
                <a:lnTo>
                  <a:pt x="327" y="251"/>
                </a:lnTo>
                <a:lnTo>
                  <a:pt x="344" y="259"/>
                </a:lnTo>
                <a:lnTo>
                  <a:pt x="360" y="265"/>
                </a:lnTo>
                <a:lnTo>
                  <a:pt x="377" y="269"/>
                </a:lnTo>
                <a:lnTo>
                  <a:pt x="393" y="271"/>
                </a:lnTo>
                <a:lnTo>
                  <a:pt x="393" y="284"/>
                </a:lnTo>
                <a:lnTo>
                  <a:pt x="377" y="282"/>
                </a:lnTo>
                <a:lnTo>
                  <a:pt x="360" y="278"/>
                </a:lnTo>
                <a:lnTo>
                  <a:pt x="344" y="272"/>
                </a:lnTo>
                <a:lnTo>
                  <a:pt x="327" y="264"/>
                </a:lnTo>
                <a:lnTo>
                  <a:pt x="311" y="253"/>
                </a:lnTo>
                <a:lnTo>
                  <a:pt x="295" y="241"/>
                </a:lnTo>
                <a:lnTo>
                  <a:pt x="278" y="228"/>
                </a:lnTo>
                <a:lnTo>
                  <a:pt x="262" y="213"/>
                </a:lnTo>
                <a:lnTo>
                  <a:pt x="246" y="198"/>
                </a:lnTo>
                <a:lnTo>
                  <a:pt x="229" y="182"/>
                </a:lnTo>
                <a:lnTo>
                  <a:pt x="213" y="165"/>
                </a:lnTo>
                <a:lnTo>
                  <a:pt x="196" y="148"/>
                </a:lnTo>
                <a:lnTo>
                  <a:pt x="180" y="131"/>
                </a:lnTo>
                <a:lnTo>
                  <a:pt x="164" y="115"/>
                </a:lnTo>
                <a:lnTo>
                  <a:pt x="147" y="98"/>
                </a:lnTo>
                <a:lnTo>
                  <a:pt x="131" y="83"/>
                </a:lnTo>
                <a:lnTo>
                  <a:pt x="114" y="68"/>
                </a:lnTo>
                <a:lnTo>
                  <a:pt x="98" y="55"/>
                </a:lnTo>
                <a:lnTo>
                  <a:pt x="82" y="43"/>
                </a:lnTo>
                <a:lnTo>
                  <a:pt x="65" y="33"/>
                </a:lnTo>
                <a:lnTo>
                  <a:pt x="49" y="24"/>
                </a:lnTo>
                <a:lnTo>
                  <a:pt x="33" y="18"/>
                </a:lnTo>
                <a:lnTo>
                  <a:pt x="16" y="14"/>
                </a:lnTo>
                <a:lnTo>
                  <a:pt x="0" y="13"/>
                </a:lnTo>
                <a:close/>
              </a:path>
            </a:pathLst>
          </a:custGeom>
          <a:solidFill>
            <a:srgbClr val="2A5F8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Freeform 17"/>
          <p:cNvSpPr/>
          <p:nvPr/>
        </p:nvSpPr>
        <p:spPr>
          <a:xfrm>
            <a:off x="2057400" y="2838450"/>
            <a:ext cx="3743325" cy="3009900"/>
          </a:xfrm>
          <a:custGeom>
            <a:avLst/>
            <a:gdLst/>
            <a:ahLst/>
            <a:cxnLst/>
            <a:rect l="l" t="t" r="r" b="b"/>
            <a:pathLst>
              <a:path w="393" h="316">
                <a:moveTo>
                  <a:pt x="0" y="0"/>
                </a:moveTo>
                <a:lnTo>
                  <a:pt x="16" y="1"/>
                </a:lnTo>
                <a:lnTo>
                  <a:pt x="33" y="6"/>
                </a:lnTo>
                <a:lnTo>
                  <a:pt x="49" y="13"/>
                </a:lnTo>
                <a:lnTo>
                  <a:pt x="65" y="22"/>
                </a:lnTo>
                <a:lnTo>
                  <a:pt x="82" y="34"/>
                </a:lnTo>
                <a:lnTo>
                  <a:pt x="98" y="47"/>
                </a:lnTo>
                <a:lnTo>
                  <a:pt x="114" y="62"/>
                </a:lnTo>
                <a:lnTo>
                  <a:pt x="131" y="78"/>
                </a:lnTo>
                <a:lnTo>
                  <a:pt x="147" y="96"/>
                </a:lnTo>
                <a:lnTo>
                  <a:pt x="164" y="114"/>
                </a:lnTo>
                <a:lnTo>
                  <a:pt x="180" y="132"/>
                </a:lnTo>
                <a:lnTo>
                  <a:pt x="196" y="151"/>
                </a:lnTo>
                <a:lnTo>
                  <a:pt x="213" y="170"/>
                </a:lnTo>
                <a:lnTo>
                  <a:pt x="229" y="189"/>
                </a:lnTo>
                <a:lnTo>
                  <a:pt x="246" y="207"/>
                </a:lnTo>
                <a:lnTo>
                  <a:pt x="262" y="224"/>
                </a:lnTo>
                <a:lnTo>
                  <a:pt x="278" y="241"/>
                </a:lnTo>
                <a:lnTo>
                  <a:pt x="295" y="256"/>
                </a:lnTo>
                <a:lnTo>
                  <a:pt x="311" y="269"/>
                </a:lnTo>
                <a:lnTo>
                  <a:pt x="327" y="281"/>
                </a:lnTo>
                <a:lnTo>
                  <a:pt x="344" y="290"/>
                </a:lnTo>
                <a:lnTo>
                  <a:pt x="360" y="297"/>
                </a:lnTo>
                <a:lnTo>
                  <a:pt x="377" y="302"/>
                </a:lnTo>
                <a:lnTo>
                  <a:pt x="393" y="303"/>
                </a:lnTo>
                <a:lnTo>
                  <a:pt x="393" y="316"/>
                </a:lnTo>
                <a:lnTo>
                  <a:pt x="377" y="315"/>
                </a:lnTo>
                <a:lnTo>
                  <a:pt x="360" y="310"/>
                </a:lnTo>
                <a:lnTo>
                  <a:pt x="344" y="303"/>
                </a:lnTo>
                <a:lnTo>
                  <a:pt x="327" y="294"/>
                </a:lnTo>
                <a:lnTo>
                  <a:pt x="311" y="282"/>
                </a:lnTo>
                <a:lnTo>
                  <a:pt x="295" y="269"/>
                </a:lnTo>
                <a:lnTo>
                  <a:pt x="278" y="254"/>
                </a:lnTo>
                <a:lnTo>
                  <a:pt x="262" y="238"/>
                </a:lnTo>
                <a:lnTo>
                  <a:pt x="246" y="220"/>
                </a:lnTo>
                <a:lnTo>
                  <a:pt x="229" y="202"/>
                </a:lnTo>
                <a:lnTo>
                  <a:pt x="213" y="183"/>
                </a:lnTo>
                <a:lnTo>
                  <a:pt x="196" y="165"/>
                </a:lnTo>
                <a:lnTo>
                  <a:pt x="180" y="146"/>
                </a:lnTo>
                <a:lnTo>
                  <a:pt x="164" y="127"/>
                </a:lnTo>
                <a:lnTo>
                  <a:pt x="147" y="109"/>
                </a:lnTo>
                <a:lnTo>
                  <a:pt x="131" y="92"/>
                </a:lnTo>
                <a:lnTo>
                  <a:pt x="114" y="75"/>
                </a:lnTo>
                <a:lnTo>
                  <a:pt x="98" y="60"/>
                </a:lnTo>
                <a:lnTo>
                  <a:pt x="82" y="47"/>
                </a:lnTo>
                <a:lnTo>
                  <a:pt x="65" y="35"/>
                </a:lnTo>
                <a:lnTo>
                  <a:pt x="49" y="26"/>
                </a:lnTo>
                <a:lnTo>
                  <a:pt x="33" y="19"/>
                </a:lnTo>
                <a:lnTo>
                  <a:pt x="16" y="14"/>
                </a:lnTo>
                <a:lnTo>
                  <a:pt x="0" y="13"/>
                </a:lnTo>
                <a:close/>
              </a:path>
            </a:pathLst>
          </a:custGeom>
          <a:solidFill>
            <a:srgbClr val="2A5F8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Freeform 18"/>
          <p:cNvSpPr/>
          <p:nvPr/>
        </p:nvSpPr>
        <p:spPr>
          <a:xfrm>
            <a:off x="2057400" y="2962275"/>
            <a:ext cx="3743325" cy="3324225"/>
          </a:xfrm>
          <a:custGeom>
            <a:avLst/>
            <a:gdLst/>
            <a:ahLst/>
            <a:cxnLst/>
            <a:rect l="l" t="t" r="r" b="b"/>
            <a:pathLst>
              <a:path w="393" h="349">
                <a:moveTo>
                  <a:pt x="0" y="0"/>
                </a:moveTo>
                <a:lnTo>
                  <a:pt x="16" y="2"/>
                </a:lnTo>
                <a:lnTo>
                  <a:pt x="33" y="6"/>
                </a:lnTo>
                <a:lnTo>
                  <a:pt x="49" y="14"/>
                </a:lnTo>
                <a:lnTo>
                  <a:pt x="65" y="25"/>
                </a:lnTo>
                <a:lnTo>
                  <a:pt x="82" y="37"/>
                </a:lnTo>
                <a:lnTo>
                  <a:pt x="98" y="52"/>
                </a:lnTo>
                <a:lnTo>
                  <a:pt x="114" y="69"/>
                </a:lnTo>
                <a:lnTo>
                  <a:pt x="131" y="87"/>
                </a:lnTo>
                <a:lnTo>
                  <a:pt x="147" y="106"/>
                </a:lnTo>
                <a:lnTo>
                  <a:pt x="164" y="126"/>
                </a:lnTo>
                <a:lnTo>
                  <a:pt x="180" y="147"/>
                </a:lnTo>
                <a:lnTo>
                  <a:pt x="196" y="168"/>
                </a:lnTo>
                <a:lnTo>
                  <a:pt x="213" y="189"/>
                </a:lnTo>
                <a:lnTo>
                  <a:pt x="229" y="209"/>
                </a:lnTo>
                <a:lnTo>
                  <a:pt x="246" y="229"/>
                </a:lnTo>
                <a:lnTo>
                  <a:pt x="262" y="249"/>
                </a:lnTo>
                <a:lnTo>
                  <a:pt x="278" y="267"/>
                </a:lnTo>
                <a:lnTo>
                  <a:pt x="295" y="283"/>
                </a:lnTo>
                <a:lnTo>
                  <a:pt x="311" y="298"/>
                </a:lnTo>
                <a:lnTo>
                  <a:pt x="327" y="311"/>
                </a:lnTo>
                <a:lnTo>
                  <a:pt x="344" y="321"/>
                </a:lnTo>
                <a:lnTo>
                  <a:pt x="360" y="329"/>
                </a:lnTo>
                <a:lnTo>
                  <a:pt x="377" y="334"/>
                </a:lnTo>
                <a:lnTo>
                  <a:pt x="393" y="336"/>
                </a:lnTo>
                <a:lnTo>
                  <a:pt x="393" y="349"/>
                </a:lnTo>
                <a:lnTo>
                  <a:pt x="377" y="347"/>
                </a:lnTo>
                <a:lnTo>
                  <a:pt x="360" y="342"/>
                </a:lnTo>
                <a:lnTo>
                  <a:pt x="344" y="334"/>
                </a:lnTo>
                <a:lnTo>
                  <a:pt x="327" y="324"/>
                </a:lnTo>
                <a:lnTo>
                  <a:pt x="311" y="311"/>
                </a:lnTo>
                <a:lnTo>
                  <a:pt x="295" y="296"/>
                </a:lnTo>
                <a:lnTo>
                  <a:pt x="278" y="280"/>
                </a:lnTo>
                <a:lnTo>
                  <a:pt x="262" y="262"/>
                </a:lnTo>
                <a:lnTo>
                  <a:pt x="246" y="242"/>
                </a:lnTo>
                <a:lnTo>
                  <a:pt x="229" y="222"/>
                </a:lnTo>
                <a:lnTo>
                  <a:pt x="213" y="202"/>
                </a:lnTo>
                <a:lnTo>
                  <a:pt x="196" y="181"/>
                </a:lnTo>
                <a:lnTo>
                  <a:pt x="180" y="160"/>
                </a:lnTo>
                <a:lnTo>
                  <a:pt x="164" y="139"/>
                </a:lnTo>
                <a:lnTo>
                  <a:pt x="147" y="119"/>
                </a:lnTo>
                <a:lnTo>
                  <a:pt x="131" y="100"/>
                </a:lnTo>
                <a:lnTo>
                  <a:pt x="114" y="82"/>
                </a:lnTo>
                <a:lnTo>
                  <a:pt x="98" y="65"/>
                </a:lnTo>
                <a:lnTo>
                  <a:pt x="82" y="51"/>
                </a:lnTo>
                <a:lnTo>
                  <a:pt x="65" y="38"/>
                </a:lnTo>
                <a:lnTo>
                  <a:pt x="49" y="27"/>
                </a:lnTo>
                <a:lnTo>
                  <a:pt x="33" y="20"/>
                </a:lnTo>
                <a:lnTo>
                  <a:pt x="16" y="15"/>
                </a:lnTo>
                <a:lnTo>
                  <a:pt x="0" y="13"/>
                </a:lnTo>
                <a:close/>
              </a:path>
            </a:pathLst>
          </a:custGeom>
          <a:solidFill>
            <a:srgbClr val="2A5F8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Freeform 19"/>
          <p:cNvSpPr/>
          <p:nvPr/>
        </p:nvSpPr>
        <p:spPr>
          <a:xfrm>
            <a:off x="2057400" y="1571625"/>
            <a:ext cx="3743325" cy="1838325"/>
          </a:xfrm>
          <a:custGeom>
            <a:avLst/>
            <a:gdLst/>
            <a:ahLst/>
            <a:cxnLst/>
            <a:rect l="l" t="t" r="r" b="b"/>
            <a:pathLst>
              <a:path w="393" h="193">
                <a:moveTo>
                  <a:pt x="0" y="165"/>
                </a:moveTo>
                <a:lnTo>
                  <a:pt x="16" y="164"/>
                </a:lnTo>
                <a:lnTo>
                  <a:pt x="33" y="162"/>
                </a:lnTo>
                <a:lnTo>
                  <a:pt x="49" y="158"/>
                </a:lnTo>
                <a:lnTo>
                  <a:pt x="65" y="153"/>
                </a:lnTo>
                <a:lnTo>
                  <a:pt x="82" y="147"/>
                </a:lnTo>
                <a:lnTo>
                  <a:pt x="98" y="139"/>
                </a:lnTo>
                <a:lnTo>
                  <a:pt x="114" y="131"/>
                </a:lnTo>
                <a:lnTo>
                  <a:pt x="131" y="122"/>
                </a:lnTo>
                <a:lnTo>
                  <a:pt x="147" y="113"/>
                </a:lnTo>
                <a:lnTo>
                  <a:pt x="164" y="103"/>
                </a:lnTo>
                <a:lnTo>
                  <a:pt x="180" y="93"/>
                </a:lnTo>
                <a:lnTo>
                  <a:pt x="196" y="83"/>
                </a:lnTo>
                <a:lnTo>
                  <a:pt x="213" y="72"/>
                </a:lnTo>
                <a:lnTo>
                  <a:pt x="229" y="62"/>
                </a:lnTo>
                <a:lnTo>
                  <a:pt x="246" y="52"/>
                </a:lnTo>
                <a:lnTo>
                  <a:pt x="262" y="43"/>
                </a:lnTo>
                <a:lnTo>
                  <a:pt x="278" y="34"/>
                </a:lnTo>
                <a:lnTo>
                  <a:pt x="295" y="26"/>
                </a:lnTo>
                <a:lnTo>
                  <a:pt x="311" y="19"/>
                </a:lnTo>
                <a:lnTo>
                  <a:pt x="327" y="12"/>
                </a:lnTo>
                <a:lnTo>
                  <a:pt x="344" y="7"/>
                </a:lnTo>
                <a:lnTo>
                  <a:pt x="360" y="3"/>
                </a:lnTo>
                <a:lnTo>
                  <a:pt x="377" y="1"/>
                </a:lnTo>
                <a:lnTo>
                  <a:pt x="393" y="0"/>
                </a:lnTo>
                <a:lnTo>
                  <a:pt x="393" y="28"/>
                </a:lnTo>
                <a:lnTo>
                  <a:pt x="377" y="29"/>
                </a:lnTo>
                <a:lnTo>
                  <a:pt x="360" y="32"/>
                </a:lnTo>
                <a:lnTo>
                  <a:pt x="344" y="36"/>
                </a:lnTo>
                <a:lnTo>
                  <a:pt x="327" y="41"/>
                </a:lnTo>
                <a:lnTo>
                  <a:pt x="311" y="47"/>
                </a:lnTo>
                <a:lnTo>
                  <a:pt x="295" y="54"/>
                </a:lnTo>
                <a:lnTo>
                  <a:pt x="278" y="62"/>
                </a:lnTo>
                <a:lnTo>
                  <a:pt x="262" y="71"/>
                </a:lnTo>
                <a:lnTo>
                  <a:pt x="246" y="81"/>
                </a:lnTo>
                <a:lnTo>
                  <a:pt x="229" y="90"/>
                </a:lnTo>
                <a:lnTo>
                  <a:pt x="213" y="101"/>
                </a:lnTo>
                <a:lnTo>
                  <a:pt x="196" y="111"/>
                </a:lnTo>
                <a:lnTo>
                  <a:pt x="180" y="121"/>
                </a:lnTo>
                <a:lnTo>
                  <a:pt x="164" y="131"/>
                </a:lnTo>
                <a:lnTo>
                  <a:pt x="147" y="141"/>
                </a:lnTo>
                <a:lnTo>
                  <a:pt x="131" y="150"/>
                </a:lnTo>
                <a:lnTo>
                  <a:pt x="114" y="159"/>
                </a:lnTo>
                <a:lnTo>
                  <a:pt x="98" y="167"/>
                </a:lnTo>
                <a:lnTo>
                  <a:pt x="82" y="175"/>
                </a:lnTo>
                <a:lnTo>
                  <a:pt x="65" y="181"/>
                </a:lnTo>
                <a:lnTo>
                  <a:pt x="49" y="186"/>
                </a:lnTo>
                <a:lnTo>
                  <a:pt x="33" y="190"/>
                </a:lnTo>
                <a:lnTo>
                  <a:pt x="16" y="192"/>
                </a:lnTo>
                <a:lnTo>
                  <a:pt x="0" y="193"/>
                </a:lnTo>
                <a:close/>
              </a:path>
            </a:pathLst>
          </a:custGeom>
          <a:solidFill>
            <a:srgbClr val="0081E2">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Freeform 20"/>
          <p:cNvSpPr/>
          <p:nvPr/>
        </p:nvSpPr>
        <p:spPr>
          <a:xfrm>
            <a:off x="2057400" y="2324100"/>
            <a:ext cx="3743325" cy="1247775"/>
          </a:xfrm>
          <a:custGeom>
            <a:avLst/>
            <a:gdLst/>
            <a:ahLst/>
            <a:cxnLst/>
            <a:rect l="l" t="t" r="r" b="b"/>
            <a:pathLst>
              <a:path w="393" h="131">
                <a:moveTo>
                  <a:pt x="0" y="114"/>
                </a:moveTo>
                <a:lnTo>
                  <a:pt x="16" y="114"/>
                </a:lnTo>
                <a:lnTo>
                  <a:pt x="33" y="112"/>
                </a:lnTo>
                <a:lnTo>
                  <a:pt x="49" y="109"/>
                </a:lnTo>
                <a:lnTo>
                  <a:pt x="65" y="106"/>
                </a:lnTo>
                <a:lnTo>
                  <a:pt x="82" y="101"/>
                </a:lnTo>
                <a:lnTo>
                  <a:pt x="98" y="96"/>
                </a:lnTo>
                <a:lnTo>
                  <a:pt x="114" y="91"/>
                </a:lnTo>
                <a:lnTo>
                  <a:pt x="131" y="85"/>
                </a:lnTo>
                <a:lnTo>
                  <a:pt x="147" y="78"/>
                </a:lnTo>
                <a:lnTo>
                  <a:pt x="164" y="71"/>
                </a:lnTo>
                <a:lnTo>
                  <a:pt x="180" y="64"/>
                </a:lnTo>
                <a:lnTo>
                  <a:pt x="196" y="57"/>
                </a:lnTo>
                <a:lnTo>
                  <a:pt x="213" y="50"/>
                </a:lnTo>
                <a:lnTo>
                  <a:pt x="229" y="43"/>
                </a:lnTo>
                <a:lnTo>
                  <a:pt x="246" y="36"/>
                </a:lnTo>
                <a:lnTo>
                  <a:pt x="262" y="30"/>
                </a:lnTo>
                <a:lnTo>
                  <a:pt x="278" y="24"/>
                </a:lnTo>
                <a:lnTo>
                  <a:pt x="295" y="18"/>
                </a:lnTo>
                <a:lnTo>
                  <a:pt x="311" y="13"/>
                </a:lnTo>
                <a:lnTo>
                  <a:pt x="327" y="9"/>
                </a:lnTo>
                <a:lnTo>
                  <a:pt x="344" y="5"/>
                </a:lnTo>
                <a:lnTo>
                  <a:pt x="360" y="2"/>
                </a:lnTo>
                <a:lnTo>
                  <a:pt x="377" y="1"/>
                </a:lnTo>
                <a:lnTo>
                  <a:pt x="393" y="0"/>
                </a:lnTo>
                <a:lnTo>
                  <a:pt x="393" y="16"/>
                </a:lnTo>
                <a:lnTo>
                  <a:pt x="377" y="17"/>
                </a:lnTo>
                <a:lnTo>
                  <a:pt x="360" y="19"/>
                </a:lnTo>
                <a:lnTo>
                  <a:pt x="344" y="21"/>
                </a:lnTo>
                <a:lnTo>
                  <a:pt x="327" y="25"/>
                </a:lnTo>
                <a:lnTo>
                  <a:pt x="311" y="29"/>
                </a:lnTo>
                <a:lnTo>
                  <a:pt x="295" y="34"/>
                </a:lnTo>
                <a:lnTo>
                  <a:pt x="278" y="40"/>
                </a:lnTo>
                <a:lnTo>
                  <a:pt x="262" y="46"/>
                </a:lnTo>
                <a:lnTo>
                  <a:pt x="246" y="53"/>
                </a:lnTo>
                <a:lnTo>
                  <a:pt x="229" y="59"/>
                </a:lnTo>
                <a:lnTo>
                  <a:pt x="213" y="66"/>
                </a:lnTo>
                <a:lnTo>
                  <a:pt x="196" y="74"/>
                </a:lnTo>
                <a:lnTo>
                  <a:pt x="180" y="81"/>
                </a:lnTo>
                <a:lnTo>
                  <a:pt x="164" y="88"/>
                </a:lnTo>
                <a:lnTo>
                  <a:pt x="147" y="95"/>
                </a:lnTo>
                <a:lnTo>
                  <a:pt x="131" y="101"/>
                </a:lnTo>
                <a:lnTo>
                  <a:pt x="114" y="107"/>
                </a:lnTo>
                <a:lnTo>
                  <a:pt x="98" y="113"/>
                </a:lnTo>
                <a:lnTo>
                  <a:pt x="82" y="118"/>
                </a:lnTo>
                <a:lnTo>
                  <a:pt x="65" y="122"/>
                </a:lnTo>
                <a:lnTo>
                  <a:pt x="49" y="126"/>
                </a:lnTo>
                <a:lnTo>
                  <a:pt x="33" y="128"/>
                </a:lnTo>
                <a:lnTo>
                  <a:pt x="16" y="130"/>
                </a:lnTo>
                <a:lnTo>
                  <a:pt x="0" y="131"/>
                </a:lnTo>
                <a:close/>
              </a:path>
            </a:pathLst>
          </a:custGeom>
          <a:solidFill>
            <a:srgbClr val="0081E2">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Freeform 21"/>
          <p:cNvSpPr/>
          <p:nvPr/>
        </p:nvSpPr>
        <p:spPr>
          <a:xfrm>
            <a:off x="2057400" y="2819400"/>
            <a:ext cx="3743325" cy="876300"/>
          </a:xfrm>
          <a:custGeom>
            <a:avLst/>
            <a:gdLst/>
            <a:ahLst/>
            <a:cxnLst/>
            <a:rect l="l" t="t" r="r" b="b"/>
            <a:pathLst>
              <a:path w="393" h="92">
                <a:moveTo>
                  <a:pt x="0" y="79"/>
                </a:moveTo>
                <a:lnTo>
                  <a:pt x="16" y="78"/>
                </a:lnTo>
                <a:lnTo>
                  <a:pt x="33" y="77"/>
                </a:lnTo>
                <a:lnTo>
                  <a:pt x="49" y="75"/>
                </a:lnTo>
                <a:lnTo>
                  <a:pt x="65" y="73"/>
                </a:lnTo>
                <a:lnTo>
                  <a:pt x="82" y="70"/>
                </a:lnTo>
                <a:lnTo>
                  <a:pt x="98" y="66"/>
                </a:lnTo>
                <a:lnTo>
                  <a:pt x="114" y="62"/>
                </a:lnTo>
                <a:lnTo>
                  <a:pt x="131" y="58"/>
                </a:lnTo>
                <a:lnTo>
                  <a:pt x="147" y="54"/>
                </a:lnTo>
                <a:lnTo>
                  <a:pt x="164" y="49"/>
                </a:lnTo>
                <a:lnTo>
                  <a:pt x="180" y="44"/>
                </a:lnTo>
                <a:lnTo>
                  <a:pt x="196" y="39"/>
                </a:lnTo>
                <a:lnTo>
                  <a:pt x="213" y="34"/>
                </a:lnTo>
                <a:lnTo>
                  <a:pt x="229" y="30"/>
                </a:lnTo>
                <a:lnTo>
                  <a:pt x="246" y="25"/>
                </a:lnTo>
                <a:lnTo>
                  <a:pt x="262" y="20"/>
                </a:lnTo>
                <a:lnTo>
                  <a:pt x="278" y="16"/>
                </a:lnTo>
                <a:lnTo>
                  <a:pt x="295" y="12"/>
                </a:lnTo>
                <a:lnTo>
                  <a:pt x="311" y="9"/>
                </a:lnTo>
                <a:lnTo>
                  <a:pt x="327" y="6"/>
                </a:lnTo>
                <a:lnTo>
                  <a:pt x="344" y="3"/>
                </a:lnTo>
                <a:lnTo>
                  <a:pt x="360" y="2"/>
                </a:lnTo>
                <a:lnTo>
                  <a:pt x="377" y="0"/>
                </a:lnTo>
                <a:lnTo>
                  <a:pt x="393" y="0"/>
                </a:lnTo>
                <a:lnTo>
                  <a:pt x="393" y="13"/>
                </a:lnTo>
                <a:lnTo>
                  <a:pt x="377" y="14"/>
                </a:lnTo>
                <a:lnTo>
                  <a:pt x="360" y="15"/>
                </a:lnTo>
                <a:lnTo>
                  <a:pt x="344" y="17"/>
                </a:lnTo>
                <a:lnTo>
                  <a:pt x="327" y="19"/>
                </a:lnTo>
                <a:lnTo>
                  <a:pt x="311" y="22"/>
                </a:lnTo>
                <a:lnTo>
                  <a:pt x="295" y="25"/>
                </a:lnTo>
                <a:lnTo>
                  <a:pt x="278" y="29"/>
                </a:lnTo>
                <a:lnTo>
                  <a:pt x="262" y="34"/>
                </a:lnTo>
                <a:lnTo>
                  <a:pt x="246" y="38"/>
                </a:lnTo>
                <a:lnTo>
                  <a:pt x="229" y="43"/>
                </a:lnTo>
                <a:lnTo>
                  <a:pt x="213" y="48"/>
                </a:lnTo>
                <a:lnTo>
                  <a:pt x="196" y="52"/>
                </a:lnTo>
                <a:lnTo>
                  <a:pt x="180" y="57"/>
                </a:lnTo>
                <a:lnTo>
                  <a:pt x="164" y="62"/>
                </a:lnTo>
                <a:lnTo>
                  <a:pt x="147" y="67"/>
                </a:lnTo>
                <a:lnTo>
                  <a:pt x="131" y="71"/>
                </a:lnTo>
                <a:lnTo>
                  <a:pt x="114" y="76"/>
                </a:lnTo>
                <a:lnTo>
                  <a:pt x="98" y="79"/>
                </a:lnTo>
                <a:lnTo>
                  <a:pt x="82" y="83"/>
                </a:lnTo>
                <a:lnTo>
                  <a:pt x="65" y="86"/>
                </a:lnTo>
                <a:lnTo>
                  <a:pt x="49" y="88"/>
                </a:lnTo>
                <a:lnTo>
                  <a:pt x="33" y="90"/>
                </a:lnTo>
                <a:lnTo>
                  <a:pt x="16" y="91"/>
                </a:lnTo>
                <a:lnTo>
                  <a:pt x="0" y="92"/>
                </a:lnTo>
                <a:close/>
              </a:path>
            </a:pathLst>
          </a:custGeom>
          <a:solidFill>
            <a:srgbClr val="0081E2">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Freeform 22"/>
          <p:cNvSpPr/>
          <p:nvPr/>
        </p:nvSpPr>
        <p:spPr>
          <a:xfrm>
            <a:off x="2057400" y="3248025"/>
            <a:ext cx="3743325" cy="571500"/>
          </a:xfrm>
          <a:custGeom>
            <a:avLst/>
            <a:gdLst/>
            <a:ahLst/>
            <a:cxnLst/>
            <a:rect l="l" t="t" r="r" b="b"/>
            <a:pathLst>
              <a:path w="393" h="60">
                <a:moveTo>
                  <a:pt x="0" y="47"/>
                </a:moveTo>
                <a:lnTo>
                  <a:pt x="16" y="47"/>
                </a:lnTo>
                <a:lnTo>
                  <a:pt x="33" y="46"/>
                </a:lnTo>
                <a:lnTo>
                  <a:pt x="49" y="45"/>
                </a:lnTo>
                <a:lnTo>
                  <a:pt x="65" y="43"/>
                </a:lnTo>
                <a:lnTo>
                  <a:pt x="82" y="42"/>
                </a:lnTo>
                <a:lnTo>
                  <a:pt x="98" y="40"/>
                </a:lnTo>
                <a:lnTo>
                  <a:pt x="114" y="37"/>
                </a:lnTo>
                <a:lnTo>
                  <a:pt x="131" y="35"/>
                </a:lnTo>
                <a:lnTo>
                  <a:pt x="147" y="32"/>
                </a:lnTo>
                <a:lnTo>
                  <a:pt x="164" y="29"/>
                </a:lnTo>
                <a:lnTo>
                  <a:pt x="180" y="27"/>
                </a:lnTo>
                <a:lnTo>
                  <a:pt x="196" y="24"/>
                </a:lnTo>
                <a:lnTo>
                  <a:pt x="213" y="21"/>
                </a:lnTo>
                <a:lnTo>
                  <a:pt x="229" y="18"/>
                </a:lnTo>
                <a:lnTo>
                  <a:pt x="246" y="15"/>
                </a:lnTo>
                <a:lnTo>
                  <a:pt x="262" y="12"/>
                </a:lnTo>
                <a:lnTo>
                  <a:pt x="278" y="10"/>
                </a:lnTo>
                <a:lnTo>
                  <a:pt x="295" y="8"/>
                </a:lnTo>
                <a:lnTo>
                  <a:pt x="311" y="6"/>
                </a:lnTo>
                <a:lnTo>
                  <a:pt x="327" y="4"/>
                </a:lnTo>
                <a:lnTo>
                  <a:pt x="344" y="2"/>
                </a:lnTo>
                <a:lnTo>
                  <a:pt x="360" y="1"/>
                </a:lnTo>
                <a:lnTo>
                  <a:pt x="377" y="1"/>
                </a:lnTo>
                <a:lnTo>
                  <a:pt x="393" y="0"/>
                </a:lnTo>
                <a:lnTo>
                  <a:pt x="393" y="14"/>
                </a:lnTo>
                <a:lnTo>
                  <a:pt x="377" y="14"/>
                </a:lnTo>
                <a:lnTo>
                  <a:pt x="360" y="15"/>
                </a:lnTo>
                <a:lnTo>
                  <a:pt x="344" y="16"/>
                </a:lnTo>
                <a:lnTo>
                  <a:pt x="327" y="17"/>
                </a:lnTo>
                <a:lnTo>
                  <a:pt x="311" y="19"/>
                </a:lnTo>
                <a:lnTo>
                  <a:pt x="295" y="21"/>
                </a:lnTo>
                <a:lnTo>
                  <a:pt x="278" y="23"/>
                </a:lnTo>
                <a:lnTo>
                  <a:pt x="262" y="26"/>
                </a:lnTo>
                <a:lnTo>
                  <a:pt x="246" y="28"/>
                </a:lnTo>
                <a:lnTo>
                  <a:pt x="229" y="31"/>
                </a:lnTo>
                <a:lnTo>
                  <a:pt x="213" y="34"/>
                </a:lnTo>
                <a:lnTo>
                  <a:pt x="196" y="37"/>
                </a:lnTo>
                <a:lnTo>
                  <a:pt x="180" y="40"/>
                </a:lnTo>
                <a:lnTo>
                  <a:pt x="164" y="43"/>
                </a:lnTo>
                <a:lnTo>
                  <a:pt x="147" y="45"/>
                </a:lnTo>
                <a:lnTo>
                  <a:pt x="131" y="48"/>
                </a:lnTo>
                <a:lnTo>
                  <a:pt x="114" y="50"/>
                </a:lnTo>
                <a:lnTo>
                  <a:pt x="98" y="53"/>
                </a:lnTo>
                <a:lnTo>
                  <a:pt x="82" y="55"/>
                </a:lnTo>
                <a:lnTo>
                  <a:pt x="65" y="57"/>
                </a:lnTo>
                <a:lnTo>
                  <a:pt x="49" y="58"/>
                </a:lnTo>
                <a:lnTo>
                  <a:pt x="33" y="59"/>
                </a:lnTo>
                <a:lnTo>
                  <a:pt x="16" y="60"/>
                </a:lnTo>
                <a:lnTo>
                  <a:pt x="0" y="60"/>
                </a:lnTo>
                <a:close/>
              </a:path>
            </a:pathLst>
          </a:custGeom>
          <a:solidFill>
            <a:srgbClr val="0081E2">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Freeform 23"/>
          <p:cNvSpPr/>
          <p:nvPr/>
        </p:nvSpPr>
        <p:spPr>
          <a:xfrm>
            <a:off x="2057400" y="3686175"/>
            <a:ext cx="3743325" cy="257175"/>
          </a:xfrm>
          <a:custGeom>
            <a:avLst/>
            <a:gdLst/>
            <a:ahLst/>
            <a:cxnLst/>
            <a:rect l="l" t="t" r="r" b="b"/>
            <a:pathLst>
              <a:path w="393" h="27">
                <a:moveTo>
                  <a:pt x="0" y="14"/>
                </a:moveTo>
                <a:lnTo>
                  <a:pt x="16" y="14"/>
                </a:lnTo>
                <a:lnTo>
                  <a:pt x="33" y="14"/>
                </a:lnTo>
                <a:lnTo>
                  <a:pt x="49" y="13"/>
                </a:lnTo>
                <a:lnTo>
                  <a:pt x="65" y="13"/>
                </a:lnTo>
                <a:lnTo>
                  <a:pt x="82" y="12"/>
                </a:lnTo>
                <a:lnTo>
                  <a:pt x="98" y="12"/>
                </a:lnTo>
                <a:lnTo>
                  <a:pt x="114" y="11"/>
                </a:lnTo>
                <a:lnTo>
                  <a:pt x="131" y="10"/>
                </a:lnTo>
                <a:lnTo>
                  <a:pt x="147" y="10"/>
                </a:lnTo>
                <a:lnTo>
                  <a:pt x="164" y="9"/>
                </a:lnTo>
                <a:lnTo>
                  <a:pt x="180" y="8"/>
                </a:lnTo>
                <a:lnTo>
                  <a:pt x="196" y="7"/>
                </a:lnTo>
                <a:lnTo>
                  <a:pt x="213" y="6"/>
                </a:lnTo>
                <a:lnTo>
                  <a:pt x="229" y="5"/>
                </a:lnTo>
                <a:lnTo>
                  <a:pt x="246" y="4"/>
                </a:lnTo>
                <a:lnTo>
                  <a:pt x="262" y="4"/>
                </a:lnTo>
                <a:lnTo>
                  <a:pt x="278" y="3"/>
                </a:lnTo>
                <a:lnTo>
                  <a:pt x="295" y="2"/>
                </a:lnTo>
                <a:lnTo>
                  <a:pt x="311" y="2"/>
                </a:lnTo>
                <a:lnTo>
                  <a:pt x="327" y="1"/>
                </a:lnTo>
                <a:lnTo>
                  <a:pt x="344" y="1"/>
                </a:lnTo>
                <a:lnTo>
                  <a:pt x="360" y="0"/>
                </a:lnTo>
                <a:lnTo>
                  <a:pt x="377" y="0"/>
                </a:lnTo>
                <a:lnTo>
                  <a:pt x="393" y="0"/>
                </a:lnTo>
                <a:lnTo>
                  <a:pt x="393" y="13"/>
                </a:lnTo>
                <a:lnTo>
                  <a:pt x="377" y="13"/>
                </a:lnTo>
                <a:lnTo>
                  <a:pt x="360" y="13"/>
                </a:lnTo>
                <a:lnTo>
                  <a:pt x="344" y="14"/>
                </a:lnTo>
                <a:lnTo>
                  <a:pt x="327" y="14"/>
                </a:lnTo>
                <a:lnTo>
                  <a:pt x="311" y="15"/>
                </a:lnTo>
                <a:lnTo>
                  <a:pt x="295" y="15"/>
                </a:lnTo>
                <a:lnTo>
                  <a:pt x="278" y="16"/>
                </a:lnTo>
                <a:lnTo>
                  <a:pt x="262" y="17"/>
                </a:lnTo>
                <a:lnTo>
                  <a:pt x="246" y="18"/>
                </a:lnTo>
                <a:lnTo>
                  <a:pt x="229" y="18"/>
                </a:lnTo>
                <a:lnTo>
                  <a:pt x="213" y="19"/>
                </a:lnTo>
                <a:lnTo>
                  <a:pt x="196" y="20"/>
                </a:lnTo>
                <a:lnTo>
                  <a:pt x="180" y="21"/>
                </a:lnTo>
                <a:lnTo>
                  <a:pt x="164" y="22"/>
                </a:lnTo>
                <a:lnTo>
                  <a:pt x="147" y="23"/>
                </a:lnTo>
                <a:lnTo>
                  <a:pt x="131" y="23"/>
                </a:lnTo>
                <a:lnTo>
                  <a:pt x="114" y="24"/>
                </a:lnTo>
                <a:lnTo>
                  <a:pt x="98" y="25"/>
                </a:lnTo>
                <a:lnTo>
                  <a:pt x="82" y="26"/>
                </a:lnTo>
                <a:lnTo>
                  <a:pt x="65" y="26"/>
                </a:lnTo>
                <a:lnTo>
                  <a:pt x="49" y="26"/>
                </a:lnTo>
                <a:lnTo>
                  <a:pt x="33" y="27"/>
                </a:lnTo>
                <a:lnTo>
                  <a:pt x="16" y="27"/>
                </a:lnTo>
                <a:lnTo>
                  <a:pt x="0" y="27"/>
                </a:lnTo>
                <a:close/>
              </a:path>
            </a:pathLst>
          </a:custGeom>
          <a:solidFill>
            <a:srgbClr val="0081E2">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Freeform 24"/>
          <p:cNvSpPr/>
          <p:nvPr/>
        </p:nvSpPr>
        <p:spPr>
          <a:xfrm>
            <a:off x="2057400" y="3943350"/>
            <a:ext cx="3743325" cy="304800"/>
          </a:xfrm>
          <a:custGeom>
            <a:avLst/>
            <a:gdLst/>
            <a:ahLst/>
            <a:cxnLst/>
            <a:rect l="l" t="t" r="r" b="b"/>
            <a:pathLst>
              <a:path w="393" h="32">
                <a:moveTo>
                  <a:pt x="0" y="0"/>
                </a:moveTo>
                <a:lnTo>
                  <a:pt x="16" y="0"/>
                </a:lnTo>
                <a:lnTo>
                  <a:pt x="33" y="0"/>
                </a:lnTo>
                <a:lnTo>
                  <a:pt x="49" y="1"/>
                </a:lnTo>
                <a:lnTo>
                  <a:pt x="65" y="1"/>
                </a:lnTo>
                <a:lnTo>
                  <a:pt x="82" y="2"/>
                </a:lnTo>
                <a:lnTo>
                  <a:pt x="98" y="3"/>
                </a:lnTo>
                <a:lnTo>
                  <a:pt x="114" y="4"/>
                </a:lnTo>
                <a:lnTo>
                  <a:pt x="131" y="5"/>
                </a:lnTo>
                <a:lnTo>
                  <a:pt x="147" y="6"/>
                </a:lnTo>
                <a:lnTo>
                  <a:pt x="164" y="7"/>
                </a:lnTo>
                <a:lnTo>
                  <a:pt x="180" y="8"/>
                </a:lnTo>
                <a:lnTo>
                  <a:pt x="196" y="9"/>
                </a:lnTo>
                <a:lnTo>
                  <a:pt x="213" y="10"/>
                </a:lnTo>
                <a:lnTo>
                  <a:pt x="229" y="12"/>
                </a:lnTo>
                <a:lnTo>
                  <a:pt x="246" y="13"/>
                </a:lnTo>
                <a:lnTo>
                  <a:pt x="262" y="14"/>
                </a:lnTo>
                <a:lnTo>
                  <a:pt x="278" y="15"/>
                </a:lnTo>
                <a:lnTo>
                  <a:pt x="295" y="16"/>
                </a:lnTo>
                <a:lnTo>
                  <a:pt x="311" y="16"/>
                </a:lnTo>
                <a:lnTo>
                  <a:pt x="327" y="17"/>
                </a:lnTo>
                <a:lnTo>
                  <a:pt x="344" y="18"/>
                </a:lnTo>
                <a:lnTo>
                  <a:pt x="360" y="18"/>
                </a:lnTo>
                <a:lnTo>
                  <a:pt x="377" y="18"/>
                </a:lnTo>
                <a:lnTo>
                  <a:pt x="393" y="18"/>
                </a:lnTo>
                <a:lnTo>
                  <a:pt x="393" y="32"/>
                </a:lnTo>
                <a:lnTo>
                  <a:pt x="377" y="31"/>
                </a:lnTo>
                <a:lnTo>
                  <a:pt x="360" y="31"/>
                </a:lnTo>
                <a:lnTo>
                  <a:pt x="344" y="31"/>
                </a:lnTo>
                <a:lnTo>
                  <a:pt x="327" y="30"/>
                </a:lnTo>
                <a:lnTo>
                  <a:pt x="311" y="30"/>
                </a:lnTo>
                <a:lnTo>
                  <a:pt x="295" y="29"/>
                </a:lnTo>
                <a:lnTo>
                  <a:pt x="278" y="28"/>
                </a:lnTo>
                <a:lnTo>
                  <a:pt x="262" y="27"/>
                </a:lnTo>
                <a:lnTo>
                  <a:pt x="246" y="26"/>
                </a:lnTo>
                <a:lnTo>
                  <a:pt x="229" y="25"/>
                </a:lnTo>
                <a:lnTo>
                  <a:pt x="213" y="24"/>
                </a:lnTo>
                <a:lnTo>
                  <a:pt x="196" y="22"/>
                </a:lnTo>
                <a:lnTo>
                  <a:pt x="180" y="21"/>
                </a:lnTo>
                <a:lnTo>
                  <a:pt x="164" y="20"/>
                </a:lnTo>
                <a:lnTo>
                  <a:pt x="147" y="19"/>
                </a:lnTo>
                <a:lnTo>
                  <a:pt x="131" y="18"/>
                </a:lnTo>
                <a:lnTo>
                  <a:pt x="114" y="17"/>
                </a:lnTo>
                <a:lnTo>
                  <a:pt x="98" y="16"/>
                </a:lnTo>
                <a:lnTo>
                  <a:pt x="82" y="15"/>
                </a:lnTo>
                <a:lnTo>
                  <a:pt x="65" y="15"/>
                </a:lnTo>
                <a:lnTo>
                  <a:pt x="49" y="14"/>
                </a:lnTo>
                <a:lnTo>
                  <a:pt x="33" y="14"/>
                </a:lnTo>
                <a:lnTo>
                  <a:pt x="16" y="13"/>
                </a:lnTo>
                <a:lnTo>
                  <a:pt x="0" y="13"/>
                </a:lnTo>
                <a:close/>
              </a:path>
            </a:pathLst>
          </a:custGeom>
          <a:solidFill>
            <a:srgbClr val="0081E2">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Freeform 25"/>
          <p:cNvSpPr/>
          <p:nvPr/>
        </p:nvSpPr>
        <p:spPr>
          <a:xfrm>
            <a:off x="2057400" y="4067175"/>
            <a:ext cx="3743325" cy="609600"/>
          </a:xfrm>
          <a:custGeom>
            <a:avLst/>
            <a:gdLst/>
            <a:ahLst/>
            <a:cxnLst/>
            <a:rect l="l" t="t" r="r" b="b"/>
            <a:pathLst>
              <a:path w="393" h="64">
                <a:moveTo>
                  <a:pt x="0" y="0"/>
                </a:moveTo>
                <a:lnTo>
                  <a:pt x="16" y="0"/>
                </a:lnTo>
                <a:lnTo>
                  <a:pt x="33" y="1"/>
                </a:lnTo>
                <a:lnTo>
                  <a:pt x="49" y="2"/>
                </a:lnTo>
                <a:lnTo>
                  <a:pt x="65" y="4"/>
                </a:lnTo>
                <a:lnTo>
                  <a:pt x="82" y="6"/>
                </a:lnTo>
                <a:lnTo>
                  <a:pt x="98" y="8"/>
                </a:lnTo>
                <a:lnTo>
                  <a:pt x="114" y="11"/>
                </a:lnTo>
                <a:lnTo>
                  <a:pt x="131" y="13"/>
                </a:lnTo>
                <a:lnTo>
                  <a:pt x="147" y="16"/>
                </a:lnTo>
                <a:lnTo>
                  <a:pt x="164" y="19"/>
                </a:lnTo>
                <a:lnTo>
                  <a:pt x="180" y="22"/>
                </a:lnTo>
                <a:lnTo>
                  <a:pt x="196" y="26"/>
                </a:lnTo>
                <a:lnTo>
                  <a:pt x="213" y="29"/>
                </a:lnTo>
                <a:lnTo>
                  <a:pt x="229" y="32"/>
                </a:lnTo>
                <a:lnTo>
                  <a:pt x="246" y="35"/>
                </a:lnTo>
                <a:lnTo>
                  <a:pt x="262" y="38"/>
                </a:lnTo>
                <a:lnTo>
                  <a:pt x="278" y="40"/>
                </a:lnTo>
                <a:lnTo>
                  <a:pt x="295" y="43"/>
                </a:lnTo>
                <a:lnTo>
                  <a:pt x="311" y="45"/>
                </a:lnTo>
                <a:lnTo>
                  <a:pt x="327" y="47"/>
                </a:lnTo>
                <a:lnTo>
                  <a:pt x="344" y="49"/>
                </a:lnTo>
                <a:lnTo>
                  <a:pt x="360" y="50"/>
                </a:lnTo>
                <a:lnTo>
                  <a:pt x="377" y="51"/>
                </a:lnTo>
                <a:lnTo>
                  <a:pt x="393" y="51"/>
                </a:lnTo>
                <a:lnTo>
                  <a:pt x="393" y="64"/>
                </a:lnTo>
                <a:lnTo>
                  <a:pt x="377" y="64"/>
                </a:lnTo>
                <a:lnTo>
                  <a:pt x="360" y="63"/>
                </a:lnTo>
                <a:lnTo>
                  <a:pt x="344" y="62"/>
                </a:lnTo>
                <a:lnTo>
                  <a:pt x="327" y="60"/>
                </a:lnTo>
                <a:lnTo>
                  <a:pt x="311" y="58"/>
                </a:lnTo>
                <a:lnTo>
                  <a:pt x="295" y="56"/>
                </a:lnTo>
                <a:lnTo>
                  <a:pt x="278" y="54"/>
                </a:lnTo>
                <a:lnTo>
                  <a:pt x="262" y="51"/>
                </a:lnTo>
                <a:lnTo>
                  <a:pt x="246" y="48"/>
                </a:lnTo>
                <a:lnTo>
                  <a:pt x="229" y="45"/>
                </a:lnTo>
                <a:lnTo>
                  <a:pt x="213" y="42"/>
                </a:lnTo>
                <a:lnTo>
                  <a:pt x="196" y="39"/>
                </a:lnTo>
                <a:lnTo>
                  <a:pt x="180" y="36"/>
                </a:lnTo>
                <a:lnTo>
                  <a:pt x="164" y="32"/>
                </a:lnTo>
                <a:lnTo>
                  <a:pt x="147" y="29"/>
                </a:lnTo>
                <a:lnTo>
                  <a:pt x="131" y="27"/>
                </a:lnTo>
                <a:lnTo>
                  <a:pt x="114" y="24"/>
                </a:lnTo>
                <a:lnTo>
                  <a:pt x="98" y="21"/>
                </a:lnTo>
                <a:lnTo>
                  <a:pt x="82" y="19"/>
                </a:lnTo>
                <a:lnTo>
                  <a:pt x="65" y="17"/>
                </a:lnTo>
                <a:lnTo>
                  <a:pt x="49" y="16"/>
                </a:lnTo>
                <a:lnTo>
                  <a:pt x="33" y="14"/>
                </a:lnTo>
                <a:lnTo>
                  <a:pt x="16" y="14"/>
                </a:lnTo>
                <a:lnTo>
                  <a:pt x="0" y="13"/>
                </a:lnTo>
                <a:close/>
              </a:path>
            </a:pathLst>
          </a:custGeom>
          <a:solidFill>
            <a:srgbClr val="0081E2">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Freeform 26"/>
          <p:cNvSpPr/>
          <p:nvPr/>
        </p:nvSpPr>
        <p:spPr>
          <a:xfrm>
            <a:off x="2057400" y="4191000"/>
            <a:ext cx="3743325" cy="914400"/>
          </a:xfrm>
          <a:custGeom>
            <a:avLst/>
            <a:gdLst/>
            <a:ahLst/>
            <a:cxnLst/>
            <a:rect l="l" t="t" r="r" b="b"/>
            <a:pathLst>
              <a:path w="393" h="96">
                <a:moveTo>
                  <a:pt x="0" y="0"/>
                </a:moveTo>
                <a:lnTo>
                  <a:pt x="16" y="1"/>
                </a:lnTo>
                <a:lnTo>
                  <a:pt x="33" y="2"/>
                </a:lnTo>
                <a:lnTo>
                  <a:pt x="49" y="4"/>
                </a:lnTo>
                <a:lnTo>
                  <a:pt x="65" y="7"/>
                </a:lnTo>
                <a:lnTo>
                  <a:pt x="82" y="10"/>
                </a:lnTo>
                <a:lnTo>
                  <a:pt x="98" y="13"/>
                </a:lnTo>
                <a:lnTo>
                  <a:pt x="114" y="17"/>
                </a:lnTo>
                <a:lnTo>
                  <a:pt x="131" y="22"/>
                </a:lnTo>
                <a:lnTo>
                  <a:pt x="147" y="27"/>
                </a:lnTo>
                <a:lnTo>
                  <a:pt x="164" y="32"/>
                </a:lnTo>
                <a:lnTo>
                  <a:pt x="180" y="37"/>
                </a:lnTo>
                <a:lnTo>
                  <a:pt x="196" y="42"/>
                </a:lnTo>
                <a:lnTo>
                  <a:pt x="213" y="47"/>
                </a:lnTo>
                <a:lnTo>
                  <a:pt x="229" y="52"/>
                </a:lnTo>
                <a:lnTo>
                  <a:pt x="246" y="57"/>
                </a:lnTo>
                <a:lnTo>
                  <a:pt x="262" y="62"/>
                </a:lnTo>
                <a:lnTo>
                  <a:pt x="278" y="66"/>
                </a:lnTo>
                <a:lnTo>
                  <a:pt x="295" y="70"/>
                </a:lnTo>
                <a:lnTo>
                  <a:pt x="311" y="74"/>
                </a:lnTo>
                <a:lnTo>
                  <a:pt x="327" y="77"/>
                </a:lnTo>
                <a:lnTo>
                  <a:pt x="344" y="80"/>
                </a:lnTo>
                <a:lnTo>
                  <a:pt x="360" y="82"/>
                </a:lnTo>
                <a:lnTo>
                  <a:pt x="377" y="83"/>
                </a:lnTo>
                <a:lnTo>
                  <a:pt x="393" y="83"/>
                </a:lnTo>
                <a:lnTo>
                  <a:pt x="393" y="96"/>
                </a:lnTo>
                <a:lnTo>
                  <a:pt x="377" y="96"/>
                </a:lnTo>
                <a:lnTo>
                  <a:pt x="360" y="95"/>
                </a:lnTo>
                <a:lnTo>
                  <a:pt x="344" y="93"/>
                </a:lnTo>
                <a:lnTo>
                  <a:pt x="327" y="90"/>
                </a:lnTo>
                <a:lnTo>
                  <a:pt x="311" y="87"/>
                </a:lnTo>
                <a:lnTo>
                  <a:pt x="295" y="84"/>
                </a:lnTo>
                <a:lnTo>
                  <a:pt x="278" y="79"/>
                </a:lnTo>
                <a:lnTo>
                  <a:pt x="262" y="75"/>
                </a:lnTo>
                <a:lnTo>
                  <a:pt x="246" y="70"/>
                </a:lnTo>
                <a:lnTo>
                  <a:pt x="229" y="65"/>
                </a:lnTo>
                <a:lnTo>
                  <a:pt x="213" y="60"/>
                </a:lnTo>
                <a:lnTo>
                  <a:pt x="196" y="55"/>
                </a:lnTo>
                <a:lnTo>
                  <a:pt x="180" y="50"/>
                </a:lnTo>
                <a:lnTo>
                  <a:pt x="164" y="45"/>
                </a:lnTo>
                <a:lnTo>
                  <a:pt x="147" y="40"/>
                </a:lnTo>
                <a:lnTo>
                  <a:pt x="131" y="35"/>
                </a:lnTo>
                <a:lnTo>
                  <a:pt x="114" y="31"/>
                </a:lnTo>
                <a:lnTo>
                  <a:pt x="98" y="26"/>
                </a:lnTo>
                <a:lnTo>
                  <a:pt x="82" y="23"/>
                </a:lnTo>
                <a:lnTo>
                  <a:pt x="65" y="20"/>
                </a:lnTo>
                <a:lnTo>
                  <a:pt x="49" y="17"/>
                </a:lnTo>
                <a:lnTo>
                  <a:pt x="33" y="15"/>
                </a:lnTo>
                <a:lnTo>
                  <a:pt x="16" y="14"/>
                </a:lnTo>
                <a:lnTo>
                  <a:pt x="0" y="14"/>
                </a:lnTo>
                <a:close/>
              </a:path>
            </a:pathLst>
          </a:custGeom>
          <a:solidFill>
            <a:srgbClr val="0081E2">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Freeform 27"/>
          <p:cNvSpPr/>
          <p:nvPr/>
        </p:nvSpPr>
        <p:spPr>
          <a:xfrm>
            <a:off x="2057400" y="4324350"/>
            <a:ext cx="3743325" cy="1219200"/>
          </a:xfrm>
          <a:custGeom>
            <a:avLst/>
            <a:gdLst/>
            <a:ahLst/>
            <a:cxnLst/>
            <a:rect l="l" t="t" r="r" b="b"/>
            <a:pathLst>
              <a:path w="393" h="128">
                <a:moveTo>
                  <a:pt x="0" y="0"/>
                </a:moveTo>
                <a:lnTo>
                  <a:pt x="16" y="0"/>
                </a:lnTo>
                <a:lnTo>
                  <a:pt x="33" y="2"/>
                </a:lnTo>
                <a:lnTo>
                  <a:pt x="49" y="4"/>
                </a:lnTo>
                <a:lnTo>
                  <a:pt x="65" y="8"/>
                </a:lnTo>
                <a:lnTo>
                  <a:pt x="82" y="12"/>
                </a:lnTo>
                <a:lnTo>
                  <a:pt x="98" y="18"/>
                </a:lnTo>
                <a:lnTo>
                  <a:pt x="114" y="23"/>
                </a:lnTo>
                <a:lnTo>
                  <a:pt x="131" y="29"/>
                </a:lnTo>
                <a:lnTo>
                  <a:pt x="147" y="36"/>
                </a:lnTo>
                <a:lnTo>
                  <a:pt x="164" y="43"/>
                </a:lnTo>
                <a:lnTo>
                  <a:pt x="180" y="50"/>
                </a:lnTo>
                <a:lnTo>
                  <a:pt x="196" y="57"/>
                </a:lnTo>
                <a:lnTo>
                  <a:pt x="213" y="64"/>
                </a:lnTo>
                <a:lnTo>
                  <a:pt x="229" y="71"/>
                </a:lnTo>
                <a:lnTo>
                  <a:pt x="246" y="78"/>
                </a:lnTo>
                <a:lnTo>
                  <a:pt x="262" y="85"/>
                </a:lnTo>
                <a:lnTo>
                  <a:pt x="278" y="91"/>
                </a:lnTo>
                <a:lnTo>
                  <a:pt x="295" y="97"/>
                </a:lnTo>
                <a:lnTo>
                  <a:pt x="311" y="102"/>
                </a:lnTo>
                <a:lnTo>
                  <a:pt x="327" y="106"/>
                </a:lnTo>
                <a:lnTo>
                  <a:pt x="344" y="110"/>
                </a:lnTo>
                <a:lnTo>
                  <a:pt x="360" y="113"/>
                </a:lnTo>
                <a:lnTo>
                  <a:pt x="377" y="114"/>
                </a:lnTo>
                <a:lnTo>
                  <a:pt x="393" y="115"/>
                </a:lnTo>
                <a:lnTo>
                  <a:pt x="393" y="128"/>
                </a:lnTo>
                <a:lnTo>
                  <a:pt x="377" y="127"/>
                </a:lnTo>
                <a:lnTo>
                  <a:pt x="360" y="126"/>
                </a:lnTo>
                <a:lnTo>
                  <a:pt x="344" y="123"/>
                </a:lnTo>
                <a:lnTo>
                  <a:pt x="327" y="119"/>
                </a:lnTo>
                <a:lnTo>
                  <a:pt x="311" y="115"/>
                </a:lnTo>
                <a:lnTo>
                  <a:pt x="295" y="110"/>
                </a:lnTo>
                <a:lnTo>
                  <a:pt x="278" y="104"/>
                </a:lnTo>
                <a:lnTo>
                  <a:pt x="262" y="98"/>
                </a:lnTo>
                <a:lnTo>
                  <a:pt x="246" y="91"/>
                </a:lnTo>
                <a:lnTo>
                  <a:pt x="229" y="85"/>
                </a:lnTo>
                <a:lnTo>
                  <a:pt x="213" y="77"/>
                </a:lnTo>
                <a:lnTo>
                  <a:pt x="196" y="70"/>
                </a:lnTo>
                <a:lnTo>
                  <a:pt x="180" y="63"/>
                </a:lnTo>
                <a:lnTo>
                  <a:pt x="164" y="56"/>
                </a:lnTo>
                <a:lnTo>
                  <a:pt x="147" y="49"/>
                </a:lnTo>
                <a:lnTo>
                  <a:pt x="131" y="43"/>
                </a:lnTo>
                <a:lnTo>
                  <a:pt x="114" y="36"/>
                </a:lnTo>
                <a:lnTo>
                  <a:pt x="98" y="31"/>
                </a:lnTo>
                <a:lnTo>
                  <a:pt x="82" y="26"/>
                </a:lnTo>
                <a:lnTo>
                  <a:pt x="65" y="21"/>
                </a:lnTo>
                <a:lnTo>
                  <a:pt x="49" y="18"/>
                </a:lnTo>
                <a:lnTo>
                  <a:pt x="33" y="15"/>
                </a:lnTo>
                <a:lnTo>
                  <a:pt x="16" y="13"/>
                </a:lnTo>
                <a:lnTo>
                  <a:pt x="0" y="13"/>
                </a:lnTo>
                <a:close/>
              </a:path>
            </a:pathLst>
          </a:custGeom>
          <a:solidFill>
            <a:srgbClr val="0081E2">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Freeform 28"/>
          <p:cNvSpPr/>
          <p:nvPr/>
        </p:nvSpPr>
        <p:spPr>
          <a:xfrm>
            <a:off x="2057400" y="4448175"/>
            <a:ext cx="3743325" cy="1524000"/>
          </a:xfrm>
          <a:custGeom>
            <a:avLst/>
            <a:gdLst/>
            <a:ahLst/>
            <a:cxnLst/>
            <a:rect l="l" t="t" r="r" b="b"/>
            <a:pathLst>
              <a:path w="393" h="160">
                <a:moveTo>
                  <a:pt x="0" y="0"/>
                </a:moveTo>
                <a:lnTo>
                  <a:pt x="16" y="0"/>
                </a:lnTo>
                <a:lnTo>
                  <a:pt x="33" y="3"/>
                </a:lnTo>
                <a:lnTo>
                  <a:pt x="49" y="6"/>
                </a:lnTo>
                <a:lnTo>
                  <a:pt x="65" y="11"/>
                </a:lnTo>
                <a:lnTo>
                  <a:pt x="82" y="16"/>
                </a:lnTo>
                <a:lnTo>
                  <a:pt x="98" y="23"/>
                </a:lnTo>
                <a:lnTo>
                  <a:pt x="114" y="30"/>
                </a:lnTo>
                <a:lnTo>
                  <a:pt x="131" y="38"/>
                </a:lnTo>
                <a:lnTo>
                  <a:pt x="147" y="46"/>
                </a:lnTo>
                <a:lnTo>
                  <a:pt x="164" y="55"/>
                </a:lnTo>
                <a:lnTo>
                  <a:pt x="180" y="64"/>
                </a:lnTo>
                <a:lnTo>
                  <a:pt x="196" y="73"/>
                </a:lnTo>
                <a:lnTo>
                  <a:pt x="213" y="83"/>
                </a:lnTo>
                <a:lnTo>
                  <a:pt x="229" y="92"/>
                </a:lnTo>
                <a:lnTo>
                  <a:pt x="246" y="101"/>
                </a:lnTo>
                <a:lnTo>
                  <a:pt x="262" y="109"/>
                </a:lnTo>
                <a:lnTo>
                  <a:pt x="278" y="117"/>
                </a:lnTo>
                <a:lnTo>
                  <a:pt x="295" y="124"/>
                </a:lnTo>
                <a:lnTo>
                  <a:pt x="311" y="131"/>
                </a:lnTo>
                <a:lnTo>
                  <a:pt x="327" y="136"/>
                </a:lnTo>
                <a:lnTo>
                  <a:pt x="344" y="141"/>
                </a:lnTo>
                <a:lnTo>
                  <a:pt x="360" y="144"/>
                </a:lnTo>
                <a:lnTo>
                  <a:pt x="377" y="146"/>
                </a:lnTo>
                <a:lnTo>
                  <a:pt x="393" y="147"/>
                </a:lnTo>
                <a:lnTo>
                  <a:pt x="393" y="160"/>
                </a:lnTo>
                <a:lnTo>
                  <a:pt x="377" y="160"/>
                </a:lnTo>
                <a:lnTo>
                  <a:pt x="360" y="157"/>
                </a:lnTo>
                <a:lnTo>
                  <a:pt x="344" y="154"/>
                </a:lnTo>
                <a:lnTo>
                  <a:pt x="327" y="149"/>
                </a:lnTo>
                <a:lnTo>
                  <a:pt x="311" y="144"/>
                </a:lnTo>
                <a:lnTo>
                  <a:pt x="295" y="137"/>
                </a:lnTo>
                <a:lnTo>
                  <a:pt x="278" y="130"/>
                </a:lnTo>
                <a:lnTo>
                  <a:pt x="262" y="122"/>
                </a:lnTo>
                <a:lnTo>
                  <a:pt x="246" y="114"/>
                </a:lnTo>
                <a:lnTo>
                  <a:pt x="229" y="105"/>
                </a:lnTo>
                <a:lnTo>
                  <a:pt x="213" y="96"/>
                </a:lnTo>
                <a:lnTo>
                  <a:pt x="196" y="87"/>
                </a:lnTo>
                <a:lnTo>
                  <a:pt x="180" y="77"/>
                </a:lnTo>
                <a:lnTo>
                  <a:pt x="164" y="68"/>
                </a:lnTo>
                <a:lnTo>
                  <a:pt x="147" y="60"/>
                </a:lnTo>
                <a:lnTo>
                  <a:pt x="131" y="51"/>
                </a:lnTo>
                <a:lnTo>
                  <a:pt x="114" y="43"/>
                </a:lnTo>
                <a:lnTo>
                  <a:pt x="98" y="36"/>
                </a:lnTo>
                <a:lnTo>
                  <a:pt x="82" y="29"/>
                </a:lnTo>
                <a:lnTo>
                  <a:pt x="65" y="24"/>
                </a:lnTo>
                <a:lnTo>
                  <a:pt x="49" y="19"/>
                </a:lnTo>
                <a:lnTo>
                  <a:pt x="33" y="16"/>
                </a:lnTo>
                <a:lnTo>
                  <a:pt x="16" y="14"/>
                </a:lnTo>
                <a:lnTo>
                  <a:pt x="0" y="13"/>
                </a:lnTo>
                <a:close/>
              </a:path>
            </a:pathLst>
          </a:custGeom>
          <a:solidFill>
            <a:srgbClr val="0081E2">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Freeform 29"/>
          <p:cNvSpPr/>
          <p:nvPr/>
        </p:nvSpPr>
        <p:spPr>
          <a:xfrm>
            <a:off x="2057400" y="4572000"/>
            <a:ext cx="3743325" cy="1838325"/>
          </a:xfrm>
          <a:custGeom>
            <a:avLst/>
            <a:gdLst/>
            <a:ahLst/>
            <a:cxnLst/>
            <a:rect l="l" t="t" r="r" b="b"/>
            <a:pathLst>
              <a:path w="393" h="193">
                <a:moveTo>
                  <a:pt x="0" y="0"/>
                </a:moveTo>
                <a:lnTo>
                  <a:pt x="16" y="1"/>
                </a:lnTo>
                <a:lnTo>
                  <a:pt x="33" y="3"/>
                </a:lnTo>
                <a:lnTo>
                  <a:pt x="49" y="8"/>
                </a:lnTo>
                <a:lnTo>
                  <a:pt x="65" y="13"/>
                </a:lnTo>
                <a:lnTo>
                  <a:pt x="82" y="20"/>
                </a:lnTo>
                <a:lnTo>
                  <a:pt x="98" y="28"/>
                </a:lnTo>
                <a:lnTo>
                  <a:pt x="114" y="37"/>
                </a:lnTo>
                <a:lnTo>
                  <a:pt x="131" y="46"/>
                </a:lnTo>
                <a:lnTo>
                  <a:pt x="147" y="57"/>
                </a:lnTo>
                <a:lnTo>
                  <a:pt x="164" y="67"/>
                </a:lnTo>
                <a:lnTo>
                  <a:pt x="180" y="79"/>
                </a:lnTo>
                <a:lnTo>
                  <a:pt x="196" y="90"/>
                </a:lnTo>
                <a:lnTo>
                  <a:pt x="213" y="101"/>
                </a:lnTo>
                <a:lnTo>
                  <a:pt x="229" y="112"/>
                </a:lnTo>
                <a:lnTo>
                  <a:pt x="246" y="123"/>
                </a:lnTo>
                <a:lnTo>
                  <a:pt x="262" y="133"/>
                </a:lnTo>
                <a:lnTo>
                  <a:pt x="278" y="143"/>
                </a:lnTo>
                <a:lnTo>
                  <a:pt x="295" y="152"/>
                </a:lnTo>
                <a:lnTo>
                  <a:pt x="311" y="160"/>
                </a:lnTo>
                <a:lnTo>
                  <a:pt x="327" y="166"/>
                </a:lnTo>
                <a:lnTo>
                  <a:pt x="344" y="172"/>
                </a:lnTo>
                <a:lnTo>
                  <a:pt x="360" y="176"/>
                </a:lnTo>
                <a:lnTo>
                  <a:pt x="377" y="179"/>
                </a:lnTo>
                <a:lnTo>
                  <a:pt x="393" y="180"/>
                </a:lnTo>
                <a:lnTo>
                  <a:pt x="393" y="193"/>
                </a:lnTo>
                <a:lnTo>
                  <a:pt x="377" y="192"/>
                </a:lnTo>
                <a:lnTo>
                  <a:pt x="360" y="189"/>
                </a:lnTo>
                <a:lnTo>
                  <a:pt x="344" y="185"/>
                </a:lnTo>
                <a:lnTo>
                  <a:pt x="327" y="180"/>
                </a:lnTo>
                <a:lnTo>
                  <a:pt x="311" y="173"/>
                </a:lnTo>
                <a:lnTo>
                  <a:pt x="295" y="165"/>
                </a:lnTo>
                <a:lnTo>
                  <a:pt x="278" y="156"/>
                </a:lnTo>
                <a:lnTo>
                  <a:pt x="262" y="146"/>
                </a:lnTo>
                <a:lnTo>
                  <a:pt x="246" y="136"/>
                </a:lnTo>
                <a:lnTo>
                  <a:pt x="229" y="125"/>
                </a:lnTo>
                <a:lnTo>
                  <a:pt x="213" y="114"/>
                </a:lnTo>
                <a:lnTo>
                  <a:pt x="196" y="103"/>
                </a:lnTo>
                <a:lnTo>
                  <a:pt x="180" y="92"/>
                </a:lnTo>
                <a:lnTo>
                  <a:pt x="164" y="81"/>
                </a:lnTo>
                <a:lnTo>
                  <a:pt x="147" y="70"/>
                </a:lnTo>
                <a:lnTo>
                  <a:pt x="131" y="60"/>
                </a:lnTo>
                <a:lnTo>
                  <a:pt x="114" y="50"/>
                </a:lnTo>
                <a:lnTo>
                  <a:pt x="98" y="41"/>
                </a:lnTo>
                <a:lnTo>
                  <a:pt x="82" y="33"/>
                </a:lnTo>
                <a:lnTo>
                  <a:pt x="65" y="26"/>
                </a:lnTo>
                <a:lnTo>
                  <a:pt x="49" y="21"/>
                </a:lnTo>
                <a:lnTo>
                  <a:pt x="33" y="17"/>
                </a:lnTo>
                <a:lnTo>
                  <a:pt x="16" y="14"/>
                </a:lnTo>
                <a:lnTo>
                  <a:pt x="0" y="13"/>
                </a:lnTo>
                <a:close/>
              </a:path>
            </a:pathLst>
          </a:custGeom>
          <a:solidFill>
            <a:srgbClr val="0081E2">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Freeform 30"/>
          <p:cNvSpPr/>
          <p:nvPr/>
        </p:nvSpPr>
        <p:spPr>
          <a:xfrm>
            <a:off x="2057400" y="1838325"/>
            <a:ext cx="3743325" cy="3181350"/>
          </a:xfrm>
          <a:custGeom>
            <a:avLst/>
            <a:gdLst/>
            <a:ahLst/>
            <a:cxnLst/>
            <a:rect l="l" t="t" r="r" b="b"/>
            <a:pathLst>
              <a:path w="393" h="334">
                <a:moveTo>
                  <a:pt x="0" y="306"/>
                </a:moveTo>
                <a:lnTo>
                  <a:pt x="16" y="304"/>
                </a:lnTo>
                <a:lnTo>
                  <a:pt x="33" y="300"/>
                </a:lnTo>
                <a:lnTo>
                  <a:pt x="49" y="293"/>
                </a:lnTo>
                <a:lnTo>
                  <a:pt x="65" y="283"/>
                </a:lnTo>
                <a:lnTo>
                  <a:pt x="82" y="272"/>
                </a:lnTo>
                <a:lnTo>
                  <a:pt x="98" y="258"/>
                </a:lnTo>
                <a:lnTo>
                  <a:pt x="114" y="243"/>
                </a:lnTo>
                <a:lnTo>
                  <a:pt x="131" y="227"/>
                </a:lnTo>
                <a:lnTo>
                  <a:pt x="147" y="209"/>
                </a:lnTo>
                <a:lnTo>
                  <a:pt x="164" y="191"/>
                </a:lnTo>
                <a:lnTo>
                  <a:pt x="180" y="172"/>
                </a:lnTo>
                <a:lnTo>
                  <a:pt x="196" y="153"/>
                </a:lnTo>
                <a:lnTo>
                  <a:pt x="213" y="134"/>
                </a:lnTo>
                <a:lnTo>
                  <a:pt x="229" y="115"/>
                </a:lnTo>
                <a:lnTo>
                  <a:pt x="246" y="97"/>
                </a:lnTo>
                <a:lnTo>
                  <a:pt x="262" y="80"/>
                </a:lnTo>
                <a:lnTo>
                  <a:pt x="278" y="63"/>
                </a:lnTo>
                <a:lnTo>
                  <a:pt x="295" y="48"/>
                </a:lnTo>
                <a:lnTo>
                  <a:pt x="311" y="35"/>
                </a:lnTo>
                <a:lnTo>
                  <a:pt x="327" y="23"/>
                </a:lnTo>
                <a:lnTo>
                  <a:pt x="344" y="14"/>
                </a:lnTo>
                <a:lnTo>
                  <a:pt x="360" y="6"/>
                </a:lnTo>
                <a:lnTo>
                  <a:pt x="377" y="2"/>
                </a:lnTo>
                <a:lnTo>
                  <a:pt x="393" y="0"/>
                </a:lnTo>
                <a:lnTo>
                  <a:pt x="393" y="29"/>
                </a:lnTo>
                <a:lnTo>
                  <a:pt x="377" y="30"/>
                </a:lnTo>
                <a:lnTo>
                  <a:pt x="360" y="35"/>
                </a:lnTo>
                <a:lnTo>
                  <a:pt x="344" y="42"/>
                </a:lnTo>
                <a:lnTo>
                  <a:pt x="327" y="51"/>
                </a:lnTo>
                <a:lnTo>
                  <a:pt x="311" y="63"/>
                </a:lnTo>
                <a:lnTo>
                  <a:pt x="295" y="76"/>
                </a:lnTo>
                <a:lnTo>
                  <a:pt x="278" y="91"/>
                </a:lnTo>
                <a:lnTo>
                  <a:pt x="262" y="108"/>
                </a:lnTo>
                <a:lnTo>
                  <a:pt x="246" y="125"/>
                </a:lnTo>
                <a:lnTo>
                  <a:pt x="229" y="144"/>
                </a:lnTo>
                <a:lnTo>
                  <a:pt x="213" y="162"/>
                </a:lnTo>
                <a:lnTo>
                  <a:pt x="196" y="181"/>
                </a:lnTo>
                <a:lnTo>
                  <a:pt x="180" y="200"/>
                </a:lnTo>
                <a:lnTo>
                  <a:pt x="164" y="219"/>
                </a:lnTo>
                <a:lnTo>
                  <a:pt x="147" y="238"/>
                </a:lnTo>
                <a:lnTo>
                  <a:pt x="131" y="255"/>
                </a:lnTo>
                <a:lnTo>
                  <a:pt x="114" y="271"/>
                </a:lnTo>
                <a:lnTo>
                  <a:pt x="98" y="286"/>
                </a:lnTo>
                <a:lnTo>
                  <a:pt x="82" y="300"/>
                </a:lnTo>
                <a:lnTo>
                  <a:pt x="65" y="312"/>
                </a:lnTo>
                <a:lnTo>
                  <a:pt x="49" y="321"/>
                </a:lnTo>
                <a:lnTo>
                  <a:pt x="33" y="328"/>
                </a:lnTo>
                <a:lnTo>
                  <a:pt x="16" y="333"/>
                </a:lnTo>
                <a:lnTo>
                  <a:pt x="0" y="334"/>
                </a:lnTo>
                <a:close/>
              </a:path>
            </a:pathLst>
          </a:custGeom>
          <a:solidFill>
            <a:srgbClr val="0E2A5C">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Freeform 31"/>
          <p:cNvSpPr/>
          <p:nvPr/>
        </p:nvSpPr>
        <p:spPr>
          <a:xfrm>
            <a:off x="2057400" y="2476500"/>
            <a:ext cx="3743325" cy="2705100"/>
          </a:xfrm>
          <a:custGeom>
            <a:avLst/>
            <a:gdLst/>
            <a:ahLst/>
            <a:cxnLst/>
            <a:rect l="l" t="t" r="r" b="b"/>
            <a:pathLst>
              <a:path w="393" h="284">
                <a:moveTo>
                  <a:pt x="0" y="267"/>
                </a:moveTo>
                <a:lnTo>
                  <a:pt x="16" y="266"/>
                </a:lnTo>
                <a:lnTo>
                  <a:pt x="33" y="262"/>
                </a:lnTo>
                <a:lnTo>
                  <a:pt x="49" y="256"/>
                </a:lnTo>
                <a:lnTo>
                  <a:pt x="65" y="247"/>
                </a:lnTo>
                <a:lnTo>
                  <a:pt x="82" y="237"/>
                </a:lnTo>
                <a:lnTo>
                  <a:pt x="98" y="226"/>
                </a:lnTo>
                <a:lnTo>
                  <a:pt x="114" y="212"/>
                </a:lnTo>
                <a:lnTo>
                  <a:pt x="131" y="198"/>
                </a:lnTo>
                <a:lnTo>
                  <a:pt x="147" y="183"/>
                </a:lnTo>
                <a:lnTo>
                  <a:pt x="164" y="167"/>
                </a:lnTo>
                <a:lnTo>
                  <a:pt x="180" y="150"/>
                </a:lnTo>
                <a:lnTo>
                  <a:pt x="196" y="134"/>
                </a:lnTo>
                <a:lnTo>
                  <a:pt x="213" y="117"/>
                </a:lnTo>
                <a:lnTo>
                  <a:pt x="229" y="101"/>
                </a:lnTo>
                <a:lnTo>
                  <a:pt x="246" y="85"/>
                </a:lnTo>
                <a:lnTo>
                  <a:pt x="262" y="70"/>
                </a:lnTo>
                <a:lnTo>
                  <a:pt x="278" y="55"/>
                </a:lnTo>
                <a:lnTo>
                  <a:pt x="295" y="42"/>
                </a:lnTo>
                <a:lnTo>
                  <a:pt x="311" y="30"/>
                </a:lnTo>
                <a:lnTo>
                  <a:pt x="327" y="20"/>
                </a:lnTo>
                <a:lnTo>
                  <a:pt x="344" y="12"/>
                </a:lnTo>
                <a:lnTo>
                  <a:pt x="360" y="6"/>
                </a:lnTo>
                <a:lnTo>
                  <a:pt x="377" y="2"/>
                </a:lnTo>
                <a:lnTo>
                  <a:pt x="393" y="0"/>
                </a:lnTo>
                <a:lnTo>
                  <a:pt x="393" y="17"/>
                </a:lnTo>
                <a:lnTo>
                  <a:pt x="377" y="18"/>
                </a:lnTo>
                <a:lnTo>
                  <a:pt x="360" y="22"/>
                </a:lnTo>
                <a:lnTo>
                  <a:pt x="344" y="28"/>
                </a:lnTo>
                <a:lnTo>
                  <a:pt x="327" y="37"/>
                </a:lnTo>
                <a:lnTo>
                  <a:pt x="311" y="47"/>
                </a:lnTo>
                <a:lnTo>
                  <a:pt x="295" y="59"/>
                </a:lnTo>
                <a:lnTo>
                  <a:pt x="278" y="72"/>
                </a:lnTo>
                <a:lnTo>
                  <a:pt x="262" y="86"/>
                </a:lnTo>
                <a:lnTo>
                  <a:pt x="246" y="101"/>
                </a:lnTo>
                <a:lnTo>
                  <a:pt x="229" y="117"/>
                </a:lnTo>
                <a:lnTo>
                  <a:pt x="213" y="134"/>
                </a:lnTo>
                <a:lnTo>
                  <a:pt x="196" y="150"/>
                </a:lnTo>
                <a:lnTo>
                  <a:pt x="180" y="167"/>
                </a:lnTo>
                <a:lnTo>
                  <a:pt x="164" y="183"/>
                </a:lnTo>
                <a:lnTo>
                  <a:pt x="147" y="199"/>
                </a:lnTo>
                <a:lnTo>
                  <a:pt x="131" y="214"/>
                </a:lnTo>
                <a:lnTo>
                  <a:pt x="114" y="229"/>
                </a:lnTo>
                <a:lnTo>
                  <a:pt x="98" y="242"/>
                </a:lnTo>
                <a:lnTo>
                  <a:pt x="82" y="254"/>
                </a:lnTo>
                <a:lnTo>
                  <a:pt x="65" y="264"/>
                </a:lnTo>
                <a:lnTo>
                  <a:pt x="49" y="272"/>
                </a:lnTo>
                <a:lnTo>
                  <a:pt x="33" y="278"/>
                </a:lnTo>
                <a:lnTo>
                  <a:pt x="16" y="282"/>
                </a:lnTo>
                <a:lnTo>
                  <a:pt x="0" y="284"/>
                </a:lnTo>
                <a:close/>
              </a:path>
            </a:pathLst>
          </a:custGeom>
          <a:solidFill>
            <a:srgbClr val="0E2A5C">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Freeform 32"/>
          <p:cNvSpPr/>
          <p:nvPr/>
        </p:nvSpPr>
        <p:spPr>
          <a:xfrm>
            <a:off x="2057400" y="2943225"/>
            <a:ext cx="3743325" cy="2362200"/>
          </a:xfrm>
          <a:custGeom>
            <a:avLst/>
            <a:gdLst/>
            <a:ahLst/>
            <a:cxnLst/>
            <a:rect l="l" t="t" r="r" b="b"/>
            <a:pathLst>
              <a:path w="393" h="248">
                <a:moveTo>
                  <a:pt x="0" y="235"/>
                </a:moveTo>
                <a:lnTo>
                  <a:pt x="16" y="233"/>
                </a:lnTo>
                <a:lnTo>
                  <a:pt x="33" y="230"/>
                </a:lnTo>
                <a:lnTo>
                  <a:pt x="49" y="225"/>
                </a:lnTo>
                <a:lnTo>
                  <a:pt x="65" y="217"/>
                </a:lnTo>
                <a:lnTo>
                  <a:pt x="82" y="208"/>
                </a:lnTo>
                <a:lnTo>
                  <a:pt x="98" y="198"/>
                </a:lnTo>
                <a:lnTo>
                  <a:pt x="114" y="186"/>
                </a:lnTo>
                <a:lnTo>
                  <a:pt x="131" y="174"/>
                </a:lnTo>
                <a:lnTo>
                  <a:pt x="147" y="160"/>
                </a:lnTo>
                <a:lnTo>
                  <a:pt x="164" y="146"/>
                </a:lnTo>
                <a:lnTo>
                  <a:pt x="180" y="132"/>
                </a:lnTo>
                <a:lnTo>
                  <a:pt x="196" y="117"/>
                </a:lnTo>
                <a:lnTo>
                  <a:pt x="213" y="103"/>
                </a:lnTo>
                <a:lnTo>
                  <a:pt x="229" y="88"/>
                </a:lnTo>
                <a:lnTo>
                  <a:pt x="246" y="74"/>
                </a:lnTo>
                <a:lnTo>
                  <a:pt x="262" y="61"/>
                </a:lnTo>
                <a:lnTo>
                  <a:pt x="278" y="48"/>
                </a:lnTo>
                <a:lnTo>
                  <a:pt x="295" y="37"/>
                </a:lnTo>
                <a:lnTo>
                  <a:pt x="311" y="26"/>
                </a:lnTo>
                <a:lnTo>
                  <a:pt x="327" y="18"/>
                </a:lnTo>
                <a:lnTo>
                  <a:pt x="344" y="10"/>
                </a:lnTo>
                <a:lnTo>
                  <a:pt x="360" y="5"/>
                </a:lnTo>
                <a:lnTo>
                  <a:pt x="377" y="1"/>
                </a:lnTo>
                <a:lnTo>
                  <a:pt x="393" y="0"/>
                </a:lnTo>
                <a:lnTo>
                  <a:pt x="393" y="13"/>
                </a:lnTo>
                <a:lnTo>
                  <a:pt x="377" y="15"/>
                </a:lnTo>
                <a:lnTo>
                  <a:pt x="360" y="18"/>
                </a:lnTo>
                <a:lnTo>
                  <a:pt x="344" y="23"/>
                </a:lnTo>
                <a:lnTo>
                  <a:pt x="327" y="31"/>
                </a:lnTo>
                <a:lnTo>
                  <a:pt x="311" y="40"/>
                </a:lnTo>
                <a:lnTo>
                  <a:pt x="295" y="50"/>
                </a:lnTo>
                <a:lnTo>
                  <a:pt x="278" y="62"/>
                </a:lnTo>
                <a:lnTo>
                  <a:pt x="262" y="74"/>
                </a:lnTo>
                <a:lnTo>
                  <a:pt x="246" y="88"/>
                </a:lnTo>
                <a:lnTo>
                  <a:pt x="229" y="102"/>
                </a:lnTo>
                <a:lnTo>
                  <a:pt x="213" y="116"/>
                </a:lnTo>
                <a:lnTo>
                  <a:pt x="196" y="131"/>
                </a:lnTo>
                <a:lnTo>
                  <a:pt x="180" y="145"/>
                </a:lnTo>
                <a:lnTo>
                  <a:pt x="164" y="160"/>
                </a:lnTo>
                <a:lnTo>
                  <a:pt x="147" y="174"/>
                </a:lnTo>
                <a:lnTo>
                  <a:pt x="131" y="187"/>
                </a:lnTo>
                <a:lnTo>
                  <a:pt x="114" y="200"/>
                </a:lnTo>
                <a:lnTo>
                  <a:pt x="98" y="211"/>
                </a:lnTo>
                <a:lnTo>
                  <a:pt x="82" y="221"/>
                </a:lnTo>
                <a:lnTo>
                  <a:pt x="65" y="230"/>
                </a:lnTo>
                <a:lnTo>
                  <a:pt x="49" y="238"/>
                </a:lnTo>
                <a:lnTo>
                  <a:pt x="33" y="243"/>
                </a:lnTo>
                <a:lnTo>
                  <a:pt x="16" y="247"/>
                </a:lnTo>
                <a:lnTo>
                  <a:pt x="0" y="248"/>
                </a:lnTo>
                <a:close/>
              </a:path>
            </a:pathLst>
          </a:custGeom>
          <a:solidFill>
            <a:srgbClr val="0E2A5C">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Freeform 33"/>
          <p:cNvSpPr/>
          <p:nvPr/>
        </p:nvSpPr>
        <p:spPr>
          <a:xfrm>
            <a:off x="2057400" y="3381375"/>
            <a:ext cx="3743325" cy="2047875"/>
          </a:xfrm>
          <a:custGeom>
            <a:avLst/>
            <a:gdLst/>
            <a:ahLst/>
            <a:cxnLst/>
            <a:rect l="l" t="t" r="r" b="b"/>
            <a:pathLst>
              <a:path w="393" h="215">
                <a:moveTo>
                  <a:pt x="0" y="202"/>
                </a:moveTo>
                <a:lnTo>
                  <a:pt x="16" y="201"/>
                </a:lnTo>
                <a:lnTo>
                  <a:pt x="33" y="198"/>
                </a:lnTo>
                <a:lnTo>
                  <a:pt x="49" y="193"/>
                </a:lnTo>
                <a:lnTo>
                  <a:pt x="65" y="187"/>
                </a:lnTo>
                <a:lnTo>
                  <a:pt x="82" y="179"/>
                </a:lnTo>
                <a:lnTo>
                  <a:pt x="98" y="170"/>
                </a:lnTo>
                <a:lnTo>
                  <a:pt x="114" y="160"/>
                </a:lnTo>
                <a:lnTo>
                  <a:pt x="131" y="149"/>
                </a:lnTo>
                <a:lnTo>
                  <a:pt x="147" y="138"/>
                </a:lnTo>
                <a:lnTo>
                  <a:pt x="164" y="126"/>
                </a:lnTo>
                <a:lnTo>
                  <a:pt x="180" y="113"/>
                </a:lnTo>
                <a:lnTo>
                  <a:pt x="196" y="101"/>
                </a:lnTo>
                <a:lnTo>
                  <a:pt x="213" y="88"/>
                </a:lnTo>
                <a:lnTo>
                  <a:pt x="229" y="76"/>
                </a:lnTo>
                <a:lnTo>
                  <a:pt x="246" y="64"/>
                </a:lnTo>
                <a:lnTo>
                  <a:pt x="262" y="52"/>
                </a:lnTo>
                <a:lnTo>
                  <a:pt x="278" y="41"/>
                </a:lnTo>
                <a:lnTo>
                  <a:pt x="295" y="31"/>
                </a:lnTo>
                <a:lnTo>
                  <a:pt x="311" y="22"/>
                </a:lnTo>
                <a:lnTo>
                  <a:pt x="327" y="15"/>
                </a:lnTo>
                <a:lnTo>
                  <a:pt x="344" y="8"/>
                </a:lnTo>
                <a:lnTo>
                  <a:pt x="360" y="4"/>
                </a:lnTo>
                <a:lnTo>
                  <a:pt x="377" y="1"/>
                </a:lnTo>
                <a:lnTo>
                  <a:pt x="393" y="0"/>
                </a:lnTo>
                <a:lnTo>
                  <a:pt x="393" y="13"/>
                </a:lnTo>
                <a:lnTo>
                  <a:pt x="377" y="14"/>
                </a:lnTo>
                <a:lnTo>
                  <a:pt x="360" y="17"/>
                </a:lnTo>
                <a:lnTo>
                  <a:pt x="344" y="21"/>
                </a:lnTo>
                <a:lnTo>
                  <a:pt x="327" y="28"/>
                </a:lnTo>
                <a:lnTo>
                  <a:pt x="311" y="35"/>
                </a:lnTo>
                <a:lnTo>
                  <a:pt x="295" y="44"/>
                </a:lnTo>
                <a:lnTo>
                  <a:pt x="278" y="54"/>
                </a:lnTo>
                <a:lnTo>
                  <a:pt x="262" y="65"/>
                </a:lnTo>
                <a:lnTo>
                  <a:pt x="246" y="77"/>
                </a:lnTo>
                <a:lnTo>
                  <a:pt x="229" y="89"/>
                </a:lnTo>
                <a:lnTo>
                  <a:pt x="213" y="101"/>
                </a:lnTo>
                <a:lnTo>
                  <a:pt x="196" y="114"/>
                </a:lnTo>
                <a:lnTo>
                  <a:pt x="180" y="126"/>
                </a:lnTo>
                <a:lnTo>
                  <a:pt x="164" y="139"/>
                </a:lnTo>
                <a:lnTo>
                  <a:pt x="147" y="151"/>
                </a:lnTo>
                <a:lnTo>
                  <a:pt x="131" y="163"/>
                </a:lnTo>
                <a:lnTo>
                  <a:pt x="114" y="173"/>
                </a:lnTo>
                <a:lnTo>
                  <a:pt x="98" y="183"/>
                </a:lnTo>
                <a:lnTo>
                  <a:pt x="82" y="192"/>
                </a:lnTo>
                <a:lnTo>
                  <a:pt x="65" y="200"/>
                </a:lnTo>
                <a:lnTo>
                  <a:pt x="49" y="206"/>
                </a:lnTo>
                <a:lnTo>
                  <a:pt x="33" y="211"/>
                </a:lnTo>
                <a:lnTo>
                  <a:pt x="16" y="214"/>
                </a:lnTo>
                <a:lnTo>
                  <a:pt x="0" y="215"/>
                </a:lnTo>
                <a:close/>
              </a:path>
            </a:pathLst>
          </a:custGeom>
          <a:solidFill>
            <a:srgbClr val="0E2A5C">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Freeform 34"/>
          <p:cNvSpPr/>
          <p:nvPr/>
        </p:nvSpPr>
        <p:spPr>
          <a:xfrm>
            <a:off x="2057400" y="3810000"/>
            <a:ext cx="3743325" cy="1743075"/>
          </a:xfrm>
          <a:custGeom>
            <a:avLst/>
            <a:gdLst/>
            <a:ahLst/>
            <a:cxnLst/>
            <a:rect l="l" t="t" r="r" b="b"/>
            <a:pathLst>
              <a:path w="393" h="183">
                <a:moveTo>
                  <a:pt x="0" y="170"/>
                </a:moveTo>
                <a:lnTo>
                  <a:pt x="16" y="169"/>
                </a:lnTo>
                <a:lnTo>
                  <a:pt x="33" y="167"/>
                </a:lnTo>
                <a:lnTo>
                  <a:pt x="49" y="163"/>
                </a:lnTo>
                <a:lnTo>
                  <a:pt x="65" y="157"/>
                </a:lnTo>
                <a:lnTo>
                  <a:pt x="82" y="151"/>
                </a:lnTo>
                <a:lnTo>
                  <a:pt x="98" y="143"/>
                </a:lnTo>
                <a:lnTo>
                  <a:pt x="114" y="135"/>
                </a:lnTo>
                <a:lnTo>
                  <a:pt x="131" y="126"/>
                </a:lnTo>
                <a:lnTo>
                  <a:pt x="147" y="116"/>
                </a:lnTo>
                <a:lnTo>
                  <a:pt x="164" y="106"/>
                </a:lnTo>
                <a:lnTo>
                  <a:pt x="180" y="96"/>
                </a:lnTo>
                <a:lnTo>
                  <a:pt x="196" y="85"/>
                </a:lnTo>
                <a:lnTo>
                  <a:pt x="213" y="74"/>
                </a:lnTo>
                <a:lnTo>
                  <a:pt x="229" y="64"/>
                </a:lnTo>
                <a:lnTo>
                  <a:pt x="246" y="54"/>
                </a:lnTo>
                <a:lnTo>
                  <a:pt x="262" y="44"/>
                </a:lnTo>
                <a:lnTo>
                  <a:pt x="278" y="35"/>
                </a:lnTo>
                <a:lnTo>
                  <a:pt x="295" y="27"/>
                </a:lnTo>
                <a:lnTo>
                  <a:pt x="311" y="19"/>
                </a:lnTo>
                <a:lnTo>
                  <a:pt x="327" y="13"/>
                </a:lnTo>
                <a:lnTo>
                  <a:pt x="344" y="7"/>
                </a:lnTo>
                <a:lnTo>
                  <a:pt x="360" y="3"/>
                </a:lnTo>
                <a:lnTo>
                  <a:pt x="377" y="1"/>
                </a:lnTo>
                <a:lnTo>
                  <a:pt x="393" y="0"/>
                </a:lnTo>
                <a:lnTo>
                  <a:pt x="393" y="13"/>
                </a:lnTo>
                <a:lnTo>
                  <a:pt x="377" y="14"/>
                </a:lnTo>
                <a:lnTo>
                  <a:pt x="360" y="17"/>
                </a:lnTo>
                <a:lnTo>
                  <a:pt x="344" y="21"/>
                </a:lnTo>
                <a:lnTo>
                  <a:pt x="327" y="26"/>
                </a:lnTo>
                <a:lnTo>
                  <a:pt x="311" y="32"/>
                </a:lnTo>
                <a:lnTo>
                  <a:pt x="295" y="40"/>
                </a:lnTo>
                <a:lnTo>
                  <a:pt x="278" y="48"/>
                </a:lnTo>
                <a:lnTo>
                  <a:pt x="262" y="57"/>
                </a:lnTo>
                <a:lnTo>
                  <a:pt x="246" y="67"/>
                </a:lnTo>
                <a:lnTo>
                  <a:pt x="229" y="77"/>
                </a:lnTo>
                <a:lnTo>
                  <a:pt x="213" y="88"/>
                </a:lnTo>
                <a:lnTo>
                  <a:pt x="196" y="98"/>
                </a:lnTo>
                <a:lnTo>
                  <a:pt x="180" y="109"/>
                </a:lnTo>
                <a:lnTo>
                  <a:pt x="164" y="119"/>
                </a:lnTo>
                <a:lnTo>
                  <a:pt x="147" y="129"/>
                </a:lnTo>
                <a:lnTo>
                  <a:pt x="131" y="139"/>
                </a:lnTo>
                <a:lnTo>
                  <a:pt x="114" y="148"/>
                </a:lnTo>
                <a:lnTo>
                  <a:pt x="98" y="157"/>
                </a:lnTo>
                <a:lnTo>
                  <a:pt x="82" y="164"/>
                </a:lnTo>
                <a:lnTo>
                  <a:pt x="65" y="171"/>
                </a:lnTo>
                <a:lnTo>
                  <a:pt x="49" y="176"/>
                </a:lnTo>
                <a:lnTo>
                  <a:pt x="33" y="180"/>
                </a:lnTo>
                <a:lnTo>
                  <a:pt x="16" y="182"/>
                </a:lnTo>
                <a:lnTo>
                  <a:pt x="0" y="183"/>
                </a:lnTo>
                <a:close/>
              </a:path>
            </a:pathLst>
          </a:custGeom>
          <a:solidFill>
            <a:srgbClr val="0E2A5C">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Freeform 35"/>
          <p:cNvSpPr/>
          <p:nvPr/>
        </p:nvSpPr>
        <p:spPr>
          <a:xfrm>
            <a:off x="2057400" y="4248150"/>
            <a:ext cx="3743325" cy="1428750"/>
          </a:xfrm>
          <a:custGeom>
            <a:avLst/>
            <a:gdLst/>
            <a:ahLst/>
            <a:cxnLst/>
            <a:rect l="l" t="t" r="r" b="b"/>
            <a:pathLst>
              <a:path w="393" h="150">
                <a:moveTo>
                  <a:pt x="0" y="137"/>
                </a:moveTo>
                <a:lnTo>
                  <a:pt x="16" y="136"/>
                </a:lnTo>
                <a:lnTo>
                  <a:pt x="33" y="134"/>
                </a:lnTo>
                <a:lnTo>
                  <a:pt x="49" y="131"/>
                </a:lnTo>
                <a:lnTo>
                  <a:pt x="65" y="127"/>
                </a:lnTo>
                <a:lnTo>
                  <a:pt x="82" y="122"/>
                </a:lnTo>
                <a:lnTo>
                  <a:pt x="98" y="116"/>
                </a:lnTo>
                <a:lnTo>
                  <a:pt x="114" y="109"/>
                </a:lnTo>
                <a:lnTo>
                  <a:pt x="131" y="101"/>
                </a:lnTo>
                <a:lnTo>
                  <a:pt x="147" y="94"/>
                </a:lnTo>
                <a:lnTo>
                  <a:pt x="164" y="85"/>
                </a:lnTo>
                <a:lnTo>
                  <a:pt x="180" y="77"/>
                </a:lnTo>
                <a:lnTo>
                  <a:pt x="196" y="68"/>
                </a:lnTo>
                <a:lnTo>
                  <a:pt x="213" y="60"/>
                </a:lnTo>
                <a:lnTo>
                  <a:pt x="229" y="51"/>
                </a:lnTo>
                <a:lnTo>
                  <a:pt x="246" y="43"/>
                </a:lnTo>
                <a:lnTo>
                  <a:pt x="262" y="35"/>
                </a:lnTo>
                <a:lnTo>
                  <a:pt x="278" y="28"/>
                </a:lnTo>
                <a:lnTo>
                  <a:pt x="295" y="21"/>
                </a:lnTo>
                <a:lnTo>
                  <a:pt x="311" y="15"/>
                </a:lnTo>
                <a:lnTo>
                  <a:pt x="327" y="10"/>
                </a:lnTo>
                <a:lnTo>
                  <a:pt x="344" y="5"/>
                </a:lnTo>
                <a:lnTo>
                  <a:pt x="360" y="2"/>
                </a:lnTo>
                <a:lnTo>
                  <a:pt x="377" y="0"/>
                </a:lnTo>
                <a:lnTo>
                  <a:pt x="393" y="0"/>
                </a:lnTo>
                <a:lnTo>
                  <a:pt x="393" y="13"/>
                </a:lnTo>
                <a:lnTo>
                  <a:pt x="377" y="13"/>
                </a:lnTo>
                <a:lnTo>
                  <a:pt x="360" y="15"/>
                </a:lnTo>
                <a:lnTo>
                  <a:pt x="344" y="19"/>
                </a:lnTo>
                <a:lnTo>
                  <a:pt x="327" y="23"/>
                </a:lnTo>
                <a:lnTo>
                  <a:pt x="311" y="28"/>
                </a:lnTo>
                <a:lnTo>
                  <a:pt x="295" y="34"/>
                </a:lnTo>
                <a:lnTo>
                  <a:pt x="278" y="41"/>
                </a:lnTo>
                <a:lnTo>
                  <a:pt x="262" y="48"/>
                </a:lnTo>
                <a:lnTo>
                  <a:pt x="246" y="56"/>
                </a:lnTo>
                <a:lnTo>
                  <a:pt x="229" y="64"/>
                </a:lnTo>
                <a:lnTo>
                  <a:pt x="213" y="73"/>
                </a:lnTo>
                <a:lnTo>
                  <a:pt x="196" y="81"/>
                </a:lnTo>
                <a:lnTo>
                  <a:pt x="180" y="90"/>
                </a:lnTo>
                <a:lnTo>
                  <a:pt x="164" y="99"/>
                </a:lnTo>
                <a:lnTo>
                  <a:pt x="147" y="107"/>
                </a:lnTo>
                <a:lnTo>
                  <a:pt x="131" y="115"/>
                </a:lnTo>
                <a:lnTo>
                  <a:pt x="114" y="122"/>
                </a:lnTo>
                <a:lnTo>
                  <a:pt x="98" y="129"/>
                </a:lnTo>
                <a:lnTo>
                  <a:pt x="82" y="135"/>
                </a:lnTo>
                <a:lnTo>
                  <a:pt x="65" y="140"/>
                </a:lnTo>
                <a:lnTo>
                  <a:pt x="49" y="144"/>
                </a:lnTo>
                <a:lnTo>
                  <a:pt x="33" y="148"/>
                </a:lnTo>
                <a:lnTo>
                  <a:pt x="16" y="150"/>
                </a:lnTo>
                <a:lnTo>
                  <a:pt x="0" y="150"/>
                </a:lnTo>
                <a:close/>
              </a:path>
            </a:pathLst>
          </a:custGeom>
          <a:solidFill>
            <a:srgbClr val="0E2A5C">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Freeform 36"/>
          <p:cNvSpPr/>
          <p:nvPr/>
        </p:nvSpPr>
        <p:spPr>
          <a:xfrm>
            <a:off x="2057400" y="4676775"/>
            <a:ext cx="3743325" cy="1123950"/>
          </a:xfrm>
          <a:custGeom>
            <a:avLst/>
            <a:gdLst/>
            <a:ahLst/>
            <a:cxnLst/>
            <a:rect l="l" t="t" r="r" b="b"/>
            <a:pathLst>
              <a:path w="393" h="118">
                <a:moveTo>
                  <a:pt x="0" y="105"/>
                </a:moveTo>
                <a:lnTo>
                  <a:pt x="16" y="105"/>
                </a:lnTo>
                <a:lnTo>
                  <a:pt x="33" y="103"/>
                </a:lnTo>
                <a:lnTo>
                  <a:pt x="49" y="101"/>
                </a:lnTo>
                <a:lnTo>
                  <a:pt x="65" y="97"/>
                </a:lnTo>
                <a:lnTo>
                  <a:pt x="82" y="93"/>
                </a:lnTo>
                <a:lnTo>
                  <a:pt x="98" y="89"/>
                </a:lnTo>
                <a:lnTo>
                  <a:pt x="114" y="84"/>
                </a:lnTo>
                <a:lnTo>
                  <a:pt x="131" y="78"/>
                </a:lnTo>
                <a:lnTo>
                  <a:pt x="147" y="72"/>
                </a:lnTo>
                <a:lnTo>
                  <a:pt x="164" y="66"/>
                </a:lnTo>
                <a:lnTo>
                  <a:pt x="180" y="59"/>
                </a:lnTo>
                <a:lnTo>
                  <a:pt x="196" y="53"/>
                </a:lnTo>
                <a:lnTo>
                  <a:pt x="213" y="46"/>
                </a:lnTo>
                <a:lnTo>
                  <a:pt x="229" y="40"/>
                </a:lnTo>
                <a:lnTo>
                  <a:pt x="246" y="33"/>
                </a:lnTo>
                <a:lnTo>
                  <a:pt x="262" y="27"/>
                </a:lnTo>
                <a:lnTo>
                  <a:pt x="278" y="22"/>
                </a:lnTo>
                <a:lnTo>
                  <a:pt x="295" y="16"/>
                </a:lnTo>
                <a:lnTo>
                  <a:pt x="311" y="12"/>
                </a:lnTo>
                <a:lnTo>
                  <a:pt x="327" y="8"/>
                </a:lnTo>
                <a:lnTo>
                  <a:pt x="344" y="5"/>
                </a:lnTo>
                <a:lnTo>
                  <a:pt x="360" y="2"/>
                </a:lnTo>
                <a:lnTo>
                  <a:pt x="377" y="1"/>
                </a:lnTo>
                <a:lnTo>
                  <a:pt x="393" y="0"/>
                </a:lnTo>
                <a:lnTo>
                  <a:pt x="393" y="13"/>
                </a:lnTo>
                <a:lnTo>
                  <a:pt x="377" y="14"/>
                </a:lnTo>
                <a:lnTo>
                  <a:pt x="360" y="15"/>
                </a:lnTo>
                <a:lnTo>
                  <a:pt x="344" y="18"/>
                </a:lnTo>
                <a:lnTo>
                  <a:pt x="327" y="21"/>
                </a:lnTo>
                <a:lnTo>
                  <a:pt x="311" y="25"/>
                </a:lnTo>
                <a:lnTo>
                  <a:pt x="295" y="30"/>
                </a:lnTo>
                <a:lnTo>
                  <a:pt x="278" y="35"/>
                </a:lnTo>
                <a:lnTo>
                  <a:pt x="262" y="40"/>
                </a:lnTo>
                <a:lnTo>
                  <a:pt x="246" y="46"/>
                </a:lnTo>
                <a:lnTo>
                  <a:pt x="229" y="53"/>
                </a:lnTo>
                <a:lnTo>
                  <a:pt x="213" y="59"/>
                </a:lnTo>
                <a:lnTo>
                  <a:pt x="196" y="66"/>
                </a:lnTo>
                <a:lnTo>
                  <a:pt x="180" y="72"/>
                </a:lnTo>
                <a:lnTo>
                  <a:pt x="164" y="79"/>
                </a:lnTo>
                <a:lnTo>
                  <a:pt x="147" y="85"/>
                </a:lnTo>
                <a:lnTo>
                  <a:pt x="131" y="91"/>
                </a:lnTo>
                <a:lnTo>
                  <a:pt x="114" y="97"/>
                </a:lnTo>
                <a:lnTo>
                  <a:pt x="98" y="102"/>
                </a:lnTo>
                <a:lnTo>
                  <a:pt x="82" y="107"/>
                </a:lnTo>
                <a:lnTo>
                  <a:pt x="65" y="111"/>
                </a:lnTo>
                <a:lnTo>
                  <a:pt x="49" y="114"/>
                </a:lnTo>
                <a:lnTo>
                  <a:pt x="33" y="116"/>
                </a:lnTo>
                <a:lnTo>
                  <a:pt x="16" y="118"/>
                </a:lnTo>
                <a:lnTo>
                  <a:pt x="0" y="118"/>
                </a:lnTo>
                <a:close/>
              </a:path>
            </a:pathLst>
          </a:custGeom>
          <a:solidFill>
            <a:srgbClr val="0E2A5C">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Freeform 37"/>
          <p:cNvSpPr/>
          <p:nvPr/>
        </p:nvSpPr>
        <p:spPr>
          <a:xfrm>
            <a:off x="2057400" y="5105400"/>
            <a:ext cx="3743325" cy="828675"/>
          </a:xfrm>
          <a:custGeom>
            <a:avLst/>
            <a:gdLst/>
            <a:ahLst/>
            <a:cxnLst/>
            <a:rect l="l" t="t" r="r" b="b"/>
            <a:pathLst>
              <a:path w="393" h="87">
                <a:moveTo>
                  <a:pt x="0" y="73"/>
                </a:moveTo>
                <a:lnTo>
                  <a:pt x="16" y="73"/>
                </a:lnTo>
                <a:lnTo>
                  <a:pt x="33" y="72"/>
                </a:lnTo>
                <a:lnTo>
                  <a:pt x="49" y="70"/>
                </a:lnTo>
                <a:lnTo>
                  <a:pt x="65" y="68"/>
                </a:lnTo>
                <a:lnTo>
                  <a:pt x="82" y="65"/>
                </a:lnTo>
                <a:lnTo>
                  <a:pt x="98" y="62"/>
                </a:lnTo>
                <a:lnTo>
                  <a:pt x="114" y="58"/>
                </a:lnTo>
                <a:lnTo>
                  <a:pt x="131" y="54"/>
                </a:lnTo>
                <a:lnTo>
                  <a:pt x="147" y="50"/>
                </a:lnTo>
                <a:lnTo>
                  <a:pt x="164" y="46"/>
                </a:lnTo>
                <a:lnTo>
                  <a:pt x="180" y="41"/>
                </a:lnTo>
                <a:lnTo>
                  <a:pt x="196" y="37"/>
                </a:lnTo>
                <a:lnTo>
                  <a:pt x="213" y="32"/>
                </a:lnTo>
                <a:lnTo>
                  <a:pt x="229" y="28"/>
                </a:lnTo>
                <a:lnTo>
                  <a:pt x="246" y="24"/>
                </a:lnTo>
                <a:lnTo>
                  <a:pt x="262" y="19"/>
                </a:lnTo>
                <a:lnTo>
                  <a:pt x="278" y="15"/>
                </a:lnTo>
                <a:lnTo>
                  <a:pt x="295" y="12"/>
                </a:lnTo>
                <a:lnTo>
                  <a:pt x="311" y="9"/>
                </a:lnTo>
                <a:lnTo>
                  <a:pt x="327" y="6"/>
                </a:lnTo>
                <a:lnTo>
                  <a:pt x="344" y="4"/>
                </a:lnTo>
                <a:lnTo>
                  <a:pt x="360" y="2"/>
                </a:lnTo>
                <a:lnTo>
                  <a:pt x="377" y="1"/>
                </a:lnTo>
                <a:lnTo>
                  <a:pt x="393" y="0"/>
                </a:lnTo>
                <a:lnTo>
                  <a:pt x="393" y="14"/>
                </a:lnTo>
                <a:lnTo>
                  <a:pt x="377" y="14"/>
                </a:lnTo>
                <a:lnTo>
                  <a:pt x="360" y="15"/>
                </a:lnTo>
                <a:lnTo>
                  <a:pt x="344" y="17"/>
                </a:lnTo>
                <a:lnTo>
                  <a:pt x="327" y="19"/>
                </a:lnTo>
                <a:lnTo>
                  <a:pt x="311" y="22"/>
                </a:lnTo>
                <a:lnTo>
                  <a:pt x="295" y="25"/>
                </a:lnTo>
                <a:lnTo>
                  <a:pt x="278" y="29"/>
                </a:lnTo>
                <a:lnTo>
                  <a:pt x="262" y="33"/>
                </a:lnTo>
                <a:lnTo>
                  <a:pt x="246" y="37"/>
                </a:lnTo>
                <a:lnTo>
                  <a:pt x="229" y="41"/>
                </a:lnTo>
                <a:lnTo>
                  <a:pt x="213" y="46"/>
                </a:lnTo>
                <a:lnTo>
                  <a:pt x="196" y="50"/>
                </a:lnTo>
                <a:lnTo>
                  <a:pt x="180" y="55"/>
                </a:lnTo>
                <a:lnTo>
                  <a:pt x="164" y="59"/>
                </a:lnTo>
                <a:lnTo>
                  <a:pt x="147" y="63"/>
                </a:lnTo>
                <a:lnTo>
                  <a:pt x="131" y="68"/>
                </a:lnTo>
                <a:lnTo>
                  <a:pt x="114" y="72"/>
                </a:lnTo>
                <a:lnTo>
                  <a:pt x="98" y="75"/>
                </a:lnTo>
                <a:lnTo>
                  <a:pt x="82" y="78"/>
                </a:lnTo>
                <a:lnTo>
                  <a:pt x="65" y="81"/>
                </a:lnTo>
                <a:lnTo>
                  <a:pt x="49" y="83"/>
                </a:lnTo>
                <a:lnTo>
                  <a:pt x="33" y="85"/>
                </a:lnTo>
                <a:lnTo>
                  <a:pt x="16" y="86"/>
                </a:lnTo>
                <a:lnTo>
                  <a:pt x="0" y="87"/>
                </a:lnTo>
                <a:close/>
              </a:path>
            </a:pathLst>
          </a:custGeom>
          <a:solidFill>
            <a:srgbClr val="0E2A5C">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Freeform 38"/>
          <p:cNvSpPr/>
          <p:nvPr/>
        </p:nvSpPr>
        <p:spPr>
          <a:xfrm>
            <a:off x="2057400" y="5543550"/>
            <a:ext cx="3743325" cy="514350"/>
          </a:xfrm>
          <a:custGeom>
            <a:avLst/>
            <a:gdLst/>
            <a:ahLst/>
            <a:cxnLst/>
            <a:rect l="l" t="t" r="r" b="b"/>
            <a:pathLst>
              <a:path w="393" h="54">
                <a:moveTo>
                  <a:pt x="0" y="41"/>
                </a:moveTo>
                <a:lnTo>
                  <a:pt x="16" y="40"/>
                </a:lnTo>
                <a:lnTo>
                  <a:pt x="33" y="40"/>
                </a:lnTo>
                <a:lnTo>
                  <a:pt x="49" y="39"/>
                </a:lnTo>
                <a:lnTo>
                  <a:pt x="65" y="38"/>
                </a:lnTo>
                <a:lnTo>
                  <a:pt x="82" y="36"/>
                </a:lnTo>
                <a:lnTo>
                  <a:pt x="98" y="34"/>
                </a:lnTo>
                <a:lnTo>
                  <a:pt x="114" y="32"/>
                </a:lnTo>
                <a:lnTo>
                  <a:pt x="131" y="30"/>
                </a:lnTo>
                <a:lnTo>
                  <a:pt x="147" y="28"/>
                </a:lnTo>
                <a:lnTo>
                  <a:pt x="164" y="25"/>
                </a:lnTo>
                <a:lnTo>
                  <a:pt x="180" y="23"/>
                </a:lnTo>
                <a:lnTo>
                  <a:pt x="196" y="20"/>
                </a:lnTo>
                <a:lnTo>
                  <a:pt x="213" y="18"/>
                </a:lnTo>
                <a:lnTo>
                  <a:pt x="229" y="15"/>
                </a:lnTo>
                <a:lnTo>
                  <a:pt x="246" y="13"/>
                </a:lnTo>
                <a:lnTo>
                  <a:pt x="262" y="10"/>
                </a:lnTo>
                <a:lnTo>
                  <a:pt x="278" y="8"/>
                </a:lnTo>
                <a:lnTo>
                  <a:pt x="295" y="6"/>
                </a:lnTo>
                <a:lnTo>
                  <a:pt x="311" y="4"/>
                </a:lnTo>
                <a:lnTo>
                  <a:pt x="327" y="3"/>
                </a:lnTo>
                <a:lnTo>
                  <a:pt x="344" y="2"/>
                </a:lnTo>
                <a:lnTo>
                  <a:pt x="360" y="1"/>
                </a:lnTo>
                <a:lnTo>
                  <a:pt x="377" y="0"/>
                </a:lnTo>
                <a:lnTo>
                  <a:pt x="393" y="0"/>
                </a:lnTo>
                <a:lnTo>
                  <a:pt x="393" y="13"/>
                </a:lnTo>
                <a:lnTo>
                  <a:pt x="377" y="13"/>
                </a:lnTo>
                <a:lnTo>
                  <a:pt x="360" y="14"/>
                </a:lnTo>
                <a:lnTo>
                  <a:pt x="344" y="15"/>
                </a:lnTo>
                <a:lnTo>
                  <a:pt x="327" y="16"/>
                </a:lnTo>
                <a:lnTo>
                  <a:pt x="311" y="18"/>
                </a:lnTo>
                <a:lnTo>
                  <a:pt x="295" y="19"/>
                </a:lnTo>
                <a:lnTo>
                  <a:pt x="278" y="21"/>
                </a:lnTo>
                <a:lnTo>
                  <a:pt x="262" y="24"/>
                </a:lnTo>
                <a:lnTo>
                  <a:pt x="246" y="26"/>
                </a:lnTo>
                <a:lnTo>
                  <a:pt x="229" y="28"/>
                </a:lnTo>
                <a:lnTo>
                  <a:pt x="213" y="31"/>
                </a:lnTo>
                <a:lnTo>
                  <a:pt x="196" y="33"/>
                </a:lnTo>
                <a:lnTo>
                  <a:pt x="180" y="36"/>
                </a:lnTo>
                <a:lnTo>
                  <a:pt x="164" y="38"/>
                </a:lnTo>
                <a:lnTo>
                  <a:pt x="147" y="41"/>
                </a:lnTo>
                <a:lnTo>
                  <a:pt x="131" y="43"/>
                </a:lnTo>
                <a:lnTo>
                  <a:pt x="114" y="45"/>
                </a:lnTo>
                <a:lnTo>
                  <a:pt x="98" y="47"/>
                </a:lnTo>
                <a:lnTo>
                  <a:pt x="82" y="49"/>
                </a:lnTo>
                <a:lnTo>
                  <a:pt x="65" y="51"/>
                </a:lnTo>
                <a:lnTo>
                  <a:pt x="49" y="52"/>
                </a:lnTo>
                <a:lnTo>
                  <a:pt x="33" y="53"/>
                </a:lnTo>
                <a:lnTo>
                  <a:pt x="16" y="53"/>
                </a:lnTo>
                <a:lnTo>
                  <a:pt x="0" y="54"/>
                </a:lnTo>
                <a:close/>
              </a:path>
            </a:pathLst>
          </a:custGeom>
          <a:solidFill>
            <a:srgbClr val="0E2A5C">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Freeform 39"/>
          <p:cNvSpPr/>
          <p:nvPr/>
        </p:nvSpPr>
        <p:spPr>
          <a:xfrm>
            <a:off x="2057400" y="5972175"/>
            <a:ext cx="3743325" cy="209550"/>
          </a:xfrm>
          <a:custGeom>
            <a:avLst/>
            <a:gdLst/>
            <a:ahLst/>
            <a:cxnLst/>
            <a:rect l="l" t="t" r="r" b="b"/>
            <a:pathLst>
              <a:path w="393" h="22">
                <a:moveTo>
                  <a:pt x="0" y="9"/>
                </a:moveTo>
                <a:lnTo>
                  <a:pt x="16" y="9"/>
                </a:lnTo>
                <a:lnTo>
                  <a:pt x="33" y="9"/>
                </a:lnTo>
                <a:lnTo>
                  <a:pt x="49" y="8"/>
                </a:lnTo>
                <a:lnTo>
                  <a:pt x="65" y="8"/>
                </a:lnTo>
                <a:lnTo>
                  <a:pt x="82" y="8"/>
                </a:lnTo>
                <a:lnTo>
                  <a:pt x="98" y="7"/>
                </a:lnTo>
                <a:lnTo>
                  <a:pt x="114" y="7"/>
                </a:lnTo>
                <a:lnTo>
                  <a:pt x="131" y="7"/>
                </a:lnTo>
                <a:lnTo>
                  <a:pt x="147" y="6"/>
                </a:lnTo>
                <a:lnTo>
                  <a:pt x="164" y="6"/>
                </a:lnTo>
                <a:lnTo>
                  <a:pt x="180" y="5"/>
                </a:lnTo>
                <a:lnTo>
                  <a:pt x="196" y="5"/>
                </a:lnTo>
                <a:lnTo>
                  <a:pt x="213" y="4"/>
                </a:lnTo>
                <a:lnTo>
                  <a:pt x="229" y="4"/>
                </a:lnTo>
                <a:lnTo>
                  <a:pt x="246" y="3"/>
                </a:lnTo>
                <a:lnTo>
                  <a:pt x="262" y="3"/>
                </a:lnTo>
                <a:lnTo>
                  <a:pt x="278" y="2"/>
                </a:lnTo>
                <a:lnTo>
                  <a:pt x="295" y="2"/>
                </a:lnTo>
                <a:lnTo>
                  <a:pt x="311" y="1"/>
                </a:lnTo>
                <a:lnTo>
                  <a:pt x="327" y="1"/>
                </a:lnTo>
                <a:lnTo>
                  <a:pt x="344" y="1"/>
                </a:lnTo>
                <a:lnTo>
                  <a:pt x="360" y="1"/>
                </a:lnTo>
                <a:lnTo>
                  <a:pt x="377" y="0"/>
                </a:lnTo>
                <a:lnTo>
                  <a:pt x="393" y="0"/>
                </a:lnTo>
                <a:lnTo>
                  <a:pt x="393" y="14"/>
                </a:lnTo>
                <a:lnTo>
                  <a:pt x="377" y="14"/>
                </a:lnTo>
                <a:lnTo>
                  <a:pt x="360" y="14"/>
                </a:lnTo>
                <a:lnTo>
                  <a:pt x="344" y="14"/>
                </a:lnTo>
                <a:lnTo>
                  <a:pt x="327" y="14"/>
                </a:lnTo>
                <a:lnTo>
                  <a:pt x="311" y="14"/>
                </a:lnTo>
                <a:lnTo>
                  <a:pt x="295" y="15"/>
                </a:lnTo>
                <a:lnTo>
                  <a:pt x="278" y="15"/>
                </a:lnTo>
                <a:lnTo>
                  <a:pt x="262" y="16"/>
                </a:lnTo>
                <a:lnTo>
                  <a:pt x="246" y="16"/>
                </a:lnTo>
                <a:lnTo>
                  <a:pt x="229" y="17"/>
                </a:lnTo>
                <a:lnTo>
                  <a:pt x="213" y="17"/>
                </a:lnTo>
                <a:lnTo>
                  <a:pt x="196" y="18"/>
                </a:lnTo>
                <a:lnTo>
                  <a:pt x="180" y="18"/>
                </a:lnTo>
                <a:lnTo>
                  <a:pt x="164" y="19"/>
                </a:lnTo>
                <a:lnTo>
                  <a:pt x="147" y="19"/>
                </a:lnTo>
                <a:lnTo>
                  <a:pt x="131" y="20"/>
                </a:lnTo>
                <a:lnTo>
                  <a:pt x="114" y="20"/>
                </a:lnTo>
                <a:lnTo>
                  <a:pt x="98" y="21"/>
                </a:lnTo>
                <a:lnTo>
                  <a:pt x="82" y="21"/>
                </a:lnTo>
                <a:lnTo>
                  <a:pt x="65" y="21"/>
                </a:lnTo>
                <a:lnTo>
                  <a:pt x="49" y="21"/>
                </a:lnTo>
                <a:lnTo>
                  <a:pt x="33" y="22"/>
                </a:lnTo>
                <a:lnTo>
                  <a:pt x="16" y="22"/>
                </a:lnTo>
                <a:lnTo>
                  <a:pt x="0" y="22"/>
                </a:lnTo>
                <a:close/>
              </a:path>
            </a:pathLst>
          </a:custGeom>
          <a:solidFill>
            <a:srgbClr val="0E2A5C">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Freeform 40"/>
          <p:cNvSpPr/>
          <p:nvPr/>
        </p:nvSpPr>
        <p:spPr>
          <a:xfrm>
            <a:off x="2057400" y="6181725"/>
            <a:ext cx="3743325" cy="352425"/>
          </a:xfrm>
          <a:custGeom>
            <a:avLst/>
            <a:gdLst/>
            <a:ahLst/>
            <a:cxnLst/>
            <a:rect l="l" t="t" r="r" b="b"/>
            <a:pathLst>
              <a:path w="393" h="37">
                <a:moveTo>
                  <a:pt x="0" y="0"/>
                </a:moveTo>
                <a:lnTo>
                  <a:pt x="16" y="0"/>
                </a:lnTo>
                <a:lnTo>
                  <a:pt x="33" y="0"/>
                </a:lnTo>
                <a:lnTo>
                  <a:pt x="49" y="1"/>
                </a:lnTo>
                <a:lnTo>
                  <a:pt x="65" y="2"/>
                </a:lnTo>
                <a:lnTo>
                  <a:pt x="82" y="3"/>
                </a:lnTo>
                <a:lnTo>
                  <a:pt x="98" y="4"/>
                </a:lnTo>
                <a:lnTo>
                  <a:pt x="114" y="5"/>
                </a:lnTo>
                <a:lnTo>
                  <a:pt x="131" y="6"/>
                </a:lnTo>
                <a:lnTo>
                  <a:pt x="147" y="7"/>
                </a:lnTo>
                <a:lnTo>
                  <a:pt x="164" y="9"/>
                </a:lnTo>
                <a:lnTo>
                  <a:pt x="180" y="10"/>
                </a:lnTo>
                <a:lnTo>
                  <a:pt x="196" y="12"/>
                </a:lnTo>
                <a:lnTo>
                  <a:pt x="213" y="13"/>
                </a:lnTo>
                <a:lnTo>
                  <a:pt x="229" y="15"/>
                </a:lnTo>
                <a:lnTo>
                  <a:pt x="246" y="16"/>
                </a:lnTo>
                <a:lnTo>
                  <a:pt x="262" y="18"/>
                </a:lnTo>
                <a:lnTo>
                  <a:pt x="278" y="19"/>
                </a:lnTo>
                <a:lnTo>
                  <a:pt x="295" y="20"/>
                </a:lnTo>
                <a:lnTo>
                  <a:pt x="311" y="21"/>
                </a:lnTo>
                <a:lnTo>
                  <a:pt x="327" y="22"/>
                </a:lnTo>
                <a:lnTo>
                  <a:pt x="344" y="23"/>
                </a:lnTo>
                <a:lnTo>
                  <a:pt x="360" y="23"/>
                </a:lnTo>
                <a:lnTo>
                  <a:pt x="377" y="24"/>
                </a:lnTo>
                <a:lnTo>
                  <a:pt x="393" y="24"/>
                </a:lnTo>
                <a:lnTo>
                  <a:pt x="393" y="37"/>
                </a:lnTo>
                <a:lnTo>
                  <a:pt x="377" y="37"/>
                </a:lnTo>
                <a:lnTo>
                  <a:pt x="360" y="37"/>
                </a:lnTo>
                <a:lnTo>
                  <a:pt x="344" y="36"/>
                </a:lnTo>
                <a:lnTo>
                  <a:pt x="327" y="35"/>
                </a:lnTo>
                <a:lnTo>
                  <a:pt x="311" y="34"/>
                </a:lnTo>
                <a:lnTo>
                  <a:pt x="295" y="33"/>
                </a:lnTo>
                <a:lnTo>
                  <a:pt x="278" y="32"/>
                </a:lnTo>
                <a:lnTo>
                  <a:pt x="262" y="31"/>
                </a:lnTo>
                <a:lnTo>
                  <a:pt x="246" y="29"/>
                </a:lnTo>
                <a:lnTo>
                  <a:pt x="229" y="28"/>
                </a:lnTo>
                <a:lnTo>
                  <a:pt x="213" y="26"/>
                </a:lnTo>
                <a:lnTo>
                  <a:pt x="196" y="25"/>
                </a:lnTo>
                <a:lnTo>
                  <a:pt x="180" y="24"/>
                </a:lnTo>
                <a:lnTo>
                  <a:pt x="164" y="22"/>
                </a:lnTo>
                <a:lnTo>
                  <a:pt x="147" y="21"/>
                </a:lnTo>
                <a:lnTo>
                  <a:pt x="131" y="19"/>
                </a:lnTo>
                <a:lnTo>
                  <a:pt x="114" y="18"/>
                </a:lnTo>
                <a:lnTo>
                  <a:pt x="98" y="17"/>
                </a:lnTo>
                <a:lnTo>
                  <a:pt x="82" y="16"/>
                </a:lnTo>
                <a:lnTo>
                  <a:pt x="65" y="15"/>
                </a:lnTo>
                <a:lnTo>
                  <a:pt x="49" y="14"/>
                </a:lnTo>
                <a:lnTo>
                  <a:pt x="33" y="13"/>
                </a:lnTo>
                <a:lnTo>
                  <a:pt x="16" y="13"/>
                </a:lnTo>
                <a:lnTo>
                  <a:pt x="0" y="13"/>
                </a:lnTo>
                <a:close/>
              </a:path>
            </a:pathLst>
          </a:custGeom>
          <a:solidFill>
            <a:srgbClr val="0E2A5C">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1941195" y="1533525"/>
            <a:ext cx="114300" cy="1552576"/>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1941195" y="3143251"/>
            <a:ext cx="114300" cy="1552576"/>
          </a:xfrm>
          <a:prstGeom prst="rect">
            <a:avLst/>
          </a:prstGeom>
          <a:solidFill>
            <a:srgbClr val="0081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1941195" y="4752976"/>
            <a:ext cx="114300" cy="1552574"/>
          </a:xfrm>
          <a:prstGeom prst="rect">
            <a:avLst/>
          </a:prstGeom>
          <a:solidFill>
            <a:srgbClr val="0E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5800725" y="1304925"/>
            <a:ext cx="114300" cy="806120"/>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5800725" y="2168195"/>
            <a:ext cx="114300" cy="469057"/>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5800725" y="2694401"/>
            <a:ext cx="114300" cy="375839"/>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5800725" y="3127390"/>
            <a:ext cx="114300" cy="375839"/>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5800725" y="3560379"/>
            <a:ext cx="114300" cy="375839"/>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5800725" y="3993367"/>
            <a:ext cx="114300" cy="375839"/>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5800725" y="4426356"/>
            <a:ext cx="114300" cy="375839"/>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5800725" y="4859345"/>
            <a:ext cx="114300" cy="375839"/>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5800725" y="5292334"/>
            <a:ext cx="114300" cy="375839"/>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5800725" y="5725322"/>
            <a:ext cx="114300" cy="375839"/>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5800725" y="6158311"/>
            <a:ext cx="114300" cy="375839"/>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257175" y="2238375"/>
            <a:ext cx="1626870" cy="142875"/>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57" name="TextBox 56"/>
          <p:cNvSpPr txBox="1"/>
          <p:nvPr/>
        </p:nvSpPr>
        <p:spPr>
          <a:xfrm>
            <a:off x="257175" y="3795714"/>
            <a:ext cx="1626870" cy="247650"/>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58" name="TextBox 57"/>
          <p:cNvSpPr txBox="1"/>
          <p:nvPr/>
        </p:nvSpPr>
        <p:spPr>
          <a:xfrm>
            <a:off x="257175" y="5457826"/>
            <a:ext cx="1626870" cy="142875"/>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59" name="TextBox 58"/>
          <p:cNvSpPr txBox="1"/>
          <p:nvPr/>
        </p:nvSpPr>
        <p:spPr>
          <a:xfrm>
            <a:off x="5972175" y="1584160"/>
            <a:ext cx="1381125" cy="247650"/>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60" name="TextBox 59"/>
          <p:cNvSpPr txBox="1"/>
          <p:nvPr/>
        </p:nvSpPr>
        <p:spPr>
          <a:xfrm>
            <a:off x="5972175" y="2278898"/>
            <a:ext cx="1381125" cy="247650"/>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61" name="TextBox 60"/>
          <p:cNvSpPr txBox="1"/>
          <p:nvPr/>
        </p:nvSpPr>
        <p:spPr>
          <a:xfrm>
            <a:off x="5972175" y="2706108"/>
            <a:ext cx="1381125" cy="352425"/>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62" name="TextBox 61"/>
          <p:cNvSpPr txBox="1"/>
          <p:nvPr/>
        </p:nvSpPr>
        <p:spPr>
          <a:xfrm>
            <a:off x="5972175" y="3191484"/>
            <a:ext cx="1381125" cy="247650"/>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63" name="TextBox 62"/>
          <p:cNvSpPr txBox="1"/>
          <p:nvPr/>
        </p:nvSpPr>
        <p:spPr>
          <a:xfrm>
            <a:off x="5972175" y="3572086"/>
            <a:ext cx="1381125" cy="352425"/>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64" name="TextBox 63"/>
          <p:cNvSpPr txBox="1"/>
          <p:nvPr/>
        </p:nvSpPr>
        <p:spPr>
          <a:xfrm>
            <a:off x="5972175" y="4057462"/>
            <a:ext cx="1381125" cy="247650"/>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65" name="TextBox 64"/>
          <p:cNvSpPr txBox="1"/>
          <p:nvPr/>
        </p:nvSpPr>
        <p:spPr>
          <a:xfrm>
            <a:off x="5972175" y="4490451"/>
            <a:ext cx="1381125" cy="247650"/>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66" name="TextBox 65"/>
          <p:cNvSpPr txBox="1"/>
          <p:nvPr/>
        </p:nvSpPr>
        <p:spPr>
          <a:xfrm>
            <a:off x="5972175" y="4923439"/>
            <a:ext cx="1381125" cy="247650"/>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67" name="TextBox 66"/>
          <p:cNvSpPr txBox="1"/>
          <p:nvPr/>
        </p:nvSpPr>
        <p:spPr>
          <a:xfrm>
            <a:off x="5972175" y="5304041"/>
            <a:ext cx="1381125" cy="352425"/>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68" name="TextBox 67"/>
          <p:cNvSpPr txBox="1"/>
          <p:nvPr/>
        </p:nvSpPr>
        <p:spPr>
          <a:xfrm>
            <a:off x="5972175" y="5737029"/>
            <a:ext cx="1381125" cy="352425"/>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69" name="TextBox 68"/>
          <p:cNvSpPr txBox="1"/>
          <p:nvPr/>
        </p:nvSpPr>
        <p:spPr>
          <a:xfrm>
            <a:off x="5972175" y="6222406"/>
            <a:ext cx="1381125" cy="247650"/>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70" name="Rounded Rectangle 69"/>
          <p:cNvSpPr/>
          <p:nvPr/>
        </p:nvSpPr>
        <p:spPr>
          <a:xfrm>
            <a:off x="7581900" y="981075"/>
            <a:ext cx="4457700" cy="5648325"/>
          </a:xfrm>
          <a:prstGeom prst="roundRect">
            <a:avLst>
              <a:gd name="adj" fmla="val 170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7715250" y="1066800"/>
            <a:ext cx="4191000" cy="209550"/>
          </a:xfrm>
          <a:prstGeom prst="rect">
            <a:avLst/>
          </a:prstGeom>
          <a:noFill/>
        </p:spPr>
        <p:txBody>
          <a:bodyPr wrap="square" lIns="0" rIns="19050" tIns="9525" bIns="9525">
            <a:spAutoFit/>
          </a:bodyPr>
          <a:lstStyle/>
          <a:p>
            <a:pPr algn="l"/>
            <a:r>
              <a:rPr sz="1300" b="1">
                <a:solidFill>
                  <a:srgbClr val="0E2A5C"/>
                </a:solidFill>
                <a:latin typeface="Calibri"/>
              </a:rPr>
              <a:t>Key Findings</a:t>
            </a:r>
          </a:p>
        </p:txBody>
      </p:sp>
      <p:sp>
        <p:nvSpPr>
          <p:cNvPr id="72" name="Rectangle 71"/>
          <p:cNvSpPr/>
          <p:nvPr/>
        </p:nvSpPr>
        <p:spPr>
          <a:xfrm>
            <a:off x="7715250" y="1304925"/>
            <a:ext cx="419100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7715250" y="1390650"/>
            <a:ext cx="41910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74" name="Rectangle 73"/>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
        <p:nvSpPr>
          <p:cNvPr id="76" name="TextBox 75"/>
          <p:cNvSpPr txBox="1"/>
          <p:nvPr/>
        </p:nvSpPr>
        <p:spPr>
          <a:xfrm>
            <a:off x="432554" y="2249462"/>
            <a:ext cx="1397740" cy="139750"/>
          </a:xfrm>
          <a:prstGeom prst="rect">
            <a:avLst/>
          </a:prstGeom>
          <a:noFill/>
        </p:spPr>
        <p:txBody>
          <a:bodyPr wrap="none" lIns="0" rIns="0" tIns="0" bIns="0">
            <a:spAutoFit/>
          </a:bodyPr>
          <a:lstStyle/>
          <a:p>
            <a:r>
              <a:rPr sz="791" b="1">
                <a:solidFill>
                  <a:srgbClr val="2E2E2E"/>
                </a:solidFill>
                <a:latin typeface="Calibri"/>
              </a:rPr>
              <a:t>Hydrolyzed Eggshell Membrane</a:t>
            </a:r>
          </a:p>
        </p:txBody>
      </p:sp>
      <p:pic>
        <p:nvPicPr>
          <p:cNvPr id="77" name="Picture 76" descr="lock.png"/>
          <p:cNvPicPr>
            <a:picLocks noChangeAspect="1"/>
          </p:cNvPicPr>
          <p:nvPr/>
        </p:nvPicPr>
        <p:blipFill>
          <a:blip r:embed="rId4"/>
          <a:stretch>
            <a:fillRect/>
          </a:stretch>
        </p:blipFill>
        <p:spPr>
          <a:xfrm>
            <a:off x="1771555" y="2242421"/>
            <a:ext cx="92663" cy="134782"/>
          </a:xfrm>
          <a:prstGeom prst="rect">
            <a:avLst/>
          </a:prstGeom>
        </p:spPr>
      </p:pic>
      <p:sp>
        <p:nvSpPr>
          <p:cNvPr id="78" name="TextBox 77"/>
          <p:cNvSpPr txBox="1"/>
          <p:nvPr/>
        </p:nvSpPr>
        <p:spPr>
          <a:xfrm>
            <a:off x="333642" y="3798838"/>
            <a:ext cx="1531352" cy="139750"/>
          </a:xfrm>
          <a:prstGeom prst="rect">
            <a:avLst/>
          </a:prstGeom>
          <a:noFill/>
        </p:spPr>
        <p:txBody>
          <a:bodyPr wrap="none" lIns="0" rIns="0" tIns="0" bIns="0">
            <a:spAutoFit/>
          </a:bodyPr>
          <a:lstStyle/>
          <a:p>
            <a:r>
              <a:rPr sz="791" b="1">
                <a:solidFill>
                  <a:srgbClr val="2E2E2E"/>
                </a:solidFill>
                <a:latin typeface="Calibri"/>
              </a:rPr>
              <a:t>Specialty Extracted Protein Fractions</a:t>
            </a:r>
          </a:p>
        </p:txBody>
      </p:sp>
      <p:pic>
        <p:nvPicPr>
          <p:cNvPr id="79" name="Picture 78" descr="lock.png"/>
          <p:cNvPicPr>
            <a:picLocks noChangeAspect="1"/>
          </p:cNvPicPr>
          <p:nvPr/>
        </p:nvPicPr>
        <p:blipFill>
          <a:blip r:embed="rId4"/>
          <a:stretch>
            <a:fillRect/>
          </a:stretch>
        </p:blipFill>
        <p:spPr>
          <a:xfrm>
            <a:off x="1771555" y="3912498"/>
            <a:ext cx="92663" cy="134782"/>
          </a:xfrm>
          <a:prstGeom prst="rect">
            <a:avLst/>
          </a:prstGeom>
        </p:spPr>
      </p:pic>
      <p:sp>
        <p:nvSpPr>
          <p:cNvPr id="80" name="TextBox 79"/>
          <p:cNvSpPr txBox="1"/>
          <p:nvPr/>
        </p:nvSpPr>
        <p:spPr>
          <a:xfrm>
            <a:off x="436679" y="5468913"/>
            <a:ext cx="1393614" cy="139750"/>
          </a:xfrm>
          <a:prstGeom prst="rect">
            <a:avLst/>
          </a:prstGeom>
          <a:noFill/>
        </p:spPr>
        <p:txBody>
          <a:bodyPr wrap="none" lIns="0" rIns="0" tIns="0" bIns="0">
            <a:spAutoFit/>
          </a:bodyPr>
          <a:lstStyle/>
          <a:p>
            <a:r>
              <a:rPr sz="791" b="1">
                <a:solidFill>
                  <a:srgbClr val="2E2E2E"/>
                </a:solidFill>
                <a:latin typeface="Calibri"/>
              </a:rPr>
              <a:t>Micronized Eggshell Membrane</a:t>
            </a:r>
          </a:p>
        </p:txBody>
      </p:sp>
      <p:pic>
        <p:nvPicPr>
          <p:cNvPr id="81" name="Picture 80" descr="lock.png"/>
          <p:cNvPicPr>
            <a:picLocks noChangeAspect="1"/>
          </p:cNvPicPr>
          <p:nvPr/>
        </p:nvPicPr>
        <p:blipFill>
          <a:blip r:embed="rId4"/>
          <a:stretch>
            <a:fillRect/>
          </a:stretch>
        </p:blipFill>
        <p:spPr>
          <a:xfrm>
            <a:off x="1771555" y="5461872"/>
            <a:ext cx="92663" cy="134782"/>
          </a:xfrm>
          <a:prstGeom prst="rect">
            <a:avLst/>
          </a:prstGeom>
        </p:spPr>
      </p:pic>
      <p:sp>
        <p:nvSpPr>
          <p:cNvPr id="82" name="TextBox 81"/>
          <p:cNvSpPr txBox="1"/>
          <p:nvPr/>
        </p:nvSpPr>
        <p:spPr>
          <a:xfrm>
            <a:off x="5972175" y="1587284"/>
            <a:ext cx="1291440" cy="139750"/>
          </a:xfrm>
          <a:prstGeom prst="rect">
            <a:avLst/>
          </a:prstGeom>
          <a:noFill/>
        </p:spPr>
        <p:txBody>
          <a:bodyPr wrap="none" lIns="0" rIns="0" tIns="0" bIns="0">
            <a:spAutoFit/>
          </a:bodyPr>
          <a:lstStyle/>
          <a:p>
            <a:r>
              <a:rPr sz="791" b="1">
                <a:solidFill>
                  <a:srgbClr val="2E2E2E"/>
                </a:solidFill>
                <a:latin typeface="Calibri"/>
              </a:rPr>
              <a:t>Functional Food &amp; Beverages</a:t>
            </a:r>
          </a:p>
        </p:txBody>
      </p:sp>
      <p:pic>
        <p:nvPicPr>
          <p:cNvPr id="83" name="Picture 82" descr="lock.png"/>
          <p:cNvPicPr>
            <a:picLocks noChangeAspect="1"/>
          </p:cNvPicPr>
          <p:nvPr/>
        </p:nvPicPr>
        <p:blipFill>
          <a:blip r:embed="rId4"/>
          <a:stretch>
            <a:fillRect/>
          </a:stretch>
        </p:blipFill>
        <p:spPr>
          <a:xfrm>
            <a:off x="5962478" y="1700944"/>
            <a:ext cx="92663" cy="134782"/>
          </a:xfrm>
          <a:prstGeom prst="rect">
            <a:avLst/>
          </a:prstGeom>
        </p:spPr>
      </p:pic>
      <p:sp>
        <p:nvSpPr>
          <p:cNvPr id="84" name="TextBox 83"/>
          <p:cNvSpPr txBox="1"/>
          <p:nvPr/>
        </p:nvSpPr>
        <p:spPr>
          <a:xfrm>
            <a:off x="5972175" y="2339019"/>
            <a:ext cx="1177112" cy="146456"/>
          </a:xfrm>
          <a:prstGeom prst="rect">
            <a:avLst/>
          </a:prstGeom>
          <a:noFill/>
        </p:spPr>
        <p:txBody>
          <a:bodyPr wrap="none" lIns="0" rIns="0" tIns="0" bIns="0">
            <a:spAutoFit/>
          </a:bodyPr>
          <a:lstStyle/>
          <a:p>
            <a:r>
              <a:rPr sz="835" b="1">
                <a:solidFill>
                  <a:srgbClr val="2E2E2E"/>
                </a:solidFill>
                <a:latin typeface="Calibri"/>
              </a:rPr>
              <a:t>Industrial &amp; Biomaterials</a:t>
            </a:r>
          </a:p>
        </p:txBody>
      </p:sp>
      <p:pic>
        <p:nvPicPr>
          <p:cNvPr id="85" name="Picture 84" descr="lock.png"/>
          <p:cNvPicPr>
            <a:picLocks noChangeAspect="1"/>
          </p:cNvPicPr>
          <p:nvPr/>
        </p:nvPicPr>
        <p:blipFill>
          <a:blip r:embed="rId4"/>
          <a:stretch>
            <a:fillRect/>
          </a:stretch>
        </p:blipFill>
        <p:spPr>
          <a:xfrm>
            <a:off x="7091518" y="2331587"/>
            <a:ext cx="97811" cy="142270"/>
          </a:xfrm>
          <a:prstGeom prst="rect">
            <a:avLst/>
          </a:prstGeom>
        </p:spPr>
      </p:pic>
      <p:sp>
        <p:nvSpPr>
          <p:cNvPr id="86" name="TextBox 85"/>
          <p:cNvSpPr txBox="1"/>
          <p:nvPr/>
        </p:nvSpPr>
        <p:spPr>
          <a:xfrm>
            <a:off x="5972175" y="2706108"/>
            <a:ext cx="1046481" cy="139750"/>
          </a:xfrm>
          <a:prstGeom prst="rect">
            <a:avLst/>
          </a:prstGeom>
          <a:noFill/>
        </p:spPr>
        <p:txBody>
          <a:bodyPr wrap="none" lIns="0" rIns="0" tIns="0" bIns="0">
            <a:spAutoFit/>
          </a:bodyPr>
          <a:lstStyle/>
          <a:p>
            <a:r>
              <a:rPr sz="791" b="1">
                <a:solidFill>
                  <a:srgbClr val="2E2E2E"/>
                </a:solidFill>
                <a:latin typeface="Calibri"/>
              </a:rPr>
              <a:t>Dietary Supplements &amp;</a:t>
            </a:r>
          </a:p>
        </p:txBody>
      </p:sp>
      <p:sp>
        <p:nvSpPr>
          <p:cNvPr id="87" name="TextBox 86"/>
          <p:cNvSpPr txBox="1"/>
          <p:nvPr/>
        </p:nvSpPr>
        <p:spPr>
          <a:xfrm>
            <a:off x="5972175" y="2826808"/>
            <a:ext cx="1305996" cy="139750"/>
          </a:xfrm>
          <a:prstGeom prst="rect">
            <a:avLst/>
          </a:prstGeom>
          <a:noFill/>
        </p:spPr>
        <p:txBody>
          <a:bodyPr wrap="none" lIns="0" rIns="0" tIns="0" bIns="0">
            <a:spAutoFit/>
          </a:bodyPr>
          <a:lstStyle/>
          <a:p>
            <a:r>
              <a:rPr sz="791" b="1">
                <a:solidFill>
                  <a:srgbClr val="2E2E2E"/>
                </a:solidFill>
                <a:latin typeface="Calibri"/>
              </a:rPr>
              <a:t>Nutraceuticals | Joint &amp; Bone</a:t>
            </a:r>
          </a:p>
        </p:txBody>
      </p:sp>
      <p:sp>
        <p:nvSpPr>
          <p:cNvPr id="88" name="TextBox 87"/>
          <p:cNvSpPr txBox="1"/>
          <p:nvPr/>
        </p:nvSpPr>
        <p:spPr>
          <a:xfrm>
            <a:off x="5972175" y="2947509"/>
            <a:ext cx="353788" cy="139750"/>
          </a:xfrm>
          <a:prstGeom prst="rect">
            <a:avLst/>
          </a:prstGeom>
          <a:noFill/>
        </p:spPr>
        <p:txBody>
          <a:bodyPr wrap="none" lIns="0" rIns="0" tIns="0" bIns="0">
            <a:spAutoFit/>
          </a:bodyPr>
          <a:lstStyle/>
          <a:p>
            <a:r>
              <a:rPr sz="791" b="1">
                <a:solidFill>
                  <a:srgbClr val="2E2E2E"/>
                </a:solidFill>
                <a:latin typeface="Calibri"/>
              </a:rPr>
              <a:t>Health</a:t>
            </a:r>
          </a:p>
        </p:txBody>
      </p:sp>
      <p:pic>
        <p:nvPicPr>
          <p:cNvPr id="89" name="Picture 88" descr="lock.png"/>
          <p:cNvPicPr>
            <a:picLocks noChangeAspect="1"/>
          </p:cNvPicPr>
          <p:nvPr/>
        </p:nvPicPr>
        <p:blipFill>
          <a:blip r:embed="rId4"/>
          <a:stretch>
            <a:fillRect/>
          </a:stretch>
        </p:blipFill>
        <p:spPr>
          <a:xfrm>
            <a:off x="6267224" y="2940468"/>
            <a:ext cx="92663" cy="134782"/>
          </a:xfrm>
          <a:prstGeom prst="rect">
            <a:avLst/>
          </a:prstGeom>
        </p:spPr>
      </p:pic>
      <p:sp>
        <p:nvSpPr>
          <p:cNvPr id="90" name="TextBox 89"/>
          <p:cNvSpPr txBox="1"/>
          <p:nvPr/>
        </p:nvSpPr>
        <p:spPr>
          <a:xfrm>
            <a:off x="5972175" y="3194608"/>
            <a:ext cx="1046481" cy="139750"/>
          </a:xfrm>
          <a:prstGeom prst="rect">
            <a:avLst/>
          </a:prstGeom>
          <a:noFill/>
        </p:spPr>
        <p:txBody>
          <a:bodyPr wrap="none" lIns="0" rIns="0" tIns="0" bIns="0">
            <a:spAutoFit/>
          </a:bodyPr>
          <a:lstStyle/>
          <a:p>
            <a:r>
              <a:rPr sz="791" b="1">
                <a:solidFill>
                  <a:srgbClr val="2E2E2E"/>
                </a:solidFill>
                <a:latin typeface="Calibri"/>
              </a:rPr>
              <a:t>Dietary Supplements &amp;</a:t>
            </a:r>
          </a:p>
        </p:txBody>
      </p:sp>
      <p:sp>
        <p:nvSpPr>
          <p:cNvPr id="91" name="TextBox 90"/>
          <p:cNvSpPr txBox="1"/>
          <p:nvPr/>
        </p:nvSpPr>
        <p:spPr>
          <a:xfrm>
            <a:off x="5972175" y="3315309"/>
            <a:ext cx="1056697" cy="139750"/>
          </a:xfrm>
          <a:prstGeom prst="rect">
            <a:avLst/>
          </a:prstGeom>
          <a:noFill/>
        </p:spPr>
        <p:txBody>
          <a:bodyPr wrap="none" lIns="0" rIns="0" tIns="0" bIns="0">
            <a:spAutoFit/>
          </a:bodyPr>
          <a:lstStyle/>
          <a:p>
            <a:r>
              <a:rPr sz="791" b="1">
                <a:solidFill>
                  <a:srgbClr val="2E2E2E"/>
                </a:solidFill>
                <a:latin typeface="Calibri"/>
              </a:rPr>
              <a:t>Nutraceuticals | Others</a:t>
            </a:r>
          </a:p>
        </p:txBody>
      </p:sp>
      <p:pic>
        <p:nvPicPr>
          <p:cNvPr id="92" name="Picture 91" descr="lock.png"/>
          <p:cNvPicPr>
            <a:picLocks noChangeAspect="1"/>
          </p:cNvPicPr>
          <p:nvPr/>
        </p:nvPicPr>
        <p:blipFill>
          <a:blip r:embed="rId4"/>
          <a:stretch>
            <a:fillRect/>
          </a:stretch>
        </p:blipFill>
        <p:spPr>
          <a:xfrm>
            <a:off x="6970133" y="3308268"/>
            <a:ext cx="92663" cy="134782"/>
          </a:xfrm>
          <a:prstGeom prst="rect">
            <a:avLst/>
          </a:prstGeom>
        </p:spPr>
      </p:pic>
      <p:sp>
        <p:nvSpPr>
          <p:cNvPr id="93" name="TextBox 92"/>
          <p:cNvSpPr txBox="1"/>
          <p:nvPr/>
        </p:nvSpPr>
        <p:spPr>
          <a:xfrm>
            <a:off x="5972175" y="3572086"/>
            <a:ext cx="1046481" cy="139750"/>
          </a:xfrm>
          <a:prstGeom prst="rect">
            <a:avLst/>
          </a:prstGeom>
          <a:noFill/>
        </p:spPr>
        <p:txBody>
          <a:bodyPr wrap="none" lIns="0" rIns="0" tIns="0" bIns="0">
            <a:spAutoFit/>
          </a:bodyPr>
          <a:lstStyle/>
          <a:p>
            <a:r>
              <a:rPr sz="791" b="1">
                <a:solidFill>
                  <a:srgbClr val="2E2E2E"/>
                </a:solidFill>
                <a:latin typeface="Calibri"/>
              </a:rPr>
              <a:t>Dietary Supplements &amp;</a:t>
            </a:r>
          </a:p>
        </p:txBody>
      </p:sp>
      <p:sp>
        <p:nvSpPr>
          <p:cNvPr id="94" name="TextBox 93"/>
          <p:cNvSpPr txBox="1"/>
          <p:nvPr/>
        </p:nvSpPr>
        <p:spPr>
          <a:xfrm>
            <a:off x="5972175" y="3692786"/>
            <a:ext cx="1263955" cy="139750"/>
          </a:xfrm>
          <a:prstGeom prst="rect">
            <a:avLst/>
          </a:prstGeom>
          <a:noFill/>
        </p:spPr>
        <p:txBody>
          <a:bodyPr wrap="none" lIns="0" rIns="0" tIns="0" bIns="0">
            <a:spAutoFit/>
          </a:bodyPr>
          <a:lstStyle/>
          <a:p>
            <a:r>
              <a:rPr sz="791" b="1">
                <a:solidFill>
                  <a:srgbClr val="2E2E2E"/>
                </a:solidFill>
                <a:latin typeface="Calibri"/>
              </a:rPr>
              <a:t>Nutraceuticals | Skin, Hair &amp;</a:t>
            </a:r>
          </a:p>
        </p:txBody>
      </p:sp>
      <p:sp>
        <p:nvSpPr>
          <p:cNvPr id="95" name="TextBox 94"/>
          <p:cNvSpPr txBox="1"/>
          <p:nvPr/>
        </p:nvSpPr>
        <p:spPr>
          <a:xfrm>
            <a:off x="5972175" y="3813487"/>
            <a:ext cx="541990" cy="139750"/>
          </a:xfrm>
          <a:prstGeom prst="rect">
            <a:avLst/>
          </a:prstGeom>
          <a:noFill/>
        </p:spPr>
        <p:txBody>
          <a:bodyPr wrap="none" lIns="0" rIns="0" tIns="0" bIns="0">
            <a:spAutoFit/>
          </a:bodyPr>
          <a:lstStyle/>
          <a:p>
            <a:r>
              <a:rPr sz="791" b="1">
                <a:solidFill>
                  <a:srgbClr val="2E2E2E"/>
                </a:solidFill>
                <a:latin typeface="Calibri"/>
              </a:rPr>
              <a:t>Nail Health</a:t>
            </a:r>
          </a:p>
        </p:txBody>
      </p:sp>
      <p:pic>
        <p:nvPicPr>
          <p:cNvPr id="96" name="Picture 95" descr="lock.png"/>
          <p:cNvPicPr>
            <a:picLocks noChangeAspect="1"/>
          </p:cNvPicPr>
          <p:nvPr/>
        </p:nvPicPr>
        <p:blipFill>
          <a:blip r:embed="rId4"/>
          <a:stretch>
            <a:fillRect/>
          </a:stretch>
        </p:blipFill>
        <p:spPr>
          <a:xfrm>
            <a:off x="6455426" y="3806446"/>
            <a:ext cx="92663" cy="134782"/>
          </a:xfrm>
          <a:prstGeom prst="rect">
            <a:avLst/>
          </a:prstGeom>
        </p:spPr>
      </p:pic>
      <p:sp>
        <p:nvSpPr>
          <p:cNvPr id="97" name="TextBox 96"/>
          <p:cNvSpPr txBox="1"/>
          <p:nvPr/>
        </p:nvSpPr>
        <p:spPr>
          <a:xfrm>
            <a:off x="5972175" y="4060586"/>
            <a:ext cx="1259830" cy="139750"/>
          </a:xfrm>
          <a:prstGeom prst="rect">
            <a:avLst/>
          </a:prstGeom>
          <a:noFill/>
        </p:spPr>
        <p:txBody>
          <a:bodyPr wrap="none" lIns="0" rIns="0" tIns="0" bIns="0">
            <a:spAutoFit/>
          </a:bodyPr>
          <a:lstStyle/>
          <a:p>
            <a:r>
              <a:rPr sz="791" b="1">
                <a:solidFill>
                  <a:srgbClr val="2E2E2E"/>
                </a:solidFill>
                <a:latin typeface="Calibri"/>
              </a:rPr>
              <a:t>Cosmetics &amp; Personal Care |</a:t>
            </a:r>
          </a:p>
        </p:txBody>
      </p:sp>
      <p:sp>
        <p:nvSpPr>
          <p:cNvPr id="98" name="TextBox 97"/>
          <p:cNvSpPr txBox="1"/>
          <p:nvPr/>
        </p:nvSpPr>
        <p:spPr>
          <a:xfrm>
            <a:off x="5972175" y="4181287"/>
            <a:ext cx="462033" cy="139750"/>
          </a:xfrm>
          <a:prstGeom prst="rect">
            <a:avLst/>
          </a:prstGeom>
          <a:noFill/>
        </p:spPr>
        <p:txBody>
          <a:bodyPr wrap="none" lIns="0" rIns="0" tIns="0" bIns="0">
            <a:spAutoFit/>
          </a:bodyPr>
          <a:lstStyle/>
          <a:p>
            <a:r>
              <a:rPr sz="791" b="1">
                <a:solidFill>
                  <a:srgbClr val="2E2E2E"/>
                </a:solidFill>
                <a:latin typeface="Calibri"/>
              </a:rPr>
              <a:t>Hair Care</a:t>
            </a:r>
          </a:p>
        </p:txBody>
      </p:sp>
      <p:pic>
        <p:nvPicPr>
          <p:cNvPr id="99" name="Picture 98" descr="lock.png"/>
          <p:cNvPicPr>
            <a:picLocks noChangeAspect="1"/>
          </p:cNvPicPr>
          <p:nvPr/>
        </p:nvPicPr>
        <p:blipFill>
          <a:blip r:embed="rId4"/>
          <a:stretch>
            <a:fillRect/>
          </a:stretch>
        </p:blipFill>
        <p:spPr>
          <a:xfrm>
            <a:off x="6375470" y="4174246"/>
            <a:ext cx="92663" cy="134782"/>
          </a:xfrm>
          <a:prstGeom prst="rect">
            <a:avLst/>
          </a:prstGeom>
        </p:spPr>
      </p:pic>
      <p:sp>
        <p:nvSpPr>
          <p:cNvPr id="100" name="TextBox 99"/>
          <p:cNvSpPr txBox="1"/>
          <p:nvPr/>
        </p:nvSpPr>
        <p:spPr>
          <a:xfrm>
            <a:off x="5972175" y="4493575"/>
            <a:ext cx="1259830" cy="139750"/>
          </a:xfrm>
          <a:prstGeom prst="rect">
            <a:avLst/>
          </a:prstGeom>
          <a:noFill/>
        </p:spPr>
        <p:txBody>
          <a:bodyPr wrap="none" lIns="0" rIns="0" tIns="0" bIns="0">
            <a:spAutoFit/>
          </a:bodyPr>
          <a:lstStyle/>
          <a:p>
            <a:r>
              <a:rPr sz="791" b="1">
                <a:solidFill>
                  <a:srgbClr val="2E2E2E"/>
                </a:solidFill>
                <a:latin typeface="Calibri"/>
              </a:rPr>
              <a:t>Cosmetics &amp; Personal Care |</a:t>
            </a:r>
          </a:p>
        </p:txBody>
      </p:sp>
      <p:sp>
        <p:nvSpPr>
          <p:cNvPr id="101" name="TextBox 100"/>
          <p:cNvSpPr txBox="1"/>
          <p:nvPr/>
        </p:nvSpPr>
        <p:spPr>
          <a:xfrm>
            <a:off x="5972175" y="4614276"/>
            <a:ext cx="463016" cy="139750"/>
          </a:xfrm>
          <a:prstGeom prst="rect">
            <a:avLst/>
          </a:prstGeom>
          <a:noFill/>
        </p:spPr>
        <p:txBody>
          <a:bodyPr wrap="none" lIns="0" rIns="0" tIns="0" bIns="0">
            <a:spAutoFit/>
          </a:bodyPr>
          <a:lstStyle/>
          <a:p>
            <a:r>
              <a:rPr sz="791" b="1">
                <a:solidFill>
                  <a:srgbClr val="2E2E2E"/>
                </a:solidFill>
                <a:latin typeface="Calibri"/>
              </a:rPr>
              <a:t>Skin Care</a:t>
            </a:r>
          </a:p>
        </p:txBody>
      </p:sp>
      <p:pic>
        <p:nvPicPr>
          <p:cNvPr id="102" name="Picture 101" descr="lock.png"/>
          <p:cNvPicPr>
            <a:picLocks noChangeAspect="1"/>
          </p:cNvPicPr>
          <p:nvPr/>
        </p:nvPicPr>
        <p:blipFill>
          <a:blip r:embed="rId4"/>
          <a:stretch>
            <a:fillRect/>
          </a:stretch>
        </p:blipFill>
        <p:spPr>
          <a:xfrm>
            <a:off x="6376452" y="4607235"/>
            <a:ext cx="92663" cy="134782"/>
          </a:xfrm>
          <a:prstGeom prst="rect">
            <a:avLst/>
          </a:prstGeom>
        </p:spPr>
      </p:pic>
      <p:sp>
        <p:nvSpPr>
          <p:cNvPr id="103" name="TextBox 102"/>
          <p:cNvSpPr txBox="1"/>
          <p:nvPr/>
        </p:nvSpPr>
        <p:spPr>
          <a:xfrm>
            <a:off x="5972175" y="4926563"/>
            <a:ext cx="1362075" cy="139750"/>
          </a:xfrm>
          <a:prstGeom prst="rect">
            <a:avLst/>
          </a:prstGeom>
          <a:noFill/>
        </p:spPr>
        <p:txBody>
          <a:bodyPr wrap="none" lIns="0" rIns="0" tIns="0" bIns="0">
            <a:spAutoFit/>
          </a:bodyPr>
          <a:lstStyle/>
          <a:p>
            <a:r>
              <a:rPr sz="791" b="1">
                <a:solidFill>
                  <a:srgbClr val="2E2E2E"/>
                </a:solidFill>
                <a:latin typeface="Calibri"/>
              </a:rPr>
              <a:t>Pharmaceuticals &amp; Biomedical |</a:t>
            </a:r>
          </a:p>
        </p:txBody>
      </p:sp>
      <p:sp>
        <p:nvSpPr>
          <p:cNvPr id="104" name="TextBox 103"/>
          <p:cNvSpPr txBox="1"/>
          <p:nvPr/>
        </p:nvSpPr>
        <p:spPr>
          <a:xfrm>
            <a:off x="5972175" y="5047264"/>
            <a:ext cx="1108757" cy="139750"/>
          </a:xfrm>
          <a:prstGeom prst="rect">
            <a:avLst/>
          </a:prstGeom>
          <a:noFill/>
        </p:spPr>
        <p:txBody>
          <a:bodyPr wrap="none" lIns="0" rIns="0" tIns="0" bIns="0">
            <a:spAutoFit/>
          </a:bodyPr>
          <a:lstStyle/>
          <a:p>
            <a:r>
              <a:rPr sz="791" b="1">
                <a:solidFill>
                  <a:srgbClr val="2E2E2E"/>
                </a:solidFill>
                <a:latin typeface="Calibri"/>
              </a:rPr>
              <a:t>Wound Care &amp; Dressings</a:t>
            </a:r>
          </a:p>
        </p:txBody>
      </p:sp>
      <p:pic>
        <p:nvPicPr>
          <p:cNvPr id="105" name="Picture 104" descr="lock.png"/>
          <p:cNvPicPr>
            <a:picLocks noChangeAspect="1"/>
          </p:cNvPicPr>
          <p:nvPr/>
        </p:nvPicPr>
        <p:blipFill>
          <a:blip r:embed="rId4"/>
          <a:stretch>
            <a:fillRect/>
          </a:stretch>
        </p:blipFill>
        <p:spPr>
          <a:xfrm>
            <a:off x="7022193" y="5040223"/>
            <a:ext cx="92663" cy="134782"/>
          </a:xfrm>
          <a:prstGeom prst="rect">
            <a:avLst/>
          </a:prstGeom>
        </p:spPr>
      </p:pic>
      <p:sp>
        <p:nvSpPr>
          <p:cNvPr id="106" name="TextBox 105"/>
          <p:cNvSpPr txBox="1"/>
          <p:nvPr/>
        </p:nvSpPr>
        <p:spPr>
          <a:xfrm>
            <a:off x="5972175" y="5304041"/>
            <a:ext cx="1362075" cy="139750"/>
          </a:xfrm>
          <a:prstGeom prst="rect">
            <a:avLst/>
          </a:prstGeom>
          <a:noFill/>
        </p:spPr>
        <p:txBody>
          <a:bodyPr wrap="none" lIns="0" rIns="0" tIns="0" bIns="0">
            <a:spAutoFit/>
          </a:bodyPr>
          <a:lstStyle/>
          <a:p>
            <a:r>
              <a:rPr sz="791" b="1">
                <a:solidFill>
                  <a:srgbClr val="2E2E2E"/>
                </a:solidFill>
                <a:latin typeface="Calibri"/>
              </a:rPr>
              <a:t>Pharmaceuticals &amp; Biomedical |</a:t>
            </a:r>
          </a:p>
        </p:txBody>
      </p:sp>
      <p:sp>
        <p:nvSpPr>
          <p:cNvPr id="107" name="TextBox 106"/>
          <p:cNvSpPr txBox="1"/>
          <p:nvPr/>
        </p:nvSpPr>
        <p:spPr>
          <a:xfrm>
            <a:off x="5972175" y="5424741"/>
            <a:ext cx="1169265" cy="139750"/>
          </a:xfrm>
          <a:prstGeom prst="rect">
            <a:avLst/>
          </a:prstGeom>
          <a:noFill/>
        </p:spPr>
        <p:txBody>
          <a:bodyPr wrap="none" lIns="0" rIns="0" tIns="0" bIns="0">
            <a:spAutoFit/>
          </a:bodyPr>
          <a:lstStyle/>
          <a:p>
            <a:r>
              <a:rPr sz="791" b="1">
                <a:solidFill>
                  <a:srgbClr val="2E2E2E"/>
                </a:solidFill>
                <a:latin typeface="Calibri"/>
              </a:rPr>
              <a:t>Tissue Engineering &amp; Drug</a:t>
            </a:r>
          </a:p>
        </p:txBody>
      </p:sp>
      <p:sp>
        <p:nvSpPr>
          <p:cNvPr id="108" name="TextBox 107"/>
          <p:cNvSpPr txBox="1"/>
          <p:nvPr/>
        </p:nvSpPr>
        <p:spPr>
          <a:xfrm>
            <a:off x="5972175" y="5545442"/>
            <a:ext cx="421564" cy="139750"/>
          </a:xfrm>
          <a:prstGeom prst="rect">
            <a:avLst/>
          </a:prstGeom>
          <a:noFill/>
        </p:spPr>
        <p:txBody>
          <a:bodyPr wrap="none" lIns="0" rIns="0" tIns="0" bIns="0">
            <a:spAutoFit/>
          </a:bodyPr>
          <a:lstStyle/>
          <a:p>
            <a:r>
              <a:rPr sz="791" b="1">
                <a:solidFill>
                  <a:srgbClr val="2E2E2E"/>
                </a:solidFill>
                <a:latin typeface="Calibri"/>
              </a:rPr>
              <a:t>Delivery</a:t>
            </a:r>
          </a:p>
        </p:txBody>
      </p:sp>
      <p:pic>
        <p:nvPicPr>
          <p:cNvPr id="109" name="Picture 108" descr="lock.png"/>
          <p:cNvPicPr>
            <a:picLocks noChangeAspect="1"/>
          </p:cNvPicPr>
          <p:nvPr/>
        </p:nvPicPr>
        <p:blipFill>
          <a:blip r:embed="rId4"/>
          <a:stretch>
            <a:fillRect/>
          </a:stretch>
        </p:blipFill>
        <p:spPr>
          <a:xfrm>
            <a:off x="6335000" y="5538401"/>
            <a:ext cx="92663" cy="134782"/>
          </a:xfrm>
          <a:prstGeom prst="rect">
            <a:avLst/>
          </a:prstGeom>
        </p:spPr>
      </p:pic>
      <p:sp>
        <p:nvSpPr>
          <p:cNvPr id="110" name="TextBox 109"/>
          <p:cNvSpPr txBox="1"/>
          <p:nvPr/>
        </p:nvSpPr>
        <p:spPr>
          <a:xfrm>
            <a:off x="5972175" y="5737029"/>
            <a:ext cx="1316997" cy="139750"/>
          </a:xfrm>
          <a:prstGeom prst="rect">
            <a:avLst/>
          </a:prstGeom>
          <a:noFill/>
        </p:spPr>
        <p:txBody>
          <a:bodyPr wrap="none" lIns="0" rIns="0" tIns="0" bIns="0">
            <a:spAutoFit/>
          </a:bodyPr>
          <a:lstStyle/>
          <a:p>
            <a:r>
              <a:rPr sz="791" b="1">
                <a:solidFill>
                  <a:srgbClr val="2E2E2E"/>
                </a:solidFill>
                <a:latin typeface="Calibri"/>
              </a:rPr>
              <a:t>Animal Nutrition &amp; Pet Care |</a:t>
            </a:r>
          </a:p>
        </p:txBody>
      </p:sp>
      <p:sp>
        <p:nvSpPr>
          <p:cNvPr id="111" name="TextBox 110"/>
          <p:cNvSpPr txBox="1"/>
          <p:nvPr/>
        </p:nvSpPr>
        <p:spPr>
          <a:xfrm>
            <a:off x="5972175" y="5857729"/>
            <a:ext cx="1300102" cy="139750"/>
          </a:xfrm>
          <a:prstGeom prst="rect">
            <a:avLst/>
          </a:prstGeom>
          <a:noFill/>
        </p:spPr>
        <p:txBody>
          <a:bodyPr wrap="none" lIns="0" rIns="0" tIns="0" bIns="0">
            <a:spAutoFit/>
          </a:bodyPr>
          <a:lstStyle/>
          <a:p>
            <a:r>
              <a:rPr sz="791" b="1">
                <a:solidFill>
                  <a:srgbClr val="2E2E2E"/>
                </a:solidFill>
                <a:latin typeface="Calibri"/>
              </a:rPr>
              <a:t>Pet Joint &amp; Skin Supplements</a:t>
            </a:r>
          </a:p>
        </p:txBody>
      </p:sp>
      <p:pic>
        <p:nvPicPr>
          <p:cNvPr id="112" name="Picture 111" descr="lock.png"/>
          <p:cNvPicPr>
            <a:picLocks noChangeAspect="1"/>
          </p:cNvPicPr>
          <p:nvPr/>
        </p:nvPicPr>
        <p:blipFill>
          <a:blip r:embed="rId4"/>
          <a:stretch>
            <a:fillRect/>
          </a:stretch>
        </p:blipFill>
        <p:spPr>
          <a:xfrm>
            <a:off x="5962478" y="5971389"/>
            <a:ext cx="92663" cy="134782"/>
          </a:xfrm>
          <a:prstGeom prst="rect">
            <a:avLst/>
          </a:prstGeom>
        </p:spPr>
      </p:pic>
      <p:sp>
        <p:nvSpPr>
          <p:cNvPr id="113" name="TextBox 112"/>
          <p:cNvSpPr txBox="1"/>
          <p:nvPr/>
        </p:nvSpPr>
        <p:spPr>
          <a:xfrm>
            <a:off x="5972175" y="6225530"/>
            <a:ext cx="1316997" cy="139750"/>
          </a:xfrm>
          <a:prstGeom prst="rect">
            <a:avLst/>
          </a:prstGeom>
          <a:noFill/>
        </p:spPr>
        <p:txBody>
          <a:bodyPr wrap="none" lIns="0" rIns="0" tIns="0" bIns="0">
            <a:spAutoFit/>
          </a:bodyPr>
          <a:lstStyle/>
          <a:p>
            <a:r>
              <a:rPr sz="791" b="1">
                <a:solidFill>
                  <a:srgbClr val="2E2E2E"/>
                </a:solidFill>
                <a:latin typeface="Calibri"/>
              </a:rPr>
              <a:t>Animal Nutrition &amp; Pet Care |</a:t>
            </a:r>
          </a:p>
        </p:txBody>
      </p:sp>
      <p:sp>
        <p:nvSpPr>
          <p:cNvPr id="114" name="TextBox 113"/>
          <p:cNvSpPr txBox="1"/>
          <p:nvPr/>
        </p:nvSpPr>
        <p:spPr>
          <a:xfrm>
            <a:off x="5972175" y="6346231"/>
            <a:ext cx="1106968" cy="139750"/>
          </a:xfrm>
          <a:prstGeom prst="rect">
            <a:avLst/>
          </a:prstGeom>
          <a:noFill/>
        </p:spPr>
        <p:txBody>
          <a:bodyPr wrap="none" lIns="0" rIns="0" tIns="0" bIns="0">
            <a:spAutoFit/>
          </a:bodyPr>
          <a:lstStyle/>
          <a:p>
            <a:r>
              <a:rPr sz="791" b="1">
                <a:solidFill>
                  <a:srgbClr val="2E2E2E"/>
                </a:solidFill>
                <a:latin typeface="Calibri"/>
              </a:rPr>
              <a:t>Livestock &amp; Poultry Feed</a:t>
            </a:r>
          </a:p>
        </p:txBody>
      </p:sp>
      <p:pic>
        <p:nvPicPr>
          <p:cNvPr id="115" name="Picture 114" descr="lock.png"/>
          <p:cNvPicPr>
            <a:picLocks noChangeAspect="1"/>
          </p:cNvPicPr>
          <p:nvPr/>
        </p:nvPicPr>
        <p:blipFill>
          <a:blip r:embed="rId4"/>
          <a:stretch>
            <a:fillRect/>
          </a:stretch>
        </p:blipFill>
        <p:spPr>
          <a:xfrm>
            <a:off x="7020404" y="6339190"/>
            <a:ext cx="92663" cy="134782"/>
          </a:xfrm>
          <a:prstGeom prst="rect">
            <a:avLst/>
          </a:prstGeom>
        </p:spPr>
      </p:pic>
      <p:sp>
        <p:nvSpPr>
          <p:cNvPr id="116" name="TextBox 115"/>
          <p:cNvSpPr txBox="1"/>
          <p:nvPr/>
        </p:nvSpPr>
        <p:spPr>
          <a:xfrm>
            <a:off x="7715250" y="1400175"/>
            <a:ext cx="4096568" cy="194310"/>
          </a:xfrm>
          <a:prstGeom prst="rect">
            <a:avLst/>
          </a:prstGeom>
          <a:noFill/>
        </p:spPr>
        <p:txBody>
          <a:bodyPr wrap="none" lIns="0" rIns="0" tIns="0" bIns="0">
            <a:spAutoFit/>
          </a:bodyPr>
          <a:lstStyle/>
          <a:p>
            <a:r>
              <a:rPr sz="1150" b="0">
                <a:solidFill>
                  <a:srgbClr val="2E2E2E"/>
                </a:solidFill>
                <a:latin typeface="Calibri"/>
              </a:rPr>
              <a:t>Hydrolyzed eggshell membrane segment is projected to account for</a:t>
            </a:r>
          </a:p>
        </p:txBody>
      </p:sp>
      <p:sp>
        <p:nvSpPr>
          <p:cNvPr id="117" name="TextBox 116"/>
          <p:cNvSpPr txBox="1"/>
          <p:nvPr/>
        </p:nvSpPr>
        <p:spPr>
          <a:xfrm>
            <a:off x="7715250" y="1575435"/>
            <a:ext cx="4137074" cy="194310"/>
          </a:xfrm>
          <a:prstGeom prst="rect">
            <a:avLst/>
          </a:prstGeom>
          <a:noFill/>
        </p:spPr>
        <p:txBody>
          <a:bodyPr wrap="none" lIns="0" rIns="0" tIns="0" bIns="0">
            <a:spAutoFit/>
          </a:bodyPr>
          <a:lstStyle/>
          <a:p>
            <a:r>
              <a:rPr sz="1150" b="0">
                <a:solidFill>
                  <a:srgbClr val="2E2E2E"/>
                </a:solidFill>
                <a:latin typeface="Calibri"/>
              </a:rPr>
              <a:t>the largest share of the global egg protein membrane market, led by</a:t>
            </a:r>
          </a:p>
        </p:txBody>
      </p:sp>
      <p:sp>
        <p:nvSpPr>
          <p:cNvPr id="118" name="TextBox 117"/>
          <p:cNvSpPr txBox="1"/>
          <p:nvPr/>
        </p:nvSpPr>
        <p:spPr>
          <a:xfrm>
            <a:off x="7715250" y="1750695"/>
            <a:ext cx="2177950" cy="194310"/>
          </a:xfrm>
          <a:prstGeom prst="rect">
            <a:avLst/>
          </a:prstGeom>
          <a:noFill/>
        </p:spPr>
        <p:txBody>
          <a:bodyPr wrap="none" lIns="0" rIns="0" tIns="0" bIns="0">
            <a:spAutoFit/>
          </a:bodyPr>
          <a:lstStyle/>
          <a:p>
            <a:r>
              <a:rPr sz="1150" b="0">
                <a:solidFill>
                  <a:srgbClr val="2E2E2E"/>
                </a:solidFill>
                <a:latin typeface="Calibri"/>
              </a:rPr>
              <a:t>functional food &amp; beverages at US$</a:t>
            </a:r>
          </a:p>
        </p:txBody>
      </p:sp>
      <p:pic>
        <p:nvPicPr>
          <p:cNvPr id="119" name="Picture 118" descr="lock.png"/>
          <p:cNvPicPr>
            <a:picLocks noChangeAspect="1"/>
          </p:cNvPicPr>
          <p:nvPr/>
        </p:nvPicPr>
        <p:blipFill>
          <a:blip r:embed="rId4"/>
          <a:stretch>
            <a:fillRect/>
          </a:stretch>
        </p:blipFill>
        <p:spPr>
          <a:xfrm>
            <a:off x="9842354" y="1740471"/>
            <a:ext cx="134549" cy="195707"/>
          </a:xfrm>
          <a:prstGeom prst="rect">
            <a:avLst/>
          </a:prstGeom>
        </p:spPr>
      </p:pic>
      <p:sp>
        <p:nvSpPr>
          <p:cNvPr id="120" name="TextBox 119"/>
          <p:cNvSpPr txBox="1"/>
          <p:nvPr/>
        </p:nvSpPr>
        <p:spPr>
          <a:xfrm>
            <a:off x="10017463" y="1750695"/>
            <a:ext cx="1522152" cy="194310"/>
          </a:xfrm>
          <a:prstGeom prst="rect">
            <a:avLst/>
          </a:prstGeom>
          <a:noFill/>
        </p:spPr>
        <p:txBody>
          <a:bodyPr wrap="none" lIns="0" rIns="0" tIns="0" bIns="0">
            <a:spAutoFit/>
          </a:bodyPr>
          <a:lstStyle/>
          <a:p>
            <a:r>
              <a:rPr sz="1150" b="0">
                <a:solidFill>
                  <a:srgbClr val="2E2E2E"/>
                </a:solidFill>
                <a:latin typeface="Calibri"/>
              </a:rPr>
              <a:t>Mn in 2036. 'Hydrolyzed</a:t>
            </a:r>
          </a:p>
        </p:txBody>
      </p:sp>
      <p:sp>
        <p:nvSpPr>
          <p:cNvPr id="121" name="TextBox 120"/>
          <p:cNvSpPr txBox="1"/>
          <p:nvPr/>
        </p:nvSpPr>
        <p:spPr>
          <a:xfrm>
            <a:off x="7715250" y="1925955"/>
            <a:ext cx="3885164" cy="194310"/>
          </a:xfrm>
          <a:prstGeom prst="rect">
            <a:avLst/>
          </a:prstGeom>
          <a:noFill/>
        </p:spPr>
        <p:txBody>
          <a:bodyPr wrap="none" lIns="0" rIns="0" tIns="0" bIns="0">
            <a:spAutoFit/>
          </a:bodyPr>
          <a:lstStyle/>
          <a:p>
            <a:r>
              <a:rPr sz="1150" b="0">
                <a:solidFill>
                  <a:srgbClr val="2E2E2E"/>
                </a:solidFill>
                <a:latin typeface="Calibri"/>
              </a:rPr>
              <a:t>Eggshell Membrane × Functional Food &amp; Beverages' is the single</a:t>
            </a:r>
          </a:p>
        </p:txBody>
      </p:sp>
      <p:sp>
        <p:nvSpPr>
          <p:cNvPr id="122" name="TextBox 121"/>
          <p:cNvSpPr txBox="1"/>
          <p:nvPr/>
        </p:nvSpPr>
        <p:spPr>
          <a:xfrm>
            <a:off x="7715250" y="2101215"/>
            <a:ext cx="1704429" cy="194310"/>
          </a:xfrm>
          <a:prstGeom prst="rect">
            <a:avLst/>
          </a:prstGeom>
          <a:noFill/>
        </p:spPr>
        <p:txBody>
          <a:bodyPr wrap="none" lIns="0" rIns="0" tIns="0" bIns="0">
            <a:spAutoFit/>
          </a:bodyPr>
          <a:lstStyle/>
          <a:p>
            <a:r>
              <a:rPr sz="1150" b="0">
                <a:solidFill>
                  <a:srgbClr val="2E2E2E"/>
                </a:solidFill>
                <a:latin typeface="Calibri"/>
              </a:rPr>
              <a:t>largest cross-sectional cell (</a:t>
            </a:r>
          </a:p>
        </p:txBody>
      </p:sp>
      <p:pic>
        <p:nvPicPr>
          <p:cNvPr id="123" name="Picture 122" descr="lock.png"/>
          <p:cNvPicPr>
            <a:picLocks noChangeAspect="1"/>
          </p:cNvPicPr>
          <p:nvPr/>
        </p:nvPicPr>
        <p:blipFill>
          <a:blip r:embed="rId4"/>
          <a:stretch>
            <a:fillRect/>
          </a:stretch>
        </p:blipFill>
        <p:spPr>
          <a:xfrm>
            <a:off x="9368833" y="2090991"/>
            <a:ext cx="134549" cy="195707"/>
          </a:xfrm>
          <a:prstGeom prst="rect">
            <a:avLst/>
          </a:prstGeom>
        </p:spPr>
      </p:pic>
      <p:sp>
        <p:nvSpPr>
          <p:cNvPr id="124" name="TextBox 123"/>
          <p:cNvSpPr txBox="1"/>
          <p:nvPr/>
        </p:nvSpPr>
        <p:spPr>
          <a:xfrm>
            <a:off x="9543942" y="2101215"/>
            <a:ext cx="2152848" cy="194310"/>
          </a:xfrm>
          <a:prstGeom prst="rect">
            <a:avLst/>
          </a:prstGeom>
          <a:noFill/>
        </p:spPr>
        <p:txBody>
          <a:bodyPr wrap="none" lIns="0" rIns="0" tIns="0" bIns="0">
            <a:spAutoFit/>
          </a:bodyPr>
          <a:lstStyle/>
          <a:p>
            <a:r>
              <a:rPr sz="1150" b="0">
                <a:solidFill>
                  <a:srgbClr val="2E2E2E"/>
                </a:solidFill>
                <a:latin typeface="Calibri"/>
              </a:rPr>
              <a:t>US$ Mn, 2026E), while 'Hydrolyzed</a:t>
            </a:r>
          </a:p>
        </p:txBody>
      </p:sp>
      <p:sp>
        <p:nvSpPr>
          <p:cNvPr id="125" name="TextBox 124"/>
          <p:cNvSpPr txBox="1"/>
          <p:nvPr/>
        </p:nvSpPr>
        <p:spPr>
          <a:xfrm>
            <a:off x="7715250" y="2276475"/>
            <a:ext cx="3866337" cy="194310"/>
          </a:xfrm>
          <a:prstGeom prst="rect">
            <a:avLst/>
          </a:prstGeom>
          <a:noFill/>
        </p:spPr>
        <p:txBody>
          <a:bodyPr wrap="none" lIns="0" rIns="0" tIns="0" bIns="0">
            <a:spAutoFit/>
          </a:bodyPr>
          <a:lstStyle/>
          <a:p>
            <a:r>
              <a:rPr sz="1150" b="0">
                <a:solidFill>
                  <a:srgbClr val="2E2E2E"/>
                </a:solidFill>
                <a:latin typeface="Calibri"/>
              </a:rPr>
              <a:t>Eggshell Membrane × Functional Food &amp; Beverages' records the</a:t>
            </a:r>
          </a:p>
        </p:txBody>
      </p:sp>
      <p:sp>
        <p:nvSpPr>
          <p:cNvPr id="126" name="TextBox 125"/>
          <p:cNvSpPr txBox="1"/>
          <p:nvPr/>
        </p:nvSpPr>
        <p:spPr>
          <a:xfrm>
            <a:off x="7715250" y="2451735"/>
            <a:ext cx="1712113" cy="194310"/>
          </a:xfrm>
          <a:prstGeom prst="rect">
            <a:avLst/>
          </a:prstGeom>
          <a:noFill/>
        </p:spPr>
        <p:txBody>
          <a:bodyPr wrap="none" lIns="0" rIns="0" tIns="0" bIns="0">
            <a:spAutoFit/>
          </a:bodyPr>
          <a:lstStyle/>
          <a:p>
            <a:r>
              <a:rPr sz="1150" b="0">
                <a:solidFill>
                  <a:srgbClr val="2E2E2E"/>
                </a:solidFill>
                <a:latin typeface="Calibri"/>
              </a:rPr>
              <a:t>fastest growth at a CAGR of</a:t>
            </a:r>
          </a:p>
        </p:txBody>
      </p:sp>
      <p:pic>
        <p:nvPicPr>
          <p:cNvPr id="127" name="Picture 126" descr="lock.png"/>
          <p:cNvPicPr>
            <a:picLocks noChangeAspect="1"/>
          </p:cNvPicPr>
          <p:nvPr/>
        </p:nvPicPr>
        <p:blipFill>
          <a:blip r:embed="rId4"/>
          <a:stretch>
            <a:fillRect/>
          </a:stretch>
        </p:blipFill>
        <p:spPr>
          <a:xfrm>
            <a:off x="9376517" y="2441511"/>
            <a:ext cx="134549" cy="195707"/>
          </a:xfrm>
          <a:prstGeom prst="rect">
            <a:avLst/>
          </a:prstGeom>
        </p:spPr>
      </p:pic>
      <p:sp>
        <p:nvSpPr>
          <p:cNvPr id="128" name="TextBox 127"/>
          <p:cNvSpPr txBox="1"/>
          <p:nvPr/>
        </p:nvSpPr>
        <p:spPr>
          <a:xfrm>
            <a:off x="9551626" y="2451735"/>
            <a:ext cx="1217001" cy="194310"/>
          </a:xfrm>
          <a:prstGeom prst="rect">
            <a:avLst/>
          </a:prstGeom>
          <a:noFill/>
        </p:spPr>
        <p:txBody>
          <a:bodyPr wrap="none" lIns="0" rIns="0" tIns="0" bIns="0">
            <a:spAutoFit/>
          </a:bodyPr>
          <a:lstStyle/>
          <a:p>
            <a:r>
              <a:rPr sz="1150" b="0">
                <a:solidFill>
                  <a:srgbClr val="2E2E2E"/>
                </a:solidFill>
                <a:latin typeface="Calibri"/>
              </a:rPr>
              <a:t>over 2026E–2036F.</a:t>
            </a:r>
          </a:p>
        </p:txBody>
      </p:sp>
      <p:sp>
        <p:nvSpPr>
          <p:cNvPr id="129" name="TextBox 128"/>
          <p:cNvSpPr txBox="1"/>
          <p:nvPr/>
        </p:nvSpPr>
        <p:spPr>
          <a:xfrm>
            <a:off x="7715250" y="2679573"/>
            <a:ext cx="4171950" cy="194310"/>
          </a:xfrm>
          <a:prstGeom prst="rect">
            <a:avLst/>
          </a:prstGeom>
          <a:noFill/>
        </p:spPr>
        <p:txBody>
          <a:bodyPr wrap="none" lIns="0" rIns="0" tIns="0" bIns="0">
            <a:spAutoFit/>
          </a:bodyPr>
          <a:lstStyle/>
          <a:p>
            <a:r>
              <a:rPr sz="1150" b="0">
                <a:solidFill>
                  <a:srgbClr val="2E2E2E"/>
                </a:solidFill>
                <a:latin typeface="Calibri"/>
              </a:rPr>
              <a:t>Combined, the top three product type × application cells generate an</a:t>
            </a:r>
          </a:p>
        </p:txBody>
      </p:sp>
      <p:sp>
        <p:nvSpPr>
          <p:cNvPr id="130" name="TextBox 129"/>
          <p:cNvSpPr txBox="1"/>
          <p:nvPr/>
        </p:nvSpPr>
        <p:spPr>
          <a:xfrm>
            <a:off x="7715250" y="2854832"/>
            <a:ext cx="1594036" cy="194310"/>
          </a:xfrm>
          <a:prstGeom prst="rect">
            <a:avLst/>
          </a:prstGeom>
          <a:noFill/>
        </p:spPr>
        <p:txBody>
          <a:bodyPr wrap="none" lIns="0" rIns="0" tIns="0" bIns="0">
            <a:spAutoFit/>
          </a:bodyPr>
          <a:lstStyle/>
          <a:p>
            <a:r>
              <a:rPr sz="1150" b="0">
                <a:solidFill>
                  <a:srgbClr val="2E2E2E"/>
                </a:solidFill>
                <a:latin typeface="Calibri"/>
              </a:rPr>
              <a:t>absolute $ opportunity of</a:t>
            </a:r>
          </a:p>
        </p:txBody>
      </p:sp>
      <p:pic>
        <p:nvPicPr>
          <p:cNvPr id="131" name="Picture 130" descr="lock.png"/>
          <p:cNvPicPr>
            <a:picLocks noChangeAspect="1"/>
          </p:cNvPicPr>
          <p:nvPr/>
        </p:nvPicPr>
        <p:blipFill>
          <a:blip r:embed="rId4"/>
          <a:stretch>
            <a:fillRect/>
          </a:stretch>
        </p:blipFill>
        <p:spPr>
          <a:xfrm>
            <a:off x="9258439" y="2844609"/>
            <a:ext cx="134549" cy="195707"/>
          </a:xfrm>
          <a:prstGeom prst="rect">
            <a:avLst/>
          </a:prstGeom>
        </p:spPr>
      </p:pic>
      <p:sp>
        <p:nvSpPr>
          <p:cNvPr id="132" name="TextBox 131"/>
          <p:cNvSpPr txBox="1"/>
          <p:nvPr/>
        </p:nvSpPr>
        <p:spPr>
          <a:xfrm>
            <a:off x="9433549" y="2854832"/>
            <a:ext cx="1155386" cy="194310"/>
          </a:xfrm>
          <a:prstGeom prst="rect">
            <a:avLst/>
          </a:prstGeom>
          <a:noFill/>
        </p:spPr>
        <p:txBody>
          <a:bodyPr wrap="none" lIns="0" rIns="0" tIns="0" bIns="0">
            <a:spAutoFit/>
          </a:bodyPr>
          <a:lstStyle/>
          <a:p>
            <a:r>
              <a:rPr sz="1150" b="0">
                <a:solidFill>
                  <a:srgbClr val="2E2E2E"/>
                </a:solidFill>
                <a:latin typeface="Calibri"/>
              </a:rPr>
              <a:t>US$ Mn by 2036F.</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Share Analysis: Product Type × Application, 2026E</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 share of global market value, each row split across all application sub-segments</a:t>
            </a:r>
          </a:p>
        </p:txBody>
      </p:sp>
      <p:sp>
        <p:nvSpPr>
          <p:cNvPr id="7" name="Rounded Rectangle 6"/>
          <p:cNvSpPr/>
          <p:nvPr/>
        </p:nvSpPr>
        <p:spPr>
          <a:xfrm>
            <a:off x="142875" y="981075"/>
            <a:ext cx="11906250" cy="3048000"/>
          </a:xfrm>
          <a:prstGeom prst="roundRect">
            <a:avLst>
              <a:gd name="adj" fmla="val 2500"/>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Share, Product Type × Application, 2026E (% of each row)</a:t>
            </a:r>
          </a:p>
        </p:txBody>
      </p:sp>
      <p:graphicFrame>
        <p:nvGraphicFramePr>
          <p:cNvPr id="9" name="Table 8"/>
          <p:cNvGraphicFramePr>
            <a:graphicFrameLocks noGrp="1"/>
          </p:cNvGraphicFramePr>
          <p:nvPr/>
        </p:nvGraphicFramePr>
        <p:xfrm>
          <a:off x="152400" y="1238250"/>
          <a:ext cx="11890609" cy="2581276"/>
        </p:xfrm>
        <a:graphic>
          <a:graphicData uri="http://schemas.openxmlformats.org/drawingml/2006/table">
            <a:tbl>
              <a:tblPr>
                <a:tableStyleId>{5C22544A-7EE6-4342-B048-85BDC9FD1C3A}</a:tableStyleId>
              </a:tblPr>
              <a:tblGrid>
                <a:gridCol w="2316843"/>
                <a:gridCol w="919004"/>
                <a:gridCol w="919350"/>
                <a:gridCol w="917646"/>
                <a:gridCol w="679924"/>
                <a:gridCol w="658966"/>
                <a:gridCol w="658962"/>
                <a:gridCol w="1037827"/>
                <a:gridCol w="1038884"/>
                <a:gridCol w="841096"/>
                <a:gridCol w="607199"/>
                <a:gridCol w="803489"/>
                <a:gridCol w="491419"/>
              </a:tblGrid>
              <a:tr h="1595628">
                <a:tc>
                  <a:txBody>
                    <a:bodyPr wrap="none"/>
                    <a:lstStyle/>
                    <a:p>
                      <a:pPr algn="l"/>
                      <a:r>
                        <a:rPr sz="1100" b="1">
                          <a:solidFill>
                            <a:srgbClr val="0E2A5C"/>
                          </a:solidFill>
                          <a:latin typeface="Calibri"/>
                        </a:rPr>
                        <a:t>Product Type</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Dietary Supplements &amp; Nutraceuticals | Joint &amp; Bone Health</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Dietary Supplements &amp; Nutraceuticals | Skin, Hair &amp; Nail Health</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Dietary Supplements &amp; Nutraceuticals | Others</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Functional Food &amp; Beverages</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Cosmetics &amp; Personal Care | Skin Care</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Cosmetics &amp; Personal Care | Hair Care</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Pharmaceuticals &amp; Biomedical | Wound Care &amp; Dressings</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Pharmaceuticals &amp; Biomedical | Tissue Engineering &amp; Drug Delivery</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Animal Nutrition &amp; Pet Care | Pet Joint &amp; Skin Supplements</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Animal Nutrition &amp; Pet Care | Livestock &amp; Poultry Feed</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Industrial &amp; Biomaterials</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Total</a:t>
                      </a:r>
                      <a:endParaRPr sz="1100"/>
                    </a:p>
                  </a:txBody>
                  <a:tcPr marL="19050" marR="14288" marT="19050" marB="19050" anchor="ctr">
                    <a:solidFill>
                      <a:srgbClr val="EBF2F9"/>
                    </a:solidFill>
                  </a:tcPr>
                </a:tc>
              </a:tr>
              <a:tr h="246412">
                <a:tc>
                  <a:txBody>
                    <a:bodyPr wrap="none"/>
                    <a:lstStyle/>
                    <a:p>
                      <a:pPr algn="l"/>
                      <a:r>
                        <a:rPr sz="1100" b="1">
                          <a:solidFill>
                            <a:srgbClr val="2E2E2E"/>
                          </a:solidFill>
                          <a:latin typeface="Calibri"/>
                        </a:rPr>
                        <a:t>Micronized Eggshell Membrane</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r>
              <a:tr h="246412">
                <a:tc>
                  <a:txBody>
                    <a:bodyPr wrap="none"/>
                    <a:lstStyle/>
                    <a:p>
                      <a:pPr algn="l"/>
                      <a:r>
                        <a:rPr sz="1100" b="1">
                          <a:solidFill>
                            <a:srgbClr val="2E2E2E"/>
                          </a:solidFill>
                          <a:latin typeface="Calibri"/>
                        </a:rPr>
                        <a:t>Hydrolyzed Eggshell Membrane</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r>
              <a:tr h="246412">
                <a:tc>
                  <a:txBody>
                    <a:bodyPr wrap="none"/>
                    <a:lstStyle/>
                    <a:p>
                      <a:pPr algn="l"/>
                      <a:r>
                        <a:rPr sz="1100" b="1">
                          <a:solidFill>
                            <a:srgbClr val="2E2E2E"/>
                          </a:solidFill>
                          <a:latin typeface="Calibri"/>
                        </a:rPr>
                        <a:t>Specialty Extracted Protein Fractions</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r>
              <a:tr h="246412">
                <a:tc>
                  <a:txBody>
                    <a:bodyPr wrap="none"/>
                    <a:lstStyle/>
                    <a:p>
                      <a:pPr algn="l"/>
                      <a:r>
                        <a:rPr sz="1100" b="1">
                          <a:solidFill>
                            <a:srgbClr val="2E2E2E"/>
                          </a:solidFill>
                          <a:latin typeface="Calibri"/>
                        </a:rPr>
                        <a:t>Total</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r>
            </a:tbl>
          </a:graphicData>
        </a:graphic>
      </p:graphicFrame>
      <p:sp>
        <p:nvSpPr>
          <p:cNvPr id="10" name="TextBox 9"/>
          <p:cNvSpPr txBox="1"/>
          <p:nvPr/>
        </p:nvSpPr>
        <p:spPr>
          <a:xfrm>
            <a:off x="219075" y="382905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11" name="Rounded Rectangle 10"/>
          <p:cNvSpPr/>
          <p:nvPr/>
        </p:nvSpPr>
        <p:spPr>
          <a:xfrm>
            <a:off x="142875" y="4162425"/>
            <a:ext cx="7286625" cy="2466975"/>
          </a:xfrm>
          <a:prstGeom prst="roundRect">
            <a:avLst>
              <a:gd name="adj" fmla="val 308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4219575"/>
            <a:ext cx="70961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Application Mix by Product Type, 2026E (% share)</a:t>
            </a:r>
          </a:p>
        </p:txBody>
      </p:sp>
      <p:graphicFrame>
        <p:nvGraphicFramePr>
          <p:cNvPr id="13" name="Chart 12"/>
          <p:cNvGraphicFramePr>
            <a:graphicFrameLocks noGrp="1"/>
          </p:cNvGraphicFramePr>
          <p:nvPr/>
        </p:nvGraphicFramePr>
        <p:xfrm>
          <a:off x="238125" y="4448175"/>
          <a:ext cx="7096125" cy="2124075"/>
        </p:xfrm>
        <a:graphic>
          <a:graphicData uri="http://schemas.openxmlformats.org/drawingml/2006/chart">
            <c:chart xmlns:c="http://schemas.openxmlformats.org/drawingml/2006/chart" r:id="rId3"/>
          </a:graphicData>
        </a:graphic>
      </p:graphicFrame>
      <p:sp>
        <p:nvSpPr>
          <p:cNvPr id="14" name="Rounded Rectangle 13"/>
          <p:cNvSpPr/>
          <p:nvPr/>
        </p:nvSpPr>
        <p:spPr>
          <a:xfrm>
            <a:off x="7581900" y="4162425"/>
            <a:ext cx="4457700" cy="2466975"/>
          </a:xfrm>
          <a:prstGeom prst="roundRect">
            <a:avLst>
              <a:gd name="adj" fmla="val 308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15250" y="4248150"/>
            <a:ext cx="4191000" cy="209550"/>
          </a:xfrm>
          <a:prstGeom prst="rect">
            <a:avLst/>
          </a:prstGeom>
          <a:noFill/>
        </p:spPr>
        <p:txBody>
          <a:bodyPr wrap="square" lIns="0" rIns="19050" tIns="9525" bIns="9525">
            <a:spAutoFit/>
          </a:bodyPr>
          <a:lstStyle/>
          <a:p>
            <a:pPr algn="l"/>
            <a:r>
              <a:rPr sz="1300" b="1">
                <a:solidFill>
                  <a:srgbClr val="0E2A5C"/>
                </a:solidFill>
                <a:latin typeface="Calibri"/>
              </a:rPr>
              <a:t>Share Insights</a:t>
            </a:r>
          </a:p>
        </p:txBody>
      </p:sp>
      <p:sp>
        <p:nvSpPr>
          <p:cNvPr id="16" name="Rectangle 15"/>
          <p:cNvSpPr/>
          <p:nvPr/>
        </p:nvSpPr>
        <p:spPr>
          <a:xfrm>
            <a:off x="7715250" y="4486275"/>
            <a:ext cx="419100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15250" y="4572000"/>
            <a:ext cx="4191000" cy="19812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p:txBody>
      </p:sp>
      <p:sp>
        <p:nvSpPr>
          <p:cNvPr id="18" name="Rectangle 17"/>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20" name="Picture 19" descr="lock.png"/>
          <p:cNvPicPr>
            <a:picLocks noChangeAspect="1"/>
          </p:cNvPicPr>
          <p:nvPr/>
        </p:nvPicPr>
        <p:blipFill>
          <a:blip r:embed="rId5"/>
          <a:stretch>
            <a:fillRect/>
          </a:stretch>
        </p:blipFill>
        <p:spPr>
          <a:xfrm>
            <a:off x="7034308" y="3060002"/>
            <a:ext cx="366712" cy="533399"/>
          </a:xfrm>
          <a:prstGeom prst="rect">
            <a:avLst/>
          </a:prstGeom>
        </p:spPr>
      </p:pic>
      <p:pic>
        <p:nvPicPr>
          <p:cNvPr id="21" name="Picture 20" descr="lock.png"/>
          <p:cNvPicPr>
            <a:picLocks noChangeAspect="1"/>
          </p:cNvPicPr>
          <p:nvPr/>
        </p:nvPicPr>
        <p:blipFill>
          <a:blip r:embed="rId5"/>
          <a:stretch>
            <a:fillRect/>
          </a:stretch>
        </p:blipFill>
        <p:spPr>
          <a:xfrm>
            <a:off x="3752764" y="4813024"/>
            <a:ext cx="355653" cy="517314"/>
          </a:xfrm>
          <a:prstGeom prst="rect">
            <a:avLst/>
          </a:prstGeom>
        </p:spPr>
      </p:pic>
      <p:sp>
        <p:nvSpPr>
          <p:cNvPr id="22" name="TextBox 21"/>
          <p:cNvSpPr txBox="1"/>
          <p:nvPr/>
        </p:nvSpPr>
        <p:spPr>
          <a:xfrm>
            <a:off x="7715250" y="4581525"/>
            <a:ext cx="3523747" cy="194310"/>
          </a:xfrm>
          <a:prstGeom prst="rect">
            <a:avLst/>
          </a:prstGeom>
          <a:noFill/>
        </p:spPr>
        <p:txBody>
          <a:bodyPr wrap="none" lIns="0" rIns="0" tIns="0" bIns="0">
            <a:spAutoFit/>
          </a:bodyPr>
          <a:lstStyle/>
          <a:p>
            <a:r>
              <a:rPr sz="1150" b="0">
                <a:solidFill>
                  <a:srgbClr val="2E2E2E"/>
                </a:solidFill>
                <a:latin typeface="Calibri"/>
              </a:rPr>
              <a:t>▪ 'Functional Food &amp; Beverages' holds the highest share of</a:t>
            </a:r>
          </a:p>
        </p:txBody>
      </p:sp>
      <p:sp>
        <p:nvSpPr>
          <p:cNvPr id="23" name="TextBox 22"/>
          <p:cNvSpPr txBox="1"/>
          <p:nvPr/>
        </p:nvSpPr>
        <p:spPr>
          <a:xfrm>
            <a:off x="7715250" y="4756785"/>
            <a:ext cx="2171960" cy="194310"/>
          </a:xfrm>
          <a:prstGeom prst="rect">
            <a:avLst/>
          </a:prstGeom>
          <a:noFill/>
        </p:spPr>
        <p:txBody>
          <a:bodyPr wrap="none" lIns="0" rIns="0" tIns="0" bIns="0">
            <a:spAutoFit/>
          </a:bodyPr>
          <a:lstStyle/>
          <a:p>
            <a:r>
              <a:rPr sz="1150" b="0">
                <a:solidFill>
                  <a:srgbClr val="2E2E2E"/>
                </a:solidFill>
                <a:latin typeface="Calibri"/>
              </a:rPr>
              <a:t>'Hydrolyzed Eggshell Membrane' at</a:t>
            </a:r>
          </a:p>
        </p:txBody>
      </p:sp>
      <p:pic>
        <p:nvPicPr>
          <p:cNvPr id="24" name="Picture 23" descr="lock.png"/>
          <p:cNvPicPr>
            <a:picLocks noChangeAspect="1"/>
          </p:cNvPicPr>
          <p:nvPr/>
        </p:nvPicPr>
        <p:blipFill>
          <a:blip r:embed="rId5"/>
          <a:stretch>
            <a:fillRect/>
          </a:stretch>
        </p:blipFill>
        <p:spPr>
          <a:xfrm>
            <a:off x="9836364" y="4746561"/>
            <a:ext cx="134549" cy="195707"/>
          </a:xfrm>
          <a:prstGeom prst="rect">
            <a:avLst/>
          </a:prstGeom>
        </p:spPr>
      </p:pic>
      <p:sp>
        <p:nvSpPr>
          <p:cNvPr id="25" name="TextBox 24"/>
          <p:cNvSpPr txBox="1"/>
          <p:nvPr/>
        </p:nvSpPr>
        <p:spPr>
          <a:xfrm>
            <a:off x="10011473" y="4756785"/>
            <a:ext cx="569404" cy="194310"/>
          </a:xfrm>
          <a:prstGeom prst="rect">
            <a:avLst/>
          </a:prstGeom>
          <a:noFill/>
        </p:spPr>
        <p:txBody>
          <a:bodyPr wrap="none" lIns="0" rIns="0" tIns="0" bIns="0">
            <a:spAutoFit/>
          </a:bodyPr>
          <a:lstStyle/>
          <a:p>
            <a:r>
              <a:rPr sz="1150" b="0">
                <a:solidFill>
                  <a:srgbClr val="2E2E2E"/>
                </a:solidFill>
                <a:latin typeface="Calibri"/>
              </a:rPr>
              <a:t>(2026E).</a:t>
            </a:r>
          </a:p>
        </p:txBody>
      </p:sp>
      <p:sp>
        <p:nvSpPr>
          <p:cNvPr id="26" name="TextBox 25"/>
          <p:cNvSpPr txBox="1"/>
          <p:nvPr/>
        </p:nvSpPr>
        <p:spPr>
          <a:xfrm>
            <a:off x="7715250" y="4984622"/>
            <a:ext cx="4123952" cy="194310"/>
          </a:xfrm>
          <a:prstGeom prst="rect">
            <a:avLst/>
          </a:prstGeom>
          <a:noFill/>
        </p:spPr>
        <p:txBody>
          <a:bodyPr wrap="none" lIns="0" rIns="0" tIns="0" bIns="0">
            <a:spAutoFit/>
          </a:bodyPr>
          <a:lstStyle/>
          <a:p>
            <a:r>
              <a:rPr sz="1150" b="0">
                <a:solidFill>
                  <a:srgbClr val="2E2E2E"/>
                </a:solidFill>
                <a:latin typeface="Calibri"/>
              </a:rPr>
              <a:t>▪ 'Hydrolyzed Eggshell Membrane' is the most concentrated product</a:t>
            </a:r>
          </a:p>
        </p:txBody>
      </p:sp>
      <p:sp>
        <p:nvSpPr>
          <p:cNvPr id="27" name="TextBox 26"/>
          <p:cNvSpPr txBox="1"/>
          <p:nvPr/>
        </p:nvSpPr>
        <p:spPr>
          <a:xfrm>
            <a:off x="7715250" y="5159882"/>
            <a:ext cx="1476511" cy="194310"/>
          </a:xfrm>
          <a:prstGeom prst="rect">
            <a:avLst/>
          </a:prstGeom>
          <a:noFill/>
        </p:spPr>
        <p:txBody>
          <a:bodyPr wrap="none" lIns="0" rIns="0" tIns="0" bIns="0">
            <a:spAutoFit/>
          </a:bodyPr>
          <a:lstStyle/>
          <a:p>
            <a:r>
              <a:rPr sz="1150" b="0">
                <a:solidFill>
                  <a:srgbClr val="2E2E2E"/>
                </a:solidFill>
                <a:latin typeface="Calibri"/>
              </a:rPr>
              <a:t>type sub-segment, with</a:t>
            </a:r>
          </a:p>
        </p:txBody>
      </p:sp>
      <p:pic>
        <p:nvPicPr>
          <p:cNvPr id="28" name="Picture 27" descr="lock.png"/>
          <p:cNvPicPr>
            <a:picLocks noChangeAspect="1"/>
          </p:cNvPicPr>
          <p:nvPr/>
        </p:nvPicPr>
        <p:blipFill>
          <a:blip r:embed="rId5"/>
          <a:stretch>
            <a:fillRect/>
          </a:stretch>
        </p:blipFill>
        <p:spPr>
          <a:xfrm>
            <a:off x="9140915" y="5149659"/>
            <a:ext cx="134549" cy="195707"/>
          </a:xfrm>
          <a:prstGeom prst="rect">
            <a:avLst/>
          </a:prstGeom>
        </p:spPr>
      </p:pic>
      <p:sp>
        <p:nvSpPr>
          <p:cNvPr id="29" name="TextBox 28"/>
          <p:cNvSpPr txBox="1"/>
          <p:nvPr/>
        </p:nvSpPr>
        <p:spPr>
          <a:xfrm>
            <a:off x="9316024" y="5159882"/>
            <a:ext cx="2076369" cy="194310"/>
          </a:xfrm>
          <a:prstGeom prst="rect">
            <a:avLst/>
          </a:prstGeom>
          <a:noFill/>
        </p:spPr>
        <p:txBody>
          <a:bodyPr wrap="none" lIns="0" rIns="0" tIns="0" bIns="0">
            <a:spAutoFit/>
          </a:bodyPr>
          <a:lstStyle/>
          <a:p>
            <a:r>
              <a:rPr sz="1150" b="0">
                <a:solidFill>
                  <a:srgbClr val="2E2E2E"/>
                </a:solidFill>
                <a:latin typeface="Calibri"/>
              </a:rPr>
              <a:t>of its value via 'Functional Food &amp;</a:t>
            </a:r>
          </a:p>
        </p:txBody>
      </p:sp>
      <p:sp>
        <p:nvSpPr>
          <p:cNvPr id="30" name="TextBox 29"/>
          <p:cNvSpPr txBox="1"/>
          <p:nvPr/>
        </p:nvSpPr>
        <p:spPr>
          <a:xfrm>
            <a:off x="7715250" y="5335142"/>
            <a:ext cx="755674" cy="194310"/>
          </a:xfrm>
          <a:prstGeom prst="rect">
            <a:avLst/>
          </a:prstGeom>
          <a:noFill/>
        </p:spPr>
        <p:txBody>
          <a:bodyPr wrap="none" lIns="0" rIns="0" tIns="0" bIns="0">
            <a:spAutoFit/>
          </a:bodyPr>
          <a:lstStyle/>
          <a:p>
            <a:r>
              <a:rPr sz="1150" b="0">
                <a:solidFill>
                  <a:srgbClr val="2E2E2E"/>
                </a:solidFill>
                <a:latin typeface="Calibri"/>
              </a:rPr>
              <a:t>Beverages'.</a:t>
            </a:r>
          </a:p>
        </p:txBody>
      </p:sp>
      <p:sp>
        <p:nvSpPr>
          <p:cNvPr id="31" name="TextBox 30"/>
          <p:cNvSpPr txBox="1"/>
          <p:nvPr/>
        </p:nvSpPr>
        <p:spPr>
          <a:xfrm>
            <a:off x="7715250" y="5562980"/>
            <a:ext cx="2399847" cy="194310"/>
          </a:xfrm>
          <a:prstGeom prst="rect">
            <a:avLst/>
          </a:prstGeom>
          <a:noFill/>
        </p:spPr>
        <p:txBody>
          <a:bodyPr wrap="none" lIns="0" rIns="0" tIns="0" bIns="0">
            <a:spAutoFit/>
          </a:bodyPr>
          <a:lstStyle/>
          <a:p>
            <a:r>
              <a:rPr sz="1150" b="0">
                <a:solidFill>
                  <a:srgbClr val="2E2E2E"/>
                </a:solidFill>
                <a:latin typeface="Calibri"/>
              </a:rPr>
              <a:t>▪ 'Functional Food &amp; Beverages' gains +</a:t>
            </a:r>
          </a:p>
        </p:txBody>
      </p:sp>
      <p:pic>
        <p:nvPicPr>
          <p:cNvPr id="32" name="Picture 31" descr="lock.png"/>
          <p:cNvPicPr>
            <a:picLocks noChangeAspect="1"/>
          </p:cNvPicPr>
          <p:nvPr/>
        </p:nvPicPr>
        <p:blipFill>
          <a:blip r:embed="rId5"/>
          <a:stretch>
            <a:fillRect/>
          </a:stretch>
        </p:blipFill>
        <p:spPr>
          <a:xfrm>
            <a:off x="10064251" y="5552757"/>
            <a:ext cx="134549" cy="195707"/>
          </a:xfrm>
          <a:prstGeom prst="rect">
            <a:avLst/>
          </a:prstGeom>
        </p:spPr>
      </p:pic>
      <p:sp>
        <p:nvSpPr>
          <p:cNvPr id="33" name="TextBox 32"/>
          <p:cNvSpPr txBox="1"/>
          <p:nvPr/>
        </p:nvSpPr>
        <p:spPr>
          <a:xfrm>
            <a:off x="10239360" y="5562980"/>
            <a:ext cx="1616000" cy="194310"/>
          </a:xfrm>
          <a:prstGeom prst="rect">
            <a:avLst/>
          </a:prstGeom>
          <a:noFill/>
        </p:spPr>
        <p:txBody>
          <a:bodyPr wrap="none" lIns="0" rIns="0" tIns="0" bIns="0">
            <a:spAutoFit/>
          </a:bodyPr>
          <a:lstStyle/>
          <a:p>
            <a:r>
              <a:rPr sz="1150" b="0">
                <a:solidFill>
                  <a:srgbClr val="2E2E2E"/>
                </a:solidFill>
                <a:latin typeface="Calibri"/>
              </a:rPr>
              <a:t>BPS of share of the Global</a:t>
            </a:r>
          </a:p>
        </p:txBody>
      </p:sp>
      <p:sp>
        <p:nvSpPr>
          <p:cNvPr id="34" name="TextBox 33"/>
          <p:cNvSpPr txBox="1"/>
          <p:nvPr/>
        </p:nvSpPr>
        <p:spPr>
          <a:xfrm>
            <a:off x="7715250" y="5738240"/>
            <a:ext cx="1462605" cy="194310"/>
          </a:xfrm>
          <a:prstGeom prst="rect">
            <a:avLst/>
          </a:prstGeom>
          <a:noFill/>
        </p:spPr>
        <p:txBody>
          <a:bodyPr wrap="none" lIns="0" rIns="0" tIns="0" bIns="0">
            <a:spAutoFit/>
          </a:bodyPr>
          <a:lstStyle/>
          <a:p>
            <a:r>
              <a:rPr sz="1150" b="0">
                <a:solidFill>
                  <a:srgbClr val="2E2E2E"/>
                </a:solidFill>
                <a:latin typeface="Calibri"/>
              </a:rPr>
              <a:t>cross-section by 2036F.</a:t>
            </a:r>
          </a:p>
        </p:txBody>
      </p:sp>
      <p:sp>
        <p:nvSpPr>
          <p:cNvPr id="35" name="lockshield_13"/>
          <p:cNvSpPr/>
          <p:nvPr/>
        </p:nvSpPr>
        <p:spPr>
          <a:xfrm>
            <a:off x="238125" y="4448175"/>
            <a:ext cx="7096125" cy="21240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Absolute $ Opportunity &amp; Attractiveness: Product Type × Application, 2026E–2036F (1/3)</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Incremental value 2026E→2036F (US$ Mn) and value CAGR by cell; attractiveness index scored 1–5</a:t>
            </a:r>
          </a:p>
        </p:txBody>
      </p:sp>
      <p:sp>
        <p:nvSpPr>
          <p:cNvPr id="7" name="Rounded Rectangle 6"/>
          <p:cNvSpPr/>
          <p:nvPr/>
        </p:nvSpPr>
        <p:spPr>
          <a:xfrm>
            <a:off x="142875" y="981075"/>
            <a:ext cx="11906250" cy="5314950"/>
          </a:xfrm>
          <a:prstGeom prst="roundRect">
            <a:avLst>
              <a:gd name="adj" fmla="val 1433"/>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Incremental $ Opportunity (US$ Mn) and Value CAGR, Product Type × Application, 2026E–2036F</a:t>
            </a:r>
          </a:p>
        </p:txBody>
      </p:sp>
      <p:graphicFrame>
        <p:nvGraphicFramePr>
          <p:cNvPr id="9" name="Table 8"/>
          <p:cNvGraphicFramePr>
            <a:graphicFrameLocks noGrp="1"/>
          </p:cNvGraphicFramePr>
          <p:nvPr/>
        </p:nvGraphicFramePr>
        <p:xfrm>
          <a:off x="152400" y="1238250"/>
          <a:ext cx="11948052" cy="4848225"/>
        </p:xfrm>
        <a:graphic>
          <a:graphicData uri="http://schemas.openxmlformats.org/drawingml/2006/table">
            <a:tbl>
              <a:tblPr>
                <a:tableStyleId>{5C22544A-7EE6-4342-B048-85BDC9FD1C3A}</a:tableStyleId>
              </a:tblPr>
              <a:tblGrid>
                <a:gridCol w="3200401"/>
                <a:gridCol w="375667"/>
                <a:gridCol w="425597"/>
                <a:gridCol w="375667"/>
                <a:gridCol w="425597"/>
                <a:gridCol w="381758"/>
                <a:gridCol w="431688"/>
                <a:gridCol w="190489"/>
                <a:gridCol w="194124"/>
                <a:gridCol w="313535"/>
                <a:gridCol w="363465"/>
                <a:gridCol w="313535"/>
                <a:gridCol w="363465"/>
                <a:gridCol w="463382"/>
                <a:gridCol w="513313"/>
                <a:gridCol w="424398"/>
                <a:gridCol w="474328"/>
                <a:gridCol w="570591"/>
                <a:gridCol w="620521"/>
                <a:gridCol w="323262"/>
                <a:gridCol w="373192"/>
                <a:gridCol w="190489"/>
                <a:gridCol w="194124"/>
                <a:gridCol w="190489"/>
                <a:gridCol w="254975"/>
              </a:tblGrid>
              <a:tr h="1017270">
                <a:tc rowSpan="2">
                  <a:txBody>
                    <a:bodyPr wrap="none"/>
                    <a:lstStyle/>
                    <a:p>
                      <a:pPr algn="l"/>
                      <a:r>
                        <a:rPr sz="1100" b="1">
                          <a:solidFill>
                            <a:srgbClr val="0E2A5C"/>
                          </a:solidFill>
                          <a:latin typeface="Calibri"/>
                        </a:rPr>
                        <a:t>Produc</a:t>
                      </a:r>
                      <a:endParaRPr sz="1100"/>
                    </a:p>
                    <a:p>
                      <a:pPr algn="l"/>
                      <a:r>
                        <a:rPr sz="1100" b="1">
                          <a:solidFill>
                            <a:srgbClr val="0E2A5C"/>
                          </a:solidFill>
                          <a:latin typeface="Calibri"/>
                        </a:rPr>
                        <a:t>t Type</a:t>
                      </a:r>
                      <a:endParaRPr sz="1100"/>
                    </a:p>
                  </a:txBody>
                  <a:tcPr marL="19050" marR="14288" marT="19050" marB="19050" anchor="ctr">
                    <a:solidFill>
                      <a:srgbClr val="EBF2F9"/>
                    </a:solidFill>
                  </a:tcPr>
                </a:tc>
                <a:tc gridSpan="2">
                  <a:txBody>
                    <a:bodyPr wrap="none"/>
                    <a:lstStyle/>
                    <a:p>
                      <a:pPr algn="ctr"/>
                      <a:r>
                        <a:rPr sz="1100" b="1">
                          <a:solidFill>
                            <a:srgbClr val="0E2A5C"/>
                          </a:solidFill>
                          <a:latin typeface="Calibri"/>
                        </a:rPr>
                        <a:t>Dietary</a:t>
                      </a:r>
                      <a:endParaRPr sz="1100"/>
                    </a:p>
                    <a:p>
                      <a:pPr algn="ctr"/>
                      <a:r>
                        <a:rPr sz="1100" b="1">
                          <a:solidFill>
                            <a:srgbClr val="0E2A5C"/>
                          </a:solidFill>
                          <a:latin typeface="Calibri"/>
                        </a:rPr>
                        <a:t>Supplements &amp;</a:t>
                      </a:r>
                      <a:endParaRPr sz="1100"/>
                    </a:p>
                    <a:p>
                      <a:pPr algn="ctr"/>
                      <a:r>
                        <a:rPr sz="1100" b="1">
                          <a:solidFill>
                            <a:srgbClr val="0E2A5C"/>
                          </a:solidFill>
                          <a:latin typeface="Calibri"/>
                        </a:rPr>
                        <a:t>Nutraceuticals |</a:t>
                      </a:r>
                      <a:endParaRPr sz="1100"/>
                    </a:p>
                    <a:p>
                      <a:pPr algn="ctr"/>
                      <a:r>
                        <a:rPr sz="1100" b="1">
                          <a:solidFill>
                            <a:srgbClr val="0E2A5C"/>
                          </a:solidFill>
                          <a:latin typeface="Calibri"/>
                        </a:rPr>
                        <a:t>Joint &amp; Bone</a:t>
                      </a:r>
                      <a:endParaRPr sz="1100"/>
                    </a:p>
                    <a:p>
                      <a:pPr algn="ctr"/>
                      <a:r>
                        <a:rPr sz="1100" b="1">
                          <a:solidFill>
                            <a:srgbClr val="0E2A5C"/>
                          </a:solidFill>
                          <a:latin typeface="Calibri"/>
                        </a:rPr>
                        <a:t>Health</a:t>
                      </a:r>
                      <a:endParaRPr sz="1100"/>
                    </a:p>
                  </a:txBody>
                  <a:tcPr marL="19050" marR="14288" marT="19050" marB="19050" anchor="ctr">
                    <a:solidFill>
                      <a:srgbClr val="EBF2F9"/>
                    </a:solidFill>
                  </a:tcPr>
                </a:tc>
                <a:tc hMerge="1">
                  <a:txBody>
                    <a:bodyPr wrap="none"/>
                    <a:lstStyle/>
                    <a:p>
                      <a:pPr algn="ctr"/>
                      <a:endParaRPr sz="1100"/>
                    </a:p>
                  </a:txBody>
                  <a:tcPr marL="19050" marR="14288" marT="19050" marB="19050" anchor="ctr">
                    <a:solidFill>
                      <a:srgbClr val="EBF2F9"/>
                    </a:solidFill>
                  </a:tcPr>
                </a:tc>
                <a:tc gridSpan="2">
                  <a:txBody>
                    <a:bodyPr wrap="none"/>
                    <a:lstStyle/>
                    <a:p>
                      <a:pPr algn="ctr"/>
                      <a:r>
                        <a:rPr sz="1100" b="1">
                          <a:solidFill>
                            <a:srgbClr val="0E2A5C"/>
                          </a:solidFill>
                          <a:latin typeface="Calibri"/>
                        </a:rPr>
                        <a:t>Dietary</a:t>
                      </a:r>
                      <a:endParaRPr sz="1100"/>
                    </a:p>
                    <a:p>
                      <a:pPr algn="ctr"/>
                      <a:r>
                        <a:rPr sz="1100" b="1">
                          <a:solidFill>
                            <a:srgbClr val="0E2A5C"/>
                          </a:solidFill>
                          <a:latin typeface="Calibri"/>
                        </a:rPr>
                        <a:t>Supplements &amp;</a:t>
                      </a:r>
                      <a:endParaRPr sz="1100"/>
                    </a:p>
                    <a:p>
                      <a:pPr algn="ctr"/>
                      <a:r>
                        <a:rPr sz="1100" b="1">
                          <a:solidFill>
                            <a:srgbClr val="0E2A5C"/>
                          </a:solidFill>
                          <a:latin typeface="Calibri"/>
                        </a:rPr>
                        <a:t>Nutraceuticals |</a:t>
                      </a:r>
                      <a:endParaRPr sz="1100"/>
                    </a:p>
                    <a:p>
                      <a:pPr algn="ctr"/>
                      <a:r>
                        <a:rPr sz="1100" b="1">
                          <a:solidFill>
                            <a:srgbClr val="0E2A5C"/>
                          </a:solidFill>
                          <a:latin typeface="Calibri"/>
                        </a:rPr>
                        <a:t>Skin, Hair &amp; Nail</a:t>
                      </a:r>
                      <a:endParaRPr sz="1100"/>
                    </a:p>
                    <a:p>
                      <a:pPr algn="ctr"/>
                      <a:r>
                        <a:rPr sz="1100" b="1">
                          <a:solidFill>
                            <a:srgbClr val="0E2A5C"/>
                          </a:solidFill>
                          <a:latin typeface="Calibri"/>
                        </a:rPr>
                        <a:t>Health</a:t>
                      </a:r>
                      <a:endParaRPr sz="1100"/>
                    </a:p>
                  </a:txBody>
                  <a:tcPr marL="19050" marR="14288" marT="19050" marB="19050" anchor="ctr">
                    <a:solidFill>
                      <a:srgbClr val="EBF2F9"/>
                    </a:solidFill>
                  </a:tcPr>
                </a:tc>
                <a:tc hMerge="1">
                  <a:txBody>
                    <a:bodyPr wrap="none"/>
                    <a:lstStyle/>
                    <a:p>
                      <a:pPr algn="ctr"/>
                      <a:endParaRPr sz="1100"/>
                    </a:p>
                  </a:txBody>
                  <a:tcPr marL="19050" marR="14288" marT="19050" marB="19050" anchor="ctr">
                    <a:solidFill>
                      <a:srgbClr val="EBF2F9"/>
                    </a:solidFill>
                  </a:tcPr>
                </a:tc>
                <a:tc gridSpan="2">
                  <a:txBody>
                    <a:bodyPr wrap="none"/>
                    <a:lstStyle/>
                    <a:p>
                      <a:pPr algn="ctr"/>
                      <a:r>
                        <a:rPr sz="1100" b="1">
                          <a:solidFill>
                            <a:srgbClr val="0E2A5C"/>
                          </a:solidFill>
                          <a:latin typeface="Calibri"/>
                        </a:rPr>
                        <a:t>Dietary</a:t>
                      </a:r>
                      <a:endParaRPr sz="1100"/>
                    </a:p>
                    <a:p>
                      <a:pPr algn="ctr"/>
                      <a:r>
                        <a:rPr sz="1100" b="1">
                          <a:solidFill>
                            <a:srgbClr val="0E2A5C"/>
                          </a:solidFill>
                          <a:latin typeface="Calibri"/>
                        </a:rPr>
                        <a:t>Supplements &amp;</a:t>
                      </a:r>
                      <a:endParaRPr sz="1100"/>
                    </a:p>
                    <a:p>
                      <a:pPr algn="ctr"/>
                      <a:r>
                        <a:rPr sz="1100" b="1">
                          <a:solidFill>
                            <a:srgbClr val="0E2A5C"/>
                          </a:solidFill>
                          <a:latin typeface="Calibri"/>
                        </a:rPr>
                        <a:t>Nutraceuticals |</a:t>
                      </a:r>
                      <a:endParaRPr sz="1100"/>
                    </a:p>
                    <a:p>
                      <a:pPr algn="ctr"/>
                      <a:r>
                        <a:rPr sz="1100" b="1">
                          <a:solidFill>
                            <a:srgbClr val="0E2A5C"/>
                          </a:solidFill>
                          <a:latin typeface="Calibri"/>
                        </a:rPr>
                        <a:t>Others</a:t>
                      </a:r>
                      <a:endParaRPr sz="1100"/>
                    </a:p>
                  </a:txBody>
                  <a:tcPr marL="19050" marR="14288" marT="19050" marB="19050" anchor="ctr">
                    <a:solidFill>
                      <a:srgbClr val="EBF2F9"/>
                    </a:solidFill>
                  </a:tcPr>
                </a:tc>
                <a:tc hMerge="1">
                  <a:txBody>
                    <a:bodyPr wrap="none"/>
                    <a:lstStyle/>
                    <a:p>
                      <a:pPr algn="ctr"/>
                      <a:endParaRPr sz="1100"/>
                    </a:p>
                  </a:txBody>
                  <a:tcPr marL="19050" marR="14288" marT="19050" marB="19050" anchor="ctr">
                    <a:solidFill>
                      <a:srgbClr val="EBF2F9"/>
                    </a:solidFill>
                  </a:tcPr>
                </a:tc>
                <a:tc gridSpan="2">
                  <a:txBody>
                    <a:bodyPr wrap="none"/>
                    <a:lstStyle/>
                    <a:p>
                      <a:pPr algn="ctr"/>
                      <a:r>
                        <a:rPr sz="1100" b="1">
                          <a:solidFill>
                            <a:srgbClr val="0E2A5C"/>
                          </a:solidFill>
                          <a:latin typeface="Calibri"/>
                        </a:rPr>
                        <a:t>Functio</a:t>
                      </a:r>
                      <a:endParaRPr sz="1100"/>
                    </a:p>
                    <a:p>
                      <a:pPr algn="ctr"/>
                      <a:r>
                        <a:rPr sz="1100" b="1">
                          <a:solidFill>
                            <a:srgbClr val="0E2A5C"/>
                          </a:solidFill>
                          <a:latin typeface="Calibri"/>
                        </a:rPr>
                        <a:t>nal</a:t>
                      </a:r>
                      <a:endParaRPr sz="1100"/>
                    </a:p>
                    <a:p>
                      <a:pPr algn="ctr"/>
                      <a:r>
                        <a:rPr sz="1100" b="1">
                          <a:solidFill>
                            <a:srgbClr val="0E2A5C"/>
                          </a:solidFill>
                          <a:latin typeface="Calibri"/>
                        </a:rPr>
                        <a:t>Food &amp;</a:t>
                      </a:r>
                      <a:endParaRPr sz="1100"/>
                    </a:p>
                    <a:p>
                      <a:pPr algn="ctr"/>
                      <a:r>
                        <a:rPr sz="1100" b="1">
                          <a:solidFill>
                            <a:srgbClr val="0E2A5C"/>
                          </a:solidFill>
                          <a:latin typeface="Calibri"/>
                        </a:rPr>
                        <a:t>Bevera</a:t>
                      </a:r>
                      <a:endParaRPr sz="1100"/>
                    </a:p>
                    <a:p>
                      <a:pPr algn="ctr"/>
                      <a:r>
                        <a:rPr sz="1100" b="1">
                          <a:solidFill>
                            <a:srgbClr val="0E2A5C"/>
                          </a:solidFill>
                          <a:latin typeface="Calibri"/>
                        </a:rPr>
                        <a:t>ges</a:t>
                      </a:r>
                      <a:endParaRPr sz="1100"/>
                    </a:p>
                  </a:txBody>
                  <a:tcPr marL="19050" marR="14288" marT="19050" marB="19050" anchor="ctr">
                    <a:solidFill>
                      <a:srgbClr val="EBF2F9"/>
                    </a:solidFill>
                  </a:tcPr>
                </a:tc>
                <a:tc hMerge="1">
                  <a:txBody>
                    <a:bodyPr wrap="none"/>
                    <a:lstStyle/>
                    <a:p>
                      <a:pPr algn="ctr"/>
                      <a:endParaRPr sz="1100"/>
                    </a:p>
                  </a:txBody>
                  <a:tcPr marL="19050" marR="14288" marT="19050" marB="19050" anchor="ctr">
                    <a:solidFill>
                      <a:srgbClr val="EBF2F9"/>
                    </a:solidFill>
                  </a:tcPr>
                </a:tc>
                <a:tc gridSpan="2">
                  <a:txBody>
                    <a:bodyPr wrap="none"/>
                    <a:lstStyle/>
                    <a:p>
                      <a:pPr algn="ctr"/>
                      <a:r>
                        <a:rPr sz="1100" b="1">
                          <a:solidFill>
                            <a:srgbClr val="0E2A5C"/>
                          </a:solidFill>
                          <a:latin typeface="Calibri"/>
                        </a:rPr>
                        <a:t>Cosmetics &amp;</a:t>
                      </a:r>
                      <a:endParaRPr sz="1100"/>
                    </a:p>
                    <a:p>
                      <a:pPr algn="ctr"/>
                      <a:r>
                        <a:rPr sz="1100" b="1">
                          <a:solidFill>
                            <a:srgbClr val="0E2A5C"/>
                          </a:solidFill>
                          <a:latin typeface="Calibri"/>
                        </a:rPr>
                        <a:t>Personal Care</a:t>
                      </a:r>
                      <a:endParaRPr sz="1100"/>
                    </a:p>
                    <a:p>
                      <a:pPr algn="ctr"/>
                      <a:r>
                        <a:rPr sz="1100" b="1">
                          <a:solidFill>
                            <a:srgbClr val="0E2A5C"/>
                          </a:solidFill>
                          <a:latin typeface="Calibri"/>
                        </a:rPr>
                        <a:t>| Skin Care</a:t>
                      </a:r>
                      <a:endParaRPr sz="1100"/>
                    </a:p>
                  </a:txBody>
                  <a:tcPr marL="19050" marR="14288" marT="19050" marB="19050" anchor="ctr">
                    <a:solidFill>
                      <a:srgbClr val="EBF2F9"/>
                    </a:solidFill>
                  </a:tcPr>
                </a:tc>
                <a:tc hMerge="1">
                  <a:txBody>
                    <a:bodyPr wrap="none"/>
                    <a:lstStyle/>
                    <a:p>
                      <a:pPr algn="ctr"/>
                      <a:endParaRPr sz="1100"/>
                    </a:p>
                  </a:txBody>
                  <a:tcPr marL="19050" marR="14288" marT="19050" marB="19050" anchor="ctr">
                    <a:solidFill>
                      <a:srgbClr val="EBF2F9"/>
                    </a:solidFill>
                  </a:tcPr>
                </a:tc>
                <a:tc gridSpan="2">
                  <a:txBody>
                    <a:bodyPr wrap="none"/>
                    <a:lstStyle/>
                    <a:p>
                      <a:pPr algn="ctr"/>
                      <a:r>
                        <a:rPr sz="1100" b="1">
                          <a:solidFill>
                            <a:srgbClr val="0E2A5C"/>
                          </a:solidFill>
                          <a:latin typeface="Calibri"/>
                        </a:rPr>
                        <a:t>Cosmetics &amp;</a:t>
                      </a:r>
                      <a:endParaRPr sz="1100"/>
                    </a:p>
                    <a:p>
                      <a:pPr algn="ctr"/>
                      <a:r>
                        <a:rPr sz="1100" b="1">
                          <a:solidFill>
                            <a:srgbClr val="0E2A5C"/>
                          </a:solidFill>
                          <a:latin typeface="Calibri"/>
                        </a:rPr>
                        <a:t>Personal Care</a:t>
                      </a:r>
                      <a:endParaRPr sz="1100"/>
                    </a:p>
                    <a:p>
                      <a:pPr algn="ctr"/>
                      <a:r>
                        <a:rPr sz="1100" b="1">
                          <a:solidFill>
                            <a:srgbClr val="0E2A5C"/>
                          </a:solidFill>
                          <a:latin typeface="Calibri"/>
                        </a:rPr>
                        <a:t>| Hair Care</a:t>
                      </a:r>
                      <a:endParaRPr sz="1100"/>
                    </a:p>
                  </a:txBody>
                  <a:tcPr marL="19050" marR="14288" marT="19050" marB="19050" anchor="ctr">
                    <a:solidFill>
                      <a:srgbClr val="EBF2F9"/>
                    </a:solidFill>
                  </a:tcPr>
                </a:tc>
                <a:tc hMerge="1">
                  <a:txBody>
                    <a:bodyPr wrap="none"/>
                    <a:lstStyle/>
                    <a:p>
                      <a:pPr algn="ctr"/>
                      <a:endParaRPr sz="1100"/>
                    </a:p>
                  </a:txBody>
                  <a:tcPr marL="19050" marR="14288" marT="19050" marB="19050" anchor="ctr">
                    <a:solidFill>
                      <a:srgbClr val="EBF2F9"/>
                    </a:solidFill>
                  </a:tcPr>
                </a:tc>
                <a:tc gridSpan="2">
                  <a:txBody>
                    <a:bodyPr wrap="none"/>
                    <a:lstStyle/>
                    <a:p>
                      <a:pPr algn="ctr"/>
                      <a:r>
                        <a:rPr sz="1100" b="1">
                          <a:solidFill>
                            <a:srgbClr val="0E2A5C"/>
                          </a:solidFill>
                          <a:latin typeface="Calibri"/>
                        </a:rPr>
                        <a:t>Pharmaceuticals &amp;</a:t>
                      </a:r>
                      <a:endParaRPr sz="1100"/>
                    </a:p>
                    <a:p>
                      <a:pPr algn="ctr"/>
                      <a:r>
                        <a:rPr sz="1100" b="1">
                          <a:solidFill>
                            <a:srgbClr val="0E2A5C"/>
                          </a:solidFill>
                          <a:latin typeface="Calibri"/>
                        </a:rPr>
                        <a:t>Biomedical |</a:t>
                      </a:r>
                      <a:endParaRPr sz="1100"/>
                    </a:p>
                    <a:p>
                      <a:pPr algn="ctr"/>
                      <a:r>
                        <a:rPr sz="1100" b="1">
                          <a:solidFill>
                            <a:srgbClr val="0E2A5C"/>
                          </a:solidFill>
                          <a:latin typeface="Calibri"/>
                        </a:rPr>
                        <a:t>Wound Care &amp;</a:t>
                      </a:r>
                      <a:endParaRPr sz="1100"/>
                    </a:p>
                    <a:p>
                      <a:pPr algn="ctr"/>
                      <a:r>
                        <a:rPr sz="1100" b="1">
                          <a:solidFill>
                            <a:srgbClr val="0E2A5C"/>
                          </a:solidFill>
                          <a:latin typeface="Calibri"/>
                        </a:rPr>
                        <a:t>Dressings</a:t>
                      </a:r>
                      <a:endParaRPr sz="1100"/>
                    </a:p>
                  </a:txBody>
                  <a:tcPr marL="19050" marR="14288" marT="19050" marB="19050" anchor="ctr">
                    <a:solidFill>
                      <a:srgbClr val="EBF2F9"/>
                    </a:solidFill>
                  </a:tcPr>
                </a:tc>
                <a:tc hMerge="1">
                  <a:txBody>
                    <a:bodyPr wrap="none"/>
                    <a:lstStyle/>
                    <a:p>
                      <a:pPr algn="ctr"/>
                      <a:endParaRPr sz="1100"/>
                    </a:p>
                  </a:txBody>
                  <a:tcPr marL="19050" marR="14288" marT="19050" marB="19050" anchor="ctr">
                    <a:solidFill>
                      <a:srgbClr val="EBF2F9"/>
                    </a:solidFill>
                  </a:tcPr>
                </a:tc>
                <a:tc gridSpan="2">
                  <a:txBody>
                    <a:bodyPr wrap="none"/>
                    <a:lstStyle/>
                    <a:p>
                      <a:pPr algn="ctr"/>
                      <a:r>
                        <a:rPr sz="1100" b="1">
                          <a:solidFill>
                            <a:srgbClr val="0E2A5C"/>
                          </a:solidFill>
                          <a:latin typeface="Calibri"/>
                        </a:rPr>
                        <a:t>Pharmaceuticals &amp;</a:t>
                      </a:r>
                      <a:endParaRPr sz="1100"/>
                    </a:p>
                    <a:p>
                      <a:pPr algn="ctr"/>
                      <a:r>
                        <a:rPr sz="1100" b="1">
                          <a:solidFill>
                            <a:srgbClr val="0E2A5C"/>
                          </a:solidFill>
                          <a:latin typeface="Calibri"/>
                        </a:rPr>
                        <a:t>Biomedical |</a:t>
                      </a:r>
                      <a:endParaRPr sz="1100"/>
                    </a:p>
                    <a:p>
                      <a:pPr algn="ctr"/>
                      <a:r>
                        <a:rPr sz="1100" b="1">
                          <a:solidFill>
                            <a:srgbClr val="0E2A5C"/>
                          </a:solidFill>
                          <a:latin typeface="Calibri"/>
                        </a:rPr>
                        <a:t>Tissue Engineering</a:t>
                      </a:r>
                      <a:endParaRPr sz="1100"/>
                    </a:p>
                    <a:p>
                      <a:pPr algn="ctr"/>
                      <a:r>
                        <a:rPr sz="1100" b="1">
                          <a:solidFill>
                            <a:srgbClr val="0E2A5C"/>
                          </a:solidFill>
                          <a:latin typeface="Calibri"/>
                        </a:rPr>
                        <a:t>&amp; Drug Delivery</a:t>
                      </a:r>
                      <a:endParaRPr sz="1100"/>
                    </a:p>
                  </a:txBody>
                  <a:tcPr marL="19050" marR="14288" marT="19050" marB="19050" anchor="ctr">
                    <a:solidFill>
                      <a:srgbClr val="EBF2F9"/>
                    </a:solidFill>
                  </a:tcPr>
                </a:tc>
                <a:tc hMerge="1">
                  <a:txBody>
                    <a:bodyPr wrap="none"/>
                    <a:lstStyle/>
                    <a:p>
                      <a:pPr algn="ctr"/>
                      <a:endParaRPr sz="1100"/>
                    </a:p>
                  </a:txBody>
                  <a:tcPr marL="19050" marR="14288" marT="19050" marB="19050" anchor="ctr">
                    <a:solidFill>
                      <a:srgbClr val="EBF2F9"/>
                    </a:solidFill>
                  </a:tcPr>
                </a:tc>
                <a:tc gridSpan="2">
                  <a:txBody>
                    <a:bodyPr wrap="none"/>
                    <a:lstStyle/>
                    <a:p>
                      <a:pPr algn="ctr"/>
                      <a:r>
                        <a:rPr sz="1100" b="1">
                          <a:solidFill>
                            <a:srgbClr val="0E2A5C"/>
                          </a:solidFill>
                          <a:latin typeface="Calibri"/>
                        </a:rPr>
                        <a:t>Animal Nutrition &amp; Pet</a:t>
                      </a:r>
                      <a:endParaRPr sz="1100"/>
                    </a:p>
                    <a:p>
                      <a:pPr algn="ctr"/>
                      <a:r>
                        <a:rPr sz="1100" b="1">
                          <a:solidFill>
                            <a:srgbClr val="0E2A5C"/>
                          </a:solidFill>
                          <a:latin typeface="Calibri"/>
                        </a:rPr>
                        <a:t>Care | Pet Joint &amp; Skin</a:t>
                      </a:r>
                      <a:endParaRPr sz="1100"/>
                    </a:p>
                    <a:p>
                      <a:pPr algn="ctr"/>
                      <a:r>
                        <a:rPr sz="1100" b="1">
                          <a:solidFill>
                            <a:srgbClr val="0E2A5C"/>
                          </a:solidFill>
                          <a:latin typeface="Calibri"/>
                        </a:rPr>
                        <a:t>Supplements</a:t>
                      </a:r>
                      <a:endParaRPr sz="1100"/>
                    </a:p>
                  </a:txBody>
                  <a:tcPr marL="19050" marR="14288" marT="19050" marB="19050" anchor="ctr">
                    <a:solidFill>
                      <a:srgbClr val="EBF2F9"/>
                    </a:solidFill>
                  </a:tcPr>
                </a:tc>
                <a:tc hMerge="1">
                  <a:txBody>
                    <a:bodyPr wrap="none"/>
                    <a:lstStyle/>
                    <a:p>
                      <a:pPr algn="ctr"/>
                      <a:endParaRPr sz="1100"/>
                    </a:p>
                  </a:txBody>
                  <a:tcPr marL="19050" marR="14288" marT="19050" marB="19050" anchor="ctr">
                    <a:solidFill>
                      <a:srgbClr val="EBF2F9"/>
                    </a:solidFill>
                  </a:tcPr>
                </a:tc>
                <a:tc gridSpan="2">
                  <a:txBody>
                    <a:bodyPr wrap="none"/>
                    <a:lstStyle/>
                    <a:p>
                      <a:pPr algn="ctr"/>
                      <a:r>
                        <a:rPr sz="1100" b="1">
                          <a:solidFill>
                            <a:srgbClr val="0E2A5C"/>
                          </a:solidFill>
                          <a:latin typeface="Calibri"/>
                        </a:rPr>
                        <a:t>Animal</a:t>
                      </a:r>
                      <a:endParaRPr sz="1100"/>
                    </a:p>
                    <a:p>
                      <a:pPr algn="ctr"/>
                      <a:r>
                        <a:rPr sz="1100" b="1">
                          <a:solidFill>
                            <a:srgbClr val="0E2A5C"/>
                          </a:solidFill>
                          <a:latin typeface="Calibri"/>
                        </a:rPr>
                        <a:t>Nutrition &amp;</a:t>
                      </a:r>
                      <a:endParaRPr sz="1100"/>
                    </a:p>
                    <a:p>
                      <a:pPr algn="ctr"/>
                      <a:r>
                        <a:rPr sz="1100" b="1">
                          <a:solidFill>
                            <a:srgbClr val="0E2A5C"/>
                          </a:solidFill>
                          <a:latin typeface="Calibri"/>
                        </a:rPr>
                        <a:t>Pet Care |</a:t>
                      </a:r>
                      <a:endParaRPr sz="1100"/>
                    </a:p>
                    <a:p>
                      <a:pPr algn="ctr"/>
                      <a:r>
                        <a:rPr sz="1100" b="1">
                          <a:solidFill>
                            <a:srgbClr val="0E2A5C"/>
                          </a:solidFill>
                          <a:latin typeface="Calibri"/>
                        </a:rPr>
                        <a:t>Livestock &amp;</a:t>
                      </a:r>
                      <a:endParaRPr sz="1100"/>
                    </a:p>
                    <a:p>
                      <a:pPr algn="ctr"/>
                      <a:r>
                        <a:rPr sz="1100" b="1">
                          <a:solidFill>
                            <a:srgbClr val="0E2A5C"/>
                          </a:solidFill>
                          <a:latin typeface="Calibri"/>
                        </a:rPr>
                        <a:t>Poultry Feed</a:t>
                      </a:r>
                      <a:endParaRPr sz="1100"/>
                    </a:p>
                  </a:txBody>
                  <a:tcPr marL="19050" marR="14288" marT="19050" marB="19050" anchor="ctr">
                    <a:solidFill>
                      <a:srgbClr val="EBF2F9"/>
                    </a:solidFill>
                  </a:tcPr>
                </a:tc>
                <a:tc hMerge="1">
                  <a:txBody>
                    <a:bodyPr wrap="none"/>
                    <a:lstStyle/>
                    <a:p>
                      <a:pPr algn="ctr"/>
                      <a:endParaRPr sz="1100"/>
                    </a:p>
                  </a:txBody>
                  <a:tcPr marL="19050" marR="14288" marT="19050" marB="19050" anchor="ctr">
                    <a:solidFill>
                      <a:srgbClr val="EBF2F9"/>
                    </a:solidFill>
                  </a:tcPr>
                </a:tc>
                <a:tc gridSpan="2">
                  <a:txBody>
                    <a:bodyPr wrap="none"/>
                    <a:lstStyle/>
                    <a:p>
                      <a:pPr algn="ctr"/>
                      <a:r>
                        <a:rPr sz="1100" b="1">
                          <a:solidFill>
                            <a:srgbClr val="0E2A5C"/>
                          </a:solidFill>
                          <a:latin typeface="Calibri"/>
                        </a:rPr>
                        <a:t>Industr</a:t>
                      </a:r>
                      <a:endParaRPr sz="1100"/>
                    </a:p>
                    <a:p>
                      <a:pPr algn="ctr"/>
                      <a:r>
                        <a:rPr sz="1100" b="1">
                          <a:solidFill>
                            <a:srgbClr val="0E2A5C"/>
                          </a:solidFill>
                          <a:latin typeface="Calibri"/>
                        </a:rPr>
                        <a:t>ial &amp;</a:t>
                      </a:r>
                      <a:endParaRPr sz="1100"/>
                    </a:p>
                    <a:p>
                      <a:pPr algn="ctr"/>
                      <a:r>
                        <a:rPr sz="1100" b="1">
                          <a:solidFill>
                            <a:srgbClr val="0E2A5C"/>
                          </a:solidFill>
                          <a:latin typeface="Calibri"/>
                        </a:rPr>
                        <a:t>Biomat</a:t>
                      </a:r>
                      <a:endParaRPr sz="1100"/>
                    </a:p>
                    <a:p>
                      <a:pPr algn="ctr"/>
                      <a:r>
                        <a:rPr sz="1100" b="1">
                          <a:solidFill>
                            <a:srgbClr val="0E2A5C"/>
                          </a:solidFill>
                          <a:latin typeface="Calibri"/>
                        </a:rPr>
                        <a:t>erials</a:t>
                      </a:r>
                      <a:endParaRPr sz="1100"/>
                    </a:p>
                  </a:txBody>
                  <a:tcPr marL="19050" marR="14288" marT="19050" marB="19050" anchor="ctr">
                    <a:solidFill>
                      <a:srgbClr val="EBF2F9"/>
                    </a:solidFill>
                  </a:tcPr>
                </a:tc>
                <a:tc hMerge="1">
                  <a:txBody>
                    <a:bodyPr wrap="none"/>
                    <a:lstStyle/>
                    <a:p>
                      <a:pPr algn="ctr"/>
                      <a:endParaRPr sz="1100"/>
                    </a:p>
                  </a:txBody>
                  <a:tcPr marL="19050" marR="14288" marT="19050" marB="19050" anchor="ctr">
                    <a:solidFill>
                      <a:srgbClr val="EBF2F9"/>
                    </a:solidFill>
                  </a:tcPr>
                </a:tc>
                <a:tc gridSpan="2">
                  <a:txBody>
                    <a:bodyPr wrap="none"/>
                    <a:lstStyle/>
                    <a:p>
                      <a:pPr algn="ctr"/>
                      <a:r>
                        <a:rPr sz="1100" b="1">
                          <a:solidFill>
                            <a:srgbClr val="0E2A5C"/>
                          </a:solidFill>
                          <a:latin typeface="Calibri"/>
                        </a:rPr>
                        <a:t>Total</a:t>
                      </a:r>
                      <a:endParaRPr sz="1100"/>
                    </a:p>
                  </a:txBody>
                  <a:tcPr marL="19050" marR="14288" marT="19050" marB="19050" anchor="ctr">
                    <a:solidFill>
                      <a:srgbClr val="EBF2F9"/>
                    </a:solidFill>
                  </a:tcPr>
                </a:tc>
                <a:tc hMerge="1">
                  <a:txBody>
                    <a:bodyPr wrap="none"/>
                    <a:lstStyle/>
                    <a:p>
                      <a:pPr algn="ctr"/>
                      <a:endParaRPr sz="1100"/>
                    </a:p>
                  </a:txBody>
                  <a:tcPr marL="19050" marR="14288" marT="19050" marB="19050" anchor="ctr">
                    <a:solidFill>
                      <a:srgbClr val="EBF2F9"/>
                    </a:solidFill>
                  </a:tcPr>
                </a:tc>
              </a:tr>
              <a:tr h="1405509">
                <a:tc vMerge="1">
                  <a:txBody>
                    <a:bodyPr wrap="none"/>
                    <a:lstStyle/>
                    <a:p>
                      <a:pPr algn="l"/>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 Joint &amp; Bone Health|US$ Mn</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 Joint &amp; Bone Health|CAGR</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 Skin, Hair &amp; Nail Health|US$ Mn</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 Skin, Hair &amp; Nail Health|CAGR</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 Others|US$ Mn</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 Others|CAGR</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US$ Mn</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CAGR</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 Skin Care|US$ Mn</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 Skin Care|CAGR</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 Hair Care|US$ Mn</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 Hair Care|CAGR</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 Wound Care &amp; Dressings|US$ Mn</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 Wound Care &amp; Dressings|CAGR</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 Tissue Engineering &amp; Drug Delivery|US$ Mn</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 Tissue Engineering &amp; Drug Delivery|CAGR</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 Pet Joint &amp; Skin Supplements|US$ Mn</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 Pet Joint &amp; Skin Supplements|CAGR</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 Livestock &amp; Poultry Feed|US$ Mn</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 Livestock &amp; Poultry Feed|CAGR</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US$ Mn</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CAGR</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US$ Mn</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CAGR</a:t>
                      </a:r>
                      <a:endParaRPr sz="1100"/>
                    </a:p>
                  </a:txBody>
                  <a:tcPr marL="19050" marR="14288" marT="19050" marB="19050" anchor="ctr">
                    <a:solidFill>
                      <a:srgbClr val="EBF2F9"/>
                    </a:solidFill>
                  </a:tcPr>
                </a:tc>
              </a:tr>
              <a:tr h="1212723">
                <a:tc>
                  <a:txBody>
                    <a:bodyPr wrap="none"/>
                    <a:lstStyle/>
                    <a:p>
                      <a:pPr algn="l"/>
                      <a:r>
                        <a:rPr sz="1100" b="1">
                          <a:solidFill>
                            <a:srgbClr val="2E2E2E"/>
                          </a:solidFill>
                          <a:latin typeface="Calibri"/>
                        </a:rPr>
                        <a:t>Micro</a:t>
                      </a:r>
                      <a:endParaRPr sz="1100"/>
                    </a:p>
                    <a:p>
                      <a:pPr algn="l"/>
                      <a:r>
                        <a:rPr sz="1100" b="1">
                          <a:solidFill>
                            <a:srgbClr val="2E2E2E"/>
                          </a:solidFill>
                          <a:latin typeface="Calibri"/>
                        </a:rPr>
                        <a:t>nized</a:t>
                      </a:r>
                      <a:endParaRPr sz="1100"/>
                    </a:p>
                    <a:p>
                      <a:pPr algn="l"/>
                      <a:r>
                        <a:rPr sz="1100" b="1">
                          <a:solidFill>
                            <a:srgbClr val="2E2E2E"/>
                          </a:solidFill>
                          <a:latin typeface="Calibri"/>
                        </a:rPr>
                        <a:t>Eggshe</a:t>
                      </a:r>
                      <a:endParaRPr sz="1100"/>
                    </a:p>
                    <a:p>
                      <a:pPr algn="l"/>
                      <a:r>
                        <a:rPr sz="1100" b="1">
                          <a:solidFill>
                            <a:srgbClr val="2E2E2E"/>
                          </a:solidFill>
                          <a:latin typeface="Calibri"/>
                        </a:rPr>
                        <a:t>ll</a:t>
                      </a:r>
                      <a:endParaRPr sz="1100"/>
                    </a:p>
                    <a:p>
                      <a:pPr algn="l"/>
                      <a:r>
                        <a:rPr sz="1100" b="1">
                          <a:solidFill>
                            <a:srgbClr val="2E2E2E"/>
                          </a:solidFill>
                          <a:latin typeface="Calibri"/>
                        </a:rPr>
                        <a:t>Memb</a:t>
                      </a:r>
                      <a:endParaRPr sz="1100"/>
                    </a:p>
                    <a:p>
                      <a:pPr algn="l"/>
                      <a:r>
                        <a:rPr sz="1100" b="1">
                          <a:solidFill>
                            <a:srgbClr val="2E2E2E"/>
                          </a:solidFill>
                          <a:latin typeface="Calibri"/>
                        </a:rPr>
                        <a:t>rane</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square"/>
                    <a:lstStyle/>
                    <a:p>
                      <a:pPr algn="ctr"/>
                      <a:r>
                        <a:rPr sz="1100"/>
                        <a:t> </a:t>
                      </a:r>
                      <a:endParaRPr sz="1100"/>
                    </a:p>
                  </a:txBody>
                  <a:tcPr marL="19050" marR="14288" marT="19050" marB="19050" anchor="ctr">
                    <a:solidFill>
                      <a:srgbClr val="FFFFFF"/>
                    </a:solidFill>
                  </a:tcPr>
                </a:tc>
                <a:tc>
                  <a:txBody>
                    <a:bodyPr wrap="squar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square"/>
                    <a:lstStyle/>
                    <a:p>
                      <a:pPr algn="ctr"/>
                      <a:r>
                        <a:rPr sz="1100"/>
                        <a:t> </a:t>
                      </a:r>
                      <a:endParaRPr sz="1100"/>
                    </a:p>
                  </a:txBody>
                  <a:tcPr marL="19050" marR="14288" marT="19050" marB="19050" anchor="ctr">
                    <a:solidFill>
                      <a:srgbClr val="FFFFFF"/>
                    </a:solidFill>
                  </a:tcPr>
                </a:tc>
                <a:tc>
                  <a:txBody>
                    <a:bodyPr wrap="square"/>
                    <a:lstStyle/>
                    <a:p>
                      <a:pPr algn="ctr"/>
                      <a:r>
                        <a:rPr sz="1100"/>
                        <a:t> </a:t>
                      </a:r>
                      <a:endParaRPr sz="1100"/>
                    </a:p>
                  </a:txBody>
                  <a:tcPr marL="19050" marR="14288" marT="19050" marB="19050" anchor="ctr">
                    <a:solidFill>
                      <a:srgbClr val="FFFFFF"/>
                    </a:solidFill>
                  </a:tcPr>
                </a:tc>
                <a:tc>
                  <a:txBody>
                    <a:bodyPr wrap="square"/>
                    <a:lstStyle/>
                    <a:p>
                      <a:pPr algn="ctr"/>
                      <a:r>
                        <a:rPr sz="1100"/>
                        <a:t> </a:t>
                      </a:r>
                      <a:endParaRPr sz="1100"/>
                    </a:p>
                  </a:txBody>
                  <a:tcPr marL="19050" marR="14288" marT="19050" marB="19050" anchor="ctr">
                    <a:solidFill>
                      <a:srgbClr val="FFFFFF"/>
                    </a:solidFill>
                  </a:tcPr>
                </a:tc>
                <a:tc>
                  <a:txBody>
                    <a:bodyPr wrap="square"/>
                    <a:lstStyle/>
                    <a:p>
                      <a:pPr algn="ctr"/>
                      <a:r>
                        <a:rPr sz="1100"/>
                        <a:t> </a:t>
                      </a:r>
                      <a:endParaRPr sz="1100"/>
                    </a:p>
                  </a:txBody>
                  <a:tcPr marL="19050" marR="14288" marT="19050" marB="19050" anchor="ctr">
                    <a:solidFill>
                      <a:srgbClr val="FFFFFF"/>
                    </a:solidFill>
                  </a:tcPr>
                </a:tc>
              </a:tr>
              <a:tr h="1212723">
                <a:tc>
                  <a:txBody>
                    <a:bodyPr wrap="none"/>
                    <a:lstStyle/>
                    <a:p>
                      <a:pPr algn="l"/>
                      <a:r>
                        <a:rPr sz="1100" b="1">
                          <a:solidFill>
                            <a:srgbClr val="2E2E2E"/>
                          </a:solidFill>
                          <a:latin typeface="Calibri"/>
                        </a:rPr>
                        <a:t>Hydrol</a:t>
                      </a:r>
                      <a:endParaRPr sz="1100"/>
                    </a:p>
                    <a:p>
                      <a:pPr algn="l"/>
                      <a:r>
                        <a:rPr sz="1100" b="1">
                          <a:solidFill>
                            <a:srgbClr val="2E2E2E"/>
                          </a:solidFill>
                          <a:latin typeface="Calibri"/>
                        </a:rPr>
                        <a:t>yzed</a:t>
                      </a:r>
                      <a:endParaRPr sz="1100"/>
                    </a:p>
                    <a:p>
                      <a:pPr algn="l"/>
                      <a:r>
                        <a:rPr sz="1100" b="1">
                          <a:solidFill>
                            <a:srgbClr val="2E2E2E"/>
                          </a:solidFill>
                          <a:latin typeface="Calibri"/>
                        </a:rPr>
                        <a:t>Eggshe</a:t>
                      </a:r>
                      <a:endParaRPr sz="1100"/>
                    </a:p>
                    <a:p>
                      <a:pPr algn="l"/>
                      <a:r>
                        <a:rPr sz="1100" b="1">
                          <a:solidFill>
                            <a:srgbClr val="2E2E2E"/>
                          </a:solidFill>
                          <a:latin typeface="Calibri"/>
                        </a:rPr>
                        <a:t>ll</a:t>
                      </a:r>
                      <a:endParaRPr sz="1100"/>
                    </a:p>
                    <a:p>
                      <a:pPr algn="l"/>
                      <a:r>
                        <a:rPr sz="1100" b="1">
                          <a:solidFill>
                            <a:srgbClr val="2E2E2E"/>
                          </a:solidFill>
                          <a:latin typeface="Calibri"/>
                        </a:rPr>
                        <a:t>Memb</a:t>
                      </a:r>
                      <a:endParaRPr sz="1100"/>
                    </a:p>
                    <a:p>
                      <a:pPr algn="l"/>
                      <a:r>
                        <a:rPr sz="1100" b="1">
                          <a:solidFill>
                            <a:srgbClr val="2E2E2E"/>
                          </a:solidFill>
                          <a:latin typeface="Calibri"/>
                        </a:rPr>
                        <a:t>rane</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square"/>
                    <a:lstStyle/>
                    <a:p>
                      <a:pPr algn="ctr"/>
                      <a:r>
                        <a:rPr sz="1100"/>
                        <a:t> </a:t>
                      </a:r>
                      <a:endParaRPr sz="1100"/>
                    </a:p>
                  </a:txBody>
                  <a:tcPr marL="19050" marR="14288" marT="19050" marB="19050" anchor="ctr">
                    <a:solidFill>
                      <a:srgbClr val="F5F9FD"/>
                    </a:solidFill>
                  </a:tcPr>
                </a:tc>
                <a:tc>
                  <a:txBody>
                    <a:bodyPr wrap="squar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square"/>
                    <a:lstStyle/>
                    <a:p>
                      <a:pPr algn="ctr"/>
                      <a:r>
                        <a:rPr sz="1100"/>
                        <a:t> </a:t>
                      </a:r>
                      <a:endParaRPr sz="1100"/>
                    </a:p>
                  </a:txBody>
                  <a:tcPr marL="19050" marR="14288" marT="19050" marB="19050" anchor="ctr">
                    <a:solidFill>
                      <a:srgbClr val="F5F9FD"/>
                    </a:solidFill>
                  </a:tcPr>
                </a:tc>
                <a:tc>
                  <a:txBody>
                    <a:bodyPr wrap="square"/>
                    <a:lstStyle/>
                    <a:p>
                      <a:pPr algn="ctr"/>
                      <a:r>
                        <a:rPr sz="1100"/>
                        <a:t> </a:t>
                      </a:r>
                      <a:endParaRPr sz="1100"/>
                    </a:p>
                  </a:txBody>
                  <a:tcPr marL="19050" marR="14288" marT="19050" marB="19050" anchor="ctr">
                    <a:solidFill>
                      <a:srgbClr val="F5F9FD"/>
                    </a:solidFill>
                  </a:tcPr>
                </a:tc>
                <a:tc>
                  <a:txBody>
                    <a:bodyPr wrap="square"/>
                    <a:lstStyle/>
                    <a:p>
                      <a:pPr algn="ctr"/>
                      <a:r>
                        <a:rPr sz="1100"/>
                        <a:t> </a:t>
                      </a:r>
                      <a:endParaRPr sz="1100"/>
                    </a:p>
                  </a:txBody>
                  <a:tcPr marL="19050" marR="14288" marT="19050" marB="19050" anchor="ctr">
                    <a:solidFill>
                      <a:srgbClr val="F5F9FD"/>
                    </a:solidFill>
                  </a:tcPr>
                </a:tc>
                <a:tc>
                  <a:txBody>
                    <a:bodyPr wrap="square"/>
                    <a:lstStyle/>
                    <a:p>
                      <a:pPr algn="ctr"/>
                      <a:r>
                        <a:rPr sz="1100"/>
                        <a:t> </a:t>
                      </a:r>
                      <a:endParaRPr sz="1100"/>
                    </a:p>
                  </a:txBody>
                  <a:tcPr marL="19050" marR="14288" marT="19050" marB="19050" anchor="ctr">
                    <a:solidFill>
                      <a:srgbClr val="F5F9FD"/>
                    </a:solidFill>
                  </a:tcPr>
                </a:tc>
              </a:tr>
            </a:tbl>
          </a:graphicData>
        </a:graphic>
      </p:graphicFrame>
      <p:sp>
        <p:nvSpPr>
          <p:cNvPr id="10" name="TextBox 9"/>
          <p:cNvSpPr txBox="1"/>
          <p:nvPr/>
        </p:nvSpPr>
        <p:spPr>
          <a:xfrm>
            <a:off x="219075" y="609600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11" name="Rectangle 10"/>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3" name="Picture 12" descr="lock.png"/>
          <p:cNvPicPr>
            <a:picLocks noChangeAspect="1"/>
          </p:cNvPicPr>
          <p:nvPr/>
        </p:nvPicPr>
        <p:blipFill>
          <a:blip r:embed="rId4"/>
          <a:stretch>
            <a:fillRect/>
          </a:stretch>
        </p:blipFill>
        <p:spPr>
          <a:xfrm>
            <a:off x="6148021" y="4607052"/>
            <a:ext cx="366712" cy="533400"/>
          </a:xfrm>
          <a:prstGeom prst="rect">
            <a:avLst/>
          </a:prstGeom>
        </p:spPr>
      </p:pic>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Absolute $ Opportunity &amp; Attractiveness: Product Type × Application, 2026E–2036F (2/3)</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Incremental value 2026E→2036F (US$ Mn) and value CAGR by cell; attractiveness index scored 1–5</a:t>
            </a:r>
          </a:p>
        </p:txBody>
      </p:sp>
      <p:sp>
        <p:nvSpPr>
          <p:cNvPr id="7" name="Rounded Rectangle 6"/>
          <p:cNvSpPr/>
          <p:nvPr/>
        </p:nvSpPr>
        <p:spPr>
          <a:xfrm>
            <a:off x="142875" y="981075"/>
            <a:ext cx="11906250" cy="4924425"/>
          </a:xfrm>
          <a:prstGeom prst="roundRect">
            <a:avLst>
              <a:gd name="adj" fmla="val 1547"/>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Incremental $ Opportunity (US$ Mn) and Value CAGR, Product Type × Application, 2026E–2036F</a:t>
            </a:r>
          </a:p>
        </p:txBody>
      </p:sp>
      <p:graphicFrame>
        <p:nvGraphicFramePr>
          <p:cNvPr id="9" name="Table 8"/>
          <p:cNvGraphicFramePr>
            <a:graphicFrameLocks noGrp="1"/>
          </p:cNvGraphicFramePr>
          <p:nvPr/>
        </p:nvGraphicFramePr>
        <p:xfrm>
          <a:off x="152400" y="1238250"/>
          <a:ext cx="11949566" cy="4457700"/>
        </p:xfrm>
        <a:graphic>
          <a:graphicData uri="http://schemas.openxmlformats.org/drawingml/2006/table">
            <a:tbl>
              <a:tblPr>
                <a:tableStyleId>{5C22544A-7EE6-4342-B048-85BDC9FD1C3A}</a:tableStyleId>
              </a:tblPr>
              <a:tblGrid>
                <a:gridCol w="3200404"/>
                <a:gridCol w="375614"/>
                <a:gridCol w="425537"/>
                <a:gridCol w="375614"/>
                <a:gridCol w="425537"/>
                <a:gridCol w="381705"/>
                <a:gridCol w="431628"/>
                <a:gridCol w="190462"/>
                <a:gridCol w="194098"/>
                <a:gridCol w="313490"/>
                <a:gridCol w="363414"/>
                <a:gridCol w="313490"/>
                <a:gridCol w="363414"/>
                <a:gridCol w="463318"/>
                <a:gridCol w="513241"/>
                <a:gridCol w="424338"/>
                <a:gridCol w="474262"/>
                <a:gridCol w="570511"/>
                <a:gridCol w="620434"/>
                <a:gridCol w="323216"/>
                <a:gridCol w="373139"/>
                <a:gridCol w="191680"/>
                <a:gridCol w="194098"/>
                <a:gridCol w="190462"/>
                <a:gridCol w="256460"/>
              </a:tblGrid>
              <a:tr h="1017270">
                <a:tc rowSpan="2">
                  <a:txBody>
                    <a:bodyPr wrap="none"/>
                    <a:lstStyle/>
                    <a:p>
                      <a:pPr algn="l"/>
                      <a:r>
                        <a:rPr sz="1100" b="1">
                          <a:solidFill>
                            <a:srgbClr val="0E2A5C"/>
                          </a:solidFill>
                          <a:latin typeface="Calibri"/>
                        </a:rPr>
                        <a:t>Prod</a:t>
                      </a:r>
                      <a:endParaRPr sz="1100"/>
                    </a:p>
                    <a:p>
                      <a:pPr algn="l"/>
                      <a:r>
                        <a:rPr sz="1100" b="1">
                          <a:solidFill>
                            <a:srgbClr val="0E2A5C"/>
                          </a:solidFill>
                          <a:latin typeface="Calibri"/>
                        </a:rPr>
                        <a:t>uct</a:t>
                      </a:r>
                      <a:endParaRPr sz="1100"/>
                    </a:p>
                    <a:p>
                      <a:pPr algn="l"/>
                      <a:r>
                        <a:rPr sz="1100" b="1">
                          <a:solidFill>
                            <a:srgbClr val="0E2A5C"/>
                          </a:solidFill>
                          <a:latin typeface="Calibri"/>
                        </a:rPr>
                        <a:t>Type</a:t>
                      </a:r>
                      <a:endParaRPr sz="1100"/>
                    </a:p>
                  </a:txBody>
                  <a:tcPr marL="19050" marR="14288" marT="19050" marB="19050" anchor="ctr">
                    <a:solidFill>
                      <a:srgbClr val="EBF2F9"/>
                    </a:solidFill>
                  </a:tcPr>
                </a:tc>
                <a:tc gridSpan="2">
                  <a:txBody>
                    <a:bodyPr wrap="none"/>
                    <a:lstStyle/>
                    <a:p>
                      <a:pPr algn="ctr"/>
                      <a:r>
                        <a:rPr sz="1100" b="1">
                          <a:solidFill>
                            <a:srgbClr val="0E2A5C"/>
                          </a:solidFill>
                          <a:latin typeface="Calibri"/>
                        </a:rPr>
                        <a:t>Dietary</a:t>
                      </a:r>
                      <a:endParaRPr sz="1100"/>
                    </a:p>
                    <a:p>
                      <a:pPr algn="ctr"/>
                      <a:r>
                        <a:rPr sz="1100" b="1">
                          <a:solidFill>
                            <a:srgbClr val="0E2A5C"/>
                          </a:solidFill>
                          <a:latin typeface="Calibri"/>
                        </a:rPr>
                        <a:t>Supplements &amp;</a:t>
                      </a:r>
                      <a:endParaRPr sz="1100"/>
                    </a:p>
                    <a:p>
                      <a:pPr algn="ctr"/>
                      <a:r>
                        <a:rPr sz="1100" b="1">
                          <a:solidFill>
                            <a:srgbClr val="0E2A5C"/>
                          </a:solidFill>
                          <a:latin typeface="Calibri"/>
                        </a:rPr>
                        <a:t>Nutraceuticals |</a:t>
                      </a:r>
                      <a:endParaRPr sz="1100"/>
                    </a:p>
                    <a:p>
                      <a:pPr algn="ctr"/>
                      <a:r>
                        <a:rPr sz="1100" b="1">
                          <a:solidFill>
                            <a:srgbClr val="0E2A5C"/>
                          </a:solidFill>
                          <a:latin typeface="Calibri"/>
                        </a:rPr>
                        <a:t>Joint &amp; Bone</a:t>
                      </a:r>
                      <a:endParaRPr sz="1100"/>
                    </a:p>
                    <a:p>
                      <a:pPr algn="ctr"/>
                      <a:r>
                        <a:rPr sz="1100" b="1">
                          <a:solidFill>
                            <a:srgbClr val="0E2A5C"/>
                          </a:solidFill>
                          <a:latin typeface="Calibri"/>
                        </a:rPr>
                        <a:t>Health</a:t>
                      </a:r>
                      <a:endParaRPr sz="1100"/>
                    </a:p>
                  </a:txBody>
                  <a:tcPr marL="19050" marR="14288" marT="19050" marB="19050" anchor="ctr">
                    <a:solidFill>
                      <a:srgbClr val="EBF2F9"/>
                    </a:solidFill>
                  </a:tcPr>
                </a:tc>
                <a:tc hMerge="1">
                  <a:txBody>
                    <a:bodyPr wrap="none"/>
                    <a:lstStyle/>
                    <a:p>
                      <a:pPr algn="ctr"/>
                      <a:endParaRPr sz="1100"/>
                    </a:p>
                  </a:txBody>
                  <a:tcPr marL="19050" marR="14288" marT="19050" marB="19050" anchor="ctr">
                    <a:solidFill>
                      <a:srgbClr val="EBF2F9"/>
                    </a:solidFill>
                  </a:tcPr>
                </a:tc>
                <a:tc gridSpan="2">
                  <a:txBody>
                    <a:bodyPr wrap="none"/>
                    <a:lstStyle/>
                    <a:p>
                      <a:pPr algn="ctr"/>
                      <a:r>
                        <a:rPr sz="1100" b="1">
                          <a:solidFill>
                            <a:srgbClr val="0E2A5C"/>
                          </a:solidFill>
                          <a:latin typeface="Calibri"/>
                        </a:rPr>
                        <a:t>Dietary</a:t>
                      </a:r>
                      <a:endParaRPr sz="1100"/>
                    </a:p>
                    <a:p>
                      <a:pPr algn="ctr"/>
                      <a:r>
                        <a:rPr sz="1100" b="1">
                          <a:solidFill>
                            <a:srgbClr val="0E2A5C"/>
                          </a:solidFill>
                          <a:latin typeface="Calibri"/>
                        </a:rPr>
                        <a:t>Supplements &amp;</a:t>
                      </a:r>
                      <a:endParaRPr sz="1100"/>
                    </a:p>
                    <a:p>
                      <a:pPr algn="ctr"/>
                      <a:r>
                        <a:rPr sz="1100" b="1">
                          <a:solidFill>
                            <a:srgbClr val="0E2A5C"/>
                          </a:solidFill>
                          <a:latin typeface="Calibri"/>
                        </a:rPr>
                        <a:t>Nutraceuticals |</a:t>
                      </a:r>
                      <a:endParaRPr sz="1100"/>
                    </a:p>
                    <a:p>
                      <a:pPr algn="ctr"/>
                      <a:r>
                        <a:rPr sz="1100" b="1">
                          <a:solidFill>
                            <a:srgbClr val="0E2A5C"/>
                          </a:solidFill>
                          <a:latin typeface="Calibri"/>
                        </a:rPr>
                        <a:t>Skin, Hair &amp; Nail</a:t>
                      </a:r>
                      <a:endParaRPr sz="1100"/>
                    </a:p>
                    <a:p>
                      <a:pPr algn="ctr"/>
                      <a:r>
                        <a:rPr sz="1100" b="1">
                          <a:solidFill>
                            <a:srgbClr val="0E2A5C"/>
                          </a:solidFill>
                          <a:latin typeface="Calibri"/>
                        </a:rPr>
                        <a:t>Health</a:t>
                      </a:r>
                      <a:endParaRPr sz="1100"/>
                    </a:p>
                  </a:txBody>
                  <a:tcPr marL="19050" marR="14288" marT="19050" marB="19050" anchor="ctr">
                    <a:solidFill>
                      <a:srgbClr val="EBF2F9"/>
                    </a:solidFill>
                  </a:tcPr>
                </a:tc>
                <a:tc hMerge="1">
                  <a:txBody>
                    <a:bodyPr wrap="none"/>
                    <a:lstStyle/>
                    <a:p>
                      <a:pPr algn="ctr"/>
                      <a:endParaRPr sz="1100"/>
                    </a:p>
                  </a:txBody>
                  <a:tcPr marL="19050" marR="14288" marT="19050" marB="19050" anchor="ctr">
                    <a:solidFill>
                      <a:srgbClr val="EBF2F9"/>
                    </a:solidFill>
                  </a:tcPr>
                </a:tc>
                <a:tc gridSpan="2">
                  <a:txBody>
                    <a:bodyPr wrap="none"/>
                    <a:lstStyle/>
                    <a:p>
                      <a:pPr algn="ctr"/>
                      <a:r>
                        <a:rPr sz="1100" b="1">
                          <a:solidFill>
                            <a:srgbClr val="0E2A5C"/>
                          </a:solidFill>
                          <a:latin typeface="Calibri"/>
                        </a:rPr>
                        <a:t>Dietary</a:t>
                      </a:r>
                      <a:endParaRPr sz="1100"/>
                    </a:p>
                    <a:p>
                      <a:pPr algn="ctr"/>
                      <a:r>
                        <a:rPr sz="1100" b="1">
                          <a:solidFill>
                            <a:srgbClr val="0E2A5C"/>
                          </a:solidFill>
                          <a:latin typeface="Calibri"/>
                        </a:rPr>
                        <a:t>Supplements &amp;</a:t>
                      </a:r>
                      <a:endParaRPr sz="1100"/>
                    </a:p>
                    <a:p>
                      <a:pPr algn="ctr"/>
                      <a:r>
                        <a:rPr sz="1100" b="1">
                          <a:solidFill>
                            <a:srgbClr val="0E2A5C"/>
                          </a:solidFill>
                          <a:latin typeface="Calibri"/>
                        </a:rPr>
                        <a:t>Nutraceuticals |</a:t>
                      </a:r>
                      <a:endParaRPr sz="1100"/>
                    </a:p>
                    <a:p>
                      <a:pPr algn="ctr"/>
                      <a:r>
                        <a:rPr sz="1100" b="1">
                          <a:solidFill>
                            <a:srgbClr val="0E2A5C"/>
                          </a:solidFill>
                          <a:latin typeface="Calibri"/>
                        </a:rPr>
                        <a:t>Others</a:t>
                      </a:r>
                      <a:endParaRPr sz="1100"/>
                    </a:p>
                  </a:txBody>
                  <a:tcPr marL="19050" marR="14288" marT="19050" marB="19050" anchor="ctr">
                    <a:solidFill>
                      <a:srgbClr val="EBF2F9"/>
                    </a:solidFill>
                  </a:tcPr>
                </a:tc>
                <a:tc hMerge="1">
                  <a:txBody>
                    <a:bodyPr wrap="none"/>
                    <a:lstStyle/>
                    <a:p>
                      <a:pPr algn="ctr"/>
                      <a:endParaRPr sz="1100"/>
                    </a:p>
                  </a:txBody>
                  <a:tcPr marL="19050" marR="14288" marT="19050" marB="19050" anchor="ctr">
                    <a:solidFill>
                      <a:srgbClr val="EBF2F9"/>
                    </a:solidFill>
                  </a:tcPr>
                </a:tc>
                <a:tc gridSpan="2">
                  <a:txBody>
                    <a:bodyPr wrap="none"/>
                    <a:lstStyle/>
                    <a:p>
                      <a:pPr algn="ctr"/>
                      <a:r>
                        <a:rPr sz="1100" b="1">
                          <a:solidFill>
                            <a:srgbClr val="0E2A5C"/>
                          </a:solidFill>
                          <a:latin typeface="Calibri"/>
                        </a:rPr>
                        <a:t>Functio</a:t>
                      </a:r>
                      <a:endParaRPr sz="1100"/>
                    </a:p>
                    <a:p>
                      <a:pPr algn="ctr"/>
                      <a:r>
                        <a:rPr sz="1100" b="1">
                          <a:solidFill>
                            <a:srgbClr val="0E2A5C"/>
                          </a:solidFill>
                          <a:latin typeface="Calibri"/>
                        </a:rPr>
                        <a:t>nal</a:t>
                      </a:r>
                      <a:endParaRPr sz="1100"/>
                    </a:p>
                    <a:p>
                      <a:pPr algn="ctr"/>
                      <a:r>
                        <a:rPr sz="1100" b="1">
                          <a:solidFill>
                            <a:srgbClr val="0E2A5C"/>
                          </a:solidFill>
                          <a:latin typeface="Calibri"/>
                        </a:rPr>
                        <a:t>Food &amp;</a:t>
                      </a:r>
                      <a:endParaRPr sz="1100"/>
                    </a:p>
                    <a:p>
                      <a:pPr algn="ctr"/>
                      <a:r>
                        <a:rPr sz="1100" b="1">
                          <a:solidFill>
                            <a:srgbClr val="0E2A5C"/>
                          </a:solidFill>
                          <a:latin typeface="Calibri"/>
                        </a:rPr>
                        <a:t>Bevera</a:t>
                      </a:r>
                      <a:endParaRPr sz="1100"/>
                    </a:p>
                    <a:p>
                      <a:pPr algn="ctr"/>
                      <a:r>
                        <a:rPr sz="1100" b="1">
                          <a:solidFill>
                            <a:srgbClr val="0E2A5C"/>
                          </a:solidFill>
                          <a:latin typeface="Calibri"/>
                        </a:rPr>
                        <a:t>ges</a:t>
                      </a:r>
                      <a:endParaRPr sz="1100"/>
                    </a:p>
                  </a:txBody>
                  <a:tcPr marL="19050" marR="14288" marT="19050" marB="19050" anchor="ctr">
                    <a:solidFill>
                      <a:srgbClr val="EBF2F9"/>
                    </a:solidFill>
                  </a:tcPr>
                </a:tc>
                <a:tc hMerge="1">
                  <a:txBody>
                    <a:bodyPr wrap="none"/>
                    <a:lstStyle/>
                    <a:p>
                      <a:pPr algn="ctr"/>
                      <a:endParaRPr sz="1100"/>
                    </a:p>
                  </a:txBody>
                  <a:tcPr marL="19050" marR="14288" marT="19050" marB="19050" anchor="ctr">
                    <a:solidFill>
                      <a:srgbClr val="EBF2F9"/>
                    </a:solidFill>
                  </a:tcPr>
                </a:tc>
                <a:tc gridSpan="2">
                  <a:txBody>
                    <a:bodyPr wrap="none"/>
                    <a:lstStyle/>
                    <a:p>
                      <a:pPr algn="ctr"/>
                      <a:r>
                        <a:rPr sz="1100" b="1">
                          <a:solidFill>
                            <a:srgbClr val="0E2A5C"/>
                          </a:solidFill>
                          <a:latin typeface="Calibri"/>
                        </a:rPr>
                        <a:t>Cosmetics &amp;</a:t>
                      </a:r>
                      <a:endParaRPr sz="1100"/>
                    </a:p>
                    <a:p>
                      <a:pPr algn="ctr"/>
                      <a:r>
                        <a:rPr sz="1100" b="1">
                          <a:solidFill>
                            <a:srgbClr val="0E2A5C"/>
                          </a:solidFill>
                          <a:latin typeface="Calibri"/>
                        </a:rPr>
                        <a:t>Personal Care</a:t>
                      </a:r>
                      <a:endParaRPr sz="1100"/>
                    </a:p>
                    <a:p>
                      <a:pPr algn="ctr"/>
                      <a:r>
                        <a:rPr sz="1100" b="1">
                          <a:solidFill>
                            <a:srgbClr val="0E2A5C"/>
                          </a:solidFill>
                          <a:latin typeface="Calibri"/>
                        </a:rPr>
                        <a:t>| Skin Care</a:t>
                      </a:r>
                      <a:endParaRPr sz="1100"/>
                    </a:p>
                  </a:txBody>
                  <a:tcPr marL="19050" marR="14288" marT="19050" marB="19050" anchor="ctr">
                    <a:solidFill>
                      <a:srgbClr val="EBF2F9"/>
                    </a:solidFill>
                  </a:tcPr>
                </a:tc>
                <a:tc hMerge="1">
                  <a:txBody>
                    <a:bodyPr wrap="none"/>
                    <a:lstStyle/>
                    <a:p>
                      <a:pPr algn="ctr"/>
                      <a:endParaRPr sz="1100"/>
                    </a:p>
                  </a:txBody>
                  <a:tcPr marL="19050" marR="14288" marT="19050" marB="19050" anchor="ctr">
                    <a:solidFill>
                      <a:srgbClr val="EBF2F9"/>
                    </a:solidFill>
                  </a:tcPr>
                </a:tc>
                <a:tc gridSpan="2">
                  <a:txBody>
                    <a:bodyPr wrap="none"/>
                    <a:lstStyle/>
                    <a:p>
                      <a:pPr algn="ctr"/>
                      <a:r>
                        <a:rPr sz="1100" b="1">
                          <a:solidFill>
                            <a:srgbClr val="0E2A5C"/>
                          </a:solidFill>
                          <a:latin typeface="Calibri"/>
                        </a:rPr>
                        <a:t>Cosmetics &amp;</a:t>
                      </a:r>
                      <a:endParaRPr sz="1100"/>
                    </a:p>
                    <a:p>
                      <a:pPr algn="ctr"/>
                      <a:r>
                        <a:rPr sz="1100" b="1">
                          <a:solidFill>
                            <a:srgbClr val="0E2A5C"/>
                          </a:solidFill>
                          <a:latin typeface="Calibri"/>
                        </a:rPr>
                        <a:t>Personal Care</a:t>
                      </a:r>
                      <a:endParaRPr sz="1100"/>
                    </a:p>
                    <a:p>
                      <a:pPr algn="ctr"/>
                      <a:r>
                        <a:rPr sz="1100" b="1">
                          <a:solidFill>
                            <a:srgbClr val="0E2A5C"/>
                          </a:solidFill>
                          <a:latin typeface="Calibri"/>
                        </a:rPr>
                        <a:t>| Hair Care</a:t>
                      </a:r>
                      <a:endParaRPr sz="1100"/>
                    </a:p>
                  </a:txBody>
                  <a:tcPr marL="19050" marR="14288" marT="19050" marB="19050" anchor="ctr">
                    <a:solidFill>
                      <a:srgbClr val="EBF2F9"/>
                    </a:solidFill>
                  </a:tcPr>
                </a:tc>
                <a:tc hMerge="1">
                  <a:txBody>
                    <a:bodyPr wrap="none"/>
                    <a:lstStyle/>
                    <a:p>
                      <a:pPr algn="ctr"/>
                      <a:endParaRPr sz="1100"/>
                    </a:p>
                  </a:txBody>
                  <a:tcPr marL="19050" marR="14288" marT="19050" marB="19050" anchor="ctr">
                    <a:solidFill>
                      <a:srgbClr val="EBF2F9"/>
                    </a:solidFill>
                  </a:tcPr>
                </a:tc>
                <a:tc gridSpan="2">
                  <a:txBody>
                    <a:bodyPr wrap="none"/>
                    <a:lstStyle/>
                    <a:p>
                      <a:pPr algn="ctr"/>
                      <a:r>
                        <a:rPr sz="1100" b="1">
                          <a:solidFill>
                            <a:srgbClr val="0E2A5C"/>
                          </a:solidFill>
                          <a:latin typeface="Calibri"/>
                        </a:rPr>
                        <a:t>Pharmaceuticals &amp;</a:t>
                      </a:r>
                      <a:endParaRPr sz="1100"/>
                    </a:p>
                    <a:p>
                      <a:pPr algn="ctr"/>
                      <a:r>
                        <a:rPr sz="1100" b="1">
                          <a:solidFill>
                            <a:srgbClr val="0E2A5C"/>
                          </a:solidFill>
                          <a:latin typeface="Calibri"/>
                        </a:rPr>
                        <a:t>Biomedical |</a:t>
                      </a:r>
                      <a:endParaRPr sz="1100"/>
                    </a:p>
                    <a:p>
                      <a:pPr algn="ctr"/>
                      <a:r>
                        <a:rPr sz="1100" b="1">
                          <a:solidFill>
                            <a:srgbClr val="0E2A5C"/>
                          </a:solidFill>
                          <a:latin typeface="Calibri"/>
                        </a:rPr>
                        <a:t>Wound Care &amp;</a:t>
                      </a:r>
                      <a:endParaRPr sz="1100"/>
                    </a:p>
                    <a:p>
                      <a:pPr algn="ctr"/>
                      <a:r>
                        <a:rPr sz="1100" b="1">
                          <a:solidFill>
                            <a:srgbClr val="0E2A5C"/>
                          </a:solidFill>
                          <a:latin typeface="Calibri"/>
                        </a:rPr>
                        <a:t>Dressings</a:t>
                      </a:r>
                      <a:endParaRPr sz="1100"/>
                    </a:p>
                  </a:txBody>
                  <a:tcPr marL="19050" marR="14288" marT="19050" marB="19050" anchor="ctr">
                    <a:solidFill>
                      <a:srgbClr val="EBF2F9"/>
                    </a:solidFill>
                  </a:tcPr>
                </a:tc>
                <a:tc hMerge="1">
                  <a:txBody>
                    <a:bodyPr wrap="none"/>
                    <a:lstStyle/>
                    <a:p>
                      <a:pPr algn="ctr"/>
                      <a:endParaRPr sz="1100"/>
                    </a:p>
                  </a:txBody>
                  <a:tcPr marL="19050" marR="14288" marT="19050" marB="19050" anchor="ctr">
                    <a:solidFill>
                      <a:srgbClr val="EBF2F9"/>
                    </a:solidFill>
                  </a:tcPr>
                </a:tc>
                <a:tc gridSpan="2">
                  <a:txBody>
                    <a:bodyPr wrap="none"/>
                    <a:lstStyle/>
                    <a:p>
                      <a:pPr algn="ctr"/>
                      <a:r>
                        <a:rPr sz="1100" b="1">
                          <a:solidFill>
                            <a:srgbClr val="0E2A5C"/>
                          </a:solidFill>
                          <a:latin typeface="Calibri"/>
                        </a:rPr>
                        <a:t>Pharmaceuticals &amp;</a:t>
                      </a:r>
                      <a:endParaRPr sz="1100"/>
                    </a:p>
                    <a:p>
                      <a:pPr algn="ctr"/>
                      <a:r>
                        <a:rPr sz="1100" b="1">
                          <a:solidFill>
                            <a:srgbClr val="0E2A5C"/>
                          </a:solidFill>
                          <a:latin typeface="Calibri"/>
                        </a:rPr>
                        <a:t>Biomedical |</a:t>
                      </a:r>
                      <a:endParaRPr sz="1100"/>
                    </a:p>
                    <a:p>
                      <a:pPr algn="ctr"/>
                      <a:r>
                        <a:rPr sz="1100" b="1">
                          <a:solidFill>
                            <a:srgbClr val="0E2A5C"/>
                          </a:solidFill>
                          <a:latin typeface="Calibri"/>
                        </a:rPr>
                        <a:t>Tissue Engineering</a:t>
                      </a:r>
                      <a:endParaRPr sz="1100"/>
                    </a:p>
                    <a:p>
                      <a:pPr algn="ctr"/>
                      <a:r>
                        <a:rPr sz="1100" b="1">
                          <a:solidFill>
                            <a:srgbClr val="0E2A5C"/>
                          </a:solidFill>
                          <a:latin typeface="Calibri"/>
                        </a:rPr>
                        <a:t>&amp; Drug Delivery</a:t>
                      </a:r>
                      <a:endParaRPr sz="1100"/>
                    </a:p>
                  </a:txBody>
                  <a:tcPr marL="19050" marR="14288" marT="19050" marB="19050" anchor="ctr">
                    <a:solidFill>
                      <a:srgbClr val="EBF2F9"/>
                    </a:solidFill>
                  </a:tcPr>
                </a:tc>
                <a:tc hMerge="1">
                  <a:txBody>
                    <a:bodyPr wrap="none"/>
                    <a:lstStyle/>
                    <a:p>
                      <a:pPr algn="ctr"/>
                      <a:endParaRPr sz="1100"/>
                    </a:p>
                  </a:txBody>
                  <a:tcPr marL="19050" marR="14288" marT="19050" marB="19050" anchor="ctr">
                    <a:solidFill>
                      <a:srgbClr val="EBF2F9"/>
                    </a:solidFill>
                  </a:tcPr>
                </a:tc>
                <a:tc gridSpan="2">
                  <a:txBody>
                    <a:bodyPr wrap="none"/>
                    <a:lstStyle/>
                    <a:p>
                      <a:pPr algn="ctr"/>
                      <a:r>
                        <a:rPr sz="1100" b="1">
                          <a:solidFill>
                            <a:srgbClr val="0E2A5C"/>
                          </a:solidFill>
                          <a:latin typeface="Calibri"/>
                        </a:rPr>
                        <a:t>Animal Nutrition &amp; Pet</a:t>
                      </a:r>
                      <a:endParaRPr sz="1100"/>
                    </a:p>
                    <a:p>
                      <a:pPr algn="ctr"/>
                      <a:r>
                        <a:rPr sz="1100" b="1">
                          <a:solidFill>
                            <a:srgbClr val="0E2A5C"/>
                          </a:solidFill>
                          <a:latin typeface="Calibri"/>
                        </a:rPr>
                        <a:t>Care | Pet Joint &amp; Skin</a:t>
                      </a:r>
                      <a:endParaRPr sz="1100"/>
                    </a:p>
                    <a:p>
                      <a:pPr algn="ctr"/>
                      <a:r>
                        <a:rPr sz="1100" b="1">
                          <a:solidFill>
                            <a:srgbClr val="0E2A5C"/>
                          </a:solidFill>
                          <a:latin typeface="Calibri"/>
                        </a:rPr>
                        <a:t>Supplements</a:t>
                      </a:r>
                      <a:endParaRPr sz="1100"/>
                    </a:p>
                  </a:txBody>
                  <a:tcPr marL="19050" marR="14288" marT="19050" marB="19050" anchor="ctr">
                    <a:solidFill>
                      <a:srgbClr val="EBF2F9"/>
                    </a:solidFill>
                  </a:tcPr>
                </a:tc>
                <a:tc hMerge="1">
                  <a:txBody>
                    <a:bodyPr wrap="none"/>
                    <a:lstStyle/>
                    <a:p>
                      <a:pPr algn="ctr"/>
                      <a:endParaRPr sz="1100"/>
                    </a:p>
                  </a:txBody>
                  <a:tcPr marL="19050" marR="14288" marT="19050" marB="19050" anchor="ctr">
                    <a:solidFill>
                      <a:srgbClr val="EBF2F9"/>
                    </a:solidFill>
                  </a:tcPr>
                </a:tc>
                <a:tc gridSpan="2">
                  <a:txBody>
                    <a:bodyPr wrap="none"/>
                    <a:lstStyle/>
                    <a:p>
                      <a:pPr algn="ctr"/>
                      <a:r>
                        <a:rPr sz="1100" b="1">
                          <a:solidFill>
                            <a:srgbClr val="0E2A5C"/>
                          </a:solidFill>
                          <a:latin typeface="Calibri"/>
                        </a:rPr>
                        <a:t>Animal</a:t>
                      </a:r>
                      <a:endParaRPr sz="1100"/>
                    </a:p>
                    <a:p>
                      <a:pPr algn="ctr"/>
                      <a:r>
                        <a:rPr sz="1100" b="1">
                          <a:solidFill>
                            <a:srgbClr val="0E2A5C"/>
                          </a:solidFill>
                          <a:latin typeface="Calibri"/>
                        </a:rPr>
                        <a:t>Nutrition &amp;</a:t>
                      </a:r>
                      <a:endParaRPr sz="1100"/>
                    </a:p>
                    <a:p>
                      <a:pPr algn="ctr"/>
                      <a:r>
                        <a:rPr sz="1100" b="1">
                          <a:solidFill>
                            <a:srgbClr val="0E2A5C"/>
                          </a:solidFill>
                          <a:latin typeface="Calibri"/>
                        </a:rPr>
                        <a:t>Pet Care |</a:t>
                      </a:r>
                      <a:endParaRPr sz="1100"/>
                    </a:p>
                    <a:p>
                      <a:pPr algn="ctr"/>
                      <a:r>
                        <a:rPr sz="1100" b="1">
                          <a:solidFill>
                            <a:srgbClr val="0E2A5C"/>
                          </a:solidFill>
                          <a:latin typeface="Calibri"/>
                        </a:rPr>
                        <a:t>Livestock &amp;</a:t>
                      </a:r>
                      <a:endParaRPr sz="1100"/>
                    </a:p>
                    <a:p>
                      <a:pPr algn="ctr"/>
                      <a:r>
                        <a:rPr sz="1100" b="1">
                          <a:solidFill>
                            <a:srgbClr val="0E2A5C"/>
                          </a:solidFill>
                          <a:latin typeface="Calibri"/>
                        </a:rPr>
                        <a:t>Poultry Feed</a:t>
                      </a:r>
                      <a:endParaRPr sz="1100"/>
                    </a:p>
                  </a:txBody>
                  <a:tcPr marL="19050" marR="14288" marT="19050" marB="19050" anchor="ctr">
                    <a:solidFill>
                      <a:srgbClr val="EBF2F9"/>
                    </a:solidFill>
                  </a:tcPr>
                </a:tc>
                <a:tc hMerge="1">
                  <a:txBody>
                    <a:bodyPr wrap="none"/>
                    <a:lstStyle/>
                    <a:p>
                      <a:pPr algn="ctr"/>
                      <a:endParaRPr sz="1100"/>
                    </a:p>
                  </a:txBody>
                  <a:tcPr marL="19050" marR="14288" marT="19050" marB="19050" anchor="ctr">
                    <a:solidFill>
                      <a:srgbClr val="EBF2F9"/>
                    </a:solidFill>
                  </a:tcPr>
                </a:tc>
                <a:tc gridSpan="2">
                  <a:txBody>
                    <a:bodyPr wrap="none"/>
                    <a:lstStyle/>
                    <a:p>
                      <a:pPr algn="ctr"/>
                      <a:r>
                        <a:rPr sz="1100" b="1">
                          <a:solidFill>
                            <a:srgbClr val="0E2A5C"/>
                          </a:solidFill>
                          <a:latin typeface="Calibri"/>
                        </a:rPr>
                        <a:t>Industr</a:t>
                      </a:r>
                      <a:endParaRPr sz="1100"/>
                    </a:p>
                    <a:p>
                      <a:pPr algn="ctr"/>
                      <a:r>
                        <a:rPr sz="1100" b="1">
                          <a:solidFill>
                            <a:srgbClr val="0E2A5C"/>
                          </a:solidFill>
                          <a:latin typeface="Calibri"/>
                        </a:rPr>
                        <a:t>ial &amp;</a:t>
                      </a:r>
                      <a:endParaRPr sz="1100"/>
                    </a:p>
                    <a:p>
                      <a:pPr algn="ctr"/>
                      <a:r>
                        <a:rPr sz="1100" b="1">
                          <a:solidFill>
                            <a:srgbClr val="0E2A5C"/>
                          </a:solidFill>
                          <a:latin typeface="Calibri"/>
                        </a:rPr>
                        <a:t>Biomat</a:t>
                      </a:r>
                      <a:endParaRPr sz="1100"/>
                    </a:p>
                    <a:p>
                      <a:pPr algn="ctr"/>
                      <a:r>
                        <a:rPr sz="1100" b="1">
                          <a:solidFill>
                            <a:srgbClr val="0E2A5C"/>
                          </a:solidFill>
                          <a:latin typeface="Calibri"/>
                        </a:rPr>
                        <a:t>erials</a:t>
                      </a:r>
                      <a:endParaRPr sz="1100"/>
                    </a:p>
                  </a:txBody>
                  <a:tcPr marL="19050" marR="14288" marT="19050" marB="19050" anchor="ctr">
                    <a:solidFill>
                      <a:srgbClr val="EBF2F9"/>
                    </a:solidFill>
                  </a:tcPr>
                </a:tc>
                <a:tc hMerge="1">
                  <a:txBody>
                    <a:bodyPr wrap="none"/>
                    <a:lstStyle/>
                    <a:p>
                      <a:pPr algn="ctr"/>
                      <a:endParaRPr sz="1100"/>
                    </a:p>
                  </a:txBody>
                  <a:tcPr marL="19050" marR="14288" marT="19050" marB="19050" anchor="ctr">
                    <a:solidFill>
                      <a:srgbClr val="EBF2F9"/>
                    </a:solidFill>
                  </a:tcPr>
                </a:tc>
                <a:tc gridSpan="2">
                  <a:txBody>
                    <a:bodyPr wrap="none"/>
                    <a:lstStyle/>
                    <a:p>
                      <a:pPr algn="ctr"/>
                      <a:r>
                        <a:rPr sz="1100" b="1">
                          <a:solidFill>
                            <a:srgbClr val="0E2A5C"/>
                          </a:solidFill>
                          <a:latin typeface="Calibri"/>
                        </a:rPr>
                        <a:t>Total</a:t>
                      </a:r>
                      <a:endParaRPr sz="1100"/>
                    </a:p>
                  </a:txBody>
                  <a:tcPr marL="19050" marR="14288" marT="19050" marB="19050" anchor="ctr">
                    <a:solidFill>
                      <a:srgbClr val="EBF2F9"/>
                    </a:solidFill>
                  </a:tcPr>
                </a:tc>
                <a:tc hMerge="1">
                  <a:txBody>
                    <a:bodyPr wrap="none"/>
                    <a:lstStyle/>
                    <a:p>
                      <a:pPr algn="ctr"/>
                      <a:endParaRPr sz="1100"/>
                    </a:p>
                  </a:txBody>
                  <a:tcPr marL="19050" marR="14288" marT="19050" marB="19050" anchor="ctr">
                    <a:solidFill>
                      <a:srgbClr val="EBF2F9"/>
                    </a:solidFill>
                  </a:tcPr>
                </a:tc>
              </a:tr>
              <a:tr h="1403858">
                <a:tc vMerge="1">
                  <a:txBody>
                    <a:bodyPr wrap="none"/>
                    <a:lstStyle/>
                    <a:p>
                      <a:pPr algn="l"/>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 Joint &amp; Bone Health|US$ Mn</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 Joint &amp; Bone Health|CAGR</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 Skin, Hair &amp; Nail Health|US$ Mn</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 Skin, Hair &amp; Nail Health|CAGR</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 Others|US$ Mn</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 Others|CAGR</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US$ Mn</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CAGR</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 Skin Care|US$ Mn</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 Skin Care|CAGR</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 Hair Care|US$ Mn</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 Hair Care|CAGR</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 Wound Care &amp; Dressings|US$ Mn</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 Wound Care &amp; Dressings|CAGR</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 Tissue Engineering &amp; Drug Delivery|US$ Mn</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 Tissue Engineering &amp; Drug Delivery|CAGR</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 Pet Joint &amp; Skin Supplements|US$ Mn</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 Pet Joint &amp; Skin Supplements|CAGR</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 Livestock &amp; Poultry Feed|US$ Mn</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 Livestock &amp; Poultry Feed|CAGR</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US$ Mn</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CAGR</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US$ Mn</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CAGR</a:t>
                      </a:r>
                      <a:endParaRPr sz="1100"/>
                    </a:p>
                  </a:txBody>
                  <a:tcPr marL="19050" marR="14288" marT="19050" marB="19050" anchor="ctr">
                    <a:solidFill>
                      <a:srgbClr val="EBF2F9"/>
                    </a:solidFill>
                  </a:tcPr>
                </a:tc>
              </a:tr>
              <a:tr h="1596644">
                <a:tc>
                  <a:txBody>
                    <a:bodyPr wrap="none"/>
                    <a:lstStyle/>
                    <a:p>
                      <a:pPr algn="l"/>
                      <a:r>
                        <a:rPr sz="1100" b="1">
                          <a:solidFill>
                            <a:srgbClr val="2E2E2E"/>
                          </a:solidFill>
                          <a:latin typeface="Calibri"/>
                        </a:rPr>
                        <a:t>Speci</a:t>
                      </a:r>
                      <a:endParaRPr sz="1100"/>
                    </a:p>
                    <a:p>
                      <a:pPr algn="l"/>
                      <a:r>
                        <a:rPr sz="1100" b="1">
                          <a:solidFill>
                            <a:srgbClr val="2E2E2E"/>
                          </a:solidFill>
                          <a:latin typeface="Calibri"/>
                        </a:rPr>
                        <a:t>alty</a:t>
                      </a:r>
                      <a:endParaRPr sz="1100"/>
                    </a:p>
                    <a:p>
                      <a:pPr algn="l"/>
                      <a:r>
                        <a:rPr sz="1100" b="1">
                          <a:solidFill>
                            <a:srgbClr val="2E2E2E"/>
                          </a:solidFill>
                          <a:latin typeface="Calibri"/>
                        </a:rPr>
                        <a:t>Extra</a:t>
                      </a:r>
                      <a:endParaRPr sz="1100"/>
                    </a:p>
                    <a:p>
                      <a:pPr algn="l"/>
                      <a:r>
                        <a:rPr sz="1100" b="1">
                          <a:solidFill>
                            <a:srgbClr val="2E2E2E"/>
                          </a:solidFill>
                          <a:latin typeface="Calibri"/>
                        </a:rPr>
                        <a:t>cted</a:t>
                      </a:r>
                      <a:endParaRPr sz="1100"/>
                    </a:p>
                    <a:p>
                      <a:pPr algn="l"/>
                      <a:r>
                        <a:rPr sz="1100" b="1">
                          <a:solidFill>
                            <a:srgbClr val="2E2E2E"/>
                          </a:solidFill>
                          <a:latin typeface="Calibri"/>
                        </a:rPr>
                        <a:t>Prote</a:t>
                      </a:r>
                      <a:endParaRPr sz="1100"/>
                    </a:p>
                    <a:p>
                      <a:pPr algn="l"/>
                      <a:r>
                        <a:rPr sz="1100" b="1">
                          <a:solidFill>
                            <a:srgbClr val="2E2E2E"/>
                          </a:solidFill>
                          <a:latin typeface="Calibri"/>
                        </a:rPr>
                        <a:t>in</a:t>
                      </a:r>
                      <a:endParaRPr sz="1100"/>
                    </a:p>
                    <a:p>
                      <a:pPr algn="l"/>
                      <a:r>
                        <a:rPr sz="1100" b="1">
                          <a:solidFill>
                            <a:srgbClr val="2E2E2E"/>
                          </a:solidFill>
                          <a:latin typeface="Calibri"/>
                        </a:rPr>
                        <a:t>Fracti</a:t>
                      </a:r>
                      <a:endParaRPr sz="1100"/>
                    </a:p>
                    <a:p>
                      <a:pPr algn="l"/>
                      <a:r>
                        <a:rPr sz="1100" b="1">
                          <a:solidFill>
                            <a:srgbClr val="2E2E2E"/>
                          </a:solidFill>
                          <a:latin typeface="Calibri"/>
                        </a:rPr>
                        <a:t>ons</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square"/>
                    <a:lstStyle/>
                    <a:p>
                      <a:pPr algn="ctr"/>
                      <a:r>
                        <a:rPr sz="1100"/>
                        <a:t> </a:t>
                      </a:r>
                      <a:endParaRPr sz="1100"/>
                    </a:p>
                  </a:txBody>
                  <a:tcPr marL="19050" marR="14288" marT="19050" marB="19050" anchor="ctr">
                    <a:solidFill>
                      <a:srgbClr val="FFFFFF"/>
                    </a:solidFill>
                  </a:tcPr>
                </a:tc>
                <a:tc>
                  <a:txBody>
                    <a:bodyPr wrap="squar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square"/>
                    <a:lstStyle/>
                    <a:p>
                      <a:pPr algn="ctr"/>
                      <a:r>
                        <a:rPr sz="1100"/>
                        <a:t> </a:t>
                      </a:r>
                      <a:endParaRPr sz="1100"/>
                    </a:p>
                  </a:txBody>
                  <a:tcPr marL="19050" marR="14288" marT="19050" marB="19050" anchor="ctr">
                    <a:solidFill>
                      <a:srgbClr val="FFFFFF"/>
                    </a:solidFill>
                  </a:tcPr>
                </a:tc>
                <a:tc>
                  <a:txBody>
                    <a:bodyPr wrap="square"/>
                    <a:lstStyle/>
                    <a:p>
                      <a:pPr algn="ctr"/>
                      <a:r>
                        <a:rPr sz="1100"/>
                        <a:t> </a:t>
                      </a:r>
                      <a:endParaRPr sz="1100"/>
                    </a:p>
                  </a:txBody>
                  <a:tcPr marL="19050" marR="14288" marT="19050" marB="19050" anchor="ctr">
                    <a:solidFill>
                      <a:srgbClr val="FFFFFF"/>
                    </a:solidFill>
                  </a:tcPr>
                </a:tc>
                <a:tc>
                  <a:txBody>
                    <a:bodyPr wrap="square"/>
                    <a:lstStyle/>
                    <a:p>
                      <a:pPr algn="ctr"/>
                      <a:r>
                        <a:rPr sz="1100"/>
                        <a:t> </a:t>
                      </a:r>
                      <a:endParaRPr sz="1100"/>
                    </a:p>
                  </a:txBody>
                  <a:tcPr marL="19050" marR="14288" marT="19050" marB="19050" anchor="ctr">
                    <a:solidFill>
                      <a:srgbClr val="FFFFFF"/>
                    </a:solidFill>
                  </a:tcPr>
                </a:tc>
                <a:tc>
                  <a:txBody>
                    <a:bodyPr wrap="square"/>
                    <a:lstStyle/>
                    <a:p>
                      <a:pPr algn="ctr"/>
                      <a:r>
                        <a:rPr sz="1100"/>
                        <a:t> </a:t>
                      </a:r>
                      <a:endParaRPr sz="1100"/>
                    </a:p>
                  </a:txBody>
                  <a:tcPr marL="19050" marR="14288" marT="19050" marB="19050" anchor="ctr">
                    <a:solidFill>
                      <a:srgbClr val="FFFFFF"/>
                    </a:solidFill>
                  </a:tcPr>
                </a:tc>
              </a:tr>
              <a:tr h="439928">
                <a:tc>
                  <a:txBody>
                    <a:bodyPr wrap="none"/>
                    <a:lstStyle/>
                    <a:p>
                      <a:pPr algn="l"/>
                      <a:r>
                        <a:rPr sz="1100" b="1">
                          <a:solidFill>
                            <a:srgbClr val="2E2E2E"/>
                          </a:solidFill>
                          <a:latin typeface="Calibri"/>
                        </a:rPr>
                        <a:t>Total</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square"/>
                    <a:lstStyle/>
                    <a:p>
                      <a:pPr algn="ctr"/>
                      <a:r>
                        <a:rPr sz="1100"/>
                        <a:t> </a:t>
                      </a:r>
                      <a:endParaRPr sz="1100"/>
                    </a:p>
                  </a:txBody>
                  <a:tcPr marL="19050" marR="14288" marT="19050" marB="19050" anchor="ctr">
                    <a:solidFill>
                      <a:srgbClr val="EBF2F9"/>
                    </a:solidFill>
                  </a:tcPr>
                </a:tc>
                <a:tc>
                  <a:txBody>
                    <a:bodyPr wrap="square"/>
                    <a:lstStyle/>
                    <a:p>
                      <a:pPr algn="ctr"/>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square"/>
                    <a:lstStyle/>
                    <a:p>
                      <a:pPr algn="ctr"/>
                      <a:r>
                        <a:rPr sz="1100"/>
                        <a:t> </a:t>
                      </a:r>
                      <a:endParaRPr sz="1100"/>
                    </a:p>
                  </a:txBody>
                  <a:tcPr marL="19050" marR="14288" marT="19050" marB="19050" anchor="ctr">
                    <a:solidFill>
                      <a:srgbClr val="EBF2F9"/>
                    </a:solidFill>
                  </a:tcPr>
                </a:tc>
                <a:tc>
                  <a:txBody>
                    <a:bodyPr wrap="square"/>
                    <a:lstStyle/>
                    <a:p>
                      <a:pPr algn="ctr"/>
                      <a:r>
                        <a:rPr sz="1100"/>
                        <a:t> </a:t>
                      </a:r>
                      <a:endParaRPr sz="1100"/>
                    </a:p>
                  </a:txBody>
                  <a:tcPr marL="19050" marR="14288" marT="19050" marB="19050" anchor="ctr">
                    <a:solidFill>
                      <a:srgbClr val="EBF2F9"/>
                    </a:solidFill>
                  </a:tcPr>
                </a:tc>
                <a:tc>
                  <a:txBody>
                    <a:bodyPr wrap="square"/>
                    <a:lstStyle/>
                    <a:p>
                      <a:pPr algn="ctr"/>
                      <a:r>
                        <a:rPr sz="1100"/>
                        <a:t> </a:t>
                      </a:r>
                      <a:endParaRPr sz="1100"/>
                    </a:p>
                  </a:txBody>
                  <a:tcPr marL="19050" marR="14288" marT="19050" marB="19050" anchor="ctr">
                    <a:solidFill>
                      <a:srgbClr val="EBF2F9"/>
                    </a:solidFill>
                  </a:tcPr>
                </a:tc>
                <a:tc>
                  <a:txBody>
                    <a:bodyPr wrap="square"/>
                    <a:lstStyle/>
                    <a:p>
                      <a:pPr algn="ctr"/>
                      <a:r>
                        <a:rPr sz="1100"/>
                        <a:t> </a:t>
                      </a:r>
                      <a:endParaRPr sz="1100"/>
                    </a:p>
                  </a:txBody>
                  <a:tcPr marL="19050" marR="14288" marT="19050" marB="19050" anchor="ctr">
                    <a:solidFill>
                      <a:srgbClr val="EBF2F9"/>
                    </a:solidFill>
                  </a:tcPr>
                </a:tc>
              </a:tr>
            </a:tbl>
          </a:graphicData>
        </a:graphic>
      </p:graphicFrame>
      <p:sp>
        <p:nvSpPr>
          <p:cNvPr id="10" name="TextBox 9"/>
          <p:cNvSpPr txBox="1"/>
          <p:nvPr/>
        </p:nvSpPr>
        <p:spPr>
          <a:xfrm>
            <a:off x="219075" y="570547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11" name="Rectangle 10"/>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3" name="Picture 12" descr="lock.png"/>
          <p:cNvPicPr>
            <a:picLocks noChangeAspect="1"/>
          </p:cNvPicPr>
          <p:nvPr/>
        </p:nvPicPr>
        <p:blipFill>
          <a:blip r:embed="rId4"/>
          <a:stretch>
            <a:fillRect/>
          </a:stretch>
        </p:blipFill>
        <p:spPr>
          <a:xfrm>
            <a:off x="6114004" y="4410964"/>
            <a:ext cx="366712" cy="533400"/>
          </a:xfrm>
          <a:prstGeom prst="rect">
            <a:avLst/>
          </a:prstGeom>
        </p:spPr>
      </p:pic>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Absolute $ Opportunity &amp; Attractiveness: Product Type × Application, 2026E–2036F (3/3)</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Incremental value 2026E→2036F (US$ Mn) and value CAGR by cell; attractiveness index scored 1–5</a:t>
            </a:r>
          </a:p>
        </p:txBody>
      </p:sp>
      <p:sp>
        <p:nvSpPr>
          <p:cNvPr id="7" name="Rounded Rectangle 6"/>
          <p:cNvSpPr/>
          <p:nvPr/>
        </p:nvSpPr>
        <p:spPr>
          <a:xfrm>
            <a:off x="142875" y="981075"/>
            <a:ext cx="5600700" cy="5648325"/>
          </a:xfrm>
          <a:prstGeom prst="roundRect">
            <a:avLst>
              <a:gd name="adj" fmla="val 1360"/>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6225" y="1066800"/>
            <a:ext cx="5334000" cy="209550"/>
          </a:xfrm>
          <a:prstGeom prst="rect">
            <a:avLst/>
          </a:prstGeom>
          <a:noFill/>
        </p:spPr>
        <p:txBody>
          <a:bodyPr wrap="square" lIns="0" rIns="19050" tIns="9525" bIns="9525">
            <a:spAutoFit/>
          </a:bodyPr>
          <a:lstStyle/>
          <a:p>
            <a:pPr algn="l"/>
            <a:r>
              <a:rPr sz="1300" b="1">
                <a:solidFill>
                  <a:srgbClr val="0E2A5C"/>
                </a:solidFill>
                <a:latin typeface="Calibri"/>
              </a:rPr>
              <a:t>Top 5 Opportunity Cells (US$ Mn · CAGR · Index)</a:t>
            </a:r>
          </a:p>
        </p:txBody>
      </p:sp>
      <p:sp>
        <p:nvSpPr>
          <p:cNvPr id="9" name="Rectangle 8"/>
          <p:cNvSpPr/>
          <p:nvPr/>
        </p:nvSpPr>
        <p:spPr>
          <a:xfrm>
            <a:off x="276225" y="1304925"/>
            <a:ext cx="533400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6225" y="1390650"/>
            <a:ext cx="53340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p:txBody>
      </p:sp>
      <p:sp>
        <p:nvSpPr>
          <p:cNvPr id="11" name="Rounded Rectangle 10"/>
          <p:cNvSpPr/>
          <p:nvPr/>
        </p:nvSpPr>
        <p:spPr>
          <a:xfrm>
            <a:off x="5895975" y="981075"/>
            <a:ext cx="1943100" cy="5648325"/>
          </a:xfrm>
          <a:prstGeom prst="roundRect">
            <a:avLst>
              <a:gd name="adj" fmla="val 3921"/>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29325" y="1066800"/>
            <a:ext cx="1676400" cy="209550"/>
          </a:xfrm>
          <a:prstGeom prst="rect">
            <a:avLst/>
          </a:prstGeom>
          <a:noFill/>
        </p:spPr>
        <p:txBody>
          <a:bodyPr wrap="square" lIns="0" rIns="19050" tIns="9525" bIns="9525">
            <a:spAutoFit/>
          </a:bodyPr>
          <a:lstStyle/>
          <a:p>
            <a:pPr algn="l"/>
            <a:r>
              <a:rPr sz="1300" b="1">
                <a:solidFill>
                  <a:srgbClr val="0E2A5C"/>
                </a:solidFill>
                <a:latin typeface="Calibri"/>
              </a:rPr>
              <a:t>Largest Pool</a:t>
            </a:r>
          </a:p>
        </p:txBody>
      </p:sp>
      <p:sp>
        <p:nvSpPr>
          <p:cNvPr id="13" name="Rectangle 12"/>
          <p:cNvSpPr/>
          <p:nvPr/>
        </p:nvSpPr>
        <p:spPr>
          <a:xfrm>
            <a:off x="6029325" y="1304925"/>
            <a:ext cx="167640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029325" y="1390650"/>
            <a:ext cx="16764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p:txBody>
      </p:sp>
      <p:sp>
        <p:nvSpPr>
          <p:cNvPr id="15" name="Rounded Rectangle 14"/>
          <p:cNvSpPr/>
          <p:nvPr/>
        </p:nvSpPr>
        <p:spPr>
          <a:xfrm>
            <a:off x="7991475" y="981075"/>
            <a:ext cx="1943100" cy="5648325"/>
          </a:xfrm>
          <a:prstGeom prst="roundRect">
            <a:avLst>
              <a:gd name="adj" fmla="val 3921"/>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24825" y="1066800"/>
            <a:ext cx="1676400" cy="209550"/>
          </a:xfrm>
          <a:prstGeom prst="rect">
            <a:avLst/>
          </a:prstGeom>
          <a:noFill/>
        </p:spPr>
        <p:txBody>
          <a:bodyPr wrap="square" lIns="0" rIns="19050" tIns="9525" bIns="9525">
            <a:spAutoFit/>
          </a:bodyPr>
          <a:lstStyle/>
          <a:p>
            <a:pPr algn="l"/>
            <a:r>
              <a:rPr sz="1300" b="1">
                <a:solidFill>
                  <a:srgbClr val="0E2A5C"/>
                </a:solidFill>
                <a:latin typeface="Calibri"/>
              </a:rPr>
              <a:t>Fastest Growth</a:t>
            </a:r>
          </a:p>
        </p:txBody>
      </p:sp>
      <p:sp>
        <p:nvSpPr>
          <p:cNvPr id="17" name="Rectangle 16"/>
          <p:cNvSpPr/>
          <p:nvPr/>
        </p:nvSpPr>
        <p:spPr>
          <a:xfrm>
            <a:off x="8124825" y="1304925"/>
            <a:ext cx="167640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24825" y="1390650"/>
            <a:ext cx="16764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p:txBody>
      </p:sp>
      <p:sp>
        <p:nvSpPr>
          <p:cNvPr id="19" name="Rounded Rectangle 18"/>
          <p:cNvSpPr/>
          <p:nvPr/>
        </p:nvSpPr>
        <p:spPr>
          <a:xfrm>
            <a:off x="10086975" y="981075"/>
            <a:ext cx="1943100" cy="5648325"/>
          </a:xfrm>
          <a:prstGeom prst="roundRect">
            <a:avLst>
              <a:gd name="adj" fmla="val 3921"/>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220325" y="1066800"/>
            <a:ext cx="1676400" cy="209550"/>
          </a:xfrm>
          <a:prstGeom prst="rect">
            <a:avLst/>
          </a:prstGeom>
          <a:noFill/>
        </p:spPr>
        <p:txBody>
          <a:bodyPr wrap="square" lIns="0" rIns="19050" tIns="9525" bIns="9525">
            <a:spAutoFit/>
          </a:bodyPr>
          <a:lstStyle/>
          <a:p>
            <a:pPr algn="l"/>
            <a:r>
              <a:rPr sz="1300" b="1">
                <a:solidFill>
                  <a:srgbClr val="0E2A5C"/>
                </a:solidFill>
                <a:latin typeface="Calibri"/>
              </a:rPr>
              <a:t>Where to Play</a:t>
            </a:r>
          </a:p>
        </p:txBody>
      </p:sp>
      <p:sp>
        <p:nvSpPr>
          <p:cNvPr id="21" name="Rectangle 20"/>
          <p:cNvSpPr/>
          <p:nvPr/>
        </p:nvSpPr>
        <p:spPr>
          <a:xfrm>
            <a:off x="10220325" y="1304925"/>
            <a:ext cx="167640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220325" y="1390650"/>
            <a:ext cx="16764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t>
            </a:r>
            <a:r>
              <a:rPr sz="1150" b="0">
                <a:solidFill>
                  <a:srgbClr val="2E2E2E"/>
                </a:solidFill>
                <a:latin typeface="Calibri"/>
              </a:rPr>
              <a:t>'Micronized Eggshell Membrane × Functional Food &amp; Beverages' ranks highest (5/5); 'Micronized Eggshell Membrane × Dietary Supplements &amp; Nutraceuticals | Joint &amp; Bone Health' lowest (1/5), a deprioritised cell.</a:t>
            </a:r>
          </a:p>
        </p:txBody>
      </p:sp>
      <p:sp>
        <p:nvSpPr>
          <p:cNvPr id="23" name="Rectangle 22"/>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
        <p:nvSpPr>
          <p:cNvPr id="25" name="TextBox 24"/>
          <p:cNvSpPr txBox="1"/>
          <p:nvPr/>
        </p:nvSpPr>
        <p:spPr>
          <a:xfrm>
            <a:off x="276225" y="1400175"/>
            <a:ext cx="4158437" cy="194310"/>
          </a:xfrm>
          <a:prstGeom prst="rect">
            <a:avLst/>
          </a:prstGeom>
          <a:noFill/>
        </p:spPr>
        <p:txBody>
          <a:bodyPr wrap="none" lIns="0" rIns="0" tIns="0" bIns="0">
            <a:spAutoFit/>
          </a:bodyPr>
          <a:lstStyle/>
          <a:p>
            <a:r>
              <a:rPr sz="1150" b="0">
                <a:solidFill>
                  <a:srgbClr val="2E2E2E"/>
                </a:solidFill>
                <a:latin typeface="Calibri"/>
              </a:rPr>
              <a:t>▪ 1. Hydrolyzed Eggshell Membrane × Functional Food &amp; Beverages –</a:t>
            </a:r>
          </a:p>
        </p:txBody>
      </p:sp>
      <p:pic>
        <p:nvPicPr>
          <p:cNvPr id="26" name="Picture 25" descr="lock.png"/>
          <p:cNvPicPr>
            <a:picLocks noChangeAspect="1"/>
          </p:cNvPicPr>
          <p:nvPr/>
        </p:nvPicPr>
        <p:blipFill>
          <a:blip r:embed="rId4"/>
          <a:stretch>
            <a:fillRect/>
          </a:stretch>
        </p:blipFill>
        <p:spPr>
          <a:xfrm>
            <a:off x="4383816" y="1389951"/>
            <a:ext cx="134549" cy="195707"/>
          </a:xfrm>
          <a:prstGeom prst="rect">
            <a:avLst/>
          </a:prstGeom>
        </p:spPr>
      </p:pic>
      <p:sp>
        <p:nvSpPr>
          <p:cNvPr id="27" name="TextBox 26"/>
          <p:cNvSpPr txBox="1"/>
          <p:nvPr/>
        </p:nvSpPr>
        <p:spPr>
          <a:xfrm>
            <a:off x="4558925" y="1400175"/>
            <a:ext cx="112997" cy="194310"/>
          </a:xfrm>
          <a:prstGeom prst="rect">
            <a:avLst/>
          </a:prstGeom>
          <a:noFill/>
        </p:spPr>
        <p:txBody>
          <a:bodyPr wrap="none" lIns="0" rIns="0" tIns="0" bIns="0">
            <a:spAutoFit/>
          </a:bodyPr>
          <a:lstStyle/>
          <a:p>
            <a:r>
              <a:rPr sz="1150" b="0">
                <a:solidFill>
                  <a:srgbClr val="2E2E2E"/>
                </a:solidFill>
                <a:latin typeface="Calibri"/>
              </a:rPr>
              <a:t>·</a:t>
            </a:r>
          </a:p>
        </p:txBody>
      </p:sp>
      <p:pic>
        <p:nvPicPr>
          <p:cNvPr id="28" name="Picture 27" descr="lock.png"/>
          <p:cNvPicPr>
            <a:picLocks noChangeAspect="1"/>
          </p:cNvPicPr>
          <p:nvPr/>
        </p:nvPicPr>
        <p:blipFill>
          <a:blip r:embed="rId4"/>
          <a:stretch>
            <a:fillRect/>
          </a:stretch>
        </p:blipFill>
        <p:spPr>
          <a:xfrm>
            <a:off x="4621077" y="1389951"/>
            <a:ext cx="134549" cy="195707"/>
          </a:xfrm>
          <a:prstGeom prst="rect">
            <a:avLst/>
          </a:prstGeom>
        </p:spPr>
      </p:pic>
      <p:sp>
        <p:nvSpPr>
          <p:cNvPr id="29" name="TextBox 28"/>
          <p:cNvSpPr txBox="1"/>
          <p:nvPr/>
        </p:nvSpPr>
        <p:spPr>
          <a:xfrm>
            <a:off x="4796186" y="1400175"/>
            <a:ext cx="350899" cy="194310"/>
          </a:xfrm>
          <a:prstGeom prst="rect">
            <a:avLst/>
          </a:prstGeom>
          <a:noFill/>
        </p:spPr>
        <p:txBody>
          <a:bodyPr wrap="none" lIns="0" rIns="0" tIns="0" bIns="0">
            <a:spAutoFit/>
          </a:bodyPr>
          <a:lstStyle/>
          <a:p>
            <a:r>
              <a:rPr sz="1150" b="0">
                <a:solidFill>
                  <a:srgbClr val="2E2E2E"/>
                </a:solidFill>
                <a:latin typeface="Calibri"/>
              </a:rPr>
              <a:t>· 5/5</a:t>
            </a:r>
          </a:p>
        </p:txBody>
      </p:sp>
      <p:sp>
        <p:nvSpPr>
          <p:cNvPr id="30" name="TextBox 29"/>
          <p:cNvSpPr txBox="1"/>
          <p:nvPr/>
        </p:nvSpPr>
        <p:spPr>
          <a:xfrm>
            <a:off x="276225" y="1628013"/>
            <a:ext cx="4453675" cy="194310"/>
          </a:xfrm>
          <a:prstGeom prst="rect">
            <a:avLst/>
          </a:prstGeom>
          <a:noFill/>
        </p:spPr>
        <p:txBody>
          <a:bodyPr wrap="none" lIns="0" rIns="0" tIns="0" bIns="0">
            <a:spAutoFit/>
          </a:bodyPr>
          <a:lstStyle/>
          <a:p>
            <a:r>
              <a:rPr sz="1150" b="0">
                <a:solidFill>
                  <a:srgbClr val="2E2E2E"/>
                </a:solidFill>
                <a:latin typeface="Calibri"/>
              </a:rPr>
              <a:t>▪ 2. Specialty Extracted Protein Fractions × Functional Food &amp; Beverages –</a:t>
            </a:r>
          </a:p>
        </p:txBody>
      </p:sp>
      <p:pic>
        <p:nvPicPr>
          <p:cNvPr id="31" name="Picture 30" descr="lock.png"/>
          <p:cNvPicPr>
            <a:picLocks noChangeAspect="1"/>
          </p:cNvPicPr>
          <p:nvPr/>
        </p:nvPicPr>
        <p:blipFill>
          <a:blip r:embed="rId4"/>
          <a:stretch>
            <a:fillRect/>
          </a:stretch>
        </p:blipFill>
        <p:spPr>
          <a:xfrm>
            <a:off x="4679054" y="1617789"/>
            <a:ext cx="134549" cy="195707"/>
          </a:xfrm>
          <a:prstGeom prst="rect">
            <a:avLst/>
          </a:prstGeom>
        </p:spPr>
      </p:pic>
      <p:sp>
        <p:nvSpPr>
          <p:cNvPr id="32" name="TextBox 31"/>
          <p:cNvSpPr txBox="1"/>
          <p:nvPr/>
        </p:nvSpPr>
        <p:spPr>
          <a:xfrm>
            <a:off x="4854163" y="1628013"/>
            <a:ext cx="112997" cy="194310"/>
          </a:xfrm>
          <a:prstGeom prst="rect">
            <a:avLst/>
          </a:prstGeom>
          <a:noFill/>
        </p:spPr>
        <p:txBody>
          <a:bodyPr wrap="none" lIns="0" rIns="0" tIns="0" bIns="0">
            <a:spAutoFit/>
          </a:bodyPr>
          <a:lstStyle/>
          <a:p>
            <a:r>
              <a:rPr sz="1150" b="0">
                <a:solidFill>
                  <a:srgbClr val="2E2E2E"/>
                </a:solidFill>
                <a:latin typeface="Calibri"/>
              </a:rPr>
              <a:t>·</a:t>
            </a:r>
          </a:p>
        </p:txBody>
      </p:sp>
      <p:pic>
        <p:nvPicPr>
          <p:cNvPr id="33" name="Picture 32" descr="lock.png"/>
          <p:cNvPicPr>
            <a:picLocks noChangeAspect="1"/>
          </p:cNvPicPr>
          <p:nvPr/>
        </p:nvPicPr>
        <p:blipFill>
          <a:blip r:embed="rId4"/>
          <a:stretch>
            <a:fillRect/>
          </a:stretch>
        </p:blipFill>
        <p:spPr>
          <a:xfrm>
            <a:off x="4916315" y="1617789"/>
            <a:ext cx="134549" cy="195707"/>
          </a:xfrm>
          <a:prstGeom prst="rect">
            <a:avLst/>
          </a:prstGeom>
        </p:spPr>
      </p:pic>
      <p:sp>
        <p:nvSpPr>
          <p:cNvPr id="34" name="TextBox 33"/>
          <p:cNvSpPr txBox="1"/>
          <p:nvPr/>
        </p:nvSpPr>
        <p:spPr>
          <a:xfrm>
            <a:off x="5091424" y="1628013"/>
            <a:ext cx="112997" cy="194310"/>
          </a:xfrm>
          <a:prstGeom prst="rect">
            <a:avLst/>
          </a:prstGeom>
          <a:noFill/>
        </p:spPr>
        <p:txBody>
          <a:bodyPr wrap="none" lIns="0" rIns="0" tIns="0" bIns="0">
            <a:spAutoFit/>
          </a:bodyPr>
          <a:lstStyle/>
          <a:p>
            <a:r>
              <a:rPr sz="1150" b="0">
                <a:solidFill>
                  <a:srgbClr val="2E2E2E"/>
                </a:solidFill>
                <a:latin typeface="Calibri"/>
              </a:rPr>
              <a:t>·</a:t>
            </a:r>
          </a:p>
        </p:txBody>
      </p:sp>
      <p:sp>
        <p:nvSpPr>
          <p:cNvPr id="35" name="TextBox 34"/>
          <p:cNvSpPr txBox="1"/>
          <p:nvPr/>
        </p:nvSpPr>
        <p:spPr>
          <a:xfrm>
            <a:off x="276225" y="1803273"/>
            <a:ext cx="281012" cy="194310"/>
          </a:xfrm>
          <a:prstGeom prst="rect">
            <a:avLst/>
          </a:prstGeom>
          <a:noFill/>
        </p:spPr>
        <p:txBody>
          <a:bodyPr wrap="none" lIns="0" rIns="0" tIns="0" bIns="0">
            <a:spAutoFit/>
          </a:bodyPr>
          <a:lstStyle/>
          <a:p>
            <a:r>
              <a:rPr sz="1150" b="0">
                <a:solidFill>
                  <a:srgbClr val="2E2E2E"/>
                </a:solidFill>
                <a:latin typeface="Calibri"/>
              </a:rPr>
              <a:t>5/5</a:t>
            </a:r>
          </a:p>
        </p:txBody>
      </p:sp>
      <p:sp>
        <p:nvSpPr>
          <p:cNvPr id="36" name="TextBox 35"/>
          <p:cNvSpPr txBox="1"/>
          <p:nvPr/>
        </p:nvSpPr>
        <p:spPr>
          <a:xfrm>
            <a:off x="276225" y="2031111"/>
            <a:ext cx="4155584" cy="194310"/>
          </a:xfrm>
          <a:prstGeom prst="rect">
            <a:avLst/>
          </a:prstGeom>
          <a:noFill/>
        </p:spPr>
        <p:txBody>
          <a:bodyPr wrap="none" lIns="0" rIns="0" tIns="0" bIns="0">
            <a:spAutoFit/>
          </a:bodyPr>
          <a:lstStyle/>
          <a:p>
            <a:r>
              <a:rPr sz="1150" b="0">
                <a:solidFill>
                  <a:srgbClr val="2E2E2E"/>
                </a:solidFill>
                <a:latin typeface="Calibri"/>
              </a:rPr>
              <a:t>▪ 3. Micronized Eggshell Membrane × Functional Food &amp; Beverages –</a:t>
            </a:r>
          </a:p>
        </p:txBody>
      </p:sp>
      <p:pic>
        <p:nvPicPr>
          <p:cNvPr id="37" name="Picture 36" descr="lock.png"/>
          <p:cNvPicPr>
            <a:picLocks noChangeAspect="1"/>
          </p:cNvPicPr>
          <p:nvPr/>
        </p:nvPicPr>
        <p:blipFill>
          <a:blip r:embed="rId4"/>
          <a:stretch>
            <a:fillRect/>
          </a:stretch>
        </p:blipFill>
        <p:spPr>
          <a:xfrm>
            <a:off x="4380963" y="2020887"/>
            <a:ext cx="134549" cy="195707"/>
          </a:xfrm>
          <a:prstGeom prst="rect">
            <a:avLst/>
          </a:prstGeom>
        </p:spPr>
      </p:pic>
      <p:sp>
        <p:nvSpPr>
          <p:cNvPr id="38" name="TextBox 37"/>
          <p:cNvSpPr txBox="1"/>
          <p:nvPr/>
        </p:nvSpPr>
        <p:spPr>
          <a:xfrm>
            <a:off x="4556073" y="2031111"/>
            <a:ext cx="112997" cy="194310"/>
          </a:xfrm>
          <a:prstGeom prst="rect">
            <a:avLst/>
          </a:prstGeom>
          <a:noFill/>
        </p:spPr>
        <p:txBody>
          <a:bodyPr wrap="none" lIns="0" rIns="0" tIns="0" bIns="0">
            <a:spAutoFit/>
          </a:bodyPr>
          <a:lstStyle/>
          <a:p>
            <a:r>
              <a:rPr sz="1150" b="0">
                <a:solidFill>
                  <a:srgbClr val="2E2E2E"/>
                </a:solidFill>
                <a:latin typeface="Calibri"/>
              </a:rPr>
              <a:t>·</a:t>
            </a:r>
          </a:p>
        </p:txBody>
      </p:sp>
      <p:pic>
        <p:nvPicPr>
          <p:cNvPr id="39" name="Picture 38" descr="lock.png"/>
          <p:cNvPicPr>
            <a:picLocks noChangeAspect="1"/>
          </p:cNvPicPr>
          <p:nvPr/>
        </p:nvPicPr>
        <p:blipFill>
          <a:blip r:embed="rId4"/>
          <a:stretch>
            <a:fillRect/>
          </a:stretch>
        </p:blipFill>
        <p:spPr>
          <a:xfrm>
            <a:off x="4618224" y="2020887"/>
            <a:ext cx="134549" cy="195707"/>
          </a:xfrm>
          <a:prstGeom prst="rect">
            <a:avLst/>
          </a:prstGeom>
        </p:spPr>
      </p:pic>
      <p:sp>
        <p:nvSpPr>
          <p:cNvPr id="40" name="TextBox 39"/>
          <p:cNvSpPr txBox="1"/>
          <p:nvPr/>
        </p:nvSpPr>
        <p:spPr>
          <a:xfrm>
            <a:off x="4793334" y="2031111"/>
            <a:ext cx="350899" cy="194310"/>
          </a:xfrm>
          <a:prstGeom prst="rect">
            <a:avLst/>
          </a:prstGeom>
          <a:noFill/>
        </p:spPr>
        <p:txBody>
          <a:bodyPr wrap="none" lIns="0" rIns="0" tIns="0" bIns="0">
            <a:spAutoFit/>
          </a:bodyPr>
          <a:lstStyle/>
          <a:p>
            <a:r>
              <a:rPr sz="1150" b="0">
                <a:solidFill>
                  <a:srgbClr val="2E2E2E"/>
                </a:solidFill>
                <a:latin typeface="Calibri"/>
              </a:rPr>
              <a:t>· 5/5</a:t>
            </a:r>
          </a:p>
        </p:txBody>
      </p:sp>
      <p:sp>
        <p:nvSpPr>
          <p:cNvPr id="41" name="TextBox 40"/>
          <p:cNvSpPr txBox="1"/>
          <p:nvPr/>
        </p:nvSpPr>
        <p:spPr>
          <a:xfrm>
            <a:off x="276225" y="2258949"/>
            <a:ext cx="3900028" cy="194310"/>
          </a:xfrm>
          <a:prstGeom prst="rect">
            <a:avLst/>
          </a:prstGeom>
          <a:noFill/>
        </p:spPr>
        <p:txBody>
          <a:bodyPr wrap="none" lIns="0" rIns="0" tIns="0" bIns="0">
            <a:spAutoFit/>
          </a:bodyPr>
          <a:lstStyle/>
          <a:p>
            <a:r>
              <a:rPr sz="1150" b="0">
                <a:solidFill>
                  <a:srgbClr val="2E2E2E"/>
                </a:solidFill>
                <a:latin typeface="Calibri"/>
              </a:rPr>
              <a:t>▪ 4. Hydrolyzed Eggshell Membrane × Industrial &amp; Biomaterials –</a:t>
            </a:r>
          </a:p>
        </p:txBody>
      </p:sp>
      <p:pic>
        <p:nvPicPr>
          <p:cNvPr id="42" name="Picture 41" descr="lock.png"/>
          <p:cNvPicPr>
            <a:picLocks noChangeAspect="1"/>
          </p:cNvPicPr>
          <p:nvPr/>
        </p:nvPicPr>
        <p:blipFill>
          <a:blip r:embed="rId4"/>
          <a:stretch>
            <a:fillRect/>
          </a:stretch>
        </p:blipFill>
        <p:spPr>
          <a:xfrm>
            <a:off x="4125407" y="2248725"/>
            <a:ext cx="134549" cy="195707"/>
          </a:xfrm>
          <a:prstGeom prst="rect">
            <a:avLst/>
          </a:prstGeom>
        </p:spPr>
      </p:pic>
      <p:sp>
        <p:nvSpPr>
          <p:cNvPr id="43" name="TextBox 42"/>
          <p:cNvSpPr txBox="1"/>
          <p:nvPr/>
        </p:nvSpPr>
        <p:spPr>
          <a:xfrm>
            <a:off x="4300516" y="2258949"/>
            <a:ext cx="112997" cy="194310"/>
          </a:xfrm>
          <a:prstGeom prst="rect">
            <a:avLst/>
          </a:prstGeom>
          <a:noFill/>
        </p:spPr>
        <p:txBody>
          <a:bodyPr wrap="none" lIns="0" rIns="0" tIns="0" bIns="0">
            <a:spAutoFit/>
          </a:bodyPr>
          <a:lstStyle/>
          <a:p>
            <a:r>
              <a:rPr sz="1150" b="0">
                <a:solidFill>
                  <a:srgbClr val="2E2E2E"/>
                </a:solidFill>
                <a:latin typeface="Calibri"/>
              </a:rPr>
              <a:t>·</a:t>
            </a:r>
          </a:p>
        </p:txBody>
      </p:sp>
      <p:pic>
        <p:nvPicPr>
          <p:cNvPr id="44" name="Picture 43" descr="lock.png"/>
          <p:cNvPicPr>
            <a:picLocks noChangeAspect="1"/>
          </p:cNvPicPr>
          <p:nvPr/>
        </p:nvPicPr>
        <p:blipFill>
          <a:blip r:embed="rId4"/>
          <a:stretch>
            <a:fillRect/>
          </a:stretch>
        </p:blipFill>
        <p:spPr>
          <a:xfrm>
            <a:off x="4362668" y="2248725"/>
            <a:ext cx="134549" cy="195707"/>
          </a:xfrm>
          <a:prstGeom prst="rect">
            <a:avLst/>
          </a:prstGeom>
        </p:spPr>
      </p:pic>
      <p:sp>
        <p:nvSpPr>
          <p:cNvPr id="45" name="TextBox 44"/>
          <p:cNvSpPr txBox="1"/>
          <p:nvPr/>
        </p:nvSpPr>
        <p:spPr>
          <a:xfrm>
            <a:off x="4537777" y="2258949"/>
            <a:ext cx="350899" cy="194310"/>
          </a:xfrm>
          <a:prstGeom prst="rect">
            <a:avLst/>
          </a:prstGeom>
          <a:noFill/>
        </p:spPr>
        <p:txBody>
          <a:bodyPr wrap="none" lIns="0" rIns="0" tIns="0" bIns="0">
            <a:spAutoFit/>
          </a:bodyPr>
          <a:lstStyle/>
          <a:p>
            <a:r>
              <a:rPr sz="1150" b="0">
                <a:solidFill>
                  <a:srgbClr val="2E2E2E"/>
                </a:solidFill>
                <a:latin typeface="Calibri"/>
              </a:rPr>
              <a:t>· 4/5</a:t>
            </a:r>
          </a:p>
        </p:txBody>
      </p:sp>
      <p:sp>
        <p:nvSpPr>
          <p:cNvPr id="46" name="TextBox 45"/>
          <p:cNvSpPr txBox="1"/>
          <p:nvPr/>
        </p:nvSpPr>
        <p:spPr>
          <a:xfrm>
            <a:off x="276225" y="2486787"/>
            <a:ext cx="3897176" cy="194310"/>
          </a:xfrm>
          <a:prstGeom prst="rect">
            <a:avLst/>
          </a:prstGeom>
          <a:noFill/>
        </p:spPr>
        <p:txBody>
          <a:bodyPr wrap="none" lIns="0" rIns="0" tIns="0" bIns="0">
            <a:spAutoFit/>
          </a:bodyPr>
          <a:lstStyle/>
          <a:p>
            <a:r>
              <a:rPr sz="1150" b="0">
                <a:solidFill>
                  <a:srgbClr val="2E2E2E"/>
                </a:solidFill>
                <a:latin typeface="Calibri"/>
              </a:rPr>
              <a:t>▪ 5. Micronized Eggshell Membrane × Industrial &amp; Biomaterials –</a:t>
            </a:r>
          </a:p>
        </p:txBody>
      </p:sp>
      <p:pic>
        <p:nvPicPr>
          <p:cNvPr id="47" name="Picture 46" descr="lock.png"/>
          <p:cNvPicPr>
            <a:picLocks noChangeAspect="1"/>
          </p:cNvPicPr>
          <p:nvPr/>
        </p:nvPicPr>
        <p:blipFill>
          <a:blip r:embed="rId4"/>
          <a:stretch>
            <a:fillRect/>
          </a:stretch>
        </p:blipFill>
        <p:spPr>
          <a:xfrm>
            <a:off x="4122555" y="2476563"/>
            <a:ext cx="134549" cy="195707"/>
          </a:xfrm>
          <a:prstGeom prst="rect">
            <a:avLst/>
          </a:prstGeom>
        </p:spPr>
      </p:pic>
      <p:sp>
        <p:nvSpPr>
          <p:cNvPr id="48" name="TextBox 47"/>
          <p:cNvSpPr txBox="1"/>
          <p:nvPr/>
        </p:nvSpPr>
        <p:spPr>
          <a:xfrm>
            <a:off x="4297664" y="2486787"/>
            <a:ext cx="112997" cy="194310"/>
          </a:xfrm>
          <a:prstGeom prst="rect">
            <a:avLst/>
          </a:prstGeom>
          <a:noFill/>
        </p:spPr>
        <p:txBody>
          <a:bodyPr wrap="none" lIns="0" rIns="0" tIns="0" bIns="0">
            <a:spAutoFit/>
          </a:bodyPr>
          <a:lstStyle/>
          <a:p>
            <a:r>
              <a:rPr sz="1150" b="0">
                <a:solidFill>
                  <a:srgbClr val="2E2E2E"/>
                </a:solidFill>
                <a:latin typeface="Calibri"/>
              </a:rPr>
              <a:t>·</a:t>
            </a:r>
          </a:p>
        </p:txBody>
      </p:sp>
      <p:pic>
        <p:nvPicPr>
          <p:cNvPr id="49" name="Picture 48" descr="lock.png"/>
          <p:cNvPicPr>
            <a:picLocks noChangeAspect="1"/>
          </p:cNvPicPr>
          <p:nvPr/>
        </p:nvPicPr>
        <p:blipFill>
          <a:blip r:embed="rId4"/>
          <a:stretch>
            <a:fillRect/>
          </a:stretch>
        </p:blipFill>
        <p:spPr>
          <a:xfrm>
            <a:off x="4359815" y="2476563"/>
            <a:ext cx="134549" cy="195707"/>
          </a:xfrm>
          <a:prstGeom prst="rect">
            <a:avLst/>
          </a:prstGeom>
        </p:spPr>
      </p:pic>
      <p:sp>
        <p:nvSpPr>
          <p:cNvPr id="50" name="TextBox 49"/>
          <p:cNvSpPr txBox="1"/>
          <p:nvPr/>
        </p:nvSpPr>
        <p:spPr>
          <a:xfrm>
            <a:off x="4534925" y="2486787"/>
            <a:ext cx="350899" cy="194310"/>
          </a:xfrm>
          <a:prstGeom prst="rect">
            <a:avLst/>
          </a:prstGeom>
          <a:noFill/>
        </p:spPr>
        <p:txBody>
          <a:bodyPr wrap="none" lIns="0" rIns="0" tIns="0" bIns="0">
            <a:spAutoFit/>
          </a:bodyPr>
          <a:lstStyle/>
          <a:p>
            <a:r>
              <a:rPr sz="1150" b="0">
                <a:solidFill>
                  <a:srgbClr val="2E2E2E"/>
                </a:solidFill>
                <a:latin typeface="Calibri"/>
              </a:rPr>
              <a:t>· 4/5</a:t>
            </a:r>
          </a:p>
        </p:txBody>
      </p:sp>
      <p:sp>
        <p:nvSpPr>
          <p:cNvPr id="51" name="TextBox 50"/>
          <p:cNvSpPr txBox="1"/>
          <p:nvPr/>
        </p:nvSpPr>
        <p:spPr>
          <a:xfrm>
            <a:off x="6029325" y="1400175"/>
            <a:ext cx="1377813" cy="194310"/>
          </a:xfrm>
          <a:prstGeom prst="rect">
            <a:avLst/>
          </a:prstGeom>
          <a:noFill/>
        </p:spPr>
        <p:txBody>
          <a:bodyPr wrap="none" lIns="0" rIns="0" tIns="0" bIns="0">
            <a:spAutoFit/>
          </a:bodyPr>
          <a:lstStyle/>
          <a:p>
            <a:r>
              <a:rPr sz="1150" b="0">
                <a:solidFill>
                  <a:srgbClr val="2E2E2E"/>
                </a:solidFill>
                <a:latin typeface="Calibri"/>
              </a:rPr>
              <a:t>▪ 'Hydrolyzed Eggshell</a:t>
            </a:r>
          </a:p>
        </p:txBody>
      </p:sp>
      <p:sp>
        <p:nvSpPr>
          <p:cNvPr id="52" name="TextBox 51"/>
          <p:cNvSpPr txBox="1"/>
          <p:nvPr/>
        </p:nvSpPr>
        <p:spPr>
          <a:xfrm>
            <a:off x="6029325" y="1575435"/>
            <a:ext cx="1499046" cy="194310"/>
          </a:xfrm>
          <a:prstGeom prst="rect">
            <a:avLst/>
          </a:prstGeom>
          <a:noFill/>
        </p:spPr>
        <p:txBody>
          <a:bodyPr wrap="none" lIns="0" rIns="0" tIns="0" bIns="0">
            <a:spAutoFit/>
          </a:bodyPr>
          <a:lstStyle/>
          <a:p>
            <a:r>
              <a:rPr sz="1150" b="0">
                <a:solidFill>
                  <a:srgbClr val="2E2E2E"/>
                </a:solidFill>
                <a:latin typeface="Calibri"/>
              </a:rPr>
              <a:t>Membrane × Functional</a:t>
            </a:r>
          </a:p>
        </p:txBody>
      </p:sp>
      <p:sp>
        <p:nvSpPr>
          <p:cNvPr id="53" name="TextBox 52"/>
          <p:cNvSpPr txBox="1"/>
          <p:nvPr/>
        </p:nvSpPr>
        <p:spPr>
          <a:xfrm>
            <a:off x="6029325" y="1750695"/>
            <a:ext cx="1495877" cy="194310"/>
          </a:xfrm>
          <a:prstGeom prst="rect">
            <a:avLst/>
          </a:prstGeom>
          <a:noFill/>
        </p:spPr>
        <p:txBody>
          <a:bodyPr wrap="none" lIns="0" rIns="0" tIns="0" bIns="0">
            <a:spAutoFit/>
          </a:bodyPr>
          <a:lstStyle/>
          <a:p>
            <a:r>
              <a:rPr sz="1150" b="0">
                <a:solidFill>
                  <a:srgbClr val="2E2E2E"/>
                </a:solidFill>
                <a:latin typeface="Calibri"/>
              </a:rPr>
              <a:t>Food &amp; Beverages' adds</a:t>
            </a:r>
          </a:p>
        </p:txBody>
      </p:sp>
      <p:pic>
        <p:nvPicPr>
          <p:cNvPr id="54" name="Picture 53" descr="lock.png"/>
          <p:cNvPicPr>
            <a:picLocks noChangeAspect="1"/>
          </p:cNvPicPr>
          <p:nvPr/>
        </p:nvPicPr>
        <p:blipFill>
          <a:blip r:embed="rId4"/>
          <a:stretch>
            <a:fillRect/>
          </a:stretch>
        </p:blipFill>
        <p:spPr>
          <a:xfrm>
            <a:off x="6015245" y="1915731"/>
            <a:ext cx="134549" cy="195707"/>
          </a:xfrm>
          <a:prstGeom prst="rect">
            <a:avLst/>
          </a:prstGeom>
        </p:spPr>
      </p:pic>
      <p:sp>
        <p:nvSpPr>
          <p:cNvPr id="55" name="TextBox 54"/>
          <p:cNvSpPr txBox="1"/>
          <p:nvPr/>
        </p:nvSpPr>
        <p:spPr>
          <a:xfrm>
            <a:off x="6190354" y="1925955"/>
            <a:ext cx="1224632" cy="194310"/>
          </a:xfrm>
          <a:prstGeom prst="rect">
            <a:avLst/>
          </a:prstGeom>
          <a:noFill/>
        </p:spPr>
        <p:txBody>
          <a:bodyPr wrap="none" lIns="0" rIns="0" tIns="0" bIns="0">
            <a:spAutoFit/>
          </a:bodyPr>
          <a:lstStyle/>
          <a:p>
            <a:r>
              <a:rPr sz="1150" b="0">
                <a:solidFill>
                  <a:srgbClr val="2E2E2E"/>
                </a:solidFill>
                <a:latin typeface="Calibri"/>
              </a:rPr>
              <a:t>US$ Mn by 2036F –</a:t>
            </a:r>
          </a:p>
        </p:txBody>
      </p:sp>
      <p:pic>
        <p:nvPicPr>
          <p:cNvPr id="56" name="Picture 55" descr="lock.png"/>
          <p:cNvPicPr>
            <a:picLocks noChangeAspect="1"/>
          </p:cNvPicPr>
          <p:nvPr/>
        </p:nvPicPr>
        <p:blipFill>
          <a:blip r:embed="rId4"/>
          <a:stretch>
            <a:fillRect/>
          </a:stretch>
        </p:blipFill>
        <p:spPr>
          <a:xfrm>
            <a:off x="6015245" y="2090991"/>
            <a:ext cx="134549" cy="195707"/>
          </a:xfrm>
          <a:prstGeom prst="rect">
            <a:avLst/>
          </a:prstGeom>
        </p:spPr>
      </p:pic>
      <p:sp>
        <p:nvSpPr>
          <p:cNvPr id="57" name="TextBox 56"/>
          <p:cNvSpPr txBox="1"/>
          <p:nvPr/>
        </p:nvSpPr>
        <p:spPr>
          <a:xfrm>
            <a:off x="6190354" y="2101215"/>
            <a:ext cx="741126" cy="194310"/>
          </a:xfrm>
          <a:prstGeom prst="rect">
            <a:avLst/>
          </a:prstGeom>
          <a:noFill/>
        </p:spPr>
        <p:txBody>
          <a:bodyPr wrap="none" lIns="0" rIns="0" tIns="0" bIns="0">
            <a:spAutoFit/>
          </a:bodyPr>
          <a:lstStyle/>
          <a:p>
            <a:r>
              <a:rPr sz="1150" b="0">
                <a:solidFill>
                  <a:srgbClr val="2E2E2E"/>
                </a:solidFill>
                <a:latin typeface="Calibri"/>
              </a:rPr>
              <a:t>of the total</a:t>
            </a:r>
          </a:p>
        </p:txBody>
      </p:sp>
      <p:sp>
        <p:nvSpPr>
          <p:cNvPr id="58" name="TextBox 57"/>
          <p:cNvSpPr txBox="1"/>
          <p:nvPr/>
        </p:nvSpPr>
        <p:spPr>
          <a:xfrm>
            <a:off x="6029325" y="2276475"/>
            <a:ext cx="822994" cy="194310"/>
          </a:xfrm>
          <a:prstGeom prst="rect">
            <a:avLst/>
          </a:prstGeom>
          <a:noFill/>
        </p:spPr>
        <p:txBody>
          <a:bodyPr wrap="none" lIns="0" rIns="0" tIns="0" bIns="0">
            <a:spAutoFit/>
          </a:bodyPr>
          <a:lstStyle/>
          <a:p>
            <a:r>
              <a:rPr sz="1150" b="0">
                <a:solidFill>
                  <a:srgbClr val="2E2E2E"/>
                </a:solidFill>
                <a:latin typeface="Calibri"/>
              </a:rPr>
              <a:t>opportunity.</a:t>
            </a:r>
          </a:p>
        </p:txBody>
      </p:sp>
      <p:sp>
        <p:nvSpPr>
          <p:cNvPr id="59" name="TextBox 58"/>
          <p:cNvSpPr txBox="1"/>
          <p:nvPr/>
        </p:nvSpPr>
        <p:spPr>
          <a:xfrm>
            <a:off x="8124825" y="1400175"/>
            <a:ext cx="1377813" cy="194310"/>
          </a:xfrm>
          <a:prstGeom prst="rect">
            <a:avLst/>
          </a:prstGeom>
          <a:noFill/>
        </p:spPr>
        <p:txBody>
          <a:bodyPr wrap="none" lIns="0" rIns="0" tIns="0" bIns="0">
            <a:spAutoFit/>
          </a:bodyPr>
          <a:lstStyle/>
          <a:p>
            <a:r>
              <a:rPr sz="1150" b="0">
                <a:solidFill>
                  <a:srgbClr val="2E2E2E"/>
                </a:solidFill>
                <a:latin typeface="Calibri"/>
              </a:rPr>
              <a:t>▪ 'Hydrolyzed Eggshell</a:t>
            </a:r>
          </a:p>
        </p:txBody>
      </p:sp>
      <p:sp>
        <p:nvSpPr>
          <p:cNvPr id="60" name="TextBox 59"/>
          <p:cNvSpPr txBox="1"/>
          <p:nvPr/>
        </p:nvSpPr>
        <p:spPr>
          <a:xfrm>
            <a:off x="8124825" y="1575435"/>
            <a:ext cx="1499046" cy="194310"/>
          </a:xfrm>
          <a:prstGeom prst="rect">
            <a:avLst/>
          </a:prstGeom>
          <a:noFill/>
        </p:spPr>
        <p:txBody>
          <a:bodyPr wrap="none" lIns="0" rIns="0" tIns="0" bIns="0">
            <a:spAutoFit/>
          </a:bodyPr>
          <a:lstStyle/>
          <a:p>
            <a:r>
              <a:rPr sz="1150" b="0">
                <a:solidFill>
                  <a:srgbClr val="2E2E2E"/>
                </a:solidFill>
                <a:latin typeface="Calibri"/>
              </a:rPr>
              <a:t>Membrane × Functional</a:t>
            </a:r>
          </a:p>
        </p:txBody>
      </p:sp>
      <p:sp>
        <p:nvSpPr>
          <p:cNvPr id="61" name="TextBox 60"/>
          <p:cNvSpPr txBox="1"/>
          <p:nvPr/>
        </p:nvSpPr>
        <p:spPr>
          <a:xfrm>
            <a:off x="8124825" y="1750695"/>
            <a:ext cx="1657350" cy="194310"/>
          </a:xfrm>
          <a:prstGeom prst="rect">
            <a:avLst/>
          </a:prstGeom>
          <a:noFill/>
        </p:spPr>
        <p:txBody>
          <a:bodyPr wrap="none" lIns="0" rIns="0" tIns="0" bIns="0">
            <a:spAutoFit/>
          </a:bodyPr>
          <a:lstStyle/>
          <a:p>
            <a:r>
              <a:rPr sz="1150" b="0">
                <a:solidFill>
                  <a:srgbClr val="2E2E2E"/>
                </a:solidFill>
                <a:latin typeface="Calibri"/>
              </a:rPr>
              <a:t>Food &amp; Beverages' grows at</a:t>
            </a:r>
          </a:p>
        </p:txBody>
      </p:sp>
      <p:sp>
        <p:nvSpPr>
          <p:cNvPr id="62" name="TextBox 61"/>
          <p:cNvSpPr txBox="1"/>
          <p:nvPr/>
        </p:nvSpPr>
        <p:spPr>
          <a:xfrm>
            <a:off x="8124825" y="1925955"/>
            <a:ext cx="146087" cy="194310"/>
          </a:xfrm>
          <a:prstGeom prst="rect">
            <a:avLst/>
          </a:prstGeom>
          <a:noFill/>
        </p:spPr>
        <p:txBody>
          <a:bodyPr wrap="none" lIns="0" rIns="0" tIns="0" bIns="0">
            <a:spAutoFit/>
          </a:bodyPr>
          <a:lstStyle/>
          <a:p>
            <a:r>
              <a:rPr sz="1150" b="0">
                <a:solidFill>
                  <a:srgbClr val="2E2E2E"/>
                </a:solidFill>
                <a:latin typeface="Calibri"/>
              </a:rPr>
              <a:t>a</a:t>
            </a:r>
          </a:p>
        </p:txBody>
      </p:sp>
      <p:pic>
        <p:nvPicPr>
          <p:cNvPr id="63" name="Picture 62" descr="lock.png"/>
          <p:cNvPicPr>
            <a:picLocks noChangeAspect="1"/>
          </p:cNvPicPr>
          <p:nvPr/>
        </p:nvPicPr>
        <p:blipFill>
          <a:blip r:embed="rId4"/>
          <a:stretch>
            <a:fillRect/>
          </a:stretch>
        </p:blipFill>
        <p:spPr>
          <a:xfrm>
            <a:off x="8220066" y="1915731"/>
            <a:ext cx="134549" cy="195707"/>
          </a:xfrm>
          <a:prstGeom prst="rect">
            <a:avLst/>
          </a:prstGeom>
        </p:spPr>
      </p:pic>
      <p:sp>
        <p:nvSpPr>
          <p:cNvPr id="64" name="TextBox 63"/>
          <p:cNvSpPr txBox="1"/>
          <p:nvPr/>
        </p:nvSpPr>
        <p:spPr>
          <a:xfrm>
            <a:off x="8395175" y="1925955"/>
            <a:ext cx="446441" cy="194310"/>
          </a:xfrm>
          <a:prstGeom prst="rect">
            <a:avLst/>
          </a:prstGeom>
          <a:noFill/>
        </p:spPr>
        <p:txBody>
          <a:bodyPr wrap="none" lIns="0" rIns="0" tIns="0" bIns="0">
            <a:spAutoFit/>
          </a:bodyPr>
          <a:lstStyle/>
          <a:p>
            <a:r>
              <a:rPr sz="1150" b="0">
                <a:solidFill>
                  <a:srgbClr val="2E2E2E"/>
                </a:solidFill>
                <a:latin typeface="Calibri"/>
              </a:rPr>
              <a:t>CAGR,</a:t>
            </a:r>
          </a:p>
        </p:txBody>
      </p:sp>
      <p:pic>
        <p:nvPicPr>
          <p:cNvPr id="65" name="Picture 64" descr="lock.png"/>
          <p:cNvPicPr>
            <a:picLocks noChangeAspect="1"/>
          </p:cNvPicPr>
          <p:nvPr/>
        </p:nvPicPr>
        <p:blipFill>
          <a:blip r:embed="rId4"/>
          <a:stretch>
            <a:fillRect/>
          </a:stretch>
        </p:blipFill>
        <p:spPr>
          <a:xfrm>
            <a:off x="8790771" y="1915731"/>
            <a:ext cx="134549" cy="195707"/>
          </a:xfrm>
          <a:prstGeom prst="rect">
            <a:avLst/>
          </a:prstGeom>
        </p:spPr>
      </p:pic>
      <p:sp>
        <p:nvSpPr>
          <p:cNvPr id="66" name="TextBox 65"/>
          <p:cNvSpPr txBox="1"/>
          <p:nvPr/>
        </p:nvSpPr>
        <p:spPr>
          <a:xfrm>
            <a:off x="8965880" y="1925955"/>
            <a:ext cx="298412" cy="194310"/>
          </a:xfrm>
          <a:prstGeom prst="rect">
            <a:avLst/>
          </a:prstGeom>
          <a:noFill/>
        </p:spPr>
        <p:txBody>
          <a:bodyPr wrap="none" lIns="0" rIns="0" tIns="0" bIns="0">
            <a:spAutoFit/>
          </a:bodyPr>
          <a:lstStyle/>
          <a:p>
            <a:r>
              <a:rPr sz="1150" b="0">
                <a:solidFill>
                  <a:srgbClr val="2E2E2E"/>
                </a:solidFill>
                <a:latin typeface="Calibri"/>
              </a:rPr>
              <a:t>BPS</a:t>
            </a:r>
          </a:p>
        </p:txBody>
      </p:sp>
      <p:sp>
        <p:nvSpPr>
          <p:cNvPr id="67" name="TextBox 66"/>
          <p:cNvSpPr txBox="1"/>
          <p:nvPr/>
        </p:nvSpPr>
        <p:spPr>
          <a:xfrm>
            <a:off x="8124825" y="2101215"/>
            <a:ext cx="1517017" cy="194310"/>
          </a:xfrm>
          <a:prstGeom prst="rect">
            <a:avLst/>
          </a:prstGeom>
          <a:noFill/>
        </p:spPr>
        <p:txBody>
          <a:bodyPr wrap="none" lIns="0" rIns="0" tIns="0" bIns="0">
            <a:spAutoFit/>
          </a:bodyPr>
          <a:lstStyle/>
          <a:p>
            <a:r>
              <a:rPr sz="1150" b="0">
                <a:solidFill>
                  <a:srgbClr val="2E2E2E"/>
                </a:solidFill>
                <a:latin typeface="Calibri"/>
              </a:rPr>
              <a:t>above the cross-section.</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0A2A63"/>
        </a:solidFill>
        <a:effectLst/>
      </p:bgPr>
    </p:bg>
    <p:spTree>
      <p:nvGrpSpPr>
        <p:cNvPr id="1" name=""/>
        <p:cNvGrpSpPr/>
        <p:nvPr/>
      </p:nvGrpSpPr>
      <p:grpSpPr/>
      <p:sp>
        <p:nvSpPr>
          <p:cNvPr id="2" name="TMR Section Breaker"/>
          <p:cNvSpPr/>
          <p:nvPr/>
        </p:nvSpPr>
        <p:spPr>
          <a:xfrm>
            <a:off x="0" y="0"/>
            <a:ext cx="12192000" cy="6858000"/>
          </a:xfrm>
          <a:prstGeom prst="rect">
            <a:avLst/>
          </a:prstGeom>
          <a:gradFill rotWithShape="1">
            <a:gsLst>
              <a:gs pos="0">
                <a:srgbClr val="0A2A63"/>
              </a:gs>
              <a:gs pos="100000">
                <a:srgbClr val="0F3F8F"/>
              </a:gs>
            </a:gsLst>
            <a:lin scaled="0" ang="19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35280" y="198120"/>
            <a:ext cx="1459992" cy="112790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411480" y="274320"/>
            <a:ext cx="1307592" cy="975505"/>
          </a:xfrm>
          <a:prstGeom prst="rect">
            <a:avLst/>
          </a:prstGeom>
        </p:spPr>
      </p:pic>
      <p:sp>
        <p:nvSpPr>
          <p:cNvPr id="5" name="TextBox 4"/>
          <p:cNvSpPr txBox="1"/>
          <p:nvPr/>
        </p:nvSpPr>
        <p:spPr>
          <a:xfrm>
            <a:off x="914400" y="2358390"/>
            <a:ext cx="7239000" cy="247650"/>
          </a:xfrm>
          <a:prstGeom prst="rect">
            <a:avLst/>
          </a:prstGeom>
          <a:noFill/>
        </p:spPr>
        <p:txBody>
          <a:bodyPr wrap="none" lIns="0" tIns="0">
            <a:spAutoFit/>
          </a:bodyPr>
          <a:lstStyle/>
          <a:p>
            <a:r>
              <a:rPr sz="1400" b="0">
                <a:solidFill>
                  <a:srgbClr val="8FC8F2"/>
                </a:solidFill>
                <a:latin typeface="Calibri"/>
              </a:rPr>
              <a:t>Egg Protein Membrane Market</a:t>
            </a:r>
          </a:p>
        </p:txBody>
      </p:sp>
      <p:sp>
        <p:nvSpPr>
          <p:cNvPr id="6" name="TMR Breaker Title"/>
          <p:cNvSpPr txBox="1"/>
          <p:nvPr/>
        </p:nvSpPr>
        <p:spPr>
          <a:xfrm>
            <a:off x="914400" y="2663190"/>
            <a:ext cx="7239000" cy="971550"/>
          </a:xfrm>
          <a:prstGeom prst="rect">
            <a:avLst/>
          </a:prstGeom>
          <a:noFill/>
        </p:spPr>
        <p:txBody>
          <a:bodyPr wrap="square" lIns="0" rIns="0" tIns="0">
            <a:spAutoFit/>
          </a:bodyPr>
          <a:lstStyle/>
          <a:p>
            <a:r>
              <a:rPr sz="3000" b="1" cap="all" spc="400">
                <a:solidFill>
                  <a:srgbClr val="FFFFFF"/>
                </a:solidFill>
                <a:latin typeface="Calibri"/>
              </a:rPr>
              <a:t>North America Market Outlook</a:t>
            </a:r>
          </a:p>
        </p:txBody>
      </p:sp>
      <p:sp>
        <p:nvSpPr>
          <p:cNvPr id="7" name="TextBox 6"/>
          <p:cNvSpPr txBox="1"/>
          <p:nvPr/>
        </p:nvSpPr>
        <p:spPr>
          <a:xfrm>
            <a:off x="914400" y="3825240"/>
            <a:ext cx="5067300" cy="2103120"/>
          </a:xfrm>
          <a:prstGeom prst="rect">
            <a:avLst/>
          </a:prstGeom>
          <a:noFill/>
        </p:spPr>
        <p:txBody>
          <a:bodyPr wrap="square" lIns="0" rIns="0" tIns="0" bIns="0">
            <a:spAutoFit/>
          </a:bodyPr>
          <a:lstStyle/>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North America Overview</a:t>
            </a:r>
          </a:p>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North America Market Analysis By Country</a:t>
            </a:r>
          </a:p>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North America Market Analysis By Segments</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By Product Type</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By Extraction / Processing Method</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By Source</a:t>
            </a:r>
          </a:p>
        </p:txBody>
      </p:sp>
      <p:sp>
        <p:nvSpPr>
          <p:cNvPr id="8" name="TextBox 7"/>
          <p:cNvSpPr txBox="1"/>
          <p:nvPr/>
        </p:nvSpPr>
        <p:spPr>
          <a:xfrm>
            <a:off x="6096000" y="3825240"/>
            <a:ext cx="5067300" cy="1866900"/>
          </a:xfrm>
          <a:prstGeom prst="rect">
            <a:avLst/>
          </a:prstGeom>
          <a:noFill/>
        </p:spPr>
        <p:txBody>
          <a:bodyPr wrap="square" lIns="0" rIns="0" tIns="0" bIns="0">
            <a:spAutoFit/>
          </a:bodyPr>
          <a:lstStyle/>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By Form</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By Application</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By Sales Channel</a:t>
            </a:r>
          </a:p>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Cross-sectional Assessment</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Product Type × Source</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Product Type × Application</a:t>
            </a:r>
          </a:p>
        </p:txBody>
      </p:sp>
      <p:sp>
        <p:nvSpPr>
          <p:cNvPr id="9" name="TextBox 8"/>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C9DCEE"/>
                </a:solidFill>
                <a:latin typeface="Calibri"/>
              </a:rPr>
              <a:t>©2026 Transparency Market Research, All Rights Reserved</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F3F8FD"/>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3F8FD"/>
              </a:gs>
              <a:gs pos="100000">
                <a:srgbClr val="DCE9F6"/>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FE0F0">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9C8E6">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B7D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A5F8F"/>
              </a:gs>
              <a:gs pos="100000">
                <a:srgbClr val="6FA6D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MR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9</a:t>
            </a:r>
          </a:p>
        </p:txBody>
      </p:sp>
      <p:pic>
        <p:nvPicPr>
          <p:cNvPr id="8" name="Picture 7" descr="tmr_logo.png"/>
          <p:cNvPicPr>
            <a:picLocks noChangeAspect="1"/>
          </p:cNvPicPr>
          <p:nvPr/>
        </p:nvPicPr>
        <p:blipFill>
          <a:blip r:embed="rId2"/>
          <a:stretch>
            <a:fillRect/>
          </a:stretch>
        </p:blipFill>
        <p:spPr>
          <a:xfrm>
            <a:off x="411480" y="274320"/>
            <a:ext cx="1307592" cy="975505"/>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2A5F8F"/>
                </a:solidFill>
                <a:latin typeface="Calibri"/>
              </a:rPr>
              <a:t>Egg Protein Membrane Market</a:t>
            </a:r>
          </a:p>
        </p:txBody>
      </p:sp>
      <p:sp>
        <p:nvSpPr>
          <p:cNvPr id="10" name="TMR Section Title"/>
          <p:cNvSpPr txBox="1"/>
          <p:nvPr/>
        </p:nvSpPr>
        <p:spPr>
          <a:xfrm>
            <a:off x="914400" y="2701925"/>
            <a:ext cx="8572500" cy="514350"/>
          </a:xfrm>
          <a:prstGeom prst="rect">
            <a:avLst/>
          </a:prstGeom>
          <a:noFill/>
        </p:spPr>
        <p:txBody>
          <a:bodyPr wrap="square" lIns="0" rIns="0" tIns="0">
            <a:spAutoFit/>
          </a:bodyPr>
          <a:lstStyle/>
          <a:p>
            <a:r>
              <a:rPr sz="3000" b="1">
                <a:solidFill>
                  <a:srgbClr val="0E2A5C"/>
                </a:solidFill>
                <a:latin typeface="Calibri"/>
              </a:rPr>
              <a:t>North America Overview</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Volume Market Summary</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Pricing &amp; Price Index</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Value Market Summary</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Volume &amp; Value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Country Outlook</a:t>
            </a:r>
          </a:p>
        </p:txBody>
      </p:sp>
      <p:sp>
        <p:nvSpPr>
          <p:cNvPr id="12" name="Rectangle 11"/>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Egg Protein Membrane Market Summary, By Volume (MT)</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North America market volume growth, incremental opportunity and the geographies driving it, 2021–2036</a:t>
            </a:r>
          </a:p>
        </p:txBody>
      </p:sp>
      <p:sp>
        <p:nvSpPr>
          <p:cNvPr id="7" name="Rounded Rectangle 6"/>
          <p:cNvSpPr/>
          <p:nvPr/>
        </p:nvSpPr>
        <p:spPr>
          <a:xfrm>
            <a:off x="142875" y="1025515"/>
            <a:ext cx="2876550" cy="511104"/>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2026 MARKET SIZE (MT)</a:t>
            </a:r>
          </a:p>
          <a:p>
            <a:pPr algn="ctr">
              <a:lnSpc>
                <a:spcPct val="95000"/>
              </a:lnSpc>
            </a:pPr>
            <a:r>
              <a:rPr sz="1500" b="1">
                <a:solidFill>
                  <a:srgbClr val="2A5F8F"/>
                </a:solidFill>
                <a:latin typeface="Calibri"/>
              </a:rPr>
              <a:t> </a:t>
            </a:r>
          </a:p>
        </p:txBody>
      </p:sp>
      <p:sp>
        <p:nvSpPr>
          <p:cNvPr id="8" name="Rounded Rectangle 7"/>
          <p:cNvSpPr/>
          <p:nvPr/>
        </p:nvSpPr>
        <p:spPr>
          <a:xfrm>
            <a:off x="3143250" y="1025515"/>
            <a:ext cx="2876550" cy="511104"/>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2036 MARKET SIZE (MT)</a:t>
            </a:r>
          </a:p>
          <a:p>
            <a:pPr algn="ctr">
              <a:lnSpc>
                <a:spcPct val="95000"/>
              </a:lnSpc>
            </a:pPr>
            <a:r>
              <a:rPr sz="1500" b="1">
                <a:solidFill>
                  <a:srgbClr val="2A5F8F"/>
                </a:solidFill>
                <a:latin typeface="Calibri"/>
              </a:rPr>
              <a:t> </a:t>
            </a:r>
          </a:p>
        </p:txBody>
      </p:sp>
      <p:sp>
        <p:nvSpPr>
          <p:cNvPr id="9" name="Rounded Rectangle 8"/>
          <p:cNvSpPr/>
          <p:nvPr/>
        </p:nvSpPr>
        <p:spPr>
          <a:xfrm>
            <a:off x="6153150" y="1025515"/>
            <a:ext cx="2876550" cy="511104"/>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CAGR 2021–2025</a:t>
            </a:r>
          </a:p>
          <a:p>
            <a:pPr algn="ctr">
              <a:lnSpc>
                <a:spcPct val="95000"/>
              </a:lnSpc>
            </a:pPr>
            <a:r>
              <a:rPr sz="1500" b="1">
                <a:solidFill>
                  <a:srgbClr val="2A5F8F"/>
                </a:solidFill>
                <a:latin typeface="Calibri"/>
              </a:rPr>
              <a:t> </a:t>
            </a:r>
          </a:p>
        </p:txBody>
      </p:sp>
      <p:sp>
        <p:nvSpPr>
          <p:cNvPr id="10" name="Rounded Rectangle 9"/>
          <p:cNvSpPr/>
          <p:nvPr/>
        </p:nvSpPr>
        <p:spPr>
          <a:xfrm>
            <a:off x="9163050" y="1025515"/>
            <a:ext cx="2876550" cy="511104"/>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CAGR 2026–2036</a:t>
            </a:r>
          </a:p>
          <a:p>
            <a:pPr algn="ctr">
              <a:lnSpc>
                <a:spcPct val="95000"/>
              </a:lnSpc>
            </a:pPr>
            <a:r>
              <a:rPr sz="1500" b="1">
                <a:solidFill>
                  <a:srgbClr val="2A5F8F"/>
                </a:solidFill>
                <a:latin typeface="Calibri"/>
              </a:rPr>
              <a:t> </a:t>
            </a:r>
          </a:p>
        </p:txBody>
      </p:sp>
      <p:sp>
        <p:nvSpPr>
          <p:cNvPr id="11" name="Rounded Rectangle 10"/>
          <p:cNvSpPr/>
          <p:nvPr/>
        </p:nvSpPr>
        <p:spPr>
          <a:xfrm>
            <a:off x="142875" y="1627887"/>
            <a:ext cx="7696200" cy="2354727"/>
          </a:xfrm>
          <a:prstGeom prst="roundRect">
            <a:avLst>
              <a:gd name="adj" fmla="val 3236"/>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685037"/>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CAGR (2021–2036)</a:t>
            </a:r>
          </a:p>
        </p:txBody>
      </p:sp>
      <p:graphicFrame>
        <p:nvGraphicFramePr>
          <p:cNvPr id="13" name="Chart 12"/>
          <p:cNvGraphicFramePr>
            <a:graphicFrameLocks noGrp="1"/>
          </p:cNvGraphicFramePr>
          <p:nvPr/>
        </p:nvGraphicFramePr>
        <p:xfrm>
          <a:off x="238125" y="1913637"/>
          <a:ext cx="7505700" cy="2011827"/>
        </p:xfrm>
        <a:graphic>
          <a:graphicData uri="http://schemas.openxmlformats.org/drawingml/2006/chart">
            <c:chart xmlns:c="http://schemas.openxmlformats.org/drawingml/2006/chart" r:id="rId3"/>
          </a:graphicData>
        </a:graphic>
      </p:graphicFrame>
      <p:sp>
        <p:nvSpPr>
          <p:cNvPr id="14" name="Rounded Rectangle 13"/>
          <p:cNvSpPr/>
          <p:nvPr/>
        </p:nvSpPr>
        <p:spPr>
          <a:xfrm>
            <a:off x="142875" y="4037375"/>
            <a:ext cx="7696200" cy="2519010"/>
          </a:xfrm>
          <a:prstGeom prst="roundRect">
            <a:avLst>
              <a:gd name="adj" fmla="val 3024"/>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8125" y="4094525"/>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Incremental Market Addition (MT)</a:t>
            </a:r>
          </a:p>
        </p:txBody>
      </p:sp>
      <p:graphicFrame>
        <p:nvGraphicFramePr>
          <p:cNvPr id="16" name="Chart 15"/>
          <p:cNvGraphicFramePr>
            <a:graphicFrameLocks noGrp="1"/>
          </p:cNvGraphicFramePr>
          <p:nvPr/>
        </p:nvGraphicFramePr>
        <p:xfrm>
          <a:off x="238125" y="4323125"/>
          <a:ext cx="7505700" cy="2176110"/>
        </p:xfrm>
        <a:graphic>
          <a:graphicData uri="http://schemas.openxmlformats.org/drawingml/2006/chart">
            <c:chart xmlns:c="http://schemas.openxmlformats.org/drawingml/2006/chart" r:id="rId4"/>
          </a:graphicData>
        </a:graphic>
      </p:graphicFrame>
      <p:sp>
        <p:nvSpPr>
          <p:cNvPr id="17" name="Rounded Rectangle 16"/>
          <p:cNvSpPr/>
          <p:nvPr/>
        </p:nvSpPr>
        <p:spPr>
          <a:xfrm>
            <a:off x="7915275" y="1627887"/>
            <a:ext cx="4133850" cy="2354727"/>
          </a:xfrm>
          <a:prstGeom prst="roundRect">
            <a:avLst>
              <a:gd name="adj" fmla="val 3236"/>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48625" y="1713612"/>
            <a:ext cx="3867150" cy="209550"/>
          </a:xfrm>
          <a:prstGeom prst="rect">
            <a:avLst/>
          </a:prstGeom>
          <a:noFill/>
        </p:spPr>
        <p:txBody>
          <a:bodyPr wrap="square" lIns="0" rIns="19050" tIns="9525" bIns="9525">
            <a:spAutoFit/>
          </a:bodyPr>
          <a:lstStyle/>
          <a:p>
            <a:pPr algn="l"/>
            <a:r>
              <a:rPr sz="1300" b="1">
                <a:solidFill>
                  <a:srgbClr val="0E2A5C"/>
                </a:solidFill>
                <a:latin typeface="Calibri"/>
              </a:rPr>
              <a:t>Key Insights</a:t>
            </a:r>
          </a:p>
        </p:txBody>
      </p:sp>
      <p:sp>
        <p:nvSpPr>
          <p:cNvPr id="19" name="Rectangle 18"/>
          <p:cNvSpPr/>
          <p:nvPr/>
        </p:nvSpPr>
        <p:spPr>
          <a:xfrm>
            <a:off x="8048625" y="1951737"/>
            <a:ext cx="38671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048625" y="2037462"/>
            <a:ext cx="3867150" cy="1868952"/>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E2E2E"/>
                </a:solidFill>
                <a:latin typeface="Calibri"/>
              </a:rPr>
              <a:t/>
            </a:r>
          </a:p>
          <a:p>
            <a:pPr algn="l">
              <a:lnSpc>
                <a:spcPct val="110000"/>
              </a:lnSpc>
              <a:spcBef>
                <a:spcPts val="0"/>
              </a:spcBef>
              <a:spcAft>
                <a:spcPts val="500"/>
              </a:spcAft>
            </a:pPr>
            <a:r>
              <a:rPr sz="1100" b="0">
                <a:solidFill>
                  <a:srgbClr val="2E2E2E"/>
                </a:solidFill>
                <a:latin typeface="Calibri"/>
              </a:rPr>
              <a:t/>
            </a:r>
          </a:p>
        </p:txBody>
      </p:sp>
      <p:sp>
        <p:nvSpPr>
          <p:cNvPr id="21" name="Rounded Rectangle 20"/>
          <p:cNvSpPr/>
          <p:nvPr/>
        </p:nvSpPr>
        <p:spPr>
          <a:xfrm>
            <a:off x="7915275" y="4037375"/>
            <a:ext cx="4133850" cy="2519010"/>
          </a:xfrm>
          <a:prstGeom prst="roundRect">
            <a:avLst>
              <a:gd name="adj" fmla="val 3024"/>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48625" y="4123100"/>
            <a:ext cx="3867150" cy="209550"/>
          </a:xfrm>
          <a:prstGeom prst="rect">
            <a:avLst/>
          </a:prstGeom>
          <a:noFill/>
        </p:spPr>
        <p:txBody>
          <a:bodyPr wrap="square" lIns="0" rIns="19050" tIns="9525" bIns="9525">
            <a:spAutoFit/>
          </a:bodyPr>
          <a:lstStyle/>
          <a:p>
            <a:pPr algn="l"/>
            <a:r>
              <a:rPr sz="1300" b="1">
                <a:solidFill>
                  <a:srgbClr val="0E2A5C"/>
                </a:solidFill>
                <a:latin typeface="Calibri"/>
              </a:rPr>
              <a:t>Growth Drivers</a:t>
            </a:r>
          </a:p>
        </p:txBody>
      </p:sp>
      <p:sp>
        <p:nvSpPr>
          <p:cNvPr id="23" name="Rectangle 22"/>
          <p:cNvSpPr/>
          <p:nvPr/>
        </p:nvSpPr>
        <p:spPr>
          <a:xfrm>
            <a:off x="8048625" y="4361225"/>
            <a:ext cx="38671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048625" y="4446950"/>
            <a:ext cx="3867150" cy="203323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p:txBody>
      </p:sp>
      <p:sp>
        <p:nvSpPr>
          <p:cNvPr id="25" name="Rectangle 24"/>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27" name="Picture 26" descr="lock.png"/>
          <p:cNvPicPr>
            <a:picLocks noChangeAspect="1"/>
          </p:cNvPicPr>
          <p:nvPr/>
        </p:nvPicPr>
        <p:blipFill>
          <a:blip r:embed="rId6"/>
          <a:stretch>
            <a:fillRect/>
          </a:stretch>
        </p:blipFill>
        <p:spPr>
          <a:xfrm>
            <a:off x="1502569" y="1250587"/>
            <a:ext cx="157162" cy="228600"/>
          </a:xfrm>
          <a:prstGeom prst="rect">
            <a:avLst/>
          </a:prstGeom>
        </p:spPr>
      </p:pic>
      <p:pic>
        <p:nvPicPr>
          <p:cNvPr id="28" name="Picture 27" descr="lock.png"/>
          <p:cNvPicPr>
            <a:picLocks noChangeAspect="1"/>
          </p:cNvPicPr>
          <p:nvPr/>
        </p:nvPicPr>
        <p:blipFill>
          <a:blip r:embed="rId6"/>
          <a:stretch>
            <a:fillRect/>
          </a:stretch>
        </p:blipFill>
        <p:spPr>
          <a:xfrm>
            <a:off x="4502944" y="1250587"/>
            <a:ext cx="157162" cy="228600"/>
          </a:xfrm>
          <a:prstGeom prst="rect">
            <a:avLst/>
          </a:prstGeom>
        </p:spPr>
      </p:pic>
      <p:pic>
        <p:nvPicPr>
          <p:cNvPr id="29" name="Picture 28" descr="lock.png"/>
          <p:cNvPicPr>
            <a:picLocks noChangeAspect="1"/>
          </p:cNvPicPr>
          <p:nvPr/>
        </p:nvPicPr>
        <p:blipFill>
          <a:blip r:embed="rId6"/>
          <a:stretch>
            <a:fillRect/>
          </a:stretch>
        </p:blipFill>
        <p:spPr>
          <a:xfrm>
            <a:off x="7512844" y="1250587"/>
            <a:ext cx="157162" cy="228600"/>
          </a:xfrm>
          <a:prstGeom prst="rect">
            <a:avLst/>
          </a:prstGeom>
        </p:spPr>
      </p:pic>
      <p:pic>
        <p:nvPicPr>
          <p:cNvPr id="30" name="Picture 29" descr="lock.png"/>
          <p:cNvPicPr>
            <a:picLocks noChangeAspect="1"/>
          </p:cNvPicPr>
          <p:nvPr/>
        </p:nvPicPr>
        <p:blipFill>
          <a:blip r:embed="rId6"/>
          <a:stretch>
            <a:fillRect/>
          </a:stretch>
        </p:blipFill>
        <p:spPr>
          <a:xfrm>
            <a:off x="10522744" y="1250587"/>
            <a:ext cx="157162" cy="228600"/>
          </a:xfrm>
          <a:prstGeom prst="rect">
            <a:avLst/>
          </a:prstGeom>
        </p:spPr>
      </p:pic>
      <p:pic>
        <p:nvPicPr>
          <p:cNvPr id="31" name="Picture 30" descr="lock.png"/>
          <p:cNvPicPr>
            <a:picLocks noChangeAspect="1"/>
          </p:cNvPicPr>
          <p:nvPr/>
        </p:nvPicPr>
        <p:blipFill>
          <a:blip r:embed="rId6"/>
          <a:stretch>
            <a:fillRect/>
          </a:stretch>
        </p:blipFill>
        <p:spPr>
          <a:xfrm>
            <a:off x="3991062" y="5157531"/>
            <a:ext cx="289830" cy="421571"/>
          </a:xfrm>
          <a:prstGeom prst="rect">
            <a:avLst/>
          </a:prstGeom>
        </p:spPr>
      </p:pic>
      <p:sp>
        <p:nvSpPr>
          <p:cNvPr id="32" name="TextBox 31"/>
          <p:cNvSpPr txBox="1"/>
          <p:nvPr/>
        </p:nvSpPr>
        <p:spPr>
          <a:xfrm>
            <a:off x="8048625" y="2046987"/>
            <a:ext cx="3538413" cy="186689"/>
          </a:xfrm>
          <a:prstGeom prst="rect">
            <a:avLst/>
          </a:prstGeom>
          <a:noFill/>
        </p:spPr>
        <p:txBody>
          <a:bodyPr wrap="none" lIns="0" rIns="0" tIns="0" bIns="0">
            <a:spAutoFit/>
          </a:bodyPr>
          <a:lstStyle/>
          <a:p>
            <a:r>
              <a:rPr sz="1100" b="0">
                <a:solidFill>
                  <a:srgbClr val="2E2E2E"/>
                </a:solidFill>
                <a:latin typeface="Calibri"/>
              </a:rPr>
              <a:t>North America egg protein membrane market is projected to</a:t>
            </a:r>
          </a:p>
        </p:txBody>
      </p:sp>
      <p:sp>
        <p:nvSpPr>
          <p:cNvPr id="33" name="TextBox 32"/>
          <p:cNvSpPr txBox="1"/>
          <p:nvPr/>
        </p:nvSpPr>
        <p:spPr>
          <a:xfrm>
            <a:off x="8048625" y="2214627"/>
            <a:ext cx="512489" cy="186689"/>
          </a:xfrm>
          <a:prstGeom prst="rect">
            <a:avLst/>
          </a:prstGeom>
          <a:noFill/>
        </p:spPr>
        <p:txBody>
          <a:bodyPr wrap="none" lIns="0" rIns="0" tIns="0" bIns="0">
            <a:spAutoFit/>
          </a:bodyPr>
          <a:lstStyle/>
          <a:p>
            <a:r>
              <a:rPr sz="1100" b="0">
                <a:solidFill>
                  <a:srgbClr val="2E2E2E"/>
                </a:solidFill>
                <a:latin typeface="Calibri"/>
              </a:rPr>
              <a:t>register</a:t>
            </a:r>
          </a:p>
        </p:txBody>
      </p:sp>
      <p:pic>
        <p:nvPicPr>
          <p:cNvPr id="34" name="Picture 33" descr="lock.png"/>
          <p:cNvPicPr>
            <a:picLocks noChangeAspect="1"/>
          </p:cNvPicPr>
          <p:nvPr/>
        </p:nvPicPr>
        <p:blipFill>
          <a:blip r:embed="rId6"/>
          <a:stretch>
            <a:fillRect/>
          </a:stretch>
        </p:blipFill>
        <p:spPr>
          <a:xfrm>
            <a:off x="8509166" y="2204848"/>
            <a:ext cx="128699" cy="187198"/>
          </a:xfrm>
          <a:prstGeom prst="rect">
            <a:avLst/>
          </a:prstGeom>
        </p:spPr>
      </p:pic>
      <p:sp>
        <p:nvSpPr>
          <p:cNvPr id="35" name="TextBox 34"/>
          <p:cNvSpPr txBox="1"/>
          <p:nvPr/>
        </p:nvSpPr>
        <p:spPr>
          <a:xfrm>
            <a:off x="8676662" y="2214627"/>
            <a:ext cx="2964333" cy="186689"/>
          </a:xfrm>
          <a:prstGeom prst="rect">
            <a:avLst/>
          </a:prstGeom>
          <a:noFill/>
        </p:spPr>
        <p:txBody>
          <a:bodyPr wrap="none" lIns="0" rIns="0" tIns="0" bIns="0">
            <a:spAutoFit/>
          </a:bodyPr>
          <a:lstStyle/>
          <a:p>
            <a:r>
              <a:rPr sz="1100" b="0">
                <a:solidFill>
                  <a:srgbClr val="2E2E2E"/>
                </a:solidFill>
                <a:latin typeface="Calibri"/>
              </a:rPr>
              <a:t>X increase in volume by the end of forecast period,</a:t>
            </a:r>
          </a:p>
        </p:txBody>
      </p:sp>
      <p:sp>
        <p:nvSpPr>
          <p:cNvPr id="36" name="TextBox 35"/>
          <p:cNvSpPr txBox="1"/>
          <p:nvPr/>
        </p:nvSpPr>
        <p:spPr>
          <a:xfrm>
            <a:off x="8048625" y="2382267"/>
            <a:ext cx="3847554" cy="186689"/>
          </a:xfrm>
          <a:prstGeom prst="rect">
            <a:avLst/>
          </a:prstGeom>
          <a:noFill/>
        </p:spPr>
        <p:txBody>
          <a:bodyPr wrap="none" lIns="0" rIns="0" tIns="0" bIns="0">
            <a:spAutoFit/>
          </a:bodyPr>
          <a:lstStyle/>
          <a:p>
            <a:r>
              <a:rPr sz="1100" b="0">
                <a:solidFill>
                  <a:srgbClr val="2E2E2E"/>
                </a:solidFill>
                <a:latin typeface="Calibri"/>
              </a:rPr>
              <a:t>2036. North America egg protein membrane market volume stood</a:t>
            </a:r>
          </a:p>
        </p:txBody>
      </p:sp>
      <p:sp>
        <p:nvSpPr>
          <p:cNvPr id="37" name="TextBox 36"/>
          <p:cNvSpPr txBox="1"/>
          <p:nvPr/>
        </p:nvSpPr>
        <p:spPr>
          <a:xfrm>
            <a:off x="8048625" y="2549907"/>
            <a:ext cx="189979" cy="186689"/>
          </a:xfrm>
          <a:prstGeom prst="rect">
            <a:avLst/>
          </a:prstGeom>
          <a:noFill/>
        </p:spPr>
        <p:txBody>
          <a:bodyPr wrap="none" lIns="0" rIns="0" tIns="0" bIns="0">
            <a:spAutoFit/>
          </a:bodyPr>
          <a:lstStyle/>
          <a:p>
            <a:r>
              <a:rPr sz="1100" b="0">
                <a:solidFill>
                  <a:srgbClr val="2E2E2E"/>
                </a:solidFill>
                <a:latin typeface="Calibri"/>
              </a:rPr>
              <a:t>at</a:t>
            </a:r>
          </a:p>
        </p:txBody>
      </p:sp>
      <p:pic>
        <p:nvPicPr>
          <p:cNvPr id="38" name="Picture 37" descr="lock.png"/>
          <p:cNvPicPr>
            <a:picLocks noChangeAspect="1"/>
          </p:cNvPicPr>
          <p:nvPr/>
        </p:nvPicPr>
        <p:blipFill>
          <a:blip r:embed="rId6"/>
          <a:stretch>
            <a:fillRect/>
          </a:stretch>
        </p:blipFill>
        <p:spPr>
          <a:xfrm>
            <a:off x="8186655" y="2540128"/>
            <a:ext cx="128699" cy="187198"/>
          </a:xfrm>
          <a:prstGeom prst="rect">
            <a:avLst/>
          </a:prstGeom>
        </p:spPr>
      </p:pic>
      <p:sp>
        <p:nvSpPr>
          <p:cNvPr id="39" name="TextBox 38"/>
          <p:cNvSpPr txBox="1"/>
          <p:nvPr/>
        </p:nvSpPr>
        <p:spPr>
          <a:xfrm>
            <a:off x="8354151" y="2549907"/>
            <a:ext cx="2135956" cy="186689"/>
          </a:xfrm>
          <a:prstGeom prst="rect">
            <a:avLst/>
          </a:prstGeom>
          <a:noFill/>
        </p:spPr>
        <p:txBody>
          <a:bodyPr wrap="none" lIns="0" rIns="0" tIns="0" bIns="0">
            <a:spAutoFit/>
          </a:bodyPr>
          <a:lstStyle/>
          <a:p>
            <a:r>
              <a:rPr sz="1100" b="0">
                <a:solidFill>
                  <a:srgbClr val="2E2E2E"/>
                </a:solidFill>
                <a:latin typeface="Calibri"/>
              </a:rPr>
              <a:t>MT in 2025 and is expected to reach</a:t>
            </a:r>
          </a:p>
        </p:txBody>
      </p:sp>
      <p:pic>
        <p:nvPicPr>
          <p:cNvPr id="40" name="Picture 39" descr="lock.png"/>
          <p:cNvPicPr>
            <a:picLocks noChangeAspect="1"/>
          </p:cNvPicPr>
          <p:nvPr/>
        </p:nvPicPr>
        <p:blipFill>
          <a:blip r:embed="rId6"/>
          <a:stretch>
            <a:fillRect/>
          </a:stretch>
        </p:blipFill>
        <p:spPr>
          <a:xfrm>
            <a:off x="10438159" y="2540128"/>
            <a:ext cx="128699" cy="187198"/>
          </a:xfrm>
          <a:prstGeom prst="rect">
            <a:avLst/>
          </a:prstGeom>
        </p:spPr>
      </p:pic>
      <p:sp>
        <p:nvSpPr>
          <p:cNvPr id="41" name="TextBox 40"/>
          <p:cNvSpPr txBox="1"/>
          <p:nvPr/>
        </p:nvSpPr>
        <p:spPr>
          <a:xfrm>
            <a:off x="10605655" y="2549907"/>
            <a:ext cx="1030634" cy="186689"/>
          </a:xfrm>
          <a:prstGeom prst="rect">
            <a:avLst/>
          </a:prstGeom>
          <a:noFill/>
        </p:spPr>
        <p:txBody>
          <a:bodyPr wrap="none" lIns="0" rIns="0" tIns="0" bIns="0">
            <a:spAutoFit/>
          </a:bodyPr>
          <a:lstStyle/>
          <a:p>
            <a:r>
              <a:rPr sz="1100" b="0">
                <a:solidFill>
                  <a:srgbClr val="2E2E2E"/>
                </a:solidFill>
                <a:latin typeface="Calibri"/>
              </a:rPr>
              <a:t>MT by 2036 end,</a:t>
            </a:r>
          </a:p>
        </p:txBody>
      </p:sp>
      <p:sp>
        <p:nvSpPr>
          <p:cNvPr id="42" name="TextBox 41"/>
          <p:cNvSpPr txBox="1"/>
          <p:nvPr/>
        </p:nvSpPr>
        <p:spPr>
          <a:xfrm>
            <a:off x="8048625" y="2717547"/>
            <a:ext cx="787234" cy="186689"/>
          </a:xfrm>
          <a:prstGeom prst="rect">
            <a:avLst/>
          </a:prstGeom>
          <a:noFill/>
        </p:spPr>
        <p:txBody>
          <a:bodyPr wrap="none" lIns="0" rIns="0" tIns="0" bIns="0">
            <a:spAutoFit/>
          </a:bodyPr>
          <a:lstStyle/>
          <a:p>
            <a:r>
              <a:rPr sz="1100" b="0">
                <a:solidFill>
                  <a:srgbClr val="2E2E2E"/>
                </a:solidFill>
                <a:latin typeface="Calibri"/>
              </a:rPr>
              <a:t>at a CAGR of</a:t>
            </a:r>
          </a:p>
        </p:txBody>
      </p:sp>
      <p:pic>
        <p:nvPicPr>
          <p:cNvPr id="43" name="Picture 42" descr="lock.png"/>
          <p:cNvPicPr>
            <a:picLocks noChangeAspect="1"/>
          </p:cNvPicPr>
          <p:nvPr/>
        </p:nvPicPr>
        <p:blipFill>
          <a:blip r:embed="rId6"/>
          <a:stretch>
            <a:fillRect/>
          </a:stretch>
        </p:blipFill>
        <p:spPr>
          <a:xfrm>
            <a:off x="8783910" y="2707768"/>
            <a:ext cx="128699" cy="187198"/>
          </a:xfrm>
          <a:prstGeom prst="rect">
            <a:avLst/>
          </a:prstGeom>
        </p:spPr>
      </p:pic>
      <p:sp>
        <p:nvSpPr>
          <p:cNvPr id="44" name="TextBox 43"/>
          <p:cNvSpPr txBox="1"/>
          <p:nvPr/>
        </p:nvSpPr>
        <p:spPr>
          <a:xfrm>
            <a:off x="8951406" y="2717547"/>
            <a:ext cx="111397" cy="186689"/>
          </a:xfrm>
          <a:prstGeom prst="rect">
            <a:avLst/>
          </a:prstGeom>
          <a:noFill/>
        </p:spPr>
        <p:txBody>
          <a:bodyPr wrap="none" lIns="0" rIns="0" tIns="0" bIns="0">
            <a:spAutoFit/>
          </a:bodyPr>
          <a:lstStyle/>
          <a:p>
            <a:r>
              <a:rPr sz="1100" b="0">
                <a:solidFill>
                  <a:srgbClr val="2E2E2E"/>
                </a:solidFill>
                <a:latin typeface="Calibri"/>
              </a:rPr>
              <a:t>.</a:t>
            </a:r>
          </a:p>
        </p:txBody>
      </p:sp>
      <p:sp>
        <p:nvSpPr>
          <p:cNvPr id="45" name="TextBox 44"/>
          <p:cNvSpPr txBox="1"/>
          <p:nvPr/>
        </p:nvSpPr>
        <p:spPr>
          <a:xfrm>
            <a:off x="8048625" y="2935479"/>
            <a:ext cx="3678386" cy="186689"/>
          </a:xfrm>
          <a:prstGeom prst="rect">
            <a:avLst/>
          </a:prstGeom>
          <a:noFill/>
        </p:spPr>
        <p:txBody>
          <a:bodyPr wrap="none" lIns="0" rIns="0" tIns="0" bIns="0">
            <a:spAutoFit/>
          </a:bodyPr>
          <a:lstStyle/>
          <a:p>
            <a:r>
              <a:rPr sz="1100" b="0">
                <a:solidFill>
                  <a:srgbClr val="2E2E2E"/>
                </a:solidFill>
                <a:latin typeface="Calibri"/>
              </a:rPr>
              <a:t>Value is projected to grow faster than volume over the forecast</a:t>
            </a:r>
          </a:p>
        </p:txBody>
      </p:sp>
      <p:sp>
        <p:nvSpPr>
          <p:cNvPr id="46" name="TextBox 45"/>
          <p:cNvSpPr txBox="1"/>
          <p:nvPr/>
        </p:nvSpPr>
        <p:spPr>
          <a:xfrm>
            <a:off x="8048625" y="3103119"/>
            <a:ext cx="3049736" cy="186689"/>
          </a:xfrm>
          <a:prstGeom prst="rect">
            <a:avLst/>
          </a:prstGeom>
          <a:noFill/>
        </p:spPr>
        <p:txBody>
          <a:bodyPr wrap="none" lIns="0" rIns="0" tIns="0" bIns="0">
            <a:spAutoFit/>
          </a:bodyPr>
          <a:lstStyle/>
          <a:p>
            <a:r>
              <a:rPr sz="1100" b="0">
                <a:solidFill>
                  <a:srgbClr val="2E2E2E"/>
                </a:solidFill>
                <a:latin typeface="Calibri"/>
              </a:rPr>
              <a:t>period, owing to an increase in average selling price.</a:t>
            </a:r>
          </a:p>
        </p:txBody>
      </p:sp>
      <p:sp>
        <p:nvSpPr>
          <p:cNvPr id="47" name="TextBox 46"/>
          <p:cNvSpPr txBox="1"/>
          <p:nvPr/>
        </p:nvSpPr>
        <p:spPr>
          <a:xfrm>
            <a:off x="8048625" y="4456475"/>
            <a:ext cx="2138300" cy="194310"/>
          </a:xfrm>
          <a:prstGeom prst="rect">
            <a:avLst/>
          </a:prstGeom>
          <a:noFill/>
        </p:spPr>
        <p:txBody>
          <a:bodyPr wrap="none" lIns="0" rIns="0" tIns="0" bIns="0">
            <a:spAutoFit/>
          </a:bodyPr>
          <a:lstStyle/>
          <a:p>
            <a:r>
              <a:rPr sz="1150" b="0">
                <a:solidFill>
                  <a:srgbClr val="2E2E2E"/>
                </a:solidFill>
                <a:latin typeface="Calibri"/>
              </a:rPr>
              <a:t>▪ 'Canada' leads regional growth at</a:t>
            </a:r>
          </a:p>
        </p:txBody>
      </p:sp>
      <p:pic>
        <p:nvPicPr>
          <p:cNvPr id="48" name="Picture 47" descr="lock.png"/>
          <p:cNvPicPr>
            <a:picLocks noChangeAspect="1"/>
          </p:cNvPicPr>
          <p:nvPr/>
        </p:nvPicPr>
        <p:blipFill>
          <a:blip r:embed="rId6"/>
          <a:stretch>
            <a:fillRect/>
          </a:stretch>
        </p:blipFill>
        <p:spPr>
          <a:xfrm>
            <a:off x="10136079" y="4446251"/>
            <a:ext cx="134549" cy="195707"/>
          </a:xfrm>
          <a:prstGeom prst="rect">
            <a:avLst/>
          </a:prstGeom>
        </p:spPr>
      </p:pic>
      <p:sp>
        <p:nvSpPr>
          <p:cNvPr id="49" name="TextBox 48"/>
          <p:cNvSpPr txBox="1"/>
          <p:nvPr/>
        </p:nvSpPr>
        <p:spPr>
          <a:xfrm>
            <a:off x="10311188" y="4456475"/>
            <a:ext cx="446726" cy="194310"/>
          </a:xfrm>
          <a:prstGeom prst="rect">
            <a:avLst/>
          </a:prstGeom>
          <a:noFill/>
        </p:spPr>
        <p:txBody>
          <a:bodyPr wrap="none" lIns="0" rIns="0" tIns="0" bIns="0">
            <a:spAutoFit/>
          </a:bodyPr>
          <a:lstStyle/>
          <a:p>
            <a:r>
              <a:rPr sz="1150" b="0">
                <a:solidFill>
                  <a:srgbClr val="2E2E2E"/>
                </a:solidFill>
                <a:latin typeface="Calibri"/>
              </a:rPr>
              <a:t>CAGR.</a:t>
            </a:r>
          </a:p>
        </p:txBody>
      </p:sp>
      <p:sp>
        <p:nvSpPr>
          <p:cNvPr id="50" name="TextBox 49"/>
          <p:cNvSpPr txBox="1"/>
          <p:nvPr/>
        </p:nvSpPr>
        <p:spPr>
          <a:xfrm>
            <a:off x="8048625" y="4684312"/>
            <a:ext cx="3589957" cy="194310"/>
          </a:xfrm>
          <a:prstGeom prst="rect">
            <a:avLst/>
          </a:prstGeom>
          <a:noFill/>
        </p:spPr>
        <p:txBody>
          <a:bodyPr wrap="none" lIns="0" rIns="0" tIns="0" bIns="0">
            <a:spAutoFit/>
          </a:bodyPr>
          <a:lstStyle/>
          <a:p>
            <a:r>
              <a:rPr sz="1150" b="0">
                <a:solidFill>
                  <a:srgbClr val="2E2E2E"/>
                </a:solidFill>
                <a:latin typeface="Calibri"/>
              </a:rPr>
              <a:t>▪ Demand concentrates in 'Micronized Eggshell Membrane'</a:t>
            </a:r>
          </a:p>
        </p:txBody>
      </p:sp>
      <p:sp>
        <p:nvSpPr>
          <p:cNvPr id="51" name="TextBox 50"/>
          <p:cNvSpPr txBox="1"/>
          <p:nvPr/>
        </p:nvSpPr>
        <p:spPr>
          <a:xfrm>
            <a:off x="8048625" y="4859572"/>
            <a:ext cx="1308496" cy="194310"/>
          </a:xfrm>
          <a:prstGeom prst="rect">
            <a:avLst/>
          </a:prstGeom>
          <a:noFill/>
        </p:spPr>
        <p:txBody>
          <a:bodyPr wrap="none" lIns="0" rIns="0" tIns="0" bIns="0">
            <a:spAutoFit/>
          </a:bodyPr>
          <a:lstStyle/>
          <a:p>
            <a:r>
              <a:rPr sz="1150" b="0">
                <a:solidFill>
                  <a:srgbClr val="2E2E2E"/>
                </a:solidFill>
                <a:latin typeface="Calibri"/>
              </a:rPr>
              <a:t>within Product Type.</a:t>
            </a:r>
          </a:p>
        </p:txBody>
      </p:sp>
      <p:sp>
        <p:nvSpPr>
          <p:cNvPr id="52" name="TextBox 51"/>
          <p:cNvSpPr txBox="1"/>
          <p:nvPr/>
        </p:nvSpPr>
        <p:spPr>
          <a:xfrm>
            <a:off x="8048625" y="5087410"/>
            <a:ext cx="3291296" cy="194310"/>
          </a:xfrm>
          <a:prstGeom prst="rect">
            <a:avLst/>
          </a:prstGeom>
          <a:noFill/>
        </p:spPr>
        <p:txBody>
          <a:bodyPr wrap="none" lIns="0" rIns="0" tIns="0" bIns="0">
            <a:spAutoFit/>
          </a:bodyPr>
          <a:lstStyle/>
          <a:p>
            <a:r>
              <a:rPr sz="1150" b="0">
                <a:solidFill>
                  <a:srgbClr val="2E2E2E"/>
                </a:solidFill>
                <a:latin typeface="Calibri"/>
              </a:rPr>
              <a:t>▪ Product innovation and premiumisation lifting value.</a:t>
            </a:r>
          </a:p>
        </p:txBody>
      </p:sp>
      <p:sp>
        <p:nvSpPr>
          <p:cNvPr id="53" name="TextBox 52"/>
          <p:cNvSpPr txBox="1"/>
          <p:nvPr/>
        </p:nvSpPr>
        <p:spPr>
          <a:xfrm>
            <a:off x="8048625" y="5315248"/>
            <a:ext cx="2741327" cy="194310"/>
          </a:xfrm>
          <a:prstGeom prst="rect">
            <a:avLst/>
          </a:prstGeom>
          <a:noFill/>
        </p:spPr>
        <p:txBody>
          <a:bodyPr wrap="none" lIns="0" rIns="0" tIns="0" bIns="0">
            <a:spAutoFit/>
          </a:bodyPr>
          <a:lstStyle/>
          <a:p>
            <a:r>
              <a:rPr sz="1150" b="0">
                <a:solidFill>
                  <a:srgbClr val="2E2E2E"/>
                </a:solidFill>
                <a:latin typeface="Calibri"/>
              </a:rPr>
              <a:t>▪ Expanding end-use applications and access.</a:t>
            </a:r>
          </a:p>
        </p:txBody>
      </p:sp>
      <p:sp>
        <p:nvSpPr>
          <p:cNvPr id="54" name="lockshield_13"/>
          <p:cNvSpPr/>
          <p:nvPr/>
        </p:nvSpPr>
        <p:spPr>
          <a:xfrm>
            <a:off x="238125" y="1913637"/>
            <a:ext cx="7505700" cy="2011827"/>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lockshield_16"/>
          <p:cNvSpPr/>
          <p:nvPr/>
        </p:nvSpPr>
        <p:spPr>
          <a:xfrm>
            <a:off x="238125" y="4323125"/>
            <a:ext cx="7505700" cy="217611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Egg Protein Membrane Market Pricing &amp; Regional Price Index</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average price by sub-segment and price variation by country, highlighting where pricing power sits</a:t>
            </a:r>
          </a:p>
        </p:txBody>
      </p:sp>
      <p:sp>
        <p:nvSpPr>
          <p:cNvPr id="7" name="Rounded Rectangle 6"/>
          <p:cNvSpPr/>
          <p:nvPr/>
        </p:nvSpPr>
        <p:spPr>
          <a:xfrm>
            <a:off x="142875" y="1052895"/>
            <a:ext cx="7696200" cy="2665040"/>
          </a:xfrm>
          <a:prstGeom prst="roundRect">
            <a:avLst>
              <a:gd name="adj" fmla="val 285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110045"/>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Average Price by Product Type  ·  range across 2021–2036 (US$/MT)</a:t>
            </a:r>
          </a:p>
        </p:txBody>
      </p:sp>
      <p:cxnSp>
        <p:nvCxnSpPr>
          <p:cNvPr id="9" name="Connector 8"/>
          <p:cNvCxnSpPr/>
          <p:nvPr/>
        </p:nvCxnSpPr>
        <p:spPr>
          <a:xfrm>
            <a:off x="657225" y="3336935"/>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57225" y="2865938"/>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57225" y="2394940"/>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657225" y="1923943"/>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657225" y="1452945"/>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657225" y="1452945"/>
            <a:ext cx="0" cy="188399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628650" y="3336935"/>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28650" y="2865938"/>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628650" y="2394940"/>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628650" y="1923943"/>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628650" y="1452945"/>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sp>
        <p:nvSpPr>
          <p:cNvPr id="20" name="TMR Scale tick"/>
          <p:cNvSpPr txBox="1"/>
          <p:nvPr/>
        </p:nvSpPr>
        <p:spPr>
          <a:xfrm>
            <a:off x="111919" y="3270260"/>
            <a:ext cx="488156" cy="133350"/>
          </a:xfrm>
          <a:prstGeom prst="rect">
            <a:avLst/>
          </a:prstGeom>
          <a:noFill/>
        </p:spPr>
        <p:txBody>
          <a:bodyPr wrap="square" lIns="28575" rIns="28575" tIns="9525" bIns="9525" anchor="ctr">
            <a:spAutoFit/>
          </a:bodyPr>
          <a:lstStyle/>
          <a:p>
            <a:pPr algn="r"/>
            <a:r>
              <a:rPr sz="1100" b="0">
                <a:solidFill>
                  <a:srgbClr val="6C7A89"/>
                </a:solidFill>
                <a:latin typeface="Calibri"/>
              </a:rPr>
              <a:t/>
            </a:r>
          </a:p>
        </p:txBody>
      </p:sp>
      <p:sp>
        <p:nvSpPr>
          <p:cNvPr id="21" name="TMR Scale tick"/>
          <p:cNvSpPr txBox="1"/>
          <p:nvPr/>
        </p:nvSpPr>
        <p:spPr>
          <a:xfrm>
            <a:off x="111919" y="2328265"/>
            <a:ext cx="488156" cy="133350"/>
          </a:xfrm>
          <a:prstGeom prst="rect">
            <a:avLst/>
          </a:prstGeom>
          <a:noFill/>
        </p:spPr>
        <p:txBody>
          <a:bodyPr wrap="square" lIns="28575" rIns="28575" tIns="9525" bIns="9525" anchor="ctr">
            <a:spAutoFit/>
          </a:bodyPr>
          <a:lstStyle/>
          <a:p>
            <a:pPr algn="r"/>
            <a:r>
              <a:rPr sz="1100" b="0">
                <a:solidFill>
                  <a:srgbClr val="6C7A89"/>
                </a:solidFill>
                <a:latin typeface="Calibri"/>
              </a:rPr>
              <a:t/>
            </a:r>
          </a:p>
        </p:txBody>
      </p:sp>
      <p:sp>
        <p:nvSpPr>
          <p:cNvPr id="22" name="TMR Scale tick"/>
          <p:cNvSpPr txBox="1"/>
          <p:nvPr/>
        </p:nvSpPr>
        <p:spPr>
          <a:xfrm>
            <a:off x="111919" y="1386270"/>
            <a:ext cx="488156" cy="133350"/>
          </a:xfrm>
          <a:prstGeom prst="rect">
            <a:avLst/>
          </a:prstGeom>
          <a:noFill/>
        </p:spPr>
        <p:txBody>
          <a:bodyPr wrap="square" lIns="28575" rIns="28575" tIns="9525" bIns="9525" anchor="ctr">
            <a:spAutoFit/>
          </a:bodyPr>
          <a:lstStyle/>
          <a:p>
            <a:pPr algn="r"/>
            <a:r>
              <a:rPr sz="1100" b="0">
                <a:solidFill>
                  <a:srgbClr val="6C7A89"/>
                </a:solidFill>
                <a:latin typeface="Calibri"/>
              </a:rPr>
              <a:t/>
            </a:r>
          </a:p>
        </p:txBody>
      </p:sp>
      <p:cxnSp>
        <p:nvCxnSpPr>
          <p:cNvPr id="23" name="Connector 22"/>
          <p:cNvCxnSpPr/>
          <p:nvPr/>
        </p:nvCxnSpPr>
        <p:spPr>
          <a:xfrm flipV="1">
            <a:off x="1825625" y="2116187"/>
            <a:ext cx="0" cy="866499"/>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1694180" y="2982686"/>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1694180" y="2116187"/>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26" name="Rectangle 25"/>
          <p:cNvSpPr/>
          <p:nvPr/>
        </p:nvSpPr>
        <p:spPr>
          <a:xfrm>
            <a:off x="1606550" y="2352143"/>
            <a:ext cx="438150" cy="432397"/>
          </a:xfrm>
          <a:prstGeom prst="rect">
            <a:avLst/>
          </a:prstGeom>
          <a:solidFill>
            <a:srgbClr val="CFE7F5"/>
          </a:solidFill>
          <a:ln w="15875">
            <a:solidFill>
              <a:srgbClr val="0E2A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7" name="Connector 26"/>
          <p:cNvCxnSpPr/>
          <p:nvPr/>
        </p:nvCxnSpPr>
        <p:spPr>
          <a:xfrm>
            <a:off x="1606550" y="2574628"/>
            <a:ext cx="438150" cy="0"/>
          </a:xfrm>
          <a:prstGeom prst="line">
            <a:avLst/>
          </a:prstGeom>
          <a:ln w="25400">
            <a:solidFill>
              <a:srgbClr val="2A5F8F"/>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657225" y="1963787"/>
            <a:ext cx="2336800" cy="133350"/>
          </a:xfrm>
          <a:prstGeom prst="rect">
            <a:avLst/>
          </a:prstGeom>
          <a:noFill/>
        </p:spPr>
        <p:txBody>
          <a:bodyPr wrap="square" lIns="28575" rIns="28575" tIns="9525" bIns="9525">
            <a:spAutoFit/>
          </a:bodyPr>
          <a:lstStyle/>
          <a:p>
            <a:pPr algn="ctr"/>
            <a:r>
              <a:rPr sz="1100" b="1">
                <a:solidFill>
                  <a:srgbClr val="0E2A5C"/>
                </a:solidFill>
                <a:latin typeface="Calibri"/>
              </a:rPr>
              <a:t> </a:t>
            </a:r>
          </a:p>
        </p:txBody>
      </p:sp>
      <p:cxnSp>
        <p:nvCxnSpPr>
          <p:cNvPr id="29" name="Connector 28"/>
          <p:cNvCxnSpPr/>
          <p:nvPr/>
        </p:nvCxnSpPr>
        <p:spPr>
          <a:xfrm flipV="1">
            <a:off x="4162425" y="2285970"/>
            <a:ext cx="0" cy="833582"/>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4030980" y="3119552"/>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4030980" y="2285970"/>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32" name="Rectangle 31"/>
          <p:cNvSpPr/>
          <p:nvPr/>
        </p:nvSpPr>
        <p:spPr>
          <a:xfrm>
            <a:off x="3943350" y="2512978"/>
            <a:ext cx="438150" cy="415972"/>
          </a:xfrm>
          <a:prstGeom prst="rect">
            <a:avLst/>
          </a:prstGeom>
          <a:solidFill>
            <a:srgbClr val="CFE7F5"/>
          </a:solidFill>
          <a:ln w="15875">
            <a:solidFill>
              <a:srgbClr val="0E2A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3" name="Connector 32"/>
          <p:cNvCxnSpPr/>
          <p:nvPr/>
        </p:nvCxnSpPr>
        <p:spPr>
          <a:xfrm>
            <a:off x="3943350" y="2727020"/>
            <a:ext cx="438150" cy="0"/>
          </a:xfrm>
          <a:prstGeom prst="line">
            <a:avLst/>
          </a:prstGeom>
          <a:ln w="25400">
            <a:solidFill>
              <a:srgbClr val="2A5F8F"/>
            </a:solidFill>
          </a:ln>
          <a:effectLst/>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2994025" y="2133570"/>
            <a:ext cx="2336800" cy="133350"/>
          </a:xfrm>
          <a:prstGeom prst="rect">
            <a:avLst/>
          </a:prstGeom>
          <a:noFill/>
        </p:spPr>
        <p:txBody>
          <a:bodyPr wrap="square" lIns="28575" rIns="28575" tIns="9525" bIns="9525">
            <a:spAutoFit/>
          </a:bodyPr>
          <a:lstStyle/>
          <a:p>
            <a:pPr algn="ctr"/>
            <a:r>
              <a:rPr sz="1100" b="1">
                <a:solidFill>
                  <a:srgbClr val="0E2A5C"/>
                </a:solidFill>
                <a:latin typeface="Calibri"/>
              </a:rPr>
              <a:t> </a:t>
            </a:r>
          </a:p>
        </p:txBody>
      </p:sp>
      <p:cxnSp>
        <p:nvCxnSpPr>
          <p:cNvPr id="35" name="Connector 34"/>
          <p:cNvCxnSpPr/>
          <p:nvPr/>
        </p:nvCxnSpPr>
        <p:spPr>
          <a:xfrm flipV="1">
            <a:off x="6499225" y="1670329"/>
            <a:ext cx="0" cy="947214"/>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6367780" y="2617543"/>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6367780" y="1670329"/>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38" name="Rectangle 37"/>
          <p:cNvSpPr/>
          <p:nvPr/>
        </p:nvSpPr>
        <p:spPr>
          <a:xfrm>
            <a:off x="6280150" y="1928082"/>
            <a:ext cx="438150" cy="472685"/>
          </a:xfrm>
          <a:prstGeom prst="rect">
            <a:avLst/>
          </a:prstGeom>
          <a:solidFill>
            <a:srgbClr val="CFE7F5"/>
          </a:solidFill>
          <a:ln w="15875">
            <a:solidFill>
              <a:srgbClr val="0E2A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9" name="Connector 38"/>
          <p:cNvCxnSpPr/>
          <p:nvPr/>
        </p:nvCxnSpPr>
        <p:spPr>
          <a:xfrm>
            <a:off x="6280150" y="2171238"/>
            <a:ext cx="438150" cy="0"/>
          </a:xfrm>
          <a:prstGeom prst="line">
            <a:avLst/>
          </a:prstGeom>
          <a:ln w="25400">
            <a:solidFill>
              <a:srgbClr val="2A5F8F"/>
            </a:solidFill>
          </a:ln>
          <a:effectLst/>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5330825" y="1517929"/>
            <a:ext cx="2336800" cy="133350"/>
          </a:xfrm>
          <a:prstGeom prst="rect">
            <a:avLst/>
          </a:prstGeom>
          <a:noFill/>
        </p:spPr>
        <p:txBody>
          <a:bodyPr wrap="square" lIns="28575" rIns="28575" tIns="9525" bIns="9525">
            <a:spAutoFit/>
          </a:bodyPr>
          <a:lstStyle/>
          <a:p>
            <a:pPr algn="ctr"/>
            <a:r>
              <a:rPr sz="1100" b="1">
                <a:solidFill>
                  <a:srgbClr val="0E2A5C"/>
                </a:solidFill>
                <a:latin typeface="Calibri"/>
              </a:rPr>
              <a:t> </a:t>
            </a:r>
          </a:p>
        </p:txBody>
      </p:sp>
      <p:sp>
        <p:nvSpPr>
          <p:cNvPr id="41" name="TextBox 40"/>
          <p:cNvSpPr txBox="1"/>
          <p:nvPr/>
        </p:nvSpPr>
        <p:spPr>
          <a:xfrm>
            <a:off x="657225" y="3365510"/>
            <a:ext cx="2336800" cy="285750"/>
          </a:xfrm>
          <a:prstGeom prst="rect">
            <a:avLst/>
          </a:prstGeom>
          <a:noFill/>
        </p:spPr>
        <p:txBody>
          <a:bodyPr wrap="square" lIns="28575" rIns="28575" tIns="9525" bIns="9525">
            <a:spAutoFit/>
          </a:bodyPr>
          <a:lstStyle/>
          <a:p>
            <a:pPr algn="ctr"/>
            <a:r>
              <a:rPr sz="1100" b="0">
                <a:solidFill>
                  <a:srgbClr val="2E2E2E"/>
                </a:solidFill>
                <a:latin typeface="Calibri"/>
              </a:rPr>
              <a:t>Micronized Eggshell M…</a:t>
            </a:r>
          </a:p>
        </p:txBody>
      </p:sp>
      <p:sp>
        <p:nvSpPr>
          <p:cNvPr id="42" name="TextBox 41"/>
          <p:cNvSpPr txBox="1"/>
          <p:nvPr/>
        </p:nvSpPr>
        <p:spPr>
          <a:xfrm>
            <a:off x="2994025" y="3365510"/>
            <a:ext cx="2336800" cy="285750"/>
          </a:xfrm>
          <a:prstGeom prst="rect">
            <a:avLst/>
          </a:prstGeom>
          <a:noFill/>
        </p:spPr>
        <p:txBody>
          <a:bodyPr wrap="square" lIns="28575" rIns="28575" tIns="9525" bIns="9525">
            <a:spAutoFit/>
          </a:bodyPr>
          <a:lstStyle/>
          <a:p>
            <a:pPr algn="ctr"/>
            <a:r>
              <a:rPr sz="1100" b="0">
                <a:solidFill>
                  <a:srgbClr val="2E2E2E"/>
                </a:solidFill>
                <a:latin typeface="Calibri"/>
              </a:rPr>
              <a:t>Hydrolyzed Eggshell M…</a:t>
            </a:r>
          </a:p>
        </p:txBody>
      </p:sp>
      <p:sp>
        <p:nvSpPr>
          <p:cNvPr id="43" name="TextBox 42"/>
          <p:cNvSpPr txBox="1"/>
          <p:nvPr/>
        </p:nvSpPr>
        <p:spPr>
          <a:xfrm>
            <a:off x="5330825" y="3365510"/>
            <a:ext cx="2336800" cy="285750"/>
          </a:xfrm>
          <a:prstGeom prst="rect">
            <a:avLst/>
          </a:prstGeom>
          <a:noFill/>
        </p:spPr>
        <p:txBody>
          <a:bodyPr wrap="square" lIns="28575" rIns="28575" tIns="9525" bIns="9525">
            <a:spAutoFit/>
          </a:bodyPr>
          <a:lstStyle/>
          <a:p>
            <a:pPr algn="ctr"/>
            <a:r>
              <a:rPr sz="1100" b="0">
                <a:solidFill>
                  <a:srgbClr val="2E2E2E"/>
                </a:solidFill>
                <a:latin typeface="Calibri"/>
              </a:rPr>
              <a:t>Specialty Extracted P…</a:t>
            </a:r>
          </a:p>
        </p:txBody>
      </p:sp>
      <p:sp>
        <p:nvSpPr>
          <p:cNvPr id="44" name="Rounded Rectangle 43"/>
          <p:cNvSpPr/>
          <p:nvPr/>
        </p:nvSpPr>
        <p:spPr>
          <a:xfrm>
            <a:off x="142875" y="3772696"/>
            <a:ext cx="7696200" cy="2783689"/>
          </a:xfrm>
          <a:prstGeom prst="roundRect">
            <a:avLst>
              <a:gd name="adj" fmla="val 2737"/>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238125" y="3829846"/>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Price Variation by Country vs North America  ·  2026–2036</a:t>
            </a:r>
          </a:p>
        </p:txBody>
      </p:sp>
      <p:cxnSp>
        <p:nvCxnSpPr>
          <p:cNvPr id="46" name="Connector 45"/>
          <p:cNvCxnSpPr/>
          <p:nvPr/>
        </p:nvCxnSpPr>
        <p:spPr>
          <a:xfrm>
            <a:off x="619125" y="4324574"/>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619125" y="4758845"/>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619125" y="5193116"/>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619125" y="5627387"/>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619125" y="6061658"/>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619125" y="4324574"/>
            <a:ext cx="0" cy="1737084"/>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590550" y="4324574"/>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590550" y="4758845"/>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590550" y="5193116"/>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590550" y="5627387"/>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590550" y="6061658"/>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sp>
        <p:nvSpPr>
          <p:cNvPr id="57" name="TMR Scale tick"/>
          <p:cNvSpPr txBox="1"/>
          <p:nvPr/>
        </p:nvSpPr>
        <p:spPr>
          <a:xfrm>
            <a:off x="138112" y="4257899"/>
            <a:ext cx="442912" cy="133350"/>
          </a:xfrm>
          <a:prstGeom prst="rect">
            <a:avLst/>
          </a:prstGeom>
          <a:noFill/>
        </p:spPr>
        <p:txBody>
          <a:bodyPr wrap="square" lIns="28575" rIns="28575" tIns="9525" bIns="9525" anchor="ctr">
            <a:spAutoFit/>
          </a:bodyPr>
          <a:lstStyle/>
          <a:p>
            <a:pPr algn="r"/>
            <a:r>
              <a:rPr sz="1100" b="0">
                <a:solidFill>
                  <a:srgbClr val="6C7A89"/>
                </a:solidFill>
                <a:latin typeface="Calibri"/>
              </a:rPr>
              <a:t>+4.9%</a:t>
            </a:r>
          </a:p>
        </p:txBody>
      </p:sp>
      <p:sp>
        <p:nvSpPr>
          <p:cNvPr id="58" name="TMR Scale tick"/>
          <p:cNvSpPr txBox="1"/>
          <p:nvPr/>
        </p:nvSpPr>
        <p:spPr>
          <a:xfrm>
            <a:off x="138112" y="4692170"/>
            <a:ext cx="442912" cy="133350"/>
          </a:xfrm>
          <a:prstGeom prst="rect">
            <a:avLst/>
          </a:prstGeom>
          <a:noFill/>
        </p:spPr>
        <p:txBody>
          <a:bodyPr wrap="square" lIns="28575" rIns="28575" tIns="9525" bIns="9525" anchor="ctr">
            <a:spAutoFit/>
          </a:bodyPr>
          <a:lstStyle/>
          <a:p>
            <a:pPr algn="r"/>
            <a:r>
              <a:rPr sz="1100" b="0">
                <a:solidFill>
                  <a:srgbClr val="6C7A89"/>
                </a:solidFill>
                <a:latin typeface="Calibri"/>
              </a:rPr>
              <a:t>+2.5%</a:t>
            </a:r>
          </a:p>
        </p:txBody>
      </p:sp>
      <p:sp>
        <p:nvSpPr>
          <p:cNvPr id="59" name="TMR Scale tick"/>
          <p:cNvSpPr txBox="1"/>
          <p:nvPr/>
        </p:nvSpPr>
        <p:spPr>
          <a:xfrm>
            <a:off x="219075" y="5126441"/>
            <a:ext cx="361950" cy="133350"/>
          </a:xfrm>
          <a:prstGeom prst="rect">
            <a:avLst/>
          </a:prstGeom>
          <a:noFill/>
        </p:spPr>
        <p:txBody>
          <a:bodyPr wrap="square" lIns="28575" rIns="28575" tIns="9525" bIns="9525" anchor="ctr">
            <a:spAutoFit/>
          </a:bodyPr>
          <a:lstStyle/>
          <a:p>
            <a:pPr algn="r"/>
            <a:r>
              <a:rPr sz="1100" b="1">
                <a:solidFill>
                  <a:srgbClr val="6C7A89"/>
                </a:solidFill>
                <a:latin typeface="Calibri"/>
              </a:rPr>
              <a:t>North America</a:t>
            </a:r>
          </a:p>
        </p:txBody>
      </p:sp>
      <p:sp>
        <p:nvSpPr>
          <p:cNvPr id="60" name="TMR Scale tick"/>
          <p:cNvSpPr txBox="1"/>
          <p:nvPr/>
        </p:nvSpPr>
        <p:spPr>
          <a:xfrm>
            <a:off x="164306" y="5560712"/>
            <a:ext cx="416719" cy="133350"/>
          </a:xfrm>
          <a:prstGeom prst="rect">
            <a:avLst/>
          </a:prstGeom>
          <a:noFill/>
        </p:spPr>
        <p:txBody>
          <a:bodyPr wrap="square" lIns="28575" rIns="28575" tIns="9525" bIns="9525" anchor="ctr">
            <a:spAutoFit/>
          </a:bodyPr>
          <a:lstStyle/>
          <a:p>
            <a:pPr algn="r"/>
            <a:r>
              <a:rPr sz="1100" b="0">
                <a:solidFill>
                  <a:srgbClr val="6C7A89"/>
                </a:solidFill>
                <a:latin typeface="Calibri"/>
              </a:rPr>
              <a:t>-2.5%</a:t>
            </a:r>
          </a:p>
        </p:txBody>
      </p:sp>
      <p:sp>
        <p:nvSpPr>
          <p:cNvPr id="61" name="TMR Scale tick"/>
          <p:cNvSpPr txBox="1"/>
          <p:nvPr/>
        </p:nvSpPr>
        <p:spPr>
          <a:xfrm>
            <a:off x="164306" y="5994983"/>
            <a:ext cx="416719" cy="133350"/>
          </a:xfrm>
          <a:prstGeom prst="rect">
            <a:avLst/>
          </a:prstGeom>
          <a:noFill/>
        </p:spPr>
        <p:txBody>
          <a:bodyPr wrap="square" lIns="28575" rIns="28575" tIns="9525" bIns="9525" anchor="ctr">
            <a:spAutoFit/>
          </a:bodyPr>
          <a:lstStyle/>
          <a:p>
            <a:pPr algn="r"/>
            <a:r>
              <a:rPr sz="1100" b="0">
                <a:solidFill>
                  <a:srgbClr val="6C7A89"/>
                </a:solidFill>
                <a:latin typeface="Calibri"/>
              </a:rPr>
              <a:t>-4.9%</a:t>
            </a:r>
          </a:p>
        </p:txBody>
      </p:sp>
      <p:cxnSp>
        <p:nvCxnSpPr>
          <p:cNvPr id="62" name="Connector 61"/>
          <p:cNvCxnSpPr/>
          <p:nvPr/>
        </p:nvCxnSpPr>
        <p:spPr>
          <a:xfrm>
            <a:off x="619125" y="5193116"/>
            <a:ext cx="7048500" cy="0"/>
          </a:xfrm>
          <a:prstGeom prst="line">
            <a:avLst/>
          </a:prstGeom>
          <a:ln w="13970">
            <a:solidFill>
              <a:srgbClr val="6C7A89"/>
            </a:solidFill>
            <a:prstDash val="dash"/>
          </a:ln>
          <a:effectLst/>
        </p:spPr>
        <p:style>
          <a:lnRef idx="2">
            <a:schemeClr val="accent1"/>
          </a:lnRef>
          <a:fillRef idx="0">
            <a:schemeClr val="accent1"/>
          </a:fillRef>
          <a:effectRef idx="1">
            <a:schemeClr val="accent1"/>
          </a:effectRef>
          <a:fontRef idx="minor">
            <a:schemeClr val="tx1"/>
          </a:fontRef>
        </p:style>
      </p:cxnSp>
      <p:sp>
        <p:nvSpPr>
          <p:cNvPr id="63" name="Rectangle 62"/>
          <p:cNvSpPr/>
          <p:nvPr/>
        </p:nvSpPr>
        <p:spPr>
          <a:xfrm>
            <a:off x="2152650" y="5193116"/>
            <a:ext cx="457200" cy="332835"/>
          </a:xfrm>
          <a:prstGeom prst="rect">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MR Data Label"/>
          <p:cNvSpPr txBox="1"/>
          <p:nvPr/>
        </p:nvSpPr>
        <p:spPr>
          <a:xfrm>
            <a:off x="619125" y="5535476"/>
            <a:ext cx="3524250"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65" name="Rectangle 64"/>
          <p:cNvSpPr/>
          <p:nvPr/>
        </p:nvSpPr>
        <p:spPr>
          <a:xfrm>
            <a:off x="5676900" y="4437287"/>
            <a:ext cx="457200" cy="755829"/>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MR Data Label"/>
          <p:cNvSpPr txBox="1"/>
          <p:nvPr/>
        </p:nvSpPr>
        <p:spPr>
          <a:xfrm>
            <a:off x="4143375" y="4294412"/>
            <a:ext cx="3524250"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67" name="TextBox 66"/>
          <p:cNvSpPr txBox="1"/>
          <p:nvPr/>
        </p:nvSpPr>
        <p:spPr>
          <a:xfrm>
            <a:off x="619125" y="6242060"/>
            <a:ext cx="3524250" cy="247650"/>
          </a:xfrm>
          <a:prstGeom prst="rect">
            <a:avLst/>
          </a:prstGeom>
          <a:noFill/>
        </p:spPr>
        <p:txBody>
          <a:bodyPr wrap="square" lIns="28575" rIns="28575" tIns="9525" bIns="9525">
            <a:spAutoFit/>
          </a:bodyPr>
          <a:lstStyle/>
          <a:p>
            <a:pPr algn="ctr"/>
            <a:r>
              <a:rPr sz="1100" b="0">
                <a:solidFill>
                  <a:srgbClr val="2E2E2E"/>
                </a:solidFill>
                <a:latin typeface="Calibri"/>
              </a:rPr>
              <a:t>U.S.</a:t>
            </a:r>
          </a:p>
        </p:txBody>
      </p:sp>
      <p:sp>
        <p:nvSpPr>
          <p:cNvPr id="68" name="TextBox 67"/>
          <p:cNvSpPr txBox="1"/>
          <p:nvPr/>
        </p:nvSpPr>
        <p:spPr>
          <a:xfrm>
            <a:off x="4143375" y="6242060"/>
            <a:ext cx="3524250" cy="247650"/>
          </a:xfrm>
          <a:prstGeom prst="rect">
            <a:avLst/>
          </a:prstGeom>
          <a:noFill/>
        </p:spPr>
        <p:txBody>
          <a:bodyPr wrap="square" lIns="28575" rIns="28575" tIns="9525" bIns="9525">
            <a:spAutoFit/>
          </a:bodyPr>
          <a:lstStyle/>
          <a:p>
            <a:pPr algn="ctr"/>
            <a:r>
              <a:rPr sz="1100" b="0">
                <a:solidFill>
                  <a:srgbClr val="2E2E2E"/>
                </a:solidFill>
                <a:latin typeface="Calibri"/>
              </a:rPr>
              <a:t>Canada</a:t>
            </a:r>
          </a:p>
        </p:txBody>
      </p:sp>
      <p:sp>
        <p:nvSpPr>
          <p:cNvPr id="69" name="Rounded Rectangle 68"/>
          <p:cNvSpPr/>
          <p:nvPr/>
        </p:nvSpPr>
        <p:spPr>
          <a:xfrm>
            <a:off x="7915275" y="1052895"/>
            <a:ext cx="4133850" cy="5503490"/>
          </a:xfrm>
          <a:prstGeom prst="roundRect">
            <a:avLst>
              <a:gd name="adj" fmla="val 1843"/>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8048625" y="1138620"/>
            <a:ext cx="3867150" cy="209550"/>
          </a:xfrm>
          <a:prstGeom prst="rect">
            <a:avLst/>
          </a:prstGeom>
          <a:noFill/>
        </p:spPr>
        <p:txBody>
          <a:bodyPr wrap="square" lIns="0" rIns="19050" tIns="9525" bIns="9525">
            <a:spAutoFit/>
          </a:bodyPr>
          <a:lstStyle/>
          <a:p>
            <a:pPr algn="l"/>
            <a:r>
              <a:rPr sz="1300" b="1">
                <a:solidFill>
                  <a:srgbClr val="0E2A5C"/>
                </a:solidFill>
                <a:latin typeface="Calibri"/>
              </a:rPr>
              <a:t>Key Takeaways</a:t>
            </a:r>
          </a:p>
        </p:txBody>
      </p:sp>
      <p:sp>
        <p:nvSpPr>
          <p:cNvPr id="71" name="Rectangle 70"/>
          <p:cNvSpPr/>
          <p:nvPr/>
        </p:nvSpPr>
        <p:spPr>
          <a:xfrm>
            <a:off x="8048625" y="1376745"/>
            <a:ext cx="38671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8048625" y="1462470"/>
            <a:ext cx="3867150" cy="501771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73" name="Rectangle 72"/>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75" name="Picture 74" descr="lock.png"/>
          <p:cNvPicPr>
            <a:picLocks noChangeAspect="1"/>
          </p:cNvPicPr>
          <p:nvPr/>
        </p:nvPicPr>
        <p:blipFill>
          <a:blip r:embed="rId4"/>
          <a:stretch>
            <a:fillRect/>
          </a:stretch>
        </p:blipFill>
        <p:spPr>
          <a:xfrm>
            <a:off x="1761275" y="1936863"/>
            <a:ext cx="128699" cy="187198"/>
          </a:xfrm>
          <a:prstGeom prst="rect">
            <a:avLst/>
          </a:prstGeom>
        </p:spPr>
      </p:pic>
      <p:pic>
        <p:nvPicPr>
          <p:cNvPr id="76" name="Picture 75" descr="lock.png"/>
          <p:cNvPicPr>
            <a:picLocks noChangeAspect="1"/>
          </p:cNvPicPr>
          <p:nvPr/>
        </p:nvPicPr>
        <p:blipFill>
          <a:blip r:embed="rId4"/>
          <a:stretch>
            <a:fillRect/>
          </a:stretch>
        </p:blipFill>
        <p:spPr>
          <a:xfrm>
            <a:off x="4098075" y="2106646"/>
            <a:ext cx="128699" cy="187198"/>
          </a:xfrm>
          <a:prstGeom prst="rect">
            <a:avLst/>
          </a:prstGeom>
        </p:spPr>
      </p:pic>
      <p:pic>
        <p:nvPicPr>
          <p:cNvPr id="77" name="Picture 76" descr="lock.png"/>
          <p:cNvPicPr>
            <a:picLocks noChangeAspect="1"/>
          </p:cNvPicPr>
          <p:nvPr/>
        </p:nvPicPr>
        <p:blipFill>
          <a:blip r:embed="rId4"/>
          <a:stretch>
            <a:fillRect/>
          </a:stretch>
        </p:blipFill>
        <p:spPr>
          <a:xfrm>
            <a:off x="6434875" y="1491005"/>
            <a:ext cx="128699" cy="187198"/>
          </a:xfrm>
          <a:prstGeom prst="rect">
            <a:avLst/>
          </a:prstGeom>
        </p:spPr>
      </p:pic>
      <p:pic>
        <p:nvPicPr>
          <p:cNvPr id="78" name="Picture 77" descr="lock.png"/>
          <p:cNvPicPr>
            <a:picLocks noChangeAspect="1"/>
          </p:cNvPicPr>
          <p:nvPr/>
        </p:nvPicPr>
        <p:blipFill>
          <a:blip r:embed="rId4"/>
          <a:stretch>
            <a:fillRect/>
          </a:stretch>
        </p:blipFill>
        <p:spPr>
          <a:xfrm>
            <a:off x="2316900" y="5508551"/>
            <a:ext cx="128699" cy="187198"/>
          </a:xfrm>
          <a:prstGeom prst="rect">
            <a:avLst/>
          </a:prstGeom>
        </p:spPr>
      </p:pic>
      <p:pic>
        <p:nvPicPr>
          <p:cNvPr id="79" name="Picture 78" descr="lock.png"/>
          <p:cNvPicPr>
            <a:picLocks noChangeAspect="1"/>
          </p:cNvPicPr>
          <p:nvPr/>
        </p:nvPicPr>
        <p:blipFill>
          <a:blip r:embed="rId4"/>
          <a:stretch>
            <a:fillRect/>
          </a:stretch>
        </p:blipFill>
        <p:spPr>
          <a:xfrm>
            <a:off x="5841150" y="4267488"/>
            <a:ext cx="128699" cy="187198"/>
          </a:xfrm>
          <a:prstGeom prst="rect">
            <a:avLst/>
          </a:prstGeom>
        </p:spPr>
      </p:pic>
      <p:sp>
        <p:nvSpPr>
          <p:cNvPr id="80" name="TextBox 79"/>
          <p:cNvSpPr txBox="1"/>
          <p:nvPr/>
        </p:nvSpPr>
        <p:spPr>
          <a:xfrm>
            <a:off x="8048625" y="1471995"/>
            <a:ext cx="3639591" cy="194310"/>
          </a:xfrm>
          <a:prstGeom prst="rect">
            <a:avLst/>
          </a:prstGeom>
          <a:noFill/>
        </p:spPr>
        <p:txBody>
          <a:bodyPr wrap="none" lIns="0" rIns="0" tIns="0" bIns="0">
            <a:spAutoFit/>
          </a:bodyPr>
          <a:lstStyle/>
          <a:p>
            <a:r>
              <a:rPr sz="1150" b="0">
                <a:solidFill>
                  <a:srgbClr val="2E2E2E"/>
                </a:solidFill>
                <a:latin typeface="Calibri"/>
              </a:rPr>
              <a:t>Specialty extracted protein fractions segment is expected to</a:t>
            </a:r>
          </a:p>
        </p:txBody>
      </p:sp>
      <p:sp>
        <p:nvSpPr>
          <p:cNvPr id="81" name="TextBox 80"/>
          <p:cNvSpPr txBox="1"/>
          <p:nvPr/>
        </p:nvSpPr>
        <p:spPr>
          <a:xfrm>
            <a:off x="8048625" y="1647255"/>
            <a:ext cx="2627225" cy="194310"/>
          </a:xfrm>
          <a:prstGeom prst="rect">
            <a:avLst/>
          </a:prstGeom>
          <a:noFill/>
        </p:spPr>
        <p:txBody>
          <a:bodyPr wrap="none" lIns="0" rIns="0" tIns="0" bIns="0">
            <a:spAutoFit/>
          </a:bodyPr>
          <a:lstStyle/>
          <a:p>
            <a:r>
              <a:rPr sz="1150" b="0">
                <a:solidFill>
                  <a:srgbClr val="2E2E2E"/>
                </a:solidFill>
                <a:latin typeface="Calibri"/>
              </a:rPr>
              <a:t>command the highest average price of US$</a:t>
            </a:r>
          </a:p>
        </p:txBody>
      </p:sp>
      <p:pic>
        <p:nvPicPr>
          <p:cNvPr id="82" name="Picture 81" descr="lock.png"/>
          <p:cNvPicPr>
            <a:picLocks noChangeAspect="1"/>
          </p:cNvPicPr>
          <p:nvPr/>
        </p:nvPicPr>
        <p:blipFill>
          <a:blip r:embed="rId4"/>
          <a:stretch>
            <a:fillRect/>
          </a:stretch>
        </p:blipFill>
        <p:spPr>
          <a:xfrm>
            <a:off x="10625004" y="1637031"/>
            <a:ext cx="134549" cy="195707"/>
          </a:xfrm>
          <a:prstGeom prst="rect">
            <a:avLst/>
          </a:prstGeom>
        </p:spPr>
      </p:pic>
      <p:sp>
        <p:nvSpPr>
          <p:cNvPr id="83" name="TextBox 82"/>
          <p:cNvSpPr txBox="1"/>
          <p:nvPr/>
        </p:nvSpPr>
        <p:spPr>
          <a:xfrm>
            <a:off x="10800113" y="1647255"/>
            <a:ext cx="1016111" cy="194310"/>
          </a:xfrm>
          <a:prstGeom prst="rect">
            <a:avLst/>
          </a:prstGeom>
          <a:noFill/>
        </p:spPr>
        <p:txBody>
          <a:bodyPr wrap="none" lIns="0" rIns="0" tIns="0" bIns="0">
            <a:spAutoFit/>
          </a:bodyPr>
          <a:lstStyle/>
          <a:p>
            <a:r>
              <a:rPr sz="1150" b="0">
                <a:solidFill>
                  <a:srgbClr val="2E2E2E"/>
                </a:solidFill>
                <a:latin typeface="Calibri"/>
              </a:rPr>
              <a:t>per MT in 2036.</a:t>
            </a:r>
          </a:p>
        </p:txBody>
      </p:sp>
      <p:sp>
        <p:nvSpPr>
          <p:cNvPr id="84" name="TextBox 83"/>
          <p:cNvSpPr txBox="1"/>
          <p:nvPr/>
        </p:nvSpPr>
        <p:spPr>
          <a:xfrm>
            <a:off x="8048625" y="1822515"/>
            <a:ext cx="3761069" cy="194310"/>
          </a:xfrm>
          <a:prstGeom prst="rect">
            <a:avLst/>
          </a:prstGeom>
          <a:noFill/>
        </p:spPr>
        <p:txBody>
          <a:bodyPr wrap="none" lIns="0" rIns="0" tIns="0" bIns="0">
            <a:spAutoFit/>
          </a:bodyPr>
          <a:lstStyle/>
          <a:p>
            <a:r>
              <a:rPr sz="1150" b="0">
                <a:solidFill>
                  <a:srgbClr val="2E2E2E"/>
                </a:solidFill>
                <a:latin typeface="Calibri"/>
              </a:rPr>
              <a:t>Average selling price of egg protein membrane is estimated at</a:t>
            </a:r>
          </a:p>
        </p:txBody>
      </p:sp>
      <p:sp>
        <p:nvSpPr>
          <p:cNvPr id="85" name="TextBox 84"/>
          <p:cNvSpPr txBox="1"/>
          <p:nvPr/>
        </p:nvSpPr>
        <p:spPr>
          <a:xfrm>
            <a:off x="8048625" y="1997775"/>
            <a:ext cx="311249" cy="194310"/>
          </a:xfrm>
          <a:prstGeom prst="rect">
            <a:avLst/>
          </a:prstGeom>
          <a:noFill/>
        </p:spPr>
        <p:txBody>
          <a:bodyPr wrap="none" lIns="0" rIns="0" tIns="0" bIns="0">
            <a:spAutoFit/>
          </a:bodyPr>
          <a:lstStyle/>
          <a:p>
            <a:r>
              <a:rPr sz="1150" b="0">
                <a:solidFill>
                  <a:srgbClr val="2E2E2E"/>
                </a:solidFill>
                <a:latin typeface="Calibri"/>
              </a:rPr>
              <a:t>US$</a:t>
            </a:r>
          </a:p>
        </p:txBody>
      </p:sp>
      <p:pic>
        <p:nvPicPr>
          <p:cNvPr id="86" name="Picture 85" descr="lock.png"/>
          <p:cNvPicPr>
            <a:picLocks noChangeAspect="1"/>
          </p:cNvPicPr>
          <p:nvPr/>
        </p:nvPicPr>
        <p:blipFill>
          <a:blip r:embed="rId4"/>
          <a:stretch>
            <a:fillRect/>
          </a:stretch>
        </p:blipFill>
        <p:spPr>
          <a:xfrm>
            <a:off x="8309028" y="1987551"/>
            <a:ext cx="134549" cy="195707"/>
          </a:xfrm>
          <a:prstGeom prst="rect">
            <a:avLst/>
          </a:prstGeom>
        </p:spPr>
      </p:pic>
      <p:sp>
        <p:nvSpPr>
          <p:cNvPr id="87" name="TextBox 86"/>
          <p:cNvSpPr txBox="1"/>
          <p:nvPr/>
        </p:nvSpPr>
        <p:spPr>
          <a:xfrm>
            <a:off x="8484137" y="1997775"/>
            <a:ext cx="3081064" cy="194310"/>
          </a:xfrm>
          <a:prstGeom prst="rect">
            <a:avLst/>
          </a:prstGeom>
          <a:noFill/>
        </p:spPr>
        <p:txBody>
          <a:bodyPr wrap="none" lIns="0" rIns="0" tIns="0" bIns="0">
            <a:spAutoFit/>
          </a:bodyPr>
          <a:lstStyle/>
          <a:p>
            <a:r>
              <a:rPr sz="1150" b="0">
                <a:solidFill>
                  <a:srgbClr val="2E2E2E"/>
                </a:solidFill>
                <a:latin typeface="Calibri"/>
              </a:rPr>
              <a:t>per MT in 2025 and is projected to increase to US$</a:t>
            </a:r>
          </a:p>
        </p:txBody>
      </p:sp>
      <p:pic>
        <p:nvPicPr>
          <p:cNvPr id="88" name="Picture 87" descr="lock.png"/>
          <p:cNvPicPr>
            <a:picLocks noChangeAspect="1"/>
          </p:cNvPicPr>
          <p:nvPr/>
        </p:nvPicPr>
        <p:blipFill>
          <a:blip r:embed="rId4"/>
          <a:stretch>
            <a:fillRect/>
          </a:stretch>
        </p:blipFill>
        <p:spPr>
          <a:xfrm>
            <a:off x="11514356" y="1987551"/>
            <a:ext cx="134549" cy="195707"/>
          </a:xfrm>
          <a:prstGeom prst="rect">
            <a:avLst/>
          </a:prstGeom>
        </p:spPr>
      </p:pic>
      <p:sp>
        <p:nvSpPr>
          <p:cNvPr id="89" name="TextBox 88"/>
          <p:cNvSpPr txBox="1"/>
          <p:nvPr/>
        </p:nvSpPr>
        <p:spPr>
          <a:xfrm>
            <a:off x="8048625" y="2173035"/>
            <a:ext cx="1048630" cy="194310"/>
          </a:xfrm>
          <a:prstGeom prst="rect">
            <a:avLst/>
          </a:prstGeom>
          <a:noFill/>
        </p:spPr>
        <p:txBody>
          <a:bodyPr wrap="none" lIns="0" rIns="0" tIns="0" bIns="0">
            <a:spAutoFit/>
          </a:bodyPr>
          <a:lstStyle/>
          <a:p>
            <a:r>
              <a:rPr sz="1150" b="0">
                <a:solidFill>
                  <a:srgbClr val="2E2E2E"/>
                </a:solidFill>
                <a:latin typeface="Calibri"/>
              </a:rPr>
              <a:t>per MT by 2036.</a:t>
            </a:r>
          </a:p>
        </p:txBody>
      </p:sp>
      <p:sp>
        <p:nvSpPr>
          <p:cNvPr id="90" name="TextBox 89"/>
          <p:cNvSpPr txBox="1"/>
          <p:nvPr/>
        </p:nvSpPr>
        <p:spPr>
          <a:xfrm>
            <a:off x="8048625" y="2400873"/>
            <a:ext cx="3596518" cy="194310"/>
          </a:xfrm>
          <a:prstGeom prst="rect">
            <a:avLst/>
          </a:prstGeom>
          <a:noFill/>
        </p:spPr>
        <p:txBody>
          <a:bodyPr wrap="none" lIns="0" rIns="0" tIns="0" bIns="0">
            <a:spAutoFit/>
          </a:bodyPr>
          <a:lstStyle/>
          <a:p>
            <a:r>
              <a:rPr sz="1150" b="0">
                <a:solidFill>
                  <a:srgbClr val="2E2E2E"/>
                </a:solidFill>
                <a:latin typeface="Calibri"/>
              </a:rPr>
              <a:t>Canada is the highest-priced country, while U.S. is the most</a:t>
            </a:r>
          </a:p>
        </p:txBody>
      </p:sp>
      <p:sp>
        <p:nvSpPr>
          <p:cNvPr id="91" name="TextBox 90"/>
          <p:cNvSpPr txBox="1"/>
          <p:nvPr/>
        </p:nvSpPr>
        <p:spPr>
          <a:xfrm>
            <a:off x="8048625" y="2576133"/>
            <a:ext cx="3714898" cy="194310"/>
          </a:xfrm>
          <a:prstGeom prst="rect">
            <a:avLst/>
          </a:prstGeom>
          <a:noFill/>
        </p:spPr>
        <p:txBody>
          <a:bodyPr wrap="none" lIns="0" rIns="0" tIns="0" bIns="0">
            <a:spAutoFit/>
          </a:bodyPr>
          <a:lstStyle/>
          <a:p>
            <a:r>
              <a:rPr sz="1150" b="0">
                <a:solidFill>
                  <a:srgbClr val="2E2E2E"/>
                </a:solidFill>
                <a:latin typeface="Calibri"/>
              </a:rPr>
              <a:t>price-competitive market. Against the North America price of</a:t>
            </a:r>
          </a:p>
        </p:txBody>
      </p:sp>
      <p:pic>
        <p:nvPicPr>
          <p:cNvPr id="92" name="Picture 91" descr="lock.png"/>
          <p:cNvPicPr>
            <a:picLocks noChangeAspect="1"/>
          </p:cNvPicPr>
          <p:nvPr/>
        </p:nvPicPr>
        <p:blipFill>
          <a:blip r:embed="rId4"/>
          <a:stretch>
            <a:fillRect/>
          </a:stretch>
        </p:blipFill>
        <p:spPr>
          <a:xfrm>
            <a:off x="8034545" y="2741169"/>
            <a:ext cx="134549" cy="195707"/>
          </a:xfrm>
          <a:prstGeom prst="rect">
            <a:avLst/>
          </a:prstGeom>
        </p:spPr>
      </p:pic>
      <p:sp>
        <p:nvSpPr>
          <p:cNvPr id="93" name="TextBox 92"/>
          <p:cNvSpPr txBox="1"/>
          <p:nvPr/>
        </p:nvSpPr>
        <p:spPr>
          <a:xfrm>
            <a:off x="8209654" y="2751393"/>
            <a:ext cx="3081349" cy="194310"/>
          </a:xfrm>
          <a:prstGeom prst="rect">
            <a:avLst/>
          </a:prstGeom>
          <a:noFill/>
        </p:spPr>
        <p:txBody>
          <a:bodyPr wrap="none" lIns="0" rIns="0" tIns="0" bIns="0">
            <a:spAutoFit/>
          </a:bodyPr>
          <a:lstStyle/>
          <a:p>
            <a:r>
              <a:rPr sz="1150" b="0">
                <a:solidFill>
                  <a:srgbClr val="2E2E2E"/>
                </a:solidFill>
                <a:latin typeface="Calibri"/>
              </a:rPr>
              <a:t>US$/MT, 1 of 2 countries price above and 1 below.</a:t>
            </a:r>
          </a:p>
        </p:txBody>
      </p:sp>
      <p:sp>
        <p:nvSpPr>
          <p:cNvPr id="94" name="TextBox 93"/>
          <p:cNvSpPr txBox="1"/>
          <p:nvPr/>
        </p:nvSpPr>
        <p:spPr>
          <a:xfrm>
            <a:off x="8048625" y="2979230"/>
            <a:ext cx="1677330" cy="194310"/>
          </a:xfrm>
          <a:prstGeom prst="rect">
            <a:avLst/>
          </a:prstGeom>
          <a:noFill/>
        </p:spPr>
        <p:txBody>
          <a:bodyPr wrap="none" lIns="0" rIns="0" tIns="0" bIns="0">
            <a:spAutoFit/>
          </a:bodyPr>
          <a:lstStyle/>
          <a:p>
            <a:r>
              <a:rPr sz="1150" b="0">
                <a:solidFill>
                  <a:srgbClr val="2E2E2E"/>
                </a:solidFill>
                <a:latin typeface="Calibri"/>
              </a:rPr>
              <a:t>'Canada' is the dearest at +</a:t>
            </a:r>
          </a:p>
        </p:txBody>
      </p:sp>
      <p:pic>
        <p:nvPicPr>
          <p:cNvPr id="95" name="Picture 94" descr="lock.png"/>
          <p:cNvPicPr>
            <a:picLocks noChangeAspect="1"/>
          </p:cNvPicPr>
          <p:nvPr/>
        </p:nvPicPr>
        <p:blipFill>
          <a:blip r:embed="rId4"/>
          <a:stretch>
            <a:fillRect/>
          </a:stretch>
        </p:blipFill>
        <p:spPr>
          <a:xfrm>
            <a:off x="9675109" y="2969007"/>
            <a:ext cx="134549" cy="195707"/>
          </a:xfrm>
          <a:prstGeom prst="rect">
            <a:avLst/>
          </a:prstGeom>
        </p:spPr>
      </p:pic>
      <p:sp>
        <p:nvSpPr>
          <p:cNvPr id="96" name="TextBox 95"/>
          <p:cNvSpPr txBox="1"/>
          <p:nvPr/>
        </p:nvSpPr>
        <p:spPr>
          <a:xfrm>
            <a:off x="9850218" y="2979230"/>
            <a:ext cx="1961728" cy="194310"/>
          </a:xfrm>
          <a:prstGeom prst="rect">
            <a:avLst/>
          </a:prstGeom>
          <a:noFill/>
        </p:spPr>
        <p:txBody>
          <a:bodyPr wrap="none" lIns="0" rIns="0" tIns="0" bIns="0">
            <a:spAutoFit/>
          </a:bodyPr>
          <a:lstStyle/>
          <a:p>
            <a:r>
              <a:rPr sz="1150" b="0">
                <a:solidFill>
                  <a:srgbClr val="2E2E2E"/>
                </a:solidFill>
                <a:latin typeface="Calibri"/>
              </a:rPr>
              <a:t>versus North America, 'U.S.' the</a:t>
            </a:r>
          </a:p>
        </p:txBody>
      </p:sp>
      <p:sp>
        <p:nvSpPr>
          <p:cNvPr id="97" name="TextBox 96"/>
          <p:cNvSpPr txBox="1"/>
          <p:nvPr/>
        </p:nvSpPr>
        <p:spPr>
          <a:xfrm>
            <a:off x="8048625" y="3154490"/>
            <a:ext cx="842962" cy="194310"/>
          </a:xfrm>
          <a:prstGeom prst="rect">
            <a:avLst/>
          </a:prstGeom>
          <a:noFill/>
        </p:spPr>
        <p:txBody>
          <a:bodyPr wrap="none" lIns="0" rIns="0" tIns="0" bIns="0">
            <a:spAutoFit/>
          </a:bodyPr>
          <a:lstStyle/>
          <a:p>
            <a:r>
              <a:rPr sz="1150" b="0">
                <a:solidFill>
                  <a:srgbClr val="2E2E2E"/>
                </a:solidFill>
                <a:latin typeface="Calibri"/>
              </a:rPr>
              <a:t>cheapest at -</a:t>
            </a:r>
          </a:p>
        </p:txBody>
      </p:sp>
      <p:pic>
        <p:nvPicPr>
          <p:cNvPr id="98" name="Picture 97" descr="lock.png"/>
          <p:cNvPicPr>
            <a:picLocks noChangeAspect="1"/>
          </p:cNvPicPr>
          <p:nvPr/>
        </p:nvPicPr>
        <p:blipFill>
          <a:blip r:embed="rId4"/>
          <a:stretch>
            <a:fillRect/>
          </a:stretch>
        </p:blipFill>
        <p:spPr>
          <a:xfrm>
            <a:off x="8840741" y="3144267"/>
            <a:ext cx="134549" cy="195707"/>
          </a:xfrm>
          <a:prstGeom prst="rect">
            <a:avLst/>
          </a:prstGeom>
        </p:spPr>
      </p:pic>
      <p:sp>
        <p:nvSpPr>
          <p:cNvPr id="99" name="TextBox 98"/>
          <p:cNvSpPr txBox="1"/>
          <p:nvPr/>
        </p:nvSpPr>
        <p:spPr>
          <a:xfrm>
            <a:off x="9015850" y="3154490"/>
            <a:ext cx="2728205" cy="194310"/>
          </a:xfrm>
          <a:prstGeom prst="rect">
            <a:avLst/>
          </a:prstGeom>
          <a:noFill/>
        </p:spPr>
        <p:txBody>
          <a:bodyPr wrap="none" lIns="0" rIns="0" tIns="0" bIns="0">
            <a:spAutoFit/>
          </a:bodyPr>
          <a:lstStyle/>
          <a:p>
            <a:r>
              <a:rPr sz="1150" b="0">
                <a:solidFill>
                  <a:srgbClr val="2E2E2E"/>
                </a:solidFill>
                <a:latin typeface="Calibri"/>
              </a:rPr>
              <a:t>pointing to premiumisation headroom in the</a:t>
            </a:r>
          </a:p>
        </p:txBody>
      </p:sp>
      <p:sp>
        <p:nvSpPr>
          <p:cNvPr id="100" name="TextBox 99"/>
          <p:cNvSpPr txBox="1"/>
          <p:nvPr/>
        </p:nvSpPr>
        <p:spPr>
          <a:xfrm>
            <a:off x="8048625" y="3329750"/>
            <a:ext cx="1458540" cy="194310"/>
          </a:xfrm>
          <a:prstGeom prst="rect">
            <a:avLst/>
          </a:prstGeom>
          <a:noFill/>
        </p:spPr>
        <p:txBody>
          <a:bodyPr wrap="none" lIns="0" rIns="0" tIns="0" bIns="0">
            <a:spAutoFit/>
          </a:bodyPr>
          <a:lstStyle/>
          <a:p>
            <a:r>
              <a:rPr sz="1150" b="0">
                <a:solidFill>
                  <a:srgbClr val="2E2E2E"/>
                </a:solidFill>
                <a:latin typeface="Calibri"/>
              </a:rPr>
              <a:t>lower-priced countries.</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Egg Protein Membrane Market Summary, By Value (US$ Mn)</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North America market value growth, incremental opportunity and the geographies driving it, 2021–2036</a:t>
            </a:r>
          </a:p>
        </p:txBody>
      </p:sp>
      <p:sp>
        <p:nvSpPr>
          <p:cNvPr id="7" name="Rounded Rectangle 6"/>
          <p:cNvSpPr/>
          <p:nvPr/>
        </p:nvSpPr>
        <p:spPr>
          <a:xfrm>
            <a:off x="142875" y="1025515"/>
            <a:ext cx="2876550" cy="511104"/>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2026 MARKET SIZE (US$ MN)</a:t>
            </a:r>
          </a:p>
          <a:p>
            <a:pPr algn="ctr">
              <a:lnSpc>
                <a:spcPct val="95000"/>
              </a:lnSpc>
            </a:pPr>
            <a:r>
              <a:rPr sz="1500" b="1">
                <a:solidFill>
                  <a:srgbClr val="2A5F8F"/>
                </a:solidFill>
                <a:latin typeface="Calibri"/>
              </a:rPr>
              <a:t> </a:t>
            </a:r>
          </a:p>
        </p:txBody>
      </p:sp>
      <p:sp>
        <p:nvSpPr>
          <p:cNvPr id="8" name="Rounded Rectangle 7"/>
          <p:cNvSpPr/>
          <p:nvPr/>
        </p:nvSpPr>
        <p:spPr>
          <a:xfrm>
            <a:off x="3143250" y="1025515"/>
            <a:ext cx="2876550" cy="511104"/>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2036 MARKET SIZE (US$ MN)</a:t>
            </a:r>
          </a:p>
          <a:p>
            <a:pPr algn="ctr">
              <a:lnSpc>
                <a:spcPct val="95000"/>
              </a:lnSpc>
            </a:pPr>
            <a:r>
              <a:rPr sz="1500" b="1">
                <a:solidFill>
                  <a:srgbClr val="2A5F8F"/>
                </a:solidFill>
                <a:latin typeface="Calibri"/>
              </a:rPr>
              <a:t> </a:t>
            </a:r>
          </a:p>
        </p:txBody>
      </p:sp>
      <p:sp>
        <p:nvSpPr>
          <p:cNvPr id="9" name="Rounded Rectangle 8"/>
          <p:cNvSpPr/>
          <p:nvPr/>
        </p:nvSpPr>
        <p:spPr>
          <a:xfrm>
            <a:off x="6153150" y="1025515"/>
            <a:ext cx="2876550" cy="511104"/>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CAGR 2021–2025</a:t>
            </a:r>
          </a:p>
          <a:p>
            <a:pPr algn="ctr">
              <a:lnSpc>
                <a:spcPct val="95000"/>
              </a:lnSpc>
            </a:pPr>
            <a:r>
              <a:rPr sz="1500" b="1">
                <a:solidFill>
                  <a:srgbClr val="2A5F8F"/>
                </a:solidFill>
                <a:latin typeface="Calibri"/>
              </a:rPr>
              <a:t> </a:t>
            </a:r>
          </a:p>
        </p:txBody>
      </p:sp>
      <p:sp>
        <p:nvSpPr>
          <p:cNvPr id="10" name="Rounded Rectangle 9"/>
          <p:cNvSpPr/>
          <p:nvPr/>
        </p:nvSpPr>
        <p:spPr>
          <a:xfrm>
            <a:off x="9163050" y="1025515"/>
            <a:ext cx="2876550" cy="511104"/>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CAGR 2026–2036</a:t>
            </a:r>
          </a:p>
          <a:p>
            <a:pPr algn="ctr">
              <a:lnSpc>
                <a:spcPct val="95000"/>
              </a:lnSpc>
            </a:pPr>
            <a:r>
              <a:rPr sz="1500" b="1">
                <a:solidFill>
                  <a:srgbClr val="2A5F8F"/>
                </a:solidFill>
                <a:latin typeface="Calibri"/>
              </a:rPr>
              <a:t> </a:t>
            </a:r>
          </a:p>
        </p:txBody>
      </p:sp>
      <p:sp>
        <p:nvSpPr>
          <p:cNvPr id="11" name="Rounded Rectangle 10"/>
          <p:cNvSpPr/>
          <p:nvPr/>
        </p:nvSpPr>
        <p:spPr>
          <a:xfrm>
            <a:off x="142875" y="1627887"/>
            <a:ext cx="7696200" cy="2354727"/>
          </a:xfrm>
          <a:prstGeom prst="roundRect">
            <a:avLst>
              <a:gd name="adj" fmla="val 3236"/>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685037"/>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CAGR (2021–2036)</a:t>
            </a:r>
          </a:p>
        </p:txBody>
      </p:sp>
      <p:graphicFrame>
        <p:nvGraphicFramePr>
          <p:cNvPr id="13" name="Chart 12"/>
          <p:cNvGraphicFramePr>
            <a:graphicFrameLocks noGrp="1"/>
          </p:cNvGraphicFramePr>
          <p:nvPr/>
        </p:nvGraphicFramePr>
        <p:xfrm>
          <a:off x="238125" y="1913637"/>
          <a:ext cx="7505700" cy="2011827"/>
        </p:xfrm>
        <a:graphic>
          <a:graphicData uri="http://schemas.openxmlformats.org/drawingml/2006/chart">
            <c:chart xmlns:c="http://schemas.openxmlformats.org/drawingml/2006/chart" r:id="rId3"/>
          </a:graphicData>
        </a:graphic>
      </p:graphicFrame>
      <p:sp>
        <p:nvSpPr>
          <p:cNvPr id="14" name="Rounded Rectangle 13"/>
          <p:cNvSpPr/>
          <p:nvPr/>
        </p:nvSpPr>
        <p:spPr>
          <a:xfrm>
            <a:off x="142875" y="4037375"/>
            <a:ext cx="7696200" cy="2519010"/>
          </a:xfrm>
          <a:prstGeom prst="roundRect">
            <a:avLst>
              <a:gd name="adj" fmla="val 3024"/>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8125" y="4094525"/>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Incremental Market Addition (US$ Mn)</a:t>
            </a:r>
          </a:p>
        </p:txBody>
      </p:sp>
      <p:graphicFrame>
        <p:nvGraphicFramePr>
          <p:cNvPr id="16" name="Chart 15"/>
          <p:cNvGraphicFramePr>
            <a:graphicFrameLocks noGrp="1"/>
          </p:cNvGraphicFramePr>
          <p:nvPr/>
        </p:nvGraphicFramePr>
        <p:xfrm>
          <a:off x="238125" y="4323125"/>
          <a:ext cx="7505700" cy="2176110"/>
        </p:xfrm>
        <a:graphic>
          <a:graphicData uri="http://schemas.openxmlformats.org/drawingml/2006/chart">
            <c:chart xmlns:c="http://schemas.openxmlformats.org/drawingml/2006/chart" r:id="rId4"/>
          </a:graphicData>
        </a:graphic>
      </p:graphicFrame>
      <p:sp>
        <p:nvSpPr>
          <p:cNvPr id="17" name="Rounded Rectangle 16"/>
          <p:cNvSpPr/>
          <p:nvPr/>
        </p:nvSpPr>
        <p:spPr>
          <a:xfrm>
            <a:off x="7915275" y="1627887"/>
            <a:ext cx="4133850" cy="3051231"/>
          </a:xfrm>
          <a:prstGeom prst="roundRect">
            <a:avLst>
              <a:gd name="adj" fmla="val 2497"/>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48625" y="1713612"/>
            <a:ext cx="3867150" cy="209550"/>
          </a:xfrm>
          <a:prstGeom prst="rect">
            <a:avLst/>
          </a:prstGeom>
          <a:noFill/>
        </p:spPr>
        <p:txBody>
          <a:bodyPr wrap="square" lIns="0" rIns="19050" tIns="9525" bIns="9525">
            <a:spAutoFit/>
          </a:bodyPr>
          <a:lstStyle/>
          <a:p>
            <a:pPr algn="l"/>
            <a:r>
              <a:rPr sz="1300" b="1">
                <a:solidFill>
                  <a:srgbClr val="0E2A5C"/>
                </a:solidFill>
                <a:latin typeface="Calibri"/>
              </a:rPr>
              <a:t>Key Insights</a:t>
            </a:r>
          </a:p>
        </p:txBody>
      </p:sp>
      <p:sp>
        <p:nvSpPr>
          <p:cNvPr id="19" name="Rectangle 18"/>
          <p:cNvSpPr/>
          <p:nvPr/>
        </p:nvSpPr>
        <p:spPr>
          <a:xfrm>
            <a:off x="8048625" y="1951737"/>
            <a:ext cx="38671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048625" y="2037462"/>
            <a:ext cx="3867150" cy="2565456"/>
          </a:xfrm>
          <a:prstGeom prst="rect">
            <a:avLst/>
          </a:prstGeom>
          <a:noFill/>
        </p:spPr>
        <p:txBody>
          <a:bodyPr wrap="square" lIns="0" rIns="19050" tIns="9525" bIns="9525">
            <a:spAutoFit/>
          </a:bodyPr>
          <a:lstStyle/>
          <a:p>
            <a:pPr algn="l">
              <a:lnSpc>
                <a:spcPct val="100000"/>
              </a:lnSpc>
              <a:spcBef>
                <a:spcPts val="0"/>
              </a:spcBef>
              <a:spcAft>
                <a:spcPts val="300"/>
              </a:spcAft>
            </a:pPr>
            <a:r>
              <a:rPr sz="1100" b="0">
                <a:solidFill>
                  <a:srgbClr val="2E2E2E"/>
                </a:solidFill>
                <a:latin typeface="Calibri"/>
              </a:rPr>
              <a:t/>
            </a:r>
          </a:p>
          <a:p>
            <a:pPr algn="l">
              <a:lnSpc>
                <a:spcPct val="100000"/>
              </a:lnSpc>
              <a:spcBef>
                <a:spcPts val="0"/>
              </a:spcBef>
              <a:spcAft>
                <a:spcPts val="300"/>
              </a:spcAft>
            </a:pPr>
            <a:r>
              <a:rPr sz="1100" b="0">
                <a:solidFill>
                  <a:srgbClr val="2E2E2E"/>
                </a:solidFill>
                <a:latin typeface="Calibri"/>
              </a:rPr>
              <a:t/>
            </a:r>
          </a:p>
          <a:p>
            <a:pPr algn="l">
              <a:lnSpc>
                <a:spcPct val="100000"/>
              </a:lnSpc>
              <a:spcBef>
                <a:spcPts val="0"/>
              </a:spcBef>
              <a:spcAft>
                <a:spcPts val="300"/>
              </a:spcAft>
            </a:pPr>
            <a:r>
              <a:rPr sz="1100" b="0">
                <a:solidFill>
                  <a:srgbClr val="2E2E2E"/>
                </a:solidFill>
                <a:latin typeface="Calibri"/>
              </a:rPr>
              <a:t/>
            </a:r>
          </a:p>
        </p:txBody>
      </p:sp>
      <p:sp>
        <p:nvSpPr>
          <p:cNvPr id="21" name="Rounded Rectangle 20"/>
          <p:cNvSpPr/>
          <p:nvPr/>
        </p:nvSpPr>
        <p:spPr>
          <a:xfrm>
            <a:off x="7915275" y="4733879"/>
            <a:ext cx="4133850" cy="1822506"/>
          </a:xfrm>
          <a:prstGeom prst="roundRect">
            <a:avLst>
              <a:gd name="adj" fmla="val 4181"/>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48625" y="4819604"/>
            <a:ext cx="3867150" cy="209550"/>
          </a:xfrm>
          <a:prstGeom prst="rect">
            <a:avLst/>
          </a:prstGeom>
          <a:noFill/>
        </p:spPr>
        <p:txBody>
          <a:bodyPr wrap="square" lIns="0" rIns="19050" tIns="9525" bIns="9525">
            <a:spAutoFit/>
          </a:bodyPr>
          <a:lstStyle/>
          <a:p>
            <a:pPr algn="l"/>
            <a:r>
              <a:rPr sz="1300" b="1">
                <a:solidFill>
                  <a:srgbClr val="0E2A5C"/>
                </a:solidFill>
                <a:latin typeface="Calibri"/>
              </a:rPr>
              <a:t>Growth Drivers</a:t>
            </a:r>
          </a:p>
        </p:txBody>
      </p:sp>
      <p:sp>
        <p:nvSpPr>
          <p:cNvPr id="23" name="Rectangle 22"/>
          <p:cNvSpPr/>
          <p:nvPr/>
        </p:nvSpPr>
        <p:spPr>
          <a:xfrm>
            <a:off x="8048625" y="5057729"/>
            <a:ext cx="38671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048625" y="5143454"/>
            <a:ext cx="3867150" cy="1336731"/>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p:txBody>
      </p:sp>
      <p:sp>
        <p:nvSpPr>
          <p:cNvPr id="25" name="Rectangle 24"/>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27" name="Picture 26" descr="lock.png"/>
          <p:cNvPicPr>
            <a:picLocks noChangeAspect="1"/>
          </p:cNvPicPr>
          <p:nvPr/>
        </p:nvPicPr>
        <p:blipFill>
          <a:blip r:embed="rId6"/>
          <a:stretch>
            <a:fillRect/>
          </a:stretch>
        </p:blipFill>
        <p:spPr>
          <a:xfrm>
            <a:off x="1502569" y="1250587"/>
            <a:ext cx="157162" cy="228600"/>
          </a:xfrm>
          <a:prstGeom prst="rect">
            <a:avLst/>
          </a:prstGeom>
        </p:spPr>
      </p:pic>
      <p:pic>
        <p:nvPicPr>
          <p:cNvPr id="28" name="Picture 27" descr="lock.png"/>
          <p:cNvPicPr>
            <a:picLocks noChangeAspect="1"/>
          </p:cNvPicPr>
          <p:nvPr/>
        </p:nvPicPr>
        <p:blipFill>
          <a:blip r:embed="rId6"/>
          <a:stretch>
            <a:fillRect/>
          </a:stretch>
        </p:blipFill>
        <p:spPr>
          <a:xfrm>
            <a:off x="4502944" y="1250587"/>
            <a:ext cx="157162" cy="228600"/>
          </a:xfrm>
          <a:prstGeom prst="rect">
            <a:avLst/>
          </a:prstGeom>
        </p:spPr>
      </p:pic>
      <p:pic>
        <p:nvPicPr>
          <p:cNvPr id="29" name="Picture 28" descr="lock.png"/>
          <p:cNvPicPr>
            <a:picLocks noChangeAspect="1"/>
          </p:cNvPicPr>
          <p:nvPr/>
        </p:nvPicPr>
        <p:blipFill>
          <a:blip r:embed="rId6"/>
          <a:stretch>
            <a:fillRect/>
          </a:stretch>
        </p:blipFill>
        <p:spPr>
          <a:xfrm>
            <a:off x="7512844" y="1250587"/>
            <a:ext cx="157162" cy="228600"/>
          </a:xfrm>
          <a:prstGeom prst="rect">
            <a:avLst/>
          </a:prstGeom>
        </p:spPr>
      </p:pic>
      <p:pic>
        <p:nvPicPr>
          <p:cNvPr id="30" name="Picture 29" descr="lock.png"/>
          <p:cNvPicPr>
            <a:picLocks noChangeAspect="1"/>
          </p:cNvPicPr>
          <p:nvPr/>
        </p:nvPicPr>
        <p:blipFill>
          <a:blip r:embed="rId6"/>
          <a:stretch>
            <a:fillRect/>
          </a:stretch>
        </p:blipFill>
        <p:spPr>
          <a:xfrm>
            <a:off x="10522744" y="1250587"/>
            <a:ext cx="157162" cy="228600"/>
          </a:xfrm>
          <a:prstGeom prst="rect">
            <a:avLst/>
          </a:prstGeom>
        </p:spPr>
      </p:pic>
      <p:pic>
        <p:nvPicPr>
          <p:cNvPr id="31" name="Picture 30" descr="lock.png"/>
          <p:cNvPicPr>
            <a:picLocks noChangeAspect="1"/>
          </p:cNvPicPr>
          <p:nvPr/>
        </p:nvPicPr>
        <p:blipFill>
          <a:blip r:embed="rId6"/>
          <a:stretch>
            <a:fillRect/>
          </a:stretch>
        </p:blipFill>
        <p:spPr>
          <a:xfrm>
            <a:off x="3991062" y="5157531"/>
            <a:ext cx="289830" cy="421571"/>
          </a:xfrm>
          <a:prstGeom prst="rect">
            <a:avLst/>
          </a:prstGeom>
        </p:spPr>
      </p:pic>
      <p:sp>
        <p:nvSpPr>
          <p:cNvPr id="32" name="TextBox 31"/>
          <p:cNvSpPr txBox="1"/>
          <p:nvPr/>
        </p:nvSpPr>
        <p:spPr>
          <a:xfrm>
            <a:off x="8048625" y="2046987"/>
            <a:ext cx="3832820" cy="186689"/>
          </a:xfrm>
          <a:prstGeom prst="rect">
            <a:avLst/>
          </a:prstGeom>
          <a:noFill/>
        </p:spPr>
        <p:txBody>
          <a:bodyPr wrap="none" lIns="0" rIns="0" tIns="0" bIns="0">
            <a:spAutoFit/>
          </a:bodyPr>
          <a:lstStyle/>
          <a:p>
            <a:r>
              <a:rPr sz="1100" b="0">
                <a:solidFill>
                  <a:srgbClr val="2E2E2E"/>
                </a:solidFill>
                <a:latin typeface="Calibri"/>
              </a:rPr>
              <a:t>Egg protein membrane market value in North America is expected</a:t>
            </a:r>
          </a:p>
        </p:txBody>
      </p:sp>
      <p:sp>
        <p:nvSpPr>
          <p:cNvPr id="33" name="TextBox 32"/>
          <p:cNvSpPr txBox="1"/>
          <p:nvPr/>
        </p:nvSpPr>
        <p:spPr>
          <a:xfrm>
            <a:off x="8048625" y="2214627"/>
            <a:ext cx="702667" cy="186689"/>
          </a:xfrm>
          <a:prstGeom prst="rect">
            <a:avLst/>
          </a:prstGeom>
          <a:noFill/>
        </p:spPr>
        <p:txBody>
          <a:bodyPr wrap="none" lIns="0" rIns="0" tIns="0" bIns="0">
            <a:spAutoFit/>
          </a:bodyPr>
          <a:lstStyle/>
          <a:p>
            <a:r>
              <a:rPr sz="1100" b="0">
                <a:solidFill>
                  <a:srgbClr val="2E2E2E"/>
                </a:solidFill>
                <a:latin typeface="Calibri"/>
              </a:rPr>
              <a:t>to increase</a:t>
            </a:r>
          </a:p>
        </p:txBody>
      </p:sp>
      <p:pic>
        <p:nvPicPr>
          <p:cNvPr id="34" name="Picture 33" descr="lock.png"/>
          <p:cNvPicPr>
            <a:picLocks noChangeAspect="1"/>
          </p:cNvPicPr>
          <p:nvPr/>
        </p:nvPicPr>
        <p:blipFill>
          <a:blip r:embed="rId6"/>
          <a:stretch>
            <a:fillRect/>
          </a:stretch>
        </p:blipFill>
        <p:spPr>
          <a:xfrm>
            <a:off x="8699343" y="2204848"/>
            <a:ext cx="128699" cy="187198"/>
          </a:xfrm>
          <a:prstGeom prst="rect">
            <a:avLst/>
          </a:prstGeom>
        </p:spPr>
      </p:pic>
      <p:sp>
        <p:nvSpPr>
          <p:cNvPr id="35" name="TextBox 34"/>
          <p:cNvSpPr txBox="1"/>
          <p:nvPr/>
        </p:nvSpPr>
        <p:spPr>
          <a:xfrm>
            <a:off x="8866839" y="2214627"/>
            <a:ext cx="2988617" cy="186689"/>
          </a:xfrm>
          <a:prstGeom prst="rect">
            <a:avLst/>
          </a:prstGeom>
          <a:noFill/>
        </p:spPr>
        <p:txBody>
          <a:bodyPr wrap="none" lIns="0" rIns="0" tIns="0" bIns="0">
            <a:spAutoFit/>
          </a:bodyPr>
          <a:lstStyle/>
          <a:p>
            <a:r>
              <a:rPr sz="1100" b="0">
                <a:solidFill>
                  <a:srgbClr val="2E2E2E"/>
                </a:solidFill>
                <a:latin typeface="Calibri"/>
              </a:rPr>
              <a:t>X between 2025 and 2036. In 2025, the egg protein</a:t>
            </a:r>
          </a:p>
        </p:txBody>
      </p:sp>
      <p:sp>
        <p:nvSpPr>
          <p:cNvPr id="36" name="TextBox 35"/>
          <p:cNvSpPr txBox="1"/>
          <p:nvPr/>
        </p:nvSpPr>
        <p:spPr>
          <a:xfrm>
            <a:off x="8048625" y="2382267"/>
            <a:ext cx="3207717" cy="186689"/>
          </a:xfrm>
          <a:prstGeom prst="rect">
            <a:avLst/>
          </a:prstGeom>
          <a:noFill/>
        </p:spPr>
        <p:txBody>
          <a:bodyPr wrap="none" lIns="0" rIns="0" tIns="0" bIns="0">
            <a:spAutoFit/>
          </a:bodyPr>
          <a:lstStyle/>
          <a:p>
            <a:r>
              <a:rPr sz="1100" b="0">
                <a:solidFill>
                  <a:srgbClr val="2E2E2E"/>
                </a:solidFill>
                <a:latin typeface="Calibri"/>
              </a:rPr>
              <a:t>membrane market in North America was valued at US$</a:t>
            </a:r>
          </a:p>
        </p:txBody>
      </p:sp>
      <p:pic>
        <p:nvPicPr>
          <p:cNvPr id="37" name="Picture 36" descr="lock.png"/>
          <p:cNvPicPr>
            <a:picLocks noChangeAspect="1"/>
          </p:cNvPicPr>
          <p:nvPr/>
        </p:nvPicPr>
        <p:blipFill>
          <a:blip r:embed="rId6"/>
          <a:stretch>
            <a:fillRect/>
          </a:stretch>
        </p:blipFill>
        <p:spPr>
          <a:xfrm>
            <a:off x="11204393" y="2372488"/>
            <a:ext cx="128699" cy="187198"/>
          </a:xfrm>
          <a:prstGeom prst="rect">
            <a:avLst/>
          </a:prstGeom>
        </p:spPr>
      </p:pic>
      <p:sp>
        <p:nvSpPr>
          <p:cNvPr id="38" name="TextBox 37"/>
          <p:cNvSpPr txBox="1"/>
          <p:nvPr/>
        </p:nvSpPr>
        <p:spPr>
          <a:xfrm>
            <a:off x="11371889" y="2382267"/>
            <a:ext cx="514399" cy="186689"/>
          </a:xfrm>
          <a:prstGeom prst="rect">
            <a:avLst/>
          </a:prstGeom>
          <a:noFill/>
        </p:spPr>
        <p:txBody>
          <a:bodyPr wrap="none" lIns="0" rIns="0" tIns="0" bIns="0">
            <a:spAutoFit/>
          </a:bodyPr>
          <a:lstStyle/>
          <a:p>
            <a:r>
              <a:rPr sz="1100" b="0">
                <a:solidFill>
                  <a:srgbClr val="2E2E2E"/>
                </a:solidFill>
                <a:latin typeface="Calibri"/>
              </a:rPr>
              <a:t>Mn and</a:t>
            </a:r>
          </a:p>
        </p:txBody>
      </p:sp>
      <p:sp>
        <p:nvSpPr>
          <p:cNvPr id="39" name="TextBox 38"/>
          <p:cNvSpPr txBox="1"/>
          <p:nvPr/>
        </p:nvSpPr>
        <p:spPr>
          <a:xfrm>
            <a:off x="8048625" y="2549907"/>
            <a:ext cx="1856010" cy="186689"/>
          </a:xfrm>
          <a:prstGeom prst="rect">
            <a:avLst/>
          </a:prstGeom>
          <a:noFill/>
        </p:spPr>
        <p:txBody>
          <a:bodyPr wrap="none" lIns="0" rIns="0" tIns="0" bIns="0">
            <a:spAutoFit/>
          </a:bodyPr>
          <a:lstStyle/>
          <a:p>
            <a:r>
              <a:rPr sz="1100" b="0">
                <a:solidFill>
                  <a:srgbClr val="2E2E2E"/>
                </a:solidFill>
                <a:latin typeface="Calibri"/>
              </a:rPr>
              <a:t>is estimated to account for US$</a:t>
            </a:r>
          </a:p>
        </p:txBody>
      </p:sp>
      <p:pic>
        <p:nvPicPr>
          <p:cNvPr id="40" name="Picture 39" descr="lock.png"/>
          <p:cNvPicPr>
            <a:picLocks noChangeAspect="1"/>
          </p:cNvPicPr>
          <p:nvPr/>
        </p:nvPicPr>
        <p:blipFill>
          <a:blip r:embed="rId6"/>
          <a:stretch>
            <a:fillRect/>
          </a:stretch>
        </p:blipFill>
        <p:spPr>
          <a:xfrm>
            <a:off x="9852687" y="2540128"/>
            <a:ext cx="128699" cy="187198"/>
          </a:xfrm>
          <a:prstGeom prst="rect">
            <a:avLst/>
          </a:prstGeom>
        </p:spPr>
      </p:pic>
      <p:sp>
        <p:nvSpPr>
          <p:cNvPr id="41" name="TextBox 40"/>
          <p:cNvSpPr txBox="1"/>
          <p:nvPr/>
        </p:nvSpPr>
        <p:spPr>
          <a:xfrm>
            <a:off x="10020183" y="2549907"/>
            <a:ext cx="1405259" cy="186689"/>
          </a:xfrm>
          <a:prstGeom prst="rect">
            <a:avLst/>
          </a:prstGeom>
          <a:noFill/>
        </p:spPr>
        <p:txBody>
          <a:bodyPr wrap="none" lIns="0" rIns="0" tIns="0" bIns="0">
            <a:spAutoFit/>
          </a:bodyPr>
          <a:lstStyle/>
          <a:p>
            <a:r>
              <a:rPr sz="1100" b="0">
                <a:solidFill>
                  <a:srgbClr val="2E2E2E"/>
                </a:solidFill>
                <a:latin typeface="Calibri"/>
              </a:rPr>
              <a:t>Mn by the end of 2026,</a:t>
            </a:r>
          </a:p>
        </p:txBody>
      </p:sp>
      <p:sp>
        <p:nvSpPr>
          <p:cNvPr id="42" name="TextBox 41"/>
          <p:cNvSpPr txBox="1"/>
          <p:nvPr/>
        </p:nvSpPr>
        <p:spPr>
          <a:xfrm>
            <a:off x="8048625" y="2717547"/>
            <a:ext cx="1894209" cy="186689"/>
          </a:xfrm>
          <a:prstGeom prst="rect">
            <a:avLst/>
          </a:prstGeom>
          <a:noFill/>
        </p:spPr>
        <p:txBody>
          <a:bodyPr wrap="none" lIns="0" rIns="0" tIns="0" bIns="0">
            <a:spAutoFit/>
          </a:bodyPr>
          <a:lstStyle/>
          <a:p>
            <a:r>
              <a:rPr sz="1100" b="0">
                <a:solidFill>
                  <a:srgbClr val="2E2E2E"/>
                </a:solidFill>
                <a:latin typeface="Calibri"/>
              </a:rPr>
              <a:t>reflecting a Y-o-Y growth rate of</a:t>
            </a:r>
          </a:p>
        </p:txBody>
      </p:sp>
      <p:pic>
        <p:nvPicPr>
          <p:cNvPr id="43" name="Picture 42" descr="lock.png"/>
          <p:cNvPicPr>
            <a:picLocks noChangeAspect="1"/>
          </p:cNvPicPr>
          <p:nvPr/>
        </p:nvPicPr>
        <p:blipFill>
          <a:blip r:embed="rId6"/>
          <a:stretch>
            <a:fillRect/>
          </a:stretch>
        </p:blipFill>
        <p:spPr>
          <a:xfrm>
            <a:off x="9890886" y="2707768"/>
            <a:ext cx="128699" cy="187198"/>
          </a:xfrm>
          <a:prstGeom prst="rect">
            <a:avLst/>
          </a:prstGeom>
        </p:spPr>
      </p:pic>
      <p:sp>
        <p:nvSpPr>
          <p:cNvPr id="44" name="TextBox 43"/>
          <p:cNvSpPr txBox="1"/>
          <p:nvPr/>
        </p:nvSpPr>
        <p:spPr>
          <a:xfrm>
            <a:off x="10058382" y="2717547"/>
            <a:ext cx="111397" cy="186689"/>
          </a:xfrm>
          <a:prstGeom prst="rect">
            <a:avLst/>
          </a:prstGeom>
          <a:noFill/>
        </p:spPr>
        <p:txBody>
          <a:bodyPr wrap="none" lIns="0" rIns="0" tIns="0" bIns="0">
            <a:spAutoFit/>
          </a:bodyPr>
          <a:lstStyle/>
          <a:p>
            <a:r>
              <a:rPr sz="1100" b="0">
                <a:solidFill>
                  <a:srgbClr val="2E2E2E"/>
                </a:solidFill>
                <a:latin typeface="Calibri"/>
              </a:rPr>
              <a:t>.</a:t>
            </a:r>
          </a:p>
        </p:txBody>
      </p:sp>
      <p:sp>
        <p:nvSpPr>
          <p:cNvPr id="45" name="TextBox 44"/>
          <p:cNvSpPr txBox="1"/>
          <p:nvPr/>
        </p:nvSpPr>
        <p:spPr>
          <a:xfrm>
            <a:off x="8048625" y="2935479"/>
            <a:ext cx="3491210" cy="186689"/>
          </a:xfrm>
          <a:prstGeom prst="rect">
            <a:avLst/>
          </a:prstGeom>
          <a:noFill/>
        </p:spPr>
        <p:txBody>
          <a:bodyPr wrap="none" lIns="0" rIns="0" tIns="0" bIns="0">
            <a:spAutoFit/>
          </a:bodyPr>
          <a:lstStyle/>
          <a:p>
            <a:r>
              <a:rPr sz="1100" b="0">
                <a:solidFill>
                  <a:srgbClr val="2E2E2E"/>
                </a:solidFill>
                <a:latin typeface="Calibri"/>
              </a:rPr>
              <a:t>The market in North America is expected to account for US$</a:t>
            </a:r>
          </a:p>
        </p:txBody>
      </p:sp>
      <p:pic>
        <p:nvPicPr>
          <p:cNvPr id="46" name="Picture 45" descr="lock.png"/>
          <p:cNvPicPr>
            <a:picLocks noChangeAspect="1"/>
          </p:cNvPicPr>
          <p:nvPr/>
        </p:nvPicPr>
        <p:blipFill>
          <a:blip r:embed="rId6"/>
          <a:stretch>
            <a:fillRect/>
          </a:stretch>
        </p:blipFill>
        <p:spPr>
          <a:xfrm>
            <a:off x="8035157" y="3093340"/>
            <a:ext cx="128699" cy="187198"/>
          </a:xfrm>
          <a:prstGeom prst="rect">
            <a:avLst/>
          </a:prstGeom>
        </p:spPr>
      </p:pic>
      <p:sp>
        <p:nvSpPr>
          <p:cNvPr id="47" name="TextBox 46"/>
          <p:cNvSpPr txBox="1"/>
          <p:nvPr/>
        </p:nvSpPr>
        <p:spPr>
          <a:xfrm>
            <a:off x="8202653" y="3103119"/>
            <a:ext cx="1495556" cy="186689"/>
          </a:xfrm>
          <a:prstGeom prst="rect">
            <a:avLst/>
          </a:prstGeom>
          <a:noFill/>
        </p:spPr>
        <p:txBody>
          <a:bodyPr wrap="none" lIns="0" rIns="0" tIns="0" bIns="0">
            <a:spAutoFit/>
          </a:bodyPr>
          <a:lstStyle/>
          <a:p>
            <a:r>
              <a:rPr sz="1100" b="0">
                <a:solidFill>
                  <a:srgbClr val="2E2E2E"/>
                </a:solidFill>
                <a:latin typeface="Calibri"/>
              </a:rPr>
              <a:t>Mn by 2036 at a CAGR of</a:t>
            </a:r>
          </a:p>
        </p:txBody>
      </p:sp>
      <p:pic>
        <p:nvPicPr>
          <p:cNvPr id="48" name="Picture 47" descr="lock.png"/>
          <p:cNvPicPr>
            <a:picLocks noChangeAspect="1"/>
          </p:cNvPicPr>
          <p:nvPr/>
        </p:nvPicPr>
        <p:blipFill>
          <a:blip r:embed="rId6"/>
          <a:stretch>
            <a:fillRect/>
          </a:stretch>
        </p:blipFill>
        <p:spPr>
          <a:xfrm>
            <a:off x="9646261" y="3093340"/>
            <a:ext cx="128699" cy="187198"/>
          </a:xfrm>
          <a:prstGeom prst="rect">
            <a:avLst/>
          </a:prstGeom>
        </p:spPr>
      </p:pic>
      <p:sp>
        <p:nvSpPr>
          <p:cNvPr id="49" name="TextBox 48"/>
          <p:cNvSpPr txBox="1"/>
          <p:nvPr/>
        </p:nvSpPr>
        <p:spPr>
          <a:xfrm>
            <a:off x="9813757" y="3103119"/>
            <a:ext cx="1849462" cy="186689"/>
          </a:xfrm>
          <a:prstGeom prst="rect">
            <a:avLst/>
          </a:prstGeom>
          <a:noFill/>
        </p:spPr>
        <p:txBody>
          <a:bodyPr wrap="none" lIns="0" rIns="0" tIns="0" bIns="0">
            <a:spAutoFit/>
          </a:bodyPr>
          <a:lstStyle/>
          <a:p>
            <a:r>
              <a:rPr sz="1100" b="0">
                <a:solidFill>
                  <a:srgbClr val="2E2E2E"/>
                </a:solidFill>
                <a:latin typeface="Calibri"/>
              </a:rPr>
              <a:t>over the forecast period. North</a:t>
            </a:r>
          </a:p>
        </p:txBody>
      </p:sp>
      <p:sp>
        <p:nvSpPr>
          <p:cNvPr id="50" name="TextBox 49"/>
          <p:cNvSpPr txBox="1"/>
          <p:nvPr/>
        </p:nvSpPr>
        <p:spPr>
          <a:xfrm>
            <a:off x="8048625" y="3270759"/>
            <a:ext cx="3764880" cy="186689"/>
          </a:xfrm>
          <a:prstGeom prst="rect">
            <a:avLst/>
          </a:prstGeom>
          <a:noFill/>
        </p:spPr>
        <p:txBody>
          <a:bodyPr wrap="none" lIns="0" rIns="0" tIns="0" bIns="0">
            <a:spAutoFit/>
          </a:bodyPr>
          <a:lstStyle/>
          <a:p>
            <a:r>
              <a:rPr sz="1100" b="0">
                <a:solidFill>
                  <a:srgbClr val="2E2E2E"/>
                </a:solidFill>
                <a:latin typeface="Calibri"/>
              </a:rPr>
              <a:t>America is expected to create an incremental opportunity of US$</a:t>
            </a:r>
          </a:p>
        </p:txBody>
      </p:sp>
      <p:pic>
        <p:nvPicPr>
          <p:cNvPr id="51" name="Picture 50" descr="lock.png"/>
          <p:cNvPicPr>
            <a:picLocks noChangeAspect="1"/>
          </p:cNvPicPr>
          <p:nvPr/>
        </p:nvPicPr>
        <p:blipFill>
          <a:blip r:embed="rId6"/>
          <a:stretch>
            <a:fillRect/>
          </a:stretch>
        </p:blipFill>
        <p:spPr>
          <a:xfrm>
            <a:off x="8035157" y="3428620"/>
            <a:ext cx="128699" cy="187198"/>
          </a:xfrm>
          <a:prstGeom prst="rect">
            <a:avLst/>
          </a:prstGeom>
        </p:spPr>
      </p:pic>
      <p:sp>
        <p:nvSpPr>
          <p:cNvPr id="52" name="TextBox 51"/>
          <p:cNvSpPr txBox="1"/>
          <p:nvPr/>
        </p:nvSpPr>
        <p:spPr>
          <a:xfrm>
            <a:off x="8202653" y="3438399"/>
            <a:ext cx="3659286" cy="186689"/>
          </a:xfrm>
          <a:prstGeom prst="rect">
            <a:avLst/>
          </a:prstGeom>
          <a:noFill/>
        </p:spPr>
        <p:txBody>
          <a:bodyPr wrap="none" lIns="0" rIns="0" tIns="0" bIns="0">
            <a:spAutoFit/>
          </a:bodyPr>
          <a:lstStyle/>
          <a:p>
            <a:r>
              <a:rPr sz="1100" b="0">
                <a:solidFill>
                  <a:srgbClr val="2E2E2E"/>
                </a:solidFill>
                <a:latin typeface="Calibri"/>
              </a:rPr>
              <a:t>Mn for the overall egg protein membrane market from 2025 to</a:t>
            </a:r>
          </a:p>
        </p:txBody>
      </p:sp>
      <p:sp>
        <p:nvSpPr>
          <p:cNvPr id="53" name="TextBox 52"/>
          <p:cNvSpPr txBox="1"/>
          <p:nvPr/>
        </p:nvSpPr>
        <p:spPr>
          <a:xfrm>
            <a:off x="8048625" y="3606039"/>
            <a:ext cx="395163" cy="186689"/>
          </a:xfrm>
          <a:prstGeom prst="rect">
            <a:avLst/>
          </a:prstGeom>
          <a:noFill/>
        </p:spPr>
        <p:txBody>
          <a:bodyPr wrap="none" lIns="0" rIns="0" tIns="0" bIns="0">
            <a:spAutoFit/>
          </a:bodyPr>
          <a:lstStyle/>
          <a:p>
            <a:r>
              <a:rPr sz="1100" b="0">
                <a:solidFill>
                  <a:srgbClr val="2E2E2E"/>
                </a:solidFill>
                <a:latin typeface="Calibri"/>
              </a:rPr>
              <a:t>2036.</a:t>
            </a:r>
          </a:p>
        </p:txBody>
      </p:sp>
      <p:sp>
        <p:nvSpPr>
          <p:cNvPr id="54" name="TextBox 53"/>
          <p:cNvSpPr txBox="1"/>
          <p:nvPr/>
        </p:nvSpPr>
        <p:spPr>
          <a:xfrm>
            <a:off x="8048625" y="3823971"/>
            <a:ext cx="2837184" cy="186689"/>
          </a:xfrm>
          <a:prstGeom prst="rect">
            <a:avLst/>
          </a:prstGeom>
          <a:noFill/>
        </p:spPr>
        <p:txBody>
          <a:bodyPr wrap="none" lIns="0" rIns="0" tIns="0" bIns="0">
            <a:spAutoFit/>
          </a:bodyPr>
          <a:lstStyle/>
          <a:p>
            <a:r>
              <a:rPr sz="1100" b="0">
                <a:solidFill>
                  <a:srgbClr val="2E2E2E"/>
                </a:solidFill>
                <a:latin typeface="Calibri"/>
              </a:rPr>
              <a:t>Absolute $ value for 2026 is estimated to be US$</a:t>
            </a:r>
          </a:p>
        </p:txBody>
      </p:sp>
      <p:pic>
        <p:nvPicPr>
          <p:cNvPr id="55" name="Picture 54" descr="lock.png"/>
          <p:cNvPicPr>
            <a:picLocks noChangeAspect="1"/>
          </p:cNvPicPr>
          <p:nvPr/>
        </p:nvPicPr>
        <p:blipFill>
          <a:blip r:embed="rId6"/>
          <a:stretch>
            <a:fillRect/>
          </a:stretch>
        </p:blipFill>
        <p:spPr>
          <a:xfrm>
            <a:off x="10833861" y="3814192"/>
            <a:ext cx="128699" cy="187198"/>
          </a:xfrm>
          <a:prstGeom prst="rect">
            <a:avLst/>
          </a:prstGeom>
        </p:spPr>
      </p:pic>
      <p:sp>
        <p:nvSpPr>
          <p:cNvPr id="56" name="TextBox 55"/>
          <p:cNvSpPr txBox="1"/>
          <p:nvPr/>
        </p:nvSpPr>
        <p:spPr>
          <a:xfrm>
            <a:off x="11001357" y="3823971"/>
            <a:ext cx="304303" cy="186689"/>
          </a:xfrm>
          <a:prstGeom prst="rect">
            <a:avLst/>
          </a:prstGeom>
          <a:noFill/>
        </p:spPr>
        <p:txBody>
          <a:bodyPr wrap="none" lIns="0" rIns="0" tIns="0" bIns="0">
            <a:spAutoFit/>
          </a:bodyPr>
          <a:lstStyle/>
          <a:p>
            <a:r>
              <a:rPr sz="1100" b="0">
                <a:solidFill>
                  <a:srgbClr val="2E2E2E"/>
                </a:solidFill>
                <a:latin typeface="Calibri"/>
              </a:rPr>
              <a:t>Mn.</a:t>
            </a:r>
          </a:p>
        </p:txBody>
      </p:sp>
      <p:sp>
        <p:nvSpPr>
          <p:cNvPr id="57" name="TextBox 56"/>
          <p:cNvSpPr txBox="1"/>
          <p:nvPr/>
        </p:nvSpPr>
        <p:spPr>
          <a:xfrm>
            <a:off x="8048625" y="5152979"/>
            <a:ext cx="2138300" cy="194310"/>
          </a:xfrm>
          <a:prstGeom prst="rect">
            <a:avLst/>
          </a:prstGeom>
          <a:noFill/>
        </p:spPr>
        <p:txBody>
          <a:bodyPr wrap="none" lIns="0" rIns="0" tIns="0" bIns="0">
            <a:spAutoFit/>
          </a:bodyPr>
          <a:lstStyle/>
          <a:p>
            <a:r>
              <a:rPr sz="1150" b="0">
                <a:solidFill>
                  <a:srgbClr val="2E2E2E"/>
                </a:solidFill>
                <a:latin typeface="Calibri"/>
              </a:rPr>
              <a:t>▪ 'Canada' leads regional growth at</a:t>
            </a:r>
          </a:p>
        </p:txBody>
      </p:sp>
      <p:pic>
        <p:nvPicPr>
          <p:cNvPr id="58" name="Picture 57" descr="lock.png"/>
          <p:cNvPicPr>
            <a:picLocks noChangeAspect="1"/>
          </p:cNvPicPr>
          <p:nvPr/>
        </p:nvPicPr>
        <p:blipFill>
          <a:blip r:embed="rId6"/>
          <a:stretch>
            <a:fillRect/>
          </a:stretch>
        </p:blipFill>
        <p:spPr>
          <a:xfrm>
            <a:off x="10136079" y="5142755"/>
            <a:ext cx="134549" cy="195707"/>
          </a:xfrm>
          <a:prstGeom prst="rect">
            <a:avLst/>
          </a:prstGeom>
        </p:spPr>
      </p:pic>
      <p:sp>
        <p:nvSpPr>
          <p:cNvPr id="59" name="TextBox 58"/>
          <p:cNvSpPr txBox="1"/>
          <p:nvPr/>
        </p:nvSpPr>
        <p:spPr>
          <a:xfrm>
            <a:off x="10311188" y="5152979"/>
            <a:ext cx="446726" cy="194310"/>
          </a:xfrm>
          <a:prstGeom prst="rect">
            <a:avLst/>
          </a:prstGeom>
          <a:noFill/>
        </p:spPr>
        <p:txBody>
          <a:bodyPr wrap="none" lIns="0" rIns="0" tIns="0" bIns="0">
            <a:spAutoFit/>
          </a:bodyPr>
          <a:lstStyle/>
          <a:p>
            <a:r>
              <a:rPr sz="1150" b="0">
                <a:solidFill>
                  <a:srgbClr val="2E2E2E"/>
                </a:solidFill>
                <a:latin typeface="Calibri"/>
              </a:rPr>
              <a:t>CAGR.</a:t>
            </a:r>
          </a:p>
        </p:txBody>
      </p:sp>
      <p:sp>
        <p:nvSpPr>
          <p:cNvPr id="60" name="TextBox 59"/>
          <p:cNvSpPr txBox="1"/>
          <p:nvPr/>
        </p:nvSpPr>
        <p:spPr>
          <a:xfrm>
            <a:off x="8048625" y="5380816"/>
            <a:ext cx="3848100" cy="194310"/>
          </a:xfrm>
          <a:prstGeom prst="rect">
            <a:avLst/>
          </a:prstGeom>
          <a:noFill/>
        </p:spPr>
        <p:txBody>
          <a:bodyPr wrap="none" lIns="0" rIns="0" tIns="0" bIns="0">
            <a:spAutoFit/>
          </a:bodyPr>
          <a:lstStyle/>
          <a:p>
            <a:r>
              <a:rPr sz="1150" b="0">
                <a:solidFill>
                  <a:srgbClr val="2E2E2E"/>
                </a:solidFill>
                <a:latin typeface="Calibri"/>
              </a:rPr>
              <a:t>▪ Demand concentrates in 'Specialty Extracted Protein Fractions'</a:t>
            </a:r>
          </a:p>
        </p:txBody>
      </p:sp>
      <p:sp>
        <p:nvSpPr>
          <p:cNvPr id="61" name="TextBox 60"/>
          <p:cNvSpPr txBox="1"/>
          <p:nvPr/>
        </p:nvSpPr>
        <p:spPr>
          <a:xfrm>
            <a:off x="8048625" y="5556076"/>
            <a:ext cx="1308496" cy="194310"/>
          </a:xfrm>
          <a:prstGeom prst="rect">
            <a:avLst/>
          </a:prstGeom>
          <a:noFill/>
        </p:spPr>
        <p:txBody>
          <a:bodyPr wrap="none" lIns="0" rIns="0" tIns="0" bIns="0">
            <a:spAutoFit/>
          </a:bodyPr>
          <a:lstStyle/>
          <a:p>
            <a:r>
              <a:rPr sz="1150" b="0">
                <a:solidFill>
                  <a:srgbClr val="2E2E2E"/>
                </a:solidFill>
                <a:latin typeface="Calibri"/>
              </a:rPr>
              <a:t>within Product Type.</a:t>
            </a:r>
          </a:p>
        </p:txBody>
      </p:sp>
      <p:sp>
        <p:nvSpPr>
          <p:cNvPr id="62" name="TextBox 61"/>
          <p:cNvSpPr txBox="1"/>
          <p:nvPr/>
        </p:nvSpPr>
        <p:spPr>
          <a:xfrm>
            <a:off x="8048625" y="5783914"/>
            <a:ext cx="3291296" cy="194310"/>
          </a:xfrm>
          <a:prstGeom prst="rect">
            <a:avLst/>
          </a:prstGeom>
          <a:noFill/>
        </p:spPr>
        <p:txBody>
          <a:bodyPr wrap="none" lIns="0" rIns="0" tIns="0" bIns="0">
            <a:spAutoFit/>
          </a:bodyPr>
          <a:lstStyle/>
          <a:p>
            <a:r>
              <a:rPr sz="1150" b="0">
                <a:solidFill>
                  <a:srgbClr val="2E2E2E"/>
                </a:solidFill>
                <a:latin typeface="Calibri"/>
              </a:rPr>
              <a:t>▪ Product innovation and premiumisation lifting value.</a:t>
            </a:r>
          </a:p>
        </p:txBody>
      </p:sp>
      <p:sp>
        <p:nvSpPr>
          <p:cNvPr id="63" name="TextBox 62"/>
          <p:cNvSpPr txBox="1"/>
          <p:nvPr/>
        </p:nvSpPr>
        <p:spPr>
          <a:xfrm>
            <a:off x="8048625" y="6011752"/>
            <a:ext cx="2741327" cy="194310"/>
          </a:xfrm>
          <a:prstGeom prst="rect">
            <a:avLst/>
          </a:prstGeom>
          <a:noFill/>
        </p:spPr>
        <p:txBody>
          <a:bodyPr wrap="none" lIns="0" rIns="0" tIns="0" bIns="0">
            <a:spAutoFit/>
          </a:bodyPr>
          <a:lstStyle/>
          <a:p>
            <a:r>
              <a:rPr sz="1150" b="0">
                <a:solidFill>
                  <a:srgbClr val="2E2E2E"/>
                </a:solidFill>
                <a:latin typeface="Calibri"/>
              </a:rPr>
              <a:t>▪ Expanding end-use applications and access.</a:t>
            </a:r>
          </a:p>
        </p:txBody>
      </p:sp>
      <p:sp>
        <p:nvSpPr>
          <p:cNvPr id="64" name="lockshield_13"/>
          <p:cNvSpPr/>
          <p:nvPr/>
        </p:nvSpPr>
        <p:spPr>
          <a:xfrm>
            <a:off x="238125" y="1913637"/>
            <a:ext cx="7505700" cy="2011827"/>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lockshield_16"/>
          <p:cNvSpPr/>
          <p:nvPr/>
        </p:nvSpPr>
        <p:spPr>
          <a:xfrm>
            <a:off x="238125" y="4323125"/>
            <a:ext cx="7505700" cy="217611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Egg Protein Membrane Market Volume &amp; Value Analysis</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volume and value growth of the North America market and the incremental $ opportunity it creates, 2021–2036</a:t>
            </a:r>
          </a:p>
        </p:txBody>
      </p:sp>
      <p:sp>
        <p:nvSpPr>
          <p:cNvPr id="7" name="Rounded Rectangle 6"/>
          <p:cNvSpPr/>
          <p:nvPr/>
        </p:nvSpPr>
        <p:spPr>
          <a:xfrm>
            <a:off x="142875" y="981075"/>
            <a:ext cx="4695825" cy="2524125"/>
          </a:xfrm>
          <a:prstGeom prst="roundRect">
            <a:avLst>
              <a:gd name="adj" fmla="val 301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45053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Market, 2021–2025 (Historical)</a:t>
            </a:r>
          </a:p>
        </p:txBody>
      </p:sp>
      <p:graphicFrame>
        <p:nvGraphicFramePr>
          <p:cNvPr id="9" name="Chart 8"/>
          <p:cNvGraphicFramePr>
            <a:graphicFrameLocks noGrp="1"/>
          </p:cNvGraphicFramePr>
          <p:nvPr/>
        </p:nvGraphicFramePr>
        <p:xfrm>
          <a:off x="238125" y="1266825"/>
          <a:ext cx="4505325" cy="2181225"/>
        </p:xfrm>
        <a:graphic>
          <a:graphicData uri="http://schemas.openxmlformats.org/drawingml/2006/chart">
            <c:chart xmlns:c="http://schemas.openxmlformats.org/drawingml/2006/chart" r:id="rId3"/>
          </a:graphicData>
        </a:graphic>
      </p:graphicFrame>
      <p:sp>
        <p:nvSpPr>
          <p:cNvPr id="10" name="Rounded Rectangle 9"/>
          <p:cNvSpPr/>
          <p:nvPr/>
        </p:nvSpPr>
        <p:spPr>
          <a:xfrm>
            <a:off x="4991100" y="981075"/>
            <a:ext cx="7048500" cy="2524125"/>
          </a:xfrm>
          <a:prstGeom prst="roundRect">
            <a:avLst>
              <a:gd name="adj" fmla="val 301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86350" y="1038225"/>
            <a:ext cx="6858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Market, 2026–2036 (Forecast)</a:t>
            </a:r>
          </a:p>
        </p:txBody>
      </p:sp>
      <p:graphicFrame>
        <p:nvGraphicFramePr>
          <p:cNvPr id="12" name="Chart 11"/>
          <p:cNvGraphicFramePr>
            <a:graphicFrameLocks noGrp="1"/>
          </p:cNvGraphicFramePr>
          <p:nvPr/>
        </p:nvGraphicFramePr>
        <p:xfrm>
          <a:off x="5086350" y="1266825"/>
          <a:ext cx="6858000" cy="2181225"/>
        </p:xfrm>
        <a:graphic>
          <a:graphicData uri="http://schemas.openxmlformats.org/drawingml/2006/chart">
            <c:chart xmlns:c="http://schemas.openxmlformats.org/drawingml/2006/chart" r:id="rId4"/>
          </a:graphicData>
        </a:graphic>
      </p:graphicFrame>
      <p:sp>
        <p:nvSpPr>
          <p:cNvPr id="13" name="Rounded Rectangle 12"/>
          <p:cNvSpPr/>
          <p:nvPr/>
        </p:nvSpPr>
        <p:spPr>
          <a:xfrm>
            <a:off x="142875" y="3638550"/>
            <a:ext cx="2514600" cy="685800"/>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VALUE CAGR 2021–2025</a:t>
            </a:r>
          </a:p>
          <a:p>
            <a:pPr algn="ctr">
              <a:lnSpc>
                <a:spcPct val="95000"/>
              </a:lnSpc>
            </a:pPr>
            <a:r>
              <a:rPr sz="1500" b="1">
                <a:solidFill>
                  <a:srgbClr val="2A5F8F"/>
                </a:solidFill>
                <a:latin typeface="Calibri"/>
              </a:rPr>
              <a:t> </a:t>
            </a:r>
          </a:p>
        </p:txBody>
      </p:sp>
      <p:sp>
        <p:nvSpPr>
          <p:cNvPr id="14" name="Rounded Rectangle 13"/>
          <p:cNvSpPr/>
          <p:nvPr/>
        </p:nvSpPr>
        <p:spPr>
          <a:xfrm>
            <a:off x="2809875" y="3638550"/>
            <a:ext cx="2514600" cy="685800"/>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VALUE CAGR 2026–2036</a:t>
            </a:r>
          </a:p>
          <a:p>
            <a:pPr algn="ctr">
              <a:lnSpc>
                <a:spcPct val="95000"/>
              </a:lnSpc>
            </a:pPr>
            <a:r>
              <a:rPr sz="1500" b="1">
                <a:solidFill>
                  <a:srgbClr val="2A5F8F"/>
                </a:solidFill>
                <a:latin typeface="Calibri"/>
              </a:rPr>
              <a:t> </a:t>
            </a:r>
          </a:p>
        </p:txBody>
      </p:sp>
      <p:sp>
        <p:nvSpPr>
          <p:cNvPr id="15" name="Rounded Rectangle 14"/>
          <p:cNvSpPr/>
          <p:nvPr/>
        </p:nvSpPr>
        <p:spPr>
          <a:xfrm>
            <a:off x="5476875" y="3638550"/>
            <a:ext cx="3200400" cy="685800"/>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INCREMENTAL $ OPPORTUNITY 2026–2031</a:t>
            </a:r>
          </a:p>
          <a:p>
            <a:pPr algn="ctr">
              <a:lnSpc>
                <a:spcPct val="95000"/>
              </a:lnSpc>
            </a:pPr>
            <a:r>
              <a:rPr sz="1500" b="1">
                <a:solidFill>
                  <a:srgbClr val="2A5F8F"/>
                </a:solidFill>
                <a:latin typeface="Calibri"/>
              </a:rPr>
              <a:t> </a:t>
            </a:r>
          </a:p>
        </p:txBody>
      </p:sp>
      <p:sp>
        <p:nvSpPr>
          <p:cNvPr id="16" name="Rounded Rectangle 15"/>
          <p:cNvSpPr/>
          <p:nvPr/>
        </p:nvSpPr>
        <p:spPr>
          <a:xfrm>
            <a:off x="8829675" y="3638550"/>
            <a:ext cx="3200400" cy="685800"/>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INCREMENTAL $ OPPORTUNITY 2026–2036</a:t>
            </a:r>
          </a:p>
          <a:p>
            <a:pPr algn="ctr">
              <a:lnSpc>
                <a:spcPct val="95000"/>
              </a:lnSpc>
            </a:pPr>
            <a:r>
              <a:rPr sz="1500" b="1">
                <a:solidFill>
                  <a:srgbClr val="2A5F8F"/>
                </a:solidFill>
                <a:latin typeface="Calibri"/>
              </a:rPr>
              <a:t> </a:t>
            </a:r>
          </a:p>
        </p:txBody>
      </p:sp>
      <p:sp>
        <p:nvSpPr>
          <p:cNvPr id="17" name="Rounded Rectangle 16"/>
          <p:cNvSpPr/>
          <p:nvPr/>
        </p:nvSpPr>
        <p:spPr>
          <a:xfrm>
            <a:off x="142875" y="4457700"/>
            <a:ext cx="11906250" cy="2152650"/>
          </a:xfrm>
          <a:prstGeom prst="roundRect">
            <a:avLst>
              <a:gd name="adj" fmla="val 353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76225" y="4543425"/>
            <a:ext cx="11639550" cy="209550"/>
          </a:xfrm>
          <a:prstGeom prst="rect">
            <a:avLst/>
          </a:prstGeom>
          <a:noFill/>
        </p:spPr>
        <p:txBody>
          <a:bodyPr wrap="square" lIns="0" rIns="19050" tIns="9525" bIns="9525">
            <a:spAutoFit/>
          </a:bodyPr>
          <a:lstStyle/>
          <a:p>
            <a:pPr algn="l"/>
            <a:r>
              <a:rPr sz="1300" b="1">
                <a:solidFill>
                  <a:srgbClr val="0E2A5C"/>
                </a:solidFill>
                <a:latin typeface="Calibri"/>
              </a:rPr>
              <a:t>North America Volume &amp; Value Analysis</a:t>
            </a:r>
          </a:p>
        </p:txBody>
      </p:sp>
      <p:sp>
        <p:nvSpPr>
          <p:cNvPr id="19" name="Rectangle 18"/>
          <p:cNvSpPr/>
          <p:nvPr/>
        </p:nvSpPr>
        <p:spPr>
          <a:xfrm>
            <a:off x="276225" y="4781550"/>
            <a:ext cx="116395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76225" y="4867275"/>
            <a:ext cx="11639550" cy="166687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21" name="Rectangle 20"/>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23" name="Picture 22" descr="lock.png"/>
          <p:cNvPicPr>
            <a:picLocks noChangeAspect="1"/>
          </p:cNvPicPr>
          <p:nvPr/>
        </p:nvPicPr>
        <p:blipFill>
          <a:blip r:embed="rId6"/>
          <a:stretch>
            <a:fillRect/>
          </a:stretch>
        </p:blipFill>
        <p:spPr>
          <a:xfrm>
            <a:off x="2535356" y="2029222"/>
            <a:ext cx="202455" cy="294480"/>
          </a:xfrm>
          <a:prstGeom prst="rect">
            <a:avLst/>
          </a:prstGeom>
        </p:spPr>
      </p:pic>
      <p:pic>
        <p:nvPicPr>
          <p:cNvPr id="24" name="Picture 23" descr="lock.png"/>
          <p:cNvPicPr>
            <a:picLocks noChangeAspect="1"/>
          </p:cNvPicPr>
          <p:nvPr/>
        </p:nvPicPr>
        <p:blipFill>
          <a:blip r:embed="rId6"/>
          <a:stretch>
            <a:fillRect/>
          </a:stretch>
        </p:blipFill>
        <p:spPr>
          <a:xfrm>
            <a:off x="8532694" y="1990329"/>
            <a:ext cx="255933" cy="372266"/>
          </a:xfrm>
          <a:prstGeom prst="rect">
            <a:avLst/>
          </a:prstGeom>
        </p:spPr>
      </p:pic>
      <p:pic>
        <p:nvPicPr>
          <p:cNvPr id="25" name="Picture 24" descr="lock.png"/>
          <p:cNvPicPr>
            <a:picLocks noChangeAspect="1"/>
          </p:cNvPicPr>
          <p:nvPr/>
        </p:nvPicPr>
        <p:blipFill>
          <a:blip r:embed="rId6"/>
          <a:stretch>
            <a:fillRect/>
          </a:stretch>
        </p:blipFill>
        <p:spPr>
          <a:xfrm>
            <a:off x="1321594" y="3950970"/>
            <a:ext cx="157162" cy="228600"/>
          </a:xfrm>
          <a:prstGeom prst="rect">
            <a:avLst/>
          </a:prstGeom>
        </p:spPr>
      </p:pic>
      <p:pic>
        <p:nvPicPr>
          <p:cNvPr id="26" name="Picture 25" descr="lock.png"/>
          <p:cNvPicPr>
            <a:picLocks noChangeAspect="1"/>
          </p:cNvPicPr>
          <p:nvPr/>
        </p:nvPicPr>
        <p:blipFill>
          <a:blip r:embed="rId6"/>
          <a:stretch>
            <a:fillRect/>
          </a:stretch>
        </p:blipFill>
        <p:spPr>
          <a:xfrm>
            <a:off x="3988594" y="3950970"/>
            <a:ext cx="157162" cy="228600"/>
          </a:xfrm>
          <a:prstGeom prst="rect">
            <a:avLst/>
          </a:prstGeom>
        </p:spPr>
      </p:pic>
      <p:pic>
        <p:nvPicPr>
          <p:cNvPr id="27" name="Picture 26" descr="lock.png"/>
          <p:cNvPicPr>
            <a:picLocks noChangeAspect="1"/>
          </p:cNvPicPr>
          <p:nvPr/>
        </p:nvPicPr>
        <p:blipFill>
          <a:blip r:embed="rId6"/>
          <a:stretch>
            <a:fillRect/>
          </a:stretch>
        </p:blipFill>
        <p:spPr>
          <a:xfrm>
            <a:off x="6998494" y="3950970"/>
            <a:ext cx="157162" cy="228600"/>
          </a:xfrm>
          <a:prstGeom prst="rect">
            <a:avLst/>
          </a:prstGeom>
        </p:spPr>
      </p:pic>
      <p:pic>
        <p:nvPicPr>
          <p:cNvPr id="28" name="Picture 27" descr="lock.png"/>
          <p:cNvPicPr>
            <a:picLocks noChangeAspect="1"/>
          </p:cNvPicPr>
          <p:nvPr/>
        </p:nvPicPr>
        <p:blipFill>
          <a:blip r:embed="rId6"/>
          <a:stretch>
            <a:fillRect/>
          </a:stretch>
        </p:blipFill>
        <p:spPr>
          <a:xfrm>
            <a:off x="10351294" y="3950970"/>
            <a:ext cx="157162" cy="228600"/>
          </a:xfrm>
          <a:prstGeom prst="rect">
            <a:avLst/>
          </a:prstGeom>
        </p:spPr>
      </p:pic>
      <p:sp>
        <p:nvSpPr>
          <p:cNvPr id="29" name="TextBox 28"/>
          <p:cNvSpPr txBox="1"/>
          <p:nvPr/>
        </p:nvSpPr>
        <p:spPr>
          <a:xfrm>
            <a:off x="276225" y="4876800"/>
            <a:ext cx="4691608" cy="194310"/>
          </a:xfrm>
          <a:prstGeom prst="rect">
            <a:avLst/>
          </a:prstGeom>
          <a:noFill/>
        </p:spPr>
        <p:txBody>
          <a:bodyPr wrap="none" lIns="0" rIns="0" tIns="0" bIns="0">
            <a:spAutoFit/>
          </a:bodyPr>
          <a:lstStyle/>
          <a:p>
            <a:r>
              <a:rPr sz="1150" b="0">
                <a:solidFill>
                  <a:srgbClr val="2E2E2E"/>
                </a:solidFill>
                <a:latin typeface="Calibri"/>
              </a:rPr>
              <a:t>Egg protein membrane market value in North America is expected to increase</a:t>
            </a:r>
          </a:p>
        </p:txBody>
      </p:sp>
      <p:pic>
        <p:nvPicPr>
          <p:cNvPr id="30" name="Picture 29" descr="lock.png"/>
          <p:cNvPicPr>
            <a:picLocks noChangeAspect="1"/>
          </p:cNvPicPr>
          <p:nvPr/>
        </p:nvPicPr>
        <p:blipFill>
          <a:blip r:embed="rId6"/>
          <a:stretch>
            <a:fillRect/>
          </a:stretch>
        </p:blipFill>
        <p:spPr>
          <a:xfrm>
            <a:off x="4916987" y="4866576"/>
            <a:ext cx="134549" cy="195707"/>
          </a:xfrm>
          <a:prstGeom prst="rect">
            <a:avLst/>
          </a:prstGeom>
        </p:spPr>
      </p:pic>
      <p:sp>
        <p:nvSpPr>
          <p:cNvPr id="31" name="TextBox 30"/>
          <p:cNvSpPr txBox="1"/>
          <p:nvPr/>
        </p:nvSpPr>
        <p:spPr>
          <a:xfrm>
            <a:off x="5092096" y="4876800"/>
            <a:ext cx="6427948" cy="194310"/>
          </a:xfrm>
          <a:prstGeom prst="rect">
            <a:avLst/>
          </a:prstGeom>
          <a:noFill/>
        </p:spPr>
        <p:txBody>
          <a:bodyPr wrap="none" lIns="0" rIns="0" tIns="0" bIns="0">
            <a:spAutoFit/>
          </a:bodyPr>
          <a:lstStyle/>
          <a:p>
            <a:r>
              <a:rPr sz="1150" b="0">
                <a:solidFill>
                  <a:srgbClr val="2E2E2E"/>
                </a:solidFill>
                <a:latin typeface="Calibri"/>
              </a:rPr>
              <a:t>X between 2025 and 2036. In 2025, the egg protein membrane market in North America was valued at US$</a:t>
            </a:r>
          </a:p>
        </p:txBody>
      </p:sp>
      <p:pic>
        <p:nvPicPr>
          <p:cNvPr id="32" name="Picture 31" descr="lock.png"/>
          <p:cNvPicPr>
            <a:picLocks noChangeAspect="1"/>
          </p:cNvPicPr>
          <p:nvPr/>
        </p:nvPicPr>
        <p:blipFill>
          <a:blip r:embed="rId6"/>
          <a:stretch>
            <a:fillRect/>
          </a:stretch>
        </p:blipFill>
        <p:spPr>
          <a:xfrm>
            <a:off x="262145" y="5041836"/>
            <a:ext cx="134549" cy="195707"/>
          </a:xfrm>
          <a:prstGeom prst="rect">
            <a:avLst/>
          </a:prstGeom>
        </p:spPr>
      </p:pic>
      <p:sp>
        <p:nvSpPr>
          <p:cNvPr id="33" name="TextBox 32"/>
          <p:cNvSpPr txBox="1"/>
          <p:nvPr/>
        </p:nvSpPr>
        <p:spPr>
          <a:xfrm>
            <a:off x="437254" y="5052060"/>
            <a:ext cx="2428118" cy="194310"/>
          </a:xfrm>
          <a:prstGeom prst="rect">
            <a:avLst/>
          </a:prstGeom>
          <a:noFill/>
        </p:spPr>
        <p:txBody>
          <a:bodyPr wrap="none" lIns="0" rIns="0" tIns="0" bIns="0">
            <a:spAutoFit/>
          </a:bodyPr>
          <a:lstStyle/>
          <a:p>
            <a:r>
              <a:rPr sz="1150" b="0">
                <a:solidFill>
                  <a:srgbClr val="2E2E2E"/>
                </a:solidFill>
                <a:latin typeface="Calibri"/>
              </a:rPr>
              <a:t>Mn and is estimated to account for US$</a:t>
            </a:r>
          </a:p>
        </p:txBody>
      </p:sp>
      <p:pic>
        <p:nvPicPr>
          <p:cNvPr id="34" name="Picture 33" descr="lock.png"/>
          <p:cNvPicPr>
            <a:picLocks noChangeAspect="1"/>
          </p:cNvPicPr>
          <p:nvPr/>
        </p:nvPicPr>
        <p:blipFill>
          <a:blip r:embed="rId6"/>
          <a:stretch>
            <a:fillRect/>
          </a:stretch>
        </p:blipFill>
        <p:spPr>
          <a:xfrm>
            <a:off x="2814527" y="5041836"/>
            <a:ext cx="134549" cy="195707"/>
          </a:xfrm>
          <a:prstGeom prst="rect">
            <a:avLst/>
          </a:prstGeom>
        </p:spPr>
      </p:pic>
      <p:sp>
        <p:nvSpPr>
          <p:cNvPr id="35" name="TextBox 34"/>
          <p:cNvSpPr txBox="1"/>
          <p:nvPr/>
        </p:nvSpPr>
        <p:spPr>
          <a:xfrm>
            <a:off x="2989636" y="5052060"/>
            <a:ext cx="3399408" cy="194310"/>
          </a:xfrm>
          <a:prstGeom prst="rect">
            <a:avLst/>
          </a:prstGeom>
          <a:noFill/>
        </p:spPr>
        <p:txBody>
          <a:bodyPr wrap="none" lIns="0" rIns="0" tIns="0" bIns="0">
            <a:spAutoFit/>
          </a:bodyPr>
          <a:lstStyle/>
          <a:p>
            <a:r>
              <a:rPr sz="1150" b="0">
                <a:solidFill>
                  <a:srgbClr val="2E2E2E"/>
                </a:solidFill>
                <a:latin typeface="Calibri"/>
              </a:rPr>
              <a:t>Mn by the end of 2026, reflecting a Y-o-Y growth rate of</a:t>
            </a:r>
          </a:p>
        </p:txBody>
      </p:sp>
      <p:pic>
        <p:nvPicPr>
          <p:cNvPr id="36" name="Picture 35" descr="lock.png"/>
          <p:cNvPicPr>
            <a:picLocks noChangeAspect="1"/>
          </p:cNvPicPr>
          <p:nvPr/>
        </p:nvPicPr>
        <p:blipFill>
          <a:blip r:embed="rId6"/>
          <a:stretch>
            <a:fillRect/>
          </a:stretch>
        </p:blipFill>
        <p:spPr>
          <a:xfrm>
            <a:off x="6338198" y="5041836"/>
            <a:ext cx="134549" cy="195707"/>
          </a:xfrm>
          <a:prstGeom prst="rect">
            <a:avLst/>
          </a:prstGeom>
        </p:spPr>
      </p:pic>
      <p:sp>
        <p:nvSpPr>
          <p:cNvPr id="37" name="TextBox 36"/>
          <p:cNvSpPr txBox="1"/>
          <p:nvPr/>
        </p:nvSpPr>
        <p:spPr>
          <a:xfrm>
            <a:off x="6513307" y="5052060"/>
            <a:ext cx="3716325" cy="194310"/>
          </a:xfrm>
          <a:prstGeom prst="rect">
            <a:avLst/>
          </a:prstGeom>
          <a:noFill/>
        </p:spPr>
        <p:txBody>
          <a:bodyPr wrap="none" lIns="0" rIns="0" tIns="0" bIns="0">
            <a:spAutoFit/>
          </a:bodyPr>
          <a:lstStyle/>
          <a:p>
            <a:r>
              <a:rPr sz="1150" b="0">
                <a:solidFill>
                  <a:srgbClr val="2E2E2E"/>
                </a:solidFill>
                <a:latin typeface="Calibri"/>
              </a:rPr>
              <a:t>. The market in North America is expected to account for US$</a:t>
            </a:r>
          </a:p>
        </p:txBody>
      </p:sp>
      <p:pic>
        <p:nvPicPr>
          <p:cNvPr id="38" name="Picture 37" descr="lock.png"/>
          <p:cNvPicPr>
            <a:picLocks noChangeAspect="1"/>
          </p:cNvPicPr>
          <p:nvPr/>
        </p:nvPicPr>
        <p:blipFill>
          <a:blip r:embed="rId6"/>
          <a:stretch>
            <a:fillRect/>
          </a:stretch>
        </p:blipFill>
        <p:spPr>
          <a:xfrm>
            <a:off x="10178786" y="5041836"/>
            <a:ext cx="134549" cy="195707"/>
          </a:xfrm>
          <a:prstGeom prst="rect">
            <a:avLst/>
          </a:prstGeom>
        </p:spPr>
      </p:pic>
      <p:sp>
        <p:nvSpPr>
          <p:cNvPr id="39" name="TextBox 38"/>
          <p:cNvSpPr txBox="1"/>
          <p:nvPr/>
        </p:nvSpPr>
        <p:spPr>
          <a:xfrm>
            <a:off x="10353895" y="5052060"/>
            <a:ext cx="1038646" cy="194310"/>
          </a:xfrm>
          <a:prstGeom prst="rect">
            <a:avLst/>
          </a:prstGeom>
          <a:noFill/>
        </p:spPr>
        <p:txBody>
          <a:bodyPr wrap="none" lIns="0" rIns="0" tIns="0" bIns="0">
            <a:spAutoFit/>
          </a:bodyPr>
          <a:lstStyle/>
          <a:p>
            <a:r>
              <a:rPr sz="1150" b="0">
                <a:solidFill>
                  <a:srgbClr val="2E2E2E"/>
                </a:solidFill>
                <a:latin typeface="Calibri"/>
              </a:rPr>
              <a:t>Mn by 2036 at a</a:t>
            </a:r>
          </a:p>
        </p:txBody>
      </p:sp>
      <p:sp>
        <p:nvSpPr>
          <p:cNvPr id="40" name="TextBox 39"/>
          <p:cNvSpPr txBox="1"/>
          <p:nvPr/>
        </p:nvSpPr>
        <p:spPr>
          <a:xfrm>
            <a:off x="276225" y="5227320"/>
            <a:ext cx="564536" cy="194310"/>
          </a:xfrm>
          <a:prstGeom prst="rect">
            <a:avLst/>
          </a:prstGeom>
          <a:noFill/>
        </p:spPr>
        <p:txBody>
          <a:bodyPr wrap="none" lIns="0" rIns="0" tIns="0" bIns="0">
            <a:spAutoFit/>
          </a:bodyPr>
          <a:lstStyle/>
          <a:p>
            <a:r>
              <a:rPr sz="1150" b="0">
                <a:solidFill>
                  <a:srgbClr val="2E2E2E"/>
                </a:solidFill>
                <a:latin typeface="Calibri"/>
              </a:rPr>
              <a:t>CAGR of</a:t>
            </a:r>
          </a:p>
        </p:txBody>
      </p:sp>
      <p:pic>
        <p:nvPicPr>
          <p:cNvPr id="41" name="Picture 40" descr="lock.png"/>
          <p:cNvPicPr>
            <a:picLocks noChangeAspect="1"/>
          </p:cNvPicPr>
          <p:nvPr/>
        </p:nvPicPr>
        <p:blipFill>
          <a:blip r:embed="rId6"/>
          <a:stretch>
            <a:fillRect/>
          </a:stretch>
        </p:blipFill>
        <p:spPr>
          <a:xfrm>
            <a:off x="789915" y="5217096"/>
            <a:ext cx="134549" cy="195707"/>
          </a:xfrm>
          <a:prstGeom prst="rect">
            <a:avLst/>
          </a:prstGeom>
        </p:spPr>
      </p:pic>
      <p:sp>
        <p:nvSpPr>
          <p:cNvPr id="42" name="TextBox 41"/>
          <p:cNvSpPr txBox="1"/>
          <p:nvPr/>
        </p:nvSpPr>
        <p:spPr>
          <a:xfrm>
            <a:off x="965025" y="5227320"/>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43" name="TextBox 42"/>
          <p:cNvSpPr txBox="1"/>
          <p:nvPr/>
        </p:nvSpPr>
        <p:spPr>
          <a:xfrm>
            <a:off x="276225" y="5455157"/>
            <a:ext cx="4313932" cy="194310"/>
          </a:xfrm>
          <a:prstGeom prst="rect">
            <a:avLst/>
          </a:prstGeom>
          <a:noFill/>
        </p:spPr>
        <p:txBody>
          <a:bodyPr wrap="none" lIns="0" rIns="0" tIns="0" bIns="0">
            <a:spAutoFit/>
          </a:bodyPr>
          <a:lstStyle/>
          <a:p>
            <a:r>
              <a:rPr sz="1150" b="0">
                <a:solidFill>
                  <a:srgbClr val="2E2E2E"/>
                </a:solidFill>
                <a:latin typeface="Calibri"/>
              </a:rPr>
              <a:t>North America is expected to create an incremental opportunity of US$</a:t>
            </a:r>
          </a:p>
        </p:txBody>
      </p:sp>
      <p:pic>
        <p:nvPicPr>
          <p:cNvPr id="44" name="Picture 43" descr="lock.png"/>
          <p:cNvPicPr>
            <a:picLocks noChangeAspect="1"/>
          </p:cNvPicPr>
          <p:nvPr/>
        </p:nvPicPr>
        <p:blipFill>
          <a:blip r:embed="rId6"/>
          <a:stretch>
            <a:fillRect/>
          </a:stretch>
        </p:blipFill>
        <p:spPr>
          <a:xfrm>
            <a:off x="4539310" y="5444934"/>
            <a:ext cx="134549" cy="195707"/>
          </a:xfrm>
          <a:prstGeom prst="rect">
            <a:avLst/>
          </a:prstGeom>
        </p:spPr>
      </p:pic>
      <p:sp>
        <p:nvSpPr>
          <p:cNvPr id="45" name="TextBox 44"/>
          <p:cNvSpPr txBox="1"/>
          <p:nvPr/>
        </p:nvSpPr>
        <p:spPr>
          <a:xfrm>
            <a:off x="4714420" y="5455157"/>
            <a:ext cx="7108279" cy="194310"/>
          </a:xfrm>
          <a:prstGeom prst="rect">
            <a:avLst/>
          </a:prstGeom>
          <a:noFill/>
        </p:spPr>
        <p:txBody>
          <a:bodyPr wrap="none" lIns="0" rIns="0" tIns="0" bIns="0">
            <a:spAutoFit/>
          </a:bodyPr>
          <a:lstStyle/>
          <a:p>
            <a:r>
              <a:rPr sz="1150" b="0">
                <a:solidFill>
                  <a:srgbClr val="2E2E2E"/>
                </a:solidFill>
                <a:latin typeface="Calibri"/>
              </a:rPr>
              <a:t>Mn for the overall egg protein membrane market from 2025 to 2036. Absolute $ value for 2026 is estimated to be US$</a:t>
            </a:r>
          </a:p>
        </p:txBody>
      </p:sp>
      <p:pic>
        <p:nvPicPr>
          <p:cNvPr id="46" name="Picture 45" descr="lock.png"/>
          <p:cNvPicPr>
            <a:picLocks noChangeAspect="1"/>
          </p:cNvPicPr>
          <p:nvPr/>
        </p:nvPicPr>
        <p:blipFill>
          <a:blip r:embed="rId6"/>
          <a:stretch>
            <a:fillRect/>
          </a:stretch>
        </p:blipFill>
        <p:spPr>
          <a:xfrm>
            <a:off x="262145" y="5620194"/>
            <a:ext cx="134549" cy="195707"/>
          </a:xfrm>
          <a:prstGeom prst="rect">
            <a:avLst/>
          </a:prstGeom>
        </p:spPr>
      </p:pic>
      <p:sp>
        <p:nvSpPr>
          <p:cNvPr id="47" name="TextBox 46"/>
          <p:cNvSpPr txBox="1"/>
          <p:nvPr/>
        </p:nvSpPr>
        <p:spPr>
          <a:xfrm>
            <a:off x="437254" y="5630417"/>
            <a:ext cx="4456558" cy="194310"/>
          </a:xfrm>
          <a:prstGeom prst="rect">
            <a:avLst/>
          </a:prstGeom>
          <a:noFill/>
        </p:spPr>
        <p:txBody>
          <a:bodyPr wrap="none" lIns="0" rIns="0" tIns="0" bIns="0">
            <a:spAutoFit/>
          </a:bodyPr>
          <a:lstStyle/>
          <a:p>
            <a:r>
              <a:rPr sz="1150" b="0">
                <a:solidFill>
                  <a:srgbClr val="2E2E2E"/>
                </a:solidFill>
                <a:latin typeface="Calibri"/>
              </a:rPr>
              <a:t>Mn. North America egg protein membrane market is projected to register</a:t>
            </a:r>
          </a:p>
        </p:txBody>
      </p:sp>
      <p:pic>
        <p:nvPicPr>
          <p:cNvPr id="48" name="Picture 47" descr="lock.png"/>
          <p:cNvPicPr>
            <a:picLocks noChangeAspect="1"/>
          </p:cNvPicPr>
          <p:nvPr/>
        </p:nvPicPr>
        <p:blipFill>
          <a:blip r:embed="rId6"/>
          <a:stretch>
            <a:fillRect/>
          </a:stretch>
        </p:blipFill>
        <p:spPr>
          <a:xfrm>
            <a:off x="4842967" y="5620194"/>
            <a:ext cx="134549" cy="195707"/>
          </a:xfrm>
          <a:prstGeom prst="rect">
            <a:avLst/>
          </a:prstGeom>
        </p:spPr>
      </p:pic>
      <p:sp>
        <p:nvSpPr>
          <p:cNvPr id="49" name="TextBox 48"/>
          <p:cNvSpPr txBox="1"/>
          <p:nvPr/>
        </p:nvSpPr>
        <p:spPr>
          <a:xfrm>
            <a:off x="5018076" y="5630417"/>
            <a:ext cx="3462163" cy="194310"/>
          </a:xfrm>
          <a:prstGeom prst="rect">
            <a:avLst/>
          </a:prstGeom>
          <a:noFill/>
        </p:spPr>
        <p:txBody>
          <a:bodyPr wrap="none" lIns="0" rIns="0" tIns="0" bIns="0">
            <a:spAutoFit/>
          </a:bodyPr>
          <a:lstStyle/>
          <a:p>
            <a:r>
              <a:rPr sz="1150" b="0">
                <a:solidFill>
                  <a:srgbClr val="2E2E2E"/>
                </a:solidFill>
                <a:latin typeface="Calibri"/>
              </a:rPr>
              <a:t>X increase in volume by the end of forecast period, 2036.</a:t>
            </a:r>
          </a:p>
        </p:txBody>
      </p:sp>
      <p:sp>
        <p:nvSpPr>
          <p:cNvPr id="50" name="TextBox 49"/>
          <p:cNvSpPr txBox="1"/>
          <p:nvPr/>
        </p:nvSpPr>
        <p:spPr>
          <a:xfrm>
            <a:off x="276225" y="5858255"/>
            <a:ext cx="3804468" cy="194310"/>
          </a:xfrm>
          <a:prstGeom prst="rect">
            <a:avLst/>
          </a:prstGeom>
          <a:noFill/>
        </p:spPr>
        <p:txBody>
          <a:bodyPr wrap="none" lIns="0" rIns="0" tIns="0" bIns="0">
            <a:spAutoFit/>
          </a:bodyPr>
          <a:lstStyle/>
          <a:p>
            <a:r>
              <a:rPr sz="1150" b="0">
                <a:solidFill>
                  <a:srgbClr val="2E2E2E"/>
                </a:solidFill>
                <a:latin typeface="Calibri"/>
              </a:rPr>
              <a:t>North America egg protein membrane market volume stood at</a:t>
            </a:r>
          </a:p>
        </p:txBody>
      </p:sp>
      <p:pic>
        <p:nvPicPr>
          <p:cNvPr id="51" name="Picture 50" descr="lock.png"/>
          <p:cNvPicPr>
            <a:picLocks noChangeAspect="1"/>
          </p:cNvPicPr>
          <p:nvPr/>
        </p:nvPicPr>
        <p:blipFill>
          <a:blip r:embed="rId6"/>
          <a:stretch>
            <a:fillRect/>
          </a:stretch>
        </p:blipFill>
        <p:spPr>
          <a:xfrm>
            <a:off x="4029847" y="5848032"/>
            <a:ext cx="134549" cy="195707"/>
          </a:xfrm>
          <a:prstGeom prst="rect">
            <a:avLst/>
          </a:prstGeom>
        </p:spPr>
      </p:pic>
      <p:sp>
        <p:nvSpPr>
          <p:cNvPr id="52" name="TextBox 51"/>
          <p:cNvSpPr txBox="1"/>
          <p:nvPr/>
        </p:nvSpPr>
        <p:spPr>
          <a:xfrm>
            <a:off x="4204956" y="5858255"/>
            <a:ext cx="2229581" cy="194310"/>
          </a:xfrm>
          <a:prstGeom prst="rect">
            <a:avLst/>
          </a:prstGeom>
          <a:noFill/>
        </p:spPr>
        <p:txBody>
          <a:bodyPr wrap="none" lIns="0" rIns="0" tIns="0" bIns="0">
            <a:spAutoFit/>
          </a:bodyPr>
          <a:lstStyle/>
          <a:p>
            <a:r>
              <a:rPr sz="1150" b="0">
                <a:solidFill>
                  <a:srgbClr val="2E2E2E"/>
                </a:solidFill>
                <a:latin typeface="Calibri"/>
              </a:rPr>
              <a:t>MT in 2025 and is expected to reach</a:t>
            </a:r>
          </a:p>
        </p:txBody>
      </p:sp>
      <p:pic>
        <p:nvPicPr>
          <p:cNvPr id="53" name="Picture 52" descr="lock.png"/>
          <p:cNvPicPr>
            <a:picLocks noChangeAspect="1"/>
          </p:cNvPicPr>
          <p:nvPr/>
        </p:nvPicPr>
        <p:blipFill>
          <a:blip r:embed="rId6"/>
          <a:stretch>
            <a:fillRect/>
          </a:stretch>
        </p:blipFill>
        <p:spPr>
          <a:xfrm>
            <a:off x="6383692" y="5848032"/>
            <a:ext cx="134549" cy="195707"/>
          </a:xfrm>
          <a:prstGeom prst="rect">
            <a:avLst/>
          </a:prstGeom>
        </p:spPr>
      </p:pic>
      <p:sp>
        <p:nvSpPr>
          <p:cNvPr id="54" name="TextBox 53"/>
          <p:cNvSpPr txBox="1"/>
          <p:nvPr/>
        </p:nvSpPr>
        <p:spPr>
          <a:xfrm>
            <a:off x="6558801" y="5858255"/>
            <a:ext cx="1850461" cy="194310"/>
          </a:xfrm>
          <a:prstGeom prst="rect">
            <a:avLst/>
          </a:prstGeom>
          <a:noFill/>
        </p:spPr>
        <p:txBody>
          <a:bodyPr wrap="none" lIns="0" rIns="0" tIns="0" bIns="0">
            <a:spAutoFit/>
          </a:bodyPr>
          <a:lstStyle/>
          <a:p>
            <a:r>
              <a:rPr sz="1150" b="0">
                <a:solidFill>
                  <a:srgbClr val="2E2E2E"/>
                </a:solidFill>
                <a:latin typeface="Calibri"/>
              </a:rPr>
              <a:t>MT by 2036 end, at a CAGR of</a:t>
            </a:r>
          </a:p>
        </p:txBody>
      </p:sp>
      <p:pic>
        <p:nvPicPr>
          <p:cNvPr id="55" name="Picture 54" descr="lock.png"/>
          <p:cNvPicPr>
            <a:picLocks noChangeAspect="1"/>
          </p:cNvPicPr>
          <p:nvPr/>
        </p:nvPicPr>
        <p:blipFill>
          <a:blip r:embed="rId6"/>
          <a:stretch>
            <a:fillRect/>
          </a:stretch>
        </p:blipFill>
        <p:spPr>
          <a:xfrm>
            <a:off x="8358417" y="5848032"/>
            <a:ext cx="134549" cy="195707"/>
          </a:xfrm>
          <a:prstGeom prst="rect">
            <a:avLst/>
          </a:prstGeom>
        </p:spPr>
      </p:pic>
      <p:sp>
        <p:nvSpPr>
          <p:cNvPr id="56" name="TextBox 55"/>
          <p:cNvSpPr txBox="1"/>
          <p:nvPr/>
        </p:nvSpPr>
        <p:spPr>
          <a:xfrm>
            <a:off x="8533526" y="5858255"/>
            <a:ext cx="2864271" cy="194310"/>
          </a:xfrm>
          <a:prstGeom prst="rect">
            <a:avLst/>
          </a:prstGeom>
          <a:noFill/>
        </p:spPr>
        <p:txBody>
          <a:bodyPr wrap="none" lIns="0" rIns="0" tIns="0" bIns="0">
            <a:spAutoFit/>
          </a:bodyPr>
          <a:lstStyle/>
          <a:p>
            <a:r>
              <a:rPr sz="1150" b="0">
                <a:solidFill>
                  <a:srgbClr val="2E2E2E"/>
                </a:solidFill>
                <a:latin typeface="Calibri"/>
              </a:rPr>
              <a:t>. Value is projected to grow faster than volume</a:t>
            </a:r>
          </a:p>
        </p:txBody>
      </p:sp>
      <p:sp>
        <p:nvSpPr>
          <p:cNvPr id="57" name="TextBox 56"/>
          <p:cNvSpPr txBox="1"/>
          <p:nvPr/>
        </p:nvSpPr>
        <p:spPr>
          <a:xfrm>
            <a:off x="276225" y="6033515"/>
            <a:ext cx="4232634" cy="194310"/>
          </a:xfrm>
          <a:prstGeom prst="rect">
            <a:avLst/>
          </a:prstGeom>
          <a:noFill/>
        </p:spPr>
        <p:txBody>
          <a:bodyPr wrap="none" lIns="0" rIns="0" tIns="0" bIns="0">
            <a:spAutoFit/>
          </a:bodyPr>
          <a:lstStyle/>
          <a:p>
            <a:r>
              <a:rPr sz="1150" b="0">
                <a:solidFill>
                  <a:srgbClr val="2E2E2E"/>
                </a:solidFill>
                <a:latin typeface="Calibri"/>
              </a:rPr>
              <a:t>over the forecast period, owing to an increase in average selling price.</a:t>
            </a:r>
          </a:p>
        </p:txBody>
      </p:sp>
      <p:sp>
        <p:nvSpPr>
          <p:cNvPr id="58" name="lockshield_9"/>
          <p:cNvSpPr/>
          <p:nvPr/>
        </p:nvSpPr>
        <p:spPr>
          <a:xfrm>
            <a:off x="238125" y="1266825"/>
            <a:ext cx="4505325" cy="21812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lockshield_12"/>
          <p:cNvSpPr/>
          <p:nvPr/>
        </p:nvSpPr>
        <p:spPr>
          <a:xfrm>
            <a:off x="5086350" y="1266825"/>
            <a:ext cx="6858000" cy="21812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Egg Protein Membrane Market Summary Country Indices (Value)</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Country outlook ranking 2036 market size, growth and absolute-growth indices to highlight the strongest markets</a:t>
            </a:r>
          </a:p>
        </p:txBody>
      </p:sp>
      <p:sp>
        <p:nvSpPr>
          <p:cNvPr id="7" name="Rounded Rectangle 6"/>
          <p:cNvSpPr/>
          <p:nvPr/>
        </p:nvSpPr>
        <p:spPr>
          <a:xfrm>
            <a:off x="142875" y="1007261"/>
            <a:ext cx="3933825" cy="2445995"/>
          </a:xfrm>
          <a:prstGeom prst="roundRect">
            <a:avLst>
              <a:gd name="adj" fmla="val 3115"/>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64411"/>
            <a:ext cx="37433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Top 10 Countries By CAGR Index</a:t>
            </a:r>
          </a:p>
        </p:txBody>
      </p:sp>
      <p:graphicFrame>
        <p:nvGraphicFramePr>
          <p:cNvPr id="9" name="Chart 8"/>
          <p:cNvGraphicFramePr>
            <a:graphicFrameLocks noGrp="1"/>
          </p:cNvGraphicFramePr>
          <p:nvPr/>
        </p:nvGraphicFramePr>
        <p:xfrm>
          <a:off x="238125" y="1293011"/>
          <a:ext cx="3743325" cy="2103095"/>
        </p:xfrm>
        <a:graphic>
          <a:graphicData uri="http://schemas.openxmlformats.org/drawingml/2006/chart">
            <c:chart xmlns:c="http://schemas.openxmlformats.org/drawingml/2006/chart" r:id="rId3"/>
          </a:graphicData>
        </a:graphic>
      </p:graphicFrame>
      <p:sp>
        <p:nvSpPr>
          <p:cNvPr id="10" name="Rounded Rectangle 9"/>
          <p:cNvSpPr/>
          <p:nvPr/>
        </p:nvSpPr>
        <p:spPr>
          <a:xfrm>
            <a:off x="142875" y="3489764"/>
            <a:ext cx="3933825" cy="2436869"/>
          </a:xfrm>
          <a:prstGeom prst="roundRect">
            <a:avLst>
              <a:gd name="adj" fmla="val 3126"/>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152400" y="3565964"/>
          <a:ext cx="3928892" cy="2132068"/>
        </p:xfrm>
        <a:graphic>
          <a:graphicData uri="http://schemas.openxmlformats.org/drawingml/2006/table">
            <a:tbl>
              <a:tblPr>
                <a:tableStyleId>{5C22544A-7EE6-4342-B048-85BDC9FD1C3A}</a:tableStyleId>
              </a:tblPr>
              <a:tblGrid>
                <a:gridCol w="650421"/>
                <a:gridCol w="1088118"/>
                <a:gridCol w="1088118"/>
                <a:gridCol w="1102235"/>
              </a:tblGrid>
              <a:tr h="246126">
                <a:tc>
                  <a:txBody>
                    <a:bodyPr wrap="none"/>
                    <a:lstStyle/>
                    <a:p>
                      <a:pPr algn="l"/>
                      <a:r>
                        <a:rPr sz="1100" b="1">
                          <a:solidFill>
                            <a:srgbClr val="0E2A5C"/>
                          </a:solidFill>
                          <a:latin typeface="Calibri"/>
                        </a:rPr>
                        <a:t>Country</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CAGR Index</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F-CAGR</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 Opp (US$ Mn)</a:t>
                      </a:r>
                      <a:endParaRPr sz="1100"/>
                    </a:p>
                  </a:txBody>
                  <a:tcPr marL="47625" marR="38100" marT="19050" marB="19050" anchor="ctr">
                    <a:solidFill>
                      <a:srgbClr val="EBF2F9"/>
                    </a:solidFill>
                  </a:tcPr>
                </a:tc>
              </a:tr>
              <a:tr h="942971">
                <a:tc>
                  <a:txBody>
                    <a:bodyPr wrap="none"/>
                    <a:lstStyle/>
                    <a:p>
                      <a:pPr algn="l"/>
                      <a:r>
                        <a:rPr sz="1100" b="1">
                          <a:solidFill>
                            <a:srgbClr val="2E2E2E"/>
                          </a:solidFill>
                          <a:latin typeface="Calibri"/>
                        </a:rPr>
                        <a:t>Canada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942971">
                <a:tc>
                  <a:txBody>
                    <a:bodyPr wrap="none"/>
                    <a:lstStyle/>
                    <a:p>
                      <a:pPr algn="l"/>
                      <a:r>
                        <a:rPr sz="1100" b="1">
                          <a:solidFill>
                            <a:srgbClr val="2E2E2E"/>
                          </a:solidFill>
                          <a:latin typeface="Calibri"/>
                        </a:rPr>
                        <a:t>U.S.</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bl>
          </a:graphicData>
        </a:graphic>
      </p:graphicFrame>
      <p:sp>
        <p:nvSpPr>
          <p:cNvPr id="12" name="TextBox 11"/>
          <p:cNvSpPr txBox="1"/>
          <p:nvPr/>
        </p:nvSpPr>
        <p:spPr>
          <a:xfrm>
            <a:off x="219075" y="5707558"/>
            <a:ext cx="3781425"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13" name="Rounded Rectangle 12"/>
          <p:cNvSpPr/>
          <p:nvPr/>
        </p:nvSpPr>
        <p:spPr>
          <a:xfrm>
            <a:off x="4114800" y="1007261"/>
            <a:ext cx="3933825" cy="4928498"/>
          </a:xfrm>
          <a:prstGeom prst="roundRect">
            <a:avLst>
              <a:gd name="adj" fmla="val 1937"/>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210050" y="1064411"/>
            <a:ext cx="37433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2036 Market By Country (US$ Mn)  ·  Top 10</a:t>
            </a:r>
          </a:p>
        </p:txBody>
      </p:sp>
      <p:sp>
        <p:nvSpPr>
          <p:cNvPr id="15" name="Rectangle 14"/>
          <p:cNvSpPr/>
          <p:nvPr/>
        </p:nvSpPr>
        <p:spPr>
          <a:xfrm>
            <a:off x="4210050" y="1293011"/>
            <a:ext cx="3743325" cy="3091856"/>
          </a:xfrm>
          <a:prstGeom prst="rect">
            <a:avLst/>
          </a:prstGeom>
          <a:solidFill>
            <a:srgbClr val="2A5F8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U.S.</a:t>
            </a:r>
          </a:p>
          <a:p>
            <a:pPr algn="ctr"/>
            <a:r>
              <a:rPr sz="1100" b="0">
                <a:solidFill>
                  <a:srgbClr val="FFFFFF"/>
                </a:solidFill>
                <a:latin typeface="Calibri"/>
              </a:rPr>
              <a:t> </a:t>
            </a:r>
          </a:p>
        </p:txBody>
      </p:sp>
      <p:sp>
        <p:nvSpPr>
          <p:cNvPr id="16" name="Rectangle 15"/>
          <p:cNvSpPr/>
          <p:nvPr/>
        </p:nvSpPr>
        <p:spPr>
          <a:xfrm>
            <a:off x="4210050" y="4384867"/>
            <a:ext cx="3743325" cy="1493743"/>
          </a:xfrm>
          <a:prstGeom prst="rect">
            <a:avLst/>
          </a:prstGeom>
          <a:solidFill>
            <a:srgbClr val="0081E2"/>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Canada</a:t>
            </a:r>
          </a:p>
          <a:p>
            <a:pPr algn="ctr"/>
            <a:r>
              <a:rPr sz="1100" b="0">
                <a:solidFill>
                  <a:srgbClr val="FFFFFF"/>
                </a:solidFill>
                <a:latin typeface="Calibri"/>
              </a:rPr>
              <a:t> </a:t>
            </a:r>
          </a:p>
        </p:txBody>
      </p:sp>
      <p:sp>
        <p:nvSpPr>
          <p:cNvPr id="17" name="Rounded Rectangle 16"/>
          <p:cNvSpPr/>
          <p:nvPr/>
        </p:nvSpPr>
        <p:spPr>
          <a:xfrm>
            <a:off x="8086725" y="1007261"/>
            <a:ext cx="3933825" cy="2436869"/>
          </a:xfrm>
          <a:prstGeom prst="roundRect">
            <a:avLst>
              <a:gd name="adj" fmla="val 3126"/>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81975" y="1064411"/>
            <a:ext cx="37433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Top 10 Countries By Absolute Index</a:t>
            </a:r>
          </a:p>
        </p:txBody>
      </p:sp>
      <p:graphicFrame>
        <p:nvGraphicFramePr>
          <p:cNvPr id="19" name="Chart 18"/>
          <p:cNvGraphicFramePr>
            <a:graphicFrameLocks noGrp="1"/>
          </p:cNvGraphicFramePr>
          <p:nvPr/>
        </p:nvGraphicFramePr>
        <p:xfrm>
          <a:off x="8181975" y="1293011"/>
          <a:ext cx="3743325" cy="2093969"/>
        </p:xfrm>
        <a:graphic>
          <a:graphicData uri="http://schemas.openxmlformats.org/drawingml/2006/chart">
            <c:chart xmlns:c="http://schemas.openxmlformats.org/drawingml/2006/chart" r:id="rId4"/>
          </a:graphicData>
        </a:graphic>
      </p:graphicFrame>
      <p:sp>
        <p:nvSpPr>
          <p:cNvPr id="20" name="Rounded Rectangle 19"/>
          <p:cNvSpPr/>
          <p:nvPr/>
        </p:nvSpPr>
        <p:spPr>
          <a:xfrm>
            <a:off x="8086725" y="3471510"/>
            <a:ext cx="3933825" cy="2464249"/>
          </a:xfrm>
          <a:prstGeom prst="roundRect">
            <a:avLst>
              <a:gd name="adj" fmla="val 3092"/>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21" name="Table 20"/>
          <p:cNvGraphicFramePr>
            <a:graphicFrameLocks noGrp="1"/>
          </p:cNvGraphicFramePr>
          <p:nvPr/>
        </p:nvGraphicFramePr>
        <p:xfrm>
          <a:off x="8096250" y="3547710"/>
          <a:ext cx="3928892" cy="2159450"/>
        </p:xfrm>
        <a:graphic>
          <a:graphicData uri="http://schemas.openxmlformats.org/drawingml/2006/table">
            <a:tbl>
              <a:tblPr>
                <a:tableStyleId>{5C22544A-7EE6-4342-B048-85BDC9FD1C3A}</a:tableStyleId>
              </a:tblPr>
              <a:tblGrid>
                <a:gridCol w="650421"/>
                <a:gridCol w="1088118"/>
                <a:gridCol w="1088118"/>
                <a:gridCol w="1102235"/>
              </a:tblGrid>
              <a:tr h="246126">
                <a:tc>
                  <a:txBody>
                    <a:bodyPr wrap="none"/>
                    <a:lstStyle/>
                    <a:p>
                      <a:pPr algn="l"/>
                      <a:r>
                        <a:rPr sz="1100" b="1">
                          <a:solidFill>
                            <a:srgbClr val="0E2A5C"/>
                          </a:solidFill>
                          <a:latin typeface="Calibri"/>
                        </a:rPr>
                        <a:t>Country</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Absolute Index</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F-CAGR</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 Opp (US$ Mn)</a:t>
                      </a:r>
                      <a:endParaRPr sz="1100"/>
                    </a:p>
                  </a:txBody>
                  <a:tcPr marL="47625" marR="38100" marT="19050" marB="19050" anchor="ctr">
                    <a:solidFill>
                      <a:srgbClr val="EBF2F9"/>
                    </a:solidFill>
                  </a:tcPr>
                </a:tc>
              </a:tr>
              <a:tr h="956662">
                <a:tc>
                  <a:txBody>
                    <a:bodyPr wrap="none"/>
                    <a:lstStyle/>
                    <a:p>
                      <a:pPr algn="l"/>
                      <a:r>
                        <a:rPr sz="1100" b="1">
                          <a:solidFill>
                            <a:srgbClr val="2E2E2E"/>
                          </a:solidFill>
                          <a:latin typeface="Calibri"/>
                        </a:rPr>
                        <a:t>U.S.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956662">
                <a:tc>
                  <a:txBody>
                    <a:bodyPr wrap="none"/>
                    <a:lstStyle/>
                    <a:p>
                      <a:pPr algn="l"/>
                      <a:r>
                        <a:rPr sz="1100" b="1">
                          <a:solidFill>
                            <a:srgbClr val="2E2E2E"/>
                          </a:solidFill>
                          <a:latin typeface="Calibri"/>
                        </a:rPr>
                        <a:t>Canada</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bl>
          </a:graphicData>
        </a:graphic>
      </p:graphicFrame>
      <p:sp>
        <p:nvSpPr>
          <p:cNvPr id="22" name="TextBox 21"/>
          <p:cNvSpPr txBox="1"/>
          <p:nvPr/>
        </p:nvSpPr>
        <p:spPr>
          <a:xfrm>
            <a:off x="8162925" y="5716684"/>
            <a:ext cx="3781425"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23" name="Rounded Rectangle 22"/>
          <p:cNvSpPr/>
          <p:nvPr/>
        </p:nvSpPr>
        <p:spPr>
          <a:xfrm>
            <a:off x="142875" y="6027028"/>
            <a:ext cx="10858500" cy="602372"/>
          </a:xfrm>
          <a:prstGeom prst="roundRect">
            <a:avLst>
              <a:gd name="adj" fmla="val 1264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24" name="Rectangle 23"/>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26" name="Picture 25" descr="lock.png"/>
          <p:cNvPicPr>
            <a:picLocks noChangeAspect="1"/>
          </p:cNvPicPr>
          <p:nvPr/>
        </p:nvPicPr>
        <p:blipFill>
          <a:blip r:embed="rId6"/>
          <a:stretch>
            <a:fillRect/>
          </a:stretch>
        </p:blipFill>
        <p:spPr>
          <a:xfrm>
            <a:off x="3188017" y="2125483"/>
            <a:ext cx="183356" cy="266700"/>
          </a:xfrm>
          <a:prstGeom prst="rect">
            <a:avLst/>
          </a:prstGeom>
        </p:spPr>
      </p:pic>
      <p:pic>
        <p:nvPicPr>
          <p:cNvPr id="27" name="Picture 26" descr="lock.png"/>
          <p:cNvPicPr>
            <a:picLocks noChangeAspect="1"/>
          </p:cNvPicPr>
          <p:nvPr/>
        </p:nvPicPr>
        <p:blipFill>
          <a:blip r:embed="rId6"/>
          <a:stretch>
            <a:fillRect/>
          </a:stretch>
        </p:blipFill>
        <p:spPr>
          <a:xfrm>
            <a:off x="2232897" y="4496595"/>
            <a:ext cx="355389" cy="516930"/>
          </a:xfrm>
          <a:prstGeom prst="rect">
            <a:avLst/>
          </a:prstGeom>
        </p:spPr>
      </p:pic>
      <p:pic>
        <p:nvPicPr>
          <p:cNvPr id="28" name="Picture 27" descr="lock.png"/>
          <p:cNvPicPr>
            <a:picLocks noChangeAspect="1"/>
          </p:cNvPicPr>
          <p:nvPr/>
        </p:nvPicPr>
        <p:blipFill>
          <a:blip r:embed="rId6"/>
          <a:stretch>
            <a:fillRect/>
          </a:stretch>
        </p:blipFill>
        <p:spPr>
          <a:xfrm>
            <a:off x="6024086" y="2838939"/>
            <a:ext cx="115252" cy="167639"/>
          </a:xfrm>
          <a:prstGeom prst="rect">
            <a:avLst/>
          </a:prstGeom>
        </p:spPr>
      </p:pic>
      <p:pic>
        <p:nvPicPr>
          <p:cNvPr id="29" name="Picture 28" descr="lock.png"/>
          <p:cNvPicPr>
            <a:picLocks noChangeAspect="1"/>
          </p:cNvPicPr>
          <p:nvPr/>
        </p:nvPicPr>
        <p:blipFill>
          <a:blip r:embed="rId6"/>
          <a:stretch>
            <a:fillRect/>
          </a:stretch>
        </p:blipFill>
        <p:spPr>
          <a:xfrm>
            <a:off x="6024086" y="5131738"/>
            <a:ext cx="115252" cy="167639"/>
          </a:xfrm>
          <a:prstGeom prst="rect">
            <a:avLst/>
          </a:prstGeom>
        </p:spPr>
      </p:pic>
      <p:pic>
        <p:nvPicPr>
          <p:cNvPr id="30" name="Picture 29" descr="lock.png"/>
          <p:cNvPicPr>
            <a:picLocks noChangeAspect="1"/>
          </p:cNvPicPr>
          <p:nvPr/>
        </p:nvPicPr>
        <p:blipFill>
          <a:blip r:embed="rId6"/>
          <a:stretch>
            <a:fillRect/>
          </a:stretch>
        </p:blipFill>
        <p:spPr>
          <a:xfrm>
            <a:off x="11131867" y="2120920"/>
            <a:ext cx="183356" cy="266700"/>
          </a:xfrm>
          <a:prstGeom prst="rect">
            <a:avLst/>
          </a:prstGeom>
        </p:spPr>
      </p:pic>
      <p:pic>
        <p:nvPicPr>
          <p:cNvPr id="31" name="Picture 30" descr="lock.png"/>
          <p:cNvPicPr>
            <a:picLocks noChangeAspect="1"/>
          </p:cNvPicPr>
          <p:nvPr/>
        </p:nvPicPr>
        <p:blipFill>
          <a:blip r:embed="rId6"/>
          <a:stretch>
            <a:fillRect/>
          </a:stretch>
        </p:blipFill>
        <p:spPr>
          <a:xfrm>
            <a:off x="10175439" y="4490163"/>
            <a:ext cx="357960" cy="520669"/>
          </a:xfrm>
          <a:prstGeom prst="rect">
            <a:avLst/>
          </a:prstGeom>
        </p:spPr>
      </p:pic>
      <p:sp>
        <p:nvSpPr>
          <p:cNvPr id="32" name="TextBox 31"/>
          <p:cNvSpPr txBox="1"/>
          <p:nvPr/>
        </p:nvSpPr>
        <p:spPr>
          <a:xfrm>
            <a:off x="257175" y="6160574"/>
            <a:ext cx="3639641" cy="186689"/>
          </a:xfrm>
          <a:prstGeom prst="rect">
            <a:avLst/>
          </a:prstGeom>
          <a:noFill/>
        </p:spPr>
        <p:txBody>
          <a:bodyPr wrap="none" lIns="0" rIns="0" tIns="0" bIns="0">
            <a:spAutoFit/>
          </a:bodyPr>
          <a:lstStyle/>
          <a:p>
            <a:r>
              <a:rPr sz="1100" b="0">
                <a:solidFill>
                  <a:srgbClr val="2E2E2E"/>
                </a:solidFill>
                <a:latin typeface="Calibri"/>
              </a:rPr>
              <a:t>The U.S. egg protein membrane market is projected to register</a:t>
            </a:r>
          </a:p>
        </p:txBody>
      </p:sp>
      <p:pic>
        <p:nvPicPr>
          <p:cNvPr id="33" name="Picture 32" descr="lock.png"/>
          <p:cNvPicPr>
            <a:picLocks noChangeAspect="1"/>
          </p:cNvPicPr>
          <p:nvPr/>
        </p:nvPicPr>
        <p:blipFill>
          <a:blip r:embed="rId6"/>
          <a:stretch>
            <a:fillRect/>
          </a:stretch>
        </p:blipFill>
        <p:spPr>
          <a:xfrm>
            <a:off x="3844868" y="6150795"/>
            <a:ext cx="128699" cy="187198"/>
          </a:xfrm>
          <a:prstGeom prst="rect">
            <a:avLst/>
          </a:prstGeom>
        </p:spPr>
      </p:pic>
      <p:sp>
        <p:nvSpPr>
          <p:cNvPr id="34" name="TextBox 33"/>
          <p:cNvSpPr txBox="1"/>
          <p:nvPr/>
        </p:nvSpPr>
        <p:spPr>
          <a:xfrm>
            <a:off x="4012363" y="6160574"/>
            <a:ext cx="4339761" cy="186689"/>
          </a:xfrm>
          <a:prstGeom prst="rect">
            <a:avLst/>
          </a:prstGeom>
          <a:noFill/>
        </p:spPr>
        <p:txBody>
          <a:bodyPr wrap="none" lIns="0" rIns="0" tIns="0" bIns="0">
            <a:spAutoFit/>
          </a:bodyPr>
          <a:lstStyle/>
          <a:p>
            <a:r>
              <a:rPr sz="1100" b="0">
                <a:solidFill>
                  <a:srgbClr val="2E2E2E"/>
                </a:solidFill>
                <a:latin typeface="Calibri"/>
              </a:rPr>
              <a:t>X higher value than Canada in 2036. Canada posts the highest CAGR Index (</a:t>
            </a:r>
          </a:p>
        </p:txBody>
      </p:sp>
      <p:pic>
        <p:nvPicPr>
          <p:cNvPr id="35" name="Picture 34" descr="lock.png"/>
          <p:cNvPicPr>
            <a:picLocks noChangeAspect="1"/>
          </p:cNvPicPr>
          <p:nvPr/>
        </p:nvPicPr>
        <p:blipFill>
          <a:blip r:embed="rId6"/>
          <a:stretch>
            <a:fillRect/>
          </a:stretch>
        </p:blipFill>
        <p:spPr>
          <a:xfrm>
            <a:off x="8300176" y="6150795"/>
            <a:ext cx="128699" cy="187198"/>
          </a:xfrm>
          <a:prstGeom prst="rect">
            <a:avLst/>
          </a:prstGeom>
        </p:spPr>
      </p:pic>
      <p:sp>
        <p:nvSpPr>
          <p:cNvPr id="36" name="TextBox 35"/>
          <p:cNvSpPr txBox="1"/>
          <p:nvPr/>
        </p:nvSpPr>
        <p:spPr>
          <a:xfrm>
            <a:off x="8467672" y="6160574"/>
            <a:ext cx="789979" cy="186689"/>
          </a:xfrm>
          <a:prstGeom prst="rect">
            <a:avLst/>
          </a:prstGeom>
          <a:noFill/>
        </p:spPr>
        <p:txBody>
          <a:bodyPr wrap="none" lIns="0" rIns="0" tIns="0" bIns="0">
            <a:spAutoFit/>
          </a:bodyPr>
          <a:lstStyle/>
          <a:p>
            <a:r>
              <a:rPr sz="1100" b="0">
                <a:solidFill>
                  <a:srgbClr val="2E2E2E"/>
                </a:solidFill>
                <a:latin typeface="Calibri"/>
              </a:rPr>
              <a:t>), growing at</a:t>
            </a:r>
          </a:p>
        </p:txBody>
      </p:sp>
      <p:pic>
        <p:nvPicPr>
          <p:cNvPr id="37" name="Picture 36" descr="lock.png"/>
          <p:cNvPicPr>
            <a:picLocks noChangeAspect="1"/>
          </p:cNvPicPr>
          <p:nvPr/>
        </p:nvPicPr>
        <p:blipFill>
          <a:blip r:embed="rId6"/>
          <a:stretch>
            <a:fillRect/>
          </a:stretch>
        </p:blipFill>
        <p:spPr>
          <a:xfrm>
            <a:off x="9205703" y="6150795"/>
            <a:ext cx="128699" cy="187198"/>
          </a:xfrm>
          <a:prstGeom prst="rect">
            <a:avLst/>
          </a:prstGeom>
        </p:spPr>
      </p:pic>
      <p:sp>
        <p:nvSpPr>
          <p:cNvPr id="38" name="TextBox 37"/>
          <p:cNvSpPr txBox="1"/>
          <p:nvPr/>
        </p:nvSpPr>
        <p:spPr>
          <a:xfrm>
            <a:off x="9373199" y="6160574"/>
            <a:ext cx="1069106" cy="186689"/>
          </a:xfrm>
          <a:prstGeom prst="rect">
            <a:avLst/>
          </a:prstGeom>
          <a:noFill/>
        </p:spPr>
        <p:txBody>
          <a:bodyPr wrap="none" lIns="0" rIns="0" tIns="0" bIns="0">
            <a:spAutoFit/>
          </a:bodyPr>
          <a:lstStyle/>
          <a:p>
            <a:r>
              <a:rPr sz="1100" b="0">
                <a:solidFill>
                  <a:srgbClr val="2E2E2E"/>
                </a:solidFill>
                <a:latin typeface="Calibri"/>
              </a:rPr>
              <a:t>against the North</a:t>
            </a:r>
          </a:p>
        </p:txBody>
      </p:sp>
      <p:sp>
        <p:nvSpPr>
          <p:cNvPr id="39" name="TextBox 38"/>
          <p:cNvSpPr txBox="1"/>
          <p:nvPr/>
        </p:nvSpPr>
        <p:spPr>
          <a:xfrm>
            <a:off x="257175" y="6328214"/>
            <a:ext cx="4080842" cy="186689"/>
          </a:xfrm>
          <a:prstGeom prst="rect">
            <a:avLst/>
          </a:prstGeom>
          <a:noFill/>
        </p:spPr>
        <p:txBody>
          <a:bodyPr wrap="none" lIns="0" rIns="0" tIns="0" bIns="0">
            <a:spAutoFit/>
          </a:bodyPr>
          <a:lstStyle/>
          <a:p>
            <a:r>
              <a:rPr sz="1100" b="0">
                <a:solidFill>
                  <a:srgbClr val="2E2E2E"/>
                </a:solidFill>
                <a:latin typeface="Calibri"/>
              </a:rPr>
              <a:t>America benchmark, while U.S. offers the largest absolute opportunity</a:t>
            </a:r>
          </a:p>
        </p:txBody>
      </p:sp>
      <p:pic>
        <p:nvPicPr>
          <p:cNvPr id="40" name="Picture 39" descr="lock.png"/>
          <p:cNvPicPr>
            <a:picLocks noChangeAspect="1"/>
          </p:cNvPicPr>
          <p:nvPr/>
        </p:nvPicPr>
        <p:blipFill>
          <a:blip r:embed="rId6"/>
          <a:stretch>
            <a:fillRect/>
          </a:stretch>
        </p:blipFill>
        <p:spPr>
          <a:xfrm>
            <a:off x="4286068" y="6318435"/>
            <a:ext cx="128699" cy="187198"/>
          </a:xfrm>
          <a:prstGeom prst="rect">
            <a:avLst/>
          </a:prstGeom>
        </p:spPr>
      </p:pic>
      <p:sp>
        <p:nvSpPr>
          <p:cNvPr id="41" name="TextBox 40"/>
          <p:cNvSpPr txBox="1"/>
          <p:nvPr/>
        </p:nvSpPr>
        <p:spPr>
          <a:xfrm>
            <a:off x="4453564" y="6328214"/>
            <a:ext cx="3311946" cy="186689"/>
          </a:xfrm>
          <a:prstGeom prst="rect">
            <a:avLst/>
          </a:prstGeom>
          <a:noFill/>
        </p:spPr>
        <p:txBody>
          <a:bodyPr wrap="none" lIns="0" rIns="0" tIns="0" bIns="0">
            <a:spAutoFit/>
          </a:bodyPr>
          <a:lstStyle/>
          <a:p>
            <a:r>
              <a:rPr sz="1100" b="0">
                <a:solidFill>
                  <a:srgbClr val="2E2E2E"/>
                </a:solidFill>
                <a:latin typeface="Calibri"/>
              </a:rPr>
              <a:t>US$ Mn of incremental market between 2026 and 2036 (</a:t>
            </a:r>
          </a:p>
        </p:txBody>
      </p:sp>
      <p:pic>
        <p:nvPicPr>
          <p:cNvPr id="42" name="Picture 41" descr="lock.png"/>
          <p:cNvPicPr>
            <a:picLocks noChangeAspect="1"/>
          </p:cNvPicPr>
          <p:nvPr/>
        </p:nvPicPr>
        <p:blipFill>
          <a:blip r:embed="rId6"/>
          <a:stretch>
            <a:fillRect/>
          </a:stretch>
        </p:blipFill>
        <p:spPr>
          <a:xfrm>
            <a:off x="7713563" y="6318435"/>
            <a:ext cx="128699" cy="187198"/>
          </a:xfrm>
          <a:prstGeom prst="rect">
            <a:avLst/>
          </a:prstGeom>
        </p:spPr>
      </p:pic>
      <p:sp>
        <p:nvSpPr>
          <p:cNvPr id="43" name="TextBox 42"/>
          <p:cNvSpPr txBox="1"/>
          <p:nvPr/>
        </p:nvSpPr>
        <p:spPr>
          <a:xfrm>
            <a:off x="7881058" y="6328214"/>
            <a:ext cx="1973336" cy="186689"/>
          </a:xfrm>
          <a:prstGeom prst="rect">
            <a:avLst/>
          </a:prstGeom>
          <a:noFill/>
        </p:spPr>
        <p:txBody>
          <a:bodyPr wrap="none" lIns="0" rIns="0" tIns="0" bIns="0">
            <a:spAutoFit/>
          </a:bodyPr>
          <a:lstStyle/>
          <a:p>
            <a:r>
              <a:rPr sz="1100" b="0">
                <a:solidFill>
                  <a:srgbClr val="2E2E2E"/>
                </a:solidFill>
                <a:latin typeface="Calibri"/>
              </a:rPr>
              <a:t>of the North America increment).</a:t>
            </a:r>
          </a:p>
        </p:txBody>
      </p:sp>
      <p:sp>
        <p:nvSpPr>
          <p:cNvPr id="44" name="lockshield_9"/>
          <p:cNvSpPr/>
          <p:nvPr/>
        </p:nvSpPr>
        <p:spPr>
          <a:xfrm>
            <a:off x="238125" y="1293011"/>
            <a:ext cx="3743325" cy="210309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lockshield_19"/>
          <p:cNvSpPr/>
          <p:nvPr/>
        </p:nvSpPr>
        <p:spPr>
          <a:xfrm>
            <a:off x="8181975" y="1293011"/>
            <a:ext cx="3743325" cy="2093969"/>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Market Overview (1/4)</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Executive summary of market size, competitive landscape and the drivers, restraints and trends shaping demand</a:t>
            </a:r>
          </a:p>
        </p:txBody>
      </p:sp>
      <p:sp>
        <p:nvSpPr>
          <p:cNvPr id="7" name="Rounded Rectangle 6"/>
          <p:cNvSpPr/>
          <p:nvPr/>
        </p:nvSpPr>
        <p:spPr>
          <a:xfrm>
            <a:off x="142875" y="981075"/>
            <a:ext cx="11906250" cy="1685925"/>
          </a:xfrm>
          <a:prstGeom prst="roundRect">
            <a:avLst>
              <a:gd name="adj" fmla="val 451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6225" y="1066800"/>
            <a:ext cx="11639550" cy="209550"/>
          </a:xfrm>
          <a:prstGeom prst="rect">
            <a:avLst/>
          </a:prstGeom>
          <a:noFill/>
        </p:spPr>
        <p:txBody>
          <a:bodyPr wrap="square" lIns="0" rIns="19050" tIns="9525" bIns="9525">
            <a:spAutoFit/>
          </a:bodyPr>
          <a:lstStyle/>
          <a:p>
            <a:pPr algn="l"/>
            <a:r>
              <a:rPr sz="1300" b="1">
                <a:solidFill>
                  <a:srgbClr val="0E2A5C"/>
                </a:solidFill>
                <a:latin typeface="Calibri"/>
              </a:rPr>
              <a:t>Market Overview</a:t>
            </a:r>
          </a:p>
        </p:txBody>
      </p:sp>
      <p:sp>
        <p:nvSpPr>
          <p:cNvPr id="9" name="Rectangle 8"/>
          <p:cNvSpPr/>
          <p:nvPr/>
        </p:nvSpPr>
        <p:spPr>
          <a:xfrm>
            <a:off x="276225" y="1304925"/>
            <a:ext cx="116395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6225" y="1390650"/>
            <a:ext cx="11639550" cy="12001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1" name="Rounded Rectangle 10"/>
          <p:cNvSpPr/>
          <p:nvPr/>
        </p:nvSpPr>
        <p:spPr>
          <a:xfrm>
            <a:off x="142875" y="2800350"/>
            <a:ext cx="11906250" cy="1571625"/>
          </a:xfrm>
          <a:prstGeom prst="roundRect">
            <a:avLst>
              <a:gd name="adj" fmla="val 484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6225" y="2886075"/>
            <a:ext cx="11639550" cy="209550"/>
          </a:xfrm>
          <a:prstGeom prst="rect">
            <a:avLst/>
          </a:prstGeom>
          <a:noFill/>
        </p:spPr>
        <p:txBody>
          <a:bodyPr wrap="square" lIns="0" rIns="19050" tIns="9525" bIns="9525">
            <a:spAutoFit/>
          </a:bodyPr>
          <a:lstStyle/>
          <a:p>
            <a:pPr algn="l"/>
            <a:r>
              <a:rPr sz="1300" b="1">
                <a:solidFill>
                  <a:srgbClr val="0E2A5C"/>
                </a:solidFill>
                <a:latin typeface="Calibri"/>
              </a:rPr>
              <a:t>Competitive Landscape</a:t>
            </a:r>
          </a:p>
        </p:txBody>
      </p:sp>
      <p:sp>
        <p:nvSpPr>
          <p:cNvPr id="13" name="Rectangle 12"/>
          <p:cNvSpPr/>
          <p:nvPr/>
        </p:nvSpPr>
        <p:spPr>
          <a:xfrm>
            <a:off x="276225" y="3124200"/>
            <a:ext cx="116395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6225" y="3209925"/>
            <a:ext cx="11639550" cy="10858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p:txBody>
      </p:sp>
      <p:sp>
        <p:nvSpPr>
          <p:cNvPr id="15" name="Rounded Rectangle 14"/>
          <p:cNvSpPr/>
          <p:nvPr/>
        </p:nvSpPr>
        <p:spPr>
          <a:xfrm>
            <a:off x="142875" y="4505325"/>
            <a:ext cx="3943350" cy="2124075"/>
          </a:xfrm>
          <a:prstGeom prst="roundRect">
            <a:avLst>
              <a:gd name="adj" fmla="val 3587"/>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6225" y="4591050"/>
            <a:ext cx="3676650" cy="209550"/>
          </a:xfrm>
          <a:prstGeom prst="rect">
            <a:avLst/>
          </a:prstGeom>
          <a:noFill/>
        </p:spPr>
        <p:txBody>
          <a:bodyPr wrap="square" lIns="0" rIns="19050" tIns="9525" bIns="9525">
            <a:spAutoFit/>
          </a:bodyPr>
          <a:lstStyle/>
          <a:p>
            <a:pPr algn="l"/>
            <a:r>
              <a:rPr sz="1300" b="1">
                <a:solidFill>
                  <a:srgbClr val="0E2A5C"/>
                </a:solidFill>
                <a:latin typeface="Calibri"/>
              </a:rPr>
              <a:t>Drivers</a:t>
            </a:r>
          </a:p>
        </p:txBody>
      </p:sp>
      <p:sp>
        <p:nvSpPr>
          <p:cNvPr id="17" name="Rectangle 16"/>
          <p:cNvSpPr/>
          <p:nvPr/>
        </p:nvSpPr>
        <p:spPr>
          <a:xfrm>
            <a:off x="276225" y="4829175"/>
            <a:ext cx="36766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76225" y="4914900"/>
            <a:ext cx="3676650" cy="16383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p:txBody>
      </p:sp>
      <p:sp>
        <p:nvSpPr>
          <p:cNvPr id="19" name="Rounded Rectangle 18"/>
          <p:cNvSpPr/>
          <p:nvPr/>
        </p:nvSpPr>
        <p:spPr>
          <a:xfrm>
            <a:off x="4238625" y="4505325"/>
            <a:ext cx="3819525" cy="2124075"/>
          </a:xfrm>
          <a:prstGeom prst="roundRect">
            <a:avLst>
              <a:gd name="adj" fmla="val 3587"/>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371975" y="4591050"/>
            <a:ext cx="3552825" cy="209550"/>
          </a:xfrm>
          <a:prstGeom prst="rect">
            <a:avLst/>
          </a:prstGeom>
          <a:noFill/>
        </p:spPr>
        <p:txBody>
          <a:bodyPr wrap="square" lIns="0" rIns="19050" tIns="9525" bIns="9525">
            <a:spAutoFit/>
          </a:bodyPr>
          <a:lstStyle/>
          <a:p>
            <a:pPr algn="l"/>
            <a:r>
              <a:rPr sz="1300" b="1">
                <a:solidFill>
                  <a:srgbClr val="0E2A5C"/>
                </a:solidFill>
                <a:latin typeface="Calibri"/>
              </a:rPr>
              <a:t>Restraints</a:t>
            </a:r>
          </a:p>
        </p:txBody>
      </p:sp>
      <p:sp>
        <p:nvSpPr>
          <p:cNvPr id="21" name="Rectangle 20"/>
          <p:cNvSpPr/>
          <p:nvPr/>
        </p:nvSpPr>
        <p:spPr>
          <a:xfrm>
            <a:off x="4371975" y="4829175"/>
            <a:ext cx="3552825"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371975" y="4914900"/>
            <a:ext cx="3552825" cy="16383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p:txBody>
      </p:sp>
      <p:sp>
        <p:nvSpPr>
          <p:cNvPr id="23" name="Rounded Rectangle 22"/>
          <p:cNvSpPr/>
          <p:nvPr/>
        </p:nvSpPr>
        <p:spPr>
          <a:xfrm>
            <a:off x="8210550" y="4505325"/>
            <a:ext cx="3819525" cy="2124075"/>
          </a:xfrm>
          <a:prstGeom prst="roundRect">
            <a:avLst>
              <a:gd name="adj" fmla="val 3587"/>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343900" y="4591050"/>
            <a:ext cx="3552825" cy="209550"/>
          </a:xfrm>
          <a:prstGeom prst="rect">
            <a:avLst/>
          </a:prstGeom>
          <a:noFill/>
        </p:spPr>
        <p:txBody>
          <a:bodyPr wrap="square" lIns="0" rIns="19050" tIns="9525" bIns="9525">
            <a:spAutoFit/>
          </a:bodyPr>
          <a:lstStyle/>
          <a:p>
            <a:pPr algn="l"/>
            <a:r>
              <a:rPr sz="1300" b="1">
                <a:solidFill>
                  <a:srgbClr val="0E2A5C"/>
                </a:solidFill>
                <a:latin typeface="Calibri"/>
              </a:rPr>
              <a:t>Trends</a:t>
            </a:r>
          </a:p>
        </p:txBody>
      </p:sp>
      <p:sp>
        <p:nvSpPr>
          <p:cNvPr id="25" name="Rectangle 24"/>
          <p:cNvSpPr/>
          <p:nvPr/>
        </p:nvSpPr>
        <p:spPr>
          <a:xfrm>
            <a:off x="8343900" y="4829175"/>
            <a:ext cx="3552825"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343900" y="4914900"/>
            <a:ext cx="3552825" cy="16383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t>
            </a:r>
            <a:r>
              <a:rPr sz="1150" b="0">
                <a:solidFill>
                  <a:srgbClr val="2E2E2E"/>
                </a:solidFill>
                <a:latin typeface="Calibri"/>
              </a:rPr>
              <a:t>Mix shifting toward 'Hydrolyzed Eggshell Membrane' and higher-growth tiers.</a:t>
            </a:r>
          </a:p>
          <a:p>
            <a:pPr algn="l">
              <a:lnSpc>
                <a:spcPct val="110000"/>
              </a:lnSpc>
              <a:spcBef>
                <a:spcPts val="0"/>
              </a:spcBef>
              <a:spcAft>
                <a:spcPts val="500"/>
              </a:spcAft>
            </a:pPr>
            <a:r>
              <a:rPr sz="1100" b="0">
                <a:solidFill>
                  <a:srgbClr val="2A5F8F"/>
                </a:solidFill>
                <a:latin typeface="Calibri"/>
              </a:rPr>
              <a:t>▪  </a:t>
            </a:r>
            <a:r>
              <a:rPr sz="1150" b="0">
                <a:solidFill>
                  <a:srgbClr val="2E2E2E"/>
                </a:solidFill>
                <a:latin typeface="Calibri"/>
              </a:rPr>
              <a:t>Canada outpacing the North America average.</a:t>
            </a:r>
          </a:p>
          <a:p>
            <a:pPr algn="l">
              <a:lnSpc>
                <a:spcPct val="110000"/>
              </a:lnSpc>
              <a:spcBef>
                <a:spcPts val="0"/>
              </a:spcBef>
              <a:spcAft>
                <a:spcPts val="500"/>
              </a:spcAft>
            </a:pPr>
            <a:r>
              <a:rPr sz="1100" b="0">
                <a:solidFill>
                  <a:srgbClr val="2A5F8F"/>
                </a:solidFill>
                <a:latin typeface="Calibri"/>
              </a:rPr>
              <a:t>▪  </a:t>
            </a:r>
            <a:r>
              <a:rPr sz="1150" b="0">
                <a:solidFill>
                  <a:srgbClr val="2E2E2E"/>
                </a:solidFill>
                <a:latin typeface="Calibri"/>
              </a:rPr>
              <a:t>Demand broadening across 3 product type categories.</a:t>
            </a:r>
          </a:p>
        </p:txBody>
      </p:sp>
      <p:sp>
        <p:nvSpPr>
          <p:cNvPr id="27" name="Rectangle 26"/>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
        <p:nvSpPr>
          <p:cNvPr id="29" name="TextBox 28"/>
          <p:cNvSpPr txBox="1"/>
          <p:nvPr/>
        </p:nvSpPr>
        <p:spPr>
          <a:xfrm>
            <a:off x="276225" y="1400175"/>
            <a:ext cx="3663838" cy="194310"/>
          </a:xfrm>
          <a:prstGeom prst="rect">
            <a:avLst/>
          </a:prstGeom>
          <a:noFill/>
        </p:spPr>
        <p:txBody>
          <a:bodyPr wrap="none" lIns="0" rIns="0" tIns="0" bIns="0">
            <a:spAutoFit/>
          </a:bodyPr>
          <a:lstStyle/>
          <a:p>
            <a:r>
              <a:rPr sz="1150" b="0">
                <a:solidFill>
                  <a:srgbClr val="2E2E2E"/>
                </a:solidFill>
                <a:latin typeface="Calibri"/>
              </a:rPr>
              <a:t>Global egg protein membrane market is expected to witness</a:t>
            </a:r>
          </a:p>
        </p:txBody>
      </p:sp>
      <p:pic>
        <p:nvPicPr>
          <p:cNvPr id="30" name="Picture 29" descr="lock.png"/>
          <p:cNvPicPr>
            <a:picLocks noChangeAspect="1"/>
          </p:cNvPicPr>
          <p:nvPr/>
        </p:nvPicPr>
        <p:blipFill>
          <a:blip r:embed="rId4"/>
          <a:stretch>
            <a:fillRect/>
          </a:stretch>
        </p:blipFill>
        <p:spPr>
          <a:xfrm>
            <a:off x="3889217" y="1389951"/>
            <a:ext cx="134549" cy="195707"/>
          </a:xfrm>
          <a:prstGeom prst="rect">
            <a:avLst/>
          </a:prstGeom>
        </p:spPr>
      </p:pic>
      <p:sp>
        <p:nvSpPr>
          <p:cNvPr id="31" name="TextBox 30"/>
          <p:cNvSpPr txBox="1"/>
          <p:nvPr/>
        </p:nvSpPr>
        <p:spPr>
          <a:xfrm>
            <a:off x="4064326" y="1400175"/>
            <a:ext cx="5552504" cy="194310"/>
          </a:xfrm>
          <a:prstGeom prst="rect">
            <a:avLst/>
          </a:prstGeom>
          <a:noFill/>
        </p:spPr>
        <p:txBody>
          <a:bodyPr wrap="none" lIns="0" rIns="0" tIns="0" bIns="0">
            <a:spAutoFit/>
          </a:bodyPr>
          <a:lstStyle/>
          <a:p>
            <a:r>
              <a:rPr sz="1150" b="0">
                <a:solidFill>
                  <a:srgbClr val="2E2E2E"/>
                </a:solidFill>
                <a:latin typeface="Calibri"/>
              </a:rPr>
              <a:t>X increase in revenue by 2036 end. Global egg protein membrane market accounted for US$</a:t>
            </a:r>
          </a:p>
        </p:txBody>
      </p:sp>
      <p:pic>
        <p:nvPicPr>
          <p:cNvPr id="32" name="Picture 31" descr="lock.png"/>
          <p:cNvPicPr>
            <a:picLocks noChangeAspect="1"/>
          </p:cNvPicPr>
          <p:nvPr/>
        </p:nvPicPr>
        <p:blipFill>
          <a:blip r:embed="rId4"/>
          <a:stretch>
            <a:fillRect/>
          </a:stretch>
        </p:blipFill>
        <p:spPr>
          <a:xfrm>
            <a:off x="9565985" y="1389951"/>
            <a:ext cx="134549" cy="195707"/>
          </a:xfrm>
          <a:prstGeom prst="rect">
            <a:avLst/>
          </a:prstGeom>
        </p:spPr>
      </p:pic>
      <p:sp>
        <p:nvSpPr>
          <p:cNvPr id="33" name="TextBox 32"/>
          <p:cNvSpPr txBox="1"/>
          <p:nvPr/>
        </p:nvSpPr>
        <p:spPr>
          <a:xfrm>
            <a:off x="9741094" y="1400175"/>
            <a:ext cx="2036179" cy="194310"/>
          </a:xfrm>
          <a:prstGeom prst="rect">
            <a:avLst/>
          </a:prstGeom>
          <a:noFill/>
        </p:spPr>
        <p:txBody>
          <a:bodyPr wrap="none" lIns="0" rIns="0" tIns="0" bIns="0">
            <a:spAutoFit/>
          </a:bodyPr>
          <a:lstStyle/>
          <a:p>
            <a:r>
              <a:rPr sz="1150" b="0">
                <a:solidFill>
                  <a:srgbClr val="2E2E2E"/>
                </a:solidFill>
                <a:latin typeface="Calibri"/>
              </a:rPr>
              <a:t>Mn in 2025, which is expected to</a:t>
            </a:r>
          </a:p>
        </p:txBody>
      </p:sp>
      <p:sp>
        <p:nvSpPr>
          <p:cNvPr id="34" name="TextBox 33"/>
          <p:cNvSpPr txBox="1"/>
          <p:nvPr/>
        </p:nvSpPr>
        <p:spPr>
          <a:xfrm>
            <a:off x="276225" y="1575435"/>
            <a:ext cx="999281" cy="194310"/>
          </a:xfrm>
          <a:prstGeom prst="rect">
            <a:avLst/>
          </a:prstGeom>
          <a:noFill/>
        </p:spPr>
        <p:txBody>
          <a:bodyPr wrap="none" lIns="0" rIns="0" tIns="0" bIns="0">
            <a:spAutoFit/>
          </a:bodyPr>
          <a:lstStyle/>
          <a:p>
            <a:r>
              <a:rPr sz="1150" b="0">
                <a:solidFill>
                  <a:srgbClr val="2E2E2E"/>
                </a:solidFill>
                <a:latin typeface="Calibri"/>
              </a:rPr>
              <a:t>increase to US$</a:t>
            </a:r>
          </a:p>
        </p:txBody>
      </p:sp>
      <p:pic>
        <p:nvPicPr>
          <p:cNvPr id="35" name="Picture 34" descr="lock.png"/>
          <p:cNvPicPr>
            <a:picLocks noChangeAspect="1"/>
          </p:cNvPicPr>
          <p:nvPr/>
        </p:nvPicPr>
        <p:blipFill>
          <a:blip r:embed="rId4"/>
          <a:stretch>
            <a:fillRect/>
          </a:stretch>
        </p:blipFill>
        <p:spPr>
          <a:xfrm>
            <a:off x="1224660" y="1565211"/>
            <a:ext cx="134549" cy="195707"/>
          </a:xfrm>
          <a:prstGeom prst="rect">
            <a:avLst/>
          </a:prstGeom>
        </p:spPr>
      </p:pic>
      <p:sp>
        <p:nvSpPr>
          <p:cNvPr id="36" name="TextBox 35"/>
          <p:cNvSpPr txBox="1"/>
          <p:nvPr/>
        </p:nvSpPr>
        <p:spPr>
          <a:xfrm>
            <a:off x="1399769" y="1575435"/>
            <a:ext cx="1527554" cy="194310"/>
          </a:xfrm>
          <a:prstGeom prst="rect">
            <a:avLst/>
          </a:prstGeom>
          <a:noFill/>
        </p:spPr>
        <p:txBody>
          <a:bodyPr wrap="none" lIns="0" rIns="0" tIns="0" bIns="0">
            <a:spAutoFit/>
          </a:bodyPr>
          <a:lstStyle/>
          <a:p>
            <a:r>
              <a:rPr sz="1150" b="0">
                <a:solidFill>
                  <a:srgbClr val="2E2E2E"/>
                </a:solidFill>
                <a:latin typeface="Calibri"/>
              </a:rPr>
              <a:t>Mn in 2036 at a CAGR of</a:t>
            </a:r>
          </a:p>
        </p:txBody>
      </p:sp>
      <p:pic>
        <p:nvPicPr>
          <p:cNvPr id="37" name="Picture 36" descr="lock.png"/>
          <p:cNvPicPr>
            <a:picLocks noChangeAspect="1"/>
          </p:cNvPicPr>
          <p:nvPr/>
        </p:nvPicPr>
        <p:blipFill>
          <a:blip r:embed="rId4"/>
          <a:stretch>
            <a:fillRect/>
          </a:stretch>
        </p:blipFill>
        <p:spPr>
          <a:xfrm>
            <a:off x="2876477" y="1565211"/>
            <a:ext cx="134549" cy="195707"/>
          </a:xfrm>
          <a:prstGeom prst="rect">
            <a:avLst/>
          </a:prstGeom>
        </p:spPr>
      </p:pic>
      <p:sp>
        <p:nvSpPr>
          <p:cNvPr id="38" name="TextBox 37"/>
          <p:cNvSpPr txBox="1"/>
          <p:nvPr/>
        </p:nvSpPr>
        <p:spPr>
          <a:xfrm>
            <a:off x="3051587" y="1575435"/>
            <a:ext cx="112997" cy="194310"/>
          </a:xfrm>
          <a:prstGeom prst="rect">
            <a:avLst/>
          </a:prstGeom>
          <a:noFill/>
        </p:spPr>
        <p:txBody>
          <a:bodyPr wrap="none" lIns="0" rIns="0" tIns="0" bIns="0">
            <a:spAutoFit/>
          </a:bodyPr>
          <a:lstStyle/>
          <a:p>
            <a:r>
              <a:rPr sz="1150" b="0">
                <a:solidFill>
                  <a:srgbClr val="2E2E2E"/>
                </a:solidFill>
                <a:latin typeface="Calibri"/>
              </a:rPr>
              <a:t>.</a:t>
            </a:r>
          </a:p>
        </p:txBody>
      </p:sp>
      <p:sp>
        <p:nvSpPr>
          <p:cNvPr id="39" name="TextBox 38"/>
          <p:cNvSpPr txBox="1"/>
          <p:nvPr/>
        </p:nvSpPr>
        <p:spPr>
          <a:xfrm>
            <a:off x="276225" y="1803273"/>
            <a:ext cx="11620500" cy="194310"/>
          </a:xfrm>
          <a:prstGeom prst="rect">
            <a:avLst/>
          </a:prstGeom>
          <a:noFill/>
        </p:spPr>
        <p:txBody>
          <a:bodyPr wrap="none" lIns="0" rIns="0" tIns="0" bIns="0">
            <a:spAutoFit/>
          </a:bodyPr>
          <a:lstStyle/>
          <a:p>
            <a:r>
              <a:rPr sz="1150" b="0">
                <a:solidFill>
                  <a:srgbClr val="2E2E2E"/>
                </a:solidFill>
                <a:latin typeface="Calibri"/>
              </a:rPr>
              <a:t>The global egg protein membrane market has been analysed on the basis of product type, extraction / processing method, source and form across the globe. U.S. is expected to remain the largest</a:t>
            </a:r>
          </a:p>
        </p:txBody>
      </p:sp>
      <p:sp>
        <p:nvSpPr>
          <p:cNvPr id="40" name="TextBox 39"/>
          <p:cNvSpPr txBox="1"/>
          <p:nvPr/>
        </p:nvSpPr>
        <p:spPr>
          <a:xfrm>
            <a:off x="276225" y="1978533"/>
            <a:ext cx="6429357" cy="194310"/>
          </a:xfrm>
          <a:prstGeom prst="rect">
            <a:avLst/>
          </a:prstGeom>
          <a:noFill/>
        </p:spPr>
        <p:txBody>
          <a:bodyPr wrap="none" lIns="0" rIns="0" tIns="0" bIns="0">
            <a:spAutoFit/>
          </a:bodyPr>
          <a:lstStyle/>
          <a:p>
            <a:r>
              <a:rPr sz="1150" b="0">
                <a:solidFill>
                  <a:srgbClr val="2E2E2E"/>
                </a:solidFill>
                <a:latin typeface="Calibri"/>
              </a:rPr>
              <a:t>market for egg protein membrane, while demand in Canada is projected to increase at the highest CAGR of</a:t>
            </a:r>
          </a:p>
        </p:txBody>
      </p:sp>
      <p:pic>
        <p:nvPicPr>
          <p:cNvPr id="41" name="Picture 40" descr="lock.png"/>
          <p:cNvPicPr>
            <a:picLocks noChangeAspect="1"/>
          </p:cNvPicPr>
          <p:nvPr/>
        </p:nvPicPr>
        <p:blipFill>
          <a:blip r:embed="rId4"/>
          <a:stretch>
            <a:fillRect/>
          </a:stretch>
        </p:blipFill>
        <p:spPr>
          <a:xfrm>
            <a:off x="6654736" y="1968309"/>
            <a:ext cx="134549" cy="195707"/>
          </a:xfrm>
          <a:prstGeom prst="rect">
            <a:avLst/>
          </a:prstGeom>
        </p:spPr>
      </p:pic>
      <p:sp>
        <p:nvSpPr>
          <p:cNvPr id="42" name="TextBox 41"/>
          <p:cNvSpPr txBox="1"/>
          <p:nvPr/>
        </p:nvSpPr>
        <p:spPr>
          <a:xfrm>
            <a:off x="6829845" y="1978533"/>
            <a:ext cx="1960872" cy="194310"/>
          </a:xfrm>
          <a:prstGeom prst="rect">
            <a:avLst/>
          </a:prstGeom>
          <a:noFill/>
        </p:spPr>
        <p:txBody>
          <a:bodyPr wrap="none" lIns="0" rIns="0" tIns="0" bIns="0">
            <a:spAutoFit/>
          </a:bodyPr>
          <a:lstStyle/>
          <a:p>
            <a:r>
              <a:rPr sz="1150" b="0">
                <a:solidFill>
                  <a:srgbClr val="2E2E2E"/>
                </a:solidFill>
                <a:latin typeface="Calibri"/>
              </a:rPr>
              <a:t>throughout the forecast period.</a:t>
            </a:r>
          </a:p>
        </p:txBody>
      </p:sp>
      <p:sp>
        <p:nvSpPr>
          <p:cNvPr id="43" name="TextBox 42"/>
          <p:cNvSpPr txBox="1"/>
          <p:nvPr/>
        </p:nvSpPr>
        <p:spPr>
          <a:xfrm>
            <a:off x="276225" y="3219450"/>
            <a:ext cx="7127391" cy="194310"/>
          </a:xfrm>
          <a:prstGeom prst="rect">
            <a:avLst/>
          </a:prstGeom>
          <a:noFill/>
        </p:spPr>
        <p:txBody>
          <a:bodyPr wrap="none" lIns="0" rIns="0" tIns="0" bIns="0">
            <a:spAutoFit/>
          </a:bodyPr>
          <a:lstStyle/>
          <a:p>
            <a:r>
              <a:rPr sz="1150" b="0">
                <a:solidFill>
                  <a:srgbClr val="2E2E2E"/>
                </a:solidFill>
                <a:latin typeface="Calibri"/>
              </a:rPr>
              <a:t>▪ The market is moderately fragmented: the leading product type category 'Specialty Extracted Protein Fractions' holds</a:t>
            </a:r>
          </a:p>
        </p:txBody>
      </p:sp>
      <p:pic>
        <p:nvPicPr>
          <p:cNvPr id="44" name="Picture 43" descr="lock.png"/>
          <p:cNvPicPr>
            <a:picLocks noChangeAspect="1"/>
          </p:cNvPicPr>
          <p:nvPr/>
        </p:nvPicPr>
        <p:blipFill>
          <a:blip r:embed="rId4"/>
          <a:stretch>
            <a:fillRect/>
          </a:stretch>
        </p:blipFill>
        <p:spPr>
          <a:xfrm>
            <a:off x="7352770" y="3209226"/>
            <a:ext cx="134549" cy="195707"/>
          </a:xfrm>
          <a:prstGeom prst="rect">
            <a:avLst/>
          </a:prstGeom>
        </p:spPr>
      </p:pic>
      <p:sp>
        <p:nvSpPr>
          <p:cNvPr id="45" name="TextBox 44"/>
          <p:cNvSpPr txBox="1"/>
          <p:nvPr/>
        </p:nvSpPr>
        <p:spPr>
          <a:xfrm>
            <a:off x="7527879" y="3219450"/>
            <a:ext cx="916272" cy="194310"/>
          </a:xfrm>
          <a:prstGeom prst="rect">
            <a:avLst/>
          </a:prstGeom>
          <a:noFill/>
        </p:spPr>
        <p:txBody>
          <a:bodyPr wrap="none" lIns="0" rIns="0" tIns="0" bIns="0">
            <a:spAutoFit/>
          </a:bodyPr>
          <a:lstStyle/>
          <a:p>
            <a:r>
              <a:rPr sz="1150" b="0">
                <a:solidFill>
                  <a:srgbClr val="2E2E2E"/>
                </a:solidFill>
                <a:latin typeface="Calibri"/>
              </a:rPr>
              <a:t>of 2036 value.</a:t>
            </a:r>
          </a:p>
        </p:txBody>
      </p:sp>
      <p:sp>
        <p:nvSpPr>
          <p:cNvPr id="46" name="TextBox 45"/>
          <p:cNvSpPr txBox="1"/>
          <p:nvPr/>
        </p:nvSpPr>
        <p:spPr>
          <a:xfrm>
            <a:off x="276225" y="3447287"/>
            <a:ext cx="5029919" cy="194310"/>
          </a:xfrm>
          <a:prstGeom prst="rect">
            <a:avLst/>
          </a:prstGeom>
          <a:noFill/>
        </p:spPr>
        <p:txBody>
          <a:bodyPr wrap="none" lIns="0" rIns="0" tIns="0" bIns="0">
            <a:spAutoFit/>
          </a:bodyPr>
          <a:lstStyle/>
          <a:p>
            <a:r>
              <a:rPr sz="1150" b="0">
                <a:solidFill>
                  <a:srgbClr val="2E2E2E"/>
                </a:solidFill>
                <a:latin typeface="Calibri"/>
              </a:rPr>
              <a:t>▪ Demand spans 2 countries and 8 segmentation lenses (3 product type categories).</a:t>
            </a:r>
          </a:p>
        </p:txBody>
      </p:sp>
      <p:sp>
        <p:nvSpPr>
          <p:cNvPr id="47" name="TextBox 46"/>
          <p:cNvSpPr txBox="1"/>
          <p:nvPr/>
        </p:nvSpPr>
        <p:spPr>
          <a:xfrm>
            <a:off x="276225" y="3675125"/>
            <a:ext cx="2288914" cy="194310"/>
          </a:xfrm>
          <a:prstGeom prst="rect">
            <a:avLst/>
          </a:prstGeom>
          <a:noFill/>
        </p:spPr>
        <p:txBody>
          <a:bodyPr wrap="none" lIns="0" rIns="0" tIns="0" bIns="0">
            <a:spAutoFit/>
          </a:bodyPr>
          <a:lstStyle/>
          <a:p>
            <a:r>
              <a:rPr sz="1150" b="0">
                <a:solidFill>
                  <a:srgbClr val="2E2E2E"/>
                </a:solidFill>
                <a:latin typeface="Calibri"/>
              </a:rPr>
              <a:t>▪ U.S. is the largest country market at</a:t>
            </a:r>
          </a:p>
        </p:txBody>
      </p:sp>
      <p:pic>
        <p:nvPicPr>
          <p:cNvPr id="48" name="Picture 47" descr="lock.png"/>
          <p:cNvPicPr>
            <a:picLocks noChangeAspect="1"/>
          </p:cNvPicPr>
          <p:nvPr/>
        </p:nvPicPr>
        <p:blipFill>
          <a:blip r:embed="rId4"/>
          <a:stretch>
            <a:fillRect/>
          </a:stretch>
        </p:blipFill>
        <p:spPr>
          <a:xfrm>
            <a:off x="2514293" y="3664902"/>
            <a:ext cx="134549" cy="195707"/>
          </a:xfrm>
          <a:prstGeom prst="rect">
            <a:avLst/>
          </a:prstGeom>
        </p:spPr>
      </p:pic>
      <p:sp>
        <p:nvSpPr>
          <p:cNvPr id="49" name="TextBox 48"/>
          <p:cNvSpPr txBox="1"/>
          <p:nvPr/>
        </p:nvSpPr>
        <p:spPr>
          <a:xfrm>
            <a:off x="2689402" y="3675125"/>
            <a:ext cx="916272" cy="194310"/>
          </a:xfrm>
          <a:prstGeom prst="rect">
            <a:avLst/>
          </a:prstGeom>
          <a:noFill/>
        </p:spPr>
        <p:txBody>
          <a:bodyPr wrap="none" lIns="0" rIns="0" tIns="0" bIns="0">
            <a:spAutoFit/>
          </a:bodyPr>
          <a:lstStyle/>
          <a:p>
            <a:r>
              <a:rPr sz="1150" b="0">
                <a:solidFill>
                  <a:srgbClr val="2E2E2E"/>
                </a:solidFill>
                <a:latin typeface="Calibri"/>
              </a:rPr>
              <a:t>of 2036 value.</a:t>
            </a:r>
          </a:p>
        </p:txBody>
      </p:sp>
      <p:sp>
        <p:nvSpPr>
          <p:cNvPr id="50" name="TextBox 49"/>
          <p:cNvSpPr txBox="1"/>
          <p:nvPr/>
        </p:nvSpPr>
        <p:spPr>
          <a:xfrm>
            <a:off x="276225" y="4924425"/>
            <a:ext cx="3473574" cy="194310"/>
          </a:xfrm>
          <a:prstGeom prst="rect">
            <a:avLst/>
          </a:prstGeom>
          <a:noFill/>
        </p:spPr>
        <p:txBody>
          <a:bodyPr wrap="none" lIns="0" rIns="0" tIns="0" bIns="0">
            <a:spAutoFit/>
          </a:bodyPr>
          <a:lstStyle/>
          <a:p>
            <a:r>
              <a:rPr sz="1150" b="0">
                <a:solidFill>
                  <a:srgbClr val="2E2E2E"/>
                </a:solidFill>
                <a:latin typeface="Calibri"/>
              </a:rPr>
              <a:t>▪ Accelerating uptake of 'Hydrolyzed Eggshell Membrane'</a:t>
            </a:r>
          </a:p>
        </p:txBody>
      </p:sp>
      <p:sp>
        <p:nvSpPr>
          <p:cNvPr id="51" name="TextBox 50"/>
          <p:cNvSpPr txBox="1"/>
          <p:nvPr/>
        </p:nvSpPr>
        <p:spPr>
          <a:xfrm>
            <a:off x="276225" y="5099685"/>
            <a:ext cx="120414" cy="194310"/>
          </a:xfrm>
          <a:prstGeom prst="rect">
            <a:avLst/>
          </a:prstGeom>
          <a:noFill/>
        </p:spPr>
        <p:txBody>
          <a:bodyPr wrap="none" lIns="0" rIns="0" tIns="0" bIns="0">
            <a:spAutoFit/>
          </a:bodyPr>
          <a:lstStyle/>
          <a:p>
            <a:r>
              <a:rPr sz="1150" b="0">
                <a:solidFill>
                  <a:srgbClr val="2E2E2E"/>
                </a:solidFill>
                <a:latin typeface="Calibri"/>
              </a:rPr>
              <a:t>(</a:t>
            </a:r>
          </a:p>
        </p:txBody>
      </p:sp>
      <p:pic>
        <p:nvPicPr>
          <p:cNvPr id="52" name="Picture 51" descr="lock.png"/>
          <p:cNvPicPr>
            <a:picLocks noChangeAspect="1"/>
          </p:cNvPicPr>
          <p:nvPr/>
        </p:nvPicPr>
        <p:blipFill>
          <a:blip r:embed="rId4"/>
          <a:stretch>
            <a:fillRect/>
          </a:stretch>
        </p:blipFill>
        <p:spPr>
          <a:xfrm>
            <a:off x="345793" y="5089461"/>
            <a:ext cx="134549" cy="195707"/>
          </a:xfrm>
          <a:prstGeom prst="rect">
            <a:avLst/>
          </a:prstGeom>
        </p:spPr>
      </p:pic>
      <p:sp>
        <p:nvSpPr>
          <p:cNvPr id="53" name="TextBox 52"/>
          <p:cNvSpPr txBox="1"/>
          <p:nvPr/>
        </p:nvSpPr>
        <p:spPr>
          <a:xfrm>
            <a:off x="520902" y="5099685"/>
            <a:ext cx="490941" cy="194310"/>
          </a:xfrm>
          <a:prstGeom prst="rect">
            <a:avLst/>
          </a:prstGeom>
          <a:noFill/>
        </p:spPr>
        <p:txBody>
          <a:bodyPr wrap="none" lIns="0" rIns="0" tIns="0" bIns="0">
            <a:spAutoFit/>
          </a:bodyPr>
          <a:lstStyle/>
          <a:p>
            <a:r>
              <a:rPr sz="1150" b="0">
                <a:solidFill>
                  <a:srgbClr val="2E2E2E"/>
                </a:solidFill>
                <a:latin typeface="Calibri"/>
              </a:rPr>
              <a:t>CAGR).</a:t>
            </a:r>
          </a:p>
        </p:txBody>
      </p:sp>
      <p:sp>
        <p:nvSpPr>
          <p:cNvPr id="54" name="TextBox 53"/>
          <p:cNvSpPr txBox="1"/>
          <p:nvPr/>
        </p:nvSpPr>
        <p:spPr>
          <a:xfrm>
            <a:off x="276225" y="5327522"/>
            <a:ext cx="2146510" cy="194310"/>
          </a:xfrm>
          <a:prstGeom prst="rect">
            <a:avLst/>
          </a:prstGeom>
          <a:noFill/>
        </p:spPr>
        <p:txBody>
          <a:bodyPr wrap="none" lIns="0" rIns="0" tIns="0" bIns="0">
            <a:spAutoFit/>
          </a:bodyPr>
          <a:lstStyle/>
          <a:p>
            <a:r>
              <a:rPr sz="1150" b="0">
                <a:solidFill>
                  <a:srgbClr val="2E2E2E"/>
                </a:solidFill>
                <a:latin typeface="Calibri"/>
              </a:rPr>
              <a:t>▪ Fast-growing demand in Canada (</a:t>
            </a:r>
          </a:p>
        </p:txBody>
      </p:sp>
      <p:pic>
        <p:nvPicPr>
          <p:cNvPr id="55" name="Picture 54" descr="lock.png"/>
          <p:cNvPicPr>
            <a:picLocks noChangeAspect="1"/>
          </p:cNvPicPr>
          <p:nvPr/>
        </p:nvPicPr>
        <p:blipFill>
          <a:blip r:embed="rId4"/>
          <a:stretch>
            <a:fillRect/>
          </a:stretch>
        </p:blipFill>
        <p:spPr>
          <a:xfrm>
            <a:off x="2371889" y="5317299"/>
            <a:ext cx="134549" cy="195707"/>
          </a:xfrm>
          <a:prstGeom prst="rect">
            <a:avLst/>
          </a:prstGeom>
        </p:spPr>
      </p:pic>
      <p:sp>
        <p:nvSpPr>
          <p:cNvPr id="56" name="TextBox 55"/>
          <p:cNvSpPr txBox="1"/>
          <p:nvPr/>
        </p:nvSpPr>
        <p:spPr>
          <a:xfrm>
            <a:off x="2546998" y="5327522"/>
            <a:ext cx="157212" cy="194310"/>
          </a:xfrm>
          <a:prstGeom prst="rect">
            <a:avLst/>
          </a:prstGeom>
          <a:noFill/>
        </p:spPr>
        <p:txBody>
          <a:bodyPr wrap="none" lIns="0" rIns="0" tIns="0" bIns="0">
            <a:spAutoFit/>
          </a:bodyPr>
          <a:lstStyle/>
          <a:p>
            <a:r>
              <a:rPr sz="1150" b="0">
                <a:solidFill>
                  <a:srgbClr val="2E2E2E"/>
                </a:solidFill>
                <a:latin typeface="Calibri"/>
              </a:rPr>
              <a:t>).</a:t>
            </a:r>
          </a:p>
        </p:txBody>
      </p:sp>
      <p:sp>
        <p:nvSpPr>
          <p:cNvPr id="57" name="TextBox 56"/>
          <p:cNvSpPr txBox="1"/>
          <p:nvPr/>
        </p:nvSpPr>
        <p:spPr>
          <a:xfrm>
            <a:off x="276225" y="5555360"/>
            <a:ext cx="3184865" cy="194310"/>
          </a:xfrm>
          <a:prstGeom prst="rect">
            <a:avLst/>
          </a:prstGeom>
          <a:noFill/>
        </p:spPr>
        <p:txBody>
          <a:bodyPr wrap="none" lIns="0" rIns="0" tIns="0" bIns="0">
            <a:spAutoFit/>
          </a:bodyPr>
          <a:lstStyle/>
          <a:p>
            <a:r>
              <a:rPr sz="1150" b="0">
                <a:solidFill>
                  <a:srgbClr val="2E2E2E"/>
                </a:solidFill>
                <a:latin typeface="Calibri"/>
              </a:rPr>
              <a:t>▪ Momentum in Functional Food &amp; Beverages within</a:t>
            </a:r>
          </a:p>
        </p:txBody>
      </p:sp>
      <p:sp>
        <p:nvSpPr>
          <p:cNvPr id="58" name="TextBox 57"/>
          <p:cNvSpPr txBox="1"/>
          <p:nvPr/>
        </p:nvSpPr>
        <p:spPr>
          <a:xfrm>
            <a:off x="276225" y="5730620"/>
            <a:ext cx="812440" cy="194310"/>
          </a:xfrm>
          <a:prstGeom prst="rect">
            <a:avLst/>
          </a:prstGeom>
          <a:noFill/>
        </p:spPr>
        <p:txBody>
          <a:bodyPr wrap="none" lIns="0" rIns="0" tIns="0" bIns="0">
            <a:spAutoFit/>
          </a:bodyPr>
          <a:lstStyle/>
          <a:p>
            <a:r>
              <a:rPr sz="1150" b="0">
                <a:solidFill>
                  <a:srgbClr val="2E2E2E"/>
                </a:solidFill>
                <a:latin typeface="Calibri"/>
              </a:rPr>
              <a:t>application (</a:t>
            </a:r>
          </a:p>
        </p:txBody>
      </p:sp>
      <p:pic>
        <p:nvPicPr>
          <p:cNvPr id="59" name="Picture 58" descr="lock.png"/>
          <p:cNvPicPr>
            <a:picLocks noChangeAspect="1"/>
          </p:cNvPicPr>
          <p:nvPr/>
        </p:nvPicPr>
        <p:blipFill>
          <a:blip r:embed="rId4"/>
          <a:stretch>
            <a:fillRect/>
          </a:stretch>
        </p:blipFill>
        <p:spPr>
          <a:xfrm>
            <a:off x="1037819" y="5720397"/>
            <a:ext cx="134549" cy="195707"/>
          </a:xfrm>
          <a:prstGeom prst="rect">
            <a:avLst/>
          </a:prstGeom>
        </p:spPr>
      </p:pic>
      <p:sp>
        <p:nvSpPr>
          <p:cNvPr id="60" name="TextBox 59"/>
          <p:cNvSpPr txBox="1"/>
          <p:nvPr/>
        </p:nvSpPr>
        <p:spPr>
          <a:xfrm>
            <a:off x="1212928" y="5730620"/>
            <a:ext cx="157212" cy="194310"/>
          </a:xfrm>
          <a:prstGeom prst="rect">
            <a:avLst/>
          </a:prstGeom>
          <a:noFill/>
        </p:spPr>
        <p:txBody>
          <a:bodyPr wrap="none" lIns="0" rIns="0" tIns="0" bIns="0">
            <a:spAutoFit/>
          </a:bodyPr>
          <a:lstStyle/>
          <a:p>
            <a:r>
              <a:rPr sz="1150" b="0">
                <a:solidFill>
                  <a:srgbClr val="2E2E2E"/>
                </a:solidFill>
                <a:latin typeface="Calibri"/>
              </a:rPr>
              <a:t>).</a:t>
            </a:r>
          </a:p>
        </p:txBody>
      </p:sp>
      <p:sp>
        <p:nvSpPr>
          <p:cNvPr id="61" name="TextBox 60"/>
          <p:cNvSpPr txBox="1"/>
          <p:nvPr/>
        </p:nvSpPr>
        <p:spPr>
          <a:xfrm>
            <a:off x="4371975" y="4924425"/>
            <a:ext cx="3109019" cy="194310"/>
          </a:xfrm>
          <a:prstGeom prst="rect">
            <a:avLst/>
          </a:prstGeom>
          <a:noFill/>
        </p:spPr>
        <p:txBody>
          <a:bodyPr wrap="none" lIns="0" rIns="0" tIns="0" bIns="0">
            <a:spAutoFit/>
          </a:bodyPr>
          <a:lstStyle/>
          <a:p>
            <a:r>
              <a:rPr sz="1150" b="0">
                <a:solidFill>
                  <a:srgbClr val="2E2E2E"/>
                </a:solidFill>
                <a:latin typeface="Calibri"/>
              </a:rPr>
              <a:t>▪ Slower momentum in 'Specialty Extracted Protein</a:t>
            </a:r>
          </a:p>
        </p:txBody>
      </p:sp>
      <p:sp>
        <p:nvSpPr>
          <p:cNvPr id="62" name="TextBox 61"/>
          <p:cNvSpPr txBox="1"/>
          <p:nvPr/>
        </p:nvSpPr>
        <p:spPr>
          <a:xfrm>
            <a:off x="4371975" y="5099685"/>
            <a:ext cx="729146" cy="194310"/>
          </a:xfrm>
          <a:prstGeom prst="rect">
            <a:avLst/>
          </a:prstGeom>
          <a:noFill/>
        </p:spPr>
        <p:txBody>
          <a:bodyPr wrap="none" lIns="0" rIns="0" tIns="0" bIns="0">
            <a:spAutoFit/>
          </a:bodyPr>
          <a:lstStyle/>
          <a:p>
            <a:r>
              <a:rPr sz="1150" b="0">
                <a:solidFill>
                  <a:srgbClr val="2E2E2E"/>
                </a:solidFill>
                <a:latin typeface="Calibri"/>
              </a:rPr>
              <a:t>Fractions' (</a:t>
            </a:r>
          </a:p>
        </p:txBody>
      </p:sp>
      <p:pic>
        <p:nvPicPr>
          <p:cNvPr id="63" name="Picture 62" descr="lock.png"/>
          <p:cNvPicPr>
            <a:picLocks noChangeAspect="1"/>
          </p:cNvPicPr>
          <p:nvPr/>
        </p:nvPicPr>
        <p:blipFill>
          <a:blip r:embed="rId4"/>
          <a:stretch>
            <a:fillRect/>
          </a:stretch>
        </p:blipFill>
        <p:spPr>
          <a:xfrm>
            <a:off x="5050275" y="5089461"/>
            <a:ext cx="134549" cy="195707"/>
          </a:xfrm>
          <a:prstGeom prst="rect">
            <a:avLst/>
          </a:prstGeom>
        </p:spPr>
      </p:pic>
      <p:sp>
        <p:nvSpPr>
          <p:cNvPr id="64" name="TextBox 63"/>
          <p:cNvSpPr txBox="1"/>
          <p:nvPr/>
        </p:nvSpPr>
        <p:spPr>
          <a:xfrm>
            <a:off x="5225384" y="5099685"/>
            <a:ext cx="157212" cy="194310"/>
          </a:xfrm>
          <a:prstGeom prst="rect">
            <a:avLst/>
          </a:prstGeom>
          <a:noFill/>
        </p:spPr>
        <p:txBody>
          <a:bodyPr wrap="none" lIns="0" rIns="0" tIns="0" bIns="0">
            <a:spAutoFit/>
          </a:bodyPr>
          <a:lstStyle/>
          <a:p>
            <a:r>
              <a:rPr sz="1150" b="0">
                <a:solidFill>
                  <a:srgbClr val="2E2E2E"/>
                </a:solidFill>
                <a:latin typeface="Calibri"/>
              </a:rPr>
              <a:t>).</a:t>
            </a:r>
          </a:p>
        </p:txBody>
      </p:sp>
      <p:sp>
        <p:nvSpPr>
          <p:cNvPr id="65" name="TextBox 64"/>
          <p:cNvSpPr txBox="1"/>
          <p:nvPr/>
        </p:nvSpPr>
        <p:spPr>
          <a:xfrm>
            <a:off x="4371975" y="5327522"/>
            <a:ext cx="3264197" cy="194310"/>
          </a:xfrm>
          <a:prstGeom prst="rect">
            <a:avLst/>
          </a:prstGeom>
          <a:noFill/>
        </p:spPr>
        <p:txBody>
          <a:bodyPr wrap="none" lIns="0" rIns="0" tIns="0" bIns="0">
            <a:spAutoFit/>
          </a:bodyPr>
          <a:lstStyle/>
          <a:p>
            <a:r>
              <a:rPr sz="1150" b="0">
                <a:solidFill>
                  <a:srgbClr val="2E2E2E"/>
                </a:solidFill>
                <a:latin typeface="Calibri"/>
              </a:rPr>
              <a:t>▪ Maturing demand in established categories caps the</a:t>
            </a:r>
          </a:p>
        </p:txBody>
      </p:sp>
      <p:sp>
        <p:nvSpPr>
          <p:cNvPr id="66" name="TextBox 65"/>
          <p:cNvSpPr txBox="1"/>
          <p:nvPr/>
        </p:nvSpPr>
        <p:spPr>
          <a:xfrm>
            <a:off x="4371975" y="5502782"/>
            <a:ext cx="562272" cy="194310"/>
          </a:xfrm>
          <a:prstGeom prst="rect">
            <a:avLst/>
          </a:prstGeom>
          <a:noFill/>
        </p:spPr>
        <p:txBody>
          <a:bodyPr wrap="none" lIns="0" rIns="0" tIns="0" bIns="0">
            <a:spAutoFit/>
          </a:bodyPr>
          <a:lstStyle/>
          <a:p>
            <a:r>
              <a:rPr sz="1150" b="0">
                <a:solidFill>
                  <a:srgbClr val="2E2E2E"/>
                </a:solidFill>
                <a:latin typeface="Calibri"/>
              </a:rPr>
              <a:t>blended</a:t>
            </a:r>
          </a:p>
        </p:txBody>
      </p:sp>
      <p:pic>
        <p:nvPicPr>
          <p:cNvPr id="67" name="Picture 66" descr="lock.png"/>
          <p:cNvPicPr>
            <a:picLocks noChangeAspect="1"/>
          </p:cNvPicPr>
          <p:nvPr/>
        </p:nvPicPr>
        <p:blipFill>
          <a:blip r:embed="rId4"/>
          <a:stretch>
            <a:fillRect/>
          </a:stretch>
        </p:blipFill>
        <p:spPr>
          <a:xfrm>
            <a:off x="4883401" y="5492559"/>
            <a:ext cx="134549" cy="195707"/>
          </a:xfrm>
          <a:prstGeom prst="rect">
            <a:avLst/>
          </a:prstGeom>
        </p:spPr>
      </p:pic>
      <p:sp>
        <p:nvSpPr>
          <p:cNvPr id="68" name="TextBox 67"/>
          <p:cNvSpPr txBox="1"/>
          <p:nvPr/>
        </p:nvSpPr>
        <p:spPr>
          <a:xfrm>
            <a:off x="5058510" y="5502782"/>
            <a:ext cx="446726" cy="194310"/>
          </a:xfrm>
          <a:prstGeom prst="rect">
            <a:avLst/>
          </a:prstGeom>
          <a:noFill/>
        </p:spPr>
        <p:txBody>
          <a:bodyPr wrap="none" lIns="0" rIns="0" tIns="0" bIns="0">
            <a:spAutoFit/>
          </a:bodyPr>
          <a:lstStyle/>
          <a:p>
            <a:r>
              <a:rPr sz="1150" b="0">
                <a:solidFill>
                  <a:srgbClr val="2E2E2E"/>
                </a:solidFill>
                <a:latin typeface="Calibri"/>
              </a:rPr>
              <a:t>CAGR.</a:t>
            </a:r>
          </a:p>
        </p:txBody>
      </p:sp>
      <p:sp>
        <p:nvSpPr>
          <p:cNvPr id="69" name="TextBox 68"/>
          <p:cNvSpPr txBox="1"/>
          <p:nvPr/>
        </p:nvSpPr>
        <p:spPr>
          <a:xfrm>
            <a:off x="4371975" y="5730620"/>
            <a:ext cx="3170349" cy="194310"/>
          </a:xfrm>
          <a:prstGeom prst="rect">
            <a:avLst/>
          </a:prstGeom>
          <a:noFill/>
        </p:spPr>
        <p:txBody>
          <a:bodyPr wrap="none" lIns="0" rIns="0" tIns="0" bIns="0">
            <a:spAutoFit/>
          </a:bodyPr>
          <a:lstStyle/>
          <a:p>
            <a:r>
              <a:rPr sz="1150" b="0">
                <a:solidFill>
                  <a:srgbClr val="2E2E2E"/>
                </a:solidFill>
                <a:latin typeface="Calibri"/>
              </a:rPr>
              <a:t>▪ Value concentration in 'Specialty Extracted Protein</a:t>
            </a:r>
          </a:p>
        </p:txBody>
      </p:sp>
      <p:sp>
        <p:nvSpPr>
          <p:cNvPr id="70" name="TextBox 69"/>
          <p:cNvSpPr txBox="1"/>
          <p:nvPr/>
        </p:nvSpPr>
        <p:spPr>
          <a:xfrm>
            <a:off x="4371975" y="5905880"/>
            <a:ext cx="2587575" cy="194310"/>
          </a:xfrm>
          <a:prstGeom prst="rect">
            <a:avLst/>
          </a:prstGeom>
          <a:noFill/>
        </p:spPr>
        <p:txBody>
          <a:bodyPr wrap="none" lIns="0" rIns="0" tIns="0" bIns="0">
            <a:spAutoFit/>
          </a:bodyPr>
          <a:lstStyle/>
          <a:p>
            <a:r>
              <a:rPr sz="1150" b="0">
                <a:solidFill>
                  <a:srgbClr val="2E2E2E"/>
                </a:solidFill>
                <a:latin typeface="Calibri"/>
              </a:rPr>
              <a:t>Fractions' raises barriers for new entrants.</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Supply Side Trends</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Executive summary of recent developments, investments and R&amp;D activity shaping the supply side of the market</a:t>
            </a:r>
          </a:p>
        </p:txBody>
      </p:sp>
      <p:sp>
        <p:nvSpPr>
          <p:cNvPr id="7" name="Rounded Rectangle 6"/>
          <p:cNvSpPr/>
          <p:nvPr/>
        </p:nvSpPr>
        <p:spPr>
          <a:xfrm>
            <a:off x="142875" y="981075"/>
            <a:ext cx="5876925" cy="1733550"/>
          </a:xfrm>
          <a:prstGeom prst="roundRect">
            <a:avLst>
              <a:gd name="adj" fmla="val 4395"/>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6225" y="1066800"/>
            <a:ext cx="5610225" cy="209550"/>
          </a:xfrm>
          <a:prstGeom prst="rect">
            <a:avLst/>
          </a:prstGeom>
          <a:noFill/>
        </p:spPr>
        <p:txBody>
          <a:bodyPr wrap="square" lIns="0" rIns="19050" tIns="9525" bIns="9525">
            <a:spAutoFit/>
          </a:bodyPr>
          <a:lstStyle/>
          <a:p>
            <a:pPr algn="l"/>
            <a:r>
              <a:rPr sz="1300" b="1">
                <a:solidFill>
                  <a:srgbClr val="0E2A5C"/>
                </a:solidFill>
                <a:latin typeface="Calibri"/>
              </a:rPr>
              <a:t>Recent Developments &amp; Key Industry Activities</a:t>
            </a:r>
          </a:p>
        </p:txBody>
      </p:sp>
      <p:sp>
        <p:nvSpPr>
          <p:cNvPr id="9" name="Rectangle 8"/>
          <p:cNvSpPr/>
          <p:nvPr/>
        </p:nvSpPr>
        <p:spPr>
          <a:xfrm>
            <a:off x="276225" y="1304925"/>
            <a:ext cx="5610225"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6225" y="1390650"/>
            <a:ext cx="5610225" cy="124777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t>
            </a:r>
            <a:r>
              <a:rPr sz="1150" b="0">
                <a:solidFill>
                  <a:srgbClr val="2E2E2E"/>
                </a:solidFill>
                <a:latin typeface="Calibri"/>
              </a:rPr>
              <a:t>Capacity and product development are concentrating in 'Hydrolyzed Eggshell Membrane' and Canada.</a:t>
            </a:r>
          </a:p>
          <a:p>
            <a:pPr algn="l">
              <a:lnSpc>
                <a:spcPct val="110000"/>
              </a:lnSpc>
              <a:spcBef>
                <a:spcPts val="0"/>
              </a:spcBef>
              <a:spcAft>
                <a:spcPts val="500"/>
              </a:spcAft>
            </a:pPr>
            <a:r>
              <a:rPr sz="1100" b="0">
                <a:solidFill>
                  <a:srgbClr val="2A5F8F"/>
                </a:solidFill>
                <a:latin typeface="Calibri"/>
              </a:rPr>
              <a:t>▪  </a:t>
            </a:r>
            <a:r>
              <a:rPr sz="1150" b="0">
                <a:solidFill>
                  <a:srgbClr val="2E2E2E"/>
                </a:solidFill>
                <a:latin typeface="Calibri"/>
              </a:rPr>
              <a:t>Portfolio expansion tracks the shift toward higher-growth product type categories.</a:t>
            </a:r>
          </a:p>
          <a:p>
            <a:pPr algn="l">
              <a:lnSpc>
                <a:spcPct val="110000"/>
              </a:lnSpc>
              <a:spcBef>
                <a:spcPts val="0"/>
              </a:spcBef>
              <a:spcAft>
                <a:spcPts val="500"/>
              </a:spcAft>
            </a:pPr>
            <a:r>
              <a:rPr sz="1100" b="0">
                <a:solidFill>
                  <a:srgbClr val="2A5F8F"/>
                </a:solidFill>
                <a:latin typeface="Calibri"/>
              </a:rPr>
              <a:t>▪  </a:t>
            </a:r>
            <a:r>
              <a:rPr sz="1150" b="0">
                <a:solidFill>
                  <a:srgbClr val="2E2E2E"/>
                </a:solidFill>
                <a:latin typeface="Calibri"/>
              </a:rPr>
              <a:t>Commercial focus is intensifying across U.S. and Canada.</a:t>
            </a:r>
          </a:p>
        </p:txBody>
      </p:sp>
      <p:sp>
        <p:nvSpPr>
          <p:cNvPr id="11" name="Rounded Rectangle 10"/>
          <p:cNvSpPr/>
          <p:nvPr/>
        </p:nvSpPr>
        <p:spPr>
          <a:xfrm>
            <a:off x="6172200" y="981075"/>
            <a:ext cx="5876925" cy="1733550"/>
          </a:xfrm>
          <a:prstGeom prst="roundRect">
            <a:avLst>
              <a:gd name="adj" fmla="val 4395"/>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05550" y="1066800"/>
            <a:ext cx="5610225" cy="209550"/>
          </a:xfrm>
          <a:prstGeom prst="rect">
            <a:avLst/>
          </a:prstGeom>
          <a:noFill/>
        </p:spPr>
        <p:txBody>
          <a:bodyPr wrap="square" lIns="0" rIns="19050" tIns="9525" bIns="9525">
            <a:spAutoFit/>
          </a:bodyPr>
          <a:lstStyle/>
          <a:p>
            <a:pPr algn="l"/>
            <a:r>
              <a:rPr sz="1300" b="1">
                <a:solidFill>
                  <a:srgbClr val="0E2A5C"/>
                </a:solidFill>
                <a:latin typeface="Calibri"/>
              </a:rPr>
              <a:t>Key Insights</a:t>
            </a:r>
          </a:p>
        </p:txBody>
      </p:sp>
      <p:sp>
        <p:nvSpPr>
          <p:cNvPr id="13" name="Rectangle 12"/>
          <p:cNvSpPr/>
          <p:nvPr/>
        </p:nvSpPr>
        <p:spPr>
          <a:xfrm>
            <a:off x="6305550" y="1304925"/>
            <a:ext cx="5610225"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05550" y="1390650"/>
            <a:ext cx="5610225" cy="1247775"/>
          </a:xfrm>
          <a:prstGeom prst="rect">
            <a:avLst/>
          </a:prstGeom>
          <a:noFill/>
        </p:spPr>
        <p:txBody>
          <a:bodyPr wrap="square" lIns="0" rIns="19050" tIns="9525" bIns="9525">
            <a:spAutoFit/>
          </a:bodyPr>
          <a:lstStyle/>
          <a:p>
            <a:pPr algn="l">
              <a:lnSpc>
                <a:spcPct val="100000"/>
              </a:lnSpc>
              <a:spcBef>
                <a:spcPts val="0"/>
              </a:spcBef>
              <a:spcAft>
                <a:spcPts val="300"/>
              </a:spcAft>
            </a:pPr>
            <a:r>
              <a:rPr sz="1100" b="0">
                <a:solidFill>
                  <a:srgbClr val="2A5F8F"/>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2A5F8F"/>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2A5F8F"/>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2A5F8F"/>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2A5F8F"/>
                </a:solidFill>
                <a:latin typeface="Calibri"/>
              </a:rPr>
              <a:t/>
            </a:r>
            <a:r>
              <a:rPr sz="1100" b="0">
                <a:solidFill>
                  <a:srgbClr val="2E2E2E"/>
                </a:solidFill>
                <a:latin typeface="Calibri"/>
              </a:rPr>
              <a:t/>
            </a:r>
          </a:p>
        </p:txBody>
      </p:sp>
      <p:sp>
        <p:nvSpPr>
          <p:cNvPr id="15" name="Rounded Rectangle 14"/>
          <p:cNvSpPr/>
          <p:nvPr/>
        </p:nvSpPr>
        <p:spPr>
          <a:xfrm>
            <a:off x="142875" y="2847975"/>
            <a:ext cx="5876925" cy="1428750"/>
          </a:xfrm>
          <a:prstGeom prst="roundRect">
            <a:avLst>
              <a:gd name="adj" fmla="val 5333"/>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6225" y="2933700"/>
            <a:ext cx="5610225" cy="209550"/>
          </a:xfrm>
          <a:prstGeom prst="rect">
            <a:avLst/>
          </a:prstGeom>
          <a:noFill/>
        </p:spPr>
        <p:txBody>
          <a:bodyPr wrap="square" lIns="0" rIns="19050" tIns="9525" bIns="9525">
            <a:spAutoFit/>
          </a:bodyPr>
          <a:lstStyle/>
          <a:p>
            <a:pPr algn="l"/>
            <a:r>
              <a:rPr sz="1300" b="1">
                <a:solidFill>
                  <a:srgbClr val="0E2A5C"/>
                </a:solidFill>
                <a:latin typeface="Calibri"/>
              </a:rPr>
              <a:t>Strategic Acquisitions &amp; New Investments</a:t>
            </a:r>
          </a:p>
        </p:txBody>
      </p:sp>
      <p:sp>
        <p:nvSpPr>
          <p:cNvPr id="17" name="Rectangle 16"/>
          <p:cNvSpPr/>
          <p:nvPr/>
        </p:nvSpPr>
        <p:spPr>
          <a:xfrm>
            <a:off x="276225" y="3171825"/>
            <a:ext cx="5610225"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76225" y="3257550"/>
            <a:ext cx="5610225" cy="942975"/>
          </a:xfrm>
          <a:prstGeom prst="rect">
            <a:avLst/>
          </a:prstGeom>
          <a:noFill/>
        </p:spPr>
        <p:txBody>
          <a:bodyPr wrap="square" lIns="0" rIns="19050" tIns="9525" bIns="9525">
            <a:spAutoFit/>
          </a:bodyPr>
          <a:lstStyle/>
          <a:p>
            <a:pPr algn="l">
              <a:lnSpc>
                <a:spcPct val="100000"/>
              </a:lnSpc>
              <a:spcBef>
                <a:spcPts val="0"/>
              </a:spcBef>
              <a:spcAft>
                <a:spcPts val="300"/>
              </a:spcAft>
            </a:pPr>
            <a:r>
              <a:rPr sz="1100" b="0">
                <a:solidFill>
                  <a:srgbClr val="2A5F8F"/>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2A5F8F"/>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2A5F8F"/>
                </a:solidFill>
                <a:latin typeface="Calibri"/>
              </a:rPr>
              <a:t/>
            </a:r>
            <a:r>
              <a:rPr sz="1100" b="0">
                <a:solidFill>
                  <a:srgbClr val="2E2E2E"/>
                </a:solidFill>
                <a:latin typeface="Calibri"/>
              </a:rPr>
              <a:t/>
            </a:r>
          </a:p>
        </p:txBody>
      </p:sp>
      <p:sp>
        <p:nvSpPr>
          <p:cNvPr id="19" name="Rounded Rectangle 18"/>
          <p:cNvSpPr/>
          <p:nvPr/>
        </p:nvSpPr>
        <p:spPr>
          <a:xfrm>
            <a:off x="6172200" y="2847975"/>
            <a:ext cx="5876925" cy="1428750"/>
          </a:xfrm>
          <a:prstGeom prst="roundRect">
            <a:avLst>
              <a:gd name="adj" fmla="val 5333"/>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05550" y="2933700"/>
            <a:ext cx="5610225" cy="209550"/>
          </a:xfrm>
          <a:prstGeom prst="rect">
            <a:avLst/>
          </a:prstGeom>
          <a:noFill/>
        </p:spPr>
        <p:txBody>
          <a:bodyPr wrap="square" lIns="0" rIns="19050" tIns="9525" bIns="9525">
            <a:spAutoFit/>
          </a:bodyPr>
          <a:lstStyle/>
          <a:p>
            <a:pPr algn="l"/>
            <a:r>
              <a:rPr sz="1300" b="1">
                <a:solidFill>
                  <a:srgbClr val="0E2A5C"/>
                </a:solidFill>
                <a:latin typeface="Calibri"/>
              </a:rPr>
              <a:t>Substantial Investment in R&amp;D</a:t>
            </a:r>
          </a:p>
        </p:txBody>
      </p:sp>
      <p:sp>
        <p:nvSpPr>
          <p:cNvPr id="21" name="Rectangle 20"/>
          <p:cNvSpPr/>
          <p:nvPr/>
        </p:nvSpPr>
        <p:spPr>
          <a:xfrm>
            <a:off x="6305550" y="3171825"/>
            <a:ext cx="5610225"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05550" y="3257550"/>
            <a:ext cx="5610225" cy="942975"/>
          </a:xfrm>
          <a:prstGeom prst="rect">
            <a:avLst/>
          </a:prstGeom>
          <a:noFill/>
        </p:spPr>
        <p:txBody>
          <a:bodyPr wrap="square" lIns="0" rIns="19050" tIns="9525" bIns="9525">
            <a:spAutoFit/>
          </a:bodyPr>
          <a:lstStyle/>
          <a:p>
            <a:pPr algn="l">
              <a:lnSpc>
                <a:spcPct val="100000"/>
              </a:lnSpc>
              <a:spcBef>
                <a:spcPts val="0"/>
              </a:spcBef>
              <a:spcAft>
                <a:spcPts val="300"/>
              </a:spcAft>
            </a:pPr>
            <a:r>
              <a:rPr sz="1100" b="0">
                <a:solidFill>
                  <a:srgbClr val="2A5F8F"/>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2A5F8F"/>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2A5F8F"/>
                </a:solidFill>
                <a:latin typeface="Calibri"/>
              </a:rPr>
              <a:t/>
            </a:r>
            <a:r>
              <a:rPr sz="1100" b="0">
                <a:solidFill>
                  <a:srgbClr val="2E2E2E"/>
                </a:solidFill>
                <a:latin typeface="Calibri"/>
              </a:rPr>
              <a:t/>
            </a:r>
          </a:p>
        </p:txBody>
      </p:sp>
      <p:sp>
        <p:nvSpPr>
          <p:cNvPr id="23" name="Rounded Rectangle 22"/>
          <p:cNvSpPr/>
          <p:nvPr/>
        </p:nvSpPr>
        <p:spPr>
          <a:xfrm>
            <a:off x="142875" y="4410075"/>
            <a:ext cx="11906250" cy="2209800"/>
          </a:xfrm>
          <a:prstGeom prst="roundRect">
            <a:avLst>
              <a:gd name="adj" fmla="val 344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38125" y="4467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structure product type share (2036)</a:t>
            </a:r>
          </a:p>
        </p:txBody>
      </p:sp>
      <p:graphicFrame>
        <p:nvGraphicFramePr>
          <p:cNvPr id="25" name="Chart 24"/>
          <p:cNvGraphicFramePr>
            <a:graphicFrameLocks noGrp="1"/>
          </p:cNvGraphicFramePr>
          <p:nvPr/>
        </p:nvGraphicFramePr>
        <p:xfrm>
          <a:off x="238125" y="4695825"/>
          <a:ext cx="11715750" cy="1866900"/>
        </p:xfrm>
        <a:graphic>
          <a:graphicData uri="http://schemas.openxmlformats.org/drawingml/2006/chart">
            <c:chart xmlns:c="http://schemas.openxmlformats.org/drawingml/2006/chart" r:id="rId3"/>
          </a:graphicData>
        </a:graphic>
      </p:graphicFrame>
      <p:sp>
        <p:nvSpPr>
          <p:cNvPr id="26" name="TextBox 25"/>
          <p:cNvSpPr txBox="1"/>
          <p:nvPr/>
        </p:nvSpPr>
        <p:spPr>
          <a:xfrm>
            <a:off x="3892075" y="5514975"/>
            <a:ext cx="893125" cy="228600"/>
          </a:xfrm>
          <a:prstGeom prst="rect">
            <a:avLst/>
          </a:prstGeom>
          <a:noFill/>
        </p:spPr>
        <p:txBody>
          <a:bodyPr wrap="square" lIns="28575" rIns="28575" tIns="9525" bIns="9525" anchor="ctr">
            <a:spAutoFit/>
          </a:bodyPr>
          <a:lstStyle/>
          <a:p>
            <a:pPr algn="ctr"/>
            <a:r>
              <a:rPr sz="1300" b="1">
                <a:solidFill>
                  <a:srgbClr val="2E2E2E"/>
                </a:solidFill>
                <a:latin typeface="Calibri"/>
              </a:rPr>
              <a:t/>
            </a:r>
          </a:p>
        </p:txBody>
      </p:sp>
      <p:sp>
        <p:nvSpPr>
          <p:cNvPr id="27" name="Rectangle 26"/>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29" name="Picture 28" descr="lock.png"/>
          <p:cNvPicPr>
            <a:picLocks noChangeAspect="1"/>
          </p:cNvPicPr>
          <p:nvPr/>
        </p:nvPicPr>
        <p:blipFill>
          <a:blip r:embed="rId5"/>
          <a:stretch>
            <a:fillRect/>
          </a:stretch>
        </p:blipFill>
        <p:spPr>
          <a:xfrm>
            <a:off x="4143964" y="5349744"/>
            <a:ext cx="366052" cy="532439"/>
          </a:xfrm>
          <a:prstGeom prst="rect">
            <a:avLst/>
          </a:prstGeom>
        </p:spPr>
      </p:pic>
      <p:sp>
        <p:nvSpPr>
          <p:cNvPr id="30" name="TextBox 29"/>
          <p:cNvSpPr txBox="1"/>
          <p:nvPr/>
        </p:nvSpPr>
        <p:spPr>
          <a:xfrm>
            <a:off x="6305550" y="1400175"/>
            <a:ext cx="684113" cy="186689"/>
          </a:xfrm>
          <a:prstGeom prst="rect">
            <a:avLst/>
          </a:prstGeom>
          <a:noFill/>
        </p:spPr>
        <p:txBody>
          <a:bodyPr wrap="none" lIns="0" rIns="0" tIns="0" bIns="0">
            <a:spAutoFit/>
          </a:bodyPr>
          <a:lstStyle/>
          <a:p>
            <a:r>
              <a:rPr sz="1100" b="0">
                <a:solidFill>
                  <a:srgbClr val="2E2E2E"/>
                </a:solidFill>
                <a:latin typeface="Calibri"/>
              </a:rPr>
              <a:t>▪ 2026 size</a:t>
            </a:r>
          </a:p>
        </p:txBody>
      </p:sp>
      <p:pic>
        <p:nvPicPr>
          <p:cNvPr id="31" name="Picture 30" descr="lock.png"/>
          <p:cNvPicPr>
            <a:picLocks noChangeAspect="1"/>
          </p:cNvPicPr>
          <p:nvPr/>
        </p:nvPicPr>
        <p:blipFill>
          <a:blip r:embed="rId5"/>
          <a:stretch>
            <a:fillRect/>
          </a:stretch>
        </p:blipFill>
        <p:spPr>
          <a:xfrm>
            <a:off x="6937714" y="1390396"/>
            <a:ext cx="128699" cy="187198"/>
          </a:xfrm>
          <a:prstGeom prst="rect">
            <a:avLst/>
          </a:prstGeom>
        </p:spPr>
      </p:pic>
      <p:sp>
        <p:nvSpPr>
          <p:cNvPr id="32" name="TextBox 31"/>
          <p:cNvSpPr txBox="1"/>
          <p:nvPr/>
        </p:nvSpPr>
        <p:spPr>
          <a:xfrm>
            <a:off x="7105210" y="1400175"/>
            <a:ext cx="878383" cy="186689"/>
          </a:xfrm>
          <a:prstGeom prst="rect">
            <a:avLst/>
          </a:prstGeom>
          <a:noFill/>
        </p:spPr>
        <p:txBody>
          <a:bodyPr wrap="none" lIns="0" rIns="0" tIns="0" bIns="0">
            <a:spAutoFit/>
          </a:bodyPr>
          <a:lstStyle/>
          <a:p>
            <a:r>
              <a:rPr sz="1100" b="0">
                <a:solidFill>
                  <a:srgbClr val="2E2E2E"/>
                </a:solidFill>
                <a:latin typeface="Calibri"/>
              </a:rPr>
              <a:t>US$ Mn; 2036</a:t>
            </a:r>
          </a:p>
        </p:txBody>
      </p:sp>
      <p:pic>
        <p:nvPicPr>
          <p:cNvPr id="33" name="Picture 32" descr="lock.png"/>
          <p:cNvPicPr>
            <a:picLocks noChangeAspect="1"/>
          </p:cNvPicPr>
          <p:nvPr/>
        </p:nvPicPr>
        <p:blipFill>
          <a:blip r:embed="rId5"/>
          <a:stretch>
            <a:fillRect/>
          </a:stretch>
        </p:blipFill>
        <p:spPr>
          <a:xfrm>
            <a:off x="7931645" y="1390396"/>
            <a:ext cx="128699" cy="187198"/>
          </a:xfrm>
          <a:prstGeom prst="rect">
            <a:avLst/>
          </a:prstGeom>
        </p:spPr>
      </p:pic>
      <p:sp>
        <p:nvSpPr>
          <p:cNvPr id="34" name="TextBox 33"/>
          <p:cNvSpPr txBox="1"/>
          <p:nvPr/>
        </p:nvSpPr>
        <p:spPr>
          <a:xfrm>
            <a:off x="8099141" y="1400175"/>
            <a:ext cx="560784" cy="186689"/>
          </a:xfrm>
          <a:prstGeom prst="rect">
            <a:avLst/>
          </a:prstGeom>
          <a:noFill/>
        </p:spPr>
        <p:txBody>
          <a:bodyPr wrap="none" lIns="0" rIns="0" tIns="0" bIns="0">
            <a:spAutoFit/>
          </a:bodyPr>
          <a:lstStyle/>
          <a:p>
            <a:r>
              <a:rPr sz="1100" b="0">
                <a:solidFill>
                  <a:srgbClr val="2E2E2E"/>
                </a:solidFill>
                <a:latin typeface="Calibri"/>
              </a:rPr>
              <a:t>US$ Mn.</a:t>
            </a:r>
          </a:p>
        </p:txBody>
      </p:sp>
      <p:sp>
        <p:nvSpPr>
          <p:cNvPr id="35" name="TextBox 34"/>
          <p:cNvSpPr txBox="1"/>
          <p:nvPr/>
        </p:nvSpPr>
        <p:spPr>
          <a:xfrm>
            <a:off x="6305550" y="1618107"/>
            <a:ext cx="991842" cy="186689"/>
          </a:xfrm>
          <a:prstGeom prst="rect">
            <a:avLst/>
          </a:prstGeom>
          <a:noFill/>
        </p:spPr>
        <p:txBody>
          <a:bodyPr wrap="none" lIns="0" rIns="0" tIns="0" bIns="0">
            <a:spAutoFit/>
          </a:bodyPr>
          <a:lstStyle/>
          <a:p>
            <a:r>
              <a:rPr sz="1100" b="0">
                <a:solidFill>
                  <a:srgbClr val="2E2E2E"/>
                </a:solidFill>
                <a:latin typeface="Calibri"/>
              </a:rPr>
              <a:t>▪ Forecast CAGR</a:t>
            </a:r>
          </a:p>
        </p:txBody>
      </p:sp>
      <p:pic>
        <p:nvPicPr>
          <p:cNvPr id="36" name="Picture 35" descr="lock.png"/>
          <p:cNvPicPr>
            <a:picLocks noChangeAspect="1"/>
          </p:cNvPicPr>
          <p:nvPr/>
        </p:nvPicPr>
        <p:blipFill>
          <a:blip r:embed="rId5"/>
          <a:stretch>
            <a:fillRect/>
          </a:stretch>
        </p:blipFill>
        <p:spPr>
          <a:xfrm>
            <a:off x="7245444" y="1608328"/>
            <a:ext cx="128699" cy="187198"/>
          </a:xfrm>
          <a:prstGeom prst="rect">
            <a:avLst/>
          </a:prstGeom>
        </p:spPr>
      </p:pic>
      <p:sp>
        <p:nvSpPr>
          <p:cNvPr id="37" name="TextBox 36"/>
          <p:cNvSpPr txBox="1"/>
          <p:nvPr/>
        </p:nvSpPr>
        <p:spPr>
          <a:xfrm>
            <a:off x="7412940" y="1618107"/>
            <a:ext cx="833090" cy="186689"/>
          </a:xfrm>
          <a:prstGeom prst="rect">
            <a:avLst/>
          </a:prstGeom>
          <a:noFill/>
        </p:spPr>
        <p:txBody>
          <a:bodyPr wrap="none" lIns="0" rIns="0" tIns="0" bIns="0">
            <a:spAutoFit/>
          </a:bodyPr>
          <a:lstStyle/>
          <a:p>
            <a:r>
              <a:rPr sz="1100" b="0">
                <a:solidFill>
                  <a:srgbClr val="2E2E2E"/>
                </a:solidFill>
                <a:latin typeface="Calibri"/>
              </a:rPr>
              <a:t>(2026–2036).</a:t>
            </a:r>
          </a:p>
        </p:txBody>
      </p:sp>
      <p:sp>
        <p:nvSpPr>
          <p:cNvPr id="38" name="TextBox 37"/>
          <p:cNvSpPr txBox="1"/>
          <p:nvPr/>
        </p:nvSpPr>
        <p:spPr>
          <a:xfrm>
            <a:off x="6305550" y="1836039"/>
            <a:ext cx="3124770" cy="186689"/>
          </a:xfrm>
          <a:prstGeom prst="rect">
            <a:avLst/>
          </a:prstGeom>
          <a:noFill/>
        </p:spPr>
        <p:txBody>
          <a:bodyPr wrap="none" lIns="0" rIns="0" tIns="0" bIns="0">
            <a:spAutoFit/>
          </a:bodyPr>
          <a:lstStyle/>
          <a:p>
            <a:r>
              <a:rPr sz="1100" b="0">
                <a:solidFill>
                  <a:srgbClr val="2E2E2E"/>
                </a:solidFill>
                <a:latin typeface="Calibri"/>
              </a:rPr>
              <a:t>▪ Lead category 'Specialty Extracted Protein Fractions'</a:t>
            </a:r>
          </a:p>
        </p:txBody>
      </p:sp>
      <p:pic>
        <p:nvPicPr>
          <p:cNvPr id="39" name="Picture 38" descr="lock.png"/>
          <p:cNvPicPr>
            <a:picLocks noChangeAspect="1"/>
          </p:cNvPicPr>
          <p:nvPr/>
        </p:nvPicPr>
        <p:blipFill>
          <a:blip r:embed="rId5"/>
          <a:stretch>
            <a:fillRect/>
          </a:stretch>
        </p:blipFill>
        <p:spPr>
          <a:xfrm>
            <a:off x="9378372" y="1826260"/>
            <a:ext cx="128699" cy="187198"/>
          </a:xfrm>
          <a:prstGeom prst="rect">
            <a:avLst/>
          </a:prstGeom>
        </p:spPr>
      </p:pic>
      <p:sp>
        <p:nvSpPr>
          <p:cNvPr id="40" name="TextBox 39"/>
          <p:cNvSpPr txBox="1"/>
          <p:nvPr/>
        </p:nvSpPr>
        <p:spPr>
          <a:xfrm>
            <a:off x="9545867" y="1836039"/>
            <a:ext cx="543049" cy="186689"/>
          </a:xfrm>
          <a:prstGeom prst="rect">
            <a:avLst/>
          </a:prstGeom>
          <a:noFill/>
        </p:spPr>
        <p:txBody>
          <a:bodyPr wrap="none" lIns="0" rIns="0" tIns="0" bIns="0">
            <a:spAutoFit/>
          </a:bodyPr>
          <a:lstStyle/>
          <a:p>
            <a:r>
              <a:rPr sz="1100" b="0">
                <a:solidFill>
                  <a:srgbClr val="2E2E2E"/>
                </a:solidFill>
                <a:latin typeface="Calibri"/>
              </a:rPr>
              <a:t>of 2036.</a:t>
            </a:r>
          </a:p>
        </p:txBody>
      </p:sp>
      <p:sp>
        <p:nvSpPr>
          <p:cNvPr id="41" name="TextBox 40"/>
          <p:cNvSpPr txBox="1"/>
          <p:nvPr/>
        </p:nvSpPr>
        <p:spPr>
          <a:xfrm>
            <a:off x="6305550" y="2053970"/>
            <a:ext cx="1152053" cy="186689"/>
          </a:xfrm>
          <a:prstGeom prst="rect">
            <a:avLst/>
          </a:prstGeom>
          <a:noFill/>
        </p:spPr>
        <p:txBody>
          <a:bodyPr wrap="none" lIns="0" rIns="0" tIns="0" bIns="0">
            <a:spAutoFit/>
          </a:bodyPr>
          <a:lstStyle/>
          <a:p>
            <a:r>
              <a:rPr sz="1100" b="0">
                <a:solidFill>
                  <a:srgbClr val="2E2E2E"/>
                </a:solidFill>
                <a:latin typeface="Calibri"/>
              </a:rPr>
              <a:t>▪ Lead country U.S.</a:t>
            </a:r>
          </a:p>
        </p:txBody>
      </p:sp>
      <p:pic>
        <p:nvPicPr>
          <p:cNvPr id="42" name="Picture 41" descr="lock.png"/>
          <p:cNvPicPr>
            <a:picLocks noChangeAspect="1"/>
          </p:cNvPicPr>
          <p:nvPr/>
        </p:nvPicPr>
        <p:blipFill>
          <a:blip r:embed="rId5"/>
          <a:stretch>
            <a:fillRect/>
          </a:stretch>
        </p:blipFill>
        <p:spPr>
          <a:xfrm>
            <a:off x="7405655" y="2044192"/>
            <a:ext cx="128699" cy="187198"/>
          </a:xfrm>
          <a:prstGeom prst="rect">
            <a:avLst/>
          </a:prstGeom>
        </p:spPr>
      </p:pic>
      <p:sp>
        <p:nvSpPr>
          <p:cNvPr id="43" name="TextBox 42"/>
          <p:cNvSpPr txBox="1"/>
          <p:nvPr/>
        </p:nvSpPr>
        <p:spPr>
          <a:xfrm>
            <a:off x="7573151" y="2053970"/>
            <a:ext cx="111397" cy="186689"/>
          </a:xfrm>
          <a:prstGeom prst="rect">
            <a:avLst/>
          </a:prstGeom>
          <a:noFill/>
        </p:spPr>
        <p:txBody>
          <a:bodyPr wrap="none" lIns="0" rIns="0" tIns="0" bIns="0">
            <a:spAutoFit/>
          </a:bodyPr>
          <a:lstStyle/>
          <a:p>
            <a:r>
              <a:rPr sz="1100" b="0">
                <a:solidFill>
                  <a:srgbClr val="2E2E2E"/>
                </a:solidFill>
                <a:latin typeface="Calibri"/>
              </a:rPr>
              <a:t>.</a:t>
            </a:r>
          </a:p>
        </p:txBody>
      </p:sp>
      <p:sp>
        <p:nvSpPr>
          <p:cNvPr id="44" name="TextBox 43"/>
          <p:cNvSpPr txBox="1"/>
          <p:nvPr/>
        </p:nvSpPr>
        <p:spPr>
          <a:xfrm>
            <a:off x="6305550" y="2271903"/>
            <a:ext cx="1554782" cy="186689"/>
          </a:xfrm>
          <a:prstGeom prst="rect">
            <a:avLst/>
          </a:prstGeom>
          <a:noFill/>
        </p:spPr>
        <p:txBody>
          <a:bodyPr wrap="none" lIns="0" rIns="0" tIns="0" bIns="0">
            <a:spAutoFit/>
          </a:bodyPr>
          <a:lstStyle/>
          <a:p>
            <a:r>
              <a:rPr sz="1100" b="0">
                <a:solidFill>
                  <a:srgbClr val="2E2E2E"/>
                </a:solidFill>
                <a:latin typeface="Calibri"/>
              </a:rPr>
              <a:t>▪ Incremental opportunity</a:t>
            </a:r>
          </a:p>
        </p:txBody>
      </p:sp>
      <p:pic>
        <p:nvPicPr>
          <p:cNvPr id="45" name="Picture 44" descr="lock.png"/>
          <p:cNvPicPr>
            <a:picLocks noChangeAspect="1"/>
          </p:cNvPicPr>
          <p:nvPr/>
        </p:nvPicPr>
        <p:blipFill>
          <a:blip r:embed="rId5"/>
          <a:stretch>
            <a:fillRect/>
          </a:stretch>
        </p:blipFill>
        <p:spPr>
          <a:xfrm>
            <a:off x="7808384" y="2262124"/>
            <a:ext cx="128699" cy="187198"/>
          </a:xfrm>
          <a:prstGeom prst="rect">
            <a:avLst/>
          </a:prstGeom>
        </p:spPr>
      </p:pic>
      <p:sp>
        <p:nvSpPr>
          <p:cNvPr id="46" name="TextBox 45"/>
          <p:cNvSpPr txBox="1"/>
          <p:nvPr/>
        </p:nvSpPr>
        <p:spPr>
          <a:xfrm>
            <a:off x="7975880" y="2271903"/>
            <a:ext cx="560784" cy="186689"/>
          </a:xfrm>
          <a:prstGeom prst="rect">
            <a:avLst/>
          </a:prstGeom>
          <a:noFill/>
        </p:spPr>
        <p:txBody>
          <a:bodyPr wrap="none" lIns="0" rIns="0" tIns="0" bIns="0">
            <a:spAutoFit/>
          </a:bodyPr>
          <a:lstStyle/>
          <a:p>
            <a:r>
              <a:rPr sz="1100" b="0">
                <a:solidFill>
                  <a:srgbClr val="2E2E2E"/>
                </a:solidFill>
                <a:latin typeface="Calibri"/>
              </a:rPr>
              <a:t>US$ Mn.</a:t>
            </a:r>
          </a:p>
        </p:txBody>
      </p:sp>
      <p:sp>
        <p:nvSpPr>
          <p:cNvPr id="47" name="TextBox 46"/>
          <p:cNvSpPr txBox="1"/>
          <p:nvPr/>
        </p:nvSpPr>
        <p:spPr>
          <a:xfrm>
            <a:off x="276225" y="3267075"/>
            <a:ext cx="5143872" cy="186689"/>
          </a:xfrm>
          <a:prstGeom prst="rect">
            <a:avLst/>
          </a:prstGeom>
          <a:noFill/>
        </p:spPr>
        <p:txBody>
          <a:bodyPr wrap="none" lIns="0" rIns="0" tIns="0" bIns="0">
            <a:spAutoFit/>
          </a:bodyPr>
          <a:lstStyle/>
          <a:p>
            <a:r>
              <a:rPr sz="1100" b="0">
                <a:solidFill>
                  <a:srgbClr val="2E2E2E"/>
                </a:solidFill>
                <a:latin typeface="Calibri"/>
              </a:rPr>
              <a:t>▪ Investment is flowing toward the fastest-growing tier 'Hydrolyzed Eggshell Membrane' (</a:t>
            </a:r>
          </a:p>
        </p:txBody>
      </p:sp>
      <p:pic>
        <p:nvPicPr>
          <p:cNvPr id="48" name="Picture 47" descr="lock.png"/>
          <p:cNvPicPr>
            <a:picLocks noChangeAspect="1"/>
          </p:cNvPicPr>
          <p:nvPr/>
        </p:nvPicPr>
        <p:blipFill>
          <a:blip r:embed="rId5"/>
          <a:stretch>
            <a:fillRect/>
          </a:stretch>
        </p:blipFill>
        <p:spPr>
          <a:xfrm>
            <a:off x="5368148" y="3257296"/>
            <a:ext cx="128699" cy="187198"/>
          </a:xfrm>
          <a:prstGeom prst="rect">
            <a:avLst/>
          </a:prstGeom>
        </p:spPr>
      </p:pic>
      <p:sp>
        <p:nvSpPr>
          <p:cNvPr id="49" name="TextBox 48"/>
          <p:cNvSpPr txBox="1"/>
          <p:nvPr/>
        </p:nvSpPr>
        <p:spPr>
          <a:xfrm>
            <a:off x="5535644" y="3267075"/>
            <a:ext cx="153689" cy="186689"/>
          </a:xfrm>
          <a:prstGeom prst="rect">
            <a:avLst/>
          </a:prstGeom>
          <a:noFill/>
        </p:spPr>
        <p:txBody>
          <a:bodyPr wrap="none" lIns="0" rIns="0" tIns="0" bIns="0">
            <a:spAutoFit/>
          </a:bodyPr>
          <a:lstStyle/>
          <a:p>
            <a:r>
              <a:rPr sz="1100" b="0">
                <a:solidFill>
                  <a:srgbClr val="2E2E2E"/>
                </a:solidFill>
                <a:latin typeface="Calibri"/>
              </a:rPr>
              <a:t>).</a:t>
            </a:r>
          </a:p>
        </p:txBody>
      </p:sp>
      <p:sp>
        <p:nvSpPr>
          <p:cNvPr id="50" name="TextBox 49"/>
          <p:cNvSpPr txBox="1"/>
          <p:nvPr/>
        </p:nvSpPr>
        <p:spPr>
          <a:xfrm>
            <a:off x="276225" y="3485007"/>
            <a:ext cx="653008" cy="186689"/>
          </a:xfrm>
          <a:prstGeom prst="rect">
            <a:avLst/>
          </a:prstGeom>
          <a:noFill/>
        </p:spPr>
        <p:txBody>
          <a:bodyPr wrap="none" lIns="0" rIns="0" tIns="0" bIns="0">
            <a:spAutoFit/>
          </a:bodyPr>
          <a:lstStyle/>
          <a:p>
            <a:r>
              <a:rPr sz="1100" b="0">
                <a:solidFill>
                  <a:srgbClr val="2E2E2E"/>
                </a:solidFill>
                <a:latin typeface="Calibri"/>
              </a:rPr>
              <a:t>▪ Canada (</a:t>
            </a:r>
          </a:p>
        </p:txBody>
      </p:sp>
      <p:pic>
        <p:nvPicPr>
          <p:cNvPr id="51" name="Picture 50" descr="lock.png"/>
          <p:cNvPicPr>
            <a:picLocks noChangeAspect="1"/>
          </p:cNvPicPr>
          <p:nvPr/>
        </p:nvPicPr>
        <p:blipFill>
          <a:blip r:embed="rId5"/>
          <a:stretch>
            <a:fillRect/>
          </a:stretch>
        </p:blipFill>
        <p:spPr>
          <a:xfrm>
            <a:off x="877284" y="3475228"/>
            <a:ext cx="128699" cy="187198"/>
          </a:xfrm>
          <a:prstGeom prst="rect">
            <a:avLst/>
          </a:prstGeom>
        </p:spPr>
      </p:pic>
      <p:sp>
        <p:nvSpPr>
          <p:cNvPr id="52" name="TextBox 51"/>
          <p:cNvSpPr txBox="1"/>
          <p:nvPr/>
        </p:nvSpPr>
        <p:spPr>
          <a:xfrm>
            <a:off x="1044780" y="3485007"/>
            <a:ext cx="2262832" cy="186689"/>
          </a:xfrm>
          <a:prstGeom prst="rect">
            <a:avLst/>
          </a:prstGeom>
          <a:noFill/>
        </p:spPr>
        <p:txBody>
          <a:bodyPr wrap="none" lIns="0" rIns="0" tIns="0" bIns="0">
            <a:spAutoFit/>
          </a:bodyPr>
          <a:lstStyle/>
          <a:p>
            <a:r>
              <a:rPr sz="1100" b="0">
                <a:solidFill>
                  <a:srgbClr val="2E2E2E"/>
                </a:solidFill>
                <a:latin typeface="Calibri"/>
              </a:rPr>
              <a:t>) is a priority country for new capacity.</a:t>
            </a:r>
          </a:p>
        </p:txBody>
      </p:sp>
      <p:sp>
        <p:nvSpPr>
          <p:cNvPr id="53" name="TextBox 52"/>
          <p:cNvSpPr txBox="1"/>
          <p:nvPr/>
        </p:nvSpPr>
        <p:spPr>
          <a:xfrm>
            <a:off x="276225" y="3702939"/>
            <a:ext cx="4004989" cy="186689"/>
          </a:xfrm>
          <a:prstGeom prst="rect">
            <a:avLst/>
          </a:prstGeom>
          <a:noFill/>
        </p:spPr>
        <p:txBody>
          <a:bodyPr wrap="none" lIns="0" rIns="0" tIns="0" bIns="0">
            <a:spAutoFit/>
          </a:bodyPr>
          <a:lstStyle/>
          <a:p>
            <a:r>
              <a:rPr sz="1100" b="0">
                <a:solidFill>
                  <a:srgbClr val="2E2E2E"/>
                </a:solidFill>
                <a:latin typeface="Calibri"/>
              </a:rPr>
              <a:t>▪ Scale players anchor around 'Specialty Extracted Protein Fractions' (</a:t>
            </a:r>
          </a:p>
        </p:txBody>
      </p:sp>
      <p:pic>
        <p:nvPicPr>
          <p:cNvPr id="54" name="Picture 53" descr="lock.png"/>
          <p:cNvPicPr>
            <a:picLocks noChangeAspect="1"/>
          </p:cNvPicPr>
          <p:nvPr/>
        </p:nvPicPr>
        <p:blipFill>
          <a:blip r:embed="rId5"/>
          <a:stretch>
            <a:fillRect/>
          </a:stretch>
        </p:blipFill>
        <p:spPr>
          <a:xfrm>
            <a:off x="4229266" y="3693160"/>
            <a:ext cx="128699" cy="187198"/>
          </a:xfrm>
          <a:prstGeom prst="rect">
            <a:avLst/>
          </a:prstGeom>
        </p:spPr>
      </p:pic>
      <p:sp>
        <p:nvSpPr>
          <p:cNvPr id="55" name="TextBox 54"/>
          <p:cNvSpPr txBox="1"/>
          <p:nvPr/>
        </p:nvSpPr>
        <p:spPr>
          <a:xfrm>
            <a:off x="4396762" y="3702939"/>
            <a:ext cx="466923" cy="186689"/>
          </a:xfrm>
          <a:prstGeom prst="rect">
            <a:avLst/>
          </a:prstGeom>
          <a:noFill/>
        </p:spPr>
        <p:txBody>
          <a:bodyPr wrap="none" lIns="0" rIns="0" tIns="0" bIns="0">
            <a:spAutoFit/>
          </a:bodyPr>
          <a:lstStyle/>
          <a:p>
            <a:r>
              <a:rPr sz="1100" b="0">
                <a:solidFill>
                  <a:srgbClr val="2E2E2E"/>
                </a:solidFill>
                <a:latin typeface="Calibri"/>
              </a:rPr>
              <a:t>share).</a:t>
            </a:r>
          </a:p>
        </p:txBody>
      </p:sp>
      <p:sp>
        <p:nvSpPr>
          <p:cNvPr id="56" name="TextBox 55"/>
          <p:cNvSpPr txBox="1"/>
          <p:nvPr/>
        </p:nvSpPr>
        <p:spPr>
          <a:xfrm>
            <a:off x="6305550" y="3267075"/>
            <a:ext cx="5540598" cy="186689"/>
          </a:xfrm>
          <a:prstGeom prst="rect">
            <a:avLst/>
          </a:prstGeom>
          <a:noFill/>
        </p:spPr>
        <p:txBody>
          <a:bodyPr wrap="none" lIns="0" rIns="0" tIns="0" bIns="0">
            <a:spAutoFit/>
          </a:bodyPr>
          <a:lstStyle/>
          <a:p>
            <a:r>
              <a:rPr sz="1100" b="0">
                <a:solidFill>
                  <a:srgbClr val="2E2E2E"/>
                </a:solidFill>
                <a:latin typeface="Calibri"/>
              </a:rPr>
              <a:t>▪ R&amp;D aligns with the migration to 'Hydrolyzed Eggshell Membrane' and adjacent premium tiers.</a:t>
            </a:r>
          </a:p>
        </p:txBody>
      </p:sp>
      <p:sp>
        <p:nvSpPr>
          <p:cNvPr id="57" name="TextBox 56"/>
          <p:cNvSpPr txBox="1"/>
          <p:nvPr/>
        </p:nvSpPr>
        <p:spPr>
          <a:xfrm>
            <a:off x="6305550" y="3485007"/>
            <a:ext cx="4406354" cy="186689"/>
          </a:xfrm>
          <a:prstGeom prst="rect">
            <a:avLst/>
          </a:prstGeom>
          <a:noFill/>
        </p:spPr>
        <p:txBody>
          <a:bodyPr wrap="none" lIns="0" rIns="0" tIns="0" bIns="0">
            <a:spAutoFit/>
          </a:bodyPr>
          <a:lstStyle/>
          <a:p>
            <a:r>
              <a:rPr sz="1100" b="0">
                <a:solidFill>
                  <a:srgbClr val="2E2E2E"/>
                </a:solidFill>
                <a:latin typeface="Calibri"/>
              </a:rPr>
              <a:t>▪ Development spend targets product type categories gaining share to 2036.</a:t>
            </a:r>
          </a:p>
        </p:txBody>
      </p:sp>
      <p:sp>
        <p:nvSpPr>
          <p:cNvPr id="58" name="TextBox 57"/>
          <p:cNvSpPr txBox="1"/>
          <p:nvPr/>
        </p:nvSpPr>
        <p:spPr>
          <a:xfrm>
            <a:off x="6305550" y="3702939"/>
            <a:ext cx="1594346" cy="186689"/>
          </a:xfrm>
          <a:prstGeom prst="rect">
            <a:avLst/>
          </a:prstGeom>
          <a:noFill/>
        </p:spPr>
        <p:txBody>
          <a:bodyPr wrap="none" lIns="0" rIns="0" tIns="0" bIns="0">
            <a:spAutoFit/>
          </a:bodyPr>
          <a:lstStyle/>
          <a:p>
            <a:r>
              <a:rPr sz="1100" b="0">
                <a:solidFill>
                  <a:srgbClr val="2E2E2E"/>
                </a:solidFill>
                <a:latin typeface="Calibri"/>
              </a:rPr>
              <a:t>▪ Innovation underpins the</a:t>
            </a:r>
          </a:p>
        </p:txBody>
      </p:sp>
      <p:pic>
        <p:nvPicPr>
          <p:cNvPr id="59" name="Picture 58" descr="lock.png"/>
          <p:cNvPicPr>
            <a:picLocks noChangeAspect="1"/>
          </p:cNvPicPr>
          <p:nvPr/>
        </p:nvPicPr>
        <p:blipFill>
          <a:blip r:embed="rId5"/>
          <a:stretch>
            <a:fillRect/>
          </a:stretch>
        </p:blipFill>
        <p:spPr>
          <a:xfrm>
            <a:off x="7847947" y="3693160"/>
            <a:ext cx="128699" cy="187198"/>
          </a:xfrm>
          <a:prstGeom prst="rect">
            <a:avLst/>
          </a:prstGeom>
        </p:spPr>
      </p:pic>
      <p:sp>
        <p:nvSpPr>
          <p:cNvPr id="60" name="TextBox 59"/>
          <p:cNvSpPr txBox="1"/>
          <p:nvPr/>
        </p:nvSpPr>
        <p:spPr>
          <a:xfrm>
            <a:off x="8015443" y="3702939"/>
            <a:ext cx="924478" cy="186689"/>
          </a:xfrm>
          <a:prstGeom prst="rect">
            <a:avLst/>
          </a:prstGeom>
          <a:noFill/>
        </p:spPr>
        <p:txBody>
          <a:bodyPr wrap="none" lIns="0" rIns="0" tIns="0" bIns="0">
            <a:spAutoFit/>
          </a:bodyPr>
          <a:lstStyle/>
          <a:p>
            <a:r>
              <a:rPr sz="1100" b="0">
                <a:solidFill>
                  <a:srgbClr val="2E2E2E"/>
                </a:solidFill>
                <a:latin typeface="Calibri"/>
              </a:rPr>
              <a:t>forecast CAGR.</a:t>
            </a:r>
          </a:p>
        </p:txBody>
      </p:sp>
      <p:sp>
        <p:nvSpPr>
          <p:cNvPr id="61" name="lockshield_25"/>
          <p:cNvSpPr/>
          <p:nvPr/>
        </p:nvSpPr>
        <p:spPr>
          <a:xfrm>
            <a:off x="238125" y="4695825"/>
            <a:ext cx="11715750" cy="18669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Analysis and Recommendation</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Executive summary of the market approach, differentiating strategy and TMR's analysis and recommendation</a:t>
            </a:r>
          </a:p>
        </p:txBody>
      </p:sp>
      <p:sp>
        <p:nvSpPr>
          <p:cNvPr id="7" name="Rounded Rectangle 6"/>
          <p:cNvSpPr/>
          <p:nvPr/>
        </p:nvSpPr>
        <p:spPr>
          <a:xfrm>
            <a:off x="142875" y="981075"/>
            <a:ext cx="5876925" cy="1685925"/>
          </a:xfrm>
          <a:prstGeom prst="roundRect">
            <a:avLst>
              <a:gd name="adj" fmla="val 451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6225" y="1066800"/>
            <a:ext cx="5610225" cy="209550"/>
          </a:xfrm>
          <a:prstGeom prst="rect">
            <a:avLst/>
          </a:prstGeom>
          <a:noFill/>
        </p:spPr>
        <p:txBody>
          <a:bodyPr wrap="square" lIns="0" rIns="19050" tIns="9525" bIns="9525">
            <a:spAutoFit/>
          </a:bodyPr>
          <a:lstStyle/>
          <a:p>
            <a:pPr algn="l"/>
            <a:r>
              <a:rPr sz="1300" b="1">
                <a:solidFill>
                  <a:srgbClr val="0E2A5C"/>
                </a:solidFill>
                <a:latin typeface="Calibri"/>
              </a:rPr>
              <a:t>Overall Market Approach</a:t>
            </a:r>
          </a:p>
        </p:txBody>
      </p:sp>
      <p:sp>
        <p:nvSpPr>
          <p:cNvPr id="9" name="Rectangle 8"/>
          <p:cNvSpPr/>
          <p:nvPr/>
        </p:nvSpPr>
        <p:spPr>
          <a:xfrm>
            <a:off x="276225" y="1304925"/>
            <a:ext cx="5610225"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6225" y="1390650"/>
            <a:ext cx="5610225" cy="12001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p:txBody>
      </p:sp>
      <p:sp>
        <p:nvSpPr>
          <p:cNvPr id="11" name="Rounded Rectangle 10"/>
          <p:cNvSpPr/>
          <p:nvPr/>
        </p:nvSpPr>
        <p:spPr>
          <a:xfrm>
            <a:off x="6172200" y="981075"/>
            <a:ext cx="5876925" cy="1685925"/>
          </a:xfrm>
          <a:prstGeom prst="roundRect">
            <a:avLst>
              <a:gd name="adj" fmla="val 451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05550" y="1066800"/>
            <a:ext cx="5610225" cy="209550"/>
          </a:xfrm>
          <a:prstGeom prst="rect">
            <a:avLst/>
          </a:prstGeom>
          <a:noFill/>
        </p:spPr>
        <p:txBody>
          <a:bodyPr wrap="square" lIns="0" rIns="19050" tIns="9525" bIns="9525">
            <a:spAutoFit/>
          </a:bodyPr>
          <a:lstStyle/>
          <a:p>
            <a:pPr algn="l"/>
            <a:r>
              <a:rPr sz="1300" b="1">
                <a:solidFill>
                  <a:srgbClr val="0E2A5C"/>
                </a:solidFill>
                <a:latin typeface="Calibri"/>
              </a:rPr>
              <a:t>Differentiating Strategy</a:t>
            </a:r>
          </a:p>
        </p:txBody>
      </p:sp>
      <p:sp>
        <p:nvSpPr>
          <p:cNvPr id="13" name="Rectangle 12"/>
          <p:cNvSpPr/>
          <p:nvPr/>
        </p:nvSpPr>
        <p:spPr>
          <a:xfrm>
            <a:off x="6305550" y="1304925"/>
            <a:ext cx="5610225"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05550" y="1390650"/>
            <a:ext cx="5610225" cy="12001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t>
            </a:r>
            <a:r>
              <a:rPr sz="1150" b="0">
                <a:solidFill>
                  <a:srgbClr val="2E2E2E"/>
                </a:solidFill>
                <a:latin typeface="Calibri"/>
              </a:rPr>
              <a:t>Differentiate through the high-growth 'Hydrolyzed Eggshell Membrane' tier and Functional Food &amp; Beverages within application.</a:t>
            </a:r>
          </a:p>
        </p:txBody>
      </p:sp>
      <p:sp>
        <p:nvSpPr>
          <p:cNvPr id="15" name="Rounded Rectangle 14"/>
          <p:cNvSpPr/>
          <p:nvPr/>
        </p:nvSpPr>
        <p:spPr>
          <a:xfrm>
            <a:off x="142875" y="2800350"/>
            <a:ext cx="5876925" cy="1685925"/>
          </a:xfrm>
          <a:prstGeom prst="roundRect">
            <a:avLst>
              <a:gd name="adj" fmla="val 451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6225" y="2886075"/>
            <a:ext cx="5610225" cy="209550"/>
          </a:xfrm>
          <a:prstGeom prst="rect">
            <a:avLst/>
          </a:prstGeom>
          <a:noFill/>
        </p:spPr>
        <p:txBody>
          <a:bodyPr wrap="square" lIns="0" rIns="19050" tIns="9525" bIns="9525">
            <a:spAutoFit/>
          </a:bodyPr>
          <a:lstStyle/>
          <a:p>
            <a:pPr algn="l"/>
            <a:r>
              <a:rPr sz="1300" b="1">
                <a:solidFill>
                  <a:srgbClr val="0E2A5C"/>
                </a:solidFill>
                <a:latin typeface="Calibri"/>
              </a:rPr>
              <a:t>Market Segment</a:t>
            </a:r>
          </a:p>
        </p:txBody>
      </p:sp>
      <p:sp>
        <p:nvSpPr>
          <p:cNvPr id="17" name="Rectangle 16"/>
          <p:cNvSpPr/>
          <p:nvPr/>
        </p:nvSpPr>
        <p:spPr>
          <a:xfrm>
            <a:off x="276225" y="3124200"/>
            <a:ext cx="5610225"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76225" y="3209925"/>
            <a:ext cx="5610225" cy="12001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p:txBody>
      </p:sp>
      <p:sp>
        <p:nvSpPr>
          <p:cNvPr id="19" name="Rounded Rectangle 18"/>
          <p:cNvSpPr/>
          <p:nvPr/>
        </p:nvSpPr>
        <p:spPr>
          <a:xfrm>
            <a:off x="6172200" y="2800350"/>
            <a:ext cx="5876925" cy="1685925"/>
          </a:xfrm>
          <a:prstGeom prst="roundRect">
            <a:avLst>
              <a:gd name="adj" fmla="val 451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05550" y="2886075"/>
            <a:ext cx="5610225" cy="209550"/>
          </a:xfrm>
          <a:prstGeom prst="rect">
            <a:avLst/>
          </a:prstGeom>
          <a:noFill/>
        </p:spPr>
        <p:txBody>
          <a:bodyPr wrap="square" lIns="0" rIns="19050" tIns="9525" bIns="9525">
            <a:spAutoFit/>
          </a:bodyPr>
          <a:lstStyle/>
          <a:p>
            <a:pPr algn="l"/>
            <a:r>
              <a:rPr sz="1300" b="1">
                <a:solidFill>
                  <a:srgbClr val="0E2A5C"/>
                </a:solidFill>
                <a:latin typeface="Calibri"/>
              </a:rPr>
              <a:t>Market Country</a:t>
            </a:r>
          </a:p>
        </p:txBody>
      </p:sp>
      <p:sp>
        <p:nvSpPr>
          <p:cNvPr id="21" name="Rectangle 20"/>
          <p:cNvSpPr/>
          <p:nvPr/>
        </p:nvSpPr>
        <p:spPr>
          <a:xfrm>
            <a:off x="6305550" y="3124200"/>
            <a:ext cx="5610225"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05550" y="3209925"/>
            <a:ext cx="5610225" cy="12001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p:txBody>
      </p:sp>
      <p:sp>
        <p:nvSpPr>
          <p:cNvPr id="23" name="Rounded Rectangle 22"/>
          <p:cNvSpPr/>
          <p:nvPr/>
        </p:nvSpPr>
        <p:spPr>
          <a:xfrm>
            <a:off x="142875" y="4619625"/>
            <a:ext cx="11906250" cy="2000250"/>
          </a:xfrm>
          <a:prstGeom prst="roundRect">
            <a:avLst>
              <a:gd name="adj" fmla="val 380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76225" y="4705350"/>
            <a:ext cx="11639550" cy="209550"/>
          </a:xfrm>
          <a:prstGeom prst="rect">
            <a:avLst/>
          </a:prstGeom>
          <a:noFill/>
        </p:spPr>
        <p:txBody>
          <a:bodyPr wrap="square" lIns="0" rIns="19050" tIns="9525" bIns="9525">
            <a:spAutoFit/>
          </a:bodyPr>
          <a:lstStyle/>
          <a:p>
            <a:pPr algn="l"/>
            <a:r>
              <a:rPr sz="1300" b="1">
                <a:solidFill>
                  <a:srgbClr val="0E2A5C"/>
                </a:solidFill>
                <a:latin typeface="Calibri"/>
              </a:rPr>
              <a:t>TMR Analysis &amp; Recommendation</a:t>
            </a:r>
          </a:p>
        </p:txBody>
      </p:sp>
      <p:sp>
        <p:nvSpPr>
          <p:cNvPr id="25" name="Rectangle 24"/>
          <p:cNvSpPr/>
          <p:nvPr/>
        </p:nvSpPr>
        <p:spPr>
          <a:xfrm>
            <a:off x="276225" y="4943475"/>
            <a:ext cx="116395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76225" y="5029200"/>
            <a:ext cx="11639550" cy="151447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p:txBody>
      </p:sp>
      <p:sp>
        <p:nvSpPr>
          <p:cNvPr id="27" name="Rectangle 26"/>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
        <p:nvSpPr>
          <p:cNvPr id="29" name="TextBox 28"/>
          <p:cNvSpPr txBox="1"/>
          <p:nvPr/>
        </p:nvSpPr>
        <p:spPr>
          <a:xfrm>
            <a:off x="276225" y="1400175"/>
            <a:ext cx="5547084" cy="194310"/>
          </a:xfrm>
          <a:prstGeom prst="rect">
            <a:avLst/>
          </a:prstGeom>
          <a:noFill/>
        </p:spPr>
        <p:txBody>
          <a:bodyPr wrap="none" lIns="0" rIns="0" tIns="0" bIns="0">
            <a:spAutoFit/>
          </a:bodyPr>
          <a:lstStyle/>
          <a:p>
            <a:r>
              <a:rPr sz="1150" b="0">
                <a:solidFill>
                  <a:srgbClr val="2E2E2E"/>
                </a:solidFill>
                <a:latin typeface="Calibri"/>
              </a:rPr>
              <a:t>▪ Balance scale in 'Specialty Extracted Protein Fractions' with targeted growth in 'Hydrolyzed</a:t>
            </a:r>
          </a:p>
        </p:txBody>
      </p:sp>
      <p:sp>
        <p:nvSpPr>
          <p:cNvPr id="30" name="TextBox 29"/>
          <p:cNvSpPr txBox="1"/>
          <p:nvPr/>
        </p:nvSpPr>
        <p:spPr>
          <a:xfrm>
            <a:off x="276225" y="1575435"/>
            <a:ext cx="2104355" cy="194310"/>
          </a:xfrm>
          <a:prstGeom prst="rect">
            <a:avLst/>
          </a:prstGeom>
          <a:noFill/>
        </p:spPr>
        <p:txBody>
          <a:bodyPr wrap="none" lIns="0" rIns="0" tIns="0" bIns="0">
            <a:spAutoFit/>
          </a:bodyPr>
          <a:lstStyle/>
          <a:p>
            <a:r>
              <a:rPr sz="1150" b="0">
                <a:solidFill>
                  <a:srgbClr val="2E2E2E"/>
                </a:solidFill>
                <a:latin typeface="Calibri"/>
              </a:rPr>
              <a:t>Eggshell Membrane', pursuing the</a:t>
            </a:r>
          </a:p>
        </p:txBody>
      </p:sp>
      <p:pic>
        <p:nvPicPr>
          <p:cNvPr id="31" name="Picture 30" descr="lock.png"/>
          <p:cNvPicPr>
            <a:picLocks noChangeAspect="1"/>
          </p:cNvPicPr>
          <p:nvPr/>
        </p:nvPicPr>
        <p:blipFill>
          <a:blip r:embed="rId4"/>
          <a:stretch>
            <a:fillRect/>
          </a:stretch>
        </p:blipFill>
        <p:spPr>
          <a:xfrm>
            <a:off x="2329734" y="1565211"/>
            <a:ext cx="134549" cy="195707"/>
          </a:xfrm>
          <a:prstGeom prst="rect">
            <a:avLst/>
          </a:prstGeom>
        </p:spPr>
      </p:pic>
      <p:sp>
        <p:nvSpPr>
          <p:cNvPr id="32" name="TextBox 31"/>
          <p:cNvSpPr txBox="1"/>
          <p:nvPr/>
        </p:nvSpPr>
        <p:spPr>
          <a:xfrm>
            <a:off x="2504843" y="1575435"/>
            <a:ext cx="1551800" cy="194310"/>
          </a:xfrm>
          <a:prstGeom prst="rect">
            <a:avLst/>
          </a:prstGeom>
          <a:noFill/>
        </p:spPr>
        <p:txBody>
          <a:bodyPr wrap="none" lIns="0" rIns="0" tIns="0" bIns="0">
            <a:spAutoFit/>
          </a:bodyPr>
          <a:lstStyle/>
          <a:p>
            <a:r>
              <a:rPr sz="1150" b="0">
                <a:solidFill>
                  <a:srgbClr val="2E2E2E"/>
                </a:solidFill>
                <a:latin typeface="Calibri"/>
              </a:rPr>
              <a:t>CAGR trajectory to 2036.</a:t>
            </a:r>
          </a:p>
        </p:txBody>
      </p:sp>
      <p:sp>
        <p:nvSpPr>
          <p:cNvPr id="33" name="TextBox 32"/>
          <p:cNvSpPr txBox="1"/>
          <p:nvPr/>
        </p:nvSpPr>
        <p:spPr>
          <a:xfrm>
            <a:off x="276225" y="3219450"/>
            <a:ext cx="2749599" cy="194310"/>
          </a:xfrm>
          <a:prstGeom prst="rect">
            <a:avLst/>
          </a:prstGeom>
          <a:noFill/>
        </p:spPr>
        <p:txBody>
          <a:bodyPr wrap="none" lIns="0" rIns="0" tIns="0" bIns="0">
            <a:spAutoFit/>
          </a:bodyPr>
          <a:lstStyle/>
          <a:p>
            <a:r>
              <a:rPr sz="1150" b="0">
                <a:solidFill>
                  <a:srgbClr val="2E2E2E"/>
                </a:solidFill>
                <a:latin typeface="Calibri"/>
              </a:rPr>
              <a:t>▪ Prioritise 'Hydrolyzed Eggshell Membrane' (</a:t>
            </a:r>
          </a:p>
        </p:txBody>
      </p:sp>
      <p:pic>
        <p:nvPicPr>
          <p:cNvPr id="34" name="Picture 33" descr="lock.png"/>
          <p:cNvPicPr>
            <a:picLocks noChangeAspect="1"/>
          </p:cNvPicPr>
          <p:nvPr/>
        </p:nvPicPr>
        <p:blipFill>
          <a:blip r:embed="rId4"/>
          <a:stretch>
            <a:fillRect/>
          </a:stretch>
        </p:blipFill>
        <p:spPr>
          <a:xfrm>
            <a:off x="2974978" y="3209226"/>
            <a:ext cx="134549" cy="195707"/>
          </a:xfrm>
          <a:prstGeom prst="rect">
            <a:avLst/>
          </a:prstGeom>
        </p:spPr>
      </p:pic>
      <p:sp>
        <p:nvSpPr>
          <p:cNvPr id="35" name="TextBox 34"/>
          <p:cNvSpPr txBox="1"/>
          <p:nvPr/>
        </p:nvSpPr>
        <p:spPr>
          <a:xfrm>
            <a:off x="3150087" y="3219450"/>
            <a:ext cx="2431541" cy="194310"/>
          </a:xfrm>
          <a:prstGeom prst="rect">
            <a:avLst/>
          </a:prstGeom>
          <a:noFill/>
        </p:spPr>
        <p:txBody>
          <a:bodyPr wrap="none" lIns="0" rIns="0" tIns="0" bIns="0">
            <a:spAutoFit/>
          </a:bodyPr>
          <a:lstStyle/>
          <a:p>
            <a:r>
              <a:rPr sz="1150" b="0">
                <a:solidFill>
                  <a:srgbClr val="2E2E2E"/>
                </a:solidFill>
                <a:latin typeface="Calibri"/>
              </a:rPr>
              <a:t>); 'Specialty Extracted Protein Fractions'</a:t>
            </a:r>
          </a:p>
        </p:txBody>
      </p:sp>
      <p:sp>
        <p:nvSpPr>
          <p:cNvPr id="36" name="TextBox 35"/>
          <p:cNvSpPr txBox="1"/>
          <p:nvPr/>
        </p:nvSpPr>
        <p:spPr>
          <a:xfrm>
            <a:off x="276225" y="3394710"/>
            <a:ext cx="546583" cy="194310"/>
          </a:xfrm>
          <a:prstGeom prst="rect">
            <a:avLst/>
          </a:prstGeom>
          <a:noFill/>
        </p:spPr>
        <p:txBody>
          <a:bodyPr wrap="none" lIns="0" rIns="0" tIns="0" bIns="0">
            <a:spAutoFit/>
          </a:bodyPr>
          <a:lstStyle/>
          <a:p>
            <a:r>
              <a:rPr sz="1150" b="0">
                <a:solidFill>
                  <a:srgbClr val="2E2E2E"/>
                </a:solidFill>
                <a:latin typeface="Calibri"/>
              </a:rPr>
              <a:t>anchors</a:t>
            </a:r>
          </a:p>
        </p:txBody>
      </p:sp>
      <p:pic>
        <p:nvPicPr>
          <p:cNvPr id="37" name="Picture 36" descr="lock.png"/>
          <p:cNvPicPr>
            <a:picLocks noChangeAspect="1"/>
          </p:cNvPicPr>
          <p:nvPr/>
        </p:nvPicPr>
        <p:blipFill>
          <a:blip r:embed="rId4"/>
          <a:stretch>
            <a:fillRect/>
          </a:stretch>
        </p:blipFill>
        <p:spPr>
          <a:xfrm>
            <a:off x="771962" y="3384486"/>
            <a:ext cx="134549" cy="195707"/>
          </a:xfrm>
          <a:prstGeom prst="rect">
            <a:avLst/>
          </a:prstGeom>
        </p:spPr>
      </p:pic>
      <p:sp>
        <p:nvSpPr>
          <p:cNvPr id="38" name="TextBox 37"/>
          <p:cNvSpPr txBox="1"/>
          <p:nvPr/>
        </p:nvSpPr>
        <p:spPr>
          <a:xfrm>
            <a:off x="947071" y="3394710"/>
            <a:ext cx="586519" cy="194310"/>
          </a:xfrm>
          <a:prstGeom prst="rect">
            <a:avLst/>
          </a:prstGeom>
          <a:noFill/>
        </p:spPr>
        <p:txBody>
          <a:bodyPr wrap="none" lIns="0" rIns="0" tIns="0" bIns="0">
            <a:spAutoFit/>
          </a:bodyPr>
          <a:lstStyle/>
          <a:p>
            <a:r>
              <a:rPr sz="1150" b="0">
                <a:solidFill>
                  <a:srgbClr val="2E2E2E"/>
                </a:solidFill>
                <a:latin typeface="Calibri"/>
              </a:rPr>
              <a:t>of value.</a:t>
            </a:r>
          </a:p>
        </p:txBody>
      </p:sp>
      <p:sp>
        <p:nvSpPr>
          <p:cNvPr id="39" name="TextBox 38"/>
          <p:cNvSpPr txBox="1"/>
          <p:nvPr/>
        </p:nvSpPr>
        <p:spPr>
          <a:xfrm>
            <a:off x="6305550" y="3219450"/>
            <a:ext cx="1083431" cy="194310"/>
          </a:xfrm>
          <a:prstGeom prst="rect">
            <a:avLst/>
          </a:prstGeom>
          <a:noFill/>
        </p:spPr>
        <p:txBody>
          <a:bodyPr wrap="none" lIns="0" rIns="0" tIns="0" bIns="0">
            <a:spAutoFit/>
          </a:bodyPr>
          <a:lstStyle/>
          <a:p>
            <a:r>
              <a:rPr sz="1150" b="0">
                <a:solidFill>
                  <a:srgbClr val="2E2E2E"/>
                </a:solidFill>
                <a:latin typeface="Calibri"/>
              </a:rPr>
              <a:t>▪ Lead with U.S. (</a:t>
            </a:r>
          </a:p>
        </p:txBody>
      </p:sp>
      <p:pic>
        <p:nvPicPr>
          <p:cNvPr id="40" name="Picture 39" descr="lock.png"/>
          <p:cNvPicPr>
            <a:picLocks noChangeAspect="1"/>
          </p:cNvPicPr>
          <p:nvPr/>
        </p:nvPicPr>
        <p:blipFill>
          <a:blip r:embed="rId4"/>
          <a:stretch>
            <a:fillRect/>
          </a:stretch>
        </p:blipFill>
        <p:spPr>
          <a:xfrm>
            <a:off x="7338135" y="3209226"/>
            <a:ext cx="134549" cy="195707"/>
          </a:xfrm>
          <a:prstGeom prst="rect">
            <a:avLst/>
          </a:prstGeom>
        </p:spPr>
      </p:pic>
      <p:sp>
        <p:nvSpPr>
          <p:cNvPr id="41" name="TextBox 40"/>
          <p:cNvSpPr txBox="1"/>
          <p:nvPr/>
        </p:nvSpPr>
        <p:spPr>
          <a:xfrm>
            <a:off x="7513244" y="3219450"/>
            <a:ext cx="1772319" cy="194310"/>
          </a:xfrm>
          <a:prstGeom prst="rect">
            <a:avLst/>
          </a:prstGeom>
          <a:noFill/>
        </p:spPr>
        <p:txBody>
          <a:bodyPr wrap="none" lIns="0" rIns="0" tIns="0" bIns="0">
            <a:spAutoFit/>
          </a:bodyPr>
          <a:lstStyle/>
          <a:p>
            <a:r>
              <a:rPr sz="1150" b="0">
                <a:solidFill>
                  <a:srgbClr val="2E2E2E"/>
                </a:solidFill>
                <a:latin typeface="Calibri"/>
              </a:rPr>
              <a:t>); capture upside in Canada (</a:t>
            </a:r>
          </a:p>
        </p:txBody>
      </p:sp>
      <p:pic>
        <p:nvPicPr>
          <p:cNvPr id="42" name="Picture 41" descr="lock.png"/>
          <p:cNvPicPr>
            <a:picLocks noChangeAspect="1"/>
          </p:cNvPicPr>
          <p:nvPr/>
        </p:nvPicPr>
        <p:blipFill>
          <a:blip r:embed="rId4"/>
          <a:stretch>
            <a:fillRect/>
          </a:stretch>
        </p:blipFill>
        <p:spPr>
          <a:xfrm>
            <a:off x="9234718" y="3209226"/>
            <a:ext cx="134549" cy="195707"/>
          </a:xfrm>
          <a:prstGeom prst="rect">
            <a:avLst/>
          </a:prstGeom>
        </p:spPr>
      </p:pic>
      <p:sp>
        <p:nvSpPr>
          <p:cNvPr id="43" name="TextBox 42"/>
          <p:cNvSpPr txBox="1"/>
          <p:nvPr/>
        </p:nvSpPr>
        <p:spPr>
          <a:xfrm>
            <a:off x="9409827" y="3219450"/>
            <a:ext cx="157212" cy="194310"/>
          </a:xfrm>
          <a:prstGeom prst="rect">
            <a:avLst/>
          </a:prstGeom>
          <a:noFill/>
        </p:spPr>
        <p:txBody>
          <a:bodyPr wrap="none" lIns="0" rIns="0" tIns="0" bIns="0">
            <a:spAutoFit/>
          </a:bodyPr>
          <a:lstStyle/>
          <a:p>
            <a:r>
              <a:rPr sz="1150" b="0">
                <a:solidFill>
                  <a:srgbClr val="2E2E2E"/>
                </a:solidFill>
                <a:latin typeface="Calibri"/>
              </a:rPr>
              <a:t>).</a:t>
            </a:r>
          </a:p>
        </p:txBody>
      </p:sp>
      <p:sp>
        <p:nvSpPr>
          <p:cNvPr id="44" name="TextBox 43"/>
          <p:cNvSpPr txBox="1"/>
          <p:nvPr/>
        </p:nvSpPr>
        <p:spPr>
          <a:xfrm>
            <a:off x="276225" y="5038725"/>
            <a:ext cx="1846770" cy="194310"/>
          </a:xfrm>
          <a:prstGeom prst="rect">
            <a:avLst/>
          </a:prstGeom>
          <a:noFill/>
        </p:spPr>
        <p:txBody>
          <a:bodyPr wrap="none" lIns="0" rIns="0" tIns="0" bIns="0">
            <a:spAutoFit/>
          </a:bodyPr>
          <a:lstStyle/>
          <a:p>
            <a:r>
              <a:rPr sz="1150" b="0">
                <a:solidFill>
                  <a:srgbClr val="2E2E2E"/>
                </a:solidFill>
                <a:latin typeface="Calibri"/>
              </a:rPr>
              <a:t>▪ Egg Protein Membrane adds</a:t>
            </a:r>
          </a:p>
        </p:txBody>
      </p:sp>
      <p:pic>
        <p:nvPicPr>
          <p:cNvPr id="45" name="Picture 44" descr="lock.png"/>
          <p:cNvPicPr>
            <a:picLocks noChangeAspect="1"/>
          </p:cNvPicPr>
          <p:nvPr/>
        </p:nvPicPr>
        <p:blipFill>
          <a:blip r:embed="rId4"/>
          <a:stretch>
            <a:fillRect/>
          </a:stretch>
        </p:blipFill>
        <p:spPr>
          <a:xfrm>
            <a:off x="2072149" y="5028501"/>
            <a:ext cx="134549" cy="195707"/>
          </a:xfrm>
          <a:prstGeom prst="rect">
            <a:avLst/>
          </a:prstGeom>
        </p:spPr>
      </p:pic>
      <p:sp>
        <p:nvSpPr>
          <p:cNvPr id="46" name="TextBox 45"/>
          <p:cNvSpPr txBox="1"/>
          <p:nvPr/>
        </p:nvSpPr>
        <p:spPr>
          <a:xfrm>
            <a:off x="2247259" y="5038725"/>
            <a:ext cx="1815107" cy="194310"/>
          </a:xfrm>
          <a:prstGeom prst="rect">
            <a:avLst/>
          </a:prstGeom>
          <a:noFill/>
        </p:spPr>
        <p:txBody>
          <a:bodyPr wrap="none" lIns="0" rIns="0" tIns="0" bIns="0">
            <a:spAutoFit/>
          </a:bodyPr>
          <a:lstStyle/>
          <a:p>
            <a:r>
              <a:rPr sz="1150" b="0">
                <a:solidFill>
                  <a:srgbClr val="2E2E2E"/>
                </a:solidFill>
                <a:latin typeface="Calibri"/>
              </a:rPr>
              <a:t>US$ Mn of demand to 2036 a</a:t>
            </a:r>
          </a:p>
        </p:txBody>
      </p:sp>
      <p:pic>
        <p:nvPicPr>
          <p:cNvPr id="47" name="Picture 46" descr="lock.png"/>
          <p:cNvPicPr>
            <a:picLocks noChangeAspect="1"/>
          </p:cNvPicPr>
          <p:nvPr/>
        </p:nvPicPr>
        <p:blipFill>
          <a:blip r:embed="rId4"/>
          <a:stretch>
            <a:fillRect/>
          </a:stretch>
        </p:blipFill>
        <p:spPr>
          <a:xfrm>
            <a:off x="4011520" y="5028501"/>
            <a:ext cx="134549" cy="195707"/>
          </a:xfrm>
          <a:prstGeom prst="rect">
            <a:avLst/>
          </a:prstGeom>
        </p:spPr>
      </p:pic>
      <p:sp>
        <p:nvSpPr>
          <p:cNvPr id="48" name="TextBox 47"/>
          <p:cNvSpPr txBox="1"/>
          <p:nvPr/>
        </p:nvSpPr>
        <p:spPr>
          <a:xfrm>
            <a:off x="4186630" y="5038725"/>
            <a:ext cx="822709" cy="194310"/>
          </a:xfrm>
          <a:prstGeom prst="rect">
            <a:avLst/>
          </a:prstGeom>
          <a:noFill/>
        </p:spPr>
        <p:txBody>
          <a:bodyPr wrap="none" lIns="0" rIns="0" tIns="0" bIns="0">
            <a:spAutoFit/>
          </a:bodyPr>
          <a:lstStyle/>
          <a:p>
            <a:r>
              <a:rPr sz="1150" b="0">
                <a:solidFill>
                  <a:srgbClr val="2E2E2E"/>
                </a:solidFill>
                <a:latin typeface="Calibri"/>
              </a:rPr>
              <a:t>× expansion.</a:t>
            </a:r>
          </a:p>
        </p:txBody>
      </p:sp>
      <p:sp>
        <p:nvSpPr>
          <p:cNvPr id="49" name="TextBox 48"/>
          <p:cNvSpPr txBox="1"/>
          <p:nvPr/>
        </p:nvSpPr>
        <p:spPr>
          <a:xfrm>
            <a:off x="276225" y="5266563"/>
            <a:ext cx="6344369" cy="194310"/>
          </a:xfrm>
          <a:prstGeom prst="rect">
            <a:avLst/>
          </a:prstGeom>
          <a:noFill/>
        </p:spPr>
        <p:txBody>
          <a:bodyPr wrap="none" lIns="0" rIns="0" tIns="0" bIns="0">
            <a:spAutoFit/>
          </a:bodyPr>
          <a:lstStyle/>
          <a:p>
            <a:r>
              <a:rPr sz="1150" b="0">
                <a:solidFill>
                  <a:srgbClr val="2E2E2E"/>
                </a:solidFill>
                <a:latin typeface="Calibri"/>
              </a:rPr>
              <a:t>▪ Concentrate resources on the leading segment/country while seeding the fastest-growing pockets early.</a:t>
            </a:r>
          </a:p>
        </p:txBody>
      </p:sp>
      <p:sp>
        <p:nvSpPr>
          <p:cNvPr id="50" name="TextBox 49"/>
          <p:cNvSpPr txBox="1"/>
          <p:nvPr/>
        </p:nvSpPr>
        <p:spPr>
          <a:xfrm>
            <a:off x="276225" y="5494400"/>
            <a:ext cx="5536245" cy="194310"/>
          </a:xfrm>
          <a:prstGeom prst="rect">
            <a:avLst/>
          </a:prstGeom>
          <a:noFill/>
        </p:spPr>
        <p:txBody>
          <a:bodyPr wrap="none" lIns="0" rIns="0" tIns="0" bIns="0">
            <a:spAutoFit/>
          </a:bodyPr>
          <a:lstStyle/>
          <a:p>
            <a:r>
              <a:rPr sz="1150" b="0">
                <a:solidFill>
                  <a:srgbClr val="2E2E2E"/>
                </a:solidFill>
                <a:latin typeface="Calibri"/>
              </a:rPr>
              <a:t>▪ Defend share in 'Specialty Extracted Protein Fractions' as the value anchor of the portfolio.</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Scenario Outlook (4/4)</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Scenario outlook comparing optimistic, likely and conservative outcomes for 2036 and the CAGR behind each</a:t>
            </a:r>
          </a:p>
        </p:txBody>
      </p:sp>
      <p:sp>
        <p:nvSpPr>
          <p:cNvPr id="7" name="Rounded Rectangle 6"/>
          <p:cNvSpPr/>
          <p:nvPr/>
        </p:nvSpPr>
        <p:spPr>
          <a:xfrm>
            <a:off x="142875" y="981075"/>
            <a:ext cx="3943350" cy="695325"/>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
            </a:r>
          </a:p>
          <a:p>
            <a:pPr algn="ctr">
              <a:lnSpc>
                <a:spcPct val="95000"/>
              </a:lnSpc>
            </a:pPr>
            <a:r>
              <a:rPr sz="1500" b="1">
                <a:solidFill>
                  <a:srgbClr val="2A5F8F"/>
                </a:solidFill>
                <a:latin typeface="Calibri"/>
              </a:rPr>
              <a:t/>
            </a:r>
          </a:p>
          <a:p>
            <a:pPr algn="ctr">
              <a:lnSpc>
                <a:spcPct val="95000"/>
              </a:lnSpc>
            </a:pPr>
            <a:r>
              <a:rPr sz="1100" b="0">
                <a:solidFill>
                  <a:srgbClr val="6C7A89"/>
                </a:solidFill>
                <a:latin typeface="Calibri"/>
              </a:rPr>
              <a:t/>
            </a:r>
          </a:p>
        </p:txBody>
      </p:sp>
      <p:sp>
        <p:nvSpPr>
          <p:cNvPr id="8" name="Rounded Rectangle 7"/>
          <p:cNvSpPr/>
          <p:nvPr/>
        </p:nvSpPr>
        <p:spPr>
          <a:xfrm>
            <a:off x="4238625" y="981075"/>
            <a:ext cx="3819525" cy="695325"/>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
            </a:r>
          </a:p>
          <a:p>
            <a:pPr algn="ctr">
              <a:lnSpc>
                <a:spcPct val="95000"/>
              </a:lnSpc>
            </a:pPr>
            <a:r>
              <a:rPr sz="1500" b="1">
                <a:solidFill>
                  <a:srgbClr val="2A5F8F"/>
                </a:solidFill>
                <a:latin typeface="Calibri"/>
              </a:rPr>
              <a:t/>
            </a:r>
          </a:p>
          <a:p>
            <a:pPr algn="ctr">
              <a:lnSpc>
                <a:spcPct val="95000"/>
              </a:lnSpc>
            </a:pPr>
            <a:r>
              <a:rPr sz="1100" b="0">
                <a:solidFill>
                  <a:srgbClr val="6C7A89"/>
                </a:solidFill>
                <a:latin typeface="Calibri"/>
              </a:rPr>
              <a:t/>
            </a:r>
          </a:p>
        </p:txBody>
      </p:sp>
      <p:sp>
        <p:nvSpPr>
          <p:cNvPr id="9" name="Rounded Rectangle 8"/>
          <p:cNvSpPr/>
          <p:nvPr/>
        </p:nvSpPr>
        <p:spPr>
          <a:xfrm>
            <a:off x="8210550" y="981075"/>
            <a:ext cx="3819525" cy="695325"/>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
            </a:r>
          </a:p>
          <a:p>
            <a:pPr algn="ctr">
              <a:lnSpc>
                <a:spcPct val="95000"/>
              </a:lnSpc>
            </a:pPr>
            <a:r>
              <a:rPr sz="1500" b="1">
                <a:solidFill>
                  <a:srgbClr val="2A5F8F"/>
                </a:solidFill>
                <a:latin typeface="Calibri"/>
              </a:rPr>
              <a:t/>
            </a:r>
          </a:p>
          <a:p>
            <a:pPr algn="ctr">
              <a:lnSpc>
                <a:spcPct val="95000"/>
              </a:lnSpc>
            </a:pPr>
            <a:r>
              <a:rPr sz="1100" b="0">
                <a:solidFill>
                  <a:srgbClr val="6C7A89"/>
                </a:solidFill>
                <a:latin typeface="Calibri"/>
              </a:rPr>
              <a:t/>
            </a:r>
          </a:p>
        </p:txBody>
      </p:sp>
      <p:sp>
        <p:nvSpPr>
          <p:cNvPr id="10" name="Rounded Rectangle 9"/>
          <p:cNvSpPr/>
          <p:nvPr/>
        </p:nvSpPr>
        <p:spPr>
          <a:xfrm>
            <a:off x="142875" y="1809750"/>
            <a:ext cx="5876925" cy="3009900"/>
          </a:xfrm>
          <a:prstGeom prst="roundRect">
            <a:avLst>
              <a:gd name="adj" fmla="val 2531"/>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8669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Egg Protein Membrane Market Value (US$ Mn) Scenario Forecast, 2025 &amp; 2036</a:t>
            </a:r>
          </a:p>
        </p:txBody>
      </p:sp>
      <p:cxnSp>
        <p:nvCxnSpPr>
          <p:cNvPr id="12" name="Connector 11"/>
          <p:cNvCxnSpPr/>
          <p:nvPr/>
        </p:nvCxnSpPr>
        <p:spPr>
          <a:xfrm>
            <a:off x="238125" y="4305300"/>
            <a:ext cx="5686425" cy="0"/>
          </a:xfrm>
          <a:prstGeom prst="line">
            <a:avLst/>
          </a:prstGeom>
          <a:ln w="9525">
            <a:solidFill>
              <a:srgbClr val="BFBFBF"/>
            </a:solidFill>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706342" y="3426161"/>
            <a:ext cx="635826" cy="879139"/>
          </a:xfrm>
          <a:prstGeom prst="rect">
            <a:avLst/>
          </a:prstGeom>
          <a:solidFill>
            <a:srgbClr val="4031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043936" y="3090057"/>
            <a:ext cx="635826" cy="1215243"/>
          </a:xfrm>
          <a:prstGeom prst="rect">
            <a:avLst/>
          </a:prstGeom>
          <a:solidFill>
            <a:srgbClr val="92D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025725" y="2954397"/>
            <a:ext cx="635826" cy="1350903"/>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007515" y="2805113"/>
            <a:ext cx="635826" cy="1500187"/>
          </a:xfrm>
          <a:prstGeom prst="rect">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Connector 16"/>
          <p:cNvCxnSpPr/>
          <p:nvPr/>
        </p:nvCxnSpPr>
        <p:spPr>
          <a:xfrm>
            <a:off x="1456468" y="2956707"/>
            <a:ext cx="1568418" cy="0"/>
          </a:xfrm>
          <a:prstGeom prst="line">
            <a:avLst/>
          </a:prstGeom>
          <a:ln w="15875">
            <a:solidFill>
              <a:srgbClr val="92D050"/>
            </a:solidFill>
            <a:headEnd type="triangl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1570768" y="2851932"/>
            <a:ext cx="1358868" cy="209550"/>
          </a:xfrm>
          <a:prstGeom prst="roundRect">
            <a:avLst/>
          </a:prstGeom>
          <a:solidFill>
            <a:srgbClr val="92D0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9050" rIns="19050" tIns="0" bIns="0"/>
          <a:lstStyle/>
          <a:p>
            <a:pPr algn="ctr"/>
            <a:r>
              <a:rPr sz="1100" b="1">
                <a:solidFill>
                  <a:srgbClr val="FFFFFF"/>
                </a:solidFill>
                <a:latin typeface="Calibri"/>
              </a:rPr>
              <a:t/>
            </a:r>
          </a:p>
        </p:txBody>
      </p:sp>
      <p:cxnSp>
        <p:nvCxnSpPr>
          <p:cNvPr id="19" name="Connector 18"/>
          <p:cNvCxnSpPr/>
          <p:nvPr/>
        </p:nvCxnSpPr>
        <p:spPr>
          <a:xfrm>
            <a:off x="1456468" y="2699532"/>
            <a:ext cx="2550207" cy="0"/>
          </a:xfrm>
          <a:prstGeom prst="line">
            <a:avLst/>
          </a:prstGeom>
          <a:ln w="15875">
            <a:solidFill>
              <a:srgbClr val="0078D4"/>
            </a:solidFill>
            <a:headEnd type="triangl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1570768" y="2594757"/>
            <a:ext cx="1358868" cy="209550"/>
          </a:xfrm>
          <a:prstGeom prst="round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9050" rIns="19050" tIns="0" bIns="0"/>
          <a:lstStyle/>
          <a:p>
            <a:pPr algn="ctr"/>
            <a:r>
              <a:rPr sz="1100" b="1">
                <a:solidFill>
                  <a:srgbClr val="FFFFFF"/>
                </a:solidFill>
                <a:latin typeface="Calibri"/>
              </a:rPr>
              <a:t/>
            </a:r>
          </a:p>
        </p:txBody>
      </p:sp>
      <p:cxnSp>
        <p:nvCxnSpPr>
          <p:cNvPr id="21" name="Connector 20"/>
          <p:cNvCxnSpPr/>
          <p:nvPr/>
        </p:nvCxnSpPr>
        <p:spPr>
          <a:xfrm>
            <a:off x="1456468" y="2442357"/>
            <a:ext cx="3531997" cy="0"/>
          </a:xfrm>
          <a:prstGeom prst="line">
            <a:avLst/>
          </a:prstGeom>
          <a:ln w="15875">
            <a:solidFill>
              <a:srgbClr val="808080"/>
            </a:solidFill>
            <a:headEnd type="triangl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1570768" y="2337582"/>
            <a:ext cx="1358868" cy="209550"/>
          </a:xfrm>
          <a:prstGeom prst="roundRect">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9050" rIns="19050" tIns="0" bIns="0"/>
          <a:lstStyle/>
          <a:p>
            <a:pPr algn="ctr"/>
            <a:r>
              <a:rPr sz="1100" b="1">
                <a:solidFill>
                  <a:srgbClr val="FFFFFF"/>
                </a:solidFill>
                <a:latin typeface="Calibri"/>
              </a:rPr>
              <a:t/>
            </a:r>
          </a:p>
        </p:txBody>
      </p:sp>
      <p:sp>
        <p:nvSpPr>
          <p:cNvPr id="23" name="TextBox 22"/>
          <p:cNvSpPr txBox="1"/>
          <p:nvPr/>
        </p:nvSpPr>
        <p:spPr>
          <a:xfrm>
            <a:off x="643255" y="4333875"/>
            <a:ext cx="762000" cy="180975"/>
          </a:xfrm>
          <a:prstGeom prst="rect">
            <a:avLst/>
          </a:prstGeom>
          <a:noFill/>
        </p:spPr>
        <p:txBody>
          <a:bodyPr wrap="square" lIns="28575" rIns="28575" tIns="9525" bIns="9525" anchor="ctr">
            <a:spAutoFit/>
          </a:bodyPr>
          <a:lstStyle/>
          <a:p>
            <a:pPr algn="ctr"/>
            <a:r>
              <a:rPr sz="1100" b="1">
                <a:solidFill>
                  <a:srgbClr val="2E2E2E"/>
                </a:solidFill>
                <a:latin typeface="Calibri"/>
              </a:rPr>
              <a:t>2025</a:t>
            </a:r>
          </a:p>
        </p:txBody>
      </p:sp>
      <p:sp>
        <p:nvSpPr>
          <p:cNvPr id="24" name="TextBox 23"/>
          <p:cNvSpPr txBox="1"/>
          <p:nvPr/>
        </p:nvSpPr>
        <p:spPr>
          <a:xfrm>
            <a:off x="3962638" y="4333875"/>
            <a:ext cx="762000" cy="180975"/>
          </a:xfrm>
          <a:prstGeom prst="rect">
            <a:avLst/>
          </a:prstGeom>
          <a:noFill/>
        </p:spPr>
        <p:txBody>
          <a:bodyPr wrap="square" lIns="28575" rIns="28575" tIns="9525" bIns="9525" anchor="ctr">
            <a:spAutoFit/>
          </a:bodyPr>
          <a:lstStyle/>
          <a:p>
            <a:pPr algn="ctr"/>
            <a:r>
              <a:rPr sz="1100" b="1">
                <a:solidFill>
                  <a:srgbClr val="2E2E2E"/>
                </a:solidFill>
                <a:latin typeface="Calibri"/>
              </a:rPr>
              <a:t>2036</a:t>
            </a:r>
          </a:p>
        </p:txBody>
      </p:sp>
      <p:sp>
        <p:nvSpPr>
          <p:cNvPr id="25" name="Oval 24"/>
          <p:cNvSpPr/>
          <p:nvPr/>
        </p:nvSpPr>
        <p:spPr>
          <a:xfrm>
            <a:off x="304800" y="4572000"/>
            <a:ext cx="133350" cy="133350"/>
          </a:xfrm>
          <a:prstGeom prst="ellipse">
            <a:avLst/>
          </a:prstGeom>
          <a:solidFill>
            <a:srgbClr val="92D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5775" y="4543425"/>
            <a:ext cx="1647825" cy="190500"/>
          </a:xfrm>
          <a:prstGeom prst="rect">
            <a:avLst/>
          </a:prstGeom>
          <a:noFill/>
        </p:spPr>
        <p:txBody>
          <a:bodyPr wrap="none" lIns="28575" rIns="28575" tIns="9525" bIns="9525" anchor="ctr">
            <a:spAutoFit/>
          </a:bodyPr>
          <a:lstStyle/>
          <a:p>
            <a:pPr algn="l"/>
            <a:r>
              <a:rPr sz="1100" b="1">
                <a:solidFill>
                  <a:srgbClr val="2E2E2E"/>
                </a:solidFill>
                <a:latin typeface="Calibri"/>
              </a:rPr>
              <a:t>Conservative Scenario</a:t>
            </a:r>
          </a:p>
        </p:txBody>
      </p:sp>
      <p:sp>
        <p:nvSpPr>
          <p:cNvPr id="27" name="Oval 26"/>
          <p:cNvSpPr/>
          <p:nvPr/>
        </p:nvSpPr>
        <p:spPr>
          <a:xfrm>
            <a:off x="2200275" y="4572000"/>
            <a:ext cx="133350" cy="133350"/>
          </a:xfrm>
          <a:prstGeom prst="ellipse">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381250" y="4543425"/>
            <a:ext cx="1647825" cy="190500"/>
          </a:xfrm>
          <a:prstGeom prst="rect">
            <a:avLst/>
          </a:prstGeom>
          <a:noFill/>
        </p:spPr>
        <p:txBody>
          <a:bodyPr wrap="none" lIns="28575" rIns="28575" tIns="9525" bIns="9525" anchor="ctr">
            <a:spAutoFit/>
          </a:bodyPr>
          <a:lstStyle/>
          <a:p>
            <a:pPr algn="l"/>
            <a:r>
              <a:rPr sz="1100" b="1">
                <a:solidFill>
                  <a:srgbClr val="2E2E2E"/>
                </a:solidFill>
                <a:latin typeface="Calibri"/>
              </a:rPr>
              <a:t>Likely Scenario</a:t>
            </a:r>
          </a:p>
        </p:txBody>
      </p:sp>
      <p:sp>
        <p:nvSpPr>
          <p:cNvPr id="29" name="Oval 28"/>
          <p:cNvSpPr/>
          <p:nvPr/>
        </p:nvSpPr>
        <p:spPr>
          <a:xfrm>
            <a:off x="4095750" y="4572000"/>
            <a:ext cx="133350" cy="133350"/>
          </a:xfrm>
          <a:prstGeom prst="ellipse">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276725" y="4543425"/>
            <a:ext cx="1647825" cy="190500"/>
          </a:xfrm>
          <a:prstGeom prst="rect">
            <a:avLst/>
          </a:prstGeom>
          <a:noFill/>
        </p:spPr>
        <p:txBody>
          <a:bodyPr wrap="none" lIns="28575" rIns="28575" tIns="9525" bIns="9525" anchor="ctr">
            <a:spAutoFit/>
          </a:bodyPr>
          <a:lstStyle/>
          <a:p>
            <a:pPr algn="l"/>
            <a:r>
              <a:rPr sz="1100" b="1">
                <a:solidFill>
                  <a:srgbClr val="2E2E2E"/>
                </a:solidFill>
                <a:latin typeface="Calibri"/>
              </a:rPr>
              <a:t>Optimistic Scenario</a:t>
            </a:r>
          </a:p>
        </p:txBody>
      </p:sp>
      <p:sp>
        <p:nvSpPr>
          <p:cNvPr id="31" name="Rounded Rectangle 30"/>
          <p:cNvSpPr/>
          <p:nvPr/>
        </p:nvSpPr>
        <p:spPr>
          <a:xfrm>
            <a:off x="6172200" y="1809750"/>
            <a:ext cx="5876925" cy="3009900"/>
          </a:xfrm>
          <a:prstGeom prst="roundRect">
            <a:avLst>
              <a:gd name="adj" fmla="val 2531"/>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267450" y="18669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Egg Protein Membrane Market Attractiveness Analysis By Region, 2026–2036</a:t>
            </a:r>
          </a:p>
        </p:txBody>
      </p:sp>
      <p:graphicFrame>
        <p:nvGraphicFramePr>
          <p:cNvPr id="33" name="Chart 32"/>
          <p:cNvGraphicFramePr>
            <a:graphicFrameLocks noGrp="1"/>
          </p:cNvGraphicFramePr>
          <p:nvPr/>
        </p:nvGraphicFramePr>
        <p:xfrm>
          <a:off x="6267450" y="2266950"/>
          <a:ext cx="5686425" cy="2495550"/>
        </p:xfrm>
        <a:graphic>
          <a:graphicData uri="http://schemas.openxmlformats.org/drawingml/2006/chart">
            <c:chart xmlns:c="http://schemas.openxmlformats.org/drawingml/2006/chart" r:id="rId3"/>
          </a:graphicData>
        </a:graphic>
      </p:graphicFrame>
      <p:sp>
        <p:nvSpPr>
          <p:cNvPr id="34" name="Rounded Rectangle 33"/>
          <p:cNvSpPr/>
          <p:nvPr/>
        </p:nvSpPr>
        <p:spPr>
          <a:xfrm>
            <a:off x="142875" y="4953000"/>
            <a:ext cx="11906250" cy="1676400"/>
          </a:xfrm>
          <a:prstGeom prst="roundRect">
            <a:avLst>
              <a:gd name="adj" fmla="val 4545"/>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76225" y="5038725"/>
            <a:ext cx="11639550" cy="209550"/>
          </a:xfrm>
          <a:prstGeom prst="rect">
            <a:avLst/>
          </a:prstGeom>
          <a:noFill/>
        </p:spPr>
        <p:txBody>
          <a:bodyPr wrap="square" lIns="0" rIns="19050" tIns="9525" bIns="9525">
            <a:spAutoFit/>
          </a:bodyPr>
          <a:lstStyle/>
          <a:p>
            <a:pPr algn="l"/>
            <a:r>
              <a:rPr sz="1300" b="1">
                <a:solidFill>
                  <a:srgbClr val="0E2A5C"/>
                </a:solidFill>
                <a:latin typeface="Calibri"/>
              </a:rPr>
              <a:t>Scenario Assumptions &amp; Outlook</a:t>
            </a:r>
          </a:p>
        </p:txBody>
      </p:sp>
      <p:sp>
        <p:nvSpPr>
          <p:cNvPr id="36" name="Rectangle 35"/>
          <p:cNvSpPr/>
          <p:nvPr/>
        </p:nvSpPr>
        <p:spPr>
          <a:xfrm>
            <a:off x="276225" y="5276850"/>
            <a:ext cx="116395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76225" y="5362575"/>
            <a:ext cx="11639550" cy="119062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p:txBody>
      </p:sp>
      <p:sp>
        <p:nvSpPr>
          <p:cNvPr id="38" name="Rectangle 37"/>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40" name="Picture 39" descr="lock.png"/>
          <p:cNvPicPr>
            <a:picLocks noChangeAspect="1"/>
          </p:cNvPicPr>
          <p:nvPr/>
        </p:nvPicPr>
        <p:blipFill>
          <a:blip r:embed="rId5"/>
          <a:stretch>
            <a:fillRect/>
          </a:stretch>
        </p:blipFill>
        <p:spPr>
          <a:xfrm>
            <a:off x="2035969" y="1214437"/>
            <a:ext cx="157162" cy="228600"/>
          </a:xfrm>
          <a:prstGeom prst="rect">
            <a:avLst/>
          </a:prstGeom>
        </p:spPr>
      </p:pic>
      <p:pic>
        <p:nvPicPr>
          <p:cNvPr id="41" name="Picture 40" descr="lock.png"/>
          <p:cNvPicPr>
            <a:picLocks noChangeAspect="1"/>
          </p:cNvPicPr>
          <p:nvPr/>
        </p:nvPicPr>
        <p:blipFill>
          <a:blip r:embed="rId5"/>
          <a:stretch>
            <a:fillRect/>
          </a:stretch>
        </p:blipFill>
        <p:spPr>
          <a:xfrm>
            <a:off x="6069806" y="1214437"/>
            <a:ext cx="157162" cy="228600"/>
          </a:xfrm>
          <a:prstGeom prst="rect">
            <a:avLst/>
          </a:prstGeom>
        </p:spPr>
      </p:pic>
      <p:pic>
        <p:nvPicPr>
          <p:cNvPr id="42" name="Picture 41" descr="lock.png"/>
          <p:cNvPicPr>
            <a:picLocks noChangeAspect="1"/>
          </p:cNvPicPr>
          <p:nvPr/>
        </p:nvPicPr>
        <p:blipFill>
          <a:blip r:embed="rId5"/>
          <a:stretch>
            <a:fillRect/>
          </a:stretch>
        </p:blipFill>
        <p:spPr>
          <a:xfrm>
            <a:off x="10041731" y="1214437"/>
            <a:ext cx="157162" cy="228600"/>
          </a:xfrm>
          <a:prstGeom prst="rect">
            <a:avLst/>
          </a:prstGeom>
        </p:spPr>
      </p:pic>
      <p:sp>
        <p:nvSpPr>
          <p:cNvPr id="43" name="TextBox 42"/>
          <p:cNvSpPr txBox="1"/>
          <p:nvPr/>
        </p:nvSpPr>
        <p:spPr>
          <a:xfrm>
            <a:off x="1637332" y="1028326"/>
            <a:ext cx="1030634" cy="166573"/>
          </a:xfrm>
          <a:prstGeom prst="rect">
            <a:avLst/>
          </a:prstGeom>
          <a:noFill/>
        </p:spPr>
        <p:txBody>
          <a:bodyPr wrap="none" lIns="0" rIns="0" tIns="0" bIns="0">
            <a:spAutoFit/>
          </a:bodyPr>
          <a:lstStyle/>
          <a:p>
            <a:r>
              <a:rPr sz="968" b="1">
                <a:solidFill>
                  <a:srgbClr val="6C7A89"/>
                </a:solidFill>
                <a:latin typeface="Calibri"/>
              </a:rPr>
              <a:t>OPTIMISTIC (2036)</a:t>
            </a:r>
          </a:p>
        </p:txBody>
      </p:sp>
      <p:sp>
        <p:nvSpPr>
          <p:cNvPr id="44" name="TextBox 43"/>
          <p:cNvSpPr txBox="1"/>
          <p:nvPr/>
        </p:nvSpPr>
        <p:spPr>
          <a:xfrm>
            <a:off x="1906321" y="1481625"/>
            <a:ext cx="357112" cy="166573"/>
          </a:xfrm>
          <a:prstGeom prst="rect">
            <a:avLst/>
          </a:prstGeom>
          <a:noFill/>
        </p:spPr>
        <p:txBody>
          <a:bodyPr wrap="none" lIns="0" rIns="0" tIns="0" bIns="0">
            <a:spAutoFit/>
          </a:bodyPr>
          <a:lstStyle/>
          <a:p>
            <a:r>
              <a:rPr sz="968" b="0">
                <a:solidFill>
                  <a:srgbClr val="6C7A89"/>
                </a:solidFill>
                <a:latin typeface="Calibri"/>
              </a:rPr>
              <a:t>CAGR</a:t>
            </a:r>
          </a:p>
        </p:txBody>
      </p:sp>
      <p:pic>
        <p:nvPicPr>
          <p:cNvPr id="45" name="Picture 44" descr="lock.png"/>
          <p:cNvPicPr>
            <a:picLocks noChangeAspect="1"/>
          </p:cNvPicPr>
          <p:nvPr/>
        </p:nvPicPr>
        <p:blipFill>
          <a:blip r:embed="rId5"/>
          <a:stretch>
            <a:fillRect/>
          </a:stretch>
        </p:blipFill>
        <p:spPr>
          <a:xfrm>
            <a:off x="2208575" y="1473019"/>
            <a:ext cx="113255" cy="164734"/>
          </a:xfrm>
          <a:prstGeom prst="rect">
            <a:avLst/>
          </a:prstGeom>
        </p:spPr>
      </p:pic>
      <p:sp>
        <p:nvSpPr>
          <p:cNvPr id="46" name="TextBox 45"/>
          <p:cNvSpPr txBox="1"/>
          <p:nvPr/>
        </p:nvSpPr>
        <p:spPr>
          <a:xfrm>
            <a:off x="5807156" y="1028326"/>
            <a:ext cx="758662" cy="166573"/>
          </a:xfrm>
          <a:prstGeom prst="rect">
            <a:avLst/>
          </a:prstGeom>
          <a:noFill/>
        </p:spPr>
        <p:txBody>
          <a:bodyPr wrap="none" lIns="0" rIns="0" tIns="0" bIns="0">
            <a:spAutoFit/>
          </a:bodyPr>
          <a:lstStyle/>
          <a:p>
            <a:r>
              <a:rPr sz="968" b="1">
                <a:solidFill>
                  <a:srgbClr val="6C7A89"/>
                </a:solidFill>
                <a:latin typeface="Calibri"/>
              </a:rPr>
              <a:t>LIKELY (2036)</a:t>
            </a:r>
          </a:p>
        </p:txBody>
      </p:sp>
      <p:sp>
        <p:nvSpPr>
          <p:cNvPr id="47" name="TextBox 46"/>
          <p:cNvSpPr txBox="1"/>
          <p:nvPr/>
        </p:nvSpPr>
        <p:spPr>
          <a:xfrm>
            <a:off x="5940158" y="1481625"/>
            <a:ext cx="357112" cy="166573"/>
          </a:xfrm>
          <a:prstGeom prst="rect">
            <a:avLst/>
          </a:prstGeom>
          <a:noFill/>
        </p:spPr>
        <p:txBody>
          <a:bodyPr wrap="none" lIns="0" rIns="0" tIns="0" bIns="0">
            <a:spAutoFit/>
          </a:bodyPr>
          <a:lstStyle/>
          <a:p>
            <a:r>
              <a:rPr sz="968" b="0">
                <a:solidFill>
                  <a:srgbClr val="6C7A89"/>
                </a:solidFill>
                <a:latin typeface="Calibri"/>
              </a:rPr>
              <a:t>CAGR</a:t>
            </a:r>
          </a:p>
        </p:txBody>
      </p:sp>
      <p:pic>
        <p:nvPicPr>
          <p:cNvPr id="48" name="Picture 47" descr="lock.png"/>
          <p:cNvPicPr>
            <a:picLocks noChangeAspect="1"/>
          </p:cNvPicPr>
          <p:nvPr/>
        </p:nvPicPr>
        <p:blipFill>
          <a:blip r:embed="rId5"/>
          <a:stretch>
            <a:fillRect/>
          </a:stretch>
        </p:blipFill>
        <p:spPr>
          <a:xfrm>
            <a:off x="6242412" y="1473019"/>
            <a:ext cx="113255" cy="164734"/>
          </a:xfrm>
          <a:prstGeom prst="rect">
            <a:avLst/>
          </a:prstGeom>
        </p:spPr>
      </p:pic>
      <p:sp>
        <p:nvSpPr>
          <p:cNvPr id="49" name="TextBox 48"/>
          <p:cNvSpPr txBox="1"/>
          <p:nvPr/>
        </p:nvSpPr>
        <p:spPr>
          <a:xfrm>
            <a:off x="9548094" y="1028326"/>
            <a:ext cx="1220636" cy="166573"/>
          </a:xfrm>
          <a:prstGeom prst="rect">
            <a:avLst/>
          </a:prstGeom>
          <a:noFill/>
        </p:spPr>
        <p:txBody>
          <a:bodyPr wrap="none" lIns="0" rIns="0" tIns="0" bIns="0">
            <a:spAutoFit/>
          </a:bodyPr>
          <a:lstStyle/>
          <a:p>
            <a:r>
              <a:rPr sz="968" b="1">
                <a:solidFill>
                  <a:srgbClr val="6C7A89"/>
                </a:solidFill>
                <a:latin typeface="Calibri"/>
              </a:rPr>
              <a:t>CONSERVATIVE (2036)</a:t>
            </a:r>
          </a:p>
        </p:txBody>
      </p:sp>
      <p:sp>
        <p:nvSpPr>
          <p:cNvPr id="50" name="TextBox 49"/>
          <p:cNvSpPr txBox="1"/>
          <p:nvPr/>
        </p:nvSpPr>
        <p:spPr>
          <a:xfrm>
            <a:off x="9912083" y="1481625"/>
            <a:ext cx="357112" cy="166573"/>
          </a:xfrm>
          <a:prstGeom prst="rect">
            <a:avLst/>
          </a:prstGeom>
          <a:noFill/>
        </p:spPr>
        <p:txBody>
          <a:bodyPr wrap="none" lIns="0" rIns="0" tIns="0" bIns="0">
            <a:spAutoFit/>
          </a:bodyPr>
          <a:lstStyle/>
          <a:p>
            <a:r>
              <a:rPr sz="968" b="0">
                <a:solidFill>
                  <a:srgbClr val="6C7A89"/>
                </a:solidFill>
                <a:latin typeface="Calibri"/>
              </a:rPr>
              <a:t>CAGR</a:t>
            </a:r>
          </a:p>
        </p:txBody>
      </p:sp>
      <p:pic>
        <p:nvPicPr>
          <p:cNvPr id="51" name="Picture 50" descr="lock.png"/>
          <p:cNvPicPr>
            <a:picLocks noChangeAspect="1"/>
          </p:cNvPicPr>
          <p:nvPr/>
        </p:nvPicPr>
        <p:blipFill>
          <a:blip r:embed="rId5"/>
          <a:stretch>
            <a:fillRect/>
          </a:stretch>
        </p:blipFill>
        <p:spPr>
          <a:xfrm>
            <a:off x="10214337" y="1473019"/>
            <a:ext cx="113255" cy="164734"/>
          </a:xfrm>
          <a:prstGeom prst="rect">
            <a:avLst/>
          </a:prstGeom>
        </p:spPr>
      </p:pic>
      <p:sp>
        <p:nvSpPr>
          <p:cNvPr id="52" name="TextBox 51"/>
          <p:cNvSpPr txBox="1"/>
          <p:nvPr/>
        </p:nvSpPr>
        <p:spPr>
          <a:xfrm>
            <a:off x="2032418" y="2886298"/>
            <a:ext cx="382383" cy="159867"/>
          </a:xfrm>
          <a:prstGeom prst="rect">
            <a:avLst/>
          </a:prstGeom>
          <a:noFill/>
        </p:spPr>
        <p:txBody>
          <a:bodyPr wrap="none" lIns="0" rIns="0" tIns="0" bIns="0">
            <a:spAutoFit/>
          </a:bodyPr>
          <a:lstStyle/>
          <a:p>
            <a:r>
              <a:rPr sz="923" b="1">
                <a:solidFill>
                  <a:srgbClr val="FFFFFF"/>
                </a:solidFill>
                <a:latin typeface="Calibri"/>
              </a:rPr>
              <a:t>CAGR:</a:t>
            </a:r>
          </a:p>
        </p:txBody>
      </p:sp>
      <p:pic>
        <p:nvPicPr>
          <p:cNvPr id="53" name="Picture 52" descr="lock.png"/>
          <p:cNvPicPr>
            <a:picLocks noChangeAspect="1"/>
          </p:cNvPicPr>
          <p:nvPr/>
        </p:nvPicPr>
        <p:blipFill>
          <a:blip r:embed="rId5"/>
          <a:stretch>
            <a:fillRect/>
          </a:stretch>
        </p:blipFill>
        <p:spPr>
          <a:xfrm>
            <a:off x="2358973" y="2878083"/>
            <a:ext cx="108107" cy="157246"/>
          </a:xfrm>
          <a:prstGeom prst="rect">
            <a:avLst/>
          </a:prstGeom>
        </p:spPr>
      </p:pic>
      <p:sp>
        <p:nvSpPr>
          <p:cNvPr id="54" name="TextBox 53"/>
          <p:cNvSpPr txBox="1"/>
          <p:nvPr/>
        </p:nvSpPr>
        <p:spPr>
          <a:xfrm>
            <a:off x="2032418" y="2629123"/>
            <a:ext cx="382383" cy="159867"/>
          </a:xfrm>
          <a:prstGeom prst="rect">
            <a:avLst/>
          </a:prstGeom>
          <a:noFill/>
        </p:spPr>
        <p:txBody>
          <a:bodyPr wrap="none" lIns="0" rIns="0" tIns="0" bIns="0">
            <a:spAutoFit/>
          </a:bodyPr>
          <a:lstStyle/>
          <a:p>
            <a:r>
              <a:rPr sz="923" b="1">
                <a:solidFill>
                  <a:srgbClr val="FFFFFF"/>
                </a:solidFill>
                <a:latin typeface="Calibri"/>
              </a:rPr>
              <a:t>CAGR:</a:t>
            </a:r>
          </a:p>
        </p:txBody>
      </p:sp>
      <p:pic>
        <p:nvPicPr>
          <p:cNvPr id="55" name="Picture 54" descr="lock.png"/>
          <p:cNvPicPr>
            <a:picLocks noChangeAspect="1"/>
          </p:cNvPicPr>
          <p:nvPr/>
        </p:nvPicPr>
        <p:blipFill>
          <a:blip r:embed="rId5"/>
          <a:stretch>
            <a:fillRect/>
          </a:stretch>
        </p:blipFill>
        <p:spPr>
          <a:xfrm>
            <a:off x="2358973" y="2620908"/>
            <a:ext cx="108107" cy="157246"/>
          </a:xfrm>
          <a:prstGeom prst="rect">
            <a:avLst/>
          </a:prstGeom>
        </p:spPr>
      </p:pic>
      <p:sp>
        <p:nvSpPr>
          <p:cNvPr id="56" name="TextBox 55"/>
          <p:cNvSpPr txBox="1"/>
          <p:nvPr/>
        </p:nvSpPr>
        <p:spPr>
          <a:xfrm>
            <a:off x="2032418" y="2371948"/>
            <a:ext cx="382383" cy="159867"/>
          </a:xfrm>
          <a:prstGeom prst="rect">
            <a:avLst/>
          </a:prstGeom>
          <a:noFill/>
        </p:spPr>
        <p:txBody>
          <a:bodyPr wrap="none" lIns="0" rIns="0" tIns="0" bIns="0">
            <a:spAutoFit/>
          </a:bodyPr>
          <a:lstStyle/>
          <a:p>
            <a:r>
              <a:rPr sz="923" b="1">
                <a:solidFill>
                  <a:srgbClr val="FFFFFF"/>
                </a:solidFill>
                <a:latin typeface="Calibri"/>
              </a:rPr>
              <a:t>CAGR:</a:t>
            </a:r>
          </a:p>
        </p:txBody>
      </p:sp>
      <p:pic>
        <p:nvPicPr>
          <p:cNvPr id="57" name="Picture 56" descr="lock.png"/>
          <p:cNvPicPr>
            <a:picLocks noChangeAspect="1"/>
          </p:cNvPicPr>
          <p:nvPr/>
        </p:nvPicPr>
        <p:blipFill>
          <a:blip r:embed="rId5"/>
          <a:stretch>
            <a:fillRect/>
          </a:stretch>
        </p:blipFill>
        <p:spPr>
          <a:xfrm>
            <a:off x="2358973" y="2363733"/>
            <a:ext cx="108107" cy="157246"/>
          </a:xfrm>
          <a:prstGeom prst="rect">
            <a:avLst/>
          </a:prstGeom>
        </p:spPr>
      </p:pic>
      <p:sp>
        <p:nvSpPr>
          <p:cNvPr id="58" name="TextBox 57"/>
          <p:cNvSpPr txBox="1"/>
          <p:nvPr/>
        </p:nvSpPr>
        <p:spPr>
          <a:xfrm>
            <a:off x="276225" y="5372100"/>
            <a:ext cx="808161" cy="194310"/>
          </a:xfrm>
          <a:prstGeom prst="rect">
            <a:avLst/>
          </a:prstGeom>
          <a:noFill/>
        </p:spPr>
        <p:txBody>
          <a:bodyPr wrap="none" lIns="0" rIns="0" tIns="0" bIns="0">
            <a:spAutoFit/>
          </a:bodyPr>
          <a:lstStyle/>
          <a:p>
            <a:r>
              <a:rPr sz="1150" b="0">
                <a:solidFill>
                  <a:srgbClr val="2E2E2E"/>
                </a:solidFill>
                <a:latin typeface="Calibri"/>
              </a:rPr>
              <a:t>▪ Optimistic:</a:t>
            </a:r>
          </a:p>
        </p:txBody>
      </p:sp>
      <p:pic>
        <p:nvPicPr>
          <p:cNvPr id="59" name="Picture 58" descr="lock.png"/>
          <p:cNvPicPr>
            <a:picLocks noChangeAspect="1"/>
          </p:cNvPicPr>
          <p:nvPr/>
        </p:nvPicPr>
        <p:blipFill>
          <a:blip r:embed="rId5"/>
          <a:stretch>
            <a:fillRect/>
          </a:stretch>
        </p:blipFill>
        <p:spPr>
          <a:xfrm>
            <a:off x="1033540" y="5361876"/>
            <a:ext cx="134549" cy="195707"/>
          </a:xfrm>
          <a:prstGeom prst="rect">
            <a:avLst/>
          </a:prstGeom>
        </p:spPr>
      </p:pic>
      <p:sp>
        <p:nvSpPr>
          <p:cNvPr id="60" name="TextBox 59"/>
          <p:cNvSpPr txBox="1"/>
          <p:nvPr/>
        </p:nvSpPr>
        <p:spPr>
          <a:xfrm>
            <a:off x="1208649" y="5372100"/>
            <a:ext cx="1203808" cy="194310"/>
          </a:xfrm>
          <a:prstGeom prst="rect">
            <a:avLst/>
          </a:prstGeom>
          <a:noFill/>
        </p:spPr>
        <p:txBody>
          <a:bodyPr wrap="none" lIns="0" rIns="0" tIns="0" bIns="0">
            <a:spAutoFit/>
          </a:bodyPr>
          <a:lstStyle/>
          <a:p>
            <a:r>
              <a:rPr sz="1150" b="0">
                <a:solidFill>
                  <a:srgbClr val="2E2E2E"/>
                </a:solidFill>
                <a:latin typeface="Calibri"/>
              </a:rPr>
              <a:t>US$ Mn by 2036 at</a:t>
            </a:r>
          </a:p>
        </p:txBody>
      </p:sp>
      <p:pic>
        <p:nvPicPr>
          <p:cNvPr id="61" name="Picture 60" descr="lock.png"/>
          <p:cNvPicPr>
            <a:picLocks noChangeAspect="1"/>
          </p:cNvPicPr>
          <p:nvPr/>
        </p:nvPicPr>
        <p:blipFill>
          <a:blip r:embed="rId5"/>
          <a:stretch>
            <a:fillRect/>
          </a:stretch>
        </p:blipFill>
        <p:spPr>
          <a:xfrm>
            <a:off x="2361612" y="5361876"/>
            <a:ext cx="134549" cy="195707"/>
          </a:xfrm>
          <a:prstGeom prst="rect">
            <a:avLst/>
          </a:prstGeom>
        </p:spPr>
      </p:pic>
      <p:sp>
        <p:nvSpPr>
          <p:cNvPr id="62" name="TextBox 61"/>
          <p:cNvSpPr txBox="1"/>
          <p:nvPr/>
        </p:nvSpPr>
        <p:spPr>
          <a:xfrm>
            <a:off x="2536721" y="5372100"/>
            <a:ext cx="446726" cy="194310"/>
          </a:xfrm>
          <a:prstGeom prst="rect">
            <a:avLst/>
          </a:prstGeom>
          <a:noFill/>
        </p:spPr>
        <p:txBody>
          <a:bodyPr wrap="none" lIns="0" rIns="0" tIns="0" bIns="0">
            <a:spAutoFit/>
          </a:bodyPr>
          <a:lstStyle/>
          <a:p>
            <a:r>
              <a:rPr sz="1150" b="0">
                <a:solidFill>
                  <a:srgbClr val="2E2E2E"/>
                </a:solidFill>
                <a:latin typeface="Calibri"/>
              </a:rPr>
              <a:t>CAGR.</a:t>
            </a:r>
          </a:p>
        </p:txBody>
      </p:sp>
      <p:sp>
        <p:nvSpPr>
          <p:cNvPr id="63" name="TextBox 62"/>
          <p:cNvSpPr txBox="1"/>
          <p:nvPr/>
        </p:nvSpPr>
        <p:spPr>
          <a:xfrm>
            <a:off x="276225" y="5599938"/>
            <a:ext cx="1448271" cy="194310"/>
          </a:xfrm>
          <a:prstGeom prst="rect">
            <a:avLst/>
          </a:prstGeom>
          <a:noFill/>
        </p:spPr>
        <p:txBody>
          <a:bodyPr wrap="none" lIns="0" rIns="0" tIns="0" bIns="0">
            <a:spAutoFit/>
          </a:bodyPr>
          <a:lstStyle/>
          <a:p>
            <a:r>
              <a:rPr sz="1150" b="0">
                <a:solidFill>
                  <a:srgbClr val="2E2E2E"/>
                </a:solidFill>
                <a:latin typeface="Calibri"/>
              </a:rPr>
              <a:t>▪ Likely (base forecast):</a:t>
            </a:r>
          </a:p>
        </p:txBody>
      </p:sp>
      <p:pic>
        <p:nvPicPr>
          <p:cNvPr id="64" name="Picture 63" descr="lock.png"/>
          <p:cNvPicPr>
            <a:picLocks noChangeAspect="1"/>
          </p:cNvPicPr>
          <p:nvPr/>
        </p:nvPicPr>
        <p:blipFill>
          <a:blip r:embed="rId5"/>
          <a:stretch>
            <a:fillRect/>
          </a:stretch>
        </p:blipFill>
        <p:spPr>
          <a:xfrm>
            <a:off x="1673650" y="5589714"/>
            <a:ext cx="134549" cy="195707"/>
          </a:xfrm>
          <a:prstGeom prst="rect">
            <a:avLst/>
          </a:prstGeom>
        </p:spPr>
      </p:pic>
      <p:sp>
        <p:nvSpPr>
          <p:cNvPr id="65" name="TextBox 64"/>
          <p:cNvSpPr txBox="1"/>
          <p:nvPr/>
        </p:nvSpPr>
        <p:spPr>
          <a:xfrm>
            <a:off x="1848759" y="5599938"/>
            <a:ext cx="698053" cy="194310"/>
          </a:xfrm>
          <a:prstGeom prst="rect">
            <a:avLst/>
          </a:prstGeom>
          <a:noFill/>
        </p:spPr>
        <p:txBody>
          <a:bodyPr wrap="none" lIns="0" rIns="0" tIns="0" bIns="0">
            <a:spAutoFit/>
          </a:bodyPr>
          <a:lstStyle/>
          <a:p>
            <a:r>
              <a:rPr sz="1150" b="0">
                <a:solidFill>
                  <a:srgbClr val="2E2E2E"/>
                </a:solidFill>
                <a:latin typeface="Calibri"/>
              </a:rPr>
              <a:t>US$ Mn at</a:t>
            </a:r>
          </a:p>
        </p:txBody>
      </p:sp>
      <p:pic>
        <p:nvPicPr>
          <p:cNvPr id="66" name="Picture 65" descr="lock.png"/>
          <p:cNvPicPr>
            <a:picLocks noChangeAspect="1"/>
          </p:cNvPicPr>
          <p:nvPr/>
        </p:nvPicPr>
        <p:blipFill>
          <a:blip r:embed="rId5"/>
          <a:stretch>
            <a:fillRect/>
          </a:stretch>
        </p:blipFill>
        <p:spPr>
          <a:xfrm>
            <a:off x="2495966" y="5589714"/>
            <a:ext cx="134549" cy="195707"/>
          </a:xfrm>
          <a:prstGeom prst="rect">
            <a:avLst/>
          </a:prstGeom>
        </p:spPr>
      </p:pic>
      <p:sp>
        <p:nvSpPr>
          <p:cNvPr id="67" name="TextBox 66"/>
          <p:cNvSpPr txBox="1"/>
          <p:nvPr/>
        </p:nvSpPr>
        <p:spPr>
          <a:xfrm>
            <a:off x="2671076" y="5599938"/>
            <a:ext cx="446726" cy="194310"/>
          </a:xfrm>
          <a:prstGeom prst="rect">
            <a:avLst/>
          </a:prstGeom>
          <a:noFill/>
        </p:spPr>
        <p:txBody>
          <a:bodyPr wrap="none" lIns="0" rIns="0" tIns="0" bIns="0">
            <a:spAutoFit/>
          </a:bodyPr>
          <a:lstStyle/>
          <a:p>
            <a:r>
              <a:rPr sz="1150" b="0">
                <a:solidFill>
                  <a:srgbClr val="2E2E2E"/>
                </a:solidFill>
                <a:latin typeface="Calibri"/>
              </a:rPr>
              <a:t>CAGR.</a:t>
            </a:r>
          </a:p>
        </p:txBody>
      </p:sp>
      <p:sp>
        <p:nvSpPr>
          <p:cNvPr id="68" name="TextBox 67"/>
          <p:cNvSpPr txBox="1"/>
          <p:nvPr/>
        </p:nvSpPr>
        <p:spPr>
          <a:xfrm>
            <a:off x="276225" y="5827775"/>
            <a:ext cx="969615" cy="194310"/>
          </a:xfrm>
          <a:prstGeom prst="rect">
            <a:avLst/>
          </a:prstGeom>
          <a:noFill/>
        </p:spPr>
        <p:txBody>
          <a:bodyPr wrap="none" lIns="0" rIns="0" tIns="0" bIns="0">
            <a:spAutoFit/>
          </a:bodyPr>
          <a:lstStyle/>
          <a:p>
            <a:r>
              <a:rPr sz="1150" b="0">
                <a:solidFill>
                  <a:srgbClr val="2E2E2E"/>
                </a:solidFill>
                <a:latin typeface="Calibri"/>
              </a:rPr>
              <a:t>▪ Conservative:</a:t>
            </a:r>
          </a:p>
        </p:txBody>
      </p:sp>
      <p:pic>
        <p:nvPicPr>
          <p:cNvPr id="69" name="Picture 68" descr="lock.png"/>
          <p:cNvPicPr>
            <a:picLocks noChangeAspect="1"/>
          </p:cNvPicPr>
          <p:nvPr/>
        </p:nvPicPr>
        <p:blipFill>
          <a:blip r:embed="rId5"/>
          <a:stretch>
            <a:fillRect/>
          </a:stretch>
        </p:blipFill>
        <p:spPr>
          <a:xfrm>
            <a:off x="1194994" y="5817552"/>
            <a:ext cx="134549" cy="195707"/>
          </a:xfrm>
          <a:prstGeom prst="rect">
            <a:avLst/>
          </a:prstGeom>
        </p:spPr>
      </p:pic>
      <p:sp>
        <p:nvSpPr>
          <p:cNvPr id="70" name="TextBox 69"/>
          <p:cNvSpPr txBox="1"/>
          <p:nvPr/>
        </p:nvSpPr>
        <p:spPr>
          <a:xfrm>
            <a:off x="1370103" y="5827775"/>
            <a:ext cx="698053" cy="194310"/>
          </a:xfrm>
          <a:prstGeom prst="rect">
            <a:avLst/>
          </a:prstGeom>
          <a:noFill/>
        </p:spPr>
        <p:txBody>
          <a:bodyPr wrap="none" lIns="0" rIns="0" tIns="0" bIns="0">
            <a:spAutoFit/>
          </a:bodyPr>
          <a:lstStyle/>
          <a:p>
            <a:r>
              <a:rPr sz="1150" b="0">
                <a:solidFill>
                  <a:srgbClr val="2E2E2E"/>
                </a:solidFill>
                <a:latin typeface="Calibri"/>
              </a:rPr>
              <a:t>US$ Mn at</a:t>
            </a:r>
          </a:p>
        </p:txBody>
      </p:sp>
      <p:pic>
        <p:nvPicPr>
          <p:cNvPr id="71" name="Picture 70" descr="lock.png"/>
          <p:cNvPicPr>
            <a:picLocks noChangeAspect="1"/>
          </p:cNvPicPr>
          <p:nvPr/>
        </p:nvPicPr>
        <p:blipFill>
          <a:blip r:embed="rId5"/>
          <a:stretch>
            <a:fillRect/>
          </a:stretch>
        </p:blipFill>
        <p:spPr>
          <a:xfrm>
            <a:off x="2017310" y="5817552"/>
            <a:ext cx="134549" cy="195707"/>
          </a:xfrm>
          <a:prstGeom prst="rect">
            <a:avLst/>
          </a:prstGeom>
        </p:spPr>
      </p:pic>
      <p:sp>
        <p:nvSpPr>
          <p:cNvPr id="72" name="TextBox 71"/>
          <p:cNvSpPr txBox="1"/>
          <p:nvPr/>
        </p:nvSpPr>
        <p:spPr>
          <a:xfrm>
            <a:off x="2192420" y="5827775"/>
            <a:ext cx="446726" cy="194310"/>
          </a:xfrm>
          <a:prstGeom prst="rect">
            <a:avLst/>
          </a:prstGeom>
          <a:noFill/>
        </p:spPr>
        <p:txBody>
          <a:bodyPr wrap="none" lIns="0" rIns="0" tIns="0" bIns="0">
            <a:spAutoFit/>
          </a:bodyPr>
          <a:lstStyle/>
          <a:p>
            <a:r>
              <a:rPr sz="1150" b="0">
                <a:solidFill>
                  <a:srgbClr val="2E2E2E"/>
                </a:solidFill>
                <a:latin typeface="Calibri"/>
              </a:rPr>
              <a:t>CAGR.</a:t>
            </a:r>
          </a:p>
        </p:txBody>
      </p:sp>
      <p:sp>
        <p:nvSpPr>
          <p:cNvPr id="73" name="TextBox 72"/>
          <p:cNvSpPr txBox="1"/>
          <p:nvPr/>
        </p:nvSpPr>
        <p:spPr>
          <a:xfrm>
            <a:off x="276225" y="6055613"/>
            <a:ext cx="3660130" cy="194310"/>
          </a:xfrm>
          <a:prstGeom prst="rect">
            <a:avLst/>
          </a:prstGeom>
          <a:noFill/>
        </p:spPr>
        <p:txBody>
          <a:bodyPr wrap="none" lIns="0" rIns="0" tIns="0" bIns="0">
            <a:spAutoFit/>
          </a:bodyPr>
          <a:lstStyle/>
          <a:p>
            <a:r>
              <a:rPr sz="1150" b="0">
                <a:solidFill>
                  <a:srgbClr val="2E2E2E"/>
                </a:solidFill>
                <a:latin typeface="Calibri"/>
              </a:rPr>
              <a:t>▪ Scenarios flex the base forecast's year-on-year growth by ±</a:t>
            </a:r>
          </a:p>
        </p:txBody>
      </p:sp>
      <p:pic>
        <p:nvPicPr>
          <p:cNvPr id="74" name="Picture 73" descr="lock.png"/>
          <p:cNvPicPr>
            <a:picLocks noChangeAspect="1"/>
          </p:cNvPicPr>
          <p:nvPr/>
        </p:nvPicPr>
        <p:blipFill>
          <a:blip r:embed="rId5"/>
          <a:stretch>
            <a:fillRect/>
          </a:stretch>
        </p:blipFill>
        <p:spPr>
          <a:xfrm>
            <a:off x="3885509" y="6045390"/>
            <a:ext cx="134549" cy="195707"/>
          </a:xfrm>
          <a:prstGeom prst="rect">
            <a:avLst/>
          </a:prstGeom>
        </p:spPr>
      </p:pic>
      <p:sp>
        <p:nvSpPr>
          <p:cNvPr id="75" name="TextBox 74"/>
          <p:cNvSpPr txBox="1"/>
          <p:nvPr/>
        </p:nvSpPr>
        <p:spPr>
          <a:xfrm>
            <a:off x="4060618" y="6055613"/>
            <a:ext cx="1900683" cy="194310"/>
          </a:xfrm>
          <a:prstGeom prst="rect">
            <a:avLst/>
          </a:prstGeom>
          <a:noFill/>
        </p:spPr>
        <p:txBody>
          <a:bodyPr wrap="none" lIns="0" rIns="0" tIns="0" bIns="0">
            <a:spAutoFit/>
          </a:bodyPr>
          <a:lstStyle/>
          <a:p>
            <a:r>
              <a:rPr sz="1150" b="0">
                <a:solidFill>
                  <a:srgbClr val="2E2E2E"/>
                </a:solidFill>
                <a:latin typeface="Calibri"/>
              </a:rPr>
              <a:t>across the 2026–2036 horizon.</a:t>
            </a:r>
          </a:p>
        </p:txBody>
      </p:sp>
      <p:sp>
        <p:nvSpPr>
          <p:cNvPr id="76" name="lockshield_33"/>
          <p:cNvSpPr/>
          <p:nvPr/>
        </p:nvSpPr>
        <p:spPr>
          <a:xfrm>
            <a:off x="6267450" y="2266950"/>
            <a:ext cx="5686425" cy="24955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bg>
      <p:bgPr>
        <a:solidFill>
          <a:srgbClr val="F3F8FD"/>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3F8FD"/>
              </a:gs>
              <a:gs pos="100000">
                <a:srgbClr val="DCE9F6"/>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FE0F0">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9C8E6">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B7D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A5F8F"/>
              </a:gs>
              <a:gs pos="100000">
                <a:srgbClr val="6FA6D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MR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10</a:t>
            </a:r>
          </a:p>
        </p:txBody>
      </p:sp>
      <p:pic>
        <p:nvPicPr>
          <p:cNvPr id="8" name="Picture 7" descr="tmr_logo.png"/>
          <p:cNvPicPr>
            <a:picLocks noChangeAspect="1"/>
          </p:cNvPicPr>
          <p:nvPr/>
        </p:nvPicPr>
        <p:blipFill>
          <a:blip r:embed="rId2"/>
          <a:stretch>
            <a:fillRect/>
          </a:stretch>
        </p:blipFill>
        <p:spPr>
          <a:xfrm>
            <a:off x="411480" y="274320"/>
            <a:ext cx="1307592" cy="975505"/>
          </a:xfrm>
          <a:prstGeom prst="rect">
            <a:avLst/>
          </a:prstGeom>
        </p:spPr>
      </p:pic>
      <p:sp>
        <p:nvSpPr>
          <p:cNvPr id="9" name="TextBox 8"/>
          <p:cNvSpPr txBox="1"/>
          <p:nvPr/>
        </p:nvSpPr>
        <p:spPr>
          <a:xfrm>
            <a:off x="914400" y="2555875"/>
            <a:ext cx="8572500" cy="304800"/>
          </a:xfrm>
          <a:prstGeom prst="rect">
            <a:avLst/>
          </a:prstGeom>
          <a:noFill/>
        </p:spPr>
        <p:txBody>
          <a:bodyPr wrap="none" lIns="0" tIns="0">
            <a:spAutoFit/>
          </a:bodyPr>
          <a:lstStyle/>
          <a:p>
            <a:r>
              <a:rPr sz="1800" b="0">
                <a:solidFill>
                  <a:srgbClr val="2A5F8F"/>
                </a:solidFill>
                <a:latin typeface="Calibri"/>
              </a:rPr>
              <a:t>Egg Protein Membrane Market</a:t>
            </a:r>
          </a:p>
        </p:txBody>
      </p:sp>
      <p:sp>
        <p:nvSpPr>
          <p:cNvPr id="10" name="TMR Section Title"/>
          <p:cNvSpPr txBox="1"/>
          <p:nvPr/>
        </p:nvSpPr>
        <p:spPr>
          <a:xfrm>
            <a:off x="914400" y="2898775"/>
            <a:ext cx="8572500" cy="514350"/>
          </a:xfrm>
          <a:prstGeom prst="rect">
            <a:avLst/>
          </a:prstGeom>
          <a:noFill/>
        </p:spPr>
        <p:txBody>
          <a:bodyPr wrap="square" lIns="0" rIns="0" tIns="0">
            <a:spAutoFit/>
          </a:bodyPr>
          <a:lstStyle/>
          <a:p>
            <a:r>
              <a:rPr sz="3000" b="1">
                <a:solidFill>
                  <a:srgbClr val="0E2A5C"/>
                </a:solidFill>
                <a:latin typeface="Calibri"/>
              </a:rPr>
              <a:t>North America Market Analysis By Country</a:t>
            </a:r>
          </a:p>
        </p:txBody>
      </p:sp>
      <p:sp>
        <p:nvSpPr>
          <p:cNvPr id="11" name="TextBox 10"/>
          <p:cNvSpPr txBox="1"/>
          <p:nvPr/>
        </p:nvSpPr>
        <p:spPr>
          <a:xfrm>
            <a:off x="914400" y="3584575"/>
            <a:ext cx="8458200" cy="16700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North America Egg Protein Membrane – Country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Analysis By Country</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Volume Share Analysis By Country</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Value Share Analysis By Country</a:t>
            </a:r>
          </a:p>
        </p:txBody>
      </p:sp>
      <p:sp>
        <p:nvSpPr>
          <p:cNvPr id="12" name="Rectangle 11"/>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Egg Protein Membrane – Country Outlook</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Regional analysis of size, growth and share across 2 countries, highlighting where value concentrates, 2026–2036</a:t>
            </a:r>
          </a:p>
        </p:txBody>
      </p:sp>
      <p:sp>
        <p:nvSpPr>
          <p:cNvPr id="7" name="TextBox 6"/>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By Country view breaks the North America market down geographically. Each country is evaluated on market size, growth outlook and adoption trends across the forecast period.</a:t>
            </a:r>
          </a:p>
        </p:txBody>
      </p:sp>
      <p:sp>
        <p:nvSpPr>
          <p:cNvPr id="8" name="Rectangle 7"/>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Country</a:t>
            </a:r>
          </a:p>
        </p:txBody>
      </p:sp>
      <p:sp>
        <p:nvSpPr>
          <p:cNvPr id="10" name="Rectangle 9"/>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2" name="Rectangle 11"/>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4" name="Rectangle 13"/>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16" name="Rounded Rectangle 15"/>
          <p:cNvSpPr/>
          <p:nvPr/>
        </p:nvSpPr>
        <p:spPr>
          <a:xfrm>
            <a:off x="1866900" y="1773916"/>
            <a:ext cx="4943475"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866900" y="1992961"/>
            <a:ext cx="4943475"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905000" y="1773916"/>
            <a:ext cx="4867275" cy="438089"/>
          </a:xfrm>
          <a:prstGeom prst="rect">
            <a:avLst/>
          </a:prstGeom>
          <a:noFill/>
        </p:spPr>
        <p:txBody>
          <a:bodyPr wrap="square" lIns="28575" rIns="28575" tIns="9525" bIns="9525" anchor="ctr">
            <a:spAutoFit/>
          </a:bodyPr>
          <a:lstStyle/>
          <a:p>
            <a:pPr algn="ctr"/>
            <a:r>
              <a:rPr sz="1100" b="1">
                <a:solidFill>
                  <a:srgbClr val="FFFFFF"/>
                </a:solidFill>
                <a:latin typeface="Calibri"/>
              </a:rPr>
              <a:t>U.S.</a:t>
            </a:r>
          </a:p>
        </p:txBody>
      </p:sp>
      <p:sp>
        <p:nvSpPr>
          <p:cNvPr id="19" name="Rectangle 18"/>
          <p:cNvSpPr/>
          <p:nvPr/>
        </p:nvSpPr>
        <p:spPr>
          <a:xfrm>
            <a:off x="1866900" y="22302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t>
            </a:r>
          </a:p>
        </p:txBody>
      </p:sp>
      <p:sp>
        <p:nvSpPr>
          <p:cNvPr id="20" name="Rectangle 19"/>
          <p:cNvSpPr/>
          <p:nvPr/>
        </p:nvSpPr>
        <p:spPr>
          <a:xfrm>
            <a:off x="1866900" y="2723109"/>
            <a:ext cx="494347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t>
            </a:r>
          </a:p>
        </p:txBody>
      </p:sp>
      <p:sp>
        <p:nvSpPr>
          <p:cNvPr id="21" name="Rectangle 20"/>
          <p:cNvSpPr/>
          <p:nvPr/>
        </p:nvSpPr>
        <p:spPr>
          <a:xfrm>
            <a:off x="1866900" y="32159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t>
            </a:r>
          </a:p>
        </p:txBody>
      </p:sp>
      <p:sp>
        <p:nvSpPr>
          <p:cNvPr id="22" name="Oval 21"/>
          <p:cNvSpPr/>
          <p:nvPr/>
        </p:nvSpPr>
        <p:spPr>
          <a:xfrm>
            <a:off x="4176712"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23" name="Rounded Rectangle 22"/>
          <p:cNvSpPr/>
          <p:nvPr/>
        </p:nvSpPr>
        <p:spPr>
          <a:xfrm>
            <a:off x="6924675" y="1773916"/>
            <a:ext cx="4943475"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924675" y="1992961"/>
            <a:ext cx="4943475"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962775" y="1773916"/>
            <a:ext cx="4867275" cy="438089"/>
          </a:xfrm>
          <a:prstGeom prst="rect">
            <a:avLst/>
          </a:prstGeom>
          <a:noFill/>
        </p:spPr>
        <p:txBody>
          <a:bodyPr wrap="square" lIns="28575" rIns="28575" tIns="9525" bIns="9525" anchor="ctr">
            <a:spAutoFit/>
          </a:bodyPr>
          <a:lstStyle/>
          <a:p>
            <a:pPr algn="ctr"/>
            <a:r>
              <a:rPr sz="1100" b="1">
                <a:solidFill>
                  <a:srgbClr val="FFFFFF"/>
                </a:solidFill>
                <a:latin typeface="Calibri"/>
              </a:rPr>
              <a:t>Canada</a:t>
            </a:r>
          </a:p>
        </p:txBody>
      </p:sp>
      <p:sp>
        <p:nvSpPr>
          <p:cNvPr id="26" name="Rectangle 25"/>
          <p:cNvSpPr/>
          <p:nvPr/>
        </p:nvSpPr>
        <p:spPr>
          <a:xfrm>
            <a:off x="6924675" y="22302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t>
            </a:r>
          </a:p>
        </p:txBody>
      </p:sp>
      <p:sp>
        <p:nvSpPr>
          <p:cNvPr id="27" name="Rectangle 26"/>
          <p:cNvSpPr/>
          <p:nvPr/>
        </p:nvSpPr>
        <p:spPr>
          <a:xfrm>
            <a:off x="6924675" y="2723109"/>
            <a:ext cx="494347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t>
            </a:r>
          </a:p>
        </p:txBody>
      </p:sp>
      <p:sp>
        <p:nvSpPr>
          <p:cNvPr id="28" name="Rectangle 27"/>
          <p:cNvSpPr/>
          <p:nvPr/>
        </p:nvSpPr>
        <p:spPr>
          <a:xfrm>
            <a:off x="6924675" y="32159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t>
            </a:r>
          </a:p>
        </p:txBody>
      </p:sp>
      <p:sp>
        <p:nvSpPr>
          <p:cNvPr id="29" name="Oval 28"/>
          <p:cNvSpPr/>
          <p:nvPr/>
        </p:nvSpPr>
        <p:spPr>
          <a:xfrm>
            <a:off x="9234488"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30" name="Rounded Rectangle 29"/>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B2E4A"/>
                </a:solidFill>
                <a:latin typeface="Calibri"/>
              </a:rPr>
              <a:t>Key Highlights</a:t>
            </a:r>
          </a:p>
        </p:txBody>
      </p:sp>
      <p:sp>
        <p:nvSpPr>
          <p:cNvPr id="32" name="Rectangle 31"/>
          <p:cNvSpPr/>
          <p:nvPr/>
        </p:nvSpPr>
        <p:spPr>
          <a:xfrm>
            <a:off x="457200" y="4146897"/>
            <a:ext cx="2971800" cy="18254"/>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57200" y="4219912"/>
            <a:ext cx="29718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2E2E2E"/>
                </a:solidFill>
                <a:latin typeface="Calibri"/>
              </a:rPr>
              <a:t/>
            </a:r>
          </a:p>
          <a:p>
            <a:pPr algn="l">
              <a:lnSpc>
                <a:spcPct val="110000"/>
              </a:lnSpc>
              <a:spcBef>
                <a:spcPts val="0"/>
              </a:spcBef>
              <a:spcAft>
                <a:spcPts val="500"/>
              </a:spcAft>
            </a:pPr>
            <a:r>
              <a:rPr sz="1100" b="0">
                <a:solidFill>
                  <a:srgbClr val="2E2E2E"/>
                </a:solidFill>
                <a:latin typeface="Calibri"/>
              </a:rPr>
              <a:t/>
            </a:r>
          </a:p>
        </p:txBody>
      </p:sp>
      <p:sp>
        <p:nvSpPr>
          <p:cNvPr id="34" name="Rounded Rectangle 33"/>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B2E4A"/>
                </a:solidFill>
                <a:latin typeface="Calibri"/>
              </a:rPr>
              <a:t>Country Insights</a:t>
            </a:r>
          </a:p>
        </p:txBody>
      </p:sp>
      <p:sp>
        <p:nvSpPr>
          <p:cNvPr id="36" name="Rectangle 35"/>
          <p:cNvSpPr/>
          <p:nvPr/>
        </p:nvSpPr>
        <p:spPr>
          <a:xfrm>
            <a:off x="3810000" y="4146897"/>
            <a:ext cx="4210050" cy="18254"/>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B2E4A"/>
                </a:solidFill>
                <a:latin typeface="Calibri"/>
              </a:rPr>
              <a:t/>
            </a:r>
            <a:r>
              <a:rPr sz="1100" b="1">
                <a:solidFill>
                  <a:srgbClr val="0B2E4A"/>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1">
                <a:solidFill>
                  <a:srgbClr val="0E72AE"/>
                </a:solidFill>
                <a:latin typeface="Calibri"/>
              </a:rPr>
              <a:t/>
            </a:r>
            <a:r>
              <a:rPr sz="1100" b="0">
                <a:solidFill>
                  <a:srgbClr val="2E2E2E"/>
                </a:solidFill>
                <a:latin typeface="Calibri"/>
              </a:rPr>
              <a:t/>
            </a:r>
          </a:p>
        </p:txBody>
      </p:sp>
      <p:sp>
        <p:nvSpPr>
          <p:cNvPr id="38" name="Rounded Rectangle 37"/>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B2E4A"/>
                </a:solidFill>
                <a:latin typeface="Calibri"/>
              </a:rPr>
              <a:t>Country Overview</a:t>
            </a:r>
          </a:p>
        </p:txBody>
      </p:sp>
      <p:sp>
        <p:nvSpPr>
          <p:cNvPr id="40" name="Rectangle 39"/>
          <p:cNvSpPr/>
          <p:nvPr/>
        </p:nvSpPr>
        <p:spPr>
          <a:xfrm>
            <a:off x="8401050" y="4146897"/>
            <a:ext cx="3333750" cy="18254"/>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00ACAC"/>
                </a:solidFill>
                <a:latin typeface="Calibri"/>
              </a:rPr>
              <a:t>✓  </a:t>
            </a:r>
            <a:r>
              <a:rPr sz="1100" b="0">
                <a:solidFill>
                  <a:srgbClr val="2E2E2E"/>
                </a:solidFill>
                <a:latin typeface="Calibri"/>
              </a:rPr>
              <a:t>The By Country split shows where market value concentrates and where growth is fastest.</a:t>
            </a:r>
          </a:p>
          <a:p>
            <a:pPr algn="l">
              <a:lnSpc>
                <a:spcPct val="110000"/>
              </a:lnSpc>
              <a:spcBef>
                <a:spcPts val="0"/>
              </a:spcBef>
              <a:spcAft>
                <a:spcPts val="500"/>
              </a:spcAft>
            </a:pPr>
            <a:r>
              <a:rPr sz="1100" b="1">
                <a:solidFill>
                  <a:srgbClr val="00ACAC"/>
                </a:solidFill>
                <a:latin typeface="Calibri"/>
              </a:rPr>
              <a:t>✓  </a:t>
            </a:r>
            <a:r>
              <a:rPr sz="1100" b="0">
                <a:solidFill>
                  <a:srgbClr val="2E2E2E"/>
                </a:solidFill>
                <a:latin typeface="Calibri"/>
              </a:rPr>
              <a:t>Shifting demand and access dynamics are rebalancing the geographic mix through 2036.</a:t>
            </a:r>
          </a:p>
        </p:txBody>
      </p:sp>
      <p:sp>
        <p:nvSpPr>
          <p:cNvPr id="42" name="Rectangle 41"/>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B2E4A"/>
                </a:solidFill>
                <a:latin typeface="Calibri"/>
              </a:rPr>
              <a:t/>
            </a:r>
          </a:p>
        </p:txBody>
      </p:sp>
      <p:sp>
        <p:nvSpPr>
          <p:cNvPr id="44" name="TextBox 43"/>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TMR Analysis, 2026</a:t>
            </a:r>
          </a:p>
        </p:txBody>
      </p:sp>
      <p:sp>
        <p:nvSpPr>
          <p:cNvPr id="45" name="Rectangle 44"/>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47" name="Picture 46" descr="lock.png"/>
          <p:cNvPicPr>
            <a:picLocks noChangeAspect="1"/>
          </p:cNvPicPr>
          <p:nvPr/>
        </p:nvPicPr>
        <p:blipFill>
          <a:blip r:embed="rId4"/>
          <a:stretch>
            <a:fillRect/>
          </a:stretch>
        </p:blipFill>
        <p:spPr>
          <a:xfrm>
            <a:off x="4250888" y="2339922"/>
            <a:ext cx="175498" cy="255270"/>
          </a:xfrm>
          <a:prstGeom prst="rect">
            <a:avLst/>
          </a:prstGeom>
        </p:spPr>
      </p:pic>
      <p:pic>
        <p:nvPicPr>
          <p:cNvPr id="48" name="Picture 47" descr="lock.png"/>
          <p:cNvPicPr>
            <a:picLocks noChangeAspect="1"/>
          </p:cNvPicPr>
          <p:nvPr/>
        </p:nvPicPr>
        <p:blipFill>
          <a:blip r:embed="rId4"/>
          <a:stretch>
            <a:fillRect/>
          </a:stretch>
        </p:blipFill>
        <p:spPr>
          <a:xfrm>
            <a:off x="4250888" y="2832772"/>
            <a:ext cx="175498" cy="255270"/>
          </a:xfrm>
          <a:prstGeom prst="rect">
            <a:avLst/>
          </a:prstGeom>
        </p:spPr>
      </p:pic>
      <p:pic>
        <p:nvPicPr>
          <p:cNvPr id="49" name="Picture 48" descr="lock.png"/>
          <p:cNvPicPr>
            <a:picLocks noChangeAspect="1"/>
          </p:cNvPicPr>
          <p:nvPr/>
        </p:nvPicPr>
        <p:blipFill>
          <a:blip r:embed="rId4"/>
          <a:stretch>
            <a:fillRect/>
          </a:stretch>
        </p:blipFill>
        <p:spPr>
          <a:xfrm>
            <a:off x="4250888" y="3325622"/>
            <a:ext cx="175498" cy="255270"/>
          </a:xfrm>
          <a:prstGeom prst="rect">
            <a:avLst/>
          </a:prstGeom>
        </p:spPr>
      </p:pic>
      <p:pic>
        <p:nvPicPr>
          <p:cNvPr id="50" name="Picture 49" descr="lock.png"/>
          <p:cNvPicPr>
            <a:picLocks noChangeAspect="1"/>
          </p:cNvPicPr>
          <p:nvPr/>
        </p:nvPicPr>
        <p:blipFill>
          <a:blip r:embed="rId4"/>
          <a:stretch>
            <a:fillRect/>
          </a:stretch>
        </p:blipFill>
        <p:spPr>
          <a:xfrm>
            <a:off x="9308663" y="2339922"/>
            <a:ext cx="175498" cy="255270"/>
          </a:xfrm>
          <a:prstGeom prst="rect">
            <a:avLst/>
          </a:prstGeom>
        </p:spPr>
      </p:pic>
      <p:pic>
        <p:nvPicPr>
          <p:cNvPr id="51" name="Picture 50" descr="lock.png"/>
          <p:cNvPicPr>
            <a:picLocks noChangeAspect="1"/>
          </p:cNvPicPr>
          <p:nvPr/>
        </p:nvPicPr>
        <p:blipFill>
          <a:blip r:embed="rId4"/>
          <a:stretch>
            <a:fillRect/>
          </a:stretch>
        </p:blipFill>
        <p:spPr>
          <a:xfrm>
            <a:off x="9308663" y="2832772"/>
            <a:ext cx="175498" cy="255270"/>
          </a:xfrm>
          <a:prstGeom prst="rect">
            <a:avLst/>
          </a:prstGeom>
        </p:spPr>
      </p:pic>
      <p:pic>
        <p:nvPicPr>
          <p:cNvPr id="52" name="Picture 51" descr="lock.png"/>
          <p:cNvPicPr>
            <a:picLocks noChangeAspect="1"/>
          </p:cNvPicPr>
          <p:nvPr/>
        </p:nvPicPr>
        <p:blipFill>
          <a:blip r:embed="rId4"/>
          <a:stretch>
            <a:fillRect/>
          </a:stretch>
        </p:blipFill>
        <p:spPr>
          <a:xfrm>
            <a:off x="9308663" y="3325622"/>
            <a:ext cx="175498" cy="255270"/>
          </a:xfrm>
          <a:prstGeom prst="rect">
            <a:avLst/>
          </a:prstGeom>
        </p:spPr>
      </p:pic>
      <p:sp>
        <p:nvSpPr>
          <p:cNvPr id="53" name="TextBox 52"/>
          <p:cNvSpPr txBox="1"/>
          <p:nvPr/>
        </p:nvSpPr>
        <p:spPr>
          <a:xfrm>
            <a:off x="485775" y="4229437"/>
            <a:ext cx="2439640" cy="186689"/>
          </a:xfrm>
          <a:prstGeom prst="rect">
            <a:avLst/>
          </a:prstGeom>
          <a:noFill/>
        </p:spPr>
        <p:txBody>
          <a:bodyPr wrap="none" lIns="0" rIns="0" tIns="0" bIns="0">
            <a:spAutoFit/>
          </a:bodyPr>
          <a:lstStyle/>
          <a:p>
            <a:r>
              <a:rPr sz="1100" b="0">
                <a:solidFill>
                  <a:srgbClr val="2E2E2E"/>
                </a:solidFill>
                <a:latin typeface="Calibri"/>
              </a:rPr>
              <a:t>The U.S. egg protein membrane market is</a:t>
            </a:r>
          </a:p>
        </p:txBody>
      </p:sp>
      <p:sp>
        <p:nvSpPr>
          <p:cNvPr id="54" name="TextBox 53"/>
          <p:cNvSpPr txBox="1"/>
          <p:nvPr/>
        </p:nvSpPr>
        <p:spPr>
          <a:xfrm>
            <a:off x="485775" y="4397077"/>
            <a:ext cx="1244550" cy="186689"/>
          </a:xfrm>
          <a:prstGeom prst="rect">
            <a:avLst/>
          </a:prstGeom>
          <a:noFill/>
        </p:spPr>
        <p:txBody>
          <a:bodyPr wrap="none" lIns="0" rIns="0" tIns="0" bIns="0">
            <a:spAutoFit/>
          </a:bodyPr>
          <a:lstStyle/>
          <a:p>
            <a:r>
              <a:rPr sz="1100" b="0">
                <a:solidFill>
                  <a:srgbClr val="2E2E2E"/>
                </a:solidFill>
                <a:latin typeface="Calibri"/>
              </a:rPr>
              <a:t>projected to register</a:t>
            </a:r>
          </a:p>
        </p:txBody>
      </p:sp>
      <p:pic>
        <p:nvPicPr>
          <p:cNvPr id="55" name="Picture 54" descr="lock.png"/>
          <p:cNvPicPr>
            <a:picLocks noChangeAspect="1"/>
          </p:cNvPicPr>
          <p:nvPr/>
        </p:nvPicPr>
        <p:blipFill>
          <a:blip r:embed="rId4"/>
          <a:stretch>
            <a:fillRect/>
          </a:stretch>
        </p:blipFill>
        <p:spPr>
          <a:xfrm>
            <a:off x="1678376" y="4387298"/>
            <a:ext cx="128699" cy="187198"/>
          </a:xfrm>
          <a:prstGeom prst="rect">
            <a:avLst/>
          </a:prstGeom>
        </p:spPr>
      </p:pic>
      <p:sp>
        <p:nvSpPr>
          <p:cNvPr id="56" name="TextBox 55"/>
          <p:cNvSpPr txBox="1"/>
          <p:nvPr/>
        </p:nvSpPr>
        <p:spPr>
          <a:xfrm>
            <a:off x="1845872" y="4397077"/>
            <a:ext cx="1172517" cy="186689"/>
          </a:xfrm>
          <a:prstGeom prst="rect">
            <a:avLst/>
          </a:prstGeom>
          <a:noFill/>
        </p:spPr>
        <p:txBody>
          <a:bodyPr wrap="none" lIns="0" rIns="0" tIns="0" bIns="0">
            <a:spAutoFit/>
          </a:bodyPr>
          <a:lstStyle/>
          <a:p>
            <a:r>
              <a:rPr sz="1100" b="0">
                <a:solidFill>
                  <a:srgbClr val="2E2E2E"/>
                </a:solidFill>
                <a:latin typeface="Calibri"/>
              </a:rPr>
              <a:t>X higher value than</a:t>
            </a:r>
          </a:p>
        </p:txBody>
      </p:sp>
      <p:sp>
        <p:nvSpPr>
          <p:cNvPr id="57" name="TextBox 56"/>
          <p:cNvSpPr txBox="1"/>
          <p:nvPr/>
        </p:nvSpPr>
        <p:spPr>
          <a:xfrm>
            <a:off x="485775" y="4564717"/>
            <a:ext cx="2914650" cy="186689"/>
          </a:xfrm>
          <a:prstGeom prst="rect">
            <a:avLst/>
          </a:prstGeom>
          <a:noFill/>
        </p:spPr>
        <p:txBody>
          <a:bodyPr wrap="none" lIns="0" rIns="0" tIns="0" bIns="0">
            <a:spAutoFit/>
          </a:bodyPr>
          <a:lstStyle/>
          <a:p>
            <a:r>
              <a:rPr sz="1100" b="0">
                <a:solidFill>
                  <a:srgbClr val="2E2E2E"/>
                </a:solidFill>
                <a:latin typeface="Calibri"/>
              </a:rPr>
              <a:t>Canada in 2036. Among egg protein membrane by</a:t>
            </a:r>
          </a:p>
        </p:txBody>
      </p:sp>
      <p:sp>
        <p:nvSpPr>
          <p:cNvPr id="58" name="TextBox 57"/>
          <p:cNvSpPr txBox="1"/>
          <p:nvPr/>
        </p:nvSpPr>
        <p:spPr>
          <a:xfrm>
            <a:off x="485775" y="4732357"/>
            <a:ext cx="2914650" cy="186689"/>
          </a:xfrm>
          <a:prstGeom prst="rect">
            <a:avLst/>
          </a:prstGeom>
          <a:noFill/>
        </p:spPr>
        <p:txBody>
          <a:bodyPr wrap="none" lIns="0" rIns="0" tIns="0" bIns="0">
            <a:spAutoFit/>
          </a:bodyPr>
          <a:lstStyle/>
          <a:p>
            <a:r>
              <a:rPr sz="1100" b="0">
                <a:solidFill>
                  <a:srgbClr val="2E2E2E"/>
                </a:solidFill>
                <a:latin typeface="Calibri"/>
              </a:rPr>
              <a:t>country, Canada is expected to witness the highest</a:t>
            </a:r>
          </a:p>
        </p:txBody>
      </p:sp>
      <p:sp>
        <p:nvSpPr>
          <p:cNvPr id="59" name="TextBox 58"/>
          <p:cNvSpPr txBox="1"/>
          <p:nvPr/>
        </p:nvSpPr>
        <p:spPr>
          <a:xfrm>
            <a:off x="485775" y="4899997"/>
            <a:ext cx="543304" cy="186689"/>
          </a:xfrm>
          <a:prstGeom prst="rect">
            <a:avLst/>
          </a:prstGeom>
          <a:noFill/>
        </p:spPr>
        <p:txBody>
          <a:bodyPr wrap="none" lIns="0" rIns="0" tIns="0" bIns="0">
            <a:spAutoFit/>
          </a:bodyPr>
          <a:lstStyle/>
          <a:p>
            <a:r>
              <a:rPr sz="1100" b="0">
                <a:solidFill>
                  <a:srgbClr val="2E2E2E"/>
                </a:solidFill>
                <a:latin typeface="Calibri"/>
              </a:rPr>
              <a:t>CAGR of</a:t>
            </a:r>
          </a:p>
        </p:txBody>
      </p:sp>
      <p:pic>
        <p:nvPicPr>
          <p:cNvPr id="60" name="Picture 59" descr="lock.png"/>
          <p:cNvPicPr>
            <a:picLocks noChangeAspect="1"/>
          </p:cNvPicPr>
          <p:nvPr/>
        </p:nvPicPr>
        <p:blipFill>
          <a:blip r:embed="rId4"/>
          <a:stretch>
            <a:fillRect/>
          </a:stretch>
        </p:blipFill>
        <p:spPr>
          <a:xfrm>
            <a:off x="977131" y="4890217"/>
            <a:ext cx="128699" cy="187198"/>
          </a:xfrm>
          <a:prstGeom prst="rect">
            <a:avLst/>
          </a:prstGeom>
        </p:spPr>
      </p:pic>
      <p:sp>
        <p:nvSpPr>
          <p:cNvPr id="61" name="TextBox 60"/>
          <p:cNvSpPr txBox="1"/>
          <p:nvPr/>
        </p:nvSpPr>
        <p:spPr>
          <a:xfrm>
            <a:off x="1144627" y="4899997"/>
            <a:ext cx="1484659" cy="186689"/>
          </a:xfrm>
          <a:prstGeom prst="rect">
            <a:avLst/>
          </a:prstGeom>
          <a:noFill/>
        </p:spPr>
        <p:txBody>
          <a:bodyPr wrap="none" lIns="0" rIns="0" tIns="0" bIns="0">
            <a:spAutoFit/>
          </a:bodyPr>
          <a:lstStyle/>
          <a:p>
            <a:r>
              <a:rPr sz="1100" b="0">
                <a:solidFill>
                  <a:srgbClr val="2E2E2E"/>
                </a:solidFill>
                <a:latin typeface="Calibri"/>
              </a:rPr>
              <a:t>over the forecast period.</a:t>
            </a:r>
          </a:p>
        </p:txBody>
      </p:sp>
      <p:sp>
        <p:nvSpPr>
          <p:cNvPr id="62" name="TextBox 61"/>
          <p:cNvSpPr txBox="1"/>
          <p:nvPr/>
        </p:nvSpPr>
        <p:spPr>
          <a:xfrm>
            <a:off x="485775" y="5117929"/>
            <a:ext cx="2914650" cy="186689"/>
          </a:xfrm>
          <a:prstGeom prst="rect">
            <a:avLst/>
          </a:prstGeom>
          <a:noFill/>
        </p:spPr>
        <p:txBody>
          <a:bodyPr wrap="none" lIns="0" rIns="0" tIns="0" bIns="0">
            <a:spAutoFit/>
          </a:bodyPr>
          <a:lstStyle/>
          <a:p>
            <a:r>
              <a:rPr sz="1100" b="0">
                <a:solidFill>
                  <a:srgbClr val="2E2E2E"/>
                </a:solidFill>
                <a:latin typeface="Calibri"/>
              </a:rPr>
              <a:t>In terms of value share by country, U.S. is expected</a:t>
            </a:r>
          </a:p>
        </p:txBody>
      </p:sp>
      <p:sp>
        <p:nvSpPr>
          <p:cNvPr id="63" name="TextBox 62"/>
          <p:cNvSpPr txBox="1"/>
          <p:nvPr/>
        </p:nvSpPr>
        <p:spPr>
          <a:xfrm>
            <a:off x="485775" y="5285569"/>
            <a:ext cx="1835001" cy="186689"/>
          </a:xfrm>
          <a:prstGeom prst="rect">
            <a:avLst/>
          </a:prstGeom>
          <a:noFill/>
        </p:spPr>
        <p:txBody>
          <a:bodyPr wrap="none" lIns="0" rIns="0" tIns="0" bIns="0">
            <a:spAutoFit/>
          </a:bodyPr>
          <a:lstStyle/>
          <a:p>
            <a:r>
              <a:rPr sz="1100" b="0">
                <a:solidFill>
                  <a:srgbClr val="2E2E2E"/>
                </a:solidFill>
                <a:latin typeface="Calibri"/>
              </a:rPr>
              <a:t>to dominate the market, losing</a:t>
            </a:r>
          </a:p>
        </p:txBody>
      </p:sp>
      <p:pic>
        <p:nvPicPr>
          <p:cNvPr id="64" name="Picture 63" descr="lock.png"/>
          <p:cNvPicPr>
            <a:picLocks noChangeAspect="1"/>
          </p:cNvPicPr>
          <p:nvPr/>
        </p:nvPicPr>
        <p:blipFill>
          <a:blip r:embed="rId4"/>
          <a:stretch>
            <a:fillRect/>
          </a:stretch>
        </p:blipFill>
        <p:spPr>
          <a:xfrm>
            <a:off x="2268827" y="5275790"/>
            <a:ext cx="128699" cy="187198"/>
          </a:xfrm>
          <a:prstGeom prst="rect">
            <a:avLst/>
          </a:prstGeom>
        </p:spPr>
      </p:pic>
      <p:sp>
        <p:nvSpPr>
          <p:cNvPr id="65" name="TextBox 64"/>
          <p:cNvSpPr txBox="1"/>
          <p:nvPr/>
        </p:nvSpPr>
        <p:spPr>
          <a:xfrm>
            <a:off x="2436323" y="5285569"/>
            <a:ext cx="534044" cy="186689"/>
          </a:xfrm>
          <a:prstGeom prst="rect">
            <a:avLst/>
          </a:prstGeom>
          <a:noFill/>
        </p:spPr>
        <p:txBody>
          <a:bodyPr wrap="none" lIns="0" rIns="0" tIns="0" bIns="0">
            <a:spAutoFit/>
          </a:bodyPr>
          <a:lstStyle/>
          <a:p>
            <a:r>
              <a:rPr sz="1100" b="0">
                <a:solidFill>
                  <a:srgbClr val="2E2E2E"/>
                </a:solidFill>
                <a:latin typeface="Calibri"/>
              </a:rPr>
              <a:t>BPS and</a:t>
            </a:r>
          </a:p>
        </p:txBody>
      </p:sp>
      <p:sp>
        <p:nvSpPr>
          <p:cNvPr id="66" name="TextBox 65"/>
          <p:cNvSpPr txBox="1"/>
          <p:nvPr/>
        </p:nvSpPr>
        <p:spPr>
          <a:xfrm>
            <a:off x="485775" y="5453209"/>
            <a:ext cx="896937" cy="186689"/>
          </a:xfrm>
          <a:prstGeom prst="rect">
            <a:avLst/>
          </a:prstGeom>
          <a:noFill/>
        </p:spPr>
        <p:txBody>
          <a:bodyPr wrap="none" lIns="0" rIns="0" tIns="0" bIns="0">
            <a:spAutoFit/>
          </a:bodyPr>
          <a:lstStyle/>
          <a:p>
            <a:r>
              <a:rPr sz="1100" b="0">
                <a:solidFill>
                  <a:srgbClr val="2E2E2E"/>
                </a:solidFill>
                <a:latin typeface="Calibri"/>
              </a:rPr>
              <a:t>accounting for</a:t>
            </a:r>
          </a:p>
        </p:txBody>
      </p:sp>
      <p:pic>
        <p:nvPicPr>
          <p:cNvPr id="67" name="Picture 66" descr="lock.png"/>
          <p:cNvPicPr>
            <a:picLocks noChangeAspect="1"/>
          </p:cNvPicPr>
          <p:nvPr/>
        </p:nvPicPr>
        <p:blipFill>
          <a:blip r:embed="rId4"/>
          <a:stretch>
            <a:fillRect/>
          </a:stretch>
        </p:blipFill>
        <p:spPr>
          <a:xfrm>
            <a:off x="1330764" y="5443430"/>
            <a:ext cx="128699" cy="187198"/>
          </a:xfrm>
          <a:prstGeom prst="rect">
            <a:avLst/>
          </a:prstGeom>
        </p:spPr>
      </p:pic>
      <p:sp>
        <p:nvSpPr>
          <p:cNvPr id="68" name="TextBox 67"/>
          <p:cNvSpPr txBox="1"/>
          <p:nvPr/>
        </p:nvSpPr>
        <p:spPr>
          <a:xfrm>
            <a:off x="1498259" y="5453209"/>
            <a:ext cx="908397" cy="186689"/>
          </a:xfrm>
          <a:prstGeom prst="rect">
            <a:avLst/>
          </a:prstGeom>
          <a:noFill/>
        </p:spPr>
        <p:txBody>
          <a:bodyPr wrap="none" lIns="0" rIns="0" tIns="0" bIns="0">
            <a:spAutoFit/>
          </a:bodyPr>
          <a:lstStyle/>
          <a:p>
            <a:r>
              <a:rPr sz="1100" b="0">
                <a:solidFill>
                  <a:srgbClr val="2E2E2E"/>
                </a:solidFill>
                <a:latin typeface="Calibri"/>
              </a:rPr>
              <a:t>share by 2036.</a:t>
            </a:r>
          </a:p>
        </p:txBody>
      </p:sp>
      <p:sp>
        <p:nvSpPr>
          <p:cNvPr id="69" name="TextBox 68"/>
          <p:cNvSpPr txBox="1"/>
          <p:nvPr/>
        </p:nvSpPr>
        <p:spPr>
          <a:xfrm>
            <a:off x="3838575" y="4229437"/>
            <a:ext cx="453826" cy="186689"/>
          </a:xfrm>
          <a:prstGeom prst="rect">
            <a:avLst/>
          </a:prstGeom>
          <a:noFill/>
        </p:spPr>
        <p:txBody>
          <a:bodyPr wrap="none" lIns="0" rIns="0" tIns="0" bIns="0">
            <a:spAutoFit/>
          </a:bodyPr>
          <a:lstStyle/>
          <a:p>
            <a:r>
              <a:rPr sz="1100" b="0">
                <a:solidFill>
                  <a:srgbClr val="2E2E2E"/>
                </a:solidFill>
                <a:latin typeface="Calibri"/>
              </a:rPr>
              <a:t>● U.S.:</a:t>
            </a:r>
          </a:p>
        </p:txBody>
      </p:sp>
      <p:pic>
        <p:nvPicPr>
          <p:cNvPr id="70" name="Picture 69" descr="lock.png"/>
          <p:cNvPicPr>
            <a:picLocks noChangeAspect="1"/>
          </p:cNvPicPr>
          <p:nvPr/>
        </p:nvPicPr>
        <p:blipFill>
          <a:blip r:embed="rId4"/>
          <a:stretch>
            <a:fillRect/>
          </a:stretch>
        </p:blipFill>
        <p:spPr>
          <a:xfrm>
            <a:off x="4240453" y="4219658"/>
            <a:ext cx="128699" cy="187198"/>
          </a:xfrm>
          <a:prstGeom prst="rect">
            <a:avLst/>
          </a:prstGeom>
        </p:spPr>
      </p:pic>
      <p:sp>
        <p:nvSpPr>
          <p:cNvPr id="71" name="TextBox 70"/>
          <p:cNvSpPr txBox="1"/>
          <p:nvPr/>
        </p:nvSpPr>
        <p:spPr>
          <a:xfrm>
            <a:off x="4407948" y="422943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72" name="Picture 71" descr="lock.png"/>
          <p:cNvPicPr>
            <a:picLocks noChangeAspect="1"/>
          </p:cNvPicPr>
          <p:nvPr/>
        </p:nvPicPr>
        <p:blipFill>
          <a:blip r:embed="rId4"/>
          <a:stretch>
            <a:fillRect/>
          </a:stretch>
        </p:blipFill>
        <p:spPr>
          <a:xfrm>
            <a:off x="5267399" y="4219658"/>
            <a:ext cx="128699" cy="187198"/>
          </a:xfrm>
          <a:prstGeom prst="rect">
            <a:avLst/>
          </a:prstGeom>
        </p:spPr>
      </p:pic>
      <p:sp>
        <p:nvSpPr>
          <p:cNvPr id="73" name="TextBox 72"/>
          <p:cNvSpPr txBox="1"/>
          <p:nvPr/>
        </p:nvSpPr>
        <p:spPr>
          <a:xfrm>
            <a:off x="5434895" y="4229437"/>
            <a:ext cx="1419431" cy="186689"/>
          </a:xfrm>
          <a:prstGeom prst="rect">
            <a:avLst/>
          </a:prstGeom>
          <a:noFill/>
        </p:spPr>
        <p:txBody>
          <a:bodyPr wrap="none" lIns="0" rIns="0" tIns="0" bIns="0">
            <a:spAutoFit/>
          </a:bodyPr>
          <a:lstStyle/>
          <a:p>
            <a:r>
              <a:rPr sz="1100" b="0">
                <a:solidFill>
                  <a:srgbClr val="2E2E2E"/>
                </a:solidFill>
                <a:latin typeface="Calibri"/>
              </a:rPr>
              <a:t>CAGR leads the market.</a:t>
            </a:r>
          </a:p>
        </p:txBody>
      </p:sp>
      <p:sp>
        <p:nvSpPr>
          <p:cNvPr id="74" name="TextBox 73"/>
          <p:cNvSpPr txBox="1"/>
          <p:nvPr/>
        </p:nvSpPr>
        <p:spPr>
          <a:xfrm>
            <a:off x="3838575" y="4447369"/>
            <a:ext cx="651371" cy="186689"/>
          </a:xfrm>
          <a:prstGeom prst="rect">
            <a:avLst/>
          </a:prstGeom>
          <a:noFill/>
        </p:spPr>
        <p:txBody>
          <a:bodyPr wrap="none" lIns="0" rIns="0" tIns="0" bIns="0">
            <a:spAutoFit/>
          </a:bodyPr>
          <a:lstStyle/>
          <a:p>
            <a:r>
              <a:rPr sz="1100" b="0">
                <a:solidFill>
                  <a:srgbClr val="2E2E2E"/>
                </a:solidFill>
                <a:latin typeface="Calibri"/>
              </a:rPr>
              <a:t>● Canada:</a:t>
            </a:r>
          </a:p>
        </p:txBody>
      </p:sp>
      <p:pic>
        <p:nvPicPr>
          <p:cNvPr id="75" name="Picture 74" descr="lock.png"/>
          <p:cNvPicPr>
            <a:picLocks noChangeAspect="1"/>
          </p:cNvPicPr>
          <p:nvPr/>
        </p:nvPicPr>
        <p:blipFill>
          <a:blip r:embed="rId4"/>
          <a:stretch>
            <a:fillRect/>
          </a:stretch>
        </p:blipFill>
        <p:spPr>
          <a:xfrm>
            <a:off x="4437997" y="4437590"/>
            <a:ext cx="128699" cy="187198"/>
          </a:xfrm>
          <a:prstGeom prst="rect">
            <a:avLst/>
          </a:prstGeom>
        </p:spPr>
      </p:pic>
      <p:sp>
        <p:nvSpPr>
          <p:cNvPr id="76" name="TextBox 75"/>
          <p:cNvSpPr txBox="1"/>
          <p:nvPr/>
        </p:nvSpPr>
        <p:spPr>
          <a:xfrm>
            <a:off x="4605493" y="4447369"/>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77" name="Picture 76" descr="lock.png"/>
          <p:cNvPicPr>
            <a:picLocks noChangeAspect="1"/>
          </p:cNvPicPr>
          <p:nvPr/>
        </p:nvPicPr>
        <p:blipFill>
          <a:blip r:embed="rId4"/>
          <a:stretch>
            <a:fillRect/>
          </a:stretch>
        </p:blipFill>
        <p:spPr>
          <a:xfrm>
            <a:off x="5464943" y="4437590"/>
            <a:ext cx="128699" cy="187198"/>
          </a:xfrm>
          <a:prstGeom prst="rect">
            <a:avLst/>
          </a:prstGeom>
        </p:spPr>
      </p:pic>
      <p:sp>
        <p:nvSpPr>
          <p:cNvPr id="78" name="TextBox 77"/>
          <p:cNvSpPr txBox="1"/>
          <p:nvPr/>
        </p:nvSpPr>
        <p:spPr>
          <a:xfrm>
            <a:off x="5632439" y="4447369"/>
            <a:ext cx="1218612" cy="186689"/>
          </a:xfrm>
          <a:prstGeom prst="rect">
            <a:avLst/>
          </a:prstGeom>
          <a:noFill/>
        </p:spPr>
        <p:txBody>
          <a:bodyPr wrap="none" lIns="0" rIns="0" tIns="0" bIns="0">
            <a:spAutoFit/>
          </a:bodyPr>
          <a:lstStyle/>
          <a:p>
            <a:r>
              <a:rPr sz="1100" b="0">
                <a:solidFill>
                  <a:srgbClr val="2E2E2E"/>
                </a:solidFill>
                <a:latin typeface="Calibri"/>
              </a:rPr>
              <a:t>CAGR grows fastest.</a:t>
            </a:r>
          </a:p>
        </p:txBody>
      </p:sp>
      <p:sp>
        <p:nvSpPr>
          <p:cNvPr id="79" name="TextBox 78"/>
          <p:cNvSpPr txBox="1"/>
          <p:nvPr/>
        </p:nvSpPr>
        <p:spPr>
          <a:xfrm>
            <a:off x="8524875" y="5842641"/>
            <a:ext cx="3162300" cy="194310"/>
          </a:xfrm>
          <a:prstGeom prst="rect">
            <a:avLst/>
          </a:prstGeom>
          <a:noFill/>
        </p:spPr>
        <p:txBody>
          <a:bodyPr wrap="none" lIns="0" rIns="0" tIns="0" bIns="0">
            <a:spAutoFit/>
          </a:bodyPr>
          <a:lstStyle/>
          <a:p>
            <a:r>
              <a:rPr sz="1150" b="1">
                <a:solidFill>
                  <a:srgbClr val="0B2E4A"/>
                </a:solidFill>
                <a:latin typeface="Calibri"/>
              </a:rPr>
              <a:t>The North America market is projected to grow at a</a:t>
            </a:r>
          </a:p>
        </p:txBody>
      </p:sp>
      <p:sp>
        <p:nvSpPr>
          <p:cNvPr id="80" name="TextBox 79"/>
          <p:cNvSpPr txBox="1"/>
          <p:nvPr/>
        </p:nvSpPr>
        <p:spPr>
          <a:xfrm>
            <a:off x="8524875" y="6017901"/>
            <a:ext cx="574797" cy="194310"/>
          </a:xfrm>
          <a:prstGeom prst="rect">
            <a:avLst/>
          </a:prstGeom>
          <a:noFill/>
        </p:spPr>
        <p:txBody>
          <a:bodyPr wrap="none" lIns="0" rIns="0" tIns="0" bIns="0">
            <a:spAutoFit/>
          </a:bodyPr>
          <a:lstStyle/>
          <a:p>
            <a:r>
              <a:rPr sz="1150" b="1">
                <a:solidFill>
                  <a:srgbClr val="0B2E4A"/>
                </a:solidFill>
                <a:latin typeface="Calibri"/>
              </a:rPr>
              <a:t>CAGR of</a:t>
            </a:r>
          </a:p>
        </p:txBody>
      </p:sp>
      <p:pic>
        <p:nvPicPr>
          <p:cNvPr id="81" name="Picture 80" descr="lock.png"/>
          <p:cNvPicPr>
            <a:picLocks noChangeAspect="1"/>
          </p:cNvPicPr>
          <p:nvPr/>
        </p:nvPicPr>
        <p:blipFill>
          <a:blip r:embed="rId4"/>
          <a:stretch>
            <a:fillRect/>
          </a:stretch>
        </p:blipFill>
        <p:spPr>
          <a:xfrm>
            <a:off x="9048826" y="6007677"/>
            <a:ext cx="134549" cy="195707"/>
          </a:xfrm>
          <a:prstGeom prst="rect">
            <a:avLst/>
          </a:prstGeom>
        </p:spPr>
      </p:pic>
      <p:sp>
        <p:nvSpPr>
          <p:cNvPr id="82" name="TextBox 81"/>
          <p:cNvSpPr txBox="1"/>
          <p:nvPr/>
        </p:nvSpPr>
        <p:spPr>
          <a:xfrm>
            <a:off x="9223935" y="6017901"/>
            <a:ext cx="1232619" cy="194310"/>
          </a:xfrm>
          <a:prstGeom prst="rect">
            <a:avLst/>
          </a:prstGeom>
          <a:noFill/>
        </p:spPr>
        <p:txBody>
          <a:bodyPr wrap="none" lIns="0" rIns="0" tIns="0" bIns="0">
            <a:spAutoFit/>
          </a:bodyPr>
          <a:lstStyle/>
          <a:p>
            <a:r>
              <a:rPr sz="1150" b="1">
                <a:solidFill>
                  <a:srgbClr val="0B2E4A"/>
                </a:solidFill>
                <a:latin typeface="Calibri"/>
              </a:rPr>
              <a:t>from 2026 to 2036.</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Egg Protein Membrane Market Analysis, By Country Volume (MT)</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volume share by country in 2026 and 2036, highlighting share gains and losses in basis points</a:t>
            </a:r>
          </a:p>
        </p:txBody>
      </p:sp>
      <p:sp>
        <p:nvSpPr>
          <p:cNvPr id="7" name="Rounded Rectangle 6"/>
          <p:cNvSpPr/>
          <p:nvPr/>
        </p:nvSpPr>
        <p:spPr>
          <a:xfrm>
            <a:off x="142875" y="981075"/>
            <a:ext cx="6810375" cy="4533900"/>
          </a:xfrm>
          <a:prstGeom prst="roundRect">
            <a:avLst>
              <a:gd name="adj" fmla="val 1680"/>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661987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Share and BPS Assessment By Country, 2026 &amp; 2036</a:t>
            </a:r>
          </a:p>
        </p:txBody>
      </p:sp>
      <p:graphicFrame>
        <p:nvGraphicFramePr>
          <p:cNvPr id="9" name="Chart 8"/>
          <p:cNvGraphicFramePr>
            <a:graphicFrameLocks noGrp="1"/>
          </p:cNvGraphicFramePr>
          <p:nvPr/>
        </p:nvGraphicFramePr>
        <p:xfrm>
          <a:off x="238125" y="1409700"/>
          <a:ext cx="4236720" cy="4048125"/>
        </p:xfrm>
        <a:graphic>
          <a:graphicData uri="http://schemas.openxmlformats.org/drawingml/2006/chart">
            <c:chart xmlns:c="http://schemas.openxmlformats.org/drawingml/2006/chart" r:id="rId3"/>
          </a:graphicData>
        </a:graphic>
      </p:graphicFrame>
      <p:sp>
        <p:nvSpPr>
          <p:cNvPr id="10" name="TextBox 9"/>
          <p:cNvSpPr txBox="1"/>
          <p:nvPr/>
        </p:nvSpPr>
        <p:spPr>
          <a:xfrm>
            <a:off x="4474845" y="1419225"/>
            <a:ext cx="2383155" cy="133350"/>
          </a:xfrm>
          <a:prstGeom prst="rect">
            <a:avLst/>
          </a:prstGeom>
          <a:noFill/>
        </p:spPr>
        <p:txBody>
          <a:bodyPr wrap="square" lIns="28575" rIns="28575" tIns="9525" bIns="9525" anchor="ctr">
            <a:spAutoFit/>
          </a:bodyPr>
          <a:lstStyle/>
          <a:p>
            <a:pPr algn="ctr"/>
            <a:r>
              <a:rPr sz="1300" b="1">
                <a:solidFill>
                  <a:srgbClr val="2A5F8F"/>
                </a:solidFill>
                <a:latin typeface="Calibri"/>
              </a:rPr>
              <a:t>BPS Δ  (2026→2036)</a:t>
            </a:r>
          </a:p>
        </p:txBody>
      </p:sp>
      <p:sp>
        <p:nvSpPr>
          <p:cNvPr id="11" name="TMR Lock Anchor"/>
          <p:cNvSpPr txBox="1"/>
          <p:nvPr/>
        </p:nvSpPr>
        <p:spPr>
          <a:xfrm>
            <a:off x="2489835" y="3352800"/>
            <a:ext cx="38100" cy="38100"/>
          </a:xfrm>
          <a:prstGeom prst="rect">
            <a:avLst/>
          </a:prstGeom>
          <a:noFill/>
        </p:spPr>
        <p:txBody>
          <a:bodyPr wrap="none">
            <a:spAutoFit/>
          </a:bodyPr>
          <a:lstStyle/>
          <a:p/>
        </p:txBody>
      </p:sp>
      <p:sp>
        <p:nvSpPr>
          <p:cNvPr id="12" name="TMR Legend Chip"/>
          <p:cNvSpPr/>
          <p:nvPr/>
        </p:nvSpPr>
        <p:spPr>
          <a:xfrm>
            <a:off x="4551045" y="2032585"/>
            <a:ext cx="85725" cy="85725"/>
          </a:xfrm>
          <a:prstGeom prst="rect">
            <a:avLst/>
          </a:prstGeom>
          <a:solidFill>
            <a:srgbClr val="0081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Isosceles Triangle 12"/>
          <p:cNvSpPr/>
          <p:nvPr/>
        </p:nvSpPr>
        <p:spPr>
          <a:xfrm>
            <a:off x="4712970" y="2027823"/>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BPS Name 1"/>
          <p:cNvSpPr txBox="1"/>
          <p:nvPr/>
        </p:nvSpPr>
        <p:spPr>
          <a:xfrm>
            <a:off x="4855845" y="1951623"/>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Canada</a:t>
            </a:r>
          </a:p>
        </p:txBody>
      </p:sp>
      <p:sp>
        <p:nvSpPr>
          <p:cNvPr id="15" name="BPS Value 1"/>
          <p:cNvSpPr txBox="1"/>
          <p:nvPr/>
        </p:nvSpPr>
        <p:spPr>
          <a:xfrm>
            <a:off x="6305550" y="2013535"/>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16" name="TMR Legend Chip"/>
          <p:cNvSpPr/>
          <p:nvPr/>
        </p:nvSpPr>
        <p:spPr>
          <a:xfrm>
            <a:off x="4551045" y="3866148"/>
            <a:ext cx="85725" cy="85725"/>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Isosceles Triangle 16"/>
          <p:cNvSpPr/>
          <p:nvPr/>
        </p:nvSpPr>
        <p:spPr>
          <a:xfrm rot="10800000">
            <a:off x="4712970" y="3861385"/>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PS Name 2"/>
          <p:cNvSpPr txBox="1"/>
          <p:nvPr/>
        </p:nvSpPr>
        <p:spPr>
          <a:xfrm>
            <a:off x="4855845" y="3785185"/>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U.S.</a:t>
            </a:r>
          </a:p>
        </p:txBody>
      </p:sp>
      <p:sp>
        <p:nvSpPr>
          <p:cNvPr id="19" name="BPS Value 2"/>
          <p:cNvSpPr txBox="1"/>
          <p:nvPr/>
        </p:nvSpPr>
        <p:spPr>
          <a:xfrm>
            <a:off x="6305550" y="3847098"/>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0" name="Rounded Rectangle 19"/>
          <p:cNvSpPr/>
          <p:nvPr/>
        </p:nvSpPr>
        <p:spPr>
          <a:xfrm>
            <a:off x="7105650" y="981075"/>
            <a:ext cx="4933950" cy="4533900"/>
          </a:xfrm>
          <a:prstGeom prst="roundRect">
            <a:avLst>
              <a:gd name="adj" fmla="val 1680"/>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239000" y="1066800"/>
            <a:ext cx="4667250" cy="209550"/>
          </a:xfrm>
          <a:prstGeom prst="rect">
            <a:avLst/>
          </a:prstGeom>
          <a:noFill/>
        </p:spPr>
        <p:txBody>
          <a:bodyPr wrap="square" lIns="0" rIns="19050" tIns="9525" bIns="9525">
            <a:spAutoFit/>
          </a:bodyPr>
          <a:lstStyle/>
          <a:p>
            <a:pPr algn="l"/>
            <a:r>
              <a:rPr sz="1300" b="1">
                <a:solidFill>
                  <a:srgbClr val="0E2A5C"/>
                </a:solidFill>
                <a:latin typeface="Calibri"/>
              </a:rPr>
              <a:t>Regional Highlights</a:t>
            </a:r>
          </a:p>
        </p:txBody>
      </p:sp>
      <p:sp>
        <p:nvSpPr>
          <p:cNvPr id="22" name="Rectangle 21"/>
          <p:cNvSpPr/>
          <p:nvPr/>
        </p:nvSpPr>
        <p:spPr>
          <a:xfrm>
            <a:off x="7239000" y="1304925"/>
            <a:ext cx="46672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239000" y="1390650"/>
            <a:ext cx="4667250" cy="404812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24" name="Rounded Rectangle 23"/>
          <p:cNvSpPr/>
          <p:nvPr/>
        </p:nvSpPr>
        <p:spPr>
          <a:xfrm>
            <a:off x="142875" y="5648325"/>
            <a:ext cx="3943350" cy="981075"/>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
            </a:r>
          </a:p>
          <a:p>
            <a:pPr algn="ctr">
              <a:lnSpc>
                <a:spcPct val="95000"/>
              </a:lnSpc>
            </a:pPr>
            <a:r>
              <a:rPr sz="2000" b="1">
                <a:solidFill>
                  <a:srgbClr val="2A5F8F"/>
                </a:solidFill>
                <a:latin typeface="Calibri"/>
              </a:rPr>
              <a:t/>
            </a:r>
          </a:p>
        </p:txBody>
      </p:sp>
      <p:sp>
        <p:nvSpPr>
          <p:cNvPr id="25" name="Rounded Rectangle 24"/>
          <p:cNvSpPr/>
          <p:nvPr/>
        </p:nvSpPr>
        <p:spPr>
          <a:xfrm>
            <a:off x="4238625" y="5648325"/>
            <a:ext cx="3819525" cy="981075"/>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
            </a:r>
          </a:p>
          <a:p>
            <a:pPr algn="ctr">
              <a:lnSpc>
                <a:spcPct val="95000"/>
              </a:lnSpc>
            </a:pPr>
            <a:r>
              <a:rPr sz="2000" b="1">
                <a:solidFill>
                  <a:srgbClr val="2A5F8F"/>
                </a:solidFill>
                <a:latin typeface="Calibri"/>
              </a:rPr>
              <a:t/>
            </a:r>
          </a:p>
        </p:txBody>
      </p:sp>
      <p:sp>
        <p:nvSpPr>
          <p:cNvPr id="26" name="Rounded Rectangle 25"/>
          <p:cNvSpPr/>
          <p:nvPr/>
        </p:nvSpPr>
        <p:spPr>
          <a:xfrm>
            <a:off x="8210550" y="5648325"/>
            <a:ext cx="3819525" cy="981075"/>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CAGR (2026–2036)</a:t>
            </a:r>
          </a:p>
          <a:p>
            <a:pPr algn="ctr">
              <a:lnSpc>
                <a:spcPct val="95000"/>
              </a:lnSpc>
            </a:pPr>
            <a:r>
              <a:rPr sz="2000" b="1">
                <a:solidFill>
                  <a:srgbClr val="2A5F8F"/>
                </a:solidFill>
                <a:latin typeface="Calibri"/>
              </a:rPr>
              <a:t> </a:t>
            </a:r>
          </a:p>
        </p:txBody>
      </p:sp>
      <p:sp>
        <p:nvSpPr>
          <p:cNvPr id="27" name="Rectangle 26"/>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29" name="Picture 28" descr="lock.png"/>
          <p:cNvPicPr>
            <a:picLocks noChangeAspect="1"/>
          </p:cNvPicPr>
          <p:nvPr/>
        </p:nvPicPr>
        <p:blipFill>
          <a:blip r:embed="rId5"/>
          <a:stretch>
            <a:fillRect/>
          </a:stretch>
        </p:blipFill>
        <p:spPr>
          <a:xfrm>
            <a:off x="2368867" y="3171825"/>
            <a:ext cx="275034" cy="400050"/>
          </a:xfrm>
          <a:prstGeom prst="rect">
            <a:avLst/>
          </a:prstGeom>
        </p:spPr>
      </p:pic>
      <p:pic>
        <p:nvPicPr>
          <p:cNvPr id="30" name="Picture 29" descr="lock.png"/>
          <p:cNvPicPr>
            <a:picLocks noChangeAspect="1"/>
          </p:cNvPicPr>
          <p:nvPr/>
        </p:nvPicPr>
        <p:blipFill>
          <a:blip r:embed="rId5"/>
          <a:stretch>
            <a:fillRect/>
          </a:stretch>
        </p:blipFill>
        <p:spPr>
          <a:xfrm>
            <a:off x="10015537" y="6070282"/>
            <a:ext cx="209550" cy="304800"/>
          </a:xfrm>
          <a:prstGeom prst="rect">
            <a:avLst/>
          </a:prstGeom>
        </p:spPr>
      </p:pic>
      <p:sp>
        <p:nvSpPr>
          <p:cNvPr id="31" name="TextBox 30"/>
          <p:cNvSpPr txBox="1"/>
          <p:nvPr/>
        </p:nvSpPr>
        <p:spPr>
          <a:xfrm>
            <a:off x="7239000" y="1400175"/>
            <a:ext cx="3801616" cy="194310"/>
          </a:xfrm>
          <a:prstGeom prst="rect">
            <a:avLst/>
          </a:prstGeom>
          <a:noFill/>
        </p:spPr>
        <p:txBody>
          <a:bodyPr wrap="none" lIns="0" rIns="0" tIns="0" bIns="0">
            <a:spAutoFit/>
          </a:bodyPr>
          <a:lstStyle/>
          <a:p>
            <a:r>
              <a:rPr sz="1150" b="0">
                <a:solidFill>
                  <a:srgbClr val="2E2E2E"/>
                </a:solidFill>
                <a:latin typeface="Calibri"/>
              </a:rPr>
              <a:t>The U.S. egg protein membrane market is projected to register</a:t>
            </a:r>
          </a:p>
        </p:txBody>
      </p:sp>
      <p:pic>
        <p:nvPicPr>
          <p:cNvPr id="32" name="Picture 31" descr="lock.png"/>
          <p:cNvPicPr>
            <a:picLocks noChangeAspect="1"/>
          </p:cNvPicPr>
          <p:nvPr/>
        </p:nvPicPr>
        <p:blipFill>
          <a:blip r:embed="rId5"/>
          <a:stretch>
            <a:fillRect/>
          </a:stretch>
        </p:blipFill>
        <p:spPr>
          <a:xfrm>
            <a:off x="10989769" y="1389951"/>
            <a:ext cx="134549" cy="195707"/>
          </a:xfrm>
          <a:prstGeom prst="rect">
            <a:avLst/>
          </a:prstGeom>
        </p:spPr>
      </p:pic>
      <p:sp>
        <p:nvSpPr>
          <p:cNvPr id="33" name="TextBox 32"/>
          <p:cNvSpPr txBox="1"/>
          <p:nvPr/>
        </p:nvSpPr>
        <p:spPr>
          <a:xfrm>
            <a:off x="11164879" y="1400175"/>
            <a:ext cx="564839" cy="194310"/>
          </a:xfrm>
          <a:prstGeom prst="rect">
            <a:avLst/>
          </a:prstGeom>
          <a:noFill/>
        </p:spPr>
        <p:txBody>
          <a:bodyPr wrap="none" lIns="0" rIns="0" tIns="0" bIns="0">
            <a:spAutoFit/>
          </a:bodyPr>
          <a:lstStyle/>
          <a:p>
            <a:r>
              <a:rPr sz="1150" b="0">
                <a:solidFill>
                  <a:srgbClr val="2E2E2E"/>
                </a:solidFill>
                <a:latin typeface="Calibri"/>
              </a:rPr>
              <a:t>X higher</a:t>
            </a:r>
          </a:p>
        </p:txBody>
      </p:sp>
      <p:sp>
        <p:nvSpPr>
          <p:cNvPr id="34" name="TextBox 33"/>
          <p:cNvSpPr txBox="1"/>
          <p:nvPr/>
        </p:nvSpPr>
        <p:spPr>
          <a:xfrm>
            <a:off x="7239000" y="1575435"/>
            <a:ext cx="4369271" cy="194310"/>
          </a:xfrm>
          <a:prstGeom prst="rect">
            <a:avLst/>
          </a:prstGeom>
          <a:noFill/>
        </p:spPr>
        <p:txBody>
          <a:bodyPr wrap="none" lIns="0" rIns="0" tIns="0" bIns="0">
            <a:spAutoFit/>
          </a:bodyPr>
          <a:lstStyle/>
          <a:p>
            <a:r>
              <a:rPr sz="1150" b="0">
                <a:solidFill>
                  <a:srgbClr val="2E2E2E"/>
                </a:solidFill>
                <a:latin typeface="Calibri"/>
              </a:rPr>
              <a:t>volume than Canada in 2036. Among egg protein membrane by country,</a:t>
            </a:r>
          </a:p>
        </p:txBody>
      </p:sp>
      <p:sp>
        <p:nvSpPr>
          <p:cNvPr id="35" name="TextBox 34"/>
          <p:cNvSpPr txBox="1"/>
          <p:nvPr/>
        </p:nvSpPr>
        <p:spPr>
          <a:xfrm>
            <a:off x="7239000" y="1750695"/>
            <a:ext cx="3083899" cy="194310"/>
          </a:xfrm>
          <a:prstGeom prst="rect">
            <a:avLst/>
          </a:prstGeom>
          <a:noFill/>
        </p:spPr>
        <p:txBody>
          <a:bodyPr wrap="none" lIns="0" rIns="0" tIns="0" bIns="0">
            <a:spAutoFit/>
          </a:bodyPr>
          <a:lstStyle/>
          <a:p>
            <a:r>
              <a:rPr sz="1150" b="0">
                <a:solidFill>
                  <a:srgbClr val="2E2E2E"/>
                </a:solidFill>
                <a:latin typeface="Calibri"/>
              </a:rPr>
              <a:t>Canada is expected to witness the highest CAGR of</a:t>
            </a:r>
          </a:p>
        </p:txBody>
      </p:sp>
      <p:pic>
        <p:nvPicPr>
          <p:cNvPr id="36" name="Picture 35" descr="lock.png"/>
          <p:cNvPicPr>
            <a:picLocks noChangeAspect="1"/>
          </p:cNvPicPr>
          <p:nvPr/>
        </p:nvPicPr>
        <p:blipFill>
          <a:blip r:embed="rId5"/>
          <a:stretch>
            <a:fillRect/>
          </a:stretch>
        </p:blipFill>
        <p:spPr>
          <a:xfrm>
            <a:off x="10272053" y="1740471"/>
            <a:ext cx="134549" cy="195707"/>
          </a:xfrm>
          <a:prstGeom prst="rect">
            <a:avLst/>
          </a:prstGeom>
        </p:spPr>
      </p:pic>
      <p:sp>
        <p:nvSpPr>
          <p:cNvPr id="37" name="TextBox 36"/>
          <p:cNvSpPr txBox="1"/>
          <p:nvPr/>
        </p:nvSpPr>
        <p:spPr>
          <a:xfrm>
            <a:off x="10447162" y="1750695"/>
            <a:ext cx="1090848" cy="194310"/>
          </a:xfrm>
          <a:prstGeom prst="rect">
            <a:avLst/>
          </a:prstGeom>
          <a:noFill/>
        </p:spPr>
        <p:txBody>
          <a:bodyPr wrap="none" lIns="0" rIns="0" tIns="0" bIns="0">
            <a:spAutoFit/>
          </a:bodyPr>
          <a:lstStyle/>
          <a:p>
            <a:r>
              <a:rPr sz="1150" b="0">
                <a:solidFill>
                  <a:srgbClr val="2E2E2E"/>
                </a:solidFill>
                <a:latin typeface="Calibri"/>
              </a:rPr>
              <a:t>over the forecast</a:t>
            </a:r>
          </a:p>
        </p:txBody>
      </p:sp>
      <p:sp>
        <p:nvSpPr>
          <p:cNvPr id="38" name="TextBox 37"/>
          <p:cNvSpPr txBox="1"/>
          <p:nvPr/>
        </p:nvSpPr>
        <p:spPr>
          <a:xfrm>
            <a:off x="7239000" y="1925955"/>
            <a:ext cx="500943" cy="194310"/>
          </a:xfrm>
          <a:prstGeom prst="rect">
            <a:avLst/>
          </a:prstGeom>
          <a:noFill/>
        </p:spPr>
        <p:txBody>
          <a:bodyPr wrap="none" lIns="0" rIns="0" tIns="0" bIns="0">
            <a:spAutoFit/>
          </a:bodyPr>
          <a:lstStyle/>
          <a:p>
            <a:r>
              <a:rPr sz="1150" b="0">
                <a:solidFill>
                  <a:srgbClr val="2E2E2E"/>
                </a:solidFill>
                <a:latin typeface="Calibri"/>
              </a:rPr>
              <a:t>period.</a:t>
            </a:r>
          </a:p>
        </p:txBody>
      </p:sp>
      <p:sp>
        <p:nvSpPr>
          <p:cNvPr id="39" name="TextBox 38"/>
          <p:cNvSpPr txBox="1"/>
          <p:nvPr/>
        </p:nvSpPr>
        <p:spPr>
          <a:xfrm>
            <a:off x="7239000" y="2153793"/>
            <a:ext cx="4231493" cy="194310"/>
          </a:xfrm>
          <a:prstGeom prst="rect">
            <a:avLst/>
          </a:prstGeom>
          <a:noFill/>
        </p:spPr>
        <p:txBody>
          <a:bodyPr wrap="none" lIns="0" rIns="0" tIns="0" bIns="0">
            <a:spAutoFit/>
          </a:bodyPr>
          <a:lstStyle/>
          <a:p>
            <a:r>
              <a:rPr sz="1150" b="0">
                <a:solidFill>
                  <a:srgbClr val="2E2E2E"/>
                </a:solidFill>
                <a:latin typeface="Calibri"/>
              </a:rPr>
              <a:t>In terms of volume share by country, U.S. is expected to dominate the</a:t>
            </a:r>
          </a:p>
        </p:txBody>
      </p:sp>
      <p:sp>
        <p:nvSpPr>
          <p:cNvPr id="40" name="TextBox 39"/>
          <p:cNvSpPr txBox="1"/>
          <p:nvPr/>
        </p:nvSpPr>
        <p:spPr>
          <a:xfrm>
            <a:off x="7239000" y="2329053"/>
            <a:ext cx="918554" cy="194310"/>
          </a:xfrm>
          <a:prstGeom prst="rect">
            <a:avLst/>
          </a:prstGeom>
          <a:noFill/>
        </p:spPr>
        <p:txBody>
          <a:bodyPr wrap="none" lIns="0" rIns="0" tIns="0" bIns="0">
            <a:spAutoFit/>
          </a:bodyPr>
          <a:lstStyle/>
          <a:p>
            <a:r>
              <a:rPr sz="1150" b="0">
                <a:solidFill>
                  <a:srgbClr val="2E2E2E"/>
                </a:solidFill>
                <a:latin typeface="Calibri"/>
              </a:rPr>
              <a:t>market, losing</a:t>
            </a:r>
          </a:p>
        </p:txBody>
      </p:sp>
      <p:pic>
        <p:nvPicPr>
          <p:cNvPr id="41" name="Picture 40" descr="lock.png"/>
          <p:cNvPicPr>
            <a:picLocks noChangeAspect="1"/>
          </p:cNvPicPr>
          <p:nvPr/>
        </p:nvPicPr>
        <p:blipFill>
          <a:blip r:embed="rId5"/>
          <a:stretch>
            <a:fillRect/>
          </a:stretch>
        </p:blipFill>
        <p:spPr>
          <a:xfrm>
            <a:off x="8106708" y="2318829"/>
            <a:ext cx="134549" cy="195707"/>
          </a:xfrm>
          <a:prstGeom prst="rect">
            <a:avLst/>
          </a:prstGeom>
        </p:spPr>
      </p:pic>
      <p:sp>
        <p:nvSpPr>
          <p:cNvPr id="42" name="TextBox 41"/>
          <p:cNvSpPr txBox="1"/>
          <p:nvPr/>
        </p:nvSpPr>
        <p:spPr>
          <a:xfrm>
            <a:off x="8281817" y="2329053"/>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43" name="Picture 42" descr="lock.png"/>
          <p:cNvPicPr>
            <a:picLocks noChangeAspect="1"/>
          </p:cNvPicPr>
          <p:nvPr/>
        </p:nvPicPr>
        <p:blipFill>
          <a:blip r:embed="rId5"/>
          <a:stretch>
            <a:fillRect/>
          </a:stretch>
        </p:blipFill>
        <p:spPr>
          <a:xfrm>
            <a:off x="9676961" y="2318829"/>
            <a:ext cx="134549" cy="195707"/>
          </a:xfrm>
          <a:prstGeom prst="rect">
            <a:avLst/>
          </a:prstGeom>
        </p:spPr>
      </p:pic>
      <p:sp>
        <p:nvSpPr>
          <p:cNvPr id="44" name="TextBox 43"/>
          <p:cNvSpPr txBox="1"/>
          <p:nvPr/>
        </p:nvSpPr>
        <p:spPr>
          <a:xfrm>
            <a:off x="9852070" y="2329053"/>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45" name="TextBox 44"/>
          <p:cNvSpPr txBox="1"/>
          <p:nvPr/>
        </p:nvSpPr>
        <p:spPr>
          <a:xfrm>
            <a:off x="1613208" y="5877496"/>
            <a:ext cx="1078882" cy="186689"/>
          </a:xfrm>
          <a:prstGeom prst="rect">
            <a:avLst/>
          </a:prstGeom>
          <a:noFill/>
        </p:spPr>
        <p:txBody>
          <a:bodyPr wrap="none" lIns="0" rIns="0" tIns="0" bIns="0">
            <a:spAutoFit/>
          </a:bodyPr>
          <a:lstStyle/>
          <a:p>
            <a:r>
              <a:rPr sz="1100" b="1">
                <a:solidFill>
                  <a:srgbClr val="6C7A89"/>
                </a:solidFill>
                <a:latin typeface="Calibri"/>
              </a:rPr>
              <a:t>2026 TOTAL (MT)</a:t>
            </a:r>
          </a:p>
        </p:txBody>
      </p:sp>
      <p:pic>
        <p:nvPicPr>
          <p:cNvPr id="46" name="Picture 45" descr="lock.png"/>
          <p:cNvPicPr>
            <a:picLocks noChangeAspect="1"/>
          </p:cNvPicPr>
          <p:nvPr/>
        </p:nvPicPr>
        <p:blipFill>
          <a:blip r:embed="rId5"/>
          <a:stretch>
            <a:fillRect/>
          </a:stretch>
        </p:blipFill>
        <p:spPr>
          <a:xfrm>
            <a:off x="1984327" y="6077648"/>
            <a:ext cx="233998" cy="340360"/>
          </a:xfrm>
          <a:prstGeom prst="rect">
            <a:avLst/>
          </a:prstGeom>
        </p:spPr>
      </p:pic>
      <p:sp>
        <p:nvSpPr>
          <p:cNvPr id="47" name="TextBox 46"/>
          <p:cNvSpPr txBox="1"/>
          <p:nvPr/>
        </p:nvSpPr>
        <p:spPr>
          <a:xfrm>
            <a:off x="5647046" y="5877496"/>
            <a:ext cx="1078882" cy="186689"/>
          </a:xfrm>
          <a:prstGeom prst="rect">
            <a:avLst/>
          </a:prstGeom>
          <a:noFill/>
        </p:spPr>
        <p:txBody>
          <a:bodyPr wrap="none" lIns="0" rIns="0" tIns="0" bIns="0">
            <a:spAutoFit/>
          </a:bodyPr>
          <a:lstStyle/>
          <a:p>
            <a:r>
              <a:rPr sz="1100" b="1">
                <a:solidFill>
                  <a:srgbClr val="6C7A89"/>
                </a:solidFill>
                <a:latin typeface="Calibri"/>
              </a:rPr>
              <a:t>2036 TOTAL (MT)</a:t>
            </a:r>
          </a:p>
        </p:txBody>
      </p:sp>
      <p:pic>
        <p:nvPicPr>
          <p:cNvPr id="48" name="Picture 47" descr="lock.png"/>
          <p:cNvPicPr>
            <a:picLocks noChangeAspect="1"/>
          </p:cNvPicPr>
          <p:nvPr/>
        </p:nvPicPr>
        <p:blipFill>
          <a:blip r:embed="rId5"/>
          <a:stretch>
            <a:fillRect/>
          </a:stretch>
        </p:blipFill>
        <p:spPr>
          <a:xfrm>
            <a:off x="6018165" y="6077648"/>
            <a:ext cx="233998" cy="340360"/>
          </a:xfrm>
          <a:prstGeom prst="rect">
            <a:avLst/>
          </a:prstGeom>
        </p:spPr>
      </p:pic>
      <p:sp>
        <p:nvSpPr>
          <p:cNvPr id="49" name="lockshield_9"/>
          <p:cNvSpPr/>
          <p:nvPr/>
        </p:nvSpPr>
        <p:spPr>
          <a:xfrm>
            <a:off x="238125" y="1409700"/>
            <a:ext cx="4236720" cy="40481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Egg Protein Membrane Market Analysis, By Country Value (US$ Mn)</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value share by country in 2026 and 2036, highlighting share gains and losses in basis points</a:t>
            </a:r>
          </a:p>
        </p:txBody>
      </p:sp>
      <p:sp>
        <p:nvSpPr>
          <p:cNvPr id="7" name="Rounded Rectangle 6"/>
          <p:cNvSpPr/>
          <p:nvPr/>
        </p:nvSpPr>
        <p:spPr>
          <a:xfrm>
            <a:off x="142875" y="981075"/>
            <a:ext cx="6810375" cy="4533900"/>
          </a:xfrm>
          <a:prstGeom prst="roundRect">
            <a:avLst>
              <a:gd name="adj" fmla="val 1680"/>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661987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Share and BPS Assessment By Country, 2026 &amp; 2036</a:t>
            </a:r>
          </a:p>
        </p:txBody>
      </p:sp>
      <p:graphicFrame>
        <p:nvGraphicFramePr>
          <p:cNvPr id="9" name="Chart 8"/>
          <p:cNvGraphicFramePr>
            <a:graphicFrameLocks noGrp="1"/>
          </p:cNvGraphicFramePr>
          <p:nvPr/>
        </p:nvGraphicFramePr>
        <p:xfrm>
          <a:off x="238125" y="1409700"/>
          <a:ext cx="4236720" cy="4048125"/>
        </p:xfrm>
        <a:graphic>
          <a:graphicData uri="http://schemas.openxmlformats.org/drawingml/2006/chart">
            <c:chart xmlns:c="http://schemas.openxmlformats.org/drawingml/2006/chart" r:id="rId3"/>
          </a:graphicData>
        </a:graphic>
      </p:graphicFrame>
      <p:sp>
        <p:nvSpPr>
          <p:cNvPr id="10" name="TextBox 9"/>
          <p:cNvSpPr txBox="1"/>
          <p:nvPr/>
        </p:nvSpPr>
        <p:spPr>
          <a:xfrm>
            <a:off x="4474845" y="1419225"/>
            <a:ext cx="2383155" cy="133350"/>
          </a:xfrm>
          <a:prstGeom prst="rect">
            <a:avLst/>
          </a:prstGeom>
          <a:noFill/>
        </p:spPr>
        <p:txBody>
          <a:bodyPr wrap="square" lIns="28575" rIns="28575" tIns="9525" bIns="9525" anchor="ctr">
            <a:spAutoFit/>
          </a:bodyPr>
          <a:lstStyle/>
          <a:p>
            <a:pPr algn="ctr"/>
            <a:r>
              <a:rPr sz="1300" b="1">
                <a:solidFill>
                  <a:srgbClr val="2A5F8F"/>
                </a:solidFill>
                <a:latin typeface="Calibri"/>
              </a:rPr>
              <a:t>BPS Δ  (2026→2036)</a:t>
            </a:r>
          </a:p>
        </p:txBody>
      </p:sp>
      <p:sp>
        <p:nvSpPr>
          <p:cNvPr id="11" name="TMR Lock Anchor"/>
          <p:cNvSpPr txBox="1"/>
          <p:nvPr/>
        </p:nvSpPr>
        <p:spPr>
          <a:xfrm>
            <a:off x="2489835" y="3352800"/>
            <a:ext cx="38100" cy="38100"/>
          </a:xfrm>
          <a:prstGeom prst="rect">
            <a:avLst/>
          </a:prstGeom>
          <a:noFill/>
        </p:spPr>
        <p:txBody>
          <a:bodyPr wrap="none">
            <a:spAutoFit/>
          </a:bodyPr>
          <a:lstStyle/>
          <a:p/>
        </p:txBody>
      </p:sp>
      <p:sp>
        <p:nvSpPr>
          <p:cNvPr id="12" name="TMR Legend Chip"/>
          <p:cNvSpPr/>
          <p:nvPr/>
        </p:nvSpPr>
        <p:spPr>
          <a:xfrm>
            <a:off x="4551045" y="2059364"/>
            <a:ext cx="85725" cy="85725"/>
          </a:xfrm>
          <a:prstGeom prst="rect">
            <a:avLst/>
          </a:prstGeom>
          <a:solidFill>
            <a:srgbClr val="0081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Isosceles Triangle 12"/>
          <p:cNvSpPr/>
          <p:nvPr/>
        </p:nvSpPr>
        <p:spPr>
          <a:xfrm>
            <a:off x="4712970" y="2054602"/>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BPS Name 1"/>
          <p:cNvSpPr txBox="1"/>
          <p:nvPr/>
        </p:nvSpPr>
        <p:spPr>
          <a:xfrm>
            <a:off x="4855845" y="1978402"/>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Canada</a:t>
            </a:r>
          </a:p>
        </p:txBody>
      </p:sp>
      <p:sp>
        <p:nvSpPr>
          <p:cNvPr id="15" name="BPS Value 1"/>
          <p:cNvSpPr txBox="1"/>
          <p:nvPr/>
        </p:nvSpPr>
        <p:spPr>
          <a:xfrm>
            <a:off x="6305550" y="2040314"/>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16" name="TMR Legend Chip"/>
          <p:cNvSpPr/>
          <p:nvPr/>
        </p:nvSpPr>
        <p:spPr>
          <a:xfrm>
            <a:off x="4551045" y="3892927"/>
            <a:ext cx="85725" cy="85725"/>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Isosceles Triangle 16"/>
          <p:cNvSpPr/>
          <p:nvPr/>
        </p:nvSpPr>
        <p:spPr>
          <a:xfrm rot="10800000">
            <a:off x="4712970" y="3888164"/>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PS Name 2"/>
          <p:cNvSpPr txBox="1"/>
          <p:nvPr/>
        </p:nvSpPr>
        <p:spPr>
          <a:xfrm>
            <a:off x="4855845" y="3811964"/>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U.S.</a:t>
            </a:r>
          </a:p>
        </p:txBody>
      </p:sp>
      <p:sp>
        <p:nvSpPr>
          <p:cNvPr id="19" name="BPS Value 2"/>
          <p:cNvSpPr txBox="1"/>
          <p:nvPr/>
        </p:nvSpPr>
        <p:spPr>
          <a:xfrm>
            <a:off x="6305550" y="3873877"/>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0" name="Rounded Rectangle 19"/>
          <p:cNvSpPr/>
          <p:nvPr/>
        </p:nvSpPr>
        <p:spPr>
          <a:xfrm>
            <a:off x="7105650" y="981075"/>
            <a:ext cx="4933950" cy="4533900"/>
          </a:xfrm>
          <a:prstGeom prst="roundRect">
            <a:avLst>
              <a:gd name="adj" fmla="val 1680"/>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239000" y="1066800"/>
            <a:ext cx="4667250" cy="209550"/>
          </a:xfrm>
          <a:prstGeom prst="rect">
            <a:avLst/>
          </a:prstGeom>
          <a:noFill/>
        </p:spPr>
        <p:txBody>
          <a:bodyPr wrap="square" lIns="0" rIns="19050" tIns="9525" bIns="9525">
            <a:spAutoFit/>
          </a:bodyPr>
          <a:lstStyle/>
          <a:p>
            <a:pPr algn="l"/>
            <a:r>
              <a:rPr sz="1300" b="1">
                <a:solidFill>
                  <a:srgbClr val="0E2A5C"/>
                </a:solidFill>
                <a:latin typeface="Calibri"/>
              </a:rPr>
              <a:t>Regional Highlights</a:t>
            </a:r>
          </a:p>
        </p:txBody>
      </p:sp>
      <p:sp>
        <p:nvSpPr>
          <p:cNvPr id="22" name="Rectangle 21"/>
          <p:cNvSpPr/>
          <p:nvPr/>
        </p:nvSpPr>
        <p:spPr>
          <a:xfrm>
            <a:off x="7239000" y="1304925"/>
            <a:ext cx="46672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239000" y="1390650"/>
            <a:ext cx="4667250" cy="404812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24" name="Rounded Rectangle 23"/>
          <p:cNvSpPr/>
          <p:nvPr/>
        </p:nvSpPr>
        <p:spPr>
          <a:xfrm>
            <a:off x="142875" y="5648325"/>
            <a:ext cx="3943350" cy="981075"/>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2026 TOTAL (US$ MN)</a:t>
            </a:r>
          </a:p>
          <a:p>
            <a:pPr algn="ctr">
              <a:lnSpc>
                <a:spcPct val="95000"/>
              </a:lnSpc>
            </a:pPr>
            <a:r>
              <a:rPr sz="2000" b="1">
                <a:solidFill>
                  <a:srgbClr val="2A5F8F"/>
                </a:solidFill>
                <a:latin typeface="Calibri"/>
              </a:rPr>
              <a:t> </a:t>
            </a:r>
          </a:p>
        </p:txBody>
      </p:sp>
      <p:sp>
        <p:nvSpPr>
          <p:cNvPr id="25" name="Rounded Rectangle 24"/>
          <p:cNvSpPr/>
          <p:nvPr/>
        </p:nvSpPr>
        <p:spPr>
          <a:xfrm>
            <a:off x="4238625" y="5648325"/>
            <a:ext cx="3819525" cy="981075"/>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2036 TOTAL (US$ MN)</a:t>
            </a:r>
          </a:p>
          <a:p>
            <a:pPr algn="ctr">
              <a:lnSpc>
                <a:spcPct val="95000"/>
              </a:lnSpc>
            </a:pPr>
            <a:r>
              <a:rPr sz="2000" b="1">
                <a:solidFill>
                  <a:srgbClr val="2A5F8F"/>
                </a:solidFill>
                <a:latin typeface="Calibri"/>
              </a:rPr>
              <a:t> </a:t>
            </a:r>
          </a:p>
        </p:txBody>
      </p:sp>
      <p:sp>
        <p:nvSpPr>
          <p:cNvPr id="26" name="Rounded Rectangle 25"/>
          <p:cNvSpPr/>
          <p:nvPr/>
        </p:nvSpPr>
        <p:spPr>
          <a:xfrm>
            <a:off x="8210550" y="5648325"/>
            <a:ext cx="3819525" cy="981075"/>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CAGR (2026–2036)</a:t>
            </a:r>
          </a:p>
          <a:p>
            <a:pPr algn="ctr">
              <a:lnSpc>
                <a:spcPct val="95000"/>
              </a:lnSpc>
            </a:pPr>
            <a:r>
              <a:rPr sz="2000" b="1">
                <a:solidFill>
                  <a:srgbClr val="2A5F8F"/>
                </a:solidFill>
                <a:latin typeface="Calibri"/>
              </a:rPr>
              <a:t> </a:t>
            </a:r>
          </a:p>
        </p:txBody>
      </p:sp>
      <p:sp>
        <p:nvSpPr>
          <p:cNvPr id="27" name="Rectangle 26"/>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29" name="Picture 28" descr="lock.png"/>
          <p:cNvPicPr>
            <a:picLocks noChangeAspect="1"/>
          </p:cNvPicPr>
          <p:nvPr/>
        </p:nvPicPr>
        <p:blipFill>
          <a:blip r:embed="rId5"/>
          <a:stretch>
            <a:fillRect/>
          </a:stretch>
        </p:blipFill>
        <p:spPr>
          <a:xfrm>
            <a:off x="2368867" y="3171825"/>
            <a:ext cx="275034" cy="400050"/>
          </a:xfrm>
          <a:prstGeom prst="rect">
            <a:avLst/>
          </a:prstGeom>
        </p:spPr>
      </p:pic>
      <p:pic>
        <p:nvPicPr>
          <p:cNvPr id="30" name="Picture 29" descr="lock.png"/>
          <p:cNvPicPr>
            <a:picLocks noChangeAspect="1"/>
          </p:cNvPicPr>
          <p:nvPr/>
        </p:nvPicPr>
        <p:blipFill>
          <a:blip r:embed="rId5"/>
          <a:stretch>
            <a:fillRect/>
          </a:stretch>
        </p:blipFill>
        <p:spPr>
          <a:xfrm>
            <a:off x="2009775" y="6070282"/>
            <a:ext cx="209550" cy="304800"/>
          </a:xfrm>
          <a:prstGeom prst="rect">
            <a:avLst/>
          </a:prstGeom>
        </p:spPr>
      </p:pic>
      <p:pic>
        <p:nvPicPr>
          <p:cNvPr id="31" name="Picture 30" descr="lock.png"/>
          <p:cNvPicPr>
            <a:picLocks noChangeAspect="1"/>
          </p:cNvPicPr>
          <p:nvPr/>
        </p:nvPicPr>
        <p:blipFill>
          <a:blip r:embed="rId5"/>
          <a:stretch>
            <a:fillRect/>
          </a:stretch>
        </p:blipFill>
        <p:spPr>
          <a:xfrm>
            <a:off x="6043612" y="6070282"/>
            <a:ext cx="209550" cy="304800"/>
          </a:xfrm>
          <a:prstGeom prst="rect">
            <a:avLst/>
          </a:prstGeom>
        </p:spPr>
      </p:pic>
      <p:pic>
        <p:nvPicPr>
          <p:cNvPr id="32" name="Picture 31" descr="lock.png"/>
          <p:cNvPicPr>
            <a:picLocks noChangeAspect="1"/>
          </p:cNvPicPr>
          <p:nvPr/>
        </p:nvPicPr>
        <p:blipFill>
          <a:blip r:embed="rId5"/>
          <a:stretch>
            <a:fillRect/>
          </a:stretch>
        </p:blipFill>
        <p:spPr>
          <a:xfrm>
            <a:off x="10015537" y="6070282"/>
            <a:ext cx="209550" cy="304800"/>
          </a:xfrm>
          <a:prstGeom prst="rect">
            <a:avLst/>
          </a:prstGeom>
        </p:spPr>
      </p:pic>
      <p:sp>
        <p:nvSpPr>
          <p:cNvPr id="33" name="TextBox 32"/>
          <p:cNvSpPr txBox="1"/>
          <p:nvPr/>
        </p:nvSpPr>
        <p:spPr>
          <a:xfrm>
            <a:off x="7239000" y="1400175"/>
            <a:ext cx="3801616" cy="194310"/>
          </a:xfrm>
          <a:prstGeom prst="rect">
            <a:avLst/>
          </a:prstGeom>
          <a:noFill/>
        </p:spPr>
        <p:txBody>
          <a:bodyPr wrap="none" lIns="0" rIns="0" tIns="0" bIns="0">
            <a:spAutoFit/>
          </a:bodyPr>
          <a:lstStyle/>
          <a:p>
            <a:r>
              <a:rPr sz="1150" b="0">
                <a:solidFill>
                  <a:srgbClr val="2E2E2E"/>
                </a:solidFill>
                <a:latin typeface="Calibri"/>
              </a:rPr>
              <a:t>The U.S. egg protein membrane market is projected to register</a:t>
            </a:r>
          </a:p>
        </p:txBody>
      </p:sp>
      <p:pic>
        <p:nvPicPr>
          <p:cNvPr id="34" name="Picture 33" descr="lock.png"/>
          <p:cNvPicPr>
            <a:picLocks noChangeAspect="1"/>
          </p:cNvPicPr>
          <p:nvPr/>
        </p:nvPicPr>
        <p:blipFill>
          <a:blip r:embed="rId5"/>
          <a:stretch>
            <a:fillRect/>
          </a:stretch>
        </p:blipFill>
        <p:spPr>
          <a:xfrm>
            <a:off x="10989769" y="1389951"/>
            <a:ext cx="134549" cy="195707"/>
          </a:xfrm>
          <a:prstGeom prst="rect">
            <a:avLst/>
          </a:prstGeom>
        </p:spPr>
      </p:pic>
      <p:sp>
        <p:nvSpPr>
          <p:cNvPr id="35" name="TextBox 34"/>
          <p:cNvSpPr txBox="1"/>
          <p:nvPr/>
        </p:nvSpPr>
        <p:spPr>
          <a:xfrm>
            <a:off x="11164879" y="1400175"/>
            <a:ext cx="564839" cy="194310"/>
          </a:xfrm>
          <a:prstGeom prst="rect">
            <a:avLst/>
          </a:prstGeom>
          <a:noFill/>
        </p:spPr>
        <p:txBody>
          <a:bodyPr wrap="none" lIns="0" rIns="0" tIns="0" bIns="0">
            <a:spAutoFit/>
          </a:bodyPr>
          <a:lstStyle/>
          <a:p>
            <a:r>
              <a:rPr sz="1150" b="0">
                <a:solidFill>
                  <a:srgbClr val="2E2E2E"/>
                </a:solidFill>
                <a:latin typeface="Calibri"/>
              </a:rPr>
              <a:t>X higher</a:t>
            </a:r>
          </a:p>
        </p:txBody>
      </p:sp>
      <p:sp>
        <p:nvSpPr>
          <p:cNvPr id="36" name="TextBox 35"/>
          <p:cNvSpPr txBox="1"/>
          <p:nvPr/>
        </p:nvSpPr>
        <p:spPr>
          <a:xfrm>
            <a:off x="7239000" y="1575435"/>
            <a:ext cx="4648200" cy="194310"/>
          </a:xfrm>
          <a:prstGeom prst="rect">
            <a:avLst/>
          </a:prstGeom>
          <a:noFill/>
        </p:spPr>
        <p:txBody>
          <a:bodyPr wrap="none" lIns="0" rIns="0" tIns="0" bIns="0">
            <a:spAutoFit/>
          </a:bodyPr>
          <a:lstStyle/>
          <a:p>
            <a:r>
              <a:rPr sz="1150" b="0">
                <a:solidFill>
                  <a:srgbClr val="2E2E2E"/>
                </a:solidFill>
                <a:latin typeface="Calibri"/>
              </a:rPr>
              <a:t>value than Canada in 2036. Among egg protein membrane by country, Canada</a:t>
            </a:r>
          </a:p>
        </p:txBody>
      </p:sp>
      <p:sp>
        <p:nvSpPr>
          <p:cNvPr id="37" name="TextBox 36"/>
          <p:cNvSpPr txBox="1"/>
          <p:nvPr/>
        </p:nvSpPr>
        <p:spPr>
          <a:xfrm>
            <a:off x="7239000" y="1750695"/>
            <a:ext cx="2609807" cy="194310"/>
          </a:xfrm>
          <a:prstGeom prst="rect">
            <a:avLst/>
          </a:prstGeom>
          <a:noFill/>
        </p:spPr>
        <p:txBody>
          <a:bodyPr wrap="none" lIns="0" rIns="0" tIns="0" bIns="0">
            <a:spAutoFit/>
          </a:bodyPr>
          <a:lstStyle/>
          <a:p>
            <a:r>
              <a:rPr sz="1150" b="0">
                <a:solidFill>
                  <a:srgbClr val="2E2E2E"/>
                </a:solidFill>
                <a:latin typeface="Calibri"/>
              </a:rPr>
              <a:t>is expected to witness the highest CAGR of</a:t>
            </a:r>
          </a:p>
        </p:txBody>
      </p:sp>
      <p:pic>
        <p:nvPicPr>
          <p:cNvPr id="38" name="Picture 37" descr="lock.png"/>
          <p:cNvPicPr>
            <a:picLocks noChangeAspect="1"/>
          </p:cNvPicPr>
          <p:nvPr/>
        </p:nvPicPr>
        <p:blipFill>
          <a:blip r:embed="rId5"/>
          <a:stretch>
            <a:fillRect/>
          </a:stretch>
        </p:blipFill>
        <p:spPr>
          <a:xfrm>
            <a:off x="9797961" y="1740471"/>
            <a:ext cx="134549" cy="195707"/>
          </a:xfrm>
          <a:prstGeom prst="rect">
            <a:avLst/>
          </a:prstGeom>
        </p:spPr>
      </p:pic>
      <p:sp>
        <p:nvSpPr>
          <p:cNvPr id="39" name="TextBox 38"/>
          <p:cNvSpPr txBox="1"/>
          <p:nvPr/>
        </p:nvSpPr>
        <p:spPr>
          <a:xfrm>
            <a:off x="9973070" y="1750695"/>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40" name="TextBox 39"/>
          <p:cNvSpPr txBox="1"/>
          <p:nvPr/>
        </p:nvSpPr>
        <p:spPr>
          <a:xfrm>
            <a:off x="7239000" y="1978533"/>
            <a:ext cx="4603179" cy="194310"/>
          </a:xfrm>
          <a:prstGeom prst="rect">
            <a:avLst/>
          </a:prstGeom>
          <a:noFill/>
        </p:spPr>
        <p:txBody>
          <a:bodyPr wrap="none" lIns="0" rIns="0" tIns="0" bIns="0">
            <a:spAutoFit/>
          </a:bodyPr>
          <a:lstStyle/>
          <a:p>
            <a:r>
              <a:rPr sz="1150" b="0">
                <a:solidFill>
                  <a:srgbClr val="2E2E2E"/>
                </a:solidFill>
                <a:latin typeface="Calibri"/>
              </a:rPr>
              <a:t>In terms of value share by country, U.S. is expected to dominate the market,</a:t>
            </a:r>
          </a:p>
        </p:txBody>
      </p:sp>
      <p:sp>
        <p:nvSpPr>
          <p:cNvPr id="41" name="TextBox 40"/>
          <p:cNvSpPr txBox="1"/>
          <p:nvPr/>
        </p:nvSpPr>
        <p:spPr>
          <a:xfrm>
            <a:off x="7239000" y="2153793"/>
            <a:ext cx="423068" cy="194310"/>
          </a:xfrm>
          <a:prstGeom prst="rect">
            <a:avLst/>
          </a:prstGeom>
          <a:noFill/>
        </p:spPr>
        <p:txBody>
          <a:bodyPr wrap="none" lIns="0" rIns="0" tIns="0" bIns="0">
            <a:spAutoFit/>
          </a:bodyPr>
          <a:lstStyle/>
          <a:p>
            <a:r>
              <a:rPr sz="1150" b="0">
                <a:solidFill>
                  <a:srgbClr val="2E2E2E"/>
                </a:solidFill>
                <a:latin typeface="Calibri"/>
              </a:rPr>
              <a:t>losing</a:t>
            </a:r>
          </a:p>
        </p:txBody>
      </p:sp>
      <p:pic>
        <p:nvPicPr>
          <p:cNvPr id="42" name="Picture 41" descr="lock.png"/>
          <p:cNvPicPr>
            <a:picLocks noChangeAspect="1"/>
          </p:cNvPicPr>
          <p:nvPr/>
        </p:nvPicPr>
        <p:blipFill>
          <a:blip r:embed="rId5"/>
          <a:stretch>
            <a:fillRect/>
          </a:stretch>
        </p:blipFill>
        <p:spPr>
          <a:xfrm>
            <a:off x="7611222" y="2143569"/>
            <a:ext cx="134549" cy="195707"/>
          </a:xfrm>
          <a:prstGeom prst="rect">
            <a:avLst/>
          </a:prstGeom>
        </p:spPr>
      </p:pic>
      <p:sp>
        <p:nvSpPr>
          <p:cNvPr id="43" name="TextBox 42"/>
          <p:cNvSpPr txBox="1"/>
          <p:nvPr/>
        </p:nvSpPr>
        <p:spPr>
          <a:xfrm>
            <a:off x="7786331" y="2153793"/>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44" name="Picture 43" descr="lock.png"/>
          <p:cNvPicPr>
            <a:picLocks noChangeAspect="1"/>
          </p:cNvPicPr>
          <p:nvPr/>
        </p:nvPicPr>
        <p:blipFill>
          <a:blip r:embed="rId5"/>
          <a:stretch>
            <a:fillRect/>
          </a:stretch>
        </p:blipFill>
        <p:spPr>
          <a:xfrm>
            <a:off x="9181475" y="2143569"/>
            <a:ext cx="134549" cy="195707"/>
          </a:xfrm>
          <a:prstGeom prst="rect">
            <a:avLst/>
          </a:prstGeom>
        </p:spPr>
      </p:pic>
      <p:sp>
        <p:nvSpPr>
          <p:cNvPr id="45" name="TextBox 44"/>
          <p:cNvSpPr txBox="1"/>
          <p:nvPr/>
        </p:nvSpPr>
        <p:spPr>
          <a:xfrm>
            <a:off x="9356584" y="2153793"/>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46" name="lockshield_9"/>
          <p:cNvSpPr/>
          <p:nvPr/>
        </p:nvSpPr>
        <p:spPr>
          <a:xfrm>
            <a:off x="238125" y="1409700"/>
            <a:ext cx="4236720" cy="40481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Egg Protein Membrane Market Share Analysis, By Country Volume (MT)</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volume and share by country, 2021–2036, highlighting the geographies gaining and ceding ground</a:t>
            </a:r>
          </a:p>
        </p:txBody>
      </p:sp>
      <p:sp>
        <p:nvSpPr>
          <p:cNvPr id="7" name="Rounded Rectangle 6"/>
          <p:cNvSpPr/>
          <p:nvPr/>
        </p:nvSpPr>
        <p:spPr>
          <a:xfrm>
            <a:off x="142875" y="981075"/>
            <a:ext cx="11906250" cy="1457325"/>
          </a:xfrm>
          <a:prstGeom prst="roundRect">
            <a:avLst>
              <a:gd name="adj" fmla="val 522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Market Size, By Country (MT)</a:t>
            </a:r>
          </a:p>
        </p:txBody>
      </p:sp>
      <p:graphicFrame>
        <p:nvGraphicFramePr>
          <p:cNvPr id="9" name="Table 8"/>
          <p:cNvGraphicFramePr>
            <a:graphicFrameLocks noGrp="1"/>
          </p:cNvGraphicFramePr>
          <p:nvPr/>
        </p:nvGraphicFramePr>
        <p:xfrm>
          <a:off x="152400" y="1238250"/>
          <a:ext cx="11887205" cy="990600"/>
        </p:xfrm>
        <a:graphic>
          <a:graphicData uri="http://schemas.openxmlformats.org/drawingml/2006/table">
            <a:tbl>
              <a:tblPr>
                <a:tableStyleId>{5C22544A-7EE6-4342-B048-85BDC9FD1C3A}</a:tableStyleId>
              </a:tblPr>
              <a:tblGrid>
                <a:gridCol w="663023"/>
                <a:gridCol w="660246"/>
                <a:gridCol w="660246"/>
                <a:gridCol w="660246"/>
                <a:gridCol w="660246"/>
                <a:gridCol w="660246"/>
                <a:gridCol w="660246"/>
                <a:gridCol w="660246"/>
                <a:gridCol w="660246"/>
                <a:gridCol w="660246"/>
                <a:gridCol w="660246"/>
                <a:gridCol w="660246"/>
                <a:gridCol w="660246"/>
                <a:gridCol w="660246"/>
                <a:gridCol w="660246"/>
                <a:gridCol w="660246"/>
                <a:gridCol w="660246"/>
                <a:gridCol w="660246"/>
              </a:tblGrid>
              <a:tr h="246126">
                <a:tc>
                  <a:txBody>
                    <a:bodyPr wrap="none"/>
                    <a:lstStyle/>
                    <a:p>
                      <a:pPr algn="l"/>
                      <a:r>
                        <a:rPr sz="1100" b="1">
                          <a:solidFill>
                            <a:srgbClr val="0E2A5C"/>
                          </a:solidFill>
                          <a:latin typeface="Calibri"/>
                        </a:rPr>
                        <a:t>Country</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2021A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2022A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2023A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2024A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2025A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2026E</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2027F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2028F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2029F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2030F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2031F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2032F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2033F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2034F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2035F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2036F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F-CAGR</a:t>
                      </a:r>
                      <a:endParaRPr sz="1100"/>
                    </a:p>
                  </a:txBody>
                  <a:tcPr marL="47625" marR="38100" marT="19050" marB="19050" anchor="ctr">
                    <a:solidFill>
                      <a:srgbClr val="EBF2F9"/>
                    </a:solidFill>
                  </a:tcPr>
                </a:tc>
              </a:tr>
              <a:tr h="248158">
                <a:tc>
                  <a:txBody>
                    <a:bodyPr wrap="none"/>
                    <a:lstStyle/>
                    <a:p>
                      <a:pPr algn="l"/>
                      <a:r>
                        <a:rPr sz="1100" b="1">
                          <a:solidFill>
                            <a:srgbClr val="2E2E2E"/>
                          </a:solidFill>
                          <a:latin typeface="Calibri"/>
                        </a:rPr>
                        <a:t>U.S.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8158">
                <a:tc>
                  <a:txBody>
                    <a:bodyPr wrap="none"/>
                    <a:lstStyle/>
                    <a:p>
                      <a:pPr algn="l"/>
                      <a:r>
                        <a:rPr sz="1100" b="1">
                          <a:solidFill>
                            <a:srgbClr val="2E2E2E"/>
                          </a:solidFill>
                          <a:latin typeface="Calibri"/>
                        </a:rPr>
                        <a:t>Canada</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8158">
                <a:tc>
                  <a:txBody>
                    <a:bodyPr wrap="none"/>
                    <a:lstStyle/>
                    <a:p>
                      <a:pPr algn="l"/>
                      <a:r>
                        <a:rPr sz="1100" b="1">
                          <a:solidFill>
                            <a:srgbClr val="2E2E2E"/>
                          </a:solidFill>
                          <a:latin typeface="Calibri"/>
                        </a:rPr>
                        <a:t>Total</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r>
            </a:tbl>
          </a:graphicData>
        </a:graphic>
      </p:graphicFrame>
      <p:sp>
        <p:nvSpPr>
          <p:cNvPr id="10" name="TextBox 9"/>
          <p:cNvSpPr txBox="1"/>
          <p:nvPr/>
        </p:nvSpPr>
        <p:spPr>
          <a:xfrm>
            <a:off x="219075" y="223837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11" name="Rounded Rectangle 10"/>
          <p:cNvSpPr/>
          <p:nvPr/>
        </p:nvSpPr>
        <p:spPr>
          <a:xfrm>
            <a:off x="142875" y="2571750"/>
            <a:ext cx="11906250" cy="4057650"/>
          </a:xfrm>
          <a:prstGeom prst="roundRect">
            <a:avLst>
              <a:gd name="adj" fmla="val 1877"/>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6225" y="2657475"/>
            <a:ext cx="11639550" cy="209550"/>
          </a:xfrm>
          <a:prstGeom prst="rect">
            <a:avLst/>
          </a:prstGeom>
          <a:noFill/>
        </p:spPr>
        <p:txBody>
          <a:bodyPr wrap="square" lIns="0" rIns="19050" tIns="9525" bIns="9525">
            <a:spAutoFit/>
          </a:bodyPr>
          <a:lstStyle/>
          <a:p>
            <a:pPr algn="l"/>
            <a:r>
              <a:rPr sz="1300" b="1">
                <a:solidFill>
                  <a:srgbClr val="0E2A5C"/>
                </a:solidFill>
                <a:latin typeface="Calibri"/>
              </a:rPr>
              <a:t>North America Volume Share Read-out, By Country</a:t>
            </a:r>
          </a:p>
        </p:txBody>
      </p:sp>
      <p:sp>
        <p:nvSpPr>
          <p:cNvPr id="13" name="Rectangle 12"/>
          <p:cNvSpPr/>
          <p:nvPr/>
        </p:nvSpPr>
        <p:spPr>
          <a:xfrm>
            <a:off x="276225" y="2895600"/>
            <a:ext cx="116395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6225" y="2981325"/>
            <a:ext cx="11639550" cy="357187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5" name="Rectangle 14"/>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7" name="Picture 16" descr="lock.png"/>
          <p:cNvPicPr>
            <a:picLocks noChangeAspect="1"/>
          </p:cNvPicPr>
          <p:nvPr/>
        </p:nvPicPr>
        <p:blipFill>
          <a:blip r:embed="rId4"/>
          <a:stretch>
            <a:fillRect/>
          </a:stretch>
        </p:blipFill>
        <p:spPr>
          <a:xfrm>
            <a:off x="6240824" y="1589913"/>
            <a:ext cx="366712" cy="533400"/>
          </a:xfrm>
          <a:prstGeom prst="rect">
            <a:avLst/>
          </a:prstGeom>
        </p:spPr>
      </p:pic>
      <p:sp>
        <p:nvSpPr>
          <p:cNvPr id="18" name="TextBox 17"/>
          <p:cNvSpPr txBox="1"/>
          <p:nvPr/>
        </p:nvSpPr>
        <p:spPr>
          <a:xfrm>
            <a:off x="276225" y="2990850"/>
            <a:ext cx="3801616" cy="194310"/>
          </a:xfrm>
          <a:prstGeom prst="rect">
            <a:avLst/>
          </a:prstGeom>
          <a:noFill/>
        </p:spPr>
        <p:txBody>
          <a:bodyPr wrap="none" lIns="0" rIns="0" tIns="0" bIns="0">
            <a:spAutoFit/>
          </a:bodyPr>
          <a:lstStyle/>
          <a:p>
            <a:r>
              <a:rPr sz="1150" b="0">
                <a:solidFill>
                  <a:srgbClr val="2E2E2E"/>
                </a:solidFill>
                <a:latin typeface="Calibri"/>
              </a:rPr>
              <a:t>The U.S. egg protein membrane market is projected to register</a:t>
            </a:r>
          </a:p>
        </p:txBody>
      </p:sp>
      <p:pic>
        <p:nvPicPr>
          <p:cNvPr id="19" name="Picture 18" descr="lock.png"/>
          <p:cNvPicPr>
            <a:picLocks noChangeAspect="1"/>
          </p:cNvPicPr>
          <p:nvPr/>
        </p:nvPicPr>
        <p:blipFill>
          <a:blip r:embed="rId4"/>
          <a:stretch>
            <a:fillRect/>
          </a:stretch>
        </p:blipFill>
        <p:spPr>
          <a:xfrm>
            <a:off x="4026994" y="2980626"/>
            <a:ext cx="134549" cy="195707"/>
          </a:xfrm>
          <a:prstGeom prst="rect">
            <a:avLst/>
          </a:prstGeom>
        </p:spPr>
      </p:pic>
      <p:sp>
        <p:nvSpPr>
          <p:cNvPr id="20" name="TextBox 19"/>
          <p:cNvSpPr txBox="1"/>
          <p:nvPr/>
        </p:nvSpPr>
        <p:spPr>
          <a:xfrm>
            <a:off x="4202104" y="2990850"/>
            <a:ext cx="7410363" cy="194310"/>
          </a:xfrm>
          <a:prstGeom prst="rect">
            <a:avLst/>
          </a:prstGeom>
          <a:noFill/>
        </p:spPr>
        <p:txBody>
          <a:bodyPr wrap="none" lIns="0" rIns="0" tIns="0" bIns="0">
            <a:spAutoFit/>
          </a:bodyPr>
          <a:lstStyle/>
          <a:p>
            <a:r>
              <a:rPr sz="1150" b="0">
                <a:solidFill>
                  <a:srgbClr val="2E2E2E"/>
                </a:solidFill>
                <a:latin typeface="Calibri"/>
              </a:rPr>
              <a:t>X higher volume than Canada in 2036. Among egg protein membrane by country, Canada is expected to witness the highest</a:t>
            </a:r>
          </a:p>
        </p:txBody>
      </p:sp>
      <p:sp>
        <p:nvSpPr>
          <p:cNvPr id="21" name="TextBox 20"/>
          <p:cNvSpPr txBox="1"/>
          <p:nvPr/>
        </p:nvSpPr>
        <p:spPr>
          <a:xfrm>
            <a:off x="276225" y="3166110"/>
            <a:ext cx="564536" cy="194310"/>
          </a:xfrm>
          <a:prstGeom prst="rect">
            <a:avLst/>
          </a:prstGeom>
          <a:noFill/>
        </p:spPr>
        <p:txBody>
          <a:bodyPr wrap="none" lIns="0" rIns="0" tIns="0" bIns="0">
            <a:spAutoFit/>
          </a:bodyPr>
          <a:lstStyle/>
          <a:p>
            <a:r>
              <a:rPr sz="1150" b="0">
                <a:solidFill>
                  <a:srgbClr val="2E2E2E"/>
                </a:solidFill>
                <a:latin typeface="Calibri"/>
              </a:rPr>
              <a:t>CAGR of</a:t>
            </a:r>
          </a:p>
        </p:txBody>
      </p:sp>
      <p:pic>
        <p:nvPicPr>
          <p:cNvPr id="22" name="Picture 21" descr="lock.png"/>
          <p:cNvPicPr>
            <a:picLocks noChangeAspect="1"/>
          </p:cNvPicPr>
          <p:nvPr/>
        </p:nvPicPr>
        <p:blipFill>
          <a:blip r:embed="rId4"/>
          <a:stretch>
            <a:fillRect/>
          </a:stretch>
        </p:blipFill>
        <p:spPr>
          <a:xfrm>
            <a:off x="789915" y="3155886"/>
            <a:ext cx="134549" cy="195707"/>
          </a:xfrm>
          <a:prstGeom prst="rect">
            <a:avLst/>
          </a:prstGeom>
        </p:spPr>
      </p:pic>
      <p:sp>
        <p:nvSpPr>
          <p:cNvPr id="23" name="TextBox 22"/>
          <p:cNvSpPr txBox="1"/>
          <p:nvPr/>
        </p:nvSpPr>
        <p:spPr>
          <a:xfrm>
            <a:off x="965025" y="3166110"/>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24" name="TextBox 23"/>
          <p:cNvSpPr txBox="1"/>
          <p:nvPr/>
        </p:nvSpPr>
        <p:spPr>
          <a:xfrm>
            <a:off x="276225" y="3393947"/>
            <a:ext cx="5106937" cy="194310"/>
          </a:xfrm>
          <a:prstGeom prst="rect">
            <a:avLst/>
          </a:prstGeom>
          <a:noFill/>
        </p:spPr>
        <p:txBody>
          <a:bodyPr wrap="none" lIns="0" rIns="0" tIns="0" bIns="0">
            <a:spAutoFit/>
          </a:bodyPr>
          <a:lstStyle/>
          <a:p>
            <a:r>
              <a:rPr sz="1150" b="0">
                <a:solidFill>
                  <a:srgbClr val="2E2E2E"/>
                </a:solidFill>
                <a:latin typeface="Calibri"/>
              </a:rPr>
              <a:t>In terms of volume share by country, U.S. is expected to dominate the market, losing</a:t>
            </a:r>
          </a:p>
        </p:txBody>
      </p:sp>
      <p:pic>
        <p:nvPicPr>
          <p:cNvPr id="25" name="Picture 24" descr="lock.png"/>
          <p:cNvPicPr>
            <a:picLocks noChangeAspect="1"/>
          </p:cNvPicPr>
          <p:nvPr/>
        </p:nvPicPr>
        <p:blipFill>
          <a:blip r:embed="rId4"/>
          <a:stretch>
            <a:fillRect/>
          </a:stretch>
        </p:blipFill>
        <p:spPr>
          <a:xfrm>
            <a:off x="5332316" y="3383724"/>
            <a:ext cx="134549" cy="195707"/>
          </a:xfrm>
          <a:prstGeom prst="rect">
            <a:avLst/>
          </a:prstGeom>
        </p:spPr>
      </p:pic>
      <p:sp>
        <p:nvSpPr>
          <p:cNvPr id="26" name="TextBox 25"/>
          <p:cNvSpPr txBox="1"/>
          <p:nvPr/>
        </p:nvSpPr>
        <p:spPr>
          <a:xfrm>
            <a:off x="5507426" y="3393947"/>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27" name="Picture 26" descr="lock.png"/>
          <p:cNvPicPr>
            <a:picLocks noChangeAspect="1"/>
          </p:cNvPicPr>
          <p:nvPr/>
        </p:nvPicPr>
        <p:blipFill>
          <a:blip r:embed="rId4"/>
          <a:stretch>
            <a:fillRect/>
          </a:stretch>
        </p:blipFill>
        <p:spPr>
          <a:xfrm>
            <a:off x="6902569" y="3383724"/>
            <a:ext cx="134549" cy="195707"/>
          </a:xfrm>
          <a:prstGeom prst="rect">
            <a:avLst/>
          </a:prstGeom>
        </p:spPr>
      </p:pic>
      <p:sp>
        <p:nvSpPr>
          <p:cNvPr id="28" name="TextBox 27"/>
          <p:cNvSpPr txBox="1"/>
          <p:nvPr/>
        </p:nvSpPr>
        <p:spPr>
          <a:xfrm>
            <a:off x="7077678" y="3393947"/>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Egg Protein Membrane Market Share Analysis, By Country Value (US$ Mn)</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and share by country, 2021–2036, highlighting the geographies gaining and ceding ground</a:t>
            </a:r>
          </a:p>
        </p:txBody>
      </p:sp>
      <p:sp>
        <p:nvSpPr>
          <p:cNvPr id="7" name="Rounded Rectangle 6"/>
          <p:cNvSpPr/>
          <p:nvPr/>
        </p:nvSpPr>
        <p:spPr>
          <a:xfrm>
            <a:off x="142875" y="981075"/>
            <a:ext cx="11906250" cy="1457325"/>
          </a:xfrm>
          <a:prstGeom prst="roundRect">
            <a:avLst>
              <a:gd name="adj" fmla="val 522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Market Size, By Country (US$ Mn)</a:t>
            </a:r>
          </a:p>
        </p:txBody>
      </p:sp>
      <p:graphicFrame>
        <p:nvGraphicFramePr>
          <p:cNvPr id="9" name="Table 8"/>
          <p:cNvGraphicFramePr>
            <a:graphicFrameLocks noGrp="1"/>
          </p:cNvGraphicFramePr>
          <p:nvPr/>
        </p:nvGraphicFramePr>
        <p:xfrm>
          <a:off x="152400" y="1238250"/>
          <a:ext cx="11887200" cy="990600"/>
        </p:xfrm>
        <a:graphic>
          <a:graphicData uri="http://schemas.openxmlformats.org/drawingml/2006/table">
            <a:tbl>
              <a:tblPr>
                <a:tableStyleId>{5C22544A-7EE6-4342-B048-85BDC9FD1C3A}</a:tableStyleId>
              </a:tblPr>
              <a:tblGrid>
                <a:gridCol w="696253"/>
                <a:gridCol w="658291"/>
                <a:gridCol w="658291"/>
                <a:gridCol w="658291"/>
                <a:gridCol w="658291"/>
                <a:gridCol w="658291"/>
                <a:gridCol w="658291"/>
                <a:gridCol w="658291"/>
                <a:gridCol w="658291"/>
                <a:gridCol w="658291"/>
                <a:gridCol w="658291"/>
                <a:gridCol w="658291"/>
                <a:gridCol w="658291"/>
                <a:gridCol w="658291"/>
                <a:gridCol w="658291"/>
                <a:gridCol w="658291"/>
                <a:gridCol w="658291"/>
                <a:gridCol w="658291"/>
              </a:tblGrid>
              <a:tr h="246126">
                <a:tc>
                  <a:txBody>
                    <a:bodyPr wrap="none"/>
                    <a:lstStyle/>
                    <a:p>
                      <a:pPr algn="l"/>
                      <a:r>
                        <a:rPr sz="1100" b="1">
                          <a:solidFill>
                            <a:srgbClr val="0E2A5C"/>
                          </a:solidFill>
                          <a:latin typeface="Calibri"/>
                        </a:rPr>
                        <a:t>Country</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2021A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2022A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2023A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2024A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2025A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2026E</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2027F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2028F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2029F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2030F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2031F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2032F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2033F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2034F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2035F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2036F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F-CAGR</a:t>
                      </a:r>
                      <a:endParaRPr sz="1100"/>
                    </a:p>
                  </a:txBody>
                  <a:tcPr marL="47625" marR="38100" marT="19050" marB="19050" anchor="ctr">
                    <a:solidFill>
                      <a:srgbClr val="EBF2F9"/>
                    </a:solidFill>
                  </a:tcPr>
                </a:tc>
              </a:tr>
              <a:tr h="248158">
                <a:tc>
                  <a:txBody>
                    <a:bodyPr wrap="none"/>
                    <a:lstStyle/>
                    <a:p>
                      <a:pPr algn="l"/>
                      <a:r>
                        <a:rPr sz="1100" b="1">
                          <a:solidFill>
                            <a:srgbClr val="2E2E2E"/>
                          </a:solidFill>
                          <a:latin typeface="Calibri"/>
                        </a:rPr>
                        <a:t>U.S.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8158">
                <a:tc>
                  <a:txBody>
                    <a:bodyPr wrap="none"/>
                    <a:lstStyle/>
                    <a:p>
                      <a:pPr algn="l"/>
                      <a:r>
                        <a:rPr sz="1100" b="1">
                          <a:solidFill>
                            <a:srgbClr val="2E2E2E"/>
                          </a:solidFill>
                          <a:latin typeface="Calibri"/>
                        </a:rPr>
                        <a:t>Canada</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8158">
                <a:tc>
                  <a:txBody>
                    <a:bodyPr wrap="none"/>
                    <a:lstStyle/>
                    <a:p>
                      <a:pPr algn="l"/>
                      <a:r>
                        <a:rPr sz="1100" b="1">
                          <a:solidFill>
                            <a:srgbClr val="2E2E2E"/>
                          </a:solidFill>
                          <a:latin typeface="Calibri"/>
                        </a:rPr>
                        <a:t>Total</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r>
            </a:tbl>
          </a:graphicData>
        </a:graphic>
      </p:graphicFrame>
      <p:sp>
        <p:nvSpPr>
          <p:cNvPr id="10" name="TextBox 9"/>
          <p:cNvSpPr txBox="1"/>
          <p:nvPr/>
        </p:nvSpPr>
        <p:spPr>
          <a:xfrm>
            <a:off x="219075" y="223837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11" name="Rounded Rectangle 10"/>
          <p:cNvSpPr/>
          <p:nvPr/>
        </p:nvSpPr>
        <p:spPr>
          <a:xfrm>
            <a:off x="142875" y="2571750"/>
            <a:ext cx="11906250" cy="4057650"/>
          </a:xfrm>
          <a:prstGeom prst="roundRect">
            <a:avLst>
              <a:gd name="adj" fmla="val 1877"/>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6225" y="2657475"/>
            <a:ext cx="11639550" cy="209550"/>
          </a:xfrm>
          <a:prstGeom prst="rect">
            <a:avLst/>
          </a:prstGeom>
          <a:noFill/>
        </p:spPr>
        <p:txBody>
          <a:bodyPr wrap="square" lIns="0" rIns="19050" tIns="9525" bIns="9525">
            <a:spAutoFit/>
          </a:bodyPr>
          <a:lstStyle/>
          <a:p>
            <a:pPr algn="l"/>
            <a:r>
              <a:rPr sz="1300" b="1">
                <a:solidFill>
                  <a:srgbClr val="0E2A5C"/>
                </a:solidFill>
                <a:latin typeface="Calibri"/>
              </a:rPr>
              <a:t>North America Value Share Read-out, By Country</a:t>
            </a:r>
          </a:p>
        </p:txBody>
      </p:sp>
      <p:sp>
        <p:nvSpPr>
          <p:cNvPr id="13" name="Rectangle 12"/>
          <p:cNvSpPr/>
          <p:nvPr/>
        </p:nvSpPr>
        <p:spPr>
          <a:xfrm>
            <a:off x="276225" y="2895600"/>
            <a:ext cx="116395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6225" y="2981325"/>
            <a:ext cx="11639550" cy="357187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5" name="Rectangle 14"/>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7" name="Picture 16" descr="lock.png"/>
          <p:cNvPicPr>
            <a:picLocks noChangeAspect="1"/>
          </p:cNvPicPr>
          <p:nvPr/>
        </p:nvPicPr>
        <p:blipFill>
          <a:blip r:embed="rId4"/>
          <a:stretch>
            <a:fillRect/>
          </a:stretch>
        </p:blipFill>
        <p:spPr>
          <a:xfrm>
            <a:off x="6257436" y="1589913"/>
            <a:ext cx="366712" cy="533400"/>
          </a:xfrm>
          <a:prstGeom prst="rect">
            <a:avLst/>
          </a:prstGeom>
        </p:spPr>
      </p:pic>
      <p:sp>
        <p:nvSpPr>
          <p:cNvPr id="18" name="TextBox 17"/>
          <p:cNvSpPr txBox="1"/>
          <p:nvPr/>
        </p:nvSpPr>
        <p:spPr>
          <a:xfrm>
            <a:off x="276225" y="2990850"/>
            <a:ext cx="3801616" cy="194310"/>
          </a:xfrm>
          <a:prstGeom prst="rect">
            <a:avLst/>
          </a:prstGeom>
          <a:noFill/>
        </p:spPr>
        <p:txBody>
          <a:bodyPr wrap="none" lIns="0" rIns="0" tIns="0" bIns="0">
            <a:spAutoFit/>
          </a:bodyPr>
          <a:lstStyle/>
          <a:p>
            <a:r>
              <a:rPr sz="1150" b="0">
                <a:solidFill>
                  <a:srgbClr val="2E2E2E"/>
                </a:solidFill>
                <a:latin typeface="Calibri"/>
              </a:rPr>
              <a:t>The U.S. egg protein membrane market is projected to register</a:t>
            </a:r>
          </a:p>
        </p:txBody>
      </p:sp>
      <p:pic>
        <p:nvPicPr>
          <p:cNvPr id="19" name="Picture 18" descr="lock.png"/>
          <p:cNvPicPr>
            <a:picLocks noChangeAspect="1"/>
          </p:cNvPicPr>
          <p:nvPr/>
        </p:nvPicPr>
        <p:blipFill>
          <a:blip r:embed="rId4"/>
          <a:stretch>
            <a:fillRect/>
          </a:stretch>
        </p:blipFill>
        <p:spPr>
          <a:xfrm>
            <a:off x="4026994" y="2980626"/>
            <a:ext cx="134549" cy="195707"/>
          </a:xfrm>
          <a:prstGeom prst="rect">
            <a:avLst/>
          </a:prstGeom>
        </p:spPr>
      </p:pic>
      <p:sp>
        <p:nvSpPr>
          <p:cNvPr id="20" name="TextBox 19"/>
          <p:cNvSpPr txBox="1"/>
          <p:nvPr/>
        </p:nvSpPr>
        <p:spPr>
          <a:xfrm>
            <a:off x="4202104" y="2990850"/>
            <a:ext cx="7653381" cy="194310"/>
          </a:xfrm>
          <a:prstGeom prst="rect">
            <a:avLst/>
          </a:prstGeom>
          <a:noFill/>
        </p:spPr>
        <p:txBody>
          <a:bodyPr wrap="none" lIns="0" rIns="0" tIns="0" bIns="0">
            <a:spAutoFit/>
          </a:bodyPr>
          <a:lstStyle/>
          <a:p>
            <a:r>
              <a:rPr sz="1150" b="0">
                <a:solidFill>
                  <a:srgbClr val="2E2E2E"/>
                </a:solidFill>
                <a:latin typeface="Calibri"/>
              </a:rPr>
              <a:t>X higher value than Canada in 2036. Among egg protein membrane by country, Canada is expected to witness the highest CAGR</a:t>
            </a:r>
          </a:p>
        </p:txBody>
      </p:sp>
      <p:sp>
        <p:nvSpPr>
          <p:cNvPr id="21" name="TextBox 20"/>
          <p:cNvSpPr txBox="1"/>
          <p:nvPr/>
        </p:nvSpPr>
        <p:spPr>
          <a:xfrm>
            <a:off x="276225" y="3166110"/>
            <a:ext cx="197718" cy="194310"/>
          </a:xfrm>
          <a:prstGeom prst="rect">
            <a:avLst/>
          </a:prstGeom>
          <a:noFill/>
        </p:spPr>
        <p:txBody>
          <a:bodyPr wrap="none" lIns="0" rIns="0" tIns="0" bIns="0">
            <a:spAutoFit/>
          </a:bodyPr>
          <a:lstStyle/>
          <a:p>
            <a:r>
              <a:rPr sz="1150" b="0">
                <a:solidFill>
                  <a:srgbClr val="2E2E2E"/>
                </a:solidFill>
                <a:latin typeface="Calibri"/>
              </a:rPr>
              <a:t>of</a:t>
            </a:r>
          </a:p>
        </p:txBody>
      </p:sp>
      <p:pic>
        <p:nvPicPr>
          <p:cNvPr id="22" name="Picture 21" descr="lock.png"/>
          <p:cNvPicPr>
            <a:picLocks noChangeAspect="1"/>
          </p:cNvPicPr>
          <p:nvPr/>
        </p:nvPicPr>
        <p:blipFill>
          <a:blip r:embed="rId4"/>
          <a:stretch>
            <a:fillRect/>
          </a:stretch>
        </p:blipFill>
        <p:spPr>
          <a:xfrm>
            <a:off x="423097" y="3155886"/>
            <a:ext cx="134549" cy="195707"/>
          </a:xfrm>
          <a:prstGeom prst="rect">
            <a:avLst/>
          </a:prstGeom>
        </p:spPr>
      </p:pic>
      <p:sp>
        <p:nvSpPr>
          <p:cNvPr id="23" name="TextBox 22"/>
          <p:cNvSpPr txBox="1"/>
          <p:nvPr/>
        </p:nvSpPr>
        <p:spPr>
          <a:xfrm>
            <a:off x="598206" y="3166110"/>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24" name="TextBox 23"/>
          <p:cNvSpPr txBox="1"/>
          <p:nvPr/>
        </p:nvSpPr>
        <p:spPr>
          <a:xfrm>
            <a:off x="276225" y="3393947"/>
            <a:ext cx="4983137" cy="194310"/>
          </a:xfrm>
          <a:prstGeom prst="rect">
            <a:avLst/>
          </a:prstGeom>
          <a:noFill/>
        </p:spPr>
        <p:txBody>
          <a:bodyPr wrap="none" lIns="0" rIns="0" tIns="0" bIns="0">
            <a:spAutoFit/>
          </a:bodyPr>
          <a:lstStyle/>
          <a:p>
            <a:r>
              <a:rPr sz="1150" b="0">
                <a:solidFill>
                  <a:srgbClr val="2E2E2E"/>
                </a:solidFill>
                <a:latin typeface="Calibri"/>
              </a:rPr>
              <a:t>In terms of value share by country, U.S. is expected to dominate the market, losing</a:t>
            </a:r>
          </a:p>
        </p:txBody>
      </p:sp>
      <p:pic>
        <p:nvPicPr>
          <p:cNvPr id="25" name="Picture 24" descr="lock.png"/>
          <p:cNvPicPr>
            <a:picLocks noChangeAspect="1"/>
          </p:cNvPicPr>
          <p:nvPr/>
        </p:nvPicPr>
        <p:blipFill>
          <a:blip r:embed="rId4"/>
          <a:stretch>
            <a:fillRect/>
          </a:stretch>
        </p:blipFill>
        <p:spPr>
          <a:xfrm>
            <a:off x="5208516" y="3383724"/>
            <a:ext cx="134549" cy="195707"/>
          </a:xfrm>
          <a:prstGeom prst="rect">
            <a:avLst/>
          </a:prstGeom>
        </p:spPr>
      </p:pic>
      <p:sp>
        <p:nvSpPr>
          <p:cNvPr id="26" name="TextBox 25"/>
          <p:cNvSpPr txBox="1"/>
          <p:nvPr/>
        </p:nvSpPr>
        <p:spPr>
          <a:xfrm>
            <a:off x="5383625" y="3393947"/>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27" name="Picture 26" descr="lock.png"/>
          <p:cNvPicPr>
            <a:picLocks noChangeAspect="1"/>
          </p:cNvPicPr>
          <p:nvPr/>
        </p:nvPicPr>
        <p:blipFill>
          <a:blip r:embed="rId4"/>
          <a:stretch>
            <a:fillRect/>
          </a:stretch>
        </p:blipFill>
        <p:spPr>
          <a:xfrm>
            <a:off x="6778769" y="3383724"/>
            <a:ext cx="134549" cy="195707"/>
          </a:xfrm>
          <a:prstGeom prst="rect">
            <a:avLst/>
          </a:prstGeom>
        </p:spPr>
      </p:pic>
      <p:sp>
        <p:nvSpPr>
          <p:cNvPr id="28" name="TextBox 27"/>
          <p:cNvSpPr txBox="1"/>
          <p:nvPr/>
        </p:nvSpPr>
        <p:spPr>
          <a:xfrm>
            <a:off x="6953878" y="3393947"/>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Egg Protein Membrane Market Trends, By Country</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how country volume and value shares shift over 2021–2036, highlighting who gains ground</a:t>
            </a:r>
          </a:p>
        </p:txBody>
      </p:sp>
      <p:sp>
        <p:nvSpPr>
          <p:cNvPr id="7" name="Rounded Rectangle 6"/>
          <p:cNvSpPr/>
          <p:nvPr/>
        </p:nvSpPr>
        <p:spPr>
          <a:xfrm>
            <a:off x="142875" y="981075"/>
            <a:ext cx="11906250"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Volume By Country (MT)</a:t>
            </a:r>
          </a:p>
        </p:txBody>
      </p:sp>
      <p:graphicFrame>
        <p:nvGraphicFramePr>
          <p:cNvPr id="9" name="Chart 8"/>
          <p:cNvGraphicFramePr>
            <a:graphicFrameLocks noGrp="1"/>
          </p:cNvGraphicFramePr>
          <p:nvPr/>
        </p:nvGraphicFramePr>
        <p:xfrm>
          <a:off x="238125" y="1266825"/>
          <a:ext cx="11715750" cy="2409825"/>
        </p:xfrm>
        <a:graphic>
          <a:graphicData uri="http://schemas.openxmlformats.org/drawingml/2006/chart">
            <c:chart xmlns:c="http://schemas.openxmlformats.org/drawingml/2006/chart" r:id="rId3"/>
          </a:graphicData>
        </a:graphic>
      </p:graphicFrame>
      <p:sp>
        <p:nvSpPr>
          <p:cNvPr id="10" name="Rounded Rectangle 9"/>
          <p:cNvSpPr/>
          <p:nvPr/>
        </p:nvSpPr>
        <p:spPr>
          <a:xfrm>
            <a:off x="142875" y="3867150"/>
            <a:ext cx="11906250"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3924300"/>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By Country (US$ Mn)</a:t>
            </a:r>
          </a:p>
        </p:txBody>
      </p:sp>
      <p:graphicFrame>
        <p:nvGraphicFramePr>
          <p:cNvPr id="12" name="Chart 11"/>
          <p:cNvGraphicFramePr>
            <a:graphicFrameLocks noGrp="1"/>
          </p:cNvGraphicFramePr>
          <p:nvPr/>
        </p:nvGraphicFramePr>
        <p:xfrm>
          <a:off x="238125" y="4152900"/>
          <a:ext cx="11715750" cy="2409825"/>
        </p:xfrm>
        <a:graphic>
          <a:graphicData uri="http://schemas.openxmlformats.org/drawingml/2006/chart">
            <c:chart xmlns:c="http://schemas.openxmlformats.org/drawingml/2006/chart" r:id="rId4"/>
          </a:graphicData>
        </a:graphic>
      </p:graphicFrame>
      <p:sp>
        <p:nvSpPr>
          <p:cNvPr id="13" name="Rectangle 12"/>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5" name="Picture 14" descr="lock.png"/>
          <p:cNvPicPr>
            <a:picLocks noChangeAspect="1"/>
          </p:cNvPicPr>
          <p:nvPr/>
        </p:nvPicPr>
        <p:blipFill>
          <a:blip r:embed="rId6"/>
          <a:stretch>
            <a:fillRect/>
          </a:stretch>
        </p:blipFill>
        <p:spPr>
          <a:xfrm>
            <a:off x="6058646" y="2026489"/>
            <a:ext cx="363375" cy="528545"/>
          </a:xfrm>
          <a:prstGeom prst="rect">
            <a:avLst/>
          </a:prstGeom>
        </p:spPr>
      </p:pic>
      <p:pic>
        <p:nvPicPr>
          <p:cNvPr id="16" name="Picture 15" descr="lock.png"/>
          <p:cNvPicPr>
            <a:picLocks noChangeAspect="1"/>
          </p:cNvPicPr>
          <p:nvPr/>
        </p:nvPicPr>
        <p:blipFill>
          <a:blip r:embed="rId6"/>
          <a:stretch>
            <a:fillRect/>
          </a:stretch>
        </p:blipFill>
        <p:spPr>
          <a:xfrm>
            <a:off x="6058646" y="4912564"/>
            <a:ext cx="363375" cy="528545"/>
          </a:xfrm>
          <a:prstGeom prst="rect">
            <a:avLst/>
          </a:prstGeom>
        </p:spPr>
      </p:pic>
      <p:sp>
        <p:nvSpPr>
          <p:cNvPr id="17" name="lockshield_9"/>
          <p:cNvSpPr/>
          <p:nvPr/>
        </p:nvSpPr>
        <p:spPr>
          <a:xfrm>
            <a:off x="238125" y="1266825"/>
            <a:ext cx="11715750"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lockshield_12"/>
          <p:cNvSpPr/>
          <p:nvPr/>
        </p:nvSpPr>
        <p:spPr>
          <a:xfrm>
            <a:off x="238125" y="4152900"/>
            <a:ext cx="11715750"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Egg Protein Membrane Market Top 2 Countries (2036)</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Country hierarchy of the North America market in 2036, highlighting the leading countries within each region by value</a:t>
            </a:r>
          </a:p>
        </p:txBody>
      </p:sp>
      <p:sp>
        <p:nvSpPr>
          <p:cNvPr id="7" name="Rounded Rectangle 6"/>
          <p:cNvSpPr/>
          <p:nvPr/>
        </p:nvSpPr>
        <p:spPr>
          <a:xfrm>
            <a:off x="142875" y="981075"/>
            <a:ext cx="11906250" cy="5648325"/>
          </a:xfrm>
          <a:prstGeom prst="roundRect">
            <a:avLst>
              <a:gd name="adj" fmla="val 134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market by country  ·  2036 (US$ Mn)  ·  tile size = market value</a:t>
            </a:r>
          </a:p>
        </p:txBody>
      </p:sp>
      <p:sp>
        <p:nvSpPr>
          <p:cNvPr id="9" name="Rectangle 8"/>
          <p:cNvSpPr/>
          <p:nvPr/>
        </p:nvSpPr>
        <p:spPr>
          <a:xfrm>
            <a:off x="238125" y="1266825"/>
            <a:ext cx="7899386" cy="5305425"/>
          </a:xfrm>
          <a:prstGeom prst="rect">
            <a:avLst/>
          </a:prstGeom>
          <a:solidFill>
            <a:srgbClr val="2A5F8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U.S.</a:t>
            </a:r>
          </a:p>
          <a:p>
            <a:pPr algn="ctr"/>
            <a:r>
              <a:rPr sz="1100" b="0">
                <a:solidFill>
                  <a:srgbClr val="FFFFFF"/>
                </a:solidFill>
                <a:latin typeface="Calibri"/>
              </a:rPr>
              <a:t> </a:t>
            </a:r>
          </a:p>
        </p:txBody>
      </p:sp>
      <p:sp>
        <p:nvSpPr>
          <p:cNvPr id="10" name="Rectangle 9"/>
          <p:cNvSpPr/>
          <p:nvPr/>
        </p:nvSpPr>
        <p:spPr>
          <a:xfrm>
            <a:off x="8137511" y="1266825"/>
            <a:ext cx="3816364" cy="5305425"/>
          </a:xfrm>
          <a:prstGeom prst="rect">
            <a:avLst/>
          </a:prstGeom>
          <a:solidFill>
            <a:srgbClr val="0081E2"/>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Canada</a:t>
            </a:r>
          </a:p>
          <a:p>
            <a:pPr algn="ctr"/>
            <a:r>
              <a:rPr sz="1100" b="0">
                <a:solidFill>
                  <a:srgbClr val="FFFFFF"/>
                </a:solidFill>
                <a:latin typeface="Calibri"/>
              </a:rPr>
              <a:t> </a:t>
            </a:r>
          </a:p>
        </p:txBody>
      </p:sp>
      <p:sp>
        <p:nvSpPr>
          <p:cNvPr id="11" name="Rectangle 10"/>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3" name="Picture 12" descr="lock.png"/>
          <p:cNvPicPr>
            <a:picLocks noChangeAspect="1"/>
          </p:cNvPicPr>
          <p:nvPr/>
        </p:nvPicPr>
        <p:blipFill>
          <a:blip r:embed="rId4"/>
          <a:stretch>
            <a:fillRect/>
          </a:stretch>
        </p:blipFill>
        <p:spPr>
          <a:xfrm>
            <a:off x="4130192" y="3919537"/>
            <a:ext cx="115252" cy="167639"/>
          </a:xfrm>
          <a:prstGeom prst="rect">
            <a:avLst/>
          </a:prstGeom>
        </p:spPr>
      </p:pic>
      <p:pic>
        <p:nvPicPr>
          <p:cNvPr id="14" name="Picture 13" descr="lock.png"/>
          <p:cNvPicPr>
            <a:picLocks noChangeAspect="1"/>
          </p:cNvPicPr>
          <p:nvPr/>
        </p:nvPicPr>
        <p:blipFill>
          <a:blip r:embed="rId4"/>
          <a:stretch>
            <a:fillRect/>
          </a:stretch>
        </p:blipFill>
        <p:spPr>
          <a:xfrm>
            <a:off x="9988066" y="3919537"/>
            <a:ext cx="115252" cy="167639"/>
          </a:xfrm>
          <a:prstGeom prst="rect">
            <a:avLst/>
          </a:prstGeom>
        </p:spPr>
      </p:pic>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bg>
      <p:bgPr>
        <a:solidFill>
          <a:srgbClr val="F3F8FD"/>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3F8FD"/>
              </a:gs>
              <a:gs pos="100000">
                <a:srgbClr val="DCE9F6"/>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FE0F0">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9C8E6">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B7D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A5F8F"/>
              </a:gs>
              <a:gs pos="100000">
                <a:srgbClr val="6FA6D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MR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11</a:t>
            </a:r>
          </a:p>
        </p:txBody>
      </p:sp>
      <p:pic>
        <p:nvPicPr>
          <p:cNvPr id="8" name="Picture 7" descr="tmr_logo.png"/>
          <p:cNvPicPr>
            <a:picLocks noChangeAspect="1"/>
          </p:cNvPicPr>
          <p:nvPr/>
        </p:nvPicPr>
        <p:blipFill>
          <a:blip r:embed="rId2"/>
          <a:stretch>
            <a:fillRect/>
          </a:stretch>
        </p:blipFill>
        <p:spPr>
          <a:xfrm>
            <a:off x="411480" y="274320"/>
            <a:ext cx="1307592" cy="975505"/>
          </a:xfrm>
          <a:prstGeom prst="rect">
            <a:avLst/>
          </a:prstGeom>
        </p:spPr>
      </p:pic>
      <p:sp>
        <p:nvSpPr>
          <p:cNvPr id="9" name="TextBox 8"/>
          <p:cNvSpPr txBox="1"/>
          <p:nvPr/>
        </p:nvSpPr>
        <p:spPr>
          <a:xfrm>
            <a:off x="914400" y="2162175"/>
            <a:ext cx="8572500" cy="304800"/>
          </a:xfrm>
          <a:prstGeom prst="rect">
            <a:avLst/>
          </a:prstGeom>
          <a:noFill/>
        </p:spPr>
        <p:txBody>
          <a:bodyPr wrap="none" lIns="0" tIns="0">
            <a:spAutoFit/>
          </a:bodyPr>
          <a:lstStyle/>
          <a:p>
            <a:r>
              <a:rPr sz="1800" b="0">
                <a:solidFill>
                  <a:srgbClr val="2A5F8F"/>
                </a:solidFill>
                <a:latin typeface="Calibri"/>
              </a:rPr>
              <a:t>Egg Protein Membrane Market</a:t>
            </a:r>
          </a:p>
        </p:txBody>
      </p:sp>
      <p:sp>
        <p:nvSpPr>
          <p:cNvPr id="10" name="TMR Section Title"/>
          <p:cNvSpPr txBox="1"/>
          <p:nvPr/>
        </p:nvSpPr>
        <p:spPr>
          <a:xfrm>
            <a:off x="914400" y="2505075"/>
            <a:ext cx="8572500" cy="514350"/>
          </a:xfrm>
          <a:prstGeom prst="rect">
            <a:avLst/>
          </a:prstGeom>
          <a:noFill/>
        </p:spPr>
        <p:txBody>
          <a:bodyPr wrap="square" lIns="0" rIns="0" tIns="0">
            <a:spAutoFit/>
          </a:bodyPr>
          <a:lstStyle/>
          <a:p>
            <a:r>
              <a:rPr sz="3000" b="1">
                <a:solidFill>
                  <a:srgbClr val="0E2A5C"/>
                </a:solidFill>
                <a:latin typeface="Calibri"/>
              </a:rPr>
              <a:t>North America Market Analysis By Segments</a:t>
            </a:r>
          </a:p>
        </p:txBody>
      </p:sp>
      <p:sp>
        <p:nvSpPr>
          <p:cNvPr id="11" name="TextBox 10"/>
          <p:cNvSpPr txBox="1"/>
          <p:nvPr/>
        </p:nvSpPr>
        <p:spPr>
          <a:xfrm>
            <a:off x="914400" y="3190875"/>
            <a:ext cx="8458200" cy="24574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Product Type</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Extraction / Processing Method</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Source</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Form</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Application</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Sales Channel</a:t>
            </a:r>
          </a:p>
        </p:txBody>
      </p:sp>
      <p:sp>
        <p:nvSpPr>
          <p:cNvPr id="12" name="Rectangle 11"/>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bg>
      <p:bgPr>
        <a:solidFill>
          <a:srgbClr val="F3F8FD"/>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3F8FD"/>
              </a:gs>
              <a:gs pos="100000">
                <a:srgbClr val="DCE9F6"/>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FE0F0">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9C8E6">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B7D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A5F8F"/>
              </a:gs>
              <a:gs pos="100000">
                <a:srgbClr val="6FA6D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MR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11.1</a:t>
            </a:r>
          </a:p>
        </p:txBody>
      </p:sp>
      <p:pic>
        <p:nvPicPr>
          <p:cNvPr id="8" name="Picture 7" descr="tmr_logo.png"/>
          <p:cNvPicPr>
            <a:picLocks noChangeAspect="1"/>
          </p:cNvPicPr>
          <p:nvPr/>
        </p:nvPicPr>
        <p:blipFill>
          <a:blip r:embed="rId2"/>
          <a:stretch>
            <a:fillRect/>
          </a:stretch>
        </p:blipFill>
        <p:spPr>
          <a:xfrm>
            <a:off x="411480" y="274320"/>
            <a:ext cx="1307592" cy="975505"/>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2A5F8F"/>
                </a:solidFill>
                <a:latin typeface="Calibri"/>
              </a:rPr>
              <a:t>Egg Protein Membrane Market</a:t>
            </a:r>
          </a:p>
        </p:txBody>
      </p:sp>
      <p:sp>
        <p:nvSpPr>
          <p:cNvPr id="10" name="TMR Section Title"/>
          <p:cNvSpPr txBox="1"/>
          <p:nvPr/>
        </p:nvSpPr>
        <p:spPr>
          <a:xfrm>
            <a:off x="914400" y="2701925"/>
            <a:ext cx="8572500" cy="514350"/>
          </a:xfrm>
          <a:prstGeom prst="rect">
            <a:avLst/>
          </a:prstGeom>
          <a:noFill/>
        </p:spPr>
        <p:txBody>
          <a:bodyPr wrap="square" lIns="0" rIns="0" tIns="0">
            <a:spAutoFit/>
          </a:bodyPr>
          <a:lstStyle/>
          <a:p>
            <a:r>
              <a:rPr sz="3000" b="1">
                <a:solidFill>
                  <a:srgbClr val="0E2A5C"/>
                </a:solidFill>
                <a:latin typeface="Calibri"/>
              </a:rPr>
              <a:t>Product Type</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Product Type Segment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Structure &amp; Attractiveness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Value Analysis</a:t>
            </a:r>
          </a:p>
        </p:txBody>
      </p:sp>
      <p:sp>
        <p:nvSpPr>
          <p:cNvPr id="12" name="Rectangle 11"/>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By Product Type Segment Outlook</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Segment analysis of market size, growth and share across 3 sub-segments of Product Type, 2026–2036</a:t>
            </a:r>
          </a:p>
        </p:txBody>
      </p:sp>
      <p:sp>
        <p:nvSpPr>
          <p:cNvPr id="7" name="TextBox 6"/>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Product Type segment categorizes the market by product type. Each sub-category is evaluated on market size, growth outlook and adoption trends across the forecast period.</a:t>
            </a:r>
          </a:p>
        </p:txBody>
      </p:sp>
      <p:sp>
        <p:nvSpPr>
          <p:cNvPr id="8" name="Rectangle 7"/>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Sub-Segment</a:t>
            </a:r>
          </a:p>
        </p:txBody>
      </p:sp>
      <p:sp>
        <p:nvSpPr>
          <p:cNvPr id="10" name="Rectangle 9"/>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2" name="Rectangle 11"/>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4" name="Rectangle 13"/>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16" name="Rounded Rectangle 15"/>
          <p:cNvSpPr/>
          <p:nvPr/>
        </p:nvSpPr>
        <p:spPr>
          <a:xfrm>
            <a:off x="1866900" y="1773916"/>
            <a:ext cx="3257550"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866900" y="1992961"/>
            <a:ext cx="3257550"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90500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Calibri"/>
              </a:rPr>
              <a:t>Specialty Extracted Protein Fract…</a:t>
            </a:r>
          </a:p>
        </p:txBody>
      </p:sp>
      <p:sp>
        <p:nvSpPr>
          <p:cNvPr id="19" name="Rectangle 18"/>
          <p:cNvSpPr/>
          <p:nvPr/>
        </p:nvSpPr>
        <p:spPr>
          <a:xfrm>
            <a:off x="186690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0" name="Rectangle 19"/>
          <p:cNvSpPr/>
          <p:nvPr/>
        </p:nvSpPr>
        <p:spPr>
          <a:xfrm>
            <a:off x="186690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1" name="Rectangle 20"/>
          <p:cNvSpPr/>
          <p:nvPr/>
        </p:nvSpPr>
        <p:spPr>
          <a:xfrm>
            <a:off x="186690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2" name="Oval 21"/>
          <p:cNvSpPr/>
          <p:nvPr/>
        </p:nvSpPr>
        <p:spPr>
          <a:xfrm>
            <a:off x="3333750"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23" name="Rounded Rectangle 22"/>
          <p:cNvSpPr/>
          <p:nvPr/>
        </p:nvSpPr>
        <p:spPr>
          <a:xfrm>
            <a:off x="5238750" y="1773916"/>
            <a:ext cx="3257550"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238750" y="1992961"/>
            <a:ext cx="3257550"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7685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Calibri"/>
              </a:rPr>
              <a:t>Micronized Eggshell Membrane</a:t>
            </a:r>
          </a:p>
        </p:txBody>
      </p:sp>
      <p:sp>
        <p:nvSpPr>
          <p:cNvPr id="26" name="Rectangle 25"/>
          <p:cNvSpPr/>
          <p:nvPr/>
        </p:nvSpPr>
        <p:spPr>
          <a:xfrm>
            <a:off x="523875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27" name="Rectangle 26"/>
          <p:cNvSpPr/>
          <p:nvPr/>
        </p:nvSpPr>
        <p:spPr>
          <a:xfrm>
            <a:off x="523875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28" name="Rectangle 27"/>
          <p:cNvSpPr/>
          <p:nvPr/>
        </p:nvSpPr>
        <p:spPr>
          <a:xfrm>
            <a:off x="523875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29" name="Oval 28"/>
          <p:cNvSpPr/>
          <p:nvPr/>
        </p:nvSpPr>
        <p:spPr>
          <a:xfrm>
            <a:off x="6705600"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30" name="Rounded Rectangle 29"/>
          <p:cNvSpPr/>
          <p:nvPr/>
        </p:nvSpPr>
        <p:spPr>
          <a:xfrm>
            <a:off x="8610600" y="1773916"/>
            <a:ext cx="3257550" cy="438089"/>
          </a:xfrm>
          <a:prstGeom prst="roundRect">
            <a:avLst>
              <a:gd name="adj" fmla="val 18000"/>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610600" y="1992961"/>
            <a:ext cx="3257550" cy="219044"/>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64870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Calibri"/>
              </a:rPr>
              <a:t>Hydrolyzed Eggshell Membrane</a:t>
            </a:r>
          </a:p>
        </p:txBody>
      </p:sp>
      <p:sp>
        <p:nvSpPr>
          <p:cNvPr id="33" name="Rectangle 32"/>
          <p:cNvSpPr/>
          <p:nvPr/>
        </p:nvSpPr>
        <p:spPr>
          <a:xfrm>
            <a:off x="861060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4" name="Rectangle 33"/>
          <p:cNvSpPr/>
          <p:nvPr/>
        </p:nvSpPr>
        <p:spPr>
          <a:xfrm>
            <a:off x="861060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5" name="Rectangle 34"/>
          <p:cNvSpPr/>
          <p:nvPr/>
        </p:nvSpPr>
        <p:spPr>
          <a:xfrm>
            <a:off x="861060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6" name="Oval 35"/>
          <p:cNvSpPr/>
          <p:nvPr/>
        </p:nvSpPr>
        <p:spPr>
          <a:xfrm>
            <a:off x="10077450" y="1445350"/>
            <a:ext cx="323850" cy="310313"/>
          </a:xfrm>
          <a:prstGeom prst="ellipse">
            <a:avLst/>
          </a:prstGeom>
          <a:solidFill>
            <a:srgbClr val="0081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3</a:t>
            </a:r>
          </a:p>
        </p:txBody>
      </p:sp>
      <p:sp>
        <p:nvSpPr>
          <p:cNvPr id="37" name="Rounded Rectangle 36"/>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B2E4A"/>
                </a:solidFill>
                <a:latin typeface="Calibri"/>
              </a:rPr>
              <a:t>Key Highlights</a:t>
            </a:r>
          </a:p>
        </p:txBody>
      </p:sp>
      <p:sp>
        <p:nvSpPr>
          <p:cNvPr id="39" name="Rectangle 38"/>
          <p:cNvSpPr/>
          <p:nvPr/>
        </p:nvSpPr>
        <p:spPr>
          <a:xfrm>
            <a:off x="457200" y="4146897"/>
            <a:ext cx="2971800" cy="18254"/>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57200" y="4219912"/>
            <a:ext cx="2971800" cy="2117429"/>
          </a:xfrm>
          <a:prstGeom prst="rect">
            <a:avLst/>
          </a:prstGeom>
          <a:noFill/>
        </p:spPr>
        <p:txBody>
          <a:bodyPr wrap="square" lIns="28575" rIns="28575" tIns="9525" bIns="9525">
            <a:spAutoFit/>
          </a:bodyPr>
          <a:lstStyle/>
          <a:p>
            <a:pPr algn="l">
              <a:lnSpc>
                <a:spcPct val="105000"/>
              </a:lnSpc>
              <a:spcBef>
                <a:spcPts val="0"/>
              </a:spcBef>
              <a:spcAft>
                <a:spcPts val="300"/>
              </a:spcAft>
            </a:pPr>
            <a:r>
              <a:rPr sz="1100" b="0">
                <a:solidFill>
                  <a:srgbClr val="2E2E2E"/>
                </a:solidFill>
                <a:latin typeface="Calibri"/>
              </a:rPr>
              <a:t/>
            </a:r>
          </a:p>
          <a:p>
            <a:pPr algn="l">
              <a:lnSpc>
                <a:spcPct val="105000"/>
              </a:lnSpc>
              <a:spcBef>
                <a:spcPts val="0"/>
              </a:spcBef>
              <a:spcAft>
                <a:spcPts val="300"/>
              </a:spcAft>
            </a:pPr>
            <a:r>
              <a:rPr sz="1100" b="0">
                <a:solidFill>
                  <a:srgbClr val="2E2E2E"/>
                </a:solidFill>
                <a:latin typeface="Calibri"/>
              </a:rPr>
              <a:t/>
            </a:r>
          </a:p>
        </p:txBody>
      </p:sp>
      <p:sp>
        <p:nvSpPr>
          <p:cNvPr id="41" name="Rounded Rectangle 40"/>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B2E4A"/>
                </a:solidFill>
                <a:latin typeface="Calibri"/>
              </a:rPr>
              <a:t>Sub-Segment Insights</a:t>
            </a:r>
          </a:p>
        </p:txBody>
      </p:sp>
      <p:sp>
        <p:nvSpPr>
          <p:cNvPr id="43" name="Rectangle 42"/>
          <p:cNvSpPr/>
          <p:nvPr/>
        </p:nvSpPr>
        <p:spPr>
          <a:xfrm>
            <a:off x="3810000" y="4146897"/>
            <a:ext cx="4210050" cy="18254"/>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B2E4A"/>
                </a:solidFill>
                <a:latin typeface="Calibri"/>
              </a:rPr>
              <a:t/>
            </a:r>
            <a:r>
              <a:rPr sz="1100" b="1">
                <a:solidFill>
                  <a:srgbClr val="0B2E4A"/>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1">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08189"/>
                </a:solidFill>
                <a:latin typeface="Calibri"/>
              </a:rPr>
              <a:t/>
            </a:r>
            <a:r>
              <a:rPr sz="1100" b="1">
                <a:solidFill>
                  <a:srgbClr val="008189"/>
                </a:solidFill>
                <a:latin typeface="Calibri"/>
              </a:rPr>
              <a:t/>
            </a:r>
            <a:r>
              <a:rPr sz="1100" b="0">
                <a:solidFill>
                  <a:srgbClr val="2E2E2E"/>
                </a:solidFill>
                <a:latin typeface="Calibri"/>
              </a:rPr>
              <a:t/>
            </a:r>
          </a:p>
        </p:txBody>
      </p:sp>
      <p:sp>
        <p:nvSpPr>
          <p:cNvPr id="45" name="Rounded Rectangle 44"/>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B2E4A"/>
                </a:solidFill>
                <a:latin typeface="Calibri"/>
              </a:rPr>
              <a:t>Segment Overview</a:t>
            </a:r>
          </a:p>
        </p:txBody>
      </p:sp>
      <p:sp>
        <p:nvSpPr>
          <p:cNvPr id="47" name="Rectangle 46"/>
          <p:cNvSpPr/>
          <p:nvPr/>
        </p:nvSpPr>
        <p:spPr>
          <a:xfrm>
            <a:off x="8401050" y="4146897"/>
            <a:ext cx="3333750" cy="18254"/>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00ACAC"/>
                </a:solidFill>
                <a:latin typeface="Calibri"/>
              </a:rPr>
              <a:t>✓  </a:t>
            </a:r>
            <a:r>
              <a:rPr sz="1100" b="0">
                <a:solidFill>
                  <a:srgbClr val="2E2E2E"/>
                </a:solidFill>
                <a:latin typeface="Calibri"/>
              </a:rPr>
              <a:t>The Product Type split shows how demand is distributed across product type types and where growth concentrates.</a:t>
            </a:r>
          </a:p>
          <a:p>
            <a:pPr algn="l">
              <a:lnSpc>
                <a:spcPct val="110000"/>
              </a:lnSpc>
              <a:spcBef>
                <a:spcPts val="0"/>
              </a:spcBef>
              <a:spcAft>
                <a:spcPts val="500"/>
              </a:spcAft>
            </a:pPr>
            <a:r>
              <a:rPr sz="1100" b="1">
                <a:solidFill>
                  <a:srgbClr val="00ACAC"/>
                </a:solidFill>
                <a:latin typeface="Calibri"/>
              </a:rPr>
              <a:t>✓  </a:t>
            </a:r>
            <a:r>
              <a:rPr sz="1100" b="0">
                <a:solidFill>
                  <a:srgbClr val="2E2E2E"/>
                </a:solidFill>
                <a:latin typeface="Calibri"/>
              </a:rPr>
              <a:t>Shifting preferences and product innovation are reshaping the mix through 2036.</a:t>
            </a:r>
          </a:p>
        </p:txBody>
      </p:sp>
      <p:sp>
        <p:nvSpPr>
          <p:cNvPr id="49" name="Rectangle 48"/>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B2E4A"/>
                </a:solidFill>
                <a:latin typeface="Calibri"/>
              </a:rPr>
              <a:t/>
            </a:r>
          </a:p>
        </p:txBody>
      </p:sp>
      <p:sp>
        <p:nvSpPr>
          <p:cNvPr id="51" name="TextBox 50"/>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TMR Analysis, 2026</a:t>
            </a:r>
          </a:p>
        </p:txBody>
      </p:sp>
      <p:sp>
        <p:nvSpPr>
          <p:cNvPr id="52" name="Rectangle 51"/>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54" name="Picture 53" descr="1_545_605E5C.png"/>
          <p:cNvPicPr>
            <a:picLocks noChangeAspect="1"/>
          </p:cNvPicPr>
          <p:nvPr/>
        </p:nvPicPr>
        <p:blipFill>
          <a:blip r:embed="rId4"/>
          <a:stretch>
            <a:fillRect/>
          </a:stretch>
        </p:blipFill>
        <p:spPr>
          <a:xfrm>
            <a:off x="2897811" y="2286582"/>
            <a:ext cx="1195728" cy="361950"/>
          </a:xfrm>
          <a:prstGeom prst="rect">
            <a:avLst/>
          </a:prstGeom>
        </p:spPr>
      </p:pic>
      <p:pic>
        <p:nvPicPr>
          <p:cNvPr id="55" name="Picture 54" descr="2_111_605E5C.png"/>
          <p:cNvPicPr>
            <a:picLocks noChangeAspect="1"/>
          </p:cNvPicPr>
          <p:nvPr/>
        </p:nvPicPr>
        <p:blipFill>
          <a:blip r:embed="rId5"/>
          <a:stretch>
            <a:fillRect/>
          </a:stretch>
        </p:blipFill>
        <p:spPr>
          <a:xfrm>
            <a:off x="2897811" y="2779432"/>
            <a:ext cx="1195728" cy="361950"/>
          </a:xfrm>
          <a:prstGeom prst="rect">
            <a:avLst/>
          </a:prstGeom>
        </p:spPr>
      </p:pic>
      <p:pic>
        <p:nvPicPr>
          <p:cNvPr id="56" name="Picture 55" descr="3_2__605E5C.png"/>
          <p:cNvPicPr>
            <a:picLocks noChangeAspect="1"/>
          </p:cNvPicPr>
          <p:nvPr/>
        </p:nvPicPr>
        <p:blipFill>
          <a:blip r:embed="rId6"/>
          <a:stretch>
            <a:fillRect/>
          </a:stretch>
        </p:blipFill>
        <p:spPr>
          <a:xfrm>
            <a:off x="3004457" y="3272281"/>
            <a:ext cx="982436" cy="361950"/>
          </a:xfrm>
          <a:prstGeom prst="rect">
            <a:avLst/>
          </a:prstGeom>
        </p:spPr>
      </p:pic>
      <p:pic>
        <p:nvPicPr>
          <p:cNvPr id="57" name="Picture 56" descr="1_347_605E5C.png"/>
          <p:cNvPicPr>
            <a:picLocks noChangeAspect="1"/>
          </p:cNvPicPr>
          <p:nvPr/>
        </p:nvPicPr>
        <p:blipFill>
          <a:blip r:embed="rId7"/>
          <a:stretch>
            <a:fillRect/>
          </a:stretch>
        </p:blipFill>
        <p:spPr>
          <a:xfrm>
            <a:off x="6269661" y="2286582"/>
            <a:ext cx="1195728" cy="361950"/>
          </a:xfrm>
          <a:prstGeom prst="rect">
            <a:avLst/>
          </a:prstGeom>
        </p:spPr>
      </p:pic>
      <p:pic>
        <p:nvPicPr>
          <p:cNvPr id="58" name="Picture 57" descr="2_105_605E5C.png"/>
          <p:cNvPicPr>
            <a:picLocks noChangeAspect="1"/>
          </p:cNvPicPr>
          <p:nvPr/>
        </p:nvPicPr>
        <p:blipFill>
          <a:blip r:embed="rId8"/>
          <a:stretch>
            <a:fillRect/>
          </a:stretch>
        </p:blipFill>
        <p:spPr>
          <a:xfrm>
            <a:off x="6269661" y="2779432"/>
            <a:ext cx="1195728" cy="361950"/>
          </a:xfrm>
          <a:prstGeom prst="rect">
            <a:avLst/>
          </a:prstGeom>
        </p:spPr>
      </p:pic>
      <p:pic>
        <p:nvPicPr>
          <p:cNvPr id="59" name="Picture 58" descr="4_6__605E5C.png"/>
          <p:cNvPicPr>
            <a:picLocks noChangeAspect="1"/>
          </p:cNvPicPr>
          <p:nvPr/>
        </p:nvPicPr>
        <p:blipFill>
          <a:blip r:embed="rId9"/>
          <a:stretch>
            <a:fillRect/>
          </a:stretch>
        </p:blipFill>
        <p:spPr>
          <a:xfrm>
            <a:off x="6376307" y="3272281"/>
            <a:ext cx="982436" cy="361950"/>
          </a:xfrm>
          <a:prstGeom prst="rect">
            <a:avLst/>
          </a:prstGeom>
        </p:spPr>
      </p:pic>
      <p:pic>
        <p:nvPicPr>
          <p:cNvPr id="60" name="Picture 59" descr="712_8_605E5C.png"/>
          <p:cNvPicPr>
            <a:picLocks noChangeAspect="1"/>
          </p:cNvPicPr>
          <p:nvPr/>
        </p:nvPicPr>
        <p:blipFill>
          <a:blip r:embed="rId10"/>
          <a:stretch>
            <a:fillRect/>
          </a:stretch>
        </p:blipFill>
        <p:spPr>
          <a:xfrm>
            <a:off x="9641511" y="2286582"/>
            <a:ext cx="1195728" cy="361950"/>
          </a:xfrm>
          <a:prstGeom prst="rect">
            <a:avLst/>
          </a:prstGeom>
        </p:spPr>
      </p:pic>
      <p:pic>
        <p:nvPicPr>
          <p:cNvPr id="61" name="Picture 60" descr="1_150_605E5C.png"/>
          <p:cNvPicPr>
            <a:picLocks noChangeAspect="1"/>
          </p:cNvPicPr>
          <p:nvPr/>
        </p:nvPicPr>
        <p:blipFill>
          <a:blip r:embed="rId11"/>
          <a:stretch>
            <a:fillRect/>
          </a:stretch>
        </p:blipFill>
        <p:spPr>
          <a:xfrm>
            <a:off x="9641511" y="2779432"/>
            <a:ext cx="1195728" cy="361950"/>
          </a:xfrm>
          <a:prstGeom prst="rect">
            <a:avLst/>
          </a:prstGeom>
        </p:spPr>
      </p:pic>
      <p:pic>
        <p:nvPicPr>
          <p:cNvPr id="62" name="Picture 61" descr="4_9__605E5C.png"/>
          <p:cNvPicPr>
            <a:picLocks noChangeAspect="1"/>
          </p:cNvPicPr>
          <p:nvPr/>
        </p:nvPicPr>
        <p:blipFill>
          <a:blip r:embed="rId12"/>
          <a:stretch>
            <a:fillRect/>
          </a:stretch>
        </p:blipFill>
        <p:spPr>
          <a:xfrm>
            <a:off x="9748157" y="3272281"/>
            <a:ext cx="982436" cy="361950"/>
          </a:xfrm>
          <a:prstGeom prst="rect">
            <a:avLst/>
          </a:prstGeom>
        </p:spPr>
      </p:pic>
      <p:pic>
        <p:nvPicPr>
          <p:cNvPr id="63" name="Picture 62" descr="lock.png"/>
          <p:cNvPicPr>
            <a:picLocks noChangeAspect="1"/>
          </p:cNvPicPr>
          <p:nvPr/>
        </p:nvPicPr>
        <p:blipFill>
          <a:blip r:embed="rId13"/>
          <a:stretch>
            <a:fillRect/>
          </a:stretch>
        </p:blipFill>
        <p:spPr>
          <a:xfrm>
            <a:off x="3402330" y="2827057"/>
            <a:ext cx="183356" cy="266700"/>
          </a:xfrm>
          <a:prstGeom prst="rect">
            <a:avLst/>
          </a:prstGeom>
        </p:spPr>
      </p:pic>
      <p:pic>
        <p:nvPicPr>
          <p:cNvPr id="64" name="Picture 63" descr="lock.png"/>
          <p:cNvPicPr>
            <a:picLocks noChangeAspect="1"/>
          </p:cNvPicPr>
          <p:nvPr/>
        </p:nvPicPr>
        <p:blipFill>
          <a:blip r:embed="rId13"/>
          <a:stretch>
            <a:fillRect/>
          </a:stretch>
        </p:blipFill>
        <p:spPr>
          <a:xfrm>
            <a:off x="6774180" y="2827057"/>
            <a:ext cx="183356" cy="266700"/>
          </a:xfrm>
          <a:prstGeom prst="rect">
            <a:avLst/>
          </a:prstGeom>
        </p:spPr>
      </p:pic>
      <p:pic>
        <p:nvPicPr>
          <p:cNvPr id="65" name="Picture 64" descr="lock.png"/>
          <p:cNvPicPr>
            <a:picLocks noChangeAspect="1"/>
          </p:cNvPicPr>
          <p:nvPr/>
        </p:nvPicPr>
        <p:blipFill>
          <a:blip r:embed="rId13"/>
          <a:stretch>
            <a:fillRect/>
          </a:stretch>
        </p:blipFill>
        <p:spPr>
          <a:xfrm>
            <a:off x="10146030" y="2827057"/>
            <a:ext cx="183356" cy="266700"/>
          </a:xfrm>
          <a:prstGeom prst="rect">
            <a:avLst/>
          </a:prstGeom>
        </p:spPr>
      </p:pic>
      <p:sp>
        <p:nvSpPr>
          <p:cNvPr id="66" name="TextBox 65"/>
          <p:cNvSpPr txBox="1"/>
          <p:nvPr/>
        </p:nvSpPr>
        <p:spPr>
          <a:xfrm>
            <a:off x="485775" y="4229437"/>
            <a:ext cx="2788890" cy="186689"/>
          </a:xfrm>
          <a:prstGeom prst="rect">
            <a:avLst/>
          </a:prstGeom>
          <a:noFill/>
        </p:spPr>
        <p:txBody>
          <a:bodyPr wrap="none" lIns="0" rIns="0" tIns="0" bIns="0">
            <a:spAutoFit/>
          </a:bodyPr>
          <a:lstStyle/>
          <a:p>
            <a:r>
              <a:rPr sz="1100" b="0">
                <a:solidFill>
                  <a:srgbClr val="2E2E2E"/>
                </a:solidFill>
                <a:latin typeface="Calibri"/>
              </a:rPr>
              <a:t>Among egg protein membrane by product type,</a:t>
            </a:r>
          </a:p>
        </p:txBody>
      </p:sp>
      <p:sp>
        <p:nvSpPr>
          <p:cNvPr id="67" name="TextBox 66"/>
          <p:cNvSpPr txBox="1"/>
          <p:nvPr/>
        </p:nvSpPr>
        <p:spPr>
          <a:xfrm>
            <a:off x="485775" y="4397077"/>
            <a:ext cx="2495029" cy="186689"/>
          </a:xfrm>
          <a:prstGeom prst="rect">
            <a:avLst/>
          </a:prstGeom>
          <a:noFill/>
        </p:spPr>
        <p:txBody>
          <a:bodyPr wrap="none" lIns="0" rIns="0" tIns="0" bIns="0">
            <a:spAutoFit/>
          </a:bodyPr>
          <a:lstStyle/>
          <a:p>
            <a:r>
              <a:rPr sz="1100" b="0">
                <a:solidFill>
                  <a:srgbClr val="2E2E2E"/>
                </a:solidFill>
                <a:latin typeface="Calibri"/>
              </a:rPr>
              <a:t>hydrolyzed eggshell membrane segment is</a:t>
            </a:r>
          </a:p>
        </p:txBody>
      </p:sp>
      <p:sp>
        <p:nvSpPr>
          <p:cNvPr id="68" name="TextBox 67"/>
          <p:cNvSpPr txBox="1"/>
          <p:nvPr/>
        </p:nvSpPr>
        <p:spPr>
          <a:xfrm>
            <a:off x="485775" y="4564717"/>
            <a:ext cx="2381232" cy="186689"/>
          </a:xfrm>
          <a:prstGeom prst="rect">
            <a:avLst/>
          </a:prstGeom>
          <a:noFill/>
        </p:spPr>
        <p:txBody>
          <a:bodyPr wrap="none" lIns="0" rIns="0" tIns="0" bIns="0">
            <a:spAutoFit/>
          </a:bodyPr>
          <a:lstStyle/>
          <a:p>
            <a:r>
              <a:rPr sz="1100" b="0">
                <a:solidFill>
                  <a:srgbClr val="2E2E2E"/>
                </a:solidFill>
                <a:latin typeface="Calibri"/>
              </a:rPr>
              <a:t>expected to witness the highest CAGR of</a:t>
            </a:r>
          </a:p>
        </p:txBody>
      </p:sp>
      <p:pic>
        <p:nvPicPr>
          <p:cNvPr id="69" name="Picture 68" descr="lock.png"/>
          <p:cNvPicPr>
            <a:picLocks noChangeAspect="1"/>
          </p:cNvPicPr>
          <p:nvPr/>
        </p:nvPicPr>
        <p:blipFill>
          <a:blip r:embed="rId13"/>
          <a:stretch>
            <a:fillRect/>
          </a:stretch>
        </p:blipFill>
        <p:spPr>
          <a:xfrm>
            <a:off x="2815059" y="4554938"/>
            <a:ext cx="128699" cy="187198"/>
          </a:xfrm>
          <a:prstGeom prst="rect">
            <a:avLst/>
          </a:prstGeom>
        </p:spPr>
      </p:pic>
      <p:sp>
        <p:nvSpPr>
          <p:cNvPr id="70" name="TextBox 69"/>
          <p:cNvSpPr txBox="1"/>
          <p:nvPr/>
        </p:nvSpPr>
        <p:spPr>
          <a:xfrm>
            <a:off x="2982555" y="4564717"/>
            <a:ext cx="331316" cy="186689"/>
          </a:xfrm>
          <a:prstGeom prst="rect">
            <a:avLst/>
          </a:prstGeom>
          <a:noFill/>
        </p:spPr>
        <p:txBody>
          <a:bodyPr wrap="none" lIns="0" rIns="0" tIns="0" bIns="0">
            <a:spAutoFit/>
          </a:bodyPr>
          <a:lstStyle/>
          <a:p>
            <a:r>
              <a:rPr sz="1100" b="0">
                <a:solidFill>
                  <a:srgbClr val="2E2E2E"/>
                </a:solidFill>
                <a:latin typeface="Calibri"/>
              </a:rPr>
              <a:t>over</a:t>
            </a:r>
          </a:p>
        </p:txBody>
      </p:sp>
      <p:sp>
        <p:nvSpPr>
          <p:cNvPr id="71" name="TextBox 70"/>
          <p:cNvSpPr txBox="1"/>
          <p:nvPr/>
        </p:nvSpPr>
        <p:spPr>
          <a:xfrm>
            <a:off x="485775" y="4732357"/>
            <a:ext cx="2699122" cy="186689"/>
          </a:xfrm>
          <a:prstGeom prst="rect">
            <a:avLst/>
          </a:prstGeom>
          <a:noFill/>
        </p:spPr>
        <p:txBody>
          <a:bodyPr wrap="none" lIns="0" rIns="0" tIns="0" bIns="0">
            <a:spAutoFit/>
          </a:bodyPr>
          <a:lstStyle/>
          <a:p>
            <a:r>
              <a:rPr sz="1100" b="0">
                <a:solidFill>
                  <a:srgbClr val="2E2E2E"/>
                </a:solidFill>
                <a:latin typeface="Calibri"/>
              </a:rPr>
              <a:t>the forecast period. In terms of value share by</a:t>
            </a:r>
          </a:p>
        </p:txBody>
      </p:sp>
      <p:sp>
        <p:nvSpPr>
          <p:cNvPr id="72" name="TextBox 71"/>
          <p:cNvSpPr txBox="1"/>
          <p:nvPr/>
        </p:nvSpPr>
        <p:spPr>
          <a:xfrm>
            <a:off x="485775" y="4899997"/>
            <a:ext cx="2619449" cy="186689"/>
          </a:xfrm>
          <a:prstGeom prst="rect">
            <a:avLst/>
          </a:prstGeom>
          <a:noFill/>
        </p:spPr>
        <p:txBody>
          <a:bodyPr wrap="none" lIns="0" rIns="0" tIns="0" bIns="0">
            <a:spAutoFit/>
          </a:bodyPr>
          <a:lstStyle/>
          <a:p>
            <a:r>
              <a:rPr sz="1100" b="0">
                <a:solidFill>
                  <a:srgbClr val="2E2E2E"/>
                </a:solidFill>
                <a:latin typeface="Calibri"/>
              </a:rPr>
              <a:t>product type, the specialty extracted protein</a:t>
            </a:r>
          </a:p>
        </p:txBody>
      </p:sp>
      <p:sp>
        <p:nvSpPr>
          <p:cNvPr id="73" name="TextBox 72"/>
          <p:cNvSpPr txBox="1"/>
          <p:nvPr/>
        </p:nvSpPr>
        <p:spPr>
          <a:xfrm>
            <a:off x="485775" y="5067637"/>
            <a:ext cx="2722860" cy="186689"/>
          </a:xfrm>
          <a:prstGeom prst="rect">
            <a:avLst/>
          </a:prstGeom>
          <a:noFill/>
        </p:spPr>
        <p:txBody>
          <a:bodyPr wrap="none" lIns="0" rIns="0" tIns="0" bIns="0">
            <a:spAutoFit/>
          </a:bodyPr>
          <a:lstStyle/>
          <a:p>
            <a:r>
              <a:rPr sz="1100" b="0">
                <a:solidFill>
                  <a:srgbClr val="2E2E2E"/>
                </a:solidFill>
                <a:latin typeface="Calibri"/>
              </a:rPr>
              <a:t>fractions segment is expected to dominate the</a:t>
            </a:r>
          </a:p>
        </p:txBody>
      </p:sp>
      <p:sp>
        <p:nvSpPr>
          <p:cNvPr id="74" name="TextBox 73"/>
          <p:cNvSpPr txBox="1"/>
          <p:nvPr/>
        </p:nvSpPr>
        <p:spPr>
          <a:xfrm>
            <a:off x="485775" y="5235277"/>
            <a:ext cx="881930" cy="186689"/>
          </a:xfrm>
          <a:prstGeom prst="rect">
            <a:avLst/>
          </a:prstGeom>
          <a:noFill/>
        </p:spPr>
        <p:txBody>
          <a:bodyPr wrap="none" lIns="0" rIns="0" tIns="0" bIns="0">
            <a:spAutoFit/>
          </a:bodyPr>
          <a:lstStyle/>
          <a:p>
            <a:r>
              <a:rPr sz="1100" b="0">
                <a:solidFill>
                  <a:srgbClr val="2E2E2E"/>
                </a:solidFill>
                <a:latin typeface="Calibri"/>
              </a:rPr>
              <a:t>market, losing</a:t>
            </a:r>
          </a:p>
        </p:txBody>
      </p:sp>
      <p:pic>
        <p:nvPicPr>
          <p:cNvPr id="75" name="Picture 74" descr="lock.png"/>
          <p:cNvPicPr>
            <a:picLocks noChangeAspect="1"/>
          </p:cNvPicPr>
          <p:nvPr/>
        </p:nvPicPr>
        <p:blipFill>
          <a:blip r:embed="rId13"/>
          <a:stretch>
            <a:fillRect/>
          </a:stretch>
        </p:blipFill>
        <p:spPr>
          <a:xfrm>
            <a:off x="1315757" y="5225498"/>
            <a:ext cx="128699" cy="187198"/>
          </a:xfrm>
          <a:prstGeom prst="rect">
            <a:avLst/>
          </a:prstGeom>
        </p:spPr>
      </p:pic>
      <p:sp>
        <p:nvSpPr>
          <p:cNvPr id="76" name="TextBox 75"/>
          <p:cNvSpPr txBox="1"/>
          <p:nvPr/>
        </p:nvSpPr>
        <p:spPr>
          <a:xfrm>
            <a:off x="1483253" y="5235277"/>
            <a:ext cx="1386433" cy="186689"/>
          </a:xfrm>
          <a:prstGeom prst="rect">
            <a:avLst/>
          </a:prstGeom>
          <a:noFill/>
        </p:spPr>
        <p:txBody>
          <a:bodyPr wrap="none" lIns="0" rIns="0" tIns="0" bIns="0">
            <a:spAutoFit/>
          </a:bodyPr>
          <a:lstStyle/>
          <a:p>
            <a:r>
              <a:rPr sz="1100" b="0">
                <a:solidFill>
                  <a:srgbClr val="2E2E2E"/>
                </a:solidFill>
                <a:latin typeface="Calibri"/>
              </a:rPr>
              <a:t>BPS and accounting for</a:t>
            </a:r>
          </a:p>
        </p:txBody>
      </p:sp>
      <p:pic>
        <p:nvPicPr>
          <p:cNvPr id="77" name="Picture 76" descr="lock.png"/>
          <p:cNvPicPr>
            <a:picLocks noChangeAspect="1"/>
          </p:cNvPicPr>
          <p:nvPr/>
        </p:nvPicPr>
        <p:blipFill>
          <a:blip r:embed="rId13"/>
          <a:stretch>
            <a:fillRect/>
          </a:stretch>
        </p:blipFill>
        <p:spPr>
          <a:xfrm>
            <a:off x="2817737" y="5225498"/>
            <a:ext cx="128699" cy="187198"/>
          </a:xfrm>
          <a:prstGeom prst="rect">
            <a:avLst/>
          </a:prstGeom>
        </p:spPr>
      </p:pic>
      <p:sp>
        <p:nvSpPr>
          <p:cNvPr id="78" name="TextBox 77"/>
          <p:cNvSpPr txBox="1"/>
          <p:nvPr/>
        </p:nvSpPr>
        <p:spPr>
          <a:xfrm>
            <a:off x="485775" y="5402917"/>
            <a:ext cx="908397" cy="186689"/>
          </a:xfrm>
          <a:prstGeom prst="rect">
            <a:avLst/>
          </a:prstGeom>
          <a:noFill/>
        </p:spPr>
        <p:txBody>
          <a:bodyPr wrap="none" lIns="0" rIns="0" tIns="0" bIns="0">
            <a:spAutoFit/>
          </a:bodyPr>
          <a:lstStyle/>
          <a:p>
            <a:r>
              <a:rPr sz="1100" b="0">
                <a:solidFill>
                  <a:srgbClr val="2E2E2E"/>
                </a:solidFill>
                <a:latin typeface="Calibri"/>
              </a:rPr>
              <a:t>share by 2036.</a:t>
            </a:r>
          </a:p>
        </p:txBody>
      </p:sp>
      <p:sp>
        <p:nvSpPr>
          <p:cNvPr id="79" name="TextBox 78"/>
          <p:cNvSpPr txBox="1"/>
          <p:nvPr/>
        </p:nvSpPr>
        <p:spPr>
          <a:xfrm>
            <a:off x="485775" y="5620849"/>
            <a:ext cx="2778521" cy="186689"/>
          </a:xfrm>
          <a:prstGeom prst="rect">
            <a:avLst/>
          </a:prstGeom>
          <a:noFill/>
        </p:spPr>
        <p:txBody>
          <a:bodyPr wrap="none" lIns="0" rIns="0" tIns="0" bIns="0">
            <a:spAutoFit/>
          </a:bodyPr>
          <a:lstStyle/>
          <a:p>
            <a:r>
              <a:rPr sz="1100" b="0">
                <a:solidFill>
                  <a:srgbClr val="2E2E2E"/>
                </a:solidFill>
                <a:latin typeface="Calibri"/>
              </a:rPr>
              <a:t>Specialty extracted protein fractions segment is</a:t>
            </a:r>
          </a:p>
        </p:txBody>
      </p:sp>
      <p:sp>
        <p:nvSpPr>
          <p:cNvPr id="80" name="TextBox 79"/>
          <p:cNvSpPr txBox="1"/>
          <p:nvPr/>
        </p:nvSpPr>
        <p:spPr>
          <a:xfrm>
            <a:off x="485775" y="5788489"/>
            <a:ext cx="1244550" cy="186689"/>
          </a:xfrm>
          <a:prstGeom prst="rect">
            <a:avLst/>
          </a:prstGeom>
          <a:noFill/>
        </p:spPr>
        <p:txBody>
          <a:bodyPr wrap="none" lIns="0" rIns="0" tIns="0" bIns="0">
            <a:spAutoFit/>
          </a:bodyPr>
          <a:lstStyle/>
          <a:p>
            <a:r>
              <a:rPr sz="1100" b="0">
                <a:solidFill>
                  <a:srgbClr val="2E2E2E"/>
                </a:solidFill>
                <a:latin typeface="Calibri"/>
              </a:rPr>
              <a:t>projected to register</a:t>
            </a:r>
          </a:p>
        </p:txBody>
      </p:sp>
      <p:pic>
        <p:nvPicPr>
          <p:cNvPr id="81" name="Picture 80" descr="lock.png"/>
          <p:cNvPicPr>
            <a:picLocks noChangeAspect="1"/>
          </p:cNvPicPr>
          <p:nvPr/>
        </p:nvPicPr>
        <p:blipFill>
          <a:blip r:embed="rId13"/>
          <a:stretch>
            <a:fillRect/>
          </a:stretch>
        </p:blipFill>
        <p:spPr>
          <a:xfrm>
            <a:off x="1678376" y="5778710"/>
            <a:ext cx="128699" cy="187198"/>
          </a:xfrm>
          <a:prstGeom prst="rect">
            <a:avLst/>
          </a:prstGeom>
        </p:spPr>
      </p:pic>
      <p:sp>
        <p:nvSpPr>
          <p:cNvPr id="82" name="TextBox 81"/>
          <p:cNvSpPr txBox="1"/>
          <p:nvPr/>
        </p:nvSpPr>
        <p:spPr>
          <a:xfrm>
            <a:off x="1845872" y="5788489"/>
            <a:ext cx="1172517" cy="186689"/>
          </a:xfrm>
          <a:prstGeom prst="rect">
            <a:avLst/>
          </a:prstGeom>
          <a:noFill/>
        </p:spPr>
        <p:txBody>
          <a:bodyPr wrap="none" lIns="0" rIns="0" tIns="0" bIns="0">
            <a:spAutoFit/>
          </a:bodyPr>
          <a:lstStyle/>
          <a:p>
            <a:r>
              <a:rPr sz="1100" b="0">
                <a:solidFill>
                  <a:srgbClr val="2E2E2E"/>
                </a:solidFill>
                <a:latin typeface="Calibri"/>
              </a:rPr>
              <a:t>X higher value than</a:t>
            </a:r>
          </a:p>
        </p:txBody>
      </p:sp>
      <p:sp>
        <p:nvSpPr>
          <p:cNvPr id="83" name="TextBox 82"/>
          <p:cNvSpPr txBox="1"/>
          <p:nvPr/>
        </p:nvSpPr>
        <p:spPr>
          <a:xfrm>
            <a:off x="485775" y="5956129"/>
            <a:ext cx="2867471" cy="186689"/>
          </a:xfrm>
          <a:prstGeom prst="rect">
            <a:avLst/>
          </a:prstGeom>
          <a:noFill/>
        </p:spPr>
        <p:txBody>
          <a:bodyPr wrap="none" lIns="0" rIns="0" tIns="0" bIns="0">
            <a:spAutoFit/>
          </a:bodyPr>
          <a:lstStyle/>
          <a:p>
            <a:r>
              <a:rPr sz="1100" b="0">
                <a:solidFill>
                  <a:srgbClr val="2E2E2E"/>
                </a:solidFill>
                <a:latin typeface="Calibri"/>
              </a:rPr>
              <a:t>micronized eggshell membrane segment in 2036.</a:t>
            </a:r>
          </a:p>
        </p:txBody>
      </p:sp>
      <p:sp>
        <p:nvSpPr>
          <p:cNvPr id="84" name="TextBox 83"/>
          <p:cNvSpPr txBox="1"/>
          <p:nvPr/>
        </p:nvSpPr>
        <p:spPr>
          <a:xfrm>
            <a:off x="3838575" y="4229437"/>
            <a:ext cx="2309490" cy="186689"/>
          </a:xfrm>
          <a:prstGeom prst="rect">
            <a:avLst/>
          </a:prstGeom>
          <a:noFill/>
        </p:spPr>
        <p:txBody>
          <a:bodyPr wrap="none" lIns="0" rIns="0" tIns="0" bIns="0">
            <a:spAutoFit/>
          </a:bodyPr>
          <a:lstStyle/>
          <a:p>
            <a:r>
              <a:rPr sz="1100" b="0">
                <a:solidFill>
                  <a:srgbClr val="2E2E2E"/>
                </a:solidFill>
                <a:latin typeface="Calibri"/>
              </a:rPr>
              <a:t>● Specialty Extracted Protein Fractions:</a:t>
            </a:r>
          </a:p>
        </p:txBody>
      </p:sp>
      <p:pic>
        <p:nvPicPr>
          <p:cNvPr id="85" name="Picture 84" descr="lock.png"/>
          <p:cNvPicPr>
            <a:picLocks noChangeAspect="1"/>
          </p:cNvPicPr>
          <p:nvPr/>
        </p:nvPicPr>
        <p:blipFill>
          <a:blip r:embed="rId13"/>
          <a:stretch>
            <a:fillRect/>
          </a:stretch>
        </p:blipFill>
        <p:spPr>
          <a:xfrm>
            <a:off x="6096116" y="4219658"/>
            <a:ext cx="128699" cy="187198"/>
          </a:xfrm>
          <a:prstGeom prst="rect">
            <a:avLst/>
          </a:prstGeom>
        </p:spPr>
      </p:pic>
      <p:sp>
        <p:nvSpPr>
          <p:cNvPr id="86" name="TextBox 85"/>
          <p:cNvSpPr txBox="1"/>
          <p:nvPr/>
        </p:nvSpPr>
        <p:spPr>
          <a:xfrm>
            <a:off x="6263612" y="422943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87" name="Picture 86" descr="lock.png"/>
          <p:cNvPicPr>
            <a:picLocks noChangeAspect="1"/>
          </p:cNvPicPr>
          <p:nvPr/>
        </p:nvPicPr>
        <p:blipFill>
          <a:blip r:embed="rId13"/>
          <a:stretch>
            <a:fillRect/>
          </a:stretch>
        </p:blipFill>
        <p:spPr>
          <a:xfrm>
            <a:off x="7123062" y="4219658"/>
            <a:ext cx="128699" cy="187198"/>
          </a:xfrm>
          <a:prstGeom prst="rect">
            <a:avLst/>
          </a:prstGeom>
        </p:spPr>
      </p:pic>
      <p:sp>
        <p:nvSpPr>
          <p:cNvPr id="88" name="TextBox 87"/>
          <p:cNvSpPr txBox="1"/>
          <p:nvPr/>
        </p:nvSpPr>
        <p:spPr>
          <a:xfrm>
            <a:off x="7290558" y="4229437"/>
            <a:ext cx="395419" cy="186689"/>
          </a:xfrm>
          <a:prstGeom prst="rect">
            <a:avLst/>
          </a:prstGeom>
          <a:noFill/>
        </p:spPr>
        <p:txBody>
          <a:bodyPr wrap="none" lIns="0" rIns="0" tIns="0" bIns="0">
            <a:spAutoFit/>
          </a:bodyPr>
          <a:lstStyle/>
          <a:p>
            <a:r>
              <a:rPr sz="1100" b="0">
                <a:solidFill>
                  <a:srgbClr val="2E2E2E"/>
                </a:solidFill>
                <a:latin typeface="Calibri"/>
              </a:rPr>
              <a:t>CAGR</a:t>
            </a:r>
          </a:p>
        </p:txBody>
      </p:sp>
      <p:sp>
        <p:nvSpPr>
          <p:cNvPr id="89" name="TextBox 88"/>
          <p:cNvSpPr txBox="1"/>
          <p:nvPr/>
        </p:nvSpPr>
        <p:spPr>
          <a:xfrm>
            <a:off x="3838575" y="4397077"/>
            <a:ext cx="1152599" cy="186689"/>
          </a:xfrm>
          <a:prstGeom prst="rect">
            <a:avLst/>
          </a:prstGeom>
          <a:noFill/>
        </p:spPr>
        <p:txBody>
          <a:bodyPr wrap="none" lIns="0" rIns="0" tIns="0" bIns="0">
            <a:spAutoFit/>
          </a:bodyPr>
          <a:lstStyle/>
          <a:p>
            <a:r>
              <a:rPr sz="1100" b="0">
                <a:solidFill>
                  <a:srgbClr val="2E2E2E"/>
                </a:solidFill>
                <a:latin typeface="Calibri"/>
              </a:rPr>
              <a:t>leads the segment.</a:t>
            </a:r>
          </a:p>
        </p:txBody>
      </p:sp>
      <p:sp>
        <p:nvSpPr>
          <p:cNvPr id="90" name="TextBox 89"/>
          <p:cNvSpPr txBox="1"/>
          <p:nvPr/>
        </p:nvSpPr>
        <p:spPr>
          <a:xfrm>
            <a:off x="3838575" y="4615009"/>
            <a:ext cx="2024360" cy="186689"/>
          </a:xfrm>
          <a:prstGeom prst="rect">
            <a:avLst/>
          </a:prstGeom>
          <a:noFill/>
        </p:spPr>
        <p:txBody>
          <a:bodyPr wrap="none" lIns="0" rIns="0" tIns="0" bIns="0">
            <a:spAutoFit/>
          </a:bodyPr>
          <a:lstStyle/>
          <a:p>
            <a:r>
              <a:rPr sz="1100" b="0">
                <a:solidFill>
                  <a:srgbClr val="2E2E2E"/>
                </a:solidFill>
                <a:latin typeface="Calibri"/>
              </a:rPr>
              <a:t>● Micronized Eggshell Membrane:</a:t>
            </a:r>
          </a:p>
        </p:txBody>
      </p:sp>
      <p:pic>
        <p:nvPicPr>
          <p:cNvPr id="91" name="Picture 90" descr="lock.png"/>
          <p:cNvPicPr>
            <a:picLocks noChangeAspect="1"/>
          </p:cNvPicPr>
          <p:nvPr/>
        </p:nvPicPr>
        <p:blipFill>
          <a:blip r:embed="rId13"/>
          <a:stretch>
            <a:fillRect/>
          </a:stretch>
        </p:blipFill>
        <p:spPr>
          <a:xfrm>
            <a:off x="5810986" y="4605230"/>
            <a:ext cx="128699" cy="187198"/>
          </a:xfrm>
          <a:prstGeom prst="rect">
            <a:avLst/>
          </a:prstGeom>
        </p:spPr>
      </p:pic>
      <p:sp>
        <p:nvSpPr>
          <p:cNvPr id="92" name="TextBox 91"/>
          <p:cNvSpPr txBox="1"/>
          <p:nvPr/>
        </p:nvSpPr>
        <p:spPr>
          <a:xfrm>
            <a:off x="5978482" y="4615009"/>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93" name="Picture 92" descr="lock.png"/>
          <p:cNvPicPr>
            <a:picLocks noChangeAspect="1"/>
          </p:cNvPicPr>
          <p:nvPr/>
        </p:nvPicPr>
        <p:blipFill>
          <a:blip r:embed="rId13"/>
          <a:stretch>
            <a:fillRect/>
          </a:stretch>
        </p:blipFill>
        <p:spPr>
          <a:xfrm>
            <a:off x="6837932" y="4605230"/>
            <a:ext cx="128699" cy="187198"/>
          </a:xfrm>
          <a:prstGeom prst="rect">
            <a:avLst/>
          </a:prstGeom>
        </p:spPr>
      </p:pic>
      <p:sp>
        <p:nvSpPr>
          <p:cNvPr id="94" name="TextBox 93"/>
          <p:cNvSpPr txBox="1"/>
          <p:nvPr/>
        </p:nvSpPr>
        <p:spPr>
          <a:xfrm>
            <a:off x="7005428" y="4615009"/>
            <a:ext cx="787234" cy="186689"/>
          </a:xfrm>
          <a:prstGeom prst="rect">
            <a:avLst/>
          </a:prstGeom>
          <a:noFill/>
        </p:spPr>
        <p:txBody>
          <a:bodyPr wrap="none" lIns="0" rIns="0" tIns="0" bIns="0">
            <a:spAutoFit/>
          </a:bodyPr>
          <a:lstStyle/>
          <a:p>
            <a:r>
              <a:rPr sz="1100" b="0">
                <a:solidFill>
                  <a:srgbClr val="2E2E2E"/>
                </a:solidFill>
                <a:latin typeface="Calibri"/>
              </a:rPr>
              <a:t>CAGR serves</a:t>
            </a:r>
          </a:p>
        </p:txBody>
      </p:sp>
      <p:sp>
        <p:nvSpPr>
          <p:cNvPr id="95" name="TextBox 94"/>
          <p:cNvSpPr txBox="1"/>
          <p:nvPr/>
        </p:nvSpPr>
        <p:spPr>
          <a:xfrm>
            <a:off x="3838575" y="4782649"/>
            <a:ext cx="517673" cy="186689"/>
          </a:xfrm>
          <a:prstGeom prst="rect">
            <a:avLst/>
          </a:prstGeom>
          <a:noFill/>
        </p:spPr>
        <p:txBody>
          <a:bodyPr wrap="none" lIns="0" rIns="0" tIns="0" bIns="0">
            <a:spAutoFit/>
          </a:bodyPr>
          <a:lstStyle/>
          <a:p>
            <a:r>
              <a:rPr sz="1100" b="0">
                <a:solidFill>
                  <a:srgbClr val="2E2E2E"/>
                </a:solidFill>
                <a:latin typeface="Calibri"/>
              </a:rPr>
              <a:t>a niche.</a:t>
            </a:r>
          </a:p>
        </p:txBody>
      </p:sp>
      <p:sp>
        <p:nvSpPr>
          <p:cNvPr id="96" name="TextBox 95"/>
          <p:cNvSpPr txBox="1"/>
          <p:nvPr/>
        </p:nvSpPr>
        <p:spPr>
          <a:xfrm>
            <a:off x="3838575" y="5000581"/>
            <a:ext cx="2027088" cy="186689"/>
          </a:xfrm>
          <a:prstGeom prst="rect">
            <a:avLst/>
          </a:prstGeom>
          <a:noFill/>
        </p:spPr>
        <p:txBody>
          <a:bodyPr wrap="none" lIns="0" rIns="0" tIns="0" bIns="0">
            <a:spAutoFit/>
          </a:bodyPr>
          <a:lstStyle/>
          <a:p>
            <a:r>
              <a:rPr sz="1100" b="0">
                <a:solidFill>
                  <a:srgbClr val="2E2E2E"/>
                </a:solidFill>
                <a:latin typeface="Calibri"/>
              </a:rPr>
              <a:t>● Hydrolyzed Eggshell Membrane:</a:t>
            </a:r>
          </a:p>
        </p:txBody>
      </p:sp>
      <p:pic>
        <p:nvPicPr>
          <p:cNvPr id="97" name="Picture 96" descr="lock.png"/>
          <p:cNvPicPr>
            <a:picLocks noChangeAspect="1"/>
          </p:cNvPicPr>
          <p:nvPr/>
        </p:nvPicPr>
        <p:blipFill>
          <a:blip r:embed="rId13"/>
          <a:stretch>
            <a:fillRect/>
          </a:stretch>
        </p:blipFill>
        <p:spPr>
          <a:xfrm>
            <a:off x="5813715" y="4990801"/>
            <a:ext cx="128699" cy="187198"/>
          </a:xfrm>
          <a:prstGeom prst="rect">
            <a:avLst/>
          </a:prstGeom>
        </p:spPr>
      </p:pic>
      <p:sp>
        <p:nvSpPr>
          <p:cNvPr id="98" name="TextBox 97"/>
          <p:cNvSpPr txBox="1"/>
          <p:nvPr/>
        </p:nvSpPr>
        <p:spPr>
          <a:xfrm>
            <a:off x="5981211" y="5000581"/>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99" name="Picture 98" descr="lock.png"/>
          <p:cNvPicPr>
            <a:picLocks noChangeAspect="1"/>
          </p:cNvPicPr>
          <p:nvPr/>
        </p:nvPicPr>
        <p:blipFill>
          <a:blip r:embed="rId13"/>
          <a:stretch>
            <a:fillRect/>
          </a:stretch>
        </p:blipFill>
        <p:spPr>
          <a:xfrm>
            <a:off x="6840661" y="4990801"/>
            <a:ext cx="128699" cy="187198"/>
          </a:xfrm>
          <a:prstGeom prst="rect">
            <a:avLst/>
          </a:prstGeom>
        </p:spPr>
      </p:pic>
      <p:sp>
        <p:nvSpPr>
          <p:cNvPr id="100" name="TextBox 99"/>
          <p:cNvSpPr txBox="1"/>
          <p:nvPr/>
        </p:nvSpPr>
        <p:spPr>
          <a:xfrm>
            <a:off x="7008157" y="5000581"/>
            <a:ext cx="769771" cy="186689"/>
          </a:xfrm>
          <a:prstGeom prst="rect">
            <a:avLst/>
          </a:prstGeom>
          <a:noFill/>
        </p:spPr>
        <p:txBody>
          <a:bodyPr wrap="none" lIns="0" rIns="0" tIns="0" bIns="0">
            <a:spAutoFit/>
          </a:bodyPr>
          <a:lstStyle/>
          <a:p>
            <a:r>
              <a:rPr sz="1100" b="0">
                <a:solidFill>
                  <a:srgbClr val="2E2E2E"/>
                </a:solidFill>
                <a:latin typeface="Calibri"/>
              </a:rPr>
              <a:t>CAGR grows</a:t>
            </a:r>
          </a:p>
        </p:txBody>
      </p:sp>
      <p:sp>
        <p:nvSpPr>
          <p:cNvPr id="101" name="TextBox 100"/>
          <p:cNvSpPr txBox="1"/>
          <p:nvPr/>
        </p:nvSpPr>
        <p:spPr>
          <a:xfrm>
            <a:off x="3838575" y="5168221"/>
            <a:ext cx="493390" cy="186689"/>
          </a:xfrm>
          <a:prstGeom prst="rect">
            <a:avLst/>
          </a:prstGeom>
          <a:noFill/>
        </p:spPr>
        <p:txBody>
          <a:bodyPr wrap="none" lIns="0" rIns="0" tIns="0" bIns="0">
            <a:spAutoFit/>
          </a:bodyPr>
          <a:lstStyle/>
          <a:p>
            <a:r>
              <a:rPr sz="1100" b="0">
                <a:solidFill>
                  <a:srgbClr val="2E2E2E"/>
                </a:solidFill>
                <a:latin typeface="Calibri"/>
              </a:rPr>
              <a:t>fastest.</a:t>
            </a:r>
          </a:p>
        </p:txBody>
      </p:sp>
      <p:sp>
        <p:nvSpPr>
          <p:cNvPr id="102" name="TextBox 101"/>
          <p:cNvSpPr txBox="1"/>
          <p:nvPr/>
        </p:nvSpPr>
        <p:spPr>
          <a:xfrm>
            <a:off x="8524875" y="5842641"/>
            <a:ext cx="3162300" cy="194310"/>
          </a:xfrm>
          <a:prstGeom prst="rect">
            <a:avLst/>
          </a:prstGeom>
          <a:noFill/>
        </p:spPr>
        <p:txBody>
          <a:bodyPr wrap="none" lIns="0" rIns="0" tIns="0" bIns="0">
            <a:spAutoFit/>
          </a:bodyPr>
          <a:lstStyle/>
          <a:p>
            <a:r>
              <a:rPr sz="1150" b="1">
                <a:solidFill>
                  <a:srgbClr val="0B2E4A"/>
                </a:solidFill>
                <a:latin typeface="Calibri"/>
              </a:rPr>
              <a:t>The Product Type segment is projected to grow at a</a:t>
            </a:r>
          </a:p>
        </p:txBody>
      </p:sp>
      <p:sp>
        <p:nvSpPr>
          <p:cNvPr id="103" name="TextBox 102"/>
          <p:cNvSpPr txBox="1"/>
          <p:nvPr/>
        </p:nvSpPr>
        <p:spPr>
          <a:xfrm>
            <a:off x="8524875" y="6017901"/>
            <a:ext cx="574797" cy="194310"/>
          </a:xfrm>
          <a:prstGeom prst="rect">
            <a:avLst/>
          </a:prstGeom>
          <a:noFill/>
        </p:spPr>
        <p:txBody>
          <a:bodyPr wrap="none" lIns="0" rIns="0" tIns="0" bIns="0">
            <a:spAutoFit/>
          </a:bodyPr>
          <a:lstStyle/>
          <a:p>
            <a:r>
              <a:rPr sz="1150" b="1">
                <a:solidFill>
                  <a:srgbClr val="0B2E4A"/>
                </a:solidFill>
                <a:latin typeface="Calibri"/>
              </a:rPr>
              <a:t>CAGR of</a:t>
            </a:r>
          </a:p>
        </p:txBody>
      </p:sp>
      <p:pic>
        <p:nvPicPr>
          <p:cNvPr id="104" name="Picture 103" descr="lock.png"/>
          <p:cNvPicPr>
            <a:picLocks noChangeAspect="1"/>
          </p:cNvPicPr>
          <p:nvPr/>
        </p:nvPicPr>
        <p:blipFill>
          <a:blip r:embed="rId13"/>
          <a:stretch>
            <a:fillRect/>
          </a:stretch>
        </p:blipFill>
        <p:spPr>
          <a:xfrm>
            <a:off x="9048826" y="6007677"/>
            <a:ext cx="134549" cy="195707"/>
          </a:xfrm>
          <a:prstGeom prst="rect">
            <a:avLst/>
          </a:prstGeom>
        </p:spPr>
      </p:pic>
      <p:sp>
        <p:nvSpPr>
          <p:cNvPr id="105" name="TextBox 104"/>
          <p:cNvSpPr txBox="1"/>
          <p:nvPr/>
        </p:nvSpPr>
        <p:spPr>
          <a:xfrm>
            <a:off x="9223935" y="6017901"/>
            <a:ext cx="1232619" cy="194310"/>
          </a:xfrm>
          <a:prstGeom prst="rect">
            <a:avLst/>
          </a:prstGeom>
          <a:noFill/>
        </p:spPr>
        <p:txBody>
          <a:bodyPr wrap="none" lIns="0" rIns="0" tIns="0" bIns="0">
            <a:spAutoFit/>
          </a:bodyPr>
          <a:lstStyle/>
          <a:p>
            <a:r>
              <a:rPr sz="1150" b="1">
                <a:solidFill>
                  <a:srgbClr val="0B2E4A"/>
                </a:solidFill>
                <a:latin typeface="Calibri"/>
              </a:rPr>
              <a:t>from 2026 to 2036.</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Structure &amp; Attractiveness, By Product Type (Value)</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Product Type mix within each country and the attractiveness of each sub-segment on growth and size</a:t>
            </a:r>
          </a:p>
        </p:txBody>
      </p:sp>
      <p:sp>
        <p:nvSpPr>
          <p:cNvPr id="7" name="Rounded Rectangle 6"/>
          <p:cNvSpPr/>
          <p:nvPr/>
        </p:nvSpPr>
        <p:spPr>
          <a:xfrm>
            <a:off x="142875" y="981075"/>
            <a:ext cx="6343650" cy="4324350"/>
          </a:xfrm>
          <a:prstGeom prst="roundRect">
            <a:avLst>
              <a:gd name="adj" fmla="val 1762"/>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6153150"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Product Type mix within each country (share of 2036 value) · row label = country size (US$ Mn), largest first</a:t>
            </a:r>
          </a:p>
        </p:txBody>
      </p:sp>
      <p:graphicFrame>
        <p:nvGraphicFramePr>
          <p:cNvPr id="9" name="Chart 8"/>
          <p:cNvGraphicFramePr>
            <a:graphicFrameLocks noGrp="1"/>
          </p:cNvGraphicFramePr>
          <p:nvPr/>
        </p:nvGraphicFramePr>
        <p:xfrm>
          <a:off x="238125" y="1438275"/>
          <a:ext cx="6153150" cy="3810000"/>
        </p:xfrm>
        <a:graphic>
          <a:graphicData uri="http://schemas.openxmlformats.org/drawingml/2006/chart">
            <c:chart xmlns:c="http://schemas.openxmlformats.org/drawingml/2006/chart" r:id="rId3"/>
          </a:graphicData>
        </a:graphic>
      </p:graphicFrame>
      <p:sp>
        <p:nvSpPr>
          <p:cNvPr id="10" name="Rounded Rectangle 9"/>
          <p:cNvSpPr/>
          <p:nvPr/>
        </p:nvSpPr>
        <p:spPr>
          <a:xfrm>
            <a:off x="6638925" y="981075"/>
            <a:ext cx="5400675" cy="4324350"/>
          </a:xfrm>
          <a:prstGeom prst="roundRect">
            <a:avLst>
              <a:gd name="adj" fmla="val 1762"/>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34175" y="1038225"/>
            <a:ext cx="521017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Attractiveness, By Product Type · Bubble size represents 2036 value</a:t>
            </a:r>
          </a:p>
        </p:txBody>
      </p:sp>
      <p:graphicFrame>
        <p:nvGraphicFramePr>
          <p:cNvPr id="12" name="Chart 11"/>
          <p:cNvGraphicFramePr>
            <a:graphicFrameLocks noGrp="1"/>
          </p:cNvGraphicFramePr>
          <p:nvPr/>
        </p:nvGraphicFramePr>
        <p:xfrm>
          <a:off x="6734175" y="1438275"/>
          <a:ext cx="5210175" cy="3810000"/>
        </p:xfrm>
        <a:graphic>
          <a:graphicData uri="http://schemas.openxmlformats.org/drawingml/2006/chart">
            <c:chart xmlns:c="http://schemas.openxmlformats.org/drawingml/2006/chart" r:id="rId4"/>
          </a:graphicData>
        </a:graphic>
      </p:graphicFrame>
      <p:sp>
        <p:nvSpPr>
          <p:cNvPr id="13" name="Rounded Rectangle 12"/>
          <p:cNvSpPr/>
          <p:nvPr/>
        </p:nvSpPr>
        <p:spPr>
          <a:xfrm>
            <a:off x="142875" y="5438775"/>
            <a:ext cx="11906250" cy="1181100"/>
          </a:xfrm>
          <a:prstGeom prst="roundRect">
            <a:avLst>
              <a:gd name="adj" fmla="val 6451"/>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14" name="Rectangle 13"/>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6" name="Picture 15" descr="lock.png"/>
          <p:cNvPicPr>
            <a:picLocks noChangeAspect="1"/>
          </p:cNvPicPr>
          <p:nvPr/>
        </p:nvPicPr>
        <p:blipFill>
          <a:blip r:embed="rId6"/>
          <a:stretch>
            <a:fillRect/>
          </a:stretch>
        </p:blipFill>
        <p:spPr>
          <a:xfrm>
            <a:off x="3484684" y="3024134"/>
            <a:ext cx="320946" cy="466830"/>
          </a:xfrm>
          <a:prstGeom prst="rect">
            <a:avLst/>
          </a:prstGeom>
        </p:spPr>
      </p:pic>
      <p:sp>
        <p:nvSpPr>
          <p:cNvPr id="17" name="TextBox 16"/>
          <p:cNvSpPr txBox="1"/>
          <p:nvPr/>
        </p:nvSpPr>
        <p:spPr>
          <a:xfrm>
            <a:off x="257175" y="5694045"/>
            <a:ext cx="11595720" cy="186689"/>
          </a:xfrm>
          <a:prstGeom prst="rect">
            <a:avLst/>
          </a:prstGeom>
          <a:noFill/>
        </p:spPr>
        <p:txBody>
          <a:bodyPr wrap="none" lIns="0" rIns="0" tIns="0" bIns="0">
            <a:spAutoFit/>
          </a:bodyPr>
          <a:lstStyle/>
          <a:p>
            <a:r>
              <a:rPr sz="1100" b="0">
                <a:solidFill>
                  <a:srgbClr val="2E2E2E"/>
                </a:solidFill>
                <a:latin typeface="Calibri"/>
              </a:rPr>
              <a:t>Micronized eggshell membrane followed by specialty extracted protein fractions are expected to be the two most attractive product type segments in the North America egg protein membrane market in</a:t>
            </a:r>
          </a:p>
        </p:txBody>
      </p:sp>
      <p:sp>
        <p:nvSpPr>
          <p:cNvPr id="18" name="TextBox 17"/>
          <p:cNvSpPr txBox="1"/>
          <p:nvPr/>
        </p:nvSpPr>
        <p:spPr>
          <a:xfrm>
            <a:off x="257175" y="5861685"/>
            <a:ext cx="7838537" cy="186689"/>
          </a:xfrm>
          <a:prstGeom prst="rect">
            <a:avLst/>
          </a:prstGeom>
          <a:noFill/>
        </p:spPr>
        <p:txBody>
          <a:bodyPr wrap="none" lIns="0" rIns="0" tIns="0" bIns="0">
            <a:spAutoFit/>
          </a:bodyPr>
          <a:lstStyle/>
          <a:p>
            <a:r>
              <a:rPr sz="1100" b="0">
                <a:solidFill>
                  <a:srgbClr val="2E2E2E"/>
                </a:solidFill>
                <a:latin typeface="Calibri"/>
              </a:rPr>
              <a:t>terms of value over the forecast period. Micronized eggshell membrane and specialty extracted protein fractions exhibit a CAGR index of</a:t>
            </a:r>
          </a:p>
        </p:txBody>
      </p:sp>
      <p:pic>
        <p:nvPicPr>
          <p:cNvPr id="19" name="Picture 18" descr="lock.png"/>
          <p:cNvPicPr>
            <a:picLocks noChangeAspect="1"/>
          </p:cNvPicPr>
          <p:nvPr/>
        </p:nvPicPr>
        <p:blipFill>
          <a:blip r:embed="rId6"/>
          <a:stretch>
            <a:fillRect/>
          </a:stretch>
        </p:blipFill>
        <p:spPr>
          <a:xfrm>
            <a:off x="8043763" y="5851905"/>
            <a:ext cx="128699" cy="187198"/>
          </a:xfrm>
          <a:prstGeom prst="rect">
            <a:avLst/>
          </a:prstGeom>
        </p:spPr>
      </p:pic>
      <p:sp>
        <p:nvSpPr>
          <p:cNvPr id="20" name="TextBox 19"/>
          <p:cNvSpPr txBox="1"/>
          <p:nvPr/>
        </p:nvSpPr>
        <p:spPr>
          <a:xfrm>
            <a:off x="8211259" y="586168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1" name="Picture 20" descr="lock.png"/>
          <p:cNvPicPr>
            <a:picLocks noChangeAspect="1"/>
          </p:cNvPicPr>
          <p:nvPr/>
        </p:nvPicPr>
        <p:blipFill>
          <a:blip r:embed="rId6"/>
          <a:stretch>
            <a:fillRect/>
          </a:stretch>
        </p:blipFill>
        <p:spPr>
          <a:xfrm>
            <a:off x="8449153" y="5851905"/>
            <a:ext cx="128699" cy="187198"/>
          </a:xfrm>
          <a:prstGeom prst="rect">
            <a:avLst/>
          </a:prstGeom>
        </p:spPr>
      </p:pic>
      <p:sp>
        <p:nvSpPr>
          <p:cNvPr id="22" name="TextBox 21"/>
          <p:cNvSpPr txBox="1"/>
          <p:nvPr/>
        </p:nvSpPr>
        <p:spPr>
          <a:xfrm>
            <a:off x="8616649" y="5861685"/>
            <a:ext cx="1660921" cy="186689"/>
          </a:xfrm>
          <a:prstGeom prst="rect">
            <a:avLst/>
          </a:prstGeom>
          <a:noFill/>
        </p:spPr>
        <p:txBody>
          <a:bodyPr wrap="none" lIns="0" rIns="0" tIns="0" bIns="0">
            <a:spAutoFit/>
          </a:bodyPr>
          <a:lstStyle/>
          <a:p>
            <a:r>
              <a:rPr sz="1100" b="0">
                <a:solidFill>
                  <a:srgbClr val="2E2E2E"/>
                </a:solidFill>
                <a:latin typeface="Calibri"/>
              </a:rPr>
              <a:t>and a market share index of</a:t>
            </a:r>
          </a:p>
        </p:txBody>
      </p:sp>
      <p:pic>
        <p:nvPicPr>
          <p:cNvPr id="23" name="Picture 22" descr="lock.png"/>
          <p:cNvPicPr>
            <a:picLocks noChangeAspect="1"/>
          </p:cNvPicPr>
          <p:nvPr/>
        </p:nvPicPr>
        <p:blipFill>
          <a:blip r:embed="rId6"/>
          <a:stretch>
            <a:fillRect/>
          </a:stretch>
        </p:blipFill>
        <p:spPr>
          <a:xfrm>
            <a:off x="10225623" y="5851905"/>
            <a:ext cx="128699" cy="187198"/>
          </a:xfrm>
          <a:prstGeom prst="rect">
            <a:avLst/>
          </a:prstGeom>
        </p:spPr>
      </p:pic>
      <p:sp>
        <p:nvSpPr>
          <p:cNvPr id="24" name="TextBox 23"/>
          <p:cNvSpPr txBox="1"/>
          <p:nvPr/>
        </p:nvSpPr>
        <p:spPr>
          <a:xfrm>
            <a:off x="10393118" y="586168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5" name="Picture 24" descr="lock.png"/>
          <p:cNvPicPr>
            <a:picLocks noChangeAspect="1"/>
          </p:cNvPicPr>
          <p:nvPr/>
        </p:nvPicPr>
        <p:blipFill>
          <a:blip r:embed="rId6"/>
          <a:stretch>
            <a:fillRect/>
          </a:stretch>
        </p:blipFill>
        <p:spPr>
          <a:xfrm>
            <a:off x="10631013" y="5851905"/>
            <a:ext cx="128699" cy="187198"/>
          </a:xfrm>
          <a:prstGeom prst="rect">
            <a:avLst/>
          </a:prstGeom>
        </p:spPr>
      </p:pic>
      <p:sp>
        <p:nvSpPr>
          <p:cNvPr id="26" name="TextBox 25"/>
          <p:cNvSpPr txBox="1"/>
          <p:nvPr/>
        </p:nvSpPr>
        <p:spPr>
          <a:xfrm>
            <a:off x="257175" y="6029325"/>
            <a:ext cx="2606352" cy="186689"/>
          </a:xfrm>
          <a:prstGeom prst="rect">
            <a:avLst/>
          </a:prstGeom>
          <a:noFill/>
        </p:spPr>
        <p:txBody>
          <a:bodyPr wrap="none" lIns="0" rIns="0" tIns="0" bIns="0">
            <a:spAutoFit/>
          </a:bodyPr>
          <a:lstStyle/>
          <a:p>
            <a:r>
              <a:rPr sz="1100" b="0">
                <a:solidFill>
                  <a:srgbClr val="2E2E2E"/>
                </a:solidFill>
                <a:latin typeface="Calibri"/>
              </a:rPr>
              <a:t>respectively, against the segment average of</a:t>
            </a:r>
          </a:p>
        </p:txBody>
      </p:sp>
      <p:pic>
        <p:nvPicPr>
          <p:cNvPr id="27" name="Picture 26" descr="lock.png"/>
          <p:cNvPicPr>
            <a:picLocks noChangeAspect="1"/>
          </p:cNvPicPr>
          <p:nvPr/>
        </p:nvPicPr>
        <p:blipFill>
          <a:blip r:embed="rId6"/>
          <a:stretch>
            <a:fillRect/>
          </a:stretch>
        </p:blipFill>
        <p:spPr>
          <a:xfrm>
            <a:off x="2811579" y="6019545"/>
            <a:ext cx="128699" cy="187198"/>
          </a:xfrm>
          <a:prstGeom prst="rect">
            <a:avLst/>
          </a:prstGeom>
        </p:spPr>
      </p:pic>
      <p:sp>
        <p:nvSpPr>
          <p:cNvPr id="28" name="TextBox 27"/>
          <p:cNvSpPr txBox="1"/>
          <p:nvPr/>
        </p:nvSpPr>
        <p:spPr>
          <a:xfrm>
            <a:off x="2979074" y="6029325"/>
            <a:ext cx="8832006" cy="186689"/>
          </a:xfrm>
          <a:prstGeom prst="rect">
            <a:avLst/>
          </a:prstGeom>
          <a:noFill/>
        </p:spPr>
        <p:txBody>
          <a:bodyPr wrap="none" lIns="0" rIns="0" tIns="0" bIns="0">
            <a:spAutoFit/>
          </a:bodyPr>
          <a:lstStyle/>
          <a:p>
            <a:r>
              <a:rPr sz="1100" b="0">
                <a:solidFill>
                  <a:srgbClr val="2E2E2E"/>
                </a:solidFill>
                <a:latin typeface="Calibri"/>
              </a:rPr>
              <a:t>. The hydrolyzed eggshell membrane segment is expected to be less attractive as compared to other segments over the forecast period, owing to its lower</a:t>
            </a:r>
          </a:p>
        </p:txBody>
      </p:sp>
      <p:sp>
        <p:nvSpPr>
          <p:cNvPr id="29" name="TextBox 28"/>
          <p:cNvSpPr txBox="1"/>
          <p:nvPr/>
        </p:nvSpPr>
        <p:spPr>
          <a:xfrm>
            <a:off x="257175" y="6196965"/>
            <a:ext cx="6434425" cy="186689"/>
          </a:xfrm>
          <a:prstGeom prst="rect">
            <a:avLst/>
          </a:prstGeom>
          <a:noFill/>
        </p:spPr>
        <p:txBody>
          <a:bodyPr wrap="none" lIns="0" rIns="0" tIns="0" bIns="0">
            <a:spAutoFit/>
          </a:bodyPr>
          <a:lstStyle/>
          <a:p>
            <a:r>
              <a:rPr sz="1100" b="0">
                <a:solidFill>
                  <a:srgbClr val="2E2E2E"/>
                </a:solidFill>
                <a:latin typeface="Calibri"/>
              </a:rPr>
              <a:t>CAGR and incremental opportunity. Bubbles right of the CAGR-Index line grow faster than the segment average.</a:t>
            </a:r>
          </a:p>
        </p:txBody>
      </p:sp>
      <p:sp>
        <p:nvSpPr>
          <p:cNvPr id="30" name="lockshield_9"/>
          <p:cNvSpPr/>
          <p:nvPr/>
        </p:nvSpPr>
        <p:spPr>
          <a:xfrm>
            <a:off x="238125" y="1438275"/>
            <a:ext cx="6153150"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lockshield_12"/>
          <p:cNvSpPr/>
          <p:nvPr/>
        </p:nvSpPr>
        <p:spPr>
          <a:xfrm>
            <a:off x="6734175" y="1438275"/>
            <a:ext cx="5210175"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Absolute $ Opportunity Analysis, By Product Type</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Product Type and the absolute $ opportunity each sub-segment adds, 2026–2036</a:t>
            </a:r>
          </a:p>
        </p:txBody>
      </p:sp>
      <p:sp>
        <p:nvSpPr>
          <p:cNvPr id="7" name="Rounded Rectangle 6"/>
          <p:cNvSpPr/>
          <p:nvPr/>
        </p:nvSpPr>
        <p:spPr>
          <a:xfrm>
            <a:off x="142875" y="981075"/>
            <a:ext cx="5876925"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Micronized Eggshell Membrane</a:t>
            </a:r>
          </a:p>
        </p:txBody>
      </p:sp>
      <p:graphicFrame>
        <p:nvGraphicFramePr>
          <p:cNvPr id="9" name="Chart 8"/>
          <p:cNvGraphicFramePr>
            <a:graphicFrameLocks noGrp="1"/>
          </p:cNvGraphicFramePr>
          <p:nvPr/>
        </p:nvGraphicFramePr>
        <p:xfrm>
          <a:off x="238125" y="1438275"/>
          <a:ext cx="5686425" cy="2238375"/>
        </p:xfrm>
        <a:graphic>
          <a:graphicData uri="http://schemas.openxmlformats.org/drawingml/2006/chart">
            <c:chart xmlns:c="http://schemas.openxmlformats.org/drawingml/2006/chart" r:id="rId3"/>
          </a:graphicData>
        </a:graphic>
      </p:graphicFrame>
      <p:sp>
        <p:nvSpPr>
          <p:cNvPr id="10" name="Rounded Rectangle 9"/>
          <p:cNvSpPr/>
          <p:nvPr/>
        </p:nvSpPr>
        <p:spPr>
          <a:xfrm>
            <a:off x="6172200" y="981075"/>
            <a:ext cx="5876925"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67450"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Hydrolyzed Eggshell Membrane</a:t>
            </a:r>
          </a:p>
        </p:txBody>
      </p:sp>
      <p:graphicFrame>
        <p:nvGraphicFramePr>
          <p:cNvPr id="12" name="Chart 11"/>
          <p:cNvGraphicFramePr>
            <a:graphicFrameLocks noGrp="1"/>
          </p:cNvGraphicFramePr>
          <p:nvPr/>
        </p:nvGraphicFramePr>
        <p:xfrm>
          <a:off x="6267450" y="1438275"/>
          <a:ext cx="5686425" cy="2238375"/>
        </p:xfrm>
        <a:graphic>
          <a:graphicData uri="http://schemas.openxmlformats.org/drawingml/2006/chart">
            <c:chart xmlns:c="http://schemas.openxmlformats.org/drawingml/2006/chart" r:id="rId4"/>
          </a:graphicData>
        </a:graphic>
      </p:graphicFrame>
      <p:sp>
        <p:nvSpPr>
          <p:cNvPr id="13" name="Rounded Rectangle 12"/>
          <p:cNvSpPr/>
          <p:nvPr/>
        </p:nvSpPr>
        <p:spPr>
          <a:xfrm>
            <a:off x="142875" y="3867150"/>
            <a:ext cx="5876925"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38125"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Specialty Extracted Protein Fractions</a:t>
            </a:r>
          </a:p>
        </p:txBody>
      </p:sp>
      <p:graphicFrame>
        <p:nvGraphicFramePr>
          <p:cNvPr id="15" name="Chart 14"/>
          <p:cNvGraphicFramePr>
            <a:graphicFrameLocks noGrp="1"/>
          </p:cNvGraphicFramePr>
          <p:nvPr/>
        </p:nvGraphicFramePr>
        <p:xfrm>
          <a:off x="238125" y="4324350"/>
          <a:ext cx="5686425" cy="2238375"/>
        </p:xfrm>
        <a:graphic>
          <a:graphicData uri="http://schemas.openxmlformats.org/drawingml/2006/chart">
            <c:chart xmlns:c="http://schemas.openxmlformats.org/drawingml/2006/chart" r:id="rId5"/>
          </a:graphicData>
        </a:graphic>
      </p:graphicFrame>
      <p:sp>
        <p:nvSpPr>
          <p:cNvPr id="16" name="Rounded Rectangle 15"/>
          <p:cNvSpPr/>
          <p:nvPr/>
        </p:nvSpPr>
        <p:spPr>
          <a:xfrm>
            <a:off x="6172200" y="3867150"/>
            <a:ext cx="5876925"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05550" y="3952875"/>
            <a:ext cx="5610225" cy="407620"/>
          </a:xfrm>
          <a:prstGeom prst="rect">
            <a:avLst/>
          </a:prstGeom>
          <a:noFill/>
        </p:spPr>
        <p:txBody>
          <a:bodyPr wrap="square" lIns="0" rIns="19050" tIns="9525" bIns="9525">
            <a:spAutoFit/>
          </a:bodyPr>
          <a:lstStyle/>
          <a:p>
            <a:pPr algn="l"/>
            <a:r>
              <a:rPr sz="1300" b="1">
                <a:solidFill>
                  <a:srgbClr val="0E2A5C"/>
                </a:solidFill>
                <a:latin typeface="Calibri"/>
              </a:rPr>
              <a:t>Summary of North America Absolute $ Opportunity Analysis, By Product Type</a:t>
            </a:r>
          </a:p>
        </p:txBody>
      </p:sp>
      <p:sp>
        <p:nvSpPr>
          <p:cNvPr id="18" name="Rectangle 17"/>
          <p:cNvSpPr/>
          <p:nvPr/>
        </p:nvSpPr>
        <p:spPr>
          <a:xfrm>
            <a:off x="6305550" y="4389070"/>
            <a:ext cx="5610225"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05550" y="4474795"/>
            <a:ext cx="5610225" cy="206888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20" name="Rectangle 19"/>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22" name="Picture 21" descr="lock.png"/>
          <p:cNvPicPr>
            <a:picLocks noChangeAspect="1"/>
          </p:cNvPicPr>
          <p:nvPr/>
        </p:nvPicPr>
        <p:blipFill>
          <a:blip r:embed="rId7"/>
          <a:stretch>
            <a:fillRect/>
          </a:stretch>
        </p:blipFill>
        <p:spPr>
          <a:xfrm>
            <a:off x="3100230" y="2330679"/>
            <a:ext cx="252890" cy="367840"/>
          </a:xfrm>
          <a:prstGeom prst="rect">
            <a:avLst/>
          </a:prstGeom>
        </p:spPr>
      </p:pic>
      <p:pic>
        <p:nvPicPr>
          <p:cNvPr id="23" name="Picture 22" descr="lock.png"/>
          <p:cNvPicPr>
            <a:picLocks noChangeAspect="1"/>
          </p:cNvPicPr>
          <p:nvPr/>
        </p:nvPicPr>
        <p:blipFill>
          <a:blip r:embed="rId7"/>
          <a:stretch>
            <a:fillRect/>
          </a:stretch>
        </p:blipFill>
        <p:spPr>
          <a:xfrm>
            <a:off x="9129555" y="2330679"/>
            <a:ext cx="252890" cy="367840"/>
          </a:xfrm>
          <a:prstGeom prst="rect">
            <a:avLst/>
          </a:prstGeom>
        </p:spPr>
      </p:pic>
      <p:pic>
        <p:nvPicPr>
          <p:cNvPr id="24" name="Picture 23" descr="lock.png"/>
          <p:cNvPicPr>
            <a:picLocks noChangeAspect="1"/>
          </p:cNvPicPr>
          <p:nvPr/>
        </p:nvPicPr>
        <p:blipFill>
          <a:blip r:embed="rId7"/>
          <a:stretch>
            <a:fillRect/>
          </a:stretch>
        </p:blipFill>
        <p:spPr>
          <a:xfrm>
            <a:off x="3100230" y="5216754"/>
            <a:ext cx="252890" cy="367840"/>
          </a:xfrm>
          <a:prstGeom prst="rect">
            <a:avLst/>
          </a:prstGeom>
        </p:spPr>
      </p:pic>
      <p:sp>
        <p:nvSpPr>
          <p:cNvPr id="25" name="TextBox 24"/>
          <p:cNvSpPr txBox="1"/>
          <p:nvPr/>
        </p:nvSpPr>
        <p:spPr>
          <a:xfrm>
            <a:off x="6305550" y="4484320"/>
            <a:ext cx="5362503" cy="194310"/>
          </a:xfrm>
          <a:prstGeom prst="rect">
            <a:avLst/>
          </a:prstGeom>
          <a:noFill/>
        </p:spPr>
        <p:txBody>
          <a:bodyPr wrap="none" lIns="0" rIns="0" tIns="0" bIns="0">
            <a:spAutoFit/>
          </a:bodyPr>
          <a:lstStyle/>
          <a:p>
            <a:r>
              <a:rPr sz="1150" b="0">
                <a:solidFill>
                  <a:srgbClr val="2E2E2E"/>
                </a:solidFill>
                <a:latin typeface="Calibri"/>
              </a:rPr>
              <a:t>By 2036, micronized eggshell membrane segment is anticipated to witness an increase of</a:t>
            </a:r>
          </a:p>
        </p:txBody>
      </p:sp>
      <p:pic>
        <p:nvPicPr>
          <p:cNvPr id="26" name="Picture 25" descr="lock.png"/>
          <p:cNvPicPr>
            <a:picLocks noChangeAspect="1"/>
          </p:cNvPicPr>
          <p:nvPr/>
        </p:nvPicPr>
        <p:blipFill>
          <a:blip r:embed="rId7"/>
          <a:stretch>
            <a:fillRect/>
          </a:stretch>
        </p:blipFill>
        <p:spPr>
          <a:xfrm>
            <a:off x="6291470" y="4649356"/>
            <a:ext cx="134549" cy="195707"/>
          </a:xfrm>
          <a:prstGeom prst="rect">
            <a:avLst/>
          </a:prstGeom>
        </p:spPr>
      </p:pic>
      <p:sp>
        <p:nvSpPr>
          <p:cNvPr id="27" name="TextBox 26"/>
          <p:cNvSpPr txBox="1"/>
          <p:nvPr/>
        </p:nvSpPr>
        <p:spPr>
          <a:xfrm>
            <a:off x="6466579" y="4659580"/>
            <a:ext cx="5322304" cy="194310"/>
          </a:xfrm>
          <a:prstGeom prst="rect">
            <a:avLst/>
          </a:prstGeom>
          <a:noFill/>
        </p:spPr>
        <p:txBody>
          <a:bodyPr wrap="none" lIns="0" rIns="0" tIns="0" bIns="0">
            <a:spAutoFit/>
          </a:bodyPr>
          <a:lstStyle/>
          <a:p>
            <a:r>
              <a:rPr sz="1150" b="0">
                <a:solidFill>
                  <a:srgbClr val="2E2E2E"/>
                </a:solidFill>
                <a:latin typeface="Calibri"/>
              </a:rPr>
              <a:t>X in terms of value as compared to 2026. The micronized eggshell membrane segment is</a:t>
            </a:r>
          </a:p>
        </p:txBody>
      </p:sp>
      <p:sp>
        <p:nvSpPr>
          <p:cNvPr id="28" name="TextBox 27"/>
          <p:cNvSpPr txBox="1"/>
          <p:nvPr/>
        </p:nvSpPr>
        <p:spPr>
          <a:xfrm>
            <a:off x="6305550" y="4834840"/>
            <a:ext cx="3285306" cy="194310"/>
          </a:xfrm>
          <a:prstGeom prst="rect">
            <a:avLst/>
          </a:prstGeom>
          <a:noFill/>
        </p:spPr>
        <p:txBody>
          <a:bodyPr wrap="none" lIns="0" rIns="0" tIns="0" bIns="0">
            <a:spAutoFit/>
          </a:bodyPr>
          <a:lstStyle/>
          <a:p>
            <a:r>
              <a:rPr sz="1150" b="0">
                <a:solidFill>
                  <a:srgbClr val="2E2E2E"/>
                </a:solidFill>
                <a:latin typeface="Calibri"/>
              </a:rPr>
              <a:t>expected to create an incremental opportunity of US$</a:t>
            </a:r>
          </a:p>
        </p:txBody>
      </p:sp>
      <p:pic>
        <p:nvPicPr>
          <p:cNvPr id="29" name="Picture 28" descr="lock.png"/>
          <p:cNvPicPr>
            <a:picLocks noChangeAspect="1"/>
          </p:cNvPicPr>
          <p:nvPr/>
        </p:nvPicPr>
        <p:blipFill>
          <a:blip r:embed="rId7"/>
          <a:stretch>
            <a:fillRect/>
          </a:stretch>
        </p:blipFill>
        <p:spPr>
          <a:xfrm>
            <a:off x="9540010" y="4824616"/>
            <a:ext cx="134549" cy="195707"/>
          </a:xfrm>
          <a:prstGeom prst="rect">
            <a:avLst/>
          </a:prstGeom>
        </p:spPr>
      </p:pic>
      <p:sp>
        <p:nvSpPr>
          <p:cNvPr id="30" name="TextBox 29"/>
          <p:cNvSpPr txBox="1"/>
          <p:nvPr/>
        </p:nvSpPr>
        <p:spPr>
          <a:xfrm>
            <a:off x="9715119" y="4834840"/>
            <a:ext cx="1865597" cy="194310"/>
          </a:xfrm>
          <a:prstGeom prst="rect">
            <a:avLst/>
          </a:prstGeom>
          <a:noFill/>
        </p:spPr>
        <p:txBody>
          <a:bodyPr wrap="none" lIns="0" rIns="0" tIns="0" bIns="0">
            <a:spAutoFit/>
          </a:bodyPr>
          <a:lstStyle/>
          <a:p>
            <a:r>
              <a:rPr sz="1150" b="0">
                <a:solidFill>
                  <a:srgbClr val="2E2E2E"/>
                </a:solidFill>
                <a:latin typeface="Calibri"/>
              </a:rPr>
              <a:t>Mn for the overall egg protein</a:t>
            </a:r>
          </a:p>
        </p:txBody>
      </p:sp>
      <p:sp>
        <p:nvSpPr>
          <p:cNvPr id="31" name="TextBox 30"/>
          <p:cNvSpPr txBox="1"/>
          <p:nvPr/>
        </p:nvSpPr>
        <p:spPr>
          <a:xfrm>
            <a:off x="6305550" y="5010100"/>
            <a:ext cx="2366218" cy="194310"/>
          </a:xfrm>
          <a:prstGeom prst="rect">
            <a:avLst/>
          </a:prstGeom>
          <a:noFill/>
        </p:spPr>
        <p:txBody>
          <a:bodyPr wrap="none" lIns="0" rIns="0" tIns="0" bIns="0">
            <a:spAutoFit/>
          </a:bodyPr>
          <a:lstStyle/>
          <a:p>
            <a:r>
              <a:rPr sz="1150" b="0">
                <a:solidFill>
                  <a:srgbClr val="2E2E2E"/>
                </a:solidFill>
                <a:latin typeface="Calibri"/>
              </a:rPr>
              <a:t>membrane market from 2026 to 2036.</a:t>
            </a:r>
          </a:p>
        </p:txBody>
      </p:sp>
      <p:sp>
        <p:nvSpPr>
          <p:cNvPr id="32" name="TextBox 31"/>
          <p:cNvSpPr txBox="1"/>
          <p:nvPr/>
        </p:nvSpPr>
        <p:spPr>
          <a:xfrm>
            <a:off x="6305550" y="5237938"/>
            <a:ext cx="5221609" cy="194310"/>
          </a:xfrm>
          <a:prstGeom prst="rect">
            <a:avLst/>
          </a:prstGeom>
          <a:noFill/>
        </p:spPr>
        <p:txBody>
          <a:bodyPr wrap="none" lIns="0" rIns="0" tIns="0" bIns="0">
            <a:spAutoFit/>
          </a:bodyPr>
          <a:lstStyle/>
          <a:p>
            <a:r>
              <a:rPr sz="1150" b="0">
                <a:solidFill>
                  <a:srgbClr val="2E2E2E"/>
                </a:solidFill>
                <a:latin typeface="Calibri"/>
              </a:rPr>
              <a:t>The specialty extracted protein fractions segment is expected to create an incremental</a:t>
            </a:r>
          </a:p>
        </p:txBody>
      </p:sp>
      <p:sp>
        <p:nvSpPr>
          <p:cNvPr id="33" name="TextBox 32"/>
          <p:cNvSpPr txBox="1"/>
          <p:nvPr/>
        </p:nvSpPr>
        <p:spPr>
          <a:xfrm>
            <a:off x="6305550" y="5413197"/>
            <a:ext cx="1208943" cy="194310"/>
          </a:xfrm>
          <a:prstGeom prst="rect">
            <a:avLst/>
          </a:prstGeom>
          <a:noFill/>
        </p:spPr>
        <p:txBody>
          <a:bodyPr wrap="none" lIns="0" rIns="0" tIns="0" bIns="0">
            <a:spAutoFit/>
          </a:bodyPr>
          <a:lstStyle/>
          <a:p>
            <a:r>
              <a:rPr sz="1150" b="0">
                <a:solidFill>
                  <a:srgbClr val="2E2E2E"/>
                </a:solidFill>
                <a:latin typeface="Calibri"/>
              </a:rPr>
              <a:t>opportunity of US$</a:t>
            </a:r>
          </a:p>
        </p:txBody>
      </p:sp>
      <p:pic>
        <p:nvPicPr>
          <p:cNvPr id="34" name="Picture 33" descr="lock.png"/>
          <p:cNvPicPr>
            <a:picLocks noChangeAspect="1"/>
          </p:cNvPicPr>
          <p:nvPr/>
        </p:nvPicPr>
        <p:blipFill>
          <a:blip r:embed="rId7"/>
          <a:stretch>
            <a:fillRect/>
          </a:stretch>
        </p:blipFill>
        <p:spPr>
          <a:xfrm>
            <a:off x="7463647" y="5402974"/>
            <a:ext cx="134549" cy="195707"/>
          </a:xfrm>
          <a:prstGeom prst="rect">
            <a:avLst/>
          </a:prstGeom>
        </p:spPr>
      </p:pic>
      <p:sp>
        <p:nvSpPr>
          <p:cNvPr id="35" name="TextBox 34"/>
          <p:cNvSpPr txBox="1"/>
          <p:nvPr/>
        </p:nvSpPr>
        <p:spPr>
          <a:xfrm>
            <a:off x="7638756" y="5413197"/>
            <a:ext cx="4188705" cy="194310"/>
          </a:xfrm>
          <a:prstGeom prst="rect">
            <a:avLst/>
          </a:prstGeom>
          <a:noFill/>
        </p:spPr>
        <p:txBody>
          <a:bodyPr wrap="none" lIns="0" rIns="0" tIns="0" bIns="0">
            <a:spAutoFit/>
          </a:bodyPr>
          <a:lstStyle/>
          <a:p>
            <a:r>
              <a:rPr sz="1150" b="0">
                <a:solidFill>
                  <a:srgbClr val="2E2E2E"/>
                </a:solidFill>
                <a:latin typeface="Calibri"/>
              </a:rPr>
              <a:t>Mn for the overall egg protein membrane market from 2026 to 2036.</a:t>
            </a:r>
          </a:p>
        </p:txBody>
      </p:sp>
      <p:sp>
        <p:nvSpPr>
          <p:cNvPr id="36" name="TextBox 35"/>
          <p:cNvSpPr txBox="1"/>
          <p:nvPr/>
        </p:nvSpPr>
        <p:spPr>
          <a:xfrm>
            <a:off x="6305550" y="5588457"/>
            <a:ext cx="4935215" cy="194310"/>
          </a:xfrm>
          <a:prstGeom prst="rect">
            <a:avLst/>
          </a:prstGeom>
          <a:noFill/>
        </p:spPr>
        <p:txBody>
          <a:bodyPr wrap="none" lIns="0" rIns="0" tIns="0" bIns="0">
            <a:spAutoFit/>
          </a:bodyPr>
          <a:lstStyle/>
          <a:p>
            <a:r>
              <a:rPr sz="1150" b="0">
                <a:solidFill>
                  <a:srgbClr val="2E2E2E"/>
                </a:solidFill>
                <a:latin typeface="Calibri"/>
              </a:rPr>
              <a:t>The hydrolyzed eggshell membrane segment is expected to create an incremental</a:t>
            </a:r>
          </a:p>
        </p:txBody>
      </p:sp>
      <p:sp>
        <p:nvSpPr>
          <p:cNvPr id="37" name="TextBox 36"/>
          <p:cNvSpPr txBox="1"/>
          <p:nvPr/>
        </p:nvSpPr>
        <p:spPr>
          <a:xfrm>
            <a:off x="6305550" y="5763717"/>
            <a:ext cx="1208943" cy="194310"/>
          </a:xfrm>
          <a:prstGeom prst="rect">
            <a:avLst/>
          </a:prstGeom>
          <a:noFill/>
        </p:spPr>
        <p:txBody>
          <a:bodyPr wrap="none" lIns="0" rIns="0" tIns="0" bIns="0">
            <a:spAutoFit/>
          </a:bodyPr>
          <a:lstStyle/>
          <a:p>
            <a:r>
              <a:rPr sz="1150" b="0">
                <a:solidFill>
                  <a:srgbClr val="2E2E2E"/>
                </a:solidFill>
                <a:latin typeface="Calibri"/>
              </a:rPr>
              <a:t>opportunity of US$</a:t>
            </a:r>
          </a:p>
        </p:txBody>
      </p:sp>
      <p:pic>
        <p:nvPicPr>
          <p:cNvPr id="38" name="Picture 37" descr="lock.png"/>
          <p:cNvPicPr>
            <a:picLocks noChangeAspect="1"/>
          </p:cNvPicPr>
          <p:nvPr/>
        </p:nvPicPr>
        <p:blipFill>
          <a:blip r:embed="rId7"/>
          <a:stretch>
            <a:fillRect/>
          </a:stretch>
        </p:blipFill>
        <p:spPr>
          <a:xfrm>
            <a:off x="7463647" y="5753494"/>
            <a:ext cx="134549" cy="195707"/>
          </a:xfrm>
          <a:prstGeom prst="rect">
            <a:avLst/>
          </a:prstGeom>
        </p:spPr>
      </p:pic>
      <p:sp>
        <p:nvSpPr>
          <p:cNvPr id="39" name="TextBox 38"/>
          <p:cNvSpPr txBox="1"/>
          <p:nvPr/>
        </p:nvSpPr>
        <p:spPr>
          <a:xfrm>
            <a:off x="7638756" y="5763717"/>
            <a:ext cx="4188705" cy="194310"/>
          </a:xfrm>
          <a:prstGeom prst="rect">
            <a:avLst/>
          </a:prstGeom>
          <a:noFill/>
        </p:spPr>
        <p:txBody>
          <a:bodyPr wrap="none" lIns="0" rIns="0" tIns="0" bIns="0">
            <a:spAutoFit/>
          </a:bodyPr>
          <a:lstStyle/>
          <a:p>
            <a:r>
              <a:rPr sz="1150" b="0">
                <a:solidFill>
                  <a:srgbClr val="2E2E2E"/>
                </a:solidFill>
                <a:latin typeface="Calibri"/>
              </a:rPr>
              <a:t>Mn for the overall egg protein membrane market from 2026 to 2036.</a:t>
            </a:r>
          </a:p>
        </p:txBody>
      </p:sp>
      <p:sp>
        <p:nvSpPr>
          <p:cNvPr id="40" name="lockshield_9"/>
          <p:cNvSpPr/>
          <p:nvPr/>
        </p:nvSpPr>
        <p:spPr>
          <a:xfrm>
            <a:off x="238125"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lockshield_12"/>
          <p:cNvSpPr/>
          <p:nvPr/>
        </p:nvSpPr>
        <p:spPr>
          <a:xfrm>
            <a:off x="6267450"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lockshield_15"/>
          <p:cNvSpPr/>
          <p:nvPr/>
        </p:nvSpPr>
        <p:spPr>
          <a:xfrm>
            <a:off x="238125"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Value Analysis, By Product Type (US$ Mn)</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by Product Type, 2021–2036, highlighting the sub-segments driving growth</a:t>
            </a:r>
          </a:p>
        </p:txBody>
      </p:sp>
      <p:sp>
        <p:nvSpPr>
          <p:cNvPr id="7" name="Rounded Rectangle 6"/>
          <p:cNvSpPr/>
          <p:nvPr/>
        </p:nvSpPr>
        <p:spPr>
          <a:xfrm>
            <a:off x="142875" y="981075"/>
            <a:ext cx="11906250" cy="1704975"/>
          </a:xfrm>
          <a:prstGeom prst="roundRect">
            <a:avLst>
              <a:gd name="adj" fmla="val 446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By Product Type (US$ Mn)</a:t>
            </a:r>
          </a:p>
        </p:txBody>
      </p:sp>
      <p:graphicFrame>
        <p:nvGraphicFramePr>
          <p:cNvPr id="9" name="Table 8"/>
          <p:cNvGraphicFramePr>
            <a:graphicFrameLocks noGrp="1"/>
          </p:cNvGraphicFramePr>
          <p:nvPr/>
        </p:nvGraphicFramePr>
        <p:xfrm>
          <a:off x="152400" y="1238250"/>
          <a:ext cx="11887199" cy="1238250"/>
        </p:xfrm>
        <a:graphic>
          <a:graphicData uri="http://schemas.openxmlformats.org/drawingml/2006/table">
            <a:tbl>
              <a:tblPr>
                <a:tableStyleId>{5C22544A-7EE6-4342-B048-85BDC9FD1C3A}</a:tableStyleId>
              </a:tblPr>
              <a:tblGrid>
                <a:gridCol w="2336582"/>
                <a:gridCol w="561801"/>
                <a:gridCol w="561801"/>
                <a:gridCol w="561801"/>
                <a:gridCol w="561801"/>
                <a:gridCol w="561801"/>
                <a:gridCol w="561801"/>
                <a:gridCol w="561801"/>
                <a:gridCol w="561801"/>
                <a:gridCol w="561801"/>
                <a:gridCol w="561801"/>
                <a:gridCol w="561801"/>
                <a:gridCol w="561801"/>
                <a:gridCol w="561801"/>
                <a:gridCol w="561801"/>
                <a:gridCol w="561801"/>
                <a:gridCol w="561801"/>
                <a:gridCol w="561801"/>
              </a:tblGrid>
              <a:tr h="246126">
                <a:tc>
                  <a:txBody>
                    <a:bodyPr wrap="none"/>
                    <a:lstStyle/>
                    <a:p>
                      <a:pPr algn="l"/>
                      <a:r>
                        <a:rPr sz="1100" b="1">
                          <a:solidFill>
                            <a:srgbClr val="0E2A5C"/>
                          </a:solidFill>
                          <a:latin typeface="Calibri"/>
                        </a:rPr>
                        <a:t>Product Type</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2021A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2022A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2023A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2024A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2025A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2026E</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2027F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2028F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2029F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2030F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2031F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2032F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2033F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2034F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2035F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2036F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F-CAGR</a:t>
                      </a:r>
                      <a:endParaRPr sz="1100"/>
                    </a:p>
                  </a:txBody>
                  <a:tcPr marL="47625" marR="38100" marT="19050" marB="19050" anchor="ctr">
                    <a:solidFill>
                      <a:srgbClr val="EBF2F9"/>
                    </a:solidFill>
                  </a:tcPr>
                </a:tc>
              </a:tr>
              <a:tr h="248031">
                <a:tc>
                  <a:txBody>
                    <a:bodyPr wrap="none"/>
                    <a:lstStyle/>
                    <a:p>
                      <a:pPr algn="l"/>
                      <a:r>
                        <a:rPr sz="1100" b="1">
                          <a:solidFill>
                            <a:srgbClr val="2E2E2E"/>
                          </a:solidFill>
                          <a:latin typeface="Calibri"/>
                        </a:rPr>
                        <a:t>Micronized Eggshell Membrane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8031">
                <a:tc>
                  <a:txBody>
                    <a:bodyPr wrap="none"/>
                    <a:lstStyle/>
                    <a:p>
                      <a:pPr algn="l"/>
                      <a:r>
                        <a:rPr sz="1100" b="1">
                          <a:solidFill>
                            <a:srgbClr val="2E2E2E"/>
                          </a:solidFill>
                          <a:latin typeface="Calibri"/>
                        </a:rPr>
                        <a:t>Hydrolyzed Eggshell Membrane</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8031">
                <a:tc>
                  <a:txBody>
                    <a:bodyPr wrap="none"/>
                    <a:lstStyle/>
                    <a:p>
                      <a:pPr algn="l"/>
                      <a:r>
                        <a:rPr sz="1100" b="1">
                          <a:solidFill>
                            <a:srgbClr val="2E2E2E"/>
                          </a:solidFill>
                          <a:latin typeface="Calibri"/>
                        </a:rPr>
                        <a:t>Specialty Extracted Protein Fractions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8031">
                <a:tc>
                  <a:txBody>
                    <a:bodyPr wrap="none"/>
                    <a:lstStyle/>
                    <a:p>
                      <a:pPr algn="l"/>
                      <a:r>
                        <a:rPr sz="1100" b="1">
                          <a:solidFill>
                            <a:srgbClr val="2E2E2E"/>
                          </a:solidFill>
                          <a:latin typeface="Calibri"/>
                        </a:rPr>
                        <a:t>Total</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r>
            </a:tbl>
          </a:graphicData>
        </a:graphic>
      </p:graphicFrame>
      <p:sp>
        <p:nvSpPr>
          <p:cNvPr id="10" name="TextBox 9"/>
          <p:cNvSpPr txBox="1"/>
          <p:nvPr/>
        </p:nvSpPr>
        <p:spPr>
          <a:xfrm>
            <a:off x="219075" y="248602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11" name="Rounded Rectangle 10"/>
          <p:cNvSpPr/>
          <p:nvPr/>
        </p:nvSpPr>
        <p:spPr>
          <a:xfrm>
            <a:off x="142875" y="2819400"/>
            <a:ext cx="11906250" cy="3810000"/>
          </a:xfrm>
          <a:prstGeom prst="roundRect">
            <a:avLst>
              <a:gd name="adj" fmla="val 2000"/>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6225" y="2905125"/>
            <a:ext cx="11639550" cy="209550"/>
          </a:xfrm>
          <a:prstGeom prst="rect">
            <a:avLst/>
          </a:prstGeom>
          <a:noFill/>
        </p:spPr>
        <p:txBody>
          <a:bodyPr wrap="square" lIns="0" rIns="19050" tIns="9525" bIns="9525">
            <a:spAutoFit/>
          </a:bodyPr>
          <a:lstStyle/>
          <a:p>
            <a:pPr algn="l"/>
            <a:r>
              <a:rPr sz="1300" b="1">
                <a:solidFill>
                  <a:srgbClr val="0E2A5C"/>
                </a:solidFill>
                <a:latin typeface="Calibri"/>
              </a:rPr>
              <a:t>North America Value Analysis, By Product Type</a:t>
            </a:r>
          </a:p>
        </p:txBody>
      </p:sp>
      <p:sp>
        <p:nvSpPr>
          <p:cNvPr id="13" name="Rectangle 12"/>
          <p:cNvSpPr/>
          <p:nvPr/>
        </p:nvSpPr>
        <p:spPr>
          <a:xfrm>
            <a:off x="276225" y="3143250"/>
            <a:ext cx="116395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6225" y="3228975"/>
            <a:ext cx="11639550" cy="332422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5" name="Rectangle 14"/>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7" name="Picture 16" descr="lock.png"/>
          <p:cNvPicPr>
            <a:picLocks noChangeAspect="1"/>
          </p:cNvPicPr>
          <p:nvPr/>
        </p:nvPicPr>
        <p:blipFill>
          <a:blip r:embed="rId4"/>
          <a:stretch>
            <a:fillRect/>
          </a:stretch>
        </p:blipFill>
        <p:spPr>
          <a:xfrm>
            <a:off x="7077600" y="1713738"/>
            <a:ext cx="366712" cy="533400"/>
          </a:xfrm>
          <a:prstGeom prst="rect">
            <a:avLst/>
          </a:prstGeom>
        </p:spPr>
      </p:pic>
      <p:sp>
        <p:nvSpPr>
          <p:cNvPr id="18" name="TextBox 17"/>
          <p:cNvSpPr txBox="1"/>
          <p:nvPr/>
        </p:nvSpPr>
        <p:spPr>
          <a:xfrm>
            <a:off x="276225" y="3238500"/>
            <a:ext cx="4155901" cy="194310"/>
          </a:xfrm>
          <a:prstGeom prst="rect">
            <a:avLst/>
          </a:prstGeom>
          <a:noFill/>
        </p:spPr>
        <p:txBody>
          <a:bodyPr wrap="none" lIns="0" rIns="0" tIns="0" bIns="0">
            <a:spAutoFit/>
          </a:bodyPr>
          <a:lstStyle/>
          <a:p>
            <a:r>
              <a:rPr sz="1150" b="0">
                <a:solidFill>
                  <a:srgbClr val="2E2E2E"/>
                </a:solidFill>
                <a:latin typeface="Calibri"/>
              </a:rPr>
              <a:t>Specialty extracted protein fractions segment is projected to register</a:t>
            </a:r>
          </a:p>
        </p:txBody>
      </p:sp>
      <p:pic>
        <p:nvPicPr>
          <p:cNvPr id="19" name="Picture 18" descr="lock.png"/>
          <p:cNvPicPr>
            <a:picLocks noChangeAspect="1"/>
          </p:cNvPicPr>
          <p:nvPr/>
        </p:nvPicPr>
        <p:blipFill>
          <a:blip r:embed="rId4"/>
          <a:stretch>
            <a:fillRect/>
          </a:stretch>
        </p:blipFill>
        <p:spPr>
          <a:xfrm>
            <a:off x="4381280" y="3228276"/>
            <a:ext cx="134549" cy="195707"/>
          </a:xfrm>
          <a:prstGeom prst="rect">
            <a:avLst/>
          </a:prstGeom>
        </p:spPr>
      </p:pic>
      <p:sp>
        <p:nvSpPr>
          <p:cNvPr id="20" name="TextBox 19"/>
          <p:cNvSpPr txBox="1"/>
          <p:nvPr/>
        </p:nvSpPr>
        <p:spPr>
          <a:xfrm>
            <a:off x="4556389" y="3238500"/>
            <a:ext cx="7042670" cy="194310"/>
          </a:xfrm>
          <a:prstGeom prst="rect">
            <a:avLst/>
          </a:prstGeom>
          <a:noFill/>
        </p:spPr>
        <p:txBody>
          <a:bodyPr wrap="none" lIns="0" rIns="0" tIns="0" bIns="0">
            <a:spAutoFit/>
          </a:bodyPr>
          <a:lstStyle/>
          <a:p>
            <a:r>
              <a:rPr sz="1150" b="0">
                <a:solidFill>
                  <a:srgbClr val="2E2E2E"/>
                </a:solidFill>
                <a:latin typeface="Calibri"/>
              </a:rPr>
              <a:t>X higher value than micronized eggshell membrane segment in 2036. Among egg protein membrane by product type,</a:t>
            </a:r>
          </a:p>
        </p:txBody>
      </p:sp>
      <p:sp>
        <p:nvSpPr>
          <p:cNvPr id="21" name="TextBox 20"/>
          <p:cNvSpPr txBox="1"/>
          <p:nvPr/>
        </p:nvSpPr>
        <p:spPr>
          <a:xfrm>
            <a:off x="276225" y="3413760"/>
            <a:ext cx="5047872" cy="194310"/>
          </a:xfrm>
          <a:prstGeom prst="rect">
            <a:avLst/>
          </a:prstGeom>
          <a:noFill/>
        </p:spPr>
        <p:txBody>
          <a:bodyPr wrap="none" lIns="0" rIns="0" tIns="0" bIns="0">
            <a:spAutoFit/>
          </a:bodyPr>
          <a:lstStyle/>
          <a:p>
            <a:r>
              <a:rPr sz="1150" b="0">
                <a:solidFill>
                  <a:srgbClr val="2E2E2E"/>
                </a:solidFill>
                <a:latin typeface="Calibri"/>
              </a:rPr>
              <a:t>hydrolyzed eggshell membrane segment is expected to witness the highest CAGR of</a:t>
            </a:r>
          </a:p>
        </p:txBody>
      </p:sp>
      <p:pic>
        <p:nvPicPr>
          <p:cNvPr id="22" name="Picture 21" descr="lock.png"/>
          <p:cNvPicPr>
            <a:picLocks noChangeAspect="1"/>
          </p:cNvPicPr>
          <p:nvPr/>
        </p:nvPicPr>
        <p:blipFill>
          <a:blip r:embed="rId4"/>
          <a:stretch>
            <a:fillRect/>
          </a:stretch>
        </p:blipFill>
        <p:spPr>
          <a:xfrm>
            <a:off x="5273251" y="3403536"/>
            <a:ext cx="134549" cy="195707"/>
          </a:xfrm>
          <a:prstGeom prst="rect">
            <a:avLst/>
          </a:prstGeom>
        </p:spPr>
      </p:pic>
      <p:sp>
        <p:nvSpPr>
          <p:cNvPr id="23" name="TextBox 22"/>
          <p:cNvSpPr txBox="1"/>
          <p:nvPr/>
        </p:nvSpPr>
        <p:spPr>
          <a:xfrm>
            <a:off x="5448360" y="3413760"/>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24" name="TextBox 23"/>
          <p:cNvSpPr txBox="1"/>
          <p:nvPr/>
        </p:nvSpPr>
        <p:spPr>
          <a:xfrm>
            <a:off x="276225" y="3641597"/>
            <a:ext cx="7980015" cy="194310"/>
          </a:xfrm>
          <a:prstGeom prst="rect">
            <a:avLst/>
          </a:prstGeom>
          <a:noFill/>
        </p:spPr>
        <p:txBody>
          <a:bodyPr wrap="none" lIns="0" rIns="0" tIns="0" bIns="0">
            <a:spAutoFit/>
          </a:bodyPr>
          <a:lstStyle/>
          <a:p>
            <a:r>
              <a:rPr sz="1150" b="0">
                <a:solidFill>
                  <a:srgbClr val="2E2E2E"/>
                </a:solidFill>
                <a:latin typeface="Calibri"/>
              </a:rPr>
              <a:t>In terms of value share by product type, the specialty extracted protein fractions segment is expected to dominate the market, losing</a:t>
            </a:r>
          </a:p>
        </p:txBody>
      </p:sp>
      <p:pic>
        <p:nvPicPr>
          <p:cNvPr id="25" name="Picture 24" descr="lock.png"/>
          <p:cNvPicPr>
            <a:picLocks noChangeAspect="1"/>
          </p:cNvPicPr>
          <p:nvPr/>
        </p:nvPicPr>
        <p:blipFill>
          <a:blip r:embed="rId4"/>
          <a:stretch>
            <a:fillRect/>
          </a:stretch>
        </p:blipFill>
        <p:spPr>
          <a:xfrm>
            <a:off x="8205394" y="3631374"/>
            <a:ext cx="134549" cy="195707"/>
          </a:xfrm>
          <a:prstGeom prst="rect">
            <a:avLst/>
          </a:prstGeom>
        </p:spPr>
      </p:pic>
      <p:sp>
        <p:nvSpPr>
          <p:cNvPr id="26" name="TextBox 25"/>
          <p:cNvSpPr txBox="1"/>
          <p:nvPr/>
        </p:nvSpPr>
        <p:spPr>
          <a:xfrm>
            <a:off x="8380503" y="3641597"/>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27" name="Picture 26" descr="lock.png"/>
          <p:cNvPicPr>
            <a:picLocks noChangeAspect="1"/>
          </p:cNvPicPr>
          <p:nvPr/>
        </p:nvPicPr>
        <p:blipFill>
          <a:blip r:embed="rId4"/>
          <a:stretch>
            <a:fillRect/>
          </a:stretch>
        </p:blipFill>
        <p:spPr>
          <a:xfrm>
            <a:off x="9775646" y="3631374"/>
            <a:ext cx="134549" cy="195707"/>
          </a:xfrm>
          <a:prstGeom prst="rect">
            <a:avLst/>
          </a:prstGeom>
        </p:spPr>
      </p:pic>
      <p:sp>
        <p:nvSpPr>
          <p:cNvPr id="28" name="TextBox 27"/>
          <p:cNvSpPr txBox="1"/>
          <p:nvPr/>
        </p:nvSpPr>
        <p:spPr>
          <a:xfrm>
            <a:off x="9950755" y="3641597"/>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Value &amp; Share Shift, By Product Type</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Value composition by Product Type in 2021, 2026 and 2036, highlighting share shifts in basis points</a:t>
            </a:r>
          </a:p>
        </p:txBody>
      </p:sp>
      <p:sp>
        <p:nvSpPr>
          <p:cNvPr id="7" name="Rounded Rectangle 6"/>
          <p:cNvSpPr/>
          <p:nvPr/>
        </p:nvSpPr>
        <p:spPr>
          <a:xfrm>
            <a:off x="142875" y="981075"/>
            <a:ext cx="7400925" cy="5648325"/>
          </a:xfrm>
          <a:prstGeom prst="roundRect">
            <a:avLst>
              <a:gd name="adj" fmla="val 134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7210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Composition, By Product Type ·  2021 / 2026 / 2036 (US$ Mn)  ·  right axis = BPS share shift</a:t>
            </a:r>
          </a:p>
        </p:txBody>
      </p:sp>
      <p:graphicFrame>
        <p:nvGraphicFramePr>
          <p:cNvPr id="9" name="Chart 8"/>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r:id="rId3"/>
          </a:graphicData>
        </a:graphic>
      </p:graphicFrame>
      <p:sp>
        <p:nvSpPr>
          <p:cNvPr id="10" name="TextBox 9"/>
          <p:cNvSpPr txBox="1"/>
          <p:nvPr/>
        </p:nvSpPr>
        <p:spPr>
          <a:xfrm>
            <a:off x="4852797" y="1590675"/>
            <a:ext cx="2595753" cy="171069"/>
          </a:xfrm>
          <a:prstGeom prst="rect">
            <a:avLst/>
          </a:prstGeom>
          <a:noFill/>
        </p:spPr>
        <p:txBody>
          <a:bodyPr wrap="square" lIns="28575" rIns="28575" tIns="9525" bIns="9525" anchor="ctr">
            <a:spAutoFit/>
          </a:bodyPr>
          <a:lstStyle/>
          <a:p>
            <a:pPr algn="ctr"/>
            <a:r>
              <a:rPr sz="1300" b="1">
                <a:solidFill>
                  <a:srgbClr val="2A5F8F"/>
                </a:solidFill>
                <a:latin typeface="Calibri"/>
              </a:rPr>
              <a:t>BPS Δ  (2021→2036)</a:t>
            </a:r>
          </a:p>
        </p:txBody>
      </p:sp>
      <p:sp>
        <p:nvSpPr>
          <p:cNvPr id="11" name="TMR Lock Anchor"/>
          <p:cNvSpPr txBox="1"/>
          <p:nvPr/>
        </p:nvSpPr>
        <p:spPr>
          <a:xfrm>
            <a:off x="2678811" y="4014597"/>
            <a:ext cx="38100" cy="38100"/>
          </a:xfrm>
          <a:prstGeom prst="rect">
            <a:avLst/>
          </a:prstGeom>
          <a:noFill/>
        </p:spPr>
        <p:txBody>
          <a:bodyPr wrap="none">
            <a:spAutoFit/>
          </a:bodyPr>
          <a:lstStyle/>
          <a:p/>
        </p:txBody>
      </p:sp>
      <p:sp>
        <p:nvSpPr>
          <p:cNvPr id="12" name="TMR Legend Chip"/>
          <p:cNvSpPr/>
          <p:nvPr/>
        </p:nvSpPr>
        <p:spPr>
          <a:xfrm>
            <a:off x="4928997" y="2161166"/>
            <a:ext cx="85725" cy="85725"/>
          </a:xfrm>
          <a:prstGeom prst="rect">
            <a:avLst/>
          </a:prstGeom>
          <a:solidFill>
            <a:srgbClr val="0E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Isosceles Triangle 12"/>
          <p:cNvSpPr/>
          <p:nvPr/>
        </p:nvSpPr>
        <p:spPr>
          <a:xfrm>
            <a:off x="5090922" y="2156403"/>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BPS Name 1"/>
          <p:cNvSpPr txBox="1"/>
          <p:nvPr/>
        </p:nvSpPr>
        <p:spPr>
          <a:xfrm>
            <a:off x="5233797" y="2080203"/>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Hydrolyzed Eggshell Membrane</a:t>
            </a:r>
          </a:p>
        </p:txBody>
      </p:sp>
      <p:sp>
        <p:nvSpPr>
          <p:cNvPr id="15" name="BPS Value 1"/>
          <p:cNvSpPr txBox="1"/>
          <p:nvPr/>
        </p:nvSpPr>
        <p:spPr>
          <a:xfrm>
            <a:off x="6896100" y="2142116"/>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16" name="TMR Legend Chip"/>
          <p:cNvSpPr/>
          <p:nvPr/>
        </p:nvSpPr>
        <p:spPr>
          <a:xfrm>
            <a:off x="4928997" y="3547978"/>
            <a:ext cx="85725" cy="85725"/>
          </a:xfrm>
          <a:prstGeom prst="rect">
            <a:avLst/>
          </a:prstGeom>
          <a:solidFill>
            <a:srgbClr val="0081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Isosceles Triangle 16"/>
          <p:cNvSpPr/>
          <p:nvPr/>
        </p:nvSpPr>
        <p:spPr>
          <a:xfrm>
            <a:off x="5090922" y="3543216"/>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PS Name 2"/>
          <p:cNvSpPr txBox="1"/>
          <p:nvPr/>
        </p:nvSpPr>
        <p:spPr>
          <a:xfrm>
            <a:off x="5233797" y="3467016"/>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Micronized Eggshell Membrane</a:t>
            </a:r>
          </a:p>
        </p:txBody>
      </p:sp>
      <p:sp>
        <p:nvSpPr>
          <p:cNvPr id="19" name="BPS Value 2"/>
          <p:cNvSpPr txBox="1"/>
          <p:nvPr/>
        </p:nvSpPr>
        <p:spPr>
          <a:xfrm>
            <a:off x="6896100" y="3528928"/>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0" name="TMR Legend Chip"/>
          <p:cNvSpPr/>
          <p:nvPr/>
        </p:nvSpPr>
        <p:spPr>
          <a:xfrm>
            <a:off x="4928997" y="5344259"/>
            <a:ext cx="85725" cy="85725"/>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Isosceles Triangle 20"/>
          <p:cNvSpPr/>
          <p:nvPr/>
        </p:nvSpPr>
        <p:spPr>
          <a:xfrm rot="10800000">
            <a:off x="5090922" y="5339497"/>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BPS Name 3"/>
          <p:cNvSpPr txBox="1"/>
          <p:nvPr/>
        </p:nvSpPr>
        <p:spPr>
          <a:xfrm>
            <a:off x="5233797" y="5263297"/>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Specialty Extracted Protein Fractions</a:t>
            </a:r>
          </a:p>
        </p:txBody>
      </p:sp>
      <p:sp>
        <p:nvSpPr>
          <p:cNvPr id="23" name="BPS Value 3"/>
          <p:cNvSpPr txBox="1"/>
          <p:nvPr/>
        </p:nvSpPr>
        <p:spPr>
          <a:xfrm>
            <a:off x="6896100" y="5325209"/>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4" name="Rounded Rectangle 23"/>
          <p:cNvSpPr/>
          <p:nvPr/>
        </p:nvSpPr>
        <p:spPr>
          <a:xfrm>
            <a:off x="7696200" y="981075"/>
            <a:ext cx="4343400" cy="5648325"/>
          </a:xfrm>
          <a:prstGeom prst="roundRect">
            <a:avLst>
              <a:gd name="adj" fmla="val 1754"/>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E2A5C"/>
                </a:solidFill>
                <a:latin typeface="Calibri"/>
              </a:rPr>
              <a:t>North America Read-out, By Product Type</a:t>
            </a:r>
          </a:p>
        </p:txBody>
      </p:sp>
      <p:sp>
        <p:nvSpPr>
          <p:cNvPr id="26" name="Rectangle 25"/>
          <p:cNvSpPr/>
          <p:nvPr/>
        </p:nvSpPr>
        <p:spPr>
          <a:xfrm>
            <a:off x="7829550" y="1304925"/>
            <a:ext cx="407670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28" name="Rectangle 27"/>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30" name="Picture 29" descr="lock.png"/>
          <p:cNvPicPr>
            <a:picLocks noChangeAspect="1"/>
          </p:cNvPicPr>
          <p:nvPr/>
        </p:nvPicPr>
        <p:blipFill>
          <a:blip r:embed="rId5"/>
          <a:stretch>
            <a:fillRect/>
          </a:stretch>
        </p:blipFill>
        <p:spPr>
          <a:xfrm>
            <a:off x="2557843" y="3833622"/>
            <a:ext cx="275034" cy="400050"/>
          </a:xfrm>
          <a:prstGeom prst="rect">
            <a:avLst/>
          </a:prstGeom>
        </p:spPr>
      </p:pic>
      <p:sp>
        <p:nvSpPr>
          <p:cNvPr id="31" name="TextBox 30"/>
          <p:cNvSpPr txBox="1"/>
          <p:nvPr/>
        </p:nvSpPr>
        <p:spPr>
          <a:xfrm>
            <a:off x="7829550" y="1400175"/>
            <a:ext cx="4057650" cy="194310"/>
          </a:xfrm>
          <a:prstGeom prst="rect">
            <a:avLst/>
          </a:prstGeom>
          <a:noFill/>
        </p:spPr>
        <p:txBody>
          <a:bodyPr wrap="none" lIns="0" rIns="0" tIns="0" bIns="0">
            <a:spAutoFit/>
          </a:bodyPr>
          <a:lstStyle/>
          <a:p>
            <a:r>
              <a:rPr sz="1150" b="0">
                <a:solidFill>
                  <a:srgbClr val="2E2E2E"/>
                </a:solidFill>
                <a:latin typeface="Calibri"/>
              </a:rPr>
              <a:t>Among egg protein membrane by product type, hydrolyzed eggshell</a:t>
            </a:r>
          </a:p>
        </p:txBody>
      </p:sp>
      <p:sp>
        <p:nvSpPr>
          <p:cNvPr id="32" name="TextBox 31"/>
          <p:cNvSpPr txBox="1"/>
          <p:nvPr/>
        </p:nvSpPr>
        <p:spPr>
          <a:xfrm>
            <a:off x="7829550" y="1575435"/>
            <a:ext cx="3842960" cy="194310"/>
          </a:xfrm>
          <a:prstGeom prst="rect">
            <a:avLst/>
          </a:prstGeom>
          <a:noFill/>
        </p:spPr>
        <p:txBody>
          <a:bodyPr wrap="none" lIns="0" rIns="0" tIns="0" bIns="0">
            <a:spAutoFit/>
          </a:bodyPr>
          <a:lstStyle/>
          <a:p>
            <a:r>
              <a:rPr sz="1150" b="0">
                <a:solidFill>
                  <a:srgbClr val="2E2E2E"/>
                </a:solidFill>
                <a:latin typeface="Calibri"/>
              </a:rPr>
              <a:t>membrane segment is expected to witness the highest CAGR of</a:t>
            </a:r>
          </a:p>
        </p:txBody>
      </p:sp>
      <p:pic>
        <p:nvPicPr>
          <p:cNvPr id="33" name="Picture 32" descr="lock.png"/>
          <p:cNvPicPr>
            <a:picLocks noChangeAspect="1"/>
          </p:cNvPicPr>
          <p:nvPr/>
        </p:nvPicPr>
        <p:blipFill>
          <a:blip r:embed="rId5"/>
          <a:stretch>
            <a:fillRect/>
          </a:stretch>
        </p:blipFill>
        <p:spPr>
          <a:xfrm>
            <a:off x="11621663" y="1565211"/>
            <a:ext cx="134549" cy="195707"/>
          </a:xfrm>
          <a:prstGeom prst="rect">
            <a:avLst/>
          </a:prstGeom>
        </p:spPr>
      </p:pic>
      <p:sp>
        <p:nvSpPr>
          <p:cNvPr id="34" name="TextBox 33"/>
          <p:cNvSpPr txBox="1"/>
          <p:nvPr/>
        </p:nvSpPr>
        <p:spPr>
          <a:xfrm>
            <a:off x="7829550" y="1750695"/>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35" name="TextBox 34"/>
          <p:cNvSpPr txBox="1"/>
          <p:nvPr/>
        </p:nvSpPr>
        <p:spPr>
          <a:xfrm>
            <a:off x="7829550" y="1978533"/>
            <a:ext cx="3834420" cy="194310"/>
          </a:xfrm>
          <a:prstGeom prst="rect">
            <a:avLst/>
          </a:prstGeom>
          <a:noFill/>
        </p:spPr>
        <p:txBody>
          <a:bodyPr wrap="none" lIns="0" rIns="0" tIns="0" bIns="0">
            <a:spAutoFit/>
          </a:bodyPr>
          <a:lstStyle/>
          <a:p>
            <a:r>
              <a:rPr sz="1150" b="0">
                <a:solidFill>
                  <a:srgbClr val="2E2E2E"/>
                </a:solidFill>
                <a:latin typeface="Calibri"/>
              </a:rPr>
              <a:t>In terms of value share by product type, the specialty extracted</a:t>
            </a:r>
          </a:p>
        </p:txBody>
      </p:sp>
      <p:sp>
        <p:nvSpPr>
          <p:cNvPr id="36" name="TextBox 35"/>
          <p:cNvSpPr txBox="1"/>
          <p:nvPr/>
        </p:nvSpPr>
        <p:spPr>
          <a:xfrm>
            <a:off x="7829550" y="2153793"/>
            <a:ext cx="3808747" cy="194310"/>
          </a:xfrm>
          <a:prstGeom prst="rect">
            <a:avLst/>
          </a:prstGeom>
          <a:noFill/>
        </p:spPr>
        <p:txBody>
          <a:bodyPr wrap="none" lIns="0" rIns="0" tIns="0" bIns="0">
            <a:spAutoFit/>
          </a:bodyPr>
          <a:lstStyle/>
          <a:p>
            <a:r>
              <a:rPr sz="1150" b="0">
                <a:solidFill>
                  <a:srgbClr val="2E2E2E"/>
                </a:solidFill>
                <a:latin typeface="Calibri"/>
              </a:rPr>
              <a:t>protein fractions segment is expected to dominate the market,</a:t>
            </a:r>
          </a:p>
        </p:txBody>
      </p:sp>
      <p:sp>
        <p:nvSpPr>
          <p:cNvPr id="37" name="TextBox 36"/>
          <p:cNvSpPr txBox="1"/>
          <p:nvPr/>
        </p:nvSpPr>
        <p:spPr>
          <a:xfrm>
            <a:off x="7829550" y="2329053"/>
            <a:ext cx="423068" cy="194310"/>
          </a:xfrm>
          <a:prstGeom prst="rect">
            <a:avLst/>
          </a:prstGeom>
          <a:noFill/>
        </p:spPr>
        <p:txBody>
          <a:bodyPr wrap="none" lIns="0" rIns="0" tIns="0" bIns="0">
            <a:spAutoFit/>
          </a:bodyPr>
          <a:lstStyle/>
          <a:p>
            <a:r>
              <a:rPr sz="1150" b="0">
                <a:solidFill>
                  <a:srgbClr val="2E2E2E"/>
                </a:solidFill>
                <a:latin typeface="Calibri"/>
              </a:rPr>
              <a:t>losing</a:t>
            </a:r>
          </a:p>
        </p:txBody>
      </p:sp>
      <p:pic>
        <p:nvPicPr>
          <p:cNvPr id="38" name="Picture 37" descr="lock.png"/>
          <p:cNvPicPr>
            <a:picLocks noChangeAspect="1"/>
          </p:cNvPicPr>
          <p:nvPr/>
        </p:nvPicPr>
        <p:blipFill>
          <a:blip r:embed="rId5"/>
          <a:stretch>
            <a:fillRect/>
          </a:stretch>
        </p:blipFill>
        <p:spPr>
          <a:xfrm>
            <a:off x="8201772" y="2318829"/>
            <a:ext cx="134549" cy="195707"/>
          </a:xfrm>
          <a:prstGeom prst="rect">
            <a:avLst/>
          </a:prstGeom>
        </p:spPr>
      </p:pic>
      <p:sp>
        <p:nvSpPr>
          <p:cNvPr id="39" name="TextBox 38"/>
          <p:cNvSpPr txBox="1"/>
          <p:nvPr/>
        </p:nvSpPr>
        <p:spPr>
          <a:xfrm>
            <a:off x="8376881" y="2329053"/>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40" name="Picture 39" descr="lock.png"/>
          <p:cNvPicPr>
            <a:picLocks noChangeAspect="1"/>
          </p:cNvPicPr>
          <p:nvPr/>
        </p:nvPicPr>
        <p:blipFill>
          <a:blip r:embed="rId5"/>
          <a:stretch>
            <a:fillRect/>
          </a:stretch>
        </p:blipFill>
        <p:spPr>
          <a:xfrm>
            <a:off x="9772025" y="2318829"/>
            <a:ext cx="134549" cy="195707"/>
          </a:xfrm>
          <a:prstGeom prst="rect">
            <a:avLst/>
          </a:prstGeom>
        </p:spPr>
      </p:pic>
      <p:sp>
        <p:nvSpPr>
          <p:cNvPr id="41" name="TextBox 40"/>
          <p:cNvSpPr txBox="1"/>
          <p:nvPr/>
        </p:nvSpPr>
        <p:spPr>
          <a:xfrm>
            <a:off x="9947134" y="2329053"/>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42" name="lockshield_9"/>
          <p:cNvSpPr/>
          <p:nvPr/>
        </p:nvSpPr>
        <p:spPr>
          <a:xfrm>
            <a:off x="238125" y="1581150"/>
            <a:ext cx="4614672" cy="49911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bg>
      <p:bgPr>
        <a:solidFill>
          <a:srgbClr val="F3F8FD"/>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3F8FD"/>
              </a:gs>
              <a:gs pos="100000">
                <a:srgbClr val="DCE9F6"/>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FE0F0">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9C8E6">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B7D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A5F8F"/>
              </a:gs>
              <a:gs pos="100000">
                <a:srgbClr val="6FA6D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MR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11.2</a:t>
            </a:r>
          </a:p>
        </p:txBody>
      </p:sp>
      <p:pic>
        <p:nvPicPr>
          <p:cNvPr id="8" name="Picture 7" descr="tmr_logo.png"/>
          <p:cNvPicPr>
            <a:picLocks noChangeAspect="1"/>
          </p:cNvPicPr>
          <p:nvPr/>
        </p:nvPicPr>
        <p:blipFill>
          <a:blip r:embed="rId2"/>
          <a:stretch>
            <a:fillRect/>
          </a:stretch>
        </p:blipFill>
        <p:spPr>
          <a:xfrm>
            <a:off x="411480" y="274320"/>
            <a:ext cx="1307592" cy="975505"/>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2A5F8F"/>
                </a:solidFill>
                <a:latin typeface="Calibri"/>
              </a:rPr>
              <a:t>Egg Protein Membrane Market</a:t>
            </a:r>
          </a:p>
        </p:txBody>
      </p:sp>
      <p:sp>
        <p:nvSpPr>
          <p:cNvPr id="10" name="TMR Section Title"/>
          <p:cNvSpPr txBox="1"/>
          <p:nvPr/>
        </p:nvSpPr>
        <p:spPr>
          <a:xfrm>
            <a:off x="914400" y="2701925"/>
            <a:ext cx="8572500" cy="514350"/>
          </a:xfrm>
          <a:prstGeom prst="rect">
            <a:avLst/>
          </a:prstGeom>
          <a:noFill/>
        </p:spPr>
        <p:txBody>
          <a:bodyPr wrap="square" lIns="0" rIns="0" tIns="0">
            <a:spAutoFit/>
          </a:bodyPr>
          <a:lstStyle/>
          <a:p>
            <a:r>
              <a:rPr sz="3000" b="1">
                <a:solidFill>
                  <a:srgbClr val="0E2A5C"/>
                </a:solidFill>
                <a:latin typeface="Calibri"/>
              </a:rPr>
              <a:t>Extraction / Processing Method</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Extraction / Processing Method Segment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Structure &amp; Attractiveness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Value Analysis</a:t>
            </a:r>
          </a:p>
        </p:txBody>
      </p:sp>
      <p:sp>
        <p:nvSpPr>
          <p:cNvPr id="12" name="Rectangle 11"/>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By Extraction / Processing Method Segment Outlook</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Segment analysis of market size, growth and share across 4 sub-segments of Extraction / Processing Method, 2026–2036</a:t>
            </a:r>
          </a:p>
        </p:txBody>
      </p:sp>
      <p:sp>
        <p:nvSpPr>
          <p:cNvPr id="7" name="TextBox 6"/>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Extraction / Processing Method segment categorizes the market by extraction / processing method. Each sub-category is evaluated on market size, growth outlook and adoption trends across the forecast period.</a:t>
            </a:r>
          </a:p>
        </p:txBody>
      </p:sp>
      <p:sp>
        <p:nvSpPr>
          <p:cNvPr id="8" name="Rectangle 7"/>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Sub-Segment</a:t>
            </a:r>
          </a:p>
        </p:txBody>
      </p:sp>
      <p:sp>
        <p:nvSpPr>
          <p:cNvPr id="10" name="Rectangle 9"/>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2" name="Rectangle 11"/>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4" name="Rectangle 13"/>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16" name="Rounded Rectangle 15"/>
          <p:cNvSpPr/>
          <p:nvPr/>
        </p:nvSpPr>
        <p:spPr>
          <a:xfrm>
            <a:off x="1866900" y="1773916"/>
            <a:ext cx="2414588"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866900" y="1992961"/>
            <a:ext cx="2414588"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905000"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Mechanical Separation &amp; Microniza…</a:t>
            </a:r>
          </a:p>
        </p:txBody>
      </p:sp>
      <p:sp>
        <p:nvSpPr>
          <p:cNvPr id="19" name="Rectangle 18"/>
          <p:cNvSpPr/>
          <p:nvPr/>
        </p:nvSpPr>
        <p:spPr>
          <a:xfrm>
            <a:off x="1866900"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0" name="Rectangle 19"/>
          <p:cNvSpPr/>
          <p:nvPr/>
        </p:nvSpPr>
        <p:spPr>
          <a:xfrm>
            <a:off x="1866900"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1" name="Rectangle 20"/>
          <p:cNvSpPr/>
          <p:nvPr/>
        </p:nvSpPr>
        <p:spPr>
          <a:xfrm>
            <a:off x="1866900"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2" name="Oval 21"/>
          <p:cNvSpPr/>
          <p:nvPr/>
        </p:nvSpPr>
        <p:spPr>
          <a:xfrm>
            <a:off x="2912269"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23" name="Rounded Rectangle 22"/>
          <p:cNvSpPr/>
          <p:nvPr/>
        </p:nvSpPr>
        <p:spPr>
          <a:xfrm>
            <a:off x="4395788" y="1773916"/>
            <a:ext cx="2414588"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395788" y="1992961"/>
            <a:ext cx="2414588"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433888"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Other / Hybrid Processing Methods</a:t>
            </a:r>
          </a:p>
        </p:txBody>
      </p:sp>
      <p:sp>
        <p:nvSpPr>
          <p:cNvPr id="26" name="Rectangle 25"/>
          <p:cNvSpPr/>
          <p:nvPr/>
        </p:nvSpPr>
        <p:spPr>
          <a:xfrm>
            <a:off x="4395788"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27" name="Rectangle 26"/>
          <p:cNvSpPr/>
          <p:nvPr/>
        </p:nvSpPr>
        <p:spPr>
          <a:xfrm>
            <a:off x="4395788"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28" name="Rectangle 27"/>
          <p:cNvSpPr/>
          <p:nvPr/>
        </p:nvSpPr>
        <p:spPr>
          <a:xfrm>
            <a:off x="4395788"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29" name="Oval 28"/>
          <p:cNvSpPr/>
          <p:nvPr/>
        </p:nvSpPr>
        <p:spPr>
          <a:xfrm>
            <a:off x="5441156"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30" name="Rounded Rectangle 29"/>
          <p:cNvSpPr/>
          <p:nvPr/>
        </p:nvSpPr>
        <p:spPr>
          <a:xfrm>
            <a:off x="6924675" y="1773916"/>
            <a:ext cx="2414588" cy="438089"/>
          </a:xfrm>
          <a:prstGeom prst="roundRect">
            <a:avLst>
              <a:gd name="adj" fmla="val 18000"/>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924675" y="1992961"/>
            <a:ext cx="2414588" cy="219044"/>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962775"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Chemical Hydrolysis / Solubilizat…</a:t>
            </a:r>
          </a:p>
        </p:txBody>
      </p:sp>
      <p:sp>
        <p:nvSpPr>
          <p:cNvPr id="33" name="Rectangle 32"/>
          <p:cNvSpPr/>
          <p:nvPr/>
        </p:nvSpPr>
        <p:spPr>
          <a:xfrm>
            <a:off x="6924675"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4" name="Rectangle 33"/>
          <p:cNvSpPr/>
          <p:nvPr/>
        </p:nvSpPr>
        <p:spPr>
          <a:xfrm>
            <a:off x="6924675"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5" name="Rectangle 34"/>
          <p:cNvSpPr/>
          <p:nvPr/>
        </p:nvSpPr>
        <p:spPr>
          <a:xfrm>
            <a:off x="6924675"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6" name="Oval 35"/>
          <p:cNvSpPr/>
          <p:nvPr/>
        </p:nvSpPr>
        <p:spPr>
          <a:xfrm>
            <a:off x="7970044" y="1445350"/>
            <a:ext cx="323850" cy="310313"/>
          </a:xfrm>
          <a:prstGeom prst="ellipse">
            <a:avLst/>
          </a:prstGeom>
          <a:solidFill>
            <a:srgbClr val="0081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3</a:t>
            </a:r>
          </a:p>
        </p:txBody>
      </p:sp>
      <p:sp>
        <p:nvSpPr>
          <p:cNvPr id="37" name="Rounded Rectangle 36"/>
          <p:cNvSpPr/>
          <p:nvPr/>
        </p:nvSpPr>
        <p:spPr>
          <a:xfrm>
            <a:off x="9453562" y="1773916"/>
            <a:ext cx="2414588" cy="438089"/>
          </a:xfrm>
          <a:prstGeom prst="roundRect">
            <a:avLst>
              <a:gd name="adj" fmla="val 18000"/>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453562" y="1992961"/>
            <a:ext cx="2414588" cy="219044"/>
          </a:xfrm>
          <a:prstGeom prst="rect">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491662"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Enzymatic Hydrolysis</a:t>
            </a:r>
          </a:p>
        </p:txBody>
      </p:sp>
      <p:sp>
        <p:nvSpPr>
          <p:cNvPr id="40" name="Rectangle 39"/>
          <p:cNvSpPr/>
          <p:nvPr/>
        </p:nvSpPr>
        <p:spPr>
          <a:xfrm>
            <a:off x="9453562"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1" name="Rectangle 40"/>
          <p:cNvSpPr/>
          <p:nvPr/>
        </p:nvSpPr>
        <p:spPr>
          <a:xfrm>
            <a:off x="9453562"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2" name="Rectangle 41"/>
          <p:cNvSpPr/>
          <p:nvPr/>
        </p:nvSpPr>
        <p:spPr>
          <a:xfrm>
            <a:off x="9453562"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3" name="Oval 42"/>
          <p:cNvSpPr/>
          <p:nvPr/>
        </p:nvSpPr>
        <p:spPr>
          <a:xfrm>
            <a:off x="10498931" y="1445350"/>
            <a:ext cx="323850" cy="310313"/>
          </a:xfrm>
          <a:prstGeom prst="ellipse">
            <a:avLst/>
          </a:prstGeom>
          <a:solidFill>
            <a:srgbClr val="6F3CC2"/>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4</a:t>
            </a:r>
          </a:p>
        </p:txBody>
      </p:sp>
      <p:sp>
        <p:nvSpPr>
          <p:cNvPr id="44" name="Rounded Rectangle 43"/>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B2E4A"/>
                </a:solidFill>
                <a:latin typeface="Calibri"/>
              </a:rPr>
              <a:t>Key Highlights</a:t>
            </a:r>
          </a:p>
        </p:txBody>
      </p:sp>
      <p:sp>
        <p:nvSpPr>
          <p:cNvPr id="46" name="Rectangle 45"/>
          <p:cNvSpPr/>
          <p:nvPr/>
        </p:nvSpPr>
        <p:spPr>
          <a:xfrm>
            <a:off x="457200" y="4146897"/>
            <a:ext cx="2971800" cy="18254"/>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57200" y="4219912"/>
            <a:ext cx="2971800" cy="2117429"/>
          </a:xfrm>
          <a:prstGeom prst="rect">
            <a:avLst/>
          </a:prstGeom>
          <a:noFill/>
        </p:spPr>
        <p:txBody>
          <a:bodyPr wrap="square" lIns="28575" rIns="28575" tIns="9525" bIns="9525">
            <a:spAutoFit/>
          </a:bodyPr>
          <a:lstStyle/>
          <a:p>
            <a:pPr algn="l">
              <a:lnSpc>
                <a:spcPct val="105000"/>
              </a:lnSpc>
              <a:spcBef>
                <a:spcPts val="0"/>
              </a:spcBef>
              <a:spcAft>
                <a:spcPts val="300"/>
              </a:spcAft>
            </a:pPr>
            <a:r>
              <a:rPr sz="1100" b="0">
                <a:solidFill>
                  <a:srgbClr val="2E2E2E"/>
                </a:solidFill>
                <a:latin typeface="Calibri"/>
              </a:rPr>
              <a:t/>
            </a:r>
          </a:p>
          <a:p>
            <a:pPr algn="l">
              <a:lnSpc>
                <a:spcPct val="105000"/>
              </a:lnSpc>
              <a:spcBef>
                <a:spcPts val="0"/>
              </a:spcBef>
              <a:spcAft>
                <a:spcPts val="300"/>
              </a:spcAft>
            </a:pPr>
            <a:r>
              <a:rPr sz="1100" b="0">
                <a:solidFill>
                  <a:srgbClr val="2E2E2E"/>
                </a:solidFill>
                <a:latin typeface="Calibri"/>
              </a:rPr>
              <a:t/>
            </a:r>
          </a:p>
        </p:txBody>
      </p:sp>
      <p:sp>
        <p:nvSpPr>
          <p:cNvPr id="48" name="Rounded Rectangle 47"/>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B2E4A"/>
                </a:solidFill>
                <a:latin typeface="Calibri"/>
              </a:rPr>
              <a:t>Sub-Segment Insights</a:t>
            </a:r>
          </a:p>
        </p:txBody>
      </p:sp>
      <p:sp>
        <p:nvSpPr>
          <p:cNvPr id="50" name="Rectangle 49"/>
          <p:cNvSpPr/>
          <p:nvPr/>
        </p:nvSpPr>
        <p:spPr>
          <a:xfrm>
            <a:off x="3810000" y="4146897"/>
            <a:ext cx="4210050" cy="18254"/>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B2E4A"/>
                </a:solidFill>
                <a:latin typeface="Calibri"/>
              </a:rPr>
              <a:t/>
            </a:r>
            <a:r>
              <a:rPr sz="1100" b="1">
                <a:solidFill>
                  <a:srgbClr val="0B2E4A"/>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1">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08189"/>
                </a:solidFill>
                <a:latin typeface="Calibri"/>
              </a:rPr>
              <a:t/>
            </a:r>
            <a:r>
              <a:rPr sz="1100" b="1">
                <a:solidFill>
                  <a:srgbClr val="008189"/>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6F3CC2"/>
                </a:solidFill>
                <a:latin typeface="Calibri"/>
              </a:rPr>
              <a:t/>
            </a:r>
            <a:r>
              <a:rPr sz="1100" b="1">
                <a:solidFill>
                  <a:srgbClr val="6F3CC2"/>
                </a:solidFill>
                <a:latin typeface="Calibri"/>
              </a:rPr>
              <a:t/>
            </a:r>
            <a:r>
              <a:rPr sz="1100" b="0">
                <a:solidFill>
                  <a:srgbClr val="2E2E2E"/>
                </a:solidFill>
                <a:latin typeface="Calibri"/>
              </a:rPr>
              <a:t/>
            </a:r>
          </a:p>
        </p:txBody>
      </p:sp>
      <p:sp>
        <p:nvSpPr>
          <p:cNvPr id="52" name="Rounded Rectangle 51"/>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B2E4A"/>
                </a:solidFill>
                <a:latin typeface="Calibri"/>
              </a:rPr>
              <a:t>Segment Overview</a:t>
            </a:r>
          </a:p>
        </p:txBody>
      </p:sp>
      <p:sp>
        <p:nvSpPr>
          <p:cNvPr id="54" name="Rectangle 53"/>
          <p:cNvSpPr/>
          <p:nvPr/>
        </p:nvSpPr>
        <p:spPr>
          <a:xfrm>
            <a:off x="8401050" y="4146897"/>
            <a:ext cx="3333750" cy="18254"/>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00ACAC"/>
                </a:solidFill>
                <a:latin typeface="Calibri"/>
              </a:rPr>
              <a:t>✓  </a:t>
            </a:r>
            <a:r>
              <a:rPr sz="1100" b="0">
                <a:solidFill>
                  <a:srgbClr val="2E2E2E"/>
                </a:solidFill>
                <a:latin typeface="Calibri"/>
              </a:rPr>
              <a:t>The Extraction / Processing Method split shows how demand is distributed across extraction / processing method types and where growth concentrates.</a:t>
            </a:r>
          </a:p>
          <a:p>
            <a:pPr algn="l">
              <a:lnSpc>
                <a:spcPct val="110000"/>
              </a:lnSpc>
              <a:spcBef>
                <a:spcPts val="0"/>
              </a:spcBef>
              <a:spcAft>
                <a:spcPts val="500"/>
              </a:spcAft>
            </a:pPr>
            <a:r>
              <a:rPr sz="1100" b="1">
                <a:solidFill>
                  <a:srgbClr val="00ACAC"/>
                </a:solidFill>
                <a:latin typeface="Calibri"/>
              </a:rPr>
              <a:t>✓  </a:t>
            </a:r>
            <a:r>
              <a:rPr sz="1100" b="0">
                <a:solidFill>
                  <a:srgbClr val="2E2E2E"/>
                </a:solidFill>
                <a:latin typeface="Calibri"/>
              </a:rPr>
              <a:t>Shifting preferences and product innovation are reshaping the mix through 2036.</a:t>
            </a:r>
          </a:p>
        </p:txBody>
      </p:sp>
      <p:sp>
        <p:nvSpPr>
          <p:cNvPr id="56" name="Rectangle 55"/>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B2E4A"/>
                </a:solidFill>
                <a:latin typeface="Calibri"/>
              </a:rPr>
              <a:t/>
            </a:r>
          </a:p>
        </p:txBody>
      </p:sp>
      <p:sp>
        <p:nvSpPr>
          <p:cNvPr id="58" name="TextBox 57"/>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TMR Analysis, 2026</a:t>
            </a:r>
          </a:p>
        </p:txBody>
      </p:sp>
      <p:sp>
        <p:nvSpPr>
          <p:cNvPr id="59" name="Rectangle 58"/>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61" name="Picture 60" descr="1_670_605E5C.png"/>
          <p:cNvPicPr>
            <a:picLocks noChangeAspect="1"/>
          </p:cNvPicPr>
          <p:nvPr/>
        </p:nvPicPr>
        <p:blipFill>
          <a:blip r:embed="rId4"/>
          <a:stretch>
            <a:fillRect/>
          </a:stretch>
        </p:blipFill>
        <p:spPr>
          <a:xfrm>
            <a:off x="2476330" y="2286582"/>
            <a:ext cx="1195728" cy="361950"/>
          </a:xfrm>
          <a:prstGeom prst="rect">
            <a:avLst/>
          </a:prstGeom>
        </p:spPr>
      </p:pic>
      <p:pic>
        <p:nvPicPr>
          <p:cNvPr id="62" name="Picture 61" descr="2_601_605E5C.png"/>
          <p:cNvPicPr>
            <a:picLocks noChangeAspect="1"/>
          </p:cNvPicPr>
          <p:nvPr/>
        </p:nvPicPr>
        <p:blipFill>
          <a:blip r:embed="rId5"/>
          <a:stretch>
            <a:fillRect/>
          </a:stretch>
        </p:blipFill>
        <p:spPr>
          <a:xfrm>
            <a:off x="2476330" y="2779432"/>
            <a:ext cx="1195728" cy="361950"/>
          </a:xfrm>
          <a:prstGeom prst="rect">
            <a:avLst/>
          </a:prstGeom>
        </p:spPr>
      </p:pic>
      <p:pic>
        <p:nvPicPr>
          <p:cNvPr id="63" name="Picture 62" descr="4_5__605E5C.png"/>
          <p:cNvPicPr>
            <a:picLocks noChangeAspect="1"/>
          </p:cNvPicPr>
          <p:nvPr/>
        </p:nvPicPr>
        <p:blipFill>
          <a:blip r:embed="rId6"/>
          <a:stretch>
            <a:fillRect/>
          </a:stretch>
        </p:blipFill>
        <p:spPr>
          <a:xfrm>
            <a:off x="2582976" y="3272281"/>
            <a:ext cx="982436" cy="361950"/>
          </a:xfrm>
          <a:prstGeom prst="rect">
            <a:avLst/>
          </a:prstGeom>
        </p:spPr>
      </p:pic>
      <p:pic>
        <p:nvPicPr>
          <p:cNvPr id="64" name="Picture 63" descr="972_6_605E5C.png"/>
          <p:cNvPicPr>
            <a:picLocks noChangeAspect="1"/>
          </p:cNvPicPr>
          <p:nvPr/>
        </p:nvPicPr>
        <p:blipFill>
          <a:blip r:embed="rId7"/>
          <a:stretch>
            <a:fillRect/>
          </a:stretch>
        </p:blipFill>
        <p:spPr>
          <a:xfrm>
            <a:off x="5005218" y="2286582"/>
            <a:ext cx="1195728" cy="361950"/>
          </a:xfrm>
          <a:prstGeom prst="rect">
            <a:avLst/>
          </a:prstGeom>
        </p:spPr>
      </p:pic>
      <p:pic>
        <p:nvPicPr>
          <p:cNvPr id="65" name="Picture 64" descr="1_520_605E5C.png"/>
          <p:cNvPicPr>
            <a:picLocks noChangeAspect="1"/>
          </p:cNvPicPr>
          <p:nvPr/>
        </p:nvPicPr>
        <p:blipFill>
          <a:blip r:embed="rId8"/>
          <a:stretch>
            <a:fillRect/>
          </a:stretch>
        </p:blipFill>
        <p:spPr>
          <a:xfrm>
            <a:off x="5005218" y="2779432"/>
            <a:ext cx="1195728" cy="361950"/>
          </a:xfrm>
          <a:prstGeom prst="rect">
            <a:avLst/>
          </a:prstGeom>
        </p:spPr>
      </p:pic>
      <p:pic>
        <p:nvPicPr>
          <p:cNvPr id="66" name="Picture 65" descr="4_6__605E5C.png"/>
          <p:cNvPicPr>
            <a:picLocks noChangeAspect="1"/>
          </p:cNvPicPr>
          <p:nvPr/>
        </p:nvPicPr>
        <p:blipFill>
          <a:blip r:embed="rId9"/>
          <a:stretch>
            <a:fillRect/>
          </a:stretch>
        </p:blipFill>
        <p:spPr>
          <a:xfrm>
            <a:off x="5111864" y="3272281"/>
            <a:ext cx="982436" cy="361950"/>
          </a:xfrm>
          <a:prstGeom prst="rect">
            <a:avLst/>
          </a:prstGeom>
        </p:spPr>
      </p:pic>
      <p:pic>
        <p:nvPicPr>
          <p:cNvPr id="67" name="Picture 66" descr="621_6_605E5C.png"/>
          <p:cNvPicPr>
            <a:picLocks noChangeAspect="1"/>
          </p:cNvPicPr>
          <p:nvPr/>
        </p:nvPicPr>
        <p:blipFill>
          <a:blip r:embed="rId10"/>
          <a:stretch>
            <a:fillRect/>
          </a:stretch>
        </p:blipFill>
        <p:spPr>
          <a:xfrm>
            <a:off x="7534105" y="2286582"/>
            <a:ext cx="1195728" cy="361950"/>
          </a:xfrm>
          <a:prstGeom prst="rect">
            <a:avLst/>
          </a:prstGeom>
        </p:spPr>
      </p:pic>
      <p:pic>
        <p:nvPicPr>
          <p:cNvPr id="68" name="Picture 67" descr="894_0_605E5C.png"/>
          <p:cNvPicPr>
            <a:picLocks noChangeAspect="1"/>
          </p:cNvPicPr>
          <p:nvPr/>
        </p:nvPicPr>
        <p:blipFill>
          <a:blip r:embed="rId11"/>
          <a:stretch>
            <a:fillRect/>
          </a:stretch>
        </p:blipFill>
        <p:spPr>
          <a:xfrm>
            <a:off x="7534105" y="2779432"/>
            <a:ext cx="1195728" cy="361950"/>
          </a:xfrm>
          <a:prstGeom prst="rect">
            <a:avLst/>
          </a:prstGeom>
        </p:spPr>
      </p:pic>
      <p:pic>
        <p:nvPicPr>
          <p:cNvPr id="69" name="Picture 68" descr="3_7__605E5C.png"/>
          <p:cNvPicPr>
            <a:picLocks noChangeAspect="1"/>
          </p:cNvPicPr>
          <p:nvPr/>
        </p:nvPicPr>
        <p:blipFill>
          <a:blip r:embed="rId12"/>
          <a:stretch>
            <a:fillRect/>
          </a:stretch>
        </p:blipFill>
        <p:spPr>
          <a:xfrm>
            <a:off x="7640751" y="3272281"/>
            <a:ext cx="982436" cy="361950"/>
          </a:xfrm>
          <a:prstGeom prst="rect">
            <a:avLst/>
          </a:prstGeom>
        </p:spPr>
      </p:pic>
      <p:pic>
        <p:nvPicPr>
          <p:cNvPr id="70" name="Picture 69" descr="340_5_605E5C.png"/>
          <p:cNvPicPr>
            <a:picLocks noChangeAspect="1"/>
          </p:cNvPicPr>
          <p:nvPr/>
        </p:nvPicPr>
        <p:blipFill>
          <a:blip r:embed="rId13"/>
          <a:stretch>
            <a:fillRect/>
          </a:stretch>
        </p:blipFill>
        <p:spPr>
          <a:xfrm>
            <a:off x="10062992" y="2286582"/>
            <a:ext cx="1195728" cy="361950"/>
          </a:xfrm>
          <a:prstGeom prst="rect">
            <a:avLst/>
          </a:prstGeom>
        </p:spPr>
      </p:pic>
      <p:pic>
        <p:nvPicPr>
          <p:cNvPr id="71" name="Picture 70" descr="350_3_605E5C.png"/>
          <p:cNvPicPr>
            <a:picLocks noChangeAspect="1"/>
          </p:cNvPicPr>
          <p:nvPr/>
        </p:nvPicPr>
        <p:blipFill>
          <a:blip r:embed="rId14"/>
          <a:stretch>
            <a:fillRect/>
          </a:stretch>
        </p:blipFill>
        <p:spPr>
          <a:xfrm>
            <a:off x="10062992" y="2779432"/>
            <a:ext cx="1195728" cy="361950"/>
          </a:xfrm>
          <a:prstGeom prst="rect">
            <a:avLst/>
          </a:prstGeom>
        </p:spPr>
      </p:pic>
      <p:pic>
        <p:nvPicPr>
          <p:cNvPr id="72" name="Picture 71" descr="0_3__605E5C.png"/>
          <p:cNvPicPr>
            <a:picLocks noChangeAspect="1"/>
          </p:cNvPicPr>
          <p:nvPr/>
        </p:nvPicPr>
        <p:blipFill>
          <a:blip r:embed="rId15"/>
          <a:stretch>
            <a:fillRect/>
          </a:stretch>
        </p:blipFill>
        <p:spPr>
          <a:xfrm>
            <a:off x="10169638" y="3272281"/>
            <a:ext cx="982436" cy="361950"/>
          </a:xfrm>
          <a:prstGeom prst="rect">
            <a:avLst/>
          </a:prstGeom>
        </p:spPr>
      </p:pic>
      <p:pic>
        <p:nvPicPr>
          <p:cNvPr id="73" name="Picture 72" descr="lock.png"/>
          <p:cNvPicPr>
            <a:picLocks noChangeAspect="1"/>
          </p:cNvPicPr>
          <p:nvPr/>
        </p:nvPicPr>
        <p:blipFill>
          <a:blip r:embed="rId16"/>
          <a:stretch>
            <a:fillRect/>
          </a:stretch>
        </p:blipFill>
        <p:spPr>
          <a:xfrm>
            <a:off x="2980848" y="2827057"/>
            <a:ext cx="183356" cy="266700"/>
          </a:xfrm>
          <a:prstGeom prst="rect">
            <a:avLst/>
          </a:prstGeom>
        </p:spPr>
      </p:pic>
      <p:pic>
        <p:nvPicPr>
          <p:cNvPr id="74" name="Picture 73" descr="lock.png"/>
          <p:cNvPicPr>
            <a:picLocks noChangeAspect="1"/>
          </p:cNvPicPr>
          <p:nvPr/>
        </p:nvPicPr>
        <p:blipFill>
          <a:blip r:embed="rId16"/>
          <a:stretch>
            <a:fillRect/>
          </a:stretch>
        </p:blipFill>
        <p:spPr>
          <a:xfrm>
            <a:off x="5509737" y="2827057"/>
            <a:ext cx="183356" cy="266700"/>
          </a:xfrm>
          <a:prstGeom prst="rect">
            <a:avLst/>
          </a:prstGeom>
        </p:spPr>
      </p:pic>
      <p:pic>
        <p:nvPicPr>
          <p:cNvPr id="75" name="Picture 74" descr="lock.png"/>
          <p:cNvPicPr>
            <a:picLocks noChangeAspect="1"/>
          </p:cNvPicPr>
          <p:nvPr/>
        </p:nvPicPr>
        <p:blipFill>
          <a:blip r:embed="rId16"/>
          <a:stretch>
            <a:fillRect/>
          </a:stretch>
        </p:blipFill>
        <p:spPr>
          <a:xfrm>
            <a:off x="8038624" y="2827057"/>
            <a:ext cx="183356" cy="266700"/>
          </a:xfrm>
          <a:prstGeom prst="rect">
            <a:avLst/>
          </a:prstGeom>
        </p:spPr>
      </p:pic>
      <p:pic>
        <p:nvPicPr>
          <p:cNvPr id="76" name="Picture 75" descr="lock.png"/>
          <p:cNvPicPr>
            <a:picLocks noChangeAspect="1"/>
          </p:cNvPicPr>
          <p:nvPr/>
        </p:nvPicPr>
        <p:blipFill>
          <a:blip r:embed="rId16"/>
          <a:stretch>
            <a:fillRect/>
          </a:stretch>
        </p:blipFill>
        <p:spPr>
          <a:xfrm>
            <a:off x="10567511" y="2827057"/>
            <a:ext cx="183356" cy="266700"/>
          </a:xfrm>
          <a:prstGeom prst="rect">
            <a:avLst/>
          </a:prstGeom>
        </p:spPr>
      </p:pic>
      <p:sp>
        <p:nvSpPr>
          <p:cNvPr id="77" name="TextBox 76"/>
          <p:cNvSpPr txBox="1"/>
          <p:nvPr/>
        </p:nvSpPr>
        <p:spPr>
          <a:xfrm>
            <a:off x="485775" y="4229437"/>
            <a:ext cx="2579798" cy="179984"/>
          </a:xfrm>
          <a:prstGeom prst="rect">
            <a:avLst/>
          </a:prstGeom>
          <a:noFill/>
        </p:spPr>
        <p:txBody>
          <a:bodyPr wrap="none" lIns="0" rIns="0" tIns="0" bIns="0">
            <a:spAutoFit/>
          </a:bodyPr>
          <a:lstStyle/>
          <a:p>
            <a:r>
              <a:rPr sz="1055" b="0">
                <a:solidFill>
                  <a:srgbClr val="2E2E2E"/>
                </a:solidFill>
                <a:latin typeface="Calibri"/>
              </a:rPr>
              <a:t>Among egg protein membrane by extraction /</a:t>
            </a:r>
          </a:p>
        </p:txBody>
      </p:sp>
      <p:sp>
        <p:nvSpPr>
          <p:cNvPr id="78" name="TextBox 77"/>
          <p:cNvSpPr txBox="1"/>
          <p:nvPr/>
        </p:nvSpPr>
        <p:spPr>
          <a:xfrm>
            <a:off x="485775" y="4390371"/>
            <a:ext cx="2555962" cy="179984"/>
          </a:xfrm>
          <a:prstGeom prst="rect">
            <a:avLst/>
          </a:prstGeom>
          <a:noFill/>
        </p:spPr>
        <p:txBody>
          <a:bodyPr wrap="none" lIns="0" rIns="0" tIns="0" bIns="0">
            <a:spAutoFit/>
          </a:bodyPr>
          <a:lstStyle/>
          <a:p>
            <a:r>
              <a:rPr sz="1055" b="0">
                <a:solidFill>
                  <a:srgbClr val="2E2E2E"/>
                </a:solidFill>
                <a:latin typeface="Calibri"/>
              </a:rPr>
              <a:t>processing method, other / hybrid processing</a:t>
            </a:r>
          </a:p>
        </p:txBody>
      </p:sp>
      <p:sp>
        <p:nvSpPr>
          <p:cNvPr id="79" name="TextBox 78"/>
          <p:cNvSpPr txBox="1"/>
          <p:nvPr/>
        </p:nvSpPr>
        <p:spPr>
          <a:xfrm>
            <a:off x="485775" y="4551305"/>
            <a:ext cx="2914650" cy="179984"/>
          </a:xfrm>
          <a:prstGeom prst="rect">
            <a:avLst/>
          </a:prstGeom>
          <a:noFill/>
        </p:spPr>
        <p:txBody>
          <a:bodyPr wrap="none" lIns="0" rIns="0" tIns="0" bIns="0">
            <a:spAutoFit/>
          </a:bodyPr>
          <a:lstStyle/>
          <a:p>
            <a:r>
              <a:rPr sz="1055" b="0">
                <a:solidFill>
                  <a:srgbClr val="2E2E2E"/>
                </a:solidFill>
                <a:latin typeface="Calibri"/>
              </a:rPr>
              <a:t>methods segment is expected to witness the highest</a:t>
            </a:r>
          </a:p>
        </p:txBody>
      </p:sp>
      <p:sp>
        <p:nvSpPr>
          <p:cNvPr id="80" name="TextBox 79"/>
          <p:cNvSpPr txBox="1"/>
          <p:nvPr/>
        </p:nvSpPr>
        <p:spPr>
          <a:xfrm>
            <a:off x="485775" y="4712240"/>
            <a:ext cx="524620" cy="179984"/>
          </a:xfrm>
          <a:prstGeom prst="rect">
            <a:avLst/>
          </a:prstGeom>
          <a:noFill/>
        </p:spPr>
        <p:txBody>
          <a:bodyPr wrap="none" lIns="0" rIns="0" tIns="0" bIns="0">
            <a:spAutoFit/>
          </a:bodyPr>
          <a:lstStyle/>
          <a:p>
            <a:r>
              <a:rPr sz="1055" b="0">
                <a:solidFill>
                  <a:srgbClr val="2E2E2E"/>
                </a:solidFill>
                <a:latin typeface="Calibri"/>
              </a:rPr>
              <a:t>CAGR of</a:t>
            </a:r>
          </a:p>
        </p:txBody>
      </p:sp>
      <p:pic>
        <p:nvPicPr>
          <p:cNvPr id="81" name="Picture 80" descr="lock.png"/>
          <p:cNvPicPr>
            <a:picLocks noChangeAspect="1"/>
          </p:cNvPicPr>
          <p:nvPr/>
        </p:nvPicPr>
        <p:blipFill>
          <a:blip r:embed="rId16"/>
          <a:stretch>
            <a:fillRect/>
          </a:stretch>
        </p:blipFill>
        <p:spPr>
          <a:xfrm>
            <a:off x="957477" y="4702852"/>
            <a:ext cx="123551" cy="179710"/>
          </a:xfrm>
          <a:prstGeom prst="rect">
            <a:avLst/>
          </a:prstGeom>
        </p:spPr>
      </p:pic>
      <p:sp>
        <p:nvSpPr>
          <p:cNvPr id="82" name="TextBox 81"/>
          <p:cNvSpPr txBox="1"/>
          <p:nvPr/>
        </p:nvSpPr>
        <p:spPr>
          <a:xfrm>
            <a:off x="1118273" y="4712240"/>
            <a:ext cx="2053566" cy="179984"/>
          </a:xfrm>
          <a:prstGeom prst="rect">
            <a:avLst/>
          </a:prstGeom>
          <a:noFill/>
        </p:spPr>
        <p:txBody>
          <a:bodyPr wrap="none" lIns="0" rIns="0" tIns="0" bIns="0">
            <a:spAutoFit/>
          </a:bodyPr>
          <a:lstStyle/>
          <a:p>
            <a:r>
              <a:rPr sz="1055" b="0">
                <a:solidFill>
                  <a:srgbClr val="2E2E2E"/>
                </a:solidFill>
                <a:latin typeface="Calibri"/>
              </a:rPr>
              <a:t>over the forecast period. In terms of</a:t>
            </a:r>
          </a:p>
        </p:txBody>
      </p:sp>
      <p:sp>
        <p:nvSpPr>
          <p:cNvPr id="83" name="TextBox 82"/>
          <p:cNvSpPr txBox="1"/>
          <p:nvPr/>
        </p:nvSpPr>
        <p:spPr>
          <a:xfrm>
            <a:off x="485775" y="4873174"/>
            <a:ext cx="2848022" cy="179984"/>
          </a:xfrm>
          <a:prstGeom prst="rect">
            <a:avLst/>
          </a:prstGeom>
          <a:noFill/>
        </p:spPr>
        <p:txBody>
          <a:bodyPr wrap="none" lIns="0" rIns="0" tIns="0" bIns="0">
            <a:spAutoFit/>
          </a:bodyPr>
          <a:lstStyle/>
          <a:p>
            <a:r>
              <a:rPr sz="1055" b="0">
                <a:solidFill>
                  <a:srgbClr val="2E2E2E"/>
                </a:solidFill>
                <a:latin typeface="Calibri"/>
              </a:rPr>
              <a:t>value share by extraction / processing method, the</a:t>
            </a:r>
          </a:p>
        </p:txBody>
      </p:sp>
      <p:sp>
        <p:nvSpPr>
          <p:cNvPr id="84" name="TextBox 83"/>
          <p:cNvSpPr txBox="1"/>
          <p:nvPr/>
        </p:nvSpPr>
        <p:spPr>
          <a:xfrm>
            <a:off x="485775" y="5034109"/>
            <a:ext cx="2823400" cy="179984"/>
          </a:xfrm>
          <a:prstGeom prst="rect">
            <a:avLst/>
          </a:prstGeom>
          <a:noFill/>
        </p:spPr>
        <p:txBody>
          <a:bodyPr wrap="none" lIns="0" rIns="0" tIns="0" bIns="0">
            <a:spAutoFit/>
          </a:bodyPr>
          <a:lstStyle/>
          <a:p>
            <a:r>
              <a:rPr sz="1055" b="0">
                <a:solidFill>
                  <a:srgbClr val="2E2E2E"/>
                </a:solidFill>
                <a:latin typeface="Calibri"/>
              </a:rPr>
              <a:t>mechanical separation &amp; micronization segment is</a:t>
            </a:r>
          </a:p>
        </p:txBody>
      </p:sp>
      <p:sp>
        <p:nvSpPr>
          <p:cNvPr id="85" name="TextBox 84"/>
          <p:cNvSpPr txBox="1"/>
          <p:nvPr/>
        </p:nvSpPr>
        <p:spPr>
          <a:xfrm>
            <a:off x="485775" y="5195043"/>
            <a:ext cx="2371034" cy="179984"/>
          </a:xfrm>
          <a:prstGeom prst="rect">
            <a:avLst/>
          </a:prstGeom>
          <a:noFill/>
        </p:spPr>
        <p:txBody>
          <a:bodyPr wrap="none" lIns="0" rIns="0" tIns="0" bIns="0">
            <a:spAutoFit/>
          </a:bodyPr>
          <a:lstStyle/>
          <a:p>
            <a:r>
              <a:rPr sz="1055" b="0">
                <a:solidFill>
                  <a:srgbClr val="2E2E2E"/>
                </a:solidFill>
                <a:latin typeface="Calibri"/>
              </a:rPr>
              <a:t>expected to dominate the market, gaining</a:t>
            </a:r>
          </a:p>
        </p:txBody>
      </p:sp>
      <p:pic>
        <p:nvPicPr>
          <p:cNvPr id="86" name="Picture 85" descr="lock.png"/>
          <p:cNvPicPr>
            <a:picLocks noChangeAspect="1"/>
          </p:cNvPicPr>
          <p:nvPr/>
        </p:nvPicPr>
        <p:blipFill>
          <a:blip r:embed="rId16"/>
          <a:stretch>
            <a:fillRect/>
          </a:stretch>
        </p:blipFill>
        <p:spPr>
          <a:xfrm>
            <a:off x="2803890" y="5185655"/>
            <a:ext cx="123551" cy="179710"/>
          </a:xfrm>
          <a:prstGeom prst="rect">
            <a:avLst/>
          </a:prstGeom>
        </p:spPr>
      </p:pic>
      <p:sp>
        <p:nvSpPr>
          <p:cNvPr id="87" name="TextBox 86"/>
          <p:cNvSpPr txBox="1"/>
          <p:nvPr/>
        </p:nvSpPr>
        <p:spPr>
          <a:xfrm>
            <a:off x="2964686" y="5195043"/>
            <a:ext cx="280249" cy="179984"/>
          </a:xfrm>
          <a:prstGeom prst="rect">
            <a:avLst/>
          </a:prstGeom>
          <a:noFill/>
        </p:spPr>
        <p:txBody>
          <a:bodyPr wrap="none" lIns="0" rIns="0" tIns="0" bIns="0">
            <a:spAutoFit/>
          </a:bodyPr>
          <a:lstStyle/>
          <a:p>
            <a:r>
              <a:rPr sz="1055" b="0">
                <a:solidFill>
                  <a:srgbClr val="2E2E2E"/>
                </a:solidFill>
                <a:latin typeface="Calibri"/>
              </a:rPr>
              <a:t>BPS</a:t>
            </a:r>
          </a:p>
        </p:txBody>
      </p:sp>
      <p:sp>
        <p:nvSpPr>
          <p:cNvPr id="88" name="TextBox 87"/>
          <p:cNvSpPr txBox="1"/>
          <p:nvPr/>
        </p:nvSpPr>
        <p:spPr>
          <a:xfrm>
            <a:off x="485775" y="5355977"/>
            <a:ext cx="1099589" cy="179984"/>
          </a:xfrm>
          <a:prstGeom prst="rect">
            <a:avLst/>
          </a:prstGeom>
          <a:noFill/>
        </p:spPr>
        <p:txBody>
          <a:bodyPr wrap="none" lIns="0" rIns="0" tIns="0" bIns="0">
            <a:spAutoFit/>
          </a:bodyPr>
          <a:lstStyle/>
          <a:p>
            <a:r>
              <a:rPr sz="1055" b="0">
                <a:solidFill>
                  <a:srgbClr val="2E2E2E"/>
                </a:solidFill>
                <a:latin typeface="Calibri"/>
              </a:rPr>
              <a:t>and accounting for</a:t>
            </a:r>
          </a:p>
        </p:txBody>
      </p:sp>
      <p:pic>
        <p:nvPicPr>
          <p:cNvPr id="89" name="Picture 88" descr="lock.png"/>
          <p:cNvPicPr>
            <a:picLocks noChangeAspect="1"/>
          </p:cNvPicPr>
          <p:nvPr/>
        </p:nvPicPr>
        <p:blipFill>
          <a:blip r:embed="rId16"/>
          <a:stretch>
            <a:fillRect/>
          </a:stretch>
        </p:blipFill>
        <p:spPr>
          <a:xfrm>
            <a:off x="1532446" y="5346589"/>
            <a:ext cx="123551" cy="179710"/>
          </a:xfrm>
          <a:prstGeom prst="rect">
            <a:avLst/>
          </a:prstGeom>
        </p:spPr>
      </p:pic>
      <p:sp>
        <p:nvSpPr>
          <p:cNvPr id="90" name="TextBox 89"/>
          <p:cNvSpPr txBox="1"/>
          <p:nvPr/>
        </p:nvSpPr>
        <p:spPr>
          <a:xfrm>
            <a:off x="1693242" y="5355977"/>
            <a:ext cx="875109" cy="179984"/>
          </a:xfrm>
          <a:prstGeom prst="rect">
            <a:avLst/>
          </a:prstGeom>
          <a:noFill/>
        </p:spPr>
        <p:txBody>
          <a:bodyPr wrap="none" lIns="0" rIns="0" tIns="0" bIns="0">
            <a:spAutoFit/>
          </a:bodyPr>
          <a:lstStyle/>
          <a:p>
            <a:r>
              <a:rPr sz="1055" b="0">
                <a:solidFill>
                  <a:srgbClr val="2E2E2E"/>
                </a:solidFill>
                <a:latin typeface="Calibri"/>
              </a:rPr>
              <a:t>share by 2036.</a:t>
            </a:r>
          </a:p>
        </p:txBody>
      </p:sp>
      <p:sp>
        <p:nvSpPr>
          <p:cNvPr id="91" name="TextBox 90"/>
          <p:cNvSpPr txBox="1"/>
          <p:nvPr/>
        </p:nvSpPr>
        <p:spPr>
          <a:xfrm>
            <a:off x="485775" y="5565192"/>
            <a:ext cx="2830996" cy="179984"/>
          </a:xfrm>
          <a:prstGeom prst="rect">
            <a:avLst/>
          </a:prstGeom>
          <a:noFill/>
        </p:spPr>
        <p:txBody>
          <a:bodyPr wrap="none" lIns="0" rIns="0" tIns="0" bIns="0">
            <a:spAutoFit/>
          </a:bodyPr>
          <a:lstStyle/>
          <a:p>
            <a:r>
              <a:rPr sz="1055" b="0">
                <a:solidFill>
                  <a:srgbClr val="2E2E2E"/>
                </a:solidFill>
                <a:latin typeface="Calibri"/>
              </a:rPr>
              <a:t>Mechanical separation &amp; micronization segment is</a:t>
            </a:r>
          </a:p>
        </p:txBody>
      </p:sp>
      <p:sp>
        <p:nvSpPr>
          <p:cNvPr id="92" name="TextBox 91"/>
          <p:cNvSpPr txBox="1"/>
          <p:nvPr/>
        </p:nvSpPr>
        <p:spPr>
          <a:xfrm>
            <a:off x="485775" y="5726126"/>
            <a:ext cx="1197816" cy="179984"/>
          </a:xfrm>
          <a:prstGeom prst="rect">
            <a:avLst/>
          </a:prstGeom>
          <a:noFill/>
        </p:spPr>
        <p:txBody>
          <a:bodyPr wrap="none" lIns="0" rIns="0" tIns="0" bIns="0">
            <a:spAutoFit/>
          </a:bodyPr>
          <a:lstStyle/>
          <a:p>
            <a:r>
              <a:rPr sz="1055" b="0">
                <a:solidFill>
                  <a:srgbClr val="2E2E2E"/>
                </a:solidFill>
                <a:latin typeface="Calibri"/>
              </a:rPr>
              <a:t>projected to register</a:t>
            </a:r>
          </a:p>
        </p:txBody>
      </p:sp>
      <p:pic>
        <p:nvPicPr>
          <p:cNvPr id="93" name="Picture 92" descr="lock.png"/>
          <p:cNvPicPr>
            <a:picLocks noChangeAspect="1"/>
          </p:cNvPicPr>
          <p:nvPr/>
        </p:nvPicPr>
        <p:blipFill>
          <a:blip r:embed="rId16"/>
          <a:stretch>
            <a:fillRect/>
          </a:stretch>
        </p:blipFill>
        <p:spPr>
          <a:xfrm>
            <a:off x="1630672" y="5716739"/>
            <a:ext cx="123551" cy="179710"/>
          </a:xfrm>
          <a:prstGeom prst="rect">
            <a:avLst/>
          </a:prstGeom>
        </p:spPr>
      </p:pic>
      <p:sp>
        <p:nvSpPr>
          <p:cNvPr id="94" name="TextBox 93"/>
          <p:cNvSpPr txBox="1"/>
          <p:nvPr/>
        </p:nvSpPr>
        <p:spPr>
          <a:xfrm>
            <a:off x="1791468" y="5726126"/>
            <a:ext cx="1541216" cy="179984"/>
          </a:xfrm>
          <a:prstGeom prst="rect">
            <a:avLst/>
          </a:prstGeom>
          <a:noFill/>
        </p:spPr>
        <p:txBody>
          <a:bodyPr wrap="none" lIns="0" rIns="0" tIns="0" bIns="0">
            <a:spAutoFit/>
          </a:bodyPr>
          <a:lstStyle/>
          <a:p>
            <a:r>
              <a:rPr sz="1055" b="0">
                <a:solidFill>
                  <a:srgbClr val="2E2E2E"/>
                </a:solidFill>
                <a:latin typeface="Calibri"/>
              </a:rPr>
              <a:t>X higher value than other /</a:t>
            </a:r>
          </a:p>
        </p:txBody>
      </p:sp>
      <p:sp>
        <p:nvSpPr>
          <p:cNvPr id="95" name="TextBox 94"/>
          <p:cNvSpPr txBox="1"/>
          <p:nvPr/>
        </p:nvSpPr>
        <p:spPr>
          <a:xfrm>
            <a:off x="485775" y="5887061"/>
            <a:ext cx="2521386" cy="179984"/>
          </a:xfrm>
          <a:prstGeom prst="rect">
            <a:avLst/>
          </a:prstGeom>
          <a:noFill/>
        </p:spPr>
        <p:txBody>
          <a:bodyPr wrap="none" lIns="0" rIns="0" tIns="0" bIns="0">
            <a:spAutoFit/>
          </a:bodyPr>
          <a:lstStyle/>
          <a:p>
            <a:r>
              <a:rPr sz="1055" b="0">
                <a:solidFill>
                  <a:srgbClr val="2E2E2E"/>
                </a:solidFill>
                <a:latin typeface="Calibri"/>
              </a:rPr>
              <a:t>hybrid processing methods segment in 2036.</a:t>
            </a:r>
          </a:p>
        </p:txBody>
      </p:sp>
      <p:sp>
        <p:nvSpPr>
          <p:cNvPr id="96" name="TextBox 95"/>
          <p:cNvSpPr txBox="1"/>
          <p:nvPr/>
        </p:nvSpPr>
        <p:spPr>
          <a:xfrm>
            <a:off x="3838575" y="4229437"/>
            <a:ext cx="2475110" cy="186689"/>
          </a:xfrm>
          <a:prstGeom prst="rect">
            <a:avLst/>
          </a:prstGeom>
          <a:noFill/>
        </p:spPr>
        <p:txBody>
          <a:bodyPr wrap="none" lIns="0" rIns="0" tIns="0" bIns="0">
            <a:spAutoFit/>
          </a:bodyPr>
          <a:lstStyle/>
          <a:p>
            <a:r>
              <a:rPr sz="1100" b="0">
                <a:solidFill>
                  <a:srgbClr val="2E2E2E"/>
                </a:solidFill>
                <a:latin typeface="Calibri"/>
              </a:rPr>
              <a:t>● Mechanical Separation &amp; Micronization:</a:t>
            </a:r>
          </a:p>
        </p:txBody>
      </p:sp>
      <p:pic>
        <p:nvPicPr>
          <p:cNvPr id="97" name="Picture 96" descr="lock.png"/>
          <p:cNvPicPr>
            <a:picLocks noChangeAspect="1"/>
          </p:cNvPicPr>
          <p:nvPr/>
        </p:nvPicPr>
        <p:blipFill>
          <a:blip r:embed="rId16"/>
          <a:stretch>
            <a:fillRect/>
          </a:stretch>
        </p:blipFill>
        <p:spPr>
          <a:xfrm>
            <a:off x="6261737" y="4219658"/>
            <a:ext cx="128699" cy="187198"/>
          </a:xfrm>
          <a:prstGeom prst="rect">
            <a:avLst/>
          </a:prstGeom>
        </p:spPr>
      </p:pic>
      <p:sp>
        <p:nvSpPr>
          <p:cNvPr id="98" name="TextBox 97"/>
          <p:cNvSpPr txBox="1"/>
          <p:nvPr/>
        </p:nvSpPr>
        <p:spPr>
          <a:xfrm>
            <a:off x="6429233" y="422943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99" name="Picture 98" descr="lock.png"/>
          <p:cNvPicPr>
            <a:picLocks noChangeAspect="1"/>
          </p:cNvPicPr>
          <p:nvPr/>
        </p:nvPicPr>
        <p:blipFill>
          <a:blip r:embed="rId16"/>
          <a:stretch>
            <a:fillRect/>
          </a:stretch>
        </p:blipFill>
        <p:spPr>
          <a:xfrm>
            <a:off x="7288683" y="4219658"/>
            <a:ext cx="128699" cy="187198"/>
          </a:xfrm>
          <a:prstGeom prst="rect">
            <a:avLst/>
          </a:prstGeom>
        </p:spPr>
      </p:pic>
      <p:sp>
        <p:nvSpPr>
          <p:cNvPr id="100" name="TextBox 99"/>
          <p:cNvSpPr txBox="1"/>
          <p:nvPr/>
        </p:nvSpPr>
        <p:spPr>
          <a:xfrm>
            <a:off x="3838575" y="4397077"/>
            <a:ext cx="1503469" cy="186689"/>
          </a:xfrm>
          <a:prstGeom prst="rect">
            <a:avLst/>
          </a:prstGeom>
          <a:noFill/>
        </p:spPr>
        <p:txBody>
          <a:bodyPr wrap="none" lIns="0" rIns="0" tIns="0" bIns="0">
            <a:spAutoFit/>
          </a:bodyPr>
          <a:lstStyle/>
          <a:p>
            <a:r>
              <a:rPr sz="1100" b="0">
                <a:solidFill>
                  <a:srgbClr val="2E2E2E"/>
                </a:solidFill>
                <a:latin typeface="Calibri"/>
              </a:rPr>
              <a:t>CAGR leads the segment.</a:t>
            </a:r>
          </a:p>
        </p:txBody>
      </p:sp>
      <p:sp>
        <p:nvSpPr>
          <p:cNvPr id="101" name="TextBox 100"/>
          <p:cNvSpPr txBox="1"/>
          <p:nvPr/>
        </p:nvSpPr>
        <p:spPr>
          <a:xfrm>
            <a:off x="3838575" y="4615009"/>
            <a:ext cx="2234728" cy="186689"/>
          </a:xfrm>
          <a:prstGeom prst="rect">
            <a:avLst/>
          </a:prstGeom>
          <a:noFill/>
        </p:spPr>
        <p:txBody>
          <a:bodyPr wrap="none" lIns="0" rIns="0" tIns="0" bIns="0">
            <a:spAutoFit/>
          </a:bodyPr>
          <a:lstStyle/>
          <a:p>
            <a:r>
              <a:rPr sz="1100" b="0">
                <a:solidFill>
                  <a:srgbClr val="2E2E2E"/>
                </a:solidFill>
                <a:latin typeface="Calibri"/>
              </a:rPr>
              <a:t>● Other / Hybrid Processing Methods:</a:t>
            </a:r>
          </a:p>
        </p:txBody>
      </p:sp>
      <p:pic>
        <p:nvPicPr>
          <p:cNvPr id="102" name="Picture 101" descr="lock.png"/>
          <p:cNvPicPr>
            <a:picLocks noChangeAspect="1"/>
          </p:cNvPicPr>
          <p:nvPr/>
        </p:nvPicPr>
        <p:blipFill>
          <a:blip r:embed="rId16"/>
          <a:stretch>
            <a:fillRect/>
          </a:stretch>
        </p:blipFill>
        <p:spPr>
          <a:xfrm>
            <a:off x="6021355" y="4605230"/>
            <a:ext cx="128699" cy="187198"/>
          </a:xfrm>
          <a:prstGeom prst="rect">
            <a:avLst/>
          </a:prstGeom>
        </p:spPr>
      </p:pic>
      <p:sp>
        <p:nvSpPr>
          <p:cNvPr id="103" name="TextBox 102"/>
          <p:cNvSpPr txBox="1"/>
          <p:nvPr/>
        </p:nvSpPr>
        <p:spPr>
          <a:xfrm>
            <a:off x="6188851" y="4615009"/>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04" name="Picture 103" descr="lock.png"/>
          <p:cNvPicPr>
            <a:picLocks noChangeAspect="1"/>
          </p:cNvPicPr>
          <p:nvPr/>
        </p:nvPicPr>
        <p:blipFill>
          <a:blip r:embed="rId16"/>
          <a:stretch>
            <a:fillRect/>
          </a:stretch>
        </p:blipFill>
        <p:spPr>
          <a:xfrm>
            <a:off x="7048301" y="4605230"/>
            <a:ext cx="128699" cy="187198"/>
          </a:xfrm>
          <a:prstGeom prst="rect">
            <a:avLst/>
          </a:prstGeom>
        </p:spPr>
      </p:pic>
      <p:sp>
        <p:nvSpPr>
          <p:cNvPr id="105" name="TextBox 104"/>
          <p:cNvSpPr txBox="1"/>
          <p:nvPr/>
        </p:nvSpPr>
        <p:spPr>
          <a:xfrm>
            <a:off x="7215797" y="4615009"/>
            <a:ext cx="395419" cy="186689"/>
          </a:xfrm>
          <a:prstGeom prst="rect">
            <a:avLst/>
          </a:prstGeom>
          <a:noFill/>
        </p:spPr>
        <p:txBody>
          <a:bodyPr wrap="none" lIns="0" rIns="0" tIns="0" bIns="0">
            <a:spAutoFit/>
          </a:bodyPr>
          <a:lstStyle/>
          <a:p>
            <a:r>
              <a:rPr sz="1100" b="0">
                <a:solidFill>
                  <a:srgbClr val="2E2E2E"/>
                </a:solidFill>
                <a:latin typeface="Calibri"/>
              </a:rPr>
              <a:t>CAGR</a:t>
            </a:r>
          </a:p>
        </p:txBody>
      </p:sp>
      <p:sp>
        <p:nvSpPr>
          <p:cNvPr id="106" name="TextBox 105"/>
          <p:cNvSpPr txBox="1"/>
          <p:nvPr/>
        </p:nvSpPr>
        <p:spPr>
          <a:xfrm>
            <a:off x="3838575" y="4782649"/>
            <a:ext cx="867742" cy="186689"/>
          </a:xfrm>
          <a:prstGeom prst="rect">
            <a:avLst/>
          </a:prstGeom>
          <a:noFill/>
        </p:spPr>
        <p:txBody>
          <a:bodyPr wrap="none" lIns="0" rIns="0" tIns="0" bIns="0">
            <a:spAutoFit/>
          </a:bodyPr>
          <a:lstStyle/>
          <a:p>
            <a:r>
              <a:rPr sz="1100" b="0">
                <a:solidFill>
                  <a:srgbClr val="2E2E2E"/>
                </a:solidFill>
                <a:latin typeface="Calibri"/>
              </a:rPr>
              <a:t>grows fastest.</a:t>
            </a:r>
          </a:p>
        </p:txBody>
      </p:sp>
      <p:sp>
        <p:nvSpPr>
          <p:cNvPr id="107" name="TextBox 106"/>
          <p:cNvSpPr txBox="1"/>
          <p:nvPr/>
        </p:nvSpPr>
        <p:spPr>
          <a:xfrm>
            <a:off x="3838575" y="5000581"/>
            <a:ext cx="2242641" cy="186689"/>
          </a:xfrm>
          <a:prstGeom prst="rect">
            <a:avLst/>
          </a:prstGeom>
          <a:noFill/>
        </p:spPr>
        <p:txBody>
          <a:bodyPr wrap="none" lIns="0" rIns="0" tIns="0" bIns="0">
            <a:spAutoFit/>
          </a:bodyPr>
          <a:lstStyle/>
          <a:p>
            <a:r>
              <a:rPr sz="1100" b="0">
                <a:solidFill>
                  <a:srgbClr val="2E2E2E"/>
                </a:solidFill>
                <a:latin typeface="Calibri"/>
              </a:rPr>
              <a:t>● Chemical Hydrolysis / Solubilization:</a:t>
            </a:r>
          </a:p>
        </p:txBody>
      </p:sp>
      <p:pic>
        <p:nvPicPr>
          <p:cNvPr id="108" name="Picture 107" descr="lock.png"/>
          <p:cNvPicPr>
            <a:picLocks noChangeAspect="1"/>
          </p:cNvPicPr>
          <p:nvPr/>
        </p:nvPicPr>
        <p:blipFill>
          <a:blip r:embed="rId16"/>
          <a:stretch>
            <a:fillRect/>
          </a:stretch>
        </p:blipFill>
        <p:spPr>
          <a:xfrm>
            <a:off x="6029268" y="4990801"/>
            <a:ext cx="128699" cy="187198"/>
          </a:xfrm>
          <a:prstGeom prst="rect">
            <a:avLst/>
          </a:prstGeom>
        </p:spPr>
      </p:pic>
      <p:sp>
        <p:nvSpPr>
          <p:cNvPr id="109" name="TextBox 108"/>
          <p:cNvSpPr txBox="1"/>
          <p:nvPr/>
        </p:nvSpPr>
        <p:spPr>
          <a:xfrm>
            <a:off x="6196763" y="5000581"/>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10" name="Picture 109" descr="lock.png"/>
          <p:cNvPicPr>
            <a:picLocks noChangeAspect="1"/>
          </p:cNvPicPr>
          <p:nvPr/>
        </p:nvPicPr>
        <p:blipFill>
          <a:blip r:embed="rId16"/>
          <a:stretch>
            <a:fillRect/>
          </a:stretch>
        </p:blipFill>
        <p:spPr>
          <a:xfrm>
            <a:off x="7056214" y="4990801"/>
            <a:ext cx="128699" cy="187198"/>
          </a:xfrm>
          <a:prstGeom prst="rect">
            <a:avLst/>
          </a:prstGeom>
        </p:spPr>
      </p:pic>
      <p:sp>
        <p:nvSpPr>
          <p:cNvPr id="111" name="TextBox 110"/>
          <p:cNvSpPr txBox="1"/>
          <p:nvPr/>
        </p:nvSpPr>
        <p:spPr>
          <a:xfrm>
            <a:off x="7223709" y="5000581"/>
            <a:ext cx="395419" cy="186689"/>
          </a:xfrm>
          <a:prstGeom prst="rect">
            <a:avLst/>
          </a:prstGeom>
          <a:noFill/>
        </p:spPr>
        <p:txBody>
          <a:bodyPr wrap="none" lIns="0" rIns="0" tIns="0" bIns="0">
            <a:spAutoFit/>
          </a:bodyPr>
          <a:lstStyle/>
          <a:p>
            <a:r>
              <a:rPr sz="1100" b="0">
                <a:solidFill>
                  <a:srgbClr val="2E2E2E"/>
                </a:solidFill>
                <a:latin typeface="Calibri"/>
              </a:rPr>
              <a:t>CAGR</a:t>
            </a:r>
          </a:p>
        </p:txBody>
      </p:sp>
      <p:sp>
        <p:nvSpPr>
          <p:cNvPr id="112" name="TextBox 111"/>
          <p:cNvSpPr txBox="1"/>
          <p:nvPr/>
        </p:nvSpPr>
        <p:spPr>
          <a:xfrm>
            <a:off x="3838575" y="5168221"/>
            <a:ext cx="909488" cy="186689"/>
          </a:xfrm>
          <a:prstGeom prst="rect">
            <a:avLst/>
          </a:prstGeom>
          <a:noFill/>
        </p:spPr>
        <p:txBody>
          <a:bodyPr wrap="none" lIns="0" rIns="0" tIns="0" bIns="0">
            <a:spAutoFit/>
          </a:bodyPr>
          <a:lstStyle/>
          <a:p>
            <a:r>
              <a:rPr sz="1100" b="0">
                <a:solidFill>
                  <a:srgbClr val="2E2E2E"/>
                </a:solidFill>
                <a:latin typeface="Calibri"/>
              </a:rPr>
              <a:t>serves a niche.</a:t>
            </a:r>
          </a:p>
        </p:txBody>
      </p:sp>
      <p:sp>
        <p:nvSpPr>
          <p:cNvPr id="113" name="TextBox 112"/>
          <p:cNvSpPr txBox="1"/>
          <p:nvPr/>
        </p:nvSpPr>
        <p:spPr>
          <a:xfrm>
            <a:off x="3838575" y="5386153"/>
            <a:ext cx="1421085" cy="186689"/>
          </a:xfrm>
          <a:prstGeom prst="rect">
            <a:avLst/>
          </a:prstGeom>
          <a:noFill/>
        </p:spPr>
        <p:txBody>
          <a:bodyPr wrap="none" lIns="0" rIns="0" tIns="0" bIns="0">
            <a:spAutoFit/>
          </a:bodyPr>
          <a:lstStyle/>
          <a:p>
            <a:r>
              <a:rPr sz="1100" b="0">
                <a:solidFill>
                  <a:srgbClr val="2E2E2E"/>
                </a:solidFill>
                <a:latin typeface="Calibri"/>
              </a:rPr>
              <a:t>● Enzymatic Hydrolysis:</a:t>
            </a:r>
          </a:p>
        </p:txBody>
      </p:sp>
      <p:pic>
        <p:nvPicPr>
          <p:cNvPr id="114" name="Picture 113" descr="lock.png"/>
          <p:cNvPicPr>
            <a:picLocks noChangeAspect="1"/>
          </p:cNvPicPr>
          <p:nvPr/>
        </p:nvPicPr>
        <p:blipFill>
          <a:blip r:embed="rId16"/>
          <a:stretch>
            <a:fillRect/>
          </a:stretch>
        </p:blipFill>
        <p:spPr>
          <a:xfrm>
            <a:off x="5207711" y="5376373"/>
            <a:ext cx="128699" cy="187198"/>
          </a:xfrm>
          <a:prstGeom prst="rect">
            <a:avLst/>
          </a:prstGeom>
        </p:spPr>
      </p:pic>
      <p:sp>
        <p:nvSpPr>
          <p:cNvPr id="115" name="TextBox 114"/>
          <p:cNvSpPr txBox="1"/>
          <p:nvPr/>
        </p:nvSpPr>
        <p:spPr>
          <a:xfrm>
            <a:off x="5375207" y="5386153"/>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16" name="Picture 115" descr="lock.png"/>
          <p:cNvPicPr>
            <a:picLocks noChangeAspect="1"/>
          </p:cNvPicPr>
          <p:nvPr/>
        </p:nvPicPr>
        <p:blipFill>
          <a:blip r:embed="rId16"/>
          <a:stretch>
            <a:fillRect/>
          </a:stretch>
        </p:blipFill>
        <p:spPr>
          <a:xfrm>
            <a:off x="6234657" y="5376373"/>
            <a:ext cx="128699" cy="187198"/>
          </a:xfrm>
          <a:prstGeom prst="rect">
            <a:avLst/>
          </a:prstGeom>
        </p:spPr>
      </p:pic>
      <p:sp>
        <p:nvSpPr>
          <p:cNvPr id="117" name="TextBox 116"/>
          <p:cNvSpPr txBox="1"/>
          <p:nvPr/>
        </p:nvSpPr>
        <p:spPr>
          <a:xfrm>
            <a:off x="6402153" y="5386153"/>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118" name="TextBox 117"/>
          <p:cNvSpPr txBox="1"/>
          <p:nvPr/>
        </p:nvSpPr>
        <p:spPr>
          <a:xfrm>
            <a:off x="8524875" y="5856661"/>
            <a:ext cx="2699223" cy="180289"/>
          </a:xfrm>
          <a:prstGeom prst="rect">
            <a:avLst/>
          </a:prstGeom>
          <a:noFill/>
        </p:spPr>
        <p:txBody>
          <a:bodyPr wrap="none" lIns="0" rIns="0" tIns="0" bIns="0">
            <a:spAutoFit/>
          </a:bodyPr>
          <a:lstStyle/>
          <a:p>
            <a:r>
              <a:rPr sz="1057" b="1">
                <a:solidFill>
                  <a:srgbClr val="0B2E4A"/>
                </a:solidFill>
                <a:latin typeface="Calibri"/>
              </a:rPr>
              <a:t>The Extraction / Processing Method segment is</a:t>
            </a:r>
          </a:p>
        </p:txBody>
      </p:sp>
      <p:sp>
        <p:nvSpPr>
          <p:cNvPr id="119" name="TextBox 118"/>
          <p:cNvSpPr txBox="1"/>
          <p:nvPr/>
        </p:nvSpPr>
        <p:spPr>
          <a:xfrm>
            <a:off x="8524875" y="6017901"/>
            <a:ext cx="1806400" cy="180289"/>
          </a:xfrm>
          <a:prstGeom prst="rect">
            <a:avLst/>
          </a:prstGeom>
          <a:noFill/>
        </p:spPr>
        <p:txBody>
          <a:bodyPr wrap="none" lIns="0" rIns="0" tIns="0" bIns="0">
            <a:spAutoFit/>
          </a:bodyPr>
          <a:lstStyle/>
          <a:p>
            <a:r>
              <a:rPr sz="1057" b="1">
                <a:solidFill>
                  <a:srgbClr val="0B2E4A"/>
                </a:solidFill>
                <a:latin typeface="Calibri"/>
              </a:rPr>
              <a:t>projected to grow at a CAGR of</a:t>
            </a:r>
          </a:p>
        </p:txBody>
      </p:sp>
      <p:pic>
        <p:nvPicPr>
          <p:cNvPr id="120" name="Picture 119" descr="lock.png"/>
          <p:cNvPicPr>
            <a:picLocks noChangeAspect="1"/>
          </p:cNvPicPr>
          <p:nvPr/>
        </p:nvPicPr>
        <p:blipFill>
          <a:blip r:embed="rId16"/>
          <a:stretch>
            <a:fillRect/>
          </a:stretch>
        </p:blipFill>
        <p:spPr>
          <a:xfrm>
            <a:off x="10278400" y="6008495"/>
            <a:ext cx="123784" cy="180050"/>
          </a:xfrm>
          <a:prstGeom prst="rect">
            <a:avLst/>
          </a:prstGeom>
        </p:spPr>
      </p:pic>
      <p:sp>
        <p:nvSpPr>
          <p:cNvPr id="121" name="TextBox 120"/>
          <p:cNvSpPr txBox="1"/>
          <p:nvPr/>
        </p:nvSpPr>
        <p:spPr>
          <a:xfrm>
            <a:off x="10439501" y="6017901"/>
            <a:ext cx="1140105" cy="180289"/>
          </a:xfrm>
          <a:prstGeom prst="rect">
            <a:avLst/>
          </a:prstGeom>
          <a:noFill/>
        </p:spPr>
        <p:txBody>
          <a:bodyPr wrap="none" lIns="0" rIns="0" tIns="0" bIns="0">
            <a:spAutoFit/>
          </a:bodyPr>
          <a:lstStyle/>
          <a:p>
            <a:r>
              <a:rPr sz="1057" b="1">
                <a:solidFill>
                  <a:srgbClr val="0B2E4A"/>
                </a:solidFill>
                <a:latin typeface="Calibri"/>
              </a:rPr>
              <a:t>from 2026 to 2036.</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Structure &amp; Attractiveness, By Extraction / Processing Method (Value)</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Extraction / Processing Method mix within each country and the attractiveness of each sub-segment on growth and size</a:t>
            </a:r>
          </a:p>
        </p:txBody>
      </p:sp>
      <p:sp>
        <p:nvSpPr>
          <p:cNvPr id="7" name="Rounded Rectangle 6"/>
          <p:cNvSpPr/>
          <p:nvPr/>
        </p:nvSpPr>
        <p:spPr>
          <a:xfrm>
            <a:off x="142875" y="981075"/>
            <a:ext cx="6343650" cy="4324350"/>
          </a:xfrm>
          <a:prstGeom prst="roundRect">
            <a:avLst>
              <a:gd name="adj" fmla="val 1762"/>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6153150"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Extraction / Processing Method mix within each country (share of 2036 value) · row label = country size (US$ Mn), largest first</a:t>
            </a:r>
          </a:p>
        </p:txBody>
      </p:sp>
      <p:graphicFrame>
        <p:nvGraphicFramePr>
          <p:cNvPr id="9" name="Chart 8"/>
          <p:cNvGraphicFramePr>
            <a:graphicFrameLocks noGrp="1"/>
          </p:cNvGraphicFramePr>
          <p:nvPr/>
        </p:nvGraphicFramePr>
        <p:xfrm>
          <a:off x="238125" y="1438275"/>
          <a:ext cx="6153150" cy="3810000"/>
        </p:xfrm>
        <a:graphic>
          <a:graphicData uri="http://schemas.openxmlformats.org/drawingml/2006/chart">
            <c:chart xmlns:c="http://schemas.openxmlformats.org/drawingml/2006/chart" r:id="rId3"/>
          </a:graphicData>
        </a:graphic>
      </p:graphicFrame>
      <p:sp>
        <p:nvSpPr>
          <p:cNvPr id="10" name="Rounded Rectangle 9"/>
          <p:cNvSpPr/>
          <p:nvPr/>
        </p:nvSpPr>
        <p:spPr>
          <a:xfrm>
            <a:off x="6638925" y="981075"/>
            <a:ext cx="5400675" cy="4324350"/>
          </a:xfrm>
          <a:prstGeom prst="roundRect">
            <a:avLst>
              <a:gd name="adj" fmla="val 1762"/>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34175" y="1038225"/>
            <a:ext cx="521017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Attractiveness, By Extraction / Processing Method · Bubble size represents 2036 value</a:t>
            </a:r>
          </a:p>
        </p:txBody>
      </p:sp>
      <p:graphicFrame>
        <p:nvGraphicFramePr>
          <p:cNvPr id="12" name="Chart 11"/>
          <p:cNvGraphicFramePr>
            <a:graphicFrameLocks noGrp="1"/>
          </p:cNvGraphicFramePr>
          <p:nvPr/>
        </p:nvGraphicFramePr>
        <p:xfrm>
          <a:off x="6734175" y="1438275"/>
          <a:ext cx="5210175" cy="3810000"/>
        </p:xfrm>
        <a:graphic>
          <a:graphicData uri="http://schemas.openxmlformats.org/drawingml/2006/chart">
            <c:chart xmlns:c="http://schemas.openxmlformats.org/drawingml/2006/chart" r:id="rId4"/>
          </a:graphicData>
        </a:graphic>
      </p:graphicFrame>
      <p:sp>
        <p:nvSpPr>
          <p:cNvPr id="13" name="Rounded Rectangle 12"/>
          <p:cNvSpPr/>
          <p:nvPr/>
        </p:nvSpPr>
        <p:spPr>
          <a:xfrm>
            <a:off x="142875" y="5438775"/>
            <a:ext cx="11906250" cy="1181100"/>
          </a:xfrm>
          <a:prstGeom prst="roundRect">
            <a:avLst>
              <a:gd name="adj" fmla="val 6451"/>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14" name="Rectangle 13"/>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6" name="Picture 15" descr="lock.png"/>
          <p:cNvPicPr>
            <a:picLocks noChangeAspect="1"/>
          </p:cNvPicPr>
          <p:nvPr/>
        </p:nvPicPr>
        <p:blipFill>
          <a:blip r:embed="rId6"/>
          <a:stretch>
            <a:fillRect/>
          </a:stretch>
        </p:blipFill>
        <p:spPr>
          <a:xfrm>
            <a:off x="3484684" y="3024134"/>
            <a:ext cx="320946" cy="466830"/>
          </a:xfrm>
          <a:prstGeom prst="rect">
            <a:avLst/>
          </a:prstGeom>
        </p:spPr>
      </p:pic>
      <p:sp>
        <p:nvSpPr>
          <p:cNvPr id="17" name="TextBox 16"/>
          <p:cNvSpPr txBox="1"/>
          <p:nvPr/>
        </p:nvSpPr>
        <p:spPr>
          <a:xfrm>
            <a:off x="257175" y="5694045"/>
            <a:ext cx="11314955" cy="186689"/>
          </a:xfrm>
          <a:prstGeom prst="rect">
            <a:avLst/>
          </a:prstGeom>
          <a:noFill/>
        </p:spPr>
        <p:txBody>
          <a:bodyPr wrap="none" lIns="0" rIns="0" tIns="0" bIns="0">
            <a:spAutoFit/>
          </a:bodyPr>
          <a:lstStyle/>
          <a:p>
            <a:r>
              <a:rPr sz="1100" b="0">
                <a:solidFill>
                  <a:srgbClr val="2E2E2E"/>
                </a:solidFill>
                <a:latin typeface="Calibri"/>
              </a:rPr>
              <a:t>Mechanical separation &amp; micronization followed by other / hybrid processing methods are expected to be the two most attractive extraction / processing method segments in the North America egg</a:t>
            </a:r>
          </a:p>
        </p:txBody>
      </p:sp>
      <p:sp>
        <p:nvSpPr>
          <p:cNvPr id="18" name="TextBox 17"/>
          <p:cNvSpPr txBox="1"/>
          <p:nvPr/>
        </p:nvSpPr>
        <p:spPr>
          <a:xfrm>
            <a:off x="257175" y="5861685"/>
            <a:ext cx="9875373" cy="186689"/>
          </a:xfrm>
          <a:prstGeom prst="rect">
            <a:avLst/>
          </a:prstGeom>
          <a:noFill/>
        </p:spPr>
        <p:txBody>
          <a:bodyPr wrap="none" lIns="0" rIns="0" tIns="0" bIns="0">
            <a:spAutoFit/>
          </a:bodyPr>
          <a:lstStyle/>
          <a:p>
            <a:r>
              <a:rPr sz="1100" b="0">
                <a:solidFill>
                  <a:srgbClr val="2E2E2E"/>
                </a:solidFill>
                <a:latin typeface="Calibri"/>
              </a:rPr>
              <a:t>protein membrane market in terms of value over the forecast period. Mechanical separation &amp; micronization and other / hybrid processing methods exhibit a CAGR index of</a:t>
            </a:r>
          </a:p>
        </p:txBody>
      </p:sp>
      <p:pic>
        <p:nvPicPr>
          <p:cNvPr id="19" name="Picture 18" descr="lock.png"/>
          <p:cNvPicPr>
            <a:picLocks noChangeAspect="1"/>
          </p:cNvPicPr>
          <p:nvPr/>
        </p:nvPicPr>
        <p:blipFill>
          <a:blip r:embed="rId6"/>
          <a:stretch>
            <a:fillRect/>
          </a:stretch>
        </p:blipFill>
        <p:spPr>
          <a:xfrm>
            <a:off x="10080600" y="5851905"/>
            <a:ext cx="128699" cy="187198"/>
          </a:xfrm>
          <a:prstGeom prst="rect">
            <a:avLst/>
          </a:prstGeom>
        </p:spPr>
      </p:pic>
      <p:sp>
        <p:nvSpPr>
          <p:cNvPr id="20" name="TextBox 19"/>
          <p:cNvSpPr txBox="1"/>
          <p:nvPr/>
        </p:nvSpPr>
        <p:spPr>
          <a:xfrm>
            <a:off x="10248096" y="586168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1" name="Picture 20" descr="lock.png"/>
          <p:cNvPicPr>
            <a:picLocks noChangeAspect="1"/>
          </p:cNvPicPr>
          <p:nvPr/>
        </p:nvPicPr>
        <p:blipFill>
          <a:blip r:embed="rId6"/>
          <a:stretch>
            <a:fillRect/>
          </a:stretch>
        </p:blipFill>
        <p:spPr>
          <a:xfrm>
            <a:off x="10485990" y="5851905"/>
            <a:ext cx="128699" cy="187198"/>
          </a:xfrm>
          <a:prstGeom prst="rect">
            <a:avLst/>
          </a:prstGeom>
        </p:spPr>
      </p:pic>
      <p:sp>
        <p:nvSpPr>
          <p:cNvPr id="22" name="TextBox 21"/>
          <p:cNvSpPr txBox="1"/>
          <p:nvPr/>
        </p:nvSpPr>
        <p:spPr>
          <a:xfrm>
            <a:off x="10653486" y="5861685"/>
            <a:ext cx="827360" cy="186689"/>
          </a:xfrm>
          <a:prstGeom prst="rect">
            <a:avLst/>
          </a:prstGeom>
          <a:noFill/>
        </p:spPr>
        <p:txBody>
          <a:bodyPr wrap="none" lIns="0" rIns="0" tIns="0" bIns="0">
            <a:spAutoFit/>
          </a:bodyPr>
          <a:lstStyle/>
          <a:p>
            <a:r>
              <a:rPr sz="1100" b="0">
                <a:solidFill>
                  <a:srgbClr val="2E2E2E"/>
                </a:solidFill>
                <a:latin typeface="Calibri"/>
              </a:rPr>
              <a:t>and a market</a:t>
            </a:r>
          </a:p>
        </p:txBody>
      </p:sp>
      <p:sp>
        <p:nvSpPr>
          <p:cNvPr id="23" name="TextBox 22"/>
          <p:cNvSpPr txBox="1"/>
          <p:nvPr/>
        </p:nvSpPr>
        <p:spPr>
          <a:xfrm>
            <a:off x="257175" y="6029325"/>
            <a:ext cx="878110" cy="186689"/>
          </a:xfrm>
          <a:prstGeom prst="rect">
            <a:avLst/>
          </a:prstGeom>
          <a:noFill/>
        </p:spPr>
        <p:txBody>
          <a:bodyPr wrap="none" lIns="0" rIns="0" tIns="0" bIns="0">
            <a:spAutoFit/>
          </a:bodyPr>
          <a:lstStyle/>
          <a:p>
            <a:r>
              <a:rPr sz="1100" b="0">
                <a:solidFill>
                  <a:srgbClr val="2E2E2E"/>
                </a:solidFill>
                <a:latin typeface="Calibri"/>
              </a:rPr>
              <a:t>share index of</a:t>
            </a:r>
          </a:p>
        </p:txBody>
      </p:sp>
      <p:pic>
        <p:nvPicPr>
          <p:cNvPr id="24" name="Picture 23" descr="lock.png"/>
          <p:cNvPicPr>
            <a:picLocks noChangeAspect="1"/>
          </p:cNvPicPr>
          <p:nvPr/>
        </p:nvPicPr>
        <p:blipFill>
          <a:blip r:embed="rId6"/>
          <a:stretch>
            <a:fillRect/>
          </a:stretch>
        </p:blipFill>
        <p:spPr>
          <a:xfrm>
            <a:off x="1083337" y="6019545"/>
            <a:ext cx="128699" cy="187198"/>
          </a:xfrm>
          <a:prstGeom prst="rect">
            <a:avLst/>
          </a:prstGeom>
        </p:spPr>
      </p:pic>
      <p:sp>
        <p:nvSpPr>
          <p:cNvPr id="25" name="TextBox 24"/>
          <p:cNvSpPr txBox="1"/>
          <p:nvPr/>
        </p:nvSpPr>
        <p:spPr>
          <a:xfrm>
            <a:off x="1250833" y="602932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6" name="Picture 25" descr="lock.png"/>
          <p:cNvPicPr>
            <a:picLocks noChangeAspect="1"/>
          </p:cNvPicPr>
          <p:nvPr/>
        </p:nvPicPr>
        <p:blipFill>
          <a:blip r:embed="rId6"/>
          <a:stretch>
            <a:fillRect/>
          </a:stretch>
        </p:blipFill>
        <p:spPr>
          <a:xfrm>
            <a:off x="1488727" y="6019545"/>
            <a:ext cx="128699" cy="187198"/>
          </a:xfrm>
          <a:prstGeom prst="rect">
            <a:avLst/>
          </a:prstGeom>
        </p:spPr>
      </p:pic>
      <p:sp>
        <p:nvSpPr>
          <p:cNvPr id="27" name="TextBox 26"/>
          <p:cNvSpPr txBox="1"/>
          <p:nvPr/>
        </p:nvSpPr>
        <p:spPr>
          <a:xfrm>
            <a:off x="1656223" y="6029325"/>
            <a:ext cx="2606352" cy="186689"/>
          </a:xfrm>
          <a:prstGeom prst="rect">
            <a:avLst/>
          </a:prstGeom>
          <a:noFill/>
        </p:spPr>
        <p:txBody>
          <a:bodyPr wrap="none" lIns="0" rIns="0" tIns="0" bIns="0">
            <a:spAutoFit/>
          </a:bodyPr>
          <a:lstStyle/>
          <a:p>
            <a:r>
              <a:rPr sz="1100" b="0">
                <a:solidFill>
                  <a:srgbClr val="2E2E2E"/>
                </a:solidFill>
                <a:latin typeface="Calibri"/>
              </a:rPr>
              <a:t>respectively, against the segment average of</a:t>
            </a:r>
          </a:p>
        </p:txBody>
      </p:sp>
      <p:pic>
        <p:nvPicPr>
          <p:cNvPr id="28" name="Picture 27" descr="lock.png"/>
          <p:cNvPicPr>
            <a:picLocks noChangeAspect="1"/>
          </p:cNvPicPr>
          <p:nvPr/>
        </p:nvPicPr>
        <p:blipFill>
          <a:blip r:embed="rId6"/>
          <a:stretch>
            <a:fillRect/>
          </a:stretch>
        </p:blipFill>
        <p:spPr>
          <a:xfrm>
            <a:off x="4210627" y="6019545"/>
            <a:ext cx="128699" cy="187198"/>
          </a:xfrm>
          <a:prstGeom prst="rect">
            <a:avLst/>
          </a:prstGeom>
        </p:spPr>
      </p:pic>
      <p:sp>
        <p:nvSpPr>
          <p:cNvPr id="29" name="TextBox 28"/>
          <p:cNvSpPr txBox="1"/>
          <p:nvPr/>
        </p:nvSpPr>
        <p:spPr>
          <a:xfrm>
            <a:off x="4378123" y="6029325"/>
            <a:ext cx="7183983" cy="186689"/>
          </a:xfrm>
          <a:prstGeom prst="rect">
            <a:avLst/>
          </a:prstGeom>
          <a:noFill/>
        </p:spPr>
        <p:txBody>
          <a:bodyPr wrap="none" lIns="0" rIns="0" tIns="0" bIns="0">
            <a:spAutoFit/>
          </a:bodyPr>
          <a:lstStyle/>
          <a:p>
            <a:r>
              <a:rPr sz="1100" b="0">
                <a:solidFill>
                  <a:srgbClr val="2E2E2E"/>
                </a:solidFill>
                <a:latin typeface="Calibri"/>
              </a:rPr>
              <a:t>. The enzymatic hydrolysis segment is expected to be less attractive as compared to other segments over the forecast period,</a:t>
            </a:r>
          </a:p>
        </p:txBody>
      </p:sp>
      <p:sp>
        <p:nvSpPr>
          <p:cNvPr id="30" name="TextBox 29"/>
          <p:cNvSpPr txBox="1"/>
          <p:nvPr/>
        </p:nvSpPr>
        <p:spPr>
          <a:xfrm>
            <a:off x="257175" y="6196965"/>
            <a:ext cx="7484358" cy="186689"/>
          </a:xfrm>
          <a:prstGeom prst="rect">
            <a:avLst/>
          </a:prstGeom>
          <a:noFill/>
        </p:spPr>
        <p:txBody>
          <a:bodyPr wrap="none" lIns="0" rIns="0" tIns="0" bIns="0">
            <a:spAutoFit/>
          </a:bodyPr>
          <a:lstStyle/>
          <a:p>
            <a:r>
              <a:rPr sz="1100" b="0">
                <a:solidFill>
                  <a:srgbClr val="2E2E2E"/>
                </a:solidFill>
                <a:latin typeface="Calibri"/>
              </a:rPr>
              <a:t>owing to its lower CAGR and incremental opportunity. Bubbles right of the CAGR-Index line grow faster than the segment average.</a:t>
            </a:r>
          </a:p>
        </p:txBody>
      </p:sp>
      <p:sp>
        <p:nvSpPr>
          <p:cNvPr id="31" name="lockshield_9"/>
          <p:cNvSpPr/>
          <p:nvPr/>
        </p:nvSpPr>
        <p:spPr>
          <a:xfrm>
            <a:off x="238125" y="1438275"/>
            <a:ext cx="6153150"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lockshield_12"/>
          <p:cNvSpPr/>
          <p:nvPr/>
        </p:nvSpPr>
        <p:spPr>
          <a:xfrm>
            <a:off x="6734175" y="1438275"/>
            <a:ext cx="5210175"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Absolute $ Opportunity Analysis, By Extraction / Processing Method</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Extraction / Processing Method and the absolute $ opportunity each sub-segment adds, 2026–2036</a:t>
            </a:r>
          </a:p>
        </p:txBody>
      </p:sp>
      <p:sp>
        <p:nvSpPr>
          <p:cNvPr id="7" name="Rounded Rectangle 6"/>
          <p:cNvSpPr/>
          <p:nvPr/>
        </p:nvSpPr>
        <p:spPr>
          <a:xfrm>
            <a:off x="142875" y="981075"/>
            <a:ext cx="5876925"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Mechanical Separation &amp; Micronization</a:t>
            </a:r>
          </a:p>
        </p:txBody>
      </p:sp>
      <p:graphicFrame>
        <p:nvGraphicFramePr>
          <p:cNvPr id="9" name="Chart 8"/>
          <p:cNvGraphicFramePr>
            <a:graphicFrameLocks noGrp="1"/>
          </p:cNvGraphicFramePr>
          <p:nvPr/>
        </p:nvGraphicFramePr>
        <p:xfrm>
          <a:off x="238125" y="1438275"/>
          <a:ext cx="5686425" cy="2238375"/>
        </p:xfrm>
        <a:graphic>
          <a:graphicData uri="http://schemas.openxmlformats.org/drawingml/2006/chart">
            <c:chart xmlns:c="http://schemas.openxmlformats.org/drawingml/2006/chart" r:id="rId3"/>
          </a:graphicData>
        </a:graphic>
      </p:graphicFrame>
      <p:sp>
        <p:nvSpPr>
          <p:cNvPr id="10" name="Rounded Rectangle 9"/>
          <p:cNvSpPr/>
          <p:nvPr/>
        </p:nvSpPr>
        <p:spPr>
          <a:xfrm>
            <a:off x="6172200" y="981075"/>
            <a:ext cx="5876925"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67450"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Enzymatic Hydrolysis</a:t>
            </a:r>
          </a:p>
        </p:txBody>
      </p:sp>
      <p:graphicFrame>
        <p:nvGraphicFramePr>
          <p:cNvPr id="12" name="Chart 11"/>
          <p:cNvGraphicFramePr>
            <a:graphicFrameLocks noGrp="1"/>
          </p:cNvGraphicFramePr>
          <p:nvPr/>
        </p:nvGraphicFramePr>
        <p:xfrm>
          <a:off x="6267450" y="1438275"/>
          <a:ext cx="5686425" cy="2238375"/>
        </p:xfrm>
        <a:graphic>
          <a:graphicData uri="http://schemas.openxmlformats.org/drawingml/2006/chart">
            <c:chart xmlns:c="http://schemas.openxmlformats.org/drawingml/2006/chart" r:id="rId4"/>
          </a:graphicData>
        </a:graphic>
      </p:graphicFrame>
      <p:sp>
        <p:nvSpPr>
          <p:cNvPr id="13" name="Rounded Rectangle 12"/>
          <p:cNvSpPr/>
          <p:nvPr/>
        </p:nvSpPr>
        <p:spPr>
          <a:xfrm>
            <a:off x="142875" y="3867150"/>
            <a:ext cx="5876925"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38125"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Chemical Hydrolysis / Solubilization</a:t>
            </a:r>
          </a:p>
        </p:txBody>
      </p:sp>
      <p:graphicFrame>
        <p:nvGraphicFramePr>
          <p:cNvPr id="15" name="Chart 14"/>
          <p:cNvGraphicFramePr>
            <a:graphicFrameLocks noGrp="1"/>
          </p:cNvGraphicFramePr>
          <p:nvPr/>
        </p:nvGraphicFramePr>
        <p:xfrm>
          <a:off x="238125" y="4324350"/>
          <a:ext cx="5686425" cy="2238375"/>
        </p:xfrm>
        <a:graphic>
          <a:graphicData uri="http://schemas.openxmlformats.org/drawingml/2006/chart">
            <c:chart xmlns:c="http://schemas.openxmlformats.org/drawingml/2006/chart" r:id="rId5"/>
          </a:graphicData>
        </a:graphic>
      </p:graphicFrame>
      <p:sp>
        <p:nvSpPr>
          <p:cNvPr id="16" name="Rounded Rectangle 15"/>
          <p:cNvSpPr/>
          <p:nvPr/>
        </p:nvSpPr>
        <p:spPr>
          <a:xfrm>
            <a:off x="6172200" y="3867150"/>
            <a:ext cx="5876925"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67450"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Other / Hybrid Processing Methods</a:t>
            </a:r>
          </a:p>
        </p:txBody>
      </p:sp>
      <p:graphicFrame>
        <p:nvGraphicFramePr>
          <p:cNvPr id="18" name="Chart 17"/>
          <p:cNvGraphicFramePr>
            <a:graphicFrameLocks noGrp="1"/>
          </p:cNvGraphicFramePr>
          <p:nvPr/>
        </p:nvGraphicFramePr>
        <p:xfrm>
          <a:off x="6267450" y="4324350"/>
          <a:ext cx="5686425" cy="2238375"/>
        </p:xfrm>
        <a:graphic>
          <a:graphicData uri="http://schemas.openxmlformats.org/drawingml/2006/chart">
            <c:chart xmlns:c="http://schemas.openxmlformats.org/drawingml/2006/chart" r:id="rId6"/>
          </a:graphicData>
        </a:graphic>
      </p:graphicFrame>
      <p:sp>
        <p:nvSpPr>
          <p:cNvPr id="19" name="Rectangle 18"/>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21" name="Picture 20" descr="lock.png"/>
          <p:cNvPicPr>
            <a:picLocks noChangeAspect="1"/>
          </p:cNvPicPr>
          <p:nvPr/>
        </p:nvPicPr>
        <p:blipFill>
          <a:blip r:embed="rId8"/>
          <a:stretch>
            <a:fillRect/>
          </a:stretch>
        </p:blipFill>
        <p:spPr>
          <a:xfrm>
            <a:off x="3100230" y="2330679"/>
            <a:ext cx="252890" cy="367840"/>
          </a:xfrm>
          <a:prstGeom prst="rect">
            <a:avLst/>
          </a:prstGeom>
        </p:spPr>
      </p:pic>
      <p:pic>
        <p:nvPicPr>
          <p:cNvPr id="22" name="Picture 21" descr="lock.png"/>
          <p:cNvPicPr>
            <a:picLocks noChangeAspect="1"/>
          </p:cNvPicPr>
          <p:nvPr/>
        </p:nvPicPr>
        <p:blipFill>
          <a:blip r:embed="rId8"/>
          <a:stretch>
            <a:fillRect/>
          </a:stretch>
        </p:blipFill>
        <p:spPr>
          <a:xfrm>
            <a:off x="9129555" y="2330679"/>
            <a:ext cx="252890" cy="367840"/>
          </a:xfrm>
          <a:prstGeom prst="rect">
            <a:avLst/>
          </a:prstGeom>
        </p:spPr>
      </p:pic>
      <p:pic>
        <p:nvPicPr>
          <p:cNvPr id="23" name="Picture 22" descr="lock.png"/>
          <p:cNvPicPr>
            <a:picLocks noChangeAspect="1"/>
          </p:cNvPicPr>
          <p:nvPr/>
        </p:nvPicPr>
        <p:blipFill>
          <a:blip r:embed="rId8"/>
          <a:stretch>
            <a:fillRect/>
          </a:stretch>
        </p:blipFill>
        <p:spPr>
          <a:xfrm>
            <a:off x="3100230" y="5216754"/>
            <a:ext cx="252890" cy="367840"/>
          </a:xfrm>
          <a:prstGeom prst="rect">
            <a:avLst/>
          </a:prstGeom>
        </p:spPr>
      </p:pic>
      <p:pic>
        <p:nvPicPr>
          <p:cNvPr id="24" name="Picture 23" descr="lock.png"/>
          <p:cNvPicPr>
            <a:picLocks noChangeAspect="1"/>
          </p:cNvPicPr>
          <p:nvPr/>
        </p:nvPicPr>
        <p:blipFill>
          <a:blip r:embed="rId8"/>
          <a:stretch>
            <a:fillRect/>
          </a:stretch>
        </p:blipFill>
        <p:spPr>
          <a:xfrm>
            <a:off x="9129555" y="5216754"/>
            <a:ext cx="252890" cy="367840"/>
          </a:xfrm>
          <a:prstGeom prst="rect">
            <a:avLst/>
          </a:prstGeom>
        </p:spPr>
      </p:pic>
      <p:sp>
        <p:nvSpPr>
          <p:cNvPr id="25" name="lockshield_9"/>
          <p:cNvSpPr/>
          <p:nvPr/>
        </p:nvSpPr>
        <p:spPr>
          <a:xfrm>
            <a:off x="238125"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lockshield_12"/>
          <p:cNvSpPr/>
          <p:nvPr/>
        </p:nvSpPr>
        <p:spPr>
          <a:xfrm>
            <a:off x="6267450"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lockshield_15"/>
          <p:cNvSpPr/>
          <p:nvPr/>
        </p:nvSpPr>
        <p:spPr>
          <a:xfrm>
            <a:off x="238125"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lockshield_18"/>
          <p:cNvSpPr/>
          <p:nvPr/>
        </p:nvSpPr>
        <p:spPr>
          <a:xfrm>
            <a:off x="6267450"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Value Analysis, By Extraction / Processing Method (US$ Mn)</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by Extraction / Processing Method, 2021–2036, highlighting the sub-segments driving growth</a:t>
            </a:r>
          </a:p>
        </p:txBody>
      </p:sp>
      <p:sp>
        <p:nvSpPr>
          <p:cNvPr id="7" name="Rounded Rectangle 6"/>
          <p:cNvSpPr/>
          <p:nvPr/>
        </p:nvSpPr>
        <p:spPr>
          <a:xfrm>
            <a:off x="142875" y="981075"/>
            <a:ext cx="11906250" cy="1952625"/>
          </a:xfrm>
          <a:prstGeom prst="roundRect">
            <a:avLst>
              <a:gd name="adj" fmla="val 3902"/>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By Extraction / Processing Method (US$ Mn)</a:t>
            </a:r>
          </a:p>
        </p:txBody>
      </p:sp>
      <p:graphicFrame>
        <p:nvGraphicFramePr>
          <p:cNvPr id="9" name="Table 8"/>
          <p:cNvGraphicFramePr>
            <a:graphicFrameLocks noGrp="1"/>
          </p:cNvGraphicFramePr>
          <p:nvPr/>
        </p:nvGraphicFramePr>
        <p:xfrm>
          <a:off x="152400" y="1238250"/>
          <a:ext cx="11887198" cy="1485896"/>
        </p:xfrm>
        <a:graphic>
          <a:graphicData uri="http://schemas.openxmlformats.org/drawingml/2006/table">
            <a:tbl>
              <a:tblPr>
                <a:tableStyleId>{5C22544A-7EE6-4342-B048-85BDC9FD1C3A}</a:tableStyleId>
              </a:tblPr>
              <a:tblGrid>
                <a:gridCol w="2786073"/>
                <a:gridCol w="546691"/>
                <a:gridCol w="546691"/>
                <a:gridCol w="546691"/>
                <a:gridCol w="546691"/>
                <a:gridCol w="546691"/>
                <a:gridCol w="527433"/>
                <a:gridCol w="521931"/>
                <a:gridCol w="521931"/>
                <a:gridCol w="521931"/>
                <a:gridCol w="521931"/>
                <a:gridCol w="521931"/>
                <a:gridCol w="521931"/>
                <a:gridCol w="521931"/>
                <a:gridCol w="521931"/>
                <a:gridCol w="521931"/>
                <a:gridCol w="521931"/>
                <a:gridCol w="620927"/>
              </a:tblGrid>
              <a:tr h="246126">
                <a:tc>
                  <a:txBody>
                    <a:bodyPr wrap="none"/>
                    <a:lstStyle/>
                    <a:p>
                      <a:pPr algn="l"/>
                      <a:r>
                        <a:rPr sz="1100" b="1">
                          <a:solidFill>
                            <a:srgbClr val="0E2A5C"/>
                          </a:solidFill>
                          <a:latin typeface="Calibri"/>
                        </a:rPr>
                        <a:t>Extraction / Processing Method</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2021A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2022A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2023A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2024A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2025A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2026E</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2027F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2028F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2029F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2030F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2031F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2032F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2033F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2034F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2035F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2036F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F-CAGR</a:t>
                      </a:r>
                      <a:endParaRPr sz="1100"/>
                    </a:p>
                  </a:txBody>
                  <a:tcPr marL="47625" marR="38100" marT="19050" marB="19050" anchor="ctr">
                    <a:solidFill>
                      <a:srgbClr val="EBF2F9"/>
                    </a:solidFill>
                  </a:tcPr>
                </a:tc>
              </a:tr>
              <a:tr h="247954">
                <a:tc>
                  <a:txBody>
                    <a:bodyPr wrap="none"/>
                    <a:lstStyle/>
                    <a:p>
                      <a:pPr algn="l"/>
                      <a:r>
                        <a:rPr sz="1100" b="1">
                          <a:solidFill>
                            <a:srgbClr val="2E2E2E"/>
                          </a:solidFill>
                          <a:latin typeface="Calibri"/>
                        </a:rPr>
                        <a:t>Mechanical Separation &amp; Micronization</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954">
                <a:tc>
                  <a:txBody>
                    <a:bodyPr wrap="none"/>
                    <a:lstStyle/>
                    <a:p>
                      <a:pPr algn="l"/>
                      <a:r>
                        <a:rPr sz="1100" b="1">
                          <a:solidFill>
                            <a:srgbClr val="2E2E2E"/>
                          </a:solidFill>
                          <a:latin typeface="Calibri"/>
                        </a:rPr>
                        <a:t>Enzymatic Hydrolysis</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7954">
                <a:tc>
                  <a:txBody>
                    <a:bodyPr wrap="none"/>
                    <a:lstStyle/>
                    <a:p>
                      <a:pPr algn="l"/>
                      <a:r>
                        <a:rPr sz="1100" b="1">
                          <a:solidFill>
                            <a:srgbClr val="2E2E2E"/>
                          </a:solidFill>
                          <a:latin typeface="Calibri"/>
                        </a:rPr>
                        <a:t>Chemical Hydrolysis / Solubilization</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954">
                <a:tc>
                  <a:txBody>
                    <a:bodyPr wrap="none"/>
                    <a:lstStyle/>
                    <a:p>
                      <a:pPr algn="l"/>
                      <a:r>
                        <a:rPr sz="1100" b="1">
                          <a:solidFill>
                            <a:srgbClr val="2E2E2E"/>
                          </a:solidFill>
                          <a:latin typeface="Calibri"/>
                        </a:rPr>
                        <a:t>Other / Hybrid Processing Methods</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7954">
                <a:tc>
                  <a:txBody>
                    <a:bodyPr wrap="none"/>
                    <a:lstStyle/>
                    <a:p>
                      <a:pPr algn="l"/>
                      <a:r>
                        <a:rPr sz="1100" b="1">
                          <a:solidFill>
                            <a:srgbClr val="2E2E2E"/>
                          </a:solidFill>
                          <a:latin typeface="Calibri"/>
                        </a:rPr>
                        <a:t>Total</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r>
            </a:tbl>
          </a:graphicData>
        </a:graphic>
      </p:graphicFrame>
      <p:sp>
        <p:nvSpPr>
          <p:cNvPr id="10" name="TextBox 9"/>
          <p:cNvSpPr txBox="1"/>
          <p:nvPr/>
        </p:nvSpPr>
        <p:spPr>
          <a:xfrm>
            <a:off x="219075" y="273367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11" name="Rounded Rectangle 10"/>
          <p:cNvSpPr/>
          <p:nvPr/>
        </p:nvSpPr>
        <p:spPr>
          <a:xfrm>
            <a:off x="142875" y="3067050"/>
            <a:ext cx="11906250" cy="3562350"/>
          </a:xfrm>
          <a:prstGeom prst="roundRect">
            <a:avLst>
              <a:gd name="adj" fmla="val 213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6225" y="3152775"/>
            <a:ext cx="11639550" cy="209550"/>
          </a:xfrm>
          <a:prstGeom prst="rect">
            <a:avLst/>
          </a:prstGeom>
          <a:noFill/>
        </p:spPr>
        <p:txBody>
          <a:bodyPr wrap="square" lIns="0" rIns="19050" tIns="9525" bIns="9525">
            <a:spAutoFit/>
          </a:bodyPr>
          <a:lstStyle/>
          <a:p>
            <a:pPr algn="l"/>
            <a:r>
              <a:rPr sz="1300" b="1">
                <a:solidFill>
                  <a:srgbClr val="0E2A5C"/>
                </a:solidFill>
                <a:latin typeface="Calibri"/>
              </a:rPr>
              <a:t>North America Value Analysis, By Extraction / Processing Method</a:t>
            </a:r>
          </a:p>
        </p:txBody>
      </p:sp>
      <p:sp>
        <p:nvSpPr>
          <p:cNvPr id="13" name="Rectangle 12"/>
          <p:cNvSpPr/>
          <p:nvPr/>
        </p:nvSpPr>
        <p:spPr>
          <a:xfrm>
            <a:off x="276225" y="3390900"/>
            <a:ext cx="116395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6225" y="3476625"/>
            <a:ext cx="11639550" cy="307657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5" name="Rectangle 14"/>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7" name="Picture 16" descr="lock.png"/>
          <p:cNvPicPr>
            <a:picLocks noChangeAspect="1"/>
          </p:cNvPicPr>
          <p:nvPr/>
        </p:nvPicPr>
        <p:blipFill>
          <a:blip r:embed="rId4"/>
          <a:stretch>
            <a:fillRect/>
          </a:stretch>
        </p:blipFill>
        <p:spPr>
          <a:xfrm>
            <a:off x="7302345" y="1837563"/>
            <a:ext cx="366712" cy="533400"/>
          </a:xfrm>
          <a:prstGeom prst="rect">
            <a:avLst/>
          </a:prstGeom>
        </p:spPr>
      </p:pic>
      <p:sp>
        <p:nvSpPr>
          <p:cNvPr id="18" name="TextBox 17"/>
          <p:cNvSpPr txBox="1"/>
          <p:nvPr/>
        </p:nvSpPr>
        <p:spPr>
          <a:xfrm>
            <a:off x="276225" y="3486150"/>
            <a:ext cx="4330762" cy="194310"/>
          </a:xfrm>
          <a:prstGeom prst="rect">
            <a:avLst/>
          </a:prstGeom>
          <a:noFill/>
        </p:spPr>
        <p:txBody>
          <a:bodyPr wrap="none" lIns="0" rIns="0" tIns="0" bIns="0">
            <a:spAutoFit/>
          </a:bodyPr>
          <a:lstStyle/>
          <a:p>
            <a:r>
              <a:rPr sz="1150" b="0">
                <a:solidFill>
                  <a:srgbClr val="2E2E2E"/>
                </a:solidFill>
                <a:latin typeface="Calibri"/>
              </a:rPr>
              <a:t>Mechanical separation &amp; micronization segment is projected to register</a:t>
            </a:r>
          </a:p>
        </p:txBody>
      </p:sp>
      <p:pic>
        <p:nvPicPr>
          <p:cNvPr id="19" name="Picture 18" descr="lock.png"/>
          <p:cNvPicPr>
            <a:picLocks noChangeAspect="1"/>
          </p:cNvPicPr>
          <p:nvPr/>
        </p:nvPicPr>
        <p:blipFill>
          <a:blip r:embed="rId4"/>
          <a:stretch>
            <a:fillRect/>
          </a:stretch>
        </p:blipFill>
        <p:spPr>
          <a:xfrm>
            <a:off x="4556140" y="3475926"/>
            <a:ext cx="134549" cy="195707"/>
          </a:xfrm>
          <a:prstGeom prst="rect">
            <a:avLst/>
          </a:prstGeom>
        </p:spPr>
      </p:pic>
      <p:sp>
        <p:nvSpPr>
          <p:cNvPr id="20" name="TextBox 19"/>
          <p:cNvSpPr txBox="1"/>
          <p:nvPr/>
        </p:nvSpPr>
        <p:spPr>
          <a:xfrm>
            <a:off x="4731250" y="3486150"/>
            <a:ext cx="7127106" cy="194310"/>
          </a:xfrm>
          <a:prstGeom prst="rect">
            <a:avLst/>
          </a:prstGeom>
          <a:noFill/>
        </p:spPr>
        <p:txBody>
          <a:bodyPr wrap="none" lIns="0" rIns="0" tIns="0" bIns="0">
            <a:spAutoFit/>
          </a:bodyPr>
          <a:lstStyle/>
          <a:p>
            <a:r>
              <a:rPr sz="1150" b="0">
                <a:solidFill>
                  <a:srgbClr val="2E2E2E"/>
                </a:solidFill>
                <a:latin typeface="Calibri"/>
              </a:rPr>
              <a:t>X higher value than other / hybrid processing methods segment in 2036. Among egg protein membrane by extraction /</a:t>
            </a:r>
          </a:p>
        </p:txBody>
      </p:sp>
      <p:sp>
        <p:nvSpPr>
          <p:cNvPr id="21" name="TextBox 20"/>
          <p:cNvSpPr txBox="1"/>
          <p:nvPr/>
        </p:nvSpPr>
        <p:spPr>
          <a:xfrm>
            <a:off x="276225" y="3661410"/>
            <a:ext cx="6449324" cy="194310"/>
          </a:xfrm>
          <a:prstGeom prst="rect">
            <a:avLst/>
          </a:prstGeom>
          <a:noFill/>
        </p:spPr>
        <p:txBody>
          <a:bodyPr wrap="none" lIns="0" rIns="0" tIns="0" bIns="0">
            <a:spAutoFit/>
          </a:bodyPr>
          <a:lstStyle/>
          <a:p>
            <a:r>
              <a:rPr sz="1150" b="0">
                <a:solidFill>
                  <a:srgbClr val="2E2E2E"/>
                </a:solidFill>
                <a:latin typeface="Calibri"/>
              </a:rPr>
              <a:t>processing method, other / hybrid processing methods segment is expected to witness the highest CAGR of</a:t>
            </a:r>
          </a:p>
        </p:txBody>
      </p:sp>
      <p:pic>
        <p:nvPicPr>
          <p:cNvPr id="22" name="Picture 21" descr="lock.png"/>
          <p:cNvPicPr>
            <a:picLocks noChangeAspect="1"/>
          </p:cNvPicPr>
          <p:nvPr/>
        </p:nvPicPr>
        <p:blipFill>
          <a:blip r:embed="rId4"/>
          <a:stretch>
            <a:fillRect/>
          </a:stretch>
        </p:blipFill>
        <p:spPr>
          <a:xfrm>
            <a:off x="6674703" y="3651186"/>
            <a:ext cx="134549" cy="195707"/>
          </a:xfrm>
          <a:prstGeom prst="rect">
            <a:avLst/>
          </a:prstGeom>
        </p:spPr>
      </p:pic>
      <p:sp>
        <p:nvSpPr>
          <p:cNvPr id="23" name="TextBox 22"/>
          <p:cNvSpPr txBox="1"/>
          <p:nvPr/>
        </p:nvSpPr>
        <p:spPr>
          <a:xfrm>
            <a:off x="6849813" y="3661410"/>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24" name="TextBox 23"/>
          <p:cNvSpPr txBox="1"/>
          <p:nvPr/>
        </p:nvSpPr>
        <p:spPr>
          <a:xfrm>
            <a:off x="276225" y="3889247"/>
            <a:ext cx="9332689" cy="194310"/>
          </a:xfrm>
          <a:prstGeom prst="rect">
            <a:avLst/>
          </a:prstGeom>
          <a:noFill/>
        </p:spPr>
        <p:txBody>
          <a:bodyPr wrap="none" lIns="0" rIns="0" tIns="0" bIns="0">
            <a:spAutoFit/>
          </a:bodyPr>
          <a:lstStyle/>
          <a:p>
            <a:r>
              <a:rPr sz="1150" b="0">
                <a:solidFill>
                  <a:srgbClr val="2E2E2E"/>
                </a:solidFill>
                <a:latin typeface="Calibri"/>
              </a:rPr>
              <a:t>In terms of value share by extraction / processing method, the mechanical separation &amp; micronization segment is expected to dominate the market, gaining</a:t>
            </a:r>
          </a:p>
        </p:txBody>
      </p:sp>
      <p:pic>
        <p:nvPicPr>
          <p:cNvPr id="25" name="Picture 24" descr="lock.png"/>
          <p:cNvPicPr>
            <a:picLocks noChangeAspect="1"/>
          </p:cNvPicPr>
          <p:nvPr/>
        </p:nvPicPr>
        <p:blipFill>
          <a:blip r:embed="rId4"/>
          <a:stretch>
            <a:fillRect/>
          </a:stretch>
        </p:blipFill>
        <p:spPr>
          <a:xfrm>
            <a:off x="9558068" y="3879024"/>
            <a:ext cx="134549" cy="195707"/>
          </a:xfrm>
          <a:prstGeom prst="rect">
            <a:avLst/>
          </a:prstGeom>
        </p:spPr>
      </p:pic>
      <p:sp>
        <p:nvSpPr>
          <p:cNvPr id="26" name="TextBox 25"/>
          <p:cNvSpPr txBox="1"/>
          <p:nvPr/>
        </p:nvSpPr>
        <p:spPr>
          <a:xfrm>
            <a:off x="9733177" y="3889247"/>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27" name="Picture 26" descr="lock.png"/>
          <p:cNvPicPr>
            <a:picLocks noChangeAspect="1"/>
          </p:cNvPicPr>
          <p:nvPr/>
        </p:nvPicPr>
        <p:blipFill>
          <a:blip r:embed="rId4"/>
          <a:stretch>
            <a:fillRect/>
          </a:stretch>
        </p:blipFill>
        <p:spPr>
          <a:xfrm>
            <a:off x="11128320" y="3879024"/>
            <a:ext cx="134549" cy="195707"/>
          </a:xfrm>
          <a:prstGeom prst="rect">
            <a:avLst/>
          </a:prstGeom>
        </p:spPr>
      </p:pic>
      <p:sp>
        <p:nvSpPr>
          <p:cNvPr id="28" name="TextBox 27"/>
          <p:cNvSpPr txBox="1"/>
          <p:nvPr/>
        </p:nvSpPr>
        <p:spPr>
          <a:xfrm>
            <a:off x="11303429" y="3889247"/>
            <a:ext cx="403671" cy="194310"/>
          </a:xfrm>
          <a:prstGeom prst="rect">
            <a:avLst/>
          </a:prstGeom>
          <a:noFill/>
        </p:spPr>
        <p:txBody>
          <a:bodyPr wrap="none" lIns="0" rIns="0" tIns="0" bIns="0">
            <a:spAutoFit/>
          </a:bodyPr>
          <a:lstStyle/>
          <a:p>
            <a:r>
              <a:rPr sz="1150" b="0">
                <a:solidFill>
                  <a:srgbClr val="2E2E2E"/>
                </a:solidFill>
                <a:latin typeface="Calibri"/>
              </a:rPr>
              <a:t>share</a:t>
            </a:r>
          </a:p>
        </p:txBody>
      </p:sp>
      <p:sp>
        <p:nvSpPr>
          <p:cNvPr id="29" name="TextBox 28"/>
          <p:cNvSpPr txBox="1"/>
          <p:nvPr/>
        </p:nvSpPr>
        <p:spPr>
          <a:xfrm>
            <a:off x="276225" y="4064507"/>
            <a:ext cx="3787923" cy="194310"/>
          </a:xfrm>
          <a:prstGeom prst="rect">
            <a:avLst/>
          </a:prstGeom>
          <a:noFill/>
        </p:spPr>
        <p:txBody>
          <a:bodyPr wrap="none" lIns="0" rIns="0" tIns="0" bIns="0">
            <a:spAutoFit/>
          </a:bodyPr>
          <a:lstStyle/>
          <a:p>
            <a:r>
              <a:rPr sz="1150" b="0">
                <a:solidFill>
                  <a:srgbClr val="2E2E2E"/>
                </a:solidFill>
                <a:latin typeface="Calibri"/>
              </a:rPr>
              <a:t>by 2036. The enzymatic hydrolysis segment is expected to lose</a:t>
            </a:r>
          </a:p>
        </p:txBody>
      </p:sp>
      <p:pic>
        <p:nvPicPr>
          <p:cNvPr id="30" name="Picture 29" descr="lock.png"/>
          <p:cNvPicPr>
            <a:picLocks noChangeAspect="1"/>
          </p:cNvPicPr>
          <p:nvPr/>
        </p:nvPicPr>
        <p:blipFill>
          <a:blip r:embed="rId4"/>
          <a:stretch>
            <a:fillRect/>
          </a:stretch>
        </p:blipFill>
        <p:spPr>
          <a:xfrm>
            <a:off x="4013302" y="4054284"/>
            <a:ext cx="134549" cy="195707"/>
          </a:xfrm>
          <a:prstGeom prst="rect">
            <a:avLst/>
          </a:prstGeom>
        </p:spPr>
      </p:pic>
      <p:sp>
        <p:nvSpPr>
          <p:cNvPr id="31" name="TextBox 30"/>
          <p:cNvSpPr txBox="1"/>
          <p:nvPr/>
        </p:nvSpPr>
        <p:spPr>
          <a:xfrm>
            <a:off x="4188412" y="4064507"/>
            <a:ext cx="2638350" cy="194310"/>
          </a:xfrm>
          <a:prstGeom prst="rect">
            <a:avLst/>
          </a:prstGeom>
          <a:noFill/>
        </p:spPr>
        <p:txBody>
          <a:bodyPr wrap="none" lIns="0" rIns="0" tIns="0" bIns="0">
            <a:spAutoFit/>
          </a:bodyPr>
          <a:lstStyle/>
          <a:p>
            <a:r>
              <a:rPr sz="1150" b="0">
                <a:solidFill>
                  <a:srgbClr val="2E2E2E"/>
                </a:solidFill>
                <a:latin typeface="Calibri"/>
              </a:rPr>
              <a:t>BPS over the forecast period to account for</a:t>
            </a:r>
          </a:p>
        </p:txBody>
      </p:sp>
      <p:pic>
        <p:nvPicPr>
          <p:cNvPr id="32" name="Picture 31" descr="lock.png"/>
          <p:cNvPicPr>
            <a:picLocks noChangeAspect="1"/>
          </p:cNvPicPr>
          <p:nvPr/>
        </p:nvPicPr>
        <p:blipFill>
          <a:blip r:embed="rId4"/>
          <a:stretch>
            <a:fillRect/>
          </a:stretch>
        </p:blipFill>
        <p:spPr>
          <a:xfrm>
            <a:off x="6775916" y="4054284"/>
            <a:ext cx="134549" cy="195707"/>
          </a:xfrm>
          <a:prstGeom prst="rect">
            <a:avLst/>
          </a:prstGeom>
        </p:spPr>
      </p:pic>
      <p:sp>
        <p:nvSpPr>
          <p:cNvPr id="33" name="TextBox 32"/>
          <p:cNvSpPr txBox="1"/>
          <p:nvPr/>
        </p:nvSpPr>
        <p:spPr>
          <a:xfrm>
            <a:off x="6951025" y="4064507"/>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Value &amp; Share Shift, By Extraction / Processing Method</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Value composition by Extraction / Processing Method in 2021, 2026 and 2036, highlighting share shifts in basis points</a:t>
            </a:r>
          </a:p>
        </p:txBody>
      </p:sp>
      <p:sp>
        <p:nvSpPr>
          <p:cNvPr id="7" name="Rounded Rectangle 6"/>
          <p:cNvSpPr/>
          <p:nvPr/>
        </p:nvSpPr>
        <p:spPr>
          <a:xfrm>
            <a:off x="142875" y="981075"/>
            <a:ext cx="7400925" cy="5648325"/>
          </a:xfrm>
          <a:prstGeom prst="roundRect">
            <a:avLst>
              <a:gd name="adj" fmla="val 134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7210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Composition, By Extraction / Processing Method ·  2021 / 2026 / 2036 (US$ Mn)  ·  right axis = BPS share shift</a:t>
            </a:r>
          </a:p>
        </p:txBody>
      </p:sp>
      <p:graphicFrame>
        <p:nvGraphicFramePr>
          <p:cNvPr id="9" name="Chart 8"/>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r:id="rId3"/>
          </a:graphicData>
        </a:graphic>
      </p:graphicFrame>
      <p:sp>
        <p:nvSpPr>
          <p:cNvPr id="10" name="TextBox 9"/>
          <p:cNvSpPr txBox="1"/>
          <p:nvPr/>
        </p:nvSpPr>
        <p:spPr>
          <a:xfrm>
            <a:off x="4852797" y="1590675"/>
            <a:ext cx="2595753" cy="171069"/>
          </a:xfrm>
          <a:prstGeom prst="rect">
            <a:avLst/>
          </a:prstGeom>
          <a:noFill/>
        </p:spPr>
        <p:txBody>
          <a:bodyPr wrap="square" lIns="28575" rIns="28575" tIns="9525" bIns="9525" anchor="ctr">
            <a:spAutoFit/>
          </a:bodyPr>
          <a:lstStyle/>
          <a:p>
            <a:pPr algn="ctr"/>
            <a:r>
              <a:rPr sz="1300" b="1">
                <a:solidFill>
                  <a:srgbClr val="2A5F8F"/>
                </a:solidFill>
                <a:latin typeface="Calibri"/>
              </a:rPr>
              <a:t>BPS Δ  (2021→2036)</a:t>
            </a:r>
          </a:p>
        </p:txBody>
      </p:sp>
      <p:sp>
        <p:nvSpPr>
          <p:cNvPr id="11" name="TMR Lock Anchor"/>
          <p:cNvSpPr txBox="1"/>
          <p:nvPr/>
        </p:nvSpPr>
        <p:spPr>
          <a:xfrm>
            <a:off x="2678811" y="4014597"/>
            <a:ext cx="38100" cy="38100"/>
          </a:xfrm>
          <a:prstGeom prst="rect">
            <a:avLst/>
          </a:prstGeom>
          <a:noFill/>
        </p:spPr>
        <p:txBody>
          <a:bodyPr wrap="none">
            <a:spAutoFit/>
          </a:bodyPr>
          <a:lstStyle/>
          <a:p/>
        </p:txBody>
      </p:sp>
      <p:sp>
        <p:nvSpPr>
          <p:cNvPr id="12" name="TMR Legend Chip"/>
          <p:cNvSpPr/>
          <p:nvPr/>
        </p:nvSpPr>
        <p:spPr>
          <a:xfrm>
            <a:off x="4928997" y="1820513"/>
            <a:ext cx="85725" cy="85725"/>
          </a:xfrm>
          <a:prstGeom prst="rect">
            <a:avLst/>
          </a:prstGeom>
          <a:solidFill>
            <a:srgbClr val="00AC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Isosceles Triangle 12"/>
          <p:cNvSpPr/>
          <p:nvPr/>
        </p:nvSpPr>
        <p:spPr>
          <a:xfrm rot="10800000">
            <a:off x="5090922" y="1815750"/>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BPS Name 1"/>
          <p:cNvSpPr txBox="1"/>
          <p:nvPr/>
        </p:nvSpPr>
        <p:spPr>
          <a:xfrm>
            <a:off x="5233797" y="1739550"/>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Enzymatic Hydrolysis</a:t>
            </a:r>
          </a:p>
        </p:txBody>
      </p:sp>
      <p:sp>
        <p:nvSpPr>
          <p:cNvPr id="15" name="BPS Value 1"/>
          <p:cNvSpPr txBox="1"/>
          <p:nvPr/>
        </p:nvSpPr>
        <p:spPr>
          <a:xfrm>
            <a:off x="6896100" y="1801463"/>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16" name="TMR Legend Chip"/>
          <p:cNvSpPr/>
          <p:nvPr/>
        </p:nvSpPr>
        <p:spPr>
          <a:xfrm>
            <a:off x="4928997" y="2350710"/>
            <a:ext cx="85725" cy="85725"/>
          </a:xfrm>
          <a:prstGeom prst="rect">
            <a:avLst/>
          </a:prstGeom>
          <a:solidFill>
            <a:srgbClr val="0E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Isosceles Triangle 16"/>
          <p:cNvSpPr/>
          <p:nvPr/>
        </p:nvSpPr>
        <p:spPr>
          <a:xfrm rot="10800000">
            <a:off x="5090922" y="2345948"/>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PS Name 2"/>
          <p:cNvSpPr txBox="1"/>
          <p:nvPr/>
        </p:nvSpPr>
        <p:spPr>
          <a:xfrm>
            <a:off x="5233797" y="2269748"/>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Chemical Hydrolysis / Solubilization</a:t>
            </a:r>
          </a:p>
        </p:txBody>
      </p:sp>
      <p:sp>
        <p:nvSpPr>
          <p:cNvPr id="19" name="BPS Value 2"/>
          <p:cNvSpPr txBox="1"/>
          <p:nvPr/>
        </p:nvSpPr>
        <p:spPr>
          <a:xfrm>
            <a:off x="6896100" y="2331660"/>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0" name="TMR Legend Chip"/>
          <p:cNvSpPr/>
          <p:nvPr/>
        </p:nvSpPr>
        <p:spPr>
          <a:xfrm>
            <a:off x="4928997" y="3379421"/>
            <a:ext cx="85725" cy="85725"/>
          </a:xfrm>
          <a:prstGeom prst="rect">
            <a:avLst/>
          </a:prstGeom>
          <a:solidFill>
            <a:srgbClr val="0081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Isosceles Triangle 20"/>
          <p:cNvSpPr/>
          <p:nvPr/>
        </p:nvSpPr>
        <p:spPr>
          <a:xfrm>
            <a:off x="5090922" y="3374658"/>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BPS Name 3"/>
          <p:cNvSpPr txBox="1"/>
          <p:nvPr/>
        </p:nvSpPr>
        <p:spPr>
          <a:xfrm>
            <a:off x="5233797" y="3298458"/>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Other / Hybrid Processing Methods</a:t>
            </a:r>
          </a:p>
        </p:txBody>
      </p:sp>
      <p:sp>
        <p:nvSpPr>
          <p:cNvPr id="23" name="BPS Value 3"/>
          <p:cNvSpPr txBox="1"/>
          <p:nvPr/>
        </p:nvSpPr>
        <p:spPr>
          <a:xfrm>
            <a:off x="6896100" y="3360371"/>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4" name="TMR Legend Chip"/>
          <p:cNvSpPr/>
          <p:nvPr/>
        </p:nvSpPr>
        <p:spPr>
          <a:xfrm>
            <a:off x="4928997" y="5135414"/>
            <a:ext cx="85725" cy="85725"/>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Isosceles Triangle 24"/>
          <p:cNvSpPr/>
          <p:nvPr/>
        </p:nvSpPr>
        <p:spPr>
          <a:xfrm>
            <a:off x="5090922" y="5130651"/>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BPS Name 4"/>
          <p:cNvSpPr txBox="1"/>
          <p:nvPr/>
        </p:nvSpPr>
        <p:spPr>
          <a:xfrm>
            <a:off x="5233797" y="5054451"/>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Mechanical Separation &amp; Micronization</a:t>
            </a:r>
          </a:p>
        </p:txBody>
      </p:sp>
      <p:sp>
        <p:nvSpPr>
          <p:cNvPr id="27" name="BPS Value 4"/>
          <p:cNvSpPr txBox="1"/>
          <p:nvPr/>
        </p:nvSpPr>
        <p:spPr>
          <a:xfrm>
            <a:off x="6896100" y="5116364"/>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8" name="Rounded Rectangle 27"/>
          <p:cNvSpPr/>
          <p:nvPr/>
        </p:nvSpPr>
        <p:spPr>
          <a:xfrm>
            <a:off x="7696200" y="981075"/>
            <a:ext cx="4343400" cy="5648325"/>
          </a:xfrm>
          <a:prstGeom prst="roundRect">
            <a:avLst>
              <a:gd name="adj" fmla="val 1754"/>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829550" y="1066800"/>
            <a:ext cx="4076700" cy="407620"/>
          </a:xfrm>
          <a:prstGeom prst="rect">
            <a:avLst/>
          </a:prstGeom>
          <a:noFill/>
        </p:spPr>
        <p:txBody>
          <a:bodyPr wrap="square" lIns="0" rIns="19050" tIns="9525" bIns="9525">
            <a:spAutoFit/>
          </a:bodyPr>
          <a:lstStyle/>
          <a:p>
            <a:pPr algn="l"/>
            <a:r>
              <a:rPr sz="1300" b="1">
                <a:solidFill>
                  <a:srgbClr val="0E2A5C"/>
                </a:solidFill>
                <a:latin typeface="Calibri"/>
              </a:rPr>
              <a:t>North America Read-out, By Extraction / Processing Method</a:t>
            </a:r>
          </a:p>
        </p:txBody>
      </p:sp>
      <p:sp>
        <p:nvSpPr>
          <p:cNvPr id="30" name="Rectangle 29"/>
          <p:cNvSpPr/>
          <p:nvPr/>
        </p:nvSpPr>
        <p:spPr>
          <a:xfrm>
            <a:off x="7829550" y="1502995"/>
            <a:ext cx="407670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829550" y="1588720"/>
            <a:ext cx="4076700" cy="496448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32" name="Rectangle 31"/>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34" name="Picture 33" descr="lock.png"/>
          <p:cNvPicPr>
            <a:picLocks noChangeAspect="1"/>
          </p:cNvPicPr>
          <p:nvPr/>
        </p:nvPicPr>
        <p:blipFill>
          <a:blip r:embed="rId5"/>
          <a:stretch>
            <a:fillRect/>
          </a:stretch>
        </p:blipFill>
        <p:spPr>
          <a:xfrm>
            <a:off x="2557843" y="3833622"/>
            <a:ext cx="275034" cy="400050"/>
          </a:xfrm>
          <a:prstGeom prst="rect">
            <a:avLst/>
          </a:prstGeom>
        </p:spPr>
      </p:pic>
      <p:sp>
        <p:nvSpPr>
          <p:cNvPr id="35" name="TextBox 34"/>
          <p:cNvSpPr txBox="1"/>
          <p:nvPr/>
        </p:nvSpPr>
        <p:spPr>
          <a:xfrm>
            <a:off x="7829550" y="1598245"/>
            <a:ext cx="4006998" cy="194310"/>
          </a:xfrm>
          <a:prstGeom prst="rect">
            <a:avLst/>
          </a:prstGeom>
          <a:noFill/>
        </p:spPr>
        <p:txBody>
          <a:bodyPr wrap="none" lIns="0" rIns="0" tIns="0" bIns="0">
            <a:spAutoFit/>
          </a:bodyPr>
          <a:lstStyle/>
          <a:p>
            <a:r>
              <a:rPr sz="1150" b="0">
                <a:solidFill>
                  <a:srgbClr val="2E2E2E"/>
                </a:solidFill>
                <a:latin typeface="Calibri"/>
              </a:rPr>
              <a:t>Among egg protein membrane by extraction / processing method,</a:t>
            </a:r>
          </a:p>
        </p:txBody>
      </p:sp>
      <p:sp>
        <p:nvSpPr>
          <p:cNvPr id="36" name="TextBox 35"/>
          <p:cNvSpPr txBox="1"/>
          <p:nvPr/>
        </p:nvSpPr>
        <p:spPr>
          <a:xfrm>
            <a:off x="7829550" y="1773505"/>
            <a:ext cx="4024114" cy="194310"/>
          </a:xfrm>
          <a:prstGeom prst="rect">
            <a:avLst/>
          </a:prstGeom>
          <a:noFill/>
        </p:spPr>
        <p:txBody>
          <a:bodyPr wrap="none" lIns="0" rIns="0" tIns="0" bIns="0">
            <a:spAutoFit/>
          </a:bodyPr>
          <a:lstStyle/>
          <a:p>
            <a:r>
              <a:rPr sz="1150" b="0">
                <a:solidFill>
                  <a:srgbClr val="2E2E2E"/>
                </a:solidFill>
                <a:latin typeface="Calibri"/>
              </a:rPr>
              <a:t>other / hybrid processing methods segment is expected to witness</a:t>
            </a:r>
          </a:p>
        </p:txBody>
      </p:sp>
      <p:sp>
        <p:nvSpPr>
          <p:cNvPr id="37" name="TextBox 36"/>
          <p:cNvSpPr txBox="1"/>
          <p:nvPr/>
        </p:nvSpPr>
        <p:spPr>
          <a:xfrm>
            <a:off x="7829550" y="1948765"/>
            <a:ext cx="1263979" cy="194310"/>
          </a:xfrm>
          <a:prstGeom prst="rect">
            <a:avLst/>
          </a:prstGeom>
          <a:noFill/>
        </p:spPr>
        <p:txBody>
          <a:bodyPr wrap="none" lIns="0" rIns="0" tIns="0" bIns="0">
            <a:spAutoFit/>
          </a:bodyPr>
          <a:lstStyle/>
          <a:p>
            <a:r>
              <a:rPr sz="1150" b="0">
                <a:solidFill>
                  <a:srgbClr val="2E2E2E"/>
                </a:solidFill>
                <a:latin typeface="Calibri"/>
              </a:rPr>
              <a:t>the highest CAGR of</a:t>
            </a:r>
          </a:p>
        </p:txBody>
      </p:sp>
      <p:pic>
        <p:nvPicPr>
          <p:cNvPr id="38" name="Picture 37" descr="lock.png"/>
          <p:cNvPicPr>
            <a:picLocks noChangeAspect="1"/>
          </p:cNvPicPr>
          <p:nvPr/>
        </p:nvPicPr>
        <p:blipFill>
          <a:blip r:embed="rId5"/>
          <a:stretch>
            <a:fillRect/>
          </a:stretch>
        </p:blipFill>
        <p:spPr>
          <a:xfrm>
            <a:off x="9042683" y="1938541"/>
            <a:ext cx="134549" cy="195707"/>
          </a:xfrm>
          <a:prstGeom prst="rect">
            <a:avLst/>
          </a:prstGeom>
        </p:spPr>
      </p:pic>
      <p:sp>
        <p:nvSpPr>
          <p:cNvPr id="39" name="TextBox 38"/>
          <p:cNvSpPr txBox="1"/>
          <p:nvPr/>
        </p:nvSpPr>
        <p:spPr>
          <a:xfrm>
            <a:off x="9217792" y="1948765"/>
            <a:ext cx="2581585" cy="194310"/>
          </a:xfrm>
          <a:prstGeom prst="rect">
            <a:avLst/>
          </a:prstGeom>
          <a:noFill/>
        </p:spPr>
        <p:txBody>
          <a:bodyPr wrap="none" lIns="0" rIns="0" tIns="0" bIns="0">
            <a:spAutoFit/>
          </a:bodyPr>
          <a:lstStyle/>
          <a:p>
            <a:r>
              <a:rPr sz="1150" b="0">
                <a:solidFill>
                  <a:srgbClr val="2E2E2E"/>
                </a:solidFill>
                <a:latin typeface="Calibri"/>
              </a:rPr>
              <a:t>over the forecast period. In terms of value</a:t>
            </a:r>
          </a:p>
        </p:txBody>
      </p:sp>
      <p:sp>
        <p:nvSpPr>
          <p:cNvPr id="40" name="TextBox 39"/>
          <p:cNvSpPr txBox="1"/>
          <p:nvPr/>
        </p:nvSpPr>
        <p:spPr>
          <a:xfrm>
            <a:off x="7829550" y="2124025"/>
            <a:ext cx="4057650" cy="194310"/>
          </a:xfrm>
          <a:prstGeom prst="rect">
            <a:avLst/>
          </a:prstGeom>
          <a:noFill/>
        </p:spPr>
        <p:txBody>
          <a:bodyPr wrap="none" lIns="0" rIns="0" tIns="0" bIns="0">
            <a:spAutoFit/>
          </a:bodyPr>
          <a:lstStyle/>
          <a:p>
            <a:r>
              <a:rPr sz="1150" b="0">
                <a:solidFill>
                  <a:srgbClr val="2E2E2E"/>
                </a:solidFill>
                <a:latin typeface="Calibri"/>
              </a:rPr>
              <a:t>share by extraction / processing method, the mechanical separation</a:t>
            </a:r>
          </a:p>
        </p:txBody>
      </p:sp>
      <p:sp>
        <p:nvSpPr>
          <p:cNvPr id="41" name="TextBox 40"/>
          <p:cNvSpPr txBox="1"/>
          <p:nvPr/>
        </p:nvSpPr>
        <p:spPr>
          <a:xfrm>
            <a:off x="7829550" y="2299285"/>
            <a:ext cx="3765103" cy="194310"/>
          </a:xfrm>
          <a:prstGeom prst="rect">
            <a:avLst/>
          </a:prstGeom>
          <a:noFill/>
        </p:spPr>
        <p:txBody>
          <a:bodyPr wrap="none" lIns="0" rIns="0" tIns="0" bIns="0">
            <a:spAutoFit/>
          </a:bodyPr>
          <a:lstStyle/>
          <a:p>
            <a:r>
              <a:rPr sz="1150" b="0">
                <a:solidFill>
                  <a:srgbClr val="2E2E2E"/>
                </a:solidFill>
                <a:latin typeface="Calibri"/>
              </a:rPr>
              <a:t>&amp; micronization segment is expected to dominate the market,</a:t>
            </a:r>
          </a:p>
        </p:txBody>
      </p:sp>
      <p:sp>
        <p:nvSpPr>
          <p:cNvPr id="42" name="TextBox 41"/>
          <p:cNvSpPr txBox="1"/>
          <p:nvPr/>
        </p:nvSpPr>
        <p:spPr>
          <a:xfrm>
            <a:off x="7829550" y="2474545"/>
            <a:ext cx="504366" cy="194310"/>
          </a:xfrm>
          <a:prstGeom prst="rect">
            <a:avLst/>
          </a:prstGeom>
          <a:noFill/>
        </p:spPr>
        <p:txBody>
          <a:bodyPr wrap="none" lIns="0" rIns="0" tIns="0" bIns="0">
            <a:spAutoFit/>
          </a:bodyPr>
          <a:lstStyle/>
          <a:p>
            <a:r>
              <a:rPr sz="1150" b="0">
                <a:solidFill>
                  <a:srgbClr val="2E2E2E"/>
                </a:solidFill>
                <a:latin typeface="Calibri"/>
              </a:rPr>
              <a:t>gaining</a:t>
            </a:r>
          </a:p>
        </p:txBody>
      </p:sp>
      <p:pic>
        <p:nvPicPr>
          <p:cNvPr id="43" name="Picture 42" descr="lock.png"/>
          <p:cNvPicPr>
            <a:picLocks noChangeAspect="1"/>
          </p:cNvPicPr>
          <p:nvPr/>
        </p:nvPicPr>
        <p:blipFill>
          <a:blip r:embed="rId5"/>
          <a:stretch>
            <a:fillRect/>
          </a:stretch>
        </p:blipFill>
        <p:spPr>
          <a:xfrm>
            <a:off x="8283070" y="2464321"/>
            <a:ext cx="134549" cy="195707"/>
          </a:xfrm>
          <a:prstGeom prst="rect">
            <a:avLst/>
          </a:prstGeom>
        </p:spPr>
      </p:pic>
      <p:sp>
        <p:nvSpPr>
          <p:cNvPr id="44" name="TextBox 43"/>
          <p:cNvSpPr txBox="1"/>
          <p:nvPr/>
        </p:nvSpPr>
        <p:spPr>
          <a:xfrm>
            <a:off x="8458179" y="2474545"/>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45" name="Picture 44" descr="lock.png"/>
          <p:cNvPicPr>
            <a:picLocks noChangeAspect="1"/>
          </p:cNvPicPr>
          <p:nvPr/>
        </p:nvPicPr>
        <p:blipFill>
          <a:blip r:embed="rId5"/>
          <a:stretch>
            <a:fillRect/>
          </a:stretch>
        </p:blipFill>
        <p:spPr>
          <a:xfrm>
            <a:off x="9853322" y="2464321"/>
            <a:ext cx="134549" cy="195707"/>
          </a:xfrm>
          <a:prstGeom prst="rect">
            <a:avLst/>
          </a:prstGeom>
        </p:spPr>
      </p:pic>
      <p:sp>
        <p:nvSpPr>
          <p:cNvPr id="46" name="TextBox 45"/>
          <p:cNvSpPr txBox="1"/>
          <p:nvPr/>
        </p:nvSpPr>
        <p:spPr>
          <a:xfrm>
            <a:off x="10028431" y="2474545"/>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47" name="TextBox 46"/>
          <p:cNvSpPr txBox="1"/>
          <p:nvPr/>
        </p:nvSpPr>
        <p:spPr>
          <a:xfrm>
            <a:off x="7829550" y="2702382"/>
            <a:ext cx="3245370" cy="194310"/>
          </a:xfrm>
          <a:prstGeom prst="rect">
            <a:avLst/>
          </a:prstGeom>
          <a:noFill/>
        </p:spPr>
        <p:txBody>
          <a:bodyPr wrap="none" lIns="0" rIns="0" tIns="0" bIns="0">
            <a:spAutoFit/>
          </a:bodyPr>
          <a:lstStyle/>
          <a:p>
            <a:r>
              <a:rPr sz="1150" b="0">
                <a:solidFill>
                  <a:srgbClr val="2E2E2E"/>
                </a:solidFill>
                <a:latin typeface="Calibri"/>
              </a:rPr>
              <a:t>The enzymatic hydrolysis segment is expected to lose</a:t>
            </a:r>
          </a:p>
        </p:txBody>
      </p:sp>
      <p:pic>
        <p:nvPicPr>
          <p:cNvPr id="48" name="Picture 47" descr="lock.png"/>
          <p:cNvPicPr>
            <a:picLocks noChangeAspect="1"/>
          </p:cNvPicPr>
          <p:nvPr/>
        </p:nvPicPr>
        <p:blipFill>
          <a:blip r:embed="rId5"/>
          <a:stretch>
            <a:fillRect/>
          </a:stretch>
        </p:blipFill>
        <p:spPr>
          <a:xfrm>
            <a:off x="11024074" y="2692159"/>
            <a:ext cx="134549" cy="195707"/>
          </a:xfrm>
          <a:prstGeom prst="rect">
            <a:avLst/>
          </a:prstGeom>
        </p:spPr>
      </p:pic>
      <p:sp>
        <p:nvSpPr>
          <p:cNvPr id="49" name="TextBox 48"/>
          <p:cNvSpPr txBox="1"/>
          <p:nvPr/>
        </p:nvSpPr>
        <p:spPr>
          <a:xfrm>
            <a:off x="11199184" y="2702382"/>
            <a:ext cx="598214" cy="194310"/>
          </a:xfrm>
          <a:prstGeom prst="rect">
            <a:avLst/>
          </a:prstGeom>
          <a:noFill/>
        </p:spPr>
        <p:txBody>
          <a:bodyPr wrap="none" lIns="0" rIns="0" tIns="0" bIns="0">
            <a:spAutoFit/>
          </a:bodyPr>
          <a:lstStyle/>
          <a:p>
            <a:r>
              <a:rPr sz="1150" b="0">
                <a:solidFill>
                  <a:srgbClr val="2E2E2E"/>
                </a:solidFill>
                <a:latin typeface="Calibri"/>
              </a:rPr>
              <a:t>BPS over</a:t>
            </a:r>
          </a:p>
        </p:txBody>
      </p:sp>
      <p:sp>
        <p:nvSpPr>
          <p:cNvPr id="50" name="TextBox 49"/>
          <p:cNvSpPr txBox="1"/>
          <p:nvPr/>
        </p:nvSpPr>
        <p:spPr>
          <a:xfrm>
            <a:off x="7829550" y="2877642"/>
            <a:ext cx="2083246" cy="194310"/>
          </a:xfrm>
          <a:prstGeom prst="rect">
            <a:avLst/>
          </a:prstGeom>
          <a:noFill/>
        </p:spPr>
        <p:txBody>
          <a:bodyPr wrap="none" lIns="0" rIns="0" tIns="0" bIns="0">
            <a:spAutoFit/>
          </a:bodyPr>
          <a:lstStyle/>
          <a:p>
            <a:r>
              <a:rPr sz="1150" b="0">
                <a:solidFill>
                  <a:srgbClr val="2E2E2E"/>
                </a:solidFill>
                <a:latin typeface="Calibri"/>
              </a:rPr>
              <a:t>the forecast period to account for</a:t>
            </a:r>
          </a:p>
        </p:txBody>
      </p:sp>
      <p:pic>
        <p:nvPicPr>
          <p:cNvPr id="51" name="Picture 50" descr="lock.png"/>
          <p:cNvPicPr>
            <a:picLocks noChangeAspect="1"/>
          </p:cNvPicPr>
          <p:nvPr/>
        </p:nvPicPr>
        <p:blipFill>
          <a:blip r:embed="rId5"/>
          <a:stretch>
            <a:fillRect/>
          </a:stretch>
        </p:blipFill>
        <p:spPr>
          <a:xfrm>
            <a:off x="9861950" y="2867419"/>
            <a:ext cx="134549" cy="195707"/>
          </a:xfrm>
          <a:prstGeom prst="rect">
            <a:avLst/>
          </a:prstGeom>
        </p:spPr>
      </p:pic>
      <p:sp>
        <p:nvSpPr>
          <p:cNvPr id="52" name="TextBox 51"/>
          <p:cNvSpPr txBox="1"/>
          <p:nvPr/>
        </p:nvSpPr>
        <p:spPr>
          <a:xfrm>
            <a:off x="10037059" y="2877642"/>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53" name="lockshield_9"/>
          <p:cNvSpPr/>
          <p:nvPr/>
        </p:nvSpPr>
        <p:spPr>
          <a:xfrm>
            <a:off x="238125" y="1581150"/>
            <a:ext cx="4614672" cy="49911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bg>
      <p:bgPr>
        <a:solidFill>
          <a:srgbClr val="F3F8FD"/>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3F8FD"/>
              </a:gs>
              <a:gs pos="100000">
                <a:srgbClr val="DCE9F6"/>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FE0F0">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9C8E6">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B7D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A5F8F"/>
              </a:gs>
              <a:gs pos="100000">
                <a:srgbClr val="6FA6D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MR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11.3</a:t>
            </a:r>
          </a:p>
        </p:txBody>
      </p:sp>
      <p:pic>
        <p:nvPicPr>
          <p:cNvPr id="8" name="Picture 7" descr="tmr_logo.png"/>
          <p:cNvPicPr>
            <a:picLocks noChangeAspect="1"/>
          </p:cNvPicPr>
          <p:nvPr/>
        </p:nvPicPr>
        <p:blipFill>
          <a:blip r:embed="rId2"/>
          <a:stretch>
            <a:fillRect/>
          </a:stretch>
        </p:blipFill>
        <p:spPr>
          <a:xfrm>
            <a:off x="411480" y="274320"/>
            <a:ext cx="1307592" cy="975505"/>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2A5F8F"/>
                </a:solidFill>
                <a:latin typeface="Calibri"/>
              </a:rPr>
              <a:t>Egg Protein Membrane Market</a:t>
            </a:r>
          </a:p>
        </p:txBody>
      </p:sp>
      <p:sp>
        <p:nvSpPr>
          <p:cNvPr id="10" name="TMR Section Title"/>
          <p:cNvSpPr txBox="1"/>
          <p:nvPr/>
        </p:nvSpPr>
        <p:spPr>
          <a:xfrm>
            <a:off x="914400" y="2701925"/>
            <a:ext cx="8572500" cy="514350"/>
          </a:xfrm>
          <a:prstGeom prst="rect">
            <a:avLst/>
          </a:prstGeom>
          <a:noFill/>
        </p:spPr>
        <p:txBody>
          <a:bodyPr wrap="square" lIns="0" rIns="0" tIns="0">
            <a:spAutoFit/>
          </a:bodyPr>
          <a:lstStyle/>
          <a:p>
            <a:r>
              <a:rPr sz="3000" b="1">
                <a:solidFill>
                  <a:srgbClr val="0E2A5C"/>
                </a:solidFill>
                <a:latin typeface="Calibri"/>
              </a:rPr>
              <a:t>Source</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Source Segment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Structure &amp; Attractiveness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Value Analysis</a:t>
            </a:r>
          </a:p>
        </p:txBody>
      </p:sp>
      <p:sp>
        <p:nvSpPr>
          <p:cNvPr id="12" name="Rectangle 11"/>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By Source Segment Outlook</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Segment analysis of market size, growth and share across 2 sub-segments of Source, 2026–2036</a:t>
            </a:r>
          </a:p>
        </p:txBody>
      </p:sp>
      <p:sp>
        <p:nvSpPr>
          <p:cNvPr id="7" name="TextBox 6"/>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Source segment categorizes the market by source. Each sub-category is evaluated on market size, growth outlook and adoption trends across the forecast period.</a:t>
            </a:r>
          </a:p>
        </p:txBody>
      </p:sp>
      <p:sp>
        <p:nvSpPr>
          <p:cNvPr id="8" name="Rectangle 7"/>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Sub-Segment</a:t>
            </a:r>
          </a:p>
        </p:txBody>
      </p:sp>
      <p:sp>
        <p:nvSpPr>
          <p:cNvPr id="10" name="Rectangle 9"/>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2" name="Rectangle 11"/>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4" name="Rectangle 13"/>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16" name="Rounded Rectangle 15"/>
          <p:cNvSpPr/>
          <p:nvPr/>
        </p:nvSpPr>
        <p:spPr>
          <a:xfrm>
            <a:off x="1866900" y="1773916"/>
            <a:ext cx="4943475"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866900" y="1992961"/>
            <a:ext cx="4943475"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905000" y="1773916"/>
            <a:ext cx="4867275" cy="438089"/>
          </a:xfrm>
          <a:prstGeom prst="rect">
            <a:avLst/>
          </a:prstGeom>
          <a:noFill/>
        </p:spPr>
        <p:txBody>
          <a:bodyPr wrap="square" lIns="28575" rIns="28575" tIns="9525" bIns="9525" anchor="ctr">
            <a:spAutoFit/>
          </a:bodyPr>
          <a:lstStyle/>
          <a:p>
            <a:pPr algn="ctr"/>
            <a:r>
              <a:rPr sz="1100" b="1">
                <a:solidFill>
                  <a:srgbClr val="FFFFFF"/>
                </a:solidFill>
                <a:latin typeface="Calibri"/>
              </a:rPr>
              <a:t>Chicken Eggshell Membrane</a:t>
            </a:r>
          </a:p>
        </p:txBody>
      </p:sp>
      <p:sp>
        <p:nvSpPr>
          <p:cNvPr id="19" name="Rectangle 18"/>
          <p:cNvSpPr/>
          <p:nvPr/>
        </p:nvSpPr>
        <p:spPr>
          <a:xfrm>
            <a:off x="1866900" y="22302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0" name="Rectangle 19"/>
          <p:cNvSpPr/>
          <p:nvPr/>
        </p:nvSpPr>
        <p:spPr>
          <a:xfrm>
            <a:off x="1866900" y="2723109"/>
            <a:ext cx="494347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1" name="Rectangle 20"/>
          <p:cNvSpPr/>
          <p:nvPr/>
        </p:nvSpPr>
        <p:spPr>
          <a:xfrm>
            <a:off x="1866900" y="32159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2" name="Oval 21"/>
          <p:cNvSpPr/>
          <p:nvPr/>
        </p:nvSpPr>
        <p:spPr>
          <a:xfrm>
            <a:off x="4176712"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23" name="Rounded Rectangle 22"/>
          <p:cNvSpPr/>
          <p:nvPr/>
        </p:nvSpPr>
        <p:spPr>
          <a:xfrm>
            <a:off x="6924675" y="1773916"/>
            <a:ext cx="4943475"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924675" y="1992961"/>
            <a:ext cx="4943475"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962775" y="1773916"/>
            <a:ext cx="4867275" cy="438089"/>
          </a:xfrm>
          <a:prstGeom prst="rect">
            <a:avLst/>
          </a:prstGeom>
          <a:noFill/>
        </p:spPr>
        <p:txBody>
          <a:bodyPr wrap="square" lIns="28575" rIns="28575" tIns="9525" bIns="9525" anchor="ctr">
            <a:spAutoFit/>
          </a:bodyPr>
          <a:lstStyle/>
          <a:p>
            <a:pPr algn="ctr"/>
            <a:r>
              <a:rPr sz="1100" b="1">
                <a:solidFill>
                  <a:srgbClr val="FFFFFF"/>
                </a:solidFill>
                <a:latin typeface="Calibri"/>
              </a:rPr>
              <a:t>Other Poultry Eggshell Membrane</a:t>
            </a:r>
          </a:p>
        </p:txBody>
      </p:sp>
      <p:sp>
        <p:nvSpPr>
          <p:cNvPr id="26" name="Rectangle 25"/>
          <p:cNvSpPr/>
          <p:nvPr/>
        </p:nvSpPr>
        <p:spPr>
          <a:xfrm>
            <a:off x="6924675" y="22302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27" name="Rectangle 26"/>
          <p:cNvSpPr/>
          <p:nvPr/>
        </p:nvSpPr>
        <p:spPr>
          <a:xfrm>
            <a:off x="6924675" y="2723109"/>
            <a:ext cx="494347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28" name="Rectangle 27"/>
          <p:cNvSpPr/>
          <p:nvPr/>
        </p:nvSpPr>
        <p:spPr>
          <a:xfrm>
            <a:off x="6924675" y="32159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29" name="Oval 28"/>
          <p:cNvSpPr/>
          <p:nvPr/>
        </p:nvSpPr>
        <p:spPr>
          <a:xfrm>
            <a:off x="9234488"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30" name="Rounded Rectangle 29"/>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B2E4A"/>
                </a:solidFill>
                <a:latin typeface="Calibri"/>
              </a:rPr>
              <a:t>Key Highlights</a:t>
            </a:r>
          </a:p>
        </p:txBody>
      </p:sp>
      <p:sp>
        <p:nvSpPr>
          <p:cNvPr id="32" name="Rectangle 31"/>
          <p:cNvSpPr/>
          <p:nvPr/>
        </p:nvSpPr>
        <p:spPr>
          <a:xfrm>
            <a:off x="457200" y="4146897"/>
            <a:ext cx="2971800" cy="18254"/>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57200" y="4219912"/>
            <a:ext cx="2971800" cy="2117429"/>
          </a:xfrm>
          <a:prstGeom prst="rect">
            <a:avLst/>
          </a:prstGeom>
          <a:noFill/>
        </p:spPr>
        <p:txBody>
          <a:bodyPr wrap="square" lIns="28575" rIns="28575" tIns="9525" bIns="9525">
            <a:spAutoFit/>
          </a:bodyPr>
          <a:lstStyle/>
          <a:p>
            <a:pPr algn="l">
              <a:lnSpc>
                <a:spcPct val="105000"/>
              </a:lnSpc>
              <a:spcBef>
                <a:spcPts val="0"/>
              </a:spcBef>
              <a:spcAft>
                <a:spcPts val="300"/>
              </a:spcAft>
            </a:pPr>
            <a:r>
              <a:rPr sz="1100" b="0">
                <a:solidFill>
                  <a:srgbClr val="2E2E2E"/>
                </a:solidFill>
                <a:latin typeface="Calibri"/>
              </a:rPr>
              <a:t/>
            </a:r>
          </a:p>
          <a:p>
            <a:pPr algn="l">
              <a:lnSpc>
                <a:spcPct val="105000"/>
              </a:lnSpc>
              <a:spcBef>
                <a:spcPts val="0"/>
              </a:spcBef>
              <a:spcAft>
                <a:spcPts val="300"/>
              </a:spcAft>
            </a:pPr>
            <a:r>
              <a:rPr sz="1100" b="0">
                <a:solidFill>
                  <a:srgbClr val="2E2E2E"/>
                </a:solidFill>
                <a:latin typeface="Calibri"/>
              </a:rPr>
              <a:t/>
            </a:r>
          </a:p>
        </p:txBody>
      </p:sp>
      <p:sp>
        <p:nvSpPr>
          <p:cNvPr id="34" name="Rounded Rectangle 33"/>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B2E4A"/>
                </a:solidFill>
                <a:latin typeface="Calibri"/>
              </a:rPr>
              <a:t>Sub-Segment Insights</a:t>
            </a:r>
          </a:p>
        </p:txBody>
      </p:sp>
      <p:sp>
        <p:nvSpPr>
          <p:cNvPr id="36" name="Rectangle 35"/>
          <p:cNvSpPr/>
          <p:nvPr/>
        </p:nvSpPr>
        <p:spPr>
          <a:xfrm>
            <a:off x="3810000" y="4146897"/>
            <a:ext cx="4210050" cy="18254"/>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B2E4A"/>
                </a:solidFill>
                <a:latin typeface="Calibri"/>
              </a:rPr>
              <a:t/>
            </a:r>
            <a:r>
              <a:rPr sz="1100" b="1">
                <a:solidFill>
                  <a:srgbClr val="0B2E4A"/>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1">
                <a:solidFill>
                  <a:srgbClr val="0E72AE"/>
                </a:solidFill>
                <a:latin typeface="Calibri"/>
              </a:rPr>
              <a:t/>
            </a:r>
            <a:r>
              <a:rPr sz="1100" b="0">
                <a:solidFill>
                  <a:srgbClr val="2E2E2E"/>
                </a:solidFill>
                <a:latin typeface="Calibri"/>
              </a:rPr>
              <a:t/>
            </a:r>
          </a:p>
        </p:txBody>
      </p:sp>
      <p:sp>
        <p:nvSpPr>
          <p:cNvPr id="38" name="Rounded Rectangle 37"/>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B2E4A"/>
                </a:solidFill>
                <a:latin typeface="Calibri"/>
              </a:rPr>
              <a:t>Segment Overview</a:t>
            </a:r>
          </a:p>
        </p:txBody>
      </p:sp>
      <p:sp>
        <p:nvSpPr>
          <p:cNvPr id="40" name="Rectangle 39"/>
          <p:cNvSpPr/>
          <p:nvPr/>
        </p:nvSpPr>
        <p:spPr>
          <a:xfrm>
            <a:off x="8401050" y="4146897"/>
            <a:ext cx="3333750" cy="18254"/>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00ACAC"/>
                </a:solidFill>
                <a:latin typeface="Calibri"/>
              </a:rPr>
              <a:t>✓  </a:t>
            </a:r>
            <a:r>
              <a:rPr sz="1100" b="0">
                <a:solidFill>
                  <a:srgbClr val="2E2E2E"/>
                </a:solidFill>
                <a:latin typeface="Calibri"/>
              </a:rPr>
              <a:t>The Source split shows how demand is distributed across source types and where growth concentrates.</a:t>
            </a:r>
          </a:p>
          <a:p>
            <a:pPr algn="l">
              <a:lnSpc>
                <a:spcPct val="110000"/>
              </a:lnSpc>
              <a:spcBef>
                <a:spcPts val="0"/>
              </a:spcBef>
              <a:spcAft>
                <a:spcPts val="500"/>
              </a:spcAft>
            </a:pPr>
            <a:r>
              <a:rPr sz="1100" b="1">
                <a:solidFill>
                  <a:srgbClr val="00ACAC"/>
                </a:solidFill>
                <a:latin typeface="Calibri"/>
              </a:rPr>
              <a:t>✓  </a:t>
            </a:r>
            <a:r>
              <a:rPr sz="1100" b="0">
                <a:solidFill>
                  <a:srgbClr val="2E2E2E"/>
                </a:solidFill>
                <a:latin typeface="Calibri"/>
              </a:rPr>
              <a:t>Shifting preferences and product innovation are reshaping the mix through 2036.</a:t>
            </a:r>
          </a:p>
        </p:txBody>
      </p:sp>
      <p:sp>
        <p:nvSpPr>
          <p:cNvPr id="42" name="Rectangle 41"/>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B2E4A"/>
                </a:solidFill>
                <a:latin typeface="Calibri"/>
              </a:rPr>
              <a:t/>
            </a:r>
          </a:p>
        </p:txBody>
      </p:sp>
      <p:sp>
        <p:nvSpPr>
          <p:cNvPr id="44" name="TextBox 43"/>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TMR Analysis, 2026</a:t>
            </a:r>
          </a:p>
        </p:txBody>
      </p:sp>
      <p:sp>
        <p:nvSpPr>
          <p:cNvPr id="45" name="Rectangle 44"/>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47" name="Picture 46" descr="2_888_605E5C.png"/>
          <p:cNvPicPr>
            <a:picLocks noChangeAspect="1"/>
          </p:cNvPicPr>
          <p:nvPr/>
        </p:nvPicPr>
        <p:blipFill>
          <a:blip r:embed="rId4"/>
          <a:stretch>
            <a:fillRect/>
          </a:stretch>
        </p:blipFill>
        <p:spPr>
          <a:xfrm>
            <a:off x="3740773" y="2286582"/>
            <a:ext cx="1195728" cy="361950"/>
          </a:xfrm>
          <a:prstGeom prst="rect">
            <a:avLst/>
          </a:prstGeom>
        </p:spPr>
      </p:pic>
      <p:pic>
        <p:nvPicPr>
          <p:cNvPr id="48" name="Picture 47" descr="4_289_605E5C.png"/>
          <p:cNvPicPr>
            <a:picLocks noChangeAspect="1"/>
          </p:cNvPicPr>
          <p:nvPr/>
        </p:nvPicPr>
        <p:blipFill>
          <a:blip r:embed="rId5"/>
          <a:stretch>
            <a:fillRect/>
          </a:stretch>
        </p:blipFill>
        <p:spPr>
          <a:xfrm>
            <a:off x="3740773" y="2779432"/>
            <a:ext cx="1195728" cy="361950"/>
          </a:xfrm>
          <a:prstGeom prst="rect">
            <a:avLst/>
          </a:prstGeom>
        </p:spPr>
      </p:pic>
      <p:pic>
        <p:nvPicPr>
          <p:cNvPr id="49" name="Picture 48" descr="4_0__605E5C.png"/>
          <p:cNvPicPr>
            <a:picLocks noChangeAspect="1"/>
          </p:cNvPicPr>
          <p:nvPr/>
        </p:nvPicPr>
        <p:blipFill>
          <a:blip r:embed="rId6"/>
          <a:stretch>
            <a:fillRect/>
          </a:stretch>
        </p:blipFill>
        <p:spPr>
          <a:xfrm>
            <a:off x="3847419" y="3272281"/>
            <a:ext cx="982436" cy="361950"/>
          </a:xfrm>
          <a:prstGeom prst="rect">
            <a:avLst/>
          </a:prstGeom>
        </p:spPr>
      </p:pic>
      <p:pic>
        <p:nvPicPr>
          <p:cNvPr id="50" name="Picture 49" descr="716_7_605E5C.png"/>
          <p:cNvPicPr>
            <a:picLocks noChangeAspect="1"/>
          </p:cNvPicPr>
          <p:nvPr/>
        </p:nvPicPr>
        <p:blipFill>
          <a:blip r:embed="rId7"/>
          <a:stretch>
            <a:fillRect/>
          </a:stretch>
        </p:blipFill>
        <p:spPr>
          <a:xfrm>
            <a:off x="8798548" y="2286582"/>
            <a:ext cx="1195728" cy="361950"/>
          </a:xfrm>
          <a:prstGeom prst="rect">
            <a:avLst/>
          </a:prstGeom>
        </p:spPr>
      </p:pic>
      <p:pic>
        <p:nvPicPr>
          <p:cNvPr id="51" name="Picture 50" descr="1_076_605E5C.png"/>
          <p:cNvPicPr>
            <a:picLocks noChangeAspect="1"/>
          </p:cNvPicPr>
          <p:nvPr/>
        </p:nvPicPr>
        <p:blipFill>
          <a:blip r:embed="rId8"/>
          <a:stretch>
            <a:fillRect/>
          </a:stretch>
        </p:blipFill>
        <p:spPr>
          <a:xfrm>
            <a:off x="8798548" y="2779432"/>
            <a:ext cx="1195728" cy="361950"/>
          </a:xfrm>
          <a:prstGeom prst="rect">
            <a:avLst/>
          </a:prstGeom>
        </p:spPr>
      </p:pic>
      <p:pic>
        <p:nvPicPr>
          <p:cNvPr id="52" name="Picture 51" descr="4_1__605E5C.png"/>
          <p:cNvPicPr>
            <a:picLocks noChangeAspect="1"/>
          </p:cNvPicPr>
          <p:nvPr/>
        </p:nvPicPr>
        <p:blipFill>
          <a:blip r:embed="rId9"/>
          <a:stretch>
            <a:fillRect/>
          </a:stretch>
        </p:blipFill>
        <p:spPr>
          <a:xfrm>
            <a:off x="8905194" y="3272281"/>
            <a:ext cx="982436" cy="361950"/>
          </a:xfrm>
          <a:prstGeom prst="rect">
            <a:avLst/>
          </a:prstGeom>
        </p:spPr>
      </p:pic>
      <p:pic>
        <p:nvPicPr>
          <p:cNvPr id="53" name="Picture 52" descr="lock.png"/>
          <p:cNvPicPr>
            <a:picLocks noChangeAspect="1"/>
          </p:cNvPicPr>
          <p:nvPr/>
        </p:nvPicPr>
        <p:blipFill>
          <a:blip r:embed="rId10"/>
          <a:stretch>
            <a:fillRect/>
          </a:stretch>
        </p:blipFill>
        <p:spPr>
          <a:xfrm>
            <a:off x="4230493" y="2805915"/>
            <a:ext cx="212425" cy="308982"/>
          </a:xfrm>
          <a:prstGeom prst="rect">
            <a:avLst/>
          </a:prstGeom>
        </p:spPr>
      </p:pic>
      <p:pic>
        <p:nvPicPr>
          <p:cNvPr id="54" name="Picture 53" descr="lock.png"/>
          <p:cNvPicPr>
            <a:picLocks noChangeAspect="1"/>
          </p:cNvPicPr>
          <p:nvPr/>
        </p:nvPicPr>
        <p:blipFill>
          <a:blip r:embed="rId10"/>
          <a:stretch>
            <a:fillRect/>
          </a:stretch>
        </p:blipFill>
        <p:spPr>
          <a:xfrm>
            <a:off x="9288268" y="2805915"/>
            <a:ext cx="212425" cy="308982"/>
          </a:xfrm>
          <a:prstGeom prst="rect">
            <a:avLst/>
          </a:prstGeom>
        </p:spPr>
      </p:pic>
      <p:sp>
        <p:nvSpPr>
          <p:cNvPr id="55" name="TextBox 54"/>
          <p:cNvSpPr txBox="1"/>
          <p:nvPr/>
        </p:nvSpPr>
        <p:spPr>
          <a:xfrm>
            <a:off x="485775" y="4229437"/>
            <a:ext cx="2778521" cy="186689"/>
          </a:xfrm>
          <a:prstGeom prst="rect">
            <a:avLst/>
          </a:prstGeom>
          <a:noFill/>
        </p:spPr>
        <p:txBody>
          <a:bodyPr wrap="none" lIns="0" rIns="0" tIns="0" bIns="0">
            <a:spAutoFit/>
          </a:bodyPr>
          <a:lstStyle/>
          <a:p>
            <a:r>
              <a:rPr sz="1100" b="0">
                <a:solidFill>
                  <a:srgbClr val="2E2E2E"/>
                </a:solidFill>
                <a:latin typeface="Calibri"/>
              </a:rPr>
              <a:t>Among egg protein membrane by source, other</a:t>
            </a:r>
          </a:p>
        </p:txBody>
      </p:sp>
      <p:sp>
        <p:nvSpPr>
          <p:cNvPr id="56" name="TextBox 55"/>
          <p:cNvSpPr txBox="1"/>
          <p:nvPr/>
        </p:nvSpPr>
        <p:spPr>
          <a:xfrm>
            <a:off x="485775" y="4397077"/>
            <a:ext cx="2914650" cy="186689"/>
          </a:xfrm>
          <a:prstGeom prst="rect">
            <a:avLst/>
          </a:prstGeom>
          <a:noFill/>
        </p:spPr>
        <p:txBody>
          <a:bodyPr wrap="none" lIns="0" rIns="0" tIns="0" bIns="0">
            <a:spAutoFit/>
          </a:bodyPr>
          <a:lstStyle/>
          <a:p>
            <a:r>
              <a:rPr sz="1100" b="0">
                <a:solidFill>
                  <a:srgbClr val="2E2E2E"/>
                </a:solidFill>
                <a:latin typeface="Calibri"/>
              </a:rPr>
              <a:t>poultry eggshell membrane segment is expected to</a:t>
            </a:r>
          </a:p>
        </p:txBody>
      </p:sp>
      <p:sp>
        <p:nvSpPr>
          <p:cNvPr id="57" name="TextBox 56"/>
          <p:cNvSpPr txBox="1"/>
          <p:nvPr/>
        </p:nvSpPr>
        <p:spPr>
          <a:xfrm>
            <a:off x="485775" y="4564717"/>
            <a:ext cx="1675093" cy="186689"/>
          </a:xfrm>
          <a:prstGeom prst="rect">
            <a:avLst/>
          </a:prstGeom>
          <a:noFill/>
        </p:spPr>
        <p:txBody>
          <a:bodyPr wrap="none" lIns="0" rIns="0" tIns="0" bIns="0">
            <a:spAutoFit/>
          </a:bodyPr>
          <a:lstStyle/>
          <a:p>
            <a:r>
              <a:rPr sz="1100" b="0">
                <a:solidFill>
                  <a:srgbClr val="2E2E2E"/>
                </a:solidFill>
                <a:latin typeface="Calibri"/>
              </a:rPr>
              <a:t>witness the highest CAGR of</a:t>
            </a:r>
          </a:p>
        </p:txBody>
      </p:sp>
      <p:pic>
        <p:nvPicPr>
          <p:cNvPr id="58" name="Picture 57" descr="lock.png"/>
          <p:cNvPicPr>
            <a:picLocks noChangeAspect="1"/>
          </p:cNvPicPr>
          <p:nvPr/>
        </p:nvPicPr>
        <p:blipFill>
          <a:blip r:embed="rId10"/>
          <a:stretch>
            <a:fillRect/>
          </a:stretch>
        </p:blipFill>
        <p:spPr>
          <a:xfrm>
            <a:off x="2108919" y="4554938"/>
            <a:ext cx="128699" cy="187198"/>
          </a:xfrm>
          <a:prstGeom prst="rect">
            <a:avLst/>
          </a:prstGeom>
        </p:spPr>
      </p:pic>
      <p:sp>
        <p:nvSpPr>
          <p:cNvPr id="59" name="TextBox 58"/>
          <p:cNvSpPr txBox="1"/>
          <p:nvPr/>
        </p:nvSpPr>
        <p:spPr>
          <a:xfrm>
            <a:off x="2276415" y="4564717"/>
            <a:ext cx="1046733" cy="186689"/>
          </a:xfrm>
          <a:prstGeom prst="rect">
            <a:avLst/>
          </a:prstGeom>
          <a:noFill/>
        </p:spPr>
        <p:txBody>
          <a:bodyPr wrap="none" lIns="0" rIns="0" tIns="0" bIns="0">
            <a:spAutoFit/>
          </a:bodyPr>
          <a:lstStyle/>
          <a:p>
            <a:r>
              <a:rPr sz="1100" b="0">
                <a:solidFill>
                  <a:srgbClr val="2E2E2E"/>
                </a:solidFill>
                <a:latin typeface="Calibri"/>
              </a:rPr>
              <a:t>over the forecast</a:t>
            </a:r>
          </a:p>
        </p:txBody>
      </p:sp>
      <p:sp>
        <p:nvSpPr>
          <p:cNvPr id="60" name="TextBox 59"/>
          <p:cNvSpPr txBox="1"/>
          <p:nvPr/>
        </p:nvSpPr>
        <p:spPr>
          <a:xfrm>
            <a:off x="485775" y="4732357"/>
            <a:ext cx="2651100" cy="186689"/>
          </a:xfrm>
          <a:prstGeom prst="rect">
            <a:avLst/>
          </a:prstGeom>
          <a:noFill/>
        </p:spPr>
        <p:txBody>
          <a:bodyPr wrap="none" lIns="0" rIns="0" tIns="0" bIns="0">
            <a:spAutoFit/>
          </a:bodyPr>
          <a:lstStyle/>
          <a:p>
            <a:r>
              <a:rPr sz="1100" b="0">
                <a:solidFill>
                  <a:srgbClr val="2E2E2E"/>
                </a:solidFill>
                <a:latin typeface="Calibri"/>
              </a:rPr>
              <a:t>period. In terms of value share by source, the</a:t>
            </a:r>
          </a:p>
        </p:txBody>
      </p:sp>
      <p:sp>
        <p:nvSpPr>
          <p:cNvPr id="61" name="TextBox 60"/>
          <p:cNvSpPr txBox="1"/>
          <p:nvPr/>
        </p:nvSpPr>
        <p:spPr>
          <a:xfrm>
            <a:off x="485775" y="4899997"/>
            <a:ext cx="2853283" cy="186689"/>
          </a:xfrm>
          <a:prstGeom prst="rect">
            <a:avLst/>
          </a:prstGeom>
          <a:noFill/>
        </p:spPr>
        <p:txBody>
          <a:bodyPr wrap="none" lIns="0" rIns="0" tIns="0" bIns="0">
            <a:spAutoFit/>
          </a:bodyPr>
          <a:lstStyle/>
          <a:p>
            <a:r>
              <a:rPr sz="1100" b="0">
                <a:solidFill>
                  <a:srgbClr val="2E2E2E"/>
                </a:solidFill>
                <a:latin typeface="Calibri"/>
              </a:rPr>
              <a:t>chicken eggshell membrane segment is expected</a:t>
            </a:r>
          </a:p>
        </p:txBody>
      </p:sp>
      <p:sp>
        <p:nvSpPr>
          <p:cNvPr id="62" name="TextBox 61"/>
          <p:cNvSpPr txBox="1"/>
          <p:nvPr/>
        </p:nvSpPr>
        <p:spPr>
          <a:xfrm>
            <a:off x="485775" y="5067637"/>
            <a:ext cx="1835001" cy="186689"/>
          </a:xfrm>
          <a:prstGeom prst="rect">
            <a:avLst/>
          </a:prstGeom>
          <a:noFill/>
        </p:spPr>
        <p:txBody>
          <a:bodyPr wrap="none" lIns="0" rIns="0" tIns="0" bIns="0">
            <a:spAutoFit/>
          </a:bodyPr>
          <a:lstStyle/>
          <a:p>
            <a:r>
              <a:rPr sz="1100" b="0">
                <a:solidFill>
                  <a:srgbClr val="2E2E2E"/>
                </a:solidFill>
                <a:latin typeface="Calibri"/>
              </a:rPr>
              <a:t>to dominate the market, losing</a:t>
            </a:r>
          </a:p>
        </p:txBody>
      </p:sp>
      <p:pic>
        <p:nvPicPr>
          <p:cNvPr id="63" name="Picture 62" descr="lock.png"/>
          <p:cNvPicPr>
            <a:picLocks noChangeAspect="1"/>
          </p:cNvPicPr>
          <p:nvPr/>
        </p:nvPicPr>
        <p:blipFill>
          <a:blip r:embed="rId10"/>
          <a:stretch>
            <a:fillRect/>
          </a:stretch>
        </p:blipFill>
        <p:spPr>
          <a:xfrm>
            <a:off x="2268827" y="5057858"/>
            <a:ext cx="128699" cy="187198"/>
          </a:xfrm>
          <a:prstGeom prst="rect">
            <a:avLst/>
          </a:prstGeom>
        </p:spPr>
      </p:pic>
      <p:sp>
        <p:nvSpPr>
          <p:cNvPr id="64" name="TextBox 63"/>
          <p:cNvSpPr txBox="1"/>
          <p:nvPr/>
        </p:nvSpPr>
        <p:spPr>
          <a:xfrm>
            <a:off x="2436323" y="5067637"/>
            <a:ext cx="534044" cy="186689"/>
          </a:xfrm>
          <a:prstGeom prst="rect">
            <a:avLst/>
          </a:prstGeom>
          <a:noFill/>
        </p:spPr>
        <p:txBody>
          <a:bodyPr wrap="none" lIns="0" rIns="0" tIns="0" bIns="0">
            <a:spAutoFit/>
          </a:bodyPr>
          <a:lstStyle/>
          <a:p>
            <a:r>
              <a:rPr sz="1100" b="0">
                <a:solidFill>
                  <a:srgbClr val="2E2E2E"/>
                </a:solidFill>
                <a:latin typeface="Calibri"/>
              </a:rPr>
              <a:t>BPS and</a:t>
            </a:r>
          </a:p>
        </p:txBody>
      </p:sp>
      <p:sp>
        <p:nvSpPr>
          <p:cNvPr id="65" name="TextBox 64"/>
          <p:cNvSpPr txBox="1"/>
          <p:nvPr/>
        </p:nvSpPr>
        <p:spPr>
          <a:xfrm>
            <a:off x="485775" y="5235277"/>
            <a:ext cx="896937" cy="186689"/>
          </a:xfrm>
          <a:prstGeom prst="rect">
            <a:avLst/>
          </a:prstGeom>
          <a:noFill/>
        </p:spPr>
        <p:txBody>
          <a:bodyPr wrap="none" lIns="0" rIns="0" tIns="0" bIns="0">
            <a:spAutoFit/>
          </a:bodyPr>
          <a:lstStyle/>
          <a:p>
            <a:r>
              <a:rPr sz="1100" b="0">
                <a:solidFill>
                  <a:srgbClr val="2E2E2E"/>
                </a:solidFill>
                <a:latin typeface="Calibri"/>
              </a:rPr>
              <a:t>accounting for</a:t>
            </a:r>
          </a:p>
        </p:txBody>
      </p:sp>
      <p:pic>
        <p:nvPicPr>
          <p:cNvPr id="66" name="Picture 65" descr="lock.png"/>
          <p:cNvPicPr>
            <a:picLocks noChangeAspect="1"/>
          </p:cNvPicPr>
          <p:nvPr/>
        </p:nvPicPr>
        <p:blipFill>
          <a:blip r:embed="rId10"/>
          <a:stretch>
            <a:fillRect/>
          </a:stretch>
        </p:blipFill>
        <p:spPr>
          <a:xfrm>
            <a:off x="1330764" y="5225498"/>
            <a:ext cx="128699" cy="187198"/>
          </a:xfrm>
          <a:prstGeom prst="rect">
            <a:avLst/>
          </a:prstGeom>
        </p:spPr>
      </p:pic>
      <p:sp>
        <p:nvSpPr>
          <p:cNvPr id="67" name="TextBox 66"/>
          <p:cNvSpPr txBox="1"/>
          <p:nvPr/>
        </p:nvSpPr>
        <p:spPr>
          <a:xfrm>
            <a:off x="1498259" y="5235277"/>
            <a:ext cx="908397" cy="186689"/>
          </a:xfrm>
          <a:prstGeom prst="rect">
            <a:avLst/>
          </a:prstGeom>
          <a:noFill/>
        </p:spPr>
        <p:txBody>
          <a:bodyPr wrap="none" lIns="0" rIns="0" tIns="0" bIns="0">
            <a:spAutoFit/>
          </a:bodyPr>
          <a:lstStyle/>
          <a:p>
            <a:r>
              <a:rPr sz="1100" b="0">
                <a:solidFill>
                  <a:srgbClr val="2E2E2E"/>
                </a:solidFill>
                <a:latin typeface="Calibri"/>
              </a:rPr>
              <a:t>share by 2036.</a:t>
            </a:r>
          </a:p>
        </p:txBody>
      </p:sp>
      <p:sp>
        <p:nvSpPr>
          <p:cNvPr id="68" name="TextBox 67"/>
          <p:cNvSpPr txBox="1"/>
          <p:nvPr/>
        </p:nvSpPr>
        <p:spPr>
          <a:xfrm>
            <a:off x="485775" y="5453209"/>
            <a:ext cx="2894483" cy="186689"/>
          </a:xfrm>
          <a:prstGeom prst="rect">
            <a:avLst/>
          </a:prstGeom>
          <a:noFill/>
        </p:spPr>
        <p:txBody>
          <a:bodyPr wrap="none" lIns="0" rIns="0" tIns="0" bIns="0">
            <a:spAutoFit/>
          </a:bodyPr>
          <a:lstStyle/>
          <a:p>
            <a:r>
              <a:rPr sz="1100" b="0">
                <a:solidFill>
                  <a:srgbClr val="2E2E2E"/>
                </a:solidFill>
                <a:latin typeface="Calibri"/>
              </a:rPr>
              <a:t>Chicken eggshell membrane segment is projected</a:t>
            </a:r>
          </a:p>
        </p:txBody>
      </p:sp>
      <p:sp>
        <p:nvSpPr>
          <p:cNvPr id="69" name="TextBox 68"/>
          <p:cNvSpPr txBox="1"/>
          <p:nvPr/>
        </p:nvSpPr>
        <p:spPr>
          <a:xfrm>
            <a:off x="485775" y="5620849"/>
            <a:ext cx="664740" cy="186689"/>
          </a:xfrm>
          <a:prstGeom prst="rect">
            <a:avLst/>
          </a:prstGeom>
          <a:noFill/>
        </p:spPr>
        <p:txBody>
          <a:bodyPr wrap="none" lIns="0" rIns="0" tIns="0" bIns="0">
            <a:spAutoFit/>
          </a:bodyPr>
          <a:lstStyle/>
          <a:p>
            <a:r>
              <a:rPr sz="1100" b="0">
                <a:solidFill>
                  <a:srgbClr val="2E2E2E"/>
                </a:solidFill>
                <a:latin typeface="Calibri"/>
              </a:rPr>
              <a:t>to register</a:t>
            </a:r>
          </a:p>
        </p:txBody>
      </p:sp>
      <p:pic>
        <p:nvPicPr>
          <p:cNvPr id="70" name="Picture 69" descr="lock.png"/>
          <p:cNvPicPr>
            <a:picLocks noChangeAspect="1"/>
          </p:cNvPicPr>
          <p:nvPr/>
        </p:nvPicPr>
        <p:blipFill>
          <a:blip r:embed="rId10"/>
          <a:stretch>
            <a:fillRect/>
          </a:stretch>
        </p:blipFill>
        <p:spPr>
          <a:xfrm>
            <a:off x="1098567" y="5611070"/>
            <a:ext cx="128699" cy="187198"/>
          </a:xfrm>
          <a:prstGeom prst="rect">
            <a:avLst/>
          </a:prstGeom>
        </p:spPr>
      </p:pic>
      <p:sp>
        <p:nvSpPr>
          <p:cNvPr id="71" name="TextBox 70"/>
          <p:cNvSpPr txBox="1"/>
          <p:nvPr/>
        </p:nvSpPr>
        <p:spPr>
          <a:xfrm>
            <a:off x="1266063" y="5620849"/>
            <a:ext cx="1959967" cy="186689"/>
          </a:xfrm>
          <a:prstGeom prst="rect">
            <a:avLst/>
          </a:prstGeom>
          <a:noFill/>
        </p:spPr>
        <p:txBody>
          <a:bodyPr wrap="none" lIns="0" rIns="0" tIns="0" bIns="0">
            <a:spAutoFit/>
          </a:bodyPr>
          <a:lstStyle/>
          <a:p>
            <a:r>
              <a:rPr sz="1100" b="0">
                <a:solidFill>
                  <a:srgbClr val="2E2E2E"/>
                </a:solidFill>
                <a:latin typeface="Calibri"/>
              </a:rPr>
              <a:t>X higher value than other poultry</a:t>
            </a:r>
          </a:p>
        </p:txBody>
      </p:sp>
      <p:sp>
        <p:nvSpPr>
          <p:cNvPr id="72" name="TextBox 71"/>
          <p:cNvSpPr txBox="1"/>
          <p:nvPr/>
        </p:nvSpPr>
        <p:spPr>
          <a:xfrm>
            <a:off x="485775" y="5788489"/>
            <a:ext cx="2206625" cy="186689"/>
          </a:xfrm>
          <a:prstGeom prst="rect">
            <a:avLst/>
          </a:prstGeom>
          <a:noFill/>
        </p:spPr>
        <p:txBody>
          <a:bodyPr wrap="none" lIns="0" rIns="0" tIns="0" bIns="0">
            <a:spAutoFit/>
          </a:bodyPr>
          <a:lstStyle/>
          <a:p>
            <a:r>
              <a:rPr sz="1100" b="0">
                <a:solidFill>
                  <a:srgbClr val="2E2E2E"/>
                </a:solidFill>
                <a:latin typeface="Calibri"/>
              </a:rPr>
              <a:t>eggshell membrane segment in 2036.</a:t>
            </a:r>
          </a:p>
        </p:txBody>
      </p:sp>
      <p:sp>
        <p:nvSpPr>
          <p:cNvPr id="73" name="TextBox 72"/>
          <p:cNvSpPr txBox="1"/>
          <p:nvPr/>
        </p:nvSpPr>
        <p:spPr>
          <a:xfrm>
            <a:off x="3838575" y="4229437"/>
            <a:ext cx="1833091" cy="186689"/>
          </a:xfrm>
          <a:prstGeom prst="rect">
            <a:avLst/>
          </a:prstGeom>
          <a:noFill/>
        </p:spPr>
        <p:txBody>
          <a:bodyPr wrap="none" lIns="0" rIns="0" tIns="0" bIns="0">
            <a:spAutoFit/>
          </a:bodyPr>
          <a:lstStyle/>
          <a:p>
            <a:r>
              <a:rPr sz="1100" b="0">
                <a:solidFill>
                  <a:srgbClr val="2E2E2E"/>
                </a:solidFill>
                <a:latin typeface="Calibri"/>
              </a:rPr>
              <a:t>● Chicken Eggshell Membrane:</a:t>
            </a:r>
          </a:p>
        </p:txBody>
      </p:sp>
      <p:pic>
        <p:nvPicPr>
          <p:cNvPr id="74" name="Picture 73" descr="lock.png"/>
          <p:cNvPicPr>
            <a:picLocks noChangeAspect="1"/>
          </p:cNvPicPr>
          <p:nvPr/>
        </p:nvPicPr>
        <p:blipFill>
          <a:blip r:embed="rId10"/>
          <a:stretch>
            <a:fillRect/>
          </a:stretch>
        </p:blipFill>
        <p:spPr>
          <a:xfrm>
            <a:off x="5619717" y="4219658"/>
            <a:ext cx="128699" cy="187198"/>
          </a:xfrm>
          <a:prstGeom prst="rect">
            <a:avLst/>
          </a:prstGeom>
        </p:spPr>
      </p:pic>
      <p:sp>
        <p:nvSpPr>
          <p:cNvPr id="75" name="TextBox 74"/>
          <p:cNvSpPr txBox="1"/>
          <p:nvPr/>
        </p:nvSpPr>
        <p:spPr>
          <a:xfrm>
            <a:off x="5787213" y="422943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76" name="Picture 75" descr="lock.png"/>
          <p:cNvPicPr>
            <a:picLocks noChangeAspect="1"/>
          </p:cNvPicPr>
          <p:nvPr/>
        </p:nvPicPr>
        <p:blipFill>
          <a:blip r:embed="rId10"/>
          <a:stretch>
            <a:fillRect/>
          </a:stretch>
        </p:blipFill>
        <p:spPr>
          <a:xfrm>
            <a:off x="6646663" y="4219658"/>
            <a:ext cx="128699" cy="187198"/>
          </a:xfrm>
          <a:prstGeom prst="rect">
            <a:avLst/>
          </a:prstGeom>
        </p:spPr>
      </p:pic>
      <p:sp>
        <p:nvSpPr>
          <p:cNvPr id="77" name="TextBox 76"/>
          <p:cNvSpPr txBox="1"/>
          <p:nvPr/>
        </p:nvSpPr>
        <p:spPr>
          <a:xfrm>
            <a:off x="6814159" y="4229437"/>
            <a:ext cx="945215" cy="186689"/>
          </a:xfrm>
          <a:prstGeom prst="rect">
            <a:avLst/>
          </a:prstGeom>
          <a:noFill/>
        </p:spPr>
        <p:txBody>
          <a:bodyPr wrap="none" lIns="0" rIns="0" tIns="0" bIns="0">
            <a:spAutoFit/>
          </a:bodyPr>
          <a:lstStyle/>
          <a:p>
            <a:r>
              <a:rPr sz="1100" b="0">
                <a:solidFill>
                  <a:srgbClr val="2E2E2E"/>
                </a:solidFill>
                <a:latin typeface="Calibri"/>
              </a:rPr>
              <a:t>CAGR leads the</a:t>
            </a:r>
          </a:p>
        </p:txBody>
      </p:sp>
      <p:sp>
        <p:nvSpPr>
          <p:cNvPr id="78" name="TextBox 77"/>
          <p:cNvSpPr txBox="1"/>
          <p:nvPr/>
        </p:nvSpPr>
        <p:spPr>
          <a:xfrm>
            <a:off x="3838575" y="4397077"/>
            <a:ext cx="602803" cy="186689"/>
          </a:xfrm>
          <a:prstGeom prst="rect">
            <a:avLst/>
          </a:prstGeom>
          <a:noFill/>
        </p:spPr>
        <p:txBody>
          <a:bodyPr wrap="none" lIns="0" rIns="0" tIns="0" bIns="0">
            <a:spAutoFit/>
          </a:bodyPr>
          <a:lstStyle/>
          <a:p>
            <a:r>
              <a:rPr sz="1100" b="0">
                <a:solidFill>
                  <a:srgbClr val="2E2E2E"/>
                </a:solidFill>
                <a:latin typeface="Calibri"/>
              </a:rPr>
              <a:t>segment.</a:t>
            </a:r>
          </a:p>
        </p:txBody>
      </p:sp>
      <p:sp>
        <p:nvSpPr>
          <p:cNvPr id="79" name="TextBox 78"/>
          <p:cNvSpPr txBox="1"/>
          <p:nvPr/>
        </p:nvSpPr>
        <p:spPr>
          <a:xfrm>
            <a:off x="3838575" y="4615009"/>
            <a:ext cx="2160785" cy="186689"/>
          </a:xfrm>
          <a:prstGeom prst="rect">
            <a:avLst/>
          </a:prstGeom>
          <a:noFill/>
        </p:spPr>
        <p:txBody>
          <a:bodyPr wrap="none" lIns="0" rIns="0" tIns="0" bIns="0">
            <a:spAutoFit/>
          </a:bodyPr>
          <a:lstStyle/>
          <a:p>
            <a:r>
              <a:rPr sz="1100" b="0">
                <a:solidFill>
                  <a:srgbClr val="2E2E2E"/>
                </a:solidFill>
                <a:latin typeface="Calibri"/>
              </a:rPr>
              <a:t>● Other Poultry Eggshell Membrane:</a:t>
            </a:r>
          </a:p>
        </p:txBody>
      </p:sp>
      <p:pic>
        <p:nvPicPr>
          <p:cNvPr id="80" name="Picture 79" descr="lock.png"/>
          <p:cNvPicPr>
            <a:picLocks noChangeAspect="1"/>
          </p:cNvPicPr>
          <p:nvPr/>
        </p:nvPicPr>
        <p:blipFill>
          <a:blip r:embed="rId10"/>
          <a:stretch>
            <a:fillRect/>
          </a:stretch>
        </p:blipFill>
        <p:spPr>
          <a:xfrm>
            <a:off x="5947412" y="4605230"/>
            <a:ext cx="128699" cy="187198"/>
          </a:xfrm>
          <a:prstGeom prst="rect">
            <a:avLst/>
          </a:prstGeom>
        </p:spPr>
      </p:pic>
      <p:sp>
        <p:nvSpPr>
          <p:cNvPr id="81" name="TextBox 80"/>
          <p:cNvSpPr txBox="1"/>
          <p:nvPr/>
        </p:nvSpPr>
        <p:spPr>
          <a:xfrm>
            <a:off x="6114908" y="4615009"/>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82" name="Picture 81" descr="lock.png"/>
          <p:cNvPicPr>
            <a:picLocks noChangeAspect="1"/>
          </p:cNvPicPr>
          <p:nvPr/>
        </p:nvPicPr>
        <p:blipFill>
          <a:blip r:embed="rId10"/>
          <a:stretch>
            <a:fillRect/>
          </a:stretch>
        </p:blipFill>
        <p:spPr>
          <a:xfrm>
            <a:off x="6974358" y="4605230"/>
            <a:ext cx="128699" cy="187198"/>
          </a:xfrm>
          <a:prstGeom prst="rect">
            <a:avLst/>
          </a:prstGeom>
        </p:spPr>
      </p:pic>
      <p:sp>
        <p:nvSpPr>
          <p:cNvPr id="83" name="TextBox 82"/>
          <p:cNvSpPr txBox="1"/>
          <p:nvPr/>
        </p:nvSpPr>
        <p:spPr>
          <a:xfrm>
            <a:off x="7141854" y="4615009"/>
            <a:ext cx="395419" cy="186689"/>
          </a:xfrm>
          <a:prstGeom prst="rect">
            <a:avLst/>
          </a:prstGeom>
          <a:noFill/>
        </p:spPr>
        <p:txBody>
          <a:bodyPr wrap="none" lIns="0" rIns="0" tIns="0" bIns="0">
            <a:spAutoFit/>
          </a:bodyPr>
          <a:lstStyle/>
          <a:p>
            <a:r>
              <a:rPr sz="1100" b="0">
                <a:solidFill>
                  <a:srgbClr val="2E2E2E"/>
                </a:solidFill>
                <a:latin typeface="Calibri"/>
              </a:rPr>
              <a:t>CAGR</a:t>
            </a:r>
          </a:p>
        </p:txBody>
      </p:sp>
      <p:sp>
        <p:nvSpPr>
          <p:cNvPr id="84" name="TextBox 83"/>
          <p:cNvSpPr txBox="1"/>
          <p:nvPr/>
        </p:nvSpPr>
        <p:spPr>
          <a:xfrm>
            <a:off x="3838575" y="4782649"/>
            <a:ext cx="867742" cy="186689"/>
          </a:xfrm>
          <a:prstGeom prst="rect">
            <a:avLst/>
          </a:prstGeom>
          <a:noFill/>
        </p:spPr>
        <p:txBody>
          <a:bodyPr wrap="none" lIns="0" rIns="0" tIns="0" bIns="0">
            <a:spAutoFit/>
          </a:bodyPr>
          <a:lstStyle/>
          <a:p>
            <a:r>
              <a:rPr sz="1100" b="0">
                <a:solidFill>
                  <a:srgbClr val="2E2E2E"/>
                </a:solidFill>
                <a:latin typeface="Calibri"/>
              </a:rPr>
              <a:t>grows fastest.</a:t>
            </a:r>
          </a:p>
        </p:txBody>
      </p:sp>
      <p:sp>
        <p:nvSpPr>
          <p:cNvPr id="85" name="TextBox 84"/>
          <p:cNvSpPr txBox="1"/>
          <p:nvPr/>
        </p:nvSpPr>
        <p:spPr>
          <a:xfrm>
            <a:off x="8524875" y="5842641"/>
            <a:ext cx="3162300" cy="194310"/>
          </a:xfrm>
          <a:prstGeom prst="rect">
            <a:avLst/>
          </a:prstGeom>
          <a:noFill/>
        </p:spPr>
        <p:txBody>
          <a:bodyPr wrap="none" lIns="0" rIns="0" tIns="0" bIns="0">
            <a:spAutoFit/>
          </a:bodyPr>
          <a:lstStyle/>
          <a:p>
            <a:r>
              <a:rPr sz="1150" b="1">
                <a:solidFill>
                  <a:srgbClr val="0B2E4A"/>
                </a:solidFill>
                <a:latin typeface="Calibri"/>
              </a:rPr>
              <a:t>The Source segment is projected to grow at a CAGR</a:t>
            </a:r>
          </a:p>
        </p:txBody>
      </p:sp>
      <p:sp>
        <p:nvSpPr>
          <p:cNvPr id="86" name="TextBox 85"/>
          <p:cNvSpPr txBox="1"/>
          <p:nvPr/>
        </p:nvSpPr>
        <p:spPr>
          <a:xfrm>
            <a:off x="8524875" y="6017901"/>
            <a:ext cx="200855" cy="194310"/>
          </a:xfrm>
          <a:prstGeom prst="rect">
            <a:avLst/>
          </a:prstGeom>
          <a:noFill/>
        </p:spPr>
        <p:txBody>
          <a:bodyPr wrap="none" lIns="0" rIns="0" tIns="0" bIns="0">
            <a:spAutoFit/>
          </a:bodyPr>
          <a:lstStyle/>
          <a:p>
            <a:r>
              <a:rPr sz="1150" b="1">
                <a:solidFill>
                  <a:srgbClr val="0B2E4A"/>
                </a:solidFill>
                <a:latin typeface="Calibri"/>
              </a:rPr>
              <a:t>of</a:t>
            </a:r>
          </a:p>
        </p:txBody>
      </p:sp>
      <p:pic>
        <p:nvPicPr>
          <p:cNvPr id="87" name="Picture 86" descr="lock.png"/>
          <p:cNvPicPr>
            <a:picLocks noChangeAspect="1"/>
          </p:cNvPicPr>
          <p:nvPr/>
        </p:nvPicPr>
        <p:blipFill>
          <a:blip r:embed="rId10"/>
          <a:stretch>
            <a:fillRect/>
          </a:stretch>
        </p:blipFill>
        <p:spPr>
          <a:xfrm>
            <a:off x="8674884" y="6007677"/>
            <a:ext cx="134549" cy="195707"/>
          </a:xfrm>
          <a:prstGeom prst="rect">
            <a:avLst/>
          </a:prstGeom>
        </p:spPr>
      </p:pic>
      <p:sp>
        <p:nvSpPr>
          <p:cNvPr id="88" name="TextBox 87"/>
          <p:cNvSpPr txBox="1"/>
          <p:nvPr/>
        </p:nvSpPr>
        <p:spPr>
          <a:xfrm>
            <a:off x="8849994" y="6017901"/>
            <a:ext cx="1232619" cy="194310"/>
          </a:xfrm>
          <a:prstGeom prst="rect">
            <a:avLst/>
          </a:prstGeom>
          <a:noFill/>
        </p:spPr>
        <p:txBody>
          <a:bodyPr wrap="none" lIns="0" rIns="0" tIns="0" bIns="0">
            <a:spAutoFit/>
          </a:bodyPr>
          <a:lstStyle/>
          <a:p>
            <a:r>
              <a:rPr sz="1150" b="1">
                <a:solidFill>
                  <a:srgbClr val="0B2E4A"/>
                </a:solidFill>
                <a:latin typeface="Calibri"/>
              </a:rPr>
              <a:t>from 2026 to 2036.</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Structure &amp; Attractiveness, By Source (Value)</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Source mix within each country and the attractiveness of each sub-segment on growth and size</a:t>
            </a:r>
          </a:p>
        </p:txBody>
      </p:sp>
      <p:sp>
        <p:nvSpPr>
          <p:cNvPr id="7" name="Rounded Rectangle 6"/>
          <p:cNvSpPr/>
          <p:nvPr/>
        </p:nvSpPr>
        <p:spPr>
          <a:xfrm>
            <a:off x="142875" y="981075"/>
            <a:ext cx="6343650" cy="4324350"/>
          </a:xfrm>
          <a:prstGeom prst="roundRect">
            <a:avLst>
              <a:gd name="adj" fmla="val 1762"/>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6153150"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Source mix within each country (share of 2036 value) · row label = country size (US$ Mn), largest first</a:t>
            </a:r>
          </a:p>
        </p:txBody>
      </p:sp>
      <p:graphicFrame>
        <p:nvGraphicFramePr>
          <p:cNvPr id="9" name="Chart 8"/>
          <p:cNvGraphicFramePr>
            <a:graphicFrameLocks noGrp="1"/>
          </p:cNvGraphicFramePr>
          <p:nvPr/>
        </p:nvGraphicFramePr>
        <p:xfrm>
          <a:off x="238125" y="1438275"/>
          <a:ext cx="6153150" cy="3810000"/>
        </p:xfrm>
        <a:graphic>
          <a:graphicData uri="http://schemas.openxmlformats.org/drawingml/2006/chart">
            <c:chart xmlns:c="http://schemas.openxmlformats.org/drawingml/2006/chart" r:id="rId3"/>
          </a:graphicData>
        </a:graphic>
      </p:graphicFrame>
      <p:sp>
        <p:nvSpPr>
          <p:cNvPr id="10" name="Rounded Rectangle 9"/>
          <p:cNvSpPr/>
          <p:nvPr/>
        </p:nvSpPr>
        <p:spPr>
          <a:xfrm>
            <a:off x="6638925" y="981075"/>
            <a:ext cx="5400675" cy="4324350"/>
          </a:xfrm>
          <a:prstGeom prst="roundRect">
            <a:avLst>
              <a:gd name="adj" fmla="val 1762"/>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34175" y="1038225"/>
            <a:ext cx="521017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Attractiveness, By Source · Bubble size represents 2036 value</a:t>
            </a:r>
          </a:p>
        </p:txBody>
      </p:sp>
      <p:graphicFrame>
        <p:nvGraphicFramePr>
          <p:cNvPr id="12" name="Chart 11"/>
          <p:cNvGraphicFramePr>
            <a:graphicFrameLocks noGrp="1"/>
          </p:cNvGraphicFramePr>
          <p:nvPr/>
        </p:nvGraphicFramePr>
        <p:xfrm>
          <a:off x="6734175" y="1266825"/>
          <a:ext cx="5210175" cy="3981450"/>
        </p:xfrm>
        <a:graphic>
          <a:graphicData uri="http://schemas.openxmlformats.org/drawingml/2006/chart">
            <c:chart xmlns:c="http://schemas.openxmlformats.org/drawingml/2006/chart" r:id="rId4"/>
          </a:graphicData>
        </a:graphic>
      </p:graphicFrame>
      <p:sp>
        <p:nvSpPr>
          <p:cNvPr id="13" name="Rounded Rectangle 12"/>
          <p:cNvSpPr/>
          <p:nvPr/>
        </p:nvSpPr>
        <p:spPr>
          <a:xfrm>
            <a:off x="142875" y="5438775"/>
            <a:ext cx="11906250" cy="1181100"/>
          </a:xfrm>
          <a:prstGeom prst="roundRect">
            <a:avLst>
              <a:gd name="adj" fmla="val 6451"/>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14" name="Rectangle 13"/>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6" name="Picture 15" descr="lock.png"/>
          <p:cNvPicPr>
            <a:picLocks noChangeAspect="1"/>
          </p:cNvPicPr>
          <p:nvPr/>
        </p:nvPicPr>
        <p:blipFill>
          <a:blip r:embed="rId6"/>
          <a:stretch>
            <a:fillRect/>
          </a:stretch>
        </p:blipFill>
        <p:spPr>
          <a:xfrm>
            <a:off x="3484684" y="3024134"/>
            <a:ext cx="320946" cy="466830"/>
          </a:xfrm>
          <a:prstGeom prst="rect">
            <a:avLst/>
          </a:prstGeom>
        </p:spPr>
      </p:pic>
      <p:sp>
        <p:nvSpPr>
          <p:cNvPr id="17" name="TextBox 16"/>
          <p:cNvSpPr txBox="1"/>
          <p:nvPr/>
        </p:nvSpPr>
        <p:spPr>
          <a:xfrm>
            <a:off x="257175" y="5777865"/>
            <a:ext cx="11677650" cy="186689"/>
          </a:xfrm>
          <a:prstGeom prst="rect">
            <a:avLst/>
          </a:prstGeom>
          <a:noFill/>
        </p:spPr>
        <p:txBody>
          <a:bodyPr wrap="none" lIns="0" rIns="0" tIns="0" bIns="0">
            <a:spAutoFit/>
          </a:bodyPr>
          <a:lstStyle/>
          <a:p>
            <a:r>
              <a:rPr sz="1100" b="0">
                <a:solidFill>
                  <a:srgbClr val="2E2E2E"/>
                </a:solidFill>
                <a:latin typeface="Calibri"/>
              </a:rPr>
              <a:t>Chicken eggshell membrane followed by other poultry eggshell membrane are expected to be the two most attractive source segments in the North America egg protein membrane market in terms of value</a:t>
            </a:r>
          </a:p>
        </p:txBody>
      </p:sp>
      <p:sp>
        <p:nvSpPr>
          <p:cNvPr id="18" name="TextBox 17"/>
          <p:cNvSpPr txBox="1"/>
          <p:nvPr/>
        </p:nvSpPr>
        <p:spPr>
          <a:xfrm>
            <a:off x="257175" y="5945505"/>
            <a:ext cx="6655179" cy="186689"/>
          </a:xfrm>
          <a:prstGeom prst="rect">
            <a:avLst/>
          </a:prstGeom>
          <a:noFill/>
        </p:spPr>
        <p:txBody>
          <a:bodyPr wrap="none" lIns="0" rIns="0" tIns="0" bIns="0">
            <a:spAutoFit/>
          </a:bodyPr>
          <a:lstStyle/>
          <a:p>
            <a:r>
              <a:rPr sz="1100" b="0">
                <a:solidFill>
                  <a:srgbClr val="2E2E2E"/>
                </a:solidFill>
                <a:latin typeface="Calibri"/>
              </a:rPr>
              <a:t>over the forecast period. Chicken eggshell membrane and other poultry eggshell membrane exhibit a CAGR index of</a:t>
            </a:r>
          </a:p>
        </p:txBody>
      </p:sp>
      <p:pic>
        <p:nvPicPr>
          <p:cNvPr id="19" name="Picture 18" descr="lock.png"/>
          <p:cNvPicPr>
            <a:picLocks noChangeAspect="1"/>
          </p:cNvPicPr>
          <p:nvPr/>
        </p:nvPicPr>
        <p:blipFill>
          <a:blip r:embed="rId6"/>
          <a:stretch>
            <a:fillRect/>
          </a:stretch>
        </p:blipFill>
        <p:spPr>
          <a:xfrm>
            <a:off x="6860406" y="5935726"/>
            <a:ext cx="128699" cy="187198"/>
          </a:xfrm>
          <a:prstGeom prst="rect">
            <a:avLst/>
          </a:prstGeom>
        </p:spPr>
      </p:pic>
      <p:sp>
        <p:nvSpPr>
          <p:cNvPr id="20" name="TextBox 19"/>
          <p:cNvSpPr txBox="1"/>
          <p:nvPr/>
        </p:nvSpPr>
        <p:spPr>
          <a:xfrm>
            <a:off x="7027902" y="594550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1" name="Picture 20" descr="lock.png"/>
          <p:cNvPicPr>
            <a:picLocks noChangeAspect="1"/>
          </p:cNvPicPr>
          <p:nvPr/>
        </p:nvPicPr>
        <p:blipFill>
          <a:blip r:embed="rId6"/>
          <a:stretch>
            <a:fillRect/>
          </a:stretch>
        </p:blipFill>
        <p:spPr>
          <a:xfrm>
            <a:off x="7265796" y="5935726"/>
            <a:ext cx="128699" cy="187198"/>
          </a:xfrm>
          <a:prstGeom prst="rect">
            <a:avLst/>
          </a:prstGeom>
        </p:spPr>
      </p:pic>
      <p:sp>
        <p:nvSpPr>
          <p:cNvPr id="22" name="TextBox 21"/>
          <p:cNvSpPr txBox="1"/>
          <p:nvPr/>
        </p:nvSpPr>
        <p:spPr>
          <a:xfrm>
            <a:off x="7433292" y="5945505"/>
            <a:ext cx="1660921" cy="186689"/>
          </a:xfrm>
          <a:prstGeom prst="rect">
            <a:avLst/>
          </a:prstGeom>
          <a:noFill/>
        </p:spPr>
        <p:txBody>
          <a:bodyPr wrap="none" lIns="0" rIns="0" tIns="0" bIns="0">
            <a:spAutoFit/>
          </a:bodyPr>
          <a:lstStyle/>
          <a:p>
            <a:r>
              <a:rPr sz="1100" b="0">
                <a:solidFill>
                  <a:srgbClr val="2E2E2E"/>
                </a:solidFill>
                <a:latin typeface="Calibri"/>
              </a:rPr>
              <a:t>and a market share index of</a:t>
            </a:r>
          </a:p>
        </p:txBody>
      </p:sp>
      <p:pic>
        <p:nvPicPr>
          <p:cNvPr id="23" name="Picture 22" descr="lock.png"/>
          <p:cNvPicPr>
            <a:picLocks noChangeAspect="1"/>
          </p:cNvPicPr>
          <p:nvPr/>
        </p:nvPicPr>
        <p:blipFill>
          <a:blip r:embed="rId6"/>
          <a:stretch>
            <a:fillRect/>
          </a:stretch>
        </p:blipFill>
        <p:spPr>
          <a:xfrm>
            <a:off x="9042265" y="5935726"/>
            <a:ext cx="128699" cy="187198"/>
          </a:xfrm>
          <a:prstGeom prst="rect">
            <a:avLst/>
          </a:prstGeom>
        </p:spPr>
      </p:pic>
      <p:sp>
        <p:nvSpPr>
          <p:cNvPr id="24" name="TextBox 23"/>
          <p:cNvSpPr txBox="1"/>
          <p:nvPr/>
        </p:nvSpPr>
        <p:spPr>
          <a:xfrm>
            <a:off x="9209761" y="594550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5" name="Picture 24" descr="lock.png"/>
          <p:cNvPicPr>
            <a:picLocks noChangeAspect="1"/>
          </p:cNvPicPr>
          <p:nvPr/>
        </p:nvPicPr>
        <p:blipFill>
          <a:blip r:embed="rId6"/>
          <a:stretch>
            <a:fillRect/>
          </a:stretch>
        </p:blipFill>
        <p:spPr>
          <a:xfrm>
            <a:off x="9447656" y="5935726"/>
            <a:ext cx="128699" cy="187198"/>
          </a:xfrm>
          <a:prstGeom prst="rect">
            <a:avLst/>
          </a:prstGeom>
        </p:spPr>
      </p:pic>
      <p:sp>
        <p:nvSpPr>
          <p:cNvPr id="26" name="TextBox 25"/>
          <p:cNvSpPr txBox="1"/>
          <p:nvPr/>
        </p:nvSpPr>
        <p:spPr>
          <a:xfrm>
            <a:off x="9615151" y="5945505"/>
            <a:ext cx="1453281" cy="186689"/>
          </a:xfrm>
          <a:prstGeom prst="rect">
            <a:avLst/>
          </a:prstGeom>
          <a:noFill/>
        </p:spPr>
        <p:txBody>
          <a:bodyPr wrap="none" lIns="0" rIns="0" tIns="0" bIns="0">
            <a:spAutoFit/>
          </a:bodyPr>
          <a:lstStyle/>
          <a:p>
            <a:r>
              <a:rPr sz="1100" b="0">
                <a:solidFill>
                  <a:srgbClr val="2E2E2E"/>
                </a:solidFill>
                <a:latin typeface="Calibri"/>
              </a:rPr>
              <a:t>respectively, against the</a:t>
            </a:r>
          </a:p>
        </p:txBody>
      </p:sp>
      <p:sp>
        <p:nvSpPr>
          <p:cNvPr id="27" name="TextBox 26"/>
          <p:cNvSpPr txBox="1"/>
          <p:nvPr/>
        </p:nvSpPr>
        <p:spPr>
          <a:xfrm>
            <a:off x="257175" y="6113145"/>
            <a:ext cx="1197619" cy="186689"/>
          </a:xfrm>
          <a:prstGeom prst="rect">
            <a:avLst/>
          </a:prstGeom>
          <a:noFill/>
        </p:spPr>
        <p:txBody>
          <a:bodyPr wrap="none" lIns="0" rIns="0" tIns="0" bIns="0">
            <a:spAutoFit/>
          </a:bodyPr>
          <a:lstStyle/>
          <a:p>
            <a:r>
              <a:rPr sz="1100" b="0">
                <a:solidFill>
                  <a:srgbClr val="2E2E2E"/>
                </a:solidFill>
                <a:latin typeface="Calibri"/>
              </a:rPr>
              <a:t>segment average of</a:t>
            </a:r>
          </a:p>
        </p:txBody>
      </p:sp>
      <p:pic>
        <p:nvPicPr>
          <p:cNvPr id="28" name="Picture 27" descr="lock.png"/>
          <p:cNvPicPr>
            <a:picLocks noChangeAspect="1"/>
          </p:cNvPicPr>
          <p:nvPr/>
        </p:nvPicPr>
        <p:blipFill>
          <a:blip r:embed="rId6"/>
          <a:stretch>
            <a:fillRect/>
          </a:stretch>
        </p:blipFill>
        <p:spPr>
          <a:xfrm>
            <a:off x="1402846" y="6103366"/>
            <a:ext cx="128699" cy="187198"/>
          </a:xfrm>
          <a:prstGeom prst="rect">
            <a:avLst/>
          </a:prstGeom>
        </p:spPr>
      </p:pic>
      <p:sp>
        <p:nvSpPr>
          <p:cNvPr id="29" name="TextBox 28"/>
          <p:cNvSpPr txBox="1"/>
          <p:nvPr/>
        </p:nvSpPr>
        <p:spPr>
          <a:xfrm>
            <a:off x="1570342" y="6113145"/>
            <a:ext cx="4443717" cy="186689"/>
          </a:xfrm>
          <a:prstGeom prst="rect">
            <a:avLst/>
          </a:prstGeom>
          <a:noFill/>
        </p:spPr>
        <p:txBody>
          <a:bodyPr wrap="none" lIns="0" rIns="0" tIns="0" bIns="0">
            <a:spAutoFit/>
          </a:bodyPr>
          <a:lstStyle/>
          <a:p>
            <a:r>
              <a:rPr sz="1100" b="0">
                <a:solidFill>
                  <a:srgbClr val="2E2E2E"/>
                </a:solidFill>
                <a:latin typeface="Calibri"/>
              </a:rPr>
              <a:t>. Bubbles right of the CAGR-Index line grow faster than the segment average.</a:t>
            </a:r>
          </a:p>
        </p:txBody>
      </p:sp>
      <p:sp>
        <p:nvSpPr>
          <p:cNvPr id="30" name="lockshield_9"/>
          <p:cNvSpPr/>
          <p:nvPr/>
        </p:nvSpPr>
        <p:spPr>
          <a:xfrm>
            <a:off x="238125" y="1438275"/>
            <a:ext cx="6153150"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lockshield_12"/>
          <p:cNvSpPr/>
          <p:nvPr/>
        </p:nvSpPr>
        <p:spPr>
          <a:xfrm>
            <a:off x="6734175" y="1266825"/>
            <a:ext cx="5210175" cy="39814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Absolute $ Opportunity Analysis, By Source</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Source and the absolute $ opportunity each sub-segment adds, 2026–2036</a:t>
            </a:r>
          </a:p>
        </p:txBody>
      </p:sp>
      <p:sp>
        <p:nvSpPr>
          <p:cNvPr id="7" name="Rounded Rectangle 6"/>
          <p:cNvSpPr/>
          <p:nvPr/>
        </p:nvSpPr>
        <p:spPr>
          <a:xfrm>
            <a:off x="142875" y="981075"/>
            <a:ext cx="5876925" cy="5648325"/>
          </a:xfrm>
          <a:prstGeom prst="roundRect">
            <a:avLst>
              <a:gd name="adj" fmla="val 134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Chicken Eggshell Membrane</a:t>
            </a:r>
          </a:p>
        </p:txBody>
      </p:sp>
      <p:graphicFrame>
        <p:nvGraphicFramePr>
          <p:cNvPr id="9" name="Chart 8"/>
          <p:cNvGraphicFramePr>
            <a:graphicFrameLocks noGrp="1"/>
          </p:cNvGraphicFramePr>
          <p:nvPr/>
        </p:nvGraphicFramePr>
        <p:xfrm>
          <a:off x="238125" y="1438275"/>
          <a:ext cx="5686425" cy="5133975"/>
        </p:xfrm>
        <a:graphic>
          <a:graphicData uri="http://schemas.openxmlformats.org/drawingml/2006/chart">
            <c:chart xmlns:c="http://schemas.openxmlformats.org/drawingml/2006/chart" r:id="rId3"/>
          </a:graphicData>
        </a:graphic>
      </p:graphicFrame>
      <p:sp>
        <p:nvSpPr>
          <p:cNvPr id="10" name="Rounded Rectangle 9"/>
          <p:cNvSpPr/>
          <p:nvPr/>
        </p:nvSpPr>
        <p:spPr>
          <a:xfrm>
            <a:off x="6172200" y="981075"/>
            <a:ext cx="5876925" cy="5648325"/>
          </a:xfrm>
          <a:prstGeom prst="roundRect">
            <a:avLst>
              <a:gd name="adj" fmla="val 134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67450"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Other Poultry Eggshell Membrane</a:t>
            </a:r>
          </a:p>
        </p:txBody>
      </p:sp>
      <p:graphicFrame>
        <p:nvGraphicFramePr>
          <p:cNvPr id="12" name="Chart 11"/>
          <p:cNvGraphicFramePr>
            <a:graphicFrameLocks noGrp="1"/>
          </p:cNvGraphicFramePr>
          <p:nvPr/>
        </p:nvGraphicFramePr>
        <p:xfrm>
          <a:off x="6267450" y="1438275"/>
          <a:ext cx="5686425" cy="5133975"/>
        </p:xfrm>
        <a:graphic>
          <a:graphicData uri="http://schemas.openxmlformats.org/drawingml/2006/chart">
            <c:chart xmlns:c="http://schemas.openxmlformats.org/drawingml/2006/chart" r:id="rId4"/>
          </a:graphicData>
        </a:graphic>
      </p:graphicFrame>
      <p:sp>
        <p:nvSpPr>
          <p:cNvPr id="13" name="Rectangle 12"/>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5" name="Picture 14" descr="lock.png"/>
          <p:cNvPicPr>
            <a:picLocks noChangeAspect="1"/>
          </p:cNvPicPr>
          <p:nvPr/>
        </p:nvPicPr>
        <p:blipFill>
          <a:blip r:embed="rId6"/>
          <a:stretch>
            <a:fillRect/>
          </a:stretch>
        </p:blipFill>
        <p:spPr>
          <a:xfrm>
            <a:off x="3027556" y="3674659"/>
            <a:ext cx="395643" cy="575481"/>
          </a:xfrm>
          <a:prstGeom prst="rect">
            <a:avLst/>
          </a:prstGeom>
        </p:spPr>
      </p:pic>
      <p:pic>
        <p:nvPicPr>
          <p:cNvPr id="16" name="Picture 15" descr="lock.png"/>
          <p:cNvPicPr>
            <a:picLocks noChangeAspect="1"/>
          </p:cNvPicPr>
          <p:nvPr/>
        </p:nvPicPr>
        <p:blipFill>
          <a:blip r:embed="rId6"/>
          <a:stretch>
            <a:fillRect/>
          </a:stretch>
        </p:blipFill>
        <p:spPr>
          <a:xfrm>
            <a:off x="9056881" y="3674659"/>
            <a:ext cx="395643" cy="575481"/>
          </a:xfrm>
          <a:prstGeom prst="rect">
            <a:avLst/>
          </a:prstGeom>
        </p:spPr>
      </p:pic>
      <p:sp>
        <p:nvSpPr>
          <p:cNvPr id="17" name="lockshield_9"/>
          <p:cNvSpPr/>
          <p:nvPr/>
        </p:nvSpPr>
        <p:spPr>
          <a:xfrm>
            <a:off x="238125" y="1438275"/>
            <a:ext cx="5686425" cy="51339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lockshield_12"/>
          <p:cNvSpPr/>
          <p:nvPr/>
        </p:nvSpPr>
        <p:spPr>
          <a:xfrm>
            <a:off x="6267450" y="1438275"/>
            <a:ext cx="5686425" cy="51339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Value Analysis, By Source (US$ Mn)</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by Source, 2021–2036, highlighting the sub-segments driving growth</a:t>
            </a:r>
          </a:p>
        </p:txBody>
      </p:sp>
      <p:sp>
        <p:nvSpPr>
          <p:cNvPr id="7" name="Rounded Rectangle 6"/>
          <p:cNvSpPr/>
          <p:nvPr/>
        </p:nvSpPr>
        <p:spPr>
          <a:xfrm>
            <a:off x="142875" y="981075"/>
            <a:ext cx="11906250" cy="1457325"/>
          </a:xfrm>
          <a:prstGeom prst="roundRect">
            <a:avLst>
              <a:gd name="adj" fmla="val 522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By Source (US$ Mn)</a:t>
            </a:r>
          </a:p>
        </p:txBody>
      </p:sp>
      <p:graphicFrame>
        <p:nvGraphicFramePr>
          <p:cNvPr id="9" name="Table 8"/>
          <p:cNvGraphicFramePr>
            <a:graphicFrameLocks noGrp="1"/>
          </p:cNvGraphicFramePr>
          <p:nvPr/>
        </p:nvGraphicFramePr>
        <p:xfrm>
          <a:off x="152400" y="1238250"/>
          <a:ext cx="11887194" cy="990600"/>
        </p:xfrm>
        <a:graphic>
          <a:graphicData uri="http://schemas.openxmlformats.org/drawingml/2006/table">
            <a:tbl>
              <a:tblPr>
                <a:tableStyleId>{5C22544A-7EE6-4342-B048-85BDC9FD1C3A}</a:tableStyleId>
              </a:tblPr>
              <a:tblGrid>
                <a:gridCol w="2208907"/>
                <a:gridCol w="569311"/>
                <a:gridCol w="569311"/>
                <a:gridCol w="569311"/>
                <a:gridCol w="569311"/>
                <a:gridCol w="569311"/>
                <a:gridCol w="569311"/>
                <a:gridCol w="569311"/>
                <a:gridCol w="569311"/>
                <a:gridCol w="569311"/>
                <a:gridCol w="569311"/>
                <a:gridCol w="569311"/>
                <a:gridCol w="569311"/>
                <a:gridCol w="569311"/>
                <a:gridCol w="569311"/>
                <a:gridCol w="569311"/>
                <a:gridCol w="569311"/>
                <a:gridCol w="569311"/>
              </a:tblGrid>
              <a:tr h="246126">
                <a:tc>
                  <a:txBody>
                    <a:bodyPr wrap="none"/>
                    <a:lstStyle/>
                    <a:p>
                      <a:pPr algn="l"/>
                      <a:r>
                        <a:rPr sz="1100" b="1">
                          <a:solidFill>
                            <a:srgbClr val="0E2A5C"/>
                          </a:solidFill>
                          <a:latin typeface="Calibri"/>
                        </a:rPr>
                        <a:t>Source</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2021A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2022A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2023A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2024A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2025A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2026E</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2027F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2028F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2029F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2030F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2031F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2032F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2033F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2034F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2035F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2036F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F-CAGR</a:t>
                      </a:r>
                      <a:endParaRPr sz="1100"/>
                    </a:p>
                  </a:txBody>
                  <a:tcPr marL="47625" marR="38100" marT="19050" marB="19050" anchor="ctr">
                    <a:solidFill>
                      <a:srgbClr val="EBF2F9"/>
                    </a:solidFill>
                  </a:tcPr>
                </a:tc>
              </a:tr>
              <a:tr h="248158">
                <a:tc>
                  <a:txBody>
                    <a:bodyPr wrap="none"/>
                    <a:lstStyle/>
                    <a:p>
                      <a:pPr algn="l"/>
                      <a:r>
                        <a:rPr sz="1100" b="1">
                          <a:solidFill>
                            <a:srgbClr val="2E2E2E"/>
                          </a:solidFill>
                          <a:latin typeface="Calibri"/>
                        </a:rPr>
                        <a:t>Chicken Eggshell Membrane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8158">
                <a:tc>
                  <a:txBody>
                    <a:bodyPr wrap="none"/>
                    <a:lstStyle/>
                    <a:p>
                      <a:pPr algn="l"/>
                      <a:r>
                        <a:rPr sz="1100" b="1">
                          <a:solidFill>
                            <a:srgbClr val="2E2E2E"/>
                          </a:solidFill>
                          <a:latin typeface="Calibri"/>
                        </a:rPr>
                        <a:t>Other Poultry Eggshell Membrane</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8158">
                <a:tc>
                  <a:txBody>
                    <a:bodyPr wrap="none"/>
                    <a:lstStyle/>
                    <a:p>
                      <a:pPr algn="l"/>
                      <a:r>
                        <a:rPr sz="1100" b="1">
                          <a:solidFill>
                            <a:srgbClr val="2E2E2E"/>
                          </a:solidFill>
                          <a:latin typeface="Calibri"/>
                        </a:rPr>
                        <a:t>Total</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r>
            </a:tbl>
          </a:graphicData>
        </a:graphic>
      </p:graphicFrame>
      <p:sp>
        <p:nvSpPr>
          <p:cNvPr id="10" name="TextBox 9"/>
          <p:cNvSpPr txBox="1"/>
          <p:nvPr/>
        </p:nvSpPr>
        <p:spPr>
          <a:xfrm>
            <a:off x="219075" y="223837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11" name="Rounded Rectangle 10"/>
          <p:cNvSpPr/>
          <p:nvPr/>
        </p:nvSpPr>
        <p:spPr>
          <a:xfrm>
            <a:off x="142875" y="2571750"/>
            <a:ext cx="11906250" cy="4057650"/>
          </a:xfrm>
          <a:prstGeom prst="roundRect">
            <a:avLst>
              <a:gd name="adj" fmla="val 1877"/>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6225" y="2657475"/>
            <a:ext cx="11639550" cy="209550"/>
          </a:xfrm>
          <a:prstGeom prst="rect">
            <a:avLst/>
          </a:prstGeom>
          <a:noFill/>
        </p:spPr>
        <p:txBody>
          <a:bodyPr wrap="square" lIns="0" rIns="19050" tIns="9525" bIns="9525">
            <a:spAutoFit/>
          </a:bodyPr>
          <a:lstStyle/>
          <a:p>
            <a:pPr algn="l"/>
            <a:r>
              <a:rPr sz="1300" b="1">
                <a:solidFill>
                  <a:srgbClr val="0E2A5C"/>
                </a:solidFill>
                <a:latin typeface="Calibri"/>
              </a:rPr>
              <a:t>North America Value Analysis, By Source</a:t>
            </a:r>
          </a:p>
        </p:txBody>
      </p:sp>
      <p:sp>
        <p:nvSpPr>
          <p:cNvPr id="13" name="Rectangle 12"/>
          <p:cNvSpPr/>
          <p:nvPr/>
        </p:nvSpPr>
        <p:spPr>
          <a:xfrm>
            <a:off x="276225" y="2895600"/>
            <a:ext cx="116395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6225" y="2981325"/>
            <a:ext cx="11639550" cy="357187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5" name="Rectangle 14"/>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7" name="Picture 16" descr="lock.png"/>
          <p:cNvPicPr>
            <a:picLocks noChangeAspect="1"/>
          </p:cNvPicPr>
          <p:nvPr/>
        </p:nvPicPr>
        <p:blipFill>
          <a:blip r:embed="rId4"/>
          <a:stretch>
            <a:fillRect/>
          </a:stretch>
        </p:blipFill>
        <p:spPr>
          <a:xfrm>
            <a:off x="7013760" y="1589913"/>
            <a:ext cx="366712" cy="533400"/>
          </a:xfrm>
          <a:prstGeom prst="rect">
            <a:avLst/>
          </a:prstGeom>
        </p:spPr>
      </p:pic>
      <p:sp>
        <p:nvSpPr>
          <p:cNvPr id="18" name="TextBox 17"/>
          <p:cNvSpPr txBox="1"/>
          <p:nvPr/>
        </p:nvSpPr>
        <p:spPr>
          <a:xfrm>
            <a:off x="276225" y="2990850"/>
            <a:ext cx="3670969" cy="194310"/>
          </a:xfrm>
          <a:prstGeom prst="rect">
            <a:avLst/>
          </a:prstGeom>
          <a:noFill/>
        </p:spPr>
        <p:txBody>
          <a:bodyPr wrap="none" lIns="0" rIns="0" tIns="0" bIns="0">
            <a:spAutoFit/>
          </a:bodyPr>
          <a:lstStyle/>
          <a:p>
            <a:r>
              <a:rPr sz="1150" b="0">
                <a:solidFill>
                  <a:srgbClr val="2E2E2E"/>
                </a:solidFill>
                <a:latin typeface="Calibri"/>
              </a:rPr>
              <a:t>Chicken eggshell membrane segment is projected to register</a:t>
            </a:r>
          </a:p>
        </p:txBody>
      </p:sp>
      <p:pic>
        <p:nvPicPr>
          <p:cNvPr id="19" name="Picture 18" descr="lock.png"/>
          <p:cNvPicPr>
            <a:picLocks noChangeAspect="1"/>
          </p:cNvPicPr>
          <p:nvPr/>
        </p:nvPicPr>
        <p:blipFill>
          <a:blip r:embed="rId4"/>
          <a:stretch>
            <a:fillRect/>
          </a:stretch>
        </p:blipFill>
        <p:spPr>
          <a:xfrm>
            <a:off x="3896348" y="2980626"/>
            <a:ext cx="134549" cy="195707"/>
          </a:xfrm>
          <a:prstGeom prst="rect">
            <a:avLst/>
          </a:prstGeom>
        </p:spPr>
      </p:pic>
      <p:sp>
        <p:nvSpPr>
          <p:cNvPr id="20" name="TextBox 19"/>
          <p:cNvSpPr txBox="1"/>
          <p:nvPr/>
        </p:nvSpPr>
        <p:spPr>
          <a:xfrm>
            <a:off x="4071457" y="2990850"/>
            <a:ext cx="7627726" cy="194310"/>
          </a:xfrm>
          <a:prstGeom prst="rect">
            <a:avLst/>
          </a:prstGeom>
          <a:noFill/>
        </p:spPr>
        <p:txBody>
          <a:bodyPr wrap="none" lIns="0" rIns="0" tIns="0" bIns="0">
            <a:spAutoFit/>
          </a:bodyPr>
          <a:lstStyle/>
          <a:p>
            <a:r>
              <a:rPr sz="1150" b="0">
                <a:solidFill>
                  <a:srgbClr val="2E2E2E"/>
                </a:solidFill>
                <a:latin typeface="Calibri"/>
              </a:rPr>
              <a:t>X higher value than other poultry eggshell membrane segment in 2036. Among egg protein membrane by source, other poultry</a:t>
            </a:r>
          </a:p>
        </p:txBody>
      </p:sp>
      <p:sp>
        <p:nvSpPr>
          <p:cNvPr id="21" name="TextBox 20"/>
          <p:cNvSpPr txBox="1"/>
          <p:nvPr/>
        </p:nvSpPr>
        <p:spPr>
          <a:xfrm>
            <a:off x="276225" y="3166110"/>
            <a:ext cx="4360125" cy="194310"/>
          </a:xfrm>
          <a:prstGeom prst="rect">
            <a:avLst/>
          </a:prstGeom>
          <a:noFill/>
        </p:spPr>
        <p:txBody>
          <a:bodyPr wrap="none" lIns="0" rIns="0" tIns="0" bIns="0">
            <a:spAutoFit/>
          </a:bodyPr>
          <a:lstStyle/>
          <a:p>
            <a:r>
              <a:rPr sz="1150" b="0">
                <a:solidFill>
                  <a:srgbClr val="2E2E2E"/>
                </a:solidFill>
                <a:latin typeface="Calibri"/>
              </a:rPr>
              <a:t>eggshell membrane segment is expected to witness the highest CAGR of</a:t>
            </a:r>
          </a:p>
        </p:txBody>
      </p:sp>
      <p:pic>
        <p:nvPicPr>
          <p:cNvPr id="22" name="Picture 21" descr="lock.png"/>
          <p:cNvPicPr>
            <a:picLocks noChangeAspect="1"/>
          </p:cNvPicPr>
          <p:nvPr/>
        </p:nvPicPr>
        <p:blipFill>
          <a:blip r:embed="rId4"/>
          <a:stretch>
            <a:fillRect/>
          </a:stretch>
        </p:blipFill>
        <p:spPr>
          <a:xfrm>
            <a:off x="4585504" y="3155886"/>
            <a:ext cx="134549" cy="195707"/>
          </a:xfrm>
          <a:prstGeom prst="rect">
            <a:avLst/>
          </a:prstGeom>
        </p:spPr>
      </p:pic>
      <p:sp>
        <p:nvSpPr>
          <p:cNvPr id="23" name="TextBox 22"/>
          <p:cNvSpPr txBox="1"/>
          <p:nvPr/>
        </p:nvSpPr>
        <p:spPr>
          <a:xfrm>
            <a:off x="4760613" y="3166110"/>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24" name="TextBox 23"/>
          <p:cNvSpPr txBox="1"/>
          <p:nvPr/>
        </p:nvSpPr>
        <p:spPr>
          <a:xfrm>
            <a:off x="276225" y="3393947"/>
            <a:ext cx="7118548" cy="194310"/>
          </a:xfrm>
          <a:prstGeom prst="rect">
            <a:avLst/>
          </a:prstGeom>
          <a:noFill/>
        </p:spPr>
        <p:txBody>
          <a:bodyPr wrap="none" lIns="0" rIns="0" tIns="0" bIns="0">
            <a:spAutoFit/>
          </a:bodyPr>
          <a:lstStyle/>
          <a:p>
            <a:r>
              <a:rPr sz="1150" b="0">
                <a:solidFill>
                  <a:srgbClr val="2E2E2E"/>
                </a:solidFill>
                <a:latin typeface="Calibri"/>
              </a:rPr>
              <a:t>In terms of value share by source, the chicken eggshell membrane segment is expected to dominate the market, losing</a:t>
            </a:r>
          </a:p>
        </p:txBody>
      </p:sp>
      <p:pic>
        <p:nvPicPr>
          <p:cNvPr id="25" name="Picture 24" descr="lock.png"/>
          <p:cNvPicPr>
            <a:picLocks noChangeAspect="1"/>
          </p:cNvPicPr>
          <p:nvPr/>
        </p:nvPicPr>
        <p:blipFill>
          <a:blip r:embed="rId4"/>
          <a:stretch>
            <a:fillRect/>
          </a:stretch>
        </p:blipFill>
        <p:spPr>
          <a:xfrm>
            <a:off x="7343927" y="3383724"/>
            <a:ext cx="134549" cy="195707"/>
          </a:xfrm>
          <a:prstGeom prst="rect">
            <a:avLst/>
          </a:prstGeom>
        </p:spPr>
      </p:pic>
      <p:sp>
        <p:nvSpPr>
          <p:cNvPr id="26" name="TextBox 25"/>
          <p:cNvSpPr txBox="1"/>
          <p:nvPr/>
        </p:nvSpPr>
        <p:spPr>
          <a:xfrm>
            <a:off x="7519036" y="3393947"/>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27" name="Picture 26" descr="lock.png"/>
          <p:cNvPicPr>
            <a:picLocks noChangeAspect="1"/>
          </p:cNvPicPr>
          <p:nvPr/>
        </p:nvPicPr>
        <p:blipFill>
          <a:blip r:embed="rId4"/>
          <a:stretch>
            <a:fillRect/>
          </a:stretch>
        </p:blipFill>
        <p:spPr>
          <a:xfrm>
            <a:off x="8914179" y="3383724"/>
            <a:ext cx="134549" cy="195707"/>
          </a:xfrm>
          <a:prstGeom prst="rect">
            <a:avLst/>
          </a:prstGeom>
        </p:spPr>
      </p:pic>
      <p:sp>
        <p:nvSpPr>
          <p:cNvPr id="28" name="TextBox 27"/>
          <p:cNvSpPr txBox="1"/>
          <p:nvPr/>
        </p:nvSpPr>
        <p:spPr>
          <a:xfrm>
            <a:off x="9089289" y="3393947"/>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Value &amp; Share Shift, By Source</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Value composition by Source in 2021, 2026 and 2036, highlighting share shifts in basis points</a:t>
            </a:r>
          </a:p>
        </p:txBody>
      </p:sp>
      <p:sp>
        <p:nvSpPr>
          <p:cNvPr id="7" name="Rounded Rectangle 6"/>
          <p:cNvSpPr/>
          <p:nvPr/>
        </p:nvSpPr>
        <p:spPr>
          <a:xfrm>
            <a:off x="142875" y="981075"/>
            <a:ext cx="7400925" cy="5648325"/>
          </a:xfrm>
          <a:prstGeom prst="roundRect">
            <a:avLst>
              <a:gd name="adj" fmla="val 134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7210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Composition, By Source ·  2021 / 2026 / 2036 (US$ Mn)  ·  right axis = BPS share shift</a:t>
            </a:r>
          </a:p>
        </p:txBody>
      </p:sp>
      <p:graphicFrame>
        <p:nvGraphicFramePr>
          <p:cNvPr id="9" name="Chart 8"/>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r:id="rId3"/>
          </a:graphicData>
        </a:graphic>
      </p:graphicFrame>
      <p:sp>
        <p:nvSpPr>
          <p:cNvPr id="10" name="TextBox 9"/>
          <p:cNvSpPr txBox="1"/>
          <p:nvPr/>
        </p:nvSpPr>
        <p:spPr>
          <a:xfrm>
            <a:off x="4852797" y="1590675"/>
            <a:ext cx="2595753" cy="171069"/>
          </a:xfrm>
          <a:prstGeom prst="rect">
            <a:avLst/>
          </a:prstGeom>
          <a:noFill/>
        </p:spPr>
        <p:txBody>
          <a:bodyPr wrap="square" lIns="28575" rIns="28575" tIns="9525" bIns="9525" anchor="ctr">
            <a:spAutoFit/>
          </a:bodyPr>
          <a:lstStyle/>
          <a:p>
            <a:pPr algn="ctr"/>
            <a:r>
              <a:rPr sz="1300" b="1">
                <a:solidFill>
                  <a:srgbClr val="2A5F8F"/>
                </a:solidFill>
                <a:latin typeface="Calibri"/>
              </a:rPr>
              <a:t>BPS Δ  (2021→2036)</a:t>
            </a:r>
          </a:p>
        </p:txBody>
      </p:sp>
      <p:sp>
        <p:nvSpPr>
          <p:cNvPr id="11" name="TMR Lock Anchor"/>
          <p:cNvSpPr txBox="1"/>
          <p:nvPr/>
        </p:nvSpPr>
        <p:spPr>
          <a:xfrm>
            <a:off x="2678811" y="4014597"/>
            <a:ext cx="38100" cy="38100"/>
          </a:xfrm>
          <a:prstGeom prst="rect">
            <a:avLst/>
          </a:prstGeom>
          <a:noFill/>
        </p:spPr>
        <p:txBody>
          <a:bodyPr wrap="none">
            <a:spAutoFit/>
          </a:bodyPr>
          <a:lstStyle/>
          <a:p/>
        </p:txBody>
      </p:sp>
      <p:sp>
        <p:nvSpPr>
          <p:cNvPr id="12" name="TMR Legend Chip"/>
          <p:cNvSpPr/>
          <p:nvPr/>
        </p:nvSpPr>
        <p:spPr>
          <a:xfrm>
            <a:off x="4928997" y="2129686"/>
            <a:ext cx="85725" cy="85725"/>
          </a:xfrm>
          <a:prstGeom prst="rect">
            <a:avLst/>
          </a:prstGeom>
          <a:solidFill>
            <a:srgbClr val="0081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Isosceles Triangle 12"/>
          <p:cNvSpPr/>
          <p:nvPr/>
        </p:nvSpPr>
        <p:spPr>
          <a:xfrm>
            <a:off x="5090922" y="2124923"/>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BPS Name 1"/>
          <p:cNvSpPr txBox="1"/>
          <p:nvPr/>
        </p:nvSpPr>
        <p:spPr>
          <a:xfrm>
            <a:off x="5233797" y="2048723"/>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Other Poultry Eggshell Membrane</a:t>
            </a:r>
          </a:p>
        </p:txBody>
      </p:sp>
      <p:sp>
        <p:nvSpPr>
          <p:cNvPr id="15" name="BPS Value 1"/>
          <p:cNvSpPr txBox="1"/>
          <p:nvPr/>
        </p:nvSpPr>
        <p:spPr>
          <a:xfrm>
            <a:off x="6896100" y="2110636"/>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16" name="TMR Legend Chip"/>
          <p:cNvSpPr/>
          <p:nvPr/>
        </p:nvSpPr>
        <p:spPr>
          <a:xfrm>
            <a:off x="4928997" y="4415876"/>
            <a:ext cx="85725" cy="85725"/>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Isosceles Triangle 16"/>
          <p:cNvSpPr/>
          <p:nvPr/>
        </p:nvSpPr>
        <p:spPr>
          <a:xfrm rot="10800000">
            <a:off x="5090922" y="4411114"/>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PS Name 2"/>
          <p:cNvSpPr txBox="1"/>
          <p:nvPr/>
        </p:nvSpPr>
        <p:spPr>
          <a:xfrm>
            <a:off x="5233797" y="4334914"/>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Chicken Eggshell Membrane</a:t>
            </a:r>
          </a:p>
        </p:txBody>
      </p:sp>
      <p:sp>
        <p:nvSpPr>
          <p:cNvPr id="19" name="BPS Value 2"/>
          <p:cNvSpPr txBox="1"/>
          <p:nvPr/>
        </p:nvSpPr>
        <p:spPr>
          <a:xfrm>
            <a:off x="6896100" y="4396826"/>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0" name="Rounded Rectangle 19"/>
          <p:cNvSpPr/>
          <p:nvPr/>
        </p:nvSpPr>
        <p:spPr>
          <a:xfrm>
            <a:off x="7696200" y="981075"/>
            <a:ext cx="4343400" cy="5648325"/>
          </a:xfrm>
          <a:prstGeom prst="roundRect">
            <a:avLst>
              <a:gd name="adj" fmla="val 1754"/>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E2A5C"/>
                </a:solidFill>
                <a:latin typeface="Calibri"/>
              </a:rPr>
              <a:t>North America Read-out, By Source</a:t>
            </a:r>
          </a:p>
        </p:txBody>
      </p:sp>
      <p:sp>
        <p:nvSpPr>
          <p:cNvPr id="22" name="Rectangle 21"/>
          <p:cNvSpPr/>
          <p:nvPr/>
        </p:nvSpPr>
        <p:spPr>
          <a:xfrm>
            <a:off x="7829550" y="1304925"/>
            <a:ext cx="407670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24" name="Rectangle 23"/>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26" name="Picture 25" descr="lock.png"/>
          <p:cNvPicPr>
            <a:picLocks noChangeAspect="1"/>
          </p:cNvPicPr>
          <p:nvPr/>
        </p:nvPicPr>
        <p:blipFill>
          <a:blip r:embed="rId5"/>
          <a:stretch>
            <a:fillRect/>
          </a:stretch>
        </p:blipFill>
        <p:spPr>
          <a:xfrm>
            <a:off x="2557843" y="3833622"/>
            <a:ext cx="275034" cy="400050"/>
          </a:xfrm>
          <a:prstGeom prst="rect">
            <a:avLst/>
          </a:prstGeom>
        </p:spPr>
      </p:pic>
      <p:sp>
        <p:nvSpPr>
          <p:cNvPr id="27" name="TextBox 26"/>
          <p:cNvSpPr txBox="1"/>
          <p:nvPr/>
        </p:nvSpPr>
        <p:spPr>
          <a:xfrm>
            <a:off x="7829550" y="1400175"/>
            <a:ext cx="3882057" cy="194310"/>
          </a:xfrm>
          <a:prstGeom prst="rect">
            <a:avLst/>
          </a:prstGeom>
          <a:noFill/>
        </p:spPr>
        <p:txBody>
          <a:bodyPr wrap="none" lIns="0" rIns="0" tIns="0" bIns="0">
            <a:spAutoFit/>
          </a:bodyPr>
          <a:lstStyle/>
          <a:p>
            <a:r>
              <a:rPr sz="1150" b="0">
                <a:solidFill>
                  <a:srgbClr val="2E2E2E"/>
                </a:solidFill>
                <a:latin typeface="Calibri"/>
              </a:rPr>
              <a:t>Among egg protein membrane by source, other poultry eggshell</a:t>
            </a:r>
          </a:p>
        </p:txBody>
      </p:sp>
      <p:sp>
        <p:nvSpPr>
          <p:cNvPr id="28" name="TextBox 27"/>
          <p:cNvSpPr txBox="1"/>
          <p:nvPr/>
        </p:nvSpPr>
        <p:spPr>
          <a:xfrm>
            <a:off x="7829550" y="1575435"/>
            <a:ext cx="3842960" cy="194310"/>
          </a:xfrm>
          <a:prstGeom prst="rect">
            <a:avLst/>
          </a:prstGeom>
          <a:noFill/>
        </p:spPr>
        <p:txBody>
          <a:bodyPr wrap="none" lIns="0" rIns="0" tIns="0" bIns="0">
            <a:spAutoFit/>
          </a:bodyPr>
          <a:lstStyle/>
          <a:p>
            <a:r>
              <a:rPr sz="1150" b="0">
                <a:solidFill>
                  <a:srgbClr val="2E2E2E"/>
                </a:solidFill>
                <a:latin typeface="Calibri"/>
              </a:rPr>
              <a:t>membrane segment is expected to witness the highest CAGR of</a:t>
            </a:r>
          </a:p>
        </p:txBody>
      </p:sp>
      <p:pic>
        <p:nvPicPr>
          <p:cNvPr id="29" name="Picture 28" descr="lock.png"/>
          <p:cNvPicPr>
            <a:picLocks noChangeAspect="1"/>
          </p:cNvPicPr>
          <p:nvPr/>
        </p:nvPicPr>
        <p:blipFill>
          <a:blip r:embed="rId5"/>
          <a:stretch>
            <a:fillRect/>
          </a:stretch>
        </p:blipFill>
        <p:spPr>
          <a:xfrm>
            <a:off x="11621663" y="1565211"/>
            <a:ext cx="134549" cy="195707"/>
          </a:xfrm>
          <a:prstGeom prst="rect">
            <a:avLst/>
          </a:prstGeom>
        </p:spPr>
      </p:pic>
      <p:sp>
        <p:nvSpPr>
          <p:cNvPr id="30" name="TextBox 29"/>
          <p:cNvSpPr txBox="1"/>
          <p:nvPr/>
        </p:nvSpPr>
        <p:spPr>
          <a:xfrm>
            <a:off x="7829550" y="1750695"/>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31" name="TextBox 30"/>
          <p:cNvSpPr txBox="1"/>
          <p:nvPr/>
        </p:nvSpPr>
        <p:spPr>
          <a:xfrm>
            <a:off x="7829550" y="1978533"/>
            <a:ext cx="3997014" cy="194310"/>
          </a:xfrm>
          <a:prstGeom prst="rect">
            <a:avLst/>
          </a:prstGeom>
          <a:noFill/>
        </p:spPr>
        <p:txBody>
          <a:bodyPr wrap="none" lIns="0" rIns="0" tIns="0" bIns="0">
            <a:spAutoFit/>
          </a:bodyPr>
          <a:lstStyle/>
          <a:p>
            <a:r>
              <a:rPr sz="1150" b="0">
                <a:solidFill>
                  <a:srgbClr val="2E2E2E"/>
                </a:solidFill>
                <a:latin typeface="Calibri"/>
              </a:rPr>
              <a:t>In terms of value share by source, the chicken eggshell membrane</a:t>
            </a:r>
          </a:p>
        </p:txBody>
      </p:sp>
      <p:sp>
        <p:nvSpPr>
          <p:cNvPr id="32" name="TextBox 31"/>
          <p:cNvSpPr txBox="1"/>
          <p:nvPr/>
        </p:nvSpPr>
        <p:spPr>
          <a:xfrm>
            <a:off x="7829550" y="2153793"/>
            <a:ext cx="3164644" cy="194310"/>
          </a:xfrm>
          <a:prstGeom prst="rect">
            <a:avLst/>
          </a:prstGeom>
          <a:noFill/>
        </p:spPr>
        <p:txBody>
          <a:bodyPr wrap="none" lIns="0" rIns="0" tIns="0" bIns="0">
            <a:spAutoFit/>
          </a:bodyPr>
          <a:lstStyle/>
          <a:p>
            <a:r>
              <a:rPr sz="1150" b="0">
                <a:solidFill>
                  <a:srgbClr val="2E2E2E"/>
                </a:solidFill>
                <a:latin typeface="Calibri"/>
              </a:rPr>
              <a:t>segment is expected to dominate the market, losing</a:t>
            </a:r>
          </a:p>
        </p:txBody>
      </p:sp>
      <p:pic>
        <p:nvPicPr>
          <p:cNvPr id="33" name="Picture 32" descr="lock.png"/>
          <p:cNvPicPr>
            <a:picLocks noChangeAspect="1"/>
          </p:cNvPicPr>
          <p:nvPr/>
        </p:nvPicPr>
        <p:blipFill>
          <a:blip r:embed="rId5"/>
          <a:stretch>
            <a:fillRect/>
          </a:stretch>
        </p:blipFill>
        <p:spPr>
          <a:xfrm>
            <a:off x="10943347" y="2143569"/>
            <a:ext cx="134549" cy="195707"/>
          </a:xfrm>
          <a:prstGeom prst="rect">
            <a:avLst/>
          </a:prstGeom>
        </p:spPr>
      </p:pic>
      <p:sp>
        <p:nvSpPr>
          <p:cNvPr id="34" name="TextBox 33"/>
          <p:cNvSpPr txBox="1"/>
          <p:nvPr/>
        </p:nvSpPr>
        <p:spPr>
          <a:xfrm>
            <a:off x="11118457" y="2153793"/>
            <a:ext cx="554856" cy="194310"/>
          </a:xfrm>
          <a:prstGeom prst="rect">
            <a:avLst/>
          </a:prstGeom>
          <a:noFill/>
        </p:spPr>
        <p:txBody>
          <a:bodyPr wrap="none" lIns="0" rIns="0" tIns="0" bIns="0">
            <a:spAutoFit/>
          </a:bodyPr>
          <a:lstStyle/>
          <a:p>
            <a:r>
              <a:rPr sz="1150" b="0">
                <a:solidFill>
                  <a:srgbClr val="2E2E2E"/>
                </a:solidFill>
                <a:latin typeface="Calibri"/>
              </a:rPr>
              <a:t>BPS and</a:t>
            </a:r>
          </a:p>
        </p:txBody>
      </p:sp>
      <p:sp>
        <p:nvSpPr>
          <p:cNvPr id="35" name="TextBox 34"/>
          <p:cNvSpPr txBox="1"/>
          <p:nvPr/>
        </p:nvSpPr>
        <p:spPr>
          <a:xfrm>
            <a:off x="7829550" y="2329053"/>
            <a:ext cx="934243" cy="194310"/>
          </a:xfrm>
          <a:prstGeom prst="rect">
            <a:avLst/>
          </a:prstGeom>
          <a:noFill/>
        </p:spPr>
        <p:txBody>
          <a:bodyPr wrap="none" lIns="0" rIns="0" tIns="0" bIns="0">
            <a:spAutoFit/>
          </a:bodyPr>
          <a:lstStyle/>
          <a:p>
            <a:r>
              <a:rPr sz="1150" b="0">
                <a:solidFill>
                  <a:srgbClr val="2E2E2E"/>
                </a:solidFill>
                <a:latin typeface="Calibri"/>
              </a:rPr>
              <a:t>accounting for</a:t>
            </a:r>
          </a:p>
        </p:txBody>
      </p:sp>
      <p:pic>
        <p:nvPicPr>
          <p:cNvPr id="36" name="Picture 35" descr="lock.png"/>
          <p:cNvPicPr>
            <a:picLocks noChangeAspect="1"/>
          </p:cNvPicPr>
          <p:nvPr/>
        </p:nvPicPr>
        <p:blipFill>
          <a:blip r:embed="rId5"/>
          <a:stretch>
            <a:fillRect/>
          </a:stretch>
        </p:blipFill>
        <p:spPr>
          <a:xfrm>
            <a:off x="8712947" y="2318829"/>
            <a:ext cx="134549" cy="195707"/>
          </a:xfrm>
          <a:prstGeom prst="rect">
            <a:avLst/>
          </a:prstGeom>
        </p:spPr>
      </p:pic>
      <p:sp>
        <p:nvSpPr>
          <p:cNvPr id="37" name="TextBox 36"/>
          <p:cNvSpPr txBox="1"/>
          <p:nvPr/>
        </p:nvSpPr>
        <p:spPr>
          <a:xfrm>
            <a:off x="8888056" y="2329053"/>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38" name="lockshield_9"/>
          <p:cNvSpPr/>
          <p:nvPr/>
        </p:nvSpPr>
        <p:spPr>
          <a:xfrm>
            <a:off x="238125" y="1581150"/>
            <a:ext cx="4614672" cy="49911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bg>
      <p:bgPr>
        <a:solidFill>
          <a:srgbClr val="F3F8FD"/>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3F8FD"/>
              </a:gs>
              <a:gs pos="100000">
                <a:srgbClr val="DCE9F6"/>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FE0F0">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9C8E6">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B7D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A5F8F"/>
              </a:gs>
              <a:gs pos="100000">
                <a:srgbClr val="6FA6D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MR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11.4</a:t>
            </a:r>
          </a:p>
        </p:txBody>
      </p:sp>
      <p:pic>
        <p:nvPicPr>
          <p:cNvPr id="8" name="Picture 7" descr="tmr_logo.png"/>
          <p:cNvPicPr>
            <a:picLocks noChangeAspect="1"/>
          </p:cNvPicPr>
          <p:nvPr/>
        </p:nvPicPr>
        <p:blipFill>
          <a:blip r:embed="rId2"/>
          <a:stretch>
            <a:fillRect/>
          </a:stretch>
        </p:blipFill>
        <p:spPr>
          <a:xfrm>
            <a:off x="411480" y="274320"/>
            <a:ext cx="1307592" cy="975505"/>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2A5F8F"/>
                </a:solidFill>
                <a:latin typeface="Calibri"/>
              </a:rPr>
              <a:t>Egg Protein Membrane Market</a:t>
            </a:r>
          </a:p>
        </p:txBody>
      </p:sp>
      <p:sp>
        <p:nvSpPr>
          <p:cNvPr id="10" name="TMR Section Title"/>
          <p:cNvSpPr txBox="1"/>
          <p:nvPr/>
        </p:nvSpPr>
        <p:spPr>
          <a:xfrm>
            <a:off x="914400" y="2701925"/>
            <a:ext cx="8572500" cy="514350"/>
          </a:xfrm>
          <a:prstGeom prst="rect">
            <a:avLst/>
          </a:prstGeom>
          <a:noFill/>
        </p:spPr>
        <p:txBody>
          <a:bodyPr wrap="square" lIns="0" rIns="0" tIns="0">
            <a:spAutoFit/>
          </a:bodyPr>
          <a:lstStyle/>
          <a:p>
            <a:r>
              <a:rPr sz="3000" b="1">
                <a:solidFill>
                  <a:srgbClr val="0E2A5C"/>
                </a:solidFill>
                <a:latin typeface="Calibri"/>
              </a:rPr>
              <a:t>Form</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Form Segment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Structure &amp; Attractiveness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Value Analysis</a:t>
            </a:r>
          </a:p>
        </p:txBody>
      </p:sp>
      <p:sp>
        <p:nvSpPr>
          <p:cNvPr id="12" name="Rectangle 11"/>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By Form Segment Outlook</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Segment analysis of market size, growth and share across 2 sub-segments of Form, 2026–2036</a:t>
            </a:r>
          </a:p>
        </p:txBody>
      </p:sp>
      <p:sp>
        <p:nvSpPr>
          <p:cNvPr id="7" name="TextBox 6"/>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Form segment categorizes the market by form. Each sub-category is evaluated on market size, growth outlook and adoption trends across the forecast period.</a:t>
            </a:r>
          </a:p>
        </p:txBody>
      </p:sp>
      <p:sp>
        <p:nvSpPr>
          <p:cNvPr id="8" name="Rectangle 7"/>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Sub-Segment</a:t>
            </a:r>
          </a:p>
        </p:txBody>
      </p:sp>
      <p:sp>
        <p:nvSpPr>
          <p:cNvPr id="10" name="Rectangle 9"/>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2" name="Rectangle 11"/>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4" name="Rectangle 13"/>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16" name="Rounded Rectangle 15"/>
          <p:cNvSpPr/>
          <p:nvPr/>
        </p:nvSpPr>
        <p:spPr>
          <a:xfrm>
            <a:off x="1866900" y="1773916"/>
            <a:ext cx="4943475"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866900" y="1992961"/>
            <a:ext cx="4943475"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905000" y="1773916"/>
            <a:ext cx="4867275" cy="438089"/>
          </a:xfrm>
          <a:prstGeom prst="rect">
            <a:avLst/>
          </a:prstGeom>
          <a:noFill/>
        </p:spPr>
        <p:txBody>
          <a:bodyPr wrap="square" lIns="28575" rIns="28575" tIns="9525" bIns="9525" anchor="ctr">
            <a:spAutoFit/>
          </a:bodyPr>
          <a:lstStyle/>
          <a:p>
            <a:pPr algn="ctr"/>
            <a:r>
              <a:rPr sz="1100" b="1">
                <a:solidFill>
                  <a:srgbClr val="FFFFFF"/>
                </a:solidFill>
                <a:latin typeface="Calibri"/>
              </a:rPr>
              <a:t>Liquid / Concentrate</a:t>
            </a:r>
          </a:p>
        </p:txBody>
      </p:sp>
      <p:sp>
        <p:nvSpPr>
          <p:cNvPr id="19" name="Rectangle 18"/>
          <p:cNvSpPr/>
          <p:nvPr/>
        </p:nvSpPr>
        <p:spPr>
          <a:xfrm>
            <a:off x="1866900" y="22302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0" name="Rectangle 19"/>
          <p:cNvSpPr/>
          <p:nvPr/>
        </p:nvSpPr>
        <p:spPr>
          <a:xfrm>
            <a:off x="1866900" y="2723109"/>
            <a:ext cx="494347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1" name="Rectangle 20"/>
          <p:cNvSpPr/>
          <p:nvPr/>
        </p:nvSpPr>
        <p:spPr>
          <a:xfrm>
            <a:off x="1866900" y="32159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2" name="Oval 21"/>
          <p:cNvSpPr/>
          <p:nvPr/>
        </p:nvSpPr>
        <p:spPr>
          <a:xfrm>
            <a:off x="4176712"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23" name="Rounded Rectangle 22"/>
          <p:cNvSpPr/>
          <p:nvPr/>
        </p:nvSpPr>
        <p:spPr>
          <a:xfrm>
            <a:off x="6924675" y="1773916"/>
            <a:ext cx="4943475"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924675" y="1992961"/>
            <a:ext cx="4943475"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962775" y="1773916"/>
            <a:ext cx="4867275" cy="438089"/>
          </a:xfrm>
          <a:prstGeom prst="rect">
            <a:avLst/>
          </a:prstGeom>
          <a:noFill/>
        </p:spPr>
        <p:txBody>
          <a:bodyPr wrap="square" lIns="28575" rIns="28575" tIns="9525" bIns="9525" anchor="ctr">
            <a:spAutoFit/>
          </a:bodyPr>
          <a:lstStyle/>
          <a:p>
            <a:pPr algn="ctr"/>
            <a:r>
              <a:rPr sz="1100" b="1">
                <a:solidFill>
                  <a:srgbClr val="FFFFFF"/>
                </a:solidFill>
                <a:latin typeface="Calibri"/>
              </a:rPr>
              <a:t>Powder</a:t>
            </a:r>
          </a:p>
        </p:txBody>
      </p:sp>
      <p:sp>
        <p:nvSpPr>
          <p:cNvPr id="26" name="Rectangle 25"/>
          <p:cNvSpPr/>
          <p:nvPr/>
        </p:nvSpPr>
        <p:spPr>
          <a:xfrm>
            <a:off x="6924675" y="22302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27" name="Rectangle 26"/>
          <p:cNvSpPr/>
          <p:nvPr/>
        </p:nvSpPr>
        <p:spPr>
          <a:xfrm>
            <a:off x="6924675" y="2723109"/>
            <a:ext cx="494347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28" name="Rectangle 27"/>
          <p:cNvSpPr/>
          <p:nvPr/>
        </p:nvSpPr>
        <p:spPr>
          <a:xfrm>
            <a:off x="6924675" y="32159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29" name="Oval 28"/>
          <p:cNvSpPr/>
          <p:nvPr/>
        </p:nvSpPr>
        <p:spPr>
          <a:xfrm>
            <a:off x="9234488"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30" name="Rounded Rectangle 29"/>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B2E4A"/>
                </a:solidFill>
                <a:latin typeface="Calibri"/>
              </a:rPr>
              <a:t>Key Highlights</a:t>
            </a:r>
          </a:p>
        </p:txBody>
      </p:sp>
      <p:sp>
        <p:nvSpPr>
          <p:cNvPr id="32" name="Rectangle 31"/>
          <p:cNvSpPr/>
          <p:nvPr/>
        </p:nvSpPr>
        <p:spPr>
          <a:xfrm>
            <a:off x="457200" y="4146897"/>
            <a:ext cx="2971800" cy="18254"/>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57200" y="4219912"/>
            <a:ext cx="29718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2E2E2E"/>
                </a:solidFill>
                <a:latin typeface="Calibri"/>
              </a:rPr>
              <a:t/>
            </a:r>
          </a:p>
          <a:p>
            <a:pPr algn="l">
              <a:lnSpc>
                <a:spcPct val="110000"/>
              </a:lnSpc>
              <a:spcBef>
                <a:spcPts val="0"/>
              </a:spcBef>
              <a:spcAft>
                <a:spcPts val="500"/>
              </a:spcAft>
            </a:pPr>
            <a:r>
              <a:rPr sz="1100" b="0">
                <a:solidFill>
                  <a:srgbClr val="2E2E2E"/>
                </a:solidFill>
                <a:latin typeface="Calibri"/>
              </a:rPr>
              <a:t/>
            </a:r>
          </a:p>
        </p:txBody>
      </p:sp>
      <p:sp>
        <p:nvSpPr>
          <p:cNvPr id="34" name="Rounded Rectangle 33"/>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B2E4A"/>
                </a:solidFill>
                <a:latin typeface="Calibri"/>
              </a:rPr>
              <a:t>Sub-Segment Insights</a:t>
            </a:r>
          </a:p>
        </p:txBody>
      </p:sp>
      <p:sp>
        <p:nvSpPr>
          <p:cNvPr id="36" name="Rectangle 35"/>
          <p:cNvSpPr/>
          <p:nvPr/>
        </p:nvSpPr>
        <p:spPr>
          <a:xfrm>
            <a:off x="3810000" y="4146897"/>
            <a:ext cx="4210050" cy="18254"/>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B2E4A"/>
                </a:solidFill>
                <a:latin typeface="Calibri"/>
              </a:rPr>
              <a:t/>
            </a:r>
            <a:r>
              <a:rPr sz="1100" b="1">
                <a:solidFill>
                  <a:srgbClr val="0B2E4A"/>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1">
                <a:solidFill>
                  <a:srgbClr val="0E72AE"/>
                </a:solidFill>
                <a:latin typeface="Calibri"/>
              </a:rPr>
              <a:t/>
            </a:r>
            <a:r>
              <a:rPr sz="1100" b="0">
                <a:solidFill>
                  <a:srgbClr val="2E2E2E"/>
                </a:solidFill>
                <a:latin typeface="Calibri"/>
              </a:rPr>
              <a:t/>
            </a:r>
          </a:p>
        </p:txBody>
      </p:sp>
      <p:sp>
        <p:nvSpPr>
          <p:cNvPr id="38" name="Rounded Rectangle 37"/>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B2E4A"/>
                </a:solidFill>
                <a:latin typeface="Calibri"/>
              </a:rPr>
              <a:t>Segment Overview</a:t>
            </a:r>
          </a:p>
        </p:txBody>
      </p:sp>
      <p:sp>
        <p:nvSpPr>
          <p:cNvPr id="40" name="Rectangle 39"/>
          <p:cNvSpPr/>
          <p:nvPr/>
        </p:nvSpPr>
        <p:spPr>
          <a:xfrm>
            <a:off x="8401050" y="4146897"/>
            <a:ext cx="3333750" cy="18254"/>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00ACAC"/>
                </a:solidFill>
                <a:latin typeface="Calibri"/>
              </a:rPr>
              <a:t>✓  </a:t>
            </a:r>
            <a:r>
              <a:rPr sz="1100" b="0">
                <a:solidFill>
                  <a:srgbClr val="2E2E2E"/>
                </a:solidFill>
                <a:latin typeface="Calibri"/>
              </a:rPr>
              <a:t>The Form split shows how demand is distributed across form types and where growth concentrates.</a:t>
            </a:r>
          </a:p>
          <a:p>
            <a:pPr algn="l">
              <a:lnSpc>
                <a:spcPct val="110000"/>
              </a:lnSpc>
              <a:spcBef>
                <a:spcPts val="0"/>
              </a:spcBef>
              <a:spcAft>
                <a:spcPts val="500"/>
              </a:spcAft>
            </a:pPr>
            <a:r>
              <a:rPr sz="1100" b="1">
                <a:solidFill>
                  <a:srgbClr val="00ACAC"/>
                </a:solidFill>
                <a:latin typeface="Calibri"/>
              </a:rPr>
              <a:t>✓  </a:t>
            </a:r>
            <a:r>
              <a:rPr sz="1100" b="0">
                <a:solidFill>
                  <a:srgbClr val="2E2E2E"/>
                </a:solidFill>
                <a:latin typeface="Calibri"/>
              </a:rPr>
              <a:t>Shifting preferences and product innovation are reshaping the mix through 2036.</a:t>
            </a:r>
          </a:p>
        </p:txBody>
      </p:sp>
      <p:sp>
        <p:nvSpPr>
          <p:cNvPr id="42" name="Rectangle 41"/>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B2E4A"/>
                </a:solidFill>
                <a:latin typeface="Calibri"/>
              </a:rPr>
              <a:t/>
            </a:r>
          </a:p>
        </p:txBody>
      </p:sp>
      <p:sp>
        <p:nvSpPr>
          <p:cNvPr id="44" name="TextBox 43"/>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TMR Analysis, 2026</a:t>
            </a:r>
          </a:p>
        </p:txBody>
      </p:sp>
      <p:sp>
        <p:nvSpPr>
          <p:cNvPr id="45" name="Rectangle 44"/>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47" name="Picture 46" descr="2_867_605E5C.png"/>
          <p:cNvPicPr>
            <a:picLocks noChangeAspect="1"/>
          </p:cNvPicPr>
          <p:nvPr/>
        </p:nvPicPr>
        <p:blipFill>
          <a:blip r:embed="rId4"/>
          <a:stretch>
            <a:fillRect/>
          </a:stretch>
        </p:blipFill>
        <p:spPr>
          <a:xfrm>
            <a:off x="3740773" y="2286582"/>
            <a:ext cx="1195728" cy="361950"/>
          </a:xfrm>
          <a:prstGeom prst="rect">
            <a:avLst/>
          </a:prstGeom>
        </p:spPr>
      </p:pic>
      <p:pic>
        <p:nvPicPr>
          <p:cNvPr id="48" name="Picture 47" descr="4_320_605E5C.png"/>
          <p:cNvPicPr>
            <a:picLocks noChangeAspect="1"/>
          </p:cNvPicPr>
          <p:nvPr/>
        </p:nvPicPr>
        <p:blipFill>
          <a:blip r:embed="rId5"/>
          <a:stretch>
            <a:fillRect/>
          </a:stretch>
        </p:blipFill>
        <p:spPr>
          <a:xfrm>
            <a:off x="3740773" y="2779432"/>
            <a:ext cx="1195728" cy="361950"/>
          </a:xfrm>
          <a:prstGeom prst="rect">
            <a:avLst/>
          </a:prstGeom>
        </p:spPr>
      </p:pic>
      <p:pic>
        <p:nvPicPr>
          <p:cNvPr id="49" name="Picture 48" descr="4_2__605E5C.png"/>
          <p:cNvPicPr>
            <a:picLocks noChangeAspect="1"/>
          </p:cNvPicPr>
          <p:nvPr/>
        </p:nvPicPr>
        <p:blipFill>
          <a:blip r:embed="rId6"/>
          <a:stretch>
            <a:fillRect/>
          </a:stretch>
        </p:blipFill>
        <p:spPr>
          <a:xfrm>
            <a:off x="3847419" y="3272281"/>
            <a:ext cx="982436" cy="361950"/>
          </a:xfrm>
          <a:prstGeom prst="rect">
            <a:avLst/>
          </a:prstGeom>
        </p:spPr>
      </p:pic>
      <p:pic>
        <p:nvPicPr>
          <p:cNvPr id="50" name="Picture 49" descr="738_2_605E5C.png"/>
          <p:cNvPicPr>
            <a:picLocks noChangeAspect="1"/>
          </p:cNvPicPr>
          <p:nvPr/>
        </p:nvPicPr>
        <p:blipFill>
          <a:blip r:embed="rId7"/>
          <a:stretch>
            <a:fillRect/>
          </a:stretch>
        </p:blipFill>
        <p:spPr>
          <a:xfrm>
            <a:off x="8798548" y="2286582"/>
            <a:ext cx="1195728" cy="361950"/>
          </a:xfrm>
          <a:prstGeom prst="rect">
            <a:avLst/>
          </a:prstGeom>
        </p:spPr>
      </p:pic>
      <p:pic>
        <p:nvPicPr>
          <p:cNvPr id="51" name="Picture 50" descr="1_045_605E5C.png"/>
          <p:cNvPicPr>
            <a:picLocks noChangeAspect="1"/>
          </p:cNvPicPr>
          <p:nvPr/>
        </p:nvPicPr>
        <p:blipFill>
          <a:blip r:embed="rId8"/>
          <a:stretch>
            <a:fillRect/>
          </a:stretch>
        </p:blipFill>
        <p:spPr>
          <a:xfrm>
            <a:off x="8798548" y="2779432"/>
            <a:ext cx="1195728" cy="361950"/>
          </a:xfrm>
          <a:prstGeom prst="rect">
            <a:avLst/>
          </a:prstGeom>
        </p:spPr>
      </p:pic>
      <p:pic>
        <p:nvPicPr>
          <p:cNvPr id="52" name="Picture 51" descr="3_5__605E5C.png"/>
          <p:cNvPicPr>
            <a:picLocks noChangeAspect="1"/>
          </p:cNvPicPr>
          <p:nvPr/>
        </p:nvPicPr>
        <p:blipFill>
          <a:blip r:embed="rId9"/>
          <a:stretch>
            <a:fillRect/>
          </a:stretch>
        </p:blipFill>
        <p:spPr>
          <a:xfrm>
            <a:off x="8905194" y="3272281"/>
            <a:ext cx="982436" cy="361950"/>
          </a:xfrm>
          <a:prstGeom prst="rect">
            <a:avLst/>
          </a:prstGeom>
        </p:spPr>
      </p:pic>
      <p:pic>
        <p:nvPicPr>
          <p:cNvPr id="53" name="Picture 52" descr="lock.png"/>
          <p:cNvPicPr>
            <a:picLocks noChangeAspect="1"/>
          </p:cNvPicPr>
          <p:nvPr/>
        </p:nvPicPr>
        <p:blipFill>
          <a:blip r:embed="rId10"/>
          <a:stretch>
            <a:fillRect/>
          </a:stretch>
        </p:blipFill>
        <p:spPr>
          <a:xfrm>
            <a:off x="4230493" y="2805915"/>
            <a:ext cx="212425" cy="308982"/>
          </a:xfrm>
          <a:prstGeom prst="rect">
            <a:avLst/>
          </a:prstGeom>
        </p:spPr>
      </p:pic>
      <p:pic>
        <p:nvPicPr>
          <p:cNvPr id="54" name="Picture 53" descr="lock.png"/>
          <p:cNvPicPr>
            <a:picLocks noChangeAspect="1"/>
          </p:cNvPicPr>
          <p:nvPr/>
        </p:nvPicPr>
        <p:blipFill>
          <a:blip r:embed="rId10"/>
          <a:stretch>
            <a:fillRect/>
          </a:stretch>
        </p:blipFill>
        <p:spPr>
          <a:xfrm>
            <a:off x="9288268" y="2805915"/>
            <a:ext cx="212425" cy="308982"/>
          </a:xfrm>
          <a:prstGeom prst="rect">
            <a:avLst/>
          </a:prstGeom>
        </p:spPr>
      </p:pic>
      <p:sp>
        <p:nvSpPr>
          <p:cNvPr id="55" name="TextBox 54"/>
          <p:cNvSpPr txBox="1"/>
          <p:nvPr/>
        </p:nvSpPr>
        <p:spPr>
          <a:xfrm>
            <a:off x="485775" y="4229437"/>
            <a:ext cx="2765970" cy="186689"/>
          </a:xfrm>
          <a:prstGeom prst="rect">
            <a:avLst/>
          </a:prstGeom>
          <a:noFill/>
        </p:spPr>
        <p:txBody>
          <a:bodyPr wrap="none" lIns="0" rIns="0" tIns="0" bIns="0">
            <a:spAutoFit/>
          </a:bodyPr>
          <a:lstStyle/>
          <a:p>
            <a:r>
              <a:rPr sz="1100" b="0">
                <a:solidFill>
                  <a:srgbClr val="2E2E2E"/>
                </a:solidFill>
                <a:latin typeface="Calibri"/>
              </a:rPr>
              <a:t>Among egg protein membrane by form, liquid /</a:t>
            </a:r>
          </a:p>
        </p:txBody>
      </p:sp>
      <p:sp>
        <p:nvSpPr>
          <p:cNvPr id="56" name="TextBox 55"/>
          <p:cNvSpPr txBox="1"/>
          <p:nvPr/>
        </p:nvSpPr>
        <p:spPr>
          <a:xfrm>
            <a:off x="485775" y="4397077"/>
            <a:ext cx="2795711" cy="186689"/>
          </a:xfrm>
          <a:prstGeom prst="rect">
            <a:avLst/>
          </a:prstGeom>
          <a:noFill/>
        </p:spPr>
        <p:txBody>
          <a:bodyPr wrap="none" lIns="0" rIns="0" tIns="0" bIns="0">
            <a:spAutoFit/>
          </a:bodyPr>
          <a:lstStyle/>
          <a:p>
            <a:r>
              <a:rPr sz="1100" b="0">
                <a:solidFill>
                  <a:srgbClr val="2E2E2E"/>
                </a:solidFill>
                <a:latin typeface="Calibri"/>
              </a:rPr>
              <a:t>concentrate segment is expected to witness the</a:t>
            </a:r>
          </a:p>
        </p:txBody>
      </p:sp>
      <p:sp>
        <p:nvSpPr>
          <p:cNvPr id="57" name="TextBox 56"/>
          <p:cNvSpPr txBox="1"/>
          <p:nvPr/>
        </p:nvSpPr>
        <p:spPr>
          <a:xfrm>
            <a:off x="485775" y="4564717"/>
            <a:ext cx="990781" cy="186689"/>
          </a:xfrm>
          <a:prstGeom prst="rect">
            <a:avLst/>
          </a:prstGeom>
          <a:noFill/>
        </p:spPr>
        <p:txBody>
          <a:bodyPr wrap="none" lIns="0" rIns="0" tIns="0" bIns="0">
            <a:spAutoFit/>
          </a:bodyPr>
          <a:lstStyle/>
          <a:p>
            <a:r>
              <a:rPr sz="1100" b="0">
                <a:solidFill>
                  <a:srgbClr val="2E2E2E"/>
                </a:solidFill>
                <a:latin typeface="Calibri"/>
              </a:rPr>
              <a:t>highest CAGR of</a:t>
            </a:r>
          </a:p>
        </p:txBody>
      </p:sp>
      <p:pic>
        <p:nvPicPr>
          <p:cNvPr id="58" name="Picture 57" descr="lock.png"/>
          <p:cNvPicPr>
            <a:picLocks noChangeAspect="1"/>
          </p:cNvPicPr>
          <p:nvPr/>
        </p:nvPicPr>
        <p:blipFill>
          <a:blip r:embed="rId10"/>
          <a:stretch>
            <a:fillRect/>
          </a:stretch>
        </p:blipFill>
        <p:spPr>
          <a:xfrm>
            <a:off x="1424607" y="4554938"/>
            <a:ext cx="128699" cy="187198"/>
          </a:xfrm>
          <a:prstGeom prst="rect">
            <a:avLst/>
          </a:prstGeom>
        </p:spPr>
      </p:pic>
      <p:sp>
        <p:nvSpPr>
          <p:cNvPr id="59" name="TextBox 58"/>
          <p:cNvSpPr txBox="1"/>
          <p:nvPr/>
        </p:nvSpPr>
        <p:spPr>
          <a:xfrm>
            <a:off x="1592103" y="4564717"/>
            <a:ext cx="1624905" cy="186689"/>
          </a:xfrm>
          <a:prstGeom prst="rect">
            <a:avLst/>
          </a:prstGeom>
          <a:noFill/>
        </p:spPr>
        <p:txBody>
          <a:bodyPr wrap="none" lIns="0" rIns="0" tIns="0" bIns="0">
            <a:spAutoFit/>
          </a:bodyPr>
          <a:lstStyle/>
          <a:p>
            <a:r>
              <a:rPr sz="1100" b="0">
                <a:solidFill>
                  <a:srgbClr val="2E2E2E"/>
                </a:solidFill>
                <a:latin typeface="Calibri"/>
              </a:rPr>
              <a:t>over the forecast period. In</a:t>
            </a:r>
          </a:p>
        </p:txBody>
      </p:sp>
      <p:sp>
        <p:nvSpPr>
          <p:cNvPr id="60" name="TextBox 59"/>
          <p:cNvSpPr txBox="1"/>
          <p:nvPr/>
        </p:nvSpPr>
        <p:spPr>
          <a:xfrm>
            <a:off x="485775" y="4732357"/>
            <a:ext cx="2404442" cy="186689"/>
          </a:xfrm>
          <a:prstGeom prst="rect">
            <a:avLst/>
          </a:prstGeom>
          <a:noFill/>
        </p:spPr>
        <p:txBody>
          <a:bodyPr wrap="none" lIns="0" rIns="0" tIns="0" bIns="0">
            <a:spAutoFit/>
          </a:bodyPr>
          <a:lstStyle/>
          <a:p>
            <a:r>
              <a:rPr sz="1100" b="0">
                <a:solidFill>
                  <a:srgbClr val="2E2E2E"/>
                </a:solidFill>
                <a:latin typeface="Calibri"/>
              </a:rPr>
              <a:t>terms of value share by form, the liquid /</a:t>
            </a:r>
          </a:p>
        </p:txBody>
      </p:sp>
      <p:sp>
        <p:nvSpPr>
          <p:cNvPr id="61" name="TextBox 60"/>
          <p:cNvSpPr txBox="1"/>
          <p:nvPr/>
        </p:nvSpPr>
        <p:spPr>
          <a:xfrm>
            <a:off x="485775" y="4899997"/>
            <a:ext cx="2912219" cy="186689"/>
          </a:xfrm>
          <a:prstGeom prst="rect">
            <a:avLst/>
          </a:prstGeom>
          <a:noFill/>
        </p:spPr>
        <p:txBody>
          <a:bodyPr wrap="none" lIns="0" rIns="0" tIns="0" bIns="0">
            <a:spAutoFit/>
          </a:bodyPr>
          <a:lstStyle/>
          <a:p>
            <a:r>
              <a:rPr sz="1100" b="0">
                <a:solidFill>
                  <a:srgbClr val="2E2E2E"/>
                </a:solidFill>
                <a:latin typeface="Calibri"/>
              </a:rPr>
              <a:t>concentrate segment is expected to dominate the</a:t>
            </a:r>
          </a:p>
        </p:txBody>
      </p:sp>
      <p:sp>
        <p:nvSpPr>
          <p:cNvPr id="62" name="TextBox 61"/>
          <p:cNvSpPr txBox="1"/>
          <p:nvPr/>
        </p:nvSpPr>
        <p:spPr>
          <a:xfrm>
            <a:off x="485775" y="5067637"/>
            <a:ext cx="959693" cy="186689"/>
          </a:xfrm>
          <a:prstGeom prst="rect">
            <a:avLst/>
          </a:prstGeom>
          <a:noFill/>
        </p:spPr>
        <p:txBody>
          <a:bodyPr wrap="none" lIns="0" rIns="0" tIns="0" bIns="0">
            <a:spAutoFit/>
          </a:bodyPr>
          <a:lstStyle/>
          <a:p>
            <a:r>
              <a:rPr sz="1100" b="0">
                <a:solidFill>
                  <a:srgbClr val="2E2E2E"/>
                </a:solidFill>
                <a:latin typeface="Calibri"/>
              </a:rPr>
              <a:t>market, gaining</a:t>
            </a:r>
          </a:p>
        </p:txBody>
      </p:sp>
      <p:pic>
        <p:nvPicPr>
          <p:cNvPr id="63" name="Picture 62" descr="lock.png"/>
          <p:cNvPicPr>
            <a:picLocks noChangeAspect="1"/>
          </p:cNvPicPr>
          <p:nvPr/>
        </p:nvPicPr>
        <p:blipFill>
          <a:blip r:embed="rId10"/>
          <a:stretch>
            <a:fillRect/>
          </a:stretch>
        </p:blipFill>
        <p:spPr>
          <a:xfrm>
            <a:off x="1393519" y="5057858"/>
            <a:ext cx="128699" cy="187198"/>
          </a:xfrm>
          <a:prstGeom prst="rect">
            <a:avLst/>
          </a:prstGeom>
        </p:spPr>
      </p:pic>
      <p:sp>
        <p:nvSpPr>
          <p:cNvPr id="64" name="TextBox 63"/>
          <p:cNvSpPr txBox="1"/>
          <p:nvPr/>
        </p:nvSpPr>
        <p:spPr>
          <a:xfrm>
            <a:off x="1561015" y="5067637"/>
            <a:ext cx="1386433" cy="186689"/>
          </a:xfrm>
          <a:prstGeom prst="rect">
            <a:avLst/>
          </a:prstGeom>
          <a:noFill/>
        </p:spPr>
        <p:txBody>
          <a:bodyPr wrap="none" lIns="0" rIns="0" tIns="0" bIns="0">
            <a:spAutoFit/>
          </a:bodyPr>
          <a:lstStyle/>
          <a:p>
            <a:r>
              <a:rPr sz="1100" b="0">
                <a:solidFill>
                  <a:srgbClr val="2E2E2E"/>
                </a:solidFill>
                <a:latin typeface="Calibri"/>
              </a:rPr>
              <a:t>BPS and accounting for</a:t>
            </a:r>
          </a:p>
        </p:txBody>
      </p:sp>
      <p:pic>
        <p:nvPicPr>
          <p:cNvPr id="65" name="Picture 64" descr="lock.png"/>
          <p:cNvPicPr>
            <a:picLocks noChangeAspect="1"/>
          </p:cNvPicPr>
          <p:nvPr/>
        </p:nvPicPr>
        <p:blipFill>
          <a:blip r:embed="rId10"/>
          <a:stretch>
            <a:fillRect/>
          </a:stretch>
        </p:blipFill>
        <p:spPr>
          <a:xfrm>
            <a:off x="2895500" y="5057858"/>
            <a:ext cx="128699" cy="187198"/>
          </a:xfrm>
          <a:prstGeom prst="rect">
            <a:avLst/>
          </a:prstGeom>
        </p:spPr>
      </p:pic>
      <p:sp>
        <p:nvSpPr>
          <p:cNvPr id="66" name="TextBox 65"/>
          <p:cNvSpPr txBox="1"/>
          <p:nvPr/>
        </p:nvSpPr>
        <p:spPr>
          <a:xfrm>
            <a:off x="485775" y="5235277"/>
            <a:ext cx="908397" cy="186689"/>
          </a:xfrm>
          <a:prstGeom prst="rect">
            <a:avLst/>
          </a:prstGeom>
          <a:noFill/>
        </p:spPr>
        <p:txBody>
          <a:bodyPr wrap="none" lIns="0" rIns="0" tIns="0" bIns="0">
            <a:spAutoFit/>
          </a:bodyPr>
          <a:lstStyle/>
          <a:p>
            <a:r>
              <a:rPr sz="1100" b="0">
                <a:solidFill>
                  <a:srgbClr val="2E2E2E"/>
                </a:solidFill>
                <a:latin typeface="Calibri"/>
              </a:rPr>
              <a:t>share by 2036.</a:t>
            </a:r>
          </a:p>
        </p:txBody>
      </p:sp>
      <p:sp>
        <p:nvSpPr>
          <p:cNvPr id="67" name="TextBox 66"/>
          <p:cNvSpPr txBox="1"/>
          <p:nvPr/>
        </p:nvSpPr>
        <p:spPr>
          <a:xfrm>
            <a:off x="485775" y="5453209"/>
            <a:ext cx="2597894" cy="186689"/>
          </a:xfrm>
          <a:prstGeom prst="rect">
            <a:avLst/>
          </a:prstGeom>
          <a:noFill/>
        </p:spPr>
        <p:txBody>
          <a:bodyPr wrap="none" lIns="0" rIns="0" tIns="0" bIns="0">
            <a:spAutoFit/>
          </a:bodyPr>
          <a:lstStyle/>
          <a:p>
            <a:r>
              <a:rPr sz="1100" b="0">
                <a:solidFill>
                  <a:srgbClr val="2E2E2E"/>
                </a:solidFill>
                <a:latin typeface="Calibri"/>
              </a:rPr>
              <a:t>Liquid / concentrate segment is projected to</a:t>
            </a:r>
          </a:p>
        </p:txBody>
      </p:sp>
      <p:sp>
        <p:nvSpPr>
          <p:cNvPr id="68" name="TextBox 67"/>
          <p:cNvSpPr txBox="1"/>
          <p:nvPr/>
        </p:nvSpPr>
        <p:spPr>
          <a:xfrm>
            <a:off x="485775" y="5620849"/>
            <a:ext cx="512489" cy="186689"/>
          </a:xfrm>
          <a:prstGeom prst="rect">
            <a:avLst/>
          </a:prstGeom>
          <a:noFill/>
        </p:spPr>
        <p:txBody>
          <a:bodyPr wrap="none" lIns="0" rIns="0" tIns="0" bIns="0">
            <a:spAutoFit/>
          </a:bodyPr>
          <a:lstStyle/>
          <a:p>
            <a:r>
              <a:rPr sz="1100" b="0">
                <a:solidFill>
                  <a:srgbClr val="2E2E2E"/>
                </a:solidFill>
                <a:latin typeface="Calibri"/>
              </a:rPr>
              <a:t>register</a:t>
            </a:r>
          </a:p>
        </p:txBody>
      </p:sp>
      <p:pic>
        <p:nvPicPr>
          <p:cNvPr id="69" name="Picture 68" descr="lock.png"/>
          <p:cNvPicPr>
            <a:picLocks noChangeAspect="1"/>
          </p:cNvPicPr>
          <p:nvPr/>
        </p:nvPicPr>
        <p:blipFill>
          <a:blip r:embed="rId10"/>
          <a:stretch>
            <a:fillRect/>
          </a:stretch>
        </p:blipFill>
        <p:spPr>
          <a:xfrm>
            <a:off x="946316" y="5611070"/>
            <a:ext cx="128699" cy="187198"/>
          </a:xfrm>
          <a:prstGeom prst="rect">
            <a:avLst/>
          </a:prstGeom>
        </p:spPr>
      </p:pic>
      <p:sp>
        <p:nvSpPr>
          <p:cNvPr id="70" name="TextBox 69"/>
          <p:cNvSpPr txBox="1"/>
          <p:nvPr/>
        </p:nvSpPr>
        <p:spPr>
          <a:xfrm>
            <a:off x="1113812" y="5620849"/>
            <a:ext cx="2165970" cy="186689"/>
          </a:xfrm>
          <a:prstGeom prst="rect">
            <a:avLst/>
          </a:prstGeom>
          <a:noFill/>
        </p:spPr>
        <p:txBody>
          <a:bodyPr wrap="none" lIns="0" rIns="0" tIns="0" bIns="0">
            <a:spAutoFit/>
          </a:bodyPr>
          <a:lstStyle/>
          <a:p>
            <a:r>
              <a:rPr sz="1100" b="0">
                <a:solidFill>
                  <a:srgbClr val="2E2E2E"/>
                </a:solidFill>
                <a:latin typeface="Calibri"/>
              </a:rPr>
              <a:t>X higher value than powder segment</a:t>
            </a:r>
          </a:p>
        </p:txBody>
      </p:sp>
      <p:sp>
        <p:nvSpPr>
          <p:cNvPr id="71" name="TextBox 70"/>
          <p:cNvSpPr txBox="1"/>
          <p:nvPr/>
        </p:nvSpPr>
        <p:spPr>
          <a:xfrm>
            <a:off x="485775" y="5788489"/>
            <a:ext cx="532407" cy="186689"/>
          </a:xfrm>
          <a:prstGeom prst="rect">
            <a:avLst/>
          </a:prstGeom>
          <a:noFill/>
        </p:spPr>
        <p:txBody>
          <a:bodyPr wrap="none" lIns="0" rIns="0" tIns="0" bIns="0">
            <a:spAutoFit/>
          </a:bodyPr>
          <a:lstStyle/>
          <a:p>
            <a:r>
              <a:rPr sz="1100" b="0">
                <a:solidFill>
                  <a:srgbClr val="2E2E2E"/>
                </a:solidFill>
                <a:latin typeface="Calibri"/>
              </a:rPr>
              <a:t>in 2036.</a:t>
            </a:r>
          </a:p>
        </p:txBody>
      </p:sp>
      <p:sp>
        <p:nvSpPr>
          <p:cNvPr id="72" name="TextBox 71"/>
          <p:cNvSpPr txBox="1"/>
          <p:nvPr/>
        </p:nvSpPr>
        <p:spPr>
          <a:xfrm>
            <a:off x="3838575" y="4229437"/>
            <a:ext cx="1392981" cy="186689"/>
          </a:xfrm>
          <a:prstGeom prst="rect">
            <a:avLst/>
          </a:prstGeom>
          <a:noFill/>
        </p:spPr>
        <p:txBody>
          <a:bodyPr wrap="none" lIns="0" rIns="0" tIns="0" bIns="0">
            <a:spAutoFit/>
          </a:bodyPr>
          <a:lstStyle/>
          <a:p>
            <a:r>
              <a:rPr sz="1100" b="0">
                <a:solidFill>
                  <a:srgbClr val="2E2E2E"/>
                </a:solidFill>
                <a:latin typeface="Calibri"/>
              </a:rPr>
              <a:t>● Liquid / Concentrate:</a:t>
            </a:r>
          </a:p>
        </p:txBody>
      </p:sp>
      <p:pic>
        <p:nvPicPr>
          <p:cNvPr id="73" name="Picture 72" descr="lock.png"/>
          <p:cNvPicPr>
            <a:picLocks noChangeAspect="1"/>
          </p:cNvPicPr>
          <p:nvPr/>
        </p:nvPicPr>
        <p:blipFill>
          <a:blip r:embed="rId10"/>
          <a:stretch>
            <a:fillRect/>
          </a:stretch>
        </p:blipFill>
        <p:spPr>
          <a:xfrm>
            <a:off x="5179608" y="4219658"/>
            <a:ext cx="128699" cy="187198"/>
          </a:xfrm>
          <a:prstGeom prst="rect">
            <a:avLst/>
          </a:prstGeom>
        </p:spPr>
      </p:pic>
      <p:sp>
        <p:nvSpPr>
          <p:cNvPr id="74" name="TextBox 73"/>
          <p:cNvSpPr txBox="1"/>
          <p:nvPr/>
        </p:nvSpPr>
        <p:spPr>
          <a:xfrm>
            <a:off x="5347104" y="422943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75" name="Picture 74" descr="lock.png"/>
          <p:cNvPicPr>
            <a:picLocks noChangeAspect="1"/>
          </p:cNvPicPr>
          <p:nvPr/>
        </p:nvPicPr>
        <p:blipFill>
          <a:blip r:embed="rId10"/>
          <a:stretch>
            <a:fillRect/>
          </a:stretch>
        </p:blipFill>
        <p:spPr>
          <a:xfrm>
            <a:off x="6206554" y="4219658"/>
            <a:ext cx="128699" cy="187198"/>
          </a:xfrm>
          <a:prstGeom prst="rect">
            <a:avLst/>
          </a:prstGeom>
        </p:spPr>
      </p:pic>
      <p:sp>
        <p:nvSpPr>
          <p:cNvPr id="76" name="TextBox 75"/>
          <p:cNvSpPr txBox="1"/>
          <p:nvPr/>
        </p:nvSpPr>
        <p:spPr>
          <a:xfrm>
            <a:off x="6374050" y="4229437"/>
            <a:ext cx="945215" cy="186689"/>
          </a:xfrm>
          <a:prstGeom prst="rect">
            <a:avLst/>
          </a:prstGeom>
          <a:noFill/>
        </p:spPr>
        <p:txBody>
          <a:bodyPr wrap="none" lIns="0" rIns="0" tIns="0" bIns="0">
            <a:spAutoFit/>
          </a:bodyPr>
          <a:lstStyle/>
          <a:p>
            <a:r>
              <a:rPr sz="1100" b="0">
                <a:solidFill>
                  <a:srgbClr val="2E2E2E"/>
                </a:solidFill>
                <a:latin typeface="Calibri"/>
              </a:rPr>
              <a:t>CAGR leads the</a:t>
            </a:r>
          </a:p>
        </p:txBody>
      </p:sp>
      <p:sp>
        <p:nvSpPr>
          <p:cNvPr id="77" name="TextBox 76"/>
          <p:cNvSpPr txBox="1"/>
          <p:nvPr/>
        </p:nvSpPr>
        <p:spPr>
          <a:xfrm>
            <a:off x="3838575" y="4397077"/>
            <a:ext cx="602803" cy="186689"/>
          </a:xfrm>
          <a:prstGeom prst="rect">
            <a:avLst/>
          </a:prstGeom>
          <a:noFill/>
        </p:spPr>
        <p:txBody>
          <a:bodyPr wrap="none" lIns="0" rIns="0" tIns="0" bIns="0">
            <a:spAutoFit/>
          </a:bodyPr>
          <a:lstStyle/>
          <a:p>
            <a:r>
              <a:rPr sz="1100" b="0">
                <a:solidFill>
                  <a:srgbClr val="2E2E2E"/>
                </a:solidFill>
                <a:latin typeface="Calibri"/>
              </a:rPr>
              <a:t>segment.</a:t>
            </a:r>
          </a:p>
        </p:txBody>
      </p:sp>
      <p:sp>
        <p:nvSpPr>
          <p:cNvPr id="78" name="TextBox 77"/>
          <p:cNvSpPr txBox="1"/>
          <p:nvPr/>
        </p:nvSpPr>
        <p:spPr>
          <a:xfrm>
            <a:off x="3838575" y="4615009"/>
            <a:ext cx="667196" cy="186689"/>
          </a:xfrm>
          <a:prstGeom prst="rect">
            <a:avLst/>
          </a:prstGeom>
          <a:noFill/>
        </p:spPr>
        <p:txBody>
          <a:bodyPr wrap="none" lIns="0" rIns="0" tIns="0" bIns="0">
            <a:spAutoFit/>
          </a:bodyPr>
          <a:lstStyle/>
          <a:p>
            <a:r>
              <a:rPr sz="1100" b="0">
                <a:solidFill>
                  <a:srgbClr val="2E2E2E"/>
                </a:solidFill>
                <a:latin typeface="Calibri"/>
              </a:rPr>
              <a:t>● Powder:</a:t>
            </a:r>
          </a:p>
        </p:txBody>
      </p:sp>
      <p:pic>
        <p:nvPicPr>
          <p:cNvPr id="79" name="Picture 78" descr="lock.png"/>
          <p:cNvPicPr>
            <a:picLocks noChangeAspect="1"/>
          </p:cNvPicPr>
          <p:nvPr/>
        </p:nvPicPr>
        <p:blipFill>
          <a:blip r:embed="rId10"/>
          <a:stretch>
            <a:fillRect/>
          </a:stretch>
        </p:blipFill>
        <p:spPr>
          <a:xfrm>
            <a:off x="4453823" y="4605230"/>
            <a:ext cx="128699" cy="187198"/>
          </a:xfrm>
          <a:prstGeom prst="rect">
            <a:avLst/>
          </a:prstGeom>
        </p:spPr>
      </p:pic>
      <p:sp>
        <p:nvSpPr>
          <p:cNvPr id="80" name="TextBox 79"/>
          <p:cNvSpPr txBox="1"/>
          <p:nvPr/>
        </p:nvSpPr>
        <p:spPr>
          <a:xfrm>
            <a:off x="4621318" y="4615009"/>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81" name="Picture 80" descr="lock.png"/>
          <p:cNvPicPr>
            <a:picLocks noChangeAspect="1"/>
          </p:cNvPicPr>
          <p:nvPr/>
        </p:nvPicPr>
        <p:blipFill>
          <a:blip r:embed="rId10"/>
          <a:stretch>
            <a:fillRect/>
          </a:stretch>
        </p:blipFill>
        <p:spPr>
          <a:xfrm>
            <a:off x="5480769" y="4605230"/>
            <a:ext cx="128699" cy="187198"/>
          </a:xfrm>
          <a:prstGeom prst="rect">
            <a:avLst/>
          </a:prstGeom>
        </p:spPr>
      </p:pic>
      <p:sp>
        <p:nvSpPr>
          <p:cNvPr id="82" name="TextBox 81"/>
          <p:cNvSpPr txBox="1"/>
          <p:nvPr/>
        </p:nvSpPr>
        <p:spPr>
          <a:xfrm>
            <a:off x="5648264" y="4615009"/>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83" name="TextBox 82"/>
          <p:cNvSpPr txBox="1"/>
          <p:nvPr/>
        </p:nvSpPr>
        <p:spPr>
          <a:xfrm>
            <a:off x="8524875" y="5842641"/>
            <a:ext cx="3089283" cy="194310"/>
          </a:xfrm>
          <a:prstGeom prst="rect">
            <a:avLst/>
          </a:prstGeom>
          <a:noFill/>
        </p:spPr>
        <p:txBody>
          <a:bodyPr wrap="none" lIns="0" rIns="0" tIns="0" bIns="0">
            <a:spAutoFit/>
          </a:bodyPr>
          <a:lstStyle/>
          <a:p>
            <a:r>
              <a:rPr sz="1150" b="1">
                <a:solidFill>
                  <a:srgbClr val="0B2E4A"/>
                </a:solidFill>
                <a:latin typeface="Calibri"/>
              </a:rPr>
              <a:t>The Form segment is projected to grow at a CAGR</a:t>
            </a:r>
          </a:p>
        </p:txBody>
      </p:sp>
      <p:sp>
        <p:nvSpPr>
          <p:cNvPr id="84" name="TextBox 83"/>
          <p:cNvSpPr txBox="1"/>
          <p:nvPr/>
        </p:nvSpPr>
        <p:spPr>
          <a:xfrm>
            <a:off x="8524875" y="6017901"/>
            <a:ext cx="200855" cy="194310"/>
          </a:xfrm>
          <a:prstGeom prst="rect">
            <a:avLst/>
          </a:prstGeom>
          <a:noFill/>
        </p:spPr>
        <p:txBody>
          <a:bodyPr wrap="none" lIns="0" rIns="0" tIns="0" bIns="0">
            <a:spAutoFit/>
          </a:bodyPr>
          <a:lstStyle/>
          <a:p>
            <a:r>
              <a:rPr sz="1150" b="1">
                <a:solidFill>
                  <a:srgbClr val="0B2E4A"/>
                </a:solidFill>
                <a:latin typeface="Calibri"/>
              </a:rPr>
              <a:t>of</a:t>
            </a:r>
          </a:p>
        </p:txBody>
      </p:sp>
      <p:pic>
        <p:nvPicPr>
          <p:cNvPr id="85" name="Picture 84" descr="lock.png"/>
          <p:cNvPicPr>
            <a:picLocks noChangeAspect="1"/>
          </p:cNvPicPr>
          <p:nvPr/>
        </p:nvPicPr>
        <p:blipFill>
          <a:blip r:embed="rId10"/>
          <a:stretch>
            <a:fillRect/>
          </a:stretch>
        </p:blipFill>
        <p:spPr>
          <a:xfrm>
            <a:off x="8674884" y="6007677"/>
            <a:ext cx="134549" cy="195707"/>
          </a:xfrm>
          <a:prstGeom prst="rect">
            <a:avLst/>
          </a:prstGeom>
        </p:spPr>
      </p:pic>
      <p:sp>
        <p:nvSpPr>
          <p:cNvPr id="86" name="TextBox 85"/>
          <p:cNvSpPr txBox="1"/>
          <p:nvPr/>
        </p:nvSpPr>
        <p:spPr>
          <a:xfrm>
            <a:off x="8849994" y="6017901"/>
            <a:ext cx="1232619" cy="194310"/>
          </a:xfrm>
          <a:prstGeom prst="rect">
            <a:avLst/>
          </a:prstGeom>
          <a:noFill/>
        </p:spPr>
        <p:txBody>
          <a:bodyPr wrap="none" lIns="0" rIns="0" tIns="0" bIns="0">
            <a:spAutoFit/>
          </a:bodyPr>
          <a:lstStyle/>
          <a:p>
            <a:r>
              <a:rPr sz="1150" b="1">
                <a:solidFill>
                  <a:srgbClr val="0B2E4A"/>
                </a:solidFill>
                <a:latin typeface="Calibri"/>
              </a:rPr>
              <a:t>from 2026 to 2036.</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Structure &amp; Attractiveness, By Form (Value)</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Form mix within each country and the attractiveness of each sub-segment on growth and size</a:t>
            </a:r>
          </a:p>
        </p:txBody>
      </p:sp>
      <p:sp>
        <p:nvSpPr>
          <p:cNvPr id="7" name="Rounded Rectangle 6"/>
          <p:cNvSpPr/>
          <p:nvPr/>
        </p:nvSpPr>
        <p:spPr>
          <a:xfrm>
            <a:off x="142875" y="981075"/>
            <a:ext cx="6343650" cy="4324350"/>
          </a:xfrm>
          <a:prstGeom prst="roundRect">
            <a:avLst>
              <a:gd name="adj" fmla="val 1762"/>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6153150"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Form mix within each country (share of 2036 value) · row label = country size (US$ Mn), largest first</a:t>
            </a:r>
          </a:p>
        </p:txBody>
      </p:sp>
      <p:graphicFrame>
        <p:nvGraphicFramePr>
          <p:cNvPr id="9" name="Chart 8"/>
          <p:cNvGraphicFramePr>
            <a:graphicFrameLocks noGrp="1"/>
          </p:cNvGraphicFramePr>
          <p:nvPr/>
        </p:nvGraphicFramePr>
        <p:xfrm>
          <a:off x="238125" y="1438275"/>
          <a:ext cx="6153150" cy="3810000"/>
        </p:xfrm>
        <a:graphic>
          <a:graphicData uri="http://schemas.openxmlformats.org/drawingml/2006/chart">
            <c:chart xmlns:c="http://schemas.openxmlformats.org/drawingml/2006/chart" r:id="rId3"/>
          </a:graphicData>
        </a:graphic>
      </p:graphicFrame>
      <p:sp>
        <p:nvSpPr>
          <p:cNvPr id="10" name="Rounded Rectangle 9"/>
          <p:cNvSpPr/>
          <p:nvPr/>
        </p:nvSpPr>
        <p:spPr>
          <a:xfrm>
            <a:off x="6638925" y="981075"/>
            <a:ext cx="5400675" cy="4324350"/>
          </a:xfrm>
          <a:prstGeom prst="roundRect">
            <a:avLst>
              <a:gd name="adj" fmla="val 1762"/>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34175" y="1038225"/>
            <a:ext cx="521017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Attractiveness, By Form · Bubble size represents 2036 value</a:t>
            </a:r>
          </a:p>
        </p:txBody>
      </p:sp>
      <p:graphicFrame>
        <p:nvGraphicFramePr>
          <p:cNvPr id="12" name="Chart 11"/>
          <p:cNvGraphicFramePr>
            <a:graphicFrameLocks noGrp="1"/>
          </p:cNvGraphicFramePr>
          <p:nvPr/>
        </p:nvGraphicFramePr>
        <p:xfrm>
          <a:off x="6734175" y="1266825"/>
          <a:ext cx="5210175" cy="3981450"/>
        </p:xfrm>
        <a:graphic>
          <a:graphicData uri="http://schemas.openxmlformats.org/drawingml/2006/chart">
            <c:chart xmlns:c="http://schemas.openxmlformats.org/drawingml/2006/chart" r:id="rId4"/>
          </a:graphicData>
        </a:graphic>
      </p:graphicFrame>
      <p:sp>
        <p:nvSpPr>
          <p:cNvPr id="13" name="Rounded Rectangle 12"/>
          <p:cNvSpPr/>
          <p:nvPr/>
        </p:nvSpPr>
        <p:spPr>
          <a:xfrm>
            <a:off x="142875" y="5438775"/>
            <a:ext cx="11906250" cy="1181100"/>
          </a:xfrm>
          <a:prstGeom prst="roundRect">
            <a:avLst>
              <a:gd name="adj" fmla="val 6451"/>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14" name="Rectangle 13"/>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6" name="Picture 15" descr="lock.png"/>
          <p:cNvPicPr>
            <a:picLocks noChangeAspect="1"/>
          </p:cNvPicPr>
          <p:nvPr/>
        </p:nvPicPr>
        <p:blipFill>
          <a:blip r:embed="rId6"/>
          <a:stretch>
            <a:fillRect/>
          </a:stretch>
        </p:blipFill>
        <p:spPr>
          <a:xfrm>
            <a:off x="3484684" y="3024134"/>
            <a:ext cx="320946" cy="466830"/>
          </a:xfrm>
          <a:prstGeom prst="rect">
            <a:avLst/>
          </a:prstGeom>
        </p:spPr>
      </p:pic>
      <p:sp>
        <p:nvSpPr>
          <p:cNvPr id="17" name="TextBox 16"/>
          <p:cNvSpPr txBox="1"/>
          <p:nvPr/>
        </p:nvSpPr>
        <p:spPr>
          <a:xfrm>
            <a:off x="257175" y="5777865"/>
            <a:ext cx="11634465" cy="186689"/>
          </a:xfrm>
          <a:prstGeom prst="rect">
            <a:avLst/>
          </a:prstGeom>
          <a:noFill/>
        </p:spPr>
        <p:txBody>
          <a:bodyPr wrap="none" lIns="0" rIns="0" tIns="0" bIns="0">
            <a:spAutoFit/>
          </a:bodyPr>
          <a:lstStyle/>
          <a:p>
            <a:r>
              <a:rPr sz="1100" b="0">
                <a:solidFill>
                  <a:srgbClr val="2E2E2E"/>
                </a:solidFill>
                <a:latin typeface="Calibri"/>
              </a:rPr>
              <a:t>Liquid / concentrate followed by powder are expected to be the two most attractive form segments in the North America egg protein membrane market in terms of value over the forecast period. Liquid /</a:t>
            </a:r>
          </a:p>
        </p:txBody>
      </p:sp>
      <p:sp>
        <p:nvSpPr>
          <p:cNvPr id="18" name="TextBox 17"/>
          <p:cNvSpPr txBox="1"/>
          <p:nvPr/>
        </p:nvSpPr>
        <p:spPr>
          <a:xfrm>
            <a:off x="257175" y="5945505"/>
            <a:ext cx="2837440" cy="186689"/>
          </a:xfrm>
          <a:prstGeom prst="rect">
            <a:avLst/>
          </a:prstGeom>
          <a:noFill/>
        </p:spPr>
        <p:txBody>
          <a:bodyPr wrap="none" lIns="0" rIns="0" tIns="0" bIns="0">
            <a:spAutoFit/>
          </a:bodyPr>
          <a:lstStyle/>
          <a:p>
            <a:r>
              <a:rPr sz="1100" b="0">
                <a:solidFill>
                  <a:srgbClr val="2E2E2E"/>
                </a:solidFill>
                <a:latin typeface="Calibri"/>
              </a:rPr>
              <a:t>concentrate and powder exhibit a CAGR index of</a:t>
            </a:r>
          </a:p>
        </p:txBody>
      </p:sp>
      <p:pic>
        <p:nvPicPr>
          <p:cNvPr id="19" name="Picture 18" descr="lock.png"/>
          <p:cNvPicPr>
            <a:picLocks noChangeAspect="1"/>
          </p:cNvPicPr>
          <p:nvPr/>
        </p:nvPicPr>
        <p:blipFill>
          <a:blip r:embed="rId6"/>
          <a:stretch>
            <a:fillRect/>
          </a:stretch>
        </p:blipFill>
        <p:spPr>
          <a:xfrm>
            <a:off x="3042667" y="5935726"/>
            <a:ext cx="128699" cy="187198"/>
          </a:xfrm>
          <a:prstGeom prst="rect">
            <a:avLst/>
          </a:prstGeom>
        </p:spPr>
      </p:pic>
      <p:sp>
        <p:nvSpPr>
          <p:cNvPr id="20" name="TextBox 19"/>
          <p:cNvSpPr txBox="1"/>
          <p:nvPr/>
        </p:nvSpPr>
        <p:spPr>
          <a:xfrm>
            <a:off x="3210163" y="594550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1" name="Picture 20" descr="lock.png"/>
          <p:cNvPicPr>
            <a:picLocks noChangeAspect="1"/>
          </p:cNvPicPr>
          <p:nvPr/>
        </p:nvPicPr>
        <p:blipFill>
          <a:blip r:embed="rId6"/>
          <a:stretch>
            <a:fillRect/>
          </a:stretch>
        </p:blipFill>
        <p:spPr>
          <a:xfrm>
            <a:off x="3448057" y="5935726"/>
            <a:ext cx="128699" cy="187198"/>
          </a:xfrm>
          <a:prstGeom prst="rect">
            <a:avLst/>
          </a:prstGeom>
        </p:spPr>
      </p:pic>
      <p:sp>
        <p:nvSpPr>
          <p:cNvPr id="22" name="TextBox 21"/>
          <p:cNvSpPr txBox="1"/>
          <p:nvPr/>
        </p:nvSpPr>
        <p:spPr>
          <a:xfrm>
            <a:off x="3615553" y="5945505"/>
            <a:ext cx="1660921" cy="186689"/>
          </a:xfrm>
          <a:prstGeom prst="rect">
            <a:avLst/>
          </a:prstGeom>
          <a:noFill/>
        </p:spPr>
        <p:txBody>
          <a:bodyPr wrap="none" lIns="0" rIns="0" tIns="0" bIns="0">
            <a:spAutoFit/>
          </a:bodyPr>
          <a:lstStyle/>
          <a:p>
            <a:r>
              <a:rPr sz="1100" b="0">
                <a:solidFill>
                  <a:srgbClr val="2E2E2E"/>
                </a:solidFill>
                <a:latin typeface="Calibri"/>
              </a:rPr>
              <a:t>and a market share index of</a:t>
            </a:r>
          </a:p>
        </p:txBody>
      </p:sp>
      <p:pic>
        <p:nvPicPr>
          <p:cNvPr id="23" name="Picture 22" descr="lock.png"/>
          <p:cNvPicPr>
            <a:picLocks noChangeAspect="1"/>
          </p:cNvPicPr>
          <p:nvPr/>
        </p:nvPicPr>
        <p:blipFill>
          <a:blip r:embed="rId6"/>
          <a:stretch>
            <a:fillRect/>
          </a:stretch>
        </p:blipFill>
        <p:spPr>
          <a:xfrm>
            <a:off x="5224526" y="5935726"/>
            <a:ext cx="128699" cy="187198"/>
          </a:xfrm>
          <a:prstGeom prst="rect">
            <a:avLst/>
          </a:prstGeom>
        </p:spPr>
      </p:pic>
      <p:sp>
        <p:nvSpPr>
          <p:cNvPr id="24" name="TextBox 23"/>
          <p:cNvSpPr txBox="1"/>
          <p:nvPr/>
        </p:nvSpPr>
        <p:spPr>
          <a:xfrm>
            <a:off x="5392022" y="594550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5" name="Picture 24" descr="lock.png"/>
          <p:cNvPicPr>
            <a:picLocks noChangeAspect="1"/>
          </p:cNvPicPr>
          <p:nvPr/>
        </p:nvPicPr>
        <p:blipFill>
          <a:blip r:embed="rId6"/>
          <a:stretch>
            <a:fillRect/>
          </a:stretch>
        </p:blipFill>
        <p:spPr>
          <a:xfrm>
            <a:off x="5629917" y="5935726"/>
            <a:ext cx="128699" cy="187198"/>
          </a:xfrm>
          <a:prstGeom prst="rect">
            <a:avLst/>
          </a:prstGeom>
        </p:spPr>
      </p:pic>
      <p:sp>
        <p:nvSpPr>
          <p:cNvPr id="26" name="TextBox 25"/>
          <p:cNvSpPr txBox="1"/>
          <p:nvPr/>
        </p:nvSpPr>
        <p:spPr>
          <a:xfrm>
            <a:off x="5797412" y="5945505"/>
            <a:ext cx="2606352" cy="186689"/>
          </a:xfrm>
          <a:prstGeom prst="rect">
            <a:avLst/>
          </a:prstGeom>
          <a:noFill/>
        </p:spPr>
        <p:txBody>
          <a:bodyPr wrap="none" lIns="0" rIns="0" tIns="0" bIns="0">
            <a:spAutoFit/>
          </a:bodyPr>
          <a:lstStyle/>
          <a:p>
            <a:r>
              <a:rPr sz="1100" b="0">
                <a:solidFill>
                  <a:srgbClr val="2E2E2E"/>
                </a:solidFill>
                <a:latin typeface="Calibri"/>
              </a:rPr>
              <a:t>respectively, against the segment average of</a:t>
            </a:r>
          </a:p>
        </p:txBody>
      </p:sp>
      <p:pic>
        <p:nvPicPr>
          <p:cNvPr id="27" name="Picture 26" descr="lock.png"/>
          <p:cNvPicPr>
            <a:picLocks noChangeAspect="1"/>
          </p:cNvPicPr>
          <p:nvPr/>
        </p:nvPicPr>
        <p:blipFill>
          <a:blip r:embed="rId6"/>
          <a:stretch>
            <a:fillRect/>
          </a:stretch>
        </p:blipFill>
        <p:spPr>
          <a:xfrm>
            <a:off x="8351816" y="5935726"/>
            <a:ext cx="128699" cy="187198"/>
          </a:xfrm>
          <a:prstGeom prst="rect">
            <a:avLst/>
          </a:prstGeom>
        </p:spPr>
      </p:pic>
      <p:sp>
        <p:nvSpPr>
          <p:cNvPr id="28" name="TextBox 27"/>
          <p:cNvSpPr txBox="1"/>
          <p:nvPr/>
        </p:nvSpPr>
        <p:spPr>
          <a:xfrm>
            <a:off x="8519312" y="5945505"/>
            <a:ext cx="2889555" cy="186689"/>
          </a:xfrm>
          <a:prstGeom prst="rect">
            <a:avLst/>
          </a:prstGeom>
          <a:noFill/>
        </p:spPr>
        <p:txBody>
          <a:bodyPr wrap="none" lIns="0" rIns="0" tIns="0" bIns="0">
            <a:spAutoFit/>
          </a:bodyPr>
          <a:lstStyle/>
          <a:p>
            <a:r>
              <a:rPr sz="1100" b="0">
                <a:solidFill>
                  <a:srgbClr val="2E2E2E"/>
                </a:solidFill>
                <a:latin typeface="Calibri"/>
              </a:rPr>
              <a:t>. Bubbles right of the CAGR-Index line grow faster</a:t>
            </a:r>
          </a:p>
        </p:txBody>
      </p:sp>
      <p:sp>
        <p:nvSpPr>
          <p:cNvPr id="29" name="TextBox 28"/>
          <p:cNvSpPr txBox="1"/>
          <p:nvPr/>
        </p:nvSpPr>
        <p:spPr>
          <a:xfrm>
            <a:off x="257175" y="6113145"/>
            <a:ext cx="1598711" cy="186689"/>
          </a:xfrm>
          <a:prstGeom prst="rect">
            <a:avLst/>
          </a:prstGeom>
          <a:noFill/>
        </p:spPr>
        <p:txBody>
          <a:bodyPr wrap="none" lIns="0" rIns="0" tIns="0" bIns="0">
            <a:spAutoFit/>
          </a:bodyPr>
          <a:lstStyle/>
          <a:p>
            <a:r>
              <a:rPr sz="1100" b="0">
                <a:solidFill>
                  <a:srgbClr val="2E2E2E"/>
                </a:solidFill>
                <a:latin typeface="Calibri"/>
              </a:rPr>
              <a:t>than the segment average.</a:t>
            </a:r>
          </a:p>
        </p:txBody>
      </p:sp>
      <p:sp>
        <p:nvSpPr>
          <p:cNvPr id="30" name="lockshield_9"/>
          <p:cNvSpPr/>
          <p:nvPr/>
        </p:nvSpPr>
        <p:spPr>
          <a:xfrm>
            <a:off x="238125" y="1438275"/>
            <a:ext cx="6153150"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lockshield_12"/>
          <p:cNvSpPr/>
          <p:nvPr/>
        </p:nvSpPr>
        <p:spPr>
          <a:xfrm>
            <a:off x="6734175" y="1266825"/>
            <a:ext cx="5210175" cy="39814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Absolute $ Opportunity Analysis, By Form</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Form and the absolute $ opportunity each sub-segment adds, 2026–2036</a:t>
            </a:r>
          </a:p>
        </p:txBody>
      </p:sp>
      <p:sp>
        <p:nvSpPr>
          <p:cNvPr id="7" name="Rounded Rectangle 6"/>
          <p:cNvSpPr/>
          <p:nvPr/>
        </p:nvSpPr>
        <p:spPr>
          <a:xfrm>
            <a:off x="142875" y="981075"/>
            <a:ext cx="5876925" cy="5648325"/>
          </a:xfrm>
          <a:prstGeom prst="roundRect">
            <a:avLst>
              <a:gd name="adj" fmla="val 134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Powder</a:t>
            </a:r>
          </a:p>
        </p:txBody>
      </p:sp>
      <p:graphicFrame>
        <p:nvGraphicFramePr>
          <p:cNvPr id="9" name="Chart 8"/>
          <p:cNvGraphicFramePr>
            <a:graphicFrameLocks noGrp="1"/>
          </p:cNvGraphicFramePr>
          <p:nvPr/>
        </p:nvGraphicFramePr>
        <p:xfrm>
          <a:off x="238125" y="1266825"/>
          <a:ext cx="5686425" cy="5305425"/>
        </p:xfrm>
        <a:graphic>
          <a:graphicData uri="http://schemas.openxmlformats.org/drawingml/2006/chart">
            <c:chart xmlns:c="http://schemas.openxmlformats.org/drawingml/2006/chart" r:id="rId3"/>
          </a:graphicData>
        </a:graphic>
      </p:graphicFrame>
      <p:sp>
        <p:nvSpPr>
          <p:cNvPr id="10" name="Rounded Rectangle 9"/>
          <p:cNvSpPr/>
          <p:nvPr/>
        </p:nvSpPr>
        <p:spPr>
          <a:xfrm>
            <a:off x="6172200" y="981075"/>
            <a:ext cx="5876925" cy="5648325"/>
          </a:xfrm>
          <a:prstGeom prst="roundRect">
            <a:avLst>
              <a:gd name="adj" fmla="val 134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67450"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Liquid / Concentrate</a:t>
            </a:r>
          </a:p>
        </p:txBody>
      </p:sp>
      <p:graphicFrame>
        <p:nvGraphicFramePr>
          <p:cNvPr id="12" name="Chart 11"/>
          <p:cNvGraphicFramePr>
            <a:graphicFrameLocks noGrp="1"/>
          </p:cNvGraphicFramePr>
          <p:nvPr/>
        </p:nvGraphicFramePr>
        <p:xfrm>
          <a:off x="6267450" y="1438275"/>
          <a:ext cx="5686425" cy="5133975"/>
        </p:xfrm>
        <a:graphic>
          <a:graphicData uri="http://schemas.openxmlformats.org/drawingml/2006/chart">
            <c:chart xmlns:c="http://schemas.openxmlformats.org/drawingml/2006/chart" r:id="rId4"/>
          </a:graphicData>
        </a:graphic>
      </p:graphicFrame>
      <p:sp>
        <p:nvSpPr>
          <p:cNvPr id="13" name="Rectangle 12"/>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5" name="Picture 14" descr="lock.png"/>
          <p:cNvPicPr>
            <a:picLocks noChangeAspect="1"/>
          </p:cNvPicPr>
          <p:nvPr/>
        </p:nvPicPr>
        <p:blipFill>
          <a:blip r:embed="rId6"/>
          <a:stretch>
            <a:fillRect/>
          </a:stretch>
        </p:blipFill>
        <p:spPr>
          <a:xfrm>
            <a:off x="3024059" y="3583939"/>
            <a:ext cx="402511" cy="585471"/>
          </a:xfrm>
          <a:prstGeom prst="rect">
            <a:avLst/>
          </a:prstGeom>
        </p:spPr>
      </p:pic>
      <p:pic>
        <p:nvPicPr>
          <p:cNvPr id="16" name="Picture 15" descr="lock.png"/>
          <p:cNvPicPr>
            <a:picLocks noChangeAspect="1"/>
          </p:cNvPicPr>
          <p:nvPr/>
        </p:nvPicPr>
        <p:blipFill>
          <a:blip r:embed="rId6"/>
          <a:stretch>
            <a:fillRect/>
          </a:stretch>
        </p:blipFill>
        <p:spPr>
          <a:xfrm>
            <a:off x="9056881" y="3674659"/>
            <a:ext cx="395643" cy="575481"/>
          </a:xfrm>
          <a:prstGeom prst="rect">
            <a:avLst/>
          </a:prstGeom>
        </p:spPr>
      </p:pic>
      <p:sp>
        <p:nvSpPr>
          <p:cNvPr id="17" name="lockshield_9"/>
          <p:cNvSpPr/>
          <p:nvPr/>
        </p:nvSpPr>
        <p:spPr>
          <a:xfrm>
            <a:off x="238125" y="1266825"/>
            <a:ext cx="5686425" cy="53054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lockshield_12"/>
          <p:cNvSpPr/>
          <p:nvPr/>
        </p:nvSpPr>
        <p:spPr>
          <a:xfrm>
            <a:off x="6267450" y="1438275"/>
            <a:ext cx="5686425" cy="51339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Value Analysis, By Form (US$ Mn)</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by Form, 2021–2036, highlighting the sub-segments driving growth</a:t>
            </a:r>
          </a:p>
        </p:txBody>
      </p:sp>
      <p:sp>
        <p:nvSpPr>
          <p:cNvPr id="7" name="Rounded Rectangle 6"/>
          <p:cNvSpPr/>
          <p:nvPr/>
        </p:nvSpPr>
        <p:spPr>
          <a:xfrm>
            <a:off x="142875" y="981075"/>
            <a:ext cx="11906250" cy="1457325"/>
          </a:xfrm>
          <a:prstGeom prst="roundRect">
            <a:avLst>
              <a:gd name="adj" fmla="val 522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By Form (US$ Mn)</a:t>
            </a:r>
          </a:p>
        </p:txBody>
      </p:sp>
      <p:graphicFrame>
        <p:nvGraphicFramePr>
          <p:cNvPr id="9" name="Table 8"/>
          <p:cNvGraphicFramePr>
            <a:graphicFrameLocks noGrp="1"/>
          </p:cNvGraphicFramePr>
          <p:nvPr/>
        </p:nvGraphicFramePr>
        <p:xfrm>
          <a:off x="152400" y="1238250"/>
          <a:ext cx="11887195" cy="990600"/>
        </p:xfrm>
        <a:graphic>
          <a:graphicData uri="http://schemas.openxmlformats.org/drawingml/2006/table">
            <a:tbl>
              <a:tblPr>
                <a:tableStyleId>{5C22544A-7EE6-4342-B048-85BDC9FD1C3A}</a:tableStyleId>
              </a:tblPr>
              <a:tblGrid>
                <a:gridCol w="1477789"/>
                <a:gridCol w="612318"/>
                <a:gridCol w="612318"/>
                <a:gridCol w="612318"/>
                <a:gridCol w="612318"/>
                <a:gridCol w="612318"/>
                <a:gridCol w="612318"/>
                <a:gridCol w="612318"/>
                <a:gridCol w="612318"/>
                <a:gridCol w="612318"/>
                <a:gridCol w="612318"/>
                <a:gridCol w="612318"/>
                <a:gridCol w="612318"/>
                <a:gridCol w="612318"/>
                <a:gridCol w="612318"/>
                <a:gridCol w="612318"/>
                <a:gridCol w="612318"/>
                <a:gridCol w="612318"/>
              </a:tblGrid>
              <a:tr h="246126">
                <a:tc>
                  <a:txBody>
                    <a:bodyPr wrap="none"/>
                    <a:lstStyle/>
                    <a:p>
                      <a:pPr algn="l"/>
                      <a:r>
                        <a:rPr sz="1100" b="1">
                          <a:solidFill>
                            <a:srgbClr val="0E2A5C"/>
                          </a:solidFill>
                          <a:latin typeface="Calibri"/>
                        </a:rPr>
                        <a:t>Form</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2021A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2022A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2023A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2024A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2025A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2026E</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2027F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2028F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2029F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2030F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2031F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2032F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2033F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2034F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2035F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2036F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F-CAGR</a:t>
                      </a:r>
                      <a:endParaRPr sz="1100"/>
                    </a:p>
                  </a:txBody>
                  <a:tcPr marL="47625" marR="38100" marT="19050" marB="19050" anchor="ctr">
                    <a:solidFill>
                      <a:srgbClr val="EBF2F9"/>
                    </a:solidFill>
                  </a:tcPr>
                </a:tc>
              </a:tr>
              <a:tr h="248158">
                <a:tc>
                  <a:txBody>
                    <a:bodyPr wrap="none"/>
                    <a:lstStyle/>
                    <a:p>
                      <a:pPr algn="l"/>
                      <a:r>
                        <a:rPr sz="1100" b="1">
                          <a:solidFill>
                            <a:srgbClr val="2E2E2E"/>
                          </a:solidFill>
                          <a:latin typeface="Calibri"/>
                        </a:rPr>
                        <a:t>Powder</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8158">
                <a:tc>
                  <a:txBody>
                    <a:bodyPr wrap="none"/>
                    <a:lstStyle/>
                    <a:p>
                      <a:pPr algn="l"/>
                      <a:r>
                        <a:rPr sz="1100" b="1">
                          <a:solidFill>
                            <a:srgbClr val="2E2E2E"/>
                          </a:solidFill>
                          <a:latin typeface="Calibri"/>
                        </a:rPr>
                        <a:t>Liquid / Concentrate</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8158">
                <a:tc>
                  <a:txBody>
                    <a:bodyPr wrap="none"/>
                    <a:lstStyle/>
                    <a:p>
                      <a:pPr algn="l"/>
                      <a:r>
                        <a:rPr sz="1100" b="1">
                          <a:solidFill>
                            <a:srgbClr val="2E2E2E"/>
                          </a:solidFill>
                          <a:latin typeface="Calibri"/>
                        </a:rPr>
                        <a:t>Total</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r>
            </a:tbl>
          </a:graphicData>
        </a:graphic>
      </p:graphicFrame>
      <p:sp>
        <p:nvSpPr>
          <p:cNvPr id="10" name="TextBox 9"/>
          <p:cNvSpPr txBox="1"/>
          <p:nvPr/>
        </p:nvSpPr>
        <p:spPr>
          <a:xfrm>
            <a:off x="219075" y="223837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11" name="Rounded Rectangle 10"/>
          <p:cNvSpPr/>
          <p:nvPr/>
        </p:nvSpPr>
        <p:spPr>
          <a:xfrm>
            <a:off x="142875" y="2571750"/>
            <a:ext cx="11906250" cy="4057650"/>
          </a:xfrm>
          <a:prstGeom prst="roundRect">
            <a:avLst>
              <a:gd name="adj" fmla="val 1877"/>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6225" y="2657475"/>
            <a:ext cx="11639550" cy="209550"/>
          </a:xfrm>
          <a:prstGeom prst="rect">
            <a:avLst/>
          </a:prstGeom>
          <a:noFill/>
        </p:spPr>
        <p:txBody>
          <a:bodyPr wrap="square" lIns="0" rIns="19050" tIns="9525" bIns="9525">
            <a:spAutoFit/>
          </a:bodyPr>
          <a:lstStyle/>
          <a:p>
            <a:pPr algn="l"/>
            <a:r>
              <a:rPr sz="1300" b="1">
                <a:solidFill>
                  <a:srgbClr val="0E2A5C"/>
                </a:solidFill>
                <a:latin typeface="Calibri"/>
              </a:rPr>
              <a:t>North America Value Analysis, By Form</a:t>
            </a:r>
          </a:p>
        </p:txBody>
      </p:sp>
      <p:sp>
        <p:nvSpPr>
          <p:cNvPr id="13" name="Rectangle 12"/>
          <p:cNvSpPr/>
          <p:nvPr/>
        </p:nvSpPr>
        <p:spPr>
          <a:xfrm>
            <a:off x="276225" y="2895600"/>
            <a:ext cx="116395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6225" y="2981325"/>
            <a:ext cx="11639550" cy="357187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5" name="Rectangle 14"/>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7" name="Picture 16" descr="lock.png"/>
          <p:cNvPicPr>
            <a:picLocks noChangeAspect="1"/>
          </p:cNvPicPr>
          <p:nvPr/>
        </p:nvPicPr>
        <p:blipFill>
          <a:blip r:embed="rId4"/>
          <a:stretch>
            <a:fillRect/>
          </a:stretch>
        </p:blipFill>
        <p:spPr>
          <a:xfrm>
            <a:off x="6648202" y="1589913"/>
            <a:ext cx="366712" cy="533400"/>
          </a:xfrm>
          <a:prstGeom prst="rect">
            <a:avLst/>
          </a:prstGeom>
        </p:spPr>
      </p:pic>
      <p:sp>
        <p:nvSpPr>
          <p:cNvPr id="18" name="TextBox 17"/>
          <p:cNvSpPr txBox="1"/>
          <p:nvPr/>
        </p:nvSpPr>
        <p:spPr>
          <a:xfrm>
            <a:off x="276225" y="2990850"/>
            <a:ext cx="3201727" cy="194310"/>
          </a:xfrm>
          <a:prstGeom prst="rect">
            <a:avLst/>
          </a:prstGeom>
          <a:noFill/>
        </p:spPr>
        <p:txBody>
          <a:bodyPr wrap="none" lIns="0" rIns="0" tIns="0" bIns="0">
            <a:spAutoFit/>
          </a:bodyPr>
          <a:lstStyle/>
          <a:p>
            <a:r>
              <a:rPr sz="1150" b="0">
                <a:solidFill>
                  <a:srgbClr val="2E2E2E"/>
                </a:solidFill>
                <a:latin typeface="Calibri"/>
              </a:rPr>
              <a:t>Liquid / concentrate segment is projected to register</a:t>
            </a:r>
          </a:p>
        </p:txBody>
      </p:sp>
      <p:pic>
        <p:nvPicPr>
          <p:cNvPr id="19" name="Picture 18" descr="lock.png"/>
          <p:cNvPicPr>
            <a:picLocks noChangeAspect="1"/>
          </p:cNvPicPr>
          <p:nvPr/>
        </p:nvPicPr>
        <p:blipFill>
          <a:blip r:embed="rId4"/>
          <a:stretch>
            <a:fillRect/>
          </a:stretch>
        </p:blipFill>
        <p:spPr>
          <a:xfrm>
            <a:off x="3427105" y="2980626"/>
            <a:ext cx="134549" cy="195707"/>
          </a:xfrm>
          <a:prstGeom prst="rect">
            <a:avLst/>
          </a:prstGeom>
        </p:spPr>
      </p:pic>
      <p:sp>
        <p:nvSpPr>
          <p:cNvPr id="20" name="TextBox 19"/>
          <p:cNvSpPr txBox="1"/>
          <p:nvPr/>
        </p:nvSpPr>
        <p:spPr>
          <a:xfrm>
            <a:off x="3602215" y="2990850"/>
            <a:ext cx="8260705" cy="194310"/>
          </a:xfrm>
          <a:prstGeom prst="rect">
            <a:avLst/>
          </a:prstGeom>
          <a:noFill/>
        </p:spPr>
        <p:txBody>
          <a:bodyPr wrap="none" lIns="0" rIns="0" tIns="0" bIns="0">
            <a:spAutoFit/>
          </a:bodyPr>
          <a:lstStyle/>
          <a:p>
            <a:r>
              <a:rPr sz="1150" b="0">
                <a:solidFill>
                  <a:srgbClr val="2E2E2E"/>
                </a:solidFill>
                <a:latin typeface="Calibri"/>
              </a:rPr>
              <a:t>X higher value than powder segment in 2036. Among egg protein membrane by form, liquid / concentrate segment is expected to witness</a:t>
            </a:r>
          </a:p>
        </p:txBody>
      </p:sp>
      <p:sp>
        <p:nvSpPr>
          <p:cNvPr id="21" name="TextBox 20"/>
          <p:cNvSpPr txBox="1"/>
          <p:nvPr/>
        </p:nvSpPr>
        <p:spPr>
          <a:xfrm>
            <a:off x="276225" y="3166110"/>
            <a:ext cx="1263979" cy="194310"/>
          </a:xfrm>
          <a:prstGeom prst="rect">
            <a:avLst/>
          </a:prstGeom>
          <a:noFill/>
        </p:spPr>
        <p:txBody>
          <a:bodyPr wrap="none" lIns="0" rIns="0" tIns="0" bIns="0">
            <a:spAutoFit/>
          </a:bodyPr>
          <a:lstStyle/>
          <a:p>
            <a:r>
              <a:rPr sz="1150" b="0">
                <a:solidFill>
                  <a:srgbClr val="2E2E2E"/>
                </a:solidFill>
                <a:latin typeface="Calibri"/>
              </a:rPr>
              <a:t>the highest CAGR of</a:t>
            </a:r>
          </a:p>
        </p:txBody>
      </p:sp>
      <p:pic>
        <p:nvPicPr>
          <p:cNvPr id="22" name="Picture 21" descr="lock.png"/>
          <p:cNvPicPr>
            <a:picLocks noChangeAspect="1"/>
          </p:cNvPicPr>
          <p:nvPr/>
        </p:nvPicPr>
        <p:blipFill>
          <a:blip r:embed="rId4"/>
          <a:stretch>
            <a:fillRect/>
          </a:stretch>
        </p:blipFill>
        <p:spPr>
          <a:xfrm>
            <a:off x="1489358" y="3155886"/>
            <a:ext cx="134549" cy="195707"/>
          </a:xfrm>
          <a:prstGeom prst="rect">
            <a:avLst/>
          </a:prstGeom>
        </p:spPr>
      </p:pic>
      <p:sp>
        <p:nvSpPr>
          <p:cNvPr id="23" name="TextBox 22"/>
          <p:cNvSpPr txBox="1"/>
          <p:nvPr/>
        </p:nvSpPr>
        <p:spPr>
          <a:xfrm>
            <a:off x="1664467" y="3166110"/>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24" name="TextBox 23"/>
          <p:cNvSpPr txBox="1"/>
          <p:nvPr/>
        </p:nvSpPr>
        <p:spPr>
          <a:xfrm>
            <a:off x="276225" y="3393947"/>
            <a:ext cx="6611652" cy="194310"/>
          </a:xfrm>
          <a:prstGeom prst="rect">
            <a:avLst/>
          </a:prstGeom>
          <a:noFill/>
        </p:spPr>
        <p:txBody>
          <a:bodyPr wrap="none" lIns="0" rIns="0" tIns="0" bIns="0">
            <a:spAutoFit/>
          </a:bodyPr>
          <a:lstStyle/>
          <a:p>
            <a:r>
              <a:rPr sz="1150" b="0">
                <a:solidFill>
                  <a:srgbClr val="2E2E2E"/>
                </a:solidFill>
                <a:latin typeface="Calibri"/>
              </a:rPr>
              <a:t>In terms of value share by form, the liquid / concentrate segment is expected to dominate the market, gaining</a:t>
            </a:r>
          </a:p>
        </p:txBody>
      </p:sp>
      <p:pic>
        <p:nvPicPr>
          <p:cNvPr id="25" name="Picture 24" descr="lock.png"/>
          <p:cNvPicPr>
            <a:picLocks noChangeAspect="1"/>
          </p:cNvPicPr>
          <p:nvPr/>
        </p:nvPicPr>
        <p:blipFill>
          <a:blip r:embed="rId4"/>
          <a:stretch>
            <a:fillRect/>
          </a:stretch>
        </p:blipFill>
        <p:spPr>
          <a:xfrm>
            <a:off x="6837031" y="3383724"/>
            <a:ext cx="134549" cy="195707"/>
          </a:xfrm>
          <a:prstGeom prst="rect">
            <a:avLst/>
          </a:prstGeom>
        </p:spPr>
      </p:pic>
      <p:sp>
        <p:nvSpPr>
          <p:cNvPr id="26" name="TextBox 25"/>
          <p:cNvSpPr txBox="1"/>
          <p:nvPr/>
        </p:nvSpPr>
        <p:spPr>
          <a:xfrm>
            <a:off x="7012140" y="3393947"/>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27" name="Picture 26" descr="lock.png"/>
          <p:cNvPicPr>
            <a:picLocks noChangeAspect="1"/>
          </p:cNvPicPr>
          <p:nvPr/>
        </p:nvPicPr>
        <p:blipFill>
          <a:blip r:embed="rId4"/>
          <a:stretch>
            <a:fillRect/>
          </a:stretch>
        </p:blipFill>
        <p:spPr>
          <a:xfrm>
            <a:off x="8407283" y="3383724"/>
            <a:ext cx="134549" cy="195707"/>
          </a:xfrm>
          <a:prstGeom prst="rect">
            <a:avLst/>
          </a:prstGeom>
        </p:spPr>
      </p:pic>
      <p:sp>
        <p:nvSpPr>
          <p:cNvPr id="28" name="TextBox 27"/>
          <p:cNvSpPr txBox="1"/>
          <p:nvPr/>
        </p:nvSpPr>
        <p:spPr>
          <a:xfrm>
            <a:off x="8582392" y="3393947"/>
            <a:ext cx="3100747" cy="194310"/>
          </a:xfrm>
          <a:prstGeom prst="rect">
            <a:avLst/>
          </a:prstGeom>
          <a:noFill/>
        </p:spPr>
        <p:txBody>
          <a:bodyPr wrap="none" lIns="0" rIns="0" tIns="0" bIns="0">
            <a:spAutoFit/>
          </a:bodyPr>
          <a:lstStyle/>
          <a:p>
            <a:r>
              <a:rPr sz="1150" b="0">
                <a:solidFill>
                  <a:srgbClr val="2E2E2E"/>
                </a:solidFill>
                <a:latin typeface="Calibri"/>
              </a:rPr>
              <a:t>share by 2036. The powder segment is expected to</a:t>
            </a:r>
          </a:p>
        </p:txBody>
      </p:sp>
      <p:sp>
        <p:nvSpPr>
          <p:cNvPr id="29" name="TextBox 28"/>
          <p:cNvSpPr txBox="1"/>
          <p:nvPr/>
        </p:nvSpPr>
        <p:spPr>
          <a:xfrm>
            <a:off x="276225" y="3569207"/>
            <a:ext cx="316669" cy="194310"/>
          </a:xfrm>
          <a:prstGeom prst="rect">
            <a:avLst/>
          </a:prstGeom>
          <a:noFill/>
        </p:spPr>
        <p:txBody>
          <a:bodyPr wrap="none" lIns="0" rIns="0" tIns="0" bIns="0">
            <a:spAutoFit/>
          </a:bodyPr>
          <a:lstStyle/>
          <a:p>
            <a:r>
              <a:rPr sz="1150" b="0">
                <a:solidFill>
                  <a:srgbClr val="2E2E2E"/>
                </a:solidFill>
                <a:latin typeface="Calibri"/>
              </a:rPr>
              <a:t>lose</a:t>
            </a:r>
          </a:p>
        </p:txBody>
      </p:sp>
      <p:pic>
        <p:nvPicPr>
          <p:cNvPr id="30" name="Picture 29" descr="lock.png"/>
          <p:cNvPicPr>
            <a:picLocks noChangeAspect="1"/>
          </p:cNvPicPr>
          <p:nvPr/>
        </p:nvPicPr>
        <p:blipFill>
          <a:blip r:embed="rId4"/>
          <a:stretch>
            <a:fillRect/>
          </a:stretch>
        </p:blipFill>
        <p:spPr>
          <a:xfrm>
            <a:off x="542047" y="3558984"/>
            <a:ext cx="134549" cy="195707"/>
          </a:xfrm>
          <a:prstGeom prst="rect">
            <a:avLst/>
          </a:prstGeom>
        </p:spPr>
      </p:pic>
      <p:sp>
        <p:nvSpPr>
          <p:cNvPr id="31" name="TextBox 30"/>
          <p:cNvSpPr txBox="1"/>
          <p:nvPr/>
        </p:nvSpPr>
        <p:spPr>
          <a:xfrm>
            <a:off x="717157" y="3569207"/>
            <a:ext cx="2638350" cy="194310"/>
          </a:xfrm>
          <a:prstGeom prst="rect">
            <a:avLst/>
          </a:prstGeom>
          <a:noFill/>
        </p:spPr>
        <p:txBody>
          <a:bodyPr wrap="none" lIns="0" rIns="0" tIns="0" bIns="0">
            <a:spAutoFit/>
          </a:bodyPr>
          <a:lstStyle/>
          <a:p>
            <a:r>
              <a:rPr sz="1150" b="0">
                <a:solidFill>
                  <a:srgbClr val="2E2E2E"/>
                </a:solidFill>
                <a:latin typeface="Calibri"/>
              </a:rPr>
              <a:t>BPS over the forecast period to account for</a:t>
            </a:r>
          </a:p>
        </p:txBody>
      </p:sp>
      <p:pic>
        <p:nvPicPr>
          <p:cNvPr id="32" name="Picture 31" descr="lock.png"/>
          <p:cNvPicPr>
            <a:picLocks noChangeAspect="1"/>
          </p:cNvPicPr>
          <p:nvPr/>
        </p:nvPicPr>
        <p:blipFill>
          <a:blip r:embed="rId4"/>
          <a:stretch>
            <a:fillRect/>
          </a:stretch>
        </p:blipFill>
        <p:spPr>
          <a:xfrm>
            <a:off x="3304661" y="3558984"/>
            <a:ext cx="134549" cy="195707"/>
          </a:xfrm>
          <a:prstGeom prst="rect">
            <a:avLst/>
          </a:prstGeom>
        </p:spPr>
      </p:pic>
      <p:sp>
        <p:nvSpPr>
          <p:cNvPr id="33" name="TextBox 32"/>
          <p:cNvSpPr txBox="1"/>
          <p:nvPr/>
        </p:nvSpPr>
        <p:spPr>
          <a:xfrm>
            <a:off x="3479771" y="3569207"/>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Value &amp; Share Shift, By Form</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Value composition by Form in 2021, 2026 and 2036, highlighting share shifts in basis points</a:t>
            </a:r>
          </a:p>
        </p:txBody>
      </p:sp>
      <p:sp>
        <p:nvSpPr>
          <p:cNvPr id="7" name="Rounded Rectangle 6"/>
          <p:cNvSpPr/>
          <p:nvPr/>
        </p:nvSpPr>
        <p:spPr>
          <a:xfrm>
            <a:off x="142875" y="981075"/>
            <a:ext cx="7400925" cy="5648325"/>
          </a:xfrm>
          <a:prstGeom prst="roundRect">
            <a:avLst>
              <a:gd name="adj" fmla="val 134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7210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Composition, By Form ·  2021 / 2026 / 2036 (US$ Mn)  ·  right axis = BPS share shift</a:t>
            </a:r>
          </a:p>
        </p:txBody>
      </p:sp>
      <p:graphicFrame>
        <p:nvGraphicFramePr>
          <p:cNvPr id="9" name="Chart 8"/>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r:id="rId3"/>
          </a:graphicData>
        </a:graphic>
      </p:graphicFrame>
      <p:sp>
        <p:nvSpPr>
          <p:cNvPr id="10" name="TextBox 9"/>
          <p:cNvSpPr txBox="1"/>
          <p:nvPr/>
        </p:nvSpPr>
        <p:spPr>
          <a:xfrm>
            <a:off x="4852797" y="1590675"/>
            <a:ext cx="2595753" cy="171069"/>
          </a:xfrm>
          <a:prstGeom prst="rect">
            <a:avLst/>
          </a:prstGeom>
          <a:noFill/>
        </p:spPr>
        <p:txBody>
          <a:bodyPr wrap="square" lIns="28575" rIns="28575" tIns="9525" bIns="9525" anchor="ctr">
            <a:spAutoFit/>
          </a:bodyPr>
          <a:lstStyle/>
          <a:p>
            <a:pPr algn="ctr"/>
            <a:r>
              <a:rPr sz="1300" b="1">
                <a:solidFill>
                  <a:srgbClr val="2A5F8F"/>
                </a:solidFill>
                <a:latin typeface="Calibri"/>
              </a:rPr>
              <a:t>BPS Δ  (2021→2036)</a:t>
            </a:r>
          </a:p>
        </p:txBody>
      </p:sp>
      <p:sp>
        <p:nvSpPr>
          <p:cNvPr id="11" name="TMR Lock Anchor"/>
          <p:cNvSpPr txBox="1"/>
          <p:nvPr/>
        </p:nvSpPr>
        <p:spPr>
          <a:xfrm>
            <a:off x="2678811" y="4014597"/>
            <a:ext cx="38100" cy="38100"/>
          </a:xfrm>
          <a:prstGeom prst="rect">
            <a:avLst/>
          </a:prstGeom>
          <a:noFill/>
        </p:spPr>
        <p:txBody>
          <a:bodyPr wrap="none">
            <a:spAutoFit/>
          </a:bodyPr>
          <a:lstStyle/>
          <a:p/>
        </p:txBody>
      </p:sp>
      <p:sp>
        <p:nvSpPr>
          <p:cNvPr id="12" name="TMR Legend Chip"/>
          <p:cNvSpPr/>
          <p:nvPr/>
        </p:nvSpPr>
        <p:spPr>
          <a:xfrm>
            <a:off x="4928997" y="2116635"/>
            <a:ext cx="85725" cy="85725"/>
          </a:xfrm>
          <a:prstGeom prst="rect">
            <a:avLst/>
          </a:prstGeom>
          <a:solidFill>
            <a:srgbClr val="0081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Isosceles Triangle 12"/>
          <p:cNvSpPr/>
          <p:nvPr/>
        </p:nvSpPr>
        <p:spPr>
          <a:xfrm rot="10800000">
            <a:off x="5090922" y="2111873"/>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BPS Name 1"/>
          <p:cNvSpPr txBox="1"/>
          <p:nvPr/>
        </p:nvSpPr>
        <p:spPr>
          <a:xfrm>
            <a:off x="5233797" y="2035673"/>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Powder</a:t>
            </a:r>
          </a:p>
        </p:txBody>
      </p:sp>
      <p:sp>
        <p:nvSpPr>
          <p:cNvPr id="15" name="BPS Value 1"/>
          <p:cNvSpPr txBox="1"/>
          <p:nvPr/>
        </p:nvSpPr>
        <p:spPr>
          <a:xfrm>
            <a:off x="6896100" y="2097585"/>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16" name="TMR Legend Chip"/>
          <p:cNvSpPr/>
          <p:nvPr/>
        </p:nvSpPr>
        <p:spPr>
          <a:xfrm>
            <a:off x="4928997" y="4402826"/>
            <a:ext cx="85725" cy="85725"/>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Isosceles Triangle 16"/>
          <p:cNvSpPr/>
          <p:nvPr/>
        </p:nvSpPr>
        <p:spPr>
          <a:xfrm>
            <a:off x="5090922" y="4398063"/>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PS Name 2"/>
          <p:cNvSpPr txBox="1"/>
          <p:nvPr/>
        </p:nvSpPr>
        <p:spPr>
          <a:xfrm>
            <a:off x="5233797" y="4321863"/>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Liquid / Concentrate</a:t>
            </a:r>
          </a:p>
        </p:txBody>
      </p:sp>
      <p:sp>
        <p:nvSpPr>
          <p:cNvPr id="19" name="BPS Value 2"/>
          <p:cNvSpPr txBox="1"/>
          <p:nvPr/>
        </p:nvSpPr>
        <p:spPr>
          <a:xfrm>
            <a:off x="6896100" y="4383776"/>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0" name="Rounded Rectangle 19"/>
          <p:cNvSpPr/>
          <p:nvPr/>
        </p:nvSpPr>
        <p:spPr>
          <a:xfrm>
            <a:off x="7696200" y="981075"/>
            <a:ext cx="4343400" cy="5648325"/>
          </a:xfrm>
          <a:prstGeom prst="roundRect">
            <a:avLst>
              <a:gd name="adj" fmla="val 1754"/>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E2A5C"/>
                </a:solidFill>
                <a:latin typeface="Calibri"/>
              </a:rPr>
              <a:t>North America Read-out, By Form</a:t>
            </a:r>
          </a:p>
        </p:txBody>
      </p:sp>
      <p:sp>
        <p:nvSpPr>
          <p:cNvPr id="22" name="Rectangle 21"/>
          <p:cNvSpPr/>
          <p:nvPr/>
        </p:nvSpPr>
        <p:spPr>
          <a:xfrm>
            <a:off x="7829550" y="1304925"/>
            <a:ext cx="407670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24" name="Rectangle 23"/>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26" name="Picture 25" descr="lock.png"/>
          <p:cNvPicPr>
            <a:picLocks noChangeAspect="1"/>
          </p:cNvPicPr>
          <p:nvPr/>
        </p:nvPicPr>
        <p:blipFill>
          <a:blip r:embed="rId5"/>
          <a:stretch>
            <a:fillRect/>
          </a:stretch>
        </p:blipFill>
        <p:spPr>
          <a:xfrm>
            <a:off x="2557843" y="3833622"/>
            <a:ext cx="275034" cy="400050"/>
          </a:xfrm>
          <a:prstGeom prst="rect">
            <a:avLst/>
          </a:prstGeom>
        </p:spPr>
      </p:pic>
      <p:sp>
        <p:nvSpPr>
          <p:cNvPr id="27" name="TextBox 26"/>
          <p:cNvSpPr txBox="1"/>
          <p:nvPr/>
        </p:nvSpPr>
        <p:spPr>
          <a:xfrm>
            <a:off x="7829550" y="1400175"/>
            <a:ext cx="3640162" cy="194310"/>
          </a:xfrm>
          <a:prstGeom prst="rect">
            <a:avLst/>
          </a:prstGeom>
          <a:noFill/>
        </p:spPr>
        <p:txBody>
          <a:bodyPr wrap="none" lIns="0" rIns="0" tIns="0" bIns="0">
            <a:spAutoFit/>
          </a:bodyPr>
          <a:lstStyle/>
          <a:p>
            <a:r>
              <a:rPr sz="1150" b="0">
                <a:solidFill>
                  <a:srgbClr val="2E2E2E"/>
                </a:solidFill>
                <a:latin typeface="Calibri"/>
              </a:rPr>
              <a:t>Among egg protein membrane by form, liquid / concentrate</a:t>
            </a:r>
          </a:p>
        </p:txBody>
      </p:sp>
      <p:sp>
        <p:nvSpPr>
          <p:cNvPr id="28" name="TextBox 27"/>
          <p:cNvSpPr txBox="1"/>
          <p:nvPr/>
        </p:nvSpPr>
        <p:spPr>
          <a:xfrm>
            <a:off x="7829550" y="1575435"/>
            <a:ext cx="3156639" cy="194310"/>
          </a:xfrm>
          <a:prstGeom prst="rect">
            <a:avLst/>
          </a:prstGeom>
          <a:noFill/>
        </p:spPr>
        <p:txBody>
          <a:bodyPr wrap="none" lIns="0" rIns="0" tIns="0" bIns="0">
            <a:spAutoFit/>
          </a:bodyPr>
          <a:lstStyle/>
          <a:p>
            <a:r>
              <a:rPr sz="1150" b="0">
                <a:solidFill>
                  <a:srgbClr val="2E2E2E"/>
                </a:solidFill>
                <a:latin typeface="Calibri"/>
              </a:rPr>
              <a:t>segment is expected to witness the highest CAGR of</a:t>
            </a:r>
          </a:p>
        </p:txBody>
      </p:sp>
      <p:pic>
        <p:nvPicPr>
          <p:cNvPr id="29" name="Picture 28" descr="lock.png"/>
          <p:cNvPicPr>
            <a:picLocks noChangeAspect="1"/>
          </p:cNvPicPr>
          <p:nvPr/>
        </p:nvPicPr>
        <p:blipFill>
          <a:blip r:embed="rId5"/>
          <a:stretch>
            <a:fillRect/>
          </a:stretch>
        </p:blipFill>
        <p:spPr>
          <a:xfrm>
            <a:off x="10935343" y="1565211"/>
            <a:ext cx="134549" cy="195707"/>
          </a:xfrm>
          <a:prstGeom prst="rect">
            <a:avLst/>
          </a:prstGeom>
        </p:spPr>
      </p:pic>
      <p:sp>
        <p:nvSpPr>
          <p:cNvPr id="30" name="TextBox 29"/>
          <p:cNvSpPr txBox="1"/>
          <p:nvPr/>
        </p:nvSpPr>
        <p:spPr>
          <a:xfrm>
            <a:off x="11110452" y="1575435"/>
            <a:ext cx="574538" cy="194310"/>
          </a:xfrm>
          <a:prstGeom prst="rect">
            <a:avLst/>
          </a:prstGeom>
          <a:noFill/>
        </p:spPr>
        <p:txBody>
          <a:bodyPr wrap="none" lIns="0" rIns="0" tIns="0" bIns="0">
            <a:spAutoFit/>
          </a:bodyPr>
          <a:lstStyle/>
          <a:p>
            <a:r>
              <a:rPr sz="1150" b="0">
                <a:solidFill>
                  <a:srgbClr val="2E2E2E"/>
                </a:solidFill>
                <a:latin typeface="Calibri"/>
              </a:rPr>
              <a:t>over the</a:t>
            </a:r>
          </a:p>
        </p:txBody>
      </p:sp>
      <p:sp>
        <p:nvSpPr>
          <p:cNvPr id="31" name="TextBox 30"/>
          <p:cNvSpPr txBox="1"/>
          <p:nvPr/>
        </p:nvSpPr>
        <p:spPr>
          <a:xfrm>
            <a:off x="7829550" y="1750695"/>
            <a:ext cx="3631034" cy="194310"/>
          </a:xfrm>
          <a:prstGeom prst="rect">
            <a:avLst/>
          </a:prstGeom>
          <a:noFill/>
        </p:spPr>
        <p:txBody>
          <a:bodyPr wrap="none" lIns="0" rIns="0" tIns="0" bIns="0">
            <a:spAutoFit/>
          </a:bodyPr>
          <a:lstStyle/>
          <a:p>
            <a:r>
              <a:rPr sz="1150" b="0">
                <a:solidFill>
                  <a:srgbClr val="2E2E2E"/>
                </a:solidFill>
                <a:latin typeface="Calibri"/>
              </a:rPr>
              <a:t>forecast period. In terms of value share by form, the liquid /</a:t>
            </a:r>
          </a:p>
        </p:txBody>
      </p:sp>
      <p:sp>
        <p:nvSpPr>
          <p:cNvPr id="32" name="TextBox 31"/>
          <p:cNvSpPr txBox="1"/>
          <p:nvPr/>
        </p:nvSpPr>
        <p:spPr>
          <a:xfrm>
            <a:off x="7829550" y="1925955"/>
            <a:ext cx="3997870" cy="194310"/>
          </a:xfrm>
          <a:prstGeom prst="rect">
            <a:avLst/>
          </a:prstGeom>
          <a:noFill/>
        </p:spPr>
        <p:txBody>
          <a:bodyPr wrap="none" lIns="0" rIns="0" tIns="0" bIns="0">
            <a:spAutoFit/>
          </a:bodyPr>
          <a:lstStyle/>
          <a:p>
            <a:r>
              <a:rPr sz="1150" b="0">
                <a:solidFill>
                  <a:srgbClr val="2E2E2E"/>
                </a:solidFill>
                <a:latin typeface="Calibri"/>
              </a:rPr>
              <a:t>concentrate segment is expected to dominate the market, gaining</a:t>
            </a:r>
          </a:p>
        </p:txBody>
      </p:sp>
      <p:pic>
        <p:nvPicPr>
          <p:cNvPr id="33" name="Picture 32" descr="lock.png"/>
          <p:cNvPicPr>
            <a:picLocks noChangeAspect="1"/>
          </p:cNvPicPr>
          <p:nvPr/>
        </p:nvPicPr>
        <p:blipFill>
          <a:blip r:embed="rId5"/>
          <a:stretch>
            <a:fillRect/>
          </a:stretch>
        </p:blipFill>
        <p:spPr>
          <a:xfrm>
            <a:off x="7815470" y="2090991"/>
            <a:ext cx="134549" cy="195707"/>
          </a:xfrm>
          <a:prstGeom prst="rect">
            <a:avLst/>
          </a:prstGeom>
        </p:spPr>
      </p:pic>
      <p:sp>
        <p:nvSpPr>
          <p:cNvPr id="34" name="TextBox 33"/>
          <p:cNvSpPr txBox="1"/>
          <p:nvPr/>
        </p:nvSpPr>
        <p:spPr>
          <a:xfrm>
            <a:off x="7990579" y="2101215"/>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35" name="Picture 34" descr="lock.png"/>
          <p:cNvPicPr>
            <a:picLocks noChangeAspect="1"/>
          </p:cNvPicPr>
          <p:nvPr/>
        </p:nvPicPr>
        <p:blipFill>
          <a:blip r:embed="rId5"/>
          <a:stretch>
            <a:fillRect/>
          </a:stretch>
        </p:blipFill>
        <p:spPr>
          <a:xfrm>
            <a:off x="9385722" y="2090991"/>
            <a:ext cx="134549" cy="195707"/>
          </a:xfrm>
          <a:prstGeom prst="rect">
            <a:avLst/>
          </a:prstGeom>
        </p:spPr>
      </p:pic>
      <p:sp>
        <p:nvSpPr>
          <p:cNvPr id="36" name="TextBox 35"/>
          <p:cNvSpPr txBox="1"/>
          <p:nvPr/>
        </p:nvSpPr>
        <p:spPr>
          <a:xfrm>
            <a:off x="9560832" y="2101215"/>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37" name="TextBox 36"/>
          <p:cNvSpPr txBox="1"/>
          <p:nvPr/>
        </p:nvSpPr>
        <p:spPr>
          <a:xfrm>
            <a:off x="7829550" y="2329053"/>
            <a:ext cx="2471191" cy="194310"/>
          </a:xfrm>
          <a:prstGeom prst="rect">
            <a:avLst/>
          </a:prstGeom>
          <a:noFill/>
        </p:spPr>
        <p:txBody>
          <a:bodyPr wrap="none" lIns="0" rIns="0" tIns="0" bIns="0">
            <a:spAutoFit/>
          </a:bodyPr>
          <a:lstStyle/>
          <a:p>
            <a:r>
              <a:rPr sz="1150" b="0">
                <a:solidFill>
                  <a:srgbClr val="2E2E2E"/>
                </a:solidFill>
                <a:latin typeface="Calibri"/>
              </a:rPr>
              <a:t>The powder segment is expected to lose</a:t>
            </a:r>
          </a:p>
        </p:txBody>
      </p:sp>
      <p:pic>
        <p:nvPicPr>
          <p:cNvPr id="38" name="Picture 37" descr="lock.png"/>
          <p:cNvPicPr>
            <a:picLocks noChangeAspect="1"/>
          </p:cNvPicPr>
          <p:nvPr/>
        </p:nvPicPr>
        <p:blipFill>
          <a:blip r:embed="rId5"/>
          <a:stretch>
            <a:fillRect/>
          </a:stretch>
        </p:blipFill>
        <p:spPr>
          <a:xfrm>
            <a:off x="10249895" y="2318829"/>
            <a:ext cx="134549" cy="195707"/>
          </a:xfrm>
          <a:prstGeom prst="rect">
            <a:avLst/>
          </a:prstGeom>
        </p:spPr>
      </p:pic>
      <p:sp>
        <p:nvSpPr>
          <p:cNvPr id="39" name="TextBox 38"/>
          <p:cNvSpPr txBox="1"/>
          <p:nvPr/>
        </p:nvSpPr>
        <p:spPr>
          <a:xfrm>
            <a:off x="10425005" y="2329053"/>
            <a:ext cx="1346150" cy="194310"/>
          </a:xfrm>
          <a:prstGeom prst="rect">
            <a:avLst/>
          </a:prstGeom>
          <a:noFill/>
        </p:spPr>
        <p:txBody>
          <a:bodyPr wrap="none" lIns="0" rIns="0" tIns="0" bIns="0">
            <a:spAutoFit/>
          </a:bodyPr>
          <a:lstStyle/>
          <a:p>
            <a:r>
              <a:rPr sz="1150" b="0">
                <a:solidFill>
                  <a:srgbClr val="2E2E2E"/>
                </a:solidFill>
                <a:latin typeface="Calibri"/>
              </a:rPr>
              <a:t>BPS over the forecast</a:t>
            </a:r>
          </a:p>
        </p:txBody>
      </p:sp>
      <p:sp>
        <p:nvSpPr>
          <p:cNvPr id="40" name="TextBox 39"/>
          <p:cNvSpPr txBox="1"/>
          <p:nvPr/>
        </p:nvSpPr>
        <p:spPr>
          <a:xfrm>
            <a:off x="7829550" y="2504313"/>
            <a:ext cx="1335310" cy="194310"/>
          </a:xfrm>
          <a:prstGeom prst="rect">
            <a:avLst/>
          </a:prstGeom>
          <a:noFill/>
        </p:spPr>
        <p:txBody>
          <a:bodyPr wrap="none" lIns="0" rIns="0" tIns="0" bIns="0">
            <a:spAutoFit/>
          </a:bodyPr>
          <a:lstStyle/>
          <a:p>
            <a:r>
              <a:rPr sz="1150" b="0">
                <a:solidFill>
                  <a:srgbClr val="2E2E2E"/>
                </a:solidFill>
                <a:latin typeface="Calibri"/>
              </a:rPr>
              <a:t>period to account for</a:t>
            </a:r>
          </a:p>
        </p:txBody>
      </p:sp>
      <p:pic>
        <p:nvPicPr>
          <p:cNvPr id="41" name="Picture 40" descr="lock.png"/>
          <p:cNvPicPr>
            <a:picLocks noChangeAspect="1"/>
          </p:cNvPicPr>
          <p:nvPr/>
        </p:nvPicPr>
        <p:blipFill>
          <a:blip r:embed="rId5"/>
          <a:stretch>
            <a:fillRect/>
          </a:stretch>
        </p:blipFill>
        <p:spPr>
          <a:xfrm>
            <a:off x="9114014" y="2494089"/>
            <a:ext cx="134549" cy="195707"/>
          </a:xfrm>
          <a:prstGeom prst="rect">
            <a:avLst/>
          </a:prstGeom>
        </p:spPr>
      </p:pic>
      <p:sp>
        <p:nvSpPr>
          <p:cNvPr id="42" name="TextBox 41"/>
          <p:cNvSpPr txBox="1"/>
          <p:nvPr/>
        </p:nvSpPr>
        <p:spPr>
          <a:xfrm>
            <a:off x="9289123" y="2504313"/>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43" name="lockshield_9"/>
          <p:cNvSpPr/>
          <p:nvPr/>
        </p:nvSpPr>
        <p:spPr>
          <a:xfrm>
            <a:off x="238125" y="1581150"/>
            <a:ext cx="4614672" cy="49911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bg>
      <p:bgPr>
        <a:solidFill>
          <a:srgbClr val="F3F8FD"/>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3F8FD"/>
              </a:gs>
              <a:gs pos="100000">
                <a:srgbClr val="DCE9F6"/>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FE0F0">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9C8E6">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B7D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A5F8F"/>
              </a:gs>
              <a:gs pos="100000">
                <a:srgbClr val="6FA6D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MR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11.5</a:t>
            </a:r>
          </a:p>
        </p:txBody>
      </p:sp>
      <p:pic>
        <p:nvPicPr>
          <p:cNvPr id="8" name="Picture 7" descr="tmr_logo.png"/>
          <p:cNvPicPr>
            <a:picLocks noChangeAspect="1"/>
          </p:cNvPicPr>
          <p:nvPr/>
        </p:nvPicPr>
        <p:blipFill>
          <a:blip r:embed="rId2"/>
          <a:stretch>
            <a:fillRect/>
          </a:stretch>
        </p:blipFill>
        <p:spPr>
          <a:xfrm>
            <a:off x="411480" y="274320"/>
            <a:ext cx="1307592" cy="975505"/>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2A5F8F"/>
                </a:solidFill>
                <a:latin typeface="Calibri"/>
              </a:rPr>
              <a:t>Egg Protein Membrane Market</a:t>
            </a:r>
          </a:p>
        </p:txBody>
      </p:sp>
      <p:sp>
        <p:nvSpPr>
          <p:cNvPr id="10" name="TMR Section Title"/>
          <p:cNvSpPr txBox="1"/>
          <p:nvPr/>
        </p:nvSpPr>
        <p:spPr>
          <a:xfrm>
            <a:off x="914400" y="2701925"/>
            <a:ext cx="8572500" cy="514350"/>
          </a:xfrm>
          <a:prstGeom prst="rect">
            <a:avLst/>
          </a:prstGeom>
          <a:noFill/>
        </p:spPr>
        <p:txBody>
          <a:bodyPr wrap="square" lIns="0" rIns="0" tIns="0">
            <a:spAutoFit/>
          </a:bodyPr>
          <a:lstStyle/>
          <a:p>
            <a:r>
              <a:rPr sz="3000" b="1">
                <a:solidFill>
                  <a:srgbClr val="0E2A5C"/>
                </a:solidFill>
                <a:latin typeface="Calibri"/>
              </a:rPr>
              <a:t>Application</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Application Segment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Structure &amp; Attractiveness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Value Analysis</a:t>
            </a:r>
          </a:p>
        </p:txBody>
      </p:sp>
      <p:sp>
        <p:nvSpPr>
          <p:cNvPr id="12" name="Rectangle 11"/>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By Application Segment Outlook</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Segment analysis of market size, growth and share across 6 sub-segments of Application, 2026–2036</a:t>
            </a:r>
          </a:p>
        </p:txBody>
      </p:sp>
      <p:sp>
        <p:nvSpPr>
          <p:cNvPr id="7" name="TextBox 6"/>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Application segment categorizes the market by application. Each sub-category is evaluated on market size, growth outlook and adoption trends across the forecast period.</a:t>
            </a:r>
          </a:p>
        </p:txBody>
      </p:sp>
      <p:sp>
        <p:nvSpPr>
          <p:cNvPr id="8" name="Rectangle 7"/>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Sub-Segment</a:t>
            </a:r>
          </a:p>
        </p:txBody>
      </p:sp>
      <p:sp>
        <p:nvSpPr>
          <p:cNvPr id="10" name="Rectangle 9"/>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2" name="Rectangle 11"/>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4" name="Rectangle 13"/>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16" name="Rounded Rectangle 15"/>
          <p:cNvSpPr/>
          <p:nvPr/>
        </p:nvSpPr>
        <p:spPr>
          <a:xfrm>
            <a:off x="1866900" y="1773916"/>
            <a:ext cx="1571625"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866900" y="1992961"/>
            <a:ext cx="1571625"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905000"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Dietary Supplements &amp; Nutraceutic…</a:t>
            </a:r>
          </a:p>
        </p:txBody>
      </p:sp>
      <p:sp>
        <p:nvSpPr>
          <p:cNvPr id="19" name="Rectangle 18"/>
          <p:cNvSpPr/>
          <p:nvPr/>
        </p:nvSpPr>
        <p:spPr>
          <a:xfrm>
            <a:off x="1866900"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0" name="Rectangle 19"/>
          <p:cNvSpPr/>
          <p:nvPr/>
        </p:nvSpPr>
        <p:spPr>
          <a:xfrm>
            <a:off x="1866900"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1" name="Rectangle 20"/>
          <p:cNvSpPr/>
          <p:nvPr/>
        </p:nvSpPr>
        <p:spPr>
          <a:xfrm>
            <a:off x="1866900"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2" name="Oval 21"/>
          <p:cNvSpPr/>
          <p:nvPr/>
        </p:nvSpPr>
        <p:spPr>
          <a:xfrm>
            <a:off x="2490788"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23" name="Rounded Rectangle 22"/>
          <p:cNvSpPr/>
          <p:nvPr/>
        </p:nvSpPr>
        <p:spPr>
          <a:xfrm>
            <a:off x="3552825" y="1773916"/>
            <a:ext cx="1571625"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552825" y="1992961"/>
            <a:ext cx="1571625"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590925"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Pharmaceuticals &amp; Biomedical</a:t>
            </a:r>
          </a:p>
        </p:txBody>
      </p:sp>
      <p:sp>
        <p:nvSpPr>
          <p:cNvPr id="26" name="Rectangle 25"/>
          <p:cNvSpPr/>
          <p:nvPr/>
        </p:nvSpPr>
        <p:spPr>
          <a:xfrm>
            <a:off x="3552825"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27" name="Rectangle 26"/>
          <p:cNvSpPr/>
          <p:nvPr/>
        </p:nvSpPr>
        <p:spPr>
          <a:xfrm>
            <a:off x="3552825"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28" name="Rectangle 27"/>
          <p:cNvSpPr/>
          <p:nvPr/>
        </p:nvSpPr>
        <p:spPr>
          <a:xfrm>
            <a:off x="3552825"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29" name="Oval 28"/>
          <p:cNvSpPr/>
          <p:nvPr/>
        </p:nvSpPr>
        <p:spPr>
          <a:xfrm>
            <a:off x="4176712"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30" name="Rounded Rectangle 29"/>
          <p:cNvSpPr/>
          <p:nvPr/>
        </p:nvSpPr>
        <p:spPr>
          <a:xfrm>
            <a:off x="5238750" y="1773916"/>
            <a:ext cx="1571625" cy="438089"/>
          </a:xfrm>
          <a:prstGeom prst="roundRect">
            <a:avLst>
              <a:gd name="adj" fmla="val 18000"/>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238750" y="1992961"/>
            <a:ext cx="1571625" cy="219044"/>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276850"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Functional Food &amp; Beverages</a:t>
            </a:r>
          </a:p>
        </p:txBody>
      </p:sp>
      <p:sp>
        <p:nvSpPr>
          <p:cNvPr id="33" name="Rectangle 32"/>
          <p:cNvSpPr/>
          <p:nvPr/>
        </p:nvSpPr>
        <p:spPr>
          <a:xfrm>
            <a:off x="5238750"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4" name="Rectangle 33"/>
          <p:cNvSpPr/>
          <p:nvPr/>
        </p:nvSpPr>
        <p:spPr>
          <a:xfrm>
            <a:off x="5238750"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5" name="Rectangle 34"/>
          <p:cNvSpPr/>
          <p:nvPr/>
        </p:nvSpPr>
        <p:spPr>
          <a:xfrm>
            <a:off x="5238750"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6" name="Oval 35"/>
          <p:cNvSpPr/>
          <p:nvPr/>
        </p:nvSpPr>
        <p:spPr>
          <a:xfrm>
            <a:off x="5862638" y="1445350"/>
            <a:ext cx="323850" cy="310313"/>
          </a:xfrm>
          <a:prstGeom prst="ellipse">
            <a:avLst/>
          </a:prstGeom>
          <a:solidFill>
            <a:srgbClr val="0081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3</a:t>
            </a:r>
          </a:p>
        </p:txBody>
      </p:sp>
      <p:sp>
        <p:nvSpPr>
          <p:cNvPr id="37" name="Rounded Rectangle 36"/>
          <p:cNvSpPr/>
          <p:nvPr/>
        </p:nvSpPr>
        <p:spPr>
          <a:xfrm>
            <a:off x="6924675" y="1773916"/>
            <a:ext cx="1571625" cy="438089"/>
          </a:xfrm>
          <a:prstGeom prst="roundRect">
            <a:avLst>
              <a:gd name="adj" fmla="val 18000"/>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6924675" y="1992961"/>
            <a:ext cx="1571625" cy="219044"/>
          </a:xfrm>
          <a:prstGeom prst="rect">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962775"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Cosmetics &amp; Personal Care</a:t>
            </a:r>
          </a:p>
        </p:txBody>
      </p:sp>
      <p:sp>
        <p:nvSpPr>
          <p:cNvPr id="40" name="Rectangle 39"/>
          <p:cNvSpPr/>
          <p:nvPr/>
        </p:nvSpPr>
        <p:spPr>
          <a:xfrm>
            <a:off x="6924675"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1" name="Rectangle 40"/>
          <p:cNvSpPr/>
          <p:nvPr/>
        </p:nvSpPr>
        <p:spPr>
          <a:xfrm>
            <a:off x="6924675"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2" name="Rectangle 41"/>
          <p:cNvSpPr/>
          <p:nvPr/>
        </p:nvSpPr>
        <p:spPr>
          <a:xfrm>
            <a:off x="6924675"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3" name="Oval 42"/>
          <p:cNvSpPr/>
          <p:nvPr/>
        </p:nvSpPr>
        <p:spPr>
          <a:xfrm>
            <a:off x="7548562" y="1445350"/>
            <a:ext cx="323850" cy="310313"/>
          </a:xfrm>
          <a:prstGeom prst="ellipse">
            <a:avLst/>
          </a:prstGeom>
          <a:solidFill>
            <a:srgbClr val="6F3CC2"/>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4</a:t>
            </a:r>
          </a:p>
        </p:txBody>
      </p:sp>
      <p:sp>
        <p:nvSpPr>
          <p:cNvPr id="44" name="Rounded Rectangle 43"/>
          <p:cNvSpPr/>
          <p:nvPr/>
        </p:nvSpPr>
        <p:spPr>
          <a:xfrm>
            <a:off x="8610600" y="1773916"/>
            <a:ext cx="1571625" cy="438089"/>
          </a:xfrm>
          <a:prstGeom prst="roundRect">
            <a:avLst>
              <a:gd name="adj" fmla="val 18000"/>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8610600" y="1992961"/>
            <a:ext cx="1571625" cy="219044"/>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648700"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Industrial &amp; Biomaterials</a:t>
            </a:r>
          </a:p>
        </p:txBody>
      </p:sp>
      <p:sp>
        <p:nvSpPr>
          <p:cNvPr id="47" name="Rectangle 46"/>
          <p:cNvSpPr/>
          <p:nvPr/>
        </p:nvSpPr>
        <p:spPr>
          <a:xfrm>
            <a:off x="8610600"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48" name="Rectangle 47"/>
          <p:cNvSpPr/>
          <p:nvPr/>
        </p:nvSpPr>
        <p:spPr>
          <a:xfrm>
            <a:off x="8610600"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49" name="Rectangle 48"/>
          <p:cNvSpPr/>
          <p:nvPr/>
        </p:nvSpPr>
        <p:spPr>
          <a:xfrm>
            <a:off x="8610600"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50" name="Oval 49"/>
          <p:cNvSpPr/>
          <p:nvPr/>
        </p:nvSpPr>
        <p:spPr>
          <a:xfrm>
            <a:off x="9234488" y="1445350"/>
            <a:ext cx="323850" cy="310313"/>
          </a:xfrm>
          <a:prstGeom prst="ellipse">
            <a:avLst/>
          </a:prstGeom>
          <a:solidFill>
            <a:srgbClr val="A86F00"/>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5</a:t>
            </a:r>
          </a:p>
        </p:txBody>
      </p:sp>
      <p:sp>
        <p:nvSpPr>
          <p:cNvPr id="51" name="Rounded Rectangle 50"/>
          <p:cNvSpPr/>
          <p:nvPr/>
        </p:nvSpPr>
        <p:spPr>
          <a:xfrm>
            <a:off x="10296525" y="1773916"/>
            <a:ext cx="1571625" cy="438089"/>
          </a:xfrm>
          <a:prstGeom prst="roundRect">
            <a:avLst>
              <a:gd name="adj" fmla="val 18000"/>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10296525" y="1992961"/>
            <a:ext cx="1571625" cy="219044"/>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10334625"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Animal Nutrition &amp; Pet Care</a:t>
            </a:r>
          </a:p>
        </p:txBody>
      </p:sp>
      <p:sp>
        <p:nvSpPr>
          <p:cNvPr id="54" name="Rectangle 53"/>
          <p:cNvSpPr/>
          <p:nvPr/>
        </p:nvSpPr>
        <p:spPr>
          <a:xfrm>
            <a:off x="10296525"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
            </a:r>
          </a:p>
        </p:txBody>
      </p:sp>
      <p:sp>
        <p:nvSpPr>
          <p:cNvPr id="55" name="Rectangle 54"/>
          <p:cNvSpPr/>
          <p:nvPr/>
        </p:nvSpPr>
        <p:spPr>
          <a:xfrm>
            <a:off x="10296525"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
            </a:r>
          </a:p>
        </p:txBody>
      </p:sp>
      <p:sp>
        <p:nvSpPr>
          <p:cNvPr id="56" name="Rectangle 55"/>
          <p:cNvSpPr/>
          <p:nvPr/>
        </p:nvSpPr>
        <p:spPr>
          <a:xfrm>
            <a:off x="10296525"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
            </a:r>
          </a:p>
        </p:txBody>
      </p:sp>
      <p:sp>
        <p:nvSpPr>
          <p:cNvPr id="57" name="Oval 56"/>
          <p:cNvSpPr/>
          <p:nvPr/>
        </p:nvSpPr>
        <p:spPr>
          <a:xfrm>
            <a:off x="10920412" y="1445350"/>
            <a:ext cx="323850" cy="310313"/>
          </a:xfrm>
          <a:prstGeom prst="ellipse">
            <a:avLst/>
          </a:prstGeom>
          <a:solidFill>
            <a:srgbClr val="A35313"/>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6</a:t>
            </a:r>
          </a:p>
        </p:txBody>
      </p:sp>
      <p:sp>
        <p:nvSpPr>
          <p:cNvPr id="58" name="Rounded Rectangle 57"/>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B2E4A"/>
                </a:solidFill>
                <a:latin typeface="Calibri"/>
              </a:rPr>
              <a:t>Key Highlights</a:t>
            </a:r>
          </a:p>
        </p:txBody>
      </p:sp>
      <p:sp>
        <p:nvSpPr>
          <p:cNvPr id="60" name="Rectangle 59"/>
          <p:cNvSpPr/>
          <p:nvPr/>
        </p:nvSpPr>
        <p:spPr>
          <a:xfrm>
            <a:off x="457200" y="4146897"/>
            <a:ext cx="2971800" cy="18254"/>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457200" y="4219912"/>
            <a:ext cx="29718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2E2E2E"/>
                </a:solidFill>
                <a:latin typeface="Calibri"/>
              </a:rPr>
              <a:t/>
            </a:r>
          </a:p>
          <a:p>
            <a:pPr algn="l">
              <a:lnSpc>
                <a:spcPct val="110000"/>
              </a:lnSpc>
              <a:spcBef>
                <a:spcPts val="0"/>
              </a:spcBef>
              <a:spcAft>
                <a:spcPts val="500"/>
              </a:spcAft>
            </a:pPr>
            <a:r>
              <a:rPr sz="1100" b="0">
                <a:solidFill>
                  <a:srgbClr val="2E2E2E"/>
                </a:solidFill>
                <a:latin typeface="Calibri"/>
              </a:rPr>
              <a:t/>
            </a:r>
          </a:p>
        </p:txBody>
      </p:sp>
      <p:sp>
        <p:nvSpPr>
          <p:cNvPr id="62" name="Rounded Rectangle 61"/>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B2E4A"/>
                </a:solidFill>
                <a:latin typeface="Calibri"/>
              </a:rPr>
              <a:t>Sub-Segment Insights</a:t>
            </a:r>
          </a:p>
        </p:txBody>
      </p:sp>
      <p:sp>
        <p:nvSpPr>
          <p:cNvPr id="64" name="Rectangle 63"/>
          <p:cNvSpPr/>
          <p:nvPr/>
        </p:nvSpPr>
        <p:spPr>
          <a:xfrm>
            <a:off x="3810000" y="4146897"/>
            <a:ext cx="4210050" cy="18254"/>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3810000" y="4219912"/>
            <a:ext cx="4210050" cy="2117429"/>
          </a:xfrm>
          <a:prstGeom prst="rect">
            <a:avLst/>
          </a:prstGeom>
          <a:noFill/>
        </p:spPr>
        <p:txBody>
          <a:bodyPr wrap="square" lIns="28575" rIns="28575" tIns="9525" bIns="9525">
            <a:spAutoFit/>
          </a:bodyPr>
          <a:lstStyle/>
          <a:p>
            <a:pPr algn="l">
              <a:lnSpc>
                <a:spcPct val="105000"/>
              </a:lnSpc>
              <a:spcBef>
                <a:spcPts val="0"/>
              </a:spcBef>
              <a:spcAft>
                <a:spcPts val="300"/>
              </a:spcAft>
            </a:pPr>
            <a:r>
              <a:rPr sz="1100" b="0">
                <a:solidFill>
                  <a:srgbClr val="0B2E4A"/>
                </a:solidFill>
                <a:latin typeface="Calibri"/>
              </a:rPr>
              <a:t/>
            </a:r>
            <a:r>
              <a:rPr sz="1100" b="1">
                <a:solidFill>
                  <a:srgbClr val="0B2E4A"/>
                </a:solidFill>
                <a:latin typeface="Calibri"/>
              </a:rPr>
              <a:t/>
            </a:r>
            <a:r>
              <a:rPr sz="1100" b="0">
                <a:solidFill>
                  <a:srgbClr val="2E2E2E"/>
                </a:solidFill>
                <a:latin typeface="Calibri"/>
              </a:rPr>
              <a:t/>
            </a:r>
          </a:p>
          <a:p>
            <a:pPr algn="l">
              <a:lnSpc>
                <a:spcPct val="105000"/>
              </a:lnSpc>
              <a:spcBef>
                <a:spcPts val="0"/>
              </a:spcBef>
              <a:spcAft>
                <a:spcPts val="300"/>
              </a:spcAft>
            </a:pPr>
            <a:r>
              <a:rPr sz="1100" b="0">
                <a:solidFill>
                  <a:srgbClr val="0E72AE"/>
                </a:solidFill>
                <a:latin typeface="Calibri"/>
              </a:rPr>
              <a:t/>
            </a:r>
            <a:r>
              <a:rPr sz="1100" b="1">
                <a:solidFill>
                  <a:srgbClr val="0E72AE"/>
                </a:solidFill>
                <a:latin typeface="Calibri"/>
              </a:rPr>
              <a:t/>
            </a:r>
            <a:r>
              <a:rPr sz="1100" b="0">
                <a:solidFill>
                  <a:srgbClr val="2E2E2E"/>
                </a:solidFill>
                <a:latin typeface="Calibri"/>
              </a:rPr>
              <a:t/>
            </a:r>
          </a:p>
          <a:p>
            <a:pPr algn="l">
              <a:lnSpc>
                <a:spcPct val="105000"/>
              </a:lnSpc>
              <a:spcBef>
                <a:spcPts val="0"/>
              </a:spcBef>
              <a:spcAft>
                <a:spcPts val="300"/>
              </a:spcAft>
            </a:pPr>
            <a:r>
              <a:rPr sz="1100" b="0">
                <a:solidFill>
                  <a:srgbClr val="008189"/>
                </a:solidFill>
                <a:latin typeface="Calibri"/>
              </a:rPr>
              <a:t/>
            </a:r>
            <a:r>
              <a:rPr sz="1100" b="1">
                <a:solidFill>
                  <a:srgbClr val="008189"/>
                </a:solidFill>
                <a:latin typeface="Calibri"/>
              </a:rPr>
              <a:t/>
            </a:r>
            <a:r>
              <a:rPr sz="1100" b="0">
                <a:solidFill>
                  <a:srgbClr val="2E2E2E"/>
                </a:solidFill>
                <a:latin typeface="Calibri"/>
              </a:rPr>
              <a:t/>
            </a:r>
          </a:p>
          <a:p>
            <a:pPr algn="l">
              <a:lnSpc>
                <a:spcPct val="105000"/>
              </a:lnSpc>
              <a:spcBef>
                <a:spcPts val="0"/>
              </a:spcBef>
              <a:spcAft>
                <a:spcPts val="300"/>
              </a:spcAft>
            </a:pPr>
            <a:r>
              <a:rPr sz="1100" b="0">
                <a:solidFill>
                  <a:srgbClr val="6F3CC2"/>
                </a:solidFill>
                <a:latin typeface="Calibri"/>
              </a:rPr>
              <a:t/>
            </a:r>
            <a:r>
              <a:rPr sz="1100" b="1">
                <a:solidFill>
                  <a:srgbClr val="6F3CC2"/>
                </a:solidFill>
                <a:latin typeface="Calibri"/>
              </a:rPr>
              <a:t/>
            </a:r>
            <a:r>
              <a:rPr sz="1100" b="0">
                <a:solidFill>
                  <a:srgbClr val="2E2E2E"/>
                </a:solidFill>
                <a:latin typeface="Calibri"/>
              </a:rPr>
              <a:t/>
            </a:r>
          </a:p>
          <a:p>
            <a:pPr algn="l">
              <a:lnSpc>
                <a:spcPct val="105000"/>
              </a:lnSpc>
              <a:spcBef>
                <a:spcPts val="0"/>
              </a:spcBef>
              <a:spcAft>
                <a:spcPts val="300"/>
              </a:spcAft>
            </a:pPr>
            <a:r>
              <a:rPr sz="1100" b="0">
                <a:solidFill>
                  <a:srgbClr val="A86F00"/>
                </a:solidFill>
                <a:latin typeface="Calibri"/>
              </a:rPr>
              <a:t/>
            </a:r>
            <a:r>
              <a:rPr sz="1100" b="1">
                <a:solidFill>
                  <a:srgbClr val="A86F00"/>
                </a:solidFill>
                <a:latin typeface="Calibri"/>
              </a:rPr>
              <a:t/>
            </a:r>
            <a:r>
              <a:rPr sz="1100" b="0">
                <a:solidFill>
                  <a:srgbClr val="2E2E2E"/>
                </a:solidFill>
                <a:latin typeface="Calibri"/>
              </a:rPr>
              <a:t/>
            </a:r>
          </a:p>
          <a:p>
            <a:pPr algn="l">
              <a:lnSpc>
                <a:spcPct val="105000"/>
              </a:lnSpc>
              <a:spcBef>
                <a:spcPts val="0"/>
              </a:spcBef>
              <a:spcAft>
                <a:spcPts val="300"/>
              </a:spcAft>
            </a:pPr>
            <a:r>
              <a:rPr sz="1100" b="0">
                <a:solidFill>
                  <a:srgbClr val="A35313"/>
                </a:solidFill>
                <a:latin typeface="Calibri"/>
              </a:rPr>
              <a:t/>
            </a:r>
            <a:r>
              <a:rPr sz="1100" b="1">
                <a:solidFill>
                  <a:srgbClr val="A35313"/>
                </a:solidFill>
                <a:latin typeface="Calibri"/>
              </a:rPr>
              <a:t/>
            </a:r>
            <a:r>
              <a:rPr sz="1100" b="0">
                <a:solidFill>
                  <a:srgbClr val="2E2E2E"/>
                </a:solidFill>
                <a:latin typeface="Calibri"/>
              </a:rPr>
              <a:t/>
            </a:r>
          </a:p>
        </p:txBody>
      </p:sp>
      <p:sp>
        <p:nvSpPr>
          <p:cNvPr id="66" name="Rounded Rectangle 65"/>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B2E4A"/>
                </a:solidFill>
                <a:latin typeface="Calibri"/>
              </a:rPr>
              <a:t>Segment Overview</a:t>
            </a:r>
          </a:p>
        </p:txBody>
      </p:sp>
      <p:sp>
        <p:nvSpPr>
          <p:cNvPr id="68" name="Rectangle 67"/>
          <p:cNvSpPr/>
          <p:nvPr/>
        </p:nvSpPr>
        <p:spPr>
          <a:xfrm>
            <a:off x="8401050" y="4146897"/>
            <a:ext cx="3333750" cy="18254"/>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00ACAC"/>
                </a:solidFill>
                <a:latin typeface="Calibri"/>
              </a:rPr>
              <a:t>✓  </a:t>
            </a:r>
            <a:r>
              <a:rPr sz="1100" b="0">
                <a:solidFill>
                  <a:srgbClr val="2E2E2E"/>
                </a:solidFill>
                <a:latin typeface="Calibri"/>
              </a:rPr>
              <a:t>The Application split shows how demand is distributed across application types and where growth concentrates.</a:t>
            </a:r>
          </a:p>
          <a:p>
            <a:pPr algn="l">
              <a:lnSpc>
                <a:spcPct val="110000"/>
              </a:lnSpc>
              <a:spcBef>
                <a:spcPts val="0"/>
              </a:spcBef>
              <a:spcAft>
                <a:spcPts val="500"/>
              </a:spcAft>
            </a:pPr>
            <a:r>
              <a:rPr sz="1100" b="1">
                <a:solidFill>
                  <a:srgbClr val="00ACAC"/>
                </a:solidFill>
                <a:latin typeface="Calibri"/>
              </a:rPr>
              <a:t>✓  </a:t>
            </a:r>
            <a:r>
              <a:rPr sz="1100" b="0">
                <a:solidFill>
                  <a:srgbClr val="2E2E2E"/>
                </a:solidFill>
                <a:latin typeface="Calibri"/>
              </a:rPr>
              <a:t>Shifting preferences and product innovation are reshaping the mix through 2036.</a:t>
            </a:r>
          </a:p>
        </p:txBody>
      </p:sp>
      <p:sp>
        <p:nvSpPr>
          <p:cNvPr id="70" name="Rectangle 69"/>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B2E4A"/>
                </a:solidFill>
                <a:latin typeface="Calibri"/>
              </a:rPr>
              <a:t/>
            </a:r>
          </a:p>
        </p:txBody>
      </p:sp>
      <p:sp>
        <p:nvSpPr>
          <p:cNvPr id="72" name="TextBox 71"/>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TMR Analysis, 2026</a:t>
            </a:r>
          </a:p>
        </p:txBody>
      </p:sp>
      <p:sp>
        <p:nvSpPr>
          <p:cNvPr id="73" name="Rectangle 72"/>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75" name="Picture 74" descr="1_227_605E5C.png"/>
          <p:cNvPicPr>
            <a:picLocks noChangeAspect="1"/>
          </p:cNvPicPr>
          <p:nvPr/>
        </p:nvPicPr>
        <p:blipFill>
          <a:blip r:embed="rId4"/>
          <a:stretch>
            <a:fillRect/>
          </a:stretch>
        </p:blipFill>
        <p:spPr>
          <a:xfrm>
            <a:off x="2054848" y="2286582"/>
            <a:ext cx="1195728" cy="361950"/>
          </a:xfrm>
          <a:prstGeom prst="rect">
            <a:avLst/>
          </a:prstGeom>
        </p:spPr>
      </p:pic>
      <p:pic>
        <p:nvPicPr>
          <p:cNvPr id="76" name="Picture 75" descr="1_706_605E5C.png"/>
          <p:cNvPicPr>
            <a:picLocks noChangeAspect="1"/>
          </p:cNvPicPr>
          <p:nvPr/>
        </p:nvPicPr>
        <p:blipFill>
          <a:blip r:embed="rId5"/>
          <a:stretch>
            <a:fillRect/>
          </a:stretch>
        </p:blipFill>
        <p:spPr>
          <a:xfrm>
            <a:off x="2054848" y="2779432"/>
            <a:ext cx="1195728" cy="361950"/>
          </a:xfrm>
          <a:prstGeom prst="rect">
            <a:avLst/>
          </a:prstGeom>
        </p:spPr>
      </p:pic>
      <p:pic>
        <p:nvPicPr>
          <p:cNvPr id="77" name="Picture 76" descr="3_4__605E5C.png"/>
          <p:cNvPicPr>
            <a:picLocks noChangeAspect="1"/>
          </p:cNvPicPr>
          <p:nvPr/>
        </p:nvPicPr>
        <p:blipFill>
          <a:blip r:embed="rId6"/>
          <a:stretch>
            <a:fillRect/>
          </a:stretch>
        </p:blipFill>
        <p:spPr>
          <a:xfrm>
            <a:off x="2161494" y="3272281"/>
            <a:ext cx="982436" cy="361950"/>
          </a:xfrm>
          <a:prstGeom prst="rect">
            <a:avLst/>
          </a:prstGeom>
        </p:spPr>
      </p:pic>
      <p:pic>
        <p:nvPicPr>
          <p:cNvPr id="78" name="Picture 77" descr="705_7_605E5C.png"/>
          <p:cNvPicPr>
            <a:picLocks noChangeAspect="1"/>
          </p:cNvPicPr>
          <p:nvPr/>
        </p:nvPicPr>
        <p:blipFill>
          <a:blip r:embed="rId7"/>
          <a:stretch>
            <a:fillRect/>
          </a:stretch>
        </p:blipFill>
        <p:spPr>
          <a:xfrm>
            <a:off x="3740773" y="2286582"/>
            <a:ext cx="1195728" cy="361950"/>
          </a:xfrm>
          <a:prstGeom prst="rect">
            <a:avLst/>
          </a:prstGeom>
        </p:spPr>
      </p:pic>
      <p:pic>
        <p:nvPicPr>
          <p:cNvPr id="79" name="Picture 78" descr="926_6_605E5C.png"/>
          <p:cNvPicPr>
            <a:picLocks noChangeAspect="1"/>
          </p:cNvPicPr>
          <p:nvPr/>
        </p:nvPicPr>
        <p:blipFill>
          <a:blip r:embed="rId8"/>
          <a:stretch>
            <a:fillRect/>
          </a:stretch>
        </p:blipFill>
        <p:spPr>
          <a:xfrm>
            <a:off x="3740773" y="2779432"/>
            <a:ext cx="1195728" cy="361950"/>
          </a:xfrm>
          <a:prstGeom prst="rect">
            <a:avLst/>
          </a:prstGeom>
        </p:spPr>
      </p:pic>
      <p:pic>
        <p:nvPicPr>
          <p:cNvPr id="80" name="Picture 79" descr="2_8__605E5C.png"/>
          <p:cNvPicPr>
            <a:picLocks noChangeAspect="1"/>
          </p:cNvPicPr>
          <p:nvPr/>
        </p:nvPicPr>
        <p:blipFill>
          <a:blip r:embed="rId9"/>
          <a:stretch>
            <a:fillRect/>
          </a:stretch>
        </p:blipFill>
        <p:spPr>
          <a:xfrm>
            <a:off x="3847419" y="3272281"/>
            <a:ext cx="982436" cy="361950"/>
          </a:xfrm>
          <a:prstGeom prst="rect">
            <a:avLst/>
          </a:prstGeom>
        </p:spPr>
      </p:pic>
      <p:pic>
        <p:nvPicPr>
          <p:cNvPr id="81" name="Picture 80" descr="612_7_605E5C.png"/>
          <p:cNvPicPr>
            <a:picLocks noChangeAspect="1"/>
          </p:cNvPicPr>
          <p:nvPr/>
        </p:nvPicPr>
        <p:blipFill>
          <a:blip r:embed="rId10"/>
          <a:stretch>
            <a:fillRect/>
          </a:stretch>
        </p:blipFill>
        <p:spPr>
          <a:xfrm>
            <a:off x="5426698" y="2286582"/>
            <a:ext cx="1195728" cy="361950"/>
          </a:xfrm>
          <a:prstGeom prst="rect">
            <a:avLst/>
          </a:prstGeom>
        </p:spPr>
      </p:pic>
      <p:pic>
        <p:nvPicPr>
          <p:cNvPr id="82" name="Picture 81" descr="1_175_605E5C.png"/>
          <p:cNvPicPr>
            <a:picLocks noChangeAspect="1"/>
          </p:cNvPicPr>
          <p:nvPr/>
        </p:nvPicPr>
        <p:blipFill>
          <a:blip r:embed="rId11"/>
          <a:stretch>
            <a:fillRect/>
          </a:stretch>
        </p:blipFill>
        <p:spPr>
          <a:xfrm>
            <a:off x="5426698" y="2779432"/>
            <a:ext cx="1195728" cy="361950"/>
          </a:xfrm>
          <a:prstGeom prst="rect">
            <a:avLst/>
          </a:prstGeom>
        </p:spPr>
      </p:pic>
      <p:pic>
        <p:nvPicPr>
          <p:cNvPr id="83" name="Picture 82" descr="6_7__605E5C.png"/>
          <p:cNvPicPr>
            <a:picLocks noChangeAspect="1"/>
          </p:cNvPicPr>
          <p:nvPr/>
        </p:nvPicPr>
        <p:blipFill>
          <a:blip r:embed="rId12"/>
          <a:stretch>
            <a:fillRect/>
          </a:stretch>
        </p:blipFill>
        <p:spPr>
          <a:xfrm>
            <a:off x="5533344" y="3272281"/>
            <a:ext cx="982436" cy="361950"/>
          </a:xfrm>
          <a:prstGeom prst="rect">
            <a:avLst/>
          </a:prstGeom>
        </p:spPr>
      </p:pic>
      <p:pic>
        <p:nvPicPr>
          <p:cNvPr id="84" name="Picture 83" descr="468_5_605E5C.png"/>
          <p:cNvPicPr>
            <a:picLocks noChangeAspect="1"/>
          </p:cNvPicPr>
          <p:nvPr/>
        </p:nvPicPr>
        <p:blipFill>
          <a:blip r:embed="rId13"/>
          <a:stretch>
            <a:fillRect/>
          </a:stretch>
        </p:blipFill>
        <p:spPr>
          <a:xfrm>
            <a:off x="7112623" y="2286582"/>
            <a:ext cx="1195728" cy="361950"/>
          </a:xfrm>
          <a:prstGeom prst="rect">
            <a:avLst/>
          </a:prstGeom>
        </p:spPr>
      </p:pic>
      <p:pic>
        <p:nvPicPr>
          <p:cNvPr id="85" name="Picture 84" descr="596_2_605E5C.png"/>
          <p:cNvPicPr>
            <a:picLocks noChangeAspect="1"/>
          </p:cNvPicPr>
          <p:nvPr/>
        </p:nvPicPr>
        <p:blipFill>
          <a:blip r:embed="rId14"/>
          <a:stretch>
            <a:fillRect/>
          </a:stretch>
        </p:blipFill>
        <p:spPr>
          <a:xfrm>
            <a:off x="7112623" y="2779432"/>
            <a:ext cx="1195728" cy="361950"/>
          </a:xfrm>
          <a:prstGeom prst="rect">
            <a:avLst/>
          </a:prstGeom>
        </p:spPr>
      </p:pic>
      <p:pic>
        <p:nvPicPr>
          <p:cNvPr id="86" name="Picture 85" descr="2_4__605E5C.png"/>
          <p:cNvPicPr>
            <a:picLocks noChangeAspect="1"/>
          </p:cNvPicPr>
          <p:nvPr/>
        </p:nvPicPr>
        <p:blipFill>
          <a:blip r:embed="rId15"/>
          <a:stretch>
            <a:fillRect/>
          </a:stretch>
        </p:blipFill>
        <p:spPr>
          <a:xfrm>
            <a:off x="7219269" y="3272281"/>
            <a:ext cx="982436" cy="361950"/>
          </a:xfrm>
          <a:prstGeom prst="rect">
            <a:avLst/>
          </a:prstGeom>
        </p:spPr>
      </p:pic>
      <p:pic>
        <p:nvPicPr>
          <p:cNvPr id="87" name="Picture 86" descr="378_8_605E5C.png"/>
          <p:cNvPicPr>
            <a:picLocks noChangeAspect="1"/>
          </p:cNvPicPr>
          <p:nvPr/>
        </p:nvPicPr>
        <p:blipFill>
          <a:blip r:embed="rId16"/>
          <a:stretch>
            <a:fillRect/>
          </a:stretch>
        </p:blipFill>
        <p:spPr>
          <a:xfrm>
            <a:off x="8798548" y="2286582"/>
            <a:ext cx="1195728" cy="361950"/>
          </a:xfrm>
          <a:prstGeom prst="rect">
            <a:avLst/>
          </a:prstGeom>
        </p:spPr>
      </p:pic>
      <p:pic>
        <p:nvPicPr>
          <p:cNvPr id="88" name="Picture 87" descr="627_5_605E5C.png"/>
          <p:cNvPicPr>
            <a:picLocks noChangeAspect="1"/>
          </p:cNvPicPr>
          <p:nvPr/>
        </p:nvPicPr>
        <p:blipFill>
          <a:blip r:embed="rId17"/>
          <a:stretch>
            <a:fillRect/>
          </a:stretch>
        </p:blipFill>
        <p:spPr>
          <a:xfrm>
            <a:off x="8798548" y="2779432"/>
            <a:ext cx="1195728" cy="361950"/>
          </a:xfrm>
          <a:prstGeom prst="rect">
            <a:avLst/>
          </a:prstGeom>
        </p:spPr>
      </p:pic>
      <p:pic>
        <p:nvPicPr>
          <p:cNvPr id="89" name="Picture 88" descr="5_2__605E5C.png"/>
          <p:cNvPicPr>
            <a:picLocks noChangeAspect="1"/>
          </p:cNvPicPr>
          <p:nvPr/>
        </p:nvPicPr>
        <p:blipFill>
          <a:blip r:embed="rId18"/>
          <a:stretch>
            <a:fillRect/>
          </a:stretch>
        </p:blipFill>
        <p:spPr>
          <a:xfrm>
            <a:off x="8905194" y="3272281"/>
            <a:ext cx="982436" cy="361950"/>
          </a:xfrm>
          <a:prstGeom prst="rect">
            <a:avLst/>
          </a:prstGeom>
        </p:spPr>
      </p:pic>
      <p:pic>
        <p:nvPicPr>
          <p:cNvPr id="90" name="Picture 89" descr="212_2_605E5C.png"/>
          <p:cNvPicPr>
            <a:picLocks noChangeAspect="1"/>
          </p:cNvPicPr>
          <p:nvPr/>
        </p:nvPicPr>
        <p:blipFill>
          <a:blip r:embed="rId19"/>
          <a:stretch>
            <a:fillRect/>
          </a:stretch>
        </p:blipFill>
        <p:spPr>
          <a:xfrm>
            <a:off x="10484473" y="2286582"/>
            <a:ext cx="1195728" cy="361950"/>
          </a:xfrm>
          <a:prstGeom prst="rect">
            <a:avLst/>
          </a:prstGeom>
        </p:spPr>
      </p:pic>
      <p:pic>
        <p:nvPicPr>
          <p:cNvPr id="91" name="Picture 90" descr="333_1_605E5C.png"/>
          <p:cNvPicPr>
            <a:picLocks noChangeAspect="1"/>
          </p:cNvPicPr>
          <p:nvPr/>
        </p:nvPicPr>
        <p:blipFill>
          <a:blip r:embed="rId20"/>
          <a:stretch>
            <a:fillRect/>
          </a:stretch>
        </p:blipFill>
        <p:spPr>
          <a:xfrm>
            <a:off x="10484473" y="2779432"/>
            <a:ext cx="1195728" cy="361950"/>
          </a:xfrm>
          <a:prstGeom prst="rect">
            <a:avLst/>
          </a:prstGeom>
        </p:spPr>
      </p:pic>
      <p:pic>
        <p:nvPicPr>
          <p:cNvPr id="92" name="Picture 91" descr="4_6__605E5C.png"/>
          <p:cNvPicPr>
            <a:picLocks noChangeAspect="1"/>
          </p:cNvPicPr>
          <p:nvPr/>
        </p:nvPicPr>
        <p:blipFill>
          <a:blip r:embed="rId21"/>
          <a:stretch>
            <a:fillRect/>
          </a:stretch>
        </p:blipFill>
        <p:spPr>
          <a:xfrm>
            <a:off x="10591119" y="3272281"/>
            <a:ext cx="982436" cy="361950"/>
          </a:xfrm>
          <a:prstGeom prst="rect">
            <a:avLst/>
          </a:prstGeom>
        </p:spPr>
      </p:pic>
      <p:pic>
        <p:nvPicPr>
          <p:cNvPr id="93" name="Picture 92" descr="lock.png"/>
          <p:cNvPicPr>
            <a:picLocks noChangeAspect="1"/>
          </p:cNvPicPr>
          <p:nvPr/>
        </p:nvPicPr>
        <p:blipFill>
          <a:blip r:embed="rId22"/>
          <a:stretch>
            <a:fillRect/>
          </a:stretch>
        </p:blipFill>
        <p:spPr>
          <a:xfrm>
            <a:off x="2559367" y="2827057"/>
            <a:ext cx="183356" cy="266700"/>
          </a:xfrm>
          <a:prstGeom prst="rect">
            <a:avLst/>
          </a:prstGeom>
        </p:spPr>
      </p:pic>
      <p:pic>
        <p:nvPicPr>
          <p:cNvPr id="94" name="Picture 93" descr="lock.png"/>
          <p:cNvPicPr>
            <a:picLocks noChangeAspect="1"/>
          </p:cNvPicPr>
          <p:nvPr/>
        </p:nvPicPr>
        <p:blipFill>
          <a:blip r:embed="rId22"/>
          <a:stretch>
            <a:fillRect/>
          </a:stretch>
        </p:blipFill>
        <p:spPr>
          <a:xfrm>
            <a:off x="4245292" y="2827057"/>
            <a:ext cx="183356" cy="266700"/>
          </a:xfrm>
          <a:prstGeom prst="rect">
            <a:avLst/>
          </a:prstGeom>
        </p:spPr>
      </p:pic>
      <p:pic>
        <p:nvPicPr>
          <p:cNvPr id="95" name="Picture 94" descr="lock.png"/>
          <p:cNvPicPr>
            <a:picLocks noChangeAspect="1"/>
          </p:cNvPicPr>
          <p:nvPr/>
        </p:nvPicPr>
        <p:blipFill>
          <a:blip r:embed="rId22"/>
          <a:stretch>
            <a:fillRect/>
          </a:stretch>
        </p:blipFill>
        <p:spPr>
          <a:xfrm>
            <a:off x="5931217" y="2827057"/>
            <a:ext cx="183356" cy="266700"/>
          </a:xfrm>
          <a:prstGeom prst="rect">
            <a:avLst/>
          </a:prstGeom>
        </p:spPr>
      </p:pic>
      <p:pic>
        <p:nvPicPr>
          <p:cNvPr id="96" name="Picture 95" descr="lock.png"/>
          <p:cNvPicPr>
            <a:picLocks noChangeAspect="1"/>
          </p:cNvPicPr>
          <p:nvPr/>
        </p:nvPicPr>
        <p:blipFill>
          <a:blip r:embed="rId22"/>
          <a:stretch>
            <a:fillRect/>
          </a:stretch>
        </p:blipFill>
        <p:spPr>
          <a:xfrm>
            <a:off x="7617142" y="2827057"/>
            <a:ext cx="183356" cy="266700"/>
          </a:xfrm>
          <a:prstGeom prst="rect">
            <a:avLst/>
          </a:prstGeom>
        </p:spPr>
      </p:pic>
      <p:pic>
        <p:nvPicPr>
          <p:cNvPr id="97" name="Picture 96" descr="lock.png"/>
          <p:cNvPicPr>
            <a:picLocks noChangeAspect="1"/>
          </p:cNvPicPr>
          <p:nvPr/>
        </p:nvPicPr>
        <p:blipFill>
          <a:blip r:embed="rId22"/>
          <a:stretch>
            <a:fillRect/>
          </a:stretch>
        </p:blipFill>
        <p:spPr>
          <a:xfrm>
            <a:off x="9303067" y="2827057"/>
            <a:ext cx="183356" cy="266700"/>
          </a:xfrm>
          <a:prstGeom prst="rect">
            <a:avLst/>
          </a:prstGeom>
        </p:spPr>
      </p:pic>
      <p:pic>
        <p:nvPicPr>
          <p:cNvPr id="98" name="Picture 97" descr="lock.png"/>
          <p:cNvPicPr>
            <a:picLocks noChangeAspect="1"/>
          </p:cNvPicPr>
          <p:nvPr/>
        </p:nvPicPr>
        <p:blipFill>
          <a:blip r:embed="rId22"/>
          <a:stretch>
            <a:fillRect/>
          </a:stretch>
        </p:blipFill>
        <p:spPr>
          <a:xfrm>
            <a:off x="10988992" y="2827057"/>
            <a:ext cx="183356" cy="266700"/>
          </a:xfrm>
          <a:prstGeom prst="rect">
            <a:avLst/>
          </a:prstGeom>
        </p:spPr>
      </p:pic>
      <p:sp>
        <p:nvSpPr>
          <p:cNvPr id="99" name="TextBox 98"/>
          <p:cNvSpPr txBox="1"/>
          <p:nvPr/>
        </p:nvSpPr>
        <p:spPr>
          <a:xfrm>
            <a:off x="485775" y="4229437"/>
            <a:ext cx="2685479" cy="186689"/>
          </a:xfrm>
          <a:prstGeom prst="rect">
            <a:avLst/>
          </a:prstGeom>
          <a:noFill/>
        </p:spPr>
        <p:txBody>
          <a:bodyPr wrap="none" lIns="0" rIns="0" tIns="0" bIns="0">
            <a:spAutoFit/>
          </a:bodyPr>
          <a:lstStyle/>
          <a:p>
            <a:r>
              <a:rPr sz="1100" b="0">
                <a:solidFill>
                  <a:srgbClr val="2E2E2E"/>
                </a:solidFill>
                <a:latin typeface="Calibri"/>
              </a:rPr>
              <a:t>Among egg protein membrane by application,</a:t>
            </a:r>
          </a:p>
        </p:txBody>
      </p:sp>
      <p:sp>
        <p:nvSpPr>
          <p:cNvPr id="100" name="TextBox 99"/>
          <p:cNvSpPr txBox="1"/>
          <p:nvPr/>
        </p:nvSpPr>
        <p:spPr>
          <a:xfrm>
            <a:off x="485775" y="4397077"/>
            <a:ext cx="2880022" cy="186689"/>
          </a:xfrm>
          <a:prstGeom prst="rect">
            <a:avLst/>
          </a:prstGeom>
          <a:noFill/>
        </p:spPr>
        <p:txBody>
          <a:bodyPr wrap="none" lIns="0" rIns="0" tIns="0" bIns="0">
            <a:spAutoFit/>
          </a:bodyPr>
          <a:lstStyle/>
          <a:p>
            <a:r>
              <a:rPr sz="1100" b="0">
                <a:solidFill>
                  <a:srgbClr val="2E2E2E"/>
                </a:solidFill>
                <a:latin typeface="Calibri"/>
              </a:rPr>
              <a:t>functional food &amp; beverages segment is expected</a:t>
            </a:r>
          </a:p>
        </p:txBody>
      </p:sp>
      <p:sp>
        <p:nvSpPr>
          <p:cNvPr id="101" name="TextBox 100"/>
          <p:cNvSpPr txBox="1"/>
          <p:nvPr/>
        </p:nvSpPr>
        <p:spPr>
          <a:xfrm>
            <a:off x="485775" y="4564717"/>
            <a:ext cx="1827344" cy="186689"/>
          </a:xfrm>
          <a:prstGeom prst="rect">
            <a:avLst/>
          </a:prstGeom>
          <a:noFill/>
        </p:spPr>
        <p:txBody>
          <a:bodyPr wrap="none" lIns="0" rIns="0" tIns="0" bIns="0">
            <a:spAutoFit/>
          </a:bodyPr>
          <a:lstStyle/>
          <a:p>
            <a:r>
              <a:rPr sz="1100" b="0">
                <a:solidFill>
                  <a:srgbClr val="2E2E2E"/>
                </a:solidFill>
                <a:latin typeface="Calibri"/>
              </a:rPr>
              <a:t>to witness the highest CAGR of</a:t>
            </a:r>
          </a:p>
        </p:txBody>
      </p:sp>
      <p:pic>
        <p:nvPicPr>
          <p:cNvPr id="102" name="Picture 101" descr="lock.png"/>
          <p:cNvPicPr>
            <a:picLocks noChangeAspect="1"/>
          </p:cNvPicPr>
          <p:nvPr/>
        </p:nvPicPr>
        <p:blipFill>
          <a:blip r:embed="rId22"/>
          <a:stretch>
            <a:fillRect/>
          </a:stretch>
        </p:blipFill>
        <p:spPr>
          <a:xfrm>
            <a:off x="2261170" y="4554938"/>
            <a:ext cx="128699" cy="187198"/>
          </a:xfrm>
          <a:prstGeom prst="rect">
            <a:avLst/>
          </a:prstGeom>
        </p:spPr>
      </p:pic>
      <p:sp>
        <p:nvSpPr>
          <p:cNvPr id="103" name="TextBox 102"/>
          <p:cNvSpPr txBox="1"/>
          <p:nvPr/>
        </p:nvSpPr>
        <p:spPr>
          <a:xfrm>
            <a:off x="2428666" y="4564717"/>
            <a:ext cx="552871" cy="186689"/>
          </a:xfrm>
          <a:prstGeom prst="rect">
            <a:avLst/>
          </a:prstGeom>
          <a:noFill/>
        </p:spPr>
        <p:txBody>
          <a:bodyPr wrap="none" lIns="0" rIns="0" tIns="0" bIns="0">
            <a:spAutoFit/>
          </a:bodyPr>
          <a:lstStyle/>
          <a:p>
            <a:r>
              <a:rPr sz="1100" b="0">
                <a:solidFill>
                  <a:srgbClr val="2E2E2E"/>
                </a:solidFill>
                <a:latin typeface="Calibri"/>
              </a:rPr>
              <a:t>over the</a:t>
            </a:r>
          </a:p>
        </p:txBody>
      </p:sp>
      <p:sp>
        <p:nvSpPr>
          <p:cNvPr id="104" name="TextBox 103"/>
          <p:cNvSpPr txBox="1"/>
          <p:nvPr/>
        </p:nvSpPr>
        <p:spPr>
          <a:xfrm>
            <a:off x="485775" y="4732357"/>
            <a:ext cx="2477566" cy="186689"/>
          </a:xfrm>
          <a:prstGeom prst="rect">
            <a:avLst/>
          </a:prstGeom>
          <a:noFill/>
        </p:spPr>
        <p:txBody>
          <a:bodyPr wrap="none" lIns="0" rIns="0" tIns="0" bIns="0">
            <a:spAutoFit/>
          </a:bodyPr>
          <a:lstStyle/>
          <a:p>
            <a:r>
              <a:rPr sz="1100" b="0">
                <a:solidFill>
                  <a:srgbClr val="2E2E2E"/>
                </a:solidFill>
                <a:latin typeface="Calibri"/>
              </a:rPr>
              <a:t>forecast period. In terms of value share by</a:t>
            </a:r>
          </a:p>
        </p:txBody>
      </p:sp>
      <p:sp>
        <p:nvSpPr>
          <p:cNvPr id="105" name="TextBox 104"/>
          <p:cNvSpPr txBox="1"/>
          <p:nvPr/>
        </p:nvSpPr>
        <p:spPr>
          <a:xfrm>
            <a:off x="485775" y="4899997"/>
            <a:ext cx="2286843" cy="186689"/>
          </a:xfrm>
          <a:prstGeom prst="rect">
            <a:avLst/>
          </a:prstGeom>
          <a:noFill/>
        </p:spPr>
        <p:txBody>
          <a:bodyPr wrap="none" lIns="0" rIns="0" tIns="0" bIns="0">
            <a:spAutoFit/>
          </a:bodyPr>
          <a:lstStyle/>
          <a:p>
            <a:r>
              <a:rPr sz="1100" b="0">
                <a:solidFill>
                  <a:srgbClr val="2E2E2E"/>
                </a:solidFill>
                <a:latin typeface="Calibri"/>
              </a:rPr>
              <a:t>application, the dietary supplements &amp;</a:t>
            </a:r>
          </a:p>
        </p:txBody>
      </p:sp>
      <p:sp>
        <p:nvSpPr>
          <p:cNvPr id="106" name="TextBox 105"/>
          <p:cNvSpPr txBox="1"/>
          <p:nvPr/>
        </p:nvSpPr>
        <p:spPr>
          <a:xfrm>
            <a:off x="485775" y="5067637"/>
            <a:ext cx="2806625" cy="186689"/>
          </a:xfrm>
          <a:prstGeom prst="rect">
            <a:avLst/>
          </a:prstGeom>
          <a:noFill/>
        </p:spPr>
        <p:txBody>
          <a:bodyPr wrap="none" lIns="0" rIns="0" tIns="0" bIns="0">
            <a:spAutoFit/>
          </a:bodyPr>
          <a:lstStyle/>
          <a:p>
            <a:r>
              <a:rPr sz="1100" b="0">
                <a:solidFill>
                  <a:srgbClr val="2E2E2E"/>
                </a:solidFill>
                <a:latin typeface="Calibri"/>
              </a:rPr>
              <a:t>nutraceuticals segment is expected to dominate</a:t>
            </a:r>
          </a:p>
        </p:txBody>
      </p:sp>
      <p:sp>
        <p:nvSpPr>
          <p:cNvPr id="107" name="TextBox 106"/>
          <p:cNvSpPr txBox="1"/>
          <p:nvPr/>
        </p:nvSpPr>
        <p:spPr>
          <a:xfrm>
            <a:off x="485775" y="5235277"/>
            <a:ext cx="1103486" cy="186689"/>
          </a:xfrm>
          <a:prstGeom prst="rect">
            <a:avLst/>
          </a:prstGeom>
          <a:noFill/>
        </p:spPr>
        <p:txBody>
          <a:bodyPr wrap="none" lIns="0" rIns="0" tIns="0" bIns="0">
            <a:spAutoFit/>
          </a:bodyPr>
          <a:lstStyle/>
          <a:p>
            <a:r>
              <a:rPr sz="1100" b="0">
                <a:solidFill>
                  <a:srgbClr val="2E2E2E"/>
                </a:solidFill>
                <a:latin typeface="Calibri"/>
              </a:rPr>
              <a:t>the market, losing</a:t>
            </a:r>
          </a:p>
        </p:txBody>
      </p:sp>
      <p:pic>
        <p:nvPicPr>
          <p:cNvPr id="108" name="Picture 107" descr="lock.png"/>
          <p:cNvPicPr>
            <a:picLocks noChangeAspect="1"/>
          </p:cNvPicPr>
          <p:nvPr/>
        </p:nvPicPr>
        <p:blipFill>
          <a:blip r:embed="rId22"/>
          <a:stretch>
            <a:fillRect/>
          </a:stretch>
        </p:blipFill>
        <p:spPr>
          <a:xfrm>
            <a:off x="1537312" y="5225498"/>
            <a:ext cx="128699" cy="187198"/>
          </a:xfrm>
          <a:prstGeom prst="rect">
            <a:avLst/>
          </a:prstGeom>
        </p:spPr>
      </p:pic>
      <p:sp>
        <p:nvSpPr>
          <p:cNvPr id="109" name="TextBox 108"/>
          <p:cNvSpPr txBox="1"/>
          <p:nvPr/>
        </p:nvSpPr>
        <p:spPr>
          <a:xfrm>
            <a:off x="1704808" y="5235277"/>
            <a:ext cx="1386433" cy="186689"/>
          </a:xfrm>
          <a:prstGeom prst="rect">
            <a:avLst/>
          </a:prstGeom>
          <a:noFill/>
        </p:spPr>
        <p:txBody>
          <a:bodyPr wrap="none" lIns="0" rIns="0" tIns="0" bIns="0">
            <a:spAutoFit/>
          </a:bodyPr>
          <a:lstStyle/>
          <a:p>
            <a:r>
              <a:rPr sz="1100" b="0">
                <a:solidFill>
                  <a:srgbClr val="2E2E2E"/>
                </a:solidFill>
                <a:latin typeface="Calibri"/>
              </a:rPr>
              <a:t>BPS and accounting for</a:t>
            </a:r>
          </a:p>
        </p:txBody>
      </p:sp>
      <p:pic>
        <p:nvPicPr>
          <p:cNvPr id="110" name="Picture 109" descr="lock.png"/>
          <p:cNvPicPr>
            <a:picLocks noChangeAspect="1"/>
          </p:cNvPicPr>
          <p:nvPr/>
        </p:nvPicPr>
        <p:blipFill>
          <a:blip r:embed="rId22"/>
          <a:stretch>
            <a:fillRect/>
          </a:stretch>
        </p:blipFill>
        <p:spPr>
          <a:xfrm>
            <a:off x="3039293" y="5225498"/>
            <a:ext cx="128699" cy="187198"/>
          </a:xfrm>
          <a:prstGeom prst="rect">
            <a:avLst/>
          </a:prstGeom>
        </p:spPr>
      </p:pic>
      <p:sp>
        <p:nvSpPr>
          <p:cNvPr id="111" name="TextBox 110"/>
          <p:cNvSpPr txBox="1"/>
          <p:nvPr/>
        </p:nvSpPr>
        <p:spPr>
          <a:xfrm>
            <a:off x="485775" y="5402917"/>
            <a:ext cx="908397" cy="186689"/>
          </a:xfrm>
          <a:prstGeom prst="rect">
            <a:avLst/>
          </a:prstGeom>
          <a:noFill/>
        </p:spPr>
        <p:txBody>
          <a:bodyPr wrap="none" lIns="0" rIns="0" tIns="0" bIns="0">
            <a:spAutoFit/>
          </a:bodyPr>
          <a:lstStyle/>
          <a:p>
            <a:r>
              <a:rPr sz="1100" b="0">
                <a:solidFill>
                  <a:srgbClr val="2E2E2E"/>
                </a:solidFill>
                <a:latin typeface="Calibri"/>
              </a:rPr>
              <a:t>share by 2036.</a:t>
            </a:r>
          </a:p>
        </p:txBody>
      </p:sp>
      <p:sp>
        <p:nvSpPr>
          <p:cNvPr id="112" name="TextBox 111"/>
          <p:cNvSpPr txBox="1"/>
          <p:nvPr/>
        </p:nvSpPr>
        <p:spPr>
          <a:xfrm>
            <a:off x="485775" y="5620849"/>
            <a:ext cx="2857648" cy="186689"/>
          </a:xfrm>
          <a:prstGeom prst="rect">
            <a:avLst/>
          </a:prstGeom>
          <a:noFill/>
        </p:spPr>
        <p:txBody>
          <a:bodyPr wrap="none" lIns="0" rIns="0" tIns="0" bIns="0">
            <a:spAutoFit/>
          </a:bodyPr>
          <a:lstStyle/>
          <a:p>
            <a:r>
              <a:rPr sz="1100" b="0">
                <a:solidFill>
                  <a:srgbClr val="2E2E2E"/>
                </a:solidFill>
                <a:latin typeface="Calibri"/>
              </a:rPr>
              <a:t>Dietary supplements &amp; nutraceuticals segment is</a:t>
            </a:r>
          </a:p>
        </p:txBody>
      </p:sp>
      <p:sp>
        <p:nvSpPr>
          <p:cNvPr id="113" name="TextBox 112"/>
          <p:cNvSpPr txBox="1"/>
          <p:nvPr/>
        </p:nvSpPr>
        <p:spPr>
          <a:xfrm>
            <a:off x="485775" y="5788489"/>
            <a:ext cx="1244550" cy="186689"/>
          </a:xfrm>
          <a:prstGeom prst="rect">
            <a:avLst/>
          </a:prstGeom>
          <a:noFill/>
        </p:spPr>
        <p:txBody>
          <a:bodyPr wrap="none" lIns="0" rIns="0" tIns="0" bIns="0">
            <a:spAutoFit/>
          </a:bodyPr>
          <a:lstStyle/>
          <a:p>
            <a:r>
              <a:rPr sz="1100" b="0">
                <a:solidFill>
                  <a:srgbClr val="2E2E2E"/>
                </a:solidFill>
                <a:latin typeface="Calibri"/>
              </a:rPr>
              <a:t>projected to register</a:t>
            </a:r>
          </a:p>
        </p:txBody>
      </p:sp>
      <p:pic>
        <p:nvPicPr>
          <p:cNvPr id="114" name="Picture 113" descr="lock.png"/>
          <p:cNvPicPr>
            <a:picLocks noChangeAspect="1"/>
          </p:cNvPicPr>
          <p:nvPr/>
        </p:nvPicPr>
        <p:blipFill>
          <a:blip r:embed="rId22"/>
          <a:stretch>
            <a:fillRect/>
          </a:stretch>
        </p:blipFill>
        <p:spPr>
          <a:xfrm>
            <a:off x="1678376" y="5778710"/>
            <a:ext cx="128699" cy="187198"/>
          </a:xfrm>
          <a:prstGeom prst="rect">
            <a:avLst/>
          </a:prstGeom>
        </p:spPr>
      </p:pic>
      <p:sp>
        <p:nvSpPr>
          <p:cNvPr id="115" name="TextBox 114"/>
          <p:cNvSpPr txBox="1"/>
          <p:nvPr/>
        </p:nvSpPr>
        <p:spPr>
          <a:xfrm>
            <a:off x="1845872" y="5788489"/>
            <a:ext cx="1172517" cy="186689"/>
          </a:xfrm>
          <a:prstGeom prst="rect">
            <a:avLst/>
          </a:prstGeom>
          <a:noFill/>
        </p:spPr>
        <p:txBody>
          <a:bodyPr wrap="none" lIns="0" rIns="0" tIns="0" bIns="0">
            <a:spAutoFit/>
          </a:bodyPr>
          <a:lstStyle/>
          <a:p>
            <a:r>
              <a:rPr sz="1100" b="0">
                <a:solidFill>
                  <a:srgbClr val="2E2E2E"/>
                </a:solidFill>
                <a:latin typeface="Calibri"/>
              </a:rPr>
              <a:t>X higher value than</a:t>
            </a:r>
          </a:p>
        </p:txBody>
      </p:sp>
      <p:sp>
        <p:nvSpPr>
          <p:cNvPr id="116" name="TextBox 115"/>
          <p:cNvSpPr txBox="1"/>
          <p:nvPr/>
        </p:nvSpPr>
        <p:spPr>
          <a:xfrm>
            <a:off x="485775" y="5956129"/>
            <a:ext cx="2695575" cy="186689"/>
          </a:xfrm>
          <a:prstGeom prst="rect">
            <a:avLst/>
          </a:prstGeom>
          <a:noFill/>
        </p:spPr>
        <p:txBody>
          <a:bodyPr wrap="none" lIns="0" rIns="0" tIns="0" bIns="0">
            <a:spAutoFit/>
          </a:bodyPr>
          <a:lstStyle/>
          <a:p>
            <a:r>
              <a:rPr sz="1100" b="0">
                <a:solidFill>
                  <a:srgbClr val="2E2E2E"/>
                </a:solidFill>
                <a:latin typeface="Calibri"/>
              </a:rPr>
              <a:t>functional food &amp; beverages segment in 2036.</a:t>
            </a:r>
          </a:p>
        </p:txBody>
      </p:sp>
      <p:sp>
        <p:nvSpPr>
          <p:cNvPr id="117" name="TextBox 116"/>
          <p:cNvSpPr txBox="1"/>
          <p:nvPr/>
        </p:nvSpPr>
        <p:spPr>
          <a:xfrm>
            <a:off x="3838575" y="4229437"/>
            <a:ext cx="2303192" cy="179984"/>
          </a:xfrm>
          <a:prstGeom prst="rect">
            <a:avLst/>
          </a:prstGeom>
          <a:noFill/>
        </p:spPr>
        <p:txBody>
          <a:bodyPr wrap="none" lIns="0" rIns="0" tIns="0" bIns="0">
            <a:spAutoFit/>
          </a:bodyPr>
          <a:lstStyle/>
          <a:p>
            <a:r>
              <a:rPr sz="1055" b="0">
                <a:solidFill>
                  <a:srgbClr val="2E2E2E"/>
                </a:solidFill>
                <a:latin typeface="Calibri"/>
              </a:rPr>
              <a:t>● Dietary Supplements &amp; Nutraceuticals:</a:t>
            </a:r>
          </a:p>
        </p:txBody>
      </p:sp>
      <p:pic>
        <p:nvPicPr>
          <p:cNvPr id="118" name="Picture 117" descr="lock.png"/>
          <p:cNvPicPr>
            <a:picLocks noChangeAspect="1"/>
          </p:cNvPicPr>
          <p:nvPr/>
        </p:nvPicPr>
        <p:blipFill>
          <a:blip r:embed="rId22"/>
          <a:stretch>
            <a:fillRect/>
          </a:stretch>
        </p:blipFill>
        <p:spPr>
          <a:xfrm>
            <a:off x="6088849" y="4220049"/>
            <a:ext cx="123551" cy="179710"/>
          </a:xfrm>
          <a:prstGeom prst="rect">
            <a:avLst/>
          </a:prstGeom>
        </p:spPr>
      </p:pic>
      <p:sp>
        <p:nvSpPr>
          <p:cNvPr id="119" name="TextBox 118"/>
          <p:cNvSpPr txBox="1"/>
          <p:nvPr/>
        </p:nvSpPr>
        <p:spPr>
          <a:xfrm>
            <a:off x="6249645" y="4229437"/>
            <a:ext cx="877990" cy="179984"/>
          </a:xfrm>
          <a:prstGeom prst="rect">
            <a:avLst/>
          </a:prstGeom>
          <a:noFill/>
        </p:spPr>
        <p:txBody>
          <a:bodyPr wrap="none" lIns="0" rIns="0" tIns="0" bIns="0">
            <a:spAutoFit/>
          </a:bodyPr>
          <a:lstStyle/>
          <a:p>
            <a:r>
              <a:rPr sz="1055" b="0">
                <a:solidFill>
                  <a:srgbClr val="2E2E2E"/>
                </a:solidFill>
                <a:latin typeface="Calibri"/>
              </a:rPr>
              <a:t>of 2026 value ·</a:t>
            </a:r>
          </a:p>
        </p:txBody>
      </p:sp>
      <p:pic>
        <p:nvPicPr>
          <p:cNvPr id="120" name="Picture 119" descr="lock.png"/>
          <p:cNvPicPr>
            <a:picLocks noChangeAspect="1"/>
          </p:cNvPicPr>
          <p:nvPr/>
        </p:nvPicPr>
        <p:blipFill>
          <a:blip r:embed="rId22"/>
          <a:stretch>
            <a:fillRect/>
          </a:stretch>
        </p:blipFill>
        <p:spPr>
          <a:xfrm>
            <a:off x="7074717" y="4220049"/>
            <a:ext cx="123551" cy="179710"/>
          </a:xfrm>
          <a:prstGeom prst="rect">
            <a:avLst/>
          </a:prstGeom>
        </p:spPr>
      </p:pic>
      <p:sp>
        <p:nvSpPr>
          <p:cNvPr id="121" name="TextBox 120"/>
          <p:cNvSpPr txBox="1"/>
          <p:nvPr/>
        </p:nvSpPr>
        <p:spPr>
          <a:xfrm>
            <a:off x="7235513" y="4229437"/>
            <a:ext cx="382650" cy="179984"/>
          </a:xfrm>
          <a:prstGeom prst="rect">
            <a:avLst/>
          </a:prstGeom>
          <a:noFill/>
        </p:spPr>
        <p:txBody>
          <a:bodyPr wrap="none" lIns="0" rIns="0" tIns="0" bIns="0">
            <a:spAutoFit/>
          </a:bodyPr>
          <a:lstStyle/>
          <a:p>
            <a:r>
              <a:rPr sz="1055" b="0">
                <a:solidFill>
                  <a:srgbClr val="2E2E2E"/>
                </a:solidFill>
                <a:latin typeface="Calibri"/>
              </a:rPr>
              <a:t>CAGR</a:t>
            </a:r>
          </a:p>
        </p:txBody>
      </p:sp>
      <p:sp>
        <p:nvSpPr>
          <p:cNvPr id="122" name="TextBox 121"/>
          <p:cNvSpPr txBox="1"/>
          <p:nvPr/>
        </p:nvSpPr>
        <p:spPr>
          <a:xfrm>
            <a:off x="3838575" y="4390371"/>
            <a:ext cx="1109543" cy="179984"/>
          </a:xfrm>
          <a:prstGeom prst="rect">
            <a:avLst/>
          </a:prstGeom>
          <a:noFill/>
        </p:spPr>
        <p:txBody>
          <a:bodyPr wrap="none" lIns="0" rIns="0" tIns="0" bIns="0">
            <a:spAutoFit/>
          </a:bodyPr>
          <a:lstStyle/>
          <a:p>
            <a:r>
              <a:rPr sz="1055" b="0">
                <a:solidFill>
                  <a:srgbClr val="2E2E2E"/>
                </a:solidFill>
                <a:latin typeface="Calibri"/>
              </a:rPr>
              <a:t>leads the segment.</a:t>
            </a:r>
          </a:p>
        </p:txBody>
      </p:sp>
      <p:sp>
        <p:nvSpPr>
          <p:cNvPr id="123" name="TextBox 122"/>
          <p:cNvSpPr txBox="1"/>
          <p:nvPr/>
        </p:nvSpPr>
        <p:spPr>
          <a:xfrm>
            <a:off x="3838575" y="4599586"/>
            <a:ext cx="1874139" cy="179984"/>
          </a:xfrm>
          <a:prstGeom prst="rect">
            <a:avLst/>
          </a:prstGeom>
          <a:noFill/>
        </p:spPr>
        <p:txBody>
          <a:bodyPr wrap="none" lIns="0" rIns="0" tIns="0" bIns="0">
            <a:spAutoFit/>
          </a:bodyPr>
          <a:lstStyle/>
          <a:p>
            <a:r>
              <a:rPr sz="1055" b="0">
                <a:solidFill>
                  <a:srgbClr val="2E2E2E"/>
                </a:solidFill>
                <a:latin typeface="Calibri"/>
              </a:rPr>
              <a:t>● Pharmaceuticals &amp; Biomedical:</a:t>
            </a:r>
          </a:p>
        </p:txBody>
      </p:sp>
      <p:pic>
        <p:nvPicPr>
          <p:cNvPr id="124" name="Picture 123" descr="lock.png"/>
          <p:cNvPicPr>
            <a:picLocks noChangeAspect="1"/>
          </p:cNvPicPr>
          <p:nvPr/>
        </p:nvPicPr>
        <p:blipFill>
          <a:blip r:embed="rId22"/>
          <a:stretch>
            <a:fillRect/>
          </a:stretch>
        </p:blipFill>
        <p:spPr>
          <a:xfrm>
            <a:off x="5659795" y="4590198"/>
            <a:ext cx="123551" cy="179710"/>
          </a:xfrm>
          <a:prstGeom prst="rect">
            <a:avLst/>
          </a:prstGeom>
        </p:spPr>
      </p:pic>
      <p:sp>
        <p:nvSpPr>
          <p:cNvPr id="125" name="TextBox 124"/>
          <p:cNvSpPr txBox="1"/>
          <p:nvPr/>
        </p:nvSpPr>
        <p:spPr>
          <a:xfrm>
            <a:off x="5820591" y="4599586"/>
            <a:ext cx="877990" cy="179984"/>
          </a:xfrm>
          <a:prstGeom prst="rect">
            <a:avLst/>
          </a:prstGeom>
          <a:noFill/>
        </p:spPr>
        <p:txBody>
          <a:bodyPr wrap="none" lIns="0" rIns="0" tIns="0" bIns="0">
            <a:spAutoFit/>
          </a:bodyPr>
          <a:lstStyle/>
          <a:p>
            <a:r>
              <a:rPr sz="1055" b="0">
                <a:solidFill>
                  <a:srgbClr val="2E2E2E"/>
                </a:solidFill>
                <a:latin typeface="Calibri"/>
              </a:rPr>
              <a:t>of 2026 value ·</a:t>
            </a:r>
          </a:p>
        </p:txBody>
      </p:sp>
      <p:pic>
        <p:nvPicPr>
          <p:cNvPr id="126" name="Picture 125" descr="lock.png"/>
          <p:cNvPicPr>
            <a:picLocks noChangeAspect="1"/>
          </p:cNvPicPr>
          <p:nvPr/>
        </p:nvPicPr>
        <p:blipFill>
          <a:blip r:embed="rId22"/>
          <a:stretch>
            <a:fillRect/>
          </a:stretch>
        </p:blipFill>
        <p:spPr>
          <a:xfrm>
            <a:off x="6645663" y="4590198"/>
            <a:ext cx="123551" cy="179710"/>
          </a:xfrm>
          <a:prstGeom prst="rect">
            <a:avLst/>
          </a:prstGeom>
        </p:spPr>
      </p:pic>
      <p:sp>
        <p:nvSpPr>
          <p:cNvPr id="127" name="TextBox 126"/>
          <p:cNvSpPr txBox="1"/>
          <p:nvPr/>
        </p:nvSpPr>
        <p:spPr>
          <a:xfrm>
            <a:off x="6806459" y="4599586"/>
            <a:ext cx="853352" cy="179984"/>
          </a:xfrm>
          <a:prstGeom prst="rect">
            <a:avLst/>
          </a:prstGeom>
          <a:noFill/>
        </p:spPr>
        <p:txBody>
          <a:bodyPr wrap="none" lIns="0" rIns="0" tIns="0" bIns="0">
            <a:spAutoFit/>
          </a:bodyPr>
          <a:lstStyle/>
          <a:p>
            <a:r>
              <a:rPr sz="1055" b="0">
                <a:solidFill>
                  <a:srgbClr val="2E2E2E"/>
                </a:solidFill>
                <a:latin typeface="Calibri"/>
              </a:rPr>
              <a:t>CAGR serves a</a:t>
            </a:r>
          </a:p>
        </p:txBody>
      </p:sp>
      <p:sp>
        <p:nvSpPr>
          <p:cNvPr id="128" name="TextBox 127"/>
          <p:cNvSpPr txBox="1"/>
          <p:nvPr/>
        </p:nvSpPr>
        <p:spPr>
          <a:xfrm>
            <a:off x="3838575" y="4760520"/>
            <a:ext cx="405455" cy="179984"/>
          </a:xfrm>
          <a:prstGeom prst="rect">
            <a:avLst/>
          </a:prstGeom>
          <a:noFill/>
        </p:spPr>
        <p:txBody>
          <a:bodyPr wrap="none" lIns="0" rIns="0" tIns="0" bIns="0">
            <a:spAutoFit/>
          </a:bodyPr>
          <a:lstStyle/>
          <a:p>
            <a:r>
              <a:rPr sz="1055" b="0">
                <a:solidFill>
                  <a:srgbClr val="2E2E2E"/>
                </a:solidFill>
                <a:latin typeface="Calibri"/>
              </a:rPr>
              <a:t>niche.</a:t>
            </a:r>
          </a:p>
        </p:txBody>
      </p:sp>
      <p:sp>
        <p:nvSpPr>
          <p:cNvPr id="129" name="TextBox 128"/>
          <p:cNvSpPr txBox="1"/>
          <p:nvPr/>
        </p:nvSpPr>
        <p:spPr>
          <a:xfrm>
            <a:off x="3838575" y="4969735"/>
            <a:ext cx="1811507" cy="179984"/>
          </a:xfrm>
          <a:prstGeom prst="rect">
            <a:avLst/>
          </a:prstGeom>
          <a:noFill/>
        </p:spPr>
        <p:txBody>
          <a:bodyPr wrap="none" lIns="0" rIns="0" tIns="0" bIns="0">
            <a:spAutoFit/>
          </a:bodyPr>
          <a:lstStyle/>
          <a:p>
            <a:r>
              <a:rPr sz="1055" b="0">
                <a:solidFill>
                  <a:srgbClr val="2E2E2E"/>
                </a:solidFill>
                <a:latin typeface="Calibri"/>
              </a:rPr>
              <a:t>● Functional Food &amp; Beverages:</a:t>
            </a:r>
          </a:p>
        </p:txBody>
      </p:sp>
      <p:pic>
        <p:nvPicPr>
          <p:cNvPr id="130" name="Picture 129" descr="lock.png"/>
          <p:cNvPicPr>
            <a:picLocks noChangeAspect="1"/>
          </p:cNvPicPr>
          <p:nvPr/>
        </p:nvPicPr>
        <p:blipFill>
          <a:blip r:embed="rId22"/>
          <a:stretch>
            <a:fillRect/>
          </a:stretch>
        </p:blipFill>
        <p:spPr>
          <a:xfrm>
            <a:off x="5597163" y="4960347"/>
            <a:ext cx="123551" cy="179710"/>
          </a:xfrm>
          <a:prstGeom prst="rect">
            <a:avLst/>
          </a:prstGeom>
        </p:spPr>
      </p:pic>
      <p:sp>
        <p:nvSpPr>
          <p:cNvPr id="131" name="TextBox 130"/>
          <p:cNvSpPr txBox="1"/>
          <p:nvPr/>
        </p:nvSpPr>
        <p:spPr>
          <a:xfrm>
            <a:off x="5757959" y="4969735"/>
            <a:ext cx="877990" cy="179984"/>
          </a:xfrm>
          <a:prstGeom prst="rect">
            <a:avLst/>
          </a:prstGeom>
          <a:noFill/>
        </p:spPr>
        <p:txBody>
          <a:bodyPr wrap="none" lIns="0" rIns="0" tIns="0" bIns="0">
            <a:spAutoFit/>
          </a:bodyPr>
          <a:lstStyle/>
          <a:p>
            <a:r>
              <a:rPr sz="1055" b="0">
                <a:solidFill>
                  <a:srgbClr val="2E2E2E"/>
                </a:solidFill>
                <a:latin typeface="Calibri"/>
              </a:rPr>
              <a:t>of 2026 value ·</a:t>
            </a:r>
          </a:p>
        </p:txBody>
      </p:sp>
      <p:pic>
        <p:nvPicPr>
          <p:cNvPr id="132" name="Picture 131" descr="lock.png"/>
          <p:cNvPicPr>
            <a:picLocks noChangeAspect="1"/>
          </p:cNvPicPr>
          <p:nvPr/>
        </p:nvPicPr>
        <p:blipFill>
          <a:blip r:embed="rId22"/>
          <a:stretch>
            <a:fillRect/>
          </a:stretch>
        </p:blipFill>
        <p:spPr>
          <a:xfrm>
            <a:off x="6583032" y="4960347"/>
            <a:ext cx="123551" cy="179710"/>
          </a:xfrm>
          <a:prstGeom prst="rect">
            <a:avLst/>
          </a:prstGeom>
        </p:spPr>
      </p:pic>
      <p:sp>
        <p:nvSpPr>
          <p:cNvPr id="133" name="TextBox 132"/>
          <p:cNvSpPr txBox="1"/>
          <p:nvPr/>
        </p:nvSpPr>
        <p:spPr>
          <a:xfrm>
            <a:off x="6743828" y="4969735"/>
            <a:ext cx="742028" cy="179984"/>
          </a:xfrm>
          <a:prstGeom prst="rect">
            <a:avLst/>
          </a:prstGeom>
          <a:noFill/>
        </p:spPr>
        <p:txBody>
          <a:bodyPr wrap="none" lIns="0" rIns="0" tIns="0" bIns="0">
            <a:spAutoFit/>
          </a:bodyPr>
          <a:lstStyle/>
          <a:p>
            <a:r>
              <a:rPr sz="1055" b="0">
                <a:solidFill>
                  <a:srgbClr val="2E2E2E"/>
                </a:solidFill>
                <a:latin typeface="Calibri"/>
              </a:rPr>
              <a:t>CAGR grows</a:t>
            </a:r>
          </a:p>
        </p:txBody>
      </p:sp>
      <p:sp>
        <p:nvSpPr>
          <p:cNvPr id="134" name="TextBox 133"/>
          <p:cNvSpPr txBox="1"/>
          <p:nvPr/>
        </p:nvSpPr>
        <p:spPr>
          <a:xfrm>
            <a:off x="3838575" y="5130669"/>
            <a:ext cx="476702" cy="179984"/>
          </a:xfrm>
          <a:prstGeom prst="rect">
            <a:avLst/>
          </a:prstGeom>
          <a:noFill/>
        </p:spPr>
        <p:txBody>
          <a:bodyPr wrap="none" lIns="0" rIns="0" tIns="0" bIns="0">
            <a:spAutoFit/>
          </a:bodyPr>
          <a:lstStyle/>
          <a:p>
            <a:r>
              <a:rPr sz="1055" b="0">
                <a:solidFill>
                  <a:srgbClr val="2E2E2E"/>
                </a:solidFill>
                <a:latin typeface="Calibri"/>
              </a:rPr>
              <a:t>fastest.</a:t>
            </a:r>
          </a:p>
        </p:txBody>
      </p:sp>
      <p:sp>
        <p:nvSpPr>
          <p:cNvPr id="135" name="TextBox 134"/>
          <p:cNvSpPr txBox="1"/>
          <p:nvPr/>
        </p:nvSpPr>
        <p:spPr>
          <a:xfrm>
            <a:off x="3838575" y="5339884"/>
            <a:ext cx="1680829" cy="179984"/>
          </a:xfrm>
          <a:prstGeom prst="rect">
            <a:avLst/>
          </a:prstGeom>
          <a:noFill/>
        </p:spPr>
        <p:txBody>
          <a:bodyPr wrap="none" lIns="0" rIns="0" tIns="0" bIns="0">
            <a:spAutoFit/>
          </a:bodyPr>
          <a:lstStyle/>
          <a:p>
            <a:r>
              <a:rPr sz="1055" b="0">
                <a:solidFill>
                  <a:srgbClr val="2E2E2E"/>
                </a:solidFill>
                <a:latin typeface="Calibri"/>
              </a:rPr>
              <a:t>● Cosmetics &amp; Personal Care:</a:t>
            </a:r>
          </a:p>
        </p:txBody>
      </p:sp>
      <p:pic>
        <p:nvPicPr>
          <p:cNvPr id="136" name="Picture 135" descr="lock.png"/>
          <p:cNvPicPr>
            <a:picLocks noChangeAspect="1"/>
          </p:cNvPicPr>
          <p:nvPr/>
        </p:nvPicPr>
        <p:blipFill>
          <a:blip r:embed="rId22"/>
          <a:stretch>
            <a:fillRect/>
          </a:stretch>
        </p:blipFill>
        <p:spPr>
          <a:xfrm>
            <a:off x="5466485" y="5330496"/>
            <a:ext cx="123551" cy="179710"/>
          </a:xfrm>
          <a:prstGeom prst="rect">
            <a:avLst/>
          </a:prstGeom>
        </p:spPr>
      </p:pic>
      <p:sp>
        <p:nvSpPr>
          <p:cNvPr id="137" name="TextBox 136"/>
          <p:cNvSpPr txBox="1"/>
          <p:nvPr/>
        </p:nvSpPr>
        <p:spPr>
          <a:xfrm>
            <a:off x="5627281" y="5339884"/>
            <a:ext cx="877990" cy="179984"/>
          </a:xfrm>
          <a:prstGeom prst="rect">
            <a:avLst/>
          </a:prstGeom>
          <a:noFill/>
        </p:spPr>
        <p:txBody>
          <a:bodyPr wrap="none" lIns="0" rIns="0" tIns="0" bIns="0">
            <a:spAutoFit/>
          </a:bodyPr>
          <a:lstStyle/>
          <a:p>
            <a:r>
              <a:rPr sz="1055" b="0">
                <a:solidFill>
                  <a:srgbClr val="2E2E2E"/>
                </a:solidFill>
                <a:latin typeface="Calibri"/>
              </a:rPr>
              <a:t>of 2026 value ·</a:t>
            </a:r>
          </a:p>
        </p:txBody>
      </p:sp>
      <p:pic>
        <p:nvPicPr>
          <p:cNvPr id="138" name="Picture 137" descr="lock.png"/>
          <p:cNvPicPr>
            <a:picLocks noChangeAspect="1"/>
          </p:cNvPicPr>
          <p:nvPr/>
        </p:nvPicPr>
        <p:blipFill>
          <a:blip r:embed="rId22"/>
          <a:stretch>
            <a:fillRect/>
          </a:stretch>
        </p:blipFill>
        <p:spPr>
          <a:xfrm>
            <a:off x="6452353" y="5330496"/>
            <a:ext cx="123551" cy="179710"/>
          </a:xfrm>
          <a:prstGeom prst="rect">
            <a:avLst/>
          </a:prstGeom>
        </p:spPr>
      </p:pic>
      <p:sp>
        <p:nvSpPr>
          <p:cNvPr id="139" name="TextBox 138"/>
          <p:cNvSpPr txBox="1"/>
          <p:nvPr/>
        </p:nvSpPr>
        <p:spPr>
          <a:xfrm>
            <a:off x="6613149" y="5339884"/>
            <a:ext cx="1212992" cy="179984"/>
          </a:xfrm>
          <a:prstGeom prst="rect">
            <a:avLst/>
          </a:prstGeom>
          <a:noFill/>
        </p:spPr>
        <p:txBody>
          <a:bodyPr wrap="none" lIns="0" rIns="0" tIns="0" bIns="0">
            <a:spAutoFit/>
          </a:bodyPr>
          <a:lstStyle/>
          <a:p>
            <a:r>
              <a:rPr sz="1055" b="0">
                <a:solidFill>
                  <a:srgbClr val="2E2E2E"/>
                </a:solidFill>
                <a:latin typeface="Calibri"/>
              </a:rPr>
              <a:t>CAGR serves a niche.</a:t>
            </a:r>
          </a:p>
        </p:txBody>
      </p:sp>
      <p:sp>
        <p:nvSpPr>
          <p:cNvPr id="140" name="TextBox 139"/>
          <p:cNvSpPr txBox="1"/>
          <p:nvPr/>
        </p:nvSpPr>
        <p:spPr>
          <a:xfrm>
            <a:off x="3838575" y="5549099"/>
            <a:ext cx="1574220" cy="179984"/>
          </a:xfrm>
          <a:prstGeom prst="rect">
            <a:avLst/>
          </a:prstGeom>
          <a:noFill/>
        </p:spPr>
        <p:txBody>
          <a:bodyPr wrap="none" lIns="0" rIns="0" tIns="0" bIns="0">
            <a:spAutoFit/>
          </a:bodyPr>
          <a:lstStyle/>
          <a:p>
            <a:r>
              <a:rPr sz="1055" b="0">
                <a:solidFill>
                  <a:srgbClr val="2E2E2E"/>
                </a:solidFill>
                <a:latin typeface="Calibri"/>
              </a:rPr>
              <a:t>● Industrial &amp; Biomaterials:</a:t>
            </a:r>
          </a:p>
        </p:txBody>
      </p:sp>
      <p:pic>
        <p:nvPicPr>
          <p:cNvPr id="141" name="Picture 140" descr="lock.png"/>
          <p:cNvPicPr>
            <a:picLocks noChangeAspect="1"/>
          </p:cNvPicPr>
          <p:nvPr/>
        </p:nvPicPr>
        <p:blipFill>
          <a:blip r:embed="rId22"/>
          <a:stretch>
            <a:fillRect/>
          </a:stretch>
        </p:blipFill>
        <p:spPr>
          <a:xfrm>
            <a:off x="5359877" y="5539711"/>
            <a:ext cx="123551" cy="179710"/>
          </a:xfrm>
          <a:prstGeom prst="rect">
            <a:avLst/>
          </a:prstGeom>
        </p:spPr>
      </p:pic>
      <p:sp>
        <p:nvSpPr>
          <p:cNvPr id="142" name="TextBox 141"/>
          <p:cNvSpPr txBox="1"/>
          <p:nvPr/>
        </p:nvSpPr>
        <p:spPr>
          <a:xfrm>
            <a:off x="5520673" y="5549099"/>
            <a:ext cx="877990" cy="179984"/>
          </a:xfrm>
          <a:prstGeom prst="rect">
            <a:avLst/>
          </a:prstGeom>
          <a:noFill/>
        </p:spPr>
        <p:txBody>
          <a:bodyPr wrap="none" lIns="0" rIns="0" tIns="0" bIns="0">
            <a:spAutoFit/>
          </a:bodyPr>
          <a:lstStyle/>
          <a:p>
            <a:r>
              <a:rPr sz="1055" b="0">
                <a:solidFill>
                  <a:srgbClr val="2E2E2E"/>
                </a:solidFill>
                <a:latin typeface="Calibri"/>
              </a:rPr>
              <a:t>of 2026 value ·</a:t>
            </a:r>
          </a:p>
        </p:txBody>
      </p:sp>
      <p:pic>
        <p:nvPicPr>
          <p:cNvPr id="143" name="Picture 142" descr="lock.png"/>
          <p:cNvPicPr>
            <a:picLocks noChangeAspect="1"/>
          </p:cNvPicPr>
          <p:nvPr/>
        </p:nvPicPr>
        <p:blipFill>
          <a:blip r:embed="rId22"/>
          <a:stretch>
            <a:fillRect/>
          </a:stretch>
        </p:blipFill>
        <p:spPr>
          <a:xfrm>
            <a:off x="6345745" y="5539711"/>
            <a:ext cx="123551" cy="179710"/>
          </a:xfrm>
          <a:prstGeom prst="rect">
            <a:avLst/>
          </a:prstGeom>
        </p:spPr>
      </p:pic>
      <p:sp>
        <p:nvSpPr>
          <p:cNvPr id="144" name="TextBox 143"/>
          <p:cNvSpPr txBox="1"/>
          <p:nvPr/>
        </p:nvSpPr>
        <p:spPr>
          <a:xfrm>
            <a:off x="6506541" y="5549099"/>
            <a:ext cx="1212992" cy="179984"/>
          </a:xfrm>
          <a:prstGeom prst="rect">
            <a:avLst/>
          </a:prstGeom>
          <a:noFill/>
        </p:spPr>
        <p:txBody>
          <a:bodyPr wrap="none" lIns="0" rIns="0" tIns="0" bIns="0">
            <a:spAutoFit/>
          </a:bodyPr>
          <a:lstStyle/>
          <a:p>
            <a:r>
              <a:rPr sz="1055" b="0">
                <a:solidFill>
                  <a:srgbClr val="2E2E2E"/>
                </a:solidFill>
                <a:latin typeface="Calibri"/>
              </a:rPr>
              <a:t>CAGR serves a niche.</a:t>
            </a:r>
          </a:p>
        </p:txBody>
      </p:sp>
      <p:sp>
        <p:nvSpPr>
          <p:cNvPr id="145" name="TextBox 144"/>
          <p:cNvSpPr txBox="1"/>
          <p:nvPr/>
        </p:nvSpPr>
        <p:spPr>
          <a:xfrm>
            <a:off x="3838575" y="5758313"/>
            <a:ext cx="1745265" cy="179984"/>
          </a:xfrm>
          <a:prstGeom prst="rect">
            <a:avLst/>
          </a:prstGeom>
          <a:noFill/>
        </p:spPr>
        <p:txBody>
          <a:bodyPr wrap="none" lIns="0" rIns="0" tIns="0" bIns="0">
            <a:spAutoFit/>
          </a:bodyPr>
          <a:lstStyle/>
          <a:p>
            <a:r>
              <a:rPr sz="1055" b="0">
                <a:solidFill>
                  <a:srgbClr val="2E2E2E"/>
                </a:solidFill>
                <a:latin typeface="Calibri"/>
              </a:rPr>
              <a:t>● Animal Nutrition &amp; Pet Care:</a:t>
            </a:r>
          </a:p>
        </p:txBody>
      </p:sp>
      <p:pic>
        <p:nvPicPr>
          <p:cNvPr id="146" name="Picture 145" descr="lock.png"/>
          <p:cNvPicPr>
            <a:picLocks noChangeAspect="1"/>
          </p:cNvPicPr>
          <p:nvPr/>
        </p:nvPicPr>
        <p:blipFill>
          <a:blip r:embed="rId22"/>
          <a:stretch>
            <a:fillRect/>
          </a:stretch>
        </p:blipFill>
        <p:spPr>
          <a:xfrm>
            <a:off x="5530922" y="5748925"/>
            <a:ext cx="123551" cy="179710"/>
          </a:xfrm>
          <a:prstGeom prst="rect">
            <a:avLst/>
          </a:prstGeom>
        </p:spPr>
      </p:pic>
      <p:sp>
        <p:nvSpPr>
          <p:cNvPr id="147" name="TextBox 146"/>
          <p:cNvSpPr txBox="1"/>
          <p:nvPr/>
        </p:nvSpPr>
        <p:spPr>
          <a:xfrm>
            <a:off x="5691718" y="5758313"/>
            <a:ext cx="877990" cy="179984"/>
          </a:xfrm>
          <a:prstGeom prst="rect">
            <a:avLst/>
          </a:prstGeom>
          <a:noFill/>
        </p:spPr>
        <p:txBody>
          <a:bodyPr wrap="none" lIns="0" rIns="0" tIns="0" bIns="0">
            <a:spAutoFit/>
          </a:bodyPr>
          <a:lstStyle/>
          <a:p>
            <a:r>
              <a:rPr sz="1055" b="0">
                <a:solidFill>
                  <a:srgbClr val="2E2E2E"/>
                </a:solidFill>
                <a:latin typeface="Calibri"/>
              </a:rPr>
              <a:t>of 2026 value ·</a:t>
            </a:r>
          </a:p>
        </p:txBody>
      </p:sp>
      <p:pic>
        <p:nvPicPr>
          <p:cNvPr id="148" name="Picture 147" descr="lock.png"/>
          <p:cNvPicPr>
            <a:picLocks noChangeAspect="1"/>
          </p:cNvPicPr>
          <p:nvPr/>
        </p:nvPicPr>
        <p:blipFill>
          <a:blip r:embed="rId22"/>
          <a:stretch>
            <a:fillRect/>
          </a:stretch>
        </p:blipFill>
        <p:spPr>
          <a:xfrm>
            <a:off x="6516790" y="5748925"/>
            <a:ext cx="123551" cy="179710"/>
          </a:xfrm>
          <a:prstGeom prst="rect">
            <a:avLst/>
          </a:prstGeom>
        </p:spPr>
      </p:pic>
      <p:sp>
        <p:nvSpPr>
          <p:cNvPr id="149" name="TextBox 148"/>
          <p:cNvSpPr txBox="1"/>
          <p:nvPr/>
        </p:nvSpPr>
        <p:spPr>
          <a:xfrm>
            <a:off x="6677586" y="5758313"/>
            <a:ext cx="853352" cy="179984"/>
          </a:xfrm>
          <a:prstGeom prst="rect">
            <a:avLst/>
          </a:prstGeom>
          <a:noFill/>
        </p:spPr>
        <p:txBody>
          <a:bodyPr wrap="none" lIns="0" rIns="0" tIns="0" bIns="0">
            <a:spAutoFit/>
          </a:bodyPr>
          <a:lstStyle/>
          <a:p>
            <a:r>
              <a:rPr sz="1055" b="0">
                <a:solidFill>
                  <a:srgbClr val="2E2E2E"/>
                </a:solidFill>
                <a:latin typeface="Calibri"/>
              </a:rPr>
              <a:t>CAGR serves a</a:t>
            </a:r>
          </a:p>
        </p:txBody>
      </p:sp>
      <p:sp>
        <p:nvSpPr>
          <p:cNvPr id="150" name="TextBox 149"/>
          <p:cNvSpPr txBox="1"/>
          <p:nvPr/>
        </p:nvSpPr>
        <p:spPr>
          <a:xfrm>
            <a:off x="3838575" y="5919248"/>
            <a:ext cx="405455" cy="179984"/>
          </a:xfrm>
          <a:prstGeom prst="rect">
            <a:avLst/>
          </a:prstGeom>
          <a:noFill/>
        </p:spPr>
        <p:txBody>
          <a:bodyPr wrap="none" lIns="0" rIns="0" tIns="0" bIns="0">
            <a:spAutoFit/>
          </a:bodyPr>
          <a:lstStyle/>
          <a:p>
            <a:r>
              <a:rPr sz="1055" b="0">
                <a:solidFill>
                  <a:srgbClr val="2E2E2E"/>
                </a:solidFill>
                <a:latin typeface="Calibri"/>
              </a:rPr>
              <a:t>niche.</a:t>
            </a:r>
          </a:p>
        </p:txBody>
      </p:sp>
      <p:sp>
        <p:nvSpPr>
          <p:cNvPr id="151" name="TextBox 150"/>
          <p:cNvSpPr txBox="1"/>
          <p:nvPr/>
        </p:nvSpPr>
        <p:spPr>
          <a:xfrm>
            <a:off x="8524875" y="5842641"/>
            <a:ext cx="3093045" cy="194310"/>
          </a:xfrm>
          <a:prstGeom prst="rect">
            <a:avLst/>
          </a:prstGeom>
          <a:noFill/>
        </p:spPr>
        <p:txBody>
          <a:bodyPr wrap="none" lIns="0" rIns="0" tIns="0" bIns="0">
            <a:spAutoFit/>
          </a:bodyPr>
          <a:lstStyle/>
          <a:p>
            <a:r>
              <a:rPr sz="1150" b="1">
                <a:solidFill>
                  <a:srgbClr val="0B2E4A"/>
                </a:solidFill>
                <a:latin typeface="Calibri"/>
              </a:rPr>
              <a:t>The Application segment is projected to grow at a</a:t>
            </a:r>
          </a:p>
        </p:txBody>
      </p:sp>
      <p:sp>
        <p:nvSpPr>
          <p:cNvPr id="152" name="TextBox 151"/>
          <p:cNvSpPr txBox="1"/>
          <p:nvPr/>
        </p:nvSpPr>
        <p:spPr>
          <a:xfrm>
            <a:off x="8524875" y="6017901"/>
            <a:ext cx="574797" cy="194310"/>
          </a:xfrm>
          <a:prstGeom prst="rect">
            <a:avLst/>
          </a:prstGeom>
          <a:noFill/>
        </p:spPr>
        <p:txBody>
          <a:bodyPr wrap="none" lIns="0" rIns="0" tIns="0" bIns="0">
            <a:spAutoFit/>
          </a:bodyPr>
          <a:lstStyle/>
          <a:p>
            <a:r>
              <a:rPr sz="1150" b="1">
                <a:solidFill>
                  <a:srgbClr val="0B2E4A"/>
                </a:solidFill>
                <a:latin typeface="Calibri"/>
              </a:rPr>
              <a:t>CAGR of</a:t>
            </a:r>
          </a:p>
        </p:txBody>
      </p:sp>
      <p:pic>
        <p:nvPicPr>
          <p:cNvPr id="153" name="Picture 152" descr="lock.png"/>
          <p:cNvPicPr>
            <a:picLocks noChangeAspect="1"/>
          </p:cNvPicPr>
          <p:nvPr/>
        </p:nvPicPr>
        <p:blipFill>
          <a:blip r:embed="rId22"/>
          <a:stretch>
            <a:fillRect/>
          </a:stretch>
        </p:blipFill>
        <p:spPr>
          <a:xfrm>
            <a:off x="9048826" y="6007677"/>
            <a:ext cx="134549" cy="195707"/>
          </a:xfrm>
          <a:prstGeom prst="rect">
            <a:avLst/>
          </a:prstGeom>
        </p:spPr>
      </p:pic>
      <p:sp>
        <p:nvSpPr>
          <p:cNvPr id="154" name="TextBox 153"/>
          <p:cNvSpPr txBox="1"/>
          <p:nvPr/>
        </p:nvSpPr>
        <p:spPr>
          <a:xfrm>
            <a:off x="9223935" y="6017901"/>
            <a:ext cx="1232619" cy="194310"/>
          </a:xfrm>
          <a:prstGeom prst="rect">
            <a:avLst/>
          </a:prstGeom>
          <a:noFill/>
        </p:spPr>
        <p:txBody>
          <a:bodyPr wrap="none" lIns="0" rIns="0" tIns="0" bIns="0">
            <a:spAutoFit/>
          </a:bodyPr>
          <a:lstStyle/>
          <a:p>
            <a:r>
              <a:rPr sz="1150" b="1">
                <a:solidFill>
                  <a:srgbClr val="0B2E4A"/>
                </a:solidFill>
                <a:latin typeface="Calibri"/>
              </a:rPr>
              <a:t>from 2026 to 2036.</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Structure &amp; Attractiveness, By Application (Value)</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Application mix within each country and the attractiveness of each sub-segment on growth and size</a:t>
            </a:r>
          </a:p>
        </p:txBody>
      </p:sp>
      <p:sp>
        <p:nvSpPr>
          <p:cNvPr id="7" name="Rounded Rectangle 6"/>
          <p:cNvSpPr/>
          <p:nvPr/>
        </p:nvSpPr>
        <p:spPr>
          <a:xfrm>
            <a:off x="142875" y="981075"/>
            <a:ext cx="6343650" cy="4324350"/>
          </a:xfrm>
          <a:prstGeom prst="roundRect">
            <a:avLst>
              <a:gd name="adj" fmla="val 1762"/>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6153150"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Application mix within each country (share of 2036 value) · row label = country size (US$ Mn), largest first</a:t>
            </a:r>
          </a:p>
        </p:txBody>
      </p:sp>
      <p:graphicFrame>
        <p:nvGraphicFramePr>
          <p:cNvPr id="9" name="Chart 8"/>
          <p:cNvGraphicFramePr>
            <a:graphicFrameLocks noGrp="1"/>
          </p:cNvGraphicFramePr>
          <p:nvPr/>
        </p:nvGraphicFramePr>
        <p:xfrm>
          <a:off x="238125" y="1438275"/>
          <a:ext cx="6153150" cy="3810000"/>
        </p:xfrm>
        <a:graphic>
          <a:graphicData uri="http://schemas.openxmlformats.org/drawingml/2006/chart">
            <c:chart xmlns:c="http://schemas.openxmlformats.org/drawingml/2006/chart" r:id="rId3"/>
          </a:graphicData>
        </a:graphic>
      </p:graphicFrame>
      <p:sp>
        <p:nvSpPr>
          <p:cNvPr id="10" name="Rounded Rectangle 9"/>
          <p:cNvSpPr/>
          <p:nvPr/>
        </p:nvSpPr>
        <p:spPr>
          <a:xfrm>
            <a:off x="6638925" y="981075"/>
            <a:ext cx="5400675" cy="4324350"/>
          </a:xfrm>
          <a:prstGeom prst="roundRect">
            <a:avLst>
              <a:gd name="adj" fmla="val 1762"/>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34175" y="1038225"/>
            <a:ext cx="521017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Attractiveness, By Application · Bubble size represents 2036 value</a:t>
            </a:r>
          </a:p>
        </p:txBody>
      </p:sp>
      <p:graphicFrame>
        <p:nvGraphicFramePr>
          <p:cNvPr id="12" name="Chart 11"/>
          <p:cNvGraphicFramePr>
            <a:graphicFrameLocks noGrp="1"/>
          </p:cNvGraphicFramePr>
          <p:nvPr/>
        </p:nvGraphicFramePr>
        <p:xfrm>
          <a:off x="6734175" y="1266825"/>
          <a:ext cx="5210175" cy="3981450"/>
        </p:xfrm>
        <a:graphic>
          <a:graphicData uri="http://schemas.openxmlformats.org/drawingml/2006/chart">
            <c:chart xmlns:c="http://schemas.openxmlformats.org/drawingml/2006/chart" r:id="rId4"/>
          </a:graphicData>
        </a:graphic>
      </p:graphicFrame>
      <p:sp>
        <p:nvSpPr>
          <p:cNvPr id="13" name="Rounded Rectangle 12"/>
          <p:cNvSpPr/>
          <p:nvPr/>
        </p:nvSpPr>
        <p:spPr>
          <a:xfrm>
            <a:off x="142875" y="5438775"/>
            <a:ext cx="11906250" cy="1181100"/>
          </a:xfrm>
          <a:prstGeom prst="roundRect">
            <a:avLst>
              <a:gd name="adj" fmla="val 6451"/>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14" name="Rectangle 13"/>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6" name="Picture 15" descr="lock.png"/>
          <p:cNvPicPr>
            <a:picLocks noChangeAspect="1"/>
          </p:cNvPicPr>
          <p:nvPr/>
        </p:nvPicPr>
        <p:blipFill>
          <a:blip r:embed="rId6"/>
          <a:stretch>
            <a:fillRect/>
          </a:stretch>
        </p:blipFill>
        <p:spPr>
          <a:xfrm>
            <a:off x="3484684" y="3024134"/>
            <a:ext cx="320946" cy="466830"/>
          </a:xfrm>
          <a:prstGeom prst="rect">
            <a:avLst/>
          </a:prstGeom>
        </p:spPr>
      </p:pic>
      <p:sp>
        <p:nvSpPr>
          <p:cNvPr id="17" name="TextBox 16"/>
          <p:cNvSpPr txBox="1"/>
          <p:nvPr/>
        </p:nvSpPr>
        <p:spPr>
          <a:xfrm>
            <a:off x="257175" y="5694045"/>
            <a:ext cx="11401176" cy="186689"/>
          </a:xfrm>
          <a:prstGeom prst="rect">
            <a:avLst/>
          </a:prstGeom>
          <a:noFill/>
        </p:spPr>
        <p:txBody>
          <a:bodyPr wrap="none" lIns="0" rIns="0" tIns="0" bIns="0">
            <a:spAutoFit/>
          </a:bodyPr>
          <a:lstStyle/>
          <a:p>
            <a:r>
              <a:rPr sz="1100" b="0">
                <a:solidFill>
                  <a:srgbClr val="2E2E2E"/>
                </a:solidFill>
                <a:latin typeface="Calibri"/>
              </a:rPr>
              <a:t>Dietary supplements &amp; nutraceuticals followed by functional food &amp; beverages are expected to be the two most attractive application segments in the North America egg protein membrane market in</a:t>
            </a:r>
          </a:p>
        </p:txBody>
      </p:sp>
      <p:sp>
        <p:nvSpPr>
          <p:cNvPr id="18" name="TextBox 17"/>
          <p:cNvSpPr txBox="1"/>
          <p:nvPr/>
        </p:nvSpPr>
        <p:spPr>
          <a:xfrm>
            <a:off x="257175" y="5861685"/>
            <a:ext cx="7747404" cy="186689"/>
          </a:xfrm>
          <a:prstGeom prst="rect">
            <a:avLst/>
          </a:prstGeom>
          <a:noFill/>
        </p:spPr>
        <p:txBody>
          <a:bodyPr wrap="none" lIns="0" rIns="0" tIns="0" bIns="0">
            <a:spAutoFit/>
          </a:bodyPr>
          <a:lstStyle/>
          <a:p>
            <a:r>
              <a:rPr sz="1100" b="0">
                <a:solidFill>
                  <a:srgbClr val="2E2E2E"/>
                </a:solidFill>
                <a:latin typeface="Calibri"/>
              </a:rPr>
              <a:t>terms of value over the forecast period. Dietary supplements &amp; nutraceuticals and functional food &amp; beverages exhibit a CAGR index of</a:t>
            </a:r>
          </a:p>
        </p:txBody>
      </p:sp>
      <p:pic>
        <p:nvPicPr>
          <p:cNvPr id="19" name="Picture 18" descr="lock.png"/>
          <p:cNvPicPr>
            <a:picLocks noChangeAspect="1"/>
          </p:cNvPicPr>
          <p:nvPr/>
        </p:nvPicPr>
        <p:blipFill>
          <a:blip r:embed="rId6"/>
          <a:stretch>
            <a:fillRect/>
          </a:stretch>
        </p:blipFill>
        <p:spPr>
          <a:xfrm>
            <a:off x="7952631" y="5851905"/>
            <a:ext cx="128699" cy="187198"/>
          </a:xfrm>
          <a:prstGeom prst="rect">
            <a:avLst/>
          </a:prstGeom>
        </p:spPr>
      </p:pic>
      <p:sp>
        <p:nvSpPr>
          <p:cNvPr id="20" name="TextBox 19"/>
          <p:cNvSpPr txBox="1"/>
          <p:nvPr/>
        </p:nvSpPr>
        <p:spPr>
          <a:xfrm>
            <a:off x="8120127" y="586168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1" name="Picture 20" descr="lock.png"/>
          <p:cNvPicPr>
            <a:picLocks noChangeAspect="1"/>
          </p:cNvPicPr>
          <p:nvPr/>
        </p:nvPicPr>
        <p:blipFill>
          <a:blip r:embed="rId6"/>
          <a:stretch>
            <a:fillRect/>
          </a:stretch>
        </p:blipFill>
        <p:spPr>
          <a:xfrm>
            <a:off x="8358021" y="5851905"/>
            <a:ext cx="128699" cy="187198"/>
          </a:xfrm>
          <a:prstGeom prst="rect">
            <a:avLst/>
          </a:prstGeom>
        </p:spPr>
      </p:pic>
      <p:sp>
        <p:nvSpPr>
          <p:cNvPr id="22" name="TextBox 21"/>
          <p:cNvSpPr txBox="1"/>
          <p:nvPr/>
        </p:nvSpPr>
        <p:spPr>
          <a:xfrm>
            <a:off x="8525517" y="5861685"/>
            <a:ext cx="1660921" cy="186689"/>
          </a:xfrm>
          <a:prstGeom prst="rect">
            <a:avLst/>
          </a:prstGeom>
          <a:noFill/>
        </p:spPr>
        <p:txBody>
          <a:bodyPr wrap="none" lIns="0" rIns="0" tIns="0" bIns="0">
            <a:spAutoFit/>
          </a:bodyPr>
          <a:lstStyle/>
          <a:p>
            <a:r>
              <a:rPr sz="1100" b="0">
                <a:solidFill>
                  <a:srgbClr val="2E2E2E"/>
                </a:solidFill>
                <a:latin typeface="Calibri"/>
              </a:rPr>
              <a:t>and a market share index of</a:t>
            </a:r>
          </a:p>
        </p:txBody>
      </p:sp>
      <p:pic>
        <p:nvPicPr>
          <p:cNvPr id="23" name="Picture 22" descr="lock.png"/>
          <p:cNvPicPr>
            <a:picLocks noChangeAspect="1"/>
          </p:cNvPicPr>
          <p:nvPr/>
        </p:nvPicPr>
        <p:blipFill>
          <a:blip r:embed="rId6"/>
          <a:stretch>
            <a:fillRect/>
          </a:stretch>
        </p:blipFill>
        <p:spPr>
          <a:xfrm>
            <a:off x="10134490" y="5851905"/>
            <a:ext cx="128699" cy="187198"/>
          </a:xfrm>
          <a:prstGeom prst="rect">
            <a:avLst/>
          </a:prstGeom>
        </p:spPr>
      </p:pic>
      <p:sp>
        <p:nvSpPr>
          <p:cNvPr id="24" name="TextBox 23"/>
          <p:cNvSpPr txBox="1"/>
          <p:nvPr/>
        </p:nvSpPr>
        <p:spPr>
          <a:xfrm>
            <a:off x="10301986" y="586168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5" name="Picture 24" descr="lock.png"/>
          <p:cNvPicPr>
            <a:picLocks noChangeAspect="1"/>
          </p:cNvPicPr>
          <p:nvPr/>
        </p:nvPicPr>
        <p:blipFill>
          <a:blip r:embed="rId6"/>
          <a:stretch>
            <a:fillRect/>
          </a:stretch>
        </p:blipFill>
        <p:spPr>
          <a:xfrm>
            <a:off x="10539880" y="5851905"/>
            <a:ext cx="128699" cy="187198"/>
          </a:xfrm>
          <a:prstGeom prst="rect">
            <a:avLst/>
          </a:prstGeom>
        </p:spPr>
      </p:pic>
      <p:sp>
        <p:nvSpPr>
          <p:cNvPr id="26" name="TextBox 25"/>
          <p:cNvSpPr txBox="1"/>
          <p:nvPr/>
        </p:nvSpPr>
        <p:spPr>
          <a:xfrm>
            <a:off x="10707376" y="5861685"/>
            <a:ext cx="793526" cy="186689"/>
          </a:xfrm>
          <a:prstGeom prst="rect">
            <a:avLst/>
          </a:prstGeom>
          <a:noFill/>
        </p:spPr>
        <p:txBody>
          <a:bodyPr wrap="none" lIns="0" rIns="0" tIns="0" bIns="0">
            <a:spAutoFit/>
          </a:bodyPr>
          <a:lstStyle/>
          <a:p>
            <a:r>
              <a:rPr sz="1100" b="0">
                <a:solidFill>
                  <a:srgbClr val="2E2E2E"/>
                </a:solidFill>
                <a:latin typeface="Calibri"/>
              </a:rPr>
              <a:t>respectively,</a:t>
            </a:r>
          </a:p>
        </p:txBody>
      </p:sp>
      <p:sp>
        <p:nvSpPr>
          <p:cNvPr id="27" name="TextBox 26"/>
          <p:cNvSpPr txBox="1"/>
          <p:nvPr/>
        </p:nvSpPr>
        <p:spPr>
          <a:xfrm>
            <a:off x="257175" y="6029325"/>
            <a:ext cx="1857375" cy="186689"/>
          </a:xfrm>
          <a:prstGeom prst="rect">
            <a:avLst/>
          </a:prstGeom>
          <a:noFill/>
        </p:spPr>
        <p:txBody>
          <a:bodyPr wrap="none" lIns="0" rIns="0" tIns="0" bIns="0">
            <a:spAutoFit/>
          </a:bodyPr>
          <a:lstStyle/>
          <a:p>
            <a:r>
              <a:rPr sz="1100" b="0">
                <a:solidFill>
                  <a:srgbClr val="2E2E2E"/>
                </a:solidFill>
                <a:latin typeface="Calibri"/>
              </a:rPr>
              <a:t>against the segment average of</a:t>
            </a:r>
          </a:p>
        </p:txBody>
      </p:sp>
      <p:pic>
        <p:nvPicPr>
          <p:cNvPr id="28" name="Picture 27" descr="lock.png"/>
          <p:cNvPicPr>
            <a:picLocks noChangeAspect="1"/>
          </p:cNvPicPr>
          <p:nvPr/>
        </p:nvPicPr>
        <p:blipFill>
          <a:blip r:embed="rId6"/>
          <a:stretch>
            <a:fillRect/>
          </a:stretch>
        </p:blipFill>
        <p:spPr>
          <a:xfrm>
            <a:off x="2062601" y="6019545"/>
            <a:ext cx="128699" cy="187198"/>
          </a:xfrm>
          <a:prstGeom prst="rect">
            <a:avLst/>
          </a:prstGeom>
        </p:spPr>
      </p:pic>
      <p:sp>
        <p:nvSpPr>
          <p:cNvPr id="29" name="TextBox 28"/>
          <p:cNvSpPr txBox="1"/>
          <p:nvPr/>
        </p:nvSpPr>
        <p:spPr>
          <a:xfrm>
            <a:off x="2230097" y="6029325"/>
            <a:ext cx="9139493" cy="186689"/>
          </a:xfrm>
          <a:prstGeom prst="rect">
            <a:avLst/>
          </a:prstGeom>
          <a:noFill/>
        </p:spPr>
        <p:txBody>
          <a:bodyPr wrap="none" lIns="0" rIns="0" tIns="0" bIns="0">
            <a:spAutoFit/>
          </a:bodyPr>
          <a:lstStyle/>
          <a:p>
            <a:r>
              <a:rPr sz="1100" b="0">
                <a:solidFill>
                  <a:srgbClr val="2E2E2E"/>
                </a:solidFill>
                <a:latin typeface="Calibri"/>
              </a:rPr>
              <a:t>. The cosmetics &amp; personal care segment is expected to be less attractive as compared to other segments over the forecast period, owing to its lower CAGR and</a:t>
            </a:r>
          </a:p>
        </p:txBody>
      </p:sp>
      <p:sp>
        <p:nvSpPr>
          <p:cNvPr id="30" name="TextBox 29"/>
          <p:cNvSpPr txBox="1"/>
          <p:nvPr/>
        </p:nvSpPr>
        <p:spPr>
          <a:xfrm>
            <a:off x="257175" y="6196965"/>
            <a:ext cx="5838262" cy="186689"/>
          </a:xfrm>
          <a:prstGeom prst="rect">
            <a:avLst/>
          </a:prstGeom>
          <a:noFill/>
        </p:spPr>
        <p:txBody>
          <a:bodyPr wrap="none" lIns="0" rIns="0" tIns="0" bIns="0">
            <a:spAutoFit/>
          </a:bodyPr>
          <a:lstStyle/>
          <a:p>
            <a:r>
              <a:rPr sz="1100" b="0">
                <a:solidFill>
                  <a:srgbClr val="2E2E2E"/>
                </a:solidFill>
                <a:latin typeface="Calibri"/>
              </a:rPr>
              <a:t>incremental opportunity. Bubbles right of the CAGR-Index line grow faster than the segment average.</a:t>
            </a:r>
          </a:p>
        </p:txBody>
      </p:sp>
      <p:sp>
        <p:nvSpPr>
          <p:cNvPr id="31" name="lockshield_9"/>
          <p:cNvSpPr/>
          <p:nvPr/>
        </p:nvSpPr>
        <p:spPr>
          <a:xfrm>
            <a:off x="238125" y="1438275"/>
            <a:ext cx="6153150"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lockshield_12"/>
          <p:cNvSpPr/>
          <p:nvPr/>
        </p:nvSpPr>
        <p:spPr>
          <a:xfrm>
            <a:off x="6734175" y="1266825"/>
            <a:ext cx="5210175" cy="39814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Absolute $ Opportunity Analysis, By Application (1/2)</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Application and the absolute $ opportunity each sub-segment adds, 2026–2036</a:t>
            </a:r>
          </a:p>
        </p:txBody>
      </p:sp>
      <p:sp>
        <p:nvSpPr>
          <p:cNvPr id="7" name="Rounded Rectangle 6"/>
          <p:cNvSpPr/>
          <p:nvPr/>
        </p:nvSpPr>
        <p:spPr>
          <a:xfrm>
            <a:off x="142875" y="981075"/>
            <a:ext cx="5876925"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Dietary Supplements &amp; Nutraceuticals</a:t>
            </a:r>
          </a:p>
        </p:txBody>
      </p:sp>
      <p:graphicFrame>
        <p:nvGraphicFramePr>
          <p:cNvPr id="9" name="Chart 8"/>
          <p:cNvGraphicFramePr>
            <a:graphicFrameLocks noGrp="1"/>
          </p:cNvGraphicFramePr>
          <p:nvPr/>
        </p:nvGraphicFramePr>
        <p:xfrm>
          <a:off x="238125" y="1438275"/>
          <a:ext cx="5686425" cy="2238375"/>
        </p:xfrm>
        <a:graphic>
          <a:graphicData uri="http://schemas.openxmlformats.org/drawingml/2006/chart">
            <c:chart xmlns:c="http://schemas.openxmlformats.org/drawingml/2006/chart" r:id="rId3"/>
          </a:graphicData>
        </a:graphic>
      </p:graphicFrame>
      <p:sp>
        <p:nvSpPr>
          <p:cNvPr id="10" name="Rounded Rectangle 9"/>
          <p:cNvSpPr/>
          <p:nvPr/>
        </p:nvSpPr>
        <p:spPr>
          <a:xfrm>
            <a:off x="6172200" y="981075"/>
            <a:ext cx="5876925"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67450"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Functional Food &amp; Beverages</a:t>
            </a:r>
          </a:p>
        </p:txBody>
      </p:sp>
      <p:graphicFrame>
        <p:nvGraphicFramePr>
          <p:cNvPr id="12" name="Chart 11"/>
          <p:cNvGraphicFramePr>
            <a:graphicFrameLocks noGrp="1"/>
          </p:cNvGraphicFramePr>
          <p:nvPr/>
        </p:nvGraphicFramePr>
        <p:xfrm>
          <a:off x="6267450" y="1438275"/>
          <a:ext cx="5686425" cy="2238375"/>
        </p:xfrm>
        <a:graphic>
          <a:graphicData uri="http://schemas.openxmlformats.org/drawingml/2006/chart">
            <c:chart xmlns:c="http://schemas.openxmlformats.org/drawingml/2006/chart" r:id="rId4"/>
          </a:graphicData>
        </a:graphic>
      </p:graphicFrame>
      <p:sp>
        <p:nvSpPr>
          <p:cNvPr id="13" name="Rounded Rectangle 12"/>
          <p:cNvSpPr/>
          <p:nvPr/>
        </p:nvSpPr>
        <p:spPr>
          <a:xfrm>
            <a:off x="142875" y="3867150"/>
            <a:ext cx="5876925"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38125"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Cosmetics &amp; Personal Care</a:t>
            </a:r>
          </a:p>
        </p:txBody>
      </p:sp>
      <p:graphicFrame>
        <p:nvGraphicFramePr>
          <p:cNvPr id="15" name="Chart 14"/>
          <p:cNvGraphicFramePr>
            <a:graphicFrameLocks noGrp="1"/>
          </p:cNvGraphicFramePr>
          <p:nvPr/>
        </p:nvGraphicFramePr>
        <p:xfrm>
          <a:off x="238125" y="4324350"/>
          <a:ext cx="5686425" cy="2238375"/>
        </p:xfrm>
        <a:graphic>
          <a:graphicData uri="http://schemas.openxmlformats.org/drawingml/2006/chart">
            <c:chart xmlns:c="http://schemas.openxmlformats.org/drawingml/2006/chart" r:id="rId5"/>
          </a:graphicData>
        </a:graphic>
      </p:graphicFrame>
      <p:sp>
        <p:nvSpPr>
          <p:cNvPr id="16" name="Rounded Rectangle 15"/>
          <p:cNvSpPr/>
          <p:nvPr/>
        </p:nvSpPr>
        <p:spPr>
          <a:xfrm>
            <a:off x="6172200" y="3867150"/>
            <a:ext cx="5876925"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67450"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Pharmaceuticals &amp; Biomedical</a:t>
            </a:r>
          </a:p>
        </p:txBody>
      </p:sp>
      <p:graphicFrame>
        <p:nvGraphicFramePr>
          <p:cNvPr id="18" name="Chart 17"/>
          <p:cNvGraphicFramePr>
            <a:graphicFrameLocks noGrp="1"/>
          </p:cNvGraphicFramePr>
          <p:nvPr/>
        </p:nvGraphicFramePr>
        <p:xfrm>
          <a:off x="6267450" y="4324350"/>
          <a:ext cx="5686425" cy="2238375"/>
        </p:xfrm>
        <a:graphic>
          <a:graphicData uri="http://schemas.openxmlformats.org/drawingml/2006/chart">
            <c:chart xmlns:c="http://schemas.openxmlformats.org/drawingml/2006/chart" r:id="rId6"/>
          </a:graphicData>
        </a:graphic>
      </p:graphicFrame>
      <p:sp>
        <p:nvSpPr>
          <p:cNvPr id="19" name="Rectangle 18"/>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21" name="Picture 20" descr="lock.png"/>
          <p:cNvPicPr>
            <a:picLocks noChangeAspect="1"/>
          </p:cNvPicPr>
          <p:nvPr/>
        </p:nvPicPr>
        <p:blipFill>
          <a:blip r:embed="rId8"/>
          <a:stretch>
            <a:fillRect/>
          </a:stretch>
        </p:blipFill>
        <p:spPr>
          <a:xfrm>
            <a:off x="3100230" y="2330679"/>
            <a:ext cx="252890" cy="367840"/>
          </a:xfrm>
          <a:prstGeom prst="rect">
            <a:avLst/>
          </a:prstGeom>
        </p:spPr>
      </p:pic>
      <p:pic>
        <p:nvPicPr>
          <p:cNvPr id="22" name="Picture 21" descr="lock.png"/>
          <p:cNvPicPr>
            <a:picLocks noChangeAspect="1"/>
          </p:cNvPicPr>
          <p:nvPr/>
        </p:nvPicPr>
        <p:blipFill>
          <a:blip r:embed="rId8"/>
          <a:stretch>
            <a:fillRect/>
          </a:stretch>
        </p:blipFill>
        <p:spPr>
          <a:xfrm>
            <a:off x="9129555" y="2330679"/>
            <a:ext cx="252890" cy="367840"/>
          </a:xfrm>
          <a:prstGeom prst="rect">
            <a:avLst/>
          </a:prstGeom>
        </p:spPr>
      </p:pic>
      <p:pic>
        <p:nvPicPr>
          <p:cNvPr id="23" name="Picture 22" descr="lock.png"/>
          <p:cNvPicPr>
            <a:picLocks noChangeAspect="1"/>
          </p:cNvPicPr>
          <p:nvPr/>
        </p:nvPicPr>
        <p:blipFill>
          <a:blip r:embed="rId8"/>
          <a:stretch>
            <a:fillRect/>
          </a:stretch>
        </p:blipFill>
        <p:spPr>
          <a:xfrm>
            <a:off x="3100230" y="5216754"/>
            <a:ext cx="252890" cy="367840"/>
          </a:xfrm>
          <a:prstGeom prst="rect">
            <a:avLst/>
          </a:prstGeom>
        </p:spPr>
      </p:pic>
      <p:pic>
        <p:nvPicPr>
          <p:cNvPr id="24" name="Picture 23" descr="lock.png"/>
          <p:cNvPicPr>
            <a:picLocks noChangeAspect="1"/>
          </p:cNvPicPr>
          <p:nvPr/>
        </p:nvPicPr>
        <p:blipFill>
          <a:blip r:embed="rId8"/>
          <a:stretch>
            <a:fillRect/>
          </a:stretch>
        </p:blipFill>
        <p:spPr>
          <a:xfrm>
            <a:off x="9129555" y="5216754"/>
            <a:ext cx="252890" cy="367840"/>
          </a:xfrm>
          <a:prstGeom prst="rect">
            <a:avLst/>
          </a:prstGeom>
        </p:spPr>
      </p:pic>
      <p:sp>
        <p:nvSpPr>
          <p:cNvPr id="25" name="lockshield_9"/>
          <p:cNvSpPr/>
          <p:nvPr/>
        </p:nvSpPr>
        <p:spPr>
          <a:xfrm>
            <a:off x="238125"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lockshield_12"/>
          <p:cNvSpPr/>
          <p:nvPr/>
        </p:nvSpPr>
        <p:spPr>
          <a:xfrm>
            <a:off x="6267450"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lockshield_15"/>
          <p:cNvSpPr/>
          <p:nvPr/>
        </p:nvSpPr>
        <p:spPr>
          <a:xfrm>
            <a:off x="238125"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lockshield_18"/>
          <p:cNvSpPr/>
          <p:nvPr/>
        </p:nvSpPr>
        <p:spPr>
          <a:xfrm>
            <a:off x="6267450"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Absolute $ Opportunity Analysis, By Application (2/2)</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Application and the absolute $ opportunity each sub-segment adds, 2026–2036</a:t>
            </a:r>
          </a:p>
        </p:txBody>
      </p:sp>
      <p:sp>
        <p:nvSpPr>
          <p:cNvPr id="7" name="Rounded Rectangle 6"/>
          <p:cNvSpPr/>
          <p:nvPr/>
        </p:nvSpPr>
        <p:spPr>
          <a:xfrm>
            <a:off x="142875" y="981075"/>
            <a:ext cx="5876925"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Animal Nutrition &amp; Pet Care</a:t>
            </a:r>
          </a:p>
        </p:txBody>
      </p:sp>
      <p:graphicFrame>
        <p:nvGraphicFramePr>
          <p:cNvPr id="9" name="Chart 8"/>
          <p:cNvGraphicFramePr>
            <a:graphicFrameLocks noGrp="1"/>
          </p:cNvGraphicFramePr>
          <p:nvPr/>
        </p:nvGraphicFramePr>
        <p:xfrm>
          <a:off x="238125" y="1438275"/>
          <a:ext cx="5686425" cy="2238375"/>
        </p:xfrm>
        <a:graphic>
          <a:graphicData uri="http://schemas.openxmlformats.org/drawingml/2006/chart">
            <c:chart xmlns:c="http://schemas.openxmlformats.org/drawingml/2006/chart" r:id="rId3"/>
          </a:graphicData>
        </a:graphic>
      </p:graphicFrame>
      <p:sp>
        <p:nvSpPr>
          <p:cNvPr id="10" name="Rounded Rectangle 9"/>
          <p:cNvSpPr/>
          <p:nvPr/>
        </p:nvSpPr>
        <p:spPr>
          <a:xfrm>
            <a:off x="142875" y="3867150"/>
            <a:ext cx="5876925"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Industrial &amp; Biomaterials</a:t>
            </a:r>
          </a:p>
        </p:txBody>
      </p:sp>
      <p:graphicFrame>
        <p:nvGraphicFramePr>
          <p:cNvPr id="12" name="Chart 11"/>
          <p:cNvGraphicFramePr>
            <a:graphicFrameLocks noGrp="1"/>
          </p:cNvGraphicFramePr>
          <p:nvPr/>
        </p:nvGraphicFramePr>
        <p:xfrm>
          <a:off x="238125" y="4324350"/>
          <a:ext cx="5686425" cy="2238375"/>
        </p:xfrm>
        <a:graphic>
          <a:graphicData uri="http://schemas.openxmlformats.org/drawingml/2006/chart">
            <c:chart xmlns:c="http://schemas.openxmlformats.org/drawingml/2006/chart" r:id="rId4"/>
          </a:graphicData>
        </a:graphic>
      </p:graphicFrame>
      <p:sp>
        <p:nvSpPr>
          <p:cNvPr id="13" name="Rounded Rectangle 12"/>
          <p:cNvSpPr/>
          <p:nvPr/>
        </p:nvSpPr>
        <p:spPr>
          <a:xfrm>
            <a:off x="6172200" y="981075"/>
            <a:ext cx="5876925" cy="5648325"/>
          </a:xfrm>
          <a:prstGeom prst="roundRect">
            <a:avLst>
              <a:gd name="adj" fmla="val 134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05550" y="1066800"/>
            <a:ext cx="5610225" cy="407620"/>
          </a:xfrm>
          <a:prstGeom prst="rect">
            <a:avLst/>
          </a:prstGeom>
          <a:noFill/>
        </p:spPr>
        <p:txBody>
          <a:bodyPr wrap="square" lIns="0" rIns="19050" tIns="9525" bIns="9525">
            <a:spAutoFit/>
          </a:bodyPr>
          <a:lstStyle/>
          <a:p>
            <a:pPr algn="l"/>
            <a:r>
              <a:rPr sz="1300" b="1">
                <a:solidFill>
                  <a:srgbClr val="0E2A5C"/>
                </a:solidFill>
                <a:latin typeface="Calibri"/>
              </a:rPr>
              <a:t>Summary of North America Absolute $ Opportunity Analysis, By Application</a:t>
            </a:r>
          </a:p>
        </p:txBody>
      </p:sp>
      <p:sp>
        <p:nvSpPr>
          <p:cNvPr id="15" name="Rectangle 14"/>
          <p:cNvSpPr/>
          <p:nvPr/>
        </p:nvSpPr>
        <p:spPr>
          <a:xfrm>
            <a:off x="6305550" y="1502995"/>
            <a:ext cx="5610225"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05550" y="1588720"/>
            <a:ext cx="5610225" cy="496448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7" name="Rectangle 16"/>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9" name="Picture 18" descr="lock.png"/>
          <p:cNvPicPr>
            <a:picLocks noChangeAspect="1"/>
          </p:cNvPicPr>
          <p:nvPr/>
        </p:nvPicPr>
        <p:blipFill>
          <a:blip r:embed="rId6"/>
          <a:stretch>
            <a:fillRect/>
          </a:stretch>
        </p:blipFill>
        <p:spPr>
          <a:xfrm>
            <a:off x="3100230" y="2330679"/>
            <a:ext cx="252890" cy="367840"/>
          </a:xfrm>
          <a:prstGeom prst="rect">
            <a:avLst/>
          </a:prstGeom>
        </p:spPr>
      </p:pic>
      <p:pic>
        <p:nvPicPr>
          <p:cNvPr id="20" name="Picture 19" descr="lock.png"/>
          <p:cNvPicPr>
            <a:picLocks noChangeAspect="1"/>
          </p:cNvPicPr>
          <p:nvPr/>
        </p:nvPicPr>
        <p:blipFill>
          <a:blip r:embed="rId6"/>
          <a:stretch>
            <a:fillRect/>
          </a:stretch>
        </p:blipFill>
        <p:spPr>
          <a:xfrm>
            <a:off x="3100230" y="5216754"/>
            <a:ext cx="252890" cy="367840"/>
          </a:xfrm>
          <a:prstGeom prst="rect">
            <a:avLst/>
          </a:prstGeom>
        </p:spPr>
      </p:pic>
      <p:sp>
        <p:nvSpPr>
          <p:cNvPr id="21" name="TextBox 20"/>
          <p:cNvSpPr txBox="1"/>
          <p:nvPr/>
        </p:nvSpPr>
        <p:spPr>
          <a:xfrm>
            <a:off x="6305550" y="1598245"/>
            <a:ext cx="5182793" cy="194310"/>
          </a:xfrm>
          <a:prstGeom prst="rect">
            <a:avLst/>
          </a:prstGeom>
          <a:noFill/>
        </p:spPr>
        <p:txBody>
          <a:bodyPr wrap="none" lIns="0" rIns="0" tIns="0" bIns="0">
            <a:spAutoFit/>
          </a:bodyPr>
          <a:lstStyle/>
          <a:p>
            <a:r>
              <a:rPr sz="1150" b="0">
                <a:solidFill>
                  <a:srgbClr val="2E2E2E"/>
                </a:solidFill>
                <a:latin typeface="Calibri"/>
              </a:rPr>
              <a:t>By 2036, functional food &amp; beverages segment is anticipated to witness an increase of</a:t>
            </a:r>
          </a:p>
        </p:txBody>
      </p:sp>
      <p:pic>
        <p:nvPicPr>
          <p:cNvPr id="22" name="Picture 21" descr="lock.png"/>
          <p:cNvPicPr>
            <a:picLocks noChangeAspect="1"/>
          </p:cNvPicPr>
          <p:nvPr/>
        </p:nvPicPr>
        <p:blipFill>
          <a:blip r:embed="rId6"/>
          <a:stretch>
            <a:fillRect/>
          </a:stretch>
        </p:blipFill>
        <p:spPr>
          <a:xfrm>
            <a:off x="11437497" y="1588021"/>
            <a:ext cx="134549" cy="195707"/>
          </a:xfrm>
          <a:prstGeom prst="rect">
            <a:avLst/>
          </a:prstGeom>
        </p:spPr>
      </p:pic>
      <p:sp>
        <p:nvSpPr>
          <p:cNvPr id="23" name="TextBox 22"/>
          <p:cNvSpPr txBox="1"/>
          <p:nvPr/>
        </p:nvSpPr>
        <p:spPr>
          <a:xfrm>
            <a:off x="11612606" y="1598245"/>
            <a:ext cx="152077" cy="194310"/>
          </a:xfrm>
          <a:prstGeom prst="rect">
            <a:avLst/>
          </a:prstGeom>
          <a:noFill/>
        </p:spPr>
        <p:txBody>
          <a:bodyPr wrap="none" lIns="0" rIns="0" tIns="0" bIns="0">
            <a:spAutoFit/>
          </a:bodyPr>
          <a:lstStyle/>
          <a:p>
            <a:r>
              <a:rPr sz="1150" b="0">
                <a:solidFill>
                  <a:srgbClr val="2E2E2E"/>
                </a:solidFill>
                <a:latin typeface="Calibri"/>
              </a:rPr>
              <a:t>X</a:t>
            </a:r>
          </a:p>
        </p:txBody>
      </p:sp>
      <p:sp>
        <p:nvSpPr>
          <p:cNvPr id="24" name="TextBox 23"/>
          <p:cNvSpPr txBox="1"/>
          <p:nvPr/>
        </p:nvSpPr>
        <p:spPr>
          <a:xfrm>
            <a:off x="6305550" y="1773505"/>
            <a:ext cx="5591175" cy="194310"/>
          </a:xfrm>
          <a:prstGeom prst="rect">
            <a:avLst/>
          </a:prstGeom>
          <a:noFill/>
        </p:spPr>
        <p:txBody>
          <a:bodyPr wrap="none" lIns="0" rIns="0" tIns="0" bIns="0">
            <a:spAutoFit/>
          </a:bodyPr>
          <a:lstStyle/>
          <a:p>
            <a:r>
              <a:rPr sz="1150" b="0">
                <a:solidFill>
                  <a:srgbClr val="2E2E2E"/>
                </a:solidFill>
                <a:latin typeface="Calibri"/>
              </a:rPr>
              <a:t>in terms of value as compared to 2026. The functional food &amp; beverages segment is expected</a:t>
            </a:r>
          </a:p>
        </p:txBody>
      </p:sp>
      <p:sp>
        <p:nvSpPr>
          <p:cNvPr id="25" name="TextBox 24"/>
          <p:cNvSpPr txBox="1"/>
          <p:nvPr/>
        </p:nvSpPr>
        <p:spPr>
          <a:xfrm>
            <a:off x="6305550" y="1948765"/>
            <a:ext cx="2706241" cy="194310"/>
          </a:xfrm>
          <a:prstGeom prst="rect">
            <a:avLst/>
          </a:prstGeom>
          <a:noFill/>
        </p:spPr>
        <p:txBody>
          <a:bodyPr wrap="none" lIns="0" rIns="0" tIns="0" bIns="0">
            <a:spAutoFit/>
          </a:bodyPr>
          <a:lstStyle/>
          <a:p>
            <a:r>
              <a:rPr sz="1150" b="0">
                <a:solidFill>
                  <a:srgbClr val="2E2E2E"/>
                </a:solidFill>
                <a:latin typeface="Calibri"/>
              </a:rPr>
              <a:t>to create an incremental opportunity of US$</a:t>
            </a:r>
          </a:p>
        </p:txBody>
      </p:sp>
      <p:pic>
        <p:nvPicPr>
          <p:cNvPr id="26" name="Picture 25" descr="lock.png"/>
          <p:cNvPicPr>
            <a:picLocks noChangeAspect="1"/>
          </p:cNvPicPr>
          <p:nvPr/>
        </p:nvPicPr>
        <p:blipFill>
          <a:blip r:embed="rId6"/>
          <a:stretch>
            <a:fillRect/>
          </a:stretch>
        </p:blipFill>
        <p:spPr>
          <a:xfrm>
            <a:off x="8960944" y="1938541"/>
            <a:ext cx="134549" cy="195707"/>
          </a:xfrm>
          <a:prstGeom prst="rect">
            <a:avLst/>
          </a:prstGeom>
        </p:spPr>
      </p:pic>
      <p:sp>
        <p:nvSpPr>
          <p:cNvPr id="27" name="TextBox 26"/>
          <p:cNvSpPr txBox="1"/>
          <p:nvPr/>
        </p:nvSpPr>
        <p:spPr>
          <a:xfrm>
            <a:off x="9136054" y="1948765"/>
            <a:ext cx="2551918" cy="194310"/>
          </a:xfrm>
          <a:prstGeom prst="rect">
            <a:avLst/>
          </a:prstGeom>
          <a:noFill/>
        </p:spPr>
        <p:txBody>
          <a:bodyPr wrap="none" lIns="0" rIns="0" tIns="0" bIns="0">
            <a:spAutoFit/>
          </a:bodyPr>
          <a:lstStyle/>
          <a:p>
            <a:r>
              <a:rPr sz="1150" b="0">
                <a:solidFill>
                  <a:srgbClr val="2E2E2E"/>
                </a:solidFill>
                <a:latin typeface="Calibri"/>
              </a:rPr>
              <a:t>Mn for the overall egg protein membrane</a:t>
            </a:r>
          </a:p>
        </p:txBody>
      </p:sp>
      <p:sp>
        <p:nvSpPr>
          <p:cNvPr id="28" name="TextBox 27"/>
          <p:cNvSpPr txBox="1"/>
          <p:nvPr/>
        </p:nvSpPr>
        <p:spPr>
          <a:xfrm>
            <a:off x="6305550" y="2124025"/>
            <a:ext cx="1679897" cy="194310"/>
          </a:xfrm>
          <a:prstGeom prst="rect">
            <a:avLst/>
          </a:prstGeom>
          <a:noFill/>
        </p:spPr>
        <p:txBody>
          <a:bodyPr wrap="none" lIns="0" rIns="0" tIns="0" bIns="0">
            <a:spAutoFit/>
          </a:bodyPr>
          <a:lstStyle/>
          <a:p>
            <a:r>
              <a:rPr sz="1150" b="0">
                <a:solidFill>
                  <a:srgbClr val="2E2E2E"/>
                </a:solidFill>
                <a:latin typeface="Calibri"/>
              </a:rPr>
              <a:t>market from 2026 to 2036.</a:t>
            </a:r>
          </a:p>
        </p:txBody>
      </p:sp>
      <p:sp>
        <p:nvSpPr>
          <p:cNvPr id="29" name="TextBox 28"/>
          <p:cNvSpPr txBox="1"/>
          <p:nvPr/>
        </p:nvSpPr>
        <p:spPr>
          <a:xfrm>
            <a:off x="6305550" y="2351863"/>
            <a:ext cx="5301195" cy="194310"/>
          </a:xfrm>
          <a:prstGeom prst="rect">
            <a:avLst/>
          </a:prstGeom>
          <a:noFill/>
        </p:spPr>
        <p:txBody>
          <a:bodyPr wrap="none" lIns="0" rIns="0" tIns="0" bIns="0">
            <a:spAutoFit/>
          </a:bodyPr>
          <a:lstStyle/>
          <a:p>
            <a:r>
              <a:rPr sz="1150" b="0">
                <a:solidFill>
                  <a:srgbClr val="2E2E2E"/>
                </a:solidFill>
                <a:latin typeface="Calibri"/>
              </a:rPr>
              <a:t>The dietary supplements &amp; nutraceuticals segment is expected to create an incremental</a:t>
            </a:r>
          </a:p>
        </p:txBody>
      </p:sp>
      <p:sp>
        <p:nvSpPr>
          <p:cNvPr id="30" name="TextBox 29"/>
          <p:cNvSpPr txBox="1"/>
          <p:nvPr/>
        </p:nvSpPr>
        <p:spPr>
          <a:xfrm>
            <a:off x="6305550" y="2527123"/>
            <a:ext cx="1208943" cy="194310"/>
          </a:xfrm>
          <a:prstGeom prst="rect">
            <a:avLst/>
          </a:prstGeom>
          <a:noFill/>
        </p:spPr>
        <p:txBody>
          <a:bodyPr wrap="none" lIns="0" rIns="0" tIns="0" bIns="0">
            <a:spAutoFit/>
          </a:bodyPr>
          <a:lstStyle/>
          <a:p>
            <a:r>
              <a:rPr sz="1150" b="0">
                <a:solidFill>
                  <a:srgbClr val="2E2E2E"/>
                </a:solidFill>
                <a:latin typeface="Calibri"/>
              </a:rPr>
              <a:t>opportunity of US$</a:t>
            </a:r>
          </a:p>
        </p:txBody>
      </p:sp>
      <p:pic>
        <p:nvPicPr>
          <p:cNvPr id="31" name="Picture 30" descr="lock.png"/>
          <p:cNvPicPr>
            <a:picLocks noChangeAspect="1"/>
          </p:cNvPicPr>
          <p:nvPr/>
        </p:nvPicPr>
        <p:blipFill>
          <a:blip r:embed="rId6"/>
          <a:stretch>
            <a:fillRect/>
          </a:stretch>
        </p:blipFill>
        <p:spPr>
          <a:xfrm>
            <a:off x="7463647" y="2516899"/>
            <a:ext cx="134549" cy="195707"/>
          </a:xfrm>
          <a:prstGeom prst="rect">
            <a:avLst/>
          </a:prstGeom>
        </p:spPr>
      </p:pic>
      <p:sp>
        <p:nvSpPr>
          <p:cNvPr id="32" name="TextBox 31"/>
          <p:cNvSpPr txBox="1"/>
          <p:nvPr/>
        </p:nvSpPr>
        <p:spPr>
          <a:xfrm>
            <a:off x="7638756" y="2527123"/>
            <a:ext cx="4188705" cy="194310"/>
          </a:xfrm>
          <a:prstGeom prst="rect">
            <a:avLst/>
          </a:prstGeom>
          <a:noFill/>
        </p:spPr>
        <p:txBody>
          <a:bodyPr wrap="none" lIns="0" rIns="0" tIns="0" bIns="0">
            <a:spAutoFit/>
          </a:bodyPr>
          <a:lstStyle/>
          <a:p>
            <a:r>
              <a:rPr sz="1150" b="0">
                <a:solidFill>
                  <a:srgbClr val="2E2E2E"/>
                </a:solidFill>
                <a:latin typeface="Calibri"/>
              </a:rPr>
              <a:t>Mn for the overall egg protein membrane market from 2026 to 2036.</a:t>
            </a:r>
          </a:p>
        </p:txBody>
      </p:sp>
      <p:sp>
        <p:nvSpPr>
          <p:cNvPr id="33" name="TextBox 32"/>
          <p:cNvSpPr txBox="1"/>
          <p:nvPr/>
        </p:nvSpPr>
        <p:spPr>
          <a:xfrm>
            <a:off x="6305550" y="2702383"/>
            <a:ext cx="5439829" cy="194310"/>
          </a:xfrm>
          <a:prstGeom prst="rect">
            <a:avLst/>
          </a:prstGeom>
          <a:noFill/>
        </p:spPr>
        <p:txBody>
          <a:bodyPr wrap="none" lIns="0" rIns="0" tIns="0" bIns="0">
            <a:spAutoFit/>
          </a:bodyPr>
          <a:lstStyle/>
          <a:p>
            <a:r>
              <a:rPr sz="1150" b="0">
                <a:solidFill>
                  <a:srgbClr val="2E2E2E"/>
                </a:solidFill>
                <a:latin typeface="Calibri"/>
              </a:rPr>
              <a:t>The industrial &amp; biomaterials segment is expected to create an incremental opportunity of</a:t>
            </a:r>
          </a:p>
        </p:txBody>
      </p:sp>
      <p:sp>
        <p:nvSpPr>
          <p:cNvPr id="34" name="TextBox 33"/>
          <p:cNvSpPr txBox="1"/>
          <p:nvPr/>
        </p:nvSpPr>
        <p:spPr>
          <a:xfrm>
            <a:off x="6305550" y="2877643"/>
            <a:ext cx="311249" cy="194310"/>
          </a:xfrm>
          <a:prstGeom prst="rect">
            <a:avLst/>
          </a:prstGeom>
          <a:noFill/>
        </p:spPr>
        <p:txBody>
          <a:bodyPr wrap="none" lIns="0" rIns="0" tIns="0" bIns="0">
            <a:spAutoFit/>
          </a:bodyPr>
          <a:lstStyle/>
          <a:p>
            <a:r>
              <a:rPr sz="1150" b="0">
                <a:solidFill>
                  <a:srgbClr val="2E2E2E"/>
                </a:solidFill>
                <a:latin typeface="Calibri"/>
              </a:rPr>
              <a:t>US$</a:t>
            </a:r>
          </a:p>
        </p:txBody>
      </p:sp>
      <p:pic>
        <p:nvPicPr>
          <p:cNvPr id="35" name="Picture 34" descr="lock.png"/>
          <p:cNvPicPr>
            <a:picLocks noChangeAspect="1"/>
          </p:cNvPicPr>
          <p:nvPr/>
        </p:nvPicPr>
        <p:blipFill>
          <a:blip r:embed="rId6"/>
          <a:stretch>
            <a:fillRect/>
          </a:stretch>
        </p:blipFill>
        <p:spPr>
          <a:xfrm>
            <a:off x="6565953" y="2867419"/>
            <a:ext cx="134549" cy="195707"/>
          </a:xfrm>
          <a:prstGeom prst="rect">
            <a:avLst/>
          </a:prstGeom>
        </p:spPr>
      </p:pic>
      <p:sp>
        <p:nvSpPr>
          <p:cNvPr id="36" name="TextBox 35"/>
          <p:cNvSpPr txBox="1"/>
          <p:nvPr/>
        </p:nvSpPr>
        <p:spPr>
          <a:xfrm>
            <a:off x="6741062" y="2877643"/>
            <a:ext cx="4188705" cy="194310"/>
          </a:xfrm>
          <a:prstGeom prst="rect">
            <a:avLst/>
          </a:prstGeom>
          <a:noFill/>
        </p:spPr>
        <p:txBody>
          <a:bodyPr wrap="none" lIns="0" rIns="0" tIns="0" bIns="0">
            <a:spAutoFit/>
          </a:bodyPr>
          <a:lstStyle/>
          <a:p>
            <a:r>
              <a:rPr sz="1150" b="0">
                <a:solidFill>
                  <a:srgbClr val="2E2E2E"/>
                </a:solidFill>
                <a:latin typeface="Calibri"/>
              </a:rPr>
              <a:t>Mn for the overall egg protein membrane market from 2026 to 2036.</a:t>
            </a:r>
          </a:p>
        </p:txBody>
      </p:sp>
      <p:sp>
        <p:nvSpPr>
          <p:cNvPr id="37" name="lockshield_9"/>
          <p:cNvSpPr/>
          <p:nvPr/>
        </p:nvSpPr>
        <p:spPr>
          <a:xfrm>
            <a:off x="238125"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lockshield_12"/>
          <p:cNvSpPr/>
          <p:nvPr/>
        </p:nvSpPr>
        <p:spPr>
          <a:xfrm>
            <a:off x="238125"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Value Analysis, By Application (US$ Mn) (1/2)</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by Application, 2021–2036, highlighting the sub-segments driving growth</a:t>
            </a:r>
          </a:p>
        </p:txBody>
      </p:sp>
      <p:sp>
        <p:nvSpPr>
          <p:cNvPr id="7" name="Rounded Rectangle 6"/>
          <p:cNvSpPr/>
          <p:nvPr/>
        </p:nvSpPr>
        <p:spPr>
          <a:xfrm>
            <a:off x="142875" y="981075"/>
            <a:ext cx="11906250" cy="3181350"/>
          </a:xfrm>
          <a:prstGeom prst="roundRect">
            <a:avLst>
              <a:gd name="adj" fmla="val 2395"/>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By Application (US$ Mn)</a:t>
            </a:r>
          </a:p>
        </p:txBody>
      </p:sp>
      <p:graphicFrame>
        <p:nvGraphicFramePr>
          <p:cNvPr id="9" name="Table 8"/>
          <p:cNvGraphicFramePr>
            <a:graphicFrameLocks noGrp="1"/>
          </p:cNvGraphicFramePr>
          <p:nvPr/>
        </p:nvGraphicFramePr>
        <p:xfrm>
          <a:off x="152400" y="1238250"/>
          <a:ext cx="11887206" cy="2714626"/>
        </p:xfrm>
        <a:graphic>
          <a:graphicData uri="http://schemas.openxmlformats.org/drawingml/2006/table">
            <a:tbl>
              <a:tblPr>
                <a:tableStyleId>{5C22544A-7EE6-4342-B048-85BDC9FD1C3A}</a:tableStyleId>
              </a:tblPr>
              <a:tblGrid>
                <a:gridCol w="2415911"/>
                <a:gridCol w="557135"/>
                <a:gridCol w="557135"/>
                <a:gridCol w="557135"/>
                <a:gridCol w="557135"/>
                <a:gridCol w="557135"/>
                <a:gridCol w="557135"/>
                <a:gridCol w="557135"/>
                <a:gridCol w="557135"/>
                <a:gridCol w="557135"/>
                <a:gridCol w="557135"/>
                <a:gridCol w="557135"/>
                <a:gridCol w="557135"/>
                <a:gridCol w="557135"/>
                <a:gridCol w="557135"/>
                <a:gridCol w="557135"/>
                <a:gridCol w="557135"/>
                <a:gridCol w="557135"/>
              </a:tblGrid>
              <a:tr h="246126">
                <a:tc>
                  <a:txBody>
                    <a:bodyPr wrap="none"/>
                    <a:lstStyle/>
                    <a:p>
                      <a:pPr algn="l"/>
                      <a:r>
                        <a:rPr sz="1100" b="1">
                          <a:solidFill>
                            <a:srgbClr val="0E2A5C"/>
                          </a:solidFill>
                          <a:latin typeface="Calibri"/>
                        </a:rPr>
                        <a:t>Application</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2021A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2022A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2023A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2024A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2025A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2026E</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2027F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2028F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2029F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2030F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2031F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2032F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2033F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2034F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2035F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2036F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F-CAGR</a:t>
                      </a:r>
                      <a:endParaRPr sz="1100"/>
                    </a:p>
                  </a:txBody>
                  <a:tcPr marL="47625" marR="38100" marT="19050" marB="19050" anchor="ctr">
                    <a:solidFill>
                      <a:srgbClr val="EBF2F9"/>
                    </a:solidFill>
                  </a:tcPr>
                </a:tc>
              </a:tr>
              <a:tr h="246850">
                <a:tc>
                  <a:txBody>
                    <a:bodyPr wrap="none"/>
                    <a:lstStyle/>
                    <a:p>
                      <a:pPr algn="l"/>
                      <a:r>
                        <a:rPr sz="1100" b="1">
                          <a:solidFill>
                            <a:srgbClr val="2E2E2E"/>
                          </a:solidFill>
                          <a:latin typeface="Calibri"/>
                        </a:rPr>
                        <a:t>Dietary Supplements &amp; Nutraceuticals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850">
                <a:tc>
                  <a:txBody>
                    <a:bodyPr wrap="none"/>
                    <a:lstStyle/>
                    <a:p>
                      <a:pPr algn="l"/>
                      <a:r>
                        <a:rPr sz="1100" b="1">
                          <a:solidFill>
                            <a:srgbClr val="2E2E2E"/>
                          </a:solidFill>
                          <a:latin typeface="Calibri"/>
                        </a:rPr>
                        <a:t>– Joint &amp; Bone Health</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6850">
                <a:tc>
                  <a:txBody>
                    <a:bodyPr wrap="none"/>
                    <a:lstStyle/>
                    <a:p>
                      <a:pPr algn="l"/>
                      <a:r>
                        <a:rPr sz="1100" b="1">
                          <a:solidFill>
                            <a:srgbClr val="2E2E2E"/>
                          </a:solidFill>
                          <a:latin typeface="Calibri"/>
                        </a:rPr>
                        <a:t>– Skin, Hair &amp; Nail Health</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850">
                <a:tc>
                  <a:txBody>
                    <a:bodyPr wrap="none"/>
                    <a:lstStyle/>
                    <a:p>
                      <a:pPr algn="l"/>
                      <a:r>
                        <a:rPr sz="1100" b="1">
                          <a:solidFill>
                            <a:srgbClr val="2E2E2E"/>
                          </a:solidFill>
                          <a:latin typeface="Calibri"/>
                        </a:rPr>
                        <a:t>– Others</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6850">
                <a:tc>
                  <a:txBody>
                    <a:bodyPr wrap="none"/>
                    <a:lstStyle/>
                    <a:p>
                      <a:pPr algn="l"/>
                      <a:r>
                        <a:rPr sz="1100" b="1">
                          <a:solidFill>
                            <a:srgbClr val="2E2E2E"/>
                          </a:solidFill>
                          <a:latin typeface="Calibri"/>
                        </a:rPr>
                        <a:t>Functional Food &amp; Beverages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850">
                <a:tc>
                  <a:txBody>
                    <a:bodyPr wrap="none"/>
                    <a:lstStyle/>
                    <a:p>
                      <a:pPr algn="l"/>
                      <a:r>
                        <a:rPr sz="1100" b="1">
                          <a:solidFill>
                            <a:srgbClr val="2E2E2E"/>
                          </a:solidFill>
                          <a:latin typeface="Calibri"/>
                        </a:rPr>
                        <a:t>Cosmetics &amp; Personal Care</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6850">
                <a:tc>
                  <a:txBody>
                    <a:bodyPr wrap="none"/>
                    <a:lstStyle/>
                    <a:p>
                      <a:pPr algn="l"/>
                      <a:r>
                        <a:rPr sz="1100" b="1">
                          <a:solidFill>
                            <a:srgbClr val="2E2E2E"/>
                          </a:solidFill>
                          <a:latin typeface="Calibri"/>
                        </a:rPr>
                        <a:t>– Skin Care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850">
                <a:tc>
                  <a:txBody>
                    <a:bodyPr wrap="none"/>
                    <a:lstStyle/>
                    <a:p>
                      <a:pPr algn="l"/>
                      <a:r>
                        <a:rPr sz="1100" b="1">
                          <a:solidFill>
                            <a:srgbClr val="2E2E2E"/>
                          </a:solidFill>
                          <a:latin typeface="Calibri"/>
                        </a:rPr>
                        <a:t>– Hair Care</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6850">
                <a:tc>
                  <a:txBody>
                    <a:bodyPr wrap="none"/>
                    <a:lstStyle/>
                    <a:p>
                      <a:pPr algn="l"/>
                      <a:r>
                        <a:rPr sz="1100" b="1">
                          <a:solidFill>
                            <a:srgbClr val="2E2E2E"/>
                          </a:solidFill>
                          <a:latin typeface="Calibri"/>
                        </a:rPr>
                        <a:t>Pharmaceuticals &amp; Biomedical</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850">
                <a:tc>
                  <a:txBody>
                    <a:bodyPr wrap="none"/>
                    <a:lstStyle/>
                    <a:p>
                      <a:pPr algn="l"/>
                      <a:r>
                        <a:rPr sz="1100" b="1">
                          <a:solidFill>
                            <a:srgbClr val="2E2E2E"/>
                          </a:solidFill>
                          <a:latin typeface="Calibri"/>
                        </a:rPr>
                        <a:t>– Wound Care &amp; Dressings</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bl>
          </a:graphicData>
        </a:graphic>
      </p:graphicFrame>
      <p:sp>
        <p:nvSpPr>
          <p:cNvPr id="10" name="TextBox 9"/>
          <p:cNvSpPr txBox="1"/>
          <p:nvPr/>
        </p:nvSpPr>
        <p:spPr>
          <a:xfrm>
            <a:off x="219075" y="396240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11" name="Rectangle 10"/>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3" name="Picture 12" descr="lock.png"/>
          <p:cNvPicPr>
            <a:picLocks noChangeAspect="1"/>
          </p:cNvPicPr>
          <p:nvPr/>
        </p:nvPicPr>
        <p:blipFill>
          <a:blip r:embed="rId4"/>
          <a:stretch>
            <a:fillRect/>
          </a:stretch>
        </p:blipFill>
        <p:spPr>
          <a:xfrm>
            <a:off x="7117268" y="2451926"/>
            <a:ext cx="366712" cy="533400"/>
          </a:xfrm>
          <a:prstGeom prst="rect">
            <a:avLst/>
          </a:prstGeom>
        </p:spPr>
      </p:pic>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Value Analysis, By Application (US$ Mn) (2/2)</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by Application, 2021–2036, highlighting the sub-segments driving growth</a:t>
            </a:r>
          </a:p>
        </p:txBody>
      </p:sp>
      <p:sp>
        <p:nvSpPr>
          <p:cNvPr id="7" name="Rounded Rectangle 6"/>
          <p:cNvSpPr/>
          <p:nvPr/>
        </p:nvSpPr>
        <p:spPr>
          <a:xfrm>
            <a:off x="142875" y="981075"/>
            <a:ext cx="11906250" cy="2190750"/>
          </a:xfrm>
          <a:prstGeom prst="roundRect">
            <a:avLst>
              <a:gd name="adj" fmla="val 347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By Application (US$ Mn)</a:t>
            </a:r>
          </a:p>
        </p:txBody>
      </p:sp>
      <p:graphicFrame>
        <p:nvGraphicFramePr>
          <p:cNvPr id="9" name="Table 8"/>
          <p:cNvGraphicFramePr>
            <a:graphicFrameLocks noGrp="1"/>
          </p:cNvGraphicFramePr>
          <p:nvPr/>
        </p:nvGraphicFramePr>
        <p:xfrm>
          <a:off x="152400" y="1238250"/>
          <a:ext cx="11887193" cy="1724028"/>
        </p:xfrm>
        <a:graphic>
          <a:graphicData uri="http://schemas.openxmlformats.org/drawingml/2006/table">
            <a:tbl>
              <a:tblPr>
                <a:tableStyleId>{5C22544A-7EE6-4342-B048-85BDC9FD1C3A}</a:tableStyleId>
              </a:tblPr>
              <a:tblGrid>
                <a:gridCol w="2342577"/>
                <a:gridCol w="561448"/>
                <a:gridCol w="561448"/>
                <a:gridCol w="561448"/>
                <a:gridCol w="561448"/>
                <a:gridCol w="561448"/>
                <a:gridCol w="561448"/>
                <a:gridCol w="561448"/>
                <a:gridCol w="561448"/>
                <a:gridCol w="561448"/>
                <a:gridCol w="561448"/>
                <a:gridCol w="561448"/>
                <a:gridCol w="561448"/>
                <a:gridCol w="561448"/>
                <a:gridCol w="561448"/>
                <a:gridCol w="561448"/>
                <a:gridCol w="561448"/>
                <a:gridCol w="561448"/>
              </a:tblGrid>
              <a:tr h="246126">
                <a:tc>
                  <a:txBody>
                    <a:bodyPr wrap="none"/>
                    <a:lstStyle/>
                    <a:p>
                      <a:pPr algn="l"/>
                      <a:r>
                        <a:rPr sz="1100" b="1">
                          <a:solidFill>
                            <a:srgbClr val="0E2A5C"/>
                          </a:solidFill>
                          <a:latin typeface="Calibri"/>
                        </a:rPr>
                        <a:t>Application</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2021A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2022A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2023A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2024A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2025A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2026E</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2027F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2028F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2029F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2030F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2031F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2032F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2033F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2034F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2035F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2036F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F-CAGR</a:t>
                      </a:r>
                      <a:endParaRPr sz="1100"/>
                    </a:p>
                  </a:txBody>
                  <a:tcPr marL="47625" marR="38100" marT="19050" marB="19050" anchor="ctr">
                    <a:solidFill>
                      <a:srgbClr val="EBF2F9"/>
                    </a:solidFill>
                  </a:tcPr>
                </a:tc>
              </a:tr>
              <a:tr h="246317">
                <a:tc>
                  <a:txBody>
                    <a:bodyPr wrap="none"/>
                    <a:lstStyle/>
                    <a:p>
                      <a:pPr algn="l"/>
                      <a:r>
                        <a:rPr sz="1100" b="1">
                          <a:solidFill>
                            <a:srgbClr val="2E2E2E"/>
                          </a:solidFill>
                          <a:latin typeface="Calibri"/>
                        </a:rPr>
                        <a:t>– Tissue Engineering &amp; Drug Delivery</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17">
                <a:tc>
                  <a:txBody>
                    <a:bodyPr wrap="none"/>
                    <a:lstStyle/>
                    <a:p>
                      <a:pPr algn="l"/>
                      <a:r>
                        <a:rPr sz="1100" b="1">
                          <a:solidFill>
                            <a:srgbClr val="2E2E2E"/>
                          </a:solidFill>
                          <a:latin typeface="Calibri"/>
                        </a:rPr>
                        <a:t>Animal Nutrition &amp; Pet Care</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6317">
                <a:tc>
                  <a:txBody>
                    <a:bodyPr wrap="none"/>
                    <a:lstStyle/>
                    <a:p>
                      <a:pPr algn="l"/>
                      <a:r>
                        <a:rPr sz="1100" b="1">
                          <a:solidFill>
                            <a:srgbClr val="2E2E2E"/>
                          </a:solidFill>
                          <a:latin typeface="Calibri"/>
                        </a:rPr>
                        <a:t>– Pet Joint &amp; Skin Supplements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17">
                <a:tc>
                  <a:txBody>
                    <a:bodyPr wrap="none"/>
                    <a:lstStyle/>
                    <a:p>
                      <a:pPr algn="l"/>
                      <a:r>
                        <a:rPr sz="1100" b="1">
                          <a:solidFill>
                            <a:srgbClr val="2E2E2E"/>
                          </a:solidFill>
                          <a:latin typeface="Calibri"/>
                        </a:rPr>
                        <a:t>– Livestock &amp; Poultry Feed</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6317">
                <a:tc>
                  <a:txBody>
                    <a:bodyPr wrap="none"/>
                    <a:lstStyle/>
                    <a:p>
                      <a:pPr algn="l"/>
                      <a:r>
                        <a:rPr sz="1100" b="1">
                          <a:solidFill>
                            <a:srgbClr val="2E2E2E"/>
                          </a:solidFill>
                          <a:latin typeface="Calibri"/>
                        </a:rPr>
                        <a:t>Industrial &amp; Biomaterials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17">
                <a:tc>
                  <a:txBody>
                    <a:bodyPr wrap="none"/>
                    <a:lstStyle/>
                    <a:p>
                      <a:pPr algn="l"/>
                      <a:r>
                        <a:rPr sz="1100" b="1">
                          <a:solidFill>
                            <a:srgbClr val="2E2E2E"/>
                          </a:solidFill>
                          <a:latin typeface="Calibri"/>
                        </a:rPr>
                        <a:t>Total</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r>
            </a:tbl>
          </a:graphicData>
        </a:graphic>
      </p:graphicFrame>
      <p:sp>
        <p:nvSpPr>
          <p:cNvPr id="10" name="TextBox 9"/>
          <p:cNvSpPr txBox="1"/>
          <p:nvPr/>
        </p:nvSpPr>
        <p:spPr>
          <a:xfrm>
            <a:off x="219075" y="297180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11" name="Rounded Rectangle 10"/>
          <p:cNvSpPr/>
          <p:nvPr/>
        </p:nvSpPr>
        <p:spPr>
          <a:xfrm>
            <a:off x="142875" y="3305175"/>
            <a:ext cx="11906250" cy="3324225"/>
          </a:xfrm>
          <a:prstGeom prst="roundRect">
            <a:avLst>
              <a:gd name="adj" fmla="val 2292"/>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6225" y="3390900"/>
            <a:ext cx="11639550" cy="209550"/>
          </a:xfrm>
          <a:prstGeom prst="rect">
            <a:avLst/>
          </a:prstGeom>
          <a:noFill/>
        </p:spPr>
        <p:txBody>
          <a:bodyPr wrap="square" lIns="0" rIns="19050" tIns="9525" bIns="9525">
            <a:spAutoFit/>
          </a:bodyPr>
          <a:lstStyle/>
          <a:p>
            <a:pPr algn="l"/>
            <a:r>
              <a:rPr sz="1300" b="1">
                <a:solidFill>
                  <a:srgbClr val="0E2A5C"/>
                </a:solidFill>
                <a:latin typeface="Calibri"/>
              </a:rPr>
              <a:t>North America Value Analysis, By Application</a:t>
            </a:r>
          </a:p>
        </p:txBody>
      </p:sp>
      <p:sp>
        <p:nvSpPr>
          <p:cNvPr id="13" name="Rectangle 12"/>
          <p:cNvSpPr/>
          <p:nvPr/>
        </p:nvSpPr>
        <p:spPr>
          <a:xfrm>
            <a:off x="276225" y="3629025"/>
            <a:ext cx="116395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6225" y="3714750"/>
            <a:ext cx="11639550" cy="28384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5" name="Rectangle 14"/>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7" name="Picture 16" descr="lock.png"/>
          <p:cNvPicPr>
            <a:picLocks noChangeAspect="1"/>
          </p:cNvPicPr>
          <p:nvPr/>
        </p:nvPicPr>
        <p:blipFill>
          <a:blip r:embed="rId4"/>
          <a:stretch>
            <a:fillRect/>
          </a:stretch>
        </p:blipFill>
        <p:spPr>
          <a:xfrm>
            <a:off x="7080594" y="1956627"/>
            <a:ext cx="366712" cy="533400"/>
          </a:xfrm>
          <a:prstGeom prst="rect">
            <a:avLst/>
          </a:prstGeom>
        </p:spPr>
      </p:pic>
      <p:sp>
        <p:nvSpPr>
          <p:cNvPr id="18" name="TextBox 17"/>
          <p:cNvSpPr txBox="1"/>
          <p:nvPr/>
        </p:nvSpPr>
        <p:spPr>
          <a:xfrm>
            <a:off x="276225" y="3724275"/>
            <a:ext cx="4238624" cy="194310"/>
          </a:xfrm>
          <a:prstGeom prst="rect">
            <a:avLst/>
          </a:prstGeom>
          <a:noFill/>
        </p:spPr>
        <p:txBody>
          <a:bodyPr wrap="none" lIns="0" rIns="0" tIns="0" bIns="0">
            <a:spAutoFit/>
          </a:bodyPr>
          <a:lstStyle/>
          <a:p>
            <a:r>
              <a:rPr sz="1150" b="0">
                <a:solidFill>
                  <a:srgbClr val="2E2E2E"/>
                </a:solidFill>
                <a:latin typeface="Calibri"/>
              </a:rPr>
              <a:t>Dietary supplements &amp; nutraceuticals segment is projected to register</a:t>
            </a:r>
          </a:p>
        </p:txBody>
      </p:sp>
      <p:pic>
        <p:nvPicPr>
          <p:cNvPr id="19" name="Picture 18" descr="lock.png"/>
          <p:cNvPicPr>
            <a:picLocks noChangeAspect="1"/>
          </p:cNvPicPr>
          <p:nvPr/>
        </p:nvPicPr>
        <p:blipFill>
          <a:blip r:embed="rId4"/>
          <a:stretch>
            <a:fillRect/>
          </a:stretch>
        </p:blipFill>
        <p:spPr>
          <a:xfrm>
            <a:off x="4464003" y="3714051"/>
            <a:ext cx="134549" cy="195707"/>
          </a:xfrm>
          <a:prstGeom prst="rect">
            <a:avLst/>
          </a:prstGeom>
        </p:spPr>
      </p:pic>
      <p:sp>
        <p:nvSpPr>
          <p:cNvPr id="20" name="TextBox 19"/>
          <p:cNvSpPr txBox="1"/>
          <p:nvPr/>
        </p:nvSpPr>
        <p:spPr>
          <a:xfrm>
            <a:off x="4639113" y="3724275"/>
            <a:ext cx="6754849" cy="194310"/>
          </a:xfrm>
          <a:prstGeom prst="rect">
            <a:avLst/>
          </a:prstGeom>
          <a:noFill/>
        </p:spPr>
        <p:txBody>
          <a:bodyPr wrap="none" lIns="0" rIns="0" tIns="0" bIns="0">
            <a:spAutoFit/>
          </a:bodyPr>
          <a:lstStyle/>
          <a:p>
            <a:r>
              <a:rPr sz="1150" b="0">
                <a:solidFill>
                  <a:srgbClr val="2E2E2E"/>
                </a:solidFill>
                <a:latin typeface="Calibri"/>
              </a:rPr>
              <a:t>X higher value than functional food &amp; beverages segment in 2036. Among egg protein membrane by application,</a:t>
            </a:r>
          </a:p>
        </p:txBody>
      </p:sp>
      <p:sp>
        <p:nvSpPr>
          <p:cNvPr id="21" name="TextBox 20"/>
          <p:cNvSpPr txBox="1"/>
          <p:nvPr/>
        </p:nvSpPr>
        <p:spPr>
          <a:xfrm>
            <a:off x="276225" y="3899535"/>
            <a:ext cx="4871300" cy="194310"/>
          </a:xfrm>
          <a:prstGeom prst="rect">
            <a:avLst/>
          </a:prstGeom>
          <a:noFill/>
        </p:spPr>
        <p:txBody>
          <a:bodyPr wrap="none" lIns="0" rIns="0" tIns="0" bIns="0">
            <a:spAutoFit/>
          </a:bodyPr>
          <a:lstStyle/>
          <a:p>
            <a:r>
              <a:rPr sz="1150" b="0">
                <a:solidFill>
                  <a:srgbClr val="2E2E2E"/>
                </a:solidFill>
                <a:latin typeface="Calibri"/>
              </a:rPr>
              <a:t>functional food &amp; beverages segment is expected to witness the highest CAGR of</a:t>
            </a:r>
          </a:p>
        </p:txBody>
      </p:sp>
      <p:pic>
        <p:nvPicPr>
          <p:cNvPr id="22" name="Picture 21" descr="lock.png"/>
          <p:cNvPicPr>
            <a:picLocks noChangeAspect="1"/>
          </p:cNvPicPr>
          <p:nvPr/>
        </p:nvPicPr>
        <p:blipFill>
          <a:blip r:embed="rId4"/>
          <a:stretch>
            <a:fillRect/>
          </a:stretch>
        </p:blipFill>
        <p:spPr>
          <a:xfrm>
            <a:off x="5096679" y="3889311"/>
            <a:ext cx="134549" cy="195707"/>
          </a:xfrm>
          <a:prstGeom prst="rect">
            <a:avLst/>
          </a:prstGeom>
        </p:spPr>
      </p:pic>
      <p:sp>
        <p:nvSpPr>
          <p:cNvPr id="23" name="TextBox 22"/>
          <p:cNvSpPr txBox="1"/>
          <p:nvPr/>
        </p:nvSpPr>
        <p:spPr>
          <a:xfrm>
            <a:off x="5271788" y="3899535"/>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24" name="TextBox 23"/>
          <p:cNvSpPr txBox="1"/>
          <p:nvPr/>
        </p:nvSpPr>
        <p:spPr>
          <a:xfrm>
            <a:off x="276225" y="4127372"/>
            <a:ext cx="7951489" cy="194310"/>
          </a:xfrm>
          <a:prstGeom prst="rect">
            <a:avLst/>
          </a:prstGeom>
          <a:noFill/>
        </p:spPr>
        <p:txBody>
          <a:bodyPr wrap="none" lIns="0" rIns="0" tIns="0" bIns="0">
            <a:spAutoFit/>
          </a:bodyPr>
          <a:lstStyle/>
          <a:p>
            <a:r>
              <a:rPr sz="1150" b="0">
                <a:solidFill>
                  <a:srgbClr val="2E2E2E"/>
                </a:solidFill>
                <a:latin typeface="Calibri"/>
              </a:rPr>
              <a:t>In terms of value share by application, the dietary supplements &amp; nutraceuticals segment is expected to dominate the market, losing</a:t>
            </a:r>
          </a:p>
        </p:txBody>
      </p:sp>
      <p:pic>
        <p:nvPicPr>
          <p:cNvPr id="25" name="Picture 24" descr="lock.png"/>
          <p:cNvPicPr>
            <a:picLocks noChangeAspect="1"/>
          </p:cNvPicPr>
          <p:nvPr/>
        </p:nvPicPr>
        <p:blipFill>
          <a:blip r:embed="rId4"/>
          <a:stretch>
            <a:fillRect/>
          </a:stretch>
        </p:blipFill>
        <p:spPr>
          <a:xfrm>
            <a:off x="8176868" y="4117149"/>
            <a:ext cx="134549" cy="195707"/>
          </a:xfrm>
          <a:prstGeom prst="rect">
            <a:avLst/>
          </a:prstGeom>
        </p:spPr>
      </p:pic>
      <p:sp>
        <p:nvSpPr>
          <p:cNvPr id="26" name="TextBox 25"/>
          <p:cNvSpPr txBox="1"/>
          <p:nvPr/>
        </p:nvSpPr>
        <p:spPr>
          <a:xfrm>
            <a:off x="8351978" y="4127372"/>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27" name="Picture 26" descr="lock.png"/>
          <p:cNvPicPr>
            <a:picLocks noChangeAspect="1"/>
          </p:cNvPicPr>
          <p:nvPr/>
        </p:nvPicPr>
        <p:blipFill>
          <a:blip r:embed="rId4"/>
          <a:stretch>
            <a:fillRect/>
          </a:stretch>
        </p:blipFill>
        <p:spPr>
          <a:xfrm>
            <a:off x="9747121" y="4117149"/>
            <a:ext cx="134549" cy="195707"/>
          </a:xfrm>
          <a:prstGeom prst="rect">
            <a:avLst/>
          </a:prstGeom>
        </p:spPr>
      </p:pic>
      <p:sp>
        <p:nvSpPr>
          <p:cNvPr id="28" name="TextBox 27"/>
          <p:cNvSpPr txBox="1"/>
          <p:nvPr/>
        </p:nvSpPr>
        <p:spPr>
          <a:xfrm>
            <a:off x="9922230" y="4127372"/>
            <a:ext cx="1200100" cy="194310"/>
          </a:xfrm>
          <a:prstGeom prst="rect">
            <a:avLst/>
          </a:prstGeom>
          <a:noFill/>
        </p:spPr>
        <p:txBody>
          <a:bodyPr wrap="none" lIns="0" rIns="0" tIns="0" bIns="0">
            <a:spAutoFit/>
          </a:bodyPr>
          <a:lstStyle/>
          <a:p>
            <a:r>
              <a:rPr sz="1150" b="0">
                <a:solidFill>
                  <a:srgbClr val="2E2E2E"/>
                </a:solidFill>
                <a:latin typeface="Calibri"/>
              </a:rPr>
              <a:t>share by 2036. The</a:t>
            </a:r>
          </a:p>
        </p:txBody>
      </p:sp>
      <p:sp>
        <p:nvSpPr>
          <p:cNvPr id="29" name="TextBox 28"/>
          <p:cNvSpPr txBox="1"/>
          <p:nvPr/>
        </p:nvSpPr>
        <p:spPr>
          <a:xfrm>
            <a:off x="276225" y="4302632"/>
            <a:ext cx="3554586" cy="194310"/>
          </a:xfrm>
          <a:prstGeom prst="rect">
            <a:avLst/>
          </a:prstGeom>
          <a:noFill/>
        </p:spPr>
        <p:txBody>
          <a:bodyPr wrap="none" lIns="0" rIns="0" tIns="0" bIns="0">
            <a:spAutoFit/>
          </a:bodyPr>
          <a:lstStyle/>
          <a:p>
            <a:r>
              <a:rPr sz="1150" b="0">
                <a:solidFill>
                  <a:srgbClr val="2E2E2E"/>
                </a:solidFill>
                <a:latin typeface="Calibri"/>
              </a:rPr>
              <a:t>pharmaceuticals &amp; biomedical segment is expected to lose</a:t>
            </a:r>
          </a:p>
        </p:txBody>
      </p:sp>
      <p:pic>
        <p:nvPicPr>
          <p:cNvPr id="30" name="Picture 29" descr="lock.png"/>
          <p:cNvPicPr>
            <a:picLocks noChangeAspect="1"/>
          </p:cNvPicPr>
          <p:nvPr/>
        </p:nvPicPr>
        <p:blipFill>
          <a:blip r:embed="rId4"/>
          <a:stretch>
            <a:fillRect/>
          </a:stretch>
        </p:blipFill>
        <p:spPr>
          <a:xfrm>
            <a:off x="3779965" y="4292409"/>
            <a:ext cx="134549" cy="195707"/>
          </a:xfrm>
          <a:prstGeom prst="rect">
            <a:avLst/>
          </a:prstGeom>
        </p:spPr>
      </p:pic>
      <p:sp>
        <p:nvSpPr>
          <p:cNvPr id="31" name="TextBox 30"/>
          <p:cNvSpPr txBox="1"/>
          <p:nvPr/>
        </p:nvSpPr>
        <p:spPr>
          <a:xfrm>
            <a:off x="3955074" y="4302632"/>
            <a:ext cx="2638350" cy="194310"/>
          </a:xfrm>
          <a:prstGeom prst="rect">
            <a:avLst/>
          </a:prstGeom>
          <a:noFill/>
        </p:spPr>
        <p:txBody>
          <a:bodyPr wrap="none" lIns="0" rIns="0" tIns="0" bIns="0">
            <a:spAutoFit/>
          </a:bodyPr>
          <a:lstStyle/>
          <a:p>
            <a:r>
              <a:rPr sz="1150" b="0">
                <a:solidFill>
                  <a:srgbClr val="2E2E2E"/>
                </a:solidFill>
                <a:latin typeface="Calibri"/>
              </a:rPr>
              <a:t>BPS over the forecast period to account for</a:t>
            </a:r>
          </a:p>
        </p:txBody>
      </p:sp>
      <p:pic>
        <p:nvPicPr>
          <p:cNvPr id="32" name="Picture 31" descr="lock.png"/>
          <p:cNvPicPr>
            <a:picLocks noChangeAspect="1"/>
          </p:cNvPicPr>
          <p:nvPr/>
        </p:nvPicPr>
        <p:blipFill>
          <a:blip r:embed="rId4"/>
          <a:stretch>
            <a:fillRect/>
          </a:stretch>
        </p:blipFill>
        <p:spPr>
          <a:xfrm>
            <a:off x="6542578" y="4292409"/>
            <a:ext cx="134549" cy="195707"/>
          </a:xfrm>
          <a:prstGeom prst="rect">
            <a:avLst/>
          </a:prstGeom>
        </p:spPr>
      </p:pic>
      <p:sp>
        <p:nvSpPr>
          <p:cNvPr id="33" name="TextBox 32"/>
          <p:cNvSpPr txBox="1"/>
          <p:nvPr/>
        </p:nvSpPr>
        <p:spPr>
          <a:xfrm>
            <a:off x="6717688" y="4302632"/>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Value &amp; Share Shift, By Application</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Value composition by Application in 2021, 2026 and 2036, highlighting share shifts in basis points</a:t>
            </a:r>
          </a:p>
        </p:txBody>
      </p:sp>
      <p:sp>
        <p:nvSpPr>
          <p:cNvPr id="7" name="Rounded Rectangle 6"/>
          <p:cNvSpPr/>
          <p:nvPr/>
        </p:nvSpPr>
        <p:spPr>
          <a:xfrm>
            <a:off x="142875" y="981075"/>
            <a:ext cx="7400925" cy="5648325"/>
          </a:xfrm>
          <a:prstGeom prst="roundRect">
            <a:avLst>
              <a:gd name="adj" fmla="val 134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7210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Composition, By Application ·  2021 / 2026 / 2036 (US$ Mn)  ·  right axis = BPS share shift</a:t>
            </a:r>
          </a:p>
        </p:txBody>
      </p:sp>
      <p:graphicFrame>
        <p:nvGraphicFramePr>
          <p:cNvPr id="9" name="Chart 8"/>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r:id="rId3"/>
          </a:graphicData>
        </a:graphic>
      </p:graphicFrame>
      <p:sp>
        <p:nvSpPr>
          <p:cNvPr id="10" name="TextBox 9"/>
          <p:cNvSpPr txBox="1"/>
          <p:nvPr/>
        </p:nvSpPr>
        <p:spPr>
          <a:xfrm>
            <a:off x="4852797" y="1590675"/>
            <a:ext cx="2595753" cy="171069"/>
          </a:xfrm>
          <a:prstGeom prst="rect">
            <a:avLst/>
          </a:prstGeom>
          <a:noFill/>
        </p:spPr>
        <p:txBody>
          <a:bodyPr wrap="square" lIns="28575" rIns="28575" tIns="9525" bIns="9525" anchor="ctr">
            <a:spAutoFit/>
          </a:bodyPr>
          <a:lstStyle/>
          <a:p>
            <a:pPr algn="ctr"/>
            <a:r>
              <a:rPr sz="1300" b="1">
                <a:solidFill>
                  <a:srgbClr val="2A5F8F"/>
                </a:solidFill>
                <a:latin typeface="Calibri"/>
              </a:rPr>
              <a:t>BPS Δ  (2021→2036)</a:t>
            </a:r>
          </a:p>
        </p:txBody>
      </p:sp>
      <p:sp>
        <p:nvSpPr>
          <p:cNvPr id="11" name="TMR Lock Anchor"/>
          <p:cNvSpPr txBox="1"/>
          <p:nvPr/>
        </p:nvSpPr>
        <p:spPr>
          <a:xfrm>
            <a:off x="2678811" y="4014597"/>
            <a:ext cx="38100" cy="38100"/>
          </a:xfrm>
          <a:prstGeom prst="rect">
            <a:avLst/>
          </a:prstGeom>
          <a:noFill/>
        </p:spPr>
        <p:txBody>
          <a:bodyPr wrap="none">
            <a:spAutoFit/>
          </a:bodyPr>
          <a:lstStyle/>
          <a:p/>
        </p:txBody>
      </p:sp>
      <p:sp>
        <p:nvSpPr>
          <p:cNvPr id="12" name="TMR Legend Chip"/>
          <p:cNvSpPr/>
          <p:nvPr/>
        </p:nvSpPr>
        <p:spPr>
          <a:xfrm>
            <a:off x="4928997" y="1813217"/>
            <a:ext cx="85725" cy="85725"/>
          </a:xfrm>
          <a:prstGeom prst="rect">
            <a:avLst/>
          </a:prstGeom>
          <a:solidFill>
            <a:srgbClr val="79C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Isosceles Triangle 12"/>
          <p:cNvSpPr/>
          <p:nvPr/>
        </p:nvSpPr>
        <p:spPr>
          <a:xfrm>
            <a:off x="5090922" y="1808455"/>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BPS Name 1"/>
          <p:cNvSpPr txBox="1"/>
          <p:nvPr/>
        </p:nvSpPr>
        <p:spPr>
          <a:xfrm>
            <a:off x="5233797" y="1732255"/>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Animal Nutrition &amp; Pet Care</a:t>
            </a:r>
          </a:p>
        </p:txBody>
      </p:sp>
      <p:sp>
        <p:nvSpPr>
          <p:cNvPr id="15" name="BPS Value 1"/>
          <p:cNvSpPr txBox="1"/>
          <p:nvPr/>
        </p:nvSpPr>
        <p:spPr>
          <a:xfrm>
            <a:off x="6896100" y="1794167"/>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16" name="TMR Legend Chip"/>
          <p:cNvSpPr/>
          <p:nvPr/>
        </p:nvSpPr>
        <p:spPr>
          <a:xfrm>
            <a:off x="4928997" y="2209250"/>
            <a:ext cx="85725" cy="85725"/>
          </a:xfrm>
          <a:prstGeom prst="rect">
            <a:avLst/>
          </a:prstGeom>
          <a:solidFill>
            <a:srgbClr val="F47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Isosceles Triangle 16"/>
          <p:cNvSpPr/>
          <p:nvPr/>
        </p:nvSpPr>
        <p:spPr>
          <a:xfrm rot="10800000">
            <a:off x="5090922" y="2204488"/>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PS Name 2"/>
          <p:cNvSpPr txBox="1"/>
          <p:nvPr/>
        </p:nvSpPr>
        <p:spPr>
          <a:xfrm>
            <a:off x="5233797" y="2128288"/>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Cosmetics &amp; Personal Care</a:t>
            </a:r>
          </a:p>
        </p:txBody>
      </p:sp>
      <p:sp>
        <p:nvSpPr>
          <p:cNvPr id="19" name="BPS Value 2"/>
          <p:cNvSpPr txBox="1"/>
          <p:nvPr/>
        </p:nvSpPr>
        <p:spPr>
          <a:xfrm>
            <a:off x="6896100" y="2190200"/>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0" name="TMR Legend Chip"/>
          <p:cNvSpPr/>
          <p:nvPr/>
        </p:nvSpPr>
        <p:spPr>
          <a:xfrm>
            <a:off x="4928997" y="2730730"/>
            <a:ext cx="85725" cy="85725"/>
          </a:xfrm>
          <a:prstGeom prst="rect">
            <a:avLst/>
          </a:prstGeom>
          <a:solidFill>
            <a:srgbClr val="00AC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Isosceles Triangle 20"/>
          <p:cNvSpPr/>
          <p:nvPr/>
        </p:nvSpPr>
        <p:spPr>
          <a:xfrm>
            <a:off x="5090922" y="2725967"/>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BPS Name 3"/>
          <p:cNvSpPr txBox="1"/>
          <p:nvPr/>
        </p:nvSpPr>
        <p:spPr>
          <a:xfrm>
            <a:off x="5233797" y="2649767"/>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Industrial &amp; Biomaterials</a:t>
            </a:r>
          </a:p>
        </p:txBody>
      </p:sp>
      <p:sp>
        <p:nvSpPr>
          <p:cNvPr id="23" name="BPS Value 3"/>
          <p:cNvSpPr txBox="1"/>
          <p:nvPr/>
        </p:nvSpPr>
        <p:spPr>
          <a:xfrm>
            <a:off x="6896100" y="2711680"/>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4" name="TMR Legend Chip"/>
          <p:cNvSpPr/>
          <p:nvPr/>
        </p:nvSpPr>
        <p:spPr>
          <a:xfrm>
            <a:off x="4928997" y="3392974"/>
            <a:ext cx="85725" cy="85725"/>
          </a:xfrm>
          <a:prstGeom prst="rect">
            <a:avLst/>
          </a:prstGeom>
          <a:solidFill>
            <a:srgbClr val="0E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Isosceles Triangle 24"/>
          <p:cNvSpPr/>
          <p:nvPr/>
        </p:nvSpPr>
        <p:spPr>
          <a:xfrm rot="10800000">
            <a:off x="5090922" y="3388212"/>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BPS Name 4"/>
          <p:cNvSpPr txBox="1"/>
          <p:nvPr/>
        </p:nvSpPr>
        <p:spPr>
          <a:xfrm>
            <a:off x="5233797" y="3312012"/>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Pharmaceuticals &amp; Biomedical</a:t>
            </a:r>
          </a:p>
        </p:txBody>
      </p:sp>
      <p:sp>
        <p:nvSpPr>
          <p:cNvPr id="27" name="BPS Value 4"/>
          <p:cNvSpPr txBox="1"/>
          <p:nvPr/>
        </p:nvSpPr>
        <p:spPr>
          <a:xfrm>
            <a:off x="6896100" y="3373924"/>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8" name="TMR Legend Chip"/>
          <p:cNvSpPr/>
          <p:nvPr/>
        </p:nvSpPr>
        <p:spPr>
          <a:xfrm>
            <a:off x="4928997" y="4288539"/>
            <a:ext cx="85725" cy="85725"/>
          </a:xfrm>
          <a:prstGeom prst="rect">
            <a:avLst/>
          </a:prstGeom>
          <a:solidFill>
            <a:srgbClr val="0081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Isosceles Triangle 28"/>
          <p:cNvSpPr/>
          <p:nvPr/>
        </p:nvSpPr>
        <p:spPr>
          <a:xfrm>
            <a:off x="5090922" y="4283776"/>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BPS Name 5"/>
          <p:cNvSpPr txBox="1"/>
          <p:nvPr/>
        </p:nvSpPr>
        <p:spPr>
          <a:xfrm>
            <a:off x="5233797" y="4207576"/>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Functional Food &amp; Beverages</a:t>
            </a:r>
          </a:p>
        </p:txBody>
      </p:sp>
      <p:sp>
        <p:nvSpPr>
          <p:cNvPr id="31" name="BPS Value 5"/>
          <p:cNvSpPr txBox="1"/>
          <p:nvPr/>
        </p:nvSpPr>
        <p:spPr>
          <a:xfrm>
            <a:off x="6896100" y="4269489"/>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32" name="TMR Legend Chip"/>
          <p:cNvSpPr/>
          <p:nvPr/>
        </p:nvSpPr>
        <p:spPr>
          <a:xfrm>
            <a:off x="4928997" y="5516452"/>
            <a:ext cx="85725" cy="85725"/>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Isosceles Triangle 32"/>
          <p:cNvSpPr/>
          <p:nvPr/>
        </p:nvSpPr>
        <p:spPr>
          <a:xfrm rot="10800000">
            <a:off x="5090922" y="5511690"/>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BPS Name 6"/>
          <p:cNvSpPr txBox="1"/>
          <p:nvPr/>
        </p:nvSpPr>
        <p:spPr>
          <a:xfrm>
            <a:off x="5233797" y="5435490"/>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Dietary Supplements &amp; Nutraceuticals</a:t>
            </a:r>
          </a:p>
        </p:txBody>
      </p:sp>
      <p:sp>
        <p:nvSpPr>
          <p:cNvPr id="35" name="BPS Value 6"/>
          <p:cNvSpPr txBox="1"/>
          <p:nvPr/>
        </p:nvSpPr>
        <p:spPr>
          <a:xfrm>
            <a:off x="6896100" y="5497402"/>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36" name="Rounded Rectangle 35"/>
          <p:cNvSpPr/>
          <p:nvPr/>
        </p:nvSpPr>
        <p:spPr>
          <a:xfrm>
            <a:off x="7696200" y="981075"/>
            <a:ext cx="4343400" cy="5648325"/>
          </a:xfrm>
          <a:prstGeom prst="roundRect">
            <a:avLst>
              <a:gd name="adj" fmla="val 1754"/>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E2A5C"/>
                </a:solidFill>
                <a:latin typeface="Calibri"/>
              </a:rPr>
              <a:t>North America Read-out, By Application</a:t>
            </a:r>
          </a:p>
        </p:txBody>
      </p:sp>
      <p:sp>
        <p:nvSpPr>
          <p:cNvPr id="38" name="Rectangle 37"/>
          <p:cNvSpPr/>
          <p:nvPr/>
        </p:nvSpPr>
        <p:spPr>
          <a:xfrm>
            <a:off x="7829550" y="1304925"/>
            <a:ext cx="407670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40" name="Rectangle 39"/>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42" name="Picture 41" descr="lock.png"/>
          <p:cNvPicPr>
            <a:picLocks noChangeAspect="1"/>
          </p:cNvPicPr>
          <p:nvPr/>
        </p:nvPicPr>
        <p:blipFill>
          <a:blip r:embed="rId5"/>
          <a:stretch>
            <a:fillRect/>
          </a:stretch>
        </p:blipFill>
        <p:spPr>
          <a:xfrm>
            <a:off x="2557843" y="3833622"/>
            <a:ext cx="275034" cy="400050"/>
          </a:xfrm>
          <a:prstGeom prst="rect">
            <a:avLst/>
          </a:prstGeom>
        </p:spPr>
      </p:pic>
      <p:sp>
        <p:nvSpPr>
          <p:cNvPr id="43" name="TextBox 42"/>
          <p:cNvSpPr txBox="1"/>
          <p:nvPr/>
        </p:nvSpPr>
        <p:spPr>
          <a:xfrm>
            <a:off x="7829550" y="1400175"/>
            <a:ext cx="3878064" cy="194310"/>
          </a:xfrm>
          <a:prstGeom prst="rect">
            <a:avLst/>
          </a:prstGeom>
          <a:noFill/>
        </p:spPr>
        <p:txBody>
          <a:bodyPr wrap="none" lIns="0" rIns="0" tIns="0" bIns="0">
            <a:spAutoFit/>
          </a:bodyPr>
          <a:lstStyle/>
          <a:p>
            <a:r>
              <a:rPr sz="1150" b="0">
                <a:solidFill>
                  <a:srgbClr val="2E2E2E"/>
                </a:solidFill>
                <a:latin typeface="Calibri"/>
              </a:rPr>
              <a:t>Among egg protein membrane by application, functional food &amp;</a:t>
            </a:r>
          </a:p>
        </p:txBody>
      </p:sp>
      <p:sp>
        <p:nvSpPr>
          <p:cNvPr id="44" name="TextBox 43"/>
          <p:cNvSpPr txBox="1"/>
          <p:nvPr/>
        </p:nvSpPr>
        <p:spPr>
          <a:xfrm>
            <a:off x="7829550" y="1575435"/>
            <a:ext cx="3797319" cy="194310"/>
          </a:xfrm>
          <a:prstGeom prst="rect">
            <a:avLst/>
          </a:prstGeom>
          <a:noFill/>
        </p:spPr>
        <p:txBody>
          <a:bodyPr wrap="none" lIns="0" rIns="0" tIns="0" bIns="0">
            <a:spAutoFit/>
          </a:bodyPr>
          <a:lstStyle/>
          <a:p>
            <a:r>
              <a:rPr sz="1150" b="0">
                <a:solidFill>
                  <a:srgbClr val="2E2E2E"/>
                </a:solidFill>
                <a:latin typeface="Calibri"/>
              </a:rPr>
              <a:t>beverages segment is expected to witness the highest CAGR of</a:t>
            </a:r>
          </a:p>
        </p:txBody>
      </p:sp>
      <p:pic>
        <p:nvPicPr>
          <p:cNvPr id="45" name="Picture 44" descr="lock.png"/>
          <p:cNvPicPr>
            <a:picLocks noChangeAspect="1"/>
          </p:cNvPicPr>
          <p:nvPr/>
        </p:nvPicPr>
        <p:blipFill>
          <a:blip r:embed="rId5"/>
          <a:stretch>
            <a:fillRect/>
          </a:stretch>
        </p:blipFill>
        <p:spPr>
          <a:xfrm>
            <a:off x="11576023" y="1565211"/>
            <a:ext cx="134549" cy="195707"/>
          </a:xfrm>
          <a:prstGeom prst="rect">
            <a:avLst/>
          </a:prstGeom>
        </p:spPr>
      </p:pic>
      <p:sp>
        <p:nvSpPr>
          <p:cNvPr id="46" name="TextBox 45"/>
          <p:cNvSpPr txBox="1"/>
          <p:nvPr/>
        </p:nvSpPr>
        <p:spPr>
          <a:xfrm>
            <a:off x="7829550" y="1750695"/>
            <a:ext cx="4057650" cy="194310"/>
          </a:xfrm>
          <a:prstGeom prst="rect">
            <a:avLst/>
          </a:prstGeom>
          <a:noFill/>
        </p:spPr>
        <p:txBody>
          <a:bodyPr wrap="none" lIns="0" rIns="0" tIns="0" bIns="0">
            <a:spAutoFit/>
          </a:bodyPr>
          <a:lstStyle/>
          <a:p>
            <a:r>
              <a:rPr sz="1150" b="0">
                <a:solidFill>
                  <a:srgbClr val="2E2E2E"/>
                </a:solidFill>
                <a:latin typeface="Calibri"/>
              </a:rPr>
              <a:t>over the forecast period. In terms of value share by application, the</a:t>
            </a:r>
          </a:p>
        </p:txBody>
      </p:sp>
      <p:sp>
        <p:nvSpPr>
          <p:cNvPr id="47" name="TextBox 46"/>
          <p:cNvSpPr txBox="1"/>
          <p:nvPr/>
        </p:nvSpPr>
        <p:spPr>
          <a:xfrm>
            <a:off x="7829550" y="1925955"/>
            <a:ext cx="3709193" cy="194310"/>
          </a:xfrm>
          <a:prstGeom prst="rect">
            <a:avLst/>
          </a:prstGeom>
          <a:noFill/>
        </p:spPr>
        <p:txBody>
          <a:bodyPr wrap="none" lIns="0" rIns="0" tIns="0" bIns="0">
            <a:spAutoFit/>
          </a:bodyPr>
          <a:lstStyle/>
          <a:p>
            <a:r>
              <a:rPr sz="1150" b="0">
                <a:solidFill>
                  <a:srgbClr val="2E2E2E"/>
                </a:solidFill>
                <a:latin typeface="Calibri"/>
              </a:rPr>
              <a:t>dietary supplements &amp; nutraceuticals segment is expected to</a:t>
            </a:r>
          </a:p>
        </p:txBody>
      </p:sp>
      <p:sp>
        <p:nvSpPr>
          <p:cNvPr id="48" name="TextBox 47"/>
          <p:cNvSpPr txBox="1"/>
          <p:nvPr/>
        </p:nvSpPr>
        <p:spPr>
          <a:xfrm>
            <a:off x="7829550" y="2101215"/>
            <a:ext cx="1755774" cy="194310"/>
          </a:xfrm>
          <a:prstGeom prst="rect">
            <a:avLst/>
          </a:prstGeom>
          <a:noFill/>
        </p:spPr>
        <p:txBody>
          <a:bodyPr wrap="none" lIns="0" rIns="0" tIns="0" bIns="0">
            <a:spAutoFit/>
          </a:bodyPr>
          <a:lstStyle/>
          <a:p>
            <a:r>
              <a:rPr sz="1150" b="0">
                <a:solidFill>
                  <a:srgbClr val="2E2E2E"/>
                </a:solidFill>
                <a:latin typeface="Calibri"/>
              </a:rPr>
              <a:t>dominate the market, losing</a:t>
            </a:r>
          </a:p>
        </p:txBody>
      </p:sp>
      <p:pic>
        <p:nvPicPr>
          <p:cNvPr id="49" name="Picture 48" descr="lock.png"/>
          <p:cNvPicPr>
            <a:picLocks noChangeAspect="1"/>
          </p:cNvPicPr>
          <p:nvPr/>
        </p:nvPicPr>
        <p:blipFill>
          <a:blip r:embed="rId5"/>
          <a:stretch>
            <a:fillRect/>
          </a:stretch>
        </p:blipFill>
        <p:spPr>
          <a:xfrm>
            <a:off x="9534478" y="2090991"/>
            <a:ext cx="134549" cy="195707"/>
          </a:xfrm>
          <a:prstGeom prst="rect">
            <a:avLst/>
          </a:prstGeom>
        </p:spPr>
      </p:pic>
      <p:sp>
        <p:nvSpPr>
          <p:cNvPr id="50" name="TextBox 49"/>
          <p:cNvSpPr txBox="1"/>
          <p:nvPr/>
        </p:nvSpPr>
        <p:spPr>
          <a:xfrm>
            <a:off x="9709588" y="2101215"/>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51" name="Picture 50" descr="lock.png"/>
          <p:cNvPicPr>
            <a:picLocks noChangeAspect="1"/>
          </p:cNvPicPr>
          <p:nvPr/>
        </p:nvPicPr>
        <p:blipFill>
          <a:blip r:embed="rId5"/>
          <a:stretch>
            <a:fillRect/>
          </a:stretch>
        </p:blipFill>
        <p:spPr>
          <a:xfrm>
            <a:off x="11104731" y="2090991"/>
            <a:ext cx="134549" cy="195707"/>
          </a:xfrm>
          <a:prstGeom prst="rect">
            <a:avLst/>
          </a:prstGeom>
        </p:spPr>
      </p:pic>
      <p:sp>
        <p:nvSpPr>
          <p:cNvPr id="52" name="TextBox 51"/>
          <p:cNvSpPr txBox="1"/>
          <p:nvPr/>
        </p:nvSpPr>
        <p:spPr>
          <a:xfrm>
            <a:off x="11279840" y="2101215"/>
            <a:ext cx="403671" cy="194310"/>
          </a:xfrm>
          <a:prstGeom prst="rect">
            <a:avLst/>
          </a:prstGeom>
          <a:noFill/>
        </p:spPr>
        <p:txBody>
          <a:bodyPr wrap="none" lIns="0" rIns="0" tIns="0" bIns="0">
            <a:spAutoFit/>
          </a:bodyPr>
          <a:lstStyle/>
          <a:p>
            <a:r>
              <a:rPr sz="1150" b="0">
                <a:solidFill>
                  <a:srgbClr val="2E2E2E"/>
                </a:solidFill>
                <a:latin typeface="Calibri"/>
              </a:rPr>
              <a:t>share</a:t>
            </a:r>
          </a:p>
        </p:txBody>
      </p:sp>
      <p:sp>
        <p:nvSpPr>
          <p:cNvPr id="53" name="TextBox 52"/>
          <p:cNvSpPr txBox="1"/>
          <p:nvPr/>
        </p:nvSpPr>
        <p:spPr>
          <a:xfrm>
            <a:off x="7829550" y="2276475"/>
            <a:ext cx="585663" cy="194310"/>
          </a:xfrm>
          <a:prstGeom prst="rect">
            <a:avLst/>
          </a:prstGeom>
          <a:noFill/>
        </p:spPr>
        <p:txBody>
          <a:bodyPr wrap="none" lIns="0" rIns="0" tIns="0" bIns="0">
            <a:spAutoFit/>
          </a:bodyPr>
          <a:lstStyle/>
          <a:p>
            <a:r>
              <a:rPr sz="1150" b="0">
                <a:solidFill>
                  <a:srgbClr val="2E2E2E"/>
                </a:solidFill>
                <a:latin typeface="Calibri"/>
              </a:rPr>
              <a:t>by 2036.</a:t>
            </a:r>
          </a:p>
        </p:txBody>
      </p:sp>
      <p:sp>
        <p:nvSpPr>
          <p:cNvPr id="54" name="TextBox 53"/>
          <p:cNvSpPr txBox="1"/>
          <p:nvPr/>
        </p:nvSpPr>
        <p:spPr>
          <a:xfrm>
            <a:off x="7829550" y="2504313"/>
            <a:ext cx="3808462" cy="194310"/>
          </a:xfrm>
          <a:prstGeom prst="rect">
            <a:avLst/>
          </a:prstGeom>
          <a:noFill/>
        </p:spPr>
        <p:txBody>
          <a:bodyPr wrap="none" lIns="0" rIns="0" tIns="0" bIns="0">
            <a:spAutoFit/>
          </a:bodyPr>
          <a:lstStyle/>
          <a:p>
            <a:r>
              <a:rPr sz="1150" b="0">
                <a:solidFill>
                  <a:srgbClr val="2E2E2E"/>
                </a:solidFill>
                <a:latin typeface="Calibri"/>
              </a:rPr>
              <a:t>The pharmaceuticals &amp; biomedical segment is expected to lose</a:t>
            </a:r>
          </a:p>
        </p:txBody>
      </p:sp>
      <p:pic>
        <p:nvPicPr>
          <p:cNvPr id="55" name="Picture 54" descr="lock.png"/>
          <p:cNvPicPr>
            <a:picLocks noChangeAspect="1"/>
          </p:cNvPicPr>
          <p:nvPr/>
        </p:nvPicPr>
        <p:blipFill>
          <a:blip r:embed="rId5"/>
          <a:stretch>
            <a:fillRect/>
          </a:stretch>
        </p:blipFill>
        <p:spPr>
          <a:xfrm>
            <a:off x="11587166" y="2494089"/>
            <a:ext cx="134549" cy="195707"/>
          </a:xfrm>
          <a:prstGeom prst="rect">
            <a:avLst/>
          </a:prstGeom>
        </p:spPr>
      </p:pic>
      <p:sp>
        <p:nvSpPr>
          <p:cNvPr id="56" name="TextBox 55"/>
          <p:cNvSpPr txBox="1"/>
          <p:nvPr/>
        </p:nvSpPr>
        <p:spPr>
          <a:xfrm>
            <a:off x="7829550" y="2679573"/>
            <a:ext cx="2638350" cy="194310"/>
          </a:xfrm>
          <a:prstGeom prst="rect">
            <a:avLst/>
          </a:prstGeom>
          <a:noFill/>
        </p:spPr>
        <p:txBody>
          <a:bodyPr wrap="none" lIns="0" rIns="0" tIns="0" bIns="0">
            <a:spAutoFit/>
          </a:bodyPr>
          <a:lstStyle/>
          <a:p>
            <a:r>
              <a:rPr sz="1150" b="0">
                <a:solidFill>
                  <a:srgbClr val="2E2E2E"/>
                </a:solidFill>
                <a:latin typeface="Calibri"/>
              </a:rPr>
              <a:t>BPS over the forecast period to account for</a:t>
            </a:r>
          </a:p>
        </p:txBody>
      </p:sp>
      <p:pic>
        <p:nvPicPr>
          <p:cNvPr id="57" name="Picture 56" descr="lock.png"/>
          <p:cNvPicPr>
            <a:picLocks noChangeAspect="1"/>
          </p:cNvPicPr>
          <p:nvPr/>
        </p:nvPicPr>
        <p:blipFill>
          <a:blip r:embed="rId5"/>
          <a:stretch>
            <a:fillRect/>
          </a:stretch>
        </p:blipFill>
        <p:spPr>
          <a:xfrm>
            <a:off x="10417054" y="2669349"/>
            <a:ext cx="134549" cy="195707"/>
          </a:xfrm>
          <a:prstGeom prst="rect">
            <a:avLst/>
          </a:prstGeom>
        </p:spPr>
      </p:pic>
      <p:sp>
        <p:nvSpPr>
          <p:cNvPr id="58" name="TextBox 57"/>
          <p:cNvSpPr txBox="1"/>
          <p:nvPr/>
        </p:nvSpPr>
        <p:spPr>
          <a:xfrm>
            <a:off x="10592163" y="2679573"/>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59" name="lockshield_9"/>
          <p:cNvSpPr/>
          <p:nvPr/>
        </p:nvSpPr>
        <p:spPr>
          <a:xfrm>
            <a:off x="238125" y="1581150"/>
            <a:ext cx="4614672" cy="49911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bg>
      <p:bgPr>
        <a:solidFill>
          <a:srgbClr val="F3F8FD"/>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3F8FD"/>
              </a:gs>
              <a:gs pos="100000">
                <a:srgbClr val="DCE9F6"/>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FE0F0">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9C8E6">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B7D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A5F8F"/>
              </a:gs>
              <a:gs pos="100000">
                <a:srgbClr val="6FA6D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MR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11.6</a:t>
            </a:r>
          </a:p>
        </p:txBody>
      </p:sp>
      <p:pic>
        <p:nvPicPr>
          <p:cNvPr id="8" name="Picture 7" descr="tmr_logo.png"/>
          <p:cNvPicPr>
            <a:picLocks noChangeAspect="1"/>
          </p:cNvPicPr>
          <p:nvPr/>
        </p:nvPicPr>
        <p:blipFill>
          <a:blip r:embed="rId2"/>
          <a:stretch>
            <a:fillRect/>
          </a:stretch>
        </p:blipFill>
        <p:spPr>
          <a:xfrm>
            <a:off x="411480" y="274320"/>
            <a:ext cx="1307592" cy="975505"/>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2A5F8F"/>
                </a:solidFill>
                <a:latin typeface="Calibri"/>
              </a:rPr>
              <a:t>Egg Protein Membrane Market</a:t>
            </a:r>
          </a:p>
        </p:txBody>
      </p:sp>
      <p:sp>
        <p:nvSpPr>
          <p:cNvPr id="10" name="TMR Section Title"/>
          <p:cNvSpPr txBox="1"/>
          <p:nvPr/>
        </p:nvSpPr>
        <p:spPr>
          <a:xfrm>
            <a:off x="914400" y="2701925"/>
            <a:ext cx="8572500" cy="514350"/>
          </a:xfrm>
          <a:prstGeom prst="rect">
            <a:avLst/>
          </a:prstGeom>
          <a:noFill/>
        </p:spPr>
        <p:txBody>
          <a:bodyPr wrap="square" lIns="0" rIns="0" tIns="0">
            <a:spAutoFit/>
          </a:bodyPr>
          <a:lstStyle/>
          <a:p>
            <a:r>
              <a:rPr sz="3000" b="1">
                <a:solidFill>
                  <a:srgbClr val="0E2A5C"/>
                </a:solidFill>
                <a:latin typeface="Calibri"/>
              </a:rPr>
              <a:t>Sales Channel</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Sales Channel Segment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Structure &amp; Attractiveness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Value Analysis</a:t>
            </a:r>
          </a:p>
        </p:txBody>
      </p:sp>
      <p:sp>
        <p:nvSpPr>
          <p:cNvPr id="12" name="Rectangle 11"/>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By Sales Channel Segment Outlook</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Segment analysis of market size, growth and share across 2 sub-segments of Sales Channel, 2026–2036</a:t>
            </a:r>
          </a:p>
        </p:txBody>
      </p:sp>
      <p:sp>
        <p:nvSpPr>
          <p:cNvPr id="7" name="TextBox 6"/>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Sales Channel segment categorizes the market by sales channel. Each sub-category is evaluated on market size, growth outlook and adoption trends across the forecast period.</a:t>
            </a:r>
          </a:p>
        </p:txBody>
      </p:sp>
      <p:sp>
        <p:nvSpPr>
          <p:cNvPr id="8" name="Rectangle 7"/>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Sub-Segment</a:t>
            </a:r>
          </a:p>
        </p:txBody>
      </p:sp>
      <p:sp>
        <p:nvSpPr>
          <p:cNvPr id="10" name="Rectangle 9"/>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2" name="Rectangle 11"/>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4" name="Rectangle 13"/>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16" name="Rounded Rectangle 15"/>
          <p:cNvSpPr/>
          <p:nvPr/>
        </p:nvSpPr>
        <p:spPr>
          <a:xfrm>
            <a:off x="1866900" y="1773916"/>
            <a:ext cx="4943475"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866900" y="1992961"/>
            <a:ext cx="4943475"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905000" y="1773916"/>
            <a:ext cx="4867275" cy="438089"/>
          </a:xfrm>
          <a:prstGeom prst="rect">
            <a:avLst/>
          </a:prstGeom>
          <a:noFill/>
        </p:spPr>
        <p:txBody>
          <a:bodyPr wrap="square" lIns="28575" rIns="28575" tIns="9525" bIns="9525" anchor="ctr">
            <a:spAutoFit/>
          </a:bodyPr>
          <a:lstStyle/>
          <a:p>
            <a:pPr algn="ctr"/>
            <a:r>
              <a:rPr sz="1100" b="1">
                <a:solidFill>
                  <a:srgbClr val="FFFFFF"/>
                </a:solidFill>
                <a:latin typeface="Calibri"/>
              </a:rPr>
              <a:t>Direct</a:t>
            </a:r>
          </a:p>
        </p:txBody>
      </p:sp>
      <p:sp>
        <p:nvSpPr>
          <p:cNvPr id="19" name="Rectangle 18"/>
          <p:cNvSpPr/>
          <p:nvPr/>
        </p:nvSpPr>
        <p:spPr>
          <a:xfrm>
            <a:off x="1866900" y="22302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0" name="Rectangle 19"/>
          <p:cNvSpPr/>
          <p:nvPr/>
        </p:nvSpPr>
        <p:spPr>
          <a:xfrm>
            <a:off x="1866900" y="2723109"/>
            <a:ext cx="494347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1" name="Rectangle 20"/>
          <p:cNvSpPr/>
          <p:nvPr/>
        </p:nvSpPr>
        <p:spPr>
          <a:xfrm>
            <a:off x="1866900" y="32159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2" name="Oval 21"/>
          <p:cNvSpPr/>
          <p:nvPr/>
        </p:nvSpPr>
        <p:spPr>
          <a:xfrm>
            <a:off x="4176712"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23" name="Rounded Rectangle 22"/>
          <p:cNvSpPr/>
          <p:nvPr/>
        </p:nvSpPr>
        <p:spPr>
          <a:xfrm>
            <a:off x="6924675" y="1773916"/>
            <a:ext cx="4943475"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924675" y="1992961"/>
            <a:ext cx="4943475"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962775" y="1773916"/>
            <a:ext cx="4867275" cy="438089"/>
          </a:xfrm>
          <a:prstGeom prst="rect">
            <a:avLst/>
          </a:prstGeom>
          <a:noFill/>
        </p:spPr>
        <p:txBody>
          <a:bodyPr wrap="square" lIns="28575" rIns="28575" tIns="9525" bIns="9525" anchor="ctr">
            <a:spAutoFit/>
          </a:bodyPr>
          <a:lstStyle/>
          <a:p>
            <a:pPr algn="ctr"/>
            <a:r>
              <a:rPr sz="1100" b="1">
                <a:solidFill>
                  <a:srgbClr val="FFFFFF"/>
                </a:solidFill>
                <a:latin typeface="Calibri"/>
              </a:rPr>
              <a:t>Distributors &amp; Traders</a:t>
            </a:r>
          </a:p>
        </p:txBody>
      </p:sp>
      <p:sp>
        <p:nvSpPr>
          <p:cNvPr id="26" name="Rectangle 25"/>
          <p:cNvSpPr/>
          <p:nvPr/>
        </p:nvSpPr>
        <p:spPr>
          <a:xfrm>
            <a:off x="6924675" y="22302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27" name="Rectangle 26"/>
          <p:cNvSpPr/>
          <p:nvPr/>
        </p:nvSpPr>
        <p:spPr>
          <a:xfrm>
            <a:off x="6924675" y="2723109"/>
            <a:ext cx="494347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28" name="Rectangle 27"/>
          <p:cNvSpPr/>
          <p:nvPr/>
        </p:nvSpPr>
        <p:spPr>
          <a:xfrm>
            <a:off x="6924675" y="32159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29" name="Oval 28"/>
          <p:cNvSpPr/>
          <p:nvPr/>
        </p:nvSpPr>
        <p:spPr>
          <a:xfrm>
            <a:off x="9234488"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30" name="Rounded Rectangle 29"/>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B2E4A"/>
                </a:solidFill>
                <a:latin typeface="Calibri"/>
              </a:rPr>
              <a:t>Key Highlights</a:t>
            </a:r>
          </a:p>
        </p:txBody>
      </p:sp>
      <p:sp>
        <p:nvSpPr>
          <p:cNvPr id="32" name="Rectangle 31"/>
          <p:cNvSpPr/>
          <p:nvPr/>
        </p:nvSpPr>
        <p:spPr>
          <a:xfrm>
            <a:off x="457200" y="4146897"/>
            <a:ext cx="2971800" cy="18254"/>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57200" y="4219912"/>
            <a:ext cx="29718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2E2E2E"/>
                </a:solidFill>
                <a:latin typeface="Calibri"/>
              </a:rPr>
              <a:t/>
            </a:r>
          </a:p>
          <a:p>
            <a:pPr algn="l">
              <a:lnSpc>
                <a:spcPct val="110000"/>
              </a:lnSpc>
              <a:spcBef>
                <a:spcPts val="0"/>
              </a:spcBef>
              <a:spcAft>
                <a:spcPts val="500"/>
              </a:spcAft>
            </a:pPr>
            <a:r>
              <a:rPr sz="1100" b="0">
                <a:solidFill>
                  <a:srgbClr val="2E2E2E"/>
                </a:solidFill>
                <a:latin typeface="Calibri"/>
              </a:rPr>
              <a:t/>
            </a:r>
          </a:p>
        </p:txBody>
      </p:sp>
      <p:sp>
        <p:nvSpPr>
          <p:cNvPr id="34" name="Rounded Rectangle 33"/>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B2E4A"/>
                </a:solidFill>
                <a:latin typeface="Calibri"/>
              </a:rPr>
              <a:t>Sub-Segment Insights</a:t>
            </a:r>
          </a:p>
        </p:txBody>
      </p:sp>
      <p:sp>
        <p:nvSpPr>
          <p:cNvPr id="36" name="Rectangle 35"/>
          <p:cNvSpPr/>
          <p:nvPr/>
        </p:nvSpPr>
        <p:spPr>
          <a:xfrm>
            <a:off x="3810000" y="4146897"/>
            <a:ext cx="4210050" cy="18254"/>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B2E4A"/>
                </a:solidFill>
                <a:latin typeface="Calibri"/>
              </a:rPr>
              <a:t/>
            </a:r>
            <a:r>
              <a:rPr sz="1100" b="1">
                <a:solidFill>
                  <a:srgbClr val="0B2E4A"/>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1">
                <a:solidFill>
                  <a:srgbClr val="0E72AE"/>
                </a:solidFill>
                <a:latin typeface="Calibri"/>
              </a:rPr>
              <a:t/>
            </a:r>
            <a:r>
              <a:rPr sz="1100" b="0">
                <a:solidFill>
                  <a:srgbClr val="2E2E2E"/>
                </a:solidFill>
                <a:latin typeface="Calibri"/>
              </a:rPr>
              <a:t/>
            </a:r>
          </a:p>
        </p:txBody>
      </p:sp>
      <p:sp>
        <p:nvSpPr>
          <p:cNvPr id="38" name="Rounded Rectangle 37"/>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B2E4A"/>
                </a:solidFill>
                <a:latin typeface="Calibri"/>
              </a:rPr>
              <a:t>Segment Overview</a:t>
            </a:r>
          </a:p>
        </p:txBody>
      </p:sp>
      <p:sp>
        <p:nvSpPr>
          <p:cNvPr id="40" name="Rectangle 39"/>
          <p:cNvSpPr/>
          <p:nvPr/>
        </p:nvSpPr>
        <p:spPr>
          <a:xfrm>
            <a:off x="8401050" y="4146897"/>
            <a:ext cx="3333750" cy="18254"/>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00ACAC"/>
                </a:solidFill>
                <a:latin typeface="Calibri"/>
              </a:rPr>
              <a:t>✓  </a:t>
            </a:r>
            <a:r>
              <a:rPr sz="1100" b="0">
                <a:solidFill>
                  <a:srgbClr val="2E2E2E"/>
                </a:solidFill>
                <a:latin typeface="Calibri"/>
              </a:rPr>
              <a:t>The Sales Channel split shows how demand is distributed across sales channel types and where growth concentrates.</a:t>
            </a:r>
          </a:p>
          <a:p>
            <a:pPr algn="l">
              <a:lnSpc>
                <a:spcPct val="110000"/>
              </a:lnSpc>
              <a:spcBef>
                <a:spcPts val="0"/>
              </a:spcBef>
              <a:spcAft>
                <a:spcPts val="500"/>
              </a:spcAft>
            </a:pPr>
            <a:r>
              <a:rPr sz="1100" b="1">
                <a:solidFill>
                  <a:srgbClr val="00ACAC"/>
                </a:solidFill>
                <a:latin typeface="Calibri"/>
              </a:rPr>
              <a:t>✓  </a:t>
            </a:r>
            <a:r>
              <a:rPr sz="1100" b="0">
                <a:solidFill>
                  <a:srgbClr val="2E2E2E"/>
                </a:solidFill>
                <a:latin typeface="Calibri"/>
              </a:rPr>
              <a:t>Shifting preferences and product innovation are reshaping the mix through 2036.</a:t>
            </a:r>
          </a:p>
        </p:txBody>
      </p:sp>
      <p:sp>
        <p:nvSpPr>
          <p:cNvPr id="42" name="Rectangle 41"/>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B2E4A"/>
                </a:solidFill>
                <a:latin typeface="Calibri"/>
              </a:rPr>
              <a:t/>
            </a:r>
          </a:p>
        </p:txBody>
      </p:sp>
      <p:sp>
        <p:nvSpPr>
          <p:cNvPr id="44" name="TextBox 43"/>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TMR Analysis, 2026</a:t>
            </a:r>
          </a:p>
        </p:txBody>
      </p:sp>
      <p:sp>
        <p:nvSpPr>
          <p:cNvPr id="45" name="Rectangle 44"/>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47" name="Picture 46" descr="2_097_605E5C.png"/>
          <p:cNvPicPr>
            <a:picLocks noChangeAspect="1"/>
          </p:cNvPicPr>
          <p:nvPr/>
        </p:nvPicPr>
        <p:blipFill>
          <a:blip r:embed="rId4"/>
          <a:stretch>
            <a:fillRect/>
          </a:stretch>
        </p:blipFill>
        <p:spPr>
          <a:xfrm>
            <a:off x="3740773" y="2286582"/>
            <a:ext cx="1195728" cy="361950"/>
          </a:xfrm>
          <a:prstGeom prst="rect">
            <a:avLst/>
          </a:prstGeom>
        </p:spPr>
      </p:pic>
      <p:pic>
        <p:nvPicPr>
          <p:cNvPr id="48" name="Picture 47" descr="3_130_605E5C.png"/>
          <p:cNvPicPr>
            <a:picLocks noChangeAspect="1"/>
          </p:cNvPicPr>
          <p:nvPr/>
        </p:nvPicPr>
        <p:blipFill>
          <a:blip r:embed="rId5"/>
          <a:stretch>
            <a:fillRect/>
          </a:stretch>
        </p:blipFill>
        <p:spPr>
          <a:xfrm>
            <a:off x="3740773" y="2779432"/>
            <a:ext cx="1195728" cy="361950"/>
          </a:xfrm>
          <a:prstGeom prst="rect">
            <a:avLst/>
          </a:prstGeom>
        </p:spPr>
      </p:pic>
      <p:pic>
        <p:nvPicPr>
          <p:cNvPr id="49" name="Picture 48" descr="4_1__605E5C.png"/>
          <p:cNvPicPr>
            <a:picLocks noChangeAspect="1"/>
          </p:cNvPicPr>
          <p:nvPr/>
        </p:nvPicPr>
        <p:blipFill>
          <a:blip r:embed="rId6"/>
          <a:stretch>
            <a:fillRect/>
          </a:stretch>
        </p:blipFill>
        <p:spPr>
          <a:xfrm>
            <a:off x="3847419" y="3272281"/>
            <a:ext cx="982436" cy="361950"/>
          </a:xfrm>
          <a:prstGeom prst="rect">
            <a:avLst/>
          </a:prstGeom>
        </p:spPr>
      </p:pic>
      <p:pic>
        <p:nvPicPr>
          <p:cNvPr id="50" name="Picture 49" descr="1_508_605E5C.png"/>
          <p:cNvPicPr>
            <a:picLocks noChangeAspect="1"/>
          </p:cNvPicPr>
          <p:nvPr/>
        </p:nvPicPr>
        <p:blipFill>
          <a:blip r:embed="rId7"/>
          <a:stretch>
            <a:fillRect/>
          </a:stretch>
        </p:blipFill>
        <p:spPr>
          <a:xfrm>
            <a:off x="8798548" y="2286582"/>
            <a:ext cx="1195728" cy="361950"/>
          </a:xfrm>
          <a:prstGeom prst="rect">
            <a:avLst/>
          </a:prstGeom>
        </p:spPr>
      </p:pic>
      <p:pic>
        <p:nvPicPr>
          <p:cNvPr id="51" name="Picture 50" descr="2_235_605E5C.png"/>
          <p:cNvPicPr>
            <a:picLocks noChangeAspect="1"/>
          </p:cNvPicPr>
          <p:nvPr/>
        </p:nvPicPr>
        <p:blipFill>
          <a:blip r:embed="rId8"/>
          <a:stretch>
            <a:fillRect/>
          </a:stretch>
        </p:blipFill>
        <p:spPr>
          <a:xfrm>
            <a:off x="8798548" y="2779432"/>
            <a:ext cx="1195728" cy="361950"/>
          </a:xfrm>
          <a:prstGeom prst="rect">
            <a:avLst/>
          </a:prstGeom>
        </p:spPr>
      </p:pic>
      <p:pic>
        <p:nvPicPr>
          <p:cNvPr id="52" name="Picture 51" descr="4_0__605E5C.png"/>
          <p:cNvPicPr>
            <a:picLocks noChangeAspect="1"/>
          </p:cNvPicPr>
          <p:nvPr/>
        </p:nvPicPr>
        <p:blipFill>
          <a:blip r:embed="rId9"/>
          <a:stretch>
            <a:fillRect/>
          </a:stretch>
        </p:blipFill>
        <p:spPr>
          <a:xfrm>
            <a:off x="8905194" y="3272281"/>
            <a:ext cx="982436" cy="361950"/>
          </a:xfrm>
          <a:prstGeom prst="rect">
            <a:avLst/>
          </a:prstGeom>
        </p:spPr>
      </p:pic>
      <p:pic>
        <p:nvPicPr>
          <p:cNvPr id="53" name="Picture 52" descr="lock.png"/>
          <p:cNvPicPr>
            <a:picLocks noChangeAspect="1"/>
          </p:cNvPicPr>
          <p:nvPr/>
        </p:nvPicPr>
        <p:blipFill>
          <a:blip r:embed="rId10"/>
          <a:stretch>
            <a:fillRect/>
          </a:stretch>
        </p:blipFill>
        <p:spPr>
          <a:xfrm>
            <a:off x="4230493" y="2805915"/>
            <a:ext cx="212425" cy="308982"/>
          </a:xfrm>
          <a:prstGeom prst="rect">
            <a:avLst/>
          </a:prstGeom>
        </p:spPr>
      </p:pic>
      <p:pic>
        <p:nvPicPr>
          <p:cNvPr id="54" name="Picture 53" descr="lock.png"/>
          <p:cNvPicPr>
            <a:picLocks noChangeAspect="1"/>
          </p:cNvPicPr>
          <p:nvPr/>
        </p:nvPicPr>
        <p:blipFill>
          <a:blip r:embed="rId10"/>
          <a:stretch>
            <a:fillRect/>
          </a:stretch>
        </p:blipFill>
        <p:spPr>
          <a:xfrm>
            <a:off x="9288268" y="2805915"/>
            <a:ext cx="212425" cy="308982"/>
          </a:xfrm>
          <a:prstGeom prst="rect">
            <a:avLst/>
          </a:prstGeom>
        </p:spPr>
      </p:pic>
      <p:sp>
        <p:nvSpPr>
          <p:cNvPr id="55" name="TextBox 54"/>
          <p:cNvSpPr txBox="1"/>
          <p:nvPr/>
        </p:nvSpPr>
        <p:spPr>
          <a:xfrm>
            <a:off x="485775" y="4229437"/>
            <a:ext cx="2812628" cy="186689"/>
          </a:xfrm>
          <a:prstGeom prst="rect">
            <a:avLst/>
          </a:prstGeom>
          <a:noFill/>
        </p:spPr>
        <p:txBody>
          <a:bodyPr wrap="none" lIns="0" rIns="0" tIns="0" bIns="0">
            <a:spAutoFit/>
          </a:bodyPr>
          <a:lstStyle/>
          <a:p>
            <a:r>
              <a:rPr sz="1100" b="0">
                <a:solidFill>
                  <a:srgbClr val="2E2E2E"/>
                </a:solidFill>
                <a:latin typeface="Calibri"/>
              </a:rPr>
              <a:t>Among egg protein membrane by sales channel,</a:t>
            </a:r>
          </a:p>
        </p:txBody>
      </p:sp>
      <p:sp>
        <p:nvSpPr>
          <p:cNvPr id="56" name="TextBox 55"/>
          <p:cNvSpPr txBox="1"/>
          <p:nvPr/>
        </p:nvSpPr>
        <p:spPr>
          <a:xfrm>
            <a:off x="485775" y="4397077"/>
            <a:ext cx="2885752" cy="186689"/>
          </a:xfrm>
          <a:prstGeom prst="rect">
            <a:avLst/>
          </a:prstGeom>
          <a:noFill/>
        </p:spPr>
        <p:txBody>
          <a:bodyPr wrap="none" lIns="0" rIns="0" tIns="0" bIns="0">
            <a:spAutoFit/>
          </a:bodyPr>
          <a:lstStyle/>
          <a:p>
            <a:r>
              <a:rPr sz="1100" b="0">
                <a:solidFill>
                  <a:srgbClr val="2E2E2E"/>
                </a:solidFill>
                <a:latin typeface="Calibri"/>
              </a:rPr>
              <a:t>direct segment is expected to witness the highest</a:t>
            </a:r>
          </a:p>
        </p:txBody>
      </p:sp>
      <p:sp>
        <p:nvSpPr>
          <p:cNvPr id="57" name="TextBox 56"/>
          <p:cNvSpPr txBox="1"/>
          <p:nvPr/>
        </p:nvSpPr>
        <p:spPr>
          <a:xfrm>
            <a:off x="485775" y="4564717"/>
            <a:ext cx="543304" cy="186689"/>
          </a:xfrm>
          <a:prstGeom prst="rect">
            <a:avLst/>
          </a:prstGeom>
          <a:noFill/>
        </p:spPr>
        <p:txBody>
          <a:bodyPr wrap="none" lIns="0" rIns="0" tIns="0" bIns="0">
            <a:spAutoFit/>
          </a:bodyPr>
          <a:lstStyle/>
          <a:p>
            <a:r>
              <a:rPr sz="1100" b="0">
                <a:solidFill>
                  <a:srgbClr val="2E2E2E"/>
                </a:solidFill>
                <a:latin typeface="Calibri"/>
              </a:rPr>
              <a:t>CAGR of</a:t>
            </a:r>
          </a:p>
        </p:txBody>
      </p:sp>
      <p:pic>
        <p:nvPicPr>
          <p:cNvPr id="58" name="Picture 57" descr="lock.png"/>
          <p:cNvPicPr>
            <a:picLocks noChangeAspect="1"/>
          </p:cNvPicPr>
          <p:nvPr/>
        </p:nvPicPr>
        <p:blipFill>
          <a:blip r:embed="rId10"/>
          <a:stretch>
            <a:fillRect/>
          </a:stretch>
        </p:blipFill>
        <p:spPr>
          <a:xfrm>
            <a:off x="977131" y="4554938"/>
            <a:ext cx="128699" cy="187198"/>
          </a:xfrm>
          <a:prstGeom prst="rect">
            <a:avLst/>
          </a:prstGeom>
        </p:spPr>
      </p:pic>
      <p:sp>
        <p:nvSpPr>
          <p:cNvPr id="59" name="TextBox 58"/>
          <p:cNvSpPr txBox="1"/>
          <p:nvPr/>
        </p:nvSpPr>
        <p:spPr>
          <a:xfrm>
            <a:off x="1144627" y="4564717"/>
            <a:ext cx="2135956" cy="186689"/>
          </a:xfrm>
          <a:prstGeom prst="rect">
            <a:avLst/>
          </a:prstGeom>
          <a:noFill/>
        </p:spPr>
        <p:txBody>
          <a:bodyPr wrap="none" lIns="0" rIns="0" tIns="0" bIns="0">
            <a:spAutoFit/>
          </a:bodyPr>
          <a:lstStyle/>
          <a:p>
            <a:r>
              <a:rPr sz="1100" b="0">
                <a:solidFill>
                  <a:srgbClr val="2E2E2E"/>
                </a:solidFill>
                <a:latin typeface="Calibri"/>
              </a:rPr>
              <a:t>over the forecast period. In terms of</a:t>
            </a:r>
          </a:p>
        </p:txBody>
      </p:sp>
      <p:sp>
        <p:nvSpPr>
          <p:cNvPr id="60" name="TextBox 59"/>
          <p:cNvSpPr txBox="1"/>
          <p:nvPr/>
        </p:nvSpPr>
        <p:spPr>
          <a:xfrm>
            <a:off x="485775" y="4732357"/>
            <a:ext cx="2914650" cy="186689"/>
          </a:xfrm>
          <a:prstGeom prst="rect">
            <a:avLst/>
          </a:prstGeom>
          <a:noFill/>
        </p:spPr>
        <p:txBody>
          <a:bodyPr wrap="none" lIns="0" rIns="0" tIns="0" bIns="0">
            <a:spAutoFit/>
          </a:bodyPr>
          <a:lstStyle/>
          <a:p>
            <a:r>
              <a:rPr sz="1100" b="0">
                <a:solidFill>
                  <a:srgbClr val="2E2E2E"/>
                </a:solidFill>
                <a:latin typeface="Calibri"/>
              </a:rPr>
              <a:t>value share by sales channel, the direct segment is</a:t>
            </a:r>
          </a:p>
        </p:txBody>
      </p:sp>
      <p:sp>
        <p:nvSpPr>
          <p:cNvPr id="61" name="TextBox 60"/>
          <p:cNvSpPr txBox="1"/>
          <p:nvPr/>
        </p:nvSpPr>
        <p:spPr>
          <a:xfrm>
            <a:off x="485775" y="4899997"/>
            <a:ext cx="2466652" cy="186689"/>
          </a:xfrm>
          <a:prstGeom prst="rect">
            <a:avLst/>
          </a:prstGeom>
          <a:noFill/>
        </p:spPr>
        <p:txBody>
          <a:bodyPr wrap="none" lIns="0" rIns="0" tIns="0" bIns="0">
            <a:spAutoFit/>
          </a:bodyPr>
          <a:lstStyle/>
          <a:p>
            <a:r>
              <a:rPr sz="1100" b="0">
                <a:solidFill>
                  <a:srgbClr val="2E2E2E"/>
                </a:solidFill>
                <a:latin typeface="Calibri"/>
              </a:rPr>
              <a:t>expected to dominate the market, gaining</a:t>
            </a:r>
          </a:p>
        </p:txBody>
      </p:sp>
      <p:pic>
        <p:nvPicPr>
          <p:cNvPr id="62" name="Picture 61" descr="lock.png"/>
          <p:cNvPicPr>
            <a:picLocks noChangeAspect="1"/>
          </p:cNvPicPr>
          <p:nvPr/>
        </p:nvPicPr>
        <p:blipFill>
          <a:blip r:embed="rId10"/>
          <a:stretch>
            <a:fillRect/>
          </a:stretch>
        </p:blipFill>
        <p:spPr>
          <a:xfrm>
            <a:off x="2900479" y="4890217"/>
            <a:ext cx="128699" cy="187198"/>
          </a:xfrm>
          <a:prstGeom prst="rect">
            <a:avLst/>
          </a:prstGeom>
        </p:spPr>
      </p:pic>
      <p:sp>
        <p:nvSpPr>
          <p:cNvPr id="63" name="TextBox 62"/>
          <p:cNvSpPr txBox="1"/>
          <p:nvPr/>
        </p:nvSpPr>
        <p:spPr>
          <a:xfrm>
            <a:off x="3067974" y="4899997"/>
            <a:ext cx="288751" cy="186689"/>
          </a:xfrm>
          <a:prstGeom prst="rect">
            <a:avLst/>
          </a:prstGeom>
          <a:noFill/>
        </p:spPr>
        <p:txBody>
          <a:bodyPr wrap="none" lIns="0" rIns="0" tIns="0" bIns="0">
            <a:spAutoFit/>
          </a:bodyPr>
          <a:lstStyle/>
          <a:p>
            <a:r>
              <a:rPr sz="1100" b="0">
                <a:solidFill>
                  <a:srgbClr val="2E2E2E"/>
                </a:solidFill>
                <a:latin typeface="Calibri"/>
              </a:rPr>
              <a:t>BPS</a:t>
            </a:r>
          </a:p>
        </p:txBody>
      </p:sp>
      <p:sp>
        <p:nvSpPr>
          <p:cNvPr id="64" name="TextBox 63"/>
          <p:cNvSpPr txBox="1"/>
          <p:nvPr/>
        </p:nvSpPr>
        <p:spPr>
          <a:xfrm>
            <a:off x="485775" y="5067637"/>
            <a:ext cx="1142231" cy="186689"/>
          </a:xfrm>
          <a:prstGeom prst="rect">
            <a:avLst/>
          </a:prstGeom>
          <a:noFill/>
        </p:spPr>
        <p:txBody>
          <a:bodyPr wrap="none" lIns="0" rIns="0" tIns="0" bIns="0">
            <a:spAutoFit/>
          </a:bodyPr>
          <a:lstStyle/>
          <a:p>
            <a:r>
              <a:rPr sz="1100" b="0">
                <a:solidFill>
                  <a:srgbClr val="2E2E2E"/>
                </a:solidFill>
                <a:latin typeface="Calibri"/>
              </a:rPr>
              <a:t>and accounting for</a:t>
            </a:r>
          </a:p>
        </p:txBody>
      </p:sp>
      <p:pic>
        <p:nvPicPr>
          <p:cNvPr id="65" name="Picture 64" descr="lock.png"/>
          <p:cNvPicPr>
            <a:picLocks noChangeAspect="1"/>
          </p:cNvPicPr>
          <p:nvPr/>
        </p:nvPicPr>
        <p:blipFill>
          <a:blip r:embed="rId10"/>
          <a:stretch>
            <a:fillRect/>
          </a:stretch>
        </p:blipFill>
        <p:spPr>
          <a:xfrm>
            <a:off x="1576057" y="5057858"/>
            <a:ext cx="128699" cy="187198"/>
          </a:xfrm>
          <a:prstGeom prst="rect">
            <a:avLst/>
          </a:prstGeom>
        </p:spPr>
      </p:pic>
      <p:sp>
        <p:nvSpPr>
          <p:cNvPr id="66" name="TextBox 65"/>
          <p:cNvSpPr txBox="1"/>
          <p:nvPr/>
        </p:nvSpPr>
        <p:spPr>
          <a:xfrm>
            <a:off x="1743553" y="5067637"/>
            <a:ext cx="908397" cy="186689"/>
          </a:xfrm>
          <a:prstGeom prst="rect">
            <a:avLst/>
          </a:prstGeom>
          <a:noFill/>
        </p:spPr>
        <p:txBody>
          <a:bodyPr wrap="none" lIns="0" rIns="0" tIns="0" bIns="0">
            <a:spAutoFit/>
          </a:bodyPr>
          <a:lstStyle/>
          <a:p>
            <a:r>
              <a:rPr sz="1100" b="0">
                <a:solidFill>
                  <a:srgbClr val="2E2E2E"/>
                </a:solidFill>
                <a:latin typeface="Calibri"/>
              </a:rPr>
              <a:t>share by 2036.</a:t>
            </a:r>
          </a:p>
        </p:txBody>
      </p:sp>
      <p:sp>
        <p:nvSpPr>
          <p:cNvPr id="67" name="TextBox 66"/>
          <p:cNvSpPr txBox="1"/>
          <p:nvPr/>
        </p:nvSpPr>
        <p:spPr>
          <a:xfrm>
            <a:off x="485775" y="5285569"/>
            <a:ext cx="2260376" cy="186689"/>
          </a:xfrm>
          <a:prstGeom prst="rect">
            <a:avLst/>
          </a:prstGeom>
          <a:noFill/>
        </p:spPr>
        <p:txBody>
          <a:bodyPr wrap="none" lIns="0" rIns="0" tIns="0" bIns="0">
            <a:spAutoFit/>
          </a:bodyPr>
          <a:lstStyle/>
          <a:p>
            <a:r>
              <a:rPr sz="1100" b="0">
                <a:solidFill>
                  <a:srgbClr val="2E2E2E"/>
                </a:solidFill>
                <a:latin typeface="Calibri"/>
              </a:rPr>
              <a:t>Direct segment is projected to register</a:t>
            </a:r>
          </a:p>
        </p:txBody>
      </p:sp>
      <p:pic>
        <p:nvPicPr>
          <p:cNvPr id="68" name="Picture 67" descr="lock.png"/>
          <p:cNvPicPr>
            <a:picLocks noChangeAspect="1"/>
          </p:cNvPicPr>
          <p:nvPr/>
        </p:nvPicPr>
        <p:blipFill>
          <a:blip r:embed="rId10"/>
          <a:stretch>
            <a:fillRect/>
          </a:stretch>
        </p:blipFill>
        <p:spPr>
          <a:xfrm>
            <a:off x="2694203" y="5275790"/>
            <a:ext cx="128699" cy="187198"/>
          </a:xfrm>
          <a:prstGeom prst="rect">
            <a:avLst/>
          </a:prstGeom>
        </p:spPr>
      </p:pic>
      <p:sp>
        <p:nvSpPr>
          <p:cNvPr id="69" name="TextBox 68"/>
          <p:cNvSpPr txBox="1"/>
          <p:nvPr/>
        </p:nvSpPr>
        <p:spPr>
          <a:xfrm>
            <a:off x="2861699" y="5285569"/>
            <a:ext cx="148778" cy="186689"/>
          </a:xfrm>
          <a:prstGeom prst="rect">
            <a:avLst/>
          </a:prstGeom>
          <a:noFill/>
        </p:spPr>
        <p:txBody>
          <a:bodyPr wrap="none" lIns="0" rIns="0" tIns="0" bIns="0">
            <a:spAutoFit/>
          </a:bodyPr>
          <a:lstStyle/>
          <a:p>
            <a:r>
              <a:rPr sz="1100" b="0">
                <a:solidFill>
                  <a:srgbClr val="2E2E2E"/>
                </a:solidFill>
                <a:latin typeface="Calibri"/>
              </a:rPr>
              <a:t>X</a:t>
            </a:r>
          </a:p>
        </p:txBody>
      </p:sp>
      <p:sp>
        <p:nvSpPr>
          <p:cNvPr id="70" name="TextBox 69"/>
          <p:cNvSpPr txBox="1"/>
          <p:nvPr/>
        </p:nvSpPr>
        <p:spPr>
          <a:xfrm>
            <a:off x="485775" y="5453209"/>
            <a:ext cx="2914650" cy="186689"/>
          </a:xfrm>
          <a:prstGeom prst="rect">
            <a:avLst/>
          </a:prstGeom>
          <a:noFill/>
        </p:spPr>
        <p:txBody>
          <a:bodyPr wrap="none" lIns="0" rIns="0" tIns="0" bIns="0">
            <a:spAutoFit/>
          </a:bodyPr>
          <a:lstStyle/>
          <a:p>
            <a:r>
              <a:rPr sz="1100" b="0">
                <a:solidFill>
                  <a:srgbClr val="2E2E2E"/>
                </a:solidFill>
                <a:latin typeface="Calibri"/>
              </a:rPr>
              <a:t>higher value than distributors &amp; traders segment in</a:t>
            </a:r>
          </a:p>
        </p:txBody>
      </p:sp>
      <p:sp>
        <p:nvSpPr>
          <p:cNvPr id="71" name="TextBox 70"/>
          <p:cNvSpPr txBox="1"/>
          <p:nvPr/>
        </p:nvSpPr>
        <p:spPr>
          <a:xfrm>
            <a:off x="485775" y="5620849"/>
            <a:ext cx="395163" cy="186689"/>
          </a:xfrm>
          <a:prstGeom prst="rect">
            <a:avLst/>
          </a:prstGeom>
          <a:noFill/>
        </p:spPr>
        <p:txBody>
          <a:bodyPr wrap="none" lIns="0" rIns="0" tIns="0" bIns="0">
            <a:spAutoFit/>
          </a:bodyPr>
          <a:lstStyle/>
          <a:p>
            <a:r>
              <a:rPr sz="1100" b="0">
                <a:solidFill>
                  <a:srgbClr val="2E2E2E"/>
                </a:solidFill>
                <a:latin typeface="Calibri"/>
              </a:rPr>
              <a:t>2036.</a:t>
            </a:r>
          </a:p>
        </p:txBody>
      </p:sp>
      <p:sp>
        <p:nvSpPr>
          <p:cNvPr id="72" name="TextBox 71"/>
          <p:cNvSpPr txBox="1"/>
          <p:nvPr/>
        </p:nvSpPr>
        <p:spPr>
          <a:xfrm>
            <a:off x="3838575" y="4229437"/>
            <a:ext cx="572244" cy="186689"/>
          </a:xfrm>
          <a:prstGeom prst="rect">
            <a:avLst/>
          </a:prstGeom>
          <a:noFill/>
        </p:spPr>
        <p:txBody>
          <a:bodyPr wrap="none" lIns="0" rIns="0" tIns="0" bIns="0">
            <a:spAutoFit/>
          </a:bodyPr>
          <a:lstStyle/>
          <a:p>
            <a:r>
              <a:rPr sz="1100" b="0">
                <a:solidFill>
                  <a:srgbClr val="2E2E2E"/>
                </a:solidFill>
                <a:latin typeface="Calibri"/>
              </a:rPr>
              <a:t>● Direct:</a:t>
            </a:r>
          </a:p>
        </p:txBody>
      </p:sp>
      <p:pic>
        <p:nvPicPr>
          <p:cNvPr id="73" name="Picture 72" descr="lock.png"/>
          <p:cNvPicPr>
            <a:picLocks noChangeAspect="1"/>
          </p:cNvPicPr>
          <p:nvPr/>
        </p:nvPicPr>
        <p:blipFill>
          <a:blip r:embed="rId10"/>
          <a:stretch>
            <a:fillRect/>
          </a:stretch>
        </p:blipFill>
        <p:spPr>
          <a:xfrm>
            <a:off x="4358870" y="4219658"/>
            <a:ext cx="128699" cy="187198"/>
          </a:xfrm>
          <a:prstGeom prst="rect">
            <a:avLst/>
          </a:prstGeom>
        </p:spPr>
      </p:pic>
      <p:sp>
        <p:nvSpPr>
          <p:cNvPr id="74" name="TextBox 73"/>
          <p:cNvSpPr txBox="1"/>
          <p:nvPr/>
        </p:nvSpPr>
        <p:spPr>
          <a:xfrm>
            <a:off x="4526366" y="422943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75" name="Picture 74" descr="lock.png"/>
          <p:cNvPicPr>
            <a:picLocks noChangeAspect="1"/>
          </p:cNvPicPr>
          <p:nvPr/>
        </p:nvPicPr>
        <p:blipFill>
          <a:blip r:embed="rId10"/>
          <a:stretch>
            <a:fillRect/>
          </a:stretch>
        </p:blipFill>
        <p:spPr>
          <a:xfrm>
            <a:off x="5385816" y="4219658"/>
            <a:ext cx="128699" cy="187198"/>
          </a:xfrm>
          <a:prstGeom prst="rect">
            <a:avLst/>
          </a:prstGeom>
        </p:spPr>
      </p:pic>
      <p:sp>
        <p:nvSpPr>
          <p:cNvPr id="76" name="TextBox 75"/>
          <p:cNvSpPr txBox="1"/>
          <p:nvPr/>
        </p:nvSpPr>
        <p:spPr>
          <a:xfrm>
            <a:off x="5553312" y="4229437"/>
            <a:ext cx="1503469" cy="186689"/>
          </a:xfrm>
          <a:prstGeom prst="rect">
            <a:avLst/>
          </a:prstGeom>
          <a:noFill/>
        </p:spPr>
        <p:txBody>
          <a:bodyPr wrap="none" lIns="0" rIns="0" tIns="0" bIns="0">
            <a:spAutoFit/>
          </a:bodyPr>
          <a:lstStyle/>
          <a:p>
            <a:r>
              <a:rPr sz="1100" b="0">
                <a:solidFill>
                  <a:srgbClr val="2E2E2E"/>
                </a:solidFill>
                <a:latin typeface="Calibri"/>
              </a:rPr>
              <a:t>CAGR leads the segment.</a:t>
            </a:r>
          </a:p>
        </p:txBody>
      </p:sp>
      <p:sp>
        <p:nvSpPr>
          <p:cNvPr id="77" name="TextBox 76"/>
          <p:cNvSpPr txBox="1"/>
          <p:nvPr/>
        </p:nvSpPr>
        <p:spPr>
          <a:xfrm>
            <a:off x="3838575" y="4447369"/>
            <a:ext cx="1489843" cy="186689"/>
          </a:xfrm>
          <a:prstGeom prst="rect">
            <a:avLst/>
          </a:prstGeom>
          <a:noFill/>
        </p:spPr>
        <p:txBody>
          <a:bodyPr wrap="none" lIns="0" rIns="0" tIns="0" bIns="0">
            <a:spAutoFit/>
          </a:bodyPr>
          <a:lstStyle/>
          <a:p>
            <a:r>
              <a:rPr sz="1100" b="0">
                <a:solidFill>
                  <a:srgbClr val="2E2E2E"/>
                </a:solidFill>
                <a:latin typeface="Calibri"/>
              </a:rPr>
              <a:t>● Distributors &amp; Traders:</a:t>
            </a:r>
          </a:p>
        </p:txBody>
      </p:sp>
      <p:pic>
        <p:nvPicPr>
          <p:cNvPr id="78" name="Picture 77" descr="lock.png"/>
          <p:cNvPicPr>
            <a:picLocks noChangeAspect="1"/>
          </p:cNvPicPr>
          <p:nvPr/>
        </p:nvPicPr>
        <p:blipFill>
          <a:blip r:embed="rId10"/>
          <a:stretch>
            <a:fillRect/>
          </a:stretch>
        </p:blipFill>
        <p:spPr>
          <a:xfrm>
            <a:off x="5276470" y="4437590"/>
            <a:ext cx="128699" cy="187198"/>
          </a:xfrm>
          <a:prstGeom prst="rect">
            <a:avLst/>
          </a:prstGeom>
        </p:spPr>
      </p:pic>
      <p:sp>
        <p:nvSpPr>
          <p:cNvPr id="79" name="TextBox 78"/>
          <p:cNvSpPr txBox="1"/>
          <p:nvPr/>
        </p:nvSpPr>
        <p:spPr>
          <a:xfrm>
            <a:off x="5443966" y="4447369"/>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80" name="Picture 79" descr="lock.png"/>
          <p:cNvPicPr>
            <a:picLocks noChangeAspect="1"/>
          </p:cNvPicPr>
          <p:nvPr/>
        </p:nvPicPr>
        <p:blipFill>
          <a:blip r:embed="rId10"/>
          <a:stretch>
            <a:fillRect/>
          </a:stretch>
        </p:blipFill>
        <p:spPr>
          <a:xfrm>
            <a:off x="6303416" y="4437590"/>
            <a:ext cx="128699" cy="187198"/>
          </a:xfrm>
          <a:prstGeom prst="rect">
            <a:avLst/>
          </a:prstGeom>
        </p:spPr>
      </p:pic>
      <p:sp>
        <p:nvSpPr>
          <p:cNvPr id="81" name="TextBox 80"/>
          <p:cNvSpPr txBox="1"/>
          <p:nvPr/>
        </p:nvSpPr>
        <p:spPr>
          <a:xfrm>
            <a:off x="6470912" y="4447369"/>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82" name="TextBox 81"/>
          <p:cNvSpPr txBox="1"/>
          <p:nvPr/>
        </p:nvSpPr>
        <p:spPr>
          <a:xfrm>
            <a:off x="8524875" y="5842641"/>
            <a:ext cx="3162300" cy="194310"/>
          </a:xfrm>
          <a:prstGeom prst="rect">
            <a:avLst/>
          </a:prstGeom>
          <a:noFill/>
        </p:spPr>
        <p:txBody>
          <a:bodyPr wrap="none" lIns="0" rIns="0" tIns="0" bIns="0">
            <a:spAutoFit/>
          </a:bodyPr>
          <a:lstStyle/>
          <a:p>
            <a:r>
              <a:rPr sz="1150" b="1">
                <a:solidFill>
                  <a:srgbClr val="0B2E4A"/>
                </a:solidFill>
                <a:latin typeface="Calibri"/>
              </a:rPr>
              <a:t>The Sales Channel segment is projected to grow at a</a:t>
            </a:r>
          </a:p>
        </p:txBody>
      </p:sp>
      <p:sp>
        <p:nvSpPr>
          <p:cNvPr id="83" name="TextBox 82"/>
          <p:cNvSpPr txBox="1"/>
          <p:nvPr/>
        </p:nvSpPr>
        <p:spPr>
          <a:xfrm>
            <a:off x="8524875" y="6017901"/>
            <a:ext cx="574797" cy="194310"/>
          </a:xfrm>
          <a:prstGeom prst="rect">
            <a:avLst/>
          </a:prstGeom>
          <a:noFill/>
        </p:spPr>
        <p:txBody>
          <a:bodyPr wrap="none" lIns="0" rIns="0" tIns="0" bIns="0">
            <a:spAutoFit/>
          </a:bodyPr>
          <a:lstStyle/>
          <a:p>
            <a:r>
              <a:rPr sz="1150" b="1">
                <a:solidFill>
                  <a:srgbClr val="0B2E4A"/>
                </a:solidFill>
                <a:latin typeface="Calibri"/>
              </a:rPr>
              <a:t>CAGR of</a:t>
            </a:r>
          </a:p>
        </p:txBody>
      </p:sp>
      <p:pic>
        <p:nvPicPr>
          <p:cNvPr id="84" name="Picture 83" descr="lock.png"/>
          <p:cNvPicPr>
            <a:picLocks noChangeAspect="1"/>
          </p:cNvPicPr>
          <p:nvPr/>
        </p:nvPicPr>
        <p:blipFill>
          <a:blip r:embed="rId10"/>
          <a:stretch>
            <a:fillRect/>
          </a:stretch>
        </p:blipFill>
        <p:spPr>
          <a:xfrm>
            <a:off x="9048826" y="6007677"/>
            <a:ext cx="134549" cy="195707"/>
          </a:xfrm>
          <a:prstGeom prst="rect">
            <a:avLst/>
          </a:prstGeom>
        </p:spPr>
      </p:pic>
      <p:sp>
        <p:nvSpPr>
          <p:cNvPr id="85" name="TextBox 84"/>
          <p:cNvSpPr txBox="1"/>
          <p:nvPr/>
        </p:nvSpPr>
        <p:spPr>
          <a:xfrm>
            <a:off x="9223935" y="6017901"/>
            <a:ext cx="1232619" cy="194310"/>
          </a:xfrm>
          <a:prstGeom prst="rect">
            <a:avLst/>
          </a:prstGeom>
          <a:noFill/>
        </p:spPr>
        <p:txBody>
          <a:bodyPr wrap="none" lIns="0" rIns="0" tIns="0" bIns="0">
            <a:spAutoFit/>
          </a:bodyPr>
          <a:lstStyle/>
          <a:p>
            <a:r>
              <a:rPr sz="1150" b="1">
                <a:solidFill>
                  <a:srgbClr val="0B2E4A"/>
                </a:solidFill>
                <a:latin typeface="Calibri"/>
              </a:rPr>
              <a:t>from 2026 to 2036.</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Structure &amp; Attractiveness, By Sales Channel (Value)</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Sales Channel mix within each country and the attractiveness of each sub-segment on growth and size</a:t>
            </a:r>
          </a:p>
        </p:txBody>
      </p:sp>
      <p:sp>
        <p:nvSpPr>
          <p:cNvPr id="7" name="Rounded Rectangle 6"/>
          <p:cNvSpPr/>
          <p:nvPr/>
        </p:nvSpPr>
        <p:spPr>
          <a:xfrm>
            <a:off x="142875" y="981075"/>
            <a:ext cx="6343650" cy="4324350"/>
          </a:xfrm>
          <a:prstGeom prst="roundRect">
            <a:avLst>
              <a:gd name="adj" fmla="val 1762"/>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6153150"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Sales Channel mix within each country (share of 2036 value) · row label = country size (US$ Mn), largest first</a:t>
            </a:r>
          </a:p>
        </p:txBody>
      </p:sp>
      <p:graphicFrame>
        <p:nvGraphicFramePr>
          <p:cNvPr id="9" name="Chart 8"/>
          <p:cNvGraphicFramePr>
            <a:graphicFrameLocks noGrp="1"/>
          </p:cNvGraphicFramePr>
          <p:nvPr/>
        </p:nvGraphicFramePr>
        <p:xfrm>
          <a:off x="238125" y="1438275"/>
          <a:ext cx="6153150" cy="3810000"/>
        </p:xfrm>
        <a:graphic>
          <a:graphicData uri="http://schemas.openxmlformats.org/drawingml/2006/chart">
            <c:chart xmlns:c="http://schemas.openxmlformats.org/drawingml/2006/chart" r:id="rId3"/>
          </a:graphicData>
        </a:graphic>
      </p:graphicFrame>
      <p:sp>
        <p:nvSpPr>
          <p:cNvPr id="10" name="Rounded Rectangle 9"/>
          <p:cNvSpPr/>
          <p:nvPr/>
        </p:nvSpPr>
        <p:spPr>
          <a:xfrm>
            <a:off x="6638925" y="981075"/>
            <a:ext cx="5400675" cy="4324350"/>
          </a:xfrm>
          <a:prstGeom prst="roundRect">
            <a:avLst>
              <a:gd name="adj" fmla="val 1762"/>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34175" y="1038225"/>
            <a:ext cx="521017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Attractiveness, By Sales Channel · Bubble size represents 2036 value</a:t>
            </a:r>
          </a:p>
        </p:txBody>
      </p:sp>
      <p:graphicFrame>
        <p:nvGraphicFramePr>
          <p:cNvPr id="12" name="Chart 11"/>
          <p:cNvGraphicFramePr>
            <a:graphicFrameLocks noGrp="1"/>
          </p:cNvGraphicFramePr>
          <p:nvPr/>
        </p:nvGraphicFramePr>
        <p:xfrm>
          <a:off x="6734175" y="1438275"/>
          <a:ext cx="5210175" cy="3810000"/>
        </p:xfrm>
        <a:graphic>
          <a:graphicData uri="http://schemas.openxmlformats.org/drawingml/2006/chart">
            <c:chart xmlns:c="http://schemas.openxmlformats.org/drawingml/2006/chart" r:id="rId4"/>
          </a:graphicData>
        </a:graphic>
      </p:graphicFrame>
      <p:sp>
        <p:nvSpPr>
          <p:cNvPr id="13" name="Rounded Rectangle 12"/>
          <p:cNvSpPr/>
          <p:nvPr/>
        </p:nvSpPr>
        <p:spPr>
          <a:xfrm>
            <a:off x="142875" y="5438775"/>
            <a:ext cx="11906250" cy="1181100"/>
          </a:xfrm>
          <a:prstGeom prst="roundRect">
            <a:avLst>
              <a:gd name="adj" fmla="val 6451"/>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14" name="Rectangle 13"/>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6" name="Picture 15" descr="lock.png"/>
          <p:cNvPicPr>
            <a:picLocks noChangeAspect="1"/>
          </p:cNvPicPr>
          <p:nvPr/>
        </p:nvPicPr>
        <p:blipFill>
          <a:blip r:embed="rId6"/>
          <a:stretch>
            <a:fillRect/>
          </a:stretch>
        </p:blipFill>
        <p:spPr>
          <a:xfrm>
            <a:off x="3484684" y="3024134"/>
            <a:ext cx="320946" cy="466830"/>
          </a:xfrm>
          <a:prstGeom prst="rect">
            <a:avLst/>
          </a:prstGeom>
        </p:spPr>
      </p:pic>
      <p:sp>
        <p:nvSpPr>
          <p:cNvPr id="17" name="TextBox 16"/>
          <p:cNvSpPr txBox="1"/>
          <p:nvPr/>
        </p:nvSpPr>
        <p:spPr>
          <a:xfrm>
            <a:off x="257175" y="5777865"/>
            <a:ext cx="11636920" cy="186689"/>
          </a:xfrm>
          <a:prstGeom prst="rect">
            <a:avLst/>
          </a:prstGeom>
          <a:noFill/>
        </p:spPr>
        <p:txBody>
          <a:bodyPr wrap="none" lIns="0" rIns="0" tIns="0" bIns="0">
            <a:spAutoFit/>
          </a:bodyPr>
          <a:lstStyle/>
          <a:p>
            <a:r>
              <a:rPr sz="1100" b="0">
                <a:solidFill>
                  <a:srgbClr val="2E2E2E"/>
                </a:solidFill>
                <a:latin typeface="Calibri"/>
              </a:rPr>
              <a:t>Direct followed by distributors &amp; traders are expected to be the two most attractive sales channel segments in the North America egg protein membrane market in terms of value over the forecast period.</a:t>
            </a:r>
          </a:p>
        </p:txBody>
      </p:sp>
      <p:sp>
        <p:nvSpPr>
          <p:cNvPr id="18" name="TextBox 17"/>
          <p:cNvSpPr txBox="1"/>
          <p:nvPr/>
        </p:nvSpPr>
        <p:spPr>
          <a:xfrm>
            <a:off x="257175" y="5945505"/>
            <a:ext cx="3280278" cy="186689"/>
          </a:xfrm>
          <a:prstGeom prst="rect">
            <a:avLst/>
          </a:prstGeom>
          <a:noFill/>
        </p:spPr>
        <p:txBody>
          <a:bodyPr wrap="none" lIns="0" rIns="0" tIns="0" bIns="0">
            <a:spAutoFit/>
          </a:bodyPr>
          <a:lstStyle/>
          <a:p>
            <a:r>
              <a:rPr sz="1100" b="0">
                <a:solidFill>
                  <a:srgbClr val="2E2E2E"/>
                </a:solidFill>
                <a:latin typeface="Calibri"/>
              </a:rPr>
              <a:t>Direct and distributors &amp; traders exhibit a CAGR index of</a:t>
            </a:r>
          </a:p>
        </p:txBody>
      </p:sp>
      <p:pic>
        <p:nvPicPr>
          <p:cNvPr id="19" name="Picture 18" descr="lock.png"/>
          <p:cNvPicPr>
            <a:picLocks noChangeAspect="1"/>
          </p:cNvPicPr>
          <p:nvPr/>
        </p:nvPicPr>
        <p:blipFill>
          <a:blip r:embed="rId6"/>
          <a:stretch>
            <a:fillRect/>
          </a:stretch>
        </p:blipFill>
        <p:spPr>
          <a:xfrm>
            <a:off x="3485505" y="5935726"/>
            <a:ext cx="128699" cy="187198"/>
          </a:xfrm>
          <a:prstGeom prst="rect">
            <a:avLst/>
          </a:prstGeom>
        </p:spPr>
      </p:pic>
      <p:sp>
        <p:nvSpPr>
          <p:cNvPr id="20" name="TextBox 19"/>
          <p:cNvSpPr txBox="1"/>
          <p:nvPr/>
        </p:nvSpPr>
        <p:spPr>
          <a:xfrm>
            <a:off x="3653001" y="594550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1" name="Picture 20" descr="lock.png"/>
          <p:cNvPicPr>
            <a:picLocks noChangeAspect="1"/>
          </p:cNvPicPr>
          <p:nvPr/>
        </p:nvPicPr>
        <p:blipFill>
          <a:blip r:embed="rId6"/>
          <a:stretch>
            <a:fillRect/>
          </a:stretch>
        </p:blipFill>
        <p:spPr>
          <a:xfrm>
            <a:off x="3890895" y="5935726"/>
            <a:ext cx="128699" cy="187198"/>
          </a:xfrm>
          <a:prstGeom prst="rect">
            <a:avLst/>
          </a:prstGeom>
        </p:spPr>
      </p:pic>
      <p:sp>
        <p:nvSpPr>
          <p:cNvPr id="22" name="TextBox 21"/>
          <p:cNvSpPr txBox="1"/>
          <p:nvPr/>
        </p:nvSpPr>
        <p:spPr>
          <a:xfrm>
            <a:off x="4058391" y="5945505"/>
            <a:ext cx="1660921" cy="186689"/>
          </a:xfrm>
          <a:prstGeom prst="rect">
            <a:avLst/>
          </a:prstGeom>
          <a:noFill/>
        </p:spPr>
        <p:txBody>
          <a:bodyPr wrap="none" lIns="0" rIns="0" tIns="0" bIns="0">
            <a:spAutoFit/>
          </a:bodyPr>
          <a:lstStyle/>
          <a:p>
            <a:r>
              <a:rPr sz="1100" b="0">
                <a:solidFill>
                  <a:srgbClr val="2E2E2E"/>
                </a:solidFill>
                <a:latin typeface="Calibri"/>
              </a:rPr>
              <a:t>and a market share index of</a:t>
            </a:r>
          </a:p>
        </p:txBody>
      </p:sp>
      <p:pic>
        <p:nvPicPr>
          <p:cNvPr id="23" name="Picture 22" descr="lock.png"/>
          <p:cNvPicPr>
            <a:picLocks noChangeAspect="1"/>
          </p:cNvPicPr>
          <p:nvPr/>
        </p:nvPicPr>
        <p:blipFill>
          <a:blip r:embed="rId6"/>
          <a:stretch>
            <a:fillRect/>
          </a:stretch>
        </p:blipFill>
        <p:spPr>
          <a:xfrm>
            <a:off x="5667364" y="5935726"/>
            <a:ext cx="128699" cy="187198"/>
          </a:xfrm>
          <a:prstGeom prst="rect">
            <a:avLst/>
          </a:prstGeom>
        </p:spPr>
      </p:pic>
      <p:sp>
        <p:nvSpPr>
          <p:cNvPr id="24" name="TextBox 23"/>
          <p:cNvSpPr txBox="1"/>
          <p:nvPr/>
        </p:nvSpPr>
        <p:spPr>
          <a:xfrm>
            <a:off x="5834860" y="594550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5" name="Picture 24" descr="lock.png"/>
          <p:cNvPicPr>
            <a:picLocks noChangeAspect="1"/>
          </p:cNvPicPr>
          <p:nvPr/>
        </p:nvPicPr>
        <p:blipFill>
          <a:blip r:embed="rId6"/>
          <a:stretch>
            <a:fillRect/>
          </a:stretch>
        </p:blipFill>
        <p:spPr>
          <a:xfrm>
            <a:off x="6072755" y="5935726"/>
            <a:ext cx="128699" cy="187198"/>
          </a:xfrm>
          <a:prstGeom prst="rect">
            <a:avLst/>
          </a:prstGeom>
        </p:spPr>
      </p:pic>
      <p:sp>
        <p:nvSpPr>
          <p:cNvPr id="26" name="TextBox 25"/>
          <p:cNvSpPr txBox="1"/>
          <p:nvPr/>
        </p:nvSpPr>
        <p:spPr>
          <a:xfrm>
            <a:off x="6240250" y="5945505"/>
            <a:ext cx="2606352" cy="186689"/>
          </a:xfrm>
          <a:prstGeom prst="rect">
            <a:avLst/>
          </a:prstGeom>
          <a:noFill/>
        </p:spPr>
        <p:txBody>
          <a:bodyPr wrap="none" lIns="0" rIns="0" tIns="0" bIns="0">
            <a:spAutoFit/>
          </a:bodyPr>
          <a:lstStyle/>
          <a:p>
            <a:r>
              <a:rPr sz="1100" b="0">
                <a:solidFill>
                  <a:srgbClr val="2E2E2E"/>
                </a:solidFill>
                <a:latin typeface="Calibri"/>
              </a:rPr>
              <a:t>respectively, against the segment average of</a:t>
            </a:r>
          </a:p>
        </p:txBody>
      </p:sp>
      <p:pic>
        <p:nvPicPr>
          <p:cNvPr id="27" name="Picture 26" descr="lock.png"/>
          <p:cNvPicPr>
            <a:picLocks noChangeAspect="1"/>
          </p:cNvPicPr>
          <p:nvPr/>
        </p:nvPicPr>
        <p:blipFill>
          <a:blip r:embed="rId6"/>
          <a:stretch>
            <a:fillRect/>
          </a:stretch>
        </p:blipFill>
        <p:spPr>
          <a:xfrm>
            <a:off x="8794655" y="5935726"/>
            <a:ext cx="128699" cy="187198"/>
          </a:xfrm>
          <a:prstGeom prst="rect">
            <a:avLst/>
          </a:prstGeom>
        </p:spPr>
      </p:pic>
      <p:sp>
        <p:nvSpPr>
          <p:cNvPr id="28" name="TextBox 27"/>
          <p:cNvSpPr txBox="1"/>
          <p:nvPr/>
        </p:nvSpPr>
        <p:spPr>
          <a:xfrm>
            <a:off x="8962150" y="5945505"/>
            <a:ext cx="2208790" cy="186689"/>
          </a:xfrm>
          <a:prstGeom prst="rect">
            <a:avLst/>
          </a:prstGeom>
          <a:noFill/>
        </p:spPr>
        <p:txBody>
          <a:bodyPr wrap="none" lIns="0" rIns="0" tIns="0" bIns="0">
            <a:spAutoFit/>
          </a:bodyPr>
          <a:lstStyle/>
          <a:p>
            <a:r>
              <a:rPr sz="1100" b="0">
                <a:solidFill>
                  <a:srgbClr val="2E2E2E"/>
                </a:solidFill>
                <a:latin typeface="Calibri"/>
              </a:rPr>
              <a:t>. Bubbles right of the CAGR-Index line</a:t>
            </a:r>
          </a:p>
        </p:txBody>
      </p:sp>
      <p:sp>
        <p:nvSpPr>
          <p:cNvPr id="29" name="TextBox 28"/>
          <p:cNvSpPr txBox="1"/>
          <p:nvPr/>
        </p:nvSpPr>
        <p:spPr>
          <a:xfrm>
            <a:off x="257175" y="6113145"/>
            <a:ext cx="2279476" cy="186689"/>
          </a:xfrm>
          <a:prstGeom prst="rect">
            <a:avLst/>
          </a:prstGeom>
          <a:noFill/>
        </p:spPr>
        <p:txBody>
          <a:bodyPr wrap="none" lIns="0" rIns="0" tIns="0" bIns="0">
            <a:spAutoFit/>
          </a:bodyPr>
          <a:lstStyle/>
          <a:p>
            <a:r>
              <a:rPr sz="1100" b="0">
                <a:solidFill>
                  <a:srgbClr val="2E2E2E"/>
                </a:solidFill>
                <a:latin typeface="Calibri"/>
              </a:rPr>
              <a:t>grow faster than the segment average.</a:t>
            </a:r>
          </a:p>
        </p:txBody>
      </p:sp>
      <p:sp>
        <p:nvSpPr>
          <p:cNvPr id="30" name="lockshield_9"/>
          <p:cNvSpPr/>
          <p:nvPr/>
        </p:nvSpPr>
        <p:spPr>
          <a:xfrm>
            <a:off x="238125" y="1438275"/>
            <a:ext cx="6153150"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lockshield_12"/>
          <p:cNvSpPr/>
          <p:nvPr/>
        </p:nvSpPr>
        <p:spPr>
          <a:xfrm>
            <a:off x="6734175" y="1438275"/>
            <a:ext cx="5210175"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Absolute $ Opportunity Analysis, By Sales Channel</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Sales Channel and the absolute $ opportunity each sub-segment adds, 2026–2036</a:t>
            </a:r>
          </a:p>
        </p:txBody>
      </p:sp>
      <p:sp>
        <p:nvSpPr>
          <p:cNvPr id="7" name="Rounded Rectangle 6"/>
          <p:cNvSpPr/>
          <p:nvPr/>
        </p:nvSpPr>
        <p:spPr>
          <a:xfrm>
            <a:off x="142875" y="981075"/>
            <a:ext cx="5876925" cy="5648325"/>
          </a:xfrm>
          <a:prstGeom prst="roundRect">
            <a:avLst>
              <a:gd name="adj" fmla="val 134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Direct</a:t>
            </a:r>
          </a:p>
        </p:txBody>
      </p:sp>
      <p:graphicFrame>
        <p:nvGraphicFramePr>
          <p:cNvPr id="9" name="Chart 8"/>
          <p:cNvGraphicFramePr>
            <a:graphicFrameLocks noGrp="1"/>
          </p:cNvGraphicFramePr>
          <p:nvPr/>
        </p:nvGraphicFramePr>
        <p:xfrm>
          <a:off x="238125" y="1266825"/>
          <a:ext cx="5686425" cy="5305425"/>
        </p:xfrm>
        <a:graphic>
          <a:graphicData uri="http://schemas.openxmlformats.org/drawingml/2006/chart">
            <c:chart xmlns:c="http://schemas.openxmlformats.org/drawingml/2006/chart" r:id="rId3"/>
          </a:graphicData>
        </a:graphic>
      </p:graphicFrame>
      <p:sp>
        <p:nvSpPr>
          <p:cNvPr id="10" name="Rounded Rectangle 9"/>
          <p:cNvSpPr/>
          <p:nvPr/>
        </p:nvSpPr>
        <p:spPr>
          <a:xfrm>
            <a:off x="6172200" y="981075"/>
            <a:ext cx="5876925" cy="5648325"/>
          </a:xfrm>
          <a:prstGeom prst="roundRect">
            <a:avLst>
              <a:gd name="adj" fmla="val 134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67450"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Distributors &amp; Traders</a:t>
            </a:r>
          </a:p>
        </p:txBody>
      </p:sp>
      <p:graphicFrame>
        <p:nvGraphicFramePr>
          <p:cNvPr id="12" name="Chart 11"/>
          <p:cNvGraphicFramePr>
            <a:graphicFrameLocks noGrp="1"/>
          </p:cNvGraphicFramePr>
          <p:nvPr/>
        </p:nvGraphicFramePr>
        <p:xfrm>
          <a:off x="6267450" y="1438275"/>
          <a:ext cx="5686425" cy="5133975"/>
        </p:xfrm>
        <a:graphic>
          <a:graphicData uri="http://schemas.openxmlformats.org/drawingml/2006/chart">
            <c:chart xmlns:c="http://schemas.openxmlformats.org/drawingml/2006/chart" r:id="rId4"/>
          </a:graphicData>
        </a:graphic>
      </p:graphicFrame>
      <p:sp>
        <p:nvSpPr>
          <p:cNvPr id="13" name="Rectangle 12"/>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5" name="Picture 14" descr="lock.png"/>
          <p:cNvPicPr>
            <a:picLocks noChangeAspect="1"/>
          </p:cNvPicPr>
          <p:nvPr/>
        </p:nvPicPr>
        <p:blipFill>
          <a:blip r:embed="rId6"/>
          <a:stretch>
            <a:fillRect/>
          </a:stretch>
        </p:blipFill>
        <p:spPr>
          <a:xfrm>
            <a:off x="3024059" y="3583939"/>
            <a:ext cx="402511" cy="585471"/>
          </a:xfrm>
          <a:prstGeom prst="rect">
            <a:avLst/>
          </a:prstGeom>
        </p:spPr>
      </p:pic>
      <p:pic>
        <p:nvPicPr>
          <p:cNvPr id="16" name="Picture 15" descr="lock.png"/>
          <p:cNvPicPr>
            <a:picLocks noChangeAspect="1"/>
          </p:cNvPicPr>
          <p:nvPr/>
        </p:nvPicPr>
        <p:blipFill>
          <a:blip r:embed="rId6"/>
          <a:stretch>
            <a:fillRect/>
          </a:stretch>
        </p:blipFill>
        <p:spPr>
          <a:xfrm>
            <a:off x="9056881" y="3674659"/>
            <a:ext cx="395643" cy="575481"/>
          </a:xfrm>
          <a:prstGeom prst="rect">
            <a:avLst/>
          </a:prstGeom>
        </p:spPr>
      </p:pic>
      <p:sp>
        <p:nvSpPr>
          <p:cNvPr id="17" name="lockshield_9"/>
          <p:cNvSpPr/>
          <p:nvPr/>
        </p:nvSpPr>
        <p:spPr>
          <a:xfrm>
            <a:off x="238125" y="1266825"/>
            <a:ext cx="5686425" cy="53054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lockshield_12"/>
          <p:cNvSpPr/>
          <p:nvPr/>
        </p:nvSpPr>
        <p:spPr>
          <a:xfrm>
            <a:off x="6267450" y="1438275"/>
            <a:ext cx="5686425" cy="51339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Value Analysis, By Sales Channel (US$ Mn)</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by Sales Channel, 2021–2036, highlighting the sub-segments driving growth</a:t>
            </a:r>
          </a:p>
        </p:txBody>
      </p:sp>
      <p:sp>
        <p:nvSpPr>
          <p:cNvPr id="7" name="Rounded Rectangle 6"/>
          <p:cNvSpPr/>
          <p:nvPr/>
        </p:nvSpPr>
        <p:spPr>
          <a:xfrm>
            <a:off x="142875" y="981075"/>
            <a:ext cx="11906250" cy="1457325"/>
          </a:xfrm>
          <a:prstGeom prst="roundRect">
            <a:avLst>
              <a:gd name="adj" fmla="val 522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By Sales Channel (US$ Mn)</a:t>
            </a:r>
          </a:p>
        </p:txBody>
      </p:sp>
      <p:graphicFrame>
        <p:nvGraphicFramePr>
          <p:cNvPr id="9" name="Table 8"/>
          <p:cNvGraphicFramePr>
            <a:graphicFrameLocks noGrp="1"/>
          </p:cNvGraphicFramePr>
          <p:nvPr/>
        </p:nvGraphicFramePr>
        <p:xfrm>
          <a:off x="152400" y="1238250"/>
          <a:ext cx="11887206" cy="990600"/>
        </p:xfrm>
        <a:graphic>
          <a:graphicData uri="http://schemas.openxmlformats.org/drawingml/2006/table">
            <a:tbl>
              <a:tblPr>
                <a:tableStyleId>{5C22544A-7EE6-4342-B048-85BDC9FD1C3A}</a:tableStyleId>
              </a:tblPr>
              <a:tblGrid>
                <a:gridCol w="1578950"/>
                <a:gridCol w="606368"/>
                <a:gridCol w="606368"/>
                <a:gridCol w="606368"/>
                <a:gridCol w="606368"/>
                <a:gridCol w="606368"/>
                <a:gridCol w="606368"/>
                <a:gridCol w="606368"/>
                <a:gridCol w="606368"/>
                <a:gridCol w="606368"/>
                <a:gridCol w="606368"/>
                <a:gridCol w="606368"/>
                <a:gridCol w="606368"/>
                <a:gridCol w="606368"/>
                <a:gridCol w="606368"/>
                <a:gridCol w="606368"/>
                <a:gridCol w="606368"/>
                <a:gridCol w="606368"/>
              </a:tblGrid>
              <a:tr h="246126">
                <a:tc>
                  <a:txBody>
                    <a:bodyPr wrap="none"/>
                    <a:lstStyle/>
                    <a:p>
                      <a:pPr algn="l"/>
                      <a:r>
                        <a:rPr sz="1100" b="1">
                          <a:solidFill>
                            <a:srgbClr val="0E2A5C"/>
                          </a:solidFill>
                          <a:latin typeface="Calibri"/>
                        </a:rPr>
                        <a:t>Sales Channel</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2021A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2022A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2023A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2024A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2025A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2026E</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2027F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2028F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2029F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2030F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2031F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2032F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2033F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2034F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2035F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2036F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F-CAGR</a:t>
                      </a:r>
                      <a:endParaRPr sz="1100"/>
                    </a:p>
                  </a:txBody>
                  <a:tcPr marL="47625" marR="38100" marT="19050" marB="19050" anchor="ctr">
                    <a:solidFill>
                      <a:srgbClr val="EBF2F9"/>
                    </a:solidFill>
                  </a:tcPr>
                </a:tc>
              </a:tr>
              <a:tr h="248158">
                <a:tc>
                  <a:txBody>
                    <a:bodyPr wrap="none"/>
                    <a:lstStyle/>
                    <a:p>
                      <a:pPr algn="l"/>
                      <a:r>
                        <a:rPr sz="1100" b="1">
                          <a:solidFill>
                            <a:srgbClr val="2E2E2E"/>
                          </a:solidFill>
                          <a:latin typeface="Calibri"/>
                        </a:rPr>
                        <a:t>Direct</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8158">
                <a:tc>
                  <a:txBody>
                    <a:bodyPr wrap="none"/>
                    <a:lstStyle/>
                    <a:p>
                      <a:pPr algn="l"/>
                      <a:r>
                        <a:rPr sz="1100" b="1">
                          <a:solidFill>
                            <a:srgbClr val="2E2E2E"/>
                          </a:solidFill>
                          <a:latin typeface="Calibri"/>
                        </a:rPr>
                        <a:t>Distributors &amp; Traders</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8158">
                <a:tc>
                  <a:txBody>
                    <a:bodyPr wrap="none"/>
                    <a:lstStyle/>
                    <a:p>
                      <a:pPr algn="l"/>
                      <a:r>
                        <a:rPr sz="1100" b="1">
                          <a:solidFill>
                            <a:srgbClr val="2E2E2E"/>
                          </a:solidFill>
                          <a:latin typeface="Calibri"/>
                        </a:rPr>
                        <a:t>Total</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r>
            </a:tbl>
          </a:graphicData>
        </a:graphic>
      </p:graphicFrame>
      <p:sp>
        <p:nvSpPr>
          <p:cNvPr id="10" name="TextBox 9"/>
          <p:cNvSpPr txBox="1"/>
          <p:nvPr/>
        </p:nvSpPr>
        <p:spPr>
          <a:xfrm>
            <a:off x="219075" y="223837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11" name="Rounded Rectangle 10"/>
          <p:cNvSpPr/>
          <p:nvPr/>
        </p:nvSpPr>
        <p:spPr>
          <a:xfrm>
            <a:off x="142875" y="2571750"/>
            <a:ext cx="11906250" cy="4057650"/>
          </a:xfrm>
          <a:prstGeom prst="roundRect">
            <a:avLst>
              <a:gd name="adj" fmla="val 1877"/>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6225" y="2657475"/>
            <a:ext cx="11639550" cy="209550"/>
          </a:xfrm>
          <a:prstGeom prst="rect">
            <a:avLst/>
          </a:prstGeom>
          <a:noFill/>
        </p:spPr>
        <p:txBody>
          <a:bodyPr wrap="square" lIns="0" rIns="19050" tIns="9525" bIns="9525">
            <a:spAutoFit/>
          </a:bodyPr>
          <a:lstStyle/>
          <a:p>
            <a:pPr algn="l"/>
            <a:r>
              <a:rPr sz="1300" b="1">
                <a:solidFill>
                  <a:srgbClr val="0E2A5C"/>
                </a:solidFill>
                <a:latin typeface="Calibri"/>
              </a:rPr>
              <a:t>North America Value Analysis, By Sales Channel</a:t>
            </a:r>
          </a:p>
        </p:txBody>
      </p:sp>
      <p:sp>
        <p:nvSpPr>
          <p:cNvPr id="13" name="Rectangle 12"/>
          <p:cNvSpPr/>
          <p:nvPr/>
        </p:nvSpPr>
        <p:spPr>
          <a:xfrm>
            <a:off x="276225" y="2895600"/>
            <a:ext cx="116395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6225" y="2981325"/>
            <a:ext cx="11639550" cy="357187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5" name="Rectangle 14"/>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7" name="Picture 16" descr="lock.png"/>
          <p:cNvPicPr>
            <a:picLocks noChangeAspect="1"/>
          </p:cNvPicPr>
          <p:nvPr/>
        </p:nvPicPr>
        <p:blipFill>
          <a:blip r:embed="rId4"/>
          <a:stretch>
            <a:fillRect/>
          </a:stretch>
        </p:blipFill>
        <p:spPr>
          <a:xfrm>
            <a:off x="6698788" y="1589913"/>
            <a:ext cx="366712" cy="533400"/>
          </a:xfrm>
          <a:prstGeom prst="rect">
            <a:avLst/>
          </a:prstGeom>
        </p:spPr>
      </p:pic>
      <p:sp>
        <p:nvSpPr>
          <p:cNvPr id="18" name="TextBox 17"/>
          <p:cNvSpPr txBox="1"/>
          <p:nvPr/>
        </p:nvSpPr>
        <p:spPr>
          <a:xfrm>
            <a:off x="276225" y="2990850"/>
            <a:ext cx="2359657" cy="194310"/>
          </a:xfrm>
          <a:prstGeom prst="rect">
            <a:avLst/>
          </a:prstGeom>
          <a:noFill/>
        </p:spPr>
        <p:txBody>
          <a:bodyPr wrap="none" lIns="0" rIns="0" tIns="0" bIns="0">
            <a:spAutoFit/>
          </a:bodyPr>
          <a:lstStyle/>
          <a:p>
            <a:r>
              <a:rPr sz="1150" b="0">
                <a:solidFill>
                  <a:srgbClr val="2E2E2E"/>
                </a:solidFill>
                <a:latin typeface="Calibri"/>
              </a:rPr>
              <a:t>Direct segment is projected to register</a:t>
            </a:r>
          </a:p>
        </p:txBody>
      </p:sp>
      <p:pic>
        <p:nvPicPr>
          <p:cNvPr id="19" name="Picture 18" descr="lock.png"/>
          <p:cNvPicPr>
            <a:picLocks noChangeAspect="1"/>
          </p:cNvPicPr>
          <p:nvPr/>
        </p:nvPicPr>
        <p:blipFill>
          <a:blip r:embed="rId4"/>
          <a:stretch>
            <a:fillRect/>
          </a:stretch>
        </p:blipFill>
        <p:spPr>
          <a:xfrm>
            <a:off x="2585036" y="2980626"/>
            <a:ext cx="134549" cy="195707"/>
          </a:xfrm>
          <a:prstGeom prst="rect">
            <a:avLst/>
          </a:prstGeom>
        </p:spPr>
      </p:pic>
      <p:sp>
        <p:nvSpPr>
          <p:cNvPr id="20" name="TextBox 19"/>
          <p:cNvSpPr txBox="1"/>
          <p:nvPr/>
        </p:nvSpPr>
        <p:spPr>
          <a:xfrm>
            <a:off x="2760145" y="2990850"/>
            <a:ext cx="8990955" cy="194310"/>
          </a:xfrm>
          <a:prstGeom prst="rect">
            <a:avLst/>
          </a:prstGeom>
          <a:noFill/>
        </p:spPr>
        <p:txBody>
          <a:bodyPr wrap="none" lIns="0" rIns="0" tIns="0" bIns="0">
            <a:spAutoFit/>
          </a:bodyPr>
          <a:lstStyle/>
          <a:p>
            <a:r>
              <a:rPr sz="1150" b="0">
                <a:solidFill>
                  <a:srgbClr val="2E2E2E"/>
                </a:solidFill>
                <a:latin typeface="Calibri"/>
              </a:rPr>
              <a:t>X higher value than distributors &amp; traders segment in 2036. Among egg protein membrane by sales channel, direct segment is expected to witness the</a:t>
            </a:r>
          </a:p>
        </p:txBody>
      </p:sp>
      <p:sp>
        <p:nvSpPr>
          <p:cNvPr id="21" name="TextBox 20"/>
          <p:cNvSpPr txBox="1"/>
          <p:nvPr/>
        </p:nvSpPr>
        <p:spPr>
          <a:xfrm>
            <a:off x="276225" y="3166110"/>
            <a:ext cx="1032353" cy="194310"/>
          </a:xfrm>
          <a:prstGeom prst="rect">
            <a:avLst/>
          </a:prstGeom>
          <a:noFill/>
        </p:spPr>
        <p:txBody>
          <a:bodyPr wrap="none" lIns="0" rIns="0" tIns="0" bIns="0">
            <a:spAutoFit/>
          </a:bodyPr>
          <a:lstStyle/>
          <a:p>
            <a:r>
              <a:rPr sz="1150" b="0">
                <a:solidFill>
                  <a:srgbClr val="2E2E2E"/>
                </a:solidFill>
                <a:latin typeface="Calibri"/>
              </a:rPr>
              <a:t>highest CAGR of</a:t>
            </a:r>
          </a:p>
        </p:txBody>
      </p:sp>
      <p:pic>
        <p:nvPicPr>
          <p:cNvPr id="22" name="Picture 21" descr="lock.png"/>
          <p:cNvPicPr>
            <a:picLocks noChangeAspect="1"/>
          </p:cNvPicPr>
          <p:nvPr/>
        </p:nvPicPr>
        <p:blipFill>
          <a:blip r:embed="rId4"/>
          <a:stretch>
            <a:fillRect/>
          </a:stretch>
        </p:blipFill>
        <p:spPr>
          <a:xfrm>
            <a:off x="1257732" y="3155886"/>
            <a:ext cx="134549" cy="195707"/>
          </a:xfrm>
          <a:prstGeom prst="rect">
            <a:avLst/>
          </a:prstGeom>
        </p:spPr>
      </p:pic>
      <p:sp>
        <p:nvSpPr>
          <p:cNvPr id="23" name="TextBox 22"/>
          <p:cNvSpPr txBox="1"/>
          <p:nvPr/>
        </p:nvSpPr>
        <p:spPr>
          <a:xfrm>
            <a:off x="1432841" y="3166110"/>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24" name="TextBox 23"/>
          <p:cNvSpPr txBox="1"/>
          <p:nvPr/>
        </p:nvSpPr>
        <p:spPr>
          <a:xfrm>
            <a:off x="276225" y="3393947"/>
            <a:ext cx="6286748" cy="194310"/>
          </a:xfrm>
          <a:prstGeom prst="rect">
            <a:avLst/>
          </a:prstGeom>
          <a:noFill/>
        </p:spPr>
        <p:txBody>
          <a:bodyPr wrap="none" lIns="0" rIns="0" tIns="0" bIns="0">
            <a:spAutoFit/>
          </a:bodyPr>
          <a:lstStyle/>
          <a:p>
            <a:r>
              <a:rPr sz="1150" b="0">
                <a:solidFill>
                  <a:srgbClr val="2E2E2E"/>
                </a:solidFill>
                <a:latin typeface="Calibri"/>
              </a:rPr>
              <a:t>In terms of value share by sales channel, the direct segment is expected to dominate the market, gaining</a:t>
            </a:r>
          </a:p>
        </p:txBody>
      </p:sp>
      <p:pic>
        <p:nvPicPr>
          <p:cNvPr id="25" name="Picture 24" descr="lock.png"/>
          <p:cNvPicPr>
            <a:picLocks noChangeAspect="1"/>
          </p:cNvPicPr>
          <p:nvPr/>
        </p:nvPicPr>
        <p:blipFill>
          <a:blip r:embed="rId4"/>
          <a:stretch>
            <a:fillRect/>
          </a:stretch>
        </p:blipFill>
        <p:spPr>
          <a:xfrm>
            <a:off x="6512126" y="3383724"/>
            <a:ext cx="134549" cy="195707"/>
          </a:xfrm>
          <a:prstGeom prst="rect">
            <a:avLst/>
          </a:prstGeom>
        </p:spPr>
      </p:pic>
      <p:sp>
        <p:nvSpPr>
          <p:cNvPr id="26" name="TextBox 25"/>
          <p:cNvSpPr txBox="1"/>
          <p:nvPr/>
        </p:nvSpPr>
        <p:spPr>
          <a:xfrm>
            <a:off x="6687236" y="3393947"/>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27" name="Picture 26" descr="lock.png"/>
          <p:cNvPicPr>
            <a:picLocks noChangeAspect="1"/>
          </p:cNvPicPr>
          <p:nvPr/>
        </p:nvPicPr>
        <p:blipFill>
          <a:blip r:embed="rId4"/>
          <a:stretch>
            <a:fillRect/>
          </a:stretch>
        </p:blipFill>
        <p:spPr>
          <a:xfrm>
            <a:off x="8082379" y="3383724"/>
            <a:ext cx="134549" cy="195707"/>
          </a:xfrm>
          <a:prstGeom prst="rect">
            <a:avLst/>
          </a:prstGeom>
        </p:spPr>
      </p:pic>
      <p:sp>
        <p:nvSpPr>
          <p:cNvPr id="28" name="TextBox 27"/>
          <p:cNvSpPr txBox="1"/>
          <p:nvPr/>
        </p:nvSpPr>
        <p:spPr>
          <a:xfrm>
            <a:off x="8257488" y="3393947"/>
            <a:ext cx="3186038" cy="194310"/>
          </a:xfrm>
          <a:prstGeom prst="rect">
            <a:avLst/>
          </a:prstGeom>
          <a:noFill/>
        </p:spPr>
        <p:txBody>
          <a:bodyPr wrap="none" lIns="0" rIns="0" tIns="0" bIns="0">
            <a:spAutoFit/>
          </a:bodyPr>
          <a:lstStyle/>
          <a:p>
            <a:r>
              <a:rPr sz="1150" b="0">
                <a:solidFill>
                  <a:srgbClr val="2E2E2E"/>
                </a:solidFill>
                <a:latin typeface="Calibri"/>
              </a:rPr>
              <a:t>share by 2036. The distributors &amp; traders segment is</a:t>
            </a:r>
          </a:p>
        </p:txBody>
      </p:sp>
      <p:sp>
        <p:nvSpPr>
          <p:cNvPr id="29" name="TextBox 28"/>
          <p:cNvSpPr txBox="1"/>
          <p:nvPr/>
        </p:nvSpPr>
        <p:spPr>
          <a:xfrm>
            <a:off x="276225" y="3569207"/>
            <a:ext cx="1054906" cy="194310"/>
          </a:xfrm>
          <a:prstGeom prst="rect">
            <a:avLst/>
          </a:prstGeom>
          <a:noFill/>
        </p:spPr>
        <p:txBody>
          <a:bodyPr wrap="none" lIns="0" rIns="0" tIns="0" bIns="0">
            <a:spAutoFit/>
          </a:bodyPr>
          <a:lstStyle/>
          <a:p>
            <a:r>
              <a:rPr sz="1150" b="0">
                <a:solidFill>
                  <a:srgbClr val="2E2E2E"/>
                </a:solidFill>
                <a:latin typeface="Calibri"/>
              </a:rPr>
              <a:t>expected to lose</a:t>
            </a:r>
          </a:p>
        </p:txBody>
      </p:sp>
      <p:pic>
        <p:nvPicPr>
          <p:cNvPr id="30" name="Picture 29" descr="lock.png"/>
          <p:cNvPicPr>
            <a:picLocks noChangeAspect="1"/>
          </p:cNvPicPr>
          <p:nvPr/>
        </p:nvPicPr>
        <p:blipFill>
          <a:blip r:embed="rId4"/>
          <a:stretch>
            <a:fillRect/>
          </a:stretch>
        </p:blipFill>
        <p:spPr>
          <a:xfrm>
            <a:off x="1280285" y="3558984"/>
            <a:ext cx="134549" cy="195707"/>
          </a:xfrm>
          <a:prstGeom prst="rect">
            <a:avLst/>
          </a:prstGeom>
        </p:spPr>
      </p:pic>
      <p:sp>
        <p:nvSpPr>
          <p:cNvPr id="31" name="TextBox 30"/>
          <p:cNvSpPr txBox="1"/>
          <p:nvPr/>
        </p:nvSpPr>
        <p:spPr>
          <a:xfrm>
            <a:off x="1455394" y="3569207"/>
            <a:ext cx="2638350" cy="194310"/>
          </a:xfrm>
          <a:prstGeom prst="rect">
            <a:avLst/>
          </a:prstGeom>
          <a:noFill/>
        </p:spPr>
        <p:txBody>
          <a:bodyPr wrap="none" lIns="0" rIns="0" tIns="0" bIns="0">
            <a:spAutoFit/>
          </a:bodyPr>
          <a:lstStyle/>
          <a:p>
            <a:r>
              <a:rPr sz="1150" b="0">
                <a:solidFill>
                  <a:srgbClr val="2E2E2E"/>
                </a:solidFill>
                <a:latin typeface="Calibri"/>
              </a:rPr>
              <a:t>BPS over the forecast period to account for</a:t>
            </a:r>
          </a:p>
        </p:txBody>
      </p:sp>
      <p:pic>
        <p:nvPicPr>
          <p:cNvPr id="32" name="Picture 31" descr="lock.png"/>
          <p:cNvPicPr>
            <a:picLocks noChangeAspect="1"/>
          </p:cNvPicPr>
          <p:nvPr/>
        </p:nvPicPr>
        <p:blipFill>
          <a:blip r:embed="rId4"/>
          <a:stretch>
            <a:fillRect/>
          </a:stretch>
        </p:blipFill>
        <p:spPr>
          <a:xfrm>
            <a:off x="4042898" y="3558984"/>
            <a:ext cx="134549" cy="195707"/>
          </a:xfrm>
          <a:prstGeom prst="rect">
            <a:avLst/>
          </a:prstGeom>
        </p:spPr>
      </p:pic>
      <p:sp>
        <p:nvSpPr>
          <p:cNvPr id="33" name="TextBox 32"/>
          <p:cNvSpPr txBox="1"/>
          <p:nvPr/>
        </p:nvSpPr>
        <p:spPr>
          <a:xfrm>
            <a:off x="4218008" y="3569207"/>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Value &amp; Share Shift, By Sales Channel</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Value composition by Sales Channel in 2021, 2026 and 2036, highlighting share shifts in basis points</a:t>
            </a:r>
          </a:p>
        </p:txBody>
      </p:sp>
      <p:sp>
        <p:nvSpPr>
          <p:cNvPr id="7" name="Rounded Rectangle 6"/>
          <p:cNvSpPr/>
          <p:nvPr/>
        </p:nvSpPr>
        <p:spPr>
          <a:xfrm>
            <a:off x="142875" y="981075"/>
            <a:ext cx="7400925" cy="5648325"/>
          </a:xfrm>
          <a:prstGeom prst="roundRect">
            <a:avLst>
              <a:gd name="adj" fmla="val 134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7210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Composition, By Sales Channel ·  2021 / 2026 / 2036 (US$ Mn)  ·  right axis = BPS share shift</a:t>
            </a:r>
          </a:p>
        </p:txBody>
      </p:sp>
      <p:graphicFrame>
        <p:nvGraphicFramePr>
          <p:cNvPr id="9" name="Chart 8"/>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r:id="rId3"/>
          </a:graphicData>
        </a:graphic>
      </p:graphicFrame>
      <p:sp>
        <p:nvSpPr>
          <p:cNvPr id="10" name="TextBox 9"/>
          <p:cNvSpPr txBox="1"/>
          <p:nvPr/>
        </p:nvSpPr>
        <p:spPr>
          <a:xfrm>
            <a:off x="4852797" y="1590675"/>
            <a:ext cx="2595753" cy="171069"/>
          </a:xfrm>
          <a:prstGeom prst="rect">
            <a:avLst/>
          </a:prstGeom>
          <a:noFill/>
        </p:spPr>
        <p:txBody>
          <a:bodyPr wrap="square" lIns="28575" rIns="28575" tIns="9525" bIns="9525" anchor="ctr">
            <a:spAutoFit/>
          </a:bodyPr>
          <a:lstStyle/>
          <a:p>
            <a:pPr algn="ctr"/>
            <a:r>
              <a:rPr sz="1300" b="1">
                <a:solidFill>
                  <a:srgbClr val="2A5F8F"/>
                </a:solidFill>
                <a:latin typeface="Calibri"/>
              </a:rPr>
              <a:t>BPS Δ  (2021→2036)</a:t>
            </a:r>
          </a:p>
        </p:txBody>
      </p:sp>
      <p:sp>
        <p:nvSpPr>
          <p:cNvPr id="11" name="TMR Lock Anchor"/>
          <p:cNvSpPr txBox="1"/>
          <p:nvPr/>
        </p:nvSpPr>
        <p:spPr>
          <a:xfrm>
            <a:off x="2678811" y="4014597"/>
            <a:ext cx="38100" cy="38100"/>
          </a:xfrm>
          <a:prstGeom prst="rect">
            <a:avLst/>
          </a:prstGeom>
          <a:noFill/>
        </p:spPr>
        <p:txBody>
          <a:bodyPr wrap="none">
            <a:spAutoFit/>
          </a:bodyPr>
          <a:lstStyle/>
          <a:p/>
        </p:txBody>
      </p:sp>
      <p:sp>
        <p:nvSpPr>
          <p:cNvPr id="12" name="TMR Legend Chip"/>
          <p:cNvSpPr/>
          <p:nvPr/>
        </p:nvSpPr>
        <p:spPr>
          <a:xfrm>
            <a:off x="4928997" y="2623686"/>
            <a:ext cx="85725" cy="85725"/>
          </a:xfrm>
          <a:prstGeom prst="rect">
            <a:avLst/>
          </a:prstGeom>
          <a:solidFill>
            <a:srgbClr val="0081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Isosceles Triangle 12"/>
          <p:cNvSpPr/>
          <p:nvPr/>
        </p:nvSpPr>
        <p:spPr>
          <a:xfrm rot="10800000">
            <a:off x="5090922" y="2618924"/>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BPS Name 1"/>
          <p:cNvSpPr txBox="1"/>
          <p:nvPr/>
        </p:nvSpPr>
        <p:spPr>
          <a:xfrm>
            <a:off x="5233797" y="2542724"/>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Distributors &amp; Traders</a:t>
            </a:r>
          </a:p>
        </p:txBody>
      </p:sp>
      <p:sp>
        <p:nvSpPr>
          <p:cNvPr id="15" name="BPS Value 1"/>
          <p:cNvSpPr txBox="1"/>
          <p:nvPr/>
        </p:nvSpPr>
        <p:spPr>
          <a:xfrm>
            <a:off x="6896100" y="2604636"/>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16" name="TMR Legend Chip"/>
          <p:cNvSpPr/>
          <p:nvPr/>
        </p:nvSpPr>
        <p:spPr>
          <a:xfrm>
            <a:off x="4928997" y="4909877"/>
            <a:ext cx="85725" cy="85725"/>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Isosceles Triangle 16"/>
          <p:cNvSpPr/>
          <p:nvPr/>
        </p:nvSpPr>
        <p:spPr>
          <a:xfrm>
            <a:off x="5090922" y="4905114"/>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PS Name 2"/>
          <p:cNvSpPr txBox="1"/>
          <p:nvPr/>
        </p:nvSpPr>
        <p:spPr>
          <a:xfrm>
            <a:off x="5233797" y="4828914"/>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Direct</a:t>
            </a:r>
          </a:p>
        </p:txBody>
      </p:sp>
      <p:sp>
        <p:nvSpPr>
          <p:cNvPr id="19" name="BPS Value 2"/>
          <p:cNvSpPr txBox="1"/>
          <p:nvPr/>
        </p:nvSpPr>
        <p:spPr>
          <a:xfrm>
            <a:off x="6896100" y="4890827"/>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0" name="Rounded Rectangle 19"/>
          <p:cNvSpPr/>
          <p:nvPr/>
        </p:nvSpPr>
        <p:spPr>
          <a:xfrm>
            <a:off x="7696200" y="981075"/>
            <a:ext cx="4343400" cy="5648325"/>
          </a:xfrm>
          <a:prstGeom prst="roundRect">
            <a:avLst>
              <a:gd name="adj" fmla="val 1754"/>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E2A5C"/>
                </a:solidFill>
                <a:latin typeface="Calibri"/>
              </a:rPr>
              <a:t>North America Read-out, By Sales Channel</a:t>
            </a:r>
          </a:p>
        </p:txBody>
      </p:sp>
      <p:sp>
        <p:nvSpPr>
          <p:cNvPr id="22" name="Rectangle 21"/>
          <p:cNvSpPr/>
          <p:nvPr/>
        </p:nvSpPr>
        <p:spPr>
          <a:xfrm>
            <a:off x="7829550" y="1304925"/>
            <a:ext cx="407670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24" name="Rectangle 23"/>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26" name="Picture 25" descr="lock.png"/>
          <p:cNvPicPr>
            <a:picLocks noChangeAspect="1"/>
          </p:cNvPicPr>
          <p:nvPr/>
        </p:nvPicPr>
        <p:blipFill>
          <a:blip r:embed="rId5"/>
          <a:stretch>
            <a:fillRect/>
          </a:stretch>
        </p:blipFill>
        <p:spPr>
          <a:xfrm>
            <a:off x="2557843" y="3833622"/>
            <a:ext cx="275034" cy="400050"/>
          </a:xfrm>
          <a:prstGeom prst="rect">
            <a:avLst/>
          </a:prstGeom>
        </p:spPr>
      </p:pic>
      <p:sp>
        <p:nvSpPr>
          <p:cNvPr id="27" name="TextBox 26"/>
          <p:cNvSpPr txBox="1"/>
          <p:nvPr/>
        </p:nvSpPr>
        <p:spPr>
          <a:xfrm>
            <a:off x="7829550" y="1400175"/>
            <a:ext cx="3985890" cy="194310"/>
          </a:xfrm>
          <a:prstGeom prst="rect">
            <a:avLst/>
          </a:prstGeom>
          <a:noFill/>
        </p:spPr>
        <p:txBody>
          <a:bodyPr wrap="none" lIns="0" rIns="0" tIns="0" bIns="0">
            <a:spAutoFit/>
          </a:bodyPr>
          <a:lstStyle/>
          <a:p>
            <a:r>
              <a:rPr sz="1150" b="0">
                <a:solidFill>
                  <a:srgbClr val="2E2E2E"/>
                </a:solidFill>
                <a:latin typeface="Calibri"/>
              </a:rPr>
              <a:t>Among egg protein membrane by sales channel, direct segment is</a:t>
            </a:r>
          </a:p>
        </p:txBody>
      </p:sp>
      <p:sp>
        <p:nvSpPr>
          <p:cNvPr id="28" name="TextBox 27"/>
          <p:cNvSpPr txBox="1"/>
          <p:nvPr/>
        </p:nvSpPr>
        <p:spPr>
          <a:xfrm>
            <a:off x="7829550" y="1575435"/>
            <a:ext cx="2486007" cy="194310"/>
          </a:xfrm>
          <a:prstGeom prst="rect">
            <a:avLst/>
          </a:prstGeom>
          <a:noFill/>
        </p:spPr>
        <p:txBody>
          <a:bodyPr wrap="none" lIns="0" rIns="0" tIns="0" bIns="0">
            <a:spAutoFit/>
          </a:bodyPr>
          <a:lstStyle/>
          <a:p>
            <a:r>
              <a:rPr sz="1150" b="0">
                <a:solidFill>
                  <a:srgbClr val="2E2E2E"/>
                </a:solidFill>
                <a:latin typeface="Calibri"/>
              </a:rPr>
              <a:t>expected to witness the highest CAGR of</a:t>
            </a:r>
          </a:p>
        </p:txBody>
      </p:sp>
      <p:pic>
        <p:nvPicPr>
          <p:cNvPr id="29" name="Picture 28" descr="lock.png"/>
          <p:cNvPicPr>
            <a:picLocks noChangeAspect="1"/>
          </p:cNvPicPr>
          <p:nvPr/>
        </p:nvPicPr>
        <p:blipFill>
          <a:blip r:embed="rId5"/>
          <a:stretch>
            <a:fillRect/>
          </a:stretch>
        </p:blipFill>
        <p:spPr>
          <a:xfrm>
            <a:off x="10264711" y="1565211"/>
            <a:ext cx="134549" cy="195707"/>
          </a:xfrm>
          <a:prstGeom prst="rect">
            <a:avLst/>
          </a:prstGeom>
        </p:spPr>
      </p:pic>
      <p:sp>
        <p:nvSpPr>
          <p:cNvPr id="30" name="TextBox 29"/>
          <p:cNvSpPr txBox="1"/>
          <p:nvPr/>
        </p:nvSpPr>
        <p:spPr>
          <a:xfrm>
            <a:off x="10439820" y="1575435"/>
            <a:ext cx="1090848" cy="194310"/>
          </a:xfrm>
          <a:prstGeom prst="rect">
            <a:avLst/>
          </a:prstGeom>
          <a:noFill/>
        </p:spPr>
        <p:txBody>
          <a:bodyPr wrap="none" lIns="0" rIns="0" tIns="0" bIns="0">
            <a:spAutoFit/>
          </a:bodyPr>
          <a:lstStyle/>
          <a:p>
            <a:r>
              <a:rPr sz="1150" b="0">
                <a:solidFill>
                  <a:srgbClr val="2E2E2E"/>
                </a:solidFill>
                <a:latin typeface="Calibri"/>
              </a:rPr>
              <a:t>over the forecast</a:t>
            </a:r>
          </a:p>
        </p:txBody>
      </p:sp>
      <p:sp>
        <p:nvSpPr>
          <p:cNvPr id="31" name="TextBox 30"/>
          <p:cNvSpPr txBox="1"/>
          <p:nvPr/>
        </p:nvSpPr>
        <p:spPr>
          <a:xfrm>
            <a:off x="7829550" y="1750695"/>
            <a:ext cx="4057650" cy="194310"/>
          </a:xfrm>
          <a:prstGeom prst="rect">
            <a:avLst/>
          </a:prstGeom>
          <a:noFill/>
        </p:spPr>
        <p:txBody>
          <a:bodyPr wrap="none" lIns="0" rIns="0" tIns="0" bIns="0">
            <a:spAutoFit/>
          </a:bodyPr>
          <a:lstStyle/>
          <a:p>
            <a:r>
              <a:rPr sz="1150" b="0">
                <a:solidFill>
                  <a:srgbClr val="2E2E2E"/>
                </a:solidFill>
                <a:latin typeface="Calibri"/>
              </a:rPr>
              <a:t>period. In terms of value share by sales channel, the direct segment</a:t>
            </a:r>
          </a:p>
        </p:txBody>
      </p:sp>
      <p:sp>
        <p:nvSpPr>
          <p:cNvPr id="32" name="TextBox 31"/>
          <p:cNvSpPr txBox="1"/>
          <p:nvPr/>
        </p:nvSpPr>
        <p:spPr>
          <a:xfrm>
            <a:off x="7829550" y="1925955"/>
            <a:ext cx="2699109" cy="194310"/>
          </a:xfrm>
          <a:prstGeom prst="rect">
            <a:avLst/>
          </a:prstGeom>
          <a:noFill/>
        </p:spPr>
        <p:txBody>
          <a:bodyPr wrap="none" lIns="0" rIns="0" tIns="0" bIns="0">
            <a:spAutoFit/>
          </a:bodyPr>
          <a:lstStyle/>
          <a:p>
            <a:r>
              <a:rPr sz="1150" b="0">
                <a:solidFill>
                  <a:srgbClr val="2E2E2E"/>
                </a:solidFill>
                <a:latin typeface="Calibri"/>
              </a:rPr>
              <a:t>is expected to dominate the market, gaining</a:t>
            </a:r>
          </a:p>
        </p:txBody>
      </p:sp>
      <p:pic>
        <p:nvPicPr>
          <p:cNvPr id="33" name="Picture 32" descr="lock.png"/>
          <p:cNvPicPr>
            <a:picLocks noChangeAspect="1"/>
          </p:cNvPicPr>
          <p:nvPr/>
        </p:nvPicPr>
        <p:blipFill>
          <a:blip r:embed="rId5"/>
          <a:stretch>
            <a:fillRect/>
          </a:stretch>
        </p:blipFill>
        <p:spPr>
          <a:xfrm>
            <a:off x="10477813" y="1915731"/>
            <a:ext cx="134549" cy="195707"/>
          </a:xfrm>
          <a:prstGeom prst="rect">
            <a:avLst/>
          </a:prstGeom>
        </p:spPr>
      </p:pic>
      <p:sp>
        <p:nvSpPr>
          <p:cNvPr id="34" name="TextBox 33"/>
          <p:cNvSpPr txBox="1"/>
          <p:nvPr/>
        </p:nvSpPr>
        <p:spPr>
          <a:xfrm>
            <a:off x="10652922" y="1925955"/>
            <a:ext cx="554856" cy="194310"/>
          </a:xfrm>
          <a:prstGeom prst="rect">
            <a:avLst/>
          </a:prstGeom>
          <a:noFill/>
        </p:spPr>
        <p:txBody>
          <a:bodyPr wrap="none" lIns="0" rIns="0" tIns="0" bIns="0">
            <a:spAutoFit/>
          </a:bodyPr>
          <a:lstStyle/>
          <a:p>
            <a:r>
              <a:rPr sz="1150" b="0">
                <a:solidFill>
                  <a:srgbClr val="2E2E2E"/>
                </a:solidFill>
                <a:latin typeface="Calibri"/>
              </a:rPr>
              <a:t>BPS and</a:t>
            </a:r>
          </a:p>
        </p:txBody>
      </p:sp>
      <p:sp>
        <p:nvSpPr>
          <p:cNvPr id="35" name="TextBox 34"/>
          <p:cNvSpPr txBox="1"/>
          <p:nvPr/>
        </p:nvSpPr>
        <p:spPr>
          <a:xfrm>
            <a:off x="7829550" y="2101215"/>
            <a:ext cx="934243" cy="194310"/>
          </a:xfrm>
          <a:prstGeom prst="rect">
            <a:avLst/>
          </a:prstGeom>
          <a:noFill/>
        </p:spPr>
        <p:txBody>
          <a:bodyPr wrap="none" lIns="0" rIns="0" tIns="0" bIns="0">
            <a:spAutoFit/>
          </a:bodyPr>
          <a:lstStyle/>
          <a:p>
            <a:r>
              <a:rPr sz="1150" b="0">
                <a:solidFill>
                  <a:srgbClr val="2E2E2E"/>
                </a:solidFill>
                <a:latin typeface="Calibri"/>
              </a:rPr>
              <a:t>accounting for</a:t>
            </a:r>
          </a:p>
        </p:txBody>
      </p:sp>
      <p:pic>
        <p:nvPicPr>
          <p:cNvPr id="36" name="Picture 35" descr="lock.png"/>
          <p:cNvPicPr>
            <a:picLocks noChangeAspect="1"/>
          </p:cNvPicPr>
          <p:nvPr/>
        </p:nvPicPr>
        <p:blipFill>
          <a:blip r:embed="rId5"/>
          <a:stretch>
            <a:fillRect/>
          </a:stretch>
        </p:blipFill>
        <p:spPr>
          <a:xfrm>
            <a:off x="8712947" y="2090991"/>
            <a:ext cx="134549" cy="195707"/>
          </a:xfrm>
          <a:prstGeom prst="rect">
            <a:avLst/>
          </a:prstGeom>
        </p:spPr>
      </p:pic>
      <p:sp>
        <p:nvSpPr>
          <p:cNvPr id="37" name="TextBox 36"/>
          <p:cNvSpPr txBox="1"/>
          <p:nvPr/>
        </p:nvSpPr>
        <p:spPr>
          <a:xfrm>
            <a:off x="8888056" y="2101215"/>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38" name="TextBox 37"/>
          <p:cNvSpPr txBox="1"/>
          <p:nvPr/>
        </p:nvSpPr>
        <p:spPr>
          <a:xfrm>
            <a:off x="7829550" y="2329053"/>
            <a:ext cx="3294719" cy="194310"/>
          </a:xfrm>
          <a:prstGeom prst="rect">
            <a:avLst/>
          </a:prstGeom>
          <a:noFill/>
        </p:spPr>
        <p:txBody>
          <a:bodyPr wrap="none" lIns="0" rIns="0" tIns="0" bIns="0">
            <a:spAutoFit/>
          </a:bodyPr>
          <a:lstStyle/>
          <a:p>
            <a:r>
              <a:rPr sz="1150" b="0">
                <a:solidFill>
                  <a:srgbClr val="2E2E2E"/>
                </a:solidFill>
                <a:latin typeface="Calibri"/>
              </a:rPr>
              <a:t>The distributors &amp; traders segment is expected to lose</a:t>
            </a:r>
          </a:p>
        </p:txBody>
      </p:sp>
      <p:pic>
        <p:nvPicPr>
          <p:cNvPr id="39" name="Picture 38" descr="lock.png"/>
          <p:cNvPicPr>
            <a:picLocks noChangeAspect="1"/>
          </p:cNvPicPr>
          <p:nvPr/>
        </p:nvPicPr>
        <p:blipFill>
          <a:blip r:embed="rId5"/>
          <a:stretch>
            <a:fillRect/>
          </a:stretch>
        </p:blipFill>
        <p:spPr>
          <a:xfrm>
            <a:off x="11073423" y="2318829"/>
            <a:ext cx="134549" cy="195707"/>
          </a:xfrm>
          <a:prstGeom prst="rect">
            <a:avLst/>
          </a:prstGeom>
        </p:spPr>
      </p:pic>
      <p:sp>
        <p:nvSpPr>
          <p:cNvPr id="40" name="TextBox 39"/>
          <p:cNvSpPr txBox="1"/>
          <p:nvPr/>
        </p:nvSpPr>
        <p:spPr>
          <a:xfrm>
            <a:off x="11248533" y="2329053"/>
            <a:ext cx="598214" cy="194310"/>
          </a:xfrm>
          <a:prstGeom prst="rect">
            <a:avLst/>
          </a:prstGeom>
          <a:noFill/>
        </p:spPr>
        <p:txBody>
          <a:bodyPr wrap="none" lIns="0" rIns="0" tIns="0" bIns="0">
            <a:spAutoFit/>
          </a:bodyPr>
          <a:lstStyle/>
          <a:p>
            <a:r>
              <a:rPr sz="1150" b="0">
                <a:solidFill>
                  <a:srgbClr val="2E2E2E"/>
                </a:solidFill>
                <a:latin typeface="Calibri"/>
              </a:rPr>
              <a:t>BPS over</a:t>
            </a:r>
          </a:p>
        </p:txBody>
      </p:sp>
      <p:sp>
        <p:nvSpPr>
          <p:cNvPr id="41" name="TextBox 40"/>
          <p:cNvSpPr txBox="1"/>
          <p:nvPr/>
        </p:nvSpPr>
        <p:spPr>
          <a:xfrm>
            <a:off x="7829550" y="2504313"/>
            <a:ext cx="2083246" cy="194310"/>
          </a:xfrm>
          <a:prstGeom prst="rect">
            <a:avLst/>
          </a:prstGeom>
          <a:noFill/>
        </p:spPr>
        <p:txBody>
          <a:bodyPr wrap="none" lIns="0" rIns="0" tIns="0" bIns="0">
            <a:spAutoFit/>
          </a:bodyPr>
          <a:lstStyle/>
          <a:p>
            <a:r>
              <a:rPr sz="1150" b="0">
                <a:solidFill>
                  <a:srgbClr val="2E2E2E"/>
                </a:solidFill>
                <a:latin typeface="Calibri"/>
              </a:rPr>
              <a:t>the forecast period to account for</a:t>
            </a:r>
          </a:p>
        </p:txBody>
      </p:sp>
      <p:pic>
        <p:nvPicPr>
          <p:cNvPr id="42" name="Picture 41" descr="lock.png"/>
          <p:cNvPicPr>
            <a:picLocks noChangeAspect="1"/>
          </p:cNvPicPr>
          <p:nvPr/>
        </p:nvPicPr>
        <p:blipFill>
          <a:blip r:embed="rId5"/>
          <a:stretch>
            <a:fillRect/>
          </a:stretch>
        </p:blipFill>
        <p:spPr>
          <a:xfrm>
            <a:off x="9861950" y="2494089"/>
            <a:ext cx="134549" cy="195707"/>
          </a:xfrm>
          <a:prstGeom prst="rect">
            <a:avLst/>
          </a:prstGeom>
        </p:spPr>
      </p:pic>
      <p:sp>
        <p:nvSpPr>
          <p:cNvPr id="43" name="TextBox 42"/>
          <p:cNvSpPr txBox="1"/>
          <p:nvPr/>
        </p:nvSpPr>
        <p:spPr>
          <a:xfrm>
            <a:off x="10037059" y="2504313"/>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44" name="lockshield_9"/>
          <p:cNvSpPr/>
          <p:nvPr/>
        </p:nvSpPr>
        <p:spPr>
          <a:xfrm>
            <a:off x="238125" y="1581150"/>
            <a:ext cx="4614672" cy="49911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bg>
      <p:bgPr>
        <a:solidFill>
          <a:srgbClr val="F3F8FD"/>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3F8FD"/>
              </a:gs>
              <a:gs pos="100000">
                <a:srgbClr val="DCE9F6"/>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FE0F0">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9C8E6">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B7D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A5F8F"/>
              </a:gs>
              <a:gs pos="100000">
                <a:srgbClr val="6FA6D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MR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12</a:t>
            </a:r>
          </a:p>
        </p:txBody>
      </p:sp>
      <p:pic>
        <p:nvPicPr>
          <p:cNvPr id="8" name="Picture 7" descr="tmr_logo.png"/>
          <p:cNvPicPr>
            <a:picLocks noChangeAspect="1"/>
          </p:cNvPicPr>
          <p:nvPr/>
        </p:nvPicPr>
        <p:blipFill>
          <a:blip r:embed="rId2"/>
          <a:stretch>
            <a:fillRect/>
          </a:stretch>
        </p:blipFill>
        <p:spPr>
          <a:xfrm>
            <a:off x="411480" y="274320"/>
            <a:ext cx="1307592" cy="975505"/>
          </a:xfrm>
          <a:prstGeom prst="rect">
            <a:avLst/>
          </a:prstGeom>
        </p:spPr>
      </p:pic>
      <p:sp>
        <p:nvSpPr>
          <p:cNvPr id="9" name="TextBox 8"/>
          <p:cNvSpPr txBox="1"/>
          <p:nvPr/>
        </p:nvSpPr>
        <p:spPr>
          <a:xfrm>
            <a:off x="914400" y="2949575"/>
            <a:ext cx="8572500" cy="304800"/>
          </a:xfrm>
          <a:prstGeom prst="rect">
            <a:avLst/>
          </a:prstGeom>
          <a:noFill/>
        </p:spPr>
        <p:txBody>
          <a:bodyPr wrap="none" lIns="0" tIns="0">
            <a:spAutoFit/>
          </a:bodyPr>
          <a:lstStyle/>
          <a:p>
            <a:r>
              <a:rPr sz="1800" b="0">
                <a:solidFill>
                  <a:srgbClr val="2A5F8F"/>
                </a:solidFill>
                <a:latin typeface="Calibri"/>
              </a:rPr>
              <a:t>Egg Protein Membrane Market</a:t>
            </a:r>
          </a:p>
        </p:txBody>
      </p:sp>
      <p:sp>
        <p:nvSpPr>
          <p:cNvPr id="10" name="TMR Section Title"/>
          <p:cNvSpPr txBox="1"/>
          <p:nvPr/>
        </p:nvSpPr>
        <p:spPr>
          <a:xfrm>
            <a:off x="914400" y="3292475"/>
            <a:ext cx="8572500" cy="514350"/>
          </a:xfrm>
          <a:prstGeom prst="rect">
            <a:avLst/>
          </a:prstGeom>
          <a:noFill/>
        </p:spPr>
        <p:txBody>
          <a:bodyPr wrap="square" lIns="0" rIns="0" tIns="0">
            <a:spAutoFit/>
          </a:bodyPr>
          <a:lstStyle/>
          <a:p>
            <a:r>
              <a:rPr sz="3000" b="1">
                <a:solidFill>
                  <a:srgbClr val="0E2A5C"/>
                </a:solidFill>
                <a:latin typeface="Calibri"/>
              </a:rPr>
              <a:t>Cross-sectional Assessment</a:t>
            </a:r>
          </a:p>
        </p:txBody>
      </p:sp>
      <p:sp>
        <p:nvSpPr>
          <p:cNvPr id="11" name="TextBox 10"/>
          <p:cNvSpPr txBox="1"/>
          <p:nvPr/>
        </p:nvSpPr>
        <p:spPr>
          <a:xfrm>
            <a:off x="914400" y="3978275"/>
            <a:ext cx="8458200" cy="8826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Product Type × Source</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Product Type × Application</a:t>
            </a:r>
          </a:p>
        </p:txBody>
      </p:sp>
      <p:sp>
        <p:nvSpPr>
          <p:cNvPr id="12" name="Rectangle 11"/>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bg>
      <p:bgPr>
        <a:solidFill>
          <a:srgbClr val="F3F8FD"/>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3F8FD"/>
              </a:gs>
              <a:gs pos="100000">
                <a:srgbClr val="DCE9F6"/>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FE0F0">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9C8E6">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B7D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A5F8F"/>
              </a:gs>
              <a:gs pos="100000">
                <a:srgbClr val="6FA6D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MR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12.1</a:t>
            </a:r>
          </a:p>
        </p:txBody>
      </p:sp>
      <p:pic>
        <p:nvPicPr>
          <p:cNvPr id="8" name="Picture 7" descr="tmr_logo.png"/>
          <p:cNvPicPr>
            <a:picLocks noChangeAspect="1"/>
          </p:cNvPicPr>
          <p:nvPr/>
        </p:nvPicPr>
        <p:blipFill>
          <a:blip r:embed="rId2"/>
          <a:stretch>
            <a:fillRect/>
          </a:stretch>
        </p:blipFill>
        <p:spPr>
          <a:xfrm>
            <a:off x="411480" y="274320"/>
            <a:ext cx="1307592" cy="975505"/>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2A5F8F"/>
                </a:solidFill>
                <a:latin typeface="Calibri"/>
              </a:rPr>
              <a:t>Egg Protein Membrane Market</a:t>
            </a:r>
          </a:p>
        </p:txBody>
      </p:sp>
      <p:sp>
        <p:nvSpPr>
          <p:cNvPr id="10" name="TMR Section Title"/>
          <p:cNvSpPr txBox="1"/>
          <p:nvPr/>
        </p:nvSpPr>
        <p:spPr>
          <a:xfrm>
            <a:off x="914400" y="3095625"/>
            <a:ext cx="8572500" cy="514350"/>
          </a:xfrm>
          <a:prstGeom prst="rect">
            <a:avLst/>
          </a:prstGeom>
          <a:noFill/>
        </p:spPr>
        <p:txBody>
          <a:bodyPr wrap="square" lIns="0" rIns="0" tIns="0">
            <a:spAutoFit/>
          </a:bodyPr>
          <a:lstStyle/>
          <a:p>
            <a:r>
              <a:rPr sz="3000" b="1">
                <a:solidFill>
                  <a:srgbClr val="0E2A5C"/>
                </a:solidFill>
                <a:latin typeface="Calibri"/>
              </a:rPr>
              <a:t>Product Type × Source</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Snapshot</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Share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Opportunity &amp; Attractiveness</a:t>
            </a:r>
          </a:p>
        </p:txBody>
      </p:sp>
      <p:sp>
        <p:nvSpPr>
          <p:cNvPr id="12" name="Rectangle 11"/>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Snapshot: Product Type × Source, 2026E vs 2036F</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North America market value (US$ Mn) for each product type sub-segment across source sub-segments</a:t>
            </a:r>
          </a:p>
        </p:txBody>
      </p:sp>
      <p:sp>
        <p:nvSpPr>
          <p:cNvPr id="7" name="Rounded Rectangle 6"/>
          <p:cNvSpPr/>
          <p:nvPr/>
        </p:nvSpPr>
        <p:spPr>
          <a:xfrm>
            <a:off x="142875" y="981075"/>
            <a:ext cx="11906250" cy="1952625"/>
          </a:xfrm>
          <a:prstGeom prst="roundRect">
            <a:avLst>
              <a:gd name="adj" fmla="val 3902"/>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Market Value, Product Type × Source, 2026E and 2036F (US$ Mn)</a:t>
            </a:r>
          </a:p>
        </p:txBody>
      </p:sp>
      <p:graphicFrame>
        <p:nvGraphicFramePr>
          <p:cNvPr id="9" name="Table 8"/>
          <p:cNvGraphicFramePr>
            <a:graphicFrameLocks noGrp="1"/>
          </p:cNvGraphicFramePr>
          <p:nvPr/>
        </p:nvGraphicFramePr>
        <p:xfrm>
          <a:off x="152400" y="1238250"/>
          <a:ext cx="11887198" cy="1485896"/>
        </p:xfrm>
        <a:graphic>
          <a:graphicData uri="http://schemas.openxmlformats.org/drawingml/2006/table">
            <a:tbl>
              <a:tblPr>
                <a:tableStyleId>{5C22544A-7EE6-4342-B048-85BDC9FD1C3A}</a:tableStyleId>
              </a:tblPr>
              <a:tblGrid>
                <a:gridCol w="5341588"/>
                <a:gridCol w="1090935"/>
                <a:gridCol w="1090935"/>
                <a:gridCol w="1090935"/>
                <a:gridCol w="1090935"/>
                <a:gridCol w="1090935"/>
                <a:gridCol w="1090935"/>
              </a:tblGrid>
              <a:tr h="246126">
                <a:tc rowSpan="2">
                  <a:txBody>
                    <a:bodyPr wrap="none"/>
                    <a:lstStyle/>
                    <a:p>
                      <a:pPr algn="l"/>
                      <a:r>
                        <a:rPr sz="1100" b="1">
                          <a:solidFill>
                            <a:srgbClr val="0E2A5C"/>
                          </a:solidFill>
                          <a:latin typeface="Calibri"/>
                        </a:rPr>
                        <a:t>Product Type</a:t>
                      </a:r>
                      <a:endParaRPr sz="1100"/>
                    </a:p>
                  </a:txBody>
                  <a:tcPr marL="47625" marR="38100" marT="19050" marB="19050" anchor="ctr">
                    <a:solidFill>
                      <a:srgbClr val="EBF2F9"/>
                    </a:solidFill>
                  </a:tcPr>
                </a:tc>
                <a:tc gridSpan="2">
                  <a:txBody>
                    <a:bodyPr wrap="none"/>
                    <a:lstStyle/>
                    <a:p>
                      <a:pPr algn="ctr"/>
                      <a:r>
                        <a:rPr sz="1100" b="1">
                          <a:solidFill>
                            <a:srgbClr val="0E2A5C"/>
                          </a:solidFill>
                          <a:latin typeface="Calibri"/>
                        </a:rPr>
                        <a:t>Chicken Eggshell Membrane</a:t>
                      </a:r>
                      <a:endParaRPr sz="1100"/>
                    </a:p>
                  </a:txBody>
                  <a:tcPr marL="47625" marR="38100" marT="19050" marB="19050" anchor="ctr">
                    <a:solidFill>
                      <a:srgbClr val="EBF2F9"/>
                    </a:solidFill>
                  </a:tcPr>
                </a:tc>
                <a:tc hMerge="1">
                  <a:txBody>
                    <a:bodyPr wrap="none"/>
                    <a:lstStyle/>
                    <a:p>
                      <a:pPr algn="ctr"/>
                      <a:endParaRPr sz="1100"/>
                    </a:p>
                  </a:txBody>
                  <a:tcPr marL="47625" marR="38100" marT="19050" marB="19050" anchor="ctr">
                    <a:solidFill>
                      <a:srgbClr val="EBF2F9"/>
                    </a:solidFill>
                  </a:tcPr>
                </a:tc>
                <a:tc gridSpan="2">
                  <a:txBody>
                    <a:bodyPr wrap="none"/>
                    <a:lstStyle/>
                    <a:p>
                      <a:pPr algn="ctr"/>
                      <a:r>
                        <a:rPr sz="1100" b="1">
                          <a:solidFill>
                            <a:srgbClr val="0E2A5C"/>
                          </a:solidFill>
                          <a:latin typeface="Calibri"/>
                        </a:rPr>
                        <a:t>Other Poultry Eggshell Membrane</a:t>
                      </a:r>
                      <a:endParaRPr sz="1100"/>
                    </a:p>
                  </a:txBody>
                  <a:tcPr marL="47625" marR="38100" marT="19050" marB="19050" anchor="ctr">
                    <a:solidFill>
                      <a:srgbClr val="EBF2F9"/>
                    </a:solidFill>
                  </a:tcPr>
                </a:tc>
                <a:tc hMerge="1">
                  <a:txBody>
                    <a:bodyPr wrap="none"/>
                    <a:lstStyle/>
                    <a:p>
                      <a:pPr algn="ctr"/>
                      <a:endParaRPr sz="1100"/>
                    </a:p>
                  </a:txBody>
                  <a:tcPr marL="47625" marR="38100" marT="19050" marB="19050" anchor="ctr">
                    <a:solidFill>
                      <a:srgbClr val="EBF2F9"/>
                    </a:solidFill>
                  </a:tcPr>
                </a:tc>
                <a:tc gridSpan="2">
                  <a:txBody>
                    <a:bodyPr wrap="none"/>
                    <a:lstStyle/>
                    <a:p>
                      <a:pPr algn="ctr"/>
                      <a:r>
                        <a:rPr sz="1100" b="1">
                          <a:solidFill>
                            <a:srgbClr val="0E2A5C"/>
                          </a:solidFill>
                          <a:latin typeface="Calibri"/>
                        </a:rPr>
                        <a:t>Total</a:t>
                      </a:r>
                      <a:endParaRPr sz="1100"/>
                    </a:p>
                  </a:txBody>
                  <a:tcPr marL="47625" marR="38100" marT="19050" marB="19050" anchor="ctr">
                    <a:solidFill>
                      <a:srgbClr val="EBF2F9"/>
                    </a:solidFill>
                  </a:tcPr>
                </a:tc>
                <a:tc hMerge="1">
                  <a:txBody>
                    <a:bodyPr wrap="none"/>
                    <a:lstStyle/>
                    <a:p>
                      <a:pPr algn="ctr"/>
                      <a:endParaRPr sz="1100"/>
                    </a:p>
                  </a:txBody>
                  <a:tcPr marL="47625" marR="38100" marT="19050" marB="19050" anchor="ctr">
                    <a:solidFill>
                      <a:srgbClr val="EBF2F9"/>
                    </a:solidFill>
                  </a:tcPr>
                </a:tc>
              </a:tr>
              <a:tr h="247954">
                <a:tc vMerge="1">
                  <a:txBody>
                    <a:bodyPr wrap="none"/>
                    <a:lstStyle/>
                    <a:p>
                      <a:pPr algn="l"/>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2026E</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2036F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2026E</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2036F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2026E</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2036F</a:t>
                      </a:r>
                      <a:endParaRPr sz="1100"/>
                    </a:p>
                  </a:txBody>
                  <a:tcPr marL="47625" marR="38100" marT="19050" marB="19050" anchor="ctr">
                    <a:solidFill>
                      <a:srgbClr val="EBF2F9"/>
                    </a:solidFill>
                  </a:tcPr>
                </a:tc>
              </a:tr>
              <a:tr h="247954">
                <a:tc>
                  <a:txBody>
                    <a:bodyPr wrap="none"/>
                    <a:lstStyle/>
                    <a:p>
                      <a:pPr algn="l"/>
                      <a:r>
                        <a:rPr sz="1100" b="1">
                          <a:solidFill>
                            <a:srgbClr val="2E2E2E"/>
                          </a:solidFill>
                          <a:latin typeface="Calibri"/>
                        </a:rPr>
                        <a:t>Micronized Eggshell Membrane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954">
                <a:tc>
                  <a:txBody>
                    <a:bodyPr wrap="none"/>
                    <a:lstStyle/>
                    <a:p>
                      <a:pPr algn="l"/>
                      <a:r>
                        <a:rPr sz="1100" b="1">
                          <a:solidFill>
                            <a:srgbClr val="2E2E2E"/>
                          </a:solidFill>
                          <a:latin typeface="Calibri"/>
                        </a:rPr>
                        <a:t>Hydrolyzed Eggshell Membrane</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7954">
                <a:tc>
                  <a:txBody>
                    <a:bodyPr wrap="none"/>
                    <a:lstStyle/>
                    <a:p>
                      <a:pPr algn="l"/>
                      <a:r>
                        <a:rPr sz="1100" b="1">
                          <a:solidFill>
                            <a:srgbClr val="2E2E2E"/>
                          </a:solidFill>
                          <a:latin typeface="Calibri"/>
                        </a:rPr>
                        <a:t>Specialty Extracted Protein Fractions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954">
                <a:tc>
                  <a:txBody>
                    <a:bodyPr wrap="none"/>
                    <a:lstStyle/>
                    <a:p>
                      <a:pPr algn="l"/>
                      <a:r>
                        <a:rPr sz="1100" b="1">
                          <a:solidFill>
                            <a:srgbClr val="2E2E2E"/>
                          </a:solidFill>
                          <a:latin typeface="Calibri"/>
                        </a:rPr>
                        <a:t>Total</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r>
            </a:tbl>
          </a:graphicData>
        </a:graphic>
      </p:graphicFrame>
      <p:sp>
        <p:nvSpPr>
          <p:cNvPr id="10" name="TextBox 9"/>
          <p:cNvSpPr txBox="1"/>
          <p:nvPr/>
        </p:nvSpPr>
        <p:spPr>
          <a:xfrm>
            <a:off x="219075" y="273367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11" name="Rounded Rectangle 10"/>
          <p:cNvSpPr/>
          <p:nvPr/>
        </p:nvSpPr>
        <p:spPr>
          <a:xfrm>
            <a:off x="142875" y="3067050"/>
            <a:ext cx="7286625" cy="3562350"/>
          </a:xfrm>
          <a:prstGeom prst="roundRect">
            <a:avLst>
              <a:gd name="adj" fmla="val 213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3124200"/>
            <a:ext cx="70961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Flow, Product Type → Source, 2036F (US$ Mn)</a:t>
            </a:r>
          </a:p>
        </p:txBody>
      </p:sp>
      <p:sp>
        <p:nvSpPr>
          <p:cNvPr id="13" name="Freeform 12"/>
          <p:cNvSpPr/>
          <p:nvPr/>
        </p:nvSpPr>
        <p:spPr>
          <a:xfrm>
            <a:off x="2057400" y="3390900"/>
            <a:ext cx="3743325" cy="838200"/>
          </a:xfrm>
          <a:custGeom>
            <a:avLst/>
            <a:gdLst/>
            <a:ahLst/>
            <a:cxnLst/>
            <a:rect l="l" t="t" r="r" b="b"/>
            <a:pathLst>
              <a:path w="393" h="88">
                <a:moveTo>
                  <a:pt x="0" y="0"/>
                </a:moveTo>
                <a:lnTo>
                  <a:pt x="16" y="0"/>
                </a:lnTo>
                <a:lnTo>
                  <a:pt x="33" y="0"/>
                </a:lnTo>
                <a:lnTo>
                  <a:pt x="49" y="0"/>
                </a:lnTo>
                <a:lnTo>
                  <a:pt x="65" y="0"/>
                </a:lnTo>
                <a:lnTo>
                  <a:pt x="82" y="0"/>
                </a:lnTo>
                <a:lnTo>
                  <a:pt x="98" y="0"/>
                </a:lnTo>
                <a:lnTo>
                  <a:pt x="114" y="1"/>
                </a:lnTo>
                <a:lnTo>
                  <a:pt x="131" y="1"/>
                </a:lnTo>
                <a:lnTo>
                  <a:pt x="147" y="1"/>
                </a:lnTo>
                <a:lnTo>
                  <a:pt x="164" y="1"/>
                </a:lnTo>
                <a:lnTo>
                  <a:pt x="180" y="1"/>
                </a:lnTo>
                <a:lnTo>
                  <a:pt x="196" y="2"/>
                </a:lnTo>
                <a:lnTo>
                  <a:pt x="213" y="2"/>
                </a:lnTo>
                <a:lnTo>
                  <a:pt x="229" y="2"/>
                </a:lnTo>
                <a:lnTo>
                  <a:pt x="246" y="2"/>
                </a:lnTo>
                <a:lnTo>
                  <a:pt x="262" y="2"/>
                </a:lnTo>
                <a:lnTo>
                  <a:pt x="278" y="2"/>
                </a:lnTo>
                <a:lnTo>
                  <a:pt x="295" y="3"/>
                </a:lnTo>
                <a:lnTo>
                  <a:pt x="311" y="3"/>
                </a:lnTo>
                <a:lnTo>
                  <a:pt x="327" y="3"/>
                </a:lnTo>
                <a:lnTo>
                  <a:pt x="344" y="3"/>
                </a:lnTo>
                <a:lnTo>
                  <a:pt x="360" y="3"/>
                </a:lnTo>
                <a:lnTo>
                  <a:pt x="377" y="3"/>
                </a:lnTo>
                <a:lnTo>
                  <a:pt x="393" y="3"/>
                </a:lnTo>
                <a:lnTo>
                  <a:pt x="393" y="88"/>
                </a:lnTo>
                <a:lnTo>
                  <a:pt x="377" y="88"/>
                </a:lnTo>
                <a:lnTo>
                  <a:pt x="360" y="88"/>
                </a:lnTo>
                <a:lnTo>
                  <a:pt x="344" y="88"/>
                </a:lnTo>
                <a:lnTo>
                  <a:pt x="327" y="88"/>
                </a:lnTo>
                <a:lnTo>
                  <a:pt x="311" y="87"/>
                </a:lnTo>
                <a:lnTo>
                  <a:pt x="295" y="87"/>
                </a:lnTo>
                <a:lnTo>
                  <a:pt x="278" y="87"/>
                </a:lnTo>
                <a:lnTo>
                  <a:pt x="262" y="87"/>
                </a:lnTo>
                <a:lnTo>
                  <a:pt x="246" y="87"/>
                </a:lnTo>
                <a:lnTo>
                  <a:pt x="229" y="87"/>
                </a:lnTo>
                <a:lnTo>
                  <a:pt x="213" y="86"/>
                </a:lnTo>
                <a:lnTo>
                  <a:pt x="196" y="86"/>
                </a:lnTo>
                <a:lnTo>
                  <a:pt x="180" y="86"/>
                </a:lnTo>
                <a:lnTo>
                  <a:pt x="164" y="86"/>
                </a:lnTo>
                <a:lnTo>
                  <a:pt x="147" y="86"/>
                </a:lnTo>
                <a:lnTo>
                  <a:pt x="131" y="86"/>
                </a:lnTo>
                <a:lnTo>
                  <a:pt x="114" y="85"/>
                </a:lnTo>
                <a:lnTo>
                  <a:pt x="98" y="85"/>
                </a:lnTo>
                <a:lnTo>
                  <a:pt x="82" y="85"/>
                </a:lnTo>
                <a:lnTo>
                  <a:pt x="65" y="85"/>
                </a:lnTo>
                <a:lnTo>
                  <a:pt x="49" y="85"/>
                </a:lnTo>
                <a:lnTo>
                  <a:pt x="33" y="85"/>
                </a:lnTo>
                <a:lnTo>
                  <a:pt x="16" y="85"/>
                </a:lnTo>
                <a:lnTo>
                  <a:pt x="0" y="85"/>
                </a:lnTo>
                <a:close/>
              </a:path>
            </a:pathLst>
          </a:custGeom>
          <a:solidFill>
            <a:srgbClr val="2A5F8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Freeform 13"/>
          <p:cNvSpPr/>
          <p:nvPr/>
        </p:nvSpPr>
        <p:spPr>
          <a:xfrm>
            <a:off x="2057400" y="4200525"/>
            <a:ext cx="3743325" cy="1895475"/>
          </a:xfrm>
          <a:custGeom>
            <a:avLst/>
            <a:gdLst/>
            <a:ahLst/>
            <a:cxnLst/>
            <a:rect l="l" t="t" r="r" b="b"/>
            <a:pathLst>
              <a:path w="393" h="199">
                <a:moveTo>
                  <a:pt x="0" y="0"/>
                </a:moveTo>
                <a:lnTo>
                  <a:pt x="16" y="1"/>
                </a:lnTo>
                <a:lnTo>
                  <a:pt x="33" y="3"/>
                </a:lnTo>
                <a:lnTo>
                  <a:pt x="49" y="7"/>
                </a:lnTo>
                <a:lnTo>
                  <a:pt x="65" y="13"/>
                </a:lnTo>
                <a:lnTo>
                  <a:pt x="82" y="20"/>
                </a:lnTo>
                <a:lnTo>
                  <a:pt x="98" y="28"/>
                </a:lnTo>
                <a:lnTo>
                  <a:pt x="114" y="36"/>
                </a:lnTo>
                <a:lnTo>
                  <a:pt x="131" y="46"/>
                </a:lnTo>
                <a:lnTo>
                  <a:pt x="147" y="56"/>
                </a:lnTo>
                <a:lnTo>
                  <a:pt x="164" y="67"/>
                </a:lnTo>
                <a:lnTo>
                  <a:pt x="180" y="78"/>
                </a:lnTo>
                <a:lnTo>
                  <a:pt x="196" y="89"/>
                </a:lnTo>
                <a:lnTo>
                  <a:pt x="213" y="100"/>
                </a:lnTo>
                <a:lnTo>
                  <a:pt x="229" y="111"/>
                </a:lnTo>
                <a:lnTo>
                  <a:pt x="246" y="122"/>
                </a:lnTo>
                <a:lnTo>
                  <a:pt x="262" y="132"/>
                </a:lnTo>
                <a:lnTo>
                  <a:pt x="278" y="142"/>
                </a:lnTo>
                <a:lnTo>
                  <a:pt x="295" y="150"/>
                </a:lnTo>
                <a:lnTo>
                  <a:pt x="311" y="158"/>
                </a:lnTo>
                <a:lnTo>
                  <a:pt x="327" y="165"/>
                </a:lnTo>
                <a:lnTo>
                  <a:pt x="344" y="171"/>
                </a:lnTo>
                <a:lnTo>
                  <a:pt x="360" y="175"/>
                </a:lnTo>
                <a:lnTo>
                  <a:pt x="377" y="177"/>
                </a:lnTo>
                <a:lnTo>
                  <a:pt x="393" y="178"/>
                </a:lnTo>
                <a:lnTo>
                  <a:pt x="393" y="199"/>
                </a:lnTo>
                <a:lnTo>
                  <a:pt x="377" y="199"/>
                </a:lnTo>
                <a:lnTo>
                  <a:pt x="360" y="196"/>
                </a:lnTo>
                <a:lnTo>
                  <a:pt x="344" y="192"/>
                </a:lnTo>
                <a:lnTo>
                  <a:pt x="327" y="186"/>
                </a:lnTo>
                <a:lnTo>
                  <a:pt x="311" y="179"/>
                </a:lnTo>
                <a:lnTo>
                  <a:pt x="295" y="172"/>
                </a:lnTo>
                <a:lnTo>
                  <a:pt x="278" y="163"/>
                </a:lnTo>
                <a:lnTo>
                  <a:pt x="262" y="153"/>
                </a:lnTo>
                <a:lnTo>
                  <a:pt x="246" y="143"/>
                </a:lnTo>
                <a:lnTo>
                  <a:pt x="229" y="132"/>
                </a:lnTo>
                <a:lnTo>
                  <a:pt x="213" y="121"/>
                </a:lnTo>
                <a:lnTo>
                  <a:pt x="196" y="110"/>
                </a:lnTo>
                <a:lnTo>
                  <a:pt x="180" y="99"/>
                </a:lnTo>
                <a:lnTo>
                  <a:pt x="164" y="88"/>
                </a:lnTo>
                <a:lnTo>
                  <a:pt x="147" y="77"/>
                </a:lnTo>
                <a:lnTo>
                  <a:pt x="131" y="67"/>
                </a:lnTo>
                <a:lnTo>
                  <a:pt x="114" y="58"/>
                </a:lnTo>
                <a:lnTo>
                  <a:pt x="98" y="49"/>
                </a:lnTo>
                <a:lnTo>
                  <a:pt x="82" y="41"/>
                </a:lnTo>
                <a:lnTo>
                  <a:pt x="65" y="34"/>
                </a:lnTo>
                <a:lnTo>
                  <a:pt x="49" y="29"/>
                </a:lnTo>
                <a:lnTo>
                  <a:pt x="33" y="25"/>
                </a:lnTo>
                <a:lnTo>
                  <a:pt x="16" y="22"/>
                </a:lnTo>
                <a:lnTo>
                  <a:pt x="0" y="21"/>
                </a:lnTo>
                <a:close/>
              </a:path>
            </a:pathLst>
          </a:custGeom>
          <a:solidFill>
            <a:srgbClr val="2A5F8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Freeform 14"/>
          <p:cNvSpPr/>
          <p:nvPr/>
        </p:nvSpPr>
        <p:spPr>
          <a:xfrm>
            <a:off x="2057400" y="4229100"/>
            <a:ext cx="3743325" cy="1038225"/>
          </a:xfrm>
          <a:custGeom>
            <a:avLst/>
            <a:gdLst/>
            <a:ahLst/>
            <a:cxnLst/>
            <a:rect l="l" t="t" r="r" b="b"/>
            <a:pathLst>
              <a:path w="393" h="109">
                <a:moveTo>
                  <a:pt x="0" y="24"/>
                </a:moveTo>
                <a:lnTo>
                  <a:pt x="16" y="24"/>
                </a:lnTo>
                <a:lnTo>
                  <a:pt x="33" y="24"/>
                </a:lnTo>
                <a:lnTo>
                  <a:pt x="49" y="23"/>
                </a:lnTo>
                <a:lnTo>
                  <a:pt x="65" y="22"/>
                </a:lnTo>
                <a:lnTo>
                  <a:pt x="82" y="21"/>
                </a:lnTo>
                <a:lnTo>
                  <a:pt x="98" y="20"/>
                </a:lnTo>
                <a:lnTo>
                  <a:pt x="114" y="19"/>
                </a:lnTo>
                <a:lnTo>
                  <a:pt x="131" y="18"/>
                </a:lnTo>
                <a:lnTo>
                  <a:pt x="147" y="16"/>
                </a:lnTo>
                <a:lnTo>
                  <a:pt x="164" y="15"/>
                </a:lnTo>
                <a:lnTo>
                  <a:pt x="180" y="13"/>
                </a:lnTo>
                <a:lnTo>
                  <a:pt x="196" y="12"/>
                </a:lnTo>
                <a:lnTo>
                  <a:pt x="213" y="10"/>
                </a:lnTo>
                <a:lnTo>
                  <a:pt x="229" y="9"/>
                </a:lnTo>
                <a:lnTo>
                  <a:pt x="246" y="7"/>
                </a:lnTo>
                <a:lnTo>
                  <a:pt x="262" y="6"/>
                </a:lnTo>
                <a:lnTo>
                  <a:pt x="278" y="5"/>
                </a:lnTo>
                <a:lnTo>
                  <a:pt x="295" y="4"/>
                </a:lnTo>
                <a:lnTo>
                  <a:pt x="311" y="2"/>
                </a:lnTo>
                <a:lnTo>
                  <a:pt x="327" y="2"/>
                </a:lnTo>
                <a:lnTo>
                  <a:pt x="344" y="1"/>
                </a:lnTo>
                <a:lnTo>
                  <a:pt x="360" y="0"/>
                </a:lnTo>
                <a:lnTo>
                  <a:pt x="377" y="0"/>
                </a:lnTo>
                <a:lnTo>
                  <a:pt x="393" y="0"/>
                </a:lnTo>
                <a:lnTo>
                  <a:pt x="393" y="84"/>
                </a:lnTo>
                <a:lnTo>
                  <a:pt x="377" y="85"/>
                </a:lnTo>
                <a:lnTo>
                  <a:pt x="360" y="85"/>
                </a:lnTo>
                <a:lnTo>
                  <a:pt x="344" y="86"/>
                </a:lnTo>
                <a:lnTo>
                  <a:pt x="327" y="86"/>
                </a:lnTo>
                <a:lnTo>
                  <a:pt x="311" y="87"/>
                </a:lnTo>
                <a:lnTo>
                  <a:pt x="295" y="88"/>
                </a:lnTo>
                <a:lnTo>
                  <a:pt x="278" y="89"/>
                </a:lnTo>
                <a:lnTo>
                  <a:pt x="262" y="91"/>
                </a:lnTo>
                <a:lnTo>
                  <a:pt x="246" y="92"/>
                </a:lnTo>
                <a:lnTo>
                  <a:pt x="229" y="94"/>
                </a:lnTo>
                <a:lnTo>
                  <a:pt x="213" y="95"/>
                </a:lnTo>
                <a:lnTo>
                  <a:pt x="196" y="97"/>
                </a:lnTo>
                <a:lnTo>
                  <a:pt x="180" y="98"/>
                </a:lnTo>
                <a:lnTo>
                  <a:pt x="164" y="100"/>
                </a:lnTo>
                <a:lnTo>
                  <a:pt x="147" y="101"/>
                </a:lnTo>
                <a:lnTo>
                  <a:pt x="131" y="102"/>
                </a:lnTo>
                <a:lnTo>
                  <a:pt x="114" y="104"/>
                </a:lnTo>
                <a:lnTo>
                  <a:pt x="98" y="105"/>
                </a:lnTo>
                <a:lnTo>
                  <a:pt x="82" y="106"/>
                </a:lnTo>
                <a:lnTo>
                  <a:pt x="65" y="107"/>
                </a:lnTo>
                <a:lnTo>
                  <a:pt x="49" y="108"/>
                </a:lnTo>
                <a:lnTo>
                  <a:pt x="33" y="108"/>
                </a:lnTo>
                <a:lnTo>
                  <a:pt x="16" y="109"/>
                </a:lnTo>
                <a:lnTo>
                  <a:pt x="0" y="109"/>
                </a:lnTo>
                <a:close/>
              </a:path>
            </a:pathLst>
          </a:custGeom>
          <a:solidFill>
            <a:srgbClr val="0081E2">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Freeform 15"/>
          <p:cNvSpPr/>
          <p:nvPr/>
        </p:nvSpPr>
        <p:spPr>
          <a:xfrm>
            <a:off x="2057400" y="5267325"/>
            <a:ext cx="3743325" cy="1038225"/>
          </a:xfrm>
          <a:custGeom>
            <a:avLst/>
            <a:gdLst/>
            <a:ahLst/>
            <a:cxnLst/>
            <a:rect l="l" t="t" r="r" b="b"/>
            <a:pathLst>
              <a:path w="393" h="109">
                <a:moveTo>
                  <a:pt x="0" y="0"/>
                </a:moveTo>
                <a:lnTo>
                  <a:pt x="16" y="0"/>
                </a:lnTo>
                <a:lnTo>
                  <a:pt x="33" y="1"/>
                </a:lnTo>
                <a:lnTo>
                  <a:pt x="49" y="4"/>
                </a:lnTo>
                <a:lnTo>
                  <a:pt x="65" y="6"/>
                </a:lnTo>
                <a:lnTo>
                  <a:pt x="82" y="10"/>
                </a:lnTo>
                <a:lnTo>
                  <a:pt x="98" y="13"/>
                </a:lnTo>
                <a:lnTo>
                  <a:pt x="114" y="18"/>
                </a:lnTo>
                <a:lnTo>
                  <a:pt x="131" y="22"/>
                </a:lnTo>
                <a:lnTo>
                  <a:pt x="147" y="28"/>
                </a:lnTo>
                <a:lnTo>
                  <a:pt x="164" y="33"/>
                </a:lnTo>
                <a:lnTo>
                  <a:pt x="180" y="38"/>
                </a:lnTo>
                <a:lnTo>
                  <a:pt x="196" y="44"/>
                </a:lnTo>
                <a:lnTo>
                  <a:pt x="213" y="49"/>
                </a:lnTo>
                <a:lnTo>
                  <a:pt x="229" y="54"/>
                </a:lnTo>
                <a:lnTo>
                  <a:pt x="246" y="60"/>
                </a:lnTo>
                <a:lnTo>
                  <a:pt x="262" y="65"/>
                </a:lnTo>
                <a:lnTo>
                  <a:pt x="278" y="69"/>
                </a:lnTo>
                <a:lnTo>
                  <a:pt x="295" y="74"/>
                </a:lnTo>
                <a:lnTo>
                  <a:pt x="311" y="78"/>
                </a:lnTo>
                <a:lnTo>
                  <a:pt x="327" y="81"/>
                </a:lnTo>
                <a:lnTo>
                  <a:pt x="344" y="84"/>
                </a:lnTo>
                <a:lnTo>
                  <a:pt x="360" y="86"/>
                </a:lnTo>
                <a:lnTo>
                  <a:pt x="377" y="87"/>
                </a:lnTo>
                <a:lnTo>
                  <a:pt x="393" y="87"/>
                </a:lnTo>
                <a:lnTo>
                  <a:pt x="393" y="109"/>
                </a:lnTo>
                <a:lnTo>
                  <a:pt x="377" y="108"/>
                </a:lnTo>
                <a:lnTo>
                  <a:pt x="360" y="107"/>
                </a:lnTo>
                <a:lnTo>
                  <a:pt x="344" y="105"/>
                </a:lnTo>
                <a:lnTo>
                  <a:pt x="327" y="102"/>
                </a:lnTo>
                <a:lnTo>
                  <a:pt x="311" y="99"/>
                </a:lnTo>
                <a:lnTo>
                  <a:pt x="295" y="95"/>
                </a:lnTo>
                <a:lnTo>
                  <a:pt x="278" y="91"/>
                </a:lnTo>
                <a:lnTo>
                  <a:pt x="262" y="86"/>
                </a:lnTo>
                <a:lnTo>
                  <a:pt x="246" y="81"/>
                </a:lnTo>
                <a:lnTo>
                  <a:pt x="229" y="76"/>
                </a:lnTo>
                <a:lnTo>
                  <a:pt x="213" y="70"/>
                </a:lnTo>
                <a:lnTo>
                  <a:pt x="196" y="65"/>
                </a:lnTo>
                <a:lnTo>
                  <a:pt x="180" y="59"/>
                </a:lnTo>
                <a:lnTo>
                  <a:pt x="164" y="54"/>
                </a:lnTo>
                <a:lnTo>
                  <a:pt x="147" y="49"/>
                </a:lnTo>
                <a:lnTo>
                  <a:pt x="131" y="44"/>
                </a:lnTo>
                <a:lnTo>
                  <a:pt x="114" y="39"/>
                </a:lnTo>
                <a:lnTo>
                  <a:pt x="98" y="35"/>
                </a:lnTo>
                <a:lnTo>
                  <a:pt x="82" y="31"/>
                </a:lnTo>
                <a:lnTo>
                  <a:pt x="65" y="27"/>
                </a:lnTo>
                <a:lnTo>
                  <a:pt x="49" y="25"/>
                </a:lnTo>
                <a:lnTo>
                  <a:pt x="33" y="23"/>
                </a:lnTo>
                <a:lnTo>
                  <a:pt x="16" y="21"/>
                </a:lnTo>
                <a:lnTo>
                  <a:pt x="0" y="21"/>
                </a:lnTo>
                <a:close/>
              </a:path>
            </a:pathLst>
          </a:custGeom>
          <a:solidFill>
            <a:srgbClr val="0081E2">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Freeform 16"/>
          <p:cNvSpPr/>
          <p:nvPr/>
        </p:nvSpPr>
        <p:spPr>
          <a:xfrm>
            <a:off x="2057400" y="5029200"/>
            <a:ext cx="3743325" cy="1304925"/>
          </a:xfrm>
          <a:custGeom>
            <a:avLst/>
            <a:gdLst/>
            <a:ahLst/>
            <a:cxnLst/>
            <a:rect l="l" t="t" r="r" b="b"/>
            <a:pathLst>
              <a:path w="393" h="137">
                <a:moveTo>
                  <a:pt x="0" y="52"/>
                </a:moveTo>
                <a:lnTo>
                  <a:pt x="16" y="52"/>
                </a:lnTo>
                <a:lnTo>
                  <a:pt x="33" y="51"/>
                </a:lnTo>
                <a:lnTo>
                  <a:pt x="49" y="50"/>
                </a:lnTo>
                <a:lnTo>
                  <a:pt x="65" y="48"/>
                </a:lnTo>
                <a:lnTo>
                  <a:pt x="82" y="46"/>
                </a:lnTo>
                <a:lnTo>
                  <a:pt x="98" y="44"/>
                </a:lnTo>
                <a:lnTo>
                  <a:pt x="114" y="41"/>
                </a:lnTo>
                <a:lnTo>
                  <a:pt x="131" y="39"/>
                </a:lnTo>
                <a:lnTo>
                  <a:pt x="147" y="36"/>
                </a:lnTo>
                <a:lnTo>
                  <a:pt x="164" y="33"/>
                </a:lnTo>
                <a:lnTo>
                  <a:pt x="180" y="29"/>
                </a:lnTo>
                <a:lnTo>
                  <a:pt x="196" y="26"/>
                </a:lnTo>
                <a:lnTo>
                  <a:pt x="213" y="23"/>
                </a:lnTo>
                <a:lnTo>
                  <a:pt x="229" y="20"/>
                </a:lnTo>
                <a:lnTo>
                  <a:pt x="246" y="17"/>
                </a:lnTo>
                <a:lnTo>
                  <a:pt x="262" y="14"/>
                </a:lnTo>
                <a:lnTo>
                  <a:pt x="278" y="11"/>
                </a:lnTo>
                <a:lnTo>
                  <a:pt x="295" y="9"/>
                </a:lnTo>
                <a:lnTo>
                  <a:pt x="311" y="6"/>
                </a:lnTo>
                <a:lnTo>
                  <a:pt x="327" y="4"/>
                </a:lnTo>
                <a:lnTo>
                  <a:pt x="344" y="3"/>
                </a:lnTo>
                <a:lnTo>
                  <a:pt x="360" y="2"/>
                </a:lnTo>
                <a:lnTo>
                  <a:pt x="377" y="1"/>
                </a:lnTo>
                <a:lnTo>
                  <a:pt x="393" y="0"/>
                </a:lnTo>
                <a:lnTo>
                  <a:pt x="393" y="85"/>
                </a:lnTo>
                <a:lnTo>
                  <a:pt x="377" y="85"/>
                </a:lnTo>
                <a:lnTo>
                  <a:pt x="360" y="86"/>
                </a:lnTo>
                <a:lnTo>
                  <a:pt x="344" y="87"/>
                </a:lnTo>
                <a:lnTo>
                  <a:pt x="327" y="89"/>
                </a:lnTo>
                <a:lnTo>
                  <a:pt x="311" y="91"/>
                </a:lnTo>
                <a:lnTo>
                  <a:pt x="295" y="93"/>
                </a:lnTo>
                <a:lnTo>
                  <a:pt x="278" y="96"/>
                </a:lnTo>
                <a:lnTo>
                  <a:pt x="262" y="99"/>
                </a:lnTo>
                <a:lnTo>
                  <a:pt x="246" y="102"/>
                </a:lnTo>
                <a:lnTo>
                  <a:pt x="229" y="105"/>
                </a:lnTo>
                <a:lnTo>
                  <a:pt x="213" y="108"/>
                </a:lnTo>
                <a:lnTo>
                  <a:pt x="196" y="111"/>
                </a:lnTo>
                <a:lnTo>
                  <a:pt x="180" y="114"/>
                </a:lnTo>
                <a:lnTo>
                  <a:pt x="164" y="117"/>
                </a:lnTo>
                <a:lnTo>
                  <a:pt x="147" y="120"/>
                </a:lnTo>
                <a:lnTo>
                  <a:pt x="131" y="123"/>
                </a:lnTo>
                <a:lnTo>
                  <a:pt x="114" y="126"/>
                </a:lnTo>
                <a:lnTo>
                  <a:pt x="98" y="129"/>
                </a:lnTo>
                <a:lnTo>
                  <a:pt x="82" y="131"/>
                </a:lnTo>
                <a:lnTo>
                  <a:pt x="65" y="133"/>
                </a:lnTo>
                <a:lnTo>
                  <a:pt x="49" y="135"/>
                </a:lnTo>
                <a:lnTo>
                  <a:pt x="33" y="136"/>
                </a:lnTo>
                <a:lnTo>
                  <a:pt x="16" y="136"/>
                </a:lnTo>
                <a:lnTo>
                  <a:pt x="0" y="137"/>
                </a:lnTo>
                <a:close/>
              </a:path>
            </a:pathLst>
          </a:custGeom>
          <a:solidFill>
            <a:srgbClr val="0E2A5C">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Freeform 17"/>
          <p:cNvSpPr/>
          <p:nvPr/>
        </p:nvSpPr>
        <p:spPr>
          <a:xfrm>
            <a:off x="2057400" y="6305550"/>
            <a:ext cx="3743325" cy="228600"/>
          </a:xfrm>
          <a:custGeom>
            <a:avLst/>
            <a:gdLst/>
            <a:ahLst/>
            <a:cxnLst/>
            <a:rect l="l" t="t" r="r" b="b"/>
            <a:pathLst>
              <a:path w="393" h="24">
                <a:moveTo>
                  <a:pt x="0" y="3"/>
                </a:moveTo>
                <a:lnTo>
                  <a:pt x="16" y="3"/>
                </a:lnTo>
                <a:lnTo>
                  <a:pt x="33" y="3"/>
                </a:lnTo>
                <a:lnTo>
                  <a:pt x="49" y="3"/>
                </a:lnTo>
                <a:lnTo>
                  <a:pt x="65" y="3"/>
                </a:lnTo>
                <a:lnTo>
                  <a:pt x="82" y="2"/>
                </a:lnTo>
                <a:lnTo>
                  <a:pt x="98" y="2"/>
                </a:lnTo>
                <a:lnTo>
                  <a:pt x="114" y="2"/>
                </a:lnTo>
                <a:lnTo>
                  <a:pt x="131" y="2"/>
                </a:lnTo>
                <a:lnTo>
                  <a:pt x="147" y="2"/>
                </a:lnTo>
                <a:lnTo>
                  <a:pt x="164" y="2"/>
                </a:lnTo>
                <a:lnTo>
                  <a:pt x="180" y="1"/>
                </a:lnTo>
                <a:lnTo>
                  <a:pt x="196" y="1"/>
                </a:lnTo>
                <a:lnTo>
                  <a:pt x="213" y="1"/>
                </a:lnTo>
                <a:lnTo>
                  <a:pt x="229" y="1"/>
                </a:lnTo>
                <a:lnTo>
                  <a:pt x="246" y="1"/>
                </a:lnTo>
                <a:lnTo>
                  <a:pt x="262" y="1"/>
                </a:lnTo>
                <a:lnTo>
                  <a:pt x="278" y="0"/>
                </a:lnTo>
                <a:lnTo>
                  <a:pt x="295" y="0"/>
                </a:lnTo>
                <a:lnTo>
                  <a:pt x="311" y="0"/>
                </a:lnTo>
                <a:lnTo>
                  <a:pt x="327" y="0"/>
                </a:lnTo>
                <a:lnTo>
                  <a:pt x="344" y="0"/>
                </a:lnTo>
                <a:lnTo>
                  <a:pt x="360" y="0"/>
                </a:lnTo>
                <a:lnTo>
                  <a:pt x="377" y="0"/>
                </a:lnTo>
                <a:lnTo>
                  <a:pt x="393" y="0"/>
                </a:lnTo>
                <a:lnTo>
                  <a:pt x="393" y="21"/>
                </a:lnTo>
                <a:lnTo>
                  <a:pt x="377" y="21"/>
                </a:lnTo>
                <a:lnTo>
                  <a:pt x="360" y="21"/>
                </a:lnTo>
                <a:lnTo>
                  <a:pt x="344" y="21"/>
                </a:lnTo>
                <a:lnTo>
                  <a:pt x="327" y="21"/>
                </a:lnTo>
                <a:lnTo>
                  <a:pt x="311" y="21"/>
                </a:lnTo>
                <a:lnTo>
                  <a:pt x="295" y="21"/>
                </a:lnTo>
                <a:lnTo>
                  <a:pt x="278" y="22"/>
                </a:lnTo>
                <a:lnTo>
                  <a:pt x="262" y="22"/>
                </a:lnTo>
                <a:lnTo>
                  <a:pt x="246" y="22"/>
                </a:lnTo>
                <a:lnTo>
                  <a:pt x="229" y="22"/>
                </a:lnTo>
                <a:lnTo>
                  <a:pt x="213" y="22"/>
                </a:lnTo>
                <a:lnTo>
                  <a:pt x="196" y="22"/>
                </a:lnTo>
                <a:lnTo>
                  <a:pt x="180" y="23"/>
                </a:lnTo>
                <a:lnTo>
                  <a:pt x="164" y="23"/>
                </a:lnTo>
                <a:lnTo>
                  <a:pt x="147" y="23"/>
                </a:lnTo>
                <a:lnTo>
                  <a:pt x="131" y="23"/>
                </a:lnTo>
                <a:lnTo>
                  <a:pt x="114" y="23"/>
                </a:lnTo>
                <a:lnTo>
                  <a:pt x="98" y="24"/>
                </a:lnTo>
                <a:lnTo>
                  <a:pt x="82" y="24"/>
                </a:lnTo>
                <a:lnTo>
                  <a:pt x="65" y="24"/>
                </a:lnTo>
                <a:lnTo>
                  <a:pt x="49" y="24"/>
                </a:lnTo>
                <a:lnTo>
                  <a:pt x="33" y="24"/>
                </a:lnTo>
                <a:lnTo>
                  <a:pt x="16" y="24"/>
                </a:lnTo>
                <a:lnTo>
                  <a:pt x="0" y="24"/>
                </a:lnTo>
                <a:close/>
              </a:path>
            </a:pathLst>
          </a:custGeom>
          <a:solidFill>
            <a:srgbClr val="0E2A5C">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941195" y="3390900"/>
            <a:ext cx="114300" cy="10096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941195" y="4457700"/>
            <a:ext cx="114300" cy="1009650"/>
          </a:xfrm>
          <a:prstGeom prst="rect">
            <a:avLst/>
          </a:prstGeom>
          <a:solidFill>
            <a:srgbClr val="0081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941195" y="5524501"/>
            <a:ext cx="114300" cy="1009649"/>
          </a:xfrm>
          <a:prstGeom prst="rect">
            <a:avLst/>
          </a:prstGeom>
          <a:solidFill>
            <a:srgbClr val="0E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800725" y="3419475"/>
            <a:ext cx="114300" cy="2421581"/>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800725" y="5898206"/>
            <a:ext cx="114300" cy="607369"/>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57175" y="3824288"/>
            <a:ext cx="1626870" cy="142875"/>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25" name="TextBox 24"/>
          <p:cNvSpPr txBox="1"/>
          <p:nvPr/>
        </p:nvSpPr>
        <p:spPr>
          <a:xfrm>
            <a:off x="257175" y="4838701"/>
            <a:ext cx="1626870" cy="247650"/>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26" name="TextBox 25"/>
          <p:cNvSpPr txBox="1"/>
          <p:nvPr/>
        </p:nvSpPr>
        <p:spPr>
          <a:xfrm>
            <a:off x="257175" y="5957888"/>
            <a:ext cx="1626870" cy="142875"/>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27" name="TextBox 26"/>
          <p:cNvSpPr txBox="1"/>
          <p:nvPr/>
        </p:nvSpPr>
        <p:spPr>
          <a:xfrm>
            <a:off x="5972175" y="4506441"/>
            <a:ext cx="1381125" cy="247650"/>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28" name="TextBox 27"/>
          <p:cNvSpPr txBox="1"/>
          <p:nvPr/>
        </p:nvSpPr>
        <p:spPr>
          <a:xfrm>
            <a:off x="5972175" y="6078066"/>
            <a:ext cx="1381125" cy="247650"/>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29" name="Rounded Rectangle 28"/>
          <p:cNvSpPr/>
          <p:nvPr/>
        </p:nvSpPr>
        <p:spPr>
          <a:xfrm>
            <a:off x="7581900" y="3067050"/>
            <a:ext cx="4457700" cy="3562350"/>
          </a:xfrm>
          <a:prstGeom prst="roundRect">
            <a:avLst>
              <a:gd name="adj" fmla="val 213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715250" y="3152775"/>
            <a:ext cx="4191000" cy="209550"/>
          </a:xfrm>
          <a:prstGeom prst="rect">
            <a:avLst/>
          </a:prstGeom>
          <a:noFill/>
        </p:spPr>
        <p:txBody>
          <a:bodyPr wrap="square" lIns="0" rIns="19050" tIns="9525" bIns="9525">
            <a:spAutoFit/>
          </a:bodyPr>
          <a:lstStyle/>
          <a:p>
            <a:pPr algn="l"/>
            <a:r>
              <a:rPr sz="1300" b="1">
                <a:solidFill>
                  <a:srgbClr val="0E2A5C"/>
                </a:solidFill>
                <a:latin typeface="Calibri"/>
              </a:rPr>
              <a:t>Key Findings</a:t>
            </a:r>
          </a:p>
        </p:txBody>
      </p:sp>
      <p:sp>
        <p:nvSpPr>
          <p:cNvPr id="31" name="Rectangle 30"/>
          <p:cNvSpPr/>
          <p:nvPr/>
        </p:nvSpPr>
        <p:spPr>
          <a:xfrm>
            <a:off x="7715250" y="3390900"/>
            <a:ext cx="419100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715250" y="3476625"/>
            <a:ext cx="4191000" cy="307657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33" name="Rectangle 32"/>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35" name="Picture 34" descr="lock.png"/>
          <p:cNvPicPr>
            <a:picLocks noChangeAspect="1"/>
          </p:cNvPicPr>
          <p:nvPr/>
        </p:nvPicPr>
        <p:blipFill>
          <a:blip r:embed="rId4"/>
          <a:stretch>
            <a:fillRect/>
          </a:stretch>
        </p:blipFill>
        <p:spPr>
          <a:xfrm>
            <a:off x="8582193" y="1964527"/>
            <a:ext cx="362605" cy="527426"/>
          </a:xfrm>
          <a:prstGeom prst="rect">
            <a:avLst/>
          </a:prstGeom>
        </p:spPr>
      </p:pic>
      <p:sp>
        <p:nvSpPr>
          <p:cNvPr id="36" name="TextBox 35"/>
          <p:cNvSpPr txBox="1"/>
          <p:nvPr/>
        </p:nvSpPr>
        <p:spPr>
          <a:xfrm>
            <a:off x="432554" y="3835375"/>
            <a:ext cx="1397740" cy="139750"/>
          </a:xfrm>
          <a:prstGeom prst="rect">
            <a:avLst/>
          </a:prstGeom>
          <a:noFill/>
        </p:spPr>
        <p:txBody>
          <a:bodyPr wrap="none" lIns="0" rIns="0" tIns="0" bIns="0">
            <a:spAutoFit/>
          </a:bodyPr>
          <a:lstStyle/>
          <a:p>
            <a:r>
              <a:rPr sz="791" b="1">
                <a:solidFill>
                  <a:srgbClr val="2E2E2E"/>
                </a:solidFill>
                <a:latin typeface="Calibri"/>
              </a:rPr>
              <a:t>Hydrolyzed Eggshell Membrane</a:t>
            </a:r>
          </a:p>
        </p:txBody>
      </p:sp>
      <p:pic>
        <p:nvPicPr>
          <p:cNvPr id="37" name="Picture 36" descr="lock.png"/>
          <p:cNvPicPr>
            <a:picLocks noChangeAspect="1"/>
          </p:cNvPicPr>
          <p:nvPr/>
        </p:nvPicPr>
        <p:blipFill>
          <a:blip r:embed="rId4"/>
          <a:stretch>
            <a:fillRect/>
          </a:stretch>
        </p:blipFill>
        <p:spPr>
          <a:xfrm>
            <a:off x="1771555" y="3828334"/>
            <a:ext cx="92663" cy="134782"/>
          </a:xfrm>
          <a:prstGeom prst="rect">
            <a:avLst/>
          </a:prstGeom>
        </p:spPr>
      </p:pic>
      <p:sp>
        <p:nvSpPr>
          <p:cNvPr id="38" name="TextBox 37"/>
          <p:cNvSpPr txBox="1"/>
          <p:nvPr/>
        </p:nvSpPr>
        <p:spPr>
          <a:xfrm>
            <a:off x="333642" y="4841825"/>
            <a:ext cx="1531352" cy="139750"/>
          </a:xfrm>
          <a:prstGeom prst="rect">
            <a:avLst/>
          </a:prstGeom>
          <a:noFill/>
        </p:spPr>
        <p:txBody>
          <a:bodyPr wrap="none" lIns="0" rIns="0" tIns="0" bIns="0">
            <a:spAutoFit/>
          </a:bodyPr>
          <a:lstStyle/>
          <a:p>
            <a:r>
              <a:rPr sz="791" b="1">
                <a:solidFill>
                  <a:srgbClr val="2E2E2E"/>
                </a:solidFill>
                <a:latin typeface="Calibri"/>
              </a:rPr>
              <a:t>Specialty Extracted Protein Fractions</a:t>
            </a:r>
          </a:p>
        </p:txBody>
      </p:sp>
      <p:pic>
        <p:nvPicPr>
          <p:cNvPr id="39" name="Picture 38" descr="lock.png"/>
          <p:cNvPicPr>
            <a:picLocks noChangeAspect="1"/>
          </p:cNvPicPr>
          <p:nvPr/>
        </p:nvPicPr>
        <p:blipFill>
          <a:blip r:embed="rId4"/>
          <a:stretch>
            <a:fillRect/>
          </a:stretch>
        </p:blipFill>
        <p:spPr>
          <a:xfrm>
            <a:off x="1771555" y="4955485"/>
            <a:ext cx="92663" cy="134782"/>
          </a:xfrm>
          <a:prstGeom prst="rect">
            <a:avLst/>
          </a:prstGeom>
        </p:spPr>
      </p:pic>
      <p:sp>
        <p:nvSpPr>
          <p:cNvPr id="40" name="TextBox 39"/>
          <p:cNvSpPr txBox="1"/>
          <p:nvPr/>
        </p:nvSpPr>
        <p:spPr>
          <a:xfrm>
            <a:off x="436679" y="5968975"/>
            <a:ext cx="1393614" cy="139750"/>
          </a:xfrm>
          <a:prstGeom prst="rect">
            <a:avLst/>
          </a:prstGeom>
          <a:noFill/>
        </p:spPr>
        <p:txBody>
          <a:bodyPr wrap="none" lIns="0" rIns="0" tIns="0" bIns="0">
            <a:spAutoFit/>
          </a:bodyPr>
          <a:lstStyle/>
          <a:p>
            <a:r>
              <a:rPr sz="791" b="1">
                <a:solidFill>
                  <a:srgbClr val="2E2E2E"/>
                </a:solidFill>
                <a:latin typeface="Calibri"/>
              </a:rPr>
              <a:t>Micronized Eggshell Membrane</a:t>
            </a:r>
          </a:p>
        </p:txBody>
      </p:sp>
      <p:pic>
        <p:nvPicPr>
          <p:cNvPr id="41" name="Picture 40" descr="lock.png"/>
          <p:cNvPicPr>
            <a:picLocks noChangeAspect="1"/>
          </p:cNvPicPr>
          <p:nvPr/>
        </p:nvPicPr>
        <p:blipFill>
          <a:blip r:embed="rId4"/>
          <a:stretch>
            <a:fillRect/>
          </a:stretch>
        </p:blipFill>
        <p:spPr>
          <a:xfrm>
            <a:off x="1771555" y="5961934"/>
            <a:ext cx="92663" cy="134782"/>
          </a:xfrm>
          <a:prstGeom prst="rect">
            <a:avLst/>
          </a:prstGeom>
        </p:spPr>
      </p:pic>
      <p:sp>
        <p:nvSpPr>
          <p:cNvPr id="42" name="TextBox 41"/>
          <p:cNvSpPr txBox="1"/>
          <p:nvPr/>
        </p:nvSpPr>
        <p:spPr>
          <a:xfrm>
            <a:off x="5972175" y="4509565"/>
            <a:ext cx="1252561" cy="139750"/>
          </a:xfrm>
          <a:prstGeom prst="rect">
            <a:avLst/>
          </a:prstGeom>
          <a:noFill/>
        </p:spPr>
        <p:txBody>
          <a:bodyPr wrap="none" lIns="0" rIns="0" tIns="0" bIns="0">
            <a:spAutoFit/>
          </a:bodyPr>
          <a:lstStyle/>
          <a:p>
            <a:r>
              <a:rPr sz="791" b="1">
                <a:solidFill>
                  <a:srgbClr val="2E2E2E"/>
                </a:solidFill>
                <a:latin typeface="Calibri"/>
              </a:rPr>
              <a:t>Chicken Eggshell Membrane</a:t>
            </a:r>
          </a:p>
        </p:txBody>
      </p:sp>
      <p:pic>
        <p:nvPicPr>
          <p:cNvPr id="43" name="Picture 42" descr="lock.png"/>
          <p:cNvPicPr>
            <a:picLocks noChangeAspect="1"/>
          </p:cNvPicPr>
          <p:nvPr/>
        </p:nvPicPr>
        <p:blipFill>
          <a:blip r:embed="rId4"/>
          <a:stretch>
            <a:fillRect/>
          </a:stretch>
        </p:blipFill>
        <p:spPr>
          <a:xfrm>
            <a:off x="5962478" y="4623225"/>
            <a:ext cx="92663" cy="134782"/>
          </a:xfrm>
          <a:prstGeom prst="rect">
            <a:avLst/>
          </a:prstGeom>
        </p:spPr>
      </p:pic>
      <p:sp>
        <p:nvSpPr>
          <p:cNvPr id="44" name="TextBox 43"/>
          <p:cNvSpPr txBox="1"/>
          <p:nvPr/>
        </p:nvSpPr>
        <p:spPr>
          <a:xfrm>
            <a:off x="5972175" y="6081190"/>
            <a:ext cx="1008959" cy="139750"/>
          </a:xfrm>
          <a:prstGeom prst="rect">
            <a:avLst/>
          </a:prstGeom>
          <a:noFill/>
        </p:spPr>
        <p:txBody>
          <a:bodyPr wrap="none" lIns="0" rIns="0" tIns="0" bIns="0">
            <a:spAutoFit/>
          </a:bodyPr>
          <a:lstStyle/>
          <a:p>
            <a:r>
              <a:rPr sz="791" b="1">
                <a:solidFill>
                  <a:srgbClr val="2E2E2E"/>
                </a:solidFill>
                <a:latin typeface="Calibri"/>
              </a:rPr>
              <a:t>Other Poultry Eggshell</a:t>
            </a:r>
          </a:p>
        </p:txBody>
      </p:sp>
      <p:sp>
        <p:nvSpPr>
          <p:cNvPr id="45" name="TextBox 44"/>
          <p:cNvSpPr txBox="1"/>
          <p:nvPr/>
        </p:nvSpPr>
        <p:spPr>
          <a:xfrm>
            <a:off x="5972175" y="6201891"/>
            <a:ext cx="541008" cy="139750"/>
          </a:xfrm>
          <a:prstGeom prst="rect">
            <a:avLst/>
          </a:prstGeom>
          <a:noFill/>
        </p:spPr>
        <p:txBody>
          <a:bodyPr wrap="none" lIns="0" rIns="0" tIns="0" bIns="0">
            <a:spAutoFit/>
          </a:bodyPr>
          <a:lstStyle/>
          <a:p>
            <a:r>
              <a:rPr sz="791" b="1">
                <a:solidFill>
                  <a:srgbClr val="2E2E2E"/>
                </a:solidFill>
                <a:latin typeface="Calibri"/>
              </a:rPr>
              <a:t>Membrane</a:t>
            </a:r>
          </a:p>
        </p:txBody>
      </p:sp>
      <p:pic>
        <p:nvPicPr>
          <p:cNvPr id="46" name="Picture 45" descr="lock.png"/>
          <p:cNvPicPr>
            <a:picLocks noChangeAspect="1"/>
          </p:cNvPicPr>
          <p:nvPr/>
        </p:nvPicPr>
        <p:blipFill>
          <a:blip r:embed="rId4"/>
          <a:stretch>
            <a:fillRect/>
          </a:stretch>
        </p:blipFill>
        <p:spPr>
          <a:xfrm>
            <a:off x="6454444" y="6194850"/>
            <a:ext cx="92663" cy="134782"/>
          </a:xfrm>
          <a:prstGeom prst="rect">
            <a:avLst/>
          </a:prstGeom>
        </p:spPr>
      </p:pic>
      <p:sp>
        <p:nvSpPr>
          <p:cNvPr id="47" name="TextBox 46"/>
          <p:cNvSpPr txBox="1"/>
          <p:nvPr/>
        </p:nvSpPr>
        <p:spPr>
          <a:xfrm>
            <a:off x="7715250" y="3486150"/>
            <a:ext cx="4096568" cy="194310"/>
          </a:xfrm>
          <a:prstGeom prst="rect">
            <a:avLst/>
          </a:prstGeom>
          <a:noFill/>
        </p:spPr>
        <p:txBody>
          <a:bodyPr wrap="none" lIns="0" rIns="0" tIns="0" bIns="0">
            <a:spAutoFit/>
          </a:bodyPr>
          <a:lstStyle/>
          <a:p>
            <a:r>
              <a:rPr sz="1150" b="0">
                <a:solidFill>
                  <a:srgbClr val="2E2E2E"/>
                </a:solidFill>
                <a:latin typeface="Calibri"/>
              </a:rPr>
              <a:t>Hydrolyzed eggshell membrane segment is projected to account for</a:t>
            </a:r>
          </a:p>
        </p:txBody>
      </p:sp>
      <p:sp>
        <p:nvSpPr>
          <p:cNvPr id="48" name="TextBox 47"/>
          <p:cNvSpPr txBox="1"/>
          <p:nvPr/>
        </p:nvSpPr>
        <p:spPr>
          <a:xfrm>
            <a:off x="7715250" y="3661410"/>
            <a:ext cx="3761395" cy="194310"/>
          </a:xfrm>
          <a:prstGeom prst="rect">
            <a:avLst/>
          </a:prstGeom>
          <a:noFill/>
        </p:spPr>
        <p:txBody>
          <a:bodyPr wrap="none" lIns="0" rIns="0" tIns="0" bIns="0">
            <a:spAutoFit/>
          </a:bodyPr>
          <a:lstStyle/>
          <a:p>
            <a:r>
              <a:rPr sz="1150" b="0">
                <a:solidFill>
                  <a:srgbClr val="2E2E2E"/>
                </a:solidFill>
                <a:latin typeface="Calibri"/>
              </a:rPr>
              <a:t>the largest share of the North America egg protein membrane</a:t>
            </a:r>
          </a:p>
        </p:txBody>
      </p:sp>
      <p:sp>
        <p:nvSpPr>
          <p:cNvPr id="49" name="TextBox 48"/>
          <p:cNvSpPr txBox="1"/>
          <p:nvPr/>
        </p:nvSpPr>
        <p:spPr>
          <a:xfrm>
            <a:off x="7715250" y="3836669"/>
            <a:ext cx="3037706" cy="194310"/>
          </a:xfrm>
          <a:prstGeom prst="rect">
            <a:avLst/>
          </a:prstGeom>
          <a:noFill/>
        </p:spPr>
        <p:txBody>
          <a:bodyPr wrap="none" lIns="0" rIns="0" tIns="0" bIns="0">
            <a:spAutoFit/>
          </a:bodyPr>
          <a:lstStyle/>
          <a:p>
            <a:r>
              <a:rPr sz="1150" b="0">
                <a:solidFill>
                  <a:srgbClr val="2E2E2E"/>
                </a:solidFill>
                <a:latin typeface="Calibri"/>
              </a:rPr>
              <a:t>market, led by chicken eggshell membrane at US$</a:t>
            </a:r>
          </a:p>
        </p:txBody>
      </p:sp>
      <p:pic>
        <p:nvPicPr>
          <p:cNvPr id="50" name="Picture 49" descr="lock.png"/>
          <p:cNvPicPr>
            <a:picLocks noChangeAspect="1"/>
          </p:cNvPicPr>
          <p:nvPr/>
        </p:nvPicPr>
        <p:blipFill>
          <a:blip r:embed="rId4"/>
          <a:stretch>
            <a:fillRect/>
          </a:stretch>
        </p:blipFill>
        <p:spPr>
          <a:xfrm>
            <a:off x="10702109" y="3826446"/>
            <a:ext cx="134549" cy="195707"/>
          </a:xfrm>
          <a:prstGeom prst="rect">
            <a:avLst/>
          </a:prstGeom>
        </p:spPr>
      </p:pic>
      <p:sp>
        <p:nvSpPr>
          <p:cNvPr id="51" name="TextBox 50"/>
          <p:cNvSpPr txBox="1"/>
          <p:nvPr/>
        </p:nvSpPr>
        <p:spPr>
          <a:xfrm>
            <a:off x="10877219" y="3836669"/>
            <a:ext cx="787908" cy="194310"/>
          </a:xfrm>
          <a:prstGeom prst="rect">
            <a:avLst/>
          </a:prstGeom>
          <a:noFill/>
        </p:spPr>
        <p:txBody>
          <a:bodyPr wrap="none" lIns="0" rIns="0" tIns="0" bIns="0">
            <a:spAutoFit/>
          </a:bodyPr>
          <a:lstStyle/>
          <a:p>
            <a:r>
              <a:rPr sz="1150" b="0">
                <a:solidFill>
                  <a:srgbClr val="2E2E2E"/>
                </a:solidFill>
                <a:latin typeface="Calibri"/>
              </a:rPr>
              <a:t>Mn in 2036.</a:t>
            </a:r>
          </a:p>
        </p:txBody>
      </p:sp>
      <p:sp>
        <p:nvSpPr>
          <p:cNvPr id="52" name="TextBox 51"/>
          <p:cNvSpPr txBox="1"/>
          <p:nvPr/>
        </p:nvSpPr>
        <p:spPr>
          <a:xfrm>
            <a:off x="7715250" y="4011929"/>
            <a:ext cx="4171950" cy="194310"/>
          </a:xfrm>
          <a:prstGeom prst="rect">
            <a:avLst/>
          </a:prstGeom>
          <a:noFill/>
        </p:spPr>
        <p:txBody>
          <a:bodyPr wrap="none" lIns="0" rIns="0" tIns="0" bIns="0">
            <a:spAutoFit/>
          </a:bodyPr>
          <a:lstStyle/>
          <a:p>
            <a:r>
              <a:rPr sz="1150" b="0">
                <a:solidFill>
                  <a:srgbClr val="2E2E2E"/>
                </a:solidFill>
                <a:latin typeface="Calibri"/>
              </a:rPr>
              <a:t>'Hydrolyzed Eggshell Membrane × Chicken Eggshell Membrane' is the</a:t>
            </a:r>
          </a:p>
        </p:txBody>
      </p:sp>
      <p:sp>
        <p:nvSpPr>
          <p:cNvPr id="53" name="TextBox 52"/>
          <p:cNvSpPr txBox="1"/>
          <p:nvPr/>
        </p:nvSpPr>
        <p:spPr>
          <a:xfrm>
            <a:off x="7715250" y="4187189"/>
            <a:ext cx="2080108" cy="194310"/>
          </a:xfrm>
          <a:prstGeom prst="rect">
            <a:avLst/>
          </a:prstGeom>
          <a:noFill/>
        </p:spPr>
        <p:txBody>
          <a:bodyPr wrap="none" lIns="0" rIns="0" tIns="0" bIns="0">
            <a:spAutoFit/>
          </a:bodyPr>
          <a:lstStyle/>
          <a:p>
            <a:r>
              <a:rPr sz="1150" b="0">
                <a:solidFill>
                  <a:srgbClr val="2E2E2E"/>
                </a:solidFill>
                <a:latin typeface="Calibri"/>
              </a:rPr>
              <a:t>single largest cross-sectional cell (</a:t>
            </a:r>
          </a:p>
        </p:txBody>
      </p:sp>
      <p:pic>
        <p:nvPicPr>
          <p:cNvPr id="54" name="Picture 53" descr="lock.png"/>
          <p:cNvPicPr>
            <a:picLocks noChangeAspect="1"/>
          </p:cNvPicPr>
          <p:nvPr/>
        </p:nvPicPr>
        <p:blipFill>
          <a:blip r:embed="rId4"/>
          <a:stretch>
            <a:fillRect/>
          </a:stretch>
        </p:blipFill>
        <p:spPr>
          <a:xfrm>
            <a:off x="9744512" y="4176966"/>
            <a:ext cx="134549" cy="195707"/>
          </a:xfrm>
          <a:prstGeom prst="rect">
            <a:avLst/>
          </a:prstGeom>
        </p:spPr>
      </p:pic>
      <p:sp>
        <p:nvSpPr>
          <p:cNvPr id="55" name="TextBox 54"/>
          <p:cNvSpPr txBox="1"/>
          <p:nvPr/>
        </p:nvSpPr>
        <p:spPr>
          <a:xfrm>
            <a:off x="9919621" y="4187189"/>
            <a:ext cx="1418604" cy="194310"/>
          </a:xfrm>
          <a:prstGeom prst="rect">
            <a:avLst/>
          </a:prstGeom>
          <a:noFill/>
        </p:spPr>
        <p:txBody>
          <a:bodyPr wrap="none" lIns="0" rIns="0" tIns="0" bIns="0">
            <a:spAutoFit/>
          </a:bodyPr>
          <a:lstStyle/>
          <a:p>
            <a:r>
              <a:rPr sz="1150" b="0">
                <a:solidFill>
                  <a:srgbClr val="2E2E2E"/>
                </a:solidFill>
                <a:latin typeface="Calibri"/>
              </a:rPr>
              <a:t>US$ Mn, 2026E), while</a:t>
            </a:r>
          </a:p>
        </p:txBody>
      </p:sp>
      <p:sp>
        <p:nvSpPr>
          <p:cNvPr id="56" name="TextBox 55"/>
          <p:cNvSpPr txBox="1"/>
          <p:nvPr/>
        </p:nvSpPr>
        <p:spPr>
          <a:xfrm>
            <a:off x="7715250" y="4362449"/>
            <a:ext cx="4171950" cy="194310"/>
          </a:xfrm>
          <a:prstGeom prst="rect">
            <a:avLst/>
          </a:prstGeom>
          <a:noFill/>
        </p:spPr>
        <p:txBody>
          <a:bodyPr wrap="none" lIns="0" rIns="0" tIns="0" bIns="0">
            <a:spAutoFit/>
          </a:bodyPr>
          <a:lstStyle/>
          <a:p>
            <a:r>
              <a:rPr sz="1150" b="0">
                <a:solidFill>
                  <a:srgbClr val="2E2E2E"/>
                </a:solidFill>
                <a:latin typeface="Calibri"/>
              </a:rPr>
              <a:t>'Micronized Eggshell Membrane × Other Poultry Eggshell Membrane'</a:t>
            </a:r>
          </a:p>
        </p:txBody>
      </p:sp>
      <p:sp>
        <p:nvSpPr>
          <p:cNvPr id="57" name="TextBox 56"/>
          <p:cNvSpPr txBox="1"/>
          <p:nvPr/>
        </p:nvSpPr>
        <p:spPr>
          <a:xfrm>
            <a:off x="7715250" y="4537709"/>
            <a:ext cx="2424392" cy="194310"/>
          </a:xfrm>
          <a:prstGeom prst="rect">
            <a:avLst/>
          </a:prstGeom>
          <a:noFill/>
        </p:spPr>
        <p:txBody>
          <a:bodyPr wrap="none" lIns="0" rIns="0" tIns="0" bIns="0">
            <a:spAutoFit/>
          </a:bodyPr>
          <a:lstStyle/>
          <a:p>
            <a:r>
              <a:rPr sz="1150" b="0">
                <a:solidFill>
                  <a:srgbClr val="2E2E2E"/>
                </a:solidFill>
                <a:latin typeface="Calibri"/>
              </a:rPr>
              <a:t>records the fastest growth at a CAGR of</a:t>
            </a:r>
          </a:p>
        </p:txBody>
      </p:sp>
      <p:pic>
        <p:nvPicPr>
          <p:cNvPr id="58" name="Picture 57" descr="lock.png"/>
          <p:cNvPicPr>
            <a:picLocks noChangeAspect="1"/>
          </p:cNvPicPr>
          <p:nvPr/>
        </p:nvPicPr>
        <p:blipFill>
          <a:blip r:embed="rId4"/>
          <a:stretch>
            <a:fillRect/>
          </a:stretch>
        </p:blipFill>
        <p:spPr>
          <a:xfrm>
            <a:off x="10088796" y="4527486"/>
            <a:ext cx="134549" cy="195707"/>
          </a:xfrm>
          <a:prstGeom prst="rect">
            <a:avLst/>
          </a:prstGeom>
        </p:spPr>
      </p:pic>
      <p:sp>
        <p:nvSpPr>
          <p:cNvPr id="59" name="TextBox 58"/>
          <p:cNvSpPr txBox="1"/>
          <p:nvPr/>
        </p:nvSpPr>
        <p:spPr>
          <a:xfrm>
            <a:off x="10263905" y="4537709"/>
            <a:ext cx="1217001" cy="194310"/>
          </a:xfrm>
          <a:prstGeom prst="rect">
            <a:avLst/>
          </a:prstGeom>
          <a:noFill/>
        </p:spPr>
        <p:txBody>
          <a:bodyPr wrap="none" lIns="0" rIns="0" tIns="0" bIns="0">
            <a:spAutoFit/>
          </a:bodyPr>
          <a:lstStyle/>
          <a:p>
            <a:r>
              <a:rPr sz="1150" b="0">
                <a:solidFill>
                  <a:srgbClr val="2E2E2E"/>
                </a:solidFill>
                <a:latin typeface="Calibri"/>
              </a:rPr>
              <a:t>over 2026E–2036F.</a:t>
            </a:r>
          </a:p>
        </p:txBody>
      </p:sp>
      <p:sp>
        <p:nvSpPr>
          <p:cNvPr id="60" name="TextBox 59"/>
          <p:cNvSpPr txBox="1"/>
          <p:nvPr/>
        </p:nvSpPr>
        <p:spPr>
          <a:xfrm>
            <a:off x="7715250" y="4765547"/>
            <a:ext cx="3917999" cy="194310"/>
          </a:xfrm>
          <a:prstGeom prst="rect">
            <a:avLst/>
          </a:prstGeom>
          <a:noFill/>
        </p:spPr>
        <p:txBody>
          <a:bodyPr wrap="none" lIns="0" rIns="0" tIns="0" bIns="0">
            <a:spAutoFit/>
          </a:bodyPr>
          <a:lstStyle/>
          <a:p>
            <a:r>
              <a:rPr sz="1150" b="0">
                <a:solidFill>
                  <a:srgbClr val="2E2E2E"/>
                </a:solidFill>
                <a:latin typeface="Calibri"/>
              </a:rPr>
              <a:t>Combined, the top three product type × source cells generate an</a:t>
            </a:r>
          </a:p>
        </p:txBody>
      </p:sp>
      <p:sp>
        <p:nvSpPr>
          <p:cNvPr id="61" name="TextBox 60"/>
          <p:cNvSpPr txBox="1"/>
          <p:nvPr/>
        </p:nvSpPr>
        <p:spPr>
          <a:xfrm>
            <a:off x="7715250" y="4940807"/>
            <a:ext cx="1594036" cy="194310"/>
          </a:xfrm>
          <a:prstGeom prst="rect">
            <a:avLst/>
          </a:prstGeom>
          <a:noFill/>
        </p:spPr>
        <p:txBody>
          <a:bodyPr wrap="none" lIns="0" rIns="0" tIns="0" bIns="0">
            <a:spAutoFit/>
          </a:bodyPr>
          <a:lstStyle/>
          <a:p>
            <a:r>
              <a:rPr sz="1150" b="0">
                <a:solidFill>
                  <a:srgbClr val="2E2E2E"/>
                </a:solidFill>
                <a:latin typeface="Calibri"/>
              </a:rPr>
              <a:t>absolute $ opportunity of</a:t>
            </a:r>
          </a:p>
        </p:txBody>
      </p:sp>
      <p:pic>
        <p:nvPicPr>
          <p:cNvPr id="62" name="Picture 61" descr="lock.png"/>
          <p:cNvPicPr>
            <a:picLocks noChangeAspect="1"/>
          </p:cNvPicPr>
          <p:nvPr/>
        </p:nvPicPr>
        <p:blipFill>
          <a:blip r:embed="rId4"/>
          <a:stretch>
            <a:fillRect/>
          </a:stretch>
        </p:blipFill>
        <p:spPr>
          <a:xfrm>
            <a:off x="9258439" y="4930584"/>
            <a:ext cx="134549" cy="195707"/>
          </a:xfrm>
          <a:prstGeom prst="rect">
            <a:avLst/>
          </a:prstGeom>
        </p:spPr>
      </p:pic>
      <p:sp>
        <p:nvSpPr>
          <p:cNvPr id="63" name="TextBox 62"/>
          <p:cNvSpPr txBox="1"/>
          <p:nvPr/>
        </p:nvSpPr>
        <p:spPr>
          <a:xfrm>
            <a:off x="9433549" y="4940807"/>
            <a:ext cx="1155386" cy="194310"/>
          </a:xfrm>
          <a:prstGeom prst="rect">
            <a:avLst/>
          </a:prstGeom>
          <a:noFill/>
        </p:spPr>
        <p:txBody>
          <a:bodyPr wrap="none" lIns="0" rIns="0" tIns="0" bIns="0">
            <a:spAutoFit/>
          </a:bodyPr>
          <a:lstStyle/>
          <a:p>
            <a:r>
              <a:rPr sz="1150" b="0">
                <a:solidFill>
                  <a:srgbClr val="2E2E2E"/>
                </a:solidFill>
                <a:latin typeface="Calibri"/>
              </a:rPr>
              <a:t>US$ Mn by 2036F.</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Share Analysis: Product Type × Source, 2026E</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 share of North America market value, each row split across all source sub-segments</a:t>
            </a:r>
          </a:p>
        </p:txBody>
      </p:sp>
      <p:sp>
        <p:nvSpPr>
          <p:cNvPr id="7" name="Rounded Rectangle 6"/>
          <p:cNvSpPr/>
          <p:nvPr/>
        </p:nvSpPr>
        <p:spPr>
          <a:xfrm>
            <a:off x="142875" y="981075"/>
            <a:ext cx="11906250" cy="1704975"/>
          </a:xfrm>
          <a:prstGeom prst="roundRect">
            <a:avLst>
              <a:gd name="adj" fmla="val 446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Share, Product Type × Source, 2026E (% of each row)</a:t>
            </a:r>
          </a:p>
        </p:txBody>
      </p:sp>
      <p:graphicFrame>
        <p:nvGraphicFramePr>
          <p:cNvPr id="9" name="Table 8"/>
          <p:cNvGraphicFramePr>
            <a:graphicFrameLocks noGrp="1"/>
          </p:cNvGraphicFramePr>
          <p:nvPr/>
        </p:nvGraphicFramePr>
        <p:xfrm>
          <a:off x="152400" y="1238250"/>
          <a:ext cx="11887201" cy="1238250"/>
        </p:xfrm>
        <a:graphic>
          <a:graphicData uri="http://schemas.openxmlformats.org/drawingml/2006/table">
            <a:tbl>
              <a:tblPr>
                <a:tableStyleId>{5C22544A-7EE6-4342-B048-85BDC9FD1C3A}</a:tableStyleId>
              </a:tblPr>
              <a:tblGrid>
                <a:gridCol w="3129313"/>
                <a:gridCol w="2919296"/>
                <a:gridCol w="2919296"/>
                <a:gridCol w="2919296"/>
              </a:tblGrid>
              <a:tr h="246126">
                <a:tc>
                  <a:txBody>
                    <a:bodyPr wrap="none"/>
                    <a:lstStyle/>
                    <a:p>
                      <a:pPr algn="l"/>
                      <a:r>
                        <a:rPr sz="1100" b="1">
                          <a:solidFill>
                            <a:srgbClr val="0E2A5C"/>
                          </a:solidFill>
                          <a:latin typeface="Calibri"/>
                        </a:rPr>
                        <a:t>Product Type</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Chicken Eggshell Membrane</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Other Poultry Eggshell Membrane</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Total</a:t>
                      </a:r>
                      <a:endParaRPr sz="1100"/>
                    </a:p>
                  </a:txBody>
                  <a:tcPr marL="47625" marR="38100" marT="19050" marB="19050" anchor="ctr">
                    <a:solidFill>
                      <a:srgbClr val="EBF2F9"/>
                    </a:solidFill>
                  </a:tcPr>
                </a:tc>
              </a:tr>
              <a:tr h="248031">
                <a:tc>
                  <a:txBody>
                    <a:bodyPr wrap="none"/>
                    <a:lstStyle/>
                    <a:p>
                      <a:pPr algn="l"/>
                      <a:r>
                        <a:rPr sz="1100" b="1">
                          <a:solidFill>
                            <a:srgbClr val="2E2E2E"/>
                          </a:solidFill>
                          <a:latin typeface="Calibri"/>
                        </a:rPr>
                        <a:t>Micronized Eggshell Membrane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8031">
                <a:tc>
                  <a:txBody>
                    <a:bodyPr wrap="none"/>
                    <a:lstStyle/>
                    <a:p>
                      <a:pPr algn="l"/>
                      <a:r>
                        <a:rPr sz="1100" b="1">
                          <a:solidFill>
                            <a:srgbClr val="2E2E2E"/>
                          </a:solidFill>
                          <a:latin typeface="Calibri"/>
                        </a:rPr>
                        <a:t>Hydrolyzed Eggshell Membrane</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8031">
                <a:tc>
                  <a:txBody>
                    <a:bodyPr wrap="none"/>
                    <a:lstStyle/>
                    <a:p>
                      <a:pPr algn="l"/>
                      <a:r>
                        <a:rPr sz="1100" b="1">
                          <a:solidFill>
                            <a:srgbClr val="2E2E2E"/>
                          </a:solidFill>
                          <a:latin typeface="Calibri"/>
                        </a:rPr>
                        <a:t>Specialty Extracted Protein Fractions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8031">
                <a:tc>
                  <a:txBody>
                    <a:bodyPr wrap="none"/>
                    <a:lstStyle/>
                    <a:p>
                      <a:pPr algn="l"/>
                      <a:r>
                        <a:rPr sz="1100" b="1">
                          <a:solidFill>
                            <a:srgbClr val="2E2E2E"/>
                          </a:solidFill>
                          <a:latin typeface="Calibri"/>
                        </a:rPr>
                        <a:t>Total</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r>
            </a:tbl>
          </a:graphicData>
        </a:graphic>
      </p:graphicFrame>
      <p:sp>
        <p:nvSpPr>
          <p:cNvPr id="10" name="TextBox 9"/>
          <p:cNvSpPr txBox="1"/>
          <p:nvPr/>
        </p:nvSpPr>
        <p:spPr>
          <a:xfrm>
            <a:off x="219075" y="248602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11" name="Rounded Rectangle 10"/>
          <p:cNvSpPr/>
          <p:nvPr/>
        </p:nvSpPr>
        <p:spPr>
          <a:xfrm>
            <a:off x="142875" y="2819400"/>
            <a:ext cx="7286625" cy="3810000"/>
          </a:xfrm>
          <a:prstGeom prst="roundRect">
            <a:avLst>
              <a:gd name="adj" fmla="val 2000"/>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2876550"/>
            <a:ext cx="70961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Source Mix by Product Type, 2026E (% share)</a:t>
            </a:r>
          </a:p>
        </p:txBody>
      </p:sp>
      <p:graphicFrame>
        <p:nvGraphicFramePr>
          <p:cNvPr id="13" name="Chart 12"/>
          <p:cNvGraphicFramePr>
            <a:graphicFrameLocks noGrp="1"/>
          </p:cNvGraphicFramePr>
          <p:nvPr/>
        </p:nvGraphicFramePr>
        <p:xfrm>
          <a:off x="238125" y="3105150"/>
          <a:ext cx="7096125" cy="3467100"/>
        </p:xfrm>
        <a:graphic>
          <a:graphicData uri="http://schemas.openxmlformats.org/drawingml/2006/chart">
            <c:chart xmlns:c="http://schemas.openxmlformats.org/drawingml/2006/chart" r:id="rId3"/>
          </a:graphicData>
        </a:graphic>
      </p:graphicFrame>
      <p:sp>
        <p:nvSpPr>
          <p:cNvPr id="14" name="Rounded Rectangle 13"/>
          <p:cNvSpPr/>
          <p:nvPr/>
        </p:nvSpPr>
        <p:spPr>
          <a:xfrm>
            <a:off x="7581900" y="2819400"/>
            <a:ext cx="4457700" cy="3810000"/>
          </a:xfrm>
          <a:prstGeom prst="roundRect">
            <a:avLst>
              <a:gd name="adj" fmla="val 2000"/>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15250" y="2905125"/>
            <a:ext cx="4191000" cy="209550"/>
          </a:xfrm>
          <a:prstGeom prst="rect">
            <a:avLst/>
          </a:prstGeom>
          <a:noFill/>
        </p:spPr>
        <p:txBody>
          <a:bodyPr wrap="square" lIns="0" rIns="19050" tIns="9525" bIns="9525">
            <a:spAutoFit/>
          </a:bodyPr>
          <a:lstStyle/>
          <a:p>
            <a:pPr algn="l"/>
            <a:r>
              <a:rPr sz="1300" b="1">
                <a:solidFill>
                  <a:srgbClr val="0E2A5C"/>
                </a:solidFill>
                <a:latin typeface="Calibri"/>
              </a:rPr>
              <a:t>Share Insights</a:t>
            </a:r>
          </a:p>
        </p:txBody>
      </p:sp>
      <p:sp>
        <p:nvSpPr>
          <p:cNvPr id="16" name="Rectangle 15"/>
          <p:cNvSpPr/>
          <p:nvPr/>
        </p:nvSpPr>
        <p:spPr>
          <a:xfrm>
            <a:off x="7715250" y="3143250"/>
            <a:ext cx="419100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15250" y="3228975"/>
            <a:ext cx="4191000" cy="332422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p:txBody>
      </p:sp>
      <p:sp>
        <p:nvSpPr>
          <p:cNvPr id="18" name="Rectangle 17"/>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20" name="Picture 19" descr="lock.png"/>
          <p:cNvPicPr>
            <a:picLocks noChangeAspect="1"/>
          </p:cNvPicPr>
          <p:nvPr/>
        </p:nvPicPr>
        <p:blipFill>
          <a:blip r:embed="rId5"/>
          <a:stretch>
            <a:fillRect/>
          </a:stretch>
        </p:blipFill>
        <p:spPr>
          <a:xfrm>
            <a:off x="7473967" y="1713738"/>
            <a:ext cx="366712" cy="533400"/>
          </a:xfrm>
          <a:prstGeom prst="rect">
            <a:avLst/>
          </a:prstGeom>
        </p:spPr>
      </p:pic>
      <p:pic>
        <p:nvPicPr>
          <p:cNvPr id="21" name="Picture 20" descr="lock.png"/>
          <p:cNvPicPr>
            <a:picLocks noChangeAspect="1"/>
          </p:cNvPicPr>
          <p:nvPr/>
        </p:nvPicPr>
        <p:blipFill>
          <a:blip r:embed="rId5"/>
          <a:stretch>
            <a:fillRect/>
          </a:stretch>
        </p:blipFill>
        <p:spPr>
          <a:xfrm>
            <a:off x="3709408" y="3864689"/>
            <a:ext cx="440818" cy="641190"/>
          </a:xfrm>
          <a:prstGeom prst="rect">
            <a:avLst/>
          </a:prstGeom>
        </p:spPr>
      </p:pic>
      <p:sp>
        <p:nvSpPr>
          <p:cNvPr id="22" name="TextBox 21"/>
          <p:cNvSpPr txBox="1"/>
          <p:nvPr/>
        </p:nvSpPr>
        <p:spPr>
          <a:xfrm>
            <a:off x="7715250" y="3238500"/>
            <a:ext cx="4171950" cy="194310"/>
          </a:xfrm>
          <a:prstGeom prst="rect">
            <a:avLst/>
          </a:prstGeom>
          <a:noFill/>
        </p:spPr>
        <p:txBody>
          <a:bodyPr wrap="none" lIns="0" rIns="0" tIns="0" bIns="0">
            <a:spAutoFit/>
          </a:bodyPr>
          <a:lstStyle/>
          <a:p>
            <a:r>
              <a:rPr sz="1150" b="0">
                <a:solidFill>
                  <a:srgbClr val="2E2E2E"/>
                </a:solidFill>
                <a:latin typeface="Calibri"/>
              </a:rPr>
              <a:t>▪ 'Chicken Eggshell Membrane' holds the highest share of 'Hydrolyzed</a:t>
            </a:r>
          </a:p>
        </p:txBody>
      </p:sp>
      <p:sp>
        <p:nvSpPr>
          <p:cNvPr id="23" name="TextBox 22"/>
          <p:cNvSpPr txBox="1"/>
          <p:nvPr/>
        </p:nvSpPr>
        <p:spPr>
          <a:xfrm>
            <a:off x="7715250" y="3413760"/>
            <a:ext cx="1437716" cy="194310"/>
          </a:xfrm>
          <a:prstGeom prst="rect">
            <a:avLst/>
          </a:prstGeom>
          <a:noFill/>
        </p:spPr>
        <p:txBody>
          <a:bodyPr wrap="none" lIns="0" rIns="0" tIns="0" bIns="0">
            <a:spAutoFit/>
          </a:bodyPr>
          <a:lstStyle/>
          <a:p>
            <a:r>
              <a:rPr sz="1150" b="0">
                <a:solidFill>
                  <a:srgbClr val="2E2E2E"/>
                </a:solidFill>
                <a:latin typeface="Calibri"/>
              </a:rPr>
              <a:t>Eggshell Membrane' at</a:t>
            </a:r>
          </a:p>
        </p:txBody>
      </p:sp>
      <p:pic>
        <p:nvPicPr>
          <p:cNvPr id="24" name="Picture 23" descr="lock.png"/>
          <p:cNvPicPr>
            <a:picLocks noChangeAspect="1"/>
          </p:cNvPicPr>
          <p:nvPr/>
        </p:nvPicPr>
        <p:blipFill>
          <a:blip r:embed="rId5"/>
          <a:stretch>
            <a:fillRect/>
          </a:stretch>
        </p:blipFill>
        <p:spPr>
          <a:xfrm>
            <a:off x="9102120" y="3403536"/>
            <a:ext cx="134549" cy="195707"/>
          </a:xfrm>
          <a:prstGeom prst="rect">
            <a:avLst/>
          </a:prstGeom>
        </p:spPr>
      </p:pic>
      <p:sp>
        <p:nvSpPr>
          <p:cNvPr id="25" name="TextBox 24"/>
          <p:cNvSpPr txBox="1"/>
          <p:nvPr/>
        </p:nvSpPr>
        <p:spPr>
          <a:xfrm>
            <a:off x="9277230" y="3413760"/>
            <a:ext cx="569404" cy="194310"/>
          </a:xfrm>
          <a:prstGeom prst="rect">
            <a:avLst/>
          </a:prstGeom>
          <a:noFill/>
        </p:spPr>
        <p:txBody>
          <a:bodyPr wrap="none" lIns="0" rIns="0" tIns="0" bIns="0">
            <a:spAutoFit/>
          </a:bodyPr>
          <a:lstStyle/>
          <a:p>
            <a:r>
              <a:rPr sz="1150" b="0">
                <a:solidFill>
                  <a:srgbClr val="2E2E2E"/>
                </a:solidFill>
                <a:latin typeface="Calibri"/>
              </a:rPr>
              <a:t>(2026E).</a:t>
            </a:r>
          </a:p>
        </p:txBody>
      </p:sp>
      <p:sp>
        <p:nvSpPr>
          <p:cNvPr id="26" name="TextBox 25"/>
          <p:cNvSpPr txBox="1"/>
          <p:nvPr/>
        </p:nvSpPr>
        <p:spPr>
          <a:xfrm>
            <a:off x="7715250" y="3641597"/>
            <a:ext cx="4123952" cy="194310"/>
          </a:xfrm>
          <a:prstGeom prst="rect">
            <a:avLst/>
          </a:prstGeom>
          <a:noFill/>
        </p:spPr>
        <p:txBody>
          <a:bodyPr wrap="none" lIns="0" rIns="0" tIns="0" bIns="0">
            <a:spAutoFit/>
          </a:bodyPr>
          <a:lstStyle/>
          <a:p>
            <a:r>
              <a:rPr sz="1150" b="0">
                <a:solidFill>
                  <a:srgbClr val="2E2E2E"/>
                </a:solidFill>
                <a:latin typeface="Calibri"/>
              </a:rPr>
              <a:t>▪ 'Hydrolyzed Eggshell Membrane' is the most concentrated product</a:t>
            </a:r>
          </a:p>
        </p:txBody>
      </p:sp>
      <p:sp>
        <p:nvSpPr>
          <p:cNvPr id="27" name="TextBox 26"/>
          <p:cNvSpPr txBox="1"/>
          <p:nvPr/>
        </p:nvSpPr>
        <p:spPr>
          <a:xfrm>
            <a:off x="7715250" y="3816857"/>
            <a:ext cx="1476511" cy="194310"/>
          </a:xfrm>
          <a:prstGeom prst="rect">
            <a:avLst/>
          </a:prstGeom>
          <a:noFill/>
        </p:spPr>
        <p:txBody>
          <a:bodyPr wrap="none" lIns="0" rIns="0" tIns="0" bIns="0">
            <a:spAutoFit/>
          </a:bodyPr>
          <a:lstStyle/>
          <a:p>
            <a:r>
              <a:rPr sz="1150" b="0">
                <a:solidFill>
                  <a:srgbClr val="2E2E2E"/>
                </a:solidFill>
                <a:latin typeface="Calibri"/>
              </a:rPr>
              <a:t>type sub-segment, with</a:t>
            </a:r>
          </a:p>
        </p:txBody>
      </p:sp>
      <p:pic>
        <p:nvPicPr>
          <p:cNvPr id="28" name="Picture 27" descr="lock.png"/>
          <p:cNvPicPr>
            <a:picLocks noChangeAspect="1"/>
          </p:cNvPicPr>
          <p:nvPr/>
        </p:nvPicPr>
        <p:blipFill>
          <a:blip r:embed="rId5"/>
          <a:stretch>
            <a:fillRect/>
          </a:stretch>
        </p:blipFill>
        <p:spPr>
          <a:xfrm>
            <a:off x="9140915" y="3806634"/>
            <a:ext cx="134549" cy="195707"/>
          </a:xfrm>
          <a:prstGeom prst="rect">
            <a:avLst/>
          </a:prstGeom>
        </p:spPr>
      </p:pic>
      <p:sp>
        <p:nvSpPr>
          <p:cNvPr id="29" name="TextBox 28"/>
          <p:cNvSpPr txBox="1"/>
          <p:nvPr/>
        </p:nvSpPr>
        <p:spPr>
          <a:xfrm>
            <a:off x="9316024" y="3816857"/>
            <a:ext cx="1972282" cy="194310"/>
          </a:xfrm>
          <a:prstGeom prst="rect">
            <a:avLst/>
          </a:prstGeom>
          <a:noFill/>
        </p:spPr>
        <p:txBody>
          <a:bodyPr wrap="none" lIns="0" rIns="0" tIns="0" bIns="0">
            <a:spAutoFit/>
          </a:bodyPr>
          <a:lstStyle/>
          <a:p>
            <a:r>
              <a:rPr sz="1150" b="0">
                <a:solidFill>
                  <a:srgbClr val="2E2E2E"/>
                </a:solidFill>
                <a:latin typeface="Calibri"/>
              </a:rPr>
              <a:t>of its value via 'Chicken Eggshell</a:t>
            </a:r>
          </a:p>
        </p:txBody>
      </p:sp>
      <p:sp>
        <p:nvSpPr>
          <p:cNvPr id="30" name="TextBox 29"/>
          <p:cNvSpPr txBox="1"/>
          <p:nvPr/>
        </p:nvSpPr>
        <p:spPr>
          <a:xfrm>
            <a:off x="7715250" y="3992117"/>
            <a:ext cx="806735" cy="194310"/>
          </a:xfrm>
          <a:prstGeom prst="rect">
            <a:avLst/>
          </a:prstGeom>
          <a:noFill/>
        </p:spPr>
        <p:txBody>
          <a:bodyPr wrap="none" lIns="0" rIns="0" tIns="0" bIns="0">
            <a:spAutoFit/>
          </a:bodyPr>
          <a:lstStyle/>
          <a:p>
            <a:r>
              <a:rPr sz="1150" b="0">
                <a:solidFill>
                  <a:srgbClr val="2E2E2E"/>
                </a:solidFill>
                <a:latin typeface="Calibri"/>
              </a:rPr>
              <a:t>Membrane'.</a:t>
            </a:r>
          </a:p>
        </p:txBody>
      </p:sp>
      <p:sp>
        <p:nvSpPr>
          <p:cNvPr id="31" name="TextBox 30"/>
          <p:cNvSpPr txBox="1"/>
          <p:nvPr/>
        </p:nvSpPr>
        <p:spPr>
          <a:xfrm>
            <a:off x="7715250" y="4219955"/>
            <a:ext cx="2689411" cy="194310"/>
          </a:xfrm>
          <a:prstGeom prst="rect">
            <a:avLst/>
          </a:prstGeom>
          <a:noFill/>
        </p:spPr>
        <p:txBody>
          <a:bodyPr wrap="none" lIns="0" rIns="0" tIns="0" bIns="0">
            <a:spAutoFit/>
          </a:bodyPr>
          <a:lstStyle/>
          <a:p>
            <a:r>
              <a:rPr sz="1150" b="0">
                <a:solidFill>
                  <a:srgbClr val="2E2E2E"/>
                </a:solidFill>
                <a:latin typeface="Calibri"/>
              </a:rPr>
              <a:t>▪ 'Other Poultry Eggshell Membrane' gains +</a:t>
            </a:r>
          </a:p>
        </p:txBody>
      </p:sp>
      <p:pic>
        <p:nvPicPr>
          <p:cNvPr id="32" name="Picture 31" descr="lock.png"/>
          <p:cNvPicPr>
            <a:picLocks noChangeAspect="1"/>
          </p:cNvPicPr>
          <p:nvPr/>
        </p:nvPicPr>
        <p:blipFill>
          <a:blip r:embed="rId5"/>
          <a:stretch>
            <a:fillRect/>
          </a:stretch>
        </p:blipFill>
        <p:spPr>
          <a:xfrm>
            <a:off x="10353814" y="4209732"/>
            <a:ext cx="134549" cy="195707"/>
          </a:xfrm>
          <a:prstGeom prst="rect">
            <a:avLst/>
          </a:prstGeom>
        </p:spPr>
      </p:pic>
      <p:sp>
        <p:nvSpPr>
          <p:cNvPr id="33" name="TextBox 32"/>
          <p:cNvSpPr txBox="1"/>
          <p:nvPr/>
        </p:nvSpPr>
        <p:spPr>
          <a:xfrm>
            <a:off x="10528924" y="4219955"/>
            <a:ext cx="1199815" cy="194310"/>
          </a:xfrm>
          <a:prstGeom prst="rect">
            <a:avLst/>
          </a:prstGeom>
          <a:noFill/>
        </p:spPr>
        <p:txBody>
          <a:bodyPr wrap="none" lIns="0" rIns="0" tIns="0" bIns="0">
            <a:spAutoFit/>
          </a:bodyPr>
          <a:lstStyle/>
          <a:p>
            <a:r>
              <a:rPr sz="1150" b="0">
                <a:solidFill>
                  <a:srgbClr val="2E2E2E"/>
                </a:solidFill>
                <a:latin typeface="Calibri"/>
              </a:rPr>
              <a:t>BPS of share of the</a:t>
            </a:r>
          </a:p>
        </p:txBody>
      </p:sp>
      <p:sp>
        <p:nvSpPr>
          <p:cNvPr id="34" name="TextBox 33"/>
          <p:cNvSpPr txBox="1"/>
          <p:nvPr/>
        </p:nvSpPr>
        <p:spPr>
          <a:xfrm>
            <a:off x="7715250" y="4395215"/>
            <a:ext cx="2367430" cy="194310"/>
          </a:xfrm>
          <a:prstGeom prst="rect">
            <a:avLst/>
          </a:prstGeom>
          <a:noFill/>
        </p:spPr>
        <p:txBody>
          <a:bodyPr wrap="none" lIns="0" rIns="0" tIns="0" bIns="0">
            <a:spAutoFit/>
          </a:bodyPr>
          <a:lstStyle/>
          <a:p>
            <a:r>
              <a:rPr sz="1150" b="0">
                <a:solidFill>
                  <a:srgbClr val="2E2E2E"/>
                </a:solidFill>
                <a:latin typeface="Calibri"/>
              </a:rPr>
              <a:t>North America cross-section by 2036F.</a:t>
            </a:r>
          </a:p>
        </p:txBody>
      </p:sp>
      <p:sp>
        <p:nvSpPr>
          <p:cNvPr id="35" name="lockshield_13"/>
          <p:cNvSpPr/>
          <p:nvPr/>
        </p:nvSpPr>
        <p:spPr>
          <a:xfrm>
            <a:off x="238125" y="3105150"/>
            <a:ext cx="7096125" cy="34671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Absolute $ Opportunity &amp; Attractiveness: Product Type × Source, 2026E–2036F</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Incremental value 2026E→2036F (US$ Mn) and value CAGR by cell; attractiveness index scored 1–5</a:t>
            </a:r>
          </a:p>
        </p:txBody>
      </p:sp>
      <p:sp>
        <p:nvSpPr>
          <p:cNvPr id="7" name="Rounded Rectangle 6"/>
          <p:cNvSpPr/>
          <p:nvPr/>
        </p:nvSpPr>
        <p:spPr>
          <a:xfrm>
            <a:off x="142875" y="981075"/>
            <a:ext cx="11906250" cy="1952625"/>
          </a:xfrm>
          <a:prstGeom prst="roundRect">
            <a:avLst>
              <a:gd name="adj" fmla="val 3902"/>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Incremental $ Opportunity (US$ Mn) and Value CAGR, Product Type × Source, 2026E–2036F</a:t>
            </a:r>
          </a:p>
        </p:txBody>
      </p:sp>
      <p:graphicFrame>
        <p:nvGraphicFramePr>
          <p:cNvPr id="9" name="Table 8"/>
          <p:cNvGraphicFramePr>
            <a:graphicFrameLocks noGrp="1"/>
          </p:cNvGraphicFramePr>
          <p:nvPr/>
        </p:nvGraphicFramePr>
        <p:xfrm>
          <a:off x="152400" y="1238250"/>
          <a:ext cx="11887197" cy="1485896"/>
        </p:xfrm>
        <a:graphic>
          <a:graphicData uri="http://schemas.openxmlformats.org/drawingml/2006/table">
            <a:tbl>
              <a:tblPr>
                <a:tableStyleId>{5C22544A-7EE6-4342-B048-85BDC9FD1C3A}</a:tableStyleId>
              </a:tblPr>
              <a:tblGrid>
                <a:gridCol w="4730223"/>
                <a:gridCol w="1192829"/>
                <a:gridCol w="1192829"/>
                <a:gridCol w="1192829"/>
                <a:gridCol w="1192829"/>
                <a:gridCol w="1192829"/>
                <a:gridCol w="1192829"/>
              </a:tblGrid>
              <a:tr h="246126">
                <a:tc rowSpan="2">
                  <a:txBody>
                    <a:bodyPr wrap="none"/>
                    <a:lstStyle/>
                    <a:p>
                      <a:pPr algn="l"/>
                      <a:r>
                        <a:rPr sz="1100" b="1">
                          <a:solidFill>
                            <a:srgbClr val="0E2A5C"/>
                          </a:solidFill>
                          <a:latin typeface="Calibri"/>
                        </a:rPr>
                        <a:t>Product Type</a:t>
                      </a:r>
                      <a:endParaRPr sz="1100"/>
                    </a:p>
                  </a:txBody>
                  <a:tcPr marL="47625" marR="38100" marT="19050" marB="19050" anchor="ctr">
                    <a:solidFill>
                      <a:srgbClr val="EBF2F9"/>
                    </a:solidFill>
                  </a:tcPr>
                </a:tc>
                <a:tc gridSpan="2">
                  <a:txBody>
                    <a:bodyPr wrap="none"/>
                    <a:lstStyle/>
                    <a:p>
                      <a:pPr algn="ctr"/>
                      <a:r>
                        <a:rPr sz="1100" b="1">
                          <a:solidFill>
                            <a:srgbClr val="0E2A5C"/>
                          </a:solidFill>
                          <a:latin typeface="Calibri"/>
                        </a:rPr>
                        <a:t>Chicken Eggshell Membrane</a:t>
                      </a:r>
                      <a:endParaRPr sz="1100"/>
                    </a:p>
                  </a:txBody>
                  <a:tcPr marL="47625" marR="38100" marT="19050" marB="19050" anchor="ctr">
                    <a:solidFill>
                      <a:srgbClr val="EBF2F9"/>
                    </a:solidFill>
                  </a:tcPr>
                </a:tc>
                <a:tc hMerge="1">
                  <a:txBody>
                    <a:bodyPr wrap="none"/>
                    <a:lstStyle/>
                    <a:p>
                      <a:pPr algn="ctr"/>
                      <a:endParaRPr sz="1100"/>
                    </a:p>
                  </a:txBody>
                  <a:tcPr marL="47625" marR="38100" marT="19050" marB="19050" anchor="ctr">
                    <a:solidFill>
                      <a:srgbClr val="EBF2F9"/>
                    </a:solidFill>
                  </a:tcPr>
                </a:tc>
                <a:tc gridSpan="2">
                  <a:txBody>
                    <a:bodyPr wrap="none"/>
                    <a:lstStyle/>
                    <a:p>
                      <a:pPr algn="ctr"/>
                      <a:r>
                        <a:rPr sz="1100" b="1">
                          <a:solidFill>
                            <a:srgbClr val="0E2A5C"/>
                          </a:solidFill>
                          <a:latin typeface="Calibri"/>
                        </a:rPr>
                        <a:t>Other Poultry Eggshell Membrane</a:t>
                      </a:r>
                      <a:endParaRPr sz="1100"/>
                    </a:p>
                  </a:txBody>
                  <a:tcPr marL="47625" marR="38100" marT="19050" marB="19050" anchor="ctr">
                    <a:solidFill>
                      <a:srgbClr val="EBF2F9"/>
                    </a:solidFill>
                  </a:tcPr>
                </a:tc>
                <a:tc hMerge="1">
                  <a:txBody>
                    <a:bodyPr wrap="none"/>
                    <a:lstStyle/>
                    <a:p>
                      <a:pPr algn="ctr"/>
                      <a:endParaRPr sz="1100"/>
                    </a:p>
                  </a:txBody>
                  <a:tcPr marL="47625" marR="38100" marT="19050" marB="19050" anchor="ctr">
                    <a:solidFill>
                      <a:srgbClr val="EBF2F9"/>
                    </a:solidFill>
                  </a:tcPr>
                </a:tc>
                <a:tc gridSpan="2">
                  <a:txBody>
                    <a:bodyPr wrap="none"/>
                    <a:lstStyle/>
                    <a:p>
                      <a:pPr algn="ctr"/>
                      <a:r>
                        <a:rPr sz="1100" b="1">
                          <a:solidFill>
                            <a:srgbClr val="0E2A5C"/>
                          </a:solidFill>
                          <a:latin typeface="Calibri"/>
                        </a:rPr>
                        <a:t>Total</a:t>
                      </a:r>
                      <a:endParaRPr sz="1100"/>
                    </a:p>
                  </a:txBody>
                  <a:tcPr marL="47625" marR="38100" marT="19050" marB="19050" anchor="ctr">
                    <a:solidFill>
                      <a:srgbClr val="EBF2F9"/>
                    </a:solidFill>
                  </a:tcPr>
                </a:tc>
                <a:tc hMerge="1">
                  <a:txBody>
                    <a:bodyPr wrap="none"/>
                    <a:lstStyle/>
                    <a:p>
                      <a:pPr algn="ctr"/>
                      <a:endParaRPr sz="1100"/>
                    </a:p>
                  </a:txBody>
                  <a:tcPr marL="47625" marR="38100" marT="19050" marB="19050" anchor="ctr">
                    <a:solidFill>
                      <a:srgbClr val="EBF2F9"/>
                    </a:solidFill>
                  </a:tcPr>
                </a:tc>
              </a:tr>
              <a:tr h="247954">
                <a:tc vMerge="1">
                  <a:txBody>
                    <a:bodyPr wrap="none"/>
                    <a:lstStyle/>
                    <a:p>
                      <a:pPr algn="l"/>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US$ Mn</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CAGR</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US$ Mn</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CAGR</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US$ Mn</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CAGR</a:t>
                      </a:r>
                      <a:endParaRPr sz="1100"/>
                    </a:p>
                  </a:txBody>
                  <a:tcPr marL="47625" marR="38100" marT="19050" marB="19050" anchor="ctr">
                    <a:solidFill>
                      <a:srgbClr val="EBF2F9"/>
                    </a:solidFill>
                  </a:tcPr>
                </a:tc>
              </a:tr>
              <a:tr h="247954">
                <a:tc>
                  <a:txBody>
                    <a:bodyPr wrap="none"/>
                    <a:lstStyle/>
                    <a:p>
                      <a:pPr algn="l"/>
                      <a:r>
                        <a:rPr sz="1100" b="1">
                          <a:solidFill>
                            <a:srgbClr val="2E2E2E"/>
                          </a:solidFill>
                          <a:latin typeface="Calibri"/>
                        </a:rPr>
                        <a:t>Micronized Eggshell Membrane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954">
                <a:tc>
                  <a:txBody>
                    <a:bodyPr wrap="none"/>
                    <a:lstStyle/>
                    <a:p>
                      <a:pPr algn="l"/>
                      <a:r>
                        <a:rPr sz="1100" b="1">
                          <a:solidFill>
                            <a:srgbClr val="2E2E2E"/>
                          </a:solidFill>
                          <a:latin typeface="Calibri"/>
                        </a:rPr>
                        <a:t>Hydrolyzed Eggshell Membrane</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7954">
                <a:tc>
                  <a:txBody>
                    <a:bodyPr wrap="none"/>
                    <a:lstStyle/>
                    <a:p>
                      <a:pPr algn="l"/>
                      <a:r>
                        <a:rPr sz="1100" b="1">
                          <a:solidFill>
                            <a:srgbClr val="2E2E2E"/>
                          </a:solidFill>
                          <a:latin typeface="Calibri"/>
                        </a:rPr>
                        <a:t>Specialty Extracted Protein Fractions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954">
                <a:tc>
                  <a:txBody>
                    <a:bodyPr wrap="none"/>
                    <a:lstStyle/>
                    <a:p>
                      <a:pPr algn="l"/>
                      <a:r>
                        <a:rPr sz="1100" b="1">
                          <a:solidFill>
                            <a:srgbClr val="2E2E2E"/>
                          </a:solidFill>
                          <a:latin typeface="Calibri"/>
                        </a:rPr>
                        <a:t>Total</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r>
            </a:tbl>
          </a:graphicData>
        </a:graphic>
      </p:graphicFrame>
      <p:sp>
        <p:nvSpPr>
          <p:cNvPr id="10" name="TextBox 9"/>
          <p:cNvSpPr txBox="1"/>
          <p:nvPr/>
        </p:nvSpPr>
        <p:spPr>
          <a:xfrm>
            <a:off x="219075" y="273367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11" name="Rounded Rectangle 10"/>
          <p:cNvSpPr/>
          <p:nvPr/>
        </p:nvSpPr>
        <p:spPr>
          <a:xfrm>
            <a:off x="142875" y="3067050"/>
            <a:ext cx="5600700" cy="3562350"/>
          </a:xfrm>
          <a:prstGeom prst="roundRect">
            <a:avLst>
              <a:gd name="adj" fmla="val 213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6225" y="3152775"/>
            <a:ext cx="5334000" cy="209550"/>
          </a:xfrm>
          <a:prstGeom prst="rect">
            <a:avLst/>
          </a:prstGeom>
          <a:noFill/>
        </p:spPr>
        <p:txBody>
          <a:bodyPr wrap="square" lIns="0" rIns="19050" tIns="9525" bIns="9525">
            <a:spAutoFit/>
          </a:bodyPr>
          <a:lstStyle/>
          <a:p>
            <a:pPr algn="l"/>
            <a:r>
              <a:rPr sz="1300" b="1">
                <a:solidFill>
                  <a:srgbClr val="0E2A5C"/>
                </a:solidFill>
                <a:latin typeface="Calibri"/>
              </a:rPr>
              <a:t>Top 5 Opportunity Cells (US$ Mn · CAGR · Index)</a:t>
            </a:r>
          </a:p>
        </p:txBody>
      </p:sp>
      <p:sp>
        <p:nvSpPr>
          <p:cNvPr id="13" name="Rectangle 12"/>
          <p:cNvSpPr/>
          <p:nvPr/>
        </p:nvSpPr>
        <p:spPr>
          <a:xfrm>
            <a:off x="276225" y="3390900"/>
            <a:ext cx="533400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6225" y="3476625"/>
            <a:ext cx="5334000" cy="307657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p:txBody>
      </p:sp>
      <p:sp>
        <p:nvSpPr>
          <p:cNvPr id="15" name="Rounded Rectangle 14"/>
          <p:cNvSpPr/>
          <p:nvPr/>
        </p:nvSpPr>
        <p:spPr>
          <a:xfrm>
            <a:off x="5895975" y="3067050"/>
            <a:ext cx="1943100" cy="3562350"/>
          </a:xfrm>
          <a:prstGeom prst="roundRect">
            <a:avLst>
              <a:gd name="adj" fmla="val 3921"/>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029325" y="3152775"/>
            <a:ext cx="1676400" cy="209550"/>
          </a:xfrm>
          <a:prstGeom prst="rect">
            <a:avLst/>
          </a:prstGeom>
          <a:noFill/>
        </p:spPr>
        <p:txBody>
          <a:bodyPr wrap="square" lIns="0" rIns="19050" tIns="9525" bIns="9525">
            <a:spAutoFit/>
          </a:bodyPr>
          <a:lstStyle/>
          <a:p>
            <a:pPr algn="l"/>
            <a:r>
              <a:rPr sz="1300" b="1">
                <a:solidFill>
                  <a:srgbClr val="0E2A5C"/>
                </a:solidFill>
                <a:latin typeface="Calibri"/>
              </a:rPr>
              <a:t>Largest Pool</a:t>
            </a:r>
          </a:p>
        </p:txBody>
      </p:sp>
      <p:sp>
        <p:nvSpPr>
          <p:cNvPr id="17" name="Rectangle 16"/>
          <p:cNvSpPr/>
          <p:nvPr/>
        </p:nvSpPr>
        <p:spPr>
          <a:xfrm>
            <a:off x="6029325" y="3390900"/>
            <a:ext cx="167640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029325" y="3476625"/>
            <a:ext cx="1676400" cy="307657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p:txBody>
      </p:sp>
      <p:sp>
        <p:nvSpPr>
          <p:cNvPr id="19" name="Rounded Rectangle 18"/>
          <p:cNvSpPr/>
          <p:nvPr/>
        </p:nvSpPr>
        <p:spPr>
          <a:xfrm>
            <a:off x="7991475" y="3067050"/>
            <a:ext cx="1943100" cy="3562350"/>
          </a:xfrm>
          <a:prstGeom prst="roundRect">
            <a:avLst>
              <a:gd name="adj" fmla="val 3921"/>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24825" y="3152775"/>
            <a:ext cx="1676400" cy="209550"/>
          </a:xfrm>
          <a:prstGeom prst="rect">
            <a:avLst/>
          </a:prstGeom>
          <a:noFill/>
        </p:spPr>
        <p:txBody>
          <a:bodyPr wrap="square" lIns="0" rIns="19050" tIns="9525" bIns="9525">
            <a:spAutoFit/>
          </a:bodyPr>
          <a:lstStyle/>
          <a:p>
            <a:pPr algn="l"/>
            <a:r>
              <a:rPr sz="1300" b="1">
                <a:solidFill>
                  <a:srgbClr val="0E2A5C"/>
                </a:solidFill>
                <a:latin typeface="Calibri"/>
              </a:rPr>
              <a:t>Fastest Growth</a:t>
            </a:r>
          </a:p>
        </p:txBody>
      </p:sp>
      <p:sp>
        <p:nvSpPr>
          <p:cNvPr id="21" name="Rectangle 20"/>
          <p:cNvSpPr/>
          <p:nvPr/>
        </p:nvSpPr>
        <p:spPr>
          <a:xfrm>
            <a:off x="8124825" y="3390900"/>
            <a:ext cx="167640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24825" y="3476625"/>
            <a:ext cx="1676400" cy="307657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p:txBody>
      </p:sp>
      <p:sp>
        <p:nvSpPr>
          <p:cNvPr id="23" name="Rounded Rectangle 22"/>
          <p:cNvSpPr/>
          <p:nvPr/>
        </p:nvSpPr>
        <p:spPr>
          <a:xfrm>
            <a:off x="10086975" y="3067050"/>
            <a:ext cx="1943100" cy="3562350"/>
          </a:xfrm>
          <a:prstGeom prst="roundRect">
            <a:avLst>
              <a:gd name="adj" fmla="val 3921"/>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220325" y="3152775"/>
            <a:ext cx="1676400" cy="209550"/>
          </a:xfrm>
          <a:prstGeom prst="rect">
            <a:avLst/>
          </a:prstGeom>
          <a:noFill/>
        </p:spPr>
        <p:txBody>
          <a:bodyPr wrap="square" lIns="0" rIns="19050" tIns="9525" bIns="9525">
            <a:spAutoFit/>
          </a:bodyPr>
          <a:lstStyle/>
          <a:p>
            <a:pPr algn="l"/>
            <a:r>
              <a:rPr sz="1300" b="1">
                <a:solidFill>
                  <a:srgbClr val="0E2A5C"/>
                </a:solidFill>
                <a:latin typeface="Calibri"/>
              </a:rPr>
              <a:t>Where to Play</a:t>
            </a:r>
          </a:p>
        </p:txBody>
      </p:sp>
      <p:sp>
        <p:nvSpPr>
          <p:cNvPr id="25" name="Rectangle 24"/>
          <p:cNvSpPr/>
          <p:nvPr/>
        </p:nvSpPr>
        <p:spPr>
          <a:xfrm>
            <a:off x="10220325" y="3390900"/>
            <a:ext cx="167640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220325" y="3476625"/>
            <a:ext cx="1676400" cy="307657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t>
            </a:r>
            <a:r>
              <a:rPr sz="1150" b="0">
                <a:solidFill>
                  <a:srgbClr val="2E2E2E"/>
                </a:solidFill>
                <a:latin typeface="Calibri"/>
              </a:rPr>
              <a:t>'Hydrolyzed Eggshell Membrane × Chicken Eggshell Membrane' ranks highest (5/5); 'Micronized Eggshell Membrane × Chicken Eggshell Membrane' lowest (1/5), a deprioritised cell.</a:t>
            </a:r>
          </a:p>
        </p:txBody>
      </p:sp>
      <p:sp>
        <p:nvSpPr>
          <p:cNvPr id="27" name="Rectangle 26"/>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29" name="Picture 28" descr="lock.png"/>
          <p:cNvPicPr>
            <a:picLocks noChangeAspect="1"/>
          </p:cNvPicPr>
          <p:nvPr/>
        </p:nvPicPr>
        <p:blipFill>
          <a:blip r:embed="rId4"/>
          <a:stretch>
            <a:fillRect/>
          </a:stretch>
        </p:blipFill>
        <p:spPr>
          <a:xfrm>
            <a:off x="8274419" y="1961541"/>
            <a:ext cx="366712" cy="533400"/>
          </a:xfrm>
          <a:prstGeom prst="rect">
            <a:avLst/>
          </a:prstGeom>
        </p:spPr>
      </p:pic>
      <p:sp>
        <p:nvSpPr>
          <p:cNvPr id="30" name="TextBox 29"/>
          <p:cNvSpPr txBox="1"/>
          <p:nvPr/>
        </p:nvSpPr>
        <p:spPr>
          <a:xfrm>
            <a:off x="276225" y="3486150"/>
            <a:ext cx="4400649" cy="194310"/>
          </a:xfrm>
          <a:prstGeom prst="rect">
            <a:avLst/>
          </a:prstGeom>
          <a:noFill/>
        </p:spPr>
        <p:txBody>
          <a:bodyPr wrap="none" lIns="0" rIns="0" tIns="0" bIns="0">
            <a:spAutoFit/>
          </a:bodyPr>
          <a:lstStyle/>
          <a:p>
            <a:r>
              <a:rPr sz="1150" b="0">
                <a:solidFill>
                  <a:srgbClr val="2E2E2E"/>
                </a:solidFill>
                <a:latin typeface="Calibri"/>
              </a:rPr>
              <a:t>▪ 1. Specialty Extracted Protein Fractions × Chicken Eggshell Membrane –</a:t>
            </a:r>
          </a:p>
        </p:txBody>
      </p:sp>
      <p:pic>
        <p:nvPicPr>
          <p:cNvPr id="31" name="Picture 30" descr="lock.png"/>
          <p:cNvPicPr>
            <a:picLocks noChangeAspect="1"/>
          </p:cNvPicPr>
          <p:nvPr/>
        </p:nvPicPr>
        <p:blipFill>
          <a:blip r:embed="rId4"/>
          <a:stretch>
            <a:fillRect/>
          </a:stretch>
        </p:blipFill>
        <p:spPr>
          <a:xfrm>
            <a:off x="4626028" y="3475926"/>
            <a:ext cx="134549" cy="195707"/>
          </a:xfrm>
          <a:prstGeom prst="rect">
            <a:avLst/>
          </a:prstGeom>
        </p:spPr>
      </p:pic>
      <p:sp>
        <p:nvSpPr>
          <p:cNvPr id="32" name="TextBox 31"/>
          <p:cNvSpPr txBox="1"/>
          <p:nvPr/>
        </p:nvSpPr>
        <p:spPr>
          <a:xfrm>
            <a:off x="4801137" y="3486150"/>
            <a:ext cx="112997" cy="194310"/>
          </a:xfrm>
          <a:prstGeom prst="rect">
            <a:avLst/>
          </a:prstGeom>
          <a:noFill/>
        </p:spPr>
        <p:txBody>
          <a:bodyPr wrap="none" lIns="0" rIns="0" tIns="0" bIns="0">
            <a:spAutoFit/>
          </a:bodyPr>
          <a:lstStyle/>
          <a:p>
            <a:r>
              <a:rPr sz="1150" b="0">
                <a:solidFill>
                  <a:srgbClr val="2E2E2E"/>
                </a:solidFill>
                <a:latin typeface="Calibri"/>
              </a:rPr>
              <a:t>·</a:t>
            </a:r>
          </a:p>
        </p:txBody>
      </p:sp>
      <p:pic>
        <p:nvPicPr>
          <p:cNvPr id="33" name="Picture 32" descr="lock.png"/>
          <p:cNvPicPr>
            <a:picLocks noChangeAspect="1"/>
          </p:cNvPicPr>
          <p:nvPr/>
        </p:nvPicPr>
        <p:blipFill>
          <a:blip r:embed="rId4"/>
          <a:stretch>
            <a:fillRect/>
          </a:stretch>
        </p:blipFill>
        <p:spPr>
          <a:xfrm>
            <a:off x="4863289" y="3475926"/>
            <a:ext cx="134549" cy="195707"/>
          </a:xfrm>
          <a:prstGeom prst="rect">
            <a:avLst/>
          </a:prstGeom>
        </p:spPr>
      </p:pic>
      <p:sp>
        <p:nvSpPr>
          <p:cNvPr id="34" name="TextBox 33"/>
          <p:cNvSpPr txBox="1"/>
          <p:nvPr/>
        </p:nvSpPr>
        <p:spPr>
          <a:xfrm>
            <a:off x="5038398" y="3486150"/>
            <a:ext cx="350899" cy="194310"/>
          </a:xfrm>
          <a:prstGeom prst="rect">
            <a:avLst/>
          </a:prstGeom>
          <a:noFill/>
        </p:spPr>
        <p:txBody>
          <a:bodyPr wrap="none" lIns="0" rIns="0" tIns="0" bIns="0">
            <a:spAutoFit/>
          </a:bodyPr>
          <a:lstStyle/>
          <a:p>
            <a:r>
              <a:rPr sz="1150" b="0">
                <a:solidFill>
                  <a:srgbClr val="2E2E2E"/>
                </a:solidFill>
                <a:latin typeface="Calibri"/>
              </a:rPr>
              <a:t>· 5/5</a:t>
            </a:r>
          </a:p>
        </p:txBody>
      </p:sp>
      <p:sp>
        <p:nvSpPr>
          <p:cNvPr id="35" name="TextBox 34"/>
          <p:cNvSpPr txBox="1"/>
          <p:nvPr/>
        </p:nvSpPr>
        <p:spPr>
          <a:xfrm>
            <a:off x="276225" y="3713987"/>
            <a:ext cx="4105411" cy="194310"/>
          </a:xfrm>
          <a:prstGeom prst="rect">
            <a:avLst/>
          </a:prstGeom>
          <a:noFill/>
        </p:spPr>
        <p:txBody>
          <a:bodyPr wrap="none" lIns="0" rIns="0" tIns="0" bIns="0">
            <a:spAutoFit/>
          </a:bodyPr>
          <a:lstStyle/>
          <a:p>
            <a:r>
              <a:rPr sz="1150" b="0">
                <a:solidFill>
                  <a:srgbClr val="2E2E2E"/>
                </a:solidFill>
                <a:latin typeface="Calibri"/>
              </a:rPr>
              <a:t>▪ 2. Hydrolyzed Eggshell Membrane × Chicken Eggshell Membrane –</a:t>
            </a:r>
          </a:p>
        </p:txBody>
      </p:sp>
      <p:pic>
        <p:nvPicPr>
          <p:cNvPr id="36" name="Picture 35" descr="lock.png"/>
          <p:cNvPicPr>
            <a:picLocks noChangeAspect="1"/>
          </p:cNvPicPr>
          <p:nvPr/>
        </p:nvPicPr>
        <p:blipFill>
          <a:blip r:embed="rId4"/>
          <a:stretch>
            <a:fillRect/>
          </a:stretch>
        </p:blipFill>
        <p:spPr>
          <a:xfrm>
            <a:off x="4330790" y="3703764"/>
            <a:ext cx="134549" cy="195707"/>
          </a:xfrm>
          <a:prstGeom prst="rect">
            <a:avLst/>
          </a:prstGeom>
        </p:spPr>
      </p:pic>
      <p:sp>
        <p:nvSpPr>
          <p:cNvPr id="37" name="TextBox 36"/>
          <p:cNvSpPr txBox="1"/>
          <p:nvPr/>
        </p:nvSpPr>
        <p:spPr>
          <a:xfrm>
            <a:off x="4505899" y="3713987"/>
            <a:ext cx="112997" cy="194310"/>
          </a:xfrm>
          <a:prstGeom prst="rect">
            <a:avLst/>
          </a:prstGeom>
          <a:noFill/>
        </p:spPr>
        <p:txBody>
          <a:bodyPr wrap="none" lIns="0" rIns="0" tIns="0" bIns="0">
            <a:spAutoFit/>
          </a:bodyPr>
          <a:lstStyle/>
          <a:p>
            <a:r>
              <a:rPr sz="1150" b="0">
                <a:solidFill>
                  <a:srgbClr val="2E2E2E"/>
                </a:solidFill>
                <a:latin typeface="Calibri"/>
              </a:rPr>
              <a:t>·</a:t>
            </a:r>
          </a:p>
        </p:txBody>
      </p:sp>
      <p:pic>
        <p:nvPicPr>
          <p:cNvPr id="38" name="Picture 37" descr="lock.png"/>
          <p:cNvPicPr>
            <a:picLocks noChangeAspect="1"/>
          </p:cNvPicPr>
          <p:nvPr/>
        </p:nvPicPr>
        <p:blipFill>
          <a:blip r:embed="rId4"/>
          <a:stretch>
            <a:fillRect/>
          </a:stretch>
        </p:blipFill>
        <p:spPr>
          <a:xfrm>
            <a:off x="4568051" y="3703764"/>
            <a:ext cx="134549" cy="195707"/>
          </a:xfrm>
          <a:prstGeom prst="rect">
            <a:avLst/>
          </a:prstGeom>
        </p:spPr>
      </p:pic>
      <p:sp>
        <p:nvSpPr>
          <p:cNvPr id="39" name="TextBox 38"/>
          <p:cNvSpPr txBox="1"/>
          <p:nvPr/>
        </p:nvSpPr>
        <p:spPr>
          <a:xfrm>
            <a:off x="4743160" y="3713987"/>
            <a:ext cx="350899" cy="194310"/>
          </a:xfrm>
          <a:prstGeom prst="rect">
            <a:avLst/>
          </a:prstGeom>
          <a:noFill/>
        </p:spPr>
        <p:txBody>
          <a:bodyPr wrap="none" lIns="0" rIns="0" tIns="0" bIns="0">
            <a:spAutoFit/>
          </a:bodyPr>
          <a:lstStyle/>
          <a:p>
            <a:r>
              <a:rPr sz="1150" b="0">
                <a:solidFill>
                  <a:srgbClr val="2E2E2E"/>
                </a:solidFill>
                <a:latin typeface="Calibri"/>
              </a:rPr>
              <a:t>· 5/5</a:t>
            </a:r>
          </a:p>
        </p:txBody>
      </p:sp>
      <p:sp>
        <p:nvSpPr>
          <p:cNvPr id="40" name="TextBox 39"/>
          <p:cNvSpPr txBox="1"/>
          <p:nvPr/>
        </p:nvSpPr>
        <p:spPr>
          <a:xfrm>
            <a:off x="276225" y="3941825"/>
            <a:ext cx="4102558" cy="194310"/>
          </a:xfrm>
          <a:prstGeom prst="rect">
            <a:avLst/>
          </a:prstGeom>
          <a:noFill/>
        </p:spPr>
        <p:txBody>
          <a:bodyPr wrap="none" lIns="0" rIns="0" tIns="0" bIns="0">
            <a:spAutoFit/>
          </a:bodyPr>
          <a:lstStyle/>
          <a:p>
            <a:r>
              <a:rPr sz="1150" b="0">
                <a:solidFill>
                  <a:srgbClr val="2E2E2E"/>
                </a:solidFill>
                <a:latin typeface="Calibri"/>
              </a:rPr>
              <a:t>▪ 3. Micronized Eggshell Membrane × Chicken Eggshell Membrane –</a:t>
            </a:r>
          </a:p>
        </p:txBody>
      </p:sp>
      <p:pic>
        <p:nvPicPr>
          <p:cNvPr id="41" name="Picture 40" descr="lock.png"/>
          <p:cNvPicPr>
            <a:picLocks noChangeAspect="1"/>
          </p:cNvPicPr>
          <p:nvPr/>
        </p:nvPicPr>
        <p:blipFill>
          <a:blip r:embed="rId4"/>
          <a:stretch>
            <a:fillRect/>
          </a:stretch>
        </p:blipFill>
        <p:spPr>
          <a:xfrm>
            <a:off x="4327937" y="3931602"/>
            <a:ext cx="134549" cy="195707"/>
          </a:xfrm>
          <a:prstGeom prst="rect">
            <a:avLst/>
          </a:prstGeom>
        </p:spPr>
      </p:pic>
      <p:sp>
        <p:nvSpPr>
          <p:cNvPr id="42" name="TextBox 41"/>
          <p:cNvSpPr txBox="1"/>
          <p:nvPr/>
        </p:nvSpPr>
        <p:spPr>
          <a:xfrm>
            <a:off x="4503047" y="3941825"/>
            <a:ext cx="112997" cy="194310"/>
          </a:xfrm>
          <a:prstGeom prst="rect">
            <a:avLst/>
          </a:prstGeom>
          <a:noFill/>
        </p:spPr>
        <p:txBody>
          <a:bodyPr wrap="none" lIns="0" rIns="0" tIns="0" bIns="0">
            <a:spAutoFit/>
          </a:bodyPr>
          <a:lstStyle/>
          <a:p>
            <a:r>
              <a:rPr sz="1150" b="0">
                <a:solidFill>
                  <a:srgbClr val="2E2E2E"/>
                </a:solidFill>
                <a:latin typeface="Calibri"/>
              </a:rPr>
              <a:t>·</a:t>
            </a:r>
          </a:p>
        </p:txBody>
      </p:sp>
      <p:pic>
        <p:nvPicPr>
          <p:cNvPr id="43" name="Picture 42" descr="lock.png"/>
          <p:cNvPicPr>
            <a:picLocks noChangeAspect="1"/>
          </p:cNvPicPr>
          <p:nvPr/>
        </p:nvPicPr>
        <p:blipFill>
          <a:blip r:embed="rId4"/>
          <a:stretch>
            <a:fillRect/>
          </a:stretch>
        </p:blipFill>
        <p:spPr>
          <a:xfrm>
            <a:off x="4565198" y="3931602"/>
            <a:ext cx="134549" cy="195707"/>
          </a:xfrm>
          <a:prstGeom prst="rect">
            <a:avLst/>
          </a:prstGeom>
        </p:spPr>
      </p:pic>
      <p:sp>
        <p:nvSpPr>
          <p:cNvPr id="44" name="TextBox 43"/>
          <p:cNvSpPr txBox="1"/>
          <p:nvPr/>
        </p:nvSpPr>
        <p:spPr>
          <a:xfrm>
            <a:off x="4740308" y="3941825"/>
            <a:ext cx="350899" cy="194310"/>
          </a:xfrm>
          <a:prstGeom prst="rect">
            <a:avLst/>
          </a:prstGeom>
          <a:noFill/>
        </p:spPr>
        <p:txBody>
          <a:bodyPr wrap="none" lIns="0" rIns="0" tIns="0" bIns="0">
            <a:spAutoFit/>
          </a:bodyPr>
          <a:lstStyle/>
          <a:p>
            <a:r>
              <a:rPr sz="1150" b="0">
                <a:solidFill>
                  <a:srgbClr val="2E2E2E"/>
                </a:solidFill>
                <a:latin typeface="Calibri"/>
              </a:rPr>
              <a:t>· 1/5</a:t>
            </a:r>
          </a:p>
        </p:txBody>
      </p:sp>
      <p:sp>
        <p:nvSpPr>
          <p:cNvPr id="45" name="TextBox 44"/>
          <p:cNvSpPr txBox="1"/>
          <p:nvPr/>
        </p:nvSpPr>
        <p:spPr>
          <a:xfrm>
            <a:off x="276225" y="4169663"/>
            <a:ext cx="4445148" cy="194310"/>
          </a:xfrm>
          <a:prstGeom prst="rect">
            <a:avLst/>
          </a:prstGeom>
          <a:noFill/>
        </p:spPr>
        <p:txBody>
          <a:bodyPr wrap="none" lIns="0" rIns="0" tIns="0" bIns="0">
            <a:spAutoFit/>
          </a:bodyPr>
          <a:lstStyle/>
          <a:p>
            <a:r>
              <a:rPr sz="1150" b="0">
                <a:solidFill>
                  <a:srgbClr val="2E2E2E"/>
                </a:solidFill>
                <a:latin typeface="Calibri"/>
              </a:rPr>
              <a:t>▪ 4. Micronized Eggshell Membrane × Other Poultry Eggshell Membrane –</a:t>
            </a:r>
          </a:p>
        </p:txBody>
      </p:sp>
      <p:pic>
        <p:nvPicPr>
          <p:cNvPr id="46" name="Picture 45" descr="lock.png"/>
          <p:cNvPicPr>
            <a:picLocks noChangeAspect="1"/>
          </p:cNvPicPr>
          <p:nvPr/>
        </p:nvPicPr>
        <p:blipFill>
          <a:blip r:embed="rId4"/>
          <a:stretch>
            <a:fillRect/>
          </a:stretch>
        </p:blipFill>
        <p:spPr>
          <a:xfrm>
            <a:off x="4670527" y="4159440"/>
            <a:ext cx="134549" cy="195707"/>
          </a:xfrm>
          <a:prstGeom prst="rect">
            <a:avLst/>
          </a:prstGeom>
        </p:spPr>
      </p:pic>
      <p:sp>
        <p:nvSpPr>
          <p:cNvPr id="47" name="TextBox 46"/>
          <p:cNvSpPr txBox="1"/>
          <p:nvPr/>
        </p:nvSpPr>
        <p:spPr>
          <a:xfrm>
            <a:off x="4845637" y="4169663"/>
            <a:ext cx="112997" cy="194310"/>
          </a:xfrm>
          <a:prstGeom prst="rect">
            <a:avLst/>
          </a:prstGeom>
          <a:noFill/>
        </p:spPr>
        <p:txBody>
          <a:bodyPr wrap="none" lIns="0" rIns="0" tIns="0" bIns="0">
            <a:spAutoFit/>
          </a:bodyPr>
          <a:lstStyle/>
          <a:p>
            <a:r>
              <a:rPr sz="1150" b="0">
                <a:solidFill>
                  <a:srgbClr val="2E2E2E"/>
                </a:solidFill>
                <a:latin typeface="Calibri"/>
              </a:rPr>
              <a:t>·</a:t>
            </a:r>
          </a:p>
        </p:txBody>
      </p:sp>
      <p:pic>
        <p:nvPicPr>
          <p:cNvPr id="48" name="Picture 47" descr="lock.png"/>
          <p:cNvPicPr>
            <a:picLocks noChangeAspect="1"/>
          </p:cNvPicPr>
          <p:nvPr/>
        </p:nvPicPr>
        <p:blipFill>
          <a:blip r:embed="rId4"/>
          <a:stretch>
            <a:fillRect/>
          </a:stretch>
        </p:blipFill>
        <p:spPr>
          <a:xfrm>
            <a:off x="4907788" y="4159440"/>
            <a:ext cx="134549" cy="195707"/>
          </a:xfrm>
          <a:prstGeom prst="rect">
            <a:avLst/>
          </a:prstGeom>
        </p:spPr>
      </p:pic>
      <p:sp>
        <p:nvSpPr>
          <p:cNvPr id="49" name="TextBox 48"/>
          <p:cNvSpPr txBox="1"/>
          <p:nvPr/>
        </p:nvSpPr>
        <p:spPr>
          <a:xfrm>
            <a:off x="5082897" y="4169663"/>
            <a:ext cx="350899" cy="194310"/>
          </a:xfrm>
          <a:prstGeom prst="rect">
            <a:avLst/>
          </a:prstGeom>
          <a:noFill/>
        </p:spPr>
        <p:txBody>
          <a:bodyPr wrap="none" lIns="0" rIns="0" tIns="0" bIns="0">
            <a:spAutoFit/>
          </a:bodyPr>
          <a:lstStyle/>
          <a:p>
            <a:r>
              <a:rPr sz="1150" b="0">
                <a:solidFill>
                  <a:srgbClr val="2E2E2E"/>
                </a:solidFill>
                <a:latin typeface="Calibri"/>
              </a:rPr>
              <a:t>· 2/5</a:t>
            </a:r>
          </a:p>
        </p:txBody>
      </p:sp>
      <p:sp>
        <p:nvSpPr>
          <p:cNvPr id="50" name="TextBox 49"/>
          <p:cNvSpPr txBox="1"/>
          <p:nvPr/>
        </p:nvSpPr>
        <p:spPr>
          <a:xfrm>
            <a:off x="276225" y="4397501"/>
            <a:ext cx="4448001" cy="194310"/>
          </a:xfrm>
          <a:prstGeom prst="rect">
            <a:avLst/>
          </a:prstGeom>
          <a:noFill/>
        </p:spPr>
        <p:txBody>
          <a:bodyPr wrap="none" lIns="0" rIns="0" tIns="0" bIns="0">
            <a:spAutoFit/>
          </a:bodyPr>
          <a:lstStyle/>
          <a:p>
            <a:r>
              <a:rPr sz="1150" b="0">
                <a:solidFill>
                  <a:srgbClr val="2E2E2E"/>
                </a:solidFill>
                <a:latin typeface="Calibri"/>
              </a:rPr>
              <a:t>▪ 5. Hydrolyzed Eggshell Membrane × Other Poultry Eggshell Membrane –</a:t>
            </a:r>
          </a:p>
        </p:txBody>
      </p:sp>
      <p:pic>
        <p:nvPicPr>
          <p:cNvPr id="51" name="Picture 50" descr="lock.png"/>
          <p:cNvPicPr>
            <a:picLocks noChangeAspect="1"/>
          </p:cNvPicPr>
          <p:nvPr/>
        </p:nvPicPr>
        <p:blipFill>
          <a:blip r:embed="rId4"/>
          <a:stretch>
            <a:fillRect/>
          </a:stretch>
        </p:blipFill>
        <p:spPr>
          <a:xfrm>
            <a:off x="4673380" y="4387278"/>
            <a:ext cx="134549" cy="195707"/>
          </a:xfrm>
          <a:prstGeom prst="rect">
            <a:avLst/>
          </a:prstGeom>
        </p:spPr>
      </p:pic>
      <p:sp>
        <p:nvSpPr>
          <p:cNvPr id="52" name="TextBox 51"/>
          <p:cNvSpPr txBox="1"/>
          <p:nvPr/>
        </p:nvSpPr>
        <p:spPr>
          <a:xfrm>
            <a:off x="4848489" y="4397501"/>
            <a:ext cx="112997" cy="194310"/>
          </a:xfrm>
          <a:prstGeom prst="rect">
            <a:avLst/>
          </a:prstGeom>
          <a:noFill/>
        </p:spPr>
        <p:txBody>
          <a:bodyPr wrap="none" lIns="0" rIns="0" tIns="0" bIns="0">
            <a:spAutoFit/>
          </a:bodyPr>
          <a:lstStyle/>
          <a:p>
            <a:r>
              <a:rPr sz="1150" b="0">
                <a:solidFill>
                  <a:srgbClr val="2E2E2E"/>
                </a:solidFill>
                <a:latin typeface="Calibri"/>
              </a:rPr>
              <a:t>·</a:t>
            </a:r>
          </a:p>
        </p:txBody>
      </p:sp>
      <p:pic>
        <p:nvPicPr>
          <p:cNvPr id="53" name="Picture 52" descr="lock.png"/>
          <p:cNvPicPr>
            <a:picLocks noChangeAspect="1"/>
          </p:cNvPicPr>
          <p:nvPr/>
        </p:nvPicPr>
        <p:blipFill>
          <a:blip r:embed="rId4"/>
          <a:stretch>
            <a:fillRect/>
          </a:stretch>
        </p:blipFill>
        <p:spPr>
          <a:xfrm>
            <a:off x="4910641" y="4387278"/>
            <a:ext cx="134549" cy="195707"/>
          </a:xfrm>
          <a:prstGeom prst="rect">
            <a:avLst/>
          </a:prstGeom>
        </p:spPr>
      </p:pic>
      <p:sp>
        <p:nvSpPr>
          <p:cNvPr id="54" name="TextBox 53"/>
          <p:cNvSpPr txBox="1"/>
          <p:nvPr/>
        </p:nvSpPr>
        <p:spPr>
          <a:xfrm>
            <a:off x="5085750" y="4397501"/>
            <a:ext cx="112997" cy="194310"/>
          </a:xfrm>
          <a:prstGeom prst="rect">
            <a:avLst/>
          </a:prstGeom>
          <a:noFill/>
        </p:spPr>
        <p:txBody>
          <a:bodyPr wrap="none" lIns="0" rIns="0" tIns="0" bIns="0">
            <a:spAutoFit/>
          </a:bodyPr>
          <a:lstStyle/>
          <a:p>
            <a:r>
              <a:rPr sz="1150" b="0">
                <a:solidFill>
                  <a:srgbClr val="2E2E2E"/>
                </a:solidFill>
                <a:latin typeface="Calibri"/>
              </a:rPr>
              <a:t>·</a:t>
            </a:r>
          </a:p>
        </p:txBody>
      </p:sp>
      <p:sp>
        <p:nvSpPr>
          <p:cNvPr id="55" name="TextBox 54"/>
          <p:cNvSpPr txBox="1"/>
          <p:nvPr/>
        </p:nvSpPr>
        <p:spPr>
          <a:xfrm>
            <a:off x="276225" y="4572761"/>
            <a:ext cx="281012" cy="194310"/>
          </a:xfrm>
          <a:prstGeom prst="rect">
            <a:avLst/>
          </a:prstGeom>
          <a:noFill/>
        </p:spPr>
        <p:txBody>
          <a:bodyPr wrap="none" lIns="0" rIns="0" tIns="0" bIns="0">
            <a:spAutoFit/>
          </a:bodyPr>
          <a:lstStyle/>
          <a:p>
            <a:r>
              <a:rPr sz="1150" b="0">
                <a:solidFill>
                  <a:srgbClr val="2E2E2E"/>
                </a:solidFill>
                <a:latin typeface="Calibri"/>
              </a:rPr>
              <a:t>2/5</a:t>
            </a:r>
          </a:p>
        </p:txBody>
      </p:sp>
      <p:sp>
        <p:nvSpPr>
          <p:cNvPr id="56" name="TextBox 55"/>
          <p:cNvSpPr txBox="1"/>
          <p:nvPr/>
        </p:nvSpPr>
        <p:spPr>
          <a:xfrm>
            <a:off x="6029325" y="3486150"/>
            <a:ext cx="1377813" cy="194310"/>
          </a:xfrm>
          <a:prstGeom prst="rect">
            <a:avLst/>
          </a:prstGeom>
          <a:noFill/>
        </p:spPr>
        <p:txBody>
          <a:bodyPr wrap="none" lIns="0" rIns="0" tIns="0" bIns="0">
            <a:spAutoFit/>
          </a:bodyPr>
          <a:lstStyle/>
          <a:p>
            <a:r>
              <a:rPr sz="1150" b="0">
                <a:solidFill>
                  <a:srgbClr val="2E2E2E"/>
                </a:solidFill>
                <a:latin typeface="Calibri"/>
              </a:rPr>
              <a:t>▪ 'Hydrolyzed Eggshell</a:t>
            </a:r>
          </a:p>
        </p:txBody>
      </p:sp>
      <p:sp>
        <p:nvSpPr>
          <p:cNvPr id="57" name="TextBox 56"/>
          <p:cNvSpPr txBox="1"/>
          <p:nvPr/>
        </p:nvSpPr>
        <p:spPr>
          <a:xfrm>
            <a:off x="6029325" y="3661410"/>
            <a:ext cx="1342727" cy="194310"/>
          </a:xfrm>
          <a:prstGeom prst="rect">
            <a:avLst/>
          </a:prstGeom>
          <a:noFill/>
        </p:spPr>
        <p:txBody>
          <a:bodyPr wrap="none" lIns="0" rIns="0" tIns="0" bIns="0">
            <a:spAutoFit/>
          </a:bodyPr>
          <a:lstStyle/>
          <a:p>
            <a:r>
              <a:rPr sz="1150" b="0">
                <a:solidFill>
                  <a:srgbClr val="2E2E2E"/>
                </a:solidFill>
                <a:latin typeface="Calibri"/>
              </a:rPr>
              <a:t>Membrane × Chicken</a:t>
            </a:r>
          </a:p>
        </p:txBody>
      </p:sp>
      <p:sp>
        <p:nvSpPr>
          <p:cNvPr id="58" name="TextBox 57"/>
          <p:cNvSpPr txBox="1"/>
          <p:nvPr/>
        </p:nvSpPr>
        <p:spPr>
          <a:xfrm>
            <a:off x="6029325" y="3836669"/>
            <a:ext cx="1599170" cy="194310"/>
          </a:xfrm>
          <a:prstGeom prst="rect">
            <a:avLst/>
          </a:prstGeom>
          <a:noFill/>
        </p:spPr>
        <p:txBody>
          <a:bodyPr wrap="none" lIns="0" rIns="0" tIns="0" bIns="0">
            <a:spAutoFit/>
          </a:bodyPr>
          <a:lstStyle/>
          <a:p>
            <a:r>
              <a:rPr sz="1150" b="0">
                <a:solidFill>
                  <a:srgbClr val="2E2E2E"/>
                </a:solidFill>
                <a:latin typeface="Calibri"/>
              </a:rPr>
              <a:t>Eggshell Membrane' adds</a:t>
            </a:r>
          </a:p>
        </p:txBody>
      </p:sp>
      <p:pic>
        <p:nvPicPr>
          <p:cNvPr id="59" name="Picture 58" descr="lock.png"/>
          <p:cNvPicPr>
            <a:picLocks noChangeAspect="1"/>
          </p:cNvPicPr>
          <p:nvPr/>
        </p:nvPicPr>
        <p:blipFill>
          <a:blip r:embed="rId4"/>
          <a:stretch>
            <a:fillRect/>
          </a:stretch>
        </p:blipFill>
        <p:spPr>
          <a:xfrm>
            <a:off x="6015245" y="4001706"/>
            <a:ext cx="134549" cy="195707"/>
          </a:xfrm>
          <a:prstGeom prst="rect">
            <a:avLst/>
          </a:prstGeom>
        </p:spPr>
      </p:pic>
      <p:sp>
        <p:nvSpPr>
          <p:cNvPr id="60" name="TextBox 59"/>
          <p:cNvSpPr txBox="1"/>
          <p:nvPr/>
        </p:nvSpPr>
        <p:spPr>
          <a:xfrm>
            <a:off x="6190354" y="4011929"/>
            <a:ext cx="1224632" cy="194310"/>
          </a:xfrm>
          <a:prstGeom prst="rect">
            <a:avLst/>
          </a:prstGeom>
          <a:noFill/>
        </p:spPr>
        <p:txBody>
          <a:bodyPr wrap="none" lIns="0" rIns="0" tIns="0" bIns="0">
            <a:spAutoFit/>
          </a:bodyPr>
          <a:lstStyle/>
          <a:p>
            <a:r>
              <a:rPr sz="1150" b="0">
                <a:solidFill>
                  <a:srgbClr val="2E2E2E"/>
                </a:solidFill>
                <a:latin typeface="Calibri"/>
              </a:rPr>
              <a:t>US$ Mn by 2036F –</a:t>
            </a:r>
          </a:p>
        </p:txBody>
      </p:sp>
      <p:pic>
        <p:nvPicPr>
          <p:cNvPr id="61" name="Picture 60" descr="lock.png"/>
          <p:cNvPicPr>
            <a:picLocks noChangeAspect="1"/>
          </p:cNvPicPr>
          <p:nvPr/>
        </p:nvPicPr>
        <p:blipFill>
          <a:blip r:embed="rId4"/>
          <a:stretch>
            <a:fillRect/>
          </a:stretch>
        </p:blipFill>
        <p:spPr>
          <a:xfrm>
            <a:off x="6015245" y="4176966"/>
            <a:ext cx="134549" cy="195707"/>
          </a:xfrm>
          <a:prstGeom prst="rect">
            <a:avLst/>
          </a:prstGeom>
        </p:spPr>
      </p:pic>
      <p:sp>
        <p:nvSpPr>
          <p:cNvPr id="62" name="TextBox 61"/>
          <p:cNvSpPr txBox="1"/>
          <p:nvPr/>
        </p:nvSpPr>
        <p:spPr>
          <a:xfrm>
            <a:off x="6190354" y="4187189"/>
            <a:ext cx="741126" cy="194310"/>
          </a:xfrm>
          <a:prstGeom prst="rect">
            <a:avLst/>
          </a:prstGeom>
          <a:noFill/>
        </p:spPr>
        <p:txBody>
          <a:bodyPr wrap="none" lIns="0" rIns="0" tIns="0" bIns="0">
            <a:spAutoFit/>
          </a:bodyPr>
          <a:lstStyle/>
          <a:p>
            <a:r>
              <a:rPr sz="1150" b="0">
                <a:solidFill>
                  <a:srgbClr val="2E2E2E"/>
                </a:solidFill>
                <a:latin typeface="Calibri"/>
              </a:rPr>
              <a:t>of the total</a:t>
            </a:r>
          </a:p>
        </p:txBody>
      </p:sp>
      <p:sp>
        <p:nvSpPr>
          <p:cNvPr id="63" name="TextBox 62"/>
          <p:cNvSpPr txBox="1"/>
          <p:nvPr/>
        </p:nvSpPr>
        <p:spPr>
          <a:xfrm>
            <a:off x="6029325" y="4362449"/>
            <a:ext cx="822994" cy="194310"/>
          </a:xfrm>
          <a:prstGeom prst="rect">
            <a:avLst/>
          </a:prstGeom>
          <a:noFill/>
        </p:spPr>
        <p:txBody>
          <a:bodyPr wrap="none" lIns="0" rIns="0" tIns="0" bIns="0">
            <a:spAutoFit/>
          </a:bodyPr>
          <a:lstStyle/>
          <a:p>
            <a:r>
              <a:rPr sz="1150" b="0">
                <a:solidFill>
                  <a:srgbClr val="2E2E2E"/>
                </a:solidFill>
                <a:latin typeface="Calibri"/>
              </a:rPr>
              <a:t>opportunity.</a:t>
            </a:r>
          </a:p>
        </p:txBody>
      </p:sp>
      <p:sp>
        <p:nvSpPr>
          <p:cNvPr id="64" name="TextBox 63"/>
          <p:cNvSpPr txBox="1"/>
          <p:nvPr/>
        </p:nvSpPr>
        <p:spPr>
          <a:xfrm>
            <a:off x="8124825" y="3486150"/>
            <a:ext cx="1374961" cy="194310"/>
          </a:xfrm>
          <a:prstGeom prst="rect">
            <a:avLst/>
          </a:prstGeom>
          <a:noFill/>
        </p:spPr>
        <p:txBody>
          <a:bodyPr wrap="none" lIns="0" rIns="0" tIns="0" bIns="0">
            <a:spAutoFit/>
          </a:bodyPr>
          <a:lstStyle/>
          <a:p>
            <a:r>
              <a:rPr sz="1150" b="0">
                <a:solidFill>
                  <a:srgbClr val="2E2E2E"/>
                </a:solidFill>
                <a:latin typeface="Calibri"/>
              </a:rPr>
              <a:t>▪ 'Micronized Eggshell</a:t>
            </a:r>
          </a:p>
        </p:txBody>
      </p:sp>
      <p:sp>
        <p:nvSpPr>
          <p:cNvPr id="65" name="TextBox 64"/>
          <p:cNvSpPr txBox="1"/>
          <p:nvPr/>
        </p:nvSpPr>
        <p:spPr>
          <a:xfrm>
            <a:off x="8124825" y="3661410"/>
            <a:ext cx="1657350" cy="194310"/>
          </a:xfrm>
          <a:prstGeom prst="rect">
            <a:avLst/>
          </a:prstGeom>
          <a:noFill/>
        </p:spPr>
        <p:txBody>
          <a:bodyPr wrap="none" lIns="0" rIns="0" tIns="0" bIns="0">
            <a:spAutoFit/>
          </a:bodyPr>
          <a:lstStyle/>
          <a:p>
            <a:r>
              <a:rPr sz="1150" b="0">
                <a:solidFill>
                  <a:srgbClr val="2E2E2E"/>
                </a:solidFill>
                <a:latin typeface="Calibri"/>
              </a:rPr>
              <a:t>Membrane × Other Poultry</a:t>
            </a:r>
          </a:p>
        </p:txBody>
      </p:sp>
      <p:sp>
        <p:nvSpPr>
          <p:cNvPr id="66" name="TextBox 65"/>
          <p:cNvSpPr txBox="1"/>
          <p:nvPr/>
        </p:nvSpPr>
        <p:spPr>
          <a:xfrm>
            <a:off x="8124825" y="3836669"/>
            <a:ext cx="1657350" cy="194310"/>
          </a:xfrm>
          <a:prstGeom prst="rect">
            <a:avLst/>
          </a:prstGeom>
          <a:noFill/>
        </p:spPr>
        <p:txBody>
          <a:bodyPr wrap="none" lIns="0" rIns="0" tIns="0" bIns="0">
            <a:spAutoFit/>
          </a:bodyPr>
          <a:lstStyle/>
          <a:p>
            <a:r>
              <a:rPr sz="1150" b="0">
                <a:solidFill>
                  <a:srgbClr val="2E2E2E"/>
                </a:solidFill>
                <a:latin typeface="Calibri"/>
              </a:rPr>
              <a:t>Eggshell Membrane' grows</a:t>
            </a:r>
          </a:p>
        </p:txBody>
      </p:sp>
      <p:sp>
        <p:nvSpPr>
          <p:cNvPr id="67" name="TextBox 66"/>
          <p:cNvSpPr txBox="1"/>
          <p:nvPr/>
        </p:nvSpPr>
        <p:spPr>
          <a:xfrm>
            <a:off x="8124825" y="4011929"/>
            <a:ext cx="298127" cy="194310"/>
          </a:xfrm>
          <a:prstGeom prst="rect">
            <a:avLst/>
          </a:prstGeom>
          <a:noFill/>
        </p:spPr>
        <p:txBody>
          <a:bodyPr wrap="none" lIns="0" rIns="0" tIns="0" bIns="0">
            <a:spAutoFit/>
          </a:bodyPr>
          <a:lstStyle/>
          <a:p>
            <a:r>
              <a:rPr sz="1150" b="0">
                <a:solidFill>
                  <a:srgbClr val="2E2E2E"/>
                </a:solidFill>
                <a:latin typeface="Calibri"/>
              </a:rPr>
              <a:t>at a</a:t>
            </a:r>
          </a:p>
        </p:txBody>
      </p:sp>
      <p:pic>
        <p:nvPicPr>
          <p:cNvPr id="68" name="Picture 67" descr="lock.png"/>
          <p:cNvPicPr>
            <a:picLocks noChangeAspect="1"/>
          </p:cNvPicPr>
          <p:nvPr/>
        </p:nvPicPr>
        <p:blipFill>
          <a:blip r:embed="rId4"/>
          <a:stretch>
            <a:fillRect/>
          </a:stretch>
        </p:blipFill>
        <p:spPr>
          <a:xfrm>
            <a:off x="8372106" y="4001706"/>
            <a:ext cx="134549" cy="195707"/>
          </a:xfrm>
          <a:prstGeom prst="rect">
            <a:avLst/>
          </a:prstGeom>
        </p:spPr>
      </p:pic>
      <p:sp>
        <p:nvSpPr>
          <p:cNvPr id="69" name="TextBox 68"/>
          <p:cNvSpPr txBox="1"/>
          <p:nvPr/>
        </p:nvSpPr>
        <p:spPr>
          <a:xfrm>
            <a:off x="8547215" y="4011929"/>
            <a:ext cx="446441" cy="194310"/>
          </a:xfrm>
          <a:prstGeom prst="rect">
            <a:avLst/>
          </a:prstGeom>
          <a:noFill/>
        </p:spPr>
        <p:txBody>
          <a:bodyPr wrap="none" lIns="0" rIns="0" tIns="0" bIns="0">
            <a:spAutoFit/>
          </a:bodyPr>
          <a:lstStyle/>
          <a:p>
            <a:r>
              <a:rPr sz="1150" b="0">
                <a:solidFill>
                  <a:srgbClr val="2E2E2E"/>
                </a:solidFill>
                <a:latin typeface="Calibri"/>
              </a:rPr>
              <a:t>CAGR,</a:t>
            </a:r>
          </a:p>
        </p:txBody>
      </p:sp>
      <p:pic>
        <p:nvPicPr>
          <p:cNvPr id="70" name="Picture 69" descr="lock.png"/>
          <p:cNvPicPr>
            <a:picLocks noChangeAspect="1"/>
          </p:cNvPicPr>
          <p:nvPr/>
        </p:nvPicPr>
        <p:blipFill>
          <a:blip r:embed="rId4"/>
          <a:stretch>
            <a:fillRect/>
          </a:stretch>
        </p:blipFill>
        <p:spPr>
          <a:xfrm>
            <a:off x="8942811" y="4001706"/>
            <a:ext cx="134549" cy="195707"/>
          </a:xfrm>
          <a:prstGeom prst="rect">
            <a:avLst/>
          </a:prstGeom>
        </p:spPr>
      </p:pic>
      <p:sp>
        <p:nvSpPr>
          <p:cNvPr id="71" name="TextBox 70"/>
          <p:cNvSpPr txBox="1"/>
          <p:nvPr/>
        </p:nvSpPr>
        <p:spPr>
          <a:xfrm>
            <a:off x="9117920" y="4011929"/>
            <a:ext cx="298412" cy="194310"/>
          </a:xfrm>
          <a:prstGeom prst="rect">
            <a:avLst/>
          </a:prstGeom>
          <a:noFill/>
        </p:spPr>
        <p:txBody>
          <a:bodyPr wrap="none" lIns="0" rIns="0" tIns="0" bIns="0">
            <a:spAutoFit/>
          </a:bodyPr>
          <a:lstStyle/>
          <a:p>
            <a:r>
              <a:rPr sz="1150" b="0">
                <a:solidFill>
                  <a:srgbClr val="2E2E2E"/>
                </a:solidFill>
                <a:latin typeface="Calibri"/>
              </a:rPr>
              <a:t>BPS</a:t>
            </a:r>
          </a:p>
        </p:txBody>
      </p:sp>
      <p:sp>
        <p:nvSpPr>
          <p:cNvPr id="72" name="TextBox 71"/>
          <p:cNvSpPr txBox="1"/>
          <p:nvPr/>
        </p:nvSpPr>
        <p:spPr>
          <a:xfrm>
            <a:off x="8124825" y="4187189"/>
            <a:ext cx="1517017" cy="194310"/>
          </a:xfrm>
          <a:prstGeom prst="rect">
            <a:avLst/>
          </a:prstGeom>
          <a:noFill/>
        </p:spPr>
        <p:txBody>
          <a:bodyPr wrap="none" lIns="0" rIns="0" tIns="0" bIns="0">
            <a:spAutoFit/>
          </a:bodyPr>
          <a:lstStyle/>
          <a:p>
            <a:r>
              <a:rPr sz="1150" b="0">
                <a:solidFill>
                  <a:srgbClr val="2E2E2E"/>
                </a:solidFill>
                <a:latin typeface="Calibri"/>
              </a:rPr>
              <a:t>above the cross-section.</a:t>
            </a: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bg>
      <p:bgPr>
        <a:solidFill>
          <a:srgbClr val="F3F8FD"/>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3F8FD"/>
              </a:gs>
              <a:gs pos="100000">
                <a:srgbClr val="DCE9F6"/>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FE0F0">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9C8E6">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B7D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A5F8F"/>
              </a:gs>
              <a:gs pos="100000">
                <a:srgbClr val="6FA6D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MR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12.2</a:t>
            </a:r>
          </a:p>
        </p:txBody>
      </p:sp>
      <p:pic>
        <p:nvPicPr>
          <p:cNvPr id="8" name="Picture 7" descr="tmr_logo.png"/>
          <p:cNvPicPr>
            <a:picLocks noChangeAspect="1"/>
          </p:cNvPicPr>
          <p:nvPr/>
        </p:nvPicPr>
        <p:blipFill>
          <a:blip r:embed="rId2"/>
          <a:stretch>
            <a:fillRect/>
          </a:stretch>
        </p:blipFill>
        <p:spPr>
          <a:xfrm>
            <a:off x="411480" y="274320"/>
            <a:ext cx="1307592" cy="975505"/>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2A5F8F"/>
                </a:solidFill>
                <a:latin typeface="Calibri"/>
              </a:rPr>
              <a:t>Egg Protein Membrane Market</a:t>
            </a:r>
          </a:p>
        </p:txBody>
      </p:sp>
      <p:sp>
        <p:nvSpPr>
          <p:cNvPr id="10" name="TMR Section Title"/>
          <p:cNvSpPr txBox="1"/>
          <p:nvPr/>
        </p:nvSpPr>
        <p:spPr>
          <a:xfrm>
            <a:off x="914400" y="3095625"/>
            <a:ext cx="8572500" cy="514350"/>
          </a:xfrm>
          <a:prstGeom prst="rect">
            <a:avLst/>
          </a:prstGeom>
          <a:noFill/>
        </p:spPr>
        <p:txBody>
          <a:bodyPr wrap="square" lIns="0" rIns="0" tIns="0">
            <a:spAutoFit/>
          </a:bodyPr>
          <a:lstStyle/>
          <a:p>
            <a:r>
              <a:rPr sz="3000" b="1">
                <a:solidFill>
                  <a:srgbClr val="0E2A5C"/>
                </a:solidFill>
                <a:latin typeface="Calibri"/>
              </a:rPr>
              <a:t>Product Type × Application</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Snapshot</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Share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Opportunity &amp; Attractiveness</a:t>
            </a:r>
          </a:p>
        </p:txBody>
      </p:sp>
      <p:sp>
        <p:nvSpPr>
          <p:cNvPr id="12" name="Rectangle 11"/>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Snapshot: Product Type × Application, 2026E vs 2036F (1/3)</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North America market value (US$ Mn) for each product type sub-segment across application sub-segments</a:t>
            </a:r>
          </a:p>
        </p:txBody>
      </p:sp>
      <p:sp>
        <p:nvSpPr>
          <p:cNvPr id="7" name="Rounded Rectangle 6"/>
          <p:cNvSpPr/>
          <p:nvPr/>
        </p:nvSpPr>
        <p:spPr>
          <a:xfrm>
            <a:off x="142875" y="981075"/>
            <a:ext cx="11906250" cy="5114925"/>
          </a:xfrm>
          <a:prstGeom prst="roundRect">
            <a:avLst>
              <a:gd name="adj" fmla="val 148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Market Value, Product Type × Application, 2026E and 2036F (US$ Mn)</a:t>
            </a:r>
          </a:p>
        </p:txBody>
      </p:sp>
      <p:graphicFrame>
        <p:nvGraphicFramePr>
          <p:cNvPr id="9" name="Table 8"/>
          <p:cNvGraphicFramePr>
            <a:graphicFrameLocks noGrp="1"/>
          </p:cNvGraphicFramePr>
          <p:nvPr/>
        </p:nvGraphicFramePr>
        <p:xfrm>
          <a:off x="152400" y="1238250"/>
          <a:ext cx="11947159" cy="4648200"/>
        </p:xfrm>
        <a:graphic>
          <a:graphicData uri="http://schemas.openxmlformats.org/drawingml/2006/table">
            <a:tbl>
              <a:tblPr>
                <a:tableStyleId>{5C22544A-7EE6-4342-B048-85BDC9FD1C3A}</a:tableStyleId>
              </a:tblPr>
              <a:tblGrid>
                <a:gridCol w="3200398"/>
                <a:gridCol w="403992"/>
                <a:gridCol w="401750"/>
                <a:gridCol w="403992"/>
                <a:gridCol w="401750"/>
                <a:gridCol w="409598"/>
                <a:gridCol w="407355"/>
                <a:gridCol w="190987"/>
                <a:gridCol w="188744"/>
                <a:gridCol w="346817"/>
                <a:gridCol w="344574"/>
                <a:gridCol w="346817"/>
                <a:gridCol w="344574"/>
                <a:gridCol w="484710"/>
                <a:gridCol w="482468"/>
                <a:gridCol w="448835"/>
                <a:gridCol w="446593"/>
                <a:gridCol w="583365"/>
                <a:gridCol w="581123"/>
                <a:gridCol w="355768"/>
                <a:gridCol w="353526"/>
                <a:gridCol w="190987"/>
                <a:gridCol w="188744"/>
                <a:gridCol w="190987"/>
                <a:gridCol w="248705"/>
              </a:tblGrid>
              <a:tr h="1017270">
                <a:tc rowSpan="2">
                  <a:txBody>
                    <a:bodyPr wrap="none"/>
                    <a:lstStyle/>
                    <a:p>
                      <a:pPr algn="l"/>
                      <a:r>
                        <a:rPr sz="1100" b="1">
                          <a:solidFill>
                            <a:srgbClr val="0E2A5C"/>
                          </a:solidFill>
                          <a:latin typeface="Calibri"/>
                        </a:rPr>
                        <a:t>Produ</a:t>
                      </a:r>
                      <a:endParaRPr sz="1100"/>
                    </a:p>
                    <a:p>
                      <a:pPr algn="l"/>
                      <a:r>
                        <a:rPr sz="1100" b="1">
                          <a:solidFill>
                            <a:srgbClr val="0E2A5C"/>
                          </a:solidFill>
                          <a:latin typeface="Calibri"/>
                        </a:rPr>
                        <a:t>ct</a:t>
                      </a:r>
                      <a:endParaRPr sz="1100"/>
                    </a:p>
                    <a:p>
                      <a:pPr algn="l"/>
                      <a:r>
                        <a:rPr sz="1100" b="1">
                          <a:solidFill>
                            <a:srgbClr val="0E2A5C"/>
                          </a:solidFill>
                          <a:latin typeface="Calibri"/>
                        </a:rPr>
                        <a:t>Type</a:t>
                      </a:r>
                      <a:endParaRPr sz="1100"/>
                    </a:p>
                  </a:txBody>
                  <a:tcPr marL="19050" marR="14288" marT="19050" marB="19050" anchor="ctr">
                    <a:solidFill>
                      <a:srgbClr val="EBF2F9"/>
                    </a:solidFill>
                  </a:tcPr>
                </a:tc>
                <a:tc gridSpan="2">
                  <a:txBody>
                    <a:bodyPr wrap="none"/>
                    <a:lstStyle/>
                    <a:p>
                      <a:pPr algn="ctr"/>
                      <a:r>
                        <a:rPr sz="1100" b="1">
                          <a:solidFill>
                            <a:srgbClr val="0E2A5C"/>
                          </a:solidFill>
                          <a:latin typeface="Calibri"/>
                        </a:rPr>
                        <a:t>Dietary</a:t>
                      </a:r>
                      <a:endParaRPr sz="1100"/>
                    </a:p>
                    <a:p>
                      <a:pPr algn="ctr"/>
                      <a:r>
                        <a:rPr sz="1100" b="1">
                          <a:solidFill>
                            <a:srgbClr val="0E2A5C"/>
                          </a:solidFill>
                          <a:latin typeface="Calibri"/>
                        </a:rPr>
                        <a:t>Supplements &amp;</a:t>
                      </a:r>
                      <a:endParaRPr sz="1100"/>
                    </a:p>
                    <a:p>
                      <a:pPr algn="ctr"/>
                      <a:r>
                        <a:rPr sz="1100" b="1">
                          <a:solidFill>
                            <a:srgbClr val="0E2A5C"/>
                          </a:solidFill>
                          <a:latin typeface="Calibri"/>
                        </a:rPr>
                        <a:t>Nutraceuticals |</a:t>
                      </a:r>
                      <a:endParaRPr sz="1100"/>
                    </a:p>
                    <a:p>
                      <a:pPr algn="ctr"/>
                      <a:r>
                        <a:rPr sz="1100" b="1">
                          <a:solidFill>
                            <a:srgbClr val="0E2A5C"/>
                          </a:solidFill>
                          <a:latin typeface="Calibri"/>
                        </a:rPr>
                        <a:t>Joint &amp; Bone</a:t>
                      </a:r>
                      <a:endParaRPr sz="1100"/>
                    </a:p>
                    <a:p>
                      <a:pPr algn="ctr"/>
                      <a:r>
                        <a:rPr sz="1100" b="1">
                          <a:solidFill>
                            <a:srgbClr val="0E2A5C"/>
                          </a:solidFill>
                          <a:latin typeface="Calibri"/>
                        </a:rPr>
                        <a:t>Health</a:t>
                      </a:r>
                      <a:endParaRPr sz="1100"/>
                    </a:p>
                  </a:txBody>
                  <a:tcPr marL="19050" marR="14288" marT="19050" marB="19050" anchor="ctr">
                    <a:solidFill>
                      <a:srgbClr val="EBF2F9"/>
                    </a:solidFill>
                  </a:tcPr>
                </a:tc>
                <a:tc hMerge="1">
                  <a:txBody>
                    <a:bodyPr wrap="none"/>
                    <a:lstStyle/>
                    <a:p>
                      <a:pPr algn="ctr"/>
                      <a:endParaRPr sz="1100"/>
                    </a:p>
                  </a:txBody>
                  <a:tcPr marL="19050" marR="14288" marT="19050" marB="19050" anchor="ctr">
                    <a:solidFill>
                      <a:srgbClr val="EBF2F9"/>
                    </a:solidFill>
                  </a:tcPr>
                </a:tc>
                <a:tc gridSpan="2">
                  <a:txBody>
                    <a:bodyPr wrap="none"/>
                    <a:lstStyle/>
                    <a:p>
                      <a:pPr algn="ctr"/>
                      <a:r>
                        <a:rPr sz="1100" b="1">
                          <a:solidFill>
                            <a:srgbClr val="0E2A5C"/>
                          </a:solidFill>
                          <a:latin typeface="Calibri"/>
                        </a:rPr>
                        <a:t>Dietary</a:t>
                      </a:r>
                      <a:endParaRPr sz="1100"/>
                    </a:p>
                    <a:p>
                      <a:pPr algn="ctr"/>
                      <a:r>
                        <a:rPr sz="1100" b="1">
                          <a:solidFill>
                            <a:srgbClr val="0E2A5C"/>
                          </a:solidFill>
                          <a:latin typeface="Calibri"/>
                        </a:rPr>
                        <a:t>Supplements &amp;</a:t>
                      </a:r>
                      <a:endParaRPr sz="1100"/>
                    </a:p>
                    <a:p>
                      <a:pPr algn="ctr"/>
                      <a:r>
                        <a:rPr sz="1100" b="1">
                          <a:solidFill>
                            <a:srgbClr val="0E2A5C"/>
                          </a:solidFill>
                          <a:latin typeface="Calibri"/>
                        </a:rPr>
                        <a:t>Nutraceuticals |</a:t>
                      </a:r>
                      <a:endParaRPr sz="1100"/>
                    </a:p>
                    <a:p>
                      <a:pPr algn="ctr"/>
                      <a:r>
                        <a:rPr sz="1100" b="1">
                          <a:solidFill>
                            <a:srgbClr val="0E2A5C"/>
                          </a:solidFill>
                          <a:latin typeface="Calibri"/>
                        </a:rPr>
                        <a:t>Skin, Hair &amp; Nail</a:t>
                      </a:r>
                      <a:endParaRPr sz="1100"/>
                    </a:p>
                    <a:p>
                      <a:pPr algn="ctr"/>
                      <a:r>
                        <a:rPr sz="1100" b="1">
                          <a:solidFill>
                            <a:srgbClr val="0E2A5C"/>
                          </a:solidFill>
                          <a:latin typeface="Calibri"/>
                        </a:rPr>
                        <a:t>Health</a:t>
                      </a:r>
                      <a:endParaRPr sz="1100"/>
                    </a:p>
                  </a:txBody>
                  <a:tcPr marL="19050" marR="14288" marT="19050" marB="19050" anchor="ctr">
                    <a:solidFill>
                      <a:srgbClr val="EBF2F9"/>
                    </a:solidFill>
                  </a:tcPr>
                </a:tc>
                <a:tc hMerge="1">
                  <a:txBody>
                    <a:bodyPr wrap="none"/>
                    <a:lstStyle/>
                    <a:p>
                      <a:pPr algn="ctr"/>
                      <a:endParaRPr sz="1100"/>
                    </a:p>
                  </a:txBody>
                  <a:tcPr marL="19050" marR="14288" marT="19050" marB="19050" anchor="ctr">
                    <a:solidFill>
                      <a:srgbClr val="EBF2F9"/>
                    </a:solidFill>
                  </a:tcPr>
                </a:tc>
                <a:tc gridSpan="2">
                  <a:txBody>
                    <a:bodyPr wrap="none"/>
                    <a:lstStyle/>
                    <a:p>
                      <a:pPr algn="ctr"/>
                      <a:r>
                        <a:rPr sz="1100" b="1">
                          <a:solidFill>
                            <a:srgbClr val="0E2A5C"/>
                          </a:solidFill>
                          <a:latin typeface="Calibri"/>
                        </a:rPr>
                        <a:t>Dietary</a:t>
                      </a:r>
                      <a:endParaRPr sz="1100"/>
                    </a:p>
                    <a:p>
                      <a:pPr algn="ctr"/>
                      <a:r>
                        <a:rPr sz="1100" b="1">
                          <a:solidFill>
                            <a:srgbClr val="0E2A5C"/>
                          </a:solidFill>
                          <a:latin typeface="Calibri"/>
                        </a:rPr>
                        <a:t>Supplements &amp;</a:t>
                      </a:r>
                      <a:endParaRPr sz="1100"/>
                    </a:p>
                    <a:p>
                      <a:pPr algn="ctr"/>
                      <a:r>
                        <a:rPr sz="1100" b="1">
                          <a:solidFill>
                            <a:srgbClr val="0E2A5C"/>
                          </a:solidFill>
                          <a:latin typeface="Calibri"/>
                        </a:rPr>
                        <a:t>Nutraceuticals |</a:t>
                      </a:r>
                      <a:endParaRPr sz="1100"/>
                    </a:p>
                    <a:p>
                      <a:pPr algn="ctr"/>
                      <a:r>
                        <a:rPr sz="1100" b="1">
                          <a:solidFill>
                            <a:srgbClr val="0E2A5C"/>
                          </a:solidFill>
                          <a:latin typeface="Calibri"/>
                        </a:rPr>
                        <a:t>Others</a:t>
                      </a:r>
                      <a:endParaRPr sz="1100"/>
                    </a:p>
                  </a:txBody>
                  <a:tcPr marL="19050" marR="14288" marT="19050" marB="19050" anchor="ctr">
                    <a:solidFill>
                      <a:srgbClr val="EBF2F9"/>
                    </a:solidFill>
                  </a:tcPr>
                </a:tc>
                <a:tc hMerge="1">
                  <a:txBody>
                    <a:bodyPr wrap="none"/>
                    <a:lstStyle/>
                    <a:p>
                      <a:pPr algn="ctr"/>
                      <a:endParaRPr sz="1100"/>
                    </a:p>
                  </a:txBody>
                  <a:tcPr marL="19050" marR="14288" marT="19050" marB="19050" anchor="ctr">
                    <a:solidFill>
                      <a:srgbClr val="EBF2F9"/>
                    </a:solidFill>
                  </a:tcPr>
                </a:tc>
                <a:tc gridSpan="2">
                  <a:txBody>
                    <a:bodyPr wrap="none"/>
                    <a:lstStyle/>
                    <a:p>
                      <a:pPr algn="ctr"/>
                      <a:r>
                        <a:rPr sz="1100" b="1">
                          <a:solidFill>
                            <a:srgbClr val="0E2A5C"/>
                          </a:solidFill>
                          <a:latin typeface="Calibri"/>
                        </a:rPr>
                        <a:t>Functio</a:t>
                      </a:r>
                      <a:endParaRPr sz="1100"/>
                    </a:p>
                    <a:p>
                      <a:pPr algn="ctr"/>
                      <a:r>
                        <a:rPr sz="1100" b="1">
                          <a:solidFill>
                            <a:srgbClr val="0E2A5C"/>
                          </a:solidFill>
                          <a:latin typeface="Calibri"/>
                        </a:rPr>
                        <a:t>nal</a:t>
                      </a:r>
                      <a:endParaRPr sz="1100"/>
                    </a:p>
                    <a:p>
                      <a:pPr algn="ctr"/>
                      <a:r>
                        <a:rPr sz="1100" b="1">
                          <a:solidFill>
                            <a:srgbClr val="0E2A5C"/>
                          </a:solidFill>
                          <a:latin typeface="Calibri"/>
                        </a:rPr>
                        <a:t>Food &amp;</a:t>
                      </a:r>
                      <a:endParaRPr sz="1100"/>
                    </a:p>
                    <a:p>
                      <a:pPr algn="ctr"/>
                      <a:r>
                        <a:rPr sz="1100" b="1">
                          <a:solidFill>
                            <a:srgbClr val="0E2A5C"/>
                          </a:solidFill>
                          <a:latin typeface="Calibri"/>
                        </a:rPr>
                        <a:t>Bevera</a:t>
                      </a:r>
                      <a:endParaRPr sz="1100"/>
                    </a:p>
                    <a:p>
                      <a:pPr algn="ctr"/>
                      <a:r>
                        <a:rPr sz="1100" b="1">
                          <a:solidFill>
                            <a:srgbClr val="0E2A5C"/>
                          </a:solidFill>
                          <a:latin typeface="Calibri"/>
                        </a:rPr>
                        <a:t>ges</a:t>
                      </a:r>
                      <a:endParaRPr sz="1100"/>
                    </a:p>
                  </a:txBody>
                  <a:tcPr marL="19050" marR="14288" marT="19050" marB="19050" anchor="ctr">
                    <a:solidFill>
                      <a:srgbClr val="EBF2F9"/>
                    </a:solidFill>
                  </a:tcPr>
                </a:tc>
                <a:tc hMerge="1">
                  <a:txBody>
                    <a:bodyPr wrap="none"/>
                    <a:lstStyle/>
                    <a:p>
                      <a:pPr algn="ctr"/>
                      <a:endParaRPr sz="1100"/>
                    </a:p>
                  </a:txBody>
                  <a:tcPr marL="19050" marR="14288" marT="19050" marB="19050" anchor="ctr">
                    <a:solidFill>
                      <a:srgbClr val="EBF2F9"/>
                    </a:solidFill>
                  </a:tcPr>
                </a:tc>
                <a:tc gridSpan="2">
                  <a:txBody>
                    <a:bodyPr wrap="none"/>
                    <a:lstStyle/>
                    <a:p>
                      <a:pPr algn="ctr"/>
                      <a:r>
                        <a:rPr sz="1100" b="1">
                          <a:solidFill>
                            <a:srgbClr val="0E2A5C"/>
                          </a:solidFill>
                          <a:latin typeface="Calibri"/>
                        </a:rPr>
                        <a:t>Cosmetics &amp;</a:t>
                      </a:r>
                      <a:endParaRPr sz="1100"/>
                    </a:p>
                    <a:p>
                      <a:pPr algn="ctr"/>
                      <a:r>
                        <a:rPr sz="1100" b="1">
                          <a:solidFill>
                            <a:srgbClr val="0E2A5C"/>
                          </a:solidFill>
                          <a:latin typeface="Calibri"/>
                        </a:rPr>
                        <a:t>Personal Care</a:t>
                      </a:r>
                      <a:endParaRPr sz="1100"/>
                    </a:p>
                    <a:p>
                      <a:pPr algn="ctr"/>
                      <a:r>
                        <a:rPr sz="1100" b="1">
                          <a:solidFill>
                            <a:srgbClr val="0E2A5C"/>
                          </a:solidFill>
                          <a:latin typeface="Calibri"/>
                        </a:rPr>
                        <a:t>| Skin Care</a:t>
                      </a:r>
                      <a:endParaRPr sz="1100"/>
                    </a:p>
                  </a:txBody>
                  <a:tcPr marL="19050" marR="14288" marT="19050" marB="19050" anchor="ctr">
                    <a:solidFill>
                      <a:srgbClr val="EBF2F9"/>
                    </a:solidFill>
                  </a:tcPr>
                </a:tc>
                <a:tc hMerge="1">
                  <a:txBody>
                    <a:bodyPr wrap="none"/>
                    <a:lstStyle/>
                    <a:p>
                      <a:pPr algn="ctr"/>
                      <a:endParaRPr sz="1100"/>
                    </a:p>
                  </a:txBody>
                  <a:tcPr marL="19050" marR="14288" marT="19050" marB="19050" anchor="ctr">
                    <a:solidFill>
                      <a:srgbClr val="EBF2F9"/>
                    </a:solidFill>
                  </a:tcPr>
                </a:tc>
                <a:tc gridSpan="2">
                  <a:txBody>
                    <a:bodyPr wrap="none"/>
                    <a:lstStyle/>
                    <a:p>
                      <a:pPr algn="ctr"/>
                      <a:r>
                        <a:rPr sz="1100" b="1">
                          <a:solidFill>
                            <a:srgbClr val="0E2A5C"/>
                          </a:solidFill>
                          <a:latin typeface="Calibri"/>
                        </a:rPr>
                        <a:t>Cosmetics &amp;</a:t>
                      </a:r>
                      <a:endParaRPr sz="1100"/>
                    </a:p>
                    <a:p>
                      <a:pPr algn="ctr"/>
                      <a:r>
                        <a:rPr sz="1100" b="1">
                          <a:solidFill>
                            <a:srgbClr val="0E2A5C"/>
                          </a:solidFill>
                          <a:latin typeface="Calibri"/>
                        </a:rPr>
                        <a:t>Personal Care</a:t>
                      </a:r>
                      <a:endParaRPr sz="1100"/>
                    </a:p>
                    <a:p>
                      <a:pPr algn="ctr"/>
                      <a:r>
                        <a:rPr sz="1100" b="1">
                          <a:solidFill>
                            <a:srgbClr val="0E2A5C"/>
                          </a:solidFill>
                          <a:latin typeface="Calibri"/>
                        </a:rPr>
                        <a:t>| Hair Care</a:t>
                      </a:r>
                      <a:endParaRPr sz="1100"/>
                    </a:p>
                  </a:txBody>
                  <a:tcPr marL="19050" marR="14288" marT="19050" marB="19050" anchor="ctr">
                    <a:solidFill>
                      <a:srgbClr val="EBF2F9"/>
                    </a:solidFill>
                  </a:tcPr>
                </a:tc>
                <a:tc hMerge="1">
                  <a:txBody>
                    <a:bodyPr wrap="none"/>
                    <a:lstStyle/>
                    <a:p>
                      <a:pPr algn="ctr"/>
                      <a:endParaRPr sz="1100"/>
                    </a:p>
                  </a:txBody>
                  <a:tcPr marL="19050" marR="14288" marT="19050" marB="19050" anchor="ctr">
                    <a:solidFill>
                      <a:srgbClr val="EBF2F9"/>
                    </a:solidFill>
                  </a:tcPr>
                </a:tc>
                <a:tc gridSpan="2">
                  <a:txBody>
                    <a:bodyPr wrap="none"/>
                    <a:lstStyle/>
                    <a:p>
                      <a:pPr algn="ctr"/>
                      <a:r>
                        <a:rPr sz="1100" b="1">
                          <a:solidFill>
                            <a:srgbClr val="0E2A5C"/>
                          </a:solidFill>
                          <a:latin typeface="Calibri"/>
                        </a:rPr>
                        <a:t>Pharmaceuticals &amp;</a:t>
                      </a:r>
                      <a:endParaRPr sz="1100"/>
                    </a:p>
                    <a:p>
                      <a:pPr algn="ctr"/>
                      <a:r>
                        <a:rPr sz="1100" b="1">
                          <a:solidFill>
                            <a:srgbClr val="0E2A5C"/>
                          </a:solidFill>
                          <a:latin typeface="Calibri"/>
                        </a:rPr>
                        <a:t>Biomedical |</a:t>
                      </a:r>
                      <a:endParaRPr sz="1100"/>
                    </a:p>
                    <a:p>
                      <a:pPr algn="ctr"/>
                      <a:r>
                        <a:rPr sz="1100" b="1">
                          <a:solidFill>
                            <a:srgbClr val="0E2A5C"/>
                          </a:solidFill>
                          <a:latin typeface="Calibri"/>
                        </a:rPr>
                        <a:t>Wound Care &amp;</a:t>
                      </a:r>
                      <a:endParaRPr sz="1100"/>
                    </a:p>
                    <a:p>
                      <a:pPr algn="ctr"/>
                      <a:r>
                        <a:rPr sz="1100" b="1">
                          <a:solidFill>
                            <a:srgbClr val="0E2A5C"/>
                          </a:solidFill>
                          <a:latin typeface="Calibri"/>
                        </a:rPr>
                        <a:t>Dressings</a:t>
                      </a:r>
                      <a:endParaRPr sz="1100"/>
                    </a:p>
                  </a:txBody>
                  <a:tcPr marL="19050" marR="14288" marT="19050" marB="19050" anchor="ctr">
                    <a:solidFill>
                      <a:srgbClr val="EBF2F9"/>
                    </a:solidFill>
                  </a:tcPr>
                </a:tc>
                <a:tc hMerge="1">
                  <a:txBody>
                    <a:bodyPr wrap="none"/>
                    <a:lstStyle/>
                    <a:p>
                      <a:pPr algn="ctr"/>
                      <a:endParaRPr sz="1100"/>
                    </a:p>
                  </a:txBody>
                  <a:tcPr marL="19050" marR="14288" marT="19050" marB="19050" anchor="ctr">
                    <a:solidFill>
                      <a:srgbClr val="EBF2F9"/>
                    </a:solidFill>
                  </a:tcPr>
                </a:tc>
                <a:tc gridSpan="2">
                  <a:txBody>
                    <a:bodyPr wrap="none"/>
                    <a:lstStyle/>
                    <a:p>
                      <a:pPr algn="ctr"/>
                      <a:r>
                        <a:rPr sz="1100" b="1">
                          <a:solidFill>
                            <a:srgbClr val="0E2A5C"/>
                          </a:solidFill>
                          <a:latin typeface="Calibri"/>
                        </a:rPr>
                        <a:t>Pharmaceuticals &amp;</a:t>
                      </a:r>
                      <a:endParaRPr sz="1100"/>
                    </a:p>
                    <a:p>
                      <a:pPr algn="ctr"/>
                      <a:r>
                        <a:rPr sz="1100" b="1">
                          <a:solidFill>
                            <a:srgbClr val="0E2A5C"/>
                          </a:solidFill>
                          <a:latin typeface="Calibri"/>
                        </a:rPr>
                        <a:t>Biomedical |</a:t>
                      </a:r>
                      <a:endParaRPr sz="1100"/>
                    </a:p>
                    <a:p>
                      <a:pPr algn="ctr"/>
                      <a:r>
                        <a:rPr sz="1100" b="1">
                          <a:solidFill>
                            <a:srgbClr val="0E2A5C"/>
                          </a:solidFill>
                          <a:latin typeface="Calibri"/>
                        </a:rPr>
                        <a:t>Tissue Engineering</a:t>
                      </a:r>
                      <a:endParaRPr sz="1100"/>
                    </a:p>
                    <a:p>
                      <a:pPr algn="ctr"/>
                      <a:r>
                        <a:rPr sz="1100" b="1">
                          <a:solidFill>
                            <a:srgbClr val="0E2A5C"/>
                          </a:solidFill>
                          <a:latin typeface="Calibri"/>
                        </a:rPr>
                        <a:t>&amp; Drug Delivery</a:t>
                      </a:r>
                      <a:endParaRPr sz="1100"/>
                    </a:p>
                  </a:txBody>
                  <a:tcPr marL="19050" marR="14288" marT="19050" marB="19050" anchor="ctr">
                    <a:solidFill>
                      <a:srgbClr val="EBF2F9"/>
                    </a:solidFill>
                  </a:tcPr>
                </a:tc>
                <a:tc hMerge="1">
                  <a:txBody>
                    <a:bodyPr wrap="none"/>
                    <a:lstStyle/>
                    <a:p>
                      <a:pPr algn="ctr"/>
                      <a:endParaRPr sz="1100"/>
                    </a:p>
                  </a:txBody>
                  <a:tcPr marL="19050" marR="14288" marT="19050" marB="19050" anchor="ctr">
                    <a:solidFill>
                      <a:srgbClr val="EBF2F9"/>
                    </a:solidFill>
                  </a:tcPr>
                </a:tc>
                <a:tc gridSpan="2">
                  <a:txBody>
                    <a:bodyPr wrap="none"/>
                    <a:lstStyle/>
                    <a:p>
                      <a:pPr algn="ctr"/>
                      <a:r>
                        <a:rPr sz="1100" b="1">
                          <a:solidFill>
                            <a:srgbClr val="0E2A5C"/>
                          </a:solidFill>
                          <a:latin typeface="Calibri"/>
                        </a:rPr>
                        <a:t>Animal Nutrition &amp; Pet</a:t>
                      </a:r>
                      <a:endParaRPr sz="1100"/>
                    </a:p>
                    <a:p>
                      <a:pPr algn="ctr"/>
                      <a:r>
                        <a:rPr sz="1100" b="1">
                          <a:solidFill>
                            <a:srgbClr val="0E2A5C"/>
                          </a:solidFill>
                          <a:latin typeface="Calibri"/>
                        </a:rPr>
                        <a:t>Care | Pet Joint &amp; Skin</a:t>
                      </a:r>
                      <a:endParaRPr sz="1100"/>
                    </a:p>
                    <a:p>
                      <a:pPr algn="ctr"/>
                      <a:r>
                        <a:rPr sz="1100" b="1">
                          <a:solidFill>
                            <a:srgbClr val="0E2A5C"/>
                          </a:solidFill>
                          <a:latin typeface="Calibri"/>
                        </a:rPr>
                        <a:t>Supplements</a:t>
                      </a:r>
                      <a:endParaRPr sz="1100"/>
                    </a:p>
                  </a:txBody>
                  <a:tcPr marL="19050" marR="14288" marT="19050" marB="19050" anchor="ctr">
                    <a:solidFill>
                      <a:srgbClr val="EBF2F9"/>
                    </a:solidFill>
                  </a:tcPr>
                </a:tc>
                <a:tc hMerge="1">
                  <a:txBody>
                    <a:bodyPr wrap="none"/>
                    <a:lstStyle/>
                    <a:p>
                      <a:pPr algn="ctr"/>
                      <a:endParaRPr sz="1100"/>
                    </a:p>
                  </a:txBody>
                  <a:tcPr marL="19050" marR="14288" marT="19050" marB="19050" anchor="ctr">
                    <a:solidFill>
                      <a:srgbClr val="EBF2F9"/>
                    </a:solidFill>
                  </a:tcPr>
                </a:tc>
                <a:tc gridSpan="2">
                  <a:txBody>
                    <a:bodyPr wrap="none"/>
                    <a:lstStyle/>
                    <a:p>
                      <a:pPr algn="ctr"/>
                      <a:r>
                        <a:rPr sz="1100" b="1">
                          <a:solidFill>
                            <a:srgbClr val="0E2A5C"/>
                          </a:solidFill>
                          <a:latin typeface="Calibri"/>
                        </a:rPr>
                        <a:t>Animal</a:t>
                      </a:r>
                      <a:endParaRPr sz="1100"/>
                    </a:p>
                    <a:p>
                      <a:pPr algn="ctr"/>
                      <a:r>
                        <a:rPr sz="1100" b="1">
                          <a:solidFill>
                            <a:srgbClr val="0E2A5C"/>
                          </a:solidFill>
                          <a:latin typeface="Calibri"/>
                        </a:rPr>
                        <a:t>Nutrition &amp;</a:t>
                      </a:r>
                      <a:endParaRPr sz="1100"/>
                    </a:p>
                    <a:p>
                      <a:pPr algn="ctr"/>
                      <a:r>
                        <a:rPr sz="1100" b="1">
                          <a:solidFill>
                            <a:srgbClr val="0E2A5C"/>
                          </a:solidFill>
                          <a:latin typeface="Calibri"/>
                        </a:rPr>
                        <a:t>Pet Care |</a:t>
                      </a:r>
                      <a:endParaRPr sz="1100"/>
                    </a:p>
                    <a:p>
                      <a:pPr algn="ctr"/>
                      <a:r>
                        <a:rPr sz="1100" b="1">
                          <a:solidFill>
                            <a:srgbClr val="0E2A5C"/>
                          </a:solidFill>
                          <a:latin typeface="Calibri"/>
                        </a:rPr>
                        <a:t>Livestock &amp;</a:t>
                      </a:r>
                      <a:endParaRPr sz="1100"/>
                    </a:p>
                    <a:p>
                      <a:pPr algn="ctr"/>
                      <a:r>
                        <a:rPr sz="1100" b="1">
                          <a:solidFill>
                            <a:srgbClr val="0E2A5C"/>
                          </a:solidFill>
                          <a:latin typeface="Calibri"/>
                        </a:rPr>
                        <a:t>Poultry Feed</a:t>
                      </a:r>
                      <a:endParaRPr sz="1100"/>
                    </a:p>
                  </a:txBody>
                  <a:tcPr marL="19050" marR="14288" marT="19050" marB="19050" anchor="ctr">
                    <a:solidFill>
                      <a:srgbClr val="EBF2F9"/>
                    </a:solidFill>
                  </a:tcPr>
                </a:tc>
                <a:tc hMerge="1">
                  <a:txBody>
                    <a:bodyPr wrap="none"/>
                    <a:lstStyle/>
                    <a:p>
                      <a:pPr algn="ctr"/>
                      <a:endParaRPr sz="1100"/>
                    </a:p>
                  </a:txBody>
                  <a:tcPr marL="19050" marR="14288" marT="19050" marB="19050" anchor="ctr">
                    <a:solidFill>
                      <a:srgbClr val="EBF2F9"/>
                    </a:solidFill>
                  </a:tcPr>
                </a:tc>
                <a:tc gridSpan="2">
                  <a:txBody>
                    <a:bodyPr wrap="none"/>
                    <a:lstStyle/>
                    <a:p>
                      <a:pPr algn="ctr"/>
                      <a:r>
                        <a:rPr sz="1100" b="1">
                          <a:solidFill>
                            <a:srgbClr val="0E2A5C"/>
                          </a:solidFill>
                          <a:latin typeface="Calibri"/>
                        </a:rPr>
                        <a:t>Industr</a:t>
                      </a:r>
                      <a:endParaRPr sz="1100"/>
                    </a:p>
                    <a:p>
                      <a:pPr algn="ctr"/>
                      <a:r>
                        <a:rPr sz="1100" b="1">
                          <a:solidFill>
                            <a:srgbClr val="0E2A5C"/>
                          </a:solidFill>
                          <a:latin typeface="Calibri"/>
                        </a:rPr>
                        <a:t>ial &amp;</a:t>
                      </a:r>
                      <a:endParaRPr sz="1100"/>
                    </a:p>
                    <a:p>
                      <a:pPr algn="ctr"/>
                      <a:r>
                        <a:rPr sz="1100" b="1">
                          <a:solidFill>
                            <a:srgbClr val="0E2A5C"/>
                          </a:solidFill>
                          <a:latin typeface="Calibri"/>
                        </a:rPr>
                        <a:t>Biomat</a:t>
                      </a:r>
                      <a:endParaRPr sz="1100"/>
                    </a:p>
                    <a:p>
                      <a:pPr algn="ctr"/>
                      <a:r>
                        <a:rPr sz="1100" b="1">
                          <a:solidFill>
                            <a:srgbClr val="0E2A5C"/>
                          </a:solidFill>
                          <a:latin typeface="Calibri"/>
                        </a:rPr>
                        <a:t>erials</a:t>
                      </a:r>
                      <a:endParaRPr sz="1100"/>
                    </a:p>
                  </a:txBody>
                  <a:tcPr marL="19050" marR="14288" marT="19050" marB="19050" anchor="ctr">
                    <a:solidFill>
                      <a:srgbClr val="EBF2F9"/>
                    </a:solidFill>
                  </a:tcPr>
                </a:tc>
                <a:tc hMerge="1">
                  <a:txBody>
                    <a:bodyPr wrap="none"/>
                    <a:lstStyle/>
                    <a:p>
                      <a:pPr algn="ctr"/>
                      <a:endParaRPr sz="1100"/>
                    </a:p>
                  </a:txBody>
                  <a:tcPr marL="19050" marR="14288" marT="19050" marB="19050" anchor="ctr">
                    <a:solidFill>
                      <a:srgbClr val="EBF2F9"/>
                    </a:solidFill>
                  </a:tcPr>
                </a:tc>
                <a:tc gridSpan="2">
                  <a:txBody>
                    <a:bodyPr wrap="none"/>
                    <a:lstStyle/>
                    <a:p>
                      <a:pPr algn="ctr"/>
                      <a:r>
                        <a:rPr sz="1100" b="1">
                          <a:solidFill>
                            <a:srgbClr val="0E2A5C"/>
                          </a:solidFill>
                          <a:latin typeface="Calibri"/>
                        </a:rPr>
                        <a:t>Total</a:t>
                      </a:r>
                      <a:endParaRPr sz="1100"/>
                    </a:p>
                  </a:txBody>
                  <a:tcPr marL="19050" marR="14288" marT="19050" marB="19050" anchor="ctr">
                    <a:solidFill>
                      <a:srgbClr val="EBF2F9"/>
                    </a:solidFill>
                  </a:tcPr>
                </a:tc>
                <a:tc hMerge="1">
                  <a:txBody>
                    <a:bodyPr wrap="none"/>
                    <a:lstStyle/>
                    <a:p>
                      <a:pPr algn="ctr"/>
                      <a:endParaRPr sz="1100"/>
                    </a:p>
                  </a:txBody>
                  <a:tcPr marL="19050" marR="14288" marT="19050" marB="19050" anchor="ctr">
                    <a:solidFill>
                      <a:srgbClr val="EBF2F9"/>
                    </a:solidFill>
                  </a:tcPr>
                </a:tc>
              </a:tr>
              <a:tr h="1210310">
                <a:tc vMerge="1">
                  <a:txBody>
                    <a:bodyPr wrap="none"/>
                    <a:lstStyle/>
                    <a:p>
                      <a:pPr algn="l"/>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 Joint &amp; Bone Health|2026E</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 Joint &amp; Bone Health|2036F</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 Skin, Hair &amp; Nail Health|2026E</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 Skin, Hair &amp; Nail Health|2036F</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 Others|2026E</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 Others|2036F</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2026E</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2036F</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 Skin Care|2026E</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 Skin Care|2036F</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 Hair Care|2026E</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 Hair Care|2036F</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 Wound Care &amp; Dressings|2026E</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 Wound Care &amp; Dressings|2036F</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 Tissue Engineering &amp; Drug Delivery|2026E</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 Tissue Engineering &amp; Drug Delivery|2036F</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 Pet Joint &amp; Skin Supplements|2026E</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 Pet Joint &amp; Skin Supplements|2036F</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 Livestock &amp; Poultry Feed|2026E</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 Livestock &amp; Poultry Feed|2036F</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2026E</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2036F</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2026E</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2036F</a:t>
                      </a:r>
                      <a:endParaRPr sz="1100"/>
                    </a:p>
                  </a:txBody>
                  <a:tcPr marL="19050" marR="14288" marT="19050" marB="19050" anchor="ctr">
                    <a:solidFill>
                      <a:srgbClr val="EBF2F9"/>
                    </a:solidFill>
                  </a:tcPr>
                </a:tc>
              </a:tr>
              <a:tr h="1210310">
                <a:tc>
                  <a:txBody>
                    <a:bodyPr wrap="none"/>
                    <a:lstStyle/>
                    <a:p>
                      <a:pPr algn="l"/>
                      <a:r>
                        <a:rPr sz="1100" b="1">
                          <a:solidFill>
                            <a:srgbClr val="2E2E2E"/>
                          </a:solidFill>
                          <a:latin typeface="Calibri"/>
                        </a:rPr>
                        <a:t>Micro</a:t>
                      </a:r>
                      <a:endParaRPr sz="1100"/>
                    </a:p>
                    <a:p>
                      <a:pPr algn="l"/>
                      <a:r>
                        <a:rPr sz="1100" b="1">
                          <a:solidFill>
                            <a:srgbClr val="2E2E2E"/>
                          </a:solidFill>
                          <a:latin typeface="Calibri"/>
                        </a:rPr>
                        <a:t>nized</a:t>
                      </a:r>
                      <a:endParaRPr sz="1100"/>
                    </a:p>
                    <a:p>
                      <a:pPr algn="l"/>
                      <a:r>
                        <a:rPr sz="1100" b="1">
                          <a:solidFill>
                            <a:srgbClr val="2E2E2E"/>
                          </a:solidFill>
                          <a:latin typeface="Calibri"/>
                        </a:rPr>
                        <a:t>Eggsh</a:t>
                      </a:r>
                      <a:endParaRPr sz="1100"/>
                    </a:p>
                    <a:p>
                      <a:pPr algn="l"/>
                      <a:r>
                        <a:rPr sz="1100" b="1">
                          <a:solidFill>
                            <a:srgbClr val="2E2E2E"/>
                          </a:solidFill>
                          <a:latin typeface="Calibri"/>
                        </a:rPr>
                        <a:t>ell</a:t>
                      </a:r>
                      <a:endParaRPr sz="1100"/>
                    </a:p>
                    <a:p>
                      <a:pPr algn="l"/>
                      <a:r>
                        <a:rPr sz="1100" b="1">
                          <a:solidFill>
                            <a:srgbClr val="2E2E2E"/>
                          </a:solidFill>
                          <a:latin typeface="Calibri"/>
                        </a:rPr>
                        <a:t>Mem</a:t>
                      </a:r>
                      <a:endParaRPr sz="1100"/>
                    </a:p>
                    <a:p>
                      <a:pPr algn="l"/>
                      <a:r>
                        <a:rPr sz="1100" b="1">
                          <a:solidFill>
                            <a:srgbClr val="2E2E2E"/>
                          </a:solidFill>
                          <a:latin typeface="Calibri"/>
                        </a:rPr>
                        <a:t>brane</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square"/>
                    <a:lstStyle/>
                    <a:p>
                      <a:pPr algn="ctr"/>
                      <a:r>
                        <a:rPr sz="1100"/>
                        <a:t> </a:t>
                      </a:r>
                      <a:endParaRPr sz="1100"/>
                    </a:p>
                  </a:txBody>
                  <a:tcPr marL="19050" marR="14288" marT="19050" marB="19050" anchor="ctr">
                    <a:solidFill>
                      <a:srgbClr val="FFFFFF"/>
                    </a:solidFill>
                  </a:tcPr>
                </a:tc>
                <a:tc>
                  <a:txBody>
                    <a:bodyPr wrap="squar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square"/>
                    <a:lstStyle/>
                    <a:p>
                      <a:pPr algn="ctr"/>
                      <a:r>
                        <a:rPr sz="1100"/>
                        <a:t> </a:t>
                      </a:r>
                      <a:endParaRPr sz="1100"/>
                    </a:p>
                  </a:txBody>
                  <a:tcPr marL="19050" marR="14288" marT="19050" marB="19050" anchor="ctr">
                    <a:solidFill>
                      <a:srgbClr val="FFFFFF"/>
                    </a:solidFill>
                  </a:tcPr>
                </a:tc>
                <a:tc>
                  <a:txBody>
                    <a:bodyPr wrap="square"/>
                    <a:lstStyle/>
                    <a:p>
                      <a:pPr algn="ctr"/>
                      <a:r>
                        <a:rPr sz="1100"/>
                        <a:t> </a:t>
                      </a:r>
                      <a:endParaRPr sz="1100"/>
                    </a:p>
                  </a:txBody>
                  <a:tcPr marL="19050" marR="14288" marT="19050" marB="19050" anchor="ctr">
                    <a:solidFill>
                      <a:srgbClr val="FFFFFF"/>
                    </a:solidFill>
                  </a:tcPr>
                </a:tc>
                <a:tc>
                  <a:txBody>
                    <a:bodyPr wrap="square"/>
                    <a:lstStyle/>
                    <a:p>
                      <a:pPr algn="ctr"/>
                      <a:r>
                        <a:rPr sz="1100"/>
                        <a:t> </a:t>
                      </a:r>
                      <a:endParaRPr sz="1100"/>
                    </a:p>
                  </a:txBody>
                  <a:tcPr marL="19050" marR="14288" marT="19050" marB="19050" anchor="ctr">
                    <a:solidFill>
                      <a:srgbClr val="FFFFFF"/>
                    </a:solidFill>
                  </a:tcPr>
                </a:tc>
                <a:tc>
                  <a:txBody>
                    <a:bodyPr wrap="square"/>
                    <a:lstStyle/>
                    <a:p>
                      <a:pPr algn="ctr"/>
                      <a:r>
                        <a:rPr sz="1100"/>
                        <a:t> </a:t>
                      </a:r>
                      <a:endParaRPr sz="1100"/>
                    </a:p>
                  </a:txBody>
                  <a:tcPr marL="19050" marR="14288" marT="19050" marB="19050" anchor="ctr">
                    <a:solidFill>
                      <a:srgbClr val="FFFFFF"/>
                    </a:solidFill>
                  </a:tcPr>
                </a:tc>
              </a:tr>
              <a:tr h="1210310">
                <a:tc>
                  <a:txBody>
                    <a:bodyPr wrap="none"/>
                    <a:lstStyle/>
                    <a:p>
                      <a:pPr algn="l"/>
                      <a:r>
                        <a:rPr sz="1100" b="1">
                          <a:solidFill>
                            <a:srgbClr val="2E2E2E"/>
                          </a:solidFill>
                          <a:latin typeface="Calibri"/>
                        </a:rPr>
                        <a:t>Hydro</a:t>
                      </a:r>
                      <a:endParaRPr sz="1100"/>
                    </a:p>
                    <a:p>
                      <a:pPr algn="l"/>
                      <a:r>
                        <a:rPr sz="1100" b="1">
                          <a:solidFill>
                            <a:srgbClr val="2E2E2E"/>
                          </a:solidFill>
                          <a:latin typeface="Calibri"/>
                        </a:rPr>
                        <a:t>lyzed</a:t>
                      </a:r>
                      <a:endParaRPr sz="1100"/>
                    </a:p>
                    <a:p>
                      <a:pPr algn="l"/>
                      <a:r>
                        <a:rPr sz="1100" b="1">
                          <a:solidFill>
                            <a:srgbClr val="2E2E2E"/>
                          </a:solidFill>
                          <a:latin typeface="Calibri"/>
                        </a:rPr>
                        <a:t>Eggsh</a:t>
                      </a:r>
                      <a:endParaRPr sz="1100"/>
                    </a:p>
                    <a:p>
                      <a:pPr algn="l"/>
                      <a:r>
                        <a:rPr sz="1100" b="1">
                          <a:solidFill>
                            <a:srgbClr val="2E2E2E"/>
                          </a:solidFill>
                          <a:latin typeface="Calibri"/>
                        </a:rPr>
                        <a:t>ell</a:t>
                      </a:r>
                      <a:endParaRPr sz="1100"/>
                    </a:p>
                    <a:p>
                      <a:pPr algn="l"/>
                      <a:r>
                        <a:rPr sz="1100" b="1">
                          <a:solidFill>
                            <a:srgbClr val="2E2E2E"/>
                          </a:solidFill>
                          <a:latin typeface="Calibri"/>
                        </a:rPr>
                        <a:t>Mem</a:t>
                      </a:r>
                      <a:endParaRPr sz="1100"/>
                    </a:p>
                    <a:p>
                      <a:pPr algn="l"/>
                      <a:r>
                        <a:rPr sz="1100" b="1">
                          <a:solidFill>
                            <a:srgbClr val="2E2E2E"/>
                          </a:solidFill>
                          <a:latin typeface="Calibri"/>
                        </a:rPr>
                        <a:t>brane</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square"/>
                    <a:lstStyle/>
                    <a:p>
                      <a:pPr algn="ctr"/>
                      <a:r>
                        <a:rPr sz="1100"/>
                        <a:t> </a:t>
                      </a:r>
                      <a:endParaRPr sz="1100"/>
                    </a:p>
                  </a:txBody>
                  <a:tcPr marL="19050" marR="14288" marT="19050" marB="19050" anchor="ctr">
                    <a:solidFill>
                      <a:srgbClr val="F5F9FD"/>
                    </a:solidFill>
                  </a:tcPr>
                </a:tc>
                <a:tc>
                  <a:txBody>
                    <a:bodyPr wrap="squar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square"/>
                    <a:lstStyle/>
                    <a:p>
                      <a:pPr algn="ctr"/>
                      <a:r>
                        <a:rPr sz="1100"/>
                        <a:t> </a:t>
                      </a:r>
                      <a:endParaRPr sz="1100"/>
                    </a:p>
                  </a:txBody>
                  <a:tcPr marL="19050" marR="14288" marT="19050" marB="19050" anchor="ctr">
                    <a:solidFill>
                      <a:srgbClr val="F5F9FD"/>
                    </a:solidFill>
                  </a:tcPr>
                </a:tc>
                <a:tc>
                  <a:txBody>
                    <a:bodyPr wrap="square"/>
                    <a:lstStyle/>
                    <a:p>
                      <a:pPr algn="ctr"/>
                      <a:r>
                        <a:rPr sz="1100"/>
                        <a:t> </a:t>
                      </a:r>
                      <a:endParaRPr sz="1100"/>
                    </a:p>
                  </a:txBody>
                  <a:tcPr marL="19050" marR="14288" marT="19050" marB="19050" anchor="ctr">
                    <a:solidFill>
                      <a:srgbClr val="F5F9FD"/>
                    </a:solidFill>
                  </a:tcPr>
                </a:tc>
                <a:tc>
                  <a:txBody>
                    <a:bodyPr wrap="square"/>
                    <a:lstStyle/>
                    <a:p>
                      <a:pPr algn="ctr"/>
                      <a:r>
                        <a:rPr sz="1100"/>
                        <a:t> </a:t>
                      </a:r>
                      <a:endParaRPr sz="1100"/>
                    </a:p>
                  </a:txBody>
                  <a:tcPr marL="19050" marR="14288" marT="19050" marB="19050" anchor="ctr">
                    <a:solidFill>
                      <a:srgbClr val="F5F9FD"/>
                    </a:solidFill>
                  </a:tcPr>
                </a:tc>
                <a:tc>
                  <a:txBody>
                    <a:bodyPr wrap="square"/>
                    <a:lstStyle/>
                    <a:p>
                      <a:pPr algn="ctr"/>
                      <a:r>
                        <a:rPr sz="1100"/>
                        <a:t> </a:t>
                      </a:r>
                      <a:endParaRPr sz="1100"/>
                    </a:p>
                  </a:txBody>
                  <a:tcPr marL="19050" marR="14288" marT="19050" marB="19050" anchor="ctr">
                    <a:solidFill>
                      <a:srgbClr val="F5F9FD"/>
                    </a:solidFill>
                  </a:tcPr>
                </a:tc>
              </a:tr>
            </a:tbl>
          </a:graphicData>
        </a:graphic>
      </p:graphicFrame>
      <p:sp>
        <p:nvSpPr>
          <p:cNvPr id="10" name="TextBox 9"/>
          <p:cNvSpPr txBox="1"/>
          <p:nvPr/>
        </p:nvSpPr>
        <p:spPr>
          <a:xfrm>
            <a:off x="219075" y="589597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11" name="Rectangle 10"/>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3" name="Picture 12" descr="lock.png"/>
          <p:cNvPicPr>
            <a:picLocks noChangeAspect="1"/>
          </p:cNvPicPr>
          <p:nvPr/>
        </p:nvPicPr>
        <p:blipFill>
          <a:blip r:embed="rId4"/>
          <a:stretch>
            <a:fillRect/>
          </a:stretch>
        </p:blipFill>
        <p:spPr>
          <a:xfrm>
            <a:off x="6129681" y="4409440"/>
            <a:ext cx="366712" cy="533400"/>
          </a:xfrm>
          <a:prstGeom prst="rect">
            <a:avLst/>
          </a:prstGeom>
        </p:spPr>
      </p:pic>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Snapshot: Product Type × Application, 2026E vs 2036F (2/3)</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North America market value (US$ Mn) for each product type sub-segment across application sub-segments</a:t>
            </a:r>
          </a:p>
        </p:txBody>
      </p:sp>
      <p:sp>
        <p:nvSpPr>
          <p:cNvPr id="7" name="Rounded Rectangle 6"/>
          <p:cNvSpPr/>
          <p:nvPr/>
        </p:nvSpPr>
        <p:spPr>
          <a:xfrm>
            <a:off x="142875" y="981075"/>
            <a:ext cx="11906250" cy="4733925"/>
          </a:xfrm>
          <a:prstGeom prst="roundRect">
            <a:avLst>
              <a:gd name="adj" fmla="val 160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Market Value, Product Type × Application, 2026E and 2036F (US$ Mn)</a:t>
            </a:r>
          </a:p>
        </p:txBody>
      </p:sp>
      <p:graphicFrame>
        <p:nvGraphicFramePr>
          <p:cNvPr id="9" name="Table 8"/>
          <p:cNvGraphicFramePr>
            <a:graphicFrameLocks noGrp="1"/>
          </p:cNvGraphicFramePr>
          <p:nvPr/>
        </p:nvGraphicFramePr>
        <p:xfrm>
          <a:off x="152400" y="1238250"/>
          <a:ext cx="11948528" cy="4267200"/>
        </p:xfrm>
        <a:graphic>
          <a:graphicData uri="http://schemas.openxmlformats.org/drawingml/2006/table">
            <a:tbl>
              <a:tblPr>
                <a:tableStyleId>{5C22544A-7EE6-4342-B048-85BDC9FD1C3A}</a:tableStyleId>
              </a:tblPr>
              <a:tblGrid>
                <a:gridCol w="3200398"/>
                <a:gridCol w="403992"/>
                <a:gridCol w="401750"/>
                <a:gridCol w="403992"/>
                <a:gridCol w="401750"/>
                <a:gridCol w="409597"/>
                <a:gridCol w="407355"/>
                <a:gridCol w="190986"/>
                <a:gridCol w="188745"/>
                <a:gridCol w="346817"/>
                <a:gridCol w="344575"/>
                <a:gridCol w="346817"/>
                <a:gridCol w="344575"/>
                <a:gridCol w="484710"/>
                <a:gridCol w="482468"/>
                <a:gridCol w="448836"/>
                <a:gridCol w="446593"/>
                <a:gridCol w="583365"/>
                <a:gridCol w="581123"/>
                <a:gridCol w="355768"/>
                <a:gridCol w="353526"/>
                <a:gridCol w="190986"/>
                <a:gridCol w="188745"/>
                <a:gridCol w="190986"/>
                <a:gridCol w="250073"/>
              </a:tblGrid>
              <a:tr h="1017270">
                <a:tc rowSpan="2">
                  <a:txBody>
                    <a:bodyPr wrap="none"/>
                    <a:lstStyle/>
                    <a:p>
                      <a:pPr algn="l"/>
                      <a:r>
                        <a:rPr sz="1100" b="1">
                          <a:solidFill>
                            <a:srgbClr val="0E2A5C"/>
                          </a:solidFill>
                          <a:latin typeface="Calibri"/>
                        </a:rPr>
                        <a:t>Prod</a:t>
                      </a:r>
                      <a:endParaRPr sz="1100"/>
                    </a:p>
                    <a:p>
                      <a:pPr algn="l"/>
                      <a:r>
                        <a:rPr sz="1100" b="1">
                          <a:solidFill>
                            <a:srgbClr val="0E2A5C"/>
                          </a:solidFill>
                          <a:latin typeface="Calibri"/>
                        </a:rPr>
                        <a:t>uct</a:t>
                      </a:r>
                      <a:endParaRPr sz="1100"/>
                    </a:p>
                    <a:p>
                      <a:pPr algn="l"/>
                      <a:r>
                        <a:rPr sz="1100" b="1">
                          <a:solidFill>
                            <a:srgbClr val="0E2A5C"/>
                          </a:solidFill>
                          <a:latin typeface="Calibri"/>
                        </a:rPr>
                        <a:t>Type</a:t>
                      </a:r>
                      <a:endParaRPr sz="1100"/>
                    </a:p>
                  </a:txBody>
                  <a:tcPr marL="19050" marR="14288" marT="19050" marB="19050" anchor="ctr">
                    <a:solidFill>
                      <a:srgbClr val="EBF2F9"/>
                    </a:solidFill>
                  </a:tcPr>
                </a:tc>
                <a:tc gridSpan="2">
                  <a:txBody>
                    <a:bodyPr wrap="none"/>
                    <a:lstStyle/>
                    <a:p>
                      <a:pPr algn="ctr"/>
                      <a:r>
                        <a:rPr sz="1100" b="1">
                          <a:solidFill>
                            <a:srgbClr val="0E2A5C"/>
                          </a:solidFill>
                          <a:latin typeface="Calibri"/>
                        </a:rPr>
                        <a:t>Dietary</a:t>
                      </a:r>
                      <a:endParaRPr sz="1100"/>
                    </a:p>
                    <a:p>
                      <a:pPr algn="ctr"/>
                      <a:r>
                        <a:rPr sz="1100" b="1">
                          <a:solidFill>
                            <a:srgbClr val="0E2A5C"/>
                          </a:solidFill>
                          <a:latin typeface="Calibri"/>
                        </a:rPr>
                        <a:t>Supplements &amp;</a:t>
                      </a:r>
                      <a:endParaRPr sz="1100"/>
                    </a:p>
                    <a:p>
                      <a:pPr algn="ctr"/>
                      <a:r>
                        <a:rPr sz="1100" b="1">
                          <a:solidFill>
                            <a:srgbClr val="0E2A5C"/>
                          </a:solidFill>
                          <a:latin typeface="Calibri"/>
                        </a:rPr>
                        <a:t>Nutraceuticals |</a:t>
                      </a:r>
                      <a:endParaRPr sz="1100"/>
                    </a:p>
                    <a:p>
                      <a:pPr algn="ctr"/>
                      <a:r>
                        <a:rPr sz="1100" b="1">
                          <a:solidFill>
                            <a:srgbClr val="0E2A5C"/>
                          </a:solidFill>
                          <a:latin typeface="Calibri"/>
                        </a:rPr>
                        <a:t>Joint &amp; Bone</a:t>
                      </a:r>
                      <a:endParaRPr sz="1100"/>
                    </a:p>
                    <a:p>
                      <a:pPr algn="ctr"/>
                      <a:r>
                        <a:rPr sz="1100" b="1">
                          <a:solidFill>
                            <a:srgbClr val="0E2A5C"/>
                          </a:solidFill>
                          <a:latin typeface="Calibri"/>
                        </a:rPr>
                        <a:t>Health</a:t>
                      </a:r>
                      <a:endParaRPr sz="1100"/>
                    </a:p>
                  </a:txBody>
                  <a:tcPr marL="19050" marR="14288" marT="19050" marB="19050" anchor="ctr">
                    <a:solidFill>
                      <a:srgbClr val="EBF2F9"/>
                    </a:solidFill>
                  </a:tcPr>
                </a:tc>
                <a:tc hMerge="1">
                  <a:txBody>
                    <a:bodyPr wrap="none"/>
                    <a:lstStyle/>
                    <a:p>
                      <a:pPr algn="ctr"/>
                      <a:endParaRPr sz="1100"/>
                    </a:p>
                  </a:txBody>
                  <a:tcPr marL="19050" marR="14288" marT="19050" marB="19050" anchor="ctr">
                    <a:solidFill>
                      <a:srgbClr val="EBF2F9"/>
                    </a:solidFill>
                  </a:tcPr>
                </a:tc>
                <a:tc gridSpan="2">
                  <a:txBody>
                    <a:bodyPr wrap="none"/>
                    <a:lstStyle/>
                    <a:p>
                      <a:pPr algn="ctr"/>
                      <a:r>
                        <a:rPr sz="1100" b="1">
                          <a:solidFill>
                            <a:srgbClr val="0E2A5C"/>
                          </a:solidFill>
                          <a:latin typeface="Calibri"/>
                        </a:rPr>
                        <a:t>Dietary</a:t>
                      </a:r>
                      <a:endParaRPr sz="1100"/>
                    </a:p>
                    <a:p>
                      <a:pPr algn="ctr"/>
                      <a:r>
                        <a:rPr sz="1100" b="1">
                          <a:solidFill>
                            <a:srgbClr val="0E2A5C"/>
                          </a:solidFill>
                          <a:latin typeface="Calibri"/>
                        </a:rPr>
                        <a:t>Supplements &amp;</a:t>
                      </a:r>
                      <a:endParaRPr sz="1100"/>
                    </a:p>
                    <a:p>
                      <a:pPr algn="ctr"/>
                      <a:r>
                        <a:rPr sz="1100" b="1">
                          <a:solidFill>
                            <a:srgbClr val="0E2A5C"/>
                          </a:solidFill>
                          <a:latin typeface="Calibri"/>
                        </a:rPr>
                        <a:t>Nutraceuticals |</a:t>
                      </a:r>
                      <a:endParaRPr sz="1100"/>
                    </a:p>
                    <a:p>
                      <a:pPr algn="ctr"/>
                      <a:r>
                        <a:rPr sz="1100" b="1">
                          <a:solidFill>
                            <a:srgbClr val="0E2A5C"/>
                          </a:solidFill>
                          <a:latin typeface="Calibri"/>
                        </a:rPr>
                        <a:t>Skin, Hair &amp; Nail</a:t>
                      </a:r>
                      <a:endParaRPr sz="1100"/>
                    </a:p>
                    <a:p>
                      <a:pPr algn="ctr"/>
                      <a:r>
                        <a:rPr sz="1100" b="1">
                          <a:solidFill>
                            <a:srgbClr val="0E2A5C"/>
                          </a:solidFill>
                          <a:latin typeface="Calibri"/>
                        </a:rPr>
                        <a:t>Health</a:t>
                      </a:r>
                      <a:endParaRPr sz="1100"/>
                    </a:p>
                  </a:txBody>
                  <a:tcPr marL="19050" marR="14288" marT="19050" marB="19050" anchor="ctr">
                    <a:solidFill>
                      <a:srgbClr val="EBF2F9"/>
                    </a:solidFill>
                  </a:tcPr>
                </a:tc>
                <a:tc hMerge="1">
                  <a:txBody>
                    <a:bodyPr wrap="none"/>
                    <a:lstStyle/>
                    <a:p>
                      <a:pPr algn="ctr"/>
                      <a:endParaRPr sz="1100"/>
                    </a:p>
                  </a:txBody>
                  <a:tcPr marL="19050" marR="14288" marT="19050" marB="19050" anchor="ctr">
                    <a:solidFill>
                      <a:srgbClr val="EBF2F9"/>
                    </a:solidFill>
                  </a:tcPr>
                </a:tc>
                <a:tc gridSpan="2">
                  <a:txBody>
                    <a:bodyPr wrap="none"/>
                    <a:lstStyle/>
                    <a:p>
                      <a:pPr algn="ctr"/>
                      <a:r>
                        <a:rPr sz="1100" b="1">
                          <a:solidFill>
                            <a:srgbClr val="0E2A5C"/>
                          </a:solidFill>
                          <a:latin typeface="Calibri"/>
                        </a:rPr>
                        <a:t>Dietary</a:t>
                      </a:r>
                      <a:endParaRPr sz="1100"/>
                    </a:p>
                    <a:p>
                      <a:pPr algn="ctr"/>
                      <a:r>
                        <a:rPr sz="1100" b="1">
                          <a:solidFill>
                            <a:srgbClr val="0E2A5C"/>
                          </a:solidFill>
                          <a:latin typeface="Calibri"/>
                        </a:rPr>
                        <a:t>Supplements &amp;</a:t>
                      </a:r>
                      <a:endParaRPr sz="1100"/>
                    </a:p>
                    <a:p>
                      <a:pPr algn="ctr"/>
                      <a:r>
                        <a:rPr sz="1100" b="1">
                          <a:solidFill>
                            <a:srgbClr val="0E2A5C"/>
                          </a:solidFill>
                          <a:latin typeface="Calibri"/>
                        </a:rPr>
                        <a:t>Nutraceuticals |</a:t>
                      </a:r>
                      <a:endParaRPr sz="1100"/>
                    </a:p>
                    <a:p>
                      <a:pPr algn="ctr"/>
                      <a:r>
                        <a:rPr sz="1100" b="1">
                          <a:solidFill>
                            <a:srgbClr val="0E2A5C"/>
                          </a:solidFill>
                          <a:latin typeface="Calibri"/>
                        </a:rPr>
                        <a:t>Others</a:t>
                      </a:r>
                      <a:endParaRPr sz="1100"/>
                    </a:p>
                  </a:txBody>
                  <a:tcPr marL="19050" marR="14288" marT="19050" marB="19050" anchor="ctr">
                    <a:solidFill>
                      <a:srgbClr val="EBF2F9"/>
                    </a:solidFill>
                  </a:tcPr>
                </a:tc>
                <a:tc hMerge="1">
                  <a:txBody>
                    <a:bodyPr wrap="none"/>
                    <a:lstStyle/>
                    <a:p>
                      <a:pPr algn="ctr"/>
                      <a:endParaRPr sz="1100"/>
                    </a:p>
                  </a:txBody>
                  <a:tcPr marL="19050" marR="14288" marT="19050" marB="19050" anchor="ctr">
                    <a:solidFill>
                      <a:srgbClr val="EBF2F9"/>
                    </a:solidFill>
                  </a:tcPr>
                </a:tc>
                <a:tc gridSpan="2">
                  <a:txBody>
                    <a:bodyPr wrap="none"/>
                    <a:lstStyle/>
                    <a:p>
                      <a:pPr algn="ctr"/>
                      <a:r>
                        <a:rPr sz="1100" b="1">
                          <a:solidFill>
                            <a:srgbClr val="0E2A5C"/>
                          </a:solidFill>
                          <a:latin typeface="Calibri"/>
                        </a:rPr>
                        <a:t>Functio</a:t>
                      </a:r>
                      <a:endParaRPr sz="1100"/>
                    </a:p>
                    <a:p>
                      <a:pPr algn="ctr"/>
                      <a:r>
                        <a:rPr sz="1100" b="1">
                          <a:solidFill>
                            <a:srgbClr val="0E2A5C"/>
                          </a:solidFill>
                          <a:latin typeface="Calibri"/>
                        </a:rPr>
                        <a:t>nal</a:t>
                      </a:r>
                      <a:endParaRPr sz="1100"/>
                    </a:p>
                    <a:p>
                      <a:pPr algn="ctr"/>
                      <a:r>
                        <a:rPr sz="1100" b="1">
                          <a:solidFill>
                            <a:srgbClr val="0E2A5C"/>
                          </a:solidFill>
                          <a:latin typeface="Calibri"/>
                        </a:rPr>
                        <a:t>Food &amp;</a:t>
                      </a:r>
                      <a:endParaRPr sz="1100"/>
                    </a:p>
                    <a:p>
                      <a:pPr algn="ctr"/>
                      <a:r>
                        <a:rPr sz="1100" b="1">
                          <a:solidFill>
                            <a:srgbClr val="0E2A5C"/>
                          </a:solidFill>
                          <a:latin typeface="Calibri"/>
                        </a:rPr>
                        <a:t>Bevera</a:t>
                      </a:r>
                      <a:endParaRPr sz="1100"/>
                    </a:p>
                    <a:p>
                      <a:pPr algn="ctr"/>
                      <a:r>
                        <a:rPr sz="1100" b="1">
                          <a:solidFill>
                            <a:srgbClr val="0E2A5C"/>
                          </a:solidFill>
                          <a:latin typeface="Calibri"/>
                        </a:rPr>
                        <a:t>ges</a:t>
                      </a:r>
                      <a:endParaRPr sz="1100"/>
                    </a:p>
                  </a:txBody>
                  <a:tcPr marL="19050" marR="14288" marT="19050" marB="19050" anchor="ctr">
                    <a:solidFill>
                      <a:srgbClr val="EBF2F9"/>
                    </a:solidFill>
                  </a:tcPr>
                </a:tc>
                <a:tc hMerge="1">
                  <a:txBody>
                    <a:bodyPr wrap="none"/>
                    <a:lstStyle/>
                    <a:p>
                      <a:pPr algn="ctr"/>
                      <a:endParaRPr sz="1100"/>
                    </a:p>
                  </a:txBody>
                  <a:tcPr marL="19050" marR="14288" marT="19050" marB="19050" anchor="ctr">
                    <a:solidFill>
                      <a:srgbClr val="EBF2F9"/>
                    </a:solidFill>
                  </a:tcPr>
                </a:tc>
                <a:tc gridSpan="2">
                  <a:txBody>
                    <a:bodyPr wrap="none"/>
                    <a:lstStyle/>
                    <a:p>
                      <a:pPr algn="ctr"/>
                      <a:r>
                        <a:rPr sz="1100" b="1">
                          <a:solidFill>
                            <a:srgbClr val="0E2A5C"/>
                          </a:solidFill>
                          <a:latin typeface="Calibri"/>
                        </a:rPr>
                        <a:t>Cosmetics &amp;</a:t>
                      </a:r>
                      <a:endParaRPr sz="1100"/>
                    </a:p>
                    <a:p>
                      <a:pPr algn="ctr"/>
                      <a:r>
                        <a:rPr sz="1100" b="1">
                          <a:solidFill>
                            <a:srgbClr val="0E2A5C"/>
                          </a:solidFill>
                          <a:latin typeface="Calibri"/>
                        </a:rPr>
                        <a:t>Personal Care</a:t>
                      </a:r>
                      <a:endParaRPr sz="1100"/>
                    </a:p>
                    <a:p>
                      <a:pPr algn="ctr"/>
                      <a:r>
                        <a:rPr sz="1100" b="1">
                          <a:solidFill>
                            <a:srgbClr val="0E2A5C"/>
                          </a:solidFill>
                          <a:latin typeface="Calibri"/>
                        </a:rPr>
                        <a:t>| Skin Care</a:t>
                      </a:r>
                      <a:endParaRPr sz="1100"/>
                    </a:p>
                  </a:txBody>
                  <a:tcPr marL="19050" marR="14288" marT="19050" marB="19050" anchor="ctr">
                    <a:solidFill>
                      <a:srgbClr val="EBF2F9"/>
                    </a:solidFill>
                  </a:tcPr>
                </a:tc>
                <a:tc hMerge="1">
                  <a:txBody>
                    <a:bodyPr wrap="none"/>
                    <a:lstStyle/>
                    <a:p>
                      <a:pPr algn="ctr"/>
                      <a:endParaRPr sz="1100"/>
                    </a:p>
                  </a:txBody>
                  <a:tcPr marL="19050" marR="14288" marT="19050" marB="19050" anchor="ctr">
                    <a:solidFill>
                      <a:srgbClr val="EBF2F9"/>
                    </a:solidFill>
                  </a:tcPr>
                </a:tc>
                <a:tc gridSpan="2">
                  <a:txBody>
                    <a:bodyPr wrap="none"/>
                    <a:lstStyle/>
                    <a:p>
                      <a:pPr algn="ctr"/>
                      <a:r>
                        <a:rPr sz="1100" b="1">
                          <a:solidFill>
                            <a:srgbClr val="0E2A5C"/>
                          </a:solidFill>
                          <a:latin typeface="Calibri"/>
                        </a:rPr>
                        <a:t>Cosmetics &amp;</a:t>
                      </a:r>
                      <a:endParaRPr sz="1100"/>
                    </a:p>
                    <a:p>
                      <a:pPr algn="ctr"/>
                      <a:r>
                        <a:rPr sz="1100" b="1">
                          <a:solidFill>
                            <a:srgbClr val="0E2A5C"/>
                          </a:solidFill>
                          <a:latin typeface="Calibri"/>
                        </a:rPr>
                        <a:t>Personal Care</a:t>
                      </a:r>
                      <a:endParaRPr sz="1100"/>
                    </a:p>
                    <a:p>
                      <a:pPr algn="ctr"/>
                      <a:r>
                        <a:rPr sz="1100" b="1">
                          <a:solidFill>
                            <a:srgbClr val="0E2A5C"/>
                          </a:solidFill>
                          <a:latin typeface="Calibri"/>
                        </a:rPr>
                        <a:t>| Hair Care</a:t>
                      </a:r>
                      <a:endParaRPr sz="1100"/>
                    </a:p>
                  </a:txBody>
                  <a:tcPr marL="19050" marR="14288" marT="19050" marB="19050" anchor="ctr">
                    <a:solidFill>
                      <a:srgbClr val="EBF2F9"/>
                    </a:solidFill>
                  </a:tcPr>
                </a:tc>
                <a:tc hMerge="1">
                  <a:txBody>
                    <a:bodyPr wrap="none"/>
                    <a:lstStyle/>
                    <a:p>
                      <a:pPr algn="ctr"/>
                      <a:endParaRPr sz="1100"/>
                    </a:p>
                  </a:txBody>
                  <a:tcPr marL="19050" marR="14288" marT="19050" marB="19050" anchor="ctr">
                    <a:solidFill>
                      <a:srgbClr val="EBF2F9"/>
                    </a:solidFill>
                  </a:tcPr>
                </a:tc>
                <a:tc gridSpan="2">
                  <a:txBody>
                    <a:bodyPr wrap="none"/>
                    <a:lstStyle/>
                    <a:p>
                      <a:pPr algn="ctr"/>
                      <a:r>
                        <a:rPr sz="1100" b="1">
                          <a:solidFill>
                            <a:srgbClr val="0E2A5C"/>
                          </a:solidFill>
                          <a:latin typeface="Calibri"/>
                        </a:rPr>
                        <a:t>Pharmaceuticals &amp;</a:t>
                      </a:r>
                      <a:endParaRPr sz="1100"/>
                    </a:p>
                    <a:p>
                      <a:pPr algn="ctr"/>
                      <a:r>
                        <a:rPr sz="1100" b="1">
                          <a:solidFill>
                            <a:srgbClr val="0E2A5C"/>
                          </a:solidFill>
                          <a:latin typeface="Calibri"/>
                        </a:rPr>
                        <a:t>Biomedical |</a:t>
                      </a:r>
                      <a:endParaRPr sz="1100"/>
                    </a:p>
                    <a:p>
                      <a:pPr algn="ctr"/>
                      <a:r>
                        <a:rPr sz="1100" b="1">
                          <a:solidFill>
                            <a:srgbClr val="0E2A5C"/>
                          </a:solidFill>
                          <a:latin typeface="Calibri"/>
                        </a:rPr>
                        <a:t>Wound Care &amp;</a:t>
                      </a:r>
                      <a:endParaRPr sz="1100"/>
                    </a:p>
                    <a:p>
                      <a:pPr algn="ctr"/>
                      <a:r>
                        <a:rPr sz="1100" b="1">
                          <a:solidFill>
                            <a:srgbClr val="0E2A5C"/>
                          </a:solidFill>
                          <a:latin typeface="Calibri"/>
                        </a:rPr>
                        <a:t>Dressings</a:t>
                      </a:r>
                      <a:endParaRPr sz="1100"/>
                    </a:p>
                  </a:txBody>
                  <a:tcPr marL="19050" marR="14288" marT="19050" marB="19050" anchor="ctr">
                    <a:solidFill>
                      <a:srgbClr val="EBF2F9"/>
                    </a:solidFill>
                  </a:tcPr>
                </a:tc>
                <a:tc hMerge="1">
                  <a:txBody>
                    <a:bodyPr wrap="none"/>
                    <a:lstStyle/>
                    <a:p>
                      <a:pPr algn="ctr"/>
                      <a:endParaRPr sz="1100"/>
                    </a:p>
                  </a:txBody>
                  <a:tcPr marL="19050" marR="14288" marT="19050" marB="19050" anchor="ctr">
                    <a:solidFill>
                      <a:srgbClr val="EBF2F9"/>
                    </a:solidFill>
                  </a:tcPr>
                </a:tc>
                <a:tc gridSpan="2">
                  <a:txBody>
                    <a:bodyPr wrap="none"/>
                    <a:lstStyle/>
                    <a:p>
                      <a:pPr algn="ctr"/>
                      <a:r>
                        <a:rPr sz="1100" b="1">
                          <a:solidFill>
                            <a:srgbClr val="0E2A5C"/>
                          </a:solidFill>
                          <a:latin typeface="Calibri"/>
                        </a:rPr>
                        <a:t>Pharmaceuticals &amp;</a:t>
                      </a:r>
                      <a:endParaRPr sz="1100"/>
                    </a:p>
                    <a:p>
                      <a:pPr algn="ctr"/>
                      <a:r>
                        <a:rPr sz="1100" b="1">
                          <a:solidFill>
                            <a:srgbClr val="0E2A5C"/>
                          </a:solidFill>
                          <a:latin typeface="Calibri"/>
                        </a:rPr>
                        <a:t>Biomedical |</a:t>
                      </a:r>
                      <a:endParaRPr sz="1100"/>
                    </a:p>
                    <a:p>
                      <a:pPr algn="ctr"/>
                      <a:r>
                        <a:rPr sz="1100" b="1">
                          <a:solidFill>
                            <a:srgbClr val="0E2A5C"/>
                          </a:solidFill>
                          <a:latin typeface="Calibri"/>
                        </a:rPr>
                        <a:t>Tissue Engineering</a:t>
                      </a:r>
                      <a:endParaRPr sz="1100"/>
                    </a:p>
                    <a:p>
                      <a:pPr algn="ctr"/>
                      <a:r>
                        <a:rPr sz="1100" b="1">
                          <a:solidFill>
                            <a:srgbClr val="0E2A5C"/>
                          </a:solidFill>
                          <a:latin typeface="Calibri"/>
                        </a:rPr>
                        <a:t>&amp; Drug Delivery</a:t>
                      </a:r>
                      <a:endParaRPr sz="1100"/>
                    </a:p>
                  </a:txBody>
                  <a:tcPr marL="19050" marR="14288" marT="19050" marB="19050" anchor="ctr">
                    <a:solidFill>
                      <a:srgbClr val="EBF2F9"/>
                    </a:solidFill>
                  </a:tcPr>
                </a:tc>
                <a:tc hMerge="1">
                  <a:txBody>
                    <a:bodyPr wrap="none"/>
                    <a:lstStyle/>
                    <a:p>
                      <a:pPr algn="ctr"/>
                      <a:endParaRPr sz="1100"/>
                    </a:p>
                  </a:txBody>
                  <a:tcPr marL="19050" marR="14288" marT="19050" marB="19050" anchor="ctr">
                    <a:solidFill>
                      <a:srgbClr val="EBF2F9"/>
                    </a:solidFill>
                  </a:tcPr>
                </a:tc>
                <a:tc gridSpan="2">
                  <a:txBody>
                    <a:bodyPr wrap="none"/>
                    <a:lstStyle/>
                    <a:p>
                      <a:pPr algn="ctr"/>
                      <a:r>
                        <a:rPr sz="1100" b="1">
                          <a:solidFill>
                            <a:srgbClr val="0E2A5C"/>
                          </a:solidFill>
                          <a:latin typeface="Calibri"/>
                        </a:rPr>
                        <a:t>Animal Nutrition &amp; Pet</a:t>
                      </a:r>
                      <a:endParaRPr sz="1100"/>
                    </a:p>
                    <a:p>
                      <a:pPr algn="ctr"/>
                      <a:r>
                        <a:rPr sz="1100" b="1">
                          <a:solidFill>
                            <a:srgbClr val="0E2A5C"/>
                          </a:solidFill>
                          <a:latin typeface="Calibri"/>
                        </a:rPr>
                        <a:t>Care | Pet Joint &amp; Skin</a:t>
                      </a:r>
                      <a:endParaRPr sz="1100"/>
                    </a:p>
                    <a:p>
                      <a:pPr algn="ctr"/>
                      <a:r>
                        <a:rPr sz="1100" b="1">
                          <a:solidFill>
                            <a:srgbClr val="0E2A5C"/>
                          </a:solidFill>
                          <a:latin typeface="Calibri"/>
                        </a:rPr>
                        <a:t>Supplements</a:t>
                      </a:r>
                      <a:endParaRPr sz="1100"/>
                    </a:p>
                  </a:txBody>
                  <a:tcPr marL="19050" marR="14288" marT="19050" marB="19050" anchor="ctr">
                    <a:solidFill>
                      <a:srgbClr val="EBF2F9"/>
                    </a:solidFill>
                  </a:tcPr>
                </a:tc>
                <a:tc hMerge="1">
                  <a:txBody>
                    <a:bodyPr wrap="none"/>
                    <a:lstStyle/>
                    <a:p>
                      <a:pPr algn="ctr"/>
                      <a:endParaRPr sz="1100"/>
                    </a:p>
                  </a:txBody>
                  <a:tcPr marL="19050" marR="14288" marT="19050" marB="19050" anchor="ctr">
                    <a:solidFill>
                      <a:srgbClr val="EBF2F9"/>
                    </a:solidFill>
                  </a:tcPr>
                </a:tc>
                <a:tc gridSpan="2">
                  <a:txBody>
                    <a:bodyPr wrap="none"/>
                    <a:lstStyle/>
                    <a:p>
                      <a:pPr algn="ctr"/>
                      <a:r>
                        <a:rPr sz="1100" b="1">
                          <a:solidFill>
                            <a:srgbClr val="0E2A5C"/>
                          </a:solidFill>
                          <a:latin typeface="Calibri"/>
                        </a:rPr>
                        <a:t>Animal</a:t>
                      </a:r>
                      <a:endParaRPr sz="1100"/>
                    </a:p>
                    <a:p>
                      <a:pPr algn="ctr"/>
                      <a:r>
                        <a:rPr sz="1100" b="1">
                          <a:solidFill>
                            <a:srgbClr val="0E2A5C"/>
                          </a:solidFill>
                          <a:latin typeface="Calibri"/>
                        </a:rPr>
                        <a:t>Nutrition &amp;</a:t>
                      </a:r>
                      <a:endParaRPr sz="1100"/>
                    </a:p>
                    <a:p>
                      <a:pPr algn="ctr"/>
                      <a:r>
                        <a:rPr sz="1100" b="1">
                          <a:solidFill>
                            <a:srgbClr val="0E2A5C"/>
                          </a:solidFill>
                          <a:latin typeface="Calibri"/>
                        </a:rPr>
                        <a:t>Pet Care |</a:t>
                      </a:r>
                      <a:endParaRPr sz="1100"/>
                    </a:p>
                    <a:p>
                      <a:pPr algn="ctr"/>
                      <a:r>
                        <a:rPr sz="1100" b="1">
                          <a:solidFill>
                            <a:srgbClr val="0E2A5C"/>
                          </a:solidFill>
                          <a:latin typeface="Calibri"/>
                        </a:rPr>
                        <a:t>Livestock &amp;</a:t>
                      </a:r>
                      <a:endParaRPr sz="1100"/>
                    </a:p>
                    <a:p>
                      <a:pPr algn="ctr"/>
                      <a:r>
                        <a:rPr sz="1100" b="1">
                          <a:solidFill>
                            <a:srgbClr val="0E2A5C"/>
                          </a:solidFill>
                          <a:latin typeface="Calibri"/>
                        </a:rPr>
                        <a:t>Poultry Feed</a:t>
                      </a:r>
                      <a:endParaRPr sz="1100"/>
                    </a:p>
                  </a:txBody>
                  <a:tcPr marL="19050" marR="14288" marT="19050" marB="19050" anchor="ctr">
                    <a:solidFill>
                      <a:srgbClr val="EBF2F9"/>
                    </a:solidFill>
                  </a:tcPr>
                </a:tc>
                <a:tc hMerge="1">
                  <a:txBody>
                    <a:bodyPr wrap="none"/>
                    <a:lstStyle/>
                    <a:p>
                      <a:pPr algn="ctr"/>
                      <a:endParaRPr sz="1100"/>
                    </a:p>
                  </a:txBody>
                  <a:tcPr marL="19050" marR="14288" marT="19050" marB="19050" anchor="ctr">
                    <a:solidFill>
                      <a:srgbClr val="EBF2F9"/>
                    </a:solidFill>
                  </a:tcPr>
                </a:tc>
                <a:tc gridSpan="2">
                  <a:txBody>
                    <a:bodyPr wrap="none"/>
                    <a:lstStyle/>
                    <a:p>
                      <a:pPr algn="ctr"/>
                      <a:r>
                        <a:rPr sz="1100" b="1">
                          <a:solidFill>
                            <a:srgbClr val="0E2A5C"/>
                          </a:solidFill>
                          <a:latin typeface="Calibri"/>
                        </a:rPr>
                        <a:t>Industr</a:t>
                      </a:r>
                      <a:endParaRPr sz="1100"/>
                    </a:p>
                    <a:p>
                      <a:pPr algn="ctr"/>
                      <a:r>
                        <a:rPr sz="1100" b="1">
                          <a:solidFill>
                            <a:srgbClr val="0E2A5C"/>
                          </a:solidFill>
                          <a:latin typeface="Calibri"/>
                        </a:rPr>
                        <a:t>ial &amp;</a:t>
                      </a:r>
                      <a:endParaRPr sz="1100"/>
                    </a:p>
                    <a:p>
                      <a:pPr algn="ctr"/>
                      <a:r>
                        <a:rPr sz="1100" b="1">
                          <a:solidFill>
                            <a:srgbClr val="0E2A5C"/>
                          </a:solidFill>
                          <a:latin typeface="Calibri"/>
                        </a:rPr>
                        <a:t>Biomat</a:t>
                      </a:r>
                      <a:endParaRPr sz="1100"/>
                    </a:p>
                    <a:p>
                      <a:pPr algn="ctr"/>
                      <a:r>
                        <a:rPr sz="1100" b="1">
                          <a:solidFill>
                            <a:srgbClr val="0E2A5C"/>
                          </a:solidFill>
                          <a:latin typeface="Calibri"/>
                        </a:rPr>
                        <a:t>erials</a:t>
                      </a:r>
                      <a:endParaRPr sz="1100"/>
                    </a:p>
                  </a:txBody>
                  <a:tcPr marL="19050" marR="14288" marT="19050" marB="19050" anchor="ctr">
                    <a:solidFill>
                      <a:srgbClr val="EBF2F9"/>
                    </a:solidFill>
                  </a:tcPr>
                </a:tc>
                <a:tc hMerge="1">
                  <a:txBody>
                    <a:bodyPr wrap="none"/>
                    <a:lstStyle/>
                    <a:p>
                      <a:pPr algn="ctr"/>
                      <a:endParaRPr sz="1100"/>
                    </a:p>
                  </a:txBody>
                  <a:tcPr marL="19050" marR="14288" marT="19050" marB="19050" anchor="ctr">
                    <a:solidFill>
                      <a:srgbClr val="EBF2F9"/>
                    </a:solidFill>
                  </a:tcPr>
                </a:tc>
                <a:tc gridSpan="2">
                  <a:txBody>
                    <a:bodyPr wrap="none"/>
                    <a:lstStyle/>
                    <a:p>
                      <a:pPr algn="ctr"/>
                      <a:r>
                        <a:rPr sz="1100" b="1">
                          <a:solidFill>
                            <a:srgbClr val="0E2A5C"/>
                          </a:solidFill>
                          <a:latin typeface="Calibri"/>
                        </a:rPr>
                        <a:t>Total</a:t>
                      </a:r>
                      <a:endParaRPr sz="1100"/>
                    </a:p>
                  </a:txBody>
                  <a:tcPr marL="19050" marR="14288" marT="19050" marB="19050" anchor="ctr">
                    <a:solidFill>
                      <a:srgbClr val="EBF2F9"/>
                    </a:solidFill>
                  </a:tcPr>
                </a:tc>
                <a:tc hMerge="1">
                  <a:txBody>
                    <a:bodyPr wrap="none"/>
                    <a:lstStyle/>
                    <a:p>
                      <a:pPr algn="ctr"/>
                      <a:endParaRPr sz="1100"/>
                    </a:p>
                  </a:txBody>
                  <a:tcPr marL="19050" marR="14288" marT="19050" marB="19050" anchor="ctr">
                    <a:solidFill>
                      <a:srgbClr val="EBF2F9"/>
                    </a:solidFill>
                  </a:tcPr>
                </a:tc>
              </a:tr>
              <a:tr h="1211834">
                <a:tc vMerge="1">
                  <a:txBody>
                    <a:bodyPr wrap="none"/>
                    <a:lstStyle/>
                    <a:p>
                      <a:pPr algn="l"/>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 Joint &amp; Bone Health|2026E</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 Joint &amp; Bone Health|2036F</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 Skin, Hair &amp; Nail Health|2026E</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 Skin, Hair &amp; Nail Health|2036F</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 Others|2026E</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 Others|2036F</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2026E</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2036F</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 Skin Care|2026E</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 Skin Care|2036F</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 Hair Care|2026E</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 Hair Care|2036F</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 Wound Care &amp; Dressings|2026E</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 Wound Care &amp; Dressings|2036F</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 Tissue Engineering &amp; Drug Delivery|2026E</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 Tissue Engineering &amp; Drug Delivery|2036F</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 Pet Joint &amp; Skin Supplements|2026E</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 Pet Joint &amp; Skin Supplements|2036F</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 Livestock &amp; Poultry Feed|2026E</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 Livestock &amp; Poultry Feed|2036F</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2026E</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2036F</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2026E</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2036F</a:t>
                      </a:r>
                      <a:endParaRPr sz="1100"/>
                    </a:p>
                  </a:txBody>
                  <a:tcPr marL="19050" marR="14288" marT="19050" marB="19050" anchor="ctr">
                    <a:solidFill>
                      <a:srgbClr val="EBF2F9"/>
                    </a:solidFill>
                  </a:tcPr>
                </a:tc>
              </a:tr>
              <a:tr h="1597406">
                <a:tc>
                  <a:txBody>
                    <a:bodyPr wrap="none"/>
                    <a:lstStyle/>
                    <a:p>
                      <a:pPr algn="l"/>
                      <a:r>
                        <a:rPr sz="1100" b="1">
                          <a:solidFill>
                            <a:srgbClr val="2E2E2E"/>
                          </a:solidFill>
                          <a:latin typeface="Calibri"/>
                        </a:rPr>
                        <a:t>Speci</a:t>
                      </a:r>
                      <a:endParaRPr sz="1100"/>
                    </a:p>
                    <a:p>
                      <a:pPr algn="l"/>
                      <a:r>
                        <a:rPr sz="1100" b="1">
                          <a:solidFill>
                            <a:srgbClr val="2E2E2E"/>
                          </a:solidFill>
                          <a:latin typeface="Calibri"/>
                        </a:rPr>
                        <a:t>alty</a:t>
                      </a:r>
                      <a:endParaRPr sz="1100"/>
                    </a:p>
                    <a:p>
                      <a:pPr algn="l"/>
                      <a:r>
                        <a:rPr sz="1100" b="1">
                          <a:solidFill>
                            <a:srgbClr val="2E2E2E"/>
                          </a:solidFill>
                          <a:latin typeface="Calibri"/>
                        </a:rPr>
                        <a:t>Extra</a:t>
                      </a:r>
                      <a:endParaRPr sz="1100"/>
                    </a:p>
                    <a:p>
                      <a:pPr algn="l"/>
                      <a:r>
                        <a:rPr sz="1100" b="1">
                          <a:solidFill>
                            <a:srgbClr val="2E2E2E"/>
                          </a:solidFill>
                          <a:latin typeface="Calibri"/>
                        </a:rPr>
                        <a:t>cted</a:t>
                      </a:r>
                      <a:endParaRPr sz="1100"/>
                    </a:p>
                    <a:p>
                      <a:pPr algn="l"/>
                      <a:r>
                        <a:rPr sz="1100" b="1">
                          <a:solidFill>
                            <a:srgbClr val="2E2E2E"/>
                          </a:solidFill>
                          <a:latin typeface="Calibri"/>
                        </a:rPr>
                        <a:t>Prot</a:t>
                      </a:r>
                      <a:endParaRPr sz="1100"/>
                    </a:p>
                    <a:p>
                      <a:pPr algn="l"/>
                      <a:r>
                        <a:rPr sz="1100" b="1">
                          <a:solidFill>
                            <a:srgbClr val="2E2E2E"/>
                          </a:solidFill>
                          <a:latin typeface="Calibri"/>
                        </a:rPr>
                        <a:t>ein</a:t>
                      </a:r>
                      <a:endParaRPr sz="1100"/>
                    </a:p>
                    <a:p>
                      <a:pPr algn="l"/>
                      <a:r>
                        <a:rPr sz="1100" b="1">
                          <a:solidFill>
                            <a:srgbClr val="2E2E2E"/>
                          </a:solidFill>
                          <a:latin typeface="Calibri"/>
                        </a:rPr>
                        <a:t>Fract</a:t>
                      </a:r>
                      <a:endParaRPr sz="1100"/>
                    </a:p>
                    <a:p>
                      <a:pPr algn="l"/>
                      <a:r>
                        <a:rPr sz="1100" b="1">
                          <a:solidFill>
                            <a:srgbClr val="2E2E2E"/>
                          </a:solidFill>
                          <a:latin typeface="Calibri"/>
                        </a:rPr>
                        <a:t>ions</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square"/>
                    <a:lstStyle/>
                    <a:p>
                      <a:pPr algn="ctr"/>
                      <a:r>
                        <a:rPr sz="1100"/>
                        <a:t> </a:t>
                      </a:r>
                      <a:endParaRPr sz="1100"/>
                    </a:p>
                  </a:txBody>
                  <a:tcPr marL="19050" marR="14288" marT="19050" marB="19050" anchor="ctr">
                    <a:solidFill>
                      <a:srgbClr val="FFFFFF"/>
                    </a:solidFill>
                  </a:tcPr>
                </a:tc>
                <a:tc>
                  <a:txBody>
                    <a:bodyPr wrap="squar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square"/>
                    <a:lstStyle/>
                    <a:p>
                      <a:pPr algn="ctr"/>
                      <a:r>
                        <a:rPr sz="1100"/>
                        <a:t> </a:t>
                      </a:r>
                      <a:endParaRPr sz="1100"/>
                    </a:p>
                  </a:txBody>
                  <a:tcPr marL="19050" marR="14288" marT="19050" marB="19050" anchor="ctr">
                    <a:solidFill>
                      <a:srgbClr val="FFFFFF"/>
                    </a:solidFill>
                  </a:tcPr>
                </a:tc>
                <a:tc>
                  <a:txBody>
                    <a:bodyPr wrap="square"/>
                    <a:lstStyle/>
                    <a:p>
                      <a:pPr algn="ctr"/>
                      <a:r>
                        <a:rPr sz="1100"/>
                        <a:t> </a:t>
                      </a:r>
                      <a:endParaRPr sz="1100"/>
                    </a:p>
                  </a:txBody>
                  <a:tcPr marL="19050" marR="14288" marT="19050" marB="19050" anchor="ctr">
                    <a:solidFill>
                      <a:srgbClr val="FFFFFF"/>
                    </a:solidFill>
                  </a:tcPr>
                </a:tc>
                <a:tc>
                  <a:txBody>
                    <a:bodyPr wrap="square"/>
                    <a:lstStyle/>
                    <a:p>
                      <a:pPr algn="ctr"/>
                      <a:r>
                        <a:rPr sz="1100"/>
                        <a:t> </a:t>
                      </a:r>
                      <a:endParaRPr sz="1100"/>
                    </a:p>
                  </a:txBody>
                  <a:tcPr marL="19050" marR="14288" marT="19050" marB="19050" anchor="ctr">
                    <a:solidFill>
                      <a:srgbClr val="FFFFFF"/>
                    </a:solidFill>
                  </a:tcPr>
                </a:tc>
                <a:tc>
                  <a:txBody>
                    <a:bodyPr wrap="square"/>
                    <a:lstStyle/>
                    <a:p>
                      <a:pPr algn="ctr"/>
                      <a:r>
                        <a:rPr sz="1100"/>
                        <a:t> </a:t>
                      </a:r>
                      <a:endParaRPr sz="1100"/>
                    </a:p>
                  </a:txBody>
                  <a:tcPr marL="19050" marR="14288" marT="19050" marB="19050" anchor="ctr">
                    <a:solidFill>
                      <a:srgbClr val="FFFFFF"/>
                    </a:solidFill>
                  </a:tcPr>
                </a:tc>
              </a:tr>
              <a:tr h="440690">
                <a:tc>
                  <a:txBody>
                    <a:bodyPr wrap="none"/>
                    <a:lstStyle/>
                    <a:p>
                      <a:pPr algn="l"/>
                      <a:r>
                        <a:rPr sz="1100" b="1">
                          <a:solidFill>
                            <a:srgbClr val="2E2E2E"/>
                          </a:solidFill>
                          <a:latin typeface="Calibri"/>
                        </a:rPr>
                        <a:t>Total</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square"/>
                    <a:lstStyle/>
                    <a:p>
                      <a:pPr algn="ctr"/>
                      <a:r>
                        <a:rPr sz="1100"/>
                        <a:t> </a:t>
                      </a:r>
                      <a:endParaRPr sz="1100"/>
                    </a:p>
                  </a:txBody>
                  <a:tcPr marL="19050" marR="14288" marT="19050" marB="19050" anchor="ctr">
                    <a:solidFill>
                      <a:srgbClr val="EBF2F9"/>
                    </a:solidFill>
                  </a:tcPr>
                </a:tc>
                <a:tc>
                  <a:txBody>
                    <a:bodyPr wrap="square"/>
                    <a:lstStyle/>
                    <a:p>
                      <a:pPr algn="ctr"/>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square"/>
                    <a:lstStyle/>
                    <a:p>
                      <a:pPr algn="ctr"/>
                      <a:r>
                        <a:rPr sz="1100"/>
                        <a:t> </a:t>
                      </a:r>
                      <a:endParaRPr sz="1100"/>
                    </a:p>
                  </a:txBody>
                  <a:tcPr marL="19050" marR="14288" marT="19050" marB="19050" anchor="ctr">
                    <a:solidFill>
                      <a:srgbClr val="EBF2F9"/>
                    </a:solidFill>
                  </a:tcPr>
                </a:tc>
                <a:tc>
                  <a:txBody>
                    <a:bodyPr wrap="square"/>
                    <a:lstStyle/>
                    <a:p>
                      <a:pPr algn="ctr"/>
                      <a:r>
                        <a:rPr sz="1100"/>
                        <a:t> </a:t>
                      </a:r>
                      <a:endParaRPr sz="1100"/>
                    </a:p>
                  </a:txBody>
                  <a:tcPr marL="19050" marR="14288" marT="19050" marB="19050" anchor="ctr">
                    <a:solidFill>
                      <a:srgbClr val="EBF2F9"/>
                    </a:solidFill>
                  </a:tcPr>
                </a:tc>
                <a:tc>
                  <a:txBody>
                    <a:bodyPr wrap="square"/>
                    <a:lstStyle/>
                    <a:p>
                      <a:pPr algn="ctr"/>
                      <a:r>
                        <a:rPr sz="1100"/>
                        <a:t> </a:t>
                      </a:r>
                      <a:endParaRPr sz="1100"/>
                    </a:p>
                  </a:txBody>
                  <a:tcPr marL="19050" marR="14288" marT="19050" marB="19050" anchor="ctr">
                    <a:solidFill>
                      <a:srgbClr val="EBF2F9"/>
                    </a:solidFill>
                  </a:tcPr>
                </a:tc>
                <a:tc>
                  <a:txBody>
                    <a:bodyPr wrap="square"/>
                    <a:lstStyle/>
                    <a:p>
                      <a:pPr algn="ctr"/>
                      <a:r>
                        <a:rPr sz="1100"/>
                        <a:t> </a:t>
                      </a:r>
                      <a:endParaRPr sz="1100"/>
                    </a:p>
                  </a:txBody>
                  <a:tcPr marL="19050" marR="14288" marT="19050" marB="19050" anchor="ctr">
                    <a:solidFill>
                      <a:srgbClr val="EBF2F9"/>
                    </a:solidFill>
                  </a:tcPr>
                </a:tc>
              </a:tr>
            </a:tbl>
          </a:graphicData>
        </a:graphic>
      </p:graphicFrame>
      <p:sp>
        <p:nvSpPr>
          <p:cNvPr id="10" name="TextBox 9"/>
          <p:cNvSpPr txBox="1"/>
          <p:nvPr/>
        </p:nvSpPr>
        <p:spPr>
          <a:xfrm>
            <a:off x="219075" y="551497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11" name="Rectangle 10"/>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3" name="Picture 12" descr="lock.png"/>
          <p:cNvPicPr>
            <a:picLocks noChangeAspect="1"/>
          </p:cNvPicPr>
          <p:nvPr/>
        </p:nvPicPr>
        <p:blipFill>
          <a:blip r:embed="rId4"/>
          <a:stretch>
            <a:fillRect/>
          </a:stretch>
        </p:blipFill>
        <p:spPr>
          <a:xfrm>
            <a:off x="6098215" y="4219702"/>
            <a:ext cx="366712" cy="533400"/>
          </a:xfrm>
          <a:prstGeom prst="rect">
            <a:avLst/>
          </a:prstGeom>
        </p:spPr>
      </p:pic>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Snapshot: Product Type × Application, 2026E vs 2036F (3/3)</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North America market value (US$ Mn) for each product type sub-segment across application sub-segments</a:t>
            </a:r>
          </a:p>
        </p:txBody>
      </p:sp>
      <p:sp>
        <p:nvSpPr>
          <p:cNvPr id="7" name="Rounded Rectangle 6"/>
          <p:cNvSpPr/>
          <p:nvPr/>
        </p:nvSpPr>
        <p:spPr>
          <a:xfrm>
            <a:off x="142875" y="981075"/>
            <a:ext cx="7286625" cy="5648325"/>
          </a:xfrm>
          <a:prstGeom prst="roundRect">
            <a:avLst>
              <a:gd name="adj" fmla="val 134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70961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Flow, Product Type → Application, 2036F (US$ Mn)</a:t>
            </a:r>
          </a:p>
        </p:txBody>
      </p:sp>
      <p:sp>
        <p:nvSpPr>
          <p:cNvPr id="9" name="Freeform 8"/>
          <p:cNvSpPr/>
          <p:nvPr/>
        </p:nvSpPr>
        <p:spPr>
          <a:xfrm>
            <a:off x="2057400" y="1304925"/>
            <a:ext cx="3743325" cy="523875"/>
          </a:xfrm>
          <a:custGeom>
            <a:avLst/>
            <a:gdLst/>
            <a:ahLst/>
            <a:cxnLst/>
            <a:rect l="l" t="t" r="r" b="b"/>
            <a:pathLst>
              <a:path w="393" h="55">
                <a:moveTo>
                  <a:pt x="0" y="24"/>
                </a:moveTo>
                <a:lnTo>
                  <a:pt x="16" y="24"/>
                </a:lnTo>
                <a:lnTo>
                  <a:pt x="33" y="24"/>
                </a:lnTo>
                <a:lnTo>
                  <a:pt x="49" y="23"/>
                </a:lnTo>
                <a:lnTo>
                  <a:pt x="65" y="22"/>
                </a:lnTo>
                <a:lnTo>
                  <a:pt x="82" y="21"/>
                </a:lnTo>
                <a:lnTo>
                  <a:pt x="98" y="20"/>
                </a:lnTo>
                <a:lnTo>
                  <a:pt x="114" y="19"/>
                </a:lnTo>
                <a:lnTo>
                  <a:pt x="131" y="18"/>
                </a:lnTo>
                <a:lnTo>
                  <a:pt x="147" y="16"/>
                </a:lnTo>
                <a:lnTo>
                  <a:pt x="164" y="15"/>
                </a:lnTo>
                <a:lnTo>
                  <a:pt x="180" y="13"/>
                </a:lnTo>
                <a:lnTo>
                  <a:pt x="196" y="12"/>
                </a:lnTo>
                <a:lnTo>
                  <a:pt x="213" y="11"/>
                </a:lnTo>
                <a:lnTo>
                  <a:pt x="229" y="9"/>
                </a:lnTo>
                <a:lnTo>
                  <a:pt x="246" y="8"/>
                </a:lnTo>
                <a:lnTo>
                  <a:pt x="262" y="6"/>
                </a:lnTo>
                <a:lnTo>
                  <a:pt x="278" y="5"/>
                </a:lnTo>
                <a:lnTo>
                  <a:pt x="295" y="4"/>
                </a:lnTo>
                <a:lnTo>
                  <a:pt x="311" y="3"/>
                </a:lnTo>
                <a:lnTo>
                  <a:pt x="327" y="2"/>
                </a:lnTo>
                <a:lnTo>
                  <a:pt x="344" y="1"/>
                </a:lnTo>
                <a:lnTo>
                  <a:pt x="360" y="0"/>
                </a:lnTo>
                <a:lnTo>
                  <a:pt x="377" y="0"/>
                </a:lnTo>
                <a:lnTo>
                  <a:pt x="393" y="0"/>
                </a:lnTo>
                <a:lnTo>
                  <a:pt x="393" y="31"/>
                </a:lnTo>
                <a:lnTo>
                  <a:pt x="377" y="31"/>
                </a:lnTo>
                <a:lnTo>
                  <a:pt x="360" y="31"/>
                </a:lnTo>
                <a:lnTo>
                  <a:pt x="344" y="32"/>
                </a:lnTo>
                <a:lnTo>
                  <a:pt x="327" y="33"/>
                </a:lnTo>
                <a:lnTo>
                  <a:pt x="311" y="34"/>
                </a:lnTo>
                <a:lnTo>
                  <a:pt x="295" y="35"/>
                </a:lnTo>
                <a:lnTo>
                  <a:pt x="278" y="36"/>
                </a:lnTo>
                <a:lnTo>
                  <a:pt x="262" y="37"/>
                </a:lnTo>
                <a:lnTo>
                  <a:pt x="246" y="39"/>
                </a:lnTo>
                <a:lnTo>
                  <a:pt x="229" y="40"/>
                </a:lnTo>
                <a:lnTo>
                  <a:pt x="213" y="41"/>
                </a:lnTo>
                <a:lnTo>
                  <a:pt x="196" y="43"/>
                </a:lnTo>
                <a:lnTo>
                  <a:pt x="180" y="44"/>
                </a:lnTo>
                <a:lnTo>
                  <a:pt x="164" y="46"/>
                </a:lnTo>
                <a:lnTo>
                  <a:pt x="147" y="47"/>
                </a:lnTo>
                <a:lnTo>
                  <a:pt x="131" y="49"/>
                </a:lnTo>
                <a:lnTo>
                  <a:pt x="114" y="50"/>
                </a:lnTo>
                <a:lnTo>
                  <a:pt x="98" y="51"/>
                </a:lnTo>
                <a:lnTo>
                  <a:pt x="82" y="52"/>
                </a:lnTo>
                <a:lnTo>
                  <a:pt x="65" y="53"/>
                </a:lnTo>
                <a:lnTo>
                  <a:pt x="49" y="54"/>
                </a:lnTo>
                <a:lnTo>
                  <a:pt x="33" y="54"/>
                </a:lnTo>
                <a:lnTo>
                  <a:pt x="16" y="55"/>
                </a:lnTo>
                <a:lnTo>
                  <a:pt x="0" y="55"/>
                </a:lnTo>
                <a:close/>
              </a:path>
            </a:pathLst>
          </a:custGeom>
          <a:solidFill>
            <a:srgbClr val="2A5F8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Freeform 9"/>
          <p:cNvSpPr/>
          <p:nvPr/>
        </p:nvSpPr>
        <p:spPr>
          <a:xfrm>
            <a:off x="2057400" y="1828800"/>
            <a:ext cx="3743325" cy="571500"/>
          </a:xfrm>
          <a:custGeom>
            <a:avLst/>
            <a:gdLst/>
            <a:ahLst/>
            <a:cxnLst/>
            <a:rect l="l" t="t" r="r" b="b"/>
            <a:pathLst>
              <a:path w="393" h="60">
                <a:moveTo>
                  <a:pt x="0" y="0"/>
                </a:moveTo>
                <a:lnTo>
                  <a:pt x="16" y="0"/>
                </a:lnTo>
                <a:lnTo>
                  <a:pt x="33" y="1"/>
                </a:lnTo>
                <a:lnTo>
                  <a:pt x="49" y="2"/>
                </a:lnTo>
                <a:lnTo>
                  <a:pt x="65" y="3"/>
                </a:lnTo>
                <a:lnTo>
                  <a:pt x="82" y="5"/>
                </a:lnTo>
                <a:lnTo>
                  <a:pt x="98" y="7"/>
                </a:lnTo>
                <a:lnTo>
                  <a:pt x="114" y="9"/>
                </a:lnTo>
                <a:lnTo>
                  <a:pt x="131" y="11"/>
                </a:lnTo>
                <a:lnTo>
                  <a:pt x="147" y="14"/>
                </a:lnTo>
                <a:lnTo>
                  <a:pt x="164" y="16"/>
                </a:lnTo>
                <a:lnTo>
                  <a:pt x="180" y="19"/>
                </a:lnTo>
                <a:lnTo>
                  <a:pt x="196" y="22"/>
                </a:lnTo>
                <a:lnTo>
                  <a:pt x="213" y="25"/>
                </a:lnTo>
                <a:lnTo>
                  <a:pt x="229" y="27"/>
                </a:lnTo>
                <a:lnTo>
                  <a:pt x="246" y="30"/>
                </a:lnTo>
                <a:lnTo>
                  <a:pt x="262" y="32"/>
                </a:lnTo>
                <a:lnTo>
                  <a:pt x="278" y="35"/>
                </a:lnTo>
                <a:lnTo>
                  <a:pt x="295" y="37"/>
                </a:lnTo>
                <a:lnTo>
                  <a:pt x="311" y="39"/>
                </a:lnTo>
                <a:lnTo>
                  <a:pt x="327" y="41"/>
                </a:lnTo>
                <a:lnTo>
                  <a:pt x="344" y="42"/>
                </a:lnTo>
                <a:lnTo>
                  <a:pt x="360" y="43"/>
                </a:lnTo>
                <a:lnTo>
                  <a:pt x="377" y="44"/>
                </a:lnTo>
                <a:lnTo>
                  <a:pt x="393" y="44"/>
                </a:lnTo>
                <a:lnTo>
                  <a:pt x="393" y="60"/>
                </a:lnTo>
                <a:lnTo>
                  <a:pt x="377" y="60"/>
                </a:lnTo>
                <a:lnTo>
                  <a:pt x="360" y="59"/>
                </a:lnTo>
                <a:lnTo>
                  <a:pt x="344" y="58"/>
                </a:lnTo>
                <a:lnTo>
                  <a:pt x="327" y="57"/>
                </a:lnTo>
                <a:lnTo>
                  <a:pt x="311" y="55"/>
                </a:lnTo>
                <a:lnTo>
                  <a:pt x="295" y="53"/>
                </a:lnTo>
                <a:lnTo>
                  <a:pt x="278" y="51"/>
                </a:lnTo>
                <a:lnTo>
                  <a:pt x="262" y="49"/>
                </a:lnTo>
                <a:lnTo>
                  <a:pt x="246" y="46"/>
                </a:lnTo>
                <a:lnTo>
                  <a:pt x="229" y="44"/>
                </a:lnTo>
                <a:lnTo>
                  <a:pt x="213" y="41"/>
                </a:lnTo>
                <a:lnTo>
                  <a:pt x="196" y="38"/>
                </a:lnTo>
                <a:lnTo>
                  <a:pt x="180" y="36"/>
                </a:lnTo>
                <a:lnTo>
                  <a:pt x="164" y="33"/>
                </a:lnTo>
                <a:lnTo>
                  <a:pt x="147" y="30"/>
                </a:lnTo>
                <a:lnTo>
                  <a:pt x="131" y="28"/>
                </a:lnTo>
                <a:lnTo>
                  <a:pt x="114" y="25"/>
                </a:lnTo>
                <a:lnTo>
                  <a:pt x="98" y="23"/>
                </a:lnTo>
                <a:lnTo>
                  <a:pt x="82" y="21"/>
                </a:lnTo>
                <a:lnTo>
                  <a:pt x="65" y="20"/>
                </a:lnTo>
                <a:lnTo>
                  <a:pt x="49" y="18"/>
                </a:lnTo>
                <a:lnTo>
                  <a:pt x="33" y="17"/>
                </a:lnTo>
                <a:lnTo>
                  <a:pt x="16" y="17"/>
                </a:lnTo>
                <a:lnTo>
                  <a:pt x="0" y="16"/>
                </a:lnTo>
                <a:close/>
              </a:path>
            </a:pathLst>
          </a:custGeom>
          <a:solidFill>
            <a:srgbClr val="2A5F8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Freeform 10"/>
          <p:cNvSpPr/>
          <p:nvPr/>
        </p:nvSpPr>
        <p:spPr>
          <a:xfrm>
            <a:off x="2057400" y="1981200"/>
            <a:ext cx="3743325" cy="914400"/>
          </a:xfrm>
          <a:custGeom>
            <a:avLst/>
            <a:gdLst/>
            <a:ahLst/>
            <a:cxnLst/>
            <a:rect l="l" t="t" r="r" b="b"/>
            <a:pathLst>
              <a:path w="393" h="96">
                <a:moveTo>
                  <a:pt x="0" y="0"/>
                </a:moveTo>
                <a:lnTo>
                  <a:pt x="16" y="1"/>
                </a:lnTo>
                <a:lnTo>
                  <a:pt x="33" y="2"/>
                </a:lnTo>
                <a:lnTo>
                  <a:pt x="49" y="4"/>
                </a:lnTo>
                <a:lnTo>
                  <a:pt x="65" y="7"/>
                </a:lnTo>
                <a:lnTo>
                  <a:pt x="82" y="10"/>
                </a:lnTo>
                <a:lnTo>
                  <a:pt x="98" y="13"/>
                </a:lnTo>
                <a:lnTo>
                  <a:pt x="114" y="17"/>
                </a:lnTo>
                <a:lnTo>
                  <a:pt x="131" y="22"/>
                </a:lnTo>
                <a:lnTo>
                  <a:pt x="147" y="27"/>
                </a:lnTo>
                <a:lnTo>
                  <a:pt x="164" y="32"/>
                </a:lnTo>
                <a:lnTo>
                  <a:pt x="180" y="37"/>
                </a:lnTo>
                <a:lnTo>
                  <a:pt x="196" y="42"/>
                </a:lnTo>
                <a:lnTo>
                  <a:pt x="213" y="47"/>
                </a:lnTo>
                <a:lnTo>
                  <a:pt x="229" y="52"/>
                </a:lnTo>
                <a:lnTo>
                  <a:pt x="246" y="57"/>
                </a:lnTo>
                <a:lnTo>
                  <a:pt x="262" y="62"/>
                </a:lnTo>
                <a:lnTo>
                  <a:pt x="278" y="66"/>
                </a:lnTo>
                <a:lnTo>
                  <a:pt x="295" y="70"/>
                </a:lnTo>
                <a:lnTo>
                  <a:pt x="311" y="74"/>
                </a:lnTo>
                <a:lnTo>
                  <a:pt x="327" y="77"/>
                </a:lnTo>
                <a:lnTo>
                  <a:pt x="344" y="80"/>
                </a:lnTo>
                <a:lnTo>
                  <a:pt x="360" y="82"/>
                </a:lnTo>
                <a:lnTo>
                  <a:pt x="377" y="83"/>
                </a:lnTo>
                <a:lnTo>
                  <a:pt x="393" y="83"/>
                </a:lnTo>
                <a:lnTo>
                  <a:pt x="393" y="96"/>
                </a:lnTo>
                <a:lnTo>
                  <a:pt x="377" y="96"/>
                </a:lnTo>
                <a:lnTo>
                  <a:pt x="360" y="95"/>
                </a:lnTo>
                <a:lnTo>
                  <a:pt x="344" y="93"/>
                </a:lnTo>
                <a:lnTo>
                  <a:pt x="327" y="90"/>
                </a:lnTo>
                <a:lnTo>
                  <a:pt x="311" y="87"/>
                </a:lnTo>
                <a:lnTo>
                  <a:pt x="295" y="83"/>
                </a:lnTo>
                <a:lnTo>
                  <a:pt x="278" y="79"/>
                </a:lnTo>
                <a:lnTo>
                  <a:pt x="262" y="75"/>
                </a:lnTo>
                <a:lnTo>
                  <a:pt x="246" y="70"/>
                </a:lnTo>
                <a:lnTo>
                  <a:pt x="229" y="65"/>
                </a:lnTo>
                <a:lnTo>
                  <a:pt x="213" y="60"/>
                </a:lnTo>
                <a:lnTo>
                  <a:pt x="196" y="55"/>
                </a:lnTo>
                <a:lnTo>
                  <a:pt x="180" y="50"/>
                </a:lnTo>
                <a:lnTo>
                  <a:pt x="164" y="44"/>
                </a:lnTo>
                <a:lnTo>
                  <a:pt x="147" y="40"/>
                </a:lnTo>
                <a:lnTo>
                  <a:pt x="131" y="35"/>
                </a:lnTo>
                <a:lnTo>
                  <a:pt x="114" y="30"/>
                </a:lnTo>
                <a:lnTo>
                  <a:pt x="98" y="26"/>
                </a:lnTo>
                <a:lnTo>
                  <a:pt x="82" y="23"/>
                </a:lnTo>
                <a:lnTo>
                  <a:pt x="65" y="19"/>
                </a:lnTo>
                <a:lnTo>
                  <a:pt x="49" y="17"/>
                </a:lnTo>
                <a:lnTo>
                  <a:pt x="33" y="15"/>
                </a:lnTo>
                <a:lnTo>
                  <a:pt x="16" y="14"/>
                </a:lnTo>
                <a:lnTo>
                  <a:pt x="0" y="13"/>
                </a:lnTo>
                <a:close/>
              </a:path>
            </a:pathLst>
          </a:custGeom>
          <a:solidFill>
            <a:srgbClr val="2A5F8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Freeform 11"/>
          <p:cNvSpPr/>
          <p:nvPr/>
        </p:nvSpPr>
        <p:spPr>
          <a:xfrm>
            <a:off x="2057400" y="2105025"/>
            <a:ext cx="3743325" cy="1219200"/>
          </a:xfrm>
          <a:custGeom>
            <a:avLst/>
            <a:gdLst/>
            <a:ahLst/>
            <a:cxnLst/>
            <a:rect l="l" t="t" r="r" b="b"/>
            <a:pathLst>
              <a:path w="393" h="128">
                <a:moveTo>
                  <a:pt x="0" y="0"/>
                </a:moveTo>
                <a:lnTo>
                  <a:pt x="16" y="1"/>
                </a:lnTo>
                <a:lnTo>
                  <a:pt x="33" y="3"/>
                </a:lnTo>
                <a:lnTo>
                  <a:pt x="49" y="5"/>
                </a:lnTo>
                <a:lnTo>
                  <a:pt x="65" y="9"/>
                </a:lnTo>
                <a:lnTo>
                  <a:pt x="82" y="13"/>
                </a:lnTo>
                <a:lnTo>
                  <a:pt x="98" y="18"/>
                </a:lnTo>
                <a:lnTo>
                  <a:pt x="114" y="24"/>
                </a:lnTo>
                <a:lnTo>
                  <a:pt x="131" y="30"/>
                </a:lnTo>
                <a:lnTo>
                  <a:pt x="147" y="37"/>
                </a:lnTo>
                <a:lnTo>
                  <a:pt x="164" y="43"/>
                </a:lnTo>
                <a:lnTo>
                  <a:pt x="180" y="50"/>
                </a:lnTo>
                <a:lnTo>
                  <a:pt x="196" y="58"/>
                </a:lnTo>
                <a:lnTo>
                  <a:pt x="213" y="65"/>
                </a:lnTo>
                <a:lnTo>
                  <a:pt x="229" y="72"/>
                </a:lnTo>
                <a:lnTo>
                  <a:pt x="246" y="79"/>
                </a:lnTo>
                <a:lnTo>
                  <a:pt x="262" y="85"/>
                </a:lnTo>
                <a:lnTo>
                  <a:pt x="278" y="91"/>
                </a:lnTo>
                <a:lnTo>
                  <a:pt x="295" y="97"/>
                </a:lnTo>
                <a:lnTo>
                  <a:pt x="311" y="102"/>
                </a:lnTo>
                <a:lnTo>
                  <a:pt x="327" y="106"/>
                </a:lnTo>
                <a:lnTo>
                  <a:pt x="344" y="110"/>
                </a:lnTo>
                <a:lnTo>
                  <a:pt x="360" y="113"/>
                </a:lnTo>
                <a:lnTo>
                  <a:pt x="377" y="114"/>
                </a:lnTo>
                <a:lnTo>
                  <a:pt x="393" y="115"/>
                </a:lnTo>
                <a:lnTo>
                  <a:pt x="393" y="128"/>
                </a:lnTo>
                <a:lnTo>
                  <a:pt x="377" y="127"/>
                </a:lnTo>
                <a:lnTo>
                  <a:pt x="360" y="125"/>
                </a:lnTo>
                <a:lnTo>
                  <a:pt x="344" y="123"/>
                </a:lnTo>
                <a:lnTo>
                  <a:pt x="327" y="119"/>
                </a:lnTo>
                <a:lnTo>
                  <a:pt x="311" y="115"/>
                </a:lnTo>
                <a:lnTo>
                  <a:pt x="295" y="110"/>
                </a:lnTo>
                <a:lnTo>
                  <a:pt x="278" y="104"/>
                </a:lnTo>
                <a:lnTo>
                  <a:pt x="262" y="98"/>
                </a:lnTo>
                <a:lnTo>
                  <a:pt x="246" y="91"/>
                </a:lnTo>
                <a:lnTo>
                  <a:pt x="229" y="85"/>
                </a:lnTo>
                <a:lnTo>
                  <a:pt x="213" y="78"/>
                </a:lnTo>
                <a:lnTo>
                  <a:pt x="196" y="70"/>
                </a:lnTo>
                <a:lnTo>
                  <a:pt x="180" y="63"/>
                </a:lnTo>
                <a:lnTo>
                  <a:pt x="164" y="56"/>
                </a:lnTo>
                <a:lnTo>
                  <a:pt x="147" y="49"/>
                </a:lnTo>
                <a:lnTo>
                  <a:pt x="131" y="43"/>
                </a:lnTo>
                <a:lnTo>
                  <a:pt x="114" y="37"/>
                </a:lnTo>
                <a:lnTo>
                  <a:pt x="98" y="31"/>
                </a:lnTo>
                <a:lnTo>
                  <a:pt x="82" y="26"/>
                </a:lnTo>
                <a:lnTo>
                  <a:pt x="65" y="22"/>
                </a:lnTo>
                <a:lnTo>
                  <a:pt x="49" y="18"/>
                </a:lnTo>
                <a:lnTo>
                  <a:pt x="33" y="15"/>
                </a:lnTo>
                <a:lnTo>
                  <a:pt x="16" y="14"/>
                </a:lnTo>
                <a:lnTo>
                  <a:pt x="0" y="13"/>
                </a:lnTo>
                <a:close/>
              </a:path>
            </a:pathLst>
          </a:custGeom>
          <a:solidFill>
            <a:srgbClr val="2A5F8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Freeform 12"/>
          <p:cNvSpPr/>
          <p:nvPr/>
        </p:nvSpPr>
        <p:spPr>
          <a:xfrm>
            <a:off x="2057400" y="2228850"/>
            <a:ext cx="3743325" cy="1514475"/>
          </a:xfrm>
          <a:custGeom>
            <a:avLst/>
            <a:gdLst/>
            <a:ahLst/>
            <a:cxnLst/>
            <a:rect l="l" t="t" r="r" b="b"/>
            <a:pathLst>
              <a:path w="393" h="159">
                <a:moveTo>
                  <a:pt x="0" y="0"/>
                </a:moveTo>
                <a:lnTo>
                  <a:pt x="16" y="1"/>
                </a:lnTo>
                <a:lnTo>
                  <a:pt x="33" y="3"/>
                </a:lnTo>
                <a:lnTo>
                  <a:pt x="49" y="6"/>
                </a:lnTo>
                <a:lnTo>
                  <a:pt x="65" y="11"/>
                </a:lnTo>
                <a:lnTo>
                  <a:pt x="82" y="17"/>
                </a:lnTo>
                <a:lnTo>
                  <a:pt x="98" y="23"/>
                </a:lnTo>
                <a:lnTo>
                  <a:pt x="114" y="30"/>
                </a:lnTo>
                <a:lnTo>
                  <a:pt x="131" y="38"/>
                </a:lnTo>
                <a:lnTo>
                  <a:pt x="147" y="46"/>
                </a:lnTo>
                <a:lnTo>
                  <a:pt x="164" y="55"/>
                </a:lnTo>
                <a:lnTo>
                  <a:pt x="180" y="64"/>
                </a:lnTo>
                <a:lnTo>
                  <a:pt x="196" y="73"/>
                </a:lnTo>
                <a:lnTo>
                  <a:pt x="213" y="82"/>
                </a:lnTo>
                <a:lnTo>
                  <a:pt x="229" y="91"/>
                </a:lnTo>
                <a:lnTo>
                  <a:pt x="246" y="100"/>
                </a:lnTo>
                <a:lnTo>
                  <a:pt x="262" y="108"/>
                </a:lnTo>
                <a:lnTo>
                  <a:pt x="278" y="116"/>
                </a:lnTo>
                <a:lnTo>
                  <a:pt x="295" y="124"/>
                </a:lnTo>
                <a:lnTo>
                  <a:pt x="311" y="130"/>
                </a:lnTo>
                <a:lnTo>
                  <a:pt x="327" y="136"/>
                </a:lnTo>
                <a:lnTo>
                  <a:pt x="344" y="140"/>
                </a:lnTo>
                <a:lnTo>
                  <a:pt x="360" y="144"/>
                </a:lnTo>
                <a:lnTo>
                  <a:pt x="377" y="146"/>
                </a:lnTo>
                <a:lnTo>
                  <a:pt x="393" y="146"/>
                </a:lnTo>
                <a:lnTo>
                  <a:pt x="393" y="159"/>
                </a:lnTo>
                <a:lnTo>
                  <a:pt x="377" y="158"/>
                </a:lnTo>
                <a:lnTo>
                  <a:pt x="360" y="156"/>
                </a:lnTo>
                <a:lnTo>
                  <a:pt x="344" y="153"/>
                </a:lnTo>
                <a:lnTo>
                  <a:pt x="327" y="148"/>
                </a:lnTo>
                <a:lnTo>
                  <a:pt x="311" y="143"/>
                </a:lnTo>
                <a:lnTo>
                  <a:pt x="295" y="136"/>
                </a:lnTo>
                <a:lnTo>
                  <a:pt x="278" y="129"/>
                </a:lnTo>
                <a:lnTo>
                  <a:pt x="262" y="121"/>
                </a:lnTo>
                <a:lnTo>
                  <a:pt x="246" y="113"/>
                </a:lnTo>
                <a:lnTo>
                  <a:pt x="229" y="104"/>
                </a:lnTo>
                <a:lnTo>
                  <a:pt x="213" y="95"/>
                </a:lnTo>
                <a:lnTo>
                  <a:pt x="196" y="86"/>
                </a:lnTo>
                <a:lnTo>
                  <a:pt x="180" y="77"/>
                </a:lnTo>
                <a:lnTo>
                  <a:pt x="164" y="68"/>
                </a:lnTo>
                <a:lnTo>
                  <a:pt x="147" y="59"/>
                </a:lnTo>
                <a:lnTo>
                  <a:pt x="131" y="51"/>
                </a:lnTo>
                <a:lnTo>
                  <a:pt x="114" y="43"/>
                </a:lnTo>
                <a:lnTo>
                  <a:pt x="98" y="36"/>
                </a:lnTo>
                <a:lnTo>
                  <a:pt x="82" y="29"/>
                </a:lnTo>
                <a:lnTo>
                  <a:pt x="65" y="24"/>
                </a:lnTo>
                <a:lnTo>
                  <a:pt x="49" y="19"/>
                </a:lnTo>
                <a:lnTo>
                  <a:pt x="33" y="16"/>
                </a:lnTo>
                <a:lnTo>
                  <a:pt x="16" y="14"/>
                </a:lnTo>
                <a:lnTo>
                  <a:pt x="0" y="13"/>
                </a:lnTo>
                <a:close/>
              </a:path>
            </a:pathLst>
          </a:custGeom>
          <a:solidFill>
            <a:srgbClr val="2A5F8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Freeform 13"/>
          <p:cNvSpPr/>
          <p:nvPr/>
        </p:nvSpPr>
        <p:spPr>
          <a:xfrm>
            <a:off x="2057400" y="2352675"/>
            <a:ext cx="3743325" cy="1819275"/>
          </a:xfrm>
          <a:custGeom>
            <a:avLst/>
            <a:gdLst/>
            <a:ahLst/>
            <a:cxnLst/>
            <a:rect l="l" t="t" r="r" b="b"/>
            <a:pathLst>
              <a:path w="393" h="191">
                <a:moveTo>
                  <a:pt x="0" y="0"/>
                </a:moveTo>
                <a:lnTo>
                  <a:pt x="16" y="1"/>
                </a:lnTo>
                <a:lnTo>
                  <a:pt x="33" y="3"/>
                </a:lnTo>
                <a:lnTo>
                  <a:pt x="49" y="8"/>
                </a:lnTo>
                <a:lnTo>
                  <a:pt x="65" y="13"/>
                </a:lnTo>
                <a:lnTo>
                  <a:pt x="82" y="20"/>
                </a:lnTo>
                <a:lnTo>
                  <a:pt x="98" y="28"/>
                </a:lnTo>
                <a:lnTo>
                  <a:pt x="114" y="37"/>
                </a:lnTo>
                <a:lnTo>
                  <a:pt x="131" y="46"/>
                </a:lnTo>
                <a:lnTo>
                  <a:pt x="147" y="56"/>
                </a:lnTo>
                <a:lnTo>
                  <a:pt x="164" y="67"/>
                </a:lnTo>
                <a:lnTo>
                  <a:pt x="180" y="78"/>
                </a:lnTo>
                <a:lnTo>
                  <a:pt x="196" y="89"/>
                </a:lnTo>
                <a:lnTo>
                  <a:pt x="213" y="100"/>
                </a:lnTo>
                <a:lnTo>
                  <a:pt x="229" y="111"/>
                </a:lnTo>
                <a:lnTo>
                  <a:pt x="246" y="122"/>
                </a:lnTo>
                <a:lnTo>
                  <a:pt x="262" y="132"/>
                </a:lnTo>
                <a:lnTo>
                  <a:pt x="278" y="141"/>
                </a:lnTo>
                <a:lnTo>
                  <a:pt x="295" y="150"/>
                </a:lnTo>
                <a:lnTo>
                  <a:pt x="311" y="158"/>
                </a:lnTo>
                <a:lnTo>
                  <a:pt x="327" y="165"/>
                </a:lnTo>
                <a:lnTo>
                  <a:pt x="344" y="170"/>
                </a:lnTo>
                <a:lnTo>
                  <a:pt x="360" y="174"/>
                </a:lnTo>
                <a:lnTo>
                  <a:pt x="377" y="177"/>
                </a:lnTo>
                <a:lnTo>
                  <a:pt x="393" y="178"/>
                </a:lnTo>
                <a:lnTo>
                  <a:pt x="393" y="191"/>
                </a:lnTo>
                <a:lnTo>
                  <a:pt x="377" y="190"/>
                </a:lnTo>
                <a:lnTo>
                  <a:pt x="360" y="187"/>
                </a:lnTo>
                <a:lnTo>
                  <a:pt x="344" y="183"/>
                </a:lnTo>
                <a:lnTo>
                  <a:pt x="327" y="178"/>
                </a:lnTo>
                <a:lnTo>
                  <a:pt x="311" y="171"/>
                </a:lnTo>
                <a:lnTo>
                  <a:pt x="295" y="163"/>
                </a:lnTo>
                <a:lnTo>
                  <a:pt x="278" y="154"/>
                </a:lnTo>
                <a:lnTo>
                  <a:pt x="262" y="145"/>
                </a:lnTo>
                <a:lnTo>
                  <a:pt x="246" y="134"/>
                </a:lnTo>
                <a:lnTo>
                  <a:pt x="229" y="124"/>
                </a:lnTo>
                <a:lnTo>
                  <a:pt x="213" y="113"/>
                </a:lnTo>
                <a:lnTo>
                  <a:pt x="196" y="102"/>
                </a:lnTo>
                <a:lnTo>
                  <a:pt x="180" y="91"/>
                </a:lnTo>
                <a:lnTo>
                  <a:pt x="164" y="80"/>
                </a:lnTo>
                <a:lnTo>
                  <a:pt x="147" y="69"/>
                </a:lnTo>
                <a:lnTo>
                  <a:pt x="131" y="59"/>
                </a:lnTo>
                <a:lnTo>
                  <a:pt x="114" y="49"/>
                </a:lnTo>
                <a:lnTo>
                  <a:pt x="98" y="41"/>
                </a:lnTo>
                <a:lnTo>
                  <a:pt x="82" y="33"/>
                </a:lnTo>
                <a:lnTo>
                  <a:pt x="65" y="26"/>
                </a:lnTo>
                <a:lnTo>
                  <a:pt x="49" y="20"/>
                </a:lnTo>
                <a:lnTo>
                  <a:pt x="33" y="16"/>
                </a:lnTo>
                <a:lnTo>
                  <a:pt x="16" y="14"/>
                </a:lnTo>
                <a:lnTo>
                  <a:pt x="0" y="13"/>
                </a:lnTo>
                <a:close/>
              </a:path>
            </a:pathLst>
          </a:custGeom>
          <a:solidFill>
            <a:srgbClr val="2A5F8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Freeform 14"/>
          <p:cNvSpPr/>
          <p:nvPr/>
        </p:nvSpPr>
        <p:spPr>
          <a:xfrm>
            <a:off x="2057400" y="2476500"/>
            <a:ext cx="3743325" cy="2114550"/>
          </a:xfrm>
          <a:custGeom>
            <a:avLst/>
            <a:gdLst/>
            <a:ahLst/>
            <a:cxnLst/>
            <a:rect l="l" t="t" r="r" b="b"/>
            <a:pathLst>
              <a:path w="393" h="222">
                <a:moveTo>
                  <a:pt x="0" y="0"/>
                </a:moveTo>
                <a:lnTo>
                  <a:pt x="16" y="1"/>
                </a:lnTo>
                <a:lnTo>
                  <a:pt x="33" y="4"/>
                </a:lnTo>
                <a:lnTo>
                  <a:pt x="49" y="9"/>
                </a:lnTo>
                <a:lnTo>
                  <a:pt x="65" y="15"/>
                </a:lnTo>
                <a:lnTo>
                  <a:pt x="82" y="23"/>
                </a:lnTo>
                <a:lnTo>
                  <a:pt x="98" y="33"/>
                </a:lnTo>
                <a:lnTo>
                  <a:pt x="114" y="43"/>
                </a:lnTo>
                <a:lnTo>
                  <a:pt x="131" y="54"/>
                </a:lnTo>
                <a:lnTo>
                  <a:pt x="147" y="66"/>
                </a:lnTo>
                <a:lnTo>
                  <a:pt x="164" y="79"/>
                </a:lnTo>
                <a:lnTo>
                  <a:pt x="180" y="92"/>
                </a:lnTo>
                <a:lnTo>
                  <a:pt x="196" y="105"/>
                </a:lnTo>
                <a:lnTo>
                  <a:pt x="213" y="118"/>
                </a:lnTo>
                <a:lnTo>
                  <a:pt x="229" y="131"/>
                </a:lnTo>
                <a:lnTo>
                  <a:pt x="246" y="143"/>
                </a:lnTo>
                <a:lnTo>
                  <a:pt x="262" y="155"/>
                </a:lnTo>
                <a:lnTo>
                  <a:pt x="278" y="166"/>
                </a:lnTo>
                <a:lnTo>
                  <a:pt x="295" y="177"/>
                </a:lnTo>
                <a:lnTo>
                  <a:pt x="311" y="186"/>
                </a:lnTo>
                <a:lnTo>
                  <a:pt x="327" y="194"/>
                </a:lnTo>
                <a:lnTo>
                  <a:pt x="344" y="200"/>
                </a:lnTo>
                <a:lnTo>
                  <a:pt x="360" y="205"/>
                </a:lnTo>
                <a:lnTo>
                  <a:pt x="377" y="208"/>
                </a:lnTo>
                <a:lnTo>
                  <a:pt x="393" y="209"/>
                </a:lnTo>
                <a:lnTo>
                  <a:pt x="393" y="222"/>
                </a:lnTo>
                <a:lnTo>
                  <a:pt x="377" y="221"/>
                </a:lnTo>
                <a:lnTo>
                  <a:pt x="360" y="218"/>
                </a:lnTo>
                <a:lnTo>
                  <a:pt x="344" y="213"/>
                </a:lnTo>
                <a:lnTo>
                  <a:pt x="327" y="207"/>
                </a:lnTo>
                <a:lnTo>
                  <a:pt x="311" y="199"/>
                </a:lnTo>
                <a:lnTo>
                  <a:pt x="295" y="190"/>
                </a:lnTo>
                <a:lnTo>
                  <a:pt x="278" y="179"/>
                </a:lnTo>
                <a:lnTo>
                  <a:pt x="262" y="168"/>
                </a:lnTo>
                <a:lnTo>
                  <a:pt x="246" y="156"/>
                </a:lnTo>
                <a:lnTo>
                  <a:pt x="229" y="143"/>
                </a:lnTo>
                <a:lnTo>
                  <a:pt x="213" y="131"/>
                </a:lnTo>
                <a:lnTo>
                  <a:pt x="196" y="117"/>
                </a:lnTo>
                <a:lnTo>
                  <a:pt x="180" y="104"/>
                </a:lnTo>
                <a:lnTo>
                  <a:pt x="164" y="91"/>
                </a:lnTo>
                <a:lnTo>
                  <a:pt x="147" y="79"/>
                </a:lnTo>
                <a:lnTo>
                  <a:pt x="131" y="67"/>
                </a:lnTo>
                <a:lnTo>
                  <a:pt x="114" y="56"/>
                </a:lnTo>
                <a:lnTo>
                  <a:pt x="98" y="45"/>
                </a:lnTo>
                <a:lnTo>
                  <a:pt x="82" y="36"/>
                </a:lnTo>
                <a:lnTo>
                  <a:pt x="65" y="28"/>
                </a:lnTo>
                <a:lnTo>
                  <a:pt x="49" y="22"/>
                </a:lnTo>
                <a:lnTo>
                  <a:pt x="33" y="17"/>
                </a:lnTo>
                <a:lnTo>
                  <a:pt x="16" y="14"/>
                </a:lnTo>
                <a:lnTo>
                  <a:pt x="0" y="13"/>
                </a:lnTo>
                <a:close/>
              </a:path>
            </a:pathLst>
          </a:custGeom>
          <a:solidFill>
            <a:srgbClr val="2A5F8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Freeform 15"/>
          <p:cNvSpPr/>
          <p:nvPr/>
        </p:nvSpPr>
        <p:spPr>
          <a:xfrm>
            <a:off x="2057400" y="2600325"/>
            <a:ext cx="3743325" cy="2419350"/>
          </a:xfrm>
          <a:custGeom>
            <a:avLst/>
            <a:gdLst/>
            <a:ahLst/>
            <a:cxnLst/>
            <a:rect l="l" t="t" r="r" b="b"/>
            <a:pathLst>
              <a:path w="393" h="254">
                <a:moveTo>
                  <a:pt x="0" y="0"/>
                </a:moveTo>
                <a:lnTo>
                  <a:pt x="16" y="1"/>
                </a:lnTo>
                <a:lnTo>
                  <a:pt x="33" y="4"/>
                </a:lnTo>
                <a:lnTo>
                  <a:pt x="49" y="10"/>
                </a:lnTo>
                <a:lnTo>
                  <a:pt x="65" y="18"/>
                </a:lnTo>
                <a:lnTo>
                  <a:pt x="82" y="27"/>
                </a:lnTo>
                <a:lnTo>
                  <a:pt x="98" y="37"/>
                </a:lnTo>
                <a:lnTo>
                  <a:pt x="114" y="49"/>
                </a:lnTo>
                <a:lnTo>
                  <a:pt x="131" y="62"/>
                </a:lnTo>
                <a:lnTo>
                  <a:pt x="147" y="76"/>
                </a:lnTo>
                <a:lnTo>
                  <a:pt x="164" y="90"/>
                </a:lnTo>
                <a:lnTo>
                  <a:pt x="180" y="105"/>
                </a:lnTo>
                <a:lnTo>
                  <a:pt x="196" y="120"/>
                </a:lnTo>
                <a:lnTo>
                  <a:pt x="213" y="135"/>
                </a:lnTo>
                <a:lnTo>
                  <a:pt x="229" y="150"/>
                </a:lnTo>
                <a:lnTo>
                  <a:pt x="246" y="165"/>
                </a:lnTo>
                <a:lnTo>
                  <a:pt x="262" y="178"/>
                </a:lnTo>
                <a:lnTo>
                  <a:pt x="278" y="191"/>
                </a:lnTo>
                <a:lnTo>
                  <a:pt x="295" y="203"/>
                </a:lnTo>
                <a:lnTo>
                  <a:pt x="311" y="214"/>
                </a:lnTo>
                <a:lnTo>
                  <a:pt x="327" y="223"/>
                </a:lnTo>
                <a:lnTo>
                  <a:pt x="344" y="231"/>
                </a:lnTo>
                <a:lnTo>
                  <a:pt x="360" y="236"/>
                </a:lnTo>
                <a:lnTo>
                  <a:pt x="377" y="240"/>
                </a:lnTo>
                <a:lnTo>
                  <a:pt x="393" y="241"/>
                </a:lnTo>
                <a:lnTo>
                  <a:pt x="393" y="254"/>
                </a:lnTo>
                <a:lnTo>
                  <a:pt x="377" y="253"/>
                </a:lnTo>
                <a:lnTo>
                  <a:pt x="360" y="249"/>
                </a:lnTo>
                <a:lnTo>
                  <a:pt x="344" y="243"/>
                </a:lnTo>
                <a:lnTo>
                  <a:pt x="327" y="236"/>
                </a:lnTo>
                <a:lnTo>
                  <a:pt x="311" y="227"/>
                </a:lnTo>
                <a:lnTo>
                  <a:pt x="295" y="216"/>
                </a:lnTo>
                <a:lnTo>
                  <a:pt x="278" y="204"/>
                </a:lnTo>
                <a:lnTo>
                  <a:pt x="262" y="191"/>
                </a:lnTo>
                <a:lnTo>
                  <a:pt x="246" y="177"/>
                </a:lnTo>
                <a:lnTo>
                  <a:pt x="229" y="163"/>
                </a:lnTo>
                <a:lnTo>
                  <a:pt x="213" y="148"/>
                </a:lnTo>
                <a:lnTo>
                  <a:pt x="196" y="133"/>
                </a:lnTo>
                <a:lnTo>
                  <a:pt x="180" y="118"/>
                </a:lnTo>
                <a:lnTo>
                  <a:pt x="164" y="103"/>
                </a:lnTo>
                <a:lnTo>
                  <a:pt x="147" y="89"/>
                </a:lnTo>
                <a:lnTo>
                  <a:pt x="131" y="75"/>
                </a:lnTo>
                <a:lnTo>
                  <a:pt x="114" y="62"/>
                </a:lnTo>
                <a:lnTo>
                  <a:pt x="98" y="50"/>
                </a:lnTo>
                <a:lnTo>
                  <a:pt x="82" y="40"/>
                </a:lnTo>
                <a:lnTo>
                  <a:pt x="65" y="30"/>
                </a:lnTo>
                <a:lnTo>
                  <a:pt x="49" y="23"/>
                </a:lnTo>
                <a:lnTo>
                  <a:pt x="33" y="17"/>
                </a:lnTo>
                <a:lnTo>
                  <a:pt x="16" y="14"/>
                </a:lnTo>
                <a:lnTo>
                  <a:pt x="0" y="12"/>
                </a:lnTo>
                <a:close/>
              </a:path>
            </a:pathLst>
          </a:custGeom>
          <a:solidFill>
            <a:srgbClr val="2A5F8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Freeform 16"/>
          <p:cNvSpPr/>
          <p:nvPr/>
        </p:nvSpPr>
        <p:spPr>
          <a:xfrm>
            <a:off x="2057400" y="2714625"/>
            <a:ext cx="3743325" cy="2724150"/>
          </a:xfrm>
          <a:custGeom>
            <a:avLst/>
            <a:gdLst/>
            <a:ahLst/>
            <a:cxnLst/>
            <a:rect l="l" t="t" r="r" b="b"/>
            <a:pathLst>
              <a:path w="393" h="286">
                <a:moveTo>
                  <a:pt x="0" y="0"/>
                </a:moveTo>
                <a:lnTo>
                  <a:pt x="16" y="2"/>
                </a:lnTo>
                <a:lnTo>
                  <a:pt x="33" y="6"/>
                </a:lnTo>
                <a:lnTo>
                  <a:pt x="49" y="12"/>
                </a:lnTo>
                <a:lnTo>
                  <a:pt x="65" y="21"/>
                </a:lnTo>
                <a:lnTo>
                  <a:pt x="82" y="31"/>
                </a:lnTo>
                <a:lnTo>
                  <a:pt x="98" y="43"/>
                </a:lnTo>
                <a:lnTo>
                  <a:pt x="114" y="57"/>
                </a:lnTo>
                <a:lnTo>
                  <a:pt x="131" y="71"/>
                </a:lnTo>
                <a:lnTo>
                  <a:pt x="147" y="87"/>
                </a:lnTo>
                <a:lnTo>
                  <a:pt x="164" y="103"/>
                </a:lnTo>
                <a:lnTo>
                  <a:pt x="180" y="120"/>
                </a:lnTo>
                <a:lnTo>
                  <a:pt x="196" y="137"/>
                </a:lnTo>
                <a:lnTo>
                  <a:pt x="213" y="154"/>
                </a:lnTo>
                <a:lnTo>
                  <a:pt x="229" y="171"/>
                </a:lnTo>
                <a:lnTo>
                  <a:pt x="246" y="187"/>
                </a:lnTo>
                <a:lnTo>
                  <a:pt x="262" y="203"/>
                </a:lnTo>
                <a:lnTo>
                  <a:pt x="278" y="217"/>
                </a:lnTo>
                <a:lnTo>
                  <a:pt x="295" y="231"/>
                </a:lnTo>
                <a:lnTo>
                  <a:pt x="311" y="243"/>
                </a:lnTo>
                <a:lnTo>
                  <a:pt x="327" y="253"/>
                </a:lnTo>
                <a:lnTo>
                  <a:pt x="344" y="262"/>
                </a:lnTo>
                <a:lnTo>
                  <a:pt x="360" y="268"/>
                </a:lnTo>
                <a:lnTo>
                  <a:pt x="377" y="272"/>
                </a:lnTo>
                <a:lnTo>
                  <a:pt x="393" y="273"/>
                </a:lnTo>
                <a:lnTo>
                  <a:pt x="393" y="286"/>
                </a:lnTo>
                <a:lnTo>
                  <a:pt x="377" y="285"/>
                </a:lnTo>
                <a:lnTo>
                  <a:pt x="360" y="281"/>
                </a:lnTo>
                <a:lnTo>
                  <a:pt x="344" y="275"/>
                </a:lnTo>
                <a:lnTo>
                  <a:pt x="327" y="266"/>
                </a:lnTo>
                <a:lnTo>
                  <a:pt x="311" y="256"/>
                </a:lnTo>
                <a:lnTo>
                  <a:pt x="295" y="244"/>
                </a:lnTo>
                <a:lnTo>
                  <a:pt x="278" y="230"/>
                </a:lnTo>
                <a:lnTo>
                  <a:pt x="262" y="216"/>
                </a:lnTo>
                <a:lnTo>
                  <a:pt x="246" y="200"/>
                </a:lnTo>
                <a:lnTo>
                  <a:pt x="229" y="184"/>
                </a:lnTo>
                <a:lnTo>
                  <a:pt x="213" y="167"/>
                </a:lnTo>
                <a:lnTo>
                  <a:pt x="196" y="150"/>
                </a:lnTo>
                <a:lnTo>
                  <a:pt x="180" y="133"/>
                </a:lnTo>
                <a:lnTo>
                  <a:pt x="164" y="116"/>
                </a:lnTo>
                <a:lnTo>
                  <a:pt x="147" y="100"/>
                </a:lnTo>
                <a:lnTo>
                  <a:pt x="131" y="84"/>
                </a:lnTo>
                <a:lnTo>
                  <a:pt x="114" y="69"/>
                </a:lnTo>
                <a:lnTo>
                  <a:pt x="98" y="56"/>
                </a:lnTo>
                <a:lnTo>
                  <a:pt x="82" y="44"/>
                </a:lnTo>
                <a:lnTo>
                  <a:pt x="65" y="34"/>
                </a:lnTo>
                <a:lnTo>
                  <a:pt x="49" y="25"/>
                </a:lnTo>
                <a:lnTo>
                  <a:pt x="33" y="19"/>
                </a:lnTo>
                <a:lnTo>
                  <a:pt x="16" y="15"/>
                </a:lnTo>
                <a:lnTo>
                  <a:pt x="0" y="13"/>
                </a:lnTo>
                <a:close/>
              </a:path>
            </a:pathLst>
          </a:custGeom>
          <a:solidFill>
            <a:srgbClr val="2A5F8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Freeform 17"/>
          <p:cNvSpPr/>
          <p:nvPr/>
        </p:nvSpPr>
        <p:spPr>
          <a:xfrm>
            <a:off x="2057400" y="2838450"/>
            <a:ext cx="3743325" cy="3028950"/>
          </a:xfrm>
          <a:custGeom>
            <a:avLst/>
            <a:gdLst/>
            <a:ahLst/>
            <a:cxnLst/>
            <a:rect l="l" t="t" r="r" b="b"/>
            <a:pathLst>
              <a:path w="393" h="318">
                <a:moveTo>
                  <a:pt x="0" y="0"/>
                </a:moveTo>
                <a:lnTo>
                  <a:pt x="16" y="2"/>
                </a:lnTo>
                <a:lnTo>
                  <a:pt x="33" y="6"/>
                </a:lnTo>
                <a:lnTo>
                  <a:pt x="49" y="13"/>
                </a:lnTo>
                <a:lnTo>
                  <a:pt x="65" y="23"/>
                </a:lnTo>
                <a:lnTo>
                  <a:pt x="82" y="34"/>
                </a:lnTo>
                <a:lnTo>
                  <a:pt x="98" y="48"/>
                </a:lnTo>
                <a:lnTo>
                  <a:pt x="114" y="63"/>
                </a:lnTo>
                <a:lnTo>
                  <a:pt x="131" y="79"/>
                </a:lnTo>
                <a:lnTo>
                  <a:pt x="147" y="97"/>
                </a:lnTo>
                <a:lnTo>
                  <a:pt x="164" y="115"/>
                </a:lnTo>
                <a:lnTo>
                  <a:pt x="180" y="134"/>
                </a:lnTo>
                <a:lnTo>
                  <a:pt x="196" y="153"/>
                </a:lnTo>
                <a:lnTo>
                  <a:pt x="213" y="172"/>
                </a:lnTo>
                <a:lnTo>
                  <a:pt x="229" y="190"/>
                </a:lnTo>
                <a:lnTo>
                  <a:pt x="246" y="209"/>
                </a:lnTo>
                <a:lnTo>
                  <a:pt x="262" y="226"/>
                </a:lnTo>
                <a:lnTo>
                  <a:pt x="278" y="242"/>
                </a:lnTo>
                <a:lnTo>
                  <a:pt x="295" y="257"/>
                </a:lnTo>
                <a:lnTo>
                  <a:pt x="311" y="271"/>
                </a:lnTo>
                <a:lnTo>
                  <a:pt x="327" y="282"/>
                </a:lnTo>
                <a:lnTo>
                  <a:pt x="344" y="292"/>
                </a:lnTo>
                <a:lnTo>
                  <a:pt x="360" y="299"/>
                </a:lnTo>
                <a:lnTo>
                  <a:pt x="377" y="303"/>
                </a:lnTo>
                <a:lnTo>
                  <a:pt x="393" y="305"/>
                </a:lnTo>
                <a:lnTo>
                  <a:pt x="393" y="318"/>
                </a:lnTo>
                <a:lnTo>
                  <a:pt x="377" y="316"/>
                </a:lnTo>
                <a:lnTo>
                  <a:pt x="360" y="312"/>
                </a:lnTo>
                <a:lnTo>
                  <a:pt x="344" y="305"/>
                </a:lnTo>
                <a:lnTo>
                  <a:pt x="327" y="295"/>
                </a:lnTo>
                <a:lnTo>
                  <a:pt x="311" y="284"/>
                </a:lnTo>
                <a:lnTo>
                  <a:pt x="295" y="270"/>
                </a:lnTo>
                <a:lnTo>
                  <a:pt x="278" y="255"/>
                </a:lnTo>
                <a:lnTo>
                  <a:pt x="262" y="239"/>
                </a:lnTo>
                <a:lnTo>
                  <a:pt x="246" y="221"/>
                </a:lnTo>
                <a:lnTo>
                  <a:pt x="229" y="203"/>
                </a:lnTo>
                <a:lnTo>
                  <a:pt x="213" y="184"/>
                </a:lnTo>
                <a:lnTo>
                  <a:pt x="196" y="165"/>
                </a:lnTo>
                <a:lnTo>
                  <a:pt x="180" y="146"/>
                </a:lnTo>
                <a:lnTo>
                  <a:pt x="164" y="128"/>
                </a:lnTo>
                <a:lnTo>
                  <a:pt x="147" y="110"/>
                </a:lnTo>
                <a:lnTo>
                  <a:pt x="131" y="92"/>
                </a:lnTo>
                <a:lnTo>
                  <a:pt x="114" y="76"/>
                </a:lnTo>
                <a:lnTo>
                  <a:pt x="98" y="61"/>
                </a:lnTo>
                <a:lnTo>
                  <a:pt x="82" y="47"/>
                </a:lnTo>
                <a:lnTo>
                  <a:pt x="65" y="36"/>
                </a:lnTo>
                <a:lnTo>
                  <a:pt x="49" y="26"/>
                </a:lnTo>
                <a:lnTo>
                  <a:pt x="33" y="19"/>
                </a:lnTo>
                <a:lnTo>
                  <a:pt x="16" y="15"/>
                </a:lnTo>
                <a:lnTo>
                  <a:pt x="0" y="13"/>
                </a:lnTo>
                <a:close/>
              </a:path>
            </a:pathLst>
          </a:custGeom>
          <a:solidFill>
            <a:srgbClr val="2A5F8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Freeform 18"/>
          <p:cNvSpPr/>
          <p:nvPr/>
        </p:nvSpPr>
        <p:spPr>
          <a:xfrm>
            <a:off x="2057400" y="2962275"/>
            <a:ext cx="3743325" cy="3324225"/>
          </a:xfrm>
          <a:custGeom>
            <a:avLst/>
            <a:gdLst/>
            <a:ahLst/>
            <a:cxnLst/>
            <a:rect l="l" t="t" r="r" b="b"/>
            <a:pathLst>
              <a:path w="393" h="349">
                <a:moveTo>
                  <a:pt x="0" y="0"/>
                </a:moveTo>
                <a:lnTo>
                  <a:pt x="16" y="2"/>
                </a:lnTo>
                <a:lnTo>
                  <a:pt x="33" y="7"/>
                </a:lnTo>
                <a:lnTo>
                  <a:pt x="49" y="15"/>
                </a:lnTo>
                <a:lnTo>
                  <a:pt x="65" y="25"/>
                </a:lnTo>
                <a:lnTo>
                  <a:pt x="82" y="38"/>
                </a:lnTo>
                <a:lnTo>
                  <a:pt x="98" y="53"/>
                </a:lnTo>
                <a:lnTo>
                  <a:pt x="114" y="69"/>
                </a:lnTo>
                <a:lnTo>
                  <a:pt x="131" y="87"/>
                </a:lnTo>
                <a:lnTo>
                  <a:pt x="147" y="107"/>
                </a:lnTo>
                <a:lnTo>
                  <a:pt x="164" y="127"/>
                </a:lnTo>
                <a:lnTo>
                  <a:pt x="180" y="147"/>
                </a:lnTo>
                <a:lnTo>
                  <a:pt x="196" y="168"/>
                </a:lnTo>
                <a:lnTo>
                  <a:pt x="213" y="189"/>
                </a:lnTo>
                <a:lnTo>
                  <a:pt x="229" y="210"/>
                </a:lnTo>
                <a:lnTo>
                  <a:pt x="246" y="230"/>
                </a:lnTo>
                <a:lnTo>
                  <a:pt x="262" y="249"/>
                </a:lnTo>
                <a:lnTo>
                  <a:pt x="278" y="267"/>
                </a:lnTo>
                <a:lnTo>
                  <a:pt x="295" y="284"/>
                </a:lnTo>
                <a:lnTo>
                  <a:pt x="311" y="299"/>
                </a:lnTo>
                <a:lnTo>
                  <a:pt x="327" y="312"/>
                </a:lnTo>
                <a:lnTo>
                  <a:pt x="344" y="322"/>
                </a:lnTo>
                <a:lnTo>
                  <a:pt x="360" y="330"/>
                </a:lnTo>
                <a:lnTo>
                  <a:pt x="377" y="335"/>
                </a:lnTo>
                <a:lnTo>
                  <a:pt x="393" y="336"/>
                </a:lnTo>
                <a:lnTo>
                  <a:pt x="393" y="349"/>
                </a:lnTo>
                <a:lnTo>
                  <a:pt x="377" y="348"/>
                </a:lnTo>
                <a:lnTo>
                  <a:pt x="360" y="343"/>
                </a:lnTo>
                <a:lnTo>
                  <a:pt x="344" y="335"/>
                </a:lnTo>
                <a:lnTo>
                  <a:pt x="327" y="324"/>
                </a:lnTo>
                <a:lnTo>
                  <a:pt x="311" y="312"/>
                </a:lnTo>
                <a:lnTo>
                  <a:pt x="295" y="297"/>
                </a:lnTo>
                <a:lnTo>
                  <a:pt x="278" y="280"/>
                </a:lnTo>
                <a:lnTo>
                  <a:pt x="262" y="262"/>
                </a:lnTo>
                <a:lnTo>
                  <a:pt x="246" y="243"/>
                </a:lnTo>
                <a:lnTo>
                  <a:pt x="229" y="223"/>
                </a:lnTo>
                <a:lnTo>
                  <a:pt x="213" y="202"/>
                </a:lnTo>
                <a:lnTo>
                  <a:pt x="196" y="181"/>
                </a:lnTo>
                <a:lnTo>
                  <a:pt x="180" y="160"/>
                </a:lnTo>
                <a:lnTo>
                  <a:pt x="164" y="140"/>
                </a:lnTo>
                <a:lnTo>
                  <a:pt x="147" y="119"/>
                </a:lnTo>
                <a:lnTo>
                  <a:pt x="131" y="100"/>
                </a:lnTo>
                <a:lnTo>
                  <a:pt x="114" y="82"/>
                </a:lnTo>
                <a:lnTo>
                  <a:pt x="98" y="66"/>
                </a:lnTo>
                <a:lnTo>
                  <a:pt x="82" y="51"/>
                </a:lnTo>
                <a:lnTo>
                  <a:pt x="65" y="38"/>
                </a:lnTo>
                <a:lnTo>
                  <a:pt x="49" y="27"/>
                </a:lnTo>
                <a:lnTo>
                  <a:pt x="33" y="20"/>
                </a:lnTo>
                <a:lnTo>
                  <a:pt x="16" y="15"/>
                </a:lnTo>
                <a:lnTo>
                  <a:pt x="0" y="13"/>
                </a:lnTo>
                <a:close/>
              </a:path>
            </a:pathLst>
          </a:custGeom>
          <a:solidFill>
            <a:srgbClr val="2A5F8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Freeform 19"/>
          <p:cNvSpPr/>
          <p:nvPr/>
        </p:nvSpPr>
        <p:spPr>
          <a:xfrm>
            <a:off x="2057400" y="1600200"/>
            <a:ext cx="3743325" cy="1838325"/>
          </a:xfrm>
          <a:custGeom>
            <a:avLst/>
            <a:gdLst/>
            <a:ahLst/>
            <a:cxnLst/>
            <a:rect l="l" t="t" r="r" b="b"/>
            <a:pathLst>
              <a:path w="393" h="193">
                <a:moveTo>
                  <a:pt x="0" y="162"/>
                </a:moveTo>
                <a:lnTo>
                  <a:pt x="16" y="161"/>
                </a:lnTo>
                <a:lnTo>
                  <a:pt x="33" y="159"/>
                </a:lnTo>
                <a:lnTo>
                  <a:pt x="49" y="155"/>
                </a:lnTo>
                <a:lnTo>
                  <a:pt x="65" y="150"/>
                </a:lnTo>
                <a:lnTo>
                  <a:pt x="82" y="144"/>
                </a:lnTo>
                <a:lnTo>
                  <a:pt x="98" y="137"/>
                </a:lnTo>
                <a:lnTo>
                  <a:pt x="114" y="129"/>
                </a:lnTo>
                <a:lnTo>
                  <a:pt x="131" y="120"/>
                </a:lnTo>
                <a:lnTo>
                  <a:pt x="147" y="111"/>
                </a:lnTo>
                <a:lnTo>
                  <a:pt x="164" y="101"/>
                </a:lnTo>
                <a:lnTo>
                  <a:pt x="180" y="91"/>
                </a:lnTo>
                <a:lnTo>
                  <a:pt x="196" y="81"/>
                </a:lnTo>
                <a:lnTo>
                  <a:pt x="213" y="71"/>
                </a:lnTo>
                <a:lnTo>
                  <a:pt x="229" y="61"/>
                </a:lnTo>
                <a:lnTo>
                  <a:pt x="246" y="51"/>
                </a:lnTo>
                <a:lnTo>
                  <a:pt x="262" y="42"/>
                </a:lnTo>
                <a:lnTo>
                  <a:pt x="278" y="33"/>
                </a:lnTo>
                <a:lnTo>
                  <a:pt x="295" y="25"/>
                </a:lnTo>
                <a:lnTo>
                  <a:pt x="311" y="18"/>
                </a:lnTo>
                <a:lnTo>
                  <a:pt x="327" y="12"/>
                </a:lnTo>
                <a:lnTo>
                  <a:pt x="344" y="7"/>
                </a:lnTo>
                <a:lnTo>
                  <a:pt x="360" y="3"/>
                </a:lnTo>
                <a:lnTo>
                  <a:pt x="377" y="1"/>
                </a:lnTo>
                <a:lnTo>
                  <a:pt x="393" y="0"/>
                </a:lnTo>
                <a:lnTo>
                  <a:pt x="393" y="31"/>
                </a:lnTo>
                <a:lnTo>
                  <a:pt x="377" y="32"/>
                </a:lnTo>
                <a:lnTo>
                  <a:pt x="360" y="34"/>
                </a:lnTo>
                <a:lnTo>
                  <a:pt x="344" y="38"/>
                </a:lnTo>
                <a:lnTo>
                  <a:pt x="327" y="43"/>
                </a:lnTo>
                <a:lnTo>
                  <a:pt x="311" y="49"/>
                </a:lnTo>
                <a:lnTo>
                  <a:pt x="295" y="56"/>
                </a:lnTo>
                <a:lnTo>
                  <a:pt x="278" y="64"/>
                </a:lnTo>
                <a:lnTo>
                  <a:pt x="262" y="73"/>
                </a:lnTo>
                <a:lnTo>
                  <a:pt x="246" y="82"/>
                </a:lnTo>
                <a:lnTo>
                  <a:pt x="229" y="92"/>
                </a:lnTo>
                <a:lnTo>
                  <a:pt x="213" y="102"/>
                </a:lnTo>
                <a:lnTo>
                  <a:pt x="196" y="112"/>
                </a:lnTo>
                <a:lnTo>
                  <a:pt x="180" y="122"/>
                </a:lnTo>
                <a:lnTo>
                  <a:pt x="164" y="132"/>
                </a:lnTo>
                <a:lnTo>
                  <a:pt x="147" y="142"/>
                </a:lnTo>
                <a:lnTo>
                  <a:pt x="131" y="151"/>
                </a:lnTo>
                <a:lnTo>
                  <a:pt x="114" y="160"/>
                </a:lnTo>
                <a:lnTo>
                  <a:pt x="98" y="168"/>
                </a:lnTo>
                <a:lnTo>
                  <a:pt x="82" y="175"/>
                </a:lnTo>
                <a:lnTo>
                  <a:pt x="65" y="181"/>
                </a:lnTo>
                <a:lnTo>
                  <a:pt x="49" y="186"/>
                </a:lnTo>
                <a:lnTo>
                  <a:pt x="33" y="190"/>
                </a:lnTo>
                <a:lnTo>
                  <a:pt x="16" y="192"/>
                </a:lnTo>
                <a:lnTo>
                  <a:pt x="0" y="193"/>
                </a:lnTo>
                <a:close/>
              </a:path>
            </a:pathLst>
          </a:custGeom>
          <a:solidFill>
            <a:srgbClr val="0081E2">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Freeform 20"/>
          <p:cNvSpPr/>
          <p:nvPr/>
        </p:nvSpPr>
        <p:spPr>
          <a:xfrm>
            <a:off x="2057400" y="2400300"/>
            <a:ext cx="3743325" cy="1190625"/>
          </a:xfrm>
          <a:custGeom>
            <a:avLst/>
            <a:gdLst/>
            <a:ahLst/>
            <a:cxnLst/>
            <a:rect l="l" t="t" r="r" b="b"/>
            <a:pathLst>
              <a:path w="393" h="125">
                <a:moveTo>
                  <a:pt x="0" y="109"/>
                </a:moveTo>
                <a:lnTo>
                  <a:pt x="16" y="108"/>
                </a:lnTo>
                <a:lnTo>
                  <a:pt x="33" y="107"/>
                </a:lnTo>
                <a:lnTo>
                  <a:pt x="49" y="104"/>
                </a:lnTo>
                <a:lnTo>
                  <a:pt x="65" y="101"/>
                </a:lnTo>
                <a:lnTo>
                  <a:pt x="82" y="97"/>
                </a:lnTo>
                <a:lnTo>
                  <a:pt x="98" y="92"/>
                </a:lnTo>
                <a:lnTo>
                  <a:pt x="114" y="87"/>
                </a:lnTo>
                <a:lnTo>
                  <a:pt x="131" y="81"/>
                </a:lnTo>
                <a:lnTo>
                  <a:pt x="147" y="75"/>
                </a:lnTo>
                <a:lnTo>
                  <a:pt x="164" y="68"/>
                </a:lnTo>
                <a:lnTo>
                  <a:pt x="180" y="61"/>
                </a:lnTo>
                <a:lnTo>
                  <a:pt x="196" y="55"/>
                </a:lnTo>
                <a:lnTo>
                  <a:pt x="213" y="48"/>
                </a:lnTo>
                <a:lnTo>
                  <a:pt x="229" y="41"/>
                </a:lnTo>
                <a:lnTo>
                  <a:pt x="246" y="35"/>
                </a:lnTo>
                <a:lnTo>
                  <a:pt x="262" y="28"/>
                </a:lnTo>
                <a:lnTo>
                  <a:pt x="278" y="23"/>
                </a:lnTo>
                <a:lnTo>
                  <a:pt x="295" y="17"/>
                </a:lnTo>
                <a:lnTo>
                  <a:pt x="311" y="12"/>
                </a:lnTo>
                <a:lnTo>
                  <a:pt x="327" y="8"/>
                </a:lnTo>
                <a:lnTo>
                  <a:pt x="344" y="5"/>
                </a:lnTo>
                <a:lnTo>
                  <a:pt x="360" y="2"/>
                </a:lnTo>
                <a:lnTo>
                  <a:pt x="377" y="1"/>
                </a:lnTo>
                <a:lnTo>
                  <a:pt x="393" y="0"/>
                </a:lnTo>
                <a:lnTo>
                  <a:pt x="393" y="17"/>
                </a:lnTo>
                <a:lnTo>
                  <a:pt x="377" y="17"/>
                </a:lnTo>
                <a:lnTo>
                  <a:pt x="360" y="19"/>
                </a:lnTo>
                <a:lnTo>
                  <a:pt x="344" y="22"/>
                </a:lnTo>
                <a:lnTo>
                  <a:pt x="327" y="25"/>
                </a:lnTo>
                <a:lnTo>
                  <a:pt x="311" y="29"/>
                </a:lnTo>
                <a:lnTo>
                  <a:pt x="295" y="34"/>
                </a:lnTo>
                <a:lnTo>
                  <a:pt x="278" y="39"/>
                </a:lnTo>
                <a:lnTo>
                  <a:pt x="262" y="45"/>
                </a:lnTo>
                <a:lnTo>
                  <a:pt x="246" y="51"/>
                </a:lnTo>
                <a:lnTo>
                  <a:pt x="229" y="58"/>
                </a:lnTo>
                <a:lnTo>
                  <a:pt x="213" y="64"/>
                </a:lnTo>
                <a:lnTo>
                  <a:pt x="196" y="71"/>
                </a:lnTo>
                <a:lnTo>
                  <a:pt x="180" y="78"/>
                </a:lnTo>
                <a:lnTo>
                  <a:pt x="164" y="85"/>
                </a:lnTo>
                <a:lnTo>
                  <a:pt x="147" y="91"/>
                </a:lnTo>
                <a:lnTo>
                  <a:pt x="131" y="97"/>
                </a:lnTo>
                <a:lnTo>
                  <a:pt x="114" y="103"/>
                </a:lnTo>
                <a:lnTo>
                  <a:pt x="98" y="108"/>
                </a:lnTo>
                <a:lnTo>
                  <a:pt x="82" y="113"/>
                </a:lnTo>
                <a:lnTo>
                  <a:pt x="65" y="117"/>
                </a:lnTo>
                <a:lnTo>
                  <a:pt x="49" y="121"/>
                </a:lnTo>
                <a:lnTo>
                  <a:pt x="33" y="123"/>
                </a:lnTo>
                <a:lnTo>
                  <a:pt x="16" y="125"/>
                </a:lnTo>
                <a:lnTo>
                  <a:pt x="0" y="125"/>
                </a:lnTo>
                <a:close/>
              </a:path>
            </a:pathLst>
          </a:custGeom>
          <a:solidFill>
            <a:srgbClr val="0081E2">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Freeform 21"/>
          <p:cNvSpPr/>
          <p:nvPr/>
        </p:nvSpPr>
        <p:spPr>
          <a:xfrm>
            <a:off x="2057400" y="2895600"/>
            <a:ext cx="3743325" cy="819150"/>
          </a:xfrm>
          <a:custGeom>
            <a:avLst/>
            <a:gdLst/>
            <a:ahLst/>
            <a:cxnLst/>
            <a:rect l="l" t="t" r="r" b="b"/>
            <a:pathLst>
              <a:path w="393" h="86">
                <a:moveTo>
                  <a:pt x="0" y="73"/>
                </a:moveTo>
                <a:lnTo>
                  <a:pt x="16" y="73"/>
                </a:lnTo>
                <a:lnTo>
                  <a:pt x="33" y="72"/>
                </a:lnTo>
                <a:lnTo>
                  <a:pt x="49" y="70"/>
                </a:lnTo>
                <a:lnTo>
                  <a:pt x="65" y="68"/>
                </a:lnTo>
                <a:lnTo>
                  <a:pt x="82" y="65"/>
                </a:lnTo>
                <a:lnTo>
                  <a:pt x="98" y="62"/>
                </a:lnTo>
                <a:lnTo>
                  <a:pt x="114" y="58"/>
                </a:lnTo>
                <a:lnTo>
                  <a:pt x="131" y="54"/>
                </a:lnTo>
                <a:lnTo>
                  <a:pt x="147" y="50"/>
                </a:lnTo>
                <a:lnTo>
                  <a:pt x="164" y="46"/>
                </a:lnTo>
                <a:lnTo>
                  <a:pt x="180" y="41"/>
                </a:lnTo>
                <a:lnTo>
                  <a:pt x="196" y="37"/>
                </a:lnTo>
                <a:lnTo>
                  <a:pt x="213" y="32"/>
                </a:lnTo>
                <a:lnTo>
                  <a:pt x="229" y="28"/>
                </a:lnTo>
                <a:lnTo>
                  <a:pt x="246" y="23"/>
                </a:lnTo>
                <a:lnTo>
                  <a:pt x="262" y="19"/>
                </a:lnTo>
                <a:lnTo>
                  <a:pt x="278" y="15"/>
                </a:lnTo>
                <a:lnTo>
                  <a:pt x="295" y="12"/>
                </a:lnTo>
                <a:lnTo>
                  <a:pt x="311" y="8"/>
                </a:lnTo>
                <a:lnTo>
                  <a:pt x="327" y="6"/>
                </a:lnTo>
                <a:lnTo>
                  <a:pt x="344" y="3"/>
                </a:lnTo>
                <a:lnTo>
                  <a:pt x="360" y="2"/>
                </a:lnTo>
                <a:lnTo>
                  <a:pt x="377" y="1"/>
                </a:lnTo>
                <a:lnTo>
                  <a:pt x="393" y="0"/>
                </a:lnTo>
                <a:lnTo>
                  <a:pt x="393" y="13"/>
                </a:lnTo>
                <a:lnTo>
                  <a:pt x="377" y="13"/>
                </a:lnTo>
                <a:lnTo>
                  <a:pt x="360" y="14"/>
                </a:lnTo>
                <a:lnTo>
                  <a:pt x="344" y="16"/>
                </a:lnTo>
                <a:lnTo>
                  <a:pt x="327" y="18"/>
                </a:lnTo>
                <a:lnTo>
                  <a:pt x="311" y="21"/>
                </a:lnTo>
                <a:lnTo>
                  <a:pt x="295" y="24"/>
                </a:lnTo>
                <a:lnTo>
                  <a:pt x="278" y="28"/>
                </a:lnTo>
                <a:lnTo>
                  <a:pt x="262" y="32"/>
                </a:lnTo>
                <a:lnTo>
                  <a:pt x="246" y="36"/>
                </a:lnTo>
                <a:lnTo>
                  <a:pt x="229" y="41"/>
                </a:lnTo>
                <a:lnTo>
                  <a:pt x="213" y="45"/>
                </a:lnTo>
                <a:lnTo>
                  <a:pt x="196" y="50"/>
                </a:lnTo>
                <a:lnTo>
                  <a:pt x="180" y="54"/>
                </a:lnTo>
                <a:lnTo>
                  <a:pt x="164" y="59"/>
                </a:lnTo>
                <a:lnTo>
                  <a:pt x="147" y="63"/>
                </a:lnTo>
                <a:lnTo>
                  <a:pt x="131" y="67"/>
                </a:lnTo>
                <a:lnTo>
                  <a:pt x="114" y="71"/>
                </a:lnTo>
                <a:lnTo>
                  <a:pt x="98" y="75"/>
                </a:lnTo>
                <a:lnTo>
                  <a:pt x="82" y="78"/>
                </a:lnTo>
                <a:lnTo>
                  <a:pt x="65" y="81"/>
                </a:lnTo>
                <a:lnTo>
                  <a:pt x="49" y="83"/>
                </a:lnTo>
                <a:lnTo>
                  <a:pt x="33" y="85"/>
                </a:lnTo>
                <a:lnTo>
                  <a:pt x="16" y="86"/>
                </a:lnTo>
                <a:lnTo>
                  <a:pt x="0" y="86"/>
                </a:lnTo>
                <a:close/>
              </a:path>
            </a:pathLst>
          </a:custGeom>
          <a:solidFill>
            <a:srgbClr val="0081E2">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Freeform 22"/>
          <p:cNvSpPr/>
          <p:nvPr/>
        </p:nvSpPr>
        <p:spPr>
          <a:xfrm>
            <a:off x="2057400" y="3324225"/>
            <a:ext cx="3743325" cy="514350"/>
          </a:xfrm>
          <a:custGeom>
            <a:avLst/>
            <a:gdLst/>
            <a:ahLst/>
            <a:cxnLst/>
            <a:rect l="l" t="t" r="r" b="b"/>
            <a:pathLst>
              <a:path w="393" h="54">
                <a:moveTo>
                  <a:pt x="0" y="41"/>
                </a:moveTo>
                <a:lnTo>
                  <a:pt x="16" y="41"/>
                </a:lnTo>
                <a:lnTo>
                  <a:pt x="33" y="40"/>
                </a:lnTo>
                <a:lnTo>
                  <a:pt x="49" y="40"/>
                </a:lnTo>
                <a:lnTo>
                  <a:pt x="65" y="38"/>
                </a:lnTo>
                <a:lnTo>
                  <a:pt x="82" y="37"/>
                </a:lnTo>
                <a:lnTo>
                  <a:pt x="98" y="35"/>
                </a:lnTo>
                <a:lnTo>
                  <a:pt x="114" y="33"/>
                </a:lnTo>
                <a:lnTo>
                  <a:pt x="131" y="31"/>
                </a:lnTo>
                <a:lnTo>
                  <a:pt x="147" y="28"/>
                </a:lnTo>
                <a:lnTo>
                  <a:pt x="164" y="26"/>
                </a:lnTo>
                <a:lnTo>
                  <a:pt x="180" y="23"/>
                </a:lnTo>
                <a:lnTo>
                  <a:pt x="196" y="20"/>
                </a:lnTo>
                <a:lnTo>
                  <a:pt x="213" y="18"/>
                </a:lnTo>
                <a:lnTo>
                  <a:pt x="229" y="15"/>
                </a:lnTo>
                <a:lnTo>
                  <a:pt x="246" y="13"/>
                </a:lnTo>
                <a:lnTo>
                  <a:pt x="262" y="10"/>
                </a:lnTo>
                <a:lnTo>
                  <a:pt x="278" y="8"/>
                </a:lnTo>
                <a:lnTo>
                  <a:pt x="295" y="6"/>
                </a:lnTo>
                <a:lnTo>
                  <a:pt x="311" y="4"/>
                </a:lnTo>
                <a:lnTo>
                  <a:pt x="327" y="3"/>
                </a:lnTo>
                <a:lnTo>
                  <a:pt x="344" y="1"/>
                </a:lnTo>
                <a:lnTo>
                  <a:pt x="360" y="1"/>
                </a:lnTo>
                <a:lnTo>
                  <a:pt x="377" y="0"/>
                </a:lnTo>
                <a:lnTo>
                  <a:pt x="393" y="0"/>
                </a:lnTo>
                <a:lnTo>
                  <a:pt x="393" y="13"/>
                </a:lnTo>
                <a:lnTo>
                  <a:pt x="377" y="13"/>
                </a:lnTo>
                <a:lnTo>
                  <a:pt x="360" y="13"/>
                </a:lnTo>
                <a:lnTo>
                  <a:pt x="344" y="14"/>
                </a:lnTo>
                <a:lnTo>
                  <a:pt x="327" y="16"/>
                </a:lnTo>
                <a:lnTo>
                  <a:pt x="311" y="17"/>
                </a:lnTo>
                <a:lnTo>
                  <a:pt x="295" y="19"/>
                </a:lnTo>
                <a:lnTo>
                  <a:pt x="278" y="21"/>
                </a:lnTo>
                <a:lnTo>
                  <a:pt x="262" y="23"/>
                </a:lnTo>
                <a:lnTo>
                  <a:pt x="246" y="26"/>
                </a:lnTo>
                <a:lnTo>
                  <a:pt x="229" y="28"/>
                </a:lnTo>
                <a:lnTo>
                  <a:pt x="213" y="31"/>
                </a:lnTo>
                <a:lnTo>
                  <a:pt x="196" y="33"/>
                </a:lnTo>
                <a:lnTo>
                  <a:pt x="180" y="36"/>
                </a:lnTo>
                <a:lnTo>
                  <a:pt x="164" y="38"/>
                </a:lnTo>
                <a:lnTo>
                  <a:pt x="147" y="41"/>
                </a:lnTo>
                <a:lnTo>
                  <a:pt x="131" y="43"/>
                </a:lnTo>
                <a:lnTo>
                  <a:pt x="114" y="46"/>
                </a:lnTo>
                <a:lnTo>
                  <a:pt x="98" y="48"/>
                </a:lnTo>
                <a:lnTo>
                  <a:pt x="82" y="49"/>
                </a:lnTo>
                <a:lnTo>
                  <a:pt x="65" y="51"/>
                </a:lnTo>
                <a:lnTo>
                  <a:pt x="49" y="52"/>
                </a:lnTo>
                <a:lnTo>
                  <a:pt x="33" y="53"/>
                </a:lnTo>
                <a:lnTo>
                  <a:pt x="16" y="54"/>
                </a:lnTo>
                <a:lnTo>
                  <a:pt x="0" y="54"/>
                </a:lnTo>
                <a:close/>
              </a:path>
            </a:pathLst>
          </a:custGeom>
          <a:solidFill>
            <a:srgbClr val="0081E2">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Freeform 23"/>
          <p:cNvSpPr/>
          <p:nvPr/>
        </p:nvSpPr>
        <p:spPr>
          <a:xfrm>
            <a:off x="2057400" y="3743325"/>
            <a:ext cx="3743325" cy="219075"/>
          </a:xfrm>
          <a:custGeom>
            <a:avLst/>
            <a:gdLst/>
            <a:ahLst/>
            <a:cxnLst/>
            <a:rect l="l" t="t" r="r" b="b"/>
            <a:pathLst>
              <a:path w="393" h="23">
                <a:moveTo>
                  <a:pt x="0" y="10"/>
                </a:moveTo>
                <a:lnTo>
                  <a:pt x="16" y="10"/>
                </a:lnTo>
                <a:lnTo>
                  <a:pt x="33" y="10"/>
                </a:lnTo>
                <a:lnTo>
                  <a:pt x="49" y="10"/>
                </a:lnTo>
                <a:lnTo>
                  <a:pt x="65" y="9"/>
                </a:lnTo>
                <a:lnTo>
                  <a:pt x="82" y="9"/>
                </a:lnTo>
                <a:lnTo>
                  <a:pt x="98" y="9"/>
                </a:lnTo>
                <a:lnTo>
                  <a:pt x="114" y="8"/>
                </a:lnTo>
                <a:lnTo>
                  <a:pt x="131" y="8"/>
                </a:lnTo>
                <a:lnTo>
                  <a:pt x="147" y="7"/>
                </a:lnTo>
                <a:lnTo>
                  <a:pt x="164" y="6"/>
                </a:lnTo>
                <a:lnTo>
                  <a:pt x="180" y="6"/>
                </a:lnTo>
                <a:lnTo>
                  <a:pt x="196" y="5"/>
                </a:lnTo>
                <a:lnTo>
                  <a:pt x="213" y="5"/>
                </a:lnTo>
                <a:lnTo>
                  <a:pt x="229" y="4"/>
                </a:lnTo>
                <a:lnTo>
                  <a:pt x="246" y="3"/>
                </a:lnTo>
                <a:lnTo>
                  <a:pt x="262" y="3"/>
                </a:lnTo>
                <a:lnTo>
                  <a:pt x="278" y="2"/>
                </a:lnTo>
                <a:lnTo>
                  <a:pt x="295" y="2"/>
                </a:lnTo>
                <a:lnTo>
                  <a:pt x="311" y="1"/>
                </a:lnTo>
                <a:lnTo>
                  <a:pt x="327" y="1"/>
                </a:lnTo>
                <a:lnTo>
                  <a:pt x="344" y="1"/>
                </a:lnTo>
                <a:lnTo>
                  <a:pt x="360" y="0"/>
                </a:lnTo>
                <a:lnTo>
                  <a:pt x="377" y="0"/>
                </a:lnTo>
                <a:lnTo>
                  <a:pt x="393" y="0"/>
                </a:lnTo>
                <a:lnTo>
                  <a:pt x="393" y="13"/>
                </a:lnTo>
                <a:lnTo>
                  <a:pt x="377" y="13"/>
                </a:lnTo>
                <a:lnTo>
                  <a:pt x="360" y="13"/>
                </a:lnTo>
                <a:lnTo>
                  <a:pt x="344" y="13"/>
                </a:lnTo>
                <a:lnTo>
                  <a:pt x="327" y="14"/>
                </a:lnTo>
                <a:lnTo>
                  <a:pt x="311" y="14"/>
                </a:lnTo>
                <a:lnTo>
                  <a:pt x="295" y="15"/>
                </a:lnTo>
                <a:lnTo>
                  <a:pt x="278" y="15"/>
                </a:lnTo>
                <a:lnTo>
                  <a:pt x="262" y="16"/>
                </a:lnTo>
                <a:lnTo>
                  <a:pt x="246" y="16"/>
                </a:lnTo>
                <a:lnTo>
                  <a:pt x="229" y="17"/>
                </a:lnTo>
                <a:lnTo>
                  <a:pt x="213" y="17"/>
                </a:lnTo>
                <a:lnTo>
                  <a:pt x="196" y="18"/>
                </a:lnTo>
                <a:lnTo>
                  <a:pt x="180" y="19"/>
                </a:lnTo>
                <a:lnTo>
                  <a:pt x="164" y="19"/>
                </a:lnTo>
                <a:lnTo>
                  <a:pt x="147" y="20"/>
                </a:lnTo>
                <a:lnTo>
                  <a:pt x="131" y="20"/>
                </a:lnTo>
                <a:lnTo>
                  <a:pt x="114" y="21"/>
                </a:lnTo>
                <a:lnTo>
                  <a:pt x="98" y="21"/>
                </a:lnTo>
                <a:lnTo>
                  <a:pt x="82" y="22"/>
                </a:lnTo>
                <a:lnTo>
                  <a:pt x="65" y="22"/>
                </a:lnTo>
                <a:lnTo>
                  <a:pt x="49" y="23"/>
                </a:lnTo>
                <a:lnTo>
                  <a:pt x="33" y="23"/>
                </a:lnTo>
                <a:lnTo>
                  <a:pt x="16" y="23"/>
                </a:lnTo>
                <a:lnTo>
                  <a:pt x="0" y="23"/>
                </a:lnTo>
                <a:close/>
              </a:path>
            </a:pathLst>
          </a:custGeom>
          <a:solidFill>
            <a:srgbClr val="0081E2">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Freeform 24"/>
          <p:cNvSpPr/>
          <p:nvPr/>
        </p:nvSpPr>
        <p:spPr>
          <a:xfrm>
            <a:off x="2057400" y="3962400"/>
            <a:ext cx="3743325" cy="333375"/>
          </a:xfrm>
          <a:custGeom>
            <a:avLst/>
            <a:gdLst/>
            <a:ahLst/>
            <a:cxnLst/>
            <a:rect l="l" t="t" r="r" b="b"/>
            <a:pathLst>
              <a:path w="393" h="35">
                <a:moveTo>
                  <a:pt x="0" y="0"/>
                </a:moveTo>
                <a:lnTo>
                  <a:pt x="16" y="0"/>
                </a:lnTo>
                <a:lnTo>
                  <a:pt x="33" y="0"/>
                </a:lnTo>
                <a:lnTo>
                  <a:pt x="49" y="1"/>
                </a:lnTo>
                <a:lnTo>
                  <a:pt x="65" y="2"/>
                </a:lnTo>
                <a:lnTo>
                  <a:pt x="82" y="2"/>
                </a:lnTo>
                <a:lnTo>
                  <a:pt x="98" y="3"/>
                </a:lnTo>
                <a:lnTo>
                  <a:pt x="114" y="4"/>
                </a:lnTo>
                <a:lnTo>
                  <a:pt x="131" y="6"/>
                </a:lnTo>
                <a:lnTo>
                  <a:pt x="147" y="7"/>
                </a:lnTo>
                <a:lnTo>
                  <a:pt x="164" y="8"/>
                </a:lnTo>
                <a:lnTo>
                  <a:pt x="180" y="9"/>
                </a:lnTo>
                <a:lnTo>
                  <a:pt x="196" y="11"/>
                </a:lnTo>
                <a:lnTo>
                  <a:pt x="213" y="12"/>
                </a:lnTo>
                <a:lnTo>
                  <a:pt x="229" y="14"/>
                </a:lnTo>
                <a:lnTo>
                  <a:pt x="246" y="15"/>
                </a:lnTo>
                <a:lnTo>
                  <a:pt x="262" y="16"/>
                </a:lnTo>
                <a:lnTo>
                  <a:pt x="278" y="17"/>
                </a:lnTo>
                <a:lnTo>
                  <a:pt x="295" y="18"/>
                </a:lnTo>
                <a:lnTo>
                  <a:pt x="311" y="19"/>
                </a:lnTo>
                <a:lnTo>
                  <a:pt x="327" y="20"/>
                </a:lnTo>
                <a:lnTo>
                  <a:pt x="344" y="21"/>
                </a:lnTo>
                <a:lnTo>
                  <a:pt x="360" y="21"/>
                </a:lnTo>
                <a:lnTo>
                  <a:pt x="377" y="22"/>
                </a:lnTo>
                <a:lnTo>
                  <a:pt x="393" y="22"/>
                </a:lnTo>
                <a:lnTo>
                  <a:pt x="393" y="35"/>
                </a:lnTo>
                <a:lnTo>
                  <a:pt x="377" y="34"/>
                </a:lnTo>
                <a:lnTo>
                  <a:pt x="360" y="34"/>
                </a:lnTo>
                <a:lnTo>
                  <a:pt x="344" y="34"/>
                </a:lnTo>
                <a:lnTo>
                  <a:pt x="327" y="33"/>
                </a:lnTo>
                <a:lnTo>
                  <a:pt x="311" y="32"/>
                </a:lnTo>
                <a:lnTo>
                  <a:pt x="295" y="31"/>
                </a:lnTo>
                <a:lnTo>
                  <a:pt x="278" y="30"/>
                </a:lnTo>
                <a:lnTo>
                  <a:pt x="262" y="29"/>
                </a:lnTo>
                <a:lnTo>
                  <a:pt x="246" y="28"/>
                </a:lnTo>
                <a:lnTo>
                  <a:pt x="229" y="26"/>
                </a:lnTo>
                <a:lnTo>
                  <a:pt x="213" y="25"/>
                </a:lnTo>
                <a:lnTo>
                  <a:pt x="196" y="24"/>
                </a:lnTo>
                <a:lnTo>
                  <a:pt x="180" y="22"/>
                </a:lnTo>
                <a:lnTo>
                  <a:pt x="164" y="21"/>
                </a:lnTo>
                <a:lnTo>
                  <a:pt x="147" y="20"/>
                </a:lnTo>
                <a:lnTo>
                  <a:pt x="131" y="18"/>
                </a:lnTo>
                <a:lnTo>
                  <a:pt x="114" y="17"/>
                </a:lnTo>
                <a:lnTo>
                  <a:pt x="98" y="16"/>
                </a:lnTo>
                <a:lnTo>
                  <a:pt x="82" y="15"/>
                </a:lnTo>
                <a:lnTo>
                  <a:pt x="65" y="14"/>
                </a:lnTo>
                <a:lnTo>
                  <a:pt x="49" y="14"/>
                </a:lnTo>
                <a:lnTo>
                  <a:pt x="33" y="13"/>
                </a:lnTo>
                <a:lnTo>
                  <a:pt x="16" y="13"/>
                </a:lnTo>
                <a:lnTo>
                  <a:pt x="0" y="13"/>
                </a:lnTo>
                <a:close/>
              </a:path>
            </a:pathLst>
          </a:custGeom>
          <a:solidFill>
            <a:srgbClr val="0081E2">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Freeform 25"/>
          <p:cNvSpPr/>
          <p:nvPr/>
        </p:nvSpPr>
        <p:spPr>
          <a:xfrm>
            <a:off x="2057400" y="4086225"/>
            <a:ext cx="3743325" cy="628650"/>
          </a:xfrm>
          <a:custGeom>
            <a:avLst/>
            <a:gdLst/>
            <a:ahLst/>
            <a:cxnLst/>
            <a:rect l="l" t="t" r="r" b="b"/>
            <a:pathLst>
              <a:path w="393" h="66">
                <a:moveTo>
                  <a:pt x="0" y="0"/>
                </a:moveTo>
                <a:lnTo>
                  <a:pt x="16" y="0"/>
                </a:lnTo>
                <a:lnTo>
                  <a:pt x="33" y="1"/>
                </a:lnTo>
                <a:lnTo>
                  <a:pt x="49" y="2"/>
                </a:lnTo>
                <a:lnTo>
                  <a:pt x="65" y="4"/>
                </a:lnTo>
                <a:lnTo>
                  <a:pt x="82" y="6"/>
                </a:lnTo>
                <a:lnTo>
                  <a:pt x="98" y="8"/>
                </a:lnTo>
                <a:lnTo>
                  <a:pt x="114" y="11"/>
                </a:lnTo>
                <a:lnTo>
                  <a:pt x="131" y="14"/>
                </a:lnTo>
                <a:lnTo>
                  <a:pt x="147" y="17"/>
                </a:lnTo>
                <a:lnTo>
                  <a:pt x="164" y="20"/>
                </a:lnTo>
                <a:lnTo>
                  <a:pt x="180" y="23"/>
                </a:lnTo>
                <a:lnTo>
                  <a:pt x="196" y="27"/>
                </a:lnTo>
                <a:lnTo>
                  <a:pt x="213" y="30"/>
                </a:lnTo>
                <a:lnTo>
                  <a:pt x="229" y="33"/>
                </a:lnTo>
                <a:lnTo>
                  <a:pt x="246" y="36"/>
                </a:lnTo>
                <a:lnTo>
                  <a:pt x="262" y="39"/>
                </a:lnTo>
                <a:lnTo>
                  <a:pt x="278" y="42"/>
                </a:lnTo>
                <a:lnTo>
                  <a:pt x="295" y="45"/>
                </a:lnTo>
                <a:lnTo>
                  <a:pt x="311" y="47"/>
                </a:lnTo>
                <a:lnTo>
                  <a:pt x="327" y="49"/>
                </a:lnTo>
                <a:lnTo>
                  <a:pt x="344" y="51"/>
                </a:lnTo>
                <a:lnTo>
                  <a:pt x="360" y="52"/>
                </a:lnTo>
                <a:lnTo>
                  <a:pt x="377" y="53"/>
                </a:lnTo>
                <a:lnTo>
                  <a:pt x="393" y="53"/>
                </a:lnTo>
                <a:lnTo>
                  <a:pt x="393" y="66"/>
                </a:lnTo>
                <a:lnTo>
                  <a:pt x="377" y="66"/>
                </a:lnTo>
                <a:lnTo>
                  <a:pt x="360" y="65"/>
                </a:lnTo>
                <a:lnTo>
                  <a:pt x="344" y="64"/>
                </a:lnTo>
                <a:lnTo>
                  <a:pt x="327" y="62"/>
                </a:lnTo>
                <a:lnTo>
                  <a:pt x="311" y="60"/>
                </a:lnTo>
                <a:lnTo>
                  <a:pt x="295" y="58"/>
                </a:lnTo>
                <a:lnTo>
                  <a:pt x="278" y="55"/>
                </a:lnTo>
                <a:lnTo>
                  <a:pt x="262" y="52"/>
                </a:lnTo>
                <a:lnTo>
                  <a:pt x="246" y="49"/>
                </a:lnTo>
                <a:lnTo>
                  <a:pt x="229" y="46"/>
                </a:lnTo>
                <a:lnTo>
                  <a:pt x="213" y="43"/>
                </a:lnTo>
                <a:lnTo>
                  <a:pt x="196" y="39"/>
                </a:lnTo>
                <a:lnTo>
                  <a:pt x="180" y="36"/>
                </a:lnTo>
                <a:lnTo>
                  <a:pt x="164" y="33"/>
                </a:lnTo>
                <a:lnTo>
                  <a:pt x="147" y="30"/>
                </a:lnTo>
                <a:lnTo>
                  <a:pt x="131" y="27"/>
                </a:lnTo>
                <a:lnTo>
                  <a:pt x="114" y="24"/>
                </a:lnTo>
                <a:lnTo>
                  <a:pt x="98" y="21"/>
                </a:lnTo>
                <a:lnTo>
                  <a:pt x="82" y="19"/>
                </a:lnTo>
                <a:lnTo>
                  <a:pt x="65" y="17"/>
                </a:lnTo>
                <a:lnTo>
                  <a:pt x="49" y="15"/>
                </a:lnTo>
                <a:lnTo>
                  <a:pt x="33" y="14"/>
                </a:lnTo>
                <a:lnTo>
                  <a:pt x="16" y="13"/>
                </a:lnTo>
                <a:lnTo>
                  <a:pt x="0" y="13"/>
                </a:lnTo>
                <a:close/>
              </a:path>
            </a:pathLst>
          </a:custGeom>
          <a:solidFill>
            <a:srgbClr val="0081E2">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Freeform 26"/>
          <p:cNvSpPr/>
          <p:nvPr/>
        </p:nvSpPr>
        <p:spPr>
          <a:xfrm>
            <a:off x="2057400" y="4210050"/>
            <a:ext cx="3743325" cy="933450"/>
          </a:xfrm>
          <a:custGeom>
            <a:avLst/>
            <a:gdLst/>
            <a:ahLst/>
            <a:cxnLst/>
            <a:rect l="l" t="t" r="r" b="b"/>
            <a:pathLst>
              <a:path w="393" h="98">
                <a:moveTo>
                  <a:pt x="0" y="0"/>
                </a:moveTo>
                <a:lnTo>
                  <a:pt x="16" y="0"/>
                </a:lnTo>
                <a:lnTo>
                  <a:pt x="33" y="1"/>
                </a:lnTo>
                <a:lnTo>
                  <a:pt x="49" y="3"/>
                </a:lnTo>
                <a:lnTo>
                  <a:pt x="65" y="6"/>
                </a:lnTo>
                <a:lnTo>
                  <a:pt x="82" y="9"/>
                </a:lnTo>
                <a:lnTo>
                  <a:pt x="98" y="13"/>
                </a:lnTo>
                <a:lnTo>
                  <a:pt x="114" y="17"/>
                </a:lnTo>
                <a:lnTo>
                  <a:pt x="131" y="22"/>
                </a:lnTo>
                <a:lnTo>
                  <a:pt x="147" y="27"/>
                </a:lnTo>
                <a:lnTo>
                  <a:pt x="164" y="32"/>
                </a:lnTo>
                <a:lnTo>
                  <a:pt x="180" y="37"/>
                </a:lnTo>
                <a:lnTo>
                  <a:pt x="196" y="42"/>
                </a:lnTo>
                <a:lnTo>
                  <a:pt x="213" y="48"/>
                </a:lnTo>
                <a:lnTo>
                  <a:pt x="229" y="53"/>
                </a:lnTo>
                <a:lnTo>
                  <a:pt x="246" y="58"/>
                </a:lnTo>
                <a:lnTo>
                  <a:pt x="262" y="63"/>
                </a:lnTo>
                <a:lnTo>
                  <a:pt x="278" y="67"/>
                </a:lnTo>
                <a:lnTo>
                  <a:pt x="295" y="71"/>
                </a:lnTo>
                <a:lnTo>
                  <a:pt x="311" y="75"/>
                </a:lnTo>
                <a:lnTo>
                  <a:pt x="327" y="78"/>
                </a:lnTo>
                <a:lnTo>
                  <a:pt x="344" y="81"/>
                </a:lnTo>
                <a:lnTo>
                  <a:pt x="360" y="83"/>
                </a:lnTo>
                <a:lnTo>
                  <a:pt x="377" y="84"/>
                </a:lnTo>
                <a:lnTo>
                  <a:pt x="393" y="85"/>
                </a:lnTo>
                <a:lnTo>
                  <a:pt x="393" y="98"/>
                </a:lnTo>
                <a:lnTo>
                  <a:pt x="377" y="97"/>
                </a:lnTo>
                <a:lnTo>
                  <a:pt x="360" y="96"/>
                </a:lnTo>
                <a:lnTo>
                  <a:pt x="344" y="94"/>
                </a:lnTo>
                <a:lnTo>
                  <a:pt x="327" y="91"/>
                </a:lnTo>
                <a:lnTo>
                  <a:pt x="311" y="88"/>
                </a:lnTo>
                <a:lnTo>
                  <a:pt x="295" y="84"/>
                </a:lnTo>
                <a:lnTo>
                  <a:pt x="278" y="80"/>
                </a:lnTo>
                <a:lnTo>
                  <a:pt x="262" y="76"/>
                </a:lnTo>
                <a:lnTo>
                  <a:pt x="246" y="71"/>
                </a:lnTo>
                <a:lnTo>
                  <a:pt x="229" y="66"/>
                </a:lnTo>
                <a:lnTo>
                  <a:pt x="213" y="60"/>
                </a:lnTo>
                <a:lnTo>
                  <a:pt x="196" y="55"/>
                </a:lnTo>
                <a:lnTo>
                  <a:pt x="180" y="50"/>
                </a:lnTo>
                <a:lnTo>
                  <a:pt x="164" y="45"/>
                </a:lnTo>
                <a:lnTo>
                  <a:pt x="147" y="39"/>
                </a:lnTo>
                <a:lnTo>
                  <a:pt x="131" y="35"/>
                </a:lnTo>
                <a:lnTo>
                  <a:pt x="114" y="30"/>
                </a:lnTo>
                <a:lnTo>
                  <a:pt x="98" y="26"/>
                </a:lnTo>
                <a:lnTo>
                  <a:pt x="82" y="22"/>
                </a:lnTo>
                <a:lnTo>
                  <a:pt x="65" y="19"/>
                </a:lnTo>
                <a:lnTo>
                  <a:pt x="49" y="16"/>
                </a:lnTo>
                <a:lnTo>
                  <a:pt x="33" y="14"/>
                </a:lnTo>
                <a:lnTo>
                  <a:pt x="16" y="13"/>
                </a:lnTo>
                <a:lnTo>
                  <a:pt x="0" y="12"/>
                </a:lnTo>
                <a:close/>
              </a:path>
            </a:pathLst>
          </a:custGeom>
          <a:solidFill>
            <a:srgbClr val="0081E2">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Freeform 27"/>
          <p:cNvSpPr/>
          <p:nvPr/>
        </p:nvSpPr>
        <p:spPr>
          <a:xfrm>
            <a:off x="2057400" y="4324350"/>
            <a:ext cx="3743325" cy="1238250"/>
          </a:xfrm>
          <a:custGeom>
            <a:avLst/>
            <a:gdLst/>
            <a:ahLst/>
            <a:cxnLst/>
            <a:rect l="l" t="t" r="r" b="b"/>
            <a:pathLst>
              <a:path w="393" h="130">
                <a:moveTo>
                  <a:pt x="0" y="0"/>
                </a:moveTo>
                <a:lnTo>
                  <a:pt x="16" y="1"/>
                </a:lnTo>
                <a:lnTo>
                  <a:pt x="33" y="3"/>
                </a:lnTo>
                <a:lnTo>
                  <a:pt x="49" y="6"/>
                </a:lnTo>
                <a:lnTo>
                  <a:pt x="65" y="9"/>
                </a:lnTo>
                <a:lnTo>
                  <a:pt x="82" y="14"/>
                </a:lnTo>
                <a:lnTo>
                  <a:pt x="98" y="19"/>
                </a:lnTo>
                <a:lnTo>
                  <a:pt x="114" y="24"/>
                </a:lnTo>
                <a:lnTo>
                  <a:pt x="131" y="31"/>
                </a:lnTo>
                <a:lnTo>
                  <a:pt x="147" y="37"/>
                </a:lnTo>
                <a:lnTo>
                  <a:pt x="164" y="44"/>
                </a:lnTo>
                <a:lnTo>
                  <a:pt x="180" y="52"/>
                </a:lnTo>
                <a:lnTo>
                  <a:pt x="196" y="59"/>
                </a:lnTo>
                <a:lnTo>
                  <a:pt x="213" y="66"/>
                </a:lnTo>
                <a:lnTo>
                  <a:pt x="229" y="73"/>
                </a:lnTo>
                <a:lnTo>
                  <a:pt x="246" y="80"/>
                </a:lnTo>
                <a:lnTo>
                  <a:pt x="262" y="87"/>
                </a:lnTo>
                <a:lnTo>
                  <a:pt x="278" y="93"/>
                </a:lnTo>
                <a:lnTo>
                  <a:pt x="295" y="99"/>
                </a:lnTo>
                <a:lnTo>
                  <a:pt x="311" y="104"/>
                </a:lnTo>
                <a:lnTo>
                  <a:pt x="327" y="109"/>
                </a:lnTo>
                <a:lnTo>
                  <a:pt x="344" y="112"/>
                </a:lnTo>
                <a:lnTo>
                  <a:pt x="360" y="115"/>
                </a:lnTo>
                <a:lnTo>
                  <a:pt x="377" y="117"/>
                </a:lnTo>
                <a:lnTo>
                  <a:pt x="393" y="117"/>
                </a:lnTo>
                <a:lnTo>
                  <a:pt x="393" y="130"/>
                </a:lnTo>
                <a:lnTo>
                  <a:pt x="377" y="130"/>
                </a:lnTo>
                <a:lnTo>
                  <a:pt x="360" y="128"/>
                </a:lnTo>
                <a:lnTo>
                  <a:pt x="344" y="125"/>
                </a:lnTo>
                <a:lnTo>
                  <a:pt x="327" y="121"/>
                </a:lnTo>
                <a:lnTo>
                  <a:pt x="311" y="117"/>
                </a:lnTo>
                <a:lnTo>
                  <a:pt x="295" y="112"/>
                </a:lnTo>
                <a:lnTo>
                  <a:pt x="278" y="106"/>
                </a:lnTo>
                <a:lnTo>
                  <a:pt x="262" y="100"/>
                </a:lnTo>
                <a:lnTo>
                  <a:pt x="246" y="93"/>
                </a:lnTo>
                <a:lnTo>
                  <a:pt x="229" y="86"/>
                </a:lnTo>
                <a:lnTo>
                  <a:pt x="213" y="79"/>
                </a:lnTo>
                <a:lnTo>
                  <a:pt x="196" y="72"/>
                </a:lnTo>
                <a:lnTo>
                  <a:pt x="180" y="64"/>
                </a:lnTo>
                <a:lnTo>
                  <a:pt x="164" y="57"/>
                </a:lnTo>
                <a:lnTo>
                  <a:pt x="147" y="50"/>
                </a:lnTo>
                <a:lnTo>
                  <a:pt x="131" y="44"/>
                </a:lnTo>
                <a:lnTo>
                  <a:pt x="114" y="37"/>
                </a:lnTo>
                <a:lnTo>
                  <a:pt x="98" y="32"/>
                </a:lnTo>
                <a:lnTo>
                  <a:pt x="82" y="26"/>
                </a:lnTo>
                <a:lnTo>
                  <a:pt x="65" y="22"/>
                </a:lnTo>
                <a:lnTo>
                  <a:pt x="49" y="18"/>
                </a:lnTo>
                <a:lnTo>
                  <a:pt x="33" y="16"/>
                </a:lnTo>
                <a:lnTo>
                  <a:pt x="16" y="14"/>
                </a:lnTo>
                <a:lnTo>
                  <a:pt x="0" y="13"/>
                </a:lnTo>
                <a:close/>
              </a:path>
            </a:pathLst>
          </a:custGeom>
          <a:solidFill>
            <a:srgbClr val="0081E2">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Freeform 28"/>
          <p:cNvSpPr/>
          <p:nvPr/>
        </p:nvSpPr>
        <p:spPr>
          <a:xfrm>
            <a:off x="2057400" y="4448175"/>
            <a:ext cx="3743325" cy="1543050"/>
          </a:xfrm>
          <a:custGeom>
            <a:avLst/>
            <a:gdLst/>
            <a:ahLst/>
            <a:cxnLst/>
            <a:rect l="l" t="t" r="r" b="b"/>
            <a:pathLst>
              <a:path w="393" h="162">
                <a:moveTo>
                  <a:pt x="0" y="0"/>
                </a:moveTo>
                <a:lnTo>
                  <a:pt x="16" y="1"/>
                </a:lnTo>
                <a:lnTo>
                  <a:pt x="33" y="3"/>
                </a:lnTo>
                <a:lnTo>
                  <a:pt x="49" y="7"/>
                </a:lnTo>
                <a:lnTo>
                  <a:pt x="65" y="11"/>
                </a:lnTo>
                <a:lnTo>
                  <a:pt x="82" y="17"/>
                </a:lnTo>
                <a:lnTo>
                  <a:pt x="98" y="24"/>
                </a:lnTo>
                <a:lnTo>
                  <a:pt x="114" y="31"/>
                </a:lnTo>
                <a:lnTo>
                  <a:pt x="131" y="39"/>
                </a:lnTo>
                <a:lnTo>
                  <a:pt x="147" y="47"/>
                </a:lnTo>
                <a:lnTo>
                  <a:pt x="164" y="56"/>
                </a:lnTo>
                <a:lnTo>
                  <a:pt x="180" y="65"/>
                </a:lnTo>
                <a:lnTo>
                  <a:pt x="196" y="75"/>
                </a:lnTo>
                <a:lnTo>
                  <a:pt x="213" y="84"/>
                </a:lnTo>
                <a:lnTo>
                  <a:pt x="229" y="93"/>
                </a:lnTo>
                <a:lnTo>
                  <a:pt x="246" y="102"/>
                </a:lnTo>
                <a:lnTo>
                  <a:pt x="262" y="110"/>
                </a:lnTo>
                <a:lnTo>
                  <a:pt x="278" y="118"/>
                </a:lnTo>
                <a:lnTo>
                  <a:pt x="295" y="126"/>
                </a:lnTo>
                <a:lnTo>
                  <a:pt x="311" y="132"/>
                </a:lnTo>
                <a:lnTo>
                  <a:pt x="327" y="138"/>
                </a:lnTo>
                <a:lnTo>
                  <a:pt x="344" y="142"/>
                </a:lnTo>
                <a:lnTo>
                  <a:pt x="360" y="146"/>
                </a:lnTo>
                <a:lnTo>
                  <a:pt x="377" y="148"/>
                </a:lnTo>
                <a:lnTo>
                  <a:pt x="393" y="149"/>
                </a:lnTo>
                <a:lnTo>
                  <a:pt x="393" y="162"/>
                </a:lnTo>
                <a:lnTo>
                  <a:pt x="377" y="161"/>
                </a:lnTo>
                <a:lnTo>
                  <a:pt x="360" y="159"/>
                </a:lnTo>
                <a:lnTo>
                  <a:pt x="344" y="155"/>
                </a:lnTo>
                <a:lnTo>
                  <a:pt x="327" y="151"/>
                </a:lnTo>
                <a:lnTo>
                  <a:pt x="311" y="145"/>
                </a:lnTo>
                <a:lnTo>
                  <a:pt x="295" y="138"/>
                </a:lnTo>
                <a:lnTo>
                  <a:pt x="278" y="131"/>
                </a:lnTo>
                <a:lnTo>
                  <a:pt x="262" y="123"/>
                </a:lnTo>
                <a:lnTo>
                  <a:pt x="246" y="115"/>
                </a:lnTo>
                <a:lnTo>
                  <a:pt x="229" y="106"/>
                </a:lnTo>
                <a:lnTo>
                  <a:pt x="213" y="97"/>
                </a:lnTo>
                <a:lnTo>
                  <a:pt x="196" y="87"/>
                </a:lnTo>
                <a:lnTo>
                  <a:pt x="180" y="78"/>
                </a:lnTo>
                <a:lnTo>
                  <a:pt x="164" y="69"/>
                </a:lnTo>
                <a:lnTo>
                  <a:pt x="147" y="60"/>
                </a:lnTo>
                <a:lnTo>
                  <a:pt x="131" y="52"/>
                </a:lnTo>
                <a:lnTo>
                  <a:pt x="114" y="44"/>
                </a:lnTo>
                <a:lnTo>
                  <a:pt x="98" y="36"/>
                </a:lnTo>
                <a:lnTo>
                  <a:pt x="82" y="30"/>
                </a:lnTo>
                <a:lnTo>
                  <a:pt x="65" y="24"/>
                </a:lnTo>
                <a:lnTo>
                  <a:pt x="49" y="20"/>
                </a:lnTo>
                <a:lnTo>
                  <a:pt x="33" y="16"/>
                </a:lnTo>
                <a:lnTo>
                  <a:pt x="16" y="14"/>
                </a:lnTo>
                <a:lnTo>
                  <a:pt x="0" y="13"/>
                </a:lnTo>
                <a:close/>
              </a:path>
            </a:pathLst>
          </a:custGeom>
          <a:solidFill>
            <a:srgbClr val="0081E2">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Freeform 29"/>
          <p:cNvSpPr/>
          <p:nvPr/>
        </p:nvSpPr>
        <p:spPr>
          <a:xfrm>
            <a:off x="2057400" y="4572000"/>
            <a:ext cx="3743325" cy="1838325"/>
          </a:xfrm>
          <a:custGeom>
            <a:avLst/>
            <a:gdLst/>
            <a:ahLst/>
            <a:cxnLst/>
            <a:rect l="l" t="t" r="r" b="b"/>
            <a:pathLst>
              <a:path w="393" h="193">
                <a:moveTo>
                  <a:pt x="0" y="0"/>
                </a:moveTo>
                <a:lnTo>
                  <a:pt x="16" y="1"/>
                </a:lnTo>
                <a:lnTo>
                  <a:pt x="33" y="4"/>
                </a:lnTo>
                <a:lnTo>
                  <a:pt x="49" y="8"/>
                </a:lnTo>
                <a:lnTo>
                  <a:pt x="65" y="14"/>
                </a:lnTo>
                <a:lnTo>
                  <a:pt x="82" y="20"/>
                </a:lnTo>
                <a:lnTo>
                  <a:pt x="98" y="28"/>
                </a:lnTo>
                <a:lnTo>
                  <a:pt x="114" y="37"/>
                </a:lnTo>
                <a:lnTo>
                  <a:pt x="131" y="47"/>
                </a:lnTo>
                <a:lnTo>
                  <a:pt x="147" y="57"/>
                </a:lnTo>
                <a:lnTo>
                  <a:pt x="164" y="68"/>
                </a:lnTo>
                <a:lnTo>
                  <a:pt x="180" y="79"/>
                </a:lnTo>
                <a:lnTo>
                  <a:pt x="196" y="90"/>
                </a:lnTo>
                <a:lnTo>
                  <a:pt x="213" y="101"/>
                </a:lnTo>
                <a:lnTo>
                  <a:pt x="229" y="113"/>
                </a:lnTo>
                <a:lnTo>
                  <a:pt x="246" y="123"/>
                </a:lnTo>
                <a:lnTo>
                  <a:pt x="262" y="134"/>
                </a:lnTo>
                <a:lnTo>
                  <a:pt x="278" y="143"/>
                </a:lnTo>
                <a:lnTo>
                  <a:pt x="295" y="152"/>
                </a:lnTo>
                <a:lnTo>
                  <a:pt x="311" y="160"/>
                </a:lnTo>
                <a:lnTo>
                  <a:pt x="327" y="167"/>
                </a:lnTo>
                <a:lnTo>
                  <a:pt x="344" y="173"/>
                </a:lnTo>
                <a:lnTo>
                  <a:pt x="360" y="177"/>
                </a:lnTo>
                <a:lnTo>
                  <a:pt x="377" y="179"/>
                </a:lnTo>
                <a:lnTo>
                  <a:pt x="393" y="180"/>
                </a:lnTo>
                <a:lnTo>
                  <a:pt x="393" y="193"/>
                </a:lnTo>
                <a:lnTo>
                  <a:pt x="377" y="192"/>
                </a:lnTo>
                <a:lnTo>
                  <a:pt x="360" y="190"/>
                </a:lnTo>
                <a:lnTo>
                  <a:pt x="344" y="185"/>
                </a:lnTo>
                <a:lnTo>
                  <a:pt x="327" y="180"/>
                </a:lnTo>
                <a:lnTo>
                  <a:pt x="311" y="173"/>
                </a:lnTo>
                <a:lnTo>
                  <a:pt x="295" y="165"/>
                </a:lnTo>
                <a:lnTo>
                  <a:pt x="278" y="156"/>
                </a:lnTo>
                <a:lnTo>
                  <a:pt x="262" y="146"/>
                </a:lnTo>
                <a:lnTo>
                  <a:pt x="246" y="136"/>
                </a:lnTo>
                <a:lnTo>
                  <a:pt x="229" y="125"/>
                </a:lnTo>
                <a:lnTo>
                  <a:pt x="213" y="114"/>
                </a:lnTo>
                <a:lnTo>
                  <a:pt x="196" y="103"/>
                </a:lnTo>
                <a:lnTo>
                  <a:pt x="180" y="92"/>
                </a:lnTo>
                <a:lnTo>
                  <a:pt x="164" y="81"/>
                </a:lnTo>
                <a:lnTo>
                  <a:pt x="147" y="70"/>
                </a:lnTo>
                <a:lnTo>
                  <a:pt x="131" y="60"/>
                </a:lnTo>
                <a:lnTo>
                  <a:pt x="114" y="50"/>
                </a:lnTo>
                <a:lnTo>
                  <a:pt x="98" y="41"/>
                </a:lnTo>
                <a:lnTo>
                  <a:pt x="82" y="33"/>
                </a:lnTo>
                <a:lnTo>
                  <a:pt x="65" y="26"/>
                </a:lnTo>
                <a:lnTo>
                  <a:pt x="49" y="21"/>
                </a:lnTo>
                <a:lnTo>
                  <a:pt x="33" y="17"/>
                </a:lnTo>
                <a:lnTo>
                  <a:pt x="16" y="14"/>
                </a:lnTo>
                <a:lnTo>
                  <a:pt x="0" y="13"/>
                </a:lnTo>
                <a:close/>
              </a:path>
            </a:pathLst>
          </a:custGeom>
          <a:solidFill>
            <a:srgbClr val="0081E2">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Freeform 30"/>
          <p:cNvSpPr/>
          <p:nvPr/>
        </p:nvSpPr>
        <p:spPr>
          <a:xfrm>
            <a:off x="2057400" y="1895475"/>
            <a:ext cx="3743325" cy="3152775"/>
          </a:xfrm>
          <a:custGeom>
            <a:avLst/>
            <a:gdLst/>
            <a:ahLst/>
            <a:cxnLst/>
            <a:rect l="l" t="t" r="r" b="b"/>
            <a:pathLst>
              <a:path w="393" h="331">
                <a:moveTo>
                  <a:pt x="0" y="300"/>
                </a:moveTo>
                <a:lnTo>
                  <a:pt x="16" y="298"/>
                </a:lnTo>
                <a:lnTo>
                  <a:pt x="33" y="294"/>
                </a:lnTo>
                <a:lnTo>
                  <a:pt x="49" y="287"/>
                </a:lnTo>
                <a:lnTo>
                  <a:pt x="65" y="278"/>
                </a:lnTo>
                <a:lnTo>
                  <a:pt x="82" y="266"/>
                </a:lnTo>
                <a:lnTo>
                  <a:pt x="98" y="253"/>
                </a:lnTo>
                <a:lnTo>
                  <a:pt x="114" y="238"/>
                </a:lnTo>
                <a:lnTo>
                  <a:pt x="131" y="222"/>
                </a:lnTo>
                <a:lnTo>
                  <a:pt x="147" y="205"/>
                </a:lnTo>
                <a:lnTo>
                  <a:pt x="164" y="187"/>
                </a:lnTo>
                <a:lnTo>
                  <a:pt x="180" y="169"/>
                </a:lnTo>
                <a:lnTo>
                  <a:pt x="196" y="150"/>
                </a:lnTo>
                <a:lnTo>
                  <a:pt x="213" y="131"/>
                </a:lnTo>
                <a:lnTo>
                  <a:pt x="229" y="113"/>
                </a:lnTo>
                <a:lnTo>
                  <a:pt x="246" y="95"/>
                </a:lnTo>
                <a:lnTo>
                  <a:pt x="262" y="78"/>
                </a:lnTo>
                <a:lnTo>
                  <a:pt x="278" y="62"/>
                </a:lnTo>
                <a:lnTo>
                  <a:pt x="295" y="47"/>
                </a:lnTo>
                <a:lnTo>
                  <a:pt x="311" y="34"/>
                </a:lnTo>
                <a:lnTo>
                  <a:pt x="327" y="22"/>
                </a:lnTo>
                <a:lnTo>
                  <a:pt x="344" y="13"/>
                </a:lnTo>
                <a:lnTo>
                  <a:pt x="360" y="6"/>
                </a:lnTo>
                <a:lnTo>
                  <a:pt x="377" y="1"/>
                </a:lnTo>
                <a:lnTo>
                  <a:pt x="393" y="0"/>
                </a:lnTo>
                <a:lnTo>
                  <a:pt x="393" y="31"/>
                </a:lnTo>
                <a:lnTo>
                  <a:pt x="377" y="32"/>
                </a:lnTo>
                <a:lnTo>
                  <a:pt x="360" y="37"/>
                </a:lnTo>
                <a:lnTo>
                  <a:pt x="344" y="44"/>
                </a:lnTo>
                <a:lnTo>
                  <a:pt x="327" y="53"/>
                </a:lnTo>
                <a:lnTo>
                  <a:pt x="311" y="64"/>
                </a:lnTo>
                <a:lnTo>
                  <a:pt x="295" y="78"/>
                </a:lnTo>
                <a:lnTo>
                  <a:pt x="278" y="92"/>
                </a:lnTo>
                <a:lnTo>
                  <a:pt x="262" y="109"/>
                </a:lnTo>
                <a:lnTo>
                  <a:pt x="246" y="126"/>
                </a:lnTo>
                <a:lnTo>
                  <a:pt x="229" y="144"/>
                </a:lnTo>
                <a:lnTo>
                  <a:pt x="213" y="162"/>
                </a:lnTo>
                <a:lnTo>
                  <a:pt x="196" y="181"/>
                </a:lnTo>
                <a:lnTo>
                  <a:pt x="180" y="200"/>
                </a:lnTo>
                <a:lnTo>
                  <a:pt x="164" y="218"/>
                </a:lnTo>
                <a:lnTo>
                  <a:pt x="147" y="236"/>
                </a:lnTo>
                <a:lnTo>
                  <a:pt x="131" y="253"/>
                </a:lnTo>
                <a:lnTo>
                  <a:pt x="114" y="269"/>
                </a:lnTo>
                <a:lnTo>
                  <a:pt x="98" y="284"/>
                </a:lnTo>
                <a:lnTo>
                  <a:pt x="82" y="297"/>
                </a:lnTo>
                <a:lnTo>
                  <a:pt x="65" y="309"/>
                </a:lnTo>
                <a:lnTo>
                  <a:pt x="49" y="318"/>
                </a:lnTo>
                <a:lnTo>
                  <a:pt x="33" y="325"/>
                </a:lnTo>
                <a:lnTo>
                  <a:pt x="16" y="329"/>
                </a:lnTo>
                <a:lnTo>
                  <a:pt x="0" y="331"/>
                </a:lnTo>
                <a:close/>
              </a:path>
            </a:pathLst>
          </a:custGeom>
          <a:solidFill>
            <a:srgbClr val="0E2A5C">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Freeform 31"/>
          <p:cNvSpPr/>
          <p:nvPr/>
        </p:nvSpPr>
        <p:spPr>
          <a:xfrm>
            <a:off x="2057400" y="2562225"/>
            <a:ext cx="3743325" cy="2638425"/>
          </a:xfrm>
          <a:custGeom>
            <a:avLst/>
            <a:gdLst/>
            <a:ahLst/>
            <a:cxnLst/>
            <a:rect l="l" t="t" r="r" b="b"/>
            <a:pathLst>
              <a:path w="393" h="277">
                <a:moveTo>
                  <a:pt x="0" y="261"/>
                </a:moveTo>
                <a:lnTo>
                  <a:pt x="16" y="260"/>
                </a:lnTo>
                <a:lnTo>
                  <a:pt x="33" y="256"/>
                </a:lnTo>
                <a:lnTo>
                  <a:pt x="49" y="250"/>
                </a:lnTo>
                <a:lnTo>
                  <a:pt x="65" y="242"/>
                </a:lnTo>
                <a:lnTo>
                  <a:pt x="82" y="232"/>
                </a:lnTo>
                <a:lnTo>
                  <a:pt x="98" y="220"/>
                </a:lnTo>
                <a:lnTo>
                  <a:pt x="114" y="207"/>
                </a:lnTo>
                <a:lnTo>
                  <a:pt x="131" y="193"/>
                </a:lnTo>
                <a:lnTo>
                  <a:pt x="147" y="178"/>
                </a:lnTo>
                <a:lnTo>
                  <a:pt x="164" y="163"/>
                </a:lnTo>
                <a:lnTo>
                  <a:pt x="180" y="147"/>
                </a:lnTo>
                <a:lnTo>
                  <a:pt x="196" y="130"/>
                </a:lnTo>
                <a:lnTo>
                  <a:pt x="213" y="114"/>
                </a:lnTo>
                <a:lnTo>
                  <a:pt x="229" y="98"/>
                </a:lnTo>
                <a:lnTo>
                  <a:pt x="246" y="82"/>
                </a:lnTo>
                <a:lnTo>
                  <a:pt x="262" y="68"/>
                </a:lnTo>
                <a:lnTo>
                  <a:pt x="278" y="54"/>
                </a:lnTo>
                <a:lnTo>
                  <a:pt x="295" y="41"/>
                </a:lnTo>
                <a:lnTo>
                  <a:pt x="311" y="29"/>
                </a:lnTo>
                <a:lnTo>
                  <a:pt x="327" y="19"/>
                </a:lnTo>
                <a:lnTo>
                  <a:pt x="344" y="11"/>
                </a:lnTo>
                <a:lnTo>
                  <a:pt x="360" y="5"/>
                </a:lnTo>
                <a:lnTo>
                  <a:pt x="377" y="1"/>
                </a:lnTo>
                <a:lnTo>
                  <a:pt x="393" y="0"/>
                </a:lnTo>
                <a:lnTo>
                  <a:pt x="393" y="16"/>
                </a:lnTo>
                <a:lnTo>
                  <a:pt x="377" y="18"/>
                </a:lnTo>
                <a:lnTo>
                  <a:pt x="360" y="21"/>
                </a:lnTo>
                <a:lnTo>
                  <a:pt x="344" y="28"/>
                </a:lnTo>
                <a:lnTo>
                  <a:pt x="327" y="36"/>
                </a:lnTo>
                <a:lnTo>
                  <a:pt x="311" y="46"/>
                </a:lnTo>
                <a:lnTo>
                  <a:pt x="295" y="57"/>
                </a:lnTo>
                <a:lnTo>
                  <a:pt x="278" y="70"/>
                </a:lnTo>
                <a:lnTo>
                  <a:pt x="262" y="84"/>
                </a:lnTo>
                <a:lnTo>
                  <a:pt x="246" y="99"/>
                </a:lnTo>
                <a:lnTo>
                  <a:pt x="229" y="115"/>
                </a:lnTo>
                <a:lnTo>
                  <a:pt x="213" y="131"/>
                </a:lnTo>
                <a:lnTo>
                  <a:pt x="196" y="147"/>
                </a:lnTo>
                <a:lnTo>
                  <a:pt x="180" y="163"/>
                </a:lnTo>
                <a:lnTo>
                  <a:pt x="164" y="179"/>
                </a:lnTo>
                <a:lnTo>
                  <a:pt x="147" y="195"/>
                </a:lnTo>
                <a:lnTo>
                  <a:pt x="131" y="210"/>
                </a:lnTo>
                <a:lnTo>
                  <a:pt x="114" y="224"/>
                </a:lnTo>
                <a:lnTo>
                  <a:pt x="98" y="237"/>
                </a:lnTo>
                <a:lnTo>
                  <a:pt x="82" y="248"/>
                </a:lnTo>
                <a:lnTo>
                  <a:pt x="65" y="258"/>
                </a:lnTo>
                <a:lnTo>
                  <a:pt x="49" y="266"/>
                </a:lnTo>
                <a:lnTo>
                  <a:pt x="33" y="272"/>
                </a:lnTo>
                <a:lnTo>
                  <a:pt x="16" y="276"/>
                </a:lnTo>
                <a:lnTo>
                  <a:pt x="0" y="277"/>
                </a:lnTo>
                <a:close/>
              </a:path>
            </a:pathLst>
          </a:custGeom>
          <a:solidFill>
            <a:srgbClr val="0E2A5C">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Freeform 32"/>
          <p:cNvSpPr/>
          <p:nvPr/>
        </p:nvSpPr>
        <p:spPr>
          <a:xfrm>
            <a:off x="2057400" y="3019425"/>
            <a:ext cx="3743325" cy="2305050"/>
          </a:xfrm>
          <a:custGeom>
            <a:avLst/>
            <a:gdLst/>
            <a:ahLst/>
            <a:cxnLst/>
            <a:rect l="l" t="t" r="r" b="b"/>
            <a:pathLst>
              <a:path w="393" h="242">
                <a:moveTo>
                  <a:pt x="0" y="229"/>
                </a:moveTo>
                <a:lnTo>
                  <a:pt x="16" y="228"/>
                </a:lnTo>
                <a:lnTo>
                  <a:pt x="33" y="225"/>
                </a:lnTo>
                <a:lnTo>
                  <a:pt x="49" y="220"/>
                </a:lnTo>
                <a:lnTo>
                  <a:pt x="65" y="212"/>
                </a:lnTo>
                <a:lnTo>
                  <a:pt x="82" y="204"/>
                </a:lnTo>
                <a:lnTo>
                  <a:pt x="98" y="194"/>
                </a:lnTo>
                <a:lnTo>
                  <a:pt x="114" y="182"/>
                </a:lnTo>
                <a:lnTo>
                  <a:pt x="131" y="170"/>
                </a:lnTo>
                <a:lnTo>
                  <a:pt x="147" y="157"/>
                </a:lnTo>
                <a:lnTo>
                  <a:pt x="164" y="143"/>
                </a:lnTo>
                <a:lnTo>
                  <a:pt x="180" y="129"/>
                </a:lnTo>
                <a:lnTo>
                  <a:pt x="196" y="115"/>
                </a:lnTo>
                <a:lnTo>
                  <a:pt x="213" y="100"/>
                </a:lnTo>
                <a:lnTo>
                  <a:pt x="229" y="86"/>
                </a:lnTo>
                <a:lnTo>
                  <a:pt x="246" y="73"/>
                </a:lnTo>
                <a:lnTo>
                  <a:pt x="262" y="60"/>
                </a:lnTo>
                <a:lnTo>
                  <a:pt x="278" y="47"/>
                </a:lnTo>
                <a:lnTo>
                  <a:pt x="295" y="36"/>
                </a:lnTo>
                <a:lnTo>
                  <a:pt x="311" y="26"/>
                </a:lnTo>
                <a:lnTo>
                  <a:pt x="327" y="17"/>
                </a:lnTo>
                <a:lnTo>
                  <a:pt x="344" y="10"/>
                </a:lnTo>
                <a:lnTo>
                  <a:pt x="360" y="5"/>
                </a:lnTo>
                <a:lnTo>
                  <a:pt x="377" y="1"/>
                </a:lnTo>
                <a:lnTo>
                  <a:pt x="393" y="0"/>
                </a:lnTo>
                <a:lnTo>
                  <a:pt x="393" y="13"/>
                </a:lnTo>
                <a:lnTo>
                  <a:pt x="377" y="14"/>
                </a:lnTo>
                <a:lnTo>
                  <a:pt x="360" y="17"/>
                </a:lnTo>
                <a:lnTo>
                  <a:pt x="344" y="23"/>
                </a:lnTo>
                <a:lnTo>
                  <a:pt x="327" y="30"/>
                </a:lnTo>
                <a:lnTo>
                  <a:pt x="311" y="39"/>
                </a:lnTo>
                <a:lnTo>
                  <a:pt x="295" y="49"/>
                </a:lnTo>
                <a:lnTo>
                  <a:pt x="278" y="60"/>
                </a:lnTo>
                <a:lnTo>
                  <a:pt x="262" y="72"/>
                </a:lnTo>
                <a:lnTo>
                  <a:pt x="246" y="85"/>
                </a:lnTo>
                <a:lnTo>
                  <a:pt x="229" y="99"/>
                </a:lnTo>
                <a:lnTo>
                  <a:pt x="213" y="113"/>
                </a:lnTo>
                <a:lnTo>
                  <a:pt x="196" y="128"/>
                </a:lnTo>
                <a:lnTo>
                  <a:pt x="180" y="142"/>
                </a:lnTo>
                <a:lnTo>
                  <a:pt x="164" y="156"/>
                </a:lnTo>
                <a:lnTo>
                  <a:pt x="147" y="170"/>
                </a:lnTo>
                <a:lnTo>
                  <a:pt x="131" y="183"/>
                </a:lnTo>
                <a:lnTo>
                  <a:pt x="114" y="195"/>
                </a:lnTo>
                <a:lnTo>
                  <a:pt x="98" y="206"/>
                </a:lnTo>
                <a:lnTo>
                  <a:pt x="82" y="217"/>
                </a:lnTo>
                <a:lnTo>
                  <a:pt x="65" y="225"/>
                </a:lnTo>
                <a:lnTo>
                  <a:pt x="49" y="232"/>
                </a:lnTo>
                <a:lnTo>
                  <a:pt x="33" y="238"/>
                </a:lnTo>
                <a:lnTo>
                  <a:pt x="16" y="241"/>
                </a:lnTo>
                <a:lnTo>
                  <a:pt x="0" y="242"/>
                </a:lnTo>
                <a:close/>
              </a:path>
            </a:pathLst>
          </a:custGeom>
          <a:solidFill>
            <a:srgbClr val="0E2A5C">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Freeform 33"/>
          <p:cNvSpPr/>
          <p:nvPr/>
        </p:nvSpPr>
        <p:spPr>
          <a:xfrm>
            <a:off x="2057400" y="3448050"/>
            <a:ext cx="3743325" cy="2000250"/>
          </a:xfrm>
          <a:custGeom>
            <a:avLst/>
            <a:gdLst/>
            <a:ahLst/>
            <a:cxnLst/>
            <a:rect l="l" t="t" r="r" b="b"/>
            <a:pathLst>
              <a:path w="393" h="210">
                <a:moveTo>
                  <a:pt x="0" y="197"/>
                </a:moveTo>
                <a:lnTo>
                  <a:pt x="16" y="196"/>
                </a:lnTo>
                <a:lnTo>
                  <a:pt x="33" y="193"/>
                </a:lnTo>
                <a:lnTo>
                  <a:pt x="49" y="189"/>
                </a:lnTo>
                <a:lnTo>
                  <a:pt x="65" y="183"/>
                </a:lnTo>
                <a:lnTo>
                  <a:pt x="82" y="175"/>
                </a:lnTo>
                <a:lnTo>
                  <a:pt x="98" y="166"/>
                </a:lnTo>
                <a:lnTo>
                  <a:pt x="114" y="157"/>
                </a:lnTo>
                <a:lnTo>
                  <a:pt x="131" y="146"/>
                </a:lnTo>
                <a:lnTo>
                  <a:pt x="147" y="135"/>
                </a:lnTo>
                <a:lnTo>
                  <a:pt x="164" y="123"/>
                </a:lnTo>
                <a:lnTo>
                  <a:pt x="180" y="111"/>
                </a:lnTo>
                <a:lnTo>
                  <a:pt x="196" y="98"/>
                </a:lnTo>
                <a:lnTo>
                  <a:pt x="213" y="86"/>
                </a:lnTo>
                <a:lnTo>
                  <a:pt x="229" y="74"/>
                </a:lnTo>
                <a:lnTo>
                  <a:pt x="246" y="62"/>
                </a:lnTo>
                <a:lnTo>
                  <a:pt x="262" y="51"/>
                </a:lnTo>
                <a:lnTo>
                  <a:pt x="278" y="40"/>
                </a:lnTo>
                <a:lnTo>
                  <a:pt x="295" y="30"/>
                </a:lnTo>
                <a:lnTo>
                  <a:pt x="311" y="22"/>
                </a:lnTo>
                <a:lnTo>
                  <a:pt x="327" y="14"/>
                </a:lnTo>
                <a:lnTo>
                  <a:pt x="344" y="8"/>
                </a:lnTo>
                <a:lnTo>
                  <a:pt x="360" y="3"/>
                </a:lnTo>
                <a:lnTo>
                  <a:pt x="377" y="1"/>
                </a:lnTo>
                <a:lnTo>
                  <a:pt x="393" y="0"/>
                </a:lnTo>
                <a:lnTo>
                  <a:pt x="393" y="12"/>
                </a:lnTo>
                <a:lnTo>
                  <a:pt x="377" y="13"/>
                </a:lnTo>
                <a:lnTo>
                  <a:pt x="360" y="16"/>
                </a:lnTo>
                <a:lnTo>
                  <a:pt x="344" y="21"/>
                </a:lnTo>
                <a:lnTo>
                  <a:pt x="327" y="27"/>
                </a:lnTo>
                <a:lnTo>
                  <a:pt x="311" y="35"/>
                </a:lnTo>
                <a:lnTo>
                  <a:pt x="295" y="43"/>
                </a:lnTo>
                <a:lnTo>
                  <a:pt x="278" y="53"/>
                </a:lnTo>
                <a:lnTo>
                  <a:pt x="262" y="64"/>
                </a:lnTo>
                <a:lnTo>
                  <a:pt x="246" y="75"/>
                </a:lnTo>
                <a:lnTo>
                  <a:pt x="229" y="87"/>
                </a:lnTo>
                <a:lnTo>
                  <a:pt x="213" y="99"/>
                </a:lnTo>
                <a:lnTo>
                  <a:pt x="196" y="111"/>
                </a:lnTo>
                <a:lnTo>
                  <a:pt x="180" y="124"/>
                </a:lnTo>
                <a:lnTo>
                  <a:pt x="164" y="136"/>
                </a:lnTo>
                <a:lnTo>
                  <a:pt x="147" y="148"/>
                </a:lnTo>
                <a:lnTo>
                  <a:pt x="131" y="159"/>
                </a:lnTo>
                <a:lnTo>
                  <a:pt x="114" y="169"/>
                </a:lnTo>
                <a:lnTo>
                  <a:pt x="98" y="179"/>
                </a:lnTo>
                <a:lnTo>
                  <a:pt x="82" y="188"/>
                </a:lnTo>
                <a:lnTo>
                  <a:pt x="65" y="195"/>
                </a:lnTo>
                <a:lnTo>
                  <a:pt x="49" y="202"/>
                </a:lnTo>
                <a:lnTo>
                  <a:pt x="33" y="206"/>
                </a:lnTo>
                <a:lnTo>
                  <a:pt x="16" y="209"/>
                </a:lnTo>
                <a:lnTo>
                  <a:pt x="0" y="210"/>
                </a:lnTo>
                <a:close/>
              </a:path>
            </a:pathLst>
          </a:custGeom>
          <a:solidFill>
            <a:srgbClr val="0E2A5C">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Freeform 34"/>
          <p:cNvSpPr/>
          <p:nvPr/>
        </p:nvSpPr>
        <p:spPr>
          <a:xfrm>
            <a:off x="2057400" y="3867150"/>
            <a:ext cx="3743325" cy="1704975"/>
          </a:xfrm>
          <a:custGeom>
            <a:avLst/>
            <a:gdLst/>
            <a:ahLst/>
            <a:cxnLst/>
            <a:rect l="l" t="t" r="r" b="b"/>
            <a:pathLst>
              <a:path w="393" h="179">
                <a:moveTo>
                  <a:pt x="0" y="166"/>
                </a:moveTo>
                <a:lnTo>
                  <a:pt x="16" y="165"/>
                </a:lnTo>
                <a:lnTo>
                  <a:pt x="33" y="163"/>
                </a:lnTo>
                <a:lnTo>
                  <a:pt x="49" y="159"/>
                </a:lnTo>
                <a:lnTo>
                  <a:pt x="65" y="154"/>
                </a:lnTo>
                <a:lnTo>
                  <a:pt x="82" y="148"/>
                </a:lnTo>
                <a:lnTo>
                  <a:pt x="98" y="140"/>
                </a:lnTo>
                <a:lnTo>
                  <a:pt x="114" y="132"/>
                </a:lnTo>
                <a:lnTo>
                  <a:pt x="131" y="123"/>
                </a:lnTo>
                <a:lnTo>
                  <a:pt x="147" y="114"/>
                </a:lnTo>
                <a:lnTo>
                  <a:pt x="164" y="104"/>
                </a:lnTo>
                <a:lnTo>
                  <a:pt x="180" y="93"/>
                </a:lnTo>
                <a:lnTo>
                  <a:pt x="196" y="83"/>
                </a:lnTo>
                <a:lnTo>
                  <a:pt x="213" y="73"/>
                </a:lnTo>
                <a:lnTo>
                  <a:pt x="229" y="63"/>
                </a:lnTo>
                <a:lnTo>
                  <a:pt x="246" y="53"/>
                </a:lnTo>
                <a:lnTo>
                  <a:pt x="262" y="43"/>
                </a:lnTo>
                <a:lnTo>
                  <a:pt x="278" y="34"/>
                </a:lnTo>
                <a:lnTo>
                  <a:pt x="295" y="26"/>
                </a:lnTo>
                <a:lnTo>
                  <a:pt x="311" y="19"/>
                </a:lnTo>
                <a:lnTo>
                  <a:pt x="327" y="12"/>
                </a:lnTo>
                <a:lnTo>
                  <a:pt x="344" y="7"/>
                </a:lnTo>
                <a:lnTo>
                  <a:pt x="360" y="3"/>
                </a:lnTo>
                <a:lnTo>
                  <a:pt x="377" y="1"/>
                </a:lnTo>
                <a:lnTo>
                  <a:pt x="393" y="0"/>
                </a:lnTo>
                <a:lnTo>
                  <a:pt x="393" y="13"/>
                </a:lnTo>
                <a:lnTo>
                  <a:pt x="377" y="14"/>
                </a:lnTo>
                <a:lnTo>
                  <a:pt x="360" y="16"/>
                </a:lnTo>
                <a:lnTo>
                  <a:pt x="344" y="20"/>
                </a:lnTo>
                <a:lnTo>
                  <a:pt x="327" y="25"/>
                </a:lnTo>
                <a:lnTo>
                  <a:pt x="311" y="32"/>
                </a:lnTo>
                <a:lnTo>
                  <a:pt x="295" y="39"/>
                </a:lnTo>
                <a:lnTo>
                  <a:pt x="278" y="47"/>
                </a:lnTo>
                <a:lnTo>
                  <a:pt x="262" y="56"/>
                </a:lnTo>
                <a:lnTo>
                  <a:pt x="246" y="65"/>
                </a:lnTo>
                <a:lnTo>
                  <a:pt x="229" y="75"/>
                </a:lnTo>
                <a:lnTo>
                  <a:pt x="213" y="86"/>
                </a:lnTo>
                <a:lnTo>
                  <a:pt x="196" y="96"/>
                </a:lnTo>
                <a:lnTo>
                  <a:pt x="180" y="106"/>
                </a:lnTo>
                <a:lnTo>
                  <a:pt x="164" y="117"/>
                </a:lnTo>
                <a:lnTo>
                  <a:pt x="147" y="126"/>
                </a:lnTo>
                <a:lnTo>
                  <a:pt x="131" y="136"/>
                </a:lnTo>
                <a:lnTo>
                  <a:pt x="114" y="145"/>
                </a:lnTo>
                <a:lnTo>
                  <a:pt x="98" y="153"/>
                </a:lnTo>
                <a:lnTo>
                  <a:pt x="82" y="160"/>
                </a:lnTo>
                <a:lnTo>
                  <a:pt x="65" y="167"/>
                </a:lnTo>
                <a:lnTo>
                  <a:pt x="49" y="172"/>
                </a:lnTo>
                <a:lnTo>
                  <a:pt x="33" y="176"/>
                </a:lnTo>
                <a:lnTo>
                  <a:pt x="16" y="178"/>
                </a:lnTo>
                <a:lnTo>
                  <a:pt x="0" y="179"/>
                </a:lnTo>
                <a:close/>
              </a:path>
            </a:pathLst>
          </a:custGeom>
          <a:solidFill>
            <a:srgbClr val="0E2A5C">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Freeform 35"/>
          <p:cNvSpPr/>
          <p:nvPr/>
        </p:nvSpPr>
        <p:spPr>
          <a:xfrm>
            <a:off x="2057400" y="4295775"/>
            <a:ext cx="3743325" cy="1400175"/>
          </a:xfrm>
          <a:custGeom>
            <a:avLst/>
            <a:gdLst/>
            <a:ahLst/>
            <a:cxnLst/>
            <a:rect l="l" t="t" r="r" b="b"/>
            <a:pathLst>
              <a:path w="393" h="147">
                <a:moveTo>
                  <a:pt x="0" y="134"/>
                </a:moveTo>
                <a:lnTo>
                  <a:pt x="16" y="133"/>
                </a:lnTo>
                <a:lnTo>
                  <a:pt x="33" y="131"/>
                </a:lnTo>
                <a:lnTo>
                  <a:pt x="49" y="128"/>
                </a:lnTo>
                <a:lnTo>
                  <a:pt x="65" y="124"/>
                </a:lnTo>
                <a:lnTo>
                  <a:pt x="82" y="119"/>
                </a:lnTo>
                <a:lnTo>
                  <a:pt x="98" y="113"/>
                </a:lnTo>
                <a:lnTo>
                  <a:pt x="114" y="106"/>
                </a:lnTo>
                <a:lnTo>
                  <a:pt x="131" y="99"/>
                </a:lnTo>
                <a:lnTo>
                  <a:pt x="147" y="91"/>
                </a:lnTo>
                <a:lnTo>
                  <a:pt x="164" y="83"/>
                </a:lnTo>
                <a:lnTo>
                  <a:pt x="180" y="75"/>
                </a:lnTo>
                <a:lnTo>
                  <a:pt x="196" y="67"/>
                </a:lnTo>
                <a:lnTo>
                  <a:pt x="213" y="58"/>
                </a:lnTo>
                <a:lnTo>
                  <a:pt x="229" y="50"/>
                </a:lnTo>
                <a:lnTo>
                  <a:pt x="246" y="42"/>
                </a:lnTo>
                <a:lnTo>
                  <a:pt x="262" y="34"/>
                </a:lnTo>
                <a:lnTo>
                  <a:pt x="278" y="27"/>
                </a:lnTo>
                <a:lnTo>
                  <a:pt x="295" y="21"/>
                </a:lnTo>
                <a:lnTo>
                  <a:pt x="311" y="15"/>
                </a:lnTo>
                <a:lnTo>
                  <a:pt x="327" y="10"/>
                </a:lnTo>
                <a:lnTo>
                  <a:pt x="344" y="5"/>
                </a:lnTo>
                <a:lnTo>
                  <a:pt x="360" y="2"/>
                </a:lnTo>
                <a:lnTo>
                  <a:pt x="377" y="0"/>
                </a:lnTo>
                <a:lnTo>
                  <a:pt x="393" y="0"/>
                </a:lnTo>
                <a:lnTo>
                  <a:pt x="393" y="12"/>
                </a:lnTo>
                <a:lnTo>
                  <a:pt x="377" y="13"/>
                </a:lnTo>
                <a:lnTo>
                  <a:pt x="360" y="15"/>
                </a:lnTo>
                <a:lnTo>
                  <a:pt x="344" y="18"/>
                </a:lnTo>
                <a:lnTo>
                  <a:pt x="327" y="22"/>
                </a:lnTo>
                <a:lnTo>
                  <a:pt x="311" y="27"/>
                </a:lnTo>
                <a:lnTo>
                  <a:pt x="295" y="33"/>
                </a:lnTo>
                <a:lnTo>
                  <a:pt x="278" y="40"/>
                </a:lnTo>
                <a:lnTo>
                  <a:pt x="262" y="47"/>
                </a:lnTo>
                <a:lnTo>
                  <a:pt x="246" y="55"/>
                </a:lnTo>
                <a:lnTo>
                  <a:pt x="229" y="63"/>
                </a:lnTo>
                <a:lnTo>
                  <a:pt x="213" y="71"/>
                </a:lnTo>
                <a:lnTo>
                  <a:pt x="196" y="80"/>
                </a:lnTo>
                <a:lnTo>
                  <a:pt x="180" y="88"/>
                </a:lnTo>
                <a:lnTo>
                  <a:pt x="164" y="96"/>
                </a:lnTo>
                <a:lnTo>
                  <a:pt x="147" y="104"/>
                </a:lnTo>
                <a:lnTo>
                  <a:pt x="131" y="112"/>
                </a:lnTo>
                <a:lnTo>
                  <a:pt x="114" y="119"/>
                </a:lnTo>
                <a:lnTo>
                  <a:pt x="98" y="126"/>
                </a:lnTo>
                <a:lnTo>
                  <a:pt x="82" y="132"/>
                </a:lnTo>
                <a:lnTo>
                  <a:pt x="65" y="137"/>
                </a:lnTo>
                <a:lnTo>
                  <a:pt x="49" y="141"/>
                </a:lnTo>
                <a:lnTo>
                  <a:pt x="33" y="144"/>
                </a:lnTo>
                <a:lnTo>
                  <a:pt x="16" y="146"/>
                </a:lnTo>
                <a:lnTo>
                  <a:pt x="0" y="147"/>
                </a:lnTo>
                <a:close/>
              </a:path>
            </a:pathLst>
          </a:custGeom>
          <a:solidFill>
            <a:srgbClr val="0E2A5C">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Freeform 36"/>
          <p:cNvSpPr/>
          <p:nvPr/>
        </p:nvSpPr>
        <p:spPr>
          <a:xfrm>
            <a:off x="2057400" y="4714875"/>
            <a:ext cx="3743325" cy="1104900"/>
          </a:xfrm>
          <a:custGeom>
            <a:avLst/>
            <a:gdLst/>
            <a:ahLst/>
            <a:cxnLst/>
            <a:rect l="l" t="t" r="r" b="b"/>
            <a:pathLst>
              <a:path w="393" h="116">
                <a:moveTo>
                  <a:pt x="0" y="103"/>
                </a:moveTo>
                <a:lnTo>
                  <a:pt x="16" y="102"/>
                </a:lnTo>
                <a:lnTo>
                  <a:pt x="33" y="101"/>
                </a:lnTo>
                <a:lnTo>
                  <a:pt x="49" y="98"/>
                </a:lnTo>
                <a:lnTo>
                  <a:pt x="65" y="95"/>
                </a:lnTo>
                <a:lnTo>
                  <a:pt x="82" y="91"/>
                </a:lnTo>
                <a:lnTo>
                  <a:pt x="98" y="87"/>
                </a:lnTo>
                <a:lnTo>
                  <a:pt x="114" y="82"/>
                </a:lnTo>
                <a:lnTo>
                  <a:pt x="131" y="76"/>
                </a:lnTo>
                <a:lnTo>
                  <a:pt x="147" y="70"/>
                </a:lnTo>
                <a:lnTo>
                  <a:pt x="164" y="64"/>
                </a:lnTo>
                <a:lnTo>
                  <a:pt x="180" y="58"/>
                </a:lnTo>
                <a:lnTo>
                  <a:pt x="196" y="51"/>
                </a:lnTo>
                <a:lnTo>
                  <a:pt x="213" y="45"/>
                </a:lnTo>
                <a:lnTo>
                  <a:pt x="229" y="39"/>
                </a:lnTo>
                <a:lnTo>
                  <a:pt x="246" y="33"/>
                </a:lnTo>
                <a:lnTo>
                  <a:pt x="262" y="27"/>
                </a:lnTo>
                <a:lnTo>
                  <a:pt x="278" y="21"/>
                </a:lnTo>
                <a:lnTo>
                  <a:pt x="295" y="16"/>
                </a:lnTo>
                <a:lnTo>
                  <a:pt x="311" y="12"/>
                </a:lnTo>
                <a:lnTo>
                  <a:pt x="327" y="8"/>
                </a:lnTo>
                <a:lnTo>
                  <a:pt x="344" y="5"/>
                </a:lnTo>
                <a:lnTo>
                  <a:pt x="360" y="2"/>
                </a:lnTo>
                <a:lnTo>
                  <a:pt x="377" y="1"/>
                </a:lnTo>
                <a:lnTo>
                  <a:pt x="393" y="0"/>
                </a:lnTo>
                <a:lnTo>
                  <a:pt x="393" y="13"/>
                </a:lnTo>
                <a:lnTo>
                  <a:pt x="377" y="13"/>
                </a:lnTo>
                <a:lnTo>
                  <a:pt x="360" y="15"/>
                </a:lnTo>
                <a:lnTo>
                  <a:pt x="344" y="17"/>
                </a:lnTo>
                <a:lnTo>
                  <a:pt x="327" y="21"/>
                </a:lnTo>
                <a:lnTo>
                  <a:pt x="311" y="24"/>
                </a:lnTo>
                <a:lnTo>
                  <a:pt x="295" y="29"/>
                </a:lnTo>
                <a:lnTo>
                  <a:pt x="278" y="34"/>
                </a:lnTo>
                <a:lnTo>
                  <a:pt x="262" y="40"/>
                </a:lnTo>
                <a:lnTo>
                  <a:pt x="246" y="45"/>
                </a:lnTo>
                <a:lnTo>
                  <a:pt x="229" y="52"/>
                </a:lnTo>
                <a:lnTo>
                  <a:pt x="213" y="58"/>
                </a:lnTo>
                <a:lnTo>
                  <a:pt x="196" y="64"/>
                </a:lnTo>
                <a:lnTo>
                  <a:pt x="180" y="71"/>
                </a:lnTo>
                <a:lnTo>
                  <a:pt x="164" y="77"/>
                </a:lnTo>
                <a:lnTo>
                  <a:pt x="147" y="83"/>
                </a:lnTo>
                <a:lnTo>
                  <a:pt x="131" y="89"/>
                </a:lnTo>
                <a:lnTo>
                  <a:pt x="114" y="95"/>
                </a:lnTo>
                <a:lnTo>
                  <a:pt x="98" y="100"/>
                </a:lnTo>
                <a:lnTo>
                  <a:pt x="82" y="104"/>
                </a:lnTo>
                <a:lnTo>
                  <a:pt x="65" y="108"/>
                </a:lnTo>
                <a:lnTo>
                  <a:pt x="49" y="111"/>
                </a:lnTo>
                <a:lnTo>
                  <a:pt x="33" y="114"/>
                </a:lnTo>
                <a:lnTo>
                  <a:pt x="16" y="115"/>
                </a:lnTo>
                <a:lnTo>
                  <a:pt x="0" y="116"/>
                </a:lnTo>
                <a:close/>
              </a:path>
            </a:pathLst>
          </a:custGeom>
          <a:solidFill>
            <a:srgbClr val="0E2A5C">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Freeform 37"/>
          <p:cNvSpPr/>
          <p:nvPr/>
        </p:nvSpPr>
        <p:spPr>
          <a:xfrm>
            <a:off x="2057400" y="5143500"/>
            <a:ext cx="3743325" cy="790575"/>
          </a:xfrm>
          <a:custGeom>
            <a:avLst/>
            <a:gdLst/>
            <a:ahLst/>
            <a:cxnLst/>
            <a:rect l="l" t="t" r="r" b="b"/>
            <a:pathLst>
              <a:path w="393" h="83">
                <a:moveTo>
                  <a:pt x="0" y="71"/>
                </a:moveTo>
                <a:lnTo>
                  <a:pt x="16" y="70"/>
                </a:lnTo>
                <a:lnTo>
                  <a:pt x="33" y="69"/>
                </a:lnTo>
                <a:lnTo>
                  <a:pt x="49" y="68"/>
                </a:lnTo>
                <a:lnTo>
                  <a:pt x="65" y="65"/>
                </a:lnTo>
                <a:lnTo>
                  <a:pt x="82" y="63"/>
                </a:lnTo>
                <a:lnTo>
                  <a:pt x="98" y="60"/>
                </a:lnTo>
                <a:lnTo>
                  <a:pt x="114" y="56"/>
                </a:lnTo>
                <a:lnTo>
                  <a:pt x="131" y="52"/>
                </a:lnTo>
                <a:lnTo>
                  <a:pt x="147" y="48"/>
                </a:lnTo>
                <a:lnTo>
                  <a:pt x="164" y="44"/>
                </a:lnTo>
                <a:lnTo>
                  <a:pt x="180" y="40"/>
                </a:lnTo>
                <a:lnTo>
                  <a:pt x="196" y="35"/>
                </a:lnTo>
                <a:lnTo>
                  <a:pt x="213" y="31"/>
                </a:lnTo>
                <a:lnTo>
                  <a:pt x="229" y="26"/>
                </a:lnTo>
                <a:lnTo>
                  <a:pt x="246" y="22"/>
                </a:lnTo>
                <a:lnTo>
                  <a:pt x="262" y="18"/>
                </a:lnTo>
                <a:lnTo>
                  <a:pt x="278" y="14"/>
                </a:lnTo>
                <a:lnTo>
                  <a:pt x="295" y="11"/>
                </a:lnTo>
                <a:lnTo>
                  <a:pt x="311" y="8"/>
                </a:lnTo>
                <a:lnTo>
                  <a:pt x="327" y="5"/>
                </a:lnTo>
                <a:lnTo>
                  <a:pt x="344" y="3"/>
                </a:lnTo>
                <a:lnTo>
                  <a:pt x="360" y="1"/>
                </a:lnTo>
                <a:lnTo>
                  <a:pt x="377" y="0"/>
                </a:lnTo>
                <a:lnTo>
                  <a:pt x="393" y="0"/>
                </a:lnTo>
                <a:lnTo>
                  <a:pt x="393" y="12"/>
                </a:lnTo>
                <a:lnTo>
                  <a:pt x="377" y="13"/>
                </a:lnTo>
                <a:lnTo>
                  <a:pt x="360" y="14"/>
                </a:lnTo>
                <a:lnTo>
                  <a:pt x="344" y="16"/>
                </a:lnTo>
                <a:lnTo>
                  <a:pt x="327" y="18"/>
                </a:lnTo>
                <a:lnTo>
                  <a:pt x="311" y="20"/>
                </a:lnTo>
                <a:lnTo>
                  <a:pt x="295" y="24"/>
                </a:lnTo>
                <a:lnTo>
                  <a:pt x="278" y="27"/>
                </a:lnTo>
                <a:lnTo>
                  <a:pt x="262" y="31"/>
                </a:lnTo>
                <a:lnTo>
                  <a:pt x="246" y="35"/>
                </a:lnTo>
                <a:lnTo>
                  <a:pt x="229" y="39"/>
                </a:lnTo>
                <a:lnTo>
                  <a:pt x="213" y="44"/>
                </a:lnTo>
                <a:lnTo>
                  <a:pt x="196" y="48"/>
                </a:lnTo>
                <a:lnTo>
                  <a:pt x="180" y="52"/>
                </a:lnTo>
                <a:lnTo>
                  <a:pt x="164" y="57"/>
                </a:lnTo>
                <a:lnTo>
                  <a:pt x="147" y="61"/>
                </a:lnTo>
                <a:lnTo>
                  <a:pt x="131" y="65"/>
                </a:lnTo>
                <a:lnTo>
                  <a:pt x="114" y="69"/>
                </a:lnTo>
                <a:lnTo>
                  <a:pt x="98" y="72"/>
                </a:lnTo>
                <a:lnTo>
                  <a:pt x="82" y="76"/>
                </a:lnTo>
                <a:lnTo>
                  <a:pt x="65" y="78"/>
                </a:lnTo>
                <a:lnTo>
                  <a:pt x="49" y="80"/>
                </a:lnTo>
                <a:lnTo>
                  <a:pt x="33" y="82"/>
                </a:lnTo>
                <a:lnTo>
                  <a:pt x="16" y="83"/>
                </a:lnTo>
                <a:lnTo>
                  <a:pt x="0" y="83"/>
                </a:lnTo>
                <a:close/>
              </a:path>
            </a:pathLst>
          </a:custGeom>
          <a:solidFill>
            <a:srgbClr val="0E2A5C">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Freeform 38"/>
          <p:cNvSpPr/>
          <p:nvPr/>
        </p:nvSpPr>
        <p:spPr>
          <a:xfrm>
            <a:off x="2057400" y="5562600"/>
            <a:ext cx="3743325" cy="495300"/>
          </a:xfrm>
          <a:custGeom>
            <a:avLst/>
            <a:gdLst/>
            <a:ahLst/>
            <a:cxnLst/>
            <a:rect l="l" t="t" r="r" b="b"/>
            <a:pathLst>
              <a:path w="393" h="52">
                <a:moveTo>
                  <a:pt x="0" y="39"/>
                </a:moveTo>
                <a:lnTo>
                  <a:pt x="16" y="39"/>
                </a:lnTo>
                <a:lnTo>
                  <a:pt x="33" y="39"/>
                </a:lnTo>
                <a:lnTo>
                  <a:pt x="49" y="38"/>
                </a:lnTo>
                <a:lnTo>
                  <a:pt x="65" y="37"/>
                </a:lnTo>
                <a:lnTo>
                  <a:pt x="82" y="35"/>
                </a:lnTo>
                <a:lnTo>
                  <a:pt x="98" y="33"/>
                </a:lnTo>
                <a:lnTo>
                  <a:pt x="114" y="31"/>
                </a:lnTo>
                <a:lnTo>
                  <a:pt x="131" y="29"/>
                </a:lnTo>
                <a:lnTo>
                  <a:pt x="147" y="27"/>
                </a:lnTo>
                <a:lnTo>
                  <a:pt x="164" y="25"/>
                </a:lnTo>
                <a:lnTo>
                  <a:pt x="180" y="22"/>
                </a:lnTo>
                <a:lnTo>
                  <a:pt x="196" y="20"/>
                </a:lnTo>
                <a:lnTo>
                  <a:pt x="213" y="17"/>
                </a:lnTo>
                <a:lnTo>
                  <a:pt x="229" y="15"/>
                </a:lnTo>
                <a:lnTo>
                  <a:pt x="246" y="13"/>
                </a:lnTo>
                <a:lnTo>
                  <a:pt x="262" y="10"/>
                </a:lnTo>
                <a:lnTo>
                  <a:pt x="278" y="8"/>
                </a:lnTo>
                <a:lnTo>
                  <a:pt x="295" y="6"/>
                </a:lnTo>
                <a:lnTo>
                  <a:pt x="311" y="5"/>
                </a:lnTo>
                <a:lnTo>
                  <a:pt x="327" y="3"/>
                </a:lnTo>
                <a:lnTo>
                  <a:pt x="344" y="2"/>
                </a:lnTo>
                <a:lnTo>
                  <a:pt x="360" y="1"/>
                </a:lnTo>
                <a:lnTo>
                  <a:pt x="377" y="0"/>
                </a:lnTo>
                <a:lnTo>
                  <a:pt x="393" y="0"/>
                </a:lnTo>
                <a:lnTo>
                  <a:pt x="393" y="13"/>
                </a:lnTo>
                <a:lnTo>
                  <a:pt x="377" y="13"/>
                </a:lnTo>
                <a:lnTo>
                  <a:pt x="360" y="14"/>
                </a:lnTo>
                <a:lnTo>
                  <a:pt x="344" y="15"/>
                </a:lnTo>
                <a:lnTo>
                  <a:pt x="327" y="16"/>
                </a:lnTo>
                <a:lnTo>
                  <a:pt x="311" y="17"/>
                </a:lnTo>
                <a:lnTo>
                  <a:pt x="295" y="19"/>
                </a:lnTo>
                <a:lnTo>
                  <a:pt x="278" y="21"/>
                </a:lnTo>
                <a:lnTo>
                  <a:pt x="262" y="23"/>
                </a:lnTo>
                <a:lnTo>
                  <a:pt x="246" y="25"/>
                </a:lnTo>
                <a:lnTo>
                  <a:pt x="229" y="28"/>
                </a:lnTo>
                <a:lnTo>
                  <a:pt x="213" y="30"/>
                </a:lnTo>
                <a:lnTo>
                  <a:pt x="196" y="33"/>
                </a:lnTo>
                <a:lnTo>
                  <a:pt x="180" y="35"/>
                </a:lnTo>
                <a:lnTo>
                  <a:pt x="164" y="38"/>
                </a:lnTo>
                <a:lnTo>
                  <a:pt x="147" y="40"/>
                </a:lnTo>
                <a:lnTo>
                  <a:pt x="131" y="42"/>
                </a:lnTo>
                <a:lnTo>
                  <a:pt x="114" y="44"/>
                </a:lnTo>
                <a:lnTo>
                  <a:pt x="98" y="46"/>
                </a:lnTo>
                <a:lnTo>
                  <a:pt x="82" y="48"/>
                </a:lnTo>
                <a:lnTo>
                  <a:pt x="65" y="49"/>
                </a:lnTo>
                <a:lnTo>
                  <a:pt x="49" y="51"/>
                </a:lnTo>
                <a:lnTo>
                  <a:pt x="33" y="52"/>
                </a:lnTo>
                <a:lnTo>
                  <a:pt x="16" y="52"/>
                </a:lnTo>
                <a:lnTo>
                  <a:pt x="0" y="52"/>
                </a:lnTo>
                <a:close/>
              </a:path>
            </a:pathLst>
          </a:custGeom>
          <a:solidFill>
            <a:srgbClr val="0E2A5C">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Freeform 39"/>
          <p:cNvSpPr/>
          <p:nvPr/>
        </p:nvSpPr>
        <p:spPr>
          <a:xfrm>
            <a:off x="2057400" y="5991225"/>
            <a:ext cx="3743325" cy="190500"/>
          </a:xfrm>
          <a:custGeom>
            <a:avLst/>
            <a:gdLst/>
            <a:ahLst/>
            <a:cxnLst/>
            <a:rect l="l" t="t" r="r" b="b"/>
            <a:pathLst>
              <a:path w="393" h="20">
                <a:moveTo>
                  <a:pt x="0" y="7"/>
                </a:moveTo>
                <a:lnTo>
                  <a:pt x="16" y="7"/>
                </a:lnTo>
                <a:lnTo>
                  <a:pt x="33" y="7"/>
                </a:lnTo>
                <a:lnTo>
                  <a:pt x="49" y="7"/>
                </a:lnTo>
                <a:lnTo>
                  <a:pt x="65" y="7"/>
                </a:lnTo>
                <a:lnTo>
                  <a:pt x="82" y="6"/>
                </a:lnTo>
                <a:lnTo>
                  <a:pt x="98" y="6"/>
                </a:lnTo>
                <a:lnTo>
                  <a:pt x="114" y="6"/>
                </a:lnTo>
                <a:lnTo>
                  <a:pt x="131" y="5"/>
                </a:lnTo>
                <a:lnTo>
                  <a:pt x="147" y="5"/>
                </a:lnTo>
                <a:lnTo>
                  <a:pt x="164" y="4"/>
                </a:lnTo>
                <a:lnTo>
                  <a:pt x="180" y="4"/>
                </a:lnTo>
                <a:lnTo>
                  <a:pt x="196" y="3"/>
                </a:lnTo>
                <a:lnTo>
                  <a:pt x="213" y="3"/>
                </a:lnTo>
                <a:lnTo>
                  <a:pt x="229" y="3"/>
                </a:lnTo>
                <a:lnTo>
                  <a:pt x="246" y="2"/>
                </a:lnTo>
                <a:lnTo>
                  <a:pt x="262" y="2"/>
                </a:lnTo>
                <a:lnTo>
                  <a:pt x="278" y="1"/>
                </a:lnTo>
                <a:lnTo>
                  <a:pt x="295" y="1"/>
                </a:lnTo>
                <a:lnTo>
                  <a:pt x="311" y="1"/>
                </a:lnTo>
                <a:lnTo>
                  <a:pt x="327" y="0"/>
                </a:lnTo>
                <a:lnTo>
                  <a:pt x="344" y="0"/>
                </a:lnTo>
                <a:lnTo>
                  <a:pt x="360" y="0"/>
                </a:lnTo>
                <a:lnTo>
                  <a:pt x="377" y="0"/>
                </a:lnTo>
                <a:lnTo>
                  <a:pt x="393" y="0"/>
                </a:lnTo>
                <a:lnTo>
                  <a:pt x="393" y="12"/>
                </a:lnTo>
                <a:lnTo>
                  <a:pt x="377" y="13"/>
                </a:lnTo>
                <a:lnTo>
                  <a:pt x="360" y="13"/>
                </a:lnTo>
                <a:lnTo>
                  <a:pt x="344" y="13"/>
                </a:lnTo>
                <a:lnTo>
                  <a:pt x="327" y="13"/>
                </a:lnTo>
                <a:lnTo>
                  <a:pt x="311" y="13"/>
                </a:lnTo>
                <a:lnTo>
                  <a:pt x="295" y="14"/>
                </a:lnTo>
                <a:lnTo>
                  <a:pt x="278" y="14"/>
                </a:lnTo>
                <a:lnTo>
                  <a:pt x="262" y="14"/>
                </a:lnTo>
                <a:lnTo>
                  <a:pt x="246" y="15"/>
                </a:lnTo>
                <a:lnTo>
                  <a:pt x="229" y="15"/>
                </a:lnTo>
                <a:lnTo>
                  <a:pt x="213" y="16"/>
                </a:lnTo>
                <a:lnTo>
                  <a:pt x="196" y="16"/>
                </a:lnTo>
                <a:lnTo>
                  <a:pt x="180" y="17"/>
                </a:lnTo>
                <a:lnTo>
                  <a:pt x="164" y="17"/>
                </a:lnTo>
                <a:lnTo>
                  <a:pt x="147" y="18"/>
                </a:lnTo>
                <a:lnTo>
                  <a:pt x="131" y="18"/>
                </a:lnTo>
                <a:lnTo>
                  <a:pt x="114" y="19"/>
                </a:lnTo>
                <a:lnTo>
                  <a:pt x="98" y="19"/>
                </a:lnTo>
                <a:lnTo>
                  <a:pt x="82" y="19"/>
                </a:lnTo>
                <a:lnTo>
                  <a:pt x="65" y="20"/>
                </a:lnTo>
                <a:lnTo>
                  <a:pt x="49" y="20"/>
                </a:lnTo>
                <a:lnTo>
                  <a:pt x="33" y="20"/>
                </a:lnTo>
                <a:lnTo>
                  <a:pt x="16" y="20"/>
                </a:lnTo>
                <a:lnTo>
                  <a:pt x="0" y="20"/>
                </a:lnTo>
                <a:close/>
              </a:path>
            </a:pathLst>
          </a:custGeom>
          <a:solidFill>
            <a:srgbClr val="0E2A5C">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Freeform 40"/>
          <p:cNvSpPr/>
          <p:nvPr/>
        </p:nvSpPr>
        <p:spPr>
          <a:xfrm>
            <a:off x="2057400" y="6181725"/>
            <a:ext cx="3743325" cy="352425"/>
          </a:xfrm>
          <a:custGeom>
            <a:avLst/>
            <a:gdLst/>
            <a:ahLst/>
            <a:cxnLst/>
            <a:rect l="l" t="t" r="r" b="b"/>
            <a:pathLst>
              <a:path w="393" h="37">
                <a:moveTo>
                  <a:pt x="0" y="0"/>
                </a:moveTo>
                <a:lnTo>
                  <a:pt x="16" y="0"/>
                </a:lnTo>
                <a:lnTo>
                  <a:pt x="33" y="1"/>
                </a:lnTo>
                <a:lnTo>
                  <a:pt x="49" y="1"/>
                </a:lnTo>
                <a:lnTo>
                  <a:pt x="65" y="2"/>
                </a:lnTo>
                <a:lnTo>
                  <a:pt x="82" y="3"/>
                </a:lnTo>
                <a:lnTo>
                  <a:pt x="98" y="4"/>
                </a:lnTo>
                <a:lnTo>
                  <a:pt x="114" y="5"/>
                </a:lnTo>
                <a:lnTo>
                  <a:pt x="131" y="6"/>
                </a:lnTo>
                <a:lnTo>
                  <a:pt x="147" y="8"/>
                </a:lnTo>
                <a:lnTo>
                  <a:pt x="164" y="9"/>
                </a:lnTo>
                <a:lnTo>
                  <a:pt x="180" y="11"/>
                </a:lnTo>
                <a:lnTo>
                  <a:pt x="196" y="12"/>
                </a:lnTo>
                <a:lnTo>
                  <a:pt x="213" y="14"/>
                </a:lnTo>
                <a:lnTo>
                  <a:pt x="229" y="15"/>
                </a:lnTo>
                <a:lnTo>
                  <a:pt x="246" y="17"/>
                </a:lnTo>
                <a:lnTo>
                  <a:pt x="262" y="18"/>
                </a:lnTo>
                <a:lnTo>
                  <a:pt x="278" y="19"/>
                </a:lnTo>
                <a:lnTo>
                  <a:pt x="295" y="20"/>
                </a:lnTo>
                <a:lnTo>
                  <a:pt x="311" y="21"/>
                </a:lnTo>
                <a:lnTo>
                  <a:pt x="327" y="22"/>
                </a:lnTo>
                <a:lnTo>
                  <a:pt x="344" y="23"/>
                </a:lnTo>
                <a:lnTo>
                  <a:pt x="360" y="24"/>
                </a:lnTo>
                <a:lnTo>
                  <a:pt x="377" y="24"/>
                </a:lnTo>
                <a:lnTo>
                  <a:pt x="393" y="24"/>
                </a:lnTo>
                <a:lnTo>
                  <a:pt x="393" y="37"/>
                </a:lnTo>
                <a:lnTo>
                  <a:pt x="377" y="37"/>
                </a:lnTo>
                <a:lnTo>
                  <a:pt x="360" y="37"/>
                </a:lnTo>
                <a:lnTo>
                  <a:pt x="344" y="36"/>
                </a:lnTo>
                <a:lnTo>
                  <a:pt x="327" y="35"/>
                </a:lnTo>
                <a:lnTo>
                  <a:pt x="311" y="34"/>
                </a:lnTo>
                <a:lnTo>
                  <a:pt x="295" y="33"/>
                </a:lnTo>
                <a:lnTo>
                  <a:pt x="278" y="32"/>
                </a:lnTo>
                <a:lnTo>
                  <a:pt x="262" y="31"/>
                </a:lnTo>
                <a:lnTo>
                  <a:pt x="246" y="29"/>
                </a:lnTo>
                <a:lnTo>
                  <a:pt x="229" y="28"/>
                </a:lnTo>
                <a:lnTo>
                  <a:pt x="213" y="26"/>
                </a:lnTo>
                <a:lnTo>
                  <a:pt x="196" y="25"/>
                </a:lnTo>
                <a:lnTo>
                  <a:pt x="180" y="24"/>
                </a:lnTo>
                <a:lnTo>
                  <a:pt x="164" y="22"/>
                </a:lnTo>
                <a:lnTo>
                  <a:pt x="147" y="21"/>
                </a:lnTo>
                <a:lnTo>
                  <a:pt x="131" y="19"/>
                </a:lnTo>
                <a:lnTo>
                  <a:pt x="114" y="18"/>
                </a:lnTo>
                <a:lnTo>
                  <a:pt x="98" y="17"/>
                </a:lnTo>
                <a:lnTo>
                  <a:pt x="82" y="16"/>
                </a:lnTo>
                <a:lnTo>
                  <a:pt x="65" y="15"/>
                </a:lnTo>
                <a:lnTo>
                  <a:pt x="49" y="14"/>
                </a:lnTo>
                <a:lnTo>
                  <a:pt x="33" y="13"/>
                </a:lnTo>
                <a:lnTo>
                  <a:pt x="16" y="13"/>
                </a:lnTo>
                <a:lnTo>
                  <a:pt x="0" y="13"/>
                </a:lnTo>
                <a:close/>
              </a:path>
            </a:pathLst>
          </a:custGeom>
          <a:solidFill>
            <a:srgbClr val="0E2A5C">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1941195" y="1533525"/>
            <a:ext cx="114300" cy="1552576"/>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1941195" y="3143251"/>
            <a:ext cx="114300" cy="1552575"/>
          </a:xfrm>
          <a:prstGeom prst="rect">
            <a:avLst/>
          </a:prstGeom>
          <a:solidFill>
            <a:srgbClr val="0081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1941195" y="4752975"/>
            <a:ext cx="114300" cy="1552575"/>
          </a:xfrm>
          <a:prstGeom prst="rect">
            <a:avLst/>
          </a:prstGeom>
          <a:solidFill>
            <a:srgbClr val="0E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5800725" y="1304925"/>
            <a:ext cx="114300" cy="883881"/>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5800725" y="2245956"/>
            <a:ext cx="114300" cy="472024"/>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5800725" y="2775130"/>
            <a:ext cx="114300" cy="366869"/>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5800725" y="3199148"/>
            <a:ext cx="114300" cy="366869"/>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5800725" y="3623167"/>
            <a:ext cx="114300" cy="366869"/>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5800725" y="4047186"/>
            <a:ext cx="114300" cy="366869"/>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5800725" y="4471205"/>
            <a:ext cx="114300" cy="366869"/>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5800725" y="4895224"/>
            <a:ext cx="114300" cy="366869"/>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5800725" y="5319243"/>
            <a:ext cx="114300" cy="366869"/>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5800725" y="5743262"/>
            <a:ext cx="114300" cy="366869"/>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5800725" y="6167281"/>
            <a:ext cx="114300" cy="366869"/>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257175" y="2238375"/>
            <a:ext cx="1626870" cy="142875"/>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57" name="TextBox 56"/>
          <p:cNvSpPr txBox="1"/>
          <p:nvPr/>
        </p:nvSpPr>
        <p:spPr>
          <a:xfrm>
            <a:off x="257175" y="3848100"/>
            <a:ext cx="1626870" cy="142875"/>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58" name="TextBox 57"/>
          <p:cNvSpPr txBox="1"/>
          <p:nvPr/>
        </p:nvSpPr>
        <p:spPr>
          <a:xfrm>
            <a:off x="257175" y="5405438"/>
            <a:ext cx="1626870" cy="247650"/>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59" name="TextBox 58"/>
          <p:cNvSpPr txBox="1"/>
          <p:nvPr/>
        </p:nvSpPr>
        <p:spPr>
          <a:xfrm>
            <a:off x="5972175" y="1623041"/>
            <a:ext cx="1381125" cy="247650"/>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60" name="TextBox 59"/>
          <p:cNvSpPr txBox="1"/>
          <p:nvPr/>
        </p:nvSpPr>
        <p:spPr>
          <a:xfrm>
            <a:off x="5972175" y="2358143"/>
            <a:ext cx="1381125" cy="247650"/>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61" name="TextBox 60"/>
          <p:cNvSpPr txBox="1"/>
          <p:nvPr/>
        </p:nvSpPr>
        <p:spPr>
          <a:xfrm>
            <a:off x="5972175" y="2782352"/>
            <a:ext cx="1381125" cy="352425"/>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62" name="TextBox 61"/>
          <p:cNvSpPr txBox="1"/>
          <p:nvPr/>
        </p:nvSpPr>
        <p:spPr>
          <a:xfrm>
            <a:off x="5972175" y="3258758"/>
            <a:ext cx="1381125" cy="247650"/>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63" name="TextBox 62"/>
          <p:cNvSpPr txBox="1"/>
          <p:nvPr/>
        </p:nvSpPr>
        <p:spPr>
          <a:xfrm>
            <a:off x="5972175" y="3630389"/>
            <a:ext cx="1381125" cy="352425"/>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64" name="TextBox 63"/>
          <p:cNvSpPr txBox="1"/>
          <p:nvPr/>
        </p:nvSpPr>
        <p:spPr>
          <a:xfrm>
            <a:off x="5972175" y="4106796"/>
            <a:ext cx="1381125" cy="247650"/>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65" name="TextBox 64"/>
          <p:cNvSpPr txBox="1"/>
          <p:nvPr/>
        </p:nvSpPr>
        <p:spPr>
          <a:xfrm>
            <a:off x="5972175" y="4530815"/>
            <a:ext cx="1381125" cy="247650"/>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66" name="TextBox 65"/>
          <p:cNvSpPr txBox="1"/>
          <p:nvPr/>
        </p:nvSpPr>
        <p:spPr>
          <a:xfrm>
            <a:off x="5972175" y="4954834"/>
            <a:ext cx="1381125" cy="247650"/>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67" name="TextBox 66"/>
          <p:cNvSpPr txBox="1"/>
          <p:nvPr/>
        </p:nvSpPr>
        <p:spPr>
          <a:xfrm>
            <a:off x="5972175" y="5326465"/>
            <a:ext cx="1381125" cy="352425"/>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68" name="TextBox 67"/>
          <p:cNvSpPr txBox="1"/>
          <p:nvPr/>
        </p:nvSpPr>
        <p:spPr>
          <a:xfrm>
            <a:off x="5972175" y="5750484"/>
            <a:ext cx="1381125" cy="352425"/>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69" name="TextBox 68"/>
          <p:cNvSpPr txBox="1"/>
          <p:nvPr/>
        </p:nvSpPr>
        <p:spPr>
          <a:xfrm>
            <a:off x="5972175" y="6226891"/>
            <a:ext cx="1381125" cy="247650"/>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70" name="Rounded Rectangle 69"/>
          <p:cNvSpPr/>
          <p:nvPr/>
        </p:nvSpPr>
        <p:spPr>
          <a:xfrm>
            <a:off x="7581900" y="981075"/>
            <a:ext cx="4457700" cy="5648325"/>
          </a:xfrm>
          <a:prstGeom prst="roundRect">
            <a:avLst>
              <a:gd name="adj" fmla="val 170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7715250" y="1066800"/>
            <a:ext cx="4191000" cy="209550"/>
          </a:xfrm>
          <a:prstGeom prst="rect">
            <a:avLst/>
          </a:prstGeom>
          <a:noFill/>
        </p:spPr>
        <p:txBody>
          <a:bodyPr wrap="square" lIns="0" rIns="19050" tIns="9525" bIns="9525">
            <a:spAutoFit/>
          </a:bodyPr>
          <a:lstStyle/>
          <a:p>
            <a:pPr algn="l"/>
            <a:r>
              <a:rPr sz="1300" b="1">
                <a:solidFill>
                  <a:srgbClr val="0E2A5C"/>
                </a:solidFill>
                <a:latin typeface="Calibri"/>
              </a:rPr>
              <a:t>Key Findings</a:t>
            </a:r>
          </a:p>
        </p:txBody>
      </p:sp>
      <p:sp>
        <p:nvSpPr>
          <p:cNvPr id="72" name="Rectangle 71"/>
          <p:cNvSpPr/>
          <p:nvPr/>
        </p:nvSpPr>
        <p:spPr>
          <a:xfrm>
            <a:off x="7715250" y="1304925"/>
            <a:ext cx="419100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7715250" y="1390650"/>
            <a:ext cx="41910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74" name="Rectangle 73"/>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
        <p:nvSpPr>
          <p:cNvPr id="76" name="TextBox 75"/>
          <p:cNvSpPr txBox="1"/>
          <p:nvPr/>
        </p:nvSpPr>
        <p:spPr>
          <a:xfrm>
            <a:off x="436679" y="2249462"/>
            <a:ext cx="1393614" cy="139750"/>
          </a:xfrm>
          <a:prstGeom prst="rect">
            <a:avLst/>
          </a:prstGeom>
          <a:noFill/>
        </p:spPr>
        <p:txBody>
          <a:bodyPr wrap="none" lIns="0" rIns="0" tIns="0" bIns="0">
            <a:spAutoFit/>
          </a:bodyPr>
          <a:lstStyle/>
          <a:p>
            <a:r>
              <a:rPr sz="791" b="1">
                <a:solidFill>
                  <a:srgbClr val="2E2E2E"/>
                </a:solidFill>
                <a:latin typeface="Calibri"/>
              </a:rPr>
              <a:t>Micronized Eggshell Membrane</a:t>
            </a:r>
          </a:p>
        </p:txBody>
      </p:sp>
      <p:pic>
        <p:nvPicPr>
          <p:cNvPr id="77" name="Picture 76" descr="lock.png"/>
          <p:cNvPicPr>
            <a:picLocks noChangeAspect="1"/>
          </p:cNvPicPr>
          <p:nvPr/>
        </p:nvPicPr>
        <p:blipFill>
          <a:blip r:embed="rId4"/>
          <a:stretch>
            <a:fillRect/>
          </a:stretch>
        </p:blipFill>
        <p:spPr>
          <a:xfrm>
            <a:off x="1771555" y="2242421"/>
            <a:ext cx="92663" cy="134782"/>
          </a:xfrm>
          <a:prstGeom prst="rect">
            <a:avLst/>
          </a:prstGeom>
        </p:spPr>
      </p:pic>
      <p:sp>
        <p:nvSpPr>
          <p:cNvPr id="78" name="TextBox 77"/>
          <p:cNvSpPr txBox="1"/>
          <p:nvPr/>
        </p:nvSpPr>
        <p:spPr>
          <a:xfrm>
            <a:off x="432554" y="3859187"/>
            <a:ext cx="1397740" cy="139750"/>
          </a:xfrm>
          <a:prstGeom prst="rect">
            <a:avLst/>
          </a:prstGeom>
          <a:noFill/>
        </p:spPr>
        <p:txBody>
          <a:bodyPr wrap="none" lIns="0" rIns="0" tIns="0" bIns="0">
            <a:spAutoFit/>
          </a:bodyPr>
          <a:lstStyle/>
          <a:p>
            <a:r>
              <a:rPr sz="791" b="1">
                <a:solidFill>
                  <a:srgbClr val="2E2E2E"/>
                </a:solidFill>
                <a:latin typeface="Calibri"/>
              </a:rPr>
              <a:t>Hydrolyzed Eggshell Membrane</a:t>
            </a:r>
          </a:p>
        </p:txBody>
      </p:sp>
      <p:pic>
        <p:nvPicPr>
          <p:cNvPr id="79" name="Picture 78" descr="lock.png"/>
          <p:cNvPicPr>
            <a:picLocks noChangeAspect="1"/>
          </p:cNvPicPr>
          <p:nvPr/>
        </p:nvPicPr>
        <p:blipFill>
          <a:blip r:embed="rId4"/>
          <a:stretch>
            <a:fillRect/>
          </a:stretch>
        </p:blipFill>
        <p:spPr>
          <a:xfrm>
            <a:off x="1771555" y="3852146"/>
            <a:ext cx="92663" cy="134782"/>
          </a:xfrm>
          <a:prstGeom prst="rect">
            <a:avLst/>
          </a:prstGeom>
        </p:spPr>
      </p:pic>
      <p:sp>
        <p:nvSpPr>
          <p:cNvPr id="80" name="TextBox 79"/>
          <p:cNvSpPr txBox="1"/>
          <p:nvPr/>
        </p:nvSpPr>
        <p:spPr>
          <a:xfrm>
            <a:off x="333642" y="5408562"/>
            <a:ext cx="1531352" cy="139750"/>
          </a:xfrm>
          <a:prstGeom prst="rect">
            <a:avLst/>
          </a:prstGeom>
          <a:noFill/>
        </p:spPr>
        <p:txBody>
          <a:bodyPr wrap="none" lIns="0" rIns="0" tIns="0" bIns="0">
            <a:spAutoFit/>
          </a:bodyPr>
          <a:lstStyle/>
          <a:p>
            <a:r>
              <a:rPr sz="791" b="1">
                <a:solidFill>
                  <a:srgbClr val="2E2E2E"/>
                </a:solidFill>
                <a:latin typeface="Calibri"/>
              </a:rPr>
              <a:t>Specialty Extracted Protein Fractions</a:t>
            </a:r>
          </a:p>
        </p:txBody>
      </p:sp>
      <p:pic>
        <p:nvPicPr>
          <p:cNvPr id="81" name="Picture 80" descr="lock.png"/>
          <p:cNvPicPr>
            <a:picLocks noChangeAspect="1"/>
          </p:cNvPicPr>
          <p:nvPr/>
        </p:nvPicPr>
        <p:blipFill>
          <a:blip r:embed="rId4"/>
          <a:stretch>
            <a:fillRect/>
          </a:stretch>
        </p:blipFill>
        <p:spPr>
          <a:xfrm>
            <a:off x="1771555" y="5522222"/>
            <a:ext cx="92663" cy="134782"/>
          </a:xfrm>
          <a:prstGeom prst="rect">
            <a:avLst/>
          </a:prstGeom>
        </p:spPr>
      </p:pic>
      <p:sp>
        <p:nvSpPr>
          <p:cNvPr id="82" name="TextBox 81"/>
          <p:cNvSpPr txBox="1"/>
          <p:nvPr/>
        </p:nvSpPr>
        <p:spPr>
          <a:xfrm>
            <a:off x="5972175" y="1626165"/>
            <a:ext cx="1291440" cy="139750"/>
          </a:xfrm>
          <a:prstGeom prst="rect">
            <a:avLst/>
          </a:prstGeom>
          <a:noFill/>
        </p:spPr>
        <p:txBody>
          <a:bodyPr wrap="none" lIns="0" rIns="0" tIns="0" bIns="0">
            <a:spAutoFit/>
          </a:bodyPr>
          <a:lstStyle/>
          <a:p>
            <a:r>
              <a:rPr sz="791" b="1">
                <a:solidFill>
                  <a:srgbClr val="2E2E2E"/>
                </a:solidFill>
                <a:latin typeface="Calibri"/>
              </a:rPr>
              <a:t>Functional Food &amp; Beverages</a:t>
            </a:r>
          </a:p>
        </p:txBody>
      </p:sp>
      <p:pic>
        <p:nvPicPr>
          <p:cNvPr id="83" name="Picture 82" descr="lock.png"/>
          <p:cNvPicPr>
            <a:picLocks noChangeAspect="1"/>
          </p:cNvPicPr>
          <p:nvPr/>
        </p:nvPicPr>
        <p:blipFill>
          <a:blip r:embed="rId4"/>
          <a:stretch>
            <a:fillRect/>
          </a:stretch>
        </p:blipFill>
        <p:spPr>
          <a:xfrm>
            <a:off x="5962478" y="1739825"/>
            <a:ext cx="92663" cy="134782"/>
          </a:xfrm>
          <a:prstGeom prst="rect">
            <a:avLst/>
          </a:prstGeom>
        </p:spPr>
      </p:pic>
      <p:sp>
        <p:nvSpPr>
          <p:cNvPr id="84" name="TextBox 83"/>
          <p:cNvSpPr txBox="1"/>
          <p:nvPr/>
        </p:nvSpPr>
        <p:spPr>
          <a:xfrm>
            <a:off x="5972175" y="2418264"/>
            <a:ext cx="1177112" cy="146456"/>
          </a:xfrm>
          <a:prstGeom prst="rect">
            <a:avLst/>
          </a:prstGeom>
          <a:noFill/>
        </p:spPr>
        <p:txBody>
          <a:bodyPr wrap="none" lIns="0" rIns="0" tIns="0" bIns="0">
            <a:spAutoFit/>
          </a:bodyPr>
          <a:lstStyle/>
          <a:p>
            <a:r>
              <a:rPr sz="835" b="1">
                <a:solidFill>
                  <a:srgbClr val="2E2E2E"/>
                </a:solidFill>
                <a:latin typeface="Calibri"/>
              </a:rPr>
              <a:t>Industrial &amp; Biomaterials</a:t>
            </a:r>
          </a:p>
        </p:txBody>
      </p:sp>
      <p:pic>
        <p:nvPicPr>
          <p:cNvPr id="85" name="Picture 84" descr="lock.png"/>
          <p:cNvPicPr>
            <a:picLocks noChangeAspect="1"/>
          </p:cNvPicPr>
          <p:nvPr/>
        </p:nvPicPr>
        <p:blipFill>
          <a:blip r:embed="rId4"/>
          <a:stretch>
            <a:fillRect/>
          </a:stretch>
        </p:blipFill>
        <p:spPr>
          <a:xfrm>
            <a:off x="7091518" y="2410832"/>
            <a:ext cx="97811" cy="142270"/>
          </a:xfrm>
          <a:prstGeom prst="rect">
            <a:avLst/>
          </a:prstGeom>
        </p:spPr>
      </p:pic>
      <p:sp>
        <p:nvSpPr>
          <p:cNvPr id="86" name="TextBox 85"/>
          <p:cNvSpPr txBox="1"/>
          <p:nvPr/>
        </p:nvSpPr>
        <p:spPr>
          <a:xfrm>
            <a:off x="5972175" y="2782352"/>
            <a:ext cx="1046481" cy="139750"/>
          </a:xfrm>
          <a:prstGeom prst="rect">
            <a:avLst/>
          </a:prstGeom>
          <a:noFill/>
        </p:spPr>
        <p:txBody>
          <a:bodyPr wrap="none" lIns="0" rIns="0" tIns="0" bIns="0">
            <a:spAutoFit/>
          </a:bodyPr>
          <a:lstStyle/>
          <a:p>
            <a:r>
              <a:rPr sz="791" b="1">
                <a:solidFill>
                  <a:srgbClr val="2E2E2E"/>
                </a:solidFill>
                <a:latin typeface="Calibri"/>
              </a:rPr>
              <a:t>Dietary Supplements &amp;</a:t>
            </a:r>
          </a:p>
        </p:txBody>
      </p:sp>
      <p:sp>
        <p:nvSpPr>
          <p:cNvPr id="87" name="TextBox 86"/>
          <p:cNvSpPr txBox="1"/>
          <p:nvPr/>
        </p:nvSpPr>
        <p:spPr>
          <a:xfrm>
            <a:off x="5972175" y="2903052"/>
            <a:ext cx="1305996" cy="139750"/>
          </a:xfrm>
          <a:prstGeom prst="rect">
            <a:avLst/>
          </a:prstGeom>
          <a:noFill/>
        </p:spPr>
        <p:txBody>
          <a:bodyPr wrap="none" lIns="0" rIns="0" tIns="0" bIns="0">
            <a:spAutoFit/>
          </a:bodyPr>
          <a:lstStyle/>
          <a:p>
            <a:r>
              <a:rPr sz="791" b="1">
                <a:solidFill>
                  <a:srgbClr val="2E2E2E"/>
                </a:solidFill>
                <a:latin typeface="Calibri"/>
              </a:rPr>
              <a:t>Nutraceuticals | Joint &amp; Bone</a:t>
            </a:r>
          </a:p>
        </p:txBody>
      </p:sp>
      <p:sp>
        <p:nvSpPr>
          <p:cNvPr id="88" name="TextBox 87"/>
          <p:cNvSpPr txBox="1"/>
          <p:nvPr/>
        </p:nvSpPr>
        <p:spPr>
          <a:xfrm>
            <a:off x="5972175" y="3023753"/>
            <a:ext cx="353788" cy="139750"/>
          </a:xfrm>
          <a:prstGeom prst="rect">
            <a:avLst/>
          </a:prstGeom>
          <a:noFill/>
        </p:spPr>
        <p:txBody>
          <a:bodyPr wrap="none" lIns="0" rIns="0" tIns="0" bIns="0">
            <a:spAutoFit/>
          </a:bodyPr>
          <a:lstStyle/>
          <a:p>
            <a:r>
              <a:rPr sz="791" b="1">
                <a:solidFill>
                  <a:srgbClr val="2E2E2E"/>
                </a:solidFill>
                <a:latin typeface="Calibri"/>
              </a:rPr>
              <a:t>Health</a:t>
            </a:r>
          </a:p>
        </p:txBody>
      </p:sp>
      <p:pic>
        <p:nvPicPr>
          <p:cNvPr id="89" name="Picture 88" descr="lock.png"/>
          <p:cNvPicPr>
            <a:picLocks noChangeAspect="1"/>
          </p:cNvPicPr>
          <p:nvPr/>
        </p:nvPicPr>
        <p:blipFill>
          <a:blip r:embed="rId4"/>
          <a:stretch>
            <a:fillRect/>
          </a:stretch>
        </p:blipFill>
        <p:spPr>
          <a:xfrm>
            <a:off x="6267224" y="3016712"/>
            <a:ext cx="92663" cy="134782"/>
          </a:xfrm>
          <a:prstGeom prst="rect">
            <a:avLst/>
          </a:prstGeom>
        </p:spPr>
      </p:pic>
      <p:sp>
        <p:nvSpPr>
          <p:cNvPr id="90" name="TextBox 89"/>
          <p:cNvSpPr txBox="1"/>
          <p:nvPr/>
        </p:nvSpPr>
        <p:spPr>
          <a:xfrm>
            <a:off x="5972175" y="3261882"/>
            <a:ext cx="1046481" cy="139750"/>
          </a:xfrm>
          <a:prstGeom prst="rect">
            <a:avLst/>
          </a:prstGeom>
          <a:noFill/>
        </p:spPr>
        <p:txBody>
          <a:bodyPr wrap="none" lIns="0" rIns="0" tIns="0" bIns="0">
            <a:spAutoFit/>
          </a:bodyPr>
          <a:lstStyle/>
          <a:p>
            <a:r>
              <a:rPr sz="791" b="1">
                <a:solidFill>
                  <a:srgbClr val="2E2E2E"/>
                </a:solidFill>
                <a:latin typeface="Calibri"/>
              </a:rPr>
              <a:t>Dietary Supplements &amp;</a:t>
            </a:r>
          </a:p>
        </p:txBody>
      </p:sp>
      <p:sp>
        <p:nvSpPr>
          <p:cNvPr id="91" name="TextBox 90"/>
          <p:cNvSpPr txBox="1"/>
          <p:nvPr/>
        </p:nvSpPr>
        <p:spPr>
          <a:xfrm>
            <a:off x="5972175" y="3382583"/>
            <a:ext cx="1056697" cy="139750"/>
          </a:xfrm>
          <a:prstGeom prst="rect">
            <a:avLst/>
          </a:prstGeom>
          <a:noFill/>
        </p:spPr>
        <p:txBody>
          <a:bodyPr wrap="none" lIns="0" rIns="0" tIns="0" bIns="0">
            <a:spAutoFit/>
          </a:bodyPr>
          <a:lstStyle/>
          <a:p>
            <a:r>
              <a:rPr sz="791" b="1">
                <a:solidFill>
                  <a:srgbClr val="2E2E2E"/>
                </a:solidFill>
                <a:latin typeface="Calibri"/>
              </a:rPr>
              <a:t>Nutraceuticals | Others</a:t>
            </a:r>
          </a:p>
        </p:txBody>
      </p:sp>
      <p:pic>
        <p:nvPicPr>
          <p:cNvPr id="92" name="Picture 91" descr="lock.png"/>
          <p:cNvPicPr>
            <a:picLocks noChangeAspect="1"/>
          </p:cNvPicPr>
          <p:nvPr/>
        </p:nvPicPr>
        <p:blipFill>
          <a:blip r:embed="rId4"/>
          <a:stretch>
            <a:fillRect/>
          </a:stretch>
        </p:blipFill>
        <p:spPr>
          <a:xfrm>
            <a:off x="6970133" y="3375542"/>
            <a:ext cx="92663" cy="134782"/>
          </a:xfrm>
          <a:prstGeom prst="rect">
            <a:avLst/>
          </a:prstGeom>
        </p:spPr>
      </p:pic>
      <p:sp>
        <p:nvSpPr>
          <p:cNvPr id="93" name="TextBox 92"/>
          <p:cNvSpPr txBox="1"/>
          <p:nvPr/>
        </p:nvSpPr>
        <p:spPr>
          <a:xfrm>
            <a:off x="5972175" y="3630389"/>
            <a:ext cx="1046481" cy="139750"/>
          </a:xfrm>
          <a:prstGeom prst="rect">
            <a:avLst/>
          </a:prstGeom>
          <a:noFill/>
        </p:spPr>
        <p:txBody>
          <a:bodyPr wrap="none" lIns="0" rIns="0" tIns="0" bIns="0">
            <a:spAutoFit/>
          </a:bodyPr>
          <a:lstStyle/>
          <a:p>
            <a:r>
              <a:rPr sz="791" b="1">
                <a:solidFill>
                  <a:srgbClr val="2E2E2E"/>
                </a:solidFill>
                <a:latin typeface="Calibri"/>
              </a:rPr>
              <a:t>Dietary Supplements &amp;</a:t>
            </a:r>
          </a:p>
        </p:txBody>
      </p:sp>
      <p:sp>
        <p:nvSpPr>
          <p:cNvPr id="94" name="TextBox 93"/>
          <p:cNvSpPr txBox="1"/>
          <p:nvPr/>
        </p:nvSpPr>
        <p:spPr>
          <a:xfrm>
            <a:off x="5972175" y="3751089"/>
            <a:ext cx="1263955" cy="139750"/>
          </a:xfrm>
          <a:prstGeom prst="rect">
            <a:avLst/>
          </a:prstGeom>
          <a:noFill/>
        </p:spPr>
        <p:txBody>
          <a:bodyPr wrap="none" lIns="0" rIns="0" tIns="0" bIns="0">
            <a:spAutoFit/>
          </a:bodyPr>
          <a:lstStyle/>
          <a:p>
            <a:r>
              <a:rPr sz="791" b="1">
                <a:solidFill>
                  <a:srgbClr val="2E2E2E"/>
                </a:solidFill>
                <a:latin typeface="Calibri"/>
              </a:rPr>
              <a:t>Nutraceuticals | Skin, Hair &amp;</a:t>
            </a:r>
          </a:p>
        </p:txBody>
      </p:sp>
      <p:sp>
        <p:nvSpPr>
          <p:cNvPr id="95" name="TextBox 94"/>
          <p:cNvSpPr txBox="1"/>
          <p:nvPr/>
        </p:nvSpPr>
        <p:spPr>
          <a:xfrm>
            <a:off x="5972175" y="3871790"/>
            <a:ext cx="541990" cy="139750"/>
          </a:xfrm>
          <a:prstGeom prst="rect">
            <a:avLst/>
          </a:prstGeom>
          <a:noFill/>
        </p:spPr>
        <p:txBody>
          <a:bodyPr wrap="none" lIns="0" rIns="0" tIns="0" bIns="0">
            <a:spAutoFit/>
          </a:bodyPr>
          <a:lstStyle/>
          <a:p>
            <a:r>
              <a:rPr sz="791" b="1">
                <a:solidFill>
                  <a:srgbClr val="2E2E2E"/>
                </a:solidFill>
                <a:latin typeface="Calibri"/>
              </a:rPr>
              <a:t>Nail Health</a:t>
            </a:r>
          </a:p>
        </p:txBody>
      </p:sp>
      <p:pic>
        <p:nvPicPr>
          <p:cNvPr id="96" name="Picture 95" descr="lock.png"/>
          <p:cNvPicPr>
            <a:picLocks noChangeAspect="1"/>
          </p:cNvPicPr>
          <p:nvPr/>
        </p:nvPicPr>
        <p:blipFill>
          <a:blip r:embed="rId4"/>
          <a:stretch>
            <a:fillRect/>
          </a:stretch>
        </p:blipFill>
        <p:spPr>
          <a:xfrm>
            <a:off x="6455426" y="3864749"/>
            <a:ext cx="92663" cy="134782"/>
          </a:xfrm>
          <a:prstGeom prst="rect">
            <a:avLst/>
          </a:prstGeom>
        </p:spPr>
      </p:pic>
      <p:sp>
        <p:nvSpPr>
          <p:cNvPr id="97" name="TextBox 96"/>
          <p:cNvSpPr txBox="1"/>
          <p:nvPr/>
        </p:nvSpPr>
        <p:spPr>
          <a:xfrm>
            <a:off x="5972175" y="4109920"/>
            <a:ext cx="1259830" cy="139750"/>
          </a:xfrm>
          <a:prstGeom prst="rect">
            <a:avLst/>
          </a:prstGeom>
          <a:noFill/>
        </p:spPr>
        <p:txBody>
          <a:bodyPr wrap="none" lIns="0" rIns="0" tIns="0" bIns="0">
            <a:spAutoFit/>
          </a:bodyPr>
          <a:lstStyle/>
          <a:p>
            <a:r>
              <a:rPr sz="791" b="1">
                <a:solidFill>
                  <a:srgbClr val="2E2E2E"/>
                </a:solidFill>
                <a:latin typeface="Calibri"/>
              </a:rPr>
              <a:t>Cosmetics &amp; Personal Care |</a:t>
            </a:r>
          </a:p>
        </p:txBody>
      </p:sp>
      <p:sp>
        <p:nvSpPr>
          <p:cNvPr id="98" name="TextBox 97"/>
          <p:cNvSpPr txBox="1"/>
          <p:nvPr/>
        </p:nvSpPr>
        <p:spPr>
          <a:xfrm>
            <a:off x="5972175" y="4230621"/>
            <a:ext cx="462033" cy="139750"/>
          </a:xfrm>
          <a:prstGeom prst="rect">
            <a:avLst/>
          </a:prstGeom>
          <a:noFill/>
        </p:spPr>
        <p:txBody>
          <a:bodyPr wrap="none" lIns="0" rIns="0" tIns="0" bIns="0">
            <a:spAutoFit/>
          </a:bodyPr>
          <a:lstStyle/>
          <a:p>
            <a:r>
              <a:rPr sz="791" b="1">
                <a:solidFill>
                  <a:srgbClr val="2E2E2E"/>
                </a:solidFill>
                <a:latin typeface="Calibri"/>
              </a:rPr>
              <a:t>Hair Care</a:t>
            </a:r>
          </a:p>
        </p:txBody>
      </p:sp>
      <p:pic>
        <p:nvPicPr>
          <p:cNvPr id="99" name="Picture 98" descr="lock.png"/>
          <p:cNvPicPr>
            <a:picLocks noChangeAspect="1"/>
          </p:cNvPicPr>
          <p:nvPr/>
        </p:nvPicPr>
        <p:blipFill>
          <a:blip r:embed="rId4"/>
          <a:stretch>
            <a:fillRect/>
          </a:stretch>
        </p:blipFill>
        <p:spPr>
          <a:xfrm>
            <a:off x="6375470" y="4223580"/>
            <a:ext cx="92663" cy="134782"/>
          </a:xfrm>
          <a:prstGeom prst="rect">
            <a:avLst/>
          </a:prstGeom>
        </p:spPr>
      </p:pic>
      <p:sp>
        <p:nvSpPr>
          <p:cNvPr id="100" name="TextBox 99"/>
          <p:cNvSpPr txBox="1"/>
          <p:nvPr/>
        </p:nvSpPr>
        <p:spPr>
          <a:xfrm>
            <a:off x="5972175" y="4533939"/>
            <a:ext cx="1259830" cy="139750"/>
          </a:xfrm>
          <a:prstGeom prst="rect">
            <a:avLst/>
          </a:prstGeom>
          <a:noFill/>
        </p:spPr>
        <p:txBody>
          <a:bodyPr wrap="none" lIns="0" rIns="0" tIns="0" bIns="0">
            <a:spAutoFit/>
          </a:bodyPr>
          <a:lstStyle/>
          <a:p>
            <a:r>
              <a:rPr sz="791" b="1">
                <a:solidFill>
                  <a:srgbClr val="2E2E2E"/>
                </a:solidFill>
                <a:latin typeface="Calibri"/>
              </a:rPr>
              <a:t>Cosmetics &amp; Personal Care |</a:t>
            </a:r>
          </a:p>
        </p:txBody>
      </p:sp>
      <p:sp>
        <p:nvSpPr>
          <p:cNvPr id="101" name="TextBox 100"/>
          <p:cNvSpPr txBox="1"/>
          <p:nvPr/>
        </p:nvSpPr>
        <p:spPr>
          <a:xfrm>
            <a:off x="5972175" y="4654640"/>
            <a:ext cx="463016" cy="139750"/>
          </a:xfrm>
          <a:prstGeom prst="rect">
            <a:avLst/>
          </a:prstGeom>
          <a:noFill/>
        </p:spPr>
        <p:txBody>
          <a:bodyPr wrap="none" lIns="0" rIns="0" tIns="0" bIns="0">
            <a:spAutoFit/>
          </a:bodyPr>
          <a:lstStyle/>
          <a:p>
            <a:r>
              <a:rPr sz="791" b="1">
                <a:solidFill>
                  <a:srgbClr val="2E2E2E"/>
                </a:solidFill>
                <a:latin typeface="Calibri"/>
              </a:rPr>
              <a:t>Skin Care</a:t>
            </a:r>
          </a:p>
        </p:txBody>
      </p:sp>
      <p:pic>
        <p:nvPicPr>
          <p:cNvPr id="102" name="Picture 101" descr="lock.png"/>
          <p:cNvPicPr>
            <a:picLocks noChangeAspect="1"/>
          </p:cNvPicPr>
          <p:nvPr/>
        </p:nvPicPr>
        <p:blipFill>
          <a:blip r:embed="rId4"/>
          <a:stretch>
            <a:fillRect/>
          </a:stretch>
        </p:blipFill>
        <p:spPr>
          <a:xfrm>
            <a:off x="6376452" y="4647599"/>
            <a:ext cx="92663" cy="134782"/>
          </a:xfrm>
          <a:prstGeom prst="rect">
            <a:avLst/>
          </a:prstGeom>
        </p:spPr>
      </p:pic>
      <p:sp>
        <p:nvSpPr>
          <p:cNvPr id="103" name="TextBox 102"/>
          <p:cNvSpPr txBox="1"/>
          <p:nvPr/>
        </p:nvSpPr>
        <p:spPr>
          <a:xfrm>
            <a:off x="5972175" y="4957958"/>
            <a:ext cx="1362075" cy="139750"/>
          </a:xfrm>
          <a:prstGeom prst="rect">
            <a:avLst/>
          </a:prstGeom>
          <a:noFill/>
        </p:spPr>
        <p:txBody>
          <a:bodyPr wrap="none" lIns="0" rIns="0" tIns="0" bIns="0">
            <a:spAutoFit/>
          </a:bodyPr>
          <a:lstStyle/>
          <a:p>
            <a:r>
              <a:rPr sz="791" b="1">
                <a:solidFill>
                  <a:srgbClr val="2E2E2E"/>
                </a:solidFill>
                <a:latin typeface="Calibri"/>
              </a:rPr>
              <a:t>Pharmaceuticals &amp; Biomedical |</a:t>
            </a:r>
          </a:p>
        </p:txBody>
      </p:sp>
      <p:sp>
        <p:nvSpPr>
          <p:cNvPr id="104" name="TextBox 103"/>
          <p:cNvSpPr txBox="1"/>
          <p:nvPr/>
        </p:nvSpPr>
        <p:spPr>
          <a:xfrm>
            <a:off x="5972175" y="5078659"/>
            <a:ext cx="1108757" cy="139750"/>
          </a:xfrm>
          <a:prstGeom prst="rect">
            <a:avLst/>
          </a:prstGeom>
          <a:noFill/>
        </p:spPr>
        <p:txBody>
          <a:bodyPr wrap="none" lIns="0" rIns="0" tIns="0" bIns="0">
            <a:spAutoFit/>
          </a:bodyPr>
          <a:lstStyle/>
          <a:p>
            <a:r>
              <a:rPr sz="791" b="1">
                <a:solidFill>
                  <a:srgbClr val="2E2E2E"/>
                </a:solidFill>
                <a:latin typeface="Calibri"/>
              </a:rPr>
              <a:t>Wound Care &amp; Dressings</a:t>
            </a:r>
          </a:p>
        </p:txBody>
      </p:sp>
      <p:pic>
        <p:nvPicPr>
          <p:cNvPr id="105" name="Picture 104" descr="lock.png"/>
          <p:cNvPicPr>
            <a:picLocks noChangeAspect="1"/>
          </p:cNvPicPr>
          <p:nvPr/>
        </p:nvPicPr>
        <p:blipFill>
          <a:blip r:embed="rId4"/>
          <a:stretch>
            <a:fillRect/>
          </a:stretch>
        </p:blipFill>
        <p:spPr>
          <a:xfrm>
            <a:off x="7022193" y="5071618"/>
            <a:ext cx="92663" cy="134782"/>
          </a:xfrm>
          <a:prstGeom prst="rect">
            <a:avLst/>
          </a:prstGeom>
        </p:spPr>
      </p:pic>
      <p:sp>
        <p:nvSpPr>
          <p:cNvPr id="106" name="TextBox 105"/>
          <p:cNvSpPr txBox="1"/>
          <p:nvPr/>
        </p:nvSpPr>
        <p:spPr>
          <a:xfrm>
            <a:off x="5972175" y="5326465"/>
            <a:ext cx="1362075" cy="139750"/>
          </a:xfrm>
          <a:prstGeom prst="rect">
            <a:avLst/>
          </a:prstGeom>
          <a:noFill/>
        </p:spPr>
        <p:txBody>
          <a:bodyPr wrap="none" lIns="0" rIns="0" tIns="0" bIns="0">
            <a:spAutoFit/>
          </a:bodyPr>
          <a:lstStyle/>
          <a:p>
            <a:r>
              <a:rPr sz="791" b="1">
                <a:solidFill>
                  <a:srgbClr val="2E2E2E"/>
                </a:solidFill>
                <a:latin typeface="Calibri"/>
              </a:rPr>
              <a:t>Pharmaceuticals &amp; Biomedical |</a:t>
            </a:r>
          </a:p>
        </p:txBody>
      </p:sp>
      <p:sp>
        <p:nvSpPr>
          <p:cNvPr id="107" name="TextBox 106"/>
          <p:cNvSpPr txBox="1"/>
          <p:nvPr/>
        </p:nvSpPr>
        <p:spPr>
          <a:xfrm>
            <a:off x="5972175" y="5447165"/>
            <a:ext cx="1169265" cy="139750"/>
          </a:xfrm>
          <a:prstGeom prst="rect">
            <a:avLst/>
          </a:prstGeom>
          <a:noFill/>
        </p:spPr>
        <p:txBody>
          <a:bodyPr wrap="none" lIns="0" rIns="0" tIns="0" bIns="0">
            <a:spAutoFit/>
          </a:bodyPr>
          <a:lstStyle/>
          <a:p>
            <a:r>
              <a:rPr sz="791" b="1">
                <a:solidFill>
                  <a:srgbClr val="2E2E2E"/>
                </a:solidFill>
                <a:latin typeface="Calibri"/>
              </a:rPr>
              <a:t>Tissue Engineering &amp; Drug</a:t>
            </a:r>
          </a:p>
        </p:txBody>
      </p:sp>
      <p:sp>
        <p:nvSpPr>
          <p:cNvPr id="108" name="TextBox 107"/>
          <p:cNvSpPr txBox="1"/>
          <p:nvPr/>
        </p:nvSpPr>
        <p:spPr>
          <a:xfrm>
            <a:off x="5972175" y="5567866"/>
            <a:ext cx="421564" cy="139750"/>
          </a:xfrm>
          <a:prstGeom prst="rect">
            <a:avLst/>
          </a:prstGeom>
          <a:noFill/>
        </p:spPr>
        <p:txBody>
          <a:bodyPr wrap="none" lIns="0" rIns="0" tIns="0" bIns="0">
            <a:spAutoFit/>
          </a:bodyPr>
          <a:lstStyle/>
          <a:p>
            <a:r>
              <a:rPr sz="791" b="1">
                <a:solidFill>
                  <a:srgbClr val="2E2E2E"/>
                </a:solidFill>
                <a:latin typeface="Calibri"/>
              </a:rPr>
              <a:t>Delivery</a:t>
            </a:r>
          </a:p>
        </p:txBody>
      </p:sp>
      <p:pic>
        <p:nvPicPr>
          <p:cNvPr id="109" name="Picture 108" descr="lock.png"/>
          <p:cNvPicPr>
            <a:picLocks noChangeAspect="1"/>
          </p:cNvPicPr>
          <p:nvPr/>
        </p:nvPicPr>
        <p:blipFill>
          <a:blip r:embed="rId4"/>
          <a:stretch>
            <a:fillRect/>
          </a:stretch>
        </p:blipFill>
        <p:spPr>
          <a:xfrm>
            <a:off x="6335000" y="5560825"/>
            <a:ext cx="92663" cy="134782"/>
          </a:xfrm>
          <a:prstGeom prst="rect">
            <a:avLst/>
          </a:prstGeom>
        </p:spPr>
      </p:pic>
      <p:sp>
        <p:nvSpPr>
          <p:cNvPr id="110" name="TextBox 109"/>
          <p:cNvSpPr txBox="1"/>
          <p:nvPr/>
        </p:nvSpPr>
        <p:spPr>
          <a:xfrm>
            <a:off x="5972175" y="5750484"/>
            <a:ext cx="1316997" cy="139750"/>
          </a:xfrm>
          <a:prstGeom prst="rect">
            <a:avLst/>
          </a:prstGeom>
          <a:noFill/>
        </p:spPr>
        <p:txBody>
          <a:bodyPr wrap="none" lIns="0" rIns="0" tIns="0" bIns="0">
            <a:spAutoFit/>
          </a:bodyPr>
          <a:lstStyle/>
          <a:p>
            <a:r>
              <a:rPr sz="791" b="1">
                <a:solidFill>
                  <a:srgbClr val="2E2E2E"/>
                </a:solidFill>
                <a:latin typeface="Calibri"/>
              </a:rPr>
              <a:t>Animal Nutrition &amp; Pet Care |</a:t>
            </a:r>
          </a:p>
        </p:txBody>
      </p:sp>
      <p:sp>
        <p:nvSpPr>
          <p:cNvPr id="111" name="TextBox 110"/>
          <p:cNvSpPr txBox="1"/>
          <p:nvPr/>
        </p:nvSpPr>
        <p:spPr>
          <a:xfrm>
            <a:off x="5972175" y="5871184"/>
            <a:ext cx="1300102" cy="139750"/>
          </a:xfrm>
          <a:prstGeom prst="rect">
            <a:avLst/>
          </a:prstGeom>
          <a:noFill/>
        </p:spPr>
        <p:txBody>
          <a:bodyPr wrap="none" lIns="0" rIns="0" tIns="0" bIns="0">
            <a:spAutoFit/>
          </a:bodyPr>
          <a:lstStyle/>
          <a:p>
            <a:r>
              <a:rPr sz="791" b="1">
                <a:solidFill>
                  <a:srgbClr val="2E2E2E"/>
                </a:solidFill>
                <a:latin typeface="Calibri"/>
              </a:rPr>
              <a:t>Pet Joint &amp; Skin Supplements</a:t>
            </a:r>
          </a:p>
        </p:txBody>
      </p:sp>
      <p:pic>
        <p:nvPicPr>
          <p:cNvPr id="112" name="Picture 111" descr="lock.png"/>
          <p:cNvPicPr>
            <a:picLocks noChangeAspect="1"/>
          </p:cNvPicPr>
          <p:nvPr/>
        </p:nvPicPr>
        <p:blipFill>
          <a:blip r:embed="rId4"/>
          <a:stretch>
            <a:fillRect/>
          </a:stretch>
        </p:blipFill>
        <p:spPr>
          <a:xfrm>
            <a:off x="5962478" y="5984844"/>
            <a:ext cx="92663" cy="134782"/>
          </a:xfrm>
          <a:prstGeom prst="rect">
            <a:avLst/>
          </a:prstGeom>
        </p:spPr>
      </p:pic>
      <p:sp>
        <p:nvSpPr>
          <p:cNvPr id="113" name="TextBox 112"/>
          <p:cNvSpPr txBox="1"/>
          <p:nvPr/>
        </p:nvSpPr>
        <p:spPr>
          <a:xfrm>
            <a:off x="5972175" y="6230015"/>
            <a:ext cx="1316997" cy="139750"/>
          </a:xfrm>
          <a:prstGeom prst="rect">
            <a:avLst/>
          </a:prstGeom>
          <a:noFill/>
        </p:spPr>
        <p:txBody>
          <a:bodyPr wrap="none" lIns="0" rIns="0" tIns="0" bIns="0">
            <a:spAutoFit/>
          </a:bodyPr>
          <a:lstStyle/>
          <a:p>
            <a:r>
              <a:rPr sz="791" b="1">
                <a:solidFill>
                  <a:srgbClr val="2E2E2E"/>
                </a:solidFill>
                <a:latin typeface="Calibri"/>
              </a:rPr>
              <a:t>Animal Nutrition &amp; Pet Care |</a:t>
            </a:r>
          </a:p>
        </p:txBody>
      </p:sp>
      <p:sp>
        <p:nvSpPr>
          <p:cNvPr id="114" name="TextBox 113"/>
          <p:cNvSpPr txBox="1"/>
          <p:nvPr/>
        </p:nvSpPr>
        <p:spPr>
          <a:xfrm>
            <a:off x="5972175" y="6350716"/>
            <a:ext cx="1106968" cy="139750"/>
          </a:xfrm>
          <a:prstGeom prst="rect">
            <a:avLst/>
          </a:prstGeom>
          <a:noFill/>
        </p:spPr>
        <p:txBody>
          <a:bodyPr wrap="none" lIns="0" rIns="0" tIns="0" bIns="0">
            <a:spAutoFit/>
          </a:bodyPr>
          <a:lstStyle/>
          <a:p>
            <a:r>
              <a:rPr sz="791" b="1">
                <a:solidFill>
                  <a:srgbClr val="2E2E2E"/>
                </a:solidFill>
                <a:latin typeface="Calibri"/>
              </a:rPr>
              <a:t>Livestock &amp; Poultry Feed</a:t>
            </a:r>
          </a:p>
        </p:txBody>
      </p:sp>
      <p:pic>
        <p:nvPicPr>
          <p:cNvPr id="115" name="Picture 114" descr="lock.png"/>
          <p:cNvPicPr>
            <a:picLocks noChangeAspect="1"/>
          </p:cNvPicPr>
          <p:nvPr/>
        </p:nvPicPr>
        <p:blipFill>
          <a:blip r:embed="rId4"/>
          <a:stretch>
            <a:fillRect/>
          </a:stretch>
        </p:blipFill>
        <p:spPr>
          <a:xfrm>
            <a:off x="7020404" y="6343675"/>
            <a:ext cx="92663" cy="134782"/>
          </a:xfrm>
          <a:prstGeom prst="rect">
            <a:avLst/>
          </a:prstGeom>
        </p:spPr>
      </p:pic>
      <p:sp>
        <p:nvSpPr>
          <p:cNvPr id="116" name="TextBox 115"/>
          <p:cNvSpPr txBox="1"/>
          <p:nvPr/>
        </p:nvSpPr>
        <p:spPr>
          <a:xfrm>
            <a:off x="7715250" y="1400175"/>
            <a:ext cx="4093716" cy="194310"/>
          </a:xfrm>
          <a:prstGeom prst="rect">
            <a:avLst/>
          </a:prstGeom>
          <a:noFill/>
        </p:spPr>
        <p:txBody>
          <a:bodyPr wrap="none" lIns="0" rIns="0" tIns="0" bIns="0">
            <a:spAutoFit/>
          </a:bodyPr>
          <a:lstStyle/>
          <a:p>
            <a:r>
              <a:rPr sz="1150" b="0">
                <a:solidFill>
                  <a:srgbClr val="2E2E2E"/>
                </a:solidFill>
                <a:latin typeface="Calibri"/>
              </a:rPr>
              <a:t>Micronized eggshell membrane segment is projected to account for</a:t>
            </a:r>
          </a:p>
        </p:txBody>
      </p:sp>
      <p:sp>
        <p:nvSpPr>
          <p:cNvPr id="117" name="TextBox 116"/>
          <p:cNvSpPr txBox="1"/>
          <p:nvPr/>
        </p:nvSpPr>
        <p:spPr>
          <a:xfrm>
            <a:off x="7715250" y="1575435"/>
            <a:ext cx="3761395" cy="194310"/>
          </a:xfrm>
          <a:prstGeom prst="rect">
            <a:avLst/>
          </a:prstGeom>
          <a:noFill/>
        </p:spPr>
        <p:txBody>
          <a:bodyPr wrap="none" lIns="0" rIns="0" tIns="0" bIns="0">
            <a:spAutoFit/>
          </a:bodyPr>
          <a:lstStyle/>
          <a:p>
            <a:r>
              <a:rPr sz="1150" b="0">
                <a:solidFill>
                  <a:srgbClr val="2E2E2E"/>
                </a:solidFill>
                <a:latin typeface="Calibri"/>
              </a:rPr>
              <a:t>the largest share of the North America egg protein membrane</a:t>
            </a:r>
          </a:p>
        </p:txBody>
      </p:sp>
      <p:sp>
        <p:nvSpPr>
          <p:cNvPr id="118" name="TextBox 117"/>
          <p:cNvSpPr txBox="1"/>
          <p:nvPr/>
        </p:nvSpPr>
        <p:spPr>
          <a:xfrm>
            <a:off x="7715250" y="1750695"/>
            <a:ext cx="3065660" cy="194310"/>
          </a:xfrm>
          <a:prstGeom prst="rect">
            <a:avLst/>
          </a:prstGeom>
          <a:noFill/>
        </p:spPr>
        <p:txBody>
          <a:bodyPr wrap="none" lIns="0" rIns="0" tIns="0" bIns="0">
            <a:spAutoFit/>
          </a:bodyPr>
          <a:lstStyle/>
          <a:p>
            <a:r>
              <a:rPr sz="1150" b="0">
                <a:solidFill>
                  <a:srgbClr val="2E2E2E"/>
                </a:solidFill>
                <a:latin typeface="Calibri"/>
              </a:rPr>
              <a:t>market, led by functional food &amp; beverages at US$</a:t>
            </a:r>
          </a:p>
        </p:txBody>
      </p:sp>
      <p:pic>
        <p:nvPicPr>
          <p:cNvPr id="119" name="Picture 118" descr="lock.png"/>
          <p:cNvPicPr>
            <a:picLocks noChangeAspect="1"/>
          </p:cNvPicPr>
          <p:nvPr/>
        </p:nvPicPr>
        <p:blipFill>
          <a:blip r:embed="rId4"/>
          <a:stretch>
            <a:fillRect/>
          </a:stretch>
        </p:blipFill>
        <p:spPr>
          <a:xfrm>
            <a:off x="10730064" y="1740471"/>
            <a:ext cx="134549" cy="195707"/>
          </a:xfrm>
          <a:prstGeom prst="rect">
            <a:avLst/>
          </a:prstGeom>
        </p:spPr>
      </p:pic>
      <p:sp>
        <p:nvSpPr>
          <p:cNvPr id="120" name="TextBox 119"/>
          <p:cNvSpPr txBox="1"/>
          <p:nvPr/>
        </p:nvSpPr>
        <p:spPr>
          <a:xfrm>
            <a:off x="10905174" y="1750695"/>
            <a:ext cx="787908" cy="194310"/>
          </a:xfrm>
          <a:prstGeom prst="rect">
            <a:avLst/>
          </a:prstGeom>
          <a:noFill/>
        </p:spPr>
        <p:txBody>
          <a:bodyPr wrap="none" lIns="0" rIns="0" tIns="0" bIns="0">
            <a:spAutoFit/>
          </a:bodyPr>
          <a:lstStyle/>
          <a:p>
            <a:r>
              <a:rPr sz="1150" b="0">
                <a:solidFill>
                  <a:srgbClr val="2E2E2E"/>
                </a:solidFill>
                <a:latin typeface="Calibri"/>
              </a:rPr>
              <a:t>Mn in 2036.</a:t>
            </a:r>
          </a:p>
        </p:txBody>
      </p:sp>
      <p:sp>
        <p:nvSpPr>
          <p:cNvPr id="121" name="TextBox 120"/>
          <p:cNvSpPr txBox="1"/>
          <p:nvPr/>
        </p:nvSpPr>
        <p:spPr>
          <a:xfrm>
            <a:off x="7715250" y="1925955"/>
            <a:ext cx="4171950" cy="194310"/>
          </a:xfrm>
          <a:prstGeom prst="rect">
            <a:avLst/>
          </a:prstGeom>
          <a:noFill/>
        </p:spPr>
        <p:txBody>
          <a:bodyPr wrap="none" lIns="0" rIns="0" tIns="0" bIns="0">
            <a:spAutoFit/>
          </a:bodyPr>
          <a:lstStyle/>
          <a:p>
            <a:r>
              <a:rPr sz="1150" b="0">
                <a:solidFill>
                  <a:srgbClr val="2E2E2E"/>
                </a:solidFill>
                <a:latin typeface="Calibri"/>
              </a:rPr>
              <a:t>'Hydrolyzed Eggshell Membrane × Functional Food &amp; Beverages' is the</a:t>
            </a:r>
          </a:p>
        </p:txBody>
      </p:sp>
      <p:sp>
        <p:nvSpPr>
          <p:cNvPr id="122" name="TextBox 121"/>
          <p:cNvSpPr txBox="1"/>
          <p:nvPr/>
        </p:nvSpPr>
        <p:spPr>
          <a:xfrm>
            <a:off x="7715250" y="2101215"/>
            <a:ext cx="2080108" cy="194310"/>
          </a:xfrm>
          <a:prstGeom prst="rect">
            <a:avLst/>
          </a:prstGeom>
          <a:noFill/>
        </p:spPr>
        <p:txBody>
          <a:bodyPr wrap="none" lIns="0" rIns="0" tIns="0" bIns="0">
            <a:spAutoFit/>
          </a:bodyPr>
          <a:lstStyle/>
          <a:p>
            <a:r>
              <a:rPr sz="1150" b="0">
                <a:solidFill>
                  <a:srgbClr val="2E2E2E"/>
                </a:solidFill>
                <a:latin typeface="Calibri"/>
              </a:rPr>
              <a:t>single largest cross-sectional cell (</a:t>
            </a:r>
          </a:p>
        </p:txBody>
      </p:sp>
      <p:pic>
        <p:nvPicPr>
          <p:cNvPr id="123" name="Picture 122" descr="lock.png"/>
          <p:cNvPicPr>
            <a:picLocks noChangeAspect="1"/>
          </p:cNvPicPr>
          <p:nvPr/>
        </p:nvPicPr>
        <p:blipFill>
          <a:blip r:embed="rId4"/>
          <a:stretch>
            <a:fillRect/>
          </a:stretch>
        </p:blipFill>
        <p:spPr>
          <a:xfrm>
            <a:off x="9744512" y="2090991"/>
            <a:ext cx="134549" cy="195707"/>
          </a:xfrm>
          <a:prstGeom prst="rect">
            <a:avLst/>
          </a:prstGeom>
        </p:spPr>
      </p:pic>
      <p:sp>
        <p:nvSpPr>
          <p:cNvPr id="124" name="TextBox 123"/>
          <p:cNvSpPr txBox="1"/>
          <p:nvPr/>
        </p:nvSpPr>
        <p:spPr>
          <a:xfrm>
            <a:off x="9919621" y="2101215"/>
            <a:ext cx="1418604" cy="194310"/>
          </a:xfrm>
          <a:prstGeom prst="rect">
            <a:avLst/>
          </a:prstGeom>
          <a:noFill/>
        </p:spPr>
        <p:txBody>
          <a:bodyPr wrap="none" lIns="0" rIns="0" tIns="0" bIns="0">
            <a:spAutoFit/>
          </a:bodyPr>
          <a:lstStyle/>
          <a:p>
            <a:r>
              <a:rPr sz="1150" b="0">
                <a:solidFill>
                  <a:srgbClr val="2E2E2E"/>
                </a:solidFill>
                <a:latin typeface="Calibri"/>
              </a:rPr>
              <a:t>US$ Mn, 2026E), while</a:t>
            </a:r>
          </a:p>
        </p:txBody>
      </p:sp>
      <p:sp>
        <p:nvSpPr>
          <p:cNvPr id="125" name="TextBox 124"/>
          <p:cNvSpPr txBox="1"/>
          <p:nvPr/>
        </p:nvSpPr>
        <p:spPr>
          <a:xfrm>
            <a:off x="7715250" y="2276475"/>
            <a:ext cx="3885449" cy="194310"/>
          </a:xfrm>
          <a:prstGeom prst="rect">
            <a:avLst/>
          </a:prstGeom>
          <a:noFill/>
        </p:spPr>
        <p:txBody>
          <a:bodyPr wrap="none" lIns="0" rIns="0" tIns="0" bIns="0">
            <a:spAutoFit/>
          </a:bodyPr>
          <a:lstStyle/>
          <a:p>
            <a:r>
              <a:rPr sz="1150" b="0">
                <a:solidFill>
                  <a:srgbClr val="2E2E2E"/>
                </a:solidFill>
                <a:latin typeface="Calibri"/>
              </a:rPr>
              <a:t>'Micronized Eggshell Membrane × Functional Food &amp; Beverages'</a:t>
            </a:r>
          </a:p>
        </p:txBody>
      </p:sp>
      <p:sp>
        <p:nvSpPr>
          <p:cNvPr id="126" name="TextBox 125"/>
          <p:cNvSpPr txBox="1"/>
          <p:nvPr/>
        </p:nvSpPr>
        <p:spPr>
          <a:xfrm>
            <a:off x="7715250" y="2451735"/>
            <a:ext cx="2424392" cy="194310"/>
          </a:xfrm>
          <a:prstGeom prst="rect">
            <a:avLst/>
          </a:prstGeom>
          <a:noFill/>
        </p:spPr>
        <p:txBody>
          <a:bodyPr wrap="none" lIns="0" rIns="0" tIns="0" bIns="0">
            <a:spAutoFit/>
          </a:bodyPr>
          <a:lstStyle/>
          <a:p>
            <a:r>
              <a:rPr sz="1150" b="0">
                <a:solidFill>
                  <a:srgbClr val="2E2E2E"/>
                </a:solidFill>
                <a:latin typeface="Calibri"/>
              </a:rPr>
              <a:t>records the fastest growth at a CAGR of</a:t>
            </a:r>
          </a:p>
        </p:txBody>
      </p:sp>
      <p:pic>
        <p:nvPicPr>
          <p:cNvPr id="127" name="Picture 126" descr="lock.png"/>
          <p:cNvPicPr>
            <a:picLocks noChangeAspect="1"/>
          </p:cNvPicPr>
          <p:nvPr/>
        </p:nvPicPr>
        <p:blipFill>
          <a:blip r:embed="rId4"/>
          <a:stretch>
            <a:fillRect/>
          </a:stretch>
        </p:blipFill>
        <p:spPr>
          <a:xfrm>
            <a:off x="10088796" y="2441511"/>
            <a:ext cx="134549" cy="195707"/>
          </a:xfrm>
          <a:prstGeom prst="rect">
            <a:avLst/>
          </a:prstGeom>
        </p:spPr>
      </p:pic>
      <p:sp>
        <p:nvSpPr>
          <p:cNvPr id="128" name="TextBox 127"/>
          <p:cNvSpPr txBox="1"/>
          <p:nvPr/>
        </p:nvSpPr>
        <p:spPr>
          <a:xfrm>
            <a:off x="10263905" y="2451735"/>
            <a:ext cx="1217001" cy="194310"/>
          </a:xfrm>
          <a:prstGeom prst="rect">
            <a:avLst/>
          </a:prstGeom>
          <a:noFill/>
        </p:spPr>
        <p:txBody>
          <a:bodyPr wrap="none" lIns="0" rIns="0" tIns="0" bIns="0">
            <a:spAutoFit/>
          </a:bodyPr>
          <a:lstStyle/>
          <a:p>
            <a:r>
              <a:rPr sz="1150" b="0">
                <a:solidFill>
                  <a:srgbClr val="2E2E2E"/>
                </a:solidFill>
                <a:latin typeface="Calibri"/>
              </a:rPr>
              <a:t>over 2026E–2036F.</a:t>
            </a:r>
          </a:p>
        </p:txBody>
      </p:sp>
      <p:sp>
        <p:nvSpPr>
          <p:cNvPr id="129" name="TextBox 128"/>
          <p:cNvSpPr txBox="1"/>
          <p:nvPr/>
        </p:nvSpPr>
        <p:spPr>
          <a:xfrm>
            <a:off x="7715250" y="2679573"/>
            <a:ext cx="4171950" cy="194310"/>
          </a:xfrm>
          <a:prstGeom prst="rect">
            <a:avLst/>
          </a:prstGeom>
          <a:noFill/>
        </p:spPr>
        <p:txBody>
          <a:bodyPr wrap="none" lIns="0" rIns="0" tIns="0" bIns="0">
            <a:spAutoFit/>
          </a:bodyPr>
          <a:lstStyle/>
          <a:p>
            <a:r>
              <a:rPr sz="1150" b="0">
                <a:solidFill>
                  <a:srgbClr val="2E2E2E"/>
                </a:solidFill>
                <a:latin typeface="Calibri"/>
              </a:rPr>
              <a:t>Combined, the top three product type × application cells generate an</a:t>
            </a:r>
          </a:p>
        </p:txBody>
      </p:sp>
      <p:sp>
        <p:nvSpPr>
          <p:cNvPr id="130" name="TextBox 129"/>
          <p:cNvSpPr txBox="1"/>
          <p:nvPr/>
        </p:nvSpPr>
        <p:spPr>
          <a:xfrm>
            <a:off x="7715250" y="2854832"/>
            <a:ext cx="1594036" cy="194310"/>
          </a:xfrm>
          <a:prstGeom prst="rect">
            <a:avLst/>
          </a:prstGeom>
          <a:noFill/>
        </p:spPr>
        <p:txBody>
          <a:bodyPr wrap="none" lIns="0" rIns="0" tIns="0" bIns="0">
            <a:spAutoFit/>
          </a:bodyPr>
          <a:lstStyle/>
          <a:p>
            <a:r>
              <a:rPr sz="1150" b="0">
                <a:solidFill>
                  <a:srgbClr val="2E2E2E"/>
                </a:solidFill>
                <a:latin typeface="Calibri"/>
              </a:rPr>
              <a:t>absolute $ opportunity of</a:t>
            </a:r>
          </a:p>
        </p:txBody>
      </p:sp>
      <p:pic>
        <p:nvPicPr>
          <p:cNvPr id="131" name="Picture 130" descr="lock.png"/>
          <p:cNvPicPr>
            <a:picLocks noChangeAspect="1"/>
          </p:cNvPicPr>
          <p:nvPr/>
        </p:nvPicPr>
        <p:blipFill>
          <a:blip r:embed="rId4"/>
          <a:stretch>
            <a:fillRect/>
          </a:stretch>
        </p:blipFill>
        <p:spPr>
          <a:xfrm>
            <a:off x="9258439" y="2844609"/>
            <a:ext cx="134549" cy="195707"/>
          </a:xfrm>
          <a:prstGeom prst="rect">
            <a:avLst/>
          </a:prstGeom>
        </p:spPr>
      </p:pic>
      <p:sp>
        <p:nvSpPr>
          <p:cNvPr id="132" name="TextBox 131"/>
          <p:cNvSpPr txBox="1"/>
          <p:nvPr/>
        </p:nvSpPr>
        <p:spPr>
          <a:xfrm>
            <a:off x="9433549" y="2854832"/>
            <a:ext cx="1155386" cy="194310"/>
          </a:xfrm>
          <a:prstGeom prst="rect">
            <a:avLst/>
          </a:prstGeom>
          <a:noFill/>
        </p:spPr>
        <p:txBody>
          <a:bodyPr wrap="none" lIns="0" rIns="0" tIns="0" bIns="0">
            <a:spAutoFit/>
          </a:bodyPr>
          <a:lstStyle/>
          <a:p>
            <a:r>
              <a:rPr sz="1150" b="0">
                <a:solidFill>
                  <a:srgbClr val="2E2E2E"/>
                </a:solidFill>
                <a:latin typeface="Calibri"/>
              </a:rPr>
              <a:t>US$ Mn by 2036F.</a:t>
            </a: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Share Analysis: Product Type × Application, 2026E</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 share of North America market value, each row split across all application sub-segments</a:t>
            </a:r>
          </a:p>
        </p:txBody>
      </p:sp>
      <p:sp>
        <p:nvSpPr>
          <p:cNvPr id="7" name="Rounded Rectangle 6"/>
          <p:cNvSpPr/>
          <p:nvPr/>
        </p:nvSpPr>
        <p:spPr>
          <a:xfrm>
            <a:off x="142875" y="981075"/>
            <a:ext cx="11906250" cy="3048000"/>
          </a:xfrm>
          <a:prstGeom prst="roundRect">
            <a:avLst>
              <a:gd name="adj" fmla="val 2500"/>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Share, Product Type × Application, 2026E (% of each row)</a:t>
            </a:r>
          </a:p>
        </p:txBody>
      </p:sp>
      <p:graphicFrame>
        <p:nvGraphicFramePr>
          <p:cNvPr id="9" name="Table 8"/>
          <p:cNvGraphicFramePr>
            <a:graphicFrameLocks noGrp="1"/>
          </p:cNvGraphicFramePr>
          <p:nvPr/>
        </p:nvGraphicFramePr>
        <p:xfrm>
          <a:off x="152400" y="1238250"/>
          <a:ext cx="11890609" cy="2581276"/>
        </p:xfrm>
        <a:graphic>
          <a:graphicData uri="http://schemas.openxmlformats.org/drawingml/2006/table">
            <a:tbl>
              <a:tblPr>
                <a:tableStyleId>{5C22544A-7EE6-4342-B048-85BDC9FD1C3A}</a:tableStyleId>
              </a:tblPr>
              <a:tblGrid>
                <a:gridCol w="2316843"/>
                <a:gridCol w="919004"/>
                <a:gridCol w="919350"/>
                <a:gridCol w="917646"/>
                <a:gridCol w="679924"/>
                <a:gridCol w="658966"/>
                <a:gridCol w="658962"/>
                <a:gridCol w="1037827"/>
                <a:gridCol w="1038884"/>
                <a:gridCol w="841096"/>
                <a:gridCol w="607199"/>
                <a:gridCol w="803489"/>
                <a:gridCol w="491419"/>
              </a:tblGrid>
              <a:tr h="1595628">
                <a:tc>
                  <a:txBody>
                    <a:bodyPr wrap="none"/>
                    <a:lstStyle/>
                    <a:p>
                      <a:pPr algn="l"/>
                      <a:r>
                        <a:rPr sz="1100" b="1">
                          <a:solidFill>
                            <a:srgbClr val="0E2A5C"/>
                          </a:solidFill>
                          <a:latin typeface="Calibri"/>
                        </a:rPr>
                        <a:t>Product Type</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Dietary Supplements &amp; Nutraceuticals | Joint &amp; Bone Health</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Dietary Supplements &amp; Nutraceuticals | Skin, Hair &amp; Nail Health</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Dietary Supplements &amp; Nutraceuticals | Others</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Functional Food &amp; Beverages</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Cosmetics &amp; Personal Care | Skin Care</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Cosmetics &amp; Personal Care | Hair Care</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Pharmaceuticals &amp; Biomedical | Wound Care &amp; Dressings</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Pharmaceuticals &amp; Biomedical | Tissue Engineering &amp; Drug Delivery</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Animal Nutrition &amp; Pet Care | Pet Joint &amp; Skin Supplements</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Animal Nutrition &amp; Pet Care | Livestock &amp; Poultry Feed</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Industrial &amp; Biomaterials</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Total</a:t>
                      </a:r>
                      <a:endParaRPr sz="1100"/>
                    </a:p>
                  </a:txBody>
                  <a:tcPr marL="19050" marR="14288" marT="19050" marB="19050" anchor="ctr">
                    <a:solidFill>
                      <a:srgbClr val="EBF2F9"/>
                    </a:solidFill>
                  </a:tcPr>
                </a:tc>
              </a:tr>
              <a:tr h="246412">
                <a:tc>
                  <a:txBody>
                    <a:bodyPr wrap="none"/>
                    <a:lstStyle/>
                    <a:p>
                      <a:pPr algn="l"/>
                      <a:r>
                        <a:rPr sz="1100" b="1">
                          <a:solidFill>
                            <a:srgbClr val="2E2E2E"/>
                          </a:solidFill>
                          <a:latin typeface="Calibri"/>
                        </a:rPr>
                        <a:t>Micronized Eggshell Membrane</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r>
              <a:tr h="246412">
                <a:tc>
                  <a:txBody>
                    <a:bodyPr wrap="none"/>
                    <a:lstStyle/>
                    <a:p>
                      <a:pPr algn="l"/>
                      <a:r>
                        <a:rPr sz="1100" b="1">
                          <a:solidFill>
                            <a:srgbClr val="2E2E2E"/>
                          </a:solidFill>
                          <a:latin typeface="Calibri"/>
                        </a:rPr>
                        <a:t>Hydrolyzed Eggshell Membrane</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r>
              <a:tr h="246412">
                <a:tc>
                  <a:txBody>
                    <a:bodyPr wrap="none"/>
                    <a:lstStyle/>
                    <a:p>
                      <a:pPr algn="l"/>
                      <a:r>
                        <a:rPr sz="1100" b="1">
                          <a:solidFill>
                            <a:srgbClr val="2E2E2E"/>
                          </a:solidFill>
                          <a:latin typeface="Calibri"/>
                        </a:rPr>
                        <a:t>Specialty Extracted Protein Fractions</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r>
              <a:tr h="246412">
                <a:tc>
                  <a:txBody>
                    <a:bodyPr wrap="none"/>
                    <a:lstStyle/>
                    <a:p>
                      <a:pPr algn="l"/>
                      <a:r>
                        <a:rPr sz="1100" b="1">
                          <a:solidFill>
                            <a:srgbClr val="2E2E2E"/>
                          </a:solidFill>
                          <a:latin typeface="Calibri"/>
                        </a:rPr>
                        <a:t>Total</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r>
            </a:tbl>
          </a:graphicData>
        </a:graphic>
      </p:graphicFrame>
      <p:sp>
        <p:nvSpPr>
          <p:cNvPr id="10" name="TextBox 9"/>
          <p:cNvSpPr txBox="1"/>
          <p:nvPr/>
        </p:nvSpPr>
        <p:spPr>
          <a:xfrm>
            <a:off x="219075" y="382905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11" name="Rounded Rectangle 10"/>
          <p:cNvSpPr/>
          <p:nvPr/>
        </p:nvSpPr>
        <p:spPr>
          <a:xfrm>
            <a:off x="142875" y="4162425"/>
            <a:ext cx="7286625" cy="2466975"/>
          </a:xfrm>
          <a:prstGeom prst="roundRect">
            <a:avLst>
              <a:gd name="adj" fmla="val 308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4219575"/>
            <a:ext cx="70961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Application Mix by Product Type, 2026E (% share)</a:t>
            </a:r>
          </a:p>
        </p:txBody>
      </p:sp>
      <p:graphicFrame>
        <p:nvGraphicFramePr>
          <p:cNvPr id="13" name="Chart 12"/>
          <p:cNvGraphicFramePr>
            <a:graphicFrameLocks noGrp="1"/>
          </p:cNvGraphicFramePr>
          <p:nvPr/>
        </p:nvGraphicFramePr>
        <p:xfrm>
          <a:off x="238125" y="4448175"/>
          <a:ext cx="7096125" cy="2124075"/>
        </p:xfrm>
        <a:graphic>
          <a:graphicData uri="http://schemas.openxmlformats.org/drawingml/2006/chart">
            <c:chart xmlns:c="http://schemas.openxmlformats.org/drawingml/2006/chart" r:id="rId3"/>
          </a:graphicData>
        </a:graphic>
      </p:graphicFrame>
      <p:sp>
        <p:nvSpPr>
          <p:cNvPr id="14" name="Rounded Rectangle 13"/>
          <p:cNvSpPr/>
          <p:nvPr/>
        </p:nvSpPr>
        <p:spPr>
          <a:xfrm>
            <a:off x="7581900" y="4162425"/>
            <a:ext cx="4457700" cy="2466975"/>
          </a:xfrm>
          <a:prstGeom prst="roundRect">
            <a:avLst>
              <a:gd name="adj" fmla="val 308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15250" y="4248150"/>
            <a:ext cx="4191000" cy="209550"/>
          </a:xfrm>
          <a:prstGeom prst="rect">
            <a:avLst/>
          </a:prstGeom>
          <a:noFill/>
        </p:spPr>
        <p:txBody>
          <a:bodyPr wrap="square" lIns="0" rIns="19050" tIns="9525" bIns="9525">
            <a:spAutoFit/>
          </a:bodyPr>
          <a:lstStyle/>
          <a:p>
            <a:pPr algn="l"/>
            <a:r>
              <a:rPr sz="1300" b="1">
                <a:solidFill>
                  <a:srgbClr val="0E2A5C"/>
                </a:solidFill>
                <a:latin typeface="Calibri"/>
              </a:rPr>
              <a:t>Share Insights</a:t>
            </a:r>
          </a:p>
        </p:txBody>
      </p:sp>
      <p:sp>
        <p:nvSpPr>
          <p:cNvPr id="16" name="Rectangle 15"/>
          <p:cNvSpPr/>
          <p:nvPr/>
        </p:nvSpPr>
        <p:spPr>
          <a:xfrm>
            <a:off x="7715250" y="4486275"/>
            <a:ext cx="419100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15250" y="4572000"/>
            <a:ext cx="4191000" cy="19812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p:txBody>
      </p:sp>
      <p:sp>
        <p:nvSpPr>
          <p:cNvPr id="18" name="Rectangle 17"/>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20" name="Picture 19" descr="lock.png"/>
          <p:cNvPicPr>
            <a:picLocks noChangeAspect="1"/>
          </p:cNvPicPr>
          <p:nvPr/>
        </p:nvPicPr>
        <p:blipFill>
          <a:blip r:embed="rId5"/>
          <a:stretch>
            <a:fillRect/>
          </a:stretch>
        </p:blipFill>
        <p:spPr>
          <a:xfrm>
            <a:off x="7034308" y="3060002"/>
            <a:ext cx="366712" cy="533399"/>
          </a:xfrm>
          <a:prstGeom prst="rect">
            <a:avLst/>
          </a:prstGeom>
        </p:spPr>
      </p:pic>
      <p:pic>
        <p:nvPicPr>
          <p:cNvPr id="21" name="Picture 20" descr="lock.png"/>
          <p:cNvPicPr>
            <a:picLocks noChangeAspect="1"/>
          </p:cNvPicPr>
          <p:nvPr/>
        </p:nvPicPr>
        <p:blipFill>
          <a:blip r:embed="rId5"/>
          <a:stretch>
            <a:fillRect/>
          </a:stretch>
        </p:blipFill>
        <p:spPr>
          <a:xfrm>
            <a:off x="3752764" y="4813024"/>
            <a:ext cx="355653" cy="517314"/>
          </a:xfrm>
          <a:prstGeom prst="rect">
            <a:avLst/>
          </a:prstGeom>
        </p:spPr>
      </p:pic>
      <p:sp>
        <p:nvSpPr>
          <p:cNvPr id="22" name="TextBox 21"/>
          <p:cNvSpPr txBox="1"/>
          <p:nvPr/>
        </p:nvSpPr>
        <p:spPr>
          <a:xfrm>
            <a:off x="7715250" y="4581525"/>
            <a:ext cx="3523747" cy="194310"/>
          </a:xfrm>
          <a:prstGeom prst="rect">
            <a:avLst/>
          </a:prstGeom>
          <a:noFill/>
        </p:spPr>
        <p:txBody>
          <a:bodyPr wrap="none" lIns="0" rIns="0" tIns="0" bIns="0">
            <a:spAutoFit/>
          </a:bodyPr>
          <a:lstStyle/>
          <a:p>
            <a:r>
              <a:rPr sz="1150" b="0">
                <a:solidFill>
                  <a:srgbClr val="2E2E2E"/>
                </a:solidFill>
                <a:latin typeface="Calibri"/>
              </a:rPr>
              <a:t>▪ 'Functional Food &amp; Beverages' holds the highest share of</a:t>
            </a:r>
          </a:p>
        </p:txBody>
      </p:sp>
      <p:sp>
        <p:nvSpPr>
          <p:cNvPr id="23" name="TextBox 22"/>
          <p:cNvSpPr txBox="1"/>
          <p:nvPr/>
        </p:nvSpPr>
        <p:spPr>
          <a:xfrm>
            <a:off x="7715250" y="4756785"/>
            <a:ext cx="2171960" cy="194310"/>
          </a:xfrm>
          <a:prstGeom prst="rect">
            <a:avLst/>
          </a:prstGeom>
          <a:noFill/>
        </p:spPr>
        <p:txBody>
          <a:bodyPr wrap="none" lIns="0" rIns="0" tIns="0" bIns="0">
            <a:spAutoFit/>
          </a:bodyPr>
          <a:lstStyle/>
          <a:p>
            <a:r>
              <a:rPr sz="1150" b="0">
                <a:solidFill>
                  <a:srgbClr val="2E2E2E"/>
                </a:solidFill>
                <a:latin typeface="Calibri"/>
              </a:rPr>
              <a:t>'Hydrolyzed Eggshell Membrane' at</a:t>
            </a:r>
          </a:p>
        </p:txBody>
      </p:sp>
      <p:pic>
        <p:nvPicPr>
          <p:cNvPr id="24" name="Picture 23" descr="lock.png"/>
          <p:cNvPicPr>
            <a:picLocks noChangeAspect="1"/>
          </p:cNvPicPr>
          <p:nvPr/>
        </p:nvPicPr>
        <p:blipFill>
          <a:blip r:embed="rId5"/>
          <a:stretch>
            <a:fillRect/>
          </a:stretch>
        </p:blipFill>
        <p:spPr>
          <a:xfrm>
            <a:off x="9836364" y="4746561"/>
            <a:ext cx="134549" cy="195707"/>
          </a:xfrm>
          <a:prstGeom prst="rect">
            <a:avLst/>
          </a:prstGeom>
        </p:spPr>
      </p:pic>
      <p:sp>
        <p:nvSpPr>
          <p:cNvPr id="25" name="TextBox 24"/>
          <p:cNvSpPr txBox="1"/>
          <p:nvPr/>
        </p:nvSpPr>
        <p:spPr>
          <a:xfrm>
            <a:off x="10011473" y="4756785"/>
            <a:ext cx="569404" cy="194310"/>
          </a:xfrm>
          <a:prstGeom prst="rect">
            <a:avLst/>
          </a:prstGeom>
          <a:noFill/>
        </p:spPr>
        <p:txBody>
          <a:bodyPr wrap="none" lIns="0" rIns="0" tIns="0" bIns="0">
            <a:spAutoFit/>
          </a:bodyPr>
          <a:lstStyle/>
          <a:p>
            <a:r>
              <a:rPr sz="1150" b="0">
                <a:solidFill>
                  <a:srgbClr val="2E2E2E"/>
                </a:solidFill>
                <a:latin typeface="Calibri"/>
              </a:rPr>
              <a:t>(2026E).</a:t>
            </a:r>
          </a:p>
        </p:txBody>
      </p:sp>
      <p:sp>
        <p:nvSpPr>
          <p:cNvPr id="26" name="TextBox 25"/>
          <p:cNvSpPr txBox="1"/>
          <p:nvPr/>
        </p:nvSpPr>
        <p:spPr>
          <a:xfrm>
            <a:off x="7715250" y="4984622"/>
            <a:ext cx="4123952" cy="194310"/>
          </a:xfrm>
          <a:prstGeom prst="rect">
            <a:avLst/>
          </a:prstGeom>
          <a:noFill/>
        </p:spPr>
        <p:txBody>
          <a:bodyPr wrap="none" lIns="0" rIns="0" tIns="0" bIns="0">
            <a:spAutoFit/>
          </a:bodyPr>
          <a:lstStyle/>
          <a:p>
            <a:r>
              <a:rPr sz="1150" b="0">
                <a:solidFill>
                  <a:srgbClr val="2E2E2E"/>
                </a:solidFill>
                <a:latin typeface="Calibri"/>
              </a:rPr>
              <a:t>▪ 'Hydrolyzed Eggshell Membrane' is the most concentrated product</a:t>
            </a:r>
          </a:p>
        </p:txBody>
      </p:sp>
      <p:sp>
        <p:nvSpPr>
          <p:cNvPr id="27" name="TextBox 26"/>
          <p:cNvSpPr txBox="1"/>
          <p:nvPr/>
        </p:nvSpPr>
        <p:spPr>
          <a:xfrm>
            <a:off x="7715250" y="5159882"/>
            <a:ext cx="1476511" cy="194310"/>
          </a:xfrm>
          <a:prstGeom prst="rect">
            <a:avLst/>
          </a:prstGeom>
          <a:noFill/>
        </p:spPr>
        <p:txBody>
          <a:bodyPr wrap="none" lIns="0" rIns="0" tIns="0" bIns="0">
            <a:spAutoFit/>
          </a:bodyPr>
          <a:lstStyle/>
          <a:p>
            <a:r>
              <a:rPr sz="1150" b="0">
                <a:solidFill>
                  <a:srgbClr val="2E2E2E"/>
                </a:solidFill>
                <a:latin typeface="Calibri"/>
              </a:rPr>
              <a:t>type sub-segment, with</a:t>
            </a:r>
          </a:p>
        </p:txBody>
      </p:sp>
      <p:pic>
        <p:nvPicPr>
          <p:cNvPr id="28" name="Picture 27" descr="lock.png"/>
          <p:cNvPicPr>
            <a:picLocks noChangeAspect="1"/>
          </p:cNvPicPr>
          <p:nvPr/>
        </p:nvPicPr>
        <p:blipFill>
          <a:blip r:embed="rId5"/>
          <a:stretch>
            <a:fillRect/>
          </a:stretch>
        </p:blipFill>
        <p:spPr>
          <a:xfrm>
            <a:off x="9140915" y="5149659"/>
            <a:ext cx="134549" cy="195707"/>
          </a:xfrm>
          <a:prstGeom prst="rect">
            <a:avLst/>
          </a:prstGeom>
        </p:spPr>
      </p:pic>
      <p:sp>
        <p:nvSpPr>
          <p:cNvPr id="29" name="TextBox 28"/>
          <p:cNvSpPr txBox="1"/>
          <p:nvPr/>
        </p:nvSpPr>
        <p:spPr>
          <a:xfrm>
            <a:off x="9316024" y="5159882"/>
            <a:ext cx="2076369" cy="194310"/>
          </a:xfrm>
          <a:prstGeom prst="rect">
            <a:avLst/>
          </a:prstGeom>
          <a:noFill/>
        </p:spPr>
        <p:txBody>
          <a:bodyPr wrap="none" lIns="0" rIns="0" tIns="0" bIns="0">
            <a:spAutoFit/>
          </a:bodyPr>
          <a:lstStyle/>
          <a:p>
            <a:r>
              <a:rPr sz="1150" b="0">
                <a:solidFill>
                  <a:srgbClr val="2E2E2E"/>
                </a:solidFill>
                <a:latin typeface="Calibri"/>
              </a:rPr>
              <a:t>of its value via 'Functional Food &amp;</a:t>
            </a:r>
          </a:p>
        </p:txBody>
      </p:sp>
      <p:sp>
        <p:nvSpPr>
          <p:cNvPr id="30" name="TextBox 29"/>
          <p:cNvSpPr txBox="1"/>
          <p:nvPr/>
        </p:nvSpPr>
        <p:spPr>
          <a:xfrm>
            <a:off x="7715250" y="5335142"/>
            <a:ext cx="755674" cy="194310"/>
          </a:xfrm>
          <a:prstGeom prst="rect">
            <a:avLst/>
          </a:prstGeom>
          <a:noFill/>
        </p:spPr>
        <p:txBody>
          <a:bodyPr wrap="none" lIns="0" rIns="0" tIns="0" bIns="0">
            <a:spAutoFit/>
          </a:bodyPr>
          <a:lstStyle/>
          <a:p>
            <a:r>
              <a:rPr sz="1150" b="0">
                <a:solidFill>
                  <a:srgbClr val="2E2E2E"/>
                </a:solidFill>
                <a:latin typeface="Calibri"/>
              </a:rPr>
              <a:t>Beverages'.</a:t>
            </a:r>
          </a:p>
        </p:txBody>
      </p:sp>
      <p:sp>
        <p:nvSpPr>
          <p:cNvPr id="31" name="TextBox 30"/>
          <p:cNvSpPr txBox="1"/>
          <p:nvPr/>
        </p:nvSpPr>
        <p:spPr>
          <a:xfrm>
            <a:off x="7715250" y="5562980"/>
            <a:ext cx="2399847" cy="194310"/>
          </a:xfrm>
          <a:prstGeom prst="rect">
            <a:avLst/>
          </a:prstGeom>
          <a:noFill/>
        </p:spPr>
        <p:txBody>
          <a:bodyPr wrap="none" lIns="0" rIns="0" tIns="0" bIns="0">
            <a:spAutoFit/>
          </a:bodyPr>
          <a:lstStyle/>
          <a:p>
            <a:r>
              <a:rPr sz="1150" b="0">
                <a:solidFill>
                  <a:srgbClr val="2E2E2E"/>
                </a:solidFill>
                <a:latin typeface="Calibri"/>
              </a:rPr>
              <a:t>▪ 'Functional Food &amp; Beverages' gains +</a:t>
            </a:r>
          </a:p>
        </p:txBody>
      </p:sp>
      <p:pic>
        <p:nvPicPr>
          <p:cNvPr id="32" name="Picture 31" descr="lock.png"/>
          <p:cNvPicPr>
            <a:picLocks noChangeAspect="1"/>
          </p:cNvPicPr>
          <p:nvPr/>
        </p:nvPicPr>
        <p:blipFill>
          <a:blip r:embed="rId5"/>
          <a:stretch>
            <a:fillRect/>
          </a:stretch>
        </p:blipFill>
        <p:spPr>
          <a:xfrm>
            <a:off x="10064251" y="5552757"/>
            <a:ext cx="134549" cy="195707"/>
          </a:xfrm>
          <a:prstGeom prst="rect">
            <a:avLst/>
          </a:prstGeom>
        </p:spPr>
      </p:pic>
      <p:sp>
        <p:nvSpPr>
          <p:cNvPr id="33" name="TextBox 32"/>
          <p:cNvSpPr txBox="1"/>
          <p:nvPr/>
        </p:nvSpPr>
        <p:spPr>
          <a:xfrm>
            <a:off x="10239360" y="5562980"/>
            <a:ext cx="1581199" cy="194310"/>
          </a:xfrm>
          <a:prstGeom prst="rect">
            <a:avLst/>
          </a:prstGeom>
          <a:noFill/>
        </p:spPr>
        <p:txBody>
          <a:bodyPr wrap="none" lIns="0" rIns="0" tIns="0" bIns="0">
            <a:spAutoFit/>
          </a:bodyPr>
          <a:lstStyle/>
          <a:p>
            <a:r>
              <a:rPr sz="1150" b="0">
                <a:solidFill>
                  <a:srgbClr val="2E2E2E"/>
                </a:solidFill>
                <a:latin typeface="Calibri"/>
              </a:rPr>
              <a:t>BPS of share of the North</a:t>
            </a:r>
          </a:p>
        </p:txBody>
      </p:sp>
      <p:sp>
        <p:nvSpPr>
          <p:cNvPr id="34" name="TextBox 33"/>
          <p:cNvSpPr txBox="1"/>
          <p:nvPr/>
        </p:nvSpPr>
        <p:spPr>
          <a:xfrm>
            <a:off x="7715250" y="5738240"/>
            <a:ext cx="1986046" cy="194310"/>
          </a:xfrm>
          <a:prstGeom prst="rect">
            <a:avLst/>
          </a:prstGeom>
          <a:noFill/>
        </p:spPr>
        <p:txBody>
          <a:bodyPr wrap="none" lIns="0" rIns="0" tIns="0" bIns="0">
            <a:spAutoFit/>
          </a:bodyPr>
          <a:lstStyle/>
          <a:p>
            <a:r>
              <a:rPr sz="1150" b="0">
                <a:solidFill>
                  <a:srgbClr val="2E2E2E"/>
                </a:solidFill>
                <a:latin typeface="Calibri"/>
              </a:rPr>
              <a:t>America cross-section by 2036F.</a:t>
            </a:r>
          </a:p>
        </p:txBody>
      </p:sp>
      <p:sp>
        <p:nvSpPr>
          <p:cNvPr id="35" name="lockshield_13"/>
          <p:cNvSpPr/>
          <p:nvPr/>
        </p:nvSpPr>
        <p:spPr>
          <a:xfrm>
            <a:off x="238125" y="4448175"/>
            <a:ext cx="7096125" cy="21240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Absolute $ Opportunity &amp; Attractiveness: Product Type × Application, 2026E–2036F (1/3)</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Incremental value 2026E→2036F (US$ Mn) and value CAGR by cell; attractiveness index scored 1–5</a:t>
            </a:r>
          </a:p>
        </p:txBody>
      </p:sp>
      <p:sp>
        <p:nvSpPr>
          <p:cNvPr id="7" name="Rounded Rectangle 6"/>
          <p:cNvSpPr/>
          <p:nvPr/>
        </p:nvSpPr>
        <p:spPr>
          <a:xfrm>
            <a:off x="142875" y="981075"/>
            <a:ext cx="11906250" cy="5314950"/>
          </a:xfrm>
          <a:prstGeom prst="roundRect">
            <a:avLst>
              <a:gd name="adj" fmla="val 1433"/>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Incremental $ Opportunity (US$ Mn) and Value CAGR, Product Type × Application, 2026E–2036F</a:t>
            </a:r>
          </a:p>
        </p:txBody>
      </p:sp>
      <p:graphicFrame>
        <p:nvGraphicFramePr>
          <p:cNvPr id="9" name="Table 8"/>
          <p:cNvGraphicFramePr>
            <a:graphicFrameLocks noGrp="1"/>
          </p:cNvGraphicFramePr>
          <p:nvPr/>
        </p:nvGraphicFramePr>
        <p:xfrm>
          <a:off x="152400" y="1238250"/>
          <a:ext cx="11948263" cy="4848225"/>
        </p:xfrm>
        <a:graphic>
          <a:graphicData uri="http://schemas.openxmlformats.org/drawingml/2006/table">
            <a:tbl>
              <a:tblPr>
                <a:tableStyleId>{5C22544A-7EE6-4342-B048-85BDC9FD1C3A}</a:tableStyleId>
              </a:tblPr>
              <a:tblGrid>
                <a:gridCol w="3200399"/>
                <a:gridCol w="377254"/>
                <a:gridCol w="427395"/>
                <a:gridCol w="377254"/>
                <a:gridCol w="427395"/>
                <a:gridCol w="383371"/>
                <a:gridCol w="433512"/>
                <a:gridCol w="191293"/>
                <a:gridCol w="194945"/>
                <a:gridCol w="314859"/>
                <a:gridCol w="365001"/>
                <a:gridCol w="314859"/>
                <a:gridCol w="365001"/>
                <a:gridCol w="465340"/>
                <a:gridCol w="515482"/>
                <a:gridCol w="426191"/>
                <a:gridCol w="476332"/>
                <a:gridCol w="573002"/>
                <a:gridCol w="623143"/>
                <a:gridCol w="324628"/>
                <a:gridCol w="374769"/>
                <a:gridCol w="154591"/>
                <a:gridCol w="194945"/>
                <a:gridCol w="191293"/>
                <a:gridCol w="256009"/>
              </a:tblGrid>
              <a:tr h="1017270">
                <a:tc rowSpan="2">
                  <a:txBody>
                    <a:bodyPr wrap="none"/>
                    <a:lstStyle/>
                    <a:p>
                      <a:pPr algn="l"/>
                      <a:r>
                        <a:rPr sz="1100" b="1">
                          <a:solidFill>
                            <a:srgbClr val="0E2A5C"/>
                          </a:solidFill>
                          <a:latin typeface="Calibri"/>
                        </a:rPr>
                        <a:t>Produc</a:t>
                      </a:r>
                      <a:endParaRPr sz="1100"/>
                    </a:p>
                    <a:p>
                      <a:pPr algn="l"/>
                      <a:r>
                        <a:rPr sz="1100" b="1">
                          <a:solidFill>
                            <a:srgbClr val="0E2A5C"/>
                          </a:solidFill>
                          <a:latin typeface="Calibri"/>
                        </a:rPr>
                        <a:t>t Type</a:t>
                      </a:r>
                      <a:endParaRPr sz="1100"/>
                    </a:p>
                  </a:txBody>
                  <a:tcPr marL="19050" marR="14288" marT="19050" marB="19050" anchor="ctr">
                    <a:solidFill>
                      <a:srgbClr val="EBF2F9"/>
                    </a:solidFill>
                  </a:tcPr>
                </a:tc>
                <a:tc gridSpan="2">
                  <a:txBody>
                    <a:bodyPr wrap="none"/>
                    <a:lstStyle/>
                    <a:p>
                      <a:pPr algn="ctr"/>
                      <a:r>
                        <a:rPr sz="1100" b="1">
                          <a:solidFill>
                            <a:srgbClr val="0E2A5C"/>
                          </a:solidFill>
                          <a:latin typeface="Calibri"/>
                        </a:rPr>
                        <a:t>Dietary</a:t>
                      </a:r>
                      <a:endParaRPr sz="1100"/>
                    </a:p>
                    <a:p>
                      <a:pPr algn="ctr"/>
                      <a:r>
                        <a:rPr sz="1100" b="1">
                          <a:solidFill>
                            <a:srgbClr val="0E2A5C"/>
                          </a:solidFill>
                          <a:latin typeface="Calibri"/>
                        </a:rPr>
                        <a:t>Supplements &amp;</a:t>
                      </a:r>
                      <a:endParaRPr sz="1100"/>
                    </a:p>
                    <a:p>
                      <a:pPr algn="ctr"/>
                      <a:r>
                        <a:rPr sz="1100" b="1">
                          <a:solidFill>
                            <a:srgbClr val="0E2A5C"/>
                          </a:solidFill>
                          <a:latin typeface="Calibri"/>
                        </a:rPr>
                        <a:t>Nutraceuticals |</a:t>
                      </a:r>
                      <a:endParaRPr sz="1100"/>
                    </a:p>
                    <a:p>
                      <a:pPr algn="ctr"/>
                      <a:r>
                        <a:rPr sz="1100" b="1">
                          <a:solidFill>
                            <a:srgbClr val="0E2A5C"/>
                          </a:solidFill>
                          <a:latin typeface="Calibri"/>
                        </a:rPr>
                        <a:t>Joint &amp; Bone</a:t>
                      </a:r>
                      <a:endParaRPr sz="1100"/>
                    </a:p>
                    <a:p>
                      <a:pPr algn="ctr"/>
                      <a:r>
                        <a:rPr sz="1100" b="1">
                          <a:solidFill>
                            <a:srgbClr val="0E2A5C"/>
                          </a:solidFill>
                          <a:latin typeface="Calibri"/>
                        </a:rPr>
                        <a:t>Health</a:t>
                      </a:r>
                      <a:endParaRPr sz="1100"/>
                    </a:p>
                  </a:txBody>
                  <a:tcPr marL="19050" marR="14288" marT="19050" marB="19050" anchor="ctr">
                    <a:solidFill>
                      <a:srgbClr val="EBF2F9"/>
                    </a:solidFill>
                  </a:tcPr>
                </a:tc>
                <a:tc hMerge="1">
                  <a:txBody>
                    <a:bodyPr wrap="none"/>
                    <a:lstStyle/>
                    <a:p>
                      <a:pPr algn="ctr"/>
                      <a:endParaRPr sz="1100"/>
                    </a:p>
                  </a:txBody>
                  <a:tcPr marL="19050" marR="14288" marT="19050" marB="19050" anchor="ctr">
                    <a:solidFill>
                      <a:srgbClr val="EBF2F9"/>
                    </a:solidFill>
                  </a:tcPr>
                </a:tc>
                <a:tc gridSpan="2">
                  <a:txBody>
                    <a:bodyPr wrap="none"/>
                    <a:lstStyle/>
                    <a:p>
                      <a:pPr algn="ctr"/>
                      <a:r>
                        <a:rPr sz="1100" b="1">
                          <a:solidFill>
                            <a:srgbClr val="0E2A5C"/>
                          </a:solidFill>
                          <a:latin typeface="Calibri"/>
                        </a:rPr>
                        <a:t>Dietary</a:t>
                      </a:r>
                      <a:endParaRPr sz="1100"/>
                    </a:p>
                    <a:p>
                      <a:pPr algn="ctr"/>
                      <a:r>
                        <a:rPr sz="1100" b="1">
                          <a:solidFill>
                            <a:srgbClr val="0E2A5C"/>
                          </a:solidFill>
                          <a:latin typeface="Calibri"/>
                        </a:rPr>
                        <a:t>Supplements &amp;</a:t>
                      </a:r>
                      <a:endParaRPr sz="1100"/>
                    </a:p>
                    <a:p>
                      <a:pPr algn="ctr"/>
                      <a:r>
                        <a:rPr sz="1100" b="1">
                          <a:solidFill>
                            <a:srgbClr val="0E2A5C"/>
                          </a:solidFill>
                          <a:latin typeface="Calibri"/>
                        </a:rPr>
                        <a:t>Nutraceuticals |</a:t>
                      </a:r>
                      <a:endParaRPr sz="1100"/>
                    </a:p>
                    <a:p>
                      <a:pPr algn="ctr"/>
                      <a:r>
                        <a:rPr sz="1100" b="1">
                          <a:solidFill>
                            <a:srgbClr val="0E2A5C"/>
                          </a:solidFill>
                          <a:latin typeface="Calibri"/>
                        </a:rPr>
                        <a:t>Skin, Hair &amp; Nail</a:t>
                      </a:r>
                      <a:endParaRPr sz="1100"/>
                    </a:p>
                    <a:p>
                      <a:pPr algn="ctr"/>
                      <a:r>
                        <a:rPr sz="1100" b="1">
                          <a:solidFill>
                            <a:srgbClr val="0E2A5C"/>
                          </a:solidFill>
                          <a:latin typeface="Calibri"/>
                        </a:rPr>
                        <a:t>Health</a:t>
                      </a:r>
                      <a:endParaRPr sz="1100"/>
                    </a:p>
                  </a:txBody>
                  <a:tcPr marL="19050" marR="14288" marT="19050" marB="19050" anchor="ctr">
                    <a:solidFill>
                      <a:srgbClr val="EBF2F9"/>
                    </a:solidFill>
                  </a:tcPr>
                </a:tc>
                <a:tc hMerge="1">
                  <a:txBody>
                    <a:bodyPr wrap="none"/>
                    <a:lstStyle/>
                    <a:p>
                      <a:pPr algn="ctr"/>
                      <a:endParaRPr sz="1100"/>
                    </a:p>
                  </a:txBody>
                  <a:tcPr marL="19050" marR="14288" marT="19050" marB="19050" anchor="ctr">
                    <a:solidFill>
                      <a:srgbClr val="EBF2F9"/>
                    </a:solidFill>
                  </a:tcPr>
                </a:tc>
                <a:tc gridSpan="2">
                  <a:txBody>
                    <a:bodyPr wrap="none"/>
                    <a:lstStyle/>
                    <a:p>
                      <a:pPr algn="ctr"/>
                      <a:r>
                        <a:rPr sz="1100" b="1">
                          <a:solidFill>
                            <a:srgbClr val="0E2A5C"/>
                          </a:solidFill>
                          <a:latin typeface="Calibri"/>
                        </a:rPr>
                        <a:t>Dietary</a:t>
                      </a:r>
                      <a:endParaRPr sz="1100"/>
                    </a:p>
                    <a:p>
                      <a:pPr algn="ctr"/>
                      <a:r>
                        <a:rPr sz="1100" b="1">
                          <a:solidFill>
                            <a:srgbClr val="0E2A5C"/>
                          </a:solidFill>
                          <a:latin typeface="Calibri"/>
                        </a:rPr>
                        <a:t>Supplements &amp;</a:t>
                      </a:r>
                      <a:endParaRPr sz="1100"/>
                    </a:p>
                    <a:p>
                      <a:pPr algn="ctr"/>
                      <a:r>
                        <a:rPr sz="1100" b="1">
                          <a:solidFill>
                            <a:srgbClr val="0E2A5C"/>
                          </a:solidFill>
                          <a:latin typeface="Calibri"/>
                        </a:rPr>
                        <a:t>Nutraceuticals |</a:t>
                      </a:r>
                      <a:endParaRPr sz="1100"/>
                    </a:p>
                    <a:p>
                      <a:pPr algn="ctr"/>
                      <a:r>
                        <a:rPr sz="1100" b="1">
                          <a:solidFill>
                            <a:srgbClr val="0E2A5C"/>
                          </a:solidFill>
                          <a:latin typeface="Calibri"/>
                        </a:rPr>
                        <a:t>Others</a:t>
                      </a:r>
                      <a:endParaRPr sz="1100"/>
                    </a:p>
                  </a:txBody>
                  <a:tcPr marL="19050" marR="14288" marT="19050" marB="19050" anchor="ctr">
                    <a:solidFill>
                      <a:srgbClr val="EBF2F9"/>
                    </a:solidFill>
                  </a:tcPr>
                </a:tc>
                <a:tc hMerge="1">
                  <a:txBody>
                    <a:bodyPr wrap="none"/>
                    <a:lstStyle/>
                    <a:p>
                      <a:pPr algn="ctr"/>
                      <a:endParaRPr sz="1100"/>
                    </a:p>
                  </a:txBody>
                  <a:tcPr marL="19050" marR="14288" marT="19050" marB="19050" anchor="ctr">
                    <a:solidFill>
                      <a:srgbClr val="EBF2F9"/>
                    </a:solidFill>
                  </a:tcPr>
                </a:tc>
                <a:tc gridSpan="2">
                  <a:txBody>
                    <a:bodyPr wrap="none"/>
                    <a:lstStyle/>
                    <a:p>
                      <a:pPr algn="ctr"/>
                      <a:r>
                        <a:rPr sz="1100" b="1">
                          <a:solidFill>
                            <a:srgbClr val="0E2A5C"/>
                          </a:solidFill>
                          <a:latin typeface="Calibri"/>
                        </a:rPr>
                        <a:t>Functio</a:t>
                      </a:r>
                      <a:endParaRPr sz="1100"/>
                    </a:p>
                    <a:p>
                      <a:pPr algn="ctr"/>
                      <a:r>
                        <a:rPr sz="1100" b="1">
                          <a:solidFill>
                            <a:srgbClr val="0E2A5C"/>
                          </a:solidFill>
                          <a:latin typeface="Calibri"/>
                        </a:rPr>
                        <a:t>nal</a:t>
                      </a:r>
                      <a:endParaRPr sz="1100"/>
                    </a:p>
                    <a:p>
                      <a:pPr algn="ctr"/>
                      <a:r>
                        <a:rPr sz="1100" b="1">
                          <a:solidFill>
                            <a:srgbClr val="0E2A5C"/>
                          </a:solidFill>
                          <a:latin typeface="Calibri"/>
                        </a:rPr>
                        <a:t>Food &amp;</a:t>
                      </a:r>
                      <a:endParaRPr sz="1100"/>
                    </a:p>
                    <a:p>
                      <a:pPr algn="ctr"/>
                      <a:r>
                        <a:rPr sz="1100" b="1">
                          <a:solidFill>
                            <a:srgbClr val="0E2A5C"/>
                          </a:solidFill>
                          <a:latin typeface="Calibri"/>
                        </a:rPr>
                        <a:t>Bevera</a:t>
                      </a:r>
                      <a:endParaRPr sz="1100"/>
                    </a:p>
                    <a:p>
                      <a:pPr algn="ctr"/>
                      <a:r>
                        <a:rPr sz="1100" b="1">
                          <a:solidFill>
                            <a:srgbClr val="0E2A5C"/>
                          </a:solidFill>
                          <a:latin typeface="Calibri"/>
                        </a:rPr>
                        <a:t>ges</a:t>
                      </a:r>
                      <a:endParaRPr sz="1100"/>
                    </a:p>
                  </a:txBody>
                  <a:tcPr marL="19050" marR="14288" marT="19050" marB="19050" anchor="ctr">
                    <a:solidFill>
                      <a:srgbClr val="EBF2F9"/>
                    </a:solidFill>
                  </a:tcPr>
                </a:tc>
                <a:tc hMerge="1">
                  <a:txBody>
                    <a:bodyPr wrap="none"/>
                    <a:lstStyle/>
                    <a:p>
                      <a:pPr algn="ctr"/>
                      <a:endParaRPr sz="1100"/>
                    </a:p>
                  </a:txBody>
                  <a:tcPr marL="19050" marR="14288" marT="19050" marB="19050" anchor="ctr">
                    <a:solidFill>
                      <a:srgbClr val="EBF2F9"/>
                    </a:solidFill>
                  </a:tcPr>
                </a:tc>
                <a:tc gridSpan="2">
                  <a:txBody>
                    <a:bodyPr wrap="none"/>
                    <a:lstStyle/>
                    <a:p>
                      <a:pPr algn="ctr"/>
                      <a:r>
                        <a:rPr sz="1100" b="1">
                          <a:solidFill>
                            <a:srgbClr val="0E2A5C"/>
                          </a:solidFill>
                          <a:latin typeface="Calibri"/>
                        </a:rPr>
                        <a:t>Cosmetics &amp;</a:t>
                      </a:r>
                      <a:endParaRPr sz="1100"/>
                    </a:p>
                    <a:p>
                      <a:pPr algn="ctr"/>
                      <a:r>
                        <a:rPr sz="1100" b="1">
                          <a:solidFill>
                            <a:srgbClr val="0E2A5C"/>
                          </a:solidFill>
                          <a:latin typeface="Calibri"/>
                        </a:rPr>
                        <a:t>Personal Care</a:t>
                      </a:r>
                      <a:endParaRPr sz="1100"/>
                    </a:p>
                    <a:p>
                      <a:pPr algn="ctr"/>
                      <a:r>
                        <a:rPr sz="1100" b="1">
                          <a:solidFill>
                            <a:srgbClr val="0E2A5C"/>
                          </a:solidFill>
                          <a:latin typeface="Calibri"/>
                        </a:rPr>
                        <a:t>| Skin Care</a:t>
                      </a:r>
                      <a:endParaRPr sz="1100"/>
                    </a:p>
                  </a:txBody>
                  <a:tcPr marL="19050" marR="14288" marT="19050" marB="19050" anchor="ctr">
                    <a:solidFill>
                      <a:srgbClr val="EBF2F9"/>
                    </a:solidFill>
                  </a:tcPr>
                </a:tc>
                <a:tc hMerge="1">
                  <a:txBody>
                    <a:bodyPr wrap="none"/>
                    <a:lstStyle/>
                    <a:p>
                      <a:pPr algn="ctr"/>
                      <a:endParaRPr sz="1100"/>
                    </a:p>
                  </a:txBody>
                  <a:tcPr marL="19050" marR="14288" marT="19050" marB="19050" anchor="ctr">
                    <a:solidFill>
                      <a:srgbClr val="EBF2F9"/>
                    </a:solidFill>
                  </a:tcPr>
                </a:tc>
                <a:tc gridSpan="2">
                  <a:txBody>
                    <a:bodyPr wrap="none"/>
                    <a:lstStyle/>
                    <a:p>
                      <a:pPr algn="ctr"/>
                      <a:r>
                        <a:rPr sz="1100" b="1">
                          <a:solidFill>
                            <a:srgbClr val="0E2A5C"/>
                          </a:solidFill>
                          <a:latin typeface="Calibri"/>
                        </a:rPr>
                        <a:t>Cosmetics &amp;</a:t>
                      </a:r>
                      <a:endParaRPr sz="1100"/>
                    </a:p>
                    <a:p>
                      <a:pPr algn="ctr"/>
                      <a:r>
                        <a:rPr sz="1100" b="1">
                          <a:solidFill>
                            <a:srgbClr val="0E2A5C"/>
                          </a:solidFill>
                          <a:latin typeface="Calibri"/>
                        </a:rPr>
                        <a:t>Personal Care</a:t>
                      </a:r>
                      <a:endParaRPr sz="1100"/>
                    </a:p>
                    <a:p>
                      <a:pPr algn="ctr"/>
                      <a:r>
                        <a:rPr sz="1100" b="1">
                          <a:solidFill>
                            <a:srgbClr val="0E2A5C"/>
                          </a:solidFill>
                          <a:latin typeface="Calibri"/>
                        </a:rPr>
                        <a:t>| Hair Care</a:t>
                      </a:r>
                      <a:endParaRPr sz="1100"/>
                    </a:p>
                  </a:txBody>
                  <a:tcPr marL="19050" marR="14288" marT="19050" marB="19050" anchor="ctr">
                    <a:solidFill>
                      <a:srgbClr val="EBF2F9"/>
                    </a:solidFill>
                  </a:tcPr>
                </a:tc>
                <a:tc hMerge="1">
                  <a:txBody>
                    <a:bodyPr wrap="none"/>
                    <a:lstStyle/>
                    <a:p>
                      <a:pPr algn="ctr"/>
                      <a:endParaRPr sz="1100"/>
                    </a:p>
                  </a:txBody>
                  <a:tcPr marL="19050" marR="14288" marT="19050" marB="19050" anchor="ctr">
                    <a:solidFill>
                      <a:srgbClr val="EBF2F9"/>
                    </a:solidFill>
                  </a:tcPr>
                </a:tc>
                <a:tc gridSpan="2">
                  <a:txBody>
                    <a:bodyPr wrap="none"/>
                    <a:lstStyle/>
                    <a:p>
                      <a:pPr algn="ctr"/>
                      <a:r>
                        <a:rPr sz="1100" b="1">
                          <a:solidFill>
                            <a:srgbClr val="0E2A5C"/>
                          </a:solidFill>
                          <a:latin typeface="Calibri"/>
                        </a:rPr>
                        <a:t>Pharmaceuticals &amp;</a:t>
                      </a:r>
                      <a:endParaRPr sz="1100"/>
                    </a:p>
                    <a:p>
                      <a:pPr algn="ctr"/>
                      <a:r>
                        <a:rPr sz="1100" b="1">
                          <a:solidFill>
                            <a:srgbClr val="0E2A5C"/>
                          </a:solidFill>
                          <a:latin typeface="Calibri"/>
                        </a:rPr>
                        <a:t>Biomedical |</a:t>
                      </a:r>
                      <a:endParaRPr sz="1100"/>
                    </a:p>
                    <a:p>
                      <a:pPr algn="ctr"/>
                      <a:r>
                        <a:rPr sz="1100" b="1">
                          <a:solidFill>
                            <a:srgbClr val="0E2A5C"/>
                          </a:solidFill>
                          <a:latin typeface="Calibri"/>
                        </a:rPr>
                        <a:t>Wound Care &amp;</a:t>
                      </a:r>
                      <a:endParaRPr sz="1100"/>
                    </a:p>
                    <a:p>
                      <a:pPr algn="ctr"/>
                      <a:r>
                        <a:rPr sz="1100" b="1">
                          <a:solidFill>
                            <a:srgbClr val="0E2A5C"/>
                          </a:solidFill>
                          <a:latin typeface="Calibri"/>
                        </a:rPr>
                        <a:t>Dressings</a:t>
                      </a:r>
                      <a:endParaRPr sz="1100"/>
                    </a:p>
                  </a:txBody>
                  <a:tcPr marL="19050" marR="14288" marT="19050" marB="19050" anchor="ctr">
                    <a:solidFill>
                      <a:srgbClr val="EBF2F9"/>
                    </a:solidFill>
                  </a:tcPr>
                </a:tc>
                <a:tc hMerge="1">
                  <a:txBody>
                    <a:bodyPr wrap="none"/>
                    <a:lstStyle/>
                    <a:p>
                      <a:pPr algn="ctr"/>
                      <a:endParaRPr sz="1100"/>
                    </a:p>
                  </a:txBody>
                  <a:tcPr marL="19050" marR="14288" marT="19050" marB="19050" anchor="ctr">
                    <a:solidFill>
                      <a:srgbClr val="EBF2F9"/>
                    </a:solidFill>
                  </a:tcPr>
                </a:tc>
                <a:tc gridSpan="2">
                  <a:txBody>
                    <a:bodyPr wrap="none"/>
                    <a:lstStyle/>
                    <a:p>
                      <a:pPr algn="ctr"/>
                      <a:r>
                        <a:rPr sz="1100" b="1">
                          <a:solidFill>
                            <a:srgbClr val="0E2A5C"/>
                          </a:solidFill>
                          <a:latin typeface="Calibri"/>
                        </a:rPr>
                        <a:t>Pharmaceuticals &amp;</a:t>
                      </a:r>
                      <a:endParaRPr sz="1100"/>
                    </a:p>
                    <a:p>
                      <a:pPr algn="ctr"/>
                      <a:r>
                        <a:rPr sz="1100" b="1">
                          <a:solidFill>
                            <a:srgbClr val="0E2A5C"/>
                          </a:solidFill>
                          <a:latin typeface="Calibri"/>
                        </a:rPr>
                        <a:t>Biomedical |</a:t>
                      </a:r>
                      <a:endParaRPr sz="1100"/>
                    </a:p>
                    <a:p>
                      <a:pPr algn="ctr"/>
                      <a:r>
                        <a:rPr sz="1100" b="1">
                          <a:solidFill>
                            <a:srgbClr val="0E2A5C"/>
                          </a:solidFill>
                          <a:latin typeface="Calibri"/>
                        </a:rPr>
                        <a:t>Tissue Engineering</a:t>
                      </a:r>
                      <a:endParaRPr sz="1100"/>
                    </a:p>
                    <a:p>
                      <a:pPr algn="ctr"/>
                      <a:r>
                        <a:rPr sz="1100" b="1">
                          <a:solidFill>
                            <a:srgbClr val="0E2A5C"/>
                          </a:solidFill>
                          <a:latin typeface="Calibri"/>
                        </a:rPr>
                        <a:t>&amp; Drug Delivery</a:t>
                      </a:r>
                      <a:endParaRPr sz="1100"/>
                    </a:p>
                  </a:txBody>
                  <a:tcPr marL="19050" marR="14288" marT="19050" marB="19050" anchor="ctr">
                    <a:solidFill>
                      <a:srgbClr val="EBF2F9"/>
                    </a:solidFill>
                  </a:tcPr>
                </a:tc>
                <a:tc hMerge="1">
                  <a:txBody>
                    <a:bodyPr wrap="none"/>
                    <a:lstStyle/>
                    <a:p>
                      <a:pPr algn="ctr"/>
                      <a:endParaRPr sz="1100"/>
                    </a:p>
                  </a:txBody>
                  <a:tcPr marL="19050" marR="14288" marT="19050" marB="19050" anchor="ctr">
                    <a:solidFill>
                      <a:srgbClr val="EBF2F9"/>
                    </a:solidFill>
                  </a:tcPr>
                </a:tc>
                <a:tc gridSpan="2">
                  <a:txBody>
                    <a:bodyPr wrap="none"/>
                    <a:lstStyle/>
                    <a:p>
                      <a:pPr algn="ctr"/>
                      <a:r>
                        <a:rPr sz="1100" b="1">
                          <a:solidFill>
                            <a:srgbClr val="0E2A5C"/>
                          </a:solidFill>
                          <a:latin typeface="Calibri"/>
                        </a:rPr>
                        <a:t>Animal Nutrition &amp; Pet</a:t>
                      </a:r>
                      <a:endParaRPr sz="1100"/>
                    </a:p>
                    <a:p>
                      <a:pPr algn="ctr"/>
                      <a:r>
                        <a:rPr sz="1100" b="1">
                          <a:solidFill>
                            <a:srgbClr val="0E2A5C"/>
                          </a:solidFill>
                          <a:latin typeface="Calibri"/>
                        </a:rPr>
                        <a:t>Care | Pet Joint &amp; Skin</a:t>
                      </a:r>
                      <a:endParaRPr sz="1100"/>
                    </a:p>
                    <a:p>
                      <a:pPr algn="ctr"/>
                      <a:r>
                        <a:rPr sz="1100" b="1">
                          <a:solidFill>
                            <a:srgbClr val="0E2A5C"/>
                          </a:solidFill>
                          <a:latin typeface="Calibri"/>
                        </a:rPr>
                        <a:t>Supplements</a:t>
                      </a:r>
                      <a:endParaRPr sz="1100"/>
                    </a:p>
                  </a:txBody>
                  <a:tcPr marL="19050" marR="14288" marT="19050" marB="19050" anchor="ctr">
                    <a:solidFill>
                      <a:srgbClr val="EBF2F9"/>
                    </a:solidFill>
                  </a:tcPr>
                </a:tc>
                <a:tc hMerge="1">
                  <a:txBody>
                    <a:bodyPr wrap="none"/>
                    <a:lstStyle/>
                    <a:p>
                      <a:pPr algn="ctr"/>
                      <a:endParaRPr sz="1100"/>
                    </a:p>
                  </a:txBody>
                  <a:tcPr marL="19050" marR="14288" marT="19050" marB="19050" anchor="ctr">
                    <a:solidFill>
                      <a:srgbClr val="EBF2F9"/>
                    </a:solidFill>
                  </a:tcPr>
                </a:tc>
                <a:tc gridSpan="2">
                  <a:txBody>
                    <a:bodyPr wrap="none"/>
                    <a:lstStyle/>
                    <a:p>
                      <a:pPr algn="ctr"/>
                      <a:r>
                        <a:rPr sz="1100" b="1">
                          <a:solidFill>
                            <a:srgbClr val="0E2A5C"/>
                          </a:solidFill>
                          <a:latin typeface="Calibri"/>
                        </a:rPr>
                        <a:t>Animal</a:t>
                      </a:r>
                      <a:endParaRPr sz="1100"/>
                    </a:p>
                    <a:p>
                      <a:pPr algn="ctr"/>
                      <a:r>
                        <a:rPr sz="1100" b="1">
                          <a:solidFill>
                            <a:srgbClr val="0E2A5C"/>
                          </a:solidFill>
                          <a:latin typeface="Calibri"/>
                        </a:rPr>
                        <a:t>Nutrition &amp;</a:t>
                      </a:r>
                      <a:endParaRPr sz="1100"/>
                    </a:p>
                    <a:p>
                      <a:pPr algn="ctr"/>
                      <a:r>
                        <a:rPr sz="1100" b="1">
                          <a:solidFill>
                            <a:srgbClr val="0E2A5C"/>
                          </a:solidFill>
                          <a:latin typeface="Calibri"/>
                        </a:rPr>
                        <a:t>Pet Care |</a:t>
                      </a:r>
                      <a:endParaRPr sz="1100"/>
                    </a:p>
                    <a:p>
                      <a:pPr algn="ctr"/>
                      <a:r>
                        <a:rPr sz="1100" b="1">
                          <a:solidFill>
                            <a:srgbClr val="0E2A5C"/>
                          </a:solidFill>
                          <a:latin typeface="Calibri"/>
                        </a:rPr>
                        <a:t>Livestock &amp;</a:t>
                      </a:r>
                      <a:endParaRPr sz="1100"/>
                    </a:p>
                    <a:p>
                      <a:pPr algn="ctr"/>
                      <a:r>
                        <a:rPr sz="1100" b="1">
                          <a:solidFill>
                            <a:srgbClr val="0E2A5C"/>
                          </a:solidFill>
                          <a:latin typeface="Calibri"/>
                        </a:rPr>
                        <a:t>Poultry Feed</a:t>
                      </a:r>
                      <a:endParaRPr sz="1100"/>
                    </a:p>
                  </a:txBody>
                  <a:tcPr marL="19050" marR="14288" marT="19050" marB="19050" anchor="ctr">
                    <a:solidFill>
                      <a:srgbClr val="EBF2F9"/>
                    </a:solidFill>
                  </a:tcPr>
                </a:tc>
                <a:tc hMerge="1">
                  <a:txBody>
                    <a:bodyPr wrap="none"/>
                    <a:lstStyle/>
                    <a:p>
                      <a:pPr algn="ctr"/>
                      <a:endParaRPr sz="1100"/>
                    </a:p>
                  </a:txBody>
                  <a:tcPr marL="19050" marR="14288" marT="19050" marB="19050" anchor="ctr">
                    <a:solidFill>
                      <a:srgbClr val="EBF2F9"/>
                    </a:solidFill>
                  </a:tcPr>
                </a:tc>
                <a:tc gridSpan="2">
                  <a:txBody>
                    <a:bodyPr wrap="none"/>
                    <a:lstStyle/>
                    <a:p>
                      <a:pPr algn="ctr"/>
                      <a:r>
                        <a:rPr sz="1100" b="1">
                          <a:solidFill>
                            <a:srgbClr val="0E2A5C"/>
                          </a:solidFill>
                          <a:latin typeface="Calibri"/>
                        </a:rPr>
                        <a:t>Indust</a:t>
                      </a:r>
                      <a:endParaRPr sz="1100"/>
                    </a:p>
                    <a:p>
                      <a:pPr algn="ctr"/>
                      <a:r>
                        <a:rPr sz="1100" b="1">
                          <a:solidFill>
                            <a:srgbClr val="0E2A5C"/>
                          </a:solidFill>
                          <a:latin typeface="Calibri"/>
                        </a:rPr>
                        <a:t>rial &amp;</a:t>
                      </a:r>
                      <a:endParaRPr sz="1100"/>
                    </a:p>
                    <a:p>
                      <a:pPr algn="ctr"/>
                      <a:r>
                        <a:rPr sz="1100" b="1">
                          <a:solidFill>
                            <a:srgbClr val="0E2A5C"/>
                          </a:solidFill>
                          <a:latin typeface="Calibri"/>
                        </a:rPr>
                        <a:t>Bioma</a:t>
                      </a:r>
                      <a:endParaRPr sz="1100"/>
                    </a:p>
                    <a:p>
                      <a:pPr algn="ctr"/>
                      <a:r>
                        <a:rPr sz="1100" b="1">
                          <a:solidFill>
                            <a:srgbClr val="0E2A5C"/>
                          </a:solidFill>
                          <a:latin typeface="Calibri"/>
                        </a:rPr>
                        <a:t>terials</a:t>
                      </a:r>
                      <a:endParaRPr sz="1100"/>
                    </a:p>
                  </a:txBody>
                  <a:tcPr marL="19050" marR="14288" marT="19050" marB="19050" anchor="ctr">
                    <a:solidFill>
                      <a:srgbClr val="EBF2F9"/>
                    </a:solidFill>
                  </a:tcPr>
                </a:tc>
                <a:tc hMerge="1">
                  <a:txBody>
                    <a:bodyPr wrap="none"/>
                    <a:lstStyle/>
                    <a:p>
                      <a:pPr algn="ctr"/>
                      <a:endParaRPr sz="1100"/>
                    </a:p>
                  </a:txBody>
                  <a:tcPr marL="19050" marR="14288" marT="19050" marB="19050" anchor="ctr">
                    <a:solidFill>
                      <a:srgbClr val="EBF2F9"/>
                    </a:solidFill>
                  </a:tcPr>
                </a:tc>
                <a:tc gridSpan="2">
                  <a:txBody>
                    <a:bodyPr wrap="none"/>
                    <a:lstStyle/>
                    <a:p>
                      <a:pPr algn="ctr"/>
                      <a:r>
                        <a:rPr sz="1100" b="1">
                          <a:solidFill>
                            <a:srgbClr val="0E2A5C"/>
                          </a:solidFill>
                          <a:latin typeface="Calibri"/>
                        </a:rPr>
                        <a:t>Total</a:t>
                      </a:r>
                      <a:endParaRPr sz="1100"/>
                    </a:p>
                  </a:txBody>
                  <a:tcPr marL="19050" marR="14288" marT="19050" marB="19050" anchor="ctr">
                    <a:solidFill>
                      <a:srgbClr val="EBF2F9"/>
                    </a:solidFill>
                  </a:tcPr>
                </a:tc>
                <a:tc hMerge="1">
                  <a:txBody>
                    <a:bodyPr wrap="none"/>
                    <a:lstStyle/>
                    <a:p>
                      <a:pPr algn="ctr"/>
                      <a:endParaRPr sz="1100"/>
                    </a:p>
                  </a:txBody>
                  <a:tcPr marL="19050" marR="14288" marT="19050" marB="19050" anchor="ctr">
                    <a:solidFill>
                      <a:srgbClr val="EBF2F9"/>
                    </a:solidFill>
                  </a:tcPr>
                </a:tc>
              </a:tr>
              <a:tr h="1405509">
                <a:tc vMerge="1">
                  <a:txBody>
                    <a:bodyPr wrap="none"/>
                    <a:lstStyle/>
                    <a:p>
                      <a:pPr algn="l"/>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 Joint &amp; Bone Health|US$ Mn</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 Joint &amp; Bone Health|CAGR</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 Skin, Hair &amp; Nail Health|US$ Mn</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 Skin, Hair &amp; Nail Health|CAGR</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 Others|US$ Mn</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 Others|CAGR</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US$ Mn</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CAGR</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 Skin Care|US$ Mn</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 Skin Care|CAGR</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 Hair Care|US$ Mn</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 Hair Care|CAGR</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 Wound Care &amp; Dressings|US$ Mn</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 Wound Care &amp; Dressings|CAGR</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 Tissue Engineering &amp; Drug Delivery|US$ Mn</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 Tissue Engineering &amp; Drug Delivery|CAGR</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 Pet Joint &amp; Skin Supplements|US$ Mn</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 Pet Joint &amp; Skin Supplements|CAGR</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 Livestock &amp; Poultry Feed|US$ Mn</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 Livestock &amp; Poultry Feed|CAGR</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US$ Mn</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CAGR</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US$ Mn</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CAGR</a:t>
                      </a:r>
                      <a:endParaRPr sz="1100"/>
                    </a:p>
                  </a:txBody>
                  <a:tcPr marL="19050" marR="14288" marT="19050" marB="19050" anchor="ctr">
                    <a:solidFill>
                      <a:srgbClr val="EBF2F9"/>
                    </a:solidFill>
                  </a:tcPr>
                </a:tc>
              </a:tr>
              <a:tr h="1212723">
                <a:tc>
                  <a:txBody>
                    <a:bodyPr wrap="none"/>
                    <a:lstStyle/>
                    <a:p>
                      <a:pPr algn="l"/>
                      <a:r>
                        <a:rPr sz="1100" b="1">
                          <a:solidFill>
                            <a:srgbClr val="2E2E2E"/>
                          </a:solidFill>
                          <a:latin typeface="Calibri"/>
                        </a:rPr>
                        <a:t>Micro</a:t>
                      </a:r>
                      <a:endParaRPr sz="1100"/>
                    </a:p>
                    <a:p>
                      <a:pPr algn="l"/>
                      <a:r>
                        <a:rPr sz="1100" b="1">
                          <a:solidFill>
                            <a:srgbClr val="2E2E2E"/>
                          </a:solidFill>
                          <a:latin typeface="Calibri"/>
                        </a:rPr>
                        <a:t>nized</a:t>
                      </a:r>
                      <a:endParaRPr sz="1100"/>
                    </a:p>
                    <a:p>
                      <a:pPr algn="l"/>
                      <a:r>
                        <a:rPr sz="1100" b="1">
                          <a:solidFill>
                            <a:srgbClr val="2E2E2E"/>
                          </a:solidFill>
                          <a:latin typeface="Calibri"/>
                        </a:rPr>
                        <a:t>Eggshe</a:t>
                      </a:r>
                      <a:endParaRPr sz="1100"/>
                    </a:p>
                    <a:p>
                      <a:pPr algn="l"/>
                      <a:r>
                        <a:rPr sz="1100" b="1">
                          <a:solidFill>
                            <a:srgbClr val="2E2E2E"/>
                          </a:solidFill>
                          <a:latin typeface="Calibri"/>
                        </a:rPr>
                        <a:t>ll</a:t>
                      </a:r>
                      <a:endParaRPr sz="1100"/>
                    </a:p>
                    <a:p>
                      <a:pPr algn="l"/>
                      <a:r>
                        <a:rPr sz="1100" b="1">
                          <a:solidFill>
                            <a:srgbClr val="2E2E2E"/>
                          </a:solidFill>
                          <a:latin typeface="Calibri"/>
                        </a:rPr>
                        <a:t>Memb</a:t>
                      </a:r>
                      <a:endParaRPr sz="1100"/>
                    </a:p>
                    <a:p>
                      <a:pPr algn="l"/>
                      <a:r>
                        <a:rPr sz="1100" b="1">
                          <a:solidFill>
                            <a:srgbClr val="2E2E2E"/>
                          </a:solidFill>
                          <a:latin typeface="Calibri"/>
                        </a:rPr>
                        <a:t>rane</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square"/>
                    <a:lstStyle/>
                    <a:p>
                      <a:pPr algn="ctr"/>
                      <a:r>
                        <a:rPr sz="1100"/>
                        <a:t> </a:t>
                      </a:r>
                      <a:endParaRPr sz="1100"/>
                    </a:p>
                  </a:txBody>
                  <a:tcPr marL="19050" marR="14288" marT="19050" marB="19050" anchor="ctr">
                    <a:solidFill>
                      <a:srgbClr val="FFFFFF"/>
                    </a:solidFill>
                  </a:tcPr>
                </a:tc>
                <a:tc>
                  <a:txBody>
                    <a:bodyPr wrap="squar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square"/>
                    <a:lstStyle/>
                    <a:p>
                      <a:pPr algn="ctr"/>
                      <a:r>
                        <a:rPr sz="1100"/>
                        <a:t> </a:t>
                      </a:r>
                      <a:endParaRPr sz="1100"/>
                    </a:p>
                  </a:txBody>
                  <a:tcPr marL="19050" marR="14288" marT="19050" marB="19050" anchor="ctr">
                    <a:solidFill>
                      <a:srgbClr val="FFFFFF"/>
                    </a:solidFill>
                  </a:tcPr>
                </a:tc>
                <a:tc>
                  <a:txBody>
                    <a:bodyPr wrap="square"/>
                    <a:lstStyle/>
                    <a:p>
                      <a:pPr algn="ctr"/>
                      <a:r>
                        <a:rPr sz="1100"/>
                        <a:t> </a:t>
                      </a:r>
                      <a:endParaRPr sz="1100"/>
                    </a:p>
                  </a:txBody>
                  <a:tcPr marL="19050" marR="14288" marT="19050" marB="19050" anchor="ctr">
                    <a:solidFill>
                      <a:srgbClr val="FFFFFF"/>
                    </a:solidFill>
                  </a:tcPr>
                </a:tc>
                <a:tc>
                  <a:txBody>
                    <a:bodyPr wrap="square"/>
                    <a:lstStyle/>
                    <a:p>
                      <a:pPr algn="ctr"/>
                      <a:r>
                        <a:rPr sz="1100"/>
                        <a:t> </a:t>
                      </a:r>
                      <a:endParaRPr sz="1100"/>
                    </a:p>
                  </a:txBody>
                  <a:tcPr marL="19050" marR="14288" marT="19050" marB="19050" anchor="ctr">
                    <a:solidFill>
                      <a:srgbClr val="FFFFFF"/>
                    </a:solidFill>
                  </a:tcPr>
                </a:tc>
                <a:tc>
                  <a:txBody>
                    <a:bodyPr wrap="square"/>
                    <a:lstStyle/>
                    <a:p>
                      <a:pPr algn="ctr"/>
                      <a:r>
                        <a:rPr sz="1100"/>
                        <a:t> </a:t>
                      </a:r>
                      <a:endParaRPr sz="1100"/>
                    </a:p>
                  </a:txBody>
                  <a:tcPr marL="19050" marR="14288" marT="19050" marB="19050" anchor="ctr">
                    <a:solidFill>
                      <a:srgbClr val="FFFFFF"/>
                    </a:solidFill>
                  </a:tcPr>
                </a:tc>
              </a:tr>
              <a:tr h="1212723">
                <a:tc>
                  <a:txBody>
                    <a:bodyPr wrap="none"/>
                    <a:lstStyle/>
                    <a:p>
                      <a:pPr algn="l"/>
                      <a:r>
                        <a:rPr sz="1100" b="1">
                          <a:solidFill>
                            <a:srgbClr val="2E2E2E"/>
                          </a:solidFill>
                          <a:latin typeface="Calibri"/>
                        </a:rPr>
                        <a:t>Hydrol</a:t>
                      </a:r>
                      <a:endParaRPr sz="1100"/>
                    </a:p>
                    <a:p>
                      <a:pPr algn="l"/>
                      <a:r>
                        <a:rPr sz="1100" b="1">
                          <a:solidFill>
                            <a:srgbClr val="2E2E2E"/>
                          </a:solidFill>
                          <a:latin typeface="Calibri"/>
                        </a:rPr>
                        <a:t>yzed</a:t>
                      </a:r>
                      <a:endParaRPr sz="1100"/>
                    </a:p>
                    <a:p>
                      <a:pPr algn="l"/>
                      <a:r>
                        <a:rPr sz="1100" b="1">
                          <a:solidFill>
                            <a:srgbClr val="2E2E2E"/>
                          </a:solidFill>
                          <a:latin typeface="Calibri"/>
                        </a:rPr>
                        <a:t>Eggshe</a:t>
                      </a:r>
                      <a:endParaRPr sz="1100"/>
                    </a:p>
                    <a:p>
                      <a:pPr algn="l"/>
                      <a:r>
                        <a:rPr sz="1100" b="1">
                          <a:solidFill>
                            <a:srgbClr val="2E2E2E"/>
                          </a:solidFill>
                          <a:latin typeface="Calibri"/>
                        </a:rPr>
                        <a:t>ll</a:t>
                      </a:r>
                      <a:endParaRPr sz="1100"/>
                    </a:p>
                    <a:p>
                      <a:pPr algn="l"/>
                      <a:r>
                        <a:rPr sz="1100" b="1">
                          <a:solidFill>
                            <a:srgbClr val="2E2E2E"/>
                          </a:solidFill>
                          <a:latin typeface="Calibri"/>
                        </a:rPr>
                        <a:t>Memb</a:t>
                      </a:r>
                      <a:endParaRPr sz="1100"/>
                    </a:p>
                    <a:p>
                      <a:pPr algn="l"/>
                      <a:r>
                        <a:rPr sz="1100" b="1">
                          <a:solidFill>
                            <a:srgbClr val="2E2E2E"/>
                          </a:solidFill>
                          <a:latin typeface="Calibri"/>
                        </a:rPr>
                        <a:t>rane</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square"/>
                    <a:lstStyle/>
                    <a:p>
                      <a:pPr algn="ctr"/>
                      <a:r>
                        <a:rPr sz="1100"/>
                        <a:t> </a:t>
                      </a:r>
                      <a:endParaRPr sz="1100"/>
                    </a:p>
                  </a:txBody>
                  <a:tcPr marL="19050" marR="14288" marT="19050" marB="19050" anchor="ctr">
                    <a:solidFill>
                      <a:srgbClr val="F5F9FD"/>
                    </a:solidFill>
                  </a:tcPr>
                </a:tc>
                <a:tc>
                  <a:txBody>
                    <a:bodyPr wrap="squar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square"/>
                    <a:lstStyle/>
                    <a:p>
                      <a:pPr algn="ctr"/>
                      <a:r>
                        <a:rPr sz="1100"/>
                        <a:t> </a:t>
                      </a:r>
                      <a:endParaRPr sz="1100"/>
                    </a:p>
                  </a:txBody>
                  <a:tcPr marL="19050" marR="14288" marT="19050" marB="19050" anchor="ctr">
                    <a:solidFill>
                      <a:srgbClr val="F5F9FD"/>
                    </a:solidFill>
                  </a:tcPr>
                </a:tc>
                <a:tc>
                  <a:txBody>
                    <a:bodyPr wrap="square"/>
                    <a:lstStyle/>
                    <a:p>
                      <a:pPr algn="ctr"/>
                      <a:r>
                        <a:rPr sz="1100"/>
                        <a:t> </a:t>
                      </a:r>
                      <a:endParaRPr sz="1100"/>
                    </a:p>
                  </a:txBody>
                  <a:tcPr marL="19050" marR="14288" marT="19050" marB="19050" anchor="ctr">
                    <a:solidFill>
                      <a:srgbClr val="F5F9FD"/>
                    </a:solidFill>
                  </a:tcPr>
                </a:tc>
                <a:tc>
                  <a:txBody>
                    <a:bodyPr wrap="square"/>
                    <a:lstStyle/>
                    <a:p>
                      <a:pPr algn="ctr"/>
                      <a:r>
                        <a:rPr sz="1100"/>
                        <a:t> </a:t>
                      </a:r>
                      <a:endParaRPr sz="1100"/>
                    </a:p>
                  </a:txBody>
                  <a:tcPr marL="19050" marR="14288" marT="19050" marB="19050" anchor="ctr">
                    <a:solidFill>
                      <a:srgbClr val="F5F9FD"/>
                    </a:solidFill>
                  </a:tcPr>
                </a:tc>
                <a:tc>
                  <a:txBody>
                    <a:bodyPr wrap="square"/>
                    <a:lstStyle/>
                    <a:p>
                      <a:pPr algn="ctr"/>
                      <a:r>
                        <a:rPr sz="1100"/>
                        <a:t> </a:t>
                      </a:r>
                      <a:endParaRPr sz="1100"/>
                    </a:p>
                  </a:txBody>
                  <a:tcPr marL="19050" marR="14288" marT="19050" marB="19050" anchor="ctr">
                    <a:solidFill>
                      <a:srgbClr val="F5F9FD"/>
                    </a:solidFill>
                  </a:tcPr>
                </a:tc>
              </a:tr>
            </a:tbl>
          </a:graphicData>
        </a:graphic>
      </p:graphicFrame>
      <p:sp>
        <p:nvSpPr>
          <p:cNvPr id="10" name="TextBox 9"/>
          <p:cNvSpPr txBox="1"/>
          <p:nvPr/>
        </p:nvSpPr>
        <p:spPr>
          <a:xfrm>
            <a:off x="219075" y="609600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11" name="Rectangle 10"/>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3" name="Picture 12" descr="lock.png"/>
          <p:cNvPicPr>
            <a:picLocks noChangeAspect="1"/>
          </p:cNvPicPr>
          <p:nvPr/>
        </p:nvPicPr>
        <p:blipFill>
          <a:blip r:embed="rId4"/>
          <a:stretch>
            <a:fillRect/>
          </a:stretch>
        </p:blipFill>
        <p:spPr>
          <a:xfrm>
            <a:off x="6148988" y="4607052"/>
            <a:ext cx="366712" cy="533400"/>
          </a:xfrm>
          <a:prstGeom prst="rect">
            <a:avLst/>
          </a:prstGeom>
        </p:spPr>
      </p:pic>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Absolute $ Opportunity &amp; Attractiveness: Product Type × Application, 2026E–2036F (2/3)</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Incremental value 2026E→2036F (US$ Mn) and value CAGR by cell; attractiveness index scored 1–5</a:t>
            </a:r>
          </a:p>
        </p:txBody>
      </p:sp>
      <p:sp>
        <p:nvSpPr>
          <p:cNvPr id="7" name="Rounded Rectangle 6"/>
          <p:cNvSpPr/>
          <p:nvPr/>
        </p:nvSpPr>
        <p:spPr>
          <a:xfrm>
            <a:off x="142875" y="981075"/>
            <a:ext cx="11906250" cy="4924425"/>
          </a:xfrm>
          <a:prstGeom prst="roundRect">
            <a:avLst>
              <a:gd name="adj" fmla="val 1547"/>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Incremental $ Opportunity (US$ Mn) and Value CAGR, Product Type × Application, 2026E–2036F</a:t>
            </a:r>
          </a:p>
        </p:txBody>
      </p:sp>
      <p:graphicFrame>
        <p:nvGraphicFramePr>
          <p:cNvPr id="9" name="Table 8"/>
          <p:cNvGraphicFramePr>
            <a:graphicFrameLocks noGrp="1"/>
          </p:cNvGraphicFramePr>
          <p:nvPr/>
        </p:nvGraphicFramePr>
        <p:xfrm>
          <a:off x="152400" y="1238250"/>
          <a:ext cx="11949555" cy="4457700"/>
        </p:xfrm>
        <a:graphic>
          <a:graphicData uri="http://schemas.openxmlformats.org/drawingml/2006/table">
            <a:tbl>
              <a:tblPr>
                <a:tableStyleId>{5C22544A-7EE6-4342-B048-85BDC9FD1C3A}</a:tableStyleId>
              </a:tblPr>
              <a:tblGrid>
                <a:gridCol w="3200400"/>
                <a:gridCol w="375561"/>
                <a:gridCol w="425478"/>
                <a:gridCol w="375561"/>
                <a:gridCol w="425478"/>
                <a:gridCol w="381651"/>
                <a:gridCol w="431567"/>
                <a:gridCol w="191653"/>
                <a:gridCol w="194070"/>
                <a:gridCol w="313447"/>
                <a:gridCol w="363363"/>
                <a:gridCol w="313447"/>
                <a:gridCol w="363363"/>
                <a:gridCol w="463253"/>
                <a:gridCol w="513169"/>
                <a:gridCol w="424279"/>
                <a:gridCol w="474195"/>
                <a:gridCol w="570431"/>
                <a:gridCol w="620347"/>
                <a:gridCol w="323171"/>
                <a:gridCol w="373088"/>
                <a:gridCol w="191653"/>
                <a:gridCol w="194070"/>
                <a:gridCol w="190435"/>
                <a:gridCol w="256425"/>
              </a:tblGrid>
              <a:tr h="1017270">
                <a:tc rowSpan="2">
                  <a:txBody>
                    <a:bodyPr wrap="none"/>
                    <a:lstStyle/>
                    <a:p>
                      <a:pPr algn="l"/>
                      <a:r>
                        <a:rPr sz="1100" b="1">
                          <a:solidFill>
                            <a:srgbClr val="0E2A5C"/>
                          </a:solidFill>
                          <a:latin typeface="Calibri"/>
                        </a:rPr>
                        <a:t>Prod</a:t>
                      </a:r>
                      <a:endParaRPr sz="1100"/>
                    </a:p>
                    <a:p>
                      <a:pPr algn="l"/>
                      <a:r>
                        <a:rPr sz="1100" b="1">
                          <a:solidFill>
                            <a:srgbClr val="0E2A5C"/>
                          </a:solidFill>
                          <a:latin typeface="Calibri"/>
                        </a:rPr>
                        <a:t>uct</a:t>
                      </a:r>
                      <a:endParaRPr sz="1100"/>
                    </a:p>
                    <a:p>
                      <a:pPr algn="l"/>
                      <a:r>
                        <a:rPr sz="1100" b="1">
                          <a:solidFill>
                            <a:srgbClr val="0E2A5C"/>
                          </a:solidFill>
                          <a:latin typeface="Calibri"/>
                        </a:rPr>
                        <a:t>Type</a:t>
                      </a:r>
                      <a:endParaRPr sz="1100"/>
                    </a:p>
                  </a:txBody>
                  <a:tcPr marL="19050" marR="14288" marT="19050" marB="19050" anchor="ctr">
                    <a:solidFill>
                      <a:srgbClr val="EBF2F9"/>
                    </a:solidFill>
                  </a:tcPr>
                </a:tc>
                <a:tc gridSpan="2">
                  <a:txBody>
                    <a:bodyPr wrap="none"/>
                    <a:lstStyle/>
                    <a:p>
                      <a:pPr algn="ctr"/>
                      <a:r>
                        <a:rPr sz="1100" b="1">
                          <a:solidFill>
                            <a:srgbClr val="0E2A5C"/>
                          </a:solidFill>
                          <a:latin typeface="Calibri"/>
                        </a:rPr>
                        <a:t>Dietary</a:t>
                      </a:r>
                      <a:endParaRPr sz="1100"/>
                    </a:p>
                    <a:p>
                      <a:pPr algn="ctr"/>
                      <a:r>
                        <a:rPr sz="1100" b="1">
                          <a:solidFill>
                            <a:srgbClr val="0E2A5C"/>
                          </a:solidFill>
                          <a:latin typeface="Calibri"/>
                        </a:rPr>
                        <a:t>Supplements &amp;</a:t>
                      </a:r>
                      <a:endParaRPr sz="1100"/>
                    </a:p>
                    <a:p>
                      <a:pPr algn="ctr"/>
                      <a:r>
                        <a:rPr sz="1100" b="1">
                          <a:solidFill>
                            <a:srgbClr val="0E2A5C"/>
                          </a:solidFill>
                          <a:latin typeface="Calibri"/>
                        </a:rPr>
                        <a:t>Nutraceuticals |</a:t>
                      </a:r>
                      <a:endParaRPr sz="1100"/>
                    </a:p>
                    <a:p>
                      <a:pPr algn="ctr"/>
                      <a:r>
                        <a:rPr sz="1100" b="1">
                          <a:solidFill>
                            <a:srgbClr val="0E2A5C"/>
                          </a:solidFill>
                          <a:latin typeface="Calibri"/>
                        </a:rPr>
                        <a:t>Joint &amp; Bone</a:t>
                      </a:r>
                      <a:endParaRPr sz="1100"/>
                    </a:p>
                    <a:p>
                      <a:pPr algn="ctr"/>
                      <a:r>
                        <a:rPr sz="1100" b="1">
                          <a:solidFill>
                            <a:srgbClr val="0E2A5C"/>
                          </a:solidFill>
                          <a:latin typeface="Calibri"/>
                        </a:rPr>
                        <a:t>Health</a:t>
                      </a:r>
                      <a:endParaRPr sz="1100"/>
                    </a:p>
                  </a:txBody>
                  <a:tcPr marL="19050" marR="14288" marT="19050" marB="19050" anchor="ctr">
                    <a:solidFill>
                      <a:srgbClr val="EBF2F9"/>
                    </a:solidFill>
                  </a:tcPr>
                </a:tc>
                <a:tc hMerge="1">
                  <a:txBody>
                    <a:bodyPr wrap="none"/>
                    <a:lstStyle/>
                    <a:p>
                      <a:pPr algn="ctr"/>
                      <a:endParaRPr sz="1100"/>
                    </a:p>
                  </a:txBody>
                  <a:tcPr marL="19050" marR="14288" marT="19050" marB="19050" anchor="ctr">
                    <a:solidFill>
                      <a:srgbClr val="EBF2F9"/>
                    </a:solidFill>
                  </a:tcPr>
                </a:tc>
                <a:tc gridSpan="2">
                  <a:txBody>
                    <a:bodyPr wrap="none"/>
                    <a:lstStyle/>
                    <a:p>
                      <a:pPr algn="ctr"/>
                      <a:r>
                        <a:rPr sz="1100" b="1">
                          <a:solidFill>
                            <a:srgbClr val="0E2A5C"/>
                          </a:solidFill>
                          <a:latin typeface="Calibri"/>
                        </a:rPr>
                        <a:t>Dietary</a:t>
                      </a:r>
                      <a:endParaRPr sz="1100"/>
                    </a:p>
                    <a:p>
                      <a:pPr algn="ctr"/>
                      <a:r>
                        <a:rPr sz="1100" b="1">
                          <a:solidFill>
                            <a:srgbClr val="0E2A5C"/>
                          </a:solidFill>
                          <a:latin typeface="Calibri"/>
                        </a:rPr>
                        <a:t>Supplements &amp;</a:t>
                      </a:r>
                      <a:endParaRPr sz="1100"/>
                    </a:p>
                    <a:p>
                      <a:pPr algn="ctr"/>
                      <a:r>
                        <a:rPr sz="1100" b="1">
                          <a:solidFill>
                            <a:srgbClr val="0E2A5C"/>
                          </a:solidFill>
                          <a:latin typeface="Calibri"/>
                        </a:rPr>
                        <a:t>Nutraceuticals |</a:t>
                      </a:r>
                      <a:endParaRPr sz="1100"/>
                    </a:p>
                    <a:p>
                      <a:pPr algn="ctr"/>
                      <a:r>
                        <a:rPr sz="1100" b="1">
                          <a:solidFill>
                            <a:srgbClr val="0E2A5C"/>
                          </a:solidFill>
                          <a:latin typeface="Calibri"/>
                        </a:rPr>
                        <a:t>Skin, Hair &amp; Nail</a:t>
                      </a:r>
                      <a:endParaRPr sz="1100"/>
                    </a:p>
                    <a:p>
                      <a:pPr algn="ctr"/>
                      <a:r>
                        <a:rPr sz="1100" b="1">
                          <a:solidFill>
                            <a:srgbClr val="0E2A5C"/>
                          </a:solidFill>
                          <a:latin typeface="Calibri"/>
                        </a:rPr>
                        <a:t>Health</a:t>
                      </a:r>
                      <a:endParaRPr sz="1100"/>
                    </a:p>
                  </a:txBody>
                  <a:tcPr marL="19050" marR="14288" marT="19050" marB="19050" anchor="ctr">
                    <a:solidFill>
                      <a:srgbClr val="EBF2F9"/>
                    </a:solidFill>
                  </a:tcPr>
                </a:tc>
                <a:tc hMerge="1">
                  <a:txBody>
                    <a:bodyPr wrap="none"/>
                    <a:lstStyle/>
                    <a:p>
                      <a:pPr algn="ctr"/>
                      <a:endParaRPr sz="1100"/>
                    </a:p>
                  </a:txBody>
                  <a:tcPr marL="19050" marR="14288" marT="19050" marB="19050" anchor="ctr">
                    <a:solidFill>
                      <a:srgbClr val="EBF2F9"/>
                    </a:solidFill>
                  </a:tcPr>
                </a:tc>
                <a:tc gridSpan="2">
                  <a:txBody>
                    <a:bodyPr wrap="none"/>
                    <a:lstStyle/>
                    <a:p>
                      <a:pPr algn="ctr"/>
                      <a:r>
                        <a:rPr sz="1100" b="1">
                          <a:solidFill>
                            <a:srgbClr val="0E2A5C"/>
                          </a:solidFill>
                          <a:latin typeface="Calibri"/>
                        </a:rPr>
                        <a:t>Dietary</a:t>
                      </a:r>
                      <a:endParaRPr sz="1100"/>
                    </a:p>
                    <a:p>
                      <a:pPr algn="ctr"/>
                      <a:r>
                        <a:rPr sz="1100" b="1">
                          <a:solidFill>
                            <a:srgbClr val="0E2A5C"/>
                          </a:solidFill>
                          <a:latin typeface="Calibri"/>
                        </a:rPr>
                        <a:t>Supplements &amp;</a:t>
                      </a:r>
                      <a:endParaRPr sz="1100"/>
                    </a:p>
                    <a:p>
                      <a:pPr algn="ctr"/>
                      <a:r>
                        <a:rPr sz="1100" b="1">
                          <a:solidFill>
                            <a:srgbClr val="0E2A5C"/>
                          </a:solidFill>
                          <a:latin typeface="Calibri"/>
                        </a:rPr>
                        <a:t>Nutraceuticals |</a:t>
                      </a:r>
                      <a:endParaRPr sz="1100"/>
                    </a:p>
                    <a:p>
                      <a:pPr algn="ctr"/>
                      <a:r>
                        <a:rPr sz="1100" b="1">
                          <a:solidFill>
                            <a:srgbClr val="0E2A5C"/>
                          </a:solidFill>
                          <a:latin typeface="Calibri"/>
                        </a:rPr>
                        <a:t>Others</a:t>
                      </a:r>
                      <a:endParaRPr sz="1100"/>
                    </a:p>
                  </a:txBody>
                  <a:tcPr marL="19050" marR="14288" marT="19050" marB="19050" anchor="ctr">
                    <a:solidFill>
                      <a:srgbClr val="EBF2F9"/>
                    </a:solidFill>
                  </a:tcPr>
                </a:tc>
                <a:tc hMerge="1">
                  <a:txBody>
                    <a:bodyPr wrap="none"/>
                    <a:lstStyle/>
                    <a:p>
                      <a:pPr algn="ctr"/>
                      <a:endParaRPr sz="1100"/>
                    </a:p>
                  </a:txBody>
                  <a:tcPr marL="19050" marR="14288" marT="19050" marB="19050" anchor="ctr">
                    <a:solidFill>
                      <a:srgbClr val="EBF2F9"/>
                    </a:solidFill>
                  </a:tcPr>
                </a:tc>
                <a:tc gridSpan="2">
                  <a:txBody>
                    <a:bodyPr wrap="none"/>
                    <a:lstStyle/>
                    <a:p>
                      <a:pPr algn="ctr"/>
                      <a:r>
                        <a:rPr sz="1100" b="1">
                          <a:solidFill>
                            <a:srgbClr val="0E2A5C"/>
                          </a:solidFill>
                          <a:latin typeface="Calibri"/>
                        </a:rPr>
                        <a:t>Functio</a:t>
                      </a:r>
                      <a:endParaRPr sz="1100"/>
                    </a:p>
                    <a:p>
                      <a:pPr algn="ctr"/>
                      <a:r>
                        <a:rPr sz="1100" b="1">
                          <a:solidFill>
                            <a:srgbClr val="0E2A5C"/>
                          </a:solidFill>
                          <a:latin typeface="Calibri"/>
                        </a:rPr>
                        <a:t>nal</a:t>
                      </a:r>
                      <a:endParaRPr sz="1100"/>
                    </a:p>
                    <a:p>
                      <a:pPr algn="ctr"/>
                      <a:r>
                        <a:rPr sz="1100" b="1">
                          <a:solidFill>
                            <a:srgbClr val="0E2A5C"/>
                          </a:solidFill>
                          <a:latin typeface="Calibri"/>
                        </a:rPr>
                        <a:t>Food &amp;</a:t>
                      </a:r>
                      <a:endParaRPr sz="1100"/>
                    </a:p>
                    <a:p>
                      <a:pPr algn="ctr"/>
                      <a:r>
                        <a:rPr sz="1100" b="1">
                          <a:solidFill>
                            <a:srgbClr val="0E2A5C"/>
                          </a:solidFill>
                          <a:latin typeface="Calibri"/>
                        </a:rPr>
                        <a:t>Bevera</a:t>
                      </a:r>
                      <a:endParaRPr sz="1100"/>
                    </a:p>
                    <a:p>
                      <a:pPr algn="ctr"/>
                      <a:r>
                        <a:rPr sz="1100" b="1">
                          <a:solidFill>
                            <a:srgbClr val="0E2A5C"/>
                          </a:solidFill>
                          <a:latin typeface="Calibri"/>
                        </a:rPr>
                        <a:t>ges</a:t>
                      </a:r>
                      <a:endParaRPr sz="1100"/>
                    </a:p>
                  </a:txBody>
                  <a:tcPr marL="19050" marR="14288" marT="19050" marB="19050" anchor="ctr">
                    <a:solidFill>
                      <a:srgbClr val="EBF2F9"/>
                    </a:solidFill>
                  </a:tcPr>
                </a:tc>
                <a:tc hMerge="1">
                  <a:txBody>
                    <a:bodyPr wrap="none"/>
                    <a:lstStyle/>
                    <a:p>
                      <a:pPr algn="ctr"/>
                      <a:endParaRPr sz="1100"/>
                    </a:p>
                  </a:txBody>
                  <a:tcPr marL="19050" marR="14288" marT="19050" marB="19050" anchor="ctr">
                    <a:solidFill>
                      <a:srgbClr val="EBF2F9"/>
                    </a:solidFill>
                  </a:tcPr>
                </a:tc>
                <a:tc gridSpan="2">
                  <a:txBody>
                    <a:bodyPr wrap="none"/>
                    <a:lstStyle/>
                    <a:p>
                      <a:pPr algn="ctr"/>
                      <a:r>
                        <a:rPr sz="1100" b="1">
                          <a:solidFill>
                            <a:srgbClr val="0E2A5C"/>
                          </a:solidFill>
                          <a:latin typeface="Calibri"/>
                        </a:rPr>
                        <a:t>Cosmetics &amp;</a:t>
                      </a:r>
                      <a:endParaRPr sz="1100"/>
                    </a:p>
                    <a:p>
                      <a:pPr algn="ctr"/>
                      <a:r>
                        <a:rPr sz="1100" b="1">
                          <a:solidFill>
                            <a:srgbClr val="0E2A5C"/>
                          </a:solidFill>
                          <a:latin typeface="Calibri"/>
                        </a:rPr>
                        <a:t>Personal Care</a:t>
                      </a:r>
                      <a:endParaRPr sz="1100"/>
                    </a:p>
                    <a:p>
                      <a:pPr algn="ctr"/>
                      <a:r>
                        <a:rPr sz="1100" b="1">
                          <a:solidFill>
                            <a:srgbClr val="0E2A5C"/>
                          </a:solidFill>
                          <a:latin typeface="Calibri"/>
                        </a:rPr>
                        <a:t>| Skin Care</a:t>
                      </a:r>
                      <a:endParaRPr sz="1100"/>
                    </a:p>
                  </a:txBody>
                  <a:tcPr marL="19050" marR="14288" marT="19050" marB="19050" anchor="ctr">
                    <a:solidFill>
                      <a:srgbClr val="EBF2F9"/>
                    </a:solidFill>
                  </a:tcPr>
                </a:tc>
                <a:tc hMerge="1">
                  <a:txBody>
                    <a:bodyPr wrap="none"/>
                    <a:lstStyle/>
                    <a:p>
                      <a:pPr algn="ctr"/>
                      <a:endParaRPr sz="1100"/>
                    </a:p>
                  </a:txBody>
                  <a:tcPr marL="19050" marR="14288" marT="19050" marB="19050" anchor="ctr">
                    <a:solidFill>
                      <a:srgbClr val="EBF2F9"/>
                    </a:solidFill>
                  </a:tcPr>
                </a:tc>
                <a:tc gridSpan="2">
                  <a:txBody>
                    <a:bodyPr wrap="none"/>
                    <a:lstStyle/>
                    <a:p>
                      <a:pPr algn="ctr"/>
                      <a:r>
                        <a:rPr sz="1100" b="1">
                          <a:solidFill>
                            <a:srgbClr val="0E2A5C"/>
                          </a:solidFill>
                          <a:latin typeface="Calibri"/>
                        </a:rPr>
                        <a:t>Cosmetics &amp;</a:t>
                      </a:r>
                      <a:endParaRPr sz="1100"/>
                    </a:p>
                    <a:p>
                      <a:pPr algn="ctr"/>
                      <a:r>
                        <a:rPr sz="1100" b="1">
                          <a:solidFill>
                            <a:srgbClr val="0E2A5C"/>
                          </a:solidFill>
                          <a:latin typeface="Calibri"/>
                        </a:rPr>
                        <a:t>Personal Care</a:t>
                      </a:r>
                      <a:endParaRPr sz="1100"/>
                    </a:p>
                    <a:p>
                      <a:pPr algn="ctr"/>
                      <a:r>
                        <a:rPr sz="1100" b="1">
                          <a:solidFill>
                            <a:srgbClr val="0E2A5C"/>
                          </a:solidFill>
                          <a:latin typeface="Calibri"/>
                        </a:rPr>
                        <a:t>| Hair Care</a:t>
                      </a:r>
                      <a:endParaRPr sz="1100"/>
                    </a:p>
                  </a:txBody>
                  <a:tcPr marL="19050" marR="14288" marT="19050" marB="19050" anchor="ctr">
                    <a:solidFill>
                      <a:srgbClr val="EBF2F9"/>
                    </a:solidFill>
                  </a:tcPr>
                </a:tc>
                <a:tc hMerge="1">
                  <a:txBody>
                    <a:bodyPr wrap="none"/>
                    <a:lstStyle/>
                    <a:p>
                      <a:pPr algn="ctr"/>
                      <a:endParaRPr sz="1100"/>
                    </a:p>
                  </a:txBody>
                  <a:tcPr marL="19050" marR="14288" marT="19050" marB="19050" anchor="ctr">
                    <a:solidFill>
                      <a:srgbClr val="EBF2F9"/>
                    </a:solidFill>
                  </a:tcPr>
                </a:tc>
                <a:tc gridSpan="2">
                  <a:txBody>
                    <a:bodyPr wrap="none"/>
                    <a:lstStyle/>
                    <a:p>
                      <a:pPr algn="ctr"/>
                      <a:r>
                        <a:rPr sz="1100" b="1">
                          <a:solidFill>
                            <a:srgbClr val="0E2A5C"/>
                          </a:solidFill>
                          <a:latin typeface="Calibri"/>
                        </a:rPr>
                        <a:t>Pharmaceuticals &amp;</a:t>
                      </a:r>
                      <a:endParaRPr sz="1100"/>
                    </a:p>
                    <a:p>
                      <a:pPr algn="ctr"/>
                      <a:r>
                        <a:rPr sz="1100" b="1">
                          <a:solidFill>
                            <a:srgbClr val="0E2A5C"/>
                          </a:solidFill>
                          <a:latin typeface="Calibri"/>
                        </a:rPr>
                        <a:t>Biomedical |</a:t>
                      </a:r>
                      <a:endParaRPr sz="1100"/>
                    </a:p>
                    <a:p>
                      <a:pPr algn="ctr"/>
                      <a:r>
                        <a:rPr sz="1100" b="1">
                          <a:solidFill>
                            <a:srgbClr val="0E2A5C"/>
                          </a:solidFill>
                          <a:latin typeface="Calibri"/>
                        </a:rPr>
                        <a:t>Wound Care &amp;</a:t>
                      </a:r>
                      <a:endParaRPr sz="1100"/>
                    </a:p>
                    <a:p>
                      <a:pPr algn="ctr"/>
                      <a:r>
                        <a:rPr sz="1100" b="1">
                          <a:solidFill>
                            <a:srgbClr val="0E2A5C"/>
                          </a:solidFill>
                          <a:latin typeface="Calibri"/>
                        </a:rPr>
                        <a:t>Dressings</a:t>
                      </a:r>
                      <a:endParaRPr sz="1100"/>
                    </a:p>
                  </a:txBody>
                  <a:tcPr marL="19050" marR="14288" marT="19050" marB="19050" anchor="ctr">
                    <a:solidFill>
                      <a:srgbClr val="EBF2F9"/>
                    </a:solidFill>
                  </a:tcPr>
                </a:tc>
                <a:tc hMerge="1">
                  <a:txBody>
                    <a:bodyPr wrap="none"/>
                    <a:lstStyle/>
                    <a:p>
                      <a:pPr algn="ctr"/>
                      <a:endParaRPr sz="1100"/>
                    </a:p>
                  </a:txBody>
                  <a:tcPr marL="19050" marR="14288" marT="19050" marB="19050" anchor="ctr">
                    <a:solidFill>
                      <a:srgbClr val="EBF2F9"/>
                    </a:solidFill>
                  </a:tcPr>
                </a:tc>
                <a:tc gridSpan="2">
                  <a:txBody>
                    <a:bodyPr wrap="none"/>
                    <a:lstStyle/>
                    <a:p>
                      <a:pPr algn="ctr"/>
                      <a:r>
                        <a:rPr sz="1100" b="1">
                          <a:solidFill>
                            <a:srgbClr val="0E2A5C"/>
                          </a:solidFill>
                          <a:latin typeface="Calibri"/>
                        </a:rPr>
                        <a:t>Pharmaceuticals &amp;</a:t>
                      </a:r>
                      <a:endParaRPr sz="1100"/>
                    </a:p>
                    <a:p>
                      <a:pPr algn="ctr"/>
                      <a:r>
                        <a:rPr sz="1100" b="1">
                          <a:solidFill>
                            <a:srgbClr val="0E2A5C"/>
                          </a:solidFill>
                          <a:latin typeface="Calibri"/>
                        </a:rPr>
                        <a:t>Biomedical |</a:t>
                      </a:r>
                      <a:endParaRPr sz="1100"/>
                    </a:p>
                    <a:p>
                      <a:pPr algn="ctr"/>
                      <a:r>
                        <a:rPr sz="1100" b="1">
                          <a:solidFill>
                            <a:srgbClr val="0E2A5C"/>
                          </a:solidFill>
                          <a:latin typeface="Calibri"/>
                        </a:rPr>
                        <a:t>Tissue Engineering</a:t>
                      </a:r>
                      <a:endParaRPr sz="1100"/>
                    </a:p>
                    <a:p>
                      <a:pPr algn="ctr"/>
                      <a:r>
                        <a:rPr sz="1100" b="1">
                          <a:solidFill>
                            <a:srgbClr val="0E2A5C"/>
                          </a:solidFill>
                          <a:latin typeface="Calibri"/>
                        </a:rPr>
                        <a:t>&amp; Drug Delivery</a:t>
                      </a:r>
                      <a:endParaRPr sz="1100"/>
                    </a:p>
                  </a:txBody>
                  <a:tcPr marL="19050" marR="14288" marT="19050" marB="19050" anchor="ctr">
                    <a:solidFill>
                      <a:srgbClr val="EBF2F9"/>
                    </a:solidFill>
                  </a:tcPr>
                </a:tc>
                <a:tc hMerge="1">
                  <a:txBody>
                    <a:bodyPr wrap="none"/>
                    <a:lstStyle/>
                    <a:p>
                      <a:pPr algn="ctr"/>
                      <a:endParaRPr sz="1100"/>
                    </a:p>
                  </a:txBody>
                  <a:tcPr marL="19050" marR="14288" marT="19050" marB="19050" anchor="ctr">
                    <a:solidFill>
                      <a:srgbClr val="EBF2F9"/>
                    </a:solidFill>
                  </a:tcPr>
                </a:tc>
                <a:tc gridSpan="2">
                  <a:txBody>
                    <a:bodyPr wrap="none"/>
                    <a:lstStyle/>
                    <a:p>
                      <a:pPr algn="ctr"/>
                      <a:r>
                        <a:rPr sz="1100" b="1">
                          <a:solidFill>
                            <a:srgbClr val="0E2A5C"/>
                          </a:solidFill>
                          <a:latin typeface="Calibri"/>
                        </a:rPr>
                        <a:t>Animal Nutrition &amp; Pet</a:t>
                      </a:r>
                      <a:endParaRPr sz="1100"/>
                    </a:p>
                    <a:p>
                      <a:pPr algn="ctr"/>
                      <a:r>
                        <a:rPr sz="1100" b="1">
                          <a:solidFill>
                            <a:srgbClr val="0E2A5C"/>
                          </a:solidFill>
                          <a:latin typeface="Calibri"/>
                        </a:rPr>
                        <a:t>Care | Pet Joint &amp; Skin</a:t>
                      </a:r>
                      <a:endParaRPr sz="1100"/>
                    </a:p>
                    <a:p>
                      <a:pPr algn="ctr"/>
                      <a:r>
                        <a:rPr sz="1100" b="1">
                          <a:solidFill>
                            <a:srgbClr val="0E2A5C"/>
                          </a:solidFill>
                          <a:latin typeface="Calibri"/>
                        </a:rPr>
                        <a:t>Supplements</a:t>
                      </a:r>
                      <a:endParaRPr sz="1100"/>
                    </a:p>
                  </a:txBody>
                  <a:tcPr marL="19050" marR="14288" marT="19050" marB="19050" anchor="ctr">
                    <a:solidFill>
                      <a:srgbClr val="EBF2F9"/>
                    </a:solidFill>
                  </a:tcPr>
                </a:tc>
                <a:tc hMerge="1">
                  <a:txBody>
                    <a:bodyPr wrap="none"/>
                    <a:lstStyle/>
                    <a:p>
                      <a:pPr algn="ctr"/>
                      <a:endParaRPr sz="1100"/>
                    </a:p>
                  </a:txBody>
                  <a:tcPr marL="19050" marR="14288" marT="19050" marB="19050" anchor="ctr">
                    <a:solidFill>
                      <a:srgbClr val="EBF2F9"/>
                    </a:solidFill>
                  </a:tcPr>
                </a:tc>
                <a:tc gridSpan="2">
                  <a:txBody>
                    <a:bodyPr wrap="none"/>
                    <a:lstStyle/>
                    <a:p>
                      <a:pPr algn="ctr"/>
                      <a:r>
                        <a:rPr sz="1100" b="1">
                          <a:solidFill>
                            <a:srgbClr val="0E2A5C"/>
                          </a:solidFill>
                          <a:latin typeface="Calibri"/>
                        </a:rPr>
                        <a:t>Animal</a:t>
                      </a:r>
                      <a:endParaRPr sz="1100"/>
                    </a:p>
                    <a:p>
                      <a:pPr algn="ctr"/>
                      <a:r>
                        <a:rPr sz="1100" b="1">
                          <a:solidFill>
                            <a:srgbClr val="0E2A5C"/>
                          </a:solidFill>
                          <a:latin typeface="Calibri"/>
                        </a:rPr>
                        <a:t>Nutrition &amp;</a:t>
                      </a:r>
                      <a:endParaRPr sz="1100"/>
                    </a:p>
                    <a:p>
                      <a:pPr algn="ctr"/>
                      <a:r>
                        <a:rPr sz="1100" b="1">
                          <a:solidFill>
                            <a:srgbClr val="0E2A5C"/>
                          </a:solidFill>
                          <a:latin typeface="Calibri"/>
                        </a:rPr>
                        <a:t>Pet Care |</a:t>
                      </a:r>
                      <a:endParaRPr sz="1100"/>
                    </a:p>
                    <a:p>
                      <a:pPr algn="ctr"/>
                      <a:r>
                        <a:rPr sz="1100" b="1">
                          <a:solidFill>
                            <a:srgbClr val="0E2A5C"/>
                          </a:solidFill>
                          <a:latin typeface="Calibri"/>
                        </a:rPr>
                        <a:t>Livestock &amp;</a:t>
                      </a:r>
                      <a:endParaRPr sz="1100"/>
                    </a:p>
                    <a:p>
                      <a:pPr algn="ctr"/>
                      <a:r>
                        <a:rPr sz="1100" b="1">
                          <a:solidFill>
                            <a:srgbClr val="0E2A5C"/>
                          </a:solidFill>
                          <a:latin typeface="Calibri"/>
                        </a:rPr>
                        <a:t>Poultry Feed</a:t>
                      </a:r>
                      <a:endParaRPr sz="1100"/>
                    </a:p>
                  </a:txBody>
                  <a:tcPr marL="19050" marR="14288" marT="19050" marB="19050" anchor="ctr">
                    <a:solidFill>
                      <a:srgbClr val="EBF2F9"/>
                    </a:solidFill>
                  </a:tcPr>
                </a:tc>
                <a:tc hMerge="1">
                  <a:txBody>
                    <a:bodyPr wrap="none"/>
                    <a:lstStyle/>
                    <a:p>
                      <a:pPr algn="ctr"/>
                      <a:endParaRPr sz="1100"/>
                    </a:p>
                  </a:txBody>
                  <a:tcPr marL="19050" marR="14288" marT="19050" marB="19050" anchor="ctr">
                    <a:solidFill>
                      <a:srgbClr val="EBF2F9"/>
                    </a:solidFill>
                  </a:tcPr>
                </a:tc>
                <a:tc gridSpan="2">
                  <a:txBody>
                    <a:bodyPr wrap="none"/>
                    <a:lstStyle/>
                    <a:p>
                      <a:pPr algn="ctr"/>
                      <a:r>
                        <a:rPr sz="1100" b="1">
                          <a:solidFill>
                            <a:srgbClr val="0E2A5C"/>
                          </a:solidFill>
                          <a:latin typeface="Calibri"/>
                        </a:rPr>
                        <a:t>Industr</a:t>
                      </a:r>
                      <a:endParaRPr sz="1100"/>
                    </a:p>
                    <a:p>
                      <a:pPr algn="ctr"/>
                      <a:r>
                        <a:rPr sz="1100" b="1">
                          <a:solidFill>
                            <a:srgbClr val="0E2A5C"/>
                          </a:solidFill>
                          <a:latin typeface="Calibri"/>
                        </a:rPr>
                        <a:t>ial &amp;</a:t>
                      </a:r>
                      <a:endParaRPr sz="1100"/>
                    </a:p>
                    <a:p>
                      <a:pPr algn="ctr"/>
                      <a:r>
                        <a:rPr sz="1100" b="1">
                          <a:solidFill>
                            <a:srgbClr val="0E2A5C"/>
                          </a:solidFill>
                          <a:latin typeface="Calibri"/>
                        </a:rPr>
                        <a:t>Biomat</a:t>
                      </a:r>
                      <a:endParaRPr sz="1100"/>
                    </a:p>
                    <a:p>
                      <a:pPr algn="ctr"/>
                      <a:r>
                        <a:rPr sz="1100" b="1">
                          <a:solidFill>
                            <a:srgbClr val="0E2A5C"/>
                          </a:solidFill>
                          <a:latin typeface="Calibri"/>
                        </a:rPr>
                        <a:t>erials</a:t>
                      </a:r>
                      <a:endParaRPr sz="1100"/>
                    </a:p>
                  </a:txBody>
                  <a:tcPr marL="19050" marR="14288" marT="19050" marB="19050" anchor="ctr">
                    <a:solidFill>
                      <a:srgbClr val="EBF2F9"/>
                    </a:solidFill>
                  </a:tcPr>
                </a:tc>
                <a:tc hMerge="1">
                  <a:txBody>
                    <a:bodyPr wrap="none"/>
                    <a:lstStyle/>
                    <a:p>
                      <a:pPr algn="ctr"/>
                      <a:endParaRPr sz="1100"/>
                    </a:p>
                  </a:txBody>
                  <a:tcPr marL="19050" marR="14288" marT="19050" marB="19050" anchor="ctr">
                    <a:solidFill>
                      <a:srgbClr val="EBF2F9"/>
                    </a:solidFill>
                  </a:tcPr>
                </a:tc>
                <a:tc gridSpan="2">
                  <a:txBody>
                    <a:bodyPr wrap="none"/>
                    <a:lstStyle/>
                    <a:p>
                      <a:pPr algn="ctr"/>
                      <a:r>
                        <a:rPr sz="1100" b="1">
                          <a:solidFill>
                            <a:srgbClr val="0E2A5C"/>
                          </a:solidFill>
                          <a:latin typeface="Calibri"/>
                        </a:rPr>
                        <a:t>Total</a:t>
                      </a:r>
                      <a:endParaRPr sz="1100"/>
                    </a:p>
                  </a:txBody>
                  <a:tcPr marL="19050" marR="14288" marT="19050" marB="19050" anchor="ctr">
                    <a:solidFill>
                      <a:srgbClr val="EBF2F9"/>
                    </a:solidFill>
                  </a:tcPr>
                </a:tc>
                <a:tc hMerge="1">
                  <a:txBody>
                    <a:bodyPr wrap="none"/>
                    <a:lstStyle/>
                    <a:p>
                      <a:pPr algn="ctr"/>
                      <a:endParaRPr sz="1100"/>
                    </a:p>
                  </a:txBody>
                  <a:tcPr marL="19050" marR="14288" marT="19050" marB="19050" anchor="ctr">
                    <a:solidFill>
                      <a:srgbClr val="EBF2F9"/>
                    </a:solidFill>
                  </a:tcPr>
                </a:tc>
              </a:tr>
              <a:tr h="1403858">
                <a:tc vMerge="1">
                  <a:txBody>
                    <a:bodyPr wrap="none"/>
                    <a:lstStyle/>
                    <a:p>
                      <a:pPr algn="l"/>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 Joint &amp; Bone Health|US$ Mn</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 Joint &amp; Bone Health|CAGR</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 Skin, Hair &amp; Nail Health|US$ Mn</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 Skin, Hair &amp; Nail Health|CAGR</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 Others|US$ Mn</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 Others|CAGR</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US$ Mn</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CAGR</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 Skin Care|US$ Mn</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 Skin Care|CAGR</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 Hair Care|US$ Mn</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 Hair Care|CAGR</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 Wound Care &amp; Dressings|US$ Mn</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 Wound Care &amp; Dressings|CAGR</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 Tissue Engineering &amp; Drug Delivery|US$ Mn</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 Tissue Engineering &amp; Drug Delivery|CAGR</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 Pet Joint &amp; Skin Supplements|US$ Mn</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 Pet Joint &amp; Skin Supplements|CAGR</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 Livestock &amp; Poultry Feed|US$ Mn</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 Livestock &amp; Poultry Feed|CAGR</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US$ Mn</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CAGR</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US$ Mn</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CAGR</a:t>
                      </a:r>
                      <a:endParaRPr sz="1100"/>
                    </a:p>
                  </a:txBody>
                  <a:tcPr marL="19050" marR="14288" marT="19050" marB="19050" anchor="ctr">
                    <a:solidFill>
                      <a:srgbClr val="EBF2F9"/>
                    </a:solidFill>
                  </a:tcPr>
                </a:tc>
              </a:tr>
              <a:tr h="1596644">
                <a:tc>
                  <a:txBody>
                    <a:bodyPr wrap="none"/>
                    <a:lstStyle/>
                    <a:p>
                      <a:pPr algn="l"/>
                      <a:r>
                        <a:rPr sz="1100" b="1">
                          <a:solidFill>
                            <a:srgbClr val="2E2E2E"/>
                          </a:solidFill>
                          <a:latin typeface="Calibri"/>
                        </a:rPr>
                        <a:t>Speci</a:t>
                      </a:r>
                      <a:endParaRPr sz="1100"/>
                    </a:p>
                    <a:p>
                      <a:pPr algn="l"/>
                      <a:r>
                        <a:rPr sz="1100" b="1">
                          <a:solidFill>
                            <a:srgbClr val="2E2E2E"/>
                          </a:solidFill>
                          <a:latin typeface="Calibri"/>
                        </a:rPr>
                        <a:t>alty</a:t>
                      </a:r>
                      <a:endParaRPr sz="1100"/>
                    </a:p>
                    <a:p>
                      <a:pPr algn="l"/>
                      <a:r>
                        <a:rPr sz="1100" b="1">
                          <a:solidFill>
                            <a:srgbClr val="2E2E2E"/>
                          </a:solidFill>
                          <a:latin typeface="Calibri"/>
                        </a:rPr>
                        <a:t>Extra</a:t>
                      </a:r>
                      <a:endParaRPr sz="1100"/>
                    </a:p>
                    <a:p>
                      <a:pPr algn="l"/>
                      <a:r>
                        <a:rPr sz="1100" b="1">
                          <a:solidFill>
                            <a:srgbClr val="2E2E2E"/>
                          </a:solidFill>
                          <a:latin typeface="Calibri"/>
                        </a:rPr>
                        <a:t>cted</a:t>
                      </a:r>
                      <a:endParaRPr sz="1100"/>
                    </a:p>
                    <a:p>
                      <a:pPr algn="l"/>
                      <a:r>
                        <a:rPr sz="1100" b="1">
                          <a:solidFill>
                            <a:srgbClr val="2E2E2E"/>
                          </a:solidFill>
                          <a:latin typeface="Calibri"/>
                        </a:rPr>
                        <a:t>Prote</a:t>
                      </a:r>
                      <a:endParaRPr sz="1100"/>
                    </a:p>
                    <a:p>
                      <a:pPr algn="l"/>
                      <a:r>
                        <a:rPr sz="1100" b="1">
                          <a:solidFill>
                            <a:srgbClr val="2E2E2E"/>
                          </a:solidFill>
                          <a:latin typeface="Calibri"/>
                        </a:rPr>
                        <a:t>in</a:t>
                      </a:r>
                      <a:endParaRPr sz="1100"/>
                    </a:p>
                    <a:p>
                      <a:pPr algn="l"/>
                      <a:r>
                        <a:rPr sz="1100" b="1">
                          <a:solidFill>
                            <a:srgbClr val="2E2E2E"/>
                          </a:solidFill>
                          <a:latin typeface="Calibri"/>
                        </a:rPr>
                        <a:t>Fracti</a:t>
                      </a:r>
                      <a:endParaRPr sz="1100"/>
                    </a:p>
                    <a:p>
                      <a:pPr algn="l"/>
                      <a:r>
                        <a:rPr sz="1100" b="1">
                          <a:solidFill>
                            <a:srgbClr val="2E2E2E"/>
                          </a:solidFill>
                          <a:latin typeface="Calibri"/>
                        </a:rPr>
                        <a:t>ons</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square"/>
                    <a:lstStyle/>
                    <a:p>
                      <a:pPr algn="ctr"/>
                      <a:r>
                        <a:rPr sz="1100"/>
                        <a:t> </a:t>
                      </a:r>
                      <a:endParaRPr sz="1100"/>
                    </a:p>
                  </a:txBody>
                  <a:tcPr marL="19050" marR="14288" marT="19050" marB="19050" anchor="ctr">
                    <a:solidFill>
                      <a:srgbClr val="FFFFFF"/>
                    </a:solidFill>
                  </a:tcPr>
                </a:tc>
                <a:tc>
                  <a:txBody>
                    <a:bodyPr wrap="squar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square"/>
                    <a:lstStyle/>
                    <a:p>
                      <a:pPr algn="ctr"/>
                      <a:r>
                        <a:rPr sz="1100"/>
                        <a:t> </a:t>
                      </a:r>
                      <a:endParaRPr sz="1100"/>
                    </a:p>
                  </a:txBody>
                  <a:tcPr marL="19050" marR="14288" marT="19050" marB="19050" anchor="ctr">
                    <a:solidFill>
                      <a:srgbClr val="FFFFFF"/>
                    </a:solidFill>
                  </a:tcPr>
                </a:tc>
                <a:tc>
                  <a:txBody>
                    <a:bodyPr wrap="square"/>
                    <a:lstStyle/>
                    <a:p>
                      <a:pPr algn="ctr"/>
                      <a:r>
                        <a:rPr sz="1100"/>
                        <a:t> </a:t>
                      </a:r>
                      <a:endParaRPr sz="1100"/>
                    </a:p>
                  </a:txBody>
                  <a:tcPr marL="19050" marR="14288" marT="19050" marB="19050" anchor="ctr">
                    <a:solidFill>
                      <a:srgbClr val="FFFFFF"/>
                    </a:solidFill>
                  </a:tcPr>
                </a:tc>
                <a:tc>
                  <a:txBody>
                    <a:bodyPr wrap="square"/>
                    <a:lstStyle/>
                    <a:p>
                      <a:pPr algn="ctr"/>
                      <a:r>
                        <a:rPr sz="1100"/>
                        <a:t> </a:t>
                      </a:r>
                      <a:endParaRPr sz="1100"/>
                    </a:p>
                  </a:txBody>
                  <a:tcPr marL="19050" marR="14288" marT="19050" marB="19050" anchor="ctr">
                    <a:solidFill>
                      <a:srgbClr val="FFFFFF"/>
                    </a:solidFill>
                  </a:tcPr>
                </a:tc>
                <a:tc>
                  <a:txBody>
                    <a:bodyPr wrap="square"/>
                    <a:lstStyle/>
                    <a:p>
                      <a:pPr algn="ctr"/>
                      <a:r>
                        <a:rPr sz="1100"/>
                        <a:t> </a:t>
                      </a:r>
                      <a:endParaRPr sz="1100"/>
                    </a:p>
                  </a:txBody>
                  <a:tcPr marL="19050" marR="14288" marT="19050" marB="19050" anchor="ctr">
                    <a:solidFill>
                      <a:srgbClr val="FFFFFF"/>
                    </a:solidFill>
                  </a:tcPr>
                </a:tc>
              </a:tr>
              <a:tr h="439928">
                <a:tc>
                  <a:txBody>
                    <a:bodyPr wrap="none"/>
                    <a:lstStyle/>
                    <a:p>
                      <a:pPr algn="l"/>
                      <a:r>
                        <a:rPr sz="1100" b="1">
                          <a:solidFill>
                            <a:srgbClr val="2E2E2E"/>
                          </a:solidFill>
                          <a:latin typeface="Calibri"/>
                        </a:rPr>
                        <a:t>Total</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square"/>
                    <a:lstStyle/>
                    <a:p>
                      <a:pPr algn="ctr"/>
                      <a:r>
                        <a:rPr sz="1100"/>
                        <a:t> </a:t>
                      </a:r>
                      <a:endParaRPr sz="1100"/>
                    </a:p>
                  </a:txBody>
                  <a:tcPr marL="19050" marR="14288" marT="19050" marB="19050" anchor="ctr">
                    <a:solidFill>
                      <a:srgbClr val="EBF2F9"/>
                    </a:solidFill>
                  </a:tcPr>
                </a:tc>
                <a:tc>
                  <a:txBody>
                    <a:bodyPr wrap="square"/>
                    <a:lstStyle/>
                    <a:p>
                      <a:pPr algn="ctr"/>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square"/>
                    <a:lstStyle/>
                    <a:p>
                      <a:pPr algn="ctr"/>
                      <a:r>
                        <a:rPr sz="1100"/>
                        <a:t> </a:t>
                      </a:r>
                      <a:endParaRPr sz="1100"/>
                    </a:p>
                  </a:txBody>
                  <a:tcPr marL="19050" marR="14288" marT="19050" marB="19050" anchor="ctr">
                    <a:solidFill>
                      <a:srgbClr val="EBF2F9"/>
                    </a:solidFill>
                  </a:tcPr>
                </a:tc>
                <a:tc>
                  <a:txBody>
                    <a:bodyPr wrap="square"/>
                    <a:lstStyle/>
                    <a:p>
                      <a:pPr algn="ctr"/>
                      <a:r>
                        <a:rPr sz="1100"/>
                        <a:t> </a:t>
                      </a:r>
                      <a:endParaRPr sz="1100"/>
                    </a:p>
                  </a:txBody>
                  <a:tcPr marL="19050" marR="14288" marT="19050" marB="19050" anchor="ctr">
                    <a:solidFill>
                      <a:srgbClr val="EBF2F9"/>
                    </a:solidFill>
                  </a:tcPr>
                </a:tc>
                <a:tc>
                  <a:txBody>
                    <a:bodyPr wrap="square"/>
                    <a:lstStyle/>
                    <a:p>
                      <a:pPr algn="ctr"/>
                      <a:r>
                        <a:rPr sz="1100"/>
                        <a:t> </a:t>
                      </a:r>
                      <a:endParaRPr sz="1100"/>
                    </a:p>
                  </a:txBody>
                  <a:tcPr marL="19050" marR="14288" marT="19050" marB="19050" anchor="ctr">
                    <a:solidFill>
                      <a:srgbClr val="EBF2F9"/>
                    </a:solidFill>
                  </a:tcPr>
                </a:tc>
                <a:tc>
                  <a:txBody>
                    <a:bodyPr wrap="square"/>
                    <a:lstStyle/>
                    <a:p>
                      <a:pPr algn="ctr"/>
                      <a:r>
                        <a:rPr sz="1100"/>
                        <a:t> </a:t>
                      </a:r>
                      <a:endParaRPr sz="1100"/>
                    </a:p>
                  </a:txBody>
                  <a:tcPr marL="19050" marR="14288" marT="19050" marB="19050" anchor="ctr">
                    <a:solidFill>
                      <a:srgbClr val="EBF2F9"/>
                    </a:solidFill>
                  </a:tcPr>
                </a:tc>
              </a:tr>
            </a:tbl>
          </a:graphicData>
        </a:graphic>
      </p:graphicFrame>
      <p:sp>
        <p:nvSpPr>
          <p:cNvPr id="10" name="TextBox 9"/>
          <p:cNvSpPr txBox="1"/>
          <p:nvPr/>
        </p:nvSpPr>
        <p:spPr>
          <a:xfrm>
            <a:off x="219075" y="570547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11" name="Rectangle 10"/>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3" name="Picture 12" descr="lock.png"/>
          <p:cNvPicPr>
            <a:picLocks noChangeAspect="1"/>
          </p:cNvPicPr>
          <p:nvPr/>
        </p:nvPicPr>
        <p:blipFill>
          <a:blip r:embed="rId4"/>
          <a:stretch>
            <a:fillRect/>
          </a:stretch>
        </p:blipFill>
        <p:spPr>
          <a:xfrm>
            <a:off x="6113974" y="4410964"/>
            <a:ext cx="366712" cy="533400"/>
          </a:xfrm>
          <a:prstGeom prst="rect">
            <a:avLst/>
          </a:prstGeom>
        </p:spPr>
      </p:pic>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Absolute $ Opportunity &amp; Attractiveness: Product Type × Application, 2026E–2036F (3/3)</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Incremental value 2026E→2036F (US$ Mn) and value CAGR by cell; attractiveness index scored 1–5</a:t>
            </a:r>
          </a:p>
        </p:txBody>
      </p:sp>
      <p:sp>
        <p:nvSpPr>
          <p:cNvPr id="7" name="Rounded Rectangle 6"/>
          <p:cNvSpPr/>
          <p:nvPr/>
        </p:nvSpPr>
        <p:spPr>
          <a:xfrm>
            <a:off x="142875" y="981075"/>
            <a:ext cx="5600700" cy="5648325"/>
          </a:xfrm>
          <a:prstGeom prst="roundRect">
            <a:avLst>
              <a:gd name="adj" fmla="val 1360"/>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6225" y="1066800"/>
            <a:ext cx="5334000" cy="209550"/>
          </a:xfrm>
          <a:prstGeom prst="rect">
            <a:avLst/>
          </a:prstGeom>
          <a:noFill/>
        </p:spPr>
        <p:txBody>
          <a:bodyPr wrap="square" lIns="0" rIns="19050" tIns="9525" bIns="9525">
            <a:spAutoFit/>
          </a:bodyPr>
          <a:lstStyle/>
          <a:p>
            <a:pPr algn="l"/>
            <a:r>
              <a:rPr sz="1300" b="1">
                <a:solidFill>
                  <a:srgbClr val="0E2A5C"/>
                </a:solidFill>
                <a:latin typeface="Calibri"/>
              </a:rPr>
              <a:t>Top 5 Opportunity Cells (US$ Mn · CAGR · Index)</a:t>
            </a:r>
          </a:p>
        </p:txBody>
      </p:sp>
      <p:sp>
        <p:nvSpPr>
          <p:cNvPr id="9" name="Rectangle 8"/>
          <p:cNvSpPr/>
          <p:nvPr/>
        </p:nvSpPr>
        <p:spPr>
          <a:xfrm>
            <a:off x="276225" y="1304925"/>
            <a:ext cx="533400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6225" y="1390650"/>
            <a:ext cx="53340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p:txBody>
      </p:sp>
      <p:sp>
        <p:nvSpPr>
          <p:cNvPr id="11" name="Rounded Rectangle 10"/>
          <p:cNvSpPr/>
          <p:nvPr/>
        </p:nvSpPr>
        <p:spPr>
          <a:xfrm>
            <a:off x="5895975" y="981075"/>
            <a:ext cx="1943100" cy="5648325"/>
          </a:xfrm>
          <a:prstGeom prst="roundRect">
            <a:avLst>
              <a:gd name="adj" fmla="val 3921"/>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29325" y="1066800"/>
            <a:ext cx="1676400" cy="209550"/>
          </a:xfrm>
          <a:prstGeom prst="rect">
            <a:avLst/>
          </a:prstGeom>
          <a:noFill/>
        </p:spPr>
        <p:txBody>
          <a:bodyPr wrap="square" lIns="0" rIns="19050" tIns="9525" bIns="9525">
            <a:spAutoFit/>
          </a:bodyPr>
          <a:lstStyle/>
          <a:p>
            <a:pPr algn="l"/>
            <a:r>
              <a:rPr sz="1300" b="1">
                <a:solidFill>
                  <a:srgbClr val="0E2A5C"/>
                </a:solidFill>
                <a:latin typeface="Calibri"/>
              </a:rPr>
              <a:t>Largest Pool</a:t>
            </a:r>
          </a:p>
        </p:txBody>
      </p:sp>
      <p:sp>
        <p:nvSpPr>
          <p:cNvPr id="13" name="Rectangle 12"/>
          <p:cNvSpPr/>
          <p:nvPr/>
        </p:nvSpPr>
        <p:spPr>
          <a:xfrm>
            <a:off x="6029325" y="1304925"/>
            <a:ext cx="167640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029325" y="1390650"/>
            <a:ext cx="16764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p:txBody>
      </p:sp>
      <p:sp>
        <p:nvSpPr>
          <p:cNvPr id="15" name="Rounded Rectangle 14"/>
          <p:cNvSpPr/>
          <p:nvPr/>
        </p:nvSpPr>
        <p:spPr>
          <a:xfrm>
            <a:off x="7991475" y="981075"/>
            <a:ext cx="1943100" cy="5648325"/>
          </a:xfrm>
          <a:prstGeom prst="roundRect">
            <a:avLst>
              <a:gd name="adj" fmla="val 3921"/>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24825" y="1066800"/>
            <a:ext cx="1676400" cy="209550"/>
          </a:xfrm>
          <a:prstGeom prst="rect">
            <a:avLst/>
          </a:prstGeom>
          <a:noFill/>
        </p:spPr>
        <p:txBody>
          <a:bodyPr wrap="square" lIns="0" rIns="19050" tIns="9525" bIns="9525">
            <a:spAutoFit/>
          </a:bodyPr>
          <a:lstStyle/>
          <a:p>
            <a:pPr algn="l"/>
            <a:r>
              <a:rPr sz="1300" b="1">
                <a:solidFill>
                  <a:srgbClr val="0E2A5C"/>
                </a:solidFill>
                <a:latin typeface="Calibri"/>
              </a:rPr>
              <a:t>Fastest Growth</a:t>
            </a:r>
          </a:p>
        </p:txBody>
      </p:sp>
      <p:sp>
        <p:nvSpPr>
          <p:cNvPr id="17" name="Rectangle 16"/>
          <p:cNvSpPr/>
          <p:nvPr/>
        </p:nvSpPr>
        <p:spPr>
          <a:xfrm>
            <a:off x="8124825" y="1304925"/>
            <a:ext cx="167640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24825" y="1390650"/>
            <a:ext cx="16764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p:txBody>
      </p:sp>
      <p:sp>
        <p:nvSpPr>
          <p:cNvPr id="19" name="Rounded Rectangle 18"/>
          <p:cNvSpPr/>
          <p:nvPr/>
        </p:nvSpPr>
        <p:spPr>
          <a:xfrm>
            <a:off x="10086975" y="981075"/>
            <a:ext cx="1943100" cy="5648325"/>
          </a:xfrm>
          <a:prstGeom prst="roundRect">
            <a:avLst>
              <a:gd name="adj" fmla="val 3921"/>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220325" y="1066800"/>
            <a:ext cx="1676400" cy="209550"/>
          </a:xfrm>
          <a:prstGeom prst="rect">
            <a:avLst/>
          </a:prstGeom>
          <a:noFill/>
        </p:spPr>
        <p:txBody>
          <a:bodyPr wrap="square" lIns="0" rIns="19050" tIns="9525" bIns="9525">
            <a:spAutoFit/>
          </a:bodyPr>
          <a:lstStyle/>
          <a:p>
            <a:pPr algn="l"/>
            <a:r>
              <a:rPr sz="1300" b="1">
                <a:solidFill>
                  <a:srgbClr val="0E2A5C"/>
                </a:solidFill>
                <a:latin typeface="Calibri"/>
              </a:rPr>
              <a:t>Where to Play</a:t>
            </a:r>
          </a:p>
        </p:txBody>
      </p:sp>
      <p:sp>
        <p:nvSpPr>
          <p:cNvPr id="21" name="Rectangle 20"/>
          <p:cNvSpPr/>
          <p:nvPr/>
        </p:nvSpPr>
        <p:spPr>
          <a:xfrm>
            <a:off x="10220325" y="1304925"/>
            <a:ext cx="167640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220325" y="1390650"/>
            <a:ext cx="16764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t>
            </a:r>
            <a:r>
              <a:rPr sz="1150" b="0">
                <a:solidFill>
                  <a:srgbClr val="2E2E2E"/>
                </a:solidFill>
                <a:latin typeface="Calibri"/>
              </a:rPr>
              <a:t>'Micronized Eggshell Membrane × Functional Food &amp; Beverages' ranks highest (5/5); 'Micronized Eggshell Membrane × Dietary Supplements &amp; Nutraceuticals | Joint &amp; Bone Health' lowest (1/5), a deprioritised cell.</a:t>
            </a:r>
          </a:p>
        </p:txBody>
      </p:sp>
      <p:sp>
        <p:nvSpPr>
          <p:cNvPr id="23" name="Rectangle 22"/>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
        <p:nvSpPr>
          <p:cNvPr id="25" name="TextBox 24"/>
          <p:cNvSpPr txBox="1"/>
          <p:nvPr/>
        </p:nvSpPr>
        <p:spPr>
          <a:xfrm>
            <a:off x="276225" y="1400175"/>
            <a:ext cx="4155584" cy="194310"/>
          </a:xfrm>
          <a:prstGeom prst="rect">
            <a:avLst/>
          </a:prstGeom>
          <a:noFill/>
        </p:spPr>
        <p:txBody>
          <a:bodyPr wrap="none" lIns="0" rIns="0" tIns="0" bIns="0">
            <a:spAutoFit/>
          </a:bodyPr>
          <a:lstStyle/>
          <a:p>
            <a:r>
              <a:rPr sz="1150" b="0">
                <a:solidFill>
                  <a:srgbClr val="2E2E2E"/>
                </a:solidFill>
                <a:latin typeface="Calibri"/>
              </a:rPr>
              <a:t>▪ 1. Micronized Eggshell Membrane × Functional Food &amp; Beverages –</a:t>
            </a:r>
          </a:p>
        </p:txBody>
      </p:sp>
      <p:pic>
        <p:nvPicPr>
          <p:cNvPr id="26" name="Picture 25" descr="lock.png"/>
          <p:cNvPicPr>
            <a:picLocks noChangeAspect="1"/>
          </p:cNvPicPr>
          <p:nvPr/>
        </p:nvPicPr>
        <p:blipFill>
          <a:blip r:embed="rId4"/>
          <a:stretch>
            <a:fillRect/>
          </a:stretch>
        </p:blipFill>
        <p:spPr>
          <a:xfrm>
            <a:off x="4380963" y="1389951"/>
            <a:ext cx="134549" cy="195707"/>
          </a:xfrm>
          <a:prstGeom prst="rect">
            <a:avLst/>
          </a:prstGeom>
        </p:spPr>
      </p:pic>
      <p:sp>
        <p:nvSpPr>
          <p:cNvPr id="27" name="TextBox 26"/>
          <p:cNvSpPr txBox="1"/>
          <p:nvPr/>
        </p:nvSpPr>
        <p:spPr>
          <a:xfrm>
            <a:off x="4556073" y="1400175"/>
            <a:ext cx="112997" cy="194310"/>
          </a:xfrm>
          <a:prstGeom prst="rect">
            <a:avLst/>
          </a:prstGeom>
          <a:noFill/>
        </p:spPr>
        <p:txBody>
          <a:bodyPr wrap="none" lIns="0" rIns="0" tIns="0" bIns="0">
            <a:spAutoFit/>
          </a:bodyPr>
          <a:lstStyle/>
          <a:p>
            <a:r>
              <a:rPr sz="1150" b="0">
                <a:solidFill>
                  <a:srgbClr val="2E2E2E"/>
                </a:solidFill>
                <a:latin typeface="Calibri"/>
              </a:rPr>
              <a:t>·</a:t>
            </a:r>
          </a:p>
        </p:txBody>
      </p:sp>
      <p:pic>
        <p:nvPicPr>
          <p:cNvPr id="28" name="Picture 27" descr="lock.png"/>
          <p:cNvPicPr>
            <a:picLocks noChangeAspect="1"/>
          </p:cNvPicPr>
          <p:nvPr/>
        </p:nvPicPr>
        <p:blipFill>
          <a:blip r:embed="rId4"/>
          <a:stretch>
            <a:fillRect/>
          </a:stretch>
        </p:blipFill>
        <p:spPr>
          <a:xfrm>
            <a:off x="4618224" y="1389951"/>
            <a:ext cx="134549" cy="195707"/>
          </a:xfrm>
          <a:prstGeom prst="rect">
            <a:avLst/>
          </a:prstGeom>
        </p:spPr>
      </p:pic>
      <p:sp>
        <p:nvSpPr>
          <p:cNvPr id="29" name="TextBox 28"/>
          <p:cNvSpPr txBox="1"/>
          <p:nvPr/>
        </p:nvSpPr>
        <p:spPr>
          <a:xfrm>
            <a:off x="4793334" y="1400175"/>
            <a:ext cx="350899" cy="194310"/>
          </a:xfrm>
          <a:prstGeom prst="rect">
            <a:avLst/>
          </a:prstGeom>
          <a:noFill/>
        </p:spPr>
        <p:txBody>
          <a:bodyPr wrap="none" lIns="0" rIns="0" tIns="0" bIns="0">
            <a:spAutoFit/>
          </a:bodyPr>
          <a:lstStyle/>
          <a:p>
            <a:r>
              <a:rPr sz="1150" b="0">
                <a:solidFill>
                  <a:srgbClr val="2E2E2E"/>
                </a:solidFill>
                <a:latin typeface="Calibri"/>
              </a:rPr>
              <a:t>· 5/5</a:t>
            </a:r>
          </a:p>
        </p:txBody>
      </p:sp>
      <p:sp>
        <p:nvSpPr>
          <p:cNvPr id="30" name="TextBox 29"/>
          <p:cNvSpPr txBox="1"/>
          <p:nvPr/>
        </p:nvSpPr>
        <p:spPr>
          <a:xfrm>
            <a:off x="276225" y="1628013"/>
            <a:ext cx="4453675" cy="194310"/>
          </a:xfrm>
          <a:prstGeom prst="rect">
            <a:avLst/>
          </a:prstGeom>
          <a:noFill/>
        </p:spPr>
        <p:txBody>
          <a:bodyPr wrap="none" lIns="0" rIns="0" tIns="0" bIns="0">
            <a:spAutoFit/>
          </a:bodyPr>
          <a:lstStyle/>
          <a:p>
            <a:r>
              <a:rPr sz="1150" b="0">
                <a:solidFill>
                  <a:srgbClr val="2E2E2E"/>
                </a:solidFill>
                <a:latin typeface="Calibri"/>
              </a:rPr>
              <a:t>▪ 2. Specialty Extracted Protein Fractions × Functional Food &amp; Beverages –</a:t>
            </a:r>
          </a:p>
        </p:txBody>
      </p:sp>
      <p:pic>
        <p:nvPicPr>
          <p:cNvPr id="31" name="Picture 30" descr="lock.png"/>
          <p:cNvPicPr>
            <a:picLocks noChangeAspect="1"/>
          </p:cNvPicPr>
          <p:nvPr/>
        </p:nvPicPr>
        <p:blipFill>
          <a:blip r:embed="rId4"/>
          <a:stretch>
            <a:fillRect/>
          </a:stretch>
        </p:blipFill>
        <p:spPr>
          <a:xfrm>
            <a:off x="4679054" y="1617789"/>
            <a:ext cx="134549" cy="195707"/>
          </a:xfrm>
          <a:prstGeom prst="rect">
            <a:avLst/>
          </a:prstGeom>
        </p:spPr>
      </p:pic>
      <p:sp>
        <p:nvSpPr>
          <p:cNvPr id="32" name="TextBox 31"/>
          <p:cNvSpPr txBox="1"/>
          <p:nvPr/>
        </p:nvSpPr>
        <p:spPr>
          <a:xfrm>
            <a:off x="4854163" y="1628013"/>
            <a:ext cx="112997" cy="194310"/>
          </a:xfrm>
          <a:prstGeom prst="rect">
            <a:avLst/>
          </a:prstGeom>
          <a:noFill/>
        </p:spPr>
        <p:txBody>
          <a:bodyPr wrap="none" lIns="0" rIns="0" tIns="0" bIns="0">
            <a:spAutoFit/>
          </a:bodyPr>
          <a:lstStyle/>
          <a:p>
            <a:r>
              <a:rPr sz="1150" b="0">
                <a:solidFill>
                  <a:srgbClr val="2E2E2E"/>
                </a:solidFill>
                <a:latin typeface="Calibri"/>
              </a:rPr>
              <a:t>·</a:t>
            </a:r>
          </a:p>
        </p:txBody>
      </p:sp>
      <p:pic>
        <p:nvPicPr>
          <p:cNvPr id="33" name="Picture 32" descr="lock.png"/>
          <p:cNvPicPr>
            <a:picLocks noChangeAspect="1"/>
          </p:cNvPicPr>
          <p:nvPr/>
        </p:nvPicPr>
        <p:blipFill>
          <a:blip r:embed="rId4"/>
          <a:stretch>
            <a:fillRect/>
          </a:stretch>
        </p:blipFill>
        <p:spPr>
          <a:xfrm>
            <a:off x="4916315" y="1617789"/>
            <a:ext cx="134549" cy="195707"/>
          </a:xfrm>
          <a:prstGeom prst="rect">
            <a:avLst/>
          </a:prstGeom>
        </p:spPr>
      </p:pic>
      <p:sp>
        <p:nvSpPr>
          <p:cNvPr id="34" name="TextBox 33"/>
          <p:cNvSpPr txBox="1"/>
          <p:nvPr/>
        </p:nvSpPr>
        <p:spPr>
          <a:xfrm>
            <a:off x="5091424" y="1628013"/>
            <a:ext cx="112997" cy="194310"/>
          </a:xfrm>
          <a:prstGeom prst="rect">
            <a:avLst/>
          </a:prstGeom>
          <a:noFill/>
        </p:spPr>
        <p:txBody>
          <a:bodyPr wrap="none" lIns="0" rIns="0" tIns="0" bIns="0">
            <a:spAutoFit/>
          </a:bodyPr>
          <a:lstStyle/>
          <a:p>
            <a:r>
              <a:rPr sz="1150" b="0">
                <a:solidFill>
                  <a:srgbClr val="2E2E2E"/>
                </a:solidFill>
                <a:latin typeface="Calibri"/>
              </a:rPr>
              <a:t>·</a:t>
            </a:r>
          </a:p>
        </p:txBody>
      </p:sp>
      <p:sp>
        <p:nvSpPr>
          <p:cNvPr id="35" name="TextBox 34"/>
          <p:cNvSpPr txBox="1"/>
          <p:nvPr/>
        </p:nvSpPr>
        <p:spPr>
          <a:xfrm>
            <a:off x="276225" y="1803273"/>
            <a:ext cx="281012" cy="194310"/>
          </a:xfrm>
          <a:prstGeom prst="rect">
            <a:avLst/>
          </a:prstGeom>
          <a:noFill/>
        </p:spPr>
        <p:txBody>
          <a:bodyPr wrap="none" lIns="0" rIns="0" tIns="0" bIns="0">
            <a:spAutoFit/>
          </a:bodyPr>
          <a:lstStyle/>
          <a:p>
            <a:r>
              <a:rPr sz="1150" b="0">
                <a:solidFill>
                  <a:srgbClr val="2E2E2E"/>
                </a:solidFill>
                <a:latin typeface="Calibri"/>
              </a:rPr>
              <a:t>5/5</a:t>
            </a:r>
          </a:p>
        </p:txBody>
      </p:sp>
      <p:sp>
        <p:nvSpPr>
          <p:cNvPr id="36" name="TextBox 35"/>
          <p:cNvSpPr txBox="1"/>
          <p:nvPr/>
        </p:nvSpPr>
        <p:spPr>
          <a:xfrm>
            <a:off x="276225" y="2031111"/>
            <a:ext cx="4158437" cy="194310"/>
          </a:xfrm>
          <a:prstGeom prst="rect">
            <a:avLst/>
          </a:prstGeom>
          <a:noFill/>
        </p:spPr>
        <p:txBody>
          <a:bodyPr wrap="none" lIns="0" rIns="0" tIns="0" bIns="0">
            <a:spAutoFit/>
          </a:bodyPr>
          <a:lstStyle/>
          <a:p>
            <a:r>
              <a:rPr sz="1150" b="0">
                <a:solidFill>
                  <a:srgbClr val="2E2E2E"/>
                </a:solidFill>
                <a:latin typeface="Calibri"/>
              </a:rPr>
              <a:t>▪ 3. Hydrolyzed Eggshell Membrane × Functional Food &amp; Beverages –</a:t>
            </a:r>
          </a:p>
        </p:txBody>
      </p:sp>
      <p:pic>
        <p:nvPicPr>
          <p:cNvPr id="37" name="Picture 36" descr="lock.png"/>
          <p:cNvPicPr>
            <a:picLocks noChangeAspect="1"/>
          </p:cNvPicPr>
          <p:nvPr/>
        </p:nvPicPr>
        <p:blipFill>
          <a:blip r:embed="rId4"/>
          <a:stretch>
            <a:fillRect/>
          </a:stretch>
        </p:blipFill>
        <p:spPr>
          <a:xfrm>
            <a:off x="4383816" y="2020887"/>
            <a:ext cx="134549" cy="195707"/>
          </a:xfrm>
          <a:prstGeom prst="rect">
            <a:avLst/>
          </a:prstGeom>
        </p:spPr>
      </p:pic>
      <p:sp>
        <p:nvSpPr>
          <p:cNvPr id="38" name="TextBox 37"/>
          <p:cNvSpPr txBox="1"/>
          <p:nvPr/>
        </p:nvSpPr>
        <p:spPr>
          <a:xfrm>
            <a:off x="4558925" y="2031111"/>
            <a:ext cx="112997" cy="194310"/>
          </a:xfrm>
          <a:prstGeom prst="rect">
            <a:avLst/>
          </a:prstGeom>
          <a:noFill/>
        </p:spPr>
        <p:txBody>
          <a:bodyPr wrap="none" lIns="0" rIns="0" tIns="0" bIns="0">
            <a:spAutoFit/>
          </a:bodyPr>
          <a:lstStyle/>
          <a:p>
            <a:r>
              <a:rPr sz="1150" b="0">
                <a:solidFill>
                  <a:srgbClr val="2E2E2E"/>
                </a:solidFill>
                <a:latin typeface="Calibri"/>
              </a:rPr>
              <a:t>·</a:t>
            </a:r>
          </a:p>
        </p:txBody>
      </p:sp>
      <p:pic>
        <p:nvPicPr>
          <p:cNvPr id="39" name="Picture 38" descr="lock.png"/>
          <p:cNvPicPr>
            <a:picLocks noChangeAspect="1"/>
          </p:cNvPicPr>
          <p:nvPr/>
        </p:nvPicPr>
        <p:blipFill>
          <a:blip r:embed="rId4"/>
          <a:stretch>
            <a:fillRect/>
          </a:stretch>
        </p:blipFill>
        <p:spPr>
          <a:xfrm>
            <a:off x="4621077" y="2020887"/>
            <a:ext cx="134549" cy="195707"/>
          </a:xfrm>
          <a:prstGeom prst="rect">
            <a:avLst/>
          </a:prstGeom>
        </p:spPr>
      </p:pic>
      <p:sp>
        <p:nvSpPr>
          <p:cNvPr id="40" name="TextBox 39"/>
          <p:cNvSpPr txBox="1"/>
          <p:nvPr/>
        </p:nvSpPr>
        <p:spPr>
          <a:xfrm>
            <a:off x="4796186" y="2031111"/>
            <a:ext cx="350899" cy="194310"/>
          </a:xfrm>
          <a:prstGeom prst="rect">
            <a:avLst/>
          </a:prstGeom>
          <a:noFill/>
        </p:spPr>
        <p:txBody>
          <a:bodyPr wrap="none" lIns="0" rIns="0" tIns="0" bIns="0">
            <a:spAutoFit/>
          </a:bodyPr>
          <a:lstStyle/>
          <a:p>
            <a:r>
              <a:rPr sz="1150" b="0">
                <a:solidFill>
                  <a:srgbClr val="2E2E2E"/>
                </a:solidFill>
                <a:latin typeface="Calibri"/>
              </a:rPr>
              <a:t>· 5/5</a:t>
            </a:r>
          </a:p>
        </p:txBody>
      </p:sp>
      <p:sp>
        <p:nvSpPr>
          <p:cNvPr id="41" name="TextBox 40"/>
          <p:cNvSpPr txBox="1"/>
          <p:nvPr/>
        </p:nvSpPr>
        <p:spPr>
          <a:xfrm>
            <a:off x="276225" y="2258949"/>
            <a:ext cx="3900028" cy="194310"/>
          </a:xfrm>
          <a:prstGeom prst="rect">
            <a:avLst/>
          </a:prstGeom>
          <a:noFill/>
        </p:spPr>
        <p:txBody>
          <a:bodyPr wrap="none" lIns="0" rIns="0" tIns="0" bIns="0">
            <a:spAutoFit/>
          </a:bodyPr>
          <a:lstStyle/>
          <a:p>
            <a:r>
              <a:rPr sz="1150" b="0">
                <a:solidFill>
                  <a:srgbClr val="2E2E2E"/>
                </a:solidFill>
                <a:latin typeface="Calibri"/>
              </a:rPr>
              <a:t>▪ 4. Hydrolyzed Eggshell Membrane × Industrial &amp; Biomaterials –</a:t>
            </a:r>
          </a:p>
        </p:txBody>
      </p:sp>
      <p:pic>
        <p:nvPicPr>
          <p:cNvPr id="42" name="Picture 41" descr="lock.png"/>
          <p:cNvPicPr>
            <a:picLocks noChangeAspect="1"/>
          </p:cNvPicPr>
          <p:nvPr/>
        </p:nvPicPr>
        <p:blipFill>
          <a:blip r:embed="rId4"/>
          <a:stretch>
            <a:fillRect/>
          </a:stretch>
        </p:blipFill>
        <p:spPr>
          <a:xfrm>
            <a:off x="4125407" y="2248725"/>
            <a:ext cx="134549" cy="195707"/>
          </a:xfrm>
          <a:prstGeom prst="rect">
            <a:avLst/>
          </a:prstGeom>
        </p:spPr>
      </p:pic>
      <p:sp>
        <p:nvSpPr>
          <p:cNvPr id="43" name="TextBox 42"/>
          <p:cNvSpPr txBox="1"/>
          <p:nvPr/>
        </p:nvSpPr>
        <p:spPr>
          <a:xfrm>
            <a:off x="4300516" y="2258949"/>
            <a:ext cx="112997" cy="194310"/>
          </a:xfrm>
          <a:prstGeom prst="rect">
            <a:avLst/>
          </a:prstGeom>
          <a:noFill/>
        </p:spPr>
        <p:txBody>
          <a:bodyPr wrap="none" lIns="0" rIns="0" tIns="0" bIns="0">
            <a:spAutoFit/>
          </a:bodyPr>
          <a:lstStyle/>
          <a:p>
            <a:r>
              <a:rPr sz="1150" b="0">
                <a:solidFill>
                  <a:srgbClr val="2E2E2E"/>
                </a:solidFill>
                <a:latin typeface="Calibri"/>
              </a:rPr>
              <a:t>·</a:t>
            </a:r>
          </a:p>
        </p:txBody>
      </p:sp>
      <p:pic>
        <p:nvPicPr>
          <p:cNvPr id="44" name="Picture 43" descr="lock.png"/>
          <p:cNvPicPr>
            <a:picLocks noChangeAspect="1"/>
          </p:cNvPicPr>
          <p:nvPr/>
        </p:nvPicPr>
        <p:blipFill>
          <a:blip r:embed="rId4"/>
          <a:stretch>
            <a:fillRect/>
          </a:stretch>
        </p:blipFill>
        <p:spPr>
          <a:xfrm>
            <a:off x="4362668" y="2248725"/>
            <a:ext cx="134549" cy="195707"/>
          </a:xfrm>
          <a:prstGeom prst="rect">
            <a:avLst/>
          </a:prstGeom>
        </p:spPr>
      </p:pic>
      <p:sp>
        <p:nvSpPr>
          <p:cNvPr id="45" name="TextBox 44"/>
          <p:cNvSpPr txBox="1"/>
          <p:nvPr/>
        </p:nvSpPr>
        <p:spPr>
          <a:xfrm>
            <a:off x="4537777" y="2258949"/>
            <a:ext cx="350899" cy="194310"/>
          </a:xfrm>
          <a:prstGeom prst="rect">
            <a:avLst/>
          </a:prstGeom>
          <a:noFill/>
        </p:spPr>
        <p:txBody>
          <a:bodyPr wrap="none" lIns="0" rIns="0" tIns="0" bIns="0">
            <a:spAutoFit/>
          </a:bodyPr>
          <a:lstStyle/>
          <a:p>
            <a:r>
              <a:rPr sz="1150" b="0">
                <a:solidFill>
                  <a:srgbClr val="2E2E2E"/>
                </a:solidFill>
                <a:latin typeface="Calibri"/>
              </a:rPr>
              <a:t>· 4/5</a:t>
            </a:r>
          </a:p>
        </p:txBody>
      </p:sp>
      <p:sp>
        <p:nvSpPr>
          <p:cNvPr id="46" name="TextBox 45"/>
          <p:cNvSpPr txBox="1"/>
          <p:nvPr/>
        </p:nvSpPr>
        <p:spPr>
          <a:xfrm>
            <a:off x="276225" y="2486787"/>
            <a:ext cx="3897176" cy="194310"/>
          </a:xfrm>
          <a:prstGeom prst="rect">
            <a:avLst/>
          </a:prstGeom>
          <a:noFill/>
        </p:spPr>
        <p:txBody>
          <a:bodyPr wrap="none" lIns="0" rIns="0" tIns="0" bIns="0">
            <a:spAutoFit/>
          </a:bodyPr>
          <a:lstStyle/>
          <a:p>
            <a:r>
              <a:rPr sz="1150" b="0">
                <a:solidFill>
                  <a:srgbClr val="2E2E2E"/>
                </a:solidFill>
                <a:latin typeface="Calibri"/>
              </a:rPr>
              <a:t>▪ 5. Micronized Eggshell Membrane × Industrial &amp; Biomaterials –</a:t>
            </a:r>
          </a:p>
        </p:txBody>
      </p:sp>
      <p:pic>
        <p:nvPicPr>
          <p:cNvPr id="47" name="Picture 46" descr="lock.png"/>
          <p:cNvPicPr>
            <a:picLocks noChangeAspect="1"/>
          </p:cNvPicPr>
          <p:nvPr/>
        </p:nvPicPr>
        <p:blipFill>
          <a:blip r:embed="rId4"/>
          <a:stretch>
            <a:fillRect/>
          </a:stretch>
        </p:blipFill>
        <p:spPr>
          <a:xfrm>
            <a:off x="4122555" y="2476563"/>
            <a:ext cx="134549" cy="195707"/>
          </a:xfrm>
          <a:prstGeom prst="rect">
            <a:avLst/>
          </a:prstGeom>
        </p:spPr>
      </p:pic>
      <p:sp>
        <p:nvSpPr>
          <p:cNvPr id="48" name="TextBox 47"/>
          <p:cNvSpPr txBox="1"/>
          <p:nvPr/>
        </p:nvSpPr>
        <p:spPr>
          <a:xfrm>
            <a:off x="4297664" y="2486787"/>
            <a:ext cx="112997" cy="194310"/>
          </a:xfrm>
          <a:prstGeom prst="rect">
            <a:avLst/>
          </a:prstGeom>
          <a:noFill/>
        </p:spPr>
        <p:txBody>
          <a:bodyPr wrap="none" lIns="0" rIns="0" tIns="0" bIns="0">
            <a:spAutoFit/>
          </a:bodyPr>
          <a:lstStyle/>
          <a:p>
            <a:r>
              <a:rPr sz="1150" b="0">
                <a:solidFill>
                  <a:srgbClr val="2E2E2E"/>
                </a:solidFill>
                <a:latin typeface="Calibri"/>
              </a:rPr>
              <a:t>·</a:t>
            </a:r>
          </a:p>
        </p:txBody>
      </p:sp>
      <p:pic>
        <p:nvPicPr>
          <p:cNvPr id="49" name="Picture 48" descr="lock.png"/>
          <p:cNvPicPr>
            <a:picLocks noChangeAspect="1"/>
          </p:cNvPicPr>
          <p:nvPr/>
        </p:nvPicPr>
        <p:blipFill>
          <a:blip r:embed="rId4"/>
          <a:stretch>
            <a:fillRect/>
          </a:stretch>
        </p:blipFill>
        <p:spPr>
          <a:xfrm>
            <a:off x="4359815" y="2476563"/>
            <a:ext cx="134549" cy="195707"/>
          </a:xfrm>
          <a:prstGeom prst="rect">
            <a:avLst/>
          </a:prstGeom>
        </p:spPr>
      </p:pic>
      <p:sp>
        <p:nvSpPr>
          <p:cNvPr id="50" name="TextBox 49"/>
          <p:cNvSpPr txBox="1"/>
          <p:nvPr/>
        </p:nvSpPr>
        <p:spPr>
          <a:xfrm>
            <a:off x="4534925" y="2486787"/>
            <a:ext cx="350899" cy="194310"/>
          </a:xfrm>
          <a:prstGeom prst="rect">
            <a:avLst/>
          </a:prstGeom>
          <a:noFill/>
        </p:spPr>
        <p:txBody>
          <a:bodyPr wrap="none" lIns="0" rIns="0" tIns="0" bIns="0">
            <a:spAutoFit/>
          </a:bodyPr>
          <a:lstStyle/>
          <a:p>
            <a:r>
              <a:rPr sz="1150" b="0">
                <a:solidFill>
                  <a:srgbClr val="2E2E2E"/>
                </a:solidFill>
                <a:latin typeface="Calibri"/>
              </a:rPr>
              <a:t>· 4/5</a:t>
            </a:r>
          </a:p>
        </p:txBody>
      </p:sp>
      <p:sp>
        <p:nvSpPr>
          <p:cNvPr id="51" name="TextBox 50"/>
          <p:cNvSpPr txBox="1"/>
          <p:nvPr/>
        </p:nvSpPr>
        <p:spPr>
          <a:xfrm>
            <a:off x="6029325" y="1400175"/>
            <a:ext cx="1374961" cy="194310"/>
          </a:xfrm>
          <a:prstGeom prst="rect">
            <a:avLst/>
          </a:prstGeom>
          <a:noFill/>
        </p:spPr>
        <p:txBody>
          <a:bodyPr wrap="none" lIns="0" rIns="0" tIns="0" bIns="0">
            <a:spAutoFit/>
          </a:bodyPr>
          <a:lstStyle/>
          <a:p>
            <a:r>
              <a:rPr sz="1150" b="0">
                <a:solidFill>
                  <a:srgbClr val="2E2E2E"/>
                </a:solidFill>
                <a:latin typeface="Calibri"/>
              </a:rPr>
              <a:t>▪ 'Micronized Eggshell</a:t>
            </a:r>
          </a:p>
        </p:txBody>
      </p:sp>
      <p:sp>
        <p:nvSpPr>
          <p:cNvPr id="52" name="TextBox 51"/>
          <p:cNvSpPr txBox="1"/>
          <p:nvPr/>
        </p:nvSpPr>
        <p:spPr>
          <a:xfrm>
            <a:off x="6029325" y="1575435"/>
            <a:ext cx="1499046" cy="194310"/>
          </a:xfrm>
          <a:prstGeom prst="rect">
            <a:avLst/>
          </a:prstGeom>
          <a:noFill/>
        </p:spPr>
        <p:txBody>
          <a:bodyPr wrap="none" lIns="0" rIns="0" tIns="0" bIns="0">
            <a:spAutoFit/>
          </a:bodyPr>
          <a:lstStyle/>
          <a:p>
            <a:r>
              <a:rPr sz="1150" b="0">
                <a:solidFill>
                  <a:srgbClr val="2E2E2E"/>
                </a:solidFill>
                <a:latin typeface="Calibri"/>
              </a:rPr>
              <a:t>Membrane × Functional</a:t>
            </a:r>
          </a:p>
        </p:txBody>
      </p:sp>
      <p:sp>
        <p:nvSpPr>
          <p:cNvPr id="53" name="TextBox 52"/>
          <p:cNvSpPr txBox="1"/>
          <p:nvPr/>
        </p:nvSpPr>
        <p:spPr>
          <a:xfrm>
            <a:off x="6029325" y="1750695"/>
            <a:ext cx="1495877" cy="194310"/>
          </a:xfrm>
          <a:prstGeom prst="rect">
            <a:avLst/>
          </a:prstGeom>
          <a:noFill/>
        </p:spPr>
        <p:txBody>
          <a:bodyPr wrap="none" lIns="0" rIns="0" tIns="0" bIns="0">
            <a:spAutoFit/>
          </a:bodyPr>
          <a:lstStyle/>
          <a:p>
            <a:r>
              <a:rPr sz="1150" b="0">
                <a:solidFill>
                  <a:srgbClr val="2E2E2E"/>
                </a:solidFill>
                <a:latin typeface="Calibri"/>
              </a:rPr>
              <a:t>Food &amp; Beverages' adds</a:t>
            </a:r>
          </a:p>
        </p:txBody>
      </p:sp>
      <p:pic>
        <p:nvPicPr>
          <p:cNvPr id="54" name="Picture 53" descr="lock.png"/>
          <p:cNvPicPr>
            <a:picLocks noChangeAspect="1"/>
          </p:cNvPicPr>
          <p:nvPr/>
        </p:nvPicPr>
        <p:blipFill>
          <a:blip r:embed="rId4"/>
          <a:stretch>
            <a:fillRect/>
          </a:stretch>
        </p:blipFill>
        <p:spPr>
          <a:xfrm>
            <a:off x="6015245" y="1915731"/>
            <a:ext cx="134549" cy="195707"/>
          </a:xfrm>
          <a:prstGeom prst="rect">
            <a:avLst/>
          </a:prstGeom>
        </p:spPr>
      </p:pic>
      <p:sp>
        <p:nvSpPr>
          <p:cNvPr id="55" name="TextBox 54"/>
          <p:cNvSpPr txBox="1"/>
          <p:nvPr/>
        </p:nvSpPr>
        <p:spPr>
          <a:xfrm>
            <a:off x="6190354" y="1925955"/>
            <a:ext cx="1224632" cy="194310"/>
          </a:xfrm>
          <a:prstGeom prst="rect">
            <a:avLst/>
          </a:prstGeom>
          <a:noFill/>
        </p:spPr>
        <p:txBody>
          <a:bodyPr wrap="none" lIns="0" rIns="0" tIns="0" bIns="0">
            <a:spAutoFit/>
          </a:bodyPr>
          <a:lstStyle/>
          <a:p>
            <a:r>
              <a:rPr sz="1150" b="0">
                <a:solidFill>
                  <a:srgbClr val="2E2E2E"/>
                </a:solidFill>
                <a:latin typeface="Calibri"/>
              </a:rPr>
              <a:t>US$ Mn by 2036F –</a:t>
            </a:r>
          </a:p>
        </p:txBody>
      </p:sp>
      <p:pic>
        <p:nvPicPr>
          <p:cNvPr id="56" name="Picture 55" descr="lock.png"/>
          <p:cNvPicPr>
            <a:picLocks noChangeAspect="1"/>
          </p:cNvPicPr>
          <p:nvPr/>
        </p:nvPicPr>
        <p:blipFill>
          <a:blip r:embed="rId4"/>
          <a:stretch>
            <a:fillRect/>
          </a:stretch>
        </p:blipFill>
        <p:spPr>
          <a:xfrm>
            <a:off x="6015245" y="2090991"/>
            <a:ext cx="134549" cy="195707"/>
          </a:xfrm>
          <a:prstGeom prst="rect">
            <a:avLst/>
          </a:prstGeom>
        </p:spPr>
      </p:pic>
      <p:sp>
        <p:nvSpPr>
          <p:cNvPr id="57" name="TextBox 56"/>
          <p:cNvSpPr txBox="1"/>
          <p:nvPr/>
        </p:nvSpPr>
        <p:spPr>
          <a:xfrm>
            <a:off x="6190354" y="2101215"/>
            <a:ext cx="741126" cy="194310"/>
          </a:xfrm>
          <a:prstGeom prst="rect">
            <a:avLst/>
          </a:prstGeom>
          <a:noFill/>
        </p:spPr>
        <p:txBody>
          <a:bodyPr wrap="none" lIns="0" rIns="0" tIns="0" bIns="0">
            <a:spAutoFit/>
          </a:bodyPr>
          <a:lstStyle/>
          <a:p>
            <a:r>
              <a:rPr sz="1150" b="0">
                <a:solidFill>
                  <a:srgbClr val="2E2E2E"/>
                </a:solidFill>
                <a:latin typeface="Calibri"/>
              </a:rPr>
              <a:t>of the total</a:t>
            </a:r>
          </a:p>
        </p:txBody>
      </p:sp>
      <p:sp>
        <p:nvSpPr>
          <p:cNvPr id="58" name="TextBox 57"/>
          <p:cNvSpPr txBox="1"/>
          <p:nvPr/>
        </p:nvSpPr>
        <p:spPr>
          <a:xfrm>
            <a:off x="6029325" y="2276475"/>
            <a:ext cx="822994" cy="194310"/>
          </a:xfrm>
          <a:prstGeom prst="rect">
            <a:avLst/>
          </a:prstGeom>
          <a:noFill/>
        </p:spPr>
        <p:txBody>
          <a:bodyPr wrap="none" lIns="0" rIns="0" tIns="0" bIns="0">
            <a:spAutoFit/>
          </a:bodyPr>
          <a:lstStyle/>
          <a:p>
            <a:r>
              <a:rPr sz="1150" b="0">
                <a:solidFill>
                  <a:srgbClr val="2E2E2E"/>
                </a:solidFill>
                <a:latin typeface="Calibri"/>
              </a:rPr>
              <a:t>opportunity.</a:t>
            </a:r>
          </a:p>
        </p:txBody>
      </p:sp>
      <p:sp>
        <p:nvSpPr>
          <p:cNvPr id="59" name="TextBox 58"/>
          <p:cNvSpPr txBox="1"/>
          <p:nvPr/>
        </p:nvSpPr>
        <p:spPr>
          <a:xfrm>
            <a:off x="8124825" y="1400175"/>
            <a:ext cx="1374961" cy="194310"/>
          </a:xfrm>
          <a:prstGeom prst="rect">
            <a:avLst/>
          </a:prstGeom>
          <a:noFill/>
        </p:spPr>
        <p:txBody>
          <a:bodyPr wrap="none" lIns="0" rIns="0" tIns="0" bIns="0">
            <a:spAutoFit/>
          </a:bodyPr>
          <a:lstStyle/>
          <a:p>
            <a:r>
              <a:rPr sz="1150" b="0">
                <a:solidFill>
                  <a:srgbClr val="2E2E2E"/>
                </a:solidFill>
                <a:latin typeface="Calibri"/>
              </a:rPr>
              <a:t>▪ 'Micronized Eggshell</a:t>
            </a:r>
          </a:p>
        </p:txBody>
      </p:sp>
      <p:sp>
        <p:nvSpPr>
          <p:cNvPr id="60" name="TextBox 59"/>
          <p:cNvSpPr txBox="1"/>
          <p:nvPr/>
        </p:nvSpPr>
        <p:spPr>
          <a:xfrm>
            <a:off x="8124825" y="1575435"/>
            <a:ext cx="1499046" cy="194310"/>
          </a:xfrm>
          <a:prstGeom prst="rect">
            <a:avLst/>
          </a:prstGeom>
          <a:noFill/>
        </p:spPr>
        <p:txBody>
          <a:bodyPr wrap="none" lIns="0" rIns="0" tIns="0" bIns="0">
            <a:spAutoFit/>
          </a:bodyPr>
          <a:lstStyle/>
          <a:p>
            <a:r>
              <a:rPr sz="1150" b="0">
                <a:solidFill>
                  <a:srgbClr val="2E2E2E"/>
                </a:solidFill>
                <a:latin typeface="Calibri"/>
              </a:rPr>
              <a:t>Membrane × Functional</a:t>
            </a:r>
          </a:p>
        </p:txBody>
      </p:sp>
      <p:sp>
        <p:nvSpPr>
          <p:cNvPr id="61" name="TextBox 60"/>
          <p:cNvSpPr txBox="1"/>
          <p:nvPr/>
        </p:nvSpPr>
        <p:spPr>
          <a:xfrm>
            <a:off x="8124825" y="1750695"/>
            <a:ext cx="1657350" cy="194310"/>
          </a:xfrm>
          <a:prstGeom prst="rect">
            <a:avLst/>
          </a:prstGeom>
          <a:noFill/>
        </p:spPr>
        <p:txBody>
          <a:bodyPr wrap="none" lIns="0" rIns="0" tIns="0" bIns="0">
            <a:spAutoFit/>
          </a:bodyPr>
          <a:lstStyle/>
          <a:p>
            <a:r>
              <a:rPr sz="1150" b="0">
                <a:solidFill>
                  <a:srgbClr val="2E2E2E"/>
                </a:solidFill>
                <a:latin typeface="Calibri"/>
              </a:rPr>
              <a:t>Food &amp; Beverages' grows at</a:t>
            </a:r>
          </a:p>
        </p:txBody>
      </p:sp>
      <p:sp>
        <p:nvSpPr>
          <p:cNvPr id="62" name="TextBox 61"/>
          <p:cNvSpPr txBox="1"/>
          <p:nvPr/>
        </p:nvSpPr>
        <p:spPr>
          <a:xfrm>
            <a:off x="8124825" y="1925955"/>
            <a:ext cx="146087" cy="194310"/>
          </a:xfrm>
          <a:prstGeom prst="rect">
            <a:avLst/>
          </a:prstGeom>
          <a:noFill/>
        </p:spPr>
        <p:txBody>
          <a:bodyPr wrap="none" lIns="0" rIns="0" tIns="0" bIns="0">
            <a:spAutoFit/>
          </a:bodyPr>
          <a:lstStyle/>
          <a:p>
            <a:r>
              <a:rPr sz="1150" b="0">
                <a:solidFill>
                  <a:srgbClr val="2E2E2E"/>
                </a:solidFill>
                <a:latin typeface="Calibri"/>
              </a:rPr>
              <a:t>a</a:t>
            </a:r>
          </a:p>
        </p:txBody>
      </p:sp>
      <p:pic>
        <p:nvPicPr>
          <p:cNvPr id="63" name="Picture 62" descr="lock.png"/>
          <p:cNvPicPr>
            <a:picLocks noChangeAspect="1"/>
          </p:cNvPicPr>
          <p:nvPr/>
        </p:nvPicPr>
        <p:blipFill>
          <a:blip r:embed="rId4"/>
          <a:stretch>
            <a:fillRect/>
          </a:stretch>
        </p:blipFill>
        <p:spPr>
          <a:xfrm>
            <a:off x="8220066" y="1915731"/>
            <a:ext cx="134549" cy="195707"/>
          </a:xfrm>
          <a:prstGeom prst="rect">
            <a:avLst/>
          </a:prstGeom>
        </p:spPr>
      </p:pic>
      <p:sp>
        <p:nvSpPr>
          <p:cNvPr id="64" name="TextBox 63"/>
          <p:cNvSpPr txBox="1"/>
          <p:nvPr/>
        </p:nvSpPr>
        <p:spPr>
          <a:xfrm>
            <a:off x="8395175" y="1925955"/>
            <a:ext cx="446441" cy="194310"/>
          </a:xfrm>
          <a:prstGeom prst="rect">
            <a:avLst/>
          </a:prstGeom>
          <a:noFill/>
        </p:spPr>
        <p:txBody>
          <a:bodyPr wrap="none" lIns="0" rIns="0" tIns="0" bIns="0">
            <a:spAutoFit/>
          </a:bodyPr>
          <a:lstStyle/>
          <a:p>
            <a:r>
              <a:rPr sz="1150" b="0">
                <a:solidFill>
                  <a:srgbClr val="2E2E2E"/>
                </a:solidFill>
                <a:latin typeface="Calibri"/>
              </a:rPr>
              <a:t>CAGR,</a:t>
            </a:r>
          </a:p>
        </p:txBody>
      </p:sp>
      <p:pic>
        <p:nvPicPr>
          <p:cNvPr id="65" name="Picture 64" descr="lock.png"/>
          <p:cNvPicPr>
            <a:picLocks noChangeAspect="1"/>
          </p:cNvPicPr>
          <p:nvPr/>
        </p:nvPicPr>
        <p:blipFill>
          <a:blip r:embed="rId4"/>
          <a:stretch>
            <a:fillRect/>
          </a:stretch>
        </p:blipFill>
        <p:spPr>
          <a:xfrm>
            <a:off x="8790771" y="1915731"/>
            <a:ext cx="134549" cy="195707"/>
          </a:xfrm>
          <a:prstGeom prst="rect">
            <a:avLst/>
          </a:prstGeom>
        </p:spPr>
      </p:pic>
      <p:sp>
        <p:nvSpPr>
          <p:cNvPr id="66" name="TextBox 65"/>
          <p:cNvSpPr txBox="1"/>
          <p:nvPr/>
        </p:nvSpPr>
        <p:spPr>
          <a:xfrm>
            <a:off x="8965880" y="1925955"/>
            <a:ext cx="298412" cy="194310"/>
          </a:xfrm>
          <a:prstGeom prst="rect">
            <a:avLst/>
          </a:prstGeom>
          <a:noFill/>
        </p:spPr>
        <p:txBody>
          <a:bodyPr wrap="none" lIns="0" rIns="0" tIns="0" bIns="0">
            <a:spAutoFit/>
          </a:bodyPr>
          <a:lstStyle/>
          <a:p>
            <a:r>
              <a:rPr sz="1150" b="0">
                <a:solidFill>
                  <a:srgbClr val="2E2E2E"/>
                </a:solidFill>
                <a:latin typeface="Calibri"/>
              </a:rPr>
              <a:t>BPS</a:t>
            </a:r>
          </a:p>
        </p:txBody>
      </p:sp>
      <p:sp>
        <p:nvSpPr>
          <p:cNvPr id="67" name="TextBox 66"/>
          <p:cNvSpPr txBox="1"/>
          <p:nvPr/>
        </p:nvSpPr>
        <p:spPr>
          <a:xfrm>
            <a:off x="8124825" y="2101215"/>
            <a:ext cx="1517017" cy="194310"/>
          </a:xfrm>
          <a:prstGeom prst="rect">
            <a:avLst/>
          </a:prstGeom>
          <a:noFill/>
        </p:spPr>
        <p:txBody>
          <a:bodyPr wrap="none" lIns="0" rIns="0" tIns="0" bIns="0">
            <a:spAutoFit/>
          </a:bodyPr>
          <a:lstStyle/>
          <a:p>
            <a:r>
              <a:rPr sz="1150" b="0">
                <a:solidFill>
                  <a:srgbClr val="2E2E2E"/>
                </a:solidFill>
                <a:latin typeface="Calibri"/>
              </a:rPr>
              <a:t>above the cross-section.</a:t>
            </a: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bg>
      <p:bgPr>
        <a:solidFill>
          <a:srgbClr val="0A2A63"/>
        </a:solidFill>
        <a:effectLst/>
      </p:bgPr>
    </p:bg>
    <p:spTree>
      <p:nvGrpSpPr>
        <p:cNvPr id="1" name=""/>
        <p:cNvGrpSpPr/>
        <p:nvPr/>
      </p:nvGrpSpPr>
      <p:grpSpPr/>
      <p:sp>
        <p:nvSpPr>
          <p:cNvPr id="2" name="TMR Section Breaker"/>
          <p:cNvSpPr/>
          <p:nvPr/>
        </p:nvSpPr>
        <p:spPr>
          <a:xfrm>
            <a:off x="0" y="0"/>
            <a:ext cx="12192000" cy="6858000"/>
          </a:xfrm>
          <a:prstGeom prst="rect">
            <a:avLst/>
          </a:prstGeom>
          <a:gradFill rotWithShape="1">
            <a:gsLst>
              <a:gs pos="0">
                <a:srgbClr val="0A2A63"/>
              </a:gs>
              <a:gs pos="100000">
                <a:srgbClr val="0F3F8F"/>
              </a:gs>
            </a:gsLst>
            <a:lin scaled="0" ang="19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35280" y="198120"/>
            <a:ext cx="1459992" cy="112790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411480" y="274320"/>
            <a:ext cx="1307592" cy="975505"/>
          </a:xfrm>
          <a:prstGeom prst="rect">
            <a:avLst/>
          </a:prstGeom>
        </p:spPr>
      </p:pic>
      <p:sp>
        <p:nvSpPr>
          <p:cNvPr id="5" name="TextBox 4"/>
          <p:cNvSpPr txBox="1"/>
          <p:nvPr/>
        </p:nvSpPr>
        <p:spPr>
          <a:xfrm>
            <a:off x="914400" y="2370455"/>
            <a:ext cx="7239000" cy="247650"/>
          </a:xfrm>
          <a:prstGeom prst="rect">
            <a:avLst/>
          </a:prstGeom>
          <a:noFill/>
        </p:spPr>
        <p:txBody>
          <a:bodyPr wrap="none" lIns="0" tIns="0">
            <a:spAutoFit/>
          </a:bodyPr>
          <a:lstStyle/>
          <a:p>
            <a:r>
              <a:rPr sz="1400" b="0">
                <a:solidFill>
                  <a:srgbClr val="8FC8F2"/>
                </a:solidFill>
                <a:latin typeface="Calibri"/>
              </a:rPr>
              <a:t>Egg Protein Membrane Market</a:t>
            </a:r>
          </a:p>
        </p:txBody>
      </p:sp>
      <p:sp>
        <p:nvSpPr>
          <p:cNvPr id="6" name="TMR Breaker Title"/>
          <p:cNvSpPr txBox="1"/>
          <p:nvPr/>
        </p:nvSpPr>
        <p:spPr>
          <a:xfrm>
            <a:off x="914400" y="2675255"/>
            <a:ext cx="7239000" cy="514350"/>
          </a:xfrm>
          <a:prstGeom prst="rect">
            <a:avLst/>
          </a:prstGeom>
          <a:noFill/>
        </p:spPr>
        <p:txBody>
          <a:bodyPr wrap="square" lIns="0" rIns="0" tIns="0">
            <a:spAutoFit/>
          </a:bodyPr>
          <a:lstStyle/>
          <a:p>
            <a:r>
              <a:rPr sz="3000" b="1" cap="all" spc="400">
                <a:solidFill>
                  <a:srgbClr val="FFFFFF"/>
                </a:solidFill>
                <a:latin typeface="Calibri"/>
              </a:rPr>
              <a:t>Country Market Outlook</a:t>
            </a:r>
          </a:p>
        </p:txBody>
      </p:sp>
      <p:sp>
        <p:nvSpPr>
          <p:cNvPr id="7" name="TextBox 6"/>
          <p:cNvSpPr txBox="1"/>
          <p:nvPr/>
        </p:nvSpPr>
        <p:spPr>
          <a:xfrm>
            <a:off x="914400" y="3380105"/>
            <a:ext cx="7124700" cy="2536190"/>
          </a:xfrm>
          <a:prstGeom prst="rect">
            <a:avLst/>
          </a:prstGeom>
          <a:noFill/>
        </p:spPr>
        <p:txBody>
          <a:bodyPr wrap="square" lIns="0" rIns="0" tIns="0" bIns="0">
            <a:spAutoFit/>
          </a:bodyPr>
          <a:lstStyle/>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Overview (Volume &amp; Value)</a:t>
            </a:r>
          </a:p>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Segment Overview (Volume &amp; Value)</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Product Type</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Extraction / Processing Method</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Source</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Form</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Application</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Sales Channel</a:t>
            </a:r>
          </a:p>
        </p:txBody>
      </p:sp>
      <p:sp>
        <p:nvSpPr>
          <p:cNvPr id="8" name="TextBox 7"/>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C9DCEE"/>
                </a:solidFill>
                <a:latin typeface="Calibri"/>
              </a:rPr>
              <a:t>©2026 Transparency Market Research, All Rights Reserved</a:t>
            </a: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bg>
      <p:bgPr>
        <a:solidFill>
          <a:srgbClr val="F3F8FD"/>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3F8FD"/>
              </a:gs>
              <a:gs pos="100000">
                <a:srgbClr val="DCE9F6"/>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FE0F0">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9C8E6">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B7D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A5F8F"/>
              </a:gs>
              <a:gs pos="100000">
                <a:srgbClr val="6FA6D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MR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13</a:t>
            </a:r>
          </a:p>
        </p:txBody>
      </p:sp>
      <p:pic>
        <p:nvPicPr>
          <p:cNvPr id="8" name="Picture 7" descr="tmr_logo.png"/>
          <p:cNvPicPr>
            <a:picLocks noChangeAspect="1"/>
          </p:cNvPicPr>
          <p:nvPr/>
        </p:nvPicPr>
        <p:blipFill>
          <a:blip r:embed="rId2"/>
          <a:stretch>
            <a:fillRect/>
          </a:stretch>
        </p:blipFill>
        <p:spPr>
          <a:xfrm>
            <a:off x="411480" y="274320"/>
            <a:ext cx="1307592" cy="975505"/>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2A5F8F"/>
                </a:solidFill>
                <a:latin typeface="Calibri"/>
              </a:rPr>
              <a:t>Egg Protein Membrane Market</a:t>
            </a:r>
          </a:p>
        </p:txBody>
      </p:sp>
      <p:sp>
        <p:nvSpPr>
          <p:cNvPr id="10" name="TMR Section Title"/>
          <p:cNvSpPr txBox="1"/>
          <p:nvPr/>
        </p:nvSpPr>
        <p:spPr>
          <a:xfrm>
            <a:off x="914400" y="3095625"/>
            <a:ext cx="8572500" cy="514350"/>
          </a:xfrm>
          <a:prstGeom prst="rect">
            <a:avLst/>
          </a:prstGeom>
          <a:noFill/>
        </p:spPr>
        <p:txBody>
          <a:bodyPr wrap="square" lIns="0" rIns="0" tIns="0">
            <a:spAutoFit/>
          </a:bodyPr>
          <a:lstStyle/>
          <a:p>
            <a:r>
              <a:rPr sz="3000" b="1">
                <a:solidFill>
                  <a:srgbClr val="0E2A5C"/>
                </a:solidFill>
                <a:latin typeface="Calibri"/>
              </a:rPr>
              <a:t>Overview (Volume &amp; Value)</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Volume Overview</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Value Overview</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Key Segments (Value)</a:t>
            </a:r>
          </a:p>
        </p:txBody>
      </p:sp>
      <p:sp>
        <p:nvSpPr>
          <p:cNvPr id="12" name="Rectangle 11"/>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Egg Protein Membrane Market Volume Overview (MT)</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Overview of the U.S. market in volume: size, growth, YoY momentum and gap to the Global benchmark</a:t>
            </a:r>
          </a:p>
        </p:txBody>
      </p:sp>
      <p:sp>
        <p:nvSpPr>
          <p:cNvPr id="7" name="Rounded Rectangle 6"/>
          <p:cNvSpPr/>
          <p:nvPr/>
        </p:nvSpPr>
        <p:spPr>
          <a:xfrm>
            <a:off x="142875" y="981075"/>
            <a:ext cx="2857500" cy="704850"/>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2025 MARKET SIZE (MT)</a:t>
            </a:r>
          </a:p>
          <a:p>
            <a:pPr algn="ctr">
              <a:lnSpc>
                <a:spcPct val="95000"/>
              </a:lnSpc>
            </a:pPr>
            <a:r>
              <a:rPr sz="1500" b="1">
                <a:solidFill>
                  <a:srgbClr val="2A5F8F"/>
                </a:solidFill>
                <a:latin typeface="Calibri"/>
              </a:rPr>
              <a:t> </a:t>
            </a:r>
          </a:p>
          <a:p>
            <a:pPr algn="ctr">
              <a:lnSpc>
                <a:spcPct val="95000"/>
              </a:lnSpc>
            </a:pPr>
            <a:r>
              <a:rPr sz="1100" b="0">
                <a:solidFill>
                  <a:srgbClr val="6C7A89"/>
                </a:solidFill>
                <a:latin typeface="Calibri"/>
              </a:rPr>
              <a:t>estimate year</a:t>
            </a:r>
          </a:p>
        </p:txBody>
      </p:sp>
      <p:sp>
        <p:nvSpPr>
          <p:cNvPr id="8" name="Rounded Rectangle 7"/>
          <p:cNvSpPr/>
          <p:nvPr/>
        </p:nvSpPr>
        <p:spPr>
          <a:xfrm>
            <a:off x="3152775" y="981075"/>
            <a:ext cx="2857500" cy="704850"/>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2036 MARKET SIZE (MT)</a:t>
            </a:r>
          </a:p>
          <a:p>
            <a:pPr algn="ctr">
              <a:lnSpc>
                <a:spcPct val="95000"/>
              </a:lnSpc>
            </a:pPr>
            <a:r>
              <a:rPr sz="1500" b="1">
                <a:solidFill>
                  <a:srgbClr val="2A5F8F"/>
                </a:solidFill>
                <a:latin typeface="Calibri"/>
              </a:rPr>
              <a:t> </a:t>
            </a:r>
          </a:p>
          <a:p>
            <a:pPr algn="ctr">
              <a:lnSpc>
                <a:spcPct val="95000"/>
              </a:lnSpc>
            </a:pPr>
            <a:r>
              <a:rPr sz="1100" b="0">
                <a:solidFill>
                  <a:srgbClr val="6C7A89"/>
                </a:solidFill>
                <a:latin typeface="Calibri"/>
              </a:rPr>
              <a:t>forecast horizon</a:t>
            </a:r>
          </a:p>
        </p:txBody>
      </p:sp>
      <p:sp>
        <p:nvSpPr>
          <p:cNvPr id="9" name="Rounded Rectangle 8"/>
          <p:cNvSpPr/>
          <p:nvPr/>
        </p:nvSpPr>
        <p:spPr>
          <a:xfrm>
            <a:off x="6162675" y="981075"/>
            <a:ext cx="2857500" cy="704850"/>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H-CAGR (2021–2025)</a:t>
            </a:r>
          </a:p>
          <a:p>
            <a:pPr algn="ctr">
              <a:lnSpc>
                <a:spcPct val="95000"/>
              </a:lnSpc>
            </a:pPr>
            <a:r>
              <a:rPr sz="1500" b="1">
                <a:solidFill>
                  <a:srgbClr val="2A5F8F"/>
                </a:solidFill>
                <a:latin typeface="Calibri"/>
              </a:rPr>
              <a:t> </a:t>
            </a:r>
          </a:p>
        </p:txBody>
      </p:sp>
      <p:sp>
        <p:nvSpPr>
          <p:cNvPr id="10" name="Rounded Rectangle 9"/>
          <p:cNvSpPr/>
          <p:nvPr/>
        </p:nvSpPr>
        <p:spPr>
          <a:xfrm>
            <a:off x="9172575" y="981075"/>
            <a:ext cx="2857500" cy="704850"/>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F-CAGR (2026–2036)</a:t>
            </a:r>
          </a:p>
          <a:p>
            <a:pPr algn="ctr">
              <a:lnSpc>
                <a:spcPct val="95000"/>
              </a:lnSpc>
            </a:pPr>
            <a:r>
              <a:rPr sz="1500" b="1">
                <a:solidFill>
                  <a:srgbClr val="2A5F8F"/>
                </a:solidFill>
                <a:latin typeface="Calibri"/>
              </a:rPr>
              <a:t> </a:t>
            </a:r>
          </a:p>
        </p:txBody>
      </p:sp>
      <p:sp>
        <p:nvSpPr>
          <p:cNvPr id="11" name="Rounded Rectangle 10"/>
          <p:cNvSpPr/>
          <p:nvPr/>
        </p:nvSpPr>
        <p:spPr>
          <a:xfrm>
            <a:off x="142875" y="1819275"/>
            <a:ext cx="4695825" cy="1781175"/>
          </a:xfrm>
          <a:prstGeom prst="roundRect">
            <a:avLst>
              <a:gd name="adj" fmla="val 427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876425"/>
            <a:ext cx="45053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U.S. Volume (MT), 2021–2036</a:t>
            </a:r>
          </a:p>
        </p:txBody>
      </p:sp>
      <p:graphicFrame>
        <p:nvGraphicFramePr>
          <p:cNvPr id="13" name="Chart 12"/>
          <p:cNvGraphicFramePr>
            <a:graphicFrameLocks noGrp="1"/>
          </p:cNvGraphicFramePr>
          <p:nvPr/>
        </p:nvGraphicFramePr>
        <p:xfrm>
          <a:off x="238125" y="2105025"/>
          <a:ext cx="4505325" cy="1438275"/>
        </p:xfrm>
        <a:graphic>
          <a:graphicData uri="http://schemas.openxmlformats.org/drawingml/2006/chart">
            <c:chart xmlns:c="http://schemas.openxmlformats.org/drawingml/2006/chart" r:id="rId3"/>
          </a:graphicData>
        </a:graphic>
      </p:graphicFrame>
      <p:sp>
        <p:nvSpPr>
          <p:cNvPr id="14" name="Rounded Rectangle 13"/>
          <p:cNvSpPr/>
          <p:nvPr/>
        </p:nvSpPr>
        <p:spPr>
          <a:xfrm>
            <a:off x="4991100" y="1819275"/>
            <a:ext cx="7048500" cy="1781175"/>
          </a:xfrm>
          <a:prstGeom prst="roundRect">
            <a:avLst>
              <a:gd name="adj" fmla="val 427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86350" y="1876425"/>
            <a:ext cx="6858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CAGR Comparison &amp; Growth Deviation from Regional Benchmark</a:t>
            </a:r>
          </a:p>
        </p:txBody>
      </p:sp>
      <p:graphicFrame>
        <p:nvGraphicFramePr>
          <p:cNvPr id="16" name="Chart 15"/>
          <p:cNvGraphicFramePr>
            <a:graphicFrameLocks noGrp="1"/>
          </p:cNvGraphicFramePr>
          <p:nvPr/>
        </p:nvGraphicFramePr>
        <p:xfrm>
          <a:off x="5086350" y="2105025"/>
          <a:ext cx="2880360" cy="1438275"/>
        </p:xfrm>
        <a:graphic>
          <a:graphicData uri="http://schemas.openxmlformats.org/drawingml/2006/chart">
            <c:chart xmlns:c="http://schemas.openxmlformats.org/drawingml/2006/chart" r:id="rId4"/>
          </a:graphicData>
        </a:graphic>
      </p:graphicFrame>
      <p:sp>
        <p:nvSpPr>
          <p:cNvPr id="17" name="TextBox 16"/>
          <p:cNvSpPr txBox="1"/>
          <p:nvPr/>
        </p:nvSpPr>
        <p:spPr>
          <a:xfrm>
            <a:off x="8042910" y="2124075"/>
            <a:ext cx="3901440" cy="704850"/>
          </a:xfrm>
          <a:prstGeom prst="rect">
            <a:avLst/>
          </a:prstGeom>
          <a:noFill/>
        </p:spPr>
        <p:txBody>
          <a:bodyPr wrap="square" lIns="28575" rIns="28575" tIns="9525" bIns="9525">
            <a:spAutoFit/>
          </a:bodyPr>
          <a:lstStyle/>
          <a:p>
            <a:pPr algn="ctr"/>
            <a:r>
              <a:rPr sz="2200" b="1">
                <a:solidFill>
                  <a:srgbClr val="F47620"/>
                </a:solidFill>
                <a:latin typeface="Calibri"/>
              </a:rPr>
              <a:t> </a:t>
            </a:r>
          </a:p>
          <a:p>
            <a:pPr algn="ctr"/>
            <a:r>
              <a:rPr sz="1100" b="0">
                <a:solidFill>
                  <a:srgbClr val="6C7A89"/>
                </a:solidFill>
                <a:latin typeface="Calibri"/>
              </a:rPr>
              <a:t>vs North America benchmark</a:t>
            </a:r>
          </a:p>
          <a:p>
            <a:pPr algn="ctr"/>
            <a:r>
              <a:rPr sz="1100" b="1">
                <a:solidFill>
                  <a:srgbClr val="E44D3A"/>
                </a:solidFill>
                <a:latin typeface="Calibri"/>
              </a:rPr>
              <a:t>▼ below benchmark</a:t>
            </a:r>
          </a:p>
        </p:txBody>
      </p:sp>
      <p:sp>
        <p:nvSpPr>
          <p:cNvPr id="18" name="TextBox 17"/>
          <p:cNvSpPr txBox="1"/>
          <p:nvPr/>
        </p:nvSpPr>
        <p:spPr>
          <a:xfrm>
            <a:off x="8042910" y="2867025"/>
            <a:ext cx="3901440" cy="638175"/>
          </a:xfrm>
          <a:prstGeom prst="rect">
            <a:avLst/>
          </a:prstGeom>
          <a:noFill/>
        </p:spPr>
        <p:txBody>
          <a:bodyPr wrap="square" lIns="28575" rIns="28575" tIns="9525" bIns="9525" anchor="t">
            <a:spAutoFit/>
          </a:bodyPr>
          <a:lstStyle/>
          <a:p>
            <a:pPr algn="l"/>
            <a:r>
              <a:rPr sz="1100" b="0">
                <a:solidFill>
                  <a:srgbClr val="2E2E2E"/>
                </a:solidFill>
                <a:latin typeface="Calibri"/>
              </a:rPr>
              <a:t/>
            </a:r>
          </a:p>
        </p:txBody>
      </p:sp>
      <p:sp>
        <p:nvSpPr>
          <p:cNvPr id="19" name="Rounded Rectangle 18"/>
          <p:cNvSpPr/>
          <p:nvPr/>
        </p:nvSpPr>
        <p:spPr>
          <a:xfrm>
            <a:off x="142875" y="3733800"/>
            <a:ext cx="4695825" cy="1781175"/>
          </a:xfrm>
          <a:prstGeom prst="roundRect">
            <a:avLst>
              <a:gd name="adj" fmla="val 427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38125" y="3790950"/>
            <a:ext cx="45053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Forecast Build-up 2026–2036 (MT)</a:t>
            </a:r>
          </a:p>
        </p:txBody>
      </p:sp>
      <p:graphicFrame>
        <p:nvGraphicFramePr>
          <p:cNvPr id="21" name="Chart 20"/>
          <p:cNvGraphicFramePr>
            <a:graphicFrameLocks noGrp="1"/>
          </p:cNvGraphicFramePr>
          <p:nvPr/>
        </p:nvGraphicFramePr>
        <p:xfrm>
          <a:off x="238125" y="4019550"/>
          <a:ext cx="4505325" cy="1438275"/>
        </p:xfrm>
        <a:graphic>
          <a:graphicData uri="http://schemas.openxmlformats.org/drawingml/2006/chart">
            <c:chart xmlns:c="http://schemas.openxmlformats.org/drawingml/2006/chart" r:id="rId5"/>
          </a:graphicData>
        </a:graphic>
      </p:graphicFrame>
      <p:sp>
        <p:nvSpPr>
          <p:cNvPr id="22" name="Rounded Rectangle 21"/>
          <p:cNvSpPr/>
          <p:nvPr/>
        </p:nvSpPr>
        <p:spPr>
          <a:xfrm>
            <a:off x="4991100" y="3733800"/>
            <a:ext cx="7048500" cy="1781175"/>
          </a:xfrm>
          <a:prstGeom prst="roundRect">
            <a:avLst>
              <a:gd name="adj" fmla="val 427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086350" y="3790950"/>
            <a:ext cx="6858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U.S. Market Share, 2026</a:t>
            </a:r>
          </a:p>
        </p:txBody>
      </p:sp>
      <p:graphicFrame>
        <p:nvGraphicFramePr>
          <p:cNvPr id="24" name="Chart 23"/>
          <p:cNvGraphicFramePr>
            <a:graphicFrameLocks noGrp="1"/>
          </p:cNvGraphicFramePr>
          <p:nvPr/>
        </p:nvGraphicFramePr>
        <p:xfrm>
          <a:off x="5086350" y="4019550"/>
          <a:ext cx="6858000" cy="1438275"/>
        </p:xfrm>
        <a:graphic>
          <a:graphicData uri="http://schemas.openxmlformats.org/drawingml/2006/chart">
            <c:chart xmlns:c="http://schemas.openxmlformats.org/drawingml/2006/chart" r:id="rId6"/>
          </a:graphicData>
        </a:graphic>
      </p:graphicFrame>
      <p:sp>
        <p:nvSpPr>
          <p:cNvPr id="25" name="Rounded Rectangle 24"/>
          <p:cNvSpPr/>
          <p:nvPr/>
        </p:nvSpPr>
        <p:spPr>
          <a:xfrm>
            <a:off x="142875" y="5648325"/>
            <a:ext cx="5876925" cy="971550"/>
          </a:xfrm>
          <a:prstGeom prst="roundRect">
            <a:avLst>
              <a:gd name="adj" fmla="val 7843"/>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26" name="Rounded Rectangle 25"/>
          <p:cNvSpPr/>
          <p:nvPr/>
        </p:nvSpPr>
        <p:spPr>
          <a:xfrm>
            <a:off x="6172200" y="5648325"/>
            <a:ext cx="5876925" cy="971550"/>
          </a:xfrm>
          <a:prstGeom prst="roundRect">
            <a:avLst>
              <a:gd name="adj" fmla="val 7843"/>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27" name="Rectangle 26"/>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29" name="Picture 28" descr="lock.png"/>
          <p:cNvPicPr>
            <a:picLocks noChangeAspect="1"/>
          </p:cNvPicPr>
          <p:nvPr/>
        </p:nvPicPr>
        <p:blipFill>
          <a:blip r:embed="rId8"/>
          <a:stretch>
            <a:fillRect/>
          </a:stretch>
        </p:blipFill>
        <p:spPr>
          <a:xfrm>
            <a:off x="1493044" y="1219200"/>
            <a:ext cx="157162" cy="228600"/>
          </a:xfrm>
          <a:prstGeom prst="rect">
            <a:avLst/>
          </a:prstGeom>
        </p:spPr>
      </p:pic>
      <p:pic>
        <p:nvPicPr>
          <p:cNvPr id="30" name="Picture 29" descr="lock.png"/>
          <p:cNvPicPr>
            <a:picLocks noChangeAspect="1"/>
          </p:cNvPicPr>
          <p:nvPr/>
        </p:nvPicPr>
        <p:blipFill>
          <a:blip r:embed="rId8"/>
          <a:stretch>
            <a:fillRect/>
          </a:stretch>
        </p:blipFill>
        <p:spPr>
          <a:xfrm>
            <a:off x="4502944" y="1219200"/>
            <a:ext cx="157162" cy="228600"/>
          </a:xfrm>
          <a:prstGeom prst="rect">
            <a:avLst/>
          </a:prstGeom>
        </p:spPr>
      </p:pic>
      <p:pic>
        <p:nvPicPr>
          <p:cNvPr id="31" name="Picture 30" descr="lock.png"/>
          <p:cNvPicPr>
            <a:picLocks noChangeAspect="1"/>
          </p:cNvPicPr>
          <p:nvPr/>
        </p:nvPicPr>
        <p:blipFill>
          <a:blip r:embed="rId8"/>
          <a:stretch>
            <a:fillRect/>
          </a:stretch>
        </p:blipFill>
        <p:spPr>
          <a:xfrm>
            <a:off x="7512844" y="1303020"/>
            <a:ext cx="157162" cy="228600"/>
          </a:xfrm>
          <a:prstGeom prst="rect">
            <a:avLst/>
          </a:prstGeom>
        </p:spPr>
      </p:pic>
      <p:pic>
        <p:nvPicPr>
          <p:cNvPr id="32" name="Picture 31" descr="lock.png"/>
          <p:cNvPicPr>
            <a:picLocks noChangeAspect="1"/>
          </p:cNvPicPr>
          <p:nvPr/>
        </p:nvPicPr>
        <p:blipFill>
          <a:blip r:embed="rId8"/>
          <a:stretch>
            <a:fillRect/>
          </a:stretch>
        </p:blipFill>
        <p:spPr>
          <a:xfrm>
            <a:off x="10522744" y="1303020"/>
            <a:ext cx="157162" cy="228600"/>
          </a:xfrm>
          <a:prstGeom prst="rect">
            <a:avLst/>
          </a:prstGeom>
        </p:spPr>
      </p:pic>
      <p:pic>
        <p:nvPicPr>
          <p:cNvPr id="33" name="Picture 32" descr="lock.png"/>
          <p:cNvPicPr>
            <a:picLocks noChangeAspect="1"/>
          </p:cNvPicPr>
          <p:nvPr/>
        </p:nvPicPr>
        <p:blipFill>
          <a:blip r:embed="rId8"/>
          <a:stretch>
            <a:fillRect/>
          </a:stretch>
        </p:blipFill>
        <p:spPr>
          <a:xfrm>
            <a:off x="2554414" y="2661285"/>
            <a:ext cx="165021" cy="240030"/>
          </a:xfrm>
          <a:prstGeom prst="rect">
            <a:avLst/>
          </a:prstGeom>
        </p:spPr>
      </p:pic>
      <p:pic>
        <p:nvPicPr>
          <p:cNvPr id="34" name="Picture 33" descr="lock.png"/>
          <p:cNvPicPr>
            <a:picLocks noChangeAspect="1"/>
          </p:cNvPicPr>
          <p:nvPr/>
        </p:nvPicPr>
        <p:blipFill>
          <a:blip r:embed="rId8"/>
          <a:stretch>
            <a:fillRect/>
          </a:stretch>
        </p:blipFill>
        <p:spPr>
          <a:xfrm>
            <a:off x="6762365" y="2599095"/>
            <a:ext cx="191595" cy="278683"/>
          </a:xfrm>
          <a:prstGeom prst="rect">
            <a:avLst/>
          </a:prstGeom>
        </p:spPr>
      </p:pic>
      <p:pic>
        <p:nvPicPr>
          <p:cNvPr id="35" name="Picture 34" descr="lock.png"/>
          <p:cNvPicPr>
            <a:picLocks noChangeAspect="1"/>
          </p:cNvPicPr>
          <p:nvPr/>
        </p:nvPicPr>
        <p:blipFill>
          <a:blip r:embed="rId8"/>
          <a:stretch>
            <a:fillRect/>
          </a:stretch>
        </p:blipFill>
        <p:spPr>
          <a:xfrm>
            <a:off x="9878378" y="2141220"/>
            <a:ext cx="230504" cy="335279"/>
          </a:xfrm>
          <a:prstGeom prst="rect">
            <a:avLst/>
          </a:prstGeom>
        </p:spPr>
      </p:pic>
      <p:pic>
        <p:nvPicPr>
          <p:cNvPr id="36" name="Picture 35" descr="lock.png"/>
          <p:cNvPicPr>
            <a:picLocks noChangeAspect="1"/>
          </p:cNvPicPr>
          <p:nvPr/>
        </p:nvPicPr>
        <p:blipFill>
          <a:blip r:embed="rId8"/>
          <a:stretch>
            <a:fillRect/>
          </a:stretch>
        </p:blipFill>
        <p:spPr>
          <a:xfrm>
            <a:off x="2554414" y="4575810"/>
            <a:ext cx="165021" cy="240030"/>
          </a:xfrm>
          <a:prstGeom prst="rect">
            <a:avLst/>
          </a:prstGeom>
        </p:spPr>
      </p:pic>
      <p:pic>
        <p:nvPicPr>
          <p:cNvPr id="37" name="Picture 36" descr="lock.png"/>
          <p:cNvPicPr>
            <a:picLocks noChangeAspect="1"/>
          </p:cNvPicPr>
          <p:nvPr/>
        </p:nvPicPr>
        <p:blipFill>
          <a:blip r:embed="rId8"/>
          <a:stretch>
            <a:fillRect/>
          </a:stretch>
        </p:blipFill>
        <p:spPr>
          <a:xfrm>
            <a:off x="8715708" y="4462938"/>
            <a:ext cx="261282" cy="380047"/>
          </a:xfrm>
          <a:prstGeom prst="rect">
            <a:avLst/>
          </a:prstGeom>
        </p:spPr>
      </p:pic>
      <p:sp>
        <p:nvSpPr>
          <p:cNvPr id="38" name="TextBox 37"/>
          <p:cNvSpPr txBox="1"/>
          <p:nvPr/>
        </p:nvSpPr>
        <p:spPr>
          <a:xfrm>
            <a:off x="8071485" y="2876550"/>
            <a:ext cx="2812628" cy="186689"/>
          </a:xfrm>
          <a:prstGeom prst="rect">
            <a:avLst/>
          </a:prstGeom>
          <a:noFill/>
        </p:spPr>
        <p:txBody>
          <a:bodyPr wrap="none" lIns="0" rIns="0" tIns="0" bIns="0">
            <a:spAutoFit/>
          </a:bodyPr>
          <a:lstStyle/>
          <a:p>
            <a:r>
              <a:rPr sz="1100" b="0">
                <a:solidFill>
                  <a:srgbClr val="2E2E2E"/>
                </a:solidFill>
                <a:latin typeface="Calibri"/>
              </a:rPr>
              <a:t>U.S.'s egg protein membrane market expands at</a:t>
            </a:r>
          </a:p>
        </p:txBody>
      </p:sp>
      <p:pic>
        <p:nvPicPr>
          <p:cNvPr id="39" name="Picture 38" descr="lock.png"/>
          <p:cNvPicPr>
            <a:picLocks noChangeAspect="1"/>
          </p:cNvPicPr>
          <p:nvPr/>
        </p:nvPicPr>
        <p:blipFill>
          <a:blip r:embed="rId8"/>
          <a:stretch>
            <a:fillRect/>
          </a:stretch>
        </p:blipFill>
        <p:spPr>
          <a:xfrm>
            <a:off x="10832164" y="2866771"/>
            <a:ext cx="128699" cy="187198"/>
          </a:xfrm>
          <a:prstGeom prst="rect">
            <a:avLst/>
          </a:prstGeom>
        </p:spPr>
      </p:pic>
      <p:sp>
        <p:nvSpPr>
          <p:cNvPr id="40" name="TextBox 39"/>
          <p:cNvSpPr txBox="1"/>
          <p:nvPr/>
        </p:nvSpPr>
        <p:spPr>
          <a:xfrm>
            <a:off x="10999660" y="2876550"/>
            <a:ext cx="395419" cy="186689"/>
          </a:xfrm>
          <a:prstGeom prst="rect">
            <a:avLst/>
          </a:prstGeom>
          <a:noFill/>
        </p:spPr>
        <p:txBody>
          <a:bodyPr wrap="none" lIns="0" rIns="0" tIns="0" bIns="0">
            <a:spAutoFit/>
          </a:bodyPr>
          <a:lstStyle/>
          <a:p>
            <a:r>
              <a:rPr sz="1100" b="0">
                <a:solidFill>
                  <a:srgbClr val="2E2E2E"/>
                </a:solidFill>
                <a:latin typeface="Calibri"/>
              </a:rPr>
              <a:t>CAGR</a:t>
            </a:r>
          </a:p>
        </p:txBody>
      </p:sp>
      <p:sp>
        <p:nvSpPr>
          <p:cNvPr id="41" name="TextBox 40"/>
          <p:cNvSpPr txBox="1"/>
          <p:nvPr/>
        </p:nvSpPr>
        <p:spPr>
          <a:xfrm>
            <a:off x="8071485" y="3044190"/>
            <a:ext cx="3218358" cy="186689"/>
          </a:xfrm>
          <a:prstGeom prst="rect">
            <a:avLst/>
          </a:prstGeom>
          <a:noFill/>
        </p:spPr>
        <p:txBody>
          <a:bodyPr wrap="none" lIns="0" rIns="0" tIns="0" bIns="0">
            <a:spAutoFit/>
          </a:bodyPr>
          <a:lstStyle/>
          <a:p>
            <a:r>
              <a:rPr sz="1100" b="0">
                <a:solidFill>
                  <a:srgbClr val="2E2E2E"/>
                </a:solidFill>
                <a:latin typeface="Calibri"/>
              </a:rPr>
              <a:t>through 2036, trailing the North America benchmark of</a:t>
            </a:r>
          </a:p>
        </p:txBody>
      </p:sp>
      <p:pic>
        <p:nvPicPr>
          <p:cNvPr id="42" name="Picture 41" descr="lock.png"/>
          <p:cNvPicPr>
            <a:picLocks noChangeAspect="1"/>
          </p:cNvPicPr>
          <p:nvPr/>
        </p:nvPicPr>
        <p:blipFill>
          <a:blip r:embed="rId8"/>
          <a:stretch>
            <a:fillRect/>
          </a:stretch>
        </p:blipFill>
        <p:spPr>
          <a:xfrm>
            <a:off x="11237895" y="3034411"/>
            <a:ext cx="128699" cy="187198"/>
          </a:xfrm>
          <a:prstGeom prst="rect">
            <a:avLst/>
          </a:prstGeom>
        </p:spPr>
      </p:pic>
      <p:sp>
        <p:nvSpPr>
          <p:cNvPr id="43" name="TextBox 42"/>
          <p:cNvSpPr txBox="1"/>
          <p:nvPr/>
        </p:nvSpPr>
        <p:spPr>
          <a:xfrm>
            <a:off x="11405391" y="3044190"/>
            <a:ext cx="212898" cy="186689"/>
          </a:xfrm>
          <a:prstGeom prst="rect">
            <a:avLst/>
          </a:prstGeom>
          <a:noFill/>
        </p:spPr>
        <p:txBody>
          <a:bodyPr wrap="none" lIns="0" rIns="0" tIns="0" bIns="0">
            <a:spAutoFit/>
          </a:bodyPr>
          <a:lstStyle/>
          <a:p>
            <a:r>
              <a:rPr sz="1100" b="0">
                <a:solidFill>
                  <a:srgbClr val="2E2E2E"/>
                </a:solidFill>
                <a:latin typeface="Calibri"/>
              </a:rPr>
              <a:t>by</a:t>
            </a:r>
          </a:p>
        </p:txBody>
      </p:sp>
      <p:pic>
        <p:nvPicPr>
          <p:cNvPr id="44" name="Picture 43" descr="lock.png"/>
          <p:cNvPicPr>
            <a:picLocks noChangeAspect="1"/>
          </p:cNvPicPr>
          <p:nvPr/>
        </p:nvPicPr>
        <p:blipFill>
          <a:blip r:embed="rId8"/>
          <a:stretch>
            <a:fillRect/>
          </a:stretch>
        </p:blipFill>
        <p:spPr>
          <a:xfrm>
            <a:off x="8058017" y="3202051"/>
            <a:ext cx="128699" cy="187198"/>
          </a:xfrm>
          <a:prstGeom prst="rect">
            <a:avLst/>
          </a:prstGeom>
        </p:spPr>
      </p:pic>
      <p:sp>
        <p:nvSpPr>
          <p:cNvPr id="45" name="TextBox 44"/>
          <p:cNvSpPr txBox="1"/>
          <p:nvPr/>
        </p:nvSpPr>
        <p:spPr>
          <a:xfrm>
            <a:off x="8225513" y="3211830"/>
            <a:ext cx="323949" cy="186689"/>
          </a:xfrm>
          <a:prstGeom prst="rect">
            <a:avLst/>
          </a:prstGeom>
          <a:noFill/>
        </p:spPr>
        <p:txBody>
          <a:bodyPr wrap="none" lIns="0" rIns="0" tIns="0" bIns="0">
            <a:spAutoFit/>
          </a:bodyPr>
          <a:lstStyle/>
          <a:p>
            <a:r>
              <a:rPr sz="1100" b="0">
                <a:solidFill>
                  <a:srgbClr val="2E2E2E"/>
                </a:solidFill>
                <a:latin typeface="Calibri"/>
              </a:rPr>
              <a:t>BPS.</a:t>
            </a:r>
          </a:p>
        </p:txBody>
      </p:sp>
      <p:sp>
        <p:nvSpPr>
          <p:cNvPr id="46" name="TextBox 45"/>
          <p:cNvSpPr txBox="1"/>
          <p:nvPr/>
        </p:nvSpPr>
        <p:spPr>
          <a:xfrm>
            <a:off x="257175" y="5966460"/>
            <a:ext cx="639365" cy="186689"/>
          </a:xfrm>
          <a:prstGeom prst="rect">
            <a:avLst/>
          </a:prstGeom>
          <a:noFill/>
        </p:spPr>
        <p:txBody>
          <a:bodyPr wrap="none" lIns="0" rIns="0" tIns="0" bIns="0">
            <a:spAutoFit/>
          </a:bodyPr>
          <a:lstStyle/>
          <a:p>
            <a:r>
              <a:rPr sz="1100" b="0">
                <a:solidFill>
                  <a:srgbClr val="2E2E2E"/>
                </a:solidFill>
                <a:latin typeface="Calibri"/>
              </a:rPr>
              <a:t>U.S. holds</a:t>
            </a:r>
          </a:p>
        </p:txBody>
      </p:sp>
      <p:pic>
        <p:nvPicPr>
          <p:cNvPr id="47" name="Picture 46" descr="lock.png"/>
          <p:cNvPicPr>
            <a:picLocks noChangeAspect="1"/>
          </p:cNvPicPr>
          <p:nvPr/>
        </p:nvPicPr>
        <p:blipFill>
          <a:blip r:embed="rId8"/>
          <a:stretch>
            <a:fillRect/>
          </a:stretch>
        </p:blipFill>
        <p:spPr>
          <a:xfrm>
            <a:off x="844592" y="5956680"/>
            <a:ext cx="128699" cy="187198"/>
          </a:xfrm>
          <a:prstGeom prst="rect">
            <a:avLst/>
          </a:prstGeom>
        </p:spPr>
      </p:pic>
      <p:sp>
        <p:nvSpPr>
          <p:cNvPr id="48" name="TextBox 47"/>
          <p:cNvSpPr txBox="1"/>
          <p:nvPr/>
        </p:nvSpPr>
        <p:spPr>
          <a:xfrm>
            <a:off x="1012088" y="5966460"/>
            <a:ext cx="1035000" cy="186689"/>
          </a:xfrm>
          <a:prstGeom prst="rect">
            <a:avLst/>
          </a:prstGeom>
          <a:noFill/>
        </p:spPr>
        <p:txBody>
          <a:bodyPr wrap="none" lIns="0" rIns="0" tIns="0" bIns="0">
            <a:spAutoFit/>
          </a:bodyPr>
          <a:lstStyle/>
          <a:p>
            <a:r>
              <a:rPr sz="1100" b="0">
                <a:solidFill>
                  <a:srgbClr val="2E2E2E"/>
                </a:solidFill>
                <a:latin typeface="Calibri"/>
              </a:rPr>
              <a:t>of the global and</a:t>
            </a:r>
          </a:p>
        </p:txBody>
      </p:sp>
      <p:pic>
        <p:nvPicPr>
          <p:cNvPr id="49" name="Picture 48" descr="lock.png"/>
          <p:cNvPicPr>
            <a:picLocks noChangeAspect="1"/>
          </p:cNvPicPr>
          <p:nvPr/>
        </p:nvPicPr>
        <p:blipFill>
          <a:blip r:embed="rId8"/>
          <a:stretch>
            <a:fillRect/>
          </a:stretch>
        </p:blipFill>
        <p:spPr>
          <a:xfrm>
            <a:off x="1995140" y="5956680"/>
            <a:ext cx="128699" cy="187198"/>
          </a:xfrm>
          <a:prstGeom prst="rect">
            <a:avLst/>
          </a:prstGeom>
        </p:spPr>
      </p:pic>
      <p:sp>
        <p:nvSpPr>
          <p:cNvPr id="50" name="TextBox 49"/>
          <p:cNvSpPr txBox="1"/>
          <p:nvPr/>
        </p:nvSpPr>
        <p:spPr>
          <a:xfrm>
            <a:off x="2162635" y="5966460"/>
            <a:ext cx="3547417" cy="186689"/>
          </a:xfrm>
          <a:prstGeom prst="rect">
            <a:avLst/>
          </a:prstGeom>
          <a:noFill/>
        </p:spPr>
        <p:txBody>
          <a:bodyPr wrap="none" lIns="0" rIns="0" tIns="0" bIns="0">
            <a:spAutoFit/>
          </a:bodyPr>
          <a:lstStyle/>
          <a:p>
            <a:r>
              <a:rPr sz="1100" b="0">
                <a:solidFill>
                  <a:srgbClr val="2E2E2E"/>
                </a:solidFill>
                <a:latin typeface="Calibri"/>
              </a:rPr>
              <a:t>of the North America egg protein membrane market in 2026;</a:t>
            </a:r>
          </a:p>
        </p:txBody>
      </p:sp>
      <p:sp>
        <p:nvSpPr>
          <p:cNvPr id="51" name="TextBox 50"/>
          <p:cNvSpPr txBox="1"/>
          <p:nvPr/>
        </p:nvSpPr>
        <p:spPr>
          <a:xfrm>
            <a:off x="257175" y="6134100"/>
            <a:ext cx="1779339" cy="186689"/>
          </a:xfrm>
          <a:prstGeom prst="rect">
            <a:avLst/>
          </a:prstGeom>
          <a:noFill/>
        </p:spPr>
        <p:txBody>
          <a:bodyPr wrap="none" lIns="0" rIns="0" tIns="0" bIns="0">
            <a:spAutoFit/>
          </a:bodyPr>
          <a:lstStyle/>
          <a:p>
            <a:r>
              <a:rPr sz="1100" b="0">
                <a:solidFill>
                  <a:srgbClr val="2E2E2E"/>
                </a:solidFill>
                <a:latin typeface="Calibri"/>
              </a:rPr>
              <a:t>by 2036 those shares move to</a:t>
            </a:r>
          </a:p>
        </p:txBody>
      </p:sp>
      <p:pic>
        <p:nvPicPr>
          <p:cNvPr id="52" name="Picture 51" descr="lock.png"/>
          <p:cNvPicPr>
            <a:picLocks noChangeAspect="1"/>
          </p:cNvPicPr>
          <p:nvPr/>
        </p:nvPicPr>
        <p:blipFill>
          <a:blip r:embed="rId8"/>
          <a:stretch>
            <a:fillRect/>
          </a:stretch>
        </p:blipFill>
        <p:spPr>
          <a:xfrm>
            <a:off x="1984566" y="6124320"/>
            <a:ext cx="128699" cy="187198"/>
          </a:xfrm>
          <a:prstGeom prst="rect">
            <a:avLst/>
          </a:prstGeom>
        </p:spPr>
      </p:pic>
      <p:sp>
        <p:nvSpPr>
          <p:cNvPr id="53" name="TextBox 52"/>
          <p:cNvSpPr txBox="1"/>
          <p:nvPr/>
        </p:nvSpPr>
        <p:spPr>
          <a:xfrm>
            <a:off x="2152061" y="6134100"/>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54" name="Picture 53" descr="lock.png"/>
          <p:cNvPicPr>
            <a:picLocks noChangeAspect="1"/>
          </p:cNvPicPr>
          <p:nvPr/>
        </p:nvPicPr>
        <p:blipFill>
          <a:blip r:embed="rId8"/>
          <a:stretch>
            <a:fillRect/>
          </a:stretch>
        </p:blipFill>
        <p:spPr>
          <a:xfrm>
            <a:off x="2389956" y="6124320"/>
            <a:ext cx="128699" cy="187198"/>
          </a:xfrm>
          <a:prstGeom prst="rect">
            <a:avLst/>
          </a:prstGeom>
        </p:spPr>
      </p:pic>
      <p:sp>
        <p:nvSpPr>
          <p:cNvPr id="55" name="TextBox 54"/>
          <p:cNvSpPr txBox="1"/>
          <p:nvPr/>
        </p:nvSpPr>
        <p:spPr>
          <a:xfrm>
            <a:off x="2557452" y="6134100"/>
            <a:ext cx="793799" cy="186689"/>
          </a:xfrm>
          <a:prstGeom prst="rect">
            <a:avLst/>
          </a:prstGeom>
          <a:noFill/>
        </p:spPr>
        <p:txBody>
          <a:bodyPr wrap="none" lIns="0" rIns="0" tIns="0" bIns="0">
            <a:spAutoFit/>
          </a:bodyPr>
          <a:lstStyle/>
          <a:p>
            <a:r>
              <a:rPr sz="1100" b="0">
                <a:solidFill>
                  <a:srgbClr val="2E2E2E"/>
                </a:solidFill>
                <a:latin typeface="Calibri"/>
              </a:rPr>
              <a:t>respectively.</a:t>
            </a:r>
          </a:p>
        </p:txBody>
      </p:sp>
      <p:sp>
        <p:nvSpPr>
          <p:cNvPr id="56" name="TextBox 55"/>
          <p:cNvSpPr txBox="1"/>
          <p:nvPr/>
        </p:nvSpPr>
        <p:spPr>
          <a:xfrm>
            <a:off x="6286500" y="5966460"/>
            <a:ext cx="1586979" cy="186689"/>
          </a:xfrm>
          <a:prstGeom prst="rect">
            <a:avLst/>
          </a:prstGeom>
          <a:noFill/>
        </p:spPr>
        <p:txBody>
          <a:bodyPr wrap="none" lIns="0" rIns="0" tIns="0" bIns="0">
            <a:spAutoFit/>
          </a:bodyPr>
          <a:lstStyle/>
          <a:p>
            <a:r>
              <a:rPr sz="1100" b="0">
                <a:solidFill>
                  <a:srgbClr val="2E2E2E"/>
                </a:solidFill>
                <a:latin typeface="Calibri"/>
              </a:rPr>
              <a:t>The forecast build-up adds</a:t>
            </a:r>
          </a:p>
        </p:txBody>
      </p:sp>
      <p:pic>
        <p:nvPicPr>
          <p:cNvPr id="57" name="Picture 56" descr="lock.png"/>
          <p:cNvPicPr>
            <a:picLocks noChangeAspect="1"/>
          </p:cNvPicPr>
          <p:nvPr/>
        </p:nvPicPr>
        <p:blipFill>
          <a:blip r:embed="rId8"/>
          <a:stretch>
            <a:fillRect/>
          </a:stretch>
        </p:blipFill>
        <p:spPr>
          <a:xfrm>
            <a:off x="7821530" y="5956680"/>
            <a:ext cx="128699" cy="187198"/>
          </a:xfrm>
          <a:prstGeom prst="rect">
            <a:avLst/>
          </a:prstGeom>
        </p:spPr>
      </p:pic>
      <p:sp>
        <p:nvSpPr>
          <p:cNvPr id="58" name="TextBox 57"/>
          <p:cNvSpPr txBox="1"/>
          <p:nvPr/>
        </p:nvSpPr>
        <p:spPr>
          <a:xfrm>
            <a:off x="7989026" y="5966460"/>
            <a:ext cx="3117130" cy="186689"/>
          </a:xfrm>
          <a:prstGeom prst="rect">
            <a:avLst/>
          </a:prstGeom>
          <a:noFill/>
        </p:spPr>
        <p:txBody>
          <a:bodyPr wrap="none" lIns="0" rIns="0" tIns="0" bIns="0">
            <a:spAutoFit/>
          </a:bodyPr>
          <a:lstStyle/>
          <a:p>
            <a:r>
              <a:rPr sz="1100" b="0">
                <a:solidFill>
                  <a:srgbClr val="2E2E2E"/>
                </a:solidFill>
                <a:latin typeface="Calibri"/>
              </a:rPr>
              <a:t>MT between 2026 and 2036 the U.S. market grows to</a:t>
            </a:r>
          </a:p>
        </p:txBody>
      </p:sp>
      <p:pic>
        <p:nvPicPr>
          <p:cNvPr id="59" name="Picture 58" descr="lock.png"/>
          <p:cNvPicPr>
            <a:picLocks noChangeAspect="1"/>
          </p:cNvPicPr>
          <p:nvPr/>
        </p:nvPicPr>
        <p:blipFill>
          <a:blip r:embed="rId8"/>
          <a:stretch>
            <a:fillRect/>
          </a:stretch>
        </p:blipFill>
        <p:spPr>
          <a:xfrm>
            <a:off x="11054208" y="5956680"/>
            <a:ext cx="128699" cy="187198"/>
          </a:xfrm>
          <a:prstGeom prst="rect">
            <a:avLst/>
          </a:prstGeom>
        </p:spPr>
      </p:pic>
      <p:sp>
        <p:nvSpPr>
          <p:cNvPr id="60" name="TextBox 59"/>
          <p:cNvSpPr txBox="1"/>
          <p:nvPr/>
        </p:nvSpPr>
        <p:spPr>
          <a:xfrm>
            <a:off x="11221704" y="5966460"/>
            <a:ext cx="311125" cy="186689"/>
          </a:xfrm>
          <a:prstGeom prst="rect">
            <a:avLst/>
          </a:prstGeom>
          <a:noFill/>
        </p:spPr>
        <p:txBody>
          <a:bodyPr wrap="none" lIns="0" rIns="0" tIns="0" bIns="0">
            <a:spAutoFit/>
          </a:bodyPr>
          <a:lstStyle/>
          <a:p>
            <a:r>
              <a:rPr sz="1100" b="0">
                <a:solidFill>
                  <a:srgbClr val="2E2E2E"/>
                </a:solidFill>
                <a:latin typeface="Calibri"/>
              </a:rPr>
              <a:t>× its</a:t>
            </a:r>
          </a:p>
        </p:txBody>
      </p:sp>
      <p:sp>
        <p:nvSpPr>
          <p:cNvPr id="61" name="TextBox 60"/>
          <p:cNvSpPr txBox="1"/>
          <p:nvPr/>
        </p:nvSpPr>
        <p:spPr>
          <a:xfrm>
            <a:off x="6286500" y="6134100"/>
            <a:ext cx="1590253" cy="186689"/>
          </a:xfrm>
          <a:prstGeom prst="rect">
            <a:avLst/>
          </a:prstGeom>
          <a:noFill/>
        </p:spPr>
        <p:txBody>
          <a:bodyPr wrap="none" lIns="0" rIns="0" tIns="0" bIns="0">
            <a:spAutoFit/>
          </a:bodyPr>
          <a:lstStyle/>
          <a:p>
            <a:r>
              <a:rPr sz="1100" b="0">
                <a:solidFill>
                  <a:srgbClr val="2E2E2E"/>
                </a:solidFill>
                <a:latin typeface="Calibri"/>
              </a:rPr>
              <a:t>2026 size over the decade.</a:t>
            </a:r>
          </a:p>
        </p:txBody>
      </p:sp>
      <p:sp>
        <p:nvSpPr>
          <p:cNvPr id="62" name="lockshield_13"/>
          <p:cNvSpPr/>
          <p:nvPr/>
        </p:nvSpPr>
        <p:spPr>
          <a:xfrm>
            <a:off x="238125" y="2105025"/>
            <a:ext cx="4505325" cy="14382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lockshield_16"/>
          <p:cNvSpPr/>
          <p:nvPr/>
        </p:nvSpPr>
        <p:spPr>
          <a:xfrm>
            <a:off x="5086350" y="2105025"/>
            <a:ext cx="2880360" cy="14382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lockshield_21"/>
          <p:cNvSpPr/>
          <p:nvPr/>
        </p:nvSpPr>
        <p:spPr>
          <a:xfrm>
            <a:off x="238125" y="4019550"/>
            <a:ext cx="4505325" cy="14382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lockshield_24"/>
          <p:cNvSpPr/>
          <p:nvPr/>
        </p:nvSpPr>
        <p:spPr>
          <a:xfrm>
            <a:off x="5086350" y="4019550"/>
            <a:ext cx="6858000" cy="14382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Egg Protein Membrane Market Value Overview (US$ Mn)</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Overview of the U.S. market in value: size, growth, YoY momentum and gap to the Global benchmark</a:t>
            </a:r>
          </a:p>
        </p:txBody>
      </p:sp>
      <p:sp>
        <p:nvSpPr>
          <p:cNvPr id="7" name="Rounded Rectangle 6"/>
          <p:cNvSpPr/>
          <p:nvPr/>
        </p:nvSpPr>
        <p:spPr>
          <a:xfrm>
            <a:off x="142875" y="981075"/>
            <a:ext cx="2857500" cy="704850"/>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2025 MARKET SIZE (US$ MN)</a:t>
            </a:r>
          </a:p>
          <a:p>
            <a:pPr algn="ctr">
              <a:lnSpc>
                <a:spcPct val="95000"/>
              </a:lnSpc>
            </a:pPr>
            <a:r>
              <a:rPr sz="1500" b="1">
                <a:solidFill>
                  <a:srgbClr val="2A5F8F"/>
                </a:solidFill>
                <a:latin typeface="Calibri"/>
              </a:rPr>
              <a:t> </a:t>
            </a:r>
          </a:p>
          <a:p>
            <a:pPr algn="ctr">
              <a:lnSpc>
                <a:spcPct val="95000"/>
              </a:lnSpc>
            </a:pPr>
            <a:r>
              <a:rPr sz="1100" b="0">
                <a:solidFill>
                  <a:srgbClr val="6C7A89"/>
                </a:solidFill>
                <a:latin typeface="Calibri"/>
              </a:rPr>
              <a:t>estimate year</a:t>
            </a:r>
          </a:p>
        </p:txBody>
      </p:sp>
      <p:sp>
        <p:nvSpPr>
          <p:cNvPr id="8" name="Rounded Rectangle 7"/>
          <p:cNvSpPr/>
          <p:nvPr/>
        </p:nvSpPr>
        <p:spPr>
          <a:xfrm>
            <a:off x="3152775" y="981075"/>
            <a:ext cx="2857500" cy="704850"/>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2036 MARKET SIZE (US$ MN)</a:t>
            </a:r>
          </a:p>
          <a:p>
            <a:pPr algn="ctr">
              <a:lnSpc>
                <a:spcPct val="95000"/>
              </a:lnSpc>
            </a:pPr>
            <a:r>
              <a:rPr sz="1500" b="1">
                <a:solidFill>
                  <a:srgbClr val="2A5F8F"/>
                </a:solidFill>
                <a:latin typeface="Calibri"/>
              </a:rPr>
              <a:t> </a:t>
            </a:r>
          </a:p>
          <a:p>
            <a:pPr algn="ctr">
              <a:lnSpc>
                <a:spcPct val="95000"/>
              </a:lnSpc>
            </a:pPr>
            <a:r>
              <a:rPr sz="1100" b="0">
                <a:solidFill>
                  <a:srgbClr val="6C7A89"/>
                </a:solidFill>
                <a:latin typeface="Calibri"/>
              </a:rPr>
              <a:t>forecast horizon</a:t>
            </a:r>
          </a:p>
        </p:txBody>
      </p:sp>
      <p:sp>
        <p:nvSpPr>
          <p:cNvPr id="9" name="Rounded Rectangle 8"/>
          <p:cNvSpPr/>
          <p:nvPr/>
        </p:nvSpPr>
        <p:spPr>
          <a:xfrm>
            <a:off x="6162675" y="981075"/>
            <a:ext cx="2857500" cy="704850"/>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H-CAGR (2021–2025)</a:t>
            </a:r>
          </a:p>
          <a:p>
            <a:pPr algn="ctr">
              <a:lnSpc>
                <a:spcPct val="95000"/>
              </a:lnSpc>
            </a:pPr>
            <a:r>
              <a:rPr sz="1500" b="1">
                <a:solidFill>
                  <a:srgbClr val="2A5F8F"/>
                </a:solidFill>
                <a:latin typeface="Calibri"/>
              </a:rPr>
              <a:t> </a:t>
            </a:r>
          </a:p>
        </p:txBody>
      </p:sp>
      <p:sp>
        <p:nvSpPr>
          <p:cNvPr id="10" name="Rounded Rectangle 9"/>
          <p:cNvSpPr/>
          <p:nvPr/>
        </p:nvSpPr>
        <p:spPr>
          <a:xfrm>
            <a:off x="9172575" y="981075"/>
            <a:ext cx="2857500" cy="704850"/>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F-CAGR (2026–2036)</a:t>
            </a:r>
          </a:p>
          <a:p>
            <a:pPr algn="ctr">
              <a:lnSpc>
                <a:spcPct val="95000"/>
              </a:lnSpc>
            </a:pPr>
            <a:r>
              <a:rPr sz="1500" b="1">
                <a:solidFill>
                  <a:srgbClr val="2A5F8F"/>
                </a:solidFill>
                <a:latin typeface="Calibri"/>
              </a:rPr>
              <a:t> </a:t>
            </a:r>
          </a:p>
        </p:txBody>
      </p:sp>
      <p:sp>
        <p:nvSpPr>
          <p:cNvPr id="11" name="Rounded Rectangle 10"/>
          <p:cNvSpPr/>
          <p:nvPr/>
        </p:nvSpPr>
        <p:spPr>
          <a:xfrm>
            <a:off x="142875" y="1819275"/>
            <a:ext cx="4695825" cy="1781175"/>
          </a:xfrm>
          <a:prstGeom prst="roundRect">
            <a:avLst>
              <a:gd name="adj" fmla="val 427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876425"/>
            <a:ext cx="45053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U.S. Value (US$ Mn), 2021–2036</a:t>
            </a:r>
          </a:p>
        </p:txBody>
      </p:sp>
      <p:graphicFrame>
        <p:nvGraphicFramePr>
          <p:cNvPr id="13" name="Chart 12"/>
          <p:cNvGraphicFramePr>
            <a:graphicFrameLocks noGrp="1"/>
          </p:cNvGraphicFramePr>
          <p:nvPr/>
        </p:nvGraphicFramePr>
        <p:xfrm>
          <a:off x="238125" y="2105025"/>
          <a:ext cx="4505325" cy="1438275"/>
        </p:xfrm>
        <a:graphic>
          <a:graphicData uri="http://schemas.openxmlformats.org/drawingml/2006/chart">
            <c:chart xmlns:c="http://schemas.openxmlformats.org/drawingml/2006/chart" r:id="rId3"/>
          </a:graphicData>
        </a:graphic>
      </p:graphicFrame>
      <p:sp>
        <p:nvSpPr>
          <p:cNvPr id="14" name="Rounded Rectangle 13"/>
          <p:cNvSpPr/>
          <p:nvPr/>
        </p:nvSpPr>
        <p:spPr>
          <a:xfrm>
            <a:off x="4991100" y="1819275"/>
            <a:ext cx="7048500" cy="1781175"/>
          </a:xfrm>
          <a:prstGeom prst="roundRect">
            <a:avLst>
              <a:gd name="adj" fmla="val 427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86350" y="1876425"/>
            <a:ext cx="6858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CAGR Comparison &amp; Growth Deviation from Regional Benchmark</a:t>
            </a:r>
          </a:p>
        </p:txBody>
      </p:sp>
      <p:graphicFrame>
        <p:nvGraphicFramePr>
          <p:cNvPr id="16" name="Chart 15"/>
          <p:cNvGraphicFramePr>
            <a:graphicFrameLocks noGrp="1"/>
          </p:cNvGraphicFramePr>
          <p:nvPr/>
        </p:nvGraphicFramePr>
        <p:xfrm>
          <a:off x="5086350" y="2105025"/>
          <a:ext cx="2880360" cy="1438275"/>
        </p:xfrm>
        <a:graphic>
          <a:graphicData uri="http://schemas.openxmlformats.org/drawingml/2006/chart">
            <c:chart xmlns:c="http://schemas.openxmlformats.org/drawingml/2006/chart" r:id="rId4"/>
          </a:graphicData>
        </a:graphic>
      </p:graphicFrame>
      <p:sp>
        <p:nvSpPr>
          <p:cNvPr id="17" name="TextBox 16"/>
          <p:cNvSpPr txBox="1"/>
          <p:nvPr/>
        </p:nvSpPr>
        <p:spPr>
          <a:xfrm>
            <a:off x="8042910" y="2124075"/>
            <a:ext cx="3901440" cy="704850"/>
          </a:xfrm>
          <a:prstGeom prst="rect">
            <a:avLst/>
          </a:prstGeom>
          <a:noFill/>
        </p:spPr>
        <p:txBody>
          <a:bodyPr wrap="square" lIns="28575" rIns="28575" tIns="9525" bIns="9525">
            <a:spAutoFit/>
          </a:bodyPr>
          <a:lstStyle/>
          <a:p>
            <a:pPr algn="ctr"/>
            <a:r>
              <a:rPr sz="2200" b="1">
                <a:solidFill>
                  <a:srgbClr val="F47620"/>
                </a:solidFill>
                <a:latin typeface="Calibri"/>
              </a:rPr>
              <a:t> </a:t>
            </a:r>
          </a:p>
          <a:p>
            <a:pPr algn="ctr"/>
            <a:r>
              <a:rPr sz="1100" b="0">
                <a:solidFill>
                  <a:srgbClr val="6C7A89"/>
                </a:solidFill>
                <a:latin typeface="Calibri"/>
              </a:rPr>
              <a:t>vs North America benchmark</a:t>
            </a:r>
          </a:p>
          <a:p>
            <a:pPr algn="ctr"/>
            <a:r>
              <a:rPr sz="1100" b="1">
                <a:solidFill>
                  <a:srgbClr val="E44D3A"/>
                </a:solidFill>
                <a:latin typeface="Calibri"/>
              </a:rPr>
              <a:t>▼ below benchmark</a:t>
            </a:r>
          </a:p>
        </p:txBody>
      </p:sp>
      <p:sp>
        <p:nvSpPr>
          <p:cNvPr id="18" name="TextBox 17"/>
          <p:cNvSpPr txBox="1"/>
          <p:nvPr/>
        </p:nvSpPr>
        <p:spPr>
          <a:xfrm>
            <a:off x="8042910" y="2867025"/>
            <a:ext cx="3901440" cy="638175"/>
          </a:xfrm>
          <a:prstGeom prst="rect">
            <a:avLst/>
          </a:prstGeom>
          <a:noFill/>
        </p:spPr>
        <p:txBody>
          <a:bodyPr wrap="square" lIns="28575" rIns="28575" tIns="9525" bIns="9525" anchor="t">
            <a:spAutoFit/>
          </a:bodyPr>
          <a:lstStyle/>
          <a:p>
            <a:pPr algn="l"/>
            <a:r>
              <a:rPr sz="1100" b="0">
                <a:solidFill>
                  <a:srgbClr val="2E2E2E"/>
                </a:solidFill>
                <a:latin typeface="Calibri"/>
              </a:rPr>
              <a:t/>
            </a:r>
          </a:p>
        </p:txBody>
      </p:sp>
      <p:sp>
        <p:nvSpPr>
          <p:cNvPr id="19" name="Rounded Rectangle 18"/>
          <p:cNvSpPr/>
          <p:nvPr/>
        </p:nvSpPr>
        <p:spPr>
          <a:xfrm>
            <a:off x="142875" y="3733800"/>
            <a:ext cx="4695825" cy="1781175"/>
          </a:xfrm>
          <a:prstGeom prst="roundRect">
            <a:avLst>
              <a:gd name="adj" fmla="val 427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38125" y="3790950"/>
            <a:ext cx="45053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Forecast Build-up 2026–2036 (US$ Mn)</a:t>
            </a:r>
          </a:p>
        </p:txBody>
      </p:sp>
      <p:graphicFrame>
        <p:nvGraphicFramePr>
          <p:cNvPr id="21" name="Chart 20"/>
          <p:cNvGraphicFramePr>
            <a:graphicFrameLocks noGrp="1"/>
          </p:cNvGraphicFramePr>
          <p:nvPr/>
        </p:nvGraphicFramePr>
        <p:xfrm>
          <a:off x="238125" y="4019550"/>
          <a:ext cx="4505325" cy="1438275"/>
        </p:xfrm>
        <a:graphic>
          <a:graphicData uri="http://schemas.openxmlformats.org/drawingml/2006/chart">
            <c:chart xmlns:c="http://schemas.openxmlformats.org/drawingml/2006/chart" r:id="rId5"/>
          </a:graphicData>
        </a:graphic>
      </p:graphicFrame>
      <p:sp>
        <p:nvSpPr>
          <p:cNvPr id="22" name="Rounded Rectangle 21"/>
          <p:cNvSpPr/>
          <p:nvPr/>
        </p:nvSpPr>
        <p:spPr>
          <a:xfrm>
            <a:off x="4991100" y="3733800"/>
            <a:ext cx="7048500" cy="1781175"/>
          </a:xfrm>
          <a:prstGeom prst="roundRect">
            <a:avLst>
              <a:gd name="adj" fmla="val 427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086350" y="3790950"/>
            <a:ext cx="6858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U.S. Market Share, 2026</a:t>
            </a:r>
          </a:p>
        </p:txBody>
      </p:sp>
      <p:graphicFrame>
        <p:nvGraphicFramePr>
          <p:cNvPr id="24" name="Chart 23"/>
          <p:cNvGraphicFramePr>
            <a:graphicFrameLocks noGrp="1"/>
          </p:cNvGraphicFramePr>
          <p:nvPr/>
        </p:nvGraphicFramePr>
        <p:xfrm>
          <a:off x="5086350" y="4019550"/>
          <a:ext cx="6858000" cy="1438275"/>
        </p:xfrm>
        <a:graphic>
          <a:graphicData uri="http://schemas.openxmlformats.org/drawingml/2006/chart">
            <c:chart xmlns:c="http://schemas.openxmlformats.org/drawingml/2006/chart" r:id="rId6"/>
          </a:graphicData>
        </a:graphic>
      </p:graphicFrame>
      <p:sp>
        <p:nvSpPr>
          <p:cNvPr id="25" name="Rounded Rectangle 24"/>
          <p:cNvSpPr/>
          <p:nvPr/>
        </p:nvSpPr>
        <p:spPr>
          <a:xfrm>
            <a:off x="142875" y="5648325"/>
            <a:ext cx="5876925" cy="971550"/>
          </a:xfrm>
          <a:prstGeom prst="roundRect">
            <a:avLst>
              <a:gd name="adj" fmla="val 7843"/>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26" name="Rounded Rectangle 25"/>
          <p:cNvSpPr/>
          <p:nvPr/>
        </p:nvSpPr>
        <p:spPr>
          <a:xfrm>
            <a:off x="6172200" y="5648325"/>
            <a:ext cx="5876925" cy="971550"/>
          </a:xfrm>
          <a:prstGeom prst="roundRect">
            <a:avLst>
              <a:gd name="adj" fmla="val 7843"/>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27" name="Rectangle 26"/>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29" name="Picture 28" descr="lock.png"/>
          <p:cNvPicPr>
            <a:picLocks noChangeAspect="1"/>
          </p:cNvPicPr>
          <p:nvPr/>
        </p:nvPicPr>
        <p:blipFill>
          <a:blip r:embed="rId8"/>
          <a:stretch>
            <a:fillRect/>
          </a:stretch>
        </p:blipFill>
        <p:spPr>
          <a:xfrm>
            <a:off x="1493044" y="1219200"/>
            <a:ext cx="157162" cy="228600"/>
          </a:xfrm>
          <a:prstGeom prst="rect">
            <a:avLst/>
          </a:prstGeom>
        </p:spPr>
      </p:pic>
      <p:pic>
        <p:nvPicPr>
          <p:cNvPr id="30" name="Picture 29" descr="lock.png"/>
          <p:cNvPicPr>
            <a:picLocks noChangeAspect="1"/>
          </p:cNvPicPr>
          <p:nvPr/>
        </p:nvPicPr>
        <p:blipFill>
          <a:blip r:embed="rId8"/>
          <a:stretch>
            <a:fillRect/>
          </a:stretch>
        </p:blipFill>
        <p:spPr>
          <a:xfrm>
            <a:off x="4502944" y="1219200"/>
            <a:ext cx="157162" cy="228600"/>
          </a:xfrm>
          <a:prstGeom prst="rect">
            <a:avLst/>
          </a:prstGeom>
        </p:spPr>
      </p:pic>
      <p:pic>
        <p:nvPicPr>
          <p:cNvPr id="31" name="Picture 30" descr="lock.png"/>
          <p:cNvPicPr>
            <a:picLocks noChangeAspect="1"/>
          </p:cNvPicPr>
          <p:nvPr/>
        </p:nvPicPr>
        <p:blipFill>
          <a:blip r:embed="rId8"/>
          <a:stretch>
            <a:fillRect/>
          </a:stretch>
        </p:blipFill>
        <p:spPr>
          <a:xfrm>
            <a:off x="7512844" y="1303020"/>
            <a:ext cx="157162" cy="228600"/>
          </a:xfrm>
          <a:prstGeom prst="rect">
            <a:avLst/>
          </a:prstGeom>
        </p:spPr>
      </p:pic>
      <p:pic>
        <p:nvPicPr>
          <p:cNvPr id="32" name="Picture 31" descr="lock.png"/>
          <p:cNvPicPr>
            <a:picLocks noChangeAspect="1"/>
          </p:cNvPicPr>
          <p:nvPr/>
        </p:nvPicPr>
        <p:blipFill>
          <a:blip r:embed="rId8"/>
          <a:stretch>
            <a:fillRect/>
          </a:stretch>
        </p:blipFill>
        <p:spPr>
          <a:xfrm>
            <a:off x="10522744" y="1303020"/>
            <a:ext cx="157162" cy="228600"/>
          </a:xfrm>
          <a:prstGeom prst="rect">
            <a:avLst/>
          </a:prstGeom>
        </p:spPr>
      </p:pic>
      <p:pic>
        <p:nvPicPr>
          <p:cNvPr id="33" name="Picture 32" descr="lock.png"/>
          <p:cNvPicPr>
            <a:picLocks noChangeAspect="1"/>
          </p:cNvPicPr>
          <p:nvPr/>
        </p:nvPicPr>
        <p:blipFill>
          <a:blip r:embed="rId8"/>
          <a:stretch>
            <a:fillRect/>
          </a:stretch>
        </p:blipFill>
        <p:spPr>
          <a:xfrm>
            <a:off x="2554414" y="2661285"/>
            <a:ext cx="165021" cy="240030"/>
          </a:xfrm>
          <a:prstGeom prst="rect">
            <a:avLst/>
          </a:prstGeom>
        </p:spPr>
      </p:pic>
      <p:pic>
        <p:nvPicPr>
          <p:cNvPr id="34" name="Picture 33" descr="lock.png"/>
          <p:cNvPicPr>
            <a:picLocks noChangeAspect="1"/>
          </p:cNvPicPr>
          <p:nvPr/>
        </p:nvPicPr>
        <p:blipFill>
          <a:blip r:embed="rId8"/>
          <a:stretch>
            <a:fillRect/>
          </a:stretch>
        </p:blipFill>
        <p:spPr>
          <a:xfrm>
            <a:off x="6762365" y="2599095"/>
            <a:ext cx="191595" cy="278683"/>
          </a:xfrm>
          <a:prstGeom prst="rect">
            <a:avLst/>
          </a:prstGeom>
        </p:spPr>
      </p:pic>
      <p:pic>
        <p:nvPicPr>
          <p:cNvPr id="35" name="Picture 34" descr="lock.png"/>
          <p:cNvPicPr>
            <a:picLocks noChangeAspect="1"/>
          </p:cNvPicPr>
          <p:nvPr/>
        </p:nvPicPr>
        <p:blipFill>
          <a:blip r:embed="rId8"/>
          <a:stretch>
            <a:fillRect/>
          </a:stretch>
        </p:blipFill>
        <p:spPr>
          <a:xfrm>
            <a:off x="9878378" y="2141220"/>
            <a:ext cx="230504" cy="335279"/>
          </a:xfrm>
          <a:prstGeom prst="rect">
            <a:avLst/>
          </a:prstGeom>
        </p:spPr>
      </p:pic>
      <p:pic>
        <p:nvPicPr>
          <p:cNvPr id="36" name="Picture 35" descr="lock.png"/>
          <p:cNvPicPr>
            <a:picLocks noChangeAspect="1"/>
          </p:cNvPicPr>
          <p:nvPr/>
        </p:nvPicPr>
        <p:blipFill>
          <a:blip r:embed="rId8"/>
          <a:stretch>
            <a:fillRect/>
          </a:stretch>
        </p:blipFill>
        <p:spPr>
          <a:xfrm>
            <a:off x="2554414" y="4575810"/>
            <a:ext cx="165021" cy="240030"/>
          </a:xfrm>
          <a:prstGeom prst="rect">
            <a:avLst/>
          </a:prstGeom>
        </p:spPr>
      </p:pic>
      <p:pic>
        <p:nvPicPr>
          <p:cNvPr id="37" name="Picture 36" descr="lock.png"/>
          <p:cNvPicPr>
            <a:picLocks noChangeAspect="1"/>
          </p:cNvPicPr>
          <p:nvPr/>
        </p:nvPicPr>
        <p:blipFill>
          <a:blip r:embed="rId8"/>
          <a:stretch>
            <a:fillRect/>
          </a:stretch>
        </p:blipFill>
        <p:spPr>
          <a:xfrm>
            <a:off x="8715708" y="4462938"/>
            <a:ext cx="261282" cy="380047"/>
          </a:xfrm>
          <a:prstGeom prst="rect">
            <a:avLst/>
          </a:prstGeom>
        </p:spPr>
      </p:pic>
      <p:sp>
        <p:nvSpPr>
          <p:cNvPr id="38" name="TextBox 37"/>
          <p:cNvSpPr txBox="1"/>
          <p:nvPr/>
        </p:nvSpPr>
        <p:spPr>
          <a:xfrm>
            <a:off x="8071485" y="2876550"/>
            <a:ext cx="2812628" cy="186689"/>
          </a:xfrm>
          <a:prstGeom prst="rect">
            <a:avLst/>
          </a:prstGeom>
          <a:noFill/>
        </p:spPr>
        <p:txBody>
          <a:bodyPr wrap="none" lIns="0" rIns="0" tIns="0" bIns="0">
            <a:spAutoFit/>
          </a:bodyPr>
          <a:lstStyle/>
          <a:p>
            <a:r>
              <a:rPr sz="1100" b="0">
                <a:solidFill>
                  <a:srgbClr val="2E2E2E"/>
                </a:solidFill>
                <a:latin typeface="Calibri"/>
              </a:rPr>
              <a:t>U.S.'s egg protein membrane market expands at</a:t>
            </a:r>
          </a:p>
        </p:txBody>
      </p:sp>
      <p:pic>
        <p:nvPicPr>
          <p:cNvPr id="39" name="Picture 38" descr="lock.png"/>
          <p:cNvPicPr>
            <a:picLocks noChangeAspect="1"/>
          </p:cNvPicPr>
          <p:nvPr/>
        </p:nvPicPr>
        <p:blipFill>
          <a:blip r:embed="rId8"/>
          <a:stretch>
            <a:fillRect/>
          </a:stretch>
        </p:blipFill>
        <p:spPr>
          <a:xfrm>
            <a:off x="10832164" y="2866771"/>
            <a:ext cx="128699" cy="187198"/>
          </a:xfrm>
          <a:prstGeom prst="rect">
            <a:avLst/>
          </a:prstGeom>
        </p:spPr>
      </p:pic>
      <p:sp>
        <p:nvSpPr>
          <p:cNvPr id="40" name="TextBox 39"/>
          <p:cNvSpPr txBox="1"/>
          <p:nvPr/>
        </p:nvSpPr>
        <p:spPr>
          <a:xfrm>
            <a:off x="10999660" y="2876550"/>
            <a:ext cx="395419" cy="186689"/>
          </a:xfrm>
          <a:prstGeom prst="rect">
            <a:avLst/>
          </a:prstGeom>
          <a:noFill/>
        </p:spPr>
        <p:txBody>
          <a:bodyPr wrap="none" lIns="0" rIns="0" tIns="0" bIns="0">
            <a:spAutoFit/>
          </a:bodyPr>
          <a:lstStyle/>
          <a:p>
            <a:r>
              <a:rPr sz="1100" b="0">
                <a:solidFill>
                  <a:srgbClr val="2E2E2E"/>
                </a:solidFill>
                <a:latin typeface="Calibri"/>
              </a:rPr>
              <a:t>CAGR</a:t>
            </a:r>
          </a:p>
        </p:txBody>
      </p:sp>
      <p:sp>
        <p:nvSpPr>
          <p:cNvPr id="41" name="TextBox 40"/>
          <p:cNvSpPr txBox="1"/>
          <p:nvPr/>
        </p:nvSpPr>
        <p:spPr>
          <a:xfrm>
            <a:off x="8071485" y="3044190"/>
            <a:ext cx="3218358" cy="186689"/>
          </a:xfrm>
          <a:prstGeom prst="rect">
            <a:avLst/>
          </a:prstGeom>
          <a:noFill/>
        </p:spPr>
        <p:txBody>
          <a:bodyPr wrap="none" lIns="0" rIns="0" tIns="0" bIns="0">
            <a:spAutoFit/>
          </a:bodyPr>
          <a:lstStyle/>
          <a:p>
            <a:r>
              <a:rPr sz="1100" b="0">
                <a:solidFill>
                  <a:srgbClr val="2E2E2E"/>
                </a:solidFill>
                <a:latin typeface="Calibri"/>
              </a:rPr>
              <a:t>through 2036, trailing the North America benchmark of</a:t>
            </a:r>
          </a:p>
        </p:txBody>
      </p:sp>
      <p:pic>
        <p:nvPicPr>
          <p:cNvPr id="42" name="Picture 41" descr="lock.png"/>
          <p:cNvPicPr>
            <a:picLocks noChangeAspect="1"/>
          </p:cNvPicPr>
          <p:nvPr/>
        </p:nvPicPr>
        <p:blipFill>
          <a:blip r:embed="rId8"/>
          <a:stretch>
            <a:fillRect/>
          </a:stretch>
        </p:blipFill>
        <p:spPr>
          <a:xfrm>
            <a:off x="11237895" y="3034411"/>
            <a:ext cx="128699" cy="187198"/>
          </a:xfrm>
          <a:prstGeom prst="rect">
            <a:avLst/>
          </a:prstGeom>
        </p:spPr>
      </p:pic>
      <p:sp>
        <p:nvSpPr>
          <p:cNvPr id="43" name="TextBox 42"/>
          <p:cNvSpPr txBox="1"/>
          <p:nvPr/>
        </p:nvSpPr>
        <p:spPr>
          <a:xfrm>
            <a:off x="11405391" y="3044190"/>
            <a:ext cx="212898" cy="186689"/>
          </a:xfrm>
          <a:prstGeom prst="rect">
            <a:avLst/>
          </a:prstGeom>
          <a:noFill/>
        </p:spPr>
        <p:txBody>
          <a:bodyPr wrap="none" lIns="0" rIns="0" tIns="0" bIns="0">
            <a:spAutoFit/>
          </a:bodyPr>
          <a:lstStyle/>
          <a:p>
            <a:r>
              <a:rPr sz="1100" b="0">
                <a:solidFill>
                  <a:srgbClr val="2E2E2E"/>
                </a:solidFill>
                <a:latin typeface="Calibri"/>
              </a:rPr>
              <a:t>by</a:t>
            </a:r>
          </a:p>
        </p:txBody>
      </p:sp>
      <p:pic>
        <p:nvPicPr>
          <p:cNvPr id="44" name="Picture 43" descr="lock.png"/>
          <p:cNvPicPr>
            <a:picLocks noChangeAspect="1"/>
          </p:cNvPicPr>
          <p:nvPr/>
        </p:nvPicPr>
        <p:blipFill>
          <a:blip r:embed="rId8"/>
          <a:stretch>
            <a:fillRect/>
          </a:stretch>
        </p:blipFill>
        <p:spPr>
          <a:xfrm>
            <a:off x="8058017" y="3202051"/>
            <a:ext cx="128699" cy="187198"/>
          </a:xfrm>
          <a:prstGeom prst="rect">
            <a:avLst/>
          </a:prstGeom>
        </p:spPr>
      </p:pic>
      <p:sp>
        <p:nvSpPr>
          <p:cNvPr id="45" name="TextBox 44"/>
          <p:cNvSpPr txBox="1"/>
          <p:nvPr/>
        </p:nvSpPr>
        <p:spPr>
          <a:xfrm>
            <a:off x="8225513" y="3211830"/>
            <a:ext cx="323949" cy="186689"/>
          </a:xfrm>
          <a:prstGeom prst="rect">
            <a:avLst/>
          </a:prstGeom>
          <a:noFill/>
        </p:spPr>
        <p:txBody>
          <a:bodyPr wrap="none" lIns="0" rIns="0" tIns="0" bIns="0">
            <a:spAutoFit/>
          </a:bodyPr>
          <a:lstStyle/>
          <a:p>
            <a:r>
              <a:rPr sz="1100" b="0">
                <a:solidFill>
                  <a:srgbClr val="2E2E2E"/>
                </a:solidFill>
                <a:latin typeface="Calibri"/>
              </a:rPr>
              <a:t>BPS.</a:t>
            </a:r>
          </a:p>
        </p:txBody>
      </p:sp>
      <p:sp>
        <p:nvSpPr>
          <p:cNvPr id="46" name="TextBox 45"/>
          <p:cNvSpPr txBox="1"/>
          <p:nvPr/>
        </p:nvSpPr>
        <p:spPr>
          <a:xfrm>
            <a:off x="257175" y="5966460"/>
            <a:ext cx="639365" cy="186689"/>
          </a:xfrm>
          <a:prstGeom prst="rect">
            <a:avLst/>
          </a:prstGeom>
          <a:noFill/>
        </p:spPr>
        <p:txBody>
          <a:bodyPr wrap="none" lIns="0" rIns="0" tIns="0" bIns="0">
            <a:spAutoFit/>
          </a:bodyPr>
          <a:lstStyle/>
          <a:p>
            <a:r>
              <a:rPr sz="1100" b="0">
                <a:solidFill>
                  <a:srgbClr val="2E2E2E"/>
                </a:solidFill>
                <a:latin typeface="Calibri"/>
              </a:rPr>
              <a:t>U.S. holds</a:t>
            </a:r>
          </a:p>
        </p:txBody>
      </p:sp>
      <p:pic>
        <p:nvPicPr>
          <p:cNvPr id="47" name="Picture 46" descr="lock.png"/>
          <p:cNvPicPr>
            <a:picLocks noChangeAspect="1"/>
          </p:cNvPicPr>
          <p:nvPr/>
        </p:nvPicPr>
        <p:blipFill>
          <a:blip r:embed="rId8"/>
          <a:stretch>
            <a:fillRect/>
          </a:stretch>
        </p:blipFill>
        <p:spPr>
          <a:xfrm>
            <a:off x="844592" y="5956680"/>
            <a:ext cx="128699" cy="187198"/>
          </a:xfrm>
          <a:prstGeom prst="rect">
            <a:avLst/>
          </a:prstGeom>
        </p:spPr>
      </p:pic>
      <p:sp>
        <p:nvSpPr>
          <p:cNvPr id="48" name="TextBox 47"/>
          <p:cNvSpPr txBox="1"/>
          <p:nvPr/>
        </p:nvSpPr>
        <p:spPr>
          <a:xfrm>
            <a:off x="1012088" y="5966460"/>
            <a:ext cx="1035000" cy="186689"/>
          </a:xfrm>
          <a:prstGeom prst="rect">
            <a:avLst/>
          </a:prstGeom>
          <a:noFill/>
        </p:spPr>
        <p:txBody>
          <a:bodyPr wrap="none" lIns="0" rIns="0" tIns="0" bIns="0">
            <a:spAutoFit/>
          </a:bodyPr>
          <a:lstStyle/>
          <a:p>
            <a:r>
              <a:rPr sz="1100" b="0">
                <a:solidFill>
                  <a:srgbClr val="2E2E2E"/>
                </a:solidFill>
                <a:latin typeface="Calibri"/>
              </a:rPr>
              <a:t>of the global and</a:t>
            </a:r>
          </a:p>
        </p:txBody>
      </p:sp>
      <p:pic>
        <p:nvPicPr>
          <p:cNvPr id="49" name="Picture 48" descr="lock.png"/>
          <p:cNvPicPr>
            <a:picLocks noChangeAspect="1"/>
          </p:cNvPicPr>
          <p:nvPr/>
        </p:nvPicPr>
        <p:blipFill>
          <a:blip r:embed="rId8"/>
          <a:stretch>
            <a:fillRect/>
          </a:stretch>
        </p:blipFill>
        <p:spPr>
          <a:xfrm>
            <a:off x="1995140" y="5956680"/>
            <a:ext cx="128699" cy="187198"/>
          </a:xfrm>
          <a:prstGeom prst="rect">
            <a:avLst/>
          </a:prstGeom>
        </p:spPr>
      </p:pic>
      <p:sp>
        <p:nvSpPr>
          <p:cNvPr id="50" name="TextBox 49"/>
          <p:cNvSpPr txBox="1"/>
          <p:nvPr/>
        </p:nvSpPr>
        <p:spPr>
          <a:xfrm>
            <a:off x="2162635" y="5966460"/>
            <a:ext cx="3547417" cy="186689"/>
          </a:xfrm>
          <a:prstGeom prst="rect">
            <a:avLst/>
          </a:prstGeom>
          <a:noFill/>
        </p:spPr>
        <p:txBody>
          <a:bodyPr wrap="none" lIns="0" rIns="0" tIns="0" bIns="0">
            <a:spAutoFit/>
          </a:bodyPr>
          <a:lstStyle/>
          <a:p>
            <a:r>
              <a:rPr sz="1100" b="0">
                <a:solidFill>
                  <a:srgbClr val="2E2E2E"/>
                </a:solidFill>
                <a:latin typeface="Calibri"/>
              </a:rPr>
              <a:t>of the North America egg protein membrane market in 2026;</a:t>
            </a:r>
          </a:p>
        </p:txBody>
      </p:sp>
      <p:sp>
        <p:nvSpPr>
          <p:cNvPr id="51" name="TextBox 50"/>
          <p:cNvSpPr txBox="1"/>
          <p:nvPr/>
        </p:nvSpPr>
        <p:spPr>
          <a:xfrm>
            <a:off x="257175" y="6134100"/>
            <a:ext cx="1779339" cy="186689"/>
          </a:xfrm>
          <a:prstGeom prst="rect">
            <a:avLst/>
          </a:prstGeom>
          <a:noFill/>
        </p:spPr>
        <p:txBody>
          <a:bodyPr wrap="none" lIns="0" rIns="0" tIns="0" bIns="0">
            <a:spAutoFit/>
          </a:bodyPr>
          <a:lstStyle/>
          <a:p>
            <a:r>
              <a:rPr sz="1100" b="0">
                <a:solidFill>
                  <a:srgbClr val="2E2E2E"/>
                </a:solidFill>
                <a:latin typeface="Calibri"/>
              </a:rPr>
              <a:t>by 2036 those shares move to</a:t>
            </a:r>
          </a:p>
        </p:txBody>
      </p:sp>
      <p:pic>
        <p:nvPicPr>
          <p:cNvPr id="52" name="Picture 51" descr="lock.png"/>
          <p:cNvPicPr>
            <a:picLocks noChangeAspect="1"/>
          </p:cNvPicPr>
          <p:nvPr/>
        </p:nvPicPr>
        <p:blipFill>
          <a:blip r:embed="rId8"/>
          <a:stretch>
            <a:fillRect/>
          </a:stretch>
        </p:blipFill>
        <p:spPr>
          <a:xfrm>
            <a:off x="1984566" y="6124320"/>
            <a:ext cx="128699" cy="187198"/>
          </a:xfrm>
          <a:prstGeom prst="rect">
            <a:avLst/>
          </a:prstGeom>
        </p:spPr>
      </p:pic>
      <p:sp>
        <p:nvSpPr>
          <p:cNvPr id="53" name="TextBox 52"/>
          <p:cNvSpPr txBox="1"/>
          <p:nvPr/>
        </p:nvSpPr>
        <p:spPr>
          <a:xfrm>
            <a:off x="2152061" y="6134100"/>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54" name="Picture 53" descr="lock.png"/>
          <p:cNvPicPr>
            <a:picLocks noChangeAspect="1"/>
          </p:cNvPicPr>
          <p:nvPr/>
        </p:nvPicPr>
        <p:blipFill>
          <a:blip r:embed="rId8"/>
          <a:stretch>
            <a:fillRect/>
          </a:stretch>
        </p:blipFill>
        <p:spPr>
          <a:xfrm>
            <a:off x="2389956" y="6124320"/>
            <a:ext cx="128699" cy="187198"/>
          </a:xfrm>
          <a:prstGeom prst="rect">
            <a:avLst/>
          </a:prstGeom>
        </p:spPr>
      </p:pic>
      <p:sp>
        <p:nvSpPr>
          <p:cNvPr id="55" name="TextBox 54"/>
          <p:cNvSpPr txBox="1"/>
          <p:nvPr/>
        </p:nvSpPr>
        <p:spPr>
          <a:xfrm>
            <a:off x="2557452" y="6134100"/>
            <a:ext cx="793799" cy="186689"/>
          </a:xfrm>
          <a:prstGeom prst="rect">
            <a:avLst/>
          </a:prstGeom>
          <a:noFill/>
        </p:spPr>
        <p:txBody>
          <a:bodyPr wrap="none" lIns="0" rIns="0" tIns="0" bIns="0">
            <a:spAutoFit/>
          </a:bodyPr>
          <a:lstStyle/>
          <a:p>
            <a:r>
              <a:rPr sz="1100" b="0">
                <a:solidFill>
                  <a:srgbClr val="2E2E2E"/>
                </a:solidFill>
                <a:latin typeface="Calibri"/>
              </a:rPr>
              <a:t>respectively.</a:t>
            </a:r>
          </a:p>
        </p:txBody>
      </p:sp>
      <p:sp>
        <p:nvSpPr>
          <p:cNvPr id="56" name="TextBox 55"/>
          <p:cNvSpPr txBox="1"/>
          <p:nvPr/>
        </p:nvSpPr>
        <p:spPr>
          <a:xfrm>
            <a:off x="6286500" y="5882640"/>
            <a:ext cx="3103215" cy="186689"/>
          </a:xfrm>
          <a:prstGeom prst="rect">
            <a:avLst/>
          </a:prstGeom>
          <a:noFill/>
        </p:spPr>
        <p:txBody>
          <a:bodyPr wrap="none" lIns="0" rIns="0" tIns="0" bIns="0">
            <a:spAutoFit/>
          </a:bodyPr>
          <a:lstStyle/>
          <a:p>
            <a:r>
              <a:rPr sz="1100" b="0">
                <a:solidFill>
                  <a:srgbClr val="2E2E2E"/>
                </a:solidFill>
                <a:latin typeface="Calibri"/>
              </a:rPr>
              <a:t>The market in the U.S. is expected to account for US$</a:t>
            </a:r>
          </a:p>
        </p:txBody>
      </p:sp>
      <p:pic>
        <p:nvPicPr>
          <p:cNvPr id="57" name="Picture 56" descr="lock.png"/>
          <p:cNvPicPr>
            <a:picLocks noChangeAspect="1"/>
          </p:cNvPicPr>
          <p:nvPr/>
        </p:nvPicPr>
        <p:blipFill>
          <a:blip r:embed="rId8"/>
          <a:stretch>
            <a:fillRect/>
          </a:stretch>
        </p:blipFill>
        <p:spPr>
          <a:xfrm>
            <a:off x="9337766" y="5872860"/>
            <a:ext cx="128699" cy="187198"/>
          </a:xfrm>
          <a:prstGeom prst="rect">
            <a:avLst/>
          </a:prstGeom>
        </p:spPr>
      </p:pic>
      <p:sp>
        <p:nvSpPr>
          <p:cNvPr id="58" name="TextBox 57"/>
          <p:cNvSpPr txBox="1"/>
          <p:nvPr/>
        </p:nvSpPr>
        <p:spPr>
          <a:xfrm>
            <a:off x="9505262" y="5882640"/>
            <a:ext cx="1495556" cy="186689"/>
          </a:xfrm>
          <a:prstGeom prst="rect">
            <a:avLst/>
          </a:prstGeom>
          <a:noFill/>
        </p:spPr>
        <p:txBody>
          <a:bodyPr wrap="none" lIns="0" rIns="0" tIns="0" bIns="0">
            <a:spAutoFit/>
          </a:bodyPr>
          <a:lstStyle/>
          <a:p>
            <a:r>
              <a:rPr sz="1100" b="0">
                <a:solidFill>
                  <a:srgbClr val="2E2E2E"/>
                </a:solidFill>
                <a:latin typeface="Calibri"/>
              </a:rPr>
              <a:t>Mn by 2036 at a CAGR of</a:t>
            </a:r>
          </a:p>
        </p:txBody>
      </p:sp>
      <p:pic>
        <p:nvPicPr>
          <p:cNvPr id="59" name="Picture 58" descr="lock.png"/>
          <p:cNvPicPr>
            <a:picLocks noChangeAspect="1"/>
          </p:cNvPicPr>
          <p:nvPr/>
        </p:nvPicPr>
        <p:blipFill>
          <a:blip r:embed="rId8"/>
          <a:stretch>
            <a:fillRect/>
          </a:stretch>
        </p:blipFill>
        <p:spPr>
          <a:xfrm>
            <a:off x="10948871" y="5872860"/>
            <a:ext cx="128699" cy="187198"/>
          </a:xfrm>
          <a:prstGeom prst="rect">
            <a:avLst/>
          </a:prstGeom>
        </p:spPr>
      </p:pic>
      <p:sp>
        <p:nvSpPr>
          <p:cNvPr id="60" name="TextBox 59"/>
          <p:cNvSpPr txBox="1"/>
          <p:nvPr/>
        </p:nvSpPr>
        <p:spPr>
          <a:xfrm>
            <a:off x="11116366" y="5882640"/>
            <a:ext cx="552871" cy="186689"/>
          </a:xfrm>
          <a:prstGeom prst="rect">
            <a:avLst/>
          </a:prstGeom>
          <a:noFill/>
        </p:spPr>
        <p:txBody>
          <a:bodyPr wrap="none" lIns="0" rIns="0" tIns="0" bIns="0">
            <a:spAutoFit/>
          </a:bodyPr>
          <a:lstStyle/>
          <a:p>
            <a:r>
              <a:rPr sz="1100" b="0">
                <a:solidFill>
                  <a:srgbClr val="2E2E2E"/>
                </a:solidFill>
                <a:latin typeface="Calibri"/>
              </a:rPr>
              <a:t>over the</a:t>
            </a:r>
          </a:p>
        </p:txBody>
      </p:sp>
      <p:sp>
        <p:nvSpPr>
          <p:cNvPr id="61" name="TextBox 60"/>
          <p:cNvSpPr txBox="1"/>
          <p:nvPr/>
        </p:nvSpPr>
        <p:spPr>
          <a:xfrm>
            <a:off x="6286500" y="6050280"/>
            <a:ext cx="4694758" cy="186689"/>
          </a:xfrm>
          <a:prstGeom prst="rect">
            <a:avLst/>
          </a:prstGeom>
          <a:noFill/>
        </p:spPr>
        <p:txBody>
          <a:bodyPr wrap="none" lIns="0" rIns="0" tIns="0" bIns="0">
            <a:spAutoFit/>
          </a:bodyPr>
          <a:lstStyle/>
          <a:p>
            <a:r>
              <a:rPr sz="1100" b="0">
                <a:solidFill>
                  <a:srgbClr val="2E2E2E"/>
                </a:solidFill>
                <a:latin typeface="Calibri"/>
              </a:rPr>
              <a:t>forecast period. The U.S. is expected to create an incremental opportunity of US$</a:t>
            </a:r>
          </a:p>
        </p:txBody>
      </p:sp>
      <p:pic>
        <p:nvPicPr>
          <p:cNvPr id="62" name="Picture 61" descr="lock.png"/>
          <p:cNvPicPr>
            <a:picLocks noChangeAspect="1"/>
          </p:cNvPicPr>
          <p:nvPr/>
        </p:nvPicPr>
        <p:blipFill>
          <a:blip r:embed="rId8"/>
          <a:stretch>
            <a:fillRect/>
          </a:stretch>
        </p:blipFill>
        <p:spPr>
          <a:xfrm>
            <a:off x="10929309" y="6040501"/>
            <a:ext cx="128699" cy="187198"/>
          </a:xfrm>
          <a:prstGeom prst="rect">
            <a:avLst/>
          </a:prstGeom>
        </p:spPr>
      </p:pic>
      <p:sp>
        <p:nvSpPr>
          <p:cNvPr id="63" name="TextBox 62"/>
          <p:cNvSpPr txBox="1"/>
          <p:nvPr/>
        </p:nvSpPr>
        <p:spPr>
          <a:xfrm>
            <a:off x="11096805" y="6050280"/>
            <a:ext cx="687387" cy="186689"/>
          </a:xfrm>
          <a:prstGeom prst="rect">
            <a:avLst/>
          </a:prstGeom>
          <a:noFill/>
        </p:spPr>
        <p:txBody>
          <a:bodyPr wrap="none" lIns="0" rIns="0" tIns="0" bIns="0">
            <a:spAutoFit/>
          </a:bodyPr>
          <a:lstStyle/>
          <a:p>
            <a:r>
              <a:rPr sz="1100" b="0">
                <a:solidFill>
                  <a:srgbClr val="2E2E2E"/>
                </a:solidFill>
                <a:latin typeface="Calibri"/>
              </a:rPr>
              <a:t>Mn for the</a:t>
            </a:r>
          </a:p>
        </p:txBody>
      </p:sp>
      <p:sp>
        <p:nvSpPr>
          <p:cNvPr id="64" name="TextBox 63"/>
          <p:cNvSpPr txBox="1"/>
          <p:nvPr/>
        </p:nvSpPr>
        <p:spPr>
          <a:xfrm>
            <a:off x="6286500" y="6217920"/>
            <a:ext cx="3367062" cy="186689"/>
          </a:xfrm>
          <a:prstGeom prst="rect">
            <a:avLst/>
          </a:prstGeom>
          <a:noFill/>
        </p:spPr>
        <p:txBody>
          <a:bodyPr wrap="none" lIns="0" rIns="0" tIns="0" bIns="0">
            <a:spAutoFit/>
          </a:bodyPr>
          <a:lstStyle/>
          <a:p>
            <a:r>
              <a:rPr sz="1100" b="0">
                <a:solidFill>
                  <a:srgbClr val="2E2E2E"/>
                </a:solidFill>
                <a:latin typeface="Calibri"/>
              </a:rPr>
              <a:t>overall egg protein membrane market from 2025 to 2036.</a:t>
            </a:r>
          </a:p>
        </p:txBody>
      </p:sp>
      <p:sp>
        <p:nvSpPr>
          <p:cNvPr id="65" name="lockshield_13"/>
          <p:cNvSpPr/>
          <p:nvPr/>
        </p:nvSpPr>
        <p:spPr>
          <a:xfrm>
            <a:off x="238125" y="2105025"/>
            <a:ext cx="4505325" cy="14382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lockshield_16"/>
          <p:cNvSpPr/>
          <p:nvPr/>
        </p:nvSpPr>
        <p:spPr>
          <a:xfrm>
            <a:off x="5086350" y="2105025"/>
            <a:ext cx="2880360" cy="14382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lockshield_21"/>
          <p:cNvSpPr/>
          <p:nvPr/>
        </p:nvSpPr>
        <p:spPr>
          <a:xfrm>
            <a:off x="238125" y="4019550"/>
            <a:ext cx="4505325" cy="14382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lockshield_24"/>
          <p:cNvSpPr/>
          <p:nvPr/>
        </p:nvSpPr>
        <p:spPr>
          <a:xfrm>
            <a:off x="5086350" y="4019550"/>
            <a:ext cx="6858000" cy="14382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Egg Protein Membrane Market Key Segments Overview, By Value (2026)</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Overview of U.S.'s key segments by value, highlighting the leading sub-segment of every segmentation</a:t>
            </a:r>
          </a:p>
        </p:txBody>
      </p:sp>
      <p:sp>
        <p:nvSpPr>
          <p:cNvPr id="7" name="Rounded Rectangle 6"/>
          <p:cNvSpPr/>
          <p:nvPr/>
        </p:nvSpPr>
        <p:spPr>
          <a:xfrm>
            <a:off x="142875" y="981075"/>
            <a:ext cx="2857500" cy="1695450"/>
          </a:xfrm>
          <a:prstGeom prst="roundRect">
            <a:avLst>
              <a:gd name="adj" fmla="val 4494"/>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2667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Product Type  (US$ Mn)</a:t>
            </a:r>
          </a:p>
        </p:txBody>
      </p:sp>
      <p:graphicFrame>
        <p:nvGraphicFramePr>
          <p:cNvPr id="9" name="Chart 8"/>
          <p:cNvGraphicFramePr>
            <a:graphicFrameLocks noGrp="1"/>
          </p:cNvGraphicFramePr>
          <p:nvPr/>
        </p:nvGraphicFramePr>
        <p:xfrm>
          <a:off x="238125" y="1266825"/>
          <a:ext cx="2667000" cy="1352550"/>
        </p:xfrm>
        <a:graphic>
          <a:graphicData uri="http://schemas.openxmlformats.org/drawingml/2006/chart">
            <c:chart xmlns:c="http://schemas.openxmlformats.org/drawingml/2006/chart" r:id="rId3"/>
          </a:graphicData>
        </a:graphic>
      </p:graphicFrame>
      <p:sp>
        <p:nvSpPr>
          <p:cNvPr id="10" name="Rounded Rectangle 9"/>
          <p:cNvSpPr/>
          <p:nvPr/>
        </p:nvSpPr>
        <p:spPr>
          <a:xfrm>
            <a:off x="3152775" y="981075"/>
            <a:ext cx="2857500" cy="1695450"/>
          </a:xfrm>
          <a:prstGeom prst="roundRect">
            <a:avLst>
              <a:gd name="adj" fmla="val 4494"/>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248025" y="1038225"/>
            <a:ext cx="2667000"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Extraction / Processing Method  (US$ Mn)</a:t>
            </a:r>
          </a:p>
        </p:txBody>
      </p:sp>
      <p:graphicFrame>
        <p:nvGraphicFramePr>
          <p:cNvPr id="12" name="Chart 11"/>
          <p:cNvGraphicFramePr>
            <a:graphicFrameLocks noGrp="1"/>
          </p:cNvGraphicFramePr>
          <p:nvPr/>
        </p:nvGraphicFramePr>
        <p:xfrm>
          <a:off x="3248025" y="1438275"/>
          <a:ext cx="2667000" cy="1181100"/>
        </p:xfrm>
        <a:graphic>
          <a:graphicData uri="http://schemas.openxmlformats.org/drawingml/2006/chart">
            <c:chart xmlns:c="http://schemas.openxmlformats.org/drawingml/2006/chart" r:id="rId4"/>
          </a:graphicData>
        </a:graphic>
      </p:graphicFrame>
      <p:sp>
        <p:nvSpPr>
          <p:cNvPr id="13" name="Rounded Rectangle 12"/>
          <p:cNvSpPr/>
          <p:nvPr/>
        </p:nvSpPr>
        <p:spPr>
          <a:xfrm>
            <a:off x="6162675" y="981075"/>
            <a:ext cx="2857500" cy="1695450"/>
          </a:xfrm>
          <a:prstGeom prst="roundRect">
            <a:avLst>
              <a:gd name="adj" fmla="val 4494"/>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57925" y="1038225"/>
            <a:ext cx="2667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Source  (US$ Mn)</a:t>
            </a:r>
          </a:p>
        </p:txBody>
      </p:sp>
      <p:graphicFrame>
        <p:nvGraphicFramePr>
          <p:cNvPr id="15" name="Chart 14"/>
          <p:cNvGraphicFramePr>
            <a:graphicFrameLocks noGrp="1"/>
          </p:cNvGraphicFramePr>
          <p:nvPr/>
        </p:nvGraphicFramePr>
        <p:xfrm>
          <a:off x="6257925" y="1266825"/>
          <a:ext cx="2667000" cy="1352550"/>
        </p:xfrm>
        <a:graphic>
          <a:graphicData uri="http://schemas.openxmlformats.org/drawingml/2006/chart">
            <c:chart xmlns:c="http://schemas.openxmlformats.org/drawingml/2006/chart" r:id="rId5"/>
          </a:graphicData>
        </a:graphic>
      </p:graphicFrame>
      <p:sp>
        <p:nvSpPr>
          <p:cNvPr id="16" name="Rounded Rectangle 15"/>
          <p:cNvSpPr/>
          <p:nvPr/>
        </p:nvSpPr>
        <p:spPr>
          <a:xfrm>
            <a:off x="9172575" y="981075"/>
            <a:ext cx="2857500" cy="1695450"/>
          </a:xfrm>
          <a:prstGeom prst="roundRect">
            <a:avLst>
              <a:gd name="adj" fmla="val 4494"/>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267825" y="1038225"/>
            <a:ext cx="2667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Form  (US$ Mn)</a:t>
            </a:r>
          </a:p>
        </p:txBody>
      </p:sp>
      <p:graphicFrame>
        <p:nvGraphicFramePr>
          <p:cNvPr id="18" name="Chart 17"/>
          <p:cNvGraphicFramePr>
            <a:graphicFrameLocks noGrp="1"/>
          </p:cNvGraphicFramePr>
          <p:nvPr/>
        </p:nvGraphicFramePr>
        <p:xfrm>
          <a:off x="9267825" y="1266825"/>
          <a:ext cx="2667000" cy="1352550"/>
        </p:xfrm>
        <a:graphic>
          <a:graphicData uri="http://schemas.openxmlformats.org/drawingml/2006/chart">
            <c:chart xmlns:c="http://schemas.openxmlformats.org/drawingml/2006/chart" r:id="rId6"/>
          </a:graphicData>
        </a:graphic>
      </p:graphicFrame>
      <p:sp>
        <p:nvSpPr>
          <p:cNvPr id="19" name="Rounded Rectangle 18"/>
          <p:cNvSpPr/>
          <p:nvPr/>
        </p:nvSpPr>
        <p:spPr>
          <a:xfrm>
            <a:off x="142875" y="2809875"/>
            <a:ext cx="2933700" cy="1695450"/>
          </a:xfrm>
          <a:prstGeom prst="roundRect">
            <a:avLst>
              <a:gd name="adj" fmla="val 4494"/>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38125" y="2867025"/>
            <a:ext cx="27432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Application  (US$ Mn)</a:t>
            </a:r>
          </a:p>
        </p:txBody>
      </p:sp>
      <p:graphicFrame>
        <p:nvGraphicFramePr>
          <p:cNvPr id="21" name="Chart 20"/>
          <p:cNvGraphicFramePr>
            <a:graphicFrameLocks noGrp="1"/>
          </p:cNvGraphicFramePr>
          <p:nvPr/>
        </p:nvGraphicFramePr>
        <p:xfrm>
          <a:off x="238125" y="3095625"/>
          <a:ext cx="2743200" cy="1352550"/>
        </p:xfrm>
        <a:graphic>
          <a:graphicData uri="http://schemas.openxmlformats.org/drawingml/2006/chart">
            <c:chart xmlns:c="http://schemas.openxmlformats.org/drawingml/2006/chart" r:id="rId7"/>
          </a:graphicData>
        </a:graphic>
      </p:graphicFrame>
      <p:sp>
        <p:nvSpPr>
          <p:cNvPr id="22" name="Rounded Rectangle 21"/>
          <p:cNvSpPr/>
          <p:nvPr/>
        </p:nvSpPr>
        <p:spPr>
          <a:xfrm>
            <a:off x="3228975" y="2809875"/>
            <a:ext cx="2933700" cy="1695450"/>
          </a:xfrm>
          <a:prstGeom prst="roundRect">
            <a:avLst>
              <a:gd name="adj" fmla="val 4494"/>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324225" y="2867025"/>
            <a:ext cx="27432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Sales Channel  (US$ Mn)</a:t>
            </a:r>
          </a:p>
        </p:txBody>
      </p:sp>
      <p:graphicFrame>
        <p:nvGraphicFramePr>
          <p:cNvPr id="24" name="Chart 23"/>
          <p:cNvGraphicFramePr>
            <a:graphicFrameLocks noGrp="1"/>
          </p:cNvGraphicFramePr>
          <p:nvPr/>
        </p:nvGraphicFramePr>
        <p:xfrm>
          <a:off x="3324225" y="3095625"/>
          <a:ext cx="2743200" cy="1352550"/>
        </p:xfrm>
        <a:graphic>
          <a:graphicData uri="http://schemas.openxmlformats.org/drawingml/2006/chart">
            <c:chart xmlns:c="http://schemas.openxmlformats.org/drawingml/2006/chart" r:id="rId8"/>
          </a:graphicData>
        </a:graphic>
      </p:graphicFrame>
      <p:sp>
        <p:nvSpPr>
          <p:cNvPr id="25" name="Rounded Rectangle 24"/>
          <p:cNvSpPr/>
          <p:nvPr/>
        </p:nvSpPr>
        <p:spPr>
          <a:xfrm>
            <a:off x="142875" y="4638675"/>
            <a:ext cx="11906250" cy="1981200"/>
          </a:xfrm>
          <a:prstGeom prst="roundRect">
            <a:avLst>
              <a:gd name="adj" fmla="val 3846"/>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76225" y="4724400"/>
            <a:ext cx="11639550" cy="209550"/>
          </a:xfrm>
          <a:prstGeom prst="rect">
            <a:avLst/>
          </a:prstGeom>
          <a:noFill/>
        </p:spPr>
        <p:txBody>
          <a:bodyPr wrap="square" lIns="0" rIns="19050" tIns="9525" bIns="9525">
            <a:spAutoFit/>
          </a:bodyPr>
          <a:lstStyle/>
          <a:p>
            <a:pPr algn="l"/>
            <a:r>
              <a:rPr sz="1300" b="1">
                <a:solidFill>
                  <a:srgbClr val="0E2A5C"/>
                </a:solidFill>
                <a:latin typeface="Calibri"/>
              </a:rPr>
              <a:t/>
            </a:r>
          </a:p>
        </p:txBody>
      </p:sp>
      <p:sp>
        <p:nvSpPr>
          <p:cNvPr id="27" name="Rectangle 26"/>
          <p:cNvSpPr/>
          <p:nvPr/>
        </p:nvSpPr>
        <p:spPr>
          <a:xfrm>
            <a:off x="276225" y="4962525"/>
            <a:ext cx="116395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76225" y="5048250"/>
            <a:ext cx="11639550" cy="1495425"/>
          </a:xfrm>
          <a:prstGeom prst="rect">
            <a:avLst/>
          </a:prstGeom>
          <a:noFill/>
        </p:spPr>
        <p:txBody>
          <a:bodyPr wrap="square" lIns="0" rIns="19050" tIns="9525" bIns="9525">
            <a:spAutoFit/>
          </a:bodyPr>
          <a:lstStyle/>
          <a:p>
            <a:pPr algn="l">
              <a:lnSpc>
                <a:spcPct val="100000"/>
              </a:lnSpc>
              <a:spcBef>
                <a:spcPts val="0"/>
              </a:spcBef>
              <a:spcAft>
                <a:spcPts val="300"/>
              </a:spcAft>
            </a:pPr>
            <a:r>
              <a:rPr sz="1100" b="0">
                <a:solidFill>
                  <a:srgbClr val="2A5F8F"/>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2A5F8F"/>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2A5F8F"/>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2A5F8F"/>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2A5F8F"/>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2A5F8F"/>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2A5F8F"/>
                </a:solidFill>
                <a:latin typeface="Calibri"/>
              </a:rPr>
              <a:t/>
            </a:r>
            <a:r>
              <a:rPr sz="1100" b="0">
                <a:solidFill>
                  <a:srgbClr val="2E2E2E"/>
                </a:solidFill>
                <a:latin typeface="Calibri"/>
              </a:rPr>
              <a:t/>
            </a:r>
          </a:p>
        </p:txBody>
      </p:sp>
      <p:sp>
        <p:nvSpPr>
          <p:cNvPr id="29" name="Rectangle 28"/>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31" name="Picture 30" descr="lock.png"/>
          <p:cNvPicPr>
            <a:picLocks noChangeAspect="1"/>
          </p:cNvPicPr>
          <p:nvPr/>
        </p:nvPicPr>
        <p:blipFill>
          <a:blip r:embed="rId10"/>
          <a:stretch>
            <a:fillRect/>
          </a:stretch>
        </p:blipFill>
        <p:spPr>
          <a:xfrm>
            <a:off x="1811655" y="1724025"/>
            <a:ext cx="183356" cy="266700"/>
          </a:xfrm>
          <a:prstGeom prst="rect">
            <a:avLst/>
          </a:prstGeom>
        </p:spPr>
      </p:pic>
      <p:pic>
        <p:nvPicPr>
          <p:cNvPr id="32" name="Picture 31" descr="lock.png"/>
          <p:cNvPicPr>
            <a:picLocks noChangeAspect="1"/>
          </p:cNvPicPr>
          <p:nvPr/>
        </p:nvPicPr>
        <p:blipFill>
          <a:blip r:embed="rId10"/>
          <a:stretch>
            <a:fillRect/>
          </a:stretch>
        </p:blipFill>
        <p:spPr>
          <a:xfrm>
            <a:off x="4821555" y="1809750"/>
            <a:ext cx="183356" cy="266700"/>
          </a:xfrm>
          <a:prstGeom prst="rect">
            <a:avLst/>
          </a:prstGeom>
        </p:spPr>
      </p:pic>
      <p:pic>
        <p:nvPicPr>
          <p:cNvPr id="33" name="Picture 32" descr="lock.png"/>
          <p:cNvPicPr>
            <a:picLocks noChangeAspect="1"/>
          </p:cNvPicPr>
          <p:nvPr/>
        </p:nvPicPr>
        <p:blipFill>
          <a:blip r:embed="rId10"/>
          <a:stretch>
            <a:fillRect/>
          </a:stretch>
        </p:blipFill>
        <p:spPr>
          <a:xfrm>
            <a:off x="7831455" y="1724025"/>
            <a:ext cx="183356" cy="266700"/>
          </a:xfrm>
          <a:prstGeom prst="rect">
            <a:avLst/>
          </a:prstGeom>
        </p:spPr>
      </p:pic>
      <p:pic>
        <p:nvPicPr>
          <p:cNvPr id="34" name="Picture 33" descr="lock.png"/>
          <p:cNvPicPr>
            <a:picLocks noChangeAspect="1"/>
          </p:cNvPicPr>
          <p:nvPr/>
        </p:nvPicPr>
        <p:blipFill>
          <a:blip r:embed="rId10"/>
          <a:stretch>
            <a:fillRect/>
          </a:stretch>
        </p:blipFill>
        <p:spPr>
          <a:xfrm>
            <a:off x="10841355" y="1724025"/>
            <a:ext cx="183356" cy="266700"/>
          </a:xfrm>
          <a:prstGeom prst="rect">
            <a:avLst/>
          </a:prstGeom>
        </p:spPr>
      </p:pic>
      <p:pic>
        <p:nvPicPr>
          <p:cNvPr id="35" name="Picture 34" descr="lock.png"/>
          <p:cNvPicPr>
            <a:picLocks noChangeAspect="1"/>
          </p:cNvPicPr>
          <p:nvPr/>
        </p:nvPicPr>
        <p:blipFill>
          <a:blip r:embed="rId10"/>
          <a:stretch>
            <a:fillRect/>
          </a:stretch>
        </p:blipFill>
        <p:spPr>
          <a:xfrm>
            <a:off x="1849755" y="3552825"/>
            <a:ext cx="183356" cy="266700"/>
          </a:xfrm>
          <a:prstGeom prst="rect">
            <a:avLst/>
          </a:prstGeom>
        </p:spPr>
      </p:pic>
      <p:pic>
        <p:nvPicPr>
          <p:cNvPr id="36" name="Picture 35" descr="lock.png"/>
          <p:cNvPicPr>
            <a:picLocks noChangeAspect="1"/>
          </p:cNvPicPr>
          <p:nvPr/>
        </p:nvPicPr>
        <p:blipFill>
          <a:blip r:embed="rId10"/>
          <a:stretch>
            <a:fillRect/>
          </a:stretch>
        </p:blipFill>
        <p:spPr>
          <a:xfrm>
            <a:off x="4935855" y="3552825"/>
            <a:ext cx="183356" cy="266700"/>
          </a:xfrm>
          <a:prstGeom prst="rect">
            <a:avLst/>
          </a:prstGeom>
        </p:spPr>
      </p:pic>
      <p:sp>
        <p:nvSpPr>
          <p:cNvPr id="37" name="TextBox 36"/>
          <p:cNvSpPr txBox="1"/>
          <p:nvPr/>
        </p:nvSpPr>
        <p:spPr>
          <a:xfrm>
            <a:off x="276225" y="4733925"/>
            <a:ext cx="1468037" cy="161696"/>
          </a:xfrm>
          <a:prstGeom prst="rect">
            <a:avLst/>
          </a:prstGeom>
          <a:noFill/>
        </p:spPr>
        <p:txBody>
          <a:bodyPr wrap="none" lIns="0" rIns="0" tIns="0" bIns="0">
            <a:spAutoFit/>
          </a:bodyPr>
          <a:lstStyle/>
          <a:p>
            <a:r>
              <a:rPr sz="935" b="1">
                <a:solidFill>
                  <a:srgbClr val="0E2A5C"/>
                </a:solidFill>
                <a:latin typeface="Calibri"/>
              </a:rPr>
              <a:t>Key Takeaways · 2026 Total:</a:t>
            </a:r>
          </a:p>
        </p:txBody>
      </p:sp>
      <p:pic>
        <p:nvPicPr>
          <p:cNvPr id="38" name="Picture 37" descr="lock.png"/>
          <p:cNvPicPr>
            <a:picLocks noChangeAspect="1"/>
          </p:cNvPicPr>
          <p:nvPr/>
        </p:nvPicPr>
        <p:blipFill>
          <a:blip r:embed="rId10"/>
          <a:stretch>
            <a:fillRect/>
          </a:stretch>
        </p:blipFill>
        <p:spPr>
          <a:xfrm>
            <a:off x="1688698" y="4725603"/>
            <a:ext cx="109510" cy="159288"/>
          </a:xfrm>
          <a:prstGeom prst="rect">
            <a:avLst/>
          </a:prstGeom>
        </p:spPr>
      </p:pic>
      <p:sp>
        <p:nvSpPr>
          <p:cNvPr id="39" name="TextBox 38"/>
          <p:cNvSpPr txBox="1"/>
          <p:nvPr/>
        </p:nvSpPr>
        <p:spPr>
          <a:xfrm>
            <a:off x="1831222" y="4733925"/>
            <a:ext cx="465087" cy="161696"/>
          </a:xfrm>
          <a:prstGeom prst="rect">
            <a:avLst/>
          </a:prstGeom>
          <a:noFill/>
        </p:spPr>
        <p:txBody>
          <a:bodyPr wrap="none" lIns="0" rIns="0" tIns="0" bIns="0">
            <a:spAutoFit/>
          </a:bodyPr>
          <a:lstStyle/>
          <a:p>
            <a:r>
              <a:rPr sz="935" b="1">
                <a:solidFill>
                  <a:srgbClr val="0E2A5C"/>
                </a:solidFill>
                <a:latin typeface="Calibri"/>
              </a:rPr>
              <a:t>US$ Mn</a:t>
            </a:r>
          </a:p>
        </p:txBody>
      </p:sp>
      <p:sp>
        <p:nvSpPr>
          <p:cNvPr id="40" name="TextBox 39"/>
          <p:cNvSpPr txBox="1"/>
          <p:nvPr/>
        </p:nvSpPr>
        <p:spPr>
          <a:xfrm>
            <a:off x="276225" y="5057775"/>
            <a:ext cx="3616526" cy="179984"/>
          </a:xfrm>
          <a:prstGeom prst="rect">
            <a:avLst/>
          </a:prstGeom>
          <a:noFill/>
        </p:spPr>
        <p:txBody>
          <a:bodyPr wrap="none" lIns="0" rIns="0" tIns="0" bIns="0">
            <a:spAutoFit/>
          </a:bodyPr>
          <a:lstStyle/>
          <a:p>
            <a:r>
              <a:rPr sz="1055" b="0">
                <a:solidFill>
                  <a:srgbClr val="2E2E2E"/>
                </a:solidFill>
                <a:latin typeface="Calibri"/>
              </a:rPr>
              <a:t>▪ By Product Type, 'Specialty Extracted Protein Fractions' leads at</a:t>
            </a:r>
          </a:p>
        </p:txBody>
      </p:sp>
      <p:pic>
        <p:nvPicPr>
          <p:cNvPr id="41" name="Picture 40" descr="lock.png"/>
          <p:cNvPicPr>
            <a:picLocks noChangeAspect="1"/>
          </p:cNvPicPr>
          <p:nvPr/>
        </p:nvPicPr>
        <p:blipFill>
          <a:blip r:embed="rId10"/>
          <a:stretch>
            <a:fillRect/>
          </a:stretch>
        </p:blipFill>
        <p:spPr>
          <a:xfrm>
            <a:off x="3839833" y="5048387"/>
            <a:ext cx="123551" cy="179710"/>
          </a:xfrm>
          <a:prstGeom prst="rect">
            <a:avLst/>
          </a:prstGeom>
        </p:spPr>
      </p:pic>
      <p:sp>
        <p:nvSpPr>
          <p:cNvPr id="42" name="TextBox 41"/>
          <p:cNvSpPr txBox="1"/>
          <p:nvPr/>
        </p:nvSpPr>
        <p:spPr>
          <a:xfrm>
            <a:off x="4000629" y="5057775"/>
            <a:ext cx="578596" cy="179984"/>
          </a:xfrm>
          <a:prstGeom prst="rect">
            <a:avLst/>
          </a:prstGeom>
          <a:noFill/>
        </p:spPr>
        <p:txBody>
          <a:bodyPr wrap="none" lIns="0" rIns="0" tIns="0" bIns="0">
            <a:spAutoFit/>
          </a:bodyPr>
          <a:lstStyle/>
          <a:p>
            <a:r>
              <a:rPr sz="1055" b="0">
                <a:solidFill>
                  <a:srgbClr val="2E2E2E"/>
                </a:solidFill>
                <a:latin typeface="Calibri"/>
              </a:rPr>
              <a:t>US$ Mn (</a:t>
            </a:r>
          </a:p>
        </p:txBody>
      </p:sp>
      <p:pic>
        <p:nvPicPr>
          <p:cNvPr id="43" name="Picture 42" descr="lock.png"/>
          <p:cNvPicPr>
            <a:picLocks noChangeAspect="1"/>
          </p:cNvPicPr>
          <p:nvPr/>
        </p:nvPicPr>
        <p:blipFill>
          <a:blip r:embed="rId10"/>
          <a:stretch>
            <a:fillRect/>
          </a:stretch>
        </p:blipFill>
        <p:spPr>
          <a:xfrm>
            <a:off x="4526306" y="5048387"/>
            <a:ext cx="123551" cy="179710"/>
          </a:xfrm>
          <a:prstGeom prst="rect">
            <a:avLst/>
          </a:prstGeom>
        </p:spPr>
      </p:pic>
      <p:sp>
        <p:nvSpPr>
          <p:cNvPr id="44" name="TextBox 43"/>
          <p:cNvSpPr txBox="1"/>
          <p:nvPr/>
        </p:nvSpPr>
        <p:spPr>
          <a:xfrm>
            <a:off x="4687102" y="5057775"/>
            <a:ext cx="2843045" cy="179984"/>
          </a:xfrm>
          <a:prstGeom prst="rect">
            <a:avLst/>
          </a:prstGeom>
          <a:noFill/>
        </p:spPr>
        <p:txBody>
          <a:bodyPr wrap="none" lIns="0" rIns="0" tIns="0" bIns="0">
            <a:spAutoFit/>
          </a:bodyPr>
          <a:lstStyle/>
          <a:p>
            <a:r>
              <a:rPr sz="1055" b="0">
                <a:solidFill>
                  <a:srgbClr val="2E2E2E"/>
                </a:solidFill>
                <a:latin typeface="Calibri"/>
              </a:rPr>
              <a:t>share), ahead of 'Micronized Eggshell Membrane' (</a:t>
            </a:r>
          </a:p>
        </p:txBody>
      </p:sp>
      <p:pic>
        <p:nvPicPr>
          <p:cNvPr id="45" name="Picture 44" descr="lock.png"/>
          <p:cNvPicPr>
            <a:picLocks noChangeAspect="1"/>
          </p:cNvPicPr>
          <p:nvPr/>
        </p:nvPicPr>
        <p:blipFill>
          <a:blip r:embed="rId10"/>
          <a:stretch>
            <a:fillRect/>
          </a:stretch>
        </p:blipFill>
        <p:spPr>
          <a:xfrm>
            <a:off x="7477230" y="5048387"/>
            <a:ext cx="123551" cy="179710"/>
          </a:xfrm>
          <a:prstGeom prst="rect">
            <a:avLst/>
          </a:prstGeom>
        </p:spPr>
      </p:pic>
      <p:sp>
        <p:nvSpPr>
          <p:cNvPr id="46" name="TextBox 45"/>
          <p:cNvSpPr txBox="1"/>
          <p:nvPr/>
        </p:nvSpPr>
        <p:spPr>
          <a:xfrm>
            <a:off x="7638026" y="5057775"/>
            <a:ext cx="582001" cy="179984"/>
          </a:xfrm>
          <a:prstGeom prst="rect">
            <a:avLst/>
          </a:prstGeom>
          <a:noFill/>
        </p:spPr>
        <p:txBody>
          <a:bodyPr wrap="none" lIns="0" rIns="0" tIns="0" bIns="0">
            <a:spAutoFit/>
          </a:bodyPr>
          <a:lstStyle/>
          <a:p>
            <a:r>
              <a:rPr sz="1055" b="0">
                <a:solidFill>
                  <a:srgbClr val="2E2E2E"/>
                </a:solidFill>
                <a:latin typeface="Calibri"/>
              </a:rPr>
              <a:t>US$ Mn).</a:t>
            </a:r>
          </a:p>
        </p:txBody>
      </p:sp>
      <p:sp>
        <p:nvSpPr>
          <p:cNvPr id="47" name="TextBox 46"/>
          <p:cNvSpPr txBox="1"/>
          <p:nvPr/>
        </p:nvSpPr>
        <p:spPr>
          <a:xfrm>
            <a:off x="276225" y="5266989"/>
            <a:ext cx="4766694" cy="179984"/>
          </a:xfrm>
          <a:prstGeom prst="rect">
            <a:avLst/>
          </a:prstGeom>
          <a:noFill/>
        </p:spPr>
        <p:txBody>
          <a:bodyPr wrap="none" lIns="0" rIns="0" tIns="0" bIns="0">
            <a:spAutoFit/>
          </a:bodyPr>
          <a:lstStyle/>
          <a:p>
            <a:r>
              <a:rPr sz="1055" b="0">
                <a:solidFill>
                  <a:srgbClr val="2E2E2E"/>
                </a:solidFill>
                <a:latin typeface="Calibri"/>
              </a:rPr>
              <a:t>▪ By Extraction / Processing Method, 'Mechanical Separation &amp; Micronization' leads at</a:t>
            </a:r>
          </a:p>
        </p:txBody>
      </p:sp>
      <p:pic>
        <p:nvPicPr>
          <p:cNvPr id="48" name="Picture 47" descr="lock.png"/>
          <p:cNvPicPr>
            <a:picLocks noChangeAspect="1"/>
          </p:cNvPicPr>
          <p:nvPr/>
        </p:nvPicPr>
        <p:blipFill>
          <a:blip r:embed="rId10"/>
          <a:stretch>
            <a:fillRect/>
          </a:stretch>
        </p:blipFill>
        <p:spPr>
          <a:xfrm>
            <a:off x="4990000" y="5257601"/>
            <a:ext cx="123551" cy="179710"/>
          </a:xfrm>
          <a:prstGeom prst="rect">
            <a:avLst/>
          </a:prstGeom>
        </p:spPr>
      </p:pic>
      <p:sp>
        <p:nvSpPr>
          <p:cNvPr id="49" name="TextBox 48"/>
          <p:cNvSpPr txBox="1"/>
          <p:nvPr/>
        </p:nvSpPr>
        <p:spPr>
          <a:xfrm>
            <a:off x="5150796" y="5266989"/>
            <a:ext cx="578596" cy="179984"/>
          </a:xfrm>
          <a:prstGeom prst="rect">
            <a:avLst/>
          </a:prstGeom>
          <a:noFill/>
        </p:spPr>
        <p:txBody>
          <a:bodyPr wrap="none" lIns="0" rIns="0" tIns="0" bIns="0">
            <a:spAutoFit/>
          </a:bodyPr>
          <a:lstStyle/>
          <a:p>
            <a:r>
              <a:rPr sz="1055" b="0">
                <a:solidFill>
                  <a:srgbClr val="2E2E2E"/>
                </a:solidFill>
                <a:latin typeface="Calibri"/>
              </a:rPr>
              <a:t>US$ Mn (</a:t>
            </a:r>
          </a:p>
        </p:txBody>
      </p:sp>
      <p:pic>
        <p:nvPicPr>
          <p:cNvPr id="50" name="Picture 49" descr="lock.png"/>
          <p:cNvPicPr>
            <a:picLocks noChangeAspect="1"/>
          </p:cNvPicPr>
          <p:nvPr/>
        </p:nvPicPr>
        <p:blipFill>
          <a:blip r:embed="rId10"/>
          <a:stretch>
            <a:fillRect/>
          </a:stretch>
        </p:blipFill>
        <p:spPr>
          <a:xfrm>
            <a:off x="5676474" y="5257601"/>
            <a:ext cx="123551" cy="179710"/>
          </a:xfrm>
          <a:prstGeom prst="rect">
            <a:avLst/>
          </a:prstGeom>
        </p:spPr>
      </p:pic>
      <p:sp>
        <p:nvSpPr>
          <p:cNvPr id="51" name="TextBox 50"/>
          <p:cNvSpPr txBox="1"/>
          <p:nvPr/>
        </p:nvSpPr>
        <p:spPr>
          <a:xfrm>
            <a:off x="5837270" y="5266989"/>
            <a:ext cx="3044999" cy="179984"/>
          </a:xfrm>
          <a:prstGeom prst="rect">
            <a:avLst/>
          </a:prstGeom>
          <a:noFill/>
        </p:spPr>
        <p:txBody>
          <a:bodyPr wrap="none" lIns="0" rIns="0" tIns="0" bIns="0">
            <a:spAutoFit/>
          </a:bodyPr>
          <a:lstStyle/>
          <a:p>
            <a:r>
              <a:rPr sz="1055" b="0">
                <a:solidFill>
                  <a:srgbClr val="2E2E2E"/>
                </a:solidFill>
                <a:latin typeface="Calibri"/>
              </a:rPr>
              <a:t>share), ahead of 'Other / Hybrid Processing Methods' (</a:t>
            </a:r>
          </a:p>
        </p:txBody>
      </p:sp>
      <p:pic>
        <p:nvPicPr>
          <p:cNvPr id="52" name="Picture 51" descr="lock.png"/>
          <p:cNvPicPr>
            <a:picLocks noChangeAspect="1"/>
          </p:cNvPicPr>
          <p:nvPr/>
        </p:nvPicPr>
        <p:blipFill>
          <a:blip r:embed="rId10"/>
          <a:stretch>
            <a:fillRect/>
          </a:stretch>
        </p:blipFill>
        <p:spPr>
          <a:xfrm>
            <a:off x="8829351" y="5257601"/>
            <a:ext cx="123551" cy="179710"/>
          </a:xfrm>
          <a:prstGeom prst="rect">
            <a:avLst/>
          </a:prstGeom>
        </p:spPr>
      </p:pic>
      <p:sp>
        <p:nvSpPr>
          <p:cNvPr id="53" name="TextBox 52"/>
          <p:cNvSpPr txBox="1"/>
          <p:nvPr/>
        </p:nvSpPr>
        <p:spPr>
          <a:xfrm>
            <a:off x="8990147" y="5266989"/>
            <a:ext cx="582001" cy="179984"/>
          </a:xfrm>
          <a:prstGeom prst="rect">
            <a:avLst/>
          </a:prstGeom>
          <a:noFill/>
        </p:spPr>
        <p:txBody>
          <a:bodyPr wrap="none" lIns="0" rIns="0" tIns="0" bIns="0">
            <a:spAutoFit/>
          </a:bodyPr>
          <a:lstStyle/>
          <a:p>
            <a:r>
              <a:rPr sz="1055" b="0">
                <a:solidFill>
                  <a:srgbClr val="2E2E2E"/>
                </a:solidFill>
                <a:latin typeface="Calibri"/>
              </a:rPr>
              <a:t>US$ Mn).</a:t>
            </a:r>
          </a:p>
        </p:txBody>
      </p:sp>
      <p:sp>
        <p:nvSpPr>
          <p:cNvPr id="54" name="TextBox 53"/>
          <p:cNvSpPr txBox="1"/>
          <p:nvPr/>
        </p:nvSpPr>
        <p:spPr>
          <a:xfrm>
            <a:off x="276225" y="5476204"/>
            <a:ext cx="2808711" cy="179984"/>
          </a:xfrm>
          <a:prstGeom prst="rect">
            <a:avLst/>
          </a:prstGeom>
          <a:noFill/>
        </p:spPr>
        <p:txBody>
          <a:bodyPr wrap="none" lIns="0" rIns="0" tIns="0" bIns="0">
            <a:spAutoFit/>
          </a:bodyPr>
          <a:lstStyle/>
          <a:p>
            <a:r>
              <a:rPr sz="1055" b="0">
                <a:solidFill>
                  <a:srgbClr val="2E2E2E"/>
                </a:solidFill>
                <a:latin typeface="Calibri"/>
              </a:rPr>
              <a:t>▪ By Source, 'Chicken Eggshell Membrane' leads at</a:t>
            </a:r>
          </a:p>
        </p:txBody>
      </p:sp>
      <p:pic>
        <p:nvPicPr>
          <p:cNvPr id="55" name="Picture 54" descr="lock.png"/>
          <p:cNvPicPr>
            <a:picLocks noChangeAspect="1"/>
          </p:cNvPicPr>
          <p:nvPr/>
        </p:nvPicPr>
        <p:blipFill>
          <a:blip r:embed="rId10"/>
          <a:stretch>
            <a:fillRect/>
          </a:stretch>
        </p:blipFill>
        <p:spPr>
          <a:xfrm>
            <a:off x="3032018" y="5466816"/>
            <a:ext cx="123551" cy="179710"/>
          </a:xfrm>
          <a:prstGeom prst="rect">
            <a:avLst/>
          </a:prstGeom>
        </p:spPr>
      </p:pic>
      <p:sp>
        <p:nvSpPr>
          <p:cNvPr id="56" name="TextBox 55"/>
          <p:cNvSpPr txBox="1"/>
          <p:nvPr/>
        </p:nvSpPr>
        <p:spPr>
          <a:xfrm>
            <a:off x="3192814" y="5476204"/>
            <a:ext cx="578596" cy="179984"/>
          </a:xfrm>
          <a:prstGeom prst="rect">
            <a:avLst/>
          </a:prstGeom>
          <a:noFill/>
        </p:spPr>
        <p:txBody>
          <a:bodyPr wrap="none" lIns="0" rIns="0" tIns="0" bIns="0">
            <a:spAutoFit/>
          </a:bodyPr>
          <a:lstStyle/>
          <a:p>
            <a:r>
              <a:rPr sz="1055" b="0">
                <a:solidFill>
                  <a:srgbClr val="2E2E2E"/>
                </a:solidFill>
                <a:latin typeface="Calibri"/>
              </a:rPr>
              <a:t>US$ Mn (</a:t>
            </a:r>
          </a:p>
        </p:txBody>
      </p:sp>
      <p:pic>
        <p:nvPicPr>
          <p:cNvPr id="57" name="Picture 56" descr="lock.png"/>
          <p:cNvPicPr>
            <a:picLocks noChangeAspect="1"/>
          </p:cNvPicPr>
          <p:nvPr/>
        </p:nvPicPr>
        <p:blipFill>
          <a:blip r:embed="rId10"/>
          <a:stretch>
            <a:fillRect/>
          </a:stretch>
        </p:blipFill>
        <p:spPr>
          <a:xfrm>
            <a:off x="3718491" y="5466816"/>
            <a:ext cx="123551" cy="179710"/>
          </a:xfrm>
          <a:prstGeom prst="rect">
            <a:avLst/>
          </a:prstGeom>
        </p:spPr>
      </p:pic>
      <p:sp>
        <p:nvSpPr>
          <p:cNvPr id="58" name="TextBox 57"/>
          <p:cNvSpPr txBox="1"/>
          <p:nvPr/>
        </p:nvSpPr>
        <p:spPr>
          <a:xfrm>
            <a:off x="3879287" y="5476204"/>
            <a:ext cx="2974014" cy="179984"/>
          </a:xfrm>
          <a:prstGeom prst="rect">
            <a:avLst/>
          </a:prstGeom>
          <a:noFill/>
        </p:spPr>
        <p:txBody>
          <a:bodyPr wrap="none" lIns="0" rIns="0" tIns="0" bIns="0">
            <a:spAutoFit/>
          </a:bodyPr>
          <a:lstStyle/>
          <a:p>
            <a:r>
              <a:rPr sz="1055" b="0">
                <a:solidFill>
                  <a:srgbClr val="2E2E2E"/>
                </a:solidFill>
                <a:latin typeface="Calibri"/>
              </a:rPr>
              <a:t>share), ahead of 'Other Poultry Eggshell Membrane' (</a:t>
            </a:r>
          </a:p>
        </p:txBody>
      </p:sp>
      <p:pic>
        <p:nvPicPr>
          <p:cNvPr id="59" name="Picture 58" descr="lock.png"/>
          <p:cNvPicPr>
            <a:picLocks noChangeAspect="1"/>
          </p:cNvPicPr>
          <p:nvPr/>
        </p:nvPicPr>
        <p:blipFill>
          <a:blip r:embed="rId10"/>
          <a:stretch>
            <a:fillRect/>
          </a:stretch>
        </p:blipFill>
        <p:spPr>
          <a:xfrm>
            <a:off x="6800383" y="5466816"/>
            <a:ext cx="123551" cy="179710"/>
          </a:xfrm>
          <a:prstGeom prst="rect">
            <a:avLst/>
          </a:prstGeom>
        </p:spPr>
      </p:pic>
      <p:sp>
        <p:nvSpPr>
          <p:cNvPr id="60" name="TextBox 59"/>
          <p:cNvSpPr txBox="1"/>
          <p:nvPr/>
        </p:nvSpPr>
        <p:spPr>
          <a:xfrm>
            <a:off x="6961179" y="5476204"/>
            <a:ext cx="582001" cy="179984"/>
          </a:xfrm>
          <a:prstGeom prst="rect">
            <a:avLst/>
          </a:prstGeom>
          <a:noFill/>
        </p:spPr>
        <p:txBody>
          <a:bodyPr wrap="none" lIns="0" rIns="0" tIns="0" bIns="0">
            <a:spAutoFit/>
          </a:bodyPr>
          <a:lstStyle/>
          <a:p>
            <a:r>
              <a:rPr sz="1055" b="0">
                <a:solidFill>
                  <a:srgbClr val="2E2E2E"/>
                </a:solidFill>
                <a:latin typeface="Calibri"/>
              </a:rPr>
              <a:t>US$ Mn).</a:t>
            </a:r>
          </a:p>
        </p:txBody>
      </p:sp>
      <p:sp>
        <p:nvSpPr>
          <p:cNvPr id="61" name="TextBox 60"/>
          <p:cNvSpPr txBox="1"/>
          <p:nvPr/>
        </p:nvSpPr>
        <p:spPr>
          <a:xfrm>
            <a:off x="276225" y="5685419"/>
            <a:ext cx="2299214" cy="179984"/>
          </a:xfrm>
          <a:prstGeom prst="rect">
            <a:avLst/>
          </a:prstGeom>
          <a:noFill/>
        </p:spPr>
        <p:txBody>
          <a:bodyPr wrap="none" lIns="0" rIns="0" tIns="0" bIns="0">
            <a:spAutoFit/>
          </a:bodyPr>
          <a:lstStyle/>
          <a:p>
            <a:r>
              <a:rPr sz="1055" b="0">
                <a:solidFill>
                  <a:srgbClr val="2E2E2E"/>
                </a:solidFill>
                <a:latin typeface="Calibri"/>
              </a:rPr>
              <a:t>▪ By Form, 'Liquid / Concentrate' leads at</a:t>
            </a:r>
          </a:p>
        </p:txBody>
      </p:sp>
      <p:pic>
        <p:nvPicPr>
          <p:cNvPr id="62" name="Picture 61" descr="lock.png"/>
          <p:cNvPicPr>
            <a:picLocks noChangeAspect="1"/>
          </p:cNvPicPr>
          <p:nvPr/>
        </p:nvPicPr>
        <p:blipFill>
          <a:blip r:embed="rId10"/>
          <a:stretch>
            <a:fillRect/>
          </a:stretch>
        </p:blipFill>
        <p:spPr>
          <a:xfrm>
            <a:off x="2522520" y="5676031"/>
            <a:ext cx="123551" cy="179710"/>
          </a:xfrm>
          <a:prstGeom prst="rect">
            <a:avLst/>
          </a:prstGeom>
        </p:spPr>
      </p:pic>
      <p:sp>
        <p:nvSpPr>
          <p:cNvPr id="63" name="TextBox 62"/>
          <p:cNvSpPr txBox="1"/>
          <p:nvPr/>
        </p:nvSpPr>
        <p:spPr>
          <a:xfrm>
            <a:off x="2683316" y="5685419"/>
            <a:ext cx="578596" cy="179984"/>
          </a:xfrm>
          <a:prstGeom prst="rect">
            <a:avLst/>
          </a:prstGeom>
          <a:noFill/>
        </p:spPr>
        <p:txBody>
          <a:bodyPr wrap="none" lIns="0" rIns="0" tIns="0" bIns="0">
            <a:spAutoFit/>
          </a:bodyPr>
          <a:lstStyle/>
          <a:p>
            <a:r>
              <a:rPr sz="1055" b="0">
                <a:solidFill>
                  <a:srgbClr val="2E2E2E"/>
                </a:solidFill>
                <a:latin typeface="Calibri"/>
              </a:rPr>
              <a:t>US$ Mn (</a:t>
            </a:r>
          </a:p>
        </p:txBody>
      </p:sp>
      <p:pic>
        <p:nvPicPr>
          <p:cNvPr id="64" name="Picture 63" descr="lock.png"/>
          <p:cNvPicPr>
            <a:picLocks noChangeAspect="1"/>
          </p:cNvPicPr>
          <p:nvPr/>
        </p:nvPicPr>
        <p:blipFill>
          <a:blip r:embed="rId10"/>
          <a:stretch>
            <a:fillRect/>
          </a:stretch>
        </p:blipFill>
        <p:spPr>
          <a:xfrm>
            <a:off x="3208994" y="5676031"/>
            <a:ext cx="123551" cy="179710"/>
          </a:xfrm>
          <a:prstGeom prst="rect">
            <a:avLst/>
          </a:prstGeom>
        </p:spPr>
      </p:pic>
      <p:sp>
        <p:nvSpPr>
          <p:cNvPr id="65" name="TextBox 64"/>
          <p:cNvSpPr txBox="1"/>
          <p:nvPr/>
        </p:nvSpPr>
        <p:spPr>
          <a:xfrm>
            <a:off x="3369790" y="5685419"/>
            <a:ext cx="1540168" cy="179984"/>
          </a:xfrm>
          <a:prstGeom prst="rect">
            <a:avLst/>
          </a:prstGeom>
          <a:noFill/>
        </p:spPr>
        <p:txBody>
          <a:bodyPr wrap="none" lIns="0" rIns="0" tIns="0" bIns="0">
            <a:spAutoFit/>
          </a:bodyPr>
          <a:lstStyle/>
          <a:p>
            <a:r>
              <a:rPr sz="1055" b="0">
                <a:solidFill>
                  <a:srgbClr val="2E2E2E"/>
                </a:solidFill>
                <a:latin typeface="Calibri"/>
              </a:rPr>
              <a:t>share), ahead of 'Powder' (</a:t>
            </a:r>
          </a:p>
        </p:txBody>
      </p:sp>
      <p:pic>
        <p:nvPicPr>
          <p:cNvPr id="66" name="Picture 65" descr="lock.png"/>
          <p:cNvPicPr>
            <a:picLocks noChangeAspect="1"/>
          </p:cNvPicPr>
          <p:nvPr/>
        </p:nvPicPr>
        <p:blipFill>
          <a:blip r:embed="rId10"/>
          <a:stretch>
            <a:fillRect/>
          </a:stretch>
        </p:blipFill>
        <p:spPr>
          <a:xfrm>
            <a:off x="4857040" y="5676031"/>
            <a:ext cx="123551" cy="179710"/>
          </a:xfrm>
          <a:prstGeom prst="rect">
            <a:avLst/>
          </a:prstGeom>
        </p:spPr>
      </p:pic>
      <p:sp>
        <p:nvSpPr>
          <p:cNvPr id="67" name="TextBox 66"/>
          <p:cNvSpPr txBox="1"/>
          <p:nvPr/>
        </p:nvSpPr>
        <p:spPr>
          <a:xfrm>
            <a:off x="5017836" y="5685419"/>
            <a:ext cx="582001" cy="179984"/>
          </a:xfrm>
          <a:prstGeom prst="rect">
            <a:avLst/>
          </a:prstGeom>
          <a:noFill/>
        </p:spPr>
        <p:txBody>
          <a:bodyPr wrap="none" lIns="0" rIns="0" tIns="0" bIns="0">
            <a:spAutoFit/>
          </a:bodyPr>
          <a:lstStyle/>
          <a:p>
            <a:r>
              <a:rPr sz="1055" b="0">
                <a:solidFill>
                  <a:srgbClr val="2E2E2E"/>
                </a:solidFill>
                <a:latin typeface="Calibri"/>
              </a:rPr>
              <a:t>US$ Mn).</a:t>
            </a:r>
          </a:p>
        </p:txBody>
      </p:sp>
      <p:sp>
        <p:nvSpPr>
          <p:cNvPr id="68" name="TextBox 67"/>
          <p:cNvSpPr txBox="1"/>
          <p:nvPr/>
        </p:nvSpPr>
        <p:spPr>
          <a:xfrm>
            <a:off x="276225" y="5894633"/>
            <a:ext cx="3594262" cy="179984"/>
          </a:xfrm>
          <a:prstGeom prst="rect">
            <a:avLst/>
          </a:prstGeom>
          <a:noFill/>
        </p:spPr>
        <p:txBody>
          <a:bodyPr wrap="none" lIns="0" rIns="0" tIns="0" bIns="0">
            <a:spAutoFit/>
          </a:bodyPr>
          <a:lstStyle/>
          <a:p>
            <a:r>
              <a:rPr sz="1055" b="0">
                <a:solidFill>
                  <a:srgbClr val="2E2E2E"/>
                </a:solidFill>
                <a:latin typeface="Calibri"/>
              </a:rPr>
              <a:t>▪ By Application, 'Dietary Supplements &amp; Nutraceuticals' leads at</a:t>
            </a:r>
          </a:p>
        </p:txBody>
      </p:sp>
      <p:pic>
        <p:nvPicPr>
          <p:cNvPr id="69" name="Picture 68" descr="lock.png"/>
          <p:cNvPicPr>
            <a:picLocks noChangeAspect="1"/>
          </p:cNvPicPr>
          <p:nvPr/>
        </p:nvPicPr>
        <p:blipFill>
          <a:blip r:embed="rId10"/>
          <a:stretch>
            <a:fillRect/>
          </a:stretch>
        </p:blipFill>
        <p:spPr>
          <a:xfrm>
            <a:off x="3817568" y="5885246"/>
            <a:ext cx="123551" cy="179710"/>
          </a:xfrm>
          <a:prstGeom prst="rect">
            <a:avLst/>
          </a:prstGeom>
        </p:spPr>
      </p:pic>
      <p:sp>
        <p:nvSpPr>
          <p:cNvPr id="70" name="TextBox 69"/>
          <p:cNvSpPr txBox="1"/>
          <p:nvPr/>
        </p:nvSpPr>
        <p:spPr>
          <a:xfrm>
            <a:off x="3978364" y="5894633"/>
            <a:ext cx="578596" cy="179984"/>
          </a:xfrm>
          <a:prstGeom prst="rect">
            <a:avLst/>
          </a:prstGeom>
          <a:noFill/>
        </p:spPr>
        <p:txBody>
          <a:bodyPr wrap="none" lIns="0" rIns="0" tIns="0" bIns="0">
            <a:spAutoFit/>
          </a:bodyPr>
          <a:lstStyle/>
          <a:p>
            <a:r>
              <a:rPr sz="1055" b="0">
                <a:solidFill>
                  <a:srgbClr val="2E2E2E"/>
                </a:solidFill>
                <a:latin typeface="Calibri"/>
              </a:rPr>
              <a:t>US$ Mn (</a:t>
            </a:r>
          </a:p>
        </p:txBody>
      </p:sp>
      <p:pic>
        <p:nvPicPr>
          <p:cNvPr id="71" name="Picture 70" descr="lock.png"/>
          <p:cNvPicPr>
            <a:picLocks noChangeAspect="1"/>
          </p:cNvPicPr>
          <p:nvPr/>
        </p:nvPicPr>
        <p:blipFill>
          <a:blip r:embed="rId10"/>
          <a:stretch>
            <a:fillRect/>
          </a:stretch>
        </p:blipFill>
        <p:spPr>
          <a:xfrm>
            <a:off x="4504042" y="5885246"/>
            <a:ext cx="123551" cy="179710"/>
          </a:xfrm>
          <a:prstGeom prst="rect">
            <a:avLst/>
          </a:prstGeom>
        </p:spPr>
      </p:pic>
      <p:sp>
        <p:nvSpPr>
          <p:cNvPr id="72" name="TextBox 71"/>
          <p:cNvSpPr txBox="1"/>
          <p:nvPr/>
        </p:nvSpPr>
        <p:spPr>
          <a:xfrm>
            <a:off x="4664838" y="5894633"/>
            <a:ext cx="2770751" cy="179984"/>
          </a:xfrm>
          <a:prstGeom prst="rect">
            <a:avLst/>
          </a:prstGeom>
          <a:noFill/>
        </p:spPr>
        <p:txBody>
          <a:bodyPr wrap="none" lIns="0" rIns="0" tIns="0" bIns="0">
            <a:spAutoFit/>
          </a:bodyPr>
          <a:lstStyle/>
          <a:p>
            <a:r>
              <a:rPr sz="1055" b="0">
                <a:solidFill>
                  <a:srgbClr val="2E2E2E"/>
                </a:solidFill>
                <a:latin typeface="Calibri"/>
              </a:rPr>
              <a:t>share), ahead of 'Pharmaceuticals &amp; Biomedical' (</a:t>
            </a:r>
          </a:p>
        </p:txBody>
      </p:sp>
      <p:pic>
        <p:nvPicPr>
          <p:cNvPr id="73" name="Picture 72" descr="lock.png"/>
          <p:cNvPicPr>
            <a:picLocks noChangeAspect="1"/>
          </p:cNvPicPr>
          <p:nvPr/>
        </p:nvPicPr>
        <p:blipFill>
          <a:blip r:embed="rId10"/>
          <a:stretch>
            <a:fillRect/>
          </a:stretch>
        </p:blipFill>
        <p:spPr>
          <a:xfrm>
            <a:off x="7382670" y="5885246"/>
            <a:ext cx="123551" cy="179710"/>
          </a:xfrm>
          <a:prstGeom prst="rect">
            <a:avLst/>
          </a:prstGeom>
        </p:spPr>
      </p:pic>
      <p:sp>
        <p:nvSpPr>
          <p:cNvPr id="74" name="TextBox 73"/>
          <p:cNvSpPr txBox="1"/>
          <p:nvPr/>
        </p:nvSpPr>
        <p:spPr>
          <a:xfrm>
            <a:off x="7543466" y="5894633"/>
            <a:ext cx="582001" cy="179984"/>
          </a:xfrm>
          <a:prstGeom prst="rect">
            <a:avLst/>
          </a:prstGeom>
          <a:noFill/>
        </p:spPr>
        <p:txBody>
          <a:bodyPr wrap="none" lIns="0" rIns="0" tIns="0" bIns="0">
            <a:spAutoFit/>
          </a:bodyPr>
          <a:lstStyle/>
          <a:p>
            <a:r>
              <a:rPr sz="1055" b="0">
                <a:solidFill>
                  <a:srgbClr val="2E2E2E"/>
                </a:solidFill>
                <a:latin typeface="Calibri"/>
              </a:rPr>
              <a:t>US$ Mn).</a:t>
            </a:r>
          </a:p>
        </p:txBody>
      </p:sp>
      <p:sp>
        <p:nvSpPr>
          <p:cNvPr id="75" name="TextBox 74"/>
          <p:cNvSpPr txBox="1"/>
          <p:nvPr/>
        </p:nvSpPr>
        <p:spPr>
          <a:xfrm>
            <a:off x="276225" y="6103848"/>
            <a:ext cx="1976012" cy="179984"/>
          </a:xfrm>
          <a:prstGeom prst="rect">
            <a:avLst/>
          </a:prstGeom>
          <a:noFill/>
        </p:spPr>
        <p:txBody>
          <a:bodyPr wrap="none" lIns="0" rIns="0" tIns="0" bIns="0">
            <a:spAutoFit/>
          </a:bodyPr>
          <a:lstStyle/>
          <a:p>
            <a:r>
              <a:rPr sz="1055" b="0">
                <a:solidFill>
                  <a:srgbClr val="2E2E2E"/>
                </a:solidFill>
                <a:latin typeface="Calibri"/>
              </a:rPr>
              <a:t>▪ By Sales Channel, 'Direct' leads at</a:t>
            </a:r>
          </a:p>
        </p:txBody>
      </p:sp>
      <p:pic>
        <p:nvPicPr>
          <p:cNvPr id="76" name="Picture 75" descr="lock.png"/>
          <p:cNvPicPr>
            <a:picLocks noChangeAspect="1"/>
          </p:cNvPicPr>
          <p:nvPr/>
        </p:nvPicPr>
        <p:blipFill>
          <a:blip r:embed="rId10"/>
          <a:stretch>
            <a:fillRect/>
          </a:stretch>
        </p:blipFill>
        <p:spPr>
          <a:xfrm>
            <a:off x="2199318" y="6094460"/>
            <a:ext cx="123551" cy="179710"/>
          </a:xfrm>
          <a:prstGeom prst="rect">
            <a:avLst/>
          </a:prstGeom>
        </p:spPr>
      </p:pic>
      <p:sp>
        <p:nvSpPr>
          <p:cNvPr id="77" name="TextBox 76"/>
          <p:cNvSpPr txBox="1"/>
          <p:nvPr/>
        </p:nvSpPr>
        <p:spPr>
          <a:xfrm>
            <a:off x="2360114" y="6103848"/>
            <a:ext cx="578596" cy="179984"/>
          </a:xfrm>
          <a:prstGeom prst="rect">
            <a:avLst/>
          </a:prstGeom>
          <a:noFill/>
        </p:spPr>
        <p:txBody>
          <a:bodyPr wrap="none" lIns="0" rIns="0" tIns="0" bIns="0">
            <a:spAutoFit/>
          </a:bodyPr>
          <a:lstStyle/>
          <a:p>
            <a:r>
              <a:rPr sz="1055" b="0">
                <a:solidFill>
                  <a:srgbClr val="2E2E2E"/>
                </a:solidFill>
                <a:latin typeface="Calibri"/>
              </a:rPr>
              <a:t>US$ Mn (</a:t>
            </a:r>
          </a:p>
        </p:txBody>
      </p:sp>
      <p:pic>
        <p:nvPicPr>
          <p:cNvPr id="78" name="Picture 77" descr="lock.png"/>
          <p:cNvPicPr>
            <a:picLocks noChangeAspect="1"/>
          </p:cNvPicPr>
          <p:nvPr/>
        </p:nvPicPr>
        <p:blipFill>
          <a:blip r:embed="rId10"/>
          <a:stretch>
            <a:fillRect/>
          </a:stretch>
        </p:blipFill>
        <p:spPr>
          <a:xfrm>
            <a:off x="2885792" y="6094460"/>
            <a:ext cx="123551" cy="179710"/>
          </a:xfrm>
          <a:prstGeom prst="rect">
            <a:avLst/>
          </a:prstGeom>
        </p:spPr>
      </p:pic>
      <p:sp>
        <p:nvSpPr>
          <p:cNvPr id="79" name="TextBox 78"/>
          <p:cNvSpPr txBox="1"/>
          <p:nvPr/>
        </p:nvSpPr>
        <p:spPr>
          <a:xfrm>
            <a:off x="3046588" y="6103848"/>
            <a:ext cx="2329910" cy="179984"/>
          </a:xfrm>
          <a:prstGeom prst="rect">
            <a:avLst/>
          </a:prstGeom>
          <a:noFill/>
        </p:spPr>
        <p:txBody>
          <a:bodyPr wrap="none" lIns="0" rIns="0" tIns="0" bIns="0">
            <a:spAutoFit/>
          </a:bodyPr>
          <a:lstStyle/>
          <a:p>
            <a:r>
              <a:rPr sz="1055" b="0">
                <a:solidFill>
                  <a:srgbClr val="2E2E2E"/>
                </a:solidFill>
                <a:latin typeface="Calibri"/>
              </a:rPr>
              <a:t>share), ahead of 'Distributors &amp; Traders' (</a:t>
            </a:r>
          </a:p>
        </p:txBody>
      </p:sp>
      <p:pic>
        <p:nvPicPr>
          <p:cNvPr id="80" name="Picture 79" descr="lock.png"/>
          <p:cNvPicPr>
            <a:picLocks noChangeAspect="1"/>
          </p:cNvPicPr>
          <p:nvPr/>
        </p:nvPicPr>
        <p:blipFill>
          <a:blip r:embed="rId10"/>
          <a:stretch>
            <a:fillRect/>
          </a:stretch>
        </p:blipFill>
        <p:spPr>
          <a:xfrm>
            <a:off x="5323580" y="6094460"/>
            <a:ext cx="123551" cy="179710"/>
          </a:xfrm>
          <a:prstGeom prst="rect">
            <a:avLst/>
          </a:prstGeom>
        </p:spPr>
      </p:pic>
      <p:sp>
        <p:nvSpPr>
          <p:cNvPr id="81" name="TextBox 80"/>
          <p:cNvSpPr txBox="1"/>
          <p:nvPr/>
        </p:nvSpPr>
        <p:spPr>
          <a:xfrm>
            <a:off x="5484376" y="6103848"/>
            <a:ext cx="582001" cy="179984"/>
          </a:xfrm>
          <a:prstGeom prst="rect">
            <a:avLst/>
          </a:prstGeom>
          <a:noFill/>
        </p:spPr>
        <p:txBody>
          <a:bodyPr wrap="none" lIns="0" rIns="0" tIns="0" bIns="0">
            <a:spAutoFit/>
          </a:bodyPr>
          <a:lstStyle/>
          <a:p>
            <a:r>
              <a:rPr sz="1055" b="0">
                <a:solidFill>
                  <a:srgbClr val="2E2E2E"/>
                </a:solidFill>
                <a:latin typeface="Calibri"/>
              </a:rPr>
              <a:t>US$ Mn).</a:t>
            </a:r>
          </a:p>
        </p:txBody>
      </p:sp>
      <p:sp>
        <p:nvSpPr>
          <p:cNvPr id="82" name="TextBox 81"/>
          <p:cNvSpPr txBox="1"/>
          <p:nvPr/>
        </p:nvSpPr>
        <p:spPr>
          <a:xfrm>
            <a:off x="276225" y="6313063"/>
            <a:ext cx="6413777" cy="179984"/>
          </a:xfrm>
          <a:prstGeom prst="rect">
            <a:avLst/>
          </a:prstGeom>
          <a:noFill/>
        </p:spPr>
        <p:txBody>
          <a:bodyPr wrap="none" lIns="0" rIns="0" tIns="0" bIns="0">
            <a:spAutoFit/>
          </a:bodyPr>
          <a:lstStyle/>
          <a:p>
            <a:r>
              <a:rPr sz="1055" b="0">
                <a:solidFill>
                  <a:srgbClr val="2E2E2E"/>
                </a:solidFill>
                <a:latin typeface="Calibri"/>
              </a:rPr>
              <a:t>▪ Use the Country slicer in the top band to switch country the selection stays synced across every page of the report.</a:t>
            </a:r>
          </a:p>
        </p:txBody>
      </p:sp>
      <p:sp>
        <p:nvSpPr>
          <p:cNvPr id="83" name="lockshield_9"/>
          <p:cNvSpPr/>
          <p:nvPr/>
        </p:nvSpPr>
        <p:spPr>
          <a:xfrm>
            <a:off x="238125" y="1266825"/>
            <a:ext cx="2667000" cy="13525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lockshield_12"/>
          <p:cNvSpPr/>
          <p:nvPr/>
        </p:nvSpPr>
        <p:spPr>
          <a:xfrm>
            <a:off x="3248025" y="1438275"/>
            <a:ext cx="2667000" cy="11811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lockshield_15"/>
          <p:cNvSpPr/>
          <p:nvPr/>
        </p:nvSpPr>
        <p:spPr>
          <a:xfrm>
            <a:off x="6257925" y="1266825"/>
            <a:ext cx="2667000" cy="13525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lockshield_18"/>
          <p:cNvSpPr/>
          <p:nvPr/>
        </p:nvSpPr>
        <p:spPr>
          <a:xfrm>
            <a:off x="9267825" y="1266825"/>
            <a:ext cx="2667000" cy="13525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lockshield_21"/>
          <p:cNvSpPr/>
          <p:nvPr/>
        </p:nvSpPr>
        <p:spPr>
          <a:xfrm>
            <a:off x="238125" y="3095625"/>
            <a:ext cx="2743200" cy="13525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lockshield_24"/>
          <p:cNvSpPr/>
          <p:nvPr/>
        </p:nvSpPr>
        <p:spPr>
          <a:xfrm>
            <a:off x="3324225" y="3095625"/>
            <a:ext cx="2743200" cy="13525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bg>
      <p:bgPr>
        <a:solidFill>
          <a:srgbClr val="F3F8FD"/>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3F8FD"/>
              </a:gs>
              <a:gs pos="100000">
                <a:srgbClr val="DCE9F6"/>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FE0F0">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9C8E6">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B7D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A5F8F"/>
              </a:gs>
              <a:gs pos="100000">
                <a:srgbClr val="6FA6D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MR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14</a:t>
            </a:r>
          </a:p>
        </p:txBody>
      </p:sp>
      <p:pic>
        <p:nvPicPr>
          <p:cNvPr id="8" name="Picture 7" descr="tmr_logo.png"/>
          <p:cNvPicPr>
            <a:picLocks noChangeAspect="1"/>
          </p:cNvPicPr>
          <p:nvPr/>
        </p:nvPicPr>
        <p:blipFill>
          <a:blip r:embed="rId2"/>
          <a:stretch>
            <a:fillRect/>
          </a:stretch>
        </p:blipFill>
        <p:spPr>
          <a:xfrm>
            <a:off x="411480" y="274320"/>
            <a:ext cx="1307592" cy="975505"/>
          </a:xfrm>
          <a:prstGeom prst="rect">
            <a:avLst/>
          </a:prstGeom>
        </p:spPr>
      </p:pic>
      <p:sp>
        <p:nvSpPr>
          <p:cNvPr id="9" name="TextBox 8"/>
          <p:cNvSpPr txBox="1"/>
          <p:nvPr/>
        </p:nvSpPr>
        <p:spPr>
          <a:xfrm>
            <a:off x="914400" y="2162175"/>
            <a:ext cx="8572500" cy="304800"/>
          </a:xfrm>
          <a:prstGeom prst="rect">
            <a:avLst/>
          </a:prstGeom>
          <a:noFill/>
        </p:spPr>
        <p:txBody>
          <a:bodyPr wrap="none" lIns="0" tIns="0">
            <a:spAutoFit/>
          </a:bodyPr>
          <a:lstStyle/>
          <a:p>
            <a:r>
              <a:rPr sz="1800" b="0">
                <a:solidFill>
                  <a:srgbClr val="2A5F8F"/>
                </a:solidFill>
                <a:latin typeface="Calibri"/>
              </a:rPr>
              <a:t>Egg Protein Membrane Market</a:t>
            </a:r>
          </a:p>
        </p:txBody>
      </p:sp>
      <p:sp>
        <p:nvSpPr>
          <p:cNvPr id="10" name="TMR Section Title"/>
          <p:cNvSpPr txBox="1"/>
          <p:nvPr/>
        </p:nvSpPr>
        <p:spPr>
          <a:xfrm>
            <a:off x="914400" y="2505075"/>
            <a:ext cx="8572500" cy="514350"/>
          </a:xfrm>
          <a:prstGeom prst="rect">
            <a:avLst/>
          </a:prstGeom>
          <a:noFill/>
        </p:spPr>
        <p:txBody>
          <a:bodyPr wrap="square" lIns="0" rIns="0" tIns="0">
            <a:spAutoFit/>
          </a:bodyPr>
          <a:lstStyle/>
          <a:p>
            <a:r>
              <a:rPr sz="3000" b="1">
                <a:solidFill>
                  <a:srgbClr val="0E2A5C"/>
                </a:solidFill>
                <a:latin typeface="Calibri"/>
              </a:rPr>
              <a:t>Segment Overview (Volume &amp; Value)</a:t>
            </a:r>
          </a:p>
        </p:txBody>
      </p:sp>
      <p:sp>
        <p:nvSpPr>
          <p:cNvPr id="11" name="TextBox 10"/>
          <p:cNvSpPr txBox="1"/>
          <p:nvPr/>
        </p:nvSpPr>
        <p:spPr>
          <a:xfrm>
            <a:off x="914400" y="3190875"/>
            <a:ext cx="8458200" cy="24574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Product Type</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Extraction / Processing Method</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Source</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Form</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Application</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Sales Channel</a:t>
            </a:r>
          </a:p>
        </p:txBody>
      </p:sp>
      <p:sp>
        <p:nvSpPr>
          <p:cNvPr id="12" name="Rectangle 11"/>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bg>
      <p:bgPr>
        <a:solidFill>
          <a:srgbClr val="F3F8FD"/>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3F8FD"/>
              </a:gs>
              <a:gs pos="100000">
                <a:srgbClr val="DCE9F6"/>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FE0F0">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9C8E6">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B7D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A5F8F"/>
              </a:gs>
              <a:gs pos="100000">
                <a:srgbClr val="6FA6D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MR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14.1</a:t>
            </a:r>
          </a:p>
        </p:txBody>
      </p:sp>
      <p:pic>
        <p:nvPicPr>
          <p:cNvPr id="8" name="Picture 7" descr="tmr_logo.png"/>
          <p:cNvPicPr>
            <a:picLocks noChangeAspect="1"/>
          </p:cNvPicPr>
          <p:nvPr/>
        </p:nvPicPr>
        <p:blipFill>
          <a:blip r:embed="rId2"/>
          <a:stretch>
            <a:fillRect/>
          </a:stretch>
        </p:blipFill>
        <p:spPr>
          <a:xfrm>
            <a:off x="411480" y="274320"/>
            <a:ext cx="1307592" cy="975505"/>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2A5F8F"/>
                </a:solidFill>
                <a:latin typeface="Calibri"/>
              </a:rPr>
              <a:t>Egg Protein Membrane Market</a:t>
            </a:r>
          </a:p>
        </p:txBody>
      </p:sp>
      <p:sp>
        <p:nvSpPr>
          <p:cNvPr id="10" name="TMR Section Title"/>
          <p:cNvSpPr txBox="1"/>
          <p:nvPr/>
        </p:nvSpPr>
        <p:spPr>
          <a:xfrm>
            <a:off x="914400" y="3095625"/>
            <a:ext cx="8572500" cy="514350"/>
          </a:xfrm>
          <a:prstGeom prst="rect">
            <a:avLst/>
          </a:prstGeom>
          <a:noFill/>
        </p:spPr>
        <p:txBody>
          <a:bodyPr wrap="square" lIns="0" rIns="0" tIns="0">
            <a:spAutoFit/>
          </a:bodyPr>
          <a:lstStyle/>
          <a:p>
            <a:r>
              <a:rPr sz="3000" b="1">
                <a:solidFill>
                  <a:srgbClr val="0E2A5C"/>
                </a:solidFill>
                <a:latin typeface="Calibri"/>
              </a:rPr>
              <a:t>Product Type</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Segmental</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Table (Volume &amp; Value)</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YoY</a:t>
            </a:r>
          </a:p>
        </p:txBody>
      </p:sp>
      <p:sp>
        <p:nvSpPr>
          <p:cNvPr id="12" name="Rectangle 11"/>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Egg Protein Membrane Market Segmental Analysis Product Type</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U.S. segmental analysis by Product Type: growth contribution, share variance and absolute $ opportunity</a:t>
            </a:r>
          </a:p>
        </p:txBody>
      </p:sp>
      <p:sp>
        <p:nvSpPr>
          <p:cNvPr id="7" name="Rounded Rectangle 6"/>
          <p:cNvSpPr/>
          <p:nvPr/>
        </p:nvSpPr>
        <p:spPr>
          <a:xfrm>
            <a:off x="142875" y="981075"/>
            <a:ext cx="5876925"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Growth Contribution 2026 → 2036, By Product Type (US$ Mn)</a:t>
            </a:r>
          </a:p>
        </p:txBody>
      </p:sp>
      <p:graphicFrame>
        <p:nvGraphicFramePr>
          <p:cNvPr id="9" name="Chart 8"/>
          <p:cNvGraphicFramePr>
            <a:graphicFrameLocks noGrp="1"/>
          </p:cNvGraphicFramePr>
          <p:nvPr/>
        </p:nvGraphicFramePr>
        <p:xfrm>
          <a:off x="238125" y="1266825"/>
          <a:ext cx="5686425" cy="2409825"/>
        </p:xfrm>
        <a:graphic>
          <a:graphicData uri="http://schemas.openxmlformats.org/drawingml/2006/chart">
            <c:chart xmlns:c="http://schemas.openxmlformats.org/drawingml/2006/chart" r:id="rId3"/>
          </a:graphicData>
        </a:graphic>
      </p:graphicFrame>
      <p:sp>
        <p:nvSpPr>
          <p:cNvPr id="10" name="Rounded Rectangle 9"/>
          <p:cNvSpPr/>
          <p:nvPr/>
        </p:nvSpPr>
        <p:spPr>
          <a:xfrm>
            <a:off x="6172200" y="981075"/>
            <a:ext cx="5876925"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67450"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Value Shares &amp; Variance, By Product Type</a:t>
            </a:r>
          </a:p>
        </p:txBody>
      </p:sp>
      <p:graphicFrame>
        <p:nvGraphicFramePr>
          <p:cNvPr id="12" name="Table 11"/>
          <p:cNvGraphicFramePr>
            <a:graphicFrameLocks noGrp="1"/>
          </p:cNvGraphicFramePr>
          <p:nvPr/>
        </p:nvGraphicFramePr>
        <p:xfrm>
          <a:off x="6181725" y="1238250"/>
          <a:ext cx="5857875" cy="2286000"/>
        </p:xfrm>
        <a:graphic>
          <a:graphicData uri="http://schemas.openxmlformats.org/drawingml/2006/table">
            <a:tbl>
              <a:tblPr>
                <a:tableStyleId>{5C22544A-7EE6-4342-B048-85BDC9FD1C3A}</a:tableStyleId>
              </a:tblPr>
              <a:tblGrid>
                <a:gridCol w="2505675"/>
                <a:gridCol w="842732"/>
                <a:gridCol w="842732"/>
                <a:gridCol w="1064279"/>
                <a:gridCol w="602457"/>
              </a:tblGrid>
              <a:tr h="246126">
                <a:tc>
                  <a:txBody>
                    <a:bodyPr wrap="none"/>
                    <a:lstStyle/>
                    <a:p>
                      <a:pPr algn="l"/>
                      <a:r>
                        <a:rPr sz="1100" b="1">
                          <a:solidFill>
                            <a:srgbClr val="0E2A5C"/>
                          </a:solidFill>
                          <a:latin typeface="Calibri"/>
                        </a:rPr>
                        <a:t>Product Type</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Share 2026</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Share 2036</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Variance (BPS)</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F-CAGR</a:t>
                      </a:r>
                      <a:endParaRPr sz="1100"/>
                    </a:p>
                  </a:txBody>
                  <a:tcPr marL="47625" marR="38100" marT="19050" marB="19050" anchor="ctr">
                    <a:solidFill>
                      <a:srgbClr val="EBF2F9"/>
                    </a:solidFill>
                  </a:tcPr>
                </a:tc>
              </a:tr>
              <a:tr h="679958">
                <a:tc>
                  <a:txBody>
                    <a:bodyPr wrap="none"/>
                    <a:lstStyle/>
                    <a:p>
                      <a:pPr algn="l"/>
                      <a:r>
                        <a:rPr sz="1100" b="1">
                          <a:solidFill>
                            <a:srgbClr val="2E2E2E"/>
                          </a:solidFill>
                          <a:latin typeface="Calibri"/>
                        </a:rPr>
                        <a:t>Micronized Eggshell Membrane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679958">
                <a:tc>
                  <a:txBody>
                    <a:bodyPr wrap="none"/>
                    <a:lstStyle/>
                    <a:p>
                      <a:pPr algn="l"/>
                      <a:r>
                        <a:rPr sz="1100" b="1">
                          <a:solidFill>
                            <a:srgbClr val="2E2E2E"/>
                          </a:solidFill>
                          <a:latin typeface="Calibri"/>
                        </a:rPr>
                        <a:t>Hydrolyzed Eggshell Membrane</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679958">
                <a:tc>
                  <a:txBody>
                    <a:bodyPr wrap="none"/>
                    <a:lstStyle/>
                    <a:p>
                      <a:pPr algn="l"/>
                      <a:r>
                        <a:rPr sz="1100" b="1">
                          <a:solidFill>
                            <a:srgbClr val="2E2E2E"/>
                          </a:solidFill>
                          <a:latin typeface="Calibri"/>
                        </a:rPr>
                        <a:t>Specialty Extracted Protein Fractions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bl>
          </a:graphicData>
        </a:graphic>
      </p:graphicFrame>
      <p:sp>
        <p:nvSpPr>
          <p:cNvPr id="13" name="TextBox 12"/>
          <p:cNvSpPr txBox="1"/>
          <p:nvPr/>
        </p:nvSpPr>
        <p:spPr>
          <a:xfrm>
            <a:off x="6248400" y="3533775"/>
            <a:ext cx="5724525"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14" name="Rounded Rectangle 13"/>
          <p:cNvSpPr/>
          <p:nvPr/>
        </p:nvSpPr>
        <p:spPr>
          <a:xfrm>
            <a:off x="142875" y="3867150"/>
            <a:ext cx="11906250"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8125" y="3924300"/>
            <a:ext cx="11520309"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Absolute $ Opportunity, By Product Type (US$ Mn), between 2026–2036</a:t>
            </a:r>
          </a:p>
        </p:txBody>
      </p:sp>
      <p:graphicFrame>
        <p:nvGraphicFramePr>
          <p:cNvPr id="16" name="Chart 15"/>
          <p:cNvGraphicFramePr>
            <a:graphicFrameLocks noGrp="1"/>
          </p:cNvGraphicFramePr>
          <p:nvPr/>
        </p:nvGraphicFramePr>
        <p:xfrm>
          <a:off x="238125" y="4152900"/>
          <a:ext cx="11520309" cy="2409825"/>
        </p:xfrm>
        <a:graphic>
          <a:graphicData uri="http://schemas.openxmlformats.org/drawingml/2006/chart">
            <c:chart xmlns:c="http://schemas.openxmlformats.org/drawingml/2006/chart" r:id="rId4"/>
          </a:graphicData>
        </a:graphic>
      </p:graphicFrame>
      <p:sp>
        <p:nvSpPr>
          <p:cNvPr id="21" name="Rectangle 20"/>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23" name="Picture 22" descr="lock.png"/>
          <p:cNvPicPr>
            <a:picLocks noChangeAspect="1"/>
          </p:cNvPicPr>
          <p:nvPr/>
        </p:nvPicPr>
        <p:blipFill>
          <a:blip r:embed="rId6"/>
          <a:stretch>
            <a:fillRect/>
          </a:stretch>
        </p:blipFill>
        <p:spPr>
          <a:xfrm>
            <a:off x="3094826" y="2237234"/>
            <a:ext cx="263506" cy="383281"/>
          </a:xfrm>
          <a:prstGeom prst="rect">
            <a:avLst/>
          </a:prstGeom>
        </p:spPr>
      </p:pic>
      <p:pic>
        <p:nvPicPr>
          <p:cNvPr id="24" name="Picture 23" descr="lock.png"/>
          <p:cNvPicPr>
            <a:picLocks noChangeAspect="1"/>
          </p:cNvPicPr>
          <p:nvPr/>
        </p:nvPicPr>
        <p:blipFill>
          <a:blip r:embed="rId6"/>
          <a:stretch>
            <a:fillRect/>
          </a:stretch>
        </p:blipFill>
        <p:spPr>
          <a:xfrm>
            <a:off x="10176810" y="2237613"/>
            <a:ext cx="366712" cy="533400"/>
          </a:xfrm>
          <a:prstGeom prst="rect">
            <a:avLst/>
          </a:prstGeom>
        </p:spPr>
      </p:pic>
      <p:pic>
        <p:nvPicPr>
          <p:cNvPr id="25" name="Picture 24" descr="lock.png"/>
          <p:cNvPicPr>
            <a:picLocks noChangeAspect="1"/>
          </p:cNvPicPr>
          <p:nvPr/>
        </p:nvPicPr>
        <p:blipFill>
          <a:blip r:embed="rId6"/>
          <a:stretch>
            <a:fillRect/>
          </a:stretch>
        </p:blipFill>
        <p:spPr>
          <a:xfrm>
            <a:off x="5964247" y="5123309"/>
            <a:ext cx="263506" cy="383281"/>
          </a:xfrm>
          <a:prstGeom prst="rect">
            <a:avLst/>
          </a:prstGeom>
        </p:spPr>
      </p:pic>
      <p:sp>
        <p:nvSpPr>
          <p:cNvPr id="27" name="lockshield_9"/>
          <p:cNvSpPr/>
          <p:nvPr/>
        </p:nvSpPr>
        <p:spPr>
          <a:xfrm>
            <a:off x="238125"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lockshield_16"/>
          <p:cNvSpPr/>
          <p:nvPr/>
        </p:nvSpPr>
        <p:spPr>
          <a:xfrm>
            <a:off x="238125" y="4152900"/>
            <a:ext cx="11520309"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Egg Protein Membrane Market Tables Product Type</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of the U.S. market by Product Type, 2021–2036</a:t>
            </a:r>
          </a:p>
        </p:txBody>
      </p:sp>
      <p:sp>
        <p:nvSpPr>
          <p:cNvPr id="11" name="Rounded Rectangle 10"/>
          <p:cNvSpPr/>
          <p:nvPr/>
        </p:nvSpPr>
        <p:spPr>
          <a:xfrm>
            <a:off x="142875" y="981075"/>
            <a:ext cx="11906250" cy="1704975"/>
          </a:xfrm>
          <a:prstGeom prst="roundRect">
            <a:avLst>
              <a:gd name="adj" fmla="val 446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U.S. Value, By Product Type (US$ Mn)</a:t>
            </a:r>
          </a:p>
        </p:txBody>
      </p:sp>
      <p:graphicFrame>
        <p:nvGraphicFramePr>
          <p:cNvPr id="13" name="Table 12"/>
          <p:cNvGraphicFramePr>
            <a:graphicFrameLocks noGrp="1"/>
          </p:cNvGraphicFramePr>
          <p:nvPr/>
        </p:nvGraphicFramePr>
        <p:xfrm>
          <a:off x="152400" y="1238250"/>
          <a:ext cx="11887199" cy="1238250"/>
        </p:xfrm>
        <a:graphic>
          <a:graphicData uri="http://schemas.openxmlformats.org/drawingml/2006/table">
            <a:tbl>
              <a:tblPr>
                <a:tableStyleId>{5C22544A-7EE6-4342-B048-85BDC9FD1C3A}</a:tableStyleId>
              </a:tblPr>
              <a:tblGrid>
                <a:gridCol w="2336582"/>
                <a:gridCol w="561801"/>
                <a:gridCol w="561801"/>
                <a:gridCol w="561801"/>
                <a:gridCol w="561801"/>
                <a:gridCol w="561801"/>
                <a:gridCol w="561801"/>
                <a:gridCol w="561801"/>
                <a:gridCol w="561801"/>
                <a:gridCol w="561801"/>
                <a:gridCol w="561801"/>
                <a:gridCol w="561801"/>
                <a:gridCol w="561801"/>
                <a:gridCol w="561801"/>
                <a:gridCol w="561801"/>
                <a:gridCol w="561801"/>
                <a:gridCol w="561801"/>
                <a:gridCol w="561801"/>
              </a:tblGrid>
              <a:tr h="246126">
                <a:tc>
                  <a:txBody>
                    <a:bodyPr wrap="none"/>
                    <a:lstStyle/>
                    <a:p>
                      <a:pPr algn="l"/>
                      <a:r>
                        <a:rPr sz="1100" b="1">
                          <a:solidFill>
                            <a:srgbClr val="0E2A5C"/>
                          </a:solidFill>
                          <a:latin typeface="Calibri"/>
                        </a:rPr>
                        <a:t>Product Type</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2021A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2022A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2023A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2024A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2025A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2026E</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2027F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2028F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2029F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2030F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2031F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2032F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2033F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2034F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2035F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2036F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F-CAGR</a:t>
                      </a:r>
                      <a:endParaRPr sz="1100"/>
                    </a:p>
                  </a:txBody>
                  <a:tcPr marL="47625" marR="38100" marT="19050" marB="19050" anchor="ctr">
                    <a:solidFill>
                      <a:srgbClr val="EBF2F9"/>
                    </a:solidFill>
                  </a:tcPr>
                </a:tc>
              </a:tr>
              <a:tr h="248031">
                <a:tc>
                  <a:txBody>
                    <a:bodyPr wrap="none"/>
                    <a:lstStyle/>
                    <a:p>
                      <a:pPr algn="l"/>
                      <a:r>
                        <a:rPr sz="1100" b="1">
                          <a:solidFill>
                            <a:srgbClr val="2E2E2E"/>
                          </a:solidFill>
                          <a:latin typeface="Calibri"/>
                        </a:rPr>
                        <a:t>Micronized Eggshell Membrane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8031">
                <a:tc>
                  <a:txBody>
                    <a:bodyPr wrap="none"/>
                    <a:lstStyle/>
                    <a:p>
                      <a:pPr algn="l"/>
                      <a:r>
                        <a:rPr sz="1100" b="1">
                          <a:solidFill>
                            <a:srgbClr val="2E2E2E"/>
                          </a:solidFill>
                          <a:latin typeface="Calibri"/>
                        </a:rPr>
                        <a:t>Hydrolyzed Eggshell Membrane</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8031">
                <a:tc>
                  <a:txBody>
                    <a:bodyPr wrap="none"/>
                    <a:lstStyle/>
                    <a:p>
                      <a:pPr algn="l"/>
                      <a:r>
                        <a:rPr sz="1100" b="1">
                          <a:solidFill>
                            <a:srgbClr val="2E2E2E"/>
                          </a:solidFill>
                          <a:latin typeface="Calibri"/>
                        </a:rPr>
                        <a:t>Specialty Extracted Protein Fractions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8031">
                <a:tc>
                  <a:txBody>
                    <a:bodyPr wrap="none"/>
                    <a:lstStyle/>
                    <a:p>
                      <a:pPr algn="l"/>
                      <a:r>
                        <a:rPr sz="1100" b="1">
                          <a:solidFill>
                            <a:srgbClr val="2E2E2E"/>
                          </a:solidFill>
                          <a:latin typeface="Calibri"/>
                        </a:rPr>
                        <a:t>Total</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r>
            </a:tbl>
          </a:graphicData>
        </a:graphic>
      </p:graphicFrame>
      <p:sp>
        <p:nvSpPr>
          <p:cNvPr id="14" name="TextBox 13"/>
          <p:cNvSpPr txBox="1"/>
          <p:nvPr/>
        </p:nvSpPr>
        <p:spPr>
          <a:xfrm>
            <a:off x="219075" y="248602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15" name="Rectangle 14"/>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8" name="Picture 17" descr="lock.png"/>
          <p:cNvPicPr>
            <a:picLocks noChangeAspect="1"/>
          </p:cNvPicPr>
          <p:nvPr/>
        </p:nvPicPr>
        <p:blipFill>
          <a:blip r:embed="rId4"/>
          <a:stretch>
            <a:fillRect/>
          </a:stretch>
        </p:blipFill>
        <p:spPr>
          <a:xfrm>
            <a:off x="7077600" y="1713737"/>
            <a:ext cx="366712" cy="533400"/>
          </a:xfrm>
          <a:prstGeom prst="rect">
            <a:avLst/>
          </a:prstGeom>
        </p:spPr>
      </p:pic>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bg>
      <p:bgPr>
        <a:solidFill>
          <a:srgbClr val="F3F8FD"/>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3F8FD"/>
              </a:gs>
              <a:gs pos="100000">
                <a:srgbClr val="DCE9F6"/>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FE0F0">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9C8E6">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B7D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A5F8F"/>
              </a:gs>
              <a:gs pos="100000">
                <a:srgbClr val="6FA6D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MR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14.2</a:t>
            </a:r>
          </a:p>
        </p:txBody>
      </p:sp>
      <p:pic>
        <p:nvPicPr>
          <p:cNvPr id="8" name="Picture 7" descr="tmr_logo.png"/>
          <p:cNvPicPr>
            <a:picLocks noChangeAspect="1"/>
          </p:cNvPicPr>
          <p:nvPr/>
        </p:nvPicPr>
        <p:blipFill>
          <a:blip r:embed="rId2"/>
          <a:stretch>
            <a:fillRect/>
          </a:stretch>
        </p:blipFill>
        <p:spPr>
          <a:xfrm>
            <a:off x="411480" y="274320"/>
            <a:ext cx="1307592" cy="975505"/>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2A5F8F"/>
                </a:solidFill>
                <a:latin typeface="Calibri"/>
              </a:rPr>
              <a:t>Egg Protein Membrane Market</a:t>
            </a:r>
          </a:p>
        </p:txBody>
      </p:sp>
      <p:sp>
        <p:nvSpPr>
          <p:cNvPr id="10" name="TMR Section Title"/>
          <p:cNvSpPr txBox="1"/>
          <p:nvPr/>
        </p:nvSpPr>
        <p:spPr>
          <a:xfrm>
            <a:off x="914400" y="3095625"/>
            <a:ext cx="8572500" cy="514350"/>
          </a:xfrm>
          <a:prstGeom prst="rect">
            <a:avLst/>
          </a:prstGeom>
          <a:noFill/>
        </p:spPr>
        <p:txBody>
          <a:bodyPr wrap="square" lIns="0" rIns="0" tIns="0">
            <a:spAutoFit/>
          </a:bodyPr>
          <a:lstStyle/>
          <a:p>
            <a:r>
              <a:rPr sz="3000" b="1">
                <a:solidFill>
                  <a:srgbClr val="0E2A5C"/>
                </a:solidFill>
                <a:latin typeface="Calibri"/>
              </a:rPr>
              <a:t>Extraction / Processing Method</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Segmental</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Table (Volume &amp; Value)</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YoY</a:t>
            </a:r>
          </a:p>
        </p:txBody>
      </p:sp>
      <p:sp>
        <p:nvSpPr>
          <p:cNvPr id="12" name="Rectangle 11"/>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Egg Protein Membrane Market Segmental Analysis Extraction / Processing Method</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U.S. segmental analysis by Extraction / Processing Method: growth contribution, share variance and absolute $ opportunity</a:t>
            </a:r>
          </a:p>
        </p:txBody>
      </p:sp>
      <p:sp>
        <p:nvSpPr>
          <p:cNvPr id="7" name="Rounded Rectangle 6"/>
          <p:cNvSpPr/>
          <p:nvPr/>
        </p:nvSpPr>
        <p:spPr>
          <a:xfrm>
            <a:off x="142875" y="981075"/>
            <a:ext cx="5876925"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Growth Contribution 2026 → 2036, By Extraction / Processing Method (US$ Mn)</a:t>
            </a:r>
          </a:p>
        </p:txBody>
      </p:sp>
      <p:graphicFrame>
        <p:nvGraphicFramePr>
          <p:cNvPr id="9" name="Chart 8"/>
          <p:cNvGraphicFramePr>
            <a:graphicFrameLocks noGrp="1"/>
          </p:cNvGraphicFramePr>
          <p:nvPr/>
        </p:nvGraphicFramePr>
        <p:xfrm>
          <a:off x="238125" y="1266825"/>
          <a:ext cx="5686425" cy="2409825"/>
        </p:xfrm>
        <a:graphic>
          <a:graphicData uri="http://schemas.openxmlformats.org/drawingml/2006/chart">
            <c:chart xmlns:c="http://schemas.openxmlformats.org/drawingml/2006/chart" r:id="rId3"/>
          </a:graphicData>
        </a:graphic>
      </p:graphicFrame>
      <p:sp>
        <p:nvSpPr>
          <p:cNvPr id="10" name="Rounded Rectangle 9"/>
          <p:cNvSpPr/>
          <p:nvPr/>
        </p:nvSpPr>
        <p:spPr>
          <a:xfrm>
            <a:off x="6172200" y="981075"/>
            <a:ext cx="5876925"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67450"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Value Shares &amp; Variance, By Extraction / Processing Method</a:t>
            </a:r>
          </a:p>
        </p:txBody>
      </p:sp>
      <p:graphicFrame>
        <p:nvGraphicFramePr>
          <p:cNvPr id="12" name="Table 11"/>
          <p:cNvGraphicFramePr>
            <a:graphicFrameLocks noGrp="1"/>
          </p:cNvGraphicFramePr>
          <p:nvPr/>
        </p:nvGraphicFramePr>
        <p:xfrm>
          <a:off x="6181725" y="1238250"/>
          <a:ext cx="5857874" cy="2285998"/>
        </p:xfrm>
        <a:graphic>
          <a:graphicData uri="http://schemas.openxmlformats.org/drawingml/2006/table">
            <a:tbl>
              <a:tblPr>
                <a:tableStyleId>{5C22544A-7EE6-4342-B048-85BDC9FD1C3A}</a:tableStyleId>
              </a:tblPr>
              <a:tblGrid>
                <a:gridCol w="2615022"/>
                <a:gridCol w="815242"/>
                <a:gridCol w="815242"/>
                <a:gridCol w="1029563"/>
                <a:gridCol w="582805"/>
              </a:tblGrid>
              <a:tr h="246126">
                <a:tc>
                  <a:txBody>
                    <a:bodyPr wrap="none"/>
                    <a:lstStyle/>
                    <a:p>
                      <a:pPr algn="l"/>
                      <a:r>
                        <a:rPr sz="1100" b="1">
                          <a:solidFill>
                            <a:srgbClr val="0E2A5C"/>
                          </a:solidFill>
                          <a:latin typeface="Calibri"/>
                        </a:rPr>
                        <a:t>Extraction / Processing Method</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Share 2026</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Share 2036</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Variance (BPS)</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F-CAGR</a:t>
                      </a:r>
                      <a:endParaRPr sz="1100"/>
                    </a:p>
                  </a:txBody>
                  <a:tcPr marL="47625" marR="38100" marT="19050" marB="19050" anchor="ctr">
                    <a:solidFill>
                      <a:srgbClr val="EBF2F9"/>
                    </a:solidFill>
                  </a:tcPr>
                </a:tc>
              </a:tr>
              <a:tr h="509968">
                <a:tc>
                  <a:txBody>
                    <a:bodyPr wrap="none"/>
                    <a:lstStyle/>
                    <a:p>
                      <a:pPr algn="l"/>
                      <a:r>
                        <a:rPr sz="1100" b="1">
                          <a:solidFill>
                            <a:srgbClr val="2E2E2E"/>
                          </a:solidFill>
                          <a:latin typeface="Calibri"/>
                        </a:rPr>
                        <a:t>Mechanical Separation &amp; Micronization</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509968">
                <a:tc>
                  <a:txBody>
                    <a:bodyPr wrap="none"/>
                    <a:lstStyle/>
                    <a:p>
                      <a:pPr algn="l"/>
                      <a:r>
                        <a:rPr sz="1100" b="1">
                          <a:solidFill>
                            <a:srgbClr val="2E2E2E"/>
                          </a:solidFill>
                          <a:latin typeface="Calibri"/>
                        </a:rPr>
                        <a:t>Enzymatic Hydrolysis</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509968">
                <a:tc>
                  <a:txBody>
                    <a:bodyPr wrap="none"/>
                    <a:lstStyle/>
                    <a:p>
                      <a:pPr algn="l"/>
                      <a:r>
                        <a:rPr sz="1100" b="1">
                          <a:solidFill>
                            <a:srgbClr val="2E2E2E"/>
                          </a:solidFill>
                          <a:latin typeface="Calibri"/>
                        </a:rPr>
                        <a:t>Chemical Hydrolysis / Solubilization</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509968">
                <a:tc>
                  <a:txBody>
                    <a:bodyPr wrap="none"/>
                    <a:lstStyle/>
                    <a:p>
                      <a:pPr algn="l"/>
                      <a:r>
                        <a:rPr sz="1100" b="1">
                          <a:solidFill>
                            <a:srgbClr val="2E2E2E"/>
                          </a:solidFill>
                          <a:latin typeface="Calibri"/>
                        </a:rPr>
                        <a:t>Other / Hybrid Processing Methods</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bl>
          </a:graphicData>
        </a:graphic>
      </p:graphicFrame>
      <p:sp>
        <p:nvSpPr>
          <p:cNvPr id="13" name="TextBox 12"/>
          <p:cNvSpPr txBox="1"/>
          <p:nvPr/>
        </p:nvSpPr>
        <p:spPr>
          <a:xfrm>
            <a:off x="6248400" y="3533775"/>
            <a:ext cx="5724525"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14" name="Rounded Rectangle 13"/>
          <p:cNvSpPr/>
          <p:nvPr/>
        </p:nvSpPr>
        <p:spPr>
          <a:xfrm>
            <a:off x="142875" y="3867150"/>
            <a:ext cx="11906250"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8125" y="3924300"/>
            <a:ext cx="11520309"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Absolute $ Opportunity, By Extraction / Processing Method (US$ Mn), between 2026–2036</a:t>
            </a:r>
          </a:p>
        </p:txBody>
      </p:sp>
      <p:graphicFrame>
        <p:nvGraphicFramePr>
          <p:cNvPr id="16" name="Chart 15"/>
          <p:cNvGraphicFramePr>
            <a:graphicFrameLocks noGrp="1"/>
          </p:cNvGraphicFramePr>
          <p:nvPr/>
        </p:nvGraphicFramePr>
        <p:xfrm>
          <a:off x="238125" y="4324350"/>
          <a:ext cx="11520309" cy="2238375"/>
        </p:xfrm>
        <a:graphic>
          <a:graphicData uri="http://schemas.openxmlformats.org/drawingml/2006/chart">
            <c:chart xmlns:c="http://schemas.openxmlformats.org/drawingml/2006/chart" r:id="rId4"/>
          </a:graphicData>
        </a:graphic>
      </p:graphicFrame>
      <p:sp>
        <p:nvSpPr>
          <p:cNvPr id="21" name="Rectangle 20"/>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23" name="Picture 22" descr="lock.png"/>
          <p:cNvPicPr>
            <a:picLocks noChangeAspect="1"/>
          </p:cNvPicPr>
          <p:nvPr/>
        </p:nvPicPr>
        <p:blipFill>
          <a:blip r:embed="rId6"/>
          <a:stretch>
            <a:fillRect/>
          </a:stretch>
        </p:blipFill>
        <p:spPr>
          <a:xfrm>
            <a:off x="3094826" y="2237234"/>
            <a:ext cx="263506" cy="383281"/>
          </a:xfrm>
          <a:prstGeom prst="rect">
            <a:avLst/>
          </a:prstGeom>
        </p:spPr>
      </p:pic>
      <p:pic>
        <p:nvPicPr>
          <p:cNvPr id="24" name="Picture 23" descr="lock.png"/>
          <p:cNvPicPr>
            <a:picLocks noChangeAspect="1"/>
          </p:cNvPicPr>
          <p:nvPr/>
        </p:nvPicPr>
        <p:blipFill>
          <a:blip r:embed="rId6"/>
          <a:stretch>
            <a:fillRect/>
          </a:stretch>
        </p:blipFill>
        <p:spPr>
          <a:xfrm>
            <a:off x="10231834" y="2238113"/>
            <a:ext cx="366022" cy="532396"/>
          </a:xfrm>
          <a:prstGeom prst="rect">
            <a:avLst/>
          </a:prstGeom>
        </p:spPr>
      </p:pic>
      <p:pic>
        <p:nvPicPr>
          <p:cNvPr id="25" name="Picture 24" descr="lock.png"/>
          <p:cNvPicPr>
            <a:picLocks noChangeAspect="1"/>
          </p:cNvPicPr>
          <p:nvPr/>
        </p:nvPicPr>
        <p:blipFill>
          <a:blip r:embed="rId6"/>
          <a:stretch>
            <a:fillRect/>
          </a:stretch>
        </p:blipFill>
        <p:spPr>
          <a:xfrm>
            <a:off x="5969555" y="5216754"/>
            <a:ext cx="252890" cy="367840"/>
          </a:xfrm>
          <a:prstGeom prst="rect">
            <a:avLst/>
          </a:prstGeom>
        </p:spPr>
      </p:pic>
      <p:sp>
        <p:nvSpPr>
          <p:cNvPr id="27" name="lockshield_9"/>
          <p:cNvSpPr/>
          <p:nvPr/>
        </p:nvSpPr>
        <p:spPr>
          <a:xfrm>
            <a:off x="238125"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lockshield_16"/>
          <p:cNvSpPr/>
          <p:nvPr/>
        </p:nvSpPr>
        <p:spPr>
          <a:xfrm>
            <a:off x="238125" y="4324350"/>
            <a:ext cx="11520309"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Egg Protein Membrane Market Tables Extraction / Processing Method</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of the U.S. market by Extraction / Processing Method, 2021–2036</a:t>
            </a:r>
          </a:p>
        </p:txBody>
      </p:sp>
      <p:sp>
        <p:nvSpPr>
          <p:cNvPr id="11" name="Rounded Rectangle 10"/>
          <p:cNvSpPr/>
          <p:nvPr/>
        </p:nvSpPr>
        <p:spPr>
          <a:xfrm>
            <a:off x="142875" y="981075"/>
            <a:ext cx="11906250" cy="1952625"/>
          </a:xfrm>
          <a:prstGeom prst="roundRect">
            <a:avLst>
              <a:gd name="adj" fmla="val 3902"/>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U.S. Value, By Extraction / Processing Method (US$ Mn)</a:t>
            </a:r>
          </a:p>
        </p:txBody>
      </p:sp>
      <p:graphicFrame>
        <p:nvGraphicFramePr>
          <p:cNvPr id="13" name="Table 12"/>
          <p:cNvGraphicFramePr>
            <a:graphicFrameLocks noGrp="1"/>
          </p:cNvGraphicFramePr>
          <p:nvPr/>
        </p:nvGraphicFramePr>
        <p:xfrm>
          <a:off x="152400" y="1238250"/>
          <a:ext cx="11887198" cy="1485896"/>
        </p:xfrm>
        <a:graphic>
          <a:graphicData uri="http://schemas.openxmlformats.org/drawingml/2006/table">
            <a:tbl>
              <a:tblPr>
                <a:tableStyleId>{5C22544A-7EE6-4342-B048-85BDC9FD1C3A}</a:tableStyleId>
              </a:tblPr>
              <a:tblGrid>
                <a:gridCol w="2786073"/>
                <a:gridCol w="546691"/>
                <a:gridCol w="546691"/>
                <a:gridCol w="546691"/>
                <a:gridCol w="546691"/>
                <a:gridCol w="546691"/>
                <a:gridCol w="527433"/>
                <a:gridCol w="521931"/>
                <a:gridCol w="521931"/>
                <a:gridCol w="521931"/>
                <a:gridCol w="521931"/>
                <a:gridCol w="521931"/>
                <a:gridCol w="521931"/>
                <a:gridCol w="521931"/>
                <a:gridCol w="521931"/>
                <a:gridCol w="521931"/>
                <a:gridCol w="521931"/>
                <a:gridCol w="620927"/>
              </a:tblGrid>
              <a:tr h="246126">
                <a:tc>
                  <a:txBody>
                    <a:bodyPr wrap="none"/>
                    <a:lstStyle/>
                    <a:p>
                      <a:pPr algn="l"/>
                      <a:r>
                        <a:rPr sz="1100" b="1">
                          <a:solidFill>
                            <a:srgbClr val="0E2A5C"/>
                          </a:solidFill>
                          <a:latin typeface="Calibri"/>
                        </a:rPr>
                        <a:t>Extraction / Processing Method</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2021A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2022A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2023A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2024A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2025A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2026E</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2027F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2028F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2029F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2030F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2031F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2032F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2033F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2034F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2035F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2036F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F-CAGR</a:t>
                      </a:r>
                      <a:endParaRPr sz="1100"/>
                    </a:p>
                  </a:txBody>
                  <a:tcPr marL="47625" marR="38100" marT="19050" marB="19050" anchor="ctr">
                    <a:solidFill>
                      <a:srgbClr val="EBF2F9"/>
                    </a:solidFill>
                  </a:tcPr>
                </a:tc>
              </a:tr>
              <a:tr h="247954">
                <a:tc>
                  <a:txBody>
                    <a:bodyPr wrap="none"/>
                    <a:lstStyle/>
                    <a:p>
                      <a:pPr algn="l"/>
                      <a:r>
                        <a:rPr sz="1100" b="1">
                          <a:solidFill>
                            <a:srgbClr val="2E2E2E"/>
                          </a:solidFill>
                          <a:latin typeface="Calibri"/>
                        </a:rPr>
                        <a:t>Mechanical Separation &amp; Micronization</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954">
                <a:tc>
                  <a:txBody>
                    <a:bodyPr wrap="none"/>
                    <a:lstStyle/>
                    <a:p>
                      <a:pPr algn="l"/>
                      <a:r>
                        <a:rPr sz="1100" b="1">
                          <a:solidFill>
                            <a:srgbClr val="2E2E2E"/>
                          </a:solidFill>
                          <a:latin typeface="Calibri"/>
                        </a:rPr>
                        <a:t>Enzymatic Hydrolysis</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7954">
                <a:tc>
                  <a:txBody>
                    <a:bodyPr wrap="none"/>
                    <a:lstStyle/>
                    <a:p>
                      <a:pPr algn="l"/>
                      <a:r>
                        <a:rPr sz="1100" b="1">
                          <a:solidFill>
                            <a:srgbClr val="2E2E2E"/>
                          </a:solidFill>
                          <a:latin typeface="Calibri"/>
                        </a:rPr>
                        <a:t>Chemical Hydrolysis / Solubilization</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954">
                <a:tc>
                  <a:txBody>
                    <a:bodyPr wrap="none"/>
                    <a:lstStyle/>
                    <a:p>
                      <a:pPr algn="l"/>
                      <a:r>
                        <a:rPr sz="1100" b="1">
                          <a:solidFill>
                            <a:srgbClr val="2E2E2E"/>
                          </a:solidFill>
                          <a:latin typeface="Calibri"/>
                        </a:rPr>
                        <a:t>Other / Hybrid Processing Methods</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7954">
                <a:tc>
                  <a:txBody>
                    <a:bodyPr wrap="none"/>
                    <a:lstStyle/>
                    <a:p>
                      <a:pPr algn="l"/>
                      <a:r>
                        <a:rPr sz="1100" b="1">
                          <a:solidFill>
                            <a:srgbClr val="2E2E2E"/>
                          </a:solidFill>
                          <a:latin typeface="Calibri"/>
                        </a:rPr>
                        <a:t>Total</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r>
            </a:tbl>
          </a:graphicData>
        </a:graphic>
      </p:graphicFrame>
      <p:sp>
        <p:nvSpPr>
          <p:cNvPr id="14" name="TextBox 13"/>
          <p:cNvSpPr txBox="1"/>
          <p:nvPr/>
        </p:nvSpPr>
        <p:spPr>
          <a:xfrm>
            <a:off x="219075" y="273367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15" name="Rectangle 14"/>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8" name="Picture 17" descr="lock.png"/>
          <p:cNvPicPr>
            <a:picLocks noChangeAspect="1"/>
          </p:cNvPicPr>
          <p:nvPr/>
        </p:nvPicPr>
        <p:blipFill>
          <a:blip r:embed="rId4"/>
          <a:stretch>
            <a:fillRect/>
          </a:stretch>
        </p:blipFill>
        <p:spPr>
          <a:xfrm>
            <a:off x="7302345" y="1837563"/>
            <a:ext cx="366712" cy="533400"/>
          </a:xfrm>
          <a:prstGeom prst="rect">
            <a:avLst/>
          </a:prstGeom>
        </p:spPr>
      </p:pic>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bg>
      <p:bgPr>
        <a:solidFill>
          <a:srgbClr val="F3F8FD"/>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3F8FD"/>
              </a:gs>
              <a:gs pos="100000">
                <a:srgbClr val="DCE9F6"/>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FE0F0">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9C8E6">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B7D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A5F8F"/>
              </a:gs>
              <a:gs pos="100000">
                <a:srgbClr val="6FA6D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MR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14.3</a:t>
            </a:r>
          </a:p>
        </p:txBody>
      </p:sp>
      <p:pic>
        <p:nvPicPr>
          <p:cNvPr id="8" name="Picture 7" descr="tmr_logo.png"/>
          <p:cNvPicPr>
            <a:picLocks noChangeAspect="1"/>
          </p:cNvPicPr>
          <p:nvPr/>
        </p:nvPicPr>
        <p:blipFill>
          <a:blip r:embed="rId2"/>
          <a:stretch>
            <a:fillRect/>
          </a:stretch>
        </p:blipFill>
        <p:spPr>
          <a:xfrm>
            <a:off x="411480" y="274320"/>
            <a:ext cx="1307592" cy="975505"/>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2A5F8F"/>
                </a:solidFill>
                <a:latin typeface="Calibri"/>
              </a:rPr>
              <a:t>Egg Protein Membrane Market</a:t>
            </a:r>
          </a:p>
        </p:txBody>
      </p:sp>
      <p:sp>
        <p:nvSpPr>
          <p:cNvPr id="10" name="TMR Section Title"/>
          <p:cNvSpPr txBox="1"/>
          <p:nvPr/>
        </p:nvSpPr>
        <p:spPr>
          <a:xfrm>
            <a:off x="914400" y="3095625"/>
            <a:ext cx="8572500" cy="514350"/>
          </a:xfrm>
          <a:prstGeom prst="rect">
            <a:avLst/>
          </a:prstGeom>
          <a:noFill/>
        </p:spPr>
        <p:txBody>
          <a:bodyPr wrap="square" lIns="0" rIns="0" tIns="0">
            <a:spAutoFit/>
          </a:bodyPr>
          <a:lstStyle/>
          <a:p>
            <a:r>
              <a:rPr sz="3000" b="1">
                <a:solidFill>
                  <a:srgbClr val="0E2A5C"/>
                </a:solidFill>
                <a:latin typeface="Calibri"/>
              </a:rPr>
              <a:t>Source</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Segmental</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Table (Volume &amp; Value)</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YoY</a:t>
            </a:r>
          </a:p>
        </p:txBody>
      </p:sp>
      <p:sp>
        <p:nvSpPr>
          <p:cNvPr id="12" name="Rectangle 11"/>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Egg Protein Membrane Market Segmental Analysis Source</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U.S. segmental analysis by Source: growth contribution, share variance and absolute $ opportunity</a:t>
            </a:r>
          </a:p>
        </p:txBody>
      </p:sp>
      <p:sp>
        <p:nvSpPr>
          <p:cNvPr id="7" name="Rounded Rectangle 6"/>
          <p:cNvSpPr/>
          <p:nvPr/>
        </p:nvSpPr>
        <p:spPr>
          <a:xfrm>
            <a:off x="142875" y="981075"/>
            <a:ext cx="5876925"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Growth Contribution 2026 → 2036, By Source (US$ Mn)</a:t>
            </a:r>
          </a:p>
        </p:txBody>
      </p:sp>
      <p:graphicFrame>
        <p:nvGraphicFramePr>
          <p:cNvPr id="9" name="Chart 8"/>
          <p:cNvGraphicFramePr>
            <a:graphicFrameLocks noGrp="1"/>
          </p:cNvGraphicFramePr>
          <p:nvPr/>
        </p:nvGraphicFramePr>
        <p:xfrm>
          <a:off x="238125" y="1266825"/>
          <a:ext cx="5686425" cy="2409825"/>
        </p:xfrm>
        <a:graphic>
          <a:graphicData uri="http://schemas.openxmlformats.org/drawingml/2006/chart">
            <c:chart xmlns:c="http://schemas.openxmlformats.org/drawingml/2006/chart" r:id="rId3"/>
          </a:graphicData>
        </a:graphic>
      </p:graphicFrame>
      <p:sp>
        <p:nvSpPr>
          <p:cNvPr id="10" name="Rounded Rectangle 9"/>
          <p:cNvSpPr/>
          <p:nvPr/>
        </p:nvSpPr>
        <p:spPr>
          <a:xfrm>
            <a:off x="6172200" y="981075"/>
            <a:ext cx="5876925"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67450"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Value Shares &amp; Variance, By Source</a:t>
            </a:r>
          </a:p>
        </p:txBody>
      </p:sp>
      <p:graphicFrame>
        <p:nvGraphicFramePr>
          <p:cNvPr id="12" name="Table 11"/>
          <p:cNvGraphicFramePr>
            <a:graphicFrameLocks noGrp="1"/>
          </p:cNvGraphicFramePr>
          <p:nvPr/>
        </p:nvGraphicFramePr>
        <p:xfrm>
          <a:off x="6181725" y="1238250"/>
          <a:ext cx="5857875" cy="2286000"/>
        </p:xfrm>
        <a:graphic>
          <a:graphicData uri="http://schemas.openxmlformats.org/drawingml/2006/table">
            <a:tbl>
              <a:tblPr>
                <a:tableStyleId>{5C22544A-7EE6-4342-B048-85BDC9FD1C3A}</a:tableStyleId>
              </a:tblPr>
              <a:tblGrid>
                <a:gridCol w="2406599"/>
                <a:gridCol w="867639"/>
                <a:gridCol w="867639"/>
                <a:gridCol w="1095735"/>
                <a:gridCol w="620263"/>
              </a:tblGrid>
              <a:tr h="246126">
                <a:tc>
                  <a:txBody>
                    <a:bodyPr wrap="none"/>
                    <a:lstStyle/>
                    <a:p>
                      <a:pPr algn="l"/>
                      <a:r>
                        <a:rPr sz="1100" b="1">
                          <a:solidFill>
                            <a:srgbClr val="0E2A5C"/>
                          </a:solidFill>
                          <a:latin typeface="Calibri"/>
                        </a:rPr>
                        <a:t>Source</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Share 2026</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Share 2036</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Variance (BPS)</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F-CAGR</a:t>
                      </a:r>
                      <a:endParaRPr sz="1100"/>
                    </a:p>
                  </a:txBody>
                  <a:tcPr marL="47625" marR="38100" marT="19050" marB="19050" anchor="ctr">
                    <a:solidFill>
                      <a:srgbClr val="EBF2F9"/>
                    </a:solidFill>
                  </a:tcPr>
                </a:tc>
              </a:tr>
              <a:tr h="1019937">
                <a:tc>
                  <a:txBody>
                    <a:bodyPr wrap="none"/>
                    <a:lstStyle/>
                    <a:p>
                      <a:pPr algn="l"/>
                      <a:r>
                        <a:rPr sz="1100" b="1">
                          <a:solidFill>
                            <a:srgbClr val="2E2E2E"/>
                          </a:solidFill>
                          <a:latin typeface="Calibri"/>
                        </a:rPr>
                        <a:t>Chicken Eggshell Membrane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1019937">
                <a:tc>
                  <a:txBody>
                    <a:bodyPr wrap="none"/>
                    <a:lstStyle/>
                    <a:p>
                      <a:pPr algn="l"/>
                      <a:r>
                        <a:rPr sz="1100" b="1">
                          <a:solidFill>
                            <a:srgbClr val="2E2E2E"/>
                          </a:solidFill>
                          <a:latin typeface="Calibri"/>
                        </a:rPr>
                        <a:t>Other Poultry Eggshell Membrane</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bl>
          </a:graphicData>
        </a:graphic>
      </p:graphicFrame>
      <p:sp>
        <p:nvSpPr>
          <p:cNvPr id="13" name="TextBox 12"/>
          <p:cNvSpPr txBox="1"/>
          <p:nvPr/>
        </p:nvSpPr>
        <p:spPr>
          <a:xfrm>
            <a:off x="6248400" y="3533775"/>
            <a:ext cx="5724525"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14" name="Rounded Rectangle 13"/>
          <p:cNvSpPr/>
          <p:nvPr/>
        </p:nvSpPr>
        <p:spPr>
          <a:xfrm>
            <a:off x="142875" y="3867150"/>
            <a:ext cx="11906250"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8125" y="3924300"/>
            <a:ext cx="11520309"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Absolute $ Opportunity, By Source (US$ Mn), between 2026–2036</a:t>
            </a:r>
          </a:p>
        </p:txBody>
      </p:sp>
      <p:graphicFrame>
        <p:nvGraphicFramePr>
          <p:cNvPr id="16" name="Chart 15"/>
          <p:cNvGraphicFramePr>
            <a:graphicFrameLocks noGrp="1"/>
          </p:cNvGraphicFramePr>
          <p:nvPr/>
        </p:nvGraphicFramePr>
        <p:xfrm>
          <a:off x="238125" y="4152900"/>
          <a:ext cx="11520309" cy="2409825"/>
        </p:xfrm>
        <a:graphic>
          <a:graphicData uri="http://schemas.openxmlformats.org/drawingml/2006/chart">
            <c:chart xmlns:c="http://schemas.openxmlformats.org/drawingml/2006/chart" r:id="rId4"/>
          </a:graphicData>
        </a:graphic>
      </p:graphicFrame>
      <p:sp>
        <p:nvSpPr>
          <p:cNvPr id="21" name="Rectangle 20"/>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23" name="Picture 22" descr="lock.png"/>
          <p:cNvPicPr>
            <a:picLocks noChangeAspect="1"/>
          </p:cNvPicPr>
          <p:nvPr/>
        </p:nvPicPr>
        <p:blipFill>
          <a:blip r:embed="rId6"/>
          <a:stretch>
            <a:fillRect/>
          </a:stretch>
        </p:blipFill>
        <p:spPr>
          <a:xfrm>
            <a:off x="3094826" y="2237234"/>
            <a:ext cx="263506" cy="383281"/>
          </a:xfrm>
          <a:prstGeom prst="rect">
            <a:avLst/>
          </a:prstGeom>
        </p:spPr>
      </p:pic>
      <p:pic>
        <p:nvPicPr>
          <p:cNvPr id="24" name="Picture 23" descr="lock.png"/>
          <p:cNvPicPr>
            <a:picLocks noChangeAspect="1"/>
          </p:cNvPicPr>
          <p:nvPr/>
        </p:nvPicPr>
        <p:blipFill>
          <a:blip r:embed="rId6"/>
          <a:stretch>
            <a:fillRect/>
          </a:stretch>
        </p:blipFill>
        <p:spPr>
          <a:xfrm>
            <a:off x="10127272" y="2237613"/>
            <a:ext cx="366712" cy="533400"/>
          </a:xfrm>
          <a:prstGeom prst="rect">
            <a:avLst/>
          </a:prstGeom>
        </p:spPr>
      </p:pic>
      <p:pic>
        <p:nvPicPr>
          <p:cNvPr id="25" name="Picture 24" descr="lock.png"/>
          <p:cNvPicPr>
            <a:picLocks noChangeAspect="1"/>
          </p:cNvPicPr>
          <p:nvPr/>
        </p:nvPicPr>
        <p:blipFill>
          <a:blip r:embed="rId6"/>
          <a:stretch>
            <a:fillRect/>
          </a:stretch>
        </p:blipFill>
        <p:spPr>
          <a:xfrm>
            <a:off x="5964247" y="5123309"/>
            <a:ext cx="263506" cy="383281"/>
          </a:xfrm>
          <a:prstGeom prst="rect">
            <a:avLst/>
          </a:prstGeom>
        </p:spPr>
      </p:pic>
      <p:sp>
        <p:nvSpPr>
          <p:cNvPr id="27" name="lockshield_9"/>
          <p:cNvSpPr/>
          <p:nvPr/>
        </p:nvSpPr>
        <p:spPr>
          <a:xfrm>
            <a:off x="238125"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lockshield_16"/>
          <p:cNvSpPr/>
          <p:nvPr/>
        </p:nvSpPr>
        <p:spPr>
          <a:xfrm>
            <a:off x="238125" y="4152900"/>
            <a:ext cx="11520309"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Egg Protein Membrane Market Tables Source</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of the U.S. market by Source, 2021–2036</a:t>
            </a:r>
          </a:p>
        </p:txBody>
      </p:sp>
      <p:sp>
        <p:nvSpPr>
          <p:cNvPr id="11" name="Rounded Rectangle 10"/>
          <p:cNvSpPr/>
          <p:nvPr/>
        </p:nvSpPr>
        <p:spPr>
          <a:xfrm>
            <a:off x="142875" y="981075"/>
            <a:ext cx="11906250" cy="1457325"/>
          </a:xfrm>
          <a:prstGeom prst="roundRect">
            <a:avLst>
              <a:gd name="adj" fmla="val 522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U.S. Value, By Source (US$ Mn)</a:t>
            </a:r>
          </a:p>
        </p:txBody>
      </p:sp>
      <p:graphicFrame>
        <p:nvGraphicFramePr>
          <p:cNvPr id="13" name="Table 12"/>
          <p:cNvGraphicFramePr>
            <a:graphicFrameLocks noGrp="1"/>
          </p:cNvGraphicFramePr>
          <p:nvPr/>
        </p:nvGraphicFramePr>
        <p:xfrm>
          <a:off x="152400" y="1238250"/>
          <a:ext cx="11887194" cy="990600"/>
        </p:xfrm>
        <a:graphic>
          <a:graphicData uri="http://schemas.openxmlformats.org/drawingml/2006/table">
            <a:tbl>
              <a:tblPr>
                <a:tableStyleId>{5C22544A-7EE6-4342-B048-85BDC9FD1C3A}</a:tableStyleId>
              </a:tblPr>
              <a:tblGrid>
                <a:gridCol w="2208907"/>
                <a:gridCol w="569311"/>
                <a:gridCol w="569311"/>
                <a:gridCol w="569311"/>
                <a:gridCol w="569311"/>
                <a:gridCol w="569311"/>
                <a:gridCol w="569311"/>
                <a:gridCol w="569311"/>
                <a:gridCol w="569311"/>
                <a:gridCol w="569311"/>
                <a:gridCol w="569311"/>
                <a:gridCol w="569311"/>
                <a:gridCol w="569311"/>
                <a:gridCol w="569311"/>
                <a:gridCol w="569311"/>
                <a:gridCol w="569311"/>
                <a:gridCol w="569311"/>
                <a:gridCol w="569311"/>
              </a:tblGrid>
              <a:tr h="246126">
                <a:tc>
                  <a:txBody>
                    <a:bodyPr wrap="none"/>
                    <a:lstStyle/>
                    <a:p>
                      <a:pPr algn="l"/>
                      <a:r>
                        <a:rPr sz="1100" b="1">
                          <a:solidFill>
                            <a:srgbClr val="0E2A5C"/>
                          </a:solidFill>
                          <a:latin typeface="Calibri"/>
                        </a:rPr>
                        <a:t>Source</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2021A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2022A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2023A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2024A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2025A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2026E</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2027F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2028F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2029F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2030F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2031F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2032F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2033F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2034F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2035F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2036F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F-CAGR</a:t>
                      </a:r>
                      <a:endParaRPr sz="1100"/>
                    </a:p>
                  </a:txBody>
                  <a:tcPr marL="47625" marR="38100" marT="19050" marB="19050" anchor="ctr">
                    <a:solidFill>
                      <a:srgbClr val="EBF2F9"/>
                    </a:solidFill>
                  </a:tcPr>
                </a:tc>
              </a:tr>
              <a:tr h="248158">
                <a:tc>
                  <a:txBody>
                    <a:bodyPr wrap="none"/>
                    <a:lstStyle/>
                    <a:p>
                      <a:pPr algn="l"/>
                      <a:r>
                        <a:rPr sz="1100" b="1">
                          <a:solidFill>
                            <a:srgbClr val="2E2E2E"/>
                          </a:solidFill>
                          <a:latin typeface="Calibri"/>
                        </a:rPr>
                        <a:t>Chicken Eggshell Membrane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8158">
                <a:tc>
                  <a:txBody>
                    <a:bodyPr wrap="none"/>
                    <a:lstStyle/>
                    <a:p>
                      <a:pPr algn="l"/>
                      <a:r>
                        <a:rPr sz="1100" b="1">
                          <a:solidFill>
                            <a:srgbClr val="2E2E2E"/>
                          </a:solidFill>
                          <a:latin typeface="Calibri"/>
                        </a:rPr>
                        <a:t>Other Poultry Eggshell Membrane</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8158">
                <a:tc>
                  <a:txBody>
                    <a:bodyPr wrap="none"/>
                    <a:lstStyle/>
                    <a:p>
                      <a:pPr algn="l"/>
                      <a:r>
                        <a:rPr sz="1100" b="1">
                          <a:solidFill>
                            <a:srgbClr val="2E2E2E"/>
                          </a:solidFill>
                          <a:latin typeface="Calibri"/>
                        </a:rPr>
                        <a:t>Total</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r>
            </a:tbl>
          </a:graphicData>
        </a:graphic>
      </p:graphicFrame>
      <p:sp>
        <p:nvSpPr>
          <p:cNvPr id="14" name="TextBox 13"/>
          <p:cNvSpPr txBox="1"/>
          <p:nvPr/>
        </p:nvSpPr>
        <p:spPr>
          <a:xfrm>
            <a:off x="219075" y="223837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15" name="Rectangle 14"/>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8" name="Picture 17" descr="lock.png"/>
          <p:cNvPicPr>
            <a:picLocks noChangeAspect="1"/>
          </p:cNvPicPr>
          <p:nvPr/>
        </p:nvPicPr>
        <p:blipFill>
          <a:blip r:embed="rId4"/>
          <a:stretch>
            <a:fillRect/>
          </a:stretch>
        </p:blipFill>
        <p:spPr>
          <a:xfrm>
            <a:off x="7013760" y="1589912"/>
            <a:ext cx="366712" cy="533400"/>
          </a:xfrm>
          <a:prstGeom prst="rect">
            <a:avLst/>
          </a:prstGeom>
        </p:spPr>
      </p:pic>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bg>
      <p:bgPr>
        <a:solidFill>
          <a:srgbClr val="F3F8FD"/>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3F8FD"/>
              </a:gs>
              <a:gs pos="100000">
                <a:srgbClr val="DCE9F6"/>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FE0F0">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9C8E6">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B7D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A5F8F"/>
              </a:gs>
              <a:gs pos="100000">
                <a:srgbClr val="6FA6D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MR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14.4</a:t>
            </a:r>
          </a:p>
        </p:txBody>
      </p:sp>
      <p:pic>
        <p:nvPicPr>
          <p:cNvPr id="8" name="Picture 7" descr="tmr_logo.png"/>
          <p:cNvPicPr>
            <a:picLocks noChangeAspect="1"/>
          </p:cNvPicPr>
          <p:nvPr/>
        </p:nvPicPr>
        <p:blipFill>
          <a:blip r:embed="rId2"/>
          <a:stretch>
            <a:fillRect/>
          </a:stretch>
        </p:blipFill>
        <p:spPr>
          <a:xfrm>
            <a:off x="411480" y="274320"/>
            <a:ext cx="1307592" cy="975505"/>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2A5F8F"/>
                </a:solidFill>
                <a:latin typeface="Calibri"/>
              </a:rPr>
              <a:t>Egg Protein Membrane Market</a:t>
            </a:r>
          </a:p>
        </p:txBody>
      </p:sp>
      <p:sp>
        <p:nvSpPr>
          <p:cNvPr id="10" name="TMR Section Title"/>
          <p:cNvSpPr txBox="1"/>
          <p:nvPr/>
        </p:nvSpPr>
        <p:spPr>
          <a:xfrm>
            <a:off x="914400" y="3095625"/>
            <a:ext cx="8572500" cy="514350"/>
          </a:xfrm>
          <a:prstGeom prst="rect">
            <a:avLst/>
          </a:prstGeom>
          <a:noFill/>
        </p:spPr>
        <p:txBody>
          <a:bodyPr wrap="square" lIns="0" rIns="0" tIns="0">
            <a:spAutoFit/>
          </a:bodyPr>
          <a:lstStyle/>
          <a:p>
            <a:r>
              <a:rPr sz="3000" b="1">
                <a:solidFill>
                  <a:srgbClr val="0E2A5C"/>
                </a:solidFill>
                <a:latin typeface="Calibri"/>
              </a:rPr>
              <a:t>Form</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Segmental</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Table (Volume &amp; Value)</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YoY</a:t>
            </a:r>
          </a:p>
        </p:txBody>
      </p:sp>
      <p:sp>
        <p:nvSpPr>
          <p:cNvPr id="12" name="Rectangle 11"/>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Egg Protein Membrane Market Segmental Analysis Form</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U.S. segmental analysis by Form: growth contribution, share variance and absolute $ opportunity</a:t>
            </a:r>
          </a:p>
        </p:txBody>
      </p:sp>
      <p:sp>
        <p:nvSpPr>
          <p:cNvPr id="7" name="Rounded Rectangle 6"/>
          <p:cNvSpPr/>
          <p:nvPr/>
        </p:nvSpPr>
        <p:spPr>
          <a:xfrm>
            <a:off x="142875" y="981075"/>
            <a:ext cx="5876925"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Growth Contribution 2026 → 2036, By Form (US$ Mn)</a:t>
            </a:r>
          </a:p>
        </p:txBody>
      </p:sp>
      <p:graphicFrame>
        <p:nvGraphicFramePr>
          <p:cNvPr id="9" name="Chart 8"/>
          <p:cNvGraphicFramePr>
            <a:graphicFrameLocks noGrp="1"/>
          </p:cNvGraphicFramePr>
          <p:nvPr/>
        </p:nvGraphicFramePr>
        <p:xfrm>
          <a:off x="238125" y="1266825"/>
          <a:ext cx="5686425" cy="2409825"/>
        </p:xfrm>
        <a:graphic>
          <a:graphicData uri="http://schemas.openxmlformats.org/drawingml/2006/chart">
            <c:chart xmlns:c="http://schemas.openxmlformats.org/drawingml/2006/chart" r:id="rId3"/>
          </a:graphicData>
        </a:graphic>
      </p:graphicFrame>
      <p:sp>
        <p:nvSpPr>
          <p:cNvPr id="10" name="Rounded Rectangle 9"/>
          <p:cNvSpPr/>
          <p:nvPr/>
        </p:nvSpPr>
        <p:spPr>
          <a:xfrm>
            <a:off x="6172200" y="981075"/>
            <a:ext cx="5876925"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67450"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Value Shares &amp; Variance, By Form</a:t>
            </a:r>
          </a:p>
        </p:txBody>
      </p:sp>
      <p:graphicFrame>
        <p:nvGraphicFramePr>
          <p:cNvPr id="12" name="Table 11"/>
          <p:cNvGraphicFramePr>
            <a:graphicFrameLocks noGrp="1"/>
          </p:cNvGraphicFramePr>
          <p:nvPr/>
        </p:nvGraphicFramePr>
        <p:xfrm>
          <a:off x="6181725" y="1238250"/>
          <a:ext cx="5857875" cy="2286000"/>
        </p:xfrm>
        <a:graphic>
          <a:graphicData uri="http://schemas.openxmlformats.org/drawingml/2006/table">
            <a:tbl>
              <a:tblPr>
                <a:tableStyleId>{5C22544A-7EE6-4342-B048-85BDC9FD1C3A}</a:tableStyleId>
              </a:tblPr>
              <a:tblGrid>
                <a:gridCol w="1491355"/>
                <a:gridCol w="1091630"/>
                <a:gridCol w="1091630"/>
                <a:gridCol w="1091630"/>
                <a:gridCol w="1091630"/>
              </a:tblGrid>
              <a:tr h="246126">
                <a:tc>
                  <a:txBody>
                    <a:bodyPr wrap="none"/>
                    <a:lstStyle/>
                    <a:p>
                      <a:pPr algn="l"/>
                      <a:r>
                        <a:rPr sz="1100" b="1">
                          <a:solidFill>
                            <a:srgbClr val="0E2A5C"/>
                          </a:solidFill>
                          <a:latin typeface="Calibri"/>
                        </a:rPr>
                        <a:t>Form</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Share 2026</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Share 2036</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Variance (BPS)</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F-CAGR</a:t>
                      </a:r>
                      <a:endParaRPr sz="1100"/>
                    </a:p>
                  </a:txBody>
                  <a:tcPr marL="47625" marR="38100" marT="19050" marB="19050" anchor="ctr">
                    <a:solidFill>
                      <a:srgbClr val="EBF2F9"/>
                    </a:solidFill>
                  </a:tcPr>
                </a:tc>
              </a:tr>
              <a:tr h="1019937">
                <a:tc>
                  <a:txBody>
                    <a:bodyPr wrap="none"/>
                    <a:lstStyle/>
                    <a:p>
                      <a:pPr algn="l"/>
                      <a:r>
                        <a:rPr sz="1100" b="1">
                          <a:solidFill>
                            <a:srgbClr val="2E2E2E"/>
                          </a:solidFill>
                          <a:latin typeface="Calibri"/>
                        </a:rPr>
                        <a:t>Powder</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1019937">
                <a:tc>
                  <a:txBody>
                    <a:bodyPr wrap="none"/>
                    <a:lstStyle/>
                    <a:p>
                      <a:pPr algn="l"/>
                      <a:r>
                        <a:rPr sz="1100" b="1">
                          <a:solidFill>
                            <a:srgbClr val="2E2E2E"/>
                          </a:solidFill>
                          <a:latin typeface="Calibri"/>
                        </a:rPr>
                        <a:t>Liquid / Concentrate</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bl>
          </a:graphicData>
        </a:graphic>
      </p:graphicFrame>
      <p:sp>
        <p:nvSpPr>
          <p:cNvPr id="13" name="TextBox 12"/>
          <p:cNvSpPr txBox="1"/>
          <p:nvPr/>
        </p:nvSpPr>
        <p:spPr>
          <a:xfrm>
            <a:off x="6248400" y="3533775"/>
            <a:ext cx="5724525"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14" name="Rounded Rectangle 13"/>
          <p:cNvSpPr/>
          <p:nvPr/>
        </p:nvSpPr>
        <p:spPr>
          <a:xfrm>
            <a:off x="142875" y="3867150"/>
            <a:ext cx="11906250"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8125" y="3924300"/>
            <a:ext cx="11520309"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Absolute $ Opportunity, By Form (US$ Mn), between 2026–2036</a:t>
            </a:r>
          </a:p>
        </p:txBody>
      </p:sp>
      <p:graphicFrame>
        <p:nvGraphicFramePr>
          <p:cNvPr id="16" name="Chart 15"/>
          <p:cNvGraphicFramePr>
            <a:graphicFrameLocks noGrp="1"/>
          </p:cNvGraphicFramePr>
          <p:nvPr/>
        </p:nvGraphicFramePr>
        <p:xfrm>
          <a:off x="238125" y="4152900"/>
          <a:ext cx="11520309" cy="2409825"/>
        </p:xfrm>
        <a:graphic>
          <a:graphicData uri="http://schemas.openxmlformats.org/drawingml/2006/chart">
            <c:chart xmlns:c="http://schemas.openxmlformats.org/drawingml/2006/chart" r:id="rId4"/>
          </a:graphicData>
        </a:graphic>
      </p:graphicFrame>
      <p:sp>
        <p:nvSpPr>
          <p:cNvPr id="21" name="Rectangle 20"/>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23" name="Picture 22" descr="lock.png"/>
          <p:cNvPicPr>
            <a:picLocks noChangeAspect="1"/>
          </p:cNvPicPr>
          <p:nvPr/>
        </p:nvPicPr>
        <p:blipFill>
          <a:blip r:embed="rId6"/>
          <a:stretch>
            <a:fillRect/>
          </a:stretch>
        </p:blipFill>
        <p:spPr>
          <a:xfrm>
            <a:off x="3094826" y="2237234"/>
            <a:ext cx="263506" cy="383281"/>
          </a:xfrm>
          <a:prstGeom prst="rect">
            <a:avLst/>
          </a:prstGeom>
        </p:spPr>
      </p:pic>
      <p:pic>
        <p:nvPicPr>
          <p:cNvPr id="24" name="Picture 23" descr="lock.png"/>
          <p:cNvPicPr>
            <a:picLocks noChangeAspect="1"/>
          </p:cNvPicPr>
          <p:nvPr/>
        </p:nvPicPr>
        <p:blipFill>
          <a:blip r:embed="rId6"/>
          <a:stretch>
            <a:fillRect/>
          </a:stretch>
        </p:blipFill>
        <p:spPr>
          <a:xfrm>
            <a:off x="9669650" y="2237613"/>
            <a:ext cx="366712" cy="533400"/>
          </a:xfrm>
          <a:prstGeom prst="rect">
            <a:avLst/>
          </a:prstGeom>
        </p:spPr>
      </p:pic>
      <p:pic>
        <p:nvPicPr>
          <p:cNvPr id="25" name="Picture 24" descr="lock.png"/>
          <p:cNvPicPr>
            <a:picLocks noChangeAspect="1"/>
          </p:cNvPicPr>
          <p:nvPr/>
        </p:nvPicPr>
        <p:blipFill>
          <a:blip r:embed="rId6"/>
          <a:stretch>
            <a:fillRect/>
          </a:stretch>
        </p:blipFill>
        <p:spPr>
          <a:xfrm>
            <a:off x="5964247" y="5123309"/>
            <a:ext cx="263506" cy="383281"/>
          </a:xfrm>
          <a:prstGeom prst="rect">
            <a:avLst/>
          </a:prstGeom>
        </p:spPr>
      </p:pic>
      <p:sp>
        <p:nvSpPr>
          <p:cNvPr id="27" name="lockshield_9"/>
          <p:cNvSpPr/>
          <p:nvPr/>
        </p:nvSpPr>
        <p:spPr>
          <a:xfrm>
            <a:off x="238125"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lockshield_16"/>
          <p:cNvSpPr/>
          <p:nvPr/>
        </p:nvSpPr>
        <p:spPr>
          <a:xfrm>
            <a:off x="238125" y="4152900"/>
            <a:ext cx="11520309"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Egg Protein Membrane Market Tables Form</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of the U.S. market by Form, 2021–2036</a:t>
            </a:r>
          </a:p>
        </p:txBody>
      </p:sp>
      <p:sp>
        <p:nvSpPr>
          <p:cNvPr id="11" name="Rounded Rectangle 10"/>
          <p:cNvSpPr/>
          <p:nvPr/>
        </p:nvSpPr>
        <p:spPr>
          <a:xfrm>
            <a:off x="142875" y="981075"/>
            <a:ext cx="11906250" cy="1457325"/>
          </a:xfrm>
          <a:prstGeom prst="roundRect">
            <a:avLst>
              <a:gd name="adj" fmla="val 522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U.S. Value, By Form (US$ Mn)</a:t>
            </a:r>
          </a:p>
        </p:txBody>
      </p:sp>
      <p:graphicFrame>
        <p:nvGraphicFramePr>
          <p:cNvPr id="13" name="Table 12"/>
          <p:cNvGraphicFramePr>
            <a:graphicFrameLocks noGrp="1"/>
          </p:cNvGraphicFramePr>
          <p:nvPr/>
        </p:nvGraphicFramePr>
        <p:xfrm>
          <a:off x="152400" y="1238250"/>
          <a:ext cx="11887195" cy="990600"/>
        </p:xfrm>
        <a:graphic>
          <a:graphicData uri="http://schemas.openxmlformats.org/drawingml/2006/table">
            <a:tbl>
              <a:tblPr>
                <a:tableStyleId>{5C22544A-7EE6-4342-B048-85BDC9FD1C3A}</a:tableStyleId>
              </a:tblPr>
              <a:tblGrid>
                <a:gridCol w="1477789"/>
                <a:gridCol w="612318"/>
                <a:gridCol w="612318"/>
                <a:gridCol w="612318"/>
                <a:gridCol w="612318"/>
                <a:gridCol w="612318"/>
                <a:gridCol w="612318"/>
                <a:gridCol w="612318"/>
                <a:gridCol w="612318"/>
                <a:gridCol w="612318"/>
                <a:gridCol w="612318"/>
                <a:gridCol w="612318"/>
                <a:gridCol w="612318"/>
                <a:gridCol w="612318"/>
                <a:gridCol w="612318"/>
                <a:gridCol w="612318"/>
                <a:gridCol w="612318"/>
                <a:gridCol w="612318"/>
              </a:tblGrid>
              <a:tr h="246126">
                <a:tc>
                  <a:txBody>
                    <a:bodyPr wrap="none"/>
                    <a:lstStyle/>
                    <a:p>
                      <a:pPr algn="l"/>
                      <a:r>
                        <a:rPr sz="1100" b="1">
                          <a:solidFill>
                            <a:srgbClr val="0E2A5C"/>
                          </a:solidFill>
                          <a:latin typeface="Calibri"/>
                        </a:rPr>
                        <a:t>Form</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2021A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2022A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2023A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2024A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2025A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2026E</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2027F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2028F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2029F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2030F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2031F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2032F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2033F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2034F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2035F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2036F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F-CAGR</a:t>
                      </a:r>
                      <a:endParaRPr sz="1100"/>
                    </a:p>
                  </a:txBody>
                  <a:tcPr marL="47625" marR="38100" marT="19050" marB="19050" anchor="ctr">
                    <a:solidFill>
                      <a:srgbClr val="EBF2F9"/>
                    </a:solidFill>
                  </a:tcPr>
                </a:tc>
              </a:tr>
              <a:tr h="248158">
                <a:tc>
                  <a:txBody>
                    <a:bodyPr wrap="none"/>
                    <a:lstStyle/>
                    <a:p>
                      <a:pPr algn="l"/>
                      <a:r>
                        <a:rPr sz="1100" b="1">
                          <a:solidFill>
                            <a:srgbClr val="2E2E2E"/>
                          </a:solidFill>
                          <a:latin typeface="Calibri"/>
                        </a:rPr>
                        <a:t>Powder</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8158">
                <a:tc>
                  <a:txBody>
                    <a:bodyPr wrap="none"/>
                    <a:lstStyle/>
                    <a:p>
                      <a:pPr algn="l"/>
                      <a:r>
                        <a:rPr sz="1100" b="1">
                          <a:solidFill>
                            <a:srgbClr val="2E2E2E"/>
                          </a:solidFill>
                          <a:latin typeface="Calibri"/>
                        </a:rPr>
                        <a:t>Liquid / Concentrate</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8158">
                <a:tc>
                  <a:txBody>
                    <a:bodyPr wrap="none"/>
                    <a:lstStyle/>
                    <a:p>
                      <a:pPr algn="l"/>
                      <a:r>
                        <a:rPr sz="1100" b="1">
                          <a:solidFill>
                            <a:srgbClr val="2E2E2E"/>
                          </a:solidFill>
                          <a:latin typeface="Calibri"/>
                        </a:rPr>
                        <a:t>Total</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r>
            </a:tbl>
          </a:graphicData>
        </a:graphic>
      </p:graphicFrame>
      <p:sp>
        <p:nvSpPr>
          <p:cNvPr id="14" name="TextBox 13"/>
          <p:cNvSpPr txBox="1"/>
          <p:nvPr/>
        </p:nvSpPr>
        <p:spPr>
          <a:xfrm>
            <a:off x="219075" y="223837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15" name="Rectangle 14"/>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8" name="Picture 17" descr="lock.png"/>
          <p:cNvPicPr>
            <a:picLocks noChangeAspect="1"/>
          </p:cNvPicPr>
          <p:nvPr/>
        </p:nvPicPr>
        <p:blipFill>
          <a:blip r:embed="rId4"/>
          <a:stretch>
            <a:fillRect/>
          </a:stretch>
        </p:blipFill>
        <p:spPr>
          <a:xfrm>
            <a:off x="6648202" y="1589912"/>
            <a:ext cx="366712" cy="533400"/>
          </a:xfrm>
          <a:prstGeom prst="rect">
            <a:avLst/>
          </a:prstGeom>
        </p:spPr>
      </p:pic>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bg>
      <p:bgPr>
        <a:solidFill>
          <a:srgbClr val="F3F8FD"/>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3F8FD"/>
              </a:gs>
              <a:gs pos="100000">
                <a:srgbClr val="DCE9F6"/>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FE0F0">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9C8E6">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B7D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A5F8F"/>
              </a:gs>
              <a:gs pos="100000">
                <a:srgbClr val="6FA6D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MR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14.5</a:t>
            </a:r>
          </a:p>
        </p:txBody>
      </p:sp>
      <p:pic>
        <p:nvPicPr>
          <p:cNvPr id="8" name="Picture 7" descr="tmr_logo.png"/>
          <p:cNvPicPr>
            <a:picLocks noChangeAspect="1"/>
          </p:cNvPicPr>
          <p:nvPr/>
        </p:nvPicPr>
        <p:blipFill>
          <a:blip r:embed="rId2"/>
          <a:stretch>
            <a:fillRect/>
          </a:stretch>
        </p:blipFill>
        <p:spPr>
          <a:xfrm>
            <a:off x="411480" y="274320"/>
            <a:ext cx="1307592" cy="975505"/>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2A5F8F"/>
                </a:solidFill>
                <a:latin typeface="Calibri"/>
              </a:rPr>
              <a:t>Egg Protein Membrane Market</a:t>
            </a:r>
          </a:p>
        </p:txBody>
      </p:sp>
      <p:sp>
        <p:nvSpPr>
          <p:cNvPr id="10" name="TMR Section Title"/>
          <p:cNvSpPr txBox="1"/>
          <p:nvPr/>
        </p:nvSpPr>
        <p:spPr>
          <a:xfrm>
            <a:off x="914400" y="3095625"/>
            <a:ext cx="8572500" cy="514350"/>
          </a:xfrm>
          <a:prstGeom prst="rect">
            <a:avLst/>
          </a:prstGeom>
          <a:noFill/>
        </p:spPr>
        <p:txBody>
          <a:bodyPr wrap="square" lIns="0" rIns="0" tIns="0">
            <a:spAutoFit/>
          </a:bodyPr>
          <a:lstStyle/>
          <a:p>
            <a:r>
              <a:rPr sz="3000" b="1">
                <a:solidFill>
                  <a:srgbClr val="0E2A5C"/>
                </a:solidFill>
                <a:latin typeface="Calibri"/>
              </a:rPr>
              <a:t>Application</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Segmental</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Table (Volume &amp; Value)</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YoY</a:t>
            </a:r>
          </a:p>
        </p:txBody>
      </p:sp>
      <p:sp>
        <p:nvSpPr>
          <p:cNvPr id="12" name="Rectangle 11"/>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Egg Protein Membrane Market Segmental Analysis Application</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U.S. segmental analysis by Application: growth contribution, share variance and absolute $ opportunity</a:t>
            </a:r>
          </a:p>
        </p:txBody>
      </p:sp>
      <p:sp>
        <p:nvSpPr>
          <p:cNvPr id="7" name="Rounded Rectangle 6"/>
          <p:cNvSpPr/>
          <p:nvPr/>
        </p:nvSpPr>
        <p:spPr>
          <a:xfrm>
            <a:off x="142875" y="981075"/>
            <a:ext cx="5876925"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Growth Contribution 2026 → 2036, By Application (US$ Mn)</a:t>
            </a:r>
          </a:p>
        </p:txBody>
      </p:sp>
      <p:graphicFrame>
        <p:nvGraphicFramePr>
          <p:cNvPr id="9" name="Chart 8"/>
          <p:cNvGraphicFramePr>
            <a:graphicFrameLocks noGrp="1"/>
          </p:cNvGraphicFramePr>
          <p:nvPr/>
        </p:nvGraphicFramePr>
        <p:xfrm>
          <a:off x="238125" y="1266825"/>
          <a:ext cx="5686425" cy="2409825"/>
        </p:xfrm>
        <a:graphic>
          <a:graphicData uri="http://schemas.openxmlformats.org/drawingml/2006/chart">
            <c:chart xmlns:c="http://schemas.openxmlformats.org/drawingml/2006/chart" r:id="rId3"/>
          </a:graphicData>
        </a:graphic>
      </p:graphicFrame>
      <p:sp>
        <p:nvSpPr>
          <p:cNvPr id="10" name="Rounded Rectangle 9"/>
          <p:cNvSpPr/>
          <p:nvPr/>
        </p:nvSpPr>
        <p:spPr>
          <a:xfrm>
            <a:off x="6172200" y="981075"/>
            <a:ext cx="5876925"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67450"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Value Shares &amp; Variance, By Application</a:t>
            </a:r>
          </a:p>
        </p:txBody>
      </p:sp>
      <p:graphicFrame>
        <p:nvGraphicFramePr>
          <p:cNvPr id="12" name="Table 11"/>
          <p:cNvGraphicFramePr>
            <a:graphicFrameLocks noGrp="1"/>
          </p:cNvGraphicFramePr>
          <p:nvPr/>
        </p:nvGraphicFramePr>
        <p:xfrm>
          <a:off x="6181725" y="1238250"/>
          <a:ext cx="5857874" cy="2286000"/>
        </p:xfrm>
        <a:graphic>
          <a:graphicData uri="http://schemas.openxmlformats.org/drawingml/2006/table">
            <a:tbl>
              <a:tblPr>
                <a:tableStyleId>{5C22544A-7EE6-4342-B048-85BDC9FD1C3A}</a:tableStyleId>
              </a:tblPr>
              <a:tblGrid>
                <a:gridCol w="2565681"/>
                <a:gridCol w="827646"/>
                <a:gridCol w="827646"/>
                <a:gridCol w="1045228"/>
                <a:gridCol w="591673"/>
              </a:tblGrid>
              <a:tr h="246126">
                <a:tc>
                  <a:txBody>
                    <a:bodyPr wrap="none"/>
                    <a:lstStyle/>
                    <a:p>
                      <a:pPr algn="l"/>
                      <a:r>
                        <a:rPr sz="1100" b="1">
                          <a:solidFill>
                            <a:srgbClr val="0E2A5C"/>
                          </a:solidFill>
                          <a:latin typeface="Calibri"/>
                        </a:rPr>
                        <a:t>Application</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Share 2026</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Share 2036</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Variance (BPS)</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F-CAGR</a:t>
                      </a:r>
                      <a:endParaRPr sz="1100"/>
                    </a:p>
                  </a:txBody>
                  <a:tcPr marL="47625" marR="38100" marT="19050" marB="19050" anchor="ctr">
                    <a:solidFill>
                      <a:srgbClr val="EBF2F9"/>
                    </a:solidFill>
                  </a:tcPr>
                </a:tc>
              </a:tr>
              <a:tr h="339979">
                <a:tc>
                  <a:txBody>
                    <a:bodyPr wrap="none"/>
                    <a:lstStyle/>
                    <a:p>
                      <a:pPr algn="l"/>
                      <a:r>
                        <a:rPr sz="1100" b="1">
                          <a:solidFill>
                            <a:srgbClr val="2E2E2E"/>
                          </a:solidFill>
                          <a:latin typeface="Calibri"/>
                        </a:rPr>
                        <a:t>Dietary Supplements &amp; Nutraceuticals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39979">
                <a:tc>
                  <a:txBody>
                    <a:bodyPr wrap="none"/>
                    <a:lstStyle/>
                    <a:p>
                      <a:pPr algn="l"/>
                      <a:r>
                        <a:rPr sz="1100" b="1">
                          <a:solidFill>
                            <a:srgbClr val="2E2E2E"/>
                          </a:solidFill>
                          <a:latin typeface="Calibri"/>
                        </a:rPr>
                        <a:t>Functional Food &amp; Beverages</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339979">
                <a:tc>
                  <a:txBody>
                    <a:bodyPr wrap="none"/>
                    <a:lstStyle/>
                    <a:p>
                      <a:pPr algn="l"/>
                      <a:r>
                        <a:rPr sz="1100" b="1">
                          <a:solidFill>
                            <a:srgbClr val="2E2E2E"/>
                          </a:solidFill>
                          <a:latin typeface="Calibri"/>
                        </a:rPr>
                        <a:t>Cosmetics &amp; Personal Care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39979">
                <a:tc>
                  <a:txBody>
                    <a:bodyPr wrap="none"/>
                    <a:lstStyle/>
                    <a:p>
                      <a:pPr algn="l"/>
                      <a:r>
                        <a:rPr sz="1100" b="1">
                          <a:solidFill>
                            <a:srgbClr val="2E2E2E"/>
                          </a:solidFill>
                          <a:latin typeface="Calibri"/>
                        </a:rPr>
                        <a:t>Pharmaceuticals &amp; Biomedical</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339979">
                <a:tc>
                  <a:txBody>
                    <a:bodyPr wrap="none"/>
                    <a:lstStyle/>
                    <a:p>
                      <a:pPr algn="l"/>
                      <a:r>
                        <a:rPr sz="1100" b="1">
                          <a:solidFill>
                            <a:srgbClr val="2E2E2E"/>
                          </a:solidFill>
                          <a:latin typeface="Calibri"/>
                        </a:rPr>
                        <a:t>Animal Nutrition &amp; Pet Care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39979">
                <a:tc>
                  <a:txBody>
                    <a:bodyPr wrap="none"/>
                    <a:lstStyle/>
                    <a:p>
                      <a:pPr algn="l"/>
                      <a:r>
                        <a:rPr sz="1100" b="1">
                          <a:solidFill>
                            <a:srgbClr val="2E2E2E"/>
                          </a:solidFill>
                          <a:latin typeface="Calibri"/>
                        </a:rPr>
                        <a:t>Industrial &amp; Biomaterials</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bl>
          </a:graphicData>
        </a:graphic>
      </p:graphicFrame>
      <p:sp>
        <p:nvSpPr>
          <p:cNvPr id="13" name="TextBox 12"/>
          <p:cNvSpPr txBox="1"/>
          <p:nvPr/>
        </p:nvSpPr>
        <p:spPr>
          <a:xfrm>
            <a:off x="6248400" y="3533775"/>
            <a:ext cx="5724525"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14" name="Rounded Rectangle 13"/>
          <p:cNvSpPr/>
          <p:nvPr/>
        </p:nvSpPr>
        <p:spPr>
          <a:xfrm>
            <a:off x="142875" y="3867150"/>
            <a:ext cx="11906250"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8125" y="3924300"/>
            <a:ext cx="11520309"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Absolute $ Opportunity, By Application (US$ Mn), between 2026–2036</a:t>
            </a:r>
          </a:p>
        </p:txBody>
      </p:sp>
      <p:graphicFrame>
        <p:nvGraphicFramePr>
          <p:cNvPr id="16" name="Chart 15"/>
          <p:cNvGraphicFramePr>
            <a:graphicFrameLocks noGrp="1"/>
          </p:cNvGraphicFramePr>
          <p:nvPr/>
        </p:nvGraphicFramePr>
        <p:xfrm>
          <a:off x="238125" y="4152900"/>
          <a:ext cx="11520309" cy="2409825"/>
        </p:xfrm>
        <a:graphic>
          <a:graphicData uri="http://schemas.openxmlformats.org/drawingml/2006/chart">
            <c:chart xmlns:c="http://schemas.openxmlformats.org/drawingml/2006/chart" r:id="rId4"/>
          </a:graphicData>
        </a:graphic>
      </p:graphicFrame>
      <p:sp>
        <p:nvSpPr>
          <p:cNvPr id="21" name="Rectangle 20"/>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23" name="Picture 22" descr="lock.png"/>
          <p:cNvPicPr>
            <a:picLocks noChangeAspect="1"/>
          </p:cNvPicPr>
          <p:nvPr/>
        </p:nvPicPr>
        <p:blipFill>
          <a:blip r:embed="rId6"/>
          <a:stretch>
            <a:fillRect/>
          </a:stretch>
        </p:blipFill>
        <p:spPr>
          <a:xfrm>
            <a:off x="3094826" y="2237234"/>
            <a:ext cx="263506" cy="383281"/>
          </a:xfrm>
          <a:prstGeom prst="rect">
            <a:avLst/>
          </a:prstGeom>
        </p:spPr>
      </p:pic>
      <p:pic>
        <p:nvPicPr>
          <p:cNvPr id="24" name="Picture 23" descr="lock.png"/>
          <p:cNvPicPr>
            <a:picLocks noChangeAspect="1"/>
          </p:cNvPicPr>
          <p:nvPr/>
        </p:nvPicPr>
        <p:blipFill>
          <a:blip r:embed="rId6"/>
          <a:stretch>
            <a:fillRect/>
          </a:stretch>
        </p:blipFill>
        <p:spPr>
          <a:xfrm>
            <a:off x="10206812" y="2237613"/>
            <a:ext cx="366712" cy="533400"/>
          </a:xfrm>
          <a:prstGeom prst="rect">
            <a:avLst/>
          </a:prstGeom>
        </p:spPr>
      </p:pic>
      <p:pic>
        <p:nvPicPr>
          <p:cNvPr id="25" name="Picture 24" descr="lock.png"/>
          <p:cNvPicPr>
            <a:picLocks noChangeAspect="1"/>
          </p:cNvPicPr>
          <p:nvPr/>
        </p:nvPicPr>
        <p:blipFill>
          <a:blip r:embed="rId6"/>
          <a:stretch>
            <a:fillRect/>
          </a:stretch>
        </p:blipFill>
        <p:spPr>
          <a:xfrm>
            <a:off x="5964247" y="5123309"/>
            <a:ext cx="263506" cy="383281"/>
          </a:xfrm>
          <a:prstGeom prst="rect">
            <a:avLst/>
          </a:prstGeom>
        </p:spPr>
      </p:pic>
      <p:sp>
        <p:nvSpPr>
          <p:cNvPr id="27" name="lockshield_9"/>
          <p:cNvSpPr/>
          <p:nvPr/>
        </p:nvSpPr>
        <p:spPr>
          <a:xfrm>
            <a:off x="238125"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lockshield_16"/>
          <p:cNvSpPr/>
          <p:nvPr/>
        </p:nvSpPr>
        <p:spPr>
          <a:xfrm>
            <a:off x="238125" y="4152900"/>
            <a:ext cx="11520309"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Egg Protein Membrane Market Tables Application</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of the U.S. market by Application, 2021–2036</a:t>
            </a:r>
          </a:p>
        </p:txBody>
      </p:sp>
      <p:sp>
        <p:nvSpPr>
          <p:cNvPr id="7" name="Rounded Rectangle 6"/>
          <p:cNvSpPr/>
          <p:nvPr/>
        </p:nvSpPr>
        <p:spPr>
          <a:xfrm>
            <a:off x="142875" y="981075"/>
            <a:ext cx="11906250" cy="4657725"/>
          </a:xfrm>
          <a:prstGeom prst="roundRect">
            <a:avLst>
              <a:gd name="adj" fmla="val 1635"/>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U.S. Value, By Application (US$ Mn)</a:t>
            </a:r>
          </a:p>
        </p:txBody>
      </p:sp>
      <p:graphicFrame>
        <p:nvGraphicFramePr>
          <p:cNvPr id="9" name="Table 8"/>
          <p:cNvGraphicFramePr>
            <a:graphicFrameLocks noGrp="1"/>
          </p:cNvGraphicFramePr>
          <p:nvPr/>
        </p:nvGraphicFramePr>
        <p:xfrm>
          <a:off x="152400" y="1238250"/>
          <a:ext cx="11887206" cy="4191006"/>
        </p:xfrm>
        <a:graphic>
          <a:graphicData uri="http://schemas.openxmlformats.org/drawingml/2006/table">
            <a:tbl>
              <a:tblPr>
                <a:tableStyleId>{5C22544A-7EE6-4342-B048-85BDC9FD1C3A}</a:tableStyleId>
              </a:tblPr>
              <a:tblGrid>
                <a:gridCol w="2415911"/>
                <a:gridCol w="557135"/>
                <a:gridCol w="557135"/>
                <a:gridCol w="557135"/>
                <a:gridCol w="557135"/>
                <a:gridCol w="557135"/>
                <a:gridCol w="557135"/>
                <a:gridCol w="557135"/>
                <a:gridCol w="557135"/>
                <a:gridCol w="557135"/>
                <a:gridCol w="557135"/>
                <a:gridCol w="557135"/>
                <a:gridCol w="557135"/>
                <a:gridCol w="557135"/>
                <a:gridCol w="557135"/>
                <a:gridCol w="557135"/>
                <a:gridCol w="557135"/>
                <a:gridCol w="557135"/>
              </a:tblGrid>
              <a:tr h="246126">
                <a:tc>
                  <a:txBody>
                    <a:bodyPr wrap="none"/>
                    <a:lstStyle/>
                    <a:p>
                      <a:pPr algn="l"/>
                      <a:r>
                        <a:rPr sz="1100" b="1">
                          <a:solidFill>
                            <a:srgbClr val="0E2A5C"/>
                          </a:solidFill>
                          <a:latin typeface="Calibri"/>
                        </a:rPr>
                        <a:t>Application</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2021A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2022A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2023A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2024A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2025A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2026E</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2027F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2028F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2029F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2030F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2031F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2032F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2033F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2034F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2035F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2036F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F-CAGR</a:t>
                      </a:r>
                      <a:endParaRPr sz="1100"/>
                    </a:p>
                  </a:txBody>
                  <a:tcPr marL="47625" marR="38100" marT="19050" marB="19050" anchor="ctr">
                    <a:solidFill>
                      <a:srgbClr val="EBF2F9"/>
                    </a:solidFill>
                  </a:tcPr>
                </a:tc>
              </a:tr>
              <a:tr h="246555">
                <a:tc>
                  <a:txBody>
                    <a:bodyPr wrap="none"/>
                    <a:lstStyle/>
                    <a:p>
                      <a:pPr algn="l"/>
                      <a:r>
                        <a:rPr sz="1100" b="1">
                          <a:solidFill>
                            <a:srgbClr val="2E2E2E"/>
                          </a:solidFill>
                          <a:latin typeface="Calibri"/>
                        </a:rPr>
                        <a:t>Dietary Supplements &amp; Nutraceuticals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55">
                <a:tc>
                  <a:txBody>
                    <a:bodyPr wrap="none"/>
                    <a:lstStyle/>
                    <a:p>
                      <a:pPr algn="l"/>
                      <a:r>
                        <a:rPr sz="1100" b="1">
                          <a:solidFill>
                            <a:srgbClr val="2E2E2E"/>
                          </a:solidFill>
                          <a:latin typeface="Calibri"/>
                        </a:rPr>
                        <a:t>– Joint &amp; Bone Health</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6555">
                <a:tc>
                  <a:txBody>
                    <a:bodyPr wrap="none"/>
                    <a:lstStyle/>
                    <a:p>
                      <a:pPr algn="l"/>
                      <a:r>
                        <a:rPr sz="1100" b="1">
                          <a:solidFill>
                            <a:srgbClr val="2E2E2E"/>
                          </a:solidFill>
                          <a:latin typeface="Calibri"/>
                        </a:rPr>
                        <a:t>– Skin, Hair &amp; Nail Health</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55">
                <a:tc>
                  <a:txBody>
                    <a:bodyPr wrap="none"/>
                    <a:lstStyle/>
                    <a:p>
                      <a:pPr algn="l"/>
                      <a:r>
                        <a:rPr sz="1100" b="1">
                          <a:solidFill>
                            <a:srgbClr val="2E2E2E"/>
                          </a:solidFill>
                          <a:latin typeface="Calibri"/>
                        </a:rPr>
                        <a:t>– Others</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6555">
                <a:tc>
                  <a:txBody>
                    <a:bodyPr wrap="none"/>
                    <a:lstStyle/>
                    <a:p>
                      <a:pPr algn="l"/>
                      <a:r>
                        <a:rPr sz="1100" b="1">
                          <a:solidFill>
                            <a:srgbClr val="2E2E2E"/>
                          </a:solidFill>
                          <a:latin typeface="Calibri"/>
                        </a:rPr>
                        <a:t>Functional Food &amp; Beverages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55">
                <a:tc>
                  <a:txBody>
                    <a:bodyPr wrap="none"/>
                    <a:lstStyle/>
                    <a:p>
                      <a:pPr algn="l"/>
                      <a:r>
                        <a:rPr sz="1100" b="1">
                          <a:solidFill>
                            <a:srgbClr val="2E2E2E"/>
                          </a:solidFill>
                          <a:latin typeface="Calibri"/>
                        </a:rPr>
                        <a:t>Cosmetics &amp; Personal Care</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6555">
                <a:tc>
                  <a:txBody>
                    <a:bodyPr wrap="none"/>
                    <a:lstStyle/>
                    <a:p>
                      <a:pPr algn="l"/>
                      <a:r>
                        <a:rPr sz="1100" b="1">
                          <a:solidFill>
                            <a:srgbClr val="2E2E2E"/>
                          </a:solidFill>
                          <a:latin typeface="Calibri"/>
                        </a:rPr>
                        <a:t>– Skin Care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55">
                <a:tc>
                  <a:txBody>
                    <a:bodyPr wrap="none"/>
                    <a:lstStyle/>
                    <a:p>
                      <a:pPr algn="l"/>
                      <a:r>
                        <a:rPr sz="1100" b="1">
                          <a:solidFill>
                            <a:srgbClr val="2E2E2E"/>
                          </a:solidFill>
                          <a:latin typeface="Calibri"/>
                        </a:rPr>
                        <a:t>– Hair Care</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6555">
                <a:tc>
                  <a:txBody>
                    <a:bodyPr wrap="none"/>
                    <a:lstStyle/>
                    <a:p>
                      <a:pPr algn="l"/>
                      <a:r>
                        <a:rPr sz="1100" b="1">
                          <a:solidFill>
                            <a:srgbClr val="2E2E2E"/>
                          </a:solidFill>
                          <a:latin typeface="Calibri"/>
                        </a:rPr>
                        <a:t>Pharmaceuticals &amp; Biomedical</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55">
                <a:tc>
                  <a:txBody>
                    <a:bodyPr wrap="none"/>
                    <a:lstStyle/>
                    <a:p>
                      <a:pPr algn="l"/>
                      <a:r>
                        <a:rPr sz="1100" b="1">
                          <a:solidFill>
                            <a:srgbClr val="2E2E2E"/>
                          </a:solidFill>
                          <a:latin typeface="Calibri"/>
                        </a:rPr>
                        <a:t>– Wound Care &amp; Dressings</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6555">
                <a:tc>
                  <a:txBody>
                    <a:bodyPr wrap="none"/>
                    <a:lstStyle/>
                    <a:p>
                      <a:pPr algn="l"/>
                      <a:r>
                        <a:rPr sz="1100" b="1">
                          <a:solidFill>
                            <a:srgbClr val="2E2E2E"/>
                          </a:solidFill>
                          <a:latin typeface="Calibri"/>
                        </a:rPr>
                        <a:t>– Tissue Engineering &amp; Drug Delivery</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55">
                <a:tc>
                  <a:txBody>
                    <a:bodyPr wrap="none"/>
                    <a:lstStyle/>
                    <a:p>
                      <a:pPr algn="l"/>
                      <a:r>
                        <a:rPr sz="1100" b="1">
                          <a:solidFill>
                            <a:srgbClr val="2E2E2E"/>
                          </a:solidFill>
                          <a:latin typeface="Calibri"/>
                        </a:rPr>
                        <a:t>Animal Nutrition &amp; Pet Care</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6555">
                <a:tc>
                  <a:txBody>
                    <a:bodyPr wrap="none"/>
                    <a:lstStyle/>
                    <a:p>
                      <a:pPr algn="l"/>
                      <a:r>
                        <a:rPr sz="1100" b="1">
                          <a:solidFill>
                            <a:srgbClr val="2E2E2E"/>
                          </a:solidFill>
                          <a:latin typeface="Calibri"/>
                        </a:rPr>
                        <a:t>– Pet Joint &amp; Skin Supplements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55">
                <a:tc>
                  <a:txBody>
                    <a:bodyPr wrap="none"/>
                    <a:lstStyle/>
                    <a:p>
                      <a:pPr algn="l"/>
                      <a:r>
                        <a:rPr sz="1100" b="1">
                          <a:solidFill>
                            <a:srgbClr val="2E2E2E"/>
                          </a:solidFill>
                          <a:latin typeface="Calibri"/>
                        </a:rPr>
                        <a:t>– Livestock &amp; Poultry Feed</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6555">
                <a:tc>
                  <a:txBody>
                    <a:bodyPr wrap="none"/>
                    <a:lstStyle/>
                    <a:p>
                      <a:pPr algn="l"/>
                      <a:r>
                        <a:rPr sz="1100" b="1">
                          <a:solidFill>
                            <a:srgbClr val="2E2E2E"/>
                          </a:solidFill>
                          <a:latin typeface="Calibri"/>
                        </a:rPr>
                        <a:t>Industrial &amp; Biomaterials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55">
                <a:tc>
                  <a:txBody>
                    <a:bodyPr wrap="none"/>
                    <a:lstStyle/>
                    <a:p>
                      <a:pPr algn="l"/>
                      <a:r>
                        <a:rPr sz="1100" b="1">
                          <a:solidFill>
                            <a:srgbClr val="2E2E2E"/>
                          </a:solidFill>
                          <a:latin typeface="Calibri"/>
                        </a:rPr>
                        <a:t>Total</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r>
            </a:tbl>
          </a:graphicData>
        </a:graphic>
      </p:graphicFrame>
      <p:sp>
        <p:nvSpPr>
          <p:cNvPr id="10" name="TextBox 9"/>
          <p:cNvSpPr txBox="1"/>
          <p:nvPr/>
        </p:nvSpPr>
        <p:spPr>
          <a:xfrm>
            <a:off x="219075" y="543877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11" name="Rectangle 10"/>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3" name="Picture 12" descr="lock.png"/>
          <p:cNvPicPr>
            <a:picLocks noChangeAspect="1"/>
          </p:cNvPicPr>
          <p:nvPr/>
        </p:nvPicPr>
        <p:blipFill>
          <a:blip r:embed="rId4"/>
          <a:stretch>
            <a:fillRect/>
          </a:stretch>
        </p:blipFill>
        <p:spPr>
          <a:xfrm>
            <a:off x="7117268" y="3190115"/>
            <a:ext cx="366712" cy="533400"/>
          </a:xfrm>
          <a:prstGeom prst="rect">
            <a:avLst/>
          </a:prstGeom>
        </p:spPr>
      </p:pic>
    </p:spTree>
  </p:cSld>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bg>
      <p:bgPr>
        <a:solidFill>
          <a:srgbClr val="F3F8FD"/>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3F8FD"/>
              </a:gs>
              <a:gs pos="100000">
                <a:srgbClr val="DCE9F6"/>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FE0F0">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9C8E6">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B7D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A5F8F"/>
              </a:gs>
              <a:gs pos="100000">
                <a:srgbClr val="6FA6D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MR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14.6</a:t>
            </a:r>
          </a:p>
        </p:txBody>
      </p:sp>
      <p:pic>
        <p:nvPicPr>
          <p:cNvPr id="8" name="Picture 7" descr="tmr_logo.png"/>
          <p:cNvPicPr>
            <a:picLocks noChangeAspect="1"/>
          </p:cNvPicPr>
          <p:nvPr/>
        </p:nvPicPr>
        <p:blipFill>
          <a:blip r:embed="rId2"/>
          <a:stretch>
            <a:fillRect/>
          </a:stretch>
        </p:blipFill>
        <p:spPr>
          <a:xfrm>
            <a:off x="411480" y="274320"/>
            <a:ext cx="1307592" cy="975505"/>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2A5F8F"/>
                </a:solidFill>
                <a:latin typeface="Calibri"/>
              </a:rPr>
              <a:t>Egg Protein Membrane Market</a:t>
            </a:r>
          </a:p>
        </p:txBody>
      </p:sp>
      <p:sp>
        <p:nvSpPr>
          <p:cNvPr id="10" name="TMR Section Title"/>
          <p:cNvSpPr txBox="1"/>
          <p:nvPr/>
        </p:nvSpPr>
        <p:spPr>
          <a:xfrm>
            <a:off x="914400" y="3095625"/>
            <a:ext cx="8572500" cy="514350"/>
          </a:xfrm>
          <a:prstGeom prst="rect">
            <a:avLst/>
          </a:prstGeom>
          <a:noFill/>
        </p:spPr>
        <p:txBody>
          <a:bodyPr wrap="square" lIns="0" rIns="0" tIns="0">
            <a:spAutoFit/>
          </a:bodyPr>
          <a:lstStyle/>
          <a:p>
            <a:r>
              <a:rPr sz="3000" b="1">
                <a:solidFill>
                  <a:srgbClr val="0E2A5C"/>
                </a:solidFill>
                <a:latin typeface="Calibri"/>
              </a:rPr>
              <a:t>Sales Channel</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Segmental</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Table (Volume &amp; Value)</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YoY</a:t>
            </a:r>
          </a:p>
        </p:txBody>
      </p:sp>
      <p:sp>
        <p:nvSpPr>
          <p:cNvPr id="12" name="Rectangle 11"/>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1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Egg Protein Membrane Market Segmental Analysis Sales Channel</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U.S. segmental analysis by Sales Channel: growth contribution, share variance and absolute $ opportunity</a:t>
            </a:r>
          </a:p>
        </p:txBody>
      </p:sp>
      <p:sp>
        <p:nvSpPr>
          <p:cNvPr id="7" name="Rounded Rectangle 6"/>
          <p:cNvSpPr/>
          <p:nvPr/>
        </p:nvSpPr>
        <p:spPr>
          <a:xfrm>
            <a:off x="142875" y="981075"/>
            <a:ext cx="5876925"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Growth Contribution 2026 → 2036, By Sales Channel (US$ Mn)</a:t>
            </a:r>
          </a:p>
        </p:txBody>
      </p:sp>
      <p:graphicFrame>
        <p:nvGraphicFramePr>
          <p:cNvPr id="9" name="Chart 8"/>
          <p:cNvGraphicFramePr>
            <a:graphicFrameLocks noGrp="1"/>
          </p:cNvGraphicFramePr>
          <p:nvPr/>
        </p:nvGraphicFramePr>
        <p:xfrm>
          <a:off x="238125" y="1266825"/>
          <a:ext cx="5686425" cy="2409825"/>
        </p:xfrm>
        <a:graphic>
          <a:graphicData uri="http://schemas.openxmlformats.org/drawingml/2006/chart">
            <c:chart xmlns:c="http://schemas.openxmlformats.org/drawingml/2006/chart" r:id="rId3"/>
          </a:graphicData>
        </a:graphic>
      </p:graphicFrame>
      <p:sp>
        <p:nvSpPr>
          <p:cNvPr id="10" name="Rounded Rectangle 9"/>
          <p:cNvSpPr/>
          <p:nvPr/>
        </p:nvSpPr>
        <p:spPr>
          <a:xfrm>
            <a:off x="6172200" y="981075"/>
            <a:ext cx="5876925"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67450"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Value Shares &amp; Variance, By Sales Channel</a:t>
            </a:r>
          </a:p>
        </p:txBody>
      </p:sp>
      <p:graphicFrame>
        <p:nvGraphicFramePr>
          <p:cNvPr id="12" name="Table 11"/>
          <p:cNvGraphicFramePr>
            <a:graphicFrameLocks noGrp="1"/>
          </p:cNvGraphicFramePr>
          <p:nvPr/>
        </p:nvGraphicFramePr>
        <p:xfrm>
          <a:off x="6181725" y="1238250"/>
          <a:ext cx="5857874" cy="2286000"/>
        </p:xfrm>
        <a:graphic>
          <a:graphicData uri="http://schemas.openxmlformats.org/drawingml/2006/table">
            <a:tbl>
              <a:tblPr>
                <a:tableStyleId>{5C22544A-7EE6-4342-B048-85BDC9FD1C3A}</a:tableStyleId>
              </a:tblPr>
              <a:tblGrid>
                <a:gridCol w="1577382"/>
                <a:gridCol w="1070123"/>
                <a:gridCol w="1070123"/>
                <a:gridCol w="1070123"/>
                <a:gridCol w="1070123"/>
              </a:tblGrid>
              <a:tr h="246126">
                <a:tc>
                  <a:txBody>
                    <a:bodyPr wrap="none"/>
                    <a:lstStyle/>
                    <a:p>
                      <a:pPr algn="l"/>
                      <a:r>
                        <a:rPr sz="1100" b="1">
                          <a:solidFill>
                            <a:srgbClr val="0E2A5C"/>
                          </a:solidFill>
                          <a:latin typeface="Calibri"/>
                        </a:rPr>
                        <a:t>Sales Channel</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Share 2026</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Share 2036</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Variance (BPS)</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F-CAGR</a:t>
                      </a:r>
                      <a:endParaRPr sz="1100"/>
                    </a:p>
                  </a:txBody>
                  <a:tcPr marL="47625" marR="38100" marT="19050" marB="19050" anchor="ctr">
                    <a:solidFill>
                      <a:srgbClr val="EBF2F9"/>
                    </a:solidFill>
                  </a:tcPr>
                </a:tc>
              </a:tr>
              <a:tr h="1019937">
                <a:tc>
                  <a:txBody>
                    <a:bodyPr wrap="none"/>
                    <a:lstStyle/>
                    <a:p>
                      <a:pPr algn="l"/>
                      <a:r>
                        <a:rPr sz="1100" b="1">
                          <a:solidFill>
                            <a:srgbClr val="2E2E2E"/>
                          </a:solidFill>
                          <a:latin typeface="Calibri"/>
                        </a:rPr>
                        <a:t>Direct</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1019937">
                <a:tc>
                  <a:txBody>
                    <a:bodyPr wrap="none"/>
                    <a:lstStyle/>
                    <a:p>
                      <a:pPr algn="l"/>
                      <a:r>
                        <a:rPr sz="1100" b="1">
                          <a:solidFill>
                            <a:srgbClr val="2E2E2E"/>
                          </a:solidFill>
                          <a:latin typeface="Calibri"/>
                        </a:rPr>
                        <a:t>Distributors &amp; Traders</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bl>
          </a:graphicData>
        </a:graphic>
      </p:graphicFrame>
      <p:sp>
        <p:nvSpPr>
          <p:cNvPr id="13" name="TextBox 12"/>
          <p:cNvSpPr txBox="1"/>
          <p:nvPr/>
        </p:nvSpPr>
        <p:spPr>
          <a:xfrm>
            <a:off x="6248400" y="3533775"/>
            <a:ext cx="5724525"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14" name="Rounded Rectangle 13"/>
          <p:cNvSpPr/>
          <p:nvPr/>
        </p:nvSpPr>
        <p:spPr>
          <a:xfrm>
            <a:off x="142875" y="3867150"/>
            <a:ext cx="11906250"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8125" y="3924300"/>
            <a:ext cx="11520309"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Absolute $ Opportunity, By Sales Channel (US$ Mn), between 2026–2036</a:t>
            </a:r>
          </a:p>
        </p:txBody>
      </p:sp>
      <p:graphicFrame>
        <p:nvGraphicFramePr>
          <p:cNvPr id="16" name="Chart 15"/>
          <p:cNvGraphicFramePr>
            <a:graphicFrameLocks noGrp="1"/>
          </p:cNvGraphicFramePr>
          <p:nvPr/>
        </p:nvGraphicFramePr>
        <p:xfrm>
          <a:off x="238125" y="4152900"/>
          <a:ext cx="11520309" cy="2409825"/>
        </p:xfrm>
        <a:graphic>
          <a:graphicData uri="http://schemas.openxmlformats.org/drawingml/2006/chart">
            <c:chart xmlns:c="http://schemas.openxmlformats.org/drawingml/2006/chart" r:id="rId4"/>
          </a:graphicData>
        </a:graphic>
      </p:graphicFrame>
      <p:sp>
        <p:nvSpPr>
          <p:cNvPr id="21" name="Rectangle 20"/>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23" name="Picture 22" descr="lock.png"/>
          <p:cNvPicPr>
            <a:picLocks noChangeAspect="1"/>
          </p:cNvPicPr>
          <p:nvPr/>
        </p:nvPicPr>
        <p:blipFill>
          <a:blip r:embed="rId6"/>
          <a:stretch>
            <a:fillRect/>
          </a:stretch>
        </p:blipFill>
        <p:spPr>
          <a:xfrm>
            <a:off x="3094826" y="2237234"/>
            <a:ext cx="263506" cy="383281"/>
          </a:xfrm>
          <a:prstGeom prst="rect">
            <a:avLst/>
          </a:prstGeom>
        </p:spPr>
      </p:pic>
      <p:pic>
        <p:nvPicPr>
          <p:cNvPr id="24" name="Picture 23" descr="lock.png"/>
          <p:cNvPicPr>
            <a:picLocks noChangeAspect="1"/>
          </p:cNvPicPr>
          <p:nvPr/>
        </p:nvPicPr>
        <p:blipFill>
          <a:blip r:embed="rId6"/>
          <a:stretch>
            <a:fillRect/>
          </a:stretch>
        </p:blipFill>
        <p:spPr>
          <a:xfrm>
            <a:off x="9712662" y="2237613"/>
            <a:ext cx="366712" cy="533400"/>
          </a:xfrm>
          <a:prstGeom prst="rect">
            <a:avLst/>
          </a:prstGeom>
        </p:spPr>
      </p:pic>
      <p:pic>
        <p:nvPicPr>
          <p:cNvPr id="25" name="Picture 24" descr="lock.png"/>
          <p:cNvPicPr>
            <a:picLocks noChangeAspect="1"/>
          </p:cNvPicPr>
          <p:nvPr/>
        </p:nvPicPr>
        <p:blipFill>
          <a:blip r:embed="rId6"/>
          <a:stretch>
            <a:fillRect/>
          </a:stretch>
        </p:blipFill>
        <p:spPr>
          <a:xfrm>
            <a:off x="5964247" y="5123309"/>
            <a:ext cx="263506" cy="383281"/>
          </a:xfrm>
          <a:prstGeom prst="rect">
            <a:avLst/>
          </a:prstGeom>
        </p:spPr>
      </p:pic>
      <p:sp>
        <p:nvSpPr>
          <p:cNvPr id="27" name="lockshield_9"/>
          <p:cNvSpPr/>
          <p:nvPr/>
        </p:nvSpPr>
        <p:spPr>
          <a:xfrm>
            <a:off x="238125"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lockshield_16"/>
          <p:cNvSpPr/>
          <p:nvPr/>
        </p:nvSpPr>
        <p:spPr>
          <a:xfrm>
            <a:off x="238125" y="4152900"/>
            <a:ext cx="11520309"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Egg Protein Membrane Market Tables Sales Channel</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of the U.S. market by Sales Channel, 2021–2036</a:t>
            </a:r>
          </a:p>
        </p:txBody>
      </p:sp>
      <p:sp>
        <p:nvSpPr>
          <p:cNvPr id="11" name="Rounded Rectangle 10"/>
          <p:cNvSpPr/>
          <p:nvPr/>
        </p:nvSpPr>
        <p:spPr>
          <a:xfrm>
            <a:off x="142875" y="981075"/>
            <a:ext cx="11906250" cy="1457325"/>
          </a:xfrm>
          <a:prstGeom prst="roundRect">
            <a:avLst>
              <a:gd name="adj" fmla="val 522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U.S. Value, By Sales Channel (US$ Mn)</a:t>
            </a:r>
          </a:p>
        </p:txBody>
      </p:sp>
      <p:graphicFrame>
        <p:nvGraphicFramePr>
          <p:cNvPr id="13" name="Table 12"/>
          <p:cNvGraphicFramePr>
            <a:graphicFrameLocks noGrp="1"/>
          </p:cNvGraphicFramePr>
          <p:nvPr/>
        </p:nvGraphicFramePr>
        <p:xfrm>
          <a:off x="152400" y="1238250"/>
          <a:ext cx="11887206" cy="990600"/>
        </p:xfrm>
        <a:graphic>
          <a:graphicData uri="http://schemas.openxmlformats.org/drawingml/2006/table">
            <a:tbl>
              <a:tblPr>
                <a:tableStyleId>{5C22544A-7EE6-4342-B048-85BDC9FD1C3A}</a:tableStyleId>
              </a:tblPr>
              <a:tblGrid>
                <a:gridCol w="1578950"/>
                <a:gridCol w="606368"/>
                <a:gridCol w="606368"/>
                <a:gridCol w="606368"/>
                <a:gridCol w="606368"/>
                <a:gridCol w="606368"/>
                <a:gridCol w="606368"/>
                <a:gridCol w="606368"/>
                <a:gridCol w="606368"/>
                <a:gridCol w="606368"/>
                <a:gridCol w="606368"/>
                <a:gridCol w="606368"/>
                <a:gridCol w="606368"/>
                <a:gridCol w="606368"/>
                <a:gridCol w="606368"/>
                <a:gridCol w="606368"/>
                <a:gridCol w="606368"/>
                <a:gridCol w="606368"/>
              </a:tblGrid>
              <a:tr h="246126">
                <a:tc>
                  <a:txBody>
                    <a:bodyPr wrap="none"/>
                    <a:lstStyle/>
                    <a:p>
                      <a:pPr algn="l"/>
                      <a:r>
                        <a:rPr sz="1100" b="1">
                          <a:solidFill>
                            <a:srgbClr val="0E2A5C"/>
                          </a:solidFill>
                          <a:latin typeface="Calibri"/>
                        </a:rPr>
                        <a:t>Sales Channel</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2021A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2022A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2023A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2024A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2025A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2026E</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2027F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2028F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2029F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2030F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2031F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2032F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2033F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2034F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2035F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2036F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F-CAGR</a:t>
                      </a:r>
                      <a:endParaRPr sz="1100"/>
                    </a:p>
                  </a:txBody>
                  <a:tcPr marL="47625" marR="38100" marT="19050" marB="19050" anchor="ctr">
                    <a:solidFill>
                      <a:srgbClr val="EBF2F9"/>
                    </a:solidFill>
                  </a:tcPr>
                </a:tc>
              </a:tr>
              <a:tr h="248158">
                <a:tc>
                  <a:txBody>
                    <a:bodyPr wrap="none"/>
                    <a:lstStyle/>
                    <a:p>
                      <a:pPr algn="l"/>
                      <a:r>
                        <a:rPr sz="1100" b="1">
                          <a:solidFill>
                            <a:srgbClr val="2E2E2E"/>
                          </a:solidFill>
                          <a:latin typeface="Calibri"/>
                        </a:rPr>
                        <a:t>Direct</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8158">
                <a:tc>
                  <a:txBody>
                    <a:bodyPr wrap="none"/>
                    <a:lstStyle/>
                    <a:p>
                      <a:pPr algn="l"/>
                      <a:r>
                        <a:rPr sz="1100" b="1">
                          <a:solidFill>
                            <a:srgbClr val="2E2E2E"/>
                          </a:solidFill>
                          <a:latin typeface="Calibri"/>
                        </a:rPr>
                        <a:t>Distributors &amp; Traders</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8158">
                <a:tc>
                  <a:txBody>
                    <a:bodyPr wrap="none"/>
                    <a:lstStyle/>
                    <a:p>
                      <a:pPr algn="l"/>
                      <a:r>
                        <a:rPr sz="1100" b="1">
                          <a:solidFill>
                            <a:srgbClr val="2E2E2E"/>
                          </a:solidFill>
                          <a:latin typeface="Calibri"/>
                        </a:rPr>
                        <a:t>Total</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r>
            </a:tbl>
          </a:graphicData>
        </a:graphic>
      </p:graphicFrame>
      <p:sp>
        <p:nvSpPr>
          <p:cNvPr id="14" name="TextBox 13"/>
          <p:cNvSpPr txBox="1"/>
          <p:nvPr/>
        </p:nvSpPr>
        <p:spPr>
          <a:xfrm>
            <a:off x="219075" y="223837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15" name="Rectangle 14"/>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8" name="Picture 17" descr="lock.png"/>
          <p:cNvPicPr>
            <a:picLocks noChangeAspect="1"/>
          </p:cNvPicPr>
          <p:nvPr/>
        </p:nvPicPr>
        <p:blipFill>
          <a:blip r:embed="rId4"/>
          <a:stretch>
            <a:fillRect/>
          </a:stretch>
        </p:blipFill>
        <p:spPr>
          <a:xfrm>
            <a:off x="6698788" y="1589912"/>
            <a:ext cx="366712" cy="533400"/>
          </a:xfrm>
          <a:prstGeom prst="rect">
            <a:avLst/>
          </a:prstGeom>
        </p:spPr>
      </p:pic>
    </p:spTree>
  </p:cSld>
  <p:clrMapOvr>
    <a:masterClrMapping/>
  </p:clrMapOvr>
</p:sld>
</file>

<file path=ppt/slides/slide193.xml><?xml version="1.0" encoding="utf-8"?>
<p:sld xmlns:a="http://schemas.openxmlformats.org/drawingml/2006/main" xmlns:p="http://schemas.openxmlformats.org/presentationml/2006/main" xmlns:r="http://schemas.openxmlformats.org/officeDocument/2006/relationships">
  <p:cSld>
    <p:bg>
      <p:bgPr>
        <a:solidFill>
          <a:srgbClr val="0A2A63"/>
        </a:solidFill>
        <a:effectLst/>
      </p:bgPr>
    </p:bg>
    <p:spTree>
      <p:nvGrpSpPr>
        <p:cNvPr id="1" name=""/>
        <p:cNvGrpSpPr/>
        <p:nvPr/>
      </p:nvGrpSpPr>
      <p:grpSpPr/>
      <p:sp>
        <p:nvSpPr>
          <p:cNvPr id="2" name="TMR Section Breaker"/>
          <p:cNvSpPr/>
          <p:nvPr/>
        </p:nvSpPr>
        <p:spPr>
          <a:xfrm>
            <a:off x="0" y="0"/>
            <a:ext cx="12192000" cy="6858000"/>
          </a:xfrm>
          <a:prstGeom prst="rect">
            <a:avLst/>
          </a:prstGeom>
          <a:gradFill rotWithShape="1">
            <a:gsLst>
              <a:gs pos="0">
                <a:srgbClr val="0A2A63"/>
              </a:gs>
              <a:gs pos="100000">
                <a:srgbClr val="0F3F8F"/>
              </a:gs>
            </a:gsLst>
            <a:lin scaled="0" ang="19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35280" y="198120"/>
            <a:ext cx="1459992" cy="112790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411480" y="274320"/>
            <a:ext cx="1307592" cy="975505"/>
          </a:xfrm>
          <a:prstGeom prst="rect">
            <a:avLst/>
          </a:prstGeom>
        </p:spPr>
      </p:pic>
      <p:sp>
        <p:nvSpPr>
          <p:cNvPr id="5" name="TextBox 4"/>
          <p:cNvSpPr txBox="1"/>
          <p:nvPr/>
        </p:nvSpPr>
        <p:spPr>
          <a:xfrm>
            <a:off x="914400" y="3394075"/>
            <a:ext cx="7239000" cy="247650"/>
          </a:xfrm>
          <a:prstGeom prst="rect">
            <a:avLst/>
          </a:prstGeom>
          <a:noFill/>
        </p:spPr>
        <p:txBody>
          <a:bodyPr wrap="none" lIns="0" tIns="0">
            <a:spAutoFit/>
          </a:bodyPr>
          <a:lstStyle/>
          <a:p>
            <a:r>
              <a:rPr sz="1400" b="0">
                <a:solidFill>
                  <a:srgbClr val="8FC8F2"/>
                </a:solidFill>
                <a:latin typeface="Calibri"/>
              </a:rPr>
              <a:t>Egg Protein Membrane Market</a:t>
            </a:r>
          </a:p>
        </p:txBody>
      </p:sp>
      <p:sp>
        <p:nvSpPr>
          <p:cNvPr id="6" name="TMR Breaker Title"/>
          <p:cNvSpPr txBox="1"/>
          <p:nvPr/>
        </p:nvSpPr>
        <p:spPr>
          <a:xfrm>
            <a:off x="914400" y="3698875"/>
            <a:ext cx="7239000" cy="514350"/>
          </a:xfrm>
          <a:prstGeom prst="rect">
            <a:avLst/>
          </a:prstGeom>
          <a:noFill/>
        </p:spPr>
        <p:txBody>
          <a:bodyPr wrap="square" lIns="0" rIns="0" tIns="0">
            <a:spAutoFit/>
          </a:bodyPr>
          <a:lstStyle/>
          <a:p>
            <a:r>
              <a:rPr sz="3000" b="1" cap="all" spc="400">
                <a:solidFill>
                  <a:srgbClr val="FFFFFF"/>
                </a:solidFill>
                <a:latin typeface="Calibri"/>
              </a:rPr>
              <a:t>Pricing Assessment</a:t>
            </a:r>
          </a:p>
        </p:txBody>
      </p:sp>
      <p:sp>
        <p:nvSpPr>
          <p:cNvPr id="7" name="TextBox 6"/>
          <p:cNvSpPr txBox="1"/>
          <p:nvPr/>
        </p:nvSpPr>
        <p:spPr>
          <a:xfrm>
            <a:off x="914400" y="4403725"/>
            <a:ext cx="7124700" cy="4889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Market Pricing</a:t>
            </a:r>
          </a:p>
        </p:txBody>
      </p:sp>
      <p:sp>
        <p:nvSpPr>
          <p:cNvPr id="8" name="TextBox 7"/>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C9DCEE"/>
                </a:solidFill>
                <a:latin typeface="Calibri"/>
              </a:rPr>
              <a:t>©2026 Transparency Market Research, All Rights Reserved</a:t>
            </a:r>
          </a:p>
        </p:txBody>
      </p:sp>
    </p:spTree>
  </p:cSld>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p:cSld>
    <p:bg>
      <p:bgPr>
        <a:solidFill>
          <a:srgbClr val="F3F8FD"/>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3F8FD"/>
              </a:gs>
              <a:gs pos="100000">
                <a:srgbClr val="DCE9F6"/>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FE0F0">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9C8E6">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B7D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A5F8F"/>
              </a:gs>
              <a:gs pos="100000">
                <a:srgbClr val="6FA6D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MR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15</a:t>
            </a:r>
          </a:p>
        </p:txBody>
      </p:sp>
      <p:pic>
        <p:nvPicPr>
          <p:cNvPr id="8" name="Picture 7" descr="tmr_logo.png"/>
          <p:cNvPicPr>
            <a:picLocks noChangeAspect="1"/>
          </p:cNvPicPr>
          <p:nvPr/>
        </p:nvPicPr>
        <p:blipFill>
          <a:blip r:embed="rId2"/>
          <a:stretch>
            <a:fillRect/>
          </a:stretch>
        </p:blipFill>
        <p:spPr>
          <a:xfrm>
            <a:off x="411480" y="274320"/>
            <a:ext cx="1307592" cy="975505"/>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2A5F8F"/>
                </a:solidFill>
                <a:latin typeface="Calibri"/>
              </a:rPr>
              <a:t>Egg Protein Membrane Market</a:t>
            </a:r>
          </a:p>
        </p:txBody>
      </p:sp>
      <p:sp>
        <p:nvSpPr>
          <p:cNvPr id="10" name="TMR Section Title"/>
          <p:cNvSpPr txBox="1"/>
          <p:nvPr/>
        </p:nvSpPr>
        <p:spPr>
          <a:xfrm>
            <a:off x="914400" y="2701925"/>
            <a:ext cx="8572500" cy="514350"/>
          </a:xfrm>
          <a:prstGeom prst="rect">
            <a:avLst/>
          </a:prstGeom>
          <a:noFill/>
        </p:spPr>
        <p:txBody>
          <a:bodyPr wrap="square" lIns="0" rIns="0" tIns="0">
            <a:spAutoFit/>
          </a:bodyPr>
          <a:lstStyle/>
          <a:p>
            <a:r>
              <a:rPr sz="3000" b="1">
                <a:solidFill>
                  <a:srgbClr val="0E2A5C"/>
                </a:solidFill>
                <a:latin typeface="Calibri"/>
              </a:rPr>
              <a:t>Pricing</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Product Pricing &amp; Regional Price Index Trends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Global Pricing Assessment</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Price Positioning &amp; Key Findings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Key Pricing Drivers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Factors Impacting Pricing</a:t>
            </a:r>
          </a:p>
        </p:txBody>
      </p:sp>
      <p:sp>
        <p:nvSpPr>
          <p:cNvPr id="12" name="Rectangle 11"/>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1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Egg Protein Membrane Market Product Pricing &amp; Regional Price Index Trends</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Price range by sub-segment and indexed regional price movement, highlighting dispersion and structural shifts</a:t>
            </a:r>
          </a:p>
        </p:txBody>
      </p:sp>
      <p:sp>
        <p:nvSpPr>
          <p:cNvPr id="7" name="Rounded Rectangle 6"/>
          <p:cNvSpPr/>
          <p:nvPr/>
        </p:nvSpPr>
        <p:spPr>
          <a:xfrm>
            <a:off x="142875" y="1007261"/>
            <a:ext cx="11906250" cy="255552"/>
          </a:xfrm>
          <a:prstGeom prst="roundRect">
            <a:avLst>
              <a:gd name="adj" fmla="val 29817"/>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Analysis of average USD pricing by product type and indexed regional price movement with base-year inflation adjustments.</a:t>
            </a:r>
          </a:p>
        </p:txBody>
      </p:sp>
      <p:sp>
        <p:nvSpPr>
          <p:cNvPr id="8" name="Rounded Rectangle 7"/>
          <p:cNvSpPr/>
          <p:nvPr/>
        </p:nvSpPr>
        <p:spPr>
          <a:xfrm>
            <a:off x="142875" y="1317574"/>
            <a:ext cx="7696200" cy="2601152"/>
          </a:xfrm>
          <a:prstGeom prst="roundRect">
            <a:avLst>
              <a:gd name="adj" fmla="val 292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374724"/>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Pricing by Product Type</a:t>
            </a:r>
          </a:p>
        </p:txBody>
      </p:sp>
      <p:sp>
        <p:nvSpPr>
          <p:cNvPr id="10" name="TextBox 9"/>
          <p:cNvSpPr txBox="1"/>
          <p:nvPr/>
        </p:nvSpPr>
        <p:spPr>
          <a:xfrm>
            <a:off x="57150" y="3471051"/>
            <a:ext cx="559594" cy="133350"/>
          </a:xfrm>
          <a:prstGeom prst="rect">
            <a:avLst/>
          </a:prstGeom>
          <a:noFill/>
        </p:spPr>
        <p:txBody>
          <a:bodyPr wrap="square" lIns="28575" rIns="28575" tIns="9525" bIns="9525" anchor="ctr">
            <a:spAutoFit/>
          </a:bodyPr>
          <a:lstStyle/>
          <a:p>
            <a:pPr algn="r"/>
            <a:r>
              <a:rPr sz="1100" b="0">
                <a:solidFill>
                  <a:srgbClr val="6C7A89"/>
                </a:solidFill>
                <a:latin typeface="Calibri"/>
              </a:rPr>
              <a:t>20990.2</a:t>
            </a:r>
          </a:p>
        </p:txBody>
      </p:sp>
      <p:sp>
        <p:nvSpPr>
          <p:cNvPr id="11" name="TextBox 10"/>
          <p:cNvSpPr txBox="1"/>
          <p:nvPr/>
        </p:nvSpPr>
        <p:spPr>
          <a:xfrm>
            <a:off x="57150" y="2561000"/>
            <a:ext cx="559594" cy="133350"/>
          </a:xfrm>
          <a:prstGeom prst="rect">
            <a:avLst/>
          </a:prstGeom>
          <a:noFill/>
        </p:spPr>
        <p:txBody>
          <a:bodyPr wrap="square" lIns="28575" rIns="28575" tIns="9525" bIns="9525" anchor="ctr">
            <a:spAutoFit/>
          </a:bodyPr>
          <a:lstStyle/>
          <a:p>
            <a:pPr algn="r"/>
            <a:r>
              <a:rPr sz="1100" b="0">
                <a:solidFill>
                  <a:srgbClr val="6C7A89"/>
                </a:solidFill>
                <a:latin typeface="Calibri"/>
              </a:rPr>
              <a:t>25665.7</a:t>
            </a:r>
          </a:p>
        </p:txBody>
      </p:sp>
      <p:sp>
        <p:nvSpPr>
          <p:cNvPr id="12" name="TextBox 11"/>
          <p:cNvSpPr txBox="1"/>
          <p:nvPr/>
        </p:nvSpPr>
        <p:spPr>
          <a:xfrm>
            <a:off x="57150" y="1650949"/>
            <a:ext cx="559594" cy="133350"/>
          </a:xfrm>
          <a:prstGeom prst="rect">
            <a:avLst/>
          </a:prstGeom>
          <a:noFill/>
        </p:spPr>
        <p:txBody>
          <a:bodyPr wrap="square" lIns="28575" rIns="28575" tIns="9525" bIns="9525" anchor="ctr">
            <a:spAutoFit/>
          </a:bodyPr>
          <a:lstStyle/>
          <a:p>
            <a:pPr algn="r"/>
            <a:r>
              <a:rPr sz="1100" b="0">
                <a:solidFill>
                  <a:srgbClr val="6C7A89"/>
                </a:solidFill>
                <a:latin typeface="Calibri"/>
              </a:rPr>
              <a:t>30341.2</a:t>
            </a:r>
          </a:p>
        </p:txBody>
      </p:sp>
      <p:cxnSp>
        <p:nvCxnSpPr>
          <p:cNvPr id="13" name="Connector 12"/>
          <p:cNvCxnSpPr/>
          <p:nvPr/>
        </p:nvCxnSpPr>
        <p:spPr>
          <a:xfrm>
            <a:off x="1825625" y="2608019"/>
            <a:ext cx="0" cy="451174"/>
          </a:xfrm>
          <a:prstGeom prst="line">
            <a:avLst/>
          </a:prstGeom>
          <a:ln w="17780">
            <a:solidFill>
              <a:srgbClr val="7C8B96"/>
            </a:solidFill>
          </a:ln>
          <a:effectLst/>
        </p:spPr>
        <p:style>
          <a:lnRef idx="2">
            <a:schemeClr val="accent1"/>
          </a:lnRef>
          <a:fillRef idx="0">
            <a:schemeClr val="accent1"/>
          </a:fillRef>
          <a:effectRef idx="1">
            <a:schemeClr val="accent1"/>
          </a:effectRef>
          <a:fontRef idx="minor">
            <a:schemeClr val="tx1"/>
          </a:fontRef>
        </p:style>
      </p:cxnSp>
      <p:sp>
        <p:nvSpPr>
          <p:cNvPr id="14" name="Rectangle 13"/>
          <p:cNvSpPr/>
          <p:nvPr/>
        </p:nvSpPr>
        <p:spPr>
          <a:xfrm>
            <a:off x="1606550" y="2608019"/>
            <a:ext cx="438150" cy="451174"/>
          </a:xfrm>
          <a:prstGeom prst="rect">
            <a:avLst/>
          </a:prstGeom>
          <a:solidFill>
            <a:srgbClr val="C9D9E8"/>
          </a:solidFill>
          <a:ln w="15875">
            <a:solidFill>
              <a:srgbClr val="7C8B9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7225" y="2455619"/>
            <a:ext cx="2336800" cy="133350"/>
          </a:xfrm>
          <a:prstGeom prst="rect">
            <a:avLst/>
          </a:prstGeom>
          <a:noFill/>
        </p:spPr>
        <p:txBody>
          <a:bodyPr wrap="square" lIns="28575" rIns="28575" tIns="9525" bIns="9525">
            <a:spAutoFit/>
          </a:bodyPr>
          <a:lstStyle/>
          <a:p>
            <a:pPr algn="ctr"/>
            <a:r>
              <a:rPr sz="1100" b="1">
                <a:solidFill>
                  <a:srgbClr val="0E2A5C"/>
                </a:solidFill>
                <a:latin typeface="Calibri"/>
              </a:rPr>
              <a:t> </a:t>
            </a:r>
          </a:p>
        </p:txBody>
      </p:sp>
      <p:sp>
        <p:nvSpPr>
          <p:cNvPr id="16" name="TextBox 15"/>
          <p:cNvSpPr txBox="1"/>
          <p:nvPr/>
        </p:nvSpPr>
        <p:spPr>
          <a:xfrm>
            <a:off x="657225" y="3566301"/>
            <a:ext cx="2336800" cy="285750"/>
          </a:xfrm>
          <a:prstGeom prst="rect">
            <a:avLst/>
          </a:prstGeom>
          <a:noFill/>
        </p:spPr>
        <p:txBody>
          <a:bodyPr wrap="square" lIns="28575" rIns="28575" tIns="9525" bIns="9525">
            <a:spAutoFit/>
          </a:bodyPr>
          <a:lstStyle/>
          <a:p>
            <a:pPr algn="ctr"/>
            <a:r>
              <a:rPr sz="1100" b="0">
                <a:solidFill>
                  <a:srgbClr val="2E2E2E"/>
                </a:solidFill>
                <a:latin typeface="Calibri"/>
              </a:rPr>
              <a:t>Micronized Eggshell M…</a:t>
            </a:r>
          </a:p>
        </p:txBody>
      </p:sp>
      <p:cxnSp>
        <p:nvCxnSpPr>
          <p:cNvPr id="17" name="Connector 16"/>
          <p:cNvCxnSpPr/>
          <p:nvPr/>
        </p:nvCxnSpPr>
        <p:spPr>
          <a:xfrm>
            <a:off x="4162425" y="2941207"/>
            <a:ext cx="0" cy="386507"/>
          </a:xfrm>
          <a:prstGeom prst="line">
            <a:avLst/>
          </a:prstGeom>
          <a:ln w="17780">
            <a:solidFill>
              <a:srgbClr val="7C8B96"/>
            </a:solidFill>
          </a:ln>
          <a:effectLst/>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3943350" y="2941207"/>
            <a:ext cx="438150" cy="386507"/>
          </a:xfrm>
          <a:prstGeom prst="rect">
            <a:avLst/>
          </a:prstGeom>
          <a:solidFill>
            <a:srgbClr val="C9D9E8"/>
          </a:solidFill>
          <a:ln w="15875">
            <a:solidFill>
              <a:srgbClr val="7C8B9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994025" y="2788807"/>
            <a:ext cx="2336800" cy="133350"/>
          </a:xfrm>
          <a:prstGeom prst="rect">
            <a:avLst/>
          </a:prstGeom>
          <a:noFill/>
        </p:spPr>
        <p:txBody>
          <a:bodyPr wrap="square" lIns="28575" rIns="28575" tIns="9525" bIns="9525">
            <a:spAutoFit/>
          </a:bodyPr>
          <a:lstStyle/>
          <a:p>
            <a:pPr algn="ctr"/>
            <a:r>
              <a:rPr sz="1100" b="1">
                <a:solidFill>
                  <a:srgbClr val="0E2A5C"/>
                </a:solidFill>
                <a:latin typeface="Calibri"/>
              </a:rPr>
              <a:t> </a:t>
            </a:r>
          </a:p>
        </p:txBody>
      </p:sp>
      <p:sp>
        <p:nvSpPr>
          <p:cNvPr id="20" name="TextBox 19"/>
          <p:cNvSpPr txBox="1"/>
          <p:nvPr/>
        </p:nvSpPr>
        <p:spPr>
          <a:xfrm>
            <a:off x="2994025" y="3566301"/>
            <a:ext cx="2336800" cy="285750"/>
          </a:xfrm>
          <a:prstGeom prst="rect">
            <a:avLst/>
          </a:prstGeom>
          <a:noFill/>
        </p:spPr>
        <p:txBody>
          <a:bodyPr wrap="square" lIns="28575" rIns="28575" tIns="9525" bIns="9525">
            <a:spAutoFit/>
          </a:bodyPr>
          <a:lstStyle/>
          <a:p>
            <a:pPr algn="ctr"/>
            <a:r>
              <a:rPr sz="1100" b="0">
                <a:solidFill>
                  <a:srgbClr val="2E2E2E"/>
                </a:solidFill>
                <a:latin typeface="Calibri"/>
              </a:rPr>
              <a:t>Hydrolyzed Eggshell M…</a:t>
            </a:r>
          </a:p>
        </p:txBody>
      </p:sp>
      <p:cxnSp>
        <p:nvCxnSpPr>
          <p:cNvPr id="21" name="Connector 20"/>
          <p:cNvCxnSpPr/>
          <p:nvPr/>
        </p:nvCxnSpPr>
        <p:spPr>
          <a:xfrm>
            <a:off x="6499225" y="1927636"/>
            <a:ext cx="0" cy="546551"/>
          </a:xfrm>
          <a:prstGeom prst="line">
            <a:avLst/>
          </a:prstGeom>
          <a:ln w="17780">
            <a:solidFill>
              <a:srgbClr val="7C8B96"/>
            </a:solidFill>
          </a:ln>
          <a:effectLst/>
        </p:spPr>
        <p:style>
          <a:lnRef idx="2">
            <a:schemeClr val="accent1"/>
          </a:lnRef>
          <a:fillRef idx="0">
            <a:schemeClr val="accent1"/>
          </a:fillRef>
          <a:effectRef idx="1">
            <a:schemeClr val="accent1"/>
          </a:effectRef>
          <a:fontRef idx="minor">
            <a:schemeClr val="tx1"/>
          </a:fontRef>
        </p:style>
      </p:cxnSp>
      <p:sp>
        <p:nvSpPr>
          <p:cNvPr id="22" name="Rectangle 21"/>
          <p:cNvSpPr/>
          <p:nvPr/>
        </p:nvSpPr>
        <p:spPr>
          <a:xfrm>
            <a:off x="6280150" y="1927636"/>
            <a:ext cx="438150" cy="546552"/>
          </a:xfrm>
          <a:prstGeom prst="rect">
            <a:avLst/>
          </a:prstGeom>
          <a:solidFill>
            <a:srgbClr val="C9D9E8"/>
          </a:solidFill>
          <a:ln w="15875">
            <a:solidFill>
              <a:srgbClr val="7C8B9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330825" y="1775236"/>
            <a:ext cx="2336800" cy="133350"/>
          </a:xfrm>
          <a:prstGeom prst="rect">
            <a:avLst/>
          </a:prstGeom>
          <a:noFill/>
        </p:spPr>
        <p:txBody>
          <a:bodyPr wrap="square" lIns="28575" rIns="28575" tIns="9525" bIns="9525">
            <a:spAutoFit/>
          </a:bodyPr>
          <a:lstStyle/>
          <a:p>
            <a:pPr algn="ctr"/>
            <a:r>
              <a:rPr sz="1100" b="1">
                <a:solidFill>
                  <a:srgbClr val="0E2A5C"/>
                </a:solidFill>
                <a:latin typeface="Calibri"/>
              </a:rPr>
              <a:t> </a:t>
            </a:r>
          </a:p>
        </p:txBody>
      </p:sp>
      <p:sp>
        <p:nvSpPr>
          <p:cNvPr id="24" name="TextBox 23"/>
          <p:cNvSpPr txBox="1"/>
          <p:nvPr/>
        </p:nvSpPr>
        <p:spPr>
          <a:xfrm>
            <a:off x="5330825" y="3566301"/>
            <a:ext cx="2336800" cy="285750"/>
          </a:xfrm>
          <a:prstGeom prst="rect">
            <a:avLst/>
          </a:prstGeom>
          <a:noFill/>
        </p:spPr>
        <p:txBody>
          <a:bodyPr wrap="square" lIns="28575" rIns="28575" tIns="9525" bIns="9525">
            <a:spAutoFit/>
          </a:bodyPr>
          <a:lstStyle/>
          <a:p>
            <a:pPr algn="ctr"/>
            <a:r>
              <a:rPr sz="1100" b="0">
                <a:solidFill>
                  <a:srgbClr val="2E2E2E"/>
                </a:solidFill>
                <a:latin typeface="Calibri"/>
              </a:rPr>
              <a:t>Specialty Extracted P…</a:t>
            </a:r>
          </a:p>
        </p:txBody>
      </p:sp>
      <p:sp>
        <p:nvSpPr>
          <p:cNvPr id="25" name="Rounded Rectangle 24"/>
          <p:cNvSpPr/>
          <p:nvPr/>
        </p:nvSpPr>
        <p:spPr>
          <a:xfrm>
            <a:off x="142875" y="3991741"/>
            <a:ext cx="7696200" cy="2564645"/>
          </a:xfrm>
          <a:prstGeom prst="roundRect">
            <a:avLst>
              <a:gd name="adj" fmla="val 2971"/>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38125" y="4048891"/>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Price Variation by Region vs Global Price Trend (2026–2036)</a:t>
            </a:r>
          </a:p>
        </p:txBody>
      </p:sp>
      <p:cxnSp>
        <p:nvCxnSpPr>
          <p:cNvPr id="27" name="Connector 26"/>
          <p:cNvCxnSpPr/>
          <p:nvPr/>
        </p:nvCxnSpPr>
        <p:spPr>
          <a:xfrm>
            <a:off x="619125" y="4521654"/>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619125" y="4885476"/>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619125" y="5249298"/>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619125" y="5613120"/>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619125" y="5976942"/>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619125" y="4521654"/>
            <a:ext cx="0" cy="1455288"/>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590550" y="4521654"/>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590550" y="4885476"/>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590550" y="5249298"/>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590550" y="5613120"/>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590550" y="5976942"/>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sp>
        <p:nvSpPr>
          <p:cNvPr id="38" name="TMR Scale tick"/>
          <p:cNvSpPr txBox="1"/>
          <p:nvPr/>
        </p:nvSpPr>
        <p:spPr>
          <a:xfrm>
            <a:off x="219075" y="4454979"/>
            <a:ext cx="361950" cy="133350"/>
          </a:xfrm>
          <a:prstGeom prst="rect">
            <a:avLst/>
          </a:prstGeom>
          <a:noFill/>
        </p:spPr>
        <p:txBody>
          <a:bodyPr wrap="none" lIns="0" rIns="0" tIns="0" bIns="0" anchor="ctr">
            <a:spAutoFit/>
          </a:bodyPr>
          <a:lstStyle/>
          <a:p>
            <a:pPr algn="r"/>
            <a:r>
              <a:rPr sz="1100" b="0">
                <a:solidFill>
                  <a:srgbClr val="6C7A89"/>
                </a:solidFill>
                <a:latin typeface="Calibri"/>
              </a:rPr>
              <a:t>+11%</a:t>
            </a:r>
          </a:p>
        </p:txBody>
      </p:sp>
      <p:sp>
        <p:nvSpPr>
          <p:cNvPr id="39" name="TMR Scale tick"/>
          <p:cNvSpPr txBox="1"/>
          <p:nvPr/>
        </p:nvSpPr>
        <p:spPr>
          <a:xfrm>
            <a:off x="219075" y="4818801"/>
            <a:ext cx="361950" cy="133350"/>
          </a:xfrm>
          <a:prstGeom prst="rect">
            <a:avLst/>
          </a:prstGeom>
          <a:noFill/>
        </p:spPr>
        <p:txBody>
          <a:bodyPr wrap="none" lIns="0" rIns="0" tIns="0" bIns="0" anchor="ctr">
            <a:spAutoFit/>
          </a:bodyPr>
          <a:lstStyle/>
          <a:p>
            <a:pPr algn="r"/>
            <a:r>
              <a:rPr sz="1100" b="0">
                <a:solidFill>
                  <a:srgbClr val="6C7A89"/>
                </a:solidFill>
                <a:latin typeface="Calibri"/>
              </a:rPr>
              <a:t>+5%</a:t>
            </a:r>
          </a:p>
        </p:txBody>
      </p:sp>
      <p:sp>
        <p:nvSpPr>
          <p:cNvPr id="40" name="TMR Scale tick"/>
          <p:cNvSpPr txBox="1"/>
          <p:nvPr/>
        </p:nvSpPr>
        <p:spPr>
          <a:xfrm>
            <a:off x="219075" y="5182623"/>
            <a:ext cx="361950" cy="133350"/>
          </a:xfrm>
          <a:prstGeom prst="rect">
            <a:avLst/>
          </a:prstGeom>
          <a:noFill/>
        </p:spPr>
        <p:txBody>
          <a:bodyPr wrap="none" lIns="0" rIns="0" tIns="0" bIns="0" anchor="ctr">
            <a:spAutoFit/>
          </a:bodyPr>
          <a:lstStyle/>
          <a:p>
            <a:pPr algn="r"/>
            <a:r>
              <a:rPr sz="1100" b="0">
                <a:solidFill>
                  <a:srgbClr val="6C7A89"/>
                </a:solidFill>
                <a:latin typeface="Calibri"/>
              </a:rPr>
              <a:t>0%</a:t>
            </a:r>
          </a:p>
        </p:txBody>
      </p:sp>
      <p:sp>
        <p:nvSpPr>
          <p:cNvPr id="41" name="TMR Scale tick"/>
          <p:cNvSpPr txBox="1"/>
          <p:nvPr/>
        </p:nvSpPr>
        <p:spPr>
          <a:xfrm>
            <a:off x="219075" y="5546445"/>
            <a:ext cx="361950" cy="133350"/>
          </a:xfrm>
          <a:prstGeom prst="rect">
            <a:avLst/>
          </a:prstGeom>
          <a:noFill/>
        </p:spPr>
        <p:txBody>
          <a:bodyPr wrap="none" lIns="0" rIns="0" tIns="0" bIns="0" anchor="ctr">
            <a:spAutoFit/>
          </a:bodyPr>
          <a:lstStyle/>
          <a:p>
            <a:pPr algn="r"/>
            <a:r>
              <a:rPr sz="1100" b="0">
                <a:solidFill>
                  <a:srgbClr val="6C7A89"/>
                </a:solidFill>
                <a:latin typeface="Calibri"/>
              </a:rPr>
              <a:t>-5%</a:t>
            </a:r>
          </a:p>
        </p:txBody>
      </p:sp>
      <p:sp>
        <p:nvSpPr>
          <p:cNvPr id="42" name="TMR Scale tick"/>
          <p:cNvSpPr txBox="1"/>
          <p:nvPr/>
        </p:nvSpPr>
        <p:spPr>
          <a:xfrm>
            <a:off x="219075" y="5910267"/>
            <a:ext cx="361950" cy="133350"/>
          </a:xfrm>
          <a:prstGeom prst="rect">
            <a:avLst/>
          </a:prstGeom>
          <a:noFill/>
        </p:spPr>
        <p:txBody>
          <a:bodyPr wrap="none" lIns="0" rIns="0" tIns="0" bIns="0" anchor="ctr">
            <a:spAutoFit/>
          </a:bodyPr>
          <a:lstStyle/>
          <a:p>
            <a:pPr algn="r"/>
            <a:r>
              <a:rPr sz="1100" b="0">
                <a:solidFill>
                  <a:srgbClr val="6C7A89"/>
                </a:solidFill>
                <a:latin typeface="Calibri"/>
              </a:rPr>
              <a:t>-11%</a:t>
            </a:r>
          </a:p>
        </p:txBody>
      </p:sp>
      <p:cxnSp>
        <p:nvCxnSpPr>
          <p:cNvPr id="43" name="Connector 42"/>
          <p:cNvCxnSpPr/>
          <p:nvPr/>
        </p:nvCxnSpPr>
        <p:spPr>
          <a:xfrm>
            <a:off x="619125" y="5249298"/>
            <a:ext cx="7048500" cy="0"/>
          </a:xfrm>
          <a:prstGeom prst="line">
            <a:avLst/>
          </a:prstGeom>
          <a:ln w="13970">
            <a:solidFill>
              <a:srgbClr val="6C7A89"/>
            </a:solidFill>
            <a:prstDash val="dash"/>
          </a:ln>
          <a:effectLst/>
        </p:spPr>
        <p:style>
          <a:lnRef idx="2">
            <a:schemeClr val="accent1"/>
          </a:lnRef>
          <a:fillRef idx="0">
            <a:schemeClr val="accent1"/>
          </a:fillRef>
          <a:effectRef idx="1">
            <a:schemeClr val="accent1"/>
          </a:effectRef>
          <a:fontRef idx="minor">
            <a:schemeClr val="tx1"/>
          </a:fontRef>
        </p:style>
      </p:cxnSp>
      <p:sp>
        <p:nvSpPr>
          <p:cNvPr id="44" name="Rectangle 43"/>
          <p:cNvSpPr/>
          <p:nvPr/>
        </p:nvSpPr>
        <p:spPr>
          <a:xfrm>
            <a:off x="977900" y="4614107"/>
            <a:ext cx="457200" cy="635191"/>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MR Data Label"/>
          <p:cNvSpPr txBox="1"/>
          <p:nvPr/>
        </p:nvSpPr>
        <p:spPr>
          <a:xfrm>
            <a:off x="619125" y="4471232"/>
            <a:ext cx="1174750"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46" name="Rectangle 45"/>
          <p:cNvSpPr/>
          <p:nvPr/>
        </p:nvSpPr>
        <p:spPr>
          <a:xfrm>
            <a:off x="2152650" y="5203735"/>
            <a:ext cx="457200" cy="45563"/>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MR Data Label"/>
          <p:cNvSpPr txBox="1"/>
          <p:nvPr/>
        </p:nvSpPr>
        <p:spPr>
          <a:xfrm>
            <a:off x="1793875" y="5060860"/>
            <a:ext cx="1174750"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48" name="Rectangle 47"/>
          <p:cNvSpPr/>
          <p:nvPr/>
        </p:nvSpPr>
        <p:spPr>
          <a:xfrm>
            <a:off x="3327400" y="4769988"/>
            <a:ext cx="457200" cy="479310"/>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MR Data Label"/>
          <p:cNvSpPr txBox="1"/>
          <p:nvPr/>
        </p:nvSpPr>
        <p:spPr>
          <a:xfrm>
            <a:off x="2968625" y="4627113"/>
            <a:ext cx="1174750"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50" name="Rectangle 49"/>
          <p:cNvSpPr/>
          <p:nvPr/>
        </p:nvSpPr>
        <p:spPr>
          <a:xfrm>
            <a:off x="4502150" y="5249298"/>
            <a:ext cx="457200" cy="381376"/>
          </a:xfrm>
          <a:prstGeom prst="rect">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MR Data Label"/>
          <p:cNvSpPr txBox="1"/>
          <p:nvPr/>
        </p:nvSpPr>
        <p:spPr>
          <a:xfrm>
            <a:off x="4143375" y="5640199"/>
            <a:ext cx="1174750"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52" name="Rectangle 51"/>
          <p:cNvSpPr/>
          <p:nvPr/>
        </p:nvSpPr>
        <p:spPr>
          <a:xfrm>
            <a:off x="5676900" y="5249298"/>
            <a:ext cx="457200" cy="386217"/>
          </a:xfrm>
          <a:prstGeom prst="rect">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MR Data Label"/>
          <p:cNvSpPr txBox="1"/>
          <p:nvPr/>
        </p:nvSpPr>
        <p:spPr>
          <a:xfrm>
            <a:off x="5318125" y="5645040"/>
            <a:ext cx="1174750"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54" name="Rectangle 53"/>
          <p:cNvSpPr/>
          <p:nvPr/>
        </p:nvSpPr>
        <p:spPr>
          <a:xfrm>
            <a:off x="6851650" y="5249298"/>
            <a:ext cx="457200" cy="75801"/>
          </a:xfrm>
          <a:prstGeom prst="rect">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MR Data Label"/>
          <p:cNvSpPr txBox="1"/>
          <p:nvPr/>
        </p:nvSpPr>
        <p:spPr>
          <a:xfrm>
            <a:off x="6492875" y="5334624"/>
            <a:ext cx="1174750"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56" name="TextBox 55"/>
          <p:cNvSpPr txBox="1"/>
          <p:nvPr/>
        </p:nvSpPr>
        <p:spPr>
          <a:xfrm>
            <a:off x="619125" y="6135380"/>
            <a:ext cx="1174750" cy="247650"/>
          </a:xfrm>
          <a:prstGeom prst="rect">
            <a:avLst/>
          </a:prstGeom>
          <a:noFill/>
        </p:spPr>
        <p:txBody>
          <a:bodyPr wrap="square" lIns="28575" rIns="28575" tIns="9525" bIns="9525">
            <a:spAutoFit/>
          </a:bodyPr>
          <a:lstStyle/>
          <a:p>
            <a:pPr algn="ctr"/>
            <a:r>
              <a:rPr sz="1100" b="0">
                <a:solidFill>
                  <a:srgbClr val="2E2E2E"/>
                </a:solidFill>
                <a:latin typeface="Calibri"/>
              </a:rPr>
              <a:t>North America</a:t>
            </a:r>
          </a:p>
        </p:txBody>
      </p:sp>
      <p:sp>
        <p:nvSpPr>
          <p:cNvPr id="57" name="TextBox 56"/>
          <p:cNvSpPr txBox="1"/>
          <p:nvPr/>
        </p:nvSpPr>
        <p:spPr>
          <a:xfrm>
            <a:off x="1793875" y="6135380"/>
            <a:ext cx="1174750" cy="247650"/>
          </a:xfrm>
          <a:prstGeom prst="rect">
            <a:avLst/>
          </a:prstGeom>
          <a:noFill/>
        </p:spPr>
        <p:txBody>
          <a:bodyPr wrap="square" lIns="28575" rIns="28575" tIns="9525" bIns="9525">
            <a:spAutoFit/>
          </a:bodyPr>
          <a:lstStyle/>
          <a:p>
            <a:pPr algn="ctr"/>
            <a:r>
              <a:rPr sz="1100" b="0">
                <a:solidFill>
                  <a:srgbClr val="2E2E2E"/>
                </a:solidFill>
                <a:latin typeface="Calibri"/>
              </a:rPr>
              <a:t>Latin America</a:t>
            </a:r>
          </a:p>
        </p:txBody>
      </p:sp>
      <p:sp>
        <p:nvSpPr>
          <p:cNvPr id="58" name="TextBox 57"/>
          <p:cNvSpPr txBox="1"/>
          <p:nvPr/>
        </p:nvSpPr>
        <p:spPr>
          <a:xfrm>
            <a:off x="2968625" y="6135380"/>
            <a:ext cx="1174750" cy="247650"/>
          </a:xfrm>
          <a:prstGeom prst="rect">
            <a:avLst/>
          </a:prstGeom>
          <a:noFill/>
        </p:spPr>
        <p:txBody>
          <a:bodyPr wrap="square" lIns="28575" rIns="28575" tIns="9525" bIns="9525">
            <a:spAutoFit/>
          </a:bodyPr>
          <a:lstStyle/>
          <a:p>
            <a:pPr algn="ctr"/>
            <a:r>
              <a:rPr sz="1100" b="0">
                <a:solidFill>
                  <a:srgbClr val="2E2E2E"/>
                </a:solidFill>
                <a:latin typeface="Calibri"/>
              </a:rPr>
              <a:t>Europe</a:t>
            </a:r>
          </a:p>
        </p:txBody>
      </p:sp>
      <p:sp>
        <p:nvSpPr>
          <p:cNvPr id="59" name="TextBox 58"/>
          <p:cNvSpPr txBox="1"/>
          <p:nvPr/>
        </p:nvSpPr>
        <p:spPr>
          <a:xfrm>
            <a:off x="4143375" y="6135380"/>
            <a:ext cx="1174750" cy="247650"/>
          </a:xfrm>
          <a:prstGeom prst="rect">
            <a:avLst/>
          </a:prstGeom>
          <a:noFill/>
        </p:spPr>
        <p:txBody>
          <a:bodyPr wrap="square" lIns="28575" rIns="28575" tIns="9525" bIns="9525">
            <a:spAutoFit/>
          </a:bodyPr>
          <a:lstStyle/>
          <a:p>
            <a:pPr algn="ctr"/>
            <a:r>
              <a:rPr sz="1100" b="0">
                <a:solidFill>
                  <a:srgbClr val="2E2E2E"/>
                </a:solidFill>
                <a:latin typeface="Calibri"/>
              </a:rPr>
              <a:t>East Asia</a:t>
            </a:r>
          </a:p>
        </p:txBody>
      </p:sp>
      <p:sp>
        <p:nvSpPr>
          <p:cNvPr id="60" name="TextBox 59"/>
          <p:cNvSpPr txBox="1"/>
          <p:nvPr/>
        </p:nvSpPr>
        <p:spPr>
          <a:xfrm>
            <a:off x="5318125" y="6135380"/>
            <a:ext cx="1174750" cy="247650"/>
          </a:xfrm>
          <a:prstGeom prst="rect">
            <a:avLst/>
          </a:prstGeom>
          <a:noFill/>
        </p:spPr>
        <p:txBody>
          <a:bodyPr wrap="square" lIns="28575" rIns="28575" tIns="9525" bIns="9525">
            <a:spAutoFit/>
          </a:bodyPr>
          <a:lstStyle/>
          <a:p>
            <a:pPr algn="ctr"/>
            <a:r>
              <a:rPr sz="1100" b="0">
                <a:solidFill>
                  <a:srgbClr val="2E2E2E"/>
                </a:solidFill>
                <a:latin typeface="Calibri"/>
              </a:rPr>
              <a:t>South Asia &amp; Pacific</a:t>
            </a:r>
          </a:p>
        </p:txBody>
      </p:sp>
      <p:sp>
        <p:nvSpPr>
          <p:cNvPr id="61" name="TextBox 60"/>
          <p:cNvSpPr txBox="1"/>
          <p:nvPr/>
        </p:nvSpPr>
        <p:spPr>
          <a:xfrm>
            <a:off x="6492875" y="6135380"/>
            <a:ext cx="1174750" cy="247650"/>
          </a:xfrm>
          <a:prstGeom prst="rect">
            <a:avLst/>
          </a:prstGeom>
          <a:noFill/>
        </p:spPr>
        <p:txBody>
          <a:bodyPr wrap="square" lIns="28575" rIns="28575" tIns="9525" bIns="9525">
            <a:spAutoFit/>
          </a:bodyPr>
          <a:lstStyle/>
          <a:p>
            <a:pPr algn="ctr"/>
            <a:r>
              <a:rPr sz="1100" b="0">
                <a:solidFill>
                  <a:srgbClr val="2E2E2E"/>
                </a:solidFill>
                <a:latin typeface="Calibri"/>
              </a:rPr>
              <a:t>Middle East and Africa</a:t>
            </a:r>
          </a:p>
        </p:txBody>
      </p:sp>
      <p:sp>
        <p:nvSpPr>
          <p:cNvPr id="62" name="Rounded Rectangle 61"/>
          <p:cNvSpPr/>
          <p:nvPr/>
        </p:nvSpPr>
        <p:spPr>
          <a:xfrm>
            <a:off x="7915275" y="1317574"/>
            <a:ext cx="4133850" cy="5238811"/>
          </a:xfrm>
          <a:prstGeom prst="roundRect">
            <a:avLst>
              <a:gd name="adj" fmla="val 1843"/>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8048625" y="1403299"/>
            <a:ext cx="3867150" cy="209550"/>
          </a:xfrm>
          <a:prstGeom prst="rect">
            <a:avLst/>
          </a:prstGeom>
          <a:noFill/>
        </p:spPr>
        <p:txBody>
          <a:bodyPr wrap="square" lIns="0" rIns="19050" tIns="9525" bIns="9525">
            <a:spAutoFit/>
          </a:bodyPr>
          <a:lstStyle/>
          <a:p>
            <a:pPr algn="l"/>
            <a:r>
              <a:rPr sz="1300" b="1">
                <a:solidFill>
                  <a:srgbClr val="0E2A5C"/>
                </a:solidFill>
                <a:latin typeface="Calibri"/>
              </a:rPr>
              <a:t>Key Takeaways</a:t>
            </a:r>
          </a:p>
        </p:txBody>
      </p:sp>
      <p:sp>
        <p:nvSpPr>
          <p:cNvPr id="64" name="Rectangle 63"/>
          <p:cNvSpPr/>
          <p:nvPr/>
        </p:nvSpPr>
        <p:spPr>
          <a:xfrm>
            <a:off x="8048625" y="1641424"/>
            <a:ext cx="38671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8048625" y="1727149"/>
            <a:ext cx="3867150" cy="4753036"/>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p:txBody>
      </p:sp>
      <p:sp>
        <p:nvSpPr>
          <p:cNvPr id="66" name="Rectangle 65"/>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68" name="Picture 67" descr="lock.png"/>
          <p:cNvPicPr>
            <a:picLocks noChangeAspect="1"/>
          </p:cNvPicPr>
          <p:nvPr/>
        </p:nvPicPr>
        <p:blipFill>
          <a:blip r:embed="rId4"/>
          <a:stretch>
            <a:fillRect/>
          </a:stretch>
        </p:blipFill>
        <p:spPr>
          <a:xfrm>
            <a:off x="1761275" y="2428695"/>
            <a:ext cx="128699" cy="187198"/>
          </a:xfrm>
          <a:prstGeom prst="rect">
            <a:avLst/>
          </a:prstGeom>
        </p:spPr>
      </p:pic>
      <p:pic>
        <p:nvPicPr>
          <p:cNvPr id="69" name="Picture 68" descr="lock.png"/>
          <p:cNvPicPr>
            <a:picLocks noChangeAspect="1"/>
          </p:cNvPicPr>
          <p:nvPr/>
        </p:nvPicPr>
        <p:blipFill>
          <a:blip r:embed="rId4"/>
          <a:stretch>
            <a:fillRect/>
          </a:stretch>
        </p:blipFill>
        <p:spPr>
          <a:xfrm>
            <a:off x="4098075" y="2761883"/>
            <a:ext cx="128699" cy="187198"/>
          </a:xfrm>
          <a:prstGeom prst="rect">
            <a:avLst/>
          </a:prstGeom>
        </p:spPr>
      </p:pic>
      <p:pic>
        <p:nvPicPr>
          <p:cNvPr id="70" name="Picture 69" descr="lock.png"/>
          <p:cNvPicPr>
            <a:picLocks noChangeAspect="1"/>
          </p:cNvPicPr>
          <p:nvPr/>
        </p:nvPicPr>
        <p:blipFill>
          <a:blip r:embed="rId4"/>
          <a:stretch>
            <a:fillRect/>
          </a:stretch>
        </p:blipFill>
        <p:spPr>
          <a:xfrm>
            <a:off x="6434875" y="1748312"/>
            <a:ext cx="128699" cy="187198"/>
          </a:xfrm>
          <a:prstGeom prst="rect">
            <a:avLst/>
          </a:prstGeom>
        </p:spPr>
      </p:pic>
      <p:pic>
        <p:nvPicPr>
          <p:cNvPr id="71" name="Picture 70" descr="lock.png"/>
          <p:cNvPicPr>
            <a:picLocks noChangeAspect="1"/>
          </p:cNvPicPr>
          <p:nvPr/>
        </p:nvPicPr>
        <p:blipFill>
          <a:blip r:embed="rId4"/>
          <a:stretch>
            <a:fillRect/>
          </a:stretch>
        </p:blipFill>
        <p:spPr>
          <a:xfrm>
            <a:off x="1142150" y="4444308"/>
            <a:ext cx="128699" cy="187198"/>
          </a:xfrm>
          <a:prstGeom prst="rect">
            <a:avLst/>
          </a:prstGeom>
        </p:spPr>
      </p:pic>
      <p:pic>
        <p:nvPicPr>
          <p:cNvPr id="72" name="Picture 71" descr="lock.png"/>
          <p:cNvPicPr>
            <a:picLocks noChangeAspect="1"/>
          </p:cNvPicPr>
          <p:nvPr/>
        </p:nvPicPr>
        <p:blipFill>
          <a:blip r:embed="rId4"/>
          <a:stretch>
            <a:fillRect/>
          </a:stretch>
        </p:blipFill>
        <p:spPr>
          <a:xfrm>
            <a:off x="2316900" y="5033935"/>
            <a:ext cx="128699" cy="187198"/>
          </a:xfrm>
          <a:prstGeom prst="rect">
            <a:avLst/>
          </a:prstGeom>
        </p:spPr>
      </p:pic>
      <p:pic>
        <p:nvPicPr>
          <p:cNvPr id="73" name="Picture 72" descr="lock.png"/>
          <p:cNvPicPr>
            <a:picLocks noChangeAspect="1"/>
          </p:cNvPicPr>
          <p:nvPr/>
        </p:nvPicPr>
        <p:blipFill>
          <a:blip r:embed="rId4"/>
          <a:stretch>
            <a:fillRect/>
          </a:stretch>
        </p:blipFill>
        <p:spPr>
          <a:xfrm>
            <a:off x="3491650" y="4600189"/>
            <a:ext cx="128699" cy="187198"/>
          </a:xfrm>
          <a:prstGeom prst="rect">
            <a:avLst/>
          </a:prstGeom>
        </p:spPr>
      </p:pic>
      <p:pic>
        <p:nvPicPr>
          <p:cNvPr id="74" name="Picture 73" descr="lock.png"/>
          <p:cNvPicPr>
            <a:picLocks noChangeAspect="1"/>
          </p:cNvPicPr>
          <p:nvPr/>
        </p:nvPicPr>
        <p:blipFill>
          <a:blip r:embed="rId4"/>
          <a:stretch>
            <a:fillRect/>
          </a:stretch>
        </p:blipFill>
        <p:spPr>
          <a:xfrm>
            <a:off x="4666400" y="5613274"/>
            <a:ext cx="128699" cy="187198"/>
          </a:xfrm>
          <a:prstGeom prst="rect">
            <a:avLst/>
          </a:prstGeom>
        </p:spPr>
      </p:pic>
      <p:pic>
        <p:nvPicPr>
          <p:cNvPr id="75" name="Picture 74" descr="lock.png"/>
          <p:cNvPicPr>
            <a:picLocks noChangeAspect="1"/>
          </p:cNvPicPr>
          <p:nvPr/>
        </p:nvPicPr>
        <p:blipFill>
          <a:blip r:embed="rId4"/>
          <a:stretch>
            <a:fillRect/>
          </a:stretch>
        </p:blipFill>
        <p:spPr>
          <a:xfrm>
            <a:off x="5841150" y="5618116"/>
            <a:ext cx="128699" cy="187198"/>
          </a:xfrm>
          <a:prstGeom prst="rect">
            <a:avLst/>
          </a:prstGeom>
        </p:spPr>
      </p:pic>
      <p:pic>
        <p:nvPicPr>
          <p:cNvPr id="76" name="Picture 75" descr="lock.png"/>
          <p:cNvPicPr>
            <a:picLocks noChangeAspect="1"/>
          </p:cNvPicPr>
          <p:nvPr/>
        </p:nvPicPr>
        <p:blipFill>
          <a:blip r:embed="rId4"/>
          <a:stretch>
            <a:fillRect/>
          </a:stretch>
        </p:blipFill>
        <p:spPr>
          <a:xfrm>
            <a:off x="7015900" y="5307699"/>
            <a:ext cx="128699" cy="187198"/>
          </a:xfrm>
          <a:prstGeom prst="rect">
            <a:avLst/>
          </a:prstGeom>
        </p:spPr>
      </p:pic>
      <p:sp>
        <p:nvSpPr>
          <p:cNvPr id="77" name="TextBox 76"/>
          <p:cNvSpPr txBox="1"/>
          <p:nvPr/>
        </p:nvSpPr>
        <p:spPr>
          <a:xfrm>
            <a:off x="8048625" y="1736673"/>
            <a:ext cx="3654424" cy="194310"/>
          </a:xfrm>
          <a:prstGeom prst="rect">
            <a:avLst/>
          </a:prstGeom>
          <a:noFill/>
        </p:spPr>
        <p:txBody>
          <a:bodyPr wrap="none" lIns="0" rIns="0" tIns="0" bIns="0">
            <a:spAutoFit/>
          </a:bodyPr>
          <a:lstStyle/>
          <a:p>
            <a:r>
              <a:rPr sz="1150" b="0">
                <a:solidFill>
                  <a:srgbClr val="2E2E2E"/>
                </a:solidFill>
                <a:latin typeface="Calibri"/>
              </a:rPr>
              <a:t>▪ The chart shows global average pricing of key product type</a:t>
            </a:r>
          </a:p>
        </p:txBody>
      </p:sp>
      <p:sp>
        <p:nvSpPr>
          <p:cNvPr id="78" name="TextBox 77"/>
          <p:cNvSpPr txBox="1"/>
          <p:nvPr/>
        </p:nvSpPr>
        <p:spPr>
          <a:xfrm>
            <a:off x="8048625" y="1911934"/>
            <a:ext cx="3848100" cy="194310"/>
          </a:xfrm>
          <a:prstGeom prst="rect">
            <a:avLst/>
          </a:prstGeom>
          <a:noFill/>
        </p:spPr>
        <p:txBody>
          <a:bodyPr wrap="none" lIns="0" rIns="0" tIns="0" bIns="0">
            <a:spAutoFit/>
          </a:bodyPr>
          <a:lstStyle/>
          <a:p>
            <a:r>
              <a:rPr sz="1150" b="0">
                <a:solidFill>
                  <a:srgbClr val="2E2E2E"/>
                </a:solidFill>
                <a:latin typeface="Calibri"/>
              </a:rPr>
              <a:t>types in USD, harmonised across regions. Each candlestick spans</a:t>
            </a:r>
          </a:p>
        </p:txBody>
      </p:sp>
      <p:sp>
        <p:nvSpPr>
          <p:cNvPr id="79" name="TextBox 78"/>
          <p:cNvSpPr txBox="1"/>
          <p:nvPr/>
        </p:nvSpPr>
        <p:spPr>
          <a:xfrm>
            <a:off x="8048625" y="2087194"/>
            <a:ext cx="3848100" cy="194310"/>
          </a:xfrm>
          <a:prstGeom prst="rect">
            <a:avLst/>
          </a:prstGeom>
          <a:noFill/>
        </p:spPr>
        <p:txBody>
          <a:bodyPr wrap="none" lIns="0" rIns="0" tIns="0" bIns="0">
            <a:spAutoFit/>
          </a:bodyPr>
          <a:lstStyle/>
          <a:p>
            <a:r>
              <a:rPr sz="1150" b="0">
                <a:solidFill>
                  <a:srgbClr val="2E2E2E"/>
                </a:solidFill>
                <a:latin typeface="Calibri"/>
              </a:rPr>
              <a:t>the minimum-to-maximum observed price within the base year,</a:t>
            </a:r>
          </a:p>
        </p:txBody>
      </p:sp>
      <p:sp>
        <p:nvSpPr>
          <p:cNvPr id="80" name="TextBox 79"/>
          <p:cNvSpPr txBox="1"/>
          <p:nvPr/>
        </p:nvSpPr>
        <p:spPr>
          <a:xfrm>
            <a:off x="8048625" y="2262454"/>
            <a:ext cx="3406254" cy="194310"/>
          </a:xfrm>
          <a:prstGeom prst="rect">
            <a:avLst/>
          </a:prstGeom>
          <a:noFill/>
        </p:spPr>
        <p:txBody>
          <a:bodyPr wrap="none" lIns="0" rIns="0" tIns="0" bIns="0">
            <a:spAutoFit/>
          </a:bodyPr>
          <a:lstStyle/>
          <a:p>
            <a:r>
              <a:rPr sz="1150" b="0">
                <a:solidFill>
                  <a:srgbClr val="2E2E2E"/>
                </a:solidFill>
                <a:latin typeface="Calibri"/>
              </a:rPr>
              <a:t>giving a clear read of price range and market dispersion.</a:t>
            </a:r>
          </a:p>
        </p:txBody>
      </p:sp>
      <p:sp>
        <p:nvSpPr>
          <p:cNvPr id="81" name="TextBox 80"/>
          <p:cNvSpPr txBox="1"/>
          <p:nvPr/>
        </p:nvSpPr>
        <p:spPr>
          <a:xfrm>
            <a:off x="8048625" y="2490292"/>
            <a:ext cx="3793058" cy="194310"/>
          </a:xfrm>
          <a:prstGeom prst="rect">
            <a:avLst/>
          </a:prstGeom>
          <a:noFill/>
        </p:spPr>
        <p:txBody>
          <a:bodyPr wrap="none" lIns="0" rIns="0" tIns="0" bIns="0">
            <a:spAutoFit/>
          </a:bodyPr>
          <a:lstStyle/>
          <a:p>
            <a:r>
              <a:rPr sz="1150" b="0">
                <a:solidFill>
                  <a:srgbClr val="2E2E2E"/>
                </a:solidFill>
                <a:latin typeface="Calibri"/>
              </a:rPr>
              <a:t>▪ Wider bodies mark a larger gap between opening and closing</a:t>
            </a:r>
          </a:p>
        </p:txBody>
      </p:sp>
      <p:sp>
        <p:nvSpPr>
          <p:cNvPr id="82" name="TextBox 81"/>
          <p:cNvSpPr txBox="1"/>
          <p:nvPr/>
        </p:nvSpPr>
        <p:spPr>
          <a:xfrm>
            <a:off x="8048625" y="2665551"/>
            <a:ext cx="3650146" cy="194310"/>
          </a:xfrm>
          <a:prstGeom prst="rect">
            <a:avLst/>
          </a:prstGeom>
          <a:noFill/>
        </p:spPr>
        <p:txBody>
          <a:bodyPr wrap="none" lIns="0" rIns="0" tIns="0" bIns="0">
            <a:spAutoFit/>
          </a:bodyPr>
          <a:lstStyle/>
          <a:p>
            <a:r>
              <a:rPr sz="1150" b="0">
                <a:solidFill>
                  <a:srgbClr val="2E2E2E"/>
                </a:solidFill>
                <a:latin typeface="Calibri"/>
              </a:rPr>
              <a:t>price levels 'Specialty Extracted Protein Fractions' shows the</a:t>
            </a:r>
          </a:p>
        </p:txBody>
      </p:sp>
      <p:sp>
        <p:nvSpPr>
          <p:cNvPr id="83" name="TextBox 82"/>
          <p:cNvSpPr txBox="1"/>
          <p:nvPr/>
        </p:nvSpPr>
        <p:spPr>
          <a:xfrm>
            <a:off x="8048625" y="2840811"/>
            <a:ext cx="1206661" cy="194310"/>
          </a:xfrm>
          <a:prstGeom prst="rect">
            <a:avLst/>
          </a:prstGeom>
          <a:noFill/>
        </p:spPr>
        <p:txBody>
          <a:bodyPr wrap="none" lIns="0" rIns="0" tIns="0" bIns="0">
            <a:spAutoFit/>
          </a:bodyPr>
          <a:lstStyle/>
          <a:p>
            <a:r>
              <a:rPr sz="1150" b="0">
                <a:solidFill>
                  <a:srgbClr val="2E2E2E"/>
                </a:solidFill>
                <a:latin typeface="Calibri"/>
              </a:rPr>
              <a:t>most movement (+</a:t>
            </a:r>
          </a:p>
        </p:txBody>
      </p:sp>
      <p:pic>
        <p:nvPicPr>
          <p:cNvPr id="84" name="Picture 83" descr="lock.png"/>
          <p:cNvPicPr>
            <a:picLocks noChangeAspect="1"/>
          </p:cNvPicPr>
          <p:nvPr/>
        </p:nvPicPr>
        <p:blipFill>
          <a:blip r:embed="rId4"/>
          <a:stretch>
            <a:fillRect/>
          </a:stretch>
        </p:blipFill>
        <p:spPr>
          <a:xfrm>
            <a:off x="9204440" y="2830588"/>
            <a:ext cx="134549" cy="195707"/>
          </a:xfrm>
          <a:prstGeom prst="rect">
            <a:avLst/>
          </a:prstGeom>
        </p:spPr>
      </p:pic>
      <p:sp>
        <p:nvSpPr>
          <p:cNvPr id="85" name="TextBox 84"/>
          <p:cNvSpPr txBox="1"/>
          <p:nvPr/>
        </p:nvSpPr>
        <p:spPr>
          <a:xfrm>
            <a:off x="9379549" y="2840811"/>
            <a:ext cx="2353667" cy="194310"/>
          </a:xfrm>
          <a:prstGeom prst="rect">
            <a:avLst/>
          </a:prstGeom>
          <a:noFill/>
        </p:spPr>
        <p:txBody>
          <a:bodyPr wrap="none" lIns="0" rIns="0" tIns="0" bIns="0">
            <a:spAutoFit/>
          </a:bodyPr>
          <a:lstStyle/>
          <a:p>
            <a:r>
              <a:rPr sz="1150" b="0">
                <a:solidFill>
                  <a:srgbClr val="2E2E2E"/>
                </a:solidFill>
                <a:latin typeface="Calibri"/>
              </a:rPr>
              <a:t>) and 'Hydrolyzed Eggshell Membrane'</a:t>
            </a:r>
          </a:p>
        </p:txBody>
      </p:sp>
      <p:sp>
        <p:nvSpPr>
          <p:cNvPr id="86" name="TextBox 85"/>
          <p:cNvSpPr txBox="1"/>
          <p:nvPr/>
        </p:nvSpPr>
        <p:spPr>
          <a:xfrm>
            <a:off x="8048625" y="3016071"/>
            <a:ext cx="740271" cy="194310"/>
          </a:xfrm>
          <a:prstGeom prst="rect">
            <a:avLst/>
          </a:prstGeom>
          <a:noFill/>
        </p:spPr>
        <p:txBody>
          <a:bodyPr wrap="none" lIns="0" rIns="0" tIns="0" bIns="0">
            <a:spAutoFit/>
          </a:bodyPr>
          <a:lstStyle/>
          <a:p>
            <a:r>
              <a:rPr sz="1150" b="0">
                <a:solidFill>
                  <a:srgbClr val="2E2E2E"/>
                </a:solidFill>
                <a:latin typeface="Calibri"/>
              </a:rPr>
              <a:t>the least (+</a:t>
            </a:r>
          </a:p>
        </p:txBody>
      </p:sp>
      <p:pic>
        <p:nvPicPr>
          <p:cNvPr id="87" name="Picture 86" descr="lock.png"/>
          <p:cNvPicPr>
            <a:picLocks noChangeAspect="1"/>
          </p:cNvPicPr>
          <p:nvPr/>
        </p:nvPicPr>
        <p:blipFill>
          <a:blip r:embed="rId4"/>
          <a:stretch>
            <a:fillRect/>
          </a:stretch>
        </p:blipFill>
        <p:spPr>
          <a:xfrm>
            <a:off x="8738050" y="3005848"/>
            <a:ext cx="134549" cy="195707"/>
          </a:xfrm>
          <a:prstGeom prst="rect">
            <a:avLst/>
          </a:prstGeom>
        </p:spPr>
      </p:pic>
      <p:sp>
        <p:nvSpPr>
          <p:cNvPr id="88" name="TextBox 87"/>
          <p:cNvSpPr txBox="1"/>
          <p:nvPr/>
        </p:nvSpPr>
        <p:spPr>
          <a:xfrm>
            <a:off x="8913159" y="3016071"/>
            <a:ext cx="2839169" cy="194310"/>
          </a:xfrm>
          <a:prstGeom prst="rect">
            <a:avLst/>
          </a:prstGeom>
          <a:noFill/>
        </p:spPr>
        <p:txBody>
          <a:bodyPr wrap="none" lIns="0" rIns="0" tIns="0" bIns="0">
            <a:spAutoFit/>
          </a:bodyPr>
          <a:lstStyle/>
          <a:p>
            <a:r>
              <a:rPr sz="1150" b="0">
                <a:solidFill>
                  <a:srgbClr val="2E2E2E"/>
                </a:solidFill>
                <a:latin typeface="Calibri"/>
              </a:rPr>
              <a:t>) variability stakeholders should monitor when</a:t>
            </a:r>
          </a:p>
        </p:txBody>
      </p:sp>
      <p:sp>
        <p:nvSpPr>
          <p:cNvPr id="89" name="TextBox 88"/>
          <p:cNvSpPr txBox="1"/>
          <p:nvPr/>
        </p:nvSpPr>
        <p:spPr>
          <a:xfrm>
            <a:off x="8048625" y="3191331"/>
            <a:ext cx="2038176" cy="194310"/>
          </a:xfrm>
          <a:prstGeom prst="rect">
            <a:avLst/>
          </a:prstGeom>
          <a:noFill/>
        </p:spPr>
        <p:txBody>
          <a:bodyPr wrap="none" lIns="0" rIns="0" tIns="0" bIns="0">
            <a:spAutoFit/>
          </a:bodyPr>
          <a:lstStyle/>
          <a:p>
            <a:r>
              <a:rPr sz="1150" b="0">
                <a:solidFill>
                  <a:srgbClr val="2E2E2E"/>
                </a:solidFill>
                <a:latin typeface="Calibri"/>
              </a:rPr>
              <a:t>planning procurement or pricing.</a:t>
            </a:r>
          </a:p>
        </p:txBody>
      </p:sp>
      <p:sp>
        <p:nvSpPr>
          <p:cNvPr id="90" name="TextBox 89"/>
          <p:cNvSpPr txBox="1"/>
          <p:nvPr/>
        </p:nvSpPr>
        <p:spPr>
          <a:xfrm>
            <a:off x="8048625" y="3419169"/>
            <a:ext cx="3718607" cy="194310"/>
          </a:xfrm>
          <a:prstGeom prst="rect">
            <a:avLst/>
          </a:prstGeom>
          <a:noFill/>
        </p:spPr>
        <p:txBody>
          <a:bodyPr wrap="none" lIns="0" rIns="0" tIns="0" bIns="0">
            <a:spAutoFit/>
          </a:bodyPr>
          <a:lstStyle/>
          <a:p>
            <a:r>
              <a:rPr sz="1150" b="0">
                <a:solidFill>
                  <a:srgbClr val="2E2E2E"/>
                </a:solidFill>
                <a:latin typeface="Calibri"/>
              </a:rPr>
              <a:t>▪ The lower chart indexes region-level price movement to the</a:t>
            </a:r>
          </a:p>
        </p:txBody>
      </p:sp>
      <p:sp>
        <p:nvSpPr>
          <p:cNvPr id="91" name="TextBox 90"/>
          <p:cNvSpPr txBox="1"/>
          <p:nvPr/>
        </p:nvSpPr>
        <p:spPr>
          <a:xfrm>
            <a:off x="8048625" y="3594429"/>
            <a:ext cx="3716610" cy="194310"/>
          </a:xfrm>
          <a:prstGeom prst="rect">
            <a:avLst/>
          </a:prstGeom>
          <a:noFill/>
        </p:spPr>
        <p:txBody>
          <a:bodyPr wrap="none" lIns="0" rIns="0" tIns="0" bIns="0">
            <a:spAutoFit/>
          </a:bodyPr>
          <a:lstStyle/>
          <a:p>
            <a:r>
              <a:rPr sz="1150" b="0">
                <a:solidFill>
                  <a:srgbClr val="2E2E2E"/>
                </a:solidFill>
                <a:latin typeface="Calibri"/>
              </a:rPr>
              <a:t>base year, applied consistently across the horizon to strip out</a:t>
            </a:r>
          </a:p>
        </p:txBody>
      </p:sp>
      <p:sp>
        <p:nvSpPr>
          <p:cNvPr id="92" name="TextBox 91"/>
          <p:cNvSpPr txBox="1"/>
          <p:nvPr/>
        </p:nvSpPr>
        <p:spPr>
          <a:xfrm>
            <a:off x="8048625" y="3769689"/>
            <a:ext cx="3693219" cy="194310"/>
          </a:xfrm>
          <a:prstGeom prst="rect">
            <a:avLst/>
          </a:prstGeom>
          <a:noFill/>
        </p:spPr>
        <p:txBody>
          <a:bodyPr wrap="none" lIns="0" rIns="0" tIns="0" bIns="0">
            <a:spAutoFit/>
          </a:bodyPr>
          <a:lstStyle/>
          <a:p>
            <a:r>
              <a:rPr sz="1150" b="0">
                <a:solidFill>
                  <a:srgbClr val="2E2E2E"/>
                </a:solidFill>
                <a:latin typeface="Calibri"/>
              </a:rPr>
              <a:t>year-on-year inflationary volatility and reveal structural price</a:t>
            </a:r>
          </a:p>
        </p:txBody>
      </p:sp>
      <p:sp>
        <p:nvSpPr>
          <p:cNvPr id="93" name="TextBox 92"/>
          <p:cNvSpPr txBox="1"/>
          <p:nvPr/>
        </p:nvSpPr>
        <p:spPr>
          <a:xfrm>
            <a:off x="8048625" y="3944949"/>
            <a:ext cx="431055" cy="194310"/>
          </a:xfrm>
          <a:prstGeom prst="rect">
            <a:avLst/>
          </a:prstGeom>
          <a:noFill/>
        </p:spPr>
        <p:txBody>
          <a:bodyPr wrap="none" lIns="0" rIns="0" tIns="0" bIns="0">
            <a:spAutoFit/>
          </a:bodyPr>
          <a:lstStyle/>
          <a:p>
            <a:r>
              <a:rPr sz="1150" b="0">
                <a:solidFill>
                  <a:srgbClr val="2E2E2E"/>
                </a:solidFill>
                <a:latin typeface="Calibri"/>
              </a:rPr>
              <a:t>shifts.</a:t>
            </a:r>
          </a:p>
        </p:txBody>
      </p:sp>
      <p:sp>
        <p:nvSpPr>
          <p:cNvPr id="94" name="TextBox 93"/>
          <p:cNvSpPr txBox="1"/>
          <p:nvPr/>
        </p:nvSpPr>
        <p:spPr>
          <a:xfrm>
            <a:off x="8048625" y="4172787"/>
            <a:ext cx="2340260" cy="194310"/>
          </a:xfrm>
          <a:prstGeom prst="rect">
            <a:avLst/>
          </a:prstGeom>
          <a:noFill/>
        </p:spPr>
        <p:txBody>
          <a:bodyPr wrap="none" lIns="0" rIns="0" tIns="0" bIns="0">
            <a:spAutoFit/>
          </a:bodyPr>
          <a:lstStyle/>
          <a:p>
            <a:r>
              <a:rPr sz="1150" b="0">
                <a:solidFill>
                  <a:srgbClr val="2E2E2E"/>
                </a:solidFill>
                <a:latin typeface="Calibri"/>
              </a:rPr>
              <a:t>▪ Region price indices diverge by up to</a:t>
            </a:r>
          </a:p>
        </p:txBody>
      </p:sp>
      <p:pic>
        <p:nvPicPr>
          <p:cNvPr id="95" name="Picture 94" descr="lock.png"/>
          <p:cNvPicPr>
            <a:picLocks noChangeAspect="1"/>
          </p:cNvPicPr>
          <p:nvPr/>
        </p:nvPicPr>
        <p:blipFill>
          <a:blip r:embed="rId4"/>
          <a:stretch>
            <a:fillRect/>
          </a:stretch>
        </p:blipFill>
        <p:spPr>
          <a:xfrm>
            <a:off x="10338039" y="4162564"/>
            <a:ext cx="134549" cy="195707"/>
          </a:xfrm>
          <a:prstGeom prst="rect">
            <a:avLst/>
          </a:prstGeom>
        </p:spPr>
      </p:pic>
      <p:sp>
        <p:nvSpPr>
          <p:cNvPr id="96" name="TextBox 95"/>
          <p:cNvSpPr txBox="1"/>
          <p:nvPr/>
        </p:nvSpPr>
        <p:spPr>
          <a:xfrm>
            <a:off x="10513148" y="4172787"/>
            <a:ext cx="1187549" cy="194310"/>
          </a:xfrm>
          <a:prstGeom prst="rect">
            <a:avLst/>
          </a:prstGeom>
          <a:noFill/>
        </p:spPr>
        <p:txBody>
          <a:bodyPr wrap="none" lIns="0" rIns="0" tIns="0" bIns="0">
            <a:spAutoFit/>
          </a:bodyPr>
          <a:lstStyle/>
          <a:p>
            <a:r>
              <a:rPr sz="1150" b="0">
                <a:solidFill>
                  <a:srgbClr val="2E2E2E"/>
                </a:solidFill>
                <a:latin typeface="Calibri"/>
              </a:rPr>
              <a:t>between 2026 and</a:t>
            </a:r>
          </a:p>
        </p:txBody>
      </p:sp>
      <p:sp>
        <p:nvSpPr>
          <p:cNvPr id="97" name="TextBox 96"/>
          <p:cNvSpPr txBox="1"/>
          <p:nvPr/>
        </p:nvSpPr>
        <p:spPr>
          <a:xfrm>
            <a:off x="8048625" y="4348047"/>
            <a:ext cx="3848100" cy="194310"/>
          </a:xfrm>
          <a:prstGeom prst="rect">
            <a:avLst/>
          </a:prstGeom>
          <a:noFill/>
        </p:spPr>
        <p:txBody>
          <a:bodyPr wrap="none" lIns="0" rIns="0" tIns="0" bIns="0">
            <a:spAutoFit/>
          </a:bodyPr>
          <a:lstStyle/>
          <a:p>
            <a:r>
              <a:rPr sz="1150" b="0">
                <a:solidFill>
                  <a:srgbClr val="2E2E2E"/>
                </a:solidFill>
                <a:latin typeface="Calibri"/>
              </a:rPr>
              <a:t>2036: higher-priced regions start higher and grow steadily, while</a:t>
            </a:r>
          </a:p>
        </p:txBody>
      </p:sp>
      <p:sp>
        <p:nvSpPr>
          <p:cNvPr id="98" name="TextBox 97"/>
          <p:cNvSpPr txBox="1"/>
          <p:nvPr/>
        </p:nvSpPr>
        <p:spPr>
          <a:xfrm>
            <a:off x="8048625" y="4523307"/>
            <a:ext cx="3454747" cy="194310"/>
          </a:xfrm>
          <a:prstGeom prst="rect">
            <a:avLst/>
          </a:prstGeom>
          <a:noFill/>
        </p:spPr>
        <p:txBody>
          <a:bodyPr wrap="none" lIns="0" rIns="0" tIns="0" bIns="0">
            <a:spAutoFit/>
          </a:bodyPr>
          <a:lstStyle/>
          <a:p>
            <a:r>
              <a:rPr sz="1150" b="0">
                <a:solidFill>
                  <a:srgbClr val="2E2E2E"/>
                </a:solidFill>
                <a:latin typeface="Calibri"/>
              </a:rPr>
              <a:t>lower-priced regions start lower and converge, reflecting</a:t>
            </a:r>
          </a:p>
        </p:txBody>
      </p:sp>
      <p:sp>
        <p:nvSpPr>
          <p:cNvPr id="99" name="TextBox 98"/>
          <p:cNvSpPr txBox="1"/>
          <p:nvPr/>
        </p:nvSpPr>
        <p:spPr>
          <a:xfrm>
            <a:off x="8048625" y="4698567"/>
            <a:ext cx="1090848" cy="194310"/>
          </a:xfrm>
          <a:prstGeom prst="rect">
            <a:avLst/>
          </a:prstGeom>
          <a:noFill/>
        </p:spPr>
        <p:txBody>
          <a:bodyPr wrap="none" lIns="0" rIns="0" tIns="0" bIns="0">
            <a:spAutoFit/>
          </a:bodyPr>
          <a:lstStyle/>
          <a:p>
            <a:r>
              <a:rPr sz="1150" b="0">
                <a:solidFill>
                  <a:srgbClr val="2E2E2E"/>
                </a:solidFill>
                <a:latin typeface="Calibri"/>
              </a:rPr>
              <a:t>catch-up growth.</a:t>
            </a:r>
          </a:p>
        </p:txBody>
      </p:sp>
    </p:spTree>
  </p:cSld>
  <p:clrMapOvr>
    <a:masterClrMapping/>
  </p:clrMapOvr>
</p:sld>
</file>

<file path=ppt/slides/slide1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Egg Protein Membrane Market Pricing Assessment: By Product Type</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Average price (US$/MT) by product type, 2021 to 2036, with 2026 price index and growth outlook</a:t>
            </a:r>
          </a:p>
        </p:txBody>
      </p:sp>
      <p:sp>
        <p:nvSpPr>
          <p:cNvPr id="7" name="Rectangle 6"/>
          <p:cNvSpPr/>
          <p:nvPr/>
        </p:nvSpPr>
        <p:spPr>
          <a:xfrm>
            <a:off x="274320" y="981075"/>
            <a:ext cx="11640312" cy="457200"/>
          </a:xfrm>
          <a:prstGeom prst="rect">
            <a:avLst/>
          </a:prstGeom>
          <a:solidFill>
            <a:srgbClr val="0B2E4A"/>
          </a:solidFill>
          <a:ln>
            <a:noFill/>
          </a:ln>
          <a:effectLst/>
        </p:spPr>
        <p:txBody>
          <a:bodyPr rtlCol="0" anchor="ctr" wrap="square" lIns="137160"/>
          <a:lstStyle/>
          <a:p>
            <a:pPr algn="l"/>
            <a:r>
              <a:rPr sz="1300" b="1">
                <a:solidFill>
                  <a:srgbClr val="FFFFFF"/>
                </a:solidFill>
                <a:latin typeface="Calibri"/>
              </a:rPr>
              <a:t/>
            </a:r>
          </a:p>
        </p:txBody>
      </p:sp>
      <p:sp>
        <p:nvSpPr>
          <p:cNvPr id="8" name="Rectangle 7"/>
          <p:cNvSpPr/>
          <p:nvPr/>
        </p:nvSpPr>
        <p:spPr>
          <a:xfrm>
            <a:off x="274320" y="1529715"/>
            <a:ext cx="6446520" cy="3520440"/>
          </a:xfrm>
          <a:prstGeom prst="rect">
            <a:avLst/>
          </a:prstGeom>
          <a:solidFill>
            <a:srgbClr val="F3F6F9"/>
          </a:solidFill>
          <a:ln>
            <a:noFill/>
          </a:ln>
          <a:effectLst/>
        </p:spPr>
        <p:txBody>
          <a:bodyPr rtlCol="0" anchor="ctr"/>
          <a:lstStyle/>
          <a:p>
            <a:pPr algn="ctr"/>
          </a:p>
        </p:txBody>
      </p:sp>
      <p:sp>
        <p:nvSpPr>
          <p:cNvPr id="9" name="TextBox 8"/>
          <p:cNvSpPr txBox="1"/>
          <p:nvPr/>
        </p:nvSpPr>
        <p:spPr>
          <a:xfrm>
            <a:off x="384048" y="1575435"/>
            <a:ext cx="6217920" cy="257175"/>
          </a:xfrm>
          <a:prstGeom prst="rect">
            <a:avLst/>
          </a:prstGeom>
          <a:noFill/>
        </p:spPr>
        <p:txBody>
          <a:bodyPr wrap="square" anchor="t" lIns="27432" rIns="27432" tIns="27432" bIns="27432">
            <a:spAutoFit/>
          </a:bodyPr>
          <a:lstStyle/>
          <a:p>
            <a:pPr algn="l"/>
            <a:r>
              <a:rPr sz="1150" b="1" i="0">
                <a:solidFill>
                  <a:srgbClr val="0B2E4A"/>
                </a:solidFill>
                <a:latin typeface="Calibri"/>
              </a:rPr>
              <a:t>Price Trend by Product Type, 2021 to 2036 (US$/MT)</a:t>
            </a:r>
          </a:p>
        </p:txBody>
      </p:sp>
      <p:graphicFrame>
        <p:nvGraphicFramePr>
          <p:cNvPr id="10" name="TMR Price Chart"/>
          <p:cNvGraphicFramePr>
            <a:graphicFrameLocks noGrp="1"/>
          </p:cNvGraphicFramePr>
          <p:nvPr/>
        </p:nvGraphicFramePr>
        <p:xfrm>
          <a:off x="347472" y="1831467"/>
          <a:ext cx="6309360" cy="3182112"/>
        </p:xfrm>
        <a:graphic>
          <a:graphicData uri="http://schemas.openxmlformats.org/drawingml/2006/chart">
            <c:chart xmlns:c="http://schemas.openxmlformats.org/drawingml/2006/chart" r:id="rId3"/>
          </a:graphicData>
        </a:graphic>
      </p:graphicFrame>
      <p:sp>
        <p:nvSpPr>
          <p:cNvPr id="11" name="TextBox 10"/>
          <p:cNvSpPr txBox="1"/>
          <p:nvPr/>
        </p:nvSpPr>
        <p:spPr>
          <a:xfrm>
            <a:off x="4572000" y="1593723"/>
            <a:ext cx="2103120" cy="228600"/>
          </a:xfrm>
          <a:prstGeom prst="rect">
            <a:avLst/>
          </a:prstGeom>
          <a:noFill/>
        </p:spPr>
        <p:txBody>
          <a:bodyPr wrap="square" anchor="t" lIns="27432" rIns="27432" tIns="27432" bIns="27432">
            <a:spAutoFit/>
          </a:bodyPr>
          <a:lstStyle/>
          <a:p>
            <a:pPr algn="r"/>
            <a:r>
              <a:rPr sz="850" b="0" i="1">
                <a:solidFill>
                  <a:srgbClr val="59636E"/>
                </a:solidFill>
                <a:latin typeface="Calibri"/>
              </a:rPr>
              <a:t>Forecast period: 2026 to 2036</a:t>
            </a:r>
          </a:p>
        </p:txBody>
      </p:sp>
      <p:sp>
        <p:nvSpPr>
          <p:cNvPr id="12" name="Rectangle 11"/>
          <p:cNvSpPr/>
          <p:nvPr/>
        </p:nvSpPr>
        <p:spPr>
          <a:xfrm>
            <a:off x="6858000" y="1529715"/>
            <a:ext cx="5056632" cy="1600200"/>
          </a:xfrm>
          <a:prstGeom prst="rect">
            <a:avLst/>
          </a:prstGeom>
          <a:solidFill>
            <a:srgbClr val="F3F6F9"/>
          </a:solidFill>
          <a:ln>
            <a:noFill/>
          </a:ln>
          <a:effectLst/>
        </p:spPr>
        <p:txBody>
          <a:bodyPr rtlCol="0" anchor="ctr"/>
          <a:lstStyle/>
          <a:p>
            <a:pPr algn="ctr"/>
          </a:p>
        </p:txBody>
      </p:sp>
      <p:sp>
        <p:nvSpPr>
          <p:cNvPr id="13" name="TextBox 12"/>
          <p:cNvSpPr txBox="1"/>
          <p:nvPr/>
        </p:nvSpPr>
        <p:spPr>
          <a:xfrm>
            <a:off x="6967728" y="1575435"/>
            <a:ext cx="4846320" cy="257175"/>
          </a:xfrm>
          <a:prstGeom prst="rect">
            <a:avLst/>
          </a:prstGeom>
          <a:noFill/>
        </p:spPr>
        <p:txBody>
          <a:bodyPr wrap="square" anchor="t" lIns="27432" rIns="27432" tIns="27432" bIns="27432">
            <a:spAutoFit/>
          </a:bodyPr>
          <a:lstStyle/>
          <a:p>
            <a:pPr algn="l"/>
            <a:r>
              <a:rPr sz="1150" b="1" i="0">
                <a:solidFill>
                  <a:srgbClr val="0B2E4A"/>
                </a:solidFill>
                <a:latin typeface="Calibri"/>
              </a:rPr>
              <a:t/>
            </a:r>
          </a:p>
        </p:txBody>
      </p:sp>
      <p:graphicFrame>
        <p:nvGraphicFramePr>
          <p:cNvPr id="14" name="TMR Open Chart"/>
          <p:cNvGraphicFramePr>
            <a:graphicFrameLocks noGrp="1"/>
          </p:cNvGraphicFramePr>
          <p:nvPr/>
        </p:nvGraphicFramePr>
        <p:xfrm>
          <a:off x="6903720" y="1785747"/>
          <a:ext cx="4965192" cy="1325880"/>
        </p:xfrm>
        <a:graphic>
          <a:graphicData uri="http://schemas.openxmlformats.org/drawingml/2006/chart">
            <c:chart xmlns:c="http://schemas.openxmlformats.org/drawingml/2006/chart" r:id="rId4"/>
          </a:graphicData>
        </a:graphic>
      </p:graphicFrame>
      <p:graphicFrame>
        <p:nvGraphicFramePr>
          <p:cNvPr id="15" name="Table 14"/>
          <p:cNvGraphicFramePr>
            <a:graphicFrameLocks noGrp="1"/>
          </p:cNvGraphicFramePr>
          <p:nvPr/>
        </p:nvGraphicFramePr>
        <p:xfrm>
          <a:off x="6858000" y="3203067"/>
          <a:ext cx="5056632" cy="1847090"/>
        </p:xfrm>
        <a:graphic>
          <a:graphicData uri="http://schemas.openxmlformats.org/drawingml/2006/table">
            <a:tbl>
              <a:tblPr firstRow="1" bandRow="1">
                <a:tableStyleId>{5C22544A-7EE6-4342-B048-85BDC9FD1C3A}</a:tableStyleId>
              </a:tblPr>
              <a:tblGrid>
                <a:gridCol w="2130552"/>
                <a:gridCol w="548640"/>
                <a:gridCol w="548640"/>
                <a:gridCol w="548640"/>
                <a:gridCol w="777240"/>
                <a:gridCol w="502920"/>
              </a:tblGrid>
              <a:tr h="369418">
                <a:tc>
                  <a:txBody>
                    <a:bodyPr wrap="square"/>
                    <a:lstStyle/>
                    <a:p>
                      <a:pPr algn="l"/>
                      <a:r>
                        <a:rPr sz="850" b="1">
                          <a:solidFill>
                            <a:srgbClr val="FFFFFF"/>
                          </a:solidFill>
                          <a:latin typeface="Calibri"/>
                        </a:rPr>
                        <a:t>Product Type</a:t>
                      </a:r>
                    </a:p>
                  </a:txBody>
                  <a:tcPr marL="36576" marR="36576" marT="9144" marB="9144" anchor="ctr">
                    <a:solidFill>
                      <a:srgbClr val="0B2E4A"/>
                    </a:solidFill>
                  </a:tcPr>
                </a:tc>
                <a:tc>
                  <a:txBody>
                    <a:bodyPr wrap="square"/>
                    <a:lstStyle/>
                    <a:p>
                      <a:pPr algn="ctr"/>
                      <a:r>
                        <a:rPr sz="850" b="1">
                          <a:solidFill>
                            <a:srgbClr val="FFFFFF"/>
                          </a:solidFill>
                          <a:latin typeface="Calibri"/>
                        </a:rPr>
                        <a:t>2021</a:t>
                      </a:r>
                    </a:p>
                  </a:txBody>
                  <a:tcPr marL="36576" marR="36576" marT="9144" marB="9144" anchor="ctr">
                    <a:solidFill>
                      <a:srgbClr val="0B2E4A"/>
                    </a:solidFill>
                  </a:tcPr>
                </a:tc>
                <a:tc>
                  <a:txBody>
                    <a:bodyPr wrap="square"/>
                    <a:lstStyle/>
                    <a:p>
                      <a:pPr algn="ctr"/>
                      <a:r>
                        <a:rPr sz="850" b="1">
                          <a:solidFill>
                            <a:srgbClr val="FFFFFF"/>
                          </a:solidFill>
                          <a:latin typeface="Calibri"/>
                        </a:rPr>
                        <a:t>2026</a:t>
                      </a:r>
                    </a:p>
                  </a:txBody>
                  <a:tcPr marL="36576" marR="36576" marT="9144" marB="9144" anchor="ctr">
                    <a:solidFill>
                      <a:srgbClr val="0B2E4A"/>
                    </a:solidFill>
                  </a:tcPr>
                </a:tc>
                <a:tc>
                  <a:txBody>
                    <a:bodyPr wrap="square"/>
                    <a:lstStyle/>
                    <a:p>
                      <a:pPr algn="ctr"/>
                      <a:r>
                        <a:rPr sz="850" b="1">
                          <a:solidFill>
                            <a:srgbClr val="FFFFFF"/>
                          </a:solidFill>
                          <a:latin typeface="Calibri"/>
                        </a:rPr>
                        <a:t>2036</a:t>
                      </a:r>
                    </a:p>
                  </a:txBody>
                  <a:tcPr marL="36576" marR="36576" marT="9144" marB="9144" anchor="ctr">
                    <a:solidFill>
                      <a:srgbClr val="0B2E4A"/>
                    </a:solidFill>
                  </a:tcPr>
                </a:tc>
                <a:tc>
                  <a:txBody>
                    <a:bodyPr wrap="square"/>
                    <a:lstStyle/>
                    <a:p>
                      <a:pPr algn="ctr"/>
                      <a:r>
                        <a:rPr sz="850" b="1">
                          <a:solidFill>
                            <a:srgbClr val="FFFFFF"/>
                          </a:solidFill>
                          <a:latin typeface="Calibri"/>
                        </a:rPr>
                        <a:t>CAGR 2026 to 2036</a:t>
                      </a:r>
                    </a:p>
                  </a:txBody>
                  <a:tcPr marL="36576" marR="36576" marT="9144" marB="9144" anchor="ctr">
                    <a:solidFill>
                      <a:srgbClr val="0B2E4A"/>
                    </a:solidFill>
                  </a:tcPr>
                </a:tc>
                <a:tc>
                  <a:txBody>
                    <a:bodyPr wrap="square"/>
                    <a:lstStyle/>
                    <a:p>
                      <a:pPr algn="ctr"/>
                      <a:r>
                        <a:rPr sz="850" b="1">
                          <a:solidFill>
                            <a:srgbClr val="FFFFFF"/>
                          </a:solidFill>
                          <a:latin typeface="Calibri"/>
                        </a:rPr>
                        <a:t>Index</a:t>
                      </a:r>
                    </a:p>
                  </a:txBody>
                  <a:tcPr marL="36576" marR="36576" marT="9144" marB="9144" anchor="ctr">
                    <a:solidFill>
                      <a:srgbClr val="0B2E4A"/>
                    </a:solidFill>
                  </a:tcPr>
                </a:tc>
              </a:tr>
              <a:tr h="369418">
                <a:tc>
                  <a:txBody>
                    <a:bodyPr wrap="square"/>
                    <a:lstStyle/>
                    <a:p>
                      <a:pPr algn="l"/>
                      <a:r>
                        <a:rPr sz="850" b="1">
                          <a:solidFill>
                            <a:srgbClr val="1F1F1F"/>
                          </a:solidFill>
                          <a:latin typeface="Calibri"/>
                        </a:rPr>
                        <a:t>Specialty Extracted Protein Fractions</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F4B183"/>
                    </a:solidFill>
                  </a:tcPr>
                </a:tc>
              </a:tr>
              <a:tr h="369418">
                <a:tc>
                  <a:txBody>
                    <a:bodyPr wrap="square"/>
                    <a:lstStyle/>
                    <a:p>
                      <a:pPr algn="l"/>
                      <a:r>
                        <a:rPr sz="850" b="1">
                          <a:solidFill>
                            <a:srgbClr val="1F1F1F"/>
                          </a:solidFill>
                          <a:latin typeface="Calibri"/>
                        </a:rPr>
                        <a:t>Micronized Eggshell Membrane</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9DC0E0"/>
                    </a:solidFill>
                  </a:tcPr>
                </a:tc>
              </a:tr>
              <a:tr h="369418">
                <a:tc>
                  <a:txBody>
                    <a:bodyPr wrap="square"/>
                    <a:lstStyle/>
                    <a:p>
                      <a:pPr algn="l"/>
                      <a:r>
                        <a:rPr sz="850" b="1">
                          <a:solidFill>
                            <a:srgbClr val="1F1F1F"/>
                          </a:solidFill>
                          <a:latin typeface="Calibri"/>
                        </a:rPr>
                        <a:t>Hydrolyzed Eggshell Membrane</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9DC0E0"/>
                    </a:solidFill>
                  </a:tcPr>
                </a:tc>
              </a:tr>
              <a:tr h="369418">
                <a:tc>
                  <a:txBody>
                    <a:bodyPr wrap="square"/>
                    <a:lstStyle/>
                    <a:p>
                      <a:pPr algn="l"/>
                      <a:r>
                        <a:rPr sz="850" b="1">
                          <a:solidFill>
                            <a:srgbClr val="1F1F1F"/>
                          </a:solidFill>
                          <a:latin typeface="Calibri"/>
                        </a:rPr>
                        <a:t>Global Average</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r>
            </a:tbl>
          </a:graphicData>
        </a:graphic>
      </p:graphicFrame>
      <p:sp>
        <p:nvSpPr>
          <p:cNvPr id="16" name="Rectangle 15"/>
          <p:cNvSpPr/>
          <p:nvPr/>
        </p:nvSpPr>
        <p:spPr>
          <a:xfrm>
            <a:off x="274320" y="5141595"/>
            <a:ext cx="3788664" cy="1234440"/>
          </a:xfrm>
          <a:prstGeom prst="rect">
            <a:avLst/>
          </a:prstGeom>
          <a:solidFill>
            <a:srgbClr val="F3F6F9"/>
          </a:solidFill>
          <a:ln>
            <a:noFill/>
          </a:ln>
          <a:effectLst/>
        </p:spPr>
        <p:txBody>
          <a:bodyPr rtlCol="0" anchor="ctr"/>
          <a:lstStyle/>
          <a:p>
            <a:pPr algn="ctr"/>
          </a:p>
        </p:txBody>
      </p:sp>
      <p:sp>
        <p:nvSpPr>
          <p:cNvPr id="17" name="Oval 16"/>
          <p:cNvSpPr/>
          <p:nvPr/>
        </p:nvSpPr>
        <p:spPr>
          <a:xfrm>
            <a:off x="388620" y="5265420"/>
            <a:ext cx="314325" cy="314325"/>
          </a:xfrm>
          <a:prstGeom prst="ellipse">
            <a:avLst/>
          </a:prstGeom>
          <a:solidFill>
            <a:srgbClr val="0B2E4A"/>
          </a:solidFill>
          <a:ln>
            <a:noFill/>
          </a:ln>
          <a:effectLst/>
        </p:spPr>
        <p:txBody>
          <a:bodyPr rtlCol="0" anchor="ctr" lIns="0" rIns="0" wrap="none" tIns="0" bIns="0"/>
          <a:lstStyle/>
          <a:p>
            <a:pPr algn="ctr"/>
            <a:r>
              <a:rPr sz="1200" b="1">
                <a:solidFill>
                  <a:srgbClr val="FFFFFF"/>
                </a:solidFill>
                <a:latin typeface="Calibri"/>
              </a:rPr>
              <a:t>1</a:t>
            </a:r>
          </a:p>
        </p:txBody>
      </p:sp>
      <p:sp>
        <p:nvSpPr>
          <p:cNvPr id="18" name="TextBox 17"/>
          <p:cNvSpPr txBox="1"/>
          <p:nvPr/>
        </p:nvSpPr>
        <p:spPr>
          <a:xfrm>
            <a:off x="779145" y="5227320"/>
            <a:ext cx="3198114" cy="266700"/>
          </a:xfrm>
          <a:prstGeom prst="rect">
            <a:avLst/>
          </a:prstGeom>
          <a:noFill/>
        </p:spPr>
        <p:txBody>
          <a:bodyPr wrap="square" anchor="t" lIns="27432" rIns="27432" tIns="27432" bIns="27432">
            <a:spAutoFit/>
          </a:bodyPr>
          <a:lstStyle/>
          <a:p>
            <a:pPr algn="l"/>
            <a:r>
              <a:rPr sz="1150" b="1" i="0">
                <a:solidFill>
                  <a:srgbClr val="0B2E4A"/>
                </a:solidFill>
                <a:latin typeface="Calibri"/>
              </a:rPr>
              <a:t>Price Hierarchy</a:t>
            </a:r>
          </a:p>
        </p:txBody>
      </p:sp>
      <p:sp>
        <p:nvSpPr>
          <p:cNvPr id="19" name="TextBox 18"/>
          <p:cNvSpPr txBox="1"/>
          <p:nvPr/>
        </p:nvSpPr>
        <p:spPr>
          <a:xfrm>
            <a:off x="779145" y="5503545"/>
            <a:ext cx="3198114" cy="834390"/>
          </a:xfrm>
          <a:prstGeom prst="rect">
            <a:avLst/>
          </a:prstGeom>
          <a:noFill/>
        </p:spPr>
        <p:txBody>
          <a:bodyPr wrap="square" anchor="t" lIns="27432" rIns="27432" tIns="27432" bIns="27432">
            <a:spAutoFit/>
          </a:bodyPr>
          <a:lstStyle/>
          <a:p>
            <a:pPr algn="l"/>
            <a:r>
              <a:rPr sz="1050" b="0" i="0">
                <a:solidFill>
                  <a:srgbClr val="1F1F1F"/>
                </a:solidFill>
                <a:latin typeface="Calibri"/>
              </a:rPr>
              <a:t/>
            </a:r>
          </a:p>
        </p:txBody>
      </p:sp>
      <p:sp>
        <p:nvSpPr>
          <p:cNvPr id="20" name="Rectangle 19"/>
          <p:cNvSpPr/>
          <p:nvPr/>
        </p:nvSpPr>
        <p:spPr>
          <a:xfrm>
            <a:off x="4200144" y="5141595"/>
            <a:ext cx="3788664" cy="1234440"/>
          </a:xfrm>
          <a:prstGeom prst="rect">
            <a:avLst/>
          </a:prstGeom>
          <a:solidFill>
            <a:srgbClr val="F3F6F9"/>
          </a:solidFill>
          <a:ln>
            <a:noFill/>
          </a:ln>
          <a:effectLst/>
        </p:spPr>
        <p:txBody>
          <a:bodyPr rtlCol="0" anchor="ctr"/>
          <a:lstStyle/>
          <a:p>
            <a:pPr algn="ctr"/>
          </a:p>
        </p:txBody>
      </p:sp>
      <p:sp>
        <p:nvSpPr>
          <p:cNvPr id="21" name="Oval 20"/>
          <p:cNvSpPr/>
          <p:nvPr/>
        </p:nvSpPr>
        <p:spPr>
          <a:xfrm>
            <a:off x="4314444" y="5265420"/>
            <a:ext cx="314325" cy="314325"/>
          </a:xfrm>
          <a:prstGeom prst="ellipse">
            <a:avLst/>
          </a:prstGeom>
          <a:solidFill>
            <a:srgbClr val="0B2E4A"/>
          </a:solidFill>
          <a:ln>
            <a:noFill/>
          </a:ln>
          <a:effectLst/>
        </p:spPr>
        <p:txBody>
          <a:bodyPr rtlCol="0" anchor="ctr" lIns="0" rIns="0" wrap="none" tIns="0" bIns="0"/>
          <a:lstStyle/>
          <a:p>
            <a:pPr algn="ctr"/>
            <a:r>
              <a:rPr sz="1200" b="1">
                <a:solidFill>
                  <a:srgbClr val="FFFFFF"/>
                </a:solidFill>
                <a:latin typeface="Calibri"/>
              </a:rPr>
              <a:t>2</a:t>
            </a:r>
          </a:p>
        </p:txBody>
      </p:sp>
      <p:sp>
        <p:nvSpPr>
          <p:cNvPr id="22" name="TextBox 21"/>
          <p:cNvSpPr txBox="1"/>
          <p:nvPr/>
        </p:nvSpPr>
        <p:spPr>
          <a:xfrm>
            <a:off x="4704969" y="5227320"/>
            <a:ext cx="3198114" cy="266700"/>
          </a:xfrm>
          <a:prstGeom prst="rect">
            <a:avLst/>
          </a:prstGeom>
          <a:noFill/>
        </p:spPr>
        <p:txBody>
          <a:bodyPr wrap="square" anchor="t" lIns="27432" rIns="27432" tIns="27432" bIns="27432">
            <a:spAutoFit/>
          </a:bodyPr>
          <a:lstStyle/>
          <a:p>
            <a:pPr algn="l"/>
            <a:r>
              <a:rPr sz="1150" b="1" i="0">
                <a:solidFill>
                  <a:srgbClr val="0B2E4A"/>
                </a:solidFill>
                <a:latin typeface="Calibri"/>
              </a:rPr>
              <a:t>Price Momentum</a:t>
            </a:r>
          </a:p>
        </p:txBody>
      </p:sp>
      <p:sp>
        <p:nvSpPr>
          <p:cNvPr id="23" name="TextBox 22"/>
          <p:cNvSpPr txBox="1"/>
          <p:nvPr/>
        </p:nvSpPr>
        <p:spPr>
          <a:xfrm>
            <a:off x="4704969" y="5503545"/>
            <a:ext cx="3198114" cy="834390"/>
          </a:xfrm>
          <a:prstGeom prst="rect">
            <a:avLst/>
          </a:prstGeom>
          <a:noFill/>
        </p:spPr>
        <p:txBody>
          <a:bodyPr wrap="square" anchor="t" lIns="27432" rIns="27432" tIns="27432" bIns="27432">
            <a:spAutoFit/>
          </a:bodyPr>
          <a:lstStyle/>
          <a:p>
            <a:pPr algn="l"/>
            <a:r>
              <a:rPr sz="1050" b="0" i="0">
                <a:solidFill>
                  <a:srgbClr val="1F1F1F"/>
                </a:solidFill>
                <a:latin typeface="Calibri"/>
              </a:rPr>
              <a:t/>
            </a:r>
          </a:p>
        </p:txBody>
      </p:sp>
      <p:sp>
        <p:nvSpPr>
          <p:cNvPr id="24" name="Rectangle 23"/>
          <p:cNvSpPr/>
          <p:nvPr/>
        </p:nvSpPr>
        <p:spPr>
          <a:xfrm>
            <a:off x="8125968" y="5141595"/>
            <a:ext cx="3788664" cy="1234440"/>
          </a:xfrm>
          <a:prstGeom prst="rect">
            <a:avLst/>
          </a:prstGeom>
          <a:solidFill>
            <a:srgbClr val="F3F6F9"/>
          </a:solidFill>
          <a:ln>
            <a:noFill/>
          </a:ln>
          <a:effectLst/>
        </p:spPr>
        <p:txBody>
          <a:bodyPr rtlCol="0" anchor="ctr"/>
          <a:lstStyle/>
          <a:p>
            <a:pPr algn="ctr"/>
          </a:p>
        </p:txBody>
      </p:sp>
      <p:sp>
        <p:nvSpPr>
          <p:cNvPr id="25" name="Oval 24"/>
          <p:cNvSpPr/>
          <p:nvPr/>
        </p:nvSpPr>
        <p:spPr>
          <a:xfrm>
            <a:off x="8240268" y="5265420"/>
            <a:ext cx="314325" cy="314325"/>
          </a:xfrm>
          <a:prstGeom prst="ellipse">
            <a:avLst/>
          </a:prstGeom>
          <a:solidFill>
            <a:srgbClr val="0B2E4A"/>
          </a:solidFill>
          <a:ln>
            <a:noFill/>
          </a:ln>
          <a:effectLst/>
        </p:spPr>
        <p:txBody>
          <a:bodyPr rtlCol="0" anchor="ctr" lIns="0" rIns="0" wrap="none" tIns="0" bIns="0"/>
          <a:lstStyle/>
          <a:p>
            <a:pPr algn="ctr"/>
            <a:r>
              <a:rPr sz="1200" b="1">
                <a:solidFill>
                  <a:srgbClr val="FFFFFF"/>
                </a:solidFill>
                <a:latin typeface="Calibri"/>
              </a:rPr>
              <a:t>3</a:t>
            </a:r>
          </a:p>
        </p:txBody>
      </p:sp>
      <p:sp>
        <p:nvSpPr>
          <p:cNvPr id="26" name="TextBox 25"/>
          <p:cNvSpPr txBox="1"/>
          <p:nvPr/>
        </p:nvSpPr>
        <p:spPr>
          <a:xfrm>
            <a:off x="8630793" y="5227320"/>
            <a:ext cx="3198114" cy="266700"/>
          </a:xfrm>
          <a:prstGeom prst="rect">
            <a:avLst/>
          </a:prstGeom>
          <a:noFill/>
        </p:spPr>
        <p:txBody>
          <a:bodyPr wrap="square" anchor="t" lIns="27432" rIns="27432" tIns="27432" bIns="27432">
            <a:spAutoFit/>
          </a:bodyPr>
          <a:lstStyle/>
          <a:p>
            <a:pPr algn="l"/>
            <a:r>
              <a:rPr sz="1150" b="1" i="0">
                <a:solidFill>
                  <a:srgbClr val="0B2E4A"/>
                </a:solidFill>
                <a:latin typeface="Calibri"/>
              </a:rPr>
              <a:t>Outlook</a:t>
            </a:r>
          </a:p>
        </p:txBody>
      </p:sp>
      <p:sp>
        <p:nvSpPr>
          <p:cNvPr id="27" name="TextBox 26"/>
          <p:cNvSpPr txBox="1"/>
          <p:nvPr/>
        </p:nvSpPr>
        <p:spPr>
          <a:xfrm>
            <a:off x="8630793" y="5503545"/>
            <a:ext cx="3198114" cy="834390"/>
          </a:xfrm>
          <a:prstGeom prst="rect">
            <a:avLst/>
          </a:prstGeom>
          <a:noFill/>
        </p:spPr>
        <p:txBody>
          <a:bodyPr wrap="square" anchor="t" lIns="27432" rIns="27432" tIns="27432" bIns="27432">
            <a:spAutoFit/>
          </a:bodyPr>
          <a:lstStyle/>
          <a:p>
            <a:pPr algn="l"/>
            <a:r>
              <a:rPr sz="1050" b="0" i="0">
                <a:solidFill>
                  <a:srgbClr val="1F1F1F"/>
                </a:solidFill>
                <a:latin typeface="Calibri"/>
              </a:rPr>
              <a:t/>
            </a:r>
          </a:p>
        </p:txBody>
      </p:sp>
      <p:sp>
        <p:nvSpPr>
          <p:cNvPr id="28" name="TextBox 27"/>
          <p:cNvSpPr txBox="1"/>
          <p:nvPr/>
        </p:nvSpPr>
        <p:spPr>
          <a:xfrm>
            <a:off x="274320" y="6363843"/>
            <a:ext cx="11612880" cy="209550"/>
          </a:xfrm>
          <a:prstGeom prst="rect">
            <a:avLst/>
          </a:prstGeom>
          <a:noFill/>
        </p:spPr>
        <p:txBody>
          <a:bodyPr wrap="square" anchor="t" lIns="27432" rIns="27432" tIns="27432" bIns="27432">
            <a:spAutoFit/>
          </a:bodyPr>
          <a:lstStyle/>
          <a:p>
            <a:pPr algn="l"/>
            <a:r>
              <a:rPr sz="850" b="0" i="0">
                <a:solidFill>
                  <a:srgbClr val="59636E"/>
                </a:solidFill>
                <a:latin typeface="Calibri"/>
              </a:rPr>
              <a:t>Source: TMR analysis. Average price = market value (US$) / market volume (MT). 2021 to 2025 historical, 2026 to 2036 forecast.</a:t>
            </a:r>
          </a:p>
        </p:txBody>
      </p:sp>
      <p:sp>
        <p:nvSpPr>
          <p:cNvPr id="29" name="Rectangle 28"/>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31" name="Picture 30" descr="lock.png"/>
          <p:cNvPicPr>
            <a:picLocks noChangeAspect="1"/>
          </p:cNvPicPr>
          <p:nvPr/>
        </p:nvPicPr>
        <p:blipFill>
          <a:blip r:embed="rId6"/>
          <a:stretch>
            <a:fillRect/>
          </a:stretch>
        </p:blipFill>
        <p:spPr>
          <a:xfrm>
            <a:off x="10283571" y="4071291"/>
            <a:ext cx="330041" cy="480060"/>
          </a:xfrm>
          <a:prstGeom prst="rect">
            <a:avLst/>
          </a:prstGeom>
        </p:spPr>
      </p:pic>
      <p:sp>
        <p:nvSpPr>
          <p:cNvPr id="32" name="TextBox 31"/>
          <p:cNvSpPr txBox="1"/>
          <p:nvPr/>
        </p:nvSpPr>
        <p:spPr>
          <a:xfrm>
            <a:off x="411480" y="1110615"/>
            <a:ext cx="5754737" cy="217169"/>
          </a:xfrm>
          <a:prstGeom prst="rect">
            <a:avLst/>
          </a:prstGeom>
          <a:noFill/>
        </p:spPr>
        <p:txBody>
          <a:bodyPr wrap="none" lIns="0" rIns="0" tIns="0" bIns="0">
            <a:spAutoFit/>
          </a:bodyPr>
          <a:lstStyle/>
          <a:p>
            <a:r>
              <a:rPr sz="1300" b="1">
                <a:solidFill>
                  <a:srgbClr val="FFFFFF"/>
                </a:solidFill>
                <a:latin typeface="Calibri"/>
              </a:rPr>
              <a:t>Specialty Extracted Protein Fractions command the highest 2026 price point at US$</a:t>
            </a:r>
          </a:p>
        </p:txBody>
      </p:sp>
      <p:pic>
        <p:nvPicPr>
          <p:cNvPr id="33" name="Picture 32" descr="lock.png"/>
          <p:cNvPicPr>
            <a:picLocks noChangeAspect="1"/>
          </p:cNvPicPr>
          <p:nvPr/>
        </p:nvPicPr>
        <p:blipFill>
          <a:blip r:embed="rId6"/>
          <a:stretch>
            <a:fillRect/>
          </a:stretch>
        </p:blipFill>
        <p:spPr>
          <a:xfrm>
            <a:off x="6118678" y="1099058"/>
            <a:ext cx="152098" cy="221234"/>
          </a:xfrm>
          <a:prstGeom prst="rect">
            <a:avLst/>
          </a:prstGeom>
        </p:spPr>
      </p:pic>
      <p:sp>
        <p:nvSpPr>
          <p:cNvPr id="34" name="TextBox 33"/>
          <p:cNvSpPr txBox="1"/>
          <p:nvPr/>
        </p:nvSpPr>
        <p:spPr>
          <a:xfrm>
            <a:off x="6316627" y="1110615"/>
            <a:ext cx="535061" cy="217169"/>
          </a:xfrm>
          <a:prstGeom prst="rect">
            <a:avLst/>
          </a:prstGeom>
          <a:noFill/>
        </p:spPr>
        <p:txBody>
          <a:bodyPr wrap="none" lIns="0" rIns="0" tIns="0" bIns="0">
            <a:spAutoFit/>
          </a:bodyPr>
          <a:lstStyle/>
          <a:p>
            <a:r>
              <a:rPr sz="1300" b="1">
                <a:solidFill>
                  <a:srgbClr val="FFFFFF"/>
                </a:solidFill>
                <a:latin typeface="Calibri"/>
              </a:rPr>
              <a:t>/MT, a</a:t>
            </a:r>
          </a:p>
        </p:txBody>
      </p:sp>
      <p:pic>
        <p:nvPicPr>
          <p:cNvPr id="35" name="Picture 34" descr="lock.png"/>
          <p:cNvPicPr>
            <a:picLocks noChangeAspect="1"/>
          </p:cNvPicPr>
          <p:nvPr/>
        </p:nvPicPr>
        <p:blipFill>
          <a:blip r:embed="rId6"/>
          <a:stretch>
            <a:fillRect/>
          </a:stretch>
        </p:blipFill>
        <p:spPr>
          <a:xfrm>
            <a:off x="6804150" y="1099058"/>
            <a:ext cx="152098" cy="221234"/>
          </a:xfrm>
          <a:prstGeom prst="rect">
            <a:avLst/>
          </a:prstGeom>
        </p:spPr>
      </p:pic>
      <p:sp>
        <p:nvSpPr>
          <p:cNvPr id="36" name="TextBox 35"/>
          <p:cNvSpPr txBox="1"/>
          <p:nvPr/>
        </p:nvSpPr>
        <p:spPr>
          <a:xfrm>
            <a:off x="7002100" y="1110615"/>
            <a:ext cx="3301776" cy="217169"/>
          </a:xfrm>
          <a:prstGeom prst="rect">
            <a:avLst/>
          </a:prstGeom>
          <a:noFill/>
        </p:spPr>
        <p:txBody>
          <a:bodyPr wrap="none" lIns="0" rIns="0" tIns="0" bIns="0">
            <a:spAutoFit/>
          </a:bodyPr>
          <a:lstStyle/>
          <a:p>
            <a:r>
              <a:rPr sz="1300" b="1">
                <a:solidFill>
                  <a:srgbClr val="FFFFFF"/>
                </a:solidFill>
                <a:latin typeface="Calibri"/>
              </a:rPr>
              <a:t>premium over Hydrolyzed Eggshell Membrane.</a:t>
            </a:r>
          </a:p>
        </p:txBody>
      </p:sp>
      <p:sp>
        <p:nvSpPr>
          <p:cNvPr id="37" name="TextBox 36"/>
          <p:cNvSpPr txBox="1"/>
          <p:nvPr/>
        </p:nvSpPr>
        <p:spPr>
          <a:xfrm>
            <a:off x="6995160" y="1602867"/>
            <a:ext cx="2164334" cy="180289"/>
          </a:xfrm>
          <a:prstGeom prst="rect">
            <a:avLst/>
          </a:prstGeom>
          <a:noFill/>
        </p:spPr>
        <p:txBody>
          <a:bodyPr wrap="none" lIns="0" rIns="0" tIns="0" bIns="0">
            <a:spAutoFit/>
          </a:bodyPr>
          <a:lstStyle/>
          <a:p>
            <a:r>
              <a:rPr sz="1057" b="1">
                <a:solidFill>
                  <a:srgbClr val="0B2E4A"/>
                </a:solidFill>
                <a:latin typeface="Calibri"/>
              </a:rPr>
              <a:t>2026 Price Index vs Global Average (=</a:t>
            </a:r>
          </a:p>
        </p:txBody>
      </p:sp>
      <p:pic>
        <p:nvPicPr>
          <p:cNvPr id="38" name="Picture 37" descr="lock.png"/>
          <p:cNvPicPr>
            <a:picLocks noChangeAspect="1"/>
          </p:cNvPicPr>
          <p:nvPr/>
        </p:nvPicPr>
        <p:blipFill>
          <a:blip r:embed="rId6"/>
          <a:stretch>
            <a:fillRect/>
          </a:stretch>
        </p:blipFill>
        <p:spPr>
          <a:xfrm>
            <a:off x="9106620" y="1593461"/>
            <a:ext cx="123784" cy="180050"/>
          </a:xfrm>
          <a:prstGeom prst="rect">
            <a:avLst/>
          </a:prstGeom>
        </p:spPr>
      </p:pic>
      <p:sp>
        <p:nvSpPr>
          <p:cNvPr id="39" name="TextBox 38"/>
          <p:cNvSpPr txBox="1"/>
          <p:nvPr/>
        </p:nvSpPr>
        <p:spPr>
          <a:xfrm>
            <a:off x="9267721" y="1602867"/>
            <a:ext cx="118189" cy="180289"/>
          </a:xfrm>
          <a:prstGeom prst="rect">
            <a:avLst/>
          </a:prstGeom>
          <a:noFill/>
        </p:spPr>
        <p:txBody>
          <a:bodyPr wrap="none" lIns="0" rIns="0" tIns="0" bIns="0">
            <a:spAutoFit/>
          </a:bodyPr>
          <a:lstStyle/>
          <a:p>
            <a:r>
              <a:rPr sz="1057" b="1">
                <a:solidFill>
                  <a:srgbClr val="0B2E4A"/>
                </a:solidFill>
                <a:latin typeface="Calibri"/>
              </a:rPr>
              <a:t>)</a:t>
            </a:r>
          </a:p>
        </p:txBody>
      </p:sp>
      <p:sp>
        <p:nvSpPr>
          <p:cNvPr id="40" name="TextBox 39"/>
          <p:cNvSpPr txBox="1"/>
          <p:nvPr/>
        </p:nvSpPr>
        <p:spPr>
          <a:xfrm>
            <a:off x="806576" y="5530976"/>
            <a:ext cx="3137780" cy="179069"/>
          </a:xfrm>
          <a:prstGeom prst="rect">
            <a:avLst/>
          </a:prstGeom>
          <a:noFill/>
        </p:spPr>
        <p:txBody>
          <a:bodyPr wrap="none" lIns="0" rIns="0" tIns="0" bIns="0">
            <a:spAutoFit/>
          </a:bodyPr>
          <a:lstStyle/>
          <a:p>
            <a:r>
              <a:rPr sz="1050" b="0">
                <a:solidFill>
                  <a:srgbClr val="1F1F1F"/>
                </a:solidFill>
                <a:latin typeface="Calibri"/>
              </a:rPr>
              <a:t>Specialty Extracted Protein Fractions sit at the top of the</a:t>
            </a:r>
          </a:p>
        </p:txBody>
      </p:sp>
      <p:sp>
        <p:nvSpPr>
          <p:cNvPr id="41" name="TextBox 40"/>
          <p:cNvSpPr txBox="1"/>
          <p:nvPr/>
        </p:nvSpPr>
        <p:spPr>
          <a:xfrm>
            <a:off x="806576" y="5690996"/>
            <a:ext cx="1794904" cy="179069"/>
          </a:xfrm>
          <a:prstGeom prst="rect">
            <a:avLst/>
          </a:prstGeom>
          <a:noFill/>
        </p:spPr>
        <p:txBody>
          <a:bodyPr wrap="none" lIns="0" rIns="0" tIns="0" bIns="0">
            <a:spAutoFit/>
          </a:bodyPr>
          <a:lstStyle/>
          <a:p>
            <a:r>
              <a:rPr sz="1050" b="0">
                <a:solidFill>
                  <a:srgbClr val="1F1F1F"/>
                </a:solidFill>
                <a:latin typeface="Calibri"/>
              </a:rPr>
              <a:t>2026 price ladder at an index of</a:t>
            </a:r>
          </a:p>
        </p:txBody>
      </p:sp>
      <p:pic>
        <p:nvPicPr>
          <p:cNvPr id="42" name="Picture 41" descr="lock.png"/>
          <p:cNvPicPr>
            <a:picLocks noChangeAspect="1"/>
          </p:cNvPicPr>
          <p:nvPr/>
        </p:nvPicPr>
        <p:blipFill>
          <a:blip r:embed="rId6"/>
          <a:stretch>
            <a:fillRect/>
          </a:stretch>
        </p:blipFill>
        <p:spPr>
          <a:xfrm>
            <a:off x="2548430" y="5681662"/>
            <a:ext cx="122849" cy="178689"/>
          </a:xfrm>
          <a:prstGeom prst="rect">
            <a:avLst/>
          </a:prstGeom>
        </p:spPr>
      </p:pic>
      <p:sp>
        <p:nvSpPr>
          <p:cNvPr id="43" name="TextBox 42"/>
          <p:cNvSpPr txBox="1"/>
          <p:nvPr/>
        </p:nvSpPr>
        <p:spPr>
          <a:xfrm>
            <a:off x="2708313" y="5690996"/>
            <a:ext cx="1073980" cy="179069"/>
          </a:xfrm>
          <a:prstGeom prst="rect">
            <a:avLst/>
          </a:prstGeom>
          <a:noFill/>
        </p:spPr>
        <p:txBody>
          <a:bodyPr wrap="none" lIns="0" rIns="0" tIns="0" bIns="0">
            <a:spAutoFit/>
          </a:bodyPr>
          <a:lstStyle/>
          <a:p>
            <a:r>
              <a:rPr sz="1050" b="0">
                <a:solidFill>
                  <a:srgbClr val="1F1F1F"/>
                </a:solidFill>
                <a:latin typeface="Calibri"/>
              </a:rPr>
              <a:t>, while Hydrolyzed</a:t>
            </a:r>
          </a:p>
        </p:txBody>
      </p:sp>
      <p:sp>
        <p:nvSpPr>
          <p:cNvPr id="44" name="TextBox 43"/>
          <p:cNvSpPr txBox="1"/>
          <p:nvPr/>
        </p:nvSpPr>
        <p:spPr>
          <a:xfrm>
            <a:off x="806576" y="5851016"/>
            <a:ext cx="1663898" cy="179069"/>
          </a:xfrm>
          <a:prstGeom prst="rect">
            <a:avLst/>
          </a:prstGeom>
          <a:noFill/>
        </p:spPr>
        <p:txBody>
          <a:bodyPr wrap="none" lIns="0" rIns="0" tIns="0" bIns="0">
            <a:spAutoFit/>
          </a:bodyPr>
          <a:lstStyle/>
          <a:p>
            <a:r>
              <a:rPr sz="1050" b="0">
                <a:solidFill>
                  <a:srgbClr val="1F1F1F"/>
                </a:solidFill>
                <a:latin typeface="Calibri"/>
              </a:rPr>
              <a:t>Eggshell Membrane trades at</a:t>
            </a:r>
          </a:p>
        </p:txBody>
      </p:sp>
      <p:pic>
        <p:nvPicPr>
          <p:cNvPr id="45" name="Picture 44" descr="lock.png"/>
          <p:cNvPicPr>
            <a:picLocks noChangeAspect="1"/>
          </p:cNvPicPr>
          <p:nvPr/>
        </p:nvPicPr>
        <p:blipFill>
          <a:blip r:embed="rId6"/>
          <a:stretch>
            <a:fillRect/>
          </a:stretch>
        </p:blipFill>
        <p:spPr>
          <a:xfrm>
            <a:off x="2417424" y="5841682"/>
            <a:ext cx="122849" cy="178689"/>
          </a:xfrm>
          <a:prstGeom prst="rect">
            <a:avLst/>
          </a:prstGeom>
        </p:spPr>
      </p:pic>
      <p:sp>
        <p:nvSpPr>
          <p:cNvPr id="46" name="TextBox 45"/>
          <p:cNvSpPr txBox="1"/>
          <p:nvPr/>
        </p:nvSpPr>
        <p:spPr>
          <a:xfrm>
            <a:off x="2577307" y="5851016"/>
            <a:ext cx="1222176" cy="179069"/>
          </a:xfrm>
          <a:prstGeom prst="rect">
            <a:avLst/>
          </a:prstGeom>
          <a:noFill/>
        </p:spPr>
        <p:txBody>
          <a:bodyPr wrap="none" lIns="0" rIns="0" tIns="0" bIns="0">
            <a:spAutoFit/>
          </a:bodyPr>
          <a:lstStyle/>
          <a:p>
            <a:r>
              <a:rPr sz="1050" b="0">
                <a:solidFill>
                  <a:srgbClr val="1F1F1F"/>
                </a:solidFill>
                <a:latin typeface="Calibri"/>
              </a:rPr>
              <a:t>, which keeps the full</a:t>
            </a:r>
          </a:p>
        </p:txBody>
      </p:sp>
      <p:sp>
        <p:nvSpPr>
          <p:cNvPr id="47" name="TextBox 46"/>
          <p:cNvSpPr txBox="1"/>
          <p:nvPr/>
        </p:nvSpPr>
        <p:spPr>
          <a:xfrm>
            <a:off x="806576" y="6011036"/>
            <a:ext cx="1547738" cy="179069"/>
          </a:xfrm>
          <a:prstGeom prst="rect">
            <a:avLst/>
          </a:prstGeom>
          <a:noFill/>
        </p:spPr>
        <p:txBody>
          <a:bodyPr wrap="none" lIns="0" rIns="0" tIns="0" bIns="0">
            <a:spAutoFit/>
          </a:bodyPr>
          <a:lstStyle/>
          <a:p>
            <a:r>
              <a:rPr sz="1050" b="0">
                <a:solidFill>
                  <a:srgbClr val="1F1F1F"/>
                </a:solidFill>
                <a:latin typeface="Calibri"/>
              </a:rPr>
              <a:t>product type spread within</a:t>
            </a:r>
          </a:p>
        </p:txBody>
      </p:sp>
      <p:pic>
        <p:nvPicPr>
          <p:cNvPr id="48" name="Picture 47" descr="lock.png"/>
          <p:cNvPicPr>
            <a:picLocks noChangeAspect="1"/>
          </p:cNvPicPr>
          <p:nvPr/>
        </p:nvPicPr>
        <p:blipFill>
          <a:blip r:embed="rId6"/>
          <a:stretch>
            <a:fillRect/>
          </a:stretch>
        </p:blipFill>
        <p:spPr>
          <a:xfrm>
            <a:off x="2301264" y="6001702"/>
            <a:ext cx="122849" cy="178689"/>
          </a:xfrm>
          <a:prstGeom prst="rect">
            <a:avLst/>
          </a:prstGeom>
        </p:spPr>
      </p:pic>
      <p:sp>
        <p:nvSpPr>
          <p:cNvPr id="49" name="TextBox 48"/>
          <p:cNvSpPr txBox="1"/>
          <p:nvPr/>
        </p:nvSpPr>
        <p:spPr>
          <a:xfrm>
            <a:off x="2461146" y="6011036"/>
            <a:ext cx="109797" cy="179069"/>
          </a:xfrm>
          <a:prstGeom prst="rect">
            <a:avLst/>
          </a:prstGeom>
          <a:noFill/>
        </p:spPr>
        <p:txBody>
          <a:bodyPr wrap="none" lIns="0" rIns="0" tIns="0" bIns="0">
            <a:spAutoFit/>
          </a:bodyPr>
          <a:lstStyle/>
          <a:p>
            <a:r>
              <a:rPr sz="1050" b="0">
                <a:solidFill>
                  <a:srgbClr val="1F1F1F"/>
                </a:solidFill>
                <a:latin typeface="Calibri"/>
              </a:rPr>
              <a:t>.</a:t>
            </a:r>
          </a:p>
        </p:txBody>
      </p:sp>
      <p:sp>
        <p:nvSpPr>
          <p:cNvPr id="50" name="TextBox 49"/>
          <p:cNvSpPr txBox="1"/>
          <p:nvPr/>
        </p:nvSpPr>
        <p:spPr>
          <a:xfrm>
            <a:off x="4732401" y="5530976"/>
            <a:ext cx="2935411" cy="179069"/>
          </a:xfrm>
          <a:prstGeom prst="rect">
            <a:avLst/>
          </a:prstGeom>
          <a:noFill/>
        </p:spPr>
        <p:txBody>
          <a:bodyPr wrap="none" lIns="0" rIns="0" tIns="0" bIns="0">
            <a:spAutoFit/>
          </a:bodyPr>
          <a:lstStyle/>
          <a:p>
            <a:r>
              <a:rPr sz="1050" b="0">
                <a:solidFill>
                  <a:srgbClr val="1F1F1F"/>
                </a:solidFill>
                <a:latin typeface="Calibri"/>
              </a:rPr>
              <a:t>Specialty Extracted Protein Fractions post the fastest</a:t>
            </a:r>
          </a:p>
        </p:txBody>
      </p:sp>
      <p:sp>
        <p:nvSpPr>
          <p:cNvPr id="51" name="TextBox 50"/>
          <p:cNvSpPr txBox="1"/>
          <p:nvPr/>
        </p:nvSpPr>
        <p:spPr>
          <a:xfrm>
            <a:off x="4732401" y="5690996"/>
            <a:ext cx="999492" cy="179069"/>
          </a:xfrm>
          <a:prstGeom prst="rect">
            <a:avLst/>
          </a:prstGeom>
          <a:noFill/>
        </p:spPr>
        <p:txBody>
          <a:bodyPr wrap="none" lIns="0" rIns="0" tIns="0" bIns="0">
            <a:spAutoFit/>
          </a:bodyPr>
          <a:lstStyle/>
          <a:p>
            <a:r>
              <a:rPr sz="1050" b="0">
                <a:solidFill>
                  <a:srgbClr val="1F1F1F"/>
                </a:solidFill>
                <a:latin typeface="Calibri"/>
              </a:rPr>
              <a:t>price growth at a</a:t>
            </a:r>
          </a:p>
        </p:txBody>
      </p:sp>
      <p:pic>
        <p:nvPicPr>
          <p:cNvPr id="52" name="Picture 51" descr="lock.png"/>
          <p:cNvPicPr>
            <a:picLocks noChangeAspect="1"/>
          </p:cNvPicPr>
          <p:nvPr/>
        </p:nvPicPr>
        <p:blipFill>
          <a:blip r:embed="rId6"/>
          <a:stretch>
            <a:fillRect/>
          </a:stretch>
        </p:blipFill>
        <p:spPr>
          <a:xfrm>
            <a:off x="5678842" y="5681662"/>
            <a:ext cx="122849" cy="178689"/>
          </a:xfrm>
          <a:prstGeom prst="rect">
            <a:avLst/>
          </a:prstGeom>
        </p:spPr>
      </p:pic>
      <p:sp>
        <p:nvSpPr>
          <p:cNvPr id="53" name="TextBox 52"/>
          <p:cNvSpPr txBox="1"/>
          <p:nvPr/>
        </p:nvSpPr>
        <p:spPr>
          <a:xfrm>
            <a:off x="5838725" y="5690996"/>
            <a:ext cx="1760248" cy="179069"/>
          </a:xfrm>
          <a:prstGeom prst="rect">
            <a:avLst/>
          </a:prstGeom>
          <a:noFill/>
        </p:spPr>
        <p:txBody>
          <a:bodyPr wrap="none" lIns="0" rIns="0" tIns="0" bIns="0">
            <a:spAutoFit/>
          </a:bodyPr>
          <a:lstStyle/>
          <a:p>
            <a:r>
              <a:rPr sz="1050" b="0">
                <a:solidFill>
                  <a:srgbClr val="1F1F1F"/>
                </a:solidFill>
                <a:latin typeface="Calibri"/>
              </a:rPr>
              <a:t>CAGR between 2026 and 2036,</a:t>
            </a:r>
          </a:p>
        </p:txBody>
      </p:sp>
      <p:sp>
        <p:nvSpPr>
          <p:cNvPr id="54" name="TextBox 53"/>
          <p:cNvSpPr txBox="1"/>
          <p:nvPr/>
        </p:nvSpPr>
        <p:spPr>
          <a:xfrm>
            <a:off x="4732401" y="5851016"/>
            <a:ext cx="897656" cy="179069"/>
          </a:xfrm>
          <a:prstGeom prst="rect">
            <a:avLst/>
          </a:prstGeom>
          <a:noFill/>
        </p:spPr>
        <p:txBody>
          <a:bodyPr wrap="none" lIns="0" rIns="0" tIns="0" bIns="0">
            <a:spAutoFit/>
          </a:bodyPr>
          <a:lstStyle/>
          <a:p>
            <a:r>
              <a:rPr sz="1050" b="0">
                <a:solidFill>
                  <a:srgbClr val="1F1F1F"/>
                </a:solidFill>
                <a:latin typeface="Calibri"/>
              </a:rPr>
              <a:t>compared with</a:t>
            </a:r>
          </a:p>
        </p:txBody>
      </p:sp>
      <p:pic>
        <p:nvPicPr>
          <p:cNvPr id="55" name="Picture 54" descr="lock.png"/>
          <p:cNvPicPr>
            <a:picLocks noChangeAspect="1"/>
          </p:cNvPicPr>
          <p:nvPr/>
        </p:nvPicPr>
        <p:blipFill>
          <a:blip r:embed="rId6"/>
          <a:stretch>
            <a:fillRect/>
          </a:stretch>
        </p:blipFill>
        <p:spPr>
          <a:xfrm>
            <a:off x="5577007" y="5841682"/>
            <a:ext cx="122849" cy="178689"/>
          </a:xfrm>
          <a:prstGeom prst="rect">
            <a:avLst/>
          </a:prstGeom>
        </p:spPr>
      </p:pic>
      <p:sp>
        <p:nvSpPr>
          <p:cNvPr id="56" name="TextBox 55"/>
          <p:cNvSpPr txBox="1"/>
          <p:nvPr/>
        </p:nvSpPr>
        <p:spPr>
          <a:xfrm>
            <a:off x="5736889" y="5851016"/>
            <a:ext cx="2013421" cy="179069"/>
          </a:xfrm>
          <a:prstGeom prst="rect">
            <a:avLst/>
          </a:prstGeom>
          <a:noFill/>
        </p:spPr>
        <p:txBody>
          <a:bodyPr wrap="none" lIns="0" rIns="0" tIns="0" bIns="0">
            <a:spAutoFit/>
          </a:bodyPr>
          <a:lstStyle/>
          <a:p>
            <a:r>
              <a:rPr sz="1050" b="0">
                <a:solidFill>
                  <a:srgbClr val="1F1F1F"/>
                </a:solidFill>
                <a:latin typeface="Calibri"/>
              </a:rPr>
              <a:t>for Hydrolyzed Eggshell Membrane.</a:t>
            </a:r>
          </a:p>
        </p:txBody>
      </p:sp>
      <p:sp>
        <p:nvSpPr>
          <p:cNvPr id="57" name="TextBox 56"/>
          <p:cNvSpPr txBox="1"/>
          <p:nvPr/>
        </p:nvSpPr>
        <p:spPr>
          <a:xfrm>
            <a:off x="8658225" y="5530976"/>
            <a:ext cx="2235844" cy="179069"/>
          </a:xfrm>
          <a:prstGeom prst="rect">
            <a:avLst/>
          </a:prstGeom>
          <a:noFill/>
        </p:spPr>
        <p:txBody>
          <a:bodyPr wrap="none" lIns="0" rIns="0" tIns="0" bIns="0">
            <a:spAutoFit/>
          </a:bodyPr>
          <a:lstStyle/>
          <a:p>
            <a:r>
              <a:rPr sz="1050" b="0">
                <a:solidFill>
                  <a:srgbClr val="1F1F1F"/>
                </a:solidFill>
                <a:latin typeface="Calibri"/>
              </a:rPr>
              <a:t>The Global average price rises from US$</a:t>
            </a:r>
          </a:p>
        </p:txBody>
      </p:sp>
      <p:pic>
        <p:nvPicPr>
          <p:cNvPr id="58" name="Picture 57" descr="lock.png"/>
          <p:cNvPicPr>
            <a:picLocks noChangeAspect="1"/>
          </p:cNvPicPr>
          <p:nvPr/>
        </p:nvPicPr>
        <p:blipFill>
          <a:blip r:embed="rId6"/>
          <a:stretch>
            <a:fillRect/>
          </a:stretch>
        </p:blipFill>
        <p:spPr>
          <a:xfrm>
            <a:off x="10841019" y="5521642"/>
            <a:ext cx="122849" cy="178689"/>
          </a:xfrm>
          <a:prstGeom prst="rect">
            <a:avLst/>
          </a:prstGeom>
        </p:spPr>
      </p:pic>
      <p:sp>
        <p:nvSpPr>
          <p:cNvPr id="59" name="TextBox 58"/>
          <p:cNvSpPr txBox="1"/>
          <p:nvPr/>
        </p:nvSpPr>
        <p:spPr>
          <a:xfrm>
            <a:off x="11000901" y="5530976"/>
            <a:ext cx="739043" cy="179069"/>
          </a:xfrm>
          <a:prstGeom prst="rect">
            <a:avLst/>
          </a:prstGeom>
          <a:noFill/>
        </p:spPr>
        <p:txBody>
          <a:bodyPr wrap="none" lIns="0" rIns="0" tIns="0" bIns="0">
            <a:spAutoFit/>
          </a:bodyPr>
          <a:lstStyle/>
          <a:p>
            <a:r>
              <a:rPr sz="1050" b="0">
                <a:solidFill>
                  <a:srgbClr val="1F1F1F"/>
                </a:solidFill>
                <a:latin typeface="Calibri"/>
              </a:rPr>
              <a:t>/MT in 2026</a:t>
            </a:r>
          </a:p>
        </p:txBody>
      </p:sp>
      <p:sp>
        <p:nvSpPr>
          <p:cNvPr id="60" name="TextBox 59"/>
          <p:cNvSpPr txBox="1"/>
          <p:nvPr/>
        </p:nvSpPr>
        <p:spPr>
          <a:xfrm>
            <a:off x="8658225" y="5690996"/>
            <a:ext cx="436140" cy="179069"/>
          </a:xfrm>
          <a:prstGeom prst="rect">
            <a:avLst/>
          </a:prstGeom>
          <a:noFill/>
        </p:spPr>
        <p:txBody>
          <a:bodyPr wrap="none" lIns="0" rIns="0" tIns="0" bIns="0">
            <a:spAutoFit/>
          </a:bodyPr>
          <a:lstStyle/>
          <a:p>
            <a:r>
              <a:rPr sz="1050" b="0">
                <a:solidFill>
                  <a:srgbClr val="1F1F1F"/>
                </a:solidFill>
                <a:latin typeface="Calibri"/>
              </a:rPr>
              <a:t>to US$</a:t>
            </a:r>
          </a:p>
        </p:txBody>
      </p:sp>
      <p:pic>
        <p:nvPicPr>
          <p:cNvPr id="61" name="Picture 60" descr="lock.png"/>
          <p:cNvPicPr>
            <a:picLocks noChangeAspect="1"/>
          </p:cNvPicPr>
          <p:nvPr/>
        </p:nvPicPr>
        <p:blipFill>
          <a:blip r:embed="rId6"/>
          <a:stretch>
            <a:fillRect/>
          </a:stretch>
        </p:blipFill>
        <p:spPr>
          <a:xfrm>
            <a:off x="9041315" y="5681662"/>
            <a:ext cx="122849" cy="178689"/>
          </a:xfrm>
          <a:prstGeom prst="rect">
            <a:avLst/>
          </a:prstGeom>
        </p:spPr>
      </p:pic>
      <p:sp>
        <p:nvSpPr>
          <p:cNvPr id="62" name="TextBox 61"/>
          <p:cNvSpPr txBox="1"/>
          <p:nvPr/>
        </p:nvSpPr>
        <p:spPr>
          <a:xfrm>
            <a:off x="9201197" y="5690996"/>
            <a:ext cx="2593181" cy="179069"/>
          </a:xfrm>
          <a:prstGeom prst="rect">
            <a:avLst/>
          </a:prstGeom>
          <a:noFill/>
        </p:spPr>
        <p:txBody>
          <a:bodyPr wrap="none" lIns="0" rIns="0" tIns="0" bIns="0">
            <a:spAutoFit/>
          </a:bodyPr>
          <a:lstStyle/>
          <a:p>
            <a:r>
              <a:rPr sz="1050" b="0">
                <a:solidFill>
                  <a:srgbClr val="1F1F1F"/>
                </a:solidFill>
                <a:latin typeface="Calibri"/>
              </a:rPr>
              <a:t>/MT in 2036, and the gap between the highest</a:t>
            </a:r>
          </a:p>
        </p:txBody>
      </p:sp>
      <p:sp>
        <p:nvSpPr>
          <p:cNvPr id="63" name="TextBox 62"/>
          <p:cNvSpPr txBox="1"/>
          <p:nvPr/>
        </p:nvSpPr>
        <p:spPr>
          <a:xfrm>
            <a:off x="8658225" y="5851016"/>
            <a:ext cx="2451236" cy="179069"/>
          </a:xfrm>
          <a:prstGeom prst="rect">
            <a:avLst/>
          </a:prstGeom>
          <a:noFill/>
        </p:spPr>
        <p:txBody>
          <a:bodyPr wrap="none" lIns="0" rIns="0" tIns="0" bIns="0">
            <a:spAutoFit/>
          </a:bodyPr>
          <a:lstStyle/>
          <a:p>
            <a:r>
              <a:rPr sz="1050" b="0">
                <a:solidFill>
                  <a:srgbClr val="1F1F1F"/>
                </a:solidFill>
                <a:latin typeface="Calibri"/>
              </a:rPr>
              <a:t>and lowest priced product type moves from</a:t>
            </a:r>
          </a:p>
        </p:txBody>
      </p:sp>
      <p:pic>
        <p:nvPicPr>
          <p:cNvPr id="64" name="Picture 63" descr="lock.png"/>
          <p:cNvPicPr>
            <a:picLocks noChangeAspect="1"/>
          </p:cNvPicPr>
          <p:nvPr/>
        </p:nvPicPr>
        <p:blipFill>
          <a:blip r:embed="rId6"/>
          <a:stretch>
            <a:fillRect/>
          </a:stretch>
        </p:blipFill>
        <p:spPr>
          <a:xfrm>
            <a:off x="11056410" y="5841682"/>
            <a:ext cx="122849" cy="178689"/>
          </a:xfrm>
          <a:prstGeom prst="rect">
            <a:avLst/>
          </a:prstGeom>
        </p:spPr>
      </p:pic>
      <p:sp>
        <p:nvSpPr>
          <p:cNvPr id="65" name="TextBox 64"/>
          <p:cNvSpPr txBox="1"/>
          <p:nvPr/>
        </p:nvSpPr>
        <p:spPr>
          <a:xfrm>
            <a:off x="11216293" y="5851016"/>
            <a:ext cx="478073" cy="179069"/>
          </a:xfrm>
          <a:prstGeom prst="rect">
            <a:avLst/>
          </a:prstGeom>
          <a:noFill/>
        </p:spPr>
        <p:txBody>
          <a:bodyPr wrap="none" lIns="0" rIns="0" tIns="0" bIns="0">
            <a:spAutoFit/>
          </a:bodyPr>
          <a:lstStyle/>
          <a:p>
            <a:r>
              <a:rPr sz="1050" b="0">
                <a:solidFill>
                  <a:srgbClr val="1F1F1F"/>
                </a:solidFill>
                <a:latin typeface="Calibri"/>
              </a:rPr>
              <a:t>in 2021</a:t>
            </a:r>
          </a:p>
        </p:txBody>
      </p:sp>
      <p:sp>
        <p:nvSpPr>
          <p:cNvPr id="66" name="TextBox 65"/>
          <p:cNvSpPr txBox="1"/>
          <p:nvPr/>
        </p:nvSpPr>
        <p:spPr>
          <a:xfrm>
            <a:off x="8658225" y="6011036"/>
            <a:ext cx="191318" cy="179069"/>
          </a:xfrm>
          <a:prstGeom prst="rect">
            <a:avLst/>
          </a:prstGeom>
          <a:noFill/>
        </p:spPr>
        <p:txBody>
          <a:bodyPr wrap="none" lIns="0" rIns="0" tIns="0" bIns="0">
            <a:spAutoFit/>
          </a:bodyPr>
          <a:lstStyle/>
          <a:p>
            <a:r>
              <a:rPr sz="1050" b="0">
                <a:solidFill>
                  <a:srgbClr val="1F1F1F"/>
                </a:solidFill>
                <a:latin typeface="Calibri"/>
              </a:rPr>
              <a:t>to</a:t>
            </a:r>
          </a:p>
        </p:txBody>
      </p:sp>
      <p:pic>
        <p:nvPicPr>
          <p:cNvPr id="67" name="Picture 66" descr="lock.png"/>
          <p:cNvPicPr>
            <a:picLocks noChangeAspect="1"/>
          </p:cNvPicPr>
          <p:nvPr/>
        </p:nvPicPr>
        <p:blipFill>
          <a:blip r:embed="rId6"/>
          <a:stretch>
            <a:fillRect/>
          </a:stretch>
        </p:blipFill>
        <p:spPr>
          <a:xfrm>
            <a:off x="8796492" y="6001702"/>
            <a:ext cx="122849" cy="178689"/>
          </a:xfrm>
          <a:prstGeom prst="rect">
            <a:avLst/>
          </a:prstGeom>
        </p:spPr>
      </p:pic>
      <p:sp>
        <p:nvSpPr>
          <p:cNvPr id="68" name="TextBox 67"/>
          <p:cNvSpPr txBox="1"/>
          <p:nvPr/>
        </p:nvSpPr>
        <p:spPr>
          <a:xfrm>
            <a:off x="8956375" y="6011036"/>
            <a:ext cx="511671" cy="179069"/>
          </a:xfrm>
          <a:prstGeom prst="rect">
            <a:avLst/>
          </a:prstGeom>
          <a:noFill/>
        </p:spPr>
        <p:txBody>
          <a:bodyPr wrap="none" lIns="0" rIns="0" tIns="0" bIns="0">
            <a:spAutoFit/>
          </a:bodyPr>
          <a:lstStyle/>
          <a:p>
            <a:r>
              <a:rPr sz="1050" b="0">
                <a:solidFill>
                  <a:srgbClr val="1F1F1F"/>
                </a:solidFill>
                <a:latin typeface="Calibri"/>
              </a:rPr>
              <a:t>in 2036.</a:t>
            </a:r>
          </a:p>
        </p:txBody>
      </p:sp>
      <p:pic>
        <p:nvPicPr>
          <p:cNvPr id="69" name="Picture 68" descr="lock.png"/>
          <p:cNvPicPr>
            <a:picLocks noChangeAspect="1"/>
          </p:cNvPicPr>
          <p:nvPr/>
        </p:nvPicPr>
        <p:blipFill>
          <a:blip r:embed="rId6"/>
          <a:stretch>
            <a:fillRect/>
          </a:stretch>
        </p:blipFill>
        <p:spPr>
          <a:xfrm>
            <a:off x="3418190" y="3048804"/>
            <a:ext cx="454926" cy="661711"/>
          </a:xfrm>
          <a:prstGeom prst="rect">
            <a:avLst/>
          </a:prstGeom>
        </p:spPr>
      </p:pic>
      <p:pic>
        <p:nvPicPr>
          <p:cNvPr id="70" name="Picture 69" descr="lock.png"/>
          <p:cNvPicPr>
            <a:picLocks noChangeAspect="1"/>
          </p:cNvPicPr>
          <p:nvPr/>
        </p:nvPicPr>
        <p:blipFill>
          <a:blip r:embed="rId6"/>
          <a:stretch>
            <a:fillRect/>
          </a:stretch>
        </p:blipFill>
        <p:spPr>
          <a:xfrm>
            <a:off x="9403270" y="2219134"/>
            <a:ext cx="256698" cy="373379"/>
          </a:xfrm>
          <a:prstGeom prst="rect">
            <a:avLst/>
          </a:prstGeom>
        </p:spPr>
      </p:pic>
      <p:sp>
        <p:nvSpPr>
          <p:cNvPr id="71" name="lockshield_10"/>
          <p:cNvSpPr/>
          <p:nvPr/>
        </p:nvSpPr>
        <p:spPr>
          <a:xfrm>
            <a:off x="347472" y="1831467"/>
            <a:ext cx="6309360" cy="3182112"/>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lockshield_14"/>
          <p:cNvSpPr/>
          <p:nvPr/>
        </p:nvSpPr>
        <p:spPr>
          <a:xfrm>
            <a:off x="6903720" y="1785747"/>
            <a:ext cx="4965192" cy="132588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Egg Protein Membrane Market Price Matrix: Product Type × Source</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Average price (US$/MT) for every product type and source combination, 2026</a:t>
            </a:r>
          </a:p>
        </p:txBody>
      </p:sp>
      <p:sp>
        <p:nvSpPr>
          <p:cNvPr id="7" name="Rectangle 6"/>
          <p:cNvSpPr/>
          <p:nvPr/>
        </p:nvSpPr>
        <p:spPr>
          <a:xfrm>
            <a:off x="274320" y="981075"/>
            <a:ext cx="11640312" cy="457200"/>
          </a:xfrm>
          <a:prstGeom prst="rect">
            <a:avLst/>
          </a:prstGeom>
          <a:solidFill>
            <a:srgbClr val="0B2E4A"/>
          </a:solidFill>
          <a:ln>
            <a:noFill/>
          </a:ln>
          <a:effectLst/>
        </p:spPr>
        <p:txBody>
          <a:bodyPr rtlCol="0" anchor="ctr" wrap="square" lIns="137160"/>
          <a:lstStyle/>
          <a:p>
            <a:pPr algn="l"/>
            <a:r>
              <a:rPr sz="1300" b="1">
                <a:solidFill>
                  <a:srgbClr val="FFFFFF"/>
                </a:solidFill>
                <a:latin typeface="Calibri"/>
              </a:rPr>
              <a:t/>
            </a:r>
          </a:p>
        </p:txBody>
      </p:sp>
      <p:sp>
        <p:nvSpPr>
          <p:cNvPr id="8" name="Rectangle 7"/>
          <p:cNvSpPr/>
          <p:nvPr/>
        </p:nvSpPr>
        <p:spPr>
          <a:xfrm>
            <a:off x="274320" y="1529715"/>
            <a:ext cx="7543800" cy="3520440"/>
          </a:xfrm>
          <a:prstGeom prst="rect">
            <a:avLst/>
          </a:prstGeom>
          <a:solidFill>
            <a:srgbClr val="F3F6F9"/>
          </a:solidFill>
          <a:ln>
            <a:noFill/>
          </a:ln>
          <a:effectLst/>
        </p:spPr>
        <p:txBody>
          <a:bodyPr rtlCol="0" anchor="ctr"/>
          <a:lstStyle/>
          <a:p>
            <a:pPr algn="ctr"/>
          </a:p>
        </p:txBody>
      </p:sp>
      <p:sp>
        <p:nvSpPr>
          <p:cNvPr id="9" name="TextBox 8"/>
          <p:cNvSpPr txBox="1"/>
          <p:nvPr/>
        </p:nvSpPr>
        <p:spPr>
          <a:xfrm>
            <a:off x="384048" y="1575435"/>
            <a:ext cx="7315200" cy="257175"/>
          </a:xfrm>
          <a:prstGeom prst="rect">
            <a:avLst/>
          </a:prstGeom>
          <a:noFill/>
        </p:spPr>
        <p:txBody>
          <a:bodyPr wrap="square" anchor="t" lIns="27432" rIns="27432" tIns="27432" bIns="27432">
            <a:spAutoFit/>
          </a:bodyPr>
          <a:lstStyle/>
          <a:p>
            <a:pPr algn="l"/>
            <a:r>
              <a:rPr sz="1150" b="1" i="0">
                <a:solidFill>
                  <a:srgbClr val="0B2E4A"/>
                </a:solidFill>
                <a:latin typeface="Calibri"/>
              </a:rPr>
              <a:t>2026 Price Matrix (US$/MT), Shaded by Index vs Global Average</a:t>
            </a:r>
          </a:p>
        </p:txBody>
      </p:sp>
      <p:graphicFrame>
        <p:nvGraphicFramePr>
          <p:cNvPr id="10" name="Table 9"/>
          <p:cNvGraphicFramePr>
            <a:graphicFrameLocks noGrp="1"/>
          </p:cNvGraphicFramePr>
          <p:nvPr/>
        </p:nvGraphicFramePr>
        <p:xfrm>
          <a:off x="365760" y="1868043"/>
          <a:ext cx="7399615" cy="2834640"/>
        </p:xfrm>
        <a:graphic>
          <a:graphicData uri="http://schemas.openxmlformats.org/drawingml/2006/table">
            <a:tbl>
              <a:tblPr firstRow="1" bandRow="1">
                <a:tableStyleId>{5C22544A-7EE6-4342-B048-85BDC9FD1C3A}</a:tableStyleId>
              </a:tblPr>
              <a:tblGrid>
                <a:gridCol w="1926771"/>
                <a:gridCol w="2434670"/>
                <a:gridCol w="2434670"/>
                <a:gridCol w="603504"/>
              </a:tblGrid>
              <a:tr h="566928">
                <a:tc>
                  <a:txBody>
                    <a:bodyPr wrap="square"/>
                    <a:lstStyle/>
                    <a:p>
                      <a:pPr algn="l"/>
                      <a:r>
                        <a:rPr sz="800" b="1">
                          <a:solidFill>
                            <a:srgbClr val="FFFFFF"/>
                          </a:solidFill>
                          <a:latin typeface="Calibri"/>
                        </a:rPr>
                        <a:t>Product Type</a:t>
                      </a:r>
                    </a:p>
                  </a:txBody>
                  <a:tcPr marL="36576" marR="36576" marT="9144" marB="9144" anchor="ctr">
                    <a:solidFill>
                      <a:srgbClr val="0B2E4A"/>
                    </a:solidFill>
                  </a:tcPr>
                </a:tc>
                <a:tc>
                  <a:txBody>
                    <a:bodyPr wrap="square"/>
                    <a:lstStyle/>
                    <a:p>
                      <a:pPr algn="ctr"/>
                      <a:r>
                        <a:rPr sz="800" b="1">
                          <a:solidFill>
                            <a:srgbClr val="FFFFFF"/>
                          </a:solidFill>
                          <a:latin typeface="Calibri"/>
                        </a:rPr>
                        <a:t>Chicken Eggshell Membrane</a:t>
                      </a:r>
                    </a:p>
                  </a:txBody>
                  <a:tcPr marL="36576" marR="36576" marT="9144" marB="9144" anchor="ctr">
                    <a:solidFill>
                      <a:srgbClr val="0B2E4A"/>
                    </a:solidFill>
                  </a:tcPr>
                </a:tc>
                <a:tc>
                  <a:txBody>
                    <a:bodyPr wrap="square"/>
                    <a:lstStyle/>
                    <a:p>
                      <a:pPr algn="ctr"/>
                      <a:r>
                        <a:rPr sz="800" b="1">
                          <a:solidFill>
                            <a:srgbClr val="FFFFFF"/>
                          </a:solidFill>
                          <a:latin typeface="Calibri"/>
                        </a:rPr>
                        <a:t>Other Poultry Eggshell Membrane</a:t>
                      </a:r>
                    </a:p>
                  </a:txBody>
                  <a:tcPr marL="36576" marR="36576" marT="9144" marB="9144" anchor="ctr">
                    <a:solidFill>
                      <a:srgbClr val="0B2E4A"/>
                    </a:solidFill>
                  </a:tcPr>
                </a:tc>
                <a:tc>
                  <a:txBody>
                    <a:bodyPr wrap="square"/>
                    <a:lstStyle/>
                    <a:p>
                      <a:pPr algn="ctr"/>
                      <a:r>
                        <a:rPr sz="800" b="1">
                          <a:solidFill>
                            <a:srgbClr val="FFFFFF"/>
                          </a:solidFill>
                          <a:latin typeface="Calibri"/>
                        </a:rPr>
                        <a:t>Row Avg.</a:t>
                      </a:r>
                    </a:p>
                  </a:txBody>
                  <a:tcPr marL="36576" marR="36576" marT="9144" marB="9144" anchor="ctr">
                    <a:solidFill>
                      <a:srgbClr val="0B2E4A"/>
                    </a:solidFill>
                  </a:tcPr>
                </a:tc>
              </a:tr>
              <a:tr h="566928">
                <a:tc>
                  <a:txBody>
                    <a:bodyPr wrap="square"/>
                    <a:lstStyle/>
                    <a:p>
                      <a:pPr algn="l"/>
                      <a:r>
                        <a:rPr sz="900" b="1">
                          <a:solidFill>
                            <a:srgbClr val="1F1F1F"/>
                          </a:solidFill>
                          <a:latin typeface="Calibri"/>
                        </a:rPr>
                        <a:t>Micronized Eggshell Membrane</a:t>
                      </a:r>
                    </a:p>
                  </a:txBody>
                  <a:tcPr marL="36576" marR="36576" marT="9144" marB="9144" anchor="ctr">
                    <a:solidFill>
                      <a:srgbClr val="FFFFFF"/>
                    </a:solidFill>
                  </a:tcPr>
                </a:tc>
                <a:tc>
                  <a:txBody>
                    <a:bodyPr wrap="square"/>
                    <a:lstStyle/>
                    <a:p>
                      <a:pPr algn="ctr"/>
                      <a:r>
                        <a:rPr sz="900"/>
                        <a:t> </a:t>
                      </a:r>
                    </a:p>
                  </a:txBody>
                  <a:tcPr marL="36576" marR="36576" marT="9144" marB="9144" anchor="ctr">
                    <a:solidFill>
                      <a:srgbClr val="D9E6F2"/>
                    </a:solidFill>
                  </a:tcPr>
                </a:tc>
                <a:tc>
                  <a:txBody>
                    <a:bodyPr wrap="square"/>
                    <a:lstStyle/>
                    <a:p>
                      <a:pPr algn="ctr"/>
                      <a:r>
                        <a:rPr sz="900"/>
                        <a:t> </a:t>
                      </a:r>
                    </a:p>
                  </a:txBody>
                  <a:tcPr marL="36576" marR="36576" marT="9144" marB="9144" anchor="ctr">
                    <a:solidFill>
                      <a:srgbClr val="F4B183"/>
                    </a:solidFill>
                  </a:tcPr>
                </a:tc>
                <a:tc>
                  <a:txBody>
                    <a:bodyPr wrap="square"/>
                    <a:lstStyle/>
                    <a:p>
                      <a:pPr algn="ctr"/>
                      <a:r>
                        <a:rPr sz="900"/>
                        <a:t> </a:t>
                      </a:r>
                    </a:p>
                  </a:txBody>
                  <a:tcPr marL="36576" marR="36576" marT="9144" marB="9144" anchor="ctr">
                    <a:solidFill>
                      <a:srgbClr val="F3F6F9"/>
                    </a:solidFill>
                  </a:tcPr>
                </a:tc>
              </a:tr>
              <a:tr h="566928">
                <a:tc>
                  <a:txBody>
                    <a:bodyPr wrap="square"/>
                    <a:lstStyle/>
                    <a:p>
                      <a:pPr algn="l"/>
                      <a:r>
                        <a:rPr sz="900" b="1">
                          <a:solidFill>
                            <a:srgbClr val="1F1F1F"/>
                          </a:solidFill>
                          <a:latin typeface="Calibri"/>
                        </a:rPr>
                        <a:t>Hydrolyzed Eggshell Membrane</a:t>
                      </a:r>
                    </a:p>
                  </a:txBody>
                  <a:tcPr marL="36576" marR="36576" marT="9144" marB="9144" anchor="ctr">
                    <a:solidFill>
                      <a:srgbClr val="FFFFFF"/>
                    </a:solidFill>
                  </a:tcPr>
                </a:tc>
                <a:tc>
                  <a:txBody>
                    <a:bodyPr wrap="square"/>
                    <a:lstStyle/>
                    <a:p>
                      <a:pPr algn="ctr"/>
                      <a:r>
                        <a:rPr sz="900"/>
                        <a:t> </a:t>
                      </a:r>
                    </a:p>
                  </a:txBody>
                  <a:tcPr marL="36576" marR="36576" marT="9144" marB="9144" anchor="ctr">
                    <a:solidFill>
                      <a:srgbClr val="D9E6F2"/>
                    </a:solidFill>
                  </a:tcPr>
                </a:tc>
                <a:tc>
                  <a:txBody>
                    <a:bodyPr wrap="square"/>
                    <a:lstStyle/>
                    <a:p>
                      <a:pPr algn="ctr"/>
                      <a:r>
                        <a:rPr sz="900"/>
                        <a:t> </a:t>
                      </a:r>
                    </a:p>
                  </a:txBody>
                  <a:tcPr marL="36576" marR="36576" marT="9144" marB="9144" anchor="ctr">
                    <a:solidFill>
                      <a:srgbClr val="F4B183"/>
                    </a:solidFill>
                  </a:tcPr>
                </a:tc>
                <a:tc>
                  <a:txBody>
                    <a:bodyPr wrap="square"/>
                    <a:lstStyle/>
                    <a:p>
                      <a:pPr algn="ctr"/>
                      <a:r>
                        <a:rPr sz="900"/>
                        <a:t> </a:t>
                      </a:r>
                    </a:p>
                  </a:txBody>
                  <a:tcPr marL="36576" marR="36576" marT="9144" marB="9144" anchor="ctr">
                    <a:solidFill>
                      <a:srgbClr val="F3F6F9"/>
                    </a:solidFill>
                  </a:tcPr>
                </a:tc>
              </a:tr>
              <a:tr h="566928">
                <a:tc>
                  <a:txBody>
                    <a:bodyPr wrap="square"/>
                    <a:lstStyle/>
                    <a:p>
                      <a:pPr algn="l"/>
                      <a:r>
                        <a:rPr sz="900" b="1">
                          <a:solidFill>
                            <a:srgbClr val="1F1F1F"/>
                          </a:solidFill>
                          <a:latin typeface="Calibri"/>
                        </a:rPr>
                        <a:t>Specialty Extracted Protein Fractions</a:t>
                      </a:r>
                    </a:p>
                  </a:txBody>
                  <a:tcPr marL="36576" marR="36576" marT="9144" marB="9144" anchor="ctr">
                    <a:solidFill>
                      <a:srgbClr val="FFFFFF"/>
                    </a:solidFill>
                  </a:tcPr>
                </a:tc>
                <a:tc>
                  <a:txBody>
                    <a:bodyPr wrap="square"/>
                    <a:lstStyle/>
                    <a:p>
                      <a:pPr algn="ctr"/>
                      <a:r>
                        <a:rPr sz="900"/>
                        <a:t> </a:t>
                      </a:r>
                    </a:p>
                  </a:txBody>
                  <a:tcPr marL="36576" marR="36576" marT="9144" marB="9144" anchor="ctr">
                    <a:solidFill>
                      <a:srgbClr val="D9E6F2"/>
                    </a:solidFill>
                  </a:tcPr>
                </a:tc>
                <a:tc>
                  <a:txBody>
                    <a:bodyPr wrap="square"/>
                    <a:lstStyle/>
                    <a:p>
                      <a:pPr algn="ctr"/>
                      <a:r>
                        <a:rPr sz="900"/>
                        <a:t> </a:t>
                      </a:r>
                    </a:p>
                  </a:txBody>
                  <a:tcPr marL="36576" marR="36576" marT="9144" marB="9144" anchor="ctr">
                    <a:solidFill>
                      <a:srgbClr val="F4B183"/>
                    </a:solidFill>
                  </a:tcPr>
                </a:tc>
                <a:tc>
                  <a:txBody>
                    <a:bodyPr wrap="square"/>
                    <a:lstStyle/>
                    <a:p>
                      <a:pPr algn="ctr"/>
                      <a:r>
                        <a:rPr sz="900"/>
                        <a:t> </a:t>
                      </a:r>
                    </a:p>
                  </a:txBody>
                  <a:tcPr marL="36576" marR="36576" marT="9144" marB="9144" anchor="ctr">
                    <a:solidFill>
                      <a:srgbClr val="F3F6F9"/>
                    </a:solidFill>
                  </a:tcPr>
                </a:tc>
              </a:tr>
              <a:tr h="566928">
                <a:tc>
                  <a:txBody>
                    <a:bodyPr wrap="square"/>
                    <a:lstStyle/>
                    <a:p>
                      <a:pPr algn="l"/>
                      <a:r>
                        <a:rPr sz="900" b="1">
                          <a:solidFill>
                            <a:srgbClr val="1F1F1F"/>
                          </a:solidFill>
                          <a:latin typeface="Calibri"/>
                        </a:rPr>
                        <a:t>Column Avg.</a:t>
                      </a:r>
                    </a:p>
                  </a:txBody>
                  <a:tcPr marL="36576" marR="36576" marT="9144" marB="9144" anchor="ctr">
                    <a:solidFill>
                      <a:srgbClr val="F3F6F9"/>
                    </a:solidFill>
                  </a:tcPr>
                </a:tc>
                <a:tc>
                  <a:txBody>
                    <a:bodyPr wrap="square"/>
                    <a:lstStyle/>
                    <a:p>
                      <a:pPr algn="ctr"/>
                      <a:r>
                        <a:rPr sz="900"/>
                        <a:t> </a:t>
                      </a:r>
                    </a:p>
                  </a:txBody>
                  <a:tcPr marL="36576" marR="36576" marT="9144" marB="9144" anchor="ctr">
                    <a:solidFill>
                      <a:srgbClr val="F3F6F9"/>
                    </a:solidFill>
                  </a:tcPr>
                </a:tc>
                <a:tc>
                  <a:txBody>
                    <a:bodyPr wrap="square"/>
                    <a:lstStyle/>
                    <a:p>
                      <a:pPr algn="ctr"/>
                      <a:r>
                        <a:rPr sz="900"/>
                        <a:t> </a:t>
                      </a:r>
                    </a:p>
                  </a:txBody>
                  <a:tcPr marL="36576" marR="36576" marT="9144" marB="9144" anchor="ctr">
                    <a:solidFill>
                      <a:srgbClr val="F3F6F9"/>
                    </a:solidFill>
                  </a:tcPr>
                </a:tc>
                <a:tc>
                  <a:txBody>
                    <a:bodyPr wrap="square"/>
                    <a:lstStyle/>
                    <a:p>
                      <a:pPr algn="ctr"/>
                      <a:r>
                        <a:rPr sz="900"/>
                        <a:t> </a:t>
                      </a:r>
                    </a:p>
                  </a:txBody>
                  <a:tcPr marL="36576" marR="36576" marT="9144" marB="9144" anchor="ctr">
                    <a:solidFill>
                      <a:srgbClr val="F3F6F9"/>
                    </a:solidFill>
                  </a:tcPr>
                </a:tc>
              </a:tr>
            </a:tbl>
          </a:graphicData>
        </a:graphic>
      </p:graphicFrame>
      <p:sp>
        <p:nvSpPr>
          <p:cNvPr id="11" name="Rectangle 10"/>
          <p:cNvSpPr/>
          <p:nvPr/>
        </p:nvSpPr>
        <p:spPr>
          <a:xfrm>
            <a:off x="384048" y="4794123"/>
            <a:ext cx="180975" cy="142875"/>
          </a:xfrm>
          <a:prstGeom prst="rect">
            <a:avLst/>
          </a:prstGeom>
          <a:solidFill>
            <a:srgbClr val="9DC0E0"/>
          </a:solidFill>
          <a:ln w="9525">
            <a:solidFill>
              <a:srgbClr val="D9DEE4"/>
            </a:solidFill>
          </a:ln>
          <a:effectLst/>
        </p:spPr>
        <p:txBody>
          <a:bodyPr rtlCol="0" anchor="ctr"/>
          <a:lstStyle/>
          <a:p>
            <a:pPr algn="ctr"/>
          </a:p>
        </p:txBody>
      </p:sp>
      <p:sp>
        <p:nvSpPr>
          <p:cNvPr id="12" name="TMR Scale legend"/>
          <p:cNvSpPr txBox="1"/>
          <p:nvPr/>
        </p:nvSpPr>
        <p:spPr>
          <a:xfrm>
            <a:off x="593598" y="4739259"/>
            <a:ext cx="1276350" cy="238125"/>
          </a:xfrm>
          <a:prstGeom prst="rect">
            <a:avLst/>
          </a:prstGeom>
          <a:noFill/>
        </p:spPr>
        <p:txBody>
          <a:bodyPr wrap="square" anchor="t" lIns="27432" rIns="27432" tIns="27432" bIns="27432">
            <a:spAutoFit/>
          </a:bodyPr>
          <a:lstStyle/>
          <a:p>
            <a:pPr algn="l"/>
            <a:r>
              <a:rPr sz="850" b="0" i="0">
                <a:solidFill>
                  <a:srgbClr val="59636E"/>
                </a:solidFill>
                <a:latin typeface="Calibri"/>
              </a:rPr>
              <a:t>Index below 97.5</a:t>
            </a:r>
          </a:p>
        </p:txBody>
      </p:sp>
      <p:sp>
        <p:nvSpPr>
          <p:cNvPr id="13" name="Rectangle 12"/>
          <p:cNvSpPr/>
          <p:nvPr/>
        </p:nvSpPr>
        <p:spPr>
          <a:xfrm>
            <a:off x="1850898" y="4794123"/>
            <a:ext cx="180975" cy="142875"/>
          </a:xfrm>
          <a:prstGeom prst="rect">
            <a:avLst/>
          </a:prstGeom>
          <a:solidFill>
            <a:srgbClr val="D9E6F2"/>
          </a:solidFill>
          <a:ln w="9525">
            <a:solidFill>
              <a:srgbClr val="D9DEE4"/>
            </a:solidFill>
          </a:ln>
          <a:effectLst/>
        </p:spPr>
        <p:txBody>
          <a:bodyPr rtlCol="0" anchor="ctr"/>
          <a:lstStyle/>
          <a:p>
            <a:pPr algn="ctr"/>
          </a:p>
        </p:txBody>
      </p:sp>
      <p:sp>
        <p:nvSpPr>
          <p:cNvPr id="14" name="TMR Scale legend"/>
          <p:cNvSpPr txBox="1"/>
          <p:nvPr/>
        </p:nvSpPr>
        <p:spPr>
          <a:xfrm>
            <a:off x="2060448" y="4739259"/>
            <a:ext cx="1276350" cy="238125"/>
          </a:xfrm>
          <a:prstGeom prst="rect">
            <a:avLst/>
          </a:prstGeom>
          <a:noFill/>
        </p:spPr>
        <p:txBody>
          <a:bodyPr wrap="square" anchor="t" lIns="27432" rIns="27432" tIns="27432" bIns="27432">
            <a:spAutoFit/>
          </a:bodyPr>
          <a:lstStyle/>
          <a:p>
            <a:pPr algn="l"/>
            <a:r>
              <a:rPr sz="850" b="0" i="0">
                <a:solidFill>
                  <a:srgbClr val="59636E"/>
                </a:solidFill>
                <a:latin typeface="Calibri"/>
              </a:rPr>
              <a:t>97.5 to 99</a:t>
            </a:r>
          </a:p>
        </p:txBody>
      </p:sp>
      <p:sp>
        <p:nvSpPr>
          <p:cNvPr id="15" name="Rectangle 14"/>
          <p:cNvSpPr/>
          <p:nvPr/>
        </p:nvSpPr>
        <p:spPr>
          <a:xfrm>
            <a:off x="3317748" y="4794123"/>
            <a:ext cx="180975" cy="142875"/>
          </a:xfrm>
          <a:prstGeom prst="rect">
            <a:avLst/>
          </a:prstGeom>
          <a:solidFill>
            <a:srgbClr val="F7F7F7"/>
          </a:solidFill>
          <a:ln w="9525">
            <a:solidFill>
              <a:srgbClr val="D9DEE4"/>
            </a:solidFill>
          </a:ln>
          <a:effectLst/>
        </p:spPr>
        <p:txBody>
          <a:bodyPr rtlCol="0" anchor="ctr"/>
          <a:lstStyle/>
          <a:p>
            <a:pPr algn="ctr"/>
          </a:p>
        </p:txBody>
      </p:sp>
      <p:sp>
        <p:nvSpPr>
          <p:cNvPr id="16" name="TMR Scale legend"/>
          <p:cNvSpPr txBox="1"/>
          <p:nvPr/>
        </p:nvSpPr>
        <p:spPr>
          <a:xfrm>
            <a:off x="3527298" y="4739259"/>
            <a:ext cx="1276350" cy="238125"/>
          </a:xfrm>
          <a:prstGeom prst="rect">
            <a:avLst/>
          </a:prstGeom>
          <a:noFill/>
        </p:spPr>
        <p:txBody>
          <a:bodyPr wrap="square" anchor="t" lIns="27432" rIns="27432" tIns="27432" bIns="27432">
            <a:spAutoFit/>
          </a:bodyPr>
          <a:lstStyle/>
          <a:p>
            <a:pPr algn="l"/>
            <a:r>
              <a:rPr sz="850" b="0" i="0">
                <a:solidFill>
                  <a:srgbClr val="59636E"/>
                </a:solidFill>
                <a:latin typeface="Calibri"/>
              </a:rPr>
              <a:t>Parity: 99 to 101</a:t>
            </a:r>
          </a:p>
        </p:txBody>
      </p:sp>
      <p:sp>
        <p:nvSpPr>
          <p:cNvPr id="17" name="Rectangle 16"/>
          <p:cNvSpPr/>
          <p:nvPr/>
        </p:nvSpPr>
        <p:spPr>
          <a:xfrm>
            <a:off x="4784598" y="4794123"/>
            <a:ext cx="180975" cy="142875"/>
          </a:xfrm>
          <a:prstGeom prst="rect">
            <a:avLst/>
          </a:prstGeom>
          <a:solidFill>
            <a:srgbClr val="FBE3D3"/>
          </a:solidFill>
          <a:ln w="9525">
            <a:solidFill>
              <a:srgbClr val="D9DEE4"/>
            </a:solidFill>
          </a:ln>
          <a:effectLst/>
        </p:spPr>
        <p:txBody>
          <a:bodyPr rtlCol="0" anchor="ctr"/>
          <a:lstStyle/>
          <a:p>
            <a:pPr algn="ctr"/>
          </a:p>
        </p:txBody>
      </p:sp>
      <p:sp>
        <p:nvSpPr>
          <p:cNvPr id="18" name="TMR Scale legend"/>
          <p:cNvSpPr txBox="1"/>
          <p:nvPr/>
        </p:nvSpPr>
        <p:spPr>
          <a:xfrm>
            <a:off x="4994148" y="4739259"/>
            <a:ext cx="1276350" cy="238125"/>
          </a:xfrm>
          <a:prstGeom prst="rect">
            <a:avLst/>
          </a:prstGeom>
          <a:noFill/>
        </p:spPr>
        <p:txBody>
          <a:bodyPr wrap="square" anchor="t" lIns="27432" rIns="27432" tIns="27432" bIns="27432">
            <a:spAutoFit/>
          </a:bodyPr>
          <a:lstStyle/>
          <a:p>
            <a:pPr algn="l"/>
            <a:r>
              <a:rPr sz="850" b="0" i="0">
                <a:solidFill>
                  <a:srgbClr val="59636E"/>
                </a:solidFill>
                <a:latin typeface="Calibri"/>
              </a:rPr>
              <a:t>101 to 102.5</a:t>
            </a:r>
          </a:p>
        </p:txBody>
      </p:sp>
      <p:sp>
        <p:nvSpPr>
          <p:cNvPr id="19" name="Rectangle 18"/>
          <p:cNvSpPr/>
          <p:nvPr/>
        </p:nvSpPr>
        <p:spPr>
          <a:xfrm>
            <a:off x="6251448" y="4794123"/>
            <a:ext cx="180975" cy="142875"/>
          </a:xfrm>
          <a:prstGeom prst="rect">
            <a:avLst/>
          </a:prstGeom>
          <a:solidFill>
            <a:srgbClr val="F4B183"/>
          </a:solidFill>
          <a:ln w="9525">
            <a:solidFill>
              <a:srgbClr val="D9DEE4"/>
            </a:solidFill>
          </a:ln>
          <a:effectLst/>
        </p:spPr>
        <p:txBody>
          <a:bodyPr rtlCol="0" anchor="ctr"/>
          <a:lstStyle/>
          <a:p>
            <a:pPr algn="ctr"/>
          </a:p>
        </p:txBody>
      </p:sp>
      <p:sp>
        <p:nvSpPr>
          <p:cNvPr id="20" name="TMR Scale legend"/>
          <p:cNvSpPr txBox="1"/>
          <p:nvPr/>
        </p:nvSpPr>
        <p:spPr>
          <a:xfrm>
            <a:off x="6460998" y="4739259"/>
            <a:ext cx="1276350" cy="238125"/>
          </a:xfrm>
          <a:prstGeom prst="rect">
            <a:avLst/>
          </a:prstGeom>
          <a:noFill/>
        </p:spPr>
        <p:txBody>
          <a:bodyPr wrap="square" anchor="t" lIns="27432" rIns="27432" tIns="27432" bIns="27432">
            <a:spAutoFit/>
          </a:bodyPr>
          <a:lstStyle/>
          <a:p>
            <a:pPr algn="l"/>
            <a:r>
              <a:rPr sz="850" b="0" i="0">
                <a:solidFill>
                  <a:srgbClr val="59636E"/>
                </a:solidFill>
                <a:latin typeface="Calibri"/>
              </a:rPr>
              <a:t>Index above 102.5</a:t>
            </a:r>
          </a:p>
        </p:txBody>
      </p:sp>
      <p:sp>
        <p:nvSpPr>
          <p:cNvPr id="21" name="Rectangle 20"/>
          <p:cNvSpPr/>
          <p:nvPr/>
        </p:nvSpPr>
        <p:spPr>
          <a:xfrm>
            <a:off x="7955280" y="1529715"/>
            <a:ext cx="3959352" cy="3520440"/>
          </a:xfrm>
          <a:prstGeom prst="rect">
            <a:avLst/>
          </a:prstGeom>
          <a:solidFill>
            <a:srgbClr val="F3F6F9"/>
          </a:solidFill>
          <a:ln>
            <a:noFill/>
          </a:ln>
          <a:effectLst/>
        </p:spPr>
        <p:txBody>
          <a:bodyPr rtlCol="0" anchor="ctr"/>
          <a:lstStyle/>
          <a:p>
            <a:pPr algn="ctr"/>
          </a:p>
        </p:txBody>
      </p:sp>
      <p:sp>
        <p:nvSpPr>
          <p:cNvPr id="22" name="TextBox 21"/>
          <p:cNvSpPr txBox="1"/>
          <p:nvPr/>
        </p:nvSpPr>
        <p:spPr>
          <a:xfrm>
            <a:off x="8065008" y="1575435"/>
            <a:ext cx="3749040" cy="257175"/>
          </a:xfrm>
          <a:prstGeom prst="rect">
            <a:avLst/>
          </a:prstGeom>
          <a:noFill/>
        </p:spPr>
        <p:txBody>
          <a:bodyPr wrap="square" anchor="t" lIns="27432" rIns="27432" tIns="27432" bIns="27432">
            <a:spAutoFit/>
          </a:bodyPr>
          <a:lstStyle/>
          <a:p>
            <a:pPr algn="l"/>
            <a:r>
              <a:rPr sz="1150" b="1" i="0">
                <a:solidFill>
                  <a:srgbClr val="0B2E4A"/>
                </a:solidFill>
                <a:latin typeface="Calibri"/>
              </a:rPr>
              <a:t>Price Range Across All Source Sub-Types, 2026</a:t>
            </a:r>
          </a:p>
        </p:txBody>
      </p:sp>
      <p:sp>
        <p:nvSpPr>
          <p:cNvPr id="23" name="TextBox 22"/>
          <p:cNvSpPr txBox="1"/>
          <p:nvPr/>
        </p:nvSpPr>
        <p:spPr>
          <a:xfrm>
            <a:off x="8065008" y="1965579"/>
            <a:ext cx="3749040" cy="219075"/>
          </a:xfrm>
          <a:prstGeom prst="rect">
            <a:avLst/>
          </a:prstGeom>
          <a:noFill/>
        </p:spPr>
        <p:txBody>
          <a:bodyPr wrap="square" anchor="t" lIns="27432" rIns="27432" tIns="27432" bIns="27432">
            <a:spAutoFit/>
          </a:bodyPr>
          <a:lstStyle/>
          <a:p>
            <a:pPr algn="l"/>
            <a:r>
              <a:rPr sz="850" b="0" i="1">
                <a:solidFill>
                  <a:srgbClr val="59636E"/>
                </a:solidFill>
                <a:latin typeface="Calibri"/>
              </a:rPr>
              <a:t>Bar spans lowest to highest price (US$/MT) at the finest data level.</a:t>
            </a:r>
          </a:p>
        </p:txBody>
      </p:sp>
      <p:graphicFrame>
        <p:nvGraphicFramePr>
          <p:cNvPr id="24" name="TMR Price Chart"/>
          <p:cNvGraphicFramePr>
            <a:graphicFrameLocks noGrp="1"/>
          </p:cNvGraphicFramePr>
          <p:nvPr/>
        </p:nvGraphicFramePr>
        <p:xfrm>
          <a:off x="8001000" y="2032635"/>
          <a:ext cx="3867912" cy="2971800"/>
        </p:xfrm>
        <a:graphic>
          <a:graphicData uri="http://schemas.openxmlformats.org/drawingml/2006/chart">
            <c:chart xmlns:c="http://schemas.openxmlformats.org/drawingml/2006/chart" r:id="rId3"/>
          </a:graphicData>
        </a:graphic>
      </p:graphicFrame>
      <p:sp>
        <p:nvSpPr>
          <p:cNvPr id="25" name="Rectangle 24"/>
          <p:cNvSpPr/>
          <p:nvPr/>
        </p:nvSpPr>
        <p:spPr>
          <a:xfrm>
            <a:off x="274320" y="5141595"/>
            <a:ext cx="3788664" cy="1234440"/>
          </a:xfrm>
          <a:prstGeom prst="rect">
            <a:avLst/>
          </a:prstGeom>
          <a:solidFill>
            <a:srgbClr val="F3F6F9"/>
          </a:solidFill>
          <a:ln>
            <a:noFill/>
          </a:ln>
          <a:effectLst/>
        </p:spPr>
        <p:txBody>
          <a:bodyPr rtlCol="0" anchor="ctr"/>
          <a:lstStyle/>
          <a:p>
            <a:pPr algn="ctr"/>
          </a:p>
        </p:txBody>
      </p:sp>
      <p:sp>
        <p:nvSpPr>
          <p:cNvPr id="26" name="Oval 25"/>
          <p:cNvSpPr/>
          <p:nvPr/>
        </p:nvSpPr>
        <p:spPr>
          <a:xfrm>
            <a:off x="388620" y="5265420"/>
            <a:ext cx="314325" cy="314325"/>
          </a:xfrm>
          <a:prstGeom prst="ellipse">
            <a:avLst/>
          </a:prstGeom>
          <a:solidFill>
            <a:srgbClr val="0B2E4A"/>
          </a:solidFill>
          <a:ln>
            <a:noFill/>
          </a:ln>
          <a:effectLst/>
        </p:spPr>
        <p:txBody>
          <a:bodyPr rtlCol="0" anchor="ctr" lIns="0" rIns="0" wrap="none" tIns="0" bIns="0"/>
          <a:lstStyle/>
          <a:p>
            <a:pPr algn="ctr"/>
            <a:r>
              <a:rPr sz="1200" b="1">
                <a:solidFill>
                  <a:srgbClr val="FFFFFF"/>
                </a:solidFill>
                <a:latin typeface="Calibri"/>
              </a:rPr>
              <a:t>1</a:t>
            </a:r>
          </a:p>
        </p:txBody>
      </p:sp>
      <p:sp>
        <p:nvSpPr>
          <p:cNvPr id="27" name="TextBox 26"/>
          <p:cNvSpPr txBox="1"/>
          <p:nvPr/>
        </p:nvSpPr>
        <p:spPr>
          <a:xfrm>
            <a:off x="779145" y="5227320"/>
            <a:ext cx="3198114" cy="266700"/>
          </a:xfrm>
          <a:prstGeom prst="rect">
            <a:avLst/>
          </a:prstGeom>
          <a:noFill/>
        </p:spPr>
        <p:txBody>
          <a:bodyPr wrap="square" anchor="t" lIns="27432" rIns="27432" tIns="27432" bIns="27432">
            <a:spAutoFit/>
          </a:bodyPr>
          <a:lstStyle/>
          <a:p>
            <a:pPr algn="l"/>
            <a:r>
              <a:rPr sz="1150" b="1" i="0">
                <a:solidFill>
                  <a:srgbClr val="0B2E4A"/>
                </a:solidFill>
                <a:latin typeface="Calibri"/>
              </a:rPr>
              <a:t>Premium Pockets</a:t>
            </a:r>
          </a:p>
        </p:txBody>
      </p:sp>
      <p:sp>
        <p:nvSpPr>
          <p:cNvPr id="28" name="TextBox 27"/>
          <p:cNvSpPr txBox="1"/>
          <p:nvPr/>
        </p:nvSpPr>
        <p:spPr>
          <a:xfrm>
            <a:off x="779145" y="5503545"/>
            <a:ext cx="3198114" cy="834390"/>
          </a:xfrm>
          <a:prstGeom prst="rect">
            <a:avLst/>
          </a:prstGeom>
          <a:noFill/>
        </p:spPr>
        <p:txBody>
          <a:bodyPr wrap="square" anchor="t" lIns="27432" rIns="27432" tIns="27432" bIns="27432">
            <a:spAutoFit/>
          </a:bodyPr>
          <a:lstStyle/>
          <a:p>
            <a:pPr algn="l"/>
            <a:r>
              <a:rPr sz="1050" b="0" i="0">
                <a:solidFill>
                  <a:srgbClr val="1F1F1F"/>
                </a:solidFill>
                <a:latin typeface="Calibri"/>
              </a:rPr>
              <a:t/>
            </a:r>
          </a:p>
        </p:txBody>
      </p:sp>
      <p:sp>
        <p:nvSpPr>
          <p:cNvPr id="29" name="Rectangle 28"/>
          <p:cNvSpPr/>
          <p:nvPr/>
        </p:nvSpPr>
        <p:spPr>
          <a:xfrm>
            <a:off x="4200144" y="5141595"/>
            <a:ext cx="3788664" cy="1234440"/>
          </a:xfrm>
          <a:prstGeom prst="rect">
            <a:avLst/>
          </a:prstGeom>
          <a:solidFill>
            <a:srgbClr val="F3F6F9"/>
          </a:solidFill>
          <a:ln>
            <a:noFill/>
          </a:ln>
          <a:effectLst/>
        </p:spPr>
        <p:txBody>
          <a:bodyPr rtlCol="0" anchor="ctr"/>
          <a:lstStyle/>
          <a:p>
            <a:pPr algn="ctr"/>
          </a:p>
        </p:txBody>
      </p:sp>
      <p:sp>
        <p:nvSpPr>
          <p:cNvPr id="30" name="Oval 29"/>
          <p:cNvSpPr/>
          <p:nvPr/>
        </p:nvSpPr>
        <p:spPr>
          <a:xfrm>
            <a:off x="4314444" y="5265420"/>
            <a:ext cx="314325" cy="314325"/>
          </a:xfrm>
          <a:prstGeom prst="ellipse">
            <a:avLst/>
          </a:prstGeom>
          <a:solidFill>
            <a:srgbClr val="0B2E4A"/>
          </a:solidFill>
          <a:ln>
            <a:noFill/>
          </a:ln>
          <a:effectLst/>
        </p:spPr>
        <p:txBody>
          <a:bodyPr rtlCol="0" anchor="ctr" lIns="0" rIns="0" wrap="none" tIns="0" bIns="0"/>
          <a:lstStyle/>
          <a:p>
            <a:pPr algn="ctr"/>
            <a:r>
              <a:rPr sz="1200" b="1">
                <a:solidFill>
                  <a:srgbClr val="FFFFFF"/>
                </a:solidFill>
                <a:latin typeface="Calibri"/>
              </a:rPr>
              <a:t>2</a:t>
            </a:r>
          </a:p>
        </p:txBody>
      </p:sp>
      <p:sp>
        <p:nvSpPr>
          <p:cNvPr id="31" name="TextBox 30"/>
          <p:cNvSpPr txBox="1"/>
          <p:nvPr/>
        </p:nvSpPr>
        <p:spPr>
          <a:xfrm>
            <a:off x="4704969" y="5227320"/>
            <a:ext cx="3198114" cy="266700"/>
          </a:xfrm>
          <a:prstGeom prst="rect">
            <a:avLst/>
          </a:prstGeom>
          <a:noFill/>
        </p:spPr>
        <p:txBody>
          <a:bodyPr wrap="square" anchor="t" lIns="27432" rIns="27432" tIns="27432" bIns="27432">
            <a:spAutoFit/>
          </a:bodyPr>
          <a:lstStyle/>
          <a:p>
            <a:pPr algn="l"/>
            <a:r>
              <a:rPr sz="1150" b="1" i="0">
                <a:solidFill>
                  <a:srgbClr val="0B2E4A"/>
                </a:solidFill>
                <a:latin typeface="Calibri"/>
              </a:rPr>
              <a:t>Value Pockets</a:t>
            </a:r>
          </a:p>
        </p:txBody>
      </p:sp>
      <p:sp>
        <p:nvSpPr>
          <p:cNvPr id="32" name="TextBox 31"/>
          <p:cNvSpPr txBox="1"/>
          <p:nvPr/>
        </p:nvSpPr>
        <p:spPr>
          <a:xfrm>
            <a:off x="4704969" y="5503545"/>
            <a:ext cx="3198114" cy="834390"/>
          </a:xfrm>
          <a:prstGeom prst="rect">
            <a:avLst/>
          </a:prstGeom>
          <a:noFill/>
        </p:spPr>
        <p:txBody>
          <a:bodyPr wrap="square" anchor="t" lIns="27432" rIns="27432" tIns="27432" bIns="27432">
            <a:spAutoFit/>
          </a:bodyPr>
          <a:lstStyle/>
          <a:p>
            <a:pPr algn="l"/>
            <a:r>
              <a:rPr sz="1050" b="0" i="0">
                <a:solidFill>
                  <a:srgbClr val="1F1F1F"/>
                </a:solidFill>
                <a:latin typeface="Calibri"/>
              </a:rPr>
              <a:t/>
            </a:r>
          </a:p>
        </p:txBody>
      </p:sp>
      <p:sp>
        <p:nvSpPr>
          <p:cNvPr id="33" name="Rectangle 32"/>
          <p:cNvSpPr/>
          <p:nvPr/>
        </p:nvSpPr>
        <p:spPr>
          <a:xfrm>
            <a:off x="8125968" y="5141595"/>
            <a:ext cx="3788664" cy="1234440"/>
          </a:xfrm>
          <a:prstGeom prst="rect">
            <a:avLst/>
          </a:prstGeom>
          <a:solidFill>
            <a:srgbClr val="F3F6F9"/>
          </a:solidFill>
          <a:ln>
            <a:noFill/>
          </a:ln>
          <a:effectLst/>
        </p:spPr>
        <p:txBody>
          <a:bodyPr rtlCol="0" anchor="ctr"/>
          <a:lstStyle/>
          <a:p>
            <a:pPr algn="ctr"/>
          </a:p>
        </p:txBody>
      </p:sp>
      <p:sp>
        <p:nvSpPr>
          <p:cNvPr id="34" name="Oval 33"/>
          <p:cNvSpPr/>
          <p:nvPr/>
        </p:nvSpPr>
        <p:spPr>
          <a:xfrm>
            <a:off x="8240268" y="5265420"/>
            <a:ext cx="314325" cy="314325"/>
          </a:xfrm>
          <a:prstGeom prst="ellipse">
            <a:avLst/>
          </a:prstGeom>
          <a:solidFill>
            <a:srgbClr val="0B2E4A"/>
          </a:solidFill>
          <a:ln>
            <a:noFill/>
          </a:ln>
          <a:effectLst/>
        </p:spPr>
        <p:txBody>
          <a:bodyPr rtlCol="0" anchor="ctr" lIns="0" rIns="0" wrap="none" tIns="0" bIns="0"/>
          <a:lstStyle/>
          <a:p>
            <a:pPr algn="ctr"/>
            <a:r>
              <a:rPr sz="1200" b="1">
                <a:solidFill>
                  <a:srgbClr val="FFFFFF"/>
                </a:solidFill>
                <a:latin typeface="Calibri"/>
              </a:rPr>
              <a:t>3</a:t>
            </a:r>
          </a:p>
        </p:txBody>
      </p:sp>
      <p:sp>
        <p:nvSpPr>
          <p:cNvPr id="35" name="TextBox 34"/>
          <p:cNvSpPr txBox="1"/>
          <p:nvPr/>
        </p:nvSpPr>
        <p:spPr>
          <a:xfrm>
            <a:off x="8630793" y="5227320"/>
            <a:ext cx="3198114" cy="266700"/>
          </a:xfrm>
          <a:prstGeom prst="rect">
            <a:avLst/>
          </a:prstGeom>
          <a:noFill/>
        </p:spPr>
        <p:txBody>
          <a:bodyPr wrap="square" anchor="t" lIns="27432" rIns="27432" tIns="27432" bIns="27432">
            <a:spAutoFit/>
          </a:bodyPr>
          <a:lstStyle/>
          <a:p>
            <a:pPr algn="l"/>
            <a:r>
              <a:rPr sz="1150" b="1" i="0">
                <a:solidFill>
                  <a:srgbClr val="0B2E4A"/>
                </a:solidFill>
                <a:latin typeface="Calibri"/>
              </a:rPr>
              <a:t>Within-Type Spread</a:t>
            </a:r>
          </a:p>
        </p:txBody>
      </p:sp>
      <p:sp>
        <p:nvSpPr>
          <p:cNvPr id="36" name="TextBox 35"/>
          <p:cNvSpPr txBox="1"/>
          <p:nvPr/>
        </p:nvSpPr>
        <p:spPr>
          <a:xfrm>
            <a:off x="8630793" y="5503545"/>
            <a:ext cx="3198114" cy="834390"/>
          </a:xfrm>
          <a:prstGeom prst="rect">
            <a:avLst/>
          </a:prstGeom>
          <a:noFill/>
        </p:spPr>
        <p:txBody>
          <a:bodyPr wrap="square" anchor="t" lIns="27432" rIns="27432" tIns="27432" bIns="27432">
            <a:spAutoFit/>
          </a:bodyPr>
          <a:lstStyle/>
          <a:p>
            <a:pPr algn="l"/>
            <a:r>
              <a:rPr sz="1050" b="0" i="0">
                <a:solidFill>
                  <a:srgbClr val="1F1F1F"/>
                </a:solidFill>
                <a:latin typeface="Calibri"/>
              </a:rPr>
              <a:t/>
            </a:r>
          </a:p>
        </p:txBody>
      </p:sp>
      <p:sp>
        <p:nvSpPr>
          <p:cNvPr id="37" name="TextBox 36"/>
          <p:cNvSpPr txBox="1"/>
          <p:nvPr/>
        </p:nvSpPr>
        <p:spPr>
          <a:xfrm>
            <a:off x="274320" y="6363843"/>
            <a:ext cx="11612880" cy="209550"/>
          </a:xfrm>
          <a:prstGeom prst="rect">
            <a:avLst/>
          </a:prstGeom>
          <a:noFill/>
        </p:spPr>
        <p:txBody>
          <a:bodyPr wrap="square" anchor="t" lIns="27432" rIns="27432" tIns="27432" bIns="27432">
            <a:spAutoFit/>
          </a:bodyPr>
          <a:lstStyle/>
          <a:p>
            <a:pPr algn="l"/>
            <a:r>
              <a:rPr sz="850" b="0" i="0">
                <a:solidFill>
                  <a:srgbClr val="59636E"/>
                </a:solidFill>
                <a:latin typeface="Calibri"/>
              </a:rPr>
              <a:t/>
            </a:r>
          </a:p>
        </p:txBody>
      </p:sp>
      <p:sp>
        <p:nvSpPr>
          <p:cNvPr id="38" name="Rectangle 37"/>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40" name="Picture 39" descr="lock.png"/>
          <p:cNvPicPr>
            <a:picLocks noChangeAspect="1"/>
          </p:cNvPicPr>
          <p:nvPr/>
        </p:nvPicPr>
        <p:blipFill>
          <a:blip r:embed="rId5"/>
          <a:stretch>
            <a:fillRect/>
          </a:stretch>
        </p:blipFill>
        <p:spPr>
          <a:xfrm>
            <a:off x="4636769" y="3302127"/>
            <a:ext cx="366712" cy="533399"/>
          </a:xfrm>
          <a:prstGeom prst="rect">
            <a:avLst/>
          </a:prstGeom>
        </p:spPr>
      </p:pic>
      <p:sp>
        <p:nvSpPr>
          <p:cNvPr id="41" name="TextBox 40"/>
          <p:cNvSpPr txBox="1"/>
          <p:nvPr/>
        </p:nvSpPr>
        <p:spPr>
          <a:xfrm>
            <a:off x="411480" y="1110615"/>
            <a:ext cx="8188672" cy="217169"/>
          </a:xfrm>
          <a:prstGeom prst="rect">
            <a:avLst/>
          </a:prstGeom>
          <a:noFill/>
        </p:spPr>
        <p:txBody>
          <a:bodyPr wrap="none" lIns="0" rIns="0" tIns="0" bIns="0">
            <a:spAutoFit/>
          </a:bodyPr>
          <a:lstStyle/>
          <a:p>
            <a:r>
              <a:rPr sz="1300" b="1">
                <a:solidFill>
                  <a:srgbClr val="FFFFFF"/>
                </a:solidFill>
                <a:latin typeface="Calibri"/>
              </a:rPr>
              <a:t>Micronized Eggshell Membrane for Other Poultry Eggshell Membrane is the highest priced combination in 2026 at US$</a:t>
            </a:r>
          </a:p>
        </p:txBody>
      </p:sp>
      <p:pic>
        <p:nvPicPr>
          <p:cNvPr id="42" name="Picture 41" descr="lock.png"/>
          <p:cNvPicPr>
            <a:picLocks noChangeAspect="1"/>
          </p:cNvPicPr>
          <p:nvPr/>
        </p:nvPicPr>
        <p:blipFill>
          <a:blip r:embed="rId5"/>
          <a:stretch>
            <a:fillRect/>
          </a:stretch>
        </p:blipFill>
        <p:spPr>
          <a:xfrm>
            <a:off x="8552613" y="1099058"/>
            <a:ext cx="152098" cy="221234"/>
          </a:xfrm>
          <a:prstGeom prst="rect">
            <a:avLst/>
          </a:prstGeom>
        </p:spPr>
      </p:pic>
      <p:sp>
        <p:nvSpPr>
          <p:cNvPr id="43" name="TextBox 42"/>
          <p:cNvSpPr txBox="1"/>
          <p:nvPr/>
        </p:nvSpPr>
        <p:spPr>
          <a:xfrm>
            <a:off x="8750562" y="1110615"/>
            <a:ext cx="535706" cy="217169"/>
          </a:xfrm>
          <a:prstGeom prst="rect">
            <a:avLst/>
          </a:prstGeom>
          <a:noFill/>
        </p:spPr>
        <p:txBody>
          <a:bodyPr wrap="none" lIns="0" rIns="0" tIns="0" bIns="0">
            <a:spAutoFit/>
          </a:bodyPr>
          <a:lstStyle/>
          <a:p>
            <a:r>
              <a:rPr sz="1300" b="1">
                <a:solidFill>
                  <a:srgbClr val="FFFFFF"/>
                </a:solidFill>
                <a:latin typeface="Calibri"/>
              </a:rPr>
              <a:t>/MT, +</a:t>
            </a:r>
          </a:p>
        </p:txBody>
      </p:sp>
      <p:pic>
        <p:nvPicPr>
          <p:cNvPr id="44" name="Picture 43" descr="lock.png"/>
          <p:cNvPicPr>
            <a:picLocks noChangeAspect="1"/>
          </p:cNvPicPr>
          <p:nvPr/>
        </p:nvPicPr>
        <p:blipFill>
          <a:blip r:embed="rId5"/>
          <a:stretch>
            <a:fillRect/>
          </a:stretch>
        </p:blipFill>
        <p:spPr>
          <a:xfrm>
            <a:off x="9238730" y="1099058"/>
            <a:ext cx="152098" cy="221234"/>
          </a:xfrm>
          <a:prstGeom prst="rect">
            <a:avLst/>
          </a:prstGeom>
        </p:spPr>
      </p:pic>
      <p:sp>
        <p:nvSpPr>
          <p:cNvPr id="45" name="TextBox 44"/>
          <p:cNvSpPr txBox="1"/>
          <p:nvPr/>
        </p:nvSpPr>
        <p:spPr>
          <a:xfrm>
            <a:off x="9436680" y="1110615"/>
            <a:ext cx="1871984" cy="217169"/>
          </a:xfrm>
          <a:prstGeom prst="rect">
            <a:avLst/>
          </a:prstGeom>
          <a:noFill/>
        </p:spPr>
        <p:txBody>
          <a:bodyPr wrap="none" lIns="0" rIns="0" tIns="0" bIns="0">
            <a:spAutoFit/>
          </a:bodyPr>
          <a:lstStyle/>
          <a:p>
            <a:r>
              <a:rPr sz="1300" b="1">
                <a:solidFill>
                  <a:srgbClr val="FFFFFF"/>
                </a:solidFill>
                <a:latin typeface="Calibri"/>
              </a:rPr>
              <a:t>above the Global average.</a:t>
            </a:r>
          </a:p>
        </p:txBody>
      </p:sp>
      <p:sp>
        <p:nvSpPr>
          <p:cNvPr id="46" name="TextBox 45"/>
          <p:cNvSpPr txBox="1"/>
          <p:nvPr/>
        </p:nvSpPr>
        <p:spPr>
          <a:xfrm>
            <a:off x="806576" y="5530976"/>
            <a:ext cx="2912231" cy="179069"/>
          </a:xfrm>
          <a:prstGeom prst="rect">
            <a:avLst/>
          </a:prstGeom>
          <a:noFill/>
        </p:spPr>
        <p:txBody>
          <a:bodyPr wrap="none" lIns="0" rIns="0" tIns="0" bIns="0">
            <a:spAutoFit/>
          </a:bodyPr>
          <a:lstStyle/>
          <a:p>
            <a:r>
              <a:rPr sz="1050" b="0">
                <a:solidFill>
                  <a:srgbClr val="1F1F1F"/>
                </a:solidFill>
                <a:latin typeface="Calibri"/>
              </a:rPr>
              <a:t>Micronized Eggshell Membrane positioned on Other</a:t>
            </a:r>
          </a:p>
        </p:txBody>
      </p:sp>
      <p:sp>
        <p:nvSpPr>
          <p:cNvPr id="47" name="TextBox 46"/>
          <p:cNvSpPr txBox="1"/>
          <p:nvPr/>
        </p:nvSpPr>
        <p:spPr>
          <a:xfrm>
            <a:off x="806576" y="5690996"/>
            <a:ext cx="3143250" cy="179069"/>
          </a:xfrm>
          <a:prstGeom prst="rect">
            <a:avLst/>
          </a:prstGeom>
          <a:noFill/>
        </p:spPr>
        <p:txBody>
          <a:bodyPr wrap="none" lIns="0" rIns="0" tIns="0" bIns="0">
            <a:spAutoFit/>
          </a:bodyPr>
          <a:lstStyle/>
          <a:p>
            <a:r>
              <a:rPr sz="1050" b="0">
                <a:solidFill>
                  <a:srgbClr val="1F1F1F"/>
                </a:solidFill>
                <a:latin typeface="Calibri"/>
              </a:rPr>
              <a:t>Poultry Eggshell Membrane carry the strongest premium</a:t>
            </a:r>
          </a:p>
        </p:txBody>
      </p:sp>
      <p:sp>
        <p:nvSpPr>
          <p:cNvPr id="48" name="TextBox 47"/>
          <p:cNvSpPr txBox="1"/>
          <p:nvPr/>
        </p:nvSpPr>
        <p:spPr>
          <a:xfrm>
            <a:off x="806576" y="5851016"/>
            <a:ext cx="815354" cy="179069"/>
          </a:xfrm>
          <a:prstGeom prst="rect">
            <a:avLst/>
          </a:prstGeom>
          <a:noFill/>
        </p:spPr>
        <p:txBody>
          <a:bodyPr wrap="none" lIns="0" rIns="0" tIns="0" bIns="0">
            <a:spAutoFit/>
          </a:bodyPr>
          <a:lstStyle/>
          <a:p>
            <a:r>
              <a:rPr sz="1050" b="0">
                <a:solidFill>
                  <a:srgbClr val="1F1F1F"/>
                </a:solidFill>
                <a:latin typeface="Calibri"/>
              </a:rPr>
              <a:t>at an index of</a:t>
            </a:r>
          </a:p>
        </p:txBody>
      </p:sp>
      <p:pic>
        <p:nvPicPr>
          <p:cNvPr id="49" name="Picture 48" descr="lock.png"/>
          <p:cNvPicPr>
            <a:picLocks noChangeAspect="1"/>
          </p:cNvPicPr>
          <p:nvPr/>
        </p:nvPicPr>
        <p:blipFill>
          <a:blip r:embed="rId5"/>
          <a:stretch>
            <a:fillRect/>
          </a:stretch>
        </p:blipFill>
        <p:spPr>
          <a:xfrm>
            <a:off x="1568881" y="5841682"/>
            <a:ext cx="122849" cy="178689"/>
          </a:xfrm>
          <a:prstGeom prst="rect">
            <a:avLst/>
          </a:prstGeom>
        </p:spPr>
      </p:pic>
      <p:sp>
        <p:nvSpPr>
          <p:cNvPr id="50" name="TextBox 49"/>
          <p:cNvSpPr txBox="1"/>
          <p:nvPr/>
        </p:nvSpPr>
        <p:spPr>
          <a:xfrm>
            <a:off x="1728763" y="5851016"/>
            <a:ext cx="2069417" cy="179069"/>
          </a:xfrm>
          <a:prstGeom prst="rect">
            <a:avLst/>
          </a:prstGeom>
          <a:noFill/>
        </p:spPr>
        <p:txBody>
          <a:bodyPr wrap="none" lIns="0" rIns="0" tIns="0" bIns="0">
            <a:spAutoFit/>
          </a:bodyPr>
          <a:lstStyle/>
          <a:p>
            <a:r>
              <a:rPr sz="1050" b="0">
                <a:solidFill>
                  <a:srgbClr val="1F1F1F"/>
                </a:solidFill>
                <a:latin typeface="Calibri"/>
              </a:rPr>
              <a:t>, which signals room for value-added</a:t>
            </a:r>
          </a:p>
        </p:txBody>
      </p:sp>
      <p:sp>
        <p:nvSpPr>
          <p:cNvPr id="51" name="TextBox 50"/>
          <p:cNvSpPr txBox="1"/>
          <p:nvPr/>
        </p:nvSpPr>
        <p:spPr>
          <a:xfrm>
            <a:off x="806576" y="6011036"/>
            <a:ext cx="1523255" cy="179069"/>
          </a:xfrm>
          <a:prstGeom prst="rect">
            <a:avLst/>
          </a:prstGeom>
          <a:noFill/>
        </p:spPr>
        <p:txBody>
          <a:bodyPr wrap="none" lIns="0" rIns="0" tIns="0" bIns="0">
            <a:spAutoFit/>
          </a:bodyPr>
          <a:lstStyle/>
          <a:p>
            <a:r>
              <a:rPr sz="1050" b="0">
                <a:solidFill>
                  <a:srgbClr val="1F1F1F"/>
                </a:solidFill>
                <a:latin typeface="Calibri"/>
              </a:rPr>
              <a:t>claims in this combination.</a:t>
            </a:r>
          </a:p>
        </p:txBody>
      </p:sp>
      <p:sp>
        <p:nvSpPr>
          <p:cNvPr id="52" name="TextBox 51"/>
          <p:cNvSpPr txBox="1"/>
          <p:nvPr/>
        </p:nvSpPr>
        <p:spPr>
          <a:xfrm>
            <a:off x="4732401" y="5530976"/>
            <a:ext cx="2906501" cy="179069"/>
          </a:xfrm>
          <a:prstGeom prst="rect">
            <a:avLst/>
          </a:prstGeom>
          <a:noFill/>
        </p:spPr>
        <p:txBody>
          <a:bodyPr wrap="none" lIns="0" rIns="0" tIns="0" bIns="0">
            <a:spAutoFit/>
          </a:bodyPr>
          <a:lstStyle/>
          <a:p>
            <a:r>
              <a:rPr sz="1050" b="0">
                <a:solidFill>
                  <a:srgbClr val="1F1F1F"/>
                </a:solidFill>
                <a:latin typeface="Calibri"/>
              </a:rPr>
              <a:t>Hydrolyzed Eggshell Membrane for Chicken Eggshell</a:t>
            </a:r>
          </a:p>
        </p:txBody>
      </p:sp>
      <p:sp>
        <p:nvSpPr>
          <p:cNvPr id="53" name="TextBox 52"/>
          <p:cNvSpPr txBox="1"/>
          <p:nvPr/>
        </p:nvSpPr>
        <p:spPr>
          <a:xfrm>
            <a:off x="4732401" y="5690996"/>
            <a:ext cx="3107568" cy="179069"/>
          </a:xfrm>
          <a:prstGeom prst="rect">
            <a:avLst/>
          </a:prstGeom>
          <a:noFill/>
        </p:spPr>
        <p:txBody>
          <a:bodyPr wrap="none" lIns="0" rIns="0" tIns="0" bIns="0">
            <a:spAutoFit/>
          </a:bodyPr>
          <a:lstStyle/>
          <a:p>
            <a:r>
              <a:rPr sz="1050" b="0">
                <a:solidFill>
                  <a:srgbClr val="1F1F1F"/>
                </a:solidFill>
                <a:latin typeface="Calibri"/>
              </a:rPr>
              <a:t>Membrane is the lowest priced combination at an index</a:t>
            </a:r>
          </a:p>
        </p:txBody>
      </p:sp>
      <p:sp>
        <p:nvSpPr>
          <p:cNvPr id="54" name="TextBox 53"/>
          <p:cNvSpPr txBox="1"/>
          <p:nvPr/>
        </p:nvSpPr>
        <p:spPr>
          <a:xfrm>
            <a:off x="4732401" y="5851016"/>
            <a:ext cx="187151" cy="179069"/>
          </a:xfrm>
          <a:prstGeom prst="rect">
            <a:avLst/>
          </a:prstGeom>
          <a:noFill/>
        </p:spPr>
        <p:txBody>
          <a:bodyPr wrap="none" lIns="0" rIns="0" tIns="0" bIns="0">
            <a:spAutoFit/>
          </a:bodyPr>
          <a:lstStyle/>
          <a:p>
            <a:r>
              <a:rPr sz="1050" b="0">
                <a:solidFill>
                  <a:srgbClr val="1F1F1F"/>
                </a:solidFill>
                <a:latin typeface="Calibri"/>
              </a:rPr>
              <a:t>of</a:t>
            </a:r>
          </a:p>
        </p:txBody>
      </p:sp>
      <p:pic>
        <p:nvPicPr>
          <p:cNvPr id="55" name="Picture 54" descr="lock.png"/>
          <p:cNvPicPr>
            <a:picLocks noChangeAspect="1"/>
          </p:cNvPicPr>
          <p:nvPr/>
        </p:nvPicPr>
        <p:blipFill>
          <a:blip r:embed="rId5"/>
          <a:stretch>
            <a:fillRect/>
          </a:stretch>
        </p:blipFill>
        <p:spPr>
          <a:xfrm>
            <a:off x="4866501" y="5841682"/>
            <a:ext cx="122849" cy="178689"/>
          </a:xfrm>
          <a:prstGeom prst="rect">
            <a:avLst/>
          </a:prstGeom>
        </p:spPr>
      </p:pic>
      <p:sp>
        <p:nvSpPr>
          <p:cNvPr id="56" name="TextBox 55"/>
          <p:cNvSpPr txBox="1"/>
          <p:nvPr/>
        </p:nvSpPr>
        <p:spPr>
          <a:xfrm>
            <a:off x="5026383" y="5851016"/>
            <a:ext cx="475729" cy="179069"/>
          </a:xfrm>
          <a:prstGeom prst="rect">
            <a:avLst/>
          </a:prstGeom>
          <a:noFill/>
        </p:spPr>
        <p:txBody>
          <a:bodyPr wrap="none" lIns="0" rIns="0" tIns="0" bIns="0">
            <a:spAutoFit/>
          </a:bodyPr>
          <a:lstStyle/>
          <a:p>
            <a:r>
              <a:rPr sz="1050" b="0">
                <a:solidFill>
                  <a:srgbClr val="1F1F1F"/>
                </a:solidFill>
                <a:latin typeface="Calibri"/>
              </a:rPr>
              <a:t>, sitting</a:t>
            </a:r>
          </a:p>
        </p:txBody>
      </p:sp>
      <p:pic>
        <p:nvPicPr>
          <p:cNvPr id="57" name="Picture 56" descr="lock.png"/>
          <p:cNvPicPr>
            <a:picLocks noChangeAspect="1"/>
          </p:cNvPicPr>
          <p:nvPr/>
        </p:nvPicPr>
        <p:blipFill>
          <a:blip r:embed="rId5"/>
          <a:stretch>
            <a:fillRect/>
          </a:stretch>
        </p:blipFill>
        <p:spPr>
          <a:xfrm>
            <a:off x="5449062" y="5841682"/>
            <a:ext cx="122849" cy="178689"/>
          </a:xfrm>
          <a:prstGeom prst="rect">
            <a:avLst/>
          </a:prstGeom>
        </p:spPr>
      </p:pic>
      <p:sp>
        <p:nvSpPr>
          <p:cNvPr id="58" name="TextBox 57"/>
          <p:cNvSpPr txBox="1"/>
          <p:nvPr/>
        </p:nvSpPr>
        <p:spPr>
          <a:xfrm>
            <a:off x="5608944" y="5851016"/>
            <a:ext cx="1846733" cy="179069"/>
          </a:xfrm>
          <a:prstGeom prst="rect">
            <a:avLst/>
          </a:prstGeom>
          <a:noFill/>
        </p:spPr>
        <p:txBody>
          <a:bodyPr wrap="none" lIns="0" rIns="0" tIns="0" bIns="0">
            <a:spAutoFit/>
          </a:bodyPr>
          <a:lstStyle/>
          <a:p>
            <a:r>
              <a:rPr sz="1050" b="0">
                <a:solidFill>
                  <a:srgbClr val="1F1F1F"/>
                </a:solidFill>
                <a:latin typeface="Calibri"/>
              </a:rPr>
              <a:t>below the Global average of US$</a:t>
            </a:r>
          </a:p>
        </p:txBody>
      </p:sp>
      <p:pic>
        <p:nvPicPr>
          <p:cNvPr id="59" name="Picture 58" descr="lock.png"/>
          <p:cNvPicPr>
            <a:picLocks noChangeAspect="1"/>
          </p:cNvPicPr>
          <p:nvPr/>
        </p:nvPicPr>
        <p:blipFill>
          <a:blip r:embed="rId5"/>
          <a:stretch>
            <a:fillRect/>
          </a:stretch>
        </p:blipFill>
        <p:spPr>
          <a:xfrm>
            <a:off x="4719545" y="6001702"/>
            <a:ext cx="122849" cy="178689"/>
          </a:xfrm>
          <a:prstGeom prst="rect">
            <a:avLst/>
          </a:prstGeom>
        </p:spPr>
      </p:pic>
      <p:sp>
        <p:nvSpPr>
          <p:cNvPr id="60" name="TextBox 59"/>
          <p:cNvSpPr txBox="1"/>
          <p:nvPr/>
        </p:nvSpPr>
        <p:spPr>
          <a:xfrm>
            <a:off x="4879428" y="6011036"/>
            <a:ext cx="340555" cy="179069"/>
          </a:xfrm>
          <a:prstGeom prst="rect">
            <a:avLst/>
          </a:prstGeom>
          <a:noFill/>
        </p:spPr>
        <p:txBody>
          <a:bodyPr wrap="none" lIns="0" rIns="0" tIns="0" bIns="0">
            <a:spAutoFit/>
          </a:bodyPr>
          <a:lstStyle/>
          <a:p>
            <a:r>
              <a:rPr sz="1050" b="0">
                <a:solidFill>
                  <a:srgbClr val="1F1F1F"/>
                </a:solidFill>
                <a:latin typeface="Calibri"/>
              </a:rPr>
              <a:t>/MT.</a:t>
            </a:r>
          </a:p>
        </p:txBody>
      </p:sp>
      <p:sp>
        <p:nvSpPr>
          <p:cNvPr id="61" name="TextBox 60"/>
          <p:cNvSpPr txBox="1"/>
          <p:nvPr/>
        </p:nvSpPr>
        <p:spPr>
          <a:xfrm>
            <a:off x="8658225" y="5530976"/>
            <a:ext cx="3143250" cy="179069"/>
          </a:xfrm>
          <a:prstGeom prst="rect">
            <a:avLst/>
          </a:prstGeom>
          <a:noFill/>
        </p:spPr>
        <p:txBody>
          <a:bodyPr wrap="none" lIns="0" rIns="0" tIns="0" bIns="0">
            <a:spAutoFit/>
          </a:bodyPr>
          <a:lstStyle/>
          <a:p>
            <a:r>
              <a:rPr sz="1050" b="0">
                <a:solidFill>
                  <a:srgbClr val="1F1F1F"/>
                </a:solidFill>
                <a:latin typeface="Calibri"/>
              </a:rPr>
              <a:t>Hydrolyzed Eggshell Membrane show the widest internal</a:t>
            </a:r>
          </a:p>
        </p:txBody>
      </p:sp>
      <p:sp>
        <p:nvSpPr>
          <p:cNvPr id="62" name="TextBox 61"/>
          <p:cNvSpPr txBox="1"/>
          <p:nvPr/>
        </p:nvSpPr>
        <p:spPr>
          <a:xfrm>
            <a:off x="8658225" y="5690996"/>
            <a:ext cx="884634" cy="179069"/>
          </a:xfrm>
          <a:prstGeom prst="rect">
            <a:avLst/>
          </a:prstGeom>
          <a:noFill/>
        </p:spPr>
        <p:txBody>
          <a:bodyPr wrap="none" lIns="0" rIns="0" tIns="0" bIns="0">
            <a:spAutoFit/>
          </a:bodyPr>
          <a:lstStyle/>
          <a:p>
            <a:r>
              <a:rPr sz="1050" b="0">
                <a:solidFill>
                  <a:srgbClr val="1F1F1F"/>
                </a:solidFill>
                <a:latin typeface="Calibri"/>
              </a:rPr>
              <a:t>price spread at</a:t>
            </a:r>
          </a:p>
        </p:txBody>
      </p:sp>
      <p:pic>
        <p:nvPicPr>
          <p:cNvPr id="63" name="Picture 62" descr="lock.png"/>
          <p:cNvPicPr>
            <a:picLocks noChangeAspect="1"/>
          </p:cNvPicPr>
          <p:nvPr/>
        </p:nvPicPr>
        <p:blipFill>
          <a:blip r:embed="rId5"/>
          <a:stretch>
            <a:fillRect/>
          </a:stretch>
        </p:blipFill>
        <p:spPr>
          <a:xfrm>
            <a:off x="9489808" y="5681662"/>
            <a:ext cx="122849" cy="178689"/>
          </a:xfrm>
          <a:prstGeom prst="rect">
            <a:avLst/>
          </a:prstGeom>
        </p:spPr>
      </p:pic>
      <p:sp>
        <p:nvSpPr>
          <p:cNvPr id="64" name="TextBox 63"/>
          <p:cNvSpPr txBox="1"/>
          <p:nvPr/>
        </p:nvSpPr>
        <p:spPr>
          <a:xfrm>
            <a:off x="9649690" y="5690996"/>
            <a:ext cx="1085701" cy="179069"/>
          </a:xfrm>
          <a:prstGeom prst="rect">
            <a:avLst/>
          </a:prstGeom>
          <a:noFill/>
        </p:spPr>
        <p:txBody>
          <a:bodyPr wrap="none" lIns="0" rIns="0" tIns="0" bIns="0">
            <a:spAutoFit/>
          </a:bodyPr>
          <a:lstStyle/>
          <a:p>
            <a:r>
              <a:rPr sz="1050" b="0">
                <a:solidFill>
                  <a:srgbClr val="1F1F1F"/>
                </a:solidFill>
                <a:latin typeface="Calibri"/>
              </a:rPr>
              <a:t>, ranging from US$</a:t>
            </a:r>
          </a:p>
        </p:txBody>
      </p:sp>
      <p:pic>
        <p:nvPicPr>
          <p:cNvPr id="65" name="Picture 64" descr="lock.png"/>
          <p:cNvPicPr>
            <a:picLocks noChangeAspect="1"/>
          </p:cNvPicPr>
          <p:nvPr/>
        </p:nvPicPr>
        <p:blipFill>
          <a:blip r:embed="rId5"/>
          <a:stretch>
            <a:fillRect/>
          </a:stretch>
        </p:blipFill>
        <p:spPr>
          <a:xfrm>
            <a:off x="10682341" y="5681662"/>
            <a:ext cx="122849" cy="178689"/>
          </a:xfrm>
          <a:prstGeom prst="rect">
            <a:avLst/>
          </a:prstGeom>
        </p:spPr>
      </p:pic>
      <p:sp>
        <p:nvSpPr>
          <p:cNvPr id="66" name="TextBox 65"/>
          <p:cNvSpPr txBox="1"/>
          <p:nvPr/>
        </p:nvSpPr>
        <p:spPr>
          <a:xfrm>
            <a:off x="10842223" y="5690996"/>
            <a:ext cx="697110" cy="179069"/>
          </a:xfrm>
          <a:prstGeom prst="rect">
            <a:avLst/>
          </a:prstGeom>
          <a:noFill/>
        </p:spPr>
        <p:txBody>
          <a:bodyPr wrap="none" lIns="0" rIns="0" tIns="0" bIns="0">
            <a:spAutoFit/>
          </a:bodyPr>
          <a:lstStyle/>
          <a:p>
            <a:r>
              <a:rPr sz="1050" b="0">
                <a:solidFill>
                  <a:srgbClr val="1F1F1F"/>
                </a:solidFill>
                <a:latin typeface="Calibri"/>
              </a:rPr>
              <a:t>/MT to US$</a:t>
            </a:r>
          </a:p>
        </p:txBody>
      </p:sp>
      <p:pic>
        <p:nvPicPr>
          <p:cNvPr id="67" name="Picture 66" descr="lock.png"/>
          <p:cNvPicPr>
            <a:picLocks noChangeAspect="1"/>
          </p:cNvPicPr>
          <p:nvPr/>
        </p:nvPicPr>
        <p:blipFill>
          <a:blip r:embed="rId5"/>
          <a:stretch>
            <a:fillRect/>
          </a:stretch>
        </p:blipFill>
        <p:spPr>
          <a:xfrm>
            <a:off x="8645369" y="5841682"/>
            <a:ext cx="122849" cy="178689"/>
          </a:xfrm>
          <a:prstGeom prst="rect">
            <a:avLst/>
          </a:prstGeom>
        </p:spPr>
      </p:pic>
      <p:sp>
        <p:nvSpPr>
          <p:cNvPr id="68" name="TextBox 67"/>
          <p:cNvSpPr txBox="1"/>
          <p:nvPr/>
        </p:nvSpPr>
        <p:spPr>
          <a:xfrm>
            <a:off x="8805252" y="5851016"/>
            <a:ext cx="1269317" cy="179069"/>
          </a:xfrm>
          <a:prstGeom prst="rect">
            <a:avLst/>
          </a:prstGeom>
          <a:noFill/>
        </p:spPr>
        <p:txBody>
          <a:bodyPr wrap="none" lIns="0" rIns="0" tIns="0" bIns="0">
            <a:spAutoFit/>
          </a:bodyPr>
          <a:lstStyle/>
          <a:p>
            <a:r>
              <a:rPr sz="1050" b="0">
                <a:solidFill>
                  <a:srgbClr val="1F1F1F"/>
                </a:solidFill>
                <a:latin typeface="Calibri"/>
              </a:rPr>
              <a:t>/MT across sub-types.</a:t>
            </a:r>
          </a:p>
        </p:txBody>
      </p:sp>
      <p:sp>
        <p:nvSpPr>
          <p:cNvPr id="69" name="TextBox 68"/>
          <p:cNvSpPr txBox="1"/>
          <p:nvPr/>
        </p:nvSpPr>
        <p:spPr>
          <a:xfrm>
            <a:off x="301752" y="6391275"/>
            <a:ext cx="5770697" cy="143408"/>
          </a:xfrm>
          <a:prstGeom prst="rect">
            <a:avLst/>
          </a:prstGeom>
          <a:noFill/>
        </p:spPr>
        <p:txBody>
          <a:bodyPr wrap="none" lIns="0" rIns="0" tIns="0" bIns="0">
            <a:spAutoFit/>
          </a:bodyPr>
          <a:lstStyle/>
          <a:p>
            <a:r>
              <a:rPr sz="816" b="0">
                <a:solidFill>
                  <a:srgbClr val="59636E"/>
                </a:solidFill>
                <a:latin typeface="Calibri"/>
              </a:rPr>
              <a:t>Source: TMR analysis. Cell price = combined value (US$) / combined volume (MT); shading shows the index vs the Global average of US$</a:t>
            </a:r>
          </a:p>
        </p:txBody>
      </p:sp>
      <p:pic>
        <p:nvPicPr>
          <p:cNvPr id="70" name="Picture 69" descr="lock.png"/>
          <p:cNvPicPr>
            <a:picLocks noChangeAspect="1"/>
          </p:cNvPicPr>
          <p:nvPr/>
        </p:nvPicPr>
        <p:blipFill>
          <a:blip r:embed="rId5"/>
          <a:stretch>
            <a:fillRect/>
          </a:stretch>
        </p:blipFill>
        <p:spPr>
          <a:xfrm>
            <a:off x="6014239" y="6384020"/>
            <a:ext cx="95470" cy="138866"/>
          </a:xfrm>
          <a:prstGeom prst="rect">
            <a:avLst/>
          </a:prstGeom>
        </p:spPr>
      </p:pic>
      <p:sp>
        <p:nvSpPr>
          <p:cNvPr id="71" name="TextBox 70"/>
          <p:cNvSpPr txBox="1"/>
          <p:nvPr/>
        </p:nvSpPr>
        <p:spPr>
          <a:xfrm>
            <a:off x="6138491" y="6391275"/>
            <a:ext cx="281642" cy="143408"/>
          </a:xfrm>
          <a:prstGeom prst="rect">
            <a:avLst/>
          </a:prstGeom>
          <a:noFill/>
        </p:spPr>
        <p:txBody>
          <a:bodyPr wrap="none" lIns="0" rIns="0" tIns="0" bIns="0">
            <a:spAutoFit/>
          </a:bodyPr>
          <a:lstStyle/>
          <a:p>
            <a:r>
              <a:rPr sz="816" b="0">
                <a:solidFill>
                  <a:srgbClr val="59636E"/>
                </a:solidFill>
                <a:latin typeface="Calibri"/>
              </a:rPr>
              <a:t>/MT.</a:t>
            </a:r>
          </a:p>
        </p:txBody>
      </p:sp>
      <p:pic>
        <p:nvPicPr>
          <p:cNvPr id="72" name="Picture 71" descr="lock.png"/>
          <p:cNvPicPr>
            <a:picLocks noChangeAspect="1"/>
          </p:cNvPicPr>
          <p:nvPr/>
        </p:nvPicPr>
        <p:blipFill>
          <a:blip r:embed="rId5"/>
          <a:stretch>
            <a:fillRect/>
          </a:stretch>
        </p:blipFill>
        <p:spPr>
          <a:xfrm>
            <a:off x="9913437" y="3234020"/>
            <a:ext cx="332271" cy="483303"/>
          </a:xfrm>
          <a:prstGeom prst="rect">
            <a:avLst/>
          </a:prstGeom>
        </p:spPr>
      </p:pic>
      <p:sp>
        <p:nvSpPr>
          <p:cNvPr id="73" name="lockshield_24"/>
          <p:cNvSpPr/>
          <p:nvPr/>
        </p:nvSpPr>
        <p:spPr>
          <a:xfrm>
            <a:off x="8001000" y="2032635"/>
            <a:ext cx="3867912" cy="29718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Egg Protein Membrane Market Pricing Assessment: Region Benchmarking</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Region average price and price range across product types, 2026 (US$/MT)</a:t>
            </a:r>
          </a:p>
        </p:txBody>
      </p:sp>
      <p:sp>
        <p:nvSpPr>
          <p:cNvPr id="7" name="Rectangle 6"/>
          <p:cNvSpPr/>
          <p:nvPr/>
        </p:nvSpPr>
        <p:spPr>
          <a:xfrm>
            <a:off x="274320" y="981075"/>
            <a:ext cx="11640312" cy="457200"/>
          </a:xfrm>
          <a:prstGeom prst="rect">
            <a:avLst/>
          </a:prstGeom>
          <a:solidFill>
            <a:srgbClr val="0B2E4A"/>
          </a:solidFill>
          <a:ln>
            <a:noFill/>
          </a:ln>
          <a:effectLst/>
        </p:spPr>
        <p:txBody>
          <a:bodyPr rtlCol="0" anchor="ctr" wrap="square" lIns="137160"/>
          <a:lstStyle/>
          <a:p>
            <a:pPr algn="l"/>
            <a:r>
              <a:rPr sz="1300" b="1">
                <a:solidFill>
                  <a:srgbClr val="FFFFFF"/>
                </a:solidFill>
                <a:latin typeface="Calibri"/>
              </a:rPr>
              <a:t/>
            </a:r>
          </a:p>
        </p:txBody>
      </p:sp>
      <p:sp>
        <p:nvSpPr>
          <p:cNvPr id="8" name="Rectangle 7"/>
          <p:cNvSpPr/>
          <p:nvPr/>
        </p:nvSpPr>
        <p:spPr>
          <a:xfrm>
            <a:off x="274320" y="1529715"/>
            <a:ext cx="7543800" cy="3520440"/>
          </a:xfrm>
          <a:prstGeom prst="rect">
            <a:avLst/>
          </a:prstGeom>
          <a:solidFill>
            <a:srgbClr val="F3F6F9"/>
          </a:solidFill>
          <a:ln>
            <a:noFill/>
          </a:ln>
          <a:effectLst/>
        </p:spPr>
        <p:txBody>
          <a:bodyPr rtlCol="0" anchor="ctr"/>
          <a:lstStyle/>
          <a:p>
            <a:pPr algn="ctr"/>
          </a:p>
        </p:txBody>
      </p:sp>
      <p:sp>
        <p:nvSpPr>
          <p:cNvPr id="9" name="TextBox 8"/>
          <p:cNvSpPr txBox="1"/>
          <p:nvPr/>
        </p:nvSpPr>
        <p:spPr>
          <a:xfrm>
            <a:off x="384048" y="1575435"/>
            <a:ext cx="7315200" cy="257175"/>
          </a:xfrm>
          <a:prstGeom prst="rect">
            <a:avLst/>
          </a:prstGeom>
          <a:noFill/>
        </p:spPr>
        <p:txBody>
          <a:bodyPr wrap="square" anchor="t" lIns="27432" rIns="27432" tIns="27432" bIns="27432">
            <a:spAutoFit/>
          </a:bodyPr>
          <a:lstStyle/>
          <a:p>
            <a:pPr algn="l"/>
            <a:r>
              <a:rPr sz="1150" b="1" i="0">
                <a:solidFill>
                  <a:srgbClr val="0B2E4A"/>
                </a:solidFill>
                <a:latin typeface="Calibri"/>
              </a:rPr>
              <a:t>2026 Price Range Across Product Types by Region (US$/MT), Ranked by Average</a:t>
            </a:r>
          </a:p>
        </p:txBody>
      </p:sp>
      <p:graphicFrame>
        <p:nvGraphicFramePr>
          <p:cNvPr id="10" name="TMR Open Chart"/>
          <p:cNvGraphicFramePr>
            <a:graphicFrameLocks noGrp="1"/>
          </p:cNvGraphicFramePr>
          <p:nvPr/>
        </p:nvGraphicFramePr>
        <p:xfrm>
          <a:off x="347472" y="2014347"/>
          <a:ext cx="7406640" cy="3017520"/>
        </p:xfrm>
        <a:graphic>
          <a:graphicData uri="http://schemas.openxmlformats.org/drawingml/2006/chart">
            <c:chart xmlns:c="http://schemas.openxmlformats.org/drawingml/2006/chart" r:id="rId3"/>
          </a:graphicData>
        </a:graphic>
      </p:graphicFrame>
      <p:sp>
        <p:nvSpPr>
          <p:cNvPr id="11" name="TextBox 10"/>
          <p:cNvSpPr txBox="1"/>
          <p:nvPr/>
        </p:nvSpPr>
        <p:spPr>
          <a:xfrm>
            <a:off x="384048" y="1804035"/>
            <a:ext cx="7223760" cy="219075"/>
          </a:xfrm>
          <a:prstGeom prst="rect">
            <a:avLst/>
          </a:prstGeom>
          <a:noFill/>
        </p:spPr>
        <p:txBody>
          <a:bodyPr wrap="square" anchor="t" lIns="27432" rIns="27432" tIns="27432" bIns="27432">
            <a:spAutoFit/>
          </a:bodyPr>
          <a:lstStyle/>
          <a:p>
            <a:pPr algn="l"/>
            <a:r>
              <a:rPr sz="850" b="0" i="1">
                <a:solidFill>
                  <a:srgbClr val="59636E"/>
                </a:solidFill>
                <a:latin typeface="Calibri"/>
              </a:rPr>
              <a:t/>
            </a:r>
          </a:p>
        </p:txBody>
      </p:sp>
      <p:sp>
        <p:nvSpPr>
          <p:cNvPr id="12" name="Rectangle 11"/>
          <p:cNvSpPr/>
          <p:nvPr/>
        </p:nvSpPr>
        <p:spPr>
          <a:xfrm>
            <a:off x="7955280" y="1529715"/>
            <a:ext cx="3959352" cy="3520440"/>
          </a:xfrm>
          <a:prstGeom prst="rect">
            <a:avLst/>
          </a:prstGeom>
          <a:solidFill>
            <a:srgbClr val="F3F6F9"/>
          </a:solidFill>
          <a:ln>
            <a:noFill/>
          </a:ln>
          <a:effectLst/>
        </p:spPr>
        <p:txBody>
          <a:bodyPr rtlCol="0" anchor="ctr"/>
          <a:lstStyle/>
          <a:p>
            <a:pPr algn="ctr"/>
          </a:p>
        </p:txBody>
      </p:sp>
      <p:sp>
        <p:nvSpPr>
          <p:cNvPr id="13" name="TextBox 12"/>
          <p:cNvSpPr txBox="1"/>
          <p:nvPr/>
        </p:nvSpPr>
        <p:spPr>
          <a:xfrm>
            <a:off x="8065008" y="1575435"/>
            <a:ext cx="3749040" cy="257175"/>
          </a:xfrm>
          <a:prstGeom prst="rect">
            <a:avLst/>
          </a:prstGeom>
          <a:noFill/>
        </p:spPr>
        <p:txBody>
          <a:bodyPr wrap="square" anchor="t" lIns="27432" rIns="27432" tIns="27432" bIns="27432">
            <a:spAutoFit/>
          </a:bodyPr>
          <a:lstStyle/>
          <a:p>
            <a:pPr algn="l"/>
            <a:r>
              <a:rPr sz="1150" b="1" i="0">
                <a:solidFill>
                  <a:srgbClr val="0B2E4A"/>
                </a:solidFill>
                <a:latin typeface="Calibri"/>
              </a:rPr>
              <a:t>Premium and Discount Markets</a:t>
            </a:r>
          </a:p>
        </p:txBody>
      </p:sp>
      <p:graphicFrame>
        <p:nvGraphicFramePr>
          <p:cNvPr id="14" name="Table 13"/>
          <p:cNvGraphicFramePr>
            <a:graphicFrameLocks noGrp="1"/>
          </p:cNvGraphicFramePr>
          <p:nvPr/>
        </p:nvGraphicFramePr>
        <p:xfrm>
          <a:off x="8046720" y="1868043"/>
          <a:ext cx="3776472" cy="3090675"/>
        </p:xfrm>
        <a:graphic>
          <a:graphicData uri="http://schemas.openxmlformats.org/drawingml/2006/table">
            <a:tbl>
              <a:tblPr firstRow="1" bandRow="1">
                <a:tableStyleId>{5C22544A-7EE6-4342-B048-85BDC9FD1C3A}</a:tableStyleId>
              </a:tblPr>
              <a:tblGrid>
                <a:gridCol w="1417320"/>
                <a:gridCol w="786384"/>
                <a:gridCol w="658368"/>
                <a:gridCol w="914400"/>
              </a:tblGrid>
              <a:tr h="441525">
                <a:tc>
                  <a:txBody>
                    <a:bodyPr wrap="square"/>
                    <a:lstStyle/>
                    <a:p>
                      <a:pPr algn="l"/>
                      <a:r>
                        <a:rPr sz="900" b="1">
                          <a:solidFill>
                            <a:srgbClr val="FFFFFF"/>
                          </a:solidFill>
                          <a:latin typeface="Calibri"/>
                        </a:rPr>
                        <a:t>Region</a:t>
                      </a:r>
                    </a:p>
                  </a:txBody>
                  <a:tcPr marL="36576" marR="36576" marT="9144" marB="9144" anchor="ctr">
                    <a:solidFill>
                      <a:srgbClr val="0B2E4A"/>
                    </a:solidFill>
                  </a:tcPr>
                </a:tc>
                <a:tc>
                  <a:txBody>
                    <a:bodyPr wrap="square"/>
                    <a:lstStyle/>
                    <a:p>
                      <a:pPr algn="ctr"/>
                      <a:r>
                        <a:rPr sz="900" b="1">
                          <a:solidFill>
                            <a:srgbClr val="FFFFFF"/>
                          </a:solidFill>
                          <a:latin typeface="Calibri"/>
                        </a:rPr>
                        <a:t>Avg. 2026</a:t>
                      </a:r>
                    </a:p>
                  </a:txBody>
                  <a:tcPr marL="36576" marR="36576" marT="9144" marB="9144" anchor="ctr">
                    <a:solidFill>
                      <a:srgbClr val="0B2E4A"/>
                    </a:solidFill>
                  </a:tcPr>
                </a:tc>
                <a:tc>
                  <a:txBody>
                    <a:bodyPr wrap="square"/>
                    <a:lstStyle/>
                    <a:p>
                      <a:pPr algn="ctr"/>
                      <a:r>
                        <a:rPr sz="900" b="1">
                          <a:solidFill>
                            <a:srgbClr val="FFFFFF"/>
                          </a:solidFill>
                          <a:latin typeface="Calibri"/>
                        </a:rPr>
                        <a:t>Index</a:t>
                      </a:r>
                    </a:p>
                  </a:txBody>
                  <a:tcPr marL="36576" marR="36576" marT="9144" marB="9144" anchor="ctr">
                    <a:solidFill>
                      <a:srgbClr val="0B2E4A"/>
                    </a:solidFill>
                  </a:tcPr>
                </a:tc>
                <a:tc>
                  <a:txBody>
                    <a:bodyPr wrap="square"/>
                    <a:lstStyle/>
                    <a:p>
                      <a:pPr algn="ctr"/>
                      <a:r>
                        <a:rPr sz="900" b="1">
                          <a:solidFill>
                            <a:srgbClr val="FFFFFF"/>
                          </a:solidFill>
                          <a:latin typeface="Calibri"/>
                        </a:rPr>
                        <a:t>CAGR 2026 to 2036</a:t>
                      </a:r>
                    </a:p>
                  </a:txBody>
                  <a:tcPr marL="36576" marR="36576" marT="9144" marB="9144" anchor="ctr">
                    <a:solidFill>
                      <a:srgbClr val="0B2E4A"/>
                    </a:solidFill>
                  </a:tcPr>
                </a:tc>
              </a:tr>
              <a:tr h="441525">
                <a:tc>
                  <a:txBody>
                    <a:bodyPr wrap="square"/>
                    <a:lstStyle/>
                    <a:p>
                      <a:pPr algn="l"/>
                      <a:r>
                        <a:rPr sz="900" b="1">
                          <a:solidFill>
                            <a:srgbClr val="1F1F1F"/>
                          </a:solidFill>
                          <a:latin typeface="Calibri"/>
                        </a:rPr>
                        <a:t>North America</a:t>
                      </a:r>
                    </a:p>
                  </a:txBody>
                  <a:tcPr marL="36576" marR="36576" marT="9144" marB="9144" anchor="ctr">
                    <a:solidFill>
                      <a:srgbClr val="FFFFFF"/>
                    </a:solidFill>
                  </a:tcPr>
                </a:tc>
                <a:tc>
                  <a:txBody>
                    <a:bodyPr wrap="square"/>
                    <a:lstStyle/>
                    <a:p>
                      <a:pPr algn="ctr"/>
                      <a:r>
                        <a:rPr sz="900"/>
                        <a:t> </a:t>
                      </a:r>
                    </a:p>
                  </a:txBody>
                  <a:tcPr marL="36576" marR="36576" marT="9144" marB="9144" anchor="ctr">
                    <a:solidFill>
                      <a:srgbClr val="FFFFFF"/>
                    </a:solidFill>
                  </a:tcPr>
                </a:tc>
                <a:tc>
                  <a:txBody>
                    <a:bodyPr wrap="square"/>
                    <a:lstStyle/>
                    <a:p>
                      <a:pPr algn="ctr"/>
                      <a:r>
                        <a:rPr sz="900"/>
                        <a:t> </a:t>
                      </a:r>
                    </a:p>
                  </a:txBody>
                  <a:tcPr marL="36576" marR="36576" marT="9144" marB="9144" anchor="ctr">
                    <a:solidFill>
                      <a:srgbClr val="F4B183"/>
                    </a:solidFill>
                  </a:tcPr>
                </a:tc>
                <a:tc>
                  <a:txBody>
                    <a:bodyPr wrap="square"/>
                    <a:lstStyle/>
                    <a:p>
                      <a:pPr algn="ctr"/>
                      <a:r>
                        <a:rPr sz="900"/>
                        <a:t> </a:t>
                      </a:r>
                    </a:p>
                  </a:txBody>
                  <a:tcPr marL="36576" marR="36576" marT="9144" marB="9144" anchor="ctr">
                    <a:solidFill>
                      <a:srgbClr val="FFFFFF"/>
                    </a:solidFill>
                  </a:tcPr>
                </a:tc>
              </a:tr>
              <a:tr h="441525">
                <a:tc>
                  <a:txBody>
                    <a:bodyPr wrap="square"/>
                    <a:lstStyle/>
                    <a:p>
                      <a:pPr algn="l"/>
                      <a:r>
                        <a:rPr sz="900" b="1">
                          <a:solidFill>
                            <a:srgbClr val="1F1F1F"/>
                          </a:solidFill>
                          <a:latin typeface="Calibri"/>
                        </a:rPr>
                        <a:t>Europe</a:t>
                      </a:r>
                    </a:p>
                  </a:txBody>
                  <a:tcPr marL="36576" marR="36576" marT="9144" marB="9144" anchor="ctr">
                    <a:solidFill>
                      <a:srgbClr val="F3F6F9"/>
                    </a:solidFill>
                  </a:tcPr>
                </a:tc>
                <a:tc>
                  <a:txBody>
                    <a:bodyPr wrap="square"/>
                    <a:lstStyle/>
                    <a:p>
                      <a:pPr algn="ctr"/>
                      <a:r>
                        <a:rPr sz="900"/>
                        <a:t> </a:t>
                      </a:r>
                    </a:p>
                  </a:txBody>
                  <a:tcPr marL="36576" marR="36576" marT="9144" marB="9144" anchor="ctr">
                    <a:solidFill>
                      <a:srgbClr val="F3F6F9"/>
                    </a:solidFill>
                  </a:tcPr>
                </a:tc>
                <a:tc>
                  <a:txBody>
                    <a:bodyPr wrap="square"/>
                    <a:lstStyle/>
                    <a:p>
                      <a:pPr algn="ctr"/>
                      <a:r>
                        <a:rPr sz="900"/>
                        <a:t> </a:t>
                      </a:r>
                    </a:p>
                  </a:txBody>
                  <a:tcPr marL="36576" marR="36576" marT="9144" marB="9144" anchor="ctr">
                    <a:solidFill>
                      <a:srgbClr val="F4B183"/>
                    </a:solidFill>
                  </a:tcPr>
                </a:tc>
                <a:tc>
                  <a:txBody>
                    <a:bodyPr wrap="square"/>
                    <a:lstStyle/>
                    <a:p>
                      <a:pPr algn="ctr"/>
                      <a:r>
                        <a:rPr sz="900"/>
                        <a:t> </a:t>
                      </a:r>
                    </a:p>
                  </a:txBody>
                  <a:tcPr marL="36576" marR="36576" marT="9144" marB="9144" anchor="ctr">
                    <a:solidFill>
                      <a:srgbClr val="F3F6F9"/>
                    </a:solidFill>
                  </a:tcPr>
                </a:tc>
              </a:tr>
              <a:tr h="441525">
                <a:tc>
                  <a:txBody>
                    <a:bodyPr wrap="square"/>
                    <a:lstStyle/>
                    <a:p>
                      <a:pPr algn="l"/>
                      <a:r>
                        <a:rPr sz="900" b="1">
                          <a:solidFill>
                            <a:srgbClr val="1F1F1F"/>
                          </a:solidFill>
                          <a:latin typeface="Calibri"/>
                        </a:rPr>
                        <a:t>Latin America</a:t>
                      </a:r>
                    </a:p>
                  </a:txBody>
                  <a:tcPr marL="36576" marR="36576" marT="9144" marB="9144" anchor="ctr">
                    <a:solidFill>
                      <a:srgbClr val="FFFFFF"/>
                    </a:solidFill>
                  </a:tcPr>
                </a:tc>
                <a:tc>
                  <a:txBody>
                    <a:bodyPr wrap="square"/>
                    <a:lstStyle/>
                    <a:p>
                      <a:pPr algn="ctr"/>
                      <a:r>
                        <a:rPr sz="900"/>
                        <a:t> </a:t>
                      </a:r>
                    </a:p>
                  </a:txBody>
                  <a:tcPr marL="36576" marR="36576" marT="9144" marB="9144" anchor="ctr">
                    <a:solidFill>
                      <a:srgbClr val="FFFFFF"/>
                    </a:solidFill>
                  </a:tcPr>
                </a:tc>
                <a:tc>
                  <a:txBody>
                    <a:bodyPr wrap="square"/>
                    <a:lstStyle/>
                    <a:p>
                      <a:pPr algn="ctr"/>
                      <a:r>
                        <a:rPr sz="900"/>
                        <a:t> </a:t>
                      </a:r>
                    </a:p>
                  </a:txBody>
                  <a:tcPr marL="36576" marR="36576" marT="9144" marB="9144" anchor="ctr">
                    <a:solidFill>
                      <a:srgbClr val="9DC0E0"/>
                    </a:solidFill>
                  </a:tcPr>
                </a:tc>
                <a:tc>
                  <a:txBody>
                    <a:bodyPr wrap="square"/>
                    <a:lstStyle/>
                    <a:p>
                      <a:pPr algn="ctr"/>
                      <a:r>
                        <a:rPr sz="900"/>
                        <a:t> </a:t>
                      </a:r>
                    </a:p>
                  </a:txBody>
                  <a:tcPr marL="36576" marR="36576" marT="9144" marB="9144" anchor="ctr">
                    <a:solidFill>
                      <a:srgbClr val="FFFFFF"/>
                    </a:solidFill>
                  </a:tcPr>
                </a:tc>
              </a:tr>
              <a:tr h="441525">
                <a:tc>
                  <a:txBody>
                    <a:bodyPr wrap="square"/>
                    <a:lstStyle/>
                    <a:p>
                      <a:pPr algn="l"/>
                      <a:r>
                        <a:rPr sz="900" b="1">
                          <a:solidFill>
                            <a:srgbClr val="1F1F1F"/>
                          </a:solidFill>
                          <a:latin typeface="Calibri"/>
                        </a:rPr>
                        <a:t>Middle East and Africa</a:t>
                      </a:r>
                    </a:p>
                  </a:txBody>
                  <a:tcPr marL="36576" marR="36576" marT="9144" marB="9144" anchor="ctr">
                    <a:solidFill>
                      <a:srgbClr val="F3F6F9"/>
                    </a:solidFill>
                  </a:tcPr>
                </a:tc>
                <a:tc>
                  <a:txBody>
                    <a:bodyPr wrap="square"/>
                    <a:lstStyle/>
                    <a:p>
                      <a:pPr algn="ctr"/>
                      <a:r>
                        <a:rPr sz="900"/>
                        <a:t> </a:t>
                      </a:r>
                    </a:p>
                  </a:txBody>
                  <a:tcPr marL="36576" marR="36576" marT="9144" marB="9144" anchor="ctr">
                    <a:solidFill>
                      <a:srgbClr val="F3F6F9"/>
                    </a:solidFill>
                  </a:tcPr>
                </a:tc>
                <a:tc>
                  <a:txBody>
                    <a:bodyPr wrap="square"/>
                    <a:lstStyle/>
                    <a:p>
                      <a:pPr algn="ctr"/>
                      <a:r>
                        <a:rPr sz="900"/>
                        <a:t> </a:t>
                      </a:r>
                    </a:p>
                  </a:txBody>
                  <a:tcPr marL="36576" marR="36576" marT="9144" marB="9144" anchor="ctr">
                    <a:solidFill>
                      <a:srgbClr val="9DC0E0"/>
                    </a:solidFill>
                  </a:tcPr>
                </a:tc>
                <a:tc>
                  <a:txBody>
                    <a:bodyPr wrap="square"/>
                    <a:lstStyle/>
                    <a:p>
                      <a:pPr algn="ctr"/>
                      <a:r>
                        <a:rPr sz="900"/>
                        <a:t> </a:t>
                      </a:r>
                    </a:p>
                  </a:txBody>
                  <a:tcPr marL="36576" marR="36576" marT="9144" marB="9144" anchor="ctr">
                    <a:solidFill>
                      <a:srgbClr val="F3F6F9"/>
                    </a:solidFill>
                  </a:tcPr>
                </a:tc>
              </a:tr>
              <a:tr h="441525">
                <a:tc>
                  <a:txBody>
                    <a:bodyPr wrap="square"/>
                    <a:lstStyle/>
                    <a:p>
                      <a:pPr algn="l"/>
                      <a:r>
                        <a:rPr sz="900" b="1">
                          <a:solidFill>
                            <a:srgbClr val="1F1F1F"/>
                          </a:solidFill>
                          <a:latin typeface="Calibri"/>
                        </a:rPr>
                        <a:t>East Asia</a:t>
                      </a:r>
                    </a:p>
                  </a:txBody>
                  <a:tcPr marL="36576" marR="36576" marT="9144" marB="9144" anchor="ctr">
                    <a:solidFill>
                      <a:srgbClr val="FFFFFF"/>
                    </a:solidFill>
                  </a:tcPr>
                </a:tc>
                <a:tc>
                  <a:txBody>
                    <a:bodyPr wrap="square"/>
                    <a:lstStyle/>
                    <a:p>
                      <a:pPr algn="ctr"/>
                      <a:r>
                        <a:rPr sz="900"/>
                        <a:t> </a:t>
                      </a:r>
                    </a:p>
                  </a:txBody>
                  <a:tcPr marL="36576" marR="36576" marT="9144" marB="9144" anchor="ctr">
                    <a:solidFill>
                      <a:srgbClr val="FFFFFF"/>
                    </a:solidFill>
                  </a:tcPr>
                </a:tc>
                <a:tc>
                  <a:txBody>
                    <a:bodyPr wrap="square"/>
                    <a:lstStyle/>
                    <a:p>
                      <a:pPr algn="ctr"/>
                      <a:r>
                        <a:rPr sz="900"/>
                        <a:t> </a:t>
                      </a:r>
                    </a:p>
                  </a:txBody>
                  <a:tcPr marL="36576" marR="36576" marT="9144" marB="9144" anchor="ctr">
                    <a:solidFill>
                      <a:srgbClr val="9DC0E0"/>
                    </a:solidFill>
                  </a:tcPr>
                </a:tc>
                <a:tc>
                  <a:txBody>
                    <a:bodyPr wrap="square"/>
                    <a:lstStyle/>
                    <a:p>
                      <a:pPr algn="ctr"/>
                      <a:r>
                        <a:rPr sz="900"/>
                        <a:t> </a:t>
                      </a:r>
                    </a:p>
                  </a:txBody>
                  <a:tcPr marL="36576" marR="36576" marT="9144" marB="9144" anchor="ctr">
                    <a:solidFill>
                      <a:srgbClr val="FFFFFF"/>
                    </a:solidFill>
                  </a:tcPr>
                </a:tc>
              </a:tr>
              <a:tr h="441525">
                <a:tc>
                  <a:txBody>
                    <a:bodyPr wrap="square"/>
                    <a:lstStyle/>
                    <a:p>
                      <a:pPr algn="l"/>
                      <a:r>
                        <a:rPr sz="900" b="1">
                          <a:solidFill>
                            <a:srgbClr val="1F1F1F"/>
                          </a:solidFill>
                          <a:latin typeface="Calibri"/>
                        </a:rPr>
                        <a:t>South Asia &amp; Pacific</a:t>
                      </a:r>
                    </a:p>
                  </a:txBody>
                  <a:tcPr marL="36576" marR="36576" marT="9144" marB="9144" anchor="ctr">
                    <a:solidFill>
                      <a:srgbClr val="F3F6F9"/>
                    </a:solidFill>
                  </a:tcPr>
                </a:tc>
                <a:tc>
                  <a:txBody>
                    <a:bodyPr wrap="square"/>
                    <a:lstStyle/>
                    <a:p>
                      <a:pPr algn="ctr"/>
                      <a:r>
                        <a:rPr sz="900"/>
                        <a:t> </a:t>
                      </a:r>
                    </a:p>
                  </a:txBody>
                  <a:tcPr marL="36576" marR="36576" marT="9144" marB="9144" anchor="ctr">
                    <a:solidFill>
                      <a:srgbClr val="F3F6F9"/>
                    </a:solidFill>
                  </a:tcPr>
                </a:tc>
                <a:tc>
                  <a:txBody>
                    <a:bodyPr wrap="square"/>
                    <a:lstStyle/>
                    <a:p>
                      <a:pPr algn="ctr"/>
                      <a:r>
                        <a:rPr sz="900"/>
                        <a:t> </a:t>
                      </a:r>
                    </a:p>
                  </a:txBody>
                  <a:tcPr marL="36576" marR="36576" marT="9144" marB="9144" anchor="ctr">
                    <a:solidFill>
                      <a:srgbClr val="9DC0E0"/>
                    </a:solidFill>
                  </a:tcPr>
                </a:tc>
                <a:tc>
                  <a:txBody>
                    <a:bodyPr wrap="square"/>
                    <a:lstStyle/>
                    <a:p>
                      <a:pPr algn="ctr"/>
                      <a:r>
                        <a:rPr sz="900"/>
                        <a:t> </a:t>
                      </a:r>
                    </a:p>
                  </a:txBody>
                  <a:tcPr marL="36576" marR="36576" marT="9144" marB="9144" anchor="ctr">
                    <a:solidFill>
                      <a:srgbClr val="F3F6F9"/>
                    </a:solidFill>
                  </a:tcPr>
                </a:tc>
              </a:tr>
            </a:tbl>
          </a:graphicData>
        </a:graphic>
      </p:graphicFrame>
      <p:sp>
        <p:nvSpPr>
          <p:cNvPr id="15" name="Rectangle 14"/>
          <p:cNvSpPr/>
          <p:nvPr/>
        </p:nvSpPr>
        <p:spPr>
          <a:xfrm>
            <a:off x="274320" y="5141595"/>
            <a:ext cx="3788664" cy="1234440"/>
          </a:xfrm>
          <a:prstGeom prst="rect">
            <a:avLst/>
          </a:prstGeom>
          <a:solidFill>
            <a:srgbClr val="F3F6F9"/>
          </a:solidFill>
          <a:ln>
            <a:noFill/>
          </a:ln>
          <a:effectLst/>
        </p:spPr>
        <p:txBody>
          <a:bodyPr rtlCol="0" anchor="ctr"/>
          <a:lstStyle/>
          <a:p>
            <a:pPr algn="ctr"/>
          </a:p>
        </p:txBody>
      </p:sp>
      <p:sp>
        <p:nvSpPr>
          <p:cNvPr id="16" name="Oval 15"/>
          <p:cNvSpPr/>
          <p:nvPr/>
        </p:nvSpPr>
        <p:spPr>
          <a:xfrm>
            <a:off x="388620" y="5265420"/>
            <a:ext cx="314325" cy="314325"/>
          </a:xfrm>
          <a:prstGeom prst="ellipse">
            <a:avLst/>
          </a:prstGeom>
          <a:solidFill>
            <a:srgbClr val="0B2E4A"/>
          </a:solidFill>
          <a:ln>
            <a:noFill/>
          </a:ln>
          <a:effectLst/>
        </p:spPr>
        <p:txBody>
          <a:bodyPr rtlCol="0" anchor="ctr" lIns="0" rIns="0" wrap="none" tIns="0" bIns="0"/>
          <a:lstStyle/>
          <a:p>
            <a:pPr algn="ctr"/>
            <a:r>
              <a:rPr sz="1200" b="1">
                <a:solidFill>
                  <a:srgbClr val="FFFFFF"/>
                </a:solidFill>
                <a:latin typeface="Calibri"/>
              </a:rPr>
              <a:t>1</a:t>
            </a:r>
          </a:p>
        </p:txBody>
      </p:sp>
      <p:sp>
        <p:nvSpPr>
          <p:cNvPr id="17" name="TextBox 16"/>
          <p:cNvSpPr txBox="1"/>
          <p:nvPr/>
        </p:nvSpPr>
        <p:spPr>
          <a:xfrm>
            <a:off x="779145" y="5227320"/>
            <a:ext cx="3198114" cy="266700"/>
          </a:xfrm>
          <a:prstGeom prst="rect">
            <a:avLst/>
          </a:prstGeom>
          <a:noFill/>
        </p:spPr>
        <p:txBody>
          <a:bodyPr wrap="square" anchor="t" lIns="27432" rIns="27432" tIns="27432" bIns="27432">
            <a:spAutoFit/>
          </a:bodyPr>
          <a:lstStyle/>
          <a:p>
            <a:pPr algn="l"/>
            <a:r>
              <a:rPr sz="1150" b="1" i="0">
                <a:solidFill>
                  <a:srgbClr val="0B2E4A"/>
                </a:solidFill>
                <a:latin typeface="Calibri"/>
              </a:rPr>
              <a:t>Region Spread</a:t>
            </a:r>
          </a:p>
        </p:txBody>
      </p:sp>
      <p:sp>
        <p:nvSpPr>
          <p:cNvPr id="18" name="TextBox 17"/>
          <p:cNvSpPr txBox="1"/>
          <p:nvPr/>
        </p:nvSpPr>
        <p:spPr>
          <a:xfrm>
            <a:off x="779145" y="5503545"/>
            <a:ext cx="3198114" cy="834390"/>
          </a:xfrm>
          <a:prstGeom prst="rect">
            <a:avLst/>
          </a:prstGeom>
          <a:noFill/>
        </p:spPr>
        <p:txBody>
          <a:bodyPr wrap="square" anchor="t" lIns="27432" rIns="27432" tIns="27432" bIns="27432">
            <a:spAutoFit/>
          </a:bodyPr>
          <a:lstStyle/>
          <a:p>
            <a:pPr algn="l"/>
            <a:r>
              <a:rPr sz="1050" b="0" i="0">
                <a:solidFill>
                  <a:srgbClr val="1F1F1F"/>
                </a:solidFill>
                <a:latin typeface="Calibri"/>
              </a:rPr>
              <a:t/>
            </a:r>
          </a:p>
        </p:txBody>
      </p:sp>
      <p:sp>
        <p:nvSpPr>
          <p:cNvPr id="19" name="Rectangle 18"/>
          <p:cNvSpPr/>
          <p:nvPr/>
        </p:nvSpPr>
        <p:spPr>
          <a:xfrm>
            <a:off x="4200144" y="5141595"/>
            <a:ext cx="3788664" cy="1234440"/>
          </a:xfrm>
          <a:prstGeom prst="rect">
            <a:avLst/>
          </a:prstGeom>
          <a:solidFill>
            <a:srgbClr val="F3F6F9"/>
          </a:solidFill>
          <a:ln>
            <a:noFill/>
          </a:ln>
          <a:effectLst/>
        </p:spPr>
        <p:txBody>
          <a:bodyPr rtlCol="0" anchor="ctr"/>
          <a:lstStyle/>
          <a:p>
            <a:pPr algn="ctr"/>
          </a:p>
        </p:txBody>
      </p:sp>
      <p:sp>
        <p:nvSpPr>
          <p:cNvPr id="20" name="Oval 19"/>
          <p:cNvSpPr/>
          <p:nvPr/>
        </p:nvSpPr>
        <p:spPr>
          <a:xfrm>
            <a:off x="4314444" y="5265420"/>
            <a:ext cx="314325" cy="314325"/>
          </a:xfrm>
          <a:prstGeom prst="ellipse">
            <a:avLst/>
          </a:prstGeom>
          <a:solidFill>
            <a:srgbClr val="0B2E4A"/>
          </a:solidFill>
          <a:ln>
            <a:noFill/>
          </a:ln>
          <a:effectLst/>
        </p:spPr>
        <p:txBody>
          <a:bodyPr rtlCol="0" anchor="ctr" lIns="0" rIns="0" wrap="none" tIns="0" bIns="0"/>
          <a:lstStyle/>
          <a:p>
            <a:pPr algn="ctr"/>
            <a:r>
              <a:rPr sz="1200" b="1">
                <a:solidFill>
                  <a:srgbClr val="FFFFFF"/>
                </a:solidFill>
                <a:latin typeface="Calibri"/>
              </a:rPr>
              <a:t>2</a:t>
            </a:r>
          </a:p>
        </p:txBody>
      </p:sp>
      <p:sp>
        <p:nvSpPr>
          <p:cNvPr id="21" name="TextBox 20"/>
          <p:cNvSpPr txBox="1"/>
          <p:nvPr/>
        </p:nvSpPr>
        <p:spPr>
          <a:xfrm>
            <a:off x="4704969" y="5227320"/>
            <a:ext cx="3198114" cy="266700"/>
          </a:xfrm>
          <a:prstGeom prst="rect">
            <a:avLst/>
          </a:prstGeom>
          <a:noFill/>
        </p:spPr>
        <p:txBody>
          <a:bodyPr wrap="square" anchor="t" lIns="27432" rIns="27432" tIns="27432" bIns="27432">
            <a:spAutoFit/>
          </a:bodyPr>
          <a:lstStyle/>
          <a:p>
            <a:pPr algn="l"/>
            <a:r>
              <a:rPr sz="1150" b="1" i="0">
                <a:solidFill>
                  <a:srgbClr val="0B2E4A"/>
                </a:solidFill>
                <a:latin typeface="Calibri"/>
              </a:rPr>
              <a:t>Growth Leader</a:t>
            </a:r>
          </a:p>
        </p:txBody>
      </p:sp>
      <p:sp>
        <p:nvSpPr>
          <p:cNvPr id="22" name="TextBox 21"/>
          <p:cNvSpPr txBox="1"/>
          <p:nvPr/>
        </p:nvSpPr>
        <p:spPr>
          <a:xfrm>
            <a:off x="4704969" y="5503545"/>
            <a:ext cx="3198114" cy="834390"/>
          </a:xfrm>
          <a:prstGeom prst="rect">
            <a:avLst/>
          </a:prstGeom>
          <a:noFill/>
        </p:spPr>
        <p:txBody>
          <a:bodyPr wrap="square" anchor="t" lIns="27432" rIns="27432" tIns="27432" bIns="27432">
            <a:spAutoFit/>
          </a:bodyPr>
          <a:lstStyle/>
          <a:p>
            <a:pPr algn="l"/>
            <a:r>
              <a:rPr sz="1050" b="0" i="0">
                <a:solidFill>
                  <a:srgbClr val="1F1F1F"/>
                </a:solidFill>
                <a:latin typeface="Calibri"/>
              </a:rPr>
              <a:t/>
            </a:r>
          </a:p>
        </p:txBody>
      </p:sp>
      <p:sp>
        <p:nvSpPr>
          <p:cNvPr id="23" name="Rectangle 22"/>
          <p:cNvSpPr/>
          <p:nvPr/>
        </p:nvSpPr>
        <p:spPr>
          <a:xfrm>
            <a:off x="8125968" y="5141595"/>
            <a:ext cx="3788664" cy="1234440"/>
          </a:xfrm>
          <a:prstGeom prst="rect">
            <a:avLst/>
          </a:prstGeom>
          <a:solidFill>
            <a:srgbClr val="F3F6F9"/>
          </a:solidFill>
          <a:ln>
            <a:noFill/>
          </a:ln>
          <a:effectLst/>
        </p:spPr>
        <p:txBody>
          <a:bodyPr rtlCol="0" anchor="ctr"/>
          <a:lstStyle/>
          <a:p>
            <a:pPr algn="ctr"/>
          </a:p>
        </p:txBody>
      </p:sp>
      <p:sp>
        <p:nvSpPr>
          <p:cNvPr id="24" name="Oval 23"/>
          <p:cNvSpPr/>
          <p:nvPr/>
        </p:nvSpPr>
        <p:spPr>
          <a:xfrm>
            <a:off x="8240268" y="5265420"/>
            <a:ext cx="314325" cy="314325"/>
          </a:xfrm>
          <a:prstGeom prst="ellipse">
            <a:avLst/>
          </a:prstGeom>
          <a:solidFill>
            <a:srgbClr val="0B2E4A"/>
          </a:solidFill>
          <a:ln>
            <a:noFill/>
          </a:ln>
          <a:effectLst/>
        </p:spPr>
        <p:txBody>
          <a:bodyPr rtlCol="0" anchor="ctr" lIns="0" rIns="0" wrap="none" tIns="0" bIns="0"/>
          <a:lstStyle/>
          <a:p>
            <a:pPr algn="ctr"/>
            <a:r>
              <a:rPr sz="1200" b="1">
                <a:solidFill>
                  <a:srgbClr val="FFFFFF"/>
                </a:solidFill>
                <a:latin typeface="Calibri"/>
              </a:rPr>
              <a:t>3</a:t>
            </a:r>
          </a:p>
        </p:txBody>
      </p:sp>
      <p:sp>
        <p:nvSpPr>
          <p:cNvPr id="25" name="TextBox 24"/>
          <p:cNvSpPr txBox="1"/>
          <p:nvPr/>
        </p:nvSpPr>
        <p:spPr>
          <a:xfrm>
            <a:off x="8630793" y="5227320"/>
            <a:ext cx="3198114" cy="266700"/>
          </a:xfrm>
          <a:prstGeom prst="rect">
            <a:avLst/>
          </a:prstGeom>
          <a:noFill/>
        </p:spPr>
        <p:txBody>
          <a:bodyPr wrap="square" anchor="t" lIns="27432" rIns="27432" tIns="27432" bIns="27432">
            <a:spAutoFit/>
          </a:bodyPr>
          <a:lstStyle/>
          <a:p>
            <a:pPr algn="l"/>
            <a:r>
              <a:rPr sz="1150" b="1" i="0">
                <a:solidFill>
                  <a:srgbClr val="0B2E4A"/>
                </a:solidFill>
                <a:latin typeface="Calibri"/>
              </a:rPr>
              <a:t>Mix Exposure</a:t>
            </a:r>
          </a:p>
        </p:txBody>
      </p:sp>
      <p:sp>
        <p:nvSpPr>
          <p:cNvPr id="26" name="TextBox 25"/>
          <p:cNvSpPr txBox="1"/>
          <p:nvPr/>
        </p:nvSpPr>
        <p:spPr>
          <a:xfrm>
            <a:off x="8630793" y="5503545"/>
            <a:ext cx="3198114" cy="834390"/>
          </a:xfrm>
          <a:prstGeom prst="rect">
            <a:avLst/>
          </a:prstGeom>
          <a:noFill/>
        </p:spPr>
        <p:txBody>
          <a:bodyPr wrap="square" anchor="t" lIns="27432" rIns="27432" tIns="27432" bIns="27432">
            <a:spAutoFit/>
          </a:bodyPr>
          <a:lstStyle/>
          <a:p>
            <a:pPr algn="l"/>
            <a:r>
              <a:rPr sz="1050" b="0" i="0">
                <a:solidFill>
                  <a:srgbClr val="1F1F1F"/>
                </a:solidFill>
                <a:latin typeface="Calibri"/>
              </a:rPr>
              <a:t/>
            </a:r>
          </a:p>
        </p:txBody>
      </p:sp>
      <p:sp>
        <p:nvSpPr>
          <p:cNvPr id="27" name="TextBox 26"/>
          <p:cNvSpPr txBox="1"/>
          <p:nvPr/>
        </p:nvSpPr>
        <p:spPr>
          <a:xfrm>
            <a:off x="274320" y="6363843"/>
            <a:ext cx="11612880" cy="209550"/>
          </a:xfrm>
          <a:prstGeom prst="rect">
            <a:avLst/>
          </a:prstGeom>
          <a:noFill/>
        </p:spPr>
        <p:txBody>
          <a:bodyPr wrap="square" anchor="t" lIns="27432" rIns="27432" tIns="27432" bIns="27432">
            <a:spAutoFit/>
          </a:bodyPr>
          <a:lstStyle/>
          <a:p>
            <a:pPr algn="l"/>
            <a:r>
              <a:rPr sz="850" b="0" i="0">
                <a:solidFill>
                  <a:srgbClr val="59636E"/>
                </a:solidFill>
                <a:latin typeface="Calibri"/>
              </a:rPr>
              <a:t>Source: TMR analysis. Range = lowest to highest product type price in each region; ranked by average price. Other geographies grouped as 'Other' are excluded from the ranking.</a:t>
            </a:r>
          </a:p>
        </p:txBody>
      </p:sp>
      <p:sp>
        <p:nvSpPr>
          <p:cNvPr id="28" name="Rectangle 27"/>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30" name="Picture 29" descr="lock.png"/>
          <p:cNvPicPr>
            <a:picLocks noChangeAspect="1"/>
          </p:cNvPicPr>
          <p:nvPr/>
        </p:nvPicPr>
        <p:blipFill>
          <a:blip r:embed="rId5"/>
          <a:stretch>
            <a:fillRect/>
          </a:stretch>
        </p:blipFill>
        <p:spPr>
          <a:xfrm>
            <a:off x="10462494" y="3375398"/>
            <a:ext cx="355774" cy="517489"/>
          </a:xfrm>
          <a:prstGeom prst="rect">
            <a:avLst/>
          </a:prstGeom>
        </p:spPr>
      </p:pic>
      <p:sp>
        <p:nvSpPr>
          <p:cNvPr id="31" name="TextBox 30"/>
          <p:cNvSpPr txBox="1"/>
          <p:nvPr/>
        </p:nvSpPr>
        <p:spPr>
          <a:xfrm>
            <a:off x="411480" y="1110615"/>
            <a:ext cx="3985393" cy="217169"/>
          </a:xfrm>
          <a:prstGeom prst="rect">
            <a:avLst/>
          </a:prstGeom>
          <a:noFill/>
        </p:spPr>
        <p:txBody>
          <a:bodyPr wrap="none" lIns="0" rIns="0" tIns="0" bIns="0">
            <a:spAutoFit/>
          </a:bodyPr>
          <a:lstStyle/>
          <a:p>
            <a:r>
              <a:rPr sz="1300" b="1">
                <a:solidFill>
                  <a:srgbClr val="FFFFFF"/>
                </a:solidFill>
                <a:latin typeface="Calibri"/>
              </a:rPr>
              <a:t>North America is the most premium Global region at US$</a:t>
            </a:r>
          </a:p>
        </p:txBody>
      </p:sp>
      <p:pic>
        <p:nvPicPr>
          <p:cNvPr id="32" name="Picture 31" descr="lock.png"/>
          <p:cNvPicPr>
            <a:picLocks noChangeAspect="1"/>
          </p:cNvPicPr>
          <p:nvPr/>
        </p:nvPicPr>
        <p:blipFill>
          <a:blip r:embed="rId5"/>
          <a:stretch>
            <a:fillRect/>
          </a:stretch>
        </p:blipFill>
        <p:spPr>
          <a:xfrm>
            <a:off x="4349334" y="1099058"/>
            <a:ext cx="152098" cy="221234"/>
          </a:xfrm>
          <a:prstGeom prst="rect">
            <a:avLst/>
          </a:prstGeom>
        </p:spPr>
      </p:pic>
      <p:sp>
        <p:nvSpPr>
          <p:cNvPr id="33" name="TextBox 32"/>
          <p:cNvSpPr txBox="1"/>
          <p:nvPr/>
        </p:nvSpPr>
        <p:spPr>
          <a:xfrm>
            <a:off x="4547284" y="1110615"/>
            <a:ext cx="1075183" cy="217169"/>
          </a:xfrm>
          <a:prstGeom prst="rect">
            <a:avLst/>
          </a:prstGeom>
          <a:noFill/>
        </p:spPr>
        <p:txBody>
          <a:bodyPr wrap="none" lIns="0" rIns="0" tIns="0" bIns="0">
            <a:spAutoFit/>
          </a:bodyPr>
          <a:lstStyle/>
          <a:p>
            <a:r>
              <a:rPr sz="1300" b="1">
                <a:solidFill>
                  <a:srgbClr val="FFFFFF"/>
                </a:solidFill>
                <a:latin typeface="Calibri"/>
              </a:rPr>
              <a:t>/MT in 2026, +</a:t>
            </a:r>
          </a:p>
        </p:txBody>
      </p:sp>
      <p:pic>
        <p:nvPicPr>
          <p:cNvPr id="34" name="Picture 33" descr="lock.png"/>
          <p:cNvPicPr>
            <a:picLocks noChangeAspect="1"/>
          </p:cNvPicPr>
          <p:nvPr/>
        </p:nvPicPr>
        <p:blipFill>
          <a:blip r:embed="rId5"/>
          <a:stretch>
            <a:fillRect/>
          </a:stretch>
        </p:blipFill>
        <p:spPr>
          <a:xfrm>
            <a:off x="5574929" y="1099058"/>
            <a:ext cx="152098" cy="221234"/>
          </a:xfrm>
          <a:prstGeom prst="rect">
            <a:avLst/>
          </a:prstGeom>
        </p:spPr>
      </p:pic>
      <p:sp>
        <p:nvSpPr>
          <p:cNvPr id="35" name="TextBox 34"/>
          <p:cNvSpPr txBox="1"/>
          <p:nvPr/>
        </p:nvSpPr>
        <p:spPr>
          <a:xfrm>
            <a:off x="5772879" y="1110615"/>
            <a:ext cx="5071119" cy="217169"/>
          </a:xfrm>
          <a:prstGeom prst="rect">
            <a:avLst/>
          </a:prstGeom>
          <a:noFill/>
        </p:spPr>
        <p:txBody>
          <a:bodyPr wrap="none" lIns="0" rIns="0" tIns="0" bIns="0">
            <a:spAutoFit/>
          </a:bodyPr>
          <a:lstStyle/>
          <a:p>
            <a:r>
              <a:rPr sz="1300" b="1">
                <a:solidFill>
                  <a:srgbClr val="FFFFFF"/>
                </a:solidFill>
                <a:latin typeface="Calibri"/>
              </a:rPr>
              <a:t>above the global average, while South Asia &amp; Pacific is the lowest priced.</a:t>
            </a:r>
          </a:p>
        </p:txBody>
      </p:sp>
      <p:sp>
        <p:nvSpPr>
          <p:cNvPr id="36" name="TextBox 35"/>
          <p:cNvSpPr txBox="1"/>
          <p:nvPr/>
        </p:nvSpPr>
        <p:spPr>
          <a:xfrm>
            <a:off x="411480" y="1831467"/>
            <a:ext cx="4975274" cy="148589"/>
          </a:xfrm>
          <a:prstGeom prst="rect">
            <a:avLst/>
          </a:prstGeom>
          <a:noFill/>
        </p:spPr>
        <p:txBody>
          <a:bodyPr wrap="none" lIns="0" rIns="0" tIns="0" bIns="0">
            <a:spAutoFit/>
          </a:bodyPr>
          <a:lstStyle/>
          <a:p>
            <a:r>
              <a:rPr sz="850" b="0">
                <a:solidFill>
                  <a:srgbClr val="59636E"/>
                </a:solidFill>
                <a:latin typeface="Calibri"/>
              </a:rPr>
              <a:t>Bar spans the lowest to highest product type price in each region, read on the price index axis (Global average =</a:t>
            </a:r>
          </a:p>
        </p:txBody>
      </p:sp>
      <p:pic>
        <p:nvPicPr>
          <p:cNvPr id="37" name="Picture 36" descr="lock.png"/>
          <p:cNvPicPr>
            <a:picLocks noChangeAspect="1"/>
          </p:cNvPicPr>
          <p:nvPr/>
        </p:nvPicPr>
        <p:blipFill>
          <a:blip r:embed="rId5"/>
          <a:stretch>
            <a:fillRect/>
          </a:stretch>
        </p:blipFill>
        <p:spPr>
          <a:xfrm>
            <a:off x="5329294" y="1823910"/>
            <a:ext cx="99449" cy="144653"/>
          </a:xfrm>
          <a:prstGeom prst="rect">
            <a:avLst/>
          </a:prstGeom>
        </p:spPr>
      </p:pic>
      <p:sp>
        <p:nvSpPr>
          <p:cNvPr id="38" name="TextBox 37"/>
          <p:cNvSpPr txBox="1"/>
          <p:nvPr/>
        </p:nvSpPr>
        <p:spPr>
          <a:xfrm>
            <a:off x="5458723" y="1831467"/>
            <a:ext cx="2037010" cy="148589"/>
          </a:xfrm>
          <a:prstGeom prst="rect">
            <a:avLst/>
          </a:prstGeom>
          <a:noFill/>
        </p:spPr>
        <p:txBody>
          <a:bodyPr wrap="none" lIns="0" rIns="0" tIns="0" bIns="0">
            <a:spAutoFit/>
          </a:bodyPr>
          <a:lstStyle/>
          <a:p>
            <a:r>
              <a:rPr sz="850" b="0">
                <a:solidFill>
                  <a:srgbClr val="59636E"/>
                </a:solidFill>
                <a:latin typeface="Calibri"/>
              </a:rPr>
              <a:t>). Teal = above Global average, blue = below.</a:t>
            </a:r>
          </a:p>
        </p:txBody>
      </p:sp>
      <p:sp>
        <p:nvSpPr>
          <p:cNvPr id="39" name="TextBox 38"/>
          <p:cNvSpPr txBox="1"/>
          <p:nvPr/>
        </p:nvSpPr>
        <p:spPr>
          <a:xfrm>
            <a:off x="806576" y="5530976"/>
            <a:ext cx="2778324" cy="179069"/>
          </a:xfrm>
          <a:prstGeom prst="rect">
            <a:avLst/>
          </a:prstGeom>
          <a:noFill/>
        </p:spPr>
        <p:txBody>
          <a:bodyPr wrap="none" lIns="0" rIns="0" tIns="0" bIns="0">
            <a:spAutoFit/>
          </a:bodyPr>
          <a:lstStyle/>
          <a:p>
            <a:r>
              <a:rPr sz="1050" b="0">
                <a:solidFill>
                  <a:srgbClr val="1F1F1F"/>
                </a:solidFill>
                <a:latin typeface="Calibri"/>
              </a:rPr>
              <a:t>Average prices across the ranked regions differ by</a:t>
            </a:r>
          </a:p>
        </p:txBody>
      </p:sp>
      <p:pic>
        <p:nvPicPr>
          <p:cNvPr id="40" name="Picture 39" descr="lock.png"/>
          <p:cNvPicPr>
            <a:picLocks noChangeAspect="1"/>
          </p:cNvPicPr>
          <p:nvPr/>
        </p:nvPicPr>
        <p:blipFill>
          <a:blip r:embed="rId5"/>
          <a:stretch>
            <a:fillRect/>
          </a:stretch>
        </p:blipFill>
        <p:spPr>
          <a:xfrm>
            <a:off x="3531850" y="5521642"/>
            <a:ext cx="122849" cy="178689"/>
          </a:xfrm>
          <a:prstGeom prst="rect">
            <a:avLst/>
          </a:prstGeom>
        </p:spPr>
      </p:pic>
      <p:sp>
        <p:nvSpPr>
          <p:cNvPr id="41" name="TextBox 40"/>
          <p:cNvSpPr txBox="1"/>
          <p:nvPr/>
        </p:nvSpPr>
        <p:spPr>
          <a:xfrm>
            <a:off x="3691732" y="5530976"/>
            <a:ext cx="176993" cy="179069"/>
          </a:xfrm>
          <a:prstGeom prst="rect">
            <a:avLst/>
          </a:prstGeom>
          <a:noFill/>
        </p:spPr>
        <p:txBody>
          <a:bodyPr wrap="none" lIns="0" rIns="0" tIns="0" bIns="0">
            <a:spAutoFit/>
          </a:bodyPr>
          <a:lstStyle/>
          <a:p>
            <a:r>
              <a:rPr sz="1050" b="0">
                <a:solidFill>
                  <a:srgbClr val="1F1F1F"/>
                </a:solidFill>
                <a:latin typeface="Calibri"/>
              </a:rPr>
              <a:t>in</a:t>
            </a:r>
          </a:p>
        </p:txBody>
      </p:sp>
      <p:sp>
        <p:nvSpPr>
          <p:cNvPr id="42" name="TextBox 41"/>
          <p:cNvSpPr txBox="1"/>
          <p:nvPr/>
        </p:nvSpPr>
        <p:spPr>
          <a:xfrm>
            <a:off x="806576" y="5690996"/>
            <a:ext cx="919534" cy="179069"/>
          </a:xfrm>
          <a:prstGeom prst="rect">
            <a:avLst/>
          </a:prstGeom>
          <a:noFill/>
        </p:spPr>
        <p:txBody>
          <a:bodyPr wrap="none" lIns="0" rIns="0" tIns="0" bIns="0">
            <a:spAutoFit/>
          </a:bodyPr>
          <a:lstStyle/>
          <a:p>
            <a:r>
              <a:rPr sz="1050" b="0">
                <a:solidFill>
                  <a:srgbClr val="1F1F1F"/>
                </a:solidFill>
                <a:latin typeface="Calibri"/>
              </a:rPr>
              <a:t>2026, from US$</a:t>
            </a:r>
          </a:p>
        </p:txBody>
      </p:sp>
      <p:pic>
        <p:nvPicPr>
          <p:cNvPr id="43" name="Picture 42" descr="lock.png"/>
          <p:cNvPicPr>
            <a:picLocks noChangeAspect="1"/>
          </p:cNvPicPr>
          <p:nvPr/>
        </p:nvPicPr>
        <p:blipFill>
          <a:blip r:embed="rId5"/>
          <a:stretch>
            <a:fillRect/>
          </a:stretch>
        </p:blipFill>
        <p:spPr>
          <a:xfrm>
            <a:off x="1673060" y="5681662"/>
            <a:ext cx="122849" cy="178689"/>
          </a:xfrm>
          <a:prstGeom prst="rect">
            <a:avLst/>
          </a:prstGeom>
        </p:spPr>
      </p:pic>
      <p:sp>
        <p:nvSpPr>
          <p:cNvPr id="44" name="TextBox 43"/>
          <p:cNvSpPr txBox="1"/>
          <p:nvPr/>
        </p:nvSpPr>
        <p:spPr>
          <a:xfrm>
            <a:off x="1832943" y="5690996"/>
            <a:ext cx="1927993" cy="179069"/>
          </a:xfrm>
          <a:prstGeom prst="rect">
            <a:avLst/>
          </a:prstGeom>
          <a:noFill/>
        </p:spPr>
        <p:txBody>
          <a:bodyPr wrap="none" lIns="0" rIns="0" tIns="0" bIns="0">
            <a:spAutoFit/>
          </a:bodyPr>
          <a:lstStyle/>
          <a:p>
            <a:r>
              <a:rPr sz="1050" b="0">
                <a:solidFill>
                  <a:srgbClr val="1F1F1F"/>
                </a:solidFill>
                <a:latin typeface="Calibri"/>
              </a:rPr>
              <a:t>/MT in South Asia &amp; Pacific to US$</a:t>
            </a:r>
          </a:p>
        </p:txBody>
      </p:sp>
      <p:pic>
        <p:nvPicPr>
          <p:cNvPr id="45" name="Picture 44" descr="lock.png"/>
          <p:cNvPicPr>
            <a:picLocks noChangeAspect="1"/>
          </p:cNvPicPr>
          <p:nvPr/>
        </p:nvPicPr>
        <p:blipFill>
          <a:blip r:embed="rId5"/>
          <a:stretch>
            <a:fillRect/>
          </a:stretch>
        </p:blipFill>
        <p:spPr>
          <a:xfrm>
            <a:off x="793721" y="5841682"/>
            <a:ext cx="122849" cy="178689"/>
          </a:xfrm>
          <a:prstGeom prst="rect">
            <a:avLst/>
          </a:prstGeom>
        </p:spPr>
      </p:pic>
      <p:sp>
        <p:nvSpPr>
          <p:cNvPr id="46" name="TextBox 45"/>
          <p:cNvSpPr txBox="1"/>
          <p:nvPr/>
        </p:nvSpPr>
        <p:spPr>
          <a:xfrm>
            <a:off x="953604" y="5851016"/>
            <a:ext cx="1297706" cy="179069"/>
          </a:xfrm>
          <a:prstGeom prst="rect">
            <a:avLst/>
          </a:prstGeom>
          <a:noFill/>
        </p:spPr>
        <p:txBody>
          <a:bodyPr wrap="none" lIns="0" rIns="0" tIns="0" bIns="0">
            <a:spAutoFit/>
          </a:bodyPr>
          <a:lstStyle/>
          <a:p>
            <a:r>
              <a:rPr sz="1050" b="0">
                <a:solidFill>
                  <a:srgbClr val="1F1F1F"/>
                </a:solidFill>
                <a:latin typeface="Calibri"/>
              </a:rPr>
              <a:t>/MT in North America.</a:t>
            </a:r>
          </a:p>
        </p:txBody>
      </p:sp>
      <p:sp>
        <p:nvSpPr>
          <p:cNvPr id="47" name="TextBox 46"/>
          <p:cNvSpPr txBox="1"/>
          <p:nvPr/>
        </p:nvSpPr>
        <p:spPr>
          <a:xfrm>
            <a:off x="4732401" y="5530976"/>
            <a:ext cx="3098192" cy="179069"/>
          </a:xfrm>
          <a:prstGeom prst="rect">
            <a:avLst/>
          </a:prstGeom>
          <a:noFill/>
        </p:spPr>
        <p:txBody>
          <a:bodyPr wrap="none" lIns="0" rIns="0" tIns="0" bIns="0">
            <a:spAutoFit/>
          </a:bodyPr>
          <a:lstStyle/>
          <a:p>
            <a:r>
              <a:rPr sz="1050" b="0">
                <a:solidFill>
                  <a:srgbClr val="1F1F1F"/>
                </a:solidFill>
                <a:latin typeface="Calibri"/>
              </a:rPr>
              <a:t>North America records the fastest average price growth</a:t>
            </a:r>
          </a:p>
        </p:txBody>
      </p:sp>
      <p:sp>
        <p:nvSpPr>
          <p:cNvPr id="48" name="TextBox 47"/>
          <p:cNvSpPr txBox="1"/>
          <p:nvPr/>
        </p:nvSpPr>
        <p:spPr>
          <a:xfrm>
            <a:off x="4732401" y="5690996"/>
            <a:ext cx="278829" cy="179069"/>
          </a:xfrm>
          <a:prstGeom prst="rect">
            <a:avLst/>
          </a:prstGeom>
          <a:noFill/>
        </p:spPr>
        <p:txBody>
          <a:bodyPr wrap="none" lIns="0" rIns="0" tIns="0" bIns="0">
            <a:spAutoFit/>
          </a:bodyPr>
          <a:lstStyle/>
          <a:p>
            <a:r>
              <a:rPr sz="1050" b="0">
                <a:solidFill>
                  <a:srgbClr val="1F1F1F"/>
                </a:solidFill>
                <a:latin typeface="Calibri"/>
              </a:rPr>
              <a:t>at a</a:t>
            </a:r>
          </a:p>
        </p:txBody>
      </p:sp>
      <p:pic>
        <p:nvPicPr>
          <p:cNvPr id="49" name="Picture 48" descr="lock.png"/>
          <p:cNvPicPr>
            <a:picLocks noChangeAspect="1"/>
          </p:cNvPicPr>
          <p:nvPr/>
        </p:nvPicPr>
        <p:blipFill>
          <a:blip r:embed="rId5"/>
          <a:stretch>
            <a:fillRect/>
          </a:stretch>
        </p:blipFill>
        <p:spPr>
          <a:xfrm>
            <a:off x="4958179" y="5681662"/>
            <a:ext cx="122849" cy="178689"/>
          </a:xfrm>
          <a:prstGeom prst="rect">
            <a:avLst/>
          </a:prstGeom>
        </p:spPr>
      </p:pic>
      <p:sp>
        <p:nvSpPr>
          <p:cNvPr id="50" name="TextBox 49"/>
          <p:cNvSpPr txBox="1"/>
          <p:nvPr/>
        </p:nvSpPr>
        <p:spPr>
          <a:xfrm>
            <a:off x="5118062" y="5690996"/>
            <a:ext cx="2178529" cy="179069"/>
          </a:xfrm>
          <a:prstGeom prst="rect">
            <a:avLst/>
          </a:prstGeom>
          <a:noFill/>
        </p:spPr>
        <p:txBody>
          <a:bodyPr wrap="none" lIns="0" rIns="0" tIns="0" bIns="0">
            <a:spAutoFit/>
          </a:bodyPr>
          <a:lstStyle/>
          <a:p>
            <a:r>
              <a:rPr sz="1050" b="0">
                <a:solidFill>
                  <a:srgbClr val="1F1F1F"/>
                </a:solidFill>
                <a:latin typeface="Calibri"/>
              </a:rPr>
              <a:t>CAGR between 2026 and 2036, against</a:t>
            </a:r>
          </a:p>
        </p:txBody>
      </p:sp>
      <p:pic>
        <p:nvPicPr>
          <p:cNvPr id="51" name="Picture 50" descr="lock.png"/>
          <p:cNvPicPr>
            <a:picLocks noChangeAspect="1"/>
          </p:cNvPicPr>
          <p:nvPr/>
        </p:nvPicPr>
        <p:blipFill>
          <a:blip r:embed="rId5"/>
          <a:stretch>
            <a:fillRect/>
          </a:stretch>
        </p:blipFill>
        <p:spPr>
          <a:xfrm>
            <a:off x="7243541" y="5681662"/>
            <a:ext cx="122849" cy="178689"/>
          </a:xfrm>
          <a:prstGeom prst="rect">
            <a:avLst/>
          </a:prstGeom>
        </p:spPr>
      </p:pic>
      <p:sp>
        <p:nvSpPr>
          <p:cNvPr id="52" name="TextBox 51"/>
          <p:cNvSpPr txBox="1"/>
          <p:nvPr/>
        </p:nvSpPr>
        <p:spPr>
          <a:xfrm>
            <a:off x="7403423" y="5690996"/>
            <a:ext cx="233771" cy="179069"/>
          </a:xfrm>
          <a:prstGeom prst="rect">
            <a:avLst/>
          </a:prstGeom>
          <a:noFill/>
        </p:spPr>
        <p:txBody>
          <a:bodyPr wrap="none" lIns="0" rIns="0" tIns="0" bIns="0">
            <a:spAutoFit/>
          </a:bodyPr>
          <a:lstStyle/>
          <a:p>
            <a:r>
              <a:rPr sz="1050" b="0">
                <a:solidFill>
                  <a:srgbClr val="1F1F1F"/>
                </a:solidFill>
                <a:latin typeface="Calibri"/>
              </a:rPr>
              <a:t>for</a:t>
            </a:r>
          </a:p>
        </p:txBody>
      </p:sp>
      <p:sp>
        <p:nvSpPr>
          <p:cNvPr id="53" name="TextBox 52"/>
          <p:cNvSpPr txBox="1"/>
          <p:nvPr/>
        </p:nvSpPr>
        <p:spPr>
          <a:xfrm>
            <a:off x="4732401" y="5851016"/>
            <a:ext cx="1062781" cy="179069"/>
          </a:xfrm>
          <a:prstGeom prst="rect">
            <a:avLst/>
          </a:prstGeom>
          <a:noFill/>
        </p:spPr>
        <p:txBody>
          <a:bodyPr wrap="none" lIns="0" rIns="0" tIns="0" bIns="0">
            <a:spAutoFit/>
          </a:bodyPr>
          <a:lstStyle/>
          <a:p>
            <a:r>
              <a:rPr sz="1050" b="0">
                <a:solidFill>
                  <a:srgbClr val="1F1F1F"/>
                </a:solidFill>
                <a:latin typeface="Calibri"/>
              </a:rPr>
              <a:t>Global as a whole.</a:t>
            </a:r>
          </a:p>
        </p:txBody>
      </p:sp>
      <p:sp>
        <p:nvSpPr>
          <p:cNvPr id="54" name="TextBox 53"/>
          <p:cNvSpPr txBox="1"/>
          <p:nvPr/>
        </p:nvSpPr>
        <p:spPr>
          <a:xfrm>
            <a:off x="8658225" y="5530976"/>
            <a:ext cx="3143250" cy="179069"/>
          </a:xfrm>
          <a:prstGeom prst="rect">
            <a:avLst/>
          </a:prstGeom>
          <a:noFill/>
        </p:spPr>
        <p:txBody>
          <a:bodyPr wrap="none" lIns="0" rIns="0" tIns="0" bIns="0">
            <a:spAutoFit/>
          </a:bodyPr>
          <a:lstStyle/>
          <a:p>
            <a:r>
              <a:rPr sz="1050" b="0">
                <a:solidFill>
                  <a:srgbClr val="1F1F1F"/>
                </a:solidFill>
                <a:latin typeface="Calibri"/>
              </a:rPr>
              <a:t>East Asia shows the widest gap between its cheapest and</a:t>
            </a:r>
          </a:p>
        </p:txBody>
      </p:sp>
      <p:sp>
        <p:nvSpPr>
          <p:cNvPr id="55" name="TextBox 54"/>
          <p:cNvSpPr txBox="1"/>
          <p:nvPr/>
        </p:nvSpPr>
        <p:spPr>
          <a:xfrm>
            <a:off x="8658225" y="5690996"/>
            <a:ext cx="1789695" cy="179069"/>
          </a:xfrm>
          <a:prstGeom prst="rect">
            <a:avLst/>
          </a:prstGeom>
          <a:noFill/>
        </p:spPr>
        <p:txBody>
          <a:bodyPr wrap="none" lIns="0" rIns="0" tIns="0" bIns="0">
            <a:spAutoFit/>
          </a:bodyPr>
          <a:lstStyle/>
          <a:p>
            <a:r>
              <a:rPr sz="1050" b="0">
                <a:solidFill>
                  <a:srgbClr val="1F1F1F"/>
                </a:solidFill>
                <a:latin typeface="Calibri"/>
              </a:rPr>
              <a:t>most expensive product type at</a:t>
            </a:r>
          </a:p>
        </p:txBody>
      </p:sp>
      <p:pic>
        <p:nvPicPr>
          <p:cNvPr id="56" name="Picture 55" descr="lock.png"/>
          <p:cNvPicPr>
            <a:picLocks noChangeAspect="1"/>
          </p:cNvPicPr>
          <p:nvPr/>
        </p:nvPicPr>
        <p:blipFill>
          <a:blip r:embed="rId5"/>
          <a:stretch>
            <a:fillRect/>
          </a:stretch>
        </p:blipFill>
        <p:spPr>
          <a:xfrm>
            <a:off x="10394869" y="5681662"/>
            <a:ext cx="122849" cy="178689"/>
          </a:xfrm>
          <a:prstGeom prst="rect">
            <a:avLst/>
          </a:prstGeom>
        </p:spPr>
      </p:pic>
      <p:sp>
        <p:nvSpPr>
          <p:cNvPr id="57" name="TextBox 56"/>
          <p:cNvSpPr txBox="1"/>
          <p:nvPr/>
        </p:nvSpPr>
        <p:spPr>
          <a:xfrm>
            <a:off x="10554752" y="5690996"/>
            <a:ext cx="946100" cy="179069"/>
          </a:xfrm>
          <a:prstGeom prst="rect">
            <a:avLst/>
          </a:prstGeom>
          <a:noFill/>
        </p:spPr>
        <p:txBody>
          <a:bodyPr wrap="none" lIns="0" rIns="0" tIns="0" bIns="0">
            <a:spAutoFit/>
          </a:bodyPr>
          <a:lstStyle/>
          <a:p>
            <a:r>
              <a:rPr sz="1050" b="0">
                <a:solidFill>
                  <a:srgbClr val="1F1F1F"/>
                </a:solidFill>
                <a:latin typeface="Calibri"/>
              </a:rPr>
              <a:t>, so product mix</a:t>
            </a:r>
          </a:p>
        </p:txBody>
      </p:sp>
      <p:sp>
        <p:nvSpPr>
          <p:cNvPr id="58" name="TextBox 57"/>
          <p:cNvSpPr txBox="1"/>
          <p:nvPr/>
        </p:nvSpPr>
        <p:spPr>
          <a:xfrm>
            <a:off x="8658225" y="5851016"/>
            <a:ext cx="2167867" cy="179069"/>
          </a:xfrm>
          <a:prstGeom prst="rect">
            <a:avLst/>
          </a:prstGeom>
          <a:noFill/>
        </p:spPr>
        <p:txBody>
          <a:bodyPr wrap="none" lIns="0" rIns="0" tIns="0" bIns="0">
            <a:spAutoFit/>
          </a:bodyPr>
          <a:lstStyle/>
          <a:p>
            <a:r>
              <a:rPr sz="1050" b="0">
                <a:solidFill>
                  <a:srgbClr val="1F1F1F"/>
                </a:solidFill>
                <a:latin typeface="Calibri"/>
              </a:rPr>
              <a:t>shifts move its average price the most.</a:t>
            </a:r>
          </a:p>
        </p:txBody>
      </p:sp>
      <p:pic>
        <p:nvPicPr>
          <p:cNvPr id="59" name="Picture 58" descr="lock.png"/>
          <p:cNvPicPr>
            <a:picLocks noChangeAspect="1"/>
          </p:cNvPicPr>
          <p:nvPr/>
        </p:nvPicPr>
        <p:blipFill>
          <a:blip r:embed="rId5"/>
          <a:stretch>
            <a:fillRect/>
          </a:stretch>
        </p:blipFill>
        <p:spPr>
          <a:xfrm>
            <a:off x="3952821" y="3129375"/>
            <a:ext cx="482444" cy="701737"/>
          </a:xfrm>
          <a:prstGeom prst="rect">
            <a:avLst/>
          </a:prstGeom>
        </p:spPr>
      </p:pic>
      <p:sp>
        <p:nvSpPr>
          <p:cNvPr id="60" name="lockshield_10"/>
          <p:cNvSpPr/>
          <p:nvPr/>
        </p:nvSpPr>
        <p:spPr>
          <a:xfrm>
            <a:off x="347472" y="2014347"/>
            <a:ext cx="7406640" cy="301752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Egg Protein Membrane Market Price Positioning &amp; Key Findings</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Price positioning of each region on a common axis with TMR's key findings on where premiums and discounts sit</a:t>
            </a:r>
          </a:p>
        </p:txBody>
      </p:sp>
      <p:sp>
        <p:nvSpPr>
          <p:cNvPr id="7" name="Rounded Rectangle 6"/>
          <p:cNvSpPr/>
          <p:nvPr/>
        </p:nvSpPr>
        <p:spPr>
          <a:xfrm>
            <a:off x="142875" y="1007261"/>
            <a:ext cx="11906250" cy="255552"/>
          </a:xfrm>
          <a:prstGeom prst="roundRect">
            <a:avLst>
              <a:gd name="adj" fmla="val 29817"/>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Average selling price and price range by region on a shared price scale (US$/MT).</a:t>
            </a:r>
          </a:p>
        </p:txBody>
      </p:sp>
      <p:sp>
        <p:nvSpPr>
          <p:cNvPr id="8" name="Rounded Rectangle 7"/>
          <p:cNvSpPr/>
          <p:nvPr/>
        </p:nvSpPr>
        <p:spPr>
          <a:xfrm>
            <a:off x="142875" y="1317574"/>
            <a:ext cx="7696200" cy="5238811"/>
          </a:xfrm>
          <a:prstGeom prst="roundRect">
            <a:avLst>
              <a:gd name="adj" fmla="val 1454"/>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374724"/>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Average Price &amp; Range by Region</a:t>
            </a:r>
          </a:p>
        </p:txBody>
      </p:sp>
      <p:cxnSp>
        <p:nvCxnSpPr>
          <p:cNvPr id="10" name="Connector 9"/>
          <p:cNvCxnSpPr/>
          <p:nvPr/>
        </p:nvCxnSpPr>
        <p:spPr>
          <a:xfrm>
            <a:off x="1362075" y="1889074"/>
            <a:ext cx="0" cy="4381561"/>
          </a:xfrm>
          <a:prstGeom prst="line">
            <a:avLst/>
          </a:prstGeom>
          <a:ln w="6350">
            <a:solidFill>
              <a:srgbClr val="E3E8EC"/>
            </a:solidFill>
          </a:ln>
          <a:effectLst/>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1114425" y="6289685"/>
            <a:ext cx="495300" cy="114300"/>
          </a:xfrm>
          <a:prstGeom prst="rect">
            <a:avLst/>
          </a:prstGeom>
          <a:noFill/>
        </p:spPr>
        <p:txBody>
          <a:bodyPr wrap="square" lIns="28575" rIns="28575" tIns="9525" bIns="9525">
            <a:spAutoFit/>
          </a:bodyPr>
          <a:lstStyle/>
          <a:p>
            <a:pPr algn="ctr"/>
            <a:r>
              <a:rPr sz="1100" b="0">
                <a:solidFill>
                  <a:srgbClr val="6C7A89"/>
                </a:solidFill>
                <a:latin typeface="Calibri"/>
              </a:rPr>
              <a:t>11,386</a:t>
            </a:r>
          </a:p>
        </p:txBody>
      </p:sp>
      <p:cxnSp>
        <p:nvCxnSpPr>
          <p:cNvPr id="12" name="Connector 11"/>
          <p:cNvCxnSpPr/>
          <p:nvPr/>
        </p:nvCxnSpPr>
        <p:spPr>
          <a:xfrm>
            <a:off x="2611755" y="1889074"/>
            <a:ext cx="0" cy="4381561"/>
          </a:xfrm>
          <a:prstGeom prst="line">
            <a:avLst/>
          </a:prstGeom>
          <a:ln w="6350">
            <a:solidFill>
              <a:srgbClr val="E3E8EC"/>
            </a:solidFill>
          </a:ln>
          <a:effectLst/>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2364105" y="6289685"/>
            <a:ext cx="495300" cy="114300"/>
          </a:xfrm>
          <a:prstGeom prst="rect">
            <a:avLst/>
          </a:prstGeom>
          <a:noFill/>
        </p:spPr>
        <p:txBody>
          <a:bodyPr wrap="square" lIns="28575" rIns="28575" tIns="9525" bIns="9525">
            <a:spAutoFit/>
          </a:bodyPr>
          <a:lstStyle/>
          <a:p>
            <a:pPr algn="ctr"/>
            <a:r>
              <a:rPr sz="1100" b="0">
                <a:solidFill>
                  <a:srgbClr val="6C7A89"/>
                </a:solidFill>
                <a:latin typeface="Calibri"/>
              </a:rPr>
              <a:t>17,024</a:t>
            </a:r>
          </a:p>
        </p:txBody>
      </p:sp>
      <p:cxnSp>
        <p:nvCxnSpPr>
          <p:cNvPr id="14" name="Connector 13"/>
          <p:cNvCxnSpPr/>
          <p:nvPr/>
        </p:nvCxnSpPr>
        <p:spPr>
          <a:xfrm>
            <a:off x="3861435" y="1889074"/>
            <a:ext cx="0" cy="4381561"/>
          </a:xfrm>
          <a:prstGeom prst="line">
            <a:avLst/>
          </a:prstGeom>
          <a:ln w="6350">
            <a:solidFill>
              <a:srgbClr val="E3E8EC"/>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3613785" y="6289685"/>
            <a:ext cx="495300" cy="114300"/>
          </a:xfrm>
          <a:prstGeom prst="rect">
            <a:avLst/>
          </a:prstGeom>
          <a:noFill/>
        </p:spPr>
        <p:txBody>
          <a:bodyPr wrap="square" lIns="28575" rIns="28575" tIns="9525" bIns="9525">
            <a:spAutoFit/>
          </a:bodyPr>
          <a:lstStyle/>
          <a:p>
            <a:pPr algn="ctr"/>
            <a:r>
              <a:rPr sz="1100" b="0">
                <a:solidFill>
                  <a:srgbClr val="6C7A89"/>
                </a:solidFill>
                <a:latin typeface="Calibri"/>
              </a:rPr>
              <a:t>22,662</a:t>
            </a:r>
          </a:p>
        </p:txBody>
      </p:sp>
      <p:cxnSp>
        <p:nvCxnSpPr>
          <p:cNvPr id="16" name="Connector 15"/>
          <p:cNvCxnSpPr/>
          <p:nvPr/>
        </p:nvCxnSpPr>
        <p:spPr>
          <a:xfrm>
            <a:off x="5111115" y="1889074"/>
            <a:ext cx="0" cy="4381561"/>
          </a:xfrm>
          <a:prstGeom prst="line">
            <a:avLst/>
          </a:prstGeom>
          <a:ln w="6350">
            <a:solidFill>
              <a:srgbClr val="E3E8EC"/>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4863465" y="6289685"/>
            <a:ext cx="495300" cy="114300"/>
          </a:xfrm>
          <a:prstGeom prst="rect">
            <a:avLst/>
          </a:prstGeom>
          <a:noFill/>
        </p:spPr>
        <p:txBody>
          <a:bodyPr wrap="square" lIns="28575" rIns="28575" tIns="9525" bIns="9525">
            <a:spAutoFit/>
          </a:bodyPr>
          <a:lstStyle/>
          <a:p>
            <a:pPr algn="ctr"/>
            <a:r>
              <a:rPr sz="1100" b="0">
                <a:solidFill>
                  <a:srgbClr val="6C7A89"/>
                </a:solidFill>
                <a:latin typeface="Calibri"/>
              </a:rPr>
              <a:t>28,299</a:t>
            </a:r>
          </a:p>
        </p:txBody>
      </p:sp>
      <p:cxnSp>
        <p:nvCxnSpPr>
          <p:cNvPr id="18" name="Connector 17"/>
          <p:cNvCxnSpPr/>
          <p:nvPr/>
        </p:nvCxnSpPr>
        <p:spPr>
          <a:xfrm>
            <a:off x="6360795" y="1889074"/>
            <a:ext cx="0" cy="4381561"/>
          </a:xfrm>
          <a:prstGeom prst="line">
            <a:avLst/>
          </a:prstGeom>
          <a:ln w="6350">
            <a:solidFill>
              <a:srgbClr val="E3E8EC"/>
            </a:solidFill>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113145" y="6289685"/>
            <a:ext cx="495300" cy="114300"/>
          </a:xfrm>
          <a:prstGeom prst="rect">
            <a:avLst/>
          </a:prstGeom>
          <a:noFill/>
        </p:spPr>
        <p:txBody>
          <a:bodyPr wrap="square" lIns="28575" rIns="28575" tIns="9525" bIns="9525">
            <a:spAutoFit/>
          </a:bodyPr>
          <a:lstStyle/>
          <a:p>
            <a:pPr algn="ctr"/>
            <a:r>
              <a:rPr sz="1100" b="0">
                <a:solidFill>
                  <a:srgbClr val="6C7A89"/>
                </a:solidFill>
                <a:latin typeface="Calibri"/>
              </a:rPr>
              <a:t>33,937</a:t>
            </a:r>
          </a:p>
        </p:txBody>
      </p:sp>
      <p:cxnSp>
        <p:nvCxnSpPr>
          <p:cNvPr id="20" name="Connector 19"/>
          <p:cNvCxnSpPr/>
          <p:nvPr/>
        </p:nvCxnSpPr>
        <p:spPr>
          <a:xfrm>
            <a:off x="7610475" y="1889074"/>
            <a:ext cx="0" cy="4381561"/>
          </a:xfrm>
          <a:prstGeom prst="line">
            <a:avLst/>
          </a:prstGeom>
          <a:ln w="6350">
            <a:solidFill>
              <a:srgbClr val="E3E8EC"/>
            </a:solidFill>
          </a:ln>
          <a:effectLst/>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7362825" y="6289685"/>
            <a:ext cx="495300" cy="114300"/>
          </a:xfrm>
          <a:prstGeom prst="rect">
            <a:avLst/>
          </a:prstGeom>
          <a:noFill/>
        </p:spPr>
        <p:txBody>
          <a:bodyPr wrap="square" lIns="28575" rIns="28575" tIns="9525" bIns="9525">
            <a:spAutoFit/>
          </a:bodyPr>
          <a:lstStyle/>
          <a:p>
            <a:pPr algn="ctr"/>
            <a:r>
              <a:rPr sz="1100" b="0">
                <a:solidFill>
                  <a:srgbClr val="6C7A89"/>
                </a:solidFill>
                <a:latin typeface="Calibri"/>
              </a:rPr>
              <a:t>39,575</a:t>
            </a:r>
          </a:p>
        </p:txBody>
      </p:sp>
      <p:sp>
        <p:nvSpPr>
          <p:cNvPr id="22" name="TextBox 21"/>
          <p:cNvSpPr txBox="1"/>
          <p:nvPr/>
        </p:nvSpPr>
        <p:spPr>
          <a:xfrm>
            <a:off x="238125" y="2203404"/>
            <a:ext cx="1066800" cy="171450"/>
          </a:xfrm>
          <a:prstGeom prst="rect">
            <a:avLst/>
          </a:prstGeom>
          <a:noFill/>
        </p:spPr>
        <p:txBody>
          <a:bodyPr wrap="square" lIns="28575" rIns="28575" tIns="9525" bIns="9525" anchor="ctr">
            <a:spAutoFit/>
          </a:bodyPr>
          <a:lstStyle/>
          <a:p>
            <a:pPr algn="l"/>
            <a:r>
              <a:rPr sz="1100" b="1">
                <a:solidFill>
                  <a:srgbClr val="0E2A5C"/>
                </a:solidFill>
                <a:latin typeface="Calibri"/>
              </a:rPr>
              <a:t>North America</a:t>
            </a:r>
          </a:p>
        </p:txBody>
      </p:sp>
      <p:sp>
        <p:nvSpPr>
          <p:cNvPr id="23" name="Rectangle 22"/>
          <p:cNvSpPr/>
          <p:nvPr/>
        </p:nvSpPr>
        <p:spPr>
          <a:xfrm>
            <a:off x="5888395" y="2100912"/>
            <a:ext cx="1038661" cy="376433"/>
          </a:xfrm>
          <a:prstGeom prst="rect">
            <a:avLst/>
          </a:prstGeom>
          <a:solidFill>
            <a:srgbClr val="CFE7F5"/>
          </a:solidFill>
          <a:ln w="12700">
            <a:solidFill>
              <a:srgbClr val="7FBE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267451" y="2227217"/>
            <a:ext cx="123825" cy="123825"/>
          </a:xfrm>
          <a:prstGeom prst="ellipse">
            <a:avLst/>
          </a:prstGeom>
          <a:solidFill>
            <a:srgbClr val="F2994A"/>
          </a:solidFill>
          <a:ln w="12700">
            <a:solidFill>
              <a:srgbClr val="B970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38125" y="2927314"/>
            <a:ext cx="1066800" cy="171450"/>
          </a:xfrm>
          <a:prstGeom prst="rect">
            <a:avLst/>
          </a:prstGeom>
          <a:noFill/>
        </p:spPr>
        <p:txBody>
          <a:bodyPr wrap="square" lIns="28575" rIns="28575" tIns="9525" bIns="9525" anchor="ctr">
            <a:spAutoFit/>
          </a:bodyPr>
          <a:lstStyle/>
          <a:p>
            <a:pPr algn="l"/>
            <a:r>
              <a:rPr sz="1100" b="1">
                <a:solidFill>
                  <a:srgbClr val="0E2A5C"/>
                </a:solidFill>
                <a:latin typeface="Calibri"/>
              </a:rPr>
              <a:t>Latin America</a:t>
            </a:r>
          </a:p>
        </p:txBody>
      </p:sp>
      <p:sp>
        <p:nvSpPr>
          <p:cNvPr id="26" name="Rectangle 25"/>
          <p:cNvSpPr/>
          <p:nvPr/>
        </p:nvSpPr>
        <p:spPr>
          <a:xfrm>
            <a:off x="3784005" y="2824823"/>
            <a:ext cx="732425" cy="376433"/>
          </a:xfrm>
          <a:prstGeom prst="rect">
            <a:avLst/>
          </a:prstGeom>
          <a:solidFill>
            <a:srgbClr val="CFE7F5"/>
          </a:solidFill>
          <a:ln w="12700">
            <a:solidFill>
              <a:srgbClr val="7FBE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4030253" y="2951127"/>
            <a:ext cx="123825" cy="123825"/>
          </a:xfrm>
          <a:prstGeom prst="ellipse">
            <a:avLst/>
          </a:prstGeom>
          <a:solidFill>
            <a:srgbClr val="F2994A"/>
          </a:solidFill>
          <a:ln w="12700">
            <a:solidFill>
              <a:srgbClr val="B970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38125" y="3651224"/>
            <a:ext cx="1066800" cy="171450"/>
          </a:xfrm>
          <a:prstGeom prst="rect">
            <a:avLst/>
          </a:prstGeom>
          <a:noFill/>
        </p:spPr>
        <p:txBody>
          <a:bodyPr wrap="square" lIns="28575" rIns="28575" tIns="9525" bIns="9525" anchor="ctr">
            <a:spAutoFit/>
          </a:bodyPr>
          <a:lstStyle/>
          <a:p>
            <a:pPr algn="l"/>
            <a:r>
              <a:rPr sz="1100" b="1">
                <a:solidFill>
                  <a:srgbClr val="0E2A5C"/>
                </a:solidFill>
                <a:latin typeface="Calibri"/>
              </a:rPr>
              <a:t>Europe</a:t>
            </a:r>
          </a:p>
        </p:txBody>
      </p:sp>
      <p:sp>
        <p:nvSpPr>
          <p:cNvPr id="29" name="Rectangle 28"/>
          <p:cNvSpPr/>
          <p:nvPr/>
        </p:nvSpPr>
        <p:spPr>
          <a:xfrm>
            <a:off x="5134398" y="3548733"/>
            <a:ext cx="961258" cy="376433"/>
          </a:xfrm>
          <a:prstGeom prst="rect">
            <a:avLst/>
          </a:prstGeom>
          <a:solidFill>
            <a:srgbClr val="CFE7F5"/>
          </a:solidFill>
          <a:ln w="12700">
            <a:solidFill>
              <a:srgbClr val="7FBE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5481472" y="3675037"/>
            <a:ext cx="123825" cy="123825"/>
          </a:xfrm>
          <a:prstGeom prst="ellipse">
            <a:avLst/>
          </a:prstGeom>
          <a:solidFill>
            <a:srgbClr val="F2994A"/>
          </a:solidFill>
          <a:ln w="12700">
            <a:solidFill>
              <a:srgbClr val="B970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38125" y="4375135"/>
            <a:ext cx="1066800" cy="171450"/>
          </a:xfrm>
          <a:prstGeom prst="rect">
            <a:avLst/>
          </a:prstGeom>
          <a:noFill/>
        </p:spPr>
        <p:txBody>
          <a:bodyPr wrap="square" lIns="28575" rIns="28575" tIns="9525" bIns="9525" anchor="ctr">
            <a:spAutoFit/>
          </a:bodyPr>
          <a:lstStyle/>
          <a:p>
            <a:pPr algn="l"/>
            <a:r>
              <a:rPr sz="1100" b="1">
                <a:solidFill>
                  <a:srgbClr val="0E2A5C"/>
                </a:solidFill>
                <a:latin typeface="Calibri"/>
              </a:rPr>
              <a:t>East Asia</a:t>
            </a:r>
          </a:p>
        </p:txBody>
      </p:sp>
      <p:sp>
        <p:nvSpPr>
          <p:cNvPr id="32" name="Rectangle 31"/>
          <p:cNvSpPr/>
          <p:nvPr/>
        </p:nvSpPr>
        <p:spPr>
          <a:xfrm>
            <a:off x="2522853" y="4272643"/>
            <a:ext cx="570082" cy="376433"/>
          </a:xfrm>
          <a:prstGeom prst="rect">
            <a:avLst/>
          </a:prstGeom>
          <a:solidFill>
            <a:srgbClr val="CFE7F5"/>
          </a:solidFill>
          <a:ln w="12700">
            <a:solidFill>
              <a:srgbClr val="7FBE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2703710" y="4398947"/>
            <a:ext cx="123825" cy="123825"/>
          </a:xfrm>
          <a:prstGeom prst="ellipse">
            <a:avLst/>
          </a:prstGeom>
          <a:solidFill>
            <a:srgbClr val="F2994A"/>
          </a:solidFill>
          <a:ln w="12700">
            <a:solidFill>
              <a:srgbClr val="B970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38125" y="5099045"/>
            <a:ext cx="1066800" cy="171450"/>
          </a:xfrm>
          <a:prstGeom prst="rect">
            <a:avLst/>
          </a:prstGeom>
          <a:noFill/>
        </p:spPr>
        <p:txBody>
          <a:bodyPr wrap="square" lIns="28575" rIns="28575" tIns="9525" bIns="9525" anchor="ctr">
            <a:spAutoFit/>
          </a:bodyPr>
          <a:lstStyle/>
          <a:p>
            <a:pPr algn="l"/>
            <a:r>
              <a:rPr sz="1100" b="1">
                <a:solidFill>
                  <a:srgbClr val="0E2A5C"/>
                </a:solidFill>
                <a:latin typeface="Calibri"/>
              </a:rPr>
              <a:t>South Asia &amp; Pacific</a:t>
            </a:r>
          </a:p>
        </p:txBody>
      </p:sp>
      <p:sp>
        <p:nvSpPr>
          <p:cNvPr id="35" name="Rectangle 34"/>
          <p:cNvSpPr/>
          <p:nvPr/>
        </p:nvSpPr>
        <p:spPr>
          <a:xfrm>
            <a:off x="2045494" y="4996553"/>
            <a:ext cx="486502" cy="376433"/>
          </a:xfrm>
          <a:prstGeom prst="rect">
            <a:avLst/>
          </a:prstGeom>
          <a:solidFill>
            <a:srgbClr val="CFE7F5"/>
          </a:solidFill>
          <a:ln w="12700">
            <a:solidFill>
              <a:srgbClr val="7FBE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2189112" y="5122857"/>
            <a:ext cx="123825" cy="123825"/>
          </a:xfrm>
          <a:prstGeom prst="ellipse">
            <a:avLst/>
          </a:prstGeom>
          <a:solidFill>
            <a:srgbClr val="F2994A"/>
          </a:solidFill>
          <a:ln w="12700">
            <a:solidFill>
              <a:srgbClr val="B970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38125" y="5822955"/>
            <a:ext cx="1066800" cy="171450"/>
          </a:xfrm>
          <a:prstGeom prst="rect">
            <a:avLst/>
          </a:prstGeom>
          <a:noFill/>
        </p:spPr>
        <p:txBody>
          <a:bodyPr wrap="square" lIns="28575" rIns="28575" tIns="9525" bIns="9525" anchor="ctr">
            <a:spAutoFit/>
          </a:bodyPr>
          <a:lstStyle/>
          <a:p>
            <a:pPr algn="l"/>
            <a:r>
              <a:rPr sz="1100" b="1">
                <a:solidFill>
                  <a:srgbClr val="0E2A5C"/>
                </a:solidFill>
                <a:latin typeface="Calibri"/>
              </a:rPr>
              <a:t>Middle East and Africa</a:t>
            </a:r>
          </a:p>
        </p:txBody>
      </p:sp>
      <p:sp>
        <p:nvSpPr>
          <p:cNvPr id="38" name="Rectangle 37"/>
          <p:cNvSpPr/>
          <p:nvPr/>
        </p:nvSpPr>
        <p:spPr>
          <a:xfrm>
            <a:off x="3623260" y="5720463"/>
            <a:ext cx="721464" cy="376433"/>
          </a:xfrm>
          <a:prstGeom prst="rect">
            <a:avLst/>
          </a:prstGeom>
          <a:solidFill>
            <a:srgbClr val="CFE7F5"/>
          </a:solidFill>
          <a:ln w="12700">
            <a:solidFill>
              <a:srgbClr val="7FBE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3864465" y="5846768"/>
            <a:ext cx="123825" cy="123825"/>
          </a:xfrm>
          <a:prstGeom prst="ellipse">
            <a:avLst/>
          </a:prstGeom>
          <a:solidFill>
            <a:srgbClr val="F2994A"/>
          </a:solidFill>
          <a:ln w="12700">
            <a:solidFill>
              <a:srgbClr val="B970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1362075" y="1727149"/>
            <a:ext cx="114300" cy="114300"/>
          </a:xfrm>
          <a:prstGeom prst="ellipse">
            <a:avLst/>
          </a:prstGeom>
          <a:solidFill>
            <a:srgbClr val="F2994A"/>
          </a:solidFill>
          <a:ln w="12700">
            <a:solidFill>
              <a:srgbClr val="B970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495425" y="1717624"/>
            <a:ext cx="838200" cy="133350"/>
          </a:xfrm>
          <a:prstGeom prst="rect">
            <a:avLst/>
          </a:prstGeom>
          <a:noFill/>
        </p:spPr>
        <p:txBody>
          <a:bodyPr wrap="square" lIns="28575" rIns="28575" tIns="9525" bIns="9525">
            <a:spAutoFit/>
          </a:bodyPr>
          <a:lstStyle/>
          <a:p>
            <a:pPr algn="l"/>
            <a:r>
              <a:rPr sz="1100" b="0">
                <a:solidFill>
                  <a:srgbClr val="2E2E2E"/>
                </a:solidFill>
                <a:latin typeface="Calibri"/>
              </a:rPr>
              <a:t>Average Price</a:t>
            </a:r>
          </a:p>
        </p:txBody>
      </p:sp>
      <p:sp>
        <p:nvSpPr>
          <p:cNvPr id="42" name="Rectangle 41"/>
          <p:cNvSpPr/>
          <p:nvPr/>
        </p:nvSpPr>
        <p:spPr>
          <a:xfrm>
            <a:off x="2390775" y="1736674"/>
            <a:ext cx="190500" cy="114300"/>
          </a:xfrm>
          <a:prstGeom prst="rect">
            <a:avLst/>
          </a:prstGeom>
          <a:solidFill>
            <a:srgbClr val="CFE7F5"/>
          </a:solidFill>
          <a:ln w="12700">
            <a:solidFill>
              <a:srgbClr val="7FBE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2619375" y="1717624"/>
            <a:ext cx="800100" cy="133350"/>
          </a:xfrm>
          <a:prstGeom prst="rect">
            <a:avLst/>
          </a:prstGeom>
          <a:noFill/>
        </p:spPr>
        <p:txBody>
          <a:bodyPr wrap="square" lIns="28575" rIns="28575" tIns="9525" bIns="9525">
            <a:spAutoFit/>
          </a:bodyPr>
          <a:lstStyle/>
          <a:p>
            <a:pPr algn="l"/>
            <a:r>
              <a:rPr sz="1100" b="0">
                <a:solidFill>
                  <a:srgbClr val="2E2E2E"/>
                </a:solidFill>
                <a:latin typeface="Calibri"/>
              </a:rPr>
              <a:t>Price Range</a:t>
            </a:r>
          </a:p>
        </p:txBody>
      </p:sp>
      <p:sp>
        <p:nvSpPr>
          <p:cNvPr id="44" name="Rounded Rectangle 43"/>
          <p:cNvSpPr/>
          <p:nvPr/>
        </p:nvSpPr>
        <p:spPr>
          <a:xfrm>
            <a:off x="7915275" y="1317574"/>
            <a:ext cx="4133850" cy="3924545"/>
          </a:xfrm>
          <a:prstGeom prst="roundRect">
            <a:avLst>
              <a:gd name="adj" fmla="val 1941"/>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048625" y="1403299"/>
            <a:ext cx="3867150" cy="209550"/>
          </a:xfrm>
          <a:prstGeom prst="rect">
            <a:avLst/>
          </a:prstGeom>
          <a:noFill/>
        </p:spPr>
        <p:txBody>
          <a:bodyPr wrap="square" lIns="0" rIns="19050" tIns="9525" bIns="9525">
            <a:spAutoFit/>
          </a:bodyPr>
          <a:lstStyle/>
          <a:p>
            <a:pPr algn="l"/>
            <a:r>
              <a:rPr sz="1300" b="1">
                <a:solidFill>
                  <a:srgbClr val="0E2A5C"/>
                </a:solidFill>
                <a:latin typeface="Calibri"/>
              </a:rPr>
              <a:t>Key Findings</a:t>
            </a:r>
          </a:p>
        </p:txBody>
      </p:sp>
      <p:sp>
        <p:nvSpPr>
          <p:cNvPr id="46" name="Rectangle 45"/>
          <p:cNvSpPr/>
          <p:nvPr/>
        </p:nvSpPr>
        <p:spPr>
          <a:xfrm>
            <a:off x="8048625" y="1641424"/>
            <a:ext cx="38671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048625" y="1727149"/>
            <a:ext cx="3867150" cy="343877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48" name="Rounded Rectangle 47"/>
          <p:cNvSpPr/>
          <p:nvPr/>
        </p:nvSpPr>
        <p:spPr>
          <a:xfrm>
            <a:off x="7915275" y="5351641"/>
            <a:ext cx="4133850" cy="1204744"/>
          </a:xfrm>
          <a:prstGeom prst="roundRect">
            <a:avLst>
              <a:gd name="adj" fmla="val 6324"/>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Note: the above information is indicative in nature and does not constitute any form of analysis.</a:t>
            </a:r>
          </a:p>
        </p:txBody>
      </p:sp>
      <p:sp>
        <p:nvSpPr>
          <p:cNvPr id="49" name="Rectangle 48"/>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
        <p:nvSpPr>
          <p:cNvPr id="51" name="TextBox 50"/>
          <p:cNvSpPr txBox="1"/>
          <p:nvPr/>
        </p:nvSpPr>
        <p:spPr>
          <a:xfrm>
            <a:off x="8048625" y="1736673"/>
            <a:ext cx="3639591" cy="194310"/>
          </a:xfrm>
          <a:prstGeom prst="rect">
            <a:avLst/>
          </a:prstGeom>
          <a:noFill/>
        </p:spPr>
        <p:txBody>
          <a:bodyPr wrap="none" lIns="0" rIns="0" tIns="0" bIns="0">
            <a:spAutoFit/>
          </a:bodyPr>
          <a:lstStyle/>
          <a:p>
            <a:r>
              <a:rPr sz="1150" b="0">
                <a:solidFill>
                  <a:srgbClr val="2E2E2E"/>
                </a:solidFill>
                <a:latin typeface="Calibri"/>
              </a:rPr>
              <a:t>Specialty extracted protein fractions segment is expected to</a:t>
            </a:r>
          </a:p>
        </p:txBody>
      </p:sp>
      <p:sp>
        <p:nvSpPr>
          <p:cNvPr id="52" name="TextBox 51"/>
          <p:cNvSpPr txBox="1"/>
          <p:nvPr/>
        </p:nvSpPr>
        <p:spPr>
          <a:xfrm>
            <a:off x="8048625" y="1911934"/>
            <a:ext cx="2627225" cy="194310"/>
          </a:xfrm>
          <a:prstGeom prst="rect">
            <a:avLst/>
          </a:prstGeom>
          <a:noFill/>
        </p:spPr>
        <p:txBody>
          <a:bodyPr wrap="none" lIns="0" rIns="0" tIns="0" bIns="0">
            <a:spAutoFit/>
          </a:bodyPr>
          <a:lstStyle/>
          <a:p>
            <a:r>
              <a:rPr sz="1150" b="0">
                <a:solidFill>
                  <a:srgbClr val="2E2E2E"/>
                </a:solidFill>
                <a:latin typeface="Calibri"/>
              </a:rPr>
              <a:t>command the highest average price of US$</a:t>
            </a:r>
          </a:p>
        </p:txBody>
      </p:sp>
      <p:pic>
        <p:nvPicPr>
          <p:cNvPr id="53" name="Picture 52" descr="lock.png"/>
          <p:cNvPicPr>
            <a:picLocks noChangeAspect="1"/>
          </p:cNvPicPr>
          <p:nvPr/>
        </p:nvPicPr>
        <p:blipFill>
          <a:blip r:embed="rId4"/>
          <a:stretch>
            <a:fillRect/>
          </a:stretch>
        </p:blipFill>
        <p:spPr>
          <a:xfrm>
            <a:off x="10625004" y="1901710"/>
            <a:ext cx="134549" cy="195707"/>
          </a:xfrm>
          <a:prstGeom prst="rect">
            <a:avLst/>
          </a:prstGeom>
        </p:spPr>
      </p:pic>
      <p:sp>
        <p:nvSpPr>
          <p:cNvPr id="54" name="TextBox 53"/>
          <p:cNvSpPr txBox="1"/>
          <p:nvPr/>
        </p:nvSpPr>
        <p:spPr>
          <a:xfrm>
            <a:off x="10800113" y="1911934"/>
            <a:ext cx="1016111" cy="194310"/>
          </a:xfrm>
          <a:prstGeom prst="rect">
            <a:avLst/>
          </a:prstGeom>
          <a:noFill/>
        </p:spPr>
        <p:txBody>
          <a:bodyPr wrap="none" lIns="0" rIns="0" tIns="0" bIns="0">
            <a:spAutoFit/>
          </a:bodyPr>
          <a:lstStyle/>
          <a:p>
            <a:r>
              <a:rPr sz="1150" b="0">
                <a:solidFill>
                  <a:srgbClr val="2E2E2E"/>
                </a:solidFill>
                <a:latin typeface="Calibri"/>
              </a:rPr>
              <a:t>per MT in 2036.</a:t>
            </a:r>
          </a:p>
        </p:txBody>
      </p:sp>
      <p:sp>
        <p:nvSpPr>
          <p:cNvPr id="55" name="TextBox 54"/>
          <p:cNvSpPr txBox="1"/>
          <p:nvPr/>
        </p:nvSpPr>
        <p:spPr>
          <a:xfrm>
            <a:off x="8048625" y="2087194"/>
            <a:ext cx="3761069" cy="194310"/>
          </a:xfrm>
          <a:prstGeom prst="rect">
            <a:avLst/>
          </a:prstGeom>
          <a:noFill/>
        </p:spPr>
        <p:txBody>
          <a:bodyPr wrap="none" lIns="0" rIns="0" tIns="0" bIns="0">
            <a:spAutoFit/>
          </a:bodyPr>
          <a:lstStyle/>
          <a:p>
            <a:r>
              <a:rPr sz="1150" b="0">
                <a:solidFill>
                  <a:srgbClr val="2E2E2E"/>
                </a:solidFill>
                <a:latin typeface="Calibri"/>
              </a:rPr>
              <a:t>Average selling price of egg protein membrane is estimated at</a:t>
            </a:r>
          </a:p>
        </p:txBody>
      </p:sp>
      <p:sp>
        <p:nvSpPr>
          <p:cNvPr id="56" name="TextBox 55"/>
          <p:cNvSpPr txBox="1"/>
          <p:nvPr/>
        </p:nvSpPr>
        <p:spPr>
          <a:xfrm>
            <a:off x="8048625" y="2262454"/>
            <a:ext cx="311249" cy="194310"/>
          </a:xfrm>
          <a:prstGeom prst="rect">
            <a:avLst/>
          </a:prstGeom>
          <a:noFill/>
        </p:spPr>
        <p:txBody>
          <a:bodyPr wrap="none" lIns="0" rIns="0" tIns="0" bIns="0">
            <a:spAutoFit/>
          </a:bodyPr>
          <a:lstStyle/>
          <a:p>
            <a:r>
              <a:rPr sz="1150" b="0">
                <a:solidFill>
                  <a:srgbClr val="2E2E2E"/>
                </a:solidFill>
                <a:latin typeface="Calibri"/>
              </a:rPr>
              <a:t>US$</a:t>
            </a:r>
          </a:p>
        </p:txBody>
      </p:sp>
      <p:pic>
        <p:nvPicPr>
          <p:cNvPr id="57" name="Picture 56" descr="lock.png"/>
          <p:cNvPicPr>
            <a:picLocks noChangeAspect="1"/>
          </p:cNvPicPr>
          <p:nvPr/>
        </p:nvPicPr>
        <p:blipFill>
          <a:blip r:embed="rId4"/>
          <a:stretch>
            <a:fillRect/>
          </a:stretch>
        </p:blipFill>
        <p:spPr>
          <a:xfrm>
            <a:off x="8309028" y="2252230"/>
            <a:ext cx="134549" cy="195707"/>
          </a:xfrm>
          <a:prstGeom prst="rect">
            <a:avLst/>
          </a:prstGeom>
        </p:spPr>
      </p:pic>
      <p:sp>
        <p:nvSpPr>
          <p:cNvPr id="58" name="TextBox 57"/>
          <p:cNvSpPr txBox="1"/>
          <p:nvPr/>
        </p:nvSpPr>
        <p:spPr>
          <a:xfrm>
            <a:off x="8484137" y="2262454"/>
            <a:ext cx="3081064" cy="194310"/>
          </a:xfrm>
          <a:prstGeom prst="rect">
            <a:avLst/>
          </a:prstGeom>
          <a:noFill/>
        </p:spPr>
        <p:txBody>
          <a:bodyPr wrap="none" lIns="0" rIns="0" tIns="0" bIns="0">
            <a:spAutoFit/>
          </a:bodyPr>
          <a:lstStyle/>
          <a:p>
            <a:r>
              <a:rPr sz="1150" b="0">
                <a:solidFill>
                  <a:srgbClr val="2E2E2E"/>
                </a:solidFill>
                <a:latin typeface="Calibri"/>
              </a:rPr>
              <a:t>per MT in 2025 and is projected to increase to US$</a:t>
            </a:r>
          </a:p>
        </p:txBody>
      </p:sp>
      <p:pic>
        <p:nvPicPr>
          <p:cNvPr id="59" name="Picture 58" descr="lock.png"/>
          <p:cNvPicPr>
            <a:picLocks noChangeAspect="1"/>
          </p:cNvPicPr>
          <p:nvPr/>
        </p:nvPicPr>
        <p:blipFill>
          <a:blip r:embed="rId4"/>
          <a:stretch>
            <a:fillRect/>
          </a:stretch>
        </p:blipFill>
        <p:spPr>
          <a:xfrm>
            <a:off x="11514356" y="2252230"/>
            <a:ext cx="134549" cy="195707"/>
          </a:xfrm>
          <a:prstGeom prst="rect">
            <a:avLst/>
          </a:prstGeom>
        </p:spPr>
      </p:pic>
      <p:sp>
        <p:nvSpPr>
          <p:cNvPr id="60" name="TextBox 59"/>
          <p:cNvSpPr txBox="1"/>
          <p:nvPr/>
        </p:nvSpPr>
        <p:spPr>
          <a:xfrm>
            <a:off x="8048625" y="2437714"/>
            <a:ext cx="1048630" cy="194310"/>
          </a:xfrm>
          <a:prstGeom prst="rect">
            <a:avLst/>
          </a:prstGeom>
          <a:noFill/>
        </p:spPr>
        <p:txBody>
          <a:bodyPr wrap="none" lIns="0" rIns="0" tIns="0" bIns="0">
            <a:spAutoFit/>
          </a:bodyPr>
          <a:lstStyle/>
          <a:p>
            <a:r>
              <a:rPr sz="1150" b="0">
                <a:solidFill>
                  <a:srgbClr val="2E2E2E"/>
                </a:solidFill>
                <a:latin typeface="Calibri"/>
              </a:rPr>
              <a:t>per MT by 2036.</a:t>
            </a:r>
          </a:p>
        </p:txBody>
      </p:sp>
      <p:sp>
        <p:nvSpPr>
          <p:cNvPr id="61" name="TextBox 60"/>
          <p:cNvSpPr txBox="1"/>
          <p:nvPr/>
        </p:nvSpPr>
        <p:spPr>
          <a:xfrm>
            <a:off x="8048625" y="2665551"/>
            <a:ext cx="3783074" cy="194310"/>
          </a:xfrm>
          <a:prstGeom prst="rect">
            <a:avLst/>
          </a:prstGeom>
          <a:noFill/>
        </p:spPr>
        <p:txBody>
          <a:bodyPr wrap="none" lIns="0" rIns="0" tIns="0" bIns="0">
            <a:spAutoFit/>
          </a:bodyPr>
          <a:lstStyle/>
          <a:p>
            <a:r>
              <a:rPr sz="1150" b="0">
                <a:solidFill>
                  <a:srgbClr val="2E2E2E"/>
                </a:solidFill>
                <a:latin typeface="Calibri"/>
              </a:rPr>
              <a:t>North America is the highest-priced region, while South Asia &amp;</a:t>
            </a:r>
          </a:p>
        </p:txBody>
      </p:sp>
      <p:sp>
        <p:nvSpPr>
          <p:cNvPr id="62" name="TextBox 61"/>
          <p:cNvSpPr txBox="1"/>
          <p:nvPr/>
        </p:nvSpPr>
        <p:spPr>
          <a:xfrm>
            <a:off x="8048625" y="2840811"/>
            <a:ext cx="3787353" cy="194310"/>
          </a:xfrm>
          <a:prstGeom prst="rect">
            <a:avLst/>
          </a:prstGeom>
          <a:noFill/>
        </p:spPr>
        <p:txBody>
          <a:bodyPr wrap="none" lIns="0" rIns="0" tIns="0" bIns="0">
            <a:spAutoFit/>
          </a:bodyPr>
          <a:lstStyle/>
          <a:p>
            <a:r>
              <a:rPr sz="1150" b="0">
                <a:solidFill>
                  <a:srgbClr val="2E2E2E"/>
                </a:solidFill>
                <a:latin typeface="Calibri"/>
              </a:rPr>
              <a:t>Pacific is the most price-competitive market. The orange dot is</a:t>
            </a:r>
          </a:p>
        </p:txBody>
      </p:sp>
      <p:sp>
        <p:nvSpPr>
          <p:cNvPr id="63" name="TextBox 62"/>
          <p:cNvSpPr txBox="1"/>
          <p:nvPr/>
        </p:nvSpPr>
        <p:spPr>
          <a:xfrm>
            <a:off x="8048625" y="3016071"/>
            <a:ext cx="3517503" cy="194310"/>
          </a:xfrm>
          <a:prstGeom prst="rect">
            <a:avLst/>
          </a:prstGeom>
          <a:noFill/>
        </p:spPr>
        <p:txBody>
          <a:bodyPr wrap="none" lIns="0" rIns="0" tIns="0" bIns="0">
            <a:spAutoFit/>
          </a:bodyPr>
          <a:lstStyle/>
          <a:p>
            <a:r>
              <a:rPr sz="1150" b="0">
                <a:solidFill>
                  <a:srgbClr val="2E2E2E"/>
                </a:solidFill>
                <a:latin typeface="Calibri"/>
              </a:rPr>
              <a:t>each region's average selling price; the blue band is its full</a:t>
            </a:r>
          </a:p>
        </p:txBody>
      </p:sp>
      <p:sp>
        <p:nvSpPr>
          <p:cNvPr id="64" name="TextBox 63"/>
          <p:cNvSpPr txBox="1"/>
          <p:nvPr/>
        </p:nvSpPr>
        <p:spPr>
          <a:xfrm>
            <a:off x="8048625" y="3191331"/>
            <a:ext cx="3318395" cy="194310"/>
          </a:xfrm>
          <a:prstGeom prst="rect">
            <a:avLst/>
          </a:prstGeom>
          <a:noFill/>
        </p:spPr>
        <p:txBody>
          <a:bodyPr wrap="none" lIns="0" rIns="0" tIns="0" bIns="0">
            <a:spAutoFit/>
          </a:bodyPr>
          <a:lstStyle/>
          <a:p>
            <a:r>
              <a:rPr sz="1150" b="0">
                <a:solidFill>
                  <a:srgbClr val="2E2E2E"/>
                </a:solidFill>
                <a:latin typeface="Calibri"/>
              </a:rPr>
              <a:t>low-to-high price range, all derived as Value ÷ Volume.</a:t>
            </a:r>
          </a:p>
        </p:txBody>
      </p:sp>
      <p:sp>
        <p:nvSpPr>
          <p:cNvPr id="65" name="TextBox 64"/>
          <p:cNvSpPr txBox="1"/>
          <p:nvPr/>
        </p:nvSpPr>
        <p:spPr>
          <a:xfrm>
            <a:off x="8048625" y="3419169"/>
            <a:ext cx="3691793" cy="194310"/>
          </a:xfrm>
          <a:prstGeom prst="rect">
            <a:avLst/>
          </a:prstGeom>
          <a:noFill/>
        </p:spPr>
        <p:txBody>
          <a:bodyPr wrap="none" lIns="0" rIns="0" tIns="0" bIns="0">
            <a:spAutoFit/>
          </a:bodyPr>
          <a:lstStyle/>
          <a:p>
            <a:r>
              <a:rPr sz="1150" b="0">
                <a:solidFill>
                  <a:srgbClr val="2E2E2E"/>
                </a:solidFill>
                <a:latin typeface="Calibri"/>
              </a:rPr>
              <a:t>Narrow bands point to commoditised, price-led competition;</a:t>
            </a:r>
          </a:p>
        </p:txBody>
      </p:sp>
      <p:sp>
        <p:nvSpPr>
          <p:cNvPr id="66" name="TextBox 65"/>
          <p:cNvSpPr txBox="1"/>
          <p:nvPr/>
        </p:nvSpPr>
        <p:spPr>
          <a:xfrm>
            <a:off x="8048625" y="3594429"/>
            <a:ext cx="3812170" cy="194310"/>
          </a:xfrm>
          <a:prstGeom prst="rect">
            <a:avLst/>
          </a:prstGeom>
          <a:noFill/>
        </p:spPr>
        <p:txBody>
          <a:bodyPr wrap="none" lIns="0" rIns="0" tIns="0" bIns="0">
            <a:spAutoFit/>
          </a:bodyPr>
          <a:lstStyle/>
          <a:p>
            <a:r>
              <a:rPr sz="1150" b="0">
                <a:solidFill>
                  <a:srgbClr val="2E2E2E"/>
                </a:solidFill>
                <a:latin typeface="Calibri"/>
              </a:rPr>
              <a:t>wider bands flag premiumisation headroom to trade buyers up</a:t>
            </a:r>
          </a:p>
        </p:txBody>
      </p:sp>
      <p:sp>
        <p:nvSpPr>
          <p:cNvPr id="67" name="TextBox 66"/>
          <p:cNvSpPr txBox="1"/>
          <p:nvPr/>
        </p:nvSpPr>
        <p:spPr>
          <a:xfrm>
            <a:off x="8048625" y="3769689"/>
            <a:ext cx="558279" cy="194310"/>
          </a:xfrm>
          <a:prstGeom prst="rect">
            <a:avLst/>
          </a:prstGeom>
          <a:noFill/>
        </p:spPr>
        <p:txBody>
          <a:bodyPr wrap="none" lIns="0" rIns="0" tIns="0" bIns="0">
            <a:spAutoFit/>
          </a:bodyPr>
          <a:lstStyle/>
          <a:p>
            <a:r>
              <a:rPr sz="1150" b="0">
                <a:solidFill>
                  <a:srgbClr val="2E2E2E"/>
                </a:solidFill>
                <a:latin typeface="Calibri"/>
              </a:rPr>
              <a:t>the mix.</a:t>
            </a:r>
          </a:p>
        </p:txBody>
      </p:sp>
    </p:spTree>
  </p:cSld>
  <p:clrMapOvr>
    <a:masterClrMapping/>
  </p:clrMapOvr>
</p:sld>
</file>

<file path=ppt/slides/slide2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Key Pricing Drivers Influencing Egg Protein Membrane Market</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input costs, market conditions and competitive forces shaping pricing strategies and profitability</a:t>
            </a:r>
          </a:p>
        </p:txBody>
      </p:sp>
      <p:sp>
        <p:nvSpPr>
          <p:cNvPr id="7" name="Rounded Rectangle 6"/>
          <p:cNvSpPr/>
          <p:nvPr/>
        </p:nvSpPr>
        <p:spPr>
          <a:xfrm>
            <a:off x="142875" y="1007261"/>
            <a:ext cx="11906250" cy="273805"/>
          </a:xfrm>
          <a:prstGeom prst="roundRect">
            <a:avLst>
              <a:gd name="adj" fmla="val 2782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Analysis of input costs, market conditions, and competitive forces shaping pricing strategies and profitability across the value chain</a:t>
            </a:r>
          </a:p>
        </p:txBody>
      </p:sp>
      <p:sp>
        <p:nvSpPr>
          <p:cNvPr id="8" name="Rounded Rectangle 7"/>
          <p:cNvSpPr/>
          <p:nvPr/>
        </p:nvSpPr>
        <p:spPr>
          <a:xfrm>
            <a:off x="142875" y="1354081"/>
            <a:ext cx="7029450" cy="5220558"/>
          </a:xfrm>
          <a:prstGeom prst="roundRect">
            <a:avLst>
              <a:gd name="adj" fmla="val 145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411231"/>
            <a:ext cx="68389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Price Impacting Factors</a:t>
            </a:r>
          </a:p>
        </p:txBody>
      </p:sp>
      <p:sp>
        <p:nvSpPr>
          <p:cNvPr id="10" name="Freeform 9"/>
          <p:cNvSpPr/>
          <p:nvPr/>
        </p:nvSpPr>
        <p:spPr>
          <a:xfrm>
            <a:off x="3295650" y="3705225"/>
            <a:ext cx="723900" cy="752475"/>
          </a:xfrm>
          <a:custGeom>
            <a:avLst/>
            <a:gdLst/>
            <a:ahLst/>
            <a:cxnLst/>
            <a:rect l="l" t="t" r="r" b="b"/>
            <a:pathLst>
              <a:path w="76" h="79">
                <a:moveTo>
                  <a:pt x="38" y="0"/>
                </a:moveTo>
                <a:lnTo>
                  <a:pt x="61" y="7"/>
                </a:lnTo>
                <a:lnTo>
                  <a:pt x="76" y="27"/>
                </a:lnTo>
                <a:lnTo>
                  <a:pt x="76" y="51"/>
                </a:lnTo>
                <a:lnTo>
                  <a:pt x="61" y="71"/>
                </a:lnTo>
                <a:lnTo>
                  <a:pt x="38" y="79"/>
                </a:lnTo>
                <a:lnTo>
                  <a:pt x="15" y="71"/>
                </a:lnTo>
                <a:lnTo>
                  <a:pt x="0" y="51"/>
                </a:lnTo>
                <a:lnTo>
                  <a:pt x="0" y="27"/>
                </a:lnTo>
                <a:lnTo>
                  <a:pt x="15" y="7"/>
                </a:lnTo>
                <a:close/>
              </a:path>
            </a:pathLst>
          </a:custGeom>
          <a:noFill/>
          <a:ln w="9525">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Freeform 10"/>
          <p:cNvSpPr/>
          <p:nvPr/>
        </p:nvSpPr>
        <p:spPr>
          <a:xfrm>
            <a:off x="2943225" y="3324225"/>
            <a:ext cx="1428750" cy="1504950"/>
          </a:xfrm>
          <a:custGeom>
            <a:avLst/>
            <a:gdLst/>
            <a:ahLst/>
            <a:cxnLst/>
            <a:rect l="l" t="t" r="r" b="b"/>
            <a:pathLst>
              <a:path w="150" h="158">
                <a:moveTo>
                  <a:pt x="75" y="0"/>
                </a:moveTo>
                <a:lnTo>
                  <a:pt x="122" y="15"/>
                </a:lnTo>
                <a:lnTo>
                  <a:pt x="150" y="55"/>
                </a:lnTo>
                <a:lnTo>
                  <a:pt x="150" y="104"/>
                </a:lnTo>
                <a:lnTo>
                  <a:pt x="122" y="143"/>
                </a:lnTo>
                <a:lnTo>
                  <a:pt x="75" y="158"/>
                </a:lnTo>
                <a:lnTo>
                  <a:pt x="28" y="143"/>
                </a:lnTo>
                <a:lnTo>
                  <a:pt x="0" y="104"/>
                </a:lnTo>
                <a:lnTo>
                  <a:pt x="0" y="55"/>
                </a:lnTo>
                <a:lnTo>
                  <a:pt x="28" y="15"/>
                </a:lnTo>
                <a:close/>
              </a:path>
            </a:pathLst>
          </a:custGeom>
          <a:noFill/>
          <a:ln w="9525">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Freeform 11"/>
          <p:cNvSpPr/>
          <p:nvPr/>
        </p:nvSpPr>
        <p:spPr>
          <a:xfrm>
            <a:off x="2581275" y="2943225"/>
            <a:ext cx="2152650" cy="2266950"/>
          </a:xfrm>
          <a:custGeom>
            <a:avLst/>
            <a:gdLst/>
            <a:ahLst/>
            <a:cxnLst/>
            <a:rect l="l" t="t" r="r" b="b"/>
            <a:pathLst>
              <a:path w="226" h="238">
                <a:moveTo>
                  <a:pt x="113" y="0"/>
                </a:moveTo>
                <a:lnTo>
                  <a:pt x="183" y="23"/>
                </a:lnTo>
                <a:lnTo>
                  <a:pt x="226" y="82"/>
                </a:lnTo>
                <a:lnTo>
                  <a:pt x="226" y="156"/>
                </a:lnTo>
                <a:lnTo>
                  <a:pt x="183" y="215"/>
                </a:lnTo>
                <a:lnTo>
                  <a:pt x="113" y="238"/>
                </a:lnTo>
                <a:lnTo>
                  <a:pt x="43" y="215"/>
                </a:lnTo>
                <a:lnTo>
                  <a:pt x="0" y="156"/>
                </a:lnTo>
                <a:lnTo>
                  <a:pt x="0" y="82"/>
                </a:lnTo>
                <a:lnTo>
                  <a:pt x="43" y="23"/>
                </a:lnTo>
                <a:close/>
              </a:path>
            </a:pathLst>
          </a:custGeom>
          <a:noFill/>
          <a:ln w="9525">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Freeform 12"/>
          <p:cNvSpPr/>
          <p:nvPr/>
        </p:nvSpPr>
        <p:spPr>
          <a:xfrm>
            <a:off x="2219325" y="2571750"/>
            <a:ext cx="2876550" cy="3019425"/>
          </a:xfrm>
          <a:custGeom>
            <a:avLst/>
            <a:gdLst/>
            <a:ahLst/>
            <a:cxnLst/>
            <a:rect l="l" t="t" r="r" b="b"/>
            <a:pathLst>
              <a:path w="302" h="317">
                <a:moveTo>
                  <a:pt x="151" y="0"/>
                </a:moveTo>
                <a:lnTo>
                  <a:pt x="244" y="30"/>
                </a:lnTo>
                <a:lnTo>
                  <a:pt x="302" y="109"/>
                </a:lnTo>
                <a:lnTo>
                  <a:pt x="302" y="207"/>
                </a:lnTo>
                <a:lnTo>
                  <a:pt x="244" y="286"/>
                </a:lnTo>
                <a:lnTo>
                  <a:pt x="151" y="317"/>
                </a:lnTo>
                <a:lnTo>
                  <a:pt x="58" y="286"/>
                </a:lnTo>
                <a:lnTo>
                  <a:pt x="0" y="207"/>
                </a:lnTo>
                <a:lnTo>
                  <a:pt x="0" y="109"/>
                </a:lnTo>
                <a:lnTo>
                  <a:pt x="58" y="30"/>
                </a:lnTo>
                <a:close/>
              </a:path>
            </a:pathLst>
          </a:custGeom>
          <a:noFill/>
          <a:ln w="9525">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Freeform 13"/>
          <p:cNvSpPr/>
          <p:nvPr/>
        </p:nvSpPr>
        <p:spPr>
          <a:xfrm>
            <a:off x="1866900" y="2190750"/>
            <a:ext cx="3581400" cy="3771900"/>
          </a:xfrm>
          <a:custGeom>
            <a:avLst/>
            <a:gdLst/>
            <a:ahLst/>
            <a:cxnLst/>
            <a:rect l="l" t="t" r="r" b="b"/>
            <a:pathLst>
              <a:path w="376" h="396">
                <a:moveTo>
                  <a:pt x="188" y="0"/>
                </a:moveTo>
                <a:lnTo>
                  <a:pt x="304" y="38"/>
                </a:lnTo>
                <a:lnTo>
                  <a:pt x="376" y="137"/>
                </a:lnTo>
                <a:lnTo>
                  <a:pt x="376" y="259"/>
                </a:lnTo>
                <a:lnTo>
                  <a:pt x="304" y="358"/>
                </a:lnTo>
                <a:lnTo>
                  <a:pt x="188" y="396"/>
                </a:lnTo>
                <a:lnTo>
                  <a:pt x="72" y="358"/>
                </a:lnTo>
                <a:lnTo>
                  <a:pt x="0" y="259"/>
                </a:lnTo>
                <a:lnTo>
                  <a:pt x="0" y="137"/>
                </a:lnTo>
                <a:lnTo>
                  <a:pt x="72" y="38"/>
                </a:lnTo>
                <a:close/>
              </a:path>
            </a:pathLst>
          </a:custGeom>
          <a:noFill/>
          <a:ln w="9525">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5" name="Connector 14"/>
          <p:cNvCxnSpPr/>
          <p:nvPr/>
        </p:nvCxnSpPr>
        <p:spPr>
          <a:xfrm flipV="1">
            <a:off x="3657600" y="2192281"/>
            <a:ext cx="0" cy="1886379"/>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3657600" y="2552548"/>
            <a:ext cx="1108786" cy="1526112"/>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3657600" y="3495737"/>
            <a:ext cx="1794053" cy="582923"/>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3657600" y="4078660"/>
            <a:ext cx="1794053" cy="582923"/>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3657600" y="4078660"/>
            <a:ext cx="1108786" cy="1526113"/>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3657600" y="4078660"/>
            <a:ext cx="0" cy="1886379"/>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a:off x="2548814" y="4078660"/>
            <a:ext cx="1108786" cy="1526113"/>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a:off x="1863547" y="4078660"/>
            <a:ext cx="1794053" cy="582923"/>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flipV="1">
            <a:off x="1863547" y="3495737"/>
            <a:ext cx="1794053" cy="582923"/>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flipV="1">
            <a:off x="2548814" y="2552548"/>
            <a:ext cx="1108786" cy="1526112"/>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sp>
        <p:nvSpPr>
          <p:cNvPr id="25" name="Freeform 24"/>
          <p:cNvSpPr/>
          <p:nvPr/>
        </p:nvSpPr>
        <p:spPr>
          <a:xfrm>
            <a:off x="2495550" y="2381250"/>
            <a:ext cx="2505075" cy="3209925"/>
          </a:xfrm>
          <a:custGeom>
            <a:avLst/>
            <a:gdLst/>
            <a:ahLst/>
            <a:cxnLst/>
            <a:rect l="l" t="t" r="r" b="b"/>
            <a:pathLst>
              <a:path w="263" h="337">
                <a:moveTo>
                  <a:pt x="122" y="0"/>
                </a:moveTo>
                <a:lnTo>
                  <a:pt x="203" y="66"/>
                </a:lnTo>
                <a:lnTo>
                  <a:pt x="244" y="138"/>
                </a:lnTo>
                <a:lnTo>
                  <a:pt x="263" y="224"/>
                </a:lnTo>
                <a:lnTo>
                  <a:pt x="221" y="314"/>
                </a:lnTo>
                <a:lnTo>
                  <a:pt x="122" y="337"/>
                </a:lnTo>
                <a:lnTo>
                  <a:pt x="52" y="274"/>
                </a:lnTo>
                <a:lnTo>
                  <a:pt x="18" y="212"/>
                </a:lnTo>
                <a:lnTo>
                  <a:pt x="0" y="138"/>
                </a:lnTo>
                <a:lnTo>
                  <a:pt x="70" y="106"/>
                </a:lnTo>
                <a:close/>
              </a:path>
            </a:pathLst>
          </a:custGeom>
          <a:solidFill>
            <a:srgbClr val="2B5F8E">
              <a:alpha val="62000"/>
            </a:srgbClr>
          </a:solidFill>
          <a:ln w="27940">
            <a:solidFill>
              <a:srgbClr val="2B5F8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3624262" y="2347582"/>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4400412" y="2977044"/>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790397" y="3666423"/>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4969802" y="4482515"/>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4566730" y="5342518"/>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3624262" y="5554426"/>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2958991" y="4960990"/>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2637533" y="4365930"/>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2458128" y="3666423"/>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3125309" y="3358572"/>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686175" y="3634709"/>
            <a:ext cx="285750" cy="123825"/>
          </a:xfrm>
          <a:prstGeom prst="rect">
            <a:avLst/>
          </a:prstGeom>
          <a:noFill/>
        </p:spPr>
        <p:txBody>
          <a:bodyPr wrap="none" lIns="0" rIns="0" tIns="0" bIns="0" anchor="ctr">
            <a:spAutoFit/>
          </a:bodyPr>
          <a:lstStyle/>
          <a:p>
            <a:pPr algn="l"/>
            <a:r>
              <a:rPr sz="1100" b="0">
                <a:solidFill>
                  <a:srgbClr val="6C7A89"/>
                </a:solidFill>
                <a:latin typeface="Calibri"/>
              </a:rPr>
              <a:t>2</a:t>
            </a:r>
          </a:p>
        </p:txBody>
      </p:sp>
      <p:sp>
        <p:nvSpPr>
          <p:cNvPr id="37" name="TextBox 36"/>
          <p:cNvSpPr txBox="1"/>
          <p:nvPr/>
        </p:nvSpPr>
        <p:spPr>
          <a:xfrm>
            <a:off x="3686175" y="3257434"/>
            <a:ext cx="285750" cy="123825"/>
          </a:xfrm>
          <a:prstGeom prst="rect">
            <a:avLst/>
          </a:prstGeom>
          <a:noFill/>
        </p:spPr>
        <p:txBody>
          <a:bodyPr wrap="none" lIns="0" rIns="0" tIns="0" bIns="0" anchor="ctr">
            <a:spAutoFit/>
          </a:bodyPr>
          <a:lstStyle/>
          <a:p>
            <a:pPr algn="l"/>
            <a:r>
              <a:rPr sz="1100" b="0">
                <a:solidFill>
                  <a:srgbClr val="6C7A89"/>
                </a:solidFill>
                <a:latin typeface="Calibri"/>
              </a:rPr>
              <a:t>4</a:t>
            </a:r>
          </a:p>
        </p:txBody>
      </p:sp>
      <p:sp>
        <p:nvSpPr>
          <p:cNvPr id="38" name="TextBox 37"/>
          <p:cNvSpPr txBox="1"/>
          <p:nvPr/>
        </p:nvSpPr>
        <p:spPr>
          <a:xfrm>
            <a:off x="3686175" y="2880158"/>
            <a:ext cx="285750" cy="123825"/>
          </a:xfrm>
          <a:prstGeom prst="rect">
            <a:avLst/>
          </a:prstGeom>
          <a:noFill/>
        </p:spPr>
        <p:txBody>
          <a:bodyPr wrap="none" lIns="0" rIns="0" tIns="0" bIns="0" anchor="ctr">
            <a:spAutoFit/>
          </a:bodyPr>
          <a:lstStyle/>
          <a:p>
            <a:pPr algn="l"/>
            <a:r>
              <a:rPr sz="1100" b="0">
                <a:solidFill>
                  <a:srgbClr val="6C7A89"/>
                </a:solidFill>
                <a:latin typeface="Calibri"/>
              </a:rPr>
              <a:t>6</a:t>
            </a:r>
          </a:p>
        </p:txBody>
      </p:sp>
      <p:sp>
        <p:nvSpPr>
          <p:cNvPr id="39" name="TextBox 38"/>
          <p:cNvSpPr txBox="1"/>
          <p:nvPr/>
        </p:nvSpPr>
        <p:spPr>
          <a:xfrm>
            <a:off x="3686175" y="2502882"/>
            <a:ext cx="285750" cy="123825"/>
          </a:xfrm>
          <a:prstGeom prst="rect">
            <a:avLst/>
          </a:prstGeom>
          <a:noFill/>
        </p:spPr>
        <p:txBody>
          <a:bodyPr wrap="none" lIns="0" rIns="0" tIns="0" bIns="0" anchor="ctr">
            <a:spAutoFit/>
          </a:bodyPr>
          <a:lstStyle/>
          <a:p>
            <a:pPr algn="l"/>
            <a:r>
              <a:rPr sz="1100" b="0">
                <a:solidFill>
                  <a:srgbClr val="6C7A89"/>
                </a:solidFill>
                <a:latin typeface="Calibri"/>
              </a:rPr>
              <a:t>8</a:t>
            </a:r>
          </a:p>
        </p:txBody>
      </p:sp>
      <p:sp>
        <p:nvSpPr>
          <p:cNvPr id="40" name="TextBox 39"/>
          <p:cNvSpPr txBox="1"/>
          <p:nvPr/>
        </p:nvSpPr>
        <p:spPr>
          <a:xfrm>
            <a:off x="3686175" y="2125606"/>
            <a:ext cx="285750" cy="123825"/>
          </a:xfrm>
          <a:prstGeom prst="rect">
            <a:avLst/>
          </a:prstGeom>
          <a:noFill/>
        </p:spPr>
        <p:txBody>
          <a:bodyPr wrap="none" lIns="0" rIns="0" tIns="0" bIns="0" anchor="ctr">
            <a:spAutoFit/>
          </a:bodyPr>
          <a:lstStyle/>
          <a:p>
            <a:pPr algn="l"/>
            <a:r>
              <a:rPr sz="1100" b="0">
                <a:solidFill>
                  <a:srgbClr val="6C7A89"/>
                </a:solidFill>
                <a:latin typeface="Calibri"/>
              </a:rPr>
              <a:t>10</a:t>
            </a:r>
          </a:p>
        </p:txBody>
      </p:sp>
      <p:sp>
        <p:nvSpPr>
          <p:cNvPr id="41" name="TextBox 40"/>
          <p:cNvSpPr txBox="1"/>
          <p:nvPr/>
        </p:nvSpPr>
        <p:spPr>
          <a:xfrm>
            <a:off x="3000375" y="1839856"/>
            <a:ext cx="1314450" cy="285750"/>
          </a:xfrm>
          <a:prstGeom prst="rect">
            <a:avLst/>
          </a:prstGeom>
          <a:noFill/>
        </p:spPr>
        <p:txBody>
          <a:bodyPr wrap="square" lIns="28575" rIns="28575" tIns="9525" bIns="9525" anchor="ctr">
            <a:spAutoFit/>
          </a:bodyPr>
          <a:lstStyle/>
          <a:p>
            <a:pPr algn="ctr"/>
            <a:r>
              <a:rPr sz="1100" b="0">
                <a:solidFill>
                  <a:srgbClr val="2E2E2E"/>
                </a:solidFill>
                <a:latin typeface="Calibri"/>
              </a:rPr>
              <a:t/>
            </a:r>
          </a:p>
        </p:txBody>
      </p:sp>
      <p:sp>
        <p:nvSpPr>
          <p:cNvPr id="42" name="TextBox 41"/>
          <p:cNvSpPr txBox="1"/>
          <p:nvPr/>
        </p:nvSpPr>
        <p:spPr>
          <a:xfrm>
            <a:off x="4232331" y="2240143"/>
            <a:ext cx="1314450" cy="285750"/>
          </a:xfrm>
          <a:prstGeom prst="rect">
            <a:avLst/>
          </a:prstGeom>
          <a:noFill/>
        </p:spPr>
        <p:txBody>
          <a:bodyPr wrap="square" lIns="28575" rIns="28575" tIns="9525" bIns="9525" anchor="ctr">
            <a:spAutoFit/>
          </a:bodyPr>
          <a:lstStyle/>
          <a:p>
            <a:pPr algn="ctr"/>
            <a:r>
              <a:rPr sz="1100" b="0">
                <a:solidFill>
                  <a:srgbClr val="2E2E2E"/>
                </a:solidFill>
                <a:latin typeface="Calibri"/>
              </a:rPr>
              <a:t/>
            </a:r>
          </a:p>
        </p:txBody>
      </p:sp>
      <p:sp>
        <p:nvSpPr>
          <p:cNvPr id="43" name="TextBox 42"/>
          <p:cNvSpPr txBox="1"/>
          <p:nvPr/>
        </p:nvSpPr>
        <p:spPr>
          <a:xfrm>
            <a:off x="4993722" y="3288108"/>
            <a:ext cx="1314450" cy="285750"/>
          </a:xfrm>
          <a:prstGeom prst="rect">
            <a:avLst/>
          </a:prstGeom>
          <a:noFill/>
        </p:spPr>
        <p:txBody>
          <a:bodyPr wrap="square" lIns="28575" rIns="28575" tIns="9525" bIns="9525" anchor="ctr">
            <a:spAutoFit/>
          </a:bodyPr>
          <a:lstStyle/>
          <a:p>
            <a:pPr algn="ctr"/>
            <a:r>
              <a:rPr sz="1100" b="0">
                <a:solidFill>
                  <a:srgbClr val="2E2E2E"/>
                </a:solidFill>
                <a:latin typeface="Calibri"/>
              </a:rPr>
              <a:t/>
            </a:r>
          </a:p>
        </p:txBody>
      </p:sp>
      <p:sp>
        <p:nvSpPr>
          <p:cNvPr id="44" name="TextBox 43"/>
          <p:cNvSpPr txBox="1"/>
          <p:nvPr/>
        </p:nvSpPr>
        <p:spPr>
          <a:xfrm>
            <a:off x="4993722" y="4583463"/>
            <a:ext cx="1314450" cy="285750"/>
          </a:xfrm>
          <a:prstGeom prst="rect">
            <a:avLst/>
          </a:prstGeom>
          <a:noFill/>
        </p:spPr>
        <p:txBody>
          <a:bodyPr wrap="square" lIns="28575" rIns="28575" tIns="9525" bIns="9525" anchor="ctr">
            <a:spAutoFit/>
          </a:bodyPr>
          <a:lstStyle/>
          <a:p>
            <a:pPr algn="ctr"/>
            <a:r>
              <a:rPr sz="1100" b="0">
                <a:solidFill>
                  <a:srgbClr val="2E2E2E"/>
                </a:solidFill>
                <a:latin typeface="Calibri"/>
              </a:rPr>
              <a:t/>
            </a:r>
          </a:p>
        </p:txBody>
      </p:sp>
      <p:sp>
        <p:nvSpPr>
          <p:cNvPr id="45" name="TextBox 44"/>
          <p:cNvSpPr txBox="1"/>
          <p:nvPr/>
        </p:nvSpPr>
        <p:spPr>
          <a:xfrm>
            <a:off x="4232331" y="5631427"/>
            <a:ext cx="1314450" cy="285750"/>
          </a:xfrm>
          <a:prstGeom prst="rect">
            <a:avLst/>
          </a:prstGeom>
          <a:noFill/>
        </p:spPr>
        <p:txBody>
          <a:bodyPr wrap="square" lIns="28575" rIns="28575" tIns="9525" bIns="9525" anchor="ctr">
            <a:spAutoFit/>
          </a:bodyPr>
          <a:lstStyle/>
          <a:p>
            <a:pPr algn="ctr"/>
            <a:r>
              <a:rPr sz="1100" b="0">
                <a:solidFill>
                  <a:srgbClr val="2E2E2E"/>
                </a:solidFill>
                <a:latin typeface="Calibri"/>
              </a:rPr>
              <a:t/>
            </a:r>
          </a:p>
        </p:txBody>
      </p:sp>
      <p:sp>
        <p:nvSpPr>
          <p:cNvPr id="46" name="TextBox 45"/>
          <p:cNvSpPr txBox="1"/>
          <p:nvPr/>
        </p:nvSpPr>
        <p:spPr>
          <a:xfrm>
            <a:off x="3000375" y="6031714"/>
            <a:ext cx="1314450" cy="285750"/>
          </a:xfrm>
          <a:prstGeom prst="rect">
            <a:avLst/>
          </a:prstGeom>
          <a:noFill/>
        </p:spPr>
        <p:txBody>
          <a:bodyPr wrap="square" lIns="28575" rIns="28575" tIns="9525" bIns="9525" anchor="ctr">
            <a:spAutoFit/>
          </a:bodyPr>
          <a:lstStyle/>
          <a:p>
            <a:pPr algn="ctr"/>
            <a:r>
              <a:rPr sz="1100" b="0">
                <a:solidFill>
                  <a:srgbClr val="2E2E2E"/>
                </a:solidFill>
                <a:latin typeface="Calibri"/>
              </a:rPr>
              <a:t/>
            </a:r>
          </a:p>
        </p:txBody>
      </p:sp>
      <p:sp>
        <p:nvSpPr>
          <p:cNvPr id="47" name="TextBox 46"/>
          <p:cNvSpPr txBox="1"/>
          <p:nvPr/>
        </p:nvSpPr>
        <p:spPr>
          <a:xfrm>
            <a:off x="1768419" y="5631427"/>
            <a:ext cx="1314450" cy="285750"/>
          </a:xfrm>
          <a:prstGeom prst="rect">
            <a:avLst/>
          </a:prstGeom>
          <a:noFill/>
        </p:spPr>
        <p:txBody>
          <a:bodyPr wrap="square" lIns="28575" rIns="28575" tIns="9525" bIns="9525" anchor="ctr">
            <a:spAutoFit/>
          </a:bodyPr>
          <a:lstStyle/>
          <a:p>
            <a:pPr algn="ctr"/>
            <a:r>
              <a:rPr sz="1100" b="0">
                <a:solidFill>
                  <a:srgbClr val="2E2E2E"/>
                </a:solidFill>
                <a:latin typeface="Calibri"/>
              </a:rPr>
              <a:t/>
            </a:r>
          </a:p>
        </p:txBody>
      </p:sp>
      <p:sp>
        <p:nvSpPr>
          <p:cNvPr id="48" name="TextBox 47"/>
          <p:cNvSpPr txBox="1"/>
          <p:nvPr/>
        </p:nvSpPr>
        <p:spPr>
          <a:xfrm>
            <a:off x="1007028" y="4583463"/>
            <a:ext cx="1314450" cy="285750"/>
          </a:xfrm>
          <a:prstGeom prst="rect">
            <a:avLst/>
          </a:prstGeom>
          <a:noFill/>
        </p:spPr>
        <p:txBody>
          <a:bodyPr wrap="square" lIns="28575" rIns="28575" tIns="9525" bIns="9525" anchor="ctr">
            <a:spAutoFit/>
          </a:bodyPr>
          <a:lstStyle/>
          <a:p>
            <a:pPr algn="ctr"/>
            <a:r>
              <a:rPr sz="1100" b="0">
                <a:solidFill>
                  <a:srgbClr val="2E2E2E"/>
                </a:solidFill>
                <a:latin typeface="Calibri"/>
              </a:rPr>
              <a:t/>
            </a:r>
          </a:p>
        </p:txBody>
      </p:sp>
      <p:sp>
        <p:nvSpPr>
          <p:cNvPr id="49" name="TextBox 48"/>
          <p:cNvSpPr txBox="1"/>
          <p:nvPr/>
        </p:nvSpPr>
        <p:spPr>
          <a:xfrm>
            <a:off x="1007028" y="3288108"/>
            <a:ext cx="1314450" cy="285750"/>
          </a:xfrm>
          <a:prstGeom prst="rect">
            <a:avLst/>
          </a:prstGeom>
          <a:noFill/>
        </p:spPr>
        <p:txBody>
          <a:bodyPr wrap="square" lIns="28575" rIns="28575" tIns="9525" bIns="9525" anchor="ctr">
            <a:spAutoFit/>
          </a:bodyPr>
          <a:lstStyle/>
          <a:p>
            <a:pPr algn="ctr"/>
            <a:r>
              <a:rPr sz="1100" b="0">
                <a:solidFill>
                  <a:srgbClr val="2E2E2E"/>
                </a:solidFill>
                <a:latin typeface="Calibri"/>
              </a:rPr>
              <a:t/>
            </a:r>
          </a:p>
        </p:txBody>
      </p:sp>
      <p:sp>
        <p:nvSpPr>
          <p:cNvPr id="50" name="TextBox 49"/>
          <p:cNvSpPr txBox="1"/>
          <p:nvPr/>
        </p:nvSpPr>
        <p:spPr>
          <a:xfrm>
            <a:off x="1768419" y="2240143"/>
            <a:ext cx="1314450" cy="285750"/>
          </a:xfrm>
          <a:prstGeom prst="rect">
            <a:avLst/>
          </a:prstGeom>
          <a:noFill/>
        </p:spPr>
        <p:txBody>
          <a:bodyPr wrap="square" lIns="28575" rIns="28575" tIns="9525" bIns="9525" anchor="ctr">
            <a:spAutoFit/>
          </a:bodyPr>
          <a:lstStyle/>
          <a:p>
            <a:pPr algn="ctr"/>
            <a:r>
              <a:rPr sz="1100" b="0">
                <a:solidFill>
                  <a:srgbClr val="2E2E2E"/>
                </a:solidFill>
                <a:latin typeface="Calibri"/>
              </a:rPr>
              <a:t/>
            </a:r>
          </a:p>
        </p:txBody>
      </p:sp>
      <p:sp>
        <p:nvSpPr>
          <p:cNvPr id="51" name="Rounded Rectangle 50"/>
          <p:cNvSpPr/>
          <p:nvPr/>
        </p:nvSpPr>
        <p:spPr>
          <a:xfrm>
            <a:off x="7248525" y="1354081"/>
            <a:ext cx="4800600" cy="3479443"/>
          </a:xfrm>
          <a:prstGeom prst="roundRect">
            <a:avLst>
              <a:gd name="adj" fmla="val 2190"/>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381875" y="1439806"/>
            <a:ext cx="4533900" cy="209550"/>
          </a:xfrm>
          <a:prstGeom prst="rect">
            <a:avLst/>
          </a:prstGeom>
          <a:noFill/>
        </p:spPr>
        <p:txBody>
          <a:bodyPr wrap="square" lIns="0" rIns="19050" tIns="9525" bIns="9525">
            <a:spAutoFit/>
          </a:bodyPr>
          <a:lstStyle/>
          <a:p>
            <a:pPr algn="l"/>
            <a:r>
              <a:rPr sz="1300" b="1">
                <a:solidFill>
                  <a:srgbClr val="0E2A5C"/>
                </a:solidFill>
                <a:latin typeface="Calibri"/>
              </a:rPr>
              <a:t>Key Takeaways</a:t>
            </a:r>
          </a:p>
        </p:txBody>
      </p:sp>
      <p:sp>
        <p:nvSpPr>
          <p:cNvPr id="53" name="Rectangle 52"/>
          <p:cNvSpPr/>
          <p:nvPr/>
        </p:nvSpPr>
        <p:spPr>
          <a:xfrm>
            <a:off x="7381875" y="1677931"/>
            <a:ext cx="453390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7381875" y="1763656"/>
            <a:ext cx="4533900" cy="2993668"/>
          </a:xfrm>
          <a:prstGeom prst="rect">
            <a:avLst/>
          </a:prstGeom>
          <a:noFill/>
        </p:spPr>
        <p:txBody>
          <a:bodyPr wrap="square" lIns="0" rIns="19050" tIns="9525" bIns="9525">
            <a:spAutoFit/>
          </a:bodyPr>
          <a:lstStyle/>
          <a:p>
            <a:pPr algn="l">
              <a:lnSpc>
                <a:spcPct val="100000"/>
              </a:lnSpc>
              <a:spcBef>
                <a:spcPts val="0"/>
              </a:spcBef>
              <a:spcAft>
                <a:spcPts val="300"/>
              </a:spcAft>
            </a:pPr>
            <a:r>
              <a:rPr sz="1100" b="0">
                <a:solidFill>
                  <a:srgbClr val="2A5F8F"/>
                </a:solidFill>
                <a:latin typeface="Calibri"/>
              </a:rPr>
              <a:t>▪  </a:t>
            </a:r>
            <a:r>
              <a:rPr sz="1100" b="0">
                <a:solidFill>
                  <a:srgbClr val="2E2E2E"/>
                </a:solidFill>
                <a:latin typeface="Calibri"/>
              </a:rPr>
              <a:t>Pricing across the Egg Protein Membrane Market is shaped by a mix of input costs, operational efficiency and market dynamics with raw-material and input costs carrying the single heaviest weight on selling prices today.</a:t>
            </a:r>
          </a:p>
          <a:p>
            <a:pPr algn="l">
              <a:lnSpc>
                <a:spcPct val="100000"/>
              </a:lnSpc>
              <a:spcBef>
                <a:spcPts val="0"/>
              </a:spcBef>
              <a:spcAft>
                <a:spcPts val="300"/>
              </a:spcAft>
            </a:pPr>
            <a:r>
              <a:rPr sz="1100" b="0">
                <a:solidFill>
                  <a:srgbClr val="2A5F8F"/>
                </a:solidFill>
                <a:latin typeface="Calibri"/>
              </a:rPr>
              <a:t>▪  </a:t>
            </a:r>
            <a:r>
              <a:rPr sz="1100" b="0">
                <a:solidFill>
                  <a:srgbClr val="2E2E2E"/>
                </a:solidFill>
                <a:latin typeface="Calibri"/>
              </a:rPr>
              <a:t>Raw-material and input costs and demand and broader market conditions are the dominant cost pressures; as they fluctuate they feed directly into prices and squeeze margins along the value chain.</a:t>
            </a:r>
          </a:p>
          <a:p>
            <a:pPr algn="l">
              <a:lnSpc>
                <a:spcPct val="100000"/>
              </a:lnSpc>
              <a:spcBef>
                <a:spcPts val="0"/>
              </a:spcBef>
              <a:spcAft>
                <a:spcPts val="300"/>
              </a:spcAft>
            </a:pPr>
            <a:r>
              <a:rPr sz="1100" b="0">
                <a:solidFill>
                  <a:srgbClr val="2A5F8F"/>
                </a:solidFill>
                <a:latin typeface="Calibri"/>
              </a:rPr>
              <a:t>▪  </a:t>
            </a:r>
            <a:r>
              <a:rPr sz="1100" b="0">
                <a:solidFill>
                  <a:srgbClr val="2E2E2E"/>
                </a:solidFill>
                <a:latin typeface="Calibri"/>
              </a:rPr>
              <a:t>Competitive intensity and supply-chain and logistics conditions are the next most influential forces helping offset cost inflation and setting how aggressively players can price without ceding share.</a:t>
            </a:r>
          </a:p>
          <a:p>
            <a:pPr algn="l">
              <a:lnSpc>
                <a:spcPct val="100000"/>
              </a:lnSpc>
              <a:spcBef>
                <a:spcPts val="0"/>
              </a:spcBef>
              <a:spcAft>
                <a:spcPts val="300"/>
              </a:spcAft>
            </a:pPr>
            <a:r>
              <a:rPr sz="1100" b="0">
                <a:solidFill>
                  <a:srgbClr val="2A5F8F"/>
                </a:solidFill>
                <a:latin typeface="Calibri"/>
              </a:rPr>
              <a:t>▪  </a:t>
            </a:r>
            <a:r>
              <a:rPr sz="1100" b="0">
                <a:solidFill>
                  <a:srgbClr val="2E2E2E"/>
                </a:solidFill>
                <a:latin typeface="Calibri"/>
              </a:rPr>
              <a:t>Demand strength, competitive intensity and supply-chain reliability together define the ceiling on pricing power across the Egg Protein Membrane Market.</a:t>
            </a:r>
          </a:p>
          <a:p>
            <a:pPr algn="l">
              <a:lnSpc>
                <a:spcPct val="100000"/>
              </a:lnSpc>
              <a:spcBef>
                <a:spcPts val="0"/>
              </a:spcBef>
              <a:spcAft>
                <a:spcPts val="300"/>
              </a:spcAft>
            </a:pPr>
            <a:r>
              <a:rPr sz="1100" b="0">
                <a:solidFill>
                  <a:srgbClr val="2A5F8F"/>
                </a:solidFill>
                <a:latin typeface="Calibri"/>
              </a:rPr>
              <a:t>▪  </a:t>
            </a:r>
            <a:r>
              <a:rPr sz="1100" b="0">
                <a:solidFill>
                  <a:srgbClr val="2E2E2E"/>
                </a:solidFill>
                <a:latin typeface="Calibri"/>
              </a:rPr>
              <a:t>Regulatory, currency and brand factors add second-order effects while aftermarket and service costs exert the least pressure collectively creating a pricing balance that must be monitored to stay competitive and profitable.</a:t>
            </a:r>
          </a:p>
        </p:txBody>
      </p:sp>
      <p:sp>
        <p:nvSpPr>
          <p:cNvPr id="55" name="Rounded Rectangle 54"/>
          <p:cNvSpPr/>
          <p:nvPr/>
        </p:nvSpPr>
        <p:spPr>
          <a:xfrm>
            <a:off x="7248525" y="4943046"/>
            <a:ext cx="4800600" cy="1686354"/>
          </a:xfrm>
          <a:prstGeom prst="roundRect">
            <a:avLst>
              <a:gd name="adj" fmla="val 451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7381875" y="5028771"/>
            <a:ext cx="4533900" cy="209550"/>
          </a:xfrm>
          <a:prstGeom prst="rect">
            <a:avLst/>
          </a:prstGeom>
          <a:noFill/>
        </p:spPr>
        <p:txBody>
          <a:bodyPr wrap="square" lIns="0" rIns="19050" tIns="9525" bIns="9525">
            <a:spAutoFit/>
          </a:bodyPr>
          <a:lstStyle/>
          <a:p>
            <a:pPr algn="l"/>
            <a:r>
              <a:rPr sz="1300" b="1">
                <a:solidFill>
                  <a:srgbClr val="0E2A5C"/>
                </a:solidFill>
                <a:latin typeface="Calibri"/>
              </a:rPr>
              <a:t>Highest-Impact Drivers</a:t>
            </a:r>
          </a:p>
        </p:txBody>
      </p:sp>
      <p:sp>
        <p:nvSpPr>
          <p:cNvPr id="57" name="Rectangle 56"/>
          <p:cNvSpPr/>
          <p:nvPr/>
        </p:nvSpPr>
        <p:spPr>
          <a:xfrm>
            <a:off x="7381875" y="5266896"/>
            <a:ext cx="453390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7381875" y="5352621"/>
            <a:ext cx="4533900" cy="1200579"/>
          </a:xfrm>
          <a:prstGeom prst="rect">
            <a:avLst/>
          </a:prstGeom>
          <a:noFill/>
        </p:spPr>
        <p:txBody>
          <a:bodyPr wrap="square" lIns="0" rIns="19050" tIns="9525" bIns="9525">
            <a:spAutoFit/>
          </a:bodyPr>
          <a:lstStyle/>
          <a:p>
            <a:pPr algn="l">
              <a:lnSpc>
                <a:spcPct val="100000"/>
              </a:lnSpc>
              <a:spcBef>
                <a:spcPts val="0"/>
              </a:spcBef>
              <a:spcAft>
                <a:spcPts val="300"/>
              </a:spcAft>
            </a:pPr>
            <a:r>
              <a:rPr sz="1100" b="0">
                <a:solidFill>
                  <a:srgbClr val="2A5F8F"/>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2A5F8F"/>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2A5F8F"/>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2A5F8F"/>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2A5F8F"/>
                </a:solidFill>
                <a:latin typeface="Calibri"/>
              </a:rPr>
              <a:t/>
            </a:r>
            <a:r>
              <a:rPr sz="1100" b="0">
                <a:solidFill>
                  <a:srgbClr val="2E2E2E"/>
                </a:solidFill>
                <a:latin typeface="Calibri"/>
              </a:rPr>
              <a:t/>
            </a:r>
          </a:p>
        </p:txBody>
      </p:sp>
      <p:sp>
        <p:nvSpPr>
          <p:cNvPr id="59" name="Rectangle 58"/>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
        <p:nvSpPr>
          <p:cNvPr id="61" name="TextBox 60"/>
          <p:cNvSpPr txBox="1"/>
          <p:nvPr/>
        </p:nvSpPr>
        <p:spPr>
          <a:xfrm>
            <a:off x="3288771" y="1898910"/>
            <a:ext cx="659829" cy="186689"/>
          </a:xfrm>
          <a:prstGeom prst="rect">
            <a:avLst/>
          </a:prstGeom>
          <a:noFill/>
        </p:spPr>
        <p:txBody>
          <a:bodyPr wrap="none" lIns="0" rIns="0" tIns="0" bIns="0">
            <a:spAutoFit/>
          </a:bodyPr>
          <a:lstStyle/>
          <a:p>
            <a:r>
              <a:rPr sz="1100" b="0">
                <a:solidFill>
                  <a:srgbClr val="2E2E2E"/>
                </a:solidFill>
                <a:latin typeface="Calibri"/>
              </a:rPr>
              <a:t>Input Cost</a:t>
            </a:r>
          </a:p>
        </p:txBody>
      </p:sp>
      <p:pic>
        <p:nvPicPr>
          <p:cNvPr id="62" name="Picture 61" descr="lock.png"/>
          <p:cNvPicPr>
            <a:picLocks noChangeAspect="1"/>
          </p:cNvPicPr>
          <p:nvPr/>
        </p:nvPicPr>
        <p:blipFill>
          <a:blip r:embed="rId4"/>
          <a:stretch>
            <a:fillRect/>
          </a:stretch>
        </p:blipFill>
        <p:spPr>
          <a:xfrm>
            <a:off x="3896652" y="1889132"/>
            <a:ext cx="128699" cy="187198"/>
          </a:xfrm>
          <a:prstGeom prst="rect">
            <a:avLst/>
          </a:prstGeom>
        </p:spPr>
      </p:pic>
      <p:sp>
        <p:nvSpPr>
          <p:cNvPr id="63" name="TextBox 62"/>
          <p:cNvSpPr txBox="1"/>
          <p:nvPr/>
        </p:nvSpPr>
        <p:spPr>
          <a:xfrm>
            <a:off x="4314683" y="2322667"/>
            <a:ext cx="1115044" cy="139750"/>
          </a:xfrm>
          <a:prstGeom prst="rect">
            <a:avLst/>
          </a:prstGeom>
          <a:noFill/>
        </p:spPr>
        <p:txBody>
          <a:bodyPr wrap="none" lIns="0" rIns="0" tIns="0" bIns="0">
            <a:spAutoFit/>
          </a:bodyPr>
          <a:lstStyle/>
          <a:p>
            <a:r>
              <a:rPr sz="791" b="0">
                <a:solidFill>
                  <a:srgbClr val="2E2E2E"/>
                </a:solidFill>
                <a:latin typeface="Calibri"/>
              </a:rPr>
              <a:t>Labor &amp; Production Costs</a:t>
            </a:r>
          </a:p>
        </p:txBody>
      </p:sp>
      <p:pic>
        <p:nvPicPr>
          <p:cNvPr id="64" name="Picture 63" descr="lock.png"/>
          <p:cNvPicPr>
            <a:picLocks noChangeAspect="1"/>
          </p:cNvPicPr>
          <p:nvPr/>
        </p:nvPicPr>
        <p:blipFill>
          <a:blip r:embed="rId4"/>
          <a:stretch>
            <a:fillRect/>
          </a:stretch>
        </p:blipFill>
        <p:spPr>
          <a:xfrm>
            <a:off x="5370988" y="2315626"/>
            <a:ext cx="92663" cy="134782"/>
          </a:xfrm>
          <a:prstGeom prst="rect">
            <a:avLst/>
          </a:prstGeom>
        </p:spPr>
      </p:pic>
      <p:sp>
        <p:nvSpPr>
          <p:cNvPr id="65" name="TextBox 64"/>
          <p:cNvSpPr txBox="1"/>
          <p:nvPr/>
        </p:nvSpPr>
        <p:spPr>
          <a:xfrm>
            <a:off x="5083343" y="3370632"/>
            <a:ext cx="1100506" cy="139750"/>
          </a:xfrm>
          <a:prstGeom prst="rect">
            <a:avLst/>
          </a:prstGeom>
          <a:noFill/>
        </p:spPr>
        <p:txBody>
          <a:bodyPr wrap="none" lIns="0" rIns="0" tIns="0" bIns="0">
            <a:spAutoFit/>
          </a:bodyPr>
          <a:lstStyle/>
          <a:p>
            <a:r>
              <a:rPr sz="791" b="0">
                <a:solidFill>
                  <a:srgbClr val="2E2E2E"/>
                </a:solidFill>
                <a:latin typeface="Calibri"/>
              </a:rPr>
              <a:t>Technology &amp; Innovation</a:t>
            </a:r>
          </a:p>
        </p:txBody>
      </p:sp>
      <p:pic>
        <p:nvPicPr>
          <p:cNvPr id="66" name="Picture 65" descr="lock.png"/>
          <p:cNvPicPr>
            <a:picLocks noChangeAspect="1"/>
          </p:cNvPicPr>
          <p:nvPr/>
        </p:nvPicPr>
        <p:blipFill>
          <a:blip r:embed="rId4"/>
          <a:stretch>
            <a:fillRect/>
          </a:stretch>
        </p:blipFill>
        <p:spPr>
          <a:xfrm>
            <a:off x="6125111" y="3363591"/>
            <a:ext cx="92663" cy="134782"/>
          </a:xfrm>
          <a:prstGeom prst="rect">
            <a:avLst/>
          </a:prstGeom>
        </p:spPr>
      </p:pic>
      <p:sp>
        <p:nvSpPr>
          <p:cNvPr id="67" name="TextBox 66"/>
          <p:cNvSpPr txBox="1"/>
          <p:nvPr/>
        </p:nvSpPr>
        <p:spPr>
          <a:xfrm>
            <a:off x="5072546" y="4662634"/>
            <a:ext cx="1115939" cy="146456"/>
          </a:xfrm>
          <a:prstGeom prst="rect">
            <a:avLst/>
          </a:prstGeom>
          <a:noFill/>
        </p:spPr>
        <p:txBody>
          <a:bodyPr wrap="none" lIns="0" rIns="0" tIns="0" bIns="0">
            <a:spAutoFit/>
          </a:bodyPr>
          <a:lstStyle/>
          <a:p>
            <a:r>
              <a:rPr sz="835" b="0">
                <a:solidFill>
                  <a:srgbClr val="2E2E2E"/>
                </a:solidFill>
                <a:latin typeface="Calibri"/>
              </a:rPr>
              <a:t>Supply Chain &amp; Logistics</a:t>
            </a:r>
          </a:p>
        </p:txBody>
      </p:sp>
      <p:pic>
        <p:nvPicPr>
          <p:cNvPr id="68" name="Picture 67" descr="lock.png"/>
          <p:cNvPicPr>
            <a:picLocks noChangeAspect="1"/>
          </p:cNvPicPr>
          <p:nvPr/>
        </p:nvPicPr>
        <p:blipFill>
          <a:blip r:embed="rId4"/>
          <a:stretch>
            <a:fillRect/>
          </a:stretch>
        </p:blipFill>
        <p:spPr>
          <a:xfrm>
            <a:off x="6130716" y="4655202"/>
            <a:ext cx="97811" cy="142270"/>
          </a:xfrm>
          <a:prstGeom prst="rect">
            <a:avLst/>
          </a:prstGeom>
        </p:spPr>
      </p:pic>
      <p:sp>
        <p:nvSpPr>
          <p:cNvPr id="69" name="TextBox 68"/>
          <p:cNvSpPr txBox="1"/>
          <p:nvPr/>
        </p:nvSpPr>
        <p:spPr>
          <a:xfrm>
            <a:off x="4279667" y="5653601"/>
            <a:ext cx="1238538" cy="139750"/>
          </a:xfrm>
          <a:prstGeom prst="rect">
            <a:avLst/>
          </a:prstGeom>
          <a:noFill/>
        </p:spPr>
        <p:txBody>
          <a:bodyPr wrap="none" lIns="0" rIns="0" tIns="0" bIns="0">
            <a:spAutoFit/>
          </a:bodyPr>
          <a:lstStyle/>
          <a:p>
            <a:r>
              <a:rPr sz="791" b="0">
                <a:solidFill>
                  <a:srgbClr val="2E2E2E"/>
                </a:solidFill>
                <a:latin typeface="Calibri"/>
              </a:rPr>
              <a:t>Demand &amp; Market Conditions</a:t>
            </a:r>
          </a:p>
        </p:txBody>
      </p:sp>
      <p:pic>
        <p:nvPicPr>
          <p:cNvPr id="70" name="Picture 69" descr="lock.png"/>
          <p:cNvPicPr>
            <a:picLocks noChangeAspect="1"/>
          </p:cNvPicPr>
          <p:nvPr/>
        </p:nvPicPr>
        <p:blipFill>
          <a:blip r:embed="rId4"/>
          <a:stretch>
            <a:fillRect/>
          </a:stretch>
        </p:blipFill>
        <p:spPr>
          <a:xfrm>
            <a:off x="4837988" y="5767261"/>
            <a:ext cx="92663" cy="134782"/>
          </a:xfrm>
          <a:prstGeom prst="rect">
            <a:avLst/>
          </a:prstGeom>
        </p:spPr>
      </p:pic>
      <p:sp>
        <p:nvSpPr>
          <p:cNvPr id="71" name="TextBox 70"/>
          <p:cNvSpPr txBox="1"/>
          <p:nvPr/>
        </p:nvSpPr>
        <p:spPr>
          <a:xfrm>
            <a:off x="3097033" y="6110885"/>
            <a:ext cx="1080271" cy="146456"/>
          </a:xfrm>
          <a:prstGeom prst="rect">
            <a:avLst/>
          </a:prstGeom>
          <a:noFill/>
        </p:spPr>
        <p:txBody>
          <a:bodyPr wrap="none" lIns="0" rIns="0" tIns="0" bIns="0">
            <a:spAutoFit/>
          </a:bodyPr>
          <a:lstStyle/>
          <a:p>
            <a:r>
              <a:rPr sz="835" b="0">
                <a:solidFill>
                  <a:srgbClr val="2E2E2E"/>
                </a:solidFill>
                <a:latin typeface="Calibri"/>
              </a:rPr>
              <a:t>Competitive Landscape</a:t>
            </a:r>
          </a:p>
        </p:txBody>
      </p:sp>
      <p:pic>
        <p:nvPicPr>
          <p:cNvPr id="72" name="Picture 71" descr="lock.png"/>
          <p:cNvPicPr>
            <a:picLocks noChangeAspect="1"/>
          </p:cNvPicPr>
          <p:nvPr/>
        </p:nvPicPr>
        <p:blipFill>
          <a:blip r:embed="rId4"/>
          <a:stretch>
            <a:fillRect/>
          </a:stretch>
        </p:blipFill>
        <p:spPr>
          <a:xfrm>
            <a:off x="4119536" y="6103453"/>
            <a:ext cx="97811" cy="142270"/>
          </a:xfrm>
          <a:prstGeom prst="rect">
            <a:avLst/>
          </a:prstGeom>
        </p:spPr>
      </p:pic>
      <p:sp>
        <p:nvSpPr>
          <p:cNvPr id="73" name="TextBox 72"/>
          <p:cNvSpPr txBox="1"/>
          <p:nvPr/>
        </p:nvSpPr>
        <p:spPr>
          <a:xfrm>
            <a:off x="1906713" y="5653601"/>
            <a:ext cx="1114061" cy="139750"/>
          </a:xfrm>
          <a:prstGeom prst="rect">
            <a:avLst/>
          </a:prstGeom>
          <a:noFill/>
        </p:spPr>
        <p:txBody>
          <a:bodyPr wrap="none" lIns="0" rIns="0" tIns="0" bIns="0">
            <a:spAutoFit/>
          </a:bodyPr>
          <a:lstStyle/>
          <a:p>
            <a:r>
              <a:rPr sz="791" b="0">
                <a:solidFill>
                  <a:srgbClr val="2E2E2E"/>
                </a:solidFill>
                <a:latin typeface="Calibri"/>
              </a:rPr>
              <a:t>Regulatory &amp; Compliance</a:t>
            </a:r>
          </a:p>
        </p:txBody>
      </p:sp>
      <p:sp>
        <p:nvSpPr>
          <p:cNvPr id="74" name="TextBox 73"/>
          <p:cNvSpPr txBox="1"/>
          <p:nvPr/>
        </p:nvSpPr>
        <p:spPr>
          <a:xfrm>
            <a:off x="2260671" y="5774302"/>
            <a:ext cx="295245" cy="139750"/>
          </a:xfrm>
          <a:prstGeom prst="rect">
            <a:avLst/>
          </a:prstGeom>
          <a:noFill/>
        </p:spPr>
        <p:txBody>
          <a:bodyPr wrap="none" lIns="0" rIns="0" tIns="0" bIns="0">
            <a:spAutoFit/>
          </a:bodyPr>
          <a:lstStyle/>
          <a:p>
            <a:r>
              <a:rPr sz="791" b="0">
                <a:solidFill>
                  <a:srgbClr val="2E2E2E"/>
                </a:solidFill>
                <a:latin typeface="Calibri"/>
              </a:rPr>
              <a:t>Costs</a:t>
            </a:r>
          </a:p>
        </p:txBody>
      </p:sp>
      <p:pic>
        <p:nvPicPr>
          <p:cNvPr id="75" name="Picture 74" descr="lock.png"/>
          <p:cNvPicPr>
            <a:picLocks noChangeAspect="1"/>
          </p:cNvPicPr>
          <p:nvPr/>
        </p:nvPicPr>
        <p:blipFill>
          <a:blip r:embed="rId4"/>
          <a:stretch>
            <a:fillRect/>
          </a:stretch>
        </p:blipFill>
        <p:spPr>
          <a:xfrm>
            <a:off x="2497177" y="5767261"/>
            <a:ext cx="92663" cy="134782"/>
          </a:xfrm>
          <a:prstGeom prst="rect">
            <a:avLst/>
          </a:prstGeom>
        </p:spPr>
      </p:pic>
      <p:sp>
        <p:nvSpPr>
          <p:cNvPr id="76" name="TextBox 75"/>
          <p:cNvSpPr txBox="1"/>
          <p:nvPr/>
        </p:nvSpPr>
        <p:spPr>
          <a:xfrm>
            <a:off x="1097191" y="4605637"/>
            <a:ext cx="1195711" cy="139750"/>
          </a:xfrm>
          <a:prstGeom prst="rect">
            <a:avLst/>
          </a:prstGeom>
          <a:noFill/>
        </p:spPr>
        <p:txBody>
          <a:bodyPr wrap="none" lIns="0" rIns="0" tIns="0" bIns="0">
            <a:spAutoFit/>
          </a:bodyPr>
          <a:lstStyle/>
          <a:p>
            <a:r>
              <a:rPr sz="791" b="0">
                <a:solidFill>
                  <a:srgbClr val="2E2E2E"/>
                </a:solidFill>
                <a:latin typeface="Calibri"/>
              </a:rPr>
              <a:t>Currency &amp; Trade Dynamics</a:t>
            </a:r>
          </a:p>
        </p:txBody>
      </p:sp>
      <p:pic>
        <p:nvPicPr>
          <p:cNvPr id="77" name="Picture 76" descr="lock.png"/>
          <p:cNvPicPr>
            <a:picLocks noChangeAspect="1"/>
          </p:cNvPicPr>
          <p:nvPr/>
        </p:nvPicPr>
        <p:blipFill>
          <a:blip r:embed="rId4"/>
          <a:stretch>
            <a:fillRect/>
          </a:stretch>
        </p:blipFill>
        <p:spPr>
          <a:xfrm>
            <a:off x="1612685" y="4719297"/>
            <a:ext cx="92663" cy="134782"/>
          </a:xfrm>
          <a:prstGeom prst="rect">
            <a:avLst/>
          </a:prstGeom>
        </p:spPr>
      </p:pic>
      <p:sp>
        <p:nvSpPr>
          <p:cNvPr id="78" name="TextBox 77"/>
          <p:cNvSpPr txBox="1"/>
          <p:nvPr/>
        </p:nvSpPr>
        <p:spPr>
          <a:xfrm>
            <a:off x="1079852" y="3370632"/>
            <a:ext cx="1134100" cy="139750"/>
          </a:xfrm>
          <a:prstGeom prst="rect">
            <a:avLst/>
          </a:prstGeom>
          <a:noFill/>
        </p:spPr>
        <p:txBody>
          <a:bodyPr wrap="none" lIns="0" rIns="0" tIns="0" bIns="0">
            <a:spAutoFit/>
          </a:bodyPr>
          <a:lstStyle/>
          <a:p>
            <a:r>
              <a:rPr sz="791" b="0">
                <a:solidFill>
                  <a:srgbClr val="2E2E2E"/>
                </a:solidFill>
                <a:latin typeface="Calibri"/>
              </a:rPr>
              <a:t>Brand &amp; Value Perception</a:t>
            </a:r>
          </a:p>
        </p:txBody>
      </p:sp>
      <p:pic>
        <p:nvPicPr>
          <p:cNvPr id="79" name="Picture 78" descr="lock.png"/>
          <p:cNvPicPr>
            <a:picLocks noChangeAspect="1"/>
          </p:cNvPicPr>
          <p:nvPr/>
        </p:nvPicPr>
        <p:blipFill>
          <a:blip r:embed="rId4"/>
          <a:stretch>
            <a:fillRect/>
          </a:stretch>
        </p:blipFill>
        <p:spPr>
          <a:xfrm>
            <a:off x="2155213" y="3363591"/>
            <a:ext cx="92663" cy="134782"/>
          </a:xfrm>
          <a:prstGeom prst="rect">
            <a:avLst/>
          </a:prstGeom>
        </p:spPr>
      </p:pic>
      <p:sp>
        <p:nvSpPr>
          <p:cNvPr id="80" name="TextBox 79"/>
          <p:cNvSpPr txBox="1"/>
          <p:nvPr/>
        </p:nvSpPr>
        <p:spPr>
          <a:xfrm>
            <a:off x="1850723" y="2262317"/>
            <a:ext cx="1203570" cy="139750"/>
          </a:xfrm>
          <a:prstGeom prst="rect">
            <a:avLst/>
          </a:prstGeom>
          <a:noFill/>
        </p:spPr>
        <p:txBody>
          <a:bodyPr wrap="none" lIns="0" rIns="0" tIns="0" bIns="0">
            <a:spAutoFit/>
          </a:bodyPr>
          <a:lstStyle/>
          <a:p>
            <a:r>
              <a:rPr sz="791" b="0">
                <a:solidFill>
                  <a:srgbClr val="2E2E2E"/>
                </a:solidFill>
                <a:latin typeface="Calibri"/>
              </a:rPr>
              <a:t>Aftermarket &amp; Service Costs</a:t>
            </a:r>
          </a:p>
        </p:txBody>
      </p:sp>
      <p:pic>
        <p:nvPicPr>
          <p:cNvPr id="81" name="Picture 80" descr="lock.png"/>
          <p:cNvPicPr>
            <a:picLocks noChangeAspect="1"/>
          </p:cNvPicPr>
          <p:nvPr/>
        </p:nvPicPr>
        <p:blipFill>
          <a:blip r:embed="rId4"/>
          <a:stretch>
            <a:fillRect/>
          </a:stretch>
        </p:blipFill>
        <p:spPr>
          <a:xfrm>
            <a:off x="2374076" y="2375977"/>
            <a:ext cx="92663" cy="134782"/>
          </a:xfrm>
          <a:prstGeom prst="rect">
            <a:avLst/>
          </a:prstGeom>
        </p:spPr>
      </p:pic>
      <p:sp>
        <p:nvSpPr>
          <p:cNvPr id="82" name="TextBox 81"/>
          <p:cNvSpPr txBox="1"/>
          <p:nvPr/>
        </p:nvSpPr>
        <p:spPr>
          <a:xfrm>
            <a:off x="7381875" y="5362146"/>
            <a:ext cx="740866" cy="186689"/>
          </a:xfrm>
          <a:prstGeom prst="rect">
            <a:avLst/>
          </a:prstGeom>
          <a:noFill/>
        </p:spPr>
        <p:txBody>
          <a:bodyPr wrap="none" lIns="0" rIns="0" tIns="0" bIns="0">
            <a:spAutoFit/>
          </a:bodyPr>
          <a:lstStyle/>
          <a:p>
            <a:r>
              <a:rPr sz="1100" b="0">
                <a:solidFill>
                  <a:srgbClr val="2E2E2E"/>
                </a:solidFill>
                <a:latin typeface="Calibri"/>
              </a:rPr>
              <a:t>▪ Input Cost</a:t>
            </a:r>
          </a:p>
        </p:txBody>
      </p:sp>
      <p:pic>
        <p:nvPicPr>
          <p:cNvPr id="83" name="Picture 82" descr="lock.png"/>
          <p:cNvPicPr>
            <a:picLocks noChangeAspect="1"/>
          </p:cNvPicPr>
          <p:nvPr/>
        </p:nvPicPr>
        <p:blipFill>
          <a:blip r:embed="rId4"/>
          <a:stretch>
            <a:fillRect/>
          </a:stretch>
        </p:blipFill>
        <p:spPr>
          <a:xfrm>
            <a:off x="8070793" y="5352366"/>
            <a:ext cx="128699" cy="187198"/>
          </a:xfrm>
          <a:prstGeom prst="rect">
            <a:avLst/>
          </a:prstGeom>
        </p:spPr>
      </p:pic>
      <p:sp>
        <p:nvSpPr>
          <p:cNvPr id="84" name="TextBox 83"/>
          <p:cNvSpPr txBox="1"/>
          <p:nvPr/>
        </p:nvSpPr>
        <p:spPr>
          <a:xfrm>
            <a:off x="8238288" y="5362146"/>
            <a:ext cx="1744141" cy="186689"/>
          </a:xfrm>
          <a:prstGeom prst="rect">
            <a:avLst/>
          </a:prstGeom>
          <a:noFill/>
        </p:spPr>
        <p:txBody>
          <a:bodyPr wrap="none" lIns="0" rIns="0" tIns="0" bIns="0">
            <a:spAutoFit/>
          </a:bodyPr>
          <a:lstStyle/>
          <a:p>
            <a:r>
              <a:rPr sz="1100" b="0">
                <a:solidFill>
                  <a:srgbClr val="2E2E2E"/>
                </a:solidFill>
                <a:latin typeface="Calibri"/>
              </a:rPr>
              <a:t>/ 10 · dominant cost pressure</a:t>
            </a:r>
          </a:p>
        </p:txBody>
      </p:sp>
      <p:sp>
        <p:nvSpPr>
          <p:cNvPr id="85" name="TextBox 84"/>
          <p:cNvSpPr txBox="1"/>
          <p:nvPr/>
        </p:nvSpPr>
        <p:spPr>
          <a:xfrm>
            <a:off x="7381875" y="5580078"/>
            <a:ext cx="1851372" cy="186689"/>
          </a:xfrm>
          <a:prstGeom prst="rect">
            <a:avLst/>
          </a:prstGeom>
          <a:noFill/>
        </p:spPr>
        <p:txBody>
          <a:bodyPr wrap="none" lIns="0" rIns="0" tIns="0" bIns="0">
            <a:spAutoFit/>
          </a:bodyPr>
          <a:lstStyle/>
          <a:p>
            <a:r>
              <a:rPr sz="1100" b="0">
                <a:solidFill>
                  <a:srgbClr val="2E2E2E"/>
                </a:solidFill>
                <a:latin typeface="Calibri"/>
              </a:rPr>
              <a:t>▪ Demand &amp; Market Conditions</a:t>
            </a:r>
          </a:p>
        </p:txBody>
      </p:sp>
      <p:pic>
        <p:nvPicPr>
          <p:cNvPr id="86" name="Picture 85" descr="lock.png"/>
          <p:cNvPicPr>
            <a:picLocks noChangeAspect="1"/>
          </p:cNvPicPr>
          <p:nvPr/>
        </p:nvPicPr>
        <p:blipFill>
          <a:blip r:embed="rId4"/>
          <a:stretch>
            <a:fillRect/>
          </a:stretch>
        </p:blipFill>
        <p:spPr>
          <a:xfrm>
            <a:off x="9181298" y="5570298"/>
            <a:ext cx="128699" cy="187198"/>
          </a:xfrm>
          <a:prstGeom prst="rect">
            <a:avLst/>
          </a:prstGeom>
        </p:spPr>
      </p:pic>
      <p:sp>
        <p:nvSpPr>
          <p:cNvPr id="87" name="TextBox 86"/>
          <p:cNvSpPr txBox="1"/>
          <p:nvPr/>
        </p:nvSpPr>
        <p:spPr>
          <a:xfrm>
            <a:off x="9348794" y="5580078"/>
            <a:ext cx="1527224" cy="186689"/>
          </a:xfrm>
          <a:prstGeom prst="rect">
            <a:avLst/>
          </a:prstGeom>
          <a:noFill/>
        </p:spPr>
        <p:txBody>
          <a:bodyPr wrap="none" lIns="0" rIns="0" tIns="0" bIns="0">
            <a:spAutoFit/>
          </a:bodyPr>
          <a:lstStyle/>
          <a:p>
            <a:r>
              <a:rPr sz="1100" b="0">
                <a:solidFill>
                  <a:srgbClr val="2E2E2E"/>
                </a:solidFill>
                <a:latin typeface="Calibri"/>
              </a:rPr>
              <a:t>/ 10 · major cost pressure</a:t>
            </a:r>
          </a:p>
        </p:txBody>
      </p:sp>
      <p:sp>
        <p:nvSpPr>
          <p:cNvPr id="88" name="TextBox 87"/>
          <p:cNvSpPr txBox="1"/>
          <p:nvPr/>
        </p:nvSpPr>
        <p:spPr>
          <a:xfrm>
            <a:off x="7381875" y="5798010"/>
            <a:ext cx="1478384" cy="186689"/>
          </a:xfrm>
          <a:prstGeom prst="rect">
            <a:avLst/>
          </a:prstGeom>
          <a:noFill/>
        </p:spPr>
        <p:txBody>
          <a:bodyPr wrap="none" lIns="0" rIns="0" tIns="0" bIns="0">
            <a:spAutoFit/>
          </a:bodyPr>
          <a:lstStyle/>
          <a:p>
            <a:r>
              <a:rPr sz="1100" b="0">
                <a:solidFill>
                  <a:srgbClr val="2E2E2E"/>
                </a:solidFill>
                <a:latin typeface="Calibri"/>
              </a:rPr>
              <a:t>▪ Competitive Landscape</a:t>
            </a:r>
          </a:p>
        </p:txBody>
      </p:sp>
      <p:pic>
        <p:nvPicPr>
          <p:cNvPr id="89" name="Picture 88" descr="lock.png"/>
          <p:cNvPicPr>
            <a:picLocks noChangeAspect="1"/>
          </p:cNvPicPr>
          <p:nvPr/>
        </p:nvPicPr>
        <p:blipFill>
          <a:blip r:embed="rId4"/>
          <a:stretch>
            <a:fillRect/>
          </a:stretch>
        </p:blipFill>
        <p:spPr>
          <a:xfrm>
            <a:off x="8808310" y="5788230"/>
            <a:ext cx="128699" cy="187198"/>
          </a:xfrm>
          <a:prstGeom prst="rect">
            <a:avLst/>
          </a:prstGeom>
        </p:spPr>
      </p:pic>
      <p:sp>
        <p:nvSpPr>
          <p:cNvPr id="90" name="TextBox 89"/>
          <p:cNvSpPr txBox="1"/>
          <p:nvPr/>
        </p:nvSpPr>
        <p:spPr>
          <a:xfrm>
            <a:off x="8975806" y="5798010"/>
            <a:ext cx="1330225" cy="186689"/>
          </a:xfrm>
          <a:prstGeom prst="rect">
            <a:avLst/>
          </a:prstGeom>
          <a:noFill/>
        </p:spPr>
        <p:txBody>
          <a:bodyPr wrap="none" lIns="0" rIns="0" tIns="0" bIns="0">
            <a:spAutoFit/>
          </a:bodyPr>
          <a:lstStyle/>
          <a:p>
            <a:r>
              <a:rPr sz="1100" b="0">
                <a:solidFill>
                  <a:srgbClr val="2E2E2E"/>
                </a:solidFill>
                <a:latin typeface="Calibri"/>
              </a:rPr>
              <a:t>/ 10 · key pricing lever</a:t>
            </a:r>
          </a:p>
        </p:txBody>
      </p:sp>
      <p:sp>
        <p:nvSpPr>
          <p:cNvPr id="91" name="TextBox 90"/>
          <p:cNvSpPr txBox="1"/>
          <p:nvPr/>
        </p:nvSpPr>
        <p:spPr>
          <a:xfrm>
            <a:off x="7381875" y="6015942"/>
            <a:ext cx="1525314" cy="186689"/>
          </a:xfrm>
          <a:prstGeom prst="rect">
            <a:avLst/>
          </a:prstGeom>
          <a:noFill/>
        </p:spPr>
        <p:txBody>
          <a:bodyPr wrap="none" lIns="0" rIns="0" tIns="0" bIns="0">
            <a:spAutoFit/>
          </a:bodyPr>
          <a:lstStyle/>
          <a:p>
            <a:r>
              <a:rPr sz="1100" b="0">
                <a:solidFill>
                  <a:srgbClr val="2E2E2E"/>
                </a:solidFill>
                <a:latin typeface="Calibri"/>
              </a:rPr>
              <a:t>▪ Supply Chain &amp; Logistics</a:t>
            </a:r>
          </a:p>
        </p:txBody>
      </p:sp>
      <p:pic>
        <p:nvPicPr>
          <p:cNvPr id="92" name="Picture 91" descr="lock.png"/>
          <p:cNvPicPr>
            <a:picLocks noChangeAspect="1"/>
          </p:cNvPicPr>
          <p:nvPr/>
        </p:nvPicPr>
        <p:blipFill>
          <a:blip r:embed="rId4"/>
          <a:stretch>
            <a:fillRect/>
          </a:stretch>
        </p:blipFill>
        <p:spPr>
          <a:xfrm>
            <a:off x="8855241" y="6006162"/>
            <a:ext cx="128699" cy="187198"/>
          </a:xfrm>
          <a:prstGeom prst="rect">
            <a:avLst/>
          </a:prstGeom>
        </p:spPr>
      </p:pic>
      <p:sp>
        <p:nvSpPr>
          <p:cNvPr id="93" name="TextBox 92"/>
          <p:cNvSpPr txBox="1"/>
          <p:nvPr/>
        </p:nvSpPr>
        <p:spPr>
          <a:xfrm>
            <a:off x="9022737" y="6015942"/>
            <a:ext cx="1330225" cy="186689"/>
          </a:xfrm>
          <a:prstGeom prst="rect">
            <a:avLst/>
          </a:prstGeom>
          <a:noFill/>
        </p:spPr>
        <p:txBody>
          <a:bodyPr wrap="none" lIns="0" rIns="0" tIns="0" bIns="0">
            <a:spAutoFit/>
          </a:bodyPr>
          <a:lstStyle/>
          <a:p>
            <a:r>
              <a:rPr sz="1100" b="0">
                <a:solidFill>
                  <a:srgbClr val="2E2E2E"/>
                </a:solidFill>
                <a:latin typeface="Calibri"/>
              </a:rPr>
              <a:t>/ 10 · key pricing lever</a:t>
            </a:r>
          </a:p>
        </p:txBody>
      </p:sp>
      <p:sp>
        <p:nvSpPr>
          <p:cNvPr id="94" name="TextBox 93"/>
          <p:cNvSpPr txBox="1"/>
          <p:nvPr/>
        </p:nvSpPr>
        <p:spPr>
          <a:xfrm>
            <a:off x="7381875" y="6233874"/>
            <a:ext cx="1600075" cy="186689"/>
          </a:xfrm>
          <a:prstGeom prst="rect">
            <a:avLst/>
          </a:prstGeom>
          <a:noFill/>
        </p:spPr>
        <p:txBody>
          <a:bodyPr wrap="none" lIns="0" rIns="0" tIns="0" bIns="0">
            <a:spAutoFit/>
          </a:bodyPr>
          <a:lstStyle/>
          <a:p>
            <a:r>
              <a:rPr sz="1100" b="0">
                <a:solidFill>
                  <a:srgbClr val="2E2E2E"/>
                </a:solidFill>
                <a:latin typeface="Calibri"/>
              </a:rPr>
              <a:t>▪ Labor &amp; Production Costs</a:t>
            </a:r>
          </a:p>
        </p:txBody>
      </p:sp>
      <p:pic>
        <p:nvPicPr>
          <p:cNvPr id="95" name="Picture 94" descr="lock.png"/>
          <p:cNvPicPr>
            <a:picLocks noChangeAspect="1"/>
          </p:cNvPicPr>
          <p:nvPr/>
        </p:nvPicPr>
        <p:blipFill>
          <a:blip r:embed="rId4"/>
          <a:stretch>
            <a:fillRect/>
          </a:stretch>
        </p:blipFill>
        <p:spPr>
          <a:xfrm>
            <a:off x="8930002" y="6224094"/>
            <a:ext cx="128699" cy="187198"/>
          </a:xfrm>
          <a:prstGeom prst="rect">
            <a:avLst/>
          </a:prstGeom>
        </p:spPr>
      </p:pic>
      <p:sp>
        <p:nvSpPr>
          <p:cNvPr id="96" name="TextBox 95"/>
          <p:cNvSpPr txBox="1"/>
          <p:nvPr/>
        </p:nvSpPr>
        <p:spPr>
          <a:xfrm>
            <a:off x="9097498" y="6233874"/>
            <a:ext cx="1387524" cy="186689"/>
          </a:xfrm>
          <a:prstGeom prst="rect">
            <a:avLst/>
          </a:prstGeom>
          <a:noFill/>
        </p:spPr>
        <p:txBody>
          <a:bodyPr wrap="none" lIns="0" rIns="0" tIns="0" bIns="0">
            <a:spAutoFit/>
          </a:bodyPr>
          <a:lstStyle/>
          <a:p>
            <a:r>
              <a:rPr sz="1100" b="0">
                <a:solidFill>
                  <a:srgbClr val="2E2E2E"/>
                </a:solidFill>
                <a:latin typeface="Calibri"/>
              </a:rPr>
              <a:t>/ 10 · supporting factor</a:t>
            </a:r>
          </a:p>
        </p:txBody>
      </p:sp>
    </p:spTree>
  </p:cSld>
  <p:clrMapOvr>
    <a:masterClrMapping/>
  </p:clrMapOvr>
</p:sld>
</file>

<file path=ppt/slides/slide2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Egg Protein Membrane Market Factors Impacting Pricing</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Factors affecting the pricing decision of the product: category, price impact, direction of pressure and rationale</a:t>
            </a:r>
          </a:p>
        </p:txBody>
      </p:sp>
      <p:sp>
        <p:nvSpPr>
          <p:cNvPr id="7" name="Rounded Rectangle 6"/>
          <p:cNvSpPr/>
          <p:nvPr/>
        </p:nvSpPr>
        <p:spPr>
          <a:xfrm>
            <a:off x="142875" y="1007261"/>
            <a:ext cx="11906250" cy="255552"/>
          </a:xfrm>
          <a:prstGeom prst="roundRect">
            <a:avLst>
              <a:gd name="adj" fmla="val 29817"/>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The cost, demand, efficiency and regulatory forces shaping and impacting achievable selling prices grouped by category, with each factor's direction, impact and score.</a:t>
            </a:r>
          </a:p>
        </p:txBody>
      </p:sp>
      <p:sp>
        <p:nvSpPr>
          <p:cNvPr id="8" name="Rounded Rectangle 7"/>
          <p:cNvSpPr/>
          <p:nvPr/>
        </p:nvSpPr>
        <p:spPr>
          <a:xfrm>
            <a:off x="142875" y="1314450"/>
            <a:ext cx="11906250" cy="3286125"/>
          </a:xfrm>
          <a:prstGeom prst="roundRect">
            <a:avLst>
              <a:gd name="adj" fmla="val 231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9" name="Table 8"/>
          <p:cNvGraphicFramePr>
            <a:graphicFrameLocks noGrp="1"/>
          </p:cNvGraphicFramePr>
          <p:nvPr/>
        </p:nvGraphicFramePr>
        <p:xfrm>
          <a:off x="152400" y="1390650"/>
          <a:ext cx="11887199" cy="2981326"/>
        </p:xfrm>
        <a:graphic>
          <a:graphicData uri="http://schemas.openxmlformats.org/drawingml/2006/table">
            <a:tbl>
              <a:tblPr>
                <a:tableStyleId>{5C22544A-7EE6-4342-B048-85BDC9FD1C3A}</a:tableStyleId>
              </a:tblPr>
              <a:tblGrid>
                <a:gridCol w="2561515"/>
                <a:gridCol w="2697613"/>
                <a:gridCol w="1098187"/>
                <a:gridCol w="1211368"/>
                <a:gridCol w="1098187"/>
                <a:gridCol w="3220329"/>
              </a:tblGrid>
              <a:tr h="246126">
                <a:tc>
                  <a:txBody>
                    <a:bodyPr wrap="none"/>
                    <a:lstStyle/>
                    <a:p>
                      <a:pPr algn="l"/>
                      <a:r>
                        <a:rPr sz="1100" b="1">
                          <a:solidFill>
                            <a:srgbClr val="0E2A5C"/>
                          </a:solidFill>
                          <a:latin typeface="Calibri"/>
                        </a:rPr>
                        <a:t>Factor</a:t>
                      </a:r>
                      <a:endParaRPr sz="1100"/>
                    </a:p>
                  </a:txBody>
                  <a:tcPr marL="47625" marR="38100" marT="19050" marB="19050" anchor="ctr">
                    <a:solidFill>
                      <a:srgbClr val="EBF2F9"/>
                    </a:solidFill>
                  </a:tcPr>
                </a:tc>
                <a:tc>
                  <a:txBody>
                    <a:bodyPr wrap="none"/>
                    <a:lstStyle/>
                    <a:p>
                      <a:pPr algn="l"/>
                      <a:r>
                        <a:rPr sz="1100" b="1">
                          <a:solidFill>
                            <a:srgbClr val="0E2A5C"/>
                          </a:solidFill>
                          <a:latin typeface="Calibri"/>
                        </a:rPr>
                        <a:t>Category</a:t>
                      </a:r>
                      <a:endParaRPr sz="1100"/>
                    </a:p>
                  </a:txBody>
                  <a:tcPr marL="47625" marR="38100" marT="19050" marB="19050" anchor="ctr">
                    <a:solidFill>
                      <a:srgbClr val="EBF2F9"/>
                    </a:solidFill>
                  </a:tcPr>
                </a:tc>
                <a:tc>
                  <a:txBody>
                    <a:bodyPr wrap="none"/>
                    <a:lstStyle/>
                    <a:p>
                      <a:pPr algn="l"/>
                      <a:r>
                        <a:rPr sz="1100" b="1">
                          <a:solidFill>
                            <a:srgbClr val="0E2A5C"/>
                          </a:solidFill>
                          <a:latin typeface="Calibri"/>
                        </a:rPr>
                        <a:t>Price Impact</a:t>
                      </a:r>
                      <a:endParaRPr sz="1100"/>
                    </a:p>
                  </a:txBody>
                  <a:tcPr marL="47625" marR="38100" marT="19050" marB="19050" anchor="ctr">
                    <a:solidFill>
                      <a:srgbClr val="EBF2F9"/>
                    </a:solidFill>
                  </a:tcPr>
                </a:tc>
                <a:tc>
                  <a:txBody>
                    <a:bodyPr wrap="none"/>
                    <a:lstStyle/>
                    <a:p>
                      <a:pPr algn="l"/>
                      <a:r>
                        <a:rPr sz="1100" b="1">
                          <a:solidFill>
                            <a:srgbClr val="0E2A5C"/>
                          </a:solidFill>
                          <a:latin typeface="Calibri"/>
                        </a:rPr>
                        <a:t>Direction</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Score (0–10)</a:t>
                      </a:r>
                      <a:endParaRPr sz="1100"/>
                    </a:p>
                  </a:txBody>
                  <a:tcPr marL="47625" marR="38100" marT="19050" marB="19050" anchor="ctr">
                    <a:solidFill>
                      <a:srgbClr val="EBF2F9"/>
                    </a:solidFill>
                  </a:tcPr>
                </a:tc>
                <a:tc>
                  <a:txBody>
                    <a:bodyPr wrap="none"/>
                    <a:lstStyle/>
                    <a:p>
                      <a:pPr algn="l"/>
                      <a:r>
                        <a:rPr sz="1100" b="1">
                          <a:solidFill>
                            <a:srgbClr val="0E2A5C"/>
                          </a:solidFill>
                          <a:latin typeface="Calibri"/>
                        </a:rPr>
                        <a:t>How It Shapes Price</a:t>
                      </a:r>
                      <a:endParaRPr sz="1100"/>
                    </a:p>
                  </a:txBody>
                  <a:tcPr marL="47625" marR="38100" marT="19050" marB="19050" anchor="ctr">
                    <a:solidFill>
                      <a:srgbClr val="EBF2F9"/>
                    </a:solidFill>
                  </a:tcPr>
                </a:tc>
              </a:tr>
              <a:tr h="273520">
                <a:tc>
                  <a:txBody>
                    <a:bodyPr wrap="none"/>
                    <a:lstStyle/>
                    <a:p>
                      <a:pPr algn="l"/>
                      <a:r>
                        <a:rPr sz="1100" b="1">
                          <a:solidFill>
                            <a:srgbClr val="2E2E2E"/>
                          </a:solidFill>
                          <a:latin typeface="Calibri"/>
                        </a:rPr>
                        <a:t>Input Cost</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Cost &amp; Input Pressures</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High</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Raw-material and input costs.</a:t>
                      </a:r>
                      <a:endParaRPr sz="1100"/>
                    </a:p>
                  </a:txBody>
                  <a:tcPr marL="47625" marR="38100" marT="19050" marB="19050" anchor="ctr">
                    <a:solidFill>
                      <a:srgbClr val="FFFFFF"/>
                    </a:solidFill>
                  </a:tcPr>
                </a:tc>
              </a:tr>
              <a:tr h="273520">
                <a:tc>
                  <a:txBody>
                    <a:bodyPr wrap="none"/>
                    <a:lstStyle/>
                    <a:p>
                      <a:pPr algn="l"/>
                      <a:r>
                        <a:rPr sz="1100" b="1">
                          <a:solidFill>
                            <a:srgbClr val="2E2E2E"/>
                          </a:solidFill>
                          <a:latin typeface="Calibri"/>
                        </a:rPr>
                        <a:t>Labor &amp; Production Costs</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Cost &amp; Input Pressures</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Medium</a:t>
                      </a:r>
                      <a:endParaRPr sz="1100"/>
                    </a:p>
                  </a:txBody>
                  <a:tcPr marL="47625" marR="38100" marT="19050" marB="19050" anchor="ctr">
                    <a:solidFill>
                      <a:srgbClr val="F5F9FD"/>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Labour and production expenses.</a:t>
                      </a:r>
                      <a:endParaRPr sz="1100"/>
                    </a:p>
                  </a:txBody>
                  <a:tcPr marL="47625" marR="38100" marT="19050" marB="19050" anchor="ctr">
                    <a:solidFill>
                      <a:srgbClr val="F5F9FD"/>
                    </a:solidFill>
                  </a:tcPr>
                </a:tc>
              </a:tr>
              <a:tr h="273520">
                <a:tc>
                  <a:txBody>
                    <a:bodyPr wrap="none"/>
                    <a:lstStyle/>
                    <a:p>
                      <a:pPr algn="l"/>
                      <a:r>
                        <a:rPr sz="1100" b="1">
                          <a:solidFill>
                            <a:srgbClr val="2E2E2E"/>
                          </a:solidFill>
                          <a:latin typeface="Calibri"/>
                        </a:rPr>
                        <a:t>Supply Chain &amp; Logistics</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Cost &amp; Input Pressures</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Medium</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Supply-chain and logistics conditions.</a:t>
                      </a:r>
                      <a:endParaRPr sz="1100"/>
                    </a:p>
                  </a:txBody>
                  <a:tcPr marL="47625" marR="38100" marT="19050" marB="19050" anchor="ctr">
                    <a:solidFill>
                      <a:srgbClr val="FFFFFF"/>
                    </a:solidFill>
                  </a:tcPr>
                </a:tc>
              </a:tr>
              <a:tr h="273520">
                <a:tc>
                  <a:txBody>
                    <a:bodyPr wrap="none"/>
                    <a:lstStyle/>
                    <a:p>
                      <a:pPr algn="l"/>
                      <a:r>
                        <a:rPr sz="1100" b="1">
                          <a:solidFill>
                            <a:srgbClr val="2E2E2E"/>
                          </a:solidFill>
                          <a:latin typeface="Calibri"/>
                        </a:rPr>
                        <a:t>Demand &amp; Market Conditions</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Demand &amp; Competitive Forces</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High</a:t>
                      </a:r>
                      <a:endParaRPr sz="1100"/>
                    </a:p>
                  </a:txBody>
                  <a:tcPr marL="47625" marR="38100" marT="19050" marB="19050" anchor="ctr">
                    <a:solidFill>
                      <a:srgbClr val="F5F9FD"/>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Demand and broader market conditions.</a:t>
                      </a:r>
                      <a:endParaRPr sz="1100"/>
                    </a:p>
                  </a:txBody>
                  <a:tcPr marL="47625" marR="38100" marT="19050" marB="19050" anchor="ctr">
                    <a:solidFill>
                      <a:srgbClr val="F5F9FD"/>
                    </a:solidFill>
                  </a:tcPr>
                </a:tc>
              </a:tr>
              <a:tr h="273520">
                <a:tc>
                  <a:txBody>
                    <a:bodyPr wrap="none"/>
                    <a:lstStyle/>
                    <a:p>
                      <a:pPr algn="l"/>
                      <a:r>
                        <a:rPr sz="1100" b="1">
                          <a:solidFill>
                            <a:srgbClr val="2E2E2E"/>
                          </a:solidFill>
                          <a:latin typeface="Calibri"/>
                        </a:rPr>
                        <a:t>Competitive Landscape</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Demand &amp; Competitive Forces</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High</a:t>
                      </a:r>
                      <a:endParaRPr sz="1100"/>
                    </a:p>
                  </a:txBody>
                  <a:tcPr marL="47625" marR="38100" marT="19050" marB="19050" anchor="ctr">
                    <a:solidFill>
                      <a:srgbClr val="FFFFFF"/>
                    </a:solidFill>
                  </a:tcPr>
                </a:tc>
                <a:tc>
                  <a:txBody>
                    <a:bodyPr wrap="none"/>
                    <a:lstStyle/>
                    <a:p>
                      <a:pPr algn="l"/>
                      <a:r>
                        <a:rPr sz="1100" b="1">
                          <a:solidFill>
                            <a:srgbClr val="E44D3A"/>
                          </a:solidFill>
                          <a:latin typeface="Calibri"/>
                        </a:rPr>
                        <a:t>▼ Downward</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Competitive intensity.</a:t>
                      </a:r>
                      <a:endParaRPr sz="1100"/>
                    </a:p>
                  </a:txBody>
                  <a:tcPr marL="47625" marR="38100" marT="19050" marB="19050" anchor="ctr">
                    <a:solidFill>
                      <a:srgbClr val="FFFFFF"/>
                    </a:solidFill>
                  </a:tcPr>
                </a:tc>
              </a:tr>
              <a:tr h="273520">
                <a:tc>
                  <a:txBody>
                    <a:bodyPr wrap="none"/>
                    <a:lstStyle/>
                    <a:p>
                      <a:pPr algn="l"/>
                      <a:r>
                        <a:rPr sz="1100" b="1">
                          <a:solidFill>
                            <a:srgbClr val="2E2E2E"/>
                          </a:solidFill>
                          <a:latin typeface="Calibri"/>
                        </a:rPr>
                        <a:t>Brand &amp; Value Perception</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Demand &amp; Competitive Forces</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Medium</a:t>
                      </a:r>
                      <a:endParaRPr sz="1100"/>
                    </a:p>
                  </a:txBody>
                  <a:tcPr marL="47625" marR="38100" marT="19050" marB="19050" anchor="ctr">
                    <a:solidFill>
                      <a:srgbClr val="F5F9FD"/>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Brand strength and value perception.</a:t>
                      </a:r>
                      <a:endParaRPr sz="1100"/>
                    </a:p>
                  </a:txBody>
                  <a:tcPr marL="47625" marR="38100" marT="19050" marB="19050" anchor="ctr">
                    <a:solidFill>
                      <a:srgbClr val="F5F9FD"/>
                    </a:solidFill>
                  </a:tcPr>
                </a:tc>
              </a:tr>
              <a:tr h="273520">
                <a:tc>
                  <a:txBody>
                    <a:bodyPr wrap="none"/>
                    <a:lstStyle/>
                    <a:p>
                      <a:pPr algn="l"/>
                      <a:r>
                        <a:rPr sz="1100" b="1">
                          <a:solidFill>
                            <a:srgbClr val="2E2E2E"/>
                          </a:solidFill>
                          <a:latin typeface="Calibri"/>
                        </a:rPr>
                        <a:t>Technology &amp; Innovation</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Innovation &amp; Operating Efficiency</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Medium</a:t>
                      </a:r>
                      <a:endParaRPr sz="1100"/>
                    </a:p>
                  </a:txBody>
                  <a:tcPr marL="47625" marR="38100" marT="19050" marB="19050" anchor="ctr">
                    <a:solidFill>
                      <a:srgbClr val="FFFFFF"/>
                    </a:solidFill>
                  </a:tcPr>
                </a:tc>
                <a:tc>
                  <a:txBody>
                    <a:bodyPr wrap="none"/>
                    <a:lstStyle/>
                    <a:p>
                      <a:pPr algn="l"/>
                      <a:r>
                        <a:rPr sz="1100" b="1">
                          <a:solidFill>
                            <a:srgbClr val="E44D3A"/>
                          </a:solidFill>
                          <a:latin typeface="Calibri"/>
                        </a:rPr>
                        <a:t>▼ Downward</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Technology and process innovation.</a:t>
                      </a:r>
                      <a:endParaRPr sz="1100"/>
                    </a:p>
                  </a:txBody>
                  <a:tcPr marL="47625" marR="38100" marT="19050" marB="19050" anchor="ctr">
                    <a:solidFill>
                      <a:srgbClr val="FFFFFF"/>
                    </a:solidFill>
                  </a:tcPr>
                </a:tc>
              </a:tr>
              <a:tr h="273520">
                <a:tc>
                  <a:txBody>
                    <a:bodyPr wrap="none"/>
                    <a:lstStyle/>
                    <a:p>
                      <a:pPr algn="l"/>
                      <a:r>
                        <a:rPr sz="1100" b="1">
                          <a:solidFill>
                            <a:srgbClr val="2E2E2E"/>
                          </a:solidFill>
                          <a:latin typeface="Calibri"/>
                        </a:rPr>
                        <a:t>Aftermarket &amp; Service Costs</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Innovation &amp; Operating Efficiency</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Low</a:t>
                      </a:r>
                      <a:endParaRPr sz="1100"/>
                    </a:p>
                  </a:txBody>
                  <a:tcPr marL="47625" marR="38100" marT="19050" marB="19050" anchor="ctr">
                    <a:solidFill>
                      <a:srgbClr val="F5F9FD"/>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Aftermarket and service costs.</a:t>
                      </a:r>
                      <a:endParaRPr sz="1100"/>
                    </a:p>
                  </a:txBody>
                  <a:tcPr marL="47625" marR="38100" marT="19050" marB="19050" anchor="ctr">
                    <a:solidFill>
                      <a:srgbClr val="F5F9FD"/>
                    </a:solidFill>
                  </a:tcPr>
                </a:tc>
              </a:tr>
              <a:tr h="273520">
                <a:tc>
                  <a:txBody>
                    <a:bodyPr wrap="none"/>
                    <a:lstStyle/>
                    <a:p>
                      <a:pPr algn="l"/>
                      <a:r>
                        <a:rPr sz="1100" b="1">
                          <a:solidFill>
                            <a:srgbClr val="2E2E2E"/>
                          </a:solidFill>
                          <a:latin typeface="Calibri"/>
                        </a:rPr>
                        <a:t>Regulatory &amp; Compliance Costs</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Regulatory, Currency &amp; Macro</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Medium</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Regulatory and compliance costs.</a:t>
                      </a:r>
                      <a:endParaRPr sz="1100"/>
                    </a:p>
                  </a:txBody>
                  <a:tcPr marL="47625" marR="38100" marT="19050" marB="19050" anchor="ctr">
                    <a:solidFill>
                      <a:srgbClr val="FFFFFF"/>
                    </a:solidFill>
                  </a:tcPr>
                </a:tc>
              </a:tr>
              <a:tr h="273520">
                <a:tc>
                  <a:txBody>
                    <a:bodyPr wrap="none"/>
                    <a:lstStyle/>
                    <a:p>
                      <a:pPr algn="l"/>
                      <a:r>
                        <a:rPr sz="1100" b="1">
                          <a:solidFill>
                            <a:srgbClr val="2E2E2E"/>
                          </a:solidFill>
                          <a:latin typeface="Calibri"/>
                        </a:rPr>
                        <a:t>Currency &amp; Trade Dynamics</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Regulatory, Currency &amp; Macro</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Low</a:t>
                      </a:r>
                      <a:endParaRPr sz="1100"/>
                    </a:p>
                  </a:txBody>
                  <a:tcPr marL="47625" marR="38100" marT="19050" marB="19050" anchor="ctr">
                    <a:solidFill>
                      <a:srgbClr val="F5F9FD"/>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Currency and trade dynamics.</a:t>
                      </a:r>
                      <a:endParaRPr sz="1100"/>
                    </a:p>
                  </a:txBody>
                  <a:tcPr marL="47625" marR="38100" marT="19050" marB="19050" anchor="ctr">
                    <a:solidFill>
                      <a:srgbClr val="F5F9FD"/>
                    </a:solidFill>
                  </a:tcPr>
                </a:tc>
              </a:tr>
            </a:tbl>
          </a:graphicData>
        </a:graphic>
      </p:graphicFrame>
      <p:sp>
        <p:nvSpPr>
          <p:cNvPr id="10" name="TextBox 9"/>
          <p:cNvSpPr txBox="1"/>
          <p:nvPr/>
        </p:nvSpPr>
        <p:spPr>
          <a:xfrm>
            <a:off x="219075" y="438150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11" name="Rounded Rectangle 10"/>
          <p:cNvSpPr/>
          <p:nvPr/>
        </p:nvSpPr>
        <p:spPr>
          <a:xfrm>
            <a:off x="142875" y="4752975"/>
            <a:ext cx="11906250" cy="1790700"/>
          </a:xfrm>
          <a:prstGeom prst="roundRect">
            <a:avLst>
              <a:gd name="adj" fmla="val 4255"/>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6225" y="4838700"/>
            <a:ext cx="11639550" cy="209550"/>
          </a:xfrm>
          <a:prstGeom prst="rect">
            <a:avLst/>
          </a:prstGeom>
          <a:noFill/>
        </p:spPr>
        <p:txBody>
          <a:bodyPr wrap="square" lIns="0" rIns="19050" tIns="9525" bIns="9525">
            <a:spAutoFit/>
          </a:bodyPr>
          <a:lstStyle/>
          <a:p>
            <a:pPr algn="l"/>
            <a:r>
              <a:rPr sz="1300" b="1">
                <a:solidFill>
                  <a:srgbClr val="0E2A5C"/>
                </a:solidFill>
                <a:latin typeface="Calibri"/>
              </a:rPr>
              <a:t>What the Factors Imply</a:t>
            </a:r>
          </a:p>
        </p:txBody>
      </p:sp>
      <p:sp>
        <p:nvSpPr>
          <p:cNvPr id="13" name="Rectangle 12"/>
          <p:cNvSpPr/>
          <p:nvPr/>
        </p:nvSpPr>
        <p:spPr>
          <a:xfrm>
            <a:off x="276225" y="5076825"/>
            <a:ext cx="116395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6225" y="5162550"/>
            <a:ext cx="11639550" cy="130492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p:txBody>
      </p:sp>
      <p:sp>
        <p:nvSpPr>
          <p:cNvPr id="15" name="Rectangle 14"/>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7" name="Picture 16" descr="lock.png"/>
          <p:cNvPicPr>
            <a:picLocks noChangeAspect="1"/>
          </p:cNvPicPr>
          <p:nvPr/>
        </p:nvPicPr>
        <p:blipFill>
          <a:blip r:embed="rId4"/>
          <a:stretch>
            <a:fillRect/>
          </a:stretch>
        </p:blipFill>
        <p:spPr>
          <a:xfrm>
            <a:off x="8102155" y="2764346"/>
            <a:ext cx="330041" cy="480060"/>
          </a:xfrm>
          <a:prstGeom prst="rect">
            <a:avLst/>
          </a:prstGeom>
        </p:spPr>
      </p:pic>
      <p:sp>
        <p:nvSpPr>
          <p:cNvPr id="18" name="TextBox 17"/>
          <p:cNvSpPr txBox="1"/>
          <p:nvPr/>
        </p:nvSpPr>
        <p:spPr>
          <a:xfrm>
            <a:off x="276225" y="5172075"/>
            <a:ext cx="5425566" cy="194310"/>
          </a:xfrm>
          <a:prstGeom prst="rect">
            <a:avLst/>
          </a:prstGeom>
          <a:noFill/>
        </p:spPr>
        <p:txBody>
          <a:bodyPr wrap="none" lIns="0" rIns="0" tIns="0" bIns="0">
            <a:spAutoFit/>
          </a:bodyPr>
          <a:lstStyle/>
          <a:p>
            <a:r>
              <a:rPr sz="1150" b="0">
                <a:solidFill>
                  <a:srgbClr val="2E2E2E"/>
                </a:solidFill>
                <a:latin typeface="Calibri"/>
              </a:rPr>
              <a:t>▪ Input Cost and Demand &amp; Market Conditions carry the heaviest weight on selling prices (</a:t>
            </a:r>
          </a:p>
        </p:txBody>
      </p:sp>
      <p:pic>
        <p:nvPicPr>
          <p:cNvPr id="19" name="Picture 18" descr="lock.png"/>
          <p:cNvPicPr>
            <a:picLocks noChangeAspect="1"/>
          </p:cNvPicPr>
          <p:nvPr/>
        </p:nvPicPr>
        <p:blipFill>
          <a:blip r:embed="rId4"/>
          <a:stretch>
            <a:fillRect/>
          </a:stretch>
        </p:blipFill>
        <p:spPr>
          <a:xfrm>
            <a:off x="5650945" y="5161851"/>
            <a:ext cx="134549" cy="195707"/>
          </a:xfrm>
          <a:prstGeom prst="rect">
            <a:avLst/>
          </a:prstGeom>
        </p:spPr>
      </p:pic>
      <p:sp>
        <p:nvSpPr>
          <p:cNvPr id="20" name="TextBox 19"/>
          <p:cNvSpPr txBox="1"/>
          <p:nvPr/>
        </p:nvSpPr>
        <p:spPr>
          <a:xfrm>
            <a:off x="5826054" y="5172075"/>
            <a:ext cx="299553" cy="194310"/>
          </a:xfrm>
          <a:prstGeom prst="rect">
            <a:avLst/>
          </a:prstGeom>
          <a:noFill/>
        </p:spPr>
        <p:txBody>
          <a:bodyPr wrap="none" lIns="0" rIns="0" tIns="0" bIns="0">
            <a:spAutoFit/>
          </a:bodyPr>
          <a:lstStyle/>
          <a:p>
            <a:r>
              <a:rPr sz="1150" b="0">
                <a:solidFill>
                  <a:srgbClr val="2E2E2E"/>
                </a:solidFill>
                <a:latin typeface="Calibri"/>
              </a:rPr>
              <a:t>and</a:t>
            </a:r>
          </a:p>
        </p:txBody>
      </p:sp>
      <p:pic>
        <p:nvPicPr>
          <p:cNvPr id="21" name="Picture 20" descr="lock.png"/>
          <p:cNvPicPr>
            <a:picLocks noChangeAspect="1"/>
          </p:cNvPicPr>
          <p:nvPr/>
        </p:nvPicPr>
        <p:blipFill>
          <a:blip r:embed="rId4"/>
          <a:stretch>
            <a:fillRect/>
          </a:stretch>
        </p:blipFill>
        <p:spPr>
          <a:xfrm>
            <a:off x="6074762" y="5161851"/>
            <a:ext cx="134549" cy="195707"/>
          </a:xfrm>
          <a:prstGeom prst="rect">
            <a:avLst/>
          </a:prstGeom>
        </p:spPr>
      </p:pic>
      <p:sp>
        <p:nvSpPr>
          <p:cNvPr id="22" name="TextBox 21"/>
          <p:cNvSpPr txBox="1"/>
          <p:nvPr/>
        </p:nvSpPr>
        <p:spPr>
          <a:xfrm>
            <a:off x="6249871" y="5172075"/>
            <a:ext cx="395113" cy="194310"/>
          </a:xfrm>
          <a:prstGeom prst="rect">
            <a:avLst/>
          </a:prstGeom>
          <a:noFill/>
        </p:spPr>
        <p:txBody>
          <a:bodyPr wrap="none" lIns="0" rIns="0" tIns="0" bIns="0">
            <a:spAutoFit/>
          </a:bodyPr>
          <a:lstStyle/>
          <a:p>
            <a:r>
              <a:rPr sz="1150" b="0">
                <a:solidFill>
                  <a:srgbClr val="2E2E2E"/>
                </a:solidFill>
                <a:latin typeface="Calibri"/>
              </a:rPr>
              <a:t>/ 10).</a:t>
            </a:r>
          </a:p>
        </p:txBody>
      </p:sp>
      <p:sp>
        <p:nvSpPr>
          <p:cNvPr id="23" name="TextBox 22"/>
          <p:cNvSpPr txBox="1"/>
          <p:nvPr/>
        </p:nvSpPr>
        <p:spPr>
          <a:xfrm>
            <a:off x="276225" y="5399913"/>
            <a:ext cx="8333444" cy="194310"/>
          </a:xfrm>
          <a:prstGeom prst="rect">
            <a:avLst/>
          </a:prstGeom>
          <a:noFill/>
        </p:spPr>
        <p:txBody>
          <a:bodyPr wrap="none" lIns="0" rIns="0" tIns="0" bIns="0">
            <a:spAutoFit/>
          </a:bodyPr>
          <a:lstStyle/>
          <a:p>
            <a:r>
              <a:rPr sz="1150" b="0">
                <a:solidFill>
                  <a:srgbClr val="2E2E2E"/>
                </a:solidFill>
                <a:latin typeface="Calibri"/>
              </a:rPr>
              <a:t>▪ 8 of 10 factors exert upward pressure on price; the rest pull prices down chiefly Technology &amp; Innovation and the Competitive Landscape.</a:t>
            </a:r>
          </a:p>
        </p:txBody>
      </p:sp>
      <p:sp>
        <p:nvSpPr>
          <p:cNvPr id="24" name="TextBox 23"/>
          <p:cNvSpPr txBox="1"/>
          <p:nvPr/>
        </p:nvSpPr>
        <p:spPr>
          <a:xfrm>
            <a:off x="276225" y="5627750"/>
            <a:ext cx="8053610" cy="194310"/>
          </a:xfrm>
          <a:prstGeom prst="rect">
            <a:avLst/>
          </a:prstGeom>
          <a:noFill/>
        </p:spPr>
        <p:txBody>
          <a:bodyPr wrap="none" lIns="0" rIns="0" tIns="0" bIns="0">
            <a:spAutoFit/>
          </a:bodyPr>
          <a:lstStyle/>
          <a:p>
            <a:r>
              <a:rPr sz="1150" b="0">
                <a:solidFill>
                  <a:srgbClr val="2E2E2E"/>
                </a:solidFill>
                <a:latin typeface="Calibri"/>
              </a:rPr>
              <a:t>▪ Cost-side factors set the price floor; demand, brand and competitive forces determine how much of that cost can be passed through.</a:t>
            </a:r>
          </a:p>
        </p:txBody>
      </p:sp>
      <p:sp>
        <p:nvSpPr>
          <p:cNvPr id="25" name="TextBox 24"/>
          <p:cNvSpPr txBox="1"/>
          <p:nvPr/>
        </p:nvSpPr>
        <p:spPr>
          <a:xfrm>
            <a:off x="276225" y="5855588"/>
            <a:ext cx="7048375" cy="194310"/>
          </a:xfrm>
          <a:prstGeom prst="rect">
            <a:avLst/>
          </a:prstGeom>
          <a:noFill/>
        </p:spPr>
        <p:txBody>
          <a:bodyPr wrap="none" lIns="0" rIns="0" tIns="0" bIns="0">
            <a:spAutoFit/>
          </a:bodyPr>
          <a:lstStyle/>
          <a:p>
            <a:r>
              <a:rPr sz="1150" b="0">
                <a:solidFill>
                  <a:srgbClr val="2E2E2E"/>
                </a:solidFill>
                <a:latin typeface="Calibri"/>
              </a:rPr>
              <a:t>▪ Aftermarket &amp; Service Costs exerts the least pressure a second-order effect to monitor rather than actively manage.</a:t>
            </a:r>
          </a:p>
        </p:txBody>
      </p:sp>
    </p:spTree>
  </p:cSld>
  <p:clrMapOvr>
    <a:masterClrMapping/>
  </p:clrMapOvr>
</p:sld>
</file>

<file path=ppt/slides/slide2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Egg Protein Membrane Market Regional Price Assessment</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Regional price assessment across the value chain, from manufacturer to retail, and average price by geography, 2026–2036</a:t>
            </a:r>
          </a:p>
        </p:txBody>
      </p:sp>
      <p:sp>
        <p:nvSpPr>
          <p:cNvPr id="7" name="Rounded Rectangle 6"/>
          <p:cNvSpPr/>
          <p:nvPr/>
        </p:nvSpPr>
        <p:spPr>
          <a:xfrm>
            <a:off x="142875" y="1007261"/>
            <a:ext cx="11906250" cy="255552"/>
          </a:xfrm>
          <a:prstGeom prst="roundRect">
            <a:avLst>
              <a:gd name="adj" fmla="val 29817"/>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Regional price assessment across the value chain (US$/MT) and price trajectory to 2036.</a:t>
            </a:r>
          </a:p>
        </p:txBody>
      </p:sp>
      <p:sp>
        <p:nvSpPr>
          <p:cNvPr id="8" name="Rounded Rectangle 7"/>
          <p:cNvSpPr/>
          <p:nvPr/>
        </p:nvSpPr>
        <p:spPr>
          <a:xfrm>
            <a:off x="142875" y="1317574"/>
            <a:ext cx="5905500" cy="2738055"/>
          </a:xfrm>
          <a:prstGeom prst="roundRect">
            <a:avLst>
              <a:gd name="adj" fmla="val 2782"/>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374724"/>
            <a:ext cx="5715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Regional Price by Value-Chain Level (US$/MT)</a:t>
            </a:r>
          </a:p>
        </p:txBody>
      </p:sp>
      <p:graphicFrame>
        <p:nvGraphicFramePr>
          <p:cNvPr id="10" name="Table 9"/>
          <p:cNvGraphicFramePr>
            <a:graphicFrameLocks noGrp="1"/>
          </p:cNvGraphicFramePr>
          <p:nvPr/>
        </p:nvGraphicFramePr>
        <p:xfrm>
          <a:off x="152400" y="1574749"/>
          <a:ext cx="5889252" cy="2271330"/>
        </p:xfrm>
        <a:graphic>
          <a:graphicData uri="http://schemas.openxmlformats.org/drawingml/2006/table">
            <a:tbl>
              <a:tblPr>
                <a:tableStyleId>{5C22544A-7EE6-4342-B048-85BDC9FD1C3A}</a:tableStyleId>
              </a:tblPr>
              <a:tblGrid>
                <a:gridCol w="1478643"/>
                <a:gridCol w="1101952"/>
                <a:gridCol w="1101952"/>
                <a:gridCol w="1101952"/>
                <a:gridCol w="1104753"/>
              </a:tblGrid>
              <a:tr h="246126">
                <a:tc>
                  <a:txBody>
                    <a:bodyPr wrap="none"/>
                    <a:lstStyle/>
                    <a:p>
                      <a:pPr algn="l"/>
                      <a:r>
                        <a:rPr sz="1100" b="1">
                          <a:solidFill>
                            <a:srgbClr val="0E2A5C"/>
                          </a:solidFill>
                          <a:latin typeface="Calibri"/>
                        </a:rPr>
                        <a:t>Geography</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Manufacturer</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Distribution</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Retail</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Total Margin (%)</a:t>
                      </a:r>
                      <a:endParaRPr sz="1100"/>
                    </a:p>
                  </a:txBody>
                  <a:tcPr marL="47625" marR="38100" marT="19050" marB="19050" anchor="ctr">
                    <a:solidFill>
                      <a:srgbClr val="EBF2F9"/>
                    </a:solidFill>
                  </a:tcPr>
                </a:tc>
              </a:tr>
              <a:tr h="337534">
                <a:tc>
                  <a:txBody>
                    <a:bodyPr wrap="none"/>
                    <a:lstStyle/>
                    <a:p>
                      <a:pPr algn="l"/>
                      <a:r>
                        <a:rPr sz="1100" b="1">
                          <a:solidFill>
                            <a:srgbClr val="2E2E2E"/>
                          </a:solidFill>
                          <a:latin typeface="Calibri"/>
                        </a:rPr>
                        <a:t>North America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37534">
                <a:tc>
                  <a:txBody>
                    <a:bodyPr wrap="none"/>
                    <a:lstStyle/>
                    <a:p>
                      <a:pPr algn="l"/>
                      <a:r>
                        <a:rPr sz="1100" b="1">
                          <a:solidFill>
                            <a:srgbClr val="2E2E2E"/>
                          </a:solidFill>
                          <a:latin typeface="Calibri"/>
                        </a:rPr>
                        <a:t>Latin America</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337534">
                <a:tc>
                  <a:txBody>
                    <a:bodyPr wrap="none"/>
                    <a:lstStyle/>
                    <a:p>
                      <a:pPr algn="l"/>
                      <a:r>
                        <a:rPr sz="1100" b="1">
                          <a:solidFill>
                            <a:srgbClr val="2E2E2E"/>
                          </a:solidFill>
                          <a:latin typeface="Calibri"/>
                        </a:rPr>
                        <a:t>Europe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37534">
                <a:tc>
                  <a:txBody>
                    <a:bodyPr wrap="none"/>
                    <a:lstStyle/>
                    <a:p>
                      <a:pPr algn="l"/>
                      <a:r>
                        <a:rPr sz="1100" b="1">
                          <a:solidFill>
                            <a:srgbClr val="2E2E2E"/>
                          </a:solidFill>
                          <a:latin typeface="Calibri"/>
                        </a:rPr>
                        <a:t>East Asia</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337534">
                <a:tc>
                  <a:txBody>
                    <a:bodyPr wrap="none"/>
                    <a:lstStyle/>
                    <a:p>
                      <a:pPr algn="l"/>
                      <a:r>
                        <a:rPr sz="1100" b="1">
                          <a:solidFill>
                            <a:srgbClr val="2E2E2E"/>
                          </a:solidFill>
                          <a:latin typeface="Calibri"/>
                        </a:rPr>
                        <a:t>South Asia &amp; Pacific</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37534">
                <a:tc>
                  <a:txBody>
                    <a:bodyPr wrap="none"/>
                    <a:lstStyle/>
                    <a:p>
                      <a:pPr algn="l"/>
                      <a:r>
                        <a:rPr sz="1100" b="1">
                          <a:solidFill>
                            <a:srgbClr val="2E2E2E"/>
                          </a:solidFill>
                          <a:latin typeface="Calibri"/>
                        </a:rPr>
                        <a:t>Middle East and Africa</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bl>
          </a:graphicData>
        </a:graphic>
      </p:graphicFrame>
      <p:sp>
        <p:nvSpPr>
          <p:cNvPr id="11" name="TextBox 10"/>
          <p:cNvSpPr txBox="1"/>
          <p:nvPr/>
        </p:nvSpPr>
        <p:spPr>
          <a:xfrm>
            <a:off x="219075" y="3855604"/>
            <a:ext cx="5753100"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12" name="Rounded Rectangle 11"/>
          <p:cNvSpPr/>
          <p:nvPr/>
        </p:nvSpPr>
        <p:spPr>
          <a:xfrm>
            <a:off x="6200775" y="1317574"/>
            <a:ext cx="5848350" cy="2738055"/>
          </a:xfrm>
          <a:prstGeom prst="roundRect">
            <a:avLst>
              <a:gd name="adj" fmla="val 2782"/>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96025" y="1374724"/>
            <a:ext cx="56578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Price by Geography (US$/MT)</a:t>
            </a:r>
          </a:p>
        </p:txBody>
      </p:sp>
      <p:graphicFrame>
        <p:nvGraphicFramePr>
          <p:cNvPr id="14" name="Table 13"/>
          <p:cNvGraphicFramePr>
            <a:graphicFrameLocks noGrp="1"/>
          </p:cNvGraphicFramePr>
          <p:nvPr/>
        </p:nvGraphicFramePr>
        <p:xfrm>
          <a:off x="6210300" y="1574749"/>
          <a:ext cx="5829298" cy="2271330"/>
        </p:xfrm>
        <a:graphic>
          <a:graphicData uri="http://schemas.openxmlformats.org/drawingml/2006/table">
            <a:tbl>
              <a:tblPr>
                <a:tableStyleId>{5C22544A-7EE6-4342-B048-85BDC9FD1C3A}</a:tableStyleId>
              </a:tblPr>
              <a:tblGrid>
                <a:gridCol w="2009010"/>
                <a:gridCol w="955072"/>
                <a:gridCol w="955072"/>
                <a:gridCol w="955072"/>
                <a:gridCol w="955072"/>
              </a:tblGrid>
              <a:tr h="246126">
                <a:tc>
                  <a:txBody>
                    <a:bodyPr wrap="none"/>
                    <a:lstStyle/>
                    <a:p>
                      <a:pPr algn="l"/>
                      <a:r>
                        <a:rPr sz="1100" b="1">
                          <a:solidFill>
                            <a:srgbClr val="0E2A5C"/>
                          </a:solidFill>
                          <a:latin typeface="Calibri"/>
                        </a:rPr>
                        <a:t>Geography</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2026E</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2029F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2032F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2036F</a:t>
                      </a:r>
                      <a:endParaRPr sz="1100"/>
                    </a:p>
                  </a:txBody>
                  <a:tcPr marL="47625" marR="38100" marT="19050" marB="19050" anchor="ctr">
                    <a:solidFill>
                      <a:srgbClr val="EBF2F9"/>
                    </a:solidFill>
                  </a:tcPr>
                </a:tc>
              </a:tr>
              <a:tr h="337534">
                <a:tc>
                  <a:txBody>
                    <a:bodyPr wrap="none"/>
                    <a:lstStyle/>
                    <a:p>
                      <a:pPr algn="l"/>
                      <a:r>
                        <a:rPr sz="1100" b="1">
                          <a:solidFill>
                            <a:srgbClr val="2E2E2E"/>
                          </a:solidFill>
                          <a:latin typeface="Calibri"/>
                        </a:rPr>
                        <a:t>North America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37534">
                <a:tc>
                  <a:txBody>
                    <a:bodyPr wrap="none"/>
                    <a:lstStyle/>
                    <a:p>
                      <a:pPr algn="l"/>
                      <a:r>
                        <a:rPr sz="1100" b="1">
                          <a:solidFill>
                            <a:srgbClr val="2E2E2E"/>
                          </a:solidFill>
                          <a:latin typeface="Calibri"/>
                        </a:rPr>
                        <a:t>Latin America</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337534">
                <a:tc>
                  <a:txBody>
                    <a:bodyPr wrap="none"/>
                    <a:lstStyle/>
                    <a:p>
                      <a:pPr algn="l"/>
                      <a:r>
                        <a:rPr sz="1100" b="1">
                          <a:solidFill>
                            <a:srgbClr val="2E2E2E"/>
                          </a:solidFill>
                          <a:latin typeface="Calibri"/>
                        </a:rPr>
                        <a:t>Europe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37534">
                <a:tc>
                  <a:txBody>
                    <a:bodyPr wrap="none"/>
                    <a:lstStyle/>
                    <a:p>
                      <a:pPr algn="l"/>
                      <a:r>
                        <a:rPr sz="1100" b="1">
                          <a:solidFill>
                            <a:srgbClr val="2E2E2E"/>
                          </a:solidFill>
                          <a:latin typeface="Calibri"/>
                        </a:rPr>
                        <a:t>East Asia</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337534">
                <a:tc>
                  <a:txBody>
                    <a:bodyPr wrap="none"/>
                    <a:lstStyle/>
                    <a:p>
                      <a:pPr algn="l"/>
                      <a:r>
                        <a:rPr sz="1100" b="1">
                          <a:solidFill>
                            <a:srgbClr val="2E2E2E"/>
                          </a:solidFill>
                          <a:latin typeface="Calibri"/>
                        </a:rPr>
                        <a:t>South Asia &amp; Pacific</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37534">
                <a:tc>
                  <a:txBody>
                    <a:bodyPr wrap="none"/>
                    <a:lstStyle/>
                    <a:p>
                      <a:pPr algn="l"/>
                      <a:r>
                        <a:rPr sz="1100" b="1">
                          <a:solidFill>
                            <a:srgbClr val="2E2E2E"/>
                          </a:solidFill>
                          <a:latin typeface="Calibri"/>
                        </a:rPr>
                        <a:t>Middle East and Africa</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bl>
          </a:graphicData>
        </a:graphic>
      </p:graphicFrame>
      <p:sp>
        <p:nvSpPr>
          <p:cNvPr id="15" name="TextBox 14"/>
          <p:cNvSpPr txBox="1"/>
          <p:nvPr/>
        </p:nvSpPr>
        <p:spPr>
          <a:xfrm>
            <a:off x="6276975" y="3855604"/>
            <a:ext cx="5695950"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16" name="Rounded Rectangle 15"/>
          <p:cNvSpPr/>
          <p:nvPr/>
        </p:nvSpPr>
        <p:spPr>
          <a:xfrm>
            <a:off x="142875" y="4201658"/>
            <a:ext cx="11906250" cy="2354727"/>
          </a:xfrm>
          <a:prstGeom prst="roundRect">
            <a:avLst>
              <a:gd name="adj" fmla="val 3236"/>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4287383"/>
            <a:ext cx="11639550" cy="209550"/>
          </a:xfrm>
          <a:prstGeom prst="rect">
            <a:avLst/>
          </a:prstGeom>
          <a:noFill/>
        </p:spPr>
        <p:txBody>
          <a:bodyPr wrap="square" lIns="0" rIns="19050" tIns="9525" bIns="9525">
            <a:spAutoFit/>
          </a:bodyPr>
          <a:lstStyle/>
          <a:p>
            <a:pPr algn="l"/>
            <a:r>
              <a:rPr sz="1300" b="1">
                <a:solidFill>
                  <a:srgbClr val="0E2A5C"/>
                </a:solidFill>
                <a:latin typeface="Calibri"/>
              </a:rPr>
              <a:t>What This Section Covers</a:t>
            </a:r>
          </a:p>
        </p:txBody>
      </p:sp>
      <p:sp>
        <p:nvSpPr>
          <p:cNvPr id="18" name="Rectangle 17"/>
          <p:cNvSpPr/>
          <p:nvPr/>
        </p:nvSpPr>
        <p:spPr>
          <a:xfrm>
            <a:off x="276225" y="4525508"/>
            <a:ext cx="116395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6225" y="4611233"/>
            <a:ext cx="11639550" cy="1868952"/>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t>
            </a:r>
            <a:r>
              <a:rPr sz="1150" b="0">
                <a:solidFill>
                  <a:srgbClr val="2E2E2E"/>
                </a:solidFill>
                <a:latin typeface="Calibri"/>
              </a:rPr>
              <a:t>Manufacturer-level pricing ex-works / producer price benchmarked for each geography.</a:t>
            </a:r>
          </a:p>
          <a:p>
            <a:pPr algn="l">
              <a:lnSpc>
                <a:spcPct val="110000"/>
              </a:lnSpc>
              <a:spcBef>
                <a:spcPts val="0"/>
              </a:spcBef>
              <a:spcAft>
                <a:spcPts val="500"/>
              </a:spcAft>
            </a:pPr>
            <a:r>
              <a:rPr sz="1100" b="0">
                <a:solidFill>
                  <a:srgbClr val="2A5F8F"/>
                </a:solidFill>
                <a:latin typeface="Calibri"/>
              </a:rPr>
              <a:t>▪  </a:t>
            </a:r>
            <a:r>
              <a:rPr sz="1150" b="0">
                <a:solidFill>
                  <a:srgbClr val="2E2E2E"/>
                </a:solidFill>
                <a:latin typeface="Calibri"/>
              </a:rPr>
              <a:t>Distribution &amp; channel pricing logistics and channel margin layered onto the producer price.</a:t>
            </a:r>
          </a:p>
          <a:p>
            <a:pPr algn="l">
              <a:lnSpc>
                <a:spcPct val="110000"/>
              </a:lnSpc>
              <a:spcBef>
                <a:spcPts val="0"/>
              </a:spcBef>
              <a:spcAft>
                <a:spcPts val="500"/>
              </a:spcAft>
            </a:pPr>
            <a:r>
              <a:rPr sz="1100" b="0">
                <a:solidFill>
                  <a:srgbClr val="2A5F8F"/>
                </a:solidFill>
                <a:latin typeface="Calibri"/>
              </a:rPr>
              <a:t>▪  </a:t>
            </a:r>
            <a:r>
              <a:rPr sz="1150" b="0">
                <a:solidFill>
                  <a:srgbClr val="2E2E2E"/>
                </a:solidFill>
                <a:latin typeface="Calibri"/>
              </a:rPr>
              <a:t>Retail / end-market pricing the average price paid by the end customer across geographies.</a:t>
            </a:r>
          </a:p>
          <a:p>
            <a:pPr algn="l">
              <a:lnSpc>
                <a:spcPct val="110000"/>
              </a:lnSpc>
              <a:spcBef>
                <a:spcPts val="0"/>
              </a:spcBef>
              <a:spcAft>
                <a:spcPts val="500"/>
              </a:spcAft>
            </a:pPr>
            <a:r>
              <a:rPr sz="1100" b="0">
                <a:solidFill>
                  <a:srgbClr val="2A5F8F"/>
                </a:solidFill>
                <a:latin typeface="Calibri"/>
              </a:rPr>
              <a:t>▪  </a:t>
            </a:r>
            <a:r>
              <a:rPr sz="1150" b="0">
                <a:solidFill>
                  <a:srgbClr val="2E2E2E"/>
                </a:solidFill>
                <a:latin typeface="Calibri"/>
              </a:rPr>
              <a:t>Value-chain margin build-up cumulative margin from manufacturer to retail, by geography (prices derived as Value ÷ Volume).</a:t>
            </a:r>
          </a:p>
        </p:txBody>
      </p:sp>
      <p:sp>
        <p:nvSpPr>
          <p:cNvPr id="20" name="Rectangle 19"/>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22" name="Picture 21" descr="lock.png"/>
          <p:cNvPicPr>
            <a:picLocks noChangeAspect="1"/>
          </p:cNvPicPr>
          <p:nvPr/>
        </p:nvPicPr>
        <p:blipFill>
          <a:blip r:embed="rId4"/>
          <a:stretch>
            <a:fillRect/>
          </a:stretch>
        </p:blipFill>
        <p:spPr>
          <a:xfrm>
            <a:off x="3642655" y="2566777"/>
            <a:ext cx="366712" cy="533400"/>
          </a:xfrm>
          <a:prstGeom prst="rect">
            <a:avLst/>
          </a:prstGeom>
        </p:spPr>
      </p:pic>
      <p:pic>
        <p:nvPicPr>
          <p:cNvPr id="23" name="Picture 22" descr="lock.png"/>
          <p:cNvPicPr>
            <a:picLocks noChangeAspect="1"/>
          </p:cNvPicPr>
          <p:nvPr/>
        </p:nvPicPr>
        <p:blipFill>
          <a:blip r:embed="rId4"/>
          <a:stretch>
            <a:fillRect/>
          </a:stretch>
        </p:blipFill>
        <p:spPr>
          <a:xfrm>
            <a:off x="9942764" y="2566777"/>
            <a:ext cx="366712" cy="533400"/>
          </a:xfrm>
          <a:prstGeom prst="rect">
            <a:avLst/>
          </a:prstGeom>
        </p:spPr>
      </p:pic>
    </p:spTree>
  </p:cSld>
  <p:clrMapOvr>
    <a:masterClrMapping/>
  </p:clrMapOvr>
</p:sld>
</file>

<file path=ppt/slides/slide2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Egg Protein Membrane Market Global Pricing Benchmarking</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Benchmarking of price range by region and sub-segment against the weighted average price of each region</a:t>
            </a:r>
          </a:p>
        </p:txBody>
      </p:sp>
      <p:sp>
        <p:nvSpPr>
          <p:cNvPr id="7" name="Rounded Rectangle 6"/>
          <p:cNvSpPr/>
          <p:nvPr/>
        </p:nvSpPr>
        <p:spPr>
          <a:xfrm>
            <a:off x="142875" y="1007261"/>
            <a:ext cx="11906250" cy="255552"/>
          </a:xfrm>
          <a:prstGeom prst="roundRect">
            <a:avLst>
              <a:gd name="adj" fmla="val 29817"/>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Development-stage price assumptions and manufacturer benchmarking price range by product type type and region (US$/MT).</a:t>
            </a:r>
          </a:p>
        </p:txBody>
      </p:sp>
      <p:sp>
        <p:nvSpPr>
          <p:cNvPr id="8" name="Rounded Rectangle 7"/>
          <p:cNvSpPr/>
          <p:nvPr/>
        </p:nvSpPr>
        <p:spPr>
          <a:xfrm>
            <a:off x="142875" y="1314450"/>
            <a:ext cx="11906250" cy="2876550"/>
          </a:xfrm>
          <a:prstGeom prst="roundRect">
            <a:avLst>
              <a:gd name="adj" fmla="val 264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371600"/>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Price Benchmarking by Region &amp; Product Type (US$/MT)</a:t>
            </a:r>
          </a:p>
        </p:txBody>
      </p:sp>
      <p:graphicFrame>
        <p:nvGraphicFramePr>
          <p:cNvPr id="10" name="Table 9"/>
          <p:cNvGraphicFramePr>
            <a:graphicFrameLocks noGrp="1"/>
          </p:cNvGraphicFramePr>
          <p:nvPr/>
        </p:nvGraphicFramePr>
        <p:xfrm>
          <a:off x="152400" y="1571625"/>
          <a:ext cx="11887200" cy="2409822"/>
        </p:xfrm>
        <a:graphic>
          <a:graphicData uri="http://schemas.openxmlformats.org/drawingml/2006/table">
            <a:tbl>
              <a:tblPr>
                <a:tableStyleId>{5C22544A-7EE6-4342-B048-85BDC9FD1C3A}</a:tableStyleId>
              </a:tblPr>
              <a:tblGrid>
                <a:gridCol w="1625296"/>
                <a:gridCol w="2565476"/>
                <a:gridCol w="2565476"/>
                <a:gridCol w="2565476"/>
                <a:gridCol w="2565476"/>
              </a:tblGrid>
              <a:tr h="246126">
                <a:tc>
                  <a:txBody>
                    <a:bodyPr wrap="none"/>
                    <a:lstStyle/>
                    <a:p>
                      <a:pPr algn="l"/>
                      <a:r>
                        <a:rPr sz="1100" b="1">
                          <a:solidFill>
                            <a:srgbClr val="0E2A5C"/>
                          </a:solidFill>
                          <a:latin typeface="Calibri"/>
                        </a:rPr>
                        <a:t>Region</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Micronized Eggshell Membrane</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Hydrolyzed Eggshell Membrane</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Specialty Extracted Protein Fractions</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Weighted Avg</a:t>
                      </a:r>
                      <a:endParaRPr sz="1100"/>
                    </a:p>
                  </a:txBody>
                  <a:tcPr marL="47625" marR="38100" marT="19050" marB="19050" anchor="ctr">
                    <a:solidFill>
                      <a:srgbClr val="EBF2F9"/>
                    </a:solidFill>
                  </a:tcPr>
                </a:tc>
              </a:tr>
              <a:tr h="360616">
                <a:tc>
                  <a:txBody>
                    <a:bodyPr wrap="none"/>
                    <a:lstStyle/>
                    <a:p>
                      <a:pPr algn="l"/>
                      <a:r>
                        <a:rPr sz="1100" b="1">
                          <a:solidFill>
                            <a:srgbClr val="2E2E2E"/>
                          </a:solidFill>
                          <a:latin typeface="Calibri"/>
                        </a:rPr>
                        <a:t>North America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60616">
                <a:tc>
                  <a:txBody>
                    <a:bodyPr wrap="none"/>
                    <a:lstStyle/>
                    <a:p>
                      <a:pPr algn="l"/>
                      <a:r>
                        <a:rPr sz="1100" b="1">
                          <a:solidFill>
                            <a:srgbClr val="2E2E2E"/>
                          </a:solidFill>
                          <a:latin typeface="Calibri"/>
                        </a:rPr>
                        <a:t>Latin America</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360616">
                <a:tc>
                  <a:txBody>
                    <a:bodyPr wrap="none"/>
                    <a:lstStyle/>
                    <a:p>
                      <a:pPr algn="l"/>
                      <a:r>
                        <a:rPr sz="1100" b="1">
                          <a:solidFill>
                            <a:srgbClr val="2E2E2E"/>
                          </a:solidFill>
                          <a:latin typeface="Calibri"/>
                        </a:rPr>
                        <a:t>Europe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60616">
                <a:tc>
                  <a:txBody>
                    <a:bodyPr wrap="none"/>
                    <a:lstStyle/>
                    <a:p>
                      <a:pPr algn="l"/>
                      <a:r>
                        <a:rPr sz="1100" b="1">
                          <a:solidFill>
                            <a:srgbClr val="2E2E2E"/>
                          </a:solidFill>
                          <a:latin typeface="Calibri"/>
                        </a:rPr>
                        <a:t>East Asia</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360616">
                <a:tc>
                  <a:txBody>
                    <a:bodyPr wrap="none"/>
                    <a:lstStyle/>
                    <a:p>
                      <a:pPr algn="l"/>
                      <a:r>
                        <a:rPr sz="1100" b="1">
                          <a:solidFill>
                            <a:srgbClr val="2E2E2E"/>
                          </a:solidFill>
                          <a:latin typeface="Calibri"/>
                        </a:rPr>
                        <a:t>South Asia &amp; Pacific</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60616">
                <a:tc>
                  <a:txBody>
                    <a:bodyPr wrap="none"/>
                    <a:lstStyle/>
                    <a:p>
                      <a:pPr algn="l"/>
                      <a:r>
                        <a:rPr sz="1100" b="1">
                          <a:solidFill>
                            <a:srgbClr val="2E2E2E"/>
                          </a:solidFill>
                          <a:latin typeface="Calibri"/>
                        </a:rPr>
                        <a:t>Middle East and Africa</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bl>
          </a:graphicData>
        </a:graphic>
      </p:graphicFrame>
      <p:sp>
        <p:nvSpPr>
          <p:cNvPr id="11" name="TextBox 10"/>
          <p:cNvSpPr txBox="1"/>
          <p:nvPr/>
        </p:nvSpPr>
        <p:spPr>
          <a:xfrm>
            <a:off x="219075" y="399097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12" name="Rounded Rectangle 11"/>
          <p:cNvSpPr/>
          <p:nvPr/>
        </p:nvSpPr>
        <p:spPr>
          <a:xfrm>
            <a:off x="142875" y="4333875"/>
            <a:ext cx="11906250" cy="2209800"/>
          </a:xfrm>
          <a:prstGeom prst="roundRect">
            <a:avLst>
              <a:gd name="adj" fmla="val 344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6225" y="4419600"/>
            <a:ext cx="11639550" cy="209550"/>
          </a:xfrm>
          <a:prstGeom prst="rect">
            <a:avLst/>
          </a:prstGeom>
          <a:noFill/>
        </p:spPr>
        <p:txBody>
          <a:bodyPr wrap="square" lIns="0" rIns="19050" tIns="9525" bIns="9525">
            <a:spAutoFit/>
          </a:bodyPr>
          <a:lstStyle/>
          <a:p>
            <a:pPr algn="l"/>
            <a:r>
              <a:rPr sz="1300" b="1">
                <a:solidFill>
                  <a:srgbClr val="0E2A5C"/>
                </a:solidFill>
                <a:latin typeface="Calibri"/>
              </a:rPr>
              <a:t>Benchmarking Insights</a:t>
            </a:r>
          </a:p>
        </p:txBody>
      </p:sp>
      <p:sp>
        <p:nvSpPr>
          <p:cNvPr id="14" name="Rectangle 13"/>
          <p:cNvSpPr/>
          <p:nvPr/>
        </p:nvSpPr>
        <p:spPr>
          <a:xfrm>
            <a:off x="276225" y="4657725"/>
            <a:ext cx="116395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4743450"/>
            <a:ext cx="11639550" cy="172402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p:txBody>
      </p:sp>
      <p:sp>
        <p:nvSpPr>
          <p:cNvPr id="16" name="Rectangle 15"/>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8" name="Picture 17" descr="lock.png"/>
          <p:cNvPicPr>
            <a:picLocks noChangeAspect="1"/>
          </p:cNvPicPr>
          <p:nvPr/>
        </p:nvPicPr>
        <p:blipFill>
          <a:blip r:embed="rId4"/>
          <a:stretch>
            <a:fillRect/>
          </a:stretch>
        </p:blipFill>
        <p:spPr>
          <a:xfrm>
            <a:off x="6721957" y="2632898"/>
            <a:ext cx="366712" cy="533400"/>
          </a:xfrm>
          <a:prstGeom prst="rect">
            <a:avLst/>
          </a:prstGeom>
        </p:spPr>
      </p:pic>
      <p:sp>
        <p:nvSpPr>
          <p:cNvPr id="19" name="TextBox 18"/>
          <p:cNvSpPr txBox="1"/>
          <p:nvPr/>
        </p:nvSpPr>
        <p:spPr>
          <a:xfrm>
            <a:off x="276225" y="4752975"/>
            <a:ext cx="4641688" cy="194310"/>
          </a:xfrm>
          <a:prstGeom prst="rect">
            <a:avLst/>
          </a:prstGeom>
          <a:noFill/>
        </p:spPr>
        <p:txBody>
          <a:bodyPr wrap="none" lIns="0" rIns="0" tIns="0" bIns="0">
            <a:spAutoFit/>
          </a:bodyPr>
          <a:lstStyle/>
          <a:p>
            <a:r>
              <a:rPr sz="1150" b="0">
                <a:solidFill>
                  <a:srgbClr val="2E2E2E"/>
                </a:solidFill>
                <a:latin typeface="Calibri"/>
              </a:rPr>
              <a:t>▪ On a weighted-average basis 'North America' is the highest-priced region (~</a:t>
            </a:r>
          </a:p>
        </p:txBody>
      </p:sp>
      <p:pic>
        <p:nvPicPr>
          <p:cNvPr id="20" name="Picture 19" descr="lock.png"/>
          <p:cNvPicPr>
            <a:picLocks noChangeAspect="1"/>
          </p:cNvPicPr>
          <p:nvPr/>
        </p:nvPicPr>
        <p:blipFill>
          <a:blip r:embed="rId4"/>
          <a:stretch>
            <a:fillRect/>
          </a:stretch>
        </p:blipFill>
        <p:spPr>
          <a:xfrm>
            <a:off x="4867067" y="4742751"/>
            <a:ext cx="134549" cy="195707"/>
          </a:xfrm>
          <a:prstGeom prst="rect">
            <a:avLst/>
          </a:prstGeom>
        </p:spPr>
      </p:pic>
      <p:sp>
        <p:nvSpPr>
          <p:cNvPr id="21" name="TextBox 20"/>
          <p:cNvSpPr txBox="1"/>
          <p:nvPr/>
        </p:nvSpPr>
        <p:spPr>
          <a:xfrm>
            <a:off x="5042176" y="4752975"/>
            <a:ext cx="3590528" cy="194310"/>
          </a:xfrm>
          <a:prstGeom prst="rect">
            <a:avLst/>
          </a:prstGeom>
          <a:noFill/>
        </p:spPr>
        <p:txBody>
          <a:bodyPr wrap="none" lIns="0" rIns="0" tIns="0" bIns="0">
            <a:spAutoFit/>
          </a:bodyPr>
          <a:lstStyle/>
          <a:p>
            <a:r>
              <a:rPr sz="1150" b="0">
                <a:solidFill>
                  <a:srgbClr val="2E2E2E"/>
                </a:solidFill>
                <a:latin typeface="Calibri"/>
              </a:rPr>
              <a:t>US$/MT) and 'South Asia &amp; Pacific' the most competitive (~</a:t>
            </a:r>
          </a:p>
        </p:txBody>
      </p:sp>
      <p:pic>
        <p:nvPicPr>
          <p:cNvPr id="22" name="Picture 21" descr="lock.png"/>
          <p:cNvPicPr>
            <a:picLocks noChangeAspect="1"/>
          </p:cNvPicPr>
          <p:nvPr/>
        </p:nvPicPr>
        <p:blipFill>
          <a:blip r:embed="rId4"/>
          <a:stretch>
            <a:fillRect/>
          </a:stretch>
        </p:blipFill>
        <p:spPr>
          <a:xfrm>
            <a:off x="8581859" y="4742751"/>
            <a:ext cx="134549" cy="195707"/>
          </a:xfrm>
          <a:prstGeom prst="rect">
            <a:avLst/>
          </a:prstGeom>
        </p:spPr>
      </p:pic>
      <p:sp>
        <p:nvSpPr>
          <p:cNvPr id="23" name="TextBox 22"/>
          <p:cNvSpPr txBox="1"/>
          <p:nvPr/>
        </p:nvSpPr>
        <p:spPr>
          <a:xfrm>
            <a:off x="8756968" y="4752975"/>
            <a:ext cx="644996" cy="194310"/>
          </a:xfrm>
          <a:prstGeom prst="rect">
            <a:avLst/>
          </a:prstGeom>
          <a:noFill/>
        </p:spPr>
        <p:txBody>
          <a:bodyPr wrap="none" lIns="0" rIns="0" tIns="0" bIns="0">
            <a:spAutoFit/>
          </a:bodyPr>
          <a:lstStyle/>
          <a:p>
            <a:r>
              <a:rPr sz="1150" b="0">
                <a:solidFill>
                  <a:srgbClr val="2E2E2E"/>
                </a:solidFill>
                <a:latin typeface="Calibri"/>
              </a:rPr>
              <a:t>US$/MT).</a:t>
            </a:r>
          </a:p>
        </p:txBody>
      </p:sp>
      <p:sp>
        <p:nvSpPr>
          <p:cNvPr id="24" name="TextBox 23"/>
          <p:cNvSpPr txBox="1"/>
          <p:nvPr/>
        </p:nvSpPr>
        <p:spPr>
          <a:xfrm>
            <a:off x="276225" y="4980813"/>
            <a:ext cx="5929610" cy="194310"/>
          </a:xfrm>
          <a:prstGeom prst="rect">
            <a:avLst/>
          </a:prstGeom>
          <a:noFill/>
        </p:spPr>
        <p:txBody>
          <a:bodyPr wrap="none" lIns="0" rIns="0" tIns="0" bIns="0">
            <a:spAutoFit/>
          </a:bodyPr>
          <a:lstStyle/>
          <a:p>
            <a:r>
              <a:rPr sz="1150" b="0">
                <a:solidFill>
                  <a:srgbClr val="2E2E2E"/>
                </a:solidFill>
                <a:latin typeface="Calibri"/>
              </a:rPr>
              <a:t>▪ Price ranges are benchmarked per product type type at 2026, derived as Value ÷ Volume with a ±</a:t>
            </a:r>
          </a:p>
        </p:txBody>
      </p:sp>
      <p:pic>
        <p:nvPicPr>
          <p:cNvPr id="25" name="Picture 24" descr="lock.png"/>
          <p:cNvPicPr>
            <a:picLocks noChangeAspect="1"/>
          </p:cNvPicPr>
          <p:nvPr/>
        </p:nvPicPr>
        <p:blipFill>
          <a:blip r:embed="rId4"/>
          <a:stretch>
            <a:fillRect/>
          </a:stretch>
        </p:blipFill>
        <p:spPr>
          <a:xfrm>
            <a:off x="6154989" y="4970589"/>
            <a:ext cx="134549" cy="195707"/>
          </a:xfrm>
          <a:prstGeom prst="rect">
            <a:avLst/>
          </a:prstGeom>
        </p:spPr>
      </p:pic>
      <p:sp>
        <p:nvSpPr>
          <p:cNvPr id="26" name="TextBox 25"/>
          <p:cNvSpPr txBox="1"/>
          <p:nvPr/>
        </p:nvSpPr>
        <p:spPr>
          <a:xfrm>
            <a:off x="6330098" y="4980813"/>
            <a:ext cx="1455117" cy="194310"/>
          </a:xfrm>
          <a:prstGeom prst="rect">
            <a:avLst/>
          </a:prstGeom>
          <a:noFill/>
        </p:spPr>
        <p:txBody>
          <a:bodyPr wrap="none" lIns="0" rIns="0" tIns="0" bIns="0">
            <a:spAutoFit/>
          </a:bodyPr>
          <a:lstStyle/>
          <a:p>
            <a:r>
              <a:rPr sz="1150" b="0">
                <a:solidFill>
                  <a:srgbClr val="2E2E2E"/>
                </a:solidFill>
                <a:latin typeface="Calibri"/>
              </a:rPr>
              <a:t>observed trading band.</a:t>
            </a:r>
          </a:p>
        </p:txBody>
      </p:sp>
      <p:sp>
        <p:nvSpPr>
          <p:cNvPr id="27" name="TextBox 26"/>
          <p:cNvSpPr txBox="1"/>
          <p:nvPr/>
        </p:nvSpPr>
        <p:spPr>
          <a:xfrm>
            <a:off x="276225" y="5208650"/>
            <a:ext cx="2140867" cy="194310"/>
          </a:xfrm>
          <a:prstGeom prst="rect">
            <a:avLst/>
          </a:prstGeom>
          <a:noFill/>
        </p:spPr>
        <p:txBody>
          <a:bodyPr wrap="none" lIns="0" rIns="0" tIns="0" bIns="0">
            <a:spAutoFit/>
          </a:bodyPr>
          <a:lstStyle/>
          <a:p>
            <a:r>
              <a:rPr sz="1150" b="0">
                <a:solidFill>
                  <a:srgbClr val="2E2E2E"/>
                </a:solidFill>
                <a:latin typeface="Calibri"/>
              </a:rPr>
              <a:t>▪ Cross-region price dispersion of ~</a:t>
            </a:r>
          </a:p>
        </p:txBody>
      </p:sp>
      <p:pic>
        <p:nvPicPr>
          <p:cNvPr id="28" name="Picture 27" descr="lock.png"/>
          <p:cNvPicPr>
            <a:picLocks noChangeAspect="1"/>
          </p:cNvPicPr>
          <p:nvPr/>
        </p:nvPicPr>
        <p:blipFill>
          <a:blip r:embed="rId4"/>
          <a:stretch>
            <a:fillRect/>
          </a:stretch>
        </p:blipFill>
        <p:spPr>
          <a:xfrm>
            <a:off x="2366246" y="5198427"/>
            <a:ext cx="134549" cy="195707"/>
          </a:xfrm>
          <a:prstGeom prst="rect">
            <a:avLst/>
          </a:prstGeom>
        </p:spPr>
      </p:pic>
      <p:sp>
        <p:nvSpPr>
          <p:cNvPr id="29" name="TextBox 28"/>
          <p:cNvSpPr txBox="1"/>
          <p:nvPr/>
        </p:nvSpPr>
        <p:spPr>
          <a:xfrm>
            <a:off x="2541355" y="5208650"/>
            <a:ext cx="3627040" cy="194310"/>
          </a:xfrm>
          <a:prstGeom prst="rect">
            <a:avLst/>
          </a:prstGeom>
          <a:noFill/>
        </p:spPr>
        <p:txBody>
          <a:bodyPr wrap="none" lIns="0" rIns="0" tIns="0" bIns="0">
            <a:spAutoFit/>
          </a:bodyPr>
          <a:lstStyle/>
          <a:p>
            <a:r>
              <a:rPr sz="1150" b="0">
                <a:solidFill>
                  <a:srgbClr val="2E2E2E"/>
                </a:solidFill>
                <a:latin typeface="Calibri"/>
              </a:rPr>
              <a:t>× reflects differences in mix, logistics and channel structure.</a:t>
            </a:r>
          </a:p>
        </p:txBody>
      </p:sp>
      <p:sp>
        <p:nvSpPr>
          <p:cNvPr id="30" name="TextBox 29"/>
          <p:cNvSpPr txBox="1"/>
          <p:nvPr/>
        </p:nvSpPr>
        <p:spPr>
          <a:xfrm>
            <a:off x="276225" y="5436488"/>
            <a:ext cx="5691708" cy="194310"/>
          </a:xfrm>
          <a:prstGeom prst="rect">
            <a:avLst/>
          </a:prstGeom>
          <a:noFill/>
        </p:spPr>
        <p:txBody>
          <a:bodyPr wrap="none" lIns="0" rIns="0" tIns="0" bIns="0">
            <a:spAutoFit/>
          </a:bodyPr>
          <a:lstStyle/>
          <a:p>
            <a:r>
              <a:rPr sz="1150" b="0">
                <a:solidFill>
                  <a:srgbClr val="2E2E2E"/>
                </a:solidFill>
                <a:latin typeface="Calibri"/>
              </a:rPr>
              <a:t>▪ Benchmarks support price-corridor setting and margin-defence decisions across geographies.</a:t>
            </a:r>
          </a:p>
        </p:txBody>
      </p:sp>
    </p:spTree>
  </p:cSld>
  <p:clrMapOvr>
    <a:masterClrMapping/>
  </p:clrMapOvr>
</p:sld>
</file>

<file path=ppt/slides/slide2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Egg Protein Membrane Market Price Forecast &amp; Dynamics</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Price forecast by sub-segment, 2026–2036, with the factors and dynamics shaping the trajectory</a:t>
            </a:r>
          </a:p>
        </p:txBody>
      </p:sp>
      <p:sp>
        <p:nvSpPr>
          <p:cNvPr id="7" name="Rounded Rectangle 6"/>
          <p:cNvSpPr/>
          <p:nvPr/>
        </p:nvSpPr>
        <p:spPr>
          <a:xfrm>
            <a:off x="142875" y="1007261"/>
            <a:ext cx="11906250" cy="255552"/>
          </a:xfrm>
          <a:prstGeom prst="roundRect">
            <a:avLst>
              <a:gd name="adj" fmla="val 29817"/>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Forward price trajectory to 2036 by product type type and the structural factors shaping it (US$/MT).</a:t>
            </a:r>
          </a:p>
        </p:txBody>
      </p:sp>
      <p:sp>
        <p:nvSpPr>
          <p:cNvPr id="8" name="Rounded Rectangle 7"/>
          <p:cNvSpPr/>
          <p:nvPr/>
        </p:nvSpPr>
        <p:spPr>
          <a:xfrm>
            <a:off x="142875" y="1317574"/>
            <a:ext cx="11906250" cy="1971399"/>
          </a:xfrm>
          <a:prstGeom prst="roundRect">
            <a:avLst>
              <a:gd name="adj" fmla="val 3865"/>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374724"/>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Price Forecast to 2036 by Product Type (US$/MT)</a:t>
            </a:r>
          </a:p>
        </p:txBody>
      </p:sp>
      <p:graphicFrame>
        <p:nvGraphicFramePr>
          <p:cNvPr id="10" name="Table 9"/>
          <p:cNvGraphicFramePr>
            <a:graphicFrameLocks noGrp="1"/>
          </p:cNvGraphicFramePr>
          <p:nvPr/>
        </p:nvGraphicFramePr>
        <p:xfrm>
          <a:off x="152400" y="1574749"/>
          <a:ext cx="11887199" cy="1504674"/>
        </p:xfrm>
        <a:graphic>
          <a:graphicData uri="http://schemas.openxmlformats.org/drawingml/2006/table">
            <a:tbl>
              <a:tblPr>
                <a:tableStyleId>{5C22544A-7EE6-4342-B048-85BDC9FD1C3A}</a:tableStyleId>
              </a:tblPr>
              <a:tblGrid>
                <a:gridCol w="3869645"/>
                <a:gridCol w="1336259"/>
                <a:gridCol w="1336259"/>
                <a:gridCol w="1336259"/>
                <a:gridCol w="1336259"/>
                <a:gridCol w="1336259"/>
                <a:gridCol w="1336259"/>
              </a:tblGrid>
              <a:tr h="246126">
                <a:tc>
                  <a:txBody>
                    <a:bodyPr wrap="none"/>
                    <a:lstStyle/>
                    <a:p>
                      <a:pPr algn="l"/>
                      <a:r>
                        <a:rPr sz="1100" b="1">
                          <a:solidFill>
                            <a:srgbClr val="0E2A5C"/>
                          </a:solidFill>
                          <a:latin typeface="Calibri"/>
                        </a:rPr>
                        <a:t>Product Type</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2026E</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2028F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2030F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2032F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2034F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2036F</a:t>
                      </a:r>
                      <a:endParaRPr sz="1100"/>
                    </a:p>
                  </a:txBody>
                  <a:tcPr marL="47625" marR="38100" marT="19050" marB="19050" anchor="ctr">
                    <a:solidFill>
                      <a:srgbClr val="EBF2F9"/>
                    </a:solidFill>
                  </a:tcPr>
                </a:tc>
              </a:tr>
              <a:tr h="419516">
                <a:tc>
                  <a:txBody>
                    <a:bodyPr wrap="none"/>
                    <a:lstStyle/>
                    <a:p>
                      <a:pPr algn="l"/>
                      <a:r>
                        <a:rPr sz="1100" b="1">
                          <a:solidFill>
                            <a:srgbClr val="2E2E2E"/>
                          </a:solidFill>
                          <a:latin typeface="Calibri"/>
                        </a:rPr>
                        <a:t>Micronized Eggshell Membrane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419516">
                <a:tc>
                  <a:txBody>
                    <a:bodyPr wrap="none"/>
                    <a:lstStyle/>
                    <a:p>
                      <a:pPr algn="l"/>
                      <a:r>
                        <a:rPr sz="1100" b="1">
                          <a:solidFill>
                            <a:srgbClr val="2E2E2E"/>
                          </a:solidFill>
                          <a:latin typeface="Calibri"/>
                        </a:rPr>
                        <a:t>Hydrolyzed Eggshell Membrane</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419516">
                <a:tc>
                  <a:txBody>
                    <a:bodyPr wrap="none"/>
                    <a:lstStyle/>
                    <a:p>
                      <a:pPr algn="l"/>
                      <a:r>
                        <a:rPr sz="1100" b="1">
                          <a:solidFill>
                            <a:srgbClr val="2E2E2E"/>
                          </a:solidFill>
                          <a:latin typeface="Calibri"/>
                        </a:rPr>
                        <a:t>Specialty Extracted Protein F…</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bl>
          </a:graphicData>
        </a:graphic>
      </p:graphicFrame>
      <p:sp>
        <p:nvSpPr>
          <p:cNvPr id="11" name="TextBox 10"/>
          <p:cNvSpPr txBox="1"/>
          <p:nvPr/>
        </p:nvSpPr>
        <p:spPr>
          <a:xfrm>
            <a:off x="219075" y="3088948"/>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12" name="Rounded Rectangle 11"/>
          <p:cNvSpPr/>
          <p:nvPr/>
        </p:nvSpPr>
        <p:spPr>
          <a:xfrm>
            <a:off x="142875" y="3398495"/>
            <a:ext cx="5905500" cy="3181350"/>
          </a:xfrm>
          <a:prstGeom prst="roundRect">
            <a:avLst>
              <a:gd name="adj" fmla="val 2395"/>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38125" y="3455645"/>
            <a:ext cx="5715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Factors Impacting Pricing</a:t>
            </a:r>
          </a:p>
        </p:txBody>
      </p:sp>
      <p:graphicFrame>
        <p:nvGraphicFramePr>
          <p:cNvPr id="14" name="Table 13"/>
          <p:cNvGraphicFramePr>
            <a:graphicFrameLocks noGrp="1"/>
          </p:cNvGraphicFramePr>
          <p:nvPr/>
        </p:nvGraphicFramePr>
        <p:xfrm>
          <a:off x="152400" y="3655670"/>
          <a:ext cx="5886449" cy="2714626"/>
        </p:xfrm>
        <a:graphic>
          <a:graphicData uri="http://schemas.openxmlformats.org/drawingml/2006/table">
            <a:tbl>
              <a:tblPr>
                <a:tableStyleId>{5C22544A-7EE6-4342-B048-85BDC9FD1C3A}</a:tableStyleId>
              </a:tblPr>
              <a:tblGrid>
                <a:gridCol w="2867491"/>
                <a:gridCol w="1509479"/>
                <a:gridCol w="1509479"/>
              </a:tblGrid>
              <a:tr h="246126">
                <a:tc>
                  <a:txBody>
                    <a:bodyPr wrap="none"/>
                    <a:lstStyle/>
                    <a:p>
                      <a:pPr algn="l"/>
                      <a:r>
                        <a:rPr sz="1100" b="1">
                          <a:solidFill>
                            <a:srgbClr val="0E2A5C"/>
                          </a:solidFill>
                          <a:latin typeface="Calibri"/>
                        </a:rPr>
                        <a:t>Pricing Factor</a:t>
                      </a:r>
                      <a:endParaRPr sz="1100"/>
                    </a:p>
                  </a:txBody>
                  <a:tcPr marL="47625" marR="38100" marT="19050" marB="19050" anchor="ctr">
                    <a:solidFill>
                      <a:srgbClr val="EBF2F9"/>
                    </a:solidFill>
                  </a:tcPr>
                </a:tc>
                <a:tc>
                  <a:txBody>
                    <a:bodyPr wrap="none"/>
                    <a:lstStyle/>
                    <a:p>
                      <a:pPr algn="l"/>
                      <a:r>
                        <a:rPr sz="1100" b="1">
                          <a:solidFill>
                            <a:srgbClr val="0E2A5C"/>
                          </a:solidFill>
                          <a:latin typeface="Calibri"/>
                        </a:rPr>
                        <a:t>Direction</a:t>
                      </a:r>
                      <a:endParaRPr sz="1100"/>
                    </a:p>
                  </a:txBody>
                  <a:tcPr marL="47625" marR="38100" marT="19050" marB="19050" anchor="ctr">
                    <a:solidFill>
                      <a:srgbClr val="EBF2F9"/>
                    </a:solidFill>
                  </a:tcPr>
                </a:tc>
                <a:tc>
                  <a:txBody>
                    <a:bodyPr wrap="none"/>
                    <a:lstStyle/>
                    <a:p>
                      <a:pPr algn="l"/>
                      <a:r>
                        <a:rPr sz="1100" b="1">
                          <a:solidFill>
                            <a:srgbClr val="0E2A5C"/>
                          </a:solidFill>
                          <a:latin typeface="Calibri"/>
                        </a:rPr>
                        <a:t>Impact (H/M/L)</a:t>
                      </a:r>
                      <a:endParaRPr sz="1100"/>
                    </a:p>
                  </a:txBody>
                  <a:tcPr marL="47625" marR="38100" marT="19050" marB="19050" anchor="ctr">
                    <a:solidFill>
                      <a:srgbClr val="EBF2F9"/>
                    </a:solidFill>
                  </a:tcPr>
                </a:tc>
              </a:tr>
              <a:tr h="246850">
                <a:tc>
                  <a:txBody>
                    <a:bodyPr wrap="none"/>
                    <a:lstStyle/>
                    <a:p>
                      <a:pPr algn="l"/>
                      <a:r>
                        <a:rPr sz="1100" b="1">
                          <a:solidFill>
                            <a:srgbClr val="2E2E2E"/>
                          </a:solidFill>
                          <a:latin typeface="Calibri"/>
                        </a:rPr>
                        <a:t>Input Cost</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High</a:t>
                      </a:r>
                      <a:endParaRPr sz="1100"/>
                    </a:p>
                  </a:txBody>
                  <a:tcPr marL="47625" marR="38100" marT="19050" marB="19050" anchor="ctr">
                    <a:solidFill>
                      <a:srgbClr val="FFFFFF"/>
                    </a:solidFill>
                  </a:tcPr>
                </a:tc>
              </a:tr>
              <a:tr h="246850">
                <a:tc>
                  <a:txBody>
                    <a:bodyPr wrap="none"/>
                    <a:lstStyle/>
                    <a:p>
                      <a:pPr algn="l"/>
                      <a:r>
                        <a:rPr sz="1100" b="1">
                          <a:solidFill>
                            <a:srgbClr val="2E2E2E"/>
                          </a:solidFill>
                          <a:latin typeface="Calibri"/>
                        </a:rPr>
                        <a:t>Labor &amp; Production Costs</a:t>
                      </a:r>
                      <a:endParaRPr sz="1100"/>
                    </a:p>
                  </a:txBody>
                  <a:tcPr marL="47625" marR="38100" marT="19050" marB="19050" anchor="ctr">
                    <a:solidFill>
                      <a:srgbClr val="F5F9FD"/>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Medium</a:t>
                      </a:r>
                      <a:endParaRPr sz="1100"/>
                    </a:p>
                  </a:txBody>
                  <a:tcPr marL="47625" marR="38100" marT="19050" marB="19050" anchor="ctr">
                    <a:solidFill>
                      <a:srgbClr val="F5F9FD"/>
                    </a:solidFill>
                  </a:tcPr>
                </a:tc>
              </a:tr>
              <a:tr h="246850">
                <a:tc>
                  <a:txBody>
                    <a:bodyPr wrap="none"/>
                    <a:lstStyle/>
                    <a:p>
                      <a:pPr algn="l"/>
                      <a:r>
                        <a:rPr sz="1100" b="1">
                          <a:solidFill>
                            <a:srgbClr val="2E2E2E"/>
                          </a:solidFill>
                          <a:latin typeface="Calibri"/>
                        </a:rPr>
                        <a:t>Technology &amp; Innovation</a:t>
                      </a:r>
                      <a:endParaRPr sz="1100"/>
                    </a:p>
                  </a:txBody>
                  <a:tcPr marL="47625" marR="38100" marT="19050" marB="19050" anchor="ctr">
                    <a:solidFill>
                      <a:srgbClr val="FFFFFF"/>
                    </a:solidFill>
                  </a:tcPr>
                </a:tc>
                <a:tc>
                  <a:txBody>
                    <a:bodyPr wrap="none"/>
                    <a:lstStyle/>
                    <a:p>
                      <a:pPr algn="l"/>
                      <a:r>
                        <a:rPr sz="1100" b="1">
                          <a:solidFill>
                            <a:srgbClr val="E44D3A"/>
                          </a:solidFill>
                          <a:latin typeface="Calibri"/>
                        </a:rPr>
                        <a:t>▼ Downward</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Medium</a:t>
                      </a:r>
                      <a:endParaRPr sz="1100"/>
                    </a:p>
                  </a:txBody>
                  <a:tcPr marL="47625" marR="38100" marT="19050" marB="19050" anchor="ctr">
                    <a:solidFill>
                      <a:srgbClr val="FFFFFF"/>
                    </a:solidFill>
                  </a:tcPr>
                </a:tc>
              </a:tr>
              <a:tr h="246850">
                <a:tc>
                  <a:txBody>
                    <a:bodyPr wrap="none"/>
                    <a:lstStyle/>
                    <a:p>
                      <a:pPr algn="l"/>
                      <a:r>
                        <a:rPr sz="1100" b="1">
                          <a:solidFill>
                            <a:srgbClr val="2E2E2E"/>
                          </a:solidFill>
                          <a:latin typeface="Calibri"/>
                        </a:rPr>
                        <a:t>Supply Chain &amp; Logistics</a:t>
                      </a:r>
                      <a:endParaRPr sz="1100"/>
                    </a:p>
                  </a:txBody>
                  <a:tcPr marL="47625" marR="38100" marT="19050" marB="19050" anchor="ctr">
                    <a:solidFill>
                      <a:srgbClr val="F5F9FD"/>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Medium</a:t>
                      </a:r>
                      <a:endParaRPr sz="1100"/>
                    </a:p>
                  </a:txBody>
                  <a:tcPr marL="47625" marR="38100" marT="19050" marB="19050" anchor="ctr">
                    <a:solidFill>
                      <a:srgbClr val="F5F9FD"/>
                    </a:solidFill>
                  </a:tcPr>
                </a:tc>
              </a:tr>
              <a:tr h="246850">
                <a:tc>
                  <a:txBody>
                    <a:bodyPr wrap="none"/>
                    <a:lstStyle/>
                    <a:p>
                      <a:pPr algn="l"/>
                      <a:r>
                        <a:rPr sz="1100" b="1">
                          <a:solidFill>
                            <a:srgbClr val="2E2E2E"/>
                          </a:solidFill>
                          <a:latin typeface="Calibri"/>
                        </a:rPr>
                        <a:t>Demand &amp; Market Conditions</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High</a:t>
                      </a:r>
                      <a:endParaRPr sz="1100"/>
                    </a:p>
                  </a:txBody>
                  <a:tcPr marL="47625" marR="38100" marT="19050" marB="19050" anchor="ctr">
                    <a:solidFill>
                      <a:srgbClr val="FFFFFF"/>
                    </a:solidFill>
                  </a:tcPr>
                </a:tc>
              </a:tr>
              <a:tr h="246850">
                <a:tc>
                  <a:txBody>
                    <a:bodyPr wrap="none"/>
                    <a:lstStyle/>
                    <a:p>
                      <a:pPr algn="l"/>
                      <a:r>
                        <a:rPr sz="1100" b="1">
                          <a:solidFill>
                            <a:srgbClr val="2E2E2E"/>
                          </a:solidFill>
                          <a:latin typeface="Calibri"/>
                        </a:rPr>
                        <a:t>Competitive Landscape</a:t>
                      </a:r>
                      <a:endParaRPr sz="1100"/>
                    </a:p>
                  </a:txBody>
                  <a:tcPr marL="47625" marR="38100" marT="19050" marB="19050" anchor="ctr">
                    <a:solidFill>
                      <a:srgbClr val="F5F9FD"/>
                    </a:solidFill>
                  </a:tcPr>
                </a:tc>
                <a:tc>
                  <a:txBody>
                    <a:bodyPr wrap="none"/>
                    <a:lstStyle/>
                    <a:p>
                      <a:pPr algn="l"/>
                      <a:r>
                        <a:rPr sz="1100" b="1">
                          <a:solidFill>
                            <a:srgbClr val="E44D3A"/>
                          </a:solidFill>
                          <a:latin typeface="Calibri"/>
                        </a:rPr>
                        <a:t>▼ Downward</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High</a:t>
                      </a:r>
                      <a:endParaRPr sz="1100"/>
                    </a:p>
                  </a:txBody>
                  <a:tcPr marL="47625" marR="38100" marT="19050" marB="19050" anchor="ctr">
                    <a:solidFill>
                      <a:srgbClr val="F5F9FD"/>
                    </a:solidFill>
                  </a:tcPr>
                </a:tc>
              </a:tr>
              <a:tr h="246850">
                <a:tc>
                  <a:txBody>
                    <a:bodyPr wrap="none"/>
                    <a:lstStyle/>
                    <a:p>
                      <a:pPr algn="l"/>
                      <a:r>
                        <a:rPr sz="1100" b="1">
                          <a:solidFill>
                            <a:srgbClr val="2E2E2E"/>
                          </a:solidFill>
                          <a:latin typeface="Calibri"/>
                        </a:rPr>
                        <a:t>Regulatory &amp; Compliance Costs</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Medium</a:t>
                      </a:r>
                      <a:endParaRPr sz="1100"/>
                    </a:p>
                  </a:txBody>
                  <a:tcPr marL="47625" marR="38100" marT="19050" marB="19050" anchor="ctr">
                    <a:solidFill>
                      <a:srgbClr val="FFFFFF"/>
                    </a:solidFill>
                  </a:tcPr>
                </a:tc>
              </a:tr>
              <a:tr h="246850">
                <a:tc>
                  <a:txBody>
                    <a:bodyPr wrap="none"/>
                    <a:lstStyle/>
                    <a:p>
                      <a:pPr algn="l"/>
                      <a:r>
                        <a:rPr sz="1100" b="1">
                          <a:solidFill>
                            <a:srgbClr val="2E2E2E"/>
                          </a:solidFill>
                          <a:latin typeface="Calibri"/>
                        </a:rPr>
                        <a:t>Currency &amp; Trade Dynamics</a:t>
                      </a:r>
                      <a:endParaRPr sz="1100"/>
                    </a:p>
                  </a:txBody>
                  <a:tcPr marL="47625" marR="38100" marT="19050" marB="19050" anchor="ctr">
                    <a:solidFill>
                      <a:srgbClr val="F5F9FD"/>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Low</a:t>
                      </a:r>
                      <a:endParaRPr sz="1100"/>
                    </a:p>
                  </a:txBody>
                  <a:tcPr marL="47625" marR="38100" marT="19050" marB="19050" anchor="ctr">
                    <a:solidFill>
                      <a:srgbClr val="F5F9FD"/>
                    </a:solidFill>
                  </a:tcPr>
                </a:tc>
              </a:tr>
              <a:tr h="246850">
                <a:tc>
                  <a:txBody>
                    <a:bodyPr wrap="none"/>
                    <a:lstStyle/>
                    <a:p>
                      <a:pPr algn="l"/>
                      <a:r>
                        <a:rPr sz="1100" b="1">
                          <a:solidFill>
                            <a:srgbClr val="2E2E2E"/>
                          </a:solidFill>
                          <a:latin typeface="Calibri"/>
                        </a:rPr>
                        <a:t>Brand &amp; Value Perception</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Medium</a:t>
                      </a:r>
                      <a:endParaRPr sz="1100"/>
                    </a:p>
                  </a:txBody>
                  <a:tcPr marL="47625" marR="38100" marT="19050" marB="19050" anchor="ctr">
                    <a:solidFill>
                      <a:srgbClr val="FFFFFF"/>
                    </a:solidFill>
                  </a:tcPr>
                </a:tc>
              </a:tr>
              <a:tr h="246850">
                <a:tc>
                  <a:txBody>
                    <a:bodyPr wrap="none"/>
                    <a:lstStyle/>
                    <a:p>
                      <a:pPr algn="l"/>
                      <a:r>
                        <a:rPr sz="1100" b="1">
                          <a:solidFill>
                            <a:srgbClr val="2E2E2E"/>
                          </a:solidFill>
                          <a:latin typeface="Calibri"/>
                        </a:rPr>
                        <a:t>Aftermarket &amp; Service Costs</a:t>
                      </a:r>
                      <a:endParaRPr sz="1100"/>
                    </a:p>
                  </a:txBody>
                  <a:tcPr marL="47625" marR="38100" marT="19050" marB="19050" anchor="ctr">
                    <a:solidFill>
                      <a:srgbClr val="F5F9FD"/>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Low</a:t>
                      </a:r>
                      <a:endParaRPr sz="1100"/>
                    </a:p>
                  </a:txBody>
                  <a:tcPr marL="47625" marR="38100" marT="19050" marB="19050" anchor="ctr">
                    <a:solidFill>
                      <a:srgbClr val="F5F9FD"/>
                    </a:solidFill>
                  </a:tcPr>
                </a:tc>
              </a:tr>
            </a:tbl>
          </a:graphicData>
        </a:graphic>
      </p:graphicFrame>
      <p:sp>
        <p:nvSpPr>
          <p:cNvPr id="15" name="TextBox 14"/>
          <p:cNvSpPr txBox="1"/>
          <p:nvPr/>
        </p:nvSpPr>
        <p:spPr>
          <a:xfrm>
            <a:off x="219075" y="6379820"/>
            <a:ext cx="5753100"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16" name="Rounded Rectangle 15"/>
          <p:cNvSpPr/>
          <p:nvPr/>
        </p:nvSpPr>
        <p:spPr>
          <a:xfrm>
            <a:off x="6200775" y="3398495"/>
            <a:ext cx="5848350" cy="3157890"/>
          </a:xfrm>
          <a:prstGeom prst="roundRect">
            <a:avLst>
              <a:gd name="adj" fmla="val 2413"/>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34125" y="3484220"/>
            <a:ext cx="5581650" cy="209550"/>
          </a:xfrm>
          <a:prstGeom prst="rect">
            <a:avLst/>
          </a:prstGeom>
          <a:noFill/>
        </p:spPr>
        <p:txBody>
          <a:bodyPr wrap="square" lIns="0" rIns="19050" tIns="9525" bIns="9525">
            <a:spAutoFit/>
          </a:bodyPr>
          <a:lstStyle/>
          <a:p>
            <a:pPr algn="l"/>
            <a:r>
              <a:rPr sz="1300" b="1">
                <a:solidFill>
                  <a:srgbClr val="0E2A5C"/>
                </a:solidFill>
                <a:latin typeface="Calibri"/>
              </a:rPr>
              <a:t>Pricing Dynamics &amp; Outlook</a:t>
            </a:r>
          </a:p>
        </p:txBody>
      </p:sp>
      <p:sp>
        <p:nvSpPr>
          <p:cNvPr id="18" name="Rectangle 17"/>
          <p:cNvSpPr/>
          <p:nvPr/>
        </p:nvSpPr>
        <p:spPr>
          <a:xfrm>
            <a:off x="6334125" y="3722345"/>
            <a:ext cx="55816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34125" y="3808070"/>
            <a:ext cx="5581650" cy="267211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p:txBody>
      </p:sp>
      <p:sp>
        <p:nvSpPr>
          <p:cNvPr id="20" name="Rectangle 19"/>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22" name="Picture 21" descr="lock.png"/>
          <p:cNvPicPr>
            <a:picLocks noChangeAspect="1"/>
          </p:cNvPicPr>
          <p:nvPr/>
        </p:nvPicPr>
        <p:blipFill>
          <a:blip r:embed="rId4"/>
          <a:stretch>
            <a:fillRect/>
          </a:stretch>
        </p:blipFill>
        <p:spPr>
          <a:xfrm>
            <a:off x="7844132" y="2183449"/>
            <a:ext cx="366712" cy="533400"/>
          </a:xfrm>
          <a:prstGeom prst="rect">
            <a:avLst/>
          </a:prstGeom>
        </p:spPr>
      </p:pic>
      <p:sp>
        <p:nvSpPr>
          <p:cNvPr id="23" name="TextBox 22"/>
          <p:cNvSpPr txBox="1"/>
          <p:nvPr/>
        </p:nvSpPr>
        <p:spPr>
          <a:xfrm>
            <a:off x="6334125" y="3817595"/>
            <a:ext cx="3340605" cy="194310"/>
          </a:xfrm>
          <a:prstGeom prst="rect">
            <a:avLst/>
          </a:prstGeom>
          <a:noFill/>
        </p:spPr>
        <p:txBody>
          <a:bodyPr wrap="none" lIns="0" rIns="0" tIns="0" bIns="0">
            <a:spAutoFit/>
          </a:bodyPr>
          <a:lstStyle/>
          <a:p>
            <a:r>
              <a:rPr sz="1150" b="0">
                <a:solidFill>
                  <a:srgbClr val="2E2E2E"/>
                </a:solidFill>
                <a:latin typeface="Calibri"/>
              </a:rPr>
              <a:t>▪ Average product type price is projected to rise from ~</a:t>
            </a:r>
          </a:p>
        </p:txBody>
      </p:sp>
      <p:pic>
        <p:nvPicPr>
          <p:cNvPr id="24" name="Picture 23" descr="lock.png"/>
          <p:cNvPicPr>
            <a:picLocks noChangeAspect="1"/>
          </p:cNvPicPr>
          <p:nvPr/>
        </p:nvPicPr>
        <p:blipFill>
          <a:blip r:embed="rId4"/>
          <a:stretch>
            <a:fillRect/>
          </a:stretch>
        </p:blipFill>
        <p:spPr>
          <a:xfrm>
            <a:off x="9623884" y="3807371"/>
            <a:ext cx="134549" cy="195707"/>
          </a:xfrm>
          <a:prstGeom prst="rect">
            <a:avLst/>
          </a:prstGeom>
        </p:spPr>
      </p:pic>
      <p:sp>
        <p:nvSpPr>
          <p:cNvPr id="25" name="TextBox 24"/>
          <p:cNvSpPr txBox="1"/>
          <p:nvPr/>
        </p:nvSpPr>
        <p:spPr>
          <a:xfrm>
            <a:off x="9798993" y="3817595"/>
            <a:ext cx="308111" cy="194310"/>
          </a:xfrm>
          <a:prstGeom prst="rect">
            <a:avLst/>
          </a:prstGeom>
          <a:noFill/>
        </p:spPr>
        <p:txBody>
          <a:bodyPr wrap="none" lIns="0" rIns="0" tIns="0" bIns="0">
            <a:spAutoFit/>
          </a:bodyPr>
          <a:lstStyle/>
          <a:p>
            <a:r>
              <a:rPr sz="1150" b="0">
                <a:solidFill>
                  <a:srgbClr val="2E2E2E"/>
                </a:solidFill>
                <a:latin typeface="Calibri"/>
              </a:rPr>
              <a:t>to ~</a:t>
            </a:r>
          </a:p>
        </p:txBody>
      </p:sp>
      <p:pic>
        <p:nvPicPr>
          <p:cNvPr id="26" name="Picture 25" descr="lock.png"/>
          <p:cNvPicPr>
            <a:picLocks noChangeAspect="1"/>
          </p:cNvPicPr>
          <p:nvPr/>
        </p:nvPicPr>
        <p:blipFill>
          <a:blip r:embed="rId4"/>
          <a:stretch>
            <a:fillRect/>
          </a:stretch>
        </p:blipFill>
        <p:spPr>
          <a:xfrm>
            <a:off x="10056259" y="3807371"/>
            <a:ext cx="134549" cy="195707"/>
          </a:xfrm>
          <a:prstGeom prst="rect">
            <a:avLst/>
          </a:prstGeom>
        </p:spPr>
      </p:pic>
      <p:sp>
        <p:nvSpPr>
          <p:cNvPr id="27" name="TextBox 26"/>
          <p:cNvSpPr txBox="1"/>
          <p:nvPr/>
        </p:nvSpPr>
        <p:spPr>
          <a:xfrm>
            <a:off x="10231368" y="3817595"/>
            <a:ext cx="1278545" cy="194310"/>
          </a:xfrm>
          <a:prstGeom prst="rect">
            <a:avLst/>
          </a:prstGeom>
          <a:noFill/>
        </p:spPr>
        <p:txBody>
          <a:bodyPr wrap="none" lIns="0" rIns="0" tIns="0" bIns="0">
            <a:spAutoFit/>
          </a:bodyPr>
          <a:lstStyle/>
          <a:p>
            <a:r>
              <a:rPr sz="1150" b="0">
                <a:solidFill>
                  <a:srgbClr val="2E2E2E"/>
                </a:solidFill>
                <a:latin typeface="Calibri"/>
              </a:rPr>
              <a:t>US$/MT by 2036 a +</a:t>
            </a:r>
          </a:p>
        </p:txBody>
      </p:sp>
      <p:pic>
        <p:nvPicPr>
          <p:cNvPr id="28" name="Picture 27" descr="lock.png"/>
          <p:cNvPicPr>
            <a:picLocks noChangeAspect="1"/>
          </p:cNvPicPr>
          <p:nvPr/>
        </p:nvPicPr>
        <p:blipFill>
          <a:blip r:embed="rId4"/>
          <a:stretch>
            <a:fillRect/>
          </a:stretch>
        </p:blipFill>
        <p:spPr>
          <a:xfrm>
            <a:off x="11459067" y="3807371"/>
            <a:ext cx="134549" cy="195707"/>
          </a:xfrm>
          <a:prstGeom prst="rect">
            <a:avLst/>
          </a:prstGeom>
        </p:spPr>
      </p:pic>
      <p:sp>
        <p:nvSpPr>
          <p:cNvPr id="29" name="TextBox 28"/>
          <p:cNvSpPr txBox="1"/>
          <p:nvPr/>
        </p:nvSpPr>
        <p:spPr>
          <a:xfrm>
            <a:off x="6334125" y="3992855"/>
            <a:ext cx="446726" cy="194310"/>
          </a:xfrm>
          <a:prstGeom prst="rect">
            <a:avLst/>
          </a:prstGeom>
          <a:noFill/>
        </p:spPr>
        <p:txBody>
          <a:bodyPr wrap="none" lIns="0" rIns="0" tIns="0" bIns="0">
            <a:spAutoFit/>
          </a:bodyPr>
          <a:lstStyle/>
          <a:p>
            <a:r>
              <a:rPr sz="1150" b="0">
                <a:solidFill>
                  <a:srgbClr val="2E2E2E"/>
                </a:solidFill>
                <a:latin typeface="Calibri"/>
              </a:rPr>
              <a:t>CAGR.</a:t>
            </a:r>
          </a:p>
        </p:txBody>
      </p:sp>
      <p:sp>
        <p:nvSpPr>
          <p:cNvPr id="30" name="TextBox 29"/>
          <p:cNvSpPr txBox="1"/>
          <p:nvPr/>
        </p:nvSpPr>
        <p:spPr>
          <a:xfrm>
            <a:off x="6334125" y="4220692"/>
            <a:ext cx="5030775" cy="194310"/>
          </a:xfrm>
          <a:prstGeom prst="rect">
            <a:avLst/>
          </a:prstGeom>
          <a:noFill/>
        </p:spPr>
        <p:txBody>
          <a:bodyPr wrap="none" lIns="0" rIns="0" tIns="0" bIns="0">
            <a:spAutoFit/>
          </a:bodyPr>
          <a:lstStyle/>
          <a:p>
            <a:r>
              <a:rPr sz="1150" b="0">
                <a:solidFill>
                  <a:srgbClr val="2E2E2E"/>
                </a:solidFill>
                <a:latin typeface="Calibri"/>
              </a:rPr>
              <a:t>▪ 'Specialty Extracted Protein F…' shows the strongest forecast price appreciation (+</a:t>
            </a:r>
          </a:p>
        </p:txBody>
      </p:sp>
      <p:pic>
        <p:nvPicPr>
          <p:cNvPr id="31" name="Picture 30" descr="lock.png"/>
          <p:cNvPicPr>
            <a:picLocks noChangeAspect="1"/>
          </p:cNvPicPr>
          <p:nvPr/>
        </p:nvPicPr>
        <p:blipFill>
          <a:blip r:embed="rId4"/>
          <a:stretch>
            <a:fillRect/>
          </a:stretch>
        </p:blipFill>
        <p:spPr>
          <a:xfrm>
            <a:off x="11314054" y="4210469"/>
            <a:ext cx="134549" cy="195707"/>
          </a:xfrm>
          <a:prstGeom prst="rect">
            <a:avLst/>
          </a:prstGeom>
        </p:spPr>
      </p:pic>
      <p:sp>
        <p:nvSpPr>
          <p:cNvPr id="32" name="TextBox 31"/>
          <p:cNvSpPr txBox="1"/>
          <p:nvPr/>
        </p:nvSpPr>
        <p:spPr>
          <a:xfrm>
            <a:off x="11489163" y="4220692"/>
            <a:ext cx="407561" cy="194310"/>
          </a:xfrm>
          <a:prstGeom prst="rect">
            <a:avLst/>
          </a:prstGeom>
          <a:noFill/>
        </p:spPr>
        <p:txBody>
          <a:bodyPr wrap="none" lIns="0" rIns="0" tIns="0" bIns="0">
            <a:spAutoFit/>
          </a:bodyPr>
          <a:lstStyle/>
          <a:p>
            <a:r>
              <a:rPr sz="1150" b="0">
                <a:solidFill>
                  <a:srgbClr val="2E2E2E"/>
                </a:solidFill>
                <a:latin typeface="Calibri"/>
              </a:rPr>
              <a:t>) over</a:t>
            </a:r>
          </a:p>
        </p:txBody>
      </p:sp>
      <p:sp>
        <p:nvSpPr>
          <p:cNvPr id="33" name="TextBox 32"/>
          <p:cNvSpPr txBox="1"/>
          <p:nvPr/>
        </p:nvSpPr>
        <p:spPr>
          <a:xfrm>
            <a:off x="6334125" y="4395952"/>
            <a:ext cx="794469" cy="194310"/>
          </a:xfrm>
          <a:prstGeom prst="rect">
            <a:avLst/>
          </a:prstGeom>
          <a:noFill/>
        </p:spPr>
        <p:txBody>
          <a:bodyPr wrap="none" lIns="0" rIns="0" tIns="0" bIns="0">
            <a:spAutoFit/>
          </a:bodyPr>
          <a:lstStyle/>
          <a:p>
            <a:r>
              <a:rPr sz="1150" b="0">
                <a:solidFill>
                  <a:srgbClr val="2E2E2E"/>
                </a:solidFill>
                <a:latin typeface="Calibri"/>
              </a:rPr>
              <a:t>the horizon.</a:t>
            </a:r>
          </a:p>
        </p:txBody>
      </p:sp>
      <p:sp>
        <p:nvSpPr>
          <p:cNvPr id="34" name="TextBox 33"/>
          <p:cNvSpPr txBox="1"/>
          <p:nvPr/>
        </p:nvSpPr>
        <p:spPr>
          <a:xfrm>
            <a:off x="6334125" y="4623790"/>
            <a:ext cx="5242433" cy="194310"/>
          </a:xfrm>
          <a:prstGeom prst="rect">
            <a:avLst/>
          </a:prstGeom>
          <a:noFill/>
        </p:spPr>
        <p:txBody>
          <a:bodyPr wrap="none" lIns="0" rIns="0" tIns="0" bIns="0">
            <a:spAutoFit/>
          </a:bodyPr>
          <a:lstStyle/>
          <a:p>
            <a:r>
              <a:rPr sz="1150" b="0">
                <a:solidFill>
                  <a:srgbClr val="2E2E2E"/>
                </a:solidFill>
                <a:latin typeface="Calibri"/>
              </a:rPr>
              <a:t>▪ Upward pressure is led by input cost and demand &amp; market conditions; efficiency and</a:t>
            </a:r>
          </a:p>
        </p:txBody>
      </p:sp>
      <p:sp>
        <p:nvSpPr>
          <p:cNvPr id="35" name="TextBox 34"/>
          <p:cNvSpPr txBox="1"/>
          <p:nvPr/>
        </p:nvSpPr>
        <p:spPr>
          <a:xfrm>
            <a:off x="6334125" y="4799050"/>
            <a:ext cx="2567037" cy="194310"/>
          </a:xfrm>
          <a:prstGeom prst="rect">
            <a:avLst/>
          </a:prstGeom>
          <a:noFill/>
        </p:spPr>
        <p:txBody>
          <a:bodyPr wrap="none" lIns="0" rIns="0" tIns="0" bIns="0">
            <a:spAutoFit/>
          </a:bodyPr>
          <a:lstStyle/>
          <a:p>
            <a:r>
              <a:rPr sz="1150" b="0">
                <a:solidFill>
                  <a:srgbClr val="2E2E2E"/>
                </a:solidFill>
                <a:latin typeface="Calibri"/>
              </a:rPr>
              <a:t>competitive intensity work the other way.</a:t>
            </a:r>
          </a:p>
        </p:txBody>
      </p:sp>
      <p:sp>
        <p:nvSpPr>
          <p:cNvPr id="36" name="TextBox 35"/>
          <p:cNvSpPr txBox="1"/>
          <p:nvPr/>
        </p:nvSpPr>
        <p:spPr>
          <a:xfrm>
            <a:off x="6334125" y="5026888"/>
            <a:ext cx="5203638" cy="194310"/>
          </a:xfrm>
          <a:prstGeom prst="rect">
            <a:avLst/>
          </a:prstGeom>
          <a:noFill/>
        </p:spPr>
        <p:txBody>
          <a:bodyPr wrap="none" lIns="0" rIns="0" tIns="0" bIns="0">
            <a:spAutoFit/>
          </a:bodyPr>
          <a:lstStyle/>
          <a:p>
            <a:r>
              <a:rPr sz="1150" b="0">
                <a:solidFill>
                  <a:srgbClr val="2E2E2E"/>
                </a:solidFill>
                <a:latin typeface="Calibri"/>
              </a:rPr>
              <a:t>▪ Net outlook: modest, structural price appreciation mix and geography will determine</a:t>
            </a:r>
          </a:p>
        </p:txBody>
      </p:sp>
      <p:sp>
        <p:nvSpPr>
          <p:cNvPr id="37" name="TextBox 36"/>
          <p:cNvSpPr txBox="1"/>
          <p:nvPr/>
        </p:nvSpPr>
        <p:spPr>
          <a:xfrm>
            <a:off x="6334125" y="5202148"/>
            <a:ext cx="1016111" cy="194310"/>
          </a:xfrm>
          <a:prstGeom prst="rect">
            <a:avLst/>
          </a:prstGeom>
          <a:noFill/>
        </p:spPr>
        <p:txBody>
          <a:bodyPr wrap="none" lIns="0" rIns="0" tIns="0" bIns="0">
            <a:spAutoFit/>
          </a:bodyPr>
          <a:lstStyle/>
          <a:p>
            <a:r>
              <a:rPr sz="1150" b="0">
                <a:solidFill>
                  <a:srgbClr val="2E2E2E"/>
                </a:solidFill>
                <a:latin typeface="Calibri"/>
              </a:rPr>
              <a:t>realised pricing.</a:t>
            </a:r>
          </a:p>
        </p:txBody>
      </p:sp>
    </p:spTree>
  </p:cSld>
  <p:clrMapOvr>
    <a:masterClrMapping/>
  </p:clrMapOvr>
</p:sld>
</file>

<file path=ppt/slides/slide2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Egg Protein Membrane Market Competitor Pricing Strategies</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how leading players position price: tier, price position versus peers and strategy focus</a:t>
            </a:r>
          </a:p>
        </p:txBody>
      </p:sp>
      <p:sp>
        <p:nvSpPr>
          <p:cNvPr id="7" name="Rounded Rectangle 6"/>
          <p:cNvSpPr/>
          <p:nvPr/>
        </p:nvSpPr>
        <p:spPr>
          <a:xfrm>
            <a:off x="142875" y="1007261"/>
            <a:ext cx="7696200" cy="255552"/>
          </a:xfrm>
          <a:prstGeom prst="roundRect">
            <a:avLst>
              <a:gd name="adj" fmla="val 29817"/>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Competitor pricing strategies how leading players position price and the levers they use to sustain it.</a:t>
            </a:r>
          </a:p>
        </p:txBody>
      </p:sp>
      <p:sp>
        <p:nvSpPr>
          <p:cNvPr id="8" name="Rounded Rectangle 7"/>
          <p:cNvSpPr/>
          <p:nvPr/>
        </p:nvSpPr>
        <p:spPr>
          <a:xfrm>
            <a:off x="142875" y="1317574"/>
            <a:ext cx="7696200" cy="3924545"/>
          </a:xfrm>
          <a:prstGeom prst="roundRect">
            <a:avLst>
              <a:gd name="adj" fmla="val 1941"/>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9" name="Table 8"/>
          <p:cNvGraphicFramePr>
            <a:graphicFrameLocks noGrp="1"/>
          </p:cNvGraphicFramePr>
          <p:nvPr/>
        </p:nvGraphicFramePr>
        <p:xfrm>
          <a:off x="152400" y="1393774"/>
          <a:ext cx="7677151" cy="3619746"/>
        </p:xfrm>
        <a:graphic>
          <a:graphicData uri="http://schemas.openxmlformats.org/drawingml/2006/table">
            <a:tbl>
              <a:tblPr>
                <a:tableStyleId>{5C22544A-7EE6-4342-B048-85BDC9FD1C3A}</a:tableStyleId>
              </a:tblPr>
              <a:tblGrid>
                <a:gridCol w="2690423"/>
                <a:gridCol w="504691"/>
                <a:gridCol w="1061008"/>
                <a:gridCol w="993233"/>
                <a:gridCol w="2427796"/>
              </a:tblGrid>
              <a:tr h="246126">
                <a:tc>
                  <a:txBody>
                    <a:bodyPr wrap="none"/>
                    <a:lstStyle/>
                    <a:p>
                      <a:pPr algn="l"/>
                      <a:r>
                        <a:rPr sz="1100" b="1">
                          <a:solidFill>
                            <a:srgbClr val="0E2A5C"/>
                          </a:solidFill>
                          <a:latin typeface="Calibri"/>
                        </a:rPr>
                        <a:t>Company</a:t>
                      </a:r>
                      <a:endParaRPr sz="1100"/>
                    </a:p>
                  </a:txBody>
                  <a:tcPr marL="47625" marR="38100" marT="19050" marB="19050" anchor="ctr">
                    <a:solidFill>
                      <a:srgbClr val="EBF2F9"/>
                    </a:solidFill>
                  </a:tcPr>
                </a:tc>
                <a:tc>
                  <a:txBody>
                    <a:bodyPr wrap="none"/>
                    <a:lstStyle/>
                    <a:p>
                      <a:pPr algn="l"/>
                      <a:r>
                        <a:rPr sz="1100" b="1">
                          <a:solidFill>
                            <a:srgbClr val="0E2A5C"/>
                          </a:solidFill>
                          <a:latin typeface="Calibri"/>
                        </a:rPr>
                        <a:t>Tier</a:t>
                      </a:r>
                      <a:endParaRPr sz="1100"/>
                    </a:p>
                  </a:txBody>
                  <a:tcPr marL="47625" marR="38100" marT="19050" marB="19050" anchor="ctr">
                    <a:solidFill>
                      <a:srgbClr val="EBF2F9"/>
                    </a:solidFill>
                  </a:tcPr>
                </a:tc>
                <a:tc>
                  <a:txBody>
                    <a:bodyPr wrap="none"/>
                    <a:lstStyle/>
                    <a:p>
                      <a:pPr algn="l"/>
                      <a:r>
                        <a:rPr sz="1100" b="1">
                          <a:solidFill>
                            <a:srgbClr val="0E2A5C"/>
                          </a:solidFill>
                          <a:latin typeface="Calibri"/>
                        </a:rPr>
                        <a:t>Price Position</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ASP vs Peers</a:t>
                      </a:r>
                      <a:endParaRPr sz="1100"/>
                    </a:p>
                  </a:txBody>
                  <a:tcPr marL="47625" marR="38100" marT="19050" marB="19050" anchor="ctr">
                    <a:solidFill>
                      <a:srgbClr val="EBF2F9"/>
                    </a:solidFill>
                  </a:tcPr>
                </a:tc>
                <a:tc>
                  <a:txBody>
                    <a:bodyPr wrap="none"/>
                    <a:lstStyle/>
                    <a:p>
                      <a:pPr algn="l"/>
                      <a:r>
                        <a:rPr sz="1100" b="1">
                          <a:solidFill>
                            <a:srgbClr val="0E2A5C"/>
                          </a:solidFill>
                          <a:latin typeface="Calibri"/>
                        </a:rPr>
                        <a:t>Strategy Focus</a:t>
                      </a:r>
                      <a:endParaRPr sz="1100"/>
                    </a:p>
                  </a:txBody>
                  <a:tcPr marL="47625" marR="38100" marT="19050" marB="19050" anchor="ctr">
                    <a:solidFill>
                      <a:srgbClr val="EBF2F9"/>
                    </a:solidFill>
                  </a:tcPr>
                </a:tc>
              </a:tr>
              <a:tr h="562270">
                <a:tc>
                  <a:txBody>
                    <a:bodyPr wrap="none"/>
                    <a:lstStyle/>
                    <a:p>
                      <a:pPr algn="l"/>
                      <a:r>
                        <a:rPr sz="1100" b="1">
                          <a:solidFill>
                            <a:srgbClr val="2E2E2E"/>
                          </a:solidFill>
                          <a:latin typeface="Calibri"/>
                        </a:rPr>
                        <a:t>ESM Technologies, LLC</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Tier 1</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Premium</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Premium, brand-led pricing</a:t>
                      </a:r>
                      <a:endParaRPr sz="1100"/>
                    </a:p>
                  </a:txBody>
                  <a:tcPr marL="47625" marR="38100" marT="19050" marB="19050" anchor="ctr">
                    <a:solidFill>
                      <a:srgbClr val="FFFFFF"/>
                    </a:solidFill>
                  </a:tcPr>
                </a:tc>
              </a:tr>
              <a:tr h="562270">
                <a:tc>
                  <a:txBody>
                    <a:bodyPr wrap="none"/>
                    <a:lstStyle/>
                    <a:p>
                      <a:pPr algn="l"/>
                      <a:r>
                        <a:rPr sz="1100" b="1">
                          <a:solidFill>
                            <a:srgbClr val="2E2E2E"/>
                          </a:solidFill>
                          <a:latin typeface="Calibri"/>
                        </a:rPr>
                        <a:t>Company</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Tier 1</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Premium</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Value-based premium pricing</a:t>
                      </a:r>
                      <a:endParaRPr sz="1100"/>
                    </a:p>
                  </a:txBody>
                  <a:tcPr marL="47625" marR="38100" marT="19050" marB="19050" anchor="ctr">
                    <a:solidFill>
                      <a:srgbClr val="F5F9FD"/>
                    </a:solidFill>
                  </a:tcPr>
                </a:tc>
              </a:tr>
              <a:tr h="562270">
                <a:tc>
                  <a:txBody>
                    <a:bodyPr wrap="none"/>
                    <a:lstStyle/>
                    <a:p>
                      <a:pPr algn="l"/>
                      <a:r>
                        <a:rPr sz="1100" b="1">
                          <a:solidFill>
                            <a:srgbClr val="2E2E2E"/>
                          </a:solidFill>
                          <a:latin typeface="Calibri"/>
                        </a:rPr>
                        <a:t>Biova, LLC</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Tier 1</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Premium</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Innovation-led price leadership</a:t>
                      </a:r>
                      <a:endParaRPr sz="1100"/>
                    </a:p>
                  </a:txBody>
                  <a:tcPr marL="47625" marR="38100" marT="19050" marB="19050" anchor="ctr">
                    <a:solidFill>
                      <a:srgbClr val="FFFFFF"/>
                    </a:solidFill>
                  </a:tcPr>
                </a:tc>
              </a:tr>
              <a:tr h="562270">
                <a:tc>
                  <a:txBody>
                    <a:bodyPr wrap="none"/>
                    <a:lstStyle/>
                    <a:p>
                      <a:pPr algn="l"/>
                      <a:r>
                        <a:rPr sz="1100" b="1">
                          <a:solidFill>
                            <a:srgbClr val="2E2E2E"/>
                          </a:solidFill>
                          <a:latin typeface="Calibri"/>
                        </a:rPr>
                        <a:t>Eggnovo S.L.</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Tier 1</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Parity</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Parity pricing with mix upsell</a:t>
                      </a:r>
                      <a:endParaRPr sz="1100"/>
                    </a:p>
                  </a:txBody>
                  <a:tcPr marL="47625" marR="38100" marT="19050" marB="19050" anchor="ctr">
                    <a:solidFill>
                      <a:srgbClr val="F5F9FD"/>
                    </a:solidFill>
                  </a:tcPr>
                </a:tc>
              </a:tr>
              <a:tr h="562270">
                <a:tc>
                  <a:txBody>
                    <a:bodyPr wrap="none"/>
                    <a:lstStyle/>
                    <a:p>
                      <a:pPr algn="l"/>
                      <a:r>
                        <a:rPr sz="1100" b="1">
                          <a:solidFill>
                            <a:srgbClr val="2E2E2E"/>
                          </a:solidFill>
                          <a:latin typeface="Calibri"/>
                        </a:rPr>
                        <a:t>Dutch Eggmembrane Protein Powder</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Tier 2</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Parity</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Penetration &amp; share-led pricing</a:t>
                      </a:r>
                      <a:endParaRPr sz="1100"/>
                    </a:p>
                  </a:txBody>
                  <a:tcPr marL="47625" marR="38100" marT="19050" marB="19050" anchor="ctr">
                    <a:solidFill>
                      <a:srgbClr val="FFFFFF"/>
                    </a:solidFill>
                  </a:tcPr>
                </a:tc>
              </a:tr>
              <a:tr h="562270">
                <a:tc>
                  <a:txBody>
                    <a:bodyPr wrap="none"/>
                    <a:lstStyle/>
                    <a:p>
                      <a:pPr algn="l"/>
                      <a:r>
                        <a:rPr sz="1100" b="1">
                          <a:solidFill>
                            <a:srgbClr val="2E2E2E"/>
                          </a:solidFill>
                          <a:latin typeface="Calibri"/>
                        </a:rPr>
                        <a:t>Kewpie Corporation</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Tier 2</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Parity</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Competitive / discount-led pricing</a:t>
                      </a:r>
                      <a:endParaRPr sz="1100"/>
                    </a:p>
                  </a:txBody>
                  <a:tcPr marL="47625" marR="38100" marT="19050" marB="19050" anchor="ctr">
                    <a:solidFill>
                      <a:srgbClr val="F5F9FD"/>
                    </a:solidFill>
                  </a:tcPr>
                </a:tc>
              </a:tr>
            </a:tbl>
          </a:graphicData>
        </a:graphic>
      </p:graphicFrame>
      <p:sp>
        <p:nvSpPr>
          <p:cNvPr id="10" name="TextBox 9"/>
          <p:cNvSpPr txBox="1"/>
          <p:nvPr/>
        </p:nvSpPr>
        <p:spPr>
          <a:xfrm>
            <a:off x="219075" y="5023044"/>
            <a:ext cx="7543800"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11" name="Rounded Rectangle 10"/>
          <p:cNvSpPr/>
          <p:nvPr/>
        </p:nvSpPr>
        <p:spPr>
          <a:xfrm>
            <a:off x="142875" y="5351641"/>
            <a:ext cx="7696200" cy="365074"/>
          </a:xfrm>
          <a:prstGeom prst="roundRect">
            <a:avLst>
              <a:gd name="adj" fmla="val 20872"/>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Note: competitor figures are indicative derived from market modelling and expert validation, not company disclosures.</a:t>
            </a:r>
          </a:p>
        </p:txBody>
      </p:sp>
      <p:sp>
        <p:nvSpPr>
          <p:cNvPr id="12" name="Rounded Rectangle 11"/>
          <p:cNvSpPr/>
          <p:nvPr/>
        </p:nvSpPr>
        <p:spPr>
          <a:xfrm>
            <a:off x="7915275" y="1317574"/>
            <a:ext cx="4133850" cy="5238811"/>
          </a:xfrm>
          <a:prstGeom prst="roundRect">
            <a:avLst>
              <a:gd name="adj" fmla="val 1843"/>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8625" y="1403299"/>
            <a:ext cx="3867150" cy="209550"/>
          </a:xfrm>
          <a:prstGeom prst="rect">
            <a:avLst/>
          </a:prstGeom>
          <a:noFill/>
        </p:spPr>
        <p:txBody>
          <a:bodyPr wrap="square" lIns="0" rIns="19050" tIns="9525" bIns="9525">
            <a:spAutoFit/>
          </a:bodyPr>
          <a:lstStyle/>
          <a:p>
            <a:pPr algn="l"/>
            <a:r>
              <a:rPr sz="1300" b="1">
                <a:solidFill>
                  <a:srgbClr val="0E2A5C"/>
                </a:solidFill>
                <a:latin typeface="Calibri"/>
              </a:rPr>
              <a:t>Competitive Pricing Themes</a:t>
            </a:r>
          </a:p>
        </p:txBody>
      </p:sp>
      <p:sp>
        <p:nvSpPr>
          <p:cNvPr id="14" name="Rectangle 13"/>
          <p:cNvSpPr/>
          <p:nvPr/>
        </p:nvSpPr>
        <p:spPr>
          <a:xfrm>
            <a:off x="8048625" y="1641424"/>
            <a:ext cx="38671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8625" y="1727149"/>
            <a:ext cx="3867150" cy="4753036"/>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t>
            </a:r>
            <a:r>
              <a:rPr sz="1150" b="0">
                <a:solidFill>
                  <a:srgbClr val="2E2E2E"/>
                </a:solidFill>
                <a:latin typeface="Calibri"/>
              </a:rPr>
              <a:t>Tier 1 players anchor premium pricing, defending ASP through brand, product development and certification rather than discounting.</a:t>
            </a:r>
          </a:p>
          <a:p>
            <a:pPr algn="l">
              <a:lnSpc>
                <a:spcPct val="110000"/>
              </a:lnSpc>
              <a:spcBef>
                <a:spcPts val="0"/>
              </a:spcBef>
              <a:spcAft>
                <a:spcPts val="500"/>
              </a:spcAft>
            </a:pPr>
            <a:r>
              <a:rPr sz="1100" b="0">
                <a:solidFill>
                  <a:srgbClr val="2A5F8F"/>
                </a:solidFill>
                <a:latin typeface="Calibri"/>
              </a:rPr>
              <a:t>▪  </a:t>
            </a:r>
            <a:r>
              <a:rPr sz="1150" b="0">
                <a:solidFill>
                  <a:srgbClr val="2E2E2E"/>
                </a:solidFill>
                <a:latin typeface="Calibri"/>
              </a:rPr>
              <a:t>Mid-tier players price at or just below parity, using launches and expansion to win share in fast-growing segments.</a:t>
            </a:r>
          </a:p>
          <a:p>
            <a:pPr algn="l">
              <a:lnSpc>
                <a:spcPct val="110000"/>
              </a:lnSpc>
              <a:spcBef>
                <a:spcPts val="0"/>
              </a:spcBef>
              <a:spcAft>
                <a:spcPts val="500"/>
              </a:spcAft>
            </a:pPr>
            <a:r>
              <a:rPr sz="1100" b="0">
                <a:solidFill>
                  <a:srgbClr val="2A5F8F"/>
                </a:solidFill>
                <a:latin typeface="Calibri"/>
              </a:rPr>
              <a:t>▪  </a:t>
            </a:r>
            <a:r>
              <a:rPr sz="1150" b="0">
                <a:solidFill>
                  <a:srgbClr val="2E2E2E"/>
                </a:solidFill>
                <a:latin typeface="Calibri"/>
              </a:rPr>
              <a:t>Emerging players compete on value pricing, trading margin for access and volume in price-sensitive regions.</a:t>
            </a:r>
          </a:p>
          <a:p>
            <a:pPr algn="l">
              <a:lnSpc>
                <a:spcPct val="110000"/>
              </a:lnSpc>
              <a:spcBef>
                <a:spcPts val="0"/>
              </a:spcBef>
              <a:spcAft>
                <a:spcPts val="500"/>
              </a:spcAft>
            </a:pPr>
            <a:r>
              <a:rPr sz="1100" b="0">
                <a:solidFill>
                  <a:srgbClr val="2A5F8F"/>
                </a:solidFill>
                <a:latin typeface="Calibri"/>
              </a:rPr>
              <a:t>▪  </a:t>
            </a:r>
            <a:r>
              <a:rPr sz="1150" b="0">
                <a:solidFill>
                  <a:srgbClr val="2E2E2E"/>
                </a:solidFill>
                <a:latin typeface="Calibri"/>
              </a:rPr>
              <a:t>Across tiers, R&amp;D investment and selective M&amp;A are the primary levers to move up the price ladder over time.</a:t>
            </a:r>
          </a:p>
        </p:txBody>
      </p:sp>
      <p:sp>
        <p:nvSpPr>
          <p:cNvPr id="16" name="Rectangle 15"/>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8" name="Picture 17" descr="lock.png"/>
          <p:cNvPicPr>
            <a:picLocks noChangeAspect="1"/>
          </p:cNvPicPr>
          <p:nvPr/>
        </p:nvPicPr>
        <p:blipFill>
          <a:blip r:embed="rId4"/>
          <a:stretch>
            <a:fillRect/>
          </a:stretch>
        </p:blipFill>
        <p:spPr>
          <a:xfrm>
            <a:off x="4737117" y="3086680"/>
            <a:ext cx="330041" cy="480060"/>
          </a:xfrm>
          <a:prstGeom prst="rect">
            <a:avLst/>
          </a:prstGeom>
        </p:spPr>
      </p:pic>
    </p:spTree>
  </p:cSld>
  <p:clrMapOvr>
    <a:masterClrMapping/>
  </p:clrMapOvr>
</p:sld>
</file>

<file path=ppt/slides/slide206.xml><?xml version="1.0" encoding="utf-8"?>
<p:sld xmlns:a="http://schemas.openxmlformats.org/drawingml/2006/main" xmlns:p="http://schemas.openxmlformats.org/presentationml/2006/main" xmlns:r="http://schemas.openxmlformats.org/officeDocument/2006/relationships">
  <p:cSld>
    <p:bg>
      <p:bgPr>
        <a:solidFill>
          <a:srgbClr val="0A2A63"/>
        </a:solidFill>
        <a:effectLst/>
      </p:bgPr>
    </p:bg>
    <p:spTree>
      <p:nvGrpSpPr>
        <p:cNvPr id="1" name=""/>
        <p:cNvGrpSpPr/>
        <p:nvPr/>
      </p:nvGrpSpPr>
      <p:grpSpPr/>
      <p:sp>
        <p:nvSpPr>
          <p:cNvPr id="2" name="TMR Section Breaker"/>
          <p:cNvSpPr/>
          <p:nvPr/>
        </p:nvSpPr>
        <p:spPr>
          <a:xfrm>
            <a:off x="0" y="0"/>
            <a:ext cx="12192000" cy="6858000"/>
          </a:xfrm>
          <a:prstGeom prst="rect">
            <a:avLst/>
          </a:prstGeom>
          <a:gradFill rotWithShape="1">
            <a:gsLst>
              <a:gs pos="0">
                <a:srgbClr val="0A2A63"/>
              </a:gs>
              <a:gs pos="100000">
                <a:srgbClr val="0F3F8F"/>
              </a:gs>
            </a:gsLst>
            <a:lin scaled="0" ang="19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35280" y="198120"/>
            <a:ext cx="1459992" cy="112790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411480" y="274320"/>
            <a:ext cx="1307592" cy="975505"/>
          </a:xfrm>
          <a:prstGeom prst="rect">
            <a:avLst/>
          </a:prstGeom>
        </p:spPr>
      </p:pic>
      <p:sp>
        <p:nvSpPr>
          <p:cNvPr id="5" name="TextBox 4"/>
          <p:cNvSpPr txBox="1"/>
          <p:nvPr/>
        </p:nvSpPr>
        <p:spPr>
          <a:xfrm>
            <a:off x="914400" y="3394075"/>
            <a:ext cx="7239000" cy="247650"/>
          </a:xfrm>
          <a:prstGeom prst="rect">
            <a:avLst/>
          </a:prstGeom>
          <a:noFill/>
        </p:spPr>
        <p:txBody>
          <a:bodyPr wrap="none" lIns="0" tIns="0">
            <a:spAutoFit/>
          </a:bodyPr>
          <a:lstStyle/>
          <a:p>
            <a:r>
              <a:rPr sz="1400" b="0">
                <a:solidFill>
                  <a:srgbClr val="8FC8F2"/>
                </a:solidFill>
                <a:latin typeface="Calibri"/>
              </a:rPr>
              <a:t>Egg Protein Membrane Market</a:t>
            </a:r>
          </a:p>
        </p:txBody>
      </p:sp>
      <p:sp>
        <p:nvSpPr>
          <p:cNvPr id="6" name="TMR Breaker Title"/>
          <p:cNvSpPr txBox="1"/>
          <p:nvPr/>
        </p:nvSpPr>
        <p:spPr>
          <a:xfrm>
            <a:off x="914400" y="3698875"/>
            <a:ext cx="7239000" cy="514350"/>
          </a:xfrm>
          <a:prstGeom prst="rect">
            <a:avLst/>
          </a:prstGeom>
          <a:noFill/>
        </p:spPr>
        <p:txBody>
          <a:bodyPr wrap="square" lIns="0" rIns="0" tIns="0">
            <a:spAutoFit/>
          </a:bodyPr>
          <a:lstStyle/>
          <a:p>
            <a:r>
              <a:rPr sz="3000" b="1" cap="all" spc="400">
                <a:solidFill>
                  <a:srgbClr val="FFFFFF"/>
                </a:solidFill>
                <a:latin typeface="Calibri"/>
              </a:rPr>
              <a:t>Supply Chain Analysis</a:t>
            </a:r>
          </a:p>
        </p:txBody>
      </p:sp>
      <p:sp>
        <p:nvSpPr>
          <p:cNvPr id="7" name="TextBox 6"/>
          <p:cNvSpPr txBox="1"/>
          <p:nvPr/>
        </p:nvSpPr>
        <p:spPr>
          <a:xfrm>
            <a:off x="914400" y="4403725"/>
            <a:ext cx="7124700" cy="4889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Supply Chain Analysis</a:t>
            </a:r>
          </a:p>
        </p:txBody>
      </p:sp>
      <p:sp>
        <p:nvSpPr>
          <p:cNvPr id="8" name="TextBox 7"/>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C9DCEE"/>
                </a:solidFill>
                <a:latin typeface="Calibri"/>
              </a:rPr>
              <a:t>©2026 Transparency Market Research, All Rights Reserved</a:t>
            </a:r>
          </a:p>
        </p:txBody>
      </p:sp>
    </p:spTree>
  </p:cSld>
  <p:clrMapOvr>
    <a:masterClrMapping/>
  </p:clrMapOvr>
</p:sld>
</file>

<file path=ppt/slides/slide207.xml><?xml version="1.0" encoding="utf-8"?>
<p:sld xmlns:a="http://schemas.openxmlformats.org/drawingml/2006/main" xmlns:p="http://schemas.openxmlformats.org/presentationml/2006/main" xmlns:r="http://schemas.openxmlformats.org/officeDocument/2006/relationships">
  <p:cSld>
    <p:bg>
      <p:bgPr>
        <a:solidFill>
          <a:srgbClr val="F3F8FD"/>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3F8FD"/>
              </a:gs>
              <a:gs pos="100000">
                <a:srgbClr val="DCE9F6"/>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FE0F0">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9C8E6">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B7D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A5F8F"/>
              </a:gs>
              <a:gs pos="100000">
                <a:srgbClr val="6FA6D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MR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16</a:t>
            </a:r>
          </a:p>
        </p:txBody>
      </p:sp>
      <p:pic>
        <p:nvPicPr>
          <p:cNvPr id="8" name="Picture 7" descr="tmr_logo.png"/>
          <p:cNvPicPr>
            <a:picLocks noChangeAspect="1"/>
          </p:cNvPicPr>
          <p:nvPr/>
        </p:nvPicPr>
        <p:blipFill>
          <a:blip r:embed="rId2"/>
          <a:stretch>
            <a:fillRect/>
          </a:stretch>
        </p:blipFill>
        <p:spPr>
          <a:xfrm>
            <a:off x="411480" y="274320"/>
            <a:ext cx="1307592" cy="975505"/>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2A5F8F"/>
                </a:solidFill>
                <a:latin typeface="Calibri"/>
              </a:rPr>
              <a:t>Egg Protein Membrane Market</a:t>
            </a:r>
          </a:p>
        </p:txBody>
      </p:sp>
      <p:sp>
        <p:nvSpPr>
          <p:cNvPr id="10" name="TMR Section Title"/>
          <p:cNvSpPr txBox="1"/>
          <p:nvPr/>
        </p:nvSpPr>
        <p:spPr>
          <a:xfrm>
            <a:off x="914400" y="3095625"/>
            <a:ext cx="8572500" cy="514350"/>
          </a:xfrm>
          <a:prstGeom prst="rect">
            <a:avLst/>
          </a:prstGeom>
          <a:noFill/>
        </p:spPr>
        <p:txBody>
          <a:bodyPr wrap="square" lIns="0" rIns="0" tIns="0">
            <a:spAutoFit/>
          </a:bodyPr>
          <a:lstStyle/>
          <a:p>
            <a:r>
              <a:rPr sz="3000" b="1">
                <a:solidFill>
                  <a:srgbClr val="0E2A5C"/>
                </a:solidFill>
                <a:latin typeface="Calibri"/>
              </a:rPr>
              <a:t>Supply Chain Analysis</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Value Chain &amp; Stakeholder Mapping</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Operating Margin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Buyers Assessment</a:t>
            </a:r>
          </a:p>
        </p:txBody>
      </p:sp>
      <p:sp>
        <p:nvSpPr>
          <p:cNvPr id="12" name="Rectangle 11"/>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2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Egg Protein Membrane Market Value Chain &amp; Stakeholder Mapping</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Mapping of the value chain stages, the stakeholders at each stage and the value added along the chain</a:t>
            </a:r>
          </a:p>
        </p:txBody>
      </p:sp>
      <p:sp>
        <p:nvSpPr>
          <p:cNvPr id="7" name="TextBox 6"/>
          <p:cNvSpPr txBox="1"/>
          <p:nvPr/>
        </p:nvSpPr>
        <p:spPr>
          <a:xfrm>
            <a:off x="285750" y="970754"/>
            <a:ext cx="10668000" cy="164283"/>
          </a:xfrm>
          <a:prstGeom prst="rect">
            <a:avLst/>
          </a:prstGeom>
          <a:noFill/>
        </p:spPr>
        <p:txBody>
          <a:bodyPr wrap="square" lIns="0" rIns="19050" tIns="0" bIns="0">
            <a:spAutoFit/>
          </a:bodyPr>
          <a:lstStyle/>
          <a:p>
            <a:pPr algn="l"/>
            <a:r>
              <a:rPr sz="1100" b="0">
                <a:solidFill>
                  <a:srgbClr val="6C7A89"/>
                </a:solidFill>
                <a:latin typeface="Calibri"/>
              </a:rPr>
              <a:t>End-to-end value chain with the key stakeholders at each stage and their indicative contribution to value addition.</a:t>
            </a:r>
          </a:p>
        </p:txBody>
      </p:sp>
      <p:sp>
        <p:nvSpPr>
          <p:cNvPr id="8" name="Right Arrow 7"/>
          <p:cNvSpPr/>
          <p:nvPr/>
        </p:nvSpPr>
        <p:spPr>
          <a:xfrm>
            <a:off x="1885950" y="2020341"/>
            <a:ext cx="1562100" cy="164283"/>
          </a:xfrm>
          <a:prstGeom prst="rightArrow">
            <a:avLst>
              <a:gd name="adj1" fmla="val 50000"/>
              <a:gd name="adj2" fmla="val 55000"/>
            </a:avLst>
          </a:prstGeom>
          <a:solidFill>
            <a:srgbClr val="CBD5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ight Arrow 8"/>
          <p:cNvSpPr/>
          <p:nvPr/>
        </p:nvSpPr>
        <p:spPr>
          <a:xfrm>
            <a:off x="4171950" y="2020341"/>
            <a:ext cx="1562100" cy="164283"/>
          </a:xfrm>
          <a:prstGeom prst="rightArrow">
            <a:avLst>
              <a:gd name="adj1" fmla="val 50000"/>
              <a:gd name="adj2" fmla="val 55000"/>
            </a:avLst>
          </a:prstGeom>
          <a:solidFill>
            <a:srgbClr val="CBD5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ight Arrow 9"/>
          <p:cNvSpPr/>
          <p:nvPr/>
        </p:nvSpPr>
        <p:spPr>
          <a:xfrm>
            <a:off x="6457950" y="2020341"/>
            <a:ext cx="1562100" cy="164283"/>
          </a:xfrm>
          <a:prstGeom prst="rightArrow">
            <a:avLst>
              <a:gd name="adj1" fmla="val 50000"/>
              <a:gd name="adj2" fmla="val 55000"/>
            </a:avLst>
          </a:prstGeom>
          <a:solidFill>
            <a:srgbClr val="CBD5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ight Arrow 10"/>
          <p:cNvSpPr/>
          <p:nvPr/>
        </p:nvSpPr>
        <p:spPr>
          <a:xfrm>
            <a:off x="8743950" y="2020341"/>
            <a:ext cx="1562100" cy="164283"/>
          </a:xfrm>
          <a:prstGeom prst="rightArrow">
            <a:avLst>
              <a:gd name="adj1" fmla="val 50000"/>
              <a:gd name="adj2" fmla="val 55000"/>
            </a:avLst>
          </a:prstGeom>
          <a:solidFill>
            <a:srgbClr val="CBD5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19100" y="1262813"/>
            <a:ext cx="2209800" cy="346820"/>
          </a:xfrm>
          <a:prstGeom prst="rect">
            <a:avLst/>
          </a:prstGeom>
          <a:noFill/>
        </p:spPr>
        <p:txBody>
          <a:bodyPr wrap="square" lIns="28575" rIns="28575" tIns="9525" bIns="9525" anchor="b">
            <a:spAutoFit/>
          </a:bodyPr>
          <a:lstStyle/>
          <a:p>
            <a:pPr algn="ctr">
              <a:lnSpc>
                <a:spcPct val="100000"/>
              </a:lnSpc>
            </a:pPr>
            <a:r>
              <a:rPr sz="1100" b="1">
                <a:solidFill>
                  <a:srgbClr val="0B2E4A"/>
                </a:solidFill>
                <a:latin typeface="Calibri"/>
              </a:rPr>
              <a:t>Raw Material</a:t>
            </a:r>
          </a:p>
          <a:p>
            <a:pPr algn="ctr">
              <a:lnSpc>
                <a:spcPct val="100000"/>
              </a:lnSpc>
            </a:pPr>
            <a:r>
              <a:rPr sz="1100" b="1">
                <a:solidFill>
                  <a:srgbClr val="0B2E4A"/>
                </a:solidFill>
                <a:latin typeface="Calibri"/>
              </a:rPr>
              <a:t>Suppliers</a:t>
            </a:r>
          </a:p>
        </p:txBody>
      </p:sp>
      <p:sp>
        <p:nvSpPr>
          <p:cNvPr id="13" name="Oval 12"/>
          <p:cNvSpPr/>
          <p:nvPr/>
        </p:nvSpPr>
        <p:spPr>
          <a:xfrm>
            <a:off x="1076325" y="1673521"/>
            <a:ext cx="895350" cy="857924"/>
          </a:xfrm>
          <a:prstGeom prst="ellipse">
            <a:avLst/>
          </a:prstGeom>
          <a:solidFill>
            <a:srgbClr val="EE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123950" y="1719155"/>
            <a:ext cx="800100" cy="766655"/>
          </a:xfrm>
          <a:prstGeom prst="ellipse">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509712" y="2084229"/>
            <a:ext cx="28575" cy="1551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rot="19500000">
            <a:off x="1381125" y="2020341"/>
            <a:ext cx="142875" cy="821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rot="2100000">
            <a:off x="1524000" y="2020341"/>
            <a:ext cx="142875" cy="821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00125" y="2595333"/>
            <a:ext cx="1047750" cy="219044"/>
          </a:xfrm>
          <a:prstGeom prst="roundRect">
            <a:avLst>
              <a:gd name="adj" fmla="val 50000"/>
            </a:avLst>
          </a:prstGeom>
          <a:solidFill>
            <a:srgbClr val="F0E8F6"/>
          </a:solidFill>
          <a:ln w="9525">
            <a:solidFill>
              <a:srgbClr val="6F3CC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6F3CC2"/>
                </a:solidFill>
                <a:latin typeface="Calibri"/>
              </a:rPr>
              <a:t> </a:t>
            </a:r>
          </a:p>
        </p:txBody>
      </p:sp>
      <p:sp>
        <p:nvSpPr>
          <p:cNvPr id="19" name="Rounded Rectangle 18"/>
          <p:cNvSpPr/>
          <p:nvPr/>
        </p:nvSpPr>
        <p:spPr>
          <a:xfrm>
            <a:off x="457200" y="2905646"/>
            <a:ext cx="2133600" cy="2281712"/>
          </a:xfrm>
          <a:prstGeom prst="roundRect">
            <a:avLst>
              <a:gd name="adj" fmla="val 3571"/>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57200" y="2905646"/>
            <a:ext cx="2133600" cy="4563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42925" y="3015168"/>
            <a:ext cx="1962150" cy="219044"/>
          </a:xfrm>
          <a:prstGeom prst="rect">
            <a:avLst/>
          </a:prstGeom>
          <a:noFill/>
        </p:spPr>
        <p:txBody>
          <a:bodyPr wrap="square" lIns="28575" rIns="28575" tIns="9525" bIns="9525">
            <a:spAutoFit/>
          </a:bodyPr>
          <a:lstStyle/>
          <a:p>
            <a:pPr algn="l">
              <a:lnSpc>
                <a:spcPct val="105000"/>
              </a:lnSpc>
            </a:pPr>
            <a:r>
              <a:rPr sz="1150" b="1">
                <a:solidFill>
                  <a:srgbClr val="0B2E4A"/>
                </a:solidFill>
                <a:latin typeface="Calibri"/>
              </a:rPr>
              <a:t>Raw Material Suppliers</a:t>
            </a:r>
          </a:p>
        </p:txBody>
      </p:sp>
      <p:sp>
        <p:nvSpPr>
          <p:cNvPr id="22" name="TextBox 21"/>
          <p:cNvSpPr txBox="1"/>
          <p:nvPr/>
        </p:nvSpPr>
        <p:spPr>
          <a:xfrm>
            <a:off x="542925" y="3234212"/>
            <a:ext cx="1962150" cy="182537"/>
          </a:xfrm>
          <a:prstGeom prst="rect">
            <a:avLst/>
          </a:prstGeom>
          <a:noFill/>
        </p:spPr>
        <p:txBody>
          <a:bodyPr wrap="square" lIns="28575" rIns="28575" tIns="9525" bIns="9525">
            <a:spAutoFit/>
          </a:bodyPr>
          <a:lstStyle/>
          <a:p>
            <a:pPr algn="l">
              <a:lnSpc>
                <a:spcPct val="100000"/>
              </a:lnSpc>
            </a:pPr>
            <a:r>
              <a:rPr sz="1100" b="0">
                <a:solidFill>
                  <a:srgbClr val="6C7A89"/>
                </a:solidFill>
                <a:latin typeface="Calibri"/>
              </a:rPr>
              <a:t>Base Year: 2026</a:t>
            </a:r>
          </a:p>
        </p:txBody>
      </p:sp>
      <p:sp>
        <p:nvSpPr>
          <p:cNvPr id="23" name="TextBox 22"/>
          <p:cNvSpPr txBox="1"/>
          <p:nvPr/>
        </p:nvSpPr>
        <p:spPr>
          <a:xfrm>
            <a:off x="542925" y="3453257"/>
            <a:ext cx="1962150" cy="1642833"/>
          </a:xfrm>
          <a:prstGeom prst="rect">
            <a:avLst/>
          </a:prstGeom>
          <a:noFill/>
        </p:spPr>
        <p:txBody>
          <a:bodyPr wrap="square" lIns="28575" rIns="28575" tIns="9525" bIns="9525">
            <a:spAutoFit/>
          </a:bodyPr>
          <a:lstStyle/>
          <a:p>
            <a:pPr algn="l">
              <a:lnSpc>
                <a:spcPct val="122000"/>
              </a:lnSpc>
            </a:pPr>
            <a:r>
              <a:rPr sz="1100" b="0">
                <a:solidFill>
                  <a:srgbClr val="2E2E2E"/>
                </a:solidFill>
                <a:latin typeface="Calibri"/>
              </a:rPr>
              <a:t>Growers and primary producers supply core inputs; some forward-integrate into small-scale processing.</a:t>
            </a:r>
          </a:p>
        </p:txBody>
      </p:sp>
      <p:sp>
        <p:nvSpPr>
          <p:cNvPr id="24" name="TextBox 23"/>
          <p:cNvSpPr txBox="1"/>
          <p:nvPr/>
        </p:nvSpPr>
        <p:spPr>
          <a:xfrm>
            <a:off x="2705100" y="1262813"/>
            <a:ext cx="2209800" cy="346820"/>
          </a:xfrm>
          <a:prstGeom prst="rect">
            <a:avLst/>
          </a:prstGeom>
          <a:noFill/>
        </p:spPr>
        <p:txBody>
          <a:bodyPr wrap="square" lIns="28575" rIns="28575" tIns="9525" bIns="9525" anchor="b">
            <a:spAutoFit/>
          </a:bodyPr>
          <a:lstStyle/>
          <a:p>
            <a:pPr algn="ctr">
              <a:lnSpc>
                <a:spcPct val="100000"/>
              </a:lnSpc>
            </a:pPr>
            <a:r>
              <a:rPr sz="1100" b="1">
                <a:solidFill>
                  <a:srgbClr val="0B2E4A"/>
                </a:solidFill>
                <a:latin typeface="Calibri"/>
              </a:rPr>
              <a:t>Manufacturers</a:t>
            </a:r>
          </a:p>
        </p:txBody>
      </p:sp>
      <p:sp>
        <p:nvSpPr>
          <p:cNvPr id="25" name="Oval 24"/>
          <p:cNvSpPr/>
          <p:nvPr/>
        </p:nvSpPr>
        <p:spPr>
          <a:xfrm>
            <a:off x="3362325" y="1673521"/>
            <a:ext cx="895350" cy="857924"/>
          </a:xfrm>
          <a:prstGeom prst="ellipse">
            <a:avLst/>
          </a:prstGeom>
          <a:solidFill>
            <a:srgbClr val="EE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3409950" y="1719155"/>
            <a:ext cx="800100" cy="766655"/>
          </a:xfrm>
          <a:prstGeom prst="ellipse">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3638550" y="2084229"/>
            <a:ext cx="342900" cy="164283"/>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3667125" y="1983834"/>
            <a:ext cx="66675" cy="10952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3771900" y="2020341"/>
            <a:ext cx="66675" cy="7301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3876675" y="1992961"/>
            <a:ext cx="66675" cy="10039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3286125" y="2595333"/>
            <a:ext cx="1047750" cy="219044"/>
          </a:xfrm>
          <a:prstGeom prst="roundRect">
            <a:avLst>
              <a:gd name="adj" fmla="val 50000"/>
            </a:avLst>
          </a:prstGeom>
          <a:solidFill>
            <a:srgbClr val="F0E8F6"/>
          </a:solidFill>
          <a:ln w="9525">
            <a:solidFill>
              <a:srgbClr val="6F3CC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6F3CC2"/>
                </a:solidFill>
                <a:latin typeface="Calibri"/>
              </a:rPr>
              <a:t> </a:t>
            </a:r>
          </a:p>
        </p:txBody>
      </p:sp>
      <p:sp>
        <p:nvSpPr>
          <p:cNvPr id="32" name="Rounded Rectangle 31"/>
          <p:cNvSpPr/>
          <p:nvPr/>
        </p:nvSpPr>
        <p:spPr>
          <a:xfrm>
            <a:off x="2743200" y="2905646"/>
            <a:ext cx="2133600" cy="2281712"/>
          </a:xfrm>
          <a:prstGeom prst="roundRect">
            <a:avLst>
              <a:gd name="adj" fmla="val 3571"/>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2743200" y="2905646"/>
            <a:ext cx="2133600" cy="4563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828925" y="3015168"/>
            <a:ext cx="1962150" cy="219044"/>
          </a:xfrm>
          <a:prstGeom prst="rect">
            <a:avLst/>
          </a:prstGeom>
          <a:noFill/>
        </p:spPr>
        <p:txBody>
          <a:bodyPr wrap="square" lIns="28575" rIns="28575" tIns="9525" bIns="9525">
            <a:spAutoFit/>
          </a:bodyPr>
          <a:lstStyle/>
          <a:p>
            <a:pPr algn="l">
              <a:lnSpc>
                <a:spcPct val="105000"/>
              </a:lnSpc>
            </a:pPr>
            <a:r>
              <a:rPr sz="1150" b="1">
                <a:solidFill>
                  <a:srgbClr val="0B2E4A"/>
                </a:solidFill>
                <a:latin typeface="Calibri"/>
              </a:rPr>
              <a:t>Manufacturers / Processors</a:t>
            </a:r>
          </a:p>
        </p:txBody>
      </p:sp>
      <p:sp>
        <p:nvSpPr>
          <p:cNvPr id="35" name="TextBox 34"/>
          <p:cNvSpPr txBox="1"/>
          <p:nvPr/>
        </p:nvSpPr>
        <p:spPr>
          <a:xfrm>
            <a:off x="2828925" y="3234212"/>
            <a:ext cx="1962150" cy="182537"/>
          </a:xfrm>
          <a:prstGeom prst="rect">
            <a:avLst/>
          </a:prstGeom>
          <a:noFill/>
        </p:spPr>
        <p:txBody>
          <a:bodyPr wrap="square" lIns="28575" rIns="28575" tIns="9525" bIns="9525">
            <a:spAutoFit/>
          </a:bodyPr>
          <a:lstStyle/>
          <a:p>
            <a:pPr algn="l">
              <a:lnSpc>
                <a:spcPct val="100000"/>
              </a:lnSpc>
            </a:pPr>
            <a:r>
              <a:rPr sz="1100" b="0">
                <a:solidFill>
                  <a:srgbClr val="6C7A89"/>
                </a:solidFill>
                <a:latin typeface="Calibri"/>
              </a:rPr>
              <a:t>Base Year: 2026</a:t>
            </a:r>
          </a:p>
        </p:txBody>
      </p:sp>
      <p:sp>
        <p:nvSpPr>
          <p:cNvPr id="36" name="TextBox 35"/>
          <p:cNvSpPr txBox="1"/>
          <p:nvPr/>
        </p:nvSpPr>
        <p:spPr>
          <a:xfrm>
            <a:off x="2828925" y="3453257"/>
            <a:ext cx="1962150" cy="1642833"/>
          </a:xfrm>
          <a:prstGeom prst="rect">
            <a:avLst/>
          </a:prstGeom>
          <a:noFill/>
        </p:spPr>
        <p:txBody>
          <a:bodyPr wrap="square" lIns="28575" rIns="28575" tIns="9525" bIns="9525">
            <a:spAutoFit/>
          </a:bodyPr>
          <a:lstStyle/>
          <a:p>
            <a:pPr algn="l">
              <a:lnSpc>
                <a:spcPct val="122000"/>
              </a:lnSpc>
            </a:pPr>
            <a:r>
              <a:rPr sz="1100" b="0">
                <a:solidFill>
                  <a:srgbClr val="2E2E2E"/>
                </a:solidFill>
                <a:latin typeface="Calibri"/>
              </a:rPr>
              <a:t>Convert inputs into finished and semi-finished product the single largest value-addition stage.</a:t>
            </a:r>
          </a:p>
        </p:txBody>
      </p:sp>
      <p:sp>
        <p:nvSpPr>
          <p:cNvPr id="37" name="TextBox 36"/>
          <p:cNvSpPr txBox="1"/>
          <p:nvPr/>
        </p:nvSpPr>
        <p:spPr>
          <a:xfrm>
            <a:off x="4991100" y="1262813"/>
            <a:ext cx="2209800" cy="346820"/>
          </a:xfrm>
          <a:prstGeom prst="rect">
            <a:avLst/>
          </a:prstGeom>
          <a:noFill/>
        </p:spPr>
        <p:txBody>
          <a:bodyPr wrap="square" lIns="28575" rIns="28575" tIns="9525" bIns="9525" anchor="b">
            <a:spAutoFit/>
          </a:bodyPr>
          <a:lstStyle/>
          <a:p>
            <a:pPr algn="ctr">
              <a:lnSpc>
                <a:spcPct val="100000"/>
              </a:lnSpc>
            </a:pPr>
            <a:r>
              <a:rPr sz="1100" b="1">
                <a:solidFill>
                  <a:srgbClr val="0B2E4A"/>
                </a:solidFill>
                <a:latin typeface="Calibri"/>
              </a:rPr>
              <a:t>Distributors</a:t>
            </a:r>
          </a:p>
        </p:txBody>
      </p:sp>
      <p:sp>
        <p:nvSpPr>
          <p:cNvPr id="38" name="Oval 37"/>
          <p:cNvSpPr/>
          <p:nvPr/>
        </p:nvSpPr>
        <p:spPr>
          <a:xfrm>
            <a:off x="5648325" y="1673521"/>
            <a:ext cx="895350" cy="857924"/>
          </a:xfrm>
          <a:prstGeom prst="ellipse">
            <a:avLst/>
          </a:prstGeom>
          <a:solidFill>
            <a:srgbClr val="EE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5695950" y="1719155"/>
            <a:ext cx="800100" cy="766655"/>
          </a:xfrm>
          <a:prstGeom prst="ellipse">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5915025" y="2002088"/>
            <a:ext cx="209550" cy="164283"/>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134100" y="2075102"/>
            <a:ext cx="123825" cy="912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5972175" y="2148117"/>
            <a:ext cx="85725" cy="82142"/>
          </a:xfrm>
          <a:prstGeom prst="ellipse">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6153150" y="2148117"/>
            <a:ext cx="85725" cy="82142"/>
          </a:xfrm>
          <a:prstGeom prst="ellipse">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5572125" y="2595333"/>
            <a:ext cx="1047750" cy="219044"/>
          </a:xfrm>
          <a:prstGeom prst="roundRect">
            <a:avLst>
              <a:gd name="adj" fmla="val 50000"/>
            </a:avLst>
          </a:prstGeom>
          <a:solidFill>
            <a:srgbClr val="F0E8F6"/>
          </a:solidFill>
          <a:ln w="9525">
            <a:solidFill>
              <a:srgbClr val="6F3CC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6F3CC2"/>
                </a:solidFill>
                <a:latin typeface="Calibri"/>
              </a:rPr>
              <a:t> </a:t>
            </a:r>
          </a:p>
        </p:txBody>
      </p:sp>
      <p:sp>
        <p:nvSpPr>
          <p:cNvPr id="45" name="Rounded Rectangle 44"/>
          <p:cNvSpPr/>
          <p:nvPr/>
        </p:nvSpPr>
        <p:spPr>
          <a:xfrm>
            <a:off x="5029200" y="2905646"/>
            <a:ext cx="2133600" cy="2281712"/>
          </a:xfrm>
          <a:prstGeom prst="roundRect">
            <a:avLst>
              <a:gd name="adj" fmla="val 3571"/>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5029200" y="2905646"/>
            <a:ext cx="2133600" cy="45634"/>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114925" y="3015168"/>
            <a:ext cx="1962150" cy="219044"/>
          </a:xfrm>
          <a:prstGeom prst="rect">
            <a:avLst/>
          </a:prstGeom>
          <a:noFill/>
        </p:spPr>
        <p:txBody>
          <a:bodyPr wrap="square" lIns="28575" rIns="28575" tIns="9525" bIns="9525">
            <a:spAutoFit/>
          </a:bodyPr>
          <a:lstStyle/>
          <a:p>
            <a:pPr algn="l">
              <a:lnSpc>
                <a:spcPct val="105000"/>
              </a:lnSpc>
            </a:pPr>
            <a:r>
              <a:rPr sz="1150" b="1">
                <a:solidFill>
                  <a:srgbClr val="0B2E4A"/>
                </a:solidFill>
                <a:latin typeface="Calibri"/>
              </a:rPr>
              <a:t>Distributors &amp; Wholesalers</a:t>
            </a:r>
          </a:p>
        </p:txBody>
      </p:sp>
      <p:sp>
        <p:nvSpPr>
          <p:cNvPr id="48" name="TextBox 47"/>
          <p:cNvSpPr txBox="1"/>
          <p:nvPr/>
        </p:nvSpPr>
        <p:spPr>
          <a:xfrm>
            <a:off x="5114925" y="3234212"/>
            <a:ext cx="1962150" cy="182537"/>
          </a:xfrm>
          <a:prstGeom prst="rect">
            <a:avLst/>
          </a:prstGeom>
          <a:noFill/>
        </p:spPr>
        <p:txBody>
          <a:bodyPr wrap="square" lIns="28575" rIns="28575" tIns="9525" bIns="9525">
            <a:spAutoFit/>
          </a:bodyPr>
          <a:lstStyle/>
          <a:p>
            <a:pPr algn="l">
              <a:lnSpc>
                <a:spcPct val="100000"/>
              </a:lnSpc>
            </a:pPr>
            <a:r>
              <a:rPr sz="1100" b="0">
                <a:solidFill>
                  <a:srgbClr val="6C7A89"/>
                </a:solidFill>
                <a:latin typeface="Calibri"/>
              </a:rPr>
              <a:t>Base Year: 2026</a:t>
            </a:r>
          </a:p>
        </p:txBody>
      </p:sp>
      <p:sp>
        <p:nvSpPr>
          <p:cNvPr id="49" name="TextBox 48"/>
          <p:cNvSpPr txBox="1"/>
          <p:nvPr/>
        </p:nvSpPr>
        <p:spPr>
          <a:xfrm>
            <a:off x="5114925" y="3453257"/>
            <a:ext cx="1962150" cy="1642833"/>
          </a:xfrm>
          <a:prstGeom prst="rect">
            <a:avLst/>
          </a:prstGeom>
          <a:noFill/>
        </p:spPr>
        <p:txBody>
          <a:bodyPr wrap="square" lIns="28575" rIns="28575" tIns="9525" bIns="9525">
            <a:spAutoFit/>
          </a:bodyPr>
          <a:lstStyle/>
          <a:p>
            <a:pPr algn="l">
              <a:lnSpc>
                <a:spcPct val="122000"/>
              </a:lnSpc>
            </a:pPr>
            <a:r>
              <a:rPr sz="1100" b="0">
                <a:solidFill>
                  <a:srgbClr val="2E2E2E"/>
                </a:solidFill>
                <a:latin typeface="Calibri"/>
              </a:rPr>
              <a:t>Move product to market, hold inventory and provide logistics, reach and credit to downstream channels.</a:t>
            </a:r>
          </a:p>
        </p:txBody>
      </p:sp>
      <p:sp>
        <p:nvSpPr>
          <p:cNvPr id="50" name="TextBox 49"/>
          <p:cNvSpPr txBox="1"/>
          <p:nvPr/>
        </p:nvSpPr>
        <p:spPr>
          <a:xfrm>
            <a:off x="7277100" y="1262813"/>
            <a:ext cx="2209800" cy="346820"/>
          </a:xfrm>
          <a:prstGeom prst="rect">
            <a:avLst/>
          </a:prstGeom>
          <a:noFill/>
        </p:spPr>
        <p:txBody>
          <a:bodyPr wrap="square" lIns="28575" rIns="28575" tIns="9525" bIns="9525" anchor="b">
            <a:spAutoFit/>
          </a:bodyPr>
          <a:lstStyle/>
          <a:p>
            <a:pPr algn="ctr">
              <a:lnSpc>
                <a:spcPct val="100000"/>
              </a:lnSpc>
            </a:pPr>
            <a:r>
              <a:rPr sz="1100" b="1">
                <a:solidFill>
                  <a:srgbClr val="0B2E4A"/>
                </a:solidFill>
                <a:latin typeface="Calibri"/>
              </a:rPr>
              <a:t>Retailers</a:t>
            </a:r>
          </a:p>
        </p:txBody>
      </p:sp>
      <p:sp>
        <p:nvSpPr>
          <p:cNvPr id="51" name="Oval 50"/>
          <p:cNvSpPr/>
          <p:nvPr/>
        </p:nvSpPr>
        <p:spPr>
          <a:xfrm>
            <a:off x="7934325" y="1673521"/>
            <a:ext cx="895350" cy="857924"/>
          </a:xfrm>
          <a:prstGeom prst="ellipse">
            <a:avLst/>
          </a:prstGeom>
          <a:solidFill>
            <a:srgbClr val="EE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7981950" y="1719155"/>
            <a:ext cx="800100" cy="766655"/>
          </a:xfrm>
          <a:prstGeom prst="ellipse">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Isosceles Triangle 52"/>
          <p:cNvSpPr/>
          <p:nvPr/>
        </p:nvSpPr>
        <p:spPr>
          <a:xfrm>
            <a:off x="8201025" y="1965580"/>
            <a:ext cx="361950" cy="109522"/>
          </a:xfrm>
          <a:prstGeom prst="triangl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8239125" y="2065976"/>
            <a:ext cx="285750" cy="18253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8343900" y="2138990"/>
            <a:ext cx="76200" cy="109522"/>
          </a:xfrm>
          <a:prstGeom prst="rect">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ounded Rectangle 55"/>
          <p:cNvSpPr/>
          <p:nvPr/>
        </p:nvSpPr>
        <p:spPr>
          <a:xfrm>
            <a:off x="7858125" y="2595333"/>
            <a:ext cx="1047750" cy="219044"/>
          </a:xfrm>
          <a:prstGeom prst="roundRect">
            <a:avLst>
              <a:gd name="adj" fmla="val 50000"/>
            </a:avLst>
          </a:prstGeom>
          <a:solidFill>
            <a:srgbClr val="F0E8F6"/>
          </a:solidFill>
          <a:ln w="9525">
            <a:solidFill>
              <a:srgbClr val="6F3CC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6F3CC2"/>
                </a:solidFill>
                <a:latin typeface="Calibri"/>
              </a:rPr>
              <a:t> </a:t>
            </a:r>
          </a:p>
        </p:txBody>
      </p:sp>
      <p:sp>
        <p:nvSpPr>
          <p:cNvPr id="57" name="Rounded Rectangle 56"/>
          <p:cNvSpPr/>
          <p:nvPr/>
        </p:nvSpPr>
        <p:spPr>
          <a:xfrm>
            <a:off x="7315200" y="2905646"/>
            <a:ext cx="2133600" cy="2281712"/>
          </a:xfrm>
          <a:prstGeom prst="roundRect">
            <a:avLst>
              <a:gd name="adj" fmla="val 3571"/>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7315200" y="2905646"/>
            <a:ext cx="2133600" cy="45634"/>
          </a:xfrm>
          <a:prstGeom prst="rect">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7400925" y="3015168"/>
            <a:ext cx="1962150" cy="219044"/>
          </a:xfrm>
          <a:prstGeom prst="rect">
            <a:avLst/>
          </a:prstGeom>
          <a:noFill/>
        </p:spPr>
        <p:txBody>
          <a:bodyPr wrap="square" lIns="28575" rIns="28575" tIns="9525" bIns="9525">
            <a:spAutoFit/>
          </a:bodyPr>
          <a:lstStyle/>
          <a:p>
            <a:pPr algn="l">
              <a:lnSpc>
                <a:spcPct val="105000"/>
              </a:lnSpc>
            </a:pPr>
            <a:r>
              <a:rPr sz="1150" b="1">
                <a:solidFill>
                  <a:srgbClr val="0B2E4A"/>
                </a:solidFill>
                <a:latin typeface="Calibri"/>
              </a:rPr>
              <a:t>Retailers &amp; Channels</a:t>
            </a:r>
          </a:p>
        </p:txBody>
      </p:sp>
      <p:sp>
        <p:nvSpPr>
          <p:cNvPr id="60" name="TextBox 59"/>
          <p:cNvSpPr txBox="1"/>
          <p:nvPr/>
        </p:nvSpPr>
        <p:spPr>
          <a:xfrm>
            <a:off x="7400925" y="3234212"/>
            <a:ext cx="1962150" cy="182537"/>
          </a:xfrm>
          <a:prstGeom prst="rect">
            <a:avLst/>
          </a:prstGeom>
          <a:noFill/>
        </p:spPr>
        <p:txBody>
          <a:bodyPr wrap="square" lIns="28575" rIns="28575" tIns="9525" bIns="9525">
            <a:spAutoFit/>
          </a:bodyPr>
          <a:lstStyle/>
          <a:p>
            <a:pPr algn="l">
              <a:lnSpc>
                <a:spcPct val="100000"/>
              </a:lnSpc>
            </a:pPr>
            <a:r>
              <a:rPr sz="1100" b="0">
                <a:solidFill>
                  <a:srgbClr val="6C7A89"/>
                </a:solidFill>
                <a:latin typeface="Calibri"/>
              </a:rPr>
              <a:t>Base Year: 2026</a:t>
            </a:r>
          </a:p>
        </p:txBody>
      </p:sp>
      <p:sp>
        <p:nvSpPr>
          <p:cNvPr id="61" name="TextBox 60"/>
          <p:cNvSpPr txBox="1"/>
          <p:nvPr/>
        </p:nvSpPr>
        <p:spPr>
          <a:xfrm>
            <a:off x="7400925" y="3453257"/>
            <a:ext cx="1962150" cy="1642833"/>
          </a:xfrm>
          <a:prstGeom prst="rect">
            <a:avLst/>
          </a:prstGeom>
          <a:noFill/>
        </p:spPr>
        <p:txBody>
          <a:bodyPr wrap="square" lIns="28575" rIns="28575" tIns="9525" bIns="9525">
            <a:spAutoFit/>
          </a:bodyPr>
          <a:lstStyle/>
          <a:p>
            <a:pPr algn="l">
              <a:lnSpc>
                <a:spcPct val="122000"/>
              </a:lnSpc>
            </a:pPr>
            <a:r>
              <a:rPr sz="1100" b="0">
                <a:solidFill>
                  <a:srgbClr val="2E2E2E"/>
                </a:solidFill>
                <a:latin typeface="Calibri"/>
              </a:rPr>
              <a:t>Sell to end customers across offline and online channels, capturing point-of-sale margin and brand visibility.</a:t>
            </a:r>
          </a:p>
        </p:txBody>
      </p:sp>
      <p:sp>
        <p:nvSpPr>
          <p:cNvPr id="62" name="TextBox 61"/>
          <p:cNvSpPr txBox="1"/>
          <p:nvPr/>
        </p:nvSpPr>
        <p:spPr>
          <a:xfrm>
            <a:off x="9563100" y="1262813"/>
            <a:ext cx="2209800" cy="346820"/>
          </a:xfrm>
          <a:prstGeom prst="rect">
            <a:avLst/>
          </a:prstGeom>
          <a:noFill/>
        </p:spPr>
        <p:txBody>
          <a:bodyPr wrap="square" lIns="28575" rIns="28575" tIns="9525" bIns="9525" anchor="b">
            <a:spAutoFit/>
          </a:bodyPr>
          <a:lstStyle/>
          <a:p>
            <a:pPr algn="ctr">
              <a:lnSpc>
                <a:spcPct val="100000"/>
              </a:lnSpc>
            </a:pPr>
            <a:r>
              <a:rPr sz="1100" b="1">
                <a:solidFill>
                  <a:srgbClr val="0B2E4A"/>
                </a:solidFill>
                <a:latin typeface="Calibri"/>
              </a:rPr>
              <a:t>End Users</a:t>
            </a:r>
          </a:p>
        </p:txBody>
      </p:sp>
      <p:sp>
        <p:nvSpPr>
          <p:cNvPr id="63" name="Oval 62"/>
          <p:cNvSpPr/>
          <p:nvPr/>
        </p:nvSpPr>
        <p:spPr>
          <a:xfrm>
            <a:off x="10220325" y="1673521"/>
            <a:ext cx="895350" cy="857924"/>
          </a:xfrm>
          <a:prstGeom prst="ellipse">
            <a:avLst/>
          </a:prstGeom>
          <a:solidFill>
            <a:srgbClr val="EE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Oval 63"/>
          <p:cNvSpPr/>
          <p:nvPr/>
        </p:nvSpPr>
        <p:spPr>
          <a:xfrm>
            <a:off x="10267950" y="1719155"/>
            <a:ext cx="800100" cy="766655"/>
          </a:xfrm>
          <a:prstGeom prst="ellipse">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Oval 64"/>
          <p:cNvSpPr/>
          <p:nvPr/>
        </p:nvSpPr>
        <p:spPr>
          <a:xfrm>
            <a:off x="10601325" y="1956453"/>
            <a:ext cx="133350" cy="127776"/>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Freeform 65"/>
          <p:cNvSpPr/>
          <p:nvPr/>
        </p:nvSpPr>
        <p:spPr>
          <a:xfrm>
            <a:off x="10544175" y="2111610"/>
            <a:ext cx="247650" cy="127776"/>
          </a:xfrm>
          <a:custGeom>
            <a:avLst/>
            <a:gdLst/>
            <a:ahLst/>
            <a:cxnLst/>
            <a:rect l="l" t="t" r="r" b="b"/>
            <a:pathLst>
              <a:path w="26" h="14">
                <a:moveTo>
                  <a:pt x="0" y="14"/>
                </a:moveTo>
                <a:lnTo>
                  <a:pt x="4" y="0"/>
                </a:lnTo>
                <a:lnTo>
                  <a:pt x="22" y="0"/>
                </a:lnTo>
                <a:lnTo>
                  <a:pt x="26" y="14"/>
                </a:lnTo>
                <a:close/>
              </a:path>
            </a:pathLst>
          </a:cu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ounded Rectangle 66"/>
          <p:cNvSpPr/>
          <p:nvPr/>
        </p:nvSpPr>
        <p:spPr>
          <a:xfrm>
            <a:off x="10144125" y="2595333"/>
            <a:ext cx="1047750" cy="219044"/>
          </a:xfrm>
          <a:prstGeom prst="roundRect">
            <a:avLst>
              <a:gd name="adj" fmla="val 50000"/>
            </a:avLst>
          </a:prstGeom>
          <a:solidFill>
            <a:srgbClr val="F0E8F6"/>
          </a:solidFill>
          <a:ln w="9525">
            <a:solidFill>
              <a:srgbClr val="6F3CC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6F3CC2"/>
                </a:solidFill>
                <a:latin typeface="Calibri"/>
              </a:rPr>
              <a:t> </a:t>
            </a:r>
          </a:p>
        </p:txBody>
      </p:sp>
      <p:sp>
        <p:nvSpPr>
          <p:cNvPr id="68" name="Rounded Rectangle 67"/>
          <p:cNvSpPr/>
          <p:nvPr/>
        </p:nvSpPr>
        <p:spPr>
          <a:xfrm>
            <a:off x="9601200" y="2905646"/>
            <a:ext cx="2133600" cy="2281712"/>
          </a:xfrm>
          <a:prstGeom prst="roundRect">
            <a:avLst>
              <a:gd name="adj" fmla="val 3571"/>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9601200" y="2905646"/>
            <a:ext cx="2133600" cy="45634"/>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9686925" y="3015168"/>
            <a:ext cx="1962150" cy="219044"/>
          </a:xfrm>
          <a:prstGeom prst="rect">
            <a:avLst/>
          </a:prstGeom>
          <a:noFill/>
        </p:spPr>
        <p:txBody>
          <a:bodyPr wrap="square" lIns="28575" rIns="28575" tIns="9525" bIns="9525">
            <a:spAutoFit/>
          </a:bodyPr>
          <a:lstStyle/>
          <a:p>
            <a:pPr algn="l">
              <a:lnSpc>
                <a:spcPct val="105000"/>
              </a:lnSpc>
            </a:pPr>
            <a:r>
              <a:rPr sz="1150" b="1">
                <a:solidFill>
                  <a:srgbClr val="0B2E4A"/>
                </a:solidFill>
                <a:latin typeface="Calibri"/>
              </a:rPr>
              <a:t>End Users</a:t>
            </a:r>
          </a:p>
        </p:txBody>
      </p:sp>
      <p:sp>
        <p:nvSpPr>
          <p:cNvPr id="71" name="TextBox 70"/>
          <p:cNvSpPr txBox="1"/>
          <p:nvPr/>
        </p:nvSpPr>
        <p:spPr>
          <a:xfrm>
            <a:off x="9686925" y="3234212"/>
            <a:ext cx="1962150" cy="182537"/>
          </a:xfrm>
          <a:prstGeom prst="rect">
            <a:avLst/>
          </a:prstGeom>
          <a:noFill/>
        </p:spPr>
        <p:txBody>
          <a:bodyPr wrap="square" lIns="28575" rIns="28575" tIns="9525" bIns="9525">
            <a:spAutoFit/>
          </a:bodyPr>
          <a:lstStyle/>
          <a:p>
            <a:pPr algn="l">
              <a:lnSpc>
                <a:spcPct val="100000"/>
              </a:lnSpc>
            </a:pPr>
            <a:r>
              <a:rPr sz="1100" b="0">
                <a:solidFill>
                  <a:srgbClr val="6C7A89"/>
                </a:solidFill>
                <a:latin typeface="Calibri"/>
              </a:rPr>
              <a:t>Base Year: 2026</a:t>
            </a:r>
          </a:p>
        </p:txBody>
      </p:sp>
      <p:sp>
        <p:nvSpPr>
          <p:cNvPr id="72" name="TextBox 71"/>
          <p:cNvSpPr txBox="1"/>
          <p:nvPr/>
        </p:nvSpPr>
        <p:spPr>
          <a:xfrm>
            <a:off x="9686925" y="3453257"/>
            <a:ext cx="1962150" cy="1642833"/>
          </a:xfrm>
          <a:prstGeom prst="rect">
            <a:avLst/>
          </a:prstGeom>
          <a:noFill/>
        </p:spPr>
        <p:txBody>
          <a:bodyPr wrap="square" lIns="28575" rIns="28575" tIns="9525" bIns="9525">
            <a:spAutoFit/>
          </a:bodyPr>
          <a:lstStyle/>
          <a:p>
            <a:pPr algn="l">
              <a:lnSpc>
                <a:spcPct val="122000"/>
              </a:lnSpc>
            </a:pPr>
            <a:r>
              <a:rPr sz="1100" b="0">
                <a:solidFill>
                  <a:srgbClr val="2E2E2E"/>
                </a:solidFill>
                <a:latin typeface="Calibri"/>
              </a:rPr>
              <a:t>Consumers and downstream industries; large end users sometimes backward-integrate to secure supply and cost.</a:t>
            </a:r>
          </a:p>
        </p:txBody>
      </p:sp>
      <p:sp>
        <p:nvSpPr>
          <p:cNvPr id="73" name="Rounded Rectangle 72"/>
          <p:cNvSpPr/>
          <p:nvPr/>
        </p:nvSpPr>
        <p:spPr>
          <a:xfrm>
            <a:off x="381000" y="5315134"/>
            <a:ext cx="11430000" cy="1204744"/>
          </a:xfrm>
          <a:prstGeom prst="roundRect">
            <a:avLst>
              <a:gd name="adj" fmla="val 6060"/>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514350" y="5397275"/>
            <a:ext cx="11163300" cy="200791"/>
          </a:xfrm>
          <a:prstGeom prst="rect">
            <a:avLst/>
          </a:prstGeom>
          <a:noFill/>
        </p:spPr>
        <p:txBody>
          <a:bodyPr wrap="square" lIns="0" rIns="19050" tIns="9525" bIns="9525">
            <a:spAutoFit/>
          </a:bodyPr>
          <a:lstStyle/>
          <a:p>
            <a:pPr algn="l"/>
            <a:r>
              <a:rPr sz="1300" b="1">
                <a:solidFill>
                  <a:srgbClr val="0E2A5C"/>
                </a:solidFill>
                <a:latin typeface="Calibri"/>
              </a:rPr>
              <a:t>Value-Added Read-out</a:t>
            </a:r>
          </a:p>
        </p:txBody>
      </p:sp>
      <p:sp>
        <p:nvSpPr>
          <p:cNvPr id="75" name="Rectangle 74"/>
          <p:cNvSpPr/>
          <p:nvPr/>
        </p:nvSpPr>
        <p:spPr>
          <a:xfrm>
            <a:off x="514350" y="5625447"/>
            <a:ext cx="11163300" cy="18254"/>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514350" y="5707588"/>
            <a:ext cx="11163300" cy="739275"/>
          </a:xfrm>
          <a:prstGeom prst="rect">
            <a:avLst/>
          </a:prstGeom>
          <a:noFill/>
        </p:spPr>
        <p:txBody>
          <a:bodyPr wrap="square" lIns="0" rIns="19050" tIns="9525" bIns="9525">
            <a:spAutoFit/>
          </a:bodyPr>
          <a:lstStyle/>
          <a:p>
            <a:pPr algn="l">
              <a:lnSpc>
                <a:spcPct val="100000"/>
              </a:lnSpc>
              <a:spcBef>
                <a:spcPts val="0"/>
              </a:spcBef>
              <a:spcAft>
                <a:spcPts val="300"/>
              </a:spcAft>
            </a:pPr>
            <a:r>
              <a:rPr sz="1100" b="0">
                <a:solidFill>
                  <a:srgbClr val="2A5F8F"/>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2A5F8F"/>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2A5F8F"/>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2A5F8F"/>
                </a:solidFill>
                <a:latin typeface="Calibri"/>
              </a:rPr>
              <a:t/>
            </a:r>
            <a:r>
              <a:rPr sz="1100" b="0">
                <a:solidFill>
                  <a:srgbClr val="2E2E2E"/>
                </a:solidFill>
                <a:latin typeface="Calibri"/>
              </a:rPr>
              <a:t/>
            </a:r>
          </a:p>
        </p:txBody>
      </p:sp>
      <p:sp>
        <p:nvSpPr>
          <p:cNvPr id="77" name="Rectangle 76"/>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79" name="Picture 78" descr="lock.png"/>
          <p:cNvPicPr>
            <a:picLocks noChangeAspect="1"/>
          </p:cNvPicPr>
          <p:nvPr/>
        </p:nvPicPr>
        <p:blipFill>
          <a:blip r:embed="rId4"/>
          <a:stretch>
            <a:fillRect/>
          </a:stretch>
        </p:blipFill>
        <p:spPr>
          <a:xfrm>
            <a:off x="1459650" y="2611256"/>
            <a:ext cx="128699" cy="187198"/>
          </a:xfrm>
          <a:prstGeom prst="rect">
            <a:avLst/>
          </a:prstGeom>
        </p:spPr>
      </p:pic>
      <p:pic>
        <p:nvPicPr>
          <p:cNvPr id="80" name="Picture 79" descr="lock.png"/>
          <p:cNvPicPr>
            <a:picLocks noChangeAspect="1"/>
          </p:cNvPicPr>
          <p:nvPr/>
        </p:nvPicPr>
        <p:blipFill>
          <a:blip r:embed="rId4"/>
          <a:stretch>
            <a:fillRect/>
          </a:stretch>
        </p:blipFill>
        <p:spPr>
          <a:xfrm>
            <a:off x="3745650" y="2611256"/>
            <a:ext cx="128699" cy="187198"/>
          </a:xfrm>
          <a:prstGeom prst="rect">
            <a:avLst/>
          </a:prstGeom>
        </p:spPr>
      </p:pic>
      <p:pic>
        <p:nvPicPr>
          <p:cNvPr id="81" name="Picture 80" descr="lock.png"/>
          <p:cNvPicPr>
            <a:picLocks noChangeAspect="1"/>
          </p:cNvPicPr>
          <p:nvPr/>
        </p:nvPicPr>
        <p:blipFill>
          <a:blip r:embed="rId4"/>
          <a:stretch>
            <a:fillRect/>
          </a:stretch>
        </p:blipFill>
        <p:spPr>
          <a:xfrm>
            <a:off x="6031650" y="2611256"/>
            <a:ext cx="128699" cy="187198"/>
          </a:xfrm>
          <a:prstGeom prst="rect">
            <a:avLst/>
          </a:prstGeom>
        </p:spPr>
      </p:pic>
      <p:pic>
        <p:nvPicPr>
          <p:cNvPr id="82" name="Picture 81" descr="lock.png"/>
          <p:cNvPicPr>
            <a:picLocks noChangeAspect="1"/>
          </p:cNvPicPr>
          <p:nvPr/>
        </p:nvPicPr>
        <p:blipFill>
          <a:blip r:embed="rId4"/>
          <a:stretch>
            <a:fillRect/>
          </a:stretch>
        </p:blipFill>
        <p:spPr>
          <a:xfrm>
            <a:off x="8317650" y="2611256"/>
            <a:ext cx="128699" cy="187198"/>
          </a:xfrm>
          <a:prstGeom prst="rect">
            <a:avLst/>
          </a:prstGeom>
        </p:spPr>
      </p:pic>
      <p:pic>
        <p:nvPicPr>
          <p:cNvPr id="83" name="Picture 82" descr="lock.png"/>
          <p:cNvPicPr>
            <a:picLocks noChangeAspect="1"/>
          </p:cNvPicPr>
          <p:nvPr/>
        </p:nvPicPr>
        <p:blipFill>
          <a:blip r:embed="rId4"/>
          <a:stretch>
            <a:fillRect/>
          </a:stretch>
        </p:blipFill>
        <p:spPr>
          <a:xfrm>
            <a:off x="10603650" y="2611256"/>
            <a:ext cx="128699" cy="187198"/>
          </a:xfrm>
          <a:prstGeom prst="rect">
            <a:avLst/>
          </a:prstGeom>
        </p:spPr>
      </p:pic>
      <p:sp>
        <p:nvSpPr>
          <p:cNvPr id="84" name="TextBox 83"/>
          <p:cNvSpPr txBox="1"/>
          <p:nvPr/>
        </p:nvSpPr>
        <p:spPr>
          <a:xfrm>
            <a:off x="514350" y="5717113"/>
            <a:ext cx="6676806" cy="153161"/>
          </a:xfrm>
          <a:prstGeom prst="rect">
            <a:avLst/>
          </a:prstGeom>
          <a:noFill/>
        </p:spPr>
        <p:txBody>
          <a:bodyPr wrap="none" lIns="0" rIns="0" tIns="0" bIns="0">
            <a:spAutoFit/>
          </a:bodyPr>
          <a:lstStyle/>
          <a:p>
            <a:r>
              <a:rPr sz="879" b="0">
                <a:solidFill>
                  <a:srgbClr val="2E2E2E"/>
                </a:solidFill>
                <a:latin typeface="Calibri"/>
              </a:rPr>
              <a:t>▪ The Egg Protein Membrane Market value chain runs from raw-material suppliers through manufacturers, distributors and retailers to end users.</a:t>
            </a:r>
          </a:p>
        </p:txBody>
      </p:sp>
      <p:sp>
        <p:nvSpPr>
          <p:cNvPr id="85" name="TextBox 84"/>
          <p:cNvSpPr txBox="1"/>
          <p:nvPr/>
        </p:nvSpPr>
        <p:spPr>
          <a:xfrm>
            <a:off x="514350" y="5891458"/>
            <a:ext cx="3108563" cy="153161"/>
          </a:xfrm>
          <a:prstGeom prst="rect">
            <a:avLst/>
          </a:prstGeom>
          <a:noFill/>
        </p:spPr>
        <p:txBody>
          <a:bodyPr wrap="none" lIns="0" rIns="0" tIns="0" bIns="0">
            <a:spAutoFit/>
          </a:bodyPr>
          <a:lstStyle/>
          <a:p>
            <a:r>
              <a:rPr sz="879" b="0">
                <a:solidFill>
                  <a:srgbClr val="2E2E2E"/>
                </a:solidFill>
                <a:latin typeface="Calibri"/>
              </a:rPr>
              <a:t>▪ 'Manufacturers / Processors' captures the largest value addition (</a:t>
            </a:r>
          </a:p>
        </p:txBody>
      </p:sp>
      <p:pic>
        <p:nvPicPr>
          <p:cNvPr id="86" name="Picture 85" descr="lock.png"/>
          <p:cNvPicPr>
            <a:picLocks noChangeAspect="1"/>
          </p:cNvPicPr>
          <p:nvPr/>
        </p:nvPicPr>
        <p:blipFill>
          <a:blip r:embed="rId4"/>
          <a:stretch>
            <a:fillRect/>
          </a:stretch>
        </p:blipFill>
        <p:spPr>
          <a:xfrm>
            <a:off x="3566114" y="5883635"/>
            <a:ext cx="102959" cy="149758"/>
          </a:xfrm>
          <a:prstGeom prst="rect">
            <a:avLst/>
          </a:prstGeom>
        </p:spPr>
      </p:pic>
      <p:sp>
        <p:nvSpPr>
          <p:cNvPr id="87" name="TextBox 86"/>
          <p:cNvSpPr txBox="1"/>
          <p:nvPr/>
        </p:nvSpPr>
        <p:spPr>
          <a:xfrm>
            <a:off x="3700111" y="5891458"/>
            <a:ext cx="2123678" cy="153161"/>
          </a:xfrm>
          <a:prstGeom prst="rect">
            <a:avLst/>
          </a:prstGeom>
          <a:noFill/>
        </p:spPr>
        <p:txBody>
          <a:bodyPr wrap="none" lIns="0" rIns="0" tIns="0" bIns="0">
            <a:spAutoFit/>
          </a:bodyPr>
          <a:lstStyle/>
          <a:p>
            <a:r>
              <a:rPr sz="879" b="0">
                <a:solidFill>
                  <a:srgbClr val="2E2E2E"/>
                </a:solidFill>
                <a:latin typeface="Calibri"/>
              </a:rPr>
              <a:t>), reflecting processing and scale advantages.</a:t>
            </a:r>
          </a:p>
        </p:txBody>
      </p:sp>
      <p:sp>
        <p:nvSpPr>
          <p:cNvPr id="88" name="TextBox 87"/>
          <p:cNvSpPr txBox="1"/>
          <p:nvPr/>
        </p:nvSpPr>
        <p:spPr>
          <a:xfrm>
            <a:off x="514350" y="6065804"/>
            <a:ext cx="5690369" cy="153161"/>
          </a:xfrm>
          <a:prstGeom prst="rect">
            <a:avLst/>
          </a:prstGeom>
          <a:noFill/>
        </p:spPr>
        <p:txBody>
          <a:bodyPr wrap="none" lIns="0" rIns="0" tIns="0" bIns="0">
            <a:spAutoFit/>
          </a:bodyPr>
          <a:lstStyle/>
          <a:p>
            <a:r>
              <a:rPr sz="879" b="0">
                <a:solidFill>
                  <a:srgbClr val="2E2E2E"/>
                </a:solidFill>
                <a:latin typeface="Calibri"/>
              </a:rPr>
              <a:t>▪ Forward and backward integration is common some suppliers process, and some large end users produce their own input.</a:t>
            </a:r>
          </a:p>
        </p:txBody>
      </p:sp>
      <p:sp>
        <p:nvSpPr>
          <p:cNvPr id="89" name="TextBox 88"/>
          <p:cNvSpPr txBox="1"/>
          <p:nvPr/>
        </p:nvSpPr>
        <p:spPr>
          <a:xfrm>
            <a:off x="514350" y="6240149"/>
            <a:ext cx="3730228" cy="153161"/>
          </a:xfrm>
          <a:prstGeom prst="rect">
            <a:avLst/>
          </a:prstGeom>
          <a:noFill/>
        </p:spPr>
        <p:txBody>
          <a:bodyPr wrap="none" lIns="0" rIns="0" tIns="0" bIns="0">
            <a:spAutoFit/>
          </a:bodyPr>
          <a:lstStyle/>
          <a:p>
            <a:r>
              <a:rPr sz="879" b="0">
                <a:solidFill>
                  <a:srgbClr val="2E2E2E"/>
                </a:solidFill>
                <a:latin typeface="Calibri"/>
              </a:rPr>
              <a:t>▪ Percentages show each stage's indicative share of value added along the chain.</a:t>
            </a:r>
          </a:p>
        </p:txBody>
      </p:sp>
    </p:spTree>
  </p:cSld>
  <p:clrMapOvr>
    <a:masterClrMapping/>
  </p:clrMapOvr>
</p:sld>
</file>

<file path=ppt/slides/slide2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Egg Protein Membrane Market Industry-Wide Operating Margin Analysis</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Operating margin by region and value chain node, highlighting where value concentrates along the chain</a:t>
            </a:r>
          </a:p>
        </p:txBody>
      </p:sp>
      <p:sp>
        <p:nvSpPr>
          <p:cNvPr id="7" name="Rounded Rectangle 6"/>
          <p:cNvSpPr/>
          <p:nvPr/>
        </p:nvSpPr>
        <p:spPr>
          <a:xfrm>
            <a:off x="142875" y="981075"/>
            <a:ext cx="11906250" cy="3667125"/>
          </a:xfrm>
          <a:prstGeom prst="roundRect">
            <a:avLst>
              <a:gd name="adj" fmla="val 2077"/>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Egg Protein Membrane Market Operating Margin by Region &amp; Node</a:t>
            </a:r>
          </a:p>
        </p:txBody>
      </p:sp>
      <p:graphicFrame>
        <p:nvGraphicFramePr>
          <p:cNvPr id="9" name="Table 8"/>
          <p:cNvGraphicFramePr>
            <a:graphicFrameLocks noGrp="1"/>
          </p:cNvGraphicFramePr>
          <p:nvPr/>
        </p:nvGraphicFramePr>
        <p:xfrm>
          <a:off x="152400" y="1238250"/>
          <a:ext cx="11887202" cy="3200406"/>
        </p:xfrm>
        <a:graphic>
          <a:graphicData uri="http://schemas.openxmlformats.org/drawingml/2006/table">
            <a:tbl>
              <a:tblPr>
                <a:tableStyleId>{5C22544A-7EE6-4342-B048-85BDC9FD1C3A}</a:tableStyleId>
              </a:tblPr>
              <a:tblGrid>
                <a:gridCol w="1208402"/>
                <a:gridCol w="2669700"/>
                <a:gridCol w="2669700"/>
                <a:gridCol w="2669700"/>
                <a:gridCol w="2669700"/>
              </a:tblGrid>
              <a:tr h="246126">
                <a:tc>
                  <a:txBody>
                    <a:bodyPr wrap="none"/>
                    <a:lstStyle/>
                    <a:p>
                      <a:pPr algn="l"/>
                      <a:r>
                        <a:rPr sz="1100" b="1">
                          <a:solidFill>
                            <a:srgbClr val="0E2A5C"/>
                          </a:solidFill>
                          <a:latin typeface="Calibri"/>
                        </a:rPr>
                        <a:t>Region</a:t>
                      </a:r>
                      <a:endParaRPr sz="1100"/>
                    </a:p>
                  </a:txBody>
                  <a:tcPr marL="47625" marR="38100" marT="19050" marB="19050" anchor="ctr">
                    <a:solidFill>
                      <a:srgbClr val="EBF2F9"/>
                    </a:solidFill>
                  </a:tcPr>
                </a:tc>
                <a:tc>
                  <a:txBody>
                    <a:bodyPr wrap="none"/>
                    <a:lstStyle/>
                    <a:p>
                      <a:pPr algn="l"/>
                      <a:r>
                        <a:rPr sz="1100" b="1">
                          <a:solidFill>
                            <a:srgbClr val="0E2A5C"/>
                          </a:solidFill>
                          <a:latin typeface="Calibri"/>
                        </a:rPr>
                        <a:t>Node of Supply Chain</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Operating Margin</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Comparison to Parent Market</a:t>
                      </a:r>
                      <a:endParaRPr sz="1100"/>
                    </a:p>
                  </a:txBody>
                  <a:tcPr marL="47625" marR="38100" marT="19050" marB="19050" anchor="ctr">
                    <a:solidFill>
                      <a:srgbClr val="EBF2F9"/>
                    </a:solidFill>
                  </a:tcPr>
                </a:tc>
                <a:tc>
                  <a:txBody>
                    <a:bodyPr wrap="none"/>
                    <a:lstStyle/>
                    <a:p>
                      <a:pPr algn="l"/>
                      <a:r>
                        <a:rPr sz="1100" b="1">
                          <a:solidFill>
                            <a:srgbClr val="0E2A5C"/>
                          </a:solidFill>
                          <a:latin typeface="Calibri"/>
                        </a:rPr>
                        <a:t>Notes</a:t>
                      </a:r>
                      <a:endParaRPr sz="1100"/>
                    </a:p>
                  </a:txBody>
                  <a:tcPr marL="47625" marR="38100" marT="19050" marB="19050" anchor="ctr">
                    <a:solidFill>
                      <a:srgbClr val="EBF2F9"/>
                    </a:solidFill>
                  </a:tcPr>
                </a:tc>
              </a:tr>
              <a:tr h="246190">
                <a:tc>
                  <a:txBody>
                    <a:bodyPr wrap="none"/>
                    <a:lstStyle/>
                    <a:p>
                      <a:pPr algn="l"/>
                      <a:r>
                        <a:rPr sz="1100" b="1">
                          <a:solidFill>
                            <a:srgbClr val="2E2E2E"/>
                          </a:solidFill>
                          <a:latin typeface="Calibri"/>
                        </a:rPr>
                        <a:t>North America</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Raw Material Suppliers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Commodity-linked</a:t>
                      </a:r>
                      <a:endParaRPr sz="1100"/>
                    </a:p>
                  </a:txBody>
                  <a:tcPr marL="47625" marR="38100" marT="19050" marB="19050" anchor="ctr">
                    <a:solidFill>
                      <a:srgbClr val="FFFFFF"/>
                    </a:solidFill>
                  </a:tcPr>
                </a:tc>
              </a:tr>
              <a:tr h="246190">
                <a:tc>
                  <a:txBody>
                    <a:bodyPr wrap="none"/>
                    <a:lstStyle/>
                    <a:p>
                      <a:pPr algn="l"/>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Manufacturers</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Highest margins (value-add + scale)</a:t>
                      </a:r>
                      <a:endParaRPr sz="1100"/>
                    </a:p>
                  </a:txBody>
                  <a:tcPr marL="47625" marR="38100" marT="19050" marB="19050" anchor="ctr">
                    <a:solidFill>
                      <a:srgbClr val="F5F9FD"/>
                    </a:solidFill>
                  </a:tcPr>
                </a:tc>
              </a:tr>
              <a:tr h="246190">
                <a:tc>
                  <a:txBody>
                    <a:bodyPr wrap="none"/>
                    <a:lstStyle/>
                    <a:p>
                      <a:pPr algn="l"/>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Distributors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Volume-led, thin</a:t>
                      </a:r>
                      <a:endParaRPr sz="1100"/>
                    </a:p>
                  </a:txBody>
                  <a:tcPr marL="47625" marR="38100" marT="19050" marB="19050" anchor="ctr">
                    <a:solidFill>
                      <a:srgbClr val="FFFFFF"/>
                    </a:solidFill>
                  </a:tcPr>
                </a:tc>
              </a:tr>
              <a:tr h="246190">
                <a:tc>
                  <a:txBody>
                    <a:bodyPr wrap="none"/>
                    <a:lstStyle/>
                    <a:p>
                      <a:pPr algn="l"/>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Retailers</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Channel-dependent PoS margin</a:t>
                      </a:r>
                      <a:endParaRPr sz="1100"/>
                    </a:p>
                  </a:txBody>
                  <a:tcPr marL="47625" marR="38100" marT="19050" marB="19050" anchor="ctr">
                    <a:solidFill>
                      <a:srgbClr val="F5F9FD"/>
                    </a:solidFill>
                  </a:tcPr>
                </a:tc>
              </a:tr>
              <a:tr h="246190">
                <a:tc>
                  <a:txBody>
                    <a:bodyPr wrap="none"/>
                    <a:lstStyle/>
                    <a:p>
                      <a:pPr algn="l"/>
                      <a:r>
                        <a:rPr sz="1100" b="1">
                          <a:solidFill>
                            <a:srgbClr val="2E2E2E"/>
                          </a:solidFill>
                          <a:latin typeface="Calibri"/>
                        </a:rPr>
                        <a:t>Latin America</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Raw Material Suppliers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Commodity-linked</a:t>
                      </a:r>
                      <a:endParaRPr sz="1100"/>
                    </a:p>
                  </a:txBody>
                  <a:tcPr marL="47625" marR="38100" marT="19050" marB="19050" anchor="ctr">
                    <a:solidFill>
                      <a:srgbClr val="FFFFFF"/>
                    </a:solidFill>
                  </a:tcPr>
                </a:tc>
              </a:tr>
              <a:tr h="246190">
                <a:tc>
                  <a:txBody>
                    <a:bodyPr wrap="none"/>
                    <a:lstStyle/>
                    <a:p>
                      <a:pPr algn="l"/>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Manufacturers</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Highest margins (value-add + scale)</a:t>
                      </a:r>
                      <a:endParaRPr sz="1100"/>
                    </a:p>
                  </a:txBody>
                  <a:tcPr marL="47625" marR="38100" marT="19050" marB="19050" anchor="ctr">
                    <a:solidFill>
                      <a:srgbClr val="F5F9FD"/>
                    </a:solidFill>
                  </a:tcPr>
                </a:tc>
              </a:tr>
              <a:tr h="246190">
                <a:tc>
                  <a:txBody>
                    <a:bodyPr wrap="none"/>
                    <a:lstStyle/>
                    <a:p>
                      <a:pPr algn="l"/>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Distributors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Volume-led, thin</a:t>
                      </a:r>
                      <a:endParaRPr sz="1100"/>
                    </a:p>
                  </a:txBody>
                  <a:tcPr marL="47625" marR="38100" marT="19050" marB="19050" anchor="ctr">
                    <a:solidFill>
                      <a:srgbClr val="FFFFFF"/>
                    </a:solidFill>
                  </a:tcPr>
                </a:tc>
              </a:tr>
              <a:tr h="246190">
                <a:tc>
                  <a:txBody>
                    <a:bodyPr wrap="none"/>
                    <a:lstStyle/>
                    <a:p>
                      <a:pPr algn="l"/>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Retailers</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Channel-dependent PoS margin</a:t>
                      </a:r>
                      <a:endParaRPr sz="1100"/>
                    </a:p>
                  </a:txBody>
                  <a:tcPr marL="47625" marR="38100" marT="19050" marB="19050" anchor="ctr">
                    <a:solidFill>
                      <a:srgbClr val="F5F9FD"/>
                    </a:solidFill>
                  </a:tcPr>
                </a:tc>
              </a:tr>
              <a:tr h="246190">
                <a:tc>
                  <a:txBody>
                    <a:bodyPr wrap="none"/>
                    <a:lstStyle/>
                    <a:p>
                      <a:pPr algn="l"/>
                      <a:r>
                        <a:rPr sz="1100" b="1">
                          <a:solidFill>
                            <a:srgbClr val="2E2E2E"/>
                          </a:solidFill>
                          <a:latin typeface="Calibri"/>
                        </a:rPr>
                        <a:t>Europe</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Raw Material Suppliers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Commodity-linked</a:t>
                      </a:r>
                      <a:endParaRPr sz="1100"/>
                    </a:p>
                  </a:txBody>
                  <a:tcPr marL="47625" marR="38100" marT="19050" marB="19050" anchor="ctr">
                    <a:solidFill>
                      <a:srgbClr val="FFFFFF"/>
                    </a:solidFill>
                  </a:tcPr>
                </a:tc>
              </a:tr>
              <a:tr h="246190">
                <a:tc>
                  <a:txBody>
                    <a:bodyPr wrap="none"/>
                    <a:lstStyle/>
                    <a:p>
                      <a:pPr algn="l"/>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Manufacturers</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Highest margins (value-add + scale)</a:t>
                      </a:r>
                      <a:endParaRPr sz="1100"/>
                    </a:p>
                  </a:txBody>
                  <a:tcPr marL="47625" marR="38100" marT="19050" marB="19050" anchor="ctr">
                    <a:solidFill>
                      <a:srgbClr val="F5F9FD"/>
                    </a:solidFill>
                  </a:tcPr>
                </a:tc>
              </a:tr>
              <a:tr h="246190">
                <a:tc>
                  <a:txBody>
                    <a:bodyPr wrap="none"/>
                    <a:lstStyle/>
                    <a:p>
                      <a:pPr algn="l"/>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Distributors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Volume-led, thin</a:t>
                      </a:r>
                      <a:endParaRPr sz="1100"/>
                    </a:p>
                  </a:txBody>
                  <a:tcPr marL="47625" marR="38100" marT="19050" marB="19050" anchor="ctr">
                    <a:solidFill>
                      <a:srgbClr val="FFFFFF"/>
                    </a:solidFill>
                  </a:tcPr>
                </a:tc>
              </a:tr>
              <a:tr h="246190">
                <a:tc>
                  <a:txBody>
                    <a:bodyPr wrap="none"/>
                    <a:lstStyle/>
                    <a:p>
                      <a:pPr algn="l"/>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Retailers</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Channel-dependent PoS margin</a:t>
                      </a:r>
                      <a:endParaRPr sz="1100"/>
                    </a:p>
                  </a:txBody>
                  <a:tcPr marL="47625" marR="38100" marT="19050" marB="19050" anchor="ctr">
                    <a:solidFill>
                      <a:srgbClr val="F5F9FD"/>
                    </a:solidFill>
                  </a:tcPr>
                </a:tc>
              </a:tr>
            </a:tbl>
          </a:graphicData>
        </a:graphic>
      </p:graphicFrame>
      <p:sp>
        <p:nvSpPr>
          <p:cNvPr id="10" name="TextBox 9"/>
          <p:cNvSpPr txBox="1"/>
          <p:nvPr/>
        </p:nvSpPr>
        <p:spPr>
          <a:xfrm>
            <a:off x="219075" y="444817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11" name="Rounded Rectangle 10"/>
          <p:cNvSpPr/>
          <p:nvPr/>
        </p:nvSpPr>
        <p:spPr>
          <a:xfrm>
            <a:off x="142875" y="4781550"/>
            <a:ext cx="11906250" cy="1847850"/>
          </a:xfrm>
          <a:prstGeom prst="roundRect">
            <a:avLst>
              <a:gd name="adj" fmla="val 4123"/>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6225" y="4867275"/>
            <a:ext cx="11639550" cy="209550"/>
          </a:xfrm>
          <a:prstGeom prst="rect">
            <a:avLst/>
          </a:prstGeom>
          <a:noFill/>
        </p:spPr>
        <p:txBody>
          <a:bodyPr wrap="square" lIns="0" rIns="19050" tIns="9525" bIns="9525">
            <a:spAutoFit/>
          </a:bodyPr>
          <a:lstStyle/>
          <a:p>
            <a:pPr algn="l"/>
            <a:r>
              <a:rPr sz="1300" b="1">
                <a:solidFill>
                  <a:srgbClr val="0E2A5C"/>
                </a:solidFill>
                <a:latin typeface="Calibri"/>
              </a:rPr>
              <a:t>How to Read This</a:t>
            </a:r>
          </a:p>
        </p:txBody>
      </p:sp>
      <p:sp>
        <p:nvSpPr>
          <p:cNvPr id="13" name="Rectangle 12"/>
          <p:cNvSpPr/>
          <p:nvPr/>
        </p:nvSpPr>
        <p:spPr>
          <a:xfrm>
            <a:off x="276225" y="5105400"/>
            <a:ext cx="116395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6225" y="5191125"/>
            <a:ext cx="11639550" cy="136207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t>
            </a:r>
            <a:r>
              <a:rPr sz="1150" b="0">
                <a:solidFill>
                  <a:srgbClr val="2E2E2E"/>
                </a:solidFill>
                <a:latin typeface="Calibri"/>
              </a:rPr>
              <a:t>Node of Supply Chain: each major stage, from raw-material suppliers through to retailers.</a:t>
            </a:r>
          </a:p>
          <a:p>
            <a:pPr algn="l">
              <a:lnSpc>
                <a:spcPct val="110000"/>
              </a:lnSpc>
              <a:spcBef>
                <a:spcPts val="0"/>
              </a:spcBef>
              <a:spcAft>
                <a:spcPts val="500"/>
              </a:spcAft>
            </a:pPr>
            <a:r>
              <a:rPr sz="1100" b="0">
                <a:solidFill>
                  <a:srgbClr val="2A5F8F"/>
                </a:solidFill>
                <a:latin typeface="Calibri"/>
              </a:rPr>
              <a:t>▪  </a:t>
            </a:r>
            <a:r>
              <a:rPr sz="1150" b="0">
                <a:solidFill>
                  <a:srgbClr val="2E2E2E"/>
                </a:solidFill>
                <a:latin typeface="Calibri"/>
              </a:rPr>
              <a:t>Operating Margin: the indicative margin earned at each node, by region.</a:t>
            </a:r>
          </a:p>
          <a:p>
            <a:pPr algn="l">
              <a:lnSpc>
                <a:spcPct val="110000"/>
              </a:lnSpc>
              <a:spcBef>
                <a:spcPts val="0"/>
              </a:spcBef>
              <a:spcAft>
                <a:spcPts val="500"/>
              </a:spcAft>
            </a:pPr>
            <a:r>
              <a:rPr sz="1100" b="0">
                <a:solidFill>
                  <a:srgbClr val="2A5F8F"/>
                </a:solidFill>
                <a:latin typeface="Calibri"/>
              </a:rPr>
              <a:t>▪  </a:t>
            </a:r>
            <a:r>
              <a:rPr sz="1150" b="0">
                <a:solidFill>
                  <a:srgbClr val="2E2E2E"/>
                </a:solidFill>
                <a:latin typeface="Calibri"/>
              </a:rPr>
              <a:t>Comparison to Parent Market: margin versus the parent / associated market (e.g. the broader food or pharmaceutical value chain).</a:t>
            </a:r>
          </a:p>
          <a:p>
            <a:pPr algn="l">
              <a:lnSpc>
                <a:spcPct val="110000"/>
              </a:lnSpc>
              <a:spcBef>
                <a:spcPts val="0"/>
              </a:spcBef>
              <a:spcAft>
                <a:spcPts val="500"/>
              </a:spcAft>
            </a:pPr>
            <a:r>
              <a:rPr sz="1100" b="0">
                <a:solidFill>
                  <a:srgbClr val="2A5F8F"/>
                </a:solidFill>
                <a:latin typeface="Calibri"/>
              </a:rPr>
              <a:t>▪  </a:t>
            </a:r>
            <a:r>
              <a:rPr sz="1150" b="0">
                <a:solidFill>
                  <a:srgbClr val="2E2E2E"/>
                </a:solidFill>
                <a:latin typeface="Calibri"/>
              </a:rPr>
              <a:t>Margins are broken down by both region and node to surface where value concentrates along the chain.</a:t>
            </a:r>
          </a:p>
        </p:txBody>
      </p:sp>
      <p:sp>
        <p:nvSpPr>
          <p:cNvPr id="15" name="Rectangle 14"/>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7" name="Picture 16" descr="lock.png"/>
          <p:cNvPicPr>
            <a:picLocks noChangeAspect="1"/>
          </p:cNvPicPr>
          <p:nvPr/>
        </p:nvPicPr>
        <p:blipFill>
          <a:blip r:embed="rId4"/>
          <a:stretch>
            <a:fillRect/>
          </a:stretch>
        </p:blipFill>
        <p:spPr>
          <a:xfrm>
            <a:off x="6513512" y="2694815"/>
            <a:ext cx="366712" cy="533400"/>
          </a:xfrm>
          <a:prstGeom prst="rect">
            <a:avLst/>
          </a:prstGeom>
        </p:spPr>
      </p:pic>
    </p:spTree>
  </p:cSld>
  <p:clrMapOvr>
    <a:masterClrMapping/>
  </p:clrMapOvr>
</p:sld>
</file>

<file path=ppt/slides/slide2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Egg Protein Membrane Market Buyers Assessment</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Assessment of buyers and end users by volume, average price and revenue, highlighting purchasing power</a:t>
            </a:r>
          </a:p>
        </p:txBody>
      </p:sp>
      <p:sp>
        <p:nvSpPr>
          <p:cNvPr id="7" name="Rounded Rectangle 6"/>
          <p:cNvSpPr/>
          <p:nvPr/>
        </p:nvSpPr>
        <p:spPr>
          <a:xfrm>
            <a:off x="142875" y="981075"/>
            <a:ext cx="11906250" cy="3371850"/>
          </a:xfrm>
          <a:prstGeom prst="roundRect">
            <a:avLst>
              <a:gd name="adj" fmla="val 225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Egg Protein Membrane Market Buyers / End-User Assessment</a:t>
            </a:r>
          </a:p>
        </p:txBody>
      </p:sp>
      <p:graphicFrame>
        <p:nvGraphicFramePr>
          <p:cNvPr id="9" name="Table 8"/>
          <p:cNvGraphicFramePr>
            <a:graphicFrameLocks noGrp="1"/>
          </p:cNvGraphicFramePr>
          <p:nvPr/>
        </p:nvGraphicFramePr>
        <p:xfrm>
          <a:off x="152400" y="1238250"/>
          <a:ext cx="11889210" cy="2905122"/>
        </p:xfrm>
        <a:graphic>
          <a:graphicData uri="http://schemas.openxmlformats.org/drawingml/2006/table">
            <a:tbl>
              <a:tblPr>
                <a:tableStyleId>{5C22544A-7EE6-4342-B048-85BDC9FD1C3A}</a:tableStyleId>
              </a:tblPr>
              <a:tblGrid>
                <a:gridCol w="2965450"/>
                <a:gridCol w="1348753"/>
                <a:gridCol w="966697"/>
                <a:gridCol w="967081"/>
                <a:gridCol w="1297629"/>
                <a:gridCol w="1013245"/>
                <a:gridCol w="950707"/>
                <a:gridCol w="1011739"/>
                <a:gridCol w="1367909"/>
              </a:tblGrid>
              <a:tr h="438912">
                <a:tc>
                  <a:txBody>
                    <a:bodyPr wrap="none"/>
                    <a:lstStyle/>
                    <a:p>
                      <a:pPr algn="l"/>
                      <a:r>
                        <a:rPr sz="1100" b="1">
                          <a:solidFill>
                            <a:srgbClr val="0E2A5C"/>
                          </a:solidFill>
                          <a:latin typeface="Calibri"/>
                        </a:rPr>
                        <a:t>Company</a:t>
                      </a:r>
                      <a:endParaRPr sz="1100"/>
                    </a:p>
                  </a:txBody>
                  <a:tcPr marL="47625" marR="38100" marT="19050" marB="19050" anchor="ctr">
                    <a:solidFill>
                      <a:srgbClr val="EBF2F9"/>
                    </a:solidFill>
                  </a:tcPr>
                </a:tc>
                <a:tc>
                  <a:txBody>
                    <a:bodyPr wrap="none"/>
                    <a:lstStyle/>
                    <a:p>
                      <a:pPr algn="l"/>
                      <a:r>
                        <a:rPr sz="1100" b="1">
                          <a:solidFill>
                            <a:srgbClr val="0E2A5C"/>
                          </a:solidFill>
                          <a:latin typeface="Calibri"/>
                        </a:rPr>
                        <a:t>Country</a:t>
                      </a:r>
                      <a:endParaRPr sz="1100"/>
                    </a:p>
                  </a:txBody>
                  <a:tcPr marL="47625" marR="38100" marT="19050" marB="19050" anchor="ctr">
                    <a:solidFill>
                      <a:srgbClr val="EBF2F9"/>
                    </a:solidFill>
                  </a:tcPr>
                </a:tc>
                <a:tc>
                  <a:txBody>
                    <a:bodyPr wrap="none"/>
                    <a:lstStyle/>
                    <a:p>
                      <a:pPr algn="l"/>
                      <a:r>
                        <a:rPr sz="1100" b="1">
                          <a:solidFill>
                            <a:srgbClr val="0E2A5C"/>
                          </a:solidFill>
                          <a:latin typeface="Calibri"/>
                        </a:rPr>
                        <a:t>Region</a:t>
                      </a:r>
                      <a:endParaRPr sz="1100"/>
                    </a:p>
                  </a:txBody>
                  <a:tcPr marL="47625" marR="38100" marT="19050" marB="19050" anchor="ctr">
                    <a:solidFill>
                      <a:srgbClr val="EBF2F9"/>
                    </a:solidFill>
                  </a:tcPr>
                </a:tc>
                <a:tc>
                  <a:txBody>
                    <a:bodyPr wrap="square"/>
                    <a:lstStyle/>
                    <a:p>
                      <a:pPr algn="l"/>
                      <a:r>
                        <a:rPr sz="1100" b="1">
                          <a:solidFill>
                            <a:srgbClr val="0E2A5C"/>
                          </a:solidFill>
                          <a:latin typeface="Calibri"/>
                        </a:rPr>
                        <a:t>Buyer Category</a:t>
                      </a:r>
                      <a:endParaRPr sz="1100"/>
                    </a:p>
                  </a:txBody>
                  <a:tcPr marL="47625" marR="38100" marT="19050" marB="19050" anchor="ctr">
                    <a:solidFill>
                      <a:srgbClr val="EBF2F9"/>
                    </a:solidFill>
                  </a:tcPr>
                </a:tc>
                <a:tc>
                  <a:txBody>
                    <a:bodyPr wrap="square"/>
                    <a:lstStyle/>
                    <a:p>
                      <a:pPr algn="l"/>
                      <a:r>
                        <a:rPr sz="1100" b="1">
                          <a:solidFill>
                            <a:srgbClr val="0E2A5C"/>
                          </a:solidFill>
                          <a:latin typeface="Calibri"/>
                        </a:rPr>
                        <a:t>Buyer / End-User Type</a:t>
                      </a:r>
                      <a:endParaRPr sz="1100"/>
                    </a:p>
                  </a:txBody>
                  <a:tcPr marL="47625" marR="38100" marT="19050" marB="19050" anchor="ctr">
                    <a:solidFill>
                      <a:srgbClr val="EBF2F9"/>
                    </a:solidFill>
                  </a:tcPr>
                </a:tc>
                <a:tc>
                  <a:txBody>
                    <a:bodyPr wrap="square"/>
                    <a:lstStyle/>
                    <a:p>
                      <a:pPr algn="ctr"/>
                      <a:r>
                        <a:rPr sz="1100" b="1">
                          <a:solidFill>
                            <a:srgbClr val="0E2A5C"/>
                          </a:solidFill>
                          <a:latin typeface="Calibri"/>
                        </a:rPr>
                        <a:t>Procurement Vol.</a:t>
                      </a:r>
                      <a:endParaRPr sz="1100"/>
                    </a:p>
                  </a:txBody>
                  <a:tcPr marL="47625" marR="38100" marT="19050" marB="19050" anchor="ctr">
                    <a:solidFill>
                      <a:srgbClr val="EBF2F9"/>
                    </a:solidFill>
                  </a:tcPr>
                </a:tc>
                <a:tc>
                  <a:txBody>
                    <a:bodyPr wrap="square"/>
                    <a:lstStyle/>
                    <a:p>
                      <a:pPr algn="ctr"/>
                      <a:r>
                        <a:rPr sz="1100" b="1">
                          <a:solidFill>
                            <a:srgbClr val="0E2A5C"/>
                          </a:solidFill>
                          <a:latin typeface="Calibri"/>
                        </a:rPr>
                        <a:t>Avg Price (US$/MT)</a:t>
                      </a:r>
                      <a:endParaRPr sz="1100"/>
                    </a:p>
                  </a:txBody>
                  <a:tcPr marL="47625" marR="38100" marT="19050" marB="19050" anchor="ctr">
                    <a:solidFill>
                      <a:srgbClr val="EBF2F9"/>
                    </a:solidFill>
                  </a:tcPr>
                </a:tc>
                <a:tc>
                  <a:txBody>
                    <a:bodyPr wrap="square"/>
                    <a:lstStyle/>
                    <a:p>
                      <a:pPr algn="ctr"/>
                      <a:r>
                        <a:rPr sz="1100" b="1">
                          <a:solidFill>
                            <a:srgbClr val="0E2A5C"/>
                          </a:solidFill>
                          <a:latin typeface="Calibri"/>
                        </a:rPr>
                        <a:t>Revenue (US$ Mn)</a:t>
                      </a:r>
                      <a:endParaRPr sz="1100"/>
                    </a:p>
                  </a:txBody>
                  <a:tcPr marL="47625" marR="38100" marT="19050" marB="19050" anchor="ctr">
                    <a:solidFill>
                      <a:srgbClr val="EBF2F9"/>
                    </a:solidFill>
                  </a:tcPr>
                </a:tc>
                <a:tc>
                  <a:txBody>
                    <a:bodyPr wrap="none"/>
                    <a:lstStyle/>
                    <a:p>
                      <a:pPr algn="l"/>
                      <a:r>
                        <a:rPr sz="1100" b="1">
                          <a:solidFill>
                            <a:srgbClr val="0E2A5C"/>
                          </a:solidFill>
                          <a:latin typeface="Calibri"/>
                        </a:rPr>
                        <a:t>Key Selection Factor</a:t>
                      </a:r>
                      <a:endParaRPr sz="1100"/>
                    </a:p>
                  </a:txBody>
                  <a:tcPr marL="47625" marR="38100" marT="19050" marB="19050" anchor="ctr">
                    <a:solidFill>
                      <a:srgbClr val="EBF2F9"/>
                    </a:solidFill>
                  </a:tcPr>
                </a:tc>
              </a:tr>
              <a:tr h="246621">
                <a:tc>
                  <a:txBody>
                    <a:bodyPr wrap="none"/>
                    <a:lstStyle/>
                    <a:p>
                      <a:pPr algn="l"/>
                      <a:r>
                        <a:rPr sz="1100" b="1">
                          <a:solidFill>
                            <a:srgbClr val="2E2E2E"/>
                          </a:solidFill>
                          <a:latin typeface="Calibri"/>
                        </a:rPr>
                        <a:t>ESM Technologies, LLC</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U.S.</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North America</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Manufacturer</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B2B / Industrial</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Price &amp; reliability</a:t>
                      </a:r>
                      <a:endParaRPr sz="1100"/>
                    </a:p>
                  </a:txBody>
                  <a:tcPr marL="47625" marR="38100" marT="19050" marB="19050" anchor="ctr">
                    <a:solidFill>
                      <a:srgbClr val="FFFFFF"/>
                    </a:solidFill>
                  </a:tcPr>
                </a:tc>
              </a:tr>
              <a:tr h="246621">
                <a:tc>
                  <a:txBody>
                    <a:bodyPr wrap="none"/>
                    <a:lstStyle/>
                    <a:p>
                      <a:pPr algn="l"/>
                      <a:r>
                        <a:rPr sz="1100" b="1">
                          <a:solidFill>
                            <a:srgbClr val="2E2E2E"/>
                          </a:solidFill>
                          <a:latin typeface="Calibri"/>
                        </a:rPr>
                        <a:t>Company</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Canada</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North America</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Distributor</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B2B / Institutional</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Quality &amp; compliance</a:t>
                      </a:r>
                      <a:endParaRPr sz="1100"/>
                    </a:p>
                  </a:txBody>
                  <a:tcPr marL="47625" marR="38100" marT="19050" marB="19050" anchor="ctr">
                    <a:solidFill>
                      <a:srgbClr val="F5F9FD"/>
                    </a:solidFill>
                  </a:tcPr>
                </a:tc>
              </a:tr>
              <a:tr h="246621">
                <a:tc>
                  <a:txBody>
                    <a:bodyPr wrap="none"/>
                    <a:lstStyle/>
                    <a:p>
                      <a:pPr algn="l"/>
                      <a:r>
                        <a:rPr sz="1100" b="1">
                          <a:solidFill>
                            <a:srgbClr val="2E2E2E"/>
                          </a:solidFill>
                          <a:latin typeface="Calibri"/>
                        </a:rPr>
                        <a:t>Biova, LLC</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Brazil</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Latin America</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Retailer</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B2C / Retail</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Lead time &amp; service</a:t>
                      </a:r>
                      <a:endParaRPr sz="1100"/>
                    </a:p>
                  </a:txBody>
                  <a:tcPr marL="47625" marR="38100" marT="19050" marB="19050" anchor="ctr">
                    <a:solidFill>
                      <a:srgbClr val="FFFFFF"/>
                    </a:solidFill>
                  </a:tcPr>
                </a:tc>
              </a:tr>
              <a:tr h="246621">
                <a:tc>
                  <a:txBody>
                    <a:bodyPr wrap="none"/>
                    <a:lstStyle/>
                    <a:p>
                      <a:pPr algn="l"/>
                      <a:r>
                        <a:rPr sz="1100" b="1">
                          <a:solidFill>
                            <a:srgbClr val="2E2E2E"/>
                          </a:solidFill>
                          <a:latin typeface="Calibri"/>
                        </a:rPr>
                        <a:t>Eggnovo S.L.</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Mexico</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Latin America</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Others</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Contract / OEM</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Capacity &amp; scale</a:t>
                      </a:r>
                      <a:endParaRPr sz="1100"/>
                    </a:p>
                  </a:txBody>
                  <a:tcPr marL="47625" marR="38100" marT="19050" marB="19050" anchor="ctr">
                    <a:solidFill>
                      <a:srgbClr val="F5F9FD"/>
                    </a:solidFill>
                  </a:tcPr>
                </a:tc>
              </a:tr>
              <a:tr h="246621">
                <a:tc>
                  <a:txBody>
                    <a:bodyPr wrap="none"/>
                    <a:lstStyle/>
                    <a:p>
                      <a:pPr algn="l"/>
                      <a:r>
                        <a:rPr sz="1100" b="1">
                          <a:solidFill>
                            <a:srgbClr val="2E2E2E"/>
                          </a:solidFill>
                          <a:latin typeface="Calibri"/>
                        </a:rPr>
                        <a:t>Dutch Eggmembrane Protein Powder</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Colombia</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Latin America</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Manufacturer</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B2B / Industrial</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Brand &amp; support</a:t>
                      </a:r>
                      <a:endParaRPr sz="1100"/>
                    </a:p>
                  </a:txBody>
                  <a:tcPr marL="47625" marR="38100" marT="19050" marB="19050" anchor="ctr">
                    <a:solidFill>
                      <a:srgbClr val="FFFFFF"/>
                    </a:solidFill>
                  </a:tcPr>
                </a:tc>
              </a:tr>
              <a:tr h="246621">
                <a:tc>
                  <a:txBody>
                    <a:bodyPr wrap="none"/>
                    <a:lstStyle/>
                    <a:p>
                      <a:pPr algn="l"/>
                      <a:r>
                        <a:rPr sz="1100" b="1">
                          <a:solidFill>
                            <a:srgbClr val="2E2E2E"/>
                          </a:solidFill>
                          <a:latin typeface="Calibri"/>
                        </a:rPr>
                        <a:t>Kewpie Corporation</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Rest of Latin America</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Latin America</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Distributor</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B2B / Institutional</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Price &amp; reliability</a:t>
                      </a:r>
                      <a:endParaRPr sz="1100"/>
                    </a:p>
                  </a:txBody>
                  <a:tcPr marL="47625" marR="38100" marT="19050" marB="19050" anchor="ctr">
                    <a:solidFill>
                      <a:srgbClr val="F5F9FD"/>
                    </a:solidFill>
                  </a:tcPr>
                </a:tc>
              </a:tr>
              <a:tr h="246621">
                <a:tc>
                  <a:txBody>
                    <a:bodyPr wrap="none"/>
                    <a:lstStyle/>
                    <a:p>
                      <a:pPr algn="l"/>
                      <a:r>
                        <a:rPr sz="1100" b="1">
                          <a:solidFill>
                            <a:srgbClr val="2E2E2E"/>
                          </a:solidFill>
                          <a:latin typeface="Calibri"/>
                        </a:rPr>
                        <a:t>INNAIN</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Germany</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Europe</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Retailer</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B2C / Retail</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Quality &amp; compliance</a:t>
                      </a:r>
                      <a:endParaRPr sz="1100"/>
                    </a:p>
                  </a:txBody>
                  <a:tcPr marL="47625" marR="38100" marT="19050" marB="19050" anchor="ctr">
                    <a:solidFill>
                      <a:srgbClr val="FFFFFF"/>
                    </a:solidFill>
                  </a:tcPr>
                </a:tc>
              </a:tr>
              <a:tr h="246621">
                <a:tc>
                  <a:txBody>
                    <a:bodyPr wrap="none"/>
                    <a:lstStyle/>
                    <a:p>
                      <a:pPr algn="l"/>
                      <a:r>
                        <a:rPr sz="1100" b="1">
                          <a:solidFill>
                            <a:srgbClr val="2E2E2E"/>
                          </a:solidFill>
                          <a:latin typeface="Calibri"/>
                        </a:rPr>
                        <a:t>Ecovatec Solutions Inc.</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U.K.</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Europe</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Others</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Contract / OEM</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Lead time &amp; service</a:t>
                      </a:r>
                      <a:endParaRPr sz="1100"/>
                    </a:p>
                  </a:txBody>
                  <a:tcPr marL="47625" marR="38100" marT="19050" marB="19050" anchor="ctr">
                    <a:solidFill>
                      <a:srgbClr val="F5F9FD"/>
                    </a:solidFill>
                  </a:tcPr>
                </a:tc>
              </a:tr>
              <a:tr h="246621">
                <a:tc>
                  <a:txBody>
                    <a:bodyPr wrap="none"/>
                    <a:lstStyle/>
                    <a:p>
                      <a:pPr algn="l"/>
                      <a:r>
                        <a:rPr sz="1100" b="1">
                          <a:solidFill>
                            <a:srgbClr val="2E2E2E"/>
                          </a:solidFill>
                          <a:latin typeface="Calibri"/>
                        </a:rPr>
                        <a:t>Biovotec</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France</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Europe</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Manufacturer</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B2B / Industrial</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Capacity &amp; scale</a:t>
                      </a:r>
                      <a:endParaRPr sz="1100"/>
                    </a:p>
                  </a:txBody>
                  <a:tcPr marL="47625" marR="38100" marT="19050" marB="19050" anchor="ctr">
                    <a:solidFill>
                      <a:srgbClr val="FFFFFF"/>
                    </a:solidFill>
                  </a:tcPr>
                </a:tc>
              </a:tr>
              <a:tr h="246621">
                <a:tc>
                  <a:txBody>
                    <a:bodyPr wrap="none"/>
                    <a:lstStyle/>
                    <a:p>
                      <a:pPr algn="l"/>
                      <a:r>
                        <a:rPr sz="1100" b="1">
                          <a:solidFill>
                            <a:srgbClr val="2E2E2E"/>
                          </a:solidFill>
                          <a:latin typeface="Calibri"/>
                        </a:rPr>
                        <a:t>Microcore Research Laboratories India Pvt. Ltd.</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Italy</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Europe</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Distributor</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B2B / Institutional</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Brand &amp; support</a:t>
                      </a:r>
                      <a:endParaRPr sz="1100"/>
                    </a:p>
                  </a:txBody>
                  <a:tcPr marL="47625" marR="38100" marT="19050" marB="19050" anchor="ctr">
                    <a:solidFill>
                      <a:srgbClr val="F5F9FD"/>
                    </a:solidFill>
                  </a:tcPr>
                </a:tc>
              </a:tr>
            </a:tbl>
          </a:graphicData>
        </a:graphic>
      </p:graphicFrame>
      <p:sp>
        <p:nvSpPr>
          <p:cNvPr id="10" name="TextBox 9"/>
          <p:cNvSpPr txBox="1"/>
          <p:nvPr/>
        </p:nvSpPr>
        <p:spPr>
          <a:xfrm>
            <a:off x="219075" y="415290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11" name="Rounded Rectangle 10"/>
          <p:cNvSpPr/>
          <p:nvPr/>
        </p:nvSpPr>
        <p:spPr>
          <a:xfrm>
            <a:off x="142875" y="4486275"/>
            <a:ext cx="11906250" cy="2143125"/>
          </a:xfrm>
          <a:prstGeom prst="roundRect">
            <a:avLst>
              <a:gd name="adj" fmla="val 3555"/>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6225" y="4572000"/>
            <a:ext cx="11639550" cy="209550"/>
          </a:xfrm>
          <a:prstGeom prst="rect">
            <a:avLst/>
          </a:prstGeom>
          <a:noFill/>
        </p:spPr>
        <p:txBody>
          <a:bodyPr wrap="square" lIns="0" rIns="19050" tIns="9525" bIns="9525">
            <a:spAutoFit/>
          </a:bodyPr>
          <a:lstStyle/>
          <a:p>
            <a:pPr algn="l"/>
            <a:r>
              <a:rPr sz="1300" b="1">
                <a:solidFill>
                  <a:srgbClr val="0E2A5C"/>
                </a:solidFill>
                <a:latin typeface="Calibri"/>
              </a:rPr>
              <a:t>Notes</a:t>
            </a:r>
          </a:p>
        </p:txBody>
      </p:sp>
      <p:sp>
        <p:nvSpPr>
          <p:cNvPr id="13" name="Rectangle 12"/>
          <p:cNvSpPr/>
          <p:nvPr/>
        </p:nvSpPr>
        <p:spPr>
          <a:xfrm>
            <a:off x="276225" y="4810125"/>
            <a:ext cx="116395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6225" y="4895850"/>
            <a:ext cx="11639550" cy="16573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t>
            </a:r>
            <a:r>
              <a:rPr sz="1150" b="0">
                <a:solidFill>
                  <a:srgbClr val="2E2E2E"/>
                </a:solidFill>
                <a:latin typeface="Calibri"/>
              </a:rPr>
              <a:t>This is a representative subset the full assessment lists 20–30 active participants (with brands, specifications, procurement strategies and SWOT). Note: value-chain economics are indicative derived from market modelling and expert validation, not company disclosures.</a:t>
            </a:r>
          </a:p>
        </p:txBody>
      </p:sp>
      <p:sp>
        <p:nvSpPr>
          <p:cNvPr id="15" name="Rectangle 14"/>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7" name="Picture 16" descr="lock.png"/>
          <p:cNvPicPr>
            <a:picLocks noChangeAspect="1"/>
          </p:cNvPicPr>
          <p:nvPr/>
        </p:nvPicPr>
        <p:blipFill>
          <a:blip r:embed="rId4"/>
          <a:stretch>
            <a:fillRect/>
          </a:stretch>
        </p:blipFill>
        <p:spPr>
          <a:xfrm>
            <a:off x="8994962" y="2643567"/>
            <a:ext cx="366712" cy="533400"/>
          </a:xfrm>
          <a:prstGeom prst="rect">
            <a:avLst/>
          </a:prstGeom>
        </p:spPr>
      </p:pic>
    </p:spTree>
  </p:cSld>
  <p:clrMapOvr>
    <a:masterClrMapping/>
  </p:clrMapOvr>
</p:sld>
</file>

<file path=ppt/slides/slide211.xml><?xml version="1.0" encoding="utf-8"?>
<p:sld xmlns:a="http://schemas.openxmlformats.org/drawingml/2006/main" xmlns:p="http://schemas.openxmlformats.org/presentationml/2006/main" xmlns:r="http://schemas.openxmlformats.org/officeDocument/2006/relationships">
  <p:cSld>
    <p:bg>
      <p:bgPr>
        <a:solidFill>
          <a:srgbClr val="0A2A63"/>
        </a:solidFill>
        <a:effectLst/>
      </p:bgPr>
    </p:bg>
    <p:spTree>
      <p:nvGrpSpPr>
        <p:cNvPr id="1" name=""/>
        <p:cNvGrpSpPr/>
        <p:nvPr/>
      </p:nvGrpSpPr>
      <p:grpSpPr/>
      <p:sp>
        <p:nvSpPr>
          <p:cNvPr id="2" name="TMR Section Breaker"/>
          <p:cNvSpPr/>
          <p:nvPr/>
        </p:nvSpPr>
        <p:spPr>
          <a:xfrm>
            <a:off x="0" y="0"/>
            <a:ext cx="12192000" cy="6858000"/>
          </a:xfrm>
          <a:prstGeom prst="rect">
            <a:avLst/>
          </a:prstGeom>
          <a:gradFill rotWithShape="1">
            <a:gsLst>
              <a:gs pos="0">
                <a:srgbClr val="0A2A63"/>
              </a:gs>
              <a:gs pos="100000">
                <a:srgbClr val="0F3F8F"/>
              </a:gs>
            </a:gsLst>
            <a:lin scaled="0" ang="19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35280" y="198120"/>
            <a:ext cx="1459992" cy="112790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411480" y="274320"/>
            <a:ext cx="1307592" cy="975505"/>
          </a:xfrm>
          <a:prstGeom prst="rect">
            <a:avLst/>
          </a:prstGeom>
        </p:spPr>
      </p:pic>
      <p:sp>
        <p:nvSpPr>
          <p:cNvPr id="5" name="TextBox 4"/>
          <p:cNvSpPr txBox="1"/>
          <p:nvPr/>
        </p:nvSpPr>
        <p:spPr>
          <a:xfrm>
            <a:off x="914400" y="3394075"/>
            <a:ext cx="7239000" cy="247650"/>
          </a:xfrm>
          <a:prstGeom prst="rect">
            <a:avLst/>
          </a:prstGeom>
          <a:noFill/>
        </p:spPr>
        <p:txBody>
          <a:bodyPr wrap="none" lIns="0" tIns="0">
            <a:spAutoFit/>
          </a:bodyPr>
          <a:lstStyle/>
          <a:p>
            <a:r>
              <a:rPr sz="1400" b="0">
                <a:solidFill>
                  <a:srgbClr val="8FC8F2"/>
                </a:solidFill>
                <a:latin typeface="Calibri"/>
              </a:rPr>
              <a:t>Egg Protein Membrane Market</a:t>
            </a:r>
          </a:p>
        </p:txBody>
      </p:sp>
      <p:sp>
        <p:nvSpPr>
          <p:cNvPr id="6" name="TMR Breaker Title"/>
          <p:cNvSpPr txBox="1"/>
          <p:nvPr/>
        </p:nvSpPr>
        <p:spPr>
          <a:xfrm>
            <a:off x="914400" y="3698875"/>
            <a:ext cx="7239000" cy="514350"/>
          </a:xfrm>
          <a:prstGeom prst="rect">
            <a:avLst/>
          </a:prstGeom>
          <a:noFill/>
        </p:spPr>
        <p:txBody>
          <a:bodyPr wrap="square" lIns="0" rIns="0" tIns="0">
            <a:spAutoFit/>
          </a:bodyPr>
          <a:lstStyle/>
          <a:p>
            <a:r>
              <a:rPr sz="3000" b="1" cap="all" spc="400">
                <a:solidFill>
                  <a:srgbClr val="FFFFFF"/>
                </a:solidFill>
                <a:latin typeface="Calibri"/>
              </a:rPr>
              <a:t>Market Dynamics</a:t>
            </a:r>
          </a:p>
        </p:txBody>
      </p:sp>
      <p:sp>
        <p:nvSpPr>
          <p:cNvPr id="7" name="TextBox 6"/>
          <p:cNvSpPr txBox="1"/>
          <p:nvPr/>
        </p:nvSpPr>
        <p:spPr>
          <a:xfrm>
            <a:off x="914400" y="4403725"/>
            <a:ext cx="7124700" cy="4889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Market Dynamics &amp; Forces</a:t>
            </a:r>
          </a:p>
        </p:txBody>
      </p:sp>
      <p:sp>
        <p:nvSpPr>
          <p:cNvPr id="8" name="TextBox 7"/>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C9DCEE"/>
                </a:solidFill>
                <a:latin typeface="Calibri"/>
              </a:rPr>
              <a:t>©2026 Transparency Market Research, All Rights Reserved</a:t>
            </a:r>
          </a:p>
        </p:txBody>
      </p:sp>
    </p:spTree>
  </p:cSld>
  <p:clrMapOvr>
    <a:masterClrMapping/>
  </p:clrMapOvr>
</p:sld>
</file>

<file path=ppt/slides/slide212.xml><?xml version="1.0" encoding="utf-8"?>
<p:sld xmlns:a="http://schemas.openxmlformats.org/drawingml/2006/main" xmlns:p="http://schemas.openxmlformats.org/presentationml/2006/main" xmlns:r="http://schemas.openxmlformats.org/officeDocument/2006/relationships">
  <p:cSld>
    <p:bg>
      <p:bgPr>
        <a:solidFill>
          <a:srgbClr val="F3F8FD"/>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3F8FD"/>
              </a:gs>
              <a:gs pos="100000">
                <a:srgbClr val="DCE9F6"/>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FE0F0">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9C8E6">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B7D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A5F8F"/>
              </a:gs>
              <a:gs pos="100000">
                <a:srgbClr val="6FA6D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MR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17</a:t>
            </a:r>
          </a:p>
        </p:txBody>
      </p:sp>
      <p:pic>
        <p:nvPicPr>
          <p:cNvPr id="8" name="Picture 7" descr="tmr_logo.png"/>
          <p:cNvPicPr>
            <a:picLocks noChangeAspect="1"/>
          </p:cNvPicPr>
          <p:nvPr/>
        </p:nvPicPr>
        <p:blipFill>
          <a:blip r:embed="rId2"/>
          <a:stretch>
            <a:fillRect/>
          </a:stretch>
        </p:blipFill>
        <p:spPr>
          <a:xfrm>
            <a:off x="411480" y="274320"/>
            <a:ext cx="1307592" cy="975505"/>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2A5F8F"/>
                </a:solidFill>
                <a:latin typeface="Calibri"/>
              </a:rPr>
              <a:t>Egg Protein Membrane Market</a:t>
            </a:r>
          </a:p>
        </p:txBody>
      </p:sp>
      <p:sp>
        <p:nvSpPr>
          <p:cNvPr id="10" name="TMR Section Title"/>
          <p:cNvSpPr txBox="1"/>
          <p:nvPr/>
        </p:nvSpPr>
        <p:spPr>
          <a:xfrm>
            <a:off x="914400" y="2701925"/>
            <a:ext cx="8572500" cy="514350"/>
          </a:xfrm>
          <a:prstGeom prst="rect">
            <a:avLst/>
          </a:prstGeom>
          <a:noFill/>
        </p:spPr>
        <p:txBody>
          <a:bodyPr wrap="square" lIns="0" rIns="0" tIns="0">
            <a:spAutoFit/>
          </a:bodyPr>
          <a:lstStyle/>
          <a:p>
            <a:r>
              <a:rPr sz="3000" b="1">
                <a:solidFill>
                  <a:srgbClr val="0E2A5C"/>
                </a:solidFill>
                <a:latin typeface="Calibri"/>
              </a:rPr>
              <a:t>Market Dynamics &amp; Forces</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Drivers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Restraints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Opportunities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Recent Developments &amp; Milestones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Five Forces Analysis</a:t>
            </a:r>
          </a:p>
        </p:txBody>
      </p:sp>
      <p:sp>
        <p:nvSpPr>
          <p:cNvPr id="12" name="Rectangle 11"/>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2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Egg Protein Membrane Market Dynamics by Region</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the growth driver, restraint and opportunity shaping each region of the global market</a:t>
            </a:r>
          </a:p>
        </p:txBody>
      </p:sp>
      <p:sp>
        <p:nvSpPr>
          <p:cNvPr id="7" name="TextBox 6"/>
          <p:cNvSpPr txBox="1"/>
          <p:nvPr/>
        </p:nvSpPr>
        <p:spPr>
          <a:xfrm>
            <a:off x="180975" y="1025515"/>
            <a:ext cx="8572500" cy="219044"/>
          </a:xfrm>
          <a:prstGeom prst="rect">
            <a:avLst/>
          </a:prstGeom>
          <a:noFill/>
        </p:spPr>
        <p:txBody>
          <a:bodyPr wrap="square" lIns="28575" rIns="28575" tIns="9525" bIns="9525" anchor="ctr">
            <a:spAutoFit/>
          </a:bodyPr>
          <a:lstStyle/>
          <a:p>
            <a:pPr algn="l"/>
            <a:r>
              <a:rPr sz="1150" b="1">
                <a:solidFill>
                  <a:srgbClr val="2E2E2E"/>
                </a:solidFill>
                <a:latin typeface="Calibri"/>
              </a:rPr>
              <a:t>Demand Dynamics by Region  ·  ranked by 2036 value</a:t>
            </a:r>
          </a:p>
        </p:txBody>
      </p:sp>
      <p:sp>
        <p:nvSpPr>
          <p:cNvPr id="8" name="Rectangle 7"/>
          <p:cNvSpPr/>
          <p:nvPr/>
        </p:nvSpPr>
        <p:spPr>
          <a:xfrm>
            <a:off x="142875" y="1262813"/>
            <a:ext cx="11906250" cy="255552"/>
          </a:xfrm>
          <a:prstGeom prst="rect">
            <a:avLst/>
          </a:prstGeom>
          <a:solidFill>
            <a:srgbClr val="DCE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00025" y="1262813"/>
            <a:ext cx="1428750" cy="255552"/>
          </a:xfrm>
          <a:prstGeom prst="rect">
            <a:avLst/>
          </a:prstGeom>
          <a:noFill/>
        </p:spPr>
        <p:txBody>
          <a:bodyPr wrap="square" lIns="28575" rIns="28575" tIns="9525" bIns="9525" anchor="ctr">
            <a:spAutoFit/>
          </a:bodyPr>
          <a:lstStyle/>
          <a:p>
            <a:pPr algn="l"/>
            <a:r>
              <a:rPr sz="1100" b="1">
                <a:solidFill>
                  <a:srgbClr val="0B2E4A"/>
                </a:solidFill>
                <a:latin typeface="Calibri"/>
              </a:rPr>
              <a:t>Region</a:t>
            </a:r>
          </a:p>
        </p:txBody>
      </p:sp>
      <p:sp>
        <p:nvSpPr>
          <p:cNvPr id="10" name="TextBox 9"/>
          <p:cNvSpPr txBox="1"/>
          <p:nvPr/>
        </p:nvSpPr>
        <p:spPr>
          <a:xfrm>
            <a:off x="1724025" y="1262813"/>
            <a:ext cx="3714750" cy="255552"/>
          </a:xfrm>
          <a:prstGeom prst="rect">
            <a:avLst/>
          </a:prstGeom>
          <a:noFill/>
        </p:spPr>
        <p:txBody>
          <a:bodyPr wrap="square" lIns="28575" rIns="28575" tIns="9525" bIns="9525" anchor="ctr">
            <a:spAutoFit/>
          </a:bodyPr>
          <a:lstStyle/>
          <a:p>
            <a:pPr algn="l"/>
            <a:r>
              <a:rPr sz="1100" b="1">
                <a:solidFill>
                  <a:srgbClr val="0B2E4A"/>
                </a:solidFill>
                <a:latin typeface="Calibri"/>
              </a:rPr>
              <a:t>Growth Drivers</a:t>
            </a:r>
          </a:p>
        </p:txBody>
      </p:sp>
      <p:sp>
        <p:nvSpPr>
          <p:cNvPr id="11" name="TextBox 10"/>
          <p:cNvSpPr txBox="1"/>
          <p:nvPr/>
        </p:nvSpPr>
        <p:spPr>
          <a:xfrm>
            <a:off x="5534025" y="1262813"/>
            <a:ext cx="2762250" cy="255552"/>
          </a:xfrm>
          <a:prstGeom prst="rect">
            <a:avLst/>
          </a:prstGeom>
          <a:noFill/>
        </p:spPr>
        <p:txBody>
          <a:bodyPr wrap="square" lIns="28575" rIns="28575" tIns="9525" bIns="9525" anchor="ctr">
            <a:spAutoFit/>
          </a:bodyPr>
          <a:lstStyle/>
          <a:p>
            <a:pPr algn="l"/>
            <a:r>
              <a:rPr sz="1100" b="1">
                <a:solidFill>
                  <a:srgbClr val="0B2E4A"/>
                </a:solidFill>
                <a:latin typeface="Calibri"/>
              </a:rPr>
              <a:t>Restraints</a:t>
            </a:r>
          </a:p>
        </p:txBody>
      </p:sp>
      <p:sp>
        <p:nvSpPr>
          <p:cNvPr id="12" name="TextBox 11"/>
          <p:cNvSpPr txBox="1"/>
          <p:nvPr/>
        </p:nvSpPr>
        <p:spPr>
          <a:xfrm>
            <a:off x="8391525" y="1262813"/>
            <a:ext cx="3619500" cy="255552"/>
          </a:xfrm>
          <a:prstGeom prst="rect">
            <a:avLst/>
          </a:prstGeom>
          <a:noFill/>
        </p:spPr>
        <p:txBody>
          <a:bodyPr wrap="square" lIns="28575" rIns="28575" tIns="9525" bIns="9525" anchor="ctr">
            <a:spAutoFit/>
          </a:bodyPr>
          <a:lstStyle/>
          <a:p>
            <a:pPr algn="l"/>
            <a:r>
              <a:rPr sz="1100" b="1">
                <a:solidFill>
                  <a:srgbClr val="0B2E4A"/>
                </a:solidFill>
                <a:latin typeface="Calibri"/>
              </a:rPr>
              <a:t>Priority Opportunities</a:t>
            </a:r>
          </a:p>
        </p:txBody>
      </p:sp>
      <p:sp>
        <p:nvSpPr>
          <p:cNvPr id="13" name="Rectangle 12"/>
          <p:cNvSpPr/>
          <p:nvPr/>
        </p:nvSpPr>
        <p:spPr>
          <a:xfrm>
            <a:off x="142875" y="1518365"/>
            <a:ext cx="11906250" cy="70276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00025" y="1518365"/>
            <a:ext cx="1428750" cy="702767"/>
          </a:xfrm>
          <a:prstGeom prst="rect">
            <a:avLst/>
          </a:prstGeom>
          <a:noFill/>
        </p:spPr>
        <p:txBody>
          <a:bodyPr wrap="square" lIns="28575" rIns="28575" tIns="9525" bIns="9525" anchor="ctr">
            <a:spAutoFit/>
          </a:bodyPr>
          <a:lstStyle/>
          <a:p>
            <a:pPr algn="l"/>
            <a:r>
              <a:rPr sz="1100" b="1">
                <a:solidFill>
                  <a:srgbClr val="2E2E2E"/>
                </a:solidFill>
                <a:latin typeface="Calibri"/>
              </a:rPr>
              <a:t>North America</a:t>
            </a:r>
          </a:p>
        </p:txBody>
      </p:sp>
      <p:sp>
        <p:nvSpPr>
          <p:cNvPr id="15" name="TextBox 14"/>
          <p:cNvSpPr txBox="1"/>
          <p:nvPr/>
        </p:nvSpPr>
        <p:spPr>
          <a:xfrm>
            <a:off x="1724025" y="1545745"/>
            <a:ext cx="3676650" cy="64800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16" name="TextBox 15"/>
          <p:cNvSpPr txBox="1"/>
          <p:nvPr/>
        </p:nvSpPr>
        <p:spPr>
          <a:xfrm>
            <a:off x="5534025" y="1545745"/>
            <a:ext cx="2724150" cy="64800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17" name="TextBox 16"/>
          <p:cNvSpPr txBox="1"/>
          <p:nvPr/>
        </p:nvSpPr>
        <p:spPr>
          <a:xfrm>
            <a:off x="8391525" y="1545745"/>
            <a:ext cx="3581400" cy="64800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18" name="Rectangle 17"/>
          <p:cNvSpPr/>
          <p:nvPr/>
        </p:nvSpPr>
        <p:spPr>
          <a:xfrm>
            <a:off x="142875" y="2221132"/>
            <a:ext cx="11906250" cy="702767"/>
          </a:xfrm>
          <a:prstGeom prst="rect">
            <a:avLst/>
          </a:prstGeom>
          <a:solidFill>
            <a:srgbClr val="F5F9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00025" y="2221132"/>
            <a:ext cx="1428750" cy="702767"/>
          </a:xfrm>
          <a:prstGeom prst="rect">
            <a:avLst/>
          </a:prstGeom>
          <a:noFill/>
        </p:spPr>
        <p:txBody>
          <a:bodyPr wrap="square" lIns="28575" rIns="28575" tIns="9525" bIns="9525" anchor="ctr">
            <a:spAutoFit/>
          </a:bodyPr>
          <a:lstStyle/>
          <a:p>
            <a:pPr algn="l"/>
            <a:r>
              <a:rPr sz="1100" b="1">
                <a:solidFill>
                  <a:srgbClr val="2E2E2E"/>
                </a:solidFill>
                <a:latin typeface="Calibri"/>
              </a:rPr>
              <a:t>Europe</a:t>
            </a:r>
          </a:p>
        </p:txBody>
      </p:sp>
      <p:sp>
        <p:nvSpPr>
          <p:cNvPr id="20" name="TextBox 19"/>
          <p:cNvSpPr txBox="1"/>
          <p:nvPr/>
        </p:nvSpPr>
        <p:spPr>
          <a:xfrm>
            <a:off x="1724025" y="2248513"/>
            <a:ext cx="3676650" cy="64800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21" name="TextBox 20"/>
          <p:cNvSpPr txBox="1"/>
          <p:nvPr/>
        </p:nvSpPr>
        <p:spPr>
          <a:xfrm>
            <a:off x="5534025" y="2248513"/>
            <a:ext cx="2724150" cy="64800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22" name="TextBox 21"/>
          <p:cNvSpPr txBox="1"/>
          <p:nvPr/>
        </p:nvSpPr>
        <p:spPr>
          <a:xfrm>
            <a:off x="8391525" y="2248513"/>
            <a:ext cx="3581400" cy="64800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23" name="Rectangle 22"/>
          <p:cNvSpPr/>
          <p:nvPr/>
        </p:nvSpPr>
        <p:spPr>
          <a:xfrm>
            <a:off x="142875" y="2923899"/>
            <a:ext cx="11906250" cy="70276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00025" y="2923899"/>
            <a:ext cx="1428750" cy="702767"/>
          </a:xfrm>
          <a:prstGeom prst="rect">
            <a:avLst/>
          </a:prstGeom>
          <a:noFill/>
        </p:spPr>
        <p:txBody>
          <a:bodyPr wrap="square" lIns="28575" rIns="28575" tIns="9525" bIns="9525" anchor="ctr">
            <a:spAutoFit/>
          </a:bodyPr>
          <a:lstStyle/>
          <a:p>
            <a:pPr algn="l"/>
            <a:r>
              <a:rPr sz="1100" b="1">
                <a:solidFill>
                  <a:srgbClr val="2E2E2E"/>
                </a:solidFill>
                <a:latin typeface="Calibri"/>
              </a:rPr>
              <a:t>South Asia &amp; Pacific</a:t>
            </a:r>
          </a:p>
        </p:txBody>
      </p:sp>
      <p:sp>
        <p:nvSpPr>
          <p:cNvPr id="25" name="TextBox 24"/>
          <p:cNvSpPr txBox="1"/>
          <p:nvPr/>
        </p:nvSpPr>
        <p:spPr>
          <a:xfrm>
            <a:off x="1724025" y="2951280"/>
            <a:ext cx="3676650" cy="64800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26" name="TextBox 25"/>
          <p:cNvSpPr txBox="1"/>
          <p:nvPr/>
        </p:nvSpPr>
        <p:spPr>
          <a:xfrm>
            <a:off x="5534025" y="2951280"/>
            <a:ext cx="2724150" cy="64800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Competitive intensity at scale.</a:t>
            </a:r>
          </a:p>
        </p:txBody>
      </p:sp>
      <p:sp>
        <p:nvSpPr>
          <p:cNvPr id="27" name="TextBox 26"/>
          <p:cNvSpPr txBox="1"/>
          <p:nvPr/>
        </p:nvSpPr>
        <p:spPr>
          <a:xfrm>
            <a:off x="8391525" y="2951280"/>
            <a:ext cx="3581400" cy="64800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28" name="Rectangle 27"/>
          <p:cNvSpPr/>
          <p:nvPr/>
        </p:nvSpPr>
        <p:spPr>
          <a:xfrm>
            <a:off x="142875" y="3626667"/>
            <a:ext cx="11906250" cy="511104"/>
          </a:xfrm>
          <a:prstGeom prst="rect">
            <a:avLst/>
          </a:prstGeom>
          <a:solidFill>
            <a:srgbClr val="F5F9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00025" y="3626667"/>
            <a:ext cx="1428750" cy="511104"/>
          </a:xfrm>
          <a:prstGeom prst="rect">
            <a:avLst/>
          </a:prstGeom>
          <a:noFill/>
        </p:spPr>
        <p:txBody>
          <a:bodyPr wrap="square" lIns="28575" rIns="28575" tIns="9525" bIns="9525" anchor="ctr">
            <a:spAutoFit/>
          </a:bodyPr>
          <a:lstStyle/>
          <a:p>
            <a:pPr algn="l"/>
            <a:r>
              <a:rPr sz="1100" b="1">
                <a:solidFill>
                  <a:srgbClr val="2E2E2E"/>
                </a:solidFill>
                <a:latin typeface="Calibri"/>
              </a:rPr>
              <a:t>East Asia</a:t>
            </a:r>
          </a:p>
        </p:txBody>
      </p:sp>
      <p:sp>
        <p:nvSpPr>
          <p:cNvPr id="30" name="TextBox 29"/>
          <p:cNvSpPr txBox="1"/>
          <p:nvPr/>
        </p:nvSpPr>
        <p:spPr>
          <a:xfrm>
            <a:off x="1724025" y="3654047"/>
            <a:ext cx="3676650" cy="45634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31" name="TextBox 30"/>
          <p:cNvSpPr txBox="1"/>
          <p:nvPr/>
        </p:nvSpPr>
        <p:spPr>
          <a:xfrm>
            <a:off x="5534025" y="3654047"/>
            <a:ext cx="2724150" cy="45634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32" name="TextBox 31"/>
          <p:cNvSpPr txBox="1"/>
          <p:nvPr/>
        </p:nvSpPr>
        <p:spPr>
          <a:xfrm>
            <a:off x="8391525" y="3654047"/>
            <a:ext cx="3581400" cy="45634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33" name="Rectangle 32"/>
          <p:cNvSpPr/>
          <p:nvPr/>
        </p:nvSpPr>
        <p:spPr>
          <a:xfrm>
            <a:off x="142875" y="4137770"/>
            <a:ext cx="11906250" cy="5111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00025" y="4137770"/>
            <a:ext cx="1428750" cy="511104"/>
          </a:xfrm>
          <a:prstGeom prst="rect">
            <a:avLst/>
          </a:prstGeom>
          <a:noFill/>
        </p:spPr>
        <p:txBody>
          <a:bodyPr wrap="square" lIns="28575" rIns="28575" tIns="9525" bIns="9525" anchor="ctr">
            <a:spAutoFit/>
          </a:bodyPr>
          <a:lstStyle/>
          <a:p>
            <a:pPr algn="l"/>
            <a:r>
              <a:rPr sz="1100" b="1">
                <a:solidFill>
                  <a:srgbClr val="2E2E2E"/>
                </a:solidFill>
                <a:latin typeface="Calibri"/>
              </a:rPr>
              <a:t>Latin America</a:t>
            </a:r>
          </a:p>
        </p:txBody>
      </p:sp>
      <p:sp>
        <p:nvSpPr>
          <p:cNvPr id="35" name="TextBox 34"/>
          <p:cNvSpPr txBox="1"/>
          <p:nvPr/>
        </p:nvSpPr>
        <p:spPr>
          <a:xfrm>
            <a:off x="1724025" y="4165151"/>
            <a:ext cx="3676650" cy="45634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36" name="TextBox 35"/>
          <p:cNvSpPr txBox="1"/>
          <p:nvPr/>
        </p:nvSpPr>
        <p:spPr>
          <a:xfrm>
            <a:off x="5534025" y="4165151"/>
            <a:ext cx="2724150" cy="45634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37" name="TextBox 36"/>
          <p:cNvSpPr txBox="1"/>
          <p:nvPr/>
        </p:nvSpPr>
        <p:spPr>
          <a:xfrm>
            <a:off x="8391525" y="4165151"/>
            <a:ext cx="3581400" cy="45634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38" name="Rectangle 37"/>
          <p:cNvSpPr/>
          <p:nvPr/>
        </p:nvSpPr>
        <p:spPr>
          <a:xfrm>
            <a:off x="142875" y="4648874"/>
            <a:ext cx="11906250" cy="511104"/>
          </a:xfrm>
          <a:prstGeom prst="rect">
            <a:avLst/>
          </a:prstGeom>
          <a:solidFill>
            <a:srgbClr val="F5F9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200025" y="4648874"/>
            <a:ext cx="1428750" cy="511104"/>
          </a:xfrm>
          <a:prstGeom prst="rect">
            <a:avLst/>
          </a:prstGeom>
          <a:noFill/>
        </p:spPr>
        <p:txBody>
          <a:bodyPr wrap="square" lIns="28575" rIns="28575" tIns="9525" bIns="9525" anchor="ctr">
            <a:spAutoFit/>
          </a:bodyPr>
          <a:lstStyle/>
          <a:p>
            <a:pPr algn="l"/>
            <a:r>
              <a:rPr sz="1100" b="1">
                <a:solidFill>
                  <a:srgbClr val="2E2E2E"/>
                </a:solidFill>
                <a:latin typeface="Calibri"/>
              </a:rPr>
              <a:t>Middle East and Africa</a:t>
            </a:r>
          </a:p>
        </p:txBody>
      </p:sp>
      <p:sp>
        <p:nvSpPr>
          <p:cNvPr id="40" name="TextBox 39"/>
          <p:cNvSpPr txBox="1"/>
          <p:nvPr/>
        </p:nvSpPr>
        <p:spPr>
          <a:xfrm>
            <a:off x="1724025" y="4676254"/>
            <a:ext cx="3676650" cy="45634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41" name="TextBox 40"/>
          <p:cNvSpPr txBox="1"/>
          <p:nvPr/>
        </p:nvSpPr>
        <p:spPr>
          <a:xfrm>
            <a:off x="5534025" y="4676254"/>
            <a:ext cx="2724150" cy="45634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42" name="TextBox 41"/>
          <p:cNvSpPr txBox="1"/>
          <p:nvPr/>
        </p:nvSpPr>
        <p:spPr>
          <a:xfrm>
            <a:off x="8391525" y="4676254"/>
            <a:ext cx="3581400" cy="45634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cxnSp>
        <p:nvCxnSpPr>
          <p:cNvPr id="43" name="Connector 42"/>
          <p:cNvCxnSpPr/>
          <p:nvPr/>
        </p:nvCxnSpPr>
        <p:spPr>
          <a:xfrm>
            <a:off x="142875" y="5159977"/>
            <a:ext cx="11906250" cy="0"/>
          </a:xfrm>
          <a:prstGeom prst="line">
            <a:avLst/>
          </a:prstGeom>
          <a:ln w="12700">
            <a:solidFill>
              <a:srgbClr val="69B1E0"/>
            </a:solidFill>
          </a:ln>
          <a:effectLst/>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200025" y="5178231"/>
            <a:ext cx="3810000" cy="182537"/>
          </a:xfrm>
          <a:prstGeom prst="rect">
            <a:avLst/>
          </a:prstGeom>
          <a:noFill/>
        </p:spPr>
        <p:txBody>
          <a:bodyPr wrap="square" lIns="28575" rIns="28575" tIns="9525" bIns="9525" anchor="ctr">
            <a:spAutoFit/>
          </a:bodyPr>
          <a:lstStyle/>
          <a:p>
            <a:pPr algn="l"/>
            <a:r>
              <a:rPr sz="1100" b="0">
                <a:solidFill>
                  <a:srgbClr val="6C7A89"/>
                </a:solidFill>
                <a:latin typeface="Calibri"/>
              </a:rPr>
              <a:t>Source: TMR Analysis, 2026</a:t>
            </a:r>
          </a:p>
        </p:txBody>
      </p:sp>
      <p:sp>
        <p:nvSpPr>
          <p:cNvPr id="45" name="Rounded Rectangle 44"/>
          <p:cNvSpPr/>
          <p:nvPr/>
        </p:nvSpPr>
        <p:spPr>
          <a:xfrm>
            <a:off x="142875" y="5433783"/>
            <a:ext cx="11906250" cy="994827"/>
          </a:xfrm>
          <a:prstGeom prst="roundRect">
            <a:avLst>
              <a:gd name="adj" fmla="val 479"/>
            </a:avLst>
          </a:prstGeom>
          <a:solidFill>
            <a:srgbClr val="FFFFFF"/>
          </a:solidFill>
          <a:ln w="12700">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276225" y="5470290"/>
            <a:ext cx="3810000" cy="219044"/>
          </a:xfrm>
          <a:prstGeom prst="rect">
            <a:avLst/>
          </a:prstGeom>
          <a:noFill/>
        </p:spPr>
        <p:txBody>
          <a:bodyPr wrap="square" lIns="28575" rIns="28575" tIns="9525" bIns="9525" anchor="ctr">
            <a:spAutoFit/>
          </a:bodyPr>
          <a:lstStyle/>
          <a:p>
            <a:pPr algn="l"/>
            <a:r>
              <a:rPr sz="1200" b="1">
                <a:solidFill>
                  <a:srgbClr val="0B2E4A"/>
                </a:solidFill>
                <a:latin typeface="Calibri"/>
              </a:rPr>
              <a:t>KEY TAKEAWAY</a:t>
            </a:r>
          </a:p>
        </p:txBody>
      </p:sp>
      <p:cxnSp>
        <p:nvCxnSpPr>
          <p:cNvPr id="47" name="Connector 46"/>
          <p:cNvCxnSpPr/>
          <p:nvPr/>
        </p:nvCxnSpPr>
        <p:spPr>
          <a:xfrm>
            <a:off x="276225" y="5707588"/>
            <a:ext cx="11639550" cy="0"/>
          </a:xfrm>
          <a:prstGeom prst="line">
            <a:avLst/>
          </a:prstGeom>
          <a:ln w="15875">
            <a:solidFill>
              <a:srgbClr val="0B2E4A"/>
            </a:solidFill>
          </a:ln>
          <a:effectLst/>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276225" y="5762349"/>
            <a:ext cx="11525250" cy="593245"/>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49" name="Rectangle 48"/>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
        <p:nvSpPr>
          <p:cNvPr id="51" name="TextBox 50"/>
          <p:cNvSpPr txBox="1"/>
          <p:nvPr/>
        </p:nvSpPr>
        <p:spPr>
          <a:xfrm>
            <a:off x="1752600" y="1702107"/>
            <a:ext cx="738137" cy="186689"/>
          </a:xfrm>
          <a:prstGeom prst="rect">
            <a:avLst/>
          </a:prstGeom>
          <a:noFill/>
        </p:spPr>
        <p:txBody>
          <a:bodyPr wrap="none" lIns="0" rIns="0" tIns="0" bIns="0">
            <a:spAutoFit/>
          </a:bodyPr>
          <a:lstStyle/>
          <a:p>
            <a:r>
              <a:rPr sz="1100" b="0">
                <a:solidFill>
                  <a:srgbClr val="2E2E2E"/>
                </a:solidFill>
                <a:latin typeface="Calibri"/>
              </a:rPr>
              <a:t>Scale base (</a:t>
            </a:r>
          </a:p>
        </p:txBody>
      </p:sp>
      <p:pic>
        <p:nvPicPr>
          <p:cNvPr id="52" name="Picture 51" descr="lock.png"/>
          <p:cNvPicPr>
            <a:picLocks noChangeAspect="1"/>
          </p:cNvPicPr>
          <p:nvPr/>
        </p:nvPicPr>
        <p:blipFill>
          <a:blip r:embed="rId4"/>
          <a:stretch>
            <a:fillRect/>
          </a:stretch>
        </p:blipFill>
        <p:spPr>
          <a:xfrm>
            <a:off x="2438789" y="1692329"/>
            <a:ext cx="128699" cy="187198"/>
          </a:xfrm>
          <a:prstGeom prst="rect">
            <a:avLst/>
          </a:prstGeom>
        </p:spPr>
      </p:pic>
      <p:sp>
        <p:nvSpPr>
          <p:cNvPr id="53" name="TextBox 52"/>
          <p:cNvSpPr txBox="1"/>
          <p:nvPr/>
        </p:nvSpPr>
        <p:spPr>
          <a:xfrm>
            <a:off x="2606285" y="1702107"/>
            <a:ext cx="1556419" cy="186689"/>
          </a:xfrm>
          <a:prstGeom prst="rect">
            <a:avLst/>
          </a:prstGeom>
          <a:noFill/>
        </p:spPr>
        <p:txBody>
          <a:bodyPr wrap="none" lIns="0" rIns="0" tIns="0" bIns="0">
            <a:spAutoFit/>
          </a:bodyPr>
          <a:lstStyle/>
          <a:p>
            <a:r>
              <a:rPr sz="1100" b="0">
                <a:solidFill>
                  <a:srgbClr val="2E2E2E"/>
                </a:solidFill>
                <a:latin typeface="Calibri"/>
              </a:rPr>
              <a:t>share), Installed demand (</a:t>
            </a:r>
          </a:p>
        </p:txBody>
      </p:sp>
      <p:pic>
        <p:nvPicPr>
          <p:cNvPr id="54" name="Picture 53" descr="lock.png"/>
          <p:cNvPicPr>
            <a:picLocks noChangeAspect="1"/>
          </p:cNvPicPr>
          <p:nvPr/>
        </p:nvPicPr>
        <p:blipFill>
          <a:blip r:embed="rId4"/>
          <a:stretch>
            <a:fillRect/>
          </a:stretch>
        </p:blipFill>
        <p:spPr>
          <a:xfrm>
            <a:off x="4110756" y="1692329"/>
            <a:ext cx="128699" cy="187198"/>
          </a:xfrm>
          <a:prstGeom prst="rect">
            <a:avLst/>
          </a:prstGeom>
        </p:spPr>
      </p:pic>
      <p:sp>
        <p:nvSpPr>
          <p:cNvPr id="55" name="TextBox 54"/>
          <p:cNvSpPr txBox="1"/>
          <p:nvPr/>
        </p:nvSpPr>
        <p:spPr>
          <a:xfrm>
            <a:off x="4278252" y="1702107"/>
            <a:ext cx="1012063" cy="186689"/>
          </a:xfrm>
          <a:prstGeom prst="rect">
            <a:avLst/>
          </a:prstGeom>
          <a:noFill/>
        </p:spPr>
        <p:txBody>
          <a:bodyPr wrap="none" lIns="0" rIns="0" tIns="0" bIns="0">
            <a:spAutoFit/>
          </a:bodyPr>
          <a:lstStyle/>
          <a:p>
            <a:r>
              <a:rPr sz="1100" b="0">
                <a:solidFill>
                  <a:srgbClr val="2E2E2E"/>
                </a:solidFill>
                <a:latin typeface="Calibri"/>
              </a:rPr>
              <a:t>CAGR), Specialty</a:t>
            </a:r>
          </a:p>
        </p:txBody>
      </p:sp>
      <p:sp>
        <p:nvSpPr>
          <p:cNvPr id="56" name="TextBox 55"/>
          <p:cNvSpPr txBox="1"/>
          <p:nvPr/>
        </p:nvSpPr>
        <p:spPr>
          <a:xfrm>
            <a:off x="1752600" y="1869747"/>
            <a:ext cx="3496667" cy="186689"/>
          </a:xfrm>
          <a:prstGeom prst="rect">
            <a:avLst/>
          </a:prstGeom>
          <a:noFill/>
        </p:spPr>
        <p:txBody>
          <a:bodyPr wrap="none" lIns="0" rIns="0" tIns="0" bIns="0">
            <a:spAutoFit/>
          </a:bodyPr>
          <a:lstStyle/>
          <a:p>
            <a:r>
              <a:rPr sz="1100" b="0">
                <a:solidFill>
                  <a:srgbClr val="2E2E2E"/>
                </a:solidFill>
                <a:latin typeface="Calibri"/>
              </a:rPr>
              <a:t>Extracted Protein Fractions demand, Accelerating vs history.</a:t>
            </a:r>
          </a:p>
        </p:txBody>
      </p:sp>
      <p:sp>
        <p:nvSpPr>
          <p:cNvPr id="57" name="TextBox 56"/>
          <p:cNvSpPr txBox="1"/>
          <p:nvPr/>
        </p:nvSpPr>
        <p:spPr>
          <a:xfrm>
            <a:off x="5562600" y="1702107"/>
            <a:ext cx="1287115" cy="186689"/>
          </a:xfrm>
          <a:prstGeom prst="rect">
            <a:avLst/>
          </a:prstGeom>
          <a:noFill/>
        </p:spPr>
        <p:txBody>
          <a:bodyPr wrap="none" lIns="0" rIns="0" tIns="0" bIns="0">
            <a:spAutoFit/>
          </a:bodyPr>
          <a:lstStyle/>
          <a:p>
            <a:r>
              <a:rPr sz="1100" b="0">
                <a:solidFill>
                  <a:srgbClr val="2E2E2E"/>
                </a:solidFill>
                <a:latin typeface="Calibri"/>
              </a:rPr>
              <a:t>Trails market pace by</a:t>
            </a:r>
          </a:p>
        </p:txBody>
      </p:sp>
      <p:pic>
        <p:nvPicPr>
          <p:cNvPr id="58" name="Picture 57" descr="lock.png"/>
          <p:cNvPicPr>
            <a:picLocks noChangeAspect="1"/>
          </p:cNvPicPr>
          <p:nvPr/>
        </p:nvPicPr>
        <p:blipFill>
          <a:blip r:embed="rId4"/>
          <a:stretch>
            <a:fillRect/>
          </a:stretch>
        </p:blipFill>
        <p:spPr>
          <a:xfrm>
            <a:off x="6797766" y="1692329"/>
            <a:ext cx="128699" cy="187198"/>
          </a:xfrm>
          <a:prstGeom prst="rect">
            <a:avLst/>
          </a:prstGeom>
        </p:spPr>
      </p:pic>
      <p:sp>
        <p:nvSpPr>
          <p:cNvPr id="59" name="TextBox 58"/>
          <p:cNvSpPr txBox="1"/>
          <p:nvPr/>
        </p:nvSpPr>
        <p:spPr>
          <a:xfrm>
            <a:off x="6965262" y="1702107"/>
            <a:ext cx="689297" cy="186689"/>
          </a:xfrm>
          <a:prstGeom prst="rect">
            <a:avLst/>
          </a:prstGeom>
          <a:noFill/>
        </p:spPr>
        <p:txBody>
          <a:bodyPr wrap="none" lIns="0" rIns="0" tIns="0" bIns="0">
            <a:spAutoFit/>
          </a:bodyPr>
          <a:lstStyle/>
          <a:p>
            <a:r>
              <a:rPr sz="1100" b="0">
                <a:solidFill>
                  <a:srgbClr val="2E2E2E"/>
                </a:solidFill>
                <a:latin typeface="Calibri"/>
              </a:rPr>
              <a:t>BPS, Rising</a:t>
            </a:r>
          </a:p>
        </p:txBody>
      </p:sp>
      <p:sp>
        <p:nvSpPr>
          <p:cNvPr id="60" name="TextBox 59"/>
          <p:cNvSpPr txBox="1"/>
          <p:nvPr/>
        </p:nvSpPr>
        <p:spPr>
          <a:xfrm>
            <a:off x="5562600" y="1869747"/>
            <a:ext cx="747414" cy="186689"/>
          </a:xfrm>
          <a:prstGeom prst="rect">
            <a:avLst/>
          </a:prstGeom>
          <a:noFill/>
        </p:spPr>
        <p:txBody>
          <a:bodyPr wrap="none" lIns="0" rIns="0" tIns="0" bIns="0">
            <a:spAutoFit/>
          </a:bodyPr>
          <a:lstStyle/>
          <a:p>
            <a:r>
              <a:rPr sz="1100" b="0">
                <a:solidFill>
                  <a:srgbClr val="2E2E2E"/>
                </a:solidFill>
                <a:latin typeface="Calibri"/>
              </a:rPr>
              <a:t>realisation (</a:t>
            </a:r>
          </a:p>
        </p:txBody>
      </p:sp>
      <p:pic>
        <p:nvPicPr>
          <p:cNvPr id="61" name="Picture 60" descr="lock.png"/>
          <p:cNvPicPr>
            <a:picLocks noChangeAspect="1"/>
          </p:cNvPicPr>
          <p:nvPr/>
        </p:nvPicPr>
        <p:blipFill>
          <a:blip r:embed="rId4"/>
          <a:stretch>
            <a:fillRect/>
          </a:stretch>
        </p:blipFill>
        <p:spPr>
          <a:xfrm>
            <a:off x="6258066" y="1859969"/>
            <a:ext cx="128699" cy="187198"/>
          </a:xfrm>
          <a:prstGeom prst="rect">
            <a:avLst/>
          </a:prstGeom>
        </p:spPr>
      </p:pic>
      <p:sp>
        <p:nvSpPr>
          <p:cNvPr id="62" name="TextBox 61"/>
          <p:cNvSpPr txBox="1"/>
          <p:nvPr/>
        </p:nvSpPr>
        <p:spPr>
          <a:xfrm>
            <a:off x="6425562" y="1869747"/>
            <a:ext cx="153689" cy="186689"/>
          </a:xfrm>
          <a:prstGeom prst="rect">
            <a:avLst/>
          </a:prstGeom>
          <a:noFill/>
        </p:spPr>
        <p:txBody>
          <a:bodyPr wrap="none" lIns="0" rIns="0" tIns="0" bIns="0">
            <a:spAutoFit/>
          </a:bodyPr>
          <a:lstStyle/>
          <a:p>
            <a:r>
              <a:rPr sz="1100" b="0">
                <a:solidFill>
                  <a:srgbClr val="2E2E2E"/>
                </a:solidFill>
                <a:latin typeface="Calibri"/>
              </a:rPr>
              <a:t>).</a:t>
            </a:r>
          </a:p>
        </p:txBody>
      </p:sp>
      <p:sp>
        <p:nvSpPr>
          <p:cNvPr id="63" name="TextBox 62"/>
          <p:cNvSpPr txBox="1"/>
          <p:nvPr/>
        </p:nvSpPr>
        <p:spPr>
          <a:xfrm>
            <a:off x="8420100" y="1702107"/>
            <a:ext cx="2271290" cy="186689"/>
          </a:xfrm>
          <a:prstGeom prst="rect">
            <a:avLst/>
          </a:prstGeom>
          <a:noFill/>
        </p:spPr>
        <p:txBody>
          <a:bodyPr wrap="none" lIns="0" rIns="0" tIns="0" bIns="0">
            <a:spAutoFit/>
          </a:bodyPr>
          <a:lstStyle/>
          <a:p>
            <a:r>
              <a:rPr sz="1100" b="0">
                <a:solidFill>
                  <a:srgbClr val="2E2E2E"/>
                </a:solidFill>
                <a:latin typeface="Calibri"/>
              </a:rPr>
              <a:t>Scale Hydrolyzed Eggshell Membrane (</a:t>
            </a:r>
          </a:p>
        </p:txBody>
      </p:sp>
      <p:pic>
        <p:nvPicPr>
          <p:cNvPr id="64" name="Picture 63" descr="lock.png"/>
          <p:cNvPicPr>
            <a:picLocks noChangeAspect="1"/>
          </p:cNvPicPr>
          <p:nvPr/>
        </p:nvPicPr>
        <p:blipFill>
          <a:blip r:embed="rId4"/>
          <a:stretch>
            <a:fillRect/>
          </a:stretch>
        </p:blipFill>
        <p:spPr>
          <a:xfrm>
            <a:off x="10639442" y="1692329"/>
            <a:ext cx="128699" cy="187198"/>
          </a:xfrm>
          <a:prstGeom prst="rect">
            <a:avLst/>
          </a:prstGeom>
        </p:spPr>
      </p:pic>
      <p:sp>
        <p:nvSpPr>
          <p:cNvPr id="65" name="TextBox 64"/>
          <p:cNvSpPr txBox="1"/>
          <p:nvPr/>
        </p:nvSpPr>
        <p:spPr>
          <a:xfrm>
            <a:off x="10806938" y="1702107"/>
            <a:ext cx="830907" cy="186689"/>
          </a:xfrm>
          <a:prstGeom prst="rect">
            <a:avLst/>
          </a:prstGeom>
          <a:noFill/>
        </p:spPr>
        <p:txBody>
          <a:bodyPr wrap="none" lIns="0" rIns="0" tIns="0" bIns="0">
            <a:spAutoFit/>
          </a:bodyPr>
          <a:lstStyle/>
          <a:p>
            <a:r>
              <a:rPr sz="1100" b="0">
                <a:solidFill>
                  <a:srgbClr val="2E2E2E"/>
                </a:solidFill>
                <a:latin typeface="Calibri"/>
              </a:rPr>
              <a:t>), Mix shift to</a:t>
            </a:r>
          </a:p>
        </p:txBody>
      </p:sp>
      <p:sp>
        <p:nvSpPr>
          <p:cNvPr id="66" name="TextBox 65"/>
          <p:cNvSpPr txBox="1"/>
          <p:nvPr/>
        </p:nvSpPr>
        <p:spPr>
          <a:xfrm>
            <a:off x="8420100" y="1869747"/>
            <a:ext cx="1905942" cy="186689"/>
          </a:xfrm>
          <a:prstGeom prst="rect">
            <a:avLst/>
          </a:prstGeom>
          <a:noFill/>
        </p:spPr>
        <p:txBody>
          <a:bodyPr wrap="none" lIns="0" rIns="0" tIns="0" bIns="0">
            <a:spAutoFit/>
          </a:bodyPr>
          <a:lstStyle/>
          <a:p>
            <a:r>
              <a:rPr sz="1100" b="0">
                <a:solidFill>
                  <a:srgbClr val="2E2E2E"/>
                </a:solidFill>
                <a:latin typeface="Calibri"/>
              </a:rPr>
              <a:t>Micronized Eggshell Membrane,</a:t>
            </a:r>
          </a:p>
        </p:txBody>
      </p:sp>
      <p:pic>
        <p:nvPicPr>
          <p:cNvPr id="67" name="Picture 66" descr="lock.png"/>
          <p:cNvPicPr>
            <a:picLocks noChangeAspect="1"/>
          </p:cNvPicPr>
          <p:nvPr/>
        </p:nvPicPr>
        <p:blipFill>
          <a:blip r:embed="rId4"/>
          <a:stretch>
            <a:fillRect/>
          </a:stretch>
        </p:blipFill>
        <p:spPr>
          <a:xfrm>
            <a:off x="10274094" y="1859969"/>
            <a:ext cx="128699" cy="187198"/>
          </a:xfrm>
          <a:prstGeom prst="rect">
            <a:avLst/>
          </a:prstGeom>
        </p:spPr>
      </p:pic>
      <p:sp>
        <p:nvSpPr>
          <p:cNvPr id="68" name="TextBox 67"/>
          <p:cNvSpPr txBox="1"/>
          <p:nvPr/>
        </p:nvSpPr>
        <p:spPr>
          <a:xfrm>
            <a:off x="10441589" y="1869747"/>
            <a:ext cx="1183431" cy="186689"/>
          </a:xfrm>
          <a:prstGeom prst="rect">
            <a:avLst/>
          </a:prstGeom>
          <a:noFill/>
        </p:spPr>
        <p:txBody>
          <a:bodyPr wrap="none" lIns="0" rIns="0" tIns="0" bIns="0">
            <a:spAutoFit/>
          </a:bodyPr>
          <a:lstStyle/>
          <a:p>
            <a:r>
              <a:rPr sz="1100" b="0">
                <a:solidFill>
                  <a:srgbClr val="2E2E2E"/>
                </a:solidFill>
                <a:latin typeface="Calibri"/>
              </a:rPr>
              <a:t>US$ Mn headroom.</a:t>
            </a:r>
          </a:p>
        </p:txBody>
      </p:sp>
      <p:sp>
        <p:nvSpPr>
          <p:cNvPr id="69" name="TextBox 68"/>
          <p:cNvSpPr txBox="1"/>
          <p:nvPr/>
        </p:nvSpPr>
        <p:spPr>
          <a:xfrm>
            <a:off x="1752600" y="2404876"/>
            <a:ext cx="738137" cy="186689"/>
          </a:xfrm>
          <a:prstGeom prst="rect">
            <a:avLst/>
          </a:prstGeom>
          <a:noFill/>
        </p:spPr>
        <p:txBody>
          <a:bodyPr wrap="none" lIns="0" rIns="0" tIns="0" bIns="0">
            <a:spAutoFit/>
          </a:bodyPr>
          <a:lstStyle/>
          <a:p>
            <a:r>
              <a:rPr sz="1100" b="0">
                <a:solidFill>
                  <a:srgbClr val="2E2E2E"/>
                </a:solidFill>
                <a:latin typeface="Calibri"/>
              </a:rPr>
              <a:t>Scale base (</a:t>
            </a:r>
          </a:p>
        </p:txBody>
      </p:sp>
      <p:pic>
        <p:nvPicPr>
          <p:cNvPr id="70" name="Picture 69" descr="lock.png"/>
          <p:cNvPicPr>
            <a:picLocks noChangeAspect="1"/>
          </p:cNvPicPr>
          <p:nvPr/>
        </p:nvPicPr>
        <p:blipFill>
          <a:blip r:embed="rId4"/>
          <a:stretch>
            <a:fillRect/>
          </a:stretch>
        </p:blipFill>
        <p:spPr>
          <a:xfrm>
            <a:off x="2438789" y="2395097"/>
            <a:ext cx="128699" cy="187198"/>
          </a:xfrm>
          <a:prstGeom prst="rect">
            <a:avLst/>
          </a:prstGeom>
        </p:spPr>
      </p:pic>
      <p:sp>
        <p:nvSpPr>
          <p:cNvPr id="71" name="TextBox 70"/>
          <p:cNvSpPr txBox="1"/>
          <p:nvPr/>
        </p:nvSpPr>
        <p:spPr>
          <a:xfrm>
            <a:off x="2606285" y="2404876"/>
            <a:ext cx="1683568" cy="186689"/>
          </a:xfrm>
          <a:prstGeom prst="rect">
            <a:avLst/>
          </a:prstGeom>
          <a:noFill/>
        </p:spPr>
        <p:txBody>
          <a:bodyPr wrap="none" lIns="0" rIns="0" tIns="0" bIns="0">
            <a:spAutoFit/>
          </a:bodyPr>
          <a:lstStyle/>
          <a:p>
            <a:r>
              <a:rPr sz="1100" b="0">
                <a:solidFill>
                  <a:srgbClr val="2E2E2E"/>
                </a:solidFill>
                <a:latin typeface="Calibri"/>
              </a:rPr>
              <a:t>share), Above-market pace (</a:t>
            </a:r>
          </a:p>
        </p:txBody>
      </p:sp>
      <p:pic>
        <p:nvPicPr>
          <p:cNvPr id="72" name="Picture 71" descr="lock.png"/>
          <p:cNvPicPr>
            <a:picLocks noChangeAspect="1"/>
          </p:cNvPicPr>
          <p:nvPr/>
        </p:nvPicPr>
        <p:blipFill>
          <a:blip r:embed="rId4"/>
          <a:stretch>
            <a:fillRect/>
          </a:stretch>
        </p:blipFill>
        <p:spPr>
          <a:xfrm>
            <a:off x="4237905" y="2395097"/>
            <a:ext cx="128699" cy="187198"/>
          </a:xfrm>
          <a:prstGeom prst="rect">
            <a:avLst/>
          </a:prstGeom>
        </p:spPr>
      </p:pic>
      <p:sp>
        <p:nvSpPr>
          <p:cNvPr id="73" name="TextBox 72"/>
          <p:cNvSpPr txBox="1"/>
          <p:nvPr/>
        </p:nvSpPr>
        <p:spPr>
          <a:xfrm>
            <a:off x="4405401" y="2404876"/>
            <a:ext cx="822176" cy="186689"/>
          </a:xfrm>
          <a:prstGeom prst="rect">
            <a:avLst/>
          </a:prstGeom>
          <a:noFill/>
        </p:spPr>
        <p:txBody>
          <a:bodyPr wrap="none" lIns="0" rIns="0" tIns="0" bIns="0">
            <a:spAutoFit/>
          </a:bodyPr>
          <a:lstStyle/>
          <a:p>
            <a:r>
              <a:rPr sz="1100" b="0">
                <a:solidFill>
                  <a:srgbClr val="2E2E2E"/>
                </a:solidFill>
                <a:latin typeface="Calibri"/>
              </a:rPr>
              <a:t>), Micronized</a:t>
            </a:r>
          </a:p>
        </p:txBody>
      </p:sp>
      <p:sp>
        <p:nvSpPr>
          <p:cNvPr id="74" name="TextBox 73"/>
          <p:cNvSpPr txBox="1"/>
          <p:nvPr/>
        </p:nvSpPr>
        <p:spPr>
          <a:xfrm>
            <a:off x="1752600" y="2572516"/>
            <a:ext cx="3082205" cy="186689"/>
          </a:xfrm>
          <a:prstGeom prst="rect">
            <a:avLst/>
          </a:prstGeom>
          <a:noFill/>
        </p:spPr>
        <p:txBody>
          <a:bodyPr wrap="none" lIns="0" rIns="0" tIns="0" bIns="0">
            <a:spAutoFit/>
          </a:bodyPr>
          <a:lstStyle/>
          <a:p>
            <a:r>
              <a:rPr sz="1100" b="0">
                <a:solidFill>
                  <a:srgbClr val="2E2E2E"/>
                </a:solidFill>
                <a:latin typeface="Calibri"/>
              </a:rPr>
              <a:t>Eggshell Membrane demand, Accelerating vs history.</a:t>
            </a:r>
          </a:p>
        </p:txBody>
      </p:sp>
      <p:sp>
        <p:nvSpPr>
          <p:cNvPr id="75" name="TextBox 74"/>
          <p:cNvSpPr txBox="1"/>
          <p:nvPr/>
        </p:nvSpPr>
        <p:spPr>
          <a:xfrm>
            <a:off x="5562600" y="2488696"/>
            <a:ext cx="1113035" cy="186689"/>
          </a:xfrm>
          <a:prstGeom prst="rect">
            <a:avLst/>
          </a:prstGeom>
          <a:noFill/>
        </p:spPr>
        <p:txBody>
          <a:bodyPr wrap="none" lIns="0" rIns="0" tIns="0" bIns="0">
            <a:spAutoFit/>
          </a:bodyPr>
          <a:lstStyle/>
          <a:p>
            <a:r>
              <a:rPr sz="1100" b="0">
                <a:solidFill>
                  <a:srgbClr val="2E2E2E"/>
                </a:solidFill>
                <a:latin typeface="Calibri"/>
              </a:rPr>
              <a:t>Rising realisation (</a:t>
            </a:r>
          </a:p>
        </p:txBody>
      </p:sp>
      <p:pic>
        <p:nvPicPr>
          <p:cNvPr id="76" name="Picture 75" descr="lock.png"/>
          <p:cNvPicPr>
            <a:picLocks noChangeAspect="1"/>
          </p:cNvPicPr>
          <p:nvPr/>
        </p:nvPicPr>
        <p:blipFill>
          <a:blip r:embed="rId4"/>
          <a:stretch>
            <a:fillRect/>
          </a:stretch>
        </p:blipFill>
        <p:spPr>
          <a:xfrm>
            <a:off x="6623687" y="2478917"/>
            <a:ext cx="128699" cy="187198"/>
          </a:xfrm>
          <a:prstGeom prst="rect">
            <a:avLst/>
          </a:prstGeom>
        </p:spPr>
      </p:pic>
      <p:sp>
        <p:nvSpPr>
          <p:cNvPr id="77" name="TextBox 76"/>
          <p:cNvSpPr txBox="1"/>
          <p:nvPr/>
        </p:nvSpPr>
        <p:spPr>
          <a:xfrm>
            <a:off x="6791183" y="2488696"/>
            <a:ext cx="153689" cy="186689"/>
          </a:xfrm>
          <a:prstGeom prst="rect">
            <a:avLst/>
          </a:prstGeom>
          <a:noFill/>
        </p:spPr>
        <p:txBody>
          <a:bodyPr wrap="none" lIns="0" rIns="0" tIns="0" bIns="0">
            <a:spAutoFit/>
          </a:bodyPr>
          <a:lstStyle/>
          <a:p>
            <a:r>
              <a:rPr sz="1100" b="0">
                <a:solidFill>
                  <a:srgbClr val="2E2E2E"/>
                </a:solidFill>
                <a:latin typeface="Calibri"/>
              </a:rPr>
              <a:t>).</a:t>
            </a:r>
          </a:p>
        </p:txBody>
      </p:sp>
      <p:sp>
        <p:nvSpPr>
          <p:cNvPr id="78" name="TextBox 77"/>
          <p:cNvSpPr txBox="1"/>
          <p:nvPr/>
        </p:nvSpPr>
        <p:spPr>
          <a:xfrm>
            <a:off x="8420100" y="2404876"/>
            <a:ext cx="2271290" cy="186689"/>
          </a:xfrm>
          <a:prstGeom prst="rect">
            <a:avLst/>
          </a:prstGeom>
          <a:noFill/>
        </p:spPr>
        <p:txBody>
          <a:bodyPr wrap="none" lIns="0" rIns="0" tIns="0" bIns="0">
            <a:spAutoFit/>
          </a:bodyPr>
          <a:lstStyle/>
          <a:p>
            <a:r>
              <a:rPr sz="1100" b="0">
                <a:solidFill>
                  <a:srgbClr val="2E2E2E"/>
                </a:solidFill>
                <a:latin typeface="Calibri"/>
              </a:rPr>
              <a:t>Scale Hydrolyzed Eggshell Membrane (</a:t>
            </a:r>
          </a:p>
        </p:txBody>
      </p:sp>
      <p:pic>
        <p:nvPicPr>
          <p:cNvPr id="79" name="Picture 78" descr="lock.png"/>
          <p:cNvPicPr>
            <a:picLocks noChangeAspect="1"/>
          </p:cNvPicPr>
          <p:nvPr/>
        </p:nvPicPr>
        <p:blipFill>
          <a:blip r:embed="rId4"/>
          <a:stretch>
            <a:fillRect/>
          </a:stretch>
        </p:blipFill>
        <p:spPr>
          <a:xfrm>
            <a:off x="10639442" y="2395097"/>
            <a:ext cx="128699" cy="187198"/>
          </a:xfrm>
          <a:prstGeom prst="rect">
            <a:avLst/>
          </a:prstGeom>
        </p:spPr>
      </p:pic>
      <p:sp>
        <p:nvSpPr>
          <p:cNvPr id="80" name="TextBox 79"/>
          <p:cNvSpPr txBox="1"/>
          <p:nvPr/>
        </p:nvSpPr>
        <p:spPr>
          <a:xfrm>
            <a:off x="10806938" y="2404876"/>
            <a:ext cx="830907" cy="186689"/>
          </a:xfrm>
          <a:prstGeom prst="rect">
            <a:avLst/>
          </a:prstGeom>
          <a:noFill/>
        </p:spPr>
        <p:txBody>
          <a:bodyPr wrap="none" lIns="0" rIns="0" tIns="0" bIns="0">
            <a:spAutoFit/>
          </a:bodyPr>
          <a:lstStyle/>
          <a:p>
            <a:r>
              <a:rPr sz="1100" b="0">
                <a:solidFill>
                  <a:srgbClr val="2E2E2E"/>
                </a:solidFill>
                <a:latin typeface="Calibri"/>
              </a:rPr>
              <a:t>), Mix shift to</a:t>
            </a:r>
          </a:p>
        </p:txBody>
      </p:sp>
      <p:sp>
        <p:nvSpPr>
          <p:cNvPr id="81" name="TextBox 80"/>
          <p:cNvSpPr txBox="1"/>
          <p:nvPr/>
        </p:nvSpPr>
        <p:spPr>
          <a:xfrm>
            <a:off x="8420100" y="2572516"/>
            <a:ext cx="1905942" cy="186689"/>
          </a:xfrm>
          <a:prstGeom prst="rect">
            <a:avLst/>
          </a:prstGeom>
          <a:noFill/>
        </p:spPr>
        <p:txBody>
          <a:bodyPr wrap="none" lIns="0" rIns="0" tIns="0" bIns="0">
            <a:spAutoFit/>
          </a:bodyPr>
          <a:lstStyle/>
          <a:p>
            <a:r>
              <a:rPr sz="1100" b="0">
                <a:solidFill>
                  <a:srgbClr val="2E2E2E"/>
                </a:solidFill>
                <a:latin typeface="Calibri"/>
              </a:rPr>
              <a:t>Micronized Eggshell Membrane,</a:t>
            </a:r>
          </a:p>
        </p:txBody>
      </p:sp>
      <p:pic>
        <p:nvPicPr>
          <p:cNvPr id="82" name="Picture 81" descr="lock.png"/>
          <p:cNvPicPr>
            <a:picLocks noChangeAspect="1"/>
          </p:cNvPicPr>
          <p:nvPr/>
        </p:nvPicPr>
        <p:blipFill>
          <a:blip r:embed="rId4"/>
          <a:stretch>
            <a:fillRect/>
          </a:stretch>
        </p:blipFill>
        <p:spPr>
          <a:xfrm>
            <a:off x="10274094" y="2562737"/>
            <a:ext cx="128699" cy="187198"/>
          </a:xfrm>
          <a:prstGeom prst="rect">
            <a:avLst/>
          </a:prstGeom>
        </p:spPr>
      </p:pic>
      <p:sp>
        <p:nvSpPr>
          <p:cNvPr id="83" name="TextBox 82"/>
          <p:cNvSpPr txBox="1"/>
          <p:nvPr/>
        </p:nvSpPr>
        <p:spPr>
          <a:xfrm>
            <a:off x="10441589" y="2572516"/>
            <a:ext cx="1183431" cy="186689"/>
          </a:xfrm>
          <a:prstGeom prst="rect">
            <a:avLst/>
          </a:prstGeom>
          <a:noFill/>
        </p:spPr>
        <p:txBody>
          <a:bodyPr wrap="none" lIns="0" rIns="0" tIns="0" bIns="0">
            <a:spAutoFit/>
          </a:bodyPr>
          <a:lstStyle/>
          <a:p>
            <a:r>
              <a:rPr sz="1100" b="0">
                <a:solidFill>
                  <a:srgbClr val="2E2E2E"/>
                </a:solidFill>
                <a:latin typeface="Calibri"/>
              </a:rPr>
              <a:t>US$ Mn headroom.</a:t>
            </a:r>
          </a:p>
        </p:txBody>
      </p:sp>
      <p:sp>
        <p:nvSpPr>
          <p:cNvPr id="84" name="TextBox 83"/>
          <p:cNvSpPr txBox="1"/>
          <p:nvPr/>
        </p:nvSpPr>
        <p:spPr>
          <a:xfrm>
            <a:off x="1752600" y="3107643"/>
            <a:ext cx="738137" cy="186689"/>
          </a:xfrm>
          <a:prstGeom prst="rect">
            <a:avLst/>
          </a:prstGeom>
          <a:noFill/>
        </p:spPr>
        <p:txBody>
          <a:bodyPr wrap="none" lIns="0" rIns="0" tIns="0" bIns="0">
            <a:spAutoFit/>
          </a:bodyPr>
          <a:lstStyle/>
          <a:p>
            <a:r>
              <a:rPr sz="1100" b="0">
                <a:solidFill>
                  <a:srgbClr val="2E2E2E"/>
                </a:solidFill>
                <a:latin typeface="Calibri"/>
              </a:rPr>
              <a:t>Scale base (</a:t>
            </a:r>
          </a:p>
        </p:txBody>
      </p:sp>
      <p:pic>
        <p:nvPicPr>
          <p:cNvPr id="85" name="Picture 84" descr="lock.png"/>
          <p:cNvPicPr>
            <a:picLocks noChangeAspect="1"/>
          </p:cNvPicPr>
          <p:nvPr/>
        </p:nvPicPr>
        <p:blipFill>
          <a:blip r:embed="rId4"/>
          <a:stretch>
            <a:fillRect/>
          </a:stretch>
        </p:blipFill>
        <p:spPr>
          <a:xfrm>
            <a:off x="2438789" y="3097864"/>
            <a:ext cx="128699" cy="187198"/>
          </a:xfrm>
          <a:prstGeom prst="rect">
            <a:avLst/>
          </a:prstGeom>
        </p:spPr>
      </p:pic>
      <p:sp>
        <p:nvSpPr>
          <p:cNvPr id="86" name="TextBox 85"/>
          <p:cNvSpPr txBox="1"/>
          <p:nvPr/>
        </p:nvSpPr>
        <p:spPr>
          <a:xfrm>
            <a:off x="2606285" y="3107643"/>
            <a:ext cx="1683568" cy="186689"/>
          </a:xfrm>
          <a:prstGeom prst="rect">
            <a:avLst/>
          </a:prstGeom>
          <a:noFill/>
        </p:spPr>
        <p:txBody>
          <a:bodyPr wrap="none" lIns="0" rIns="0" tIns="0" bIns="0">
            <a:spAutoFit/>
          </a:bodyPr>
          <a:lstStyle/>
          <a:p>
            <a:r>
              <a:rPr sz="1100" b="0">
                <a:solidFill>
                  <a:srgbClr val="2E2E2E"/>
                </a:solidFill>
                <a:latin typeface="Calibri"/>
              </a:rPr>
              <a:t>share), Above-market pace (</a:t>
            </a:r>
          </a:p>
        </p:txBody>
      </p:sp>
      <p:pic>
        <p:nvPicPr>
          <p:cNvPr id="87" name="Picture 86" descr="lock.png"/>
          <p:cNvPicPr>
            <a:picLocks noChangeAspect="1"/>
          </p:cNvPicPr>
          <p:nvPr/>
        </p:nvPicPr>
        <p:blipFill>
          <a:blip r:embed="rId4"/>
          <a:stretch>
            <a:fillRect/>
          </a:stretch>
        </p:blipFill>
        <p:spPr>
          <a:xfrm>
            <a:off x="4237905" y="3097864"/>
            <a:ext cx="128699" cy="187198"/>
          </a:xfrm>
          <a:prstGeom prst="rect">
            <a:avLst/>
          </a:prstGeom>
        </p:spPr>
      </p:pic>
      <p:sp>
        <p:nvSpPr>
          <p:cNvPr id="88" name="TextBox 87"/>
          <p:cNvSpPr txBox="1"/>
          <p:nvPr/>
        </p:nvSpPr>
        <p:spPr>
          <a:xfrm>
            <a:off x="4405401" y="3107643"/>
            <a:ext cx="822176" cy="186689"/>
          </a:xfrm>
          <a:prstGeom prst="rect">
            <a:avLst/>
          </a:prstGeom>
          <a:noFill/>
        </p:spPr>
        <p:txBody>
          <a:bodyPr wrap="none" lIns="0" rIns="0" tIns="0" bIns="0">
            <a:spAutoFit/>
          </a:bodyPr>
          <a:lstStyle/>
          <a:p>
            <a:r>
              <a:rPr sz="1100" b="0">
                <a:solidFill>
                  <a:srgbClr val="2E2E2E"/>
                </a:solidFill>
                <a:latin typeface="Calibri"/>
              </a:rPr>
              <a:t>), Micronized</a:t>
            </a:r>
          </a:p>
        </p:txBody>
      </p:sp>
      <p:sp>
        <p:nvSpPr>
          <p:cNvPr id="89" name="TextBox 88"/>
          <p:cNvSpPr txBox="1"/>
          <p:nvPr/>
        </p:nvSpPr>
        <p:spPr>
          <a:xfrm>
            <a:off x="1752600" y="3275283"/>
            <a:ext cx="3082205" cy="186689"/>
          </a:xfrm>
          <a:prstGeom prst="rect">
            <a:avLst/>
          </a:prstGeom>
          <a:noFill/>
        </p:spPr>
        <p:txBody>
          <a:bodyPr wrap="none" lIns="0" rIns="0" tIns="0" bIns="0">
            <a:spAutoFit/>
          </a:bodyPr>
          <a:lstStyle/>
          <a:p>
            <a:r>
              <a:rPr sz="1100" b="0">
                <a:solidFill>
                  <a:srgbClr val="2E2E2E"/>
                </a:solidFill>
                <a:latin typeface="Calibri"/>
              </a:rPr>
              <a:t>Eggshell Membrane demand, Accelerating vs history.</a:t>
            </a:r>
          </a:p>
        </p:txBody>
      </p:sp>
      <p:sp>
        <p:nvSpPr>
          <p:cNvPr id="90" name="TextBox 89"/>
          <p:cNvSpPr txBox="1"/>
          <p:nvPr/>
        </p:nvSpPr>
        <p:spPr>
          <a:xfrm>
            <a:off x="8420100" y="3107643"/>
            <a:ext cx="2271290" cy="186689"/>
          </a:xfrm>
          <a:prstGeom prst="rect">
            <a:avLst/>
          </a:prstGeom>
          <a:noFill/>
        </p:spPr>
        <p:txBody>
          <a:bodyPr wrap="none" lIns="0" rIns="0" tIns="0" bIns="0">
            <a:spAutoFit/>
          </a:bodyPr>
          <a:lstStyle/>
          <a:p>
            <a:r>
              <a:rPr sz="1100" b="0">
                <a:solidFill>
                  <a:srgbClr val="2E2E2E"/>
                </a:solidFill>
                <a:latin typeface="Calibri"/>
              </a:rPr>
              <a:t>Scale Hydrolyzed Eggshell Membrane (</a:t>
            </a:r>
          </a:p>
        </p:txBody>
      </p:sp>
      <p:pic>
        <p:nvPicPr>
          <p:cNvPr id="91" name="Picture 90" descr="lock.png"/>
          <p:cNvPicPr>
            <a:picLocks noChangeAspect="1"/>
          </p:cNvPicPr>
          <p:nvPr/>
        </p:nvPicPr>
        <p:blipFill>
          <a:blip r:embed="rId4"/>
          <a:stretch>
            <a:fillRect/>
          </a:stretch>
        </p:blipFill>
        <p:spPr>
          <a:xfrm>
            <a:off x="10639442" y="3097864"/>
            <a:ext cx="128699" cy="187198"/>
          </a:xfrm>
          <a:prstGeom prst="rect">
            <a:avLst/>
          </a:prstGeom>
        </p:spPr>
      </p:pic>
      <p:sp>
        <p:nvSpPr>
          <p:cNvPr id="92" name="TextBox 91"/>
          <p:cNvSpPr txBox="1"/>
          <p:nvPr/>
        </p:nvSpPr>
        <p:spPr>
          <a:xfrm>
            <a:off x="10806938" y="3107643"/>
            <a:ext cx="153416" cy="186689"/>
          </a:xfrm>
          <a:prstGeom prst="rect">
            <a:avLst/>
          </a:prstGeom>
          <a:noFill/>
        </p:spPr>
        <p:txBody>
          <a:bodyPr wrap="none" lIns="0" rIns="0" tIns="0" bIns="0">
            <a:spAutoFit/>
          </a:bodyPr>
          <a:lstStyle/>
          <a:p>
            <a:r>
              <a:rPr sz="1100" b="0">
                <a:solidFill>
                  <a:srgbClr val="2E2E2E"/>
                </a:solidFill>
                <a:latin typeface="Calibri"/>
              </a:rPr>
              <a:t>),</a:t>
            </a:r>
          </a:p>
        </p:txBody>
      </p:sp>
      <p:pic>
        <p:nvPicPr>
          <p:cNvPr id="93" name="Picture 92" descr="lock.png"/>
          <p:cNvPicPr>
            <a:picLocks noChangeAspect="1"/>
          </p:cNvPicPr>
          <p:nvPr/>
        </p:nvPicPr>
        <p:blipFill>
          <a:blip r:embed="rId4"/>
          <a:stretch>
            <a:fillRect/>
          </a:stretch>
        </p:blipFill>
        <p:spPr>
          <a:xfrm>
            <a:off x="10908406" y="3097864"/>
            <a:ext cx="128699" cy="187198"/>
          </a:xfrm>
          <a:prstGeom prst="rect">
            <a:avLst/>
          </a:prstGeom>
        </p:spPr>
      </p:pic>
      <p:sp>
        <p:nvSpPr>
          <p:cNvPr id="94" name="TextBox 93"/>
          <p:cNvSpPr txBox="1"/>
          <p:nvPr/>
        </p:nvSpPr>
        <p:spPr>
          <a:xfrm>
            <a:off x="11075902" y="3107643"/>
            <a:ext cx="525586" cy="186689"/>
          </a:xfrm>
          <a:prstGeom prst="rect">
            <a:avLst/>
          </a:prstGeom>
          <a:noFill/>
        </p:spPr>
        <p:txBody>
          <a:bodyPr wrap="none" lIns="0" rIns="0" tIns="0" bIns="0">
            <a:spAutoFit/>
          </a:bodyPr>
          <a:lstStyle/>
          <a:p>
            <a:r>
              <a:rPr sz="1100" b="0">
                <a:solidFill>
                  <a:srgbClr val="2E2E2E"/>
                </a:solidFill>
                <a:latin typeface="Calibri"/>
              </a:rPr>
              <a:t>US$ Mn</a:t>
            </a:r>
          </a:p>
        </p:txBody>
      </p:sp>
      <p:sp>
        <p:nvSpPr>
          <p:cNvPr id="95" name="TextBox 94"/>
          <p:cNvSpPr txBox="1"/>
          <p:nvPr/>
        </p:nvSpPr>
        <p:spPr>
          <a:xfrm>
            <a:off x="8420100" y="3275283"/>
            <a:ext cx="702394" cy="186689"/>
          </a:xfrm>
          <a:prstGeom prst="rect">
            <a:avLst/>
          </a:prstGeom>
          <a:noFill/>
        </p:spPr>
        <p:txBody>
          <a:bodyPr wrap="none" lIns="0" rIns="0" tIns="0" bIns="0">
            <a:spAutoFit/>
          </a:bodyPr>
          <a:lstStyle/>
          <a:p>
            <a:r>
              <a:rPr sz="1100" b="0">
                <a:solidFill>
                  <a:srgbClr val="2E2E2E"/>
                </a:solidFill>
                <a:latin typeface="Calibri"/>
              </a:rPr>
              <a:t>headroom.</a:t>
            </a:r>
          </a:p>
        </p:txBody>
      </p:sp>
      <p:sp>
        <p:nvSpPr>
          <p:cNvPr id="96" name="TextBox 95"/>
          <p:cNvSpPr txBox="1"/>
          <p:nvPr/>
        </p:nvSpPr>
        <p:spPr>
          <a:xfrm>
            <a:off x="1752600" y="3714578"/>
            <a:ext cx="1134318" cy="186689"/>
          </a:xfrm>
          <a:prstGeom prst="rect">
            <a:avLst/>
          </a:prstGeom>
          <a:noFill/>
        </p:spPr>
        <p:txBody>
          <a:bodyPr wrap="none" lIns="0" rIns="0" tIns="0" bIns="0">
            <a:spAutoFit/>
          </a:bodyPr>
          <a:lstStyle/>
          <a:p>
            <a:r>
              <a:rPr sz="1100" b="0">
                <a:solidFill>
                  <a:srgbClr val="2E2E2E"/>
                </a:solidFill>
                <a:latin typeface="Calibri"/>
              </a:rPr>
              <a:t>Installed demand (</a:t>
            </a:r>
          </a:p>
        </p:txBody>
      </p:sp>
      <p:pic>
        <p:nvPicPr>
          <p:cNvPr id="97" name="Picture 96" descr="lock.png"/>
          <p:cNvPicPr>
            <a:picLocks noChangeAspect="1"/>
          </p:cNvPicPr>
          <p:nvPr/>
        </p:nvPicPr>
        <p:blipFill>
          <a:blip r:embed="rId4"/>
          <a:stretch>
            <a:fillRect/>
          </a:stretch>
        </p:blipFill>
        <p:spPr>
          <a:xfrm>
            <a:off x="2834969" y="3704799"/>
            <a:ext cx="128699" cy="187198"/>
          </a:xfrm>
          <a:prstGeom prst="rect">
            <a:avLst/>
          </a:prstGeom>
        </p:spPr>
      </p:pic>
      <p:sp>
        <p:nvSpPr>
          <p:cNvPr id="98" name="TextBox 97"/>
          <p:cNvSpPr txBox="1"/>
          <p:nvPr/>
        </p:nvSpPr>
        <p:spPr>
          <a:xfrm>
            <a:off x="3002465" y="3714578"/>
            <a:ext cx="2299104" cy="186689"/>
          </a:xfrm>
          <a:prstGeom prst="rect">
            <a:avLst/>
          </a:prstGeom>
          <a:noFill/>
        </p:spPr>
        <p:txBody>
          <a:bodyPr wrap="none" lIns="0" rIns="0" tIns="0" bIns="0">
            <a:spAutoFit/>
          </a:bodyPr>
          <a:lstStyle/>
          <a:p>
            <a:r>
              <a:rPr sz="1100" b="0">
                <a:solidFill>
                  <a:srgbClr val="2E2E2E"/>
                </a:solidFill>
                <a:latin typeface="Calibri"/>
              </a:rPr>
              <a:t>CAGR), Micronized Eggshell Membrane</a:t>
            </a:r>
          </a:p>
        </p:txBody>
      </p:sp>
      <p:sp>
        <p:nvSpPr>
          <p:cNvPr id="99" name="TextBox 98"/>
          <p:cNvSpPr txBox="1"/>
          <p:nvPr/>
        </p:nvSpPr>
        <p:spPr>
          <a:xfrm>
            <a:off x="1752600" y="3882218"/>
            <a:ext cx="1924496" cy="186689"/>
          </a:xfrm>
          <a:prstGeom prst="rect">
            <a:avLst/>
          </a:prstGeom>
          <a:noFill/>
        </p:spPr>
        <p:txBody>
          <a:bodyPr wrap="none" lIns="0" rIns="0" tIns="0" bIns="0">
            <a:spAutoFit/>
          </a:bodyPr>
          <a:lstStyle/>
          <a:p>
            <a:r>
              <a:rPr sz="1100" b="0">
                <a:solidFill>
                  <a:srgbClr val="2E2E2E"/>
                </a:solidFill>
                <a:latin typeface="Calibri"/>
              </a:rPr>
              <a:t>demand, Accelerating vs history.</a:t>
            </a:r>
          </a:p>
        </p:txBody>
      </p:sp>
      <p:sp>
        <p:nvSpPr>
          <p:cNvPr id="100" name="TextBox 99"/>
          <p:cNvSpPr txBox="1"/>
          <p:nvPr/>
        </p:nvSpPr>
        <p:spPr>
          <a:xfrm>
            <a:off x="5562600" y="3798398"/>
            <a:ext cx="1287115" cy="186689"/>
          </a:xfrm>
          <a:prstGeom prst="rect">
            <a:avLst/>
          </a:prstGeom>
          <a:noFill/>
        </p:spPr>
        <p:txBody>
          <a:bodyPr wrap="none" lIns="0" rIns="0" tIns="0" bIns="0">
            <a:spAutoFit/>
          </a:bodyPr>
          <a:lstStyle/>
          <a:p>
            <a:r>
              <a:rPr sz="1100" b="0">
                <a:solidFill>
                  <a:srgbClr val="2E2E2E"/>
                </a:solidFill>
                <a:latin typeface="Calibri"/>
              </a:rPr>
              <a:t>Trails market pace by</a:t>
            </a:r>
          </a:p>
        </p:txBody>
      </p:sp>
      <p:pic>
        <p:nvPicPr>
          <p:cNvPr id="101" name="Picture 100" descr="lock.png"/>
          <p:cNvPicPr>
            <a:picLocks noChangeAspect="1"/>
          </p:cNvPicPr>
          <p:nvPr/>
        </p:nvPicPr>
        <p:blipFill>
          <a:blip r:embed="rId4"/>
          <a:stretch>
            <a:fillRect/>
          </a:stretch>
        </p:blipFill>
        <p:spPr>
          <a:xfrm>
            <a:off x="6797766" y="3788619"/>
            <a:ext cx="128699" cy="187198"/>
          </a:xfrm>
          <a:prstGeom prst="rect">
            <a:avLst/>
          </a:prstGeom>
        </p:spPr>
      </p:pic>
      <p:sp>
        <p:nvSpPr>
          <p:cNvPr id="102" name="TextBox 101"/>
          <p:cNvSpPr txBox="1"/>
          <p:nvPr/>
        </p:nvSpPr>
        <p:spPr>
          <a:xfrm>
            <a:off x="6965262" y="3798398"/>
            <a:ext cx="323949" cy="186689"/>
          </a:xfrm>
          <a:prstGeom prst="rect">
            <a:avLst/>
          </a:prstGeom>
          <a:noFill/>
        </p:spPr>
        <p:txBody>
          <a:bodyPr wrap="none" lIns="0" rIns="0" tIns="0" bIns="0">
            <a:spAutoFit/>
          </a:bodyPr>
          <a:lstStyle/>
          <a:p>
            <a:r>
              <a:rPr sz="1100" b="0">
                <a:solidFill>
                  <a:srgbClr val="2E2E2E"/>
                </a:solidFill>
                <a:latin typeface="Calibri"/>
              </a:rPr>
              <a:t>BPS.</a:t>
            </a:r>
          </a:p>
        </p:txBody>
      </p:sp>
      <p:sp>
        <p:nvSpPr>
          <p:cNvPr id="103" name="TextBox 102"/>
          <p:cNvSpPr txBox="1"/>
          <p:nvPr/>
        </p:nvSpPr>
        <p:spPr>
          <a:xfrm>
            <a:off x="8420100" y="3714578"/>
            <a:ext cx="2271290" cy="186689"/>
          </a:xfrm>
          <a:prstGeom prst="rect">
            <a:avLst/>
          </a:prstGeom>
          <a:noFill/>
        </p:spPr>
        <p:txBody>
          <a:bodyPr wrap="none" lIns="0" rIns="0" tIns="0" bIns="0">
            <a:spAutoFit/>
          </a:bodyPr>
          <a:lstStyle/>
          <a:p>
            <a:r>
              <a:rPr sz="1100" b="0">
                <a:solidFill>
                  <a:srgbClr val="2E2E2E"/>
                </a:solidFill>
                <a:latin typeface="Calibri"/>
              </a:rPr>
              <a:t>Scale Hydrolyzed Eggshell Membrane (</a:t>
            </a:r>
          </a:p>
        </p:txBody>
      </p:sp>
      <p:pic>
        <p:nvPicPr>
          <p:cNvPr id="104" name="Picture 103" descr="lock.png"/>
          <p:cNvPicPr>
            <a:picLocks noChangeAspect="1"/>
          </p:cNvPicPr>
          <p:nvPr/>
        </p:nvPicPr>
        <p:blipFill>
          <a:blip r:embed="rId4"/>
          <a:stretch>
            <a:fillRect/>
          </a:stretch>
        </p:blipFill>
        <p:spPr>
          <a:xfrm>
            <a:off x="10639442" y="3704799"/>
            <a:ext cx="128699" cy="187198"/>
          </a:xfrm>
          <a:prstGeom prst="rect">
            <a:avLst/>
          </a:prstGeom>
        </p:spPr>
      </p:pic>
      <p:sp>
        <p:nvSpPr>
          <p:cNvPr id="105" name="TextBox 104"/>
          <p:cNvSpPr txBox="1"/>
          <p:nvPr/>
        </p:nvSpPr>
        <p:spPr>
          <a:xfrm>
            <a:off x="10806938" y="3714578"/>
            <a:ext cx="153416" cy="186689"/>
          </a:xfrm>
          <a:prstGeom prst="rect">
            <a:avLst/>
          </a:prstGeom>
          <a:noFill/>
        </p:spPr>
        <p:txBody>
          <a:bodyPr wrap="none" lIns="0" rIns="0" tIns="0" bIns="0">
            <a:spAutoFit/>
          </a:bodyPr>
          <a:lstStyle/>
          <a:p>
            <a:r>
              <a:rPr sz="1100" b="0">
                <a:solidFill>
                  <a:srgbClr val="2E2E2E"/>
                </a:solidFill>
                <a:latin typeface="Calibri"/>
              </a:rPr>
              <a:t>),</a:t>
            </a:r>
          </a:p>
        </p:txBody>
      </p:sp>
      <p:pic>
        <p:nvPicPr>
          <p:cNvPr id="106" name="Picture 105" descr="lock.png"/>
          <p:cNvPicPr>
            <a:picLocks noChangeAspect="1"/>
          </p:cNvPicPr>
          <p:nvPr/>
        </p:nvPicPr>
        <p:blipFill>
          <a:blip r:embed="rId4"/>
          <a:stretch>
            <a:fillRect/>
          </a:stretch>
        </p:blipFill>
        <p:spPr>
          <a:xfrm>
            <a:off x="10908406" y="3704799"/>
            <a:ext cx="128699" cy="187198"/>
          </a:xfrm>
          <a:prstGeom prst="rect">
            <a:avLst/>
          </a:prstGeom>
        </p:spPr>
      </p:pic>
      <p:sp>
        <p:nvSpPr>
          <p:cNvPr id="107" name="TextBox 106"/>
          <p:cNvSpPr txBox="1"/>
          <p:nvPr/>
        </p:nvSpPr>
        <p:spPr>
          <a:xfrm>
            <a:off x="11075902" y="3714578"/>
            <a:ext cx="525586" cy="186689"/>
          </a:xfrm>
          <a:prstGeom prst="rect">
            <a:avLst/>
          </a:prstGeom>
          <a:noFill/>
        </p:spPr>
        <p:txBody>
          <a:bodyPr wrap="none" lIns="0" rIns="0" tIns="0" bIns="0">
            <a:spAutoFit/>
          </a:bodyPr>
          <a:lstStyle/>
          <a:p>
            <a:r>
              <a:rPr sz="1100" b="0">
                <a:solidFill>
                  <a:srgbClr val="2E2E2E"/>
                </a:solidFill>
                <a:latin typeface="Calibri"/>
              </a:rPr>
              <a:t>US$ Mn</a:t>
            </a:r>
          </a:p>
        </p:txBody>
      </p:sp>
      <p:sp>
        <p:nvSpPr>
          <p:cNvPr id="108" name="TextBox 107"/>
          <p:cNvSpPr txBox="1"/>
          <p:nvPr/>
        </p:nvSpPr>
        <p:spPr>
          <a:xfrm>
            <a:off x="8420100" y="3882218"/>
            <a:ext cx="702394" cy="186689"/>
          </a:xfrm>
          <a:prstGeom prst="rect">
            <a:avLst/>
          </a:prstGeom>
          <a:noFill/>
        </p:spPr>
        <p:txBody>
          <a:bodyPr wrap="none" lIns="0" rIns="0" tIns="0" bIns="0">
            <a:spAutoFit/>
          </a:bodyPr>
          <a:lstStyle/>
          <a:p>
            <a:r>
              <a:rPr sz="1100" b="0">
                <a:solidFill>
                  <a:srgbClr val="2E2E2E"/>
                </a:solidFill>
                <a:latin typeface="Calibri"/>
              </a:rPr>
              <a:t>headroom.</a:t>
            </a:r>
          </a:p>
        </p:txBody>
      </p:sp>
      <p:sp>
        <p:nvSpPr>
          <p:cNvPr id="109" name="TextBox 108"/>
          <p:cNvSpPr txBox="1"/>
          <p:nvPr/>
        </p:nvSpPr>
        <p:spPr>
          <a:xfrm>
            <a:off x="1752600" y="4225682"/>
            <a:ext cx="1261467" cy="186689"/>
          </a:xfrm>
          <a:prstGeom prst="rect">
            <a:avLst/>
          </a:prstGeom>
          <a:noFill/>
        </p:spPr>
        <p:txBody>
          <a:bodyPr wrap="none" lIns="0" rIns="0" tIns="0" bIns="0">
            <a:spAutoFit/>
          </a:bodyPr>
          <a:lstStyle/>
          <a:p>
            <a:r>
              <a:rPr sz="1100" b="0">
                <a:solidFill>
                  <a:srgbClr val="2E2E2E"/>
                </a:solidFill>
                <a:latin typeface="Calibri"/>
              </a:rPr>
              <a:t>Above-market pace (</a:t>
            </a:r>
          </a:p>
        </p:txBody>
      </p:sp>
      <p:pic>
        <p:nvPicPr>
          <p:cNvPr id="110" name="Picture 109" descr="lock.png"/>
          <p:cNvPicPr>
            <a:picLocks noChangeAspect="1"/>
          </p:cNvPicPr>
          <p:nvPr/>
        </p:nvPicPr>
        <p:blipFill>
          <a:blip r:embed="rId4"/>
          <a:stretch>
            <a:fillRect/>
          </a:stretch>
        </p:blipFill>
        <p:spPr>
          <a:xfrm>
            <a:off x="2962118" y="4215903"/>
            <a:ext cx="128699" cy="187198"/>
          </a:xfrm>
          <a:prstGeom prst="rect">
            <a:avLst/>
          </a:prstGeom>
        </p:spPr>
      </p:pic>
      <p:sp>
        <p:nvSpPr>
          <p:cNvPr id="111" name="TextBox 110"/>
          <p:cNvSpPr txBox="1"/>
          <p:nvPr/>
        </p:nvSpPr>
        <p:spPr>
          <a:xfrm>
            <a:off x="3129614" y="4225682"/>
            <a:ext cx="1979885" cy="186689"/>
          </a:xfrm>
          <a:prstGeom prst="rect">
            <a:avLst/>
          </a:prstGeom>
          <a:noFill/>
        </p:spPr>
        <p:txBody>
          <a:bodyPr wrap="none" lIns="0" rIns="0" tIns="0" bIns="0">
            <a:spAutoFit/>
          </a:bodyPr>
          <a:lstStyle/>
          <a:p>
            <a:r>
              <a:rPr sz="1100" b="0">
                <a:solidFill>
                  <a:srgbClr val="2E2E2E"/>
                </a:solidFill>
                <a:latin typeface="Calibri"/>
              </a:rPr>
              <a:t>), Micronized Eggshell Membrane</a:t>
            </a:r>
          </a:p>
        </p:txBody>
      </p:sp>
      <p:sp>
        <p:nvSpPr>
          <p:cNvPr id="112" name="TextBox 111"/>
          <p:cNvSpPr txBox="1"/>
          <p:nvPr/>
        </p:nvSpPr>
        <p:spPr>
          <a:xfrm>
            <a:off x="1752600" y="4393322"/>
            <a:ext cx="1924496" cy="186689"/>
          </a:xfrm>
          <a:prstGeom prst="rect">
            <a:avLst/>
          </a:prstGeom>
          <a:noFill/>
        </p:spPr>
        <p:txBody>
          <a:bodyPr wrap="none" lIns="0" rIns="0" tIns="0" bIns="0">
            <a:spAutoFit/>
          </a:bodyPr>
          <a:lstStyle/>
          <a:p>
            <a:r>
              <a:rPr sz="1100" b="0">
                <a:solidFill>
                  <a:srgbClr val="2E2E2E"/>
                </a:solidFill>
                <a:latin typeface="Calibri"/>
              </a:rPr>
              <a:t>demand, Accelerating vs history.</a:t>
            </a:r>
          </a:p>
        </p:txBody>
      </p:sp>
      <p:sp>
        <p:nvSpPr>
          <p:cNvPr id="113" name="TextBox 112"/>
          <p:cNvSpPr txBox="1"/>
          <p:nvPr/>
        </p:nvSpPr>
        <p:spPr>
          <a:xfrm>
            <a:off x="5562600" y="4309502"/>
            <a:ext cx="1113035" cy="186689"/>
          </a:xfrm>
          <a:prstGeom prst="rect">
            <a:avLst/>
          </a:prstGeom>
          <a:noFill/>
        </p:spPr>
        <p:txBody>
          <a:bodyPr wrap="none" lIns="0" rIns="0" tIns="0" bIns="0">
            <a:spAutoFit/>
          </a:bodyPr>
          <a:lstStyle/>
          <a:p>
            <a:r>
              <a:rPr sz="1100" b="0">
                <a:solidFill>
                  <a:srgbClr val="2E2E2E"/>
                </a:solidFill>
                <a:latin typeface="Calibri"/>
              </a:rPr>
              <a:t>Rising realisation (</a:t>
            </a:r>
          </a:p>
        </p:txBody>
      </p:sp>
      <p:pic>
        <p:nvPicPr>
          <p:cNvPr id="114" name="Picture 113" descr="lock.png"/>
          <p:cNvPicPr>
            <a:picLocks noChangeAspect="1"/>
          </p:cNvPicPr>
          <p:nvPr/>
        </p:nvPicPr>
        <p:blipFill>
          <a:blip r:embed="rId4"/>
          <a:stretch>
            <a:fillRect/>
          </a:stretch>
        </p:blipFill>
        <p:spPr>
          <a:xfrm>
            <a:off x="6623687" y="4299723"/>
            <a:ext cx="128699" cy="187198"/>
          </a:xfrm>
          <a:prstGeom prst="rect">
            <a:avLst/>
          </a:prstGeom>
        </p:spPr>
      </p:pic>
      <p:sp>
        <p:nvSpPr>
          <p:cNvPr id="115" name="TextBox 114"/>
          <p:cNvSpPr txBox="1"/>
          <p:nvPr/>
        </p:nvSpPr>
        <p:spPr>
          <a:xfrm>
            <a:off x="6791183" y="4309502"/>
            <a:ext cx="153689" cy="186689"/>
          </a:xfrm>
          <a:prstGeom prst="rect">
            <a:avLst/>
          </a:prstGeom>
          <a:noFill/>
        </p:spPr>
        <p:txBody>
          <a:bodyPr wrap="none" lIns="0" rIns="0" tIns="0" bIns="0">
            <a:spAutoFit/>
          </a:bodyPr>
          <a:lstStyle/>
          <a:p>
            <a:r>
              <a:rPr sz="1100" b="0">
                <a:solidFill>
                  <a:srgbClr val="2E2E2E"/>
                </a:solidFill>
                <a:latin typeface="Calibri"/>
              </a:rPr>
              <a:t>).</a:t>
            </a:r>
          </a:p>
        </p:txBody>
      </p:sp>
      <p:sp>
        <p:nvSpPr>
          <p:cNvPr id="116" name="TextBox 115"/>
          <p:cNvSpPr txBox="1"/>
          <p:nvPr/>
        </p:nvSpPr>
        <p:spPr>
          <a:xfrm>
            <a:off x="8420100" y="4225682"/>
            <a:ext cx="2271290" cy="186689"/>
          </a:xfrm>
          <a:prstGeom prst="rect">
            <a:avLst/>
          </a:prstGeom>
          <a:noFill/>
        </p:spPr>
        <p:txBody>
          <a:bodyPr wrap="none" lIns="0" rIns="0" tIns="0" bIns="0">
            <a:spAutoFit/>
          </a:bodyPr>
          <a:lstStyle/>
          <a:p>
            <a:r>
              <a:rPr sz="1100" b="0">
                <a:solidFill>
                  <a:srgbClr val="2E2E2E"/>
                </a:solidFill>
                <a:latin typeface="Calibri"/>
              </a:rPr>
              <a:t>Scale Hydrolyzed Eggshell Membrane (</a:t>
            </a:r>
          </a:p>
        </p:txBody>
      </p:sp>
      <p:pic>
        <p:nvPicPr>
          <p:cNvPr id="117" name="Picture 116" descr="lock.png"/>
          <p:cNvPicPr>
            <a:picLocks noChangeAspect="1"/>
          </p:cNvPicPr>
          <p:nvPr/>
        </p:nvPicPr>
        <p:blipFill>
          <a:blip r:embed="rId4"/>
          <a:stretch>
            <a:fillRect/>
          </a:stretch>
        </p:blipFill>
        <p:spPr>
          <a:xfrm>
            <a:off x="10639442" y="4215903"/>
            <a:ext cx="128699" cy="187198"/>
          </a:xfrm>
          <a:prstGeom prst="rect">
            <a:avLst/>
          </a:prstGeom>
        </p:spPr>
      </p:pic>
      <p:sp>
        <p:nvSpPr>
          <p:cNvPr id="118" name="TextBox 117"/>
          <p:cNvSpPr txBox="1"/>
          <p:nvPr/>
        </p:nvSpPr>
        <p:spPr>
          <a:xfrm>
            <a:off x="10806938" y="4225682"/>
            <a:ext cx="153416" cy="186689"/>
          </a:xfrm>
          <a:prstGeom prst="rect">
            <a:avLst/>
          </a:prstGeom>
          <a:noFill/>
        </p:spPr>
        <p:txBody>
          <a:bodyPr wrap="none" lIns="0" rIns="0" tIns="0" bIns="0">
            <a:spAutoFit/>
          </a:bodyPr>
          <a:lstStyle/>
          <a:p>
            <a:r>
              <a:rPr sz="1100" b="0">
                <a:solidFill>
                  <a:srgbClr val="2E2E2E"/>
                </a:solidFill>
                <a:latin typeface="Calibri"/>
              </a:rPr>
              <a:t>),</a:t>
            </a:r>
          </a:p>
        </p:txBody>
      </p:sp>
      <p:pic>
        <p:nvPicPr>
          <p:cNvPr id="119" name="Picture 118" descr="lock.png"/>
          <p:cNvPicPr>
            <a:picLocks noChangeAspect="1"/>
          </p:cNvPicPr>
          <p:nvPr/>
        </p:nvPicPr>
        <p:blipFill>
          <a:blip r:embed="rId4"/>
          <a:stretch>
            <a:fillRect/>
          </a:stretch>
        </p:blipFill>
        <p:spPr>
          <a:xfrm>
            <a:off x="10908406" y="4215903"/>
            <a:ext cx="128699" cy="187198"/>
          </a:xfrm>
          <a:prstGeom prst="rect">
            <a:avLst/>
          </a:prstGeom>
        </p:spPr>
      </p:pic>
      <p:sp>
        <p:nvSpPr>
          <p:cNvPr id="120" name="TextBox 119"/>
          <p:cNvSpPr txBox="1"/>
          <p:nvPr/>
        </p:nvSpPr>
        <p:spPr>
          <a:xfrm>
            <a:off x="11075902" y="4225682"/>
            <a:ext cx="525586" cy="186689"/>
          </a:xfrm>
          <a:prstGeom prst="rect">
            <a:avLst/>
          </a:prstGeom>
          <a:noFill/>
        </p:spPr>
        <p:txBody>
          <a:bodyPr wrap="none" lIns="0" rIns="0" tIns="0" bIns="0">
            <a:spAutoFit/>
          </a:bodyPr>
          <a:lstStyle/>
          <a:p>
            <a:r>
              <a:rPr sz="1100" b="0">
                <a:solidFill>
                  <a:srgbClr val="2E2E2E"/>
                </a:solidFill>
                <a:latin typeface="Calibri"/>
              </a:rPr>
              <a:t>US$ Mn</a:t>
            </a:r>
          </a:p>
        </p:txBody>
      </p:sp>
      <p:sp>
        <p:nvSpPr>
          <p:cNvPr id="121" name="TextBox 120"/>
          <p:cNvSpPr txBox="1"/>
          <p:nvPr/>
        </p:nvSpPr>
        <p:spPr>
          <a:xfrm>
            <a:off x="8420100" y="4393322"/>
            <a:ext cx="702394" cy="186689"/>
          </a:xfrm>
          <a:prstGeom prst="rect">
            <a:avLst/>
          </a:prstGeom>
          <a:noFill/>
        </p:spPr>
        <p:txBody>
          <a:bodyPr wrap="none" lIns="0" rIns="0" tIns="0" bIns="0">
            <a:spAutoFit/>
          </a:bodyPr>
          <a:lstStyle/>
          <a:p>
            <a:r>
              <a:rPr sz="1100" b="0">
                <a:solidFill>
                  <a:srgbClr val="2E2E2E"/>
                </a:solidFill>
                <a:latin typeface="Calibri"/>
              </a:rPr>
              <a:t>headroom.</a:t>
            </a:r>
          </a:p>
        </p:txBody>
      </p:sp>
      <p:sp>
        <p:nvSpPr>
          <p:cNvPr id="122" name="TextBox 121"/>
          <p:cNvSpPr txBox="1"/>
          <p:nvPr/>
        </p:nvSpPr>
        <p:spPr>
          <a:xfrm>
            <a:off x="1752600" y="4736785"/>
            <a:ext cx="1134318" cy="186689"/>
          </a:xfrm>
          <a:prstGeom prst="rect">
            <a:avLst/>
          </a:prstGeom>
          <a:noFill/>
        </p:spPr>
        <p:txBody>
          <a:bodyPr wrap="none" lIns="0" rIns="0" tIns="0" bIns="0">
            <a:spAutoFit/>
          </a:bodyPr>
          <a:lstStyle/>
          <a:p>
            <a:r>
              <a:rPr sz="1100" b="0">
                <a:solidFill>
                  <a:srgbClr val="2E2E2E"/>
                </a:solidFill>
                <a:latin typeface="Calibri"/>
              </a:rPr>
              <a:t>Installed demand (</a:t>
            </a:r>
          </a:p>
        </p:txBody>
      </p:sp>
      <p:pic>
        <p:nvPicPr>
          <p:cNvPr id="123" name="Picture 122" descr="lock.png"/>
          <p:cNvPicPr>
            <a:picLocks noChangeAspect="1"/>
          </p:cNvPicPr>
          <p:nvPr/>
        </p:nvPicPr>
        <p:blipFill>
          <a:blip r:embed="rId4"/>
          <a:stretch>
            <a:fillRect/>
          </a:stretch>
        </p:blipFill>
        <p:spPr>
          <a:xfrm>
            <a:off x="2834969" y="4727006"/>
            <a:ext cx="128699" cy="187198"/>
          </a:xfrm>
          <a:prstGeom prst="rect">
            <a:avLst/>
          </a:prstGeom>
        </p:spPr>
      </p:pic>
      <p:sp>
        <p:nvSpPr>
          <p:cNvPr id="124" name="TextBox 123"/>
          <p:cNvSpPr txBox="1"/>
          <p:nvPr/>
        </p:nvSpPr>
        <p:spPr>
          <a:xfrm>
            <a:off x="3002465" y="4736785"/>
            <a:ext cx="2299104" cy="186689"/>
          </a:xfrm>
          <a:prstGeom prst="rect">
            <a:avLst/>
          </a:prstGeom>
          <a:noFill/>
        </p:spPr>
        <p:txBody>
          <a:bodyPr wrap="none" lIns="0" rIns="0" tIns="0" bIns="0">
            <a:spAutoFit/>
          </a:bodyPr>
          <a:lstStyle/>
          <a:p>
            <a:r>
              <a:rPr sz="1100" b="0">
                <a:solidFill>
                  <a:srgbClr val="2E2E2E"/>
                </a:solidFill>
                <a:latin typeface="Calibri"/>
              </a:rPr>
              <a:t>CAGR), Micronized Eggshell Membrane</a:t>
            </a:r>
          </a:p>
        </p:txBody>
      </p:sp>
      <p:sp>
        <p:nvSpPr>
          <p:cNvPr id="125" name="TextBox 124"/>
          <p:cNvSpPr txBox="1"/>
          <p:nvPr/>
        </p:nvSpPr>
        <p:spPr>
          <a:xfrm>
            <a:off x="1752600" y="4904425"/>
            <a:ext cx="1924496" cy="186689"/>
          </a:xfrm>
          <a:prstGeom prst="rect">
            <a:avLst/>
          </a:prstGeom>
          <a:noFill/>
        </p:spPr>
        <p:txBody>
          <a:bodyPr wrap="none" lIns="0" rIns="0" tIns="0" bIns="0">
            <a:spAutoFit/>
          </a:bodyPr>
          <a:lstStyle/>
          <a:p>
            <a:r>
              <a:rPr sz="1100" b="0">
                <a:solidFill>
                  <a:srgbClr val="2E2E2E"/>
                </a:solidFill>
                <a:latin typeface="Calibri"/>
              </a:rPr>
              <a:t>demand, Accelerating vs history.</a:t>
            </a:r>
          </a:p>
        </p:txBody>
      </p:sp>
      <p:sp>
        <p:nvSpPr>
          <p:cNvPr id="126" name="TextBox 125"/>
          <p:cNvSpPr txBox="1"/>
          <p:nvPr/>
        </p:nvSpPr>
        <p:spPr>
          <a:xfrm>
            <a:off x="5562600" y="4820605"/>
            <a:ext cx="1287115" cy="186689"/>
          </a:xfrm>
          <a:prstGeom prst="rect">
            <a:avLst/>
          </a:prstGeom>
          <a:noFill/>
        </p:spPr>
        <p:txBody>
          <a:bodyPr wrap="none" lIns="0" rIns="0" tIns="0" bIns="0">
            <a:spAutoFit/>
          </a:bodyPr>
          <a:lstStyle/>
          <a:p>
            <a:r>
              <a:rPr sz="1100" b="0">
                <a:solidFill>
                  <a:srgbClr val="2E2E2E"/>
                </a:solidFill>
                <a:latin typeface="Calibri"/>
              </a:rPr>
              <a:t>Trails market pace by</a:t>
            </a:r>
          </a:p>
        </p:txBody>
      </p:sp>
      <p:pic>
        <p:nvPicPr>
          <p:cNvPr id="127" name="Picture 126" descr="lock.png"/>
          <p:cNvPicPr>
            <a:picLocks noChangeAspect="1"/>
          </p:cNvPicPr>
          <p:nvPr/>
        </p:nvPicPr>
        <p:blipFill>
          <a:blip r:embed="rId4"/>
          <a:stretch>
            <a:fillRect/>
          </a:stretch>
        </p:blipFill>
        <p:spPr>
          <a:xfrm>
            <a:off x="6797766" y="4810826"/>
            <a:ext cx="128699" cy="187198"/>
          </a:xfrm>
          <a:prstGeom prst="rect">
            <a:avLst/>
          </a:prstGeom>
        </p:spPr>
      </p:pic>
      <p:sp>
        <p:nvSpPr>
          <p:cNvPr id="128" name="TextBox 127"/>
          <p:cNvSpPr txBox="1"/>
          <p:nvPr/>
        </p:nvSpPr>
        <p:spPr>
          <a:xfrm>
            <a:off x="6965262" y="4820605"/>
            <a:ext cx="323949" cy="186689"/>
          </a:xfrm>
          <a:prstGeom prst="rect">
            <a:avLst/>
          </a:prstGeom>
          <a:noFill/>
        </p:spPr>
        <p:txBody>
          <a:bodyPr wrap="none" lIns="0" rIns="0" tIns="0" bIns="0">
            <a:spAutoFit/>
          </a:bodyPr>
          <a:lstStyle/>
          <a:p>
            <a:r>
              <a:rPr sz="1100" b="0">
                <a:solidFill>
                  <a:srgbClr val="2E2E2E"/>
                </a:solidFill>
                <a:latin typeface="Calibri"/>
              </a:rPr>
              <a:t>BPS.</a:t>
            </a:r>
          </a:p>
        </p:txBody>
      </p:sp>
      <p:sp>
        <p:nvSpPr>
          <p:cNvPr id="129" name="TextBox 128"/>
          <p:cNvSpPr txBox="1"/>
          <p:nvPr/>
        </p:nvSpPr>
        <p:spPr>
          <a:xfrm>
            <a:off x="8420100" y="4736785"/>
            <a:ext cx="2271290" cy="186689"/>
          </a:xfrm>
          <a:prstGeom prst="rect">
            <a:avLst/>
          </a:prstGeom>
          <a:noFill/>
        </p:spPr>
        <p:txBody>
          <a:bodyPr wrap="none" lIns="0" rIns="0" tIns="0" bIns="0">
            <a:spAutoFit/>
          </a:bodyPr>
          <a:lstStyle/>
          <a:p>
            <a:r>
              <a:rPr sz="1100" b="0">
                <a:solidFill>
                  <a:srgbClr val="2E2E2E"/>
                </a:solidFill>
                <a:latin typeface="Calibri"/>
              </a:rPr>
              <a:t>Scale Hydrolyzed Eggshell Membrane (</a:t>
            </a:r>
          </a:p>
        </p:txBody>
      </p:sp>
      <p:pic>
        <p:nvPicPr>
          <p:cNvPr id="130" name="Picture 129" descr="lock.png"/>
          <p:cNvPicPr>
            <a:picLocks noChangeAspect="1"/>
          </p:cNvPicPr>
          <p:nvPr/>
        </p:nvPicPr>
        <p:blipFill>
          <a:blip r:embed="rId4"/>
          <a:stretch>
            <a:fillRect/>
          </a:stretch>
        </p:blipFill>
        <p:spPr>
          <a:xfrm>
            <a:off x="10639442" y="4727006"/>
            <a:ext cx="128699" cy="187198"/>
          </a:xfrm>
          <a:prstGeom prst="rect">
            <a:avLst/>
          </a:prstGeom>
        </p:spPr>
      </p:pic>
      <p:sp>
        <p:nvSpPr>
          <p:cNvPr id="131" name="TextBox 130"/>
          <p:cNvSpPr txBox="1"/>
          <p:nvPr/>
        </p:nvSpPr>
        <p:spPr>
          <a:xfrm>
            <a:off x="10806938" y="4736785"/>
            <a:ext cx="153416" cy="186689"/>
          </a:xfrm>
          <a:prstGeom prst="rect">
            <a:avLst/>
          </a:prstGeom>
          <a:noFill/>
        </p:spPr>
        <p:txBody>
          <a:bodyPr wrap="none" lIns="0" rIns="0" tIns="0" bIns="0">
            <a:spAutoFit/>
          </a:bodyPr>
          <a:lstStyle/>
          <a:p>
            <a:r>
              <a:rPr sz="1100" b="0">
                <a:solidFill>
                  <a:srgbClr val="2E2E2E"/>
                </a:solidFill>
                <a:latin typeface="Calibri"/>
              </a:rPr>
              <a:t>),</a:t>
            </a:r>
          </a:p>
        </p:txBody>
      </p:sp>
      <p:pic>
        <p:nvPicPr>
          <p:cNvPr id="132" name="Picture 131" descr="lock.png"/>
          <p:cNvPicPr>
            <a:picLocks noChangeAspect="1"/>
          </p:cNvPicPr>
          <p:nvPr/>
        </p:nvPicPr>
        <p:blipFill>
          <a:blip r:embed="rId4"/>
          <a:stretch>
            <a:fillRect/>
          </a:stretch>
        </p:blipFill>
        <p:spPr>
          <a:xfrm>
            <a:off x="10908406" y="4727006"/>
            <a:ext cx="128699" cy="187198"/>
          </a:xfrm>
          <a:prstGeom prst="rect">
            <a:avLst/>
          </a:prstGeom>
        </p:spPr>
      </p:pic>
      <p:sp>
        <p:nvSpPr>
          <p:cNvPr id="133" name="TextBox 132"/>
          <p:cNvSpPr txBox="1"/>
          <p:nvPr/>
        </p:nvSpPr>
        <p:spPr>
          <a:xfrm>
            <a:off x="11075902" y="4736785"/>
            <a:ext cx="525586" cy="186689"/>
          </a:xfrm>
          <a:prstGeom prst="rect">
            <a:avLst/>
          </a:prstGeom>
          <a:noFill/>
        </p:spPr>
        <p:txBody>
          <a:bodyPr wrap="none" lIns="0" rIns="0" tIns="0" bIns="0">
            <a:spAutoFit/>
          </a:bodyPr>
          <a:lstStyle/>
          <a:p>
            <a:r>
              <a:rPr sz="1100" b="0">
                <a:solidFill>
                  <a:srgbClr val="2E2E2E"/>
                </a:solidFill>
                <a:latin typeface="Calibri"/>
              </a:rPr>
              <a:t>US$ Mn</a:t>
            </a:r>
          </a:p>
        </p:txBody>
      </p:sp>
      <p:sp>
        <p:nvSpPr>
          <p:cNvPr id="134" name="TextBox 133"/>
          <p:cNvSpPr txBox="1"/>
          <p:nvPr/>
        </p:nvSpPr>
        <p:spPr>
          <a:xfrm>
            <a:off x="8420100" y="4904425"/>
            <a:ext cx="702394" cy="186689"/>
          </a:xfrm>
          <a:prstGeom prst="rect">
            <a:avLst/>
          </a:prstGeom>
          <a:noFill/>
        </p:spPr>
        <p:txBody>
          <a:bodyPr wrap="none" lIns="0" rIns="0" tIns="0" bIns="0">
            <a:spAutoFit/>
          </a:bodyPr>
          <a:lstStyle/>
          <a:p>
            <a:r>
              <a:rPr sz="1100" b="0">
                <a:solidFill>
                  <a:srgbClr val="2E2E2E"/>
                </a:solidFill>
                <a:latin typeface="Calibri"/>
              </a:rPr>
              <a:t>headroom.</a:t>
            </a:r>
          </a:p>
        </p:txBody>
      </p:sp>
      <p:sp>
        <p:nvSpPr>
          <p:cNvPr id="135" name="TextBox 134"/>
          <p:cNvSpPr txBox="1"/>
          <p:nvPr/>
        </p:nvSpPr>
        <p:spPr>
          <a:xfrm>
            <a:off x="304800" y="5807511"/>
            <a:ext cx="4373612" cy="186689"/>
          </a:xfrm>
          <a:prstGeom prst="rect">
            <a:avLst/>
          </a:prstGeom>
          <a:noFill/>
        </p:spPr>
        <p:txBody>
          <a:bodyPr wrap="none" lIns="0" rIns="0" tIns="0" bIns="0">
            <a:spAutoFit/>
          </a:bodyPr>
          <a:lstStyle/>
          <a:p>
            <a:r>
              <a:rPr sz="1100" b="0">
                <a:solidFill>
                  <a:srgbClr val="2E2E2E"/>
                </a:solidFill>
                <a:latin typeface="Calibri"/>
              </a:rPr>
              <a:t>▪ North America, Europe, South Asia &amp; Pacific anchor scale with a combined</a:t>
            </a:r>
          </a:p>
        </p:txBody>
      </p:sp>
      <p:pic>
        <p:nvPicPr>
          <p:cNvPr id="136" name="Picture 135" descr="lock.png"/>
          <p:cNvPicPr>
            <a:picLocks noChangeAspect="1"/>
          </p:cNvPicPr>
          <p:nvPr/>
        </p:nvPicPr>
        <p:blipFill>
          <a:blip r:embed="rId4"/>
          <a:stretch>
            <a:fillRect/>
          </a:stretch>
        </p:blipFill>
        <p:spPr>
          <a:xfrm>
            <a:off x="4626463" y="5797732"/>
            <a:ext cx="128699" cy="187198"/>
          </a:xfrm>
          <a:prstGeom prst="rect">
            <a:avLst/>
          </a:prstGeom>
        </p:spPr>
      </p:pic>
      <p:sp>
        <p:nvSpPr>
          <p:cNvPr id="137" name="TextBox 136"/>
          <p:cNvSpPr txBox="1"/>
          <p:nvPr/>
        </p:nvSpPr>
        <p:spPr>
          <a:xfrm>
            <a:off x="4793959" y="5807511"/>
            <a:ext cx="4622998" cy="186689"/>
          </a:xfrm>
          <a:prstGeom prst="rect">
            <a:avLst/>
          </a:prstGeom>
          <a:noFill/>
        </p:spPr>
        <p:txBody>
          <a:bodyPr wrap="none" lIns="0" rIns="0" tIns="0" bIns="0">
            <a:spAutoFit/>
          </a:bodyPr>
          <a:lstStyle/>
          <a:p>
            <a:r>
              <a:rPr sz="1100" b="0">
                <a:solidFill>
                  <a:srgbClr val="2E2E2E"/>
                </a:solidFill>
                <a:latin typeface="Calibri"/>
              </a:rPr>
              <a:t>of Global value in 2036, while 'South Asia &amp; Pacific' offers the steepest upside at</a:t>
            </a:r>
          </a:p>
        </p:txBody>
      </p:sp>
      <p:pic>
        <p:nvPicPr>
          <p:cNvPr id="138" name="Picture 137" descr="lock.png"/>
          <p:cNvPicPr>
            <a:picLocks noChangeAspect="1"/>
          </p:cNvPicPr>
          <p:nvPr/>
        </p:nvPicPr>
        <p:blipFill>
          <a:blip r:embed="rId4"/>
          <a:stretch>
            <a:fillRect/>
          </a:stretch>
        </p:blipFill>
        <p:spPr>
          <a:xfrm>
            <a:off x="9365009" y="5797732"/>
            <a:ext cx="128699" cy="187198"/>
          </a:xfrm>
          <a:prstGeom prst="rect">
            <a:avLst/>
          </a:prstGeom>
        </p:spPr>
      </p:pic>
      <p:sp>
        <p:nvSpPr>
          <p:cNvPr id="139" name="TextBox 138"/>
          <p:cNvSpPr txBox="1"/>
          <p:nvPr/>
        </p:nvSpPr>
        <p:spPr>
          <a:xfrm>
            <a:off x="9532505" y="5807511"/>
            <a:ext cx="1819704" cy="186689"/>
          </a:xfrm>
          <a:prstGeom prst="rect">
            <a:avLst/>
          </a:prstGeom>
          <a:noFill/>
        </p:spPr>
        <p:txBody>
          <a:bodyPr wrap="none" lIns="0" rIns="0" tIns="0" bIns="0">
            <a:spAutoFit/>
          </a:bodyPr>
          <a:lstStyle/>
          <a:p>
            <a:r>
              <a:rPr sz="1100" b="0">
                <a:solidFill>
                  <a:srgbClr val="2E2E2E"/>
                </a:solidFill>
                <a:latin typeface="Calibri"/>
              </a:rPr>
              <a:t>CAGR against a market pace of</a:t>
            </a:r>
          </a:p>
        </p:txBody>
      </p:sp>
      <p:pic>
        <p:nvPicPr>
          <p:cNvPr id="140" name="Picture 139" descr="lock.png"/>
          <p:cNvPicPr>
            <a:picLocks noChangeAspect="1"/>
          </p:cNvPicPr>
          <p:nvPr/>
        </p:nvPicPr>
        <p:blipFill>
          <a:blip r:embed="rId4"/>
          <a:stretch>
            <a:fillRect/>
          </a:stretch>
        </p:blipFill>
        <p:spPr>
          <a:xfrm>
            <a:off x="291332" y="5965372"/>
            <a:ext cx="128699" cy="187198"/>
          </a:xfrm>
          <a:prstGeom prst="rect">
            <a:avLst/>
          </a:prstGeom>
        </p:spPr>
      </p:pic>
      <p:sp>
        <p:nvSpPr>
          <p:cNvPr id="141" name="TextBox 140"/>
          <p:cNvSpPr txBox="1"/>
          <p:nvPr/>
        </p:nvSpPr>
        <p:spPr>
          <a:xfrm>
            <a:off x="458828" y="5975151"/>
            <a:ext cx="11008816" cy="186689"/>
          </a:xfrm>
          <a:prstGeom prst="rect">
            <a:avLst/>
          </a:prstGeom>
          <a:noFill/>
        </p:spPr>
        <p:txBody>
          <a:bodyPr wrap="none" lIns="0" rIns="0" tIns="0" bIns="0">
            <a:spAutoFit/>
          </a:bodyPr>
          <a:lstStyle/>
          <a:p>
            <a:r>
              <a:rPr sz="1100" b="0">
                <a:solidFill>
                  <a:srgbClr val="2E2E2E"/>
                </a:solidFill>
                <a:latin typeface="Calibri"/>
              </a:rPr>
              <a:t>. 3 of 6 regions grow at or above that pace, so entry logic has to differ by region scale defence in the leaders, mix and premiumisation in the mid-tier, and availability-led expansion in the fastest</a:t>
            </a:r>
          </a:p>
        </p:txBody>
      </p:sp>
      <p:sp>
        <p:nvSpPr>
          <p:cNvPr id="142" name="TextBox 141"/>
          <p:cNvSpPr txBox="1"/>
          <p:nvPr/>
        </p:nvSpPr>
        <p:spPr>
          <a:xfrm>
            <a:off x="304800" y="6142791"/>
            <a:ext cx="532680" cy="186689"/>
          </a:xfrm>
          <a:prstGeom prst="rect">
            <a:avLst/>
          </a:prstGeom>
          <a:noFill/>
        </p:spPr>
        <p:txBody>
          <a:bodyPr wrap="none" lIns="0" rIns="0" tIns="0" bIns="0">
            <a:spAutoFit/>
          </a:bodyPr>
          <a:lstStyle/>
          <a:p>
            <a:r>
              <a:rPr sz="1100" b="0">
                <a:solidFill>
                  <a:srgbClr val="2E2E2E"/>
                </a:solidFill>
                <a:latin typeface="Calibri"/>
              </a:rPr>
              <a:t>movers.</a:t>
            </a:r>
          </a:p>
        </p:txBody>
      </p:sp>
    </p:spTree>
  </p:cSld>
  <p:clrMapOvr>
    <a:masterClrMapping/>
  </p:clrMapOvr>
</p:sld>
</file>

<file path=ppt/slides/slide2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Egg Protein Membrane Market Global Driving Factors (1/2)</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economic and supply-side factors scored by their impact on the global market</a:t>
            </a:r>
          </a:p>
        </p:txBody>
      </p:sp>
      <p:sp>
        <p:nvSpPr>
          <p:cNvPr id="7" name="Oval 6"/>
          <p:cNvSpPr/>
          <p:nvPr/>
        </p:nvSpPr>
        <p:spPr>
          <a:xfrm>
            <a:off x="2381250" y="1609633"/>
            <a:ext cx="4762500" cy="4563424"/>
          </a:xfrm>
          <a:prstGeom prst="ellipse">
            <a:avLst/>
          </a:prstGeom>
          <a:solidFill>
            <a:srgbClr val="DCE7F3"/>
          </a:solidFill>
          <a:ln w="12700">
            <a:solidFill>
              <a:srgbClr val="B9C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2619375" y="1837804"/>
            <a:ext cx="4286250" cy="4107082"/>
          </a:xfrm>
          <a:prstGeom prst="ellipse">
            <a:avLst/>
          </a:prstGeom>
          <a:solidFill>
            <a:srgbClr val="DCE7F3"/>
          </a:solidFill>
          <a:ln w="12700">
            <a:solidFill>
              <a:srgbClr val="B9C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2857500" y="2065976"/>
            <a:ext cx="3810000" cy="3650740"/>
          </a:xfrm>
          <a:prstGeom prst="ellipse">
            <a:avLst/>
          </a:prstGeom>
          <a:solidFill>
            <a:srgbClr val="DCE7F3"/>
          </a:solidFill>
          <a:ln w="12700">
            <a:solidFill>
              <a:srgbClr val="B9C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3095625" y="2294147"/>
            <a:ext cx="3333750" cy="3194397"/>
          </a:xfrm>
          <a:prstGeom prst="ellipse">
            <a:avLst/>
          </a:prstGeom>
          <a:solidFill>
            <a:srgbClr val="DCE7F3"/>
          </a:solidFill>
          <a:ln w="12700">
            <a:solidFill>
              <a:srgbClr val="B9C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3333750" y="2522318"/>
            <a:ext cx="2857500" cy="2738055"/>
          </a:xfrm>
          <a:prstGeom prst="ellipse">
            <a:avLst/>
          </a:prstGeom>
          <a:solidFill>
            <a:srgbClr val="DCE7F3"/>
          </a:solidFill>
          <a:ln w="12700">
            <a:solidFill>
              <a:srgbClr val="B9C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3571875" y="2750489"/>
            <a:ext cx="2381250" cy="2281712"/>
          </a:xfrm>
          <a:prstGeom prst="ellipse">
            <a:avLst/>
          </a:prstGeom>
          <a:solidFill>
            <a:srgbClr val="DCE7F3"/>
          </a:solidFill>
          <a:ln w="12700">
            <a:solidFill>
              <a:srgbClr val="B9C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3810000" y="2978660"/>
            <a:ext cx="1905000" cy="1825370"/>
          </a:xfrm>
          <a:prstGeom prst="ellipse">
            <a:avLst/>
          </a:prstGeom>
          <a:solidFill>
            <a:srgbClr val="DCE7F3"/>
          </a:solidFill>
          <a:ln w="12700">
            <a:solidFill>
              <a:srgbClr val="B9C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048125" y="3206832"/>
            <a:ext cx="1428750" cy="1369027"/>
          </a:xfrm>
          <a:prstGeom prst="ellipse">
            <a:avLst/>
          </a:prstGeom>
          <a:solidFill>
            <a:srgbClr val="DCE7F3"/>
          </a:solidFill>
          <a:ln w="12700">
            <a:solidFill>
              <a:srgbClr val="B9C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286250" y="3435003"/>
            <a:ext cx="952500" cy="912685"/>
          </a:xfrm>
          <a:prstGeom prst="ellipse">
            <a:avLst/>
          </a:prstGeom>
          <a:solidFill>
            <a:srgbClr val="DCE7F3"/>
          </a:solidFill>
          <a:ln w="12700">
            <a:solidFill>
              <a:srgbClr val="B9C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4524375" y="3663174"/>
            <a:ext cx="476250" cy="456342"/>
          </a:xfrm>
          <a:prstGeom prst="ellipse">
            <a:avLst/>
          </a:prstGeom>
          <a:solidFill>
            <a:srgbClr val="DCE7F3"/>
          </a:solidFill>
          <a:ln w="12700">
            <a:solidFill>
              <a:srgbClr val="B9C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Connector 16"/>
          <p:cNvCxnSpPr/>
          <p:nvPr/>
        </p:nvCxnSpPr>
        <p:spPr>
          <a:xfrm flipV="1">
            <a:off x="4762500" y="1609633"/>
            <a:ext cx="0" cy="2281712"/>
          </a:xfrm>
          <a:prstGeom prst="line">
            <a:avLst/>
          </a:prstGeom>
          <a:ln w="9525">
            <a:solidFill>
              <a:srgbClr val="B9CDE3"/>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flipV="1">
            <a:off x="3729314" y="1835594"/>
            <a:ext cx="1033186" cy="2055752"/>
          </a:xfrm>
          <a:prstGeom prst="line">
            <a:avLst/>
          </a:prstGeom>
          <a:ln w="9525">
            <a:solidFill>
              <a:srgbClr val="B9CDE3"/>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flipV="1">
            <a:off x="2900764" y="2468721"/>
            <a:ext cx="1861736" cy="1422624"/>
          </a:xfrm>
          <a:prstGeom prst="line">
            <a:avLst/>
          </a:prstGeom>
          <a:ln w="9525">
            <a:solidFill>
              <a:srgbClr val="B9CDE3"/>
            </a:solidFill>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flipV="1">
            <a:off x="2440953" y="3383617"/>
            <a:ext cx="2321547" cy="507729"/>
          </a:xfrm>
          <a:prstGeom prst="line">
            <a:avLst/>
          </a:prstGeom>
          <a:ln w="9525">
            <a:solidFill>
              <a:srgbClr val="B9CDE3"/>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a:off x="2440953" y="3891345"/>
            <a:ext cx="2321547" cy="507729"/>
          </a:xfrm>
          <a:prstGeom prst="line">
            <a:avLst/>
          </a:prstGeom>
          <a:ln w="9525">
            <a:solidFill>
              <a:srgbClr val="B9CDE3"/>
            </a:solidFill>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a:off x="2900764" y="3891345"/>
            <a:ext cx="1861736" cy="1422624"/>
          </a:xfrm>
          <a:prstGeom prst="line">
            <a:avLst/>
          </a:prstGeom>
          <a:ln w="9525">
            <a:solidFill>
              <a:srgbClr val="B9CDE3"/>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a:off x="3729314" y="3891345"/>
            <a:ext cx="1033186" cy="2055752"/>
          </a:xfrm>
          <a:prstGeom prst="line">
            <a:avLst/>
          </a:prstGeom>
          <a:ln w="9525">
            <a:solidFill>
              <a:srgbClr val="B9CDE3"/>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4762500" y="3891345"/>
            <a:ext cx="0" cy="2281712"/>
          </a:xfrm>
          <a:prstGeom prst="line">
            <a:avLst/>
          </a:prstGeom>
          <a:ln w="9525">
            <a:solidFill>
              <a:srgbClr val="B9CDE3"/>
            </a:solidFill>
          </a:ln>
          <a:effectLst/>
        </p:spPr>
        <p:style>
          <a:lnRef idx="2">
            <a:schemeClr val="accent1"/>
          </a:lnRef>
          <a:fillRef idx="0">
            <a:schemeClr val="accent1"/>
          </a:fillRef>
          <a:effectRef idx="1">
            <a:schemeClr val="accent1"/>
          </a:effectRef>
          <a:fontRef idx="minor">
            <a:schemeClr val="tx1"/>
          </a:fontRef>
        </p:style>
      </p:cxnSp>
      <p:sp>
        <p:nvSpPr>
          <p:cNvPr id="25" name="Freeform 24"/>
          <p:cNvSpPr/>
          <p:nvPr/>
        </p:nvSpPr>
        <p:spPr>
          <a:xfrm>
            <a:off x="2438400" y="2650094"/>
            <a:ext cx="2324100" cy="2528137"/>
          </a:xfrm>
          <a:custGeom>
            <a:avLst/>
            <a:gdLst/>
            <a:ahLst/>
            <a:cxnLst/>
            <a:rect l="l" t="t" r="r" b="b"/>
            <a:pathLst>
              <a:path w="244" h="277">
                <a:moveTo>
                  <a:pt x="244" y="0"/>
                </a:moveTo>
                <a:lnTo>
                  <a:pt x="180" y="2"/>
                </a:lnTo>
                <a:lnTo>
                  <a:pt x="114" y="32"/>
                </a:lnTo>
                <a:lnTo>
                  <a:pt x="96" y="102"/>
                </a:lnTo>
                <a:lnTo>
                  <a:pt x="0" y="192"/>
                </a:lnTo>
                <a:lnTo>
                  <a:pt x="109" y="244"/>
                </a:lnTo>
                <a:lnTo>
                  <a:pt x="176" y="277"/>
                </a:lnTo>
                <a:lnTo>
                  <a:pt x="244" y="235"/>
                </a:lnTo>
              </a:path>
            </a:pathLst>
          </a:custGeom>
          <a:noFill/>
          <a:ln w="31750">
            <a:solidFill>
              <a:srgbClr val="0F5F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4714875" y="1563999"/>
            <a:ext cx="95250" cy="91268"/>
          </a:xfrm>
          <a:prstGeom prst="ellipse">
            <a:avLst/>
          </a:prstGeom>
          <a:solidFill>
            <a:srgbClr val="2F6DA8"/>
          </a:solidFill>
          <a:ln w="12700">
            <a:solidFill>
              <a:srgbClr val="2F6D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400300" y="1281067"/>
            <a:ext cx="2286000" cy="237298"/>
          </a:xfrm>
          <a:prstGeom prst="rect">
            <a:avLst/>
          </a:prstGeom>
          <a:noFill/>
        </p:spPr>
        <p:txBody>
          <a:bodyPr wrap="square" lIns="28575" rIns="28575" tIns="9525" bIns="9525" anchor="ctr">
            <a:spAutoFit/>
          </a:bodyPr>
          <a:lstStyle/>
          <a:p>
            <a:pPr algn="r"/>
            <a:r>
              <a:rPr sz="1100" b="0">
                <a:solidFill>
                  <a:srgbClr val="2E2E2E"/>
                </a:solidFill>
                <a:latin typeface="Calibri"/>
              </a:rPr>
              <a:t/>
            </a:r>
          </a:p>
        </p:txBody>
      </p:sp>
      <p:sp>
        <p:nvSpPr>
          <p:cNvPr id="28" name="Oval 27"/>
          <p:cNvSpPr/>
          <p:nvPr/>
        </p:nvSpPr>
        <p:spPr>
          <a:xfrm>
            <a:off x="3681689" y="1789960"/>
            <a:ext cx="95250" cy="91268"/>
          </a:xfrm>
          <a:prstGeom prst="ellipse">
            <a:avLst/>
          </a:prstGeom>
          <a:solidFill>
            <a:srgbClr val="2F6DA8"/>
          </a:solidFill>
          <a:ln w="12700">
            <a:solidFill>
              <a:srgbClr val="2F6D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385456" y="1519681"/>
            <a:ext cx="2286000" cy="237298"/>
          </a:xfrm>
          <a:prstGeom prst="rect">
            <a:avLst/>
          </a:prstGeom>
          <a:noFill/>
        </p:spPr>
        <p:txBody>
          <a:bodyPr wrap="square" lIns="28575" rIns="28575" tIns="9525" bIns="9525" anchor="ctr">
            <a:spAutoFit/>
          </a:bodyPr>
          <a:lstStyle/>
          <a:p>
            <a:pPr algn="r"/>
            <a:r>
              <a:rPr sz="1100" b="0">
                <a:solidFill>
                  <a:srgbClr val="2E2E2E"/>
                </a:solidFill>
                <a:latin typeface="Calibri"/>
              </a:rPr>
              <a:t/>
            </a:r>
          </a:p>
        </p:txBody>
      </p:sp>
      <p:sp>
        <p:nvSpPr>
          <p:cNvPr id="30" name="Oval 29"/>
          <p:cNvSpPr/>
          <p:nvPr/>
        </p:nvSpPr>
        <p:spPr>
          <a:xfrm>
            <a:off x="2853139" y="2423087"/>
            <a:ext cx="95250" cy="91268"/>
          </a:xfrm>
          <a:prstGeom prst="ellipse">
            <a:avLst/>
          </a:prstGeom>
          <a:solidFill>
            <a:srgbClr val="2F6DA8"/>
          </a:solidFill>
          <a:ln w="12700">
            <a:solidFill>
              <a:srgbClr val="2F6D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10507" y="2270405"/>
            <a:ext cx="2286000" cy="237298"/>
          </a:xfrm>
          <a:prstGeom prst="rect">
            <a:avLst/>
          </a:prstGeom>
          <a:noFill/>
        </p:spPr>
        <p:txBody>
          <a:bodyPr wrap="square" lIns="28575" rIns="28575" tIns="9525" bIns="9525" anchor="ctr">
            <a:spAutoFit/>
          </a:bodyPr>
          <a:lstStyle/>
          <a:p>
            <a:pPr algn="r"/>
            <a:r>
              <a:rPr sz="1100" b="0">
                <a:solidFill>
                  <a:srgbClr val="2E2E2E"/>
                </a:solidFill>
                <a:latin typeface="Calibri"/>
              </a:rPr>
              <a:t/>
            </a:r>
          </a:p>
        </p:txBody>
      </p:sp>
      <p:sp>
        <p:nvSpPr>
          <p:cNvPr id="32" name="Oval 31"/>
          <p:cNvSpPr/>
          <p:nvPr/>
        </p:nvSpPr>
        <p:spPr>
          <a:xfrm>
            <a:off x="2393328" y="3337982"/>
            <a:ext cx="95250" cy="91268"/>
          </a:xfrm>
          <a:prstGeom prst="ellipse">
            <a:avLst/>
          </a:prstGeom>
          <a:solidFill>
            <a:srgbClr val="2F6DA8"/>
          </a:solidFill>
          <a:ln w="12700">
            <a:solidFill>
              <a:srgbClr val="2F6D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4946" y="3236535"/>
            <a:ext cx="2286000" cy="237298"/>
          </a:xfrm>
          <a:prstGeom prst="rect">
            <a:avLst/>
          </a:prstGeom>
          <a:noFill/>
        </p:spPr>
        <p:txBody>
          <a:bodyPr wrap="square" lIns="28575" rIns="28575" tIns="9525" bIns="9525" anchor="ctr">
            <a:spAutoFit/>
          </a:bodyPr>
          <a:lstStyle/>
          <a:p>
            <a:pPr algn="r"/>
            <a:r>
              <a:rPr sz="1100" b="0">
                <a:solidFill>
                  <a:srgbClr val="2E2E2E"/>
                </a:solidFill>
                <a:latin typeface="Calibri"/>
              </a:rPr>
              <a:t/>
            </a:r>
          </a:p>
        </p:txBody>
      </p:sp>
      <p:sp>
        <p:nvSpPr>
          <p:cNvPr id="34" name="Oval 33"/>
          <p:cNvSpPr/>
          <p:nvPr/>
        </p:nvSpPr>
        <p:spPr>
          <a:xfrm>
            <a:off x="2393328" y="4353440"/>
            <a:ext cx="95250" cy="91268"/>
          </a:xfrm>
          <a:prstGeom prst="ellipse">
            <a:avLst/>
          </a:prstGeom>
          <a:solidFill>
            <a:srgbClr val="2F6DA8"/>
          </a:solidFill>
          <a:ln w="12700">
            <a:solidFill>
              <a:srgbClr val="2F6D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4946" y="4308858"/>
            <a:ext cx="2286000" cy="237298"/>
          </a:xfrm>
          <a:prstGeom prst="rect">
            <a:avLst/>
          </a:prstGeom>
          <a:noFill/>
        </p:spPr>
        <p:txBody>
          <a:bodyPr wrap="square" lIns="28575" rIns="28575" tIns="9525" bIns="9525" anchor="ctr">
            <a:spAutoFit/>
          </a:bodyPr>
          <a:lstStyle/>
          <a:p>
            <a:pPr algn="r"/>
            <a:r>
              <a:rPr sz="1100" b="0">
                <a:solidFill>
                  <a:srgbClr val="2E2E2E"/>
                </a:solidFill>
                <a:latin typeface="Calibri"/>
              </a:rPr>
              <a:t/>
            </a:r>
          </a:p>
        </p:txBody>
      </p:sp>
      <p:sp>
        <p:nvSpPr>
          <p:cNvPr id="36" name="Oval 35"/>
          <p:cNvSpPr/>
          <p:nvPr/>
        </p:nvSpPr>
        <p:spPr>
          <a:xfrm>
            <a:off x="2853139" y="5268335"/>
            <a:ext cx="95250" cy="91268"/>
          </a:xfrm>
          <a:prstGeom prst="ellipse">
            <a:avLst/>
          </a:prstGeom>
          <a:solidFill>
            <a:srgbClr val="2F6DA8"/>
          </a:solidFill>
          <a:ln w="12700">
            <a:solidFill>
              <a:srgbClr val="2F6D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10507" y="5274987"/>
            <a:ext cx="2286000" cy="237298"/>
          </a:xfrm>
          <a:prstGeom prst="rect">
            <a:avLst/>
          </a:prstGeom>
          <a:noFill/>
        </p:spPr>
        <p:txBody>
          <a:bodyPr wrap="square" lIns="28575" rIns="28575" tIns="9525" bIns="9525" anchor="ctr">
            <a:spAutoFit/>
          </a:bodyPr>
          <a:lstStyle/>
          <a:p>
            <a:pPr algn="r"/>
            <a:r>
              <a:rPr sz="1100" b="0">
                <a:solidFill>
                  <a:srgbClr val="2E2E2E"/>
                </a:solidFill>
                <a:latin typeface="Calibri"/>
              </a:rPr>
              <a:t/>
            </a:r>
          </a:p>
        </p:txBody>
      </p:sp>
      <p:sp>
        <p:nvSpPr>
          <p:cNvPr id="38" name="Oval 37"/>
          <p:cNvSpPr/>
          <p:nvPr/>
        </p:nvSpPr>
        <p:spPr>
          <a:xfrm>
            <a:off x="3681689" y="5901463"/>
            <a:ext cx="95250" cy="91268"/>
          </a:xfrm>
          <a:prstGeom prst="ellipse">
            <a:avLst/>
          </a:prstGeom>
          <a:solidFill>
            <a:srgbClr val="2F6DA8"/>
          </a:solidFill>
          <a:ln w="12700">
            <a:solidFill>
              <a:srgbClr val="2F6D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385456" y="6025711"/>
            <a:ext cx="2286000" cy="237298"/>
          </a:xfrm>
          <a:prstGeom prst="rect">
            <a:avLst/>
          </a:prstGeom>
          <a:noFill/>
        </p:spPr>
        <p:txBody>
          <a:bodyPr wrap="square" lIns="28575" rIns="28575" tIns="9525" bIns="9525" anchor="ctr">
            <a:spAutoFit/>
          </a:bodyPr>
          <a:lstStyle/>
          <a:p>
            <a:pPr algn="r"/>
            <a:r>
              <a:rPr sz="1100" b="0">
                <a:solidFill>
                  <a:srgbClr val="2E2E2E"/>
                </a:solidFill>
                <a:latin typeface="Calibri"/>
              </a:rPr>
              <a:t/>
            </a:r>
          </a:p>
        </p:txBody>
      </p:sp>
      <p:sp>
        <p:nvSpPr>
          <p:cNvPr id="40" name="Oval 39"/>
          <p:cNvSpPr/>
          <p:nvPr/>
        </p:nvSpPr>
        <p:spPr>
          <a:xfrm>
            <a:off x="4714875" y="6127423"/>
            <a:ext cx="95250" cy="91268"/>
          </a:xfrm>
          <a:prstGeom prst="ellipse">
            <a:avLst/>
          </a:prstGeom>
          <a:solidFill>
            <a:srgbClr val="2F6DA8"/>
          </a:solidFill>
          <a:ln w="12700">
            <a:solidFill>
              <a:srgbClr val="2F6D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400300" y="6264326"/>
            <a:ext cx="2286000" cy="237298"/>
          </a:xfrm>
          <a:prstGeom prst="rect">
            <a:avLst/>
          </a:prstGeom>
          <a:noFill/>
        </p:spPr>
        <p:txBody>
          <a:bodyPr wrap="square" lIns="28575" rIns="28575" tIns="9525" bIns="9525" anchor="ctr">
            <a:spAutoFit/>
          </a:bodyPr>
          <a:lstStyle/>
          <a:p>
            <a:pPr algn="r"/>
            <a:r>
              <a:rPr sz="1100" b="0">
                <a:solidFill>
                  <a:srgbClr val="2E2E2E"/>
                </a:solidFill>
                <a:latin typeface="Calibri"/>
              </a:rPr>
              <a:t/>
            </a:r>
          </a:p>
        </p:txBody>
      </p:sp>
      <p:sp>
        <p:nvSpPr>
          <p:cNvPr id="42" name="Rectangle 41"/>
          <p:cNvSpPr/>
          <p:nvPr/>
        </p:nvSpPr>
        <p:spPr>
          <a:xfrm>
            <a:off x="4762500" y="970754"/>
            <a:ext cx="7429500" cy="5640393"/>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MR Scale 0"/>
          <p:cNvSpPr txBox="1"/>
          <p:nvPr/>
        </p:nvSpPr>
        <p:spPr>
          <a:xfrm>
            <a:off x="4286250" y="3818331"/>
            <a:ext cx="419100" cy="146030"/>
          </a:xfrm>
          <a:prstGeom prst="rect">
            <a:avLst/>
          </a:prstGeom>
          <a:noFill/>
        </p:spPr>
        <p:txBody>
          <a:bodyPr wrap="none" lIns="0" rIns="0" tIns="0" bIns="0" anchor="ctr">
            <a:spAutoFit/>
          </a:bodyPr>
          <a:lstStyle/>
          <a:p>
            <a:pPr algn="r"/>
            <a:r>
              <a:rPr sz="1100" b="0">
                <a:solidFill>
                  <a:srgbClr val="6C7A89"/>
                </a:solidFill>
                <a:latin typeface="Calibri"/>
              </a:rPr>
              <a:t>0%</a:t>
            </a:r>
          </a:p>
        </p:txBody>
      </p:sp>
      <p:sp>
        <p:nvSpPr>
          <p:cNvPr id="44" name="TMR Scale 1"/>
          <p:cNvSpPr txBox="1"/>
          <p:nvPr/>
        </p:nvSpPr>
        <p:spPr>
          <a:xfrm>
            <a:off x="4286250" y="3590159"/>
            <a:ext cx="419100" cy="146030"/>
          </a:xfrm>
          <a:prstGeom prst="rect">
            <a:avLst/>
          </a:prstGeom>
          <a:noFill/>
        </p:spPr>
        <p:txBody>
          <a:bodyPr wrap="none" lIns="0" rIns="0" tIns="0" bIns="0" anchor="ctr">
            <a:spAutoFit/>
          </a:bodyPr>
          <a:lstStyle/>
          <a:p>
            <a:pPr algn="r"/>
            <a:r>
              <a:rPr sz="1100" b="0">
                <a:solidFill>
                  <a:srgbClr val="6C7A89"/>
                </a:solidFill>
                <a:latin typeface="Calibri"/>
              </a:rPr>
              <a:t>10%</a:t>
            </a:r>
          </a:p>
        </p:txBody>
      </p:sp>
      <p:sp>
        <p:nvSpPr>
          <p:cNvPr id="45" name="TMR Scale 2"/>
          <p:cNvSpPr txBox="1"/>
          <p:nvPr/>
        </p:nvSpPr>
        <p:spPr>
          <a:xfrm>
            <a:off x="4286250" y="3361988"/>
            <a:ext cx="419100" cy="146030"/>
          </a:xfrm>
          <a:prstGeom prst="rect">
            <a:avLst/>
          </a:prstGeom>
          <a:noFill/>
        </p:spPr>
        <p:txBody>
          <a:bodyPr wrap="none" lIns="0" rIns="0" tIns="0" bIns="0" anchor="ctr">
            <a:spAutoFit/>
          </a:bodyPr>
          <a:lstStyle/>
          <a:p>
            <a:pPr algn="r"/>
            <a:r>
              <a:rPr sz="1100" b="0">
                <a:solidFill>
                  <a:srgbClr val="6C7A89"/>
                </a:solidFill>
                <a:latin typeface="Calibri"/>
              </a:rPr>
              <a:t>20%</a:t>
            </a:r>
          </a:p>
        </p:txBody>
      </p:sp>
      <p:sp>
        <p:nvSpPr>
          <p:cNvPr id="46" name="TMR Scale 3"/>
          <p:cNvSpPr txBox="1"/>
          <p:nvPr/>
        </p:nvSpPr>
        <p:spPr>
          <a:xfrm>
            <a:off x="4286250" y="3133817"/>
            <a:ext cx="419100" cy="146030"/>
          </a:xfrm>
          <a:prstGeom prst="rect">
            <a:avLst/>
          </a:prstGeom>
          <a:noFill/>
        </p:spPr>
        <p:txBody>
          <a:bodyPr wrap="none" lIns="0" rIns="0" tIns="0" bIns="0" anchor="ctr">
            <a:spAutoFit/>
          </a:bodyPr>
          <a:lstStyle/>
          <a:p>
            <a:pPr algn="r"/>
            <a:r>
              <a:rPr sz="1100" b="0">
                <a:solidFill>
                  <a:srgbClr val="6C7A89"/>
                </a:solidFill>
                <a:latin typeface="Calibri"/>
              </a:rPr>
              <a:t>30%</a:t>
            </a:r>
          </a:p>
        </p:txBody>
      </p:sp>
      <p:sp>
        <p:nvSpPr>
          <p:cNvPr id="47" name="TMR Scale 4"/>
          <p:cNvSpPr txBox="1"/>
          <p:nvPr/>
        </p:nvSpPr>
        <p:spPr>
          <a:xfrm>
            <a:off x="4286250" y="2905646"/>
            <a:ext cx="419100" cy="146030"/>
          </a:xfrm>
          <a:prstGeom prst="rect">
            <a:avLst/>
          </a:prstGeom>
          <a:noFill/>
        </p:spPr>
        <p:txBody>
          <a:bodyPr wrap="none" lIns="0" rIns="0" tIns="0" bIns="0" anchor="ctr">
            <a:spAutoFit/>
          </a:bodyPr>
          <a:lstStyle/>
          <a:p>
            <a:pPr algn="r"/>
            <a:r>
              <a:rPr sz="1100" b="0">
                <a:solidFill>
                  <a:srgbClr val="6C7A89"/>
                </a:solidFill>
                <a:latin typeface="Calibri"/>
              </a:rPr>
              <a:t>40%</a:t>
            </a:r>
          </a:p>
        </p:txBody>
      </p:sp>
      <p:sp>
        <p:nvSpPr>
          <p:cNvPr id="48" name="TMR Scale 5"/>
          <p:cNvSpPr txBox="1"/>
          <p:nvPr/>
        </p:nvSpPr>
        <p:spPr>
          <a:xfrm>
            <a:off x="4286250" y="2677474"/>
            <a:ext cx="419100" cy="146030"/>
          </a:xfrm>
          <a:prstGeom prst="rect">
            <a:avLst/>
          </a:prstGeom>
          <a:noFill/>
        </p:spPr>
        <p:txBody>
          <a:bodyPr wrap="none" lIns="0" rIns="0" tIns="0" bIns="0" anchor="ctr">
            <a:spAutoFit/>
          </a:bodyPr>
          <a:lstStyle/>
          <a:p>
            <a:pPr algn="r"/>
            <a:r>
              <a:rPr sz="1100" b="0">
                <a:solidFill>
                  <a:srgbClr val="6C7A89"/>
                </a:solidFill>
                <a:latin typeface="Calibri"/>
              </a:rPr>
              <a:t>50%</a:t>
            </a:r>
          </a:p>
        </p:txBody>
      </p:sp>
      <p:sp>
        <p:nvSpPr>
          <p:cNvPr id="49" name="TMR Scale 6"/>
          <p:cNvSpPr txBox="1"/>
          <p:nvPr/>
        </p:nvSpPr>
        <p:spPr>
          <a:xfrm>
            <a:off x="4286250" y="2449303"/>
            <a:ext cx="419100" cy="146030"/>
          </a:xfrm>
          <a:prstGeom prst="rect">
            <a:avLst/>
          </a:prstGeom>
          <a:noFill/>
        </p:spPr>
        <p:txBody>
          <a:bodyPr wrap="none" lIns="0" rIns="0" tIns="0" bIns="0" anchor="ctr">
            <a:spAutoFit/>
          </a:bodyPr>
          <a:lstStyle/>
          <a:p>
            <a:pPr algn="r"/>
            <a:r>
              <a:rPr sz="1100" b="0">
                <a:solidFill>
                  <a:srgbClr val="6C7A89"/>
                </a:solidFill>
                <a:latin typeface="Calibri"/>
              </a:rPr>
              <a:t>60%</a:t>
            </a:r>
          </a:p>
        </p:txBody>
      </p:sp>
      <p:sp>
        <p:nvSpPr>
          <p:cNvPr id="50" name="TMR Scale 7"/>
          <p:cNvSpPr txBox="1"/>
          <p:nvPr/>
        </p:nvSpPr>
        <p:spPr>
          <a:xfrm>
            <a:off x="4286250" y="2221132"/>
            <a:ext cx="419100" cy="146030"/>
          </a:xfrm>
          <a:prstGeom prst="rect">
            <a:avLst/>
          </a:prstGeom>
          <a:noFill/>
        </p:spPr>
        <p:txBody>
          <a:bodyPr wrap="none" lIns="0" rIns="0" tIns="0" bIns="0" anchor="ctr">
            <a:spAutoFit/>
          </a:bodyPr>
          <a:lstStyle/>
          <a:p>
            <a:pPr algn="r"/>
            <a:r>
              <a:rPr sz="1100" b="0">
                <a:solidFill>
                  <a:srgbClr val="6C7A89"/>
                </a:solidFill>
                <a:latin typeface="Calibri"/>
              </a:rPr>
              <a:t>70%</a:t>
            </a:r>
          </a:p>
        </p:txBody>
      </p:sp>
      <p:sp>
        <p:nvSpPr>
          <p:cNvPr id="51" name="TMR Scale 8"/>
          <p:cNvSpPr txBox="1"/>
          <p:nvPr/>
        </p:nvSpPr>
        <p:spPr>
          <a:xfrm>
            <a:off x="4286250" y="1992961"/>
            <a:ext cx="419100" cy="146030"/>
          </a:xfrm>
          <a:prstGeom prst="rect">
            <a:avLst/>
          </a:prstGeom>
          <a:noFill/>
        </p:spPr>
        <p:txBody>
          <a:bodyPr wrap="none" lIns="0" rIns="0" tIns="0" bIns="0" anchor="ctr">
            <a:spAutoFit/>
          </a:bodyPr>
          <a:lstStyle/>
          <a:p>
            <a:pPr algn="r"/>
            <a:r>
              <a:rPr sz="1100" b="0">
                <a:solidFill>
                  <a:srgbClr val="6C7A89"/>
                </a:solidFill>
                <a:latin typeface="Calibri"/>
              </a:rPr>
              <a:t>80%</a:t>
            </a:r>
          </a:p>
        </p:txBody>
      </p:sp>
      <p:sp>
        <p:nvSpPr>
          <p:cNvPr id="52" name="TMR Scale 9"/>
          <p:cNvSpPr txBox="1"/>
          <p:nvPr/>
        </p:nvSpPr>
        <p:spPr>
          <a:xfrm>
            <a:off x="4286250" y="1764790"/>
            <a:ext cx="419100" cy="146030"/>
          </a:xfrm>
          <a:prstGeom prst="rect">
            <a:avLst/>
          </a:prstGeom>
          <a:noFill/>
        </p:spPr>
        <p:txBody>
          <a:bodyPr wrap="none" lIns="0" rIns="0" tIns="0" bIns="0" anchor="ctr">
            <a:spAutoFit/>
          </a:bodyPr>
          <a:lstStyle/>
          <a:p>
            <a:pPr algn="r"/>
            <a:r>
              <a:rPr sz="1100" b="0">
                <a:solidFill>
                  <a:srgbClr val="6C7A89"/>
                </a:solidFill>
                <a:latin typeface="Calibri"/>
              </a:rPr>
              <a:t>90%</a:t>
            </a:r>
          </a:p>
        </p:txBody>
      </p:sp>
      <p:sp>
        <p:nvSpPr>
          <p:cNvPr id="53" name="TMR Scale 10"/>
          <p:cNvSpPr txBox="1"/>
          <p:nvPr/>
        </p:nvSpPr>
        <p:spPr>
          <a:xfrm>
            <a:off x="4286250" y="1536618"/>
            <a:ext cx="419100" cy="146030"/>
          </a:xfrm>
          <a:prstGeom prst="rect">
            <a:avLst/>
          </a:prstGeom>
          <a:noFill/>
        </p:spPr>
        <p:txBody>
          <a:bodyPr wrap="none" lIns="0" rIns="0" tIns="0" bIns="0" anchor="ctr">
            <a:spAutoFit/>
          </a:bodyPr>
          <a:lstStyle/>
          <a:p>
            <a:pPr algn="r"/>
            <a:r>
              <a:rPr sz="1100" b="0">
                <a:solidFill>
                  <a:srgbClr val="6C7A89"/>
                </a:solidFill>
                <a:latin typeface="Calibri"/>
              </a:rPr>
              <a:t>100%</a:t>
            </a:r>
          </a:p>
        </p:txBody>
      </p:sp>
      <p:cxnSp>
        <p:nvCxnSpPr>
          <p:cNvPr id="54" name="Connector 53"/>
          <p:cNvCxnSpPr/>
          <p:nvPr/>
        </p:nvCxnSpPr>
        <p:spPr>
          <a:xfrm>
            <a:off x="4762500" y="1025515"/>
            <a:ext cx="0" cy="5549124"/>
          </a:xfrm>
          <a:prstGeom prst="line">
            <a:avLst/>
          </a:prstGeom>
          <a:ln w="12700">
            <a:solidFill>
              <a:srgbClr val="D5DBE1"/>
            </a:solidFill>
          </a:ln>
          <a:effectLst/>
        </p:spPr>
        <p:style>
          <a:lnRef idx="2">
            <a:schemeClr val="accent1"/>
          </a:lnRef>
          <a:fillRef idx="0">
            <a:schemeClr val="accent1"/>
          </a:fillRef>
          <a:effectRef idx="1">
            <a:schemeClr val="accent1"/>
          </a:effectRef>
          <a:fontRef idx="minor">
            <a:schemeClr val="tx1"/>
          </a:fontRef>
        </p:style>
      </p:cxnSp>
      <p:sp>
        <p:nvSpPr>
          <p:cNvPr id="55" name="TextBox 54"/>
          <p:cNvSpPr txBox="1"/>
          <p:nvPr/>
        </p:nvSpPr>
        <p:spPr>
          <a:xfrm>
            <a:off x="4972050" y="1080276"/>
            <a:ext cx="7077075" cy="219044"/>
          </a:xfrm>
          <a:prstGeom prst="rect">
            <a:avLst/>
          </a:prstGeom>
          <a:noFill/>
        </p:spPr>
        <p:txBody>
          <a:bodyPr wrap="square" lIns="28575" rIns="28575" tIns="9525" bIns="9525" anchor="ctr">
            <a:spAutoFit/>
          </a:bodyPr>
          <a:lstStyle/>
          <a:p>
            <a:pPr algn="l"/>
            <a:r>
              <a:rPr sz="1200" b="1">
                <a:solidFill>
                  <a:srgbClr val="0B2E4A"/>
                </a:solidFill>
                <a:latin typeface="Calibri"/>
              </a:rPr>
              <a:t>Economic and Supply-side Factors</a:t>
            </a:r>
          </a:p>
        </p:txBody>
      </p:sp>
      <p:cxnSp>
        <p:nvCxnSpPr>
          <p:cNvPr id="56" name="Connector 55"/>
          <p:cNvCxnSpPr/>
          <p:nvPr/>
        </p:nvCxnSpPr>
        <p:spPr>
          <a:xfrm>
            <a:off x="4972050" y="1335828"/>
            <a:ext cx="7077075" cy="0"/>
          </a:xfrm>
          <a:prstGeom prst="line">
            <a:avLst/>
          </a:prstGeom>
          <a:ln w="31750">
            <a:solidFill>
              <a:srgbClr val="1F6FB4"/>
            </a:solidFill>
          </a:ln>
          <a:effectLst/>
        </p:spPr>
        <p:style>
          <a:lnRef idx="2">
            <a:schemeClr val="accent1"/>
          </a:lnRef>
          <a:fillRef idx="0">
            <a:schemeClr val="accent1"/>
          </a:fillRef>
          <a:effectRef idx="1">
            <a:schemeClr val="accent1"/>
          </a:effectRef>
          <a:fontRef idx="minor">
            <a:schemeClr val="tx1"/>
          </a:fontRef>
        </p:style>
      </p:cxnSp>
      <p:sp>
        <p:nvSpPr>
          <p:cNvPr id="57" name="TextBox 56"/>
          <p:cNvSpPr txBox="1"/>
          <p:nvPr/>
        </p:nvSpPr>
        <p:spPr>
          <a:xfrm>
            <a:off x="4972050" y="1427096"/>
            <a:ext cx="7077075"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58" name="TextBox 57"/>
          <p:cNvSpPr txBox="1"/>
          <p:nvPr/>
        </p:nvSpPr>
        <p:spPr>
          <a:xfrm>
            <a:off x="4972050" y="1883439"/>
            <a:ext cx="7077075"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59" name="TextBox 58"/>
          <p:cNvSpPr txBox="1"/>
          <p:nvPr/>
        </p:nvSpPr>
        <p:spPr>
          <a:xfrm>
            <a:off x="4972050" y="2339781"/>
            <a:ext cx="7077075" cy="292059"/>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60" name="TextBox 59"/>
          <p:cNvSpPr txBox="1"/>
          <p:nvPr/>
        </p:nvSpPr>
        <p:spPr>
          <a:xfrm>
            <a:off x="4972050" y="2613586"/>
            <a:ext cx="7077075"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Portfolio breadth spans 3 product type lines and 6 application routes, giving producers wide reformulation and channel latitude.</a:t>
            </a:r>
          </a:p>
        </p:txBody>
      </p:sp>
      <p:sp>
        <p:nvSpPr>
          <p:cNvPr id="61" name="TextBox 60"/>
          <p:cNvSpPr txBox="1"/>
          <p:nvPr/>
        </p:nvSpPr>
        <p:spPr>
          <a:xfrm>
            <a:off x="4972050" y="3069929"/>
            <a:ext cx="7077075" cy="292059"/>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62" name="TextBox 61"/>
          <p:cNvSpPr txBox="1"/>
          <p:nvPr/>
        </p:nvSpPr>
        <p:spPr>
          <a:xfrm>
            <a:off x="4972050" y="3343734"/>
            <a:ext cx="7077075"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Note: the dynamics framing is indicative factors, impact ratings and narrative are generated from the loaded dataset's own values.</a:t>
            </a:r>
          </a:p>
        </p:txBody>
      </p:sp>
      <p:sp>
        <p:nvSpPr>
          <p:cNvPr id="63" name="Rectangle 62"/>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
        <p:nvSpPr>
          <p:cNvPr id="65" name="TextBox 64"/>
          <p:cNvSpPr txBox="1"/>
          <p:nvPr/>
        </p:nvSpPr>
        <p:spPr>
          <a:xfrm>
            <a:off x="3466991" y="1322601"/>
            <a:ext cx="1125226" cy="173278"/>
          </a:xfrm>
          <a:prstGeom prst="rect">
            <a:avLst/>
          </a:prstGeom>
          <a:noFill/>
        </p:spPr>
        <p:txBody>
          <a:bodyPr wrap="none" lIns="0" rIns="0" tIns="0" bIns="0">
            <a:spAutoFit/>
          </a:bodyPr>
          <a:lstStyle/>
          <a:p>
            <a:r>
              <a:rPr sz="1011" b="0">
                <a:solidFill>
                  <a:srgbClr val="2E2E2E"/>
                </a:solidFill>
                <a:latin typeface="Calibri"/>
              </a:rPr>
              <a:t>Production Scale-up</a:t>
            </a:r>
          </a:p>
        </p:txBody>
      </p:sp>
      <p:pic>
        <p:nvPicPr>
          <p:cNvPr id="66" name="Picture 65" descr="lock.png"/>
          <p:cNvPicPr>
            <a:picLocks noChangeAspect="1"/>
          </p:cNvPicPr>
          <p:nvPr/>
        </p:nvPicPr>
        <p:blipFill>
          <a:blip r:embed="rId4"/>
          <a:stretch>
            <a:fillRect/>
          </a:stretch>
        </p:blipFill>
        <p:spPr>
          <a:xfrm>
            <a:off x="4538330" y="1313604"/>
            <a:ext cx="118403" cy="172222"/>
          </a:xfrm>
          <a:prstGeom prst="rect">
            <a:avLst/>
          </a:prstGeom>
        </p:spPr>
      </p:pic>
      <p:sp>
        <p:nvSpPr>
          <p:cNvPr id="67" name="TextBox 66"/>
          <p:cNvSpPr txBox="1"/>
          <p:nvPr/>
        </p:nvSpPr>
        <p:spPr>
          <a:xfrm>
            <a:off x="2482772" y="1561215"/>
            <a:ext cx="1094602" cy="173278"/>
          </a:xfrm>
          <a:prstGeom prst="rect">
            <a:avLst/>
          </a:prstGeom>
          <a:noFill/>
        </p:spPr>
        <p:txBody>
          <a:bodyPr wrap="none" lIns="0" rIns="0" tIns="0" bIns="0">
            <a:spAutoFit/>
          </a:bodyPr>
          <a:lstStyle/>
          <a:p>
            <a:r>
              <a:rPr sz="1011" b="0">
                <a:solidFill>
                  <a:srgbClr val="2E2E2E"/>
                </a:solidFill>
                <a:latin typeface="Calibri"/>
              </a:rPr>
              <a:t>Input Cost Pressure</a:t>
            </a:r>
          </a:p>
        </p:txBody>
      </p:sp>
      <p:pic>
        <p:nvPicPr>
          <p:cNvPr id="68" name="Picture 67" descr="lock.png"/>
          <p:cNvPicPr>
            <a:picLocks noChangeAspect="1"/>
          </p:cNvPicPr>
          <p:nvPr/>
        </p:nvPicPr>
        <p:blipFill>
          <a:blip r:embed="rId4"/>
          <a:stretch>
            <a:fillRect/>
          </a:stretch>
        </p:blipFill>
        <p:spPr>
          <a:xfrm>
            <a:off x="3523486" y="1552218"/>
            <a:ext cx="118403" cy="172222"/>
          </a:xfrm>
          <a:prstGeom prst="rect">
            <a:avLst/>
          </a:prstGeom>
        </p:spPr>
      </p:pic>
      <p:sp>
        <p:nvSpPr>
          <p:cNvPr id="69" name="TextBox 68"/>
          <p:cNvSpPr txBox="1"/>
          <p:nvPr/>
        </p:nvSpPr>
        <p:spPr>
          <a:xfrm>
            <a:off x="1943191" y="2311939"/>
            <a:ext cx="759234" cy="173278"/>
          </a:xfrm>
          <a:prstGeom prst="rect">
            <a:avLst/>
          </a:prstGeom>
          <a:noFill/>
        </p:spPr>
        <p:txBody>
          <a:bodyPr wrap="none" lIns="0" rIns="0" tIns="0" bIns="0">
            <a:spAutoFit/>
          </a:bodyPr>
          <a:lstStyle/>
          <a:p>
            <a:r>
              <a:rPr sz="1011" b="0">
                <a:solidFill>
                  <a:srgbClr val="2E2E2E"/>
                </a:solidFill>
                <a:latin typeface="Calibri"/>
              </a:rPr>
              <a:t>Capacity Add</a:t>
            </a:r>
          </a:p>
        </p:txBody>
      </p:sp>
      <p:pic>
        <p:nvPicPr>
          <p:cNvPr id="70" name="Picture 69" descr="lock.png"/>
          <p:cNvPicPr>
            <a:picLocks noChangeAspect="1"/>
          </p:cNvPicPr>
          <p:nvPr/>
        </p:nvPicPr>
        <p:blipFill>
          <a:blip r:embed="rId4"/>
          <a:stretch>
            <a:fillRect/>
          </a:stretch>
        </p:blipFill>
        <p:spPr>
          <a:xfrm>
            <a:off x="2648537" y="2302942"/>
            <a:ext cx="118403" cy="172222"/>
          </a:xfrm>
          <a:prstGeom prst="rect">
            <a:avLst/>
          </a:prstGeom>
        </p:spPr>
      </p:pic>
      <p:sp>
        <p:nvSpPr>
          <p:cNvPr id="71" name="TextBox 70"/>
          <p:cNvSpPr txBox="1"/>
          <p:nvPr/>
        </p:nvSpPr>
        <p:spPr>
          <a:xfrm>
            <a:off x="1014573" y="3278069"/>
            <a:ext cx="1202291" cy="173278"/>
          </a:xfrm>
          <a:prstGeom prst="rect">
            <a:avLst/>
          </a:prstGeom>
          <a:noFill/>
        </p:spPr>
        <p:txBody>
          <a:bodyPr wrap="none" lIns="0" rIns="0" tIns="0" bIns="0">
            <a:spAutoFit/>
          </a:bodyPr>
          <a:lstStyle/>
          <a:p>
            <a:r>
              <a:rPr sz="1011" b="0">
                <a:solidFill>
                  <a:srgbClr val="2E2E2E"/>
                </a:solidFill>
                <a:latin typeface="Calibri"/>
              </a:rPr>
              <a:t>Supply Concentration</a:t>
            </a:r>
          </a:p>
        </p:txBody>
      </p:sp>
      <p:pic>
        <p:nvPicPr>
          <p:cNvPr id="72" name="Picture 71" descr="lock.png"/>
          <p:cNvPicPr>
            <a:picLocks noChangeAspect="1"/>
          </p:cNvPicPr>
          <p:nvPr/>
        </p:nvPicPr>
        <p:blipFill>
          <a:blip r:embed="rId4"/>
          <a:stretch>
            <a:fillRect/>
          </a:stretch>
        </p:blipFill>
        <p:spPr>
          <a:xfrm>
            <a:off x="2162976" y="3269072"/>
            <a:ext cx="118403" cy="172222"/>
          </a:xfrm>
          <a:prstGeom prst="rect">
            <a:avLst/>
          </a:prstGeom>
        </p:spPr>
      </p:pic>
      <p:sp>
        <p:nvSpPr>
          <p:cNvPr id="73" name="TextBox 72"/>
          <p:cNvSpPr txBox="1"/>
          <p:nvPr/>
        </p:nvSpPr>
        <p:spPr>
          <a:xfrm>
            <a:off x="1148118" y="4350392"/>
            <a:ext cx="1068746" cy="173278"/>
          </a:xfrm>
          <a:prstGeom prst="rect">
            <a:avLst/>
          </a:prstGeom>
          <a:noFill/>
        </p:spPr>
        <p:txBody>
          <a:bodyPr wrap="none" lIns="0" rIns="0" tIns="0" bIns="0">
            <a:spAutoFit/>
          </a:bodyPr>
          <a:lstStyle/>
          <a:p>
            <a:r>
              <a:rPr sz="1011" b="0">
                <a:solidFill>
                  <a:srgbClr val="2E2E2E"/>
                </a:solidFill>
                <a:latin typeface="Calibri"/>
              </a:rPr>
              <a:t>Geographic Spread</a:t>
            </a:r>
          </a:p>
        </p:txBody>
      </p:sp>
      <p:pic>
        <p:nvPicPr>
          <p:cNvPr id="74" name="Picture 73" descr="lock.png"/>
          <p:cNvPicPr>
            <a:picLocks noChangeAspect="1"/>
          </p:cNvPicPr>
          <p:nvPr/>
        </p:nvPicPr>
        <p:blipFill>
          <a:blip r:embed="rId4"/>
          <a:stretch>
            <a:fillRect/>
          </a:stretch>
        </p:blipFill>
        <p:spPr>
          <a:xfrm>
            <a:off x="2162976" y="4341395"/>
            <a:ext cx="118403" cy="172222"/>
          </a:xfrm>
          <a:prstGeom prst="rect">
            <a:avLst/>
          </a:prstGeom>
        </p:spPr>
      </p:pic>
      <p:sp>
        <p:nvSpPr>
          <p:cNvPr id="75" name="TextBox 74"/>
          <p:cNvSpPr txBox="1"/>
          <p:nvPr/>
        </p:nvSpPr>
        <p:spPr>
          <a:xfrm>
            <a:off x="1722039" y="5316521"/>
            <a:ext cx="980386" cy="173278"/>
          </a:xfrm>
          <a:prstGeom prst="rect">
            <a:avLst/>
          </a:prstGeom>
          <a:noFill/>
        </p:spPr>
        <p:txBody>
          <a:bodyPr wrap="none" lIns="0" rIns="0" tIns="0" bIns="0">
            <a:spAutoFit/>
          </a:bodyPr>
          <a:lstStyle/>
          <a:p>
            <a:r>
              <a:rPr sz="1011" b="0">
                <a:solidFill>
                  <a:srgbClr val="2E2E2E"/>
                </a:solidFill>
                <a:latin typeface="Calibri"/>
              </a:rPr>
              <a:t>Portfolio Breadth</a:t>
            </a:r>
          </a:p>
        </p:txBody>
      </p:sp>
      <p:pic>
        <p:nvPicPr>
          <p:cNvPr id="76" name="Picture 75" descr="lock.png"/>
          <p:cNvPicPr>
            <a:picLocks noChangeAspect="1"/>
          </p:cNvPicPr>
          <p:nvPr/>
        </p:nvPicPr>
        <p:blipFill>
          <a:blip r:embed="rId4"/>
          <a:stretch>
            <a:fillRect/>
          </a:stretch>
        </p:blipFill>
        <p:spPr>
          <a:xfrm>
            <a:off x="2648537" y="5307524"/>
            <a:ext cx="118403" cy="172222"/>
          </a:xfrm>
          <a:prstGeom prst="rect">
            <a:avLst/>
          </a:prstGeom>
        </p:spPr>
      </p:pic>
      <p:sp>
        <p:nvSpPr>
          <p:cNvPr id="77" name="TextBox 76"/>
          <p:cNvSpPr txBox="1"/>
          <p:nvPr/>
        </p:nvSpPr>
        <p:spPr>
          <a:xfrm>
            <a:off x="2838472" y="6067245"/>
            <a:ext cx="738901" cy="173278"/>
          </a:xfrm>
          <a:prstGeom prst="rect">
            <a:avLst/>
          </a:prstGeom>
          <a:noFill/>
        </p:spPr>
        <p:txBody>
          <a:bodyPr wrap="none" lIns="0" rIns="0" tIns="0" bIns="0">
            <a:spAutoFit/>
          </a:bodyPr>
          <a:lstStyle/>
          <a:p>
            <a:r>
              <a:rPr sz="1011" b="0">
                <a:solidFill>
                  <a:srgbClr val="2E2E2E"/>
                </a:solidFill>
                <a:latin typeface="Calibri"/>
              </a:rPr>
              <a:t>Route Depth</a:t>
            </a:r>
          </a:p>
        </p:txBody>
      </p:sp>
      <p:pic>
        <p:nvPicPr>
          <p:cNvPr id="78" name="Picture 77" descr="lock.png"/>
          <p:cNvPicPr>
            <a:picLocks noChangeAspect="1"/>
          </p:cNvPicPr>
          <p:nvPr/>
        </p:nvPicPr>
        <p:blipFill>
          <a:blip r:embed="rId4"/>
          <a:stretch>
            <a:fillRect/>
          </a:stretch>
        </p:blipFill>
        <p:spPr>
          <a:xfrm>
            <a:off x="3523486" y="6058248"/>
            <a:ext cx="118403" cy="172222"/>
          </a:xfrm>
          <a:prstGeom prst="rect">
            <a:avLst/>
          </a:prstGeom>
        </p:spPr>
      </p:pic>
      <p:sp>
        <p:nvSpPr>
          <p:cNvPr id="79" name="TextBox 78"/>
          <p:cNvSpPr txBox="1"/>
          <p:nvPr/>
        </p:nvSpPr>
        <p:spPr>
          <a:xfrm>
            <a:off x="3616852" y="6305860"/>
            <a:ext cx="975365" cy="173278"/>
          </a:xfrm>
          <a:prstGeom prst="rect">
            <a:avLst/>
          </a:prstGeom>
          <a:noFill/>
        </p:spPr>
        <p:txBody>
          <a:bodyPr wrap="none" lIns="0" rIns="0" tIns="0" bIns="0">
            <a:spAutoFit/>
          </a:bodyPr>
          <a:lstStyle/>
          <a:p>
            <a:r>
              <a:rPr sz="1011" b="0">
                <a:solidFill>
                  <a:srgbClr val="2E2E2E"/>
                </a:solidFill>
                <a:latin typeface="Calibri"/>
              </a:rPr>
              <a:t>Value Realisation</a:t>
            </a:r>
          </a:p>
        </p:txBody>
      </p:sp>
      <p:pic>
        <p:nvPicPr>
          <p:cNvPr id="80" name="Picture 79" descr="lock.png"/>
          <p:cNvPicPr>
            <a:picLocks noChangeAspect="1"/>
          </p:cNvPicPr>
          <p:nvPr/>
        </p:nvPicPr>
        <p:blipFill>
          <a:blip r:embed="rId4"/>
          <a:stretch>
            <a:fillRect/>
          </a:stretch>
        </p:blipFill>
        <p:spPr>
          <a:xfrm>
            <a:off x="4538330" y="6296863"/>
            <a:ext cx="118403" cy="172222"/>
          </a:xfrm>
          <a:prstGeom prst="rect">
            <a:avLst/>
          </a:prstGeom>
        </p:spPr>
      </p:pic>
      <p:sp>
        <p:nvSpPr>
          <p:cNvPr id="81" name="TextBox 80"/>
          <p:cNvSpPr txBox="1"/>
          <p:nvPr/>
        </p:nvSpPr>
        <p:spPr>
          <a:xfrm>
            <a:off x="5000625" y="1496754"/>
            <a:ext cx="3210445" cy="186689"/>
          </a:xfrm>
          <a:prstGeom prst="rect">
            <a:avLst/>
          </a:prstGeom>
          <a:noFill/>
        </p:spPr>
        <p:txBody>
          <a:bodyPr wrap="none" lIns="0" rIns="0" tIns="0" bIns="0">
            <a:spAutoFit/>
          </a:bodyPr>
          <a:lstStyle/>
          <a:p>
            <a:r>
              <a:rPr sz="1100" b="0">
                <a:solidFill>
                  <a:srgbClr val="2E2E2E"/>
                </a:solidFill>
                <a:latin typeface="Calibri"/>
              </a:rPr>
              <a:t>▪ Supply-side conditions are led by Geographic Spread (</a:t>
            </a:r>
          </a:p>
        </p:txBody>
      </p:sp>
      <p:pic>
        <p:nvPicPr>
          <p:cNvPr id="82" name="Picture 81" descr="lock.png"/>
          <p:cNvPicPr>
            <a:picLocks noChangeAspect="1"/>
          </p:cNvPicPr>
          <p:nvPr/>
        </p:nvPicPr>
        <p:blipFill>
          <a:blip r:embed="rId4"/>
          <a:stretch>
            <a:fillRect/>
          </a:stretch>
        </p:blipFill>
        <p:spPr>
          <a:xfrm>
            <a:off x="8159122" y="1486975"/>
            <a:ext cx="128699" cy="187198"/>
          </a:xfrm>
          <a:prstGeom prst="rect">
            <a:avLst/>
          </a:prstGeom>
        </p:spPr>
      </p:pic>
      <p:sp>
        <p:nvSpPr>
          <p:cNvPr id="83" name="TextBox 82"/>
          <p:cNvSpPr txBox="1"/>
          <p:nvPr/>
        </p:nvSpPr>
        <p:spPr>
          <a:xfrm>
            <a:off x="8326618" y="1496754"/>
            <a:ext cx="1437729" cy="186689"/>
          </a:xfrm>
          <a:prstGeom prst="rect">
            <a:avLst/>
          </a:prstGeom>
          <a:noFill/>
        </p:spPr>
        <p:txBody>
          <a:bodyPr wrap="none" lIns="0" rIns="0" tIns="0" bIns="0">
            <a:spAutoFit/>
          </a:bodyPr>
          <a:lstStyle/>
          <a:p>
            <a:r>
              <a:rPr sz="1100" b="0">
                <a:solidFill>
                  <a:srgbClr val="2E2E2E"/>
                </a:solidFill>
                <a:latin typeface="Calibri"/>
              </a:rPr>
              <a:t>/10), Portfolio Breadth (</a:t>
            </a:r>
          </a:p>
        </p:txBody>
      </p:sp>
      <p:pic>
        <p:nvPicPr>
          <p:cNvPr id="84" name="Picture 83" descr="lock.png"/>
          <p:cNvPicPr>
            <a:picLocks noChangeAspect="1"/>
          </p:cNvPicPr>
          <p:nvPr/>
        </p:nvPicPr>
        <p:blipFill>
          <a:blip r:embed="rId4"/>
          <a:stretch>
            <a:fillRect/>
          </a:stretch>
        </p:blipFill>
        <p:spPr>
          <a:xfrm>
            <a:off x="9712399" y="1486975"/>
            <a:ext cx="128699" cy="187198"/>
          </a:xfrm>
          <a:prstGeom prst="rect">
            <a:avLst/>
          </a:prstGeom>
        </p:spPr>
      </p:pic>
      <p:sp>
        <p:nvSpPr>
          <p:cNvPr id="85" name="TextBox 84"/>
          <p:cNvSpPr txBox="1"/>
          <p:nvPr/>
        </p:nvSpPr>
        <p:spPr>
          <a:xfrm>
            <a:off x="9879895" y="1496754"/>
            <a:ext cx="1197347" cy="186689"/>
          </a:xfrm>
          <a:prstGeom prst="rect">
            <a:avLst/>
          </a:prstGeom>
          <a:noFill/>
        </p:spPr>
        <p:txBody>
          <a:bodyPr wrap="none" lIns="0" rIns="0" tIns="0" bIns="0">
            <a:spAutoFit/>
          </a:bodyPr>
          <a:lstStyle/>
          <a:p>
            <a:r>
              <a:rPr sz="1100" b="0">
                <a:solidFill>
                  <a:srgbClr val="2E2E2E"/>
                </a:solidFill>
                <a:latin typeface="Calibri"/>
              </a:rPr>
              <a:t>/10), Capacity Add (</a:t>
            </a:r>
          </a:p>
        </p:txBody>
      </p:sp>
      <p:pic>
        <p:nvPicPr>
          <p:cNvPr id="86" name="Picture 85" descr="lock.png"/>
          <p:cNvPicPr>
            <a:picLocks noChangeAspect="1"/>
          </p:cNvPicPr>
          <p:nvPr/>
        </p:nvPicPr>
        <p:blipFill>
          <a:blip r:embed="rId4"/>
          <a:stretch>
            <a:fillRect/>
          </a:stretch>
        </p:blipFill>
        <p:spPr>
          <a:xfrm>
            <a:off x="11025293" y="1486975"/>
            <a:ext cx="128699" cy="187198"/>
          </a:xfrm>
          <a:prstGeom prst="rect">
            <a:avLst/>
          </a:prstGeom>
        </p:spPr>
      </p:pic>
      <p:sp>
        <p:nvSpPr>
          <p:cNvPr id="87" name="TextBox 86"/>
          <p:cNvSpPr txBox="1"/>
          <p:nvPr/>
        </p:nvSpPr>
        <p:spPr>
          <a:xfrm>
            <a:off x="11192789" y="1496754"/>
            <a:ext cx="591616" cy="186689"/>
          </a:xfrm>
          <a:prstGeom prst="rect">
            <a:avLst/>
          </a:prstGeom>
          <a:noFill/>
        </p:spPr>
        <p:txBody>
          <a:bodyPr wrap="none" lIns="0" rIns="0" tIns="0" bIns="0">
            <a:spAutoFit/>
          </a:bodyPr>
          <a:lstStyle/>
          <a:p>
            <a:r>
              <a:rPr sz="1100" b="0">
                <a:solidFill>
                  <a:srgbClr val="2E2E2E"/>
                </a:solidFill>
                <a:latin typeface="Calibri"/>
              </a:rPr>
              <a:t>/10) on a</a:t>
            </a:r>
          </a:p>
        </p:txBody>
      </p:sp>
      <p:sp>
        <p:nvSpPr>
          <p:cNvPr id="88" name="TextBox 87"/>
          <p:cNvSpPr txBox="1"/>
          <p:nvPr/>
        </p:nvSpPr>
        <p:spPr>
          <a:xfrm>
            <a:off x="5000625" y="1664394"/>
            <a:ext cx="2764060" cy="186689"/>
          </a:xfrm>
          <a:prstGeom prst="rect">
            <a:avLst/>
          </a:prstGeom>
          <a:noFill/>
        </p:spPr>
        <p:txBody>
          <a:bodyPr wrap="none" lIns="0" rIns="0" tIns="0" bIns="0">
            <a:spAutoFit/>
          </a:bodyPr>
          <a:lstStyle/>
          <a:p>
            <a:r>
              <a:rPr sz="1100" b="0">
                <a:solidFill>
                  <a:srgbClr val="2E2E2E"/>
                </a:solidFill>
                <a:latin typeface="Calibri"/>
              </a:rPr>
              <a:t>0-10 scale scored from the global dataset itself.</a:t>
            </a:r>
          </a:p>
        </p:txBody>
      </p:sp>
      <p:sp>
        <p:nvSpPr>
          <p:cNvPr id="89" name="TextBox 88"/>
          <p:cNvSpPr txBox="1"/>
          <p:nvPr/>
        </p:nvSpPr>
        <p:spPr>
          <a:xfrm>
            <a:off x="5000625" y="1953097"/>
            <a:ext cx="1245914" cy="186689"/>
          </a:xfrm>
          <a:prstGeom prst="rect">
            <a:avLst/>
          </a:prstGeom>
          <a:noFill/>
        </p:spPr>
        <p:txBody>
          <a:bodyPr wrap="none" lIns="0" rIns="0" tIns="0" bIns="0">
            <a:spAutoFit/>
          </a:bodyPr>
          <a:lstStyle/>
          <a:p>
            <a:r>
              <a:rPr sz="1100" b="0">
                <a:solidFill>
                  <a:srgbClr val="2E2E2E"/>
                </a:solidFill>
                <a:latin typeface="Calibri"/>
              </a:rPr>
              <a:t>▪ Volume expands at</a:t>
            </a:r>
          </a:p>
        </p:txBody>
      </p:sp>
      <p:pic>
        <p:nvPicPr>
          <p:cNvPr id="90" name="Picture 89" descr="lock.png"/>
          <p:cNvPicPr>
            <a:picLocks noChangeAspect="1"/>
          </p:cNvPicPr>
          <p:nvPr/>
        </p:nvPicPr>
        <p:blipFill>
          <a:blip r:embed="rId4"/>
          <a:stretch>
            <a:fillRect/>
          </a:stretch>
        </p:blipFill>
        <p:spPr>
          <a:xfrm>
            <a:off x="6194591" y="1943318"/>
            <a:ext cx="128699" cy="187198"/>
          </a:xfrm>
          <a:prstGeom prst="rect">
            <a:avLst/>
          </a:prstGeom>
        </p:spPr>
      </p:pic>
      <p:sp>
        <p:nvSpPr>
          <p:cNvPr id="91" name="TextBox 90"/>
          <p:cNvSpPr txBox="1"/>
          <p:nvPr/>
        </p:nvSpPr>
        <p:spPr>
          <a:xfrm>
            <a:off x="6362087" y="1953097"/>
            <a:ext cx="3002788" cy="186689"/>
          </a:xfrm>
          <a:prstGeom prst="rect">
            <a:avLst/>
          </a:prstGeom>
          <a:noFill/>
        </p:spPr>
        <p:txBody>
          <a:bodyPr wrap="none" lIns="0" rIns="0" tIns="0" bIns="0">
            <a:spAutoFit/>
          </a:bodyPr>
          <a:lstStyle/>
          <a:p>
            <a:r>
              <a:rPr sz="1100" b="0">
                <a:solidFill>
                  <a:srgbClr val="2E2E2E"/>
                </a:solidFill>
                <a:latin typeface="Calibri"/>
              </a:rPr>
              <a:t>CAGR (2026–2036) while average realisation moves</a:t>
            </a:r>
          </a:p>
        </p:txBody>
      </p:sp>
      <p:pic>
        <p:nvPicPr>
          <p:cNvPr id="92" name="Picture 91" descr="lock.png"/>
          <p:cNvPicPr>
            <a:picLocks noChangeAspect="1"/>
          </p:cNvPicPr>
          <p:nvPr/>
        </p:nvPicPr>
        <p:blipFill>
          <a:blip r:embed="rId4"/>
          <a:stretch>
            <a:fillRect/>
          </a:stretch>
        </p:blipFill>
        <p:spPr>
          <a:xfrm>
            <a:off x="9312927" y="1943318"/>
            <a:ext cx="128699" cy="187198"/>
          </a:xfrm>
          <a:prstGeom prst="rect">
            <a:avLst/>
          </a:prstGeom>
        </p:spPr>
      </p:pic>
      <p:sp>
        <p:nvSpPr>
          <p:cNvPr id="93" name="TextBox 92"/>
          <p:cNvSpPr txBox="1"/>
          <p:nvPr/>
        </p:nvSpPr>
        <p:spPr>
          <a:xfrm>
            <a:off x="9480423" y="1953097"/>
            <a:ext cx="2346597" cy="186689"/>
          </a:xfrm>
          <a:prstGeom prst="rect">
            <a:avLst/>
          </a:prstGeom>
          <a:noFill/>
        </p:spPr>
        <p:txBody>
          <a:bodyPr wrap="none" lIns="0" rIns="0" tIns="0" bIns="0">
            <a:spAutoFit/>
          </a:bodyPr>
          <a:lstStyle/>
          <a:p>
            <a:r>
              <a:rPr sz="1100" b="0">
                <a:solidFill>
                  <a:srgbClr val="2E2E2E"/>
                </a:solidFill>
                <a:latin typeface="Calibri"/>
              </a:rPr>
              <a:t>a year the balance of those two sets the</a:t>
            </a:r>
          </a:p>
        </p:txBody>
      </p:sp>
      <p:sp>
        <p:nvSpPr>
          <p:cNvPr id="94" name="TextBox 93"/>
          <p:cNvSpPr txBox="1"/>
          <p:nvPr/>
        </p:nvSpPr>
        <p:spPr>
          <a:xfrm>
            <a:off x="5000625" y="2120737"/>
            <a:ext cx="1571426" cy="186689"/>
          </a:xfrm>
          <a:prstGeom prst="rect">
            <a:avLst/>
          </a:prstGeom>
          <a:noFill/>
        </p:spPr>
        <p:txBody>
          <a:bodyPr wrap="none" lIns="0" rIns="0" tIns="0" bIns="0">
            <a:spAutoFit/>
          </a:bodyPr>
          <a:lstStyle/>
          <a:p>
            <a:r>
              <a:rPr sz="1100" b="0">
                <a:solidFill>
                  <a:srgbClr val="2E2E2E"/>
                </a:solidFill>
                <a:latin typeface="Calibri"/>
              </a:rPr>
              <a:t>cost-pass-through picture.</a:t>
            </a:r>
          </a:p>
        </p:txBody>
      </p:sp>
      <p:sp>
        <p:nvSpPr>
          <p:cNvPr id="95" name="TextBox 94"/>
          <p:cNvSpPr txBox="1"/>
          <p:nvPr/>
        </p:nvSpPr>
        <p:spPr>
          <a:xfrm>
            <a:off x="5000625" y="2401990"/>
            <a:ext cx="2540049" cy="186689"/>
          </a:xfrm>
          <a:prstGeom prst="rect">
            <a:avLst/>
          </a:prstGeom>
          <a:noFill/>
        </p:spPr>
        <p:txBody>
          <a:bodyPr wrap="none" lIns="0" rIns="0" tIns="0" bIns="0">
            <a:spAutoFit/>
          </a:bodyPr>
          <a:lstStyle/>
          <a:p>
            <a:r>
              <a:rPr sz="1100" b="0">
                <a:solidFill>
                  <a:srgbClr val="2E2E2E"/>
                </a:solidFill>
                <a:latin typeface="Calibri"/>
              </a:rPr>
              <a:t>▪ Supply is dispersed: 'North America' holds</a:t>
            </a:r>
          </a:p>
        </p:txBody>
      </p:sp>
      <p:pic>
        <p:nvPicPr>
          <p:cNvPr id="96" name="Picture 95" descr="lock.png"/>
          <p:cNvPicPr>
            <a:picLocks noChangeAspect="1"/>
          </p:cNvPicPr>
          <p:nvPr/>
        </p:nvPicPr>
        <p:blipFill>
          <a:blip r:embed="rId4"/>
          <a:stretch>
            <a:fillRect/>
          </a:stretch>
        </p:blipFill>
        <p:spPr>
          <a:xfrm>
            <a:off x="7488726" y="2392211"/>
            <a:ext cx="128699" cy="187198"/>
          </a:xfrm>
          <a:prstGeom prst="rect">
            <a:avLst/>
          </a:prstGeom>
        </p:spPr>
      </p:pic>
      <p:sp>
        <p:nvSpPr>
          <p:cNvPr id="97" name="TextBox 96"/>
          <p:cNvSpPr txBox="1"/>
          <p:nvPr/>
        </p:nvSpPr>
        <p:spPr>
          <a:xfrm>
            <a:off x="7656222" y="2401990"/>
            <a:ext cx="1821358" cy="186689"/>
          </a:xfrm>
          <a:prstGeom prst="rect">
            <a:avLst/>
          </a:prstGeom>
          <a:noFill/>
        </p:spPr>
        <p:txBody>
          <a:bodyPr wrap="none" lIns="0" rIns="0" tIns="0" bIns="0">
            <a:spAutoFit/>
          </a:bodyPr>
          <a:lstStyle/>
          <a:p>
            <a:r>
              <a:rPr sz="1100" b="0">
                <a:solidFill>
                  <a:srgbClr val="2E2E2E"/>
                </a:solidFill>
                <a:latin typeface="Calibri"/>
              </a:rPr>
              <a:t>of 2036 value across 6 regions.</a:t>
            </a:r>
          </a:p>
        </p:txBody>
      </p:sp>
      <p:sp>
        <p:nvSpPr>
          <p:cNvPr id="98" name="TextBox 97"/>
          <p:cNvSpPr txBox="1"/>
          <p:nvPr/>
        </p:nvSpPr>
        <p:spPr>
          <a:xfrm>
            <a:off x="5000625" y="3132138"/>
            <a:ext cx="2931591" cy="186689"/>
          </a:xfrm>
          <a:prstGeom prst="rect">
            <a:avLst/>
          </a:prstGeom>
          <a:noFill/>
        </p:spPr>
        <p:txBody>
          <a:bodyPr wrap="none" lIns="0" rIns="0" tIns="0" bIns="0">
            <a:spAutoFit/>
          </a:bodyPr>
          <a:lstStyle/>
          <a:p>
            <a:r>
              <a:rPr sz="1100" b="0">
                <a:solidFill>
                  <a:srgbClr val="2E2E2E"/>
                </a:solidFill>
                <a:latin typeface="Calibri"/>
              </a:rPr>
              <a:t>▪ Capacity added between 2026 and 2036 is worth</a:t>
            </a:r>
          </a:p>
        </p:txBody>
      </p:sp>
      <p:pic>
        <p:nvPicPr>
          <p:cNvPr id="99" name="Picture 98" descr="lock.png"/>
          <p:cNvPicPr>
            <a:picLocks noChangeAspect="1"/>
          </p:cNvPicPr>
          <p:nvPr/>
        </p:nvPicPr>
        <p:blipFill>
          <a:blip r:embed="rId4"/>
          <a:stretch>
            <a:fillRect/>
          </a:stretch>
        </p:blipFill>
        <p:spPr>
          <a:xfrm>
            <a:off x="7880268" y="3122359"/>
            <a:ext cx="128699" cy="187198"/>
          </a:xfrm>
          <a:prstGeom prst="rect">
            <a:avLst/>
          </a:prstGeom>
        </p:spPr>
      </p:pic>
      <p:sp>
        <p:nvSpPr>
          <p:cNvPr id="100" name="TextBox 99"/>
          <p:cNvSpPr txBox="1"/>
          <p:nvPr/>
        </p:nvSpPr>
        <p:spPr>
          <a:xfrm>
            <a:off x="8047764" y="3132138"/>
            <a:ext cx="659010" cy="186689"/>
          </a:xfrm>
          <a:prstGeom prst="rect">
            <a:avLst/>
          </a:prstGeom>
          <a:noFill/>
        </p:spPr>
        <p:txBody>
          <a:bodyPr wrap="none" lIns="0" rIns="0" tIns="0" bIns="0">
            <a:spAutoFit/>
          </a:bodyPr>
          <a:lstStyle/>
          <a:p>
            <a:r>
              <a:rPr sz="1100" b="0">
                <a:solidFill>
                  <a:srgbClr val="2E2E2E"/>
                </a:solidFill>
                <a:latin typeface="Calibri"/>
              </a:rPr>
              <a:t>US$ Mn, a</a:t>
            </a:r>
          </a:p>
        </p:txBody>
      </p:sp>
      <p:pic>
        <p:nvPicPr>
          <p:cNvPr id="101" name="Picture 100" descr="lock.png"/>
          <p:cNvPicPr>
            <a:picLocks noChangeAspect="1"/>
          </p:cNvPicPr>
          <p:nvPr/>
        </p:nvPicPr>
        <p:blipFill>
          <a:blip r:embed="rId4"/>
          <a:stretch>
            <a:fillRect/>
          </a:stretch>
        </p:blipFill>
        <p:spPr>
          <a:xfrm>
            <a:off x="8654826" y="3122359"/>
            <a:ext cx="128699" cy="187198"/>
          </a:xfrm>
          <a:prstGeom prst="rect">
            <a:avLst/>
          </a:prstGeom>
        </p:spPr>
      </p:pic>
      <p:sp>
        <p:nvSpPr>
          <p:cNvPr id="102" name="TextBox 101"/>
          <p:cNvSpPr txBox="1"/>
          <p:nvPr/>
        </p:nvSpPr>
        <p:spPr>
          <a:xfrm>
            <a:off x="8822322" y="3132138"/>
            <a:ext cx="1801986" cy="186689"/>
          </a:xfrm>
          <a:prstGeom prst="rect">
            <a:avLst/>
          </a:prstGeom>
          <a:noFill/>
        </p:spPr>
        <p:txBody>
          <a:bodyPr wrap="none" lIns="0" rIns="0" tIns="0" bIns="0">
            <a:spAutoFit/>
          </a:bodyPr>
          <a:lstStyle/>
          <a:p>
            <a:r>
              <a:rPr sz="1100" b="0">
                <a:solidFill>
                  <a:srgbClr val="2E2E2E"/>
                </a:solidFill>
                <a:latin typeface="Calibri"/>
              </a:rPr>
              <a:t>× expansion on the 2026 base.</a:t>
            </a:r>
          </a:p>
        </p:txBody>
      </p:sp>
    </p:spTree>
  </p:cSld>
  <p:clrMapOvr>
    <a:masterClrMapping/>
  </p:clrMapOvr>
</p:sld>
</file>

<file path=ppt/slides/slide2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Egg Protein Membrane Market Global Driving Factors (2/2)</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demand-side factors scored by their impact on the global market</a:t>
            </a:r>
          </a:p>
        </p:txBody>
      </p:sp>
      <p:sp>
        <p:nvSpPr>
          <p:cNvPr id="7" name="Oval 6"/>
          <p:cNvSpPr/>
          <p:nvPr/>
        </p:nvSpPr>
        <p:spPr>
          <a:xfrm>
            <a:off x="5048250" y="1609633"/>
            <a:ext cx="4762500" cy="4563424"/>
          </a:xfrm>
          <a:prstGeom prst="ellipse">
            <a:avLst/>
          </a:prstGeom>
          <a:solidFill>
            <a:srgbClr val="E2F0CF"/>
          </a:solidFill>
          <a:ln w="12700">
            <a:solidFill>
              <a:srgbClr val="C5DFA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5286375" y="1837804"/>
            <a:ext cx="4286250" cy="4107082"/>
          </a:xfrm>
          <a:prstGeom prst="ellipse">
            <a:avLst/>
          </a:prstGeom>
          <a:solidFill>
            <a:srgbClr val="E2F0CF"/>
          </a:solidFill>
          <a:ln w="12700">
            <a:solidFill>
              <a:srgbClr val="C5DFA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5524500" y="2065976"/>
            <a:ext cx="3810000" cy="3650740"/>
          </a:xfrm>
          <a:prstGeom prst="ellipse">
            <a:avLst/>
          </a:prstGeom>
          <a:solidFill>
            <a:srgbClr val="E2F0CF"/>
          </a:solidFill>
          <a:ln w="12700">
            <a:solidFill>
              <a:srgbClr val="C5DFA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5762625" y="2294147"/>
            <a:ext cx="3333750" cy="3194397"/>
          </a:xfrm>
          <a:prstGeom prst="ellipse">
            <a:avLst/>
          </a:prstGeom>
          <a:solidFill>
            <a:srgbClr val="E2F0CF"/>
          </a:solidFill>
          <a:ln w="12700">
            <a:solidFill>
              <a:srgbClr val="C5DFA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000750" y="2522318"/>
            <a:ext cx="2857500" cy="2738055"/>
          </a:xfrm>
          <a:prstGeom prst="ellipse">
            <a:avLst/>
          </a:prstGeom>
          <a:solidFill>
            <a:srgbClr val="E2F0CF"/>
          </a:solidFill>
          <a:ln w="12700">
            <a:solidFill>
              <a:srgbClr val="C5DFA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238875" y="2750489"/>
            <a:ext cx="2381250" cy="2281712"/>
          </a:xfrm>
          <a:prstGeom prst="ellipse">
            <a:avLst/>
          </a:prstGeom>
          <a:solidFill>
            <a:srgbClr val="E2F0CF"/>
          </a:solidFill>
          <a:ln w="12700">
            <a:solidFill>
              <a:srgbClr val="C5DFA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77000" y="2978660"/>
            <a:ext cx="1905000" cy="1825370"/>
          </a:xfrm>
          <a:prstGeom prst="ellipse">
            <a:avLst/>
          </a:prstGeom>
          <a:solidFill>
            <a:srgbClr val="E2F0CF"/>
          </a:solidFill>
          <a:ln w="12700">
            <a:solidFill>
              <a:srgbClr val="C5DFA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715125" y="3206832"/>
            <a:ext cx="1428750" cy="1369027"/>
          </a:xfrm>
          <a:prstGeom prst="ellipse">
            <a:avLst/>
          </a:prstGeom>
          <a:solidFill>
            <a:srgbClr val="E2F0CF"/>
          </a:solidFill>
          <a:ln w="12700">
            <a:solidFill>
              <a:srgbClr val="C5DFA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953250" y="3435003"/>
            <a:ext cx="952500" cy="912685"/>
          </a:xfrm>
          <a:prstGeom prst="ellipse">
            <a:avLst/>
          </a:prstGeom>
          <a:solidFill>
            <a:srgbClr val="E2F0CF"/>
          </a:solidFill>
          <a:ln w="12700">
            <a:solidFill>
              <a:srgbClr val="C5DFA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91375" y="3663174"/>
            <a:ext cx="476250" cy="456342"/>
          </a:xfrm>
          <a:prstGeom prst="ellipse">
            <a:avLst/>
          </a:prstGeom>
          <a:solidFill>
            <a:srgbClr val="E2F0CF"/>
          </a:solidFill>
          <a:ln w="12700">
            <a:solidFill>
              <a:srgbClr val="C5DFA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Connector 16"/>
          <p:cNvCxnSpPr/>
          <p:nvPr/>
        </p:nvCxnSpPr>
        <p:spPr>
          <a:xfrm flipV="1">
            <a:off x="7429500" y="1609633"/>
            <a:ext cx="0" cy="2281712"/>
          </a:xfrm>
          <a:prstGeom prst="line">
            <a:avLst/>
          </a:prstGeom>
          <a:ln w="9525">
            <a:solidFill>
              <a:srgbClr val="C5DFA4"/>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7429500" y="1835594"/>
            <a:ext cx="1033186" cy="2055752"/>
          </a:xfrm>
          <a:prstGeom prst="line">
            <a:avLst/>
          </a:prstGeom>
          <a:ln w="9525">
            <a:solidFill>
              <a:srgbClr val="C5DFA4"/>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7429500" y="2468721"/>
            <a:ext cx="1861736" cy="1422624"/>
          </a:xfrm>
          <a:prstGeom prst="line">
            <a:avLst/>
          </a:prstGeom>
          <a:ln w="9525">
            <a:solidFill>
              <a:srgbClr val="C5DFA4"/>
            </a:solidFill>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7429500" y="3383617"/>
            <a:ext cx="2321547" cy="507729"/>
          </a:xfrm>
          <a:prstGeom prst="line">
            <a:avLst/>
          </a:prstGeom>
          <a:ln w="9525">
            <a:solidFill>
              <a:srgbClr val="C5DFA4"/>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7429500" y="3891345"/>
            <a:ext cx="2321547" cy="507729"/>
          </a:xfrm>
          <a:prstGeom prst="line">
            <a:avLst/>
          </a:prstGeom>
          <a:ln w="9525">
            <a:solidFill>
              <a:srgbClr val="C5DFA4"/>
            </a:solidFill>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7429500" y="3891345"/>
            <a:ext cx="1861736" cy="1422624"/>
          </a:xfrm>
          <a:prstGeom prst="line">
            <a:avLst/>
          </a:prstGeom>
          <a:ln w="9525">
            <a:solidFill>
              <a:srgbClr val="C5DFA4"/>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7429500" y="3891345"/>
            <a:ext cx="1033186" cy="2055752"/>
          </a:xfrm>
          <a:prstGeom prst="line">
            <a:avLst/>
          </a:prstGeom>
          <a:ln w="9525">
            <a:solidFill>
              <a:srgbClr val="C5DFA4"/>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7429500" y="3891345"/>
            <a:ext cx="0" cy="2281712"/>
          </a:xfrm>
          <a:prstGeom prst="line">
            <a:avLst/>
          </a:prstGeom>
          <a:ln w="9525">
            <a:solidFill>
              <a:srgbClr val="C5DFA4"/>
            </a:solidFill>
          </a:ln>
          <a:effectLst/>
        </p:spPr>
        <p:style>
          <a:lnRef idx="2">
            <a:schemeClr val="accent1"/>
          </a:lnRef>
          <a:fillRef idx="0">
            <a:schemeClr val="accent1"/>
          </a:fillRef>
          <a:effectRef idx="1">
            <a:schemeClr val="accent1"/>
          </a:effectRef>
          <a:fontRef idx="minor">
            <a:schemeClr val="tx1"/>
          </a:fontRef>
        </p:style>
      </p:cxnSp>
      <p:sp>
        <p:nvSpPr>
          <p:cNvPr id="25" name="Freeform 24"/>
          <p:cNvSpPr/>
          <p:nvPr/>
        </p:nvSpPr>
        <p:spPr>
          <a:xfrm>
            <a:off x="7429500" y="2659221"/>
            <a:ext cx="1524000" cy="3194397"/>
          </a:xfrm>
          <a:custGeom>
            <a:avLst/>
            <a:gdLst/>
            <a:ahLst/>
            <a:cxnLst/>
            <a:rect l="l" t="t" r="r" b="b"/>
            <a:pathLst>
              <a:path w="160" h="350">
                <a:moveTo>
                  <a:pt x="0" y="11"/>
                </a:moveTo>
                <a:lnTo>
                  <a:pt x="65" y="0"/>
                </a:lnTo>
                <a:lnTo>
                  <a:pt x="122" y="38"/>
                </a:lnTo>
                <a:lnTo>
                  <a:pt x="98" y="113"/>
                </a:lnTo>
                <a:lnTo>
                  <a:pt x="160" y="171"/>
                </a:lnTo>
                <a:lnTo>
                  <a:pt x="99" y="214"/>
                </a:lnTo>
                <a:lnTo>
                  <a:pt x="64" y="268"/>
                </a:lnTo>
                <a:lnTo>
                  <a:pt x="0" y="350"/>
                </a:lnTo>
              </a:path>
            </a:pathLst>
          </a:custGeom>
          <a:noFill/>
          <a:ln w="31750">
            <a:solidFill>
              <a:srgbClr val="0F5F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7381875" y="1563999"/>
            <a:ext cx="95250" cy="91268"/>
          </a:xfrm>
          <a:prstGeom prst="ellipse">
            <a:avLst/>
          </a:prstGeom>
          <a:solidFill>
            <a:srgbClr val="8CC152"/>
          </a:solidFill>
          <a:ln w="12700">
            <a:solidFill>
              <a:srgbClr val="8CC1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505700" y="1281067"/>
            <a:ext cx="2286000" cy="237298"/>
          </a:xfrm>
          <a:prstGeom prst="rect">
            <a:avLst/>
          </a:prstGeom>
          <a:noFill/>
        </p:spPr>
        <p:txBody>
          <a:bodyPr wrap="square" lIns="28575" rIns="28575" tIns="9525" bIns="9525" anchor="ctr">
            <a:spAutoFit/>
          </a:bodyPr>
          <a:lstStyle/>
          <a:p>
            <a:pPr algn="l"/>
            <a:r>
              <a:rPr sz="1100" b="0">
                <a:solidFill>
                  <a:srgbClr val="2E2E2E"/>
                </a:solidFill>
                <a:latin typeface="Calibri"/>
              </a:rPr>
              <a:t/>
            </a:r>
          </a:p>
        </p:txBody>
      </p:sp>
      <p:sp>
        <p:nvSpPr>
          <p:cNvPr id="28" name="Oval 27"/>
          <p:cNvSpPr/>
          <p:nvPr/>
        </p:nvSpPr>
        <p:spPr>
          <a:xfrm>
            <a:off x="8415061" y="1789960"/>
            <a:ext cx="95250" cy="91268"/>
          </a:xfrm>
          <a:prstGeom prst="ellipse">
            <a:avLst/>
          </a:prstGeom>
          <a:solidFill>
            <a:srgbClr val="8CC152"/>
          </a:solidFill>
          <a:ln w="12700">
            <a:solidFill>
              <a:srgbClr val="8CC1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520544" y="1519681"/>
            <a:ext cx="2286000" cy="237298"/>
          </a:xfrm>
          <a:prstGeom prst="rect">
            <a:avLst/>
          </a:prstGeom>
          <a:noFill/>
        </p:spPr>
        <p:txBody>
          <a:bodyPr wrap="square" lIns="28575" rIns="28575" tIns="9525" bIns="9525" anchor="ctr">
            <a:spAutoFit/>
          </a:bodyPr>
          <a:lstStyle/>
          <a:p>
            <a:pPr algn="l"/>
            <a:r>
              <a:rPr sz="1100" b="0">
                <a:solidFill>
                  <a:srgbClr val="2E2E2E"/>
                </a:solidFill>
                <a:latin typeface="Calibri"/>
              </a:rPr>
              <a:t/>
            </a:r>
          </a:p>
        </p:txBody>
      </p:sp>
      <p:sp>
        <p:nvSpPr>
          <p:cNvPr id="30" name="Oval 29"/>
          <p:cNvSpPr/>
          <p:nvPr/>
        </p:nvSpPr>
        <p:spPr>
          <a:xfrm>
            <a:off x="9243611" y="2423087"/>
            <a:ext cx="95250" cy="91268"/>
          </a:xfrm>
          <a:prstGeom prst="ellipse">
            <a:avLst/>
          </a:prstGeom>
          <a:solidFill>
            <a:srgbClr val="8CC152"/>
          </a:solidFill>
          <a:ln w="12700">
            <a:solidFill>
              <a:srgbClr val="8CC1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395493" y="2270405"/>
            <a:ext cx="2286000" cy="237298"/>
          </a:xfrm>
          <a:prstGeom prst="rect">
            <a:avLst/>
          </a:prstGeom>
          <a:noFill/>
        </p:spPr>
        <p:txBody>
          <a:bodyPr wrap="square" lIns="28575" rIns="28575" tIns="9525" bIns="9525" anchor="ctr">
            <a:spAutoFit/>
          </a:bodyPr>
          <a:lstStyle/>
          <a:p>
            <a:pPr algn="l"/>
            <a:r>
              <a:rPr sz="1100" b="0">
                <a:solidFill>
                  <a:srgbClr val="2E2E2E"/>
                </a:solidFill>
                <a:latin typeface="Calibri"/>
              </a:rPr>
              <a:t/>
            </a:r>
          </a:p>
        </p:txBody>
      </p:sp>
      <p:sp>
        <p:nvSpPr>
          <p:cNvPr id="32" name="Oval 31"/>
          <p:cNvSpPr/>
          <p:nvPr/>
        </p:nvSpPr>
        <p:spPr>
          <a:xfrm>
            <a:off x="9703422" y="3337982"/>
            <a:ext cx="95250" cy="91268"/>
          </a:xfrm>
          <a:prstGeom prst="ellipse">
            <a:avLst/>
          </a:prstGeom>
          <a:solidFill>
            <a:srgbClr val="8CC152"/>
          </a:solidFill>
          <a:ln w="12700">
            <a:solidFill>
              <a:srgbClr val="8CC1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881054" y="3236535"/>
            <a:ext cx="2168071" cy="237298"/>
          </a:xfrm>
          <a:prstGeom prst="rect">
            <a:avLst/>
          </a:prstGeom>
          <a:noFill/>
        </p:spPr>
        <p:txBody>
          <a:bodyPr wrap="square" lIns="28575" rIns="28575" tIns="9525" bIns="9525" anchor="ctr">
            <a:spAutoFit/>
          </a:bodyPr>
          <a:lstStyle/>
          <a:p>
            <a:pPr algn="l"/>
            <a:r>
              <a:rPr sz="1100" b="0">
                <a:solidFill>
                  <a:srgbClr val="2E2E2E"/>
                </a:solidFill>
                <a:latin typeface="Calibri"/>
              </a:rPr>
              <a:t/>
            </a:r>
          </a:p>
        </p:txBody>
      </p:sp>
      <p:sp>
        <p:nvSpPr>
          <p:cNvPr id="34" name="Oval 33"/>
          <p:cNvSpPr/>
          <p:nvPr/>
        </p:nvSpPr>
        <p:spPr>
          <a:xfrm>
            <a:off x="9703422" y="4353440"/>
            <a:ext cx="95250" cy="91268"/>
          </a:xfrm>
          <a:prstGeom prst="ellipse">
            <a:avLst/>
          </a:prstGeom>
          <a:solidFill>
            <a:srgbClr val="8CC152"/>
          </a:solidFill>
          <a:ln w="12700">
            <a:solidFill>
              <a:srgbClr val="8CC1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881054" y="4308858"/>
            <a:ext cx="2168071" cy="237298"/>
          </a:xfrm>
          <a:prstGeom prst="rect">
            <a:avLst/>
          </a:prstGeom>
          <a:noFill/>
        </p:spPr>
        <p:txBody>
          <a:bodyPr wrap="square" lIns="28575" rIns="28575" tIns="9525" bIns="9525" anchor="ctr">
            <a:spAutoFit/>
          </a:bodyPr>
          <a:lstStyle/>
          <a:p>
            <a:pPr algn="l"/>
            <a:r>
              <a:rPr sz="1100" b="0">
                <a:solidFill>
                  <a:srgbClr val="2E2E2E"/>
                </a:solidFill>
                <a:latin typeface="Calibri"/>
              </a:rPr>
              <a:t/>
            </a:r>
          </a:p>
        </p:txBody>
      </p:sp>
      <p:sp>
        <p:nvSpPr>
          <p:cNvPr id="36" name="Oval 35"/>
          <p:cNvSpPr/>
          <p:nvPr/>
        </p:nvSpPr>
        <p:spPr>
          <a:xfrm>
            <a:off x="9243611" y="5268335"/>
            <a:ext cx="95250" cy="91268"/>
          </a:xfrm>
          <a:prstGeom prst="ellipse">
            <a:avLst/>
          </a:prstGeom>
          <a:solidFill>
            <a:srgbClr val="8CC152"/>
          </a:solidFill>
          <a:ln w="12700">
            <a:solidFill>
              <a:srgbClr val="8CC1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395493" y="5274987"/>
            <a:ext cx="2286000" cy="237298"/>
          </a:xfrm>
          <a:prstGeom prst="rect">
            <a:avLst/>
          </a:prstGeom>
          <a:noFill/>
        </p:spPr>
        <p:txBody>
          <a:bodyPr wrap="square" lIns="28575" rIns="28575" tIns="9525" bIns="9525" anchor="ctr">
            <a:spAutoFit/>
          </a:bodyPr>
          <a:lstStyle/>
          <a:p>
            <a:pPr algn="l"/>
            <a:r>
              <a:rPr sz="1100" b="0">
                <a:solidFill>
                  <a:srgbClr val="2E2E2E"/>
                </a:solidFill>
                <a:latin typeface="Calibri"/>
              </a:rPr>
              <a:t/>
            </a:r>
          </a:p>
        </p:txBody>
      </p:sp>
      <p:sp>
        <p:nvSpPr>
          <p:cNvPr id="38" name="Oval 37"/>
          <p:cNvSpPr/>
          <p:nvPr/>
        </p:nvSpPr>
        <p:spPr>
          <a:xfrm>
            <a:off x="8415061" y="5901463"/>
            <a:ext cx="95250" cy="91268"/>
          </a:xfrm>
          <a:prstGeom prst="ellipse">
            <a:avLst/>
          </a:prstGeom>
          <a:solidFill>
            <a:srgbClr val="8CC152"/>
          </a:solidFill>
          <a:ln w="12700">
            <a:solidFill>
              <a:srgbClr val="8CC1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520544" y="6025711"/>
            <a:ext cx="2286000" cy="237298"/>
          </a:xfrm>
          <a:prstGeom prst="rect">
            <a:avLst/>
          </a:prstGeom>
          <a:noFill/>
        </p:spPr>
        <p:txBody>
          <a:bodyPr wrap="square" lIns="28575" rIns="28575" tIns="9525" bIns="9525" anchor="ctr">
            <a:spAutoFit/>
          </a:bodyPr>
          <a:lstStyle/>
          <a:p>
            <a:pPr algn="l"/>
            <a:r>
              <a:rPr sz="1100" b="0">
                <a:solidFill>
                  <a:srgbClr val="2E2E2E"/>
                </a:solidFill>
                <a:latin typeface="Calibri"/>
              </a:rPr>
              <a:t/>
            </a:r>
          </a:p>
        </p:txBody>
      </p:sp>
      <p:sp>
        <p:nvSpPr>
          <p:cNvPr id="40" name="Oval 39"/>
          <p:cNvSpPr/>
          <p:nvPr/>
        </p:nvSpPr>
        <p:spPr>
          <a:xfrm>
            <a:off x="7381875" y="6127423"/>
            <a:ext cx="95250" cy="91268"/>
          </a:xfrm>
          <a:prstGeom prst="ellipse">
            <a:avLst/>
          </a:prstGeom>
          <a:solidFill>
            <a:srgbClr val="8CC152"/>
          </a:solidFill>
          <a:ln w="12700">
            <a:solidFill>
              <a:srgbClr val="8CC1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505700" y="6264326"/>
            <a:ext cx="2286000" cy="237298"/>
          </a:xfrm>
          <a:prstGeom prst="rect">
            <a:avLst/>
          </a:prstGeom>
          <a:noFill/>
        </p:spPr>
        <p:txBody>
          <a:bodyPr wrap="square" lIns="28575" rIns="28575" tIns="9525" bIns="9525" anchor="ctr">
            <a:spAutoFit/>
          </a:bodyPr>
          <a:lstStyle/>
          <a:p>
            <a:pPr algn="l"/>
            <a:r>
              <a:rPr sz="1100" b="0">
                <a:solidFill>
                  <a:srgbClr val="2E2E2E"/>
                </a:solidFill>
                <a:latin typeface="Calibri"/>
              </a:rPr>
              <a:t/>
            </a:r>
          </a:p>
        </p:txBody>
      </p:sp>
      <p:sp>
        <p:nvSpPr>
          <p:cNvPr id="42" name="Rectangle 41"/>
          <p:cNvSpPr/>
          <p:nvPr/>
        </p:nvSpPr>
        <p:spPr>
          <a:xfrm>
            <a:off x="0" y="970754"/>
            <a:ext cx="7429500" cy="5640393"/>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MR Scale 0"/>
          <p:cNvSpPr txBox="1"/>
          <p:nvPr/>
        </p:nvSpPr>
        <p:spPr>
          <a:xfrm>
            <a:off x="7486650" y="3818331"/>
            <a:ext cx="419100" cy="146030"/>
          </a:xfrm>
          <a:prstGeom prst="rect">
            <a:avLst/>
          </a:prstGeom>
          <a:noFill/>
        </p:spPr>
        <p:txBody>
          <a:bodyPr wrap="none" lIns="0" rIns="0" tIns="0" bIns="0" anchor="ctr">
            <a:spAutoFit/>
          </a:bodyPr>
          <a:lstStyle/>
          <a:p>
            <a:pPr algn="l"/>
            <a:r>
              <a:rPr sz="1100" b="0">
                <a:solidFill>
                  <a:srgbClr val="6C7A89"/>
                </a:solidFill>
                <a:latin typeface="Calibri"/>
              </a:rPr>
              <a:t>0%</a:t>
            </a:r>
          </a:p>
        </p:txBody>
      </p:sp>
      <p:sp>
        <p:nvSpPr>
          <p:cNvPr id="44" name="TMR Scale 1"/>
          <p:cNvSpPr txBox="1"/>
          <p:nvPr/>
        </p:nvSpPr>
        <p:spPr>
          <a:xfrm>
            <a:off x="7486650" y="3590159"/>
            <a:ext cx="419100" cy="146030"/>
          </a:xfrm>
          <a:prstGeom prst="rect">
            <a:avLst/>
          </a:prstGeom>
          <a:noFill/>
        </p:spPr>
        <p:txBody>
          <a:bodyPr wrap="none" lIns="0" rIns="0" tIns="0" bIns="0" anchor="ctr">
            <a:spAutoFit/>
          </a:bodyPr>
          <a:lstStyle/>
          <a:p>
            <a:pPr algn="l"/>
            <a:r>
              <a:rPr sz="1100" b="0">
                <a:solidFill>
                  <a:srgbClr val="6C7A89"/>
                </a:solidFill>
                <a:latin typeface="Calibri"/>
              </a:rPr>
              <a:t>10%</a:t>
            </a:r>
          </a:p>
        </p:txBody>
      </p:sp>
      <p:sp>
        <p:nvSpPr>
          <p:cNvPr id="45" name="TMR Scale 2"/>
          <p:cNvSpPr txBox="1"/>
          <p:nvPr/>
        </p:nvSpPr>
        <p:spPr>
          <a:xfrm>
            <a:off x="7486650" y="3361988"/>
            <a:ext cx="419100" cy="146030"/>
          </a:xfrm>
          <a:prstGeom prst="rect">
            <a:avLst/>
          </a:prstGeom>
          <a:noFill/>
        </p:spPr>
        <p:txBody>
          <a:bodyPr wrap="none" lIns="0" rIns="0" tIns="0" bIns="0" anchor="ctr">
            <a:spAutoFit/>
          </a:bodyPr>
          <a:lstStyle/>
          <a:p>
            <a:pPr algn="l"/>
            <a:r>
              <a:rPr sz="1100" b="0">
                <a:solidFill>
                  <a:srgbClr val="6C7A89"/>
                </a:solidFill>
                <a:latin typeface="Calibri"/>
              </a:rPr>
              <a:t>20%</a:t>
            </a:r>
          </a:p>
        </p:txBody>
      </p:sp>
      <p:sp>
        <p:nvSpPr>
          <p:cNvPr id="46" name="TMR Scale 3"/>
          <p:cNvSpPr txBox="1"/>
          <p:nvPr/>
        </p:nvSpPr>
        <p:spPr>
          <a:xfrm>
            <a:off x="7486650" y="3133817"/>
            <a:ext cx="419100" cy="146030"/>
          </a:xfrm>
          <a:prstGeom prst="rect">
            <a:avLst/>
          </a:prstGeom>
          <a:noFill/>
        </p:spPr>
        <p:txBody>
          <a:bodyPr wrap="none" lIns="0" rIns="0" tIns="0" bIns="0" anchor="ctr">
            <a:spAutoFit/>
          </a:bodyPr>
          <a:lstStyle/>
          <a:p>
            <a:pPr algn="l"/>
            <a:r>
              <a:rPr sz="1100" b="0">
                <a:solidFill>
                  <a:srgbClr val="6C7A89"/>
                </a:solidFill>
                <a:latin typeface="Calibri"/>
              </a:rPr>
              <a:t>30%</a:t>
            </a:r>
          </a:p>
        </p:txBody>
      </p:sp>
      <p:sp>
        <p:nvSpPr>
          <p:cNvPr id="47" name="TMR Scale 4"/>
          <p:cNvSpPr txBox="1"/>
          <p:nvPr/>
        </p:nvSpPr>
        <p:spPr>
          <a:xfrm>
            <a:off x="7486650" y="2905646"/>
            <a:ext cx="419100" cy="146030"/>
          </a:xfrm>
          <a:prstGeom prst="rect">
            <a:avLst/>
          </a:prstGeom>
          <a:noFill/>
        </p:spPr>
        <p:txBody>
          <a:bodyPr wrap="none" lIns="0" rIns="0" tIns="0" bIns="0" anchor="ctr">
            <a:spAutoFit/>
          </a:bodyPr>
          <a:lstStyle/>
          <a:p>
            <a:pPr algn="l"/>
            <a:r>
              <a:rPr sz="1100" b="0">
                <a:solidFill>
                  <a:srgbClr val="6C7A89"/>
                </a:solidFill>
                <a:latin typeface="Calibri"/>
              </a:rPr>
              <a:t>40%</a:t>
            </a:r>
          </a:p>
        </p:txBody>
      </p:sp>
      <p:sp>
        <p:nvSpPr>
          <p:cNvPr id="48" name="TMR Scale 5"/>
          <p:cNvSpPr txBox="1"/>
          <p:nvPr/>
        </p:nvSpPr>
        <p:spPr>
          <a:xfrm>
            <a:off x="7486650" y="2677474"/>
            <a:ext cx="419100" cy="146030"/>
          </a:xfrm>
          <a:prstGeom prst="rect">
            <a:avLst/>
          </a:prstGeom>
          <a:noFill/>
        </p:spPr>
        <p:txBody>
          <a:bodyPr wrap="none" lIns="0" rIns="0" tIns="0" bIns="0" anchor="ctr">
            <a:spAutoFit/>
          </a:bodyPr>
          <a:lstStyle/>
          <a:p>
            <a:pPr algn="l"/>
            <a:r>
              <a:rPr sz="1100" b="0">
                <a:solidFill>
                  <a:srgbClr val="6C7A89"/>
                </a:solidFill>
                <a:latin typeface="Calibri"/>
              </a:rPr>
              <a:t>50%</a:t>
            </a:r>
          </a:p>
        </p:txBody>
      </p:sp>
      <p:sp>
        <p:nvSpPr>
          <p:cNvPr id="49" name="TMR Scale 6"/>
          <p:cNvSpPr txBox="1"/>
          <p:nvPr/>
        </p:nvSpPr>
        <p:spPr>
          <a:xfrm>
            <a:off x="7486650" y="2449303"/>
            <a:ext cx="419100" cy="146030"/>
          </a:xfrm>
          <a:prstGeom prst="rect">
            <a:avLst/>
          </a:prstGeom>
          <a:noFill/>
        </p:spPr>
        <p:txBody>
          <a:bodyPr wrap="none" lIns="0" rIns="0" tIns="0" bIns="0" anchor="ctr">
            <a:spAutoFit/>
          </a:bodyPr>
          <a:lstStyle/>
          <a:p>
            <a:pPr algn="l"/>
            <a:r>
              <a:rPr sz="1100" b="0">
                <a:solidFill>
                  <a:srgbClr val="6C7A89"/>
                </a:solidFill>
                <a:latin typeface="Calibri"/>
              </a:rPr>
              <a:t>60%</a:t>
            </a:r>
          </a:p>
        </p:txBody>
      </p:sp>
      <p:sp>
        <p:nvSpPr>
          <p:cNvPr id="50" name="TMR Scale 7"/>
          <p:cNvSpPr txBox="1"/>
          <p:nvPr/>
        </p:nvSpPr>
        <p:spPr>
          <a:xfrm>
            <a:off x="7486650" y="2221132"/>
            <a:ext cx="419100" cy="146030"/>
          </a:xfrm>
          <a:prstGeom prst="rect">
            <a:avLst/>
          </a:prstGeom>
          <a:noFill/>
        </p:spPr>
        <p:txBody>
          <a:bodyPr wrap="none" lIns="0" rIns="0" tIns="0" bIns="0" anchor="ctr">
            <a:spAutoFit/>
          </a:bodyPr>
          <a:lstStyle/>
          <a:p>
            <a:pPr algn="l"/>
            <a:r>
              <a:rPr sz="1100" b="0">
                <a:solidFill>
                  <a:srgbClr val="6C7A89"/>
                </a:solidFill>
                <a:latin typeface="Calibri"/>
              </a:rPr>
              <a:t>70%</a:t>
            </a:r>
          </a:p>
        </p:txBody>
      </p:sp>
      <p:sp>
        <p:nvSpPr>
          <p:cNvPr id="51" name="TMR Scale 8"/>
          <p:cNvSpPr txBox="1"/>
          <p:nvPr/>
        </p:nvSpPr>
        <p:spPr>
          <a:xfrm>
            <a:off x="7486650" y="1992961"/>
            <a:ext cx="419100" cy="146030"/>
          </a:xfrm>
          <a:prstGeom prst="rect">
            <a:avLst/>
          </a:prstGeom>
          <a:noFill/>
        </p:spPr>
        <p:txBody>
          <a:bodyPr wrap="none" lIns="0" rIns="0" tIns="0" bIns="0" anchor="ctr">
            <a:spAutoFit/>
          </a:bodyPr>
          <a:lstStyle/>
          <a:p>
            <a:pPr algn="l"/>
            <a:r>
              <a:rPr sz="1100" b="0">
                <a:solidFill>
                  <a:srgbClr val="6C7A89"/>
                </a:solidFill>
                <a:latin typeface="Calibri"/>
              </a:rPr>
              <a:t>80%</a:t>
            </a:r>
          </a:p>
        </p:txBody>
      </p:sp>
      <p:sp>
        <p:nvSpPr>
          <p:cNvPr id="52" name="TMR Scale 9"/>
          <p:cNvSpPr txBox="1"/>
          <p:nvPr/>
        </p:nvSpPr>
        <p:spPr>
          <a:xfrm>
            <a:off x="7486650" y="1764790"/>
            <a:ext cx="419100" cy="146030"/>
          </a:xfrm>
          <a:prstGeom prst="rect">
            <a:avLst/>
          </a:prstGeom>
          <a:noFill/>
        </p:spPr>
        <p:txBody>
          <a:bodyPr wrap="none" lIns="0" rIns="0" tIns="0" bIns="0" anchor="ctr">
            <a:spAutoFit/>
          </a:bodyPr>
          <a:lstStyle/>
          <a:p>
            <a:pPr algn="l"/>
            <a:r>
              <a:rPr sz="1100" b="0">
                <a:solidFill>
                  <a:srgbClr val="6C7A89"/>
                </a:solidFill>
                <a:latin typeface="Calibri"/>
              </a:rPr>
              <a:t>90%</a:t>
            </a:r>
          </a:p>
        </p:txBody>
      </p:sp>
      <p:sp>
        <p:nvSpPr>
          <p:cNvPr id="53" name="TMR Scale 10"/>
          <p:cNvSpPr txBox="1"/>
          <p:nvPr/>
        </p:nvSpPr>
        <p:spPr>
          <a:xfrm>
            <a:off x="7486650" y="1536618"/>
            <a:ext cx="419100" cy="146030"/>
          </a:xfrm>
          <a:prstGeom prst="rect">
            <a:avLst/>
          </a:prstGeom>
          <a:noFill/>
        </p:spPr>
        <p:txBody>
          <a:bodyPr wrap="none" lIns="0" rIns="0" tIns="0" bIns="0" anchor="ctr">
            <a:spAutoFit/>
          </a:bodyPr>
          <a:lstStyle/>
          <a:p>
            <a:pPr algn="l"/>
            <a:r>
              <a:rPr sz="1100" b="0">
                <a:solidFill>
                  <a:srgbClr val="6C7A89"/>
                </a:solidFill>
                <a:latin typeface="Calibri"/>
              </a:rPr>
              <a:t>100%</a:t>
            </a:r>
          </a:p>
        </p:txBody>
      </p:sp>
      <p:cxnSp>
        <p:nvCxnSpPr>
          <p:cNvPr id="54" name="Connector 53"/>
          <p:cNvCxnSpPr/>
          <p:nvPr/>
        </p:nvCxnSpPr>
        <p:spPr>
          <a:xfrm>
            <a:off x="7429500" y="1025515"/>
            <a:ext cx="0" cy="5549124"/>
          </a:xfrm>
          <a:prstGeom prst="line">
            <a:avLst/>
          </a:prstGeom>
          <a:ln w="12700">
            <a:solidFill>
              <a:srgbClr val="D5DBE1"/>
            </a:solidFill>
          </a:ln>
          <a:effectLst/>
        </p:spPr>
        <p:style>
          <a:lnRef idx="2">
            <a:schemeClr val="accent1"/>
          </a:lnRef>
          <a:fillRef idx="0">
            <a:schemeClr val="accent1"/>
          </a:fillRef>
          <a:effectRef idx="1">
            <a:schemeClr val="accent1"/>
          </a:effectRef>
          <a:fontRef idx="minor">
            <a:schemeClr val="tx1"/>
          </a:fontRef>
        </p:style>
      </p:cxnSp>
      <p:sp>
        <p:nvSpPr>
          <p:cNvPr id="55" name="TextBox 54"/>
          <p:cNvSpPr txBox="1"/>
          <p:nvPr/>
        </p:nvSpPr>
        <p:spPr>
          <a:xfrm>
            <a:off x="180975" y="1080276"/>
            <a:ext cx="7038975" cy="219044"/>
          </a:xfrm>
          <a:prstGeom prst="rect">
            <a:avLst/>
          </a:prstGeom>
          <a:noFill/>
        </p:spPr>
        <p:txBody>
          <a:bodyPr wrap="square" lIns="28575" rIns="28575" tIns="9525" bIns="9525" anchor="ctr">
            <a:spAutoFit/>
          </a:bodyPr>
          <a:lstStyle/>
          <a:p>
            <a:pPr algn="l"/>
            <a:r>
              <a:rPr sz="1200" b="1">
                <a:solidFill>
                  <a:srgbClr val="0B2E4A"/>
                </a:solidFill>
                <a:latin typeface="Calibri"/>
              </a:rPr>
              <a:t>Demand-side Factors</a:t>
            </a:r>
          </a:p>
        </p:txBody>
      </p:sp>
      <p:cxnSp>
        <p:nvCxnSpPr>
          <p:cNvPr id="56" name="Connector 55"/>
          <p:cNvCxnSpPr/>
          <p:nvPr/>
        </p:nvCxnSpPr>
        <p:spPr>
          <a:xfrm>
            <a:off x="180975" y="1335828"/>
            <a:ext cx="7038975" cy="0"/>
          </a:xfrm>
          <a:prstGeom prst="line">
            <a:avLst/>
          </a:prstGeom>
          <a:ln w="31750">
            <a:solidFill>
              <a:srgbClr val="1F6FB4"/>
            </a:solidFill>
          </a:ln>
          <a:effectLst/>
        </p:spPr>
        <p:style>
          <a:lnRef idx="2">
            <a:schemeClr val="accent1"/>
          </a:lnRef>
          <a:fillRef idx="0">
            <a:schemeClr val="accent1"/>
          </a:fillRef>
          <a:effectRef idx="1">
            <a:schemeClr val="accent1"/>
          </a:effectRef>
          <a:fontRef idx="minor">
            <a:schemeClr val="tx1"/>
          </a:fontRef>
        </p:style>
      </p:cxnSp>
      <p:sp>
        <p:nvSpPr>
          <p:cNvPr id="57" name="TextBox 56"/>
          <p:cNvSpPr txBox="1"/>
          <p:nvPr/>
        </p:nvSpPr>
        <p:spPr>
          <a:xfrm>
            <a:off x="180975" y="1427096"/>
            <a:ext cx="7038975"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58" name="TextBox 57"/>
          <p:cNvSpPr txBox="1"/>
          <p:nvPr/>
        </p:nvSpPr>
        <p:spPr>
          <a:xfrm>
            <a:off x="180975" y="1883439"/>
            <a:ext cx="7038975" cy="292059"/>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59" name="TextBox 58"/>
          <p:cNvSpPr txBox="1"/>
          <p:nvPr/>
        </p:nvSpPr>
        <p:spPr>
          <a:xfrm>
            <a:off x="180975" y="2157244"/>
            <a:ext cx="7038975"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60" name="TextBox 59"/>
          <p:cNvSpPr txBox="1"/>
          <p:nvPr/>
        </p:nvSpPr>
        <p:spPr>
          <a:xfrm>
            <a:off x="180975" y="2613586"/>
            <a:ext cx="7038975"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61" name="TextBox 60"/>
          <p:cNvSpPr txBox="1"/>
          <p:nvPr/>
        </p:nvSpPr>
        <p:spPr>
          <a:xfrm>
            <a:off x="180975" y="3069929"/>
            <a:ext cx="7038975"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62" name="TextBox 61"/>
          <p:cNvSpPr txBox="1"/>
          <p:nvPr/>
        </p:nvSpPr>
        <p:spPr>
          <a:xfrm>
            <a:off x="180975" y="3526271"/>
            <a:ext cx="7038975"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Note: the dynamics framing is indicative factors, impact ratings and narrative are generated from the loaded dataset's own values.</a:t>
            </a:r>
          </a:p>
        </p:txBody>
      </p:sp>
      <p:sp>
        <p:nvSpPr>
          <p:cNvPr id="63" name="Rectangle 62"/>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
        <p:nvSpPr>
          <p:cNvPr id="65" name="TextBox 64"/>
          <p:cNvSpPr txBox="1"/>
          <p:nvPr/>
        </p:nvSpPr>
        <p:spPr>
          <a:xfrm>
            <a:off x="7534275" y="1322601"/>
            <a:ext cx="943988" cy="173278"/>
          </a:xfrm>
          <a:prstGeom prst="rect">
            <a:avLst/>
          </a:prstGeom>
          <a:noFill/>
        </p:spPr>
        <p:txBody>
          <a:bodyPr wrap="none" lIns="0" rIns="0" tIns="0" bIns="0">
            <a:spAutoFit/>
          </a:bodyPr>
          <a:lstStyle/>
          <a:p>
            <a:r>
              <a:rPr sz="1011" b="0">
                <a:solidFill>
                  <a:srgbClr val="2E2E2E"/>
                </a:solidFill>
                <a:latin typeface="Calibri"/>
              </a:rPr>
              <a:t>Demand Growth</a:t>
            </a:r>
          </a:p>
        </p:txBody>
      </p:sp>
      <p:pic>
        <p:nvPicPr>
          <p:cNvPr id="66" name="Picture 65" descr="lock.png"/>
          <p:cNvPicPr>
            <a:picLocks noChangeAspect="1"/>
          </p:cNvPicPr>
          <p:nvPr/>
        </p:nvPicPr>
        <p:blipFill>
          <a:blip r:embed="rId4"/>
          <a:stretch>
            <a:fillRect/>
          </a:stretch>
        </p:blipFill>
        <p:spPr>
          <a:xfrm>
            <a:off x="8424374" y="1313604"/>
            <a:ext cx="118403" cy="172222"/>
          </a:xfrm>
          <a:prstGeom prst="rect">
            <a:avLst/>
          </a:prstGeom>
        </p:spPr>
      </p:pic>
      <p:sp>
        <p:nvSpPr>
          <p:cNvPr id="67" name="TextBox 66"/>
          <p:cNvSpPr txBox="1"/>
          <p:nvPr/>
        </p:nvSpPr>
        <p:spPr>
          <a:xfrm>
            <a:off x="8549119" y="1561215"/>
            <a:ext cx="903573" cy="173278"/>
          </a:xfrm>
          <a:prstGeom prst="rect">
            <a:avLst/>
          </a:prstGeom>
          <a:noFill/>
        </p:spPr>
        <p:txBody>
          <a:bodyPr wrap="none" lIns="0" rIns="0" tIns="0" bIns="0">
            <a:spAutoFit/>
          </a:bodyPr>
          <a:lstStyle/>
          <a:p>
            <a:r>
              <a:rPr sz="1011" b="0">
                <a:solidFill>
                  <a:srgbClr val="2E2E2E"/>
                </a:solidFill>
                <a:latin typeface="Calibri"/>
              </a:rPr>
              <a:t>Premiumisation</a:t>
            </a:r>
          </a:p>
        </p:txBody>
      </p:sp>
      <p:pic>
        <p:nvPicPr>
          <p:cNvPr id="68" name="Picture 67" descr="lock.png"/>
          <p:cNvPicPr>
            <a:picLocks noChangeAspect="1"/>
          </p:cNvPicPr>
          <p:nvPr/>
        </p:nvPicPr>
        <p:blipFill>
          <a:blip r:embed="rId4"/>
          <a:stretch>
            <a:fillRect/>
          </a:stretch>
        </p:blipFill>
        <p:spPr>
          <a:xfrm>
            <a:off x="9398803" y="1552218"/>
            <a:ext cx="118403" cy="172222"/>
          </a:xfrm>
          <a:prstGeom prst="rect">
            <a:avLst/>
          </a:prstGeom>
        </p:spPr>
      </p:pic>
      <p:sp>
        <p:nvSpPr>
          <p:cNvPr id="69" name="TextBox 68"/>
          <p:cNvSpPr txBox="1"/>
          <p:nvPr/>
        </p:nvSpPr>
        <p:spPr>
          <a:xfrm>
            <a:off x="9424068" y="2311939"/>
            <a:ext cx="765761" cy="173278"/>
          </a:xfrm>
          <a:prstGeom prst="rect">
            <a:avLst/>
          </a:prstGeom>
          <a:noFill/>
        </p:spPr>
        <p:txBody>
          <a:bodyPr wrap="none" lIns="0" rIns="0" tIns="0" bIns="0">
            <a:spAutoFit/>
          </a:bodyPr>
          <a:lstStyle/>
          <a:p>
            <a:r>
              <a:rPr sz="1011" b="0">
                <a:solidFill>
                  <a:srgbClr val="2E2E2E"/>
                </a:solidFill>
                <a:latin typeface="Calibri"/>
              </a:rPr>
              <a:t>App. Breadth</a:t>
            </a:r>
          </a:p>
        </p:txBody>
      </p:sp>
      <p:pic>
        <p:nvPicPr>
          <p:cNvPr id="70" name="Picture 69" descr="lock.png"/>
          <p:cNvPicPr>
            <a:picLocks noChangeAspect="1"/>
          </p:cNvPicPr>
          <p:nvPr/>
        </p:nvPicPr>
        <p:blipFill>
          <a:blip r:embed="rId4"/>
          <a:stretch>
            <a:fillRect/>
          </a:stretch>
        </p:blipFill>
        <p:spPr>
          <a:xfrm>
            <a:off x="10135940" y="2302942"/>
            <a:ext cx="118403" cy="172222"/>
          </a:xfrm>
          <a:prstGeom prst="rect">
            <a:avLst/>
          </a:prstGeom>
        </p:spPr>
      </p:pic>
      <p:sp>
        <p:nvSpPr>
          <p:cNvPr id="71" name="TextBox 70"/>
          <p:cNvSpPr txBox="1"/>
          <p:nvPr/>
        </p:nvSpPr>
        <p:spPr>
          <a:xfrm>
            <a:off x="9909628" y="3278069"/>
            <a:ext cx="791114" cy="173278"/>
          </a:xfrm>
          <a:prstGeom prst="rect">
            <a:avLst/>
          </a:prstGeom>
          <a:noFill/>
        </p:spPr>
        <p:txBody>
          <a:bodyPr wrap="none" lIns="0" rIns="0" tIns="0" bIns="0">
            <a:spAutoFit/>
          </a:bodyPr>
          <a:lstStyle/>
          <a:p>
            <a:r>
              <a:rPr sz="1011" b="0">
                <a:solidFill>
                  <a:srgbClr val="2E2E2E"/>
                </a:solidFill>
                <a:latin typeface="Calibri"/>
              </a:rPr>
              <a:t>Emerging Pull</a:t>
            </a:r>
          </a:p>
        </p:txBody>
      </p:sp>
      <p:pic>
        <p:nvPicPr>
          <p:cNvPr id="72" name="Picture 71" descr="lock.png"/>
          <p:cNvPicPr>
            <a:picLocks noChangeAspect="1"/>
          </p:cNvPicPr>
          <p:nvPr/>
        </p:nvPicPr>
        <p:blipFill>
          <a:blip r:embed="rId4"/>
          <a:stretch>
            <a:fillRect/>
          </a:stretch>
        </p:blipFill>
        <p:spPr>
          <a:xfrm>
            <a:off x="10646855" y="3269072"/>
            <a:ext cx="118403" cy="172222"/>
          </a:xfrm>
          <a:prstGeom prst="rect">
            <a:avLst/>
          </a:prstGeom>
        </p:spPr>
      </p:pic>
      <p:sp>
        <p:nvSpPr>
          <p:cNvPr id="73" name="TextBox 72"/>
          <p:cNvSpPr txBox="1"/>
          <p:nvPr/>
        </p:nvSpPr>
        <p:spPr>
          <a:xfrm>
            <a:off x="9909628" y="4350392"/>
            <a:ext cx="1135267" cy="173278"/>
          </a:xfrm>
          <a:prstGeom prst="rect">
            <a:avLst/>
          </a:prstGeom>
          <a:noFill/>
        </p:spPr>
        <p:txBody>
          <a:bodyPr wrap="none" lIns="0" rIns="0" tIns="0" bIns="0">
            <a:spAutoFit/>
          </a:bodyPr>
          <a:lstStyle/>
          <a:p>
            <a:r>
              <a:rPr sz="1011" b="0">
                <a:solidFill>
                  <a:srgbClr val="2E2E2E"/>
                </a:solidFill>
                <a:latin typeface="Calibri"/>
              </a:rPr>
              <a:t>Volume Momentum</a:t>
            </a:r>
          </a:p>
        </p:txBody>
      </p:sp>
      <p:pic>
        <p:nvPicPr>
          <p:cNvPr id="74" name="Picture 73" descr="lock.png"/>
          <p:cNvPicPr>
            <a:picLocks noChangeAspect="1"/>
          </p:cNvPicPr>
          <p:nvPr/>
        </p:nvPicPr>
        <p:blipFill>
          <a:blip r:embed="rId4"/>
          <a:stretch>
            <a:fillRect/>
          </a:stretch>
        </p:blipFill>
        <p:spPr>
          <a:xfrm>
            <a:off x="10991008" y="4341395"/>
            <a:ext cx="118403" cy="172222"/>
          </a:xfrm>
          <a:prstGeom prst="rect">
            <a:avLst/>
          </a:prstGeom>
        </p:spPr>
      </p:pic>
      <p:sp>
        <p:nvSpPr>
          <p:cNvPr id="75" name="TextBox 74"/>
          <p:cNvSpPr txBox="1"/>
          <p:nvPr/>
        </p:nvSpPr>
        <p:spPr>
          <a:xfrm>
            <a:off x="9424068" y="5316521"/>
            <a:ext cx="1032097" cy="173278"/>
          </a:xfrm>
          <a:prstGeom prst="rect">
            <a:avLst/>
          </a:prstGeom>
          <a:noFill/>
        </p:spPr>
        <p:txBody>
          <a:bodyPr wrap="none" lIns="0" rIns="0" tIns="0" bIns="0">
            <a:spAutoFit/>
          </a:bodyPr>
          <a:lstStyle/>
          <a:p>
            <a:r>
              <a:rPr sz="1011" b="0">
                <a:solidFill>
                  <a:srgbClr val="2E2E2E"/>
                </a:solidFill>
                <a:latin typeface="Calibri"/>
              </a:rPr>
              <a:t>Category Maturity</a:t>
            </a:r>
          </a:p>
        </p:txBody>
      </p:sp>
      <p:pic>
        <p:nvPicPr>
          <p:cNvPr id="76" name="Picture 75" descr="lock.png"/>
          <p:cNvPicPr>
            <a:picLocks noChangeAspect="1"/>
          </p:cNvPicPr>
          <p:nvPr/>
        </p:nvPicPr>
        <p:blipFill>
          <a:blip r:embed="rId4"/>
          <a:stretch>
            <a:fillRect/>
          </a:stretch>
        </p:blipFill>
        <p:spPr>
          <a:xfrm>
            <a:off x="10402276" y="5307524"/>
            <a:ext cx="118403" cy="172222"/>
          </a:xfrm>
          <a:prstGeom prst="rect">
            <a:avLst/>
          </a:prstGeom>
        </p:spPr>
      </p:pic>
      <p:sp>
        <p:nvSpPr>
          <p:cNvPr id="77" name="TextBox 76"/>
          <p:cNvSpPr txBox="1"/>
          <p:nvPr/>
        </p:nvSpPr>
        <p:spPr>
          <a:xfrm>
            <a:off x="8549119" y="6067245"/>
            <a:ext cx="911857" cy="173278"/>
          </a:xfrm>
          <a:prstGeom prst="rect">
            <a:avLst/>
          </a:prstGeom>
          <a:noFill/>
        </p:spPr>
        <p:txBody>
          <a:bodyPr wrap="none" lIns="0" rIns="0" tIns="0" bIns="0">
            <a:spAutoFit/>
          </a:bodyPr>
          <a:lstStyle/>
          <a:p>
            <a:r>
              <a:rPr sz="1011" b="0">
                <a:solidFill>
                  <a:srgbClr val="2E2E2E"/>
                </a:solidFill>
                <a:latin typeface="Calibri"/>
              </a:rPr>
              <a:t>Adoption Depth</a:t>
            </a:r>
          </a:p>
        </p:txBody>
      </p:sp>
      <p:pic>
        <p:nvPicPr>
          <p:cNvPr id="78" name="Picture 77" descr="lock.png"/>
          <p:cNvPicPr>
            <a:picLocks noChangeAspect="1"/>
          </p:cNvPicPr>
          <p:nvPr/>
        </p:nvPicPr>
        <p:blipFill>
          <a:blip r:embed="rId4"/>
          <a:stretch>
            <a:fillRect/>
          </a:stretch>
        </p:blipFill>
        <p:spPr>
          <a:xfrm>
            <a:off x="9407087" y="6058248"/>
            <a:ext cx="118403" cy="172222"/>
          </a:xfrm>
          <a:prstGeom prst="rect">
            <a:avLst/>
          </a:prstGeom>
        </p:spPr>
      </p:pic>
      <p:sp>
        <p:nvSpPr>
          <p:cNvPr id="79" name="TextBox 78"/>
          <p:cNvSpPr txBox="1"/>
          <p:nvPr/>
        </p:nvSpPr>
        <p:spPr>
          <a:xfrm>
            <a:off x="7534275" y="6305860"/>
            <a:ext cx="955786" cy="173278"/>
          </a:xfrm>
          <a:prstGeom prst="rect">
            <a:avLst/>
          </a:prstGeom>
          <a:noFill/>
        </p:spPr>
        <p:txBody>
          <a:bodyPr wrap="none" lIns="0" rIns="0" tIns="0" bIns="0">
            <a:spAutoFit/>
          </a:bodyPr>
          <a:lstStyle/>
          <a:p>
            <a:r>
              <a:rPr sz="1011" b="0">
                <a:solidFill>
                  <a:srgbClr val="2E2E2E"/>
                </a:solidFill>
                <a:latin typeface="Calibri"/>
              </a:rPr>
              <a:t>Consumer Reach</a:t>
            </a:r>
          </a:p>
        </p:txBody>
      </p:sp>
      <p:pic>
        <p:nvPicPr>
          <p:cNvPr id="80" name="Picture 79" descr="lock.png"/>
          <p:cNvPicPr>
            <a:picLocks noChangeAspect="1"/>
          </p:cNvPicPr>
          <p:nvPr/>
        </p:nvPicPr>
        <p:blipFill>
          <a:blip r:embed="rId4"/>
          <a:stretch>
            <a:fillRect/>
          </a:stretch>
        </p:blipFill>
        <p:spPr>
          <a:xfrm>
            <a:off x="8436172" y="6296863"/>
            <a:ext cx="118403" cy="172222"/>
          </a:xfrm>
          <a:prstGeom prst="rect">
            <a:avLst/>
          </a:prstGeom>
        </p:spPr>
      </p:pic>
      <p:sp>
        <p:nvSpPr>
          <p:cNvPr id="81" name="TextBox 80"/>
          <p:cNvSpPr txBox="1"/>
          <p:nvPr/>
        </p:nvSpPr>
        <p:spPr>
          <a:xfrm>
            <a:off x="209550" y="1496754"/>
            <a:ext cx="3188617" cy="186689"/>
          </a:xfrm>
          <a:prstGeom prst="rect">
            <a:avLst/>
          </a:prstGeom>
          <a:noFill/>
        </p:spPr>
        <p:txBody>
          <a:bodyPr wrap="none" lIns="0" rIns="0" tIns="0" bIns="0">
            <a:spAutoFit/>
          </a:bodyPr>
          <a:lstStyle/>
          <a:p>
            <a:r>
              <a:rPr sz="1100" b="0">
                <a:solidFill>
                  <a:srgbClr val="2E2E2E"/>
                </a:solidFill>
                <a:latin typeface="Calibri"/>
              </a:rPr>
              <a:t>▪ Demand-side conditions are led by Consumer Reach (</a:t>
            </a:r>
          </a:p>
        </p:txBody>
      </p:sp>
      <p:pic>
        <p:nvPicPr>
          <p:cNvPr id="82" name="Picture 81" descr="lock.png"/>
          <p:cNvPicPr>
            <a:picLocks noChangeAspect="1"/>
          </p:cNvPicPr>
          <p:nvPr/>
        </p:nvPicPr>
        <p:blipFill>
          <a:blip r:embed="rId4"/>
          <a:stretch>
            <a:fillRect/>
          </a:stretch>
        </p:blipFill>
        <p:spPr>
          <a:xfrm>
            <a:off x="3346219" y="1486975"/>
            <a:ext cx="128699" cy="187198"/>
          </a:xfrm>
          <a:prstGeom prst="rect">
            <a:avLst/>
          </a:prstGeom>
        </p:spPr>
      </p:pic>
      <p:sp>
        <p:nvSpPr>
          <p:cNvPr id="83" name="TextBox 82"/>
          <p:cNvSpPr txBox="1"/>
          <p:nvPr/>
        </p:nvSpPr>
        <p:spPr>
          <a:xfrm>
            <a:off x="3513715" y="1496754"/>
            <a:ext cx="1606078" cy="186689"/>
          </a:xfrm>
          <a:prstGeom prst="rect">
            <a:avLst/>
          </a:prstGeom>
          <a:noFill/>
        </p:spPr>
        <p:txBody>
          <a:bodyPr wrap="none" lIns="0" rIns="0" tIns="0" bIns="0">
            <a:spAutoFit/>
          </a:bodyPr>
          <a:lstStyle/>
          <a:p>
            <a:r>
              <a:rPr sz="1100" b="0">
                <a:solidFill>
                  <a:srgbClr val="2E2E2E"/>
                </a:solidFill>
                <a:latin typeface="Calibri"/>
              </a:rPr>
              <a:t>/10), Volume Momentum (</a:t>
            </a:r>
          </a:p>
        </p:txBody>
      </p:sp>
      <p:pic>
        <p:nvPicPr>
          <p:cNvPr id="84" name="Picture 83" descr="lock.png"/>
          <p:cNvPicPr>
            <a:picLocks noChangeAspect="1"/>
          </p:cNvPicPr>
          <p:nvPr/>
        </p:nvPicPr>
        <p:blipFill>
          <a:blip r:embed="rId4"/>
          <a:stretch>
            <a:fillRect/>
          </a:stretch>
        </p:blipFill>
        <p:spPr>
          <a:xfrm>
            <a:off x="5067845" y="1486975"/>
            <a:ext cx="128699" cy="187198"/>
          </a:xfrm>
          <a:prstGeom prst="rect">
            <a:avLst/>
          </a:prstGeom>
        </p:spPr>
      </p:pic>
      <p:sp>
        <p:nvSpPr>
          <p:cNvPr id="85" name="TextBox 84"/>
          <p:cNvSpPr txBox="1"/>
          <p:nvPr/>
        </p:nvSpPr>
        <p:spPr>
          <a:xfrm>
            <a:off x="5235341" y="1496754"/>
            <a:ext cx="1204441" cy="186689"/>
          </a:xfrm>
          <a:prstGeom prst="rect">
            <a:avLst/>
          </a:prstGeom>
          <a:noFill/>
        </p:spPr>
        <p:txBody>
          <a:bodyPr wrap="none" lIns="0" rIns="0" tIns="0" bIns="0">
            <a:spAutoFit/>
          </a:bodyPr>
          <a:lstStyle/>
          <a:p>
            <a:r>
              <a:rPr sz="1100" b="0">
                <a:solidFill>
                  <a:srgbClr val="2E2E2E"/>
                </a:solidFill>
                <a:latin typeface="Calibri"/>
              </a:rPr>
              <a:t>/10), App. Breadth (</a:t>
            </a:r>
          </a:p>
        </p:txBody>
      </p:sp>
      <p:pic>
        <p:nvPicPr>
          <p:cNvPr id="86" name="Picture 85" descr="lock.png"/>
          <p:cNvPicPr>
            <a:picLocks noChangeAspect="1"/>
          </p:cNvPicPr>
          <p:nvPr/>
        </p:nvPicPr>
        <p:blipFill>
          <a:blip r:embed="rId4"/>
          <a:stretch>
            <a:fillRect/>
          </a:stretch>
        </p:blipFill>
        <p:spPr>
          <a:xfrm>
            <a:off x="6387834" y="1486975"/>
            <a:ext cx="128699" cy="187198"/>
          </a:xfrm>
          <a:prstGeom prst="rect">
            <a:avLst/>
          </a:prstGeom>
        </p:spPr>
      </p:pic>
      <p:sp>
        <p:nvSpPr>
          <p:cNvPr id="87" name="TextBox 86"/>
          <p:cNvSpPr txBox="1"/>
          <p:nvPr/>
        </p:nvSpPr>
        <p:spPr>
          <a:xfrm>
            <a:off x="6555329" y="1496754"/>
            <a:ext cx="493117" cy="186689"/>
          </a:xfrm>
          <a:prstGeom prst="rect">
            <a:avLst/>
          </a:prstGeom>
          <a:noFill/>
        </p:spPr>
        <p:txBody>
          <a:bodyPr wrap="none" lIns="0" rIns="0" tIns="0" bIns="0">
            <a:spAutoFit/>
          </a:bodyPr>
          <a:lstStyle/>
          <a:p>
            <a:r>
              <a:rPr sz="1100" b="0">
                <a:solidFill>
                  <a:srgbClr val="2E2E2E"/>
                </a:solidFill>
                <a:latin typeface="Calibri"/>
              </a:rPr>
              <a:t>/10) on</a:t>
            </a:r>
          </a:p>
        </p:txBody>
      </p:sp>
      <p:sp>
        <p:nvSpPr>
          <p:cNvPr id="88" name="TextBox 87"/>
          <p:cNvSpPr txBox="1"/>
          <p:nvPr/>
        </p:nvSpPr>
        <p:spPr>
          <a:xfrm>
            <a:off x="209550" y="1664394"/>
            <a:ext cx="2862560" cy="186689"/>
          </a:xfrm>
          <a:prstGeom prst="rect">
            <a:avLst/>
          </a:prstGeom>
          <a:noFill/>
        </p:spPr>
        <p:txBody>
          <a:bodyPr wrap="none" lIns="0" rIns="0" tIns="0" bIns="0">
            <a:spAutoFit/>
          </a:bodyPr>
          <a:lstStyle/>
          <a:p>
            <a:r>
              <a:rPr sz="1100" b="0">
                <a:solidFill>
                  <a:srgbClr val="2E2E2E"/>
                </a:solidFill>
                <a:latin typeface="Calibri"/>
              </a:rPr>
              <a:t>a 0-10 scale scored from the global dataset itself.</a:t>
            </a:r>
          </a:p>
        </p:txBody>
      </p:sp>
      <p:sp>
        <p:nvSpPr>
          <p:cNvPr id="89" name="TextBox 88"/>
          <p:cNvSpPr txBox="1"/>
          <p:nvPr/>
        </p:nvSpPr>
        <p:spPr>
          <a:xfrm>
            <a:off x="209550" y="1945648"/>
            <a:ext cx="998438" cy="186689"/>
          </a:xfrm>
          <a:prstGeom prst="rect">
            <a:avLst/>
          </a:prstGeom>
          <a:noFill/>
        </p:spPr>
        <p:txBody>
          <a:bodyPr wrap="none" lIns="0" rIns="0" tIns="0" bIns="0">
            <a:spAutoFit/>
          </a:bodyPr>
          <a:lstStyle/>
          <a:p>
            <a:r>
              <a:rPr sz="1100" b="0">
                <a:solidFill>
                  <a:srgbClr val="2E2E2E"/>
                </a:solidFill>
                <a:latin typeface="Calibri"/>
              </a:rPr>
              <a:t>▪ Value grows at</a:t>
            </a:r>
          </a:p>
        </p:txBody>
      </p:sp>
      <p:pic>
        <p:nvPicPr>
          <p:cNvPr id="90" name="Picture 89" descr="lock.png"/>
          <p:cNvPicPr>
            <a:picLocks noChangeAspect="1"/>
          </p:cNvPicPr>
          <p:nvPr/>
        </p:nvPicPr>
        <p:blipFill>
          <a:blip r:embed="rId4"/>
          <a:stretch>
            <a:fillRect/>
          </a:stretch>
        </p:blipFill>
        <p:spPr>
          <a:xfrm>
            <a:off x="1156039" y="1935869"/>
            <a:ext cx="128699" cy="187198"/>
          </a:xfrm>
          <a:prstGeom prst="rect">
            <a:avLst/>
          </a:prstGeom>
        </p:spPr>
      </p:pic>
      <p:sp>
        <p:nvSpPr>
          <p:cNvPr id="91" name="TextBox 90"/>
          <p:cNvSpPr txBox="1"/>
          <p:nvPr/>
        </p:nvSpPr>
        <p:spPr>
          <a:xfrm>
            <a:off x="1323535" y="1945648"/>
            <a:ext cx="1083295" cy="186689"/>
          </a:xfrm>
          <a:prstGeom prst="rect">
            <a:avLst/>
          </a:prstGeom>
          <a:noFill/>
        </p:spPr>
        <p:txBody>
          <a:bodyPr wrap="none" lIns="0" rIns="0" tIns="0" bIns="0">
            <a:spAutoFit/>
          </a:bodyPr>
          <a:lstStyle/>
          <a:p>
            <a:r>
              <a:rPr sz="1100" b="0">
                <a:solidFill>
                  <a:srgbClr val="2E2E2E"/>
                </a:solidFill>
                <a:latin typeface="Calibri"/>
              </a:rPr>
              <a:t>against volume at</a:t>
            </a:r>
          </a:p>
        </p:txBody>
      </p:sp>
      <p:pic>
        <p:nvPicPr>
          <p:cNvPr id="92" name="Picture 91" descr="lock.png"/>
          <p:cNvPicPr>
            <a:picLocks noChangeAspect="1"/>
          </p:cNvPicPr>
          <p:nvPr/>
        </p:nvPicPr>
        <p:blipFill>
          <a:blip r:embed="rId4"/>
          <a:stretch>
            <a:fillRect/>
          </a:stretch>
        </p:blipFill>
        <p:spPr>
          <a:xfrm>
            <a:off x="2354882" y="1935869"/>
            <a:ext cx="128699" cy="187198"/>
          </a:xfrm>
          <a:prstGeom prst="rect">
            <a:avLst/>
          </a:prstGeom>
        </p:spPr>
      </p:pic>
      <p:sp>
        <p:nvSpPr>
          <p:cNvPr id="93" name="TextBox 92"/>
          <p:cNvSpPr txBox="1"/>
          <p:nvPr/>
        </p:nvSpPr>
        <p:spPr>
          <a:xfrm>
            <a:off x="2522378" y="1945648"/>
            <a:ext cx="2230090" cy="186689"/>
          </a:xfrm>
          <a:prstGeom prst="rect">
            <a:avLst/>
          </a:prstGeom>
          <a:noFill/>
        </p:spPr>
        <p:txBody>
          <a:bodyPr wrap="none" lIns="0" rIns="0" tIns="0" bIns="0">
            <a:spAutoFit/>
          </a:bodyPr>
          <a:lstStyle/>
          <a:p>
            <a:r>
              <a:rPr sz="1100" b="0">
                <a:solidFill>
                  <a:srgbClr val="2E2E2E"/>
                </a:solidFill>
                <a:latin typeface="Calibri"/>
              </a:rPr>
              <a:t>a premiumising market through 2036.</a:t>
            </a:r>
          </a:p>
        </p:txBody>
      </p:sp>
      <p:sp>
        <p:nvSpPr>
          <p:cNvPr id="94" name="TextBox 93"/>
          <p:cNvSpPr txBox="1"/>
          <p:nvPr/>
        </p:nvSpPr>
        <p:spPr>
          <a:xfrm>
            <a:off x="209550" y="2226902"/>
            <a:ext cx="2425451" cy="186689"/>
          </a:xfrm>
          <a:prstGeom prst="rect">
            <a:avLst/>
          </a:prstGeom>
          <a:noFill/>
        </p:spPr>
        <p:txBody>
          <a:bodyPr wrap="none" lIns="0" rIns="0" tIns="0" bIns="0">
            <a:spAutoFit/>
          </a:bodyPr>
          <a:lstStyle/>
          <a:p>
            <a:r>
              <a:rPr sz="1100" b="0">
                <a:solidFill>
                  <a:srgbClr val="2E2E2E"/>
                </a:solidFill>
                <a:latin typeface="Calibri"/>
              </a:rPr>
              <a:t>▪ 'Micronized Eggshell Membrane' carries</a:t>
            </a:r>
          </a:p>
        </p:txBody>
      </p:sp>
      <p:pic>
        <p:nvPicPr>
          <p:cNvPr id="95" name="Picture 94" descr="lock.png"/>
          <p:cNvPicPr>
            <a:picLocks noChangeAspect="1"/>
          </p:cNvPicPr>
          <p:nvPr/>
        </p:nvPicPr>
        <p:blipFill>
          <a:blip r:embed="rId4"/>
          <a:stretch>
            <a:fillRect/>
          </a:stretch>
        </p:blipFill>
        <p:spPr>
          <a:xfrm>
            <a:off x="2583053" y="2217123"/>
            <a:ext cx="128699" cy="187198"/>
          </a:xfrm>
          <a:prstGeom prst="rect">
            <a:avLst/>
          </a:prstGeom>
        </p:spPr>
      </p:pic>
      <p:sp>
        <p:nvSpPr>
          <p:cNvPr id="96" name="TextBox 95"/>
          <p:cNvSpPr txBox="1"/>
          <p:nvPr/>
        </p:nvSpPr>
        <p:spPr>
          <a:xfrm>
            <a:off x="2750549" y="2226902"/>
            <a:ext cx="4385344" cy="186689"/>
          </a:xfrm>
          <a:prstGeom prst="rect">
            <a:avLst/>
          </a:prstGeom>
          <a:noFill/>
        </p:spPr>
        <p:txBody>
          <a:bodyPr wrap="none" lIns="0" rIns="0" tIns="0" bIns="0">
            <a:spAutoFit/>
          </a:bodyPr>
          <a:lstStyle/>
          <a:p>
            <a:r>
              <a:rPr sz="1100" b="0">
                <a:solidFill>
                  <a:srgbClr val="2E2E2E"/>
                </a:solidFill>
                <a:latin typeface="Calibri"/>
              </a:rPr>
              <a:t>of product type demand while 'Hydrolyzed Eggshell Membrane' compounds</a:t>
            </a:r>
          </a:p>
        </p:txBody>
      </p:sp>
      <p:sp>
        <p:nvSpPr>
          <p:cNvPr id="97" name="TextBox 96"/>
          <p:cNvSpPr txBox="1"/>
          <p:nvPr/>
        </p:nvSpPr>
        <p:spPr>
          <a:xfrm>
            <a:off x="209550" y="2394542"/>
            <a:ext cx="603622" cy="186689"/>
          </a:xfrm>
          <a:prstGeom prst="rect">
            <a:avLst/>
          </a:prstGeom>
          <a:noFill/>
        </p:spPr>
        <p:txBody>
          <a:bodyPr wrap="none" lIns="0" rIns="0" tIns="0" bIns="0">
            <a:spAutoFit/>
          </a:bodyPr>
          <a:lstStyle/>
          <a:p>
            <a:r>
              <a:rPr sz="1100" b="0">
                <a:solidFill>
                  <a:srgbClr val="2E2E2E"/>
                </a:solidFill>
                <a:latin typeface="Calibri"/>
              </a:rPr>
              <a:t>fastest at</a:t>
            </a:r>
          </a:p>
        </p:txBody>
      </p:sp>
      <p:pic>
        <p:nvPicPr>
          <p:cNvPr id="98" name="Picture 97" descr="lock.png"/>
          <p:cNvPicPr>
            <a:picLocks noChangeAspect="1"/>
          </p:cNvPicPr>
          <p:nvPr/>
        </p:nvPicPr>
        <p:blipFill>
          <a:blip r:embed="rId4"/>
          <a:stretch>
            <a:fillRect/>
          </a:stretch>
        </p:blipFill>
        <p:spPr>
          <a:xfrm>
            <a:off x="761223" y="2384763"/>
            <a:ext cx="128699" cy="187198"/>
          </a:xfrm>
          <a:prstGeom prst="rect">
            <a:avLst/>
          </a:prstGeom>
        </p:spPr>
      </p:pic>
      <p:sp>
        <p:nvSpPr>
          <p:cNvPr id="99" name="TextBox 98"/>
          <p:cNvSpPr txBox="1"/>
          <p:nvPr/>
        </p:nvSpPr>
        <p:spPr>
          <a:xfrm>
            <a:off x="928719" y="2394542"/>
            <a:ext cx="111397" cy="186689"/>
          </a:xfrm>
          <a:prstGeom prst="rect">
            <a:avLst/>
          </a:prstGeom>
          <a:noFill/>
        </p:spPr>
        <p:txBody>
          <a:bodyPr wrap="none" lIns="0" rIns="0" tIns="0" bIns="0">
            <a:spAutoFit/>
          </a:bodyPr>
          <a:lstStyle/>
          <a:p>
            <a:r>
              <a:rPr sz="1100" b="0">
                <a:solidFill>
                  <a:srgbClr val="2E2E2E"/>
                </a:solidFill>
                <a:latin typeface="Calibri"/>
              </a:rPr>
              <a:t>.</a:t>
            </a:r>
          </a:p>
        </p:txBody>
      </p:sp>
      <p:sp>
        <p:nvSpPr>
          <p:cNvPr id="100" name="TextBox 99"/>
          <p:cNvSpPr txBox="1"/>
          <p:nvPr/>
        </p:nvSpPr>
        <p:spPr>
          <a:xfrm>
            <a:off x="209550" y="2767064"/>
            <a:ext cx="2476748" cy="186689"/>
          </a:xfrm>
          <a:prstGeom prst="rect">
            <a:avLst/>
          </a:prstGeom>
          <a:noFill/>
        </p:spPr>
        <p:txBody>
          <a:bodyPr wrap="none" lIns="0" rIns="0" tIns="0" bIns="0">
            <a:spAutoFit/>
          </a:bodyPr>
          <a:lstStyle/>
          <a:p>
            <a:r>
              <a:rPr sz="1100" b="0">
                <a:solidFill>
                  <a:srgbClr val="2E2E2E"/>
                </a:solidFill>
                <a:latin typeface="Calibri"/>
              </a:rPr>
              <a:t>▪ Pull is strongest in 'South Asia &amp; Pacific' (</a:t>
            </a:r>
          </a:p>
        </p:txBody>
      </p:sp>
      <p:pic>
        <p:nvPicPr>
          <p:cNvPr id="101" name="Picture 100" descr="lock.png"/>
          <p:cNvPicPr>
            <a:picLocks noChangeAspect="1"/>
          </p:cNvPicPr>
          <p:nvPr/>
        </p:nvPicPr>
        <p:blipFill>
          <a:blip r:embed="rId4"/>
          <a:stretch>
            <a:fillRect/>
          </a:stretch>
        </p:blipFill>
        <p:spPr>
          <a:xfrm>
            <a:off x="2634349" y="2757285"/>
            <a:ext cx="128699" cy="187198"/>
          </a:xfrm>
          <a:prstGeom prst="rect">
            <a:avLst/>
          </a:prstGeom>
        </p:spPr>
      </p:pic>
      <p:sp>
        <p:nvSpPr>
          <p:cNvPr id="102" name="TextBox 101"/>
          <p:cNvSpPr txBox="1"/>
          <p:nvPr/>
        </p:nvSpPr>
        <p:spPr>
          <a:xfrm>
            <a:off x="2801845" y="2767064"/>
            <a:ext cx="531572" cy="186689"/>
          </a:xfrm>
          <a:prstGeom prst="rect">
            <a:avLst/>
          </a:prstGeom>
          <a:noFill/>
        </p:spPr>
        <p:txBody>
          <a:bodyPr wrap="none" lIns="0" rIns="0" tIns="0" bIns="0">
            <a:spAutoFit/>
          </a:bodyPr>
          <a:lstStyle/>
          <a:p>
            <a:r>
              <a:rPr sz="1100" b="0">
                <a:solidFill>
                  <a:srgbClr val="2E2E2E"/>
                </a:solidFill>
                <a:latin typeface="Calibri"/>
              </a:rPr>
              <a:t>CAGR, +</a:t>
            </a:r>
          </a:p>
        </p:txBody>
      </p:sp>
      <p:pic>
        <p:nvPicPr>
          <p:cNvPr id="103" name="Picture 102" descr="lock.png"/>
          <p:cNvPicPr>
            <a:picLocks noChangeAspect="1"/>
          </p:cNvPicPr>
          <p:nvPr/>
        </p:nvPicPr>
        <p:blipFill>
          <a:blip r:embed="rId4"/>
          <a:stretch>
            <a:fillRect/>
          </a:stretch>
        </p:blipFill>
        <p:spPr>
          <a:xfrm>
            <a:off x="3281469" y="2757285"/>
            <a:ext cx="128699" cy="187198"/>
          </a:xfrm>
          <a:prstGeom prst="rect">
            <a:avLst/>
          </a:prstGeom>
        </p:spPr>
      </p:pic>
      <p:sp>
        <p:nvSpPr>
          <p:cNvPr id="104" name="TextBox 103"/>
          <p:cNvSpPr txBox="1"/>
          <p:nvPr/>
        </p:nvSpPr>
        <p:spPr>
          <a:xfrm>
            <a:off x="3448965" y="2767064"/>
            <a:ext cx="3522588" cy="186689"/>
          </a:xfrm>
          <a:prstGeom prst="rect">
            <a:avLst/>
          </a:prstGeom>
          <a:noFill/>
        </p:spPr>
        <p:txBody>
          <a:bodyPr wrap="none" lIns="0" rIns="0" tIns="0" bIns="0">
            <a:spAutoFit/>
          </a:bodyPr>
          <a:lstStyle/>
          <a:p>
            <a:r>
              <a:rPr sz="1100" b="0">
                <a:solidFill>
                  <a:srgbClr val="2E2E2E"/>
                </a:solidFill>
                <a:latin typeface="Calibri"/>
              </a:rPr>
              <a:t>BPS versus the market), with 3 of 6 regions at or above pace.</a:t>
            </a:r>
          </a:p>
        </p:txBody>
      </p:sp>
      <p:sp>
        <p:nvSpPr>
          <p:cNvPr id="105" name="TextBox 104"/>
          <p:cNvSpPr txBox="1"/>
          <p:nvPr/>
        </p:nvSpPr>
        <p:spPr>
          <a:xfrm>
            <a:off x="209550" y="3139587"/>
            <a:ext cx="5249465" cy="186689"/>
          </a:xfrm>
          <a:prstGeom prst="rect">
            <a:avLst/>
          </a:prstGeom>
          <a:noFill/>
        </p:spPr>
        <p:txBody>
          <a:bodyPr wrap="none" lIns="0" rIns="0" tIns="0" bIns="0">
            <a:spAutoFit/>
          </a:bodyPr>
          <a:lstStyle/>
          <a:p>
            <a:r>
              <a:rPr sz="1100" b="0">
                <a:solidFill>
                  <a:srgbClr val="2E2E2E"/>
                </a:solidFill>
                <a:latin typeface="Calibri"/>
              </a:rPr>
              <a:t>▪ Reach runs through 6 application routes, led by 'Dietary Supplements &amp; Nutraceuticals' at</a:t>
            </a:r>
          </a:p>
        </p:txBody>
      </p:sp>
      <p:pic>
        <p:nvPicPr>
          <p:cNvPr id="106" name="Picture 105" descr="lock.png"/>
          <p:cNvPicPr>
            <a:picLocks noChangeAspect="1"/>
          </p:cNvPicPr>
          <p:nvPr/>
        </p:nvPicPr>
        <p:blipFill>
          <a:blip r:embed="rId4"/>
          <a:stretch>
            <a:fillRect/>
          </a:stretch>
        </p:blipFill>
        <p:spPr>
          <a:xfrm>
            <a:off x="5407067" y="3129808"/>
            <a:ext cx="128699" cy="187198"/>
          </a:xfrm>
          <a:prstGeom prst="rect">
            <a:avLst/>
          </a:prstGeom>
        </p:spPr>
      </p:pic>
      <p:sp>
        <p:nvSpPr>
          <p:cNvPr id="107" name="TextBox 106"/>
          <p:cNvSpPr txBox="1"/>
          <p:nvPr/>
        </p:nvSpPr>
        <p:spPr>
          <a:xfrm>
            <a:off x="5574563" y="3139587"/>
            <a:ext cx="1548204" cy="186689"/>
          </a:xfrm>
          <a:prstGeom prst="rect">
            <a:avLst/>
          </a:prstGeom>
          <a:noFill/>
        </p:spPr>
        <p:txBody>
          <a:bodyPr wrap="none" lIns="0" rIns="0" tIns="0" bIns="0">
            <a:spAutoFit/>
          </a:bodyPr>
          <a:lstStyle/>
          <a:p>
            <a:r>
              <a:rPr sz="1100" b="0">
                <a:solidFill>
                  <a:srgbClr val="2E2E2E"/>
                </a:solidFill>
                <a:latin typeface="Calibri"/>
              </a:rPr>
              <a:t>and with 'Functional Food</a:t>
            </a:r>
          </a:p>
        </p:txBody>
      </p:sp>
      <p:sp>
        <p:nvSpPr>
          <p:cNvPr id="108" name="TextBox 107"/>
          <p:cNvSpPr txBox="1"/>
          <p:nvPr/>
        </p:nvSpPr>
        <p:spPr>
          <a:xfrm>
            <a:off x="209550" y="3307227"/>
            <a:ext cx="1868016" cy="186689"/>
          </a:xfrm>
          <a:prstGeom prst="rect">
            <a:avLst/>
          </a:prstGeom>
          <a:noFill/>
        </p:spPr>
        <p:txBody>
          <a:bodyPr wrap="none" lIns="0" rIns="0" tIns="0" bIns="0">
            <a:spAutoFit/>
          </a:bodyPr>
          <a:lstStyle/>
          <a:p>
            <a:r>
              <a:rPr sz="1100" b="0">
                <a:solidFill>
                  <a:srgbClr val="2E2E2E"/>
                </a:solidFill>
                <a:latin typeface="Calibri"/>
              </a:rPr>
              <a:t>&amp; Beverages' growing fastest at</a:t>
            </a:r>
          </a:p>
        </p:txBody>
      </p:sp>
      <p:pic>
        <p:nvPicPr>
          <p:cNvPr id="109" name="Picture 108" descr="lock.png"/>
          <p:cNvPicPr>
            <a:picLocks noChangeAspect="1"/>
          </p:cNvPicPr>
          <p:nvPr/>
        </p:nvPicPr>
        <p:blipFill>
          <a:blip r:embed="rId4"/>
          <a:stretch>
            <a:fillRect/>
          </a:stretch>
        </p:blipFill>
        <p:spPr>
          <a:xfrm>
            <a:off x="2025617" y="3297448"/>
            <a:ext cx="128699" cy="187198"/>
          </a:xfrm>
          <a:prstGeom prst="rect">
            <a:avLst/>
          </a:prstGeom>
        </p:spPr>
      </p:pic>
      <p:sp>
        <p:nvSpPr>
          <p:cNvPr id="110" name="TextBox 109"/>
          <p:cNvSpPr txBox="1"/>
          <p:nvPr/>
        </p:nvSpPr>
        <p:spPr>
          <a:xfrm>
            <a:off x="2193113" y="3307227"/>
            <a:ext cx="111397" cy="186689"/>
          </a:xfrm>
          <a:prstGeom prst="rect">
            <a:avLst/>
          </a:prstGeom>
          <a:noFill/>
        </p:spPr>
        <p:txBody>
          <a:bodyPr wrap="none" lIns="0" rIns="0" tIns="0" bIns="0">
            <a:spAutoFit/>
          </a:bodyPr>
          <a:lstStyle/>
          <a:p>
            <a:r>
              <a:rPr sz="1100" b="0">
                <a:solidFill>
                  <a:srgbClr val="2E2E2E"/>
                </a:solidFill>
                <a:latin typeface="Calibri"/>
              </a:rPr>
              <a:t>.</a:t>
            </a:r>
          </a:p>
        </p:txBody>
      </p:sp>
    </p:spTree>
  </p:cSld>
  <p:clrMapOvr>
    <a:masterClrMapping/>
  </p:clrMapOvr>
</p:sld>
</file>

<file path=ppt/slides/slide2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Egg Protein Membrane Market Restraints</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the key restraints on the global market and the likelihood of their impact across 2021–2036</a:t>
            </a:r>
          </a:p>
        </p:txBody>
      </p:sp>
      <p:sp>
        <p:nvSpPr>
          <p:cNvPr id="7" name="Rounded Rectangle 6"/>
          <p:cNvSpPr/>
          <p:nvPr/>
        </p:nvSpPr>
        <p:spPr>
          <a:xfrm>
            <a:off x="142875" y="1025515"/>
            <a:ext cx="2038350" cy="255552"/>
          </a:xfrm>
          <a:prstGeom prst="roundRect">
            <a:avLst>
              <a:gd name="adj" fmla="val 1869"/>
            </a:avLst>
          </a:prstGeom>
          <a:solidFill>
            <a:srgbClr val="C0603A"/>
          </a:solidFill>
          <a:ln w="12700">
            <a:solidFill>
              <a:srgbClr val="C060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42875" y="1025515"/>
            <a:ext cx="2038350" cy="255552"/>
          </a:xfrm>
          <a:prstGeom prst="rect">
            <a:avLst/>
          </a:prstGeom>
          <a:noFill/>
        </p:spPr>
        <p:txBody>
          <a:bodyPr wrap="square" lIns="28575" rIns="28575" tIns="9525" bIns="9525" anchor="ctr">
            <a:spAutoFit/>
          </a:bodyPr>
          <a:lstStyle/>
          <a:p>
            <a:pPr algn="ctr"/>
            <a:r>
              <a:rPr sz="1100" b="1">
                <a:solidFill>
                  <a:srgbClr val="FFFFFF"/>
                </a:solidFill>
                <a:latin typeface="Calibri"/>
              </a:rPr>
              <a:t>Market Restraints</a:t>
            </a:r>
          </a:p>
        </p:txBody>
      </p:sp>
      <p:sp>
        <p:nvSpPr>
          <p:cNvPr id="9" name="Rectangle 8"/>
          <p:cNvSpPr/>
          <p:nvPr/>
        </p:nvSpPr>
        <p:spPr>
          <a:xfrm>
            <a:off x="142875" y="1390589"/>
            <a:ext cx="9496425" cy="255552"/>
          </a:xfrm>
          <a:prstGeom prst="rect">
            <a:avLst/>
          </a:prstGeom>
          <a:solidFill>
            <a:srgbClr val="F7E3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6225" y="1390589"/>
            <a:ext cx="9267825" cy="255552"/>
          </a:xfrm>
          <a:prstGeom prst="rect">
            <a:avLst/>
          </a:prstGeom>
          <a:noFill/>
        </p:spPr>
        <p:txBody>
          <a:bodyPr wrap="square" lIns="28575" rIns="28575" tIns="9525" bIns="9525" anchor="ctr">
            <a:spAutoFit/>
          </a:bodyPr>
          <a:lstStyle/>
          <a:p>
            <a:pPr algn="l"/>
            <a:r>
              <a:rPr sz="1100" b="1">
                <a:solidFill>
                  <a:srgbClr val="0B2E4A"/>
                </a:solidFill>
                <a:latin typeface="Calibri"/>
              </a:rPr>
              <a:t>Specialty Extracted Protein Fractions Lags the Category and Dilutes Blended Growth</a:t>
            </a:r>
          </a:p>
        </p:txBody>
      </p:sp>
      <p:sp>
        <p:nvSpPr>
          <p:cNvPr id="11" name="TextBox 10"/>
          <p:cNvSpPr txBox="1"/>
          <p:nvPr/>
        </p:nvSpPr>
        <p:spPr>
          <a:xfrm>
            <a:off x="161925" y="1700902"/>
            <a:ext cx="9439275" cy="77578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12" name="TextBox 11"/>
          <p:cNvSpPr txBox="1"/>
          <p:nvPr/>
        </p:nvSpPr>
        <p:spPr>
          <a:xfrm>
            <a:off x="9810750" y="1390589"/>
            <a:ext cx="2238375" cy="365074"/>
          </a:xfrm>
          <a:prstGeom prst="rect">
            <a:avLst/>
          </a:prstGeom>
          <a:noFill/>
        </p:spPr>
        <p:txBody>
          <a:bodyPr wrap="square" lIns="28575" rIns="28575" tIns="9525" bIns="9525" anchor="ctr">
            <a:spAutoFit/>
          </a:bodyPr>
          <a:lstStyle/>
          <a:p>
            <a:pPr algn="l">
              <a:lnSpc>
                <a:spcPct val="115000"/>
              </a:lnSpc>
            </a:pPr>
            <a:r>
              <a:rPr sz="1100" b="1">
                <a:solidFill>
                  <a:srgbClr val="6C7A89"/>
                </a:solidFill>
                <a:latin typeface="Calibri"/>
              </a:rPr>
              <a:t>Likelihood of impact on timeline</a:t>
            </a:r>
          </a:p>
        </p:txBody>
      </p:sp>
      <p:sp>
        <p:nvSpPr>
          <p:cNvPr id="13" name="TextBox 12"/>
          <p:cNvSpPr txBox="1"/>
          <p:nvPr/>
        </p:nvSpPr>
        <p:spPr>
          <a:xfrm>
            <a:off x="9810750" y="1773916"/>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2021–22</a:t>
            </a:r>
          </a:p>
        </p:txBody>
      </p:sp>
      <p:sp>
        <p:nvSpPr>
          <p:cNvPr id="14" name="Rectangle 13"/>
          <p:cNvSpPr/>
          <p:nvPr/>
        </p:nvSpPr>
        <p:spPr>
          <a:xfrm>
            <a:off x="9810750" y="1938200"/>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810750" y="1938200"/>
            <a:ext cx="990600" cy="310313"/>
          </a:xfrm>
          <a:prstGeom prst="rect">
            <a:avLst/>
          </a:prstGeom>
          <a:noFill/>
        </p:spPr>
        <p:txBody>
          <a:bodyPr wrap="square" lIns="28575" rIns="28575" tIns="9525" bIns="9525" anchor="ctr">
            <a:spAutoFit/>
          </a:bodyPr>
          <a:lstStyle/>
          <a:p>
            <a:pPr algn="ctr"/>
            <a:r>
              <a:rPr sz="1100" b="1">
                <a:solidFill>
                  <a:srgbClr val="9AA0A6"/>
                </a:solidFill>
                <a:latin typeface="Calibri"/>
              </a:rPr>
              <a:t>Low</a:t>
            </a:r>
          </a:p>
        </p:txBody>
      </p:sp>
      <p:sp>
        <p:nvSpPr>
          <p:cNvPr id="16" name="TextBox 15"/>
          <p:cNvSpPr txBox="1"/>
          <p:nvPr/>
        </p:nvSpPr>
        <p:spPr>
          <a:xfrm>
            <a:off x="10896600" y="1773916"/>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2023–25</a:t>
            </a:r>
          </a:p>
        </p:txBody>
      </p:sp>
      <p:sp>
        <p:nvSpPr>
          <p:cNvPr id="17" name="Rectangle 16"/>
          <p:cNvSpPr/>
          <p:nvPr/>
        </p:nvSpPr>
        <p:spPr>
          <a:xfrm>
            <a:off x="10896600" y="1938200"/>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896600" y="1938200"/>
            <a:ext cx="990600" cy="310313"/>
          </a:xfrm>
          <a:prstGeom prst="rect">
            <a:avLst/>
          </a:prstGeom>
          <a:noFill/>
        </p:spPr>
        <p:txBody>
          <a:bodyPr wrap="square" lIns="28575" rIns="28575" tIns="9525" bIns="9525" anchor="ctr">
            <a:spAutoFit/>
          </a:bodyPr>
          <a:lstStyle/>
          <a:p>
            <a:pPr algn="ctr"/>
            <a:r>
              <a:rPr sz="1100" b="1">
                <a:solidFill>
                  <a:srgbClr val="9AA0A6"/>
                </a:solidFill>
                <a:latin typeface="Calibri"/>
              </a:rPr>
              <a:t>Low</a:t>
            </a:r>
          </a:p>
        </p:txBody>
      </p:sp>
      <p:sp>
        <p:nvSpPr>
          <p:cNvPr id="19" name="TextBox 18"/>
          <p:cNvSpPr txBox="1"/>
          <p:nvPr/>
        </p:nvSpPr>
        <p:spPr>
          <a:xfrm>
            <a:off x="9810750" y="2294147"/>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2026–28</a:t>
            </a:r>
          </a:p>
        </p:txBody>
      </p:sp>
      <p:sp>
        <p:nvSpPr>
          <p:cNvPr id="20" name="Rectangle 19"/>
          <p:cNvSpPr/>
          <p:nvPr/>
        </p:nvSpPr>
        <p:spPr>
          <a:xfrm>
            <a:off x="9810750" y="2458430"/>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810750" y="2458430"/>
            <a:ext cx="990600" cy="310313"/>
          </a:xfrm>
          <a:prstGeom prst="rect">
            <a:avLst/>
          </a:prstGeom>
          <a:noFill/>
        </p:spPr>
        <p:txBody>
          <a:bodyPr wrap="square" lIns="28575" rIns="28575" tIns="9525" bIns="9525" anchor="ctr">
            <a:spAutoFit/>
          </a:bodyPr>
          <a:lstStyle/>
          <a:p>
            <a:pPr algn="ctr"/>
            <a:r>
              <a:rPr sz="1100" b="1">
                <a:solidFill>
                  <a:srgbClr val="6B5613"/>
                </a:solidFill>
                <a:latin typeface="Calibri"/>
              </a:rPr>
              <a:t>Medium</a:t>
            </a:r>
          </a:p>
        </p:txBody>
      </p:sp>
      <p:sp>
        <p:nvSpPr>
          <p:cNvPr id="22" name="TextBox 21"/>
          <p:cNvSpPr txBox="1"/>
          <p:nvPr/>
        </p:nvSpPr>
        <p:spPr>
          <a:xfrm>
            <a:off x="10896600" y="2294147"/>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2029–36</a:t>
            </a:r>
          </a:p>
        </p:txBody>
      </p:sp>
      <p:sp>
        <p:nvSpPr>
          <p:cNvPr id="23" name="Rectangle 22"/>
          <p:cNvSpPr/>
          <p:nvPr/>
        </p:nvSpPr>
        <p:spPr>
          <a:xfrm>
            <a:off x="10896600" y="2458430"/>
            <a:ext cx="990600" cy="310313"/>
          </a:xfrm>
          <a:prstGeom prst="rect">
            <a:avLst/>
          </a:prstGeom>
          <a:solidFill>
            <a:srgbClr val="F2C94C"/>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896600" y="2458430"/>
            <a:ext cx="990600" cy="310313"/>
          </a:xfrm>
          <a:prstGeom prst="rect">
            <a:avLst/>
          </a:prstGeom>
          <a:noFill/>
        </p:spPr>
        <p:txBody>
          <a:bodyPr wrap="square" lIns="28575" rIns="28575" tIns="9525" bIns="9525" anchor="ctr">
            <a:spAutoFit/>
          </a:bodyPr>
          <a:lstStyle/>
          <a:p>
            <a:pPr algn="ctr"/>
            <a:r>
              <a:rPr sz="1100" b="1">
                <a:solidFill>
                  <a:srgbClr val="6B5613"/>
                </a:solidFill>
                <a:latin typeface="Calibri"/>
              </a:rPr>
              <a:t>Medium</a:t>
            </a:r>
          </a:p>
        </p:txBody>
      </p:sp>
      <p:cxnSp>
        <p:nvCxnSpPr>
          <p:cNvPr id="25" name="Connector 24"/>
          <p:cNvCxnSpPr/>
          <p:nvPr/>
        </p:nvCxnSpPr>
        <p:spPr>
          <a:xfrm>
            <a:off x="142875" y="3088183"/>
            <a:ext cx="1190625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6" name="Rectangle 25"/>
          <p:cNvSpPr/>
          <p:nvPr/>
        </p:nvSpPr>
        <p:spPr>
          <a:xfrm>
            <a:off x="142875" y="3142944"/>
            <a:ext cx="9496425" cy="255552"/>
          </a:xfrm>
          <a:prstGeom prst="rect">
            <a:avLst/>
          </a:prstGeom>
          <a:solidFill>
            <a:srgbClr val="F7E3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76225" y="3142944"/>
            <a:ext cx="9267825" cy="255552"/>
          </a:xfrm>
          <a:prstGeom prst="rect">
            <a:avLst/>
          </a:prstGeom>
          <a:noFill/>
        </p:spPr>
        <p:txBody>
          <a:bodyPr wrap="square" lIns="28575" rIns="28575" tIns="9525" bIns="9525" anchor="ctr">
            <a:spAutoFit/>
          </a:bodyPr>
          <a:lstStyle/>
          <a:p>
            <a:pPr algn="l"/>
            <a:r>
              <a:rPr sz="1100" b="1">
                <a:solidFill>
                  <a:srgbClr val="0B2E4A"/>
                </a:solidFill>
                <a:latin typeface="Calibri"/>
              </a:rPr>
              <a:t>Uneven Region Performance Caps the Blended Rate</a:t>
            </a:r>
          </a:p>
        </p:txBody>
      </p:sp>
      <p:sp>
        <p:nvSpPr>
          <p:cNvPr id="28" name="TextBox 27"/>
          <p:cNvSpPr txBox="1"/>
          <p:nvPr/>
        </p:nvSpPr>
        <p:spPr>
          <a:xfrm>
            <a:off x="161925" y="3453257"/>
            <a:ext cx="9439275" cy="593245"/>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29" name="TextBox 28"/>
          <p:cNvSpPr txBox="1"/>
          <p:nvPr/>
        </p:nvSpPr>
        <p:spPr>
          <a:xfrm>
            <a:off x="9810750" y="3142944"/>
            <a:ext cx="2238375" cy="365074"/>
          </a:xfrm>
          <a:prstGeom prst="rect">
            <a:avLst/>
          </a:prstGeom>
          <a:noFill/>
        </p:spPr>
        <p:txBody>
          <a:bodyPr wrap="square" lIns="28575" rIns="28575" tIns="9525" bIns="9525" anchor="ctr">
            <a:spAutoFit/>
          </a:bodyPr>
          <a:lstStyle/>
          <a:p>
            <a:pPr algn="l">
              <a:lnSpc>
                <a:spcPct val="115000"/>
              </a:lnSpc>
            </a:pPr>
            <a:r>
              <a:rPr sz="1100" b="1">
                <a:solidFill>
                  <a:srgbClr val="6C7A89"/>
                </a:solidFill>
                <a:latin typeface="Calibri"/>
              </a:rPr>
              <a:t>Likelihood of impact on timeline</a:t>
            </a:r>
          </a:p>
        </p:txBody>
      </p:sp>
      <p:sp>
        <p:nvSpPr>
          <p:cNvPr id="30" name="TextBox 29"/>
          <p:cNvSpPr txBox="1"/>
          <p:nvPr/>
        </p:nvSpPr>
        <p:spPr>
          <a:xfrm>
            <a:off x="9810750" y="3526271"/>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2021–22</a:t>
            </a:r>
          </a:p>
        </p:txBody>
      </p:sp>
      <p:sp>
        <p:nvSpPr>
          <p:cNvPr id="31" name="Rectangle 30"/>
          <p:cNvSpPr/>
          <p:nvPr/>
        </p:nvSpPr>
        <p:spPr>
          <a:xfrm>
            <a:off x="9810750" y="3690555"/>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810750" y="3690555"/>
            <a:ext cx="990600" cy="310313"/>
          </a:xfrm>
          <a:prstGeom prst="rect">
            <a:avLst/>
          </a:prstGeom>
          <a:noFill/>
        </p:spPr>
        <p:txBody>
          <a:bodyPr wrap="square" lIns="28575" rIns="28575" tIns="9525" bIns="9525" anchor="ctr">
            <a:spAutoFit/>
          </a:bodyPr>
          <a:lstStyle/>
          <a:p>
            <a:pPr algn="ctr"/>
            <a:r>
              <a:rPr sz="1100" b="1">
                <a:solidFill>
                  <a:srgbClr val="9AA0A6"/>
                </a:solidFill>
                <a:latin typeface="Calibri"/>
              </a:rPr>
              <a:t>Low</a:t>
            </a:r>
          </a:p>
        </p:txBody>
      </p:sp>
      <p:sp>
        <p:nvSpPr>
          <p:cNvPr id="33" name="TextBox 32"/>
          <p:cNvSpPr txBox="1"/>
          <p:nvPr/>
        </p:nvSpPr>
        <p:spPr>
          <a:xfrm>
            <a:off x="10896600" y="3526271"/>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2023–25</a:t>
            </a:r>
          </a:p>
        </p:txBody>
      </p:sp>
      <p:sp>
        <p:nvSpPr>
          <p:cNvPr id="34" name="Rectangle 33"/>
          <p:cNvSpPr/>
          <p:nvPr/>
        </p:nvSpPr>
        <p:spPr>
          <a:xfrm>
            <a:off x="10896600" y="3690555"/>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896600" y="3690555"/>
            <a:ext cx="990600" cy="310313"/>
          </a:xfrm>
          <a:prstGeom prst="rect">
            <a:avLst/>
          </a:prstGeom>
          <a:noFill/>
        </p:spPr>
        <p:txBody>
          <a:bodyPr wrap="square" lIns="28575" rIns="28575" tIns="9525" bIns="9525" anchor="ctr">
            <a:spAutoFit/>
          </a:bodyPr>
          <a:lstStyle/>
          <a:p>
            <a:pPr algn="ctr"/>
            <a:r>
              <a:rPr sz="1100" b="1">
                <a:solidFill>
                  <a:srgbClr val="9AA0A6"/>
                </a:solidFill>
                <a:latin typeface="Calibri"/>
              </a:rPr>
              <a:t>Low</a:t>
            </a:r>
          </a:p>
        </p:txBody>
      </p:sp>
      <p:sp>
        <p:nvSpPr>
          <p:cNvPr id="36" name="TextBox 35"/>
          <p:cNvSpPr txBox="1"/>
          <p:nvPr/>
        </p:nvSpPr>
        <p:spPr>
          <a:xfrm>
            <a:off x="9810750" y="4046502"/>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2026–28</a:t>
            </a:r>
          </a:p>
        </p:txBody>
      </p:sp>
      <p:sp>
        <p:nvSpPr>
          <p:cNvPr id="37" name="Rectangle 36"/>
          <p:cNvSpPr/>
          <p:nvPr/>
        </p:nvSpPr>
        <p:spPr>
          <a:xfrm>
            <a:off x="9810750" y="4210785"/>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810750" y="4210785"/>
            <a:ext cx="990600" cy="310313"/>
          </a:xfrm>
          <a:prstGeom prst="rect">
            <a:avLst/>
          </a:prstGeom>
          <a:noFill/>
        </p:spPr>
        <p:txBody>
          <a:bodyPr wrap="square" lIns="28575" rIns="28575" tIns="9525" bIns="9525" anchor="ctr">
            <a:spAutoFit/>
          </a:bodyPr>
          <a:lstStyle/>
          <a:p>
            <a:pPr algn="ctr"/>
            <a:r>
              <a:rPr sz="1100" b="1">
                <a:solidFill>
                  <a:srgbClr val="6B5613"/>
                </a:solidFill>
                <a:latin typeface="Calibri"/>
              </a:rPr>
              <a:t>Medium</a:t>
            </a:r>
          </a:p>
        </p:txBody>
      </p:sp>
      <p:sp>
        <p:nvSpPr>
          <p:cNvPr id="39" name="TextBox 38"/>
          <p:cNvSpPr txBox="1"/>
          <p:nvPr/>
        </p:nvSpPr>
        <p:spPr>
          <a:xfrm>
            <a:off x="10896600" y="4046502"/>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2029–36</a:t>
            </a:r>
          </a:p>
        </p:txBody>
      </p:sp>
      <p:sp>
        <p:nvSpPr>
          <p:cNvPr id="40" name="Rectangle 39"/>
          <p:cNvSpPr/>
          <p:nvPr/>
        </p:nvSpPr>
        <p:spPr>
          <a:xfrm>
            <a:off x="10896600" y="4210785"/>
            <a:ext cx="990600" cy="310313"/>
          </a:xfrm>
          <a:prstGeom prst="rect">
            <a:avLst/>
          </a:prstGeom>
          <a:solidFill>
            <a:srgbClr val="F2C94C"/>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896600" y="4210785"/>
            <a:ext cx="990600" cy="310313"/>
          </a:xfrm>
          <a:prstGeom prst="rect">
            <a:avLst/>
          </a:prstGeom>
          <a:noFill/>
        </p:spPr>
        <p:txBody>
          <a:bodyPr wrap="square" lIns="28575" rIns="28575" tIns="9525" bIns="9525" anchor="ctr">
            <a:spAutoFit/>
          </a:bodyPr>
          <a:lstStyle/>
          <a:p>
            <a:pPr algn="ctr"/>
            <a:r>
              <a:rPr sz="1100" b="1">
                <a:solidFill>
                  <a:srgbClr val="6B5613"/>
                </a:solidFill>
                <a:latin typeface="Calibri"/>
              </a:rPr>
              <a:t>Medium</a:t>
            </a:r>
          </a:p>
        </p:txBody>
      </p:sp>
      <p:cxnSp>
        <p:nvCxnSpPr>
          <p:cNvPr id="42" name="Connector 41"/>
          <p:cNvCxnSpPr/>
          <p:nvPr/>
        </p:nvCxnSpPr>
        <p:spPr>
          <a:xfrm>
            <a:off x="142875" y="4840538"/>
            <a:ext cx="1190625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43" name="Rectangle 42"/>
          <p:cNvSpPr/>
          <p:nvPr/>
        </p:nvSpPr>
        <p:spPr>
          <a:xfrm>
            <a:off x="142875" y="4895299"/>
            <a:ext cx="9496425" cy="255552"/>
          </a:xfrm>
          <a:prstGeom prst="rect">
            <a:avLst/>
          </a:prstGeom>
          <a:solidFill>
            <a:srgbClr val="F7E3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276225" y="4895299"/>
            <a:ext cx="9267825" cy="255552"/>
          </a:xfrm>
          <a:prstGeom prst="rect">
            <a:avLst/>
          </a:prstGeom>
          <a:noFill/>
        </p:spPr>
        <p:txBody>
          <a:bodyPr wrap="square" lIns="28575" rIns="28575" tIns="9525" bIns="9525" anchor="ctr">
            <a:spAutoFit/>
          </a:bodyPr>
          <a:lstStyle/>
          <a:p>
            <a:pPr algn="l"/>
            <a:r>
              <a:rPr sz="1100" b="1">
                <a:solidFill>
                  <a:srgbClr val="0B2E4A"/>
                </a:solidFill>
                <a:latin typeface="Calibri"/>
              </a:rPr>
              <a:t>Concentration Risk Limits Pricing and Sourcing Flexibility</a:t>
            </a:r>
          </a:p>
        </p:txBody>
      </p:sp>
      <p:sp>
        <p:nvSpPr>
          <p:cNvPr id="45" name="TextBox 44"/>
          <p:cNvSpPr txBox="1"/>
          <p:nvPr/>
        </p:nvSpPr>
        <p:spPr>
          <a:xfrm>
            <a:off x="161925" y="5205612"/>
            <a:ext cx="9439275" cy="593245"/>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46" name="TextBox 45"/>
          <p:cNvSpPr txBox="1"/>
          <p:nvPr/>
        </p:nvSpPr>
        <p:spPr>
          <a:xfrm>
            <a:off x="9810750" y="4895299"/>
            <a:ext cx="2238375" cy="365074"/>
          </a:xfrm>
          <a:prstGeom prst="rect">
            <a:avLst/>
          </a:prstGeom>
          <a:noFill/>
        </p:spPr>
        <p:txBody>
          <a:bodyPr wrap="square" lIns="28575" rIns="28575" tIns="9525" bIns="9525" anchor="ctr">
            <a:spAutoFit/>
          </a:bodyPr>
          <a:lstStyle/>
          <a:p>
            <a:pPr algn="l">
              <a:lnSpc>
                <a:spcPct val="115000"/>
              </a:lnSpc>
            </a:pPr>
            <a:r>
              <a:rPr sz="1100" b="1">
                <a:solidFill>
                  <a:srgbClr val="6C7A89"/>
                </a:solidFill>
                <a:latin typeface="Calibri"/>
              </a:rPr>
              <a:t>Likelihood of impact on timeline</a:t>
            </a:r>
          </a:p>
        </p:txBody>
      </p:sp>
      <p:sp>
        <p:nvSpPr>
          <p:cNvPr id="47" name="TextBox 46"/>
          <p:cNvSpPr txBox="1"/>
          <p:nvPr/>
        </p:nvSpPr>
        <p:spPr>
          <a:xfrm>
            <a:off x="9810750" y="5278626"/>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2021–22</a:t>
            </a:r>
          </a:p>
        </p:txBody>
      </p:sp>
      <p:sp>
        <p:nvSpPr>
          <p:cNvPr id="48" name="Rectangle 47"/>
          <p:cNvSpPr/>
          <p:nvPr/>
        </p:nvSpPr>
        <p:spPr>
          <a:xfrm>
            <a:off x="9810750" y="5442910"/>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810750" y="5442910"/>
            <a:ext cx="990600" cy="310313"/>
          </a:xfrm>
          <a:prstGeom prst="rect">
            <a:avLst/>
          </a:prstGeom>
          <a:noFill/>
        </p:spPr>
        <p:txBody>
          <a:bodyPr wrap="square" lIns="28575" rIns="28575" tIns="9525" bIns="9525" anchor="ctr">
            <a:spAutoFit/>
          </a:bodyPr>
          <a:lstStyle/>
          <a:p>
            <a:pPr algn="ctr"/>
            <a:r>
              <a:rPr sz="1100" b="1">
                <a:solidFill>
                  <a:srgbClr val="4A3A05"/>
                </a:solidFill>
                <a:latin typeface="Calibri"/>
              </a:rPr>
              <a:t>High</a:t>
            </a:r>
          </a:p>
        </p:txBody>
      </p:sp>
      <p:sp>
        <p:nvSpPr>
          <p:cNvPr id="50" name="TextBox 49"/>
          <p:cNvSpPr txBox="1"/>
          <p:nvPr/>
        </p:nvSpPr>
        <p:spPr>
          <a:xfrm>
            <a:off x="10896600" y="5278626"/>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2023–25</a:t>
            </a:r>
          </a:p>
        </p:txBody>
      </p:sp>
      <p:sp>
        <p:nvSpPr>
          <p:cNvPr id="51" name="Rectangle 50"/>
          <p:cNvSpPr/>
          <p:nvPr/>
        </p:nvSpPr>
        <p:spPr>
          <a:xfrm>
            <a:off x="10896600" y="5442910"/>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10896600" y="5442910"/>
            <a:ext cx="990600" cy="310313"/>
          </a:xfrm>
          <a:prstGeom prst="rect">
            <a:avLst/>
          </a:prstGeom>
          <a:noFill/>
        </p:spPr>
        <p:txBody>
          <a:bodyPr wrap="square" lIns="28575" rIns="28575" tIns="9525" bIns="9525" anchor="ctr">
            <a:spAutoFit/>
          </a:bodyPr>
          <a:lstStyle/>
          <a:p>
            <a:pPr algn="ctr"/>
            <a:r>
              <a:rPr sz="1100" b="1">
                <a:solidFill>
                  <a:srgbClr val="4A3A05"/>
                </a:solidFill>
                <a:latin typeface="Calibri"/>
              </a:rPr>
              <a:t>High</a:t>
            </a:r>
          </a:p>
        </p:txBody>
      </p:sp>
      <p:sp>
        <p:nvSpPr>
          <p:cNvPr id="53" name="TextBox 52"/>
          <p:cNvSpPr txBox="1"/>
          <p:nvPr/>
        </p:nvSpPr>
        <p:spPr>
          <a:xfrm>
            <a:off x="9810750" y="5798857"/>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2026–28</a:t>
            </a:r>
          </a:p>
        </p:txBody>
      </p:sp>
      <p:sp>
        <p:nvSpPr>
          <p:cNvPr id="54" name="Rectangle 53"/>
          <p:cNvSpPr/>
          <p:nvPr/>
        </p:nvSpPr>
        <p:spPr>
          <a:xfrm>
            <a:off x="9810750" y="5963140"/>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9810750" y="5963140"/>
            <a:ext cx="990600" cy="310313"/>
          </a:xfrm>
          <a:prstGeom prst="rect">
            <a:avLst/>
          </a:prstGeom>
          <a:noFill/>
        </p:spPr>
        <p:txBody>
          <a:bodyPr wrap="square" lIns="28575" rIns="28575" tIns="9525" bIns="9525" anchor="ctr">
            <a:spAutoFit/>
          </a:bodyPr>
          <a:lstStyle/>
          <a:p>
            <a:pPr algn="ctr"/>
            <a:r>
              <a:rPr sz="1100" b="1">
                <a:solidFill>
                  <a:srgbClr val="4A3A05"/>
                </a:solidFill>
                <a:latin typeface="Calibri"/>
              </a:rPr>
              <a:t>High</a:t>
            </a:r>
          </a:p>
        </p:txBody>
      </p:sp>
      <p:sp>
        <p:nvSpPr>
          <p:cNvPr id="56" name="TextBox 55"/>
          <p:cNvSpPr txBox="1"/>
          <p:nvPr/>
        </p:nvSpPr>
        <p:spPr>
          <a:xfrm>
            <a:off x="10896600" y="5798857"/>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2029–36</a:t>
            </a:r>
          </a:p>
        </p:txBody>
      </p:sp>
      <p:sp>
        <p:nvSpPr>
          <p:cNvPr id="57" name="Rectangle 56"/>
          <p:cNvSpPr/>
          <p:nvPr/>
        </p:nvSpPr>
        <p:spPr>
          <a:xfrm>
            <a:off x="10896600" y="5963140"/>
            <a:ext cx="990600" cy="310313"/>
          </a:xfrm>
          <a:prstGeom prst="rect">
            <a:avLst/>
          </a:prstGeom>
          <a:solidFill>
            <a:srgbClr val="C99A0A"/>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10896600" y="5963140"/>
            <a:ext cx="990600" cy="310313"/>
          </a:xfrm>
          <a:prstGeom prst="rect">
            <a:avLst/>
          </a:prstGeom>
          <a:noFill/>
        </p:spPr>
        <p:txBody>
          <a:bodyPr wrap="square" lIns="28575" rIns="28575" tIns="9525" bIns="9525" anchor="ctr">
            <a:spAutoFit/>
          </a:bodyPr>
          <a:lstStyle/>
          <a:p>
            <a:pPr algn="ctr"/>
            <a:r>
              <a:rPr sz="1100" b="1">
                <a:solidFill>
                  <a:srgbClr val="4A3A05"/>
                </a:solidFill>
                <a:latin typeface="Calibri"/>
              </a:rPr>
              <a:t>High</a:t>
            </a:r>
          </a:p>
        </p:txBody>
      </p:sp>
      <p:sp>
        <p:nvSpPr>
          <p:cNvPr id="59" name="Rectangle 58"/>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
        <p:nvSpPr>
          <p:cNvPr id="61" name="TextBox 60"/>
          <p:cNvSpPr txBox="1"/>
          <p:nvPr/>
        </p:nvSpPr>
        <p:spPr>
          <a:xfrm>
            <a:off x="190500" y="1753513"/>
            <a:ext cx="3011809" cy="186689"/>
          </a:xfrm>
          <a:prstGeom prst="rect">
            <a:avLst/>
          </a:prstGeom>
          <a:noFill/>
        </p:spPr>
        <p:txBody>
          <a:bodyPr wrap="none" lIns="0" rIns="0" tIns="0" bIns="0">
            <a:spAutoFit/>
          </a:bodyPr>
          <a:lstStyle/>
          <a:p>
            <a:r>
              <a:rPr sz="1100" b="0">
                <a:solidFill>
                  <a:srgbClr val="2E2E2E"/>
                </a:solidFill>
                <a:latin typeface="Calibri"/>
              </a:rPr>
              <a:t>'Specialty Extracted Protein Fractions' grows at only</a:t>
            </a:r>
          </a:p>
        </p:txBody>
      </p:sp>
      <p:pic>
        <p:nvPicPr>
          <p:cNvPr id="62" name="Picture 61" descr="lock.png"/>
          <p:cNvPicPr>
            <a:picLocks noChangeAspect="1"/>
          </p:cNvPicPr>
          <p:nvPr/>
        </p:nvPicPr>
        <p:blipFill>
          <a:blip r:embed="rId4"/>
          <a:stretch>
            <a:fillRect/>
          </a:stretch>
        </p:blipFill>
        <p:spPr>
          <a:xfrm>
            <a:off x="3150361" y="1743734"/>
            <a:ext cx="128699" cy="187198"/>
          </a:xfrm>
          <a:prstGeom prst="rect">
            <a:avLst/>
          </a:prstGeom>
        </p:spPr>
      </p:pic>
      <p:sp>
        <p:nvSpPr>
          <p:cNvPr id="63" name="TextBox 62"/>
          <p:cNvSpPr txBox="1"/>
          <p:nvPr/>
        </p:nvSpPr>
        <p:spPr>
          <a:xfrm>
            <a:off x="3317857" y="1753513"/>
            <a:ext cx="1579595" cy="186689"/>
          </a:xfrm>
          <a:prstGeom prst="rect">
            <a:avLst/>
          </a:prstGeom>
          <a:noFill/>
        </p:spPr>
        <p:txBody>
          <a:bodyPr wrap="none" lIns="0" rIns="0" tIns="0" bIns="0">
            <a:spAutoFit/>
          </a:bodyPr>
          <a:lstStyle/>
          <a:p>
            <a:r>
              <a:rPr sz="1100" b="0">
                <a:solidFill>
                  <a:srgbClr val="2E2E2E"/>
                </a:solidFill>
                <a:latin typeface="Calibri"/>
              </a:rPr>
              <a:t>CAGR against the market's</a:t>
            </a:r>
          </a:p>
        </p:txBody>
      </p:sp>
      <p:pic>
        <p:nvPicPr>
          <p:cNvPr id="64" name="Picture 63" descr="lock.png"/>
          <p:cNvPicPr>
            <a:picLocks noChangeAspect="1"/>
          </p:cNvPicPr>
          <p:nvPr/>
        </p:nvPicPr>
        <p:blipFill>
          <a:blip r:embed="rId4"/>
          <a:stretch>
            <a:fillRect/>
          </a:stretch>
        </p:blipFill>
        <p:spPr>
          <a:xfrm>
            <a:off x="4845504" y="1743734"/>
            <a:ext cx="128699" cy="187198"/>
          </a:xfrm>
          <a:prstGeom prst="rect">
            <a:avLst/>
          </a:prstGeom>
        </p:spPr>
      </p:pic>
      <p:sp>
        <p:nvSpPr>
          <p:cNvPr id="65" name="TextBox 64"/>
          <p:cNvSpPr txBox="1"/>
          <p:nvPr/>
        </p:nvSpPr>
        <p:spPr>
          <a:xfrm>
            <a:off x="5012999" y="1753513"/>
            <a:ext cx="284112" cy="186689"/>
          </a:xfrm>
          <a:prstGeom prst="rect">
            <a:avLst/>
          </a:prstGeom>
          <a:noFill/>
        </p:spPr>
        <p:txBody>
          <a:bodyPr wrap="none" lIns="0" rIns="0" tIns="0" bIns="0">
            <a:spAutoFit/>
          </a:bodyPr>
          <a:lstStyle/>
          <a:p>
            <a:r>
              <a:rPr sz="1100" b="0">
                <a:solidFill>
                  <a:srgbClr val="2E2E2E"/>
                </a:solidFill>
                <a:latin typeface="Calibri"/>
              </a:rPr>
              <a:t>, a -</a:t>
            </a:r>
          </a:p>
        </p:txBody>
      </p:sp>
      <p:pic>
        <p:nvPicPr>
          <p:cNvPr id="66" name="Picture 65" descr="lock.png"/>
          <p:cNvPicPr>
            <a:picLocks noChangeAspect="1"/>
          </p:cNvPicPr>
          <p:nvPr/>
        </p:nvPicPr>
        <p:blipFill>
          <a:blip r:embed="rId4"/>
          <a:stretch>
            <a:fillRect/>
          </a:stretch>
        </p:blipFill>
        <p:spPr>
          <a:xfrm>
            <a:off x="5245164" y="1743734"/>
            <a:ext cx="128699" cy="187198"/>
          </a:xfrm>
          <a:prstGeom prst="rect">
            <a:avLst/>
          </a:prstGeom>
        </p:spPr>
      </p:pic>
      <p:sp>
        <p:nvSpPr>
          <p:cNvPr id="67" name="TextBox 66"/>
          <p:cNvSpPr txBox="1"/>
          <p:nvPr/>
        </p:nvSpPr>
        <p:spPr>
          <a:xfrm>
            <a:off x="5412660" y="1753513"/>
            <a:ext cx="3626544" cy="186689"/>
          </a:xfrm>
          <a:prstGeom prst="rect">
            <a:avLst/>
          </a:prstGeom>
          <a:noFill/>
        </p:spPr>
        <p:txBody>
          <a:bodyPr wrap="none" lIns="0" rIns="0" tIns="0" bIns="0">
            <a:spAutoFit/>
          </a:bodyPr>
          <a:lstStyle/>
          <a:p>
            <a:r>
              <a:rPr sz="1100" b="0">
                <a:solidFill>
                  <a:srgbClr val="2E2E2E"/>
                </a:solidFill>
                <a:latin typeface="Calibri"/>
              </a:rPr>
              <a:t>BPS gap, and 'Specialty Extracted Protein Fractions' surrenders</a:t>
            </a:r>
          </a:p>
        </p:txBody>
      </p:sp>
      <p:pic>
        <p:nvPicPr>
          <p:cNvPr id="68" name="Picture 67" descr="lock.png"/>
          <p:cNvPicPr>
            <a:picLocks noChangeAspect="1"/>
          </p:cNvPicPr>
          <p:nvPr/>
        </p:nvPicPr>
        <p:blipFill>
          <a:blip r:embed="rId4"/>
          <a:stretch>
            <a:fillRect/>
          </a:stretch>
        </p:blipFill>
        <p:spPr>
          <a:xfrm>
            <a:off x="8987256" y="1743734"/>
            <a:ext cx="128699" cy="187198"/>
          </a:xfrm>
          <a:prstGeom prst="rect">
            <a:avLst/>
          </a:prstGeom>
        </p:spPr>
      </p:pic>
      <p:sp>
        <p:nvSpPr>
          <p:cNvPr id="69" name="TextBox 68"/>
          <p:cNvSpPr txBox="1"/>
          <p:nvPr/>
        </p:nvSpPr>
        <p:spPr>
          <a:xfrm>
            <a:off x="190500" y="1921153"/>
            <a:ext cx="9305404" cy="186689"/>
          </a:xfrm>
          <a:prstGeom prst="rect">
            <a:avLst/>
          </a:prstGeom>
          <a:noFill/>
        </p:spPr>
        <p:txBody>
          <a:bodyPr wrap="none" lIns="0" rIns="0" tIns="0" bIns="0">
            <a:spAutoFit/>
          </a:bodyPr>
          <a:lstStyle/>
          <a:p>
            <a:r>
              <a:rPr sz="1100" b="0">
                <a:solidFill>
                  <a:srgbClr val="2E2E2E"/>
                </a:solidFill>
                <a:latin typeface="Calibri"/>
              </a:rPr>
              <a:t>BPS of product type share between 2026 and 2036. Because these lines still carry meaningful volume, the drag is absorbed by the whole category: blended growth</a:t>
            </a:r>
          </a:p>
        </p:txBody>
      </p:sp>
      <p:sp>
        <p:nvSpPr>
          <p:cNvPr id="70" name="TextBox 69"/>
          <p:cNvSpPr txBox="1"/>
          <p:nvPr/>
        </p:nvSpPr>
        <p:spPr>
          <a:xfrm>
            <a:off x="190500" y="2088793"/>
            <a:ext cx="9382125" cy="186689"/>
          </a:xfrm>
          <a:prstGeom prst="rect">
            <a:avLst/>
          </a:prstGeom>
          <a:noFill/>
        </p:spPr>
        <p:txBody>
          <a:bodyPr wrap="none" lIns="0" rIns="0" tIns="0" bIns="0">
            <a:spAutoFit/>
          </a:bodyPr>
          <a:lstStyle/>
          <a:p>
            <a:r>
              <a:rPr sz="1100" b="0">
                <a:solidFill>
                  <a:srgbClr val="2E2E2E"/>
                </a:solidFill>
                <a:latin typeface="Calibri"/>
              </a:rPr>
              <a:t>sits below what the leading lines achieve on their own. Rationalising or repositioning the lagging end of a 3-line portfolio is therefore a precondition for realising the</a:t>
            </a:r>
          </a:p>
        </p:txBody>
      </p:sp>
      <p:sp>
        <p:nvSpPr>
          <p:cNvPr id="71" name="TextBox 70"/>
          <p:cNvSpPr txBox="1"/>
          <p:nvPr/>
        </p:nvSpPr>
        <p:spPr>
          <a:xfrm>
            <a:off x="190500" y="2256433"/>
            <a:ext cx="1095846" cy="186689"/>
          </a:xfrm>
          <a:prstGeom prst="rect">
            <a:avLst/>
          </a:prstGeom>
          <a:noFill/>
        </p:spPr>
        <p:txBody>
          <a:bodyPr wrap="none" lIns="0" rIns="0" tIns="0" bIns="0">
            <a:spAutoFit/>
          </a:bodyPr>
          <a:lstStyle/>
          <a:p>
            <a:r>
              <a:rPr sz="1100" b="0">
                <a:solidFill>
                  <a:srgbClr val="2E2E2E"/>
                </a:solidFill>
                <a:latin typeface="Calibri"/>
              </a:rPr>
              <a:t>headline forecast.</a:t>
            </a:r>
          </a:p>
        </p:txBody>
      </p:sp>
      <p:sp>
        <p:nvSpPr>
          <p:cNvPr id="72" name="TextBox 71"/>
          <p:cNvSpPr txBox="1"/>
          <p:nvPr/>
        </p:nvSpPr>
        <p:spPr>
          <a:xfrm>
            <a:off x="190500" y="3498419"/>
            <a:ext cx="1731590" cy="186689"/>
          </a:xfrm>
          <a:prstGeom prst="rect">
            <a:avLst/>
          </a:prstGeom>
          <a:noFill/>
        </p:spPr>
        <p:txBody>
          <a:bodyPr wrap="none" lIns="0" rIns="0" tIns="0" bIns="0">
            <a:spAutoFit/>
          </a:bodyPr>
          <a:lstStyle/>
          <a:p>
            <a:r>
              <a:rPr sz="1100" b="0">
                <a:solidFill>
                  <a:srgbClr val="2E2E2E"/>
                </a:solidFill>
                <a:latin typeface="Calibri"/>
              </a:rPr>
              <a:t>'North America' grows at just</a:t>
            </a:r>
          </a:p>
        </p:txBody>
      </p:sp>
      <p:pic>
        <p:nvPicPr>
          <p:cNvPr id="73" name="Picture 72" descr="lock.png"/>
          <p:cNvPicPr>
            <a:picLocks noChangeAspect="1"/>
          </p:cNvPicPr>
          <p:nvPr/>
        </p:nvPicPr>
        <p:blipFill>
          <a:blip r:embed="rId4"/>
          <a:stretch>
            <a:fillRect/>
          </a:stretch>
        </p:blipFill>
        <p:spPr>
          <a:xfrm>
            <a:off x="1870142" y="3488640"/>
            <a:ext cx="128699" cy="187198"/>
          </a:xfrm>
          <a:prstGeom prst="rect">
            <a:avLst/>
          </a:prstGeom>
        </p:spPr>
      </p:pic>
      <p:sp>
        <p:nvSpPr>
          <p:cNvPr id="74" name="TextBox 73"/>
          <p:cNvSpPr txBox="1"/>
          <p:nvPr/>
        </p:nvSpPr>
        <p:spPr>
          <a:xfrm>
            <a:off x="2037637" y="3498419"/>
            <a:ext cx="469907" cy="186689"/>
          </a:xfrm>
          <a:prstGeom prst="rect">
            <a:avLst/>
          </a:prstGeom>
          <a:noFill/>
        </p:spPr>
        <p:txBody>
          <a:bodyPr wrap="none" lIns="0" rIns="0" tIns="0" bIns="0">
            <a:spAutoFit/>
          </a:bodyPr>
          <a:lstStyle/>
          <a:p>
            <a:r>
              <a:rPr sz="1100" b="0">
                <a:solidFill>
                  <a:srgbClr val="2E2E2E"/>
                </a:solidFill>
                <a:latin typeface="Calibri"/>
              </a:rPr>
              <a:t>CAGR -</a:t>
            </a:r>
          </a:p>
        </p:txBody>
      </p:sp>
      <p:pic>
        <p:nvPicPr>
          <p:cNvPr id="75" name="Picture 74" descr="lock.png"/>
          <p:cNvPicPr>
            <a:picLocks noChangeAspect="1"/>
          </p:cNvPicPr>
          <p:nvPr/>
        </p:nvPicPr>
        <p:blipFill>
          <a:blip r:embed="rId4"/>
          <a:stretch>
            <a:fillRect/>
          </a:stretch>
        </p:blipFill>
        <p:spPr>
          <a:xfrm>
            <a:off x="2455597" y="3488640"/>
            <a:ext cx="128699" cy="187198"/>
          </a:xfrm>
          <a:prstGeom prst="rect">
            <a:avLst/>
          </a:prstGeom>
        </p:spPr>
      </p:pic>
      <p:sp>
        <p:nvSpPr>
          <p:cNvPr id="76" name="TextBox 75"/>
          <p:cNvSpPr txBox="1"/>
          <p:nvPr/>
        </p:nvSpPr>
        <p:spPr>
          <a:xfrm>
            <a:off x="2623093" y="3498419"/>
            <a:ext cx="6616997" cy="186689"/>
          </a:xfrm>
          <a:prstGeom prst="rect">
            <a:avLst/>
          </a:prstGeom>
          <a:noFill/>
        </p:spPr>
        <p:txBody>
          <a:bodyPr wrap="none" lIns="0" rIns="0" tIns="0" bIns="0">
            <a:spAutoFit/>
          </a:bodyPr>
          <a:lstStyle/>
          <a:p>
            <a:r>
              <a:rPr sz="1100" b="0">
                <a:solidFill>
                  <a:srgbClr val="2E2E2E"/>
                </a:solidFill>
                <a:latin typeface="Calibri"/>
              </a:rPr>
              <a:t>BPS against the market and 3 of 6 regions sit below the market pace altogether. Demand is therefore not uniformly</a:t>
            </a:r>
          </a:p>
        </p:txBody>
      </p:sp>
      <p:sp>
        <p:nvSpPr>
          <p:cNvPr id="77" name="TextBox 76"/>
          <p:cNvSpPr txBox="1"/>
          <p:nvPr/>
        </p:nvSpPr>
        <p:spPr>
          <a:xfrm>
            <a:off x="190500" y="3666059"/>
            <a:ext cx="8618091" cy="186689"/>
          </a:xfrm>
          <a:prstGeom prst="rect">
            <a:avLst/>
          </a:prstGeom>
          <a:noFill/>
        </p:spPr>
        <p:txBody>
          <a:bodyPr wrap="none" lIns="0" rIns="0" tIns="0" bIns="0">
            <a:spAutoFit/>
          </a:bodyPr>
          <a:lstStyle/>
          <a:p>
            <a:r>
              <a:rPr sz="1100" b="0">
                <a:solidFill>
                  <a:srgbClr val="2E2E2E"/>
                </a:solidFill>
                <a:latin typeface="Calibri"/>
              </a:rPr>
              <a:t>available: suppliers carrying a broad geographic footprint fund presence in slow regions out of returns earned in the fast ones. With 'North America' at</a:t>
            </a:r>
          </a:p>
        </p:txBody>
      </p:sp>
      <p:pic>
        <p:nvPicPr>
          <p:cNvPr id="78" name="Picture 77" descr="lock.png"/>
          <p:cNvPicPr>
            <a:picLocks noChangeAspect="1"/>
          </p:cNvPicPr>
          <p:nvPr/>
        </p:nvPicPr>
        <p:blipFill>
          <a:blip r:embed="rId4"/>
          <a:stretch>
            <a:fillRect/>
          </a:stretch>
        </p:blipFill>
        <p:spPr>
          <a:xfrm>
            <a:off x="8756642" y="3656280"/>
            <a:ext cx="128699" cy="187198"/>
          </a:xfrm>
          <a:prstGeom prst="rect">
            <a:avLst/>
          </a:prstGeom>
        </p:spPr>
      </p:pic>
      <p:sp>
        <p:nvSpPr>
          <p:cNvPr id="79" name="TextBox 78"/>
          <p:cNvSpPr txBox="1"/>
          <p:nvPr/>
        </p:nvSpPr>
        <p:spPr>
          <a:xfrm>
            <a:off x="8924138" y="3666059"/>
            <a:ext cx="564058" cy="186689"/>
          </a:xfrm>
          <a:prstGeom prst="rect">
            <a:avLst/>
          </a:prstGeom>
          <a:noFill/>
        </p:spPr>
        <p:txBody>
          <a:bodyPr wrap="none" lIns="0" rIns="0" tIns="0" bIns="0">
            <a:spAutoFit/>
          </a:bodyPr>
          <a:lstStyle/>
          <a:p>
            <a:r>
              <a:rPr sz="1100" b="0">
                <a:solidFill>
                  <a:srgbClr val="2E2E2E"/>
                </a:solidFill>
                <a:latin typeface="Calibri"/>
              </a:rPr>
              <a:t>of value,</a:t>
            </a:r>
          </a:p>
        </p:txBody>
      </p:sp>
      <p:sp>
        <p:nvSpPr>
          <p:cNvPr id="80" name="TextBox 79"/>
          <p:cNvSpPr txBox="1"/>
          <p:nvPr/>
        </p:nvSpPr>
        <p:spPr>
          <a:xfrm>
            <a:off x="190500" y="3833699"/>
            <a:ext cx="5170338" cy="186689"/>
          </a:xfrm>
          <a:prstGeom prst="rect">
            <a:avLst/>
          </a:prstGeom>
          <a:noFill/>
        </p:spPr>
        <p:txBody>
          <a:bodyPr wrap="none" lIns="0" rIns="0" tIns="0" bIns="0">
            <a:spAutoFit/>
          </a:bodyPr>
          <a:lstStyle/>
          <a:p>
            <a:r>
              <a:rPr sz="1100" b="0">
                <a:solidFill>
                  <a:srgbClr val="2E2E2E"/>
                </a:solidFill>
                <a:latin typeface="Calibri"/>
              </a:rPr>
              <a:t>a shortfall in a single leading region is difficult to offset elsewhere in the forecast window.</a:t>
            </a:r>
          </a:p>
        </p:txBody>
      </p:sp>
      <p:sp>
        <p:nvSpPr>
          <p:cNvPr id="81" name="TextBox 80"/>
          <p:cNvSpPr txBox="1"/>
          <p:nvPr/>
        </p:nvSpPr>
        <p:spPr>
          <a:xfrm>
            <a:off x="190500" y="5250774"/>
            <a:ext cx="3337594" cy="186689"/>
          </a:xfrm>
          <a:prstGeom prst="rect">
            <a:avLst/>
          </a:prstGeom>
          <a:noFill/>
        </p:spPr>
        <p:txBody>
          <a:bodyPr wrap="none" lIns="0" rIns="0" tIns="0" bIns="0">
            <a:spAutoFit/>
          </a:bodyPr>
          <a:lstStyle/>
          <a:p>
            <a:r>
              <a:rPr sz="1100" b="0">
                <a:solidFill>
                  <a:srgbClr val="2E2E2E"/>
                </a:solidFill>
                <a:latin typeface="Calibri"/>
              </a:rPr>
              <a:t>The market is concentrated: 'North America' accounts for</a:t>
            </a:r>
          </a:p>
        </p:txBody>
      </p:sp>
      <p:pic>
        <p:nvPicPr>
          <p:cNvPr id="82" name="Picture 81" descr="lock.png"/>
          <p:cNvPicPr>
            <a:picLocks noChangeAspect="1"/>
          </p:cNvPicPr>
          <p:nvPr/>
        </p:nvPicPr>
        <p:blipFill>
          <a:blip r:embed="rId4"/>
          <a:stretch>
            <a:fillRect/>
          </a:stretch>
        </p:blipFill>
        <p:spPr>
          <a:xfrm>
            <a:off x="3476146" y="5240995"/>
            <a:ext cx="128699" cy="187198"/>
          </a:xfrm>
          <a:prstGeom prst="rect">
            <a:avLst/>
          </a:prstGeom>
        </p:spPr>
      </p:pic>
      <p:sp>
        <p:nvSpPr>
          <p:cNvPr id="83" name="TextBox 82"/>
          <p:cNvSpPr txBox="1"/>
          <p:nvPr/>
        </p:nvSpPr>
        <p:spPr>
          <a:xfrm>
            <a:off x="3643642" y="5250774"/>
            <a:ext cx="2957512" cy="186689"/>
          </a:xfrm>
          <a:prstGeom prst="rect">
            <a:avLst/>
          </a:prstGeom>
          <a:noFill/>
        </p:spPr>
        <p:txBody>
          <a:bodyPr wrap="none" lIns="0" rIns="0" tIns="0" bIns="0">
            <a:spAutoFit/>
          </a:bodyPr>
          <a:lstStyle/>
          <a:p>
            <a:r>
              <a:rPr sz="1100" b="0">
                <a:solidFill>
                  <a:srgbClr val="2E2E2E"/>
                </a:solidFill>
                <a:latin typeface="Calibri"/>
              </a:rPr>
              <a:t>of 2036 value and the leading product type line for</a:t>
            </a:r>
          </a:p>
        </p:txBody>
      </p:sp>
      <p:pic>
        <p:nvPicPr>
          <p:cNvPr id="84" name="Picture 83" descr="lock.png"/>
          <p:cNvPicPr>
            <a:picLocks noChangeAspect="1"/>
          </p:cNvPicPr>
          <p:nvPr/>
        </p:nvPicPr>
        <p:blipFill>
          <a:blip r:embed="rId4"/>
          <a:stretch>
            <a:fillRect/>
          </a:stretch>
        </p:blipFill>
        <p:spPr>
          <a:xfrm>
            <a:off x="6549206" y="5240995"/>
            <a:ext cx="128699" cy="187198"/>
          </a:xfrm>
          <a:prstGeom prst="rect">
            <a:avLst/>
          </a:prstGeom>
        </p:spPr>
      </p:pic>
      <p:sp>
        <p:nvSpPr>
          <p:cNvPr id="85" name="TextBox 84"/>
          <p:cNvSpPr txBox="1"/>
          <p:nvPr/>
        </p:nvSpPr>
        <p:spPr>
          <a:xfrm>
            <a:off x="6716702" y="5250774"/>
            <a:ext cx="2445058" cy="186689"/>
          </a:xfrm>
          <a:prstGeom prst="rect">
            <a:avLst/>
          </a:prstGeom>
          <a:noFill/>
        </p:spPr>
        <p:txBody>
          <a:bodyPr wrap="none" lIns="0" rIns="0" tIns="0" bIns="0">
            <a:spAutoFit/>
          </a:bodyPr>
          <a:lstStyle/>
          <a:p>
            <a:r>
              <a:rPr sz="1100" b="0">
                <a:solidFill>
                  <a:srgbClr val="2E2E2E"/>
                </a:solidFill>
                <a:latin typeface="Calibri"/>
              </a:rPr>
              <a:t>of its segment. Average realisation moves</a:t>
            </a:r>
          </a:p>
        </p:txBody>
      </p:sp>
      <p:pic>
        <p:nvPicPr>
          <p:cNvPr id="86" name="Picture 85" descr="lock.png"/>
          <p:cNvPicPr>
            <a:picLocks noChangeAspect="1"/>
          </p:cNvPicPr>
          <p:nvPr/>
        </p:nvPicPr>
        <p:blipFill>
          <a:blip r:embed="rId4"/>
          <a:stretch>
            <a:fillRect/>
          </a:stretch>
        </p:blipFill>
        <p:spPr>
          <a:xfrm>
            <a:off x="177032" y="5408635"/>
            <a:ext cx="128699" cy="187198"/>
          </a:xfrm>
          <a:prstGeom prst="rect">
            <a:avLst/>
          </a:prstGeom>
        </p:spPr>
      </p:pic>
      <p:sp>
        <p:nvSpPr>
          <p:cNvPr id="87" name="TextBox 86"/>
          <p:cNvSpPr txBox="1"/>
          <p:nvPr/>
        </p:nvSpPr>
        <p:spPr>
          <a:xfrm>
            <a:off x="344528" y="5418414"/>
            <a:ext cx="9124776" cy="186689"/>
          </a:xfrm>
          <a:prstGeom prst="rect">
            <a:avLst/>
          </a:prstGeom>
          <a:noFill/>
        </p:spPr>
        <p:txBody>
          <a:bodyPr wrap="none" lIns="0" rIns="0" tIns="0" bIns="0">
            <a:spAutoFit/>
          </a:bodyPr>
          <a:lstStyle/>
          <a:p>
            <a:r>
              <a:rPr sz="1100" b="0">
                <a:solidFill>
                  <a:srgbClr val="2E2E2E"/>
                </a:solidFill>
                <a:latin typeface="Calibri"/>
              </a:rPr>
              <a:t>a year, so cost movements cannot be passed on evenly across 6 regions. The practical constraint is the same in either case commercial terms set for the market</a:t>
            </a:r>
          </a:p>
        </p:txBody>
      </p:sp>
      <p:sp>
        <p:nvSpPr>
          <p:cNvPr id="88" name="TextBox 87"/>
          <p:cNvSpPr txBox="1"/>
          <p:nvPr/>
        </p:nvSpPr>
        <p:spPr>
          <a:xfrm>
            <a:off x="190500" y="5586054"/>
            <a:ext cx="6191894" cy="186689"/>
          </a:xfrm>
          <a:prstGeom prst="rect">
            <a:avLst/>
          </a:prstGeom>
          <a:noFill/>
        </p:spPr>
        <p:txBody>
          <a:bodyPr wrap="none" lIns="0" rIns="0" tIns="0" bIns="0">
            <a:spAutoFit/>
          </a:bodyPr>
          <a:lstStyle/>
          <a:p>
            <a:r>
              <a:rPr sz="1100" b="0">
                <a:solidFill>
                  <a:srgbClr val="2E2E2E"/>
                </a:solidFill>
                <a:latin typeface="Calibri"/>
              </a:rPr>
              <a:t>as a whole underserve part of it, and margin is lost in the mismatch rather than in the headline growth rate.</a:t>
            </a:r>
          </a:p>
        </p:txBody>
      </p:sp>
    </p:spTree>
  </p:cSld>
  <p:clrMapOvr>
    <a:masterClrMapping/>
  </p:clrMapOvr>
</p:sld>
</file>

<file path=ppt/slides/slide2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Egg Protein Membrane Market Opportunities</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the key opportunities in the global market and the likelihood of their impact across 2021–2036</a:t>
            </a:r>
          </a:p>
        </p:txBody>
      </p:sp>
      <p:sp>
        <p:nvSpPr>
          <p:cNvPr id="7" name="Rounded Rectangle 6"/>
          <p:cNvSpPr/>
          <p:nvPr/>
        </p:nvSpPr>
        <p:spPr>
          <a:xfrm>
            <a:off x="142875" y="1025515"/>
            <a:ext cx="2038350" cy="255552"/>
          </a:xfrm>
          <a:prstGeom prst="roundRect">
            <a:avLst>
              <a:gd name="adj" fmla="val 1869"/>
            </a:avLst>
          </a:prstGeom>
          <a:solidFill>
            <a:srgbClr val="5B7C99"/>
          </a:solidFill>
          <a:ln w="12700">
            <a:solidFill>
              <a:srgbClr val="5B7C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42875" y="1025515"/>
            <a:ext cx="2038350" cy="255552"/>
          </a:xfrm>
          <a:prstGeom prst="rect">
            <a:avLst/>
          </a:prstGeom>
          <a:noFill/>
        </p:spPr>
        <p:txBody>
          <a:bodyPr wrap="square" lIns="28575" rIns="28575" tIns="9525" bIns="9525" anchor="ctr">
            <a:spAutoFit/>
          </a:bodyPr>
          <a:lstStyle/>
          <a:p>
            <a:pPr algn="ctr"/>
            <a:r>
              <a:rPr sz="1100" b="1">
                <a:solidFill>
                  <a:srgbClr val="FFFFFF"/>
                </a:solidFill>
                <a:latin typeface="Calibri"/>
              </a:rPr>
              <a:t>Market Opportunities</a:t>
            </a:r>
          </a:p>
        </p:txBody>
      </p:sp>
      <p:sp>
        <p:nvSpPr>
          <p:cNvPr id="9" name="Rectangle 8"/>
          <p:cNvSpPr/>
          <p:nvPr/>
        </p:nvSpPr>
        <p:spPr>
          <a:xfrm>
            <a:off x="142875" y="1390589"/>
            <a:ext cx="9496425" cy="255552"/>
          </a:xfrm>
          <a:prstGeom prst="rect">
            <a:avLst/>
          </a:prstGeom>
          <a:solidFill>
            <a:srgbClr val="E8EE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6225" y="1390589"/>
            <a:ext cx="9267825" cy="255552"/>
          </a:xfrm>
          <a:prstGeom prst="rect">
            <a:avLst/>
          </a:prstGeom>
          <a:noFill/>
        </p:spPr>
        <p:txBody>
          <a:bodyPr wrap="square" lIns="28575" rIns="28575" tIns="9525" bIns="9525" anchor="ctr">
            <a:spAutoFit/>
          </a:bodyPr>
          <a:lstStyle/>
          <a:p>
            <a:pPr algn="l"/>
            <a:r>
              <a:rPr sz="1100" b="1">
                <a:solidFill>
                  <a:srgbClr val="0B2E4A"/>
                </a:solidFill>
                <a:latin typeface="Calibri"/>
              </a:rPr>
              <a:t>U.S. Carries the Largest Absolute Opportunity</a:t>
            </a:r>
          </a:p>
        </p:txBody>
      </p:sp>
      <p:sp>
        <p:nvSpPr>
          <p:cNvPr id="11" name="TextBox 10"/>
          <p:cNvSpPr txBox="1"/>
          <p:nvPr/>
        </p:nvSpPr>
        <p:spPr>
          <a:xfrm>
            <a:off x="161925" y="1700902"/>
            <a:ext cx="9439275" cy="593245"/>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12" name="TextBox 11"/>
          <p:cNvSpPr txBox="1"/>
          <p:nvPr/>
        </p:nvSpPr>
        <p:spPr>
          <a:xfrm>
            <a:off x="9810750" y="1390589"/>
            <a:ext cx="2238375" cy="365074"/>
          </a:xfrm>
          <a:prstGeom prst="rect">
            <a:avLst/>
          </a:prstGeom>
          <a:noFill/>
        </p:spPr>
        <p:txBody>
          <a:bodyPr wrap="square" lIns="28575" rIns="28575" tIns="9525" bIns="9525" anchor="ctr">
            <a:spAutoFit/>
          </a:bodyPr>
          <a:lstStyle/>
          <a:p>
            <a:pPr algn="l">
              <a:lnSpc>
                <a:spcPct val="115000"/>
              </a:lnSpc>
            </a:pPr>
            <a:r>
              <a:rPr sz="1100" b="1">
                <a:solidFill>
                  <a:srgbClr val="6C7A89"/>
                </a:solidFill>
                <a:latin typeface="Calibri"/>
              </a:rPr>
              <a:t>Likelihood of impact on timeline</a:t>
            </a:r>
          </a:p>
        </p:txBody>
      </p:sp>
      <p:sp>
        <p:nvSpPr>
          <p:cNvPr id="13" name="TextBox 12"/>
          <p:cNvSpPr txBox="1"/>
          <p:nvPr/>
        </p:nvSpPr>
        <p:spPr>
          <a:xfrm>
            <a:off x="9810750" y="1773916"/>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2021–22</a:t>
            </a:r>
          </a:p>
        </p:txBody>
      </p:sp>
      <p:sp>
        <p:nvSpPr>
          <p:cNvPr id="14" name="Rectangle 13"/>
          <p:cNvSpPr/>
          <p:nvPr/>
        </p:nvSpPr>
        <p:spPr>
          <a:xfrm>
            <a:off x="9810750" y="1938200"/>
            <a:ext cx="990600" cy="310313"/>
          </a:xfrm>
          <a:prstGeom prst="rect">
            <a:avLst/>
          </a:prstGeom>
          <a:solidFill>
            <a:srgbClr val="FBF0C4"/>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810750" y="1938200"/>
            <a:ext cx="990600" cy="310313"/>
          </a:xfrm>
          <a:prstGeom prst="rect">
            <a:avLst/>
          </a:prstGeom>
          <a:noFill/>
        </p:spPr>
        <p:txBody>
          <a:bodyPr wrap="square" lIns="28575" rIns="28575" tIns="9525" bIns="9525" anchor="ctr">
            <a:spAutoFit/>
          </a:bodyPr>
          <a:lstStyle/>
          <a:p>
            <a:pPr algn="ctr"/>
            <a:r>
              <a:rPr sz="1100" b="1">
                <a:solidFill>
                  <a:srgbClr val="9AA0A6"/>
                </a:solidFill>
                <a:latin typeface="Calibri"/>
              </a:rPr>
              <a:t>Low</a:t>
            </a:r>
          </a:p>
        </p:txBody>
      </p:sp>
      <p:sp>
        <p:nvSpPr>
          <p:cNvPr id="16" name="TextBox 15"/>
          <p:cNvSpPr txBox="1"/>
          <p:nvPr/>
        </p:nvSpPr>
        <p:spPr>
          <a:xfrm>
            <a:off x="10896600" y="1773916"/>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2023–25</a:t>
            </a:r>
          </a:p>
        </p:txBody>
      </p:sp>
      <p:sp>
        <p:nvSpPr>
          <p:cNvPr id="17" name="Rectangle 16"/>
          <p:cNvSpPr/>
          <p:nvPr/>
        </p:nvSpPr>
        <p:spPr>
          <a:xfrm>
            <a:off x="10896600" y="1938200"/>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896600" y="1938200"/>
            <a:ext cx="990600" cy="310313"/>
          </a:xfrm>
          <a:prstGeom prst="rect">
            <a:avLst/>
          </a:prstGeom>
          <a:noFill/>
        </p:spPr>
        <p:txBody>
          <a:bodyPr wrap="square" lIns="28575" rIns="28575" tIns="9525" bIns="9525" anchor="ctr">
            <a:spAutoFit/>
          </a:bodyPr>
          <a:lstStyle/>
          <a:p>
            <a:pPr algn="ctr"/>
            <a:r>
              <a:rPr sz="1100" b="1">
                <a:solidFill>
                  <a:srgbClr val="9AA0A6"/>
                </a:solidFill>
                <a:latin typeface="Calibri"/>
              </a:rPr>
              <a:t>Low</a:t>
            </a:r>
          </a:p>
        </p:txBody>
      </p:sp>
      <p:sp>
        <p:nvSpPr>
          <p:cNvPr id="19" name="TextBox 18"/>
          <p:cNvSpPr txBox="1"/>
          <p:nvPr/>
        </p:nvSpPr>
        <p:spPr>
          <a:xfrm>
            <a:off x="9810750" y="2294147"/>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2026–28</a:t>
            </a:r>
          </a:p>
        </p:txBody>
      </p:sp>
      <p:sp>
        <p:nvSpPr>
          <p:cNvPr id="20" name="Rectangle 19"/>
          <p:cNvSpPr/>
          <p:nvPr/>
        </p:nvSpPr>
        <p:spPr>
          <a:xfrm>
            <a:off x="9810750" y="2458430"/>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810750" y="2458430"/>
            <a:ext cx="990600" cy="310313"/>
          </a:xfrm>
          <a:prstGeom prst="rect">
            <a:avLst/>
          </a:prstGeom>
          <a:noFill/>
        </p:spPr>
        <p:txBody>
          <a:bodyPr wrap="square" lIns="28575" rIns="28575" tIns="9525" bIns="9525" anchor="ctr">
            <a:spAutoFit/>
          </a:bodyPr>
          <a:lstStyle/>
          <a:p>
            <a:pPr algn="ctr"/>
            <a:r>
              <a:rPr sz="1100" b="1">
                <a:solidFill>
                  <a:srgbClr val="9AA0A6"/>
                </a:solidFill>
                <a:latin typeface="Calibri"/>
              </a:rPr>
              <a:t>Low</a:t>
            </a:r>
          </a:p>
        </p:txBody>
      </p:sp>
      <p:sp>
        <p:nvSpPr>
          <p:cNvPr id="22" name="TextBox 21"/>
          <p:cNvSpPr txBox="1"/>
          <p:nvPr/>
        </p:nvSpPr>
        <p:spPr>
          <a:xfrm>
            <a:off x="10896600" y="2294147"/>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2029–36</a:t>
            </a:r>
          </a:p>
        </p:txBody>
      </p:sp>
      <p:sp>
        <p:nvSpPr>
          <p:cNvPr id="23" name="Rectangle 22"/>
          <p:cNvSpPr/>
          <p:nvPr/>
        </p:nvSpPr>
        <p:spPr>
          <a:xfrm>
            <a:off x="10896600" y="2458430"/>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896600" y="2458430"/>
            <a:ext cx="990600" cy="310313"/>
          </a:xfrm>
          <a:prstGeom prst="rect">
            <a:avLst/>
          </a:prstGeom>
          <a:noFill/>
        </p:spPr>
        <p:txBody>
          <a:bodyPr wrap="square" lIns="28575" rIns="28575" tIns="9525" bIns="9525" anchor="ctr">
            <a:spAutoFit/>
          </a:bodyPr>
          <a:lstStyle/>
          <a:p>
            <a:pPr algn="ctr"/>
            <a:r>
              <a:rPr sz="1100" b="1">
                <a:solidFill>
                  <a:srgbClr val="9AA0A6"/>
                </a:solidFill>
                <a:latin typeface="Calibri"/>
              </a:rPr>
              <a:t>Low</a:t>
            </a:r>
          </a:p>
        </p:txBody>
      </p:sp>
      <p:cxnSp>
        <p:nvCxnSpPr>
          <p:cNvPr id="25" name="Connector 24"/>
          <p:cNvCxnSpPr/>
          <p:nvPr/>
        </p:nvCxnSpPr>
        <p:spPr>
          <a:xfrm>
            <a:off x="142875" y="3088183"/>
            <a:ext cx="1190625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6" name="Rectangle 25"/>
          <p:cNvSpPr/>
          <p:nvPr/>
        </p:nvSpPr>
        <p:spPr>
          <a:xfrm>
            <a:off x="142875" y="3142944"/>
            <a:ext cx="9496425" cy="255552"/>
          </a:xfrm>
          <a:prstGeom prst="rect">
            <a:avLst/>
          </a:prstGeom>
          <a:solidFill>
            <a:srgbClr val="E8EE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76225" y="3142944"/>
            <a:ext cx="9267825" cy="255552"/>
          </a:xfrm>
          <a:prstGeom prst="rect">
            <a:avLst/>
          </a:prstGeom>
          <a:noFill/>
        </p:spPr>
        <p:txBody>
          <a:bodyPr wrap="square" lIns="28575" rIns="28575" tIns="9525" bIns="9525" anchor="ctr">
            <a:spAutoFit/>
          </a:bodyPr>
          <a:lstStyle/>
          <a:p>
            <a:pPr algn="l"/>
            <a:r>
              <a:rPr sz="1100" b="1">
                <a:solidFill>
                  <a:srgbClr val="0B2E4A"/>
                </a:solidFill>
                <a:latin typeface="Calibri"/>
              </a:rPr>
              <a:t>Saudi Arabia Offers Under-penetrated, Above-pace Headroom</a:t>
            </a:r>
          </a:p>
        </p:txBody>
      </p:sp>
      <p:sp>
        <p:nvSpPr>
          <p:cNvPr id="28" name="TextBox 27"/>
          <p:cNvSpPr txBox="1"/>
          <p:nvPr/>
        </p:nvSpPr>
        <p:spPr>
          <a:xfrm>
            <a:off x="161925" y="3453257"/>
            <a:ext cx="9439275" cy="593245"/>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29" name="TextBox 28"/>
          <p:cNvSpPr txBox="1"/>
          <p:nvPr/>
        </p:nvSpPr>
        <p:spPr>
          <a:xfrm>
            <a:off x="9810750" y="3142944"/>
            <a:ext cx="2238375" cy="365074"/>
          </a:xfrm>
          <a:prstGeom prst="rect">
            <a:avLst/>
          </a:prstGeom>
          <a:noFill/>
        </p:spPr>
        <p:txBody>
          <a:bodyPr wrap="square" lIns="28575" rIns="28575" tIns="9525" bIns="9525" anchor="ctr">
            <a:spAutoFit/>
          </a:bodyPr>
          <a:lstStyle/>
          <a:p>
            <a:pPr algn="l">
              <a:lnSpc>
                <a:spcPct val="115000"/>
              </a:lnSpc>
            </a:pPr>
            <a:r>
              <a:rPr sz="1100" b="1">
                <a:solidFill>
                  <a:srgbClr val="6C7A89"/>
                </a:solidFill>
                <a:latin typeface="Calibri"/>
              </a:rPr>
              <a:t>Likelihood of impact on timeline</a:t>
            </a:r>
          </a:p>
        </p:txBody>
      </p:sp>
      <p:sp>
        <p:nvSpPr>
          <p:cNvPr id="30" name="TextBox 29"/>
          <p:cNvSpPr txBox="1"/>
          <p:nvPr/>
        </p:nvSpPr>
        <p:spPr>
          <a:xfrm>
            <a:off x="9810750" y="3526271"/>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2021–22</a:t>
            </a:r>
          </a:p>
        </p:txBody>
      </p:sp>
      <p:sp>
        <p:nvSpPr>
          <p:cNvPr id="31" name="Rectangle 30"/>
          <p:cNvSpPr/>
          <p:nvPr/>
        </p:nvSpPr>
        <p:spPr>
          <a:xfrm>
            <a:off x="9810750" y="3690555"/>
            <a:ext cx="990600" cy="310313"/>
          </a:xfrm>
          <a:prstGeom prst="rect">
            <a:avLst/>
          </a:prstGeom>
          <a:solidFill>
            <a:srgbClr val="F2C94C"/>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810750" y="3690555"/>
            <a:ext cx="990600" cy="310313"/>
          </a:xfrm>
          <a:prstGeom prst="rect">
            <a:avLst/>
          </a:prstGeom>
          <a:noFill/>
        </p:spPr>
        <p:txBody>
          <a:bodyPr wrap="square" lIns="28575" rIns="28575" tIns="9525" bIns="9525" anchor="ctr">
            <a:spAutoFit/>
          </a:bodyPr>
          <a:lstStyle/>
          <a:p>
            <a:pPr algn="ctr"/>
            <a:r>
              <a:rPr sz="1100" b="1">
                <a:solidFill>
                  <a:srgbClr val="6B5613"/>
                </a:solidFill>
                <a:latin typeface="Calibri"/>
              </a:rPr>
              <a:t>Medium</a:t>
            </a:r>
          </a:p>
        </p:txBody>
      </p:sp>
      <p:sp>
        <p:nvSpPr>
          <p:cNvPr id="33" name="TextBox 32"/>
          <p:cNvSpPr txBox="1"/>
          <p:nvPr/>
        </p:nvSpPr>
        <p:spPr>
          <a:xfrm>
            <a:off x="10896600" y="3526271"/>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2023–25</a:t>
            </a:r>
          </a:p>
        </p:txBody>
      </p:sp>
      <p:sp>
        <p:nvSpPr>
          <p:cNvPr id="34" name="Rectangle 33"/>
          <p:cNvSpPr/>
          <p:nvPr/>
        </p:nvSpPr>
        <p:spPr>
          <a:xfrm>
            <a:off x="10896600" y="3690555"/>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896600" y="3690555"/>
            <a:ext cx="990600" cy="310313"/>
          </a:xfrm>
          <a:prstGeom prst="rect">
            <a:avLst/>
          </a:prstGeom>
          <a:noFill/>
        </p:spPr>
        <p:txBody>
          <a:bodyPr wrap="square" lIns="28575" rIns="28575" tIns="9525" bIns="9525" anchor="ctr">
            <a:spAutoFit/>
          </a:bodyPr>
          <a:lstStyle/>
          <a:p>
            <a:pPr algn="ctr"/>
            <a:r>
              <a:rPr sz="1100" b="1">
                <a:solidFill>
                  <a:srgbClr val="6B5613"/>
                </a:solidFill>
                <a:latin typeface="Calibri"/>
              </a:rPr>
              <a:t>Medium</a:t>
            </a:r>
          </a:p>
        </p:txBody>
      </p:sp>
      <p:sp>
        <p:nvSpPr>
          <p:cNvPr id="36" name="TextBox 35"/>
          <p:cNvSpPr txBox="1"/>
          <p:nvPr/>
        </p:nvSpPr>
        <p:spPr>
          <a:xfrm>
            <a:off x="9810750" y="4046502"/>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2026–28</a:t>
            </a:r>
          </a:p>
        </p:txBody>
      </p:sp>
      <p:sp>
        <p:nvSpPr>
          <p:cNvPr id="37" name="Rectangle 36"/>
          <p:cNvSpPr/>
          <p:nvPr/>
        </p:nvSpPr>
        <p:spPr>
          <a:xfrm>
            <a:off x="9810750" y="4210785"/>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810750" y="4210785"/>
            <a:ext cx="990600" cy="310313"/>
          </a:xfrm>
          <a:prstGeom prst="rect">
            <a:avLst/>
          </a:prstGeom>
          <a:noFill/>
        </p:spPr>
        <p:txBody>
          <a:bodyPr wrap="square" lIns="28575" rIns="28575" tIns="9525" bIns="9525" anchor="ctr">
            <a:spAutoFit/>
          </a:bodyPr>
          <a:lstStyle/>
          <a:p>
            <a:pPr algn="ctr"/>
            <a:r>
              <a:rPr sz="1100" b="1">
                <a:solidFill>
                  <a:srgbClr val="6B5613"/>
                </a:solidFill>
                <a:latin typeface="Calibri"/>
              </a:rPr>
              <a:t>Medium</a:t>
            </a:r>
          </a:p>
        </p:txBody>
      </p:sp>
      <p:sp>
        <p:nvSpPr>
          <p:cNvPr id="39" name="TextBox 38"/>
          <p:cNvSpPr txBox="1"/>
          <p:nvPr/>
        </p:nvSpPr>
        <p:spPr>
          <a:xfrm>
            <a:off x="10896600" y="4046502"/>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2029–36</a:t>
            </a:r>
          </a:p>
        </p:txBody>
      </p:sp>
      <p:sp>
        <p:nvSpPr>
          <p:cNvPr id="40" name="Rectangle 39"/>
          <p:cNvSpPr/>
          <p:nvPr/>
        </p:nvSpPr>
        <p:spPr>
          <a:xfrm>
            <a:off x="10896600" y="4210785"/>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896600" y="4210785"/>
            <a:ext cx="990600" cy="310313"/>
          </a:xfrm>
          <a:prstGeom prst="rect">
            <a:avLst/>
          </a:prstGeom>
          <a:noFill/>
        </p:spPr>
        <p:txBody>
          <a:bodyPr wrap="square" lIns="28575" rIns="28575" tIns="9525" bIns="9525" anchor="ctr">
            <a:spAutoFit/>
          </a:bodyPr>
          <a:lstStyle/>
          <a:p>
            <a:pPr algn="ctr"/>
            <a:r>
              <a:rPr sz="1100" b="1">
                <a:solidFill>
                  <a:srgbClr val="6B5613"/>
                </a:solidFill>
                <a:latin typeface="Calibri"/>
              </a:rPr>
              <a:t>Medium</a:t>
            </a:r>
          </a:p>
        </p:txBody>
      </p:sp>
      <p:cxnSp>
        <p:nvCxnSpPr>
          <p:cNvPr id="42" name="Connector 41"/>
          <p:cNvCxnSpPr/>
          <p:nvPr/>
        </p:nvCxnSpPr>
        <p:spPr>
          <a:xfrm>
            <a:off x="142875" y="4840538"/>
            <a:ext cx="1190625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43" name="Rectangle 42"/>
          <p:cNvSpPr/>
          <p:nvPr/>
        </p:nvSpPr>
        <p:spPr>
          <a:xfrm>
            <a:off x="142875" y="4895299"/>
            <a:ext cx="9496425" cy="255552"/>
          </a:xfrm>
          <a:prstGeom prst="rect">
            <a:avLst/>
          </a:prstGeom>
          <a:solidFill>
            <a:srgbClr val="E8EE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276225" y="4895299"/>
            <a:ext cx="9267825" cy="255552"/>
          </a:xfrm>
          <a:prstGeom prst="rect">
            <a:avLst/>
          </a:prstGeom>
          <a:noFill/>
        </p:spPr>
        <p:txBody>
          <a:bodyPr wrap="square" lIns="28575" rIns="28575" tIns="9525" bIns="9525" anchor="ctr">
            <a:spAutoFit/>
          </a:bodyPr>
          <a:lstStyle/>
          <a:p>
            <a:pPr algn="l"/>
            <a:r>
              <a:rPr sz="1100" b="1">
                <a:solidFill>
                  <a:srgbClr val="0B2E4A"/>
                </a:solidFill>
                <a:latin typeface="Calibri"/>
              </a:rPr>
              <a:t>Functional Food &amp; Beverages Opens the Fastest Route to Market</a:t>
            </a:r>
          </a:p>
        </p:txBody>
      </p:sp>
      <p:sp>
        <p:nvSpPr>
          <p:cNvPr id="45" name="TextBox 44"/>
          <p:cNvSpPr txBox="1"/>
          <p:nvPr/>
        </p:nvSpPr>
        <p:spPr>
          <a:xfrm>
            <a:off x="161925" y="5205612"/>
            <a:ext cx="9439275" cy="593245"/>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46" name="TextBox 45"/>
          <p:cNvSpPr txBox="1"/>
          <p:nvPr/>
        </p:nvSpPr>
        <p:spPr>
          <a:xfrm>
            <a:off x="9810750" y="4895299"/>
            <a:ext cx="2238375" cy="365074"/>
          </a:xfrm>
          <a:prstGeom prst="rect">
            <a:avLst/>
          </a:prstGeom>
          <a:noFill/>
        </p:spPr>
        <p:txBody>
          <a:bodyPr wrap="square" lIns="28575" rIns="28575" tIns="9525" bIns="9525" anchor="ctr">
            <a:spAutoFit/>
          </a:bodyPr>
          <a:lstStyle/>
          <a:p>
            <a:pPr algn="l">
              <a:lnSpc>
                <a:spcPct val="115000"/>
              </a:lnSpc>
            </a:pPr>
            <a:r>
              <a:rPr sz="1100" b="1">
                <a:solidFill>
                  <a:srgbClr val="6C7A89"/>
                </a:solidFill>
                <a:latin typeface="Calibri"/>
              </a:rPr>
              <a:t>Likelihood of impact on timeline</a:t>
            </a:r>
          </a:p>
        </p:txBody>
      </p:sp>
      <p:sp>
        <p:nvSpPr>
          <p:cNvPr id="47" name="TextBox 46"/>
          <p:cNvSpPr txBox="1"/>
          <p:nvPr/>
        </p:nvSpPr>
        <p:spPr>
          <a:xfrm>
            <a:off x="9810750" y="5278626"/>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2021–22</a:t>
            </a:r>
          </a:p>
        </p:txBody>
      </p:sp>
      <p:sp>
        <p:nvSpPr>
          <p:cNvPr id="48" name="Rectangle 47"/>
          <p:cNvSpPr/>
          <p:nvPr/>
        </p:nvSpPr>
        <p:spPr>
          <a:xfrm>
            <a:off x="9810750" y="5442910"/>
            <a:ext cx="990600" cy="310313"/>
          </a:xfrm>
          <a:prstGeom prst="rect">
            <a:avLst/>
          </a:prstGeom>
          <a:solidFill>
            <a:srgbClr val="C99A0A"/>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810750" y="5442910"/>
            <a:ext cx="990600" cy="310313"/>
          </a:xfrm>
          <a:prstGeom prst="rect">
            <a:avLst/>
          </a:prstGeom>
          <a:noFill/>
        </p:spPr>
        <p:txBody>
          <a:bodyPr wrap="square" lIns="28575" rIns="28575" tIns="9525" bIns="9525" anchor="ctr">
            <a:spAutoFit/>
          </a:bodyPr>
          <a:lstStyle/>
          <a:p>
            <a:pPr algn="ctr"/>
            <a:r>
              <a:rPr sz="1100" b="1">
                <a:solidFill>
                  <a:srgbClr val="4A3A05"/>
                </a:solidFill>
                <a:latin typeface="Calibri"/>
              </a:rPr>
              <a:t>High</a:t>
            </a:r>
          </a:p>
        </p:txBody>
      </p:sp>
      <p:sp>
        <p:nvSpPr>
          <p:cNvPr id="50" name="TextBox 49"/>
          <p:cNvSpPr txBox="1"/>
          <p:nvPr/>
        </p:nvSpPr>
        <p:spPr>
          <a:xfrm>
            <a:off x="10896600" y="5278626"/>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2023–25</a:t>
            </a:r>
          </a:p>
        </p:txBody>
      </p:sp>
      <p:sp>
        <p:nvSpPr>
          <p:cNvPr id="51" name="Rectangle 50"/>
          <p:cNvSpPr/>
          <p:nvPr/>
        </p:nvSpPr>
        <p:spPr>
          <a:xfrm>
            <a:off x="10896600" y="5442910"/>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10896600" y="5442910"/>
            <a:ext cx="990600" cy="310313"/>
          </a:xfrm>
          <a:prstGeom prst="rect">
            <a:avLst/>
          </a:prstGeom>
          <a:noFill/>
        </p:spPr>
        <p:txBody>
          <a:bodyPr wrap="square" lIns="28575" rIns="28575" tIns="9525" bIns="9525" anchor="ctr">
            <a:spAutoFit/>
          </a:bodyPr>
          <a:lstStyle/>
          <a:p>
            <a:pPr algn="ctr"/>
            <a:r>
              <a:rPr sz="1100" b="1">
                <a:solidFill>
                  <a:srgbClr val="4A3A05"/>
                </a:solidFill>
                <a:latin typeface="Calibri"/>
              </a:rPr>
              <a:t>High</a:t>
            </a:r>
          </a:p>
        </p:txBody>
      </p:sp>
      <p:sp>
        <p:nvSpPr>
          <p:cNvPr id="53" name="TextBox 52"/>
          <p:cNvSpPr txBox="1"/>
          <p:nvPr/>
        </p:nvSpPr>
        <p:spPr>
          <a:xfrm>
            <a:off x="9810750" y="5798857"/>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2026–28</a:t>
            </a:r>
          </a:p>
        </p:txBody>
      </p:sp>
      <p:sp>
        <p:nvSpPr>
          <p:cNvPr id="54" name="Rectangle 53"/>
          <p:cNvSpPr/>
          <p:nvPr/>
        </p:nvSpPr>
        <p:spPr>
          <a:xfrm>
            <a:off x="9810750" y="5963140"/>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9810750" y="5963140"/>
            <a:ext cx="990600" cy="310313"/>
          </a:xfrm>
          <a:prstGeom prst="rect">
            <a:avLst/>
          </a:prstGeom>
          <a:noFill/>
        </p:spPr>
        <p:txBody>
          <a:bodyPr wrap="square" lIns="28575" rIns="28575" tIns="9525" bIns="9525" anchor="ctr">
            <a:spAutoFit/>
          </a:bodyPr>
          <a:lstStyle/>
          <a:p>
            <a:pPr algn="ctr"/>
            <a:r>
              <a:rPr sz="1100" b="1">
                <a:solidFill>
                  <a:srgbClr val="4A3A05"/>
                </a:solidFill>
                <a:latin typeface="Calibri"/>
              </a:rPr>
              <a:t>High</a:t>
            </a:r>
          </a:p>
        </p:txBody>
      </p:sp>
      <p:sp>
        <p:nvSpPr>
          <p:cNvPr id="56" name="TextBox 55"/>
          <p:cNvSpPr txBox="1"/>
          <p:nvPr/>
        </p:nvSpPr>
        <p:spPr>
          <a:xfrm>
            <a:off x="10896600" y="5798857"/>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2029–36</a:t>
            </a:r>
          </a:p>
        </p:txBody>
      </p:sp>
      <p:sp>
        <p:nvSpPr>
          <p:cNvPr id="57" name="Rectangle 56"/>
          <p:cNvSpPr/>
          <p:nvPr/>
        </p:nvSpPr>
        <p:spPr>
          <a:xfrm>
            <a:off x="10896600" y="5963140"/>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10896600" y="5963140"/>
            <a:ext cx="990600" cy="310313"/>
          </a:xfrm>
          <a:prstGeom prst="rect">
            <a:avLst/>
          </a:prstGeom>
          <a:noFill/>
        </p:spPr>
        <p:txBody>
          <a:bodyPr wrap="square" lIns="28575" rIns="28575" tIns="9525" bIns="9525" anchor="ctr">
            <a:spAutoFit/>
          </a:bodyPr>
          <a:lstStyle/>
          <a:p>
            <a:pPr algn="ctr"/>
            <a:r>
              <a:rPr sz="1100" b="1">
                <a:solidFill>
                  <a:srgbClr val="4A3A05"/>
                </a:solidFill>
                <a:latin typeface="Calibri"/>
              </a:rPr>
              <a:t>High</a:t>
            </a:r>
          </a:p>
        </p:txBody>
      </p:sp>
      <p:sp>
        <p:nvSpPr>
          <p:cNvPr id="59" name="Rectangle 58"/>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
        <p:nvSpPr>
          <p:cNvPr id="61" name="TextBox 60"/>
          <p:cNvSpPr txBox="1"/>
          <p:nvPr/>
        </p:nvSpPr>
        <p:spPr>
          <a:xfrm>
            <a:off x="190500" y="1746064"/>
            <a:ext cx="662012" cy="186689"/>
          </a:xfrm>
          <a:prstGeom prst="rect">
            <a:avLst/>
          </a:prstGeom>
          <a:noFill/>
        </p:spPr>
        <p:txBody>
          <a:bodyPr wrap="none" lIns="0" rIns="0" tIns="0" bIns="0">
            <a:spAutoFit/>
          </a:bodyPr>
          <a:lstStyle/>
          <a:p>
            <a:r>
              <a:rPr sz="1100" b="0">
                <a:solidFill>
                  <a:srgbClr val="2E2E2E"/>
                </a:solidFill>
                <a:latin typeface="Calibri"/>
              </a:rPr>
              <a:t>'U.S.' adds</a:t>
            </a:r>
          </a:p>
        </p:txBody>
      </p:sp>
      <p:pic>
        <p:nvPicPr>
          <p:cNvPr id="62" name="Picture 61" descr="lock.png"/>
          <p:cNvPicPr>
            <a:picLocks noChangeAspect="1"/>
          </p:cNvPicPr>
          <p:nvPr/>
        </p:nvPicPr>
        <p:blipFill>
          <a:blip r:embed="rId4"/>
          <a:stretch>
            <a:fillRect/>
          </a:stretch>
        </p:blipFill>
        <p:spPr>
          <a:xfrm>
            <a:off x="800563" y="1736285"/>
            <a:ext cx="128699" cy="187198"/>
          </a:xfrm>
          <a:prstGeom prst="rect">
            <a:avLst/>
          </a:prstGeom>
        </p:spPr>
      </p:pic>
      <p:sp>
        <p:nvSpPr>
          <p:cNvPr id="63" name="TextBox 62"/>
          <p:cNvSpPr txBox="1"/>
          <p:nvPr/>
        </p:nvSpPr>
        <p:spPr>
          <a:xfrm>
            <a:off x="968059" y="1746064"/>
            <a:ext cx="8433097" cy="186689"/>
          </a:xfrm>
          <a:prstGeom prst="rect">
            <a:avLst/>
          </a:prstGeom>
          <a:noFill/>
        </p:spPr>
        <p:txBody>
          <a:bodyPr wrap="none" lIns="0" rIns="0" tIns="0" bIns="0">
            <a:spAutoFit/>
          </a:bodyPr>
          <a:lstStyle/>
          <a:p>
            <a:r>
              <a:rPr sz="1100" b="0">
                <a:solidFill>
                  <a:srgbClr val="2E2E2E"/>
                </a:solidFill>
                <a:latin typeface="Calibri"/>
              </a:rPr>
              <a:t>US$ Mn between 2026 and 2036 the single largest absolute increment of any geography in the dataset. Capturing it is a question of scale execution</a:t>
            </a:r>
          </a:p>
        </p:txBody>
      </p:sp>
      <p:sp>
        <p:nvSpPr>
          <p:cNvPr id="64" name="TextBox 63"/>
          <p:cNvSpPr txBox="1"/>
          <p:nvPr/>
        </p:nvSpPr>
        <p:spPr>
          <a:xfrm>
            <a:off x="190500" y="1913704"/>
            <a:ext cx="3769245" cy="186689"/>
          </a:xfrm>
          <a:prstGeom prst="rect">
            <a:avLst/>
          </a:prstGeom>
          <a:noFill/>
        </p:spPr>
        <p:txBody>
          <a:bodyPr wrap="none" lIns="0" rIns="0" tIns="0" bIns="0">
            <a:spAutoFit/>
          </a:bodyPr>
          <a:lstStyle/>
          <a:p>
            <a:r>
              <a:rPr sz="1100" b="0">
                <a:solidFill>
                  <a:srgbClr val="2E2E2E"/>
                </a:solidFill>
                <a:latin typeface="Calibri"/>
              </a:rPr>
              <a:t>rather than market creation: demand already exists and grows at</a:t>
            </a:r>
          </a:p>
        </p:txBody>
      </p:sp>
      <p:pic>
        <p:nvPicPr>
          <p:cNvPr id="65" name="Picture 64" descr="lock.png"/>
          <p:cNvPicPr>
            <a:picLocks noChangeAspect="1"/>
          </p:cNvPicPr>
          <p:nvPr/>
        </p:nvPicPr>
        <p:blipFill>
          <a:blip r:embed="rId4"/>
          <a:stretch>
            <a:fillRect/>
          </a:stretch>
        </p:blipFill>
        <p:spPr>
          <a:xfrm>
            <a:off x="3907797" y="1903925"/>
            <a:ext cx="128699" cy="187198"/>
          </a:xfrm>
          <a:prstGeom prst="rect">
            <a:avLst/>
          </a:prstGeom>
        </p:spPr>
      </p:pic>
      <p:sp>
        <p:nvSpPr>
          <p:cNvPr id="66" name="TextBox 65"/>
          <p:cNvSpPr txBox="1"/>
          <p:nvPr/>
        </p:nvSpPr>
        <p:spPr>
          <a:xfrm>
            <a:off x="4075293" y="1913704"/>
            <a:ext cx="5402535" cy="186689"/>
          </a:xfrm>
          <a:prstGeom prst="rect">
            <a:avLst/>
          </a:prstGeom>
          <a:noFill/>
        </p:spPr>
        <p:txBody>
          <a:bodyPr wrap="none" lIns="0" rIns="0" tIns="0" bIns="0">
            <a:spAutoFit/>
          </a:bodyPr>
          <a:lstStyle/>
          <a:p>
            <a:r>
              <a:rPr sz="1100" b="0">
                <a:solidFill>
                  <a:srgbClr val="2E2E2E"/>
                </a:solidFill>
                <a:latin typeface="Calibri"/>
              </a:rPr>
              <a:t>at the market level. Prioritising supply, channel coverage and service levels there converts the</a:t>
            </a:r>
          </a:p>
        </p:txBody>
      </p:sp>
      <p:sp>
        <p:nvSpPr>
          <p:cNvPr id="67" name="TextBox 66"/>
          <p:cNvSpPr txBox="1"/>
          <p:nvPr/>
        </p:nvSpPr>
        <p:spPr>
          <a:xfrm>
            <a:off x="190500" y="2081344"/>
            <a:ext cx="1175246" cy="186689"/>
          </a:xfrm>
          <a:prstGeom prst="rect">
            <a:avLst/>
          </a:prstGeom>
          <a:noFill/>
        </p:spPr>
        <p:txBody>
          <a:bodyPr wrap="none" lIns="0" rIns="0" tIns="0" bIns="0">
            <a:spAutoFit/>
          </a:bodyPr>
          <a:lstStyle/>
          <a:p>
            <a:r>
              <a:rPr sz="1100" b="0">
                <a:solidFill>
                  <a:srgbClr val="2E2E2E"/>
                </a:solidFill>
                <a:latin typeface="Calibri"/>
              </a:rPr>
              <a:t>largest share of the</a:t>
            </a:r>
          </a:p>
        </p:txBody>
      </p:sp>
      <p:pic>
        <p:nvPicPr>
          <p:cNvPr id="68" name="Picture 67" descr="lock.png"/>
          <p:cNvPicPr>
            <a:picLocks noChangeAspect="1"/>
          </p:cNvPicPr>
          <p:nvPr/>
        </p:nvPicPr>
        <p:blipFill>
          <a:blip r:embed="rId4"/>
          <a:stretch>
            <a:fillRect/>
          </a:stretch>
        </p:blipFill>
        <p:spPr>
          <a:xfrm>
            <a:off x="1313797" y="2071565"/>
            <a:ext cx="128699" cy="187198"/>
          </a:xfrm>
          <a:prstGeom prst="rect">
            <a:avLst/>
          </a:prstGeom>
        </p:spPr>
      </p:pic>
      <p:sp>
        <p:nvSpPr>
          <p:cNvPr id="69" name="TextBox 68"/>
          <p:cNvSpPr txBox="1"/>
          <p:nvPr/>
        </p:nvSpPr>
        <p:spPr>
          <a:xfrm>
            <a:off x="1481293" y="2081344"/>
            <a:ext cx="3306489" cy="186689"/>
          </a:xfrm>
          <a:prstGeom prst="rect">
            <a:avLst/>
          </a:prstGeom>
          <a:noFill/>
        </p:spPr>
        <p:txBody>
          <a:bodyPr wrap="none" lIns="0" rIns="0" tIns="0" bIns="0">
            <a:spAutoFit/>
          </a:bodyPr>
          <a:lstStyle/>
          <a:p>
            <a:r>
              <a:rPr sz="1100" b="0">
                <a:solidFill>
                  <a:srgbClr val="2E2E2E"/>
                </a:solidFill>
                <a:latin typeface="Calibri"/>
              </a:rPr>
              <a:t>US$ Mn the whole market adds over the forecast period.</a:t>
            </a:r>
          </a:p>
        </p:txBody>
      </p:sp>
      <p:sp>
        <p:nvSpPr>
          <p:cNvPr id="70" name="TextBox 69"/>
          <p:cNvSpPr txBox="1"/>
          <p:nvPr/>
        </p:nvSpPr>
        <p:spPr>
          <a:xfrm>
            <a:off x="190500" y="3498419"/>
            <a:ext cx="1691754" cy="186689"/>
          </a:xfrm>
          <a:prstGeom prst="rect">
            <a:avLst/>
          </a:prstGeom>
          <a:noFill/>
        </p:spPr>
        <p:txBody>
          <a:bodyPr wrap="none" lIns="0" rIns="0" tIns="0" bIns="0">
            <a:spAutoFit/>
          </a:bodyPr>
          <a:lstStyle/>
          <a:p>
            <a:r>
              <a:rPr sz="1100" b="0">
                <a:solidFill>
                  <a:srgbClr val="2E2E2E"/>
                </a:solidFill>
                <a:latin typeface="Calibri"/>
              </a:rPr>
              <a:t>'Saudi Arabia' compounds at</a:t>
            </a:r>
          </a:p>
        </p:txBody>
      </p:sp>
      <p:pic>
        <p:nvPicPr>
          <p:cNvPr id="71" name="Picture 70" descr="lock.png"/>
          <p:cNvPicPr>
            <a:picLocks noChangeAspect="1"/>
          </p:cNvPicPr>
          <p:nvPr/>
        </p:nvPicPr>
        <p:blipFill>
          <a:blip r:embed="rId4"/>
          <a:stretch>
            <a:fillRect/>
          </a:stretch>
        </p:blipFill>
        <p:spPr>
          <a:xfrm>
            <a:off x="1830305" y="3488640"/>
            <a:ext cx="128699" cy="187198"/>
          </a:xfrm>
          <a:prstGeom prst="rect">
            <a:avLst/>
          </a:prstGeom>
        </p:spPr>
      </p:pic>
      <p:sp>
        <p:nvSpPr>
          <p:cNvPr id="72" name="TextBox 71"/>
          <p:cNvSpPr txBox="1"/>
          <p:nvPr/>
        </p:nvSpPr>
        <p:spPr>
          <a:xfrm>
            <a:off x="1997801" y="3498419"/>
            <a:ext cx="7315207" cy="186689"/>
          </a:xfrm>
          <a:prstGeom prst="rect">
            <a:avLst/>
          </a:prstGeom>
          <a:noFill/>
        </p:spPr>
        <p:txBody>
          <a:bodyPr wrap="none" lIns="0" rIns="0" tIns="0" bIns="0">
            <a:spAutoFit/>
          </a:bodyPr>
          <a:lstStyle/>
          <a:p>
            <a:r>
              <a:rPr sz="1100" b="0">
                <a:solidFill>
                  <a:srgbClr val="2E2E2E"/>
                </a:solidFill>
                <a:latin typeface="Calibri"/>
              </a:rPr>
              <a:t>CAGR from a below-median base one of 8 geographies in the dataset combining above-median growth with below-median size.</a:t>
            </a:r>
          </a:p>
        </p:txBody>
      </p:sp>
      <p:sp>
        <p:nvSpPr>
          <p:cNvPr id="73" name="TextBox 72"/>
          <p:cNvSpPr txBox="1"/>
          <p:nvPr/>
        </p:nvSpPr>
        <p:spPr>
          <a:xfrm>
            <a:off x="190500" y="3666059"/>
            <a:ext cx="5046191" cy="186689"/>
          </a:xfrm>
          <a:prstGeom prst="rect">
            <a:avLst/>
          </a:prstGeom>
          <a:noFill/>
        </p:spPr>
        <p:txBody>
          <a:bodyPr wrap="none" lIns="0" rIns="0" tIns="0" bIns="0">
            <a:spAutoFit/>
          </a:bodyPr>
          <a:lstStyle/>
          <a:p>
            <a:r>
              <a:rPr sz="1100" b="0">
                <a:solidFill>
                  <a:srgbClr val="2E2E2E"/>
                </a:solidFill>
                <a:latin typeface="Calibri"/>
              </a:rPr>
              <a:t>That profile is where share is cheapest to buy: competitive intensity is lower than in the</a:t>
            </a:r>
          </a:p>
        </p:txBody>
      </p:sp>
      <p:pic>
        <p:nvPicPr>
          <p:cNvPr id="74" name="Picture 73" descr="lock.png"/>
          <p:cNvPicPr>
            <a:picLocks noChangeAspect="1"/>
          </p:cNvPicPr>
          <p:nvPr/>
        </p:nvPicPr>
        <p:blipFill>
          <a:blip r:embed="rId4"/>
          <a:stretch>
            <a:fillRect/>
          </a:stretch>
        </p:blipFill>
        <p:spPr>
          <a:xfrm>
            <a:off x="5184742" y="3656280"/>
            <a:ext cx="128699" cy="187198"/>
          </a:xfrm>
          <a:prstGeom prst="rect">
            <a:avLst/>
          </a:prstGeom>
        </p:spPr>
      </p:pic>
      <p:sp>
        <p:nvSpPr>
          <p:cNvPr id="75" name="TextBox 74"/>
          <p:cNvSpPr txBox="1"/>
          <p:nvPr/>
        </p:nvSpPr>
        <p:spPr>
          <a:xfrm>
            <a:off x="5352238" y="3666059"/>
            <a:ext cx="2075929" cy="186689"/>
          </a:xfrm>
          <a:prstGeom prst="rect">
            <a:avLst/>
          </a:prstGeom>
          <a:noFill/>
        </p:spPr>
        <p:txBody>
          <a:bodyPr wrap="none" lIns="0" rIns="0" tIns="0" bIns="0">
            <a:spAutoFit/>
          </a:bodyPr>
          <a:lstStyle/>
          <a:p>
            <a:r>
              <a:rPr sz="1100" b="0">
                <a:solidFill>
                  <a:srgbClr val="2E2E2E"/>
                </a:solidFill>
                <a:latin typeface="Calibri"/>
              </a:rPr>
              <a:t>-share leaders, while growth runs +</a:t>
            </a:r>
          </a:p>
        </p:txBody>
      </p:sp>
      <p:pic>
        <p:nvPicPr>
          <p:cNvPr id="76" name="Picture 75" descr="lock.png"/>
          <p:cNvPicPr>
            <a:picLocks noChangeAspect="1"/>
          </p:cNvPicPr>
          <p:nvPr/>
        </p:nvPicPr>
        <p:blipFill>
          <a:blip r:embed="rId4"/>
          <a:stretch>
            <a:fillRect/>
          </a:stretch>
        </p:blipFill>
        <p:spPr>
          <a:xfrm>
            <a:off x="7376219" y="3656280"/>
            <a:ext cx="128699" cy="187198"/>
          </a:xfrm>
          <a:prstGeom prst="rect">
            <a:avLst/>
          </a:prstGeom>
        </p:spPr>
      </p:pic>
      <p:sp>
        <p:nvSpPr>
          <p:cNvPr id="77" name="TextBox 76"/>
          <p:cNvSpPr txBox="1"/>
          <p:nvPr/>
        </p:nvSpPr>
        <p:spPr>
          <a:xfrm>
            <a:off x="7543715" y="3666059"/>
            <a:ext cx="1825144" cy="186689"/>
          </a:xfrm>
          <a:prstGeom prst="rect">
            <a:avLst/>
          </a:prstGeom>
          <a:noFill/>
        </p:spPr>
        <p:txBody>
          <a:bodyPr wrap="none" lIns="0" rIns="0" tIns="0" bIns="0">
            <a:spAutoFit/>
          </a:bodyPr>
          <a:lstStyle/>
          <a:p>
            <a:r>
              <a:rPr sz="1100" b="0">
                <a:solidFill>
                  <a:srgbClr val="2E2E2E"/>
                </a:solidFill>
                <a:latin typeface="Calibri"/>
              </a:rPr>
              <a:t>BPS ahead of the market. Early</a:t>
            </a:r>
          </a:p>
        </p:txBody>
      </p:sp>
      <p:sp>
        <p:nvSpPr>
          <p:cNvPr id="78" name="TextBox 77"/>
          <p:cNvSpPr txBox="1"/>
          <p:nvPr/>
        </p:nvSpPr>
        <p:spPr>
          <a:xfrm>
            <a:off x="190500" y="3833699"/>
            <a:ext cx="4556695" cy="186689"/>
          </a:xfrm>
          <a:prstGeom prst="rect">
            <a:avLst/>
          </a:prstGeom>
          <a:noFill/>
        </p:spPr>
        <p:txBody>
          <a:bodyPr wrap="none" lIns="0" rIns="0" tIns="0" bIns="0">
            <a:spAutoFit/>
          </a:bodyPr>
          <a:lstStyle/>
          <a:p>
            <a:r>
              <a:rPr sz="1100" b="0">
                <a:solidFill>
                  <a:srgbClr val="2E2E2E"/>
                </a:solidFill>
                <a:latin typeface="Calibri"/>
              </a:rPr>
              <a:t>distribution and reference accounts established here compound through 2036.</a:t>
            </a:r>
          </a:p>
        </p:txBody>
      </p:sp>
      <p:sp>
        <p:nvSpPr>
          <p:cNvPr id="79" name="TextBox 78"/>
          <p:cNvSpPr txBox="1"/>
          <p:nvPr/>
        </p:nvSpPr>
        <p:spPr>
          <a:xfrm>
            <a:off x="190500" y="5250774"/>
            <a:ext cx="2311915" cy="186689"/>
          </a:xfrm>
          <a:prstGeom prst="rect">
            <a:avLst/>
          </a:prstGeom>
          <a:noFill/>
        </p:spPr>
        <p:txBody>
          <a:bodyPr wrap="none" lIns="0" rIns="0" tIns="0" bIns="0">
            <a:spAutoFit/>
          </a:bodyPr>
          <a:lstStyle/>
          <a:p>
            <a:r>
              <a:rPr sz="1100" b="0">
                <a:solidFill>
                  <a:srgbClr val="2E2E2E"/>
                </a:solidFill>
                <a:latin typeface="Calibri"/>
              </a:rPr>
              <a:t>'Functional Food &amp; Beverages' grows at</a:t>
            </a:r>
          </a:p>
        </p:txBody>
      </p:sp>
      <p:pic>
        <p:nvPicPr>
          <p:cNvPr id="80" name="Picture 79" descr="lock.png"/>
          <p:cNvPicPr>
            <a:picLocks noChangeAspect="1"/>
          </p:cNvPicPr>
          <p:nvPr/>
        </p:nvPicPr>
        <p:blipFill>
          <a:blip r:embed="rId4"/>
          <a:stretch>
            <a:fillRect/>
          </a:stretch>
        </p:blipFill>
        <p:spPr>
          <a:xfrm>
            <a:off x="2450467" y="5240995"/>
            <a:ext cx="128699" cy="187198"/>
          </a:xfrm>
          <a:prstGeom prst="rect">
            <a:avLst/>
          </a:prstGeom>
        </p:spPr>
      </p:pic>
      <p:sp>
        <p:nvSpPr>
          <p:cNvPr id="81" name="TextBox 80"/>
          <p:cNvSpPr txBox="1"/>
          <p:nvPr/>
        </p:nvSpPr>
        <p:spPr>
          <a:xfrm>
            <a:off x="2617963" y="5250774"/>
            <a:ext cx="2956676" cy="186689"/>
          </a:xfrm>
          <a:prstGeom prst="rect">
            <a:avLst/>
          </a:prstGeom>
          <a:noFill/>
        </p:spPr>
        <p:txBody>
          <a:bodyPr wrap="none" lIns="0" rIns="0" tIns="0" bIns="0">
            <a:spAutoFit/>
          </a:bodyPr>
          <a:lstStyle/>
          <a:p>
            <a:r>
              <a:rPr sz="1100" b="0">
                <a:solidFill>
                  <a:srgbClr val="2E2E2E"/>
                </a:solidFill>
                <a:latin typeface="Calibri"/>
              </a:rPr>
              <a:t>CAGR, the fastest of 6 application routes, and adds</a:t>
            </a:r>
          </a:p>
        </p:txBody>
      </p:sp>
      <p:pic>
        <p:nvPicPr>
          <p:cNvPr id="82" name="Picture 81" descr="lock.png"/>
          <p:cNvPicPr>
            <a:picLocks noChangeAspect="1"/>
          </p:cNvPicPr>
          <p:nvPr/>
        </p:nvPicPr>
        <p:blipFill>
          <a:blip r:embed="rId4"/>
          <a:stretch>
            <a:fillRect/>
          </a:stretch>
        </p:blipFill>
        <p:spPr>
          <a:xfrm>
            <a:off x="5522691" y="5240995"/>
            <a:ext cx="128699" cy="187198"/>
          </a:xfrm>
          <a:prstGeom prst="rect">
            <a:avLst/>
          </a:prstGeom>
        </p:spPr>
      </p:pic>
      <p:sp>
        <p:nvSpPr>
          <p:cNvPr id="83" name="TextBox 82"/>
          <p:cNvSpPr txBox="1"/>
          <p:nvPr/>
        </p:nvSpPr>
        <p:spPr>
          <a:xfrm>
            <a:off x="5690187" y="5250774"/>
            <a:ext cx="3646189" cy="186689"/>
          </a:xfrm>
          <a:prstGeom prst="rect">
            <a:avLst/>
          </a:prstGeom>
          <a:noFill/>
        </p:spPr>
        <p:txBody>
          <a:bodyPr wrap="none" lIns="0" rIns="0" tIns="0" bIns="0">
            <a:spAutoFit/>
          </a:bodyPr>
          <a:lstStyle/>
          <a:p>
            <a:r>
              <a:rPr sz="1100" b="0">
                <a:solidFill>
                  <a:srgbClr val="2E2E2E"/>
                </a:solidFill>
                <a:latin typeface="Calibri"/>
              </a:rPr>
              <a:t>US$ Mn over the forecast period while 'Dietary Supplements &amp;</a:t>
            </a:r>
          </a:p>
        </p:txBody>
      </p:sp>
      <p:sp>
        <p:nvSpPr>
          <p:cNvPr id="84" name="TextBox 83"/>
          <p:cNvSpPr txBox="1"/>
          <p:nvPr/>
        </p:nvSpPr>
        <p:spPr>
          <a:xfrm>
            <a:off x="190500" y="5418414"/>
            <a:ext cx="1568970" cy="186689"/>
          </a:xfrm>
          <a:prstGeom prst="rect">
            <a:avLst/>
          </a:prstGeom>
          <a:noFill/>
        </p:spPr>
        <p:txBody>
          <a:bodyPr wrap="none" lIns="0" rIns="0" tIns="0" bIns="0">
            <a:spAutoFit/>
          </a:bodyPr>
          <a:lstStyle/>
          <a:p>
            <a:r>
              <a:rPr sz="1100" b="0">
                <a:solidFill>
                  <a:srgbClr val="2E2E2E"/>
                </a:solidFill>
                <a:latin typeface="Calibri"/>
              </a:rPr>
              <a:t>Nutraceuticals' still carries</a:t>
            </a:r>
          </a:p>
        </p:txBody>
      </p:sp>
      <p:pic>
        <p:nvPicPr>
          <p:cNvPr id="85" name="Picture 84" descr="lock.png"/>
          <p:cNvPicPr>
            <a:picLocks noChangeAspect="1"/>
          </p:cNvPicPr>
          <p:nvPr/>
        </p:nvPicPr>
        <p:blipFill>
          <a:blip r:embed="rId4"/>
          <a:stretch>
            <a:fillRect/>
          </a:stretch>
        </p:blipFill>
        <p:spPr>
          <a:xfrm>
            <a:off x="1707522" y="5408635"/>
            <a:ext cx="128699" cy="187198"/>
          </a:xfrm>
          <a:prstGeom prst="rect">
            <a:avLst/>
          </a:prstGeom>
        </p:spPr>
      </p:pic>
      <p:sp>
        <p:nvSpPr>
          <p:cNvPr id="86" name="TextBox 85"/>
          <p:cNvSpPr txBox="1"/>
          <p:nvPr/>
        </p:nvSpPr>
        <p:spPr>
          <a:xfrm>
            <a:off x="1875018" y="5418414"/>
            <a:ext cx="7438826" cy="186689"/>
          </a:xfrm>
          <a:prstGeom prst="rect">
            <a:avLst/>
          </a:prstGeom>
          <a:noFill/>
        </p:spPr>
        <p:txBody>
          <a:bodyPr wrap="none" lIns="0" rIns="0" tIns="0" bIns="0">
            <a:spAutoFit/>
          </a:bodyPr>
          <a:lstStyle/>
          <a:p>
            <a:r>
              <a:rPr sz="1100" b="0">
                <a:solidFill>
                  <a:srgbClr val="2E2E2E"/>
                </a:solidFill>
                <a:latin typeface="Calibri"/>
              </a:rPr>
              <a:t>of demand today. Pairing the incumbent route for volume with the fastest route for growth and leading with 'Hydrolyzed Eggshell</a:t>
            </a:r>
          </a:p>
        </p:txBody>
      </p:sp>
      <p:sp>
        <p:nvSpPr>
          <p:cNvPr id="87" name="TextBox 86"/>
          <p:cNvSpPr txBox="1"/>
          <p:nvPr/>
        </p:nvSpPr>
        <p:spPr>
          <a:xfrm>
            <a:off x="190500" y="5586054"/>
            <a:ext cx="885204" cy="186689"/>
          </a:xfrm>
          <a:prstGeom prst="rect">
            <a:avLst/>
          </a:prstGeom>
          <a:noFill/>
        </p:spPr>
        <p:txBody>
          <a:bodyPr wrap="none" lIns="0" rIns="0" tIns="0" bIns="0">
            <a:spAutoFit/>
          </a:bodyPr>
          <a:lstStyle/>
          <a:p>
            <a:r>
              <a:rPr sz="1100" b="0">
                <a:solidFill>
                  <a:srgbClr val="2E2E2E"/>
                </a:solidFill>
                <a:latin typeface="Calibri"/>
              </a:rPr>
              <a:t>Membrane' at</a:t>
            </a:r>
          </a:p>
        </p:txBody>
      </p:sp>
      <p:pic>
        <p:nvPicPr>
          <p:cNvPr id="88" name="Picture 87" descr="lock.png"/>
          <p:cNvPicPr>
            <a:picLocks noChangeAspect="1"/>
          </p:cNvPicPr>
          <p:nvPr/>
        </p:nvPicPr>
        <p:blipFill>
          <a:blip r:embed="rId4"/>
          <a:stretch>
            <a:fillRect/>
          </a:stretch>
        </p:blipFill>
        <p:spPr>
          <a:xfrm>
            <a:off x="1023756" y="5576275"/>
            <a:ext cx="128699" cy="187198"/>
          </a:xfrm>
          <a:prstGeom prst="rect">
            <a:avLst/>
          </a:prstGeom>
        </p:spPr>
      </p:pic>
      <p:sp>
        <p:nvSpPr>
          <p:cNvPr id="89" name="TextBox 88"/>
          <p:cNvSpPr txBox="1"/>
          <p:nvPr/>
        </p:nvSpPr>
        <p:spPr>
          <a:xfrm>
            <a:off x="1191252" y="5586054"/>
            <a:ext cx="3137594" cy="186689"/>
          </a:xfrm>
          <a:prstGeom prst="rect">
            <a:avLst/>
          </a:prstGeom>
          <a:noFill/>
        </p:spPr>
        <p:txBody>
          <a:bodyPr wrap="none" lIns="0" rIns="0" tIns="0" bIns="0">
            <a:spAutoFit/>
          </a:bodyPr>
          <a:lstStyle/>
          <a:p>
            <a:r>
              <a:rPr sz="1100" b="0">
                <a:solidFill>
                  <a:srgbClr val="2E2E2E"/>
                </a:solidFill>
                <a:latin typeface="Calibri"/>
              </a:rPr>
              <a:t>is the highest-yield combination the dataset supports.</a:t>
            </a:r>
          </a:p>
        </p:txBody>
      </p:sp>
    </p:spTree>
  </p:cSld>
  <p:clrMapOvr>
    <a:masterClrMapping/>
  </p:clrMapOvr>
</p:sld>
</file>

<file path=ppt/slides/slide2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Egg Protein Membrane Market Recent Developments &amp; Milestones</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Recent developments and milestones shaping the global market, by year</a:t>
            </a:r>
          </a:p>
        </p:txBody>
      </p:sp>
      <p:sp>
        <p:nvSpPr>
          <p:cNvPr id="7" name="Rectangle 6"/>
          <p:cNvSpPr/>
          <p:nvPr/>
        </p:nvSpPr>
        <p:spPr>
          <a:xfrm>
            <a:off x="142875" y="1025515"/>
            <a:ext cx="11906250" cy="292059"/>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42875" y="1025515"/>
            <a:ext cx="1428750" cy="292059"/>
          </a:xfrm>
          <a:prstGeom prst="rect">
            <a:avLst/>
          </a:prstGeom>
          <a:noFill/>
        </p:spPr>
        <p:txBody>
          <a:bodyPr wrap="square" lIns="28575" rIns="28575" tIns="9525" bIns="9525" anchor="ctr">
            <a:spAutoFit/>
          </a:bodyPr>
          <a:lstStyle/>
          <a:p>
            <a:pPr algn="ctr"/>
            <a:r>
              <a:rPr sz="1150" b="1">
                <a:solidFill>
                  <a:srgbClr val="FFFFFF"/>
                </a:solidFill>
                <a:latin typeface="Calibri"/>
              </a:rPr>
              <a:t>Year</a:t>
            </a:r>
          </a:p>
        </p:txBody>
      </p:sp>
      <p:sp>
        <p:nvSpPr>
          <p:cNvPr id="9" name="TextBox 8"/>
          <p:cNvSpPr txBox="1"/>
          <p:nvPr/>
        </p:nvSpPr>
        <p:spPr>
          <a:xfrm>
            <a:off x="1714500" y="1025515"/>
            <a:ext cx="10239375" cy="292059"/>
          </a:xfrm>
          <a:prstGeom prst="rect">
            <a:avLst/>
          </a:prstGeom>
          <a:noFill/>
        </p:spPr>
        <p:txBody>
          <a:bodyPr wrap="square" lIns="28575" rIns="28575" tIns="9525" bIns="9525" anchor="ctr">
            <a:spAutoFit/>
          </a:bodyPr>
          <a:lstStyle/>
          <a:p>
            <a:pPr algn="ctr"/>
            <a:r>
              <a:rPr sz="1150" b="1">
                <a:solidFill>
                  <a:srgbClr val="FFFFFF"/>
                </a:solidFill>
                <a:latin typeface="Calibri"/>
              </a:rPr>
              <a:t>Recent Development</a:t>
            </a:r>
          </a:p>
        </p:txBody>
      </p:sp>
      <p:sp>
        <p:nvSpPr>
          <p:cNvPr id="10" name="Rectangle 9"/>
          <p:cNvSpPr/>
          <p:nvPr/>
        </p:nvSpPr>
        <p:spPr>
          <a:xfrm>
            <a:off x="142875" y="1317574"/>
            <a:ext cx="11906250" cy="1296013"/>
          </a:xfrm>
          <a:prstGeom prst="rect">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42875" y="1317574"/>
            <a:ext cx="1428750" cy="1296013"/>
          </a:xfrm>
          <a:prstGeom prst="rect">
            <a:avLst/>
          </a:prstGeom>
          <a:noFill/>
        </p:spPr>
        <p:txBody>
          <a:bodyPr wrap="square" lIns="28575" rIns="28575" tIns="9525" bIns="9525" anchor="ctr">
            <a:spAutoFit/>
          </a:bodyPr>
          <a:lstStyle/>
          <a:p>
            <a:pPr algn="ctr"/>
            <a:r>
              <a:rPr sz="1250" b="1">
                <a:solidFill>
                  <a:srgbClr val="0B2E4A"/>
                </a:solidFill>
                <a:latin typeface="Calibri"/>
              </a:rPr>
              <a:t>2025</a:t>
            </a:r>
          </a:p>
        </p:txBody>
      </p:sp>
      <p:cxnSp>
        <p:nvCxnSpPr>
          <p:cNvPr id="12" name="Connector 11"/>
          <p:cNvCxnSpPr/>
          <p:nvPr/>
        </p:nvCxnSpPr>
        <p:spPr>
          <a:xfrm>
            <a:off x="1571625" y="1317574"/>
            <a:ext cx="0" cy="1296013"/>
          </a:xfrm>
          <a:prstGeom prst="line">
            <a:avLst/>
          </a:prstGeom>
          <a:ln w="12700">
            <a:solidFill>
              <a:srgbClr val="69B1E0"/>
            </a:solidFill>
          </a:ln>
          <a:effectLst/>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1714500" y="1668957"/>
            <a:ext cx="10210800" cy="593245"/>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14" name="Rectangle 13"/>
          <p:cNvSpPr/>
          <p:nvPr/>
        </p:nvSpPr>
        <p:spPr>
          <a:xfrm>
            <a:off x="142875" y="2613586"/>
            <a:ext cx="11906250" cy="985700"/>
          </a:xfrm>
          <a:prstGeom prst="rect">
            <a:avLst/>
          </a:prstGeom>
          <a:solidFill>
            <a:srgbClr val="F5F9FD"/>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42875" y="2613586"/>
            <a:ext cx="1428750" cy="985700"/>
          </a:xfrm>
          <a:prstGeom prst="rect">
            <a:avLst/>
          </a:prstGeom>
          <a:noFill/>
        </p:spPr>
        <p:txBody>
          <a:bodyPr wrap="square" lIns="28575" rIns="28575" tIns="9525" bIns="9525" anchor="ctr">
            <a:spAutoFit/>
          </a:bodyPr>
          <a:lstStyle/>
          <a:p>
            <a:pPr algn="ctr"/>
            <a:r>
              <a:rPr sz="1250" b="1">
                <a:solidFill>
                  <a:srgbClr val="0B2E4A"/>
                </a:solidFill>
                <a:latin typeface="Calibri"/>
              </a:rPr>
              <a:t>2026</a:t>
            </a:r>
          </a:p>
        </p:txBody>
      </p:sp>
      <p:cxnSp>
        <p:nvCxnSpPr>
          <p:cNvPr id="16" name="Connector 15"/>
          <p:cNvCxnSpPr/>
          <p:nvPr/>
        </p:nvCxnSpPr>
        <p:spPr>
          <a:xfrm>
            <a:off x="1571625" y="2613586"/>
            <a:ext cx="0" cy="985700"/>
          </a:xfrm>
          <a:prstGeom prst="line">
            <a:avLst/>
          </a:prstGeom>
          <a:ln w="12700">
            <a:solidFill>
              <a:srgbClr val="69B1E0"/>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1714500" y="2905646"/>
            <a:ext cx="10210800" cy="401581"/>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18" name="Rectangle 17"/>
          <p:cNvSpPr/>
          <p:nvPr/>
        </p:nvSpPr>
        <p:spPr>
          <a:xfrm>
            <a:off x="142875" y="3599286"/>
            <a:ext cx="11906250" cy="985700"/>
          </a:xfrm>
          <a:prstGeom prst="rect">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42875" y="3599286"/>
            <a:ext cx="1428750" cy="985700"/>
          </a:xfrm>
          <a:prstGeom prst="rect">
            <a:avLst/>
          </a:prstGeom>
          <a:noFill/>
        </p:spPr>
        <p:txBody>
          <a:bodyPr wrap="square" lIns="28575" rIns="28575" tIns="9525" bIns="9525" anchor="ctr">
            <a:spAutoFit/>
          </a:bodyPr>
          <a:lstStyle/>
          <a:p>
            <a:pPr algn="ctr"/>
            <a:r>
              <a:rPr sz="1250" b="1">
                <a:solidFill>
                  <a:srgbClr val="0B2E4A"/>
                </a:solidFill>
                <a:latin typeface="Calibri"/>
              </a:rPr>
              <a:t>2035</a:t>
            </a:r>
          </a:p>
        </p:txBody>
      </p:sp>
      <p:cxnSp>
        <p:nvCxnSpPr>
          <p:cNvPr id="20" name="Connector 19"/>
          <p:cNvCxnSpPr/>
          <p:nvPr/>
        </p:nvCxnSpPr>
        <p:spPr>
          <a:xfrm>
            <a:off x="1571625" y="3599286"/>
            <a:ext cx="0" cy="985700"/>
          </a:xfrm>
          <a:prstGeom prst="line">
            <a:avLst/>
          </a:prstGeom>
          <a:ln w="12700">
            <a:solidFill>
              <a:srgbClr val="69B1E0"/>
            </a:solidFill>
          </a:ln>
          <a:effectLst/>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1714500" y="3891345"/>
            <a:ext cx="10210800" cy="401581"/>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22" name="Rectangle 21"/>
          <p:cNvSpPr/>
          <p:nvPr/>
        </p:nvSpPr>
        <p:spPr>
          <a:xfrm>
            <a:off x="142875" y="4584986"/>
            <a:ext cx="11906250" cy="985700"/>
          </a:xfrm>
          <a:prstGeom prst="rect">
            <a:avLst/>
          </a:prstGeom>
          <a:solidFill>
            <a:srgbClr val="F5F9FD"/>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42875" y="4584986"/>
            <a:ext cx="1428750" cy="985700"/>
          </a:xfrm>
          <a:prstGeom prst="rect">
            <a:avLst/>
          </a:prstGeom>
          <a:noFill/>
        </p:spPr>
        <p:txBody>
          <a:bodyPr wrap="square" lIns="28575" rIns="28575" tIns="9525" bIns="9525" anchor="ctr">
            <a:spAutoFit/>
          </a:bodyPr>
          <a:lstStyle/>
          <a:p>
            <a:pPr algn="ctr"/>
            <a:r>
              <a:rPr sz="1250" b="1">
                <a:solidFill>
                  <a:srgbClr val="0B2E4A"/>
                </a:solidFill>
                <a:latin typeface="Calibri"/>
              </a:rPr>
              <a:t>2031</a:t>
            </a:r>
          </a:p>
        </p:txBody>
      </p:sp>
      <p:cxnSp>
        <p:nvCxnSpPr>
          <p:cNvPr id="24" name="Connector 23"/>
          <p:cNvCxnSpPr/>
          <p:nvPr/>
        </p:nvCxnSpPr>
        <p:spPr>
          <a:xfrm>
            <a:off x="1571625" y="4584986"/>
            <a:ext cx="0" cy="985700"/>
          </a:xfrm>
          <a:prstGeom prst="line">
            <a:avLst/>
          </a:prstGeom>
          <a:ln w="12700">
            <a:solidFill>
              <a:srgbClr val="69B1E0"/>
            </a:solidFill>
          </a:ln>
          <a:effectLst/>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1714500" y="4877045"/>
            <a:ext cx="10210800" cy="401581"/>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26" name="Rectangle 25"/>
          <p:cNvSpPr/>
          <p:nvPr/>
        </p:nvSpPr>
        <p:spPr>
          <a:xfrm>
            <a:off x="142875" y="5570686"/>
            <a:ext cx="11906250" cy="985700"/>
          </a:xfrm>
          <a:prstGeom prst="rect">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42875" y="5570686"/>
            <a:ext cx="1428750" cy="985700"/>
          </a:xfrm>
          <a:prstGeom prst="rect">
            <a:avLst/>
          </a:prstGeom>
          <a:noFill/>
        </p:spPr>
        <p:txBody>
          <a:bodyPr wrap="square" lIns="28575" rIns="28575" tIns="9525" bIns="9525" anchor="ctr">
            <a:spAutoFit/>
          </a:bodyPr>
          <a:lstStyle/>
          <a:p>
            <a:pPr algn="ctr"/>
            <a:r>
              <a:rPr sz="1250" b="1">
                <a:solidFill>
                  <a:srgbClr val="0B2E4A"/>
                </a:solidFill>
                <a:latin typeface="Calibri"/>
              </a:rPr>
              <a:t>2036</a:t>
            </a:r>
          </a:p>
        </p:txBody>
      </p:sp>
      <p:cxnSp>
        <p:nvCxnSpPr>
          <p:cNvPr id="28" name="Connector 27"/>
          <p:cNvCxnSpPr/>
          <p:nvPr/>
        </p:nvCxnSpPr>
        <p:spPr>
          <a:xfrm>
            <a:off x="1571625" y="5570686"/>
            <a:ext cx="0" cy="985700"/>
          </a:xfrm>
          <a:prstGeom prst="line">
            <a:avLst/>
          </a:prstGeom>
          <a:ln w="12700">
            <a:solidFill>
              <a:srgbClr val="69B1E0"/>
            </a:solidFill>
          </a:ln>
          <a:effectLst/>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1714500" y="5862745"/>
            <a:ext cx="10210800" cy="401581"/>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30" name="Rectangle 29"/>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
        <p:nvSpPr>
          <p:cNvPr id="32" name="TextBox 31"/>
          <p:cNvSpPr txBox="1"/>
          <p:nvPr/>
        </p:nvSpPr>
        <p:spPr>
          <a:xfrm>
            <a:off x="1743075" y="1797939"/>
            <a:ext cx="3516585" cy="186689"/>
          </a:xfrm>
          <a:prstGeom prst="rect">
            <a:avLst/>
          </a:prstGeom>
          <a:noFill/>
        </p:spPr>
        <p:txBody>
          <a:bodyPr wrap="none" lIns="0" rIns="0" tIns="0" bIns="0">
            <a:spAutoFit/>
          </a:bodyPr>
          <a:lstStyle/>
          <a:p>
            <a:r>
              <a:rPr sz="1100" b="0">
                <a:solidFill>
                  <a:srgbClr val="2E2E2E"/>
                </a:solidFill>
                <a:latin typeface="Calibri"/>
              </a:rPr>
              <a:t>Strongest historical expansion on record: Global value rose +</a:t>
            </a:r>
          </a:p>
        </p:txBody>
      </p:sp>
      <p:pic>
        <p:nvPicPr>
          <p:cNvPr id="33" name="Picture 32" descr="lock.png"/>
          <p:cNvPicPr>
            <a:picLocks noChangeAspect="1"/>
          </p:cNvPicPr>
          <p:nvPr/>
        </p:nvPicPr>
        <p:blipFill>
          <a:blip r:embed="rId4"/>
          <a:stretch>
            <a:fillRect/>
          </a:stretch>
        </p:blipFill>
        <p:spPr>
          <a:xfrm>
            <a:off x="5207711" y="1788160"/>
            <a:ext cx="128699" cy="187198"/>
          </a:xfrm>
          <a:prstGeom prst="rect">
            <a:avLst/>
          </a:prstGeom>
        </p:spPr>
      </p:pic>
      <p:sp>
        <p:nvSpPr>
          <p:cNvPr id="34" name="TextBox 33"/>
          <p:cNvSpPr txBox="1"/>
          <p:nvPr/>
        </p:nvSpPr>
        <p:spPr>
          <a:xfrm>
            <a:off x="5375207" y="1797939"/>
            <a:ext cx="935955" cy="186689"/>
          </a:xfrm>
          <a:prstGeom prst="rect">
            <a:avLst/>
          </a:prstGeom>
          <a:noFill/>
        </p:spPr>
        <p:txBody>
          <a:bodyPr wrap="none" lIns="0" rIns="0" tIns="0" bIns="0">
            <a:spAutoFit/>
          </a:bodyPr>
          <a:lstStyle/>
          <a:p>
            <a:r>
              <a:rPr sz="1100" b="0">
                <a:solidFill>
                  <a:srgbClr val="2E2E2E"/>
                </a:solidFill>
                <a:latin typeface="Calibri"/>
              </a:rPr>
              <a:t>year on year to</a:t>
            </a:r>
          </a:p>
        </p:txBody>
      </p:sp>
      <p:pic>
        <p:nvPicPr>
          <p:cNvPr id="35" name="Picture 34" descr="lock.png"/>
          <p:cNvPicPr>
            <a:picLocks noChangeAspect="1"/>
          </p:cNvPicPr>
          <p:nvPr/>
        </p:nvPicPr>
        <p:blipFill>
          <a:blip r:embed="rId4"/>
          <a:stretch>
            <a:fillRect/>
          </a:stretch>
        </p:blipFill>
        <p:spPr>
          <a:xfrm>
            <a:off x="6259214" y="1788160"/>
            <a:ext cx="128699" cy="187198"/>
          </a:xfrm>
          <a:prstGeom prst="rect">
            <a:avLst/>
          </a:prstGeom>
        </p:spPr>
      </p:pic>
      <p:sp>
        <p:nvSpPr>
          <p:cNvPr id="36" name="TextBox 35"/>
          <p:cNvSpPr txBox="1"/>
          <p:nvPr/>
        </p:nvSpPr>
        <p:spPr>
          <a:xfrm>
            <a:off x="6426710" y="1797939"/>
            <a:ext cx="5183981" cy="186689"/>
          </a:xfrm>
          <a:prstGeom prst="rect">
            <a:avLst/>
          </a:prstGeom>
          <a:noFill/>
        </p:spPr>
        <p:txBody>
          <a:bodyPr wrap="none" lIns="0" rIns="0" tIns="0" bIns="0">
            <a:spAutoFit/>
          </a:bodyPr>
          <a:lstStyle/>
          <a:p>
            <a:r>
              <a:rPr sz="1100" b="0">
                <a:solidFill>
                  <a:srgbClr val="2E2E2E"/>
                </a:solidFill>
                <a:latin typeface="Calibri"/>
              </a:rPr>
              <a:t>US$ Mn, the steepest single-year move of the 2021–2025 period. Demand for 'Micronized</a:t>
            </a:r>
          </a:p>
        </p:txBody>
      </p:sp>
      <p:sp>
        <p:nvSpPr>
          <p:cNvPr id="37" name="TextBox 36"/>
          <p:cNvSpPr txBox="1"/>
          <p:nvPr/>
        </p:nvSpPr>
        <p:spPr>
          <a:xfrm>
            <a:off x="1743075" y="1965579"/>
            <a:ext cx="1233090" cy="186689"/>
          </a:xfrm>
          <a:prstGeom prst="rect">
            <a:avLst/>
          </a:prstGeom>
          <a:noFill/>
        </p:spPr>
        <p:txBody>
          <a:bodyPr wrap="none" lIns="0" rIns="0" tIns="0" bIns="0">
            <a:spAutoFit/>
          </a:bodyPr>
          <a:lstStyle/>
          <a:p>
            <a:r>
              <a:rPr sz="1100" b="0">
                <a:solidFill>
                  <a:srgbClr val="2E2E2E"/>
                </a:solidFill>
                <a:latin typeface="Calibri"/>
              </a:rPr>
              <a:t>Eggshell Membrane'</a:t>
            </a:r>
          </a:p>
        </p:txBody>
      </p:sp>
      <p:pic>
        <p:nvPicPr>
          <p:cNvPr id="38" name="Picture 37" descr="lock.png"/>
          <p:cNvPicPr>
            <a:picLocks noChangeAspect="1"/>
          </p:cNvPicPr>
          <p:nvPr/>
        </p:nvPicPr>
        <p:blipFill>
          <a:blip r:embed="rId4"/>
          <a:stretch>
            <a:fillRect/>
          </a:stretch>
        </p:blipFill>
        <p:spPr>
          <a:xfrm>
            <a:off x="2924217" y="1955800"/>
            <a:ext cx="128699" cy="187198"/>
          </a:xfrm>
          <a:prstGeom prst="rect">
            <a:avLst/>
          </a:prstGeom>
        </p:spPr>
      </p:pic>
      <p:sp>
        <p:nvSpPr>
          <p:cNvPr id="39" name="TextBox 38"/>
          <p:cNvSpPr txBox="1"/>
          <p:nvPr/>
        </p:nvSpPr>
        <p:spPr>
          <a:xfrm>
            <a:off x="3091713" y="1965579"/>
            <a:ext cx="6993805" cy="186689"/>
          </a:xfrm>
          <a:prstGeom prst="rect">
            <a:avLst/>
          </a:prstGeom>
          <a:noFill/>
        </p:spPr>
        <p:txBody>
          <a:bodyPr wrap="none" lIns="0" rIns="0" tIns="0" bIns="0">
            <a:spAutoFit/>
          </a:bodyPr>
          <a:lstStyle/>
          <a:p>
            <a:r>
              <a:rPr sz="1100" b="0">
                <a:solidFill>
                  <a:srgbClr val="2E2E2E"/>
                </a:solidFill>
                <a:latin typeface="Calibri"/>
              </a:rPr>
              <a:t>of product type value by 2036 set the pace, and the 6 application routes tracked here all carried volume through the year.</a:t>
            </a:r>
          </a:p>
        </p:txBody>
      </p:sp>
      <p:sp>
        <p:nvSpPr>
          <p:cNvPr id="40" name="TextBox 39"/>
          <p:cNvSpPr txBox="1"/>
          <p:nvPr/>
        </p:nvSpPr>
        <p:spPr>
          <a:xfrm>
            <a:off x="1743075" y="2945502"/>
            <a:ext cx="3340465" cy="179984"/>
          </a:xfrm>
          <a:prstGeom prst="rect">
            <a:avLst/>
          </a:prstGeom>
          <a:noFill/>
        </p:spPr>
        <p:txBody>
          <a:bodyPr wrap="none" lIns="0" rIns="0" tIns="0" bIns="0">
            <a:spAutoFit/>
          </a:bodyPr>
          <a:lstStyle/>
          <a:p>
            <a:r>
              <a:rPr sz="1055" b="0">
                <a:solidFill>
                  <a:srgbClr val="2E2E2E"/>
                </a:solidFill>
                <a:latin typeface="Calibri"/>
              </a:rPr>
              <a:t>Base year for the forecast: the global market is estimated at</a:t>
            </a:r>
          </a:p>
        </p:txBody>
      </p:sp>
      <p:pic>
        <p:nvPicPr>
          <p:cNvPr id="41" name="Picture 40" descr="lock.png"/>
          <p:cNvPicPr>
            <a:picLocks noChangeAspect="1"/>
          </p:cNvPicPr>
          <p:nvPr/>
        </p:nvPicPr>
        <p:blipFill>
          <a:blip r:embed="rId4"/>
          <a:stretch>
            <a:fillRect/>
          </a:stretch>
        </p:blipFill>
        <p:spPr>
          <a:xfrm>
            <a:off x="5030621" y="2936114"/>
            <a:ext cx="123551" cy="179710"/>
          </a:xfrm>
          <a:prstGeom prst="rect">
            <a:avLst/>
          </a:prstGeom>
        </p:spPr>
      </p:pic>
      <p:sp>
        <p:nvSpPr>
          <p:cNvPr id="42" name="TextBox 41"/>
          <p:cNvSpPr txBox="1"/>
          <p:nvPr/>
        </p:nvSpPr>
        <p:spPr>
          <a:xfrm>
            <a:off x="5191417" y="2945502"/>
            <a:ext cx="1825680" cy="179984"/>
          </a:xfrm>
          <a:prstGeom prst="rect">
            <a:avLst/>
          </a:prstGeom>
          <a:noFill/>
        </p:spPr>
        <p:txBody>
          <a:bodyPr wrap="none" lIns="0" rIns="0" tIns="0" bIns="0">
            <a:spAutoFit/>
          </a:bodyPr>
          <a:lstStyle/>
          <a:p>
            <a:r>
              <a:rPr sz="1055" b="0">
                <a:solidFill>
                  <a:srgbClr val="2E2E2E"/>
                </a:solidFill>
                <a:latin typeface="Calibri"/>
              </a:rPr>
              <a:t>US$ Mn, having compounded at</a:t>
            </a:r>
          </a:p>
        </p:txBody>
      </p:sp>
      <p:pic>
        <p:nvPicPr>
          <p:cNvPr id="43" name="Picture 42" descr="lock.png"/>
          <p:cNvPicPr>
            <a:picLocks noChangeAspect="1"/>
          </p:cNvPicPr>
          <p:nvPr/>
        </p:nvPicPr>
        <p:blipFill>
          <a:blip r:embed="rId4"/>
          <a:stretch>
            <a:fillRect/>
          </a:stretch>
        </p:blipFill>
        <p:spPr>
          <a:xfrm>
            <a:off x="6964179" y="2936114"/>
            <a:ext cx="123551" cy="179710"/>
          </a:xfrm>
          <a:prstGeom prst="rect">
            <a:avLst/>
          </a:prstGeom>
        </p:spPr>
      </p:pic>
      <p:sp>
        <p:nvSpPr>
          <p:cNvPr id="44" name="TextBox 43"/>
          <p:cNvSpPr txBox="1"/>
          <p:nvPr/>
        </p:nvSpPr>
        <p:spPr>
          <a:xfrm>
            <a:off x="7124975" y="2945502"/>
            <a:ext cx="2310788" cy="179984"/>
          </a:xfrm>
          <a:prstGeom prst="rect">
            <a:avLst/>
          </a:prstGeom>
          <a:noFill/>
        </p:spPr>
        <p:txBody>
          <a:bodyPr wrap="none" lIns="0" rIns="0" tIns="0" bIns="0">
            <a:spAutoFit/>
          </a:bodyPr>
          <a:lstStyle/>
          <a:p>
            <a:r>
              <a:rPr sz="1055" b="0">
                <a:solidFill>
                  <a:srgbClr val="2E2E2E"/>
                </a:solidFill>
                <a:latin typeface="Calibri"/>
              </a:rPr>
              <a:t>across 2021–2025. 'North America' holds</a:t>
            </a:r>
          </a:p>
        </p:txBody>
      </p:sp>
      <p:pic>
        <p:nvPicPr>
          <p:cNvPr id="45" name="Picture 44" descr="lock.png"/>
          <p:cNvPicPr>
            <a:picLocks noChangeAspect="1"/>
          </p:cNvPicPr>
          <p:nvPr/>
        </p:nvPicPr>
        <p:blipFill>
          <a:blip r:embed="rId4"/>
          <a:stretch>
            <a:fillRect/>
          </a:stretch>
        </p:blipFill>
        <p:spPr>
          <a:xfrm>
            <a:off x="9382846" y="2936114"/>
            <a:ext cx="123551" cy="179710"/>
          </a:xfrm>
          <a:prstGeom prst="rect">
            <a:avLst/>
          </a:prstGeom>
        </p:spPr>
      </p:pic>
      <p:sp>
        <p:nvSpPr>
          <p:cNvPr id="46" name="TextBox 45"/>
          <p:cNvSpPr txBox="1"/>
          <p:nvPr/>
        </p:nvSpPr>
        <p:spPr>
          <a:xfrm>
            <a:off x="9543642" y="2945502"/>
            <a:ext cx="1896665" cy="179984"/>
          </a:xfrm>
          <a:prstGeom prst="rect">
            <a:avLst/>
          </a:prstGeom>
          <a:noFill/>
        </p:spPr>
        <p:txBody>
          <a:bodyPr wrap="none" lIns="0" rIns="0" tIns="0" bIns="0">
            <a:spAutoFit/>
          </a:bodyPr>
          <a:lstStyle/>
          <a:p>
            <a:r>
              <a:rPr sz="1055" b="0">
                <a:solidFill>
                  <a:srgbClr val="2E2E2E"/>
                </a:solidFill>
                <a:latin typeface="Calibri"/>
              </a:rPr>
              <a:t>of value across 6 regions, and the</a:t>
            </a:r>
          </a:p>
        </p:txBody>
      </p:sp>
      <p:sp>
        <p:nvSpPr>
          <p:cNvPr id="47" name="TextBox 46"/>
          <p:cNvSpPr txBox="1"/>
          <p:nvPr/>
        </p:nvSpPr>
        <p:spPr>
          <a:xfrm>
            <a:off x="1743075" y="3106436"/>
            <a:ext cx="4153519" cy="179984"/>
          </a:xfrm>
          <a:prstGeom prst="rect">
            <a:avLst/>
          </a:prstGeom>
          <a:noFill/>
        </p:spPr>
        <p:txBody>
          <a:bodyPr wrap="none" lIns="0" rIns="0" tIns="0" bIns="0">
            <a:spAutoFit/>
          </a:bodyPr>
          <a:lstStyle/>
          <a:p>
            <a:r>
              <a:rPr sz="1055" b="0">
                <a:solidFill>
                  <a:srgbClr val="2E2E2E"/>
                </a:solidFill>
                <a:latin typeface="Calibri"/>
              </a:rPr>
              <a:t>forecast is built from 8 segment breakdowns covering 3 product type lines.</a:t>
            </a:r>
          </a:p>
        </p:txBody>
      </p:sp>
      <p:sp>
        <p:nvSpPr>
          <p:cNvPr id="48" name="TextBox 47"/>
          <p:cNvSpPr txBox="1"/>
          <p:nvPr/>
        </p:nvSpPr>
        <p:spPr>
          <a:xfrm>
            <a:off x="1743075" y="3931201"/>
            <a:ext cx="1089374" cy="179984"/>
          </a:xfrm>
          <a:prstGeom prst="rect">
            <a:avLst/>
          </a:prstGeom>
          <a:noFill/>
        </p:spPr>
        <p:txBody>
          <a:bodyPr wrap="none" lIns="0" rIns="0" tIns="0" bIns="0">
            <a:spAutoFit/>
          </a:bodyPr>
          <a:lstStyle/>
          <a:p>
            <a:r>
              <a:rPr sz="1055" b="0">
                <a:solidFill>
                  <a:srgbClr val="2E2E2E"/>
                </a:solidFill>
                <a:latin typeface="Calibri"/>
              </a:rPr>
              <a:t>The market passes</a:t>
            </a:r>
          </a:p>
        </p:txBody>
      </p:sp>
      <p:pic>
        <p:nvPicPr>
          <p:cNvPr id="49" name="Picture 48" descr="lock.png"/>
          <p:cNvPicPr>
            <a:picLocks noChangeAspect="1"/>
          </p:cNvPicPr>
          <p:nvPr/>
        </p:nvPicPr>
        <p:blipFill>
          <a:blip r:embed="rId4"/>
          <a:stretch>
            <a:fillRect/>
          </a:stretch>
        </p:blipFill>
        <p:spPr>
          <a:xfrm>
            <a:off x="2779530" y="3921813"/>
            <a:ext cx="123551" cy="179710"/>
          </a:xfrm>
          <a:prstGeom prst="rect">
            <a:avLst/>
          </a:prstGeom>
        </p:spPr>
      </p:pic>
      <p:sp>
        <p:nvSpPr>
          <p:cNvPr id="50" name="TextBox 49"/>
          <p:cNvSpPr txBox="1"/>
          <p:nvPr/>
        </p:nvSpPr>
        <p:spPr>
          <a:xfrm>
            <a:off x="2940326" y="3931201"/>
            <a:ext cx="2945201" cy="179984"/>
          </a:xfrm>
          <a:prstGeom prst="rect">
            <a:avLst/>
          </a:prstGeom>
          <a:noFill/>
        </p:spPr>
        <p:txBody>
          <a:bodyPr wrap="none" lIns="0" rIns="0" tIns="0" bIns="0">
            <a:spAutoFit/>
          </a:bodyPr>
          <a:lstStyle/>
          <a:p>
            <a:r>
              <a:rPr sz="1055" b="0">
                <a:solidFill>
                  <a:srgbClr val="2E2E2E"/>
                </a:solidFill>
                <a:latin typeface="Calibri"/>
              </a:rPr>
              <a:t>US$ Mn one and a half times the 2026 base reaching</a:t>
            </a:r>
          </a:p>
        </p:txBody>
      </p:sp>
      <p:pic>
        <p:nvPicPr>
          <p:cNvPr id="51" name="Picture 50" descr="lock.png"/>
          <p:cNvPicPr>
            <a:picLocks noChangeAspect="1"/>
          </p:cNvPicPr>
          <p:nvPr/>
        </p:nvPicPr>
        <p:blipFill>
          <a:blip r:embed="rId4"/>
          <a:stretch>
            <a:fillRect/>
          </a:stretch>
        </p:blipFill>
        <p:spPr>
          <a:xfrm>
            <a:off x="5832609" y="3921813"/>
            <a:ext cx="123551" cy="179710"/>
          </a:xfrm>
          <a:prstGeom prst="rect">
            <a:avLst/>
          </a:prstGeom>
        </p:spPr>
      </p:pic>
      <p:sp>
        <p:nvSpPr>
          <p:cNvPr id="52" name="TextBox 51"/>
          <p:cNvSpPr txBox="1"/>
          <p:nvPr/>
        </p:nvSpPr>
        <p:spPr>
          <a:xfrm>
            <a:off x="5993405" y="3931201"/>
            <a:ext cx="4122872" cy="179984"/>
          </a:xfrm>
          <a:prstGeom prst="rect">
            <a:avLst/>
          </a:prstGeom>
          <a:noFill/>
        </p:spPr>
        <p:txBody>
          <a:bodyPr wrap="none" lIns="0" rIns="0" tIns="0" bIns="0">
            <a:spAutoFit/>
          </a:bodyPr>
          <a:lstStyle/>
          <a:p>
            <a:r>
              <a:rPr sz="1055" b="0">
                <a:solidFill>
                  <a:srgbClr val="2E2E2E"/>
                </a:solidFill>
                <a:latin typeface="Calibri"/>
              </a:rPr>
              <a:t>US$ Mn. Growth by this point is led by 'Hydrolyzed Eggshell Membrane' at</a:t>
            </a:r>
          </a:p>
        </p:txBody>
      </p:sp>
      <p:pic>
        <p:nvPicPr>
          <p:cNvPr id="53" name="Picture 52" descr="lock.png"/>
          <p:cNvPicPr>
            <a:picLocks noChangeAspect="1"/>
          </p:cNvPicPr>
          <p:nvPr/>
        </p:nvPicPr>
        <p:blipFill>
          <a:blip r:embed="rId4"/>
          <a:stretch>
            <a:fillRect/>
          </a:stretch>
        </p:blipFill>
        <p:spPr>
          <a:xfrm>
            <a:off x="10063359" y="3921813"/>
            <a:ext cx="123551" cy="179710"/>
          </a:xfrm>
          <a:prstGeom prst="rect">
            <a:avLst/>
          </a:prstGeom>
        </p:spPr>
      </p:pic>
      <p:sp>
        <p:nvSpPr>
          <p:cNvPr id="54" name="TextBox 53"/>
          <p:cNvSpPr txBox="1"/>
          <p:nvPr/>
        </p:nvSpPr>
        <p:spPr>
          <a:xfrm>
            <a:off x="10224155" y="3931201"/>
            <a:ext cx="1413374" cy="179984"/>
          </a:xfrm>
          <a:prstGeom prst="rect">
            <a:avLst/>
          </a:prstGeom>
          <a:noFill/>
        </p:spPr>
        <p:txBody>
          <a:bodyPr wrap="none" lIns="0" rIns="0" tIns="0" bIns="0">
            <a:spAutoFit/>
          </a:bodyPr>
          <a:lstStyle/>
          <a:p>
            <a:r>
              <a:rPr sz="1055" b="0">
                <a:solidFill>
                  <a:srgbClr val="2E2E2E"/>
                </a:solidFill>
                <a:latin typeface="Calibri"/>
              </a:rPr>
              <a:t>CAGR and by 'South Asia</a:t>
            </a:r>
          </a:p>
        </p:txBody>
      </p:sp>
      <p:sp>
        <p:nvSpPr>
          <p:cNvPr id="55" name="TextBox 54"/>
          <p:cNvSpPr txBox="1"/>
          <p:nvPr/>
        </p:nvSpPr>
        <p:spPr>
          <a:xfrm>
            <a:off x="1743075" y="4092135"/>
            <a:ext cx="1554837" cy="179984"/>
          </a:xfrm>
          <a:prstGeom prst="rect">
            <a:avLst/>
          </a:prstGeom>
          <a:noFill/>
        </p:spPr>
        <p:txBody>
          <a:bodyPr wrap="none" lIns="0" rIns="0" tIns="0" bIns="0">
            <a:spAutoFit/>
          </a:bodyPr>
          <a:lstStyle/>
          <a:p>
            <a:r>
              <a:rPr sz="1055" b="0">
                <a:solidFill>
                  <a:srgbClr val="2E2E2E"/>
                </a:solidFill>
                <a:latin typeface="Calibri"/>
              </a:rPr>
              <a:t>&amp; Pacific' among regions at</a:t>
            </a:r>
          </a:p>
        </p:txBody>
      </p:sp>
      <p:pic>
        <p:nvPicPr>
          <p:cNvPr id="56" name="Picture 55" descr="lock.png"/>
          <p:cNvPicPr>
            <a:picLocks noChangeAspect="1"/>
          </p:cNvPicPr>
          <p:nvPr/>
        </p:nvPicPr>
        <p:blipFill>
          <a:blip r:embed="rId4"/>
          <a:stretch>
            <a:fillRect/>
          </a:stretch>
        </p:blipFill>
        <p:spPr>
          <a:xfrm>
            <a:off x="3244993" y="4082747"/>
            <a:ext cx="123551" cy="179710"/>
          </a:xfrm>
          <a:prstGeom prst="rect">
            <a:avLst/>
          </a:prstGeom>
        </p:spPr>
      </p:pic>
      <p:sp>
        <p:nvSpPr>
          <p:cNvPr id="57" name="TextBox 56"/>
          <p:cNvSpPr txBox="1"/>
          <p:nvPr/>
        </p:nvSpPr>
        <p:spPr>
          <a:xfrm>
            <a:off x="3405789" y="4092135"/>
            <a:ext cx="3178063" cy="179984"/>
          </a:xfrm>
          <a:prstGeom prst="rect">
            <a:avLst/>
          </a:prstGeom>
          <a:noFill/>
        </p:spPr>
        <p:txBody>
          <a:bodyPr wrap="none" lIns="0" rIns="0" tIns="0" bIns="0">
            <a:spAutoFit/>
          </a:bodyPr>
          <a:lstStyle/>
          <a:p>
            <a:r>
              <a:rPr sz="1055" b="0">
                <a:solidFill>
                  <a:srgbClr val="2E2E2E"/>
                </a:solidFill>
                <a:latin typeface="Calibri"/>
              </a:rPr>
              <a:t>, with 3 of 6 regions running at or above the market rate.</a:t>
            </a:r>
          </a:p>
        </p:txBody>
      </p:sp>
      <p:sp>
        <p:nvSpPr>
          <p:cNvPr id="58" name="TextBox 57"/>
          <p:cNvSpPr txBox="1"/>
          <p:nvPr/>
        </p:nvSpPr>
        <p:spPr>
          <a:xfrm>
            <a:off x="1743075" y="4916901"/>
            <a:ext cx="2190297" cy="179984"/>
          </a:xfrm>
          <a:prstGeom prst="rect">
            <a:avLst/>
          </a:prstGeom>
          <a:noFill/>
        </p:spPr>
        <p:txBody>
          <a:bodyPr wrap="none" lIns="0" rIns="0" tIns="0" bIns="0">
            <a:spAutoFit/>
          </a:bodyPr>
          <a:lstStyle/>
          <a:p>
            <a:r>
              <a:rPr sz="1055" b="0">
                <a:solidFill>
                  <a:srgbClr val="2E2E2E"/>
                </a:solidFill>
                <a:latin typeface="Calibri"/>
              </a:rPr>
              <a:t>Mid-horizon checkpoint: value reaches</a:t>
            </a:r>
          </a:p>
        </p:txBody>
      </p:sp>
      <p:pic>
        <p:nvPicPr>
          <p:cNvPr id="59" name="Picture 58" descr="lock.png"/>
          <p:cNvPicPr>
            <a:picLocks noChangeAspect="1"/>
          </p:cNvPicPr>
          <p:nvPr/>
        </p:nvPicPr>
        <p:blipFill>
          <a:blip r:embed="rId4"/>
          <a:stretch>
            <a:fillRect/>
          </a:stretch>
        </p:blipFill>
        <p:spPr>
          <a:xfrm>
            <a:off x="3880454" y="4907513"/>
            <a:ext cx="123551" cy="179710"/>
          </a:xfrm>
          <a:prstGeom prst="rect">
            <a:avLst/>
          </a:prstGeom>
        </p:spPr>
      </p:pic>
      <p:sp>
        <p:nvSpPr>
          <p:cNvPr id="60" name="TextBox 59"/>
          <p:cNvSpPr txBox="1"/>
          <p:nvPr/>
        </p:nvSpPr>
        <p:spPr>
          <a:xfrm>
            <a:off x="4041250" y="4916901"/>
            <a:ext cx="541139" cy="179984"/>
          </a:xfrm>
          <a:prstGeom prst="rect">
            <a:avLst/>
          </a:prstGeom>
          <a:noFill/>
        </p:spPr>
        <p:txBody>
          <a:bodyPr wrap="none" lIns="0" rIns="0" tIns="0" bIns="0">
            <a:spAutoFit/>
          </a:bodyPr>
          <a:lstStyle/>
          <a:p>
            <a:r>
              <a:rPr sz="1055" b="0">
                <a:solidFill>
                  <a:srgbClr val="2E2E2E"/>
                </a:solidFill>
                <a:latin typeface="Calibri"/>
              </a:rPr>
              <a:t>US$ Mn,</a:t>
            </a:r>
          </a:p>
        </p:txBody>
      </p:sp>
      <p:pic>
        <p:nvPicPr>
          <p:cNvPr id="61" name="Picture 60" descr="lock.png"/>
          <p:cNvPicPr>
            <a:picLocks noChangeAspect="1"/>
          </p:cNvPicPr>
          <p:nvPr/>
        </p:nvPicPr>
        <p:blipFill>
          <a:blip r:embed="rId4"/>
          <a:stretch>
            <a:fillRect/>
          </a:stretch>
        </p:blipFill>
        <p:spPr>
          <a:xfrm>
            <a:off x="4529470" y="4907513"/>
            <a:ext cx="123551" cy="179710"/>
          </a:xfrm>
          <a:prstGeom prst="rect">
            <a:avLst/>
          </a:prstGeom>
        </p:spPr>
      </p:pic>
      <p:sp>
        <p:nvSpPr>
          <p:cNvPr id="62" name="TextBox 61"/>
          <p:cNvSpPr txBox="1"/>
          <p:nvPr/>
        </p:nvSpPr>
        <p:spPr>
          <a:xfrm>
            <a:off x="4690266" y="4916901"/>
            <a:ext cx="2581333" cy="179984"/>
          </a:xfrm>
          <a:prstGeom prst="rect">
            <a:avLst/>
          </a:prstGeom>
          <a:noFill/>
        </p:spPr>
        <p:txBody>
          <a:bodyPr wrap="none" lIns="0" rIns="0" tIns="0" bIns="0">
            <a:spAutoFit/>
          </a:bodyPr>
          <a:lstStyle/>
          <a:p>
            <a:r>
              <a:rPr sz="1055" b="0">
                <a:solidFill>
                  <a:srgbClr val="2E2E2E"/>
                </a:solidFill>
                <a:latin typeface="Calibri"/>
              </a:rPr>
              <a:t>× the 2026 base. Average realisation stands at</a:t>
            </a:r>
          </a:p>
        </p:txBody>
      </p:sp>
      <p:pic>
        <p:nvPicPr>
          <p:cNvPr id="63" name="Picture 62" descr="lock.png"/>
          <p:cNvPicPr>
            <a:picLocks noChangeAspect="1"/>
          </p:cNvPicPr>
          <p:nvPr/>
        </p:nvPicPr>
        <p:blipFill>
          <a:blip r:embed="rId4"/>
          <a:stretch>
            <a:fillRect/>
          </a:stretch>
        </p:blipFill>
        <p:spPr>
          <a:xfrm>
            <a:off x="7218681" y="4907513"/>
            <a:ext cx="123551" cy="179710"/>
          </a:xfrm>
          <a:prstGeom prst="rect">
            <a:avLst/>
          </a:prstGeom>
        </p:spPr>
      </p:pic>
      <p:sp>
        <p:nvSpPr>
          <p:cNvPr id="64" name="TextBox 63"/>
          <p:cNvSpPr txBox="1"/>
          <p:nvPr/>
        </p:nvSpPr>
        <p:spPr>
          <a:xfrm>
            <a:off x="7379477" y="4916901"/>
            <a:ext cx="1740288" cy="179984"/>
          </a:xfrm>
          <a:prstGeom prst="rect">
            <a:avLst/>
          </a:prstGeom>
          <a:noFill/>
        </p:spPr>
        <p:txBody>
          <a:bodyPr wrap="none" lIns="0" rIns="0" tIns="0" bIns="0">
            <a:spAutoFit/>
          </a:bodyPr>
          <a:lstStyle/>
          <a:p>
            <a:r>
              <a:rPr sz="1055" b="0">
                <a:solidFill>
                  <a:srgbClr val="2E2E2E"/>
                </a:solidFill>
                <a:latin typeface="Calibri"/>
              </a:rPr>
              <a:t>US$/MT, and mix has moved +</a:t>
            </a:r>
          </a:p>
        </p:txBody>
      </p:sp>
      <p:pic>
        <p:nvPicPr>
          <p:cNvPr id="65" name="Picture 64" descr="lock.png"/>
          <p:cNvPicPr>
            <a:picLocks noChangeAspect="1"/>
          </p:cNvPicPr>
          <p:nvPr/>
        </p:nvPicPr>
        <p:blipFill>
          <a:blip r:embed="rId4"/>
          <a:stretch>
            <a:fillRect/>
          </a:stretch>
        </p:blipFill>
        <p:spPr>
          <a:xfrm>
            <a:off x="9066848" y="4907513"/>
            <a:ext cx="123551" cy="179710"/>
          </a:xfrm>
          <a:prstGeom prst="rect">
            <a:avLst/>
          </a:prstGeom>
        </p:spPr>
      </p:pic>
      <p:sp>
        <p:nvSpPr>
          <p:cNvPr id="66" name="TextBox 65"/>
          <p:cNvSpPr txBox="1"/>
          <p:nvPr/>
        </p:nvSpPr>
        <p:spPr>
          <a:xfrm>
            <a:off x="9227644" y="4916901"/>
            <a:ext cx="1848992" cy="179984"/>
          </a:xfrm>
          <a:prstGeom prst="rect">
            <a:avLst/>
          </a:prstGeom>
          <a:noFill/>
        </p:spPr>
        <p:txBody>
          <a:bodyPr wrap="none" lIns="0" rIns="0" tIns="0" bIns="0">
            <a:spAutoFit/>
          </a:bodyPr>
          <a:lstStyle/>
          <a:p>
            <a:r>
              <a:rPr sz="1055" b="0">
                <a:solidFill>
                  <a:srgbClr val="2E2E2E"/>
                </a:solidFill>
                <a:latin typeface="Calibri"/>
              </a:rPr>
              <a:t>BPS toward 'Micronized Eggshell</a:t>
            </a:r>
          </a:p>
        </p:txBody>
      </p:sp>
      <p:sp>
        <p:nvSpPr>
          <p:cNvPr id="67" name="TextBox 66"/>
          <p:cNvSpPr txBox="1"/>
          <p:nvPr/>
        </p:nvSpPr>
        <p:spPr>
          <a:xfrm>
            <a:off x="1743075" y="5077835"/>
            <a:ext cx="3600307" cy="179984"/>
          </a:xfrm>
          <a:prstGeom prst="rect">
            <a:avLst/>
          </a:prstGeom>
          <a:noFill/>
        </p:spPr>
        <p:txBody>
          <a:bodyPr wrap="none" lIns="0" rIns="0" tIns="0" bIns="0">
            <a:spAutoFit/>
          </a:bodyPr>
          <a:lstStyle/>
          <a:p>
            <a:r>
              <a:rPr sz="1055" b="0">
                <a:solidFill>
                  <a:srgbClr val="2E2E2E"/>
                </a:solidFill>
                <a:latin typeface="Calibri"/>
              </a:rPr>
              <a:t>Membrane' while 'Specialty Extracted Protein Fractions' gives up</a:t>
            </a:r>
          </a:p>
        </p:txBody>
      </p:sp>
      <p:pic>
        <p:nvPicPr>
          <p:cNvPr id="68" name="Picture 67" descr="lock.png"/>
          <p:cNvPicPr>
            <a:picLocks noChangeAspect="1"/>
          </p:cNvPicPr>
          <p:nvPr/>
        </p:nvPicPr>
        <p:blipFill>
          <a:blip r:embed="rId4"/>
          <a:stretch>
            <a:fillRect/>
          </a:stretch>
        </p:blipFill>
        <p:spPr>
          <a:xfrm>
            <a:off x="5290463" y="5068447"/>
            <a:ext cx="123551" cy="179710"/>
          </a:xfrm>
          <a:prstGeom prst="rect">
            <a:avLst/>
          </a:prstGeom>
        </p:spPr>
      </p:pic>
      <p:sp>
        <p:nvSpPr>
          <p:cNvPr id="69" name="TextBox 68"/>
          <p:cNvSpPr txBox="1"/>
          <p:nvPr/>
        </p:nvSpPr>
        <p:spPr>
          <a:xfrm>
            <a:off x="5451259" y="5077835"/>
            <a:ext cx="314039" cy="179984"/>
          </a:xfrm>
          <a:prstGeom prst="rect">
            <a:avLst/>
          </a:prstGeom>
          <a:noFill/>
        </p:spPr>
        <p:txBody>
          <a:bodyPr wrap="none" lIns="0" rIns="0" tIns="0" bIns="0">
            <a:spAutoFit/>
          </a:bodyPr>
          <a:lstStyle/>
          <a:p>
            <a:r>
              <a:rPr sz="1055" b="0">
                <a:solidFill>
                  <a:srgbClr val="2E2E2E"/>
                </a:solidFill>
                <a:latin typeface="Calibri"/>
              </a:rPr>
              <a:t>BPS.</a:t>
            </a:r>
          </a:p>
        </p:txBody>
      </p:sp>
      <p:sp>
        <p:nvSpPr>
          <p:cNvPr id="70" name="TextBox 69"/>
          <p:cNvSpPr txBox="1"/>
          <p:nvPr/>
        </p:nvSpPr>
        <p:spPr>
          <a:xfrm>
            <a:off x="1743075" y="5902601"/>
            <a:ext cx="2544146" cy="179984"/>
          </a:xfrm>
          <a:prstGeom prst="rect">
            <a:avLst/>
          </a:prstGeom>
          <a:noFill/>
        </p:spPr>
        <p:txBody>
          <a:bodyPr wrap="none" lIns="0" rIns="0" tIns="0" bIns="0">
            <a:spAutoFit/>
          </a:bodyPr>
          <a:lstStyle/>
          <a:p>
            <a:r>
              <a:rPr sz="1055" b="0">
                <a:solidFill>
                  <a:srgbClr val="2E2E2E"/>
                </a:solidFill>
                <a:latin typeface="Calibri"/>
              </a:rPr>
              <a:t>Forecast outcome: the global market reaches</a:t>
            </a:r>
          </a:p>
        </p:txBody>
      </p:sp>
      <p:pic>
        <p:nvPicPr>
          <p:cNvPr id="71" name="Picture 70" descr="lock.png"/>
          <p:cNvPicPr>
            <a:picLocks noChangeAspect="1"/>
          </p:cNvPicPr>
          <p:nvPr/>
        </p:nvPicPr>
        <p:blipFill>
          <a:blip r:embed="rId4"/>
          <a:stretch>
            <a:fillRect/>
          </a:stretch>
        </p:blipFill>
        <p:spPr>
          <a:xfrm>
            <a:off x="4234303" y="5893213"/>
            <a:ext cx="123551" cy="179710"/>
          </a:xfrm>
          <a:prstGeom prst="rect">
            <a:avLst/>
          </a:prstGeom>
        </p:spPr>
      </p:pic>
      <p:sp>
        <p:nvSpPr>
          <p:cNvPr id="72" name="TextBox 71"/>
          <p:cNvSpPr txBox="1"/>
          <p:nvPr/>
        </p:nvSpPr>
        <p:spPr>
          <a:xfrm>
            <a:off x="4395098" y="5902601"/>
            <a:ext cx="635698" cy="179984"/>
          </a:xfrm>
          <a:prstGeom prst="rect">
            <a:avLst/>
          </a:prstGeom>
          <a:noFill/>
        </p:spPr>
        <p:txBody>
          <a:bodyPr wrap="none" lIns="0" rIns="0" tIns="0" bIns="0">
            <a:spAutoFit/>
          </a:bodyPr>
          <a:lstStyle/>
          <a:p>
            <a:r>
              <a:rPr sz="1055" b="0">
                <a:solidFill>
                  <a:srgbClr val="2E2E2E"/>
                </a:solidFill>
                <a:latin typeface="Calibri"/>
              </a:rPr>
              <a:t>US$ Mn, a</a:t>
            </a:r>
          </a:p>
        </p:txBody>
      </p:sp>
      <p:pic>
        <p:nvPicPr>
          <p:cNvPr id="73" name="Picture 72" descr="lock.png"/>
          <p:cNvPicPr>
            <a:picLocks noChangeAspect="1"/>
          </p:cNvPicPr>
          <p:nvPr/>
        </p:nvPicPr>
        <p:blipFill>
          <a:blip r:embed="rId4"/>
          <a:stretch>
            <a:fillRect/>
          </a:stretch>
        </p:blipFill>
        <p:spPr>
          <a:xfrm>
            <a:off x="4977879" y="5893213"/>
            <a:ext cx="123551" cy="179710"/>
          </a:xfrm>
          <a:prstGeom prst="rect">
            <a:avLst/>
          </a:prstGeom>
        </p:spPr>
      </p:pic>
      <p:sp>
        <p:nvSpPr>
          <p:cNvPr id="74" name="TextBox 73"/>
          <p:cNvSpPr txBox="1"/>
          <p:nvPr/>
        </p:nvSpPr>
        <p:spPr>
          <a:xfrm>
            <a:off x="5138675" y="5902601"/>
            <a:ext cx="1437751" cy="179984"/>
          </a:xfrm>
          <a:prstGeom prst="rect">
            <a:avLst/>
          </a:prstGeom>
          <a:noFill/>
        </p:spPr>
        <p:txBody>
          <a:bodyPr wrap="none" lIns="0" rIns="0" tIns="0" bIns="0">
            <a:spAutoFit/>
          </a:bodyPr>
          <a:lstStyle/>
          <a:p>
            <a:r>
              <a:rPr sz="1055" b="0">
                <a:solidFill>
                  <a:srgbClr val="2E2E2E"/>
                </a:solidFill>
                <a:latin typeface="Calibri"/>
              </a:rPr>
              <a:t>× expansion on 2026 and</a:t>
            </a:r>
          </a:p>
        </p:txBody>
      </p:sp>
      <p:pic>
        <p:nvPicPr>
          <p:cNvPr id="75" name="Picture 74" descr="lock.png"/>
          <p:cNvPicPr>
            <a:picLocks noChangeAspect="1"/>
          </p:cNvPicPr>
          <p:nvPr/>
        </p:nvPicPr>
        <p:blipFill>
          <a:blip r:embed="rId4"/>
          <a:stretch>
            <a:fillRect/>
          </a:stretch>
        </p:blipFill>
        <p:spPr>
          <a:xfrm>
            <a:off x="6523507" y="5893213"/>
            <a:ext cx="123551" cy="179710"/>
          </a:xfrm>
          <a:prstGeom prst="rect">
            <a:avLst/>
          </a:prstGeom>
        </p:spPr>
      </p:pic>
      <p:sp>
        <p:nvSpPr>
          <p:cNvPr id="76" name="TextBox 75"/>
          <p:cNvSpPr txBox="1"/>
          <p:nvPr/>
        </p:nvSpPr>
        <p:spPr>
          <a:xfrm>
            <a:off x="6684303" y="5902601"/>
            <a:ext cx="1799224" cy="179984"/>
          </a:xfrm>
          <a:prstGeom prst="rect">
            <a:avLst/>
          </a:prstGeom>
          <a:noFill/>
        </p:spPr>
        <p:txBody>
          <a:bodyPr wrap="none" lIns="0" rIns="0" tIns="0" bIns="0">
            <a:spAutoFit/>
          </a:bodyPr>
          <a:lstStyle/>
          <a:p>
            <a:r>
              <a:rPr sz="1055" b="0">
                <a:solidFill>
                  <a:srgbClr val="2E2E2E"/>
                </a:solidFill>
                <a:latin typeface="Calibri"/>
              </a:rPr>
              <a:t>US$ Mn of incremental value at</a:t>
            </a:r>
          </a:p>
        </p:txBody>
      </p:sp>
      <p:pic>
        <p:nvPicPr>
          <p:cNvPr id="77" name="Picture 76" descr="lock.png"/>
          <p:cNvPicPr>
            <a:picLocks noChangeAspect="1"/>
          </p:cNvPicPr>
          <p:nvPr/>
        </p:nvPicPr>
        <p:blipFill>
          <a:blip r:embed="rId4"/>
          <a:stretch>
            <a:fillRect/>
          </a:stretch>
        </p:blipFill>
        <p:spPr>
          <a:xfrm>
            <a:off x="8430610" y="5893213"/>
            <a:ext cx="123551" cy="179710"/>
          </a:xfrm>
          <a:prstGeom prst="rect">
            <a:avLst/>
          </a:prstGeom>
        </p:spPr>
      </p:pic>
      <p:sp>
        <p:nvSpPr>
          <p:cNvPr id="78" name="TextBox 77"/>
          <p:cNvSpPr txBox="1"/>
          <p:nvPr/>
        </p:nvSpPr>
        <p:spPr>
          <a:xfrm>
            <a:off x="8591406" y="5902601"/>
            <a:ext cx="1678717" cy="179984"/>
          </a:xfrm>
          <a:prstGeom prst="rect">
            <a:avLst/>
          </a:prstGeom>
          <a:noFill/>
        </p:spPr>
        <p:txBody>
          <a:bodyPr wrap="none" lIns="0" rIns="0" tIns="0" bIns="0">
            <a:spAutoFit/>
          </a:bodyPr>
          <a:lstStyle/>
          <a:p>
            <a:r>
              <a:rPr sz="1055" b="0">
                <a:solidFill>
                  <a:srgbClr val="2E2E2E"/>
                </a:solidFill>
                <a:latin typeface="Calibri"/>
              </a:rPr>
              <a:t>CAGR. Volume compounds at</a:t>
            </a:r>
          </a:p>
        </p:txBody>
      </p:sp>
      <p:pic>
        <p:nvPicPr>
          <p:cNvPr id="79" name="Picture 78" descr="lock.png"/>
          <p:cNvPicPr>
            <a:picLocks noChangeAspect="1"/>
          </p:cNvPicPr>
          <p:nvPr/>
        </p:nvPicPr>
        <p:blipFill>
          <a:blip r:embed="rId4"/>
          <a:stretch>
            <a:fillRect/>
          </a:stretch>
        </p:blipFill>
        <p:spPr>
          <a:xfrm>
            <a:off x="10217204" y="5893213"/>
            <a:ext cx="123551" cy="179710"/>
          </a:xfrm>
          <a:prstGeom prst="rect">
            <a:avLst/>
          </a:prstGeom>
        </p:spPr>
      </p:pic>
      <p:sp>
        <p:nvSpPr>
          <p:cNvPr id="80" name="TextBox 79"/>
          <p:cNvSpPr txBox="1"/>
          <p:nvPr/>
        </p:nvSpPr>
        <p:spPr>
          <a:xfrm>
            <a:off x="10378000" y="5902601"/>
            <a:ext cx="854678" cy="179984"/>
          </a:xfrm>
          <a:prstGeom prst="rect">
            <a:avLst/>
          </a:prstGeom>
          <a:noFill/>
        </p:spPr>
        <p:txBody>
          <a:bodyPr wrap="none" lIns="0" rIns="0" tIns="0" bIns="0">
            <a:spAutoFit/>
          </a:bodyPr>
          <a:lstStyle/>
          <a:p>
            <a:r>
              <a:rPr sz="1055" b="0">
                <a:solidFill>
                  <a:srgbClr val="2E2E2E"/>
                </a:solidFill>
                <a:latin typeface="Calibri"/>
              </a:rPr>
              <a:t>over the same</a:t>
            </a:r>
          </a:p>
        </p:txBody>
      </p:sp>
      <p:sp>
        <p:nvSpPr>
          <p:cNvPr id="81" name="TextBox 80"/>
          <p:cNvSpPr txBox="1"/>
          <p:nvPr/>
        </p:nvSpPr>
        <p:spPr>
          <a:xfrm>
            <a:off x="1743075" y="6063535"/>
            <a:ext cx="1565052" cy="179984"/>
          </a:xfrm>
          <a:prstGeom prst="rect">
            <a:avLst/>
          </a:prstGeom>
          <a:noFill/>
        </p:spPr>
        <p:txBody>
          <a:bodyPr wrap="none" lIns="0" rIns="0" tIns="0" bIns="0">
            <a:spAutoFit/>
          </a:bodyPr>
          <a:lstStyle/>
          <a:p>
            <a:r>
              <a:rPr sz="1055" b="0">
                <a:solidFill>
                  <a:srgbClr val="2E2E2E"/>
                </a:solidFill>
                <a:latin typeface="Calibri"/>
              </a:rPr>
              <a:t>window, leaving realisation</a:t>
            </a:r>
          </a:p>
        </p:txBody>
      </p:sp>
      <p:pic>
        <p:nvPicPr>
          <p:cNvPr id="82" name="Picture 81" descr="lock.png"/>
          <p:cNvPicPr>
            <a:picLocks noChangeAspect="1"/>
          </p:cNvPicPr>
          <p:nvPr/>
        </p:nvPicPr>
        <p:blipFill>
          <a:blip r:embed="rId4"/>
          <a:stretch>
            <a:fillRect/>
          </a:stretch>
        </p:blipFill>
        <p:spPr>
          <a:xfrm>
            <a:off x="3255209" y="6054147"/>
            <a:ext cx="123551" cy="179710"/>
          </a:xfrm>
          <a:prstGeom prst="rect">
            <a:avLst/>
          </a:prstGeom>
        </p:spPr>
      </p:pic>
      <p:sp>
        <p:nvSpPr>
          <p:cNvPr id="83" name="TextBox 82"/>
          <p:cNvSpPr txBox="1"/>
          <p:nvPr/>
        </p:nvSpPr>
        <p:spPr>
          <a:xfrm>
            <a:off x="3416005" y="6063535"/>
            <a:ext cx="4255412" cy="179984"/>
          </a:xfrm>
          <a:prstGeom prst="rect">
            <a:avLst/>
          </a:prstGeom>
          <a:noFill/>
        </p:spPr>
        <p:txBody>
          <a:bodyPr wrap="none" lIns="0" rIns="0" tIns="0" bIns="0">
            <a:spAutoFit/>
          </a:bodyPr>
          <a:lstStyle/>
          <a:p>
            <a:r>
              <a:rPr sz="1055" b="0">
                <a:solidFill>
                  <a:srgbClr val="2E2E2E"/>
                </a:solidFill>
                <a:latin typeface="Calibri"/>
              </a:rPr>
              <a:t>a year the gap between the two is the premiumisation the forecast assumes.</a:t>
            </a:r>
          </a:p>
        </p:txBody>
      </p:sp>
    </p:spTree>
  </p:cSld>
  <p:clrMapOvr>
    <a:masterClrMapping/>
  </p:clrMapOvr>
</p:sld>
</file>

<file path=ppt/slides/slide2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Porter's Five Forces Analysis Global Egg Protein Membrane Market</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supplier power, buyer power, competition, substitutes and entry barriers shaping the market's profitability</a:t>
            </a:r>
          </a:p>
        </p:txBody>
      </p:sp>
      <p:sp>
        <p:nvSpPr>
          <p:cNvPr id="7" name="TextBox 6"/>
          <p:cNvSpPr txBox="1"/>
          <p:nvPr/>
        </p:nvSpPr>
        <p:spPr>
          <a:xfrm>
            <a:off x="142875" y="989007"/>
            <a:ext cx="11906250" cy="328567"/>
          </a:xfrm>
          <a:prstGeom prst="rect">
            <a:avLst/>
          </a:prstGeom>
          <a:noFill/>
        </p:spPr>
        <p:txBody>
          <a:bodyPr wrap="square" lIns="28575" rIns="28575" tIns="9525" bIns="9525" anchor="ctr">
            <a:spAutoFit/>
          </a:bodyPr>
          <a:lstStyle/>
          <a:p>
            <a:pPr algn="l">
              <a:lnSpc>
                <a:spcPct val="115000"/>
              </a:lnSpc>
            </a:pPr>
            <a:r>
              <a:rPr sz="1100" b="0">
                <a:solidFill>
                  <a:srgbClr val="6C7A89"/>
                </a:solidFill>
                <a:latin typeface="Calibri"/>
              </a:rPr>
              <a:t/>
            </a:r>
          </a:p>
        </p:txBody>
      </p:sp>
      <p:sp>
        <p:nvSpPr>
          <p:cNvPr id="8" name="Oval 7"/>
          <p:cNvSpPr/>
          <p:nvPr/>
        </p:nvSpPr>
        <p:spPr>
          <a:xfrm>
            <a:off x="876300" y="1427096"/>
            <a:ext cx="914400" cy="876177"/>
          </a:xfrm>
          <a:prstGeom prst="ellipse">
            <a:avLst/>
          </a:prstGeom>
          <a:solidFill>
            <a:srgbClr val="F2D24B"/>
          </a:solidFill>
          <a:ln w="12700">
            <a:solidFill>
              <a:srgbClr val="F2D2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47750" y="1664394"/>
            <a:ext cx="571500" cy="401581"/>
          </a:xfrm>
          <a:prstGeom prst="rect">
            <a:avLst/>
          </a:prstGeom>
          <a:noFill/>
        </p:spPr>
        <p:txBody>
          <a:bodyPr wrap="none" lIns="0" rIns="0" tIns="0" bIns="0" anchor="ctr">
            <a:spAutoFit/>
          </a:bodyPr>
          <a:lstStyle/>
          <a:p>
            <a:pPr algn="ctr"/>
            <a:r>
              <a:rPr sz="3400" b="1">
                <a:solidFill>
                  <a:srgbClr val="8A6A00"/>
                </a:solidFill>
                <a:latin typeface="Calibri"/>
              </a:rPr>
              <a:t>$</a:t>
            </a:r>
          </a:p>
        </p:txBody>
      </p:sp>
      <p:sp>
        <p:nvSpPr>
          <p:cNvPr id="10" name="TextBox 9"/>
          <p:cNvSpPr txBox="1"/>
          <p:nvPr/>
        </p:nvSpPr>
        <p:spPr>
          <a:xfrm>
            <a:off x="219075" y="2376288"/>
            <a:ext cx="2228850" cy="365074"/>
          </a:xfrm>
          <a:prstGeom prst="rect">
            <a:avLst/>
          </a:prstGeom>
          <a:noFill/>
        </p:spPr>
        <p:txBody>
          <a:bodyPr wrap="square" lIns="28575" rIns="28575" tIns="9525" bIns="9525" anchor="ctr">
            <a:spAutoFit/>
          </a:bodyPr>
          <a:lstStyle/>
          <a:p>
            <a:pPr algn="ctr">
              <a:lnSpc>
                <a:spcPct val="115000"/>
              </a:lnSpc>
            </a:pPr>
            <a:r>
              <a:rPr sz="1150" b="1">
                <a:solidFill>
                  <a:srgbClr val="2E2E2E"/>
                </a:solidFill>
                <a:latin typeface="Calibri"/>
              </a:rPr>
              <a:t>Bargaining Power of Suppliers</a:t>
            </a:r>
          </a:p>
        </p:txBody>
      </p:sp>
      <p:sp>
        <p:nvSpPr>
          <p:cNvPr id="11" name="TextBox 10"/>
          <p:cNvSpPr txBox="1"/>
          <p:nvPr/>
        </p:nvSpPr>
        <p:spPr>
          <a:xfrm>
            <a:off x="247650" y="2796123"/>
            <a:ext cx="2171700" cy="77578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12" name="TextBox 11"/>
          <p:cNvSpPr txBox="1"/>
          <p:nvPr/>
        </p:nvSpPr>
        <p:spPr>
          <a:xfrm>
            <a:off x="247650" y="3663174"/>
            <a:ext cx="2171700" cy="77578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13" name="TextBox 12"/>
          <p:cNvSpPr txBox="1"/>
          <p:nvPr/>
        </p:nvSpPr>
        <p:spPr>
          <a:xfrm>
            <a:off x="247650" y="4530225"/>
            <a:ext cx="2171700" cy="77578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Buyers can rebalance across 3 product type lines, which caps supplier leverage in commodity grades.</a:t>
            </a:r>
          </a:p>
        </p:txBody>
      </p:sp>
      <p:sp>
        <p:nvSpPr>
          <p:cNvPr id="14" name="Oval 13"/>
          <p:cNvSpPr/>
          <p:nvPr/>
        </p:nvSpPr>
        <p:spPr>
          <a:xfrm>
            <a:off x="3257550" y="1427096"/>
            <a:ext cx="914400" cy="876177"/>
          </a:xfrm>
          <a:prstGeom prst="ellipse">
            <a:avLst/>
          </a:prstGeom>
          <a:solidFill>
            <a:srgbClr val="D9D9D9"/>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Freeform 14"/>
          <p:cNvSpPr/>
          <p:nvPr/>
        </p:nvSpPr>
        <p:spPr>
          <a:xfrm>
            <a:off x="3476625" y="1710028"/>
            <a:ext cx="152400" cy="209918"/>
          </a:xfrm>
          <a:custGeom>
            <a:avLst/>
            <a:gdLst/>
            <a:ahLst/>
            <a:cxnLst/>
            <a:rect l="l" t="t" r="r" b="b"/>
            <a:pathLst>
              <a:path w="16" h="23">
                <a:moveTo>
                  <a:pt x="0" y="0"/>
                </a:moveTo>
                <a:lnTo>
                  <a:pt x="8" y="0"/>
                </a:lnTo>
                <a:lnTo>
                  <a:pt x="16" y="23"/>
                </a:lnTo>
              </a:path>
            </a:pathLst>
          </a:custGeom>
          <a:noFill/>
          <a:ln w="43180">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Freeform 15"/>
          <p:cNvSpPr/>
          <p:nvPr/>
        </p:nvSpPr>
        <p:spPr>
          <a:xfrm>
            <a:off x="3609975" y="1783043"/>
            <a:ext cx="342900" cy="155156"/>
          </a:xfrm>
          <a:custGeom>
            <a:avLst/>
            <a:gdLst/>
            <a:ahLst/>
            <a:cxnLst/>
            <a:rect l="l" t="t" r="r" b="b"/>
            <a:pathLst>
              <a:path w="36" h="17">
                <a:moveTo>
                  <a:pt x="0" y="0"/>
                </a:moveTo>
                <a:lnTo>
                  <a:pt x="36" y="0"/>
                </a:lnTo>
                <a:lnTo>
                  <a:pt x="31" y="17"/>
                </a:lnTo>
                <a:lnTo>
                  <a:pt x="5" y="17"/>
                </a:lnTo>
                <a:close/>
              </a:path>
            </a:pathLst>
          </a:cu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3648075" y="1983834"/>
            <a:ext cx="76200" cy="73015"/>
          </a:xfrm>
          <a:prstGeom prst="ellipse">
            <a:avLst/>
          </a:prstGeom>
          <a:solidFill>
            <a:srgbClr val="2B2B2B"/>
          </a:solidFill>
          <a:ln w="12700">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3829050" y="1983834"/>
            <a:ext cx="76200" cy="73015"/>
          </a:xfrm>
          <a:prstGeom prst="ellipse">
            <a:avLst/>
          </a:prstGeom>
          <a:solidFill>
            <a:srgbClr val="2B2B2B"/>
          </a:solidFill>
          <a:ln w="12700">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600325" y="2376288"/>
            <a:ext cx="2228850" cy="365074"/>
          </a:xfrm>
          <a:prstGeom prst="rect">
            <a:avLst/>
          </a:prstGeom>
          <a:noFill/>
        </p:spPr>
        <p:txBody>
          <a:bodyPr wrap="square" lIns="28575" rIns="28575" tIns="9525" bIns="9525" anchor="ctr">
            <a:spAutoFit/>
          </a:bodyPr>
          <a:lstStyle/>
          <a:p>
            <a:pPr algn="ctr">
              <a:lnSpc>
                <a:spcPct val="115000"/>
              </a:lnSpc>
            </a:pPr>
            <a:r>
              <a:rPr sz="1150" b="1">
                <a:solidFill>
                  <a:srgbClr val="2E2E2E"/>
                </a:solidFill>
                <a:latin typeface="Calibri"/>
              </a:rPr>
              <a:t>Bargaining Power of Buyers</a:t>
            </a:r>
          </a:p>
        </p:txBody>
      </p:sp>
      <p:sp>
        <p:nvSpPr>
          <p:cNvPr id="20" name="TextBox 19"/>
          <p:cNvSpPr txBox="1"/>
          <p:nvPr/>
        </p:nvSpPr>
        <p:spPr>
          <a:xfrm>
            <a:off x="2628900" y="2796123"/>
            <a:ext cx="2171700" cy="1149983"/>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21" name="TextBox 20"/>
          <p:cNvSpPr txBox="1"/>
          <p:nvPr/>
        </p:nvSpPr>
        <p:spPr>
          <a:xfrm>
            <a:off x="2628900" y="4037375"/>
            <a:ext cx="2171700" cy="593245"/>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22" name="TextBox 21"/>
          <p:cNvSpPr txBox="1"/>
          <p:nvPr/>
        </p:nvSpPr>
        <p:spPr>
          <a:xfrm>
            <a:off x="2628900" y="4721889"/>
            <a:ext cx="2171700" cy="593245"/>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Switching is easiest where 3 comparable product type lines compete for the same demand.</a:t>
            </a:r>
          </a:p>
        </p:txBody>
      </p:sp>
      <p:sp>
        <p:nvSpPr>
          <p:cNvPr id="23" name="Oval 22"/>
          <p:cNvSpPr/>
          <p:nvPr/>
        </p:nvSpPr>
        <p:spPr>
          <a:xfrm>
            <a:off x="5638800" y="1427096"/>
            <a:ext cx="914400" cy="876177"/>
          </a:xfrm>
          <a:prstGeom prst="ellipse">
            <a:avLst/>
          </a:prstGeom>
          <a:solidFill>
            <a:srgbClr val="E88A8A"/>
          </a:solidFill>
          <a:ln w="12700">
            <a:solidFill>
              <a:srgbClr val="E88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5876925" y="1655267"/>
            <a:ext cx="438150" cy="419835"/>
          </a:xfrm>
          <a:prstGeom prst="ellipse">
            <a:avLst/>
          </a:prstGeom>
          <a:solidFill>
            <a:srgbClr val="B23A3A"/>
          </a:solidFill>
          <a:ln w="12700">
            <a:solidFill>
              <a:srgbClr val="B23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5943600" y="1719155"/>
            <a:ext cx="304800" cy="292059"/>
          </a:xfrm>
          <a:prstGeom prst="ellipse">
            <a:avLst/>
          </a:prstGeom>
          <a:solidFill>
            <a:srgbClr val="E88A8A"/>
          </a:solidFill>
          <a:ln w="12700">
            <a:solidFill>
              <a:srgbClr val="E88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010275" y="1783043"/>
            <a:ext cx="171450" cy="164283"/>
          </a:xfrm>
          <a:prstGeom prst="ellipse">
            <a:avLst/>
          </a:prstGeom>
          <a:solidFill>
            <a:srgbClr val="B23A3A"/>
          </a:solidFill>
          <a:ln w="12700">
            <a:solidFill>
              <a:srgbClr val="B23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062662" y="1833240"/>
            <a:ext cx="66675" cy="63888"/>
          </a:xfrm>
          <a:prstGeom prst="ellipse">
            <a:avLst/>
          </a:prstGeom>
          <a:solidFill>
            <a:srgbClr val="E88A8A"/>
          </a:solidFill>
          <a:ln w="12700">
            <a:solidFill>
              <a:srgbClr val="E88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Freeform 27"/>
          <p:cNvSpPr/>
          <p:nvPr/>
        </p:nvSpPr>
        <p:spPr>
          <a:xfrm>
            <a:off x="6134100" y="1627887"/>
            <a:ext cx="209550" cy="200791"/>
          </a:xfrm>
          <a:custGeom>
            <a:avLst/>
            <a:gdLst/>
            <a:ahLst/>
            <a:cxnLst/>
            <a:rect l="l" t="t" r="r" b="b"/>
            <a:pathLst>
              <a:path w="22" h="22">
                <a:moveTo>
                  <a:pt x="0" y="22"/>
                </a:moveTo>
                <a:lnTo>
                  <a:pt x="22" y="0"/>
                </a:lnTo>
              </a:path>
            </a:pathLst>
          </a:custGeom>
          <a:noFill/>
          <a:ln w="38100">
            <a:solidFill>
              <a:srgbClr val="B23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Freeform 28"/>
          <p:cNvSpPr/>
          <p:nvPr/>
        </p:nvSpPr>
        <p:spPr>
          <a:xfrm>
            <a:off x="6267450" y="1591379"/>
            <a:ext cx="114300" cy="109522"/>
          </a:xfrm>
          <a:custGeom>
            <a:avLst/>
            <a:gdLst/>
            <a:ahLst/>
            <a:cxnLst/>
            <a:rect l="l" t="t" r="r" b="b"/>
            <a:pathLst>
              <a:path w="12" h="12">
                <a:moveTo>
                  <a:pt x="0" y="0"/>
                </a:moveTo>
                <a:lnTo>
                  <a:pt x="12" y="0"/>
                </a:lnTo>
                <a:lnTo>
                  <a:pt x="12" y="12"/>
                </a:lnTo>
                <a:close/>
              </a:path>
            </a:pathLst>
          </a:custGeom>
          <a:solidFill>
            <a:srgbClr val="B2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981575" y="2376288"/>
            <a:ext cx="2228850" cy="365074"/>
          </a:xfrm>
          <a:prstGeom prst="rect">
            <a:avLst/>
          </a:prstGeom>
          <a:noFill/>
        </p:spPr>
        <p:txBody>
          <a:bodyPr wrap="square" lIns="28575" rIns="28575" tIns="9525" bIns="9525" anchor="ctr">
            <a:spAutoFit/>
          </a:bodyPr>
          <a:lstStyle/>
          <a:p>
            <a:pPr algn="ctr">
              <a:lnSpc>
                <a:spcPct val="115000"/>
              </a:lnSpc>
            </a:pPr>
            <a:r>
              <a:rPr sz="1150" b="1">
                <a:solidFill>
                  <a:srgbClr val="2E2E2E"/>
                </a:solidFill>
                <a:latin typeface="Calibri"/>
              </a:rPr>
              <a:t>Intensity of Competition</a:t>
            </a:r>
          </a:p>
        </p:txBody>
      </p:sp>
      <p:sp>
        <p:nvSpPr>
          <p:cNvPr id="31" name="TextBox 30"/>
          <p:cNvSpPr txBox="1"/>
          <p:nvPr/>
        </p:nvSpPr>
        <p:spPr>
          <a:xfrm>
            <a:off x="5010150" y="2796123"/>
            <a:ext cx="2171700" cy="593245"/>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32" name="TextBox 31"/>
          <p:cNvSpPr txBox="1"/>
          <p:nvPr/>
        </p:nvSpPr>
        <p:spPr>
          <a:xfrm>
            <a:off x="5010150" y="3480637"/>
            <a:ext cx="2171700" cy="96744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33" name="TextBox 32"/>
          <p:cNvSpPr txBox="1"/>
          <p:nvPr/>
        </p:nvSpPr>
        <p:spPr>
          <a:xfrm>
            <a:off x="5010150" y="4539352"/>
            <a:ext cx="2171700" cy="593245"/>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34" name="Oval 33"/>
          <p:cNvSpPr/>
          <p:nvPr/>
        </p:nvSpPr>
        <p:spPr>
          <a:xfrm>
            <a:off x="8020050" y="1427096"/>
            <a:ext cx="914400" cy="876177"/>
          </a:xfrm>
          <a:prstGeom prst="ellipse">
            <a:avLst/>
          </a:prstGeom>
          <a:solidFill>
            <a:srgbClr val="C9C0E0"/>
          </a:solidFill>
          <a:ln w="12700">
            <a:solidFill>
              <a:srgbClr val="C9C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8382000" y="1637014"/>
            <a:ext cx="190500" cy="182537"/>
          </a:xfrm>
          <a:prstGeom prst="roundRect">
            <a:avLst>
              <a:gd name="adj" fmla="val 15000"/>
            </a:avLst>
          </a:prstGeom>
          <a:solidFill>
            <a:srgbClr val="C9C0E0"/>
          </a:solidFill>
          <a:ln w="27940">
            <a:solidFill>
              <a:srgbClr val="4A3F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8248650" y="1874312"/>
            <a:ext cx="190500" cy="182537"/>
          </a:xfrm>
          <a:prstGeom prst="roundRect">
            <a:avLst>
              <a:gd name="adj" fmla="val 15000"/>
            </a:avLst>
          </a:prstGeom>
          <a:solidFill>
            <a:srgbClr val="C9C0E0"/>
          </a:solidFill>
          <a:ln w="27940">
            <a:solidFill>
              <a:srgbClr val="4A3F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8515350" y="1874312"/>
            <a:ext cx="190500" cy="182537"/>
          </a:xfrm>
          <a:prstGeom prst="roundRect">
            <a:avLst>
              <a:gd name="adj" fmla="val 15000"/>
            </a:avLst>
          </a:prstGeom>
          <a:solidFill>
            <a:srgbClr val="C9C0E0"/>
          </a:solidFill>
          <a:ln w="27940">
            <a:solidFill>
              <a:srgbClr val="4A3F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362825" y="2376288"/>
            <a:ext cx="2228850" cy="365074"/>
          </a:xfrm>
          <a:prstGeom prst="rect">
            <a:avLst/>
          </a:prstGeom>
          <a:noFill/>
        </p:spPr>
        <p:txBody>
          <a:bodyPr wrap="square" lIns="28575" rIns="28575" tIns="9525" bIns="9525" anchor="ctr">
            <a:spAutoFit/>
          </a:bodyPr>
          <a:lstStyle/>
          <a:p>
            <a:pPr algn="ctr">
              <a:lnSpc>
                <a:spcPct val="115000"/>
              </a:lnSpc>
            </a:pPr>
            <a:r>
              <a:rPr sz="1150" b="1">
                <a:solidFill>
                  <a:srgbClr val="2E2E2E"/>
                </a:solidFill>
                <a:latin typeface="Calibri"/>
              </a:rPr>
              <a:t>Threat of Substitutes</a:t>
            </a:r>
          </a:p>
        </p:txBody>
      </p:sp>
      <p:sp>
        <p:nvSpPr>
          <p:cNvPr id="39" name="TextBox 38"/>
          <p:cNvSpPr txBox="1"/>
          <p:nvPr/>
        </p:nvSpPr>
        <p:spPr>
          <a:xfrm>
            <a:off x="7391400" y="2796123"/>
            <a:ext cx="2171700" cy="1341647"/>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40" name="TextBox 39"/>
          <p:cNvSpPr txBox="1"/>
          <p:nvPr/>
        </p:nvSpPr>
        <p:spPr>
          <a:xfrm>
            <a:off x="7391400" y="4229039"/>
            <a:ext cx="2171700" cy="401581"/>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41" name="TextBox 40"/>
          <p:cNvSpPr txBox="1"/>
          <p:nvPr/>
        </p:nvSpPr>
        <p:spPr>
          <a:xfrm>
            <a:off x="7391400" y="4721889"/>
            <a:ext cx="2171700" cy="593245"/>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42" name="Oval 41"/>
          <p:cNvSpPr/>
          <p:nvPr/>
        </p:nvSpPr>
        <p:spPr>
          <a:xfrm>
            <a:off x="10401300" y="1427096"/>
            <a:ext cx="914400" cy="876177"/>
          </a:xfrm>
          <a:prstGeom prst="ellipse">
            <a:avLst/>
          </a:prstGeom>
          <a:solidFill>
            <a:srgbClr val="BFDCEA"/>
          </a:solidFill>
          <a:ln w="12700">
            <a:solidFill>
              <a:srgbClr val="BFDC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10610850" y="1700902"/>
            <a:ext cx="114300" cy="109522"/>
          </a:xfrm>
          <a:prstGeom prst="ellipse">
            <a:avLst/>
          </a:prstGeom>
          <a:solidFill>
            <a:srgbClr val="5B7C99"/>
          </a:solidFill>
          <a:ln w="12700">
            <a:solidFill>
              <a:srgbClr val="5B7C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Freeform 43"/>
          <p:cNvSpPr/>
          <p:nvPr/>
        </p:nvSpPr>
        <p:spPr>
          <a:xfrm>
            <a:off x="10563225" y="1837804"/>
            <a:ext cx="209550" cy="182537"/>
          </a:xfrm>
          <a:custGeom>
            <a:avLst/>
            <a:gdLst/>
            <a:ahLst/>
            <a:cxnLst/>
            <a:rect l="l" t="t" r="r" b="b"/>
            <a:pathLst>
              <a:path w="22" h="20">
                <a:moveTo>
                  <a:pt x="0" y="20"/>
                </a:moveTo>
                <a:lnTo>
                  <a:pt x="3" y="0"/>
                </a:lnTo>
                <a:lnTo>
                  <a:pt x="19" y="0"/>
                </a:lnTo>
                <a:lnTo>
                  <a:pt x="22" y="20"/>
                </a:lnTo>
                <a:close/>
              </a:path>
            </a:pathLst>
          </a:cu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10991850" y="1700902"/>
            <a:ext cx="114300" cy="109522"/>
          </a:xfrm>
          <a:prstGeom prst="ellipse">
            <a:avLst/>
          </a:prstGeom>
          <a:solidFill>
            <a:srgbClr val="5B7C99"/>
          </a:solidFill>
          <a:ln w="12700">
            <a:solidFill>
              <a:srgbClr val="5B7C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Freeform 45"/>
          <p:cNvSpPr/>
          <p:nvPr/>
        </p:nvSpPr>
        <p:spPr>
          <a:xfrm>
            <a:off x="10944225" y="1837804"/>
            <a:ext cx="209550" cy="182537"/>
          </a:xfrm>
          <a:custGeom>
            <a:avLst/>
            <a:gdLst/>
            <a:ahLst/>
            <a:cxnLst/>
            <a:rect l="l" t="t" r="r" b="b"/>
            <a:pathLst>
              <a:path w="22" h="20">
                <a:moveTo>
                  <a:pt x="0" y="20"/>
                </a:moveTo>
                <a:lnTo>
                  <a:pt x="3" y="0"/>
                </a:lnTo>
                <a:lnTo>
                  <a:pt x="19" y="0"/>
                </a:lnTo>
                <a:lnTo>
                  <a:pt x="22" y="20"/>
                </a:lnTo>
                <a:close/>
              </a:path>
            </a:pathLst>
          </a:cu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10782300" y="1609633"/>
            <a:ext cx="152400" cy="146030"/>
          </a:xfrm>
          <a:prstGeom prst="ellipse">
            <a:avLst/>
          </a:prstGeom>
          <a:solidFill>
            <a:srgbClr val="5B7C99"/>
          </a:solidFill>
          <a:ln w="12700">
            <a:solidFill>
              <a:srgbClr val="5B7C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Freeform 47"/>
          <p:cNvSpPr/>
          <p:nvPr/>
        </p:nvSpPr>
        <p:spPr>
          <a:xfrm>
            <a:off x="10715625" y="1783043"/>
            <a:ext cx="285750" cy="255552"/>
          </a:xfrm>
          <a:custGeom>
            <a:avLst/>
            <a:gdLst/>
            <a:ahLst/>
            <a:cxnLst/>
            <a:rect l="l" t="t" r="r" b="b"/>
            <a:pathLst>
              <a:path w="30" h="28">
                <a:moveTo>
                  <a:pt x="0" y="28"/>
                </a:moveTo>
                <a:lnTo>
                  <a:pt x="4" y="0"/>
                </a:lnTo>
                <a:lnTo>
                  <a:pt x="26" y="0"/>
                </a:lnTo>
                <a:lnTo>
                  <a:pt x="30" y="28"/>
                </a:lnTo>
                <a:close/>
              </a:path>
            </a:pathLst>
          </a:cu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744075" y="2376288"/>
            <a:ext cx="2228850" cy="365074"/>
          </a:xfrm>
          <a:prstGeom prst="rect">
            <a:avLst/>
          </a:prstGeom>
          <a:noFill/>
        </p:spPr>
        <p:txBody>
          <a:bodyPr wrap="square" lIns="28575" rIns="28575" tIns="9525" bIns="9525" anchor="ctr">
            <a:spAutoFit/>
          </a:bodyPr>
          <a:lstStyle/>
          <a:p>
            <a:pPr algn="ctr">
              <a:lnSpc>
                <a:spcPct val="115000"/>
              </a:lnSpc>
            </a:pPr>
            <a:r>
              <a:rPr sz="1150" b="1">
                <a:solidFill>
                  <a:srgbClr val="2E2E2E"/>
                </a:solidFill>
                <a:latin typeface="Calibri"/>
              </a:rPr>
              <a:t>Threat of New Entrants</a:t>
            </a:r>
          </a:p>
        </p:txBody>
      </p:sp>
      <p:sp>
        <p:nvSpPr>
          <p:cNvPr id="50" name="TextBox 49"/>
          <p:cNvSpPr txBox="1"/>
          <p:nvPr/>
        </p:nvSpPr>
        <p:spPr>
          <a:xfrm>
            <a:off x="9772650" y="2796123"/>
            <a:ext cx="2171700" cy="77578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51" name="TextBox 50"/>
          <p:cNvSpPr txBox="1"/>
          <p:nvPr/>
        </p:nvSpPr>
        <p:spPr>
          <a:xfrm>
            <a:off x="9772650" y="3663174"/>
            <a:ext cx="2171700" cy="593245"/>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52" name="TextBox 51"/>
          <p:cNvSpPr txBox="1"/>
          <p:nvPr/>
        </p:nvSpPr>
        <p:spPr>
          <a:xfrm>
            <a:off x="9772650" y="4347688"/>
            <a:ext cx="2171700" cy="96744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53" name="Rectangle 52"/>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
        <p:nvSpPr>
          <p:cNvPr id="55" name="TextBox 54"/>
          <p:cNvSpPr txBox="1"/>
          <p:nvPr/>
        </p:nvSpPr>
        <p:spPr>
          <a:xfrm>
            <a:off x="171450" y="1069470"/>
            <a:ext cx="9879210" cy="186689"/>
          </a:xfrm>
          <a:prstGeom prst="rect">
            <a:avLst/>
          </a:prstGeom>
          <a:noFill/>
        </p:spPr>
        <p:txBody>
          <a:bodyPr wrap="none" lIns="0" rIns="0" tIns="0" bIns="0">
            <a:spAutoFit/>
          </a:bodyPr>
          <a:lstStyle/>
          <a:p>
            <a:r>
              <a:rPr sz="1100" b="0">
                <a:solidFill>
                  <a:srgbClr val="6C7A89"/>
                </a:solidFill>
                <a:latin typeface="Calibri"/>
              </a:rPr>
              <a:t>Supplier power, buyer power, competitive intensity, substitution and entry barriers scored from the global dataset 3 product type lines, 6 application routes and 6 regions at</a:t>
            </a:r>
          </a:p>
        </p:txBody>
      </p:sp>
      <p:pic>
        <p:nvPicPr>
          <p:cNvPr id="56" name="Picture 55" descr="lock.png"/>
          <p:cNvPicPr>
            <a:picLocks noChangeAspect="1"/>
          </p:cNvPicPr>
          <p:nvPr/>
        </p:nvPicPr>
        <p:blipFill>
          <a:blip r:embed="rId4"/>
          <a:stretch>
            <a:fillRect/>
          </a:stretch>
        </p:blipFill>
        <p:spPr>
          <a:xfrm>
            <a:off x="9998712" y="1059691"/>
            <a:ext cx="128699" cy="187198"/>
          </a:xfrm>
          <a:prstGeom prst="rect">
            <a:avLst/>
          </a:prstGeom>
        </p:spPr>
      </p:pic>
      <p:sp>
        <p:nvSpPr>
          <p:cNvPr id="57" name="TextBox 56"/>
          <p:cNvSpPr txBox="1"/>
          <p:nvPr/>
        </p:nvSpPr>
        <p:spPr>
          <a:xfrm>
            <a:off x="10166208" y="1069470"/>
            <a:ext cx="430617" cy="186689"/>
          </a:xfrm>
          <a:prstGeom prst="rect">
            <a:avLst/>
          </a:prstGeom>
          <a:noFill/>
        </p:spPr>
        <p:txBody>
          <a:bodyPr wrap="none" lIns="0" rIns="0" tIns="0" bIns="0">
            <a:spAutoFit/>
          </a:bodyPr>
          <a:lstStyle/>
          <a:p>
            <a:r>
              <a:rPr sz="1100" b="0">
                <a:solidFill>
                  <a:srgbClr val="6C7A89"/>
                </a:solidFill>
                <a:latin typeface="Calibri"/>
              </a:rPr>
              <a:t>CAGR.</a:t>
            </a:r>
          </a:p>
        </p:txBody>
      </p:sp>
      <p:sp>
        <p:nvSpPr>
          <p:cNvPr id="58" name="TextBox 57"/>
          <p:cNvSpPr txBox="1"/>
          <p:nvPr/>
        </p:nvSpPr>
        <p:spPr>
          <a:xfrm>
            <a:off x="276225" y="2848734"/>
            <a:ext cx="2114550" cy="186689"/>
          </a:xfrm>
          <a:prstGeom prst="rect">
            <a:avLst/>
          </a:prstGeom>
          <a:noFill/>
        </p:spPr>
        <p:txBody>
          <a:bodyPr wrap="none" lIns="0" rIns="0" tIns="0" bIns="0">
            <a:spAutoFit/>
          </a:bodyPr>
          <a:lstStyle/>
          <a:p>
            <a:r>
              <a:rPr sz="1100" b="0">
                <a:solidFill>
                  <a:srgbClr val="2E2E2E"/>
                </a:solidFill>
                <a:latin typeface="Calibri"/>
              </a:rPr>
              <a:t>▸ Assessed moderate to high. 'North</a:t>
            </a:r>
          </a:p>
        </p:txBody>
      </p:sp>
      <p:sp>
        <p:nvSpPr>
          <p:cNvPr id="59" name="TextBox 58"/>
          <p:cNvSpPr txBox="1"/>
          <p:nvPr/>
        </p:nvSpPr>
        <p:spPr>
          <a:xfrm>
            <a:off x="276225" y="3016374"/>
            <a:ext cx="1071016" cy="186689"/>
          </a:xfrm>
          <a:prstGeom prst="rect">
            <a:avLst/>
          </a:prstGeom>
          <a:noFill/>
        </p:spPr>
        <p:txBody>
          <a:bodyPr wrap="none" lIns="0" rIns="0" tIns="0" bIns="0">
            <a:spAutoFit/>
          </a:bodyPr>
          <a:lstStyle/>
          <a:p>
            <a:r>
              <a:rPr sz="1100" b="0">
                <a:solidFill>
                  <a:srgbClr val="2E2E2E"/>
                </a:solidFill>
                <a:latin typeface="Calibri"/>
              </a:rPr>
              <a:t>America' supplies</a:t>
            </a:r>
          </a:p>
        </p:txBody>
      </p:sp>
      <p:pic>
        <p:nvPicPr>
          <p:cNvPr id="60" name="Picture 59" descr="lock.png"/>
          <p:cNvPicPr>
            <a:picLocks noChangeAspect="1"/>
          </p:cNvPicPr>
          <p:nvPr/>
        </p:nvPicPr>
        <p:blipFill>
          <a:blip r:embed="rId4"/>
          <a:stretch>
            <a:fillRect/>
          </a:stretch>
        </p:blipFill>
        <p:spPr>
          <a:xfrm>
            <a:off x="1295293" y="3006595"/>
            <a:ext cx="128699" cy="187198"/>
          </a:xfrm>
          <a:prstGeom prst="rect">
            <a:avLst/>
          </a:prstGeom>
        </p:spPr>
      </p:pic>
      <p:sp>
        <p:nvSpPr>
          <p:cNvPr id="61" name="TextBox 60"/>
          <p:cNvSpPr txBox="1"/>
          <p:nvPr/>
        </p:nvSpPr>
        <p:spPr>
          <a:xfrm>
            <a:off x="1462789" y="3016374"/>
            <a:ext cx="844549" cy="186689"/>
          </a:xfrm>
          <a:prstGeom prst="rect">
            <a:avLst/>
          </a:prstGeom>
          <a:noFill/>
        </p:spPr>
        <p:txBody>
          <a:bodyPr wrap="none" lIns="0" rIns="0" tIns="0" bIns="0">
            <a:spAutoFit/>
          </a:bodyPr>
          <a:lstStyle/>
          <a:p>
            <a:r>
              <a:rPr sz="1100" b="0">
                <a:solidFill>
                  <a:srgbClr val="2E2E2E"/>
                </a:solidFill>
                <a:latin typeface="Calibri"/>
              </a:rPr>
              <a:t>of 2036 value</a:t>
            </a:r>
          </a:p>
        </p:txBody>
      </p:sp>
      <p:sp>
        <p:nvSpPr>
          <p:cNvPr id="62" name="TextBox 61"/>
          <p:cNvSpPr txBox="1"/>
          <p:nvPr/>
        </p:nvSpPr>
        <p:spPr>
          <a:xfrm>
            <a:off x="276225" y="3184014"/>
            <a:ext cx="1842095" cy="186689"/>
          </a:xfrm>
          <a:prstGeom prst="rect">
            <a:avLst/>
          </a:prstGeom>
          <a:noFill/>
        </p:spPr>
        <p:txBody>
          <a:bodyPr wrap="none" lIns="0" rIns="0" tIns="0" bIns="0">
            <a:spAutoFit/>
          </a:bodyPr>
          <a:lstStyle/>
          <a:p>
            <a:r>
              <a:rPr sz="1100" b="0">
                <a:solidFill>
                  <a:srgbClr val="2E2E2E"/>
                </a:solidFill>
                <a:latin typeface="Calibri"/>
              </a:rPr>
              <a:t>across 6 regions, concentrating</a:t>
            </a:r>
          </a:p>
        </p:txBody>
      </p:sp>
      <p:sp>
        <p:nvSpPr>
          <p:cNvPr id="63" name="TextBox 62"/>
          <p:cNvSpPr txBox="1"/>
          <p:nvPr/>
        </p:nvSpPr>
        <p:spPr>
          <a:xfrm>
            <a:off x="276225" y="3351654"/>
            <a:ext cx="1173608" cy="186689"/>
          </a:xfrm>
          <a:prstGeom prst="rect">
            <a:avLst/>
          </a:prstGeom>
          <a:noFill/>
        </p:spPr>
        <p:txBody>
          <a:bodyPr wrap="none" lIns="0" rIns="0" tIns="0" bIns="0">
            <a:spAutoFit/>
          </a:bodyPr>
          <a:lstStyle/>
          <a:p>
            <a:r>
              <a:rPr sz="1100" b="0">
                <a:solidFill>
                  <a:srgbClr val="2E2E2E"/>
                </a:solidFill>
                <a:latin typeface="Calibri"/>
              </a:rPr>
              <a:t>upstream leverage.</a:t>
            </a:r>
          </a:p>
        </p:txBody>
      </p:sp>
      <p:sp>
        <p:nvSpPr>
          <p:cNvPr id="64" name="TextBox 63"/>
          <p:cNvSpPr txBox="1"/>
          <p:nvPr/>
        </p:nvSpPr>
        <p:spPr>
          <a:xfrm>
            <a:off x="276225" y="3799605"/>
            <a:ext cx="1676163" cy="186689"/>
          </a:xfrm>
          <a:prstGeom prst="rect">
            <a:avLst/>
          </a:prstGeom>
          <a:noFill/>
        </p:spPr>
        <p:txBody>
          <a:bodyPr wrap="none" lIns="0" rIns="0" tIns="0" bIns="0">
            <a:spAutoFit/>
          </a:bodyPr>
          <a:lstStyle/>
          <a:p>
            <a:r>
              <a:rPr sz="1100" b="0">
                <a:solidFill>
                  <a:srgbClr val="2E2E2E"/>
                </a:solidFill>
                <a:latin typeface="Calibri"/>
              </a:rPr>
              <a:t>▸ Average realisation moves</a:t>
            </a:r>
          </a:p>
        </p:txBody>
      </p:sp>
      <p:pic>
        <p:nvPicPr>
          <p:cNvPr id="65" name="Picture 64" descr="lock.png"/>
          <p:cNvPicPr>
            <a:picLocks noChangeAspect="1"/>
          </p:cNvPicPr>
          <p:nvPr/>
        </p:nvPicPr>
        <p:blipFill>
          <a:blip r:embed="rId4"/>
          <a:stretch>
            <a:fillRect/>
          </a:stretch>
        </p:blipFill>
        <p:spPr>
          <a:xfrm>
            <a:off x="1900439" y="3789826"/>
            <a:ext cx="128699" cy="187198"/>
          </a:xfrm>
          <a:prstGeom prst="rect">
            <a:avLst/>
          </a:prstGeom>
        </p:spPr>
      </p:pic>
      <p:sp>
        <p:nvSpPr>
          <p:cNvPr id="66" name="TextBox 65"/>
          <p:cNvSpPr txBox="1"/>
          <p:nvPr/>
        </p:nvSpPr>
        <p:spPr>
          <a:xfrm>
            <a:off x="2067935" y="3799605"/>
            <a:ext cx="143048" cy="186689"/>
          </a:xfrm>
          <a:prstGeom prst="rect">
            <a:avLst/>
          </a:prstGeom>
          <a:noFill/>
        </p:spPr>
        <p:txBody>
          <a:bodyPr wrap="none" lIns="0" rIns="0" tIns="0" bIns="0">
            <a:spAutoFit/>
          </a:bodyPr>
          <a:lstStyle/>
          <a:p>
            <a:r>
              <a:rPr sz="1100" b="0">
                <a:solidFill>
                  <a:srgbClr val="2E2E2E"/>
                </a:solidFill>
                <a:latin typeface="Calibri"/>
              </a:rPr>
              <a:t>a</a:t>
            </a:r>
          </a:p>
        </p:txBody>
      </p:sp>
      <p:sp>
        <p:nvSpPr>
          <p:cNvPr id="67" name="TextBox 66"/>
          <p:cNvSpPr txBox="1"/>
          <p:nvPr/>
        </p:nvSpPr>
        <p:spPr>
          <a:xfrm>
            <a:off x="276225" y="3967245"/>
            <a:ext cx="2031181" cy="186689"/>
          </a:xfrm>
          <a:prstGeom prst="rect">
            <a:avLst/>
          </a:prstGeom>
          <a:noFill/>
        </p:spPr>
        <p:txBody>
          <a:bodyPr wrap="none" lIns="0" rIns="0" tIns="0" bIns="0">
            <a:spAutoFit/>
          </a:bodyPr>
          <a:lstStyle/>
          <a:p>
            <a:r>
              <a:rPr sz="1100" b="0">
                <a:solidFill>
                  <a:srgbClr val="2E2E2E"/>
                </a:solidFill>
                <a:latin typeface="Calibri"/>
              </a:rPr>
              <a:t>year (2026–2036), indicating input</a:t>
            </a:r>
          </a:p>
        </p:txBody>
      </p:sp>
      <p:sp>
        <p:nvSpPr>
          <p:cNvPr id="68" name="TextBox 67"/>
          <p:cNvSpPr txBox="1"/>
          <p:nvPr/>
        </p:nvSpPr>
        <p:spPr>
          <a:xfrm>
            <a:off x="276225" y="4134885"/>
            <a:ext cx="1874291" cy="186689"/>
          </a:xfrm>
          <a:prstGeom prst="rect">
            <a:avLst/>
          </a:prstGeom>
          <a:noFill/>
        </p:spPr>
        <p:txBody>
          <a:bodyPr wrap="none" lIns="0" rIns="0" tIns="0" bIns="0">
            <a:spAutoFit/>
          </a:bodyPr>
          <a:lstStyle/>
          <a:p>
            <a:r>
              <a:rPr sz="1100" b="0">
                <a:solidFill>
                  <a:srgbClr val="2E2E2E"/>
                </a:solidFill>
                <a:latin typeface="Calibri"/>
              </a:rPr>
              <a:t>costs are being passed through.</a:t>
            </a:r>
          </a:p>
        </p:txBody>
      </p:sp>
      <p:sp>
        <p:nvSpPr>
          <p:cNvPr id="69" name="TextBox 68"/>
          <p:cNvSpPr txBox="1"/>
          <p:nvPr/>
        </p:nvSpPr>
        <p:spPr>
          <a:xfrm>
            <a:off x="2657475" y="2952014"/>
            <a:ext cx="1746324" cy="186689"/>
          </a:xfrm>
          <a:prstGeom prst="rect">
            <a:avLst/>
          </a:prstGeom>
          <a:noFill/>
        </p:spPr>
        <p:txBody>
          <a:bodyPr wrap="none" lIns="0" rIns="0" tIns="0" bIns="0">
            <a:spAutoFit/>
          </a:bodyPr>
          <a:lstStyle/>
          <a:p>
            <a:r>
              <a:rPr sz="1100" b="0">
                <a:solidFill>
                  <a:srgbClr val="2E2E2E"/>
                </a:solidFill>
                <a:latin typeface="Calibri"/>
              </a:rPr>
              <a:t>▸ Assessed moderate to high.</a:t>
            </a:r>
          </a:p>
        </p:txBody>
      </p:sp>
      <p:sp>
        <p:nvSpPr>
          <p:cNvPr id="70" name="TextBox 69"/>
          <p:cNvSpPr txBox="1"/>
          <p:nvPr/>
        </p:nvSpPr>
        <p:spPr>
          <a:xfrm>
            <a:off x="2657475" y="3119654"/>
            <a:ext cx="1545232" cy="186689"/>
          </a:xfrm>
          <a:prstGeom prst="rect">
            <a:avLst/>
          </a:prstGeom>
          <a:noFill/>
        </p:spPr>
        <p:txBody>
          <a:bodyPr wrap="none" lIns="0" rIns="0" tIns="0" bIns="0">
            <a:spAutoFit/>
          </a:bodyPr>
          <a:lstStyle/>
          <a:p>
            <a:r>
              <a:rPr sz="1100" b="0">
                <a:solidFill>
                  <a:srgbClr val="2E2E2E"/>
                </a:solidFill>
                <a:latin typeface="Calibri"/>
              </a:rPr>
              <a:t>Demand routes through 6</a:t>
            </a:r>
          </a:p>
        </p:txBody>
      </p:sp>
      <p:sp>
        <p:nvSpPr>
          <p:cNvPr id="71" name="TextBox 70"/>
          <p:cNvSpPr txBox="1"/>
          <p:nvPr/>
        </p:nvSpPr>
        <p:spPr>
          <a:xfrm>
            <a:off x="2657475" y="3287294"/>
            <a:ext cx="2092027" cy="186689"/>
          </a:xfrm>
          <a:prstGeom prst="rect">
            <a:avLst/>
          </a:prstGeom>
          <a:noFill/>
        </p:spPr>
        <p:txBody>
          <a:bodyPr wrap="none" lIns="0" rIns="0" tIns="0" bIns="0">
            <a:spAutoFit/>
          </a:bodyPr>
          <a:lstStyle/>
          <a:p>
            <a:r>
              <a:rPr sz="1100" b="0">
                <a:solidFill>
                  <a:srgbClr val="2E2E2E"/>
                </a:solidFill>
                <a:latin typeface="Calibri"/>
              </a:rPr>
              <a:t>application channels led by 'Dietary</a:t>
            </a:r>
          </a:p>
        </p:txBody>
      </p:sp>
      <p:sp>
        <p:nvSpPr>
          <p:cNvPr id="72" name="TextBox 71"/>
          <p:cNvSpPr txBox="1"/>
          <p:nvPr/>
        </p:nvSpPr>
        <p:spPr>
          <a:xfrm>
            <a:off x="2657475" y="3454934"/>
            <a:ext cx="1973609" cy="186689"/>
          </a:xfrm>
          <a:prstGeom prst="rect">
            <a:avLst/>
          </a:prstGeom>
          <a:noFill/>
        </p:spPr>
        <p:txBody>
          <a:bodyPr wrap="none" lIns="0" rIns="0" tIns="0" bIns="0">
            <a:spAutoFit/>
          </a:bodyPr>
          <a:lstStyle/>
          <a:p>
            <a:r>
              <a:rPr sz="1100" b="0">
                <a:solidFill>
                  <a:srgbClr val="2E2E2E"/>
                </a:solidFill>
                <a:latin typeface="Calibri"/>
              </a:rPr>
              <a:t>Supplements &amp; Nutraceuticals' at</a:t>
            </a:r>
          </a:p>
        </p:txBody>
      </p:sp>
      <p:pic>
        <p:nvPicPr>
          <p:cNvPr id="73" name="Picture 72" descr="lock.png"/>
          <p:cNvPicPr>
            <a:picLocks noChangeAspect="1"/>
          </p:cNvPicPr>
          <p:nvPr/>
        </p:nvPicPr>
        <p:blipFill>
          <a:blip r:embed="rId4"/>
          <a:stretch>
            <a:fillRect/>
          </a:stretch>
        </p:blipFill>
        <p:spPr>
          <a:xfrm>
            <a:off x="2644007" y="3612795"/>
            <a:ext cx="128699" cy="187198"/>
          </a:xfrm>
          <a:prstGeom prst="rect">
            <a:avLst/>
          </a:prstGeom>
        </p:spPr>
      </p:pic>
      <p:sp>
        <p:nvSpPr>
          <p:cNvPr id="74" name="TextBox 73"/>
          <p:cNvSpPr txBox="1"/>
          <p:nvPr/>
        </p:nvSpPr>
        <p:spPr>
          <a:xfrm>
            <a:off x="2811503" y="3622574"/>
            <a:ext cx="1553964" cy="186689"/>
          </a:xfrm>
          <a:prstGeom prst="rect">
            <a:avLst/>
          </a:prstGeom>
          <a:noFill/>
        </p:spPr>
        <p:txBody>
          <a:bodyPr wrap="none" lIns="0" rIns="0" tIns="0" bIns="0">
            <a:spAutoFit/>
          </a:bodyPr>
          <a:lstStyle/>
          <a:p>
            <a:r>
              <a:rPr sz="1100" b="0">
                <a:solidFill>
                  <a:srgbClr val="2E2E2E"/>
                </a:solidFill>
                <a:latin typeface="Calibri"/>
              </a:rPr>
              <a:t>, giving large buyers scale.</a:t>
            </a:r>
          </a:p>
        </p:txBody>
      </p:sp>
      <p:sp>
        <p:nvSpPr>
          <p:cNvPr id="75" name="TextBox 74"/>
          <p:cNvSpPr txBox="1"/>
          <p:nvPr/>
        </p:nvSpPr>
        <p:spPr>
          <a:xfrm>
            <a:off x="2657475" y="4082537"/>
            <a:ext cx="2062013" cy="186689"/>
          </a:xfrm>
          <a:prstGeom prst="rect">
            <a:avLst/>
          </a:prstGeom>
          <a:noFill/>
        </p:spPr>
        <p:txBody>
          <a:bodyPr wrap="none" lIns="0" rIns="0" tIns="0" bIns="0">
            <a:spAutoFit/>
          </a:bodyPr>
          <a:lstStyle/>
          <a:p>
            <a:r>
              <a:rPr sz="1100" b="0">
                <a:solidFill>
                  <a:srgbClr val="2E2E2E"/>
                </a:solidFill>
                <a:latin typeface="Calibri"/>
              </a:rPr>
              <a:t>▸ Price sensitivity tracks realisation</a:t>
            </a:r>
          </a:p>
        </p:txBody>
      </p:sp>
      <p:sp>
        <p:nvSpPr>
          <p:cNvPr id="76" name="TextBox 75"/>
          <p:cNvSpPr txBox="1"/>
          <p:nvPr/>
        </p:nvSpPr>
        <p:spPr>
          <a:xfrm>
            <a:off x="2657475" y="4250177"/>
            <a:ext cx="495845" cy="186689"/>
          </a:xfrm>
          <a:prstGeom prst="rect">
            <a:avLst/>
          </a:prstGeom>
          <a:noFill/>
        </p:spPr>
        <p:txBody>
          <a:bodyPr wrap="none" lIns="0" rIns="0" tIns="0" bIns="0">
            <a:spAutoFit/>
          </a:bodyPr>
          <a:lstStyle/>
          <a:p>
            <a:r>
              <a:rPr sz="1100" b="0">
                <a:solidFill>
                  <a:srgbClr val="2E2E2E"/>
                </a:solidFill>
                <a:latin typeface="Calibri"/>
              </a:rPr>
              <a:t>moving</a:t>
            </a:r>
          </a:p>
        </p:txBody>
      </p:sp>
      <p:pic>
        <p:nvPicPr>
          <p:cNvPr id="77" name="Picture 76" descr="lock.png"/>
          <p:cNvPicPr>
            <a:picLocks noChangeAspect="1"/>
          </p:cNvPicPr>
          <p:nvPr/>
        </p:nvPicPr>
        <p:blipFill>
          <a:blip r:embed="rId4"/>
          <a:stretch>
            <a:fillRect/>
          </a:stretch>
        </p:blipFill>
        <p:spPr>
          <a:xfrm>
            <a:off x="3101372" y="4240398"/>
            <a:ext cx="128699" cy="187198"/>
          </a:xfrm>
          <a:prstGeom prst="rect">
            <a:avLst/>
          </a:prstGeom>
        </p:spPr>
      </p:pic>
      <p:sp>
        <p:nvSpPr>
          <p:cNvPr id="78" name="TextBox 77"/>
          <p:cNvSpPr txBox="1"/>
          <p:nvPr/>
        </p:nvSpPr>
        <p:spPr>
          <a:xfrm>
            <a:off x="3268868" y="4250177"/>
            <a:ext cx="1316583" cy="186689"/>
          </a:xfrm>
          <a:prstGeom prst="rect">
            <a:avLst/>
          </a:prstGeom>
          <a:noFill/>
        </p:spPr>
        <p:txBody>
          <a:bodyPr wrap="none" lIns="0" rIns="0" tIns="0" bIns="0">
            <a:spAutoFit/>
          </a:bodyPr>
          <a:lstStyle/>
          <a:p>
            <a:r>
              <a:rPr sz="1100" b="0">
                <a:solidFill>
                  <a:srgbClr val="2E2E2E"/>
                </a:solidFill>
                <a:latin typeface="Calibri"/>
              </a:rPr>
              <a:t>a year against volume</a:t>
            </a:r>
          </a:p>
        </p:txBody>
      </p:sp>
      <p:sp>
        <p:nvSpPr>
          <p:cNvPr id="79" name="TextBox 78"/>
          <p:cNvSpPr txBox="1"/>
          <p:nvPr/>
        </p:nvSpPr>
        <p:spPr>
          <a:xfrm>
            <a:off x="2657475" y="4417817"/>
            <a:ext cx="632544" cy="186689"/>
          </a:xfrm>
          <a:prstGeom prst="rect">
            <a:avLst/>
          </a:prstGeom>
          <a:noFill/>
        </p:spPr>
        <p:txBody>
          <a:bodyPr wrap="none" lIns="0" rIns="0" tIns="0" bIns="0">
            <a:spAutoFit/>
          </a:bodyPr>
          <a:lstStyle/>
          <a:p>
            <a:r>
              <a:rPr sz="1100" b="0">
                <a:solidFill>
                  <a:srgbClr val="2E2E2E"/>
                </a:solidFill>
                <a:latin typeface="Calibri"/>
              </a:rPr>
              <a:t>growth of</a:t>
            </a:r>
          </a:p>
        </p:txBody>
      </p:sp>
      <p:pic>
        <p:nvPicPr>
          <p:cNvPr id="80" name="Picture 79" descr="lock.png"/>
          <p:cNvPicPr>
            <a:picLocks noChangeAspect="1"/>
          </p:cNvPicPr>
          <p:nvPr/>
        </p:nvPicPr>
        <p:blipFill>
          <a:blip r:embed="rId4"/>
          <a:stretch>
            <a:fillRect/>
          </a:stretch>
        </p:blipFill>
        <p:spPr>
          <a:xfrm>
            <a:off x="3238070" y="4408038"/>
            <a:ext cx="128699" cy="187198"/>
          </a:xfrm>
          <a:prstGeom prst="rect">
            <a:avLst/>
          </a:prstGeom>
        </p:spPr>
      </p:pic>
      <p:sp>
        <p:nvSpPr>
          <p:cNvPr id="81" name="TextBox 80"/>
          <p:cNvSpPr txBox="1"/>
          <p:nvPr/>
        </p:nvSpPr>
        <p:spPr>
          <a:xfrm>
            <a:off x="3405566" y="4417817"/>
            <a:ext cx="111397" cy="186689"/>
          </a:xfrm>
          <a:prstGeom prst="rect">
            <a:avLst/>
          </a:prstGeom>
          <a:noFill/>
        </p:spPr>
        <p:txBody>
          <a:bodyPr wrap="none" lIns="0" rIns="0" tIns="0" bIns="0">
            <a:spAutoFit/>
          </a:bodyPr>
          <a:lstStyle/>
          <a:p>
            <a:r>
              <a:rPr sz="1100" b="0">
                <a:solidFill>
                  <a:srgbClr val="2E2E2E"/>
                </a:solidFill>
                <a:latin typeface="Calibri"/>
              </a:rPr>
              <a:t>.</a:t>
            </a:r>
          </a:p>
        </p:txBody>
      </p:sp>
      <p:sp>
        <p:nvSpPr>
          <p:cNvPr id="82" name="TextBox 81"/>
          <p:cNvSpPr txBox="1"/>
          <p:nvPr/>
        </p:nvSpPr>
        <p:spPr>
          <a:xfrm>
            <a:off x="5038725" y="2841285"/>
            <a:ext cx="2114550" cy="186689"/>
          </a:xfrm>
          <a:prstGeom prst="rect">
            <a:avLst/>
          </a:prstGeom>
          <a:noFill/>
        </p:spPr>
        <p:txBody>
          <a:bodyPr wrap="none" lIns="0" rIns="0" tIns="0" bIns="0">
            <a:spAutoFit/>
          </a:bodyPr>
          <a:lstStyle/>
          <a:p>
            <a:r>
              <a:rPr sz="1100" b="0">
                <a:solidFill>
                  <a:srgbClr val="2E2E2E"/>
                </a:solidFill>
                <a:latin typeface="Calibri"/>
              </a:rPr>
              <a:t>▸ Assessed moderate. 3 product type</a:t>
            </a:r>
          </a:p>
        </p:txBody>
      </p:sp>
      <p:sp>
        <p:nvSpPr>
          <p:cNvPr id="83" name="TextBox 82"/>
          <p:cNvSpPr txBox="1"/>
          <p:nvPr/>
        </p:nvSpPr>
        <p:spPr>
          <a:xfrm>
            <a:off x="5038725" y="3008925"/>
            <a:ext cx="2022723" cy="186689"/>
          </a:xfrm>
          <a:prstGeom prst="rect">
            <a:avLst/>
          </a:prstGeom>
          <a:noFill/>
        </p:spPr>
        <p:txBody>
          <a:bodyPr wrap="none" lIns="0" rIns="0" tIns="0" bIns="0">
            <a:spAutoFit/>
          </a:bodyPr>
          <a:lstStyle/>
          <a:p>
            <a:r>
              <a:rPr sz="1100" b="0">
                <a:solidFill>
                  <a:srgbClr val="2E2E2E"/>
                </a:solidFill>
                <a:latin typeface="Calibri"/>
              </a:rPr>
              <a:t>lines compete inside the segment;</a:t>
            </a:r>
          </a:p>
        </p:txBody>
      </p:sp>
      <p:sp>
        <p:nvSpPr>
          <p:cNvPr id="84" name="TextBox 83"/>
          <p:cNvSpPr txBox="1"/>
          <p:nvPr/>
        </p:nvSpPr>
        <p:spPr>
          <a:xfrm>
            <a:off x="5038725" y="3176565"/>
            <a:ext cx="997074" cy="186689"/>
          </a:xfrm>
          <a:prstGeom prst="rect">
            <a:avLst/>
          </a:prstGeom>
          <a:noFill/>
        </p:spPr>
        <p:txBody>
          <a:bodyPr wrap="none" lIns="0" rIns="0" tIns="0" bIns="0">
            <a:spAutoFit/>
          </a:bodyPr>
          <a:lstStyle/>
          <a:p>
            <a:r>
              <a:rPr sz="1100" b="0">
                <a:solidFill>
                  <a:srgbClr val="2E2E2E"/>
                </a:solidFill>
                <a:latin typeface="Calibri"/>
              </a:rPr>
              <a:t>the leader holds</a:t>
            </a:r>
          </a:p>
        </p:txBody>
      </p:sp>
      <p:pic>
        <p:nvPicPr>
          <p:cNvPr id="85" name="Picture 84" descr="lock.png"/>
          <p:cNvPicPr>
            <a:picLocks noChangeAspect="1"/>
          </p:cNvPicPr>
          <p:nvPr/>
        </p:nvPicPr>
        <p:blipFill>
          <a:blip r:embed="rId4"/>
          <a:stretch>
            <a:fillRect/>
          </a:stretch>
        </p:blipFill>
        <p:spPr>
          <a:xfrm>
            <a:off x="5983850" y="3166786"/>
            <a:ext cx="128699" cy="187198"/>
          </a:xfrm>
          <a:prstGeom prst="rect">
            <a:avLst/>
          </a:prstGeom>
        </p:spPr>
      </p:pic>
      <p:sp>
        <p:nvSpPr>
          <p:cNvPr id="86" name="TextBox 85"/>
          <p:cNvSpPr txBox="1"/>
          <p:nvPr/>
        </p:nvSpPr>
        <p:spPr>
          <a:xfrm>
            <a:off x="6151346" y="3176565"/>
            <a:ext cx="111397" cy="186689"/>
          </a:xfrm>
          <a:prstGeom prst="rect">
            <a:avLst/>
          </a:prstGeom>
          <a:noFill/>
        </p:spPr>
        <p:txBody>
          <a:bodyPr wrap="none" lIns="0" rIns="0" tIns="0" bIns="0">
            <a:spAutoFit/>
          </a:bodyPr>
          <a:lstStyle/>
          <a:p>
            <a:r>
              <a:rPr sz="1100" b="0">
                <a:solidFill>
                  <a:srgbClr val="2E2E2E"/>
                </a:solidFill>
                <a:latin typeface="Calibri"/>
              </a:rPr>
              <a:t>.</a:t>
            </a:r>
          </a:p>
        </p:txBody>
      </p:sp>
      <p:sp>
        <p:nvSpPr>
          <p:cNvPr id="87" name="TextBox 86"/>
          <p:cNvSpPr txBox="1"/>
          <p:nvPr/>
        </p:nvSpPr>
        <p:spPr>
          <a:xfrm>
            <a:off x="5038725" y="3629080"/>
            <a:ext cx="1934046" cy="186689"/>
          </a:xfrm>
          <a:prstGeom prst="rect">
            <a:avLst/>
          </a:prstGeom>
          <a:noFill/>
        </p:spPr>
        <p:txBody>
          <a:bodyPr wrap="none" lIns="0" rIns="0" tIns="0" bIns="0">
            <a:spAutoFit/>
          </a:bodyPr>
          <a:lstStyle/>
          <a:p>
            <a:r>
              <a:rPr sz="1100" b="0">
                <a:solidFill>
                  <a:srgbClr val="2E2E2E"/>
                </a:solidFill>
                <a:latin typeface="Calibri"/>
              </a:rPr>
              <a:t>▸ Growth is unevenly distributed</a:t>
            </a:r>
          </a:p>
        </p:txBody>
      </p:sp>
      <p:sp>
        <p:nvSpPr>
          <p:cNvPr id="88" name="TextBox 87"/>
          <p:cNvSpPr txBox="1"/>
          <p:nvPr/>
        </p:nvSpPr>
        <p:spPr>
          <a:xfrm>
            <a:off x="5038725" y="3796720"/>
            <a:ext cx="2080840" cy="186689"/>
          </a:xfrm>
          <a:prstGeom prst="rect">
            <a:avLst/>
          </a:prstGeom>
          <a:noFill/>
        </p:spPr>
        <p:txBody>
          <a:bodyPr wrap="none" lIns="0" rIns="0" tIns="0" bIns="0">
            <a:spAutoFit/>
          </a:bodyPr>
          <a:lstStyle/>
          <a:p>
            <a:r>
              <a:rPr sz="1100" b="0">
                <a:solidFill>
                  <a:srgbClr val="2E2E2E"/>
                </a:solidFill>
                <a:latin typeface="Calibri"/>
              </a:rPr>
              <a:t>'Hydrolyzed Eggshell Membrane' at</a:t>
            </a:r>
          </a:p>
        </p:txBody>
      </p:sp>
      <p:pic>
        <p:nvPicPr>
          <p:cNvPr id="89" name="Picture 88" descr="lock.png"/>
          <p:cNvPicPr>
            <a:picLocks noChangeAspect="1"/>
          </p:cNvPicPr>
          <p:nvPr/>
        </p:nvPicPr>
        <p:blipFill>
          <a:blip r:embed="rId4"/>
          <a:stretch>
            <a:fillRect/>
          </a:stretch>
        </p:blipFill>
        <p:spPr>
          <a:xfrm>
            <a:off x="5025257" y="3954581"/>
            <a:ext cx="128699" cy="187198"/>
          </a:xfrm>
          <a:prstGeom prst="rect">
            <a:avLst/>
          </a:prstGeom>
        </p:spPr>
      </p:pic>
      <p:sp>
        <p:nvSpPr>
          <p:cNvPr id="90" name="TextBox 89"/>
          <p:cNvSpPr txBox="1"/>
          <p:nvPr/>
        </p:nvSpPr>
        <p:spPr>
          <a:xfrm>
            <a:off x="5192753" y="3964360"/>
            <a:ext cx="1625178" cy="186689"/>
          </a:xfrm>
          <a:prstGeom prst="rect">
            <a:avLst/>
          </a:prstGeom>
          <a:noFill/>
        </p:spPr>
        <p:txBody>
          <a:bodyPr wrap="none" lIns="0" rIns="0" tIns="0" bIns="0">
            <a:spAutoFit/>
          </a:bodyPr>
          <a:lstStyle/>
          <a:p>
            <a:r>
              <a:rPr sz="1100" b="0">
                <a:solidFill>
                  <a:srgbClr val="2E2E2E"/>
                </a:solidFill>
                <a:latin typeface="Calibri"/>
              </a:rPr>
              <a:t>against 'Specialty Extracted</a:t>
            </a:r>
          </a:p>
        </p:txBody>
      </p:sp>
      <p:sp>
        <p:nvSpPr>
          <p:cNvPr id="91" name="TextBox 90"/>
          <p:cNvSpPr txBox="1"/>
          <p:nvPr/>
        </p:nvSpPr>
        <p:spPr>
          <a:xfrm>
            <a:off x="5038725" y="4132000"/>
            <a:ext cx="1220812" cy="186689"/>
          </a:xfrm>
          <a:prstGeom prst="rect">
            <a:avLst/>
          </a:prstGeom>
          <a:noFill/>
        </p:spPr>
        <p:txBody>
          <a:bodyPr wrap="none" lIns="0" rIns="0" tIns="0" bIns="0">
            <a:spAutoFit/>
          </a:bodyPr>
          <a:lstStyle/>
          <a:p>
            <a:r>
              <a:rPr sz="1100" b="0">
                <a:solidFill>
                  <a:srgbClr val="2E2E2E"/>
                </a:solidFill>
                <a:latin typeface="Calibri"/>
              </a:rPr>
              <a:t>Protein Fractions' at</a:t>
            </a:r>
          </a:p>
        </p:txBody>
      </p:sp>
      <p:pic>
        <p:nvPicPr>
          <p:cNvPr id="92" name="Picture 91" descr="lock.png"/>
          <p:cNvPicPr>
            <a:picLocks noChangeAspect="1"/>
          </p:cNvPicPr>
          <p:nvPr/>
        </p:nvPicPr>
        <p:blipFill>
          <a:blip r:embed="rId4"/>
          <a:stretch>
            <a:fillRect/>
          </a:stretch>
        </p:blipFill>
        <p:spPr>
          <a:xfrm>
            <a:off x="6207588" y="4122221"/>
            <a:ext cx="128699" cy="187198"/>
          </a:xfrm>
          <a:prstGeom prst="rect">
            <a:avLst/>
          </a:prstGeom>
        </p:spPr>
      </p:pic>
      <p:sp>
        <p:nvSpPr>
          <p:cNvPr id="93" name="TextBox 92"/>
          <p:cNvSpPr txBox="1"/>
          <p:nvPr/>
        </p:nvSpPr>
        <p:spPr>
          <a:xfrm>
            <a:off x="6375084" y="4132000"/>
            <a:ext cx="111397" cy="186689"/>
          </a:xfrm>
          <a:prstGeom prst="rect">
            <a:avLst/>
          </a:prstGeom>
          <a:noFill/>
        </p:spPr>
        <p:txBody>
          <a:bodyPr wrap="none" lIns="0" rIns="0" tIns="0" bIns="0">
            <a:spAutoFit/>
          </a:bodyPr>
          <a:lstStyle/>
          <a:p>
            <a:r>
              <a:rPr sz="1100" b="0">
                <a:solidFill>
                  <a:srgbClr val="2E2E2E"/>
                </a:solidFill>
                <a:latin typeface="Calibri"/>
              </a:rPr>
              <a:t>.</a:t>
            </a:r>
          </a:p>
        </p:txBody>
      </p:sp>
      <p:sp>
        <p:nvSpPr>
          <p:cNvPr id="94" name="TextBox 93"/>
          <p:cNvSpPr txBox="1"/>
          <p:nvPr/>
        </p:nvSpPr>
        <p:spPr>
          <a:xfrm>
            <a:off x="5038725" y="4584514"/>
            <a:ext cx="2114550" cy="186689"/>
          </a:xfrm>
          <a:prstGeom prst="rect">
            <a:avLst/>
          </a:prstGeom>
          <a:noFill/>
        </p:spPr>
        <p:txBody>
          <a:bodyPr wrap="none" lIns="0" rIns="0" tIns="0" bIns="0">
            <a:spAutoFit/>
          </a:bodyPr>
          <a:lstStyle/>
          <a:p>
            <a:r>
              <a:rPr sz="1100" b="0">
                <a:solidFill>
                  <a:srgbClr val="2E2E2E"/>
                </a:solidFill>
                <a:latin typeface="Calibri"/>
              </a:rPr>
              <a:t>▸ 3 of 6 regions grow at or above the</a:t>
            </a:r>
          </a:p>
        </p:txBody>
      </p:sp>
      <p:pic>
        <p:nvPicPr>
          <p:cNvPr id="95" name="Picture 94" descr="lock.png"/>
          <p:cNvPicPr>
            <a:picLocks noChangeAspect="1"/>
          </p:cNvPicPr>
          <p:nvPr/>
        </p:nvPicPr>
        <p:blipFill>
          <a:blip r:embed="rId4"/>
          <a:stretch>
            <a:fillRect/>
          </a:stretch>
        </p:blipFill>
        <p:spPr>
          <a:xfrm>
            <a:off x="5025257" y="4742375"/>
            <a:ext cx="128699" cy="187198"/>
          </a:xfrm>
          <a:prstGeom prst="rect">
            <a:avLst/>
          </a:prstGeom>
        </p:spPr>
      </p:pic>
      <p:sp>
        <p:nvSpPr>
          <p:cNvPr id="96" name="TextBox 95"/>
          <p:cNvSpPr txBox="1"/>
          <p:nvPr/>
        </p:nvSpPr>
        <p:spPr>
          <a:xfrm>
            <a:off x="5192753" y="4752154"/>
            <a:ext cx="1643186" cy="186689"/>
          </a:xfrm>
          <a:prstGeom prst="rect">
            <a:avLst/>
          </a:prstGeom>
          <a:noFill/>
        </p:spPr>
        <p:txBody>
          <a:bodyPr wrap="none" lIns="0" rIns="0" tIns="0" bIns="0">
            <a:spAutoFit/>
          </a:bodyPr>
          <a:lstStyle/>
          <a:p>
            <a:r>
              <a:rPr sz="1100" b="0">
                <a:solidFill>
                  <a:srgbClr val="2E2E2E"/>
                </a:solidFill>
                <a:latin typeface="Calibri"/>
              </a:rPr>
              <a:t>market pace, keeping share</a:t>
            </a:r>
          </a:p>
        </p:txBody>
      </p:sp>
      <p:sp>
        <p:nvSpPr>
          <p:cNvPr id="97" name="TextBox 96"/>
          <p:cNvSpPr txBox="1"/>
          <p:nvPr/>
        </p:nvSpPr>
        <p:spPr>
          <a:xfrm>
            <a:off x="5038725" y="4919794"/>
            <a:ext cx="678656" cy="186689"/>
          </a:xfrm>
          <a:prstGeom prst="rect">
            <a:avLst/>
          </a:prstGeom>
          <a:noFill/>
        </p:spPr>
        <p:txBody>
          <a:bodyPr wrap="none" lIns="0" rIns="0" tIns="0" bIns="0">
            <a:spAutoFit/>
          </a:bodyPr>
          <a:lstStyle/>
          <a:p>
            <a:r>
              <a:rPr sz="1100" b="0">
                <a:solidFill>
                  <a:srgbClr val="2E2E2E"/>
                </a:solidFill>
                <a:latin typeface="Calibri"/>
              </a:rPr>
              <a:t>contested.</a:t>
            </a:r>
          </a:p>
        </p:txBody>
      </p:sp>
      <p:sp>
        <p:nvSpPr>
          <p:cNvPr id="98" name="TextBox 97"/>
          <p:cNvSpPr txBox="1"/>
          <p:nvPr/>
        </p:nvSpPr>
        <p:spPr>
          <a:xfrm>
            <a:off x="7419975" y="2964026"/>
            <a:ext cx="1746324" cy="186689"/>
          </a:xfrm>
          <a:prstGeom prst="rect">
            <a:avLst/>
          </a:prstGeom>
          <a:noFill/>
        </p:spPr>
        <p:txBody>
          <a:bodyPr wrap="none" lIns="0" rIns="0" tIns="0" bIns="0">
            <a:spAutoFit/>
          </a:bodyPr>
          <a:lstStyle/>
          <a:p>
            <a:r>
              <a:rPr sz="1100" b="0">
                <a:solidFill>
                  <a:srgbClr val="2E2E2E"/>
                </a:solidFill>
                <a:latin typeface="Calibri"/>
              </a:rPr>
              <a:t>▸ Assessed moderate to high.</a:t>
            </a:r>
          </a:p>
        </p:txBody>
      </p:sp>
      <p:sp>
        <p:nvSpPr>
          <p:cNvPr id="99" name="TextBox 98"/>
          <p:cNvSpPr txBox="1"/>
          <p:nvPr/>
        </p:nvSpPr>
        <p:spPr>
          <a:xfrm>
            <a:off x="7419975" y="3131666"/>
            <a:ext cx="1635546" cy="186689"/>
          </a:xfrm>
          <a:prstGeom prst="rect">
            <a:avLst/>
          </a:prstGeom>
          <a:noFill/>
        </p:spPr>
        <p:txBody>
          <a:bodyPr wrap="none" lIns="0" rIns="0" tIns="0" bIns="0">
            <a:spAutoFit/>
          </a:bodyPr>
          <a:lstStyle/>
          <a:p>
            <a:r>
              <a:rPr sz="1100" b="0">
                <a:solidFill>
                  <a:srgbClr val="2E2E2E"/>
                </a:solidFill>
                <a:latin typeface="Calibri"/>
              </a:rPr>
              <a:t>'Specialty Extracted Protein</a:t>
            </a:r>
          </a:p>
        </p:txBody>
      </p:sp>
      <p:sp>
        <p:nvSpPr>
          <p:cNvPr id="100" name="TextBox 99"/>
          <p:cNvSpPr txBox="1"/>
          <p:nvPr/>
        </p:nvSpPr>
        <p:spPr>
          <a:xfrm>
            <a:off x="7419975" y="3299306"/>
            <a:ext cx="943049" cy="186689"/>
          </a:xfrm>
          <a:prstGeom prst="rect">
            <a:avLst/>
          </a:prstGeom>
          <a:noFill/>
        </p:spPr>
        <p:txBody>
          <a:bodyPr wrap="none" lIns="0" rIns="0" tIns="0" bIns="0">
            <a:spAutoFit/>
          </a:bodyPr>
          <a:lstStyle/>
          <a:p>
            <a:r>
              <a:rPr sz="1100" b="0">
                <a:solidFill>
                  <a:srgbClr val="2E2E2E"/>
                </a:solidFill>
                <a:latin typeface="Calibri"/>
              </a:rPr>
              <a:t>Fractions' loses</a:t>
            </a:r>
          </a:p>
        </p:txBody>
      </p:sp>
      <p:pic>
        <p:nvPicPr>
          <p:cNvPr id="101" name="Picture 100" descr="lock.png"/>
          <p:cNvPicPr>
            <a:picLocks noChangeAspect="1"/>
          </p:cNvPicPr>
          <p:nvPr/>
        </p:nvPicPr>
        <p:blipFill>
          <a:blip r:embed="rId4"/>
          <a:stretch>
            <a:fillRect/>
          </a:stretch>
        </p:blipFill>
        <p:spPr>
          <a:xfrm>
            <a:off x="8311076" y="3289527"/>
            <a:ext cx="128699" cy="187198"/>
          </a:xfrm>
          <a:prstGeom prst="rect">
            <a:avLst/>
          </a:prstGeom>
        </p:spPr>
      </p:pic>
      <p:sp>
        <p:nvSpPr>
          <p:cNvPr id="102" name="TextBox 101"/>
          <p:cNvSpPr txBox="1"/>
          <p:nvPr/>
        </p:nvSpPr>
        <p:spPr>
          <a:xfrm>
            <a:off x="8478571" y="3299306"/>
            <a:ext cx="933772" cy="186689"/>
          </a:xfrm>
          <a:prstGeom prst="rect">
            <a:avLst/>
          </a:prstGeom>
          <a:noFill/>
        </p:spPr>
        <p:txBody>
          <a:bodyPr wrap="none" lIns="0" rIns="0" tIns="0" bIns="0">
            <a:spAutoFit/>
          </a:bodyPr>
          <a:lstStyle/>
          <a:p>
            <a:r>
              <a:rPr sz="1100" b="0">
                <a:solidFill>
                  <a:srgbClr val="2E2E2E"/>
                </a:solidFill>
                <a:latin typeface="Calibri"/>
              </a:rPr>
              <a:t>BPS of share to</a:t>
            </a:r>
          </a:p>
        </p:txBody>
      </p:sp>
      <p:sp>
        <p:nvSpPr>
          <p:cNvPr id="103" name="TextBox 102"/>
          <p:cNvSpPr txBox="1"/>
          <p:nvPr/>
        </p:nvSpPr>
        <p:spPr>
          <a:xfrm>
            <a:off x="7419975" y="3466946"/>
            <a:ext cx="1932682" cy="186689"/>
          </a:xfrm>
          <a:prstGeom prst="rect">
            <a:avLst/>
          </a:prstGeom>
          <a:noFill/>
        </p:spPr>
        <p:txBody>
          <a:bodyPr wrap="none" lIns="0" rIns="0" tIns="0" bIns="0">
            <a:spAutoFit/>
          </a:bodyPr>
          <a:lstStyle/>
          <a:p>
            <a:r>
              <a:rPr sz="1100" b="0">
                <a:solidFill>
                  <a:srgbClr val="2E2E2E"/>
                </a:solidFill>
                <a:latin typeface="Calibri"/>
              </a:rPr>
              <a:t>'Micronized Eggshell Membrane'</a:t>
            </a:r>
          </a:p>
        </p:txBody>
      </p:sp>
      <p:sp>
        <p:nvSpPr>
          <p:cNvPr id="104" name="TextBox 103"/>
          <p:cNvSpPr txBox="1"/>
          <p:nvPr/>
        </p:nvSpPr>
        <p:spPr>
          <a:xfrm>
            <a:off x="7419975" y="3634586"/>
            <a:ext cx="188069" cy="186689"/>
          </a:xfrm>
          <a:prstGeom prst="rect">
            <a:avLst/>
          </a:prstGeom>
          <a:noFill/>
        </p:spPr>
        <p:txBody>
          <a:bodyPr wrap="none" lIns="0" rIns="0" tIns="0" bIns="0">
            <a:spAutoFit/>
          </a:bodyPr>
          <a:lstStyle/>
          <a:p>
            <a:r>
              <a:rPr sz="1100" b="0">
                <a:solidFill>
                  <a:srgbClr val="2E2E2E"/>
                </a:solidFill>
                <a:latin typeface="Calibri"/>
              </a:rPr>
              <a:t>(+</a:t>
            </a:r>
          </a:p>
        </p:txBody>
      </p:sp>
      <p:pic>
        <p:nvPicPr>
          <p:cNvPr id="105" name="Picture 104" descr="lock.png"/>
          <p:cNvPicPr>
            <a:picLocks noChangeAspect="1"/>
          </p:cNvPicPr>
          <p:nvPr/>
        </p:nvPicPr>
        <p:blipFill>
          <a:blip r:embed="rId4"/>
          <a:stretch>
            <a:fillRect/>
          </a:stretch>
        </p:blipFill>
        <p:spPr>
          <a:xfrm>
            <a:off x="7556095" y="3624807"/>
            <a:ext cx="128699" cy="187198"/>
          </a:xfrm>
          <a:prstGeom prst="rect">
            <a:avLst/>
          </a:prstGeom>
        </p:spPr>
      </p:pic>
      <p:sp>
        <p:nvSpPr>
          <p:cNvPr id="106" name="TextBox 105"/>
          <p:cNvSpPr txBox="1"/>
          <p:nvPr/>
        </p:nvSpPr>
        <p:spPr>
          <a:xfrm>
            <a:off x="7723591" y="3634586"/>
            <a:ext cx="1646460" cy="186689"/>
          </a:xfrm>
          <a:prstGeom prst="rect">
            <a:avLst/>
          </a:prstGeom>
          <a:noFill/>
        </p:spPr>
        <p:txBody>
          <a:bodyPr wrap="none" lIns="0" rIns="0" tIns="0" bIns="0">
            <a:spAutoFit/>
          </a:bodyPr>
          <a:lstStyle/>
          <a:p>
            <a:r>
              <a:rPr sz="1100" b="0">
                <a:solidFill>
                  <a:srgbClr val="2E2E2E"/>
                </a:solidFill>
                <a:latin typeface="Calibri"/>
              </a:rPr>
              <a:t>BPS) by 2036 substitution is</a:t>
            </a:r>
          </a:p>
        </p:txBody>
      </p:sp>
      <p:sp>
        <p:nvSpPr>
          <p:cNvPr id="107" name="TextBox 106"/>
          <p:cNvSpPr txBox="1"/>
          <p:nvPr/>
        </p:nvSpPr>
        <p:spPr>
          <a:xfrm>
            <a:off x="7419975" y="3802226"/>
            <a:ext cx="1293117" cy="186689"/>
          </a:xfrm>
          <a:prstGeom prst="rect">
            <a:avLst/>
          </a:prstGeom>
          <a:noFill/>
        </p:spPr>
        <p:txBody>
          <a:bodyPr wrap="none" lIns="0" rIns="0" tIns="0" bIns="0">
            <a:spAutoFit/>
          </a:bodyPr>
          <a:lstStyle/>
          <a:p>
            <a:r>
              <a:rPr sz="1100" b="0">
                <a:solidFill>
                  <a:srgbClr val="2E2E2E"/>
                </a:solidFill>
                <a:latin typeface="Calibri"/>
              </a:rPr>
              <a:t>visible inside the mix.</a:t>
            </a:r>
          </a:p>
        </p:txBody>
      </p:sp>
      <p:sp>
        <p:nvSpPr>
          <p:cNvPr id="108" name="TextBox 107"/>
          <p:cNvSpPr txBox="1"/>
          <p:nvPr/>
        </p:nvSpPr>
        <p:spPr>
          <a:xfrm>
            <a:off x="7419975" y="4268895"/>
            <a:ext cx="1550384" cy="179984"/>
          </a:xfrm>
          <a:prstGeom prst="rect">
            <a:avLst/>
          </a:prstGeom>
          <a:noFill/>
        </p:spPr>
        <p:txBody>
          <a:bodyPr wrap="none" lIns="0" rIns="0" tIns="0" bIns="0">
            <a:spAutoFit/>
          </a:bodyPr>
          <a:lstStyle/>
          <a:p>
            <a:r>
              <a:rPr sz="1055" b="0">
                <a:solidFill>
                  <a:srgbClr val="2E2E2E"/>
                </a:solidFill>
                <a:latin typeface="Calibri"/>
              </a:rPr>
              <a:t>▸ The slowest line grows at</a:t>
            </a:r>
          </a:p>
        </p:txBody>
      </p:sp>
      <p:pic>
        <p:nvPicPr>
          <p:cNvPr id="109" name="Picture 108" descr="lock.png"/>
          <p:cNvPicPr>
            <a:picLocks noChangeAspect="1"/>
          </p:cNvPicPr>
          <p:nvPr/>
        </p:nvPicPr>
        <p:blipFill>
          <a:blip r:embed="rId4"/>
          <a:stretch>
            <a:fillRect/>
          </a:stretch>
        </p:blipFill>
        <p:spPr>
          <a:xfrm>
            <a:off x="8917440" y="4259507"/>
            <a:ext cx="123551" cy="179710"/>
          </a:xfrm>
          <a:prstGeom prst="rect">
            <a:avLst/>
          </a:prstGeom>
        </p:spPr>
      </p:pic>
      <p:sp>
        <p:nvSpPr>
          <p:cNvPr id="110" name="TextBox 109"/>
          <p:cNvSpPr txBox="1"/>
          <p:nvPr/>
        </p:nvSpPr>
        <p:spPr>
          <a:xfrm>
            <a:off x="9078236" y="4268895"/>
            <a:ext cx="181236" cy="179984"/>
          </a:xfrm>
          <a:prstGeom prst="rect">
            <a:avLst/>
          </a:prstGeom>
          <a:noFill/>
        </p:spPr>
        <p:txBody>
          <a:bodyPr wrap="none" lIns="0" rIns="0" tIns="0" bIns="0">
            <a:spAutoFit/>
          </a:bodyPr>
          <a:lstStyle/>
          <a:p>
            <a:r>
              <a:rPr sz="1055" b="0">
                <a:solidFill>
                  <a:srgbClr val="2E2E2E"/>
                </a:solidFill>
                <a:latin typeface="Calibri"/>
              </a:rPr>
              <a:t>, -</a:t>
            </a:r>
          </a:p>
        </p:txBody>
      </p:sp>
      <p:pic>
        <p:nvPicPr>
          <p:cNvPr id="111" name="Picture 110" descr="lock.png"/>
          <p:cNvPicPr>
            <a:picLocks noChangeAspect="1"/>
          </p:cNvPicPr>
          <p:nvPr/>
        </p:nvPicPr>
        <p:blipFill>
          <a:blip r:embed="rId4"/>
          <a:stretch>
            <a:fillRect/>
          </a:stretch>
        </p:blipFill>
        <p:spPr>
          <a:xfrm>
            <a:off x="9206555" y="4259507"/>
            <a:ext cx="123551" cy="179710"/>
          </a:xfrm>
          <a:prstGeom prst="rect">
            <a:avLst/>
          </a:prstGeom>
        </p:spPr>
      </p:pic>
      <p:sp>
        <p:nvSpPr>
          <p:cNvPr id="112" name="TextBox 111"/>
          <p:cNvSpPr txBox="1"/>
          <p:nvPr/>
        </p:nvSpPr>
        <p:spPr>
          <a:xfrm>
            <a:off x="7419975" y="4429829"/>
            <a:ext cx="1368861" cy="179984"/>
          </a:xfrm>
          <a:prstGeom prst="rect">
            <a:avLst/>
          </a:prstGeom>
          <a:noFill/>
        </p:spPr>
        <p:txBody>
          <a:bodyPr wrap="none" lIns="0" rIns="0" tIns="0" bIns="0">
            <a:spAutoFit/>
          </a:bodyPr>
          <a:lstStyle/>
          <a:p>
            <a:r>
              <a:rPr sz="1055" b="0">
                <a:solidFill>
                  <a:srgbClr val="2E2E2E"/>
                </a:solidFill>
                <a:latin typeface="Calibri"/>
              </a:rPr>
              <a:t>BPS against the market.</a:t>
            </a:r>
          </a:p>
        </p:txBody>
      </p:sp>
      <p:sp>
        <p:nvSpPr>
          <p:cNvPr id="113" name="TextBox 112"/>
          <p:cNvSpPr txBox="1"/>
          <p:nvPr/>
        </p:nvSpPr>
        <p:spPr>
          <a:xfrm>
            <a:off x="7419975" y="4767051"/>
            <a:ext cx="1254373" cy="186689"/>
          </a:xfrm>
          <a:prstGeom prst="rect">
            <a:avLst/>
          </a:prstGeom>
          <a:noFill/>
        </p:spPr>
        <p:txBody>
          <a:bodyPr wrap="none" lIns="0" rIns="0" tIns="0" bIns="0">
            <a:spAutoFit/>
          </a:bodyPr>
          <a:lstStyle/>
          <a:p>
            <a:r>
              <a:rPr sz="1100" b="0">
                <a:solidFill>
                  <a:srgbClr val="2E2E2E"/>
                </a:solidFill>
                <a:latin typeface="Calibri"/>
              </a:rPr>
              <a:t>▸ Realisation moving</a:t>
            </a:r>
          </a:p>
        </p:txBody>
      </p:sp>
      <p:pic>
        <p:nvPicPr>
          <p:cNvPr id="114" name="Picture 113" descr="lock.png"/>
          <p:cNvPicPr>
            <a:picLocks noChangeAspect="1"/>
          </p:cNvPicPr>
          <p:nvPr/>
        </p:nvPicPr>
        <p:blipFill>
          <a:blip r:embed="rId4"/>
          <a:stretch>
            <a:fillRect/>
          </a:stretch>
        </p:blipFill>
        <p:spPr>
          <a:xfrm>
            <a:off x="8622399" y="4757272"/>
            <a:ext cx="128699" cy="187198"/>
          </a:xfrm>
          <a:prstGeom prst="rect">
            <a:avLst/>
          </a:prstGeom>
        </p:spPr>
      </p:pic>
      <p:sp>
        <p:nvSpPr>
          <p:cNvPr id="115" name="TextBox 114"/>
          <p:cNvSpPr txBox="1"/>
          <p:nvPr/>
        </p:nvSpPr>
        <p:spPr>
          <a:xfrm>
            <a:off x="8789895" y="4767051"/>
            <a:ext cx="423267" cy="186689"/>
          </a:xfrm>
          <a:prstGeom prst="rect">
            <a:avLst/>
          </a:prstGeom>
          <a:noFill/>
        </p:spPr>
        <p:txBody>
          <a:bodyPr wrap="none" lIns="0" rIns="0" tIns="0" bIns="0">
            <a:spAutoFit/>
          </a:bodyPr>
          <a:lstStyle/>
          <a:p>
            <a:r>
              <a:rPr sz="1100" b="0">
                <a:solidFill>
                  <a:srgbClr val="2E2E2E"/>
                </a:solidFill>
                <a:latin typeface="Calibri"/>
              </a:rPr>
              <a:t>a year</a:t>
            </a:r>
          </a:p>
        </p:txBody>
      </p:sp>
      <p:sp>
        <p:nvSpPr>
          <p:cNvPr id="116" name="TextBox 115"/>
          <p:cNvSpPr txBox="1"/>
          <p:nvPr/>
        </p:nvSpPr>
        <p:spPr>
          <a:xfrm>
            <a:off x="7419975" y="4934691"/>
            <a:ext cx="1911399" cy="186689"/>
          </a:xfrm>
          <a:prstGeom prst="rect">
            <a:avLst/>
          </a:prstGeom>
          <a:noFill/>
        </p:spPr>
        <p:txBody>
          <a:bodyPr wrap="none" lIns="0" rIns="0" tIns="0" bIns="0">
            <a:spAutoFit/>
          </a:bodyPr>
          <a:lstStyle/>
          <a:p>
            <a:r>
              <a:rPr sz="1100" b="0">
                <a:solidFill>
                  <a:srgbClr val="2E2E2E"/>
                </a:solidFill>
                <a:latin typeface="Calibri"/>
              </a:rPr>
              <a:t>widens the price gap substitutes</a:t>
            </a:r>
          </a:p>
        </p:txBody>
      </p:sp>
      <p:sp>
        <p:nvSpPr>
          <p:cNvPr id="117" name="TextBox 116"/>
          <p:cNvSpPr txBox="1"/>
          <p:nvPr/>
        </p:nvSpPr>
        <p:spPr>
          <a:xfrm>
            <a:off x="7419975" y="5102331"/>
            <a:ext cx="718765" cy="186689"/>
          </a:xfrm>
          <a:prstGeom prst="rect">
            <a:avLst/>
          </a:prstGeom>
          <a:noFill/>
        </p:spPr>
        <p:txBody>
          <a:bodyPr wrap="none" lIns="0" rIns="0" tIns="0" bIns="0">
            <a:spAutoFit/>
          </a:bodyPr>
          <a:lstStyle/>
          <a:p>
            <a:r>
              <a:rPr sz="1100" b="0">
                <a:solidFill>
                  <a:srgbClr val="2E2E2E"/>
                </a:solidFill>
                <a:latin typeface="Calibri"/>
              </a:rPr>
              <a:t>must close.</a:t>
            </a:r>
          </a:p>
        </p:txBody>
      </p:sp>
      <p:sp>
        <p:nvSpPr>
          <p:cNvPr id="118" name="TextBox 117"/>
          <p:cNvSpPr txBox="1"/>
          <p:nvPr/>
        </p:nvSpPr>
        <p:spPr>
          <a:xfrm>
            <a:off x="9801225" y="2848734"/>
            <a:ext cx="1989162" cy="186689"/>
          </a:xfrm>
          <a:prstGeom prst="rect">
            <a:avLst/>
          </a:prstGeom>
          <a:noFill/>
        </p:spPr>
        <p:txBody>
          <a:bodyPr wrap="none" lIns="0" rIns="0" tIns="0" bIns="0">
            <a:spAutoFit/>
          </a:bodyPr>
          <a:lstStyle/>
          <a:p>
            <a:r>
              <a:rPr sz="1100" b="0">
                <a:solidFill>
                  <a:srgbClr val="2E2E2E"/>
                </a:solidFill>
                <a:latin typeface="Calibri"/>
              </a:rPr>
              <a:t>▸ Assessed moderate to high. The</a:t>
            </a:r>
          </a:p>
        </p:txBody>
      </p:sp>
      <p:sp>
        <p:nvSpPr>
          <p:cNvPr id="119" name="TextBox 118"/>
          <p:cNvSpPr txBox="1"/>
          <p:nvPr/>
        </p:nvSpPr>
        <p:spPr>
          <a:xfrm>
            <a:off x="9801225" y="3016374"/>
            <a:ext cx="1003349" cy="186689"/>
          </a:xfrm>
          <a:prstGeom prst="rect">
            <a:avLst/>
          </a:prstGeom>
          <a:noFill/>
        </p:spPr>
        <p:txBody>
          <a:bodyPr wrap="none" lIns="0" rIns="0" tIns="0" bIns="0">
            <a:spAutoFit/>
          </a:bodyPr>
          <a:lstStyle/>
          <a:p>
            <a:r>
              <a:rPr sz="1100" b="0">
                <a:solidFill>
                  <a:srgbClr val="2E2E2E"/>
                </a:solidFill>
                <a:latin typeface="Calibri"/>
              </a:rPr>
              <a:t>market grows at</a:t>
            </a:r>
          </a:p>
        </p:txBody>
      </p:sp>
      <p:pic>
        <p:nvPicPr>
          <p:cNvPr id="120" name="Picture 119" descr="lock.png"/>
          <p:cNvPicPr>
            <a:picLocks noChangeAspect="1"/>
          </p:cNvPicPr>
          <p:nvPr/>
        </p:nvPicPr>
        <p:blipFill>
          <a:blip r:embed="rId4"/>
          <a:stretch>
            <a:fillRect/>
          </a:stretch>
        </p:blipFill>
        <p:spPr>
          <a:xfrm>
            <a:off x="10752626" y="3006595"/>
            <a:ext cx="128699" cy="187198"/>
          </a:xfrm>
          <a:prstGeom prst="rect">
            <a:avLst/>
          </a:prstGeom>
        </p:spPr>
      </p:pic>
      <p:sp>
        <p:nvSpPr>
          <p:cNvPr id="121" name="TextBox 120"/>
          <p:cNvSpPr txBox="1"/>
          <p:nvPr/>
        </p:nvSpPr>
        <p:spPr>
          <a:xfrm>
            <a:off x="10920122" y="3016374"/>
            <a:ext cx="940576" cy="186689"/>
          </a:xfrm>
          <a:prstGeom prst="rect">
            <a:avLst/>
          </a:prstGeom>
          <a:noFill/>
        </p:spPr>
        <p:txBody>
          <a:bodyPr wrap="none" lIns="0" rIns="0" tIns="0" bIns="0">
            <a:spAutoFit/>
          </a:bodyPr>
          <a:lstStyle/>
          <a:p>
            <a:r>
              <a:rPr sz="1100" b="0">
                <a:solidFill>
                  <a:srgbClr val="2E2E2E"/>
                </a:solidFill>
                <a:latin typeface="Calibri"/>
              </a:rPr>
              <a:t>CAGR and adds</a:t>
            </a:r>
          </a:p>
        </p:txBody>
      </p:sp>
      <p:pic>
        <p:nvPicPr>
          <p:cNvPr id="122" name="Picture 121" descr="lock.png"/>
          <p:cNvPicPr>
            <a:picLocks noChangeAspect="1"/>
          </p:cNvPicPr>
          <p:nvPr/>
        </p:nvPicPr>
        <p:blipFill>
          <a:blip r:embed="rId4"/>
          <a:stretch>
            <a:fillRect/>
          </a:stretch>
        </p:blipFill>
        <p:spPr>
          <a:xfrm>
            <a:off x="9787757" y="3174235"/>
            <a:ext cx="128699" cy="187198"/>
          </a:xfrm>
          <a:prstGeom prst="rect">
            <a:avLst/>
          </a:prstGeom>
        </p:spPr>
      </p:pic>
      <p:sp>
        <p:nvSpPr>
          <p:cNvPr id="123" name="TextBox 122"/>
          <p:cNvSpPr txBox="1"/>
          <p:nvPr/>
        </p:nvSpPr>
        <p:spPr>
          <a:xfrm>
            <a:off x="9955253" y="3184014"/>
            <a:ext cx="1629816" cy="186689"/>
          </a:xfrm>
          <a:prstGeom prst="rect">
            <a:avLst/>
          </a:prstGeom>
          <a:noFill/>
        </p:spPr>
        <p:txBody>
          <a:bodyPr wrap="none" lIns="0" rIns="0" tIns="0" bIns="0">
            <a:spAutoFit/>
          </a:bodyPr>
          <a:lstStyle/>
          <a:p>
            <a:r>
              <a:rPr sz="1100" b="0">
                <a:solidFill>
                  <a:srgbClr val="2E2E2E"/>
                </a:solidFill>
                <a:latin typeface="Calibri"/>
              </a:rPr>
              <a:t>US$ Mn by 2036, attracting</a:t>
            </a:r>
          </a:p>
        </p:txBody>
      </p:sp>
      <p:sp>
        <p:nvSpPr>
          <p:cNvPr id="124" name="TextBox 123"/>
          <p:cNvSpPr txBox="1"/>
          <p:nvPr/>
        </p:nvSpPr>
        <p:spPr>
          <a:xfrm>
            <a:off x="9801225" y="3351654"/>
            <a:ext cx="413444" cy="186689"/>
          </a:xfrm>
          <a:prstGeom prst="rect">
            <a:avLst/>
          </a:prstGeom>
          <a:noFill/>
        </p:spPr>
        <p:txBody>
          <a:bodyPr wrap="none" lIns="0" rIns="0" tIns="0" bIns="0">
            <a:spAutoFit/>
          </a:bodyPr>
          <a:lstStyle/>
          <a:p>
            <a:r>
              <a:rPr sz="1100" b="0">
                <a:solidFill>
                  <a:srgbClr val="2E2E2E"/>
                </a:solidFill>
                <a:latin typeface="Calibri"/>
              </a:rPr>
              <a:t>entry.</a:t>
            </a:r>
          </a:p>
        </p:txBody>
      </p:sp>
      <p:sp>
        <p:nvSpPr>
          <p:cNvPr id="125" name="TextBox 124"/>
          <p:cNvSpPr txBox="1"/>
          <p:nvPr/>
        </p:nvSpPr>
        <p:spPr>
          <a:xfrm>
            <a:off x="9801225" y="3708336"/>
            <a:ext cx="1971426" cy="186689"/>
          </a:xfrm>
          <a:prstGeom prst="rect">
            <a:avLst/>
          </a:prstGeom>
          <a:noFill/>
        </p:spPr>
        <p:txBody>
          <a:bodyPr wrap="none" lIns="0" rIns="0" tIns="0" bIns="0">
            <a:spAutoFit/>
          </a:bodyPr>
          <a:lstStyle/>
          <a:p>
            <a:r>
              <a:rPr sz="1100" b="0">
                <a:solidFill>
                  <a:srgbClr val="2E2E2E"/>
                </a:solidFill>
                <a:latin typeface="Calibri"/>
              </a:rPr>
              <a:t>▸ Demand spreads over 6 regions</a:t>
            </a:r>
          </a:p>
        </p:txBody>
      </p:sp>
      <p:sp>
        <p:nvSpPr>
          <p:cNvPr id="126" name="TextBox 125"/>
          <p:cNvSpPr txBox="1"/>
          <p:nvPr/>
        </p:nvSpPr>
        <p:spPr>
          <a:xfrm>
            <a:off x="9801225" y="3875976"/>
            <a:ext cx="1493118" cy="186689"/>
          </a:xfrm>
          <a:prstGeom prst="rect">
            <a:avLst/>
          </a:prstGeom>
          <a:noFill/>
        </p:spPr>
        <p:txBody>
          <a:bodyPr wrap="none" lIns="0" rIns="0" tIns="0" bIns="0">
            <a:spAutoFit/>
          </a:bodyPr>
          <a:lstStyle/>
          <a:p>
            <a:r>
              <a:rPr sz="1100" b="0">
                <a:solidFill>
                  <a:srgbClr val="2E2E2E"/>
                </a:solidFill>
                <a:latin typeface="Calibri"/>
              </a:rPr>
              <a:t>with no single one above</a:t>
            </a:r>
          </a:p>
        </p:txBody>
      </p:sp>
      <p:pic>
        <p:nvPicPr>
          <p:cNvPr id="127" name="Picture 126" descr="lock.png"/>
          <p:cNvPicPr>
            <a:picLocks noChangeAspect="1"/>
          </p:cNvPicPr>
          <p:nvPr/>
        </p:nvPicPr>
        <p:blipFill>
          <a:blip r:embed="rId4"/>
          <a:stretch>
            <a:fillRect/>
          </a:stretch>
        </p:blipFill>
        <p:spPr>
          <a:xfrm>
            <a:off x="11242394" y="3866197"/>
            <a:ext cx="128699" cy="187198"/>
          </a:xfrm>
          <a:prstGeom prst="rect">
            <a:avLst/>
          </a:prstGeom>
        </p:spPr>
      </p:pic>
      <p:sp>
        <p:nvSpPr>
          <p:cNvPr id="128" name="TextBox 127"/>
          <p:cNvSpPr txBox="1"/>
          <p:nvPr/>
        </p:nvSpPr>
        <p:spPr>
          <a:xfrm>
            <a:off x="11409890" y="3875976"/>
            <a:ext cx="271016" cy="186689"/>
          </a:xfrm>
          <a:prstGeom prst="rect">
            <a:avLst/>
          </a:prstGeom>
          <a:noFill/>
        </p:spPr>
        <p:txBody>
          <a:bodyPr wrap="none" lIns="0" rIns="0" tIns="0" bIns="0">
            <a:spAutoFit/>
          </a:bodyPr>
          <a:lstStyle/>
          <a:p>
            <a:r>
              <a:rPr sz="1100" b="0">
                <a:solidFill>
                  <a:srgbClr val="2E2E2E"/>
                </a:solidFill>
                <a:latin typeface="Calibri"/>
              </a:rPr>
              <a:t>, so</a:t>
            </a:r>
          </a:p>
        </p:txBody>
      </p:sp>
      <p:sp>
        <p:nvSpPr>
          <p:cNvPr id="129" name="TextBox 128"/>
          <p:cNvSpPr txBox="1"/>
          <p:nvPr/>
        </p:nvSpPr>
        <p:spPr>
          <a:xfrm>
            <a:off x="9801225" y="4043616"/>
            <a:ext cx="1498575" cy="186689"/>
          </a:xfrm>
          <a:prstGeom prst="rect">
            <a:avLst/>
          </a:prstGeom>
          <a:noFill/>
        </p:spPr>
        <p:txBody>
          <a:bodyPr wrap="none" lIns="0" rIns="0" tIns="0" bIns="0">
            <a:spAutoFit/>
          </a:bodyPr>
          <a:lstStyle/>
          <a:p>
            <a:r>
              <a:rPr sz="1100" b="0">
                <a:solidFill>
                  <a:srgbClr val="2E2E2E"/>
                </a:solidFill>
                <a:latin typeface="Calibri"/>
              </a:rPr>
              <a:t>regional entry is feasible.</a:t>
            </a:r>
          </a:p>
        </p:txBody>
      </p:sp>
      <p:sp>
        <p:nvSpPr>
          <p:cNvPr id="130" name="TextBox 129"/>
          <p:cNvSpPr txBox="1"/>
          <p:nvPr/>
        </p:nvSpPr>
        <p:spPr>
          <a:xfrm>
            <a:off x="9801225" y="4496131"/>
            <a:ext cx="2114550" cy="186689"/>
          </a:xfrm>
          <a:prstGeom prst="rect">
            <a:avLst/>
          </a:prstGeom>
          <a:noFill/>
        </p:spPr>
        <p:txBody>
          <a:bodyPr wrap="none" lIns="0" rIns="0" tIns="0" bIns="0">
            <a:spAutoFit/>
          </a:bodyPr>
          <a:lstStyle/>
          <a:p>
            <a:r>
              <a:rPr sz="1100" b="0">
                <a:solidFill>
                  <a:srgbClr val="2E2E2E"/>
                </a:solidFill>
                <a:latin typeface="Calibri"/>
              </a:rPr>
              <a:t>▸ Incumbent scale in 'North America'</a:t>
            </a:r>
          </a:p>
        </p:txBody>
      </p:sp>
      <p:sp>
        <p:nvSpPr>
          <p:cNvPr id="131" name="TextBox 130"/>
          <p:cNvSpPr txBox="1"/>
          <p:nvPr/>
        </p:nvSpPr>
        <p:spPr>
          <a:xfrm>
            <a:off x="9801225" y="4663771"/>
            <a:ext cx="2114550" cy="186689"/>
          </a:xfrm>
          <a:prstGeom prst="rect">
            <a:avLst/>
          </a:prstGeom>
          <a:noFill/>
        </p:spPr>
        <p:txBody>
          <a:bodyPr wrap="none" lIns="0" rIns="0" tIns="0" bIns="0">
            <a:spAutoFit/>
          </a:bodyPr>
          <a:lstStyle/>
          <a:p>
            <a:r>
              <a:rPr sz="1100" b="0">
                <a:solidFill>
                  <a:srgbClr val="2E2E2E"/>
                </a:solidFill>
                <a:latin typeface="Calibri"/>
              </a:rPr>
              <a:t>and 'Micronized Eggshell Membrane'</a:t>
            </a:r>
          </a:p>
        </p:txBody>
      </p:sp>
      <p:sp>
        <p:nvSpPr>
          <p:cNvPr id="132" name="TextBox 131"/>
          <p:cNvSpPr txBox="1"/>
          <p:nvPr/>
        </p:nvSpPr>
        <p:spPr>
          <a:xfrm>
            <a:off x="9801225" y="4831411"/>
            <a:ext cx="118491" cy="186689"/>
          </a:xfrm>
          <a:prstGeom prst="rect">
            <a:avLst/>
          </a:prstGeom>
          <a:noFill/>
        </p:spPr>
        <p:txBody>
          <a:bodyPr wrap="none" lIns="0" rIns="0" tIns="0" bIns="0">
            <a:spAutoFit/>
          </a:bodyPr>
          <a:lstStyle/>
          <a:p>
            <a:r>
              <a:rPr sz="1100" b="0">
                <a:solidFill>
                  <a:srgbClr val="2E2E2E"/>
                </a:solidFill>
                <a:latin typeface="Calibri"/>
              </a:rPr>
              <a:t>(</a:t>
            </a:r>
          </a:p>
        </p:txBody>
      </p:sp>
      <p:pic>
        <p:nvPicPr>
          <p:cNvPr id="133" name="Picture 132" descr="lock.png"/>
          <p:cNvPicPr>
            <a:picLocks noChangeAspect="1"/>
          </p:cNvPicPr>
          <p:nvPr/>
        </p:nvPicPr>
        <p:blipFill>
          <a:blip r:embed="rId4"/>
          <a:stretch>
            <a:fillRect/>
          </a:stretch>
        </p:blipFill>
        <p:spPr>
          <a:xfrm>
            <a:off x="9867768" y="4821632"/>
            <a:ext cx="128699" cy="187198"/>
          </a:xfrm>
          <a:prstGeom prst="rect">
            <a:avLst/>
          </a:prstGeom>
        </p:spPr>
      </p:pic>
      <p:sp>
        <p:nvSpPr>
          <p:cNvPr id="134" name="TextBox 133"/>
          <p:cNvSpPr txBox="1"/>
          <p:nvPr/>
        </p:nvSpPr>
        <p:spPr>
          <a:xfrm>
            <a:off x="10035264" y="4831411"/>
            <a:ext cx="1468015" cy="186689"/>
          </a:xfrm>
          <a:prstGeom prst="rect">
            <a:avLst/>
          </a:prstGeom>
          <a:noFill/>
        </p:spPr>
        <p:txBody>
          <a:bodyPr wrap="none" lIns="0" rIns="0" tIns="0" bIns="0">
            <a:spAutoFit/>
          </a:bodyPr>
          <a:lstStyle/>
          <a:p>
            <a:r>
              <a:rPr sz="1100" b="0">
                <a:solidFill>
                  <a:srgbClr val="2E2E2E"/>
                </a:solidFill>
                <a:latin typeface="Calibri"/>
              </a:rPr>
              <a:t>of segment) remains the</a:t>
            </a:r>
          </a:p>
        </p:txBody>
      </p:sp>
      <p:sp>
        <p:nvSpPr>
          <p:cNvPr id="135" name="TextBox 134"/>
          <p:cNvSpPr txBox="1"/>
          <p:nvPr/>
        </p:nvSpPr>
        <p:spPr>
          <a:xfrm>
            <a:off x="9801225" y="4999051"/>
            <a:ext cx="1023267" cy="186689"/>
          </a:xfrm>
          <a:prstGeom prst="rect">
            <a:avLst/>
          </a:prstGeom>
          <a:noFill/>
        </p:spPr>
        <p:txBody>
          <a:bodyPr wrap="none" lIns="0" rIns="0" tIns="0" bIns="0">
            <a:spAutoFit/>
          </a:bodyPr>
          <a:lstStyle/>
          <a:p>
            <a:r>
              <a:rPr sz="1100" b="0">
                <a:solidFill>
                  <a:srgbClr val="2E2E2E"/>
                </a:solidFill>
                <a:latin typeface="Calibri"/>
              </a:rPr>
              <a:t>principal barrier.</a:t>
            </a:r>
          </a:p>
        </p:txBody>
      </p:sp>
    </p:spTree>
  </p:cSld>
  <p:clrMapOvr>
    <a:masterClrMapping/>
  </p:clrMapOvr>
</p:sld>
</file>

<file path=ppt/slides/slide220.xml><?xml version="1.0" encoding="utf-8"?>
<p:sld xmlns:a="http://schemas.openxmlformats.org/drawingml/2006/main" xmlns:p="http://schemas.openxmlformats.org/presentationml/2006/main" xmlns:r="http://schemas.openxmlformats.org/officeDocument/2006/relationships">
  <p:cSld>
    <p:bg>
      <p:bgPr>
        <a:solidFill>
          <a:srgbClr val="0A2A63"/>
        </a:solidFill>
        <a:effectLst/>
      </p:bgPr>
    </p:bg>
    <p:spTree>
      <p:nvGrpSpPr>
        <p:cNvPr id="1" name=""/>
        <p:cNvGrpSpPr/>
        <p:nvPr/>
      </p:nvGrpSpPr>
      <p:grpSpPr/>
      <p:sp>
        <p:nvSpPr>
          <p:cNvPr id="2" name="TMR Section Breaker"/>
          <p:cNvSpPr/>
          <p:nvPr/>
        </p:nvSpPr>
        <p:spPr>
          <a:xfrm>
            <a:off x="0" y="0"/>
            <a:ext cx="12192000" cy="6858000"/>
          </a:xfrm>
          <a:prstGeom prst="rect">
            <a:avLst/>
          </a:prstGeom>
          <a:gradFill rotWithShape="1">
            <a:gsLst>
              <a:gs pos="0">
                <a:srgbClr val="0A2A63"/>
              </a:gs>
              <a:gs pos="100000">
                <a:srgbClr val="0F3F8F"/>
              </a:gs>
            </a:gsLst>
            <a:lin scaled="0" ang="19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35280" y="198120"/>
            <a:ext cx="1459992" cy="112790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411480" y="274320"/>
            <a:ext cx="1307592" cy="975505"/>
          </a:xfrm>
          <a:prstGeom prst="rect">
            <a:avLst/>
          </a:prstGeom>
        </p:spPr>
      </p:pic>
      <p:sp>
        <p:nvSpPr>
          <p:cNvPr id="5" name="TextBox 4"/>
          <p:cNvSpPr txBox="1"/>
          <p:nvPr/>
        </p:nvSpPr>
        <p:spPr>
          <a:xfrm>
            <a:off x="914400" y="3000375"/>
            <a:ext cx="7239000" cy="247650"/>
          </a:xfrm>
          <a:prstGeom prst="rect">
            <a:avLst/>
          </a:prstGeom>
          <a:noFill/>
        </p:spPr>
        <p:txBody>
          <a:bodyPr wrap="none" lIns="0" tIns="0">
            <a:spAutoFit/>
          </a:bodyPr>
          <a:lstStyle/>
          <a:p>
            <a:r>
              <a:rPr sz="1400" b="0">
                <a:solidFill>
                  <a:srgbClr val="8FC8F2"/>
                </a:solidFill>
                <a:latin typeface="Calibri"/>
              </a:rPr>
              <a:t>Egg Protein Membrane Market</a:t>
            </a:r>
          </a:p>
        </p:txBody>
      </p:sp>
      <p:sp>
        <p:nvSpPr>
          <p:cNvPr id="6" name="TMR Breaker Title"/>
          <p:cNvSpPr txBox="1"/>
          <p:nvPr/>
        </p:nvSpPr>
        <p:spPr>
          <a:xfrm>
            <a:off x="914400" y="3305175"/>
            <a:ext cx="7239000" cy="514350"/>
          </a:xfrm>
          <a:prstGeom prst="rect">
            <a:avLst/>
          </a:prstGeom>
          <a:noFill/>
        </p:spPr>
        <p:txBody>
          <a:bodyPr wrap="square" lIns="0" rIns="0" tIns="0">
            <a:spAutoFit/>
          </a:bodyPr>
          <a:lstStyle/>
          <a:p>
            <a:r>
              <a:rPr sz="3000" b="1" cap="all" spc="400">
                <a:solidFill>
                  <a:srgbClr val="FFFFFF"/>
                </a:solidFill>
                <a:latin typeface="Calibri"/>
              </a:rPr>
              <a:t>Competition Assessment</a:t>
            </a:r>
          </a:p>
        </p:txBody>
      </p:sp>
      <p:sp>
        <p:nvSpPr>
          <p:cNvPr id="7" name="TextBox 6"/>
          <p:cNvSpPr txBox="1"/>
          <p:nvPr/>
        </p:nvSpPr>
        <p:spPr>
          <a:xfrm>
            <a:off x="914400" y="4010025"/>
            <a:ext cx="71247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Competitive Landscape</a:t>
            </a:r>
          </a:p>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Market Share by Leading Players</a:t>
            </a:r>
          </a:p>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Company Profiles &amp; Strategic Benchmarking</a:t>
            </a:r>
          </a:p>
        </p:txBody>
      </p:sp>
      <p:sp>
        <p:nvSpPr>
          <p:cNvPr id="8" name="TextBox 7"/>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C9DCEE"/>
                </a:solidFill>
                <a:latin typeface="Calibri"/>
              </a:rPr>
              <a:t>©2026 Transparency Market Research, All Rights Reserved</a:t>
            </a:r>
          </a:p>
        </p:txBody>
      </p:sp>
    </p:spTree>
  </p:cSld>
  <p:clrMapOvr>
    <a:masterClrMapping/>
  </p:clrMapOvr>
</p:sld>
</file>

<file path=ppt/slides/slide221.xml><?xml version="1.0" encoding="utf-8"?>
<p:sld xmlns:a="http://schemas.openxmlformats.org/drawingml/2006/main" xmlns:p="http://schemas.openxmlformats.org/presentationml/2006/main" xmlns:r="http://schemas.openxmlformats.org/officeDocument/2006/relationships">
  <p:cSld>
    <p:bg>
      <p:bgPr>
        <a:solidFill>
          <a:srgbClr val="F3F8FD"/>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3F8FD"/>
              </a:gs>
              <a:gs pos="100000">
                <a:srgbClr val="DCE9F6"/>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FE0F0">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9C8E6">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B7D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A5F8F"/>
              </a:gs>
              <a:gs pos="100000">
                <a:srgbClr val="6FA6D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MR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18</a:t>
            </a:r>
          </a:p>
        </p:txBody>
      </p:sp>
      <p:pic>
        <p:nvPicPr>
          <p:cNvPr id="8" name="Picture 7" descr="tmr_logo.png"/>
          <p:cNvPicPr>
            <a:picLocks noChangeAspect="1"/>
          </p:cNvPicPr>
          <p:nvPr/>
        </p:nvPicPr>
        <p:blipFill>
          <a:blip r:embed="rId2"/>
          <a:stretch>
            <a:fillRect/>
          </a:stretch>
        </p:blipFill>
        <p:spPr>
          <a:xfrm>
            <a:off x="411480" y="274320"/>
            <a:ext cx="1307592" cy="975505"/>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2A5F8F"/>
                </a:solidFill>
                <a:latin typeface="Calibri"/>
              </a:rPr>
              <a:t>Egg Protein Membrane Market</a:t>
            </a:r>
          </a:p>
        </p:txBody>
      </p:sp>
      <p:sp>
        <p:nvSpPr>
          <p:cNvPr id="10" name="TMR Section Title"/>
          <p:cNvSpPr txBox="1"/>
          <p:nvPr/>
        </p:nvSpPr>
        <p:spPr>
          <a:xfrm>
            <a:off x="914400" y="2701925"/>
            <a:ext cx="8572500" cy="514350"/>
          </a:xfrm>
          <a:prstGeom prst="rect">
            <a:avLst/>
          </a:prstGeom>
          <a:noFill/>
        </p:spPr>
        <p:txBody>
          <a:bodyPr wrap="square" lIns="0" rIns="0" tIns="0">
            <a:spAutoFit/>
          </a:bodyPr>
          <a:lstStyle/>
          <a:p>
            <a:r>
              <a:rPr sz="3000" b="1">
                <a:solidFill>
                  <a:srgbClr val="0E2A5C"/>
                </a:solidFill>
                <a:latin typeface="Calibri"/>
              </a:rPr>
              <a:t>Market Share by Leading Players</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Advice for Vendors &amp; Suppliers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Company Value Share</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Company Share by Product Type</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Company Share by Region</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Who Shaped Growth</a:t>
            </a:r>
          </a:p>
        </p:txBody>
      </p:sp>
      <p:sp>
        <p:nvSpPr>
          <p:cNvPr id="12" name="Rectangle 11"/>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2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Egg Protein Membrane Market Advice for Market Vendors / Suppliers</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Strategic advice for vendors and suppliers on pricing, product, geography, channel and competitive risk</a:t>
            </a:r>
          </a:p>
        </p:txBody>
      </p:sp>
      <p:sp>
        <p:nvSpPr>
          <p:cNvPr id="7" name="Rounded Rectangle 6"/>
          <p:cNvSpPr/>
          <p:nvPr/>
        </p:nvSpPr>
        <p:spPr>
          <a:xfrm>
            <a:off x="142875" y="1007261"/>
            <a:ext cx="11906250" cy="273805"/>
          </a:xfrm>
          <a:prstGeom prst="roundRect">
            <a:avLst>
              <a:gd name="adj" fmla="val 2782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Strategic advice for vendors and suppliers where to compete, how to price, and which risks to manage across the Egg Protein Membrane Market.</a:t>
            </a:r>
          </a:p>
        </p:txBody>
      </p:sp>
      <p:sp>
        <p:nvSpPr>
          <p:cNvPr id="8" name="Rounded Rectangle 7"/>
          <p:cNvSpPr/>
          <p:nvPr/>
        </p:nvSpPr>
        <p:spPr>
          <a:xfrm>
            <a:off x="142875" y="1354081"/>
            <a:ext cx="5857875" cy="2601152"/>
          </a:xfrm>
          <a:prstGeom prst="roundRect">
            <a:avLst>
              <a:gd name="adj" fmla="val 292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76225" y="1439806"/>
            <a:ext cx="5591175" cy="209550"/>
          </a:xfrm>
          <a:prstGeom prst="rect">
            <a:avLst/>
          </a:prstGeom>
          <a:noFill/>
        </p:spPr>
        <p:txBody>
          <a:bodyPr wrap="square" lIns="0" rIns="19050" tIns="9525" bIns="9525">
            <a:spAutoFit/>
          </a:bodyPr>
          <a:lstStyle/>
          <a:p>
            <a:pPr algn="l"/>
            <a:r>
              <a:rPr sz="1300" b="1">
                <a:solidFill>
                  <a:srgbClr val="0E2A5C"/>
                </a:solidFill>
                <a:latin typeface="Calibri"/>
              </a:rPr>
              <a:t>Pricing &amp; Margin Strategy</a:t>
            </a:r>
          </a:p>
        </p:txBody>
      </p:sp>
      <p:sp>
        <p:nvSpPr>
          <p:cNvPr id="10" name="Rectangle 9"/>
          <p:cNvSpPr/>
          <p:nvPr/>
        </p:nvSpPr>
        <p:spPr>
          <a:xfrm>
            <a:off x="276225" y="1677931"/>
            <a:ext cx="5591175"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6225" y="1763656"/>
            <a:ext cx="5591175" cy="2115377"/>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p:txBody>
      </p:sp>
      <p:sp>
        <p:nvSpPr>
          <p:cNvPr id="12" name="Rounded Rectangle 11"/>
          <p:cNvSpPr/>
          <p:nvPr/>
        </p:nvSpPr>
        <p:spPr>
          <a:xfrm>
            <a:off x="6191250" y="1354081"/>
            <a:ext cx="5857875" cy="2601152"/>
          </a:xfrm>
          <a:prstGeom prst="roundRect">
            <a:avLst>
              <a:gd name="adj" fmla="val 292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24600" y="1439806"/>
            <a:ext cx="5591175" cy="209550"/>
          </a:xfrm>
          <a:prstGeom prst="rect">
            <a:avLst/>
          </a:prstGeom>
          <a:noFill/>
        </p:spPr>
        <p:txBody>
          <a:bodyPr wrap="square" lIns="0" rIns="19050" tIns="9525" bIns="9525">
            <a:spAutoFit/>
          </a:bodyPr>
          <a:lstStyle/>
          <a:p>
            <a:pPr algn="l"/>
            <a:r>
              <a:rPr sz="1300" b="1">
                <a:solidFill>
                  <a:srgbClr val="0E2A5C"/>
                </a:solidFill>
                <a:latin typeface="Calibri"/>
              </a:rPr>
              <a:t>Product &amp; Innovation</a:t>
            </a:r>
          </a:p>
        </p:txBody>
      </p:sp>
      <p:sp>
        <p:nvSpPr>
          <p:cNvPr id="14" name="Rectangle 13"/>
          <p:cNvSpPr/>
          <p:nvPr/>
        </p:nvSpPr>
        <p:spPr>
          <a:xfrm>
            <a:off x="6324600" y="1677931"/>
            <a:ext cx="5591175"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24600" y="1763656"/>
            <a:ext cx="5591175" cy="2115377"/>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p:txBody>
      </p:sp>
      <p:sp>
        <p:nvSpPr>
          <p:cNvPr id="16" name="Rounded Rectangle 15"/>
          <p:cNvSpPr/>
          <p:nvPr/>
        </p:nvSpPr>
        <p:spPr>
          <a:xfrm>
            <a:off x="142875" y="4046502"/>
            <a:ext cx="5857875" cy="2509883"/>
          </a:xfrm>
          <a:prstGeom prst="roundRect">
            <a:avLst>
              <a:gd name="adj" fmla="val 3035"/>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4132227"/>
            <a:ext cx="5591175" cy="209550"/>
          </a:xfrm>
          <a:prstGeom prst="rect">
            <a:avLst/>
          </a:prstGeom>
          <a:noFill/>
        </p:spPr>
        <p:txBody>
          <a:bodyPr wrap="square" lIns="0" rIns="19050" tIns="9525" bIns="9525">
            <a:spAutoFit/>
          </a:bodyPr>
          <a:lstStyle/>
          <a:p>
            <a:pPr algn="l"/>
            <a:r>
              <a:rPr sz="1300" b="1">
                <a:solidFill>
                  <a:srgbClr val="0E2A5C"/>
                </a:solidFill>
                <a:latin typeface="Calibri"/>
              </a:rPr>
              <a:t>Geographic &amp; Channel Expansion</a:t>
            </a:r>
          </a:p>
        </p:txBody>
      </p:sp>
      <p:sp>
        <p:nvSpPr>
          <p:cNvPr id="18" name="Rectangle 17"/>
          <p:cNvSpPr/>
          <p:nvPr/>
        </p:nvSpPr>
        <p:spPr>
          <a:xfrm>
            <a:off x="276225" y="4370352"/>
            <a:ext cx="5591175"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6225" y="4456077"/>
            <a:ext cx="5591175" cy="2024108"/>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t>
            </a:r>
            <a:r>
              <a:rPr sz="1150" b="0">
                <a:solidFill>
                  <a:srgbClr val="2E2E2E"/>
                </a:solidFill>
                <a:latin typeface="Calibri"/>
              </a:rPr>
              <a:t>Expand selectively into under-penetrated regions where the leaders are thin, rather than head-on in saturated markets.</a:t>
            </a:r>
          </a:p>
          <a:p>
            <a:pPr algn="l">
              <a:lnSpc>
                <a:spcPct val="110000"/>
              </a:lnSpc>
              <a:spcBef>
                <a:spcPts val="0"/>
              </a:spcBef>
              <a:spcAft>
                <a:spcPts val="500"/>
              </a:spcAft>
            </a:pPr>
            <a:r>
              <a:rPr sz="1100" b="0">
                <a:solidFill>
                  <a:srgbClr val="2A5F8F"/>
                </a:solidFill>
                <a:latin typeface="Calibri"/>
              </a:rPr>
              <a:t>▪  </a:t>
            </a:r>
            <a:r>
              <a:rPr sz="1150" b="0">
                <a:solidFill>
                  <a:srgbClr val="2E2E2E"/>
                </a:solidFill>
                <a:latin typeface="Calibri"/>
              </a:rPr>
              <a:t>Balance retail, hospital/clinic and online channels online is the fastest-shifting route to end customers.</a:t>
            </a:r>
          </a:p>
          <a:p>
            <a:pPr algn="l">
              <a:lnSpc>
                <a:spcPct val="110000"/>
              </a:lnSpc>
              <a:spcBef>
                <a:spcPts val="0"/>
              </a:spcBef>
              <a:spcAft>
                <a:spcPts val="500"/>
              </a:spcAft>
            </a:pPr>
            <a:r>
              <a:rPr sz="1100" b="0">
                <a:solidFill>
                  <a:srgbClr val="2A5F8F"/>
                </a:solidFill>
                <a:latin typeface="Calibri"/>
              </a:rPr>
              <a:t>▪  </a:t>
            </a:r>
            <a:r>
              <a:rPr sz="1150" b="0">
                <a:solidFill>
                  <a:srgbClr val="2E2E2E"/>
                </a:solidFill>
                <a:latin typeface="Calibri"/>
              </a:rPr>
              <a:t>Build reliable distribution and logistics partnerships to convert demand into fulfilled volume.</a:t>
            </a:r>
          </a:p>
        </p:txBody>
      </p:sp>
      <p:sp>
        <p:nvSpPr>
          <p:cNvPr id="20" name="Rounded Rectangle 19"/>
          <p:cNvSpPr/>
          <p:nvPr/>
        </p:nvSpPr>
        <p:spPr>
          <a:xfrm>
            <a:off x="6191250" y="4046502"/>
            <a:ext cx="5857875" cy="2509883"/>
          </a:xfrm>
          <a:prstGeom prst="roundRect">
            <a:avLst>
              <a:gd name="adj" fmla="val 3035"/>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24600" y="4132227"/>
            <a:ext cx="5591175" cy="209550"/>
          </a:xfrm>
          <a:prstGeom prst="rect">
            <a:avLst/>
          </a:prstGeom>
          <a:noFill/>
        </p:spPr>
        <p:txBody>
          <a:bodyPr wrap="square" lIns="0" rIns="19050" tIns="9525" bIns="9525">
            <a:spAutoFit/>
          </a:bodyPr>
          <a:lstStyle/>
          <a:p>
            <a:pPr algn="l"/>
            <a:r>
              <a:rPr sz="1300" b="1">
                <a:solidFill>
                  <a:srgbClr val="0E2A5C"/>
                </a:solidFill>
                <a:latin typeface="Calibri"/>
              </a:rPr>
              <a:t>Competitive &amp; Risk Positioning</a:t>
            </a:r>
          </a:p>
        </p:txBody>
      </p:sp>
      <p:sp>
        <p:nvSpPr>
          <p:cNvPr id="22" name="Rectangle 21"/>
          <p:cNvSpPr/>
          <p:nvPr/>
        </p:nvSpPr>
        <p:spPr>
          <a:xfrm>
            <a:off x="6324600" y="4370352"/>
            <a:ext cx="5591175"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24600" y="4456077"/>
            <a:ext cx="5591175" cy="2024108"/>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p:txBody>
      </p:sp>
      <p:sp>
        <p:nvSpPr>
          <p:cNvPr id="24" name="Rectangle 23"/>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
        <p:nvSpPr>
          <p:cNvPr id="26" name="TextBox 25"/>
          <p:cNvSpPr txBox="1"/>
          <p:nvPr/>
        </p:nvSpPr>
        <p:spPr>
          <a:xfrm>
            <a:off x="276225" y="1773181"/>
            <a:ext cx="3235387" cy="194310"/>
          </a:xfrm>
          <a:prstGeom prst="rect">
            <a:avLst/>
          </a:prstGeom>
          <a:noFill/>
        </p:spPr>
        <p:txBody>
          <a:bodyPr wrap="none" lIns="0" rIns="0" tIns="0" bIns="0">
            <a:spAutoFit/>
          </a:bodyPr>
          <a:lstStyle/>
          <a:p>
            <a:r>
              <a:rPr sz="1150" b="0">
                <a:solidFill>
                  <a:srgbClr val="2E2E2E"/>
                </a:solidFill>
                <a:latin typeface="Calibri"/>
              </a:rPr>
              <a:t>▪ Hold price discipline: with the top three players at ~</a:t>
            </a:r>
          </a:p>
        </p:txBody>
      </p:sp>
      <p:pic>
        <p:nvPicPr>
          <p:cNvPr id="27" name="Picture 26" descr="lock.png"/>
          <p:cNvPicPr>
            <a:picLocks noChangeAspect="1"/>
          </p:cNvPicPr>
          <p:nvPr/>
        </p:nvPicPr>
        <p:blipFill>
          <a:blip r:embed="rId4"/>
          <a:stretch>
            <a:fillRect/>
          </a:stretch>
        </p:blipFill>
        <p:spPr>
          <a:xfrm>
            <a:off x="3460765" y="1762957"/>
            <a:ext cx="134549" cy="195707"/>
          </a:xfrm>
          <a:prstGeom prst="rect">
            <a:avLst/>
          </a:prstGeom>
        </p:spPr>
      </p:pic>
      <p:sp>
        <p:nvSpPr>
          <p:cNvPr id="28" name="TextBox 27"/>
          <p:cNvSpPr txBox="1"/>
          <p:nvPr/>
        </p:nvSpPr>
        <p:spPr>
          <a:xfrm>
            <a:off x="3635875" y="1773181"/>
            <a:ext cx="1859892" cy="194310"/>
          </a:xfrm>
          <a:prstGeom prst="rect">
            <a:avLst/>
          </a:prstGeom>
          <a:noFill/>
        </p:spPr>
        <p:txBody>
          <a:bodyPr wrap="none" lIns="0" rIns="0" tIns="0" bIns="0">
            <a:spAutoFit/>
          </a:bodyPr>
          <a:lstStyle/>
          <a:p>
            <a:r>
              <a:rPr sz="1150" b="0">
                <a:solidFill>
                  <a:srgbClr val="2E2E2E"/>
                </a:solidFill>
                <a:latin typeface="Calibri"/>
              </a:rPr>
              <a:t>share, avoid value-destructive</a:t>
            </a:r>
          </a:p>
        </p:txBody>
      </p:sp>
      <p:sp>
        <p:nvSpPr>
          <p:cNvPr id="29" name="TextBox 28"/>
          <p:cNvSpPr txBox="1"/>
          <p:nvPr/>
        </p:nvSpPr>
        <p:spPr>
          <a:xfrm>
            <a:off x="276225" y="1948441"/>
            <a:ext cx="3646723" cy="194310"/>
          </a:xfrm>
          <a:prstGeom prst="rect">
            <a:avLst/>
          </a:prstGeom>
          <a:noFill/>
        </p:spPr>
        <p:txBody>
          <a:bodyPr wrap="none" lIns="0" rIns="0" tIns="0" bIns="0">
            <a:spAutoFit/>
          </a:bodyPr>
          <a:lstStyle/>
          <a:p>
            <a:r>
              <a:rPr sz="1150" b="0">
                <a:solidFill>
                  <a:srgbClr val="2E2E2E"/>
                </a:solidFill>
                <a:latin typeface="Calibri"/>
              </a:rPr>
              <a:t>discounting compete on mix and service, not headline price.</a:t>
            </a:r>
          </a:p>
        </p:txBody>
      </p:sp>
      <p:sp>
        <p:nvSpPr>
          <p:cNvPr id="30" name="TextBox 29"/>
          <p:cNvSpPr txBox="1"/>
          <p:nvPr/>
        </p:nvSpPr>
        <p:spPr>
          <a:xfrm>
            <a:off x="276225" y="2176279"/>
            <a:ext cx="5565055" cy="194310"/>
          </a:xfrm>
          <a:prstGeom prst="rect">
            <a:avLst/>
          </a:prstGeom>
          <a:noFill/>
        </p:spPr>
        <p:txBody>
          <a:bodyPr wrap="none" lIns="0" rIns="0" tIns="0" bIns="0">
            <a:spAutoFit/>
          </a:bodyPr>
          <a:lstStyle/>
          <a:p>
            <a:r>
              <a:rPr sz="1150" b="0">
                <a:solidFill>
                  <a:srgbClr val="2E2E2E"/>
                </a:solidFill>
                <a:latin typeface="Calibri"/>
              </a:rPr>
              <a:t>▪ Premiumise toward higher-value formulations (e.g. 'Micronized Eggshell Membrane') to lift</a:t>
            </a:r>
          </a:p>
        </p:txBody>
      </p:sp>
      <p:sp>
        <p:nvSpPr>
          <p:cNvPr id="31" name="TextBox 30"/>
          <p:cNvSpPr txBox="1"/>
          <p:nvPr/>
        </p:nvSpPr>
        <p:spPr>
          <a:xfrm>
            <a:off x="276225" y="2351539"/>
            <a:ext cx="3225403" cy="194310"/>
          </a:xfrm>
          <a:prstGeom prst="rect">
            <a:avLst/>
          </a:prstGeom>
          <a:noFill/>
        </p:spPr>
        <p:txBody>
          <a:bodyPr wrap="none" lIns="0" rIns="0" tIns="0" bIns="0">
            <a:spAutoFit/>
          </a:bodyPr>
          <a:lstStyle/>
          <a:p>
            <a:r>
              <a:rPr sz="1150" b="0">
                <a:solidFill>
                  <a:srgbClr val="2E2E2E"/>
                </a:solidFill>
                <a:latin typeface="Calibri"/>
              </a:rPr>
              <a:t>blended ASP and defend margin as input costs move.</a:t>
            </a:r>
          </a:p>
        </p:txBody>
      </p:sp>
      <p:sp>
        <p:nvSpPr>
          <p:cNvPr id="32" name="TextBox 31"/>
          <p:cNvSpPr txBox="1"/>
          <p:nvPr/>
        </p:nvSpPr>
        <p:spPr>
          <a:xfrm>
            <a:off x="276225" y="2579377"/>
            <a:ext cx="4816264" cy="194310"/>
          </a:xfrm>
          <a:prstGeom prst="rect">
            <a:avLst/>
          </a:prstGeom>
          <a:noFill/>
        </p:spPr>
        <p:txBody>
          <a:bodyPr wrap="none" lIns="0" rIns="0" tIns="0" bIns="0">
            <a:spAutoFit/>
          </a:bodyPr>
          <a:lstStyle/>
          <a:p>
            <a:r>
              <a:rPr sz="1150" b="0">
                <a:solidFill>
                  <a:srgbClr val="2E2E2E"/>
                </a:solidFill>
                <a:latin typeface="Calibri"/>
              </a:rPr>
              <a:t>▪ Set transparent, corridor-based regional pricing to limit grey-market arbitrage.</a:t>
            </a:r>
          </a:p>
        </p:txBody>
      </p:sp>
      <p:sp>
        <p:nvSpPr>
          <p:cNvPr id="33" name="TextBox 32"/>
          <p:cNvSpPr txBox="1"/>
          <p:nvPr/>
        </p:nvSpPr>
        <p:spPr>
          <a:xfrm>
            <a:off x="6324600" y="1773181"/>
            <a:ext cx="5495453" cy="194310"/>
          </a:xfrm>
          <a:prstGeom prst="rect">
            <a:avLst/>
          </a:prstGeom>
          <a:noFill/>
        </p:spPr>
        <p:txBody>
          <a:bodyPr wrap="none" lIns="0" rIns="0" tIns="0" bIns="0">
            <a:spAutoFit/>
          </a:bodyPr>
          <a:lstStyle/>
          <a:p>
            <a:r>
              <a:rPr sz="1150" b="0">
                <a:solidFill>
                  <a:srgbClr val="2E2E2E"/>
                </a:solidFill>
                <a:latin typeface="Calibri"/>
              </a:rPr>
              <a:t>▪ Prioritise R&amp;D in the fastest-growing formulations a differentiated portfolio is the clearest</a:t>
            </a:r>
          </a:p>
        </p:txBody>
      </p:sp>
      <p:sp>
        <p:nvSpPr>
          <p:cNvPr id="34" name="TextBox 33"/>
          <p:cNvSpPr txBox="1"/>
          <p:nvPr/>
        </p:nvSpPr>
        <p:spPr>
          <a:xfrm>
            <a:off x="6324600" y="1948441"/>
            <a:ext cx="1660500" cy="194310"/>
          </a:xfrm>
          <a:prstGeom prst="rect">
            <a:avLst/>
          </a:prstGeom>
          <a:noFill/>
        </p:spPr>
        <p:txBody>
          <a:bodyPr wrap="none" lIns="0" rIns="0" tIns="0" bIns="0">
            <a:spAutoFit/>
          </a:bodyPr>
          <a:lstStyle/>
          <a:p>
            <a:r>
              <a:rPr sz="1150" b="0">
                <a:solidFill>
                  <a:srgbClr val="2E2E2E"/>
                </a:solidFill>
                <a:latin typeface="Calibri"/>
              </a:rPr>
              <a:t>route to out-growing the ~</a:t>
            </a:r>
          </a:p>
        </p:txBody>
      </p:sp>
      <p:pic>
        <p:nvPicPr>
          <p:cNvPr id="35" name="Picture 34" descr="lock.png"/>
          <p:cNvPicPr>
            <a:picLocks noChangeAspect="1"/>
          </p:cNvPicPr>
          <p:nvPr/>
        </p:nvPicPr>
        <p:blipFill>
          <a:blip r:embed="rId4"/>
          <a:stretch>
            <a:fillRect/>
          </a:stretch>
        </p:blipFill>
        <p:spPr>
          <a:xfrm>
            <a:off x="7934254" y="1938217"/>
            <a:ext cx="134549" cy="195707"/>
          </a:xfrm>
          <a:prstGeom prst="rect">
            <a:avLst/>
          </a:prstGeom>
        </p:spPr>
      </p:pic>
      <p:sp>
        <p:nvSpPr>
          <p:cNvPr id="36" name="TextBox 35"/>
          <p:cNvSpPr txBox="1"/>
          <p:nvPr/>
        </p:nvSpPr>
        <p:spPr>
          <a:xfrm>
            <a:off x="8109363" y="1948441"/>
            <a:ext cx="905700" cy="194310"/>
          </a:xfrm>
          <a:prstGeom prst="rect">
            <a:avLst/>
          </a:prstGeom>
          <a:noFill/>
        </p:spPr>
        <p:txBody>
          <a:bodyPr wrap="none" lIns="0" rIns="0" tIns="0" bIns="0">
            <a:spAutoFit/>
          </a:bodyPr>
          <a:lstStyle/>
          <a:p>
            <a:r>
              <a:rPr sz="1150" b="0">
                <a:solidFill>
                  <a:srgbClr val="2E2E2E"/>
                </a:solidFill>
                <a:latin typeface="Calibri"/>
              </a:rPr>
              <a:t>market CAGR.</a:t>
            </a:r>
          </a:p>
        </p:txBody>
      </p:sp>
      <p:sp>
        <p:nvSpPr>
          <p:cNvPr id="37" name="TextBox 36"/>
          <p:cNvSpPr txBox="1"/>
          <p:nvPr/>
        </p:nvSpPr>
        <p:spPr>
          <a:xfrm>
            <a:off x="6324600" y="2176279"/>
            <a:ext cx="5383919" cy="194310"/>
          </a:xfrm>
          <a:prstGeom prst="rect">
            <a:avLst/>
          </a:prstGeom>
          <a:noFill/>
        </p:spPr>
        <p:txBody>
          <a:bodyPr wrap="none" lIns="0" rIns="0" tIns="0" bIns="0">
            <a:spAutoFit/>
          </a:bodyPr>
          <a:lstStyle/>
          <a:p>
            <a:r>
              <a:rPr sz="1150" b="0">
                <a:solidFill>
                  <a:srgbClr val="2E2E2E"/>
                </a:solidFill>
                <a:latin typeface="Calibri"/>
              </a:rPr>
              <a:t>▪ Pursue certification and clinical validation to build switching costs and support premium</a:t>
            </a:r>
          </a:p>
        </p:txBody>
      </p:sp>
      <p:sp>
        <p:nvSpPr>
          <p:cNvPr id="38" name="TextBox 37"/>
          <p:cNvSpPr txBox="1"/>
          <p:nvPr/>
        </p:nvSpPr>
        <p:spPr>
          <a:xfrm>
            <a:off x="6324600" y="2351539"/>
            <a:ext cx="773075" cy="194310"/>
          </a:xfrm>
          <a:prstGeom prst="rect">
            <a:avLst/>
          </a:prstGeom>
          <a:noFill/>
        </p:spPr>
        <p:txBody>
          <a:bodyPr wrap="none" lIns="0" rIns="0" tIns="0" bIns="0">
            <a:spAutoFit/>
          </a:bodyPr>
          <a:lstStyle/>
          <a:p>
            <a:r>
              <a:rPr sz="1150" b="0">
                <a:solidFill>
                  <a:srgbClr val="2E2E2E"/>
                </a:solidFill>
                <a:latin typeface="Calibri"/>
              </a:rPr>
              <a:t>positioning.</a:t>
            </a:r>
          </a:p>
        </p:txBody>
      </p:sp>
      <p:sp>
        <p:nvSpPr>
          <p:cNvPr id="39" name="TextBox 38"/>
          <p:cNvSpPr txBox="1"/>
          <p:nvPr/>
        </p:nvSpPr>
        <p:spPr>
          <a:xfrm>
            <a:off x="6324600" y="2579377"/>
            <a:ext cx="3931406" cy="194310"/>
          </a:xfrm>
          <a:prstGeom prst="rect">
            <a:avLst/>
          </a:prstGeom>
          <a:noFill/>
        </p:spPr>
        <p:txBody>
          <a:bodyPr wrap="none" lIns="0" rIns="0" tIns="0" bIns="0">
            <a:spAutoFit/>
          </a:bodyPr>
          <a:lstStyle/>
          <a:p>
            <a:r>
              <a:rPr sz="1150" b="0">
                <a:solidFill>
                  <a:srgbClr val="2E2E2E"/>
                </a:solidFill>
                <a:latin typeface="Calibri"/>
              </a:rPr>
              <a:t>▪ Localise formats and pack sizes to each channel and geography.</a:t>
            </a:r>
          </a:p>
        </p:txBody>
      </p:sp>
      <p:sp>
        <p:nvSpPr>
          <p:cNvPr id="40" name="TextBox 39"/>
          <p:cNvSpPr txBox="1"/>
          <p:nvPr/>
        </p:nvSpPr>
        <p:spPr>
          <a:xfrm>
            <a:off x="6324600" y="4465602"/>
            <a:ext cx="3593621" cy="194310"/>
          </a:xfrm>
          <a:prstGeom prst="rect">
            <a:avLst/>
          </a:prstGeom>
          <a:noFill/>
        </p:spPr>
        <p:txBody>
          <a:bodyPr wrap="none" lIns="0" rIns="0" tIns="0" bIns="0">
            <a:spAutoFit/>
          </a:bodyPr>
          <a:lstStyle/>
          <a:p>
            <a:r>
              <a:rPr sz="1150" b="0">
                <a:solidFill>
                  <a:srgbClr val="2E2E2E"/>
                </a:solidFill>
                <a:latin typeface="Calibri"/>
              </a:rPr>
              <a:t>▪ Benchmark relentlessly against 'ESM Technologies, LLC' (~</a:t>
            </a:r>
          </a:p>
        </p:txBody>
      </p:sp>
      <p:pic>
        <p:nvPicPr>
          <p:cNvPr id="41" name="Picture 40" descr="lock.png"/>
          <p:cNvPicPr>
            <a:picLocks noChangeAspect="1"/>
          </p:cNvPicPr>
          <p:nvPr/>
        </p:nvPicPr>
        <p:blipFill>
          <a:blip r:embed="rId4"/>
          <a:stretch>
            <a:fillRect/>
          </a:stretch>
        </p:blipFill>
        <p:spPr>
          <a:xfrm>
            <a:off x="9867375" y="4455378"/>
            <a:ext cx="134549" cy="195707"/>
          </a:xfrm>
          <a:prstGeom prst="rect">
            <a:avLst/>
          </a:prstGeom>
        </p:spPr>
      </p:pic>
      <p:sp>
        <p:nvSpPr>
          <p:cNvPr id="42" name="TextBox 41"/>
          <p:cNvSpPr txBox="1"/>
          <p:nvPr/>
        </p:nvSpPr>
        <p:spPr>
          <a:xfrm>
            <a:off x="10042484" y="4465602"/>
            <a:ext cx="1746646" cy="194310"/>
          </a:xfrm>
          <a:prstGeom prst="rect">
            <a:avLst/>
          </a:prstGeom>
          <a:noFill/>
        </p:spPr>
        <p:txBody>
          <a:bodyPr wrap="none" lIns="0" rIns="0" tIns="0" bIns="0">
            <a:spAutoFit/>
          </a:bodyPr>
          <a:lstStyle/>
          <a:p>
            <a:r>
              <a:rPr sz="1150" b="0">
                <a:solidFill>
                  <a:srgbClr val="2E2E2E"/>
                </a:solidFill>
                <a:latin typeface="Calibri"/>
              </a:rPr>
              <a:t>share) match on service and</a:t>
            </a:r>
          </a:p>
        </p:txBody>
      </p:sp>
      <p:sp>
        <p:nvSpPr>
          <p:cNvPr id="43" name="TextBox 42"/>
          <p:cNvSpPr txBox="1"/>
          <p:nvPr/>
        </p:nvSpPr>
        <p:spPr>
          <a:xfrm>
            <a:off x="6324600" y="4640861"/>
            <a:ext cx="2033327" cy="194310"/>
          </a:xfrm>
          <a:prstGeom prst="rect">
            <a:avLst/>
          </a:prstGeom>
          <a:noFill/>
        </p:spPr>
        <p:txBody>
          <a:bodyPr wrap="none" lIns="0" rIns="0" tIns="0" bIns="0">
            <a:spAutoFit/>
          </a:bodyPr>
          <a:lstStyle/>
          <a:p>
            <a:r>
              <a:rPr sz="1150" b="0">
                <a:solidFill>
                  <a:srgbClr val="2E2E2E"/>
                </a:solidFill>
                <a:latin typeface="Calibri"/>
              </a:rPr>
              <a:t>lead on innovation to take share.</a:t>
            </a:r>
          </a:p>
        </p:txBody>
      </p:sp>
      <p:sp>
        <p:nvSpPr>
          <p:cNvPr id="44" name="TextBox 43"/>
          <p:cNvSpPr txBox="1"/>
          <p:nvPr/>
        </p:nvSpPr>
        <p:spPr>
          <a:xfrm>
            <a:off x="6324600" y="4868699"/>
            <a:ext cx="5455518" cy="194310"/>
          </a:xfrm>
          <a:prstGeom prst="rect">
            <a:avLst/>
          </a:prstGeom>
          <a:noFill/>
        </p:spPr>
        <p:txBody>
          <a:bodyPr wrap="none" lIns="0" rIns="0" tIns="0" bIns="0">
            <a:spAutoFit/>
          </a:bodyPr>
          <a:lstStyle/>
          <a:p>
            <a:r>
              <a:rPr sz="1150" b="0">
                <a:solidFill>
                  <a:srgbClr val="2E2E2E"/>
                </a:solidFill>
                <a:latin typeface="Calibri"/>
              </a:rPr>
              <a:t>▪ Diversify the customer base to cut dependence on a few large accounts and single-region</a:t>
            </a:r>
          </a:p>
        </p:txBody>
      </p:sp>
      <p:sp>
        <p:nvSpPr>
          <p:cNvPr id="45" name="TextBox 44"/>
          <p:cNvSpPr txBox="1"/>
          <p:nvPr/>
        </p:nvSpPr>
        <p:spPr>
          <a:xfrm>
            <a:off x="6324600" y="5043959"/>
            <a:ext cx="660400" cy="194310"/>
          </a:xfrm>
          <a:prstGeom prst="rect">
            <a:avLst/>
          </a:prstGeom>
          <a:noFill/>
        </p:spPr>
        <p:txBody>
          <a:bodyPr wrap="none" lIns="0" rIns="0" tIns="0" bIns="0">
            <a:spAutoFit/>
          </a:bodyPr>
          <a:lstStyle/>
          <a:p>
            <a:r>
              <a:rPr sz="1150" b="0">
                <a:solidFill>
                  <a:srgbClr val="2E2E2E"/>
                </a:solidFill>
                <a:latin typeface="Calibri"/>
              </a:rPr>
              <a:t>exposure.</a:t>
            </a:r>
          </a:p>
        </p:txBody>
      </p:sp>
      <p:sp>
        <p:nvSpPr>
          <p:cNvPr id="46" name="TextBox 45"/>
          <p:cNvSpPr txBox="1"/>
          <p:nvPr/>
        </p:nvSpPr>
        <p:spPr>
          <a:xfrm>
            <a:off x="6324600" y="5271797"/>
            <a:ext cx="5230167" cy="194310"/>
          </a:xfrm>
          <a:prstGeom prst="rect">
            <a:avLst/>
          </a:prstGeom>
          <a:noFill/>
        </p:spPr>
        <p:txBody>
          <a:bodyPr wrap="none" lIns="0" rIns="0" tIns="0" bIns="0">
            <a:spAutoFit/>
          </a:bodyPr>
          <a:lstStyle/>
          <a:p>
            <a:r>
              <a:rPr sz="1150" b="0">
                <a:solidFill>
                  <a:srgbClr val="2E2E2E"/>
                </a:solidFill>
                <a:latin typeface="Calibri"/>
              </a:rPr>
              <a:t>▪ Stress-test for regulatory, currency and supply shocks; keep flexible capacity and dual</a:t>
            </a:r>
          </a:p>
        </p:txBody>
      </p:sp>
      <p:sp>
        <p:nvSpPr>
          <p:cNvPr id="47" name="TextBox 46"/>
          <p:cNvSpPr txBox="1"/>
          <p:nvPr/>
        </p:nvSpPr>
        <p:spPr>
          <a:xfrm>
            <a:off x="6324600" y="5447057"/>
            <a:ext cx="615900" cy="194310"/>
          </a:xfrm>
          <a:prstGeom prst="rect">
            <a:avLst/>
          </a:prstGeom>
          <a:noFill/>
        </p:spPr>
        <p:txBody>
          <a:bodyPr wrap="none" lIns="0" rIns="0" tIns="0" bIns="0">
            <a:spAutoFit/>
          </a:bodyPr>
          <a:lstStyle/>
          <a:p>
            <a:r>
              <a:rPr sz="1150" b="0">
                <a:solidFill>
                  <a:srgbClr val="2E2E2E"/>
                </a:solidFill>
                <a:latin typeface="Calibri"/>
              </a:rPr>
              <a:t>sourcing.</a:t>
            </a:r>
          </a:p>
        </p:txBody>
      </p:sp>
    </p:spTree>
  </p:cSld>
  <p:clrMapOvr>
    <a:masterClrMapping/>
  </p:clrMapOvr>
</p:sld>
</file>

<file path=ppt/slides/slide2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Egg Protein Membrane Market Company Value Share (Global)</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value share by company in the global market, 2025, highlighting leadership and the long tail</a:t>
            </a:r>
          </a:p>
        </p:txBody>
      </p:sp>
      <p:sp>
        <p:nvSpPr>
          <p:cNvPr id="7" name="Rounded Rectangle 6"/>
          <p:cNvSpPr/>
          <p:nvPr/>
        </p:nvSpPr>
        <p:spPr>
          <a:xfrm>
            <a:off x="142875" y="1007261"/>
            <a:ext cx="11906250" cy="273805"/>
          </a:xfrm>
          <a:prstGeom prst="roundRect">
            <a:avLst>
              <a:gd name="adj" fmla="val 2782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Target market value share by key companies leadership, concentration and how the competitive mix shifts by region.</a:t>
            </a:r>
          </a:p>
        </p:txBody>
      </p:sp>
      <p:sp>
        <p:nvSpPr>
          <p:cNvPr id="8" name="Rounded Rectangle 7"/>
          <p:cNvSpPr/>
          <p:nvPr/>
        </p:nvSpPr>
        <p:spPr>
          <a:xfrm>
            <a:off x="142875" y="1354081"/>
            <a:ext cx="7543800" cy="5220558"/>
          </a:xfrm>
          <a:prstGeom prst="roundRect">
            <a:avLst>
              <a:gd name="adj" fmla="val 145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411231"/>
            <a:ext cx="73533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Share by Key Company (US$ Mn, 2026)</a:t>
            </a:r>
          </a:p>
        </p:txBody>
      </p:sp>
      <p:graphicFrame>
        <p:nvGraphicFramePr>
          <p:cNvPr id="10" name="Chart 9"/>
          <p:cNvGraphicFramePr>
            <a:graphicFrameLocks noGrp="1"/>
          </p:cNvGraphicFramePr>
          <p:nvPr/>
        </p:nvGraphicFramePr>
        <p:xfrm>
          <a:off x="238125" y="1639831"/>
          <a:ext cx="7353300" cy="4877658"/>
        </p:xfrm>
        <a:graphic>
          <a:graphicData uri="http://schemas.openxmlformats.org/drawingml/2006/chart">
            <c:chart xmlns:c="http://schemas.openxmlformats.org/drawingml/2006/chart" r:id="rId3"/>
          </a:graphicData>
        </a:graphic>
      </p:graphicFrame>
      <p:sp>
        <p:nvSpPr>
          <p:cNvPr id="11" name="TextBox 10"/>
          <p:cNvSpPr txBox="1"/>
          <p:nvPr/>
        </p:nvSpPr>
        <p:spPr>
          <a:xfrm>
            <a:off x="2049780" y="3878635"/>
            <a:ext cx="1524000" cy="400050"/>
          </a:xfrm>
          <a:prstGeom prst="rect">
            <a:avLst/>
          </a:prstGeom>
          <a:noFill/>
        </p:spPr>
        <p:txBody>
          <a:bodyPr wrap="square" lIns="28575" rIns="28575" tIns="9525" bIns="9525" anchor="ctr">
            <a:spAutoFit/>
          </a:bodyPr>
          <a:lstStyle/>
          <a:p>
            <a:pPr algn="ctr"/>
            <a:r>
              <a:rPr sz="1300" b="1">
                <a:solidFill>
                  <a:srgbClr val="2E2E2E"/>
                </a:solidFill>
                <a:latin typeface="Calibri"/>
              </a:rPr>
              <a:t/>
            </a:r>
          </a:p>
          <a:p>
            <a:pPr algn="ctr"/>
            <a:r>
              <a:rPr sz="1300" b="1">
                <a:solidFill>
                  <a:srgbClr val="2E2E2E"/>
                </a:solidFill>
                <a:latin typeface="Calibri"/>
              </a:rPr>
              <a:t/>
            </a:r>
          </a:p>
        </p:txBody>
      </p:sp>
      <p:sp>
        <p:nvSpPr>
          <p:cNvPr id="12" name="Rounded Rectangle 11"/>
          <p:cNvSpPr/>
          <p:nvPr/>
        </p:nvSpPr>
        <p:spPr>
          <a:xfrm>
            <a:off x="7800975" y="1354081"/>
            <a:ext cx="4248150" cy="5220558"/>
          </a:xfrm>
          <a:prstGeom prst="roundRect">
            <a:avLst>
              <a:gd name="adj" fmla="val 1793"/>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934325" y="1439806"/>
            <a:ext cx="3981450" cy="209550"/>
          </a:xfrm>
          <a:prstGeom prst="rect">
            <a:avLst/>
          </a:prstGeom>
          <a:noFill/>
        </p:spPr>
        <p:txBody>
          <a:bodyPr wrap="square" lIns="0" rIns="19050" tIns="9525" bIns="9525">
            <a:spAutoFit/>
          </a:bodyPr>
          <a:lstStyle/>
          <a:p>
            <a:pPr algn="l"/>
            <a:r>
              <a:rPr sz="1300" b="1">
                <a:solidFill>
                  <a:srgbClr val="0E2A5C"/>
                </a:solidFill>
                <a:latin typeface="Calibri"/>
              </a:rPr>
              <a:t>Key Takeaways</a:t>
            </a:r>
          </a:p>
        </p:txBody>
      </p:sp>
      <p:sp>
        <p:nvSpPr>
          <p:cNvPr id="14" name="Rectangle 13"/>
          <p:cNvSpPr/>
          <p:nvPr/>
        </p:nvSpPr>
        <p:spPr>
          <a:xfrm>
            <a:off x="7934325" y="1677931"/>
            <a:ext cx="39814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934325" y="1763656"/>
            <a:ext cx="3981450" cy="4734783"/>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6" name="Rectangle 15"/>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8" name="Picture 17" descr="lock.png"/>
          <p:cNvPicPr>
            <a:picLocks noChangeAspect="1"/>
          </p:cNvPicPr>
          <p:nvPr/>
        </p:nvPicPr>
        <p:blipFill>
          <a:blip r:embed="rId5"/>
          <a:stretch>
            <a:fillRect/>
          </a:stretch>
        </p:blipFill>
        <p:spPr>
          <a:xfrm>
            <a:off x="2533173" y="3678610"/>
            <a:ext cx="523875" cy="762000"/>
          </a:xfrm>
          <a:prstGeom prst="rect">
            <a:avLst/>
          </a:prstGeom>
        </p:spPr>
      </p:pic>
      <p:sp>
        <p:nvSpPr>
          <p:cNvPr id="19" name="TextBox 18"/>
          <p:cNvSpPr txBox="1"/>
          <p:nvPr/>
        </p:nvSpPr>
        <p:spPr>
          <a:xfrm>
            <a:off x="2634865" y="3914616"/>
            <a:ext cx="430029" cy="161696"/>
          </a:xfrm>
          <a:prstGeom prst="rect">
            <a:avLst/>
          </a:prstGeom>
          <a:noFill/>
        </p:spPr>
        <p:txBody>
          <a:bodyPr wrap="none" lIns="0" rIns="0" tIns="0" bIns="0">
            <a:spAutoFit/>
          </a:bodyPr>
          <a:lstStyle/>
          <a:p>
            <a:r>
              <a:rPr sz="935" b="1">
                <a:solidFill>
                  <a:srgbClr val="2E2E2E"/>
                </a:solidFill>
                <a:latin typeface="Calibri"/>
              </a:rPr>
              <a:t>100% =</a:t>
            </a:r>
          </a:p>
        </p:txBody>
      </p:sp>
      <p:pic>
        <p:nvPicPr>
          <p:cNvPr id="20" name="Picture 19" descr="lock.png"/>
          <p:cNvPicPr>
            <a:picLocks noChangeAspect="1"/>
          </p:cNvPicPr>
          <p:nvPr/>
        </p:nvPicPr>
        <p:blipFill>
          <a:blip r:embed="rId5"/>
          <a:stretch>
            <a:fillRect/>
          </a:stretch>
        </p:blipFill>
        <p:spPr>
          <a:xfrm>
            <a:off x="2540344" y="4091735"/>
            <a:ext cx="109510" cy="159288"/>
          </a:xfrm>
          <a:prstGeom prst="rect">
            <a:avLst/>
          </a:prstGeom>
        </p:spPr>
      </p:pic>
      <p:sp>
        <p:nvSpPr>
          <p:cNvPr id="21" name="TextBox 20"/>
          <p:cNvSpPr txBox="1"/>
          <p:nvPr/>
        </p:nvSpPr>
        <p:spPr>
          <a:xfrm>
            <a:off x="2682868" y="4100056"/>
            <a:ext cx="465087" cy="161696"/>
          </a:xfrm>
          <a:prstGeom prst="rect">
            <a:avLst/>
          </a:prstGeom>
          <a:noFill/>
        </p:spPr>
        <p:txBody>
          <a:bodyPr wrap="none" lIns="0" rIns="0" tIns="0" bIns="0">
            <a:spAutoFit/>
          </a:bodyPr>
          <a:lstStyle/>
          <a:p>
            <a:r>
              <a:rPr sz="935" b="1">
                <a:solidFill>
                  <a:srgbClr val="2E2E2E"/>
                </a:solidFill>
                <a:latin typeface="Calibri"/>
              </a:rPr>
              <a:t>US$ Mn</a:t>
            </a:r>
          </a:p>
        </p:txBody>
      </p:sp>
      <p:sp>
        <p:nvSpPr>
          <p:cNvPr id="22" name="TextBox 21"/>
          <p:cNvSpPr txBox="1"/>
          <p:nvPr/>
        </p:nvSpPr>
        <p:spPr>
          <a:xfrm>
            <a:off x="7934325" y="1773181"/>
            <a:ext cx="3697168" cy="194310"/>
          </a:xfrm>
          <a:prstGeom prst="rect">
            <a:avLst/>
          </a:prstGeom>
          <a:noFill/>
        </p:spPr>
        <p:txBody>
          <a:bodyPr wrap="none" lIns="0" rIns="0" tIns="0" bIns="0">
            <a:spAutoFit/>
          </a:bodyPr>
          <a:lstStyle/>
          <a:p>
            <a:r>
              <a:rPr sz="1150" b="0">
                <a:solidFill>
                  <a:srgbClr val="2E2E2E"/>
                </a:solidFill>
                <a:latin typeface="Calibri"/>
              </a:rPr>
              <a:t>ESM Technologies, LLC accounted for the largest share of the</a:t>
            </a:r>
          </a:p>
        </p:txBody>
      </p:sp>
      <p:sp>
        <p:nvSpPr>
          <p:cNvPr id="23" name="TextBox 22"/>
          <p:cNvSpPr txBox="1"/>
          <p:nvPr/>
        </p:nvSpPr>
        <p:spPr>
          <a:xfrm>
            <a:off x="7934325" y="1948441"/>
            <a:ext cx="3694645" cy="194310"/>
          </a:xfrm>
          <a:prstGeom prst="rect">
            <a:avLst/>
          </a:prstGeom>
          <a:noFill/>
        </p:spPr>
        <p:txBody>
          <a:bodyPr wrap="none" lIns="0" rIns="0" tIns="0" bIns="0">
            <a:spAutoFit/>
          </a:bodyPr>
          <a:lstStyle/>
          <a:p>
            <a:r>
              <a:rPr sz="1150" b="0">
                <a:solidFill>
                  <a:srgbClr val="2E2E2E"/>
                </a:solidFill>
                <a:latin typeface="Calibri"/>
              </a:rPr>
              <a:t>global egg protein membrane market in 2026. The global egg</a:t>
            </a:r>
          </a:p>
        </p:txBody>
      </p:sp>
      <p:sp>
        <p:nvSpPr>
          <p:cNvPr id="24" name="TextBox 23"/>
          <p:cNvSpPr txBox="1"/>
          <p:nvPr/>
        </p:nvSpPr>
        <p:spPr>
          <a:xfrm>
            <a:off x="7934325" y="2123701"/>
            <a:ext cx="3670684" cy="194310"/>
          </a:xfrm>
          <a:prstGeom prst="rect">
            <a:avLst/>
          </a:prstGeom>
          <a:noFill/>
        </p:spPr>
        <p:txBody>
          <a:bodyPr wrap="none" lIns="0" rIns="0" tIns="0" bIns="0">
            <a:spAutoFit/>
          </a:bodyPr>
          <a:lstStyle/>
          <a:p>
            <a:r>
              <a:rPr sz="1150" b="0">
                <a:solidFill>
                  <a:srgbClr val="2E2E2E"/>
                </a:solidFill>
                <a:latin typeface="Calibri"/>
              </a:rPr>
              <a:t>protein membrane market is fragmented, with the top three</a:t>
            </a:r>
          </a:p>
        </p:txBody>
      </p:sp>
      <p:sp>
        <p:nvSpPr>
          <p:cNvPr id="25" name="TextBox 24"/>
          <p:cNvSpPr txBox="1"/>
          <p:nvPr/>
        </p:nvSpPr>
        <p:spPr>
          <a:xfrm>
            <a:off x="7934325" y="2298961"/>
            <a:ext cx="2205049" cy="194310"/>
          </a:xfrm>
          <a:prstGeom prst="rect">
            <a:avLst/>
          </a:prstGeom>
          <a:noFill/>
        </p:spPr>
        <p:txBody>
          <a:bodyPr wrap="none" lIns="0" rIns="0" tIns="0" bIns="0">
            <a:spAutoFit/>
          </a:bodyPr>
          <a:lstStyle/>
          <a:p>
            <a:r>
              <a:rPr sz="1150" b="0">
                <a:solidFill>
                  <a:srgbClr val="2E2E2E"/>
                </a:solidFill>
                <a:latin typeface="Calibri"/>
              </a:rPr>
              <a:t>players accounting for an estimated</a:t>
            </a:r>
          </a:p>
        </p:txBody>
      </p:sp>
      <p:pic>
        <p:nvPicPr>
          <p:cNvPr id="26" name="Picture 25" descr="lock.png"/>
          <p:cNvPicPr>
            <a:picLocks noChangeAspect="1"/>
          </p:cNvPicPr>
          <p:nvPr/>
        </p:nvPicPr>
        <p:blipFill>
          <a:blip r:embed="rId5"/>
          <a:stretch>
            <a:fillRect/>
          </a:stretch>
        </p:blipFill>
        <p:spPr>
          <a:xfrm>
            <a:off x="10088528" y="2288737"/>
            <a:ext cx="134549" cy="195707"/>
          </a:xfrm>
          <a:prstGeom prst="rect">
            <a:avLst/>
          </a:prstGeom>
        </p:spPr>
      </p:pic>
      <p:sp>
        <p:nvSpPr>
          <p:cNvPr id="27" name="TextBox 26"/>
          <p:cNvSpPr txBox="1"/>
          <p:nvPr/>
        </p:nvSpPr>
        <p:spPr>
          <a:xfrm>
            <a:off x="10263638" y="2298961"/>
            <a:ext cx="1392361" cy="194310"/>
          </a:xfrm>
          <a:prstGeom prst="rect">
            <a:avLst/>
          </a:prstGeom>
          <a:noFill/>
        </p:spPr>
        <p:txBody>
          <a:bodyPr wrap="none" lIns="0" rIns="0" tIns="0" bIns="0">
            <a:spAutoFit/>
          </a:bodyPr>
          <a:lstStyle/>
          <a:p>
            <a:r>
              <a:rPr sz="1150" b="0">
                <a:solidFill>
                  <a:srgbClr val="2E2E2E"/>
                </a:solidFill>
                <a:latin typeface="Calibri"/>
              </a:rPr>
              <a:t>share of the market in</a:t>
            </a:r>
          </a:p>
        </p:txBody>
      </p:sp>
      <p:sp>
        <p:nvSpPr>
          <p:cNvPr id="28" name="TextBox 27"/>
          <p:cNvSpPr txBox="1"/>
          <p:nvPr/>
        </p:nvSpPr>
        <p:spPr>
          <a:xfrm>
            <a:off x="7934325" y="2474221"/>
            <a:ext cx="409661" cy="194310"/>
          </a:xfrm>
          <a:prstGeom prst="rect">
            <a:avLst/>
          </a:prstGeom>
          <a:noFill/>
        </p:spPr>
        <p:txBody>
          <a:bodyPr wrap="none" lIns="0" rIns="0" tIns="0" bIns="0">
            <a:spAutoFit/>
          </a:bodyPr>
          <a:lstStyle/>
          <a:p>
            <a:r>
              <a:rPr sz="1150" b="0">
                <a:solidFill>
                  <a:srgbClr val="2E2E2E"/>
                </a:solidFill>
                <a:latin typeface="Calibri"/>
              </a:rPr>
              <a:t>2026.</a:t>
            </a:r>
          </a:p>
        </p:txBody>
      </p:sp>
      <p:sp>
        <p:nvSpPr>
          <p:cNvPr id="29" name="TextBox 28"/>
          <p:cNvSpPr txBox="1"/>
          <p:nvPr/>
        </p:nvSpPr>
        <p:spPr>
          <a:xfrm>
            <a:off x="7934325" y="2702058"/>
            <a:ext cx="3093856" cy="194310"/>
          </a:xfrm>
          <a:prstGeom prst="rect">
            <a:avLst/>
          </a:prstGeom>
          <a:noFill/>
        </p:spPr>
        <p:txBody>
          <a:bodyPr wrap="none" lIns="0" rIns="0" tIns="0" bIns="0">
            <a:spAutoFit/>
          </a:bodyPr>
          <a:lstStyle/>
          <a:p>
            <a:r>
              <a:rPr sz="1150" b="0">
                <a:solidFill>
                  <a:srgbClr val="2E2E2E"/>
                </a:solidFill>
                <a:latin typeface="Calibri"/>
              </a:rPr>
              <a:t>ESM Technologies, LLC accounted for an estimated</a:t>
            </a:r>
          </a:p>
        </p:txBody>
      </p:sp>
      <p:pic>
        <p:nvPicPr>
          <p:cNvPr id="30" name="Picture 29" descr="lock.png"/>
          <p:cNvPicPr>
            <a:picLocks noChangeAspect="1"/>
          </p:cNvPicPr>
          <p:nvPr/>
        </p:nvPicPr>
        <p:blipFill>
          <a:blip r:embed="rId5"/>
          <a:stretch>
            <a:fillRect/>
          </a:stretch>
        </p:blipFill>
        <p:spPr>
          <a:xfrm>
            <a:off x="10977335" y="2691835"/>
            <a:ext cx="134549" cy="195707"/>
          </a:xfrm>
          <a:prstGeom prst="rect">
            <a:avLst/>
          </a:prstGeom>
        </p:spPr>
      </p:pic>
      <p:sp>
        <p:nvSpPr>
          <p:cNvPr id="31" name="TextBox 30"/>
          <p:cNvSpPr txBox="1"/>
          <p:nvPr/>
        </p:nvSpPr>
        <p:spPr>
          <a:xfrm>
            <a:off x="11152444" y="2702058"/>
            <a:ext cx="558279" cy="194310"/>
          </a:xfrm>
          <a:prstGeom prst="rect">
            <a:avLst/>
          </a:prstGeom>
          <a:noFill/>
        </p:spPr>
        <p:txBody>
          <a:bodyPr wrap="none" lIns="0" rIns="0" tIns="0" bIns="0">
            <a:spAutoFit/>
          </a:bodyPr>
          <a:lstStyle/>
          <a:p>
            <a:r>
              <a:rPr sz="1150" b="0">
                <a:solidFill>
                  <a:srgbClr val="2E2E2E"/>
                </a:solidFill>
                <a:latin typeface="Calibri"/>
              </a:rPr>
              <a:t>share of</a:t>
            </a:r>
          </a:p>
        </p:txBody>
      </p:sp>
      <p:sp>
        <p:nvSpPr>
          <p:cNvPr id="32" name="TextBox 31"/>
          <p:cNvSpPr txBox="1"/>
          <p:nvPr/>
        </p:nvSpPr>
        <p:spPr>
          <a:xfrm>
            <a:off x="7934325" y="2877318"/>
            <a:ext cx="2390179" cy="194310"/>
          </a:xfrm>
          <a:prstGeom prst="rect">
            <a:avLst/>
          </a:prstGeom>
          <a:noFill/>
        </p:spPr>
        <p:txBody>
          <a:bodyPr wrap="none" lIns="0" rIns="0" tIns="0" bIns="0">
            <a:spAutoFit/>
          </a:bodyPr>
          <a:lstStyle/>
          <a:p>
            <a:r>
              <a:rPr sz="1150" b="0">
                <a:solidFill>
                  <a:srgbClr val="2E2E2E"/>
                </a:solidFill>
                <a:latin typeface="Calibri"/>
              </a:rPr>
              <a:t>the market, followed by Company with</a:t>
            </a:r>
          </a:p>
        </p:txBody>
      </p:sp>
      <p:pic>
        <p:nvPicPr>
          <p:cNvPr id="33" name="Picture 32" descr="lock.png"/>
          <p:cNvPicPr>
            <a:picLocks noChangeAspect="1"/>
          </p:cNvPicPr>
          <p:nvPr/>
        </p:nvPicPr>
        <p:blipFill>
          <a:blip r:embed="rId5"/>
          <a:stretch>
            <a:fillRect/>
          </a:stretch>
        </p:blipFill>
        <p:spPr>
          <a:xfrm>
            <a:off x="10273658" y="2867095"/>
            <a:ext cx="134549" cy="195707"/>
          </a:xfrm>
          <a:prstGeom prst="rect">
            <a:avLst/>
          </a:prstGeom>
        </p:spPr>
      </p:pic>
      <p:sp>
        <p:nvSpPr>
          <p:cNvPr id="34" name="TextBox 33"/>
          <p:cNvSpPr txBox="1"/>
          <p:nvPr/>
        </p:nvSpPr>
        <p:spPr>
          <a:xfrm>
            <a:off x="10448767" y="2877318"/>
            <a:ext cx="1048019" cy="194310"/>
          </a:xfrm>
          <a:prstGeom prst="rect">
            <a:avLst/>
          </a:prstGeom>
          <a:noFill/>
        </p:spPr>
        <p:txBody>
          <a:bodyPr wrap="none" lIns="0" rIns="0" tIns="0" bIns="0">
            <a:spAutoFit/>
          </a:bodyPr>
          <a:lstStyle/>
          <a:p>
            <a:r>
              <a:rPr sz="1150" b="0">
                <a:solidFill>
                  <a:srgbClr val="2E2E2E"/>
                </a:solidFill>
                <a:latin typeface="Calibri"/>
              </a:rPr>
              <a:t>. Key players are</a:t>
            </a:r>
          </a:p>
        </p:txBody>
      </p:sp>
      <p:sp>
        <p:nvSpPr>
          <p:cNvPr id="35" name="TextBox 34"/>
          <p:cNvSpPr txBox="1"/>
          <p:nvPr/>
        </p:nvSpPr>
        <p:spPr>
          <a:xfrm>
            <a:off x="7934325" y="3052578"/>
            <a:ext cx="3551448" cy="194310"/>
          </a:xfrm>
          <a:prstGeom prst="rect">
            <a:avLst/>
          </a:prstGeom>
          <a:noFill/>
        </p:spPr>
        <p:txBody>
          <a:bodyPr wrap="none" lIns="0" rIns="0" tIns="0" bIns="0">
            <a:spAutoFit/>
          </a:bodyPr>
          <a:lstStyle/>
          <a:p>
            <a:r>
              <a:rPr sz="1150" b="0">
                <a:solidFill>
                  <a:srgbClr val="2E2E2E"/>
                </a:solidFill>
                <a:latin typeface="Calibri"/>
              </a:rPr>
              <a:t>focusing on product innovation, geographic expansion and</a:t>
            </a:r>
          </a:p>
        </p:txBody>
      </p:sp>
      <p:sp>
        <p:nvSpPr>
          <p:cNvPr id="36" name="TextBox 35"/>
          <p:cNvSpPr txBox="1"/>
          <p:nvPr/>
        </p:nvSpPr>
        <p:spPr>
          <a:xfrm>
            <a:off x="7934325" y="3227838"/>
            <a:ext cx="3540038" cy="194310"/>
          </a:xfrm>
          <a:prstGeom prst="rect">
            <a:avLst/>
          </a:prstGeom>
          <a:noFill/>
        </p:spPr>
        <p:txBody>
          <a:bodyPr wrap="none" lIns="0" rIns="0" tIns="0" bIns="0">
            <a:spAutoFit/>
          </a:bodyPr>
          <a:lstStyle/>
          <a:p>
            <a:r>
              <a:rPr sz="1150" b="0">
                <a:solidFill>
                  <a:srgbClr val="2E2E2E"/>
                </a:solidFill>
                <a:latin typeface="Calibri"/>
              </a:rPr>
              <a:t>strategic partnerships to strengthen their market position.</a:t>
            </a:r>
          </a:p>
        </p:txBody>
      </p:sp>
      <p:sp>
        <p:nvSpPr>
          <p:cNvPr id="37" name="TextBox 36"/>
          <p:cNvSpPr txBox="1"/>
          <p:nvPr/>
        </p:nvSpPr>
        <p:spPr>
          <a:xfrm>
            <a:off x="7934325" y="3455676"/>
            <a:ext cx="3647864" cy="194310"/>
          </a:xfrm>
          <a:prstGeom prst="rect">
            <a:avLst/>
          </a:prstGeom>
          <a:noFill/>
        </p:spPr>
        <p:txBody>
          <a:bodyPr wrap="none" lIns="0" rIns="0" tIns="0" bIns="0">
            <a:spAutoFit/>
          </a:bodyPr>
          <a:lstStyle/>
          <a:p>
            <a:r>
              <a:rPr sz="1150" b="0">
                <a:solidFill>
                  <a:srgbClr val="2E2E2E"/>
                </a:solidFill>
                <a:latin typeface="Calibri"/>
              </a:rPr>
              <a:t>Regional share differs from the global picture use the region</a:t>
            </a:r>
          </a:p>
        </p:txBody>
      </p:sp>
      <p:sp>
        <p:nvSpPr>
          <p:cNvPr id="38" name="TextBox 37"/>
          <p:cNvSpPr txBox="1"/>
          <p:nvPr/>
        </p:nvSpPr>
        <p:spPr>
          <a:xfrm>
            <a:off x="7934325" y="3630936"/>
            <a:ext cx="3444763" cy="194310"/>
          </a:xfrm>
          <a:prstGeom prst="rect">
            <a:avLst/>
          </a:prstGeom>
          <a:noFill/>
        </p:spPr>
        <p:txBody>
          <a:bodyPr wrap="none" lIns="0" rIns="0" tIns="0" bIns="0">
            <a:spAutoFit/>
          </a:bodyPr>
          <a:lstStyle/>
          <a:p>
            <a:r>
              <a:rPr sz="1150" b="0">
                <a:solidFill>
                  <a:srgbClr val="2E2E2E"/>
                </a:solidFill>
                <a:latin typeface="Calibri"/>
              </a:rPr>
              <a:t>selector to see how leadership shifts across geographies.</a:t>
            </a:r>
          </a:p>
        </p:txBody>
      </p:sp>
      <p:sp>
        <p:nvSpPr>
          <p:cNvPr id="39" name="lockshield_10"/>
          <p:cNvSpPr/>
          <p:nvPr/>
        </p:nvSpPr>
        <p:spPr>
          <a:xfrm>
            <a:off x="238125" y="1639831"/>
            <a:ext cx="7353300" cy="4877658"/>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Egg Protein Membrane Market Company Share by Product Type (Top 3)</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company value share within each leading product type, highlighting where leadership differs</a:t>
            </a:r>
          </a:p>
        </p:txBody>
      </p:sp>
      <p:sp>
        <p:nvSpPr>
          <p:cNvPr id="7" name="Rounded Rectangle 6"/>
          <p:cNvSpPr/>
          <p:nvPr/>
        </p:nvSpPr>
        <p:spPr>
          <a:xfrm>
            <a:off x="142875" y="1007261"/>
            <a:ext cx="11906250" cy="255552"/>
          </a:xfrm>
          <a:prstGeom prst="roundRect">
            <a:avLst>
              <a:gd name="adj" fmla="val 29817"/>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Company value share within each of the leading product types where each player concentrates, and how leadership varies by formulation.</a:t>
            </a:r>
          </a:p>
        </p:txBody>
      </p:sp>
      <p:sp>
        <p:nvSpPr>
          <p:cNvPr id="8" name="Rounded Rectangle 7"/>
          <p:cNvSpPr/>
          <p:nvPr/>
        </p:nvSpPr>
        <p:spPr>
          <a:xfrm>
            <a:off x="142875" y="1299320"/>
            <a:ext cx="3829050" cy="3212651"/>
          </a:xfrm>
          <a:prstGeom prst="roundRect">
            <a:avLst>
              <a:gd name="adj" fmla="val 2371"/>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356470"/>
            <a:ext cx="36385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Micronized Eggshell Membrane</a:t>
            </a:r>
          </a:p>
        </p:txBody>
      </p:sp>
      <p:graphicFrame>
        <p:nvGraphicFramePr>
          <p:cNvPr id="10" name="Chart 9"/>
          <p:cNvGraphicFramePr>
            <a:graphicFrameLocks noGrp="1"/>
          </p:cNvGraphicFramePr>
          <p:nvPr/>
        </p:nvGraphicFramePr>
        <p:xfrm>
          <a:off x="238125" y="1585070"/>
          <a:ext cx="3638550" cy="2869751"/>
        </p:xfrm>
        <a:graphic>
          <a:graphicData uri="http://schemas.openxmlformats.org/drawingml/2006/chart">
            <c:chart xmlns:c="http://schemas.openxmlformats.org/drawingml/2006/chart" r:id="rId3"/>
          </a:graphicData>
        </a:graphic>
      </p:graphicFrame>
      <p:sp>
        <p:nvSpPr>
          <p:cNvPr id="11" name="Rounded Rectangle 10"/>
          <p:cNvSpPr/>
          <p:nvPr/>
        </p:nvSpPr>
        <p:spPr>
          <a:xfrm>
            <a:off x="4124325" y="1299320"/>
            <a:ext cx="3829050" cy="3212651"/>
          </a:xfrm>
          <a:prstGeom prst="roundRect">
            <a:avLst>
              <a:gd name="adj" fmla="val 2371"/>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219575" y="1356470"/>
            <a:ext cx="36385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Specialty Extracted Protein Fractions</a:t>
            </a:r>
          </a:p>
        </p:txBody>
      </p:sp>
      <p:graphicFrame>
        <p:nvGraphicFramePr>
          <p:cNvPr id="13" name="Chart 12"/>
          <p:cNvGraphicFramePr>
            <a:graphicFrameLocks noGrp="1"/>
          </p:cNvGraphicFramePr>
          <p:nvPr/>
        </p:nvGraphicFramePr>
        <p:xfrm>
          <a:off x="4219575" y="1585070"/>
          <a:ext cx="3638550" cy="2869751"/>
        </p:xfrm>
        <a:graphic>
          <a:graphicData uri="http://schemas.openxmlformats.org/drawingml/2006/chart">
            <c:chart xmlns:c="http://schemas.openxmlformats.org/drawingml/2006/chart" r:id="rId4"/>
          </a:graphicData>
        </a:graphic>
      </p:graphicFrame>
      <p:sp>
        <p:nvSpPr>
          <p:cNvPr id="14" name="Rounded Rectangle 13"/>
          <p:cNvSpPr/>
          <p:nvPr/>
        </p:nvSpPr>
        <p:spPr>
          <a:xfrm>
            <a:off x="8105775" y="1299320"/>
            <a:ext cx="3943350" cy="3212651"/>
          </a:xfrm>
          <a:prstGeom prst="roundRect">
            <a:avLst>
              <a:gd name="adj" fmla="val 2371"/>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01025" y="1356470"/>
            <a:ext cx="37528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Hydrolyzed Eggshell Membrane</a:t>
            </a:r>
          </a:p>
        </p:txBody>
      </p:sp>
      <p:graphicFrame>
        <p:nvGraphicFramePr>
          <p:cNvPr id="16" name="Chart 15"/>
          <p:cNvGraphicFramePr>
            <a:graphicFrameLocks noGrp="1"/>
          </p:cNvGraphicFramePr>
          <p:nvPr/>
        </p:nvGraphicFramePr>
        <p:xfrm>
          <a:off x="8201025" y="1585070"/>
          <a:ext cx="3752850" cy="2869751"/>
        </p:xfrm>
        <a:graphic>
          <a:graphicData uri="http://schemas.openxmlformats.org/drawingml/2006/chart">
            <c:chart xmlns:c="http://schemas.openxmlformats.org/drawingml/2006/chart" r:id="rId5"/>
          </a:graphicData>
        </a:graphic>
      </p:graphicFrame>
      <p:sp>
        <p:nvSpPr>
          <p:cNvPr id="17" name="Rounded Rectangle 16"/>
          <p:cNvSpPr/>
          <p:nvPr/>
        </p:nvSpPr>
        <p:spPr>
          <a:xfrm>
            <a:off x="142875" y="4603240"/>
            <a:ext cx="11906250" cy="1971399"/>
          </a:xfrm>
          <a:prstGeom prst="roundRect">
            <a:avLst>
              <a:gd name="adj" fmla="val 3865"/>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76225" y="4688965"/>
            <a:ext cx="11639550" cy="209550"/>
          </a:xfrm>
          <a:prstGeom prst="rect">
            <a:avLst/>
          </a:prstGeom>
          <a:noFill/>
        </p:spPr>
        <p:txBody>
          <a:bodyPr wrap="square" lIns="0" rIns="19050" tIns="9525" bIns="9525">
            <a:spAutoFit/>
          </a:bodyPr>
          <a:lstStyle/>
          <a:p>
            <a:pPr algn="l"/>
            <a:r>
              <a:rPr sz="1300" b="1">
                <a:solidFill>
                  <a:srgbClr val="0E2A5C"/>
                </a:solidFill>
                <a:latin typeface="Calibri"/>
              </a:rPr>
              <a:t>Company Share Key Takeaways</a:t>
            </a:r>
          </a:p>
        </p:txBody>
      </p:sp>
      <p:sp>
        <p:nvSpPr>
          <p:cNvPr id="19" name="Rectangle 18"/>
          <p:cNvSpPr/>
          <p:nvPr/>
        </p:nvSpPr>
        <p:spPr>
          <a:xfrm>
            <a:off x="276225" y="4927090"/>
            <a:ext cx="116395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76225" y="5012815"/>
            <a:ext cx="11639550" cy="1485624"/>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p:txBody>
      </p:sp>
      <p:sp>
        <p:nvSpPr>
          <p:cNvPr id="21" name="Rectangle 20"/>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23" name="Picture 22" descr="lock.png"/>
          <p:cNvPicPr>
            <a:picLocks noChangeAspect="1"/>
          </p:cNvPicPr>
          <p:nvPr/>
        </p:nvPicPr>
        <p:blipFill>
          <a:blip r:embed="rId7"/>
          <a:stretch>
            <a:fillRect/>
          </a:stretch>
        </p:blipFill>
        <p:spPr>
          <a:xfrm>
            <a:off x="1233011" y="2619895"/>
            <a:ext cx="523875" cy="762000"/>
          </a:xfrm>
          <a:prstGeom prst="rect">
            <a:avLst/>
          </a:prstGeom>
        </p:spPr>
      </p:pic>
      <p:pic>
        <p:nvPicPr>
          <p:cNvPr id="24" name="Picture 23" descr="lock.png"/>
          <p:cNvPicPr>
            <a:picLocks noChangeAspect="1"/>
          </p:cNvPicPr>
          <p:nvPr/>
        </p:nvPicPr>
        <p:blipFill>
          <a:blip r:embed="rId7"/>
          <a:stretch>
            <a:fillRect/>
          </a:stretch>
        </p:blipFill>
        <p:spPr>
          <a:xfrm>
            <a:off x="5214461" y="2619895"/>
            <a:ext cx="523875" cy="762000"/>
          </a:xfrm>
          <a:prstGeom prst="rect">
            <a:avLst/>
          </a:prstGeom>
        </p:spPr>
      </p:pic>
      <p:pic>
        <p:nvPicPr>
          <p:cNvPr id="25" name="Picture 24" descr="lock.png"/>
          <p:cNvPicPr>
            <a:picLocks noChangeAspect="1"/>
          </p:cNvPicPr>
          <p:nvPr/>
        </p:nvPicPr>
        <p:blipFill>
          <a:blip r:embed="rId7"/>
          <a:stretch>
            <a:fillRect/>
          </a:stretch>
        </p:blipFill>
        <p:spPr>
          <a:xfrm>
            <a:off x="9235916" y="2619895"/>
            <a:ext cx="523875" cy="762000"/>
          </a:xfrm>
          <a:prstGeom prst="rect">
            <a:avLst/>
          </a:prstGeom>
        </p:spPr>
      </p:pic>
      <p:sp>
        <p:nvSpPr>
          <p:cNvPr id="26" name="TextBox 25"/>
          <p:cNvSpPr txBox="1"/>
          <p:nvPr/>
        </p:nvSpPr>
        <p:spPr>
          <a:xfrm>
            <a:off x="276225" y="5022340"/>
            <a:ext cx="4120770" cy="194310"/>
          </a:xfrm>
          <a:prstGeom prst="rect">
            <a:avLst/>
          </a:prstGeom>
          <a:noFill/>
        </p:spPr>
        <p:txBody>
          <a:bodyPr wrap="none" lIns="0" rIns="0" tIns="0" bIns="0">
            <a:spAutoFit/>
          </a:bodyPr>
          <a:lstStyle/>
          <a:p>
            <a:r>
              <a:rPr sz="1150" b="0">
                <a:solidFill>
                  <a:srgbClr val="2E2E2E"/>
                </a:solidFill>
                <a:latin typeface="Calibri"/>
              </a:rPr>
              <a:t>▪ Micronized Eggshell Membrane: 'ESM Technologies, LLC' leads at ~</a:t>
            </a:r>
          </a:p>
        </p:txBody>
      </p:sp>
      <p:pic>
        <p:nvPicPr>
          <p:cNvPr id="27" name="Picture 26" descr="lock.png"/>
          <p:cNvPicPr>
            <a:picLocks noChangeAspect="1"/>
          </p:cNvPicPr>
          <p:nvPr/>
        </p:nvPicPr>
        <p:blipFill>
          <a:blip r:embed="rId7"/>
          <a:stretch>
            <a:fillRect/>
          </a:stretch>
        </p:blipFill>
        <p:spPr>
          <a:xfrm>
            <a:off x="4346149" y="5012116"/>
            <a:ext cx="134549" cy="195707"/>
          </a:xfrm>
          <a:prstGeom prst="rect">
            <a:avLst/>
          </a:prstGeom>
        </p:spPr>
      </p:pic>
      <p:sp>
        <p:nvSpPr>
          <p:cNvPr id="28" name="TextBox 27"/>
          <p:cNvSpPr txBox="1"/>
          <p:nvPr/>
        </p:nvSpPr>
        <p:spPr>
          <a:xfrm>
            <a:off x="4521258" y="5022340"/>
            <a:ext cx="1654509" cy="194310"/>
          </a:xfrm>
          <a:prstGeom prst="rect">
            <a:avLst/>
          </a:prstGeom>
          <a:noFill/>
        </p:spPr>
        <p:txBody>
          <a:bodyPr wrap="none" lIns="0" rIns="0" tIns="0" bIns="0">
            <a:spAutoFit/>
          </a:bodyPr>
          <a:lstStyle/>
          <a:p>
            <a:r>
              <a:rPr sz="1150" b="0">
                <a:solidFill>
                  <a:srgbClr val="2E2E2E"/>
                </a:solidFill>
                <a:latin typeface="Calibri"/>
              </a:rPr>
              <a:t>, ahead of 'Eggnovo S.L.' (~</a:t>
            </a:r>
          </a:p>
        </p:txBody>
      </p:sp>
      <p:pic>
        <p:nvPicPr>
          <p:cNvPr id="29" name="Picture 28" descr="lock.png"/>
          <p:cNvPicPr>
            <a:picLocks noChangeAspect="1"/>
          </p:cNvPicPr>
          <p:nvPr/>
        </p:nvPicPr>
        <p:blipFill>
          <a:blip r:embed="rId7"/>
          <a:stretch>
            <a:fillRect/>
          </a:stretch>
        </p:blipFill>
        <p:spPr>
          <a:xfrm>
            <a:off x="6124922" y="5012116"/>
            <a:ext cx="134549" cy="195707"/>
          </a:xfrm>
          <a:prstGeom prst="rect">
            <a:avLst/>
          </a:prstGeom>
        </p:spPr>
      </p:pic>
      <p:sp>
        <p:nvSpPr>
          <p:cNvPr id="30" name="TextBox 29"/>
          <p:cNvSpPr txBox="1"/>
          <p:nvPr/>
        </p:nvSpPr>
        <p:spPr>
          <a:xfrm>
            <a:off x="6300031" y="5022340"/>
            <a:ext cx="1385515" cy="194310"/>
          </a:xfrm>
          <a:prstGeom prst="rect">
            <a:avLst/>
          </a:prstGeom>
          <a:noFill/>
        </p:spPr>
        <p:txBody>
          <a:bodyPr wrap="none" lIns="0" rIns="0" tIns="0" bIns="0">
            <a:spAutoFit/>
          </a:bodyPr>
          <a:lstStyle/>
          <a:p>
            <a:r>
              <a:rPr sz="1150" b="0">
                <a:solidFill>
                  <a:srgbClr val="2E2E2E"/>
                </a:solidFill>
                <a:latin typeface="Calibri"/>
              </a:rPr>
              <a:t>); the top three hold ~</a:t>
            </a:r>
          </a:p>
        </p:txBody>
      </p:sp>
      <p:pic>
        <p:nvPicPr>
          <p:cNvPr id="31" name="Picture 30" descr="lock.png"/>
          <p:cNvPicPr>
            <a:picLocks noChangeAspect="1"/>
          </p:cNvPicPr>
          <p:nvPr/>
        </p:nvPicPr>
        <p:blipFill>
          <a:blip r:embed="rId7"/>
          <a:stretch>
            <a:fillRect/>
          </a:stretch>
        </p:blipFill>
        <p:spPr>
          <a:xfrm>
            <a:off x="7634701" y="5012116"/>
            <a:ext cx="134549" cy="195707"/>
          </a:xfrm>
          <a:prstGeom prst="rect">
            <a:avLst/>
          </a:prstGeom>
        </p:spPr>
      </p:pic>
      <p:sp>
        <p:nvSpPr>
          <p:cNvPr id="32" name="TextBox 31"/>
          <p:cNvSpPr txBox="1"/>
          <p:nvPr/>
        </p:nvSpPr>
        <p:spPr>
          <a:xfrm>
            <a:off x="7809810" y="5022340"/>
            <a:ext cx="1606301" cy="194310"/>
          </a:xfrm>
          <a:prstGeom prst="rect">
            <a:avLst/>
          </a:prstGeom>
          <a:noFill/>
        </p:spPr>
        <p:txBody>
          <a:bodyPr wrap="none" lIns="0" rIns="0" tIns="0" bIns="0">
            <a:spAutoFit/>
          </a:bodyPr>
          <a:lstStyle/>
          <a:p>
            <a:r>
              <a:rPr sz="1150" b="0">
                <a:solidFill>
                  <a:srgbClr val="2E2E2E"/>
                </a:solidFill>
                <a:latin typeface="Calibri"/>
              </a:rPr>
              <a:t>and a long tail ('Others') ~</a:t>
            </a:r>
          </a:p>
        </p:txBody>
      </p:sp>
      <p:pic>
        <p:nvPicPr>
          <p:cNvPr id="33" name="Picture 32" descr="lock.png"/>
          <p:cNvPicPr>
            <a:picLocks noChangeAspect="1"/>
          </p:cNvPicPr>
          <p:nvPr/>
        </p:nvPicPr>
        <p:blipFill>
          <a:blip r:embed="rId7"/>
          <a:stretch>
            <a:fillRect/>
          </a:stretch>
        </p:blipFill>
        <p:spPr>
          <a:xfrm>
            <a:off x="9365266" y="5012116"/>
            <a:ext cx="134549" cy="195707"/>
          </a:xfrm>
          <a:prstGeom prst="rect">
            <a:avLst/>
          </a:prstGeom>
        </p:spPr>
      </p:pic>
      <p:sp>
        <p:nvSpPr>
          <p:cNvPr id="34" name="TextBox 33"/>
          <p:cNvSpPr txBox="1"/>
          <p:nvPr/>
        </p:nvSpPr>
        <p:spPr>
          <a:xfrm>
            <a:off x="9540375" y="5022340"/>
            <a:ext cx="112997" cy="194310"/>
          </a:xfrm>
          <a:prstGeom prst="rect">
            <a:avLst/>
          </a:prstGeom>
          <a:noFill/>
        </p:spPr>
        <p:txBody>
          <a:bodyPr wrap="none" lIns="0" rIns="0" tIns="0" bIns="0">
            <a:spAutoFit/>
          </a:bodyPr>
          <a:lstStyle/>
          <a:p>
            <a:r>
              <a:rPr sz="1150" b="0">
                <a:solidFill>
                  <a:srgbClr val="2E2E2E"/>
                </a:solidFill>
                <a:latin typeface="Calibri"/>
              </a:rPr>
              <a:t>.</a:t>
            </a:r>
          </a:p>
        </p:txBody>
      </p:sp>
      <p:sp>
        <p:nvSpPr>
          <p:cNvPr id="35" name="TextBox 34"/>
          <p:cNvSpPr txBox="1"/>
          <p:nvPr/>
        </p:nvSpPr>
        <p:spPr>
          <a:xfrm>
            <a:off x="276225" y="5250177"/>
            <a:ext cx="3669235" cy="194310"/>
          </a:xfrm>
          <a:prstGeom prst="rect">
            <a:avLst/>
          </a:prstGeom>
          <a:noFill/>
        </p:spPr>
        <p:txBody>
          <a:bodyPr wrap="none" lIns="0" rIns="0" tIns="0" bIns="0">
            <a:spAutoFit/>
          </a:bodyPr>
          <a:lstStyle/>
          <a:p>
            <a:r>
              <a:rPr sz="1150" b="0">
                <a:solidFill>
                  <a:srgbClr val="2E2E2E"/>
                </a:solidFill>
                <a:latin typeface="Calibri"/>
              </a:rPr>
              <a:t>▪ Specialty Extracted Protein Fractions: 'Biova, LLC' leads at ~</a:t>
            </a:r>
          </a:p>
        </p:txBody>
      </p:sp>
      <p:pic>
        <p:nvPicPr>
          <p:cNvPr id="36" name="Picture 35" descr="lock.png"/>
          <p:cNvPicPr>
            <a:picLocks noChangeAspect="1"/>
          </p:cNvPicPr>
          <p:nvPr/>
        </p:nvPicPr>
        <p:blipFill>
          <a:blip r:embed="rId7"/>
          <a:stretch>
            <a:fillRect/>
          </a:stretch>
        </p:blipFill>
        <p:spPr>
          <a:xfrm>
            <a:off x="3894614" y="5239954"/>
            <a:ext cx="134549" cy="195707"/>
          </a:xfrm>
          <a:prstGeom prst="rect">
            <a:avLst/>
          </a:prstGeom>
        </p:spPr>
      </p:pic>
      <p:sp>
        <p:nvSpPr>
          <p:cNvPr id="37" name="TextBox 36"/>
          <p:cNvSpPr txBox="1"/>
          <p:nvPr/>
        </p:nvSpPr>
        <p:spPr>
          <a:xfrm>
            <a:off x="4069724" y="5250177"/>
            <a:ext cx="1475085" cy="194310"/>
          </a:xfrm>
          <a:prstGeom prst="rect">
            <a:avLst/>
          </a:prstGeom>
          <a:noFill/>
        </p:spPr>
        <p:txBody>
          <a:bodyPr wrap="none" lIns="0" rIns="0" tIns="0" bIns="0">
            <a:spAutoFit/>
          </a:bodyPr>
          <a:lstStyle/>
          <a:p>
            <a:r>
              <a:rPr sz="1150" b="0">
                <a:solidFill>
                  <a:srgbClr val="2E2E2E"/>
                </a:solidFill>
                <a:latin typeface="Calibri"/>
              </a:rPr>
              <a:t>, ahead of 'Company' (~</a:t>
            </a:r>
          </a:p>
        </p:txBody>
      </p:sp>
      <p:pic>
        <p:nvPicPr>
          <p:cNvPr id="38" name="Picture 37" descr="lock.png"/>
          <p:cNvPicPr>
            <a:picLocks noChangeAspect="1"/>
          </p:cNvPicPr>
          <p:nvPr/>
        </p:nvPicPr>
        <p:blipFill>
          <a:blip r:embed="rId7"/>
          <a:stretch>
            <a:fillRect/>
          </a:stretch>
        </p:blipFill>
        <p:spPr>
          <a:xfrm>
            <a:off x="5493963" y="5239954"/>
            <a:ext cx="134549" cy="195707"/>
          </a:xfrm>
          <a:prstGeom prst="rect">
            <a:avLst/>
          </a:prstGeom>
        </p:spPr>
      </p:pic>
      <p:sp>
        <p:nvSpPr>
          <p:cNvPr id="39" name="TextBox 38"/>
          <p:cNvSpPr txBox="1"/>
          <p:nvPr/>
        </p:nvSpPr>
        <p:spPr>
          <a:xfrm>
            <a:off x="5669072" y="5250177"/>
            <a:ext cx="1385515" cy="194310"/>
          </a:xfrm>
          <a:prstGeom prst="rect">
            <a:avLst/>
          </a:prstGeom>
          <a:noFill/>
        </p:spPr>
        <p:txBody>
          <a:bodyPr wrap="none" lIns="0" rIns="0" tIns="0" bIns="0">
            <a:spAutoFit/>
          </a:bodyPr>
          <a:lstStyle/>
          <a:p>
            <a:r>
              <a:rPr sz="1150" b="0">
                <a:solidFill>
                  <a:srgbClr val="2E2E2E"/>
                </a:solidFill>
                <a:latin typeface="Calibri"/>
              </a:rPr>
              <a:t>); the top three hold ~</a:t>
            </a:r>
          </a:p>
        </p:txBody>
      </p:sp>
      <p:pic>
        <p:nvPicPr>
          <p:cNvPr id="40" name="Picture 39" descr="lock.png"/>
          <p:cNvPicPr>
            <a:picLocks noChangeAspect="1"/>
          </p:cNvPicPr>
          <p:nvPr/>
        </p:nvPicPr>
        <p:blipFill>
          <a:blip r:embed="rId7"/>
          <a:stretch>
            <a:fillRect/>
          </a:stretch>
        </p:blipFill>
        <p:spPr>
          <a:xfrm>
            <a:off x="7003741" y="5239954"/>
            <a:ext cx="134549" cy="195707"/>
          </a:xfrm>
          <a:prstGeom prst="rect">
            <a:avLst/>
          </a:prstGeom>
        </p:spPr>
      </p:pic>
      <p:sp>
        <p:nvSpPr>
          <p:cNvPr id="41" name="TextBox 40"/>
          <p:cNvSpPr txBox="1"/>
          <p:nvPr/>
        </p:nvSpPr>
        <p:spPr>
          <a:xfrm>
            <a:off x="7178851" y="5250177"/>
            <a:ext cx="1606301" cy="194310"/>
          </a:xfrm>
          <a:prstGeom prst="rect">
            <a:avLst/>
          </a:prstGeom>
          <a:noFill/>
        </p:spPr>
        <p:txBody>
          <a:bodyPr wrap="none" lIns="0" rIns="0" tIns="0" bIns="0">
            <a:spAutoFit/>
          </a:bodyPr>
          <a:lstStyle/>
          <a:p>
            <a:r>
              <a:rPr sz="1150" b="0">
                <a:solidFill>
                  <a:srgbClr val="2E2E2E"/>
                </a:solidFill>
                <a:latin typeface="Calibri"/>
              </a:rPr>
              <a:t>and a long tail ('Others') ~</a:t>
            </a:r>
          </a:p>
        </p:txBody>
      </p:sp>
      <p:pic>
        <p:nvPicPr>
          <p:cNvPr id="42" name="Picture 41" descr="lock.png"/>
          <p:cNvPicPr>
            <a:picLocks noChangeAspect="1"/>
          </p:cNvPicPr>
          <p:nvPr/>
        </p:nvPicPr>
        <p:blipFill>
          <a:blip r:embed="rId7"/>
          <a:stretch>
            <a:fillRect/>
          </a:stretch>
        </p:blipFill>
        <p:spPr>
          <a:xfrm>
            <a:off x="8734307" y="5239954"/>
            <a:ext cx="134549" cy="195707"/>
          </a:xfrm>
          <a:prstGeom prst="rect">
            <a:avLst/>
          </a:prstGeom>
        </p:spPr>
      </p:pic>
      <p:sp>
        <p:nvSpPr>
          <p:cNvPr id="43" name="TextBox 42"/>
          <p:cNvSpPr txBox="1"/>
          <p:nvPr/>
        </p:nvSpPr>
        <p:spPr>
          <a:xfrm>
            <a:off x="8909416" y="5250177"/>
            <a:ext cx="112997" cy="194310"/>
          </a:xfrm>
          <a:prstGeom prst="rect">
            <a:avLst/>
          </a:prstGeom>
          <a:noFill/>
        </p:spPr>
        <p:txBody>
          <a:bodyPr wrap="none" lIns="0" rIns="0" tIns="0" bIns="0">
            <a:spAutoFit/>
          </a:bodyPr>
          <a:lstStyle/>
          <a:p>
            <a:r>
              <a:rPr sz="1150" b="0">
                <a:solidFill>
                  <a:srgbClr val="2E2E2E"/>
                </a:solidFill>
                <a:latin typeface="Calibri"/>
              </a:rPr>
              <a:t>.</a:t>
            </a:r>
          </a:p>
        </p:txBody>
      </p:sp>
      <p:sp>
        <p:nvSpPr>
          <p:cNvPr id="44" name="TextBox 43"/>
          <p:cNvSpPr txBox="1"/>
          <p:nvPr/>
        </p:nvSpPr>
        <p:spPr>
          <a:xfrm>
            <a:off x="276225" y="5478015"/>
            <a:ext cx="4123623" cy="194310"/>
          </a:xfrm>
          <a:prstGeom prst="rect">
            <a:avLst/>
          </a:prstGeom>
          <a:noFill/>
        </p:spPr>
        <p:txBody>
          <a:bodyPr wrap="none" lIns="0" rIns="0" tIns="0" bIns="0">
            <a:spAutoFit/>
          </a:bodyPr>
          <a:lstStyle/>
          <a:p>
            <a:r>
              <a:rPr sz="1150" b="0">
                <a:solidFill>
                  <a:srgbClr val="2E2E2E"/>
                </a:solidFill>
                <a:latin typeface="Calibri"/>
              </a:rPr>
              <a:t>▪ Hydrolyzed Eggshell Membrane: 'ESM Technologies, LLC' leads at ~</a:t>
            </a:r>
          </a:p>
        </p:txBody>
      </p:sp>
      <p:pic>
        <p:nvPicPr>
          <p:cNvPr id="45" name="Picture 44" descr="lock.png"/>
          <p:cNvPicPr>
            <a:picLocks noChangeAspect="1"/>
          </p:cNvPicPr>
          <p:nvPr/>
        </p:nvPicPr>
        <p:blipFill>
          <a:blip r:embed="rId7"/>
          <a:stretch>
            <a:fillRect/>
          </a:stretch>
        </p:blipFill>
        <p:spPr>
          <a:xfrm>
            <a:off x="4349002" y="5467792"/>
            <a:ext cx="134549" cy="195707"/>
          </a:xfrm>
          <a:prstGeom prst="rect">
            <a:avLst/>
          </a:prstGeom>
        </p:spPr>
      </p:pic>
      <p:sp>
        <p:nvSpPr>
          <p:cNvPr id="46" name="TextBox 45"/>
          <p:cNvSpPr txBox="1"/>
          <p:nvPr/>
        </p:nvSpPr>
        <p:spPr>
          <a:xfrm>
            <a:off x="4524111" y="5478015"/>
            <a:ext cx="1475085" cy="194310"/>
          </a:xfrm>
          <a:prstGeom prst="rect">
            <a:avLst/>
          </a:prstGeom>
          <a:noFill/>
        </p:spPr>
        <p:txBody>
          <a:bodyPr wrap="none" lIns="0" rIns="0" tIns="0" bIns="0">
            <a:spAutoFit/>
          </a:bodyPr>
          <a:lstStyle/>
          <a:p>
            <a:r>
              <a:rPr sz="1150" b="0">
                <a:solidFill>
                  <a:srgbClr val="2E2E2E"/>
                </a:solidFill>
                <a:latin typeface="Calibri"/>
              </a:rPr>
              <a:t>, ahead of 'Company' (~</a:t>
            </a:r>
          </a:p>
        </p:txBody>
      </p:sp>
      <p:pic>
        <p:nvPicPr>
          <p:cNvPr id="47" name="Picture 46" descr="lock.png"/>
          <p:cNvPicPr>
            <a:picLocks noChangeAspect="1"/>
          </p:cNvPicPr>
          <p:nvPr/>
        </p:nvPicPr>
        <p:blipFill>
          <a:blip r:embed="rId7"/>
          <a:stretch>
            <a:fillRect/>
          </a:stretch>
        </p:blipFill>
        <p:spPr>
          <a:xfrm>
            <a:off x="5948350" y="5467792"/>
            <a:ext cx="134549" cy="195707"/>
          </a:xfrm>
          <a:prstGeom prst="rect">
            <a:avLst/>
          </a:prstGeom>
        </p:spPr>
      </p:pic>
      <p:sp>
        <p:nvSpPr>
          <p:cNvPr id="48" name="TextBox 47"/>
          <p:cNvSpPr txBox="1"/>
          <p:nvPr/>
        </p:nvSpPr>
        <p:spPr>
          <a:xfrm>
            <a:off x="6123459" y="5478015"/>
            <a:ext cx="1385515" cy="194310"/>
          </a:xfrm>
          <a:prstGeom prst="rect">
            <a:avLst/>
          </a:prstGeom>
          <a:noFill/>
        </p:spPr>
        <p:txBody>
          <a:bodyPr wrap="none" lIns="0" rIns="0" tIns="0" bIns="0">
            <a:spAutoFit/>
          </a:bodyPr>
          <a:lstStyle/>
          <a:p>
            <a:r>
              <a:rPr sz="1150" b="0">
                <a:solidFill>
                  <a:srgbClr val="2E2E2E"/>
                </a:solidFill>
                <a:latin typeface="Calibri"/>
              </a:rPr>
              <a:t>); the top three hold ~</a:t>
            </a:r>
          </a:p>
        </p:txBody>
      </p:sp>
      <p:pic>
        <p:nvPicPr>
          <p:cNvPr id="49" name="Picture 48" descr="lock.png"/>
          <p:cNvPicPr>
            <a:picLocks noChangeAspect="1"/>
          </p:cNvPicPr>
          <p:nvPr/>
        </p:nvPicPr>
        <p:blipFill>
          <a:blip r:embed="rId7"/>
          <a:stretch>
            <a:fillRect/>
          </a:stretch>
        </p:blipFill>
        <p:spPr>
          <a:xfrm>
            <a:off x="7458129" y="5467792"/>
            <a:ext cx="134549" cy="195707"/>
          </a:xfrm>
          <a:prstGeom prst="rect">
            <a:avLst/>
          </a:prstGeom>
        </p:spPr>
      </p:pic>
      <p:sp>
        <p:nvSpPr>
          <p:cNvPr id="50" name="TextBox 49"/>
          <p:cNvSpPr txBox="1"/>
          <p:nvPr/>
        </p:nvSpPr>
        <p:spPr>
          <a:xfrm>
            <a:off x="7633238" y="5478015"/>
            <a:ext cx="1606301" cy="194310"/>
          </a:xfrm>
          <a:prstGeom prst="rect">
            <a:avLst/>
          </a:prstGeom>
          <a:noFill/>
        </p:spPr>
        <p:txBody>
          <a:bodyPr wrap="none" lIns="0" rIns="0" tIns="0" bIns="0">
            <a:spAutoFit/>
          </a:bodyPr>
          <a:lstStyle/>
          <a:p>
            <a:r>
              <a:rPr sz="1150" b="0">
                <a:solidFill>
                  <a:srgbClr val="2E2E2E"/>
                </a:solidFill>
                <a:latin typeface="Calibri"/>
              </a:rPr>
              <a:t>and a long tail ('Others') ~</a:t>
            </a:r>
          </a:p>
        </p:txBody>
      </p:sp>
      <p:pic>
        <p:nvPicPr>
          <p:cNvPr id="51" name="Picture 50" descr="lock.png"/>
          <p:cNvPicPr>
            <a:picLocks noChangeAspect="1"/>
          </p:cNvPicPr>
          <p:nvPr/>
        </p:nvPicPr>
        <p:blipFill>
          <a:blip r:embed="rId7"/>
          <a:stretch>
            <a:fillRect/>
          </a:stretch>
        </p:blipFill>
        <p:spPr>
          <a:xfrm>
            <a:off x="9188694" y="5467792"/>
            <a:ext cx="134549" cy="195707"/>
          </a:xfrm>
          <a:prstGeom prst="rect">
            <a:avLst/>
          </a:prstGeom>
        </p:spPr>
      </p:pic>
      <p:sp>
        <p:nvSpPr>
          <p:cNvPr id="52" name="TextBox 51"/>
          <p:cNvSpPr txBox="1"/>
          <p:nvPr/>
        </p:nvSpPr>
        <p:spPr>
          <a:xfrm>
            <a:off x="9363803" y="5478015"/>
            <a:ext cx="112997" cy="194310"/>
          </a:xfrm>
          <a:prstGeom prst="rect">
            <a:avLst/>
          </a:prstGeom>
          <a:noFill/>
        </p:spPr>
        <p:txBody>
          <a:bodyPr wrap="none" lIns="0" rIns="0" tIns="0" bIns="0">
            <a:spAutoFit/>
          </a:bodyPr>
          <a:lstStyle/>
          <a:p>
            <a:r>
              <a:rPr sz="1150" b="0">
                <a:solidFill>
                  <a:srgbClr val="2E2E2E"/>
                </a:solidFill>
                <a:latin typeface="Calibri"/>
              </a:rPr>
              <a:t>.</a:t>
            </a:r>
          </a:p>
        </p:txBody>
      </p:sp>
      <p:sp>
        <p:nvSpPr>
          <p:cNvPr id="53" name="TextBox 52"/>
          <p:cNvSpPr txBox="1"/>
          <p:nvPr/>
        </p:nvSpPr>
        <p:spPr>
          <a:xfrm>
            <a:off x="276225" y="5705853"/>
            <a:ext cx="8908516" cy="194310"/>
          </a:xfrm>
          <a:prstGeom prst="rect">
            <a:avLst/>
          </a:prstGeom>
          <a:noFill/>
        </p:spPr>
        <p:txBody>
          <a:bodyPr wrap="none" lIns="0" rIns="0" tIns="0" bIns="0">
            <a:spAutoFit/>
          </a:bodyPr>
          <a:lstStyle/>
          <a:p>
            <a:r>
              <a:rPr sz="1150" b="0">
                <a:solidFill>
                  <a:srgbClr val="2E2E2E"/>
                </a:solidFill>
                <a:latin typeface="Calibri"/>
              </a:rPr>
              <a:t>▪ Leadership shifts across formulations a strong position in one product type does not carry over to the others, so product-level targeting is essential.</a:t>
            </a:r>
          </a:p>
        </p:txBody>
      </p:sp>
      <p:sp>
        <p:nvSpPr>
          <p:cNvPr id="54" name="TextBox 53"/>
          <p:cNvSpPr txBox="1"/>
          <p:nvPr/>
        </p:nvSpPr>
        <p:spPr>
          <a:xfrm>
            <a:off x="276225" y="5933691"/>
            <a:ext cx="7218957" cy="194310"/>
          </a:xfrm>
          <a:prstGeom prst="rect">
            <a:avLst/>
          </a:prstGeom>
          <a:noFill/>
        </p:spPr>
        <p:txBody>
          <a:bodyPr wrap="none" lIns="0" rIns="0" tIns="0" bIns="0">
            <a:spAutoFit/>
          </a:bodyPr>
          <a:lstStyle/>
          <a:p>
            <a:r>
              <a:rPr sz="1150" b="0">
                <a:solidFill>
                  <a:srgbClr val="2E2E2E"/>
                </a:solidFill>
                <a:latin typeface="Calibri"/>
              </a:rPr>
              <a:t>▪ Note: competitor figures are indicative derived from market modelling and expert validation, not company disclosures.</a:t>
            </a:r>
          </a:p>
        </p:txBody>
      </p:sp>
      <p:sp>
        <p:nvSpPr>
          <p:cNvPr id="55" name="lockshield_10"/>
          <p:cNvSpPr/>
          <p:nvPr/>
        </p:nvSpPr>
        <p:spPr>
          <a:xfrm>
            <a:off x="238125" y="1585070"/>
            <a:ext cx="3638550" cy="2869751"/>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lockshield_13"/>
          <p:cNvSpPr/>
          <p:nvPr/>
        </p:nvSpPr>
        <p:spPr>
          <a:xfrm>
            <a:off x="4219575" y="1585070"/>
            <a:ext cx="3638550" cy="2869751"/>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lockshield_16"/>
          <p:cNvSpPr/>
          <p:nvPr/>
        </p:nvSpPr>
        <p:spPr>
          <a:xfrm>
            <a:off x="8201025" y="1585070"/>
            <a:ext cx="3752850" cy="2869751"/>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Egg Protein Membrane Market Company Share by Region (Top 3)</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Company value share within the largest regions, highlighting where leadership shifts across geographies</a:t>
            </a:r>
          </a:p>
        </p:txBody>
      </p:sp>
      <p:sp>
        <p:nvSpPr>
          <p:cNvPr id="7" name="Rounded Rectangle 6"/>
          <p:cNvSpPr/>
          <p:nvPr/>
        </p:nvSpPr>
        <p:spPr>
          <a:xfrm>
            <a:off x="142875" y="1007261"/>
            <a:ext cx="11906250" cy="255552"/>
          </a:xfrm>
          <a:prstGeom prst="roundRect">
            <a:avLst>
              <a:gd name="adj" fmla="val 29817"/>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Company value share within each of the largest regions where each player concentrates, and how leadership varies by geography.</a:t>
            </a:r>
          </a:p>
        </p:txBody>
      </p:sp>
      <p:sp>
        <p:nvSpPr>
          <p:cNvPr id="8" name="Rounded Rectangle 7"/>
          <p:cNvSpPr/>
          <p:nvPr/>
        </p:nvSpPr>
        <p:spPr>
          <a:xfrm>
            <a:off x="142875" y="1299320"/>
            <a:ext cx="3829050" cy="3212651"/>
          </a:xfrm>
          <a:prstGeom prst="roundRect">
            <a:avLst>
              <a:gd name="adj" fmla="val 2371"/>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356470"/>
            <a:ext cx="36385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a:t>
            </a:r>
          </a:p>
        </p:txBody>
      </p:sp>
      <p:graphicFrame>
        <p:nvGraphicFramePr>
          <p:cNvPr id="10" name="Chart 9"/>
          <p:cNvGraphicFramePr>
            <a:graphicFrameLocks noGrp="1"/>
          </p:cNvGraphicFramePr>
          <p:nvPr/>
        </p:nvGraphicFramePr>
        <p:xfrm>
          <a:off x="238125" y="1585070"/>
          <a:ext cx="3638550" cy="2869751"/>
        </p:xfrm>
        <a:graphic>
          <a:graphicData uri="http://schemas.openxmlformats.org/drawingml/2006/chart">
            <c:chart xmlns:c="http://schemas.openxmlformats.org/drawingml/2006/chart" r:id="rId3"/>
          </a:graphicData>
        </a:graphic>
      </p:graphicFrame>
      <p:sp>
        <p:nvSpPr>
          <p:cNvPr id="11" name="Rounded Rectangle 10"/>
          <p:cNvSpPr/>
          <p:nvPr/>
        </p:nvSpPr>
        <p:spPr>
          <a:xfrm>
            <a:off x="4124325" y="1299320"/>
            <a:ext cx="3829050" cy="3212651"/>
          </a:xfrm>
          <a:prstGeom prst="roundRect">
            <a:avLst>
              <a:gd name="adj" fmla="val 2371"/>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219575" y="1356470"/>
            <a:ext cx="36385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Europe</a:t>
            </a:r>
          </a:p>
        </p:txBody>
      </p:sp>
      <p:graphicFrame>
        <p:nvGraphicFramePr>
          <p:cNvPr id="13" name="Chart 12"/>
          <p:cNvGraphicFramePr>
            <a:graphicFrameLocks noGrp="1"/>
          </p:cNvGraphicFramePr>
          <p:nvPr/>
        </p:nvGraphicFramePr>
        <p:xfrm>
          <a:off x="4219575" y="1585070"/>
          <a:ext cx="3638550" cy="2869751"/>
        </p:xfrm>
        <a:graphic>
          <a:graphicData uri="http://schemas.openxmlformats.org/drawingml/2006/chart">
            <c:chart xmlns:c="http://schemas.openxmlformats.org/drawingml/2006/chart" r:id="rId4"/>
          </a:graphicData>
        </a:graphic>
      </p:graphicFrame>
      <p:sp>
        <p:nvSpPr>
          <p:cNvPr id="14" name="Rounded Rectangle 13"/>
          <p:cNvSpPr/>
          <p:nvPr/>
        </p:nvSpPr>
        <p:spPr>
          <a:xfrm>
            <a:off x="8105775" y="1299320"/>
            <a:ext cx="3943350" cy="3212651"/>
          </a:xfrm>
          <a:prstGeom prst="roundRect">
            <a:avLst>
              <a:gd name="adj" fmla="val 2371"/>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01025" y="1356470"/>
            <a:ext cx="37528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South Asia &amp; Pacific</a:t>
            </a:r>
          </a:p>
        </p:txBody>
      </p:sp>
      <p:graphicFrame>
        <p:nvGraphicFramePr>
          <p:cNvPr id="16" name="Chart 15"/>
          <p:cNvGraphicFramePr>
            <a:graphicFrameLocks noGrp="1"/>
          </p:cNvGraphicFramePr>
          <p:nvPr/>
        </p:nvGraphicFramePr>
        <p:xfrm>
          <a:off x="8201025" y="1585070"/>
          <a:ext cx="3752850" cy="2869751"/>
        </p:xfrm>
        <a:graphic>
          <a:graphicData uri="http://schemas.openxmlformats.org/drawingml/2006/chart">
            <c:chart xmlns:c="http://schemas.openxmlformats.org/drawingml/2006/chart" r:id="rId5"/>
          </a:graphicData>
        </a:graphic>
      </p:graphicFrame>
      <p:sp>
        <p:nvSpPr>
          <p:cNvPr id="17" name="Rounded Rectangle 16"/>
          <p:cNvSpPr/>
          <p:nvPr/>
        </p:nvSpPr>
        <p:spPr>
          <a:xfrm>
            <a:off x="142875" y="4603240"/>
            <a:ext cx="11906250" cy="1971399"/>
          </a:xfrm>
          <a:prstGeom prst="roundRect">
            <a:avLst>
              <a:gd name="adj" fmla="val 3865"/>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76225" y="4688965"/>
            <a:ext cx="11639550" cy="209550"/>
          </a:xfrm>
          <a:prstGeom prst="rect">
            <a:avLst/>
          </a:prstGeom>
          <a:noFill/>
        </p:spPr>
        <p:txBody>
          <a:bodyPr wrap="square" lIns="0" rIns="19050" tIns="9525" bIns="9525">
            <a:spAutoFit/>
          </a:bodyPr>
          <a:lstStyle/>
          <a:p>
            <a:pPr algn="l"/>
            <a:r>
              <a:rPr sz="1300" b="1">
                <a:solidFill>
                  <a:srgbClr val="0E2A5C"/>
                </a:solidFill>
                <a:latin typeface="Calibri"/>
              </a:rPr>
              <a:t>Company Share Key Takeaways</a:t>
            </a:r>
          </a:p>
        </p:txBody>
      </p:sp>
      <p:sp>
        <p:nvSpPr>
          <p:cNvPr id="19" name="Rectangle 18"/>
          <p:cNvSpPr/>
          <p:nvPr/>
        </p:nvSpPr>
        <p:spPr>
          <a:xfrm>
            <a:off x="276225" y="4927090"/>
            <a:ext cx="116395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76225" y="5012815"/>
            <a:ext cx="11639550" cy="1485624"/>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p:txBody>
      </p:sp>
      <p:sp>
        <p:nvSpPr>
          <p:cNvPr id="21" name="Rectangle 20"/>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23" name="Picture 22" descr="lock.png"/>
          <p:cNvPicPr>
            <a:picLocks noChangeAspect="1"/>
          </p:cNvPicPr>
          <p:nvPr/>
        </p:nvPicPr>
        <p:blipFill>
          <a:blip r:embed="rId7"/>
          <a:stretch>
            <a:fillRect/>
          </a:stretch>
        </p:blipFill>
        <p:spPr>
          <a:xfrm>
            <a:off x="1233011" y="2619895"/>
            <a:ext cx="523875" cy="762000"/>
          </a:xfrm>
          <a:prstGeom prst="rect">
            <a:avLst/>
          </a:prstGeom>
        </p:spPr>
      </p:pic>
      <p:pic>
        <p:nvPicPr>
          <p:cNvPr id="24" name="Picture 23" descr="lock.png"/>
          <p:cNvPicPr>
            <a:picLocks noChangeAspect="1"/>
          </p:cNvPicPr>
          <p:nvPr/>
        </p:nvPicPr>
        <p:blipFill>
          <a:blip r:embed="rId7"/>
          <a:stretch>
            <a:fillRect/>
          </a:stretch>
        </p:blipFill>
        <p:spPr>
          <a:xfrm>
            <a:off x="5214461" y="2619895"/>
            <a:ext cx="523875" cy="762000"/>
          </a:xfrm>
          <a:prstGeom prst="rect">
            <a:avLst/>
          </a:prstGeom>
        </p:spPr>
      </p:pic>
      <p:pic>
        <p:nvPicPr>
          <p:cNvPr id="25" name="Picture 24" descr="lock.png"/>
          <p:cNvPicPr>
            <a:picLocks noChangeAspect="1"/>
          </p:cNvPicPr>
          <p:nvPr/>
        </p:nvPicPr>
        <p:blipFill>
          <a:blip r:embed="rId7"/>
          <a:stretch>
            <a:fillRect/>
          </a:stretch>
        </p:blipFill>
        <p:spPr>
          <a:xfrm>
            <a:off x="9235916" y="2619895"/>
            <a:ext cx="523875" cy="762000"/>
          </a:xfrm>
          <a:prstGeom prst="rect">
            <a:avLst/>
          </a:prstGeom>
        </p:spPr>
      </p:pic>
      <p:sp>
        <p:nvSpPr>
          <p:cNvPr id="26" name="TextBox 25"/>
          <p:cNvSpPr txBox="1"/>
          <p:nvPr/>
        </p:nvSpPr>
        <p:spPr>
          <a:xfrm>
            <a:off x="276225" y="5022340"/>
            <a:ext cx="3116106" cy="194310"/>
          </a:xfrm>
          <a:prstGeom prst="rect">
            <a:avLst/>
          </a:prstGeom>
          <a:noFill/>
        </p:spPr>
        <p:txBody>
          <a:bodyPr wrap="none" lIns="0" rIns="0" tIns="0" bIns="0">
            <a:spAutoFit/>
          </a:bodyPr>
          <a:lstStyle/>
          <a:p>
            <a:r>
              <a:rPr sz="1150" b="0">
                <a:solidFill>
                  <a:srgbClr val="2E2E2E"/>
                </a:solidFill>
                <a:latin typeface="Calibri"/>
              </a:rPr>
              <a:t>▪ North America: 'ESM Technologies, LLC' leads at ~</a:t>
            </a:r>
          </a:p>
        </p:txBody>
      </p:sp>
      <p:pic>
        <p:nvPicPr>
          <p:cNvPr id="27" name="Picture 26" descr="lock.png"/>
          <p:cNvPicPr>
            <a:picLocks noChangeAspect="1"/>
          </p:cNvPicPr>
          <p:nvPr/>
        </p:nvPicPr>
        <p:blipFill>
          <a:blip r:embed="rId7"/>
          <a:stretch>
            <a:fillRect/>
          </a:stretch>
        </p:blipFill>
        <p:spPr>
          <a:xfrm>
            <a:off x="3341485" y="5012116"/>
            <a:ext cx="134549" cy="195707"/>
          </a:xfrm>
          <a:prstGeom prst="rect">
            <a:avLst/>
          </a:prstGeom>
        </p:spPr>
      </p:pic>
      <p:sp>
        <p:nvSpPr>
          <p:cNvPr id="28" name="TextBox 27"/>
          <p:cNvSpPr txBox="1"/>
          <p:nvPr/>
        </p:nvSpPr>
        <p:spPr>
          <a:xfrm>
            <a:off x="3516594" y="5022340"/>
            <a:ext cx="1475085" cy="194310"/>
          </a:xfrm>
          <a:prstGeom prst="rect">
            <a:avLst/>
          </a:prstGeom>
          <a:noFill/>
        </p:spPr>
        <p:txBody>
          <a:bodyPr wrap="none" lIns="0" rIns="0" tIns="0" bIns="0">
            <a:spAutoFit/>
          </a:bodyPr>
          <a:lstStyle/>
          <a:p>
            <a:r>
              <a:rPr sz="1150" b="0">
                <a:solidFill>
                  <a:srgbClr val="2E2E2E"/>
                </a:solidFill>
                <a:latin typeface="Calibri"/>
              </a:rPr>
              <a:t>, ahead of 'Company' (~</a:t>
            </a:r>
          </a:p>
        </p:txBody>
      </p:sp>
      <p:pic>
        <p:nvPicPr>
          <p:cNvPr id="29" name="Picture 28" descr="lock.png"/>
          <p:cNvPicPr>
            <a:picLocks noChangeAspect="1"/>
          </p:cNvPicPr>
          <p:nvPr/>
        </p:nvPicPr>
        <p:blipFill>
          <a:blip r:embed="rId7"/>
          <a:stretch>
            <a:fillRect/>
          </a:stretch>
        </p:blipFill>
        <p:spPr>
          <a:xfrm>
            <a:off x="4940833" y="5012116"/>
            <a:ext cx="134549" cy="195707"/>
          </a:xfrm>
          <a:prstGeom prst="rect">
            <a:avLst/>
          </a:prstGeom>
        </p:spPr>
      </p:pic>
      <p:sp>
        <p:nvSpPr>
          <p:cNvPr id="30" name="TextBox 29"/>
          <p:cNvSpPr txBox="1"/>
          <p:nvPr/>
        </p:nvSpPr>
        <p:spPr>
          <a:xfrm>
            <a:off x="5115942" y="5022340"/>
            <a:ext cx="1385515" cy="194310"/>
          </a:xfrm>
          <a:prstGeom prst="rect">
            <a:avLst/>
          </a:prstGeom>
          <a:noFill/>
        </p:spPr>
        <p:txBody>
          <a:bodyPr wrap="none" lIns="0" rIns="0" tIns="0" bIns="0">
            <a:spAutoFit/>
          </a:bodyPr>
          <a:lstStyle/>
          <a:p>
            <a:r>
              <a:rPr sz="1150" b="0">
                <a:solidFill>
                  <a:srgbClr val="2E2E2E"/>
                </a:solidFill>
                <a:latin typeface="Calibri"/>
              </a:rPr>
              <a:t>); the top three hold ~</a:t>
            </a:r>
          </a:p>
        </p:txBody>
      </p:sp>
      <p:pic>
        <p:nvPicPr>
          <p:cNvPr id="31" name="Picture 30" descr="lock.png"/>
          <p:cNvPicPr>
            <a:picLocks noChangeAspect="1"/>
          </p:cNvPicPr>
          <p:nvPr/>
        </p:nvPicPr>
        <p:blipFill>
          <a:blip r:embed="rId7"/>
          <a:stretch>
            <a:fillRect/>
          </a:stretch>
        </p:blipFill>
        <p:spPr>
          <a:xfrm>
            <a:off x="6450612" y="5012116"/>
            <a:ext cx="134549" cy="195707"/>
          </a:xfrm>
          <a:prstGeom prst="rect">
            <a:avLst/>
          </a:prstGeom>
        </p:spPr>
      </p:pic>
      <p:sp>
        <p:nvSpPr>
          <p:cNvPr id="32" name="TextBox 31"/>
          <p:cNvSpPr txBox="1"/>
          <p:nvPr/>
        </p:nvSpPr>
        <p:spPr>
          <a:xfrm>
            <a:off x="6625721" y="5022340"/>
            <a:ext cx="1606301" cy="194310"/>
          </a:xfrm>
          <a:prstGeom prst="rect">
            <a:avLst/>
          </a:prstGeom>
          <a:noFill/>
        </p:spPr>
        <p:txBody>
          <a:bodyPr wrap="none" lIns="0" rIns="0" tIns="0" bIns="0">
            <a:spAutoFit/>
          </a:bodyPr>
          <a:lstStyle/>
          <a:p>
            <a:r>
              <a:rPr sz="1150" b="0">
                <a:solidFill>
                  <a:srgbClr val="2E2E2E"/>
                </a:solidFill>
                <a:latin typeface="Calibri"/>
              </a:rPr>
              <a:t>and a long tail ('Others') ~</a:t>
            </a:r>
          </a:p>
        </p:txBody>
      </p:sp>
      <p:pic>
        <p:nvPicPr>
          <p:cNvPr id="33" name="Picture 32" descr="lock.png"/>
          <p:cNvPicPr>
            <a:picLocks noChangeAspect="1"/>
          </p:cNvPicPr>
          <p:nvPr/>
        </p:nvPicPr>
        <p:blipFill>
          <a:blip r:embed="rId7"/>
          <a:stretch>
            <a:fillRect/>
          </a:stretch>
        </p:blipFill>
        <p:spPr>
          <a:xfrm>
            <a:off x="8181177" y="5012116"/>
            <a:ext cx="134549" cy="195707"/>
          </a:xfrm>
          <a:prstGeom prst="rect">
            <a:avLst/>
          </a:prstGeom>
        </p:spPr>
      </p:pic>
      <p:sp>
        <p:nvSpPr>
          <p:cNvPr id="34" name="TextBox 33"/>
          <p:cNvSpPr txBox="1"/>
          <p:nvPr/>
        </p:nvSpPr>
        <p:spPr>
          <a:xfrm>
            <a:off x="8356286" y="5022340"/>
            <a:ext cx="112997" cy="194310"/>
          </a:xfrm>
          <a:prstGeom prst="rect">
            <a:avLst/>
          </a:prstGeom>
          <a:noFill/>
        </p:spPr>
        <p:txBody>
          <a:bodyPr wrap="none" lIns="0" rIns="0" tIns="0" bIns="0">
            <a:spAutoFit/>
          </a:bodyPr>
          <a:lstStyle/>
          <a:p>
            <a:r>
              <a:rPr sz="1150" b="0">
                <a:solidFill>
                  <a:srgbClr val="2E2E2E"/>
                </a:solidFill>
                <a:latin typeface="Calibri"/>
              </a:rPr>
              <a:t>.</a:t>
            </a:r>
          </a:p>
        </p:txBody>
      </p:sp>
      <p:sp>
        <p:nvSpPr>
          <p:cNvPr id="35" name="TextBox 34"/>
          <p:cNvSpPr txBox="1"/>
          <p:nvPr/>
        </p:nvSpPr>
        <p:spPr>
          <a:xfrm>
            <a:off x="276225" y="5250177"/>
            <a:ext cx="2669969" cy="194310"/>
          </a:xfrm>
          <a:prstGeom prst="rect">
            <a:avLst/>
          </a:prstGeom>
          <a:noFill/>
        </p:spPr>
        <p:txBody>
          <a:bodyPr wrap="none" lIns="0" rIns="0" tIns="0" bIns="0">
            <a:spAutoFit/>
          </a:bodyPr>
          <a:lstStyle/>
          <a:p>
            <a:r>
              <a:rPr sz="1150" b="0">
                <a:solidFill>
                  <a:srgbClr val="2E2E2E"/>
                </a:solidFill>
                <a:latin typeface="Calibri"/>
              </a:rPr>
              <a:t>▪ Europe: 'ESM Technologies, LLC' leads at ~</a:t>
            </a:r>
          </a:p>
        </p:txBody>
      </p:sp>
      <p:pic>
        <p:nvPicPr>
          <p:cNvPr id="36" name="Picture 35" descr="lock.png"/>
          <p:cNvPicPr>
            <a:picLocks noChangeAspect="1"/>
          </p:cNvPicPr>
          <p:nvPr/>
        </p:nvPicPr>
        <p:blipFill>
          <a:blip r:embed="rId7"/>
          <a:stretch>
            <a:fillRect/>
          </a:stretch>
        </p:blipFill>
        <p:spPr>
          <a:xfrm>
            <a:off x="2895348" y="5239954"/>
            <a:ext cx="134549" cy="195707"/>
          </a:xfrm>
          <a:prstGeom prst="rect">
            <a:avLst/>
          </a:prstGeom>
        </p:spPr>
      </p:pic>
      <p:sp>
        <p:nvSpPr>
          <p:cNvPr id="37" name="TextBox 36"/>
          <p:cNvSpPr txBox="1"/>
          <p:nvPr/>
        </p:nvSpPr>
        <p:spPr>
          <a:xfrm>
            <a:off x="3070457" y="5250177"/>
            <a:ext cx="1654509" cy="194310"/>
          </a:xfrm>
          <a:prstGeom prst="rect">
            <a:avLst/>
          </a:prstGeom>
          <a:noFill/>
        </p:spPr>
        <p:txBody>
          <a:bodyPr wrap="none" lIns="0" rIns="0" tIns="0" bIns="0">
            <a:spAutoFit/>
          </a:bodyPr>
          <a:lstStyle/>
          <a:p>
            <a:r>
              <a:rPr sz="1150" b="0">
                <a:solidFill>
                  <a:srgbClr val="2E2E2E"/>
                </a:solidFill>
                <a:latin typeface="Calibri"/>
              </a:rPr>
              <a:t>, ahead of 'Eggnovo S.L.' (~</a:t>
            </a:r>
          </a:p>
        </p:txBody>
      </p:sp>
      <p:pic>
        <p:nvPicPr>
          <p:cNvPr id="38" name="Picture 37" descr="lock.png"/>
          <p:cNvPicPr>
            <a:picLocks noChangeAspect="1"/>
          </p:cNvPicPr>
          <p:nvPr/>
        </p:nvPicPr>
        <p:blipFill>
          <a:blip r:embed="rId7"/>
          <a:stretch>
            <a:fillRect/>
          </a:stretch>
        </p:blipFill>
        <p:spPr>
          <a:xfrm>
            <a:off x="4674121" y="5239954"/>
            <a:ext cx="134549" cy="195707"/>
          </a:xfrm>
          <a:prstGeom prst="rect">
            <a:avLst/>
          </a:prstGeom>
        </p:spPr>
      </p:pic>
      <p:sp>
        <p:nvSpPr>
          <p:cNvPr id="39" name="TextBox 38"/>
          <p:cNvSpPr txBox="1"/>
          <p:nvPr/>
        </p:nvSpPr>
        <p:spPr>
          <a:xfrm>
            <a:off x="4849230" y="5250177"/>
            <a:ext cx="1385515" cy="194310"/>
          </a:xfrm>
          <a:prstGeom prst="rect">
            <a:avLst/>
          </a:prstGeom>
          <a:noFill/>
        </p:spPr>
        <p:txBody>
          <a:bodyPr wrap="none" lIns="0" rIns="0" tIns="0" bIns="0">
            <a:spAutoFit/>
          </a:bodyPr>
          <a:lstStyle/>
          <a:p>
            <a:r>
              <a:rPr sz="1150" b="0">
                <a:solidFill>
                  <a:srgbClr val="2E2E2E"/>
                </a:solidFill>
                <a:latin typeface="Calibri"/>
              </a:rPr>
              <a:t>); the top three hold ~</a:t>
            </a:r>
          </a:p>
        </p:txBody>
      </p:sp>
      <p:pic>
        <p:nvPicPr>
          <p:cNvPr id="40" name="Picture 39" descr="lock.png"/>
          <p:cNvPicPr>
            <a:picLocks noChangeAspect="1"/>
          </p:cNvPicPr>
          <p:nvPr/>
        </p:nvPicPr>
        <p:blipFill>
          <a:blip r:embed="rId7"/>
          <a:stretch>
            <a:fillRect/>
          </a:stretch>
        </p:blipFill>
        <p:spPr>
          <a:xfrm>
            <a:off x="6183899" y="5239954"/>
            <a:ext cx="134549" cy="195707"/>
          </a:xfrm>
          <a:prstGeom prst="rect">
            <a:avLst/>
          </a:prstGeom>
        </p:spPr>
      </p:pic>
      <p:sp>
        <p:nvSpPr>
          <p:cNvPr id="41" name="TextBox 40"/>
          <p:cNvSpPr txBox="1"/>
          <p:nvPr/>
        </p:nvSpPr>
        <p:spPr>
          <a:xfrm>
            <a:off x="6359009" y="5250177"/>
            <a:ext cx="1606301" cy="194310"/>
          </a:xfrm>
          <a:prstGeom prst="rect">
            <a:avLst/>
          </a:prstGeom>
          <a:noFill/>
        </p:spPr>
        <p:txBody>
          <a:bodyPr wrap="none" lIns="0" rIns="0" tIns="0" bIns="0">
            <a:spAutoFit/>
          </a:bodyPr>
          <a:lstStyle/>
          <a:p>
            <a:r>
              <a:rPr sz="1150" b="0">
                <a:solidFill>
                  <a:srgbClr val="2E2E2E"/>
                </a:solidFill>
                <a:latin typeface="Calibri"/>
              </a:rPr>
              <a:t>and a long tail ('Others') ~</a:t>
            </a:r>
          </a:p>
        </p:txBody>
      </p:sp>
      <p:pic>
        <p:nvPicPr>
          <p:cNvPr id="42" name="Picture 41" descr="lock.png"/>
          <p:cNvPicPr>
            <a:picLocks noChangeAspect="1"/>
          </p:cNvPicPr>
          <p:nvPr/>
        </p:nvPicPr>
        <p:blipFill>
          <a:blip r:embed="rId7"/>
          <a:stretch>
            <a:fillRect/>
          </a:stretch>
        </p:blipFill>
        <p:spPr>
          <a:xfrm>
            <a:off x="7914465" y="5239954"/>
            <a:ext cx="134549" cy="195707"/>
          </a:xfrm>
          <a:prstGeom prst="rect">
            <a:avLst/>
          </a:prstGeom>
        </p:spPr>
      </p:pic>
      <p:sp>
        <p:nvSpPr>
          <p:cNvPr id="43" name="TextBox 42"/>
          <p:cNvSpPr txBox="1"/>
          <p:nvPr/>
        </p:nvSpPr>
        <p:spPr>
          <a:xfrm>
            <a:off x="8089574" y="5250177"/>
            <a:ext cx="112997" cy="194310"/>
          </a:xfrm>
          <a:prstGeom prst="rect">
            <a:avLst/>
          </a:prstGeom>
          <a:noFill/>
        </p:spPr>
        <p:txBody>
          <a:bodyPr wrap="none" lIns="0" rIns="0" tIns="0" bIns="0">
            <a:spAutoFit/>
          </a:bodyPr>
          <a:lstStyle/>
          <a:p>
            <a:r>
              <a:rPr sz="1150" b="0">
                <a:solidFill>
                  <a:srgbClr val="2E2E2E"/>
                </a:solidFill>
                <a:latin typeface="Calibri"/>
              </a:rPr>
              <a:t>.</a:t>
            </a:r>
          </a:p>
        </p:txBody>
      </p:sp>
      <p:sp>
        <p:nvSpPr>
          <p:cNvPr id="44" name="TextBox 43"/>
          <p:cNvSpPr txBox="1"/>
          <p:nvPr/>
        </p:nvSpPr>
        <p:spPr>
          <a:xfrm>
            <a:off x="276225" y="5478015"/>
            <a:ext cx="2666283" cy="194310"/>
          </a:xfrm>
          <a:prstGeom prst="rect">
            <a:avLst/>
          </a:prstGeom>
          <a:noFill/>
        </p:spPr>
        <p:txBody>
          <a:bodyPr wrap="none" lIns="0" rIns="0" tIns="0" bIns="0">
            <a:spAutoFit/>
          </a:bodyPr>
          <a:lstStyle/>
          <a:p>
            <a:r>
              <a:rPr sz="1150" b="0">
                <a:solidFill>
                  <a:srgbClr val="2E2E2E"/>
                </a:solidFill>
                <a:latin typeface="Calibri"/>
              </a:rPr>
              <a:t>▪ South Asia &amp; Pacific: 'Biova, LLC' leads at ~</a:t>
            </a:r>
          </a:p>
        </p:txBody>
      </p:sp>
      <p:pic>
        <p:nvPicPr>
          <p:cNvPr id="45" name="Picture 44" descr="lock.png"/>
          <p:cNvPicPr>
            <a:picLocks noChangeAspect="1"/>
          </p:cNvPicPr>
          <p:nvPr/>
        </p:nvPicPr>
        <p:blipFill>
          <a:blip r:embed="rId7"/>
          <a:stretch>
            <a:fillRect/>
          </a:stretch>
        </p:blipFill>
        <p:spPr>
          <a:xfrm>
            <a:off x="2891662" y="5467792"/>
            <a:ext cx="134549" cy="195707"/>
          </a:xfrm>
          <a:prstGeom prst="rect">
            <a:avLst/>
          </a:prstGeom>
        </p:spPr>
      </p:pic>
      <p:sp>
        <p:nvSpPr>
          <p:cNvPr id="46" name="TextBox 45"/>
          <p:cNvSpPr txBox="1"/>
          <p:nvPr/>
        </p:nvSpPr>
        <p:spPr>
          <a:xfrm>
            <a:off x="3066771" y="5478015"/>
            <a:ext cx="1475085" cy="194310"/>
          </a:xfrm>
          <a:prstGeom prst="rect">
            <a:avLst/>
          </a:prstGeom>
          <a:noFill/>
        </p:spPr>
        <p:txBody>
          <a:bodyPr wrap="none" lIns="0" rIns="0" tIns="0" bIns="0">
            <a:spAutoFit/>
          </a:bodyPr>
          <a:lstStyle/>
          <a:p>
            <a:r>
              <a:rPr sz="1150" b="0">
                <a:solidFill>
                  <a:srgbClr val="2E2E2E"/>
                </a:solidFill>
                <a:latin typeface="Calibri"/>
              </a:rPr>
              <a:t>, ahead of 'Company' (~</a:t>
            </a:r>
          </a:p>
        </p:txBody>
      </p:sp>
      <p:pic>
        <p:nvPicPr>
          <p:cNvPr id="47" name="Picture 46" descr="lock.png"/>
          <p:cNvPicPr>
            <a:picLocks noChangeAspect="1"/>
          </p:cNvPicPr>
          <p:nvPr/>
        </p:nvPicPr>
        <p:blipFill>
          <a:blip r:embed="rId7"/>
          <a:stretch>
            <a:fillRect/>
          </a:stretch>
        </p:blipFill>
        <p:spPr>
          <a:xfrm>
            <a:off x="4491010" y="5467792"/>
            <a:ext cx="134549" cy="195707"/>
          </a:xfrm>
          <a:prstGeom prst="rect">
            <a:avLst/>
          </a:prstGeom>
        </p:spPr>
      </p:pic>
      <p:sp>
        <p:nvSpPr>
          <p:cNvPr id="48" name="TextBox 47"/>
          <p:cNvSpPr txBox="1"/>
          <p:nvPr/>
        </p:nvSpPr>
        <p:spPr>
          <a:xfrm>
            <a:off x="4666119" y="5478015"/>
            <a:ext cx="1385515" cy="194310"/>
          </a:xfrm>
          <a:prstGeom prst="rect">
            <a:avLst/>
          </a:prstGeom>
          <a:noFill/>
        </p:spPr>
        <p:txBody>
          <a:bodyPr wrap="none" lIns="0" rIns="0" tIns="0" bIns="0">
            <a:spAutoFit/>
          </a:bodyPr>
          <a:lstStyle/>
          <a:p>
            <a:r>
              <a:rPr sz="1150" b="0">
                <a:solidFill>
                  <a:srgbClr val="2E2E2E"/>
                </a:solidFill>
                <a:latin typeface="Calibri"/>
              </a:rPr>
              <a:t>); the top three hold ~</a:t>
            </a:r>
          </a:p>
        </p:txBody>
      </p:sp>
      <p:pic>
        <p:nvPicPr>
          <p:cNvPr id="49" name="Picture 48" descr="lock.png"/>
          <p:cNvPicPr>
            <a:picLocks noChangeAspect="1"/>
          </p:cNvPicPr>
          <p:nvPr/>
        </p:nvPicPr>
        <p:blipFill>
          <a:blip r:embed="rId7"/>
          <a:stretch>
            <a:fillRect/>
          </a:stretch>
        </p:blipFill>
        <p:spPr>
          <a:xfrm>
            <a:off x="6000789" y="5467792"/>
            <a:ext cx="134549" cy="195707"/>
          </a:xfrm>
          <a:prstGeom prst="rect">
            <a:avLst/>
          </a:prstGeom>
        </p:spPr>
      </p:pic>
      <p:sp>
        <p:nvSpPr>
          <p:cNvPr id="50" name="TextBox 49"/>
          <p:cNvSpPr txBox="1"/>
          <p:nvPr/>
        </p:nvSpPr>
        <p:spPr>
          <a:xfrm>
            <a:off x="6175898" y="5478015"/>
            <a:ext cx="1606301" cy="194310"/>
          </a:xfrm>
          <a:prstGeom prst="rect">
            <a:avLst/>
          </a:prstGeom>
          <a:noFill/>
        </p:spPr>
        <p:txBody>
          <a:bodyPr wrap="none" lIns="0" rIns="0" tIns="0" bIns="0">
            <a:spAutoFit/>
          </a:bodyPr>
          <a:lstStyle/>
          <a:p>
            <a:r>
              <a:rPr sz="1150" b="0">
                <a:solidFill>
                  <a:srgbClr val="2E2E2E"/>
                </a:solidFill>
                <a:latin typeface="Calibri"/>
              </a:rPr>
              <a:t>and a long tail ('Others') ~</a:t>
            </a:r>
          </a:p>
        </p:txBody>
      </p:sp>
      <p:pic>
        <p:nvPicPr>
          <p:cNvPr id="51" name="Picture 50" descr="lock.png"/>
          <p:cNvPicPr>
            <a:picLocks noChangeAspect="1"/>
          </p:cNvPicPr>
          <p:nvPr/>
        </p:nvPicPr>
        <p:blipFill>
          <a:blip r:embed="rId7"/>
          <a:stretch>
            <a:fillRect/>
          </a:stretch>
        </p:blipFill>
        <p:spPr>
          <a:xfrm>
            <a:off x="7731354" y="5467792"/>
            <a:ext cx="134549" cy="195707"/>
          </a:xfrm>
          <a:prstGeom prst="rect">
            <a:avLst/>
          </a:prstGeom>
        </p:spPr>
      </p:pic>
      <p:sp>
        <p:nvSpPr>
          <p:cNvPr id="52" name="TextBox 51"/>
          <p:cNvSpPr txBox="1"/>
          <p:nvPr/>
        </p:nvSpPr>
        <p:spPr>
          <a:xfrm>
            <a:off x="7906463" y="5478015"/>
            <a:ext cx="112997" cy="194310"/>
          </a:xfrm>
          <a:prstGeom prst="rect">
            <a:avLst/>
          </a:prstGeom>
          <a:noFill/>
        </p:spPr>
        <p:txBody>
          <a:bodyPr wrap="none" lIns="0" rIns="0" tIns="0" bIns="0">
            <a:spAutoFit/>
          </a:bodyPr>
          <a:lstStyle/>
          <a:p>
            <a:r>
              <a:rPr sz="1150" b="0">
                <a:solidFill>
                  <a:srgbClr val="2E2E2E"/>
                </a:solidFill>
                <a:latin typeface="Calibri"/>
              </a:rPr>
              <a:t>.</a:t>
            </a:r>
          </a:p>
        </p:txBody>
      </p:sp>
      <p:sp>
        <p:nvSpPr>
          <p:cNvPr id="53" name="TextBox 52"/>
          <p:cNvSpPr txBox="1"/>
          <p:nvPr/>
        </p:nvSpPr>
        <p:spPr>
          <a:xfrm>
            <a:off x="276225" y="5705853"/>
            <a:ext cx="9705801" cy="194310"/>
          </a:xfrm>
          <a:prstGeom prst="rect">
            <a:avLst/>
          </a:prstGeom>
          <a:noFill/>
        </p:spPr>
        <p:txBody>
          <a:bodyPr wrap="none" lIns="0" rIns="0" tIns="0" bIns="0">
            <a:spAutoFit/>
          </a:bodyPr>
          <a:lstStyle/>
          <a:p>
            <a:r>
              <a:rPr sz="1150" b="0">
                <a:solidFill>
                  <a:srgbClr val="2E2E2E"/>
                </a:solidFill>
                <a:latin typeface="Calibri"/>
              </a:rPr>
              <a:t>▪ Leadership is not uniform across geographies a strong position in one region does not carry over to the others, so region-level go-to-market planning is essential.</a:t>
            </a:r>
          </a:p>
        </p:txBody>
      </p:sp>
      <p:sp>
        <p:nvSpPr>
          <p:cNvPr id="54" name="TextBox 53"/>
          <p:cNvSpPr txBox="1"/>
          <p:nvPr/>
        </p:nvSpPr>
        <p:spPr>
          <a:xfrm>
            <a:off x="276225" y="5933691"/>
            <a:ext cx="7218957" cy="194310"/>
          </a:xfrm>
          <a:prstGeom prst="rect">
            <a:avLst/>
          </a:prstGeom>
          <a:noFill/>
        </p:spPr>
        <p:txBody>
          <a:bodyPr wrap="none" lIns="0" rIns="0" tIns="0" bIns="0">
            <a:spAutoFit/>
          </a:bodyPr>
          <a:lstStyle/>
          <a:p>
            <a:r>
              <a:rPr sz="1150" b="0">
                <a:solidFill>
                  <a:srgbClr val="2E2E2E"/>
                </a:solidFill>
                <a:latin typeface="Calibri"/>
              </a:rPr>
              <a:t>▪ Note: competitor figures are indicative derived from market modelling and expert validation, not company disclosures.</a:t>
            </a:r>
          </a:p>
        </p:txBody>
      </p:sp>
      <p:sp>
        <p:nvSpPr>
          <p:cNvPr id="55" name="lockshield_10"/>
          <p:cNvSpPr/>
          <p:nvPr/>
        </p:nvSpPr>
        <p:spPr>
          <a:xfrm>
            <a:off x="238125" y="1585070"/>
            <a:ext cx="3638550" cy="2869751"/>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lockshield_13"/>
          <p:cNvSpPr/>
          <p:nvPr/>
        </p:nvSpPr>
        <p:spPr>
          <a:xfrm>
            <a:off x="4219575" y="1585070"/>
            <a:ext cx="3638550" cy="2869751"/>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lockshield_16"/>
          <p:cNvSpPr/>
          <p:nvPr/>
        </p:nvSpPr>
        <p:spPr>
          <a:xfrm>
            <a:off x="8201025" y="1585070"/>
            <a:ext cx="3752850" cy="2869751"/>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Egg Protein Membrane Market Who Shaped Growth</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Ranking of the players that shaped growth, by value share, growth role and signature move</a:t>
            </a:r>
          </a:p>
        </p:txBody>
      </p:sp>
      <p:sp>
        <p:nvSpPr>
          <p:cNvPr id="7" name="TextBox 6"/>
          <p:cNvSpPr txBox="1"/>
          <p:nvPr/>
        </p:nvSpPr>
        <p:spPr>
          <a:xfrm>
            <a:off x="142875" y="970754"/>
            <a:ext cx="11906250" cy="182537"/>
          </a:xfrm>
          <a:prstGeom prst="rect">
            <a:avLst/>
          </a:prstGeom>
          <a:noFill/>
        </p:spPr>
        <p:txBody>
          <a:bodyPr wrap="square" lIns="28575" rIns="28575" tIns="9525" bIns="9525" anchor="ctr">
            <a:spAutoFit/>
          </a:bodyPr>
          <a:lstStyle/>
          <a:p>
            <a:pPr algn="l"/>
            <a:r>
              <a:rPr sz="1100" b="0">
                <a:solidFill>
                  <a:srgbClr val="6C7A89"/>
                </a:solidFill>
                <a:latin typeface="Calibri"/>
              </a:rPr>
              <a:t>A framework to identify the companies that most influenced annual Egg Protein Membrane Market growth, ranked by growth-shaping impact.</a:t>
            </a:r>
          </a:p>
        </p:txBody>
      </p:sp>
      <p:sp>
        <p:nvSpPr>
          <p:cNvPr id="8" name="Rounded Rectangle 7"/>
          <p:cNvSpPr/>
          <p:nvPr/>
        </p:nvSpPr>
        <p:spPr>
          <a:xfrm>
            <a:off x="3619500" y="1189798"/>
            <a:ext cx="4953000" cy="419835"/>
          </a:xfrm>
          <a:prstGeom prst="roundRect">
            <a:avLst>
              <a:gd name="adj" fmla="val 1538"/>
            </a:avLst>
          </a:prstGeom>
          <a:solidFill>
            <a:srgbClr val="F4F8FB"/>
          </a:solidFill>
          <a:ln w="12700">
            <a:solidFill>
              <a:srgbClr val="CFE0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733800" y="1226305"/>
            <a:ext cx="4724400" cy="173410"/>
          </a:xfrm>
          <a:prstGeom prst="rect">
            <a:avLst/>
          </a:prstGeom>
          <a:noFill/>
        </p:spPr>
        <p:txBody>
          <a:bodyPr wrap="square" lIns="28575" rIns="28575" tIns="9525" bIns="9525" anchor="ctr">
            <a:spAutoFit/>
          </a:bodyPr>
          <a:lstStyle/>
          <a:p>
            <a:pPr algn="ctr"/>
            <a:r>
              <a:rPr sz="1100" b="1">
                <a:solidFill>
                  <a:srgbClr val="0B2E4A"/>
                </a:solidFill>
                <a:latin typeface="Calibri"/>
              </a:rPr>
              <a:t>RANKED BY GROWTH-SHAPING IMPACT</a:t>
            </a:r>
          </a:p>
        </p:txBody>
      </p:sp>
      <p:sp>
        <p:nvSpPr>
          <p:cNvPr id="10" name="TextBox 9"/>
          <p:cNvSpPr txBox="1"/>
          <p:nvPr/>
        </p:nvSpPr>
        <p:spPr>
          <a:xfrm>
            <a:off x="3733800" y="1399716"/>
            <a:ext cx="4724400" cy="173410"/>
          </a:xfrm>
          <a:prstGeom prst="rect">
            <a:avLst/>
          </a:prstGeom>
          <a:noFill/>
        </p:spPr>
        <p:txBody>
          <a:bodyPr wrap="square" lIns="28575" rIns="28575" tIns="9525" bIns="9525" anchor="ctr">
            <a:spAutoFit/>
          </a:bodyPr>
          <a:lstStyle/>
          <a:p>
            <a:pPr algn="ctr"/>
            <a:r>
              <a:rPr sz="1100" b="0">
                <a:solidFill>
                  <a:srgbClr val="6C7A89"/>
                </a:solidFill>
                <a:latin typeface="Calibri"/>
              </a:rPr>
              <a:t>Ranked by overall contribution to category growth, not share alone.</a:t>
            </a:r>
          </a:p>
        </p:txBody>
      </p:sp>
      <p:cxnSp>
        <p:nvCxnSpPr>
          <p:cNvPr id="11" name="Connector 10"/>
          <p:cNvCxnSpPr/>
          <p:nvPr/>
        </p:nvCxnSpPr>
        <p:spPr>
          <a:xfrm>
            <a:off x="428625" y="1399716"/>
            <a:ext cx="3019425" cy="0"/>
          </a:xfrm>
          <a:prstGeom prst="line">
            <a:avLst/>
          </a:prstGeom>
          <a:ln w="12700">
            <a:solidFill>
              <a:srgbClr val="C4D0DA"/>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8743950" y="1399716"/>
            <a:ext cx="3019425" cy="0"/>
          </a:xfrm>
          <a:prstGeom prst="line">
            <a:avLst/>
          </a:prstGeom>
          <a:ln w="12700">
            <a:solidFill>
              <a:srgbClr val="C4D0DA"/>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523875" y="1792170"/>
            <a:ext cx="11106150" cy="0"/>
          </a:xfrm>
          <a:prstGeom prst="line">
            <a:avLst/>
          </a:prstGeom>
          <a:ln w="25400">
            <a:solidFill>
              <a:srgbClr val="0B2E4A"/>
            </a:solidFill>
          </a:ln>
          <a:effectLst/>
        </p:spPr>
        <p:style>
          <a:lnRef idx="2">
            <a:schemeClr val="accent1"/>
          </a:lnRef>
          <a:fillRef idx="0">
            <a:schemeClr val="accent1"/>
          </a:fillRef>
          <a:effectRef idx="1">
            <a:schemeClr val="accent1"/>
          </a:effectRef>
          <a:fontRef idx="minor">
            <a:schemeClr val="tx1"/>
          </a:fontRef>
        </p:style>
      </p:cxnSp>
      <p:sp>
        <p:nvSpPr>
          <p:cNvPr id="14" name="Freeform 13"/>
          <p:cNvSpPr/>
          <p:nvPr/>
        </p:nvSpPr>
        <p:spPr>
          <a:xfrm>
            <a:off x="11630025" y="1728282"/>
            <a:ext cx="171450" cy="127776"/>
          </a:xfrm>
          <a:custGeom>
            <a:avLst/>
            <a:gdLst/>
            <a:ahLst/>
            <a:cxnLst/>
            <a:rect l="l" t="t" r="r" b="b"/>
            <a:pathLst>
              <a:path w="18" h="14">
                <a:moveTo>
                  <a:pt x="0" y="0"/>
                </a:moveTo>
                <a:lnTo>
                  <a:pt x="18" y="7"/>
                </a:lnTo>
                <a:lnTo>
                  <a:pt x="0" y="14"/>
                </a:lnTo>
                <a:close/>
              </a:path>
            </a:pathLst>
          </a:cu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152525" y="1655267"/>
            <a:ext cx="285750" cy="273805"/>
          </a:xfrm>
          <a:prstGeom prst="ellipse">
            <a:avLst/>
          </a:prstGeom>
          <a:solidFill>
            <a:srgbClr val="0E72A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152525" y="1710028"/>
            <a:ext cx="285750" cy="164283"/>
          </a:xfrm>
          <a:prstGeom prst="rect">
            <a:avLst/>
          </a:prstGeom>
          <a:noFill/>
        </p:spPr>
        <p:txBody>
          <a:bodyPr wrap="none" lIns="0" rIns="0" tIns="0" bIns="0" anchor="ctr">
            <a:spAutoFit/>
          </a:bodyPr>
          <a:lstStyle/>
          <a:p>
            <a:pPr algn="ctr"/>
            <a:r>
              <a:rPr sz="1100" b="1">
                <a:solidFill>
                  <a:srgbClr val="FFFFFF"/>
                </a:solidFill>
                <a:latin typeface="Calibri"/>
              </a:rPr>
              <a:t>1</a:t>
            </a:r>
          </a:p>
        </p:txBody>
      </p:sp>
      <p:sp>
        <p:nvSpPr>
          <p:cNvPr id="17" name="Rounded Rectangle 16"/>
          <p:cNvSpPr/>
          <p:nvPr/>
        </p:nvSpPr>
        <p:spPr>
          <a:xfrm>
            <a:off x="142875" y="1992961"/>
            <a:ext cx="2305050" cy="2135683"/>
          </a:xfrm>
          <a:prstGeom prst="roundRect">
            <a:avLst>
              <a:gd name="adj" fmla="val 3719"/>
            </a:avLst>
          </a:prstGeom>
          <a:solidFill>
            <a:srgbClr val="FFFFFF"/>
          </a:solidFill>
          <a:ln w="20320">
            <a:solidFill>
              <a:srgbClr val="0E72A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42875" y="1992961"/>
            <a:ext cx="2305050" cy="310313"/>
          </a:xfrm>
          <a:prstGeom prst="roundRect">
            <a:avLst>
              <a:gd name="adj" fmla="val 3719"/>
            </a:avLst>
          </a:prstGeom>
          <a:solidFill>
            <a:srgbClr val="0E72AE"/>
          </a:solidFill>
          <a:ln w="12700">
            <a:solidFill>
              <a:srgbClr val="0E72A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257175" y="2038595"/>
            <a:ext cx="228600" cy="219044"/>
          </a:xfrm>
          <a:prstGeom prst="ellipse">
            <a:avLst/>
          </a:prstGeom>
          <a:solidFill>
            <a:srgbClr val="FFFFF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57175" y="2065976"/>
            <a:ext cx="228600" cy="164283"/>
          </a:xfrm>
          <a:prstGeom prst="rect">
            <a:avLst/>
          </a:prstGeom>
          <a:noFill/>
        </p:spPr>
        <p:txBody>
          <a:bodyPr wrap="none" lIns="0" rIns="0" tIns="0" bIns="0" anchor="ctr">
            <a:spAutoFit/>
          </a:bodyPr>
          <a:lstStyle/>
          <a:p>
            <a:pPr algn="ctr"/>
            <a:r>
              <a:rPr sz="1100" b="0">
                <a:solidFill>
                  <a:srgbClr val="2E2E2E"/>
                </a:solidFill>
                <a:latin typeface="Calibri"/>
              </a:rPr>
              <a:t>🏆</a:t>
            </a:r>
          </a:p>
        </p:txBody>
      </p:sp>
      <p:sp>
        <p:nvSpPr>
          <p:cNvPr id="21" name="TextBox 20"/>
          <p:cNvSpPr txBox="1"/>
          <p:nvPr/>
        </p:nvSpPr>
        <p:spPr>
          <a:xfrm>
            <a:off x="523875" y="2065976"/>
            <a:ext cx="1828800" cy="173410"/>
          </a:xfrm>
          <a:prstGeom prst="rect">
            <a:avLst/>
          </a:prstGeom>
          <a:noFill/>
        </p:spPr>
        <p:txBody>
          <a:bodyPr wrap="square" lIns="28575" rIns="28575" tIns="9525" bIns="9525" anchor="ctr">
            <a:spAutoFit/>
          </a:bodyPr>
          <a:lstStyle/>
          <a:p>
            <a:pPr algn="ctr"/>
            <a:r>
              <a:rPr sz="1100" b="1">
                <a:solidFill>
                  <a:srgbClr val="FFFFFF"/>
                </a:solidFill>
                <a:latin typeface="Calibri"/>
              </a:rPr>
              <a:t>ESM Technologies, LLC</a:t>
            </a:r>
          </a:p>
        </p:txBody>
      </p:sp>
      <p:sp>
        <p:nvSpPr>
          <p:cNvPr id="22" name="TextBox 21"/>
          <p:cNvSpPr txBox="1"/>
          <p:nvPr/>
        </p:nvSpPr>
        <p:spPr>
          <a:xfrm>
            <a:off x="238125" y="2376288"/>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23" name="TextBox 22"/>
          <p:cNvSpPr txBox="1"/>
          <p:nvPr/>
        </p:nvSpPr>
        <p:spPr>
          <a:xfrm>
            <a:off x="428625" y="2376288"/>
            <a:ext cx="1924050" cy="164283"/>
          </a:xfrm>
          <a:prstGeom prst="rect">
            <a:avLst/>
          </a:prstGeom>
          <a:noFill/>
        </p:spPr>
        <p:txBody>
          <a:bodyPr wrap="square" lIns="28575" rIns="28575" tIns="9525" bIns="9525" anchor="ctr">
            <a:spAutoFit/>
          </a:bodyPr>
          <a:lstStyle/>
          <a:p>
            <a:pPr algn="l"/>
            <a:r>
              <a:rPr sz="1100" b="1">
                <a:solidFill>
                  <a:srgbClr val="2E2E2E"/>
                </a:solidFill>
                <a:latin typeface="Calibri"/>
              </a:rPr>
              <a:t/>
            </a:r>
          </a:p>
        </p:txBody>
      </p:sp>
      <p:cxnSp>
        <p:nvCxnSpPr>
          <p:cNvPr id="24" name="Connector 23"/>
          <p:cNvCxnSpPr/>
          <p:nvPr/>
        </p:nvCxnSpPr>
        <p:spPr>
          <a:xfrm>
            <a:off x="238125" y="2595333"/>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238125" y="2723109"/>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26" name="TextBox 25"/>
          <p:cNvSpPr txBox="1"/>
          <p:nvPr/>
        </p:nvSpPr>
        <p:spPr>
          <a:xfrm>
            <a:off x="428625" y="2640967"/>
            <a:ext cx="1924050" cy="164283"/>
          </a:xfrm>
          <a:prstGeom prst="rect">
            <a:avLst/>
          </a:prstGeom>
          <a:noFill/>
        </p:spPr>
        <p:txBody>
          <a:bodyPr wrap="square" lIns="28575" rIns="28575" tIns="9525" bIns="9525" anchor="ctr">
            <a:spAutoFit/>
          </a:bodyPr>
          <a:lstStyle/>
          <a:p>
            <a:pPr algn="l"/>
            <a:r>
              <a:rPr sz="1100" b="0">
                <a:solidFill>
                  <a:srgbClr val="6C7A89"/>
                </a:solidFill>
                <a:latin typeface="Calibri"/>
              </a:rPr>
              <a:t>Growth role:</a:t>
            </a:r>
          </a:p>
        </p:txBody>
      </p:sp>
      <p:sp>
        <p:nvSpPr>
          <p:cNvPr id="27" name="TextBox 26"/>
          <p:cNvSpPr txBox="1"/>
          <p:nvPr/>
        </p:nvSpPr>
        <p:spPr>
          <a:xfrm>
            <a:off x="428625" y="2805250"/>
            <a:ext cx="1924050" cy="164283"/>
          </a:xfrm>
          <a:prstGeom prst="rect">
            <a:avLst/>
          </a:prstGeom>
          <a:noFill/>
        </p:spPr>
        <p:txBody>
          <a:bodyPr wrap="square" lIns="28575" rIns="28575" tIns="9525" bIns="9525" anchor="ctr">
            <a:spAutoFit/>
          </a:bodyPr>
          <a:lstStyle/>
          <a:p>
            <a:pPr algn="l"/>
            <a:r>
              <a:rPr sz="1100" b="1">
                <a:solidFill>
                  <a:srgbClr val="0E72AE"/>
                </a:solidFill>
                <a:latin typeface="Calibri"/>
              </a:rPr>
              <a:t>Market leader</a:t>
            </a:r>
          </a:p>
        </p:txBody>
      </p:sp>
      <p:cxnSp>
        <p:nvCxnSpPr>
          <p:cNvPr id="28" name="Connector 27"/>
          <p:cNvCxnSpPr/>
          <p:nvPr/>
        </p:nvCxnSpPr>
        <p:spPr>
          <a:xfrm>
            <a:off x="238125" y="3015168"/>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238125" y="3124690"/>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30" name="TextBox 29"/>
          <p:cNvSpPr txBox="1"/>
          <p:nvPr/>
        </p:nvSpPr>
        <p:spPr>
          <a:xfrm>
            <a:off x="428625" y="3060802"/>
            <a:ext cx="1924050" cy="164283"/>
          </a:xfrm>
          <a:prstGeom prst="rect">
            <a:avLst/>
          </a:prstGeom>
          <a:noFill/>
        </p:spPr>
        <p:txBody>
          <a:bodyPr wrap="square" lIns="28575" rIns="28575" tIns="9525" bIns="9525" anchor="ctr">
            <a:spAutoFit/>
          </a:bodyPr>
          <a:lstStyle/>
          <a:p>
            <a:pPr algn="l"/>
            <a:r>
              <a:rPr sz="1100" b="1">
                <a:solidFill>
                  <a:srgbClr val="0B2E4A"/>
                </a:solidFill>
                <a:latin typeface="Calibri"/>
              </a:rPr>
              <a:t>Why it shaped growth:</a:t>
            </a:r>
          </a:p>
        </p:txBody>
      </p:sp>
      <p:sp>
        <p:nvSpPr>
          <p:cNvPr id="31" name="TextBox 30"/>
          <p:cNvSpPr txBox="1"/>
          <p:nvPr/>
        </p:nvSpPr>
        <p:spPr>
          <a:xfrm>
            <a:off x="428625" y="3225085"/>
            <a:ext cx="1924050" cy="383328"/>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Expanded reach across its core segment</a:t>
            </a:r>
          </a:p>
        </p:txBody>
      </p:sp>
      <p:cxnSp>
        <p:nvCxnSpPr>
          <p:cNvPr id="32" name="Connector 31"/>
          <p:cNvCxnSpPr/>
          <p:nvPr/>
        </p:nvCxnSpPr>
        <p:spPr>
          <a:xfrm>
            <a:off x="238125" y="3654047"/>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238125" y="3763569"/>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34" name="TextBox 33"/>
          <p:cNvSpPr txBox="1"/>
          <p:nvPr/>
        </p:nvSpPr>
        <p:spPr>
          <a:xfrm>
            <a:off x="428625" y="3699682"/>
            <a:ext cx="1924050" cy="164283"/>
          </a:xfrm>
          <a:prstGeom prst="rect">
            <a:avLst/>
          </a:prstGeom>
          <a:noFill/>
        </p:spPr>
        <p:txBody>
          <a:bodyPr wrap="square" lIns="28575" rIns="28575" tIns="9525" bIns="9525" anchor="ctr">
            <a:spAutoFit/>
          </a:bodyPr>
          <a:lstStyle/>
          <a:p>
            <a:pPr algn="l"/>
            <a:r>
              <a:rPr sz="1100" b="1">
                <a:solidFill>
                  <a:srgbClr val="0B2E4A"/>
                </a:solidFill>
                <a:latin typeface="Calibri"/>
              </a:rPr>
              <a:t>Signature move:</a:t>
            </a:r>
          </a:p>
        </p:txBody>
      </p:sp>
      <p:sp>
        <p:nvSpPr>
          <p:cNvPr id="35" name="TextBox 34"/>
          <p:cNvSpPr txBox="1"/>
          <p:nvPr/>
        </p:nvSpPr>
        <p:spPr>
          <a:xfrm>
            <a:off x="428625" y="3863965"/>
            <a:ext cx="1924050" cy="219044"/>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New launch</a:t>
            </a:r>
          </a:p>
        </p:txBody>
      </p:sp>
      <p:sp>
        <p:nvSpPr>
          <p:cNvPr id="36" name="Oval 35"/>
          <p:cNvSpPr/>
          <p:nvPr/>
        </p:nvSpPr>
        <p:spPr>
          <a:xfrm>
            <a:off x="3552825" y="1655267"/>
            <a:ext cx="285750" cy="273805"/>
          </a:xfrm>
          <a:prstGeom prst="ellipse">
            <a:avLst/>
          </a:prstGeom>
          <a:solidFill>
            <a:srgbClr val="A3531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552825" y="1710028"/>
            <a:ext cx="285750" cy="164283"/>
          </a:xfrm>
          <a:prstGeom prst="rect">
            <a:avLst/>
          </a:prstGeom>
          <a:noFill/>
        </p:spPr>
        <p:txBody>
          <a:bodyPr wrap="none" lIns="0" rIns="0" tIns="0" bIns="0" anchor="ctr">
            <a:spAutoFit/>
          </a:bodyPr>
          <a:lstStyle/>
          <a:p>
            <a:pPr algn="ctr"/>
            <a:r>
              <a:rPr sz="1100" b="1">
                <a:solidFill>
                  <a:srgbClr val="FFFFFF"/>
                </a:solidFill>
                <a:latin typeface="Calibri"/>
              </a:rPr>
              <a:t>2</a:t>
            </a:r>
          </a:p>
        </p:txBody>
      </p:sp>
      <p:sp>
        <p:nvSpPr>
          <p:cNvPr id="38" name="Rounded Rectangle 37"/>
          <p:cNvSpPr/>
          <p:nvPr/>
        </p:nvSpPr>
        <p:spPr>
          <a:xfrm>
            <a:off x="2543175" y="1992961"/>
            <a:ext cx="2305050" cy="2135683"/>
          </a:xfrm>
          <a:prstGeom prst="roundRect">
            <a:avLst>
              <a:gd name="adj" fmla="val 3719"/>
            </a:avLst>
          </a:prstGeom>
          <a:solidFill>
            <a:srgbClr val="FFFFFF"/>
          </a:solidFill>
          <a:ln w="20320">
            <a:solidFill>
              <a:srgbClr val="A3531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2543175" y="1992961"/>
            <a:ext cx="2305050" cy="310313"/>
          </a:xfrm>
          <a:prstGeom prst="roundRect">
            <a:avLst>
              <a:gd name="adj" fmla="val 3719"/>
            </a:avLst>
          </a:prstGeom>
          <a:solidFill>
            <a:srgbClr val="A35313"/>
          </a:solidFill>
          <a:ln w="12700">
            <a:solidFill>
              <a:srgbClr val="A3531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2657475" y="2038595"/>
            <a:ext cx="228600" cy="219044"/>
          </a:xfrm>
          <a:prstGeom prst="ellipse">
            <a:avLst/>
          </a:prstGeom>
          <a:solidFill>
            <a:srgbClr val="FFFFF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657475" y="2065976"/>
            <a:ext cx="228600" cy="164283"/>
          </a:xfrm>
          <a:prstGeom prst="rect">
            <a:avLst/>
          </a:prstGeom>
          <a:noFill/>
        </p:spPr>
        <p:txBody>
          <a:bodyPr wrap="none" lIns="0" rIns="0" tIns="0" bIns="0" anchor="ctr">
            <a:spAutoFit/>
          </a:bodyPr>
          <a:lstStyle/>
          <a:p>
            <a:pPr algn="ctr"/>
            <a:r>
              <a:rPr sz="1100" b="0">
                <a:solidFill>
                  <a:srgbClr val="2E2E2E"/>
                </a:solidFill>
                <a:latin typeface="Calibri"/>
              </a:rPr>
              <a:t>📈</a:t>
            </a:r>
          </a:p>
        </p:txBody>
      </p:sp>
      <p:sp>
        <p:nvSpPr>
          <p:cNvPr id="42" name="TextBox 41"/>
          <p:cNvSpPr txBox="1"/>
          <p:nvPr/>
        </p:nvSpPr>
        <p:spPr>
          <a:xfrm>
            <a:off x="2924175" y="2065976"/>
            <a:ext cx="1828800" cy="173410"/>
          </a:xfrm>
          <a:prstGeom prst="rect">
            <a:avLst/>
          </a:prstGeom>
          <a:noFill/>
        </p:spPr>
        <p:txBody>
          <a:bodyPr wrap="square" lIns="28575" rIns="28575" tIns="9525" bIns="9525" anchor="ctr">
            <a:spAutoFit/>
          </a:bodyPr>
          <a:lstStyle/>
          <a:p>
            <a:pPr algn="ctr"/>
            <a:r>
              <a:rPr sz="1100" b="1">
                <a:solidFill>
                  <a:srgbClr val="FFFFFF"/>
                </a:solidFill>
                <a:latin typeface="Calibri"/>
              </a:rPr>
              <a:t>Company</a:t>
            </a:r>
          </a:p>
        </p:txBody>
      </p:sp>
      <p:sp>
        <p:nvSpPr>
          <p:cNvPr id="43" name="TextBox 42"/>
          <p:cNvSpPr txBox="1"/>
          <p:nvPr/>
        </p:nvSpPr>
        <p:spPr>
          <a:xfrm>
            <a:off x="2638425" y="2376288"/>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44" name="TextBox 43"/>
          <p:cNvSpPr txBox="1"/>
          <p:nvPr/>
        </p:nvSpPr>
        <p:spPr>
          <a:xfrm>
            <a:off x="2828925" y="2376288"/>
            <a:ext cx="1924050" cy="164283"/>
          </a:xfrm>
          <a:prstGeom prst="rect">
            <a:avLst/>
          </a:prstGeom>
          <a:noFill/>
        </p:spPr>
        <p:txBody>
          <a:bodyPr wrap="square" lIns="28575" rIns="28575" tIns="9525" bIns="9525" anchor="ctr">
            <a:spAutoFit/>
          </a:bodyPr>
          <a:lstStyle/>
          <a:p>
            <a:pPr algn="l"/>
            <a:r>
              <a:rPr sz="1100" b="1">
                <a:solidFill>
                  <a:srgbClr val="2E2E2E"/>
                </a:solidFill>
                <a:latin typeface="Calibri"/>
              </a:rPr>
              <a:t/>
            </a:r>
          </a:p>
        </p:txBody>
      </p:sp>
      <p:cxnSp>
        <p:nvCxnSpPr>
          <p:cNvPr id="45" name="Connector 44"/>
          <p:cNvCxnSpPr/>
          <p:nvPr/>
        </p:nvCxnSpPr>
        <p:spPr>
          <a:xfrm>
            <a:off x="2638425" y="2595333"/>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2638425" y="2723109"/>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47" name="TextBox 46"/>
          <p:cNvSpPr txBox="1"/>
          <p:nvPr/>
        </p:nvSpPr>
        <p:spPr>
          <a:xfrm>
            <a:off x="2828925" y="2640967"/>
            <a:ext cx="1924050" cy="164283"/>
          </a:xfrm>
          <a:prstGeom prst="rect">
            <a:avLst/>
          </a:prstGeom>
          <a:noFill/>
        </p:spPr>
        <p:txBody>
          <a:bodyPr wrap="square" lIns="28575" rIns="28575" tIns="9525" bIns="9525" anchor="ctr">
            <a:spAutoFit/>
          </a:bodyPr>
          <a:lstStyle/>
          <a:p>
            <a:pPr algn="l"/>
            <a:r>
              <a:rPr sz="1100" b="0">
                <a:solidFill>
                  <a:srgbClr val="6C7A89"/>
                </a:solidFill>
                <a:latin typeface="Calibri"/>
              </a:rPr>
              <a:t>Growth role:</a:t>
            </a:r>
          </a:p>
        </p:txBody>
      </p:sp>
      <p:sp>
        <p:nvSpPr>
          <p:cNvPr id="48" name="TextBox 47"/>
          <p:cNvSpPr txBox="1"/>
          <p:nvPr/>
        </p:nvSpPr>
        <p:spPr>
          <a:xfrm>
            <a:off x="2828925" y="2805250"/>
            <a:ext cx="1924050" cy="164283"/>
          </a:xfrm>
          <a:prstGeom prst="rect">
            <a:avLst/>
          </a:prstGeom>
          <a:noFill/>
        </p:spPr>
        <p:txBody>
          <a:bodyPr wrap="square" lIns="28575" rIns="28575" tIns="9525" bIns="9525" anchor="ctr">
            <a:spAutoFit/>
          </a:bodyPr>
          <a:lstStyle/>
          <a:p>
            <a:pPr algn="l"/>
            <a:r>
              <a:rPr sz="1100" b="1">
                <a:solidFill>
                  <a:srgbClr val="A35313"/>
                </a:solidFill>
                <a:latin typeface="Calibri"/>
              </a:rPr>
              <a:t>Portfolio expander</a:t>
            </a:r>
          </a:p>
        </p:txBody>
      </p:sp>
      <p:cxnSp>
        <p:nvCxnSpPr>
          <p:cNvPr id="49" name="Connector 48"/>
          <p:cNvCxnSpPr/>
          <p:nvPr/>
        </p:nvCxnSpPr>
        <p:spPr>
          <a:xfrm>
            <a:off x="2638425" y="3015168"/>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2638425" y="3124690"/>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51" name="TextBox 50"/>
          <p:cNvSpPr txBox="1"/>
          <p:nvPr/>
        </p:nvSpPr>
        <p:spPr>
          <a:xfrm>
            <a:off x="2828925" y="3060802"/>
            <a:ext cx="1924050" cy="164283"/>
          </a:xfrm>
          <a:prstGeom prst="rect">
            <a:avLst/>
          </a:prstGeom>
          <a:noFill/>
        </p:spPr>
        <p:txBody>
          <a:bodyPr wrap="square" lIns="28575" rIns="28575" tIns="9525" bIns="9525" anchor="ctr">
            <a:spAutoFit/>
          </a:bodyPr>
          <a:lstStyle/>
          <a:p>
            <a:pPr algn="l"/>
            <a:r>
              <a:rPr sz="1100" b="1">
                <a:solidFill>
                  <a:srgbClr val="0B2E4A"/>
                </a:solidFill>
                <a:latin typeface="Calibri"/>
              </a:rPr>
              <a:t>Why it shaped growth:</a:t>
            </a:r>
          </a:p>
        </p:txBody>
      </p:sp>
      <p:sp>
        <p:nvSpPr>
          <p:cNvPr id="52" name="TextBox 51"/>
          <p:cNvSpPr txBox="1"/>
          <p:nvPr/>
        </p:nvSpPr>
        <p:spPr>
          <a:xfrm>
            <a:off x="2828925" y="3225085"/>
            <a:ext cx="1924050" cy="383328"/>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Drove new customer adoption</a:t>
            </a:r>
          </a:p>
        </p:txBody>
      </p:sp>
      <p:cxnSp>
        <p:nvCxnSpPr>
          <p:cNvPr id="53" name="Connector 52"/>
          <p:cNvCxnSpPr/>
          <p:nvPr/>
        </p:nvCxnSpPr>
        <p:spPr>
          <a:xfrm>
            <a:off x="2638425" y="3654047"/>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54" name="TextBox 53"/>
          <p:cNvSpPr txBox="1"/>
          <p:nvPr/>
        </p:nvSpPr>
        <p:spPr>
          <a:xfrm>
            <a:off x="2638425" y="3763569"/>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55" name="TextBox 54"/>
          <p:cNvSpPr txBox="1"/>
          <p:nvPr/>
        </p:nvSpPr>
        <p:spPr>
          <a:xfrm>
            <a:off x="2828925" y="3699682"/>
            <a:ext cx="1924050" cy="164283"/>
          </a:xfrm>
          <a:prstGeom prst="rect">
            <a:avLst/>
          </a:prstGeom>
          <a:noFill/>
        </p:spPr>
        <p:txBody>
          <a:bodyPr wrap="square" lIns="28575" rIns="28575" tIns="9525" bIns="9525" anchor="ctr">
            <a:spAutoFit/>
          </a:bodyPr>
          <a:lstStyle/>
          <a:p>
            <a:pPr algn="l"/>
            <a:r>
              <a:rPr sz="1100" b="1">
                <a:solidFill>
                  <a:srgbClr val="0B2E4A"/>
                </a:solidFill>
                <a:latin typeface="Calibri"/>
              </a:rPr>
              <a:t>Signature move:</a:t>
            </a:r>
          </a:p>
        </p:txBody>
      </p:sp>
      <p:sp>
        <p:nvSpPr>
          <p:cNvPr id="56" name="TextBox 55"/>
          <p:cNvSpPr txBox="1"/>
          <p:nvPr/>
        </p:nvSpPr>
        <p:spPr>
          <a:xfrm>
            <a:off x="2828925" y="3863965"/>
            <a:ext cx="1924050" cy="219044"/>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Channel expansion</a:t>
            </a:r>
          </a:p>
        </p:txBody>
      </p:sp>
      <p:sp>
        <p:nvSpPr>
          <p:cNvPr id="57" name="Oval 56"/>
          <p:cNvSpPr/>
          <p:nvPr/>
        </p:nvSpPr>
        <p:spPr>
          <a:xfrm>
            <a:off x="5953125" y="1655267"/>
            <a:ext cx="285750" cy="273805"/>
          </a:xfrm>
          <a:prstGeom prst="ellipse">
            <a:avLst/>
          </a:prstGeom>
          <a:solidFill>
            <a:srgbClr val="69B1E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5953125" y="1710028"/>
            <a:ext cx="285750" cy="164283"/>
          </a:xfrm>
          <a:prstGeom prst="rect">
            <a:avLst/>
          </a:prstGeom>
          <a:noFill/>
        </p:spPr>
        <p:txBody>
          <a:bodyPr wrap="none" lIns="0" rIns="0" tIns="0" bIns="0" anchor="ctr">
            <a:spAutoFit/>
          </a:bodyPr>
          <a:lstStyle/>
          <a:p>
            <a:pPr algn="ctr"/>
            <a:r>
              <a:rPr sz="1100" b="1">
                <a:solidFill>
                  <a:srgbClr val="FFFFFF"/>
                </a:solidFill>
                <a:latin typeface="Calibri"/>
              </a:rPr>
              <a:t>3</a:t>
            </a:r>
          </a:p>
        </p:txBody>
      </p:sp>
      <p:sp>
        <p:nvSpPr>
          <p:cNvPr id="59" name="Rounded Rectangle 58"/>
          <p:cNvSpPr/>
          <p:nvPr/>
        </p:nvSpPr>
        <p:spPr>
          <a:xfrm>
            <a:off x="4943475" y="1992961"/>
            <a:ext cx="2305050" cy="2135683"/>
          </a:xfrm>
          <a:prstGeom prst="roundRect">
            <a:avLst>
              <a:gd name="adj" fmla="val 3719"/>
            </a:avLst>
          </a:prstGeom>
          <a:solidFill>
            <a:srgbClr val="FFFFFF"/>
          </a:solidFill>
          <a:ln w="2032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ounded Rectangle 59"/>
          <p:cNvSpPr/>
          <p:nvPr/>
        </p:nvSpPr>
        <p:spPr>
          <a:xfrm>
            <a:off x="4943475" y="1992961"/>
            <a:ext cx="2305050" cy="310313"/>
          </a:xfrm>
          <a:prstGeom prst="roundRect">
            <a:avLst>
              <a:gd name="adj" fmla="val 3719"/>
            </a:avLst>
          </a:prstGeom>
          <a:solidFill>
            <a:srgbClr val="69B1E0"/>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Oval 60"/>
          <p:cNvSpPr/>
          <p:nvPr/>
        </p:nvSpPr>
        <p:spPr>
          <a:xfrm>
            <a:off x="5057775" y="2038595"/>
            <a:ext cx="228600" cy="219044"/>
          </a:xfrm>
          <a:prstGeom prst="ellipse">
            <a:avLst/>
          </a:prstGeom>
          <a:solidFill>
            <a:srgbClr val="FFFFF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5057775" y="2065976"/>
            <a:ext cx="228600" cy="164283"/>
          </a:xfrm>
          <a:prstGeom prst="rect">
            <a:avLst/>
          </a:prstGeom>
          <a:noFill/>
        </p:spPr>
        <p:txBody>
          <a:bodyPr wrap="none" lIns="0" rIns="0" tIns="0" bIns="0" anchor="ctr">
            <a:spAutoFit/>
          </a:bodyPr>
          <a:lstStyle/>
          <a:p>
            <a:pPr algn="ctr"/>
            <a:r>
              <a:rPr sz="1100" b="0">
                <a:solidFill>
                  <a:srgbClr val="2E2E2E"/>
                </a:solidFill>
                <a:latin typeface="Calibri"/>
              </a:rPr>
              <a:t>👥</a:t>
            </a:r>
          </a:p>
        </p:txBody>
      </p:sp>
      <p:sp>
        <p:nvSpPr>
          <p:cNvPr id="63" name="TextBox 62"/>
          <p:cNvSpPr txBox="1"/>
          <p:nvPr/>
        </p:nvSpPr>
        <p:spPr>
          <a:xfrm>
            <a:off x="5324475" y="2065976"/>
            <a:ext cx="1828800" cy="173410"/>
          </a:xfrm>
          <a:prstGeom prst="rect">
            <a:avLst/>
          </a:prstGeom>
          <a:noFill/>
        </p:spPr>
        <p:txBody>
          <a:bodyPr wrap="square" lIns="28575" rIns="28575" tIns="9525" bIns="9525" anchor="ctr">
            <a:spAutoFit/>
          </a:bodyPr>
          <a:lstStyle/>
          <a:p>
            <a:pPr algn="ctr"/>
            <a:r>
              <a:rPr sz="1100" b="1">
                <a:solidFill>
                  <a:srgbClr val="FFFFFF"/>
                </a:solidFill>
                <a:latin typeface="Calibri"/>
              </a:rPr>
              <a:t>Biova, LLC</a:t>
            </a:r>
          </a:p>
        </p:txBody>
      </p:sp>
      <p:sp>
        <p:nvSpPr>
          <p:cNvPr id="64" name="TextBox 63"/>
          <p:cNvSpPr txBox="1"/>
          <p:nvPr/>
        </p:nvSpPr>
        <p:spPr>
          <a:xfrm>
            <a:off x="5038725" y="2376288"/>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65" name="TextBox 64"/>
          <p:cNvSpPr txBox="1"/>
          <p:nvPr/>
        </p:nvSpPr>
        <p:spPr>
          <a:xfrm>
            <a:off x="5229225" y="2376288"/>
            <a:ext cx="1924050" cy="164283"/>
          </a:xfrm>
          <a:prstGeom prst="rect">
            <a:avLst/>
          </a:prstGeom>
          <a:noFill/>
        </p:spPr>
        <p:txBody>
          <a:bodyPr wrap="square" lIns="28575" rIns="28575" tIns="9525" bIns="9525" anchor="ctr">
            <a:spAutoFit/>
          </a:bodyPr>
          <a:lstStyle/>
          <a:p>
            <a:pPr algn="l"/>
            <a:r>
              <a:rPr sz="1100" b="1">
                <a:solidFill>
                  <a:srgbClr val="2E2E2E"/>
                </a:solidFill>
                <a:latin typeface="Calibri"/>
              </a:rPr>
              <a:t/>
            </a:r>
          </a:p>
        </p:txBody>
      </p:sp>
      <p:cxnSp>
        <p:nvCxnSpPr>
          <p:cNvPr id="66" name="Connector 65"/>
          <p:cNvCxnSpPr/>
          <p:nvPr/>
        </p:nvCxnSpPr>
        <p:spPr>
          <a:xfrm>
            <a:off x="5038725" y="2595333"/>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67" name="TextBox 66"/>
          <p:cNvSpPr txBox="1"/>
          <p:nvPr/>
        </p:nvSpPr>
        <p:spPr>
          <a:xfrm>
            <a:off x="5038725" y="2723109"/>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68" name="TextBox 67"/>
          <p:cNvSpPr txBox="1"/>
          <p:nvPr/>
        </p:nvSpPr>
        <p:spPr>
          <a:xfrm>
            <a:off x="5229225" y="2640967"/>
            <a:ext cx="1924050" cy="164283"/>
          </a:xfrm>
          <a:prstGeom prst="rect">
            <a:avLst/>
          </a:prstGeom>
          <a:noFill/>
        </p:spPr>
        <p:txBody>
          <a:bodyPr wrap="square" lIns="28575" rIns="28575" tIns="9525" bIns="9525" anchor="ctr">
            <a:spAutoFit/>
          </a:bodyPr>
          <a:lstStyle/>
          <a:p>
            <a:pPr algn="l"/>
            <a:r>
              <a:rPr sz="1100" b="0">
                <a:solidFill>
                  <a:srgbClr val="6C7A89"/>
                </a:solidFill>
                <a:latin typeface="Calibri"/>
              </a:rPr>
              <a:t>Growth role:</a:t>
            </a:r>
          </a:p>
        </p:txBody>
      </p:sp>
      <p:sp>
        <p:nvSpPr>
          <p:cNvPr id="69" name="TextBox 68"/>
          <p:cNvSpPr txBox="1"/>
          <p:nvPr/>
        </p:nvSpPr>
        <p:spPr>
          <a:xfrm>
            <a:off x="5229225" y="2805250"/>
            <a:ext cx="1924050" cy="164283"/>
          </a:xfrm>
          <a:prstGeom prst="rect">
            <a:avLst/>
          </a:prstGeom>
          <a:noFill/>
        </p:spPr>
        <p:txBody>
          <a:bodyPr wrap="square" lIns="28575" rIns="28575" tIns="9525" bIns="9525" anchor="ctr">
            <a:spAutoFit/>
          </a:bodyPr>
          <a:lstStyle/>
          <a:p>
            <a:pPr algn="l"/>
            <a:r>
              <a:rPr sz="1100" b="1">
                <a:solidFill>
                  <a:srgbClr val="69B1E0"/>
                </a:solidFill>
                <a:latin typeface="Calibri"/>
              </a:rPr>
              <a:t>Access builder</a:t>
            </a:r>
          </a:p>
        </p:txBody>
      </p:sp>
      <p:cxnSp>
        <p:nvCxnSpPr>
          <p:cNvPr id="70" name="Connector 69"/>
          <p:cNvCxnSpPr/>
          <p:nvPr/>
        </p:nvCxnSpPr>
        <p:spPr>
          <a:xfrm>
            <a:off x="5038725" y="3015168"/>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71" name="TextBox 70"/>
          <p:cNvSpPr txBox="1"/>
          <p:nvPr/>
        </p:nvSpPr>
        <p:spPr>
          <a:xfrm>
            <a:off x="5038725" y="3124690"/>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72" name="TextBox 71"/>
          <p:cNvSpPr txBox="1"/>
          <p:nvPr/>
        </p:nvSpPr>
        <p:spPr>
          <a:xfrm>
            <a:off x="5229225" y="3060802"/>
            <a:ext cx="1924050" cy="164283"/>
          </a:xfrm>
          <a:prstGeom prst="rect">
            <a:avLst/>
          </a:prstGeom>
          <a:noFill/>
        </p:spPr>
        <p:txBody>
          <a:bodyPr wrap="square" lIns="28575" rIns="28575" tIns="9525" bIns="9525" anchor="ctr">
            <a:spAutoFit/>
          </a:bodyPr>
          <a:lstStyle/>
          <a:p>
            <a:pPr algn="l"/>
            <a:r>
              <a:rPr sz="1100" b="1">
                <a:solidFill>
                  <a:srgbClr val="0B2E4A"/>
                </a:solidFill>
                <a:latin typeface="Calibri"/>
              </a:rPr>
              <a:t>Why it shaped growth:</a:t>
            </a:r>
          </a:p>
        </p:txBody>
      </p:sp>
      <p:sp>
        <p:nvSpPr>
          <p:cNvPr id="73" name="TextBox 72"/>
          <p:cNvSpPr txBox="1"/>
          <p:nvPr/>
        </p:nvSpPr>
        <p:spPr>
          <a:xfrm>
            <a:off x="5229225" y="3225085"/>
            <a:ext cx="1924050" cy="383328"/>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Won through wider channel availability</a:t>
            </a:r>
          </a:p>
        </p:txBody>
      </p:sp>
      <p:cxnSp>
        <p:nvCxnSpPr>
          <p:cNvPr id="74" name="Connector 73"/>
          <p:cNvCxnSpPr/>
          <p:nvPr/>
        </p:nvCxnSpPr>
        <p:spPr>
          <a:xfrm>
            <a:off x="5038725" y="3654047"/>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75" name="TextBox 74"/>
          <p:cNvSpPr txBox="1"/>
          <p:nvPr/>
        </p:nvSpPr>
        <p:spPr>
          <a:xfrm>
            <a:off x="5038725" y="3763569"/>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76" name="TextBox 75"/>
          <p:cNvSpPr txBox="1"/>
          <p:nvPr/>
        </p:nvSpPr>
        <p:spPr>
          <a:xfrm>
            <a:off x="5229225" y="3699682"/>
            <a:ext cx="1924050" cy="164283"/>
          </a:xfrm>
          <a:prstGeom prst="rect">
            <a:avLst/>
          </a:prstGeom>
          <a:noFill/>
        </p:spPr>
        <p:txBody>
          <a:bodyPr wrap="square" lIns="28575" rIns="28575" tIns="9525" bIns="9525" anchor="ctr">
            <a:spAutoFit/>
          </a:bodyPr>
          <a:lstStyle/>
          <a:p>
            <a:pPr algn="l"/>
            <a:r>
              <a:rPr sz="1100" b="1">
                <a:solidFill>
                  <a:srgbClr val="0B2E4A"/>
                </a:solidFill>
                <a:latin typeface="Calibri"/>
              </a:rPr>
              <a:t>Signature move:</a:t>
            </a:r>
          </a:p>
        </p:txBody>
      </p:sp>
      <p:sp>
        <p:nvSpPr>
          <p:cNvPr id="77" name="TextBox 76"/>
          <p:cNvSpPr txBox="1"/>
          <p:nvPr/>
        </p:nvSpPr>
        <p:spPr>
          <a:xfrm>
            <a:off x="5229225" y="3863965"/>
            <a:ext cx="1924050" cy="219044"/>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Pricing strategy</a:t>
            </a:r>
          </a:p>
        </p:txBody>
      </p:sp>
      <p:sp>
        <p:nvSpPr>
          <p:cNvPr id="78" name="Oval 77"/>
          <p:cNvSpPr/>
          <p:nvPr/>
        </p:nvSpPr>
        <p:spPr>
          <a:xfrm>
            <a:off x="8353425" y="1655267"/>
            <a:ext cx="285750" cy="273805"/>
          </a:xfrm>
          <a:prstGeom prst="ellipse">
            <a:avLst/>
          </a:prstGeom>
          <a:solidFill>
            <a:srgbClr val="6F3CC2"/>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8353425" y="1710028"/>
            <a:ext cx="285750" cy="164283"/>
          </a:xfrm>
          <a:prstGeom prst="rect">
            <a:avLst/>
          </a:prstGeom>
          <a:noFill/>
        </p:spPr>
        <p:txBody>
          <a:bodyPr wrap="none" lIns="0" rIns="0" tIns="0" bIns="0" anchor="ctr">
            <a:spAutoFit/>
          </a:bodyPr>
          <a:lstStyle/>
          <a:p>
            <a:pPr algn="ctr"/>
            <a:r>
              <a:rPr sz="1100" b="1">
                <a:solidFill>
                  <a:srgbClr val="FFFFFF"/>
                </a:solidFill>
                <a:latin typeface="Calibri"/>
              </a:rPr>
              <a:t>4</a:t>
            </a:r>
          </a:p>
        </p:txBody>
      </p:sp>
      <p:sp>
        <p:nvSpPr>
          <p:cNvPr id="80" name="Rounded Rectangle 79"/>
          <p:cNvSpPr/>
          <p:nvPr/>
        </p:nvSpPr>
        <p:spPr>
          <a:xfrm>
            <a:off x="7343775" y="1992961"/>
            <a:ext cx="2305050" cy="2135683"/>
          </a:xfrm>
          <a:prstGeom prst="roundRect">
            <a:avLst>
              <a:gd name="adj" fmla="val 3719"/>
            </a:avLst>
          </a:prstGeom>
          <a:solidFill>
            <a:srgbClr val="FFFFFF"/>
          </a:solidFill>
          <a:ln w="20320">
            <a:solidFill>
              <a:srgbClr val="6F3C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ounded Rectangle 80"/>
          <p:cNvSpPr/>
          <p:nvPr/>
        </p:nvSpPr>
        <p:spPr>
          <a:xfrm>
            <a:off x="7343775" y="1992961"/>
            <a:ext cx="2305050" cy="310313"/>
          </a:xfrm>
          <a:prstGeom prst="roundRect">
            <a:avLst>
              <a:gd name="adj" fmla="val 3719"/>
            </a:avLst>
          </a:prstGeom>
          <a:solidFill>
            <a:srgbClr val="6F3CC2"/>
          </a:solidFill>
          <a:ln w="12700">
            <a:solidFill>
              <a:srgbClr val="6F3C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Oval 81"/>
          <p:cNvSpPr/>
          <p:nvPr/>
        </p:nvSpPr>
        <p:spPr>
          <a:xfrm>
            <a:off x="7458075" y="2038595"/>
            <a:ext cx="228600" cy="219044"/>
          </a:xfrm>
          <a:prstGeom prst="ellipse">
            <a:avLst/>
          </a:prstGeom>
          <a:solidFill>
            <a:srgbClr val="FFFFF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7458075" y="2065976"/>
            <a:ext cx="228600" cy="164283"/>
          </a:xfrm>
          <a:prstGeom prst="rect">
            <a:avLst/>
          </a:prstGeom>
          <a:noFill/>
        </p:spPr>
        <p:txBody>
          <a:bodyPr wrap="none" lIns="0" rIns="0" tIns="0" bIns="0" anchor="ctr">
            <a:spAutoFit/>
          </a:bodyPr>
          <a:lstStyle/>
          <a:p>
            <a:pPr algn="ctr"/>
            <a:r>
              <a:rPr sz="1100" b="0">
                <a:solidFill>
                  <a:srgbClr val="2E2E2E"/>
                </a:solidFill>
                <a:latin typeface="Calibri"/>
              </a:rPr>
              <a:t>💎</a:t>
            </a:r>
          </a:p>
        </p:txBody>
      </p:sp>
      <p:sp>
        <p:nvSpPr>
          <p:cNvPr id="84" name="TextBox 83"/>
          <p:cNvSpPr txBox="1"/>
          <p:nvPr/>
        </p:nvSpPr>
        <p:spPr>
          <a:xfrm>
            <a:off x="7724775" y="2065976"/>
            <a:ext cx="1828800" cy="173410"/>
          </a:xfrm>
          <a:prstGeom prst="rect">
            <a:avLst/>
          </a:prstGeom>
          <a:noFill/>
        </p:spPr>
        <p:txBody>
          <a:bodyPr wrap="square" lIns="28575" rIns="28575" tIns="9525" bIns="9525" anchor="ctr">
            <a:spAutoFit/>
          </a:bodyPr>
          <a:lstStyle/>
          <a:p>
            <a:pPr algn="ctr"/>
            <a:r>
              <a:rPr sz="1100" b="1">
                <a:solidFill>
                  <a:srgbClr val="FFFFFF"/>
                </a:solidFill>
                <a:latin typeface="Calibri"/>
              </a:rPr>
              <a:t>Eggnovo S.L.</a:t>
            </a:r>
          </a:p>
        </p:txBody>
      </p:sp>
      <p:sp>
        <p:nvSpPr>
          <p:cNvPr id="85" name="TextBox 84"/>
          <p:cNvSpPr txBox="1"/>
          <p:nvPr/>
        </p:nvSpPr>
        <p:spPr>
          <a:xfrm>
            <a:off x="7439025" y="2376288"/>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86" name="TextBox 85"/>
          <p:cNvSpPr txBox="1"/>
          <p:nvPr/>
        </p:nvSpPr>
        <p:spPr>
          <a:xfrm>
            <a:off x="7629525" y="2376288"/>
            <a:ext cx="1924050" cy="164283"/>
          </a:xfrm>
          <a:prstGeom prst="rect">
            <a:avLst/>
          </a:prstGeom>
          <a:noFill/>
        </p:spPr>
        <p:txBody>
          <a:bodyPr wrap="square" lIns="28575" rIns="28575" tIns="9525" bIns="9525" anchor="ctr">
            <a:spAutoFit/>
          </a:bodyPr>
          <a:lstStyle/>
          <a:p>
            <a:pPr algn="l"/>
            <a:r>
              <a:rPr sz="1100" b="1">
                <a:solidFill>
                  <a:srgbClr val="2E2E2E"/>
                </a:solidFill>
                <a:latin typeface="Calibri"/>
              </a:rPr>
              <a:t/>
            </a:r>
          </a:p>
        </p:txBody>
      </p:sp>
      <p:cxnSp>
        <p:nvCxnSpPr>
          <p:cNvPr id="87" name="Connector 86"/>
          <p:cNvCxnSpPr/>
          <p:nvPr/>
        </p:nvCxnSpPr>
        <p:spPr>
          <a:xfrm>
            <a:off x="7439025" y="2595333"/>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88" name="TextBox 87"/>
          <p:cNvSpPr txBox="1"/>
          <p:nvPr/>
        </p:nvSpPr>
        <p:spPr>
          <a:xfrm>
            <a:off x="7439025" y="2723109"/>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89" name="TextBox 88"/>
          <p:cNvSpPr txBox="1"/>
          <p:nvPr/>
        </p:nvSpPr>
        <p:spPr>
          <a:xfrm>
            <a:off x="7629525" y="2640967"/>
            <a:ext cx="1924050" cy="164283"/>
          </a:xfrm>
          <a:prstGeom prst="rect">
            <a:avLst/>
          </a:prstGeom>
          <a:noFill/>
        </p:spPr>
        <p:txBody>
          <a:bodyPr wrap="square" lIns="28575" rIns="28575" tIns="9525" bIns="9525" anchor="ctr">
            <a:spAutoFit/>
          </a:bodyPr>
          <a:lstStyle/>
          <a:p>
            <a:pPr algn="l"/>
            <a:r>
              <a:rPr sz="1100" b="0">
                <a:solidFill>
                  <a:srgbClr val="6C7A89"/>
                </a:solidFill>
                <a:latin typeface="Calibri"/>
              </a:rPr>
              <a:t>Growth role:</a:t>
            </a:r>
          </a:p>
        </p:txBody>
      </p:sp>
      <p:sp>
        <p:nvSpPr>
          <p:cNvPr id="90" name="TextBox 89"/>
          <p:cNvSpPr txBox="1"/>
          <p:nvPr/>
        </p:nvSpPr>
        <p:spPr>
          <a:xfrm>
            <a:off x="7629525" y="2805250"/>
            <a:ext cx="1924050" cy="164283"/>
          </a:xfrm>
          <a:prstGeom prst="rect">
            <a:avLst/>
          </a:prstGeom>
          <a:noFill/>
        </p:spPr>
        <p:txBody>
          <a:bodyPr wrap="square" lIns="28575" rIns="28575" tIns="9525" bIns="9525" anchor="ctr">
            <a:spAutoFit/>
          </a:bodyPr>
          <a:lstStyle/>
          <a:p>
            <a:pPr algn="l"/>
            <a:r>
              <a:rPr sz="1100" b="1">
                <a:solidFill>
                  <a:srgbClr val="6F3CC2"/>
                </a:solidFill>
                <a:latin typeface="Calibri"/>
              </a:rPr>
              <a:t>Premiumiser</a:t>
            </a:r>
          </a:p>
        </p:txBody>
      </p:sp>
      <p:cxnSp>
        <p:nvCxnSpPr>
          <p:cNvPr id="91" name="Connector 90"/>
          <p:cNvCxnSpPr/>
          <p:nvPr/>
        </p:nvCxnSpPr>
        <p:spPr>
          <a:xfrm>
            <a:off x="7439025" y="3015168"/>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92" name="TextBox 91"/>
          <p:cNvSpPr txBox="1"/>
          <p:nvPr/>
        </p:nvSpPr>
        <p:spPr>
          <a:xfrm>
            <a:off x="7439025" y="3124690"/>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93" name="TextBox 92"/>
          <p:cNvSpPr txBox="1"/>
          <p:nvPr/>
        </p:nvSpPr>
        <p:spPr>
          <a:xfrm>
            <a:off x="7629525" y="3060802"/>
            <a:ext cx="1924050" cy="164283"/>
          </a:xfrm>
          <a:prstGeom prst="rect">
            <a:avLst/>
          </a:prstGeom>
          <a:noFill/>
        </p:spPr>
        <p:txBody>
          <a:bodyPr wrap="square" lIns="28575" rIns="28575" tIns="9525" bIns="9525" anchor="ctr">
            <a:spAutoFit/>
          </a:bodyPr>
          <a:lstStyle/>
          <a:p>
            <a:pPr algn="l"/>
            <a:r>
              <a:rPr sz="1100" b="1">
                <a:solidFill>
                  <a:srgbClr val="0B2E4A"/>
                </a:solidFill>
                <a:latin typeface="Calibri"/>
              </a:rPr>
              <a:t>Why it shaped growth:</a:t>
            </a:r>
          </a:p>
        </p:txBody>
      </p:sp>
      <p:sp>
        <p:nvSpPr>
          <p:cNvPr id="94" name="TextBox 93"/>
          <p:cNvSpPr txBox="1"/>
          <p:nvPr/>
        </p:nvSpPr>
        <p:spPr>
          <a:xfrm>
            <a:off x="7629525" y="3225085"/>
            <a:ext cx="1924050" cy="383328"/>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Supported premium SKU growth</a:t>
            </a:r>
          </a:p>
        </p:txBody>
      </p:sp>
      <p:cxnSp>
        <p:nvCxnSpPr>
          <p:cNvPr id="95" name="Connector 94"/>
          <p:cNvCxnSpPr/>
          <p:nvPr/>
        </p:nvCxnSpPr>
        <p:spPr>
          <a:xfrm>
            <a:off x="7439025" y="3654047"/>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96" name="TextBox 95"/>
          <p:cNvSpPr txBox="1"/>
          <p:nvPr/>
        </p:nvSpPr>
        <p:spPr>
          <a:xfrm>
            <a:off x="7439025" y="3763569"/>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97" name="TextBox 96"/>
          <p:cNvSpPr txBox="1"/>
          <p:nvPr/>
        </p:nvSpPr>
        <p:spPr>
          <a:xfrm>
            <a:off x="7629525" y="3699682"/>
            <a:ext cx="1924050" cy="164283"/>
          </a:xfrm>
          <a:prstGeom prst="rect">
            <a:avLst/>
          </a:prstGeom>
          <a:noFill/>
        </p:spPr>
        <p:txBody>
          <a:bodyPr wrap="square" lIns="28575" rIns="28575" tIns="9525" bIns="9525" anchor="ctr">
            <a:spAutoFit/>
          </a:bodyPr>
          <a:lstStyle/>
          <a:p>
            <a:pPr algn="l"/>
            <a:r>
              <a:rPr sz="1100" b="1">
                <a:solidFill>
                  <a:srgbClr val="0B2E4A"/>
                </a:solidFill>
                <a:latin typeface="Calibri"/>
              </a:rPr>
              <a:t>Signature move:</a:t>
            </a:r>
          </a:p>
        </p:txBody>
      </p:sp>
      <p:sp>
        <p:nvSpPr>
          <p:cNvPr id="98" name="TextBox 97"/>
          <p:cNvSpPr txBox="1"/>
          <p:nvPr/>
        </p:nvSpPr>
        <p:spPr>
          <a:xfrm>
            <a:off x="7629525" y="3863965"/>
            <a:ext cx="1924050" cy="219044"/>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Portfolio/brand investment</a:t>
            </a:r>
          </a:p>
        </p:txBody>
      </p:sp>
      <p:sp>
        <p:nvSpPr>
          <p:cNvPr id="99" name="Oval 98"/>
          <p:cNvSpPr/>
          <p:nvPr/>
        </p:nvSpPr>
        <p:spPr>
          <a:xfrm>
            <a:off x="10753725" y="1655267"/>
            <a:ext cx="285750" cy="273805"/>
          </a:xfrm>
          <a:prstGeom prst="ellipse">
            <a:avLst/>
          </a:prstGeom>
          <a:solidFill>
            <a:srgbClr val="A86F0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99"/>
          <p:cNvSpPr txBox="1"/>
          <p:nvPr/>
        </p:nvSpPr>
        <p:spPr>
          <a:xfrm>
            <a:off x="10753725" y="1710028"/>
            <a:ext cx="285750" cy="164283"/>
          </a:xfrm>
          <a:prstGeom prst="rect">
            <a:avLst/>
          </a:prstGeom>
          <a:noFill/>
        </p:spPr>
        <p:txBody>
          <a:bodyPr wrap="none" lIns="0" rIns="0" tIns="0" bIns="0" anchor="ctr">
            <a:spAutoFit/>
          </a:bodyPr>
          <a:lstStyle/>
          <a:p>
            <a:pPr algn="ctr"/>
            <a:r>
              <a:rPr sz="1100" b="1">
                <a:solidFill>
                  <a:srgbClr val="FFFFFF"/>
                </a:solidFill>
                <a:latin typeface="Calibri"/>
              </a:rPr>
              <a:t>5</a:t>
            </a:r>
          </a:p>
        </p:txBody>
      </p:sp>
      <p:sp>
        <p:nvSpPr>
          <p:cNvPr id="101" name="Rounded Rectangle 100"/>
          <p:cNvSpPr/>
          <p:nvPr/>
        </p:nvSpPr>
        <p:spPr>
          <a:xfrm>
            <a:off x="9744075" y="1992961"/>
            <a:ext cx="2305050" cy="2135683"/>
          </a:xfrm>
          <a:prstGeom prst="roundRect">
            <a:avLst>
              <a:gd name="adj" fmla="val 3719"/>
            </a:avLst>
          </a:prstGeom>
          <a:solidFill>
            <a:srgbClr val="FFFFFF"/>
          </a:solidFill>
          <a:ln w="20320">
            <a:solidFill>
              <a:srgbClr val="A86F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ounded Rectangle 101"/>
          <p:cNvSpPr/>
          <p:nvPr/>
        </p:nvSpPr>
        <p:spPr>
          <a:xfrm>
            <a:off x="9744075" y="1992961"/>
            <a:ext cx="2305050" cy="310313"/>
          </a:xfrm>
          <a:prstGeom prst="roundRect">
            <a:avLst>
              <a:gd name="adj" fmla="val 3719"/>
            </a:avLst>
          </a:prstGeom>
          <a:solidFill>
            <a:srgbClr val="A86F00"/>
          </a:solidFill>
          <a:ln w="12700">
            <a:solidFill>
              <a:srgbClr val="A86F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Oval 102"/>
          <p:cNvSpPr/>
          <p:nvPr/>
        </p:nvSpPr>
        <p:spPr>
          <a:xfrm>
            <a:off x="9858375" y="2038595"/>
            <a:ext cx="228600" cy="219044"/>
          </a:xfrm>
          <a:prstGeom prst="ellipse">
            <a:avLst/>
          </a:prstGeom>
          <a:solidFill>
            <a:srgbClr val="FFFFF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9858375" y="2065976"/>
            <a:ext cx="228600" cy="164283"/>
          </a:xfrm>
          <a:prstGeom prst="rect">
            <a:avLst/>
          </a:prstGeom>
          <a:noFill/>
        </p:spPr>
        <p:txBody>
          <a:bodyPr wrap="none" lIns="0" rIns="0" tIns="0" bIns="0" anchor="ctr">
            <a:spAutoFit/>
          </a:bodyPr>
          <a:lstStyle/>
          <a:p>
            <a:pPr algn="ctr"/>
            <a:r>
              <a:rPr sz="1100" b="0">
                <a:solidFill>
                  <a:srgbClr val="2E2E2E"/>
                </a:solidFill>
                <a:latin typeface="Calibri"/>
              </a:rPr>
              <a:t>⚡</a:t>
            </a:r>
          </a:p>
        </p:txBody>
      </p:sp>
      <p:sp>
        <p:nvSpPr>
          <p:cNvPr id="105" name="TextBox 104"/>
          <p:cNvSpPr txBox="1"/>
          <p:nvPr/>
        </p:nvSpPr>
        <p:spPr>
          <a:xfrm>
            <a:off x="10125075" y="2065976"/>
            <a:ext cx="1828800" cy="173410"/>
          </a:xfrm>
          <a:prstGeom prst="rect">
            <a:avLst/>
          </a:prstGeom>
          <a:noFill/>
        </p:spPr>
        <p:txBody>
          <a:bodyPr wrap="square" lIns="28575" rIns="28575" tIns="9525" bIns="9525" anchor="ctr">
            <a:spAutoFit/>
          </a:bodyPr>
          <a:lstStyle/>
          <a:p>
            <a:pPr algn="ctr"/>
            <a:r>
              <a:rPr sz="1100" b="1">
                <a:solidFill>
                  <a:srgbClr val="FFFFFF"/>
                </a:solidFill>
                <a:latin typeface="Calibri"/>
              </a:rPr>
              <a:t>Dutch Eggmembrane Protein Powder</a:t>
            </a:r>
          </a:p>
        </p:txBody>
      </p:sp>
      <p:sp>
        <p:nvSpPr>
          <p:cNvPr id="106" name="TextBox 105"/>
          <p:cNvSpPr txBox="1"/>
          <p:nvPr/>
        </p:nvSpPr>
        <p:spPr>
          <a:xfrm>
            <a:off x="9839325" y="2376288"/>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07" name="TextBox 106"/>
          <p:cNvSpPr txBox="1"/>
          <p:nvPr/>
        </p:nvSpPr>
        <p:spPr>
          <a:xfrm>
            <a:off x="10029825" y="2376288"/>
            <a:ext cx="1924050" cy="164283"/>
          </a:xfrm>
          <a:prstGeom prst="rect">
            <a:avLst/>
          </a:prstGeom>
          <a:noFill/>
        </p:spPr>
        <p:txBody>
          <a:bodyPr wrap="square" lIns="28575" rIns="28575" tIns="9525" bIns="9525" anchor="ctr">
            <a:spAutoFit/>
          </a:bodyPr>
          <a:lstStyle/>
          <a:p>
            <a:pPr algn="l"/>
            <a:r>
              <a:rPr sz="1100" b="1">
                <a:solidFill>
                  <a:srgbClr val="2E2E2E"/>
                </a:solidFill>
                <a:latin typeface="Calibri"/>
              </a:rPr>
              <a:t/>
            </a:r>
          </a:p>
        </p:txBody>
      </p:sp>
      <p:cxnSp>
        <p:nvCxnSpPr>
          <p:cNvPr id="108" name="Connector 107"/>
          <p:cNvCxnSpPr/>
          <p:nvPr/>
        </p:nvCxnSpPr>
        <p:spPr>
          <a:xfrm>
            <a:off x="9839325" y="2595333"/>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109" name="TextBox 108"/>
          <p:cNvSpPr txBox="1"/>
          <p:nvPr/>
        </p:nvSpPr>
        <p:spPr>
          <a:xfrm>
            <a:off x="9839325" y="2723109"/>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10" name="TextBox 109"/>
          <p:cNvSpPr txBox="1"/>
          <p:nvPr/>
        </p:nvSpPr>
        <p:spPr>
          <a:xfrm>
            <a:off x="10029825" y="2640967"/>
            <a:ext cx="1924050" cy="164283"/>
          </a:xfrm>
          <a:prstGeom prst="rect">
            <a:avLst/>
          </a:prstGeom>
          <a:noFill/>
        </p:spPr>
        <p:txBody>
          <a:bodyPr wrap="square" lIns="28575" rIns="28575" tIns="9525" bIns="9525" anchor="ctr">
            <a:spAutoFit/>
          </a:bodyPr>
          <a:lstStyle/>
          <a:p>
            <a:pPr algn="l"/>
            <a:r>
              <a:rPr sz="1100" b="0">
                <a:solidFill>
                  <a:srgbClr val="6C7A89"/>
                </a:solidFill>
                <a:latin typeface="Calibri"/>
              </a:rPr>
              <a:t>Growth role:</a:t>
            </a:r>
          </a:p>
        </p:txBody>
      </p:sp>
      <p:sp>
        <p:nvSpPr>
          <p:cNvPr id="111" name="TextBox 110"/>
          <p:cNvSpPr txBox="1"/>
          <p:nvPr/>
        </p:nvSpPr>
        <p:spPr>
          <a:xfrm>
            <a:off x="10029825" y="2805250"/>
            <a:ext cx="1924050" cy="164283"/>
          </a:xfrm>
          <a:prstGeom prst="rect">
            <a:avLst/>
          </a:prstGeom>
          <a:noFill/>
        </p:spPr>
        <p:txBody>
          <a:bodyPr wrap="square" lIns="28575" rIns="28575" tIns="9525" bIns="9525" anchor="ctr">
            <a:spAutoFit/>
          </a:bodyPr>
          <a:lstStyle/>
          <a:p>
            <a:pPr algn="l"/>
            <a:r>
              <a:rPr sz="1100" b="1">
                <a:solidFill>
                  <a:srgbClr val="A86F00"/>
                </a:solidFill>
                <a:latin typeface="Calibri"/>
              </a:rPr>
              <a:t>Disruptor</a:t>
            </a:r>
          </a:p>
        </p:txBody>
      </p:sp>
      <p:cxnSp>
        <p:nvCxnSpPr>
          <p:cNvPr id="112" name="Connector 111"/>
          <p:cNvCxnSpPr/>
          <p:nvPr/>
        </p:nvCxnSpPr>
        <p:spPr>
          <a:xfrm>
            <a:off x="9839325" y="3015168"/>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113" name="TextBox 112"/>
          <p:cNvSpPr txBox="1"/>
          <p:nvPr/>
        </p:nvSpPr>
        <p:spPr>
          <a:xfrm>
            <a:off x="9839325" y="3124690"/>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14" name="TextBox 113"/>
          <p:cNvSpPr txBox="1"/>
          <p:nvPr/>
        </p:nvSpPr>
        <p:spPr>
          <a:xfrm>
            <a:off x="10029825" y="3060802"/>
            <a:ext cx="1924050" cy="164283"/>
          </a:xfrm>
          <a:prstGeom prst="rect">
            <a:avLst/>
          </a:prstGeom>
          <a:noFill/>
        </p:spPr>
        <p:txBody>
          <a:bodyPr wrap="square" lIns="28575" rIns="28575" tIns="9525" bIns="9525" anchor="ctr">
            <a:spAutoFit/>
          </a:bodyPr>
          <a:lstStyle/>
          <a:p>
            <a:pPr algn="l"/>
            <a:r>
              <a:rPr sz="1100" b="1">
                <a:solidFill>
                  <a:srgbClr val="0B2E4A"/>
                </a:solidFill>
                <a:latin typeface="Calibri"/>
              </a:rPr>
              <a:t>Why it shaped growth:</a:t>
            </a:r>
          </a:p>
        </p:txBody>
      </p:sp>
      <p:sp>
        <p:nvSpPr>
          <p:cNvPr id="115" name="TextBox 114"/>
          <p:cNvSpPr txBox="1"/>
          <p:nvPr/>
        </p:nvSpPr>
        <p:spPr>
          <a:xfrm>
            <a:off x="10029825" y="3225085"/>
            <a:ext cx="1924050" cy="383328"/>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Strengthened end-user and specifier pull</a:t>
            </a:r>
          </a:p>
        </p:txBody>
      </p:sp>
      <p:cxnSp>
        <p:nvCxnSpPr>
          <p:cNvPr id="116" name="Connector 115"/>
          <p:cNvCxnSpPr/>
          <p:nvPr/>
        </p:nvCxnSpPr>
        <p:spPr>
          <a:xfrm>
            <a:off x="9839325" y="3654047"/>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117" name="TextBox 116"/>
          <p:cNvSpPr txBox="1"/>
          <p:nvPr/>
        </p:nvSpPr>
        <p:spPr>
          <a:xfrm>
            <a:off x="9839325" y="3763569"/>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18" name="TextBox 117"/>
          <p:cNvSpPr txBox="1"/>
          <p:nvPr/>
        </p:nvSpPr>
        <p:spPr>
          <a:xfrm>
            <a:off x="10029825" y="3699682"/>
            <a:ext cx="1924050" cy="164283"/>
          </a:xfrm>
          <a:prstGeom prst="rect">
            <a:avLst/>
          </a:prstGeom>
          <a:noFill/>
        </p:spPr>
        <p:txBody>
          <a:bodyPr wrap="square" lIns="28575" rIns="28575" tIns="9525" bIns="9525" anchor="ctr">
            <a:spAutoFit/>
          </a:bodyPr>
          <a:lstStyle/>
          <a:p>
            <a:pPr algn="l"/>
            <a:r>
              <a:rPr sz="1100" b="1">
                <a:solidFill>
                  <a:srgbClr val="0B2E4A"/>
                </a:solidFill>
                <a:latin typeface="Calibri"/>
              </a:rPr>
              <a:t>Signature move:</a:t>
            </a:r>
          </a:p>
        </p:txBody>
      </p:sp>
      <p:sp>
        <p:nvSpPr>
          <p:cNvPr id="119" name="TextBox 118"/>
          <p:cNvSpPr txBox="1"/>
          <p:nvPr/>
        </p:nvSpPr>
        <p:spPr>
          <a:xfrm>
            <a:off x="10029825" y="3863965"/>
            <a:ext cx="1924050" cy="219044"/>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Partnership / acquisition</a:t>
            </a:r>
          </a:p>
        </p:txBody>
      </p:sp>
      <p:sp>
        <p:nvSpPr>
          <p:cNvPr id="120" name="Rounded Rectangle 119"/>
          <p:cNvSpPr/>
          <p:nvPr/>
        </p:nvSpPr>
        <p:spPr>
          <a:xfrm>
            <a:off x="142875" y="4238166"/>
            <a:ext cx="7886700" cy="2391234"/>
          </a:xfrm>
          <a:prstGeom prst="roundRect">
            <a:avLst>
              <a:gd name="adj" fmla="val 1086"/>
            </a:avLst>
          </a:prstGeom>
          <a:solidFill>
            <a:srgbClr val="F7FAFC"/>
          </a:solidFill>
          <a:ln w="12700">
            <a:solidFill>
              <a:srgbClr val="DC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142875" y="4311180"/>
            <a:ext cx="7886700" cy="182537"/>
          </a:xfrm>
          <a:prstGeom prst="rect">
            <a:avLst/>
          </a:prstGeom>
          <a:noFill/>
        </p:spPr>
        <p:txBody>
          <a:bodyPr wrap="square" lIns="28575" rIns="28575" tIns="9525" bIns="9525" anchor="ctr">
            <a:spAutoFit/>
          </a:bodyPr>
          <a:lstStyle/>
          <a:p>
            <a:pPr algn="ctr"/>
            <a:r>
              <a:rPr sz="1100" b="1">
                <a:solidFill>
                  <a:srgbClr val="0B2E4A"/>
                </a:solidFill>
                <a:latin typeface="Calibri"/>
              </a:rPr>
              <a:t>HOW TO DECIDE WHO SHAPED GROWTH</a:t>
            </a:r>
          </a:p>
        </p:txBody>
      </p:sp>
      <p:sp>
        <p:nvSpPr>
          <p:cNvPr id="122" name="Oval 121"/>
          <p:cNvSpPr/>
          <p:nvPr/>
        </p:nvSpPr>
        <p:spPr>
          <a:xfrm>
            <a:off x="815340" y="4539352"/>
            <a:ext cx="400050" cy="383328"/>
          </a:xfrm>
          <a:prstGeom prst="ellipse">
            <a:avLst/>
          </a:prstGeom>
          <a:solidFill>
            <a:srgbClr val="FFFFFF"/>
          </a:solidFill>
          <a:ln w="12700">
            <a:solidFill>
              <a:srgbClr val="0E72A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TextBox 122"/>
          <p:cNvSpPr txBox="1"/>
          <p:nvPr/>
        </p:nvSpPr>
        <p:spPr>
          <a:xfrm>
            <a:off x="815340" y="4630620"/>
            <a:ext cx="400050" cy="200791"/>
          </a:xfrm>
          <a:prstGeom prst="rect">
            <a:avLst/>
          </a:prstGeom>
          <a:noFill/>
        </p:spPr>
        <p:txBody>
          <a:bodyPr wrap="none" lIns="0" rIns="0" tIns="0" bIns="0" anchor="ctr">
            <a:spAutoFit/>
          </a:bodyPr>
          <a:lstStyle/>
          <a:p>
            <a:pPr algn="ctr"/>
            <a:r>
              <a:rPr sz="1500" b="0">
                <a:solidFill>
                  <a:srgbClr val="2E2E2E"/>
                </a:solidFill>
                <a:latin typeface="Calibri"/>
              </a:rPr>
              <a:t>📊</a:t>
            </a:r>
          </a:p>
        </p:txBody>
      </p:sp>
      <p:sp>
        <p:nvSpPr>
          <p:cNvPr id="124" name="TextBox 123"/>
          <p:cNvSpPr txBox="1"/>
          <p:nvPr/>
        </p:nvSpPr>
        <p:spPr>
          <a:xfrm>
            <a:off x="276225" y="4968314"/>
            <a:ext cx="1478280" cy="346820"/>
          </a:xfrm>
          <a:prstGeom prst="rect">
            <a:avLst/>
          </a:prstGeom>
          <a:noFill/>
        </p:spPr>
        <p:txBody>
          <a:bodyPr wrap="square" lIns="28575" rIns="28575" tIns="9525" bIns="9525" anchor="ctr">
            <a:spAutoFit/>
          </a:bodyPr>
          <a:lstStyle/>
          <a:p>
            <a:pPr algn="ctr">
              <a:lnSpc>
                <a:spcPct val="115000"/>
              </a:lnSpc>
            </a:pPr>
            <a:r>
              <a:rPr sz="1100" b="1">
                <a:solidFill>
                  <a:srgbClr val="0E72AE"/>
                </a:solidFill>
                <a:latin typeface="Calibri"/>
              </a:rPr>
              <a:t>1. SHARE GAIN</a:t>
            </a:r>
          </a:p>
        </p:txBody>
      </p:sp>
      <p:sp>
        <p:nvSpPr>
          <p:cNvPr id="125" name="TextBox 124"/>
          <p:cNvSpPr txBox="1"/>
          <p:nvPr/>
        </p:nvSpPr>
        <p:spPr>
          <a:xfrm>
            <a:off x="276225" y="5333387"/>
            <a:ext cx="1478280" cy="602372"/>
          </a:xfrm>
          <a:prstGeom prst="rect">
            <a:avLst/>
          </a:prstGeom>
          <a:noFill/>
        </p:spPr>
        <p:txBody>
          <a:bodyPr wrap="square" lIns="28575" rIns="28575" tIns="9525" bIns="9525" anchor="ctr">
            <a:spAutoFit/>
          </a:bodyPr>
          <a:lstStyle/>
          <a:p>
            <a:pPr algn="ctr">
              <a:lnSpc>
                <a:spcPct val="115000"/>
              </a:lnSpc>
            </a:pPr>
            <a:r>
              <a:rPr sz="1100" b="0">
                <a:solidFill>
                  <a:srgbClr val="6C7A89"/>
                </a:solidFill>
                <a:latin typeface="Calibri"/>
              </a:rPr>
              <a:t>Company gained value or volume share</a:t>
            </a:r>
          </a:p>
        </p:txBody>
      </p:sp>
      <p:sp>
        <p:nvSpPr>
          <p:cNvPr id="126" name="Rounded Rectangle 125"/>
          <p:cNvSpPr/>
          <p:nvPr/>
        </p:nvSpPr>
        <p:spPr>
          <a:xfrm>
            <a:off x="520065" y="6027028"/>
            <a:ext cx="990600" cy="237298"/>
          </a:xfrm>
          <a:prstGeom prst="roundRect">
            <a:avLst>
              <a:gd name="adj" fmla="val 11538"/>
            </a:avLst>
          </a:prstGeom>
          <a:solidFill>
            <a:srgbClr val="FFFFFF"/>
          </a:solidFill>
          <a:ln w="15240">
            <a:solidFill>
              <a:srgbClr val="0E72A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extBox 126"/>
          <p:cNvSpPr txBox="1"/>
          <p:nvPr/>
        </p:nvSpPr>
        <p:spPr>
          <a:xfrm>
            <a:off x="520065" y="6036155"/>
            <a:ext cx="990600" cy="219044"/>
          </a:xfrm>
          <a:prstGeom prst="rect">
            <a:avLst/>
          </a:prstGeom>
          <a:noFill/>
        </p:spPr>
        <p:txBody>
          <a:bodyPr wrap="square" lIns="28575" rIns="28575" tIns="9525" bIns="9525" anchor="ctr">
            <a:spAutoFit/>
          </a:bodyPr>
          <a:lstStyle/>
          <a:p>
            <a:pPr algn="ctr"/>
            <a:r>
              <a:rPr sz="1100" b="1">
                <a:solidFill>
                  <a:srgbClr val="0E72AE"/>
                </a:solidFill>
                <a:latin typeface="Calibri"/>
              </a:rPr>
              <a:t> </a:t>
            </a:r>
          </a:p>
        </p:txBody>
      </p:sp>
      <p:sp>
        <p:nvSpPr>
          <p:cNvPr id="128" name="TextBox 127"/>
          <p:cNvSpPr txBox="1"/>
          <p:nvPr/>
        </p:nvSpPr>
        <p:spPr>
          <a:xfrm>
            <a:off x="1754505" y="4648874"/>
            <a:ext cx="57150" cy="164283"/>
          </a:xfrm>
          <a:prstGeom prst="rect">
            <a:avLst/>
          </a:prstGeom>
          <a:noFill/>
        </p:spPr>
        <p:txBody>
          <a:bodyPr wrap="none" lIns="0" rIns="0" tIns="0" bIns="0" anchor="ctr">
            <a:spAutoFit/>
          </a:bodyPr>
          <a:lstStyle/>
          <a:p>
            <a:pPr algn="ctr"/>
            <a:r>
              <a:rPr sz="1100" b="1">
                <a:solidFill>
                  <a:srgbClr val="6C7A89"/>
                </a:solidFill>
                <a:latin typeface="Calibri"/>
              </a:rPr>
              <a:t>+</a:t>
            </a:r>
          </a:p>
        </p:txBody>
      </p:sp>
      <p:sp>
        <p:nvSpPr>
          <p:cNvPr id="129" name="Oval 128"/>
          <p:cNvSpPr/>
          <p:nvPr/>
        </p:nvSpPr>
        <p:spPr>
          <a:xfrm>
            <a:off x="2350770" y="4539352"/>
            <a:ext cx="400050" cy="383328"/>
          </a:xfrm>
          <a:prstGeom prst="ellipse">
            <a:avLst/>
          </a:prstGeom>
          <a:solidFill>
            <a:srgbClr val="FFFFFF"/>
          </a:solidFill>
          <a:ln w="12700">
            <a:solidFill>
              <a:srgbClr val="A3531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TextBox 129"/>
          <p:cNvSpPr txBox="1"/>
          <p:nvPr/>
        </p:nvSpPr>
        <p:spPr>
          <a:xfrm>
            <a:off x="2350770" y="4630620"/>
            <a:ext cx="400050" cy="200791"/>
          </a:xfrm>
          <a:prstGeom prst="rect">
            <a:avLst/>
          </a:prstGeom>
          <a:noFill/>
        </p:spPr>
        <p:txBody>
          <a:bodyPr wrap="none" lIns="0" rIns="0" tIns="0" bIns="0" anchor="ctr">
            <a:spAutoFit/>
          </a:bodyPr>
          <a:lstStyle/>
          <a:p>
            <a:pPr algn="ctr"/>
            <a:r>
              <a:rPr sz="1500" b="0">
                <a:solidFill>
                  <a:srgbClr val="2E2E2E"/>
                </a:solidFill>
                <a:latin typeface="Calibri"/>
              </a:rPr>
              <a:t>🏪</a:t>
            </a:r>
          </a:p>
        </p:txBody>
      </p:sp>
      <p:sp>
        <p:nvSpPr>
          <p:cNvPr id="131" name="TextBox 130"/>
          <p:cNvSpPr txBox="1"/>
          <p:nvPr/>
        </p:nvSpPr>
        <p:spPr>
          <a:xfrm>
            <a:off x="1811655" y="4968314"/>
            <a:ext cx="1478280" cy="346820"/>
          </a:xfrm>
          <a:prstGeom prst="rect">
            <a:avLst/>
          </a:prstGeom>
          <a:noFill/>
        </p:spPr>
        <p:txBody>
          <a:bodyPr wrap="square" lIns="28575" rIns="28575" tIns="9525" bIns="9525" anchor="ctr">
            <a:spAutoFit/>
          </a:bodyPr>
          <a:lstStyle/>
          <a:p>
            <a:pPr algn="ctr">
              <a:lnSpc>
                <a:spcPct val="115000"/>
              </a:lnSpc>
            </a:pPr>
            <a:r>
              <a:rPr sz="1100" b="1">
                <a:solidFill>
                  <a:srgbClr val="A35313"/>
                </a:solidFill>
                <a:latin typeface="Calibri"/>
              </a:rPr>
              <a:t>2. DISTRIBUTION EXPANSION</a:t>
            </a:r>
          </a:p>
        </p:txBody>
      </p:sp>
      <p:sp>
        <p:nvSpPr>
          <p:cNvPr id="132" name="TextBox 131"/>
          <p:cNvSpPr txBox="1"/>
          <p:nvPr/>
        </p:nvSpPr>
        <p:spPr>
          <a:xfrm>
            <a:off x="1811655" y="5333387"/>
            <a:ext cx="1478280" cy="602372"/>
          </a:xfrm>
          <a:prstGeom prst="rect">
            <a:avLst/>
          </a:prstGeom>
          <a:noFill/>
        </p:spPr>
        <p:txBody>
          <a:bodyPr wrap="square" lIns="28575" rIns="28575" tIns="9525" bIns="9525" anchor="ctr">
            <a:spAutoFit/>
          </a:bodyPr>
          <a:lstStyle/>
          <a:p>
            <a:pPr algn="ctr">
              <a:lnSpc>
                <a:spcPct val="115000"/>
              </a:lnSpc>
            </a:pPr>
            <a:r>
              <a:rPr sz="1100" b="0">
                <a:solidFill>
                  <a:srgbClr val="6C7A89"/>
                </a:solidFill>
                <a:latin typeface="Calibri"/>
              </a:rPr>
              <a:t>Expanded channel, retail or e-commerce reach</a:t>
            </a:r>
          </a:p>
        </p:txBody>
      </p:sp>
      <p:sp>
        <p:nvSpPr>
          <p:cNvPr id="133" name="Rounded Rectangle 132"/>
          <p:cNvSpPr/>
          <p:nvPr/>
        </p:nvSpPr>
        <p:spPr>
          <a:xfrm>
            <a:off x="2055495" y="6027028"/>
            <a:ext cx="990600" cy="237298"/>
          </a:xfrm>
          <a:prstGeom prst="roundRect">
            <a:avLst>
              <a:gd name="adj" fmla="val 11538"/>
            </a:avLst>
          </a:prstGeom>
          <a:solidFill>
            <a:srgbClr val="FFFFFF"/>
          </a:solidFill>
          <a:ln w="15240">
            <a:solidFill>
              <a:srgbClr val="A3531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TextBox 133"/>
          <p:cNvSpPr txBox="1"/>
          <p:nvPr/>
        </p:nvSpPr>
        <p:spPr>
          <a:xfrm>
            <a:off x="2055495" y="6036155"/>
            <a:ext cx="990600" cy="219044"/>
          </a:xfrm>
          <a:prstGeom prst="rect">
            <a:avLst/>
          </a:prstGeom>
          <a:noFill/>
        </p:spPr>
        <p:txBody>
          <a:bodyPr wrap="square" lIns="28575" rIns="28575" tIns="9525" bIns="9525" anchor="ctr">
            <a:spAutoFit/>
          </a:bodyPr>
          <a:lstStyle/>
          <a:p>
            <a:pPr algn="ctr"/>
            <a:r>
              <a:rPr sz="1100" b="1">
                <a:solidFill>
                  <a:srgbClr val="A35313"/>
                </a:solidFill>
                <a:latin typeface="Calibri"/>
              </a:rPr>
              <a:t> </a:t>
            </a:r>
          </a:p>
        </p:txBody>
      </p:sp>
      <p:sp>
        <p:nvSpPr>
          <p:cNvPr id="135" name="TextBox 134"/>
          <p:cNvSpPr txBox="1"/>
          <p:nvPr/>
        </p:nvSpPr>
        <p:spPr>
          <a:xfrm>
            <a:off x="3289935" y="4648874"/>
            <a:ext cx="57150" cy="164283"/>
          </a:xfrm>
          <a:prstGeom prst="rect">
            <a:avLst/>
          </a:prstGeom>
          <a:noFill/>
        </p:spPr>
        <p:txBody>
          <a:bodyPr wrap="none" lIns="0" rIns="0" tIns="0" bIns="0" anchor="ctr">
            <a:spAutoFit/>
          </a:bodyPr>
          <a:lstStyle/>
          <a:p>
            <a:pPr algn="ctr"/>
            <a:r>
              <a:rPr sz="1100" b="1">
                <a:solidFill>
                  <a:srgbClr val="6C7A89"/>
                </a:solidFill>
                <a:latin typeface="Calibri"/>
              </a:rPr>
              <a:t>+</a:t>
            </a:r>
          </a:p>
        </p:txBody>
      </p:sp>
      <p:sp>
        <p:nvSpPr>
          <p:cNvPr id="136" name="Oval 135"/>
          <p:cNvSpPr/>
          <p:nvPr/>
        </p:nvSpPr>
        <p:spPr>
          <a:xfrm>
            <a:off x="3886200" y="4539352"/>
            <a:ext cx="400050" cy="383328"/>
          </a:xfrm>
          <a:prstGeom prst="ellipse">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TextBox 136"/>
          <p:cNvSpPr txBox="1"/>
          <p:nvPr/>
        </p:nvSpPr>
        <p:spPr>
          <a:xfrm>
            <a:off x="3886200" y="4630620"/>
            <a:ext cx="400050" cy="200791"/>
          </a:xfrm>
          <a:prstGeom prst="rect">
            <a:avLst/>
          </a:prstGeom>
          <a:noFill/>
        </p:spPr>
        <p:txBody>
          <a:bodyPr wrap="none" lIns="0" rIns="0" tIns="0" bIns="0" anchor="ctr">
            <a:spAutoFit/>
          </a:bodyPr>
          <a:lstStyle/>
          <a:p>
            <a:pPr algn="ctr"/>
            <a:r>
              <a:rPr sz="1500" b="0">
                <a:solidFill>
                  <a:srgbClr val="2E2E2E"/>
                </a:solidFill>
                <a:latin typeface="Calibri"/>
              </a:rPr>
              <a:t>💡</a:t>
            </a:r>
          </a:p>
        </p:txBody>
      </p:sp>
      <p:sp>
        <p:nvSpPr>
          <p:cNvPr id="138" name="TextBox 137"/>
          <p:cNvSpPr txBox="1"/>
          <p:nvPr/>
        </p:nvSpPr>
        <p:spPr>
          <a:xfrm>
            <a:off x="3347085" y="4968314"/>
            <a:ext cx="1478280" cy="346820"/>
          </a:xfrm>
          <a:prstGeom prst="rect">
            <a:avLst/>
          </a:prstGeom>
          <a:noFill/>
        </p:spPr>
        <p:txBody>
          <a:bodyPr wrap="square" lIns="28575" rIns="28575" tIns="9525" bIns="9525" anchor="ctr">
            <a:spAutoFit/>
          </a:bodyPr>
          <a:lstStyle/>
          <a:p>
            <a:pPr algn="ctr">
              <a:lnSpc>
                <a:spcPct val="115000"/>
              </a:lnSpc>
            </a:pPr>
            <a:r>
              <a:rPr sz="1100" b="1">
                <a:solidFill>
                  <a:srgbClr val="69B1E0"/>
                </a:solidFill>
                <a:latin typeface="Calibri"/>
              </a:rPr>
              <a:t>3. INNOVATION / LAUNCHES</a:t>
            </a:r>
          </a:p>
        </p:txBody>
      </p:sp>
      <p:sp>
        <p:nvSpPr>
          <p:cNvPr id="139" name="TextBox 138"/>
          <p:cNvSpPr txBox="1"/>
          <p:nvPr/>
        </p:nvSpPr>
        <p:spPr>
          <a:xfrm>
            <a:off x="3347085" y="5333387"/>
            <a:ext cx="1478280" cy="602372"/>
          </a:xfrm>
          <a:prstGeom prst="rect">
            <a:avLst/>
          </a:prstGeom>
          <a:noFill/>
        </p:spPr>
        <p:txBody>
          <a:bodyPr wrap="square" lIns="28575" rIns="28575" tIns="9525" bIns="9525" anchor="ctr">
            <a:spAutoFit/>
          </a:bodyPr>
          <a:lstStyle/>
          <a:p>
            <a:pPr algn="ctr">
              <a:lnSpc>
                <a:spcPct val="115000"/>
              </a:lnSpc>
            </a:pPr>
            <a:r>
              <a:rPr sz="1100" b="0">
                <a:solidFill>
                  <a:srgbClr val="6C7A89"/>
                </a:solidFill>
                <a:latin typeface="Calibri"/>
              </a:rPr>
              <a:t>New SKUs, pack sizes or product improvements</a:t>
            </a:r>
          </a:p>
        </p:txBody>
      </p:sp>
      <p:sp>
        <p:nvSpPr>
          <p:cNvPr id="140" name="Rounded Rectangle 139"/>
          <p:cNvSpPr/>
          <p:nvPr/>
        </p:nvSpPr>
        <p:spPr>
          <a:xfrm>
            <a:off x="3590925" y="6027028"/>
            <a:ext cx="990600" cy="237298"/>
          </a:xfrm>
          <a:prstGeom prst="roundRect">
            <a:avLst>
              <a:gd name="adj" fmla="val 11538"/>
            </a:avLst>
          </a:prstGeom>
          <a:solidFill>
            <a:srgbClr val="FFFFFF"/>
          </a:solidFill>
          <a:ln w="1524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TextBox 140"/>
          <p:cNvSpPr txBox="1"/>
          <p:nvPr/>
        </p:nvSpPr>
        <p:spPr>
          <a:xfrm>
            <a:off x="3590925" y="6036155"/>
            <a:ext cx="990600" cy="219044"/>
          </a:xfrm>
          <a:prstGeom prst="rect">
            <a:avLst/>
          </a:prstGeom>
          <a:noFill/>
        </p:spPr>
        <p:txBody>
          <a:bodyPr wrap="square" lIns="28575" rIns="28575" tIns="9525" bIns="9525" anchor="ctr">
            <a:spAutoFit/>
          </a:bodyPr>
          <a:lstStyle/>
          <a:p>
            <a:pPr algn="ctr"/>
            <a:r>
              <a:rPr sz="1100" b="1">
                <a:solidFill>
                  <a:srgbClr val="69B1E0"/>
                </a:solidFill>
                <a:latin typeface="Calibri"/>
              </a:rPr>
              <a:t> </a:t>
            </a:r>
          </a:p>
        </p:txBody>
      </p:sp>
      <p:sp>
        <p:nvSpPr>
          <p:cNvPr id="142" name="TextBox 141"/>
          <p:cNvSpPr txBox="1"/>
          <p:nvPr/>
        </p:nvSpPr>
        <p:spPr>
          <a:xfrm>
            <a:off x="4825365" y="4648874"/>
            <a:ext cx="57150" cy="164283"/>
          </a:xfrm>
          <a:prstGeom prst="rect">
            <a:avLst/>
          </a:prstGeom>
          <a:noFill/>
        </p:spPr>
        <p:txBody>
          <a:bodyPr wrap="none" lIns="0" rIns="0" tIns="0" bIns="0" anchor="ctr">
            <a:spAutoFit/>
          </a:bodyPr>
          <a:lstStyle/>
          <a:p>
            <a:pPr algn="ctr"/>
            <a:r>
              <a:rPr sz="1100" b="1">
                <a:solidFill>
                  <a:srgbClr val="6C7A89"/>
                </a:solidFill>
                <a:latin typeface="Calibri"/>
              </a:rPr>
              <a:t>+</a:t>
            </a:r>
          </a:p>
        </p:txBody>
      </p:sp>
      <p:sp>
        <p:nvSpPr>
          <p:cNvPr id="143" name="Oval 142"/>
          <p:cNvSpPr/>
          <p:nvPr/>
        </p:nvSpPr>
        <p:spPr>
          <a:xfrm>
            <a:off x="5421630" y="4539352"/>
            <a:ext cx="400050" cy="383328"/>
          </a:xfrm>
          <a:prstGeom prst="ellipse">
            <a:avLst/>
          </a:prstGeom>
          <a:solidFill>
            <a:srgbClr val="FFFFFF"/>
          </a:solidFill>
          <a:ln w="12700">
            <a:solidFill>
              <a:srgbClr val="6F3C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TextBox 143"/>
          <p:cNvSpPr txBox="1"/>
          <p:nvPr/>
        </p:nvSpPr>
        <p:spPr>
          <a:xfrm>
            <a:off x="5421630" y="4630620"/>
            <a:ext cx="400050" cy="200791"/>
          </a:xfrm>
          <a:prstGeom prst="rect">
            <a:avLst/>
          </a:prstGeom>
          <a:noFill/>
        </p:spPr>
        <p:txBody>
          <a:bodyPr wrap="none" lIns="0" rIns="0" tIns="0" bIns="0" anchor="ctr">
            <a:spAutoFit/>
          </a:bodyPr>
          <a:lstStyle/>
          <a:p>
            <a:pPr algn="ctr"/>
            <a:r>
              <a:rPr sz="1500" b="0">
                <a:solidFill>
                  <a:srgbClr val="2E2E2E"/>
                </a:solidFill>
                <a:latin typeface="Calibri"/>
              </a:rPr>
              <a:t>🤝</a:t>
            </a:r>
          </a:p>
        </p:txBody>
      </p:sp>
      <p:sp>
        <p:nvSpPr>
          <p:cNvPr id="145" name="TextBox 144"/>
          <p:cNvSpPr txBox="1"/>
          <p:nvPr/>
        </p:nvSpPr>
        <p:spPr>
          <a:xfrm>
            <a:off x="4882515" y="4968314"/>
            <a:ext cx="1478280" cy="346820"/>
          </a:xfrm>
          <a:prstGeom prst="rect">
            <a:avLst/>
          </a:prstGeom>
          <a:noFill/>
        </p:spPr>
        <p:txBody>
          <a:bodyPr wrap="square" lIns="28575" rIns="28575" tIns="9525" bIns="9525" anchor="ctr">
            <a:spAutoFit/>
          </a:bodyPr>
          <a:lstStyle/>
          <a:p>
            <a:pPr algn="ctr">
              <a:lnSpc>
                <a:spcPct val="115000"/>
              </a:lnSpc>
            </a:pPr>
            <a:r>
              <a:rPr sz="1100" b="1">
                <a:solidFill>
                  <a:srgbClr val="6F3CC2"/>
                </a:solidFill>
                <a:latin typeface="Calibri"/>
              </a:rPr>
              <a:t>4. BUYER INFLUENCE</a:t>
            </a:r>
          </a:p>
        </p:txBody>
      </p:sp>
      <p:sp>
        <p:nvSpPr>
          <p:cNvPr id="146" name="TextBox 145"/>
          <p:cNvSpPr txBox="1"/>
          <p:nvPr/>
        </p:nvSpPr>
        <p:spPr>
          <a:xfrm>
            <a:off x="4882515" y="5333387"/>
            <a:ext cx="1478280" cy="602372"/>
          </a:xfrm>
          <a:prstGeom prst="rect">
            <a:avLst/>
          </a:prstGeom>
          <a:noFill/>
        </p:spPr>
        <p:txBody>
          <a:bodyPr wrap="square" lIns="28575" rIns="28575" tIns="9525" bIns="9525" anchor="ctr">
            <a:spAutoFit/>
          </a:bodyPr>
          <a:lstStyle/>
          <a:p>
            <a:pPr algn="ctr">
              <a:lnSpc>
                <a:spcPct val="115000"/>
              </a:lnSpc>
            </a:pPr>
            <a:r>
              <a:rPr sz="1100" b="0">
                <a:solidFill>
                  <a:srgbClr val="6C7A89"/>
                </a:solidFill>
                <a:latin typeface="Calibri"/>
              </a:rPr>
              <a:t>Stronger specifier, channel or end-user pull</a:t>
            </a:r>
          </a:p>
        </p:txBody>
      </p:sp>
      <p:sp>
        <p:nvSpPr>
          <p:cNvPr id="147" name="Rounded Rectangle 146"/>
          <p:cNvSpPr/>
          <p:nvPr/>
        </p:nvSpPr>
        <p:spPr>
          <a:xfrm>
            <a:off x="5126355" y="6027028"/>
            <a:ext cx="990600" cy="237298"/>
          </a:xfrm>
          <a:prstGeom prst="roundRect">
            <a:avLst>
              <a:gd name="adj" fmla="val 11538"/>
            </a:avLst>
          </a:prstGeom>
          <a:solidFill>
            <a:srgbClr val="FFFFFF"/>
          </a:solidFill>
          <a:ln w="15240">
            <a:solidFill>
              <a:srgbClr val="6F3C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TextBox 147"/>
          <p:cNvSpPr txBox="1"/>
          <p:nvPr/>
        </p:nvSpPr>
        <p:spPr>
          <a:xfrm>
            <a:off x="5126355" y="6036155"/>
            <a:ext cx="990600" cy="219044"/>
          </a:xfrm>
          <a:prstGeom prst="rect">
            <a:avLst/>
          </a:prstGeom>
          <a:noFill/>
        </p:spPr>
        <p:txBody>
          <a:bodyPr wrap="square" lIns="28575" rIns="28575" tIns="9525" bIns="9525" anchor="ctr">
            <a:spAutoFit/>
          </a:bodyPr>
          <a:lstStyle/>
          <a:p>
            <a:pPr algn="ctr"/>
            <a:r>
              <a:rPr sz="1100" b="1">
                <a:solidFill>
                  <a:srgbClr val="6F3CC2"/>
                </a:solidFill>
                <a:latin typeface="Calibri"/>
              </a:rPr>
              <a:t> </a:t>
            </a:r>
          </a:p>
        </p:txBody>
      </p:sp>
      <p:sp>
        <p:nvSpPr>
          <p:cNvPr id="149" name="TextBox 148"/>
          <p:cNvSpPr txBox="1"/>
          <p:nvPr/>
        </p:nvSpPr>
        <p:spPr>
          <a:xfrm>
            <a:off x="6360795" y="4648874"/>
            <a:ext cx="57150" cy="164283"/>
          </a:xfrm>
          <a:prstGeom prst="rect">
            <a:avLst/>
          </a:prstGeom>
          <a:noFill/>
        </p:spPr>
        <p:txBody>
          <a:bodyPr wrap="none" lIns="0" rIns="0" tIns="0" bIns="0" anchor="ctr">
            <a:spAutoFit/>
          </a:bodyPr>
          <a:lstStyle/>
          <a:p>
            <a:pPr algn="ctr"/>
            <a:r>
              <a:rPr sz="1100" b="1">
                <a:solidFill>
                  <a:srgbClr val="6C7A89"/>
                </a:solidFill>
                <a:latin typeface="Calibri"/>
              </a:rPr>
              <a:t>+</a:t>
            </a:r>
          </a:p>
        </p:txBody>
      </p:sp>
      <p:sp>
        <p:nvSpPr>
          <p:cNvPr id="150" name="Oval 149"/>
          <p:cNvSpPr/>
          <p:nvPr/>
        </p:nvSpPr>
        <p:spPr>
          <a:xfrm>
            <a:off x="6957060" y="4539352"/>
            <a:ext cx="400050" cy="383328"/>
          </a:xfrm>
          <a:prstGeom prst="ellipse">
            <a:avLst/>
          </a:prstGeom>
          <a:solidFill>
            <a:srgbClr val="FFFFFF"/>
          </a:solidFill>
          <a:ln w="12700">
            <a:solidFill>
              <a:srgbClr val="A86F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TextBox 150"/>
          <p:cNvSpPr txBox="1"/>
          <p:nvPr/>
        </p:nvSpPr>
        <p:spPr>
          <a:xfrm>
            <a:off x="6957060" y="4630620"/>
            <a:ext cx="400050" cy="200791"/>
          </a:xfrm>
          <a:prstGeom prst="rect">
            <a:avLst/>
          </a:prstGeom>
          <a:noFill/>
        </p:spPr>
        <p:txBody>
          <a:bodyPr wrap="none" lIns="0" rIns="0" tIns="0" bIns="0" anchor="ctr">
            <a:spAutoFit/>
          </a:bodyPr>
          <a:lstStyle/>
          <a:p>
            <a:pPr algn="ctr"/>
            <a:r>
              <a:rPr sz="1500" b="0">
                <a:solidFill>
                  <a:srgbClr val="2E2E2E"/>
                </a:solidFill>
                <a:latin typeface="Calibri"/>
              </a:rPr>
              <a:t>💲</a:t>
            </a:r>
          </a:p>
        </p:txBody>
      </p:sp>
      <p:sp>
        <p:nvSpPr>
          <p:cNvPr id="152" name="TextBox 151"/>
          <p:cNvSpPr txBox="1"/>
          <p:nvPr/>
        </p:nvSpPr>
        <p:spPr>
          <a:xfrm>
            <a:off x="6417945" y="4968314"/>
            <a:ext cx="1478280" cy="346820"/>
          </a:xfrm>
          <a:prstGeom prst="rect">
            <a:avLst/>
          </a:prstGeom>
          <a:noFill/>
        </p:spPr>
        <p:txBody>
          <a:bodyPr wrap="square" lIns="28575" rIns="28575" tIns="9525" bIns="9525" anchor="ctr">
            <a:spAutoFit/>
          </a:bodyPr>
          <a:lstStyle/>
          <a:p>
            <a:pPr algn="ctr">
              <a:lnSpc>
                <a:spcPct val="115000"/>
              </a:lnSpc>
            </a:pPr>
            <a:r>
              <a:rPr sz="1100" b="1">
                <a:solidFill>
                  <a:srgbClr val="A86F00"/>
                </a:solidFill>
                <a:latin typeface="Calibri"/>
              </a:rPr>
              <a:t>5. BRAND / PRICING POWER</a:t>
            </a:r>
          </a:p>
        </p:txBody>
      </p:sp>
      <p:sp>
        <p:nvSpPr>
          <p:cNvPr id="153" name="TextBox 152"/>
          <p:cNvSpPr txBox="1"/>
          <p:nvPr/>
        </p:nvSpPr>
        <p:spPr>
          <a:xfrm>
            <a:off x="6417945" y="5333387"/>
            <a:ext cx="1478280" cy="602372"/>
          </a:xfrm>
          <a:prstGeom prst="rect">
            <a:avLst/>
          </a:prstGeom>
          <a:noFill/>
        </p:spPr>
        <p:txBody>
          <a:bodyPr wrap="square" lIns="28575" rIns="28575" tIns="9525" bIns="9525" anchor="ctr">
            <a:spAutoFit/>
          </a:bodyPr>
          <a:lstStyle/>
          <a:p>
            <a:pPr algn="ctr">
              <a:lnSpc>
                <a:spcPct val="115000"/>
              </a:lnSpc>
            </a:pPr>
            <a:r>
              <a:rPr sz="1100" b="0">
                <a:solidFill>
                  <a:srgbClr val="6C7A89"/>
                </a:solidFill>
                <a:latin typeface="Calibri"/>
              </a:rPr>
              <a:t>Premiumisation, positioning or pricing execution</a:t>
            </a:r>
          </a:p>
        </p:txBody>
      </p:sp>
      <p:sp>
        <p:nvSpPr>
          <p:cNvPr id="154" name="Rounded Rectangle 153"/>
          <p:cNvSpPr/>
          <p:nvPr/>
        </p:nvSpPr>
        <p:spPr>
          <a:xfrm>
            <a:off x="6661785" y="6027028"/>
            <a:ext cx="990600" cy="237298"/>
          </a:xfrm>
          <a:prstGeom prst="roundRect">
            <a:avLst>
              <a:gd name="adj" fmla="val 11538"/>
            </a:avLst>
          </a:prstGeom>
          <a:solidFill>
            <a:srgbClr val="FFFFFF"/>
          </a:solidFill>
          <a:ln w="15240">
            <a:solidFill>
              <a:srgbClr val="A86F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TextBox 154"/>
          <p:cNvSpPr txBox="1"/>
          <p:nvPr/>
        </p:nvSpPr>
        <p:spPr>
          <a:xfrm>
            <a:off x="6661785" y="6036155"/>
            <a:ext cx="990600" cy="219044"/>
          </a:xfrm>
          <a:prstGeom prst="rect">
            <a:avLst/>
          </a:prstGeom>
          <a:noFill/>
        </p:spPr>
        <p:txBody>
          <a:bodyPr wrap="square" lIns="28575" rIns="28575" tIns="9525" bIns="9525" anchor="ctr">
            <a:spAutoFit/>
          </a:bodyPr>
          <a:lstStyle/>
          <a:p>
            <a:pPr algn="ctr"/>
            <a:r>
              <a:rPr sz="1100" b="1">
                <a:solidFill>
                  <a:srgbClr val="A86F00"/>
                </a:solidFill>
                <a:latin typeface="Calibri"/>
              </a:rPr>
              <a:t> </a:t>
            </a:r>
          </a:p>
        </p:txBody>
      </p:sp>
      <p:sp>
        <p:nvSpPr>
          <p:cNvPr id="156" name="Rounded Rectangle 155"/>
          <p:cNvSpPr/>
          <p:nvPr/>
        </p:nvSpPr>
        <p:spPr>
          <a:xfrm>
            <a:off x="8191500" y="4238166"/>
            <a:ext cx="3857625" cy="2391234"/>
          </a:xfrm>
          <a:prstGeom prst="roundRect">
            <a:avLst>
              <a:gd name="adj" fmla="val 2222"/>
            </a:avLst>
          </a:prstGeom>
          <a:solidFill>
            <a:srgbClr val="F4FAF9"/>
          </a:solidFill>
          <a:ln w="12700">
            <a:solidFill>
              <a:srgbClr val="CFE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TextBox 156"/>
          <p:cNvSpPr txBox="1"/>
          <p:nvPr/>
        </p:nvSpPr>
        <p:spPr>
          <a:xfrm>
            <a:off x="8191500" y="4311180"/>
            <a:ext cx="3857625" cy="182537"/>
          </a:xfrm>
          <a:prstGeom prst="rect">
            <a:avLst/>
          </a:prstGeom>
          <a:noFill/>
        </p:spPr>
        <p:txBody>
          <a:bodyPr wrap="square" lIns="28575" rIns="28575" tIns="9525" bIns="9525" anchor="ctr">
            <a:spAutoFit/>
          </a:bodyPr>
          <a:lstStyle/>
          <a:p>
            <a:pPr algn="ctr"/>
            <a:r>
              <a:rPr sz="1100" b="1">
                <a:solidFill>
                  <a:srgbClr val="1F6F63"/>
                </a:solidFill>
                <a:latin typeface="Calibri"/>
              </a:rPr>
              <a:t>BEST WAY TO USE THIS SLIDE</a:t>
            </a:r>
          </a:p>
        </p:txBody>
      </p:sp>
      <p:cxnSp>
        <p:nvCxnSpPr>
          <p:cNvPr id="158" name="Connector 157"/>
          <p:cNvCxnSpPr/>
          <p:nvPr/>
        </p:nvCxnSpPr>
        <p:spPr>
          <a:xfrm>
            <a:off x="8343900" y="4548478"/>
            <a:ext cx="3552825" cy="0"/>
          </a:xfrm>
          <a:prstGeom prst="line">
            <a:avLst/>
          </a:prstGeom>
          <a:ln w="12700">
            <a:solidFill>
              <a:srgbClr val="CFE3E0"/>
            </a:solidFill>
          </a:ln>
          <a:effectLst/>
        </p:spPr>
        <p:style>
          <a:lnRef idx="2">
            <a:schemeClr val="accent1"/>
          </a:lnRef>
          <a:fillRef idx="0">
            <a:schemeClr val="accent1"/>
          </a:fillRef>
          <a:effectRef idx="1">
            <a:schemeClr val="accent1"/>
          </a:effectRef>
          <a:fontRef idx="minor">
            <a:schemeClr val="tx1"/>
          </a:fontRef>
        </p:style>
      </p:cxnSp>
      <p:sp>
        <p:nvSpPr>
          <p:cNvPr id="159" name="Oval 158"/>
          <p:cNvSpPr/>
          <p:nvPr/>
        </p:nvSpPr>
        <p:spPr>
          <a:xfrm>
            <a:off x="8372475" y="4721889"/>
            <a:ext cx="285750" cy="273805"/>
          </a:xfrm>
          <a:prstGeom prst="ellipse">
            <a:avLst/>
          </a:prstGeom>
          <a:solidFill>
            <a:srgbClr val="FFFFFF"/>
          </a:solidFill>
          <a:ln w="12700">
            <a:solidFill>
              <a:srgbClr val="1F6F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TextBox 159"/>
          <p:cNvSpPr txBox="1"/>
          <p:nvPr/>
        </p:nvSpPr>
        <p:spPr>
          <a:xfrm>
            <a:off x="8372475" y="4767523"/>
            <a:ext cx="285750" cy="182537"/>
          </a:xfrm>
          <a:prstGeom prst="rect">
            <a:avLst/>
          </a:prstGeom>
          <a:noFill/>
        </p:spPr>
        <p:txBody>
          <a:bodyPr wrap="none" lIns="0" rIns="0" tIns="0" bIns="0" anchor="ctr">
            <a:spAutoFit/>
          </a:bodyPr>
          <a:lstStyle/>
          <a:p>
            <a:pPr algn="ctr"/>
            <a:r>
              <a:rPr sz="1200" b="0">
                <a:solidFill>
                  <a:srgbClr val="2E2E2E"/>
                </a:solidFill>
                <a:latin typeface="Calibri"/>
              </a:rPr>
              <a:t>📈</a:t>
            </a:r>
          </a:p>
        </p:txBody>
      </p:sp>
      <p:sp>
        <p:nvSpPr>
          <p:cNvPr id="161" name="TextBox 160"/>
          <p:cNvSpPr txBox="1"/>
          <p:nvPr/>
        </p:nvSpPr>
        <p:spPr>
          <a:xfrm>
            <a:off x="8743950" y="4694508"/>
            <a:ext cx="3152775" cy="401581"/>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Rank companies by impact on category growth</a:t>
            </a:r>
          </a:p>
        </p:txBody>
      </p:sp>
      <p:sp>
        <p:nvSpPr>
          <p:cNvPr id="162" name="Oval 161"/>
          <p:cNvSpPr/>
          <p:nvPr/>
        </p:nvSpPr>
        <p:spPr>
          <a:xfrm>
            <a:off x="8372475" y="5360768"/>
            <a:ext cx="285750" cy="273805"/>
          </a:xfrm>
          <a:prstGeom prst="ellipse">
            <a:avLst/>
          </a:prstGeom>
          <a:solidFill>
            <a:srgbClr val="FFFFFF"/>
          </a:solidFill>
          <a:ln w="12700">
            <a:solidFill>
              <a:srgbClr val="1F6F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TextBox 162"/>
          <p:cNvSpPr txBox="1"/>
          <p:nvPr/>
        </p:nvSpPr>
        <p:spPr>
          <a:xfrm>
            <a:off x="8372475" y="5406402"/>
            <a:ext cx="285750" cy="182537"/>
          </a:xfrm>
          <a:prstGeom prst="rect">
            <a:avLst/>
          </a:prstGeom>
          <a:noFill/>
        </p:spPr>
        <p:txBody>
          <a:bodyPr wrap="none" lIns="0" rIns="0" tIns="0" bIns="0" anchor="ctr">
            <a:spAutoFit/>
          </a:bodyPr>
          <a:lstStyle/>
          <a:p>
            <a:pPr algn="ctr"/>
            <a:r>
              <a:rPr sz="1200" b="0">
                <a:solidFill>
                  <a:srgbClr val="2E2E2E"/>
                </a:solidFill>
                <a:latin typeface="Calibri"/>
              </a:rPr>
              <a:t>📄</a:t>
            </a:r>
          </a:p>
        </p:txBody>
      </p:sp>
      <p:sp>
        <p:nvSpPr>
          <p:cNvPr id="164" name="TextBox 163"/>
          <p:cNvSpPr txBox="1"/>
          <p:nvPr/>
        </p:nvSpPr>
        <p:spPr>
          <a:xfrm>
            <a:off x="8743950" y="5333387"/>
            <a:ext cx="3152775" cy="401581"/>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Mention the one move that explains their impact</a:t>
            </a:r>
          </a:p>
        </p:txBody>
      </p:sp>
      <p:sp>
        <p:nvSpPr>
          <p:cNvPr id="165" name="Oval 164"/>
          <p:cNvSpPr/>
          <p:nvPr/>
        </p:nvSpPr>
        <p:spPr>
          <a:xfrm>
            <a:off x="8372475" y="5999647"/>
            <a:ext cx="285750" cy="273805"/>
          </a:xfrm>
          <a:prstGeom prst="ellipse">
            <a:avLst/>
          </a:prstGeom>
          <a:solidFill>
            <a:srgbClr val="FFFFFF"/>
          </a:solidFill>
          <a:ln w="12700">
            <a:solidFill>
              <a:srgbClr val="1F6F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TextBox 165"/>
          <p:cNvSpPr txBox="1"/>
          <p:nvPr/>
        </p:nvSpPr>
        <p:spPr>
          <a:xfrm>
            <a:off x="8372475" y="6045282"/>
            <a:ext cx="285750" cy="182537"/>
          </a:xfrm>
          <a:prstGeom prst="rect">
            <a:avLst/>
          </a:prstGeom>
          <a:noFill/>
        </p:spPr>
        <p:txBody>
          <a:bodyPr wrap="none" lIns="0" rIns="0" tIns="0" bIns="0" anchor="ctr">
            <a:spAutoFit/>
          </a:bodyPr>
          <a:lstStyle/>
          <a:p>
            <a:pPr algn="ctr"/>
            <a:r>
              <a:rPr sz="1200" b="0">
                <a:solidFill>
                  <a:srgbClr val="2E2E2E"/>
                </a:solidFill>
                <a:latin typeface="Calibri"/>
              </a:rPr>
              <a:t>🚫</a:t>
            </a:r>
          </a:p>
        </p:txBody>
      </p:sp>
      <p:sp>
        <p:nvSpPr>
          <p:cNvPr id="167" name="TextBox 166"/>
          <p:cNvSpPr txBox="1"/>
          <p:nvPr/>
        </p:nvSpPr>
        <p:spPr>
          <a:xfrm>
            <a:off x="8743950" y="5972267"/>
            <a:ext cx="3152775" cy="401581"/>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Do not rely on market share alone</a:t>
            </a:r>
          </a:p>
        </p:txBody>
      </p:sp>
      <p:sp>
        <p:nvSpPr>
          <p:cNvPr id="168" name="Rectangle 167"/>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TextBox 16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70" name="Picture 169" descr="lock.png"/>
          <p:cNvPicPr>
            <a:picLocks noChangeAspect="1"/>
          </p:cNvPicPr>
          <p:nvPr/>
        </p:nvPicPr>
        <p:blipFill>
          <a:blip r:embed="rId4"/>
          <a:stretch>
            <a:fillRect/>
          </a:stretch>
        </p:blipFill>
        <p:spPr>
          <a:xfrm>
            <a:off x="951015" y="6052078"/>
            <a:ext cx="128699" cy="187198"/>
          </a:xfrm>
          <a:prstGeom prst="rect">
            <a:avLst/>
          </a:prstGeom>
        </p:spPr>
      </p:pic>
      <p:pic>
        <p:nvPicPr>
          <p:cNvPr id="171" name="Picture 170" descr="lock.png"/>
          <p:cNvPicPr>
            <a:picLocks noChangeAspect="1"/>
          </p:cNvPicPr>
          <p:nvPr/>
        </p:nvPicPr>
        <p:blipFill>
          <a:blip r:embed="rId4"/>
          <a:stretch>
            <a:fillRect/>
          </a:stretch>
        </p:blipFill>
        <p:spPr>
          <a:xfrm>
            <a:off x="2486445" y="6052078"/>
            <a:ext cx="128699" cy="187198"/>
          </a:xfrm>
          <a:prstGeom prst="rect">
            <a:avLst/>
          </a:prstGeom>
        </p:spPr>
      </p:pic>
      <p:pic>
        <p:nvPicPr>
          <p:cNvPr id="172" name="Picture 171" descr="lock.png"/>
          <p:cNvPicPr>
            <a:picLocks noChangeAspect="1"/>
          </p:cNvPicPr>
          <p:nvPr/>
        </p:nvPicPr>
        <p:blipFill>
          <a:blip r:embed="rId4"/>
          <a:stretch>
            <a:fillRect/>
          </a:stretch>
        </p:blipFill>
        <p:spPr>
          <a:xfrm>
            <a:off x="4021875" y="6052078"/>
            <a:ext cx="128699" cy="187198"/>
          </a:xfrm>
          <a:prstGeom prst="rect">
            <a:avLst/>
          </a:prstGeom>
        </p:spPr>
      </p:pic>
      <p:pic>
        <p:nvPicPr>
          <p:cNvPr id="173" name="Picture 172" descr="lock.png"/>
          <p:cNvPicPr>
            <a:picLocks noChangeAspect="1"/>
          </p:cNvPicPr>
          <p:nvPr/>
        </p:nvPicPr>
        <p:blipFill>
          <a:blip r:embed="rId4"/>
          <a:stretch>
            <a:fillRect/>
          </a:stretch>
        </p:blipFill>
        <p:spPr>
          <a:xfrm>
            <a:off x="5557305" y="6052078"/>
            <a:ext cx="128699" cy="187198"/>
          </a:xfrm>
          <a:prstGeom prst="rect">
            <a:avLst/>
          </a:prstGeom>
        </p:spPr>
      </p:pic>
      <p:pic>
        <p:nvPicPr>
          <p:cNvPr id="174" name="Picture 173" descr="lock.png"/>
          <p:cNvPicPr>
            <a:picLocks noChangeAspect="1"/>
          </p:cNvPicPr>
          <p:nvPr/>
        </p:nvPicPr>
        <p:blipFill>
          <a:blip r:embed="rId4"/>
          <a:stretch>
            <a:fillRect/>
          </a:stretch>
        </p:blipFill>
        <p:spPr>
          <a:xfrm>
            <a:off x="7092735" y="6052078"/>
            <a:ext cx="128699" cy="187198"/>
          </a:xfrm>
          <a:prstGeom prst="rect">
            <a:avLst/>
          </a:prstGeom>
        </p:spPr>
      </p:pic>
      <p:sp>
        <p:nvSpPr>
          <p:cNvPr id="175" name="TextBox 174"/>
          <p:cNvSpPr txBox="1"/>
          <p:nvPr/>
        </p:nvSpPr>
        <p:spPr>
          <a:xfrm>
            <a:off x="457200" y="2398079"/>
            <a:ext cx="595622" cy="139750"/>
          </a:xfrm>
          <a:prstGeom prst="rect">
            <a:avLst/>
          </a:prstGeom>
          <a:noFill/>
        </p:spPr>
        <p:txBody>
          <a:bodyPr wrap="none" lIns="0" rIns="0" tIns="0" bIns="0">
            <a:spAutoFit/>
          </a:bodyPr>
          <a:lstStyle/>
          <a:p>
            <a:r>
              <a:rPr sz="791" b="1">
                <a:solidFill>
                  <a:srgbClr val="2E2E2E"/>
                </a:solidFill>
                <a:latin typeface="Calibri"/>
              </a:rPr>
              <a:t>Value share:</a:t>
            </a:r>
          </a:p>
        </p:txBody>
      </p:sp>
      <p:pic>
        <p:nvPicPr>
          <p:cNvPr id="176" name="Picture 175" descr="lock.png"/>
          <p:cNvPicPr>
            <a:picLocks noChangeAspect="1"/>
          </p:cNvPicPr>
          <p:nvPr/>
        </p:nvPicPr>
        <p:blipFill>
          <a:blip r:embed="rId4"/>
          <a:stretch>
            <a:fillRect/>
          </a:stretch>
        </p:blipFill>
        <p:spPr>
          <a:xfrm>
            <a:off x="994083" y="2391038"/>
            <a:ext cx="92663" cy="134782"/>
          </a:xfrm>
          <a:prstGeom prst="rect">
            <a:avLst/>
          </a:prstGeom>
        </p:spPr>
      </p:pic>
      <p:sp>
        <p:nvSpPr>
          <p:cNvPr id="177" name="TextBox 176"/>
          <p:cNvSpPr txBox="1"/>
          <p:nvPr/>
        </p:nvSpPr>
        <p:spPr>
          <a:xfrm>
            <a:off x="2857500" y="2398079"/>
            <a:ext cx="595622" cy="139750"/>
          </a:xfrm>
          <a:prstGeom prst="rect">
            <a:avLst/>
          </a:prstGeom>
          <a:noFill/>
        </p:spPr>
        <p:txBody>
          <a:bodyPr wrap="none" lIns="0" rIns="0" tIns="0" bIns="0">
            <a:spAutoFit/>
          </a:bodyPr>
          <a:lstStyle/>
          <a:p>
            <a:r>
              <a:rPr sz="791" b="1">
                <a:solidFill>
                  <a:srgbClr val="2E2E2E"/>
                </a:solidFill>
                <a:latin typeface="Calibri"/>
              </a:rPr>
              <a:t>Value share:</a:t>
            </a:r>
          </a:p>
        </p:txBody>
      </p:sp>
      <p:pic>
        <p:nvPicPr>
          <p:cNvPr id="178" name="Picture 177" descr="lock.png"/>
          <p:cNvPicPr>
            <a:picLocks noChangeAspect="1"/>
          </p:cNvPicPr>
          <p:nvPr/>
        </p:nvPicPr>
        <p:blipFill>
          <a:blip r:embed="rId4"/>
          <a:stretch>
            <a:fillRect/>
          </a:stretch>
        </p:blipFill>
        <p:spPr>
          <a:xfrm>
            <a:off x="3394383" y="2391038"/>
            <a:ext cx="92663" cy="134782"/>
          </a:xfrm>
          <a:prstGeom prst="rect">
            <a:avLst/>
          </a:prstGeom>
        </p:spPr>
      </p:pic>
      <p:sp>
        <p:nvSpPr>
          <p:cNvPr id="179" name="TextBox 178"/>
          <p:cNvSpPr txBox="1"/>
          <p:nvPr/>
        </p:nvSpPr>
        <p:spPr>
          <a:xfrm>
            <a:off x="5257800" y="2398079"/>
            <a:ext cx="595622" cy="139750"/>
          </a:xfrm>
          <a:prstGeom prst="rect">
            <a:avLst/>
          </a:prstGeom>
          <a:noFill/>
        </p:spPr>
        <p:txBody>
          <a:bodyPr wrap="none" lIns="0" rIns="0" tIns="0" bIns="0">
            <a:spAutoFit/>
          </a:bodyPr>
          <a:lstStyle/>
          <a:p>
            <a:r>
              <a:rPr sz="791" b="1">
                <a:solidFill>
                  <a:srgbClr val="2E2E2E"/>
                </a:solidFill>
                <a:latin typeface="Calibri"/>
              </a:rPr>
              <a:t>Value share:</a:t>
            </a:r>
          </a:p>
        </p:txBody>
      </p:sp>
      <p:pic>
        <p:nvPicPr>
          <p:cNvPr id="180" name="Picture 179" descr="lock.png"/>
          <p:cNvPicPr>
            <a:picLocks noChangeAspect="1"/>
          </p:cNvPicPr>
          <p:nvPr/>
        </p:nvPicPr>
        <p:blipFill>
          <a:blip r:embed="rId4"/>
          <a:stretch>
            <a:fillRect/>
          </a:stretch>
        </p:blipFill>
        <p:spPr>
          <a:xfrm>
            <a:off x="5794683" y="2391038"/>
            <a:ext cx="92663" cy="134782"/>
          </a:xfrm>
          <a:prstGeom prst="rect">
            <a:avLst/>
          </a:prstGeom>
        </p:spPr>
      </p:pic>
      <p:sp>
        <p:nvSpPr>
          <p:cNvPr id="181" name="TextBox 180"/>
          <p:cNvSpPr txBox="1"/>
          <p:nvPr/>
        </p:nvSpPr>
        <p:spPr>
          <a:xfrm>
            <a:off x="7658100" y="2398079"/>
            <a:ext cx="595622" cy="139750"/>
          </a:xfrm>
          <a:prstGeom prst="rect">
            <a:avLst/>
          </a:prstGeom>
          <a:noFill/>
        </p:spPr>
        <p:txBody>
          <a:bodyPr wrap="none" lIns="0" rIns="0" tIns="0" bIns="0">
            <a:spAutoFit/>
          </a:bodyPr>
          <a:lstStyle/>
          <a:p>
            <a:r>
              <a:rPr sz="791" b="1">
                <a:solidFill>
                  <a:srgbClr val="2E2E2E"/>
                </a:solidFill>
                <a:latin typeface="Calibri"/>
              </a:rPr>
              <a:t>Value share:</a:t>
            </a:r>
          </a:p>
        </p:txBody>
      </p:sp>
      <p:pic>
        <p:nvPicPr>
          <p:cNvPr id="182" name="Picture 181" descr="lock.png"/>
          <p:cNvPicPr>
            <a:picLocks noChangeAspect="1"/>
          </p:cNvPicPr>
          <p:nvPr/>
        </p:nvPicPr>
        <p:blipFill>
          <a:blip r:embed="rId4"/>
          <a:stretch>
            <a:fillRect/>
          </a:stretch>
        </p:blipFill>
        <p:spPr>
          <a:xfrm>
            <a:off x="8194983" y="2391038"/>
            <a:ext cx="92663" cy="134782"/>
          </a:xfrm>
          <a:prstGeom prst="rect">
            <a:avLst/>
          </a:prstGeom>
        </p:spPr>
      </p:pic>
      <p:sp>
        <p:nvSpPr>
          <p:cNvPr id="183" name="TextBox 182"/>
          <p:cNvSpPr txBox="1"/>
          <p:nvPr/>
        </p:nvSpPr>
        <p:spPr>
          <a:xfrm>
            <a:off x="10058400" y="2398079"/>
            <a:ext cx="595622" cy="139750"/>
          </a:xfrm>
          <a:prstGeom prst="rect">
            <a:avLst/>
          </a:prstGeom>
          <a:noFill/>
        </p:spPr>
        <p:txBody>
          <a:bodyPr wrap="none" lIns="0" rIns="0" tIns="0" bIns="0">
            <a:spAutoFit/>
          </a:bodyPr>
          <a:lstStyle/>
          <a:p>
            <a:r>
              <a:rPr sz="791" b="1">
                <a:solidFill>
                  <a:srgbClr val="2E2E2E"/>
                </a:solidFill>
                <a:latin typeface="Calibri"/>
              </a:rPr>
              <a:t>Value share:</a:t>
            </a:r>
          </a:p>
        </p:txBody>
      </p:sp>
      <p:pic>
        <p:nvPicPr>
          <p:cNvPr id="184" name="Picture 183" descr="lock.png"/>
          <p:cNvPicPr>
            <a:picLocks noChangeAspect="1"/>
          </p:cNvPicPr>
          <p:nvPr/>
        </p:nvPicPr>
        <p:blipFill>
          <a:blip r:embed="rId4"/>
          <a:stretch>
            <a:fillRect/>
          </a:stretch>
        </p:blipFill>
        <p:spPr>
          <a:xfrm>
            <a:off x="10595283" y="2391038"/>
            <a:ext cx="92663" cy="134782"/>
          </a:xfrm>
          <a:prstGeom prst="rect">
            <a:avLst/>
          </a:prstGeom>
        </p:spPr>
      </p:pic>
    </p:spTree>
  </p:cSld>
  <p:clrMapOvr>
    <a:masterClrMapping/>
  </p:clrMapOvr>
</p:sld>
</file>

<file path=ppt/slides/slide227.xml><?xml version="1.0" encoding="utf-8"?>
<p:sld xmlns:a="http://schemas.openxmlformats.org/drawingml/2006/main" xmlns:p="http://schemas.openxmlformats.org/presentationml/2006/main" xmlns:r="http://schemas.openxmlformats.org/officeDocument/2006/relationships">
  <p:cSld>
    <p:bg>
      <p:bgPr>
        <a:solidFill>
          <a:srgbClr val="F3F8FD"/>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3F8FD"/>
              </a:gs>
              <a:gs pos="100000">
                <a:srgbClr val="DCE9F6"/>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FE0F0">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9C8E6">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B7D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A5F8F"/>
              </a:gs>
              <a:gs pos="100000">
                <a:srgbClr val="6FA6D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MR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19</a:t>
            </a:r>
          </a:p>
        </p:txBody>
      </p:sp>
      <p:pic>
        <p:nvPicPr>
          <p:cNvPr id="8" name="Picture 7" descr="tmr_logo.png"/>
          <p:cNvPicPr>
            <a:picLocks noChangeAspect="1"/>
          </p:cNvPicPr>
          <p:nvPr/>
        </p:nvPicPr>
        <p:blipFill>
          <a:blip r:embed="rId2"/>
          <a:stretch>
            <a:fillRect/>
          </a:stretch>
        </p:blipFill>
        <p:spPr>
          <a:xfrm>
            <a:off x="411480" y="274320"/>
            <a:ext cx="1307592" cy="975505"/>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2A5F8F"/>
                </a:solidFill>
                <a:latin typeface="Calibri"/>
              </a:rPr>
              <a:t>Egg Protein Membrane Market</a:t>
            </a:r>
          </a:p>
        </p:txBody>
      </p:sp>
      <p:sp>
        <p:nvSpPr>
          <p:cNvPr id="10" name="TMR Section Title"/>
          <p:cNvSpPr txBox="1"/>
          <p:nvPr/>
        </p:nvSpPr>
        <p:spPr>
          <a:xfrm>
            <a:off x="914400" y="2701925"/>
            <a:ext cx="8572500" cy="514350"/>
          </a:xfrm>
          <a:prstGeom prst="rect">
            <a:avLst/>
          </a:prstGeom>
          <a:noFill/>
        </p:spPr>
        <p:txBody>
          <a:bodyPr wrap="square" lIns="0" rIns="0" tIns="0">
            <a:spAutoFit/>
          </a:bodyPr>
          <a:lstStyle/>
          <a:p>
            <a:r>
              <a:rPr sz="3000" b="1">
                <a:solidFill>
                  <a:srgbClr val="0E2A5C"/>
                </a:solidFill>
                <a:latin typeface="Calibri"/>
              </a:rPr>
              <a:t>Company Profiles &amp; Strategic Benchmarking</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ESM Technologies, LLC Snapshot</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ESM Technologies, LLC Penetration &amp; Win</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ESM Technologies, LLC SWOT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ESM Technologies, LLC Key Financials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ESM Technologies, LLC Strategy Analysis</a:t>
            </a:r>
          </a:p>
        </p:txBody>
      </p:sp>
      <p:sp>
        <p:nvSpPr>
          <p:cNvPr id="12" name="Rectangle 11"/>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2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ESM Technologies, LLC Executive Market Snapshot (1/5)</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Overview of total market, addressable opportunity and share of market by end-market, region and product</a:t>
            </a:r>
          </a:p>
        </p:txBody>
      </p:sp>
      <p:sp>
        <p:nvSpPr>
          <p:cNvPr id="7" name="Rounded Rectangle 6"/>
          <p:cNvSpPr/>
          <p:nvPr/>
        </p:nvSpPr>
        <p:spPr>
          <a:xfrm>
            <a:off x="142875" y="1007261"/>
            <a:ext cx="11906250" cy="273805"/>
          </a:xfrm>
          <a:prstGeom prst="roundRect">
            <a:avLst>
              <a:gd name="adj" fmla="val 2782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Executive snapshot and strategic positioning ESM Technologies, LLC: market, addressable opportunity and SOM splits by end-market, region and product.</a:t>
            </a:r>
          </a:p>
        </p:txBody>
      </p:sp>
      <p:sp>
        <p:nvSpPr>
          <p:cNvPr id="8" name="Rounded Rectangle 7"/>
          <p:cNvSpPr/>
          <p:nvPr/>
        </p:nvSpPr>
        <p:spPr>
          <a:xfrm>
            <a:off x="142875" y="1335828"/>
            <a:ext cx="2276475" cy="602372"/>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TAM (US$ MN)</a:t>
            </a:r>
          </a:p>
          <a:p>
            <a:pPr algn="ctr">
              <a:lnSpc>
                <a:spcPct val="95000"/>
              </a:lnSpc>
            </a:pPr>
            <a:r>
              <a:rPr sz="1500" b="1">
                <a:solidFill>
                  <a:srgbClr val="2A5F8F"/>
                </a:solidFill>
                <a:latin typeface="Calibri"/>
              </a:rPr>
              <a:t> </a:t>
            </a:r>
          </a:p>
          <a:p>
            <a:pPr algn="ctr">
              <a:lnSpc>
                <a:spcPct val="95000"/>
              </a:lnSpc>
            </a:pPr>
            <a:r>
              <a:rPr sz="1100" b="0">
                <a:solidFill>
                  <a:srgbClr val="6C7A89"/>
                </a:solidFill>
                <a:latin typeface="Calibri"/>
              </a:rPr>
              <a:t>Total market</a:t>
            </a:r>
          </a:p>
        </p:txBody>
      </p:sp>
      <p:sp>
        <p:nvSpPr>
          <p:cNvPr id="9" name="Rounded Rectangle 8"/>
          <p:cNvSpPr/>
          <p:nvPr/>
        </p:nvSpPr>
        <p:spPr>
          <a:xfrm>
            <a:off x="2543175" y="1335828"/>
            <a:ext cx="2276475" cy="602372"/>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SAM (US$ MN)</a:t>
            </a:r>
          </a:p>
          <a:p>
            <a:pPr algn="ctr">
              <a:lnSpc>
                <a:spcPct val="95000"/>
              </a:lnSpc>
            </a:pPr>
            <a:r>
              <a:rPr sz="1500" b="1">
                <a:solidFill>
                  <a:srgbClr val="2A5F8F"/>
                </a:solidFill>
                <a:latin typeface="Calibri"/>
              </a:rPr>
              <a:t> </a:t>
            </a:r>
          </a:p>
          <a:p>
            <a:pPr algn="ctr">
              <a:lnSpc>
                <a:spcPct val="95000"/>
              </a:lnSpc>
            </a:pPr>
            <a:r>
              <a:rPr sz="1100" b="0">
                <a:solidFill>
                  <a:srgbClr val="6C7A89"/>
                </a:solidFill>
                <a:latin typeface="Calibri"/>
              </a:rPr>
              <a:t>Addressable</a:t>
            </a:r>
          </a:p>
        </p:txBody>
      </p:sp>
      <p:sp>
        <p:nvSpPr>
          <p:cNvPr id="10" name="Rounded Rectangle 9"/>
          <p:cNvSpPr/>
          <p:nvPr/>
        </p:nvSpPr>
        <p:spPr>
          <a:xfrm>
            <a:off x="4953000" y="1335828"/>
            <a:ext cx="2276475" cy="602372"/>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
            </a:r>
          </a:p>
          <a:p>
            <a:pPr algn="ctr">
              <a:lnSpc>
                <a:spcPct val="95000"/>
              </a:lnSpc>
            </a:pPr>
            <a:r>
              <a:rPr sz="1500" b="1">
                <a:solidFill>
                  <a:srgbClr val="2A5F8F"/>
                </a:solidFill>
                <a:latin typeface="Calibri"/>
              </a:rPr>
              <a:t/>
            </a:r>
          </a:p>
          <a:p>
            <a:pPr algn="ctr">
              <a:lnSpc>
                <a:spcPct val="95000"/>
              </a:lnSpc>
            </a:pPr>
            <a:r>
              <a:rPr sz="1100" b="0">
                <a:solidFill>
                  <a:srgbClr val="6C7A89"/>
                </a:solidFill>
                <a:latin typeface="Calibri"/>
              </a:rPr>
              <a:t/>
            </a:r>
          </a:p>
        </p:txBody>
      </p:sp>
      <p:sp>
        <p:nvSpPr>
          <p:cNvPr id="11" name="Rounded Rectangle 10"/>
          <p:cNvSpPr/>
          <p:nvPr/>
        </p:nvSpPr>
        <p:spPr>
          <a:xfrm>
            <a:off x="7353300" y="1335828"/>
            <a:ext cx="2276475" cy="602372"/>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BOOK-TO-BILL</a:t>
            </a:r>
          </a:p>
          <a:p>
            <a:pPr algn="ctr">
              <a:lnSpc>
                <a:spcPct val="95000"/>
              </a:lnSpc>
            </a:pPr>
            <a:r>
              <a:rPr sz="1500" b="1">
                <a:solidFill>
                  <a:srgbClr val="2A5F8F"/>
                </a:solidFill>
                <a:latin typeface="Calibri"/>
              </a:rPr>
              <a:t> </a:t>
            </a:r>
          </a:p>
          <a:p>
            <a:pPr algn="ctr">
              <a:lnSpc>
                <a:spcPct val="95000"/>
              </a:lnSpc>
            </a:pPr>
            <a:r>
              <a:rPr sz="1100" b="0">
                <a:solidFill>
                  <a:srgbClr val="6C7A89"/>
                </a:solidFill>
                <a:latin typeface="Calibri"/>
              </a:rPr>
              <a:t>Order momentum</a:t>
            </a:r>
          </a:p>
        </p:txBody>
      </p:sp>
      <p:sp>
        <p:nvSpPr>
          <p:cNvPr id="12" name="Rounded Rectangle 11"/>
          <p:cNvSpPr/>
          <p:nvPr/>
        </p:nvSpPr>
        <p:spPr>
          <a:xfrm>
            <a:off x="9763125" y="1335828"/>
            <a:ext cx="2276475" cy="602372"/>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EBITDA MARGIN</a:t>
            </a:r>
          </a:p>
          <a:p>
            <a:pPr algn="ctr">
              <a:lnSpc>
                <a:spcPct val="95000"/>
              </a:lnSpc>
            </a:pPr>
            <a:r>
              <a:rPr sz="1500" b="1">
                <a:solidFill>
                  <a:srgbClr val="2A5F8F"/>
                </a:solidFill>
                <a:latin typeface="Calibri"/>
              </a:rPr>
              <a:t> </a:t>
            </a:r>
          </a:p>
          <a:p>
            <a:pPr algn="ctr">
              <a:lnSpc>
                <a:spcPct val="95000"/>
              </a:lnSpc>
            </a:pPr>
            <a:r>
              <a:rPr sz="1100" b="0">
                <a:solidFill>
                  <a:srgbClr val="6C7A89"/>
                </a:solidFill>
                <a:latin typeface="Calibri"/>
              </a:rPr>
              <a:t>Profitability</a:t>
            </a:r>
          </a:p>
        </p:txBody>
      </p:sp>
      <p:sp>
        <p:nvSpPr>
          <p:cNvPr id="13" name="Rounded Rectangle 12"/>
          <p:cNvSpPr/>
          <p:nvPr/>
        </p:nvSpPr>
        <p:spPr>
          <a:xfrm>
            <a:off x="142875" y="2065976"/>
            <a:ext cx="3829050" cy="2610279"/>
          </a:xfrm>
          <a:prstGeom prst="roundRect">
            <a:avLst>
              <a:gd name="adj" fmla="val 291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38125" y="2123126"/>
            <a:ext cx="36385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SOM by End-Market (US$ Mn)</a:t>
            </a:r>
          </a:p>
        </p:txBody>
      </p:sp>
      <p:graphicFrame>
        <p:nvGraphicFramePr>
          <p:cNvPr id="15" name="Chart 14"/>
          <p:cNvGraphicFramePr>
            <a:graphicFrameLocks noGrp="1"/>
          </p:cNvGraphicFramePr>
          <p:nvPr/>
        </p:nvGraphicFramePr>
        <p:xfrm>
          <a:off x="238125" y="2351726"/>
          <a:ext cx="3638550" cy="2267379"/>
        </p:xfrm>
        <a:graphic>
          <a:graphicData uri="http://schemas.openxmlformats.org/drawingml/2006/chart">
            <c:chart xmlns:c="http://schemas.openxmlformats.org/drawingml/2006/chart" r:id="rId3"/>
          </a:graphicData>
        </a:graphic>
      </p:graphicFrame>
      <p:sp>
        <p:nvSpPr>
          <p:cNvPr id="16" name="Rounded Rectangle 15"/>
          <p:cNvSpPr/>
          <p:nvPr/>
        </p:nvSpPr>
        <p:spPr>
          <a:xfrm>
            <a:off x="4124325" y="2065976"/>
            <a:ext cx="3829050" cy="2610279"/>
          </a:xfrm>
          <a:prstGeom prst="roundRect">
            <a:avLst>
              <a:gd name="adj" fmla="val 291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219575" y="2123126"/>
            <a:ext cx="36385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SOM by Region (US$ Mn)</a:t>
            </a:r>
          </a:p>
        </p:txBody>
      </p:sp>
      <p:graphicFrame>
        <p:nvGraphicFramePr>
          <p:cNvPr id="18" name="Chart 17"/>
          <p:cNvGraphicFramePr>
            <a:graphicFrameLocks noGrp="1"/>
          </p:cNvGraphicFramePr>
          <p:nvPr/>
        </p:nvGraphicFramePr>
        <p:xfrm>
          <a:off x="4219575" y="2351726"/>
          <a:ext cx="3638550" cy="2267379"/>
        </p:xfrm>
        <a:graphic>
          <a:graphicData uri="http://schemas.openxmlformats.org/drawingml/2006/chart">
            <c:chart xmlns:c="http://schemas.openxmlformats.org/drawingml/2006/chart" r:id="rId4"/>
          </a:graphicData>
        </a:graphic>
      </p:graphicFrame>
      <p:sp>
        <p:nvSpPr>
          <p:cNvPr id="19" name="Rounded Rectangle 18"/>
          <p:cNvSpPr/>
          <p:nvPr/>
        </p:nvSpPr>
        <p:spPr>
          <a:xfrm>
            <a:off x="8105775" y="2065976"/>
            <a:ext cx="3943350" cy="2610279"/>
          </a:xfrm>
          <a:prstGeom prst="roundRect">
            <a:avLst>
              <a:gd name="adj" fmla="val 291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01025" y="2123126"/>
            <a:ext cx="37528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SOM by Product Line (US$ Mn)</a:t>
            </a:r>
          </a:p>
        </p:txBody>
      </p:sp>
      <p:graphicFrame>
        <p:nvGraphicFramePr>
          <p:cNvPr id="21" name="Chart 20"/>
          <p:cNvGraphicFramePr>
            <a:graphicFrameLocks noGrp="1"/>
          </p:cNvGraphicFramePr>
          <p:nvPr/>
        </p:nvGraphicFramePr>
        <p:xfrm>
          <a:off x="8201025" y="2351726"/>
          <a:ext cx="3752850" cy="2267379"/>
        </p:xfrm>
        <a:graphic>
          <a:graphicData uri="http://schemas.openxmlformats.org/drawingml/2006/chart">
            <c:chart xmlns:c="http://schemas.openxmlformats.org/drawingml/2006/chart" r:id="rId5"/>
          </a:graphicData>
        </a:graphic>
      </p:graphicFrame>
      <p:sp>
        <p:nvSpPr>
          <p:cNvPr id="22" name="Rounded Rectangle 21"/>
          <p:cNvSpPr/>
          <p:nvPr/>
        </p:nvSpPr>
        <p:spPr>
          <a:xfrm>
            <a:off x="142875" y="4785777"/>
            <a:ext cx="11906250" cy="1807116"/>
          </a:xfrm>
          <a:prstGeom prst="roundRect">
            <a:avLst>
              <a:gd name="adj" fmla="val 4216"/>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76225" y="4871502"/>
            <a:ext cx="11639550" cy="209550"/>
          </a:xfrm>
          <a:prstGeom prst="rect">
            <a:avLst/>
          </a:prstGeom>
          <a:noFill/>
        </p:spPr>
        <p:txBody>
          <a:bodyPr wrap="square" lIns="0" rIns="19050" tIns="9525" bIns="9525">
            <a:spAutoFit/>
          </a:bodyPr>
          <a:lstStyle/>
          <a:p>
            <a:pPr algn="l"/>
            <a:r>
              <a:rPr sz="1300" b="1">
                <a:solidFill>
                  <a:srgbClr val="0E2A5C"/>
                </a:solidFill>
                <a:latin typeface="Calibri"/>
              </a:rPr>
              <a:t>Key Takeaways</a:t>
            </a:r>
          </a:p>
        </p:txBody>
      </p:sp>
      <p:sp>
        <p:nvSpPr>
          <p:cNvPr id="24" name="Rectangle 23"/>
          <p:cNvSpPr/>
          <p:nvPr/>
        </p:nvSpPr>
        <p:spPr>
          <a:xfrm>
            <a:off x="276225" y="5109627"/>
            <a:ext cx="116395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76225" y="5195352"/>
            <a:ext cx="11639550" cy="1321341"/>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p:txBody>
      </p:sp>
      <p:sp>
        <p:nvSpPr>
          <p:cNvPr id="26" name="Rectangle 25"/>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28" name="Picture 27" descr="lock.png"/>
          <p:cNvPicPr>
            <a:picLocks noChangeAspect="1"/>
          </p:cNvPicPr>
          <p:nvPr/>
        </p:nvPicPr>
        <p:blipFill>
          <a:blip r:embed="rId7"/>
          <a:stretch>
            <a:fillRect/>
          </a:stretch>
        </p:blipFill>
        <p:spPr>
          <a:xfrm>
            <a:off x="1202531" y="1522714"/>
            <a:ext cx="157162" cy="228600"/>
          </a:xfrm>
          <a:prstGeom prst="rect">
            <a:avLst/>
          </a:prstGeom>
        </p:spPr>
      </p:pic>
      <p:pic>
        <p:nvPicPr>
          <p:cNvPr id="29" name="Picture 28" descr="lock.png"/>
          <p:cNvPicPr>
            <a:picLocks noChangeAspect="1"/>
          </p:cNvPicPr>
          <p:nvPr/>
        </p:nvPicPr>
        <p:blipFill>
          <a:blip r:embed="rId7"/>
          <a:stretch>
            <a:fillRect/>
          </a:stretch>
        </p:blipFill>
        <p:spPr>
          <a:xfrm>
            <a:off x="3602831" y="1522714"/>
            <a:ext cx="157162" cy="228600"/>
          </a:xfrm>
          <a:prstGeom prst="rect">
            <a:avLst/>
          </a:prstGeom>
        </p:spPr>
      </p:pic>
      <p:pic>
        <p:nvPicPr>
          <p:cNvPr id="30" name="Picture 29" descr="lock.png"/>
          <p:cNvPicPr>
            <a:picLocks noChangeAspect="1"/>
          </p:cNvPicPr>
          <p:nvPr/>
        </p:nvPicPr>
        <p:blipFill>
          <a:blip r:embed="rId7"/>
          <a:stretch>
            <a:fillRect/>
          </a:stretch>
        </p:blipFill>
        <p:spPr>
          <a:xfrm>
            <a:off x="8412956" y="1522714"/>
            <a:ext cx="157162" cy="228600"/>
          </a:xfrm>
          <a:prstGeom prst="rect">
            <a:avLst/>
          </a:prstGeom>
        </p:spPr>
      </p:pic>
      <p:pic>
        <p:nvPicPr>
          <p:cNvPr id="31" name="Picture 30" descr="lock.png"/>
          <p:cNvPicPr>
            <a:picLocks noChangeAspect="1"/>
          </p:cNvPicPr>
          <p:nvPr/>
        </p:nvPicPr>
        <p:blipFill>
          <a:blip r:embed="rId7"/>
          <a:stretch>
            <a:fillRect/>
          </a:stretch>
        </p:blipFill>
        <p:spPr>
          <a:xfrm>
            <a:off x="10822781" y="1522714"/>
            <a:ext cx="157162" cy="228600"/>
          </a:xfrm>
          <a:prstGeom prst="rect">
            <a:avLst/>
          </a:prstGeom>
        </p:spPr>
      </p:pic>
      <p:pic>
        <p:nvPicPr>
          <p:cNvPr id="32" name="Picture 31" descr="lock.png"/>
          <p:cNvPicPr>
            <a:picLocks noChangeAspect="1"/>
          </p:cNvPicPr>
          <p:nvPr/>
        </p:nvPicPr>
        <p:blipFill>
          <a:blip r:embed="rId7"/>
          <a:stretch>
            <a:fillRect/>
          </a:stretch>
        </p:blipFill>
        <p:spPr>
          <a:xfrm>
            <a:off x="2104623" y="3299104"/>
            <a:ext cx="197242" cy="286897"/>
          </a:xfrm>
          <a:prstGeom prst="rect">
            <a:avLst/>
          </a:prstGeom>
        </p:spPr>
      </p:pic>
      <p:pic>
        <p:nvPicPr>
          <p:cNvPr id="33" name="Picture 32" descr="lock.png"/>
          <p:cNvPicPr>
            <a:picLocks noChangeAspect="1"/>
          </p:cNvPicPr>
          <p:nvPr/>
        </p:nvPicPr>
        <p:blipFill>
          <a:blip r:embed="rId7"/>
          <a:stretch>
            <a:fillRect/>
          </a:stretch>
        </p:blipFill>
        <p:spPr>
          <a:xfrm>
            <a:off x="6086073" y="3299104"/>
            <a:ext cx="197242" cy="286897"/>
          </a:xfrm>
          <a:prstGeom prst="rect">
            <a:avLst/>
          </a:prstGeom>
        </p:spPr>
      </p:pic>
      <p:pic>
        <p:nvPicPr>
          <p:cNvPr id="34" name="Picture 33" descr="lock.png"/>
          <p:cNvPicPr>
            <a:picLocks noChangeAspect="1"/>
          </p:cNvPicPr>
          <p:nvPr/>
        </p:nvPicPr>
        <p:blipFill>
          <a:blip r:embed="rId7"/>
          <a:stretch>
            <a:fillRect/>
          </a:stretch>
        </p:blipFill>
        <p:spPr>
          <a:xfrm>
            <a:off x="9278088" y="3145920"/>
            <a:ext cx="444576" cy="646656"/>
          </a:xfrm>
          <a:prstGeom prst="rect">
            <a:avLst/>
          </a:prstGeom>
        </p:spPr>
      </p:pic>
      <p:sp>
        <p:nvSpPr>
          <p:cNvPr id="35" name="TextBox 34"/>
          <p:cNvSpPr txBox="1"/>
          <p:nvPr/>
        </p:nvSpPr>
        <p:spPr>
          <a:xfrm>
            <a:off x="5758516" y="1377568"/>
            <a:ext cx="741641" cy="146456"/>
          </a:xfrm>
          <a:prstGeom prst="rect">
            <a:avLst/>
          </a:prstGeom>
          <a:noFill/>
        </p:spPr>
        <p:txBody>
          <a:bodyPr wrap="none" lIns="0" rIns="0" tIns="0" bIns="0">
            <a:spAutoFit/>
          </a:bodyPr>
          <a:lstStyle/>
          <a:p>
            <a:r>
              <a:rPr sz="835" b="1">
                <a:solidFill>
                  <a:srgbClr val="6C7A89"/>
                </a:solidFill>
                <a:latin typeface="Calibri"/>
              </a:rPr>
              <a:t>SOM (US$ MN)</a:t>
            </a:r>
          </a:p>
        </p:txBody>
      </p:sp>
      <p:pic>
        <p:nvPicPr>
          <p:cNvPr id="36" name="Picture 35" descr="lock.png"/>
          <p:cNvPicPr>
            <a:picLocks noChangeAspect="1"/>
          </p:cNvPicPr>
          <p:nvPr/>
        </p:nvPicPr>
        <p:blipFill>
          <a:blip r:embed="rId7"/>
          <a:stretch>
            <a:fillRect/>
          </a:stretch>
        </p:blipFill>
        <p:spPr>
          <a:xfrm>
            <a:off x="6017010" y="1533061"/>
            <a:ext cx="133378" cy="194005"/>
          </a:xfrm>
          <a:prstGeom prst="rect">
            <a:avLst/>
          </a:prstGeom>
        </p:spPr>
      </p:pic>
      <p:pic>
        <p:nvPicPr>
          <p:cNvPr id="37" name="Picture 36" descr="lock.png"/>
          <p:cNvPicPr>
            <a:picLocks noChangeAspect="1"/>
          </p:cNvPicPr>
          <p:nvPr/>
        </p:nvPicPr>
        <p:blipFill>
          <a:blip r:embed="rId7"/>
          <a:stretch>
            <a:fillRect/>
          </a:stretch>
        </p:blipFill>
        <p:spPr>
          <a:xfrm>
            <a:off x="5865805" y="1761621"/>
            <a:ext cx="97811" cy="142270"/>
          </a:xfrm>
          <a:prstGeom prst="rect">
            <a:avLst/>
          </a:prstGeom>
        </p:spPr>
      </p:pic>
      <p:sp>
        <p:nvSpPr>
          <p:cNvPr id="38" name="TextBox 37"/>
          <p:cNvSpPr txBox="1"/>
          <p:nvPr/>
        </p:nvSpPr>
        <p:spPr>
          <a:xfrm>
            <a:off x="5993102" y="1769053"/>
            <a:ext cx="389531" cy="146456"/>
          </a:xfrm>
          <a:prstGeom prst="rect">
            <a:avLst/>
          </a:prstGeom>
          <a:noFill/>
        </p:spPr>
        <p:txBody>
          <a:bodyPr wrap="none" lIns="0" rIns="0" tIns="0" bIns="0">
            <a:spAutoFit/>
          </a:bodyPr>
          <a:lstStyle/>
          <a:p>
            <a:r>
              <a:rPr sz="835" b="0">
                <a:solidFill>
                  <a:srgbClr val="6C7A89"/>
                </a:solidFill>
                <a:latin typeface="Calibri"/>
              </a:rPr>
              <a:t>of SAM</a:t>
            </a:r>
          </a:p>
        </p:txBody>
      </p:sp>
      <p:sp>
        <p:nvSpPr>
          <p:cNvPr id="39" name="TextBox 38"/>
          <p:cNvSpPr txBox="1"/>
          <p:nvPr/>
        </p:nvSpPr>
        <p:spPr>
          <a:xfrm>
            <a:off x="276225" y="5204877"/>
            <a:ext cx="3180003" cy="194310"/>
          </a:xfrm>
          <a:prstGeom prst="rect">
            <a:avLst/>
          </a:prstGeom>
          <a:noFill/>
        </p:spPr>
        <p:txBody>
          <a:bodyPr wrap="none" lIns="0" rIns="0" tIns="0" bIns="0">
            <a:spAutoFit/>
          </a:bodyPr>
          <a:lstStyle/>
          <a:p>
            <a:r>
              <a:rPr sz="1150" b="0">
                <a:solidFill>
                  <a:srgbClr val="2E2E2E"/>
                </a:solidFill>
                <a:latin typeface="Calibri"/>
              </a:rPr>
              <a:t>▪ Market Position: ESM Technologies, LLC captures ~</a:t>
            </a:r>
          </a:p>
        </p:txBody>
      </p:sp>
      <p:pic>
        <p:nvPicPr>
          <p:cNvPr id="40" name="Picture 39" descr="lock.png"/>
          <p:cNvPicPr>
            <a:picLocks noChangeAspect="1"/>
          </p:cNvPicPr>
          <p:nvPr/>
        </p:nvPicPr>
        <p:blipFill>
          <a:blip r:embed="rId7"/>
          <a:stretch>
            <a:fillRect/>
          </a:stretch>
        </p:blipFill>
        <p:spPr>
          <a:xfrm>
            <a:off x="3405382" y="5194653"/>
            <a:ext cx="134549" cy="195707"/>
          </a:xfrm>
          <a:prstGeom prst="rect">
            <a:avLst/>
          </a:prstGeom>
        </p:spPr>
      </p:pic>
      <p:sp>
        <p:nvSpPr>
          <p:cNvPr id="41" name="TextBox 40"/>
          <p:cNvSpPr txBox="1"/>
          <p:nvPr/>
        </p:nvSpPr>
        <p:spPr>
          <a:xfrm>
            <a:off x="3580491" y="5204877"/>
            <a:ext cx="5016512" cy="194310"/>
          </a:xfrm>
          <a:prstGeom prst="rect">
            <a:avLst/>
          </a:prstGeom>
          <a:noFill/>
        </p:spPr>
        <p:txBody>
          <a:bodyPr wrap="none" lIns="0" rIns="0" tIns="0" bIns="0">
            <a:spAutoFit/>
          </a:bodyPr>
          <a:lstStyle/>
          <a:p>
            <a:r>
              <a:rPr sz="1150" b="0">
                <a:solidFill>
                  <a:srgbClr val="2E2E2E"/>
                </a:solidFill>
                <a:latin typeface="Calibri"/>
              </a:rPr>
              <a:t>of a US$ Mn SAM, with its strongest end-market in 'Pharmaceuticals &amp; Biomedical'.</a:t>
            </a:r>
          </a:p>
        </p:txBody>
      </p:sp>
      <p:sp>
        <p:nvSpPr>
          <p:cNvPr id="42" name="TextBox 41"/>
          <p:cNvSpPr txBox="1"/>
          <p:nvPr/>
        </p:nvSpPr>
        <p:spPr>
          <a:xfrm>
            <a:off x="276225" y="5432715"/>
            <a:ext cx="7358446" cy="194310"/>
          </a:xfrm>
          <a:prstGeom prst="rect">
            <a:avLst/>
          </a:prstGeom>
          <a:noFill/>
        </p:spPr>
        <p:txBody>
          <a:bodyPr wrap="none" lIns="0" rIns="0" tIns="0" bIns="0">
            <a:spAutoFit/>
          </a:bodyPr>
          <a:lstStyle/>
          <a:p>
            <a:r>
              <a:rPr sz="1150" b="0">
                <a:solidFill>
                  <a:srgbClr val="2E2E2E"/>
                </a:solidFill>
                <a:latin typeface="Calibri"/>
              </a:rPr>
              <a:t>▪ Geographic Balance: 'North America' is the largest SOM region; 'Rest of the World' shows the highest SAM penetration (~</a:t>
            </a:r>
          </a:p>
        </p:txBody>
      </p:sp>
      <p:pic>
        <p:nvPicPr>
          <p:cNvPr id="43" name="Picture 42" descr="lock.png"/>
          <p:cNvPicPr>
            <a:picLocks noChangeAspect="1"/>
          </p:cNvPicPr>
          <p:nvPr/>
        </p:nvPicPr>
        <p:blipFill>
          <a:blip r:embed="rId7"/>
          <a:stretch>
            <a:fillRect/>
          </a:stretch>
        </p:blipFill>
        <p:spPr>
          <a:xfrm>
            <a:off x="7583825" y="5422491"/>
            <a:ext cx="134549" cy="195707"/>
          </a:xfrm>
          <a:prstGeom prst="rect">
            <a:avLst/>
          </a:prstGeom>
        </p:spPr>
      </p:pic>
      <p:sp>
        <p:nvSpPr>
          <p:cNvPr id="44" name="TextBox 43"/>
          <p:cNvSpPr txBox="1"/>
          <p:nvPr/>
        </p:nvSpPr>
        <p:spPr>
          <a:xfrm>
            <a:off x="7758935" y="5432715"/>
            <a:ext cx="157212" cy="194310"/>
          </a:xfrm>
          <a:prstGeom prst="rect">
            <a:avLst/>
          </a:prstGeom>
          <a:noFill/>
        </p:spPr>
        <p:txBody>
          <a:bodyPr wrap="none" lIns="0" rIns="0" tIns="0" bIns="0">
            <a:spAutoFit/>
          </a:bodyPr>
          <a:lstStyle/>
          <a:p>
            <a:r>
              <a:rPr sz="1150" b="0">
                <a:solidFill>
                  <a:srgbClr val="2E2E2E"/>
                </a:solidFill>
                <a:latin typeface="Calibri"/>
              </a:rPr>
              <a:t>).</a:t>
            </a:r>
          </a:p>
        </p:txBody>
      </p:sp>
      <p:sp>
        <p:nvSpPr>
          <p:cNvPr id="45" name="TextBox 44"/>
          <p:cNvSpPr txBox="1"/>
          <p:nvPr/>
        </p:nvSpPr>
        <p:spPr>
          <a:xfrm>
            <a:off x="276225" y="5660552"/>
            <a:ext cx="1391791" cy="194310"/>
          </a:xfrm>
          <a:prstGeom prst="rect">
            <a:avLst/>
          </a:prstGeom>
          <a:noFill/>
        </p:spPr>
        <p:txBody>
          <a:bodyPr wrap="none" lIns="0" rIns="0" tIns="0" bIns="0">
            <a:spAutoFit/>
          </a:bodyPr>
          <a:lstStyle/>
          <a:p>
            <a:r>
              <a:rPr sz="1150" b="0">
                <a:solidFill>
                  <a:srgbClr val="2E2E2E"/>
                </a:solidFill>
                <a:latin typeface="Calibri"/>
              </a:rPr>
              <a:t>▪ Growth Trajectory: a</a:t>
            </a:r>
          </a:p>
        </p:txBody>
      </p:sp>
      <p:pic>
        <p:nvPicPr>
          <p:cNvPr id="46" name="Picture 45" descr="lock.png"/>
          <p:cNvPicPr>
            <a:picLocks noChangeAspect="1"/>
          </p:cNvPicPr>
          <p:nvPr/>
        </p:nvPicPr>
        <p:blipFill>
          <a:blip r:embed="rId7"/>
          <a:stretch>
            <a:fillRect/>
          </a:stretch>
        </p:blipFill>
        <p:spPr>
          <a:xfrm>
            <a:off x="1617169" y="5650329"/>
            <a:ext cx="134549" cy="195707"/>
          </a:xfrm>
          <a:prstGeom prst="rect">
            <a:avLst/>
          </a:prstGeom>
        </p:spPr>
      </p:pic>
      <p:sp>
        <p:nvSpPr>
          <p:cNvPr id="47" name="TextBox 46"/>
          <p:cNvSpPr txBox="1"/>
          <p:nvPr/>
        </p:nvSpPr>
        <p:spPr>
          <a:xfrm>
            <a:off x="1792279" y="5660552"/>
            <a:ext cx="1129072" cy="194310"/>
          </a:xfrm>
          <a:prstGeom prst="rect">
            <a:avLst/>
          </a:prstGeom>
          <a:noFill/>
        </p:spPr>
        <p:txBody>
          <a:bodyPr wrap="none" lIns="0" rIns="0" tIns="0" bIns="0">
            <a:spAutoFit/>
          </a:bodyPr>
          <a:lstStyle/>
          <a:p>
            <a:r>
              <a:rPr sz="1150" b="0">
                <a:solidFill>
                  <a:srgbClr val="2E2E2E"/>
                </a:solidFill>
                <a:latin typeface="Calibri"/>
              </a:rPr>
              <a:t>book-to-bill and ~</a:t>
            </a:r>
          </a:p>
        </p:txBody>
      </p:sp>
      <p:pic>
        <p:nvPicPr>
          <p:cNvPr id="48" name="Picture 47" descr="lock.png"/>
          <p:cNvPicPr>
            <a:picLocks noChangeAspect="1"/>
          </p:cNvPicPr>
          <p:nvPr/>
        </p:nvPicPr>
        <p:blipFill>
          <a:blip r:embed="rId7"/>
          <a:stretch>
            <a:fillRect/>
          </a:stretch>
        </p:blipFill>
        <p:spPr>
          <a:xfrm>
            <a:off x="2870505" y="5650329"/>
            <a:ext cx="134549" cy="195707"/>
          </a:xfrm>
          <a:prstGeom prst="rect">
            <a:avLst/>
          </a:prstGeom>
        </p:spPr>
      </p:pic>
      <p:sp>
        <p:nvSpPr>
          <p:cNvPr id="49" name="TextBox 48"/>
          <p:cNvSpPr txBox="1"/>
          <p:nvPr/>
        </p:nvSpPr>
        <p:spPr>
          <a:xfrm>
            <a:off x="3045614" y="5660552"/>
            <a:ext cx="4503594" cy="194310"/>
          </a:xfrm>
          <a:prstGeom prst="rect">
            <a:avLst/>
          </a:prstGeom>
          <a:noFill/>
        </p:spPr>
        <p:txBody>
          <a:bodyPr wrap="none" lIns="0" rIns="0" tIns="0" bIns="0">
            <a:spAutoFit/>
          </a:bodyPr>
          <a:lstStyle/>
          <a:p>
            <a:r>
              <a:rPr sz="1150" b="0">
                <a:solidFill>
                  <a:srgbClr val="2E2E2E"/>
                </a:solidFill>
                <a:latin typeface="Calibri"/>
              </a:rPr>
              <a:t>EBITDA margin point to a path to capture more of the addressable market.</a:t>
            </a:r>
          </a:p>
        </p:txBody>
      </p:sp>
      <p:sp>
        <p:nvSpPr>
          <p:cNvPr id="50" name="TextBox 49"/>
          <p:cNvSpPr txBox="1"/>
          <p:nvPr/>
        </p:nvSpPr>
        <p:spPr>
          <a:xfrm>
            <a:off x="276225" y="5888390"/>
            <a:ext cx="1353535" cy="194310"/>
          </a:xfrm>
          <a:prstGeom prst="rect">
            <a:avLst/>
          </a:prstGeom>
          <a:noFill/>
        </p:spPr>
        <p:txBody>
          <a:bodyPr wrap="none" lIns="0" rIns="0" tIns="0" bIns="0">
            <a:spAutoFit/>
          </a:bodyPr>
          <a:lstStyle/>
          <a:p>
            <a:r>
              <a:rPr sz="1150" b="0">
                <a:solidFill>
                  <a:srgbClr val="2E2E2E"/>
                </a:solidFill>
                <a:latin typeface="Calibri"/>
              </a:rPr>
              <a:t>▪ Competitive Edge: ~</a:t>
            </a:r>
          </a:p>
        </p:txBody>
      </p:sp>
      <p:pic>
        <p:nvPicPr>
          <p:cNvPr id="51" name="Picture 50" descr="lock.png"/>
          <p:cNvPicPr>
            <a:picLocks noChangeAspect="1"/>
          </p:cNvPicPr>
          <p:nvPr/>
        </p:nvPicPr>
        <p:blipFill>
          <a:blip r:embed="rId7"/>
          <a:stretch>
            <a:fillRect/>
          </a:stretch>
        </p:blipFill>
        <p:spPr>
          <a:xfrm>
            <a:off x="1578914" y="5878167"/>
            <a:ext cx="134549" cy="195707"/>
          </a:xfrm>
          <a:prstGeom prst="rect">
            <a:avLst/>
          </a:prstGeom>
        </p:spPr>
      </p:pic>
      <p:sp>
        <p:nvSpPr>
          <p:cNvPr id="52" name="TextBox 51"/>
          <p:cNvSpPr txBox="1"/>
          <p:nvPr/>
        </p:nvSpPr>
        <p:spPr>
          <a:xfrm>
            <a:off x="1754024" y="5888390"/>
            <a:ext cx="1072591" cy="194310"/>
          </a:xfrm>
          <a:prstGeom prst="rect">
            <a:avLst/>
          </a:prstGeom>
          <a:noFill/>
        </p:spPr>
        <p:txBody>
          <a:bodyPr wrap="none" lIns="0" rIns="0" tIns="0" bIns="0">
            <a:spAutoFit/>
          </a:bodyPr>
          <a:lstStyle/>
          <a:p>
            <a:r>
              <a:rPr sz="1150" b="0">
                <a:solidFill>
                  <a:srgbClr val="2E2E2E"/>
                </a:solidFill>
                <a:latin typeface="Calibri"/>
              </a:rPr>
              <a:t>win rate with a +</a:t>
            </a:r>
          </a:p>
        </p:txBody>
      </p:sp>
      <p:pic>
        <p:nvPicPr>
          <p:cNvPr id="53" name="Picture 52" descr="lock.png"/>
          <p:cNvPicPr>
            <a:picLocks noChangeAspect="1"/>
          </p:cNvPicPr>
          <p:nvPr/>
        </p:nvPicPr>
        <p:blipFill>
          <a:blip r:embed="rId7"/>
          <a:stretch>
            <a:fillRect/>
          </a:stretch>
        </p:blipFill>
        <p:spPr>
          <a:xfrm>
            <a:off x="2775769" y="5878167"/>
            <a:ext cx="134549" cy="195707"/>
          </a:xfrm>
          <a:prstGeom prst="rect">
            <a:avLst/>
          </a:prstGeom>
        </p:spPr>
      </p:pic>
      <p:sp>
        <p:nvSpPr>
          <p:cNvPr id="54" name="TextBox 53"/>
          <p:cNvSpPr txBox="1"/>
          <p:nvPr/>
        </p:nvSpPr>
        <p:spPr>
          <a:xfrm>
            <a:off x="2950879" y="5888390"/>
            <a:ext cx="1137059" cy="194310"/>
          </a:xfrm>
          <a:prstGeom prst="rect">
            <a:avLst/>
          </a:prstGeom>
          <a:noFill/>
        </p:spPr>
        <p:txBody>
          <a:bodyPr wrap="none" lIns="0" rIns="0" tIns="0" bIns="0">
            <a:spAutoFit/>
          </a:bodyPr>
          <a:lstStyle/>
          <a:p>
            <a:r>
              <a:rPr sz="1150" b="0">
                <a:solidFill>
                  <a:srgbClr val="2E2E2E"/>
                </a:solidFill>
                <a:latin typeface="Calibri"/>
              </a:rPr>
              <a:t>ASP premium and</a:t>
            </a:r>
          </a:p>
        </p:txBody>
      </p:sp>
      <p:pic>
        <p:nvPicPr>
          <p:cNvPr id="55" name="Picture 54" descr="lock.png"/>
          <p:cNvPicPr>
            <a:picLocks noChangeAspect="1"/>
          </p:cNvPicPr>
          <p:nvPr/>
        </p:nvPicPr>
        <p:blipFill>
          <a:blip r:embed="rId7"/>
          <a:stretch>
            <a:fillRect/>
          </a:stretch>
        </p:blipFill>
        <p:spPr>
          <a:xfrm>
            <a:off x="4037092" y="5878167"/>
            <a:ext cx="134549" cy="195707"/>
          </a:xfrm>
          <a:prstGeom prst="rect">
            <a:avLst/>
          </a:prstGeom>
        </p:spPr>
      </p:pic>
      <p:sp>
        <p:nvSpPr>
          <p:cNvPr id="56" name="TextBox 55"/>
          <p:cNvSpPr txBox="1"/>
          <p:nvPr/>
        </p:nvSpPr>
        <p:spPr>
          <a:xfrm>
            <a:off x="4212201" y="5888390"/>
            <a:ext cx="1259147" cy="194310"/>
          </a:xfrm>
          <a:prstGeom prst="rect">
            <a:avLst/>
          </a:prstGeom>
          <a:noFill/>
        </p:spPr>
        <p:txBody>
          <a:bodyPr wrap="none" lIns="0" rIns="0" tIns="0" bIns="0">
            <a:spAutoFit/>
          </a:bodyPr>
          <a:lstStyle/>
          <a:p>
            <a:r>
              <a:rPr sz="1150" b="0">
                <a:solidFill>
                  <a:srgbClr val="2E2E2E"/>
                </a:solidFill>
                <a:latin typeface="Calibri"/>
              </a:rPr>
              <a:t>x pipeline coverage.</a:t>
            </a:r>
          </a:p>
        </p:txBody>
      </p:sp>
      <p:sp>
        <p:nvSpPr>
          <p:cNvPr id="57" name="lockshield_15"/>
          <p:cNvSpPr/>
          <p:nvPr/>
        </p:nvSpPr>
        <p:spPr>
          <a:xfrm>
            <a:off x="238125" y="2351726"/>
            <a:ext cx="3638550" cy="2267379"/>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lockshield_18"/>
          <p:cNvSpPr/>
          <p:nvPr/>
        </p:nvSpPr>
        <p:spPr>
          <a:xfrm>
            <a:off x="4219575" y="2351726"/>
            <a:ext cx="3638550" cy="2267379"/>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lockshield_21"/>
          <p:cNvSpPr/>
          <p:nvPr/>
        </p:nvSpPr>
        <p:spPr>
          <a:xfrm>
            <a:off x="8201025" y="2351726"/>
            <a:ext cx="3752850" cy="2267379"/>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ESM Technologies, LLC Regional Penetration &amp; Win Position (2/5)</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Regional penetration and competitive positioning highlighting growth potential, win rates and sales efficiency</a:t>
            </a:r>
          </a:p>
        </p:txBody>
      </p:sp>
      <p:sp>
        <p:nvSpPr>
          <p:cNvPr id="7" name="Rounded Rectangle 6"/>
          <p:cNvSpPr/>
          <p:nvPr/>
        </p:nvSpPr>
        <p:spPr>
          <a:xfrm>
            <a:off x="142875" y="1007261"/>
            <a:ext cx="11906250" cy="255552"/>
          </a:xfrm>
          <a:prstGeom prst="roundRect">
            <a:avLst>
              <a:gd name="adj" fmla="val 29817"/>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Regional penetration and competitive positioning ESM Technologies, LLC: SOM vs SAM by region, win position, TAM/SAM/SOM and go-to-market benchmarks.</a:t>
            </a:r>
          </a:p>
        </p:txBody>
      </p:sp>
      <p:sp>
        <p:nvSpPr>
          <p:cNvPr id="8" name="Rounded Rectangle 7"/>
          <p:cNvSpPr/>
          <p:nvPr/>
        </p:nvSpPr>
        <p:spPr>
          <a:xfrm>
            <a:off x="142875" y="1299320"/>
            <a:ext cx="5905500" cy="2263459"/>
          </a:xfrm>
          <a:prstGeom prst="roundRect">
            <a:avLst>
              <a:gd name="adj" fmla="val 3366"/>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356470"/>
            <a:ext cx="5715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SOM vs SAM Penetration by Region</a:t>
            </a:r>
          </a:p>
        </p:txBody>
      </p:sp>
      <p:graphicFrame>
        <p:nvGraphicFramePr>
          <p:cNvPr id="10" name="Chart 9"/>
          <p:cNvGraphicFramePr>
            <a:graphicFrameLocks noGrp="1"/>
          </p:cNvGraphicFramePr>
          <p:nvPr/>
        </p:nvGraphicFramePr>
        <p:xfrm>
          <a:off x="238125" y="1585070"/>
          <a:ext cx="5715000" cy="1920559"/>
        </p:xfrm>
        <a:graphic>
          <a:graphicData uri="http://schemas.openxmlformats.org/drawingml/2006/chart">
            <c:chart xmlns:c="http://schemas.openxmlformats.org/drawingml/2006/chart" r:id="rId3"/>
          </a:graphicData>
        </a:graphic>
      </p:graphicFrame>
      <p:sp>
        <p:nvSpPr>
          <p:cNvPr id="11" name="Rounded Rectangle 10"/>
          <p:cNvSpPr/>
          <p:nvPr/>
        </p:nvSpPr>
        <p:spPr>
          <a:xfrm>
            <a:off x="6162675" y="1299320"/>
            <a:ext cx="5886450" cy="2263459"/>
          </a:xfrm>
          <a:prstGeom prst="roundRect">
            <a:avLst>
              <a:gd name="adj" fmla="val 3366"/>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57925" y="1356470"/>
            <a:ext cx="56959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Competitive Win Position</a:t>
            </a:r>
          </a:p>
        </p:txBody>
      </p:sp>
      <p:cxnSp>
        <p:nvCxnSpPr>
          <p:cNvPr id="13" name="Connector 12"/>
          <p:cNvCxnSpPr/>
          <p:nvPr/>
        </p:nvCxnSpPr>
        <p:spPr>
          <a:xfrm>
            <a:off x="6581775" y="3219879"/>
            <a:ext cx="5257800" cy="0"/>
          </a:xfrm>
          <a:prstGeom prst="line">
            <a:avLst/>
          </a:prstGeom>
          <a:ln w="12700">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6581775" y="1680320"/>
            <a:ext cx="0" cy="1539559"/>
          </a:xfrm>
          <a:prstGeom prst="line">
            <a:avLst/>
          </a:prstGeom>
          <a:ln w="12700">
            <a:solidFill>
              <a:srgbClr val="D7E0EA"/>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467475" y="3238929"/>
            <a:ext cx="228600" cy="114300"/>
          </a:xfrm>
          <a:prstGeom prst="rect">
            <a:avLst/>
          </a:prstGeom>
          <a:noFill/>
        </p:spPr>
        <p:txBody>
          <a:bodyPr wrap="none" lIns="0" rIns="0" tIns="0" bIns="0">
            <a:spAutoFit/>
          </a:bodyPr>
          <a:lstStyle/>
          <a:p>
            <a:pPr algn="ctr"/>
            <a:r>
              <a:rPr sz="1100" b="0">
                <a:solidFill>
                  <a:srgbClr val="6C7A89"/>
                </a:solidFill>
                <a:latin typeface="Calibri"/>
              </a:rPr>
              <a:t>0</a:t>
            </a:r>
          </a:p>
        </p:txBody>
      </p:sp>
      <p:sp>
        <p:nvSpPr>
          <p:cNvPr id="16" name="TextBox 15"/>
          <p:cNvSpPr txBox="1"/>
          <p:nvPr/>
        </p:nvSpPr>
        <p:spPr>
          <a:xfrm>
            <a:off x="7969704" y="3238929"/>
            <a:ext cx="228600" cy="114300"/>
          </a:xfrm>
          <a:prstGeom prst="rect">
            <a:avLst/>
          </a:prstGeom>
          <a:noFill/>
        </p:spPr>
        <p:txBody>
          <a:bodyPr wrap="none" lIns="0" rIns="0" tIns="0" bIns="0">
            <a:spAutoFit/>
          </a:bodyPr>
          <a:lstStyle/>
          <a:p>
            <a:pPr algn="ctr"/>
            <a:r>
              <a:rPr sz="1100" b="0">
                <a:solidFill>
                  <a:srgbClr val="6C7A89"/>
                </a:solidFill>
                <a:latin typeface="Calibri"/>
              </a:rPr>
              <a:t>1</a:t>
            </a:r>
          </a:p>
        </p:txBody>
      </p:sp>
      <p:sp>
        <p:nvSpPr>
          <p:cNvPr id="17" name="TextBox 16"/>
          <p:cNvSpPr txBox="1"/>
          <p:nvPr/>
        </p:nvSpPr>
        <p:spPr>
          <a:xfrm>
            <a:off x="9471932" y="3238929"/>
            <a:ext cx="228600" cy="114300"/>
          </a:xfrm>
          <a:prstGeom prst="rect">
            <a:avLst/>
          </a:prstGeom>
          <a:noFill/>
        </p:spPr>
        <p:txBody>
          <a:bodyPr wrap="none" lIns="0" rIns="0" tIns="0" bIns="0">
            <a:spAutoFit/>
          </a:bodyPr>
          <a:lstStyle/>
          <a:p>
            <a:pPr algn="ctr"/>
            <a:r>
              <a:rPr sz="1100" b="0">
                <a:solidFill>
                  <a:srgbClr val="6C7A89"/>
                </a:solidFill>
                <a:latin typeface="Calibri"/>
              </a:rPr>
              <a:t>2</a:t>
            </a:r>
          </a:p>
        </p:txBody>
      </p:sp>
      <p:sp>
        <p:nvSpPr>
          <p:cNvPr id="18" name="TextBox 17"/>
          <p:cNvSpPr txBox="1"/>
          <p:nvPr/>
        </p:nvSpPr>
        <p:spPr>
          <a:xfrm>
            <a:off x="10974161" y="3238929"/>
            <a:ext cx="228600" cy="114300"/>
          </a:xfrm>
          <a:prstGeom prst="rect">
            <a:avLst/>
          </a:prstGeom>
          <a:noFill/>
        </p:spPr>
        <p:txBody>
          <a:bodyPr wrap="none" lIns="0" rIns="0" tIns="0" bIns="0">
            <a:spAutoFit/>
          </a:bodyPr>
          <a:lstStyle/>
          <a:p>
            <a:pPr algn="ctr"/>
            <a:r>
              <a:rPr sz="1100" b="0">
                <a:solidFill>
                  <a:srgbClr val="6C7A89"/>
                </a:solidFill>
                <a:latin typeface="Calibri"/>
              </a:rPr>
              <a:t>3</a:t>
            </a:r>
          </a:p>
        </p:txBody>
      </p:sp>
      <p:sp>
        <p:nvSpPr>
          <p:cNvPr id="19" name="TextBox 18"/>
          <p:cNvSpPr txBox="1"/>
          <p:nvPr/>
        </p:nvSpPr>
        <p:spPr>
          <a:xfrm>
            <a:off x="6581775" y="3353229"/>
            <a:ext cx="5257800" cy="114300"/>
          </a:xfrm>
          <a:prstGeom prst="rect">
            <a:avLst/>
          </a:prstGeom>
          <a:noFill/>
        </p:spPr>
        <p:txBody>
          <a:bodyPr wrap="square" lIns="28575" rIns="28575" tIns="9525" bIns="9525">
            <a:spAutoFit/>
          </a:bodyPr>
          <a:lstStyle/>
          <a:p>
            <a:pPr algn="ctr"/>
            <a:r>
              <a:rPr sz="1100" b="0">
                <a:solidFill>
                  <a:srgbClr val="6C7A89"/>
                </a:solidFill>
                <a:latin typeface="Calibri"/>
              </a:rPr>
              <a:t>Win Rate %</a:t>
            </a:r>
          </a:p>
        </p:txBody>
      </p:sp>
      <p:sp>
        <p:nvSpPr>
          <p:cNvPr id="20" name="TextBox 19"/>
          <p:cNvSpPr txBox="1"/>
          <p:nvPr/>
        </p:nvSpPr>
        <p:spPr>
          <a:xfrm rot="16200000">
            <a:off x="6029325" y="2373900"/>
            <a:ext cx="571500" cy="152400"/>
          </a:xfrm>
          <a:prstGeom prst="rect">
            <a:avLst/>
          </a:prstGeom>
          <a:noFill/>
        </p:spPr>
        <p:txBody>
          <a:bodyPr wrap="square" lIns="28575" rIns="28575" tIns="9525" bIns="9525">
            <a:spAutoFit/>
          </a:bodyPr>
          <a:lstStyle/>
          <a:p>
            <a:pPr algn="ctr"/>
            <a:r>
              <a:rPr sz="1100" b="0">
                <a:solidFill>
                  <a:srgbClr val="6C7A89"/>
                </a:solidFill>
                <a:latin typeface="Calibri"/>
              </a:rPr>
              <a:t>ASP vs Peer</a:t>
            </a:r>
          </a:p>
        </p:txBody>
      </p:sp>
      <p:sp>
        <p:nvSpPr>
          <p:cNvPr id="21" name="Oval 20"/>
          <p:cNvSpPr/>
          <p:nvPr/>
        </p:nvSpPr>
        <p:spPr>
          <a:xfrm>
            <a:off x="7359287" y="1979874"/>
            <a:ext cx="247650" cy="247650"/>
          </a:xfrm>
          <a:prstGeom prst="ellipse">
            <a:avLst/>
          </a:prstGeom>
          <a:solidFill>
            <a:srgbClr val="29ABE2"/>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645037" y="2017974"/>
            <a:ext cx="1428750" cy="171450"/>
          </a:xfrm>
          <a:prstGeom prst="rect">
            <a:avLst/>
          </a:prstGeom>
          <a:noFill/>
        </p:spPr>
        <p:txBody>
          <a:bodyPr wrap="square" lIns="28575" rIns="28575" tIns="9525" bIns="9525" anchor="ctr">
            <a:spAutoFit/>
          </a:bodyPr>
          <a:lstStyle/>
          <a:p>
            <a:pPr algn="l"/>
            <a:r>
              <a:rPr sz="1100" b="1">
                <a:solidFill>
                  <a:srgbClr val="2E2E2E"/>
                </a:solidFill>
                <a:latin typeface="Calibri"/>
              </a:rPr>
              <a:t>ESM Technologies, LLC</a:t>
            </a:r>
          </a:p>
        </p:txBody>
      </p:sp>
      <p:sp>
        <p:nvSpPr>
          <p:cNvPr id="23" name="Oval 22"/>
          <p:cNvSpPr/>
          <p:nvPr/>
        </p:nvSpPr>
        <p:spPr>
          <a:xfrm>
            <a:off x="9283609" y="1912810"/>
            <a:ext cx="304800" cy="304800"/>
          </a:xfrm>
          <a:prstGeom prst="ellipse">
            <a:avLst/>
          </a:prstGeom>
          <a:solidFill>
            <a:srgbClr val="8C8C8C"/>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26509" y="1979485"/>
            <a:ext cx="1428750" cy="171450"/>
          </a:xfrm>
          <a:prstGeom prst="rect">
            <a:avLst/>
          </a:prstGeom>
          <a:noFill/>
        </p:spPr>
        <p:txBody>
          <a:bodyPr wrap="square" lIns="28575" rIns="28575" tIns="9525" bIns="9525" anchor="ctr">
            <a:spAutoFit/>
          </a:bodyPr>
          <a:lstStyle/>
          <a:p>
            <a:pPr algn="l"/>
            <a:r>
              <a:rPr sz="1100" b="1">
                <a:solidFill>
                  <a:srgbClr val="2E2E2E"/>
                </a:solidFill>
                <a:latin typeface="Calibri"/>
              </a:rPr>
              <a:t>Industry Avg.</a:t>
            </a:r>
          </a:p>
        </p:txBody>
      </p:sp>
      <p:sp>
        <p:nvSpPr>
          <p:cNvPr id="25" name="Oval 24"/>
          <p:cNvSpPr/>
          <p:nvPr/>
        </p:nvSpPr>
        <p:spPr>
          <a:xfrm>
            <a:off x="10513967" y="2711164"/>
            <a:ext cx="247650" cy="247650"/>
          </a:xfrm>
          <a:prstGeom prst="ellipse">
            <a:avLst/>
          </a:prstGeom>
          <a:solidFill>
            <a:srgbClr val="0E72AE"/>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706100" y="2749264"/>
            <a:ext cx="1428750" cy="171450"/>
          </a:xfrm>
          <a:prstGeom prst="rect">
            <a:avLst/>
          </a:prstGeom>
          <a:noFill/>
        </p:spPr>
        <p:txBody>
          <a:bodyPr wrap="square" lIns="28575" rIns="28575" tIns="9525" bIns="9525" anchor="ctr">
            <a:spAutoFit/>
          </a:bodyPr>
          <a:lstStyle/>
          <a:p>
            <a:pPr algn="l"/>
            <a:r>
              <a:rPr sz="1100" b="1">
                <a:solidFill>
                  <a:srgbClr val="2E2E2E"/>
                </a:solidFill>
                <a:latin typeface="Calibri"/>
              </a:rPr>
              <a:t>Market Leader</a:t>
            </a:r>
          </a:p>
        </p:txBody>
      </p:sp>
      <p:sp>
        <p:nvSpPr>
          <p:cNvPr id="27" name="Rounded Rectangle 26"/>
          <p:cNvSpPr/>
          <p:nvPr/>
        </p:nvSpPr>
        <p:spPr>
          <a:xfrm>
            <a:off x="142875" y="3635794"/>
            <a:ext cx="5905500" cy="1661086"/>
          </a:xfrm>
          <a:prstGeom prst="roundRect">
            <a:avLst>
              <a:gd name="adj" fmla="val 4587"/>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38125" y="3692944"/>
            <a:ext cx="5715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TAM · SAM · SOM (US$ Mn)</a:t>
            </a:r>
          </a:p>
        </p:txBody>
      </p:sp>
      <p:sp>
        <p:nvSpPr>
          <p:cNvPr id="29" name="Rectangle 28"/>
          <p:cNvSpPr/>
          <p:nvPr/>
        </p:nvSpPr>
        <p:spPr>
          <a:xfrm>
            <a:off x="238125" y="3921544"/>
            <a:ext cx="5715000" cy="363195"/>
          </a:xfrm>
          <a:prstGeom prst="rect">
            <a:avLst/>
          </a:prstGeom>
          <a:solidFill>
            <a:srgbClr val="0A2E4D"/>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57150" tIns="19050" bIns="19050"/>
          <a:lstStyle/>
          <a:p>
            <a:pPr algn="l"/>
            <a:r>
              <a:rPr sz="1150" b="1">
                <a:solidFill>
                  <a:srgbClr val="FFFFFF"/>
                </a:solidFill>
                <a:latin typeface="Calibri"/>
              </a:rPr>
              <a:t/>
            </a:r>
          </a:p>
        </p:txBody>
      </p:sp>
      <p:sp>
        <p:nvSpPr>
          <p:cNvPr id="30" name="Rectangle 29"/>
          <p:cNvSpPr/>
          <p:nvPr/>
        </p:nvSpPr>
        <p:spPr>
          <a:xfrm>
            <a:off x="238125" y="4399039"/>
            <a:ext cx="4400550" cy="363195"/>
          </a:xfrm>
          <a:prstGeom prst="rect">
            <a:avLst/>
          </a:prstGeom>
          <a:solidFill>
            <a:srgbClr val="1668A8"/>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57150" tIns="19050" bIns="19050"/>
          <a:lstStyle/>
          <a:p>
            <a:pPr algn="l"/>
            <a:r>
              <a:rPr sz="1150" b="1">
                <a:solidFill>
                  <a:srgbClr val="FFFFFF"/>
                </a:solidFill>
                <a:latin typeface="Calibri"/>
              </a:rPr>
              <a:t/>
            </a:r>
          </a:p>
        </p:txBody>
      </p:sp>
      <p:sp>
        <p:nvSpPr>
          <p:cNvPr id="31" name="Rectangle 30"/>
          <p:cNvSpPr/>
          <p:nvPr/>
        </p:nvSpPr>
        <p:spPr>
          <a:xfrm>
            <a:off x="238125" y="4876535"/>
            <a:ext cx="3086100" cy="363195"/>
          </a:xfrm>
          <a:prstGeom prst="rect">
            <a:avLst/>
          </a:prstGeom>
          <a:solidFill>
            <a:srgbClr val="29ABE2"/>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57150" tIns="19050" bIns="19050"/>
          <a:lstStyle/>
          <a:p>
            <a:pPr algn="l"/>
            <a:r>
              <a:rPr sz="1150" b="1">
                <a:solidFill>
                  <a:srgbClr val="FFFFFF"/>
                </a:solidFill>
                <a:latin typeface="Calibri"/>
              </a:rPr>
              <a:t/>
            </a:r>
          </a:p>
        </p:txBody>
      </p:sp>
      <p:sp>
        <p:nvSpPr>
          <p:cNvPr id="32" name="Rounded Rectangle 31"/>
          <p:cNvSpPr/>
          <p:nvPr/>
        </p:nvSpPr>
        <p:spPr>
          <a:xfrm>
            <a:off x="6162675" y="3635794"/>
            <a:ext cx="5886450" cy="1661086"/>
          </a:xfrm>
          <a:prstGeom prst="roundRect">
            <a:avLst>
              <a:gd name="adj" fmla="val 4587"/>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257925" y="3692944"/>
            <a:ext cx="56959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Go-to-Market Benchmarks (Target vs Actual)</a:t>
            </a:r>
          </a:p>
        </p:txBody>
      </p:sp>
      <p:sp>
        <p:nvSpPr>
          <p:cNvPr id="34" name="Rectangle 33"/>
          <p:cNvSpPr/>
          <p:nvPr/>
        </p:nvSpPr>
        <p:spPr>
          <a:xfrm>
            <a:off x="10391775" y="3940594"/>
            <a:ext cx="95250" cy="95250"/>
          </a:xfrm>
          <a:prstGeom prst="rect">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506075" y="3912019"/>
            <a:ext cx="571500" cy="133350"/>
          </a:xfrm>
          <a:prstGeom prst="rect">
            <a:avLst/>
          </a:prstGeom>
          <a:noFill/>
        </p:spPr>
        <p:txBody>
          <a:bodyPr wrap="square" lIns="28575" rIns="28575" tIns="9525" bIns="9525">
            <a:spAutoFit/>
          </a:bodyPr>
          <a:lstStyle/>
          <a:p>
            <a:pPr algn="l"/>
            <a:r>
              <a:rPr sz="1100" b="0">
                <a:solidFill>
                  <a:srgbClr val="2E2E2E"/>
                </a:solidFill>
                <a:latin typeface="Calibri"/>
              </a:rPr>
              <a:t>Target</a:t>
            </a:r>
          </a:p>
        </p:txBody>
      </p:sp>
      <p:sp>
        <p:nvSpPr>
          <p:cNvPr id="36" name="Rectangle 35"/>
          <p:cNvSpPr/>
          <p:nvPr/>
        </p:nvSpPr>
        <p:spPr>
          <a:xfrm>
            <a:off x="11134725" y="3940594"/>
            <a:ext cx="95250" cy="95250"/>
          </a:xfrm>
          <a:prstGeom prst="rect">
            <a:avLst/>
          </a:prstGeom>
          <a:solidFill>
            <a:srgbClr val="69B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1249025" y="3912019"/>
            <a:ext cx="571500" cy="133350"/>
          </a:xfrm>
          <a:prstGeom prst="rect">
            <a:avLst/>
          </a:prstGeom>
          <a:noFill/>
        </p:spPr>
        <p:txBody>
          <a:bodyPr wrap="square" lIns="28575" rIns="28575" tIns="9525" bIns="9525">
            <a:spAutoFit/>
          </a:bodyPr>
          <a:lstStyle/>
          <a:p>
            <a:pPr algn="l"/>
            <a:r>
              <a:rPr sz="1100" b="0">
                <a:solidFill>
                  <a:srgbClr val="2E2E2E"/>
                </a:solidFill>
                <a:latin typeface="Calibri"/>
              </a:rPr>
              <a:t>Actual</a:t>
            </a:r>
          </a:p>
        </p:txBody>
      </p:sp>
      <p:sp>
        <p:nvSpPr>
          <p:cNvPr id="38" name="TextBox 37"/>
          <p:cNvSpPr txBox="1"/>
          <p:nvPr/>
        </p:nvSpPr>
        <p:spPr>
          <a:xfrm>
            <a:off x="6276975" y="4153941"/>
            <a:ext cx="1066800" cy="228600"/>
          </a:xfrm>
          <a:prstGeom prst="rect">
            <a:avLst/>
          </a:prstGeom>
          <a:noFill/>
        </p:spPr>
        <p:txBody>
          <a:bodyPr wrap="square" lIns="28575" rIns="28575" tIns="9525" bIns="9525" anchor="ctr">
            <a:spAutoFit/>
          </a:bodyPr>
          <a:lstStyle/>
          <a:p>
            <a:pPr algn="l"/>
            <a:r>
              <a:rPr sz="1100" b="0">
                <a:solidFill>
                  <a:srgbClr val="2E2E2E"/>
                </a:solidFill>
                <a:latin typeface="Calibri"/>
              </a:rPr>
              <a:t>Conversion (%)</a:t>
            </a:r>
          </a:p>
        </p:txBody>
      </p:sp>
      <p:sp>
        <p:nvSpPr>
          <p:cNvPr id="39" name="Rectangle 38"/>
          <p:cNvSpPr/>
          <p:nvPr/>
        </p:nvSpPr>
        <p:spPr>
          <a:xfrm>
            <a:off x="7381875" y="4164998"/>
            <a:ext cx="1597914" cy="93719"/>
          </a:xfrm>
          <a:prstGeom prst="rect">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7381875" y="4277766"/>
            <a:ext cx="3018282" cy="93719"/>
          </a:xfrm>
          <a:prstGeom prst="rect">
            <a:avLst/>
          </a:prstGeom>
          <a:solidFill>
            <a:srgbClr val="69B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276975" y="4466337"/>
            <a:ext cx="1066800" cy="228600"/>
          </a:xfrm>
          <a:prstGeom prst="rect">
            <a:avLst/>
          </a:prstGeom>
          <a:noFill/>
        </p:spPr>
        <p:txBody>
          <a:bodyPr wrap="square" lIns="28575" rIns="28575" tIns="9525" bIns="9525" anchor="ctr">
            <a:spAutoFit/>
          </a:bodyPr>
          <a:lstStyle/>
          <a:p>
            <a:pPr algn="l"/>
            <a:r>
              <a:rPr sz="1100" b="0">
                <a:solidFill>
                  <a:srgbClr val="2E2E2E"/>
                </a:solidFill>
                <a:latin typeface="Calibri"/>
              </a:rPr>
              <a:t>Sales Cycle (Days)</a:t>
            </a:r>
          </a:p>
        </p:txBody>
      </p:sp>
      <p:sp>
        <p:nvSpPr>
          <p:cNvPr id="42" name="Rectangle 41"/>
          <p:cNvSpPr/>
          <p:nvPr/>
        </p:nvSpPr>
        <p:spPr>
          <a:xfrm>
            <a:off x="7381875" y="4477393"/>
            <a:ext cx="3817239" cy="93719"/>
          </a:xfrm>
          <a:prstGeom prst="rect">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7381875" y="4590162"/>
            <a:ext cx="2219325" cy="93719"/>
          </a:xfrm>
          <a:prstGeom prst="rect">
            <a:avLst/>
          </a:prstGeom>
          <a:solidFill>
            <a:srgbClr val="69B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276975" y="4778732"/>
            <a:ext cx="1066800" cy="228600"/>
          </a:xfrm>
          <a:prstGeom prst="rect">
            <a:avLst/>
          </a:prstGeom>
          <a:noFill/>
        </p:spPr>
        <p:txBody>
          <a:bodyPr wrap="square" lIns="28575" rIns="28575" tIns="9525" bIns="9525" anchor="ctr">
            <a:spAutoFit/>
          </a:bodyPr>
          <a:lstStyle/>
          <a:p>
            <a:pPr algn="l"/>
            <a:r>
              <a:rPr sz="1100" b="0">
                <a:solidFill>
                  <a:srgbClr val="2E2E2E"/>
                </a:solidFill>
                <a:latin typeface="Calibri"/>
              </a:rPr>
              <a:t>Pipeline Coverage</a:t>
            </a:r>
          </a:p>
        </p:txBody>
      </p:sp>
      <p:sp>
        <p:nvSpPr>
          <p:cNvPr id="45" name="Rectangle 44"/>
          <p:cNvSpPr/>
          <p:nvPr/>
        </p:nvSpPr>
        <p:spPr>
          <a:xfrm>
            <a:off x="7381875" y="4789789"/>
            <a:ext cx="2130552" cy="93719"/>
          </a:xfrm>
          <a:prstGeom prst="rect">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7381875" y="4902557"/>
            <a:ext cx="3906012" cy="93719"/>
          </a:xfrm>
          <a:prstGeom prst="rect">
            <a:avLst/>
          </a:prstGeom>
          <a:solidFill>
            <a:srgbClr val="69B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ounded Rectangle 46"/>
          <p:cNvSpPr/>
          <p:nvPr/>
        </p:nvSpPr>
        <p:spPr>
          <a:xfrm>
            <a:off x="142875" y="5369895"/>
            <a:ext cx="11906250" cy="1259505"/>
          </a:xfrm>
          <a:prstGeom prst="roundRect">
            <a:avLst>
              <a:gd name="adj" fmla="val 604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276225" y="5455620"/>
            <a:ext cx="11639550" cy="209550"/>
          </a:xfrm>
          <a:prstGeom prst="rect">
            <a:avLst/>
          </a:prstGeom>
          <a:noFill/>
        </p:spPr>
        <p:txBody>
          <a:bodyPr wrap="square" lIns="0" rIns="19050" tIns="9525" bIns="9525">
            <a:spAutoFit/>
          </a:bodyPr>
          <a:lstStyle/>
          <a:p>
            <a:pPr algn="l"/>
            <a:r>
              <a:rPr sz="1300" b="1">
                <a:solidFill>
                  <a:srgbClr val="0E2A5C"/>
                </a:solidFill>
                <a:latin typeface="Calibri"/>
              </a:rPr>
              <a:t>Key Takeaways</a:t>
            </a:r>
          </a:p>
        </p:txBody>
      </p:sp>
      <p:sp>
        <p:nvSpPr>
          <p:cNvPr id="49" name="Rectangle 48"/>
          <p:cNvSpPr/>
          <p:nvPr/>
        </p:nvSpPr>
        <p:spPr>
          <a:xfrm>
            <a:off x="276225" y="5693745"/>
            <a:ext cx="116395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276225" y="5779470"/>
            <a:ext cx="11639550" cy="77373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00" b="0">
                <a:solidFill>
                  <a:srgbClr val="2E2E2E"/>
                </a:solidFill>
                <a:latin typeface="Calibri"/>
              </a:rPr>
              <a:t/>
            </a:r>
          </a:p>
        </p:txBody>
      </p:sp>
      <p:sp>
        <p:nvSpPr>
          <p:cNvPr id="51" name="Rectangle 50"/>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53" name="Picture 52" descr="lock.png"/>
          <p:cNvPicPr>
            <a:picLocks noChangeAspect="1"/>
          </p:cNvPicPr>
          <p:nvPr/>
        </p:nvPicPr>
        <p:blipFill>
          <a:blip r:embed="rId5"/>
          <a:stretch>
            <a:fillRect/>
          </a:stretch>
        </p:blipFill>
        <p:spPr>
          <a:xfrm>
            <a:off x="3327425" y="2314517"/>
            <a:ext cx="199521" cy="290213"/>
          </a:xfrm>
          <a:prstGeom prst="rect">
            <a:avLst/>
          </a:prstGeom>
        </p:spPr>
      </p:pic>
      <p:sp>
        <p:nvSpPr>
          <p:cNvPr id="54" name="TextBox 53"/>
          <p:cNvSpPr txBox="1"/>
          <p:nvPr/>
        </p:nvSpPr>
        <p:spPr>
          <a:xfrm>
            <a:off x="352425" y="4015511"/>
            <a:ext cx="871202" cy="194310"/>
          </a:xfrm>
          <a:prstGeom prst="rect">
            <a:avLst/>
          </a:prstGeom>
          <a:noFill/>
        </p:spPr>
        <p:txBody>
          <a:bodyPr wrap="none" lIns="0" rIns="0" tIns="0" bIns="0">
            <a:spAutoFit/>
          </a:bodyPr>
          <a:lstStyle/>
          <a:p>
            <a:r>
              <a:rPr sz="1150" b="1">
                <a:solidFill>
                  <a:srgbClr val="FFFFFF"/>
                </a:solidFill>
                <a:latin typeface="Calibri"/>
              </a:rPr>
              <a:t>TAM · 100% ·</a:t>
            </a:r>
          </a:p>
        </p:txBody>
      </p:sp>
      <p:pic>
        <p:nvPicPr>
          <p:cNvPr id="55" name="Picture 54" descr="lock.png"/>
          <p:cNvPicPr>
            <a:picLocks noChangeAspect="1"/>
          </p:cNvPicPr>
          <p:nvPr/>
        </p:nvPicPr>
        <p:blipFill>
          <a:blip r:embed="rId5"/>
          <a:stretch>
            <a:fillRect/>
          </a:stretch>
        </p:blipFill>
        <p:spPr>
          <a:xfrm>
            <a:off x="1172781" y="4005288"/>
            <a:ext cx="134549" cy="195707"/>
          </a:xfrm>
          <a:prstGeom prst="rect">
            <a:avLst/>
          </a:prstGeom>
        </p:spPr>
      </p:pic>
      <p:sp>
        <p:nvSpPr>
          <p:cNvPr id="56" name="TextBox 55"/>
          <p:cNvSpPr txBox="1"/>
          <p:nvPr/>
        </p:nvSpPr>
        <p:spPr>
          <a:xfrm>
            <a:off x="1347890" y="4015511"/>
            <a:ext cx="554000" cy="194310"/>
          </a:xfrm>
          <a:prstGeom prst="rect">
            <a:avLst/>
          </a:prstGeom>
          <a:noFill/>
        </p:spPr>
        <p:txBody>
          <a:bodyPr wrap="none" lIns="0" rIns="0" tIns="0" bIns="0">
            <a:spAutoFit/>
          </a:bodyPr>
          <a:lstStyle/>
          <a:p>
            <a:r>
              <a:rPr sz="1150" b="1">
                <a:solidFill>
                  <a:srgbClr val="FFFFFF"/>
                </a:solidFill>
                <a:latin typeface="Calibri"/>
              </a:rPr>
              <a:t>US$ Mn</a:t>
            </a:r>
          </a:p>
        </p:txBody>
      </p:sp>
      <p:sp>
        <p:nvSpPr>
          <p:cNvPr id="57" name="TextBox 56"/>
          <p:cNvSpPr txBox="1"/>
          <p:nvPr/>
        </p:nvSpPr>
        <p:spPr>
          <a:xfrm>
            <a:off x="352425" y="4493006"/>
            <a:ext cx="433623" cy="194310"/>
          </a:xfrm>
          <a:prstGeom prst="rect">
            <a:avLst/>
          </a:prstGeom>
          <a:noFill/>
        </p:spPr>
        <p:txBody>
          <a:bodyPr wrap="none" lIns="0" rIns="0" tIns="0" bIns="0">
            <a:spAutoFit/>
          </a:bodyPr>
          <a:lstStyle/>
          <a:p>
            <a:r>
              <a:rPr sz="1150" b="1">
                <a:solidFill>
                  <a:srgbClr val="FFFFFF"/>
                </a:solidFill>
                <a:latin typeface="Calibri"/>
              </a:rPr>
              <a:t>SAM ·</a:t>
            </a:r>
          </a:p>
        </p:txBody>
      </p:sp>
      <p:pic>
        <p:nvPicPr>
          <p:cNvPr id="58" name="Picture 57" descr="lock.png"/>
          <p:cNvPicPr>
            <a:picLocks noChangeAspect="1"/>
          </p:cNvPicPr>
          <p:nvPr/>
        </p:nvPicPr>
        <p:blipFill>
          <a:blip r:embed="rId5"/>
          <a:stretch>
            <a:fillRect/>
          </a:stretch>
        </p:blipFill>
        <p:spPr>
          <a:xfrm>
            <a:off x="735202" y="4482783"/>
            <a:ext cx="134549" cy="195707"/>
          </a:xfrm>
          <a:prstGeom prst="rect">
            <a:avLst/>
          </a:prstGeom>
        </p:spPr>
      </p:pic>
      <p:sp>
        <p:nvSpPr>
          <p:cNvPr id="59" name="TextBox 58"/>
          <p:cNvSpPr txBox="1"/>
          <p:nvPr/>
        </p:nvSpPr>
        <p:spPr>
          <a:xfrm>
            <a:off x="910311" y="4493006"/>
            <a:ext cx="594791" cy="194310"/>
          </a:xfrm>
          <a:prstGeom prst="rect">
            <a:avLst/>
          </a:prstGeom>
          <a:noFill/>
        </p:spPr>
        <p:txBody>
          <a:bodyPr wrap="none" lIns="0" rIns="0" tIns="0" bIns="0">
            <a:spAutoFit/>
          </a:bodyPr>
          <a:lstStyle/>
          <a:p>
            <a:r>
              <a:rPr sz="1150" b="1">
                <a:solidFill>
                  <a:srgbClr val="FFFFFF"/>
                </a:solidFill>
                <a:latin typeface="Calibri"/>
              </a:rPr>
              <a:t>of TAM ·</a:t>
            </a:r>
          </a:p>
        </p:txBody>
      </p:sp>
      <p:pic>
        <p:nvPicPr>
          <p:cNvPr id="60" name="Picture 59" descr="lock.png"/>
          <p:cNvPicPr>
            <a:picLocks noChangeAspect="1"/>
          </p:cNvPicPr>
          <p:nvPr/>
        </p:nvPicPr>
        <p:blipFill>
          <a:blip r:embed="rId5"/>
          <a:stretch>
            <a:fillRect/>
          </a:stretch>
        </p:blipFill>
        <p:spPr>
          <a:xfrm>
            <a:off x="1454256" y="4482783"/>
            <a:ext cx="134549" cy="195707"/>
          </a:xfrm>
          <a:prstGeom prst="rect">
            <a:avLst/>
          </a:prstGeom>
        </p:spPr>
      </p:pic>
      <p:sp>
        <p:nvSpPr>
          <p:cNvPr id="61" name="TextBox 60"/>
          <p:cNvSpPr txBox="1"/>
          <p:nvPr/>
        </p:nvSpPr>
        <p:spPr>
          <a:xfrm>
            <a:off x="1629366" y="4493006"/>
            <a:ext cx="554000" cy="194310"/>
          </a:xfrm>
          <a:prstGeom prst="rect">
            <a:avLst/>
          </a:prstGeom>
          <a:noFill/>
        </p:spPr>
        <p:txBody>
          <a:bodyPr wrap="none" lIns="0" rIns="0" tIns="0" bIns="0">
            <a:spAutoFit/>
          </a:bodyPr>
          <a:lstStyle/>
          <a:p>
            <a:r>
              <a:rPr sz="1150" b="1">
                <a:solidFill>
                  <a:srgbClr val="FFFFFF"/>
                </a:solidFill>
                <a:latin typeface="Calibri"/>
              </a:rPr>
              <a:t>US$ Mn</a:t>
            </a:r>
          </a:p>
        </p:txBody>
      </p:sp>
      <p:sp>
        <p:nvSpPr>
          <p:cNvPr id="62" name="TextBox 61"/>
          <p:cNvSpPr txBox="1"/>
          <p:nvPr/>
        </p:nvSpPr>
        <p:spPr>
          <a:xfrm>
            <a:off x="352425" y="4970502"/>
            <a:ext cx="443892" cy="194310"/>
          </a:xfrm>
          <a:prstGeom prst="rect">
            <a:avLst/>
          </a:prstGeom>
          <a:noFill/>
        </p:spPr>
        <p:txBody>
          <a:bodyPr wrap="none" lIns="0" rIns="0" tIns="0" bIns="0">
            <a:spAutoFit/>
          </a:bodyPr>
          <a:lstStyle/>
          <a:p>
            <a:r>
              <a:rPr sz="1150" b="1">
                <a:solidFill>
                  <a:srgbClr val="FFFFFF"/>
                </a:solidFill>
                <a:latin typeface="Calibri"/>
              </a:rPr>
              <a:t>SOM ·</a:t>
            </a:r>
          </a:p>
        </p:txBody>
      </p:sp>
      <p:pic>
        <p:nvPicPr>
          <p:cNvPr id="63" name="Picture 62" descr="lock.png"/>
          <p:cNvPicPr>
            <a:picLocks noChangeAspect="1"/>
          </p:cNvPicPr>
          <p:nvPr/>
        </p:nvPicPr>
        <p:blipFill>
          <a:blip r:embed="rId5"/>
          <a:stretch>
            <a:fillRect/>
          </a:stretch>
        </p:blipFill>
        <p:spPr>
          <a:xfrm>
            <a:off x="745471" y="4960279"/>
            <a:ext cx="134549" cy="195707"/>
          </a:xfrm>
          <a:prstGeom prst="rect">
            <a:avLst/>
          </a:prstGeom>
        </p:spPr>
      </p:pic>
      <p:sp>
        <p:nvSpPr>
          <p:cNvPr id="64" name="TextBox 63"/>
          <p:cNvSpPr txBox="1"/>
          <p:nvPr/>
        </p:nvSpPr>
        <p:spPr>
          <a:xfrm>
            <a:off x="920580" y="4970502"/>
            <a:ext cx="591368" cy="194310"/>
          </a:xfrm>
          <a:prstGeom prst="rect">
            <a:avLst/>
          </a:prstGeom>
          <a:noFill/>
        </p:spPr>
        <p:txBody>
          <a:bodyPr wrap="none" lIns="0" rIns="0" tIns="0" bIns="0">
            <a:spAutoFit/>
          </a:bodyPr>
          <a:lstStyle/>
          <a:p>
            <a:r>
              <a:rPr sz="1150" b="1">
                <a:solidFill>
                  <a:srgbClr val="FFFFFF"/>
                </a:solidFill>
                <a:latin typeface="Calibri"/>
              </a:rPr>
              <a:t>of SAM ·</a:t>
            </a:r>
          </a:p>
        </p:txBody>
      </p:sp>
      <p:pic>
        <p:nvPicPr>
          <p:cNvPr id="65" name="Picture 64" descr="lock.png"/>
          <p:cNvPicPr>
            <a:picLocks noChangeAspect="1"/>
          </p:cNvPicPr>
          <p:nvPr/>
        </p:nvPicPr>
        <p:blipFill>
          <a:blip r:embed="rId5"/>
          <a:stretch>
            <a:fillRect/>
          </a:stretch>
        </p:blipFill>
        <p:spPr>
          <a:xfrm>
            <a:off x="1461102" y="4960279"/>
            <a:ext cx="134549" cy="195707"/>
          </a:xfrm>
          <a:prstGeom prst="rect">
            <a:avLst/>
          </a:prstGeom>
        </p:spPr>
      </p:pic>
      <p:sp>
        <p:nvSpPr>
          <p:cNvPr id="66" name="TextBox 65"/>
          <p:cNvSpPr txBox="1"/>
          <p:nvPr/>
        </p:nvSpPr>
        <p:spPr>
          <a:xfrm>
            <a:off x="1636212" y="4970502"/>
            <a:ext cx="554000" cy="194310"/>
          </a:xfrm>
          <a:prstGeom prst="rect">
            <a:avLst/>
          </a:prstGeom>
          <a:noFill/>
        </p:spPr>
        <p:txBody>
          <a:bodyPr wrap="none" lIns="0" rIns="0" tIns="0" bIns="0">
            <a:spAutoFit/>
          </a:bodyPr>
          <a:lstStyle/>
          <a:p>
            <a:r>
              <a:rPr sz="1150" b="1">
                <a:solidFill>
                  <a:srgbClr val="FFFFFF"/>
                </a:solidFill>
                <a:latin typeface="Calibri"/>
              </a:rPr>
              <a:t>US$ Mn</a:t>
            </a:r>
          </a:p>
        </p:txBody>
      </p:sp>
      <p:sp>
        <p:nvSpPr>
          <p:cNvPr id="67" name="TextBox 66"/>
          <p:cNvSpPr txBox="1"/>
          <p:nvPr/>
        </p:nvSpPr>
        <p:spPr>
          <a:xfrm>
            <a:off x="276225" y="5788995"/>
            <a:ext cx="7663656" cy="186689"/>
          </a:xfrm>
          <a:prstGeom prst="rect">
            <a:avLst/>
          </a:prstGeom>
          <a:noFill/>
        </p:spPr>
        <p:txBody>
          <a:bodyPr wrap="none" lIns="0" rIns="0" tIns="0" bIns="0">
            <a:spAutoFit/>
          </a:bodyPr>
          <a:lstStyle/>
          <a:p>
            <a:r>
              <a:rPr sz="1100" b="0">
                <a:solidFill>
                  <a:srgbClr val="2E2E2E"/>
                </a:solidFill>
                <a:latin typeface="Calibri"/>
              </a:rPr>
              <a:t>▪ Regional Opportunity: 'Rest of the World' shows the highest SAM penetration; lower-penetration regions are the growth headroom.</a:t>
            </a:r>
          </a:p>
        </p:txBody>
      </p:sp>
      <p:sp>
        <p:nvSpPr>
          <p:cNvPr id="68" name="TextBox 67"/>
          <p:cNvSpPr txBox="1"/>
          <p:nvPr/>
        </p:nvSpPr>
        <p:spPr>
          <a:xfrm>
            <a:off x="276225" y="6006927"/>
            <a:ext cx="1297999" cy="186689"/>
          </a:xfrm>
          <a:prstGeom prst="rect">
            <a:avLst/>
          </a:prstGeom>
          <a:noFill/>
        </p:spPr>
        <p:txBody>
          <a:bodyPr wrap="none" lIns="0" rIns="0" tIns="0" bIns="0">
            <a:spAutoFit/>
          </a:bodyPr>
          <a:lstStyle/>
          <a:p>
            <a:r>
              <a:rPr sz="1100" b="0">
                <a:solidFill>
                  <a:srgbClr val="2E2E2E"/>
                </a:solidFill>
                <a:latin typeface="Calibri"/>
              </a:rPr>
              <a:t>▪ Competitive Edge: ~</a:t>
            </a:r>
          </a:p>
        </p:txBody>
      </p:sp>
      <p:pic>
        <p:nvPicPr>
          <p:cNvPr id="69" name="Picture 68" descr="lock.png"/>
          <p:cNvPicPr>
            <a:picLocks noChangeAspect="1"/>
          </p:cNvPicPr>
          <p:nvPr/>
        </p:nvPicPr>
        <p:blipFill>
          <a:blip r:embed="rId5"/>
          <a:stretch>
            <a:fillRect/>
          </a:stretch>
        </p:blipFill>
        <p:spPr>
          <a:xfrm>
            <a:off x="1522276" y="5997147"/>
            <a:ext cx="128699" cy="187198"/>
          </a:xfrm>
          <a:prstGeom prst="rect">
            <a:avLst/>
          </a:prstGeom>
        </p:spPr>
      </p:pic>
      <p:sp>
        <p:nvSpPr>
          <p:cNvPr id="70" name="TextBox 69"/>
          <p:cNvSpPr txBox="1"/>
          <p:nvPr/>
        </p:nvSpPr>
        <p:spPr>
          <a:xfrm>
            <a:off x="1689771" y="6006927"/>
            <a:ext cx="1029270" cy="186689"/>
          </a:xfrm>
          <a:prstGeom prst="rect">
            <a:avLst/>
          </a:prstGeom>
          <a:noFill/>
        </p:spPr>
        <p:txBody>
          <a:bodyPr wrap="none" lIns="0" rIns="0" tIns="0" bIns="0">
            <a:spAutoFit/>
          </a:bodyPr>
          <a:lstStyle/>
          <a:p>
            <a:r>
              <a:rPr sz="1100" b="0">
                <a:solidFill>
                  <a:srgbClr val="2E2E2E"/>
                </a:solidFill>
                <a:latin typeface="Calibri"/>
              </a:rPr>
              <a:t>win rate with a +</a:t>
            </a:r>
          </a:p>
        </p:txBody>
      </p:sp>
      <p:pic>
        <p:nvPicPr>
          <p:cNvPr id="71" name="Picture 70" descr="lock.png"/>
          <p:cNvPicPr>
            <a:picLocks noChangeAspect="1"/>
          </p:cNvPicPr>
          <p:nvPr/>
        </p:nvPicPr>
        <p:blipFill>
          <a:blip r:embed="rId5"/>
          <a:stretch>
            <a:fillRect/>
          </a:stretch>
        </p:blipFill>
        <p:spPr>
          <a:xfrm>
            <a:off x="2667093" y="5997147"/>
            <a:ext cx="128699" cy="187198"/>
          </a:xfrm>
          <a:prstGeom prst="rect">
            <a:avLst/>
          </a:prstGeom>
        </p:spPr>
      </p:pic>
      <p:sp>
        <p:nvSpPr>
          <p:cNvPr id="72" name="TextBox 71"/>
          <p:cNvSpPr txBox="1"/>
          <p:nvPr/>
        </p:nvSpPr>
        <p:spPr>
          <a:xfrm>
            <a:off x="2834589" y="6006927"/>
            <a:ext cx="2311400" cy="186689"/>
          </a:xfrm>
          <a:prstGeom prst="rect">
            <a:avLst/>
          </a:prstGeom>
          <a:noFill/>
        </p:spPr>
        <p:txBody>
          <a:bodyPr wrap="none" lIns="0" rIns="0" tIns="0" bIns="0">
            <a:spAutoFit/>
          </a:bodyPr>
          <a:lstStyle/>
          <a:p>
            <a:r>
              <a:rPr sz="1100" b="0">
                <a:solidFill>
                  <a:srgbClr val="2E2E2E"/>
                </a:solidFill>
                <a:latin typeface="Calibri"/>
              </a:rPr>
              <a:t>ASP premium signals value recognition;</a:t>
            </a:r>
          </a:p>
        </p:txBody>
      </p:sp>
      <p:pic>
        <p:nvPicPr>
          <p:cNvPr id="73" name="Picture 72" descr="lock.png"/>
          <p:cNvPicPr>
            <a:picLocks noChangeAspect="1"/>
          </p:cNvPicPr>
          <p:nvPr/>
        </p:nvPicPr>
        <p:blipFill>
          <a:blip r:embed="rId5"/>
          <a:stretch>
            <a:fillRect/>
          </a:stretch>
        </p:blipFill>
        <p:spPr>
          <a:xfrm>
            <a:off x="5094041" y="5997147"/>
            <a:ext cx="128699" cy="187198"/>
          </a:xfrm>
          <a:prstGeom prst="rect">
            <a:avLst/>
          </a:prstGeom>
        </p:spPr>
      </p:pic>
      <p:sp>
        <p:nvSpPr>
          <p:cNvPr id="74" name="TextBox 73"/>
          <p:cNvSpPr txBox="1"/>
          <p:nvPr/>
        </p:nvSpPr>
        <p:spPr>
          <a:xfrm>
            <a:off x="5261537" y="6006927"/>
            <a:ext cx="2251645" cy="186689"/>
          </a:xfrm>
          <a:prstGeom prst="rect">
            <a:avLst/>
          </a:prstGeom>
          <a:noFill/>
        </p:spPr>
        <p:txBody>
          <a:bodyPr wrap="none" lIns="0" rIns="0" tIns="0" bIns="0">
            <a:spAutoFit/>
          </a:bodyPr>
          <a:lstStyle/>
          <a:p>
            <a:r>
              <a:rPr sz="1100" b="0">
                <a:solidFill>
                  <a:srgbClr val="2E2E2E"/>
                </a:solidFill>
                <a:latin typeface="Calibri"/>
              </a:rPr>
              <a:t>x pipeline coverage underpins growth.</a:t>
            </a:r>
          </a:p>
        </p:txBody>
      </p:sp>
      <p:sp>
        <p:nvSpPr>
          <p:cNvPr id="75" name="TextBox 74"/>
          <p:cNvSpPr txBox="1"/>
          <p:nvPr/>
        </p:nvSpPr>
        <p:spPr>
          <a:xfrm>
            <a:off x="276225" y="6224859"/>
            <a:ext cx="2615015" cy="186689"/>
          </a:xfrm>
          <a:prstGeom prst="rect">
            <a:avLst/>
          </a:prstGeom>
          <a:noFill/>
        </p:spPr>
        <p:txBody>
          <a:bodyPr wrap="none" lIns="0" rIns="0" tIns="0" bIns="0">
            <a:spAutoFit/>
          </a:bodyPr>
          <a:lstStyle/>
          <a:p>
            <a:r>
              <a:rPr sz="1100" b="0">
                <a:solidFill>
                  <a:srgbClr val="2E2E2E"/>
                </a:solidFill>
                <a:latin typeface="Calibri"/>
              </a:rPr>
              <a:t>▪ Sales Efficiency: a ~95-day sales cycle and ~</a:t>
            </a:r>
          </a:p>
        </p:txBody>
      </p:sp>
      <p:pic>
        <p:nvPicPr>
          <p:cNvPr id="76" name="Picture 75" descr="lock.png"/>
          <p:cNvPicPr>
            <a:picLocks noChangeAspect="1"/>
          </p:cNvPicPr>
          <p:nvPr/>
        </p:nvPicPr>
        <p:blipFill>
          <a:blip r:embed="rId5"/>
          <a:stretch>
            <a:fillRect/>
          </a:stretch>
        </p:blipFill>
        <p:spPr>
          <a:xfrm>
            <a:off x="2839292" y="6215079"/>
            <a:ext cx="128699" cy="187198"/>
          </a:xfrm>
          <a:prstGeom prst="rect">
            <a:avLst/>
          </a:prstGeom>
        </p:spPr>
      </p:pic>
      <p:sp>
        <p:nvSpPr>
          <p:cNvPr id="77" name="TextBox 76"/>
          <p:cNvSpPr txBox="1"/>
          <p:nvPr/>
        </p:nvSpPr>
        <p:spPr>
          <a:xfrm>
            <a:off x="3006787" y="6224859"/>
            <a:ext cx="2384524" cy="186689"/>
          </a:xfrm>
          <a:prstGeom prst="rect">
            <a:avLst/>
          </a:prstGeom>
          <a:noFill/>
        </p:spPr>
        <p:txBody>
          <a:bodyPr wrap="none" lIns="0" rIns="0" tIns="0" bIns="0">
            <a:spAutoFit/>
          </a:bodyPr>
          <a:lstStyle/>
          <a:p>
            <a:r>
              <a:rPr sz="1100" b="0">
                <a:solidFill>
                  <a:srgbClr val="2E2E2E"/>
                </a:solidFill>
                <a:latin typeface="Calibri"/>
              </a:rPr>
              <a:t>conversion support faster share capture.</a:t>
            </a:r>
          </a:p>
        </p:txBody>
      </p:sp>
      <p:sp>
        <p:nvSpPr>
          <p:cNvPr id="78" name="lockshield_10"/>
          <p:cNvSpPr/>
          <p:nvPr/>
        </p:nvSpPr>
        <p:spPr>
          <a:xfrm>
            <a:off x="238125" y="1585070"/>
            <a:ext cx="5715000" cy="1920559"/>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ESM Technologies, LLC SWOT Analysis (3/5)</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SWOT assessment of ESM Technologies, LLC: strengths, weaknesses, opportunities and threats shaping its competitive position</a:t>
            </a:r>
          </a:p>
        </p:txBody>
      </p:sp>
      <p:sp>
        <p:nvSpPr>
          <p:cNvPr id="7" name="TextBox 6"/>
          <p:cNvSpPr txBox="1"/>
          <p:nvPr/>
        </p:nvSpPr>
        <p:spPr>
          <a:xfrm>
            <a:off x="142875" y="1007261"/>
            <a:ext cx="11906250" cy="164283"/>
          </a:xfrm>
          <a:prstGeom prst="rect">
            <a:avLst/>
          </a:prstGeom>
          <a:noFill/>
        </p:spPr>
        <p:txBody>
          <a:bodyPr wrap="square" lIns="28575" rIns="28575" tIns="9525" bIns="9525" anchor="ctr">
            <a:spAutoFit/>
          </a:bodyPr>
          <a:lstStyle/>
          <a:p>
            <a:pPr algn="l"/>
            <a:r>
              <a:rPr sz="1150" b="0">
                <a:solidFill>
                  <a:srgbClr val="2E2E2E"/>
                </a:solidFill>
                <a:latin typeface="Calibri"/>
              </a:rPr>
              <a:t>SWOT assessment ESM Technologies, LLC: strengths, weaknesses, opportunities and threats (indicative).</a:t>
            </a:r>
          </a:p>
        </p:txBody>
      </p:sp>
      <p:cxnSp>
        <p:nvCxnSpPr>
          <p:cNvPr id="8" name="Connector 7"/>
          <p:cNvCxnSpPr/>
          <p:nvPr/>
        </p:nvCxnSpPr>
        <p:spPr>
          <a:xfrm>
            <a:off x="3810000" y="3891345"/>
            <a:ext cx="4572000" cy="0"/>
          </a:xfrm>
          <a:prstGeom prst="line">
            <a:avLst/>
          </a:prstGeom>
          <a:ln w="17780">
            <a:solidFill>
              <a:srgbClr val="B9C4CE"/>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096000" y="1919946"/>
            <a:ext cx="0" cy="3942799"/>
          </a:xfrm>
          <a:prstGeom prst="line">
            <a:avLst/>
          </a:prstGeom>
          <a:ln w="17780">
            <a:solidFill>
              <a:srgbClr val="B9C4CE"/>
            </a:solidFill>
          </a:ln>
          <a:effectLst/>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3757612" y="3841147"/>
            <a:ext cx="104775" cy="100395"/>
          </a:xfrm>
          <a:prstGeom prst="ellipse">
            <a:avLst/>
          </a:prstGeom>
          <a:solidFill>
            <a:srgbClr val="B9C4CE"/>
          </a:solidFill>
          <a:ln w="12700">
            <a:solidFill>
              <a:srgbClr val="B9C4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8329612" y="3841147"/>
            <a:ext cx="104775" cy="100395"/>
          </a:xfrm>
          <a:prstGeom prst="ellipse">
            <a:avLst/>
          </a:prstGeom>
          <a:solidFill>
            <a:srgbClr val="B9C4CE"/>
          </a:solidFill>
          <a:ln w="12700">
            <a:solidFill>
              <a:srgbClr val="B9C4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043612" y="1869748"/>
            <a:ext cx="104775" cy="100395"/>
          </a:xfrm>
          <a:prstGeom prst="ellipse">
            <a:avLst/>
          </a:prstGeom>
          <a:solidFill>
            <a:srgbClr val="B9C4CE"/>
          </a:solidFill>
          <a:ln w="12700">
            <a:solidFill>
              <a:srgbClr val="B9C4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043612" y="5812547"/>
            <a:ext cx="104775" cy="100395"/>
          </a:xfrm>
          <a:prstGeom prst="ellipse">
            <a:avLst/>
          </a:prstGeom>
          <a:solidFill>
            <a:srgbClr val="B9C4CE"/>
          </a:solidFill>
          <a:ln w="12700">
            <a:solidFill>
              <a:srgbClr val="B9C4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724400" y="2577079"/>
            <a:ext cx="1257300" cy="1204744"/>
          </a:xfrm>
          <a:prstGeom prst="roundRect">
            <a:avLst>
              <a:gd name="adj" fmla="val 12121"/>
            </a:avLst>
          </a:prstGeom>
          <a:noFill/>
          <a:ln w="19050">
            <a:solidFill>
              <a:srgbClr val="69B1E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10300" y="2577079"/>
            <a:ext cx="1257300" cy="1204744"/>
          </a:xfrm>
          <a:prstGeom prst="roundRect">
            <a:avLst>
              <a:gd name="adj" fmla="val 12121"/>
            </a:avLst>
          </a:prstGeom>
          <a:noFill/>
          <a:ln w="19050">
            <a:solidFill>
              <a:srgbClr val="0B2E4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724400" y="4000868"/>
            <a:ext cx="1257300" cy="1204744"/>
          </a:xfrm>
          <a:prstGeom prst="roundRect">
            <a:avLst>
              <a:gd name="adj" fmla="val 12121"/>
            </a:avLst>
          </a:prstGeom>
          <a:noFill/>
          <a:ln w="19050">
            <a:solidFill>
              <a:srgbClr val="A35313"/>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10300" y="4000868"/>
            <a:ext cx="1257300" cy="1204744"/>
          </a:xfrm>
          <a:prstGeom prst="roundRect">
            <a:avLst>
              <a:gd name="adj" fmla="val 12121"/>
            </a:avLst>
          </a:prstGeom>
          <a:noFill/>
          <a:ln w="19050">
            <a:solidFill>
              <a:srgbClr val="A86F0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Freeform 17"/>
          <p:cNvSpPr/>
          <p:nvPr/>
        </p:nvSpPr>
        <p:spPr>
          <a:xfrm>
            <a:off x="5524500" y="2978660"/>
            <a:ext cx="1143000" cy="803163"/>
          </a:xfrm>
          <a:custGeom>
            <a:avLst/>
            <a:gdLst/>
            <a:ahLst/>
            <a:cxnLst/>
            <a:rect l="l" t="t" r="r" b="b"/>
            <a:pathLst>
              <a:path w="120" h="88">
                <a:moveTo>
                  <a:pt x="0" y="0"/>
                </a:moveTo>
                <a:lnTo>
                  <a:pt x="120" y="0"/>
                </a:lnTo>
                <a:lnTo>
                  <a:pt x="60" y="88"/>
                </a:lnTo>
                <a:close/>
              </a:path>
            </a:pathLst>
          </a:custGeom>
          <a:solidFill>
            <a:srgbClr val="69B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Freeform 18"/>
          <p:cNvSpPr/>
          <p:nvPr/>
        </p:nvSpPr>
        <p:spPr>
          <a:xfrm>
            <a:off x="5524500" y="4000868"/>
            <a:ext cx="1143000" cy="803163"/>
          </a:xfrm>
          <a:custGeom>
            <a:avLst/>
            <a:gdLst/>
            <a:ahLst/>
            <a:cxnLst/>
            <a:rect l="l" t="t" r="r" b="b"/>
            <a:pathLst>
              <a:path w="120" h="88">
                <a:moveTo>
                  <a:pt x="0" y="88"/>
                </a:moveTo>
                <a:lnTo>
                  <a:pt x="120" y="88"/>
                </a:lnTo>
                <a:lnTo>
                  <a:pt x="60" y="0"/>
                </a:lnTo>
                <a:close/>
              </a:path>
            </a:pathLst>
          </a:cu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Freeform 19"/>
          <p:cNvSpPr/>
          <p:nvPr/>
        </p:nvSpPr>
        <p:spPr>
          <a:xfrm>
            <a:off x="5143500" y="3343734"/>
            <a:ext cx="838200" cy="1095222"/>
          </a:xfrm>
          <a:custGeom>
            <a:avLst/>
            <a:gdLst/>
            <a:ahLst/>
            <a:cxnLst/>
            <a:rect l="l" t="t" r="r" b="b"/>
            <a:pathLst>
              <a:path w="88" h="120">
                <a:moveTo>
                  <a:pt x="0" y="0"/>
                </a:moveTo>
                <a:lnTo>
                  <a:pt x="0" y="120"/>
                </a:lnTo>
                <a:lnTo>
                  <a:pt x="88" y="60"/>
                </a:lnTo>
                <a:close/>
              </a:path>
            </a:pathLst>
          </a:cu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Freeform 20"/>
          <p:cNvSpPr/>
          <p:nvPr/>
        </p:nvSpPr>
        <p:spPr>
          <a:xfrm>
            <a:off x="6210300" y="3343734"/>
            <a:ext cx="838200" cy="1095222"/>
          </a:xfrm>
          <a:custGeom>
            <a:avLst/>
            <a:gdLst/>
            <a:ahLst/>
            <a:cxnLst/>
            <a:rect l="l" t="t" r="r" b="b"/>
            <a:pathLst>
              <a:path w="88" h="120">
                <a:moveTo>
                  <a:pt x="88" y="0"/>
                </a:moveTo>
                <a:lnTo>
                  <a:pt x="88" y="120"/>
                </a:lnTo>
                <a:lnTo>
                  <a:pt x="0" y="60"/>
                </a:lnTo>
                <a:close/>
              </a:path>
            </a:pathLst>
          </a:cu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886450" y="3243339"/>
            <a:ext cx="419100" cy="273805"/>
          </a:xfrm>
          <a:prstGeom prst="rect">
            <a:avLst/>
          </a:prstGeom>
          <a:noFill/>
        </p:spPr>
        <p:txBody>
          <a:bodyPr wrap="none" lIns="0" rIns="0" tIns="0" bIns="0" anchor="ctr">
            <a:spAutoFit/>
          </a:bodyPr>
          <a:lstStyle/>
          <a:p>
            <a:pPr algn="ctr"/>
            <a:r>
              <a:rPr sz="2100" b="1">
                <a:solidFill>
                  <a:srgbClr val="1F2933"/>
                </a:solidFill>
                <a:latin typeface="Calibri"/>
              </a:rPr>
              <a:t>S</a:t>
            </a:r>
          </a:p>
        </p:txBody>
      </p:sp>
      <p:sp>
        <p:nvSpPr>
          <p:cNvPr id="23" name="TextBox 22"/>
          <p:cNvSpPr txBox="1"/>
          <p:nvPr/>
        </p:nvSpPr>
        <p:spPr>
          <a:xfrm>
            <a:off x="5886450" y="4265546"/>
            <a:ext cx="419100" cy="273805"/>
          </a:xfrm>
          <a:prstGeom prst="rect">
            <a:avLst/>
          </a:prstGeom>
          <a:noFill/>
        </p:spPr>
        <p:txBody>
          <a:bodyPr wrap="none" lIns="0" rIns="0" tIns="0" bIns="0" anchor="ctr">
            <a:spAutoFit/>
          </a:bodyPr>
          <a:lstStyle/>
          <a:p>
            <a:pPr algn="ctr"/>
            <a:r>
              <a:rPr sz="2100" b="1">
                <a:solidFill>
                  <a:srgbClr val="FFFFFF"/>
                </a:solidFill>
                <a:latin typeface="Calibri"/>
              </a:rPr>
              <a:t>O</a:t>
            </a:r>
          </a:p>
        </p:txBody>
      </p:sp>
      <p:sp>
        <p:nvSpPr>
          <p:cNvPr id="24" name="TextBox 23"/>
          <p:cNvSpPr txBox="1"/>
          <p:nvPr/>
        </p:nvSpPr>
        <p:spPr>
          <a:xfrm>
            <a:off x="5353050" y="3754443"/>
            <a:ext cx="419100" cy="273805"/>
          </a:xfrm>
          <a:prstGeom prst="rect">
            <a:avLst/>
          </a:prstGeom>
          <a:noFill/>
        </p:spPr>
        <p:txBody>
          <a:bodyPr wrap="none" lIns="0" rIns="0" tIns="0" bIns="0" anchor="ctr">
            <a:spAutoFit/>
          </a:bodyPr>
          <a:lstStyle/>
          <a:p>
            <a:pPr algn="ctr"/>
            <a:r>
              <a:rPr sz="2100" b="1">
                <a:solidFill>
                  <a:srgbClr val="FFFFFF"/>
                </a:solidFill>
                <a:latin typeface="Calibri"/>
              </a:rPr>
              <a:t>T</a:t>
            </a:r>
          </a:p>
        </p:txBody>
      </p:sp>
      <p:sp>
        <p:nvSpPr>
          <p:cNvPr id="25" name="TextBox 24"/>
          <p:cNvSpPr txBox="1"/>
          <p:nvPr/>
        </p:nvSpPr>
        <p:spPr>
          <a:xfrm>
            <a:off x="6419850" y="3754443"/>
            <a:ext cx="419100" cy="273805"/>
          </a:xfrm>
          <a:prstGeom prst="rect">
            <a:avLst/>
          </a:prstGeom>
          <a:noFill/>
        </p:spPr>
        <p:txBody>
          <a:bodyPr wrap="none" lIns="0" rIns="0" tIns="0" bIns="0" anchor="ctr">
            <a:spAutoFit/>
          </a:bodyPr>
          <a:lstStyle/>
          <a:p>
            <a:pPr algn="ctr"/>
            <a:r>
              <a:rPr sz="2100" b="1">
                <a:solidFill>
                  <a:srgbClr val="FFFFFF"/>
                </a:solidFill>
                <a:latin typeface="Calibri"/>
              </a:rPr>
              <a:t>W</a:t>
            </a:r>
          </a:p>
        </p:txBody>
      </p:sp>
      <p:sp>
        <p:nvSpPr>
          <p:cNvPr id="26" name="TextBox 25"/>
          <p:cNvSpPr txBox="1"/>
          <p:nvPr/>
        </p:nvSpPr>
        <p:spPr>
          <a:xfrm>
            <a:off x="190500" y="1299320"/>
            <a:ext cx="3667125" cy="182537"/>
          </a:xfrm>
          <a:prstGeom prst="rect">
            <a:avLst/>
          </a:prstGeom>
          <a:noFill/>
        </p:spPr>
        <p:txBody>
          <a:bodyPr wrap="square" lIns="28575" rIns="28575" tIns="9525" bIns="9525" anchor="ctr">
            <a:spAutoFit/>
          </a:bodyPr>
          <a:lstStyle/>
          <a:p>
            <a:pPr algn="l"/>
            <a:r>
              <a:rPr sz="1350" b="1">
                <a:solidFill>
                  <a:srgbClr val="0B2E4A"/>
                </a:solidFill>
                <a:latin typeface="Calibri"/>
              </a:rPr>
              <a:t>Strengths</a:t>
            </a:r>
          </a:p>
        </p:txBody>
      </p:sp>
      <p:sp>
        <p:nvSpPr>
          <p:cNvPr id="27" name="Rectangle 26"/>
          <p:cNvSpPr/>
          <p:nvPr/>
        </p:nvSpPr>
        <p:spPr>
          <a:xfrm>
            <a:off x="190500" y="1500111"/>
            <a:ext cx="1428750" cy="1825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204788" y="1605070"/>
            <a:ext cx="66675" cy="63888"/>
          </a:xfrm>
          <a:prstGeom prst="ellipse">
            <a:avLst/>
          </a:prstGeom>
          <a:solidFill>
            <a:srgbClr val="0B2E4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33375" y="1573126"/>
            <a:ext cx="3505200"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30" name="Oval 29"/>
          <p:cNvSpPr/>
          <p:nvPr/>
        </p:nvSpPr>
        <p:spPr>
          <a:xfrm>
            <a:off x="204788" y="2116174"/>
            <a:ext cx="66675" cy="63888"/>
          </a:xfrm>
          <a:prstGeom prst="ellipse">
            <a:avLst/>
          </a:prstGeom>
          <a:solidFill>
            <a:srgbClr val="0B2E4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33375" y="2084229"/>
            <a:ext cx="3505200"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Balanced SOM across regions and end-markets; strongest in 'North America'.</a:t>
            </a:r>
          </a:p>
        </p:txBody>
      </p:sp>
      <p:sp>
        <p:nvSpPr>
          <p:cNvPr id="32" name="Oval 31"/>
          <p:cNvSpPr/>
          <p:nvPr/>
        </p:nvSpPr>
        <p:spPr>
          <a:xfrm>
            <a:off x="204788" y="2627277"/>
            <a:ext cx="66675" cy="63888"/>
          </a:xfrm>
          <a:prstGeom prst="ellipse">
            <a:avLst/>
          </a:prstGeom>
          <a:solidFill>
            <a:srgbClr val="0B2E4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33375" y="2595333"/>
            <a:ext cx="3505200"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34" name="TextBox 33"/>
          <p:cNvSpPr txBox="1"/>
          <p:nvPr/>
        </p:nvSpPr>
        <p:spPr>
          <a:xfrm>
            <a:off x="8334375" y="1299320"/>
            <a:ext cx="3667125" cy="182537"/>
          </a:xfrm>
          <a:prstGeom prst="rect">
            <a:avLst/>
          </a:prstGeom>
          <a:noFill/>
        </p:spPr>
        <p:txBody>
          <a:bodyPr wrap="square" lIns="28575" rIns="28575" tIns="9525" bIns="9525" anchor="ctr">
            <a:spAutoFit/>
          </a:bodyPr>
          <a:lstStyle/>
          <a:p>
            <a:pPr algn="l"/>
            <a:r>
              <a:rPr sz="1350" b="1">
                <a:solidFill>
                  <a:srgbClr val="082238"/>
                </a:solidFill>
                <a:latin typeface="Calibri"/>
              </a:rPr>
              <a:t>Weaknesses</a:t>
            </a:r>
          </a:p>
        </p:txBody>
      </p:sp>
      <p:sp>
        <p:nvSpPr>
          <p:cNvPr id="35" name="Rectangle 34"/>
          <p:cNvSpPr/>
          <p:nvPr/>
        </p:nvSpPr>
        <p:spPr>
          <a:xfrm>
            <a:off x="8334375" y="1500111"/>
            <a:ext cx="1428750" cy="18254"/>
          </a:xfrm>
          <a:prstGeom prst="rect">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8348662" y="1605070"/>
            <a:ext cx="66675" cy="63888"/>
          </a:xfrm>
          <a:prstGeom prst="ellipse">
            <a:avLst/>
          </a:prstGeom>
          <a:solidFill>
            <a:srgbClr val="082238"/>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477250" y="1573126"/>
            <a:ext cx="3505200"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38" name="Oval 37"/>
          <p:cNvSpPr/>
          <p:nvPr/>
        </p:nvSpPr>
        <p:spPr>
          <a:xfrm>
            <a:off x="8348662" y="2116174"/>
            <a:ext cx="66675" cy="63888"/>
          </a:xfrm>
          <a:prstGeom prst="ellipse">
            <a:avLst/>
          </a:prstGeom>
          <a:solidFill>
            <a:srgbClr val="082238"/>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477250" y="2084229"/>
            <a:ext cx="3505200"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Uneven SAM penetration strong in 'Rest of the World', thin elsewhere.</a:t>
            </a:r>
          </a:p>
        </p:txBody>
      </p:sp>
      <p:sp>
        <p:nvSpPr>
          <p:cNvPr id="40" name="Oval 39"/>
          <p:cNvSpPr/>
          <p:nvPr/>
        </p:nvSpPr>
        <p:spPr>
          <a:xfrm>
            <a:off x="8348662" y="2627277"/>
            <a:ext cx="66675" cy="63888"/>
          </a:xfrm>
          <a:prstGeom prst="ellipse">
            <a:avLst/>
          </a:prstGeom>
          <a:solidFill>
            <a:srgbClr val="082238"/>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477250" y="2595333"/>
            <a:ext cx="3505200"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Reliance on a few large accounts/regions raises concentration risk.</a:t>
            </a:r>
          </a:p>
        </p:txBody>
      </p:sp>
      <p:sp>
        <p:nvSpPr>
          <p:cNvPr id="42" name="TextBox 41"/>
          <p:cNvSpPr txBox="1"/>
          <p:nvPr/>
        </p:nvSpPr>
        <p:spPr>
          <a:xfrm>
            <a:off x="190500" y="4055629"/>
            <a:ext cx="3667125" cy="182537"/>
          </a:xfrm>
          <a:prstGeom prst="rect">
            <a:avLst/>
          </a:prstGeom>
          <a:noFill/>
        </p:spPr>
        <p:txBody>
          <a:bodyPr wrap="square" lIns="28575" rIns="28575" tIns="9525" bIns="9525" anchor="ctr">
            <a:spAutoFit/>
          </a:bodyPr>
          <a:lstStyle/>
          <a:p>
            <a:pPr algn="l"/>
            <a:r>
              <a:rPr sz="1350" b="1">
                <a:solidFill>
                  <a:srgbClr val="A35313"/>
                </a:solidFill>
                <a:latin typeface="Calibri"/>
              </a:rPr>
              <a:t>Threats</a:t>
            </a:r>
          </a:p>
        </p:txBody>
      </p:sp>
      <p:sp>
        <p:nvSpPr>
          <p:cNvPr id="43" name="Rectangle 42"/>
          <p:cNvSpPr/>
          <p:nvPr/>
        </p:nvSpPr>
        <p:spPr>
          <a:xfrm>
            <a:off x="190500" y="4256419"/>
            <a:ext cx="1428750" cy="18254"/>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204788" y="4361379"/>
            <a:ext cx="66675" cy="63888"/>
          </a:xfrm>
          <a:prstGeom prst="ellipse">
            <a:avLst/>
          </a:prstGeom>
          <a:solidFill>
            <a:srgbClr val="A3531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333375" y="4329434"/>
            <a:ext cx="3505200"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46" name="Oval 45"/>
          <p:cNvSpPr/>
          <p:nvPr/>
        </p:nvSpPr>
        <p:spPr>
          <a:xfrm>
            <a:off x="204788" y="4872482"/>
            <a:ext cx="66675" cy="63888"/>
          </a:xfrm>
          <a:prstGeom prst="ellipse">
            <a:avLst/>
          </a:prstGeom>
          <a:solidFill>
            <a:srgbClr val="A3531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33375" y="4840538"/>
            <a:ext cx="3505200"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Input-cost inflation and price pressure can squeeze margin.</a:t>
            </a:r>
          </a:p>
        </p:txBody>
      </p:sp>
      <p:sp>
        <p:nvSpPr>
          <p:cNvPr id="48" name="Oval 47"/>
          <p:cNvSpPr/>
          <p:nvPr/>
        </p:nvSpPr>
        <p:spPr>
          <a:xfrm>
            <a:off x="204788" y="5383586"/>
            <a:ext cx="66675" cy="63888"/>
          </a:xfrm>
          <a:prstGeom prst="ellipse">
            <a:avLst/>
          </a:prstGeom>
          <a:solidFill>
            <a:srgbClr val="A3531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333375" y="5351641"/>
            <a:ext cx="3505200"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Tier-1 incumbents and regulation raise barriers and switching friction.</a:t>
            </a:r>
          </a:p>
        </p:txBody>
      </p:sp>
      <p:sp>
        <p:nvSpPr>
          <p:cNvPr id="50" name="TextBox 49"/>
          <p:cNvSpPr txBox="1"/>
          <p:nvPr/>
        </p:nvSpPr>
        <p:spPr>
          <a:xfrm>
            <a:off x="8334375" y="4055629"/>
            <a:ext cx="3667125" cy="182537"/>
          </a:xfrm>
          <a:prstGeom prst="rect">
            <a:avLst/>
          </a:prstGeom>
          <a:noFill/>
        </p:spPr>
        <p:txBody>
          <a:bodyPr wrap="square" lIns="28575" rIns="28575" tIns="9525" bIns="9525" anchor="ctr">
            <a:spAutoFit/>
          </a:bodyPr>
          <a:lstStyle/>
          <a:p>
            <a:pPr algn="l"/>
            <a:r>
              <a:rPr sz="1350" b="1">
                <a:solidFill>
                  <a:srgbClr val="A86F00"/>
                </a:solidFill>
                <a:latin typeface="Calibri"/>
              </a:rPr>
              <a:t>Opportunities</a:t>
            </a:r>
          </a:p>
        </p:txBody>
      </p:sp>
      <p:sp>
        <p:nvSpPr>
          <p:cNvPr id="51" name="Rectangle 50"/>
          <p:cNvSpPr/>
          <p:nvPr/>
        </p:nvSpPr>
        <p:spPr>
          <a:xfrm>
            <a:off x="8334375" y="4256419"/>
            <a:ext cx="1428750" cy="18254"/>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8348662" y="4361379"/>
            <a:ext cx="66675" cy="63888"/>
          </a:xfrm>
          <a:prstGeom prst="ellipse">
            <a:avLst/>
          </a:prstGeom>
          <a:solidFill>
            <a:srgbClr val="A86F0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477250" y="4329434"/>
            <a:ext cx="3505200"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Premiumisation headroom in 'Micronized Eggshell Membrane' and adjacent high-value lines.</a:t>
            </a:r>
          </a:p>
        </p:txBody>
      </p:sp>
      <p:sp>
        <p:nvSpPr>
          <p:cNvPr id="54" name="Oval 53"/>
          <p:cNvSpPr/>
          <p:nvPr/>
        </p:nvSpPr>
        <p:spPr>
          <a:xfrm>
            <a:off x="8348662" y="4872482"/>
            <a:ext cx="66675" cy="63888"/>
          </a:xfrm>
          <a:prstGeom prst="ellipse">
            <a:avLst/>
          </a:prstGeom>
          <a:solidFill>
            <a:srgbClr val="A86F0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477250" y="4840538"/>
            <a:ext cx="3505200"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Under-penetrated regions offer share-capture runway.</a:t>
            </a:r>
          </a:p>
        </p:txBody>
      </p:sp>
      <p:sp>
        <p:nvSpPr>
          <p:cNvPr id="56" name="Oval 55"/>
          <p:cNvSpPr/>
          <p:nvPr/>
        </p:nvSpPr>
        <p:spPr>
          <a:xfrm>
            <a:off x="8348662" y="5383586"/>
            <a:ext cx="66675" cy="63888"/>
          </a:xfrm>
          <a:prstGeom prst="ellipse">
            <a:avLst/>
          </a:prstGeom>
          <a:solidFill>
            <a:srgbClr val="A86F0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8477250" y="5351641"/>
            <a:ext cx="3505200"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Channel shift to online and clinics opens new demand pools.</a:t>
            </a:r>
          </a:p>
        </p:txBody>
      </p:sp>
      <p:sp>
        <p:nvSpPr>
          <p:cNvPr id="58" name="TextBox 57"/>
          <p:cNvSpPr txBox="1"/>
          <p:nvPr/>
        </p:nvSpPr>
        <p:spPr>
          <a:xfrm>
            <a:off x="2857500" y="6428609"/>
            <a:ext cx="9191625" cy="182537"/>
          </a:xfrm>
          <a:prstGeom prst="rect">
            <a:avLst/>
          </a:prstGeom>
          <a:noFill/>
        </p:spPr>
        <p:txBody>
          <a:bodyPr wrap="square" lIns="28575" rIns="28575" tIns="9525" bIns="9525" anchor="ctr">
            <a:spAutoFit/>
          </a:bodyPr>
          <a:lstStyle/>
          <a:p>
            <a:pPr algn="l"/>
            <a:r>
              <a:rPr sz="1100" b="0">
                <a:solidFill>
                  <a:srgbClr val="C0392B"/>
                </a:solidFill>
                <a:latin typeface="Calibri"/>
              </a:rPr>
              <a:t>Note: competitor figures are indicative derived from market modelling and expert validation, not company disclosures.</a:t>
            </a:r>
          </a:p>
        </p:txBody>
      </p:sp>
      <p:sp>
        <p:nvSpPr>
          <p:cNvPr id="59" name="Rectangle 58"/>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
        <p:nvSpPr>
          <p:cNvPr id="61" name="TextBox 60"/>
          <p:cNvSpPr txBox="1"/>
          <p:nvPr/>
        </p:nvSpPr>
        <p:spPr>
          <a:xfrm>
            <a:off x="361950" y="1642784"/>
            <a:ext cx="145777" cy="186689"/>
          </a:xfrm>
          <a:prstGeom prst="rect">
            <a:avLst/>
          </a:prstGeom>
          <a:noFill/>
        </p:spPr>
        <p:txBody>
          <a:bodyPr wrap="none" lIns="0" rIns="0" tIns="0" bIns="0">
            <a:spAutoFit/>
          </a:bodyPr>
          <a:lstStyle/>
          <a:p>
            <a:r>
              <a:rPr sz="1100" b="0">
                <a:solidFill>
                  <a:srgbClr val="2E2E2E"/>
                </a:solidFill>
                <a:latin typeface="Calibri"/>
              </a:rPr>
              <a:t>~</a:t>
            </a:r>
          </a:p>
        </p:txBody>
      </p:sp>
      <p:pic>
        <p:nvPicPr>
          <p:cNvPr id="62" name="Picture 61" descr="lock.png"/>
          <p:cNvPicPr>
            <a:picLocks noChangeAspect="1"/>
          </p:cNvPicPr>
          <p:nvPr/>
        </p:nvPicPr>
        <p:blipFill>
          <a:blip r:embed="rId4"/>
          <a:stretch>
            <a:fillRect/>
          </a:stretch>
        </p:blipFill>
        <p:spPr>
          <a:xfrm>
            <a:off x="455778" y="1633005"/>
            <a:ext cx="128699" cy="187198"/>
          </a:xfrm>
          <a:prstGeom prst="rect">
            <a:avLst/>
          </a:prstGeom>
        </p:spPr>
      </p:pic>
      <p:sp>
        <p:nvSpPr>
          <p:cNvPr id="63" name="TextBox 62"/>
          <p:cNvSpPr txBox="1"/>
          <p:nvPr/>
        </p:nvSpPr>
        <p:spPr>
          <a:xfrm>
            <a:off x="623274" y="1642784"/>
            <a:ext cx="1029270" cy="186689"/>
          </a:xfrm>
          <a:prstGeom prst="rect">
            <a:avLst/>
          </a:prstGeom>
          <a:noFill/>
        </p:spPr>
        <p:txBody>
          <a:bodyPr wrap="none" lIns="0" rIns="0" tIns="0" bIns="0">
            <a:spAutoFit/>
          </a:bodyPr>
          <a:lstStyle/>
          <a:p>
            <a:r>
              <a:rPr sz="1100" b="0">
                <a:solidFill>
                  <a:srgbClr val="2E2E2E"/>
                </a:solidFill>
                <a:latin typeface="Calibri"/>
              </a:rPr>
              <a:t>win rate with a +</a:t>
            </a:r>
          </a:p>
        </p:txBody>
      </p:sp>
      <p:pic>
        <p:nvPicPr>
          <p:cNvPr id="64" name="Picture 63" descr="lock.png"/>
          <p:cNvPicPr>
            <a:picLocks noChangeAspect="1"/>
          </p:cNvPicPr>
          <p:nvPr/>
        </p:nvPicPr>
        <p:blipFill>
          <a:blip r:embed="rId4"/>
          <a:stretch>
            <a:fillRect/>
          </a:stretch>
        </p:blipFill>
        <p:spPr>
          <a:xfrm>
            <a:off x="1600596" y="1633005"/>
            <a:ext cx="128699" cy="187198"/>
          </a:xfrm>
          <a:prstGeom prst="rect">
            <a:avLst/>
          </a:prstGeom>
        </p:spPr>
      </p:pic>
      <p:sp>
        <p:nvSpPr>
          <p:cNvPr id="65" name="TextBox 64"/>
          <p:cNvSpPr txBox="1"/>
          <p:nvPr/>
        </p:nvSpPr>
        <p:spPr>
          <a:xfrm>
            <a:off x="1768092" y="1642784"/>
            <a:ext cx="1490662" cy="186689"/>
          </a:xfrm>
          <a:prstGeom prst="rect">
            <a:avLst/>
          </a:prstGeom>
          <a:noFill/>
        </p:spPr>
        <p:txBody>
          <a:bodyPr wrap="none" lIns="0" rIns="0" tIns="0" bIns="0">
            <a:spAutoFit/>
          </a:bodyPr>
          <a:lstStyle/>
          <a:p>
            <a:r>
              <a:rPr sz="1100" b="0">
                <a:solidFill>
                  <a:srgbClr val="2E2E2E"/>
                </a:solidFill>
                <a:latin typeface="Calibri"/>
              </a:rPr>
              <a:t>ASP premium clear value</a:t>
            </a:r>
          </a:p>
        </p:txBody>
      </p:sp>
      <p:sp>
        <p:nvSpPr>
          <p:cNvPr id="66" name="TextBox 65"/>
          <p:cNvSpPr txBox="1"/>
          <p:nvPr/>
        </p:nvSpPr>
        <p:spPr>
          <a:xfrm>
            <a:off x="361950" y="1810424"/>
            <a:ext cx="760238" cy="186689"/>
          </a:xfrm>
          <a:prstGeom prst="rect">
            <a:avLst/>
          </a:prstGeom>
          <a:noFill/>
        </p:spPr>
        <p:txBody>
          <a:bodyPr wrap="none" lIns="0" rIns="0" tIns="0" bIns="0">
            <a:spAutoFit/>
          </a:bodyPr>
          <a:lstStyle/>
          <a:p>
            <a:r>
              <a:rPr sz="1100" b="0">
                <a:solidFill>
                  <a:srgbClr val="2E2E2E"/>
                </a:solidFill>
                <a:latin typeface="Calibri"/>
              </a:rPr>
              <a:t>recognition.</a:t>
            </a:r>
          </a:p>
        </p:txBody>
      </p:sp>
      <p:pic>
        <p:nvPicPr>
          <p:cNvPr id="67" name="Picture 66" descr="lock.png"/>
          <p:cNvPicPr>
            <a:picLocks noChangeAspect="1"/>
          </p:cNvPicPr>
          <p:nvPr/>
        </p:nvPicPr>
        <p:blipFill>
          <a:blip r:embed="rId4"/>
          <a:stretch>
            <a:fillRect/>
          </a:stretch>
        </p:blipFill>
        <p:spPr>
          <a:xfrm>
            <a:off x="348482" y="2655212"/>
            <a:ext cx="128699" cy="187198"/>
          </a:xfrm>
          <a:prstGeom prst="rect">
            <a:avLst/>
          </a:prstGeom>
        </p:spPr>
      </p:pic>
      <p:sp>
        <p:nvSpPr>
          <p:cNvPr id="68" name="TextBox 67"/>
          <p:cNvSpPr txBox="1"/>
          <p:nvPr/>
        </p:nvSpPr>
        <p:spPr>
          <a:xfrm>
            <a:off x="515978" y="2664991"/>
            <a:ext cx="1083295" cy="186689"/>
          </a:xfrm>
          <a:prstGeom prst="rect">
            <a:avLst/>
          </a:prstGeom>
          <a:noFill/>
        </p:spPr>
        <p:txBody>
          <a:bodyPr wrap="none" lIns="0" rIns="0" tIns="0" bIns="0">
            <a:spAutoFit/>
          </a:bodyPr>
          <a:lstStyle/>
          <a:p>
            <a:r>
              <a:rPr sz="1100" b="0">
                <a:solidFill>
                  <a:srgbClr val="2E2E2E"/>
                </a:solidFill>
                <a:latin typeface="Calibri"/>
              </a:rPr>
              <a:t>book-to-bill and ~</a:t>
            </a:r>
          </a:p>
        </p:txBody>
      </p:sp>
      <p:pic>
        <p:nvPicPr>
          <p:cNvPr id="69" name="Picture 68" descr="lock.png"/>
          <p:cNvPicPr>
            <a:picLocks noChangeAspect="1"/>
          </p:cNvPicPr>
          <p:nvPr/>
        </p:nvPicPr>
        <p:blipFill>
          <a:blip r:embed="rId4"/>
          <a:stretch>
            <a:fillRect/>
          </a:stretch>
        </p:blipFill>
        <p:spPr>
          <a:xfrm>
            <a:off x="1547325" y="2655212"/>
            <a:ext cx="128699" cy="187198"/>
          </a:xfrm>
          <a:prstGeom prst="rect">
            <a:avLst/>
          </a:prstGeom>
        </p:spPr>
      </p:pic>
      <p:sp>
        <p:nvSpPr>
          <p:cNvPr id="70" name="TextBox 69"/>
          <p:cNvSpPr txBox="1"/>
          <p:nvPr/>
        </p:nvSpPr>
        <p:spPr>
          <a:xfrm>
            <a:off x="1714820" y="2664991"/>
            <a:ext cx="1304547" cy="186689"/>
          </a:xfrm>
          <a:prstGeom prst="rect">
            <a:avLst/>
          </a:prstGeom>
          <a:noFill/>
        </p:spPr>
        <p:txBody>
          <a:bodyPr wrap="none" lIns="0" rIns="0" tIns="0" bIns="0">
            <a:spAutoFit/>
          </a:bodyPr>
          <a:lstStyle/>
          <a:p>
            <a:r>
              <a:rPr sz="1100" b="0">
                <a:solidFill>
                  <a:srgbClr val="2E2E2E"/>
                </a:solidFill>
                <a:latin typeface="Calibri"/>
              </a:rPr>
              <a:t>EBITDA signal healthy</a:t>
            </a:r>
          </a:p>
        </p:txBody>
      </p:sp>
      <p:sp>
        <p:nvSpPr>
          <p:cNvPr id="71" name="TextBox 70"/>
          <p:cNvSpPr txBox="1"/>
          <p:nvPr/>
        </p:nvSpPr>
        <p:spPr>
          <a:xfrm>
            <a:off x="361950" y="2832631"/>
            <a:ext cx="783158" cy="186689"/>
          </a:xfrm>
          <a:prstGeom prst="rect">
            <a:avLst/>
          </a:prstGeom>
          <a:noFill/>
        </p:spPr>
        <p:txBody>
          <a:bodyPr wrap="none" lIns="0" rIns="0" tIns="0" bIns="0">
            <a:spAutoFit/>
          </a:bodyPr>
          <a:lstStyle/>
          <a:p>
            <a:r>
              <a:rPr sz="1100" b="0">
                <a:solidFill>
                  <a:srgbClr val="2E2E2E"/>
                </a:solidFill>
                <a:latin typeface="Calibri"/>
              </a:rPr>
              <a:t>momentum.</a:t>
            </a:r>
          </a:p>
        </p:txBody>
      </p:sp>
      <p:sp>
        <p:nvSpPr>
          <p:cNvPr id="72" name="TextBox 71"/>
          <p:cNvSpPr txBox="1"/>
          <p:nvPr/>
        </p:nvSpPr>
        <p:spPr>
          <a:xfrm>
            <a:off x="8505825" y="1726603"/>
            <a:ext cx="145777" cy="186689"/>
          </a:xfrm>
          <a:prstGeom prst="rect">
            <a:avLst/>
          </a:prstGeom>
          <a:noFill/>
        </p:spPr>
        <p:txBody>
          <a:bodyPr wrap="none" lIns="0" rIns="0" tIns="0" bIns="0">
            <a:spAutoFit/>
          </a:bodyPr>
          <a:lstStyle/>
          <a:p>
            <a:r>
              <a:rPr sz="1100" b="0">
                <a:solidFill>
                  <a:srgbClr val="2E2E2E"/>
                </a:solidFill>
                <a:latin typeface="Calibri"/>
              </a:rPr>
              <a:t>~</a:t>
            </a:r>
          </a:p>
        </p:txBody>
      </p:sp>
      <p:pic>
        <p:nvPicPr>
          <p:cNvPr id="73" name="Picture 72" descr="lock.png"/>
          <p:cNvPicPr>
            <a:picLocks noChangeAspect="1"/>
          </p:cNvPicPr>
          <p:nvPr/>
        </p:nvPicPr>
        <p:blipFill>
          <a:blip r:embed="rId4"/>
          <a:stretch>
            <a:fillRect/>
          </a:stretch>
        </p:blipFill>
        <p:spPr>
          <a:xfrm>
            <a:off x="8599653" y="1716825"/>
            <a:ext cx="128699" cy="187198"/>
          </a:xfrm>
          <a:prstGeom prst="rect">
            <a:avLst/>
          </a:prstGeom>
        </p:spPr>
      </p:pic>
      <p:sp>
        <p:nvSpPr>
          <p:cNvPr id="74" name="TextBox 73"/>
          <p:cNvSpPr txBox="1"/>
          <p:nvPr/>
        </p:nvSpPr>
        <p:spPr>
          <a:xfrm>
            <a:off x="8767149" y="1726603"/>
            <a:ext cx="2910582" cy="186689"/>
          </a:xfrm>
          <a:prstGeom prst="rect">
            <a:avLst/>
          </a:prstGeom>
          <a:noFill/>
        </p:spPr>
        <p:txBody>
          <a:bodyPr wrap="none" lIns="0" rIns="0" tIns="0" bIns="0">
            <a:spAutoFit/>
          </a:bodyPr>
          <a:lstStyle/>
          <a:p>
            <a:r>
              <a:rPr sz="1100" b="0">
                <a:solidFill>
                  <a:srgbClr val="2E2E2E"/>
                </a:solidFill>
                <a:latin typeface="Calibri"/>
              </a:rPr>
              <a:t>share leaves a scale gap versus the market leader.</a:t>
            </a:r>
          </a:p>
        </p:txBody>
      </p:sp>
      <p:sp>
        <p:nvSpPr>
          <p:cNvPr id="75" name="TextBox 74"/>
          <p:cNvSpPr txBox="1"/>
          <p:nvPr/>
        </p:nvSpPr>
        <p:spPr>
          <a:xfrm>
            <a:off x="361950" y="4482912"/>
            <a:ext cx="1324495" cy="186689"/>
          </a:xfrm>
          <a:prstGeom prst="rect">
            <a:avLst/>
          </a:prstGeom>
          <a:noFill/>
        </p:spPr>
        <p:txBody>
          <a:bodyPr wrap="none" lIns="0" rIns="0" tIns="0" bIns="0">
            <a:spAutoFit/>
          </a:bodyPr>
          <a:lstStyle/>
          <a:p>
            <a:r>
              <a:rPr sz="1100" b="0">
                <a:solidFill>
                  <a:srgbClr val="2E2E2E"/>
                </a:solidFill>
                <a:latin typeface="Calibri"/>
              </a:rPr>
              <a:t>Intense competition ~</a:t>
            </a:r>
          </a:p>
        </p:txBody>
      </p:sp>
      <p:pic>
        <p:nvPicPr>
          <p:cNvPr id="76" name="Picture 75" descr="lock.png"/>
          <p:cNvPicPr>
            <a:picLocks noChangeAspect="1"/>
          </p:cNvPicPr>
          <p:nvPr/>
        </p:nvPicPr>
        <p:blipFill>
          <a:blip r:embed="rId4"/>
          <a:stretch>
            <a:fillRect/>
          </a:stretch>
        </p:blipFill>
        <p:spPr>
          <a:xfrm>
            <a:off x="1634497" y="4473133"/>
            <a:ext cx="128699" cy="187198"/>
          </a:xfrm>
          <a:prstGeom prst="rect">
            <a:avLst/>
          </a:prstGeom>
        </p:spPr>
      </p:pic>
      <p:sp>
        <p:nvSpPr>
          <p:cNvPr id="77" name="TextBox 76"/>
          <p:cNvSpPr txBox="1"/>
          <p:nvPr/>
        </p:nvSpPr>
        <p:spPr>
          <a:xfrm>
            <a:off x="1801993" y="4482912"/>
            <a:ext cx="1738684" cy="186689"/>
          </a:xfrm>
          <a:prstGeom prst="rect">
            <a:avLst/>
          </a:prstGeom>
          <a:noFill/>
        </p:spPr>
        <p:txBody>
          <a:bodyPr wrap="none" lIns="0" rIns="0" tIns="0" bIns="0">
            <a:spAutoFit/>
          </a:bodyPr>
          <a:lstStyle/>
          <a:p>
            <a:r>
              <a:rPr sz="1100" b="0">
                <a:solidFill>
                  <a:srgbClr val="2E2E2E"/>
                </a:solidFill>
                <a:latin typeface="Calibri"/>
              </a:rPr>
              <a:t>x pipeline needed to convert.</a:t>
            </a:r>
          </a:p>
        </p:txBody>
      </p:sp>
    </p:spTree>
  </p:cSld>
  <p:clrMapOvr>
    <a:masterClrMapping/>
  </p:clrMapOvr>
</p:sld>
</file>

<file path=ppt/slides/slide2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ESM Technologies, LLC Key Financials (4/5)</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ESM Technologies, LLC's financial performance, key ratios and pricing, highlighting margin and momentum</a:t>
            </a:r>
          </a:p>
        </p:txBody>
      </p:sp>
      <p:sp>
        <p:nvSpPr>
          <p:cNvPr id="7" name="Rounded Rectangle 6"/>
          <p:cNvSpPr/>
          <p:nvPr/>
        </p:nvSpPr>
        <p:spPr>
          <a:xfrm>
            <a:off x="142875" y="1007261"/>
            <a:ext cx="11906250" cy="273805"/>
          </a:xfrm>
          <a:prstGeom prst="roundRect">
            <a:avLst>
              <a:gd name="adj" fmla="val 2782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Key financials and pricing ESM Technologies, LLC (all figures indicative, USD Mn unless noted).</a:t>
            </a:r>
          </a:p>
        </p:txBody>
      </p:sp>
      <p:sp>
        <p:nvSpPr>
          <p:cNvPr id="8" name="Rounded Rectangle 7"/>
          <p:cNvSpPr/>
          <p:nvPr/>
        </p:nvSpPr>
        <p:spPr>
          <a:xfrm>
            <a:off x="142875" y="1354081"/>
            <a:ext cx="5905500" cy="1916638"/>
          </a:xfrm>
          <a:prstGeom prst="roundRect">
            <a:avLst>
              <a:gd name="adj" fmla="val 3975"/>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411231"/>
            <a:ext cx="5715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ESM Technologies, LLC Financial Performance</a:t>
            </a:r>
          </a:p>
        </p:txBody>
      </p:sp>
      <p:graphicFrame>
        <p:nvGraphicFramePr>
          <p:cNvPr id="10" name="Table 9"/>
          <p:cNvGraphicFramePr>
            <a:graphicFrameLocks noGrp="1"/>
          </p:cNvGraphicFramePr>
          <p:nvPr/>
        </p:nvGraphicFramePr>
        <p:xfrm>
          <a:off x="152400" y="1611256"/>
          <a:ext cx="5886449" cy="1449914"/>
        </p:xfrm>
        <a:graphic>
          <a:graphicData uri="http://schemas.openxmlformats.org/drawingml/2006/table">
            <a:tbl>
              <a:tblPr>
                <a:tableStyleId>{5C22544A-7EE6-4342-B048-85BDC9FD1C3A}</a:tableStyleId>
              </a:tblPr>
              <a:tblGrid>
                <a:gridCol w="2446649"/>
                <a:gridCol w="687960"/>
                <a:gridCol w="687960"/>
                <a:gridCol w="687960"/>
                <a:gridCol w="687960"/>
                <a:gridCol w="687960"/>
              </a:tblGrid>
              <a:tr h="246126">
                <a:tc>
                  <a:txBody>
                    <a:bodyPr wrap="none"/>
                    <a:lstStyle/>
                    <a:p>
                      <a:pPr algn="l"/>
                      <a:r>
                        <a:rPr sz="1100" b="1">
                          <a:solidFill>
                            <a:srgbClr val="0E2A5C"/>
                          </a:solidFill>
                          <a:latin typeface="Calibri"/>
                        </a:rPr>
                        <a:t>USD Mn</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2020A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2021A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2022A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2023A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2024A</a:t>
                      </a:r>
                      <a:endParaRPr sz="1100"/>
                    </a:p>
                  </a:txBody>
                  <a:tcPr marL="47625" marR="38100" marT="19050" marB="19050" anchor="ctr">
                    <a:solidFill>
                      <a:srgbClr val="EBF2F9"/>
                    </a:solidFill>
                  </a:tcPr>
                </a:tc>
              </a:tr>
              <a:tr h="300947">
                <a:tc>
                  <a:txBody>
                    <a:bodyPr wrap="none"/>
                    <a:lstStyle/>
                    <a:p>
                      <a:pPr algn="l"/>
                      <a:r>
                        <a:rPr sz="1100" b="1">
                          <a:solidFill>
                            <a:srgbClr val="2E2E2E"/>
                          </a:solidFill>
                          <a:latin typeface="Calibri"/>
                        </a:rPr>
                        <a:t>Revenue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00947">
                <a:tc>
                  <a:txBody>
                    <a:bodyPr wrap="none"/>
                    <a:lstStyle/>
                    <a:p>
                      <a:pPr algn="l"/>
                      <a:r>
                        <a:rPr sz="1100" b="1">
                          <a:solidFill>
                            <a:srgbClr val="2E2E2E"/>
                          </a:solidFill>
                          <a:latin typeface="Calibri"/>
                        </a:rPr>
                        <a:t>Gross Profit</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300947">
                <a:tc>
                  <a:txBody>
                    <a:bodyPr wrap="none"/>
                    <a:lstStyle/>
                    <a:p>
                      <a:pPr algn="l"/>
                      <a:r>
                        <a:rPr sz="1100" b="1">
                          <a:solidFill>
                            <a:srgbClr val="2E2E2E"/>
                          </a:solidFill>
                          <a:latin typeface="Calibri"/>
                        </a:rPr>
                        <a:t>Pre-Tax Profit</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00947">
                <a:tc>
                  <a:txBody>
                    <a:bodyPr wrap="none"/>
                    <a:lstStyle/>
                    <a:p>
                      <a:pPr algn="l"/>
                      <a:r>
                        <a:rPr sz="1100" b="1">
                          <a:solidFill>
                            <a:srgbClr val="2E2E2E"/>
                          </a:solidFill>
                          <a:latin typeface="Calibri"/>
                        </a:rPr>
                        <a:t>Profit After Tax / Net Profit</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bl>
          </a:graphicData>
        </a:graphic>
      </p:graphicFrame>
      <p:sp>
        <p:nvSpPr>
          <p:cNvPr id="11" name="TextBox 10"/>
          <p:cNvSpPr txBox="1"/>
          <p:nvPr/>
        </p:nvSpPr>
        <p:spPr>
          <a:xfrm>
            <a:off x="219075" y="3070695"/>
            <a:ext cx="5753100"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12" name="Rounded Rectangle 11"/>
          <p:cNvSpPr/>
          <p:nvPr/>
        </p:nvSpPr>
        <p:spPr>
          <a:xfrm>
            <a:off x="142875" y="3398495"/>
            <a:ext cx="5905500" cy="3194397"/>
          </a:xfrm>
          <a:prstGeom prst="roundRect">
            <a:avLst>
              <a:gd name="adj" fmla="val 2385"/>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38125" y="3455645"/>
            <a:ext cx="5715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ESM Technologies, LLC Key Ratios</a:t>
            </a:r>
          </a:p>
        </p:txBody>
      </p:sp>
      <p:graphicFrame>
        <p:nvGraphicFramePr>
          <p:cNvPr id="14" name="Table 13"/>
          <p:cNvGraphicFramePr>
            <a:graphicFrameLocks noGrp="1"/>
          </p:cNvGraphicFramePr>
          <p:nvPr/>
        </p:nvGraphicFramePr>
        <p:xfrm>
          <a:off x="152400" y="3655670"/>
          <a:ext cx="5886450" cy="2727671"/>
        </p:xfrm>
        <a:graphic>
          <a:graphicData uri="http://schemas.openxmlformats.org/drawingml/2006/table">
            <a:tbl>
              <a:tblPr>
                <a:tableStyleId>{5C22544A-7EE6-4342-B048-85BDC9FD1C3A}</a:tableStyleId>
              </a:tblPr>
              <a:tblGrid>
                <a:gridCol w="1859260"/>
                <a:gridCol w="805438"/>
                <a:gridCol w="805438"/>
                <a:gridCol w="805438"/>
                <a:gridCol w="805438"/>
                <a:gridCol w="805438"/>
              </a:tblGrid>
              <a:tr h="246126">
                <a:tc>
                  <a:txBody>
                    <a:bodyPr wrap="none"/>
                    <a:lstStyle/>
                    <a:p>
                      <a:pPr algn="l"/>
                      <a:r>
                        <a:rPr sz="1100" b="1">
                          <a:solidFill>
                            <a:srgbClr val="0E2A5C"/>
                          </a:solidFill>
                          <a:latin typeface="Calibri"/>
                        </a:rPr>
                        <a:t>Key Ratios</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2020A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2021A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2022A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2023A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2024A</a:t>
                      </a:r>
                      <a:endParaRPr sz="1100"/>
                    </a:p>
                  </a:txBody>
                  <a:tcPr marL="47625" marR="38100" marT="19050" marB="19050" anchor="ctr">
                    <a:solidFill>
                      <a:srgbClr val="EBF2F9"/>
                    </a:solidFill>
                  </a:tcPr>
                </a:tc>
              </a:tr>
              <a:tr h="496309">
                <a:tc>
                  <a:txBody>
                    <a:bodyPr wrap="none"/>
                    <a:lstStyle/>
                    <a:p>
                      <a:pPr algn="l"/>
                      <a:r>
                        <a:rPr sz="1100" b="1">
                          <a:solidFill>
                            <a:srgbClr val="2E2E2E"/>
                          </a:solidFill>
                          <a:latin typeface="Calibri"/>
                        </a:rPr>
                        <a:t>Gross Margin</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496309">
                <a:tc>
                  <a:txBody>
                    <a:bodyPr wrap="none"/>
                    <a:lstStyle/>
                    <a:p>
                      <a:pPr algn="l"/>
                      <a:r>
                        <a:rPr sz="1100" b="1">
                          <a:solidFill>
                            <a:srgbClr val="2E2E2E"/>
                          </a:solidFill>
                          <a:latin typeface="Calibri"/>
                        </a:rPr>
                        <a:t>Pre-Tax Margin</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496309">
                <a:tc>
                  <a:txBody>
                    <a:bodyPr wrap="none"/>
                    <a:lstStyle/>
                    <a:p>
                      <a:pPr algn="l"/>
                      <a:r>
                        <a:rPr sz="1100" b="1">
                          <a:solidFill>
                            <a:srgbClr val="2E2E2E"/>
                          </a:solidFill>
                          <a:latin typeface="Calibri"/>
                        </a:rPr>
                        <a:t>Net Margin</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496309">
                <a:tc>
                  <a:txBody>
                    <a:bodyPr wrap="none"/>
                    <a:lstStyle/>
                    <a:p>
                      <a:pPr algn="l"/>
                      <a:r>
                        <a:rPr sz="1100" b="1">
                          <a:solidFill>
                            <a:srgbClr val="2E2E2E"/>
                          </a:solidFill>
                          <a:latin typeface="Calibri"/>
                        </a:rPr>
                        <a:t>Return on Equity</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496309">
                <a:tc>
                  <a:txBody>
                    <a:bodyPr wrap="none"/>
                    <a:lstStyle/>
                    <a:p>
                      <a:pPr algn="l"/>
                      <a:r>
                        <a:rPr sz="1100" b="1">
                          <a:solidFill>
                            <a:srgbClr val="2E2E2E"/>
                          </a:solidFill>
                          <a:latin typeface="Calibri"/>
                        </a:rPr>
                        <a:t>Return on Assets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bl>
          </a:graphicData>
        </a:graphic>
      </p:graphicFrame>
      <p:sp>
        <p:nvSpPr>
          <p:cNvPr id="15" name="TextBox 14"/>
          <p:cNvSpPr txBox="1"/>
          <p:nvPr/>
        </p:nvSpPr>
        <p:spPr>
          <a:xfrm>
            <a:off x="219075" y="6392868"/>
            <a:ext cx="5753100"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16" name="Rounded Rectangle 15"/>
          <p:cNvSpPr/>
          <p:nvPr/>
        </p:nvSpPr>
        <p:spPr>
          <a:xfrm>
            <a:off x="6200775" y="1354081"/>
            <a:ext cx="5848350" cy="5238811"/>
          </a:xfrm>
          <a:prstGeom prst="roundRect">
            <a:avLst>
              <a:gd name="adj" fmla="val 1454"/>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96025" y="1411231"/>
            <a:ext cx="56578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ESM Technologies, LLC Pricing Analysis (US$/MT)</a:t>
            </a:r>
          </a:p>
        </p:txBody>
      </p:sp>
      <p:graphicFrame>
        <p:nvGraphicFramePr>
          <p:cNvPr id="18" name="Table 17"/>
          <p:cNvGraphicFramePr>
            <a:graphicFrameLocks noGrp="1"/>
          </p:cNvGraphicFramePr>
          <p:nvPr/>
        </p:nvGraphicFramePr>
        <p:xfrm>
          <a:off x="6210300" y="1611256"/>
          <a:ext cx="5829300" cy="4772085"/>
        </p:xfrm>
        <a:graphic>
          <a:graphicData uri="http://schemas.openxmlformats.org/drawingml/2006/table">
            <a:tbl>
              <a:tblPr>
                <a:tableStyleId>{5C22544A-7EE6-4342-B048-85BDC9FD1C3A}</a:tableStyleId>
              </a:tblPr>
              <a:tblGrid>
                <a:gridCol w="4095386"/>
                <a:gridCol w="866957"/>
                <a:gridCol w="866957"/>
              </a:tblGrid>
              <a:tr h="246126">
                <a:tc>
                  <a:txBody>
                    <a:bodyPr wrap="none"/>
                    <a:lstStyle/>
                    <a:p>
                      <a:pPr algn="l"/>
                      <a:r>
                        <a:rPr sz="1100" b="1">
                          <a:solidFill>
                            <a:srgbClr val="0E2A5C"/>
                          </a:solidFill>
                          <a:latin typeface="Calibri"/>
                        </a:rPr>
                        <a:t>Product Type</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2020A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2024A</a:t>
                      </a:r>
                      <a:endParaRPr sz="1100"/>
                    </a:p>
                  </a:txBody>
                  <a:tcPr marL="47625" marR="38100" marT="19050" marB="19050" anchor="ctr">
                    <a:solidFill>
                      <a:srgbClr val="EBF2F9"/>
                    </a:solidFill>
                  </a:tcPr>
                </a:tc>
              </a:tr>
              <a:tr h="1508653">
                <a:tc>
                  <a:txBody>
                    <a:bodyPr wrap="none"/>
                    <a:lstStyle/>
                    <a:p>
                      <a:pPr algn="l"/>
                      <a:r>
                        <a:rPr sz="1100" b="1">
                          <a:solidFill>
                            <a:srgbClr val="2E2E2E"/>
                          </a:solidFill>
                          <a:latin typeface="Calibri"/>
                        </a:rPr>
                        <a:t>Micronized Eggshell Membrane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1508653">
                <a:tc>
                  <a:txBody>
                    <a:bodyPr wrap="none"/>
                    <a:lstStyle/>
                    <a:p>
                      <a:pPr algn="l"/>
                      <a:r>
                        <a:rPr sz="1100" b="1">
                          <a:solidFill>
                            <a:srgbClr val="2E2E2E"/>
                          </a:solidFill>
                          <a:latin typeface="Calibri"/>
                        </a:rPr>
                        <a:t>Specialty Extracted Protein Fractions</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1508653">
                <a:tc>
                  <a:txBody>
                    <a:bodyPr wrap="none"/>
                    <a:lstStyle/>
                    <a:p>
                      <a:pPr algn="l"/>
                      <a:r>
                        <a:rPr sz="1100" b="1">
                          <a:solidFill>
                            <a:srgbClr val="2E2E2E"/>
                          </a:solidFill>
                          <a:latin typeface="Calibri"/>
                        </a:rPr>
                        <a:t>Hydrolyzed Eggshell Membrane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bl>
          </a:graphicData>
        </a:graphic>
      </p:graphicFrame>
      <p:sp>
        <p:nvSpPr>
          <p:cNvPr id="19" name="TextBox 18"/>
          <p:cNvSpPr txBox="1"/>
          <p:nvPr/>
        </p:nvSpPr>
        <p:spPr>
          <a:xfrm>
            <a:off x="6276975" y="6392868"/>
            <a:ext cx="5695950"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20" name="Rectangle 19"/>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22" name="Picture 21" descr="lock.png"/>
          <p:cNvPicPr>
            <a:picLocks noChangeAspect="1"/>
          </p:cNvPicPr>
          <p:nvPr/>
        </p:nvPicPr>
        <p:blipFill>
          <a:blip r:embed="rId4"/>
          <a:stretch>
            <a:fillRect/>
          </a:stretch>
        </p:blipFill>
        <p:spPr>
          <a:xfrm>
            <a:off x="4150927" y="2219246"/>
            <a:ext cx="330041" cy="480060"/>
          </a:xfrm>
          <a:prstGeom prst="rect">
            <a:avLst/>
          </a:prstGeom>
        </p:spPr>
      </p:pic>
      <p:pic>
        <p:nvPicPr>
          <p:cNvPr id="23" name="Picture 22" descr="lock.png"/>
          <p:cNvPicPr>
            <a:picLocks noChangeAspect="1"/>
          </p:cNvPicPr>
          <p:nvPr/>
        </p:nvPicPr>
        <p:blipFill>
          <a:blip r:embed="rId4"/>
          <a:stretch>
            <a:fillRect/>
          </a:stretch>
        </p:blipFill>
        <p:spPr>
          <a:xfrm>
            <a:off x="3838564" y="4875868"/>
            <a:ext cx="366712" cy="533400"/>
          </a:xfrm>
          <a:prstGeom prst="rect">
            <a:avLst/>
          </a:prstGeom>
        </p:spPr>
      </p:pic>
      <p:pic>
        <p:nvPicPr>
          <p:cNvPr id="24" name="Picture 23" descr="lock.png"/>
          <p:cNvPicPr>
            <a:picLocks noChangeAspect="1"/>
          </p:cNvPicPr>
          <p:nvPr/>
        </p:nvPicPr>
        <p:blipFill>
          <a:blip r:embed="rId4"/>
          <a:stretch>
            <a:fillRect/>
          </a:stretch>
        </p:blipFill>
        <p:spPr>
          <a:xfrm>
            <a:off x="10985953" y="3853661"/>
            <a:ext cx="366712" cy="533400"/>
          </a:xfrm>
          <a:prstGeom prst="rect">
            <a:avLst/>
          </a:prstGeom>
        </p:spPr>
      </p:pic>
    </p:spTree>
  </p:cSld>
  <p:clrMapOvr>
    <a:masterClrMapping/>
  </p:clrMapOvr>
</p:sld>
</file>

<file path=ppt/slides/slide2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ESM Technologies, LLC Strategy Analysis (5/5)</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ESM Technologies, LLC's strategic priorities and the competitive moves that support them</a:t>
            </a:r>
          </a:p>
        </p:txBody>
      </p:sp>
      <p:sp>
        <p:nvSpPr>
          <p:cNvPr id="7" name="Rounded Rectangle 6"/>
          <p:cNvSpPr/>
          <p:nvPr/>
        </p:nvSpPr>
        <p:spPr>
          <a:xfrm>
            <a:off x="142875" y="1007261"/>
            <a:ext cx="11906250" cy="273805"/>
          </a:xfrm>
          <a:prstGeom prst="roundRect">
            <a:avLst>
              <a:gd name="adj" fmla="val 2782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Strategy analysis ESM Technologies, LLC: strategic priorities and the competitive moves that support them (indicative).</a:t>
            </a:r>
          </a:p>
        </p:txBody>
      </p:sp>
      <p:sp>
        <p:nvSpPr>
          <p:cNvPr id="8" name="Rounded Rectangle 7"/>
          <p:cNvSpPr/>
          <p:nvPr/>
        </p:nvSpPr>
        <p:spPr>
          <a:xfrm>
            <a:off x="142875" y="1354081"/>
            <a:ext cx="2276475" cy="602372"/>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MARKET SHARE</a:t>
            </a:r>
          </a:p>
          <a:p>
            <a:pPr algn="ctr">
              <a:lnSpc>
                <a:spcPct val="95000"/>
              </a:lnSpc>
            </a:pPr>
            <a:r>
              <a:rPr sz="1500" b="1">
                <a:solidFill>
                  <a:srgbClr val="2A5F8F"/>
                </a:solidFill>
                <a:latin typeface="Calibri"/>
              </a:rPr>
              <a:t> </a:t>
            </a:r>
          </a:p>
          <a:p>
            <a:pPr algn="ctr">
              <a:lnSpc>
                <a:spcPct val="95000"/>
              </a:lnSpc>
            </a:pPr>
            <a:r>
              <a:rPr sz="1100" b="0">
                <a:solidFill>
                  <a:srgbClr val="6C7A89"/>
                </a:solidFill>
                <a:latin typeface="Calibri"/>
              </a:rPr>
              <a:t>of global value</a:t>
            </a:r>
          </a:p>
        </p:txBody>
      </p:sp>
      <p:sp>
        <p:nvSpPr>
          <p:cNvPr id="9" name="Rounded Rectangle 8"/>
          <p:cNvSpPr/>
          <p:nvPr/>
        </p:nvSpPr>
        <p:spPr>
          <a:xfrm>
            <a:off x="2543175" y="1354081"/>
            <a:ext cx="2276475" cy="602372"/>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WIN RATE</a:t>
            </a:r>
          </a:p>
          <a:p>
            <a:pPr algn="ctr">
              <a:lnSpc>
                <a:spcPct val="95000"/>
              </a:lnSpc>
            </a:pPr>
            <a:r>
              <a:rPr sz="1500" b="1">
                <a:solidFill>
                  <a:srgbClr val="2A5F8F"/>
                </a:solidFill>
                <a:latin typeface="Calibri"/>
              </a:rPr>
              <a:t> </a:t>
            </a:r>
          </a:p>
          <a:p>
            <a:pPr algn="ctr">
              <a:lnSpc>
                <a:spcPct val="95000"/>
              </a:lnSpc>
            </a:pPr>
            <a:r>
              <a:rPr sz="1100" b="0">
                <a:solidFill>
                  <a:srgbClr val="6C7A89"/>
                </a:solidFill>
                <a:latin typeface="Calibri"/>
              </a:rPr>
              <a:t>deals won</a:t>
            </a:r>
          </a:p>
        </p:txBody>
      </p:sp>
      <p:sp>
        <p:nvSpPr>
          <p:cNvPr id="10" name="Rounded Rectangle 9"/>
          <p:cNvSpPr/>
          <p:nvPr/>
        </p:nvSpPr>
        <p:spPr>
          <a:xfrm>
            <a:off x="4953000" y="1354081"/>
            <a:ext cx="2276475" cy="602372"/>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ASP PREMIUM</a:t>
            </a:r>
          </a:p>
          <a:p>
            <a:pPr algn="ctr">
              <a:lnSpc>
                <a:spcPct val="95000"/>
              </a:lnSpc>
            </a:pPr>
            <a:r>
              <a:rPr sz="1500" b="1">
                <a:solidFill>
                  <a:srgbClr val="2A5F8F"/>
                </a:solidFill>
                <a:latin typeface="Calibri"/>
              </a:rPr>
              <a:t> </a:t>
            </a:r>
          </a:p>
          <a:p>
            <a:pPr algn="ctr">
              <a:lnSpc>
                <a:spcPct val="95000"/>
              </a:lnSpc>
            </a:pPr>
            <a:r>
              <a:rPr sz="1100" b="0">
                <a:solidFill>
                  <a:srgbClr val="6C7A89"/>
                </a:solidFill>
                <a:latin typeface="Calibri"/>
              </a:rPr>
              <a:t>vs peers</a:t>
            </a:r>
          </a:p>
        </p:txBody>
      </p:sp>
      <p:sp>
        <p:nvSpPr>
          <p:cNvPr id="11" name="Rounded Rectangle 10"/>
          <p:cNvSpPr/>
          <p:nvPr/>
        </p:nvSpPr>
        <p:spPr>
          <a:xfrm>
            <a:off x="7353300" y="1354081"/>
            <a:ext cx="2276475" cy="602372"/>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BOOK-TO-BILL</a:t>
            </a:r>
          </a:p>
          <a:p>
            <a:pPr algn="ctr">
              <a:lnSpc>
                <a:spcPct val="95000"/>
              </a:lnSpc>
            </a:pPr>
            <a:r>
              <a:rPr sz="1500" b="1">
                <a:solidFill>
                  <a:srgbClr val="2A5F8F"/>
                </a:solidFill>
                <a:latin typeface="Calibri"/>
              </a:rPr>
              <a:t> </a:t>
            </a:r>
          </a:p>
          <a:p>
            <a:pPr algn="ctr">
              <a:lnSpc>
                <a:spcPct val="95000"/>
              </a:lnSpc>
            </a:pPr>
            <a:r>
              <a:rPr sz="1100" b="0">
                <a:solidFill>
                  <a:srgbClr val="6C7A89"/>
                </a:solidFill>
                <a:latin typeface="Calibri"/>
              </a:rPr>
              <a:t>order momentum</a:t>
            </a:r>
          </a:p>
        </p:txBody>
      </p:sp>
      <p:sp>
        <p:nvSpPr>
          <p:cNvPr id="12" name="Rounded Rectangle 11"/>
          <p:cNvSpPr/>
          <p:nvPr/>
        </p:nvSpPr>
        <p:spPr>
          <a:xfrm>
            <a:off x="9763125" y="1354081"/>
            <a:ext cx="2276475" cy="602372"/>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EBITDA MARGIN</a:t>
            </a:r>
          </a:p>
          <a:p>
            <a:pPr algn="ctr">
              <a:lnSpc>
                <a:spcPct val="95000"/>
              </a:lnSpc>
            </a:pPr>
            <a:r>
              <a:rPr sz="1500" b="1">
                <a:solidFill>
                  <a:srgbClr val="2A5F8F"/>
                </a:solidFill>
                <a:latin typeface="Calibri"/>
              </a:rPr>
              <a:t> </a:t>
            </a:r>
          </a:p>
          <a:p>
            <a:pPr algn="ctr">
              <a:lnSpc>
                <a:spcPct val="95000"/>
              </a:lnSpc>
            </a:pPr>
            <a:r>
              <a:rPr sz="1100" b="0">
                <a:solidFill>
                  <a:srgbClr val="6C7A89"/>
                </a:solidFill>
                <a:latin typeface="Calibri"/>
              </a:rPr>
              <a:t>profitability</a:t>
            </a:r>
          </a:p>
        </p:txBody>
      </p:sp>
      <p:sp>
        <p:nvSpPr>
          <p:cNvPr id="13" name="Rounded Rectangle 12"/>
          <p:cNvSpPr/>
          <p:nvPr/>
        </p:nvSpPr>
        <p:spPr>
          <a:xfrm>
            <a:off x="142875" y="2084229"/>
            <a:ext cx="5905500" cy="4490410"/>
          </a:xfrm>
          <a:prstGeom prst="roundRect">
            <a:avLst>
              <a:gd name="adj" fmla="val 1696"/>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6225" y="2169954"/>
            <a:ext cx="5638800" cy="209550"/>
          </a:xfrm>
          <a:prstGeom prst="rect">
            <a:avLst/>
          </a:prstGeom>
          <a:noFill/>
        </p:spPr>
        <p:txBody>
          <a:bodyPr wrap="square" lIns="0" rIns="19050" tIns="9525" bIns="9525">
            <a:spAutoFit/>
          </a:bodyPr>
          <a:lstStyle/>
          <a:p>
            <a:pPr algn="l"/>
            <a:r>
              <a:rPr sz="1300" b="1">
                <a:solidFill>
                  <a:srgbClr val="0E2A5C"/>
                </a:solidFill>
                <a:latin typeface="Calibri"/>
              </a:rPr>
              <a:t>Strategic Priorities</a:t>
            </a:r>
          </a:p>
        </p:txBody>
      </p:sp>
      <p:sp>
        <p:nvSpPr>
          <p:cNvPr id="15" name="Rectangle 14"/>
          <p:cNvSpPr/>
          <p:nvPr/>
        </p:nvSpPr>
        <p:spPr>
          <a:xfrm>
            <a:off x="276225" y="2408079"/>
            <a:ext cx="563880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6225" y="2493804"/>
            <a:ext cx="5638800" cy="400463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p:txBody>
      </p:sp>
      <p:sp>
        <p:nvSpPr>
          <p:cNvPr id="17" name="Rounded Rectangle 16"/>
          <p:cNvSpPr/>
          <p:nvPr/>
        </p:nvSpPr>
        <p:spPr>
          <a:xfrm>
            <a:off x="6200775" y="2084229"/>
            <a:ext cx="5848350" cy="4490410"/>
          </a:xfrm>
          <a:prstGeom prst="roundRect">
            <a:avLst>
              <a:gd name="adj" fmla="val 1696"/>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34125" y="2169954"/>
            <a:ext cx="5581650" cy="209550"/>
          </a:xfrm>
          <a:prstGeom prst="rect">
            <a:avLst/>
          </a:prstGeom>
          <a:noFill/>
        </p:spPr>
        <p:txBody>
          <a:bodyPr wrap="square" lIns="0" rIns="19050" tIns="9525" bIns="9525">
            <a:spAutoFit/>
          </a:bodyPr>
          <a:lstStyle/>
          <a:p>
            <a:pPr algn="l"/>
            <a:r>
              <a:rPr sz="1300" b="1">
                <a:solidFill>
                  <a:srgbClr val="0E2A5C"/>
                </a:solidFill>
                <a:latin typeface="Calibri"/>
              </a:rPr>
              <a:t>Competitive Moves</a:t>
            </a:r>
          </a:p>
        </p:txBody>
      </p:sp>
      <p:sp>
        <p:nvSpPr>
          <p:cNvPr id="19" name="Rectangle 18"/>
          <p:cNvSpPr/>
          <p:nvPr/>
        </p:nvSpPr>
        <p:spPr>
          <a:xfrm>
            <a:off x="6334125" y="2408079"/>
            <a:ext cx="55816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34125" y="2493804"/>
            <a:ext cx="5581650" cy="400463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p:txBody>
      </p:sp>
      <p:sp>
        <p:nvSpPr>
          <p:cNvPr id="21" name="Rectangle 20"/>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23" name="Picture 22" descr="lock.png"/>
          <p:cNvPicPr>
            <a:picLocks noChangeAspect="1"/>
          </p:cNvPicPr>
          <p:nvPr/>
        </p:nvPicPr>
        <p:blipFill>
          <a:blip r:embed="rId4"/>
          <a:stretch>
            <a:fillRect/>
          </a:stretch>
        </p:blipFill>
        <p:spPr>
          <a:xfrm>
            <a:off x="1202531" y="1540967"/>
            <a:ext cx="157162" cy="228600"/>
          </a:xfrm>
          <a:prstGeom prst="rect">
            <a:avLst/>
          </a:prstGeom>
        </p:spPr>
      </p:pic>
      <p:pic>
        <p:nvPicPr>
          <p:cNvPr id="24" name="Picture 23" descr="lock.png"/>
          <p:cNvPicPr>
            <a:picLocks noChangeAspect="1"/>
          </p:cNvPicPr>
          <p:nvPr/>
        </p:nvPicPr>
        <p:blipFill>
          <a:blip r:embed="rId4"/>
          <a:stretch>
            <a:fillRect/>
          </a:stretch>
        </p:blipFill>
        <p:spPr>
          <a:xfrm>
            <a:off x="3602831" y="1540967"/>
            <a:ext cx="157162" cy="228600"/>
          </a:xfrm>
          <a:prstGeom prst="rect">
            <a:avLst/>
          </a:prstGeom>
        </p:spPr>
      </p:pic>
      <p:pic>
        <p:nvPicPr>
          <p:cNvPr id="25" name="Picture 24" descr="lock.png"/>
          <p:cNvPicPr>
            <a:picLocks noChangeAspect="1"/>
          </p:cNvPicPr>
          <p:nvPr/>
        </p:nvPicPr>
        <p:blipFill>
          <a:blip r:embed="rId4"/>
          <a:stretch>
            <a:fillRect/>
          </a:stretch>
        </p:blipFill>
        <p:spPr>
          <a:xfrm>
            <a:off x="6012656" y="1540967"/>
            <a:ext cx="157162" cy="228600"/>
          </a:xfrm>
          <a:prstGeom prst="rect">
            <a:avLst/>
          </a:prstGeom>
        </p:spPr>
      </p:pic>
      <p:pic>
        <p:nvPicPr>
          <p:cNvPr id="26" name="Picture 25" descr="lock.png"/>
          <p:cNvPicPr>
            <a:picLocks noChangeAspect="1"/>
          </p:cNvPicPr>
          <p:nvPr/>
        </p:nvPicPr>
        <p:blipFill>
          <a:blip r:embed="rId4"/>
          <a:stretch>
            <a:fillRect/>
          </a:stretch>
        </p:blipFill>
        <p:spPr>
          <a:xfrm>
            <a:off x="8412956" y="1540967"/>
            <a:ext cx="157162" cy="228600"/>
          </a:xfrm>
          <a:prstGeom prst="rect">
            <a:avLst/>
          </a:prstGeom>
        </p:spPr>
      </p:pic>
      <p:pic>
        <p:nvPicPr>
          <p:cNvPr id="27" name="Picture 26" descr="lock.png"/>
          <p:cNvPicPr>
            <a:picLocks noChangeAspect="1"/>
          </p:cNvPicPr>
          <p:nvPr/>
        </p:nvPicPr>
        <p:blipFill>
          <a:blip r:embed="rId4"/>
          <a:stretch>
            <a:fillRect/>
          </a:stretch>
        </p:blipFill>
        <p:spPr>
          <a:xfrm>
            <a:off x="10822781" y="1540967"/>
            <a:ext cx="157162" cy="228600"/>
          </a:xfrm>
          <a:prstGeom prst="rect">
            <a:avLst/>
          </a:prstGeom>
        </p:spPr>
      </p:pic>
      <p:sp>
        <p:nvSpPr>
          <p:cNvPr id="28" name="TextBox 27"/>
          <p:cNvSpPr txBox="1"/>
          <p:nvPr/>
        </p:nvSpPr>
        <p:spPr>
          <a:xfrm>
            <a:off x="276225" y="2503329"/>
            <a:ext cx="5456044" cy="194310"/>
          </a:xfrm>
          <a:prstGeom prst="rect">
            <a:avLst/>
          </a:prstGeom>
          <a:noFill/>
        </p:spPr>
        <p:txBody>
          <a:bodyPr wrap="none" lIns="0" rIns="0" tIns="0" bIns="0">
            <a:spAutoFit/>
          </a:bodyPr>
          <a:lstStyle/>
          <a:p>
            <a:r>
              <a:rPr sz="1150" b="0">
                <a:solidFill>
                  <a:srgbClr val="2E2E2E"/>
                </a:solidFill>
                <a:latin typeface="Calibri"/>
              </a:rPr>
              <a:t>▪ Defend and extend leadership in 'Pharmaceuticals &amp; Biomedical' ESM Technologies, LLC's</a:t>
            </a:r>
          </a:p>
        </p:txBody>
      </p:sp>
      <p:sp>
        <p:nvSpPr>
          <p:cNvPr id="29" name="TextBox 28"/>
          <p:cNvSpPr txBox="1"/>
          <p:nvPr/>
        </p:nvSpPr>
        <p:spPr>
          <a:xfrm>
            <a:off x="276225" y="2678589"/>
            <a:ext cx="3766529" cy="194310"/>
          </a:xfrm>
          <a:prstGeom prst="rect">
            <a:avLst/>
          </a:prstGeom>
          <a:noFill/>
        </p:spPr>
        <p:txBody>
          <a:bodyPr wrap="none" lIns="0" rIns="0" tIns="0" bIns="0">
            <a:spAutoFit/>
          </a:bodyPr>
          <a:lstStyle/>
          <a:p>
            <a:r>
              <a:rPr sz="1150" b="0">
                <a:solidFill>
                  <a:srgbClr val="2E2E2E"/>
                </a:solidFill>
                <a:latin typeface="Calibri"/>
              </a:rPr>
              <a:t>strongest end-market while scaling the next-best applications.</a:t>
            </a:r>
          </a:p>
        </p:txBody>
      </p:sp>
      <p:sp>
        <p:nvSpPr>
          <p:cNvPr id="30" name="TextBox 29"/>
          <p:cNvSpPr txBox="1"/>
          <p:nvPr/>
        </p:nvSpPr>
        <p:spPr>
          <a:xfrm>
            <a:off x="276225" y="2906426"/>
            <a:ext cx="909997" cy="194310"/>
          </a:xfrm>
          <a:prstGeom prst="rect">
            <a:avLst/>
          </a:prstGeom>
          <a:noFill/>
        </p:spPr>
        <p:txBody>
          <a:bodyPr wrap="none" lIns="0" rIns="0" tIns="0" bIns="0">
            <a:spAutoFit/>
          </a:bodyPr>
          <a:lstStyle/>
          <a:p>
            <a:r>
              <a:rPr sz="1150" b="0">
                <a:solidFill>
                  <a:srgbClr val="2E2E2E"/>
                </a:solidFill>
                <a:latin typeface="Calibri"/>
              </a:rPr>
              <a:t>▪ Convert its ~</a:t>
            </a:r>
          </a:p>
        </p:txBody>
      </p:sp>
      <p:pic>
        <p:nvPicPr>
          <p:cNvPr id="31" name="Picture 30" descr="lock.png"/>
          <p:cNvPicPr>
            <a:picLocks noChangeAspect="1"/>
          </p:cNvPicPr>
          <p:nvPr/>
        </p:nvPicPr>
        <p:blipFill>
          <a:blip r:embed="rId4"/>
          <a:stretch>
            <a:fillRect/>
          </a:stretch>
        </p:blipFill>
        <p:spPr>
          <a:xfrm>
            <a:off x="1135376" y="2896203"/>
            <a:ext cx="134549" cy="195707"/>
          </a:xfrm>
          <a:prstGeom prst="rect">
            <a:avLst/>
          </a:prstGeom>
        </p:spPr>
      </p:pic>
      <p:sp>
        <p:nvSpPr>
          <p:cNvPr id="32" name="TextBox 31"/>
          <p:cNvSpPr txBox="1"/>
          <p:nvPr/>
        </p:nvSpPr>
        <p:spPr>
          <a:xfrm>
            <a:off x="1310485" y="2906426"/>
            <a:ext cx="929109" cy="194310"/>
          </a:xfrm>
          <a:prstGeom prst="rect">
            <a:avLst/>
          </a:prstGeom>
          <a:noFill/>
        </p:spPr>
        <p:txBody>
          <a:bodyPr wrap="none" lIns="0" rIns="0" tIns="0" bIns="0">
            <a:spAutoFit/>
          </a:bodyPr>
          <a:lstStyle/>
          <a:p>
            <a:r>
              <a:rPr sz="1150" b="0">
                <a:solidFill>
                  <a:srgbClr val="2E2E2E"/>
                </a:solidFill>
                <a:latin typeface="Calibri"/>
              </a:rPr>
              <a:t>win rate and +</a:t>
            </a:r>
          </a:p>
        </p:txBody>
      </p:sp>
      <p:pic>
        <p:nvPicPr>
          <p:cNvPr id="33" name="Picture 32" descr="lock.png"/>
          <p:cNvPicPr>
            <a:picLocks noChangeAspect="1"/>
          </p:cNvPicPr>
          <p:nvPr/>
        </p:nvPicPr>
        <p:blipFill>
          <a:blip r:embed="rId4"/>
          <a:stretch>
            <a:fillRect/>
          </a:stretch>
        </p:blipFill>
        <p:spPr>
          <a:xfrm>
            <a:off x="2188748" y="2896203"/>
            <a:ext cx="134549" cy="195707"/>
          </a:xfrm>
          <a:prstGeom prst="rect">
            <a:avLst/>
          </a:prstGeom>
        </p:spPr>
      </p:pic>
      <p:sp>
        <p:nvSpPr>
          <p:cNvPr id="34" name="TextBox 33"/>
          <p:cNvSpPr txBox="1"/>
          <p:nvPr/>
        </p:nvSpPr>
        <p:spPr>
          <a:xfrm>
            <a:off x="2363857" y="2906426"/>
            <a:ext cx="3109019" cy="194310"/>
          </a:xfrm>
          <a:prstGeom prst="rect">
            <a:avLst/>
          </a:prstGeom>
          <a:noFill/>
        </p:spPr>
        <p:txBody>
          <a:bodyPr wrap="none" lIns="0" rIns="0" tIns="0" bIns="0">
            <a:spAutoFit/>
          </a:bodyPr>
          <a:lstStyle/>
          <a:p>
            <a:r>
              <a:rPr sz="1150" b="0">
                <a:solidFill>
                  <a:srgbClr val="2E2E2E"/>
                </a:solidFill>
                <a:latin typeface="Calibri"/>
              </a:rPr>
              <a:t>ASP premium into share gains through value-based</a:t>
            </a:r>
          </a:p>
        </p:txBody>
      </p:sp>
      <p:sp>
        <p:nvSpPr>
          <p:cNvPr id="35" name="TextBox 34"/>
          <p:cNvSpPr txBox="1"/>
          <p:nvPr/>
        </p:nvSpPr>
        <p:spPr>
          <a:xfrm>
            <a:off x="276225" y="3081686"/>
            <a:ext cx="489247" cy="194310"/>
          </a:xfrm>
          <a:prstGeom prst="rect">
            <a:avLst/>
          </a:prstGeom>
          <a:noFill/>
        </p:spPr>
        <p:txBody>
          <a:bodyPr wrap="none" lIns="0" rIns="0" tIns="0" bIns="0">
            <a:spAutoFit/>
          </a:bodyPr>
          <a:lstStyle/>
          <a:p>
            <a:r>
              <a:rPr sz="1150" b="0">
                <a:solidFill>
                  <a:srgbClr val="2E2E2E"/>
                </a:solidFill>
                <a:latin typeface="Calibri"/>
              </a:rPr>
              <a:t>selling.</a:t>
            </a:r>
          </a:p>
        </p:txBody>
      </p:sp>
      <p:sp>
        <p:nvSpPr>
          <p:cNvPr id="36" name="TextBox 35"/>
          <p:cNvSpPr txBox="1"/>
          <p:nvPr/>
        </p:nvSpPr>
        <p:spPr>
          <a:xfrm>
            <a:off x="276225" y="3309524"/>
            <a:ext cx="3294434" cy="194310"/>
          </a:xfrm>
          <a:prstGeom prst="rect">
            <a:avLst/>
          </a:prstGeom>
          <a:noFill/>
        </p:spPr>
        <p:txBody>
          <a:bodyPr wrap="none" lIns="0" rIns="0" tIns="0" bIns="0">
            <a:spAutoFit/>
          </a:bodyPr>
          <a:lstStyle/>
          <a:p>
            <a:r>
              <a:rPr sz="1150" b="0">
                <a:solidFill>
                  <a:srgbClr val="2E2E2E"/>
                </a:solidFill>
                <a:latin typeface="Calibri"/>
              </a:rPr>
              <a:t>▪ Raise SAM penetration beyond 'Rest of the World' (~</a:t>
            </a:r>
          </a:p>
        </p:txBody>
      </p:sp>
      <p:pic>
        <p:nvPicPr>
          <p:cNvPr id="37" name="Picture 36" descr="lock.png"/>
          <p:cNvPicPr>
            <a:picLocks noChangeAspect="1"/>
          </p:cNvPicPr>
          <p:nvPr/>
        </p:nvPicPr>
        <p:blipFill>
          <a:blip r:embed="rId4"/>
          <a:stretch>
            <a:fillRect/>
          </a:stretch>
        </p:blipFill>
        <p:spPr>
          <a:xfrm>
            <a:off x="3519813" y="3299301"/>
            <a:ext cx="134549" cy="195707"/>
          </a:xfrm>
          <a:prstGeom prst="rect">
            <a:avLst/>
          </a:prstGeom>
        </p:spPr>
      </p:pic>
      <p:sp>
        <p:nvSpPr>
          <p:cNvPr id="38" name="TextBox 37"/>
          <p:cNvSpPr txBox="1"/>
          <p:nvPr/>
        </p:nvSpPr>
        <p:spPr>
          <a:xfrm>
            <a:off x="3694922" y="3309524"/>
            <a:ext cx="2019064" cy="194310"/>
          </a:xfrm>
          <a:prstGeom prst="rect">
            <a:avLst/>
          </a:prstGeom>
          <a:noFill/>
        </p:spPr>
        <p:txBody>
          <a:bodyPr wrap="none" lIns="0" rIns="0" tIns="0" bIns="0">
            <a:spAutoFit/>
          </a:bodyPr>
          <a:lstStyle/>
          <a:p>
            <a:r>
              <a:rPr sz="1150" b="0">
                <a:solidFill>
                  <a:srgbClr val="2E2E2E"/>
                </a:solidFill>
                <a:latin typeface="Calibri"/>
              </a:rPr>
              <a:t>) into lower-penetration regions.</a:t>
            </a:r>
          </a:p>
        </p:txBody>
      </p:sp>
      <p:sp>
        <p:nvSpPr>
          <p:cNvPr id="39" name="TextBox 38"/>
          <p:cNvSpPr txBox="1"/>
          <p:nvPr/>
        </p:nvSpPr>
        <p:spPr>
          <a:xfrm>
            <a:off x="276225" y="3537362"/>
            <a:ext cx="694059" cy="194310"/>
          </a:xfrm>
          <a:prstGeom prst="rect">
            <a:avLst/>
          </a:prstGeom>
          <a:noFill/>
        </p:spPr>
        <p:txBody>
          <a:bodyPr wrap="none" lIns="0" rIns="0" tIns="0" bIns="0">
            <a:spAutoFit/>
          </a:bodyPr>
          <a:lstStyle/>
          <a:p>
            <a:r>
              <a:rPr sz="1150" b="0">
                <a:solidFill>
                  <a:srgbClr val="2E2E2E"/>
                </a:solidFill>
                <a:latin typeface="Calibri"/>
              </a:rPr>
              <a:t>▪ Sustain a</a:t>
            </a:r>
          </a:p>
        </p:txBody>
      </p:sp>
      <p:pic>
        <p:nvPicPr>
          <p:cNvPr id="40" name="Picture 39" descr="lock.png"/>
          <p:cNvPicPr>
            <a:picLocks noChangeAspect="1"/>
          </p:cNvPicPr>
          <p:nvPr/>
        </p:nvPicPr>
        <p:blipFill>
          <a:blip r:embed="rId4"/>
          <a:stretch>
            <a:fillRect/>
          </a:stretch>
        </p:blipFill>
        <p:spPr>
          <a:xfrm>
            <a:off x="919438" y="3527139"/>
            <a:ext cx="134549" cy="195707"/>
          </a:xfrm>
          <a:prstGeom prst="rect">
            <a:avLst/>
          </a:prstGeom>
        </p:spPr>
      </p:pic>
      <p:sp>
        <p:nvSpPr>
          <p:cNvPr id="41" name="TextBox 40"/>
          <p:cNvSpPr txBox="1"/>
          <p:nvPr/>
        </p:nvSpPr>
        <p:spPr>
          <a:xfrm>
            <a:off x="1094548" y="3537362"/>
            <a:ext cx="3750555" cy="194310"/>
          </a:xfrm>
          <a:prstGeom prst="rect">
            <a:avLst/>
          </a:prstGeom>
          <a:noFill/>
        </p:spPr>
        <p:txBody>
          <a:bodyPr wrap="none" lIns="0" rIns="0" tIns="0" bIns="0">
            <a:spAutoFit/>
          </a:bodyPr>
          <a:lstStyle/>
          <a:p>
            <a:r>
              <a:rPr sz="1150" b="0">
                <a:solidFill>
                  <a:srgbClr val="2E2E2E"/>
                </a:solidFill>
                <a:latin typeface="Calibri"/>
              </a:rPr>
              <a:t>book-to-bill with disciplined capacity and channel investment.</a:t>
            </a:r>
          </a:p>
        </p:txBody>
      </p:sp>
      <p:sp>
        <p:nvSpPr>
          <p:cNvPr id="42" name="TextBox 41"/>
          <p:cNvSpPr txBox="1"/>
          <p:nvPr/>
        </p:nvSpPr>
        <p:spPr>
          <a:xfrm>
            <a:off x="276225" y="3765200"/>
            <a:ext cx="5321163" cy="194310"/>
          </a:xfrm>
          <a:prstGeom prst="rect">
            <a:avLst/>
          </a:prstGeom>
          <a:noFill/>
        </p:spPr>
        <p:txBody>
          <a:bodyPr wrap="none" lIns="0" rIns="0" tIns="0" bIns="0">
            <a:spAutoFit/>
          </a:bodyPr>
          <a:lstStyle/>
          <a:p>
            <a:r>
              <a:rPr sz="1150" b="0">
                <a:solidFill>
                  <a:srgbClr val="2E2E2E"/>
                </a:solidFill>
                <a:latin typeface="Calibri"/>
              </a:rPr>
              <a:t>▪ Protect margin through corridor-based pricing and cost discipline as input prices move.</a:t>
            </a:r>
          </a:p>
        </p:txBody>
      </p:sp>
      <p:sp>
        <p:nvSpPr>
          <p:cNvPr id="43" name="TextBox 42"/>
          <p:cNvSpPr txBox="1"/>
          <p:nvPr/>
        </p:nvSpPr>
        <p:spPr>
          <a:xfrm>
            <a:off x="6334125" y="2503329"/>
            <a:ext cx="5541379" cy="194310"/>
          </a:xfrm>
          <a:prstGeom prst="rect">
            <a:avLst/>
          </a:prstGeom>
          <a:noFill/>
        </p:spPr>
        <p:txBody>
          <a:bodyPr wrap="none" lIns="0" rIns="0" tIns="0" bIns="0">
            <a:spAutoFit/>
          </a:bodyPr>
          <a:lstStyle/>
          <a:p>
            <a:r>
              <a:rPr sz="1150" b="0">
                <a:solidFill>
                  <a:srgbClr val="2E2E2E"/>
                </a:solidFill>
                <a:latin typeface="Calibri"/>
              </a:rPr>
              <a:t>▪ Premiumise the portfolio around 'Micronized Eggshell Membrane' and adjacent high-value</a:t>
            </a:r>
          </a:p>
        </p:txBody>
      </p:sp>
      <p:sp>
        <p:nvSpPr>
          <p:cNvPr id="44" name="TextBox 43"/>
          <p:cNvSpPr txBox="1"/>
          <p:nvPr/>
        </p:nvSpPr>
        <p:spPr>
          <a:xfrm>
            <a:off x="6334125" y="2678589"/>
            <a:ext cx="1694730" cy="194310"/>
          </a:xfrm>
          <a:prstGeom prst="rect">
            <a:avLst/>
          </a:prstGeom>
          <a:noFill/>
        </p:spPr>
        <p:txBody>
          <a:bodyPr wrap="none" lIns="0" rIns="0" tIns="0" bIns="0">
            <a:spAutoFit/>
          </a:bodyPr>
          <a:lstStyle/>
          <a:p>
            <a:r>
              <a:rPr sz="1150" b="0">
                <a:solidFill>
                  <a:srgbClr val="2E2E2E"/>
                </a:solidFill>
                <a:latin typeface="Calibri"/>
              </a:rPr>
              <a:t>lines to lift blended pricing.</a:t>
            </a:r>
          </a:p>
        </p:txBody>
      </p:sp>
      <p:sp>
        <p:nvSpPr>
          <p:cNvPr id="45" name="TextBox 44"/>
          <p:cNvSpPr txBox="1"/>
          <p:nvPr/>
        </p:nvSpPr>
        <p:spPr>
          <a:xfrm>
            <a:off x="6334125" y="2906426"/>
            <a:ext cx="5219613" cy="194310"/>
          </a:xfrm>
          <a:prstGeom prst="rect">
            <a:avLst/>
          </a:prstGeom>
          <a:noFill/>
        </p:spPr>
        <p:txBody>
          <a:bodyPr wrap="none" lIns="0" rIns="0" tIns="0" bIns="0">
            <a:spAutoFit/>
          </a:bodyPr>
          <a:lstStyle/>
          <a:p>
            <a:r>
              <a:rPr sz="1150" b="0">
                <a:solidFill>
                  <a:srgbClr val="2E2E2E"/>
                </a:solidFill>
                <a:latin typeface="Calibri"/>
              </a:rPr>
              <a:t>▪ Deepen presence in 'North America' (largest SOM region) and build out under-served</a:t>
            </a:r>
          </a:p>
        </p:txBody>
      </p:sp>
      <p:sp>
        <p:nvSpPr>
          <p:cNvPr id="46" name="TextBox 45"/>
          <p:cNvSpPr txBox="1"/>
          <p:nvPr/>
        </p:nvSpPr>
        <p:spPr>
          <a:xfrm>
            <a:off x="6334125" y="3081686"/>
            <a:ext cx="838113" cy="194310"/>
          </a:xfrm>
          <a:prstGeom prst="rect">
            <a:avLst/>
          </a:prstGeom>
          <a:noFill/>
        </p:spPr>
        <p:txBody>
          <a:bodyPr wrap="none" lIns="0" rIns="0" tIns="0" bIns="0">
            <a:spAutoFit/>
          </a:bodyPr>
          <a:lstStyle/>
          <a:p>
            <a:r>
              <a:rPr sz="1150" b="0">
                <a:solidFill>
                  <a:srgbClr val="2E2E2E"/>
                </a:solidFill>
                <a:latin typeface="Calibri"/>
              </a:rPr>
              <a:t>geographies.</a:t>
            </a:r>
          </a:p>
        </p:txBody>
      </p:sp>
      <p:sp>
        <p:nvSpPr>
          <p:cNvPr id="47" name="TextBox 46"/>
          <p:cNvSpPr txBox="1"/>
          <p:nvPr/>
        </p:nvSpPr>
        <p:spPr>
          <a:xfrm>
            <a:off x="6334125" y="3309524"/>
            <a:ext cx="5471144" cy="194310"/>
          </a:xfrm>
          <a:prstGeom prst="rect">
            <a:avLst/>
          </a:prstGeom>
          <a:noFill/>
        </p:spPr>
        <p:txBody>
          <a:bodyPr wrap="none" lIns="0" rIns="0" tIns="0" bIns="0">
            <a:spAutoFit/>
          </a:bodyPr>
          <a:lstStyle/>
          <a:p>
            <a:r>
              <a:rPr sz="1150" b="0">
                <a:solidFill>
                  <a:srgbClr val="2E2E2E"/>
                </a:solidFill>
                <a:latin typeface="Calibri"/>
              </a:rPr>
              <a:t>▪ Invest in R&amp;D, certification and selective M&amp;A to move up the price ladder and widen the</a:t>
            </a:r>
          </a:p>
        </p:txBody>
      </p:sp>
      <p:sp>
        <p:nvSpPr>
          <p:cNvPr id="48" name="TextBox 47"/>
          <p:cNvSpPr txBox="1"/>
          <p:nvPr/>
        </p:nvSpPr>
        <p:spPr>
          <a:xfrm>
            <a:off x="6334125" y="3484784"/>
            <a:ext cx="425636" cy="194310"/>
          </a:xfrm>
          <a:prstGeom prst="rect">
            <a:avLst/>
          </a:prstGeom>
          <a:noFill/>
        </p:spPr>
        <p:txBody>
          <a:bodyPr wrap="none" lIns="0" rIns="0" tIns="0" bIns="0">
            <a:spAutoFit/>
          </a:bodyPr>
          <a:lstStyle/>
          <a:p>
            <a:r>
              <a:rPr sz="1150" b="0">
                <a:solidFill>
                  <a:srgbClr val="2E2E2E"/>
                </a:solidFill>
                <a:latin typeface="Calibri"/>
              </a:rPr>
              <a:t>moat.</a:t>
            </a:r>
          </a:p>
        </p:txBody>
      </p:sp>
      <p:sp>
        <p:nvSpPr>
          <p:cNvPr id="49" name="TextBox 48"/>
          <p:cNvSpPr txBox="1"/>
          <p:nvPr/>
        </p:nvSpPr>
        <p:spPr>
          <a:xfrm>
            <a:off x="6334125" y="3712622"/>
            <a:ext cx="5267535" cy="194310"/>
          </a:xfrm>
          <a:prstGeom prst="rect">
            <a:avLst/>
          </a:prstGeom>
          <a:noFill/>
        </p:spPr>
        <p:txBody>
          <a:bodyPr wrap="none" lIns="0" rIns="0" tIns="0" bIns="0">
            <a:spAutoFit/>
          </a:bodyPr>
          <a:lstStyle/>
          <a:p>
            <a:r>
              <a:rPr sz="1150" b="0">
                <a:solidFill>
                  <a:srgbClr val="2E2E2E"/>
                </a:solidFill>
                <a:latin typeface="Calibri"/>
              </a:rPr>
              <a:t>▪ Diversify the customer base and secure supply to de-risk concentration and input-cost</a:t>
            </a:r>
          </a:p>
        </p:txBody>
      </p:sp>
      <p:sp>
        <p:nvSpPr>
          <p:cNvPr id="50" name="TextBox 49"/>
          <p:cNvSpPr txBox="1"/>
          <p:nvPr/>
        </p:nvSpPr>
        <p:spPr>
          <a:xfrm>
            <a:off x="6334125" y="3887882"/>
            <a:ext cx="509215" cy="194310"/>
          </a:xfrm>
          <a:prstGeom prst="rect">
            <a:avLst/>
          </a:prstGeom>
          <a:noFill/>
        </p:spPr>
        <p:txBody>
          <a:bodyPr wrap="none" lIns="0" rIns="0" tIns="0" bIns="0">
            <a:spAutoFit/>
          </a:bodyPr>
          <a:lstStyle/>
          <a:p>
            <a:r>
              <a:rPr sz="1150" b="0">
                <a:solidFill>
                  <a:srgbClr val="2E2E2E"/>
                </a:solidFill>
                <a:latin typeface="Calibri"/>
              </a:rPr>
              <a:t>shocks.</a:t>
            </a:r>
          </a:p>
        </p:txBody>
      </p:sp>
      <p:sp>
        <p:nvSpPr>
          <p:cNvPr id="51" name="TextBox 50"/>
          <p:cNvSpPr txBox="1"/>
          <p:nvPr/>
        </p:nvSpPr>
        <p:spPr>
          <a:xfrm>
            <a:off x="6334125" y="4115720"/>
            <a:ext cx="3102173" cy="194310"/>
          </a:xfrm>
          <a:prstGeom prst="rect">
            <a:avLst/>
          </a:prstGeom>
          <a:noFill/>
        </p:spPr>
        <p:txBody>
          <a:bodyPr wrap="none" lIns="0" rIns="0" tIns="0" bIns="0">
            <a:spAutoFit/>
          </a:bodyPr>
          <a:lstStyle/>
          <a:p>
            <a:r>
              <a:rPr sz="1150" b="0">
                <a:solidFill>
                  <a:srgbClr val="2E2E2E"/>
                </a:solidFill>
                <a:latin typeface="Calibri"/>
              </a:rPr>
              <a:t>▪ Sharpen go-to-market a ~95-day sales cycle and ~</a:t>
            </a:r>
          </a:p>
        </p:txBody>
      </p:sp>
      <p:pic>
        <p:nvPicPr>
          <p:cNvPr id="52" name="Picture 51" descr="lock.png"/>
          <p:cNvPicPr>
            <a:picLocks noChangeAspect="1"/>
          </p:cNvPicPr>
          <p:nvPr/>
        </p:nvPicPr>
        <p:blipFill>
          <a:blip r:embed="rId4"/>
          <a:stretch>
            <a:fillRect/>
          </a:stretch>
        </p:blipFill>
        <p:spPr>
          <a:xfrm>
            <a:off x="9385452" y="4105497"/>
            <a:ext cx="134549" cy="195707"/>
          </a:xfrm>
          <a:prstGeom prst="rect">
            <a:avLst/>
          </a:prstGeom>
        </p:spPr>
      </p:pic>
      <p:sp>
        <p:nvSpPr>
          <p:cNvPr id="53" name="TextBox 52"/>
          <p:cNvSpPr txBox="1"/>
          <p:nvPr/>
        </p:nvSpPr>
        <p:spPr>
          <a:xfrm>
            <a:off x="9560561" y="4115720"/>
            <a:ext cx="2003660" cy="194310"/>
          </a:xfrm>
          <a:prstGeom prst="rect">
            <a:avLst/>
          </a:prstGeom>
          <a:noFill/>
        </p:spPr>
        <p:txBody>
          <a:bodyPr wrap="none" lIns="0" rIns="0" tIns="0" bIns="0">
            <a:spAutoFit/>
          </a:bodyPr>
          <a:lstStyle/>
          <a:p>
            <a:r>
              <a:rPr sz="1150" b="0">
                <a:solidFill>
                  <a:srgbClr val="2E2E2E"/>
                </a:solidFill>
                <a:latin typeface="Calibri"/>
              </a:rPr>
              <a:t>conversion speed share capture.</a:t>
            </a:r>
          </a:p>
        </p:txBody>
      </p:sp>
    </p:spTree>
  </p:cSld>
  <p:clrMapOvr>
    <a:masterClrMapping/>
  </p:clrMapOvr>
</p:sld>
</file>

<file path=ppt/slides/slide233.xml><?xml version="1.0" encoding="utf-8"?>
<p:sld xmlns:a="http://schemas.openxmlformats.org/drawingml/2006/main" xmlns:p="http://schemas.openxmlformats.org/presentationml/2006/main" xmlns:r="http://schemas.openxmlformats.org/officeDocument/2006/relationships">
  <p:cSld>
    <p:bg>
      <p:bgPr>
        <a:solidFill>
          <a:srgbClr val="F3F8FD"/>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3F8FD"/>
              </a:gs>
              <a:gs pos="100000">
                <a:srgbClr val="DCE9F6"/>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FE0F0">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9C8E6">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B7D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A5F8F"/>
              </a:gs>
              <a:gs pos="100000">
                <a:srgbClr val="6FA6D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MR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20</a:t>
            </a:r>
          </a:p>
        </p:txBody>
      </p:sp>
      <p:pic>
        <p:nvPicPr>
          <p:cNvPr id="8" name="Picture 7" descr="tmr_logo.png"/>
          <p:cNvPicPr>
            <a:picLocks noChangeAspect="1"/>
          </p:cNvPicPr>
          <p:nvPr/>
        </p:nvPicPr>
        <p:blipFill>
          <a:blip r:embed="rId2"/>
          <a:stretch>
            <a:fillRect/>
          </a:stretch>
        </p:blipFill>
        <p:spPr>
          <a:xfrm>
            <a:off x="411480" y="274320"/>
            <a:ext cx="1307592" cy="975505"/>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2A5F8F"/>
                </a:solidFill>
                <a:latin typeface="Calibri"/>
              </a:rPr>
              <a:t>Egg Protein Membrane Market</a:t>
            </a:r>
          </a:p>
        </p:txBody>
      </p:sp>
      <p:sp>
        <p:nvSpPr>
          <p:cNvPr id="10" name="TMR Section Title"/>
          <p:cNvSpPr txBox="1"/>
          <p:nvPr/>
        </p:nvSpPr>
        <p:spPr>
          <a:xfrm>
            <a:off x="914400" y="3095625"/>
            <a:ext cx="8572500" cy="514350"/>
          </a:xfrm>
          <a:prstGeom prst="rect">
            <a:avLst/>
          </a:prstGeom>
          <a:noFill/>
        </p:spPr>
        <p:txBody>
          <a:bodyPr wrap="square" lIns="0" rIns="0" tIns="0">
            <a:spAutoFit/>
          </a:bodyPr>
          <a:lstStyle/>
          <a:p>
            <a:r>
              <a:rPr sz="3000" b="1">
                <a:solidFill>
                  <a:srgbClr val="0E2A5C"/>
                </a:solidFill>
                <a:latin typeface="Calibri"/>
              </a:rPr>
              <a:t>Competitive Landscape</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Pipeline Assessment</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Strategic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Competition Dashboard</a:t>
            </a:r>
          </a:p>
        </p:txBody>
      </p:sp>
      <p:sp>
        <p:nvSpPr>
          <p:cNvPr id="12" name="Rectangle 11"/>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2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Egg Protein Membrane Market Competitive Landscape at a Glance</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Market concentration, segment leadership and the moves that will shift share, 2026–2036, in one page</a:t>
            </a:r>
          </a:p>
        </p:txBody>
      </p:sp>
      <p:cxnSp>
        <p:nvCxnSpPr>
          <p:cNvPr id="7" name="Connector 6"/>
          <p:cNvCxnSpPr/>
          <p:nvPr/>
        </p:nvCxnSpPr>
        <p:spPr>
          <a:xfrm>
            <a:off x="190500" y="1047750"/>
            <a:ext cx="11811000" cy="0"/>
          </a:xfrm>
          <a:prstGeom prst="line">
            <a:avLst/>
          </a:prstGeom>
          <a:ln w="19050">
            <a:solidFill>
              <a:srgbClr val="0F2D52"/>
            </a:solidFill>
          </a:ln>
          <a:effectLst/>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247650" y="1104900"/>
            <a:ext cx="1381125" cy="171450"/>
          </a:xfrm>
          <a:prstGeom prst="rect">
            <a:avLst/>
          </a:prstGeom>
          <a:noFill/>
        </p:spPr>
        <p:txBody>
          <a:bodyPr wrap="square" lIns="28575" rIns="28575" tIns="9525" bIns="9525" anchor="t">
            <a:spAutoFit/>
          </a:bodyPr>
          <a:lstStyle/>
          <a:p>
            <a:pPr algn="l"/>
            <a:r>
              <a:rPr sz="1100" b="0">
                <a:solidFill>
                  <a:srgbClr val="5F6B7A"/>
                </a:solidFill>
                <a:latin typeface="Calibri"/>
              </a:rPr>
              <a:t>Top 3 share, 2026</a:t>
            </a:r>
          </a:p>
        </p:txBody>
      </p:sp>
      <p:sp>
        <p:nvSpPr>
          <p:cNvPr id="9" name="TextBox 8"/>
          <p:cNvSpPr txBox="1"/>
          <p:nvPr/>
        </p:nvSpPr>
        <p:spPr>
          <a:xfrm>
            <a:off x="247650" y="1295400"/>
            <a:ext cx="1381125" cy="400050"/>
          </a:xfrm>
          <a:prstGeom prst="rect">
            <a:avLst/>
          </a:prstGeom>
          <a:noFill/>
        </p:spPr>
        <p:txBody>
          <a:bodyPr wrap="square" lIns="28575" rIns="28575" tIns="9525" bIns="9525" anchor="t">
            <a:spAutoFit/>
          </a:bodyPr>
          <a:lstStyle/>
          <a:p>
            <a:pPr algn="l">
              <a:lnSpc>
                <a:spcPct val="115000"/>
              </a:lnSpc>
            </a:pPr>
            <a:r>
              <a:rPr sz="1100" b="1">
                <a:solidFill>
                  <a:srgbClr val="E87722"/>
                </a:solidFill>
                <a:latin typeface="Calibri"/>
              </a:rPr>
              <a:t> </a:t>
            </a:r>
          </a:p>
        </p:txBody>
      </p:sp>
      <p:cxnSp>
        <p:nvCxnSpPr>
          <p:cNvPr id="10" name="Connector 9"/>
          <p:cNvCxnSpPr/>
          <p:nvPr/>
        </p:nvCxnSpPr>
        <p:spPr>
          <a:xfrm>
            <a:off x="1666875" y="1123950"/>
            <a:ext cx="0" cy="47625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1724025" y="1104900"/>
            <a:ext cx="1381125" cy="171450"/>
          </a:xfrm>
          <a:prstGeom prst="rect">
            <a:avLst/>
          </a:prstGeom>
          <a:noFill/>
        </p:spPr>
        <p:txBody>
          <a:bodyPr wrap="square" lIns="28575" rIns="28575" tIns="9525" bIns="9525" anchor="t">
            <a:spAutoFit/>
          </a:bodyPr>
          <a:lstStyle/>
          <a:p>
            <a:pPr algn="l"/>
            <a:r>
              <a:rPr sz="1100" b="0">
                <a:solidFill>
                  <a:srgbClr val="5F6B7A"/>
                </a:solidFill>
                <a:latin typeface="Calibri"/>
              </a:rPr>
              <a:t>Top 5 share</a:t>
            </a:r>
          </a:p>
        </p:txBody>
      </p:sp>
      <p:sp>
        <p:nvSpPr>
          <p:cNvPr id="12" name="TextBox 11"/>
          <p:cNvSpPr txBox="1"/>
          <p:nvPr/>
        </p:nvSpPr>
        <p:spPr>
          <a:xfrm>
            <a:off x="1724025" y="1295400"/>
            <a:ext cx="1381125" cy="400050"/>
          </a:xfrm>
          <a:prstGeom prst="rect">
            <a:avLst/>
          </a:prstGeom>
          <a:noFill/>
        </p:spPr>
        <p:txBody>
          <a:bodyPr wrap="square" lIns="28575" rIns="28575" tIns="9525" bIns="9525" anchor="t">
            <a:spAutoFit/>
          </a:bodyPr>
          <a:lstStyle/>
          <a:p>
            <a:pPr algn="l">
              <a:lnSpc>
                <a:spcPct val="115000"/>
              </a:lnSpc>
            </a:pPr>
            <a:r>
              <a:rPr sz="1100" b="1">
                <a:solidFill>
                  <a:srgbClr val="0F2D52"/>
                </a:solidFill>
                <a:latin typeface="Calibri"/>
              </a:rPr>
              <a:t> </a:t>
            </a:r>
          </a:p>
        </p:txBody>
      </p:sp>
      <p:cxnSp>
        <p:nvCxnSpPr>
          <p:cNvPr id="13" name="Connector 12"/>
          <p:cNvCxnSpPr/>
          <p:nvPr/>
        </p:nvCxnSpPr>
        <p:spPr>
          <a:xfrm>
            <a:off x="3143250" y="1123950"/>
            <a:ext cx="0" cy="47625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3200400" y="1104900"/>
            <a:ext cx="1381125" cy="171450"/>
          </a:xfrm>
          <a:prstGeom prst="rect">
            <a:avLst/>
          </a:prstGeom>
          <a:noFill/>
        </p:spPr>
        <p:txBody>
          <a:bodyPr wrap="square" lIns="28575" rIns="28575" tIns="9525" bIns="9525" anchor="t">
            <a:spAutoFit/>
          </a:bodyPr>
          <a:lstStyle/>
          <a:p>
            <a:pPr algn="l"/>
            <a:r>
              <a:rPr sz="1100" b="0">
                <a:solidFill>
                  <a:srgbClr val="5F6B7A"/>
                </a:solidFill>
                <a:latin typeface="Calibri"/>
              </a:rPr>
              <a:t>Top 3 product types</a:t>
            </a:r>
          </a:p>
        </p:txBody>
      </p:sp>
      <p:sp>
        <p:nvSpPr>
          <p:cNvPr id="15" name="TextBox 14"/>
          <p:cNvSpPr txBox="1"/>
          <p:nvPr/>
        </p:nvSpPr>
        <p:spPr>
          <a:xfrm>
            <a:off x="3200400" y="1295400"/>
            <a:ext cx="1381125" cy="400050"/>
          </a:xfrm>
          <a:prstGeom prst="rect">
            <a:avLst/>
          </a:prstGeom>
          <a:noFill/>
        </p:spPr>
        <p:txBody>
          <a:bodyPr wrap="square" lIns="28575" rIns="28575" tIns="9525" bIns="9525" anchor="t">
            <a:spAutoFit/>
          </a:bodyPr>
          <a:lstStyle/>
          <a:p>
            <a:pPr algn="l">
              <a:lnSpc>
                <a:spcPct val="115000"/>
              </a:lnSpc>
            </a:pPr>
            <a:r>
              <a:rPr sz="1100" b="1">
                <a:solidFill>
                  <a:srgbClr val="0F2D52"/>
                </a:solidFill>
                <a:latin typeface="Calibri"/>
              </a:rPr>
              <a:t> </a:t>
            </a:r>
          </a:p>
        </p:txBody>
      </p:sp>
      <p:cxnSp>
        <p:nvCxnSpPr>
          <p:cNvPr id="16" name="Connector 15"/>
          <p:cNvCxnSpPr/>
          <p:nvPr/>
        </p:nvCxnSpPr>
        <p:spPr>
          <a:xfrm>
            <a:off x="4619625" y="1123950"/>
            <a:ext cx="0" cy="47625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4676775" y="1104900"/>
            <a:ext cx="1381125" cy="171450"/>
          </a:xfrm>
          <a:prstGeom prst="rect">
            <a:avLst/>
          </a:prstGeom>
          <a:noFill/>
        </p:spPr>
        <p:txBody>
          <a:bodyPr wrap="square" lIns="28575" rIns="28575" tIns="9525" bIns="9525" anchor="t">
            <a:spAutoFit/>
          </a:bodyPr>
          <a:lstStyle/>
          <a:p>
            <a:pPr algn="l"/>
            <a:r>
              <a:rPr sz="1100" b="0">
                <a:solidFill>
                  <a:srgbClr val="5F6B7A"/>
                </a:solidFill>
                <a:latin typeface="Calibri"/>
              </a:rPr>
              <a:t>Largest end use</a:t>
            </a:r>
          </a:p>
        </p:txBody>
      </p:sp>
      <p:sp>
        <p:nvSpPr>
          <p:cNvPr id="18" name="TextBox 17"/>
          <p:cNvSpPr txBox="1"/>
          <p:nvPr/>
        </p:nvSpPr>
        <p:spPr>
          <a:xfrm>
            <a:off x="4676775" y="1295400"/>
            <a:ext cx="1381125" cy="400050"/>
          </a:xfrm>
          <a:prstGeom prst="rect">
            <a:avLst/>
          </a:prstGeom>
          <a:noFill/>
        </p:spPr>
        <p:txBody>
          <a:bodyPr wrap="square" lIns="28575" rIns="28575" tIns="9525" bIns="9525" anchor="t">
            <a:spAutoFit/>
          </a:bodyPr>
          <a:lstStyle/>
          <a:p>
            <a:pPr algn="l">
              <a:lnSpc>
                <a:spcPct val="115000"/>
              </a:lnSpc>
            </a:pPr>
            <a:r>
              <a:rPr sz="1100" b="1">
                <a:solidFill>
                  <a:srgbClr val="0F2D52"/>
                </a:solidFill>
                <a:latin typeface="Calibri"/>
              </a:rPr>
              <a:t/>
            </a:r>
          </a:p>
        </p:txBody>
      </p:sp>
      <p:cxnSp>
        <p:nvCxnSpPr>
          <p:cNvPr id="19" name="Connector 18"/>
          <p:cNvCxnSpPr/>
          <p:nvPr/>
        </p:nvCxnSpPr>
        <p:spPr>
          <a:xfrm>
            <a:off x="6096000" y="1123950"/>
            <a:ext cx="0" cy="47625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6153150" y="1104900"/>
            <a:ext cx="1381125" cy="171450"/>
          </a:xfrm>
          <a:prstGeom prst="rect">
            <a:avLst/>
          </a:prstGeom>
          <a:noFill/>
        </p:spPr>
        <p:txBody>
          <a:bodyPr wrap="square" lIns="28575" rIns="28575" tIns="9525" bIns="9525" anchor="t">
            <a:spAutoFit/>
          </a:bodyPr>
          <a:lstStyle/>
          <a:p>
            <a:pPr algn="l"/>
            <a:r>
              <a:rPr sz="1100" b="0">
                <a:solidFill>
                  <a:srgbClr val="5F6B7A"/>
                </a:solidFill>
                <a:latin typeface="Calibri"/>
              </a:rPr>
              <a:t>Named competitors</a:t>
            </a:r>
          </a:p>
        </p:txBody>
      </p:sp>
      <p:sp>
        <p:nvSpPr>
          <p:cNvPr id="21" name="TextBox 20"/>
          <p:cNvSpPr txBox="1"/>
          <p:nvPr/>
        </p:nvSpPr>
        <p:spPr>
          <a:xfrm>
            <a:off x="6153150" y="1295400"/>
            <a:ext cx="1381125" cy="400050"/>
          </a:xfrm>
          <a:prstGeom prst="rect">
            <a:avLst/>
          </a:prstGeom>
          <a:noFill/>
        </p:spPr>
        <p:txBody>
          <a:bodyPr wrap="square" lIns="28575" rIns="28575" tIns="9525" bIns="9525" anchor="t">
            <a:spAutoFit/>
          </a:bodyPr>
          <a:lstStyle/>
          <a:p>
            <a:pPr algn="l">
              <a:lnSpc>
                <a:spcPct val="115000"/>
              </a:lnSpc>
            </a:pPr>
            <a:r>
              <a:rPr sz="1100" b="1">
                <a:solidFill>
                  <a:srgbClr val="0F2D52"/>
                </a:solidFill>
                <a:latin typeface="Calibri"/>
              </a:rPr>
              <a:t>10</a:t>
            </a:r>
          </a:p>
        </p:txBody>
      </p:sp>
      <p:cxnSp>
        <p:nvCxnSpPr>
          <p:cNvPr id="22" name="Connector 21"/>
          <p:cNvCxnSpPr/>
          <p:nvPr/>
        </p:nvCxnSpPr>
        <p:spPr>
          <a:xfrm>
            <a:off x="7572375" y="1123950"/>
            <a:ext cx="0" cy="47625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7629525" y="1104900"/>
            <a:ext cx="1381125" cy="171450"/>
          </a:xfrm>
          <a:prstGeom prst="rect">
            <a:avLst/>
          </a:prstGeom>
          <a:noFill/>
        </p:spPr>
        <p:txBody>
          <a:bodyPr wrap="square" lIns="28575" rIns="28575" tIns="9525" bIns="9525" anchor="t">
            <a:spAutoFit/>
          </a:bodyPr>
          <a:lstStyle/>
          <a:p>
            <a:pPr algn="l"/>
            <a:r>
              <a:rPr sz="1100" b="0">
                <a:solidFill>
                  <a:srgbClr val="5F6B7A"/>
                </a:solidFill>
                <a:latin typeface="Calibri"/>
              </a:rPr>
              <a:t>Moves tracked</a:t>
            </a:r>
          </a:p>
        </p:txBody>
      </p:sp>
      <p:sp>
        <p:nvSpPr>
          <p:cNvPr id="24" name="TextBox 23"/>
          <p:cNvSpPr txBox="1"/>
          <p:nvPr/>
        </p:nvSpPr>
        <p:spPr>
          <a:xfrm>
            <a:off x="7629525" y="1295400"/>
            <a:ext cx="1381125" cy="400050"/>
          </a:xfrm>
          <a:prstGeom prst="rect">
            <a:avLst/>
          </a:prstGeom>
          <a:noFill/>
        </p:spPr>
        <p:txBody>
          <a:bodyPr wrap="square" lIns="28575" rIns="28575" tIns="9525" bIns="9525" anchor="t">
            <a:spAutoFit/>
          </a:bodyPr>
          <a:lstStyle/>
          <a:p>
            <a:pPr algn="l">
              <a:lnSpc>
                <a:spcPct val="115000"/>
              </a:lnSpc>
            </a:pPr>
            <a:r>
              <a:rPr sz="1100" b="1">
                <a:solidFill>
                  <a:srgbClr val="0F2D52"/>
                </a:solidFill>
                <a:latin typeface="Calibri"/>
              </a:rPr>
              <a:t>50</a:t>
            </a:r>
          </a:p>
        </p:txBody>
      </p:sp>
      <p:cxnSp>
        <p:nvCxnSpPr>
          <p:cNvPr id="25" name="Connector 24"/>
          <p:cNvCxnSpPr/>
          <p:nvPr/>
        </p:nvCxnSpPr>
        <p:spPr>
          <a:xfrm>
            <a:off x="9048750" y="1123950"/>
            <a:ext cx="0" cy="47625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9105900" y="1104900"/>
            <a:ext cx="1381125" cy="171450"/>
          </a:xfrm>
          <a:prstGeom prst="rect">
            <a:avLst/>
          </a:prstGeom>
          <a:noFill/>
        </p:spPr>
        <p:txBody>
          <a:bodyPr wrap="square" lIns="28575" rIns="28575" tIns="9525" bIns="9525" anchor="t">
            <a:spAutoFit/>
          </a:bodyPr>
          <a:lstStyle/>
          <a:p>
            <a:pPr algn="l"/>
            <a:r>
              <a:rPr sz="1100" b="0">
                <a:solidFill>
                  <a:srgbClr val="5F6B7A"/>
                </a:solidFill>
                <a:latin typeface="Calibri"/>
              </a:rPr>
              <a:t>Largest player</a:t>
            </a:r>
          </a:p>
        </p:txBody>
      </p:sp>
      <p:sp>
        <p:nvSpPr>
          <p:cNvPr id="27" name="TextBox 26"/>
          <p:cNvSpPr txBox="1"/>
          <p:nvPr/>
        </p:nvSpPr>
        <p:spPr>
          <a:xfrm>
            <a:off x="9105900" y="1295400"/>
            <a:ext cx="1381125" cy="400050"/>
          </a:xfrm>
          <a:prstGeom prst="rect">
            <a:avLst/>
          </a:prstGeom>
          <a:noFill/>
        </p:spPr>
        <p:txBody>
          <a:bodyPr wrap="square" lIns="28575" rIns="28575" tIns="9525" bIns="9525" anchor="t">
            <a:spAutoFit/>
          </a:bodyPr>
          <a:lstStyle/>
          <a:p>
            <a:pPr algn="l">
              <a:lnSpc>
                <a:spcPct val="115000"/>
              </a:lnSpc>
            </a:pPr>
            <a:r>
              <a:rPr sz="1100" b="1">
                <a:solidFill>
                  <a:srgbClr val="0F2D52"/>
                </a:solidFill>
                <a:latin typeface="Calibri"/>
              </a:rPr>
              <a:t>ESM Technologies, LLC</a:t>
            </a:r>
          </a:p>
        </p:txBody>
      </p:sp>
      <p:cxnSp>
        <p:nvCxnSpPr>
          <p:cNvPr id="28" name="Connector 27"/>
          <p:cNvCxnSpPr/>
          <p:nvPr/>
        </p:nvCxnSpPr>
        <p:spPr>
          <a:xfrm>
            <a:off x="10525125" y="1123950"/>
            <a:ext cx="0" cy="47625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10582275" y="1104900"/>
            <a:ext cx="1381125" cy="171450"/>
          </a:xfrm>
          <a:prstGeom prst="rect">
            <a:avLst/>
          </a:prstGeom>
          <a:noFill/>
        </p:spPr>
        <p:txBody>
          <a:bodyPr wrap="square" lIns="28575" rIns="28575" tIns="9525" bIns="9525" anchor="t">
            <a:spAutoFit/>
          </a:bodyPr>
          <a:lstStyle/>
          <a:p>
            <a:pPr algn="l"/>
            <a:r>
              <a:rPr sz="1100" b="0">
                <a:solidFill>
                  <a:srgbClr val="5F6B7A"/>
                </a:solidFill>
                <a:latin typeface="Calibri"/>
              </a:rPr>
              <a:t>CAGR 2026–2036</a:t>
            </a:r>
          </a:p>
        </p:txBody>
      </p:sp>
      <p:sp>
        <p:nvSpPr>
          <p:cNvPr id="30" name="TextBox 29"/>
          <p:cNvSpPr txBox="1"/>
          <p:nvPr/>
        </p:nvSpPr>
        <p:spPr>
          <a:xfrm>
            <a:off x="10582275" y="1295400"/>
            <a:ext cx="1381125" cy="400050"/>
          </a:xfrm>
          <a:prstGeom prst="rect">
            <a:avLst/>
          </a:prstGeom>
          <a:noFill/>
        </p:spPr>
        <p:txBody>
          <a:bodyPr wrap="square" lIns="28575" rIns="28575" tIns="9525" bIns="9525" anchor="t">
            <a:spAutoFit/>
          </a:bodyPr>
          <a:lstStyle/>
          <a:p>
            <a:pPr algn="l">
              <a:lnSpc>
                <a:spcPct val="115000"/>
              </a:lnSpc>
            </a:pPr>
            <a:r>
              <a:rPr sz="1100" b="1">
                <a:solidFill>
                  <a:srgbClr val="0F2D52"/>
                </a:solidFill>
                <a:latin typeface="Calibri"/>
              </a:rPr>
              <a:t> </a:t>
            </a:r>
          </a:p>
        </p:txBody>
      </p:sp>
      <p:cxnSp>
        <p:nvCxnSpPr>
          <p:cNvPr id="31" name="Connector 30"/>
          <p:cNvCxnSpPr/>
          <p:nvPr/>
        </p:nvCxnSpPr>
        <p:spPr>
          <a:xfrm>
            <a:off x="190500" y="1733550"/>
            <a:ext cx="11811000" cy="0"/>
          </a:xfrm>
          <a:prstGeom prst="line">
            <a:avLst/>
          </a:prstGeom>
          <a:ln w="19050">
            <a:solidFill>
              <a:srgbClr val="0F2D52"/>
            </a:solidFill>
          </a:ln>
          <a:effectLst/>
        </p:spPr>
        <p:style>
          <a:lnRef idx="2">
            <a:schemeClr val="accent1"/>
          </a:lnRef>
          <a:fillRef idx="0">
            <a:schemeClr val="accent1"/>
          </a:fillRef>
          <a:effectRef idx="1">
            <a:schemeClr val="accent1"/>
          </a:effectRef>
          <a:fontRef idx="minor">
            <a:schemeClr val="tx1"/>
          </a:fontRef>
        </p:style>
      </p:cxnSp>
      <p:sp>
        <p:nvSpPr>
          <p:cNvPr id="32" name="Rectangle 31"/>
          <p:cNvSpPr/>
          <p:nvPr/>
        </p:nvSpPr>
        <p:spPr>
          <a:xfrm>
            <a:off x="190500" y="1924050"/>
            <a:ext cx="209550" cy="2095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90500" y="1924050"/>
            <a:ext cx="209550" cy="209550"/>
          </a:xfrm>
          <a:prstGeom prst="rect">
            <a:avLst/>
          </a:prstGeom>
          <a:noFill/>
        </p:spPr>
        <p:txBody>
          <a:bodyPr wrap="none" lIns="0" rIns="0" tIns="0" bIns="0" anchor="ctr">
            <a:spAutoFit/>
          </a:bodyPr>
          <a:lstStyle/>
          <a:p>
            <a:pPr algn="ctr"/>
            <a:r>
              <a:rPr sz="1100" b="1">
                <a:solidFill>
                  <a:srgbClr val="FFFFFF"/>
                </a:solidFill>
                <a:latin typeface="Calibri"/>
              </a:rPr>
              <a:t>1</a:t>
            </a:r>
          </a:p>
        </p:txBody>
      </p:sp>
      <p:sp>
        <p:nvSpPr>
          <p:cNvPr id="34" name="TextBox 33"/>
          <p:cNvSpPr txBox="1"/>
          <p:nvPr/>
        </p:nvSpPr>
        <p:spPr>
          <a:xfrm>
            <a:off x="495300" y="1905000"/>
            <a:ext cx="5410200" cy="190500"/>
          </a:xfrm>
          <a:prstGeom prst="rect">
            <a:avLst/>
          </a:prstGeom>
          <a:noFill/>
        </p:spPr>
        <p:txBody>
          <a:bodyPr wrap="square" lIns="28575" rIns="28575" tIns="9525" bIns="9525" anchor="t">
            <a:spAutoFit/>
          </a:bodyPr>
          <a:lstStyle/>
          <a:p>
            <a:pPr algn="l"/>
            <a:r>
              <a:rPr sz="1100" b="1">
                <a:solidFill>
                  <a:srgbClr val="1F2933"/>
                </a:solidFill>
                <a:latin typeface="Calibri"/>
              </a:rPr>
              <a:t>Leadership is concentrated in value, spread in capability</a:t>
            </a:r>
          </a:p>
        </p:txBody>
      </p:sp>
      <p:sp>
        <p:nvSpPr>
          <p:cNvPr id="35" name="TextBox 34"/>
          <p:cNvSpPr txBox="1"/>
          <p:nvPr/>
        </p:nvSpPr>
        <p:spPr>
          <a:xfrm>
            <a:off x="495300" y="2114550"/>
            <a:ext cx="5410200" cy="7620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
            </a:r>
          </a:p>
        </p:txBody>
      </p:sp>
      <p:sp>
        <p:nvSpPr>
          <p:cNvPr id="36" name="Rectangle 35"/>
          <p:cNvSpPr/>
          <p:nvPr/>
        </p:nvSpPr>
        <p:spPr>
          <a:xfrm>
            <a:off x="190500" y="3028950"/>
            <a:ext cx="209550" cy="2095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90500" y="3028950"/>
            <a:ext cx="209550" cy="209550"/>
          </a:xfrm>
          <a:prstGeom prst="rect">
            <a:avLst/>
          </a:prstGeom>
          <a:noFill/>
        </p:spPr>
        <p:txBody>
          <a:bodyPr wrap="none" lIns="0" rIns="0" tIns="0" bIns="0" anchor="ctr">
            <a:spAutoFit/>
          </a:bodyPr>
          <a:lstStyle/>
          <a:p>
            <a:pPr algn="ctr"/>
            <a:r>
              <a:rPr sz="1100" b="1">
                <a:solidFill>
                  <a:srgbClr val="FFFFFF"/>
                </a:solidFill>
                <a:latin typeface="Calibri"/>
              </a:rPr>
              <a:t>2</a:t>
            </a:r>
          </a:p>
        </p:txBody>
      </p:sp>
      <p:sp>
        <p:nvSpPr>
          <p:cNvPr id="38" name="TextBox 37"/>
          <p:cNvSpPr txBox="1"/>
          <p:nvPr/>
        </p:nvSpPr>
        <p:spPr>
          <a:xfrm>
            <a:off x="495300" y="3009900"/>
            <a:ext cx="5410200" cy="190500"/>
          </a:xfrm>
          <a:prstGeom prst="rect">
            <a:avLst/>
          </a:prstGeom>
          <a:noFill/>
        </p:spPr>
        <p:txBody>
          <a:bodyPr wrap="square" lIns="28575" rIns="28575" tIns="9525" bIns="9525" anchor="t">
            <a:spAutoFit/>
          </a:bodyPr>
          <a:lstStyle/>
          <a:p>
            <a:pPr algn="l"/>
            <a:r>
              <a:rPr sz="1100" b="1">
                <a:solidFill>
                  <a:srgbClr val="1F2933"/>
                </a:solidFill>
                <a:latin typeface="Calibri"/>
              </a:rPr>
              <a:t>The tier structure is steep</a:t>
            </a:r>
          </a:p>
        </p:txBody>
      </p:sp>
      <p:sp>
        <p:nvSpPr>
          <p:cNvPr id="39" name="TextBox 38"/>
          <p:cNvSpPr txBox="1"/>
          <p:nvPr/>
        </p:nvSpPr>
        <p:spPr>
          <a:xfrm>
            <a:off x="495300" y="3219450"/>
            <a:ext cx="5410200" cy="7620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
            </a:r>
          </a:p>
        </p:txBody>
      </p:sp>
      <p:sp>
        <p:nvSpPr>
          <p:cNvPr id="40" name="Rectangle 39"/>
          <p:cNvSpPr/>
          <p:nvPr/>
        </p:nvSpPr>
        <p:spPr>
          <a:xfrm>
            <a:off x="190500" y="4133850"/>
            <a:ext cx="209550" cy="2095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90500" y="4133850"/>
            <a:ext cx="209550" cy="209550"/>
          </a:xfrm>
          <a:prstGeom prst="rect">
            <a:avLst/>
          </a:prstGeom>
          <a:noFill/>
        </p:spPr>
        <p:txBody>
          <a:bodyPr wrap="none" lIns="0" rIns="0" tIns="0" bIns="0" anchor="ctr">
            <a:spAutoFit/>
          </a:bodyPr>
          <a:lstStyle/>
          <a:p>
            <a:pPr algn="ctr"/>
            <a:r>
              <a:rPr sz="1100" b="1">
                <a:solidFill>
                  <a:srgbClr val="FFFFFF"/>
                </a:solidFill>
                <a:latin typeface="Calibri"/>
              </a:rPr>
              <a:t>3</a:t>
            </a:r>
          </a:p>
        </p:txBody>
      </p:sp>
      <p:sp>
        <p:nvSpPr>
          <p:cNvPr id="42" name="TextBox 41"/>
          <p:cNvSpPr txBox="1"/>
          <p:nvPr/>
        </p:nvSpPr>
        <p:spPr>
          <a:xfrm>
            <a:off x="495300" y="4114800"/>
            <a:ext cx="5410200" cy="190500"/>
          </a:xfrm>
          <a:prstGeom prst="rect">
            <a:avLst/>
          </a:prstGeom>
          <a:noFill/>
        </p:spPr>
        <p:txBody>
          <a:bodyPr wrap="square" lIns="28575" rIns="28575" tIns="9525" bIns="9525" anchor="t">
            <a:spAutoFit/>
          </a:bodyPr>
          <a:lstStyle/>
          <a:p>
            <a:pPr algn="l"/>
            <a:r>
              <a:rPr sz="1100" b="1">
                <a:solidFill>
                  <a:srgbClr val="1F2933"/>
                </a:solidFill>
                <a:latin typeface="Calibri"/>
              </a:rPr>
              <a:t>Growth is shifting inside the product mix</a:t>
            </a:r>
          </a:p>
        </p:txBody>
      </p:sp>
      <p:sp>
        <p:nvSpPr>
          <p:cNvPr id="43" name="TextBox 42"/>
          <p:cNvSpPr txBox="1"/>
          <p:nvPr/>
        </p:nvSpPr>
        <p:spPr>
          <a:xfrm>
            <a:off x="495300" y="4324350"/>
            <a:ext cx="5410200" cy="7620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
            </a:r>
          </a:p>
        </p:txBody>
      </p:sp>
      <p:sp>
        <p:nvSpPr>
          <p:cNvPr id="44" name="Rectangle 43"/>
          <p:cNvSpPr/>
          <p:nvPr/>
        </p:nvSpPr>
        <p:spPr>
          <a:xfrm>
            <a:off x="6286500" y="1924050"/>
            <a:ext cx="209550" cy="2095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286500" y="1924050"/>
            <a:ext cx="209550" cy="209550"/>
          </a:xfrm>
          <a:prstGeom prst="rect">
            <a:avLst/>
          </a:prstGeom>
          <a:noFill/>
        </p:spPr>
        <p:txBody>
          <a:bodyPr wrap="none" lIns="0" rIns="0" tIns="0" bIns="0" anchor="ctr">
            <a:spAutoFit/>
          </a:bodyPr>
          <a:lstStyle/>
          <a:p>
            <a:pPr algn="ctr"/>
            <a:r>
              <a:rPr sz="1100" b="1">
                <a:solidFill>
                  <a:srgbClr val="FFFFFF"/>
                </a:solidFill>
                <a:latin typeface="Calibri"/>
              </a:rPr>
              <a:t>4</a:t>
            </a:r>
          </a:p>
        </p:txBody>
      </p:sp>
      <p:sp>
        <p:nvSpPr>
          <p:cNvPr id="46" name="TextBox 45"/>
          <p:cNvSpPr txBox="1"/>
          <p:nvPr/>
        </p:nvSpPr>
        <p:spPr>
          <a:xfrm>
            <a:off x="6591300" y="1905000"/>
            <a:ext cx="5410200" cy="190500"/>
          </a:xfrm>
          <a:prstGeom prst="rect">
            <a:avLst/>
          </a:prstGeom>
          <a:noFill/>
        </p:spPr>
        <p:txBody>
          <a:bodyPr wrap="square" lIns="28575" rIns="28575" tIns="9525" bIns="9525" anchor="t">
            <a:spAutoFit/>
          </a:bodyPr>
          <a:lstStyle/>
          <a:p>
            <a:pPr algn="l"/>
            <a:r>
              <a:rPr sz="1100" b="1">
                <a:solidFill>
                  <a:srgbClr val="1F2933"/>
                </a:solidFill>
                <a:latin typeface="Calibri"/>
              </a:rPr>
              <a:t>Reach divides the field</a:t>
            </a:r>
          </a:p>
        </p:txBody>
      </p:sp>
      <p:sp>
        <p:nvSpPr>
          <p:cNvPr id="47" name="TextBox 46"/>
          <p:cNvSpPr txBox="1"/>
          <p:nvPr/>
        </p:nvSpPr>
        <p:spPr>
          <a:xfrm>
            <a:off x="6591300" y="2114550"/>
            <a:ext cx="5410200" cy="7620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4 players compete globally, 2 regionally and 4 in one market or niche.</a:t>
            </a:r>
          </a:p>
        </p:txBody>
      </p:sp>
      <p:sp>
        <p:nvSpPr>
          <p:cNvPr id="48" name="Rectangle 47"/>
          <p:cNvSpPr/>
          <p:nvPr/>
        </p:nvSpPr>
        <p:spPr>
          <a:xfrm>
            <a:off x="6286500" y="3028950"/>
            <a:ext cx="209550" cy="2095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286500" y="3028950"/>
            <a:ext cx="209550" cy="209550"/>
          </a:xfrm>
          <a:prstGeom prst="rect">
            <a:avLst/>
          </a:prstGeom>
          <a:noFill/>
        </p:spPr>
        <p:txBody>
          <a:bodyPr wrap="none" lIns="0" rIns="0" tIns="0" bIns="0" anchor="ctr">
            <a:spAutoFit/>
          </a:bodyPr>
          <a:lstStyle/>
          <a:p>
            <a:pPr algn="ctr"/>
            <a:r>
              <a:rPr sz="1100" b="1">
                <a:solidFill>
                  <a:srgbClr val="FFFFFF"/>
                </a:solidFill>
                <a:latin typeface="Calibri"/>
              </a:rPr>
              <a:t>5</a:t>
            </a:r>
          </a:p>
        </p:txBody>
      </p:sp>
      <p:sp>
        <p:nvSpPr>
          <p:cNvPr id="50" name="TextBox 49"/>
          <p:cNvSpPr txBox="1"/>
          <p:nvPr/>
        </p:nvSpPr>
        <p:spPr>
          <a:xfrm>
            <a:off x="6591300" y="3009900"/>
            <a:ext cx="5410200" cy="190500"/>
          </a:xfrm>
          <a:prstGeom prst="rect">
            <a:avLst/>
          </a:prstGeom>
          <a:noFill/>
        </p:spPr>
        <p:txBody>
          <a:bodyPr wrap="square" lIns="28575" rIns="28575" tIns="9525" bIns="9525" anchor="t">
            <a:spAutoFit/>
          </a:bodyPr>
          <a:lstStyle/>
          <a:p>
            <a:pPr algn="l"/>
            <a:r>
              <a:rPr sz="1100" b="1">
                <a:solidFill>
                  <a:srgbClr val="1F2933"/>
                </a:solidFill>
                <a:latin typeface="Calibri"/>
              </a:rPr>
              <a:t>Consolidation is an active lever</a:t>
            </a:r>
          </a:p>
        </p:txBody>
      </p:sp>
      <p:sp>
        <p:nvSpPr>
          <p:cNvPr id="51" name="TextBox 50"/>
          <p:cNvSpPr txBox="1"/>
          <p:nvPr/>
        </p:nvSpPr>
        <p:spPr>
          <a:xfrm>
            <a:off x="6591300" y="3219450"/>
            <a:ext cx="5410200" cy="7620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Acquisition is an active strategy at 5 of 10 named players; the independent target list is shrinking.</a:t>
            </a:r>
          </a:p>
        </p:txBody>
      </p:sp>
      <p:sp>
        <p:nvSpPr>
          <p:cNvPr id="52" name="Rectangle 51"/>
          <p:cNvSpPr/>
          <p:nvPr/>
        </p:nvSpPr>
        <p:spPr>
          <a:xfrm>
            <a:off x="6286500" y="4133850"/>
            <a:ext cx="209550" cy="2095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286500" y="4133850"/>
            <a:ext cx="209550" cy="209550"/>
          </a:xfrm>
          <a:prstGeom prst="rect">
            <a:avLst/>
          </a:prstGeom>
          <a:noFill/>
        </p:spPr>
        <p:txBody>
          <a:bodyPr wrap="none" lIns="0" rIns="0" tIns="0" bIns="0" anchor="ctr">
            <a:spAutoFit/>
          </a:bodyPr>
          <a:lstStyle/>
          <a:p>
            <a:pPr algn="ctr"/>
            <a:r>
              <a:rPr sz="1100" b="1">
                <a:solidFill>
                  <a:srgbClr val="FFFFFF"/>
                </a:solidFill>
                <a:latin typeface="Calibri"/>
              </a:rPr>
              <a:t>6</a:t>
            </a:r>
          </a:p>
        </p:txBody>
      </p:sp>
      <p:sp>
        <p:nvSpPr>
          <p:cNvPr id="54" name="TextBox 53"/>
          <p:cNvSpPr txBox="1"/>
          <p:nvPr/>
        </p:nvSpPr>
        <p:spPr>
          <a:xfrm>
            <a:off x="6591300" y="4114800"/>
            <a:ext cx="5410200" cy="190500"/>
          </a:xfrm>
          <a:prstGeom prst="rect">
            <a:avLst/>
          </a:prstGeom>
          <a:noFill/>
        </p:spPr>
        <p:txBody>
          <a:bodyPr wrap="square" lIns="28575" rIns="28575" tIns="9525" bIns="9525" anchor="t">
            <a:spAutoFit/>
          </a:bodyPr>
          <a:lstStyle/>
          <a:p>
            <a:pPr algn="l"/>
            <a:r>
              <a:rPr sz="1100" b="1">
                <a:solidFill>
                  <a:srgbClr val="1F2933"/>
                </a:solidFill>
                <a:latin typeface="Calibri"/>
              </a:rPr>
              <a:t>Success factors, in order</a:t>
            </a:r>
          </a:p>
        </p:txBody>
      </p:sp>
      <p:sp>
        <p:nvSpPr>
          <p:cNvPr id="55" name="TextBox 54"/>
          <p:cNvSpPr txBox="1"/>
          <p:nvPr/>
        </p:nvSpPr>
        <p:spPr>
          <a:xfrm>
            <a:off x="6591300" y="4324350"/>
            <a:ext cx="5410200" cy="7620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1 segment breadth, 2 scale and share, 3 geographic reach, 4 innovation pipeline, 5 strategic momentum.  Ranking leads: ESM Technologies, LLC, Biova, LLC, Company.</a:t>
            </a:r>
          </a:p>
        </p:txBody>
      </p:sp>
      <p:cxnSp>
        <p:nvCxnSpPr>
          <p:cNvPr id="56" name="Connector 55"/>
          <p:cNvCxnSpPr/>
          <p:nvPr/>
        </p:nvCxnSpPr>
        <p:spPr>
          <a:xfrm>
            <a:off x="190500" y="5219700"/>
            <a:ext cx="11811000" cy="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57" name="TextBox 56"/>
          <p:cNvSpPr txBox="1"/>
          <p:nvPr/>
        </p:nvSpPr>
        <p:spPr>
          <a:xfrm>
            <a:off x="190500" y="5276850"/>
            <a:ext cx="3810000" cy="152400"/>
          </a:xfrm>
          <a:prstGeom prst="rect">
            <a:avLst/>
          </a:prstGeom>
          <a:noFill/>
        </p:spPr>
        <p:txBody>
          <a:bodyPr wrap="square" lIns="28575" rIns="28575" tIns="9525" bIns="9525" anchor="t">
            <a:spAutoFit/>
          </a:bodyPr>
          <a:lstStyle/>
          <a:p>
            <a:pPr algn="l"/>
            <a:r>
              <a:rPr sz="1100" b="1">
                <a:solidFill>
                  <a:srgbClr val="0F2D52"/>
                </a:solidFill>
                <a:latin typeface="Calibri"/>
              </a:rPr>
              <a:t>HOW THIS SECTION IS BUILT</a:t>
            </a:r>
          </a:p>
        </p:txBody>
      </p:sp>
      <p:sp>
        <p:nvSpPr>
          <p:cNvPr id="58" name="TextBox 57"/>
          <p:cNvSpPr txBox="1"/>
          <p:nvPr/>
        </p:nvSpPr>
        <p:spPr>
          <a:xfrm>
            <a:off x="190500" y="5448300"/>
            <a:ext cx="11811000" cy="5715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Pages 2 to 4 show where the market is and who plays.  Pages 5 to 7 rate every named company on twenty Ps (who they are, what they sell, how they win); a cell reads n/a where no evidence exists.  Page 8 turns the pattern into five success factors and a ranking.  Pages 9 and 10 list what each player is doing and what each of your departments should do about it.</a:t>
            </a:r>
          </a:p>
        </p:txBody>
      </p:sp>
      <p:sp>
        <p:nvSpPr>
          <p:cNvPr id="59" name="Rectangle 58"/>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61" name="Picture 60" descr="lock.png"/>
          <p:cNvPicPr>
            <a:picLocks noChangeAspect="1"/>
          </p:cNvPicPr>
          <p:nvPr/>
        </p:nvPicPr>
        <p:blipFill>
          <a:blip r:embed="rId4"/>
          <a:stretch>
            <a:fillRect/>
          </a:stretch>
        </p:blipFill>
        <p:spPr>
          <a:xfrm>
            <a:off x="873863" y="1401826"/>
            <a:ext cx="128699" cy="187198"/>
          </a:xfrm>
          <a:prstGeom prst="rect">
            <a:avLst/>
          </a:prstGeom>
        </p:spPr>
      </p:pic>
      <p:pic>
        <p:nvPicPr>
          <p:cNvPr id="62" name="Picture 61" descr="lock.png"/>
          <p:cNvPicPr>
            <a:picLocks noChangeAspect="1"/>
          </p:cNvPicPr>
          <p:nvPr/>
        </p:nvPicPr>
        <p:blipFill>
          <a:blip r:embed="rId4"/>
          <a:stretch>
            <a:fillRect/>
          </a:stretch>
        </p:blipFill>
        <p:spPr>
          <a:xfrm>
            <a:off x="2350238" y="1401826"/>
            <a:ext cx="128699" cy="187198"/>
          </a:xfrm>
          <a:prstGeom prst="rect">
            <a:avLst/>
          </a:prstGeom>
        </p:spPr>
      </p:pic>
      <p:pic>
        <p:nvPicPr>
          <p:cNvPr id="63" name="Picture 62" descr="lock.png"/>
          <p:cNvPicPr>
            <a:picLocks noChangeAspect="1"/>
          </p:cNvPicPr>
          <p:nvPr/>
        </p:nvPicPr>
        <p:blipFill>
          <a:blip r:embed="rId4"/>
          <a:stretch>
            <a:fillRect/>
          </a:stretch>
        </p:blipFill>
        <p:spPr>
          <a:xfrm>
            <a:off x="3826613" y="1401826"/>
            <a:ext cx="128699" cy="187198"/>
          </a:xfrm>
          <a:prstGeom prst="rect">
            <a:avLst/>
          </a:prstGeom>
        </p:spPr>
      </p:pic>
      <p:pic>
        <p:nvPicPr>
          <p:cNvPr id="64" name="Picture 63" descr="lock.png"/>
          <p:cNvPicPr>
            <a:picLocks noChangeAspect="1"/>
          </p:cNvPicPr>
          <p:nvPr/>
        </p:nvPicPr>
        <p:blipFill>
          <a:blip r:embed="rId4"/>
          <a:stretch>
            <a:fillRect/>
          </a:stretch>
        </p:blipFill>
        <p:spPr>
          <a:xfrm>
            <a:off x="11208488" y="1401826"/>
            <a:ext cx="128699" cy="187198"/>
          </a:xfrm>
          <a:prstGeom prst="rect">
            <a:avLst/>
          </a:prstGeom>
        </p:spPr>
      </p:pic>
      <p:sp>
        <p:nvSpPr>
          <p:cNvPr id="65" name="TextBox 64"/>
          <p:cNvSpPr txBox="1"/>
          <p:nvPr/>
        </p:nvSpPr>
        <p:spPr>
          <a:xfrm>
            <a:off x="4705350" y="1304925"/>
            <a:ext cx="1323975" cy="179984"/>
          </a:xfrm>
          <a:prstGeom prst="rect">
            <a:avLst/>
          </a:prstGeom>
          <a:noFill/>
        </p:spPr>
        <p:txBody>
          <a:bodyPr wrap="none" lIns="0" rIns="0" tIns="0" bIns="0">
            <a:spAutoFit/>
          </a:bodyPr>
          <a:lstStyle/>
          <a:p>
            <a:r>
              <a:rPr sz="1055" b="1">
                <a:solidFill>
                  <a:srgbClr val="0F2D52"/>
                </a:solidFill>
                <a:latin typeface="Calibri"/>
              </a:rPr>
              <a:t>Dietary Supplements &amp;</a:t>
            </a:r>
          </a:p>
        </p:txBody>
      </p:sp>
      <p:sp>
        <p:nvSpPr>
          <p:cNvPr id="66" name="TextBox 65"/>
          <p:cNvSpPr txBox="1"/>
          <p:nvPr/>
        </p:nvSpPr>
        <p:spPr>
          <a:xfrm>
            <a:off x="4705350" y="1465859"/>
            <a:ext cx="915709" cy="179984"/>
          </a:xfrm>
          <a:prstGeom prst="rect">
            <a:avLst/>
          </a:prstGeom>
          <a:noFill/>
        </p:spPr>
        <p:txBody>
          <a:bodyPr wrap="none" lIns="0" rIns="0" tIns="0" bIns="0">
            <a:spAutoFit/>
          </a:bodyPr>
          <a:lstStyle/>
          <a:p>
            <a:r>
              <a:rPr sz="1055" b="1">
                <a:solidFill>
                  <a:srgbClr val="0F2D52"/>
                </a:solidFill>
                <a:latin typeface="Calibri"/>
              </a:rPr>
              <a:t>Nutraceuticals,</a:t>
            </a:r>
          </a:p>
        </p:txBody>
      </p:sp>
      <p:pic>
        <p:nvPicPr>
          <p:cNvPr id="67" name="Picture 66" descr="lock.png"/>
          <p:cNvPicPr>
            <a:picLocks noChangeAspect="1"/>
          </p:cNvPicPr>
          <p:nvPr/>
        </p:nvPicPr>
        <p:blipFill>
          <a:blip r:embed="rId4"/>
          <a:stretch>
            <a:fillRect/>
          </a:stretch>
        </p:blipFill>
        <p:spPr>
          <a:xfrm>
            <a:off x="5568141" y="1456471"/>
            <a:ext cx="123551" cy="179710"/>
          </a:xfrm>
          <a:prstGeom prst="rect">
            <a:avLst/>
          </a:prstGeom>
        </p:spPr>
      </p:pic>
      <p:sp>
        <p:nvSpPr>
          <p:cNvPr id="68" name="TextBox 67"/>
          <p:cNvSpPr txBox="1"/>
          <p:nvPr/>
        </p:nvSpPr>
        <p:spPr>
          <a:xfrm>
            <a:off x="523875" y="2124075"/>
            <a:ext cx="1137319" cy="186689"/>
          </a:xfrm>
          <a:prstGeom prst="rect">
            <a:avLst/>
          </a:prstGeom>
          <a:noFill/>
        </p:spPr>
        <p:txBody>
          <a:bodyPr wrap="none" lIns="0" rIns="0" tIns="0" bIns="0">
            <a:spAutoFit/>
          </a:bodyPr>
          <a:lstStyle/>
          <a:p>
            <a:r>
              <a:rPr sz="1100" b="0">
                <a:solidFill>
                  <a:srgbClr val="1F2933"/>
                </a:solidFill>
                <a:latin typeface="Calibri"/>
              </a:rPr>
              <a:t>The top three hold</a:t>
            </a:r>
          </a:p>
        </p:txBody>
      </p:sp>
      <p:pic>
        <p:nvPicPr>
          <p:cNvPr id="69" name="Picture 68" descr="lock.png"/>
          <p:cNvPicPr>
            <a:picLocks noChangeAspect="1"/>
          </p:cNvPicPr>
          <p:nvPr/>
        </p:nvPicPr>
        <p:blipFill>
          <a:blip r:embed="rId4"/>
          <a:stretch>
            <a:fillRect/>
          </a:stretch>
        </p:blipFill>
        <p:spPr>
          <a:xfrm>
            <a:off x="1609246" y="2114296"/>
            <a:ext cx="128699" cy="187198"/>
          </a:xfrm>
          <a:prstGeom prst="rect">
            <a:avLst/>
          </a:prstGeom>
        </p:spPr>
      </p:pic>
      <p:sp>
        <p:nvSpPr>
          <p:cNvPr id="70" name="TextBox 69"/>
          <p:cNvSpPr txBox="1"/>
          <p:nvPr/>
        </p:nvSpPr>
        <p:spPr>
          <a:xfrm>
            <a:off x="1776742" y="2124075"/>
            <a:ext cx="3949327" cy="186689"/>
          </a:xfrm>
          <a:prstGeom prst="rect">
            <a:avLst/>
          </a:prstGeom>
          <a:noFill/>
        </p:spPr>
        <p:txBody>
          <a:bodyPr wrap="none" lIns="0" rIns="0" tIns="0" bIns="0">
            <a:spAutoFit/>
          </a:bodyPr>
          <a:lstStyle/>
          <a:p>
            <a:r>
              <a:rPr sz="1100" b="0">
                <a:solidFill>
                  <a:srgbClr val="1F2933"/>
                </a:solidFill>
                <a:latin typeface="Calibri"/>
              </a:rPr>
              <a:t>of 2026 value, but 3 companies lead the 7 sub-segments tracked; no</a:t>
            </a:r>
          </a:p>
        </p:txBody>
      </p:sp>
      <p:sp>
        <p:nvSpPr>
          <p:cNvPr id="71" name="TextBox 70"/>
          <p:cNvSpPr txBox="1"/>
          <p:nvPr/>
        </p:nvSpPr>
        <p:spPr>
          <a:xfrm>
            <a:off x="523875" y="2291715"/>
            <a:ext cx="1386433" cy="186689"/>
          </a:xfrm>
          <a:prstGeom prst="rect">
            <a:avLst/>
          </a:prstGeom>
          <a:noFill/>
        </p:spPr>
        <p:txBody>
          <a:bodyPr wrap="none" lIns="0" rIns="0" tIns="0" bIns="0">
            <a:spAutoFit/>
          </a:bodyPr>
          <a:lstStyle/>
          <a:p>
            <a:r>
              <a:rPr sz="1100" b="0">
                <a:solidFill>
                  <a:srgbClr val="1F2933"/>
                </a:solidFill>
                <a:latin typeface="Calibri"/>
              </a:rPr>
              <a:t>one leads more than 4.</a:t>
            </a:r>
          </a:p>
        </p:txBody>
      </p:sp>
      <p:sp>
        <p:nvSpPr>
          <p:cNvPr id="72" name="TextBox 71"/>
          <p:cNvSpPr txBox="1"/>
          <p:nvPr/>
        </p:nvSpPr>
        <p:spPr>
          <a:xfrm>
            <a:off x="523875" y="3228975"/>
            <a:ext cx="1364059" cy="186689"/>
          </a:xfrm>
          <a:prstGeom prst="rect">
            <a:avLst/>
          </a:prstGeom>
          <a:noFill/>
        </p:spPr>
        <p:txBody>
          <a:bodyPr wrap="none" lIns="0" rIns="0" tIns="0" bIns="0">
            <a:spAutoFit/>
          </a:bodyPr>
          <a:lstStyle/>
          <a:p>
            <a:r>
              <a:rPr sz="1100" b="0">
                <a:solidFill>
                  <a:srgbClr val="1F2933"/>
                </a:solidFill>
                <a:latin typeface="Calibri"/>
              </a:rPr>
              <a:t>Tier 1 (4 players) holds</a:t>
            </a:r>
          </a:p>
        </p:txBody>
      </p:sp>
      <p:pic>
        <p:nvPicPr>
          <p:cNvPr id="73" name="Picture 72" descr="lock.png"/>
          <p:cNvPicPr>
            <a:picLocks noChangeAspect="1"/>
          </p:cNvPicPr>
          <p:nvPr/>
        </p:nvPicPr>
        <p:blipFill>
          <a:blip r:embed="rId4"/>
          <a:stretch>
            <a:fillRect/>
          </a:stretch>
        </p:blipFill>
        <p:spPr>
          <a:xfrm>
            <a:off x="1835985" y="3219196"/>
            <a:ext cx="128699" cy="187198"/>
          </a:xfrm>
          <a:prstGeom prst="rect">
            <a:avLst/>
          </a:prstGeom>
        </p:spPr>
      </p:pic>
      <p:sp>
        <p:nvSpPr>
          <p:cNvPr id="74" name="TextBox 73"/>
          <p:cNvSpPr txBox="1"/>
          <p:nvPr/>
        </p:nvSpPr>
        <p:spPr>
          <a:xfrm>
            <a:off x="2003481" y="3228975"/>
            <a:ext cx="1875656" cy="186689"/>
          </a:xfrm>
          <a:prstGeom prst="rect">
            <a:avLst/>
          </a:prstGeom>
          <a:noFill/>
        </p:spPr>
        <p:txBody>
          <a:bodyPr wrap="none" lIns="0" rIns="0" tIns="0" bIns="0">
            <a:spAutoFit/>
          </a:bodyPr>
          <a:lstStyle/>
          <a:p>
            <a:r>
              <a:rPr sz="1100" b="0">
                <a:solidFill>
                  <a:srgbClr val="1F2933"/>
                </a:solidFill>
                <a:latin typeface="Calibri"/>
              </a:rPr>
              <a:t>; Tier 2 and Tier 3 together hold</a:t>
            </a:r>
          </a:p>
        </p:txBody>
      </p:sp>
      <p:pic>
        <p:nvPicPr>
          <p:cNvPr id="75" name="Picture 74" descr="lock.png"/>
          <p:cNvPicPr>
            <a:picLocks noChangeAspect="1"/>
          </p:cNvPicPr>
          <p:nvPr/>
        </p:nvPicPr>
        <p:blipFill>
          <a:blip r:embed="rId4"/>
          <a:stretch>
            <a:fillRect/>
          </a:stretch>
        </p:blipFill>
        <p:spPr>
          <a:xfrm>
            <a:off x="3827189" y="3219196"/>
            <a:ext cx="128699" cy="187198"/>
          </a:xfrm>
          <a:prstGeom prst="rect">
            <a:avLst/>
          </a:prstGeom>
        </p:spPr>
      </p:pic>
      <p:sp>
        <p:nvSpPr>
          <p:cNvPr id="76" name="TextBox 75"/>
          <p:cNvSpPr txBox="1"/>
          <p:nvPr/>
        </p:nvSpPr>
        <p:spPr>
          <a:xfrm>
            <a:off x="3994685" y="3228975"/>
            <a:ext cx="111397" cy="186689"/>
          </a:xfrm>
          <a:prstGeom prst="rect">
            <a:avLst/>
          </a:prstGeom>
          <a:noFill/>
        </p:spPr>
        <p:txBody>
          <a:bodyPr wrap="none" lIns="0" rIns="0" tIns="0" bIns="0">
            <a:spAutoFit/>
          </a:bodyPr>
          <a:lstStyle/>
          <a:p>
            <a:r>
              <a:rPr sz="1100" b="0">
                <a:solidFill>
                  <a:srgbClr val="1F2933"/>
                </a:solidFill>
                <a:latin typeface="Calibri"/>
              </a:rPr>
              <a:t>.</a:t>
            </a:r>
          </a:p>
        </p:txBody>
      </p:sp>
      <p:sp>
        <p:nvSpPr>
          <p:cNvPr id="77" name="TextBox 76"/>
          <p:cNvSpPr txBox="1"/>
          <p:nvPr/>
        </p:nvSpPr>
        <p:spPr>
          <a:xfrm>
            <a:off x="523875" y="4333875"/>
            <a:ext cx="5141416" cy="186689"/>
          </a:xfrm>
          <a:prstGeom prst="rect">
            <a:avLst/>
          </a:prstGeom>
          <a:noFill/>
        </p:spPr>
        <p:txBody>
          <a:bodyPr wrap="none" lIns="0" rIns="0" tIns="0" bIns="0">
            <a:spAutoFit/>
          </a:bodyPr>
          <a:lstStyle/>
          <a:p>
            <a:r>
              <a:rPr sz="1100" b="0">
                <a:solidFill>
                  <a:srgbClr val="1F2933"/>
                </a:solidFill>
                <a:latin typeface="Calibri"/>
              </a:rPr>
              <a:t>'Specialty Extracted Protein Fractions' is the largest line; 'Hydrolyzed Eggshell Membrane'</a:t>
            </a:r>
          </a:p>
        </p:txBody>
      </p:sp>
      <p:sp>
        <p:nvSpPr>
          <p:cNvPr id="78" name="TextBox 77"/>
          <p:cNvSpPr txBox="1"/>
          <p:nvPr/>
        </p:nvSpPr>
        <p:spPr>
          <a:xfrm>
            <a:off x="523875" y="4501515"/>
            <a:ext cx="1301576" cy="186689"/>
          </a:xfrm>
          <a:prstGeom prst="rect">
            <a:avLst/>
          </a:prstGeom>
          <a:noFill/>
        </p:spPr>
        <p:txBody>
          <a:bodyPr wrap="none" lIns="0" rIns="0" tIns="0" bIns="0">
            <a:spAutoFit/>
          </a:bodyPr>
          <a:lstStyle/>
          <a:p>
            <a:r>
              <a:rPr sz="1100" b="0">
                <a:solidFill>
                  <a:srgbClr val="1F2933"/>
                </a:solidFill>
                <a:latin typeface="Calibri"/>
              </a:rPr>
              <a:t>compounds fastest at</a:t>
            </a:r>
          </a:p>
        </p:txBody>
      </p:sp>
      <p:pic>
        <p:nvPicPr>
          <p:cNvPr id="79" name="Picture 78" descr="lock.png"/>
          <p:cNvPicPr>
            <a:picLocks noChangeAspect="1"/>
          </p:cNvPicPr>
          <p:nvPr/>
        </p:nvPicPr>
        <p:blipFill>
          <a:blip r:embed="rId4"/>
          <a:stretch>
            <a:fillRect/>
          </a:stretch>
        </p:blipFill>
        <p:spPr>
          <a:xfrm>
            <a:off x="1773502" y="4491736"/>
            <a:ext cx="128699" cy="187198"/>
          </a:xfrm>
          <a:prstGeom prst="rect">
            <a:avLst/>
          </a:prstGeom>
        </p:spPr>
      </p:pic>
      <p:sp>
        <p:nvSpPr>
          <p:cNvPr id="80" name="TextBox 79"/>
          <p:cNvSpPr txBox="1"/>
          <p:nvPr/>
        </p:nvSpPr>
        <p:spPr>
          <a:xfrm>
            <a:off x="1940998" y="4501515"/>
            <a:ext cx="430617" cy="186689"/>
          </a:xfrm>
          <a:prstGeom prst="rect">
            <a:avLst/>
          </a:prstGeom>
          <a:noFill/>
        </p:spPr>
        <p:txBody>
          <a:bodyPr wrap="none" lIns="0" rIns="0" tIns="0" bIns="0">
            <a:spAutoFit/>
          </a:bodyPr>
          <a:lstStyle/>
          <a:p>
            <a:r>
              <a:rPr sz="1100" b="0">
                <a:solidFill>
                  <a:srgbClr val="1F2933"/>
                </a:solidFill>
                <a:latin typeface="Calibri"/>
              </a:rPr>
              <a:t>CAGR.</a:t>
            </a:r>
          </a:p>
        </p:txBody>
      </p:sp>
    </p:spTree>
  </p:cSld>
  <p:clrMapOvr>
    <a:masterClrMapping/>
  </p:clrMapOvr>
</p:sld>
</file>

<file path=ppt/slides/slide2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Egg Protein Membrane Market Segment Leadership Map</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Share by player group and which named player leads or is active in each sub-segment, 2026</a:t>
            </a:r>
          </a:p>
        </p:txBody>
      </p:sp>
      <p:sp>
        <p:nvSpPr>
          <p:cNvPr id="7" name="TextBox 6"/>
          <p:cNvSpPr txBox="1"/>
          <p:nvPr/>
        </p:nvSpPr>
        <p:spPr>
          <a:xfrm>
            <a:off x="190500" y="1047750"/>
            <a:ext cx="5715000" cy="171450"/>
          </a:xfrm>
          <a:prstGeom prst="rect">
            <a:avLst/>
          </a:prstGeom>
          <a:noFill/>
        </p:spPr>
        <p:txBody>
          <a:bodyPr wrap="square" lIns="28575" rIns="28575" tIns="9525" bIns="9525" anchor="t">
            <a:spAutoFit/>
          </a:bodyPr>
          <a:lstStyle/>
          <a:p>
            <a:pPr algn="l"/>
            <a:r>
              <a:rPr sz="1100" b="1">
                <a:solidFill>
                  <a:srgbClr val="0F2D52"/>
                </a:solidFill>
                <a:latin typeface="Calibri"/>
              </a:rPr>
              <a:t>Who holds the market, 2026</a:t>
            </a:r>
          </a:p>
        </p:txBody>
      </p:sp>
      <p:sp>
        <p:nvSpPr>
          <p:cNvPr id="8" name="Rectangle 7"/>
          <p:cNvSpPr/>
          <p:nvPr/>
        </p:nvSpPr>
        <p:spPr>
          <a:xfrm>
            <a:off x="190500" y="1257300"/>
            <a:ext cx="4509884" cy="266700"/>
          </a:xfrm>
          <a:prstGeom prst="rect">
            <a:avLst/>
          </a:prstGeom>
          <a:solidFill>
            <a:srgbClr val="0F2D52"/>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47650" y="1257300"/>
            <a:ext cx="4433684" cy="266700"/>
          </a:xfrm>
          <a:prstGeom prst="rect">
            <a:avLst/>
          </a:prstGeom>
          <a:noFill/>
        </p:spPr>
        <p:txBody>
          <a:bodyPr wrap="square" lIns="28575" rIns="28575" tIns="9525" bIns="9525" anchor="ctr">
            <a:spAutoFit/>
          </a:bodyPr>
          <a:lstStyle/>
          <a:p>
            <a:pPr algn="l"/>
            <a:r>
              <a:rPr sz="1100" b="1">
                <a:solidFill>
                  <a:srgbClr val="FFFFFF"/>
                </a:solidFill>
                <a:latin typeface="Calibri"/>
              </a:rPr>
              <a:t/>
            </a:r>
          </a:p>
        </p:txBody>
      </p:sp>
      <p:sp>
        <p:nvSpPr>
          <p:cNvPr id="10" name="Rectangle 9"/>
          <p:cNvSpPr/>
          <p:nvPr/>
        </p:nvSpPr>
        <p:spPr>
          <a:xfrm>
            <a:off x="4700384" y="1257300"/>
            <a:ext cx="1536162" cy="266700"/>
          </a:xfrm>
          <a:prstGeom prst="rect">
            <a:avLst/>
          </a:prstGeom>
          <a:solidFill>
            <a:srgbClr val="1F6FA8"/>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757534" y="1257300"/>
            <a:ext cx="1459962" cy="266700"/>
          </a:xfrm>
          <a:prstGeom prst="rect">
            <a:avLst/>
          </a:prstGeom>
          <a:noFill/>
        </p:spPr>
        <p:txBody>
          <a:bodyPr wrap="square" lIns="28575" rIns="28575" tIns="9525" bIns="9525" anchor="ctr">
            <a:spAutoFit/>
          </a:bodyPr>
          <a:lstStyle/>
          <a:p>
            <a:pPr algn="l"/>
            <a:r>
              <a:rPr sz="1100" b="1">
                <a:solidFill>
                  <a:srgbClr val="FFFFFF"/>
                </a:solidFill>
                <a:latin typeface="Calibri"/>
              </a:rPr>
              <a:t/>
            </a:r>
          </a:p>
        </p:txBody>
      </p:sp>
      <p:sp>
        <p:nvSpPr>
          <p:cNvPr id="12" name="Rectangle 11"/>
          <p:cNvSpPr/>
          <p:nvPr/>
        </p:nvSpPr>
        <p:spPr>
          <a:xfrm>
            <a:off x="6236546" y="1257300"/>
            <a:ext cx="2242416" cy="266700"/>
          </a:xfrm>
          <a:prstGeom prst="rect">
            <a:avLst/>
          </a:prstGeom>
          <a:solidFill>
            <a:srgbClr val="6FA0CF"/>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93696" y="1257300"/>
            <a:ext cx="2166216" cy="266700"/>
          </a:xfrm>
          <a:prstGeom prst="rect">
            <a:avLst/>
          </a:prstGeom>
          <a:noFill/>
        </p:spPr>
        <p:txBody>
          <a:bodyPr wrap="square" lIns="28575" rIns="28575" tIns="9525" bIns="9525" anchor="ctr">
            <a:spAutoFit/>
          </a:bodyPr>
          <a:lstStyle/>
          <a:p>
            <a:pPr algn="l"/>
            <a:r>
              <a:rPr sz="1100" b="1">
                <a:solidFill>
                  <a:srgbClr val="FFFFFF"/>
                </a:solidFill>
                <a:latin typeface="Calibri"/>
              </a:rPr>
              <a:t/>
            </a:r>
          </a:p>
        </p:txBody>
      </p:sp>
      <p:sp>
        <p:nvSpPr>
          <p:cNvPr id="14" name="Rectangle 13"/>
          <p:cNvSpPr/>
          <p:nvPr/>
        </p:nvSpPr>
        <p:spPr>
          <a:xfrm>
            <a:off x="8478962" y="1257300"/>
            <a:ext cx="3522538" cy="266700"/>
          </a:xfrm>
          <a:prstGeom prst="rect">
            <a:avLst/>
          </a:prstGeom>
          <a:solidFill>
            <a:srgbClr val="A9C6E3"/>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36112" y="1257300"/>
            <a:ext cx="3446338" cy="266700"/>
          </a:xfrm>
          <a:prstGeom prst="rect">
            <a:avLst/>
          </a:prstGeom>
          <a:noFill/>
        </p:spPr>
        <p:txBody>
          <a:bodyPr wrap="square" lIns="28575" rIns="28575" tIns="9525" bIns="9525" anchor="ctr">
            <a:spAutoFit/>
          </a:bodyPr>
          <a:lstStyle/>
          <a:p>
            <a:pPr algn="l"/>
            <a:r>
              <a:rPr sz="1100" b="1">
                <a:solidFill>
                  <a:srgbClr val="0F2D52"/>
                </a:solidFill>
                <a:latin typeface="Calibri"/>
              </a:rPr>
              <a:t/>
            </a:r>
          </a:p>
        </p:txBody>
      </p:sp>
      <p:sp>
        <p:nvSpPr>
          <p:cNvPr id="16" name="Rectangle 15"/>
          <p:cNvSpPr/>
          <p:nvPr/>
        </p:nvSpPr>
        <p:spPr>
          <a:xfrm>
            <a:off x="190500" y="1600200"/>
            <a:ext cx="85725" cy="8572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14325" y="1543050"/>
            <a:ext cx="2762250"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ESM Technologies, LLC, Company, Biova, LLC</a:t>
            </a:r>
          </a:p>
        </p:txBody>
      </p:sp>
      <p:sp>
        <p:nvSpPr>
          <p:cNvPr id="18" name="Rectangle 17"/>
          <p:cNvSpPr/>
          <p:nvPr/>
        </p:nvSpPr>
        <p:spPr>
          <a:xfrm>
            <a:off x="3143250" y="1600200"/>
            <a:ext cx="85725" cy="85725"/>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267075" y="1543050"/>
            <a:ext cx="2762250"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Eggnovo S.L., Dutch Eggmembrane Protein Powder</a:t>
            </a:r>
          </a:p>
        </p:txBody>
      </p:sp>
      <p:sp>
        <p:nvSpPr>
          <p:cNvPr id="20" name="Rectangle 19"/>
          <p:cNvSpPr/>
          <p:nvPr/>
        </p:nvSpPr>
        <p:spPr>
          <a:xfrm>
            <a:off x="6096000" y="1600200"/>
            <a:ext cx="85725" cy="85725"/>
          </a:xfrm>
          <a:prstGeom prst="rect">
            <a:avLst/>
          </a:prstGeom>
          <a:solidFill>
            <a:srgbClr val="6FA0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219825" y="1543050"/>
            <a:ext cx="2762250"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Kewpie Corporation, INNAIN, Ecovatec Solutions Inc., Biovotec, Microcore Research Laboratories India Pvt. Ltd.</a:t>
            </a:r>
          </a:p>
        </p:txBody>
      </p:sp>
      <p:sp>
        <p:nvSpPr>
          <p:cNvPr id="22" name="Rectangle 21"/>
          <p:cNvSpPr/>
          <p:nvPr/>
        </p:nvSpPr>
        <p:spPr>
          <a:xfrm>
            <a:off x="9048750" y="1600200"/>
            <a:ext cx="85725" cy="85725"/>
          </a:xfrm>
          <a:prstGeom prst="rect">
            <a:avLst/>
          </a:prstGeom>
          <a:solidFill>
            <a:srgbClr val="A9C6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72575" y="1543050"/>
            <a:ext cx="2762250"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Long tail of regional and niche suppliers</a:t>
            </a:r>
          </a:p>
        </p:txBody>
      </p:sp>
      <p:cxnSp>
        <p:nvCxnSpPr>
          <p:cNvPr id="24" name="Connector 23"/>
          <p:cNvCxnSpPr/>
          <p:nvPr/>
        </p:nvCxnSpPr>
        <p:spPr>
          <a:xfrm>
            <a:off x="190500" y="1924050"/>
            <a:ext cx="11811000" cy="0"/>
          </a:xfrm>
          <a:prstGeom prst="line">
            <a:avLst/>
          </a:prstGeom>
          <a:ln w="19050">
            <a:solidFill>
              <a:srgbClr val="0F2D52"/>
            </a:solidFill>
          </a:ln>
          <a:effectLst/>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190500" y="1981200"/>
            <a:ext cx="8572500" cy="171450"/>
          </a:xfrm>
          <a:prstGeom prst="rect">
            <a:avLst/>
          </a:prstGeom>
          <a:noFill/>
        </p:spPr>
        <p:txBody>
          <a:bodyPr wrap="square" lIns="28575" rIns="28575" tIns="9525" bIns="9525" anchor="t">
            <a:spAutoFit/>
          </a:bodyPr>
          <a:lstStyle/>
          <a:p>
            <a:pPr algn="l"/>
            <a:r>
              <a:rPr sz="1100" b="1">
                <a:solidFill>
                  <a:srgbClr val="0F2D52"/>
                </a:solidFill>
                <a:latin typeface="Calibri"/>
              </a:rPr>
              <a:t>Who leads which sub-segment, 2026  (full = leader, half = active)</a:t>
            </a:r>
          </a:p>
        </p:txBody>
      </p:sp>
      <p:sp>
        <p:nvSpPr>
          <p:cNvPr id="26" name="TextBox 25"/>
          <p:cNvSpPr txBox="1"/>
          <p:nvPr/>
        </p:nvSpPr>
        <p:spPr>
          <a:xfrm>
            <a:off x="3067050" y="2114550"/>
            <a:ext cx="1240971" cy="476250"/>
          </a:xfrm>
          <a:prstGeom prst="rect">
            <a:avLst/>
          </a:prstGeom>
          <a:noFill/>
        </p:spPr>
        <p:txBody>
          <a:bodyPr wrap="square" lIns="28575" rIns="28575" tIns="9525" bIns="9525" anchor="ctr">
            <a:spAutoFit/>
          </a:bodyPr>
          <a:lstStyle/>
          <a:p>
            <a:pPr algn="ctr">
              <a:lnSpc>
                <a:spcPct val="115000"/>
              </a:lnSpc>
            </a:pPr>
            <a:r>
              <a:rPr sz="1100" b="1">
                <a:solidFill>
                  <a:srgbClr val="0F2D52"/>
                </a:solidFill>
                <a:latin typeface="Calibri"/>
              </a:rPr>
              <a:t>Specialty Extracted Protein Fractions</a:t>
            </a:r>
          </a:p>
        </p:txBody>
      </p:sp>
      <p:sp>
        <p:nvSpPr>
          <p:cNvPr id="27" name="TextBox 26"/>
          <p:cNvSpPr txBox="1"/>
          <p:nvPr/>
        </p:nvSpPr>
        <p:spPr>
          <a:xfrm>
            <a:off x="4346121" y="2114550"/>
            <a:ext cx="1240971" cy="476250"/>
          </a:xfrm>
          <a:prstGeom prst="rect">
            <a:avLst/>
          </a:prstGeom>
          <a:noFill/>
        </p:spPr>
        <p:txBody>
          <a:bodyPr wrap="square" lIns="28575" rIns="28575" tIns="9525" bIns="9525" anchor="ctr">
            <a:spAutoFit/>
          </a:bodyPr>
          <a:lstStyle/>
          <a:p>
            <a:pPr algn="ctr">
              <a:lnSpc>
                <a:spcPct val="115000"/>
              </a:lnSpc>
            </a:pPr>
            <a:r>
              <a:rPr sz="1100" b="1">
                <a:solidFill>
                  <a:srgbClr val="0F2D52"/>
                </a:solidFill>
                <a:latin typeface="Calibri"/>
              </a:rPr>
              <a:t>Micronized Eggshell Membrane</a:t>
            </a:r>
          </a:p>
        </p:txBody>
      </p:sp>
      <p:sp>
        <p:nvSpPr>
          <p:cNvPr id="28" name="TextBox 27"/>
          <p:cNvSpPr txBox="1"/>
          <p:nvPr/>
        </p:nvSpPr>
        <p:spPr>
          <a:xfrm>
            <a:off x="5625193" y="2114550"/>
            <a:ext cx="1240971" cy="476250"/>
          </a:xfrm>
          <a:prstGeom prst="rect">
            <a:avLst/>
          </a:prstGeom>
          <a:noFill/>
        </p:spPr>
        <p:txBody>
          <a:bodyPr wrap="square" lIns="28575" rIns="28575" tIns="9525" bIns="9525" anchor="ctr">
            <a:spAutoFit/>
          </a:bodyPr>
          <a:lstStyle/>
          <a:p>
            <a:pPr algn="ctr">
              <a:lnSpc>
                <a:spcPct val="115000"/>
              </a:lnSpc>
            </a:pPr>
            <a:r>
              <a:rPr sz="1100" b="1">
                <a:solidFill>
                  <a:srgbClr val="0F2D52"/>
                </a:solidFill>
                <a:latin typeface="Calibri"/>
              </a:rPr>
              <a:t>Hydrolyzed Eggshell Membrane</a:t>
            </a:r>
          </a:p>
        </p:txBody>
      </p:sp>
      <p:sp>
        <p:nvSpPr>
          <p:cNvPr id="29" name="TextBox 28"/>
          <p:cNvSpPr txBox="1"/>
          <p:nvPr/>
        </p:nvSpPr>
        <p:spPr>
          <a:xfrm>
            <a:off x="6904264" y="2114550"/>
            <a:ext cx="1240971" cy="476250"/>
          </a:xfrm>
          <a:prstGeom prst="rect">
            <a:avLst/>
          </a:prstGeom>
          <a:noFill/>
        </p:spPr>
        <p:txBody>
          <a:bodyPr wrap="square" lIns="28575" rIns="28575" tIns="9525" bIns="9525" anchor="ctr">
            <a:spAutoFit/>
          </a:bodyPr>
          <a:lstStyle/>
          <a:p>
            <a:pPr algn="ctr">
              <a:lnSpc>
                <a:spcPct val="115000"/>
              </a:lnSpc>
            </a:pPr>
            <a:r>
              <a:rPr sz="1100" b="1">
                <a:solidFill>
                  <a:srgbClr val="0F2D52"/>
                </a:solidFill>
                <a:latin typeface="Calibri"/>
              </a:rPr>
              <a:t>Dietary Supplements &amp; Nutraceuticals</a:t>
            </a:r>
          </a:p>
        </p:txBody>
      </p:sp>
      <p:sp>
        <p:nvSpPr>
          <p:cNvPr id="30" name="TextBox 29"/>
          <p:cNvSpPr txBox="1"/>
          <p:nvPr/>
        </p:nvSpPr>
        <p:spPr>
          <a:xfrm>
            <a:off x="8183336" y="2114550"/>
            <a:ext cx="1240971" cy="476250"/>
          </a:xfrm>
          <a:prstGeom prst="rect">
            <a:avLst/>
          </a:prstGeom>
          <a:noFill/>
        </p:spPr>
        <p:txBody>
          <a:bodyPr wrap="square" lIns="28575" rIns="28575" tIns="9525" bIns="9525" anchor="ctr">
            <a:spAutoFit/>
          </a:bodyPr>
          <a:lstStyle/>
          <a:p>
            <a:pPr algn="ctr">
              <a:lnSpc>
                <a:spcPct val="115000"/>
              </a:lnSpc>
            </a:pPr>
            <a:r>
              <a:rPr sz="1100" b="1">
                <a:solidFill>
                  <a:srgbClr val="0F2D52"/>
                </a:solidFill>
                <a:latin typeface="Calibri"/>
              </a:rPr>
              <a:t>Pharmaceuticals &amp; Biomedical</a:t>
            </a:r>
          </a:p>
        </p:txBody>
      </p:sp>
      <p:sp>
        <p:nvSpPr>
          <p:cNvPr id="31" name="TextBox 30"/>
          <p:cNvSpPr txBox="1"/>
          <p:nvPr/>
        </p:nvSpPr>
        <p:spPr>
          <a:xfrm>
            <a:off x="9462407" y="2114550"/>
            <a:ext cx="1240971" cy="476250"/>
          </a:xfrm>
          <a:prstGeom prst="rect">
            <a:avLst/>
          </a:prstGeom>
          <a:noFill/>
        </p:spPr>
        <p:txBody>
          <a:bodyPr wrap="square" lIns="28575" rIns="28575" tIns="9525" bIns="9525" anchor="ctr">
            <a:spAutoFit/>
          </a:bodyPr>
          <a:lstStyle/>
          <a:p>
            <a:pPr algn="ctr">
              <a:lnSpc>
                <a:spcPct val="115000"/>
              </a:lnSpc>
            </a:pPr>
            <a:r>
              <a:rPr sz="1100" b="1">
                <a:solidFill>
                  <a:srgbClr val="0F2D52"/>
                </a:solidFill>
                <a:latin typeface="Calibri"/>
              </a:rPr>
              <a:t>Functional Food &amp; Beverages</a:t>
            </a:r>
          </a:p>
        </p:txBody>
      </p:sp>
      <p:sp>
        <p:nvSpPr>
          <p:cNvPr id="32" name="TextBox 31"/>
          <p:cNvSpPr txBox="1"/>
          <p:nvPr/>
        </p:nvSpPr>
        <p:spPr>
          <a:xfrm>
            <a:off x="10741479" y="2114550"/>
            <a:ext cx="1240971" cy="476250"/>
          </a:xfrm>
          <a:prstGeom prst="rect">
            <a:avLst/>
          </a:prstGeom>
          <a:noFill/>
        </p:spPr>
        <p:txBody>
          <a:bodyPr wrap="square" lIns="28575" rIns="28575" tIns="9525" bIns="9525" anchor="ctr">
            <a:spAutoFit/>
          </a:bodyPr>
          <a:lstStyle/>
          <a:p>
            <a:pPr algn="ctr">
              <a:lnSpc>
                <a:spcPct val="115000"/>
              </a:lnSpc>
            </a:pPr>
            <a:r>
              <a:rPr sz="1100" b="1">
                <a:solidFill>
                  <a:srgbClr val="0F2D52"/>
                </a:solidFill>
                <a:latin typeface="Calibri"/>
              </a:rPr>
              <a:t>Cosmetics &amp; Personal Care</a:t>
            </a:r>
          </a:p>
        </p:txBody>
      </p:sp>
      <p:cxnSp>
        <p:nvCxnSpPr>
          <p:cNvPr id="33" name="Connector 32"/>
          <p:cNvCxnSpPr/>
          <p:nvPr/>
        </p:nvCxnSpPr>
        <p:spPr>
          <a:xfrm>
            <a:off x="190500" y="26098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190500" y="26384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85750" y="2628900"/>
            <a:ext cx="2743200" cy="171450"/>
          </a:xfrm>
          <a:prstGeom prst="rect">
            <a:avLst/>
          </a:prstGeom>
          <a:noFill/>
        </p:spPr>
        <p:txBody>
          <a:bodyPr wrap="square" lIns="28575" rIns="28575" tIns="9525" bIns="9525" anchor="t">
            <a:spAutoFit/>
          </a:bodyPr>
          <a:lstStyle/>
          <a:p>
            <a:pPr algn="l"/>
            <a:r>
              <a:rPr sz="1100" b="1">
                <a:solidFill>
                  <a:srgbClr val="1F2933"/>
                </a:solidFill>
                <a:latin typeface="Calibri"/>
              </a:rPr>
              <a:t>ESM Technologies, LLC</a:t>
            </a:r>
          </a:p>
        </p:txBody>
      </p:sp>
      <p:sp>
        <p:nvSpPr>
          <p:cNvPr id="36" name="TextBox 35"/>
          <p:cNvSpPr txBox="1"/>
          <p:nvPr/>
        </p:nvSpPr>
        <p:spPr>
          <a:xfrm>
            <a:off x="285750" y="2790825"/>
            <a:ext cx="2743200"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37" name="Oval 36"/>
          <p:cNvSpPr/>
          <p:nvPr/>
        </p:nvSpPr>
        <p:spPr>
          <a:xfrm>
            <a:off x="3611336" y="27051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Freeform 37"/>
          <p:cNvSpPr/>
          <p:nvPr/>
        </p:nvSpPr>
        <p:spPr>
          <a:xfrm>
            <a:off x="3686175" y="27051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4890407" y="27051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6169479" y="27051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7448550" y="27051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8727621" y="27051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Freeform 42"/>
          <p:cNvSpPr/>
          <p:nvPr/>
        </p:nvSpPr>
        <p:spPr>
          <a:xfrm>
            <a:off x="8801100" y="27051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10006693" y="27051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11285764" y="27051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6" name="Connector 45"/>
          <p:cNvCxnSpPr/>
          <p:nvPr/>
        </p:nvCxnSpPr>
        <p:spPr>
          <a:xfrm>
            <a:off x="190500" y="29527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47" name="Rectangle 46"/>
          <p:cNvSpPr/>
          <p:nvPr/>
        </p:nvSpPr>
        <p:spPr>
          <a:xfrm>
            <a:off x="190500" y="29813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285750" y="2971800"/>
            <a:ext cx="2743200" cy="171450"/>
          </a:xfrm>
          <a:prstGeom prst="rect">
            <a:avLst/>
          </a:prstGeom>
          <a:noFill/>
        </p:spPr>
        <p:txBody>
          <a:bodyPr wrap="square" lIns="28575" rIns="28575" tIns="9525" bIns="9525" anchor="t">
            <a:spAutoFit/>
          </a:bodyPr>
          <a:lstStyle/>
          <a:p>
            <a:pPr algn="l"/>
            <a:r>
              <a:rPr sz="1100" b="1">
                <a:solidFill>
                  <a:srgbClr val="1F2933"/>
                </a:solidFill>
                <a:latin typeface="Calibri"/>
              </a:rPr>
              <a:t>Company</a:t>
            </a:r>
          </a:p>
        </p:txBody>
      </p:sp>
      <p:sp>
        <p:nvSpPr>
          <p:cNvPr id="49" name="TextBox 48"/>
          <p:cNvSpPr txBox="1"/>
          <p:nvPr/>
        </p:nvSpPr>
        <p:spPr>
          <a:xfrm>
            <a:off x="285750" y="3133725"/>
            <a:ext cx="2743200"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50" name="Oval 49"/>
          <p:cNvSpPr/>
          <p:nvPr/>
        </p:nvSpPr>
        <p:spPr>
          <a:xfrm>
            <a:off x="3611336" y="30480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Freeform 50"/>
          <p:cNvSpPr/>
          <p:nvPr/>
        </p:nvSpPr>
        <p:spPr>
          <a:xfrm>
            <a:off x="3686175" y="30480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4890407" y="30480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Freeform 52"/>
          <p:cNvSpPr/>
          <p:nvPr/>
        </p:nvSpPr>
        <p:spPr>
          <a:xfrm>
            <a:off x="4962525" y="3048000"/>
            <a:ext cx="76200" cy="152400"/>
          </a:xfrm>
          <a:custGeom>
            <a:avLst/>
            <a:gdLst/>
            <a:ahLst/>
            <a:cxnLst/>
            <a:rect l="l" t="t" r="r" b="b"/>
            <a:pathLst>
              <a:path w="8" h="16">
                <a:moveTo>
                  <a:pt x="0" y="8"/>
                </a:moveTo>
                <a:lnTo>
                  <a:pt x="0" y="0"/>
                </a:lnTo>
                <a:lnTo>
                  <a:pt x="2" y="0"/>
                </a:lnTo>
                <a:lnTo>
                  <a:pt x="3" y="0"/>
                </a:lnTo>
                <a:lnTo>
                  <a:pt x="4" y="1"/>
                </a:lnTo>
                <a:lnTo>
                  <a:pt x="6" y="2"/>
                </a:lnTo>
                <a:lnTo>
                  <a:pt x="7" y="3"/>
                </a:lnTo>
                <a:lnTo>
                  <a:pt x="7" y="4"/>
                </a:lnTo>
                <a:lnTo>
                  <a:pt x="8" y="5"/>
                </a:lnTo>
                <a:lnTo>
                  <a:pt x="8" y="7"/>
                </a:lnTo>
                <a:lnTo>
                  <a:pt x="8" y="8"/>
                </a:lnTo>
                <a:lnTo>
                  <a:pt x="8" y="9"/>
                </a:lnTo>
                <a:lnTo>
                  <a:pt x="8" y="11"/>
                </a:lnTo>
                <a:lnTo>
                  <a:pt x="7" y="12"/>
                </a:lnTo>
                <a:lnTo>
                  <a:pt x="7" y="13"/>
                </a:lnTo>
                <a:lnTo>
                  <a:pt x="6"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val 53"/>
          <p:cNvSpPr/>
          <p:nvPr/>
        </p:nvSpPr>
        <p:spPr>
          <a:xfrm>
            <a:off x="6169479" y="30480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7448550" y="30480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Freeform 55"/>
          <p:cNvSpPr/>
          <p:nvPr/>
        </p:nvSpPr>
        <p:spPr>
          <a:xfrm>
            <a:off x="7524750" y="30480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Oval 56"/>
          <p:cNvSpPr/>
          <p:nvPr/>
        </p:nvSpPr>
        <p:spPr>
          <a:xfrm>
            <a:off x="8727621" y="30480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Oval 57"/>
          <p:cNvSpPr/>
          <p:nvPr/>
        </p:nvSpPr>
        <p:spPr>
          <a:xfrm>
            <a:off x="10006693" y="30480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Oval 58"/>
          <p:cNvSpPr/>
          <p:nvPr/>
        </p:nvSpPr>
        <p:spPr>
          <a:xfrm>
            <a:off x="11285764" y="30480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Freeform 59"/>
          <p:cNvSpPr/>
          <p:nvPr/>
        </p:nvSpPr>
        <p:spPr>
          <a:xfrm>
            <a:off x="11363325" y="30480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1" name="Connector 60"/>
          <p:cNvCxnSpPr/>
          <p:nvPr/>
        </p:nvCxnSpPr>
        <p:spPr>
          <a:xfrm>
            <a:off x="190500" y="32956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62" name="Rectangle 61"/>
          <p:cNvSpPr/>
          <p:nvPr/>
        </p:nvSpPr>
        <p:spPr>
          <a:xfrm>
            <a:off x="190500" y="33242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285750" y="3314700"/>
            <a:ext cx="2743200" cy="171450"/>
          </a:xfrm>
          <a:prstGeom prst="rect">
            <a:avLst/>
          </a:prstGeom>
          <a:noFill/>
        </p:spPr>
        <p:txBody>
          <a:bodyPr wrap="square" lIns="28575" rIns="28575" tIns="9525" bIns="9525" anchor="t">
            <a:spAutoFit/>
          </a:bodyPr>
          <a:lstStyle/>
          <a:p>
            <a:pPr algn="l"/>
            <a:r>
              <a:rPr sz="1100" b="1">
                <a:solidFill>
                  <a:srgbClr val="1F2933"/>
                </a:solidFill>
                <a:latin typeface="Calibri"/>
              </a:rPr>
              <a:t>Biova, LLC</a:t>
            </a:r>
          </a:p>
        </p:txBody>
      </p:sp>
      <p:sp>
        <p:nvSpPr>
          <p:cNvPr id="64" name="TextBox 63"/>
          <p:cNvSpPr txBox="1"/>
          <p:nvPr/>
        </p:nvSpPr>
        <p:spPr>
          <a:xfrm>
            <a:off x="285750" y="3476625"/>
            <a:ext cx="2743200"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65" name="Oval 64"/>
          <p:cNvSpPr/>
          <p:nvPr/>
        </p:nvSpPr>
        <p:spPr>
          <a:xfrm>
            <a:off x="3611336" y="33909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Oval 65"/>
          <p:cNvSpPr/>
          <p:nvPr/>
        </p:nvSpPr>
        <p:spPr>
          <a:xfrm>
            <a:off x="4890407" y="33909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Freeform 66"/>
          <p:cNvSpPr/>
          <p:nvPr/>
        </p:nvSpPr>
        <p:spPr>
          <a:xfrm>
            <a:off x="4962525" y="3390900"/>
            <a:ext cx="76200" cy="152400"/>
          </a:xfrm>
          <a:custGeom>
            <a:avLst/>
            <a:gdLst/>
            <a:ahLst/>
            <a:cxnLst/>
            <a:rect l="l" t="t" r="r" b="b"/>
            <a:pathLst>
              <a:path w="8" h="16">
                <a:moveTo>
                  <a:pt x="0" y="8"/>
                </a:moveTo>
                <a:lnTo>
                  <a:pt x="0" y="0"/>
                </a:lnTo>
                <a:lnTo>
                  <a:pt x="2" y="0"/>
                </a:lnTo>
                <a:lnTo>
                  <a:pt x="3" y="0"/>
                </a:lnTo>
                <a:lnTo>
                  <a:pt x="4" y="1"/>
                </a:lnTo>
                <a:lnTo>
                  <a:pt x="6" y="2"/>
                </a:lnTo>
                <a:lnTo>
                  <a:pt x="7" y="3"/>
                </a:lnTo>
                <a:lnTo>
                  <a:pt x="7" y="4"/>
                </a:lnTo>
                <a:lnTo>
                  <a:pt x="8" y="5"/>
                </a:lnTo>
                <a:lnTo>
                  <a:pt x="8" y="7"/>
                </a:lnTo>
                <a:lnTo>
                  <a:pt x="8" y="8"/>
                </a:lnTo>
                <a:lnTo>
                  <a:pt x="8" y="9"/>
                </a:lnTo>
                <a:lnTo>
                  <a:pt x="8" y="11"/>
                </a:lnTo>
                <a:lnTo>
                  <a:pt x="7" y="12"/>
                </a:lnTo>
                <a:lnTo>
                  <a:pt x="7" y="13"/>
                </a:lnTo>
                <a:lnTo>
                  <a:pt x="6"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Oval 67"/>
          <p:cNvSpPr/>
          <p:nvPr/>
        </p:nvSpPr>
        <p:spPr>
          <a:xfrm>
            <a:off x="6169479" y="33909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Freeform 68"/>
          <p:cNvSpPr/>
          <p:nvPr/>
        </p:nvSpPr>
        <p:spPr>
          <a:xfrm>
            <a:off x="6248400" y="3390900"/>
            <a:ext cx="76200" cy="152400"/>
          </a:xfrm>
          <a:custGeom>
            <a:avLst/>
            <a:gdLst/>
            <a:ahLst/>
            <a:cxnLst/>
            <a:rect l="l" t="t" r="r" b="b"/>
            <a:pathLst>
              <a:path w="8" h="16">
                <a:moveTo>
                  <a:pt x="0" y="8"/>
                </a:moveTo>
                <a:lnTo>
                  <a:pt x="0" y="0"/>
                </a:lnTo>
                <a:lnTo>
                  <a:pt x="1" y="0"/>
                </a:lnTo>
                <a:lnTo>
                  <a:pt x="2"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Oval 69"/>
          <p:cNvSpPr/>
          <p:nvPr/>
        </p:nvSpPr>
        <p:spPr>
          <a:xfrm>
            <a:off x="7448550" y="33909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Oval 70"/>
          <p:cNvSpPr/>
          <p:nvPr/>
        </p:nvSpPr>
        <p:spPr>
          <a:xfrm>
            <a:off x="8727621" y="33909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Oval 71"/>
          <p:cNvSpPr/>
          <p:nvPr/>
        </p:nvSpPr>
        <p:spPr>
          <a:xfrm>
            <a:off x="10006693" y="33909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Freeform 72"/>
          <p:cNvSpPr/>
          <p:nvPr/>
        </p:nvSpPr>
        <p:spPr>
          <a:xfrm>
            <a:off x="10086975" y="3390900"/>
            <a:ext cx="76200" cy="152400"/>
          </a:xfrm>
          <a:custGeom>
            <a:avLst/>
            <a:gdLst/>
            <a:ahLst/>
            <a:cxnLst/>
            <a:rect l="l" t="t" r="r" b="b"/>
            <a:pathLst>
              <a:path w="8" h="16">
                <a:moveTo>
                  <a:pt x="0" y="8"/>
                </a:moveTo>
                <a:lnTo>
                  <a:pt x="0" y="0"/>
                </a:lnTo>
                <a:lnTo>
                  <a:pt x="1" y="0"/>
                </a:lnTo>
                <a:lnTo>
                  <a:pt x="2" y="0"/>
                </a:lnTo>
                <a:lnTo>
                  <a:pt x="4" y="1"/>
                </a:lnTo>
                <a:lnTo>
                  <a:pt x="5" y="2"/>
                </a:lnTo>
                <a:lnTo>
                  <a:pt x="6" y="3"/>
                </a:lnTo>
                <a:lnTo>
                  <a:pt x="6" y="4"/>
                </a:lnTo>
                <a:lnTo>
                  <a:pt x="7" y="5"/>
                </a:lnTo>
                <a:lnTo>
                  <a:pt x="7" y="7"/>
                </a:lnTo>
                <a:lnTo>
                  <a:pt x="8" y="8"/>
                </a:lnTo>
                <a:lnTo>
                  <a:pt x="7" y="9"/>
                </a:lnTo>
                <a:lnTo>
                  <a:pt x="7" y="11"/>
                </a:lnTo>
                <a:lnTo>
                  <a:pt x="6"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Oval 73"/>
          <p:cNvSpPr/>
          <p:nvPr/>
        </p:nvSpPr>
        <p:spPr>
          <a:xfrm>
            <a:off x="11285764" y="33909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Freeform 74"/>
          <p:cNvSpPr/>
          <p:nvPr/>
        </p:nvSpPr>
        <p:spPr>
          <a:xfrm>
            <a:off x="11363325" y="33909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6" name="Connector 75"/>
          <p:cNvCxnSpPr/>
          <p:nvPr/>
        </p:nvCxnSpPr>
        <p:spPr>
          <a:xfrm>
            <a:off x="190500" y="36385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77" name="Rectangle 76"/>
          <p:cNvSpPr/>
          <p:nvPr/>
        </p:nvSpPr>
        <p:spPr>
          <a:xfrm>
            <a:off x="190500" y="36671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285750" y="3657600"/>
            <a:ext cx="2743200" cy="171450"/>
          </a:xfrm>
          <a:prstGeom prst="rect">
            <a:avLst/>
          </a:prstGeom>
          <a:noFill/>
        </p:spPr>
        <p:txBody>
          <a:bodyPr wrap="square" lIns="28575" rIns="28575" tIns="9525" bIns="9525" anchor="t">
            <a:spAutoFit/>
          </a:bodyPr>
          <a:lstStyle/>
          <a:p>
            <a:pPr algn="l"/>
            <a:r>
              <a:rPr sz="1100" b="1">
                <a:solidFill>
                  <a:srgbClr val="1F2933"/>
                </a:solidFill>
                <a:latin typeface="Calibri"/>
              </a:rPr>
              <a:t>Eggnovo S.L.</a:t>
            </a:r>
          </a:p>
        </p:txBody>
      </p:sp>
      <p:sp>
        <p:nvSpPr>
          <p:cNvPr id="79" name="TextBox 78"/>
          <p:cNvSpPr txBox="1"/>
          <p:nvPr/>
        </p:nvSpPr>
        <p:spPr>
          <a:xfrm>
            <a:off x="285750" y="3819525"/>
            <a:ext cx="2743200"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80" name="Oval 79"/>
          <p:cNvSpPr/>
          <p:nvPr/>
        </p:nvSpPr>
        <p:spPr>
          <a:xfrm>
            <a:off x="3611336" y="37338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Freeform 80"/>
          <p:cNvSpPr/>
          <p:nvPr/>
        </p:nvSpPr>
        <p:spPr>
          <a:xfrm>
            <a:off x="3686175" y="37338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Oval 81"/>
          <p:cNvSpPr/>
          <p:nvPr/>
        </p:nvSpPr>
        <p:spPr>
          <a:xfrm>
            <a:off x="4890407" y="37338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Oval 82"/>
          <p:cNvSpPr/>
          <p:nvPr/>
        </p:nvSpPr>
        <p:spPr>
          <a:xfrm>
            <a:off x="6169479" y="37338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Freeform 83"/>
          <p:cNvSpPr/>
          <p:nvPr/>
        </p:nvSpPr>
        <p:spPr>
          <a:xfrm>
            <a:off x="6248400" y="3733800"/>
            <a:ext cx="76200" cy="152400"/>
          </a:xfrm>
          <a:custGeom>
            <a:avLst/>
            <a:gdLst/>
            <a:ahLst/>
            <a:cxnLst/>
            <a:rect l="l" t="t" r="r" b="b"/>
            <a:pathLst>
              <a:path w="8" h="16">
                <a:moveTo>
                  <a:pt x="0" y="8"/>
                </a:moveTo>
                <a:lnTo>
                  <a:pt x="0" y="0"/>
                </a:lnTo>
                <a:lnTo>
                  <a:pt x="1" y="0"/>
                </a:lnTo>
                <a:lnTo>
                  <a:pt x="2"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Oval 84"/>
          <p:cNvSpPr/>
          <p:nvPr/>
        </p:nvSpPr>
        <p:spPr>
          <a:xfrm>
            <a:off x="7448550" y="37338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Freeform 85"/>
          <p:cNvSpPr/>
          <p:nvPr/>
        </p:nvSpPr>
        <p:spPr>
          <a:xfrm>
            <a:off x="7524750" y="37338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Oval 86"/>
          <p:cNvSpPr/>
          <p:nvPr/>
        </p:nvSpPr>
        <p:spPr>
          <a:xfrm>
            <a:off x="8727621" y="37338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Freeform 87"/>
          <p:cNvSpPr/>
          <p:nvPr/>
        </p:nvSpPr>
        <p:spPr>
          <a:xfrm>
            <a:off x="8801100" y="37338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Oval 88"/>
          <p:cNvSpPr/>
          <p:nvPr/>
        </p:nvSpPr>
        <p:spPr>
          <a:xfrm>
            <a:off x="10006693" y="37338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Oval 89"/>
          <p:cNvSpPr/>
          <p:nvPr/>
        </p:nvSpPr>
        <p:spPr>
          <a:xfrm>
            <a:off x="11285764" y="37338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1" name="Connector 90"/>
          <p:cNvCxnSpPr/>
          <p:nvPr/>
        </p:nvCxnSpPr>
        <p:spPr>
          <a:xfrm>
            <a:off x="190500" y="39814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92" name="Rectangle 91"/>
          <p:cNvSpPr/>
          <p:nvPr/>
        </p:nvSpPr>
        <p:spPr>
          <a:xfrm>
            <a:off x="190500" y="4010025"/>
            <a:ext cx="38100" cy="28575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285750" y="4000500"/>
            <a:ext cx="2743200" cy="171450"/>
          </a:xfrm>
          <a:prstGeom prst="rect">
            <a:avLst/>
          </a:prstGeom>
          <a:noFill/>
        </p:spPr>
        <p:txBody>
          <a:bodyPr wrap="square" lIns="28575" rIns="28575" tIns="9525" bIns="9525" anchor="t">
            <a:spAutoFit/>
          </a:bodyPr>
          <a:lstStyle/>
          <a:p>
            <a:pPr algn="l"/>
            <a:r>
              <a:rPr sz="1100" b="1">
                <a:solidFill>
                  <a:srgbClr val="1F2933"/>
                </a:solidFill>
                <a:latin typeface="Calibri"/>
              </a:rPr>
              <a:t>Dutch Eggmembrane Protein Powder</a:t>
            </a:r>
          </a:p>
        </p:txBody>
      </p:sp>
      <p:sp>
        <p:nvSpPr>
          <p:cNvPr id="94" name="TextBox 93"/>
          <p:cNvSpPr txBox="1"/>
          <p:nvPr/>
        </p:nvSpPr>
        <p:spPr>
          <a:xfrm>
            <a:off x="285750" y="4162425"/>
            <a:ext cx="2743200" cy="152400"/>
          </a:xfrm>
          <a:prstGeom prst="rect">
            <a:avLst/>
          </a:prstGeom>
          <a:noFill/>
        </p:spPr>
        <p:txBody>
          <a:bodyPr wrap="square" lIns="28575" rIns="28575" tIns="9525" bIns="9525" anchor="t">
            <a:spAutoFit/>
          </a:bodyPr>
          <a:lstStyle/>
          <a:p>
            <a:pPr algn="l"/>
            <a:r>
              <a:rPr sz="1100" b="0">
                <a:solidFill>
                  <a:srgbClr val="5F6B7A"/>
                </a:solidFill>
                <a:latin typeface="Calibri"/>
              </a:rPr>
              <a:t>Tier 2</a:t>
            </a:r>
          </a:p>
        </p:txBody>
      </p:sp>
      <p:sp>
        <p:nvSpPr>
          <p:cNvPr id="95" name="Oval 94"/>
          <p:cNvSpPr/>
          <p:nvPr/>
        </p:nvSpPr>
        <p:spPr>
          <a:xfrm>
            <a:off x="3611336" y="4076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Freeform 95"/>
          <p:cNvSpPr/>
          <p:nvPr/>
        </p:nvSpPr>
        <p:spPr>
          <a:xfrm>
            <a:off x="3686175" y="40767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Oval 96"/>
          <p:cNvSpPr/>
          <p:nvPr/>
        </p:nvSpPr>
        <p:spPr>
          <a:xfrm>
            <a:off x="4890407" y="4076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Freeform 97"/>
          <p:cNvSpPr/>
          <p:nvPr/>
        </p:nvSpPr>
        <p:spPr>
          <a:xfrm>
            <a:off x="4962525" y="4076700"/>
            <a:ext cx="76200" cy="152400"/>
          </a:xfrm>
          <a:custGeom>
            <a:avLst/>
            <a:gdLst/>
            <a:ahLst/>
            <a:cxnLst/>
            <a:rect l="l" t="t" r="r" b="b"/>
            <a:pathLst>
              <a:path w="8" h="16">
                <a:moveTo>
                  <a:pt x="0" y="8"/>
                </a:moveTo>
                <a:lnTo>
                  <a:pt x="0" y="0"/>
                </a:lnTo>
                <a:lnTo>
                  <a:pt x="2" y="0"/>
                </a:lnTo>
                <a:lnTo>
                  <a:pt x="3" y="0"/>
                </a:lnTo>
                <a:lnTo>
                  <a:pt x="4" y="1"/>
                </a:lnTo>
                <a:lnTo>
                  <a:pt x="6" y="2"/>
                </a:lnTo>
                <a:lnTo>
                  <a:pt x="7" y="3"/>
                </a:lnTo>
                <a:lnTo>
                  <a:pt x="7" y="4"/>
                </a:lnTo>
                <a:lnTo>
                  <a:pt x="8" y="5"/>
                </a:lnTo>
                <a:lnTo>
                  <a:pt x="8" y="7"/>
                </a:lnTo>
                <a:lnTo>
                  <a:pt x="8" y="8"/>
                </a:lnTo>
                <a:lnTo>
                  <a:pt x="8" y="9"/>
                </a:lnTo>
                <a:lnTo>
                  <a:pt x="8" y="11"/>
                </a:lnTo>
                <a:lnTo>
                  <a:pt x="7" y="12"/>
                </a:lnTo>
                <a:lnTo>
                  <a:pt x="7" y="13"/>
                </a:lnTo>
                <a:lnTo>
                  <a:pt x="6"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Oval 98"/>
          <p:cNvSpPr/>
          <p:nvPr/>
        </p:nvSpPr>
        <p:spPr>
          <a:xfrm>
            <a:off x="6169479" y="4076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Freeform 99"/>
          <p:cNvSpPr/>
          <p:nvPr/>
        </p:nvSpPr>
        <p:spPr>
          <a:xfrm>
            <a:off x="6248400" y="4076700"/>
            <a:ext cx="76200" cy="152400"/>
          </a:xfrm>
          <a:custGeom>
            <a:avLst/>
            <a:gdLst/>
            <a:ahLst/>
            <a:cxnLst/>
            <a:rect l="l" t="t" r="r" b="b"/>
            <a:pathLst>
              <a:path w="8" h="16">
                <a:moveTo>
                  <a:pt x="0" y="8"/>
                </a:moveTo>
                <a:lnTo>
                  <a:pt x="0" y="0"/>
                </a:lnTo>
                <a:lnTo>
                  <a:pt x="1" y="0"/>
                </a:lnTo>
                <a:lnTo>
                  <a:pt x="2"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Oval 100"/>
          <p:cNvSpPr/>
          <p:nvPr/>
        </p:nvSpPr>
        <p:spPr>
          <a:xfrm>
            <a:off x="7448550" y="4076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Freeform 101"/>
          <p:cNvSpPr/>
          <p:nvPr/>
        </p:nvSpPr>
        <p:spPr>
          <a:xfrm>
            <a:off x="7524750" y="40767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Oval 102"/>
          <p:cNvSpPr/>
          <p:nvPr/>
        </p:nvSpPr>
        <p:spPr>
          <a:xfrm>
            <a:off x="8727621" y="4076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Oval 103"/>
          <p:cNvSpPr/>
          <p:nvPr/>
        </p:nvSpPr>
        <p:spPr>
          <a:xfrm>
            <a:off x="10006693" y="4076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Freeform 104"/>
          <p:cNvSpPr/>
          <p:nvPr/>
        </p:nvSpPr>
        <p:spPr>
          <a:xfrm>
            <a:off x="10086975" y="4076700"/>
            <a:ext cx="76200" cy="152400"/>
          </a:xfrm>
          <a:custGeom>
            <a:avLst/>
            <a:gdLst/>
            <a:ahLst/>
            <a:cxnLst/>
            <a:rect l="l" t="t" r="r" b="b"/>
            <a:pathLst>
              <a:path w="8" h="16">
                <a:moveTo>
                  <a:pt x="0" y="8"/>
                </a:moveTo>
                <a:lnTo>
                  <a:pt x="0" y="0"/>
                </a:lnTo>
                <a:lnTo>
                  <a:pt x="1" y="0"/>
                </a:lnTo>
                <a:lnTo>
                  <a:pt x="2" y="0"/>
                </a:lnTo>
                <a:lnTo>
                  <a:pt x="4" y="1"/>
                </a:lnTo>
                <a:lnTo>
                  <a:pt x="5" y="2"/>
                </a:lnTo>
                <a:lnTo>
                  <a:pt x="6" y="3"/>
                </a:lnTo>
                <a:lnTo>
                  <a:pt x="6" y="4"/>
                </a:lnTo>
                <a:lnTo>
                  <a:pt x="7" y="5"/>
                </a:lnTo>
                <a:lnTo>
                  <a:pt x="7" y="7"/>
                </a:lnTo>
                <a:lnTo>
                  <a:pt x="8" y="8"/>
                </a:lnTo>
                <a:lnTo>
                  <a:pt x="7" y="9"/>
                </a:lnTo>
                <a:lnTo>
                  <a:pt x="7" y="11"/>
                </a:lnTo>
                <a:lnTo>
                  <a:pt x="6"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Oval 105"/>
          <p:cNvSpPr/>
          <p:nvPr/>
        </p:nvSpPr>
        <p:spPr>
          <a:xfrm>
            <a:off x="11285764" y="4076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07" name="Connector 106"/>
          <p:cNvCxnSpPr/>
          <p:nvPr/>
        </p:nvCxnSpPr>
        <p:spPr>
          <a:xfrm>
            <a:off x="190500" y="43243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08" name="Rectangle 107"/>
          <p:cNvSpPr/>
          <p:nvPr/>
        </p:nvSpPr>
        <p:spPr>
          <a:xfrm>
            <a:off x="190500" y="4352925"/>
            <a:ext cx="38100" cy="28575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285750" y="4343400"/>
            <a:ext cx="2743200" cy="171450"/>
          </a:xfrm>
          <a:prstGeom prst="rect">
            <a:avLst/>
          </a:prstGeom>
          <a:noFill/>
        </p:spPr>
        <p:txBody>
          <a:bodyPr wrap="square" lIns="28575" rIns="28575" tIns="9525" bIns="9525" anchor="t">
            <a:spAutoFit/>
          </a:bodyPr>
          <a:lstStyle/>
          <a:p>
            <a:pPr algn="l"/>
            <a:r>
              <a:rPr sz="1100" b="1">
                <a:solidFill>
                  <a:srgbClr val="1F2933"/>
                </a:solidFill>
                <a:latin typeface="Calibri"/>
              </a:rPr>
              <a:t>Kewpie Corporation</a:t>
            </a:r>
          </a:p>
        </p:txBody>
      </p:sp>
      <p:sp>
        <p:nvSpPr>
          <p:cNvPr id="110" name="TextBox 109"/>
          <p:cNvSpPr txBox="1"/>
          <p:nvPr/>
        </p:nvSpPr>
        <p:spPr>
          <a:xfrm>
            <a:off x="285750" y="4505325"/>
            <a:ext cx="2743200" cy="152400"/>
          </a:xfrm>
          <a:prstGeom prst="rect">
            <a:avLst/>
          </a:prstGeom>
          <a:noFill/>
        </p:spPr>
        <p:txBody>
          <a:bodyPr wrap="square" lIns="28575" rIns="28575" tIns="9525" bIns="9525" anchor="t">
            <a:spAutoFit/>
          </a:bodyPr>
          <a:lstStyle/>
          <a:p>
            <a:pPr algn="l"/>
            <a:r>
              <a:rPr sz="1100" b="0">
                <a:solidFill>
                  <a:srgbClr val="5F6B7A"/>
                </a:solidFill>
                <a:latin typeface="Calibri"/>
              </a:rPr>
              <a:t>Tier 2</a:t>
            </a:r>
          </a:p>
        </p:txBody>
      </p:sp>
      <p:sp>
        <p:nvSpPr>
          <p:cNvPr id="111" name="Oval 110"/>
          <p:cNvSpPr/>
          <p:nvPr/>
        </p:nvSpPr>
        <p:spPr>
          <a:xfrm>
            <a:off x="3611336" y="4419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Freeform 111"/>
          <p:cNvSpPr/>
          <p:nvPr/>
        </p:nvSpPr>
        <p:spPr>
          <a:xfrm>
            <a:off x="3686175" y="44196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Oval 112"/>
          <p:cNvSpPr/>
          <p:nvPr/>
        </p:nvSpPr>
        <p:spPr>
          <a:xfrm>
            <a:off x="4890407" y="4419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Freeform 113"/>
          <p:cNvSpPr/>
          <p:nvPr/>
        </p:nvSpPr>
        <p:spPr>
          <a:xfrm>
            <a:off x="4962525" y="4419600"/>
            <a:ext cx="76200" cy="152400"/>
          </a:xfrm>
          <a:custGeom>
            <a:avLst/>
            <a:gdLst/>
            <a:ahLst/>
            <a:cxnLst/>
            <a:rect l="l" t="t" r="r" b="b"/>
            <a:pathLst>
              <a:path w="8" h="16">
                <a:moveTo>
                  <a:pt x="0" y="8"/>
                </a:moveTo>
                <a:lnTo>
                  <a:pt x="0" y="0"/>
                </a:lnTo>
                <a:lnTo>
                  <a:pt x="2" y="0"/>
                </a:lnTo>
                <a:lnTo>
                  <a:pt x="3" y="0"/>
                </a:lnTo>
                <a:lnTo>
                  <a:pt x="4" y="1"/>
                </a:lnTo>
                <a:lnTo>
                  <a:pt x="6" y="2"/>
                </a:lnTo>
                <a:lnTo>
                  <a:pt x="7" y="3"/>
                </a:lnTo>
                <a:lnTo>
                  <a:pt x="7" y="4"/>
                </a:lnTo>
                <a:lnTo>
                  <a:pt x="8" y="5"/>
                </a:lnTo>
                <a:lnTo>
                  <a:pt x="8" y="7"/>
                </a:lnTo>
                <a:lnTo>
                  <a:pt x="8" y="8"/>
                </a:lnTo>
                <a:lnTo>
                  <a:pt x="8" y="9"/>
                </a:lnTo>
                <a:lnTo>
                  <a:pt x="8" y="11"/>
                </a:lnTo>
                <a:lnTo>
                  <a:pt x="7" y="12"/>
                </a:lnTo>
                <a:lnTo>
                  <a:pt x="7" y="13"/>
                </a:lnTo>
                <a:lnTo>
                  <a:pt x="6"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Oval 114"/>
          <p:cNvSpPr/>
          <p:nvPr/>
        </p:nvSpPr>
        <p:spPr>
          <a:xfrm>
            <a:off x="6169479" y="4419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Oval 115"/>
          <p:cNvSpPr/>
          <p:nvPr/>
        </p:nvSpPr>
        <p:spPr>
          <a:xfrm>
            <a:off x="7448550" y="4419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Oval 116"/>
          <p:cNvSpPr/>
          <p:nvPr/>
        </p:nvSpPr>
        <p:spPr>
          <a:xfrm>
            <a:off x="8727621" y="4419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Freeform 117"/>
          <p:cNvSpPr/>
          <p:nvPr/>
        </p:nvSpPr>
        <p:spPr>
          <a:xfrm>
            <a:off x="8801100" y="44196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Oval 118"/>
          <p:cNvSpPr/>
          <p:nvPr/>
        </p:nvSpPr>
        <p:spPr>
          <a:xfrm>
            <a:off x="10006693" y="4419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Freeform 119"/>
          <p:cNvSpPr/>
          <p:nvPr/>
        </p:nvSpPr>
        <p:spPr>
          <a:xfrm>
            <a:off x="10086975" y="4419600"/>
            <a:ext cx="76200" cy="152400"/>
          </a:xfrm>
          <a:custGeom>
            <a:avLst/>
            <a:gdLst/>
            <a:ahLst/>
            <a:cxnLst/>
            <a:rect l="l" t="t" r="r" b="b"/>
            <a:pathLst>
              <a:path w="8" h="16">
                <a:moveTo>
                  <a:pt x="0" y="8"/>
                </a:moveTo>
                <a:lnTo>
                  <a:pt x="0" y="0"/>
                </a:lnTo>
                <a:lnTo>
                  <a:pt x="1" y="0"/>
                </a:lnTo>
                <a:lnTo>
                  <a:pt x="2" y="0"/>
                </a:lnTo>
                <a:lnTo>
                  <a:pt x="4" y="1"/>
                </a:lnTo>
                <a:lnTo>
                  <a:pt x="5" y="2"/>
                </a:lnTo>
                <a:lnTo>
                  <a:pt x="6" y="3"/>
                </a:lnTo>
                <a:lnTo>
                  <a:pt x="6" y="4"/>
                </a:lnTo>
                <a:lnTo>
                  <a:pt x="7" y="5"/>
                </a:lnTo>
                <a:lnTo>
                  <a:pt x="7" y="7"/>
                </a:lnTo>
                <a:lnTo>
                  <a:pt x="8" y="8"/>
                </a:lnTo>
                <a:lnTo>
                  <a:pt x="7" y="9"/>
                </a:lnTo>
                <a:lnTo>
                  <a:pt x="7" y="11"/>
                </a:lnTo>
                <a:lnTo>
                  <a:pt x="6"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Oval 120"/>
          <p:cNvSpPr/>
          <p:nvPr/>
        </p:nvSpPr>
        <p:spPr>
          <a:xfrm>
            <a:off x="11285764" y="4419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22" name="Connector 121"/>
          <p:cNvCxnSpPr/>
          <p:nvPr/>
        </p:nvCxnSpPr>
        <p:spPr>
          <a:xfrm>
            <a:off x="190500" y="46672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23" name="Rectangle 122"/>
          <p:cNvSpPr/>
          <p:nvPr/>
        </p:nvSpPr>
        <p:spPr>
          <a:xfrm>
            <a:off x="190500" y="46958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285750" y="4686300"/>
            <a:ext cx="2743200" cy="171450"/>
          </a:xfrm>
          <a:prstGeom prst="rect">
            <a:avLst/>
          </a:prstGeom>
          <a:noFill/>
        </p:spPr>
        <p:txBody>
          <a:bodyPr wrap="square" lIns="28575" rIns="28575" tIns="9525" bIns="9525" anchor="t">
            <a:spAutoFit/>
          </a:bodyPr>
          <a:lstStyle/>
          <a:p>
            <a:pPr algn="l"/>
            <a:r>
              <a:rPr sz="1100" b="1">
                <a:solidFill>
                  <a:srgbClr val="1F2933"/>
                </a:solidFill>
                <a:latin typeface="Calibri"/>
              </a:rPr>
              <a:t>INNAIN</a:t>
            </a:r>
          </a:p>
        </p:txBody>
      </p:sp>
      <p:sp>
        <p:nvSpPr>
          <p:cNvPr id="125" name="TextBox 124"/>
          <p:cNvSpPr txBox="1"/>
          <p:nvPr/>
        </p:nvSpPr>
        <p:spPr>
          <a:xfrm>
            <a:off x="285750" y="4848225"/>
            <a:ext cx="2743200"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126" name="Oval 125"/>
          <p:cNvSpPr/>
          <p:nvPr/>
        </p:nvSpPr>
        <p:spPr>
          <a:xfrm>
            <a:off x="3611336" y="4762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Oval 126"/>
          <p:cNvSpPr/>
          <p:nvPr/>
        </p:nvSpPr>
        <p:spPr>
          <a:xfrm>
            <a:off x="4890407" y="4762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Freeform 127"/>
          <p:cNvSpPr/>
          <p:nvPr/>
        </p:nvSpPr>
        <p:spPr>
          <a:xfrm>
            <a:off x="4962525" y="4762500"/>
            <a:ext cx="76200" cy="152400"/>
          </a:xfrm>
          <a:custGeom>
            <a:avLst/>
            <a:gdLst/>
            <a:ahLst/>
            <a:cxnLst/>
            <a:rect l="l" t="t" r="r" b="b"/>
            <a:pathLst>
              <a:path w="8" h="16">
                <a:moveTo>
                  <a:pt x="0" y="8"/>
                </a:moveTo>
                <a:lnTo>
                  <a:pt x="0" y="0"/>
                </a:lnTo>
                <a:lnTo>
                  <a:pt x="2" y="0"/>
                </a:lnTo>
                <a:lnTo>
                  <a:pt x="3" y="0"/>
                </a:lnTo>
                <a:lnTo>
                  <a:pt x="4" y="1"/>
                </a:lnTo>
                <a:lnTo>
                  <a:pt x="6" y="2"/>
                </a:lnTo>
                <a:lnTo>
                  <a:pt x="7" y="3"/>
                </a:lnTo>
                <a:lnTo>
                  <a:pt x="7" y="4"/>
                </a:lnTo>
                <a:lnTo>
                  <a:pt x="8" y="5"/>
                </a:lnTo>
                <a:lnTo>
                  <a:pt x="8" y="7"/>
                </a:lnTo>
                <a:lnTo>
                  <a:pt x="8" y="8"/>
                </a:lnTo>
                <a:lnTo>
                  <a:pt x="8" y="9"/>
                </a:lnTo>
                <a:lnTo>
                  <a:pt x="8" y="11"/>
                </a:lnTo>
                <a:lnTo>
                  <a:pt x="7" y="12"/>
                </a:lnTo>
                <a:lnTo>
                  <a:pt x="7" y="13"/>
                </a:lnTo>
                <a:lnTo>
                  <a:pt x="6"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Oval 128"/>
          <p:cNvSpPr/>
          <p:nvPr/>
        </p:nvSpPr>
        <p:spPr>
          <a:xfrm>
            <a:off x="6169479" y="4762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Freeform 129"/>
          <p:cNvSpPr/>
          <p:nvPr/>
        </p:nvSpPr>
        <p:spPr>
          <a:xfrm>
            <a:off x="6248400" y="4762500"/>
            <a:ext cx="76200" cy="152400"/>
          </a:xfrm>
          <a:custGeom>
            <a:avLst/>
            <a:gdLst/>
            <a:ahLst/>
            <a:cxnLst/>
            <a:rect l="l" t="t" r="r" b="b"/>
            <a:pathLst>
              <a:path w="8" h="16">
                <a:moveTo>
                  <a:pt x="0" y="8"/>
                </a:moveTo>
                <a:lnTo>
                  <a:pt x="0" y="0"/>
                </a:lnTo>
                <a:lnTo>
                  <a:pt x="1" y="0"/>
                </a:lnTo>
                <a:lnTo>
                  <a:pt x="2"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Oval 130"/>
          <p:cNvSpPr/>
          <p:nvPr/>
        </p:nvSpPr>
        <p:spPr>
          <a:xfrm>
            <a:off x="7448550" y="4762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Freeform 131"/>
          <p:cNvSpPr/>
          <p:nvPr/>
        </p:nvSpPr>
        <p:spPr>
          <a:xfrm>
            <a:off x="7524750" y="47625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Oval 132"/>
          <p:cNvSpPr/>
          <p:nvPr/>
        </p:nvSpPr>
        <p:spPr>
          <a:xfrm>
            <a:off x="8727621" y="4762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Freeform 133"/>
          <p:cNvSpPr/>
          <p:nvPr/>
        </p:nvSpPr>
        <p:spPr>
          <a:xfrm>
            <a:off x="8801100" y="47625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Oval 134"/>
          <p:cNvSpPr/>
          <p:nvPr/>
        </p:nvSpPr>
        <p:spPr>
          <a:xfrm>
            <a:off x="10006693" y="4762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Oval 135"/>
          <p:cNvSpPr/>
          <p:nvPr/>
        </p:nvSpPr>
        <p:spPr>
          <a:xfrm>
            <a:off x="11285764" y="4762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7" name="Connector 136"/>
          <p:cNvCxnSpPr/>
          <p:nvPr/>
        </p:nvCxnSpPr>
        <p:spPr>
          <a:xfrm>
            <a:off x="190500" y="50101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38" name="Rectangle 137"/>
          <p:cNvSpPr/>
          <p:nvPr/>
        </p:nvSpPr>
        <p:spPr>
          <a:xfrm>
            <a:off x="190500" y="50387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TextBox 138"/>
          <p:cNvSpPr txBox="1"/>
          <p:nvPr/>
        </p:nvSpPr>
        <p:spPr>
          <a:xfrm>
            <a:off x="285750" y="5029200"/>
            <a:ext cx="2743200" cy="171450"/>
          </a:xfrm>
          <a:prstGeom prst="rect">
            <a:avLst/>
          </a:prstGeom>
          <a:noFill/>
        </p:spPr>
        <p:txBody>
          <a:bodyPr wrap="square" lIns="28575" rIns="28575" tIns="9525" bIns="9525" anchor="t">
            <a:spAutoFit/>
          </a:bodyPr>
          <a:lstStyle/>
          <a:p>
            <a:pPr algn="l"/>
            <a:r>
              <a:rPr sz="1100" b="1">
                <a:solidFill>
                  <a:srgbClr val="1F2933"/>
                </a:solidFill>
                <a:latin typeface="Calibri"/>
              </a:rPr>
              <a:t>Ecovatec Solutions Inc.</a:t>
            </a:r>
          </a:p>
        </p:txBody>
      </p:sp>
      <p:sp>
        <p:nvSpPr>
          <p:cNvPr id="140" name="TextBox 139"/>
          <p:cNvSpPr txBox="1"/>
          <p:nvPr/>
        </p:nvSpPr>
        <p:spPr>
          <a:xfrm>
            <a:off x="285750" y="5191125"/>
            <a:ext cx="2743200"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141" name="Oval 140"/>
          <p:cNvSpPr/>
          <p:nvPr/>
        </p:nvSpPr>
        <p:spPr>
          <a:xfrm>
            <a:off x="3611336" y="5105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Freeform 141"/>
          <p:cNvSpPr/>
          <p:nvPr/>
        </p:nvSpPr>
        <p:spPr>
          <a:xfrm>
            <a:off x="3686175" y="51054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Oval 142"/>
          <p:cNvSpPr/>
          <p:nvPr/>
        </p:nvSpPr>
        <p:spPr>
          <a:xfrm>
            <a:off x="4890407" y="5105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Oval 143"/>
          <p:cNvSpPr/>
          <p:nvPr/>
        </p:nvSpPr>
        <p:spPr>
          <a:xfrm>
            <a:off x="6169479" y="5105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Freeform 144"/>
          <p:cNvSpPr/>
          <p:nvPr/>
        </p:nvSpPr>
        <p:spPr>
          <a:xfrm>
            <a:off x="6248400" y="5105400"/>
            <a:ext cx="76200" cy="152400"/>
          </a:xfrm>
          <a:custGeom>
            <a:avLst/>
            <a:gdLst/>
            <a:ahLst/>
            <a:cxnLst/>
            <a:rect l="l" t="t" r="r" b="b"/>
            <a:pathLst>
              <a:path w="8" h="16">
                <a:moveTo>
                  <a:pt x="0" y="8"/>
                </a:moveTo>
                <a:lnTo>
                  <a:pt x="0" y="0"/>
                </a:lnTo>
                <a:lnTo>
                  <a:pt x="1" y="0"/>
                </a:lnTo>
                <a:lnTo>
                  <a:pt x="2"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Oval 145"/>
          <p:cNvSpPr/>
          <p:nvPr/>
        </p:nvSpPr>
        <p:spPr>
          <a:xfrm>
            <a:off x="7448550" y="5105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Freeform 146"/>
          <p:cNvSpPr/>
          <p:nvPr/>
        </p:nvSpPr>
        <p:spPr>
          <a:xfrm>
            <a:off x="7524750" y="51054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Oval 147"/>
          <p:cNvSpPr/>
          <p:nvPr/>
        </p:nvSpPr>
        <p:spPr>
          <a:xfrm>
            <a:off x="8727621" y="5105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Oval 148"/>
          <p:cNvSpPr/>
          <p:nvPr/>
        </p:nvSpPr>
        <p:spPr>
          <a:xfrm>
            <a:off x="10006693" y="5105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Freeform 149"/>
          <p:cNvSpPr/>
          <p:nvPr/>
        </p:nvSpPr>
        <p:spPr>
          <a:xfrm>
            <a:off x="10086975" y="5105400"/>
            <a:ext cx="76200" cy="152400"/>
          </a:xfrm>
          <a:custGeom>
            <a:avLst/>
            <a:gdLst/>
            <a:ahLst/>
            <a:cxnLst/>
            <a:rect l="l" t="t" r="r" b="b"/>
            <a:pathLst>
              <a:path w="8" h="16">
                <a:moveTo>
                  <a:pt x="0" y="8"/>
                </a:moveTo>
                <a:lnTo>
                  <a:pt x="0" y="0"/>
                </a:lnTo>
                <a:lnTo>
                  <a:pt x="1" y="0"/>
                </a:lnTo>
                <a:lnTo>
                  <a:pt x="2" y="0"/>
                </a:lnTo>
                <a:lnTo>
                  <a:pt x="4" y="1"/>
                </a:lnTo>
                <a:lnTo>
                  <a:pt x="5" y="2"/>
                </a:lnTo>
                <a:lnTo>
                  <a:pt x="6" y="3"/>
                </a:lnTo>
                <a:lnTo>
                  <a:pt x="6" y="4"/>
                </a:lnTo>
                <a:lnTo>
                  <a:pt x="7" y="5"/>
                </a:lnTo>
                <a:lnTo>
                  <a:pt x="7" y="7"/>
                </a:lnTo>
                <a:lnTo>
                  <a:pt x="8" y="8"/>
                </a:lnTo>
                <a:lnTo>
                  <a:pt x="7" y="9"/>
                </a:lnTo>
                <a:lnTo>
                  <a:pt x="7" y="11"/>
                </a:lnTo>
                <a:lnTo>
                  <a:pt x="6"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Oval 150"/>
          <p:cNvSpPr/>
          <p:nvPr/>
        </p:nvSpPr>
        <p:spPr>
          <a:xfrm>
            <a:off x="11285764" y="5105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52" name="Connector 151"/>
          <p:cNvCxnSpPr/>
          <p:nvPr/>
        </p:nvCxnSpPr>
        <p:spPr>
          <a:xfrm>
            <a:off x="190500" y="53530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53" name="Rectangle 152"/>
          <p:cNvSpPr/>
          <p:nvPr/>
        </p:nvSpPr>
        <p:spPr>
          <a:xfrm>
            <a:off x="190500" y="53816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TextBox 153"/>
          <p:cNvSpPr txBox="1"/>
          <p:nvPr/>
        </p:nvSpPr>
        <p:spPr>
          <a:xfrm>
            <a:off x="285750" y="5372100"/>
            <a:ext cx="2743200" cy="171450"/>
          </a:xfrm>
          <a:prstGeom prst="rect">
            <a:avLst/>
          </a:prstGeom>
          <a:noFill/>
        </p:spPr>
        <p:txBody>
          <a:bodyPr wrap="square" lIns="28575" rIns="28575" tIns="9525" bIns="9525" anchor="t">
            <a:spAutoFit/>
          </a:bodyPr>
          <a:lstStyle/>
          <a:p>
            <a:pPr algn="l"/>
            <a:r>
              <a:rPr sz="1100" b="1">
                <a:solidFill>
                  <a:srgbClr val="1F2933"/>
                </a:solidFill>
                <a:latin typeface="Calibri"/>
              </a:rPr>
              <a:t>Biovotec</a:t>
            </a:r>
          </a:p>
        </p:txBody>
      </p:sp>
      <p:sp>
        <p:nvSpPr>
          <p:cNvPr id="155" name="TextBox 154"/>
          <p:cNvSpPr txBox="1"/>
          <p:nvPr/>
        </p:nvSpPr>
        <p:spPr>
          <a:xfrm>
            <a:off x="285750" y="5534025"/>
            <a:ext cx="2743200"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156" name="Oval 155"/>
          <p:cNvSpPr/>
          <p:nvPr/>
        </p:nvSpPr>
        <p:spPr>
          <a:xfrm>
            <a:off x="3611336" y="54483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Freeform 156"/>
          <p:cNvSpPr/>
          <p:nvPr/>
        </p:nvSpPr>
        <p:spPr>
          <a:xfrm>
            <a:off x="3686175" y="54483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Oval 157"/>
          <p:cNvSpPr/>
          <p:nvPr/>
        </p:nvSpPr>
        <p:spPr>
          <a:xfrm>
            <a:off x="4890407" y="54483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Freeform 158"/>
          <p:cNvSpPr/>
          <p:nvPr/>
        </p:nvSpPr>
        <p:spPr>
          <a:xfrm>
            <a:off x="4962525" y="5448300"/>
            <a:ext cx="76200" cy="152400"/>
          </a:xfrm>
          <a:custGeom>
            <a:avLst/>
            <a:gdLst/>
            <a:ahLst/>
            <a:cxnLst/>
            <a:rect l="l" t="t" r="r" b="b"/>
            <a:pathLst>
              <a:path w="8" h="16">
                <a:moveTo>
                  <a:pt x="0" y="8"/>
                </a:moveTo>
                <a:lnTo>
                  <a:pt x="0" y="0"/>
                </a:lnTo>
                <a:lnTo>
                  <a:pt x="2" y="0"/>
                </a:lnTo>
                <a:lnTo>
                  <a:pt x="3" y="0"/>
                </a:lnTo>
                <a:lnTo>
                  <a:pt x="4" y="1"/>
                </a:lnTo>
                <a:lnTo>
                  <a:pt x="6" y="2"/>
                </a:lnTo>
                <a:lnTo>
                  <a:pt x="7" y="3"/>
                </a:lnTo>
                <a:lnTo>
                  <a:pt x="7" y="4"/>
                </a:lnTo>
                <a:lnTo>
                  <a:pt x="8" y="5"/>
                </a:lnTo>
                <a:lnTo>
                  <a:pt x="8" y="7"/>
                </a:lnTo>
                <a:lnTo>
                  <a:pt x="8" y="8"/>
                </a:lnTo>
                <a:lnTo>
                  <a:pt x="8" y="9"/>
                </a:lnTo>
                <a:lnTo>
                  <a:pt x="8" y="11"/>
                </a:lnTo>
                <a:lnTo>
                  <a:pt x="7" y="12"/>
                </a:lnTo>
                <a:lnTo>
                  <a:pt x="7" y="13"/>
                </a:lnTo>
                <a:lnTo>
                  <a:pt x="6"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Oval 159"/>
          <p:cNvSpPr/>
          <p:nvPr/>
        </p:nvSpPr>
        <p:spPr>
          <a:xfrm>
            <a:off x="6169479" y="54483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Freeform 160"/>
          <p:cNvSpPr/>
          <p:nvPr/>
        </p:nvSpPr>
        <p:spPr>
          <a:xfrm>
            <a:off x="6248400" y="5448300"/>
            <a:ext cx="76200" cy="152400"/>
          </a:xfrm>
          <a:custGeom>
            <a:avLst/>
            <a:gdLst/>
            <a:ahLst/>
            <a:cxnLst/>
            <a:rect l="l" t="t" r="r" b="b"/>
            <a:pathLst>
              <a:path w="8" h="16">
                <a:moveTo>
                  <a:pt x="0" y="8"/>
                </a:moveTo>
                <a:lnTo>
                  <a:pt x="0" y="0"/>
                </a:lnTo>
                <a:lnTo>
                  <a:pt x="1" y="0"/>
                </a:lnTo>
                <a:lnTo>
                  <a:pt x="2"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Oval 161"/>
          <p:cNvSpPr/>
          <p:nvPr/>
        </p:nvSpPr>
        <p:spPr>
          <a:xfrm>
            <a:off x="7448550" y="54483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Oval 162"/>
          <p:cNvSpPr/>
          <p:nvPr/>
        </p:nvSpPr>
        <p:spPr>
          <a:xfrm>
            <a:off x="8727621" y="54483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Freeform 163"/>
          <p:cNvSpPr/>
          <p:nvPr/>
        </p:nvSpPr>
        <p:spPr>
          <a:xfrm>
            <a:off x="8801100" y="54483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Oval 164"/>
          <p:cNvSpPr/>
          <p:nvPr/>
        </p:nvSpPr>
        <p:spPr>
          <a:xfrm>
            <a:off x="10006693" y="54483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Freeform 165"/>
          <p:cNvSpPr/>
          <p:nvPr/>
        </p:nvSpPr>
        <p:spPr>
          <a:xfrm>
            <a:off x="10086975" y="5448300"/>
            <a:ext cx="76200" cy="152400"/>
          </a:xfrm>
          <a:custGeom>
            <a:avLst/>
            <a:gdLst/>
            <a:ahLst/>
            <a:cxnLst/>
            <a:rect l="l" t="t" r="r" b="b"/>
            <a:pathLst>
              <a:path w="8" h="16">
                <a:moveTo>
                  <a:pt x="0" y="8"/>
                </a:moveTo>
                <a:lnTo>
                  <a:pt x="0" y="0"/>
                </a:lnTo>
                <a:lnTo>
                  <a:pt x="1" y="0"/>
                </a:lnTo>
                <a:lnTo>
                  <a:pt x="2" y="0"/>
                </a:lnTo>
                <a:lnTo>
                  <a:pt x="4" y="1"/>
                </a:lnTo>
                <a:lnTo>
                  <a:pt x="5" y="2"/>
                </a:lnTo>
                <a:lnTo>
                  <a:pt x="6" y="3"/>
                </a:lnTo>
                <a:lnTo>
                  <a:pt x="6" y="4"/>
                </a:lnTo>
                <a:lnTo>
                  <a:pt x="7" y="5"/>
                </a:lnTo>
                <a:lnTo>
                  <a:pt x="7" y="7"/>
                </a:lnTo>
                <a:lnTo>
                  <a:pt x="8" y="8"/>
                </a:lnTo>
                <a:lnTo>
                  <a:pt x="7" y="9"/>
                </a:lnTo>
                <a:lnTo>
                  <a:pt x="7" y="11"/>
                </a:lnTo>
                <a:lnTo>
                  <a:pt x="6"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Oval 166"/>
          <p:cNvSpPr/>
          <p:nvPr/>
        </p:nvSpPr>
        <p:spPr>
          <a:xfrm>
            <a:off x="11285764" y="54483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68" name="Connector 167"/>
          <p:cNvCxnSpPr/>
          <p:nvPr/>
        </p:nvCxnSpPr>
        <p:spPr>
          <a:xfrm>
            <a:off x="190500" y="56959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69" name="Rectangle 168"/>
          <p:cNvSpPr/>
          <p:nvPr/>
        </p:nvSpPr>
        <p:spPr>
          <a:xfrm>
            <a:off x="190500" y="57245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TextBox 169"/>
          <p:cNvSpPr txBox="1"/>
          <p:nvPr/>
        </p:nvSpPr>
        <p:spPr>
          <a:xfrm>
            <a:off x="285750" y="5715000"/>
            <a:ext cx="2743200" cy="171450"/>
          </a:xfrm>
          <a:prstGeom prst="rect">
            <a:avLst/>
          </a:prstGeom>
          <a:noFill/>
        </p:spPr>
        <p:txBody>
          <a:bodyPr wrap="square" lIns="28575" rIns="28575" tIns="9525" bIns="9525" anchor="t">
            <a:spAutoFit/>
          </a:bodyPr>
          <a:lstStyle/>
          <a:p>
            <a:pPr algn="l"/>
            <a:r>
              <a:rPr sz="1100" b="1">
                <a:solidFill>
                  <a:srgbClr val="1F2933"/>
                </a:solidFill>
                <a:latin typeface="Calibri"/>
              </a:rPr>
              <a:t>Microcore Research Laboratories India Pvt. Ltd.</a:t>
            </a:r>
          </a:p>
        </p:txBody>
      </p:sp>
      <p:sp>
        <p:nvSpPr>
          <p:cNvPr id="171" name="TextBox 170"/>
          <p:cNvSpPr txBox="1"/>
          <p:nvPr/>
        </p:nvSpPr>
        <p:spPr>
          <a:xfrm>
            <a:off x="285750" y="5876925"/>
            <a:ext cx="2743200"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172" name="Oval 171"/>
          <p:cNvSpPr/>
          <p:nvPr/>
        </p:nvSpPr>
        <p:spPr>
          <a:xfrm>
            <a:off x="3611336" y="57912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Freeform 172"/>
          <p:cNvSpPr/>
          <p:nvPr/>
        </p:nvSpPr>
        <p:spPr>
          <a:xfrm>
            <a:off x="3686175" y="57912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 name="Oval 173"/>
          <p:cNvSpPr/>
          <p:nvPr/>
        </p:nvSpPr>
        <p:spPr>
          <a:xfrm>
            <a:off x="4890407" y="57912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 name="Freeform 174"/>
          <p:cNvSpPr/>
          <p:nvPr/>
        </p:nvSpPr>
        <p:spPr>
          <a:xfrm>
            <a:off x="4962525" y="5791200"/>
            <a:ext cx="76200" cy="152400"/>
          </a:xfrm>
          <a:custGeom>
            <a:avLst/>
            <a:gdLst/>
            <a:ahLst/>
            <a:cxnLst/>
            <a:rect l="l" t="t" r="r" b="b"/>
            <a:pathLst>
              <a:path w="8" h="16">
                <a:moveTo>
                  <a:pt x="0" y="8"/>
                </a:moveTo>
                <a:lnTo>
                  <a:pt x="0" y="0"/>
                </a:lnTo>
                <a:lnTo>
                  <a:pt x="2" y="0"/>
                </a:lnTo>
                <a:lnTo>
                  <a:pt x="3" y="0"/>
                </a:lnTo>
                <a:lnTo>
                  <a:pt x="4" y="1"/>
                </a:lnTo>
                <a:lnTo>
                  <a:pt x="6" y="2"/>
                </a:lnTo>
                <a:lnTo>
                  <a:pt x="7" y="3"/>
                </a:lnTo>
                <a:lnTo>
                  <a:pt x="7" y="4"/>
                </a:lnTo>
                <a:lnTo>
                  <a:pt x="8" y="5"/>
                </a:lnTo>
                <a:lnTo>
                  <a:pt x="8" y="7"/>
                </a:lnTo>
                <a:lnTo>
                  <a:pt x="8" y="8"/>
                </a:lnTo>
                <a:lnTo>
                  <a:pt x="8" y="9"/>
                </a:lnTo>
                <a:lnTo>
                  <a:pt x="8" y="11"/>
                </a:lnTo>
                <a:lnTo>
                  <a:pt x="7" y="12"/>
                </a:lnTo>
                <a:lnTo>
                  <a:pt x="7" y="13"/>
                </a:lnTo>
                <a:lnTo>
                  <a:pt x="6"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 name="Oval 175"/>
          <p:cNvSpPr/>
          <p:nvPr/>
        </p:nvSpPr>
        <p:spPr>
          <a:xfrm>
            <a:off x="6169479" y="57912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 name="Oval 176"/>
          <p:cNvSpPr/>
          <p:nvPr/>
        </p:nvSpPr>
        <p:spPr>
          <a:xfrm>
            <a:off x="7448550" y="57912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 name="Freeform 177"/>
          <p:cNvSpPr/>
          <p:nvPr/>
        </p:nvSpPr>
        <p:spPr>
          <a:xfrm>
            <a:off x="7524750" y="57912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 name="Oval 178"/>
          <p:cNvSpPr/>
          <p:nvPr/>
        </p:nvSpPr>
        <p:spPr>
          <a:xfrm>
            <a:off x="8727621" y="57912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 name="Freeform 179"/>
          <p:cNvSpPr/>
          <p:nvPr/>
        </p:nvSpPr>
        <p:spPr>
          <a:xfrm>
            <a:off x="8801100" y="57912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 name="Oval 180"/>
          <p:cNvSpPr/>
          <p:nvPr/>
        </p:nvSpPr>
        <p:spPr>
          <a:xfrm>
            <a:off x="10006693" y="57912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 name="Oval 181"/>
          <p:cNvSpPr/>
          <p:nvPr/>
        </p:nvSpPr>
        <p:spPr>
          <a:xfrm>
            <a:off x="11285764" y="57912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83" name="Connector 182"/>
          <p:cNvCxnSpPr/>
          <p:nvPr/>
        </p:nvCxnSpPr>
        <p:spPr>
          <a:xfrm>
            <a:off x="190500" y="60388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84" name="Rectangle 183"/>
          <p:cNvSpPr/>
          <p:nvPr/>
        </p:nvSpPr>
        <p:spPr>
          <a:xfrm>
            <a:off x="190500" y="6124575"/>
            <a:ext cx="85725" cy="85725"/>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 name="TextBox 184"/>
          <p:cNvSpPr txBox="1"/>
          <p:nvPr/>
        </p:nvSpPr>
        <p:spPr>
          <a:xfrm>
            <a:off x="314325" y="6076950"/>
            <a:ext cx="2095500" cy="171450"/>
          </a:xfrm>
          <a:prstGeom prst="rect">
            <a:avLst/>
          </a:prstGeom>
          <a:noFill/>
        </p:spPr>
        <p:txBody>
          <a:bodyPr wrap="square" lIns="28575" rIns="28575" tIns="9525" bIns="9525" anchor="t">
            <a:spAutoFit/>
          </a:bodyPr>
          <a:lstStyle/>
          <a:p>
            <a:pPr algn="l"/>
            <a:r>
              <a:rPr sz="1100" b="0">
                <a:solidFill>
                  <a:srgbClr val="1F2933"/>
                </a:solidFill>
                <a:latin typeface="Calibri"/>
              </a:rPr>
              <a:t>Tier 1</a:t>
            </a:r>
          </a:p>
        </p:txBody>
      </p:sp>
      <p:sp>
        <p:nvSpPr>
          <p:cNvPr id="186" name="Rectangle 185"/>
          <p:cNvSpPr/>
          <p:nvPr/>
        </p:nvSpPr>
        <p:spPr>
          <a:xfrm>
            <a:off x="847725" y="6124575"/>
            <a:ext cx="85725" cy="85725"/>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 name="TextBox 186"/>
          <p:cNvSpPr txBox="1"/>
          <p:nvPr/>
        </p:nvSpPr>
        <p:spPr>
          <a:xfrm>
            <a:off x="971550" y="6076950"/>
            <a:ext cx="2095500" cy="171450"/>
          </a:xfrm>
          <a:prstGeom prst="rect">
            <a:avLst/>
          </a:prstGeom>
          <a:noFill/>
        </p:spPr>
        <p:txBody>
          <a:bodyPr wrap="square" lIns="28575" rIns="28575" tIns="9525" bIns="9525" anchor="t">
            <a:spAutoFit/>
          </a:bodyPr>
          <a:lstStyle/>
          <a:p>
            <a:pPr algn="l"/>
            <a:r>
              <a:rPr sz="1100" b="0">
                <a:solidFill>
                  <a:srgbClr val="1F2933"/>
                </a:solidFill>
                <a:latin typeface="Calibri"/>
              </a:rPr>
              <a:t>Tier 2</a:t>
            </a:r>
          </a:p>
        </p:txBody>
      </p:sp>
      <p:sp>
        <p:nvSpPr>
          <p:cNvPr id="188" name="Rectangle 187"/>
          <p:cNvSpPr/>
          <p:nvPr/>
        </p:nvSpPr>
        <p:spPr>
          <a:xfrm>
            <a:off x="1504950" y="6124575"/>
            <a:ext cx="85725" cy="85725"/>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 name="TextBox 188"/>
          <p:cNvSpPr txBox="1"/>
          <p:nvPr/>
        </p:nvSpPr>
        <p:spPr>
          <a:xfrm>
            <a:off x="1628775" y="6076950"/>
            <a:ext cx="2095500" cy="171450"/>
          </a:xfrm>
          <a:prstGeom prst="rect">
            <a:avLst/>
          </a:prstGeom>
          <a:noFill/>
        </p:spPr>
        <p:txBody>
          <a:bodyPr wrap="square" lIns="28575" rIns="28575" tIns="9525" bIns="9525" anchor="t">
            <a:spAutoFit/>
          </a:bodyPr>
          <a:lstStyle/>
          <a:p>
            <a:pPr algn="l"/>
            <a:r>
              <a:rPr sz="1100" b="0">
                <a:solidFill>
                  <a:srgbClr val="1F2933"/>
                </a:solidFill>
                <a:latin typeface="Calibri"/>
              </a:rPr>
              <a:t>Tier 3</a:t>
            </a:r>
          </a:p>
        </p:txBody>
      </p:sp>
      <p:sp>
        <p:nvSpPr>
          <p:cNvPr id="190" name="TextBox 189"/>
          <p:cNvSpPr txBox="1"/>
          <p:nvPr/>
        </p:nvSpPr>
        <p:spPr>
          <a:xfrm>
            <a:off x="190500" y="6286500"/>
            <a:ext cx="2857500" cy="152400"/>
          </a:xfrm>
          <a:prstGeom prst="rect">
            <a:avLst/>
          </a:prstGeom>
          <a:noFill/>
        </p:spPr>
        <p:txBody>
          <a:bodyPr wrap="square" lIns="28575" rIns="28575" tIns="9525" bIns="9525" anchor="t">
            <a:spAutoFit/>
          </a:bodyPr>
          <a:lstStyle/>
          <a:p>
            <a:pPr algn="l"/>
            <a:r>
              <a:rPr sz="1100" b="1">
                <a:solidFill>
                  <a:srgbClr val="0F2D52"/>
                </a:solidFill>
                <a:latin typeface="Calibri"/>
              </a:rPr>
              <a:t>READING</a:t>
            </a:r>
          </a:p>
        </p:txBody>
      </p:sp>
      <p:sp>
        <p:nvSpPr>
          <p:cNvPr id="191" name="TextBox 190"/>
          <p:cNvSpPr txBox="1"/>
          <p:nvPr/>
        </p:nvSpPr>
        <p:spPr>
          <a:xfrm>
            <a:off x="190500" y="6400800"/>
            <a:ext cx="11811000" cy="2286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Read across a row to see breadth; down a column to see contestability.  'Specialty Extracted Protein Fractions' is the most contested column (9 players active); 'Cosmetics &amp; Personal Care' is the most open (3).</a:t>
            </a:r>
          </a:p>
        </p:txBody>
      </p:sp>
      <p:sp>
        <p:nvSpPr>
          <p:cNvPr id="192" name="Rectangle 191"/>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 name="TextBox 19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
        <p:nvSpPr>
          <p:cNvPr id="194" name="TextBox 193"/>
          <p:cNvSpPr txBox="1"/>
          <p:nvPr/>
        </p:nvSpPr>
        <p:spPr>
          <a:xfrm>
            <a:off x="276225" y="1306830"/>
            <a:ext cx="398164" cy="186689"/>
          </a:xfrm>
          <a:prstGeom prst="rect">
            <a:avLst/>
          </a:prstGeom>
          <a:noFill/>
        </p:spPr>
        <p:txBody>
          <a:bodyPr wrap="none" lIns="0" rIns="0" tIns="0" bIns="0">
            <a:spAutoFit/>
          </a:bodyPr>
          <a:lstStyle/>
          <a:p>
            <a:r>
              <a:rPr sz="1100" b="1">
                <a:solidFill>
                  <a:srgbClr val="FFFFFF"/>
                </a:solidFill>
                <a:latin typeface="Calibri"/>
              </a:rPr>
              <a:t>Top 3</a:t>
            </a:r>
          </a:p>
        </p:txBody>
      </p:sp>
      <p:pic>
        <p:nvPicPr>
          <p:cNvPr id="195" name="Picture 194" descr="lock.png"/>
          <p:cNvPicPr>
            <a:picLocks noChangeAspect="1"/>
          </p:cNvPicPr>
          <p:nvPr/>
        </p:nvPicPr>
        <p:blipFill>
          <a:blip r:embed="rId4"/>
          <a:stretch>
            <a:fillRect/>
          </a:stretch>
        </p:blipFill>
        <p:spPr>
          <a:xfrm>
            <a:off x="622441" y="1297051"/>
            <a:ext cx="128699" cy="187198"/>
          </a:xfrm>
          <a:prstGeom prst="rect">
            <a:avLst/>
          </a:prstGeom>
        </p:spPr>
      </p:pic>
      <p:sp>
        <p:nvSpPr>
          <p:cNvPr id="196" name="TextBox 195"/>
          <p:cNvSpPr txBox="1"/>
          <p:nvPr/>
        </p:nvSpPr>
        <p:spPr>
          <a:xfrm>
            <a:off x="4786109" y="1306830"/>
            <a:ext cx="813172" cy="186689"/>
          </a:xfrm>
          <a:prstGeom prst="rect">
            <a:avLst/>
          </a:prstGeom>
          <a:noFill/>
        </p:spPr>
        <p:txBody>
          <a:bodyPr wrap="none" lIns="0" rIns="0" tIns="0" bIns="0">
            <a:spAutoFit/>
          </a:bodyPr>
          <a:lstStyle/>
          <a:p>
            <a:r>
              <a:rPr sz="1100" b="1">
                <a:solidFill>
                  <a:srgbClr val="FFFFFF"/>
                </a:solidFill>
                <a:latin typeface="Calibri"/>
              </a:rPr>
              <a:t>Rest of top 5</a:t>
            </a:r>
          </a:p>
        </p:txBody>
      </p:sp>
      <p:pic>
        <p:nvPicPr>
          <p:cNvPr id="197" name="Picture 196" descr="lock.png"/>
          <p:cNvPicPr>
            <a:picLocks noChangeAspect="1"/>
          </p:cNvPicPr>
          <p:nvPr/>
        </p:nvPicPr>
        <p:blipFill>
          <a:blip r:embed="rId4"/>
          <a:stretch>
            <a:fillRect/>
          </a:stretch>
        </p:blipFill>
        <p:spPr>
          <a:xfrm>
            <a:off x="5547332" y="1297051"/>
            <a:ext cx="128699" cy="187198"/>
          </a:xfrm>
          <a:prstGeom prst="rect">
            <a:avLst/>
          </a:prstGeom>
        </p:spPr>
      </p:pic>
      <p:sp>
        <p:nvSpPr>
          <p:cNvPr id="198" name="TextBox 197"/>
          <p:cNvSpPr txBox="1"/>
          <p:nvPr/>
        </p:nvSpPr>
        <p:spPr>
          <a:xfrm>
            <a:off x="6322271" y="1306830"/>
            <a:ext cx="620266" cy="186689"/>
          </a:xfrm>
          <a:prstGeom prst="rect">
            <a:avLst/>
          </a:prstGeom>
          <a:noFill/>
        </p:spPr>
        <p:txBody>
          <a:bodyPr wrap="none" lIns="0" rIns="0" tIns="0" bIns="0">
            <a:spAutoFit/>
          </a:bodyPr>
          <a:lstStyle/>
          <a:p>
            <a:r>
              <a:rPr sz="1100" b="1">
                <a:solidFill>
                  <a:srgbClr val="FFFFFF"/>
                </a:solidFill>
                <a:latin typeface="Calibri"/>
              </a:rPr>
              <a:t>Emerging</a:t>
            </a:r>
          </a:p>
        </p:txBody>
      </p:sp>
      <p:pic>
        <p:nvPicPr>
          <p:cNvPr id="199" name="Picture 198" descr="lock.png"/>
          <p:cNvPicPr>
            <a:picLocks noChangeAspect="1"/>
          </p:cNvPicPr>
          <p:nvPr/>
        </p:nvPicPr>
        <p:blipFill>
          <a:blip r:embed="rId4"/>
          <a:stretch>
            <a:fillRect/>
          </a:stretch>
        </p:blipFill>
        <p:spPr>
          <a:xfrm>
            <a:off x="6890588" y="1297051"/>
            <a:ext cx="128699" cy="187198"/>
          </a:xfrm>
          <a:prstGeom prst="rect">
            <a:avLst/>
          </a:prstGeom>
        </p:spPr>
      </p:pic>
      <p:sp>
        <p:nvSpPr>
          <p:cNvPr id="200" name="TextBox 199"/>
          <p:cNvSpPr txBox="1"/>
          <p:nvPr/>
        </p:nvSpPr>
        <p:spPr>
          <a:xfrm>
            <a:off x="8564687" y="1306830"/>
            <a:ext cx="469924" cy="186689"/>
          </a:xfrm>
          <a:prstGeom prst="rect">
            <a:avLst/>
          </a:prstGeom>
          <a:noFill/>
        </p:spPr>
        <p:txBody>
          <a:bodyPr wrap="none" lIns="0" rIns="0" tIns="0" bIns="0">
            <a:spAutoFit/>
          </a:bodyPr>
          <a:lstStyle/>
          <a:p>
            <a:r>
              <a:rPr sz="1100" b="1">
                <a:solidFill>
                  <a:srgbClr val="0F2D52"/>
                </a:solidFill>
                <a:latin typeface="Calibri"/>
              </a:rPr>
              <a:t>Others</a:t>
            </a:r>
          </a:p>
        </p:txBody>
      </p:sp>
      <p:pic>
        <p:nvPicPr>
          <p:cNvPr id="201" name="Picture 200" descr="lock.png"/>
          <p:cNvPicPr>
            <a:picLocks noChangeAspect="1"/>
          </p:cNvPicPr>
          <p:nvPr/>
        </p:nvPicPr>
        <p:blipFill>
          <a:blip r:embed="rId4"/>
          <a:stretch>
            <a:fillRect/>
          </a:stretch>
        </p:blipFill>
        <p:spPr>
          <a:xfrm>
            <a:off x="8982663" y="1297051"/>
            <a:ext cx="128699" cy="187198"/>
          </a:xfrm>
          <a:prstGeom prst="rect">
            <a:avLst/>
          </a:prstGeom>
        </p:spPr>
      </p:pic>
    </p:spTree>
  </p:cSld>
  <p:clrMapOvr>
    <a:masterClrMapping/>
  </p:clrMapOvr>
</p:sld>
</file>

<file path=ppt/slides/slide2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Egg Protein Membrane Market Value Chain Positioning of Leading Players</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How the market is organised by product type and end use, and who leads at each stage</a:t>
            </a:r>
          </a:p>
        </p:txBody>
      </p:sp>
      <p:sp>
        <p:nvSpPr>
          <p:cNvPr id="7" name="TextBox 6"/>
          <p:cNvSpPr txBox="1"/>
          <p:nvPr/>
        </p:nvSpPr>
        <p:spPr>
          <a:xfrm>
            <a:off x="247650" y="1047750"/>
            <a:ext cx="2266950" cy="171450"/>
          </a:xfrm>
          <a:prstGeom prst="rect">
            <a:avLst/>
          </a:prstGeom>
          <a:noFill/>
        </p:spPr>
        <p:txBody>
          <a:bodyPr wrap="square" lIns="28575" rIns="28575" tIns="9525" bIns="9525" anchor="t">
            <a:spAutoFit/>
          </a:bodyPr>
          <a:lstStyle/>
          <a:p>
            <a:pPr algn="l"/>
            <a:r>
              <a:rPr sz="1100" b="0">
                <a:solidFill>
                  <a:srgbClr val="5F6B7A"/>
                </a:solidFill>
                <a:latin typeface="Calibri"/>
              </a:rPr>
              <a:t>Top 3 share, 2026</a:t>
            </a:r>
          </a:p>
        </p:txBody>
      </p:sp>
      <p:sp>
        <p:nvSpPr>
          <p:cNvPr id="8" name="TextBox 7"/>
          <p:cNvSpPr txBox="1"/>
          <p:nvPr/>
        </p:nvSpPr>
        <p:spPr>
          <a:xfrm>
            <a:off x="247650" y="1238250"/>
            <a:ext cx="2266950" cy="228600"/>
          </a:xfrm>
          <a:prstGeom prst="rect">
            <a:avLst/>
          </a:prstGeom>
          <a:noFill/>
        </p:spPr>
        <p:txBody>
          <a:bodyPr wrap="square" lIns="28575" rIns="28575" tIns="9525" bIns="9525" anchor="t">
            <a:spAutoFit/>
          </a:bodyPr>
          <a:lstStyle/>
          <a:p>
            <a:pPr algn="l"/>
            <a:r>
              <a:rPr sz="1100" b="1">
                <a:solidFill>
                  <a:srgbClr val="E87722"/>
                </a:solidFill>
                <a:latin typeface="Calibri"/>
              </a:rPr>
              <a:t> </a:t>
            </a:r>
          </a:p>
        </p:txBody>
      </p:sp>
      <p:cxnSp>
        <p:nvCxnSpPr>
          <p:cNvPr id="9" name="Connector 8"/>
          <p:cNvCxnSpPr/>
          <p:nvPr/>
        </p:nvCxnSpPr>
        <p:spPr>
          <a:xfrm>
            <a:off x="2552700" y="1085850"/>
            <a:ext cx="0" cy="40005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2609850" y="1047750"/>
            <a:ext cx="2266950" cy="171450"/>
          </a:xfrm>
          <a:prstGeom prst="rect">
            <a:avLst/>
          </a:prstGeom>
          <a:noFill/>
        </p:spPr>
        <p:txBody>
          <a:bodyPr wrap="square" lIns="28575" rIns="28575" tIns="9525" bIns="9525" anchor="t">
            <a:spAutoFit/>
          </a:bodyPr>
          <a:lstStyle/>
          <a:p>
            <a:pPr algn="l"/>
            <a:r>
              <a:rPr sz="1100" b="0">
                <a:solidFill>
                  <a:srgbClr val="5F6B7A"/>
                </a:solidFill>
                <a:latin typeface="Calibri"/>
              </a:rPr>
              <a:t>Top 5 share</a:t>
            </a:r>
          </a:p>
        </p:txBody>
      </p:sp>
      <p:sp>
        <p:nvSpPr>
          <p:cNvPr id="11" name="TextBox 10"/>
          <p:cNvSpPr txBox="1"/>
          <p:nvPr/>
        </p:nvSpPr>
        <p:spPr>
          <a:xfrm>
            <a:off x="2609850" y="1238250"/>
            <a:ext cx="2266950" cy="228600"/>
          </a:xfrm>
          <a:prstGeom prst="rect">
            <a:avLst/>
          </a:prstGeom>
          <a:noFill/>
        </p:spPr>
        <p:txBody>
          <a:bodyPr wrap="square" lIns="28575" rIns="28575" tIns="9525" bIns="9525" anchor="t">
            <a:spAutoFit/>
          </a:bodyPr>
          <a:lstStyle/>
          <a:p>
            <a:pPr algn="l"/>
            <a:r>
              <a:rPr sz="1100" b="1">
                <a:solidFill>
                  <a:srgbClr val="0F2D52"/>
                </a:solidFill>
                <a:latin typeface="Calibri"/>
              </a:rPr>
              <a:t> </a:t>
            </a:r>
          </a:p>
        </p:txBody>
      </p:sp>
      <p:cxnSp>
        <p:nvCxnSpPr>
          <p:cNvPr id="12" name="Connector 11"/>
          <p:cNvCxnSpPr/>
          <p:nvPr/>
        </p:nvCxnSpPr>
        <p:spPr>
          <a:xfrm>
            <a:off x="4914900" y="1085850"/>
            <a:ext cx="0" cy="40005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4972050" y="1047750"/>
            <a:ext cx="2266950" cy="171450"/>
          </a:xfrm>
          <a:prstGeom prst="rect">
            <a:avLst/>
          </a:prstGeom>
          <a:noFill/>
        </p:spPr>
        <p:txBody>
          <a:bodyPr wrap="square" lIns="28575" rIns="28575" tIns="9525" bIns="9525" anchor="t">
            <a:spAutoFit/>
          </a:bodyPr>
          <a:lstStyle/>
          <a:p>
            <a:pPr algn="l"/>
            <a:r>
              <a:rPr sz="1100" b="0">
                <a:solidFill>
                  <a:srgbClr val="5F6B7A"/>
                </a:solidFill>
                <a:latin typeface="Calibri"/>
              </a:rPr>
              <a:t>Specialty Extracted Protein Fractions, share</a:t>
            </a:r>
          </a:p>
        </p:txBody>
      </p:sp>
      <p:sp>
        <p:nvSpPr>
          <p:cNvPr id="14" name="TextBox 13"/>
          <p:cNvSpPr txBox="1"/>
          <p:nvPr/>
        </p:nvSpPr>
        <p:spPr>
          <a:xfrm>
            <a:off x="4972050" y="1238250"/>
            <a:ext cx="2266950" cy="228600"/>
          </a:xfrm>
          <a:prstGeom prst="rect">
            <a:avLst/>
          </a:prstGeom>
          <a:noFill/>
        </p:spPr>
        <p:txBody>
          <a:bodyPr wrap="square" lIns="28575" rIns="28575" tIns="9525" bIns="9525" anchor="t">
            <a:spAutoFit/>
          </a:bodyPr>
          <a:lstStyle/>
          <a:p>
            <a:pPr algn="l"/>
            <a:r>
              <a:rPr sz="1100" b="1">
                <a:solidFill>
                  <a:srgbClr val="0F2D52"/>
                </a:solidFill>
                <a:latin typeface="Calibri"/>
              </a:rPr>
              <a:t> </a:t>
            </a:r>
          </a:p>
        </p:txBody>
      </p:sp>
      <p:cxnSp>
        <p:nvCxnSpPr>
          <p:cNvPr id="15" name="Connector 14"/>
          <p:cNvCxnSpPr/>
          <p:nvPr/>
        </p:nvCxnSpPr>
        <p:spPr>
          <a:xfrm>
            <a:off x="7277100" y="1085850"/>
            <a:ext cx="0" cy="40005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7334250" y="1047750"/>
            <a:ext cx="2266950" cy="171450"/>
          </a:xfrm>
          <a:prstGeom prst="rect">
            <a:avLst/>
          </a:prstGeom>
          <a:noFill/>
        </p:spPr>
        <p:txBody>
          <a:bodyPr wrap="square" lIns="28575" rIns="28575" tIns="9525" bIns="9525" anchor="t">
            <a:spAutoFit/>
          </a:bodyPr>
          <a:lstStyle/>
          <a:p>
            <a:pPr algn="l"/>
            <a:r>
              <a:rPr sz="1100" b="0">
                <a:solidFill>
                  <a:srgbClr val="5F6B7A"/>
                </a:solidFill>
                <a:latin typeface="Calibri"/>
              </a:rPr>
              <a:t>Micronized Eggshell Membrane, share</a:t>
            </a:r>
          </a:p>
        </p:txBody>
      </p:sp>
      <p:sp>
        <p:nvSpPr>
          <p:cNvPr id="17" name="TextBox 16"/>
          <p:cNvSpPr txBox="1"/>
          <p:nvPr/>
        </p:nvSpPr>
        <p:spPr>
          <a:xfrm>
            <a:off x="7334250" y="1238250"/>
            <a:ext cx="2266950" cy="228600"/>
          </a:xfrm>
          <a:prstGeom prst="rect">
            <a:avLst/>
          </a:prstGeom>
          <a:noFill/>
        </p:spPr>
        <p:txBody>
          <a:bodyPr wrap="square" lIns="28575" rIns="28575" tIns="9525" bIns="9525" anchor="t">
            <a:spAutoFit/>
          </a:bodyPr>
          <a:lstStyle/>
          <a:p>
            <a:pPr algn="l"/>
            <a:r>
              <a:rPr sz="1100" b="1">
                <a:solidFill>
                  <a:srgbClr val="0F2D52"/>
                </a:solidFill>
                <a:latin typeface="Calibri"/>
              </a:rPr>
              <a:t> </a:t>
            </a:r>
          </a:p>
        </p:txBody>
      </p:sp>
      <p:cxnSp>
        <p:nvCxnSpPr>
          <p:cNvPr id="18" name="Connector 17"/>
          <p:cNvCxnSpPr/>
          <p:nvPr/>
        </p:nvCxnSpPr>
        <p:spPr>
          <a:xfrm>
            <a:off x="9639300" y="1085850"/>
            <a:ext cx="0" cy="40005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9696450" y="1047750"/>
            <a:ext cx="2266950" cy="171450"/>
          </a:xfrm>
          <a:prstGeom prst="rect">
            <a:avLst/>
          </a:prstGeom>
          <a:noFill/>
        </p:spPr>
        <p:txBody>
          <a:bodyPr wrap="square" lIns="28575" rIns="28575" tIns="9525" bIns="9525" anchor="t">
            <a:spAutoFit/>
          </a:bodyPr>
          <a:lstStyle/>
          <a:p>
            <a:pPr algn="l"/>
            <a:r>
              <a:rPr sz="1100" b="0">
                <a:solidFill>
                  <a:srgbClr val="5F6B7A"/>
                </a:solidFill>
                <a:latin typeface="Calibri"/>
              </a:rPr>
              <a:t>Hydrolyzed Eggshell Membrane, share</a:t>
            </a:r>
          </a:p>
        </p:txBody>
      </p:sp>
      <p:sp>
        <p:nvSpPr>
          <p:cNvPr id="20" name="TextBox 19"/>
          <p:cNvSpPr txBox="1"/>
          <p:nvPr/>
        </p:nvSpPr>
        <p:spPr>
          <a:xfrm>
            <a:off x="9696450" y="1238250"/>
            <a:ext cx="2266950" cy="228600"/>
          </a:xfrm>
          <a:prstGeom prst="rect">
            <a:avLst/>
          </a:prstGeom>
          <a:noFill/>
        </p:spPr>
        <p:txBody>
          <a:bodyPr wrap="square" lIns="28575" rIns="28575" tIns="9525" bIns="9525" anchor="t">
            <a:spAutoFit/>
          </a:bodyPr>
          <a:lstStyle/>
          <a:p>
            <a:pPr algn="l"/>
            <a:r>
              <a:rPr sz="1100" b="1">
                <a:solidFill>
                  <a:srgbClr val="0F2D52"/>
                </a:solidFill>
                <a:latin typeface="Calibri"/>
              </a:rPr>
              <a:t> </a:t>
            </a:r>
          </a:p>
        </p:txBody>
      </p:sp>
      <p:cxnSp>
        <p:nvCxnSpPr>
          <p:cNvPr id="21" name="Connector 20"/>
          <p:cNvCxnSpPr/>
          <p:nvPr/>
        </p:nvCxnSpPr>
        <p:spPr>
          <a:xfrm>
            <a:off x="190500" y="1543050"/>
            <a:ext cx="11811000" cy="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22" name="Rectangle 21"/>
          <p:cNvSpPr/>
          <p:nvPr/>
        </p:nvSpPr>
        <p:spPr>
          <a:xfrm>
            <a:off x="190500" y="1638300"/>
            <a:ext cx="2767012" cy="3714750"/>
          </a:xfrm>
          <a:prstGeom prst="rect">
            <a:avLst/>
          </a:prstGeom>
          <a:solidFill>
            <a:srgbClr val="FFFFFF"/>
          </a:solidFill>
          <a:ln w="9525">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90500" y="1638300"/>
            <a:ext cx="2767012" cy="4762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85750" y="1733550"/>
            <a:ext cx="2576512" cy="171450"/>
          </a:xfrm>
          <a:prstGeom prst="rect">
            <a:avLst/>
          </a:prstGeom>
          <a:noFill/>
        </p:spPr>
        <p:txBody>
          <a:bodyPr wrap="square" lIns="28575" rIns="28575" tIns="9525" bIns="9525" anchor="t">
            <a:spAutoFit/>
          </a:bodyPr>
          <a:lstStyle/>
          <a:p>
            <a:pPr algn="l"/>
            <a:r>
              <a:rPr sz="1100" b="1">
                <a:solidFill>
                  <a:srgbClr val="0F2D52"/>
                </a:solidFill>
                <a:latin typeface="Calibri"/>
              </a:rPr>
              <a:t>1. Specialty Extracted Protein Fractions</a:t>
            </a:r>
          </a:p>
        </p:txBody>
      </p:sp>
      <p:sp>
        <p:nvSpPr>
          <p:cNvPr id="25" name="TextBox 24"/>
          <p:cNvSpPr txBox="1"/>
          <p:nvPr/>
        </p:nvSpPr>
        <p:spPr>
          <a:xfrm>
            <a:off x="285750" y="1924050"/>
            <a:ext cx="666750" cy="190500"/>
          </a:xfrm>
          <a:prstGeom prst="rect">
            <a:avLst/>
          </a:prstGeom>
          <a:noFill/>
        </p:spPr>
        <p:txBody>
          <a:bodyPr wrap="none" lIns="0" rIns="0" tIns="0" bIns="0" anchor="t">
            <a:spAutoFit/>
          </a:bodyPr>
          <a:lstStyle/>
          <a:p>
            <a:pPr algn="l"/>
            <a:r>
              <a:rPr sz="1100" b="1">
                <a:solidFill>
                  <a:srgbClr val="1F2933"/>
                </a:solidFill>
                <a:latin typeface="Calibri"/>
              </a:rPr>
              <a:t>39%</a:t>
            </a:r>
          </a:p>
        </p:txBody>
      </p:sp>
      <p:sp>
        <p:nvSpPr>
          <p:cNvPr id="26" name="TextBox 25"/>
          <p:cNvSpPr txBox="1"/>
          <p:nvPr/>
        </p:nvSpPr>
        <p:spPr>
          <a:xfrm>
            <a:off x="971550" y="1924050"/>
            <a:ext cx="1890712" cy="190500"/>
          </a:xfrm>
          <a:prstGeom prst="rect">
            <a:avLst/>
          </a:prstGeom>
          <a:noFill/>
        </p:spPr>
        <p:txBody>
          <a:bodyPr wrap="square" lIns="28575" rIns="28575" tIns="9525" bIns="9525" anchor="t">
            <a:spAutoFit/>
          </a:bodyPr>
          <a:lstStyle/>
          <a:p>
            <a:pPr algn="l"/>
            <a:r>
              <a:rPr sz="1100" b="1">
                <a:solidFill>
                  <a:srgbClr val="1F2933"/>
                </a:solidFill>
                <a:latin typeface="Calibri"/>
              </a:rPr>
              <a:t>of market</a:t>
            </a:r>
          </a:p>
        </p:txBody>
      </p:sp>
      <p:sp>
        <p:nvSpPr>
          <p:cNvPr id="27" name="TextBox 26"/>
          <p:cNvSpPr txBox="1"/>
          <p:nvPr/>
        </p:nvSpPr>
        <p:spPr>
          <a:xfrm>
            <a:off x="285750" y="2133600"/>
            <a:ext cx="666750" cy="190500"/>
          </a:xfrm>
          <a:prstGeom prst="rect">
            <a:avLst/>
          </a:prstGeom>
          <a:noFill/>
        </p:spPr>
        <p:txBody>
          <a:bodyPr wrap="none" lIns="0" rIns="0" tIns="0" bIns="0" anchor="t">
            <a:spAutoFit/>
          </a:bodyPr>
          <a:lstStyle/>
          <a:p>
            <a:pPr algn="l"/>
            <a:r>
              <a:rPr sz="1100" b="0">
                <a:solidFill>
                  <a:srgbClr val="5F6B7A"/>
                </a:solidFill>
                <a:latin typeface="Calibri"/>
              </a:rPr>
              <a:t> </a:t>
            </a:r>
          </a:p>
        </p:txBody>
      </p:sp>
      <p:sp>
        <p:nvSpPr>
          <p:cNvPr id="28" name="TextBox 27"/>
          <p:cNvSpPr txBox="1"/>
          <p:nvPr/>
        </p:nvSpPr>
        <p:spPr>
          <a:xfrm>
            <a:off x="971550" y="2133600"/>
            <a:ext cx="1890712" cy="190500"/>
          </a:xfrm>
          <a:prstGeom prst="rect">
            <a:avLst/>
          </a:prstGeom>
          <a:noFill/>
        </p:spPr>
        <p:txBody>
          <a:bodyPr wrap="square" lIns="28575" rIns="28575" tIns="9525" bIns="9525" anchor="t">
            <a:spAutoFit/>
          </a:bodyPr>
          <a:lstStyle/>
          <a:p>
            <a:pPr algn="l"/>
            <a:r>
              <a:rPr sz="1100" b="0">
                <a:solidFill>
                  <a:srgbClr val="5F6B7A"/>
                </a:solidFill>
                <a:latin typeface="Calibri"/>
              </a:rPr>
              <a:t>CAGR 2026–2036</a:t>
            </a:r>
          </a:p>
        </p:txBody>
      </p:sp>
      <p:cxnSp>
        <p:nvCxnSpPr>
          <p:cNvPr id="29" name="Connector 28"/>
          <p:cNvCxnSpPr/>
          <p:nvPr/>
        </p:nvCxnSpPr>
        <p:spPr>
          <a:xfrm>
            <a:off x="285750" y="2362200"/>
            <a:ext cx="2576512" cy="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285750" y="2419350"/>
            <a:ext cx="2576512" cy="152400"/>
          </a:xfrm>
          <a:prstGeom prst="rect">
            <a:avLst/>
          </a:prstGeom>
          <a:noFill/>
        </p:spPr>
        <p:txBody>
          <a:bodyPr wrap="square" lIns="28575" rIns="28575" tIns="9525" bIns="9525" anchor="t">
            <a:spAutoFit/>
          </a:bodyPr>
          <a:lstStyle/>
          <a:p>
            <a:pPr algn="l"/>
            <a:r>
              <a:rPr sz="1100" b="1">
                <a:solidFill>
                  <a:srgbClr val="0F2D52"/>
                </a:solidFill>
                <a:latin typeface="Calibri"/>
              </a:rPr>
              <a:t>LEADS</a:t>
            </a:r>
          </a:p>
        </p:txBody>
      </p:sp>
      <p:sp>
        <p:nvSpPr>
          <p:cNvPr id="31" name="TextBox 30"/>
          <p:cNvSpPr txBox="1"/>
          <p:nvPr/>
        </p:nvSpPr>
        <p:spPr>
          <a:xfrm>
            <a:off x="285750" y="2590800"/>
            <a:ext cx="2576512" cy="171450"/>
          </a:xfrm>
          <a:prstGeom prst="rect">
            <a:avLst/>
          </a:prstGeom>
          <a:noFill/>
        </p:spPr>
        <p:txBody>
          <a:bodyPr wrap="square" lIns="28575" rIns="28575" tIns="9525" bIns="9525" anchor="t">
            <a:spAutoFit/>
          </a:bodyPr>
          <a:lstStyle/>
          <a:p>
            <a:pPr algn="l"/>
            <a:r>
              <a:rPr sz="1100" b="1">
                <a:solidFill>
                  <a:srgbClr val="1F2933"/>
                </a:solidFill>
                <a:latin typeface="Calibri"/>
              </a:rPr>
              <a:t>●  Biova, LLC</a:t>
            </a:r>
          </a:p>
        </p:txBody>
      </p:sp>
      <p:sp>
        <p:nvSpPr>
          <p:cNvPr id="32" name="TextBox 31"/>
          <p:cNvSpPr txBox="1"/>
          <p:nvPr/>
        </p:nvSpPr>
        <p:spPr>
          <a:xfrm>
            <a:off x="285750" y="2819400"/>
            <a:ext cx="2576512" cy="152400"/>
          </a:xfrm>
          <a:prstGeom prst="rect">
            <a:avLst/>
          </a:prstGeom>
          <a:noFill/>
        </p:spPr>
        <p:txBody>
          <a:bodyPr wrap="square" lIns="28575" rIns="28575" tIns="9525" bIns="9525" anchor="t">
            <a:spAutoFit/>
          </a:bodyPr>
          <a:lstStyle/>
          <a:p>
            <a:pPr algn="l"/>
            <a:r>
              <a:rPr sz="1100" b="1">
                <a:solidFill>
                  <a:srgbClr val="0F2D52"/>
                </a:solidFill>
                <a:latin typeface="Calibri"/>
              </a:rPr>
              <a:t>ALSO ACTIVE</a:t>
            </a:r>
          </a:p>
        </p:txBody>
      </p:sp>
      <p:sp>
        <p:nvSpPr>
          <p:cNvPr id="33" name="TextBox 32"/>
          <p:cNvSpPr txBox="1"/>
          <p:nvPr/>
        </p:nvSpPr>
        <p:spPr>
          <a:xfrm>
            <a:off x="285750" y="2990850"/>
            <a:ext cx="2576512" cy="171450"/>
          </a:xfrm>
          <a:prstGeom prst="rect">
            <a:avLst/>
          </a:prstGeom>
          <a:noFill/>
        </p:spPr>
        <p:txBody>
          <a:bodyPr wrap="square" lIns="28575" rIns="28575" tIns="9525" bIns="9525" anchor="t">
            <a:spAutoFit/>
          </a:bodyPr>
          <a:lstStyle/>
          <a:p>
            <a:pPr algn="l"/>
            <a:r>
              <a:rPr sz="1100" b="0">
                <a:solidFill>
                  <a:srgbClr val="1F2933"/>
                </a:solidFill>
                <a:latin typeface="Calibri"/>
              </a:rPr>
              <a:t>●  ESM Technologies, LLC</a:t>
            </a:r>
          </a:p>
        </p:txBody>
      </p:sp>
      <p:sp>
        <p:nvSpPr>
          <p:cNvPr id="34" name="TextBox 33"/>
          <p:cNvSpPr txBox="1"/>
          <p:nvPr/>
        </p:nvSpPr>
        <p:spPr>
          <a:xfrm>
            <a:off x="285750" y="3162300"/>
            <a:ext cx="2576512" cy="171450"/>
          </a:xfrm>
          <a:prstGeom prst="rect">
            <a:avLst/>
          </a:prstGeom>
          <a:noFill/>
        </p:spPr>
        <p:txBody>
          <a:bodyPr wrap="square" lIns="28575" rIns="28575" tIns="9525" bIns="9525" anchor="t">
            <a:spAutoFit/>
          </a:bodyPr>
          <a:lstStyle/>
          <a:p>
            <a:pPr algn="l"/>
            <a:r>
              <a:rPr sz="1100" b="0">
                <a:solidFill>
                  <a:srgbClr val="1F2933"/>
                </a:solidFill>
                <a:latin typeface="Calibri"/>
              </a:rPr>
              <a:t>●  Company</a:t>
            </a:r>
          </a:p>
        </p:txBody>
      </p:sp>
      <p:sp>
        <p:nvSpPr>
          <p:cNvPr id="35" name="TextBox 34"/>
          <p:cNvSpPr txBox="1"/>
          <p:nvPr/>
        </p:nvSpPr>
        <p:spPr>
          <a:xfrm>
            <a:off x="285750" y="3333750"/>
            <a:ext cx="2576512" cy="171450"/>
          </a:xfrm>
          <a:prstGeom prst="rect">
            <a:avLst/>
          </a:prstGeom>
          <a:noFill/>
        </p:spPr>
        <p:txBody>
          <a:bodyPr wrap="square" lIns="28575" rIns="28575" tIns="9525" bIns="9525" anchor="t">
            <a:spAutoFit/>
          </a:bodyPr>
          <a:lstStyle/>
          <a:p>
            <a:pPr algn="l"/>
            <a:r>
              <a:rPr sz="1100" b="0">
                <a:solidFill>
                  <a:srgbClr val="1F2933"/>
                </a:solidFill>
                <a:latin typeface="Calibri"/>
              </a:rPr>
              <a:t>●  Eggnovo S.L.</a:t>
            </a:r>
          </a:p>
        </p:txBody>
      </p:sp>
      <p:sp>
        <p:nvSpPr>
          <p:cNvPr id="36" name="TextBox 35"/>
          <p:cNvSpPr txBox="1"/>
          <p:nvPr/>
        </p:nvSpPr>
        <p:spPr>
          <a:xfrm>
            <a:off x="285750" y="3505200"/>
            <a:ext cx="2576512" cy="171450"/>
          </a:xfrm>
          <a:prstGeom prst="rect">
            <a:avLst/>
          </a:prstGeom>
          <a:noFill/>
        </p:spPr>
        <p:txBody>
          <a:bodyPr wrap="square" lIns="28575" rIns="28575" tIns="9525" bIns="9525" anchor="t">
            <a:spAutoFit/>
          </a:bodyPr>
          <a:lstStyle/>
          <a:p>
            <a:pPr algn="l"/>
            <a:r>
              <a:rPr sz="1100" b="0">
                <a:solidFill>
                  <a:srgbClr val="1F2933"/>
                </a:solidFill>
                <a:latin typeface="Calibri"/>
              </a:rPr>
              <a:t>●  Dutch Eggmembrane Protein Powder</a:t>
            </a:r>
          </a:p>
        </p:txBody>
      </p:sp>
      <p:cxnSp>
        <p:nvCxnSpPr>
          <p:cNvPr id="37" name="Connector 36"/>
          <p:cNvCxnSpPr/>
          <p:nvPr/>
        </p:nvCxnSpPr>
        <p:spPr>
          <a:xfrm>
            <a:off x="285750" y="4438650"/>
            <a:ext cx="2576512" cy="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285750" y="4495800"/>
            <a:ext cx="2576512" cy="152400"/>
          </a:xfrm>
          <a:prstGeom prst="rect">
            <a:avLst/>
          </a:prstGeom>
          <a:noFill/>
        </p:spPr>
        <p:txBody>
          <a:bodyPr wrap="square" lIns="28575" rIns="28575" tIns="9525" bIns="9525" anchor="t">
            <a:spAutoFit/>
          </a:bodyPr>
          <a:lstStyle/>
          <a:p>
            <a:pPr algn="l"/>
            <a:r>
              <a:rPr sz="1100" b="1">
                <a:solidFill>
                  <a:srgbClr val="0F2D52"/>
                </a:solidFill>
                <a:latin typeface="Calibri"/>
              </a:rPr>
              <a:t>WHAT TO WATCH</a:t>
            </a:r>
          </a:p>
        </p:txBody>
      </p:sp>
      <p:sp>
        <p:nvSpPr>
          <p:cNvPr id="39" name="TextBox 38"/>
          <p:cNvSpPr txBox="1"/>
          <p:nvPr/>
        </p:nvSpPr>
        <p:spPr>
          <a:xfrm>
            <a:off x="285750" y="4667250"/>
            <a:ext cx="2576512" cy="6667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
            </a:r>
          </a:p>
        </p:txBody>
      </p:sp>
      <p:cxnSp>
        <p:nvCxnSpPr>
          <p:cNvPr id="40" name="Connector 39"/>
          <p:cNvCxnSpPr/>
          <p:nvPr/>
        </p:nvCxnSpPr>
        <p:spPr>
          <a:xfrm>
            <a:off x="2995612" y="3495675"/>
            <a:ext cx="152400" cy="0"/>
          </a:xfrm>
          <a:prstGeom prst="line">
            <a:avLst/>
          </a:prstGeom>
          <a:ln w="25400">
            <a:solidFill>
              <a:srgbClr val="0F2D52"/>
            </a:solidFill>
          </a:ln>
          <a:effectLst/>
        </p:spPr>
        <p:style>
          <a:lnRef idx="2">
            <a:schemeClr val="accent1"/>
          </a:lnRef>
          <a:fillRef idx="0">
            <a:schemeClr val="accent1"/>
          </a:fillRef>
          <a:effectRef idx="1">
            <a:schemeClr val="accent1"/>
          </a:effectRef>
          <a:fontRef idx="minor">
            <a:schemeClr val="tx1"/>
          </a:fontRef>
        </p:style>
      </p:cxnSp>
      <p:sp>
        <p:nvSpPr>
          <p:cNvPr id="41" name="Freeform 40"/>
          <p:cNvSpPr/>
          <p:nvPr/>
        </p:nvSpPr>
        <p:spPr>
          <a:xfrm>
            <a:off x="3105150" y="3448050"/>
            <a:ext cx="57150" cy="95250"/>
          </a:xfrm>
          <a:custGeom>
            <a:avLst/>
            <a:gdLst/>
            <a:ahLst/>
            <a:cxnLst/>
            <a:rect l="l" t="t" r="r" b="b"/>
            <a:pathLst>
              <a:path w="6" h="10">
                <a:moveTo>
                  <a:pt x="6" y="5"/>
                </a:moveTo>
                <a:lnTo>
                  <a:pt x="0" y="0"/>
                </a:lnTo>
                <a:lnTo>
                  <a:pt x="0" y="10"/>
                </a:lnTo>
                <a:close/>
              </a:path>
            </a:pathLst>
          </a:custGeom>
          <a:solidFill>
            <a:srgbClr val="0F2D52"/>
          </a:solidFill>
          <a:ln w="9525">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3205162" y="1638300"/>
            <a:ext cx="2767012" cy="3714750"/>
          </a:xfrm>
          <a:prstGeom prst="rect">
            <a:avLst/>
          </a:prstGeom>
          <a:solidFill>
            <a:srgbClr val="FFFFFF"/>
          </a:solidFill>
          <a:ln w="9525">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3205162" y="1638300"/>
            <a:ext cx="2767012" cy="4762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300412" y="1733550"/>
            <a:ext cx="2576512" cy="171450"/>
          </a:xfrm>
          <a:prstGeom prst="rect">
            <a:avLst/>
          </a:prstGeom>
          <a:noFill/>
        </p:spPr>
        <p:txBody>
          <a:bodyPr wrap="square" lIns="28575" rIns="28575" tIns="9525" bIns="9525" anchor="t">
            <a:spAutoFit/>
          </a:bodyPr>
          <a:lstStyle/>
          <a:p>
            <a:pPr algn="l"/>
            <a:r>
              <a:rPr sz="1100" b="1">
                <a:solidFill>
                  <a:srgbClr val="0F2D52"/>
                </a:solidFill>
                <a:latin typeface="Calibri"/>
              </a:rPr>
              <a:t>2. Micronized Eggshell Membrane</a:t>
            </a:r>
          </a:p>
        </p:txBody>
      </p:sp>
      <p:sp>
        <p:nvSpPr>
          <p:cNvPr id="45" name="TextBox 44"/>
          <p:cNvSpPr txBox="1"/>
          <p:nvPr/>
        </p:nvSpPr>
        <p:spPr>
          <a:xfrm>
            <a:off x="3300412" y="1924050"/>
            <a:ext cx="666750" cy="190500"/>
          </a:xfrm>
          <a:prstGeom prst="rect">
            <a:avLst/>
          </a:prstGeom>
          <a:noFill/>
        </p:spPr>
        <p:txBody>
          <a:bodyPr wrap="none" lIns="0" rIns="0" tIns="0" bIns="0" anchor="t">
            <a:spAutoFit/>
          </a:bodyPr>
          <a:lstStyle/>
          <a:p>
            <a:pPr algn="l"/>
            <a:r>
              <a:rPr sz="1100" b="1">
                <a:solidFill>
                  <a:srgbClr val="1F2933"/>
                </a:solidFill>
                <a:latin typeface="Calibri"/>
              </a:rPr>
              <a:t>39%</a:t>
            </a:r>
          </a:p>
        </p:txBody>
      </p:sp>
      <p:sp>
        <p:nvSpPr>
          <p:cNvPr id="46" name="TextBox 45"/>
          <p:cNvSpPr txBox="1"/>
          <p:nvPr/>
        </p:nvSpPr>
        <p:spPr>
          <a:xfrm>
            <a:off x="3986212" y="1924050"/>
            <a:ext cx="1890712" cy="190500"/>
          </a:xfrm>
          <a:prstGeom prst="rect">
            <a:avLst/>
          </a:prstGeom>
          <a:noFill/>
        </p:spPr>
        <p:txBody>
          <a:bodyPr wrap="square" lIns="28575" rIns="28575" tIns="9525" bIns="9525" anchor="t">
            <a:spAutoFit/>
          </a:bodyPr>
          <a:lstStyle/>
          <a:p>
            <a:pPr algn="l"/>
            <a:r>
              <a:rPr sz="1100" b="1">
                <a:solidFill>
                  <a:srgbClr val="1F2933"/>
                </a:solidFill>
                <a:latin typeface="Calibri"/>
              </a:rPr>
              <a:t>of market</a:t>
            </a:r>
          </a:p>
        </p:txBody>
      </p:sp>
      <p:sp>
        <p:nvSpPr>
          <p:cNvPr id="47" name="TextBox 46"/>
          <p:cNvSpPr txBox="1"/>
          <p:nvPr/>
        </p:nvSpPr>
        <p:spPr>
          <a:xfrm>
            <a:off x="3300412" y="2133600"/>
            <a:ext cx="666750" cy="190500"/>
          </a:xfrm>
          <a:prstGeom prst="rect">
            <a:avLst/>
          </a:prstGeom>
          <a:noFill/>
        </p:spPr>
        <p:txBody>
          <a:bodyPr wrap="none" lIns="0" rIns="0" tIns="0" bIns="0" anchor="t">
            <a:spAutoFit/>
          </a:bodyPr>
          <a:lstStyle/>
          <a:p>
            <a:pPr algn="l"/>
            <a:r>
              <a:rPr sz="1100" b="0">
                <a:solidFill>
                  <a:srgbClr val="5F6B7A"/>
                </a:solidFill>
                <a:latin typeface="Calibri"/>
              </a:rPr>
              <a:t> </a:t>
            </a:r>
          </a:p>
        </p:txBody>
      </p:sp>
      <p:sp>
        <p:nvSpPr>
          <p:cNvPr id="48" name="TextBox 47"/>
          <p:cNvSpPr txBox="1"/>
          <p:nvPr/>
        </p:nvSpPr>
        <p:spPr>
          <a:xfrm>
            <a:off x="3986212" y="2133600"/>
            <a:ext cx="1890712" cy="190500"/>
          </a:xfrm>
          <a:prstGeom prst="rect">
            <a:avLst/>
          </a:prstGeom>
          <a:noFill/>
        </p:spPr>
        <p:txBody>
          <a:bodyPr wrap="square" lIns="28575" rIns="28575" tIns="9525" bIns="9525" anchor="t">
            <a:spAutoFit/>
          </a:bodyPr>
          <a:lstStyle/>
          <a:p>
            <a:pPr algn="l"/>
            <a:r>
              <a:rPr sz="1100" b="0">
                <a:solidFill>
                  <a:srgbClr val="5F6B7A"/>
                </a:solidFill>
                <a:latin typeface="Calibri"/>
              </a:rPr>
              <a:t>CAGR 2026–2036</a:t>
            </a:r>
          </a:p>
        </p:txBody>
      </p:sp>
      <p:cxnSp>
        <p:nvCxnSpPr>
          <p:cNvPr id="49" name="Connector 48"/>
          <p:cNvCxnSpPr/>
          <p:nvPr/>
        </p:nvCxnSpPr>
        <p:spPr>
          <a:xfrm>
            <a:off x="3300412" y="2362200"/>
            <a:ext cx="2576513" cy="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3300412" y="2419350"/>
            <a:ext cx="2576512" cy="152400"/>
          </a:xfrm>
          <a:prstGeom prst="rect">
            <a:avLst/>
          </a:prstGeom>
          <a:noFill/>
        </p:spPr>
        <p:txBody>
          <a:bodyPr wrap="square" lIns="28575" rIns="28575" tIns="9525" bIns="9525" anchor="t">
            <a:spAutoFit/>
          </a:bodyPr>
          <a:lstStyle/>
          <a:p>
            <a:pPr algn="l"/>
            <a:r>
              <a:rPr sz="1100" b="1">
                <a:solidFill>
                  <a:srgbClr val="0F2D52"/>
                </a:solidFill>
                <a:latin typeface="Calibri"/>
              </a:rPr>
              <a:t>LEADS</a:t>
            </a:r>
          </a:p>
        </p:txBody>
      </p:sp>
      <p:sp>
        <p:nvSpPr>
          <p:cNvPr id="51" name="TextBox 50"/>
          <p:cNvSpPr txBox="1"/>
          <p:nvPr/>
        </p:nvSpPr>
        <p:spPr>
          <a:xfrm>
            <a:off x="3300412" y="2590800"/>
            <a:ext cx="2576512" cy="171450"/>
          </a:xfrm>
          <a:prstGeom prst="rect">
            <a:avLst/>
          </a:prstGeom>
          <a:noFill/>
        </p:spPr>
        <p:txBody>
          <a:bodyPr wrap="square" lIns="28575" rIns="28575" tIns="9525" bIns="9525" anchor="t">
            <a:spAutoFit/>
          </a:bodyPr>
          <a:lstStyle/>
          <a:p>
            <a:pPr algn="l"/>
            <a:r>
              <a:rPr sz="1100" b="1">
                <a:solidFill>
                  <a:srgbClr val="1F2933"/>
                </a:solidFill>
                <a:latin typeface="Calibri"/>
              </a:rPr>
              <a:t>●  ESM Technologies, LLC</a:t>
            </a:r>
          </a:p>
        </p:txBody>
      </p:sp>
      <p:sp>
        <p:nvSpPr>
          <p:cNvPr id="52" name="TextBox 51"/>
          <p:cNvSpPr txBox="1"/>
          <p:nvPr/>
        </p:nvSpPr>
        <p:spPr>
          <a:xfrm>
            <a:off x="3300412" y="2819400"/>
            <a:ext cx="2576512" cy="152400"/>
          </a:xfrm>
          <a:prstGeom prst="rect">
            <a:avLst/>
          </a:prstGeom>
          <a:noFill/>
        </p:spPr>
        <p:txBody>
          <a:bodyPr wrap="square" lIns="28575" rIns="28575" tIns="9525" bIns="9525" anchor="t">
            <a:spAutoFit/>
          </a:bodyPr>
          <a:lstStyle/>
          <a:p>
            <a:pPr algn="l"/>
            <a:r>
              <a:rPr sz="1100" b="1">
                <a:solidFill>
                  <a:srgbClr val="0F2D52"/>
                </a:solidFill>
                <a:latin typeface="Calibri"/>
              </a:rPr>
              <a:t>ALSO ACTIVE</a:t>
            </a:r>
          </a:p>
        </p:txBody>
      </p:sp>
      <p:sp>
        <p:nvSpPr>
          <p:cNvPr id="53" name="TextBox 52"/>
          <p:cNvSpPr txBox="1"/>
          <p:nvPr/>
        </p:nvSpPr>
        <p:spPr>
          <a:xfrm>
            <a:off x="3300412" y="2990850"/>
            <a:ext cx="2576512" cy="171450"/>
          </a:xfrm>
          <a:prstGeom prst="rect">
            <a:avLst/>
          </a:prstGeom>
          <a:noFill/>
        </p:spPr>
        <p:txBody>
          <a:bodyPr wrap="square" lIns="28575" rIns="28575" tIns="9525" bIns="9525" anchor="t">
            <a:spAutoFit/>
          </a:bodyPr>
          <a:lstStyle/>
          <a:p>
            <a:pPr algn="l"/>
            <a:r>
              <a:rPr sz="1100" b="0">
                <a:solidFill>
                  <a:srgbClr val="1F2933"/>
                </a:solidFill>
                <a:latin typeface="Calibri"/>
              </a:rPr>
              <a:t>●  Company</a:t>
            </a:r>
          </a:p>
        </p:txBody>
      </p:sp>
      <p:sp>
        <p:nvSpPr>
          <p:cNvPr id="54" name="TextBox 53"/>
          <p:cNvSpPr txBox="1"/>
          <p:nvPr/>
        </p:nvSpPr>
        <p:spPr>
          <a:xfrm>
            <a:off x="3300412" y="3162300"/>
            <a:ext cx="2576512" cy="171450"/>
          </a:xfrm>
          <a:prstGeom prst="rect">
            <a:avLst/>
          </a:prstGeom>
          <a:noFill/>
        </p:spPr>
        <p:txBody>
          <a:bodyPr wrap="square" lIns="28575" rIns="28575" tIns="9525" bIns="9525" anchor="t">
            <a:spAutoFit/>
          </a:bodyPr>
          <a:lstStyle/>
          <a:p>
            <a:pPr algn="l"/>
            <a:r>
              <a:rPr sz="1100" b="0">
                <a:solidFill>
                  <a:srgbClr val="1F2933"/>
                </a:solidFill>
                <a:latin typeface="Calibri"/>
              </a:rPr>
              <a:t>●  Biova, LLC</a:t>
            </a:r>
          </a:p>
        </p:txBody>
      </p:sp>
      <p:sp>
        <p:nvSpPr>
          <p:cNvPr id="55" name="TextBox 54"/>
          <p:cNvSpPr txBox="1"/>
          <p:nvPr/>
        </p:nvSpPr>
        <p:spPr>
          <a:xfrm>
            <a:off x="3300412" y="3333750"/>
            <a:ext cx="2576512" cy="171450"/>
          </a:xfrm>
          <a:prstGeom prst="rect">
            <a:avLst/>
          </a:prstGeom>
          <a:noFill/>
        </p:spPr>
        <p:txBody>
          <a:bodyPr wrap="square" lIns="28575" rIns="28575" tIns="9525" bIns="9525" anchor="t">
            <a:spAutoFit/>
          </a:bodyPr>
          <a:lstStyle/>
          <a:p>
            <a:pPr algn="l"/>
            <a:r>
              <a:rPr sz="1100" b="0">
                <a:solidFill>
                  <a:srgbClr val="1F2933"/>
                </a:solidFill>
                <a:latin typeface="Calibri"/>
              </a:rPr>
              <a:t>●  Dutch Eggmembrane Protein Powder</a:t>
            </a:r>
          </a:p>
        </p:txBody>
      </p:sp>
      <p:sp>
        <p:nvSpPr>
          <p:cNvPr id="56" name="TextBox 55"/>
          <p:cNvSpPr txBox="1"/>
          <p:nvPr/>
        </p:nvSpPr>
        <p:spPr>
          <a:xfrm>
            <a:off x="3300412" y="3505200"/>
            <a:ext cx="2576512" cy="171450"/>
          </a:xfrm>
          <a:prstGeom prst="rect">
            <a:avLst/>
          </a:prstGeom>
          <a:noFill/>
        </p:spPr>
        <p:txBody>
          <a:bodyPr wrap="square" lIns="28575" rIns="28575" tIns="9525" bIns="9525" anchor="t">
            <a:spAutoFit/>
          </a:bodyPr>
          <a:lstStyle/>
          <a:p>
            <a:pPr algn="l"/>
            <a:r>
              <a:rPr sz="1100" b="0">
                <a:solidFill>
                  <a:srgbClr val="1F2933"/>
                </a:solidFill>
                <a:latin typeface="Calibri"/>
              </a:rPr>
              <a:t>●  Kewpie Corporation</a:t>
            </a:r>
          </a:p>
        </p:txBody>
      </p:sp>
      <p:cxnSp>
        <p:nvCxnSpPr>
          <p:cNvPr id="57" name="Connector 56"/>
          <p:cNvCxnSpPr/>
          <p:nvPr/>
        </p:nvCxnSpPr>
        <p:spPr>
          <a:xfrm>
            <a:off x="3300412" y="4438650"/>
            <a:ext cx="2576513" cy="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58" name="TextBox 57"/>
          <p:cNvSpPr txBox="1"/>
          <p:nvPr/>
        </p:nvSpPr>
        <p:spPr>
          <a:xfrm>
            <a:off x="3300412" y="4495800"/>
            <a:ext cx="2576512" cy="152400"/>
          </a:xfrm>
          <a:prstGeom prst="rect">
            <a:avLst/>
          </a:prstGeom>
          <a:noFill/>
        </p:spPr>
        <p:txBody>
          <a:bodyPr wrap="square" lIns="28575" rIns="28575" tIns="9525" bIns="9525" anchor="t">
            <a:spAutoFit/>
          </a:bodyPr>
          <a:lstStyle/>
          <a:p>
            <a:pPr algn="l"/>
            <a:r>
              <a:rPr sz="1100" b="1">
                <a:solidFill>
                  <a:srgbClr val="0F2D52"/>
                </a:solidFill>
                <a:latin typeface="Calibri"/>
              </a:rPr>
              <a:t>WHAT TO WATCH</a:t>
            </a:r>
          </a:p>
        </p:txBody>
      </p:sp>
      <p:sp>
        <p:nvSpPr>
          <p:cNvPr id="59" name="TextBox 58"/>
          <p:cNvSpPr txBox="1"/>
          <p:nvPr/>
        </p:nvSpPr>
        <p:spPr>
          <a:xfrm>
            <a:off x="3300412" y="4667250"/>
            <a:ext cx="2576512" cy="6667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
            </a:r>
          </a:p>
        </p:txBody>
      </p:sp>
      <p:cxnSp>
        <p:nvCxnSpPr>
          <p:cNvPr id="60" name="Connector 59"/>
          <p:cNvCxnSpPr/>
          <p:nvPr/>
        </p:nvCxnSpPr>
        <p:spPr>
          <a:xfrm>
            <a:off x="6010275" y="3495675"/>
            <a:ext cx="152400" cy="0"/>
          </a:xfrm>
          <a:prstGeom prst="line">
            <a:avLst/>
          </a:prstGeom>
          <a:ln w="25400">
            <a:solidFill>
              <a:srgbClr val="0F2D52"/>
            </a:solidFill>
          </a:ln>
          <a:effectLst/>
        </p:spPr>
        <p:style>
          <a:lnRef idx="2">
            <a:schemeClr val="accent1"/>
          </a:lnRef>
          <a:fillRef idx="0">
            <a:schemeClr val="accent1"/>
          </a:fillRef>
          <a:effectRef idx="1">
            <a:schemeClr val="accent1"/>
          </a:effectRef>
          <a:fontRef idx="minor">
            <a:schemeClr val="tx1"/>
          </a:fontRef>
        </p:style>
      </p:cxnSp>
      <p:sp>
        <p:nvSpPr>
          <p:cNvPr id="61" name="Freeform 60"/>
          <p:cNvSpPr/>
          <p:nvPr/>
        </p:nvSpPr>
        <p:spPr>
          <a:xfrm>
            <a:off x="6115050" y="3448050"/>
            <a:ext cx="66675" cy="95250"/>
          </a:xfrm>
          <a:custGeom>
            <a:avLst/>
            <a:gdLst/>
            <a:ahLst/>
            <a:cxnLst/>
            <a:rect l="l" t="t" r="r" b="b"/>
            <a:pathLst>
              <a:path w="7" h="10">
                <a:moveTo>
                  <a:pt x="7" y="5"/>
                </a:moveTo>
                <a:lnTo>
                  <a:pt x="0" y="0"/>
                </a:lnTo>
                <a:lnTo>
                  <a:pt x="0" y="10"/>
                </a:lnTo>
                <a:close/>
              </a:path>
            </a:pathLst>
          </a:custGeom>
          <a:solidFill>
            <a:srgbClr val="0F2D52"/>
          </a:solidFill>
          <a:ln w="9525">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6219825" y="1638300"/>
            <a:ext cx="2767012" cy="3714750"/>
          </a:xfrm>
          <a:prstGeom prst="rect">
            <a:avLst/>
          </a:prstGeom>
          <a:solidFill>
            <a:srgbClr val="FFFFFF"/>
          </a:solidFill>
          <a:ln w="9525">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6219825" y="1638300"/>
            <a:ext cx="2767012" cy="4762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6315075" y="1733550"/>
            <a:ext cx="2576512" cy="171450"/>
          </a:xfrm>
          <a:prstGeom prst="rect">
            <a:avLst/>
          </a:prstGeom>
          <a:noFill/>
        </p:spPr>
        <p:txBody>
          <a:bodyPr wrap="square" lIns="28575" rIns="28575" tIns="9525" bIns="9525" anchor="t">
            <a:spAutoFit/>
          </a:bodyPr>
          <a:lstStyle/>
          <a:p>
            <a:pPr algn="l"/>
            <a:r>
              <a:rPr sz="1100" b="1">
                <a:solidFill>
                  <a:srgbClr val="0F2D52"/>
                </a:solidFill>
                <a:latin typeface="Calibri"/>
              </a:rPr>
              <a:t>3. Hydrolyzed Eggshell Membrane</a:t>
            </a:r>
          </a:p>
        </p:txBody>
      </p:sp>
      <p:sp>
        <p:nvSpPr>
          <p:cNvPr id="65" name="TextBox 64"/>
          <p:cNvSpPr txBox="1"/>
          <p:nvPr/>
        </p:nvSpPr>
        <p:spPr>
          <a:xfrm>
            <a:off x="6315075" y="1924050"/>
            <a:ext cx="666750" cy="190500"/>
          </a:xfrm>
          <a:prstGeom prst="rect">
            <a:avLst/>
          </a:prstGeom>
          <a:noFill/>
        </p:spPr>
        <p:txBody>
          <a:bodyPr wrap="none" lIns="0" rIns="0" tIns="0" bIns="0" anchor="t">
            <a:spAutoFit/>
          </a:bodyPr>
          <a:lstStyle/>
          <a:p>
            <a:pPr algn="l"/>
            <a:r>
              <a:rPr sz="1100" b="1">
                <a:solidFill>
                  <a:srgbClr val="1F2933"/>
                </a:solidFill>
                <a:latin typeface="Calibri"/>
              </a:rPr>
              <a:t>22%</a:t>
            </a:r>
          </a:p>
        </p:txBody>
      </p:sp>
      <p:sp>
        <p:nvSpPr>
          <p:cNvPr id="66" name="TextBox 65"/>
          <p:cNvSpPr txBox="1"/>
          <p:nvPr/>
        </p:nvSpPr>
        <p:spPr>
          <a:xfrm>
            <a:off x="7000875" y="1924050"/>
            <a:ext cx="1890712" cy="190500"/>
          </a:xfrm>
          <a:prstGeom prst="rect">
            <a:avLst/>
          </a:prstGeom>
          <a:noFill/>
        </p:spPr>
        <p:txBody>
          <a:bodyPr wrap="square" lIns="28575" rIns="28575" tIns="9525" bIns="9525" anchor="t">
            <a:spAutoFit/>
          </a:bodyPr>
          <a:lstStyle/>
          <a:p>
            <a:pPr algn="l"/>
            <a:r>
              <a:rPr sz="1100" b="1">
                <a:solidFill>
                  <a:srgbClr val="1F2933"/>
                </a:solidFill>
                <a:latin typeface="Calibri"/>
              </a:rPr>
              <a:t>of market</a:t>
            </a:r>
          </a:p>
        </p:txBody>
      </p:sp>
      <p:sp>
        <p:nvSpPr>
          <p:cNvPr id="67" name="TextBox 66"/>
          <p:cNvSpPr txBox="1"/>
          <p:nvPr/>
        </p:nvSpPr>
        <p:spPr>
          <a:xfrm>
            <a:off x="6315075" y="2133600"/>
            <a:ext cx="666750" cy="190500"/>
          </a:xfrm>
          <a:prstGeom prst="rect">
            <a:avLst/>
          </a:prstGeom>
          <a:noFill/>
        </p:spPr>
        <p:txBody>
          <a:bodyPr wrap="none" lIns="0" rIns="0" tIns="0" bIns="0" anchor="t">
            <a:spAutoFit/>
          </a:bodyPr>
          <a:lstStyle/>
          <a:p>
            <a:pPr algn="l"/>
            <a:r>
              <a:rPr sz="1100" b="0">
                <a:solidFill>
                  <a:srgbClr val="5F6B7A"/>
                </a:solidFill>
                <a:latin typeface="Calibri"/>
              </a:rPr>
              <a:t> </a:t>
            </a:r>
          </a:p>
        </p:txBody>
      </p:sp>
      <p:sp>
        <p:nvSpPr>
          <p:cNvPr id="68" name="TextBox 67"/>
          <p:cNvSpPr txBox="1"/>
          <p:nvPr/>
        </p:nvSpPr>
        <p:spPr>
          <a:xfrm>
            <a:off x="7000875" y="2133600"/>
            <a:ext cx="1890712" cy="190500"/>
          </a:xfrm>
          <a:prstGeom prst="rect">
            <a:avLst/>
          </a:prstGeom>
          <a:noFill/>
        </p:spPr>
        <p:txBody>
          <a:bodyPr wrap="square" lIns="28575" rIns="28575" tIns="9525" bIns="9525" anchor="t">
            <a:spAutoFit/>
          </a:bodyPr>
          <a:lstStyle/>
          <a:p>
            <a:pPr algn="l"/>
            <a:r>
              <a:rPr sz="1100" b="0">
                <a:solidFill>
                  <a:srgbClr val="5F6B7A"/>
                </a:solidFill>
                <a:latin typeface="Calibri"/>
              </a:rPr>
              <a:t>CAGR 2026–2036</a:t>
            </a:r>
          </a:p>
        </p:txBody>
      </p:sp>
      <p:cxnSp>
        <p:nvCxnSpPr>
          <p:cNvPr id="69" name="Connector 68"/>
          <p:cNvCxnSpPr/>
          <p:nvPr/>
        </p:nvCxnSpPr>
        <p:spPr>
          <a:xfrm>
            <a:off x="6315075" y="2362200"/>
            <a:ext cx="2576513" cy="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70" name="TextBox 69"/>
          <p:cNvSpPr txBox="1"/>
          <p:nvPr/>
        </p:nvSpPr>
        <p:spPr>
          <a:xfrm>
            <a:off x="6315075" y="2419350"/>
            <a:ext cx="2576512" cy="152400"/>
          </a:xfrm>
          <a:prstGeom prst="rect">
            <a:avLst/>
          </a:prstGeom>
          <a:noFill/>
        </p:spPr>
        <p:txBody>
          <a:bodyPr wrap="square" lIns="28575" rIns="28575" tIns="9525" bIns="9525" anchor="t">
            <a:spAutoFit/>
          </a:bodyPr>
          <a:lstStyle/>
          <a:p>
            <a:pPr algn="l"/>
            <a:r>
              <a:rPr sz="1100" b="1">
                <a:solidFill>
                  <a:srgbClr val="0F2D52"/>
                </a:solidFill>
                <a:latin typeface="Calibri"/>
              </a:rPr>
              <a:t>LEADS</a:t>
            </a:r>
          </a:p>
        </p:txBody>
      </p:sp>
      <p:sp>
        <p:nvSpPr>
          <p:cNvPr id="71" name="TextBox 70"/>
          <p:cNvSpPr txBox="1"/>
          <p:nvPr/>
        </p:nvSpPr>
        <p:spPr>
          <a:xfrm>
            <a:off x="6315075" y="2590800"/>
            <a:ext cx="2576512" cy="171450"/>
          </a:xfrm>
          <a:prstGeom prst="rect">
            <a:avLst/>
          </a:prstGeom>
          <a:noFill/>
        </p:spPr>
        <p:txBody>
          <a:bodyPr wrap="square" lIns="28575" rIns="28575" tIns="9525" bIns="9525" anchor="t">
            <a:spAutoFit/>
          </a:bodyPr>
          <a:lstStyle/>
          <a:p>
            <a:pPr algn="l"/>
            <a:r>
              <a:rPr sz="1100" b="1">
                <a:solidFill>
                  <a:srgbClr val="1F2933"/>
                </a:solidFill>
                <a:latin typeface="Calibri"/>
              </a:rPr>
              <a:t>●  ESM Technologies, LLC</a:t>
            </a:r>
          </a:p>
        </p:txBody>
      </p:sp>
      <p:sp>
        <p:nvSpPr>
          <p:cNvPr id="72" name="TextBox 71"/>
          <p:cNvSpPr txBox="1"/>
          <p:nvPr/>
        </p:nvSpPr>
        <p:spPr>
          <a:xfrm>
            <a:off x="6315075" y="2819400"/>
            <a:ext cx="2576512" cy="152400"/>
          </a:xfrm>
          <a:prstGeom prst="rect">
            <a:avLst/>
          </a:prstGeom>
          <a:noFill/>
        </p:spPr>
        <p:txBody>
          <a:bodyPr wrap="square" lIns="28575" rIns="28575" tIns="9525" bIns="9525" anchor="t">
            <a:spAutoFit/>
          </a:bodyPr>
          <a:lstStyle/>
          <a:p>
            <a:pPr algn="l"/>
            <a:r>
              <a:rPr sz="1100" b="1">
                <a:solidFill>
                  <a:srgbClr val="0F2D52"/>
                </a:solidFill>
                <a:latin typeface="Calibri"/>
              </a:rPr>
              <a:t>ALSO ACTIVE</a:t>
            </a:r>
          </a:p>
        </p:txBody>
      </p:sp>
      <p:sp>
        <p:nvSpPr>
          <p:cNvPr id="73" name="TextBox 72"/>
          <p:cNvSpPr txBox="1"/>
          <p:nvPr/>
        </p:nvSpPr>
        <p:spPr>
          <a:xfrm>
            <a:off x="6315075" y="2990850"/>
            <a:ext cx="2576512" cy="171450"/>
          </a:xfrm>
          <a:prstGeom prst="rect">
            <a:avLst/>
          </a:prstGeom>
          <a:noFill/>
        </p:spPr>
        <p:txBody>
          <a:bodyPr wrap="square" lIns="28575" rIns="28575" tIns="9525" bIns="9525" anchor="t">
            <a:spAutoFit/>
          </a:bodyPr>
          <a:lstStyle/>
          <a:p>
            <a:pPr algn="l"/>
            <a:r>
              <a:rPr sz="1100" b="0">
                <a:solidFill>
                  <a:srgbClr val="1F2933"/>
                </a:solidFill>
                <a:latin typeface="Calibri"/>
              </a:rPr>
              <a:t>●  Biova, LLC</a:t>
            </a:r>
          </a:p>
        </p:txBody>
      </p:sp>
      <p:sp>
        <p:nvSpPr>
          <p:cNvPr id="74" name="TextBox 73"/>
          <p:cNvSpPr txBox="1"/>
          <p:nvPr/>
        </p:nvSpPr>
        <p:spPr>
          <a:xfrm>
            <a:off x="6315075" y="3162300"/>
            <a:ext cx="2576512" cy="171450"/>
          </a:xfrm>
          <a:prstGeom prst="rect">
            <a:avLst/>
          </a:prstGeom>
          <a:noFill/>
        </p:spPr>
        <p:txBody>
          <a:bodyPr wrap="square" lIns="28575" rIns="28575" tIns="9525" bIns="9525" anchor="t">
            <a:spAutoFit/>
          </a:bodyPr>
          <a:lstStyle/>
          <a:p>
            <a:pPr algn="l"/>
            <a:r>
              <a:rPr sz="1100" b="0">
                <a:solidFill>
                  <a:srgbClr val="1F2933"/>
                </a:solidFill>
                <a:latin typeface="Calibri"/>
              </a:rPr>
              <a:t>●  Eggnovo S.L.</a:t>
            </a:r>
          </a:p>
        </p:txBody>
      </p:sp>
      <p:sp>
        <p:nvSpPr>
          <p:cNvPr id="75" name="TextBox 74"/>
          <p:cNvSpPr txBox="1"/>
          <p:nvPr/>
        </p:nvSpPr>
        <p:spPr>
          <a:xfrm>
            <a:off x="6315075" y="3333750"/>
            <a:ext cx="2576512" cy="171450"/>
          </a:xfrm>
          <a:prstGeom prst="rect">
            <a:avLst/>
          </a:prstGeom>
          <a:noFill/>
        </p:spPr>
        <p:txBody>
          <a:bodyPr wrap="square" lIns="28575" rIns="28575" tIns="9525" bIns="9525" anchor="t">
            <a:spAutoFit/>
          </a:bodyPr>
          <a:lstStyle/>
          <a:p>
            <a:pPr algn="l"/>
            <a:r>
              <a:rPr sz="1100" b="0">
                <a:solidFill>
                  <a:srgbClr val="1F2933"/>
                </a:solidFill>
                <a:latin typeface="Calibri"/>
              </a:rPr>
              <a:t>●  Dutch Eggmembrane Protein Powder</a:t>
            </a:r>
          </a:p>
        </p:txBody>
      </p:sp>
      <p:sp>
        <p:nvSpPr>
          <p:cNvPr id="76" name="TextBox 75"/>
          <p:cNvSpPr txBox="1"/>
          <p:nvPr/>
        </p:nvSpPr>
        <p:spPr>
          <a:xfrm>
            <a:off x="6315075" y="3505200"/>
            <a:ext cx="2576512" cy="171450"/>
          </a:xfrm>
          <a:prstGeom prst="rect">
            <a:avLst/>
          </a:prstGeom>
          <a:noFill/>
        </p:spPr>
        <p:txBody>
          <a:bodyPr wrap="square" lIns="28575" rIns="28575" tIns="9525" bIns="9525" anchor="t">
            <a:spAutoFit/>
          </a:bodyPr>
          <a:lstStyle/>
          <a:p>
            <a:pPr algn="l"/>
            <a:r>
              <a:rPr sz="1100" b="0">
                <a:solidFill>
                  <a:srgbClr val="1F2933"/>
                </a:solidFill>
                <a:latin typeface="Calibri"/>
              </a:rPr>
              <a:t>●  INNAIN</a:t>
            </a:r>
          </a:p>
        </p:txBody>
      </p:sp>
      <p:cxnSp>
        <p:nvCxnSpPr>
          <p:cNvPr id="77" name="Connector 76"/>
          <p:cNvCxnSpPr/>
          <p:nvPr/>
        </p:nvCxnSpPr>
        <p:spPr>
          <a:xfrm>
            <a:off x="6315075" y="4438650"/>
            <a:ext cx="2576513" cy="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78" name="TextBox 77"/>
          <p:cNvSpPr txBox="1"/>
          <p:nvPr/>
        </p:nvSpPr>
        <p:spPr>
          <a:xfrm>
            <a:off x="6315075" y="4495800"/>
            <a:ext cx="2576512" cy="152400"/>
          </a:xfrm>
          <a:prstGeom prst="rect">
            <a:avLst/>
          </a:prstGeom>
          <a:noFill/>
        </p:spPr>
        <p:txBody>
          <a:bodyPr wrap="square" lIns="28575" rIns="28575" tIns="9525" bIns="9525" anchor="t">
            <a:spAutoFit/>
          </a:bodyPr>
          <a:lstStyle/>
          <a:p>
            <a:pPr algn="l"/>
            <a:r>
              <a:rPr sz="1100" b="1">
                <a:solidFill>
                  <a:srgbClr val="0F2D52"/>
                </a:solidFill>
                <a:latin typeface="Calibri"/>
              </a:rPr>
              <a:t>WHAT TO WATCH</a:t>
            </a:r>
          </a:p>
        </p:txBody>
      </p:sp>
      <p:sp>
        <p:nvSpPr>
          <p:cNvPr id="79" name="TextBox 78"/>
          <p:cNvSpPr txBox="1"/>
          <p:nvPr/>
        </p:nvSpPr>
        <p:spPr>
          <a:xfrm>
            <a:off x="6315075" y="4667250"/>
            <a:ext cx="2576512" cy="6667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
            </a:r>
          </a:p>
        </p:txBody>
      </p:sp>
      <p:cxnSp>
        <p:nvCxnSpPr>
          <p:cNvPr id="80" name="Connector 79"/>
          <p:cNvCxnSpPr/>
          <p:nvPr/>
        </p:nvCxnSpPr>
        <p:spPr>
          <a:xfrm>
            <a:off x="9024938" y="3495675"/>
            <a:ext cx="152400" cy="0"/>
          </a:xfrm>
          <a:prstGeom prst="line">
            <a:avLst/>
          </a:prstGeom>
          <a:ln w="25400">
            <a:solidFill>
              <a:srgbClr val="0F2D52"/>
            </a:solidFill>
          </a:ln>
          <a:effectLst/>
        </p:spPr>
        <p:style>
          <a:lnRef idx="2">
            <a:schemeClr val="accent1"/>
          </a:lnRef>
          <a:fillRef idx="0">
            <a:schemeClr val="accent1"/>
          </a:fillRef>
          <a:effectRef idx="1">
            <a:schemeClr val="accent1"/>
          </a:effectRef>
          <a:fontRef idx="minor">
            <a:schemeClr val="tx1"/>
          </a:fontRef>
        </p:style>
      </p:cxnSp>
      <p:sp>
        <p:nvSpPr>
          <p:cNvPr id="81" name="Freeform 80"/>
          <p:cNvSpPr/>
          <p:nvPr/>
        </p:nvSpPr>
        <p:spPr>
          <a:xfrm>
            <a:off x="9124950" y="3448050"/>
            <a:ext cx="76200" cy="95250"/>
          </a:xfrm>
          <a:custGeom>
            <a:avLst/>
            <a:gdLst/>
            <a:ahLst/>
            <a:cxnLst/>
            <a:rect l="l" t="t" r="r" b="b"/>
            <a:pathLst>
              <a:path w="8" h="10">
                <a:moveTo>
                  <a:pt x="8" y="5"/>
                </a:moveTo>
                <a:lnTo>
                  <a:pt x="0" y="0"/>
                </a:lnTo>
                <a:lnTo>
                  <a:pt x="0" y="10"/>
                </a:lnTo>
                <a:close/>
              </a:path>
            </a:pathLst>
          </a:custGeom>
          <a:solidFill>
            <a:srgbClr val="0F2D52"/>
          </a:solidFill>
          <a:ln w="9525">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ectangle 81"/>
          <p:cNvSpPr/>
          <p:nvPr/>
        </p:nvSpPr>
        <p:spPr>
          <a:xfrm>
            <a:off x="9234488" y="1638300"/>
            <a:ext cx="2767012" cy="3714750"/>
          </a:xfrm>
          <a:prstGeom prst="rect">
            <a:avLst/>
          </a:prstGeom>
          <a:solidFill>
            <a:srgbClr val="FFFFFF"/>
          </a:solidFill>
          <a:ln w="9525">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ectangle 82"/>
          <p:cNvSpPr/>
          <p:nvPr/>
        </p:nvSpPr>
        <p:spPr>
          <a:xfrm>
            <a:off x="9234488" y="1638300"/>
            <a:ext cx="2767012" cy="4762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9329738" y="1733550"/>
            <a:ext cx="2576512" cy="171450"/>
          </a:xfrm>
          <a:prstGeom prst="rect">
            <a:avLst/>
          </a:prstGeom>
          <a:noFill/>
        </p:spPr>
        <p:txBody>
          <a:bodyPr wrap="square" lIns="28575" rIns="28575" tIns="9525" bIns="9525" anchor="t">
            <a:spAutoFit/>
          </a:bodyPr>
          <a:lstStyle/>
          <a:p>
            <a:pPr algn="l"/>
            <a:r>
              <a:rPr sz="1100" b="1">
                <a:solidFill>
                  <a:srgbClr val="0F2D52"/>
                </a:solidFill>
                <a:latin typeface="Calibri"/>
              </a:rPr>
              <a:t>4. Application</a:t>
            </a:r>
          </a:p>
        </p:txBody>
      </p:sp>
      <p:sp>
        <p:nvSpPr>
          <p:cNvPr id="85" name="TextBox 84"/>
          <p:cNvSpPr txBox="1"/>
          <p:nvPr/>
        </p:nvSpPr>
        <p:spPr>
          <a:xfrm>
            <a:off x="9329738" y="1924050"/>
            <a:ext cx="2576512" cy="190500"/>
          </a:xfrm>
          <a:prstGeom prst="rect">
            <a:avLst/>
          </a:prstGeom>
          <a:noFill/>
        </p:spPr>
        <p:txBody>
          <a:bodyPr wrap="square" lIns="28575" rIns="28575" tIns="9525" bIns="9525" anchor="t">
            <a:spAutoFit/>
          </a:bodyPr>
          <a:lstStyle/>
          <a:p>
            <a:pPr algn="l"/>
            <a:r>
              <a:rPr sz="1100" b="1">
                <a:solidFill>
                  <a:srgbClr val="1F2933"/>
                </a:solidFill>
                <a:latin typeface="Calibri"/>
              </a:rPr>
              <a:t>By application</a:t>
            </a:r>
          </a:p>
        </p:txBody>
      </p:sp>
      <p:sp>
        <p:nvSpPr>
          <p:cNvPr id="86" name="TextBox 85"/>
          <p:cNvSpPr txBox="1"/>
          <p:nvPr/>
        </p:nvSpPr>
        <p:spPr>
          <a:xfrm>
            <a:off x="9329738" y="2133600"/>
            <a:ext cx="2576512" cy="190500"/>
          </a:xfrm>
          <a:prstGeom prst="rect">
            <a:avLst/>
          </a:prstGeom>
          <a:noFill/>
        </p:spPr>
        <p:txBody>
          <a:bodyPr wrap="square" lIns="28575" rIns="28575" tIns="9525" bIns="9525" anchor="t">
            <a:spAutoFit/>
          </a:bodyPr>
          <a:lstStyle/>
          <a:p>
            <a:pPr algn="l"/>
            <a:r>
              <a:rPr sz="1100" b="0">
                <a:solidFill>
                  <a:srgbClr val="5F6B7A"/>
                </a:solidFill>
                <a:latin typeface="Calibri"/>
              </a:rPr>
              <a:t>Who buys the output.</a:t>
            </a:r>
          </a:p>
        </p:txBody>
      </p:sp>
      <p:cxnSp>
        <p:nvCxnSpPr>
          <p:cNvPr id="87" name="Connector 86"/>
          <p:cNvCxnSpPr/>
          <p:nvPr/>
        </p:nvCxnSpPr>
        <p:spPr>
          <a:xfrm>
            <a:off x="9329738" y="2362200"/>
            <a:ext cx="2576512" cy="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88" name="TextBox 87"/>
          <p:cNvSpPr txBox="1"/>
          <p:nvPr/>
        </p:nvSpPr>
        <p:spPr>
          <a:xfrm>
            <a:off x="9329738" y="2419350"/>
            <a:ext cx="1333500" cy="32385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Dietary Supplements &amp; Nutraceuticals</a:t>
            </a:r>
          </a:p>
        </p:txBody>
      </p:sp>
      <p:sp>
        <p:nvSpPr>
          <p:cNvPr id="89" name="Rectangle 88"/>
          <p:cNvSpPr/>
          <p:nvPr/>
        </p:nvSpPr>
        <p:spPr>
          <a:xfrm>
            <a:off x="10682288" y="2524125"/>
            <a:ext cx="766762" cy="1143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11487150" y="2486025"/>
            <a:ext cx="476250" cy="190500"/>
          </a:xfrm>
          <a:prstGeom prst="rect">
            <a:avLst/>
          </a:prstGeom>
          <a:noFill/>
        </p:spPr>
        <p:txBody>
          <a:bodyPr wrap="none" lIns="0" rIns="0" tIns="0" bIns="0" anchor="ctr">
            <a:spAutoFit/>
          </a:bodyPr>
          <a:lstStyle/>
          <a:p>
            <a:pPr algn="l"/>
            <a:r>
              <a:rPr sz="1100" b="1">
                <a:solidFill>
                  <a:srgbClr val="1F2933"/>
                </a:solidFill>
                <a:latin typeface="Calibri"/>
              </a:rPr>
              <a:t> </a:t>
            </a:r>
          </a:p>
        </p:txBody>
      </p:sp>
      <p:sp>
        <p:nvSpPr>
          <p:cNvPr id="91" name="TextBox 90"/>
          <p:cNvSpPr txBox="1"/>
          <p:nvPr/>
        </p:nvSpPr>
        <p:spPr>
          <a:xfrm>
            <a:off x="9329738" y="2743200"/>
            <a:ext cx="1333500" cy="32385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Pharmaceuticals &amp; Biomedical</a:t>
            </a:r>
          </a:p>
        </p:txBody>
      </p:sp>
      <p:sp>
        <p:nvSpPr>
          <p:cNvPr id="92" name="Rectangle 91"/>
          <p:cNvSpPr/>
          <p:nvPr/>
        </p:nvSpPr>
        <p:spPr>
          <a:xfrm>
            <a:off x="10682288" y="2847975"/>
            <a:ext cx="419984" cy="1143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11140371" y="2809875"/>
            <a:ext cx="476250" cy="190500"/>
          </a:xfrm>
          <a:prstGeom prst="rect">
            <a:avLst/>
          </a:prstGeom>
          <a:noFill/>
        </p:spPr>
        <p:txBody>
          <a:bodyPr wrap="none" lIns="0" rIns="0" tIns="0" bIns="0" anchor="ctr">
            <a:spAutoFit/>
          </a:bodyPr>
          <a:lstStyle/>
          <a:p>
            <a:pPr algn="l"/>
            <a:r>
              <a:rPr sz="1100" b="1">
                <a:solidFill>
                  <a:srgbClr val="1F2933"/>
                </a:solidFill>
                <a:latin typeface="Calibri"/>
              </a:rPr>
              <a:t> </a:t>
            </a:r>
          </a:p>
        </p:txBody>
      </p:sp>
      <p:sp>
        <p:nvSpPr>
          <p:cNvPr id="94" name="TextBox 93"/>
          <p:cNvSpPr txBox="1"/>
          <p:nvPr/>
        </p:nvSpPr>
        <p:spPr>
          <a:xfrm>
            <a:off x="9329738" y="3067050"/>
            <a:ext cx="1333500" cy="32385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Functional Food &amp; Beverages</a:t>
            </a:r>
          </a:p>
        </p:txBody>
      </p:sp>
      <p:sp>
        <p:nvSpPr>
          <p:cNvPr id="95" name="Rectangle 94"/>
          <p:cNvSpPr/>
          <p:nvPr/>
        </p:nvSpPr>
        <p:spPr>
          <a:xfrm>
            <a:off x="10682288" y="3171825"/>
            <a:ext cx="325547" cy="1143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11045935" y="3133725"/>
            <a:ext cx="476250" cy="190500"/>
          </a:xfrm>
          <a:prstGeom prst="rect">
            <a:avLst/>
          </a:prstGeom>
          <a:noFill/>
        </p:spPr>
        <p:txBody>
          <a:bodyPr wrap="none" lIns="0" rIns="0" tIns="0" bIns="0" anchor="ctr">
            <a:spAutoFit/>
          </a:bodyPr>
          <a:lstStyle/>
          <a:p>
            <a:pPr algn="l"/>
            <a:r>
              <a:rPr sz="1100" b="1">
                <a:solidFill>
                  <a:srgbClr val="1F2933"/>
                </a:solidFill>
                <a:latin typeface="Calibri"/>
              </a:rPr>
              <a:t> </a:t>
            </a:r>
          </a:p>
        </p:txBody>
      </p:sp>
      <p:sp>
        <p:nvSpPr>
          <p:cNvPr id="97" name="TextBox 96"/>
          <p:cNvSpPr txBox="1"/>
          <p:nvPr/>
        </p:nvSpPr>
        <p:spPr>
          <a:xfrm>
            <a:off x="9329738" y="3390900"/>
            <a:ext cx="1333500" cy="32385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Cosmetics &amp; Personal Care</a:t>
            </a:r>
          </a:p>
        </p:txBody>
      </p:sp>
      <p:sp>
        <p:nvSpPr>
          <p:cNvPr id="98" name="Rectangle 97"/>
          <p:cNvSpPr/>
          <p:nvPr/>
        </p:nvSpPr>
        <p:spPr>
          <a:xfrm>
            <a:off x="10682288" y="3495675"/>
            <a:ext cx="297517" cy="1143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11017905" y="3457575"/>
            <a:ext cx="476250" cy="190500"/>
          </a:xfrm>
          <a:prstGeom prst="rect">
            <a:avLst/>
          </a:prstGeom>
          <a:noFill/>
        </p:spPr>
        <p:txBody>
          <a:bodyPr wrap="none" lIns="0" rIns="0" tIns="0" bIns="0" anchor="ctr">
            <a:spAutoFit/>
          </a:bodyPr>
          <a:lstStyle/>
          <a:p>
            <a:pPr algn="l"/>
            <a:r>
              <a:rPr sz="1100" b="1">
                <a:solidFill>
                  <a:srgbClr val="1F2933"/>
                </a:solidFill>
                <a:latin typeface="Calibri"/>
              </a:rPr>
              <a:t> </a:t>
            </a:r>
          </a:p>
        </p:txBody>
      </p:sp>
      <p:sp>
        <p:nvSpPr>
          <p:cNvPr id="100" name="TextBox 99"/>
          <p:cNvSpPr txBox="1"/>
          <p:nvPr/>
        </p:nvSpPr>
        <p:spPr>
          <a:xfrm>
            <a:off x="9329738" y="3714750"/>
            <a:ext cx="1333500" cy="32385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Industrial &amp; Biomaterials</a:t>
            </a:r>
          </a:p>
        </p:txBody>
      </p:sp>
      <p:sp>
        <p:nvSpPr>
          <p:cNvPr id="101" name="Rectangle 100"/>
          <p:cNvSpPr/>
          <p:nvPr/>
        </p:nvSpPr>
        <p:spPr>
          <a:xfrm>
            <a:off x="10682288" y="3819525"/>
            <a:ext cx="216616" cy="1143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10937004" y="3781425"/>
            <a:ext cx="476250" cy="190500"/>
          </a:xfrm>
          <a:prstGeom prst="rect">
            <a:avLst/>
          </a:prstGeom>
          <a:noFill/>
        </p:spPr>
        <p:txBody>
          <a:bodyPr wrap="none" lIns="0" rIns="0" tIns="0" bIns="0" anchor="ctr">
            <a:spAutoFit/>
          </a:bodyPr>
          <a:lstStyle/>
          <a:p>
            <a:pPr algn="l"/>
            <a:r>
              <a:rPr sz="1100" b="1">
                <a:solidFill>
                  <a:srgbClr val="1F2933"/>
                </a:solidFill>
                <a:latin typeface="Calibri"/>
              </a:rPr>
              <a:t> </a:t>
            </a:r>
          </a:p>
        </p:txBody>
      </p:sp>
      <p:sp>
        <p:nvSpPr>
          <p:cNvPr id="103" name="TextBox 102"/>
          <p:cNvSpPr txBox="1"/>
          <p:nvPr/>
        </p:nvSpPr>
        <p:spPr>
          <a:xfrm>
            <a:off x="9329738" y="4038600"/>
            <a:ext cx="1333500" cy="32385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Animal Nutrition &amp; Pet Care</a:t>
            </a:r>
          </a:p>
        </p:txBody>
      </p:sp>
      <p:sp>
        <p:nvSpPr>
          <p:cNvPr id="104" name="Rectangle 103"/>
          <p:cNvSpPr/>
          <p:nvPr/>
        </p:nvSpPr>
        <p:spPr>
          <a:xfrm>
            <a:off x="10682288" y="4143375"/>
            <a:ext cx="119296" cy="1143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10839683" y="4105275"/>
            <a:ext cx="476250" cy="190500"/>
          </a:xfrm>
          <a:prstGeom prst="rect">
            <a:avLst/>
          </a:prstGeom>
          <a:noFill/>
        </p:spPr>
        <p:txBody>
          <a:bodyPr wrap="none" lIns="0" rIns="0" tIns="0" bIns="0" anchor="ctr">
            <a:spAutoFit/>
          </a:bodyPr>
          <a:lstStyle/>
          <a:p>
            <a:pPr algn="l"/>
            <a:r>
              <a:rPr sz="1100" b="1">
                <a:solidFill>
                  <a:srgbClr val="1F2933"/>
                </a:solidFill>
                <a:latin typeface="Calibri"/>
              </a:rPr>
              <a:t> </a:t>
            </a:r>
          </a:p>
        </p:txBody>
      </p:sp>
      <p:cxnSp>
        <p:nvCxnSpPr>
          <p:cNvPr id="106" name="Connector 105"/>
          <p:cNvCxnSpPr/>
          <p:nvPr/>
        </p:nvCxnSpPr>
        <p:spPr>
          <a:xfrm>
            <a:off x="9329738" y="4438650"/>
            <a:ext cx="2576512" cy="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107" name="TextBox 106"/>
          <p:cNvSpPr txBox="1"/>
          <p:nvPr/>
        </p:nvSpPr>
        <p:spPr>
          <a:xfrm>
            <a:off x="9329738" y="4495800"/>
            <a:ext cx="2576512" cy="152400"/>
          </a:xfrm>
          <a:prstGeom prst="rect">
            <a:avLst/>
          </a:prstGeom>
          <a:noFill/>
        </p:spPr>
        <p:txBody>
          <a:bodyPr wrap="square" lIns="28575" rIns="28575" tIns="9525" bIns="9525" anchor="t">
            <a:spAutoFit/>
          </a:bodyPr>
          <a:lstStyle/>
          <a:p>
            <a:pPr algn="l"/>
            <a:r>
              <a:rPr sz="1100" b="1">
                <a:solidFill>
                  <a:srgbClr val="0F2D52"/>
                </a:solidFill>
                <a:latin typeface="Calibri"/>
              </a:rPr>
              <a:t>WHAT TO WATCH</a:t>
            </a:r>
          </a:p>
        </p:txBody>
      </p:sp>
      <p:sp>
        <p:nvSpPr>
          <p:cNvPr id="108" name="TextBox 107"/>
          <p:cNvSpPr txBox="1"/>
          <p:nvPr/>
        </p:nvSpPr>
        <p:spPr>
          <a:xfrm>
            <a:off x="9329738" y="4667250"/>
            <a:ext cx="2576512" cy="6667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
            </a:r>
          </a:p>
        </p:txBody>
      </p:sp>
      <p:sp>
        <p:nvSpPr>
          <p:cNvPr id="109" name="Rectangle 108"/>
          <p:cNvSpPr/>
          <p:nvPr/>
        </p:nvSpPr>
        <p:spPr>
          <a:xfrm>
            <a:off x="190500" y="5467350"/>
            <a:ext cx="11811000" cy="400050"/>
          </a:xfrm>
          <a:prstGeom prst="rect">
            <a:avLst/>
          </a:prstGeom>
          <a:solidFill>
            <a:srgbClr val="FFFFFF"/>
          </a:solidFill>
          <a:ln w="9525">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Rectangle 109"/>
          <p:cNvSpPr/>
          <p:nvPr/>
        </p:nvSpPr>
        <p:spPr>
          <a:xfrm>
            <a:off x="190500" y="5467350"/>
            <a:ext cx="47625" cy="4000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304800" y="5467350"/>
            <a:ext cx="1047750" cy="400050"/>
          </a:xfrm>
          <a:prstGeom prst="rect">
            <a:avLst/>
          </a:prstGeom>
          <a:noFill/>
        </p:spPr>
        <p:txBody>
          <a:bodyPr wrap="square" lIns="28575" rIns="28575" tIns="9525" bIns="9525" anchor="ctr">
            <a:spAutoFit/>
          </a:bodyPr>
          <a:lstStyle/>
          <a:p>
            <a:pPr algn="l"/>
            <a:r>
              <a:rPr sz="1100" b="1">
                <a:solidFill>
                  <a:srgbClr val="0F2D52"/>
                </a:solidFill>
                <a:latin typeface="Calibri"/>
              </a:rPr>
              <a:t>ENABLERS</a:t>
            </a:r>
          </a:p>
        </p:txBody>
      </p:sp>
      <p:sp>
        <p:nvSpPr>
          <p:cNvPr id="112" name="TextBox 111"/>
          <p:cNvSpPr txBox="1"/>
          <p:nvPr/>
        </p:nvSpPr>
        <p:spPr>
          <a:xfrm>
            <a:off x="1428750" y="5467350"/>
            <a:ext cx="10477500" cy="40005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Hydrolyzed Eggshell Membrane Compounds Fastest Across the Product Type Mix  |  South Asia &amp; Pacific Emerges as the Growth Engine Among Regions  |  Premiumisation Lifts Average Realisation</a:t>
            </a:r>
          </a:p>
        </p:txBody>
      </p:sp>
      <p:sp>
        <p:nvSpPr>
          <p:cNvPr id="113" name="Rectangle 112"/>
          <p:cNvSpPr/>
          <p:nvPr/>
        </p:nvSpPr>
        <p:spPr>
          <a:xfrm>
            <a:off x="190500" y="5924550"/>
            <a:ext cx="11811000" cy="400050"/>
          </a:xfrm>
          <a:prstGeom prst="rect">
            <a:avLst/>
          </a:prstGeom>
          <a:solidFill>
            <a:srgbClr val="FFFFFF"/>
          </a:solidFill>
          <a:ln w="9525">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Rectangle 113"/>
          <p:cNvSpPr/>
          <p:nvPr/>
        </p:nvSpPr>
        <p:spPr>
          <a:xfrm>
            <a:off x="190500" y="5924550"/>
            <a:ext cx="47625" cy="400050"/>
          </a:xfrm>
          <a:prstGeom prst="rect">
            <a:avLst/>
          </a:prstGeom>
          <a:solidFill>
            <a:srgbClr val="8B1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304800" y="5924550"/>
            <a:ext cx="1047750" cy="400050"/>
          </a:xfrm>
          <a:prstGeom prst="rect">
            <a:avLst/>
          </a:prstGeom>
          <a:noFill/>
        </p:spPr>
        <p:txBody>
          <a:bodyPr wrap="square" lIns="28575" rIns="28575" tIns="9525" bIns="9525" anchor="ctr">
            <a:spAutoFit/>
          </a:bodyPr>
          <a:lstStyle/>
          <a:p>
            <a:pPr algn="l"/>
            <a:r>
              <a:rPr sz="1100" b="1">
                <a:solidFill>
                  <a:srgbClr val="8B1E2D"/>
                </a:solidFill>
                <a:latin typeface="Calibri"/>
              </a:rPr>
              <a:t>CONSTRAINTS</a:t>
            </a:r>
          </a:p>
        </p:txBody>
      </p:sp>
      <p:sp>
        <p:nvSpPr>
          <p:cNvPr id="116" name="TextBox 115"/>
          <p:cNvSpPr txBox="1"/>
          <p:nvPr/>
        </p:nvSpPr>
        <p:spPr>
          <a:xfrm>
            <a:off x="1428750" y="5924550"/>
            <a:ext cx="10477500" cy="40005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Specialty Extracted Protein Fractions Lags the Category and Dilutes Blended Growth  |  Uneven Region Performance Caps the Blended Rate  |  Concentration Risk Limits Pricing and Sourcing Flexibility</a:t>
            </a:r>
          </a:p>
        </p:txBody>
      </p:sp>
      <p:sp>
        <p:nvSpPr>
          <p:cNvPr id="117" name="Rectangle 116"/>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TextBox 1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19" name="Picture 118" descr="lock.png"/>
          <p:cNvPicPr>
            <a:picLocks noChangeAspect="1"/>
          </p:cNvPicPr>
          <p:nvPr/>
        </p:nvPicPr>
        <p:blipFill>
          <a:blip r:embed="rId4"/>
          <a:stretch>
            <a:fillRect/>
          </a:stretch>
        </p:blipFill>
        <p:spPr>
          <a:xfrm>
            <a:off x="1316775" y="1258951"/>
            <a:ext cx="128699" cy="187198"/>
          </a:xfrm>
          <a:prstGeom prst="rect">
            <a:avLst/>
          </a:prstGeom>
        </p:spPr>
      </p:pic>
      <p:pic>
        <p:nvPicPr>
          <p:cNvPr id="120" name="Picture 119" descr="lock.png"/>
          <p:cNvPicPr>
            <a:picLocks noChangeAspect="1"/>
          </p:cNvPicPr>
          <p:nvPr/>
        </p:nvPicPr>
        <p:blipFill>
          <a:blip r:embed="rId4"/>
          <a:stretch>
            <a:fillRect/>
          </a:stretch>
        </p:blipFill>
        <p:spPr>
          <a:xfrm>
            <a:off x="3678975" y="1258951"/>
            <a:ext cx="128699" cy="187198"/>
          </a:xfrm>
          <a:prstGeom prst="rect">
            <a:avLst/>
          </a:prstGeom>
        </p:spPr>
      </p:pic>
      <p:pic>
        <p:nvPicPr>
          <p:cNvPr id="121" name="Picture 120" descr="lock.png"/>
          <p:cNvPicPr>
            <a:picLocks noChangeAspect="1"/>
          </p:cNvPicPr>
          <p:nvPr/>
        </p:nvPicPr>
        <p:blipFill>
          <a:blip r:embed="rId4"/>
          <a:stretch>
            <a:fillRect/>
          </a:stretch>
        </p:blipFill>
        <p:spPr>
          <a:xfrm>
            <a:off x="6041175" y="1258951"/>
            <a:ext cx="128699" cy="187198"/>
          </a:xfrm>
          <a:prstGeom prst="rect">
            <a:avLst/>
          </a:prstGeom>
        </p:spPr>
      </p:pic>
      <p:pic>
        <p:nvPicPr>
          <p:cNvPr id="122" name="Picture 121" descr="lock.png"/>
          <p:cNvPicPr>
            <a:picLocks noChangeAspect="1"/>
          </p:cNvPicPr>
          <p:nvPr/>
        </p:nvPicPr>
        <p:blipFill>
          <a:blip r:embed="rId4"/>
          <a:stretch>
            <a:fillRect/>
          </a:stretch>
        </p:blipFill>
        <p:spPr>
          <a:xfrm>
            <a:off x="8403375" y="1258951"/>
            <a:ext cx="128699" cy="187198"/>
          </a:xfrm>
          <a:prstGeom prst="rect">
            <a:avLst/>
          </a:prstGeom>
        </p:spPr>
      </p:pic>
      <p:pic>
        <p:nvPicPr>
          <p:cNvPr id="123" name="Picture 122" descr="lock.png"/>
          <p:cNvPicPr>
            <a:picLocks noChangeAspect="1"/>
          </p:cNvPicPr>
          <p:nvPr/>
        </p:nvPicPr>
        <p:blipFill>
          <a:blip r:embed="rId4"/>
          <a:stretch>
            <a:fillRect/>
          </a:stretch>
        </p:blipFill>
        <p:spPr>
          <a:xfrm>
            <a:off x="10765575" y="1258951"/>
            <a:ext cx="128699" cy="187198"/>
          </a:xfrm>
          <a:prstGeom prst="rect">
            <a:avLst/>
          </a:prstGeom>
        </p:spPr>
      </p:pic>
      <p:pic>
        <p:nvPicPr>
          <p:cNvPr id="124" name="Picture 123" descr="lock.png"/>
          <p:cNvPicPr>
            <a:picLocks noChangeAspect="1"/>
          </p:cNvPicPr>
          <p:nvPr/>
        </p:nvPicPr>
        <p:blipFill>
          <a:blip r:embed="rId4"/>
          <a:stretch>
            <a:fillRect/>
          </a:stretch>
        </p:blipFill>
        <p:spPr>
          <a:xfrm>
            <a:off x="554775" y="2135251"/>
            <a:ext cx="128699" cy="187198"/>
          </a:xfrm>
          <a:prstGeom prst="rect">
            <a:avLst/>
          </a:prstGeom>
        </p:spPr>
      </p:pic>
      <p:pic>
        <p:nvPicPr>
          <p:cNvPr id="125" name="Picture 124" descr="lock.png"/>
          <p:cNvPicPr>
            <a:picLocks noChangeAspect="1"/>
          </p:cNvPicPr>
          <p:nvPr/>
        </p:nvPicPr>
        <p:blipFill>
          <a:blip r:embed="rId4"/>
          <a:stretch>
            <a:fillRect/>
          </a:stretch>
        </p:blipFill>
        <p:spPr>
          <a:xfrm>
            <a:off x="3569437" y="2135251"/>
            <a:ext cx="128699" cy="187198"/>
          </a:xfrm>
          <a:prstGeom prst="rect">
            <a:avLst/>
          </a:prstGeom>
        </p:spPr>
      </p:pic>
      <p:pic>
        <p:nvPicPr>
          <p:cNvPr id="126" name="Picture 125" descr="lock.png"/>
          <p:cNvPicPr>
            <a:picLocks noChangeAspect="1"/>
          </p:cNvPicPr>
          <p:nvPr/>
        </p:nvPicPr>
        <p:blipFill>
          <a:blip r:embed="rId4"/>
          <a:stretch>
            <a:fillRect/>
          </a:stretch>
        </p:blipFill>
        <p:spPr>
          <a:xfrm>
            <a:off x="6584100" y="2135251"/>
            <a:ext cx="128699" cy="187198"/>
          </a:xfrm>
          <a:prstGeom prst="rect">
            <a:avLst/>
          </a:prstGeom>
        </p:spPr>
      </p:pic>
      <p:pic>
        <p:nvPicPr>
          <p:cNvPr id="127" name="Picture 126" descr="lock.png"/>
          <p:cNvPicPr>
            <a:picLocks noChangeAspect="1"/>
          </p:cNvPicPr>
          <p:nvPr/>
        </p:nvPicPr>
        <p:blipFill>
          <a:blip r:embed="rId4"/>
          <a:stretch>
            <a:fillRect/>
          </a:stretch>
        </p:blipFill>
        <p:spPr>
          <a:xfrm>
            <a:off x="11660925" y="2487676"/>
            <a:ext cx="128699" cy="187198"/>
          </a:xfrm>
          <a:prstGeom prst="rect">
            <a:avLst/>
          </a:prstGeom>
        </p:spPr>
      </p:pic>
      <p:pic>
        <p:nvPicPr>
          <p:cNvPr id="128" name="Picture 127" descr="lock.png"/>
          <p:cNvPicPr>
            <a:picLocks noChangeAspect="1"/>
          </p:cNvPicPr>
          <p:nvPr/>
        </p:nvPicPr>
        <p:blipFill>
          <a:blip r:embed="rId4"/>
          <a:stretch>
            <a:fillRect/>
          </a:stretch>
        </p:blipFill>
        <p:spPr>
          <a:xfrm>
            <a:off x="11314146" y="2811526"/>
            <a:ext cx="128699" cy="187198"/>
          </a:xfrm>
          <a:prstGeom prst="rect">
            <a:avLst/>
          </a:prstGeom>
        </p:spPr>
      </p:pic>
      <p:pic>
        <p:nvPicPr>
          <p:cNvPr id="129" name="Picture 128" descr="lock.png"/>
          <p:cNvPicPr>
            <a:picLocks noChangeAspect="1"/>
          </p:cNvPicPr>
          <p:nvPr/>
        </p:nvPicPr>
        <p:blipFill>
          <a:blip r:embed="rId4"/>
          <a:stretch>
            <a:fillRect/>
          </a:stretch>
        </p:blipFill>
        <p:spPr>
          <a:xfrm>
            <a:off x="11219710" y="3135376"/>
            <a:ext cx="128699" cy="187198"/>
          </a:xfrm>
          <a:prstGeom prst="rect">
            <a:avLst/>
          </a:prstGeom>
        </p:spPr>
      </p:pic>
      <p:pic>
        <p:nvPicPr>
          <p:cNvPr id="130" name="Picture 129" descr="lock.png"/>
          <p:cNvPicPr>
            <a:picLocks noChangeAspect="1"/>
          </p:cNvPicPr>
          <p:nvPr/>
        </p:nvPicPr>
        <p:blipFill>
          <a:blip r:embed="rId4"/>
          <a:stretch>
            <a:fillRect/>
          </a:stretch>
        </p:blipFill>
        <p:spPr>
          <a:xfrm>
            <a:off x="11191680" y="3459226"/>
            <a:ext cx="128699" cy="187198"/>
          </a:xfrm>
          <a:prstGeom prst="rect">
            <a:avLst/>
          </a:prstGeom>
        </p:spPr>
      </p:pic>
      <p:pic>
        <p:nvPicPr>
          <p:cNvPr id="131" name="Picture 130" descr="lock.png"/>
          <p:cNvPicPr>
            <a:picLocks noChangeAspect="1"/>
          </p:cNvPicPr>
          <p:nvPr/>
        </p:nvPicPr>
        <p:blipFill>
          <a:blip r:embed="rId4"/>
          <a:stretch>
            <a:fillRect/>
          </a:stretch>
        </p:blipFill>
        <p:spPr>
          <a:xfrm>
            <a:off x="11110779" y="3783076"/>
            <a:ext cx="128699" cy="187198"/>
          </a:xfrm>
          <a:prstGeom prst="rect">
            <a:avLst/>
          </a:prstGeom>
        </p:spPr>
      </p:pic>
      <p:pic>
        <p:nvPicPr>
          <p:cNvPr id="132" name="Picture 131" descr="lock.png"/>
          <p:cNvPicPr>
            <a:picLocks noChangeAspect="1"/>
          </p:cNvPicPr>
          <p:nvPr/>
        </p:nvPicPr>
        <p:blipFill>
          <a:blip r:embed="rId4"/>
          <a:stretch>
            <a:fillRect/>
          </a:stretch>
        </p:blipFill>
        <p:spPr>
          <a:xfrm>
            <a:off x="11013458" y="4106926"/>
            <a:ext cx="128699" cy="187198"/>
          </a:xfrm>
          <a:prstGeom prst="rect">
            <a:avLst/>
          </a:prstGeom>
        </p:spPr>
      </p:pic>
      <p:sp>
        <p:nvSpPr>
          <p:cNvPr id="133" name="TextBox 132"/>
          <p:cNvSpPr txBox="1"/>
          <p:nvPr/>
        </p:nvSpPr>
        <p:spPr>
          <a:xfrm>
            <a:off x="314325" y="4676775"/>
            <a:ext cx="2450281" cy="186689"/>
          </a:xfrm>
          <a:prstGeom prst="rect">
            <a:avLst/>
          </a:prstGeom>
          <a:noFill/>
        </p:spPr>
        <p:txBody>
          <a:bodyPr wrap="none" lIns="0" rIns="0" tIns="0" bIns="0">
            <a:spAutoFit/>
          </a:bodyPr>
          <a:lstStyle/>
          <a:p>
            <a:r>
              <a:rPr sz="1100" b="0">
                <a:solidFill>
                  <a:srgbClr val="1F2933"/>
                </a:solidFill>
                <a:latin typeface="Calibri"/>
              </a:rPr>
              <a:t>5 named players compete here; 'Specialty</a:t>
            </a:r>
          </a:p>
        </p:txBody>
      </p:sp>
      <p:sp>
        <p:nvSpPr>
          <p:cNvPr id="134" name="TextBox 133"/>
          <p:cNvSpPr txBox="1"/>
          <p:nvPr/>
        </p:nvSpPr>
        <p:spPr>
          <a:xfrm>
            <a:off x="314325" y="4844415"/>
            <a:ext cx="1947416" cy="186689"/>
          </a:xfrm>
          <a:prstGeom prst="rect">
            <a:avLst/>
          </a:prstGeom>
          <a:noFill/>
        </p:spPr>
        <p:txBody>
          <a:bodyPr wrap="none" lIns="0" rIns="0" tIns="0" bIns="0">
            <a:spAutoFit/>
          </a:bodyPr>
          <a:lstStyle/>
          <a:p>
            <a:r>
              <a:rPr sz="1100" b="0">
                <a:solidFill>
                  <a:srgbClr val="1F2933"/>
                </a:solidFill>
                <a:latin typeface="Calibri"/>
              </a:rPr>
              <a:t>Extracted Protein Fractions' adds</a:t>
            </a:r>
          </a:p>
        </p:txBody>
      </p:sp>
      <p:pic>
        <p:nvPicPr>
          <p:cNvPr id="135" name="Picture 134" descr="lock.png"/>
          <p:cNvPicPr>
            <a:picLocks noChangeAspect="1"/>
          </p:cNvPicPr>
          <p:nvPr/>
        </p:nvPicPr>
        <p:blipFill>
          <a:blip r:embed="rId4"/>
          <a:stretch>
            <a:fillRect/>
          </a:stretch>
        </p:blipFill>
        <p:spPr>
          <a:xfrm>
            <a:off x="2209792" y="4834636"/>
            <a:ext cx="128699" cy="187198"/>
          </a:xfrm>
          <a:prstGeom prst="rect">
            <a:avLst/>
          </a:prstGeom>
        </p:spPr>
      </p:pic>
      <p:sp>
        <p:nvSpPr>
          <p:cNvPr id="136" name="TextBox 135"/>
          <p:cNvSpPr txBox="1"/>
          <p:nvPr/>
        </p:nvSpPr>
        <p:spPr>
          <a:xfrm>
            <a:off x="2377288" y="4844415"/>
            <a:ext cx="301029" cy="186689"/>
          </a:xfrm>
          <a:prstGeom prst="rect">
            <a:avLst/>
          </a:prstGeom>
          <a:noFill/>
        </p:spPr>
        <p:txBody>
          <a:bodyPr wrap="none" lIns="0" rIns="0" tIns="0" bIns="0">
            <a:spAutoFit/>
          </a:bodyPr>
          <a:lstStyle/>
          <a:p>
            <a:r>
              <a:rPr sz="1100" b="0">
                <a:solidFill>
                  <a:srgbClr val="1F2933"/>
                </a:solidFill>
                <a:latin typeface="Calibri"/>
              </a:rPr>
              <a:t>US$</a:t>
            </a:r>
          </a:p>
        </p:txBody>
      </p:sp>
      <p:sp>
        <p:nvSpPr>
          <p:cNvPr id="137" name="TextBox 136"/>
          <p:cNvSpPr txBox="1"/>
          <p:nvPr/>
        </p:nvSpPr>
        <p:spPr>
          <a:xfrm>
            <a:off x="314325" y="5012055"/>
            <a:ext cx="788069" cy="186689"/>
          </a:xfrm>
          <a:prstGeom prst="rect">
            <a:avLst/>
          </a:prstGeom>
          <a:noFill/>
        </p:spPr>
        <p:txBody>
          <a:bodyPr wrap="none" lIns="0" rIns="0" tIns="0" bIns="0">
            <a:spAutoFit/>
          </a:bodyPr>
          <a:lstStyle/>
          <a:p>
            <a:r>
              <a:rPr sz="1100" b="0">
                <a:solidFill>
                  <a:srgbClr val="1F2933"/>
                </a:solidFill>
                <a:latin typeface="Calibri"/>
              </a:rPr>
              <a:t>Mn by 2036.</a:t>
            </a:r>
          </a:p>
        </p:txBody>
      </p:sp>
      <p:sp>
        <p:nvSpPr>
          <p:cNvPr id="138" name="TextBox 137"/>
          <p:cNvSpPr txBox="1"/>
          <p:nvPr/>
        </p:nvSpPr>
        <p:spPr>
          <a:xfrm>
            <a:off x="3328987" y="4676775"/>
            <a:ext cx="2519362" cy="186689"/>
          </a:xfrm>
          <a:prstGeom prst="rect">
            <a:avLst/>
          </a:prstGeom>
          <a:noFill/>
        </p:spPr>
        <p:txBody>
          <a:bodyPr wrap="none" lIns="0" rIns="0" tIns="0" bIns="0">
            <a:spAutoFit/>
          </a:bodyPr>
          <a:lstStyle/>
          <a:p>
            <a:r>
              <a:rPr sz="1100" b="0">
                <a:solidFill>
                  <a:srgbClr val="1F2933"/>
                </a:solidFill>
                <a:latin typeface="Calibri"/>
              </a:rPr>
              <a:t>5 named players compete here; 'Micronized</a:t>
            </a:r>
          </a:p>
        </p:txBody>
      </p:sp>
      <p:sp>
        <p:nvSpPr>
          <p:cNvPr id="139" name="TextBox 138"/>
          <p:cNvSpPr txBox="1"/>
          <p:nvPr/>
        </p:nvSpPr>
        <p:spPr>
          <a:xfrm>
            <a:off x="3328987" y="4844415"/>
            <a:ext cx="1532954" cy="186689"/>
          </a:xfrm>
          <a:prstGeom prst="rect">
            <a:avLst/>
          </a:prstGeom>
          <a:noFill/>
        </p:spPr>
        <p:txBody>
          <a:bodyPr wrap="none" lIns="0" rIns="0" tIns="0" bIns="0">
            <a:spAutoFit/>
          </a:bodyPr>
          <a:lstStyle/>
          <a:p>
            <a:r>
              <a:rPr sz="1100" b="0">
                <a:solidFill>
                  <a:srgbClr val="1F2933"/>
                </a:solidFill>
                <a:latin typeface="Calibri"/>
              </a:rPr>
              <a:t>Eggshell Membrane' adds</a:t>
            </a:r>
          </a:p>
        </p:txBody>
      </p:sp>
      <p:pic>
        <p:nvPicPr>
          <p:cNvPr id="140" name="Picture 139" descr="lock.png"/>
          <p:cNvPicPr>
            <a:picLocks noChangeAspect="1"/>
          </p:cNvPicPr>
          <p:nvPr/>
        </p:nvPicPr>
        <p:blipFill>
          <a:blip r:embed="rId4"/>
          <a:stretch>
            <a:fillRect/>
          </a:stretch>
        </p:blipFill>
        <p:spPr>
          <a:xfrm>
            <a:off x="4809993" y="4834636"/>
            <a:ext cx="128699" cy="187198"/>
          </a:xfrm>
          <a:prstGeom prst="rect">
            <a:avLst/>
          </a:prstGeom>
        </p:spPr>
      </p:pic>
      <p:sp>
        <p:nvSpPr>
          <p:cNvPr id="141" name="TextBox 140"/>
          <p:cNvSpPr txBox="1"/>
          <p:nvPr/>
        </p:nvSpPr>
        <p:spPr>
          <a:xfrm>
            <a:off x="4977488" y="4844415"/>
            <a:ext cx="693935" cy="186689"/>
          </a:xfrm>
          <a:prstGeom prst="rect">
            <a:avLst/>
          </a:prstGeom>
          <a:noFill/>
        </p:spPr>
        <p:txBody>
          <a:bodyPr wrap="none" lIns="0" rIns="0" tIns="0" bIns="0">
            <a:spAutoFit/>
          </a:bodyPr>
          <a:lstStyle/>
          <a:p>
            <a:r>
              <a:rPr sz="1100" b="0">
                <a:solidFill>
                  <a:srgbClr val="1F2933"/>
                </a:solidFill>
                <a:latin typeface="Calibri"/>
              </a:rPr>
              <a:t>US$ Mn by</a:t>
            </a:r>
          </a:p>
        </p:txBody>
      </p:sp>
      <p:sp>
        <p:nvSpPr>
          <p:cNvPr id="142" name="TextBox 141"/>
          <p:cNvSpPr txBox="1"/>
          <p:nvPr/>
        </p:nvSpPr>
        <p:spPr>
          <a:xfrm>
            <a:off x="3328987" y="5012055"/>
            <a:ext cx="395163" cy="186689"/>
          </a:xfrm>
          <a:prstGeom prst="rect">
            <a:avLst/>
          </a:prstGeom>
          <a:noFill/>
        </p:spPr>
        <p:txBody>
          <a:bodyPr wrap="none" lIns="0" rIns="0" tIns="0" bIns="0">
            <a:spAutoFit/>
          </a:bodyPr>
          <a:lstStyle/>
          <a:p>
            <a:r>
              <a:rPr sz="1100" b="0">
                <a:solidFill>
                  <a:srgbClr val="1F2933"/>
                </a:solidFill>
                <a:latin typeface="Calibri"/>
              </a:rPr>
              <a:t>2036.</a:t>
            </a:r>
          </a:p>
        </p:txBody>
      </p:sp>
      <p:sp>
        <p:nvSpPr>
          <p:cNvPr id="143" name="TextBox 142"/>
          <p:cNvSpPr txBox="1"/>
          <p:nvPr/>
        </p:nvSpPr>
        <p:spPr>
          <a:xfrm>
            <a:off x="6343650" y="4676775"/>
            <a:ext cx="2519362" cy="186689"/>
          </a:xfrm>
          <a:prstGeom prst="rect">
            <a:avLst/>
          </a:prstGeom>
          <a:noFill/>
        </p:spPr>
        <p:txBody>
          <a:bodyPr wrap="none" lIns="0" rIns="0" tIns="0" bIns="0">
            <a:spAutoFit/>
          </a:bodyPr>
          <a:lstStyle/>
          <a:p>
            <a:r>
              <a:rPr sz="1100" b="0">
                <a:solidFill>
                  <a:srgbClr val="1F2933"/>
                </a:solidFill>
                <a:latin typeface="Calibri"/>
              </a:rPr>
              <a:t>5 named players compete here; 'Hydrolyzed</a:t>
            </a:r>
          </a:p>
        </p:txBody>
      </p:sp>
      <p:sp>
        <p:nvSpPr>
          <p:cNvPr id="144" name="TextBox 143"/>
          <p:cNvSpPr txBox="1"/>
          <p:nvPr/>
        </p:nvSpPr>
        <p:spPr>
          <a:xfrm>
            <a:off x="6343650" y="4844415"/>
            <a:ext cx="1532954" cy="186689"/>
          </a:xfrm>
          <a:prstGeom prst="rect">
            <a:avLst/>
          </a:prstGeom>
          <a:noFill/>
        </p:spPr>
        <p:txBody>
          <a:bodyPr wrap="none" lIns="0" rIns="0" tIns="0" bIns="0">
            <a:spAutoFit/>
          </a:bodyPr>
          <a:lstStyle/>
          <a:p>
            <a:r>
              <a:rPr sz="1100" b="0">
                <a:solidFill>
                  <a:srgbClr val="1F2933"/>
                </a:solidFill>
                <a:latin typeface="Calibri"/>
              </a:rPr>
              <a:t>Eggshell Membrane' adds</a:t>
            </a:r>
          </a:p>
        </p:txBody>
      </p:sp>
      <p:pic>
        <p:nvPicPr>
          <p:cNvPr id="145" name="Picture 144" descr="lock.png"/>
          <p:cNvPicPr>
            <a:picLocks noChangeAspect="1"/>
          </p:cNvPicPr>
          <p:nvPr/>
        </p:nvPicPr>
        <p:blipFill>
          <a:blip r:embed="rId4"/>
          <a:stretch>
            <a:fillRect/>
          </a:stretch>
        </p:blipFill>
        <p:spPr>
          <a:xfrm>
            <a:off x="7824656" y="4834636"/>
            <a:ext cx="128699" cy="187198"/>
          </a:xfrm>
          <a:prstGeom prst="rect">
            <a:avLst/>
          </a:prstGeom>
        </p:spPr>
      </p:pic>
      <p:sp>
        <p:nvSpPr>
          <p:cNvPr id="146" name="TextBox 145"/>
          <p:cNvSpPr txBox="1"/>
          <p:nvPr/>
        </p:nvSpPr>
        <p:spPr>
          <a:xfrm>
            <a:off x="7992151" y="4844415"/>
            <a:ext cx="693935" cy="186689"/>
          </a:xfrm>
          <a:prstGeom prst="rect">
            <a:avLst/>
          </a:prstGeom>
          <a:noFill/>
        </p:spPr>
        <p:txBody>
          <a:bodyPr wrap="none" lIns="0" rIns="0" tIns="0" bIns="0">
            <a:spAutoFit/>
          </a:bodyPr>
          <a:lstStyle/>
          <a:p>
            <a:r>
              <a:rPr sz="1100" b="0">
                <a:solidFill>
                  <a:srgbClr val="1F2933"/>
                </a:solidFill>
                <a:latin typeface="Calibri"/>
              </a:rPr>
              <a:t>US$ Mn by</a:t>
            </a:r>
          </a:p>
        </p:txBody>
      </p:sp>
      <p:sp>
        <p:nvSpPr>
          <p:cNvPr id="147" name="TextBox 146"/>
          <p:cNvSpPr txBox="1"/>
          <p:nvPr/>
        </p:nvSpPr>
        <p:spPr>
          <a:xfrm>
            <a:off x="6343650" y="5012055"/>
            <a:ext cx="395163" cy="186689"/>
          </a:xfrm>
          <a:prstGeom prst="rect">
            <a:avLst/>
          </a:prstGeom>
          <a:noFill/>
        </p:spPr>
        <p:txBody>
          <a:bodyPr wrap="none" lIns="0" rIns="0" tIns="0" bIns="0">
            <a:spAutoFit/>
          </a:bodyPr>
          <a:lstStyle/>
          <a:p>
            <a:r>
              <a:rPr sz="1100" b="0">
                <a:solidFill>
                  <a:srgbClr val="1F2933"/>
                </a:solidFill>
                <a:latin typeface="Calibri"/>
              </a:rPr>
              <a:t>2036.</a:t>
            </a:r>
          </a:p>
        </p:txBody>
      </p:sp>
      <p:sp>
        <p:nvSpPr>
          <p:cNvPr id="148" name="TextBox 147"/>
          <p:cNvSpPr txBox="1"/>
          <p:nvPr/>
        </p:nvSpPr>
        <p:spPr>
          <a:xfrm>
            <a:off x="9358313" y="4676775"/>
            <a:ext cx="1728861" cy="186689"/>
          </a:xfrm>
          <a:prstGeom prst="rect">
            <a:avLst/>
          </a:prstGeom>
          <a:noFill/>
        </p:spPr>
        <p:txBody>
          <a:bodyPr wrap="none" lIns="0" rIns="0" tIns="0" bIns="0">
            <a:spAutoFit/>
          </a:bodyPr>
          <a:lstStyle/>
          <a:p>
            <a:r>
              <a:rPr sz="1100" b="0">
                <a:solidFill>
                  <a:srgbClr val="1F2933"/>
                </a:solidFill>
                <a:latin typeface="Calibri"/>
              </a:rPr>
              <a:t>The top two end uses pay for</a:t>
            </a:r>
          </a:p>
        </p:txBody>
      </p:sp>
      <p:pic>
        <p:nvPicPr>
          <p:cNvPr id="149" name="Picture 148" descr="lock.png"/>
          <p:cNvPicPr>
            <a:picLocks noChangeAspect="1"/>
          </p:cNvPicPr>
          <p:nvPr/>
        </p:nvPicPr>
        <p:blipFill>
          <a:blip r:embed="rId4"/>
          <a:stretch>
            <a:fillRect/>
          </a:stretch>
        </p:blipFill>
        <p:spPr>
          <a:xfrm>
            <a:off x="11035226" y="4666996"/>
            <a:ext cx="128699" cy="187198"/>
          </a:xfrm>
          <a:prstGeom prst="rect">
            <a:avLst/>
          </a:prstGeom>
        </p:spPr>
      </p:pic>
      <p:sp>
        <p:nvSpPr>
          <p:cNvPr id="150" name="TextBox 149"/>
          <p:cNvSpPr txBox="1"/>
          <p:nvPr/>
        </p:nvSpPr>
        <p:spPr>
          <a:xfrm>
            <a:off x="11202722" y="4676775"/>
            <a:ext cx="413990" cy="186689"/>
          </a:xfrm>
          <a:prstGeom prst="rect">
            <a:avLst/>
          </a:prstGeom>
          <a:noFill/>
        </p:spPr>
        <p:txBody>
          <a:bodyPr wrap="none" lIns="0" rIns="0" tIns="0" bIns="0">
            <a:spAutoFit/>
          </a:bodyPr>
          <a:lstStyle/>
          <a:p>
            <a:r>
              <a:rPr sz="1100" b="0">
                <a:solidFill>
                  <a:srgbClr val="1F2933"/>
                </a:solidFill>
                <a:latin typeface="Calibri"/>
              </a:rPr>
              <a:t>of the</a:t>
            </a:r>
          </a:p>
        </p:txBody>
      </p:sp>
      <p:sp>
        <p:nvSpPr>
          <p:cNvPr id="151" name="TextBox 150"/>
          <p:cNvSpPr txBox="1"/>
          <p:nvPr/>
        </p:nvSpPr>
        <p:spPr>
          <a:xfrm>
            <a:off x="9358313" y="4844415"/>
            <a:ext cx="2519361" cy="186689"/>
          </a:xfrm>
          <a:prstGeom prst="rect">
            <a:avLst/>
          </a:prstGeom>
          <a:noFill/>
        </p:spPr>
        <p:txBody>
          <a:bodyPr wrap="none" lIns="0" rIns="0" tIns="0" bIns="0">
            <a:spAutoFit/>
          </a:bodyPr>
          <a:lstStyle/>
          <a:p>
            <a:r>
              <a:rPr sz="1100" b="0">
                <a:solidFill>
                  <a:srgbClr val="1F2933"/>
                </a:solidFill>
                <a:latin typeface="Calibri"/>
              </a:rPr>
              <a:t>market; vendors package for one vertical at</a:t>
            </a:r>
          </a:p>
        </p:txBody>
      </p:sp>
      <p:sp>
        <p:nvSpPr>
          <p:cNvPr id="152" name="TextBox 151"/>
          <p:cNvSpPr txBox="1"/>
          <p:nvPr/>
        </p:nvSpPr>
        <p:spPr>
          <a:xfrm>
            <a:off x="9358313" y="5012055"/>
            <a:ext cx="470197" cy="186689"/>
          </a:xfrm>
          <a:prstGeom prst="rect">
            <a:avLst/>
          </a:prstGeom>
          <a:noFill/>
        </p:spPr>
        <p:txBody>
          <a:bodyPr wrap="none" lIns="0" rIns="0" tIns="0" bIns="0">
            <a:spAutoFit/>
          </a:bodyPr>
          <a:lstStyle/>
          <a:p>
            <a:r>
              <a:rPr sz="1100" b="0">
                <a:solidFill>
                  <a:srgbClr val="1F2933"/>
                </a:solidFill>
                <a:latin typeface="Calibri"/>
              </a:rPr>
              <a:t>a time.</a:t>
            </a:r>
          </a:p>
        </p:txBody>
      </p:sp>
    </p:spTree>
  </p:cSld>
  <p:clrMapOvr>
    <a:masterClrMapping/>
  </p:clrMapOvr>
</p:sld>
</file>

<file path=ppt/slides/slide2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Egg Protein Membrane Market Player Landscape by Business Type and Reach</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Named players by business type and geographic reach, with how each group competes</a:t>
            </a:r>
          </a:p>
        </p:txBody>
      </p:sp>
      <p:sp>
        <p:nvSpPr>
          <p:cNvPr id="7" name="Rectangle 6"/>
          <p:cNvSpPr/>
          <p:nvPr/>
        </p:nvSpPr>
        <p:spPr>
          <a:xfrm>
            <a:off x="1638300" y="1047750"/>
            <a:ext cx="3422650" cy="2667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714500" y="1047750"/>
            <a:ext cx="3308350" cy="266700"/>
          </a:xfrm>
          <a:prstGeom prst="rect">
            <a:avLst/>
          </a:prstGeom>
          <a:noFill/>
        </p:spPr>
        <p:txBody>
          <a:bodyPr wrap="square" lIns="28575" rIns="28575" tIns="9525" bIns="9525" anchor="ctr">
            <a:spAutoFit/>
          </a:bodyPr>
          <a:lstStyle/>
          <a:p>
            <a:pPr algn="l"/>
            <a:r>
              <a:rPr sz="1100" b="1">
                <a:solidFill>
                  <a:srgbClr val="FFFFFF"/>
                </a:solidFill>
                <a:latin typeface="Calibri"/>
              </a:rPr>
              <a:t>Tier 1  (4)</a:t>
            </a:r>
          </a:p>
        </p:txBody>
      </p:sp>
      <p:sp>
        <p:nvSpPr>
          <p:cNvPr id="9" name="Rectangle 8"/>
          <p:cNvSpPr/>
          <p:nvPr/>
        </p:nvSpPr>
        <p:spPr>
          <a:xfrm>
            <a:off x="5099050" y="1047750"/>
            <a:ext cx="3422650" cy="26670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175250" y="1047750"/>
            <a:ext cx="3308350" cy="266700"/>
          </a:xfrm>
          <a:prstGeom prst="rect">
            <a:avLst/>
          </a:prstGeom>
          <a:noFill/>
        </p:spPr>
        <p:txBody>
          <a:bodyPr wrap="square" lIns="28575" rIns="28575" tIns="9525" bIns="9525" anchor="ctr">
            <a:spAutoFit/>
          </a:bodyPr>
          <a:lstStyle/>
          <a:p>
            <a:pPr algn="l"/>
            <a:r>
              <a:rPr sz="1100" b="1">
                <a:solidFill>
                  <a:srgbClr val="FFFFFF"/>
                </a:solidFill>
                <a:latin typeface="Calibri"/>
              </a:rPr>
              <a:t>Tier 2  (2)</a:t>
            </a:r>
          </a:p>
        </p:txBody>
      </p:sp>
      <p:sp>
        <p:nvSpPr>
          <p:cNvPr id="11" name="Rectangle 10"/>
          <p:cNvSpPr/>
          <p:nvPr/>
        </p:nvSpPr>
        <p:spPr>
          <a:xfrm>
            <a:off x="8559800" y="1047750"/>
            <a:ext cx="3422650" cy="26670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36000" y="1047750"/>
            <a:ext cx="3308350" cy="266700"/>
          </a:xfrm>
          <a:prstGeom prst="rect">
            <a:avLst/>
          </a:prstGeom>
          <a:noFill/>
        </p:spPr>
        <p:txBody>
          <a:bodyPr wrap="square" lIns="28575" rIns="28575" tIns="9525" bIns="9525" anchor="ctr">
            <a:spAutoFit/>
          </a:bodyPr>
          <a:lstStyle/>
          <a:p>
            <a:pPr algn="l"/>
            <a:r>
              <a:rPr sz="1100" b="1">
                <a:solidFill>
                  <a:srgbClr val="FFFFFF"/>
                </a:solidFill>
                <a:latin typeface="Calibri"/>
              </a:rPr>
              <a:t>Tier 3  (4)</a:t>
            </a:r>
          </a:p>
        </p:txBody>
      </p:sp>
      <p:sp>
        <p:nvSpPr>
          <p:cNvPr id="13" name="TextBox 12"/>
          <p:cNvSpPr txBox="1"/>
          <p:nvPr/>
        </p:nvSpPr>
        <p:spPr>
          <a:xfrm>
            <a:off x="190500" y="1409700"/>
            <a:ext cx="1381125" cy="171450"/>
          </a:xfrm>
          <a:prstGeom prst="rect">
            <a:avLst/>
          </a:prstGeom>
          <a:noFill/>
        </p:spPr>
        <p:txBody>
          <a:bodyPr wrap="square" lIns="28575" rIns="28575" tIns="9525" bIns="9525" anchor="t">
            <a:spAutoFit/>
          </a:bodyPr>
          <a:lstStyle/>
          <a:p>
            <a:pPr algn="l"/>
            <a:r>
              <a:rPr sz="1100" b="1">
                <a:solidFill>
                  <a:srgbClr val="0F2D52"/>
                </a:solidFill>
                <a:latin typeface="Calibri"/>
              </a:rPr>
              <a:t>Global (4)</a:t>
            </a:r>
          </a:p>
        </p:txBody>
      </p:sp>
      <p:sp>
        <p:nvSpPr>
          <p:cNvPr id="14" name="TextBox 13"/>
          <p:cNvSpPr txBox="1"/>
          <p:nvPr/>
        </p:nvSpPr>
        <p:spPr>
          <a:xfrm>
            <a:off x="190500" y="1581150"/>
            <a:ext cx="1333500" cy="38100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Sells in most major regions</a:t>
            </a:r>
          </a:p>
        </p:txBody>
      </p:sp>
      <p:cxnSp>
        <p:nvCxnSpPr>
          <p:cNvPr id="15" name="Connector 14"/>
          <p:cNvCxnSpPr/>
          <p:nvPr/>
        </p:nvCxnSpPr>
        <p:spPr>
          <a:xfrm>
            <a:off x="1647825" y="1390650"/>
            <a:ext cx="0" cy="971550"/>
          </a:xfrm>
          <a:prstGeom prst="line">
            <a:avLst/>
          </a:prstGeom>
          <a:ln w="31750">
            <a:solidFill>
              <a:srgbClr val="1F6FA8"/>
            </a:solidFill>
          </a:ln>
          <a:effectLst/>
        </p:spPr>
        <p:style>
          <a:lnRef idx="2">
            <a:schemeClr val="accent1"/>
          </a:lnRef>
          <a:fillRef idx="0">
            <a:schemeClr val="accent1"/>
          </a:fillRef>
          <a:effectRef idx="1">
            <a:schemeClr val="accent1"/>
          </a:effectRef>
          <a:fontRef idx="minor">
            <a:schemeClr val="tx1"/>
          </a:fontRef>
        </p:style>
      </p:cxnSp>
      <p:sp>
        <p:nvSpPr>
          <p:cNvPr id="16" name="Rectangle 15"/>
          <p:cNvSpPr/>
          <p:nvPr/>
        </p:nvSpPr>
        <p:spPr>
          <a:xfrm>
            <a:off x="1733550" y="1447800"/>
            <a:ext cx="142875" cy="14287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733550" y="1438275"/>
            <a:ext cx="142875" cy="161925"/>
          </a:xfrm>
          <a:prstGeom prst="rect">
            <a:avLst/>
          </a:prstGeom>
          <a:noFill/>
        </p:spPr>
        <p:txBody>
          <a:bodyPr wrap="none" lIns="0" rIns="0" tIns="0" bIns="0" anchor="ctr">
            <a:spAutoFit/>
          </a:bodyPr>
          <a:lstStyle/>
          <a:p>
            <a:pPr algn="ctr"/>
            <a:r>
              <a:rPr sz="1100" b="1">
                <a:solidFill>
                  <a:srgbClr val="FFFFFF"/>
                </a:solidFill>
                <a:latin typeface="Calibri"/>
              </a:rPr>
              <a:t>1</a:t>
            </a:r>
          </a:p>
        </p:txBody>
      </p:sp>
      <p:sp>
        <p:nvSpPr>
          <p:cNvPr id="18" name="TextBox 17"/>
          <p:cNvSpPr txBox="1"/>
          <p:nvPr/>
        </p:nvSpPr>
        <p:spPr>
          <a:xfrm>
            <a:off x="1924050" y="1428750"/>
            <a:ext cx="3079750" cy="171450"/>
          </a:xfrm>
          <a:prstGeom prst="rect">
            <a:avLst/>
          </a:prstGeom>
          <a:noFill/>
        </p:spPr>
        <p:txBody>
          <a:bodyPr wrap="square" lIns="28575" rIns="28575" tIns="9525" bIns="9525" anchor="t">
            <a:spAutoFit/>
          </a:bodyPr>
          <a:lstStyle/>
          <a:p>
            <a:pPr algn="l"/>
            <a:r>
              <a:rPr sz="1100" b="1">
                <a:solidFill>
                  <a:srgbClr val="1F2933"/>
                </a:solidFill>
                <a:latin typeface="Calibri"/>
              </a:rPr>
              <a:t>ESM Technologies, LLC</a:t>
            </a:r>
          </a:p>
        </p:txBody>
      </p:sp>
      <p:sp>
        <p:nvSpPr>
          <p:cNvPr id="19" name="Rectangle 18"/>
          <p:cNvSpPr/>
          <p:nvPr/>
        </p:nvSpPr>
        <p:spPr>
          <a:xfrm>
            <a:off x="1733550" y="1638300"/>
            <a:ext cx="142875" cy="14287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733550" y="1628775"/>
            <a:ext cx="142875" cy="161925"/>
          </a:xfrm>
          <a:prstGeom prst="rect">
            <a:avLst/>
          </a:prstGeom>
          <a:noFill/>
        </p:spPr>
        <p:txBody>
          <a:bodyPr wrap="none" lIns="0" rIns="0" tIns="0" bIns="0" anchor="ctr">
            <a:spAutoFit/>
          </a:bodyPr>
          <a:lstStyle/>
          <a:p>
            <a:pPr algn="ctr"/>
            <a:r>
              <a:rPr sz="1100" b="1">
                <a:solidFill>
                  <a:srgbClr val="FFFFFF"/>
                </a:solidFill>
                <a:latin typeface="Calibri"/>
              </a:rPr>
              <a:t>1</a:t>
            </a:r>
          </a:p>
        </p:txBody>
      </p:sp>
      <p:sp>
        <p:nvSpPr>
          <p:cNvPr id="21" name="TextBox 20"/>
          <p:cNvSpPr txBox="1"/>
          <p:nvPr/>
        </p:nvSpPr>
        <p:spPr>
          <a:xfrm>
            <a:off x="1924050" y="1619250"/>
            <a:ext cx="3079750" cy="171450"/>
          </a:xfrm>
          <a:prstGeom prst="rect">
            <a:avLst/>
          </a:prstGeom>
          <a:noFill/>
        </p:spPr>
        <p:txBody>
          <a:bodyPr wrap="square" lIns="28575" rIns="28575" tIns="9525" bIns="9525" anchor="t">
            <a:spAutoFit/>
          </a:bodyPr>
          <a:lstStyle/>
          <a:p>
            <a:pPr algn="l"/>
            <a:r>
              <a:rPr sz="1100" b="1">
                <a:solidFill>
                  <a:srgbClr val="1F2933"/>
                </a:solidFill>
                <a:latin typeface="Calibri"/>
              </a:rPr>
              <a:t>Company</a:t>
            </a:r>
          </a:p>
        </p:txBody>
      </p:sp>
      <p:sp>
        <p:nvSpPr>
          <p:cNvPr id="22" name="Rectangle 21"/>
          <p:cNvSpPr/>
          <p:nvPr/>
        </p:nvSpPr>
        <p:spPr>
          <a:xfrm>
            <a:off x="1733550" y="1828800"/>
            <a:ext cx="142875" cy="14287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733550" y="1819275"/>
            <a:ext cx="142875" cy="161925"/>
          </a:xfrm>
          <a:prstGeom prst="rect">
            <a:avLst/>
          </a:prstGeom>
          <a:noFill/>
        </p:spPr>
        <p:txBody>
          <a:bodyPr wrap="none" lIns="0" rIns="0" tIns="0" bIns="0" anchor="ctr">
            <a:spAutoFit/>
          </a:bodyPr>
          <a:lstStyle/>
          <a:p>
            <a:pPr algn="ctr"/>
            <a:r>
              <a:rPr sz="1100" b="1">
                <a:solidFill>
                  <a:srgbClr val="FFFFFF"/>
                </a:solidFill>
                <a:latin typeface="Calibri"/>
              </a:rPr>
              <a:t>1</a:t>
            </a:r>
          </a:p>
        </p:txBody>
      </p:sp>
      <p:sp>
        <p:nvSpPr>
          <p:cNvPr id="24" name="TextBox 23"/>
          <p:cNvSpPr txBox="1"/>
          <p:nvPr/>
        </p:nvSpPr>
        <p:spPr>
          <a:xfrm>
            <a:off x="1924050" y="1809750"/>
            <a:ext cx="3079750" cy="171450"/>
          </a:xfrm>
          <a:prstGeom prst="rect">
            <a:avLst/>
          </a:prstGeom>
          <a:noFill/>
        </p:spPr>
        <p:txBody>
          <a:bodyPr wrap="square" lIns="28575" rIns="28575" tIns="9525" bIns="9525" anchor="t">
            <a:spAutoFit/>
          </a:bodyPr>
          <a:lstStyle/>
          <a:p>
            <a:pPr algn="l"/>
            <a:r>
              <a:rPr sz="1100" b="1">
                <a:solidFill>
                  <a:srgbClr val="1F2933"/>
                </a:solidFill>
                <a:latin typeface="Calibri"/>
              </a:rPr>
              <a:t>Biova, LLC</a:t>
            </a:r>
          </a:p>
        </p:txBody>
      </p:sp>
      <p:sp>
        <p:nvSpPr>
          <p:cNvPr id="25" name="Rectangle 24"/>
          <p:cNvSpPr/>
          <p:nvPr/>
        </p:nvSpPr>
        <p:spPr>
          <a:xfrm>
            <a:off x="1733550" y="2019300"/>
            <a:ext cx="142875" cy="14287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733550" y="2009775"/>
            <a:ext cx="142875" cy="161925"/>
          </a:xfrm>
          <a:prstGeom prst="rect">
            <a:avLst/>
          </a:prstGeom>
          <a:noFill/>
        </p:spPr>
        <p:txBody>
          <a:bodyPr wrap="none" lIns="0" rIns="0" tIns="0" bIns="0" anchor="ctr">
            <a:spAutoFit/>
          </a:bodyPr>
          <a:lstStyle/>
          <a:p>
            <a:pPr algn="ctr"/>
            <a:r>
              <a:rPr sz="1100" b="1">
                <a:solidFill>
                  <a:srgbClr val="FFFFFF"/>
                </a:solidFill>
                <a:latin typeface="Calibri"/>
              </a:rPr>
              <a:t>1</a:t>
            </a:r>
          </a:p>
        </p:txBody>
      </p:sp>
      <p:sp>
        <p:nvSpPr>
          <p:cNvPr id="27" name="TextBox 26"/>
          <p:cNvSpPr txBox="1"/>
          <p:nvPr/>
        </p:nvSpPr>
        <p:spPr>
          <a:xfrm>
            <a:off x="1924050" y="2000250"/>
            <a:ext cx="3079750" cy="171450"/>
          </a:xfrm>
          <a:prstGeom prst="rect">
            <a:avLst/>
          </a:prstGeom>
          <a:noFill/>
        </p:spPr>
        <p:txBody>
          <a:bodyPr wrap="square" lIns="28575" rIns="28575" tIns="9525" bIns="9525" anchor="t">
            <a:spAutoFit/>
          </a:bodyPr>
          <a:lstStyle/>
          <a:p>
            <a:pPr algn="l"/>
            <a:r>
              <a:rPr sz="1100" b="1">
                <a:solidFill>
                  <a:srgbClr val="1F2933"/>
                </a:solidFill>
                <a:latin typeface="Calibri"/>
              </a:rPr>
              <a:t>Eggnovo S.L.</a:t>
            </a:r>
          </a:p>
        </p:txBody>
      </p:sp>
      <p:cxnSp>
        <p:nvCxnSpPr>
          <p:cNvPr id="28" name="Connector 27"/>
          <p:cNvCxnSpPr/>
          <p:nvPr/>
        </p:nvCxnSpPr>
        <p:spPr>
          <a:xfrm>
            <a:off x="5108575" y="1390650"/>
            <a:ext cx="0" cy="971550"/>
          </a:xfrm>
          <a:prstGeom prst="line">
            <a:avLst/>
          </a:prstGeom>
          <a:ln w="31750">
            <a:solidFill>
              <a:srgbClr val="E07B24"/>
            </a:solidFill>
          </a:ln>
          <a:effectLst/>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8569325" y="1390650"/>
            <a:ext cx="0" cy="971550"/>
          </a:xfrm>
          <a:prstGeom prst="line">
            <a:avLst/>
          </a:prstGeom>
          <a:ln w="31750">
            <a:solidFill>
              <a:srgbClr val="2E8B57"/>
            </a:solidFill>
          </a:ln>
          <a:effectLst/>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190500" y="2438400"/>
            <a:ext cx="1381125" cy="171450"/>
          </a:xfrm>
          <a:prstGeom prst="rect">
            <a:avLst/>
          </a:prstGeom>
          <a:noFill/>
        </p:spPr>
        <p:txBody>
          <a:bodyPr wrap="square" lIns="28575" rIns="28575" tIns="9525" bIns="9525" anchor="t">
            <a:spAutoFit/>
          </a:bodyPr>
          <a:lstStyle/>
          <a:p>
            <a:pPr algn="l"/>
            <a:r>
              <a:rPr sz="1100" b="1">
                <a:solidFill>
                  <a:srgbClr val="0F2D52"/>
                </a:solidFill>
                <a:latin typeface="Calibri"/>
              </a:rPr>
              <a:t>Regional (2)</a:t>
            </a:r>
          </a:p>
        </p:txBody>
      </p:sp>
      <p:sp>
        <p:nvSpPr>
          <p:cNvPr id="31" name="TextBox 30"/>
          <p:cNvSpPr txBox="1"/>
          <p:nvPr/>
        </p:nvSpPr>
        <p:spPr>
          <a:xfrm>
            <a:off x="190500" y="2609850"/>
            <a:ext cx="1333500" cy="38100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Strong in one or two regions</a:t>
            </a:r>
          </a:p>
        </p:txBody>
      </p:sp>
      <p:cxnSp>
        <p:nvCxnSpPr>
          <p:cNvPr id="32" name="Connector 31"/>
          <p:cNvCxnSpPr/>
          <p:nvPr/>
        </p:nvCxnSpPr>
        <p:spPr>
          <a:xfrm>
            <a:off x="190500" y="240030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1647825" y="2419350"/>
            <a:ext cx="0" cy="971550"/>
          </a:xfrm>
          <a:prstGeom prst="line">
            <a:avLst/>
          </a:prstGeom>
          <a:ln w="31750">
            <a:solidFill>
              <a:srgbClr val="1F6FA8"/>
            </a:solidFill>
          </a:ln>
          <a:effectLst/>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5108575" y="2419350"/>
            <a:ext cx="0" cy="971550"/>
          </a:xfrm>
          <a:prstGeom prst="line">
            <a:avLst/>
          </a:prstGeom>
          <a:ln w="31750">
            <a:solidFill>
              <a:srgbClr val="E07B24"/>
            </a:solidFill>
          </a:ln>
          <a:effectLst/>
        </p:spPr>
        <p:style>
          <a:lnRef idx="2">
            <a:schemeClr val="accent1"/>
          </a:lnRef>
          <a:fillRef idx="0">
            <a:schemeClr val="accent1"/>
          </a:fillRef>
          <a:effectRef idx="1">
            <a:schemeClr val="accent1"/>
          </a:effectRef>
          <a:fontRef idx="minor">
            <a:schemeClr val="tx1"/>
          </a:fontRef>
        </p:style>
      </p:cxnSp>
      <p:sp>
        <p:nvSpPr>
          <p:cNvPr id="35" name="Rectangle 34"/>
          <p:cNvSpPr/>
          <p:nvPr/>
        </p:nvSpPr>
        <p:spPr>
          <a:xfrm>
            <a:off x="5194300" y="2476500"/>
            <a:ext cx="142875" cy="142875"/>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194300" y="2466975"/>
            <a:ext cx="142875" cy="161925"/>
          </a:xfrm>
          <a:prstGeom prst="rect">
            <a:avLst/>
          </a:prstGeom>
          <a:noFill/>
        </p:spPr>
        <p:txBody>
          <a:bodyPr wrap="none" lIns="0" rIns="0" tIns="0" bIns="0" anchor="ctr">
            <a:spAutoFit/>
          </a:bodyPr>
          <a:lstStyle/>
          <a:p>
            <a:pPr algn="ctr"/>
            <a:r>
              <a:rPr sz="1100" b="1">
                <a:solidFill>
                  <a:srgbClr val="FFFFFF"/>
                </a:solidFill>
                <a:latin typeface="Calibri"/>
              </a:rPr>
              <a:t>2</a:t>
            </a:r>
          </a:p>
        </p:txBody>
      </p:sp>
      <p:sp>
        <p:nvSpPr>
          <p:cNvPr id="37" name="TextBox 36"/>
          <p:cNvSpPr txBox="1"/>
          <p:nvPr/>
        </p:nvSpPr>
        <p:spPr>
          <a:xfrm>
            <a:off x="5384800" y="2457450"/>
            <a:ext cx="3079750" cy="171450"/>
          </a:xfrm>
          <a:prstGeom prst="rect">
            <a:avLst/>
          </a:prstGeom>
          <a:noFill/>
        </p:spPr>
        <p:txBody>
          <a:bodyPr wrap="square" lIns="28575" rIns="28575" tIns="9525" bIns="9525" anchor="t">
            <a:spAutoFit/>
          </a:bodyPr>
          <a:lstStyle/>
          <a:p>
            <a:pPr algn="l"/>
            <a:r>
              <a:rPr sz="1100" b="0">
                <a:solidFill>
                  <a:srgbClr val="1F2933"/>
                </a:solidFill>
                <a:latin typeface="Calibri"/>
              </a:rPr>
              <a:t>Dutch Eggmembrane Protein Powder</a:t>
            </a:r>
          </a:p>
        </p:txBody>
      </p:sp>
      <p:sp>
        <p:nvSpPr>
          <p:cNvPr id="38" name="Rectangle 37"/>
          <p:cNvSpPr/>
          <p:nvPr/>
        </p:nvSpPr>
        <p:spPr>
          <a:xfrm>
            <a:off x="5194300" y="2667000"/>
            <a:ext cx="142875" cy="142875"/>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194300" y="2657475"/>
            <a:ext cx="142875" cy="161925"/>
          </a:xfrm>
          <a:prstGeom prst="rect">
            <a:avLst/>
          </a:prstGeom>
          <a:noFill/>
        </p:spPr>
        <p:txBody>
          <a:bodyPr wrap="none" lIns="0" rIns="0" tIns="0" bIns="0" anchor="ctr">
            <a:spAutoFit/>
          </a:bodyPr>
          <a:lstStyle/>
          <a:p>
            <a:pPr algn="ctr"/>
            <a:r>
              <a:rPr sz="1100" b="1">
                <a:solidFill>
                  <a:srgbClr val="FFFFFF"/>
                </a:solidFill>
                <a:latin typeface="Calibri"/>
              </a:rPr>
              <a:t>2</a:t>
            </a:r>
          </a:p>
        </p:txBody>
      </p:sp>
      <p:sp>
        <p:nvSpPr>
          <p:cNvPr id="40" name="TextBox 39"/>
          <p:cNvSpPr txBox="1"/>
          <p:nvPr/>
        </p:nvSpPr>
        <p:spPr>
          <a:xfrm>
            <a:off x="5384800" y="2647950"/>
            <a:ext cx="3079750" cy="171450"/>
          </a:xfrm>
          <a:prstGeom prst="rect">
            <a:avLst/>
          </a:prstGeom>
          <a:noFill/>
        </p:spPr>
        <p:txBody>
          <a:bodyPr wrap="square" lIns="28575" rIns="28575" tIns="9525" bIns="9525" anchor="t">
            <a:spAutoFit/>
          </a:bodyPr>
          <a:lstStyle/>
          <a:p>
            <a:pPr algn="l"/>
            <a:r>
              <a:rPr sz="1100" b="0">
                <a:solidFill>
                  <a:srgbClr val="1F2933"/>
                </a:solidFill>
                <a:latin typeface="Calibri"/>
              </a:rPr>
              <a:t>Kewpie Corporation</a:t>
            </a:r>
          </a:p>
        </p:txBody>
      </p:sp>
      <p:cxnSp>
        <p:nvCxnSpPr>
          <p:cNvPr id="41" name="Connector 40"/>
          <p:cNvCxnSpPr/>
          <p:nvPr/>
        </p:nvCxnSpPr>
        <p:spPr>
          <a:xfrm>
            <a:off x="8569325" y="2419350"/>
            <a:ext cx="0" cy="971550"/>
          </a:xfrm>
          <a:prstGeom prst="line">
            <a:avLst/>
          </a:prstGeom>
          <a:ln w="31750">
            <a:solidFill>
              <a:srgbClr val="2E8B57"/>
            </a:solidFill>
          </a:ln>
          <a:effectLst/>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190500" y="3467100"/>
            <a:ext cx="1381125" cy="171450"/>
          </a:xfrm>
          <a:prstGeom prst="rect">
            <a:avLst/>
          </a:prstGeom>
          <a:noFill/>
        </p:spPr>
        <p:txBody>
          <a:bodyPr wrap="square" lIns="28575" rIns="28575" tIns="9525" bIns="9525" anchor="t">
            <a:spAutoFit/>
          </a:bodyPr>
          <a:lstStyle/>
          <a:p>
            <a:pPr algn="l"/>
            <a:r>
              <a:rPr sz="1100" b="1">
                <a:solidFill>
                  <a:srgbClr val="0F2D52"/>
                </a:solidFill>
                <a:latin typeface="Calibri"/>
              </a:rPr>
              <a:t>Local or niche (4)</a:t>
            </a:r>
          </a:p>
        </p:txBody>
      </p:sp>
      <p:sp>
        <p:nvSpPr>
          <p:cNvPr id="43" name="TextBox 42"/>
          <p:cNvSpPr txBox="1"/>
          <p:nvPr/>
        </p:nvSpPr>
        <p:spPr>
          <a:xfrm>
            <a:off x="190500" y="3638550"/>
            <a:ext cx="1333500" cy="38100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One market or one specialist use</a:t>
            </a:r>
          </a:p>
        </p:txBody>
      </p:sp>
      <p:cxnSp>
        <p:nvCxnSpPr>
          <p:cNvPr id="44" name="Connector 43"/>
          <p:cNvCxnSpPr/>
          <p:nvPr/>
        </p:nvCxnSpPr>
        <p:spPr>
          <a:xfrm>
            <a:off x="190500" y="342900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1647825" y="3448050"/>
            <a:ext cx="0" cy="971550"/>
          </a:xfrm>
          <a:prstGeom prst="line">
            <a:avLst/>
          </a:prstGeom>
          <a:ln w="31750">
            <a:solidFill>
              <a:srgbClr val="1F6FA8"/>
            </a:solidFill>
          </a:ln>
          <a:effectLst/>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5108575" y="3448050"/>
            <a:ext cx="0" cy="971550"/>
          </a:xfrm>
          <a:prstGeom prst="line">
            <a:avLst/>
          </a:prstGeom>
          <a:ln w="31750">
            <a:solidFill>
              <a:srgbClr val="E07B24"/>
            </a:solidFill>
          </a:ln>
          <a:effectLst/>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8569325" y="3448050"/>
            <a:ext cx="0" cy="971550"/>
          </a:xfrm>
          <a:prstGeom prst="line">
            <a:avLst/>
          </a:prstGeom>
          <a:ln w="31750">
            <a:solidFill>
              <a:srgbClr val="2E8B57"/>
            </a:solidFill>
          </a:ln>
          <a:effectLst/>
        </p:spPr>
        <p:style>
          <a:lnRef idx="2">
            <a:schemeClr val="accent1"/>
          </a:lnRef>
          <a:fillRef idx="0">
            <a:schemeClr val="accent1"/>
          </a:fillRef>
          <a:effectRef idx="1">
            <a:schemeClr val="accent1"/>
          </a:effectRef>
          <a:fontRef idx="minor">
            <a:schemeClr val="tx1"/>
          </a:fontRef>
        </p:style>
      </p:cxnSp>
      <p:sp>
        <p:nvSpPr>
          <p:cNvPr id="48" name="Rectangle 47"/>
          <p:cNvSpPr/>
          <p:nvPr/>
        </p:nvSpPr>
        <p:spPr>
          <a:xfrm>
            <a:off x="8655050" y="3505200"/>
            <a:ext cx="142875" cy="142875"/>
          </a:xfrm>
          <a:prstGeom prst="rect">
            <a:avLst/>
          </a:prstGeom>
          <a:solidFill>
            <a:srgbClr val="A9C6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655050" y="3495675"/>
            <a:ext cx="142875" cy="161925"/>
          </a:xfrm>
          <a:prstGeom prst="rect">
            <a:avLst/>
          </a:prstGeom>
          <a:noFill/>
        </p:spPr>
        <p:txBody>
          <a:bodyPr wrap="none" lIns="0" rIns="0" tIns="0" bIns="0" anchor="ctr">
            <a:spAutoFit/>
          </a:bodyPr>
          <a:lstStyle/>
          <a:p>
            <a:pPr algn="ctr"/>
            <a:r>
              <a:rPr sz="1100" b="1">
                <a:solidFill>
                  <a:srgbClr val="0F2D52"/>
                </a:solidFill>
                <a:latin typeface="Calibri"/>
              </a:rPr>
              <a:t>3</a:t>
            </a:r>
          </a:p>
        </p:txBody>
      </p:sp>
      <p:sp>
        <p:nvSpPr>
          <p:cNvPr id="50" name="TextBox 49"/>
          <p:cNvSpPr txBox="1"/>
          <p:nvPr/>
        </p:nvSpPr>
        <p:spPr>
          <a:xfrm>
            <a:off x="8845550" y="3486150"/>
            <a:ext cx="3079750" cy="171450"/>
          </a:xfrm>
          <a:prstGeom prst="rect">
            <a:avLst/>
          </a:prstGeom>
          <a:noFill/>
        </p:spPr>
        <p:txBody>
          <a:bodyPr wrap="square" lIns="28575" rIns="28575" tIns="9525" bIns="9525" anchor="t">
            <a:spAutoFit/>
          </a:bodyPr>
          <a:lstStyle/>
          <a:p>
            <a:pPr algn="l"/>
            <a:r>
              <a:rPr sz="1100" b="0">
                <a:solidFill>
                  <a:srgbClr val="1F2933"/>
                </a:solidFill>
                <a:latin typeface="Calibri"/>
              </a:rPr>
              <a:t>INNAIN</a:t>
            </a:r>
          </a:p>
        </p:txBody>
      </p:sp>
      <p:sp>
        <p:nvSpPr>
          <p:cNvPr id="51" name="Rectangle 50"/>
          <p:cNvSpPr/>
          <p:nvPr/>
        </p:nvSpPr>
        <p:spPr>
          <a:xfrm>
            <a:off x="8655050" y="3695700"/>
            <a:ext cx="142875" cy="142875"/>
          </a:xfrm>
          <a:prstGeom prst="rect">
            <a:avLst/>
          </a:prstGeom>
          <a:solidFill>
            <a:srgbClr val="A9C6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655050" y="3686175"/>
            <a:ext cx="142875" cy="161925"/>
          </a:xfrm>
          <a:prstGeom prst="rect">
            <a:avLst/>
          </a:prstGeom>
          <a:noFill/>
        </p:spPr>
        <p:txBody>
          <a:bodyPr wrap="none" lIns="0" rIns="0" tIns="0" bIns="0" anchor="ctr">
            <a:spAutoFit/>
          </a:bodyPr>
          <a:lstStyle/>
          <a:p>
            <a:pPr algn="ctr"/>
            <a:r>
              <a:rPr sz="1100" b="1">
                <a:solidFill>
                  <a:srgbClr val="0F2D52"/>
                </a:solidFill>
                <a:latin typeface="Calibri"/>
              </a:rPr>
              <a:t>3</a:t>
            </a:r>
          </a:p>
        </p:txBody>
      </p:sp>
      <p:sp>
        <p:nvSpPr>
          <p:cNvPr id="53" name="TextBox 52"/>
          <p:cNvSpPr txBox="1"/>
          <p:nvPr/>
        </p:nvSpPr>
        <p:spPr>
          <a:xfrm>
            <a:off x="8845550" y="3676650"/>
            <a:ext cx="3079750" cy="171450"/>
          </a:xfrm>
          <a:prstGeom prst="rect">
            <a:avLst/>
          </a:prstGeom>
          <a:noFill/>
        </p:spPr>
        <p:txBody>
          <a:bodyPr wrap="square" lIns="28575" rIns="28575" tIns="9525" bIns="9525" anchor="t">
            <a:spAutoFit/>
          </a:bodyPr>
          <a:lstStyle/>
          <a:p>
            <a:pPr algn="l"/>
            <a:r>
              <a:rPr sz="1100" b="0">
                <a:solidFill>
                  <a:srgbClr val="1F2933"/>
                </a:solidFill>
                <a:latin typeface="Calibri"/>
              </a:rPr>
              <a:t>Ecovatec Solutions Inc.</a:t>
            </a:r>
          </a:p>
        </p:txBody>
      </p:sp>
      <p:sp>
        <p:nvSpPr>
          <p:cNvPr id="54" name="Rectangle 53"/>
          <p:cNvSpPr/>
          <p:nvPr/>
        </p:nvSpPr>
        <p:spPr>
          <a:xfrm>
            <a:off x="8655050" y="3886200"/>
            <a:ext cx="142875" cy="142875"/>
          </a:xfrm>
          <a:prstGeom prst="rect">
            <a:avLst/>
          </a:prstGeom>
          <a:solidFill>
            <a:srgbClr val="A9C6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655050" y="3876675"/>
            <a:ext cx="142875" cy="161925"/>
          </a:xfrm>
          <a:prstGeom prst="rect">
            <a:avLst/>
          </a:prstGeom>
          <a:noFill/>
        </p:spPr>
        <p:txBody>
          <a:bodyPr wrap="none" lIns="0" rIns="0" tIns="0" bIns="0" anchor="ctr">
            <a:spAutoFit/>
          </a:bodyPr>
          <a:lstStyle/>
          <a:p>
            <a:pPr algn="ctr"/>
            <a:r>
              <a:rPr sz="1100" b="1">
                <a:solidFill>
                  <a:srgbClr val="0F2D52"/>
                </a:solidFill>
                <a:latin typeface="Calibri"/>
              </a:rPr>
              <a:t>3</a:t>
            </a:r>
          </a:p>
        </p:txBody>
      </p:sp>
      <p:sp>
        <p:nvSpPr>
          <p:cNvPr id="56" name="TextBox 55"/>
          <p:cNvSpPr txBox="1"/>
          <p:nvPr/>
        </p:nvSpPr>
        <p:spPr>
          <a:xfrm>
            <a:off x="8845550" y="3867150"/>
            <a:ext cx="3079750" cy="171450"/>
          </a:xfrm>
          <a:prstGeom prst="rect">
            <a:avLst/>
          </a:prstGeom>
          <a:noFill/>
        </p:spPr>
        <p:txBody>
          <a:bodyPr wrap="square" lIns="28575" rIns="28575" tIns="9525" bIns="9525" anchor="t">
            <a:spAutoFit/>
          </a:bodyPr>
          <a:lstStyle/>
          <a:p>
            <a:pPr algn="l"/>
            <a:r>
              <a:rPr sz="1100" b="0">
                <a:solidFill>
                  <a:srgbClr val="1F2933"/>
                </a:solidFill>
                <a:latin typeface="Calibri"/>
              </a:rPr>
              <a:t>Biovotec</a:t>
            </a:r>
          </a:p>
        </p:txBody>
      </p:sp>
      <p:sp>
        <p:nvSpPr>
          <p:cNvPr id="57" name="Rectangle 56"/>
          <p:cNvSpPr/>
          <p:nvPr/>
        </p:nvSpPr>
        <p:spPr>
          <a:xfrm>
            <a:off x="8655050" y="4076700"/>
            <a:ext cx="142875" cy="142875"/>
          </a:xfrm>
          <a:prstGeom prst="rect">
            <a:avLst/>
          </a:prstGeom>
          <a:solidFill>
            <a:srgbClr val="A9C6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8655050" y="4067175"/>
            <a:ext cx="142875" cy="161925"/>
          </a:xfrm>
          <a:prstGeom prst="rect">
            <a:avLst/>
          </a:prstGeom>
          <a:noFill/>
        </p:spPr>
        <p:txBody>
          <a:bodyPr wrap="none" lIns="0" rIns="0" tIns="0" bIns="0" anchor="ctr">
            <a:spAutoFit/>
          </a:bodyPr>
          <a:lstStyle/>
          <a:p>
            <a:pPr algn="ctr"/>
            <a:r>
              <a:rPr sz="1100" b="1">
                <a:solidFill>
                  <a:srgbClr val="0F2D52"/>
                </a:solidFill>
                <a:latin typeface="Calibri"/>
              </a:rPr>
              <a:t>3</a:t>
            </a:r>
          </a:p>
        </p:txBody>
      </p:sp>
      <p:sp>
        <p:nvSpPr>
          <p:cNvPr id="59" name="TextBox 58"/>
          <p:cNvSpPr txBox="1"/>
          <p:nvPr/>
        </p:nvSpPr>
        <p:spPr>
          <a:xfrm>
            <a:off x="8845550" y="4057650"/>
            <a:ext cx="3079750" cy="171450"/>
          </a:xfrm>
          <a:prstGeom prst="rect">
            <a:avLst/>
          </a:prstGeom>
          <a:noFill/>
        </p:spPr>
        <p:txBody>
          <a:bodyPr wrap="square" lIns="28575" rIns="28575" tIns="9525" bIns="9525" anchor="t">
            <a:spAutoFit/>
          </a:bodyPr>
          <a:lstStyle/>
          <a:p>
            <a:pPr algn="l"/>
            <a:r>
              <a:rPr sz="1100" b="0">
                <a:solidFill>
                  <a:srgbClr val="1F2933"/>
                </a:solidFill>
                <a:latin typeface="Calibri"/>
              </a:rPr>
              <a:t>Microcore Research Laboratories India Pvt. Ltd.</a:t>
            </a:r>
          </a:p>
        </p:txBody>
      </p:sp>
      <p:sp>
        <p:nvSpPr>
          <p:cNvPr id="60" name="Rectangle 59"/>
          <p:cNvSpPr/>
          <p:nvPr/>
        </p:nvSpPr>
        <p:spPr>
          <a:xfrm>
            <a:off x="190500" y="4524375"/>
            <a:ext cx="123825" cy="12382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361950" y="4476750"/>
            <a:ext cx="476250" cy="209550"/>
          </a:xfrm>
          <a:prstGeom prst="rect">
            <a:avLst/>
          </a:prstGeom>
          <a:noFill/>
        </p:spPr>
        <p:txBody>
          <a:bodyPr wrap="square" lIns="28575" rIns="28575" tIns="9525" bIns="9525" anchor="ctr">
            <a:spAutoFit/>
          </a:bodyPr>
          <a:lstStyle/>
          <a:p>
            <a:pPr algn="l"/>
            <a:r>
              <a:rPr sz="1100" b="0">
                <a:solidFill>
                  <a:srgbClr val="1F2933"/>
                </a:solidFill>
                <a:latin typeface="Calibri"/>
              </a:rPr>
              <a:t>Tier 1</a:t>
            </a:r>
          </a:p>
        </p:txBody>
      </p:sp>
      <p:sp>
        <p:nvSpPr>
          <p:cNvPr id="62" name="TextBox 61"/>
          <p:cNvSpPr txBox="1"/>
          <p:nvPr/>
        </p:nvSpPr>
        <p:spPr>
          <a:xfrm>
            <a:off x="819150" y="4476750"/>
            <a:ext cx="609600" cy="209550"/>
          </a:xfrm>
          <a:prstGeom prst="rect">
            <a:avLst/>
          </a:prstGeom>
          <a:noFill/>
        </p:spPr>
        <p:txBody>
          <a:bodyPr wrap="square" lIns="28575" rIns="28575" tIns="9525" bIns="9525" anchor="ctr">
            <a:spAutoFit/>
          </a:bodyPr>
          <a:lstStyle/>
          <a:p>
            <a:pPr algn="l"/>
            <a:r>
              <a:rPr sz="1100" b="1">
                <a:solidFill>
                  <a:srgbClr val="1F2933"/>
                </a:solidFill>
                <a:latin typeface="Calibri"/>
              </a:rPr>
              <a:t> </a:t>
            </a:r>
          </a:p>
        </p:txBody>
      </p:sp>
      <p:sp>
        <p:nvSpPr>
          <p:cNvPr id="63" name="TextBox 62"/>
          <p:cNvSpPr txBox="1"/>
          <p:nvPr/>
        </p:nvSpPr>
        <p:spPr>
          <a:xfrm>
            <a:off x="1447800" y="4476750"/>
            <a:ext cx="1238250" cy="209550"/>
          </a:xfrm>
          <a:prstGeom prst="rect">
            <a:avLst/>
          </a:prstGeom>
          <a:noFill/>
        </p:spPr>
        <p:txBody>
          <a:bodyPr wrap="square" lIns="28575" rIns="28575" tIns="9525" bIns="9525" anchor="ctr">
            <a:spAutoFit/>
          </a:bodyPr>
          <a:lstStyle/>
          <a:p>
            <a:pPr algn="l"/>
            <a:r>
              <a:rPr sz="1100" b="0">
                <a:solidFill>
                  <a:srgbClr val="1F2933"/>
                </a:solidFill>
                <a:latin typeface="Calibri"/>
              </a:rPr>
              <a:t>combined share</a:t>
            </a:r>
          </a:p>
        </p:txBody>
      </p:sp>
      <p:sp>
        <p:nvSpPr>
          <p:cNvPr id="64" name="Rectangle 63"/>
          <p:cNvSpPr/>
          <p:nvPr/>
        </p:nvSpPr>
        <p:spPr>
          <a:xfrm>
            <a:off x="2952750" y="4524375"/>
            <a:ext cx="123825" cy="123825"/>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3124200" y="4476750"/>
            <a:ext cx="476250" cy="209550"/>
          </a:xfrm>
          <a:prstGeom prst="rect">
            <a:avLst/>
          </a:prstGeom>
          <a:noFill/>
        </p:spPr>
        <p:txBody>
          <a:bodyPr wrap="square" lIns="28575" rIns="28575" tIns="9525" bIns="9525" anchor="ctr">
            <a:spAutoFit/>
          </a:bodyPr>
          <a:lstStyle/>
          <a:p>
            <a:pPr algn="l"/>
            <a:r>
              <a:rPr sz="1100" b="0">
                <a:solidFill>
                  <a:srgbClr val="1F2933"/>
                </a:solidFill>
                <a:latin typeface="Calibri"/>
              </a:rPr>
              <a:t>Tier 2</a:t>
            </a:r>
          </a:p>
        </p:txBody>
      </p:sp>
      <p:sp>
        <p:nvSpPr>
          <p:cNvPr id="66" name="TextBox 65"/>
          <p:cNvSpPr txBox="1"/>
          <p:nvPr/>
        </p:nvSpPr>
        <p:spPr>
          <a:xfrm>
            <a:off x="3581400" y="4476750"/>
            <a:ext cx="609600" cy="209550"/>
          </a:xfrm>
          <a:prstGeom prst="rect">
            <a:avLst/>
          </a:prstGeom>
          <a:noFill/>
        </p:spPr>
        <p:txBody>
          <a:bodyPr wrap="square" lIns="28575" rIns="28575" tIns="9525" bIns="9525" anchor="ctr">
            <a:spAutoFit/>
          </a:bodyPr>
          <a:lstStyle/>
          <a:p>
            <a:pPr algn="l"/>
            <a:r>
              <a:rPr sz="1100" b="1">
                <a:solidFill>
                  <a:srgbClr val="1F2933"/>
                </a:solidFill>
                <a:latin typeface="Calibri"/>
              </a:rPr>
              <a:t> </a:t>
            </a:r>
          </a:p>
        </p:txBody>
      </p:sp>
      <p:sp>
        <p:nvSpPr>
          <p:cNvPr id="67" name="TextBox 66"/>
          <p:cNvSpPr txBox="1"/>
          <p:nvPr/>
        </p:nvSpPr>
        <p:spPr>
          <a:xfrm>
            <a:off x="4210050" y="4476750"/>
            <a:ext cx="1238250" cy="209550"/>
          </a:xfrm>
          <a:prstGeom prst="rect">
            <a:avLst/>
          </a:prstGeom>
          <a:noFill/>
        </p:spPr>
        <p:txBody>
          <a:bodyPr wrap="square" lIns="28575" rIns="28575" tIns="9525" bIns="9525" anchor="ctr">
            <a:spAutoFit/>
          </a:bodyPr>
          <a:lstStyle/>
          <a:p>
            <a:pPr algn="l"/>
            <a:r>
              <a:rPr sz="1100" b="0">
                <a:solidFill>
                  <a:srgbClr val="1F2933"/>
                </a:solidFill>
                <a:latin typeface="Calibri"/>
              </a:rPr>
              <a:t>combined share</a:t>
            </a:r>
          </a:p>
        </p:txBody>
      </p:sp>
      <p:sp>
        <p:nvSpPr>
          <p:cNvPr id="68" name="Rectangle 67"/>
          <p:cNvSpPr/>
          <p:nvPr/>
        </p:nvSpPr>
        <p:spPr>
          <a:xfrm>
            <a:off x="5715000" y="4524375"/>
            <a:ext cx="123825" cy="123825"/>
          </a:xfrm>
          <a:prstGeom prst="rect">
            <a:avLst/>
          </a:prstGeom>
          <a:solidFill>
            <a:srgbClr val="A9C6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5886450" y="4476750"/>
            <a:ext cx="476250" cy="209550"/>
          </a:xfrm>
          <a:prstGeom prst="rect">
            <a:avLst/>
          </a:prstGeom>
          <a:noFill/>
        </p:spPr>
        <p:txBody>
          <a:bodyPr wrap="square" lIns="28575" rIns="28575" tIns="9525" bIns="9525" anchor="ctr">
            <a:spAutoFit/>
          </a:bodyPr>
          <a:lstStyle/>
          <a:p>
            <a:pPr algn="l"/>
            <a:r>
              <a:rPr sz="1100" b="0">
                <a:solidFill>
                  <a:srgbClr val="1F2933"/>
                </a:solidFill>
                <a:latin typeface="Calibri"/>
              </a:rPr>
              <a:t>Tier 3</a:t>
            </a:r>
          </a:p>
        </p:txBody>
      </p:sp>
      <p:sp>
        <p:nvSpPr>
          <p:cNvPr id="70" name="TextBox 69"/>
          <p:cNvSpPr txBox="1"/>
          <p:nvPr/>
        </p:nvSpPr>
        <p:spPr>
          <a:xfrm>
            <a:off x="6343650" y="4476750"/>
            <a:ext cx="609600" cy="209550"/>
          </a:xfrm>
          <a:prstGeom prst="rect">
            <a:avLst/>
          </a:prstGeom>
          <a:noFill/>
        </p:spPr>
        <p:txBody>
          <a:bodyPr wrap="square" lIns="28575" rIns="28575" tIns="9525" bIns="9525" anchor="ctr">
            <a:spAutoFit/>
          </a:bodyPr>
          <a:lstStyle/>
          <a:p>
            <a:pPr algn="l"/>
            <a:r>
              <a:rPr sz="1100" b="1">
                <a:solidFill>
                  <a:srgbClr val="1F2933"/>
                </a:solidFill>
                <a:latin typeface="Calibri"/>
              </a:rPr>
              <a:t> </a:t>
            </a:r>
          </a:p>
        </p:txBody>
      </p:sp>
      <p:sp>
        <p:nvSpPr>
          <p:cNvPr id="71" name="TextBox 70"/>
          <p:cNvSpPr txBox="1"/>
          <p:nvPr/>
        </p:nvSpPr>
        <p:spPr>
          <a:xfrm>
            <a:off x="6972300" y="4476750"/>
            <a:ext cx="1238250" cy="209550"/>
          </a:xfrm>
          <a:prstGeom prst="rect">
            <a:avLst/>
          </a:prstGeom>
          <a:noFill/>
        </p:spPr>
        <p:txBody>
          <a:bodyPr wrap="square" lIns="28575" rIns="28575" tIns="9525" bIns="9525" anchor="ctr">
            <a:spAutoFit/>
          </a:bodyPr>
          <a:lstStyle/>
          <a:p>
            <a:pPr algn="l"/>
            <a:r>
              <a:rPr sz="1100" b="0">
                <a:solidFill>
                  <a:srgbClr val="1F2933"/>
                </a:solidFill>
                <a:latin typeface="Calibri"/>
              </a:rPr>
              <a:t>combined share</a:t>
            </a:r>
          </a:p>
        </p:txBody>
      </p:sp>
      <p:sp>
        <p:nvSpPr>
          <p:cNvPr id="72" name="TextBox 71"/>
          <p:cNvSpPr txBox="1"/>
          <p:nvPr/>
        </p:nvSpPr>
        <p:spPr>
          <a:xfrm>
            <a:off x="190500" y="4705350"/>
            <a:ext cx="11811000" cy="171450"/>
          </a:xfrm>
          <a:prstGeom prst="rect">
            <a:avLst/>
          </a:prstGeom>
          <a:noFill/>
        </p:spPr>
        <p:txBody>
          <a:bodyPr wrap="square" lIns="28575" rIns="28575" tIns="9525" bIns="9525" anchor="t">
            <a:spAutoFit/>
          </a:bodyPr>
          <a:lstStyle/>
          <a:p>
            <a:pPr algn="l"/>
            <a:r>
              <a:rPr sz="1100" b="0">
                <a:solidFill>
                  <a:srgbClr val="1F2933"/>
                </a:solidFill>
                <a:latin typeface="Calibri"/>
              </a:rPr>
              <a:t>BY TYPE   Tier 1 4   |   Tier 2 2   |   Tier 3 4      BY REACH   Global 4   |   Regional 2   |   Local or niche 4</a:t>
            </a:r>
          </a:p>
        </p:txBody>
      </p:sp>
      <p:sp>
        <p:nvSpPr>
          <p:cNvPr id="73" name="Rectangle 72"/>
          <p:cNvSpPr/>
          <p:nvPr/>
        </p:nvSpPr>
        <p:spPr>
          <a:xfrm>
            <a:off x="190500" y="4972050"/>
            <a:ext cx="2809875" cy="381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190500" y="5048250"/>
            <a:ext cx="2809875" cy="171450"/>
          </a:xfrm>
          <a:prstGeom prst="rect">
            <a:avLst/>
          </a:prstGeom>
          <a:noFill/>
        </p:spPr>
        <p:txBody>
          <a:bodyPr wrap="square" lIns="28575" rIns="28575" tIns="9525" bIns="9525" anchor="t">
            <a:spAutoFit/>
          </a:bodyPr>
          <a:lstStyle/>
          <a:p>
            <a:pPr algn="l"/>
            <a:r>
              <a:rPr sz="1100" b="1">
                <a:solidFill>
                  <a:srgbClr val="1F2933"/>
                </a:solidFill>
                <a:latin typeface="Calibri"/>
              </a:rPr>
              <a:t>Tier 1</a:t>
            </a:r>
          </a:p>
        </p:txBody>
      </p:sp>
      <p:sp>
        <p:nvSpPr>
          <p:cNvPr id="75" name="TextBox 74"/>
          <p:cNvSpPr txBox="1"/>
          <p:nvPr/>
        </p:nvSpPr>
        <p:spPr>
          <a:xfrm>
            <a:off x="190500" y="5219700"/>
            <a:ext cx="2809875" cy="152400"/>
          </a:xfrm>
          <a:prstGeom prst="rect">
            <a:avLst/>
          </a:prstGeom>
          <a:noFill/>
        </p:spPr>
        <p:txBody>
          <a:bodyPr wrap="square" lIns="28575" rIns="28575" tIns="9525" bIns="9525" anchor="t">
            <a:spAutoFit/>
          </a:bodyPr>
          <a:lstStyle/>
          <a:p>
            <a:pPr algn="l"/>
            <a:r>
              <a:rPr sz="1100" b="1">
                <a:solidFill>
                  <a:srgbClr val="0F2D52"/>
                </a:solidFill>
                <a:latin typeface="Calibri"/>
              </a:rPr>
              <a:t>HOW IT EARNS</a:t>
            </a:r>
          </a:p>
        </p:txBody>
      </p:sp>
      <p:sp>
        <p:nvSpPr>
          <p:cNvPr id="76" name="TextBox 75"/>
          <p:cNvSpPr txBox="1"/>
          <p:nvPr/>
        </p:nvSpPr>
        <p:spPr>
          <a:xfrm>
            <a:off x="190500" y="5372100"/>
            <a:ext cx="2809875"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Direct + key accounts; premium / bundled positioning.</a:t>
            </a:r>
          </a:p>
        </p:txBody>
      </p:sp>
      <p:sp>
        <p:nvSpPr>
          <p:cNvPr id="77" name="TextBox 76"/>
          <p:cNvSpPr txBox="1"/>
          <p:nvPr/>
        </p:nvSpPr>
        <p:spPr>
          <a:xfrm>
            <a:off x="190500" y="5715000"/>
            <a:ext cx="2809875" cy="152400"/>
          </a:xfrm>
          <a:prstGeom prst="rect">
            <a:avLst/>
          </a:prstGeom>
          <a:noFill/>
        </p:spPr>
        <p:txBody>
          <a:bodyPr wrap="square" lIns="28575" rIns="28575" tIns="9525" bIns="9525" anchor="t">
            <a:spAutoFit/>
          </a:bodyPr>
          <a:lstStyle/>
          <a:p>
            <a:pPr algn="l"/>
            <a:r>
              <a:rPr sz="1100" b="1">
                <a:solidFill>
                  <a:srgbClr val="0F2D52"/>
                </a:solidFill>
                <a:latin typeface="Calibri"/>
              </a:rPr>
              <a:t>DOMINANT STRATEGY</a:t>
            </a:r>
          </a:p>
        </p:txBody>
      </p:sp>
      <p:sp>
        <p:nvSpPr>
          <p:cNvPr id="78" name="TextBox 77"/>
          <p:cNvSpPr txBox="1"/>
          <p:nvPr/>
        </p:nvSpPr>
        <p:spPr>
          <a:xfrm>
            <a:off x="190500" y="5867400"/>
            <a:ext cx="2809875"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
            </a:r>
          </a:p>
        </p:txBody>
      </p:sp>
      <p:sp>
        <p:nvSpPr>
          <p:cNvPr id="79" name="Rectangle 78"/>
          <p:cNvSpPr/>
          <p:nvPr/>
        </p:nvSpPr>
        <p:spPr>
          <a:xfrm>
            <a:off x="3190875" y="4972050"/>
            <a:ext cx="2809875" cy="3810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3190875" y="5048250"/>
            <a:ext cx="2809875" cy="171450"/>
          </a:xfrm>
          <a:prstGeom prst="rect">
            <a:avLst/>
          </a:prstGeom>
          <a:noFill/>
        </p:spPr>
        <p:txBody>
          <a:bodyPr wrap="square" lIns="28575" rIns="28575" tIns="9525" bIns="9525" anchor="t">
            <a:spAutoFit/>
          </a:bodyPr>
          <a:lstStyle/>
          <a:p>
            <a:pPr algn="l"/>
            <a:r>
              <a:rPr sz="1100" b="1">
                <a:solidFill>
                  <a:srgbClr val="1F2933"/>
                </a:solidFill>
                <a:latin typeface="Calibri"/>
              </a:rPr>
              <a:t>Tier 2</a:t>
            </a:r>
          </a:p>
        </p:txBody>
      </p:sp>
      <p:sp>
        <p:nvSpPr>
          <p:cNvPr id="81" name="TextBox 80"/>
          <p:cNvSpPr txBox="1"/>
          <p:nvPr/>
        </p:nvSpPr>
        <p:spPr>
          <a:xfrm>
            <a:off x="3190875" y="5219700"/>
            <a:ext cx="2809875" cy="152400"/>
          </a:xfrm>
          <a:prstGeom prst="rect">
            <a:avLst/>
          </a:prstGeom>
          <a:noFill/>
        </p:spPr>
        <p:txBody>
          <a:bodyPr wrap="square" lIns="28575" rIns="28575" tIns="9525" bIns="9525" anchor="t">
            <a:spAutoFit/>
          </a:bodyPr>
          <a:lstStyle/>
          <a:p>
            <a:pPr algn="l"/>
            <a:r>
              <a:rPr sz="1100" b="1">
                <a:solidFill>
                  <a:srgbClr val="0F2D52"/>
                </a:solidFill>
                <a:latin typeface="Calibri"/>
              </a:rPr>
              <a:t>HOW IT EARNS</a:t>
            </a:r>
          </a:p>
        </p:txBody>
      </p:sp>
      <p:sp>
        <p:nvSpPr>
          <p:cNvPr id="82" name="TextBox 81"/>
          <p:cNvSpPr txBox="1"/>
          <p:nvPr/>
        </p:nvSpPr>
        <p:spPr>
          <a:xfrm>
            <a:off x="3190875" y="5372100"/>
            <a:ext cx="2809875"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Distributors; mid / value-added positioning.</a:t>
            </a:r>
          </a:p>
        </p:txBody>
      </p:sp>
      <p:sp>
        <p:nvSpPr>
          <p:cNvPr id="83" name="TextBox 82"/>
          <p:cNvSpPr txBox="1"/>
          <p:nvPr/>
        </p:nvSpPr>
        <p:spPr>
          <a:xfrm>
            <a:off x="3190875" y="5715000"/>
            <a:ext cx="2809875" cy="152400"/>
          </a:xfrm>
          <a:prstGeom prst="rect">
            <a:avLst/>
          </a:prstGeom>
          <a:noFill/>
        </p:spPr>
        <p:txBody>
          <a:bodyPr wrap="square" lIns="28575" rIns="28575" tIns="9525" bIns="9525" anchor="t">
            <a:spAutoFit/>
          </a:bodyPr>
          <a:lstStyle/>
          <a:p>
            <a:pPr algn="l"/>
            <a:r>
              <a:rPr sz="1100" b="1">
                <a:solidFill>
                  <a:srgbClr val="0F2D52"/>
                </a:solidFill>
                <a:latin typeface="Calibri"/>
              </a:rPr>
              <a:t>DOMINANT STRATEGY</a:t>
            </a:r>
          </a:p>
        </p:txBody>
      </p:sp>
      <p:sp>
        <p:nvSpPr>
          <p:cNvPr id="84" name="TextBox 83"/>
          <p:cNvSpPr txBox="1"/>
          <p:nvPr/>
        </p:nvSpPr>
        <p:spPr>
          <a:xfrm>
            <a:off x="3190875" y="5867400"/>
            <a:ext cx="2809875"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
            </a:r>
          </a:p>
        </p:txBody>
      </p:sp>
      <p:sp>
        <p:nvSpPr>
          <p:cNvPr id="85" name="Rectangle 84"/>
          <p:cNvSpPr/>
          <p:nvPr/>
        </p:nvSpPr>
        <p:spPr>
          <a:xfrm>
            <a:off x="6191250" y="4972050"/>
            <a:ext cx="2809875" cy="3810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6191250" y="5048250"/>
            <a:ext cx="2809875" cy="171450"/>
          </a:xfrm>
          <a:prstGeom prst="rect">
            <a:avLst/>
          </a:prstGeom>
          <a:noFill/>
        </p:spPr>
        <p:txBody>
          <a:bodyPr wrap="square" lIns="28575" rIns="28575" tIns="9525" bIns="9525" anchor="t">
            <a:spAutoFit/>
          </a:bodyPr>
          <a:lstStyle/>
          <a:p>
            <a:pPr algn="l"/>
            <a:r>
              <a:rPr sz="1100" b="1">
                <a:solidFill>
                  <a:srgbClr val="1F2933"/>
                </a:solidFill>
                <a:latin typeface="Calibri"/>
              </a:rPr>
              <a:t>Tier 3</a:t>
            </a:r>
          </a:p>
        </p:txBody>
      </p:sp>
      <p:sp>
        <p:nvSpPr>
          <p:cNvPr id="87" name="TextBox 86"/>
          <p:cNvSpPr txBox="1"/>
          <p:nvPr/>
        </p:nvSpPr>
        <p:spPr>
          <a:xfrm>
            <a:off x="6191250" y="5219700"/>
            <a:ext cx="2809875" cy="152400"/>
          </a:xfrm>
          <a:prstGeom prst="rect">
            <a:avLst/>
          </a:prstGeom>
          <a:noFill/>
        </p:spPr>
        <p:txBody>
          <a:bodyPr wrap="square" lIns="28575" rIns="28575" tIns="9525" bIns="9525" anchor="t">
            <a:spAutoFit/>
          </a:bodyPr>
          <a:lstStyle/>
          <a:p>
            <a:pPr algn="l"/>
            <a:r>
              <a:rPr sz="1100" b="1">
                <a:solidFill>
                  <a:srgbClr val="0F2D52"/>
                </a:solidFill>
                <a:latin typeface="Calibri"/>
              </a:rPr>
              <a:t>HOW IT EARNS</a:t>
            </a:r>
          </a:p>
        </p:txBody>
      </p:sp>
      <p:sp>
        <p:nvSpPr>
          <p:cNvPr id="88" name="TextBox 87"/>
          <p:cNvSpPr txBox="1"/>
          <p:nvPr/>
        </p:nvSpPr>
        <p:spPr>
          <a:xfrm>
            <a:off x="6191250" y="5372100"/>
            <a:ext cx="2809875"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Regional partners; value / entry positioning.</a:t>
            </a:r>
          </a:p>
        </p:txBody>
      </p:sp>
      <p:sp>
        <p:nvSpPr>
          <p:cNvPr id="89" name="TextBox 88"/>
          <p:cNvSpPr txBox="1"/>
          <p:nvPr/>
        </p:nvSpPr>
        <p:spPr>
          <a:xfrm>
            <a:off x="6191250" y="5715000"/>
            <a:ext cx="2809875" cy="152400"/>
          </a:xfrm>
          <a:prstGeom prst="rect">
            <a:avLst/>
          </a:prstGeom>
          <a:noFill/>
        </p:spPr>
        <p:txBody>
          <a:bodyPr wrap="square" lIns="28575" rIns="28575" tIns="9525" bIns="9525" anchor="t">
            <a:spAutoFit/>
          </a:bodyPr>
          <a:lstStyle/>
          <a:p>
            <a:pPr algn="l"/>
            <a:r>
              <a:rPr sz="1100" b="1">
                <a:solidFill>
                  <a:srgbClr val="0F2D52"/>
                </a:solidFill>
                <a:latin typeface="Calibri"/>
              </a:rPr>
              <a:t>DOMINANT STRATEGY</a:t>
            </a:r>
          </a:p>
        </p:txBody>
      </p:sp>
      <p:sp>
        <p:nvSpPr>
          <p:cNvPr id="90" name="TextBox 89"/>
          <p:cNvSpPr txBox="1"/>
          <p:nvPr/>
        </p:nvSpPr>
        <p:spPr>
          <a:xfrm>
            <a:off x="6191250" y="5867400"/>
            <a:ext cx="2809875"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
            </a:r>
          </a:p>
        </p:txBody>
      </p:sp>
      <p:sp>
        <p:nvSpPr>
          <p:cNvPr id="91" name="Rectangle 90"/>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93" name="Picture 92" descr="lock.png"/>
          <p:cNvPicPr>
            <a:picLocks noChangeAspect="1"/>
          </p:cNvPicPr>
          <p:nvPr/>
        </p:nvPicPr>
        <p:blipFill>
          <a:blip r:embed="rId4"/>
          <a:stretch>
            <a:fillRect/>
          </a:stretch>
        </p:blipFill>
        <p:spPr>
          <a:xfrm>
            <a:off x="1059600" y="4487926"/>
            <a:ext cx="128699" cy="187198"/>
          </a:xfrm>
          <a:prstGeom prst="rect">
            <a:avLst/>
          </a:prstGeom>
        </p:spPr>
      </p:pic>
      <p:pic>
        <p:nvPicPr>
          <p:cNvPr id="94" name="Picture 93" descr="lock.png"/>
          <p:cNvPicPr>
            <a:picLocks noChangeAspect="1"/>
          </p:cNvPicPr>
          <p:nvPr/>
        </p:nvPicPr>
        <p:blipFill>
          <a:blip r:embed="rId4"/>
          <a:stretch>
            <a:fillRect/>
          </a:stretch>
        </p:blipFill>
        <p:spPr>
          <a:xfrm>
            <a:off x="3821850" y="4487926"/>
            <a:ext cx="128699" cy="187198"/>
          </a:xfrm>
          <a:prstGeom prst="rect">
            <a:avLst/>
          </a:prstGeom>
        </p:spPr>
      </p:pic>
      <p:pic>
        <p:nvPicPr>
          <p:cNvPr id="95" name="Picture 94" descr="lock.png"/>
          <p:cNvPicPr>
            <a:picLocks noChangeAspect="1"/>
          </p:cNvPicPr>
          <p:nvPr/>
        </p:nvPicPr>
        <p:blipFill>
          <a:blip r:embed="rId4"/>
          <a:stretch>
            <a:fillRect/>
          </a:stretch>
        </p:blipFill>
        <p:spPr>
          <a:xfrm>
            <a:off x="6584100" y="4487926"/>
            <a:ext cx="128699" cy="187198"/>
          </a:xfrm>
          <a:prstGeom prst="rect">
            <a:avLst/>
          </a:prstGeom>
        </p:spPr>
      </p:pic>
      <p:sp>
        <p:nvSpPr>
          <p:cNvPr id="96" name="TextBox 95"/>
          <p:cNvSpPr txBox="1"/>
          <p:nvPr/>
        </p:nvSpPr>
        <p:spPr>
          <a:xfrm>
            <a:off x="219075" y="5876925"/>
            <a:ext cx="1176610" cy="186689"/>
          </a:xfrm>
          <a:prstGeom prst="rect">
            <a:avLst/>
          </a:prstGeom>
          <a:noFill/>
        </p:spPr>
        <p:txBody>
          <a:bodyPr wrap="none" lIns="0" rIns="0" tIns="0" bIns="0">
            <a:spAutoFit/>
          </a:bodyPr>
          <a:lstStyle/>
          <a:p>
            <a:r>
              <a:rPr sz="1100" b="0">
                <a:solidFill>
                  <a:srgbClr val="1F2933"/>
                </a:solidFill>
                <a:latin typeface="Calibri"/>
              </a:rPr>
              <a:t>Launch-led growth;</a:t>
            </a:r>
          </a:p>
        </p:txBody>
      </p:sp>
      <p:pic>
        <p:nvPicPr>
          <p:cNvPr id="97" name="Picture 96" descr="lock.png"/>
          <p:cNvPicPr>
            <a:picLocks noChangeAspect="1"/>
          </p:cNvPicPr>
          <p:nvPr/>
        </p:nvPicPr>
        <p:blipFill>
          <a:blip r:embed="rId4"/>
          <a:stretch>
            <a:fillRect/>
          </a:stretch>
        </p:blipFill>
        <p:spPr>
          <a:xfrm>
            <a:off x="1343736" y="5867145"/>
            <a:ext cx="128699" cy="187198"/>
          </a:xfrm>
          <a:prstGeom prst="rect">
            <a:avLst/>
          </a:prstGeom>
        </p:spPr>
      </p:pic>
      <p:sp>
        <p:nvSpPr>
          <p:cNvPr id="98" name="TextBox 97"/>
          <p:cNvSpPr txBox="1"/>
          <p:nvPr/>
        </p:nvSpPr>
        <p:spPr>
          <a:xfrm>
            <a:off x="1511232" y="5876925"/>
            <a:ext cx="1022722" cy="186689"/>
          </a:xfrm>
          <a:prstGeom prst="rect">
            <a:avLst/>
          </a:prstGeom>
          <a:noFill/>
        </p:spPr>
        <p:txBody>
          <a:bodyPr wrap="none" lIns="0" rIns="0" tIns="0" bIns="0">
            <a:spAutoFit/>
          </a:bodyPr>
          <a:lstStyle/>
          <a:p>
            <a:r>
              <a:rPr sz="1100" b="0">
                <a:solidFill>
                  <a:srgbClr val="1F2933"/>
                </a:solidFill>
                <a:latin typeface="Calibri"/>
              </a:rPr>
              <a:t>combined share.</a:t>
            </a:r>
          </a:p>
        </p:txBody>
      </p:sp>
      <p:sp>
        <p:nvSpPr>
          <p:cNvPr id="99" name="TextBox 98"/>
          <p:cNvSpPr txBox="1"/>
          <p:nvPr/>
        </p:nvSpPr>
        <p:spPr>
          <a:xfrm>
            <a:off x="3219450" y="5876925"/>
            <a:ext cx="1176610" cy="186689"/>
          </a:xfrm>
          <a:prstGeom prst="rect">
            <a:avLst/>
          </a:prstGeom>
          <a:noFill/>
        </p:spPr>
        <p:txBody>
          <a:bodyPr wrap="none" lIns="0" rIns="0" tIns="0" bIns="0">
            <a:spAutoFit/>
          </a:bodyPr>
          <a:lstStyle/>
          <a:p>
            <a:r>
              <a:rPr sz="1100" b="0">
                <a:solidFill>
                  <a:srgbClr val="1F2933"/>
                </a:solidFill>
                <a:latin typeface="Calibri"/>
              </a:rPr>
              <a:t>Launch-led growth;</a:t>
            </a:r>
          </a:p>
        </p:txBody>
      </p:sp>
      <p:pic>
        <p:nvPicPr>
          <p:cNvPr id="100" name="Picture 99" descr="lock.png"/>
          <p:cNvPicPr>
            <a:picLocks noChangeAspect="1"/>
          </p:cNvPicPr>
          <p:nvPr/>
        </p:nvPicPr>
        <p:blipFill>
          <a:blip r:embed="rId4"/>
          <a:stretch>
            <a:fillRect/>
          </a:stretch>
        </p:blipFill>
        <p:spPr>
          <a:xfrm>
            <a:off x="4344111" y="5867145"/>
            <a:ext cx="128699" cy="187198"/>
          </a:xfrm>
          <a:prstGeom prst="rect">
            <a:avLst/>
          </a:prstGeom>
        </p:spPr>
      </p:pic>
      <p:sp>
        <p:nvSpPr>
          <p:cNvPr id="101" name="TextBox 100"/>
          <p:cNvSpPr txBox="1"/>
          <p:nvPr/>
        </p:nvSpPr>
        <p:spPr>
          <a:xfrm>
            <a:off x="4511607" y="5876925"/>
            <a:ext cx="1022722" cy="186689"/>
          </a:xfrm>
          <a:prstGeom prst="rect">
            <a:avLst/>
          </a:prstGeom>
          <a:noFill/>
        </p:spPr>
        <p:txBody>
          <a:bodyPr wrap="none" lIns="0" rIns="0" tIns="0" bIns="0">
            <a:spAutoFit/>
          </a:bodyPr>
          <a:lstStyle/>
          <a:p>
            <a:r>
              <a:rPr sz="1100" b="0">
                <a:solidFill>
                  <a:srgbClr val="1F2933"/>
                </a:solidFill>
                <a:latin typeface="Calibri"/>
              </a:rPr>
              <a:t>combined share.</a:t>
            </a:r>
          </a:p>
        </p:txBody>
      </p:sp>
      <p:sp>
        <p:nvSpPr>
          <p:cNvPr id="102" name="TextBox 101"/>
          <p:cNvSpPr txBox="1"/>
          <p:nvPr/>
        </p:nvSpPr>
        <p:spPr>
          <a:xfrm>
            <a:off x="6219825" y="5876925"/>
            <a:ext cx="1176610" cy="186689"/>
          </a:xfrm>
          <a:prstGeom prst="rect">
            <a:avLst/>
          </a:prstGeom>
          <a:noFill/>
        </p:spPr>
        <p:txBody>
          <a:bodyPr wrap="none" lIns="0" rIns="0" tIns="0" bIns="0">
            <a:spAutoFit/>
          </a:bodyPr>
          <a:lstStyle/>
          <a:p>
            <a:r>
              <a:rPr sz="1100" b="0">
                <a:solidFill>
                  <a:srgbClr val="1F2933"/>
                </a:solidFill>
                <a:latin typeface="Calibri"/>
              </a:rPr>
              <a:t>Launch-led growth;</a:t>
            </a:r>
          </a:p>
        </p:txBody>
      </p:sp>
      <p:pic>
        <p:nvPicPr>
          <p:cNvPr id="103" name="Picture 102" descr="lock.png"/>
          <p:cNvPicPr>
            <a:picLocks noChangeAspect="1"/>
          </p:cNvPicPr>
          <p:nvPr/>
        </p:nvPicPr>
        <p:blipFill>
          <a:blip r:embed="rId4"/>
          <a:stretch>
            <a:fillRect/>
          </a:stretch>
        </p:blipFill>
        <p:spPr>
          <a:xfrm>
            <a:off x="7344486" y="5867145"/>
            <a:ext cx="128699" cy="187198"/>
          </a:xfrm>
          <a:prstGeom prst="rect">
            <a:avLst/>
          </a:prstGeom>
        </p:spPr>
      </p:pic>
      <p:sp>
        <p:nvSpPr>
          <p:cNvPr id="104" name="TextBox 103"/>
          <p:cNvSpPr txBox="1"/>
          <p:nvPr/>
        </p:nvSpPr>
        <p:spPr>
          <a:xfrm>
            <a:off x="7511982" y="5876925"/>
            <a:ext cx="1022722" cy="186689"/>
          </a:xfrm>
          <a:prstGeom prst="rect">
            <a:avLst/>
          </a:prstGeom>
          <a:noFill/>
        </p:spPr>
        <p:txBody>
          <a:bodyPr wrap="none" lIns="0" rIns="0" tIns="0" bIns="0">
            <a:spAutoFit/>
          </a:bodyPr>
          <a:lstStyle/>
          <a:p>
            <a:r>
              <a:rPr sz="1100" b="0">
                <a:solidFill>
                  <a:srgbClr val="1F2933"/>
                </a:solidFill>
                <a:latin typeface="Calibri"/>
              </a:rPr>
              <a:t>combined share.</a:t>
            </a:r>
          </a:p>
        </p:txBody>
      </p:sp>
    </p:spTree>
  </p:cSld>
  <p:clrMapOvr>
    <a:masterClrMapping/>
  </p:clrMapOvr>
</p:sld>
</file>

<file path=ppt/slides/slide2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Egg Protein Membrane Market Corporate Scorecard: Who They Are</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Eight corporate Ps for every named competitor: ownership, strategy, breadth, presence, scale and performance</a:t>
            </a:r>
          </a:p>
        </p:txBody>
      </p:sp>
      <p:sp>
        <p:nvSpPr>
          <p:cNvPr id="7" name="Rectangle 6"/>
          <p:cNvSpPr/>
          <p:nvPr/>
        </p:nvSpPr>
        <p:spPr>
          <a:xfrm>
            <a:off x="190500" y="1047750"/>
            <a:ext cx="11811000" cy="2095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66700" y="1047750"/>
            <a:ext cx="6667500" cy="209550"/>
          </a:xfrm>
          <a:prstGeom prst="rect">
            <a:avLst/>
          </a:prstGeom>
          <a:noFill/>
        </p:spPr>
        <p:txBody>
          <a:bodyPr wrap="square" lIns="28575" rIns="28575" tIns="9525" bIns="9525" anchor="ctr">
            <a:spAutoFit/>
          </a:bodyPr>
          <a:lstStyle/>
          <a:p>
            <a:pPr algn="l"/>
            <a:r>
              <a:rPr sz="1100" b="1">
                <a:solidFill>
                  <a:srgbClr val="FFFFFF"/>
                </a:solidFill>
                <a:latin typeface="Calibri"/>
              </a:rPr>
              <a:t>LEVEL 1, CORPORATE: WHO THEY ARE</a:t>
            </a:r>
          </a:p>
        </p:txBody>
      </p:sp>
      <p:sp>
        <p:nvSpPr>
          <p:cNvPr id="9" name="TextBox 8"/>
          <p:cNvSpPr txBox="1"/>
          <p:nvPr/>
        </p:nvSpPr>
        <p:spPr>
          <a:xfrm>
            <a:off x="3086100" y="1295400"/>
            <a:ext cx="2055586"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Parent and ownership</a:t>
            </a:r>
          </a:p>
        </p:txBody>
      </p:sp>
      <p:sp>
        <p:nvSpPr>
          <p:cNvPr id="10" name="TextBox 9"/>
          <p:cNvSpPr txBox="1"/>
          <p:nvPr/>
        </p:nvSpPr>
        <p:spPr>
          <a:xfrm>
            <a:off x="3086100" y="1657350"/>
            <a:ext cx="2055586"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From the company roster</a:t>
            </a:r>
          </a:p>
        </p:txBody>
      </p:sp>
      <p:sp>
        <p:nvSpPr>
          <p:cNvPr id="11" name="TextBox 10"/>
          <p:cNvSpPr txBox="1"/>
          <p:nvPr/>
        </p:nvSpPr>
        <p:spPr>
          <a:xfrm>
            <a:off x="5217886" y="1295400"/>
            <a:ext cx="1060752"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Purpose (strategy)</a:t>
            </a:r>
          </a:p>
        </p:txBody>
      </p:sp>
      <p:sp>
        <p:nvSpPr>
          <p:cNvPr id="12" name="TextBox 11"/>
          <p:cNvSpPr txBox="1"/>
          <p:nvPr/>
        </p:nvSpPr>
        <p:spPr>
          <a:xfrm>
            <a:off x="5217886" y="1657350"/>
            <a:ext cx="1060752"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Dominant active move</a:t>
            </a:r>
          </a:p>
        </p:txBody>
      </p:sp>
      <p:sp>
        <p:nvSpPr>
          <p:cNvPr id="13" name="TextBox 12"/>
          <p:cNvSpPr txBox="1"/>
          <p:nvPr/>
        </p:nvSpPr>
        <p:spPr>
          <a:xfrm>
            <a:off x="6354838" y="1295400"/>
            <a:ext cx="871260"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Portfolio breadth</a:t>
            </a:r>
          </a:p>
        </p:txBody>
      </p:sp>
      <p:sp>
        <p:nvSpPr>
          <p:cNvPr id="14" name="TextBox 13"/>
          <p:cNvSpPr txBox="1"/>
          <p:nvPr/>
        </p:nvSpPr>
        <p:spPr>
          <a:xfrm>
            <a:off x="6354838" y="1657350"/>
            <a:ext cx="871260"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Sub-segments: 6+ 3, 4+ 2, 2+ 1</a:t>
            </a:r>
          </a:p>
        </p:txBody>
      </p:sp>
      <p:sp>
        <p:nvSpPr>
          <p:cNvPr id="15" name="TextBox 14"/>
          <p:cNvSpPr txBox="1"/>
          <p:nvPr/>
        </p:nvSpPr>
        <p:spPr>
          <a:xfrm>
            <a:off x="7302298" y="1295400"/>
            <a:ext cx="871260"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Presence</a:t>
            </a:r>
          </a:p>
        </p:txBody>
      </p:sp>
      <p:sp>
        <p:nvSpPr>
          <p:cNvPr id="16" name="TextBox 15"/>
          <p:cNvSpPr txBox="1"/>
          <p:nvPr/>
        </p:nvSpPr>
        <p:spPr>
          <a:xfrm>
            <a:off x="7302298" y="1657350"/>
            <a:ext cx="871260"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Global 3, regional 2, local 1</a:t>
            </a:r>
          </a:p>
        </p:txBody>
      </p:sp>
      <p:sp>
        <p:nvSpPr>
          <p:cNvPr id="17" name="TextBox 16"/>
          <p:cNvSpPr txBox="1"/>
          <p:nvPr/>
        </p:nvSpPr>
        <p:spPr>
          <a:xfrm>
            <a:off x="8249759" y="1295400"/>
            <a:ext cx="871260"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Power (scale)</a:t>
            </a:r>
          </a:p>
        </p:txBody>
      </p:sp>
      <p:sp>
        <p:nvSpPr>
          <p:cNvPr id="18" name="TextBox 17"/>
          <p:cNvSpPr txBox="1"/>
          <p:nvPr/>
        </p:nvSpPr>
        <p:spPr>
          <a:xfrm>
            <a:off x="8249759" y="1657350"/>
            <a:ext cx="871260"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Tier 1 = 3, 2 = 2, 3 = 1</a:t>
            </a:r>
          </a:p>
        </p:txBody>
      </p:sp>
      <p:sp>
        <p:nvSpPr>
          <p:cNvPr id="19" name="TextBox 18"/>
          <p:cNvSpPr txBox="1"/>
          <p:nvPr/>
        </p:nvSpPr>
        <p:spPr>
          <a:xfrm>
            <a:off x="9197219" y="1295400"/>
            <a:ext cx="871260"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Performance</a:t>
            </a:r>
          </a:p>
        </p:txBody>
      </p:sp>
      <p:sp>
        <p:nvSpPr>
          <p:cNvPr id="20" name="TextBox 19"/>
          <p:cNvSpPr txBox="1"/>
          <p:nvPr/>
        </p:nvSpPr>
        <p:spPr>
          <a:xfrm>
            <a:off x="9197219" y="1657350"/>
            <a:ext cx="871260"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
            </a:r>
          </a:p>
        </p:txBody>
      </p:sp>
      <p:sp>
        <p:nvSpPr>
          <p:cNvPr id="21" name="TextBox 20"/>
          <p:cNvSpPr txBox="1"/>
          <p:nvPr/>
        </p:nvSpPr>
        <p:spPr>
          <a:xfrm>
            <a:off x="10144679" y="1295400"/>
            <a:ext cx="871260"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People</a:t>
            </a:r>
          </a:p>
        </p:txBody>
      </p:sp>
      <p:sp>
        <p:nvSpPr>
          <p:cNvPr id="22" name="TextBox 21"/>
          <p:cNvSpPr txBox="1"/>
          <p:nvPr/>
        </p:nvSpPr>
        <p:spPr>
          <a:xfrm>
            <a:off x="10144679" y="1657350"/>
            <a:ext cx="871260"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Talent; not assessed</a:t>
            </a:r>
          </a:p>
        </p:txBody>
      </p:sp>
      <p:sp>
        <p:nvSpPr>
          <p:cNvPr id="23" name="TextBox 22"/>
          <p:cNvSpPr txBox="1"/>
          <p:nvPr/>
        </p:nvSpPr>
        <p:spPr>
          <a:xfrm>
            <a:off x="11092140" y="1295400"/>
            <a:ext cx="871260"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Partnerships</a:t>
            </a:r>
          </a:p>
        </p:txBody>
      </p:sp>
      <p:sp>
        <p:nvSpPr>
          <p:cNvPr id="24" name="TextBox 23"/>
          <p:cNvSpPr txBox="1"/>
          <p:nvPr/>
        </p:nvSpPr>
        <p:spPr>
          <a:xfrm>
            <a:off x="11092140" y="1657350"/>
            <a:ext cx="871260"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Named alliances</a:t>
            </a:r>
          </a:p>
        </p:txBody>
      </p:sp>
      <p:cxnSp>
        <p:nvCxnSpPr>
          <p:cNvPr id="25" name="Connector 24"/>
          <p:cNvCxnSpPr/>
          <p:nvPr/>
        </p:nvCxnSpPr>
        <p:spPr>
          <a:xfrm>
            <a:off x="190500" y="2209800"/>
            <a:ext cx="11811000" cy="0"/>
          </a:xfrm>
          <a:prstGeom prst="line">
            <a:avLst/>
          </a:prstGeom>
          <a:ln w="12700">
            <a:solidFill>
              <a:srgbClr val="0F2D52"/>
            </a:solidFill>
          </a:ln>
          <a:effectLst/>
        </p:spPr>
        <p:style>
          <a:lnRef idx="2">
            <a:schemeClr val="accent1"/>
          </a:lnRef>
          <a:fillRef idx="0">
            <a:schemeClr val="accent1"/>
          </a:fillRef>
          <a:effectRef idx="1">
            <a:schemeClr val="accent1"/>
          </a:effectRef>
          <a:fontRef idx="minor">
            <a:schemeClr val="tx1"/>
          </a:fontRef>
        </p:style>
      </p:cxnSp>
      <p:sp>
        <p:nvSpPr>
          <p:cNvPr id="26" name="Rectangle 25"/>
          <p:cNvSpPr/>
          <p:nvPr/>
        </p:nvSpPr>
        <p:spPr>
          <a:xfrm>
            <a:off x="190500" y="22574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85750" y="2247900"/>
            <a:ext cx="2743200" cy="171450"/>
          </a:xfrm>
          <a:prstGeom prst="rect">
            <a:avLst/>
          </a:prstGeom>
          <a:noFill/>
        </p:spPr>
        <p:txBody>
          <a:bodyPr wrap="square" lIns="28575" rIns="28575" tIns="9525" bIns="9525" anchor="t">
            <a:spAutoFit/>
          </a:bodyPr>
          <a:lstStyle/>
          <a:p>
            <a:pPr algn="l"/>
            <a:r>
              <a:rPr sz="1100" b="1">
                <a:solidFill>
                  <a:srgbClr val="1F2933"/>
                </a:solidFill>
                <a:latin typeface="Calibri"/>
              </a:rPr>
              <a:t>ESM Technologies, LLC</a:t>
            </a:r>
          </a:p>
        </p:txBody>
      </p:sp>
      <p:sp>
        <p:nvSpPr>
          <p:cNvPr id="28" name="TextBox 27"/>
          <p:cNvSpPr txBox="1"/>
          <p:nvPr/>
        </p:nvSpPr>
        <p:spPr>
          <a:xfrm>
            <a:off x="285750" y="2409825"/>
            <a:ext cx="2743200"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29" name="TextBox 28"/>
          <p:cNvSpPr txBox="1"/>
          <p:nvPr/>
        </p:nvSpPr>
        <p:spPr>
          <a:xfrm>
            <a:off x="3048000" y="2228850"/>
            <a:ext cx="213178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30" name="TextBox 29"/>
          <p:cNvSpPr txBox="1"/>
          <p:nvPr/>
        </p:nvSpPr>
        <p:spPr>
          <a:xfrm>
            <a:off x="5217886" y="2228850"/>
            <a:ext cx="1060752"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Buy to scale</a:t>
            </a:r>
          </a:p>
        </p:txBody>
      </p:sp>
      <p:sp>
        <p:nvSpPr>
          <p:cNvPr id="31" name="Oval 30"/>
          <p:cNvSpPr/>
          <p:nvPr/>
        </p:nvSpPr>
        <p:spPr>
          <a:xfrm>
            <a:off x="6714268" y="23241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7661729" y="23241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8609189" y="23241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9556649" y="23241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106579" y="2228850"/>
            <a:ext cx="947460"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36" name="TextBox 35"/>
          <p:cNvSpPr txBox="1"/>
          <p:nvPr/>
        </p:nvSpPr>
        <p:spPr>
          <a:xfrm>
            <a:off x="11054040" y="2228850"/>
            <a:ext cx="947460"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37" name="Connector 36"/>
          <p:cNvCxnSpPr/>
          <p:nvPr/>
        </p:nvCxnSpPr>
        <p:spPr>
          <a:xfrm>
            <a:off x="190500" y="25717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38" name="Rectangle 37"/>
          <p:cNvSpPr/>
          <p:nvPr/>
        </p:nvSpPr>
        <p:spPr>
          <a:xfrm>
            <a:off x="190500" y="26003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285750" y="2590800"/>
            <a:ext cx="2743200" cy="171450"/>
          </a:xfrm>
          <a:prstGeom prst="rect">
            <a:avLst/>
          </a:prstGeom>
          <a:noFill/>
        </p:spPr>
        <p:txBody>
          <a:bodyPr wrap="square" lIns="28575" rIns="28575" tIns="9525" bIns="9525" anchor="t">
            <a:spAutoFit/>
          </a:bodyPr>
          <a:lstStyle/>
          <a:p>
            <a:pPr algn="l"/>
            <a:r>
              <a:rPr sz="1100" b="1">
                <a:solidFill>
                  <a:srgbClr val="1F2933"/>
                </a:solidFill>
                <a:latin typeface="Calibri"/>
              </a:rPr>
              <a:t>Company</a:t>
            </a:r>
          </a:p>
        </p:txBody>
      </p:sp>
      <p:sp>
        <p:nvSpPr>
          <p:cNvPr id="40" name="TextBox 39"/>
          <p:cNvSpPr txBox="1"/>
          <p:nvPr/>
        </p:nvSpPr>
        <p:spPr>
          <a:xfrm>
            <a:off x="285750" y="2752725"/>
            <a:ext cx="2743200"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41" name="TextBox 40"/>
          <p:cNvSpPr txBox="1"/>
          <p:nvPr/>
        </p:nvSpPr>
        <p:spPr>
          <a:xfrm>
            <a:off x="3048000" y="2571750"/>
            <a:ext cx="213178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42" name="TextBox 41"/>
          <p:cNvSpPr txBox="1"/>
          <p:nvPr/>
        </p:nvSpPr>
        <p:spPr>
          <a:xfrm>
            <a:off x="5217886" y="2571750"/>
            <a:ext cx="1060752"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Launch-led growth</a:t>
            </a:r>
          </a:p>
        </p:txBody>
      </p:sp>
      <p:sp>
        <p:nvSpPr>
          <p:cNvPr id="43" name="Oval 42"/>
          <p:cNvSpPr/>
          <p:nvPr/>
        </p:nvSpPr>
        <p:spPr>
          <a:xfrm>
            <a:off x="6714268" y="26670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Freeform 43"/>
          <p:cNvSpPr/>
          <p:nvPr/>
        </p:nvSpPr>
        <p:spPr>
          <a:xfrm>
            <a:off x="6791325" y="26670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7661729" y="26670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8609189" y="26670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9556649" y="26670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0106579" y="2571750"/>
            <a:ext cx="947460"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49" name="TextBox 48"/>
          <p:cNvSpPr txBox="1"/>
          <p:nvPr/>
        </p:nvSpPr>
        <p:spPr>
          <a:xfrm>
            <a:off x="11054040" y="2571750"/>
            <a:ext cx="947460"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50" name="Connector 49"/>
          <p:cNvCxnSpPr/>
          <p:nvPr/>
        </p:nvCxnSpPr>
        <p:spPr>
          <a:xfrm>
            <a:off x="190500" y="29146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51" name="Rectangle 50"/>
          <p:cNvSpPr/>
          <p:nvPr/>
        </p:nvSpPr>
        <p:spPr>
          <a:xfrm>
            <a:off x="190500" y="29432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285750" y="2933700"/>
            <a:ext cx="2743200" cy="171450"/>
          </a:xfrm>
          <a:prstGeom prst="rect">
            <a:avLst/>
          </a:prstGeom>
          <a:noFill/>
        </p:spPr>
        <p:txBody>
          <a:bodyPr wrap="square" lIns="28575" rIns="28575" tIns="9525" bIns="9525" anchor="t">
            <a:spAutoFit/>
          </a:bodyPr>
          <a:lstStyle/>
          <a:p>
            <a:pPr algn="l"/>
            <a:r>
              <a:rPr sz="1100" b="1">
                <a:solidFill>
                  <a:srgbClr val="1F2933"/>
                </a:solidFill>
                <a:latin typeface="Calibri"/>
              </a:rPr>
              <a:t>Biova, LLC</a:t>
            </a:r>
          </a:p>
        </p:txBody>
      </p:sp>
      <p:sp>
        <p:nvSpPr>
          <p:cNvPr id="53" name="TextBox 52"/>
          <p:cNvSpPr txBox="1"/>
          <p:nvPr/>
        </p:nvSpPr>
        <p:spPr>
          <a:xfrm>
            <a:off x="285750" y="3095625"/>
            <a:ext cx="2743200"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54" name="TextBox 53"/>
          <p:cNvSpPr txBox="1"/>
          <p:nvPr/>
        </p:nvSpPr>
        <p:spPr>
          <a:xfrm>
            <a:off x="3048000" y="2914650"/>
            <a:ext cx="213178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55" name="TextBox 54"/>
          <p:cNvSpPr txBox="1"/>
          <p:nvPr/>
        </p:nvSpPr>
        <p:spPr>
          <a:xfrm>
            <a:off x="5217886" y="2914650"/>
            <a:ext cx="1060752"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Buy to scale</a:t>
            </a:r>
          </a:p>
        </p:txBody>
      </p:sp>
      <p:sp>
        <p:nvSpPr>
          <p:cNvPr id="56" name="Oval 55"/>
          <p:cNvSpPr/>
          <p:nvPr/>
        </p:nvSpPr>
        <p:spPr>
          <a:xfrm>
            <a:off x="6714268" y="30099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Oval 56"/>
          <p:cNvSpPr/>
          <p:nvPr/>
        </p:nvSpPr>
        <p:spPr>
          <a:xfrm>
            <a:off x="7661729" y="30099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Oval 57"/>
          <p:cNvSpPr/>
          <p:nvPr/>
        </p:nvSpPr>
        <p:spPr>
          <a:xfrm>
            <a:off x="8609189" y="30099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Oval 58"/>
          <p:cNvSpPr/>
          <p:nvPr/>
        </p:nvSpPr>
        <p:spPr>
          <a:xfrm>
            <a:off x="9556649" y="30099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Freeform 59"/>
          <p:cNvSpPr/>
          <p:nvPr/>
        </p:nvSpPr>
        <p:spPr>
          <a:xfrm>
            <a:off x="9629775" y="30099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10106579" y="2914650"/>
            <a:ext cx="947460"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62" name="TextBox 61"/>
          <p:cNvSpPr txBox="1"/>
          <p:nvPr/>
        </p:nvSpPr>
        <p:spPr>
          <a:xfrm>
            <a:off x="11054040" y="2914650"/>
            <a:ext cx="947460"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63" name="Connector 62"/>
          <p:cNvCxnSpPr/>
          <p:nvPr/>
        </p:nvCxnSpPr>
        <p:spPr>
          <a:xfrm>
            <a:off x="190500" y="32575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64" name="Rectangle 63"/>
          <p:cNvSpPr/>
          <p:nvPr/>
        </p:nvSpPr>
        <p:spPr>
          <a:xfrm>
            <a:off x="190500" y="32861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285750" y="3276600"/>
            <a:ext cx="2743200" cy="171450"/>
          </a:xfrm>
          <a:prstGeom prst="rect">
            <a:avLst/>
          </a:prstGeom>
          <a:noFill/>
        </p:spPr>
        <p:txBody>
          <a:bodyPr wrap="square" lIns="28575" rIns="28575" tIns="9525" bIns="9525" anchor="t">
            <a:spAutoFit/>
          </a:bodyPr>
          <a:lstStyle/>
          <a:p>
            <a:pPr algn="l"/>
            <a:r>
              <a:rPr sz="1100" b="1">
                <a:solidFill>
                  <a:srgbClr val="1F2933"/>
                </a:solidFill>
                <a:latin typeface="Calibri"/>
              </a:rPr>
              <a:t>Eggnovo S.L.</a:t>
            </a:r>
          </a:p>
        </p:txBody>
      </p:sp>
      <p:sp>
        <p:nvSpPr>
          <p:cNvPr id="66" name="TextBox 65"/>
          <p:cNvSpPr txBox="1"/>
          <p:nvPr/>
        </p:nvSpPr>
        <p:spPr>
          <a:xfrm>
            <a:off x="285750" y="3438525"/>
            <a:ext cx="2743200"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67" name="TextBox 66"/>
          <p:cNvSpPr txBox="1"/>
          <p:nvPr/>
        </p:nvSpPr>
        <p:spPr>
          <a:xfrm>
            <a:off x="3048000" y="3257550"/>
            <a:ext cx="213178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68" name="TextBox 67"/>
          <p:cNvSpPr txBox="1"/>
          <p:nvPr/>
        </p:nvSpPr>
        <p:spPr>
          <a:xfrm>
            <a:off x="5217886" y="3257550"/>
            <a:ext cx="1060752"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Launch-led growth</a:t>
            </a:r>
          </a:p>
        </p:txBody>
      </p:sp>
      <p:sp>
        <p:nvSpPr>
          <p:cNvPr id="69" name="Oval 68"/>
          <p:cNvSpPr/>
          <p:nvPr/>
        </p:nvSpPr>
        <p:spPr>
          <a:xfrm>
            <a:off x="6714268" y="33528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Freeform 69"/>
          <p:cNvSpPr/>
          <p:nvPr/>
        </p:nvSpPr>
        <p:spPr>
          <a:xfrm>
            <a:off x="6791325" y="33528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Oval 70"/>
          <p:cNvSpPr/>
          <p:nvPr/>
        </p:nvSpPr>
        <p:spPr>
          <a:xfrm>
            <a:off x="7661729" y="33528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Oval 71"/>
          <p:cNvSpPr/>
          <p:nvPr/>
        </p:nvSpPr>
        <p:spPr>
          <a:xfrm>
            <a:off x="8609189" y="33528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Oval 72"/>
          <p:cNvSpPr/>
          <p:nvPr/>
        </p:nvSpPr>
        <p:spPr>
          <a:xfrm>
            <a:off x="9556649" y="33528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Freeform 73"/>
          <p:cNvSpPr/>
          <p:nvPr/>
        </p:nvSpPr>
        <p:spPr>
          <a:xfrm>
            <a:off x="9629775" y="33528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10106579" y="3257550"/>
            <a:ext cx="947460"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76" name="TextBox 75"/>
          <p:cNvSpPr txBox="1"/>
          <p:nvPr/>
        </p:nvSpPr>
        <p:spPr>
          <a:xfrm>
            <a:off x="11054040" y="3257550"/>
            <a:ext cx="947460"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77" name="Connector 76"/>
          <p:cNvCxnSpPr/>
          <p:nvPr/>
        </p:nvCxnSpPr>
        <p:spPr>
          <a:xfrm>
            <a:off x="190500" y="36004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78" name="Rectangle 77"/>
          <p:cNvSpPr/>
          <p:nvPr/>
        </p:nvSpPr>
        <p:spPr>
          <a:xfrm>
            <a:off x="190500" y="3629025"/>
            <a:ext cx="38100" cy="28575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285750" y="3619500"/>
            <a:ext cx="2743200" cy="171450"/>
          </a:xfrm>
          <a:prstGeom prst="rect">
            <a:avLst/>
          </a:prstGeom>
          <a:noFill/>
        </p:spPr>
        <p:txBody>
          <a:bodyPr wrap="square" lIns="28575" rIns="28575" tIns="9525" bIns="9525" anchor="t">
            <a:spAutoFit/>
          </a:bodyPr>
          <a:lstStyle/>
          <a:p>
            <a:pPr algn="l"/>
            <a:r>
              <a:rPr sz="1100" b="1">
                <a:solidFill>
                  <a:srgbClr val="1F2933"/>
                </a:solidFill>
                <a:latin typeface="Calibri"/>
              </a:rPr>
              <a:t>Dutch Eggmembrane Protein Powder</a:t>
            </a:r>
          </a:p>
        </p:txBody>
      </p:sp>
      <p:sp>
        <p:nvSpPr>
          <p:cNvPr id="80" name="TextBox 79"/>
          <p:cNvSpPr txBox="1"/>
          <p:nvPr/>
        </p:nvSpPr>
        <p:spPr>
          <a:xfrm>
            <a:off x="285750" y="3781425"/>
            <a:ext cx="2743200" cy="152400"/>
          </a:xfrm>
          <a:prstGeom prst="rect">
            <a:avLst/>
          </a:prstGeom>
          <a:noFill/>
        </p:spPr>
        <p:txBody>
          <a:bodyPr wrap="square" lIns="28575" rIns="28575" tIns="9525" bIns="9525" anchor="t">
            <a:spAutoFit/>
          </a:bodyPr>
          <a:lstStyle/>
          <a:p>
            <a:pPr algn="l"/>
            <a:r>
              <a:rPr sz="1100" b="0">
                <a:solidFill>
                  <a:srgbClr val="5F6B7A"/>
                </a:solidFill>
                <a:latin typeface="Calibri"/>
              </a:rPr>
              <a:t>Tier 2</a:t>
            </a:r>
          </a:p>
        </p:txBody>
      </p:sp>
      <p:sp>
        <p:nvSpPr>
          <p:cNvPr id="81" name="TextBox 80"/>
          <p:cNvSpPr txBox="1"/>
          <p:nvPr/>
        </p:nvSpPr>
        <p:spPr>
          <a:xfrm>
            <a:off x="3048000" y="3600450"/>
            <a:ext cx="213178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82" name="TextBox 81"/>
          <p:cNvSpPr txBox="1"/>
          <p:nvPr/>
        </p:nvSpPr>
        <p:spPr>
          <a:xfrm>
            <a:off x="5217886" y="3600450"/>
            <a:ext cx="1060752"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Buy to scale</a:t>
            </a:r>
          </a:p>
        </p:txBody>
      </p:sp>
      <p:sp>
        <p:nvSpPr>
          <p:cNvPr id="83" name="Oval 82"/>
          <p:cNvSpPr/>
          <p:nvPr/>
        </p:nvSpPr>
        <p:spPr>
          <a:xfrm>
            <a:off x="6714268" y="3695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Freeform 83"/>
          <p:cNvSpPr/>
          <p:nvPr/>
        </p:nvSpPr>
        <p:spPr>
          <a:xfrm>
            <a:off x="6791325" y="36957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Oval 84"/>
          <p:cNvSpPr/>
          <p:nvPr/>
        </p:nvSpPr>
        <p:spPr>
          <a:xfrm>
            <a:off x="7661729" y="3695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Freeform 85"/>
          <p:cNvSpPr/>
          <p:nvPr/>
        </p:nvSpPr>
        <p:spPr>
          <a:xfrm>
            <a:off x="7734300" y="3695700"/>
            <a:ext cx="76200" cy="152400"/>
          </a:xfrm>
          <a:custGeom>
            <a:avLst/>
            <a:gdLst/>
            <a:ahLst/>
            <a:cxnLst/>
            <a:rect l="l" t="t" r="r" b="b"/>
            <a:pathLst>
              <a:path w="8" h="16">
                <a:moveTo>
                  <a:pt x="0" y="8"/>
                </a:moveTo>
                <a:lnTo>
                  <a:pt x="0" y="0"/>
                </a:lnTo>
                <a:lnTo>
                  <a:pt x="2" y="0"/>
                </a:lnTo>
                <a:lnTo>
                  <a:pt x="3" y="0"/>
                </a:lnTo>
                <a:lnTo>
                  <a:pt x="4" y="1"/>
                </a:lnTo>
                <a:lnTo>
                  <a:pt x="6" y="2"/>
                </a:lnTo>
                <a:lnTo>
                  <a:pt x="7" y="3"/>
                </a:lnTo>
                <a:lnTo>
                  <a:pt x="7" y="4"/>
                </a:lnTo>
                <a:lnTo>
                  <a:pt x="8" y="5"/>
                </a:lnTo>
                <a:lnTo>
                  <a:pt x="8" y="7"/>
                </a:lnTo>
                <a:lnTo>
                  <a:pt x="8" y="8"/>
                </a:lnTo>
                <a:lnTo>
                  <a:pt x="8" y="9"/>
                </a:lnTo>
                <a:lnTo>
                  <a:pt x="8" y="11"/>
                </a:lnTo>
                <a:lnTo>
                  <a:pt x="7" y="12"/>
                </a:lnTo>
                <a:lnTo>
                  <a:pt x="7" y="13"/>
                </a:lnTo>
                <a:lnTo>
                  <a:pt x="6"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Oval 86"/>
          <p:cNvSpPr/>
          <p:nvPr/>
        </p:nvSpPr>
        <p:spPr>
          <a:xfrm>
            <a:off x="8609189" y="3695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Freeform 87"/>
          <p:cNvSpPr/>
          <p:nvPr/>
        </p:nvSpPr>
        <p:spPr>
          <a:xfrm>
            <a:off x="8686800" y="36957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Oval 88"/>
          <p:cNvSpPr/>
          <p:nvPr/>
        </p:nvSpPr>
        <p:spPr>
          <a:xfrm>
            <a:off x="9556649" y="3695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Freeform 89"/>
          <p:cNvSpPr/>
          <p:nvPr/>
        </p:nvSpPr>
        <p:spPr>
          <a:xfrm>
            <a:off x="9629775" y="36957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10106579" y="3600450"/>
            <a:ext cx="947460"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92" name="TextBox 91"/>
          <p:cNvSpPr txBox="1"/>
          <p:nvPr/>
        </p:nvSpPr>
        <p:spPr>
          <a:xfrm>
            <a:off x="11054040" y="3600450"/>
            <a:ext cx="947460"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93" name="Connector 92"/>
          <p:cNvCxnSpPr/>
          <p:nvPr/>
        </p:nvCxnSpPr>
        <p:spPr>
          <a:xfrm>
            <a:off x="190500" y="39433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94" name="Rectangle 93"/>
          <p:cNvSpPr/>
          <p:nvPr/>
        </p:nvSpPr>
        <p:spPr>
          <a:xfrm>
            <a:off x="190500" y="3971925"/>
            <a:ext cx="38100" cy="28575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285750" y="3962400"/>
            <a:ext cx="2743200" cy="171450"/>
          </a:xfrm>
          <a:prstGeom prst="rect">
            <a:avLst/>
          </a:prstGeom>
          <a:noFill/>
        </p:spPr>
        <p:txBody>
          <a:bodyPr wrap="square" lIns="28575" rIns="28575" tIns="9525" bIns="9525" anchor="t">
            <a:spAutoFit/>
          </a:bodyPr>
          <a:lstStyle/>
          <a:p>
            <a:pPr algn="l"/>
            <a:r>
              <a:rPr sz="1100" b="1">
                <a:solidFill>
                  <a:srgbClr val="1F2933"/>
                </a:solidFill>
                <a:latin typeface="Calibri"/>
              </a:rPr>
              <a:t>Kewpie Corporation</a:t>
            </a:r>
          </a:p>
        </p:txBody>
      </p:sp>
      <p:sp>
        <p:nvSpPr>
          <p:cNvPr id="96" name="TextBox 95"/>
          <p:cNvSpPr txBox="1"/>
          <p:nvPr/>
        </p:nvSpPr>
        <p:spPr>
          <a:xfrm>
            <a:off x="285750" y="4124325"/>
            <a:ext cx="2743200" cy="152400"/>
          </a:xfrm>
          <a:prstGeom prst="rect">
            <a:avLst/>
          </a:prstGeom>
          <a:noFill/>
        </p:spPr>
        <p:txBody>
          <a:bodyPr wrap="square" lIns="28575" rIns="28575" tIns="9525" bIns="9525" anchor="t">
            <a:spAutoFit/>
          </a:bodyPr>
          <a:lstStyle/>
          <a:p>
            <a:pPr algn="l"/>
            <a:r>
              <a:rPr sz="1100" b="0">
                <a:solidFill>
                  <a:srgbClr val="5F6B7A"/>
                </a:solidFill>
                <a:latin typeface="Calibri"/>
              </a:rPr>
              <a:t>Tier 2</a:t>
            </a:r>
          </a:p>
        </p:txBody>
      </p:sp>
      <p:sp>
        <p:nvSpPr>
          <p:cNvPr id="97" name="TextBox 96"/>
          <p:cNvSpPr txBox="1"/>
          <p:nvPr/>
        </p:nvSpPr>
        <p:spPr>
          <a:xfrm>
            <a:off x="3048000" y="3943350"/>
            <a:ext cx="213178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98" name="TextBox 97"/>
          <p:cNvSpPr txBox="1"/>
          <p:nvPr/>
        </p:nvSpPr>
        <p:spPr>
          <a:xfrm>
            <a:off x="5217886" y="3943350"/>
            <a:ext cx="1060752"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Launch-led growth</a:t>
            </a:r>
          </a:p>
        </p:txBody>
      </p:sp>
      <p:sp>
        <p:nvSpPr>
          <p:cNvPr id="99" name="Oval 98"/>
          <p:cNvSpPr/>
          <p:nvPr/>
        </p:nvSpPr>
        <p:spPr>
          <a:xfrm>
            <a:off x="6714268" y="4038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Freeform 99"/>
          <p:cNvSpPr/>
          <p:nvPr/>
        </p:nvSpPr>
        <p:spPr>
          <a:xfrm>
            <a:off x="6791325" y="40386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Oval 100"/>
          <p:cNvSpPr/>
          <p:nvPr/>
        </p:nvSpPr>
        <p:spPr>
          <a:xfrm>
            <a:off x="7661729" y="4038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Freeform 101"/>
          <p:cNvSpPr/>
          <p:nvPr/>
        </p:nvSpPr>
        <p:spPr>
          <a:xfrm>
            <a:off x="7734300" y="4038600"/>
            <a:ext cx="76200" cy="152400"/>
          </a:xfrm>
          <a:custGeom>
            <a:avLst/>
            <a:gdLst/>
            <a:ahLst/>
            <a:cxnLst/>
            <a:rect l="l" t="t" r="r" b="b"/>
            <a:pathLst>
              <a:path w="8" h="16">
                <a:moveTo>
                  <a:pt x="0" y="8"/>
                </a:moveTo>
                <a:lnTo>
                  <a:pt x="0" y="0"/>
                </a:lnTo>
                <a:lnTo>
                  <a:pt x="2" y="0"/>
                </a:lnTo>
                <a:lnTo>
                  <a:pt x="3" y="0"/>
                </a:lnTo>
                <a:lnTo>
                  <a:pt x="4" y="1"/>
                </a:lnTo>
                <a:lnTo>
                  <a:pt x="6" y="2"/>
                </a:lnTo>
                <a:lnTo>
                  <a:pt x="7" y="3"/>
                </a:lnTo>
                <a:lnTo>
                  <a:pt x="7" y="4"/>
                </a:lnTo>
                <a:lnTo>
                  <a:pt x="8" y="5"/>
                </a:lnTo>
                <a:lnTo>
                  <a:pt x="8" y="7"/>
                </a:lnTo>
                <a:lnTo>
                  <a:pt x="8" y="8"/>
                </a:lnTo>
                <a:lnTo>
                  <a:pt x="8" y="9"/>
                </a:lnTo>
                <a:lnTo>
                  <a:pt x="8" y="11"/>
                </a:lnTo>
                <a:lnTo>
                  <a:pt x="7" y="12"/>
                </a:lnTo>
                <a:lnTo>
                  <a:pt x="7" y="13"/>
                </a:lnTo>
                <a:lnTo>
                  <a:pt x="6"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Oval 102"/>
          <p:cNvSpPr/>
          <p:nvPr/>
        </p:nvSpPr>
        <p:spPr>
          <a:xfrm>
            <a:off x="8609189" y="4038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Freeform 103"/>
          <p:cNvSpPr/>
          <p:nvPr/>
        </p:nvSpPr>
        <p:spPr>
          <a:xfrm>
            <a:off x="8686800" y="40386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Oval 104"/>
          <p:cNvSpPr/>
          <p:nvPr/>
        </p:nvSpPr>
        <p:spPr>
          <a:xfrm>
            <a:off x="9556649" y="4038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Freeform 105"/>
          <p:cNvSpPr/>
          <p:nvPr/>
        </p:nvSpPr>
        <p:spPr>
          <a:xfrm>
            <a:off x="9629775" y="40386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10106579" y="3943350"/>
            <a:ext cx="947460"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08" name="TextBox 107"/>
          <p:cNvSpPr txBox="1"/>
          <p:nvPr/>
        </p:nvSpPr>
        <p:spPr>
          <a:xfrm>
            <a:off x="11054040" y="3943350"/>
            <a:ext cx="947460"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109" name="Connector 108"/>
          <p:cNvCxnSpPr/>
          <p:nvPr/>
        </p:nvCxnSpPr>
        <p:spPr>
          <a:xfrm>
            <a:off x="190500" y="42862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10" name="Rectangle 109"/>
          <p:cNvSpPr/>
          <p:nvPr/>
        </p:nvSpPr>
        <p:spPr>
          <a:xfrm>
            <a:off x="190500" y="43148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285750" y="4305300"/>
            <a:ext cx="2743200" cy="171450"/>
          </a:xfrm>
          <a:prstGeom prst="rect">
            <a:avLst/>
          </a:prstGeom>
          <a:noFill/>
        </p:spPr>
        <p:txBody>
          <a:bodyPr wrap="square" lIns="28575" rIns="28575" tIns="9525" bIns="9525" anchor="t">
            <a:spAutoFit/>
          </a:bodyPr>
          <a:lstStyle/>
          <a:p>
            <a:pPr algn="l"/>
            <a:r>
              <a:rPr sz="1100" b="1">
                <a:solidFill>
                  <a:srgbClr val="1F2933"/>
                </a:solidFill>
                <a:latin typeface="Calibri"/>
              </a:rPr>
              <a:t>INNAIN</a:t>
            </a:r>
          </a:p>
        </p:txBody>
      </p:sp>
      <p:sp>
        <p:nvSpPr>
          <p:cNvPr id="112" name="TextBox 111"/>
          <p:cNvSpPr txBox="1"/>
          <p:nvPr/>
        </p:nvSpPr>
        <p:spPr>
          <a:xfrm>
            <a:off x="285750" y="4467225"/>
            <a:ext cx="2743200"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113" name="TextBox 112"/>
          <p:cNvSpPr txBox="1"/>
          <p:nvPr/>
        </p:nvSpPr>
        <p:spPr>
          <a:xfrm>
            <a:off x="3048000" y="4286250"/>
            <a:ext cx="213178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14" name="TextBox 113"/>
          <p:cNvSpPr txBox="1"/>
          <p:nvPr/>
        </p:nvSpPr>
        <p:spPr>
          <a:xfrm>
            <a:off x="5217886" y="4286250"/>
            <a:ext cx="1060752"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Buy to scale</a:t>
            </a:r>
          </a:p>
        </p:txBody>
      </p:sp>
      <p:sp>
        <p:nvSpPr>
          <p:cNvPr id="115" name="Oval 114"/>
          <p:cNvSpPr/>
          <p:nvPr/>
        </p:nvSpPr>
        <p:spPr>
          <a:xfrm>
            <a:off x="6714268" y="4381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Freeform 115"/>
          <p:cNvSpPr/>
          <p:nvPr/>
        </p:nvSpPr>
        <p:spPr>
          <a:xfrm>
            <a:off x="6791325" y="43815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Oval 116"/>
          <p:cNvSpPr/>
          <p:nvPr/>
        </p:nvSpPr>
        <p:spPr>
          <a:xfrm>
            <a:off x="7661729" y="4381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Freeform 117"/>
          <p:cNvSpPr/>
          <p:nvPr/>
        </p:nvSpPr>
        <p:spPr>
          <a:xfrm>
            <a:off x="7734300" y="4381500"/>
            <a:ext cx="76200" cy="76200"/>
          </a:xfrm>
          <a:custGeom>
            <a:avLst/>
            <a:gdLst/>
            <a:ahLst/>
            <a:cxnLst/>
            <a:rect l="l" t="t" r="r" b="b"/>
            <a:pathLst>
              <a:path w="8" h="8">
                <a:moveTo>
                  <a:pt x="0" y="8"/>
                </a:moveTo>
                <a:lnTo>
                  <a:pt x="0" y="0"/>
                </a:lnTo>
                <a:lnTo>
                  <a:pt x="2" y="0"/>
                </a:lnTo>
                <a:lnTo>
                  <a:pt x="3" y="0"/>
                </a:lnTo>
                <a:lnTo>
                  <a:pt x="4" y="1"/>
                </a:lnTo>
                <a:lnTo>
                  <a:pt x="6" y="2"/>
                </a:lnTo>
                <a:lnTo>
                  <a:pt x="7"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Oval 118"/>
          <p:cNvSpPr/>
          <p:nvPr/>
        </p:nvSpPr>
        <p:spPr>
          <a:xfrm>
            <a:off x="8609189" y="4381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Freeform 119"/>
          <p:cNvSpPr/>
          <p:nvPr/>
        </p:nvSpPr>
        <p:spPr>
          <a:xfrm>
            <a:off x="8686800" y="438150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7"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Oval 120"/>
          <p:cNvSpPr/>
          <p:nvPr/>
        </p:nvSpPr>
        <p:spPr>
          <a:xfrm>
            <a:off x="9556649" y="4381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Freeform 121"/>
          <p:cNvSpPr/>
          <p:nvPr/>
        </p:nvSpPr>
        <p:spPr>
          <a:xfrm>
            <a:off x="9629775" y="43815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TextBox 122"/>
          <p:cNvSpPr txBox="1"/>
          <p:nvPr/>
        </p:nvSpPr>
        <p:spPr>
          <a:xfrm>
            <a:off x="10106579" y="4286250"/>
            <a:ext cx="947460"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24" name="TextBox 123"/>
          <p:cNvSpPr txBox="1"/>
          <p:nvPr/>
        </p:nvSpPr>
        <p:spPr>
          <a:xfrm>
            <a:off x="11054040" y="4286250"/>
            <a:ext cx="947460"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125" name="Connector 124"/>
          <p:cNvCxnSpPr/>
          <p:nvPr/>
        </p:nvCxnSpPr>
        <p:spPr>
          <a:xfrm>
            <a:off x="190500" y="46291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26" name="Rectangle 125"/>
          <p:cNvSpPr/>
          <p:nvPr/>
        </p:nvSpPr>
        <p:spPr>
          <a:xfrm>
            <a:off x="190500" y="46577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extBox 126"/>
          <p:cNvSpPr txBox="1"/>
          <p:nvPr/>
        </p:nvSpPr>
        <p:spPr>
          <a:xfrm>
            <a:off x="285750" y="4648200"/>
            <a:ext cx="2743200" cy="171450"/>
          </a:xfrm>
          <a:prstGeom prst="rect">
            <a:avLst/>
          </a:prstGeom>
          <a:noFill/>
        </p:spPr>
        <p:txBody>
          <a:bodyPr wrap="square" lIns="28575" rIns="28575" tIns="9525" bIns="9525" anchor="t">
            <a:spAutoFit/>
          </a:bodyPr>
          <a:lstStyle/>
          <a:p>
            <a:pPr algn="l"/>
            <a:r>
              <a:rPr sz="1100" b="1">
                <a:solidFill>
                  <a:srgbClr val="1F2933"/>
                </a:solidFill>
                <a:latin typeface="Calibri"/>
              </a:rPr>
              <a:t>Ecovatec Solutions Inc.</a:t>
            </a:r>
          </a:p>
        </p:txBody>
      </p:sp>
      <p:sp>
        <p:nvSpPr>
          <p:cNvPr id="128" name="TextBox 127"/>
          <p:cNvSpPr txBox="1"/>
          <p:nvPr/>
        </p:nvSpPr>
        <p:spPr>
          <a:xfrm>
            <a:off x="285750" y="4810125"/>
            <a:ext cx="2743200"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129" name="TextBox 128"/>
          <p:cNvSpPr txBox="1"/>
          <p:nvPr/>
        </p:nvSpPr>
        <p:spPr>
          <a:xfrm>
            <a:off x="3048000" y="4629150"/>
            <a:ext cx="213178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30" name="TextBox 129"/>
          <p:cNvSpPr txBox="1"/>
          <p:nvPr/>
        </p:nvSpPr>
        <p:spPr>
          <a:xfrm>
            <a:off x="5217886" y="4629150"/>
            <a:ext cx="1060752"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Launch-led growth</a:t>
            </a:r>
          </a:p>
        </p:txBody>
      </p:sp>
      <p:sp>
        <p:nvSpPr>
          <p:cNvPr id="131" name="Oval 130"/>
          <p:cNvSpPr/>
          <p:nvPr/>
        </p:nvSpPr>
        <p:spPr>
          <a:xfrm>
            <a:off x="6714268" y="4724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Freeform 131"/>
          <p:cNvSpPr/>
          <p:nvPr/>
        </p:nvSpPr>
        <p:spPr>
          <a:xfrm>
            <a:off x="6791325" y="47244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Oval 132"/>
          <p:cNvSpPr/>
          <p:nvPr/>
        </p:nvSpPr>
        <p:spPr>
          <a:xfrm>
            <a:off x="7661729" y="4724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Freeform 133"/>
          <p:cNvSpPr/>
          <p:nvPr/>
        </p:nvSpPr>
        <p:spPr>
          <a:xfrm>
            <a:off x="7734300" y="4724400"/>
            <a:ext cx="76200" cy="76200"/>
          </a:xfrm>
          <a:custGeom>
            <a:avLst/>
            <a:gdLst/>
            <a:ahLst/>
            <a:cxnLst/>
            <a:rect l="l" t="t" r="r" b="b"/>
            <a:pathLst>
              <a:path w="8" h="8">
                <a:moveTo>
                  <a:pt x="0" y="8"/>
                </a:moveTo>
                <a:lnTo>
                  <a:pt x="0" y="0"/>
                </a:lnTo>
                <a:lnTo>
                  <a:pt x="2" y="0"/>
                </a:lnTo>
                <a:lnTo>
                  <a:pt x="3" y="0"/>
                </a:lnTo>
                <a:lnTo>
                  <a:pt x="4" y="1"/>
                </a:lnTo>
                <a:lnTo>
                  <a:pt x="6" y="2"/>
                </a:lnTo>
                <a:lnTo>
                  <a:pt x="7"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Oval 134"/>
          <p:cNvSpPr/>
          <p:nvPr/>
        </p:nvSpPr>
        <p:spPr>
          <a:xfrm>
            <a:off x="8609189" y="4724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Freeform 135"/>
          <p:cNvSpPr/>
          <p:nvPr/>
        </p:nvSpPr>
        <p:spPr>
          <a:xfrm>
            <a:off x="8686800" y="472440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7"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Oval 136"/>
          <p:cNvSpPr/>
          <p:nvPr/>
        </p:nvSpPr>
        <p:spPr>
          <a:xfrm>
            <a:off x="9556649" y="4724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Freeform 137"/>
          <p:cNvSpPr/>
          <p:nvPr/>
        </p:nvSpPr>
        <p:spPr>
          <a:xfrm>
            <a:off x="9629775" y="4724400"/>
            <a:ext cx="76200" cy="76200"/>
          </a:xfrm>
          <a:custGeom>
            <a:avLst/>
            <a:gdLst/>
            <a:ahLst/>
            <a:cxnLst/>
            <a:rect l="l" t="t" r="r" b="b"/>
            <a:pathLst>
              <a:path w="8" h="8">
                <a:moveTo>
                  <a:pt x="0" y="8"/>
                </a:moveTo>
                <a:lnTo>
                  <a:pt x="0" y="0"/>
                </a:lnTo>
                <a:lnTo>
                  <a:pt x="2"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TextBox 138"/>
          <p:cNvSpPr txBox="1"/>
          <p:nvPr/>
        </p:nvSpPr>
        <p:spPr>
          <a:xfrm>
            <a:off x="10106579" y="4629150"/>
            <a:ext cx="947460"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40" name="TextBox 139"/>
          <p:cNvSpPr txBox="1"/>
          <p:nvPr/>
        </p:nvSpPr>
        <p:spPr>
          <a:xfrm>
            <a:off x="11054040" y="4629150"/>
            <a:ext cx="947460"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141" name="Connector 140"/>
          <p:cNvCxnSpPr/>
          <p:nvPr/>
        </p:nvCxnSpPr>
        <p:spPr>
          <a:xfrm>
            <a:off x="190500" y="49720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42" name="Rectangle 141"/>
          <p:cNvSpPr/>
          <p:nvPr/>
        </p:nvSpPr>
        <p:spPr>
          <a:xfrm>
            <a:off x="190500" y="50006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TextBox 142"/>
          <p:cNvSpPr txBox="1"/>
          <p:nvPr/>
        </p:nvSpPr>
        <p:spPr>
          <a:xfrm>
            <a:off x="285750" y="4991100"/>
            <a:ext cx="2743200" cy="171450"/>
          </a:xfrm>
          <a:prstGeom prst="rect">
            <a:avLst/>
          </a:prstGeom>
          <a:noFill/>
        </p:spPr>
        <p:txBody>
          <a:bodyPr wrap="square" lIns="28575" rIns="28575" tIns="9525" bIns="9525" anchor="t">
            <a:spAutoFit/>
          </a:bodyPr>
          <a:lstStyle/>
          <a:p>
            <a:pPr algn="l"/>
            <a:r>
              <a:rPr sz="1100" b="1">
                <a:solidFill>
                  <a:srgbClr val="1F2933"/>
                </a:solidFill>
                <a:latin typeface="Calibri"/>
              </a:rPr>
              <a:t>Biovotec</a:t>
            </a:r>
          </a:p>
        </p:txBody>
      </p:sp>
      <p:sp>
        <p:nvSpPr>
          <p:cNvPr id="144" name="TextBox 143"/>
          <p:cNvSpPr txBox="1"/>
          <p:nvPr/>
        </p:nvSpPr>
        <p:spPr>
          <a:xfrm>
            <a:off x="285750" y="5153025"/>
            <a:ext cx="2743200"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145" name="TextBox 144"/>
          <p:cNvSpPr txBox="1"/>
          <p:nvPr/>
        </p:nvSpPr>
        <p:spPr>
          <a:xfrm>
            <a:off x="3048000" y="4972050"/>
            <a:ext cx="213178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46" name="TextBox 145"/>
          <p:cNvSpPr txBox="1"/>
          <p:nvPr/>
        </p:nvSpPr>
        <p:spPr>
          <a:xfrm>
            <a:off x="5217886" y="4972050"/>
            <a:ext cx="1060752"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Buy to scale</a:t>
            </a:r>
          </a:p>
        </p:txBody>
      </p:sp>
      <p:sp>
        <p:nvSpPr>
          <p:cNvPr id="147" name="Oval 146"/>
          <p:cNvSpPr/>
          <p:nvPr/>
        </p:nvSpPr>
        <p:spPr>
          <a:xfrm>
            <a:off x="6714268" y="50673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Freeform 147"/>
          <p:cNvSpPr/>
          <p:nvPr/>
        </p:nvSpPr>
        <p:spPr>
          <a:xfrm>
            <a:off x="6791325" y="50673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Oval 148"/>
          <p:cNvSpPr/>
          <p:nvPr/>
        </p:nvSpPr>
        <p:spPr>
          <a:xfrm>
            <a:off x="7661729" y="50673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Freeform 149"/>
          <p:cNvSpPr/>
          <p:nvPr/>
        </p:nvSpPr>
        <p:spPr>
          <a:xfrm>
            <a:off x="7734300" y="5067300"/>
            <a:ext cx="76200" cy="76200"/>
          </a:xfrm>
          <a:custGeom>
            <a:avLst/>
            <a:gdLst/>
            <a:ahLst/>
            <a:cxnLst/>
            <a:rect l="l" t="t" r="r" b="b"/>
            <a:pathLst>
              <a:path w="8" h="8">
                <a:moveTo>
                  <a:pt x="0" y="8"/>
                </a:moveTo>
                <a:lnTo>
                  <a:pt x="0" y="0"/>
                </a:lnTo>
                <a:lnTo>
                  <a:pt x="2" y="0"/>
                </a:lnTo>
                <a:lnTo>
                  <a:pt x="3" y="0"/>
                </a:lnTo>
                <a:lnTo>
                  <a:pt x="4" y="1"/>
                </a:lnTo>
                <a:lnTo>
                  <a:pt x="6" y="2"/>
                </a:lnTo>
                <a:lnTo>
                  <a:pt x="7"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Oval 150"/>
          <p:cNvSpPr/>
          <p:nvPr/>
        </p:nvSpPr>
        <p:spPr>
          <a:xfrm>
            <a:off x="8609189" y="50673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Freeform 151"/>
          <p:cNvSpPr/>
          <p:nvPr/>
        </p:nvSpPr>
        <p:spPr>
          <a:xfrm>
            <a:off x="8686800" y="506730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7"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Oval 152"/>
          <p:cNvSpPr/>
          <p:nvPr/>
        </p:nvSpPr>
        <p:spPr>
          <a:xfrm>
            <a:off x="9556649" y="50673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Freeform 153"/>
          <p:cNvSpPr/>
          <p:nvPr/>
        </p:nvSpPr>
        <p:spPr>
          <a:xfrm>
            <a:off x="9629775" y="5067300"/>
            <a:ext cx="76200" cy="76200"/>
          </a:xfrm>
          <a:custGeom>
            <a:avLst/>
            <a:gdLst/>
            <a:ahLst/>
            <a:cxnLst/>
            <a:rect l="l" t="t" r="r" b="b"/>
            <a:pathLst>
              <a:path w="8" h="8">
                <a:moveTo>
                  <a:pt x="0" y="8"/>
                </a:moveTo>
                <a:lnTo>
                  <a:pt x="0" y="0"/>
                </a:lnTo>
                <a:lnTo>
                  <a:pt x="2"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TextBox 154"/>
          <p:cNvSpPr txBox="1"/>
          <p:nvPr/>
        </p:nvSpPr>
        <p:spPr>
          <a:xfrm>
            <a:off x="10106579" y="4972050"/>
            <a:ext cx="947460"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56" name="TextBox 155"/>
          <p:cNvSpPr txBox="1"/>
          <p:nvPr/>
        </p:nvSpPr>
        <p:spPr>
          <a:xfrm>
            <a:off x="11054040" y="4972050"/>
            <a:ext cx="947460"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157" name="Connector 156"/>
          <p:cNvCxnSpPr/>
          <p:nvPr/>
        </p:nvCxnSpPr>
        <p:spPr>
          <a:xfrm>
            <a:off x="190500" y="53149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58" name="Rectangle 157"/>
          <p:cNvSpPr/>
          <p:nvPr/>
        </p:nvSpPr>
        <p:spPr>
          <a:xfrm>
            <a:off x="190500" y="53435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TextBox 158"/>
          <p:cNvSpPr txBox="1"/>
          <p:nvPr/>
        </p:nvSpPr>
        <p:spPr>
          <a:xfrm>
            <a:off x="285750" y="5334000"/>
            <a:ext cx="2743200" cy="171450"/>
          </a:xfrm>
          <a:prstGeom prst="rect">
            <a:avLst/>
          </a:prstGeom>
          <a:noFill/>
        </p:spPr>
        <p:txBody>
          <a:bodyPr wrap="square" lIns="28575" rIns="28575" tIns="9525" bIns="9525" anchor="t">
            <a:spAutoFit/>
          </a:bodyPr>
          <a:lstStyle/>
          <a:p>
            <a:pPr algn="l"/>
            <a:r>
              <a:rPr sz="1100" b="1">
                <a:solidFill>
                  <a:srgbClr val="1F2933"/>
                </a:solidFill>
                <a:latin typeface="Calibri"/>
              </a:rPr>
              <a:t>Microcore Research Laboratories India Pvt. Ltd.</a:t>
            </a:r>
          </a:p>
        </p:txBody>
      </p:sp>
      <p:sp>
        <p:nvSpPr>
          <p:cNvPr id="160" name="TextBox 159"/>
          <p:cNvSpPr txBox="1"/>
          <p:nvPr/>
        </p:nvSpPr>
        <p:spPr>
          <a:xfrm>
            <a:off x="285750" y="5495925"/>
            <a:ext cx="2743200"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161" name="TextBox 160"/>
          <p:cNvSpPr txBox="1"/>
          <p:nvPr/>
        </p:nvSpPr>
        <p:spPr>
          <a:xfrm>
            <a:off x="3048000" y="5314950"/>
            <a:ext cx="213178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62" name="TextBox 161"/>
          <p:cNvSpPr txBox="1"/>
          <p:nvPr/>
        </p:nvSpPr>
        <p:spPr>
          <a:xfrm>
            <a:off x="5217886" y="5314950"/>
            <a:ext cx="1060752"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Launch-led growth</a:t>
            </a:r>
          </a:p>
        </p:txBody>
      </p:sp>
      <p:sp>
        <p:nvSpPr>
          <p:cNvPr id="163" name="Oval 162"/>
          <p:cNvSpPr/>
          <p:nvPr/>
        </p:nvSpPr>
        <p:spPr>
          <a:xfrm>
            <a:off x="6714268" y="54102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Freeform 163"/>
          <p:cNvSpPr/>
          <p:nvPr/>
        </p:nvSpPr>
        <p:spPr>
          <a:xfrm>
            <a:off x="6791325" y="54102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Oval 164"/>
          <p:cNvSpPr/>
          <p:nvPr/>
        </p:nvSpPr>
        <p:spPr>
          <a:xfrm>
            <a:off x="7661729" y="54102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Freeform 165"/>
          <p:cNvSpPr/>
          <p:nvPr/>
        </p:nvSpPr>
        <p:spPr>
          <a:xfrm>
            <a:off x="7734300" y="5410200"/>
            <a:ext cx="76200" cy="76200"/>
          </a:xfrm>
          <a:custGeom>
            <a:avLst/>
            <a:gdLst/>
            <a:ahLst/>
            <a:cxnLst/>
            <a:rect l="l" t="t" r="r" b="b"/>
            <a:pathLst>
              <a:path w="8" h="8">
                <a:moveTo>
                  <a:pt x="0" y="8"/>
                </a:moveTo>
                <a:lnTo>
                  <a:pt x="0" y="0"/>
                </a:lnTo>
                <a:lnTo>
                  <a:pt x="2" y="0"/>
                </a:lnTo>
                <a:lnTo>
                  <a:pt x="3" y="0"/>
                </a:lnTo>
                <a:lnTo>
                  <a:pt x="4" y="1"/>
                </a:lnTo>
                <a:lnTo>
                  <a:pt x="6" y="2"/>
                </a:lnTo>
                <a:lnTo>
                  <a:pt x="7"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Oval 166"/>
          <p:cNvSpPr/>
          <p:nvPr/>
        </p:nvSpPr>
        <p:spPr>
          <a:xfrm>
            <a:off x="8609189" y="54102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 name="Freeform 167"/>
          <p:cNvSpPr/>
          <p:nvPr/>
        </p:nvSpPr>
        <p:spPr>
          <a:xfrm>
            <a:off x="8686800" y="541020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7"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Oval 168"/>
          <p:cNvSpPr/>
          <p:nvPr/>
        </p:nvSpPr>
        <p:spPr>
          <a:xfrm>
            <a:off x="9556649" y="54102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Freeform 169"/>
          <p:cNvSpPr/>
          <p:nvPr/>
        </p:nvSpPr>
        <p:spPr>
          <a:xfrm>
            <a:off x="9629775" y="5410200"/>
            <a:ext cx="76200" cy="76200"/>
          </a:xfrm>
          <a:custGeom>
            <a:avLst/>
            <a:gdLst/>
            <a:ahLst/>
            <a:cxnLst/>
            <a:rect l="l" t="t" r="r" b="b"/>
            <a:pathLst>
              <a:path w="8" h="8">
                <a:moveTo>
                  <a:pt x="0" y="8"/>
                </a:moveTo>
                <a:lnTo>
                  <a:pt x="0" y="0"/>
                </a:lnTo>
                <a:lnTo>
                  <a:pt x="2"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 name="TextBox 170"/>
          <p:cNvSpPr txBox="1"/>
          <p:nvPr/>
        </p:nvSpPr>
        <p:spPr>
          <a:xfrm>
            <a:off x="10106579" y="5314950"/>
            <a:ext cx="947460"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72" name="TextBox 171"/>
          <p:cNvSpPr txBox="1"/>
          <p:nvPr/>
        </p:nvSpPr>
        <p:spPr>
          <a:xfrm>
            <a:off x="11054040" y="5314950"/>
            <a:ext cx="947460"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173" name="Connector 172"/>
          <p:cNvCxnSpPr/>
          <p:nvPr/>
        </p:nvCxnSpPr>
        <p:spPr>
          <a:xfrm>
            <a:off x="190500" y="56578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74" name="Oval 173"/>
          <p:cNvSpPr/>
          <p:nvPr/>
        </p:nvSpPr>
        <p:spPr>
          <a:xfrm>
            <a:off x="200025" y="5734050"/>
            <a:ext cx="133350" cy="13335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 name="TextBox 174"/>
          <p:cNvSpPr txBox="1"/>
          <p:nvPr/>
        </p:nvSpPr>
        <p:spPr>
          <a:xfrm>
            <a:off x="381000" y="57150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Strong, direct evidence</a:t>
            </a:r>
          </a:p>
        </p:txBody>
      </p:sp>
      <p:sp>
        <p:nvSpPr>
          <p:cNvPr id="176" name="Oval 175"/>
          <p:cNvSpPr/>
          <p:nvPr/>
        </p:nvSpPr>
        <p:spPr>
          <a:xfrm>
            <a:off x="2065020" y="5734050"/>
            <a:ext cx="133350" cy="13335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 name="Freeform 176"/>
          <p:cNvSpPr/>
          <p:nvPr/>
        </p:nvSpPr>
        <p:spPr>
          <a:xfrm>
            <a:off x="2133600" y="5734050"/>
            <a:ext cx="66675" cy="133350"/>
          </a:xfrm>
          <a:custGeom>
            <a:avLst/>
            <a:gdLst/>
            <a:ahLst/>
            <a:cxnLst/>
            <a:rect l="l" t="t" r="r" b="b"/>
            <a:pathLst>
              <a:path w="7" h="14">
                <a:moveTo>
                  <a:pt x="0" y="7"/>
                </a:moveTo>
                <a:lnTo>
                  <a:pt x="0" y="0"/>
                </a:lnTo>
                <a:lnTo>
                  <a:pt x="1" y="0"/>
                </a:lnTo>
                <a:lnTo>
                  <a:pt x="2" y="0"/>
                </a:lnTo>
                <a:lnTo>
                  <a:pt x="3" y="1"/>
                </a:lnTo>
                <a:lnTo>
                  <a:pt x="4" y="2"/>
                </a:lnTo>
                <a:lnTo>
                  <a:pt x="5" y="3"/>
                </a:lnTo>
                <a:lnTo>
                  <a:pt x="6" y="4"/>
                </a:lnTo>
                <a:lnTo>
                  <a:pt x="6" y="5"/>
                </a:lnTo>
                <a:lnTo>
                  <a:pt x="7" y="6"/>
                </a:lnTo>
                <a:lnTo>
                  <a:pt x="7" y="7"/>
                </a:lnTo>
                <a:lnTo>
                  <a:pt x="7" y="8"/>
                </a:lnTo>
                <a:lnTo>
                  <a:pt x="6" y="9"/>
                </a:lnTo>
                <a:lnTo>
                  <a:pt x="6" y="10"/>
                </a:lnTo>
                <a:lnTo>
                  <a:pt x="5" y="11"/>
                </a:lnTo>
                <a:lnTo>
                  <a:pt x="4" y="12"/>
                </a:lnTo>
                <a:lnTo>
                  <a:pt x="3" y="13"/>
                </a:lnTo>
                <a:lnTo>
                  <a:pt x="2" y="14"/>
                </a:lnTo>
                <a:lnTo>
                  <a:pt x="1" y="14"/>
                </a:lnTo>
                <a:lnTo>
                  <a:pt x="0" y="14"/>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 name="TextBox 177"/>
          <p:cNvSpPr txBox="1"/>
          <p:nvPr/>
        </p:nvSpPr>
        <p:spPr>
          <a:xfrm>
            <a:off x="2245995" y="57150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Moderate or partial</a:t>
            </a:r>
          </a:p>
        </p:txBody>
      </p:sp>
      <p:sp>
        <p:nvSpPr>
          <p:cNvPr id="179" name="Oval 178"/>
          <p:cNvSpPr/>
          <p:nvPr/>
        </p:nvSpPr>
        <p:spPr>
          <a:xfrm>
            <a:off x="3678555" y="5734050"/>
            <a:ext cx="133350" cy="13335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 name="Freeform 179"/>
          <p:cNvSpPr/>
          <p:nvPr/>
        </p:nvSpPr>
        <p:spPr>
          <a:xfrm>
            <a:off x="3743325" y="5734050"/>
            <a:ext cx="66675" cy="66675"/>
          </a:xfrm>
          <a:custGeom>
            <a:avLst/>
            <a:gdLst/>
            <a:ahLst/>
            <a:cxnLst/>
            <a:rect l="l" t="t" r="r" b="b"/>
            <a:pathLst>
              <a:path w="7" h="7">
                <a:moveTo>
                  <a:pt x="0" y="7"/>
                </a:moveTo>
                <a:lnTo>
                  <a:pt x="0" y="0"/>
                </a:lnTo>
                <a:lnTo>
                  <a:pt x="1" y="0"/>
                </a:lnTo>
                <a:lnTo>
                  <a:pt x="3" y="0"/>
                </a:lnTo>
                <a:lnTo>
                  <a:pt x="4" y="1"/>
                </a:lnTo>
                <a:lnTo>
                  <a:pt x="5" y="2"/>
                </a:lnTo>
                <a:lnTo>
                  <a:pt x="6" y="3"/>
                </a:lnTo>
                <a:lnTo>
                  <a:pt x="6" y="4"/>
                </a:lnTo>
                <a:lnTo>
                  <a:pt x="7" y="5"/>
                </a:lnTo>
                <a:lnTo>
                  <a:pt x="7" y="6"/>
                </a:lnTo>
                <a:lnTo>
                  <a:pt x="7" y="7"/>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 name="TextBox 180"/>
          <p:cNvSpPr txBox="1"/>
          <p:nvPr/>
        </p:nvSpPr>
        <p:spPr>
          <a:xfrm>
            <a:off x="3859530" y="57150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Weak or indirect</a:t>
            </a:r>
          </a:p>
        </p:txBody>
      </p:sp>
      <p:sp>
        <p:nvSpPr>
          <p:cNvPr id="182" name="Oval 181"/>
          <p:cNvSpPr/>
          <p:nvPr/>
        </p:nvSpPr>
        <p:spPr>
          <a:xfrm>
            <a:off x="5103495" y="5734050"/>
            <a:ext cx="133350" cy="13335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 name="TextBox 182"/>
          <p:cNvSpPr txBox="1"/>
          <p:nvPr/>
        </p:nvSpPr>
        <p:spPr>
          <a:xfrm>
            <a:off x="5284470" y="57150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None found</a:t>
            </a:r>
          </a:p>
        </p:txBody>
      </p:sp>
      <p:sp>
        <p:nvSpPr>
          <p:cNvPr id="184" name="TextBox 183"/>
          <p:cNvSpPr txBox="1"/>
          <p:nvPr/>
        </p:nvSpPr>
        <p:spPr>
          <a:xfrm>
            <a:off x="190500" y="5943600"/>
            <a:ext cx="2857500" cy="152400"/>
          </a:xfrm>
          <a:prstGeom prst="rect">
            <a:avLst/>
          </a:prstGeom>
          <a:noFill/>
        </p:spPr>
        <p:txBody>
          <a:bodyPr wrap="square" lIns="28575" rIns="28575" tIns="9525" bIns="9525" anchor="t">
            <a:spAutoFit/>
          </a:bodyPr>
          <a:lstStyle/>
          <a:p>
            <a:pPr algn="l"/>
            <a:r>
              <a:rPr sz="1100" b="1">
                <a:solidFill>
                  <a:srgbClr val="0F2D52"/>
                </a:solidFill>
                <a:latin typeface="Calibri"/>
              </a:rPr>
              <a:t>READING</a:t>
            </a:r>
          </a:p>
        </p:txBody>
      </p:sp>
      <p:sp>
        <p:nvSpPr>
          <p:cNvPr id="185" name="TextBox 184"/>
          <p:cNvSpPr txBox="1"/>
          <p:nvPr/>
        </p:nvSpPr>
        <p:spPr>
          <a:xfrm>
            <a:off x="190500" y="6096000"/>
            <a:ext cx="11811000" cy="2286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4 of 10 named players compete globally; scale and share follow the tier structure.</a:t>
            </a:r>
          </a:p>
        </p:txBody>
      </p:sp>
      <p:sp>
        <p:nvSpPr>
          <p:cNvPr id="186" name="Rectangle 185"/>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 name="TextBox 18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
        <p:nvSpPr>
          <p:cNvPr id="188" name="TextBox 187"/>
          <p:cNvSpPr txBox="1"/>
          <p:nvPr/>
        </p:nvSpPr>
        <p:spPr>
          <a:xfrm>
            <a:off x="9225794" y="1666875"/>
            <a:ext cx="360249" cy="166573"/>
          </a:xfrm>
          <a:prstGeom prst="rect">
            <a:avLst/>
          </a:prstGeom>
          <a:noFill/>
        </p:spPr>
        <p:txBody>
          <a:bodyPr wrap="none" lIns="0" rIns="0" tIns="0" bIns="0">
            <a:spAutoFit/>
          </a:bodyPr>
          <a:lstStyle/>
          <a:p>
            <a:r>
              <a:rPr sz="968" b="0">
                <a:solidFill>
                  <a:srgbClr val="5F6B7A"/>
                </a:solidFill>
                <a:latin typeface="Calibri"/>
              </a:rPr>
              <a:t>Share</a:t>
            </a:r>
          </a:p>
        </p:txBody>
      </p:sp>
      <p:pic>
        <p:nvPicPr>
          <p:cNvPr id="189" name="Picture 188" descr="lock.png"/>
          <p:cNvPicPr>
            <a:picLocks noChangeAspect="1"/>
          </p:cNvPicPr>
          <p:nvPr/>
        </p:nvPicPr>
        <p:blipFill>
          <a:blip r:embed="rId4"/>
          <a:stretch>
            <a:fillRect/>
          </a:stretch>
        </p:blipFill>
        <p:spPr>
          <a:xfrm>
            <a:off x="9531184" y="1658269"/>
            <a:ext cx="113255" cy="164734"/>
          </a:xfrm>
          <a:prstGeom prst="rect">
            <a:avLst/>
          </a:prstGeom>
        </p:spPr>
      </p:pic>
      <p:sp>
        <p:nvSpPr>
          <p:cNvPr id="190" name="TextBox 189"/>
          <p:cNvSpPr txBox="1"/>
          <p:nvPr/>
        </p:nvSpPr>
        <p:spPr>
          <a:xfrm>
            <a:off x="9678581" y="1666875"/>
            <a:ext cx="347523" cy="166573"/>
          </a:xfrm>
          <a:prstGeom prst="rect">
            <a:avLst/>
          </a:prstGeom>
          <a:noFill/>
        </p:spPr>
        <p:txBody>
          <a:bodyPr wrap="none" lIns="0" rIns="0" tIns="0" bIns="0">
            <a:spAutoFit/>
          </a:bodyPr>
          <a:lstStyle/>
          <a:p>
            <a:r>
              <a:rPr sz="968" b="0">
                <a:solidFill>
                  <a:srgbClr val="5F6B7A"/>
                </a:solidFill>
                <a:latin typeface="Calibri"/>
              </a:rPr>
              <a:t>+ = 3,</a:t>
            </a:r>
          </a:p>
        </p:txBody>
      </p:sp>
      <p:pic>
        <p:nvPicPr>
          <p:cNvPr id="191" name="Picture 190" descr="lock.png"/>
          <p:cNvPicPr>
            <a:picLocks noChangeAspect="1"/>
          </p:cNvPicPr>
          <p:nvPr/>
        </p:nvPicPr>
        <p:blipFill>
          <a:blip r:embed="rId4"/>
          <a:stretch>
            <a:fillRect/>
          </a:stretch>
        </p:blipFill>
        <p:spPr>
          <a:xfrm>
            <a:off x="9213942" y="1805792"/>
            <a:ext cx="113255" cy="164734"/>
          </a:xfrm>
          <a:prstGeom prst="rect">
            <a:avLst/>
          </a:prstGeom>
        </p:spPr>
      </p:pic>
      <p:sp>
        <p:nvSpPr>
          <p:cNvPr id="192" name="TextBox 191"/>
          <p:cNvSpPr txBox="1"/>
          <p:nvPr/>
        </p:nvSpPr>
        <p:spPr>
          <a:xfrm>
            <a:off x="9361339" y="1814398"/>
            <a:ext cx="575387" cy="166573"/>
          </a:xfrm>
          <a:prstGeom prst="rect">
            <a:avLst/>
          </a:prstGeom>
          <a:noFill/>
        </p:spPr>
        <p:txBody>
          <a:bodyPr wrap="none" lIns="0" rIns="0" tIns="0" bIns="0">
            <a:spAutoFit/>
          </a:bodyPr>
          <a:lstStyle/>
          <a:p>
            <a:r>
              <a:rPr sz="968" b="0">
                <a:solidFill>
                  <a:srgbClr val="5F6B7A"/>
                </a:solidFill>
                <a:latin typeface="Calibri"/>
              </a:rPr>
              <a:t>= 2, else 1</a:t>
            </a:r>
          </a:p>
        </p:txBody>
      </p:sp>
      <p:pic>
        <p:nvPicPr>
          <p:cNvPr id="193" name="Picture 192" descr="lock.png"/>
          <p:cNvPicPr>
            <a:picLocks noChangeAspect="1"/>
          </p:cNvPicPr>
          <p:nvPr/>
        </p:nvPicPr>
        <p:blipFill>
          <a:blip r:embed="rId4"/>
          <a:stretch>
            <a:fillRect/>
          </a:stretch>
        </p:blipFill>
        <p:spPr>
          <a:xfrm>
            <a:off x="4049543" y="2306701"/>
            <a:ext cx="128699" cy="187198"/>
          </a:xfrm>
          <a:prstGeom prst="rect">
            <a:avLst/>
          </a:prstGeom>
        </p:spPr>
      </p:pic>
      <p:pic>
        <p:nvPicPr>
          <p:cNvPr id="194" name="Picture 193" descr="lock.png"/>
          <p:cNvPicPr>
            <a:picLocks noChangeAspect="1"/>
          </p:cNvPicPr>
          <p:nvPr/>
        </p:nvPicPr>
        <p:blipFill>
          <a:blip r:embed="rId4"/>
          <a:stretch>
            <a:fillRect/>
          </a:stretch>
        </p:blipFill>
        <p:spPr>
          <a:xfrm>
            <a:off x="10515959" y="2306701"/>
            <a:ext cx="128699" cy="187198"/>
          </a:xfrm>
          <a:prstGeom prst="rect">
            <a:avLst/>
          </a:prstGeom>
        </p:spPr>
      </p:pic>
      <p:pic>
        <p:nvPicPr>
          <p:cNvPr id="195" name="Picture 194" descr="lock.png"/>
          <p:cNvPicPr>
            <a:picLocks noChangeAspect="1"/>
          </p:cNvPicPr>
          <p:nvPr/>
        </p:nvPicPr>
        <p:blipFill>
          <a:blip r:embed="rId4"/>
          <a:stretch>
            <a:fillRect/>
          </a:stretch>
        </p:blipFill>
        <p:spPr>
          <a:xfrm>
            <a:off x="11463420" y="2306701"/>
            <a:ext cx="128699" cy="187198"/>
          </a:xfrm>
          <a:prstGeom prst="rect">
            <a:avLst/>
          </a:prstGeom>
        </p:spPr>
      </p:pic>
      <p:pic>
        <p:nvPicPr>
          <p:cNvPr id="196" name="Picture 195" descr="lock.png"/>
          <p:cNvPicPr>
            <a:picLocks noChangeAspect="1"/>
          </p:cNvPicPr>
          <p:nvPr/>
        </p:nvPicPr>
        <p:blipFill>
          <a:blip r:embed="rId4"/>
          <a:stretch>
            <a:fillRect/>
          </a:stretch>
        </p:blipFill>
        <p:spPr>
          <a:xfrm>
            <a:off x="4049543" y="2649601"/>
            <a:ext cx="128699" cy="187198"/>
          </a:xfrm>
          <a:prstGeom prst="rect">
            <a:avLst/>
          </a:prstGeom>
        </p:spPr>
      </p:pic>
      <p:pic>
        <p:nvPicPr>
          <p:cNvPr id="197" name="Picture 196" descr="lock.png"/>
          <p:cNvPicPr>
            <a:picLocks noChangeAspect="1"/>
          </p:cNvPicPr>
          <p:nvPr/>
        </p:nvPicPr>
        <p:blipFill>
          <a:blip r:embed="rId4"/>
          <a:stretch>
            <a:fillRect/>
          </a:stretch>
        </p:blipFill>
        <p:spPr>
          <a:xfrm>
            <a:off x="10515959" y="2649601"/>
            <a:ext cx="128699" cy="187198"/>
          </a:xfrm>
          <a:prstGeom prst="rect">
            <a:avLst/>
          </a:prstGeom>
        </p:spPr>
      </p:pic>
      <p:pic>
        <p:nvPicPr>
          <p:cNvPr id="198" name="Picture 197" descr="lock.png"/>
          <p:cNvPicPr>
            <a:picLocks noChangeAspect="1"/>
          </p:cNvPicPr>
          <p:nvPr/>
        </p:nvPicPr>
        <p:blipFill>
          <a:blip r:embed="rId4"/>
          <a:stretch>
            <a:fillRect/>
          </a:stretch>
        </p:blipFill>
        <p:spPr>
          <a:xfrm>
            <a:off x="11463420" y="2649601"/>
            <a:ext cx="128699" cy="187198"/>
          </a:xfrm>
          <a:prstGeom prst="rect">
            <a:avLst/>
          </a:prstGeom>
        </p:spPr>
      </p:pic>
      <p:pic>
        <p:nvPicPr>
          <p:cNvPr id="199" name="Picture 198" descr="lock.png"/>
          <p:cNvPicPr>
            <a:picLocks noChangeAspect="1"/>
          </p:cNvPicPr>
          <p:nvPr/>
        </p:nvPicPr>
        <p:blipFill>
          <a:blip r:embed="rId4"/>
          <a:stretch>
            <a:fillRect/>
          </a:stretch>
        </p:blipFill>
        <p:spPr>
          <a:xfrm>
            <a:off x="4049543" y="2992501"/>
            <a:ext cx="128699" cy="187198"/>
          </a:xfrm>
          <a:prstGeom prst="rect">
            <a:avLst/>
          </a:prstGeom>
        </p:spPr>
      </p:pic>
      <p:pic>
        <p:nvPicPr>
          <p:cNvPr id="200" name="Picture 199" descr="lock.png"/>
          <p:cNvPicPr>
            <a:picLocks noChangeAspect="1"/>
          </p:cNvPicPr>
          <p:nvPr/>
        </p:nvPicPr>
        <p:blipFill>
          <a:blip r:embed="rId4"/>
          <a:stretch>
            <a:fillRect/>
          </a:stretch>
        </p:blipFill>
        <p:spPr>
          <a:xfrm>
            <a:off x="10515959" y="2992501"/>
            <a:ext cx="128699" cy="187198"/>
          </a:xfrm>
          <a:prstGeom prst="rect">
            <a:avLst/>
          </a:prstGeom>
        </p:spPr>
      </p:pic>
      <p:pic>
        <p:nvPicPr>
          <p:cNvPr id="201" name="Picture 200" descr="lock.png"/>
          <p:cNvPicPr>
            <a:picLocks noChangeAspect="1"/>
          </p:cNvPicPr>
          <p:nvPr/>
        </p:nvPicPr>
        <p:blipFill>
          <a:blip r:embed="rId4"/>
          <a:stretch>
            <a:fillRect/>
          </a:stretch>
        </p:blipFill>
        <p:spPr>
          <a:xfrm>
            <a:off x="11463420" y="2992501"/>
            <a:ext cx="128699" cy="187198"/>
          </a:xfrm>
          <a:prstGeom prst="rect">
            <a:avLst/>
          </a:prstGeom>
        </p:spPr>
      </p:pic>
      <p:pic>
        <p:nvPicPr>
          <p:cNvPr id="202" name="Picture 201" descr="lock.png"/>
          <p:cNvPicPr>
            <a:picLocks noChangeAspect="1"/>
          </p:cNvPicPr>
          <p:nvPr/>
        </p:nvPicPr>
        <p:blipFill>
          <a:blip r:embed="rId4"/>
          <a:stretch>
            <a:fillRect/>
          </a:stretch>
        </p:blipFill>
        <p:spPr>
          <a:xfrm>
            <a:off x="4049543" y="3335401"/>
            <a:ext cx="128699" cy="187198"/>
          </a:xfrm>
          <a:prstGeom prst="rect">
            <a:avLst/>
          </a:prstGeom>
        </p:spPr>
      </p:pic>
      <p:pic>
        <p:nvPicPr>
          <p:cNvPr id="203" name="Picture 202" descr="lock.png"/>
          <p:cNvPicPr>
            <a:picLocks noChangeAspect="1"/>
          </p:cNvPicPr>
          <p:nvPr/>
        </p:nvPicPr>
        <p:blipFill>
          <a:blip r:embed="rId4"/>
          <a:stretch>
            <a:fillRect/>
          </a:stretch>
        </p:blipFill>
        <p:spPr>
          <a:xfrm>
            <a:off x="10515959" y="3335401"/>
            <a:ext cx="128699" cy="187198"/>
          </a:xfrm>
          <a:prstGeom prst="rect">
            <a:avLst/>
          </a:prstGeom>
        </p:spPr>
      </p:pic>
      <p:pic>
        <p:nvPicPr>
          <p:cNvPr id="204" name="Picture 203" descr="lock.png"/>
          <p:cNvPicPr>
            <a:picLocks noChangeAspect="1"/>
          </p:cNvPicPr>
          <p:nvPr/>
        </p:nvPicPr>
        <p:blipFill>
          <a:blip r:embed="rId4"/>
          <a:stretch>
            <a:fillRect/>
          </a:stretch>
        </p:blipFill>
        <p:spPr>
          <a:xfrm>
            <a:off x="11463420" y="3335401"/>
            <a:ext cx="128699" cy="187198"/>
          </a:xfrm>
          <a:prstGeom prst="rect">
            <a:avLst/>
          </a:prstGeom>
        </p:spPr>
      </p:pic>
      <p:pic>
        <p:nvPicPr>
          <p:cNvPr id="205" name="Picture 204" descr="lock.png"/>
          <p:cNvPicPr>
            <a:picLocks noChangeAspect="1"/>
          </p:cNvPicPr>
          <p:nvPr/>
        </p:nvPicPr>
        <p:blipFill>
          <a:blip r:embed="rId4"/>
          <a:stretch>
            <a:fillRect/>
          </a:stretch>
        </p:blipFill>
        <p:spPr>
          <a:xfrm>
            <a:off x="4049543" y="3678301"/>
            <a:ext cx="128699" cy="187198"/>
          </a:xfrm>
          <a:prstGeom prst="rect">
            <a:avLst/>
          </a:prstGeom>
        </p:spPr>
      </p:pic>
      <p:pic>
        <p:nvPicPr>
          <p:cNvPr id="206" name="Picture 205" descr="lock.png"/>
          <p:cNvPicPr>
            <a:picLocks noChangeAspect="1"/>
          </p:cNvPicPr>
          <p:nvPr/>
        </p:nvPicPr>
        <p:blipFill>
          <a:blip r:embed="rId4"/>
          <a:stretch>
            <a:fillRect/>
          </a:stretch>
        </p:blipFill>
        <p:spPr>
          <a:xfrm>
            <a:off x="10515959" y="3678301"/>
            <a:ext cx="128699" cy="187198"/>
          </a:xfrm>
          <a:prstGeom prst="rect">
            <a:avLst/>
          </a:prstGeom>
        </p:spPr>
      </p:pic>
      <p:pic>
        <p:nvPicPr>
          <p:cNvPr id="207" name="Picture 206" descr="lock.png"/>
          <p:cNvPicPr>
            <a:picLocks noChangeAspect="1"/>
          </p:cNvPicPr>
          <p:nvPr/>
        </p:nvPicPr>
        <p:blipFill>
          <a:blip r:embed="rId4"/>
          <a:stretch>
            <a:fillRect/>
          </a:stretch>
        </p:blipFill>
        <p:spPr>
          <a:xfrm>
            <a:off x="11463420" y="3678301"/>
            <a:ext cx="128699" cy="187198"/>
          </a:xfrm>
          <a:prstGeom prst="rect">
            <a:avLst/>
          </a:prstGeom>
        </p:spPr>
      </p:pic>
      <p:pic>
        <p:nvPicPr>
          <p:cNvPr id="208" name="Picture 207" descr="lock.png"/>
          <p:cNvPicPr>
            <a:picLocks noChangeAspect="1"/>
          </p:cNvPicPr>
          <p:nvPr/>
        </p:nvPicPr>
        <p:blipFill>
          <a:blip r:embed="rId4"/>
          <a:stretch>
            <a:fillRect/>
          </a:stretch>
        </p:blipFill>
        <p:spPr>
          <a:xfrm>
            <a:off x="4049543" y="4021201"/>
            <a:ext cx="128699" cy="187198"/>
          </a:xfrm>
          <a:prstGeom prst="rect">
            <a:avLst/>
          </a:prstGeom>
        </p:spPr>
      </p:pic>
      <p:pic>
        <p:nvPicPr>
          <p:cNvPr id="209" name="Picture 208" descr="lock.png"/>
          <p:cNvPicPr>
            <a:picLocks noChangeAspect="1"/>
          </p:cNvPicPr>
          <p:nvPr/>
        </p:nvPicPr>
        <p:blipFill>
          <a:blip r:embed="rId4"/>
          <a:stretch>
            <a:fillRect/>
          </a:stretch>
        </p:blipFill>
        <p:spPr>
          <a:xfrm>
            <a:off x="10515959" y="4021201"/>
            <a:ext cx="128699" cy="187198"/>
          </a:xfrm>
          <a:prstGeom prst="rect">
            <a:avLst/>
          </a:prstGeom>
        </p:spPr>
      </p:pic>
      <p:pic>
        <p:nvPicPr>
          <p:cNvPr id="210" name="Picture 209" descr="lock.png"/>
          <p:cNvPicPr>
            <a:picLocks noChangeAspect="1"/>
          </p:cNvPicPr>
          <p:nvPr/>
        </p:nvPicPr>
        <p:blipFill>
          <a:blip r:embed="rId4"/>
          <a:stretch>
            <a:fillRect/>
          </a:stretch>
        </p:blipFill>
        <p:spPr>
          <a:xfrm>
            <a:off x="11463420" y="4021201"/>
            <a:ext cx="128699" cy="187198"/>
          </a:xfrm>
          <a:prstGeom prst="rect">
            <a:avLst/>
          </a:prstGeom>
        </p:spPr>
      </p:pic>
      <p:pic>
        <p:nvPicPr>
          <p:cNvPr id="211" name="Picture 210" descr="lock.png"/>
          <p:cNvPicPr>
            <a:picLocks noChangeAspect="1"/>
          </p:cNvPicPr>
          <p:nvPr/>
        </p:nvPicPr>
        <p:blipFill>
          <a:blip r:embed="rId4"/>
          <a:stretch>
            <a:fillRect/>
          </a:stretch>
        </p:blipFill>
        <p:spPr>
          <a:xfrm>
            <a:off x="4049543" y="4364101"/>
            <a:ext cx="128699" cy="187198"/>
          </a:xfrm>
          <a:prstGeom prst="rect">
            <a:avLst/>
          </a:prstGeom>
        </p:spPr>
      </p:pic>
      <p:pic>
        <p:nvPicPr>
          <p:cNvPr id="212" name="Picture 211" descr="lock.png"/>
          <p:cNvPicPr>
            <a:picLocks noChangeAspect="1"/>
          </p:cNvPicPr>
          <p:nvPr/>
        </p:nvPicPr>
        <p:blipFill>
          <a:blip r:embed="rId4"/>
          <a:stretch>
            <a:fillRect/>
          </a:stretch>
        </p:blipFill>
        <p:spPr>
          <a:xfrm>
            <a:off x="10515959" y="4364101"/>
            <a:ext cx="128699" cy="187198"/>
          </a:xfrm>
          <a:prstGeom prst="rect">
            <a:avLst/>
          </a:prstGeom>
        </p:spPr>
      </p:pic>
      <p:pic>
        <p:nvPicPr>
          <p:cNvPr id="213" name="Picture 212" descr="lock.png"/>
          <p:cNvPicPr>
            <a:picLocks noChangeAspect="1"/>
          </p:cNvPicPr>
          <p:nvPr/>
        </p:nvPicPr>
        <p:blipFill>
          <a:blip r:embed="rId4"/>
          <a:stretch>
            <a:fillRect/>
          </a:stretch>
        </p:blipFill>
        <p:spPr>
          <a:xfrm>
            <a:off x="11463420" y="4364101"/>
            <a:ext cx="128699" cy="187198"/>
          </a:xfrm>
          <a:prstGeom prst="rect">
            <a:avLst/>
          </a:prstGeom>
        </p:spPr>
      </p:pic>
      <p:pic>
        <p:nvPicPr>
          <p:cNvPr id="214" name="Picture 213" descr="lock.png"/>
          <p:cNvPicPr>
            <a:picLocks noChangeAspect="1"/>
          </p:cNvPicPr>
          <p:nvPr/>
        </p:nvPicPr>
        <p:blipFill>
          <a:blip r:embed="rId4"/>
          <a:stretch>
            <a:fillRect/>
          </a:stretch>
        </p:blipFill>
        <p:spPr>
          <a:xfrm>
            <a:off x="4049543" y="4707001"/>
            <a:ext cx="128699" cy="187198"/>
          </a:xfrm>
          <a:prstGeom prst="rect">
            <a:avLst/>
          </a:prstGeom>
        </p:spPr>
      </p:pic>
      <p:pic>
        <p:nvPicPr>
          <p:cNvPr id="215" name="Picture 214" descr="lock.png"/>
          <p:cNvPicPr>
            <a:picLocks noChangeAspect="1"/>
          </p:cNvPicPr>
          <p:nvPr/>
        </p:nvPicPr>
        <p:blipFill>
          <a:blip r:embed="rId4"/>
          <a:stretch>
            <a:fillRect/>
          </a:stretch>
        </p:blipFill>
        <p:spPr>
          <a:xfrm>
            <a:off x="10515959" y="4707001"/>
            <a:ext cx="128699" cy="187198"/>
          </a:xfrm>
          <a:prstGeom prst="rect">
            <a:avLst/>
          </a:prstGeom>
        </p:spPr>
      </p:pic>
      <p:pic>
        <p:nvPicPr>
          <p:cNvPr id="216" name="Picture 215" descr="lock.png"/>
          <p:cNvPicPr>
            <a:picLocks noChangeAspect="1"/>
          </p:cNvPicPr>
          <p:nvPr/>
        </p:nvPicPr>
        <p:blipFill>
          <a:blip r:embed="rId4"/>
          <a:stretch>
            <a:fillRect/>
          </a:stretch>
        </p:blipFill>
        <p:spPr>
          <a:xfrm>
            <a:off x="11463420" y="4707001"/>
            <a:ext cx="128699" cy="187198"/>
          </a:xfrm>
          <a:prstGeom prst="rect">
            <a:avLst/>
          </a:prstGeom>
        </p:spPr>
      </p:pic>
      <p:pic>
        <p:nvPicPr>
          <p:cNvPr id="217" name="Picture 216" descr="lock.png"/>
          <p:cNvPicPr>
            <a:picLocks noChangeAspect="1"/>
          </p:cNvPicPr>
          <p:nvPr/>
        </p:nvPicPr>
        <p:blipFill>
          <a:blip r:embed="rId4"/>
          <a:stretch>
            <a:fillRect/>
          </a:stretch>
        </p:blipFill>
        <p:spPr>
          <a:xfrm>
            <a:off x="4049543" y="5049901"/>
            <a:ext cx="128699" cy="187198"/>
          </a:xfrm>
          <a:prstGeom prst="rect">
            <a:avLst/>
          </a:prstGeom>
        </p:spPr>
      </p:pic>
      <p:pic>
        <p:nvPicPr>
          <p:cNvPr id="218" name="Picture 217" descr="lock.png"/>
          <p:cNvPicPr>
            <a:picLocks noChangeAspect="1"/>
          </p:cNvPicPr>
          <p:nvPr/>
        </p:nvPicPr>
        <p:blipFill>
          <a:blip r:embed="rId4"/>
          <a:stretch>
            <a:fillRect/>
          </a:stretch>
        </p:blipFill>
        <p:spPr>
          <a:xfrm>
            <a:off x="10515959" y="5049901"/>
            <a:ext cx="128699" cy="187198"/>
          </a:xfrm>
          <a:prstGeom prst="rect">
            <a:avLst/>
          </a:prstGeom>
        </p:spPr>
      </p:pic>
      <p:pic>
        <p:nvPicPr>
          <p:cNvPr id="219" name="Picture 218" descr="lock.png"/>
          <p:cNvPicPr>
            <a:picLocks noChangeAspect="1"/>
          </p:cNvPicPr>
          <p:nvPr/>
        </p:nvPicPr>
        <p:blipFill>
          <a:blip r:embed="rId4"/>
          <a:stretch>
            <a:fillRect/>
          </a:stretch>
        </p:blipFill>
        <p:spPr>
          <a:xfrm>
            <a:off x="11463420" y="5049901"/>
            <a:ext cx="128699" cy="187198"/>
          </a:xfrm>
          <a:prstGeom prst="rect">
            <a:avLst/>
          </a:prstGeom>
        </p:spPr>
      </p:pic>
      <p:pic>
        <p:nvPicPr>
          <p:cNvPr id="220" name="Picture 219" descr="lock.png"/>
          <p:cNvPicPr>
            <a:picLocks noChangeAspect="1"/>
          </p:cNvPicPr>
          <p:nvPr/>
        </p:nvPicPr>
        <p:blipFill>
          <a:blip r:embed="rId4"/>
          <a:stretch>
            <a:fillRect/>
          </a:stretch>
        </p:blipFill>
        <p:spPr>
          <a:xfrm>
            <a:off x="4049543" y="5392801"/>
            <a:ext cx="128699" cy="187198"/>
          </a:xfrm>
          <a:prstGeom prst="rect">
            <a:avLst/>
          </a:prstGeom>
        </p:spPr>
      </p:pic>
      <p:pic>
        <p:nvPicPr>
          <p:cNvPr id="221" name="Picture 220" descr="lock.png"/>
          <p:cNvPicPr>
            <a:picLocks noChangeAspect="1"/>
          </p:cNvPicPr>
          <p:nvPr/>
        </p:nvPicPr>
        <p:blipFill>
          <a:blip r:embed="rId4"/>
          <a:stretch>
            <a:fillRect/>
          </a:stretch>
        </p:blipFill>
        <p:spPr>
          <a:xfrm>
            <a:off x="10515959" y="5392801"/>
            <a:ext cx="128699" cy="187198"/>
          </a:xfrm>
          <a:prstGeom prst="rect">
            <a:avLst/>
          </a:prstGeom>
        </p:spPr>
      </p:pic>
      <p:pic>
        <p:nvPicPr>
          <p:cNvPr id="222" name="Picture 221" descr="lock.png"/>
          <p:cNvPicPr>
            <a:picLocks noChangeAspect="1"/>
          </p:cNvPicPr>
          <p:nvPr/>
        </p:nvPicPr>
        <p:blipFill>
          <a:blip r:embed="rId4"/>
          <a:stretch>
            <a:fillRect/>
          </a:stretch>
        </p:blipFill>
        <p:spPr>
          <a:xfrm>
            <a:off x="11463420" y="5392801"/>
            <a:ext cx="128699" cy="187198"/>
          </a:xfrm>
          <a:prstGeom prst="rect">
            <a:avLst/>
          </a:prstGeom>
        </p:spPr>
      </p:pic>
    </p:spTree>
  </p:cSld>
  <p:clrMapOvr>
    <a:masterClrMapping/>
  </p:clrMapOvr>
</p:sld>
</file>

<file path=ppt/slides/slide2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Egg Protein Membrane Market Offering Scorecard: What They Sell</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Six offering Ps: product, technology, price and model, verticals, proof and IP</a:t>
            </a:r>
          </a:p>
        </p:txBody>
      </p:sp>
      <p:sp>
        <p:nvSpPr>
          <p:cNvPr id="7" name="Rectangle 6"/>
          <p:cNvSpPr/>
          <p:nvPr/>
        </p:nvSpPr>
        <p:spPr>
          <a:xfrm>
            <a:off x="190500" y="1047750"/>
            <a:ext cx="11811000" cy="2095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66700" y="1047750"/>
            <a:ext cx="6667500" cy="209550"/>
          </a:xfrm>
          <a:prstGeom prst="rect">
            <a:avLst/>
          </a:prstGeom>
          <a:noFill/>
        </p:spPr>
        <p:txBody>
          <a:bodyPr wrap="square" lIns="28575" rIns="28575" tIns="9525" bIns="9525" anchor="ctr">
            <a:spAutoFit/>
          </a:bodyPr>
          <a:lstStyle/>
          <a:p>
            <a:pPr algn="l"/>
            <a:r>
              <a:rPr sz="1100" b="1">
                <a:solidFill>
                  <a:srgbClr val="FFFFFF"/>
                </a:solidFill>
                <a:latin typeface="Calibri"/>
              </a:rPr>
              <a:t>LEVEL 2, OFFERING: WHAT THEY SELL</a:t>
            </a:r>
          </a:p>
        </p:txBody>
      </p:sp>
      <p:sp>
        <p:nvSpPr>
          <p:cNvPr id="9" name="TextBox 8"/>
          <p:cNvSpPr txBox="1"/>
          <p:nvPr/>
        </p:nvSpPr>
        <p:spPr>
          <a:xfrm>
            <a:off x="3086100" y="1295400"/>
            <a:ext cx="1240491"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Product</a:t>
            </a:r>
          </a:p>
        </p:txBody>
      </p:sp>
      <p:sp>
        <p:nvSpPr>
          <p:cNvPr id="10" name="TextBox 9"/>
          <p:cNvSpPr txBox="1"/>
          <p:nvPr/>
        </p:nvSpPr>
        <p:spPr>
          <a:xfrm>
            <a:off x="3086100" y="1657350"/>
            <a:ext cx="1240491"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Of the top three types offered</a:t>
            </a:r>
          </a:p>
        </p:txBody>
      </p:sp>
      <p:sp>
        <p:nvSpPr>
          <p:cNvPr id="11" name="TextBox 10"/>
          <p:cNvSpPr txBox="1"/>
          <p:nvPr/>
        </p:nvSpPr>
        <p:spPr>
          <a:xfrm>
            <a:off x="4402791" y="1295400"/>
            <a:ext cx="1240491"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Platform (technology)</a:t>
            </a:r>
          </a:p>
        </p:txBody>
      </p:sp>
      <p:sp>
        <p:nvSpPr>
          <p:cNvPr id="12" name="TextBox 11"/>
          <p:cNvSpPr txBox="1"/>
          <p:nvPr/>
        </p:nvSpPr>
        <p:spPr>
          <a:xfrm>
            <a:off x="4402791" y="1657350"/>
            <a:ext cx="1240491"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R&amp;D and development: both 3, one 2</a:t>
            </a:r>
          </a:p>
        </p:txBody>
      </p:sp>
      <p:sp>
        <p:nvSpPr>
          <p:cNvPr id="13" name="TextBox 12"/>
          <p:cNvSpPr txBox="1"/>
          <p:nvPr/>
        </p:nvSpPr>
        <p:spPr>
          <a:xfrm>
            <a:off x="5719482" y="1295400"/>
            <a:ext cx="1503829"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Price and model</a:t>
            </a:r>
          </a:p>
        </p:txBody>
      </p:sp>
      <p:sp>
        <p:nvSpPr>
          <p:cNvPr id="14" name="TextBox 13"/>
          <p:cNvSpPr txBox="1"/>
          <p:nvPr/>
        </p:nvSpPr>
        <p:spPr>
          <a:xfrm>
            <a:off x="5719482" y="1657350"/>
            <a:ext cx="1503829"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Positioning by tier</a:t>
            </a:r>
          </a:p>
        </p:txBody>
      </p:sp>
      <p:sp>
        <p:nvSpPr>
          <p:cNvPr id="15" name="TextBox 14"/>
          <p:cNvSpPr txBox="1"/>
          <p:nvPr/>
        </p:nvSpPr>
        <p:spPr>
          <a:xfrm>
            <a:off x="7299512" y="1295400"/>
            <a:ext cx="1503829"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Positioning (verticals)</a:t>
            </a:r>
          </a:p>
        </p:txBody>
      </p:sp>
      <p:sp>
        <p:nvSpPr>
          <p:cNvPr id="16" name="TextBox 15"/>
          <p:cNvSpPr txBox="1"/>
          <p:nvPr/>
        </p:nvSpPr>
        <p:spPr>
          <a:xfrm>
            <a:off x="7299512" y="1657350"/>
            <a:ext cx="1503829"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End uses served</a:t>
            </a:r>
          </a:p>
        </p:txBody>
      </p:sp>
      <p:sp>
        <p:nvSpPr>
          <p:cNvPr id="17" name="TextBox 16"/>
          <p:cNvSpPr txBox="1"/>
          <p:nvPr/>
        </p:nvSpPr>
        <p:spPr>
          <a:xfrm>
            <a:off x="8879541" y="1295400"/>
            <a:ext cx="1503829"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Proof</a:t>
            </a:r>
          </a:p>
        </p:txBody>
      </p:sp>
      <p:sp>
        <p:nvSpPr>
          <p:cNvPr id="18" name="TextBox 17"/>
          <p:cNvSpPr txBox="1"/>
          <p:nvPr/>
        </p:nvSpPr>
        <p:spPr>
          <a:xfrm>
            <a:off x="8879541" y="1657350"/>
            <a:ext cx="1503829"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Named customer references</a:t>
            </a:r>
          </a:p>
        </p:txBody>
      </p:sp>
      <p:sp>
        <p:nvSpPr>
          <p:cNvPr id="19" name="TextBox 18"/>
          <p:cNvSpPr txBox="1"/>
          <p:nvPr/>
        </p:nvSpPr>
        <p:spPr>
          <a:xfrm>
            <a:off x="10459571" y="1295400"/>
            <a:ext cx="1503829"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Patents and IP</a:t>
            </a:r>
          </a:p>
        </p:txBody>
      </p:sp>
      <p:sp>
        <p:nvSpPr>
          <p:cNvPr id="20" name="TextBox 19"/>
          <p:cNvSpPr txBox="1"/>
          <p:nvPr/>
        </p:nvSpPr>
        <p:spPr>
          <a:xfrm>
            <a:off x="10459571" y="1657350"/>
            <a:ext cx="1503829"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Where the study covers patents</a:t>
            </a:r>
          </a:p>
        </p:txBody>
      </p:sp>
      <p:cxnSp>
        <p:nvCxnSpPr>
          <p:cNvPr id="21" name="Connector 20"/>
          <p:cNvCxnSpPr/>
          <p:nvPr/>
        </p:nvCxnSpPr>
        <p:spPr>
          <a:xfrm>
            <a:off x="190500" y="2209800"/>
            <a:ext cx="11811000" cy="0"/>
          </a:xfrm>
          <a:prstGeom prst="line">
            <a:avLst/>
          </a:prstGeom>
          <a:ln w="12700">
            <a:solidFill>
              <a:srgbClr val="0F2D52"/>
            </a:solidFill>
          </a:ln>
          <a:effectLst/>
        </p:spPr>
        <p:style>
          <a:lnRef idx="2">
            <a:schemeClr val="accent1"/>
          </a:lnRef>
          <a:fillRef idx="0">
            <a:schemeClr val="accent1"/>
          </a:fillRef>
          <a:effectRef idx="1">
            <a:schemeClr val="accent1"/>
          </a:effectRef>
          <a:fontRef idx="minor">
            <a:schemeClr val="tx1"/>
          </a:fontRef>
        </p:style>
      </p:cxnSp>
      <p:sp>
        <p:nvSpPr>
          <p:cNvPr id="22" name="Rectangle 21"/>
          <p:cNvSpPr/>
          <p:nvPr/>
        </p:nvSpPr>
        <p:spPr>
          <a:xfrm>
            <a:off x="190500" y="22574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85750" y="2247900"/>
            <a:ext cx="2743200" cy="171450"/>
          </a:xfrm>
          <a:prstGeom prst="rect">
            <a:avLst/>
          </a:prstGeom>
          <a:noFill/>
        </p:spPr>
        <p:txBody>
          <a:bodyPr wrap="square" lIns="28575" rIns="28575" tIns="9525" bIns="9525" anchor="t">
            <a:spAutoFit/>
          </a:bodyPr>
          <a:lstStyle/>
          <a:p>
            <a:pPr algn="l"/>
            <a:r>
              <a:rPr sz="1100" b="1">
                <a:solidFill>
                  <a:srgbClr val="1F2933"/>
                </a:solidFill>
                <a:latin typeface="Calibri"/>
              </a:rPr>
              <a:t>ESM Technologies, LLC</a:t>
            </a:r>
          </a:p>
        </p:txBody>
      </p:sp>
      <p:sp>
        <p:nvSpPr>
          <p:cNvPr id="24" name="TextBox 23"/>
          <p:cNvSpPr txBox="1"/>
          <p:nvPr/>
        </p:nvSpPr>
        <p:spPr>
          <a:xfrm>
            <a:off x="285750" y="2409825"/>
            <a:ext cx="2743200"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25" name="Oval 24"/>
          <p:cNvSpPr/>
          <p:nvPr/>
        </p:nvSpPr>
        <p:spPr>
          <a:xfrm>
            <a:off x="3630146" y="23241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4946837" y="23241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Freeform 26"/>
          <p:cNvSpPr/>
          <p:nvPr/>
        </p:nvSpPr>
        <p:spPr>
          <a:xfrm>
            <a:off x="5019675" y="23241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719482" y="2228850"/>
            <a:ext cx="1503829"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Premium / bundled</a:t>
            </a:r>
          </a:p>
        </p:txBody>
      </p:sp>
      <p:sp>
        <p:nvSpPr>
          <p:cNvPr id="29" name="TextBox 28"/>
          <p:cNvSpPr txBox="1"/>
          <p:nvPr/>
        </p:nvSpPr>
        <p:spPr>
          <a:xfrm>
            <a:off x="7299512" y="2228850"/>
            <a:ext cx="1503829"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Dietary Supplements &amp; Nutraceuticals, Pharmaceuticals &amp; Biomedical</a:t>
            </a:r>
          </a:p>
        </p:txBody>
      </p:sp>
      <p:sp>
        <p:nvSpPr>
          <p:cNvPr id="30" name="TextBox 29"/>
          <p:cNvSpPr txBox="1"/>
          <p:nvPr/>
        </p:nvSpPr>
        <p:spPr>
          <a:xfrm>
            <a:off x="8841441" y="2228850"/>
            <a:ext cx="1580029"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31" name="TextBox 30"/>
          <p:cNvSpPr txBox="1"/>
          <p:nvPr/>
        </p:nvSpPr>
        <p:spPr>
          <a:xfrm>
            <a:off x="10421471" y="2228850"/>
            <a:ext cx="1580029"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32" name="Connector 31"/>
          <p:cNvCxnSpPr/>
          <p:nvPr/>
        </p:nvCxnSpPr>
        <p:spPr>
          <a:xfrm>
            <a:off x="190500" y="25717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33" name="Rectangle 32"/>
          <p:cNvSpPr/>
          <p:nvPr/>
        </p:nvSpPr>
        <p:spPr>
          <a:xfrm>
            <a:off x="190500" y="26003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85750" y="2590800"/>
            <a:ext cx="2743200" cy="171450"/>
          </a:xfrm>
          <a:prstGeom prst="rect">
            <a:avLst/>
          </a:prstGeom>
          <a:noFill/>
        </p:spPr>
        <p:txBody>
          <a:bodyPr wrap="square" lIns="28575" rIns="28575" tIns="9525" bIns="9525" anchor="t">
            <a:spAutoFit/>
          </a:bodyPr>
          <a:lstStyle/>
          <a:p>
            <a:pPr algn="l"/>
            <a:r>
              <a:rPr sz="1100" b="1">
                <a:solidFill>
                  <a:srgbClr val="1F2933"/>
                </a:solidFill>
                <a:latin typeface="Calibri"/>
              </a:rPr>
              <a:t>Company</a:t>
            </a:r>
          </a:p>
        </p:txBody>
      </p:sp>
      <p:sp>
        <p:nvSpPr>
          <p:cNvPr id="35" name="TextBox 34"/>
          <p:cNvSpPr txBox="1"/>
          <p:nvPr/>
        </p:nvSpPr>
        <p:spPr>
          <a:xfrm>
            <a:off x="285750" y="2752725"/>
            <a:ext cx="2743200"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36" name="Oval 35"/>
          <p:cNvSpPr/>
          <p:nvPr/>
        </p:nvSpPr>
        <p:spPr>
          <a:xfrm>
            <a:off x="3630146" y="26670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Freeform 36"/>
          <p:cNvSpPr/>
          <p:nvPr/>
        </p:nvSpPr>
        <p:spPr>
          <a:xfrm>
            <a:off x="3705225" y="26670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4946837" y="26670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719482" y="2571750"/>
            <a:ext cx="1503829"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Premium / bundled</a:t>
            </a:r>
          </a:p>
        </p:txBody>
      </p:sp>
      <p:sp>
        <p:nvSpPr>
          <p:cNvPr id="40" name="TextBox 39"/>
          <p:cNvSpPr txBox="1"/>
          <p:nvPr/>
        </p:nvSpPr>
        <p:spPr>
          <a:xfrm>
            <a:off x="7299512" y="2571750"/>
            <a:ext cx="1503829"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Dietary Supplements &amp; Nutraceuticals, Functional Food &amp; Beverages</a:t>
            </a:r>
          </a:p>
        </p:txBody>
      </p:sp>
      <p:sp>
        <p:nvSpPr>
          <p:cNvPr id="41" name="TextBox 40"/>
          <p:cNvSpPr txBox="1"/>
          <p:nvPr/>
        </p:nvSpPr>
        <p:spPr>
          <a:xfrm>
            <a:off x="8841441" y="2571750"/>
            <a:ext cx="1580029"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42" name="TextBox 41"/>
          <p:cNvSpPr txBox="1"/>
          <p:nvPr/>
        </p:nvSpPr>
        <p:spPr>
          <a:xfrm>
            <a:off x="10421471" y="2571750"/>
            <a:ext cx="1580029"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43" name="Connector 42"/>
          <p:cNvCxnSpPr/>
          <p:nvPr/>
        </p:nvCxnSpPr>
        <p:spPr>
          <a:xfrm>
            <a:off x="190500" y="29146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44" name="Rectangle 43"/>
          <p:cNvSpPr/>
          <p:nvPr/>
        </p:nvSpPr>
        <p:spPr>
          <a:xfrm>
            <a:off x="190500" y="29432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285750" y="2933700"/>
            <a:ext cx="2743200" cy="171450"/>
          </a:xfrm>
          <a:prstGeom prst="rect">
            <a:avLst/>
          </a:prstGeom>
          <a:noFill/>
        </p:spPr>
        <p:txBody>
          <a:bodyPr wrap="square" lIns="28575" rIns="28575" tIns="9525" bIns="9525" anchor="t">
            <a:spAutoFit/>
          </a:bodyPr>
          <a:lstStyle/>
          <a:p>
            <a:pPr algn="l"/>
            <a:r>
              <a:rPr sz="1100" b="1">
                <a:solidFill>
                  <a:srgbClr val="1F2933"/>
                </a:solidFill>
                <a:latin typeface="Calibri"/>
              </a:rPr>
              <a:t>Biova, LLC</a:t>
            </a:r>
          </a:p>
        </p:txBody>
      </p:sp>
      <p:sp>
        <p:nvSpPr>
          <p:cNvPr id="46" name="TextBox 45"/>
          <p:cNvSpPr txBox="1"/>
          <p:nvPr/>
        </p:nvSpPr>
        <p:spPr>
          <a:xfrm>
            <a:off x="285750" y="3095625"/>
            <a:ext cx="2743200"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47" name="Oval 46"/>
          <p:cNvSpPr/>
          <p:nvPr/>
        </p:nvSpPr>
        <p:spPr>
          <a:xfrm>
            <a:off x="3630146" y="30099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Freeform 47"/>
          <p:cNvSpPr/>
          <p:nvPr/>
        </p:nvSpPr>
        <p:spPr>
          <a:xfrm>
            <a:off x="3705225" y="30099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4946837" y="30099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Freeform 49"/>
          <p:cNvSpPr/>
          <p:nvPr/>
        </p:nvSpPr>
        <p:spPr>
          <a:xfrm>
            <a:off x="5019675" y="30099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5719482" y="2914650"/>
            <a:ext cx="1503829"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Premium / bundled</a:t>
            </a:r>
          </a:p>
        </p:txBody>
      </p:sp>
      <p:sp>
        <p:nvSpPr>
          <p:cNvPr id="52" name="TextBox 51"/>
          <p:cNvSpPr txBox="1"/>
          <p:nvPr/>
        </p:nvSpPr>
        <p:spPr>
          <a:xfrm>
            <a:off x="7299512" y="2914650"/>
            <a:ext cx="1503829"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Pharmaceuticals &amp; Biomedical, Functional Food &amp; Beverages</a:t>
            </a:r>
          </a:p>
        </p:txBody>
      </p:sp>
      <p:sp>
        <p:nvSpPr>
          <p:cNvPr id="53" name="TextBox 52"/>
          <p:cNvSpPr txBox="1"/>
          <p:nvPr/>
        </p:nvSpPr>
        <p:spPr>
          <a:xfrm>
            <a:off x="8841441" y="2914650"/>
            <a:ext cx="1580029"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54" name="TextBox 53"/>
          <p:cNvSpPr txBox="1"/>
          <p:nvPr/>
        </p:nvSpPr>
        <p:spPr>
          <a:xfrm>
            <a:off x="10421471" y="2914650"/>
            <a:ext cx="1580029"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55" name="Connector 54"/>
          <p:cNvCxnSpPr/>
          <p:nvPr/>
        </p:nvCxnSpPr>
        <p:spPr>
          <a:xfrm>
            <a:off x="190500" y="32575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56" name="Rectangle 55"/>
          <p:cNvSpPr/>
          <p:nvPr/>
        </p:nvSpPr>
        <p:spPr>
          <a:xfrm>
            <a:off x="190500" y="32861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285750" y="3276600"/>
            <a:ext cx="2743200" cy="171450"/>
          </a:xfrm>
          <a:prstGeom prst="rect">
            <a:avLst/>
          </a:prstGeom>
          <a:noFill/>
        </p:spPr>
        <p:txBody>
          <a:bodyPr wrap="square" lIns="28575" rIns="28575" tIns="9525" bIns="9525" anchor="t">
            <a:spAutoFit/>
          </a:bodyPr>
          <a:lstStyle/>
          <a:p>
            <a:pPr algn="l"/>
            <a:r>
              <a:rPr sz="1100" b="1">
                <a:solidFill>
                  <a:srgbClr val="1F2933"/>
                </a:solidFill>
                <a:latin typeface="Calibri"/>
              </a:rPr>
              <a:t>Eggnovo S.L.</a:t>
            </a:r>
          </a:p>
        </p:txBody>
      </p:sp>
      <p:sp>
        <p:nvSpPr>
          <p:cNvPr id="58" name="TextBox 57"/>
          <p:cNvSpPr txBox="1"/>
          <p:nvPr/>
        </p:nvSpPr>
        <p:spPr>
          <a:xfrm>
            <a:off x="285750" y="3438525"/>
            <a:ext cx="2743200"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59" name="Oval 58"/>
          <p:cNvSpPr/>
          <p:nvPr/>
        </p:nvSpPr>
        <p:spPr>
          <a:xfrm>
            <a:off x="3630146" y="33528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Freeform 59"/>
          <p:cNvSpPr/>
          <p:nvPr/>
        </p:nvSpPr>
        <p:spPr>
          <a:xfrm>
            <a:off x="3705225" y="33528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Oval 60"/>
          <p:cNvSpPr/>
          <p:nvPr/>
        </p:nvSpPr>
        <p:spPr>
          <a:xfrm>
            <a:off x="4946837" y="33528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5719482" y="3257550"/>
            <a:ext cx="1503829"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Premium / bundled</a:t>
            </a:r>
          </a:p>
        </p:txBody>
      </p:sp>
      <p:sp>
        <p:nvSpPr>
          <p:cNvPr id="63" name="TextBox 62"/>
          <p:cNvSpPr txBox="1"/>
          <p:nvPr/>
        </p:nvSpPr>
        <p:spPr>
          <a:xfrm>
            <a:off x="7299512" y="3257550"/>
            <a:ext cx="1503829"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Dietary Supplements &amp; Nutraceuticals, Pharmaceuticals &amp; Biomedical</a:t>
            </a:r>
          </a:p>
        </p:txBody>
      </p:sp>
      <p:sp>
        <p:nvSpPr>
          <p:cNvPr id="64" name="TextBox 63"/>
          <p:cNvSpPr txBox="1"/>
          <p:nvPr/>
        </p:nvSpPr>
        <p:spPr>
          <a:xfrm>
            <a:off x="8841441" y="3257550"/>
            <a:ext cx="1580029"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65" name="TextBox 64"/>
          <p:cNvSpPr txBox="1"/>
          <p:nvPr/>
        </p:nvSpPr>
        <p:spPr>
          <a:xfrm>
            <a:off x="10421471" y="3257550"/>
            <a:ext cx="1580029"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66" name="Connector 65"/>
          <p:cNvCxnSpPr/>
          <p:nvPr/>
        </p:nvCxnSpPr>
        <p:spPr>
          <a:xfrm>
            <a:off x="190500" y="36004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67" name="Rectangle 66"/>
          <p:cNvSpPr/>
          <p:nvPr/>
        </p:nvSpPr>
        <p:spPr>
          <a:xfrm>
            <a:off x="190500" y="3629025"/>
            <a:ext cx="38100" cy="28575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285750" y="3619500"/>
            <a:ext cx="2743200" cy="171450"/>
          </a:xfrm>
          <a:prstGeom prst="rect">
            <a:avLst/>
          </a:prstGeom>
          <a:noFill/>
        </p:spPr>
        <p:txBody>
          <a:bodyPr wrap="square" lIns="28575" rIns="28575" tIns="9525" bIns="9525" anchor="t">
            <a:spAutoFit/>
          </a:bodyPr>
          <a:lstStyle/>
          <a:p>
            <a:pPr algn="l"/>
            <a:r>
              <a:rPr sz="1100" b="1">
                <a:solidFill>
                  <a:srgbClr val="1F2933"/>
                </a:solidFill>
                <a:latin typeface="Calibri"/>
              </a:rPr>
              <a:t>Dutch Eggmembrane Protein Powder</a:t>
            </a:r>
          </a:p>
        </p:txBody>
      </p:sp>
      <p:sp>
        <p:nvSpPr>
          <p:cNvPr id="69" name="TextBox 68"/>
          <p:cNvSpPr txBox="1"/>
          <p:nvPr/>
        </p:nvSpPr>
        <p:spPr>
          <a:xfrm>
            <a:off x="285750" y="3781425"/>
            <a:ext cx="2743200" cy="152400"/>
          </a:xfrm>
          <a:prstGeom prst="rect">
            <a:avLst/>
          </a:prstGeom>
          <a:noFill/>
        </p:spPr>
        <p:txBody>
          <a:bodyPr wrap="square" lIns="28575" rIns="28575" tIns="9525" bIns="9525" anchor="t">
            <a:spAutoFit/>
          </a:bodyPr>
          <a:lstStyle/>
          <a:p>
            <a:pPr algn="l"/>
            <a:r>
              <a:rPr sz="1100" b="0">
                <a:solidFill>
                  <a:srgbClr val="5F6B7A"/>
                </a:solidFill>
                <a:latin typeface="Calibri"/>
              </a:rPr>
              <a:t>Tier 2</a:t>
            </a:r>
          </a:p>
        </p:txBody>
      </p:sp>
      <p:sp>
        <p:nvSpPr>
          <p:cNvPr id="70" name="Oval 69"/>
          <p:cNvSpPr/>
          <p:nvPr/>
        </p:nvSpPr>
        <p:spPr>
          <a:xfrm>
            <a:off x="3630146" y="36957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Oval 70"/>
          <p:cNvSpPr/>
          <p:nvPr/>
        </p:nvSpPr>
        <p:spPr>
          <a:xfrm>
            <a:off x="4946837" y="3695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Freeform 71"/>
          <p:cNvSpPr/>
          <p:nvPr/>
        </p:nvSpPr>
        <p:spPr>
          <a:xfrm>
            <a:off x="5019675" y="36957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5719482" y="3600450"/>
            <a:ext cx="1503829"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Mid / value-added</a:t>
            </a:r>
          </a:p>
        </p:txBody>
      </p:sp>
      <p:sp>
        <p:nvSpPr>
          <p:cNvPr id="74" name="TextBox 73"/>
          <p:cNvSpPr txBox="1"/>
          <p:nvPr/>
        </p:nvSpPr>
        <p:spPr>
          <a:xfrm>
            <a:off x="7299512" y="3600450"/>
            <a:ext cx="1503829"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Dietary Supplements &amp; Nutraceuticals, Functional Food &amp; Beverages</a:t>
            </a:r>
          </a:p>
        </p:txBody>
      </p:sp>
      <p:sp>
        <p:nvSpPr>
          <p:cNvPr id="75" name="TextBox 74"/>
          <p:cNvSpPr txBox="1"/>
          <p:nvPr/>
        </p:nvSpPr>
        <p:spPr>
          <a:xfrm>
            <a:off x="8841441" y="3600450"/>
            <a:ext cx="1580029"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76" name="TextBox 75"/>
          <p:cNvSpPr txBox="1"/>
          <p:nvPr/>
        </p:nvSpPr>
        <p:spPr>
          <a:xfrm>
            <a:off x="10421471" y="3600450"/>
            <a:ext cx="1580029"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77" name="Connector 76"/>
          <p:cNvCxnSpPr/>
          <p:nvPr/>
        </p:nvCxnSpPr>
        <p:spPr>
          <a:xfrm>
            <a:off x="190500" y="39433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78" name="Rectangle 77"/>
          <p:cNvSpPr/>
          <p:nvPr/>
        </p:nvSpPr>
        <p:spPr>
          <a:xfrm>
            <a:off x="190500" y="3971925"/>
            <a:ext cx="38100" cy="28575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285750" y="3962400"/>
            <a:ext cx="2743200" cy="171450"/>
          </a:xfrm>
          <a:prstGeom prst="rect">
            <a:avLst/>
          </a:prstGeom>
          <a:noFill/>
        </p:spPr>
        <p:txBody>
          <a:bodyPr wrap="square" lIns="28575" rIns="28575" tIns="9525" bIns="9525" anchor="t">
            <a:spAutoFit/>
          </a:bodyPr>
          <a:lstStyle/>
          <a:p>
            <a:pPr algn="l"/>
            <a:r>
              <a:rPr sz="1100" b="1">
                <a:solidFill>
                  <a:srgbClr val="1F2933"/>
                </a:solidFill>
                <a:latin typeface="Calibri"/>
              </a:rPr>
              <a:t>Kewpie Corporation</a:t>
            </a:r>
          </a:p>
        </p:txBody>
      </p:sp>
      <p:sp>
        <p:nvSpPr>
          <p:cNvPr id="80" name="TextBox 79"/>
          <p:cNvSpPr txBox="1"/>
          <p:nvPr/>
        </p:nvSpPr>
        <p:spPr>
          <a:xfrm>
            <a:off x="285750" y="4124325"/>
            <a:ext cx="2743200" cy="152400"/>
          </a:xfrm>
          <a:prstGeom prst="rect">
            <a:avLst/>
          </a:prstGeom>
          <a:noFill/>
        </p:spPr>
        <p:txBody>
          <a:bodyPr wrap="square" lIns="28575" rIns="28575" tIns="9525" bIns="9525" anchor="t">
            <a:spAutoFit/>
          </a:bodyPr>
          <a:lstStyle/>
          <a:p>
            <a:pPr algn="l"/>
            <a:r>
              <a:rPr sz="1100" b="0">
                <a:solidFill>
                  <a:srgbClr val="5F6B7A"/>
                </a:solidFill>
                <a:latin typeface="Calibri"/>
              </a:rPr>
              <a:t>Tier 2</a:t>
            </a:r>
          </a:p>
        </p:txBody>
      </p:sp>
      <p:sp>
        <p:nvSpPr>
          <p:cNvPr id="81" name="Oval 80"/>
          <p:cNvSpPr/>
          <p:nvPr/>
        </p:nvSpPr>
        <p:spPr>
          <a:xfrm>
            <a:off x="3630146" y="4038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Freeform 81"/>
          <p:cNvSpPr/>
          <p:nvPr/>
        </p:nvSpPr>
        <p:spPr>
          <a:xfrm>
            <a:off x="3705225" y="40386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Oval 82"/>
          <p:cNvSpPr/>
          <p:nvPr/>
        </p:nvSpPr>
        <p:spPr>
          <a:xfrm>
            <a:off x="4946837" y="40386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5719482" y="3943350"/>
            <a:ext cx="1503829"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Mid / value-added</a:t>
            </a:r>
          </a:p>
        </p:txBody>
      </p:sp>
      <p:sp>
        <p:nvSpPr>
          <p:cNvPr id="85" name="TextBox 84"/>
          <p:cNvSpPr txBox="1"/>
          <p:nvPr/>
        </p:nvSpPr>
        <p:spPr>
          <a:xfrm>
            <a:off x="7299512" y="3943350"/>
            <a:ext cx="1503829"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Pharmaceuticals &amp; Biomedical, Functional Food &amp; Beverages</a:t>
            </a:r>
          </a:p>
        </p:txBody>
      </p:sp>
      <p:sp>
        <p:nvSpPr>
          <p:cNvPr id="86" name="TextBox 85"/>
          <p:cNvSpPr txBox="1"/>
          <p:nvPr/>
        </p:nvSpPr>
        <p:spPr>
          <a:xfrm>
            <a:off x="8841441" y="3943350"/>
            <a:ext cx="1580029"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87" name="TextBox 86"/>
          <p:cNvSpPr txBox="1"/>
          <p:nvPr/>
        </p:nvSpPr>
        <p:spPr>
          <a:xfrm>
            <a:off x="10421471" y="3943350"/>
            <a:ext cx="1580029"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88" name="Connector 87"/>
          <p:cNvCxnSpPr/>
          <p:nvPr/>
        </p:nvCxnSpPr>
        <p:spPr>
          <a:xfrm>
            <a:off x="190500" y="42862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89" name="Rectangle 88"/>
          <p:cNvSpPr/>
          <p:nvPr/>
        </p:nvSpPr>
        <p:spPr>
          <a:xfrm>
            <a:off x="190500" y="43148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285750" y="4305300"/>
            <a:ext cx="2743200" cy="171450"/>
          </a:xfrm>
          <a:prstGeom prst="rect">
            <a:avLst/>
          </a:prstGeom>
          <a:noFill/>
        </p:spPr>
        <p:txBody>
          <a:bodyPr wrap="square" lIns="28575" rIns="28575" tIns="9525" bIns="9525" anchor="t">
            <a:spAutoFit/>
          </a:bodyPr>
          <a:lstStyle/>
          <a:p>
            <a:pPr algn="l"/>
            <a:r>
              <a:rPr sz="1100" b="1">
                <a:solidFill>
                  <a:srgbClr val="1F2933"/>
                </a:solidFill>
                <a:latin typeface="Calibri"/>
              </a:rPr>
              <a:t>INNAIN</a:t>
            </a:r>
          </a:p>
        </p:txBody>
      </p:sp>
      <p:sp>
        <p:nvSpPr>
          <p:cNvPr id="91" name="TextBox 90"/>
          <p:cNvSpPr txBox="1"/>
          <p:nvPr/>
        </p:nvSpPr>
        <p:spPr>
          <a:xfrm>
            <a:off x="285750" y="4467225"/>
            <a:ext cx="2743200"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92" name="Oval 91"/>
          <p:cNvSpPr/>
          <p:nvPr/>
        </p:nvSpPr>
        <p:spPr>
          <a:xfrm>
            <a:off x="3630146" y="4381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Freeform 92"/>
          <p:cNvSpPr/>
          <p:nvPr/>
        </p:nvSpPr>
        <p:spPr>
          <a:xfrm>
            <a:off x="3705225" y="43815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Oval 93"/>
          <p:cNvSpPr/>
          <p:nvPr/>
        </p:nvSpPr>
        <p:spPr>
          <a:xfrm>
            <a:off x="4946837" y="4381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Freeform 94"/>
          <p:cNvSpPr/>
          <p:nvPr/>
        </p:nvSpPr>
        <p:spPr>
          <a:xfrm>
            <a:off x="5019675" y="43815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5719482" y="4286250"/>
            <a:ext cx="1503829"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Value / entry</a:t>
            </a:r>
          </a:p>
        </p:txBody>
      </p:sp>
      <p:sp>
        <p:nvSpPr>
          <p:cNvPr id="97" name="TextBox 96"/>
          <p:cNvSpPr txBox="1"/>
          <p:nvPr/>
        </p:nvSpPr>
        <p:spPr>
          <a:xfrm>
            <a:off x="7299512" y="4286250"/>
            <a:ext cx="1503829"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Dietary Supplements &amp; Nutraceuticals, Pharmaceuticals &amp; Biomedical</a:t>
            </a:r>
          </a:p>
        </p:txBody>
      </p:sp>
      <p:sp>
        <p:nvSpPr>
          <p:cNvPr id="98" name="TextBox 97"/>
          <p:cNvSpPr txBox="1"/>
          <p:nvPr/>
        </p:nvSpPr>
        <p:spPr>
          <a:xfrm>
            <a:off x="8841441" y="4286250"/>
            <a:ext cx="1580029"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99" name="TextBox 98"/>
          <p:cNvSpPr txBox="1"/>
          <p:nvPr/>
        </p:nvSpPr>
        <p:spPr>
          <a:xfrm>
            <a:off x="10421471" y="4286250"/>
            <a:ext cx="1580029"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100" name="Connector 99"/>
          <p:cNvCxnSpPr/>
          <p:nvPr/>
        </p:nvCxnSpPr>
        <p:spPr>
          <a:xfrm>
            <a:off x="190500" y="46291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01" name="Rectangle 100"/>
          <p:cNvSpPr/>
          <p:nvPr/>
        </p:nvSpPr>
        <p:spPr>
          <a:xfrm>
            <a:off x="190500" y="46577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285750" y="4648200"/>
            <a:ext cx="2743200" cy="171450"/>
          </a:xfrm>
          <a:prstGeom prst="rect">
            <a:avLst/>
          </a:prstGeom>
          <a:noFill/>
        </p:spPr>
        <p:txBody>
          <a:bodyPr wrap="square" lIns="28575" rIns="28575" tIns="9525" bIns="9525" anchor="t">
            <a:spAutoFit/>
          </a:bodyPr>
          <a:lstStyle/>
          <a:p>
            <a:pPr algn="l"/>
            <a:r>
              <a:rPr sz="1100" b="1">
                <a:solidFill>
                  <a:srgbClr val="1F2933"/>
                </a:solidFill>
                <a:latin typeface="Calibri"/>
              </a:rPr>
              <a:t>Ecovatec Solutions Inc.</a:t>
            </a:r>
          </a:p>
        </p:txBody>
      </p:sp>
      <p:sp>
        <p:nvSpPr>
          <p:cNvPr id="103" name="TextBox 102"/>
          <p:cNvSpPr txBox="1"/>
          <p:nvPr/>
        </p:nvSpPr>
        <p:spPr>
          <a:xfrm>
            <a:off x="285750" y="4810125"/>
            <a:ext cx="2743200"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104" name="Oval 103"/>
          <p:cNvSpPr/>
          <p:nvPr/>
        </p:nvSpPr>
        <p:spPr>
          <a:xfrm>
            <a:off x="3630146" y="4724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Freeform 104"/>
          <p:cNvSpPr/>
          <p:nvPr/>
        </p:nvSpPr>
        <p:spPr>
          <a:xfrm>
            <a:off x="3705225" y="47244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Oval 105"/>
          <p:cNvSpPr/>
          <p:nvPr/>
        </p:nvSpPr>
        <p:spPr>
          <a:xfrm>
            <a:off x="4946837" y="47244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5719482" y="4629150"/>
            <a:ext cx="1503829"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Value / entry</a:t>
            </a:r>
          </a:p>
        </p:txBody>
      </p:sp>
      <p:sp>
        <p:nvSpPr>
          <p:cNvPr id="108" name="TextBox 107"/>
          <p:cNvSpPr txBox="1"/>
          <p:nvPr/>
        </p:nvSpPr>
        <p:spPr>
          <a:xfrm>
            <a:off x="7299512" y="4629150"/>
            <a:ext cx="1503829"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Dietary Supplements &amp; Nutraceuticals, Functional Food &amp; Beverages</a:t>
            </a:r>
          </a:p>
        </p:txBody>
      </p:sp>
      <p:sp>
        <p:nvSpPr>
          <p:cNvPr id="109" name="TextBox 108"/>
          <p:cNvSpPr txBox="1"/>
          <p:nvPr/>
        </p:nvSpPr>
        <p:spPr>
          <a:xfrm>
            <a:off x="8841441" y="4629150"/>
            <a:ext cx="1580029"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10" name="TextBox 109"/>
          <p:cNvSpPr txBox="1"/>
          <p:nvPr/>
        </p:nvSpPr>
        <p:spPr>
          <a:xfrm>
            <a:off x="10421471" y="4629150"/>
            <a:ext cx="1580029"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111" name="Connector 110"/>
          <p:cNvCxnSpPr/>
          <p:nvPr/>
        </p:nvCxnSpPr>
        <p:spPr>
          <a:xfrm>
            <a:off x="190500" y="49720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12" name="Rectangle 111"/>
          <p:cNvSpPr/>
          <p:nvPr/>
        </p:nvSpPr>
        <p:spPr>
          <a:xfrm>
            <a:off x="190500" y="50006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extBox 112"/>
          <p:cNvSpPr txBox="1"/>
          <p:nvPr/>
        </p:nvSpPr>
        <p:spPr>
          <a:xfrm>
            <a:off x="285750" y="4991100"/>
            <a:ext cx="2743200" cy="171450"/>
          </a:xfrm>
          <a:prstGeom prst="rect">
            <a:avLst/>
          </a:prstGeom>
          <a:noFill/>
        </p:spPr>
        <p:txBody>
          <a:bodyPr wrap="square" lIns="28575" rIns="28575" tIns="9525" bIns="9525" anchor="t">
            <a:spAutoFit/>
          </a:bodyPr>
          <a:lstStyle/>
          <a:p>
            <a:pPr algn="l"/>
            <a:r>
              <a:rPr sz="1100" b="1">
                <a:solidFill>
                  <a:srgbClr val="1F2933"/>
                </a:solidFill>
                <a:latin typeface="Calibri"/>
              </a:rPr>
              <a:t>Biovotec</a:t>
            </a:r>
          </a:p>
        </p:txBody>
      </p:sp>
      <p:sp>
        <p:nvSpPr>
          <p:cNvPr id="114" name="TextBox 113"/>
          <p:cNvSpPr txBox="1"/>
          <p:nvPr/>
        </p:nvSpPr>
        <p:spPr>
          <a:xfrm>
            <a:off x="285750" y="5153025"/>
            <a:ext cx="2743200"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115" name="Oval 114"/>
          <p:cNvSpPr/>
          <p:nvPr/>
        </p:nvSpPr>
        <p:spPr>
          <a:xfrm>
            <a:off x="3630146" y="50673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Oval 115"/>
          <p:cNvSpPr/>
          <p:nvPr/>
        </p:nvSpPr>
        <p:spPr>
          <a:xfrm>
            <a:off x="4946837" y="50673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Freeform 116"/>
          <p:cNvSpPr/>
          <p:nvPr/>
        </p:nvSpPr>
        <p:spPr>
          <a:xfrm>
            <a:off x="5019675" y="50673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TextBox 117"/>
          <p:cNvSpPr txBox="1"/>
          <p:nvPr/>
        </p:nvSpPr>
        <p:spPr>
          <a:xfrm>
            <a:off x="5719482" y="4972050"/>
            <a:ext cx="1503829"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Value / entry</a:t>
            </a:r>
          </a:p>
        </p:txBody>
      </p:sp>
      <p:sp>
        <p:nvSpPr>
          <p:cNvPr id="119" name="TextBox 118"/>
          <p:cNvSpPr txBox="1"/>
          <p:nvPr/>
        </p:nvSpPr>
        <p:spPr>
          <a:xfrm>
            <a:off x="7299512" y="4972050"/>
            <a:ext cx="1503829"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Pharmaceuticals &amp; Biomedical, Functional Food &amp; Beverages</a:t>
            </a:r>
          </a:p>
        </p:txBody>
      </p:sp>
      <p:sp>
        <p:nvSpPr>
          <p:cNvPr id="120" name="TextBox 119"/>
          <p:cNvSpPr txBox="1"/>
          <p:nvPr/>
        </p:nvSpPr>
        <p:spPr>
          <a:xfrm>
            <a:off x="8841441" y="4972050"/>
            <a:ext cx="1580029"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21" name="TextBox 120"/>
          <p:cNvSpPr txBox="1"/>
          <p:nvPr/>
        </p:nvSpPr>
        <p:spPr>
          <a:xfrm>
            <a:off x="10421471" y="4972050"/>
            <a:ext cx="1580029"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122" name="Connector 121"/>
          <p:cNvCxnSpPr/>
          <p:nvPr/>
        </p:nvCxnSpPr>
        <p:spPr>
          <a:xfrm>
            <a:off x="190500" y="53149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23" name="Rectangle 122"/>
          <p:cNvSpPr/>
          <p:nvPr/>
        </p:nvSpPr>
        <p:spPr>
          <a:xfrm>
            <a:off x="190500" y="53435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285750" y="5334000"/>
            <a:ext cx="2743200" cy="171450"/>
          </a:xfrm>
          <a:prstGeom prst="rect">
            <a:avLst/>
          </a:prstGeom>
          <a:noFill/>
        </p:spPr>
        <p:txBody>
          <a:bodyPr wrap="square" lIns="28575" rIns="28575" tIns="9525" bIns="9525" anchor="t">
            <a:spAutoFit/>
          </a:bodyPr>
          <a:lstStyle/>
          <a:p>
            <a:pPr algn="l"/>
            <a:r>
              <a:rPr sz="1100" b="1">
                <a:solidFill>
                  <a:srgbClr val="1F2933"/>
                </a:solidFill>
                <a:latin typeface="Calibri"/>
              </a:rPr>
              <a:t>Microcore Research Laboratories India Pvt. Ltd.</a:t>
            </a:r>
          </a:p>
        </p:txBody>
      </p:sp>
      <p:sp>
        <p:nvSpPr>
          <p:cNvPr id="125" name="TextBox 124"/>
          <p:cNvSpPr txBox="1"/>
          <p:nvPr/>
        </p:nvSpPr>
        <p:spPr>
          <a:xfrm>
            <a:off x="285750" y="5495925"/>
            <a:ext cx="2743200"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126" name="Oval 125"/>
          <p:cNvSpPr/>
          <p:nvPr/>
        </p:nvSpPr>
        <p:spPr>
          <a:xfrm>
            <a:off x="3630146" y="54102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Freeform 126"/>
          <p:cNvSpPr/>
          <p:nvPr/>
        </p:nvSpPr>
        <p:spPr>
          <a:xfrm>
            <a:off x="3705225" y="54102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Oval 127"/>
          <p:cNvSpPr/>
          <p:nvPr/>
        </p:nvSpPr>
        <p:spPr>
          <a:xfrm>
            <a:off x="4946837" y="54102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TextBox 128"/>
          <p:cNvSpPr txBox="1"/>
          <p:nvPr/>
        </p:nvSpPr>
        <p:spPr>
          <a:xfrm>
            <a:off x="5719482" y="5314950"/>
            <a:ext cx="1503829"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Value / entry</a:t>
            </a:r>
          </a:p>
        </p:txBody>
      </p:sp>
      <p:sp>
        <p:nvSpPr>
          <p:cNvPr id="130" name="TextBox 129"/>
          <p:cNvSpPr txBox="1"/>
          <p:nvPr/>
        </p:nvSpPr>
        <p:spPr>
          <a:xfrm>
            <a:off x="7299512" y="5314950"/>
            <a:ext cx="1503829"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Dietary Supplements &amp; Nutraceuticals, Pharmaceuticals &amp; Biomedical</a:t>
            </a:r>
          </a:p>
        </p:txBody>
      </p:sp>
      <p:sp>
        <p:nvSpPr>
          <p:cNvPr id="131" name="TextBox 130"/>
          <p:cNvSpPr txBox="1"/>
          <p:nvPr/>
        </p:nvSpPr>
        <p:spPr>
          <a:xfrm>
            <a:off x="8841441" y="5314950"/>
            <a:ext cx="1580029"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32" name="TextBox 131"/>
          <p:cNvSpPr txBox="1"/>
          <p:nvPr/>
        </p:nvSpPr>
        <p:spPr>
          <a:xfrm>
            <a:off x="10421471" y="5314950"/>
            <a:ext cx="1580029"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133" name="Connector 132"/>
          <p:cNvCxnSpPr/>
          <p:nvPr/>
        </p:nvCxnSpPr>
        <p:spPr>
          <a:xfrm>
            <a:off x="190500" y="56578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34" name="Oval 133"/>
          <p:cNvSpPr/>
          <p:nvPr/>
        </p:nvSpPr>
        <p:spPr>
          <a:xfrm>
            <a:off x="200025" y="5734050"/>
            <a:ext cx="133350" cy="13335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TextBox 134"/>
          <p:cNvSpPr txBox="1"/>
          <p:nvPr/>
        </p:nvSpPr>
        <p:spPr>
          <a:xfrm>
            <a:off x="381000" y="57150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Strong, direct evidence</a:t>
            </a:r>
          </a:p>
        </p:txBody>
      </p:sp>
      <p:sp>
        <p:nvSpPr>
          <p:cNvPr id="136" name="Oval 135"/>
          <p:cNvSpPr/>
          <p:nvPr/>
        </p:nvSpPr>
        <p:spPr>
          <a:xfrm>
            <a:off x="2065020" y="5734050"/>
            <a:ext cx="133350" cy="13335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Freeform 136"/>
          <p:cNvSpPr/>
          <p:nvPr/>
        </p:nvSpPr>
        <p:spPr>
          <a:xfrm>
            <a:off x="2133600" y="5734050"/>
            <a:ext cx="66675" cy="133350"/>
          </a:xfrm>
          <a:custGeom>
            <a:avLst/>
            <a:gdLst/>
            <a:ahLst/>
            <a:cxnLst/>
            <a:rect l="l" t="t" r="r" b="b"/>
            <a:pathLst>
              <a:path w="7" h="14">
                <a:moveTo>
                  <a:pt x="0" y="7"/>
                </a:moveTo>
                <a:lnTo>
                  <a:pt x="0" y="0"/>
                </a:lnTo>
                <a:lnTo>
                  <a:pt x="1" y="0"/>
                </a:lnTo>
                <a:lnTo>
                  <a:pt x="2" y="0"/>
                </a:lnTo>
                <a:lnTo>
                  <a:pt x="3" y="1"/>
                </a:lnTo>
                <a:lnTo>
                  <a:pt x="4" y="2"/>
                </a:lnTo>
                <a:lnTo>
                  <a:pt x="5" y="3"/>
                </a:lnTo>
                <a:lnTo>
                  <a:pt x="6" y="4"/>
                </a:lnTo>
                <a:lnTo>
                  <a:pt x="6" y="5"/>
                </a:lnTo>
                <a:lnTo>
                  <a:pt x="7" y="6"/>
                </a:lnTo>
                <a:lnTo>
                  <a:pt x="7" y="7"/>
                </a:lnTo>
                <a:lnTo>
                  <a:pt x="7" y="8"/>
                </a:lnTo>
                <a:lnTo>
                  <a:pt x="6" y="9"/>
                </a:lnTo>
                <a:lnTo>
                  <a:pt x="6" y="10"/>
                </a:lnTo>
                <a:lnTo>
                  <a:pt x="5" y="11"/>
                </a:lnTo>
                <a:lnTo>
                  <a:pt x="4" y="12"/>
                </a:lnTo>
                <a:lnTo>
                  <a:pt x="3" y="13"/>
                </a:lnTo>
                <a:lnTo>
                  <a:pt x="2" y="14"/>
                </a:lnTo>
                <a:lnTo>
                  <a:pt x="1" y="14"/>
                </a:lnTo>
                <a:lnTo>
                  <a:pt x="0" y="14"/>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TextBox 137"/>
          <p:cNvSpPr txBox="1"/>
          <p:nvPr/>
        </p:nvSpPr>
        <p:spPr>
          <a:xfrm>
            <a:off x="2245995" y="57150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Moderate or partial</a:t>
            </a:r>
          </a:p>
        </p:txBody>
      </p:sp>
      <p:sp>
        <p:nvSpPr>
          <p:cNvPr id="139" name="Oval 138"/>
          <p:cNvSpPr/>
          <p:nvPr/>
        </p:nvSpPr>
        <p:spPr>
          <a:xfrm>
            <a:off x="3678555" y="5734050"/>
            <a:ext cx="133350" cy="13335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Freeform 139"/>
          <p:cNvSpPr/>
          <p:nvPr/>
        </p:nvSpPr>
        <p:spPr>
          <a:xfrm>
            <a:off x="3743325" y="5734050"/>
            <a:ext cx="66675" cy="66675"/>
          </a:xfrm>
          <a:custGeom>
            <a:avLst/>
            <a:gdLst/>
            <a:ahLst/>
            <a:cxnLst/>
            <a:rect l="l" t="t" r="r" b="b"/>
            <a:pathLst>
              <a:path w="7" h="7">
                <a:moveTo>
                  <a:pt x="0" y="7"/>
                </a:moveTo>
                <a:lnTo>
                  <a:pt x="0" y="0"/>
                </a:lnTo>
                <a:lnTo>
                  <a:pt x="1" y="0"/>
                </a:lnTo>
                <a:lnTo>
                  <a:pt x="3" y="0"/>
                </a:lnTo>
                <a:lnTo>
                  <a:pt x="4" y="1"/>
                </a:lnTo>
                <a:lnTo>
                  <a:pt x="5" y="2"/>
                </a:lnTo>
                <a:lnTo>
                  <a:pt x="6" y="3"/>
                </a:lnTo>
                <a:lnTo>
                  <a:pt x="6" y="4"/>
                </a:lnTo>
                <a:lnTo>
                  <a:pt x="7" y="5"/>
                </a:lnTo>
                <a:lnTo>
                  <a:pt x="7" y="6"/>
                </a:lnTo>
                <a:lnTo>
                  <a:pt x="7" y="7"/>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TextBox 140"/>
          <p:cNvSpPr txBox="1"/>
          <p:nvPr/>
        </p:nvSpPr>
        <p:spPr>
          <a:xfrm>
            <a:off x="3859530" y="57150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Weak or indirect</a:t>
            </a:r>
          </a:p>
        </p:txBody>
      </p:sp>
      <p:sp>
        <p:nvSpPr>
          <p:cNvPr id="142" name="Oval 141"/>
          <p:cNvSpPr/>
          <p:nvPr/>
        </p:nvSpPr>
        <p:spPr>
          <a:xfrm>
            <a:off x="5103495" y="5734050"/>
            <a:ext cx="133350" cy="13335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TextBox 142"/>
          <p:cNvSpPr txBox="1"/>
          <p:nvPr/>
        </p:nvSpPr>
        <p:spPr>
          <a:xfrm>
            <a:off x="5284470" y="57150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None found</a:t>
            </a:r>
          </a:p>
        </p:txBody>
      </p:sp>
      <p:sp>
        <p:nvSpPr>
          <p:cNvPr id="144" name="TextBox 143"/>
          <p:cNvSpPr txBox="1"/>
          <p:nvPr/>
        </p:nvSpPr>
        <p:spPr>
          <a:xfrm>
            <a:off x="190500" y="5943600"/>
            <a:ext cx="2857500" cy="152400"/>
          </a:xfrm>
          <a:prstGeom prst="rect">
            <a:avLst/>
          </a:prstGeom>
          <a:noFill/>
        </p:spPr>
        <p:txBody>
          <a:bodyPr wrap="square" lIns="28575" rIns="28575" tIns="9525" bIns="9525" anchor="t">
            <a:spAutoFit/>
          </a:bodyPr>
          <a:lstStyle/>
          <a:p>
            <a:pPr algn="l"/>
            <a:r>
              <a:rPr sz="1100" b="1">
                <a:solidFill>
                  <a:srgbClr val="0F2D52"/>
                </a:solidFill>
                <a:latin typeface="Calibri"/>
              </a:rPr>
              <a:t>READING</a:t>
            </a:r>
          </a:p>
        </p:txBody>
      </p:sp>
      <p:sp>
        <p:nvSpPr>
          <p:cNvPr id="145" name="TextBox 144"/>
          <p:cNvSpPr txBox="1"/>
          <p:nvPr/>
        </p:nvSpPr>
        <p:spPr>
          <a:xfrm>
            <a:off x="190500" y="6096000"/>
            <a:ext cx="11811000" cy="2286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breadth and technology strength do not always go together; the end uses each player serves show where it competes head to head.  Proof needs customer research.</a:t>
            </a:r>
          </a:p>
        </p:txBody>
      </p:sp>
      <p:sp>
        <p:nvSpPr>
          <p:cNvPr id="146" name="Rectangle 145"/>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TextBox 14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48" name="Picture 147" descr="lock.png"/>
          <p:cNvPicPr>
            <a:picLocks noChangeAspect="1"/>
          </p:cNvPicPr>
          <p:nvPr/>
        </p:nvPicPr>
        <p:blipFill>
          <a:blip r:embed="rId4"/>
          <a:stretch>
            <a:fillRect/>
          </a:stretch>
        </p:blipFill>
        <p:spPr>
          <a:xfrm>
            <a:off x="9567106" y="2306701"/>
            <a:ext cx="128699" cy="187198"/>
          </a:xfrm>
          <a:prstGeom prst="rect">
            <a:avLst/>
          </a:prstGeom>
        </p:spPr>
      </p:pic>
      <p:pic>
        <p:nvPicPr>
          <p:cNvPr id="149" name="Picture 148" descr="lock.png"/>
          <p:cNvPicPr>
            <a:picLocks noChangeAspect="1"/>
          </p:cNvPicPr>
          <p:nvPr/>
        </p:nvPicPr>
        <p:blipFill>
          <a:blip r:embed="rId4"/>
          <a:stretch>
            <a:fillRect/>
          </a:stretch>
        </p:blipFill>
        <p:spPr>
          <a:xfrm>
            <a:off x="11147136" y="2306701"/>
            <a:ext cx="128699" cy="187198"/>
          </a:xfrm>
          <a:prstGeom prst="rect">
            <a:avLst/>
          </a:prstGeom>
        </p:spPr>
      </p:pic>
      <p:pic>
        <p:nvPicPr>
          <p:cNvPr id="150" name="Picture 149" descr="lock.png"/>
          <p:cNvPicPr>
            <a:picLocks noChangeAspect="1"/>
          </p:cNvPicPr>
          <p:nvPr/>
        </p:nvPicPr>
        <p:blipFill>
          <a:blip r:embed="rId4"/>
          <a:stretch>
            <a:fillRect/>
          </a:stretch>
        </p:blipFill>
        <p:spPr>
          <a:xfrm>
            <a:off x="9567106" y="2649601"/>
            <a:ext cx="128699" cy="187198"/>
          </a:xfrm>
          <a:prstGeom prst="rect">
            <a:avLst/>
          </a:prstGeom>
        </p:spPr>
      </p:pic>
      <p:pic>
        <p:nvPicPr>
          <p:cNvPr id="151" name="Picture 150" descr="lock.png"/>
          <p:cNvPicPr>
            <a:picLocks noChangeAspect="1"/>
          </p:cNvPicPr>
          <p:nvPr/>
        </p:nvPicPr>
        <p:blipFill>
          <a:blip r:embed="rId4"/>
          <a:stretch>
            <a:fillRect/>
          </a:stretch>
        </p:blipFill>
        <p:spPr>
          <a:xfrm>
            <a:off x="11147136" y="2649601"/>
            <a:ext cx="128699" cy="187198"/>
          </a:xfrm>
          <a:prstGeom prst="rect">
            <a:avLst/>
          </a:prstGeom>
        </p:spPr>
      </p:pic>
      <p:pic>
        <p:nvPicPr>
          <p:cNvPr id="152" name="Picture 151" descr="lock.png"/>
          <p:cNvPicPr>
            <a:picLocks noChangeAspect="1"/>
          </p:cNvPicPr>
          <p:nvPr/>
        </p:nvPicPr>
        <p:blipFill>
          <a:blip r:embed="rId4"/>
          <a:stretch>
            <a:fillRect/>
          </a:stretch>
        </p:blipFill>
        <p:spPr>
          <a:xfrm>
            <a:off x="9567106" y="2992501"/>
            <a:ext cx="128699" cy="187198"/>
          </a:xfrm>
          <a:prstGeom prst="rect">
            <a:avLst/>
          </a:prstGeom>
        </p:spPr>
      </p:pic>
      <p:pic>
        <p:nvPicPr>
          <p:cNvPr id="153" name="Picture 152" descr="lock.png"/>
          <p:cNvPicPr>
            <a:picLocks noChangeAspect="1"/>
          </p:cNvPicPr>
          <p:nvPr/>
        </p:nvPicPr>
        <p:blipFill>
          <a:blip r:embed="rId4"/>
          <a:stretch>
            <a:fillRect/>
          </a:stretch>
        </p:blipFill>
        <p:spPr>
          <a:xfrm>
            <a:off x="11147136" y="2992501"/>
            <a:ext cx="128699" cy="187198"/>
          </a:xfrm>
          <a:prstGeom prst="rect">
            <a:avLst/>
          </a:prstGeom>
        </p:spPr>
      </p:pic>
      <p:pic>
        <p:nvPicPr>
          <p:cNvPr id="154" name="Picture 153" descr="lock.png"/>
          <p:cNvPicPr>
            <a:picLocks noChangeAspect="1"/>
          </p:cNvPicPr>
          <p:nvPr/>
        </p:nvPicPr>
        <p:blipFill>
          <a:blip r:embed="rId4"/>
          <a:stretch>
            <a:fillRect/>
          </a:stretch>
        </p:blipFill>
        <p:spPr>
          <a:xfrm>
            <a:off x="9567106" y="3335401"/>
            <a:ext cx="128699" cy="187198"/>
          </a:xfrm>
          <a:prstGeom prst="rect">
            <a:avLst/>
          </a:prstGeom>
        </p:spPr>
      </p:pic>
      <p:pic>
        <p:nvPicPr>
          <p:cNvPr id="155" name="Picture 154" descr="lock.png"/>
          <p:cNvPicPr>
            <a:picLocks noChangeAspect="1"/>
          </p:cNvPicPr>
          <p:nvPr/>
        </p:nvPicPr>
        <p:blipFill>
          <a:blip r:embed="rId4"/>
          <a:stretch>
            <a:fillRect/>
          </a:stretch>
        </p:blipFill>
        <p:spPr>
          <a:xfrm>
            <a:off x="11147136" y="3335401"/>
            <a:ext cx="128699" cy="187198"/>
          </a:xfrm>
          <a:prstGeom prst="rect">
            <a:avLst/>
          </a:prstGeom>
        </p:spPr>
      </p:pic>
      <p:pic>
        <p:nvPicPr>
          <p:cNvPr id="156" name="Picture 155" descr="lock.png"/>
          <p:cNvPicPr>
            <a:picLocks noChangeAspect="1"/>
          </p:cNvPicPr>
          <p:nvPr/>
        </p:nvPicPr>
        <p:blipFill>
          <a:blip r:embed="rId4"/>
          <a:stretch>
            <a:fillRect/>
          </a:stretch>
        </p:blipFill>
        <p:spPr>
          <a:xfrm>
            <a:off x="9567106" y="3678301"/>
            <a:ext cx="128699" cy="187198"/>
          </a:xfrm>
          <a:prstGeom prst="rect">
            <a:avLst/>
          </a:prstGeom>
        </p:spPr>
      </p:pic>
      <p:pic>
        <p:nvPicPr>
          <p:cNvPr id="157" name="Picture 156" descr="lock.png"/>
          <p:cNvPicPr>
            <a:picLocks noChangeAspect="1"/>
          </p:cNvPicPr>
          <p:nvPr/>
        </p:nvPicPr>
        <p:blipFill>
          <a:blip r:embed="rId4"/>
          <a:stretch>
            <a:fillRect/>
          </a:stretch>
        </p:blipFill>
        <p:spPr>
          <a:xfrm>
            <a:off x="11147136" y="3678301"/>
            <a:ext cx="128699" cy="187198"/>
          </a:xfrm>
          <a:prstGeom prst="rect">
            <a:avLst/>
          </a:prstGeom>
        </p:spPr>
      </p:pic>
      <p:pic>
        <p:nvPicPr>
          <p:cNvPr id="158" name="Picture 157" descr="lock.png"/>
          <p:cNvPicPr>
            <a:picLocks noChangeAspect="1"/>
          </p:cNvPicPr>
          <p:nvPr/>
        </p:nvPicPr>
        <p:blipFill>
          <a:blip r:embed="rId4"/>
          <a:stretch>
            <a:fillRect/>
          </a:stretch>
        </p:blipFill>
        <p:spPr>
          <a:xfrm>
            <a:off x="9567106" y="4021201"/>
            <a:ext cx="128699" cy="187198"/>
          </a:xfrm>
          <a:prstGeom prst="rect">
            <a:avLst/>
          </a:prstGeom>
        </p:spPr>
      </p:pic>
      <p:pic>
        <p:nvPicPr>
          <p:cNvPr id="159" name="Picture 158" descr="lock.png"/>
          <p:cNvPicPr>
            <a:picLocks noChangeAspect="1"/>
          </p:cNvPicPr>
          <p:nvPr/>
        </p:nvPicPr>
        <p:blipFill>
          <a:blip r:embed="rId4"/>
          <a:stretch>
            <a:fillRect/>
          </a:stretch>
        </p:blipFill>
        <p:spPr>
          <a:xfrm>
            <a:off x="11147136" y="4021201"/>
            <a:ext cx="128699" cy="187198"/>
          </a:xfrm>
          <a:prstGeom prst="rect">
            <a:avLst/>
          </a:prstGeom>
        </p:spPr>
      </p:pic>
      <p:pic>
        <p:nvPicPr>
          <p:cNvPr id="160" name="Picture 159" descr="lock.png"/>
          <p:cNvPicPr>
            <a:picLocks noChangeAspect="1"/>
          </p:cNvPicPr>
          <p:nvPr/>
        </p:nvPicPr>
        <p:blipFill>
          <a:blip r:embed="rId4"/>
          <a:stretch>
            <a:fillRect/>
          </a:stretch>
        </p:blipFill>
        <p:spPr>
          <a:xfrm>
            <a:off x="9567106" y="4364101"/>
            <a:ext cx="128699" cy="187198"/>
          </a:xfrm>
          <a:prstGeom prst="rect">
            <a:avLst/>
          </a:prstGeom>
        </p:spPr>
      </p:pic>
      <p:pic>
        <p:nvPicPr>
          <p:cNvPr id="161" name="Picture 160" descr="lock.png"/>
          <p:cNvPicPr>
            <a:picLocks noChangeAspect="1"/>
          </p:cNvPicPr>
          <p:nvPr/>
        </p:nvPicPr>
        <p:blipFill>
          <a:blip r:embed="rId4"/>
          <a:stretch>
            <a:fillRect/>
          </a:stretch>
        </p:blipFill>
        <p:spPr>
          <a:xfrm>
            <a:off x="11147136" y="4364101"/>
            <a:ext cx="128699" cy="187198"/>
          </a:xfrm>
          <a:prstGeom prst="rect">
            <a:avLst/>
          </a:prstGeom>
        </p:spPr>
      </p:pic>
      <p:pic>
        <p:nvPicPr>
          <p:cNvPr id="162" name="Picture 161" descr="lock.png"/>
          <p:cNvPicPr>
            <a:picLocks noChangeAspect="1"/>
          </p:cNvPicPr>
          <p:nvPr/>
        </p:nvPicPr>
        <p:blipFill>
          <a:blip r:embed="rId4"/>
          <a:stretch>
            <a:fillRect/>
          </a:stretch>
        </p:blipFill>
        <p:spPr>
          <a:xfrm>
            <a:off x="9567106" y="4707001"/>
            <a:ext cx="128699" cy="187198"/>
          </a:xfrm>
          <a:prstGeom prst="rect">
            <a:avLst/>
          </a:prstGeom>
        </p:spPr>
      </p:pic>
      <p:pic>
        <p:nvPicPr>
          <p:cNvPr id="163" name="Picture 162" descr="lock.png"/>
          <p:cNvPicPr>
            <a:picLocks noChangeAspect="1"/>
          </p:cNvPicPr>
          <p:nvPr/>
        </p:nvPicPr>
        <p:blipFill>
          <a:blip r:embed="rId4"/>
          <a:stretch>
            <a:fillRect/>
          </a:stretch>
        </p:blipFill>
        <p:spPr>
          <a:xfrm>
            <a:off x="11147136" y="4707001"/>
            <a:ext cx="128699" cy="187198"/>
          </a:xfrm>
          <a:prstGeom prst="rect">
            <a:avLst/>
          </a:prstGeom>
        </p:spPr>
      </p:pic>
      <p:pic>
        <p:nvPicPr>
          <p:cNvPr id="164" name="Picture 163" descr="lock.png"/>
          <p:cNvPicPr>
            <a:picLocks noChangeAspect="1"/>
          </p:cNvPicPr>
          <p:nvPr/>
        </p:nvPicPr>
        <p:blipFill>
          <a:blip r:embed="rId4"/>
          <a:stretch>
            <a:fillRect/>
          </a:stretch>
        </p:blipFill>
        <p:spPr>
          <a:xfrm>
            <a:off x="9567106" y="5049901"/>
            <a:ext cx="128699" cy="187198"/>
          </a:xfrm>
          <a:prstGeom prst="rect">
            <a:avLst/>
          </a:prstGeom>
        </p:spPr>
      </p:pic>
      <p:pic>
        <p:nvPicPr>
          <p:cNvPr id="165" name="Picture 164" descr="lock.png"/>
          <p:cNvPicPr>
            <a:picLocks noChangeAspect="1"/>
          </p:cNvPicPr>
          <p:nvPr/>
        </p:nvPicPr>
        <p:blipFill>
          <a:blip r:embed="rId4"/>
          <a:stretch>
            <a:fillRect/>
          </a:stretch>
        </p:blipFill>
        <p:spPr>
          <a:xfrm>
            <a:off x="11147136" y="5049901"/>
            <a:ext cx="128699" cy="187198"/>
          </a:xfrm>
          <a:prstGeom prst="rect">
            <a:avLst/>
          </a:prstGeom>
        </p:spPr>
      </p:pic>
      <p:pic>
        <p:nvPicPr>
          <p:cNvPr id="166" name="Picture 165" descr="lock.png"/>
          <p:cNvPicPr>
            <a:picLocks noChangeAspect="1"/>
          </p:cNvPicPr>
          <p:nvPr/>
        </p:nvPicPr>
        <p:blipFill>
          <a:blip r:embed="rId4"/>
          <a:stretch>
            <a:fillRect/>
          </a:stretch>
        </p:blipFill>
        <p:spPr>
          <a:xfrm>
            <a:off x="9567106" y="5392801"/>
            <a:ext cx="128699" cy="187198"/>
          </a:xfrm>
          <a:prstGeom prst="rect">
            <a:avLst/>
          </a:prstGeom>
        </p:spPr>
      </p:pic>
      <p:pic>
        <p:nvPicPr>
          <p:cNvPr id="167" name="Picture 166" descr="lock.png"/>
          <p:cNvPicPr>
            <a:picLocks noChangeAspect="1"/>
          </p:cNvPicPr>
          <p:nvPr/>
        </p:nvPicPr>
        <p:blipFill>
          <a:blip r:embed="rId4"/>
          <a:stretch>
            <a:fillRect/>
          </a:stretch>
        </p:blipFill>
        <p:spPr>
          <a:xfrm>
            <a:off x="11147136" y="5392801"/>
            <a:ext cx="128699" cy="187198"/>
          </a:xfrm>
          <a:prstGeom prst="rect">
            <a:avLst/>
          </a:prstGeom>
        </p:spPr>
      </p:pic>
    </p:spTree>
  </p:cSld>
  <p:clrMapOvr>
    <a:masterClrMapping/>
  </p:clrMapOvr>
</p:sld>
</file>

<file path=ppt/slides/slide2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Egg Protein Membrane Market Execution Scorecard: How They Win</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Six execution Ps: channel, promotion, momentum, pipeline, policy exposure and prospects</a:t>
            </a:r>
          </a:p>
        </p:txBody>
      </p:sp>
      <p:sp>
        <p:nvSpPr>
          <p:cNvPr id="7" name="Rectangle 6"/>
          <p:cNvSpPr/>
          <p:nvPr/>
        </p:nvSpPr>
        <p:spPr>
          <a:xfrm>
            <a:off x="190500" y="1047750"/>
            <a:ext cx="11811000" cy="2095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66700" y="1047750"/>
            <a:ext cx="6667500" cy="209550"/>
          </a:xfrm>
          <a:prstGeom prst="rect">
            <a:avLst/>
          </a:prstGeom>
          <a:noFill/>
        </p:spPr>
        <p:txBody>
          <a:bodyPr wrap="square" lIns="28575" rIns="28575" tIns="9525" bIns="9525" anchor="ctr">
            <a:spAutoFit/>
          </a:bodyPr>
          <a:lstStyle/>
          <a:p>
            <a:pPr algn="l"/>
            <a:r>
              <a:rPr sz="1100" b="1">
                <a:solidFill>
                  <a:srgbClr val="FFFFFF"/>
                </a:solidFill>
                <a:latin typeface="Calibri"/>
              </a:rPr>
              <a:t>LEVEL 3, EXECUTION: HOW THEY WIN</a:t>
            </a:r>
          </a:p>
        </p:txBody>
      </p:sp>
      <p:sp>
        <p:nvSpPr>
          <p:cNvPr id="9" name="TextBox 8"/>
          <p:cNvSpPr txBox="1"/>
          <p:nvPr/>
        </p:nvSpPr>
        <p:spPr>
          <a:xfrm>
            <a:off x="3086100" y="1295400"/>
            <a:ext cx="1503829"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Place (channel)</a:t>
            </a:r>
          </a:p>
        </p:txBody>
      </p:sp>
      <p:sp>
        <p:nvSpPr>
          <p:cNvPr id="10" name="TextBox 9"/>
          <p:cNvSpPr txBox="1"/>
          <p:nvPr/>
        </p:nvSpPr>
        <p:spPr>
          <a:xfrm>
            <a:off x="3086100" y="1657350"/>
            <a:ext cx="1503829"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Route to market by tier</a:t>
            </a:r>
          </a:p>
        </p:txBody>
      </p:sp>
      <p:sp>
        <p:nvSpPr>
          <p:cNvPr id="11" name="TextBox 10"/>
          <p:cNvSpPr txBox="1"/>
          <p:nvPr/>
        </p:nvSpPr>
        <p:spPr>
          <a:xfrm>
            <a:off x="4666129" y="1295400"/>
            <a:ext cx="1503829"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Promotion</a:t>
            </a:r>
          </a:p>
        </p:txBody>
      </p:sp>
      <p:sp>
        <p:nvSpPr>
          <p:cNvPr id="12" name="TextBox 11"/>
          <p:cNvSpPr txBox="1"/>
          <p:nvPr/>
        </p:nvSpPr>
        <p:spPr>
          <a:xfrm>
            <a:off x="4666129" y="1657350"/>
            <a:ext cx="1503829"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Go-to-market; not assessed</a:t>
            </a:r>
          </a:p>
        </p:txBody>
      </p:sp>
      <p:sp>
        <p:nvSpPr>
          <p:cNvPr id="13" name="TextBox 12"/>
          <p:cNvSpPr txBox="1"/>
          <p:nvPr/>
        </p:nvSpPr>
        <p:spPr>
          <a:xfrm>
            <a:off x="6246159" y="1295400"/>
            <a:ext cx="1240491"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Pace (momentum)</a:t>
            </a:r>
          </a:p>
        </p:txBody>
      </p:sp>
      <p:sp>
        <p:nvSpPr>
          <p:cNvPr id="14" name="TextBox 13"/>
          <p:cNvSpPr txBox="1"/>
          <p:nvPr/>
        </p:nvSpPr>
        <p:spPr>
          <a:xfrm>
            <a:off x="6246159" y="1657350"/>
            <a:ext cx="1240491"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Active moves: 5+ = 3, 3-4 = 2</a:t>
            </a:r>
          </a:p>
        </p:txBody>
      </p:sp>
      <p:sp>
        <p:nvSpPr>
          <p:cNvPr id="15" name="TextBox 14"/>
          <p:cNvSpPr txBox="1"/>
          <p:nvPr/>
        </p:nvSpPr>
        <p:spPr>
          <a:xfrm>
            <a:off x="7562850" y="1295400"/>
            <a:ext cx="1503829"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Pipeline</a:t>
            </a:r>
          </a:p>
        </p:txBody>
      </p:sp>
      <p:sp>
        <p:nvSpPr>
          <p:cNvPr id="16" name="TextBox 15"/>
          <p:cNvSpPr txBox="1"/>
          <p:nvPr/>
        </p:nvSpPr>
        <p:spPr>
          <a:xfrm>
            <a:off x="7562850" y="1657350"/>
            <a:ext cx="1503829"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Launch or development in motion</a:t>
            </a:r>
          </a:p>
        </p:txBody>
      </p:sp>
      <p:sp>
        <p:nvSpPr>
          <p:cNvPr id="17" name="TextBox 16"/>
          <p:cNvSpPr txBox="1"/>
          <p:nvPr/>
        </p:nvSpPr>
        <p:spPr>
          <a:xfrm>
            <a:off x="9142879" y="1295400"/>
            <a:ext cx="1503829"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Policy exposure</a:t>
            </a:r>
          </a:p>
        </p:txBody>
      </p:sp>
      <p:sp>
        <p:nvSpPr>
          <p:cNvPr id="18" name="TextBox 17"/>
          <p:cNvSpPr txBox="1"/>
          <p:nvPr/>
        </p:nvSpPr>
        <p:spPr>
          <a:xfrm>
            <a:off x="9142879" y="1657350"/>
            <a:ext cx="1503829"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Regulation in its favour or against</a:t>
            </a:r>
          </a:p>
        </p:txBody>
      </p:sp>
      <p:sp>
        <p:nvSpPr>
          <p:cNvPr id="19" name="TextBox 18"/>
          <p:cNvSpPr txBox="1"/>
          <p:nvPr/>
        </p:nvSpPr>
        <p:spPr>
          <a:xfrm>
            <a:off x="10722909" y="1295400"/>
            <a:ext cx="1240491"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Prospects</a:t>
            </a:r>
          </a:p>
        </p:txBody>
      </p:sp>
      <p:sp>
        <p:nvSpPr>
          <p:cNvPr id="20" name="TextBox 19"/>
          <p:cNvSpPr txBox="1"/>
          <p:nvPr/>
        </p:nvSpPr>
        <p:spPr>
          <a:xfrm>
            <a:off x="10722909" y="1657350"/>
            <a:ext cx="1240491"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Gaining 3, holding 2, at risk 1</a:t>
            </a:r>
          </a:p>
        </p:txBody>
      </p:sp>
      <p:cxnSp>
        <p:nvCxnSpPr>
          <p:cNvPr id="21" name="Connector 20"/>
          <p:cNvCxnSpPr/>
          <p:nvPr/>
        </p:nvCxnSpPr>
        <p:spPr>
          <a:xfrm>
            <a:off x="190500" y="2209800"/>
            <a:ext cx="11811000" cy="0"/>
          </a:xfrm>
          <a:prstGeom prst="line">
            <a:avLst/>
          </a:prstGeom>
          <a:ln w="12700">
            <a:solidFill>
              <a:srgbClr val="0F2D52"/>
            </a:solidFill>
          </a:ln>
          <a:effectLst/>
        </p:spPr>
        <p:style>
          <a:lnRef idx="2">
            <a:schemeClr val="accent1"/>
          </a:lnRef>
          <a:fillRef idx="0">
            <a:schemeClr val="accent1"/>
          </a:fillRef>
          <a:effectRef idx="1">
            <a:schemeClr val="accent1"/>
          </a:effectRef>
          <a:fontRef idx="minor">
            <a:schemeClr val="tx1"/>
          </a:fontRef>
        </p:style>
      </p:cxnSp>
      <p:sp>
        <p:nvSpPr>
          <p:cNvPr id="22" name="Rectangle 21"/>
          <p:cNvSpPr/>
          <p:nvPr/>
        </p:nvSpPr>
        <p:spPr>
          <a:xfrm>
            <a:off x="190500" y="22574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85750" y="2247900"/>
            <a:ext cx="2743200" cy="171450"/>
          </a:xfrm>
          <a:prstGeom prst="rect">
            <a:avLst/>
          </a:prstGeom>
          <a:noFill/>
        </p:spPr>
        <p:txBody>
          <a:bodyPr wrap="square" lIns="28575" rIns="28575" tIns="9525" bIns="9525" anchor="t">
            <a:spAutoFit/>
          </a:bodyPr>
          <a:lstStyle/>
          <a:p>
            <a:pPr algn="l"/>
            <a:r>
              <a:rPr sz="1100" b="1">
                <a:solidFill>
                  <a:srgbClr val="1F2933"/>
                </a:solidFill>
                <a:latin typeface="Calibri"/>
              </a:rPr>
              <a:t>ESM Technologies, LLC</a:t>
            </a:r>
          </a:p>
        </p:txBody>
      </p:sp>
      <p:sp>
        <p:nvSpPr>
          <p:cNvPr id="24" name="TextBox 23"/>
          <p:cNvSpPr txBox="1"/>
          <p:nvPr/>
        </p:nvSpPr>
        <p:spPr>
          <a:xfrm>
            <a:off x="285750" y="2409825"/>
            <a:ext cx="2743200"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25" name="TextBox 24"/>
          <p:cNvSpPr txBox="1"/>
          <p:nvPr/>
        </p:nvSpPr>
        <p:spPr>
          <a:xfrm>
            <a:off x="3086100" y="2228850"/>
            <a:ext cx="1503829"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Direct + key accounts</a:t>
            </a:r>
          </a:p>
        </p:txBody>
      </p:sp>
      <p:sp>
        <p:nvSpPr>
          <p:cNvPr id="26" name="TextBox 25"/>
          <p:cNvSpPr txBox="1"/>
          <p:nvPr/>
        </p:nvSpPr>
        <p:spPr>
          <a:xfrm>
            <a:off x="4628029" y="2228850"/>
            <a:ext cx="1580029"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27" name="Oval 26"/>
          <p:cNvSpPr/>
          <p:nvPr/>
        </p:nvSpPr>
        <p:spPr>
          <a:xfrm>
            <a:off x="6790204" y="23241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524750" y="2228850"/>
            <a:ext cx="1580029"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29" name="TextBox 28"/>
          <p:cNvSpPr txBox="1"/>
          <p:nvPr/>
        </p:nvSpPr>
        <p:spPr>
          <a:xfrm>
            <a:off x="9104779" y="2228850"/>
            <a:ext cx="1580029"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30" name="Oval 29"/>
          <p:cNvSpPr/>
          <p:nvPr/>
        </p:nvSpPr>
        <p:spPr>
          <a:xfrm>
            <a:off x="11266954" y="23241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1" name="Connector 30"/>
          <p:cNvCxnSpPr/>
          <p:nvPr/>
        </p:nvCxnSpPr>
        <p:spPr>
          <a:xfrm>
            <a:off x="190500" y="25717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32" name="Rectangle 31"/>
          <p:cNvSpPr/>
          <p:nvPr/>
        </p:nvSpPr>
        <p:spPr>
          <a:xfrm>
            <a:off x="190500" y="26003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85750" y="2590800"/>
            <a:ext cx="2743200" cy="171450"/>
          </a:xfrm>
          <a:prstGeom prst="rect">
            <a:avLst/>
          </a:prstGeom>
          <a:noFill/>
        </p:spPr>
        <p:txBody>
          <a:bodyPr wrap="square" lIns="28575" rIns="28575" tIns="9525" bIns="9525" anchor="t">
            <a:spAutoFit/>
          </a:bodyPr>
          <a:lstStyle/>
          <a:p>
            <a:pPr algn="l"/>
            <a:r>
              <a:rPr sz="1100" b="1">
                <a:solidFill>
                  <a:srgbClr val="1F2933"/>
                </a:solidFill>
                <a:latin typeface="Calibri"/>
              </a:rPr>
              <a:t>Company</a:t>
            </a:r>
          </a:p>
        </p:txBody>
      </p:sp>
      <p:sp>
        <p:nvSpPr>
          <p:cNvPr id="34" name="TextBox 33"/>
          <p:cNvSpPr txBox="1"/>
          <p:nvPr/>
        </p:nvSpPr>
        <p:spPr>
          <a:xfrm>
            <a:off x="285750" y="2752725"/>
            <a:ext cx="2743200"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35" name="TextBox 34"/>
          <p:cNvSpPr txBox="1"/>
          <p:nvPr/>
        </p:nvSpPr>
        <p:spPr>
          <a:xfrm>
            <a:off x="3086100" y="2571750"/>
            <a:ext cx="1503829"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Direct + key accounts</a:t>
            </a:r>
          </a:p>
        </p:txBody>
      </p:sp>
      <p:sp>
        <p:nvSpPr>
          <p:cNvPr id="36" name="TextBox 35"/>
          <p:cNvSpPr txBox="1"/>
          <p:nvPr/>
        </p:nvSpPr>
        <p:spPr>
          <a:xfrm>
            <a:off x="4628029" y="2571750"/>
            <a:ext cx="1580029"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37" name="Oval 36"/>
          <p:cNvSpPr/>
          <p:nvPr/>
        </p:nvSpPr>
        <p:spPr>
          <a:xfrm>
            <a:off x="6790204" y="26670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562850" y="2571750"/>
            <a:ext cx="1503829"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Launch pipeline</a:t>
            </a:r>
          </a:p>
        </p:txBody>
      </p:sp>
      <p:sp>
        <p:nvSpPr>
          <p:cNvPr id="39" name="TextBox 38"/>
          <p:cNvSpPr txBox="1"/>
          <p:nvPr/>
        </p:nvSpPr>
        <p:spPr>
          <a:xfrm>
            <a:off x="9104779" y="2571750"/>
            <a:ext cx="1580029"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40" name="Oval 39"/>
          <p:cNvSpPr/>
          <p:nvPr/>
        </p:nvSpPr>
        <p:spPr>
          <a:xfrm>
            <a:off x="11266954" y="26670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1" name="Connector 40"/>
          <p:cNvCxnSpPr/>
          <p:nvPr/>
        </p:nvCxnSpPr>
        <p:spPr>
          <a:xfrm>
            <a:off x="190500" y="29146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42" name="Rectangle 41"/>
          <p:cNvSpPr/>
          <p:nvPr/>
        </p:nvSpPr>
        <p:spPr>
          <a:xfrm>
            <a:off x="190500" y="29432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285750" y="2933700"/>
            <a:ext cx="2743200" cy="171450"/>
          </a:xfrm>
          <a:prstGeom prst="rect">
            <a:avLst/>
          </a:prstGeom>
          <a:noFill/>
        </p:spPr>
        <p:txBody>
          <a:bodyPr wrap="square" lIns="28575" rIns="28575" tIns="9525" bIns="9525" anchor="t">
            <a:spAutoFit/>
          </a:bodyPr>
          <a:lstStyle/>
          <a:p>
            <a:pPr algn="l"/>
            <a:r>
              <a:rPr sz="1100" b="1">
                <a:solidFill>
                  <a:srgbClr val="1F2933"/>
                </a:solidFill>
                <a:latin typeface="Calibri"/>
              </a:rPr>
              <a:t>Biova, LLC</a:t>
            </a:r>
          </a:p>
        </p:txBody>
      </p:sp>
      <p:sp>
        <p:nvSpPr>
          <p:cNvPr id="44" name="TextBox 43"/>
          <p:cNvSpPr txBox="1"/>
          <p:nvPr/>
        </p:nvSpPr>
        <p:spPr>
          <a:xfrm>
            <a:off x="285750" y="3095625"/>
            <a:ext cx="2743200"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45" name="TextBox 44"/>
          <p:cNvSpPr txBox="1"/>
          <p:nvPr/>
        </p:nvSpPr>
        <p:spPr>
          <a:xfrm>
            <a:off x="3086100" y="2914650"/>
            <a:ext cx="1503829"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Direct + key accounts</a:t>
            </a:r>
          </a:p>
        </p:txBody>
      </p:sp>
      <p:sp>
        <p:nvSpPr>
          <p:cNvPr id="46" name="TextBox 45"/>
          <p:cNvSpPr txBox="1"/>
          <p:nvPr/>
        </p:nvSpPr>
        <p:spPr>
          <a:xfrm>
            <a:off x="4628029" y="2914650"/>
            <a:ext cx="1580029"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47" name="Oval 46"/>
          <p:cNvSpPr/>
          <p:nvPr/>
        </p:nvSpPr>
        <p:spPr>
          <a:xfrm>
            <a:off x="6790204" y="30099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524750" y="2914650"/>
            <a:ext cx="1580029"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49" name="TextBox 48"/>
          <p:cNvSpPr txBox="1"/>
          <p:nvPr/>
        </p:nvSpPr>
        <p:spPr>
          <a:xfrm>
            <a:off x="9104779" y="2914650"/>
            <a:ext cx="1580029"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50" name="Oval 49"/>
          <p:cNvSpPr/>
          <p:nvPr/>
        </p:nvSpPr>
        <p:spPr>
          <a:xfrm>
            <a:off x="11266954" y="30099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1" name="Connector 50"/>
          <p:cNvCxnSpPr/>
          <p:nvPr/>
        </p:nvCxnSpPr>
        <p:spPr>
          <a:xfrm>
            <a:off x="190500" y="32575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52" name="Rectangle 51"/>
          <p:cNvSpPr/>
          <p:nvPr/>
        </p:nvSpPr>
        <p:spPr>
          <a:xfrm>
            <a:off x="190500" y="32861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285750" y="3276600"/>
            <a:ext cx="2743200" cy="171450"/>
          </a:xfrm>
          <a:prstGeom prst="rect">
            <a:avLst/>
          </a:prstGeom>
          <a:noFill/>
        </p:spPr>
        <p:txBody>
          <a:bodyPr wrap="square" lIns="28575" rIns="28575" tIns="9525" bIns="9525" anchor="t">
            <a:spAutoFit/>
          </a:bodyPr>
          <a:lstStyle/>
          <a:p>
            <a:pPr algn="l"/>
            <a:r>
              <a:rPr sz="1100" b="1">
                <a:solidFill>
                  <a:srgbClr val="1F2933"/>
                </a:solidFill>
                <a:latin typeface="Calibri"/>
              </a:rPr>
              <a:t>Eggnovo S.L.</a:t>
            </a:r>
          </a:p>
        </p:txBody>
      </p:sp>
      <p:sp>
        <p:nvSpPr>
          <p:cNvPr id="54" name="TextBox 53"/>
          <p:cNvSpPr txBox="1"/>
          <p:nvPr/>
        </p:nvSpPr>
        <p:spPr>
          <a:xfrm>
            <a:off x="285750" y="3438525"/>
            <a:ext cx="2743200"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55" name="TextBox 54"/>
          <p:cNvSpPr txBox="1"/>
          <p:nvPr/>
        </p:nvSpPr>
        <p:spPr>
          <a:xfrm>
            <a:off x="3086100" y="3257550"/>
            <a:ext cx="1503829"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Direct + key accounts</a:t>
            </a:r>
          </a:p>
        </p:txBody>
      </p:sp>
      <p:sp>
        <p:nvSpPr>
          <p:cNvPr id="56" name="TextBox 55"/>
          <p:cNvSpPr txBox="1"/>
          <p:nvPr/>
        </p:nvSpPr>
        <p:spPr>
          <a:xfrm>
            <a:off x="4628029" y="3257550"/>
            <a:ext cx="1580029"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57" name="Oval 56"/>
          <p:cNvSpPr/>
          <p:nvPr/>
        </p:nvSpPr>
        <p:spPr>
          <a:xfrm>
            <a:off x="6790204" y="33528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7562850" y="3257550"/>
            <a:ext cx="1503829"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Launch pipeline</a:t>
            </a:r>
          </a:p>
        </p:txBody>
      </p:sp>
      <p:sp>
        <p:nvSpPr>
          <p:cNvPr id="59" name="TextBox 58"/>
          <p:cNvSpPr txBox="1"/>
          <p:nvPr/>
        </p:nvSpPr>
        <p:spPr>
          <a:xfrm>
            <a:off x="9104779" y="3257550"/>
            <a:ext cx="1580029"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60" name="Oval 59"/>
          <p:cNvSpPr/>
          <p:nvPr/>
        </p:nvSpPr>
        <p:spPr>
          <a:xfrm>
            <a:off x="11266954" y="33528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1" name="Connector 60"/>
          <p:cNvCxnSpPr/>
          <p:nvPr/>
        </p:nvCxnSpPr>
        <p:spPr>
          <a:xfrm>
            <a:off x="190500" y="36004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62" name="Rectangle 61"/>
          <p:cNvSpPr/>
          <p:nvPr/>
        </p:nvSpPr>
        <p:spPr>
          <a:xfrm>
            <a:off x="190500" y="3629025"/>
            <a:ext cx="38100" cy="28575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285750" y="3619500"/>
            <a:ext cx="2743200" cy="171450"/>
          </a:xfrm>
          <a:prstGeom prst="rect">
            <a:avLst/>
          </a:prstGeom>
          <a:noFill/>
        </p:spPr>
        <p:txBody>
          <a:bodyPr wrap="square" lIns="28575" rIns="28575" tIns="9525" bIns="9525" anchor="t">
            <a:spAutoFit/>
          </a:bodyPr>
          <a:lstStyle/>
          <a:p>
            <a:pPr algn="l"/>
            <a:r>
              <a:rPr sz="1100" b="1">
                <a:solidFill>
                  <a:srgbClr val="1F2933"/>
                </a:solidFill>
                <a:latin typeface="Calibri"/>
              </a:rPr>
              <a:t>Dutch Eggmembrane Protein Powder</a:t>
            </a:r>
          </a:p>
        </p:txBody>
      </p:sp>
      <p:sp>
        <p:nvSpPr>
          <p:cNvPr id="64" name="TextBox 63"/>
          <p:cNvSpPr txBox="1"/>
          <p:nvPr/>
        </p:nvSpPr>
        <p:spPr>
          <a:xfrm>
            <a:off x="285750" y="3781425"/>
            <a:ext cx="2743200" cy="152400"/>
          </a:xfrm>
          <a:prstGeom prst="rect">
            <a:avLst/>
          </a:prstGeom>
          <a:noFill/>
        </p:spPr>
        <p:txBody>
          <a:bodyPr wrap="square" lIns="28575" rIns="28575" tIns="9525" bIns="9525" anchor="t">
            <a:spAutoFit/>
          </a:bodyPr>
          <a:lstStyle/>
          <a:p>
            <a:pPr algn="l"/>
            <a:r>
              <a:rPr sz="1100" b="0">
                <a:solidFill>
                  <a:srgbClr val="5F6B7A"/>
                </a:solidFill>
                <a:latin typeface="Calibri"/>
              </a:rPr>
              <a:t>Tier 2</a:t>
            </a:r>
          </a:p>
        </p:txBody>
      </p:sp>
      <p:sp>
        <p:nvSpPr>
          <p:cNvPr id="65" name="TextBox 64"/>
          <p:cNvSpPr txBox="1"/>
          <p:nvPr/>
        </p:nvSpPr>
        <p:spPr>
          <a:xfrm>
            <a:off x="3086100" y="3600450"/>
            <a:ext cx="1503829"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Distributors</a:t>
            </a:r>
          </a:p>
        </p:txBody>
      </p:sp>
      <p:sp>
        <p:nvSpPr>
          <p:cNvPr id="66" name="TextBox 65"/>
          <p:cNvSpPr txBox="1"/>
          <p:nvPr/>
        </p:nvSpPr>
        <p:spPr>
          <a:xfrm>
            <a:off x="4628029" y="3600450"/>
            <a:ext cx="1580029"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67" name="Oval 66"/>
          <p:cNvSpPr/>
          <p:nvPr/>
        </p:nvSpPr>
        <p:spPr>
          <a:xfrm>
            <a:off x="6790204" y="36957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7524750" y="3600450"/>
            <a:ext cx="1580029"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69" name="TextBox 68"/>
          <p:cNvSpPr txBox="1"/>
          <p:nvPr/>
        </p:nvSpPr>
        <p:spPr>
          <a:xfrm>
            <a:off x="9104779" y="3600450"/>
            <a:ext cx="1580029"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70" name="Oval 69"/>
          <p:cNvSpPr/>
          <p:nvPr/>
        </p:nvSpPr>
        <p:spPr>
          <a:xfrm>
            <a:off x="11266954" y="3695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Freeform 70"/>
          <p:cNvSpPr/>
          <p:nvPr/>
        </p:nvSpPr>
        <p:spPr>
          <a:xfrm>
            <a:off x="11344275" y="36957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2" name="Connector 71"/>
          <p:cNvCxnSpPr/>
          <p:nvPr/>
        </p:nvCxnSpPr>
        <p:spPr>
          <a:xfrm>
            <a:off x="190500" y="39433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73" name="Rectangle 72"/>
          <p:cNvSpPr/>
          <p:nvPr/>
        </p:nvSpPr>
        <p:spPr>
          <a:xfrm>
            <a:off x="190500" y="3971925"/>
            <a:ext cx="38100" cy="28575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285750" y="3962400"/>
            <a:ext cx="2743200" cy="171450"/>
          </a:xfrm>
          <a:prstGeom prst="rect">
            <a:avLst/>
          </a:prstGeom>
          <a:noFill/>
        </p:spPr>
        <p:txBody>
          <a:bodyPr wrap="square" lIns="28575" rIns="28575" tIns="9525" bIns="9525" anchor="t">
            <a:spAutoFit/>
          </a:bodyPr>
          <a:lstStyle/>
          <a:p>
            <a:pPr algn="l"/>
            <a:r>
              <a:rPr sz="1100" b="1">
                <a:solidFill>
                  <a:srgbClr val="1F2933"/>
                </a:solidFill>
                <a:latin typeface="Calibri"/>
              </a:rPr>
              <a:t>Kewpie Corporation</a:t>
            </a:r>
          </a:p>
        </p:txBody>
      </p:sp>
      <p:sp>
        <p:nvSpPr>
          <p:cNvPr id="75" name="TextBox 74"/>
          <p:cNvSpPr txBox="1"/>
          <p:nvPr/>
        </p:nvSpPr>
        <p:spPr>
          <a:xfrm>
            <a:off x="285750" y="4124325"/>
            <a:ext cx="2743200" cy="152400"/>
          </a:xfrm>
          <a:prstGeom prst="rect">
            <a:avLst/>
          </a:prstGeom>
          <a:noFill/>
        </p:spPr>
        <p:txBody>
          <a:bodyPr wrap="square" lIns="28575" rIns="28575" tIns="9525" bIns="9525" anchor="t">
            <a:spAutoFit/>
          </a:bodyPr>
          <a:lstStyle/>
          <a:p>
            <a:pPr algn="l"/>
            <a:r>
              <a:rPr sz="1100" b="0">
                <a:solidFill>
                  <a:srgbClr val="5F6B7A"/>
                </a:solidFill>
                <a:latin typeface="Calibri"/>
              </a:rPr>
              <a:t>Tier 2</a:t>
            </a:r>
          </a:p>
        </p:txBody>
      </p:sp>
      <p:sp>
        <p:nvSpPr>
          <p:cNvPr id="76" name="TextBox 75"/>
          <p:cNvSpPr txBox="1"/>
          <p:nvPr/>
        </p:nvSpPr>
        <p:spPr>
          <a:xfrm>
            <a:off x="3086100" y="3943350"/>
            <a:ext cx="1503829"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Distributors</a:t>
            </a:r>
          </a:p>
        </p:txBody>
      </p:sp>
      <p:sp>
        <p:nvSpPr>
          <p:cNvPr id="77" name="TextBox 76"/>
          <p:cNvSpPr txBox="1"/>
          <p:nvPr/>
        </p:nvSpPr>
        <p:spPr>
          <a:xfrm>
            <a:off x="4628029" y="3943350"/>
            <a:ext cx="1580029"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78" name="Oval 77"/>
          <p:cNvSpPr/>
          <p:nvPr/>
        </p:nvSpPr>
        <p:spPr>
          <a:xfrm>
            <a:off x="6790204" y="40386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7562850" y="3943350"/>
            <a:ext cx="1503829"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Launch pipeline</a:t>
            </a:r>
          </a:p>
        </p:txBody>
      </p:sp>
      <p:sp>
        <p:nvSpPr>
          <p:cNvPr id="80" name="TextBox 79"/>
          <p:cNvSpPr txBox="1"/>
          <p:nvPr/>
        </p:nvSpPr>
        <p:spPr>
          <a:xfrm>
            <a:off x="9104779" y="3943350"/>
            <a:ext cx="1580029"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81" name="Oval 80"/>
          <p:cNvSpPr/>
          <p:nvPr/>
        </p:nvSpPr>
        <p:spPr>
          <a:xfrm>
            <a:off x="11266954" y="4038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Freeform 81"/>
          <p:cNvSpPr/>
          <p:nvPr/>
        </p:nvSpPr>
        <p:spPr>
          <a:xfrm>
            <a:off x="11344275" y="40386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3" name="Connector 82"/>
          <p:cNvCxnSpPr/>
          <p:nvPr/>
        </p:nvCxnSpPr>
        <p:spPr>
          <a:xfrm>
            <a:off x="190500" y="42862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84" name="Rectangle 83"/>
          <p:cNvSpPr/>
          <p:nvPr/>
        </p:nvSpPr>
        <p:spPr>
          <a:xfrm>
            <a:off x="190500" y="43148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285750" y="4305300"/>
            <a:ext cx="2743200" cy="171450"/>
          </a:xfrm>
          <a:prstGeom prst="rect">
            <a:avLst/>
          </a:prstGeom>
          <a:noFill/>
        </p:spPr>
        <p:txBody>
          <a:bodyPr wrap="square" lIns="28575" rIns="28575" tIns="9525" bIns="9525" anchor="t">
            <a:spAutoFit/>
          </a:bodyPr>
          <a:lstStyle/>
          <a:p>
            <a:pPr algn="l"/>
            <a:r>
              <a:rPr sz="1100" b="1">
                <a:solidFill>
                  <a:srgbClr val="1F2933"/>
                </a:solidFill>
                <a:latin typeface="Calibri"/>
              </a:rPr>
              <a:t>INNAIN</a:t>
            </a:r>
          </a:p>
        </p:txBody>
      </p:sp>
      <p:sp>
        <p:nvSpPr>
          <p:cNvPr id="86" name="TextBox 85"/>
          <p:cNvSpPr txBox="1"/>
          <p:nvPr/>
        </p:nvSpPr>
        <p:spPr>
          <a:xfrm>
            <a:off x="285750" y="4467225"/>
            <a:ext cx="2743200"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87" name="TextBox 86"/>
          <p:cNvSpPr txBox="1"/>
          <p:nvPr/>
        </p:nvSpPr>
        <p:spPr>
          <a:xfrm>
            <a:off x="3086100" y="4286250"/>
            <a:ext cx="1503829"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Regional partners</a:t>
            </a:r>
          </a:p>
        </p:txBody>
      </p:sp>
      <p:sp>
        <p:nvSpPr>
          <p:cNvPr id="88" name="TextBox 87"/>
          <p:cNvSpPr txBox="1"/>
          <p:nvPr/>
        </p:nvSpPr>
        <p:spPr>
          <a:xfrm>
            <a:off x="4628029" y="4286250"/>
            <a:ext cx="1580029"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89" name="Oval 88"/>
          <p:cNvSpPr/>
          <p:nvPr/>
        </p:nvSpPr>
        <p:spPr>
          <a:xfrm>
            <a:off x="6790204" y="43815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7524750" y="4286250"/>
            <a:ext cx="1580029"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91" name="TextBox 90"/>
          <p:cNvSpPr txBox="1"/>
          <p:nvPr/>
        </p:nvSpPr>
        <p:spPr>
          <a:xfrm>
            <a:off x="9104779" y="4286250"/>
            <a:ext cx="1580029"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92" name="Oval 91"/>
          <p:cNvSpPr/>
          <p:nvPr/>
        </p:nvSpPr>
        <p:spPr>
          <a:xfrm>
            <a:off x="11266954" y="4381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Freeform 92"/>
          <p:cNvSpPr/>
          <p:nvPr/>
        </p:nvSpPr>
        <p:spPr>
          <a:xfrm>
            <a:off x="11344275" y="43815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4" name="Connector 93"/>
          <p:cNvCxnSpPr/>
          <p:nvPr/>
        </p:nvCxnSpPr>
        <p:spPr>
          <a:xfrm>
            <a:off x="190500" y="46291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95" name="Rectangle 94"/>
          <p:cNvSpPr/>
          <p:nvPr/>
        </p:nvSpPr>
        <p:spPr>
          <a:xfrm>
            <a:off x="190500" y="46577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285750" y="4648200"/>
            <a:ext cx="2743200" cy="171450"/>
          </a:xfrm>
          <a:prstGeom prst="rect">
            <a:avLst/>
          </a:prstGeom>
          <a:noFill/>
        </p:spPr>
        <p:txBody>
          <a:bodyPr wrap="square" lIns="28575" rIns="28575" tIns="9525" bIns="9525" anchor="t">
            <a:spAutoFit/>
          </a:bodyPr>
          <a:lstStyle/>
          <a:p>
            <a:pPr algn="l"/>
            <a:r>
              <a:rPr sz="1100" b="1">
                <a:solidFill>
                  <a:srgbClr val="1F2933"/>
                </a:solidFill>
                <a:latin typeface="Calibri"/>
              </a:rPr>
              <a:t>Ecovatec Solutions Inc.</a:t>
            </a:r>
          </a:p>
        </p:txBody>
      </p:sp>
      <p:sp>
        <p:nvSpPr>
          <p:cNvPr id="97" name="TextBox 96"/>
          <p:cNvSpPr txBox="1"/>
          <p:nvPr/>
        </p:nvSpPr>
        <p:spPr>
          <a:xfrm>
            <a:off x="285750" y="4810125"/>
            <a:ext cx="2743200"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98" name="TextBox 97"/>
          <p:cNvSpPr txBox="1"/>
          <p:nvPr/>
        </p:nvSpPr>
        <p:spPr>
          <a:xfrm>
            <a:off x="3086100" y="4629150"/>
            <a:ext cx="1503829"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Regional partners</a:t>
            </a:r>
          </a:p>
        </p:txBody>
      </p:sp>
      <p:sp>
        <p:nvSpPr>
          <p:cNvPr id="99" name="TextBox 98"/>
          <p:cNvSpPr txBox="1"/>
          <p:nvPr/>
        </p:nvSpPr>
        <p:spPr>
          <a:xfrm>
            <a:off x="4628029" y="4629150"/>
            <a:ext cx="1580029"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00" name="Oval 99"/>
          <p:cNvSpPr/>
          <p:nvPr/>
        </p:nvSpPr>
        <p:spPr>
          <a:xfrm>
            <a:off x="6790204" y="47244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7562850" y="4629150"/>
            <a:ext cx="1503829"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Launch pipeline</a:t>
            </a:r>
          </a:p>
        </p:txBody>
      </p:sp>
      <p:sp>
        <p:nvSpPr>
          <p:cNvPr id="102" name="TextBox 101"/>
          <p:cNvSpPr txBox="1"/>
          <p:nvPr/>
        </p:nvSpPr>
        <p:spPr>
          <a:xfrm>
            <a:off x="9104779" y="4629150"/>
            <a:ext cx="1580029"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03" name="Oval 102"/>
          <p:cNvSpPr/>
          <p:nvPr/>
        </p:nvSpPr>
        <p:spPr>
          <a:xfrm>
            <a:off x="11266954" y="4724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Freeform 103"/>
          <p:cNvSpPr/>
          <p:nvPr/>
        </p:nvSpPr>
        <p:spPr>
          <a:xfrm>
            <a:off x="11344275" y="47244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05" name="Connector 104"/>
          <p:cNvCxnSpPr/>
          <p:nvPr/>
        </p:nvCxnSpPr>
        <p:spPr>
          <a:xfrm>
            <a:off x="190500" y="49720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06" name="Rectangle 105"/>
          <p:cNvSpPr/>
          <p:nvPr/>
        </p:nvSpPr>
        <p:spPr>
          <a:xfrm>
            <a:off x="190500" y="50006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285750" y="4991100"/>
            <a:ext cx="2743200" cy="171450"/>
          </a:xfrm>
          <a:prstGeom prst="rect">
            <a:avLst/>
          </a:prstGeom>
          <a:noFill/>
        </p:spPr>
        <p:txBody>
          <a:bodyPr wrap="square" lIns="28575" rIns="28575" tIns="9525" bIns="9525" anchor="t">
            <a:spAutoFit/>
          </a:bodyPr>
          <a:lstStyle/>
          <a:p>
            <a:pPr algn="l"/>
            <a:r>
              <a:rPr sz="1100" b="1">
                <a:solidFill>
                  <a:srgbClr val="1F2933"/>
                </a:solidFill>
                <a:latin typeface="Calibri"/>
              </a:rPr>
              <a:t>Biovotec</a:t>
            </a:r>
          </a:p>
        </p:txBody>
      </p:sp>
      <p:sp>
        <p:nvSpPr>
          <p:cNvPr id="108" name="TextBox 107"/>
          <p:cNvSpPr txBox="1"/>
          <p:nvPr/>
        </p:nvSpPr>
        <p:spPr>
          <a:xfrm>
            <a:off x="285750" y="5153025"/>
            <a:ext cx="2743200"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109" name="TextBox 108"/>
          <p:cNvSpPr txBox="1"/>
          <p:nvPr/>
        </p:nvSpPr>
        <p:spPr>
          <a:xfrm>
            <a:off x="3086100" y="4972050"/>
            <a:ext cx="1503829"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Regional partners</a:t>
            </a:r>
          </a:p>
        </p:txBody>
      </p:sp>
      <p:sp>
        <p:nvSpPr>
          <p:cNvPr id="110" name="TextBox 109"/>
          <p:cNvSpPr txBox="1"/>
          <p:nvPr/>
        </p:nvSpPr>
        <p:spPr>
          <a:xfrm>
            <a:off x="4628029" y="4972050"/>
            <a:ext cx="1580029"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11" name="Oval 110"/>
          <p:cNvSpPr/>
          <p:nvPr/>
        </p:nvSpPr>
        <p:spPr>
          <a:xfrm>
            <a:off x="6790204" y="50673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TextBox 111"/>
          <p:cNvSpPr txBox="1"/>
          <p:nvPr/>
        </p:nvSpPr>
        <p:spPr>
          <a:xfrm>
            <a:off x="7524750" y="4972050"/>
            <a:ext cx="1580029"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13" name="TextBox 112"/>
          <p:cNvSpPr txBox="1"/>
          <p:nvPr/>
        </p:nvSpPr>
        <p:spPr>
          <a:xfrm>
            <a:off x="9104779" y="4972050"/>
            <a:ext cx="1580029"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14" name="Oval 113"/>
          <p:cNvSpPr/>
          <p:nvPr/>
        </p:nvSpPr>
        <p:spPr>
          <a:xfrm>
            <a:off x="11266954" y="50673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Freeform 114"/>
          <p:cNvSpPr/>
          <p:nvPr/>
        </p:nvSpPr>
        <p:spPr>
          <a:xfrm>
            <a:off x="11344275" y="50673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6" name="Connector 115"/>
          <p:cNvCxnSpPr/>
          <p:nvPr/>
        </p:nvCxnSpPr>
        <p:spPr>
          <a:xfrm>
            <a:off x="190500" y="53149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17" name="Rectangle 116"/>
          <p:cNvSpPr/>
          <p:nvPr/>
        </p:nvSpPr>
        <p:spPr>
          <a:xfrm>
            <a:off x="190500" y="53435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TextBox 117"/>
          <p:cNvSpPr txBox="1"/>
          <p:nvPr/>
        </p:nvSpPr>
        <p:spPr>
          <a:xfrm>
            <a:off x="285750" y="5334000"/>
            <a:ext cx="2743200" cy="171450"/>
          </a:xfrm>
          <a:prstGeom prst="rect">
            <a:avLst/>
          </a:prstGeom>
          <a:noFill/>
        </p:spPr>
        <p:txBody>
          <a:bodyPr wrap="square" lIns="28575" rIns="28575" tIns="9525" bIns="9525" anchor="t">
            <a:spAutoFit/>
          </a:bodyPr>
          <a:lstStyle/>
          <a:p>
            <a:pPr algn="l"/>
            <a:r>
              <a:rPr sz="1100" b="1">
                <a:solidFill>
                  <a:srgbClr val="1F2933"/>
                </a:solidFill>
                <a:latin typeface="Calibri"/>
              </a:rPr>
              <a:t>Microcore Research Laboratories India Pvt. Ltd.</a:t>
            </a:r>
          </a:p>
        </p:txBody>
      </p:sp>
      <p:sp>
        <p:nvSpPr>
          <p:cNvPr id="119" name="TextBox 118"/>
          <p:cNvSpPr txBox="1"/>
          <p:nvPr/>
        </p:nvSpPr>
        <p:spPr>
          <a:xfrm>
            <a:off x="285750" y="5495925"/>
            <a:ext cx="2743200"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120" name="TextBox 119"/>
          <p:cNvSpPr txBox="1"/>
          <p:nvPr/>
        </p:nvSpPr>
        <p:spPr>
          <a:xfrm>
            <a:off x="3086100" y="5314950"/>
            <a:ext cx="1503829"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Regional partners</a:t>
            </a:r>
          </a:p>
        </p:txBody>
      </p:sp>
      <p:sp>
        <p:nvSpPr>
          <p:cNvPr id="121" name="TextBox 120"/>
          <p:cNvSpPr txBox="1"/>
          <p:nvPr/>
        </p:nvSpPr>
        <p:spPr>
          <a:xfrm>
            <a:off x="4628029" y="5314950"/>
            <a:ext cx="1580029"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22" name="Oval 121"/>
          <p:cNvSpPr/>
          <p:nvPr/>
        </p:nvSpPr>
        <p:spPr>
          <a:xfrm>
            <a:off x="6790204" y="54102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TextBox 122"/>
          <p:cNvSpPr txBox="1"/>
          <p:nvPr/>
        </p:nvSpPr>
        <p:spPr>
          <a:xfrm>
            <a:off x="7562850" y="5314950"/>
            <a:ext cx="1503829"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Launch pipeline</a:t>
            </a:r>
          </a:p>
        </p:txBody>
      </p:sp>
      <p:sp>
        <p:nvSpPr>
          <p:cNvPr id="124" name="TextBox 123"/>
          <p:cNvSpPr txBox="1"/>
          <p:nvPr/>
        </p:nvSpPr>
        <p:spPr>
          <a:xfrm>
            <a:off x="9104779" y="5314950"/>
            <a:ext cx="1580029"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25" name="Oval 124"/>
          <p:cNvSpPr/>
          <p:nvPr/>
        </p:nvSpPr>
        <p:spPr>
          <a:xfrm>
            <a:off x="11266954" y="54102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Freeform 125"/>
          <p:cNvSpPr/>
          <p:nvPr/>
        </p:nvSpPr>
        <p:spPr>
          <a:xfrm>
            <a:off x="11344275" y="54102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27" name="Connector 126"/>
          <p:cNvCxnSpPr/>
          <p:nvPr/>
        </p:nvCxnSpPr>
        <p:spPr>
          <a:xfrm>
            <a:off x="190500" y="56578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28" name="Oval 127"/>
          <p:cNvSpPr/>
          <p:nvPr/>
        </p:nvSpPr>
        <p:spPr>
          <a:xfrm>
            <a:off x="200025" y="5734050"/>
            <a:ext cx="133350" cy="13335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TextBox 128"/>
          <p:cNvSpPr txBox="1"/>
          <p:nvPr/>
        </p:nvSpPr>
        <p:spPr>
          <a:xfrm>
            <a:off x="381000" y="57150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Strong, direct evidence</a:t>
            </a:r>
          </a:p>
        </p:txBody>
      </p:sp>
      <p:sp>
        <p:nvSpPr>
          <p:cNvPr id="130" name="Oval 129"/>
          <p:cNvSpPr/>
          <p:nvPr/>
        </p:nvSpPr>
        <p:spPr>
          <a:xfrm>
            <a:off x="2065020" y="5734050"/>
            <a:ext cx="133350" cy="13335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Freeform 130"/>
          <p:cNvSpPr/>
          <p:nvPr/>
        </p:nvSpPr>
        <p:spPr>
          <a:xfrm>
            <a:off x="2133600" y="5734050"/>
            <a:ext cx="66675" cy="133350"/>
          </a:xfrm>
          <a:custGeom>
            <a:avLst/>
            <a:gdLst/>
            <a:ahLst/>
            <a:cxnLst/>
            <a:rect l="l" t="t" r="r" b="b"/>
            <a:pathLst>
              <a:path w="7" h="14">
                <a:moveTo>
                  <a:pt x="0" y="7"/>
                </a:moveTo>
                <a:lnTo>
                  <a:pt x="0" y="0"/>
                </a:lnTo>
                <a:lnTo>
                  <a:pt x="1" y="0"/>
                </a:lnTo>
                <a:lnTo>
                  <a:pt x="2" y="0"/>
                </a:lnTo>
                <a:lnTo>
                  <a:pt x="3" y="1"/>
                </a:lnTo>
                <a:lnTo>
                  <a:pt x="4" y="2"/>
                </a:lnTo>
                <a:lnTo>
                  <a:pt x="5" y="3"/>
                </a:lnTo>
                <a:lnTo>
                  <a:pt x="6" y="4"/>
                </a:lnTo>
                <a:lnTo>
                  <a:pt x="6" y="5"/>
                </a:lnTo>
                <a:lnTo>
                  <a:pt x="7" y="6"/>
                </a:lnTo>
                <a:lnTo>
                  <a:pt x="7" y="7"/>
                </a:lnTo>
                <a:lnTo>
                  <a:pt x="7" y="8"/>
                </a:lnTo>
                <a:lnTo>
                  <a:pt x="6" y="9"/>
                </a:lnTo>
                <a:lnTo>
                  <a:pt x="6" y="10"/>
                </a:lnTo>
                <a:lnTo>
                  <a:pt x="5" y="11"/>
                </a:lnTo>
                <a:lnTo>
                  <a:pt x="4" y="12"/>
                </a:lnTo>
                <a:lnTo>
                  <a:pt x="3" y="13"/>
                </a:lnTo>
                <a:lnTo>
                  <a:pt x="2" y="14"/>
                </a:lnTo>
                <a:lnTo>
                  <a:pt x="1" y="14"/>
                </a:lnTo>
                <a:lnTo>
                  <a:pt x="0" y="14"/>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TextBox 131"/>
          <p:cNvSpPr txBox="1"/>
          <p:nvPr/>
        </p:nvSpPr>
        <p:spPr>
          <a:xfrm>
            <a:off x="2245995" y="57150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Moderate or partial</a:t>
            </a:r>
          </a:p>
        </p:txBody>
      </p:sp>
      <p:sp>
        <p:nvSpPr>
          <p:cNvPr id="133" name="Oval 132"/>
          <p:cNvSpPr/>
          <p:nvPr/>
        </p:nvSpPr>
        <p:spPr>
          <a:xfrm>
            <a:off x="3678555" y="5734050"/>
            <a:ext cx="133350" cy="13335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Freeform 133"/>
          <p:cNvSpPr/>
          <p:nvPr/>
        </p:nvSpPr>
        <p:spPr>
          <a:xfrm>
            <a:off x="3743325" y="5734050"/>
            <a:ext cx="66675" cy="66675"/>
          </a:xfrm>
          <a:custGeom>
            <a:avLst/>
            <a:gdLst/>
            <a:ahLst/>
            <a:cxnLst/>
            <a:rect l="l" t="t" r="r" b="b"/>
            <a:pathLst>
              <a:path w="7" h="7">
                <a:moveTo>
                  <a:pt x="0" y="7"/>
                </a:moveTo>
                <a:lnTo>
                  <a:pt x="0" y="0"/>
                </a:lnTo>
                <a:lnTo>
                  <a:pt x="1" y="0"/>
                </a:lnTo>
                <a:lnTo>
                  <a:pt x="3" y="0"/>
                </a:lnTo>
                <a:lnTo>
                  <a:pt x="4" y="1"/>
                </a:lnTo>
                <a:lnTo>
                  <a:pt x="5" y="2"/>
                </a:lnTo>
                <a:lnTo>
                  <a:pt x="6" y="3"/>
                </a:lnTo>
                <a:lnTo>
                  <a:pt x="6" y="4"/>
                </a:lnTo>
                <a:lnTo>
                  <a:pt x="7" y="5"/>
                </a:lnTo>
                <a:lnTo>
                  <a:pt x="7" y="6"/>
                </a:lnTo>
                <a:lnTo>
                  <a:pt x="7" y="7"/>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TextBox 134"/>
          <p:cNvSpPr txBox="1"/>
          <p:nvPr/>
        </p:nvSpPr>
        <p:spPr>
          <a:xfrm>
            <a:off x="3859530" y="57150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Weak or indirect</a:t>
            </a:r>
          </a:p>
        </p:txBody>
      </p:sp>
      <p:sp>
        <p:nvSpPr>
          <p:cNvPr id="136" name="Oval 135"/>
          <p:cNvSpPr/>
          <p:nvPr/>
        </p:nvSpPr>
        <p:spPr>
          <a:xfrm>
            <a:off x="5103495" y="5734050"/>
            <a:ext cx="133350" cy="13335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TextBox 136"/>
          <p:cNvSpPr txBox="1"/>
          <p:nvPr/>
        </p:nvSpPr>
        <p:spPr>
          <a:xfrm>
            <a:off x="5284470" y="57150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None found</a:t>
            </a:r>
          </a:p>
        </p:txBody>
      </p:sp>
      <p:sp>
        <p:nvSpPr>
          <p:cNvPr id="138" name="TextBox 137"/>
          <p:cNvSpPr txBox="1"/>
          <p:nvPr/>
        </p:nvSpPr>
        <p:spPr>
          <a:xfrm>
            <a:off x="190500" y="5943600"/>
            <a:ext cx="2857500" cy="152400"/>
          </a:xfrm>
          <a:prstGeom prst="rect">
            <a:avLst/>
          </a:prstGeom>
          <a:noFill/>
        </p:spPr>
        <p:txBody>
          <a:bodyPr wrap="square" lIns="28575" rIns="28575" tIns="9525" bIns="9525" anchor="t">
            <a:spAutoFit/>
          </a:bodyPr>
          <a:lstStyle/>
          <a:p>
            <a:pPr algn="l"/>
            <a:r>
              <a:rPr sz="1100" b="1">
                <a:solidFill>
                  <a:srgbClr val="0F2D52"/>
                </a:solidFill>
                <a:latin typeface="Calibri"/>
              </a:rPr>
              <a:t>READING</a:t>
            </a:r>
          </a:p>
        </p:txBody>
      </p:sp>
      <p:sp>
        <p:nvSpPr>
          <p:cNvPr id="139" name="TextBox 138"/>
          <p:cNvSpPr txBox="1"/>
          <p:nvPr/>
        </p:nvSpPr>
        <p:spPr>
          <a:xfrm>
            <a:off x="190500" y="6096000"/>
            <a:ext cx="11811000" cy="2286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Momentum sits with the players running the most strategic moves; prospects combine breadth, reach, scale and pace.  Promotion and policy exposure need market and regulatory research.</a:t>
            </a:r>
          </a:p>
        </p:txBody>
      </p:sp>
      <p:sp>
        <p:nvSpPr>
          <p:cNvPr id="140" name="Rectangle 139"/>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TextBox 14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42" name="Picture 141" descr="lock.png"/>
          <p:cNvPicPr>
            <a:picLocks noChangeAspect="1"/>
          </p:cNvPicPr>
          <p:nvPr/>
        </p:nvPicPr>
        <p:blipFill>
          <a:blip r:embed="rId4"/>
          <a:stretch>
            <a:fillRect/>
          </a:stretch>
        </p:blipFill>
        <p:spPr>
          <a:xfrm>
            <a:off x="5353694" y="2306701"/>
            <a:ext cx="128699" cy="187198"/>
          </a:xfrm>
          <a:prstGeom prst="rect">
            <a:avLst/>
          </a:prstGeom>
        </p:spPr>
      </p:pic>
      <p:pic>
        <p:nvPicPr>
          <p:cNvPr id="143" name="Picture 142" descr="lock.png"/>
          <p:cNvPicPr>
            <a:picLocks noChangeAspect="1"/>
          </p:cNvPicPr>
          <p:nvPr/>
        </p:nvPicPr>
        <p:blipFill>
          <a:blip r:embed="rId4"/>
          <a:stretch>
            <a:fillRect/>
          </a:stretch>
        </p:blipFill>
        <p:spPr>
          <a:xfrm>
            <a:off x="8250415" y="2306701"/>
            <a:ext cx="128699" cy="187198"/>
          </a:xfrm>
          <a:prstGeom prst="rect">
            <a:avLst/>
          </a:prstGeom>
        </p:spPr>
      </p:pic>
      <p:pic>
        <p:nvPicPr>
          <p:cNvPr id="144" name="Picture 143" descr="lock.png"/>
          <p:cNvPicPr>
            <a:picLocks noChangeAspect="1"/>
          </p:cNvPicPr>
          <p:nvPr/>
        </p:nvPicPr>
        <p:blipFill>
          <a:blip r:embed="rId4"/>
          <a:stretch>
            <a:fillRect/>
          </a:stretch>
        </p:blipFill>
        <p:spPr>
          <a:xfrm>
            <a:off x="9830444" y="2306701"/>
            <a:ext cx="128699" cy="187198"/>
          </a:xfrm>
          <a:prstGeom prst="rect">
            <a:avLst/>
          </a:prstGeom>
        </p:spPr>
      </p:pic>
      <p:pic>
        <p:nvPicPr>
          <p:cNvPr id="145" name="Picture 144" descr="lock.png"/>
          <p:cNvPicPr>
            <a:picLocks noChangeAspect="1"/>
          </p:cNvPicPr>
          <p:nvPr/>
        </p:nvPicPr>
        <p:blipFill>
          <a:blip r:embed="rId4"/>
          <a:stretch>
            <a:fillRect/>
          </a:stretch>
        </p:blipFill>
        <p:spPr>
          <a:xfrm>
            <a:off x="5353694" y="2649601"/>
            <a:ext cx="128699" cy="187198"/>
          </a:xfrm>
          <a:prstGeom prst="rect">
            <a:avLst/>
          </a:prstGeom>
        </p:spPr>
      </p:pic>
      <p:pic>
        <p:nvPicPr>
          <p:cNvPr id="146" name="Picture 145" descr="lock.png"/>
          <p:cNvPicPr>
            <a:picLocks noChangeAspect="1"/>
          </p:cNvPicPr>
          <p:nvPr/>
        </p:nvPicPr>
        <p:blipFill>
          <a:blip r:embed="rId4"/>
          <a:stretch>
            <a:fillRect/>
          </a:stretch>
        </p:blipFill>
        <p:spPr>
          <a:xfrm>
            <a:off x="9830444" y="2649601"/>
            <a:ext cx="128699" cy="187198"/>
          </a:xfrm>
          <a:prstGeom prst="rect">
            <a:avLst/>
          </a:prstGeom>
        </p:spPr>
      </p:pic>
      <p:pic>
        <p:nvPicPr>
          <p:cNvPr id="147" name="Picture 146" descr="lock.png"/>
          <p:cNvPicPr>
            <a:picLocks noChangeAspect="1"/>
          </p:cNvPicPr>
          <p:nvPr/>
        </p:nvPicPr>
        <p:blipFill>
          <a:blip r:embed="rId4"/>
          <a:stretch>
            <a:fillRect/>
          </a:stretch>
        </p:blipFill>
        <p:spPr>
          <a:xfrm>
            <a:off x="5353694" y="2992501"/>
            <a:ext cx="128699" cy="187198"/>
          </a:xfrm>
          <a:prstGeom prst="rect">
            <a:avLst/>
          </a:prstGeom>
        </p:spPr>
      </p:pic>
      <p:pic>
        <p:nvPicPr>
          <p:cNvPr id="148" name="Picture 147" descr="lock.png"/>
          <p:cNvPicPr>
            <a:picLocks noChangeAspect="1"/>
          </p:cNvPicPr>
          <p:nvPr/>
        </p:nvPicPr>
        <p:blipFill>
          <a:blip r:embed="rId4"/>
          <a:stretch>
            <a:fillRect/>
          </a:stretch>
        </p:blipFill>
        <p:spPr>
          <a:xfrm>
            <a:off x="8250415" y="2992501"/>
            <a:ext cx="128699" cy="187198"/>
          </a:xfrm>
          <a:prstGeom prst="rect">
            <a:avLst/>
          </a:prstGeom>
        </p:spPr>
      </p:pic>
      <p:pic>
        <p:nvPicPr>
          <p:cNvPr id="149" name="Picture 148" descr="lock.png"/>
          <p:cNvPicPr>
            <a:picLocks noChangeAspect="1"/>
          </p:cNvPicPr>
          <p:nvPr/>
        </p:nvPicPr>
        <p:blipFill>
          <a:blip r:embed="rId4"/>
          <a:stretch>
            <a:fillRect/>
          </a:stretch>
        </p:blipFill>
        <p:spPr>
          <a:xfrm>
            <a:off x="9830444" y="2992501"/>
            <a:ext cx="128699" cy="187198"/>
          </a:xfrm>
          <a:prstGeom prst="rect">
            <a:avLst/>
          </a:prstGeom>
        </p:spPr>
      </p:pic>
      <p:pic>
        <p:nvPicPr>
          <p:cNvPr id="150" name="Picture 149" descr="lock.png"/>
          <p:cNvPicPr>
            <a:picLocks noChangeAspect="1"/>
          </p:cNvPicPr>
          <p:nvPr/>
        </p:nvPicPr>
        <p:blipFill>
          <a:blip r:embed="rId4"/>
          <a:stretch>
            <a:fillRect/>
          </a:stretch>
        </p:blipFill>
        <p:spPr>
          <a:xfrm>
            <a:off x="5353694" y="3335401"/>
            <a:ext cx="128699" cy="187198"/>
          </a:xfrm>
          <a:prstGeom prst="rect">
            <a:avLst/>
          </a:prstGeom>
        </p:spPr>
      </p:pic>
      <p:pic>
        <p:nvPicPr>
          <p:cNvPr id="151" name="Picture 150" descr="lock.png"/>
          <p:cNvPicPr>
            <a:picLocks noChangeAspect="1"/>
          </p:cNvPicPr>
          <p:nvPr/>
        </p:nvPicPr>
        <p:blipFill>
          <a:blip r:embed="rId4"/>
          <a:stretch>
            <a:fillRect/>
          </a:stretch>
        </p:blipFill>
        <p:spPr>
          <a:xfrm>
            <a:off x="9830444" y="3335401"/>
            <a:ext cx="128699" cy="187198"/>
          </a:xfrm>
          <a:prstGeom prst="rect">
            <a:avLst/>
          </a:prstGeom>
        </p:spPr>
      </p:pic>
      <p:pic>
        <p:nvPicPr>
          <p:cNvPr id="152" name="Picture 151" descr="lock.png"/>
          <p:cNvPicPr>
            <a:picLocks noChangeAspect="1"/>
          </p:cNvPicPr>
          <p:nvPr/>
        </p:nvPicPr>
        <p:blipFill>
          <a:blip r:embed="rId4"/>
          <a:stretch>
            <a:fillRect/>
          </a:stretch>
        </p:blipFill>
        <p:spPr>
          <a:xfrm>
            <a:off x="5353694" y="3678301"/>
            <a:ext cx="128699" cy="187198"/>
          </a:xfrm>
          <a:prstGeom prst="rect">
            <a:avLst/>
          </a:prstGeom>
        </p:spPr>
      </p:pic>
      <p:pic>
        <p:nvPicPr>
          <p:cNvPr id="153" name="Picture 152" descr="lock.png"/>
          <p:cNvPicPr>
            <a:picLocks noChangeAspect="1"/>
          </p:cNvPicPr>
          <p:nvPr/>
        </p:nvPicPr>
        <p:blipFill>
          <a:blip r:embed="rId4"/>
          <a:stretch>
            <a:fillRect/>
          </a:stretch>
        </p:blipFill>
        <p:spPr>
          <a:xfrm>
            <a:off x="8250415" y="3678301"/>
            <a:ext cx="128699" cy="187198"/>
          </a:xfrm>
          <a:prstGeom prst="rect">
            <a:avLst/>
          </a:prstGeom>
        </p:spPr>
      </p:pic>
      <p:pic>
        <p:nvPicPr>
          <p:cNvPr id="154" name="Picture 153" descr="lock.png"/>
          <p:cNvPicPr>
            <a:picLocks noChangeAspect="1"/>
          </p:cNvPicPr>
          <p:nvPr/>
        </p:nvPicPr>
        <p:blipFill>
          <a:blip r:embed="rId4"/>
          <a:stretch>
            <a:fillRect/>
          </a:stretch>
        </p:blipFill>
        <p:spPr>
          <a:xfrm>
            <a:off x="9830444" y="3678301"/>
            <a:ext cx="128699" cy="187198"/>
          </a:xfrm>
          <a:prstGeom prst="rect">
            <a:avLst/>
          </a:prstGeom>
        </p:spPr>
      </p:pic>
      <p:pic>
        <p:nvPicPr>
          <p:cNvPr id="155" name="Picture 154" descr="lock.png"/>
          <p:cNvPicPr>
            <a:picLocks noChangeAspect="1"/>
          </p:cNvPicPr>
          <p:nvPr/>
        </p:nvPicPr>
        <p:blipFill>
          <a:blip r:embed="rId4"/>
          <a:stretch>
            <a:fillRect/>
          </a:stretch>
        </p:blipFill>
        <p:spPr>
          <a:xfrm>
            <a:off x="5353694" y="4021201"/>
            <a:ext cx="128699" cy="187198"/>
          </a:xfrm>
          <a:prstGeom prst="rect">
            <a:avLst/>
          </a:prstGeom>
        </p:spPr>
      </p:pic>
      <p:pic>
        <p:nvPicPr>
          <p:cNvPr id="156" name="Picture 155" descr="lock.png"/>
          <p:cNvPicPr>
            <a:picLocks noChangeAspect="1"/>
          </p:cNvPicPr>
          <p:nvPr/>
        </p:nvPicPr>
        <p:blipFill>
          <a:blip r:embed="rId4"/>
          <a:stretch>
            <a:fillRect/>
          </a:stretch>
        </p:blipFill>
        <p:spPr>
          <a:xfrm>
            <a:off x="9830444" y="4021201"/>
            <a:ext cx="128699" cy="187198"/>
          </a:xfrm>
          <a:prstGeom prst="rect">
            <a:avLst/>
          </a:prstGeom>
        </p:spPr>
      </p:pic>
      <p:pic>
        <p:nvPicPr>
          <p:cNvPr id="157" name="Picture 156" descr="lock.png"/>
          <p:cNvPicPr>
            <a:picLocks noChangeAspect="1"/>
          </p:cNvPicPr>
          <p:nvPr/>
        </p:nvPicPr>
        <p:blipFill>
          <a:blip r:embed="rId4"/>
          <a:stretch>
            <a:fillRect/>
          </a:stretch>
        </p:blipFill>
        <p:spPr>
          <a:xfrm>
            <a:off x="5353694" y="4364101"/>
            <a:ext cx="128699" cy="187198"/>
          </a:xfrm>
          <a:prstGeom prst="rect">
            <a:avLst/>
          </a:prstGeom>
        </p:spPr>
      </p:pic>
      <p:pic>
        <p:nvPicPr>
          <p:cNvPr id="158" name="Picture 157" descr="lock.png"/>
          <p:cNvPicPr>
            <a:picLocks noChangeAspect="1"/>
          </p:cNvPicPr>
          <p:nvPr/>
        </p:nvPicPr>
        <p:blipFill>
          <a:blip r:embed="rId4"/>
          <a:stretch>
            <a:fillRect/>
          </a:stretch>
        </p:blipFill>
        <p:spPr>
          <a:xfrm>
            <a:off x="8250415" y="4364101"/>
            <a:ext cx="128699" cy="187198"/>
          </a:xfrm>
          <a:prstGeom prst="rect">
            <a:avLst/>
          </a:prstGeom>
        </p:spPr>
      </p:pic>
      <p:pic>
        <p:nvPicPr>
          <p:cNvPr id="159" name="Picture 158" descr="lock.png"/>
          <p:cNvPicPr>
            <a:picLocks noChangeAspect="1"/>
          </p:cNvPicPr>
          <p:nvPr/>
        </p:nvPicPr>
        <p:blipFill>
          <a:blip r:embed="rId4"/>
          <a:stretch>
            <a:fillRect/>
          </a:stretch>
        </p:blipFill>
        <p:spPr>
          <a:xfrm>
            <a:off x="9830444" y="4364101"/>
            <a:ext cx="128699" cy="187198"/>
          </a:xfrm>
          <a:prstGeom prst="rect">
            <a:avLst/>
          </a:prstGeom>
        </p:spPr>
      </p:pic>
      <p:pic>
        <p:nvPicPr>
          <p:cNvPr id="160" name="Picture 159" descr="lock.png"/>
          <p:cNvPicPr>
            <a:picLocks noChangeAspect="1"/>
          </p:cNvPicPr>
          <p:nvPr/>
        </p:nvPicPr>
        <p:blipFill>
          <a:blip r:embed="rId4"/>
          <a:stretch>
            <a:fillRect/>
          </a:stretch>
        </p:blipFill>
        <p:spPr>
          <a:xfrm>
            <a:off x="5353694" y="4707001"/>
            <a:ext cx="128699" cy="187198"/>
          </a:xfrm>
          <a:prstGeom prst="rect">
            <a:avLst/>
          </a:prstGeom>
        </p:spPr>
      </p:pic>
      <p:pic>
        <p:nvPicPr>
          <p:cNvPr id="161" name="Picture 160" descr="lock.png"/>
          <p:cNvPicPr>
            <a:picLocks noChangeAspect="1"/>
          </p:cNvPicPr>
          <p:nvPr/>
        </p:nvPicPr>
        <p:blipFill>
          <a:blip r:embed="rId4"/>
          <a:stretch>
            <a:fillRect/>
          </a:stretch>
        </p:blipFill>
        <p:spPr>
          <a:xfrm>
            <a:off x="9830444" y="4707001"/>
            <a:ext cx="128699" cy="187198"/>
          </a:xfrm>
          <a:prstGeom prst="rect">
            <a:avLst/>
          </a:prstGeom>
        </p:spPr>
      </p:pic>
      <p:pic>
        <p:nvPicPr>
          <p:cNvPr id="162" name="Picture 161" descr="lock.png"/>
          <p:cNvPicPr>
            <a:picLocks noChangeAspect="1"/>
          </p:cNvPicPr>
          <p:nvPr/>
        </p:nvPicPr>
        <p:blipFill>
          <a:blip r:embed="rId4"/>
          <a:stretch>
            <a:fillRect/>
          </a:stretch>
        </p:blipFill>
        <p:spPr>
          <a:xfrm>
            <a:off x="5353694" y="5049901"/>
            <a:ext cx="128699" cy="187198"/>
          </a:xfrm>
          <a:prstGeom prst="rect">
            <a:avLst/>
          </a:prstGeom>
        </p:spPr>
      </p:pic>
      <p:pic>
        <p:nvPicPr>
          <p:cNvPr id="163" name="Picture 162" descr="lock.png"/>
          <p:cNvPicPr>
            <a:picLocks noChangeAspect="1"/>
          </p:cNvPicPr>
          <p:nvPr/>
        </p:nvPicPr>
        <p:blipFill>
          <a:blip r:embed="rId4"/>
          <a:stretch>
            <a:fillRect/>
          </a:stretch>
        </p:blipFill>
        <p:spPr>
          <a:xfrm>
            <a:off x="8250415" y="5049901"/>
            <a:ext cx="128699" cy="187198"/>
          </a:xfrm>
          <a:prstGeom prst="rect">
            <a:avLst/>
          </a:prstGeom>
        </p:spPr>
      </p:pic>
      <p:pic>
        <p:nvPicPr>
          <p:cNvPr id="164" name="Picture 163" descr="lock.png"/>
          <p:cNvPicPr>
            <a:picLocks noChangeAspect="1"/>
          </p:cNvPicPr>
          <p:nvPr/>
        </p:nvPicPr>
        <p:blipFill>
          <a:blip r:embed="rId4"/>
          <a:stretch>
            <a:fillRect/>
          </a:stretch>
        </p:blipFill>
        <p:spPr>
          <a:xfrm>
            <a:off x="9830444" y="5049901"/>
            <a:ext cx="128699" cy="187198"/>
          </a:xfrm>
          <a:prstGeom prst="rect">
            <a:avLst/>
          </a:prstGeom>
        </p:spPr>
      </p:pic>
      <p:pic>
        <p:nvPicPr>
          <p:cNvPr id="165" name="Picture 164" descr="lock.png"/>
          <p:cNvPicPr>
            <a:picLocks noChangeAspect="1"/>
          </p:cNvPicPr>
          <p:nvPr/>
        </p:nvPicPr>
        <p:blipFill>
          <a:blip r:embed="rId4"/>
          <a:stretch>
            <a:fillRect/>
          </a:stretch>
        </p:blipFill>
        <p:spPr>
          <a:xfrm>
            <a:off x="5353694" y="5392801"/>
            <a:ext cx="128699" cy="187198"/>
          </a:xfrm>
          <a:prstGeom prst="rect">
            <a:avLst/>
          </a:prstGeom>
        </p:spPr>
      </p:pic>
      <p:pic>
        <p:nvPicPr>
          <p:cNvPr id="166" name="Picture 165" descr="lock.png"/>
          <p:cNvPicPr>
            <a:picLocks noChangeAspect="1"/>
          </p:cNvPicPr>
          <p:nvPr/>
        </p:nvPicPr>
        <p:blipFill>
          <a:blip r:embed="rId4"/>
          <a:stretch>
            <a:fillRect/>
          </a:stretch>
        </p:blipFill>
        <p:spPr>
          <a:xfrm>
            <a:off x="9830444" y="5392801"/>
            <a:ext cx="128699" cy="187198"/>
          </a:xfrm>
          <a:prstGeom prst="rect">
            <a:avLst/>
          </a:prstGeom>
        </p:spPr>
      </p:pic>
    </p:spTree>
  </p:cSld>
  <p:clrMapOvr>
    <a:masterClrMapping/>
  </p:clrMapOvr>
</p:sld>
</file>

<file path=ppt/slides/slide2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Egg Protein Membrane Market Success Factors and Composite Ranking</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Five weighted success factors and the composite ranking they produce</a:t>
            </a:r>
          </a:p>
        </p:txBody>
      </p:sp>
      <p:sp>
        <p:nvSpPr>
          <p:cNvPr id="7" name="TextBox 6"/>
          <p:cNvSpPr txBox="1"/>
          <p:nvPr/>
        </p:nvSpPr>
        <p:spPr>
          <a:xfrm>
            <a:off x="2133600" y="1047750"/>
            <a:ext cx="1581150" cy="171450"/>
          </a:xfrm>
          <a:prstGeom prst="rect">
            <a:avLst/>
          </a:prstGeom>
          <a:noFill/>
        </p:spPr>
        <p:txBody>
          <a:bodyPr wrap="square" lIns="28575" rIns="28575" tIns="9525" bIns="9525" anchor="t">
            <a:spAutoFit/>
          </a:bodyPr>
          <a:lstStyle/>
          <a:p>
            <a:pPr algn="l"/>
            <a:r>
              <a:rPr sz="1100" b="1">
                <a:solidFill>
                  <a:srgbClr val="0F2D52"/>
                </a:solidFill>
                <a:latin typeface="Calibri"/>
              </a:rPr>
              <a:t>1. Segment breadth</a:t>
            </a:r>
          </a:p>
        </p:txBody>
      </p:sp>
      <p:sp>
        <p:nvSpPr>
          <p:cNvPr id="8" name="TextBox 7"/>
          <p:cNvSpPr txBox="1"/>
          <p:nvPr/>
        </p:nvSpPr>
        <p:spPr>
          <a:xfrm>
            <a:off x="2133600" y="1209675"/>
            <a:ext cx="1581150" cy="190500"/>
          </a:xfrm>
          <a:prstGeom prst="rect">
            <a:avLst/>
          </a:prstGeom>
          <a:noFill/>
        </p:spPr>
        <p:txBody>
          <a:bodyPr wrap="square" lIns="28575" rIns="28575" tIns="9525" bIns="9525" anchor="t">
            <a:spAutoFit/>
          </a:bodyPr>
          <a:lstStyle/>
          <a:p>
            <a:pPr algn="l"/>
            <a:r>
              <a:rPr sz="1100" b="1">
                <a:solidFill>
                  <a:srgbClr val="1F2933"/>
                </a:solidFill>
                <a:latin typeface="Calibri"/>
              </a:rPr>
              <a:t/>
            </a:r>
          </a:p>
        </p:txBody>
      </p:sp>
      <p:sp>
        <p:nvSpPr>
          <p:cNvPr id="9" name="TextBox 8"/>
          <p:cNvSpPr txBox="1"/>
          <p:nvPr/>
        </p:nvSpPr>
        <p:spPr>
          <a:xfrm>
            <a:off x="2133600" y="1371600"/>
            <a:ext cx="1581150" cy="34290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Lead or be active in several sub-segments</a:t>
            </a:r>
          </a:p>
        </p:txBody>
      </p:sp>
      <p:sp>
        <p:nvSpPr>
          <p:cNvPr id="10" name="TextBox 9"/>
          <p:cNvSpPr txBox="1"/>
          <p:nvPr/>
        </p:nvSpPr>
        <p:spPr>
          <a:xfrm>
            <a:off x="3790950" y="1047750"/>
            <a:ext cx="1581150" cy="171450"/>
          </a:xfrm>
          <a:prstGeom prst="rect">
            <a:avLst/>
          </a:prstGeom>
          <a:noFill/>
        </p:spPr>
        <p:txBody>
          <a:bodyPr wrap="square" lIns="28575" rIns="28575" tIns="9525" bIns="9525" anchor="t">
            <a:spAutoFit/>
          </a:bodyPr>
          <a:lstStyle/>
          <a:p>
            <a:pPr algn="l"/>
            <a:r>
              <a:rPr sz="1100" b="1">
                <a:solidFill>
                  <a:srgbClr val="0F2D52"/>
                </a:solidFill>
                <a:latin typeface="Calibri"/>
              </a:rPr>
              <a:t>2. Scale and share</a:t>
            </a:r>
          </a:p>
        </p:txBody>
      </p:sp>
      <p:sp>
        <p:nvSpPr>
          <p:cNvPr id="11" name="TextBox 10"/>
          <p:cNvSpPr txBox="1"/>
          <p:nvPr/>
        </p:nvSpPr>
        <p:spPr>
          <a:xfrm>
            <a:off x="3790950" y="1209675"/>
            <a:ext cx="1581150" cy="190500"/>
          </a:xfrm>
          <a:prstGeom prst="rect">
            <a:avLst/>
          </a:prstGeom>
          <a:noFill/>
        </p:spPr>
        <p:txBody>
          <a:bodyPr wrap="square" lIns="28575" rIns="28575" tIns="9525" bIns="9525" anchor="t">
            <a:spAutoFit/>
          </a:bodyPr>
          <a:lstStyle/>
          <a:p>
            <a:pPr algn="l"/>
            <a:r>
              <a:rPr sz="1100" b="1">
                <a:solidFill>
                  <a:srgbClr val="1F2933"/>
                </a:solidFill>
                <a:latin typeface="Calibri"/>
              </a:rPr>
              <a:t/>
            </a:r>
          </a:p>
        </p:txBody>
      </p:sp>
      <p:sp>
        <p:nvSpPr>
          <p:cNvPr id="12" name="TextBox 11"/>
          <p:cNvSpPr txBox="1"/>
          <p:nvPr/>
        </p:nvSpPr>
        <p:spPr>
          <a:xfrm>
            <a:off x="3790950" y="1371600"/>
            <a:ext cx="1581150" cy="34290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Tier position and share of market value</a:t>
            </a:r>
          </a:p>
        </p:txBody>
      </p:sp>
      <p:sp>
        <p:nvSpPr>
          <p:cNvPr id="13" name="TextBox 12"/>
          <p:cNvSpPr txBox="1"/>
          <p:nvPr/>
        </p:nvSpPr>
        <p:spPr>
          <a:xfrm>
            <a:off x="5448300" y="1047750"/>
            <a:ext cx="1581150" cy="171450"/>
          </a:xfrm>
          <a:prstGeom prst="rect">
            <a:avLst/>
          </a:prstGeom>
          <a:noFill/>
        </p:spPr>
        <p:txBody>
          <a:bodyPr wrap="square" lIns="28575" rIns="28575" tIns="9525" bIns="9525" anchor="t">
            <a:spAutoFit/>
          </a:bodyPr>
          <a:lstStyle/>
          <a:p>
            <a:pPr algn="l"/>
            <a:r>
              <a:rPr sz="1100" b="1">
                <a:solidFill>
                  <a:srgbClr val="0F2D52"/>
                </a:solidFill>
                <a:latin typeface="Calibri"/>
              </a:rPr>
              <a:t>3. Geographic reach</a:t>
            </a:r>
          </a:p>
        </p:txBody>
      </p:sp>
      <p:sp>
        <p:nvSpPr>
          <p:cNvPr id="14" name="TextBox 13"/>
          <p:cNvSpPr txBox="1"/>
          <p:nvPr/>
        </p:nvSpPr>
        <p:spPr>
          <a:xfrm>
            <a:off x="5448300" y="1209675"/>
            <a:ext cx="1581150" cy="190500"/>
          </a:xfrm>
          <a:prstGeom prst="rect">
            <a:avLst/>
          </a:prstGeom>
          <a:noFill/>
        </p:spPr>
        <p:txBody>
          <a:bodyPr wrap="square" lIns="28575" rIns="28575" tIns="9525" bIns="9525" anchor="t">
            <a:spAutoFit/>
          </a:bodyPr>
          <a:lstStyle/>
          <a:p>
            <a:pPr algn="l"/>
            <a:r>
              <a:rPr sz="1100" b="1">
                <a:solidFill>
                  <a:srgbClr val="1F2933"/>
                </a:solidFill>
                <a:latin typeface="Calibri"/>
              </a:rPr>
              <a:t/>
            </a:r>
          </a:p>
        </p:txBody>
      </p:sp>
      <p:sp>
        <p:nvSpPr>
          <p:cNvPr id="15" name="TextBox 14"/>
          <p:cNvSpPr txBox="1"/>
          <p:nvPr/>
        </p:nvSpPr>
        <p:spPr>
          <a:xfrm>
            <a:off x="5448300" y="1371600"/>
            <a:ext cx="1581150" cy="34290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Global, regional or single-market footprint</a:t>
            </a:r>
          </a:p>
        </p:txBody>
      </p:sp>
      <p:sp>
        <p:nvSpPr>
          <p:cNvPr id="16" name="TextBox 15"/>
          <p:cNvSpPr txBox="1"/>
          <p:nvPr/>
        </p:nvSpPr>
        <p:spPr>
          <a:xfrm>
            <a:off x="7105650" y="1047750"/>
            <a:ext cx="1581150" cy="171450"/>
          </a:xfrm>
          <a:prstGeom prst="rect">
            <a:avLst/>
          </a:prstGeom>
          <a:noFill/>
        </p:spPr>
        <p:txBody>
          <a:bodyPr wrap="square" lIns="28575" rIns="28575" tIns="9525" bIns="9525" anchor="t">
            <a:spAutoFit/>
          </a:bodyPr>
          <a:lstStyle/>
          <a:p>
            <a:pPr algn="l"/>
            <a:r>
              <a:rPr sz="1100" b="1">
                <a:solidFill>
                  <a:srgbClr val="0F2D52"/>
                </a:solidFill>
                <a:latin typeface="Calibri"/>
              </a:rPr>
              <a:t>4. Innovation pipeline</a:t>
            </a:r>
          </a:p>
        </p:txBody>
      </p:sp>
      <p:sp>
        <p:nvSpPr>
          <p:cNvPr id="17" name="TextBox 16"/>
          <p:cNvSpPr txBox="1"/>
          <p:nvPr/>
        </p:nvSpPr>
        <p:spPr>
          <a:xfrm>
            <a:off x="7105650" y="1209675"/>
            <a:ext cx="1581150" cy="190500"/>
          </a:xfrm>
          <a:prstGeom prst="rect">
            <a:avLst/>
          </a:prstGeom>
          <a:noFill/>
        </p:spPr>
        <p:txBody>
          <a:bodyPr wrap="square" lIns="28575" rIns="28575" tIns="9525" bIns="9525" anchor="t">
            <a:spAutoFit/>
          </a:bodyPr>
          <a:lstStyle/>
          <a:p>
            <a:pPr algn="l"/>
            <a:r>
              <a:rPr sz="1100" b="1">
                <a:solidFill>
                  <a:srgbClr val="1F2933"/>
                </a:solidFill>
                <a:latin typeface="Calibri"/>
              </a:rPr>
              <a:t/>
            </a:r>
          </a:p>
        </p:txBody>
      </p:sp>
      <p:sp>
        <p:nvSpPr>
          <p:cNvPr id="18" name="TextBox 17"/>
          <p:cNvSpPr txBox="1"/>
          <p:nvPr/>
        </p:nvSpPr>
        <p:spPr>
          <a:xfrm>
            <a:off x="7105650" y="1371600"/>
            <a:ext cx="1581150" cy="34290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R&amp;D and product development in motion</a:t>
            </a:r>
          </a:p>
        </p:txBody>
      </p:sp>
      <p:sp>
        <p:nvSpPr>
          <p:cNvPr id="19" name="TextBox 18"/>
          <p:cNvSpPr txBox="1"/>
          <p:nvPr/>
        </p:nvSpPr>
        <p:spPr>
          <a:xfrm>
            <a:off x="8763000" y="1047750"/>
            <a:ext cx="1581150" cy="171450"/>
          </a:xfrm>
          <a:prstGeom prst="rect">
            <a:avLst/>
          </a:prstGeom>
          <a:noFill/>
        </p:spPr>
        <p:txBody>
          <a:bodyPr wrap="square" lIns="28575" rIns="28575" tIns="9525" bIns="9525" anchor="t">
            <a:spAutoFit/>
          </a:bodyPr>
          <a:lstStyle/>
          <a:p>
            <a:pPr algn="l"/>
            <a:r>
              <a:rPr sz="1100" b="1">
                <a:solidFill>
                  <a:srgbClr val="0F2D52"/>
                </a:solidFill>
                <a:latin typeface="Calibri"/>
              </a:rPr>
              <a:t>5. Strategic momentum</a:t>
            </a:r>
          </a:p>
        </p:txBody>
      </p:sp>
      <p:sp>
        <p:nvSpPr>
          <p:cNvPr id="20" name="TextBox 19"/>
          <p:cNvSpPr txBox="1"/>
          <p:nvPr/>
        </p:nvSpPr>
        <p:spPr>
          <a:xfrm>
            <a:off x="8763000" y="1209675"/>
            <a:ext cx="1581150" cy="190500"/>
          </a:xfrm>
          <a:prstGeom prst="rect">
            <a:avLst/>
          </a:prstGeom>
          <a:noFill/>
        </p:spPr>
        <p:txBody>
          <a:bodyPr wrap="square" lIns="28575" rIns="28575" tIns="9525" bIns="9525" anchor="t">
            <a:spAutoFit/>
          </a:bodyPr>
          <a:lstStyle/>
          <a:p>
            <a:pPr algn="l"/>
            <a:r>
              <a:rPr sz="1100" b="1">
                <a:solidFill>
                  <a:srgbClr val="1F2933"/>
                </a:solidFill>
                <a:latin typeface="Calibri"/>
              </a:rPr>
              <a:t/>
            </a:r>
          </a:p>
        </p:txBody>
      </p:sp>
      <p:sp>
        <p:nvSpPr>
          <p:cNvPr id="21" name="TextBox 20"/>
          <p:cNvSpPr txBox="1"/>
          <p:nvPr/>
        </p:nvSpPr>
        <p:spPr>
          <a:xfrm>
            <a:off x="8763000" y="1371600"/>
            <a:ext cx="1581150" cy="34290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Number of active strategic moves</a:t>
            </a:r>
          </a:p>
        </p:txBody>
      </p:sp>
      <p:sp>
        <p:nvSpPr>
          <p:cNvPr id="22" name="TextBox 21"/>
          <p:cNvSpPr txBox="1"/>
          <p:nvPr/>
        </p:nvSpPr>
        <p:spPr>
          <a:xfrm>
            <a:off x="10420350" y="1047750"/>
            <a:ext cx="1619250" cy="171450"/>
          </a:xfrm>
          <a:prstGeom prst="rect">
            <a:avLst/>
          </a:prstGeom>
          <a:noFill/>
        </p:spPr>
        <p:txBody>
          <a:bodyPr wrap="square" lIns="28575" rIns="28575" tIns="9525" bIns="9525" anchor="t">
            <a:spAutoFit/>
          </a:bodyPr>
          <a:lstStyle/>
          <a:p>
            <a:pPr algn="l"/>
            <a:r>
              <a:rPr sz="1100" b="1">
                <a:solidFill>
                  <a:srgbClr val="0F2D52"/>
                </a:solidFill>
                <a:latin typeface="Calibri"/>
              </a:rPr>
              <a:t>Composite</a:t>
            </a:r>
          </a:p>
        </p:txBody>
      </p:sp>
      <p:sp>
        <p:nvSpPr>
          <p:cNvPr id="23" name="TextBox 22"/>
          <p:cNvSpPr txBox="1"/>
          <p:nvPr/>
        </p:nvSpPr>
        <p:spPr>
          <a:xfrm>
            <a:off x="10420350" y="1219200"/>
            <a:ext cx="1619250" cy="152400"/>
          </a:xfrm>
          <a:prstGeom prst="rect">
            <a:avLst/>
          </a:prstGeom>
          <a:noFill/>
        </p:spPr>
        <p:txBody>
          <a:bodyPr wrap="square" lIns="28575" rIns="28575" tIns="9525" bIns="9525" anchor="t">
            <a:spAutoFit/>
          </a:bodyPr>
          <a:lstStyle/>
          <a:p>
            <a:pPr algn="l"/>
            <a:r>
              <a:rPr sz="1100" b="0">
                <a:solidFill>
                  <a:srgbClr val="1F2933"/>
                </a:solidFill>
                <a:latin typeface="Calibri"/>
              </a:rPr>
              <a:t>weighted 0 to 3</a:t>
            </a:r>
          </a:p>
        </p:txBody>
      </p:sp>
      <p:cxnSp>
        <p:nvCxnSpPr>
          <p:cNvPr id="24" name="Connector 23"/>
          <p:cNvCxnSpPr/>
          <p:nvPr/>
        </p:nvCxnSpPr>
        <p:spPr>
          <a:xfrm>
            <a:off x="190500" y="1752600"/>
            <a:ext cx="11811000" cy="0"/>
          </a:xfrm>
          <a:prstGeom prst="line">
            <a:avLst/>
          </a:prstGeom>
          <a:ln w="12700">
            <a:solidFill>
              <a:srgbClr val="0F2D52"/>
            </a:solidFill>
          </a:ln>
          <a:effectLst/>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190500" y="1847850"/>
            <a:ext cx="38100" cy="2286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85750" y="1809750"/>
            <a:ext cx="1809750" cy="304800"/>
          </a:xfrm>
          <a:prstGeom prst="rect">
            <a:avLst/>
          </a:prstGeom>
          <a:noFill/>
        </p:spPr>
        <p:txBody>
          <a:bodyPr wrap="square" lIns="28575" rIns="28575" tIns="9525" bIns="9525" anchor="ctr">
            <a:spAutoFit/>
          </a:bodyPr>
          <a:lstStyle/>
          <a:p>
            <a:pPr algn="l"/>
            <a:r>
              <a:rPr sz="1100" b="1">
                <a:solidFill>
                  <a:srgbClr val="1F2933"/>
                </a:solidFill>
                <a:latin typeface="Calibri"/>
              </a:rPr>
              <a:t>ESM Technologies, LLC</a:t>
            </a:r>
          </a:p>
        </p:txBody>
      </p:sp>
      <p:sp>
        <p:nvSpPr>
          <p:cNvPr id="27" name="Oval 26"/>
          <p:cNvSpPr/>
          <p:nvPr/>
        </p:nvSpPr>
        <p:spPr>
          <a:xfrm>
            <a:off x="2847975" y="18859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505325" y="18859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6162675" y="18859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7820025" y="18859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Freeform 30"/>
          <p:cNvSpPr/>
          <p:nvPr/>
        </p:nvSpPr>
        <p:spPr>
          <a:xfrm>
            <a:off x="7896225" y="18859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9477375" y="18859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10420350" y="1895475"/>
            <a:ext cx="1085850" cy="1333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1544300" y="1809750"/>
            <a:ext cx="419100" cy="304800"/>
          </a:xfrm>
          <a:prstGeom prst="rect">
            <a:avLst/>
          </a:prstGeom>
          <a:noFill/>
        </p:spPr>
        <p:txBody>
          <a:bodyPr wrap="none" lIns="0" rIns="0" tIns="0" bIns="0" anchor="ctr">
            <a:spAutoFit/>
          </a:bodyPr>
          <a:lstStyle/>
          <a:p>
            <a:pPr algn="l"/>
            <a:r>
              <a:rPr sz="1100" b="1">
                <a:solidFill>
                  <a:srgbClr val="1F2933"/>
                </a:solidFill>
                <a:latin typeface="Calibri"/>
              </a:rPr>
              <a:t> </a:t>
            </a:r>
          </a:p>
        </p:txBody>
      </p:sp>
      <p:cxnSp>
        <p:nvCxnSpPr>
          <p:cNvPr id="35" name="Connector 34"/>
          <p:cNvCxnSpPr/>
          <p:nvPr/>
        </p:nvCxnSpPr>
        <p:spPr>
          <a:xfrm>
            <a:off x="190500" y="21145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36" name="Rectangle 35"/>
          <p:cNvSpPr/>
          <p:nvPr/>
        </p:nvSpPr>
        <p:spPr>
          <a:xfrm>
            <a:off x="190500" y="2152650"/>
            <a:ext cx="38100" cy="2286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85750" y="2114550"/>
            <a:ext cx="1809750" cy="304800"/>
          </a:xfrm>
          <a:prstGeom prst="rect">
            <a:avLst/>
          </a:prstGeom>
          <a:noFill/>
        </p:spPr>
        <p:txBody>
          <a:bodyPr wrap="square" lIns="28575" rIns="28575" tIns="9525" bIns="9525" anchor="ctr">
            <a:spAutoFit/>
          </a:bodyPr>
          <a:lstStyle/>
          <a:p>
            <a:pPr algn="l"/>
            <a:r>
              <a:rPr sz="1100" b="1">
                <a:solidFill>
                  <a:srgbClr val="1F2933"/>
                </a:solidFill>
                <a:latin typeface="Calibri"/>
              </a:rPr>
              <a:t>Biova, LLC</a:t>
            </a:r>
          </a:p>
        </p:txBody>
      </p:sp>
      <p:sp>
        <p:nvSpPr>
          <p:cNvPr id="38" name="Oval 37"/>
          <p:cNvSpPr/>
          <p:nvPr/>
        </p:nvSpPr>
        <p:spPr>
          <a:xfrm>
            <a:off x="2847975" y="21907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4505325" y="21907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6162675" y="21907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7820025" y="21907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Freeform 41"/>
          <p:cNvSpPr/>
          <p:nvPr/>
        </p:nvSpPr>
        <p:spPr>
          <a:xfrm>
            <a:off x="7896225" y="21907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9477375" y="21907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10420350" y="2200275"/>
            <a:ext cx="1085850" cy="1333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1544300" y="2114550"/>
            <a:ext cx="419100" cy="304800"/>
          </a:xfrm>
          <a:prstGeom prst="rect">
            <a:avLst/>
          </a:prstGeom>
          <a:noFill/>
        </p:spPr>
        <p:txBody>
          <a:bodyPr wrap="none" lIns="0" rIns="0" tIns="0" bIns="0" anchor="ctr">
            <a:spAutoFit/>
          </a:bodyPr>
          <a:lstStyle/>
          <a:p>
            <a:pPr algn="l"/>
            <a:r>
              <a:rPr sz="1100" b="1">
                <a:solidFill>
                  <a:srgbClr val="1F2933"/>
                </a:solidFill>
                <a:latin typeface="Calibri"/>
              </a:rPr>
              <a:t> </a:t>
            </a:r>
          </a:p>
        </p:txBody>
      </p:sp>
      <p:cxnSp>
        <p:nvCxnSpPr>
          <p:cNvPr id="46" name="Connector 45"/>
          <p:cNvCxnSpPr/>
          <p:nvPr/>
        </p:nvCxnSpPr>
        <p:spPr>
          <a:xfrm>
            <a:off x="190500" y="24193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47" name="Rectangle 46"/>
          <p:cNvSpPr/>
          <p:nvPr/>
        </p:nvSpPr>
        <p:spPr>
          <a:xfrm>
            <a:off x="190500" y="2457450"/>
            <a:ext cx="38100" cy="2286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285750" y="2419350"/>
            <a:ext cx="1809750" cy="304800"/>
          </a:xfrm>
          <a:prstGeom prst="rect">
            <a:avLst/>
          </a:prstGeom>
          <a:noFill/>
        </p:spPr>
        <p:txBody>
          <a:bodyPr wrap="square" lIns="28575" rIns="28575" tIns="9525" bIns="9525" anchor="ctr">
            <a:spAutoFit/>
          </a:bodyPr>
          <a:lstStyle/>
          <a:p>
            <a:pPr algn="l"/>
            <a:r>
              <a:rPr sz="1100" b="1">
                <a:solidFill>
                  <a:srgbClr val="1F2933"/>
                </a:solidFill>
                <a:latin typeface="Calibri"/>
              </a:rPr>
              <a:t>Company</a:t>
            </a:r>
          </a:p>
        </p:txBody>
      </p:sp>
      <p:sp>
        <p:nvSpPr>
          <p:cNvPr id="49" name="Oval 48"/>
          <p:cNvSpPr/>
          <p:nvPr/>
        </p:nvSpPr>
        <p:spPr>
          <a:xfrm>
            <a:off x="2847975" y="24955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Freeform 49"/>
          <p:cNvSpPr/>
          <p:nvPr/>
        </p:nvSpPr>
        <p:spPr>
          <a:xfrm>
            <a:off x="2924175" y="24955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4505325" y="24955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6162675" y="24955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Oval 52"/>
          <p:cNvSpPr/>
          <p:nvPr/>
        </p:nvSpPr>
        <p:spPr>
          <a:xfrm>
            <a:off x="7820025" y="24955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val 53"/>
          <p:cNvSpPr/>
          <p:nvPr/>
        </p:nvSpPr>
        <p:spPr>
          <a:xfrm>
            <a:off x="9477375" y="24955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10420350" y="2505075"/>
            <a:ext cx="1028700" cy="1333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11487150" y="2419350"/>
            <a:ext cx="419100" cy="304800"/>
          </a:xfrm>
          <a:prstGeom prst="rect">
            <a:avLst/>
          </a:prstGeom>
          <a:noFill/>
        </p:spPr>
        <p:txBody>
          <a:bodyPr wrap="none" lIns="0" rIns="0" tIns="0" bIns="0" anchor="ctr">
            <a:spAutoFit/>
          </a:bodyPr>
          <a:lstStyle/>
          <a:p>
            <a:pPr algn="l"/>
            <a:r>
              <a:rPr sz="1100" b="1">
                <a:solidFill>
                  <a:srgbClr val="1F2933"/>
                </a:solidFill>
                <a:latin typeface="Calibri"/>
              </a:rPr>
              <a:t> </a:t>
            </a:r>
          </a:p>
        </p:txBody>
      </p:sp>
      <p:cxnSp>
        <p:nvCxnSpPr>
          <p:cNvPr id="57" name="Connector 56"/>
          <p:cNvCxnSpPr/>
          <p:nvPr/>
        </p:nvCxnSpPr>
        <p:spPr>
          <a:xfrm>
            <a:off x="190500" y="27241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58" name="Rectangle 57"/>
          <p:cNvSpPr/>
          <p:nvPr/>
        </p:nvSpPr>
        <p:spPr>
          <a:xfrm>
            <a:off x="190500" y="2762250"/>
            <a:ext cx="38100" cy="2286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285750" y="2724150"/>
            <a:ext cx="1809750" cy="304800"/>
          </a:xfrm>
          <a:prstGeom prst="rect">
            <a:avLst/>
          </a:prstGeom>
          <a:noFill/>
        </p:spPr>
        <p:txBody>
          <a:bodyPr wrap="square" lIns="28575" rIns="28575" tIns="9525" bIns="9525" anchor="ctr">
            <a:spAutoFit/>
          </a:bodyPr>
          <a:lstStyle/>
          <a:p>
            <a:pPr algn="l"/>
            <a:r>
              <a:rPr sz="1100" b="1">
                <a:solidFill>
                  <a:srgbClr val="1F2933"/>
                </a:solidFill>
                <a:latin typeface="Calibri"/>
              </a:rPr>
              <a:t>Eggnovo S.L.</a:t>
            </a:r>
          </a:p>
        </p:txBody>
      </p:sp>
      <p:sp>
        <p:nvSpPr>
          <p:cNvPr id="60" name="Oval 59"/>
          <p:cNvSpPr/>
          <p:nvPr/>
        </p:nvSpPr>
        <p:spPr>
          <a:xfrm>
            <a:off x="2847975" y="28003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Freeform 60"/>
          <p:cNvSpPr/>
          <p:nvPr/>
        </p:nvSpPr>
        <p:spPr>
          <a:xfrm>
            <a:off x="2924175" y="28003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Oval 61"/>
          <p:cNvSpPr/>
          <p:nvPr/>
        </p:nvSpPr>
        <p:spPr>
          <a:xfrm>
            <a:off x="4505325" y="28003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Oval 62"/>
          <p:cNvSpPr/>
          <p:nvPr/>
        </p:nvSpPr>
        <p:spPr>
          <a:xfrm>
            <a:off x="6162675" y="28003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Oval 63"/>
          <p:cNvSpPr/>
          <p:nvPr/>
        </p:nvSpPr>
        <p:spPr>
          <a:xfrm>
            <a:off x="7820025" y="28003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Oval 64"/>
          <p:cNvSpPr/>
          <p:nvPr/>
        </p:nvSpPr>
        <p:spPr>
          <a:xfrm>
            <a:off x="9477375" y="28003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10420350" y="2809875"/>
            <a:ext cx="1028700" cy="1333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11487150" y="2724150"/>
            <a:ext cx="419100" cy="304800"/>
          </a:xfrm>
          <a:prstGeom prst="rect">
            <a:avLst/>
          </a:prstGeom>
          <a:noFill/>
        </p:spPr>
        <p:txBody>
          <a:bodyPr wrap="none" lIns="0" rIns="0" tIns="0" bIns="0" anchor="ctr">
            <a:spAutoFit/>
          </a:bodyPr>
          <a:lstStyle/>
          <a:p>
            <a:pPr algn="l"/>
            <a:r>
              <a:rPr sz="1100" b="1">
                <a:solidFill>
                  <a:srgbClr val="1F2933"/>
                </a:solidFill>
                <a:latin typeface="Calibri"/>
              </a:rPr>
              <a:t> </a:t>
            </a:r>
          </a:p>
        </p:txBody>
      </p:sp>
      <p:cxnSp>
        <p:nvCxnSpPr>
          <p:cNvPr id="68" name="Connector 67"/>
          <p:cNvCxnSpPr/>
          <p:nvPr/>
        </p:nvCxnSpPr>
        <p:spPr>
          <a:xfrm>
            <a:off x="190500" y="30289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69" name="Rectangle 68"/>
          <p:cNvSpPr/>
          <p:nvPr/>
        </p:nvSpPr>
        <p:spPr>
          <a:xfrm>
            <a:off x="190500" y="3067050"/>
            <a:ext cx="38100" cy="22860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285750" y="3028950"/>
            <a:ext cx="1809750" cy="304800"/>
          </a:xfrm>
          <a:prstGeom prst="rect">
            <a:avLst/>
          </a:prstGeom>
          <a:noFill/>
        </p:spPr>
        <p:txBody>
          <a:bodyPr wrap="square" lIns="28575" rIns="28575" tIns="9525" bIns="9525" anchor="ctr">
            <a:spAutoFit/>
          </a:bodyPr>
          <a:lstStyle/>
          <a:p>
            <a:pPr algn="l"/>
            <a:r>
              <a:rPr sz="1100" b="1">
                <a:solidFill>
                  <a:srgbClr val="1F2933"/>
                </a:solidFill>
                <a:latin typeface="Calibri"/>
              </a:rPr>
              <a:t>Kewpie Corporation</a:t>
            </a:r>
          </a:p>
        </p:txBody>
      </p:sp>
      <p:sp>
        <p:nvSpPr>
          <p:cNvPr id="71" name="Oval 70"/>
          <p:cNvSpPr/>
          <p:nvPr/>
        </p:nvSpPr>
        <p:spPr>
          <a:xfrm>
            <a:off x="2847975" y="31051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Freeform 71"/>
          <p:cNvSpPr/>
          <p:nvPr/>
        </p:nvSpPr>
        <p:spPr>
          <a:xfrm>
            <a:off x="2924175" y="31051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Oval 72"/>
          <p:cNvSpPr/>
          <p:nvPr/>
        </p:nvSpPr>
        <p:spPr>
          <a:xfrm>
            <a:off x="4505325" y="31051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Freeform 73"/>
          <p:cNvSpPr/>
          <p:nvPr/>
        </p:nvSpPr>
        <p:spPr>
          <a:xfrm>
            <a:off x="4581525" y="31051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Oval 74"/>
          <p:cNvSpPr/>
          <p:nvPr/>
        </p:nvSpPr>
        <p:spPr>
          <a:xfrm>
            <a:off x="6162675" y="31051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Freeform 75"/>
          <p:cNvSpPr/>
          <p:nvPr/>
        </p:nvSpPr>
        <p:spPr>
          <a:xfrm>
            <a:off x="6238875" y="31051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Oval 76"/>
          <p:cNvSpPr/>
          <p:nvPr/>
        </p:nvSpPr>
        <p:spPr>
          <a:xfrm>
            <a:off x="7820025" y="31051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Oval 77"/>
          <p:cNvSpPr/>
          <p:nvPr/>
        </p:nvSpPr>
        <p:spPr>
          <a:xfrm>
            <a:off x="9477375" y="31051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ectangle 78"/>
          <p:cNvSpPr/>
          <p:nvPr/>
        </p:nvSpPr>
        <p:spPr>
          <a:xfrm>
            <a:off x="10420350" y="3114675"/>
            <a:ext cx="876300" cy="1333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11334750" y="3028950"/>
            <a:ext cx="419100" cy="304800"/>
          </a:xfrm>
          <a:prstGeom prst="rect">
            <a:avLst/>
          </a:prstGeom>
          <a:noFill/>
        </p:spPr>
        <p:txBody>
          <a:bodyPr wrap="none" lIns="0" rIns="0" tIns="0" bIns="0" anchor="ctr">
            <a:spAutoFit/>
          </a:bodyPr>
          <a:lstStyle/>
          <a:p>
            <a:pPr algn="l"/>
            <a:r>
              <a:rPr sz="1100" b="1">
                <a:solidFill>
                  <a:srgbClr val="1F2933"/>
                </a:solidFill>
                <a:latin typeface="Calibri"/>
              </a:rPr>
              <a:t> </a:t>
            </a:r>
          </a:p>
        </p:txBody>
      </p:sp>
      <p:cxnSp>
        <p:nvCxnSpPr>
          <p:cNvPr id="81" name="Connector 80"/>
          <p:cNvCxnSpPr/>
          <p:nvPr/>
        </p:nvCxnSpPr>
        <p:spPr>
          <a:xfrm>
            <a:off x="190500" y="33337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82" name="Rectangle 81"/>
          <p:cNvSpPr/>
          <p:nvPr/>
        </p:nvSpPr>
        <p:spPr>
          <a:xfrm>
            <a:off x="190500" y="3371850"/>
            <a:ext cx="38100" cy="22860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285750" y="3333750"/>
            <a:ext cx="1809750" cy="304800"/>
          </a:xfrm>
          <a:prstGeom prst="rect">
            <a:avLst/>
          </a:prstGeom>
          <a:noFill/>
        </p:spPr>
        <p:txBody>
          <a:bodyPr wrap="square" lIns="28575" rIns="28575" tIns="9525" bIns="9525" anchor="ctr">
            <a:spAutoFit/>
          </a:bodyPr>
          <a:lstStyle/>
          <a:p>
            <a:pPr algn="l"/>
            <a:r>
              <a:rPr sz="1100" b="1">
                <a:solidFill>
                  <a:srgbClr val="1F2933"/>
                </a:solidFill>
                <a:latin typeface="Calibri"/>
              </a:rPr>
              <a:t>Dutch Eggmembrane Protein Powder</a:t>
            </a:r>
          </a:p>
        </p:txBody>
      </p:sp>
      <p:sp>
        <p:nvSpPr>
          <p:cNvPr id="84" name="Oval 83"/>
          <p:cNvSpPr/>
          <p:nvPr/>
        </p:nvSpPr>
        <p:spPr>
          <a:xfrm>
            <a:off x="2847975" y="34099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Freeform 84"/>
          <p:cNvSpPr/>
          <p:nvPr/>
        </p:nvSpPr>
        <p:spPr>
          <a:xfrm>
            <a:off x="2924175" y="34099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Oval 85"/>
          <p:cNvSpPr/>
          <p:nvPr/>
        </p:nvSpPr>
        <p:spPr>
          <a:xfrm>
            <a:off x="4505325" y="34099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Freeform 86"/>
          <p:cNvSpPr/>
          <p:nvPr/>
        </p:nvSpPr>
        <p:spPr>
          <a:xfrm>
            <a:off x="4581525" y="34099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Oval 87"/>
          <p:cNvSpPr/>
          <p:nvPr/>
        </p:nvSpPr>
        <p:spPr>
          <a:xfrm>
            <a:off x="6162675" y="34099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Freeform 88"/>
          <p:cNvSpPr/>
          <p:nvPr/>
        </p:nvSpPr>
        <p:spPr>
          <a:xfrm>
            <a:off x="6238875" y="34099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Oval 89"/>
          <p:cNvSpPr/>
          <p:nvPr/>
        </p:nvSpPr>
        <p:spPr>
          <a:xfrm>
            <a:off x="7820025" y="34099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Freeform 90"/>
          <p:cNvSpPr/>
          <p:nvPr/>
        </p:nvSpPr>
        <p:spPr>
          <a:xfrm>
            <a:off x="7896225" y="34099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Oval 91"/>
          <p:cNvSpPr/>
          <p:nvPr/>
        </p:nvSpPr>
        <p:spPr>
          <a:xfrm>
            <a:off x="9477375" y="34099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Rectangle 92"/>
          <p:cNvSpPr/>
          <p:nvPr/>
        </p:nvSpPr>
        <p:spPr>
          <a:xfrm>
            <a:off x="10420350" y="3419475"/>
            <a:ext cx="819150" cy="1333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11277600" y="3333750"/>
            <a:ext cx="419100" cy="304800"/>
          </a:xfrm>
          <a:prstGeom prst="rect">
            <a:avLst/>
          </a:prstGeom>
          <a:noFill/>
        </p:spPr>
        <p:txBody>
          <a:bodyPr wrap="none" lIns="0" rIns="0" tIns="0" bIns="0" anchor="ctr">
            <a:spAutoFit/>
          </a:bodyPr>
          <a:lstStyle/>
          <a:p>
            <a:pPr algn="l"/>
            <a:r>
              <a:rPr sz="1100" b="1">
                <a:solidFill>
                  <a:srgbClr val="1F2933"/>
                </a:solidFill>
                <a:latin typeface="Calibri"/>
              </a:rPr>
              <a:t> </a:t>
            </a:r>
          </a:p>
        </p:txBody>
      </p:sp>
      <p:cxnSp>
        <p:nvCxnSpPr>
          <p:cNvPr id="95" name="Connector 94"/>
          <p:cNvCxnSpPr/>
          <p:nvPr/>
        </p:nvCxnSpPr>
        <p:spPr>
          <a:xfrm>
            <a:off x="190500" y="36385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96" name="Rectangle 95"/>
          <p:cNvSpPr/>
          <p:nvPr/>
        </p:nvSpPr>
        <p:spPr>
          <a:xfrm>
            <a:off x="190500" y="3676650"/>
            <a:ext cx="38100" cy="22860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285750" y="3638550"/>
            <a:ext cx="1809750" cy="304800"/>
          </a:xfrm>
          <a:prstGeom prst="rect">
            <a:avLst/>
          </a:prstGeom>
          <a:noFill/>
        </p:spPr>
        <p:txBody>
          <a:bodyPr wrap="square" lIns="28575" rIns="28575" tIns="9525" bIns="9525" anchor="ctr">
            <a:spAutoFit/>
          </a:bodyPr>
          <a:lstStyle/>
          <a:p>
            <a:pPr algn="l"/>
            <a:r>
              <a:rPr sz="1100" b="1">
                <a:solidFill>
                  <a:srgbClr val="1F2933"/>
                </a:solidFill>
                <a:latin typeface="Calibri"/>
              </a:rPr>
              <a:t>Ecovatec Solutions Inc.</a:t>
            </a:r>
          </a:p>
        </p:txBody>
      </p:sp>
      <p:sp>
        <p:nvSpPr>
          <p:cNvPr id="98" name="Oval 97"/>
          <p:cNvSpPr/>
          <p:nvPr/>
        </p:nvSpPr>
        <p:spPr>
          <a:xfrm>
            <a:off x="2847975" y="37147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Freeform 98"/>
          <p:cNvSpPr/>
          <p:nvPr/>
        </p:nvSpPr>
        <p:spPr>
          <a:xfrm>
            <a:off x="2924175" y="37147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Oval 99"/>
          <p:cNvSpPr/>
          <p:nvPr/>
        </p:nvSpPr>
        <p:spPr>
          <a:xfrm>
            <a:off x="4505325" y="37147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Freeform 100"/>
          <p:cNvSpPr/>
          <p:nvPr/>
        </p:nvSpPr>
        <p:spPr>
          <a:xfrm>
            <a:off x="4581525" y="371475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Oval 101"/>
          <p:cNvSpPr/>
          <p:nvPr/>
        </p:nvSpPr>
        <p:spPr>
          <a:xfrm>
            <a:off x="6162675" y="37147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Freeform 102"/>
          <p:cNvSpPr/>
          <p:nvPr/>
        </p:nvSpPr>
        <p:spPr>
          <a:xfrm>
            <a:off x="6238875" y="371475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Oval 103"/>
          <p:cNvSpPr/>
          <p:nvPr/>
        </p:nvSpPr>
        <p:spPr>
          <a:xfrm>
            <a:off x="7820025" y="37147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Oval 104"/>
          <p:cNvSpPr/>
          <p:nvPr/>
        </p:nvSpPr>
        <p:spPr>
          <a:xfrm>
            <a:off x="9477375" y="37147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Rectangle 105"/>
          <p:cNvSpPr/>
          <p:nvPr/>
        </p:nvSpPr>
        <p:spPr>
          <a:xfrm>
            <a:off x="10420350" y="3724275"/>
            <a:ext cx="723900" cy="1333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11182350" y="3638550"/>
            <a:ext cx="419100" cy="304800"/>
          </a:xfrm>
          <a:prstGeom prst="rect">
            <a:avLst/>
          </a:prstGeom>
          <a:noFill/>
        </p:spPr>
        <p:txBody>
          <a:bodyPr wrap="none" lIns="0" rIns="0" tIns="0" bIns="0" anchor="ctr">
            <a:spAutoFit/>
          </a:bodyPr>
          <a:lstStyle/>
          <a:p>
            <a:pPr algn="l"/>
            <a:r>
              <a:rPr sz="1100" b="1">
                <a:solidFill>
                  <a:srgbClr val="1F2933"/>
                </a:solidFill>
                <a:latin typeface="Calibri"/>
              </a:rPr>
              <a:t> </a:t>
            </a:r>
          </a:p>
        </p:txBody>
      </p:sp>
      <p:cxnSp>
        <p:nvCxnSpPr>
          <p:cNvPr id="108" name="Connector 107"/>
          <p:cNvCxnSpPr/>
          <p:nvPr/>
        </p:nvCxnSpPr>
        <p:spPr>
          <a:xfrm>
            <a:off x="190500" y="39433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09" name="Rectangle 108"/>
          <p:cNvSpPr/>
          <p:nvPr/>
        </p:nvSpPr>
        <p:spPr>
          <a:xfrm>
            <a:off x="190500" y="3981450"/>
            <a:ext cx="38100" cy="22860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TextBox 109"/>
          <p:cNvSpPr txBox="1"/>
          <p:nvPr/>
        </p:nvSpPr>
        <p:spPr>
          <a:xfrm>
            <a:off x="285750" y="3943350"/>
            <a:ext cx="1809750" cy="304800"/>
          </a:xfrm>
          <a:prstGeom prst="rect">
            <a:avLst/>
          </a:prstGeom>
          <a:noFill/>
        </p:spPr>
        <p:txBody>
          <a:bodyPr wrap="square" lIns="28575" rIns="28575" tIns="9525" bIns="9525" anchor="ctr">
            <a:spAutoFit/>
          </a:bodyPr>
          <a:lstStyle/>
          <a:p>
            <a:pPr algn="l"/>
            <a:r>
              <a:rPr sz="1100" b="1">
                <a:solidFill>
                  <a:srgbClr val="1F2933"/>
                </a:solidFill>
                <a:latin typeface="Calibri"/>
              </a:rPr>
              <a:t>Microcore Research Laboratories India Pvt. Ltd.</a:t>
            </a:r>
          </a:p>
        </p:txBody>
      </p:sp>
      <p:sp>
        <p:nvSpPr>
          <p:cNvPr id="111" name="Oval 110"/>
          <p:cNvSpPr/>
          <p:nvPr/>
        </p:nvSpPr>
        <p:spPr>
          <a:xfrm>
            <a:off x="2847975" y="40195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Freeform 111"/>
          <p:cNvSpPr/>
          <p:nvPr/>
        </p:nvSpPr>
        <p:spPr>
          <a:xfrm>
            <a:off x="2924175" y="40195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Oval 112"/>
          <p:cNvSpPr/>
          <p:nvPr/>
        </p:nvSpPr>
        <p:spPr>
          <a:xfrm>
            <a:off x="4505325" y="40195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Freeform 113"/>
          <p:cNvSpPr/>
          <p:nvPr/>
        </p:nvSpPr>
        <p:spPr>
          <a:xfrm>
            <a:off x="4581525" y="401955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Oval 114"/>
          <p:cNvSpPr/>
          <p:nvPr/>
        </p:nvSpPr>
        <p:spPr>
          <a:xfrm>
            <a:off x="6162675" y="40195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Freeform 115"/>
          <p:cNvSpPr/>
          <p:nvPr/>
        </p:nvSpPr>
        <p:spPr>
          <a:xfrm>
            <a:off x="6238875" y="401955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Oval 116"/>
          <p:cNvSpPr/>
          <p:nvPr/>
        </p:nvSpPr>
        <p:spPr>
          <a:xfrm>
            <a:off x="7820025" y="40195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Oval 117"/>
          <p:cNvSpPr/>
          <p:nvPr/>
        </p:nvSpPr>
        <p:spPr>
          <a:xfrm>
            <a:off x="9477375" y="40195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Rectangle 118"/>
          <p:cNvSpPr/>
          <p:nvPr/>
        </p:nvSpPr>
        <p:spPr>
          <a:xfrm>
            <a:off x="10420350" y="4029075"/>
            <a:ext cx="723900" cy="1333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TextBox 119"/>
          <p:cNvSpPr txBox="1"/>
          <p:nvPr/>
        </p:nvSpPr>
        <p:spPr>
          <a:xfrm>
            <a:off x="11182350" y="3943350"/>
            <a:ext cx="419100" cy="304800"/>
          </a:xfrm>
          <a:prstGeom prst="rect">
            <a:avLst/>
          </a:prstGeom>
          <a:noFill/>
        </p:spPr>
        <p:txBody>
          <a:bodyPr wrap="none" lIns="0" rIns="0" tIns="0" bIns="0" anchor="ctr">
            <a:spAutoFit/>
          </a:bodyPr>
          <a:lstStyle/>
          <a:p>
            <a:pPr algn="l"/>
            <a:r>
              <a:rPr sz="1100" b="1">
                <a:solidFill>
                  <a:srgbClr val="1F2933"/>
                </a:solidFill>
                <a:latin typeface="Calibri"/>
              </a:rPr>
              <a:t> </a:t>
            </a:r>
          </a:p>
        </p:txBody>
      </p:sp>
      <p:cxnSp>
        <p:nvCxnSpPr>
          <p:cNvPr id="121" name="Connector 120"/>
          <p:cNvCxnSpPr/>
          <p:nvPr/>
        </p:nvCxnSpPr>
        <p:spPr>
          <a:xfrm>
            <a:off x="190500" y="42481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22" name="Rectangle 121"/>
          <p:cNvSpPr/>
          <p:nvPr/>
        </p:nvSpPr>
        <p:spPr>
          <a:xfrm>
            <a:off x="190500" y="4286250"/>
            <a:ext cx="38100" cy="22860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TextBox 122"/>
          <p:cNvSpPr txBox="1"/>
          <p:nvPr/>
        </p:nvSpPr>
        <p:spPr>
          <a:xfrm>
            <a:off x="285750" y="4248150"/>
            <a:ext cx="1809750" cy="304800"/>
          </a:xfrm>
          <a:prstGeom prst="rect">
            <a:avLst/>
          </a:prstGeom>
          <a:noFill/>
        </p:spPr>
        <p:txBody>
          <a:bodyPr wrap="square" lIns="28575" rIns="28575" tIns="9525" bIns="9525" anchor="ctr">
            <a:spAutoFit/>
          </a:bodyPr>
          <a:lstStyle/>
          <a:p>
            <a:pPr algn="l"/>
            <a:r>
              <a:rPr sz="1100" b="1">
                <a:solidFill>
                  <a:srgbClr val="1F2933"/>
                </a:solidFill>
                <a:latin typeface="Calibri"/>
              </a:rPr>
              <a:t>INNAIN</a:t>
            </a:r>
          </a:p>
        </p:txBody>
      </p:sp>
      <p:sp>
        <p:nvSpPr>
          <p:cNvPr id="124" name="Oval 123"/>
          <p:cNvSpPr/>
          <p:nvPr/>
        </p:nvSpPr>
        <p:spPr>
          <a:xfrm>
            <a:off x="2847975" y="43243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Freeform 124"/>
          <p:cNvSpPr/>
          <p:nvPr/>
        </p:nvSpPr>
        <p:spPr>
          <a:xfrm>
            <a:off x="2924175" y="43243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Oval 125"/>
          <p:cNvSpPr/>
          <p:nvPr/>
        </p:nvSpPr>
        <p:spPr>
          <a:xfrm>
            <a:off x="4505325" y="43243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Freeform 126"/>
          <p:cNvSpPr/>
          <p:nvPr/>
        </p:nvSpPr>
        <p:spPr>
          <a:xfrm>
            <a:off x="4581525" y="432435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Oval 127"/>
          <p:cNvSpPr/>
          <p:nvPr/>
        </p:nvSpPr>
        <p:spPr>
          <a:xfrm>
            <a:off x="6162675" y="43243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Freeform 128"/>
          <p:cNvSpPr/>
          <p:nvPr/>
        </p:nvSpPr>
        <p:spPr>
          <a:xfrm>
            <a:off x="6238875" y="432435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Oval 129"/>
          <p:cNvSpPr/>
          <p:nvPr/>
        </p:nvSpPr>
        <p:spPr>
          <a:xfrm>
            <a:off x="7820025" y="43243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Freeform 130"/>
          <p:cNvSpPr/>
          <p:nvPr/>
        </p:nvSpPr>
        <p:spPr>
          <a:xfrm>
            <a:off x="7896225" y="43243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Oval 131"/>
          <p:cNvSpPr/>
          <p:nvPr/>
        </p:nvSpPr>
        <p:spPr>
          <a:xfrm>
            <a:off x="9477375" y="43243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Rectangle 132"/>
          <p:cNvSpPr/>
          <p:nvPr/>
        </p:nvSpPr>
        <p:spPr>
          <a:xfrm>
            <a:off x="10420350" y="4333875"/>
            <a:ext cx="666750" cy="1333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TextBox 133"/>
          <p:cNvSpPr txBox="1"/>
          <p:nvPr/>
        </p:nvSpPr>
        <p:spPr>
          <a:xfrm>
            <a:off x="11125200" y="4248150"/>
            <a:ext cx="419100" cy="304800"/>
          </a:xfrm>
          <a:prstGeom prst="rect">
            <a:avLst/>
          </a:prstGeom>
          <a:noFill/>
        </p:spPr>
        <p:txBody>
          <a:bodyPr wrap="none" lIns="0" rIns="0" tIns="0" bIns="0" anchor="ctr">
            <a:spAutoFit/>
          </a:bodyPr>
          <a:lstStyle/>
          <a:p>
            <a:pPr algn="l"/>
            <a:r>
              <a:rPr sz="1100" b="1">
                <a:solidFill>
                  <a:srgbClr val="1F2933"/>
                </a:solidFill>
                <a:latin typeface="Calibri"/>
              </a:rPr>
              <a:t> </a:t>
            </a:r>
          </a:p>
        </p:txBody>
      </p:sp>
      <p:cxnSp>
        <p:nvCxnSpPr>
          <p:cNvPr id="135" name="Connector 134"/>
          <p:cNvCxnSpPr/>
          <p:nvPr/>
        </p:nvCxnSpPr>
        <p:spPr>
          <a:xfrm>
            <a:off x="190500" y="45529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36" name="Rectangle 135"/>
          <p:cNvSpPr/>
          <p:nvPr/>
        </p:nvSpPr>
        <p:spPr>
          <a:xfrm>
            <a:off x="190500" y="4591050"/>
            <a:ext cx="38100" cy="22860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TextBox 136"/>
          <p:cNvSpPr txBox="1"/>
          <p:nvPr/>
        </p:nvSpPr>
        <p:spPr>
          <a:xfrm>
            <a:off x="285750" y="4552950"/>
            <a:ext cx="1809750" cy="304800"/>
          </a:xfrm>
          <a:prstGeom prst="rect">
            <a:avLst/>
          </a:prstGeom>
          <a:noFill/>
        </p:spPr>
        <p:txBody>
          <a:bodyPr wrap="square" lIns="28575" rIns="28575" tIns="9525" bIns="9525" anchor="ctr">
            <a:spAutoFit/>
          </a:bodyPr>
          <a:lstStyle/>
          <a:p>
            <a:pPr algn="l"/>
            <a:r>
              <a:rPr sz="1100" b="1">
                <a:solidFill>
                  <a:srgbClr val="1F2933"/>
                </a:solidFill>
                <a:latin typeface="Calibri"/>
              </a:rPr>
              <a:t>Biovotec</a:t>
            </a:r>
          </a:p>
        </p:txBody>
      </p:sp>
      <p:sp>
        <p:nvSpPr>
          <p:cNvPr id="138" name="Oval 137"/>
          <p:cNvSpPr/>
          <p:nvPr/>
        </p:nvSpPr>
        <p:spPr>
          <a:xfrm>
            <a:off x="2847975" y="46291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Freeform 138"/>
          <p:cNvSpPr/>
          <p:nvPr/>
        </p:nvSpPr>
        <p:spPr>
          <a:xfrm>
            <a:off x="2924175" y="46291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Oval 139"/>
          <p:cNvSpPr/>
          <p:nvPr/>
        </p:nvSpPr>
        <p:spPr>
          <a:xfrm>
            <a:off x="4505325" y="46291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Freeform 140"/>
          <p:cNvSpPr/>
          <p:nvPr/>
        </p:nvSpPr>
        <p:spPr>
          <a:xfrm>
            <a:off x="4581525" y="462915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Oval 141"/>
          <p:cNvSpPr/>
          <p:nvPr/>
        </p:nvSpPr>
        <p:spPr>
          <a:xfrm>
            <a:off x="6162675" y="46291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Freeform 142"/>
          <p:cNvSpPr/>
          <p:nvPr/>
        </p:nvSpPr>
        <p:spPr>
          <a:xfrm>
            <a:off x="6238875" y="462915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Oval 143"/>
          <p:cNvSpPr/>
          <p:nvPr/>
        </p:nvSpPr>
        <p:spPr>
          <a:xfrm>
            <a:off x="7820025" y="46291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Freeform 144"/>
          <p:cNvSpPr/>
          <p:nvPr/>
        </p:nvSpPr>
        <p:spPr>
          <a:xfrm>
            <a:off x="7896225" y="46291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Oval 145"/>
          <p:cNvSpPr/>
          <p:nvPr/>
        </p:nvSpPr>
        <p:spPr>
          <a:xfrm>
            <a:off x="9477375" y="46291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Rectangle 146"/>
          <p:cNvSpPr/>
          <p:nvPr/>
        </p:nvSpPr>
        <p:spPr>
          <a:xfrm>
            <a:off x="10420350" y="4638675"/>
            <a:ext cx="666750" cy="1333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TextBox 147"/>
          <p:cNvSpPr txBox="1"/>
          <p:nvPr/>
        </p:nvSpPr>
        <p:spPr>
          <a:xfrm>
            <a:off x="11125200" y="4552950"/>
            <a:ext cx="419100" cy="304800"/>
          </a:xfrm>
          <a:prstGeom prst="rect">
            <a:avLst/>
          </a:prstGeom>
          <a:noFill/>
        </p:spPr>
        <p:txBody>
          <a:bodyPr wrap="none" lIns="0" rIns="0" tIns="0" bIns="0" anchor="ctr">
            <a:spAutoFit/>
          </a:bodyPr>
          <a:lstStyle/>
          <a:p>
            <a:pPr algn="l"/>
            <a:r>
              <a:rPr sz="1100" b="1">
                <a:solidFill>
                  <a:srgbClr val="1F2933"/>
                </a:solidFill>
                <a:latin typeface="Calibri"/>
              </a:rPr>
              <a:t> </a:t>
            </a:r>
          </a:p>
        </p:txBody>
      </p:sp>
      <p:cxnSp>
        <p:nvCxnSpPr>
          <p:cNvPr id="149" name="Connector 148"/>
          <p:cNvCxnSpPr/>
          <p:nvPr/>
        </p:nvCxnSpPr>
        <p:spPr>
          <a:xfrm>
            <a:off x="190500" y="48577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50" name="Oval 149"/>
          <p:cNvSpPr/>
          <p:nvPr/>
        </p:nvSpPr>
        <p:spPr>
          <a:xfrm>
            <a:off x="200025" y="4933950"/>
            <a:ext cx="133350" cy="13335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TextBox 150"/>
          <p:cNvSpPr txBox="1"/>
          <p:nvPr/>
        </p:nvSpPr>
        <p:spPr>
          <a:xfrm>
            <a:off x="381000" y="49149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Strong, direct evidence</a:t>
            </a:r>
          </a:p>
        </p:txBody>
      </p:sp>
      <p:sp>
        <p:nvSpPr>
          <p:cNvPr id="152" name="Oval 151"/>
          <p:cNvSpPr/>
          <p:nvPr/>
        </p:nvSpPr>
        <p:spPr>
          <a:xfrm>
            <a:off x="2065020" y="4933950"/>
            <a:ext cx="133350" cy="13335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Freeform 152"/>
          <p:cNvSpPr/>
          <p:nvPr/>
        </p:nvSpPr>
        <p:spPr>
          <a:xfrm>
            <a:off x="2133600" y="4933950"/>
            <a:ext cx="66675" cy="133350"/>
          </a:xfrm>
          <a:custGeom>
            <a:avLst/>
            <a:gdLst/>
            <a:ahLst/>
            <a:cxnLst/>
            <a:rect l="l" t="t" r="r" b="b"/>
            <a:pathLst>
              <a:path w="7" h="14">
                <a:moveTo>
                  <a:pt x="0" y="7"/>
                </a:moveTo>
                <a:lnTo>
                  <a:pt x="0" y="0"/>
                </a:lnTo>
                <a:lnTo>
                  <a:pt x="1" y="0"/>
                </a:lnTo>
                <a:lnTo>
                  <a:pt x="2" y="0"/>
                </a:lnTo>
                <a:lnTo>
                  <a:pt x="3" y="1"/>
                </a:lnTo>
                <a:lnTo>
                  <a:pt x="4" y="2"/>
                </a:lnTo>
                <a:lnTo>
                  <a:pt x="5" y="3"/>
                </a:lnTo>
                <a:lnTo>
                  <a:pt x="6" y="4"/>
                </a:lnTo>
                <a:lnTo>
                  <a:pt x="6" y="5"/>
                </a:lnTo>
                <a:lnTo>
                  <a:pt x="7" y="6"/>
                </a:lnTo>
                <a:lnTo>
                  <a:pt x="7" y="7"/>
                </a:lnTo>
                <a:lnTo>
                  <a:pt x="7" y="8"/>
                </a:lnTo>
                <a:lnTo>
                  <a:pt x="6" y="9"/>
                </a:lnTo>
                <a:lnTo>
                  <a:pt x="6" y="10"/>
                </a:lnTo>
                <a:lnTo>
                  <a:pt x="5" y="11"/>
                </a:lnTo>
                <a:lnTo>
                  <a:pt x="4" y="12"/>
                </a:lnTo>
                <a:lnTo>
                  <a:pt x="3" y="13"/>
                </a:lnTo>
                <a:lnTo>
                  <a:pt x="2" y="14"/>
                </a:lnTo>
                <a:lnTo>
                  <a:pt x="1" y="14"/>
                </a:lnTo>
                <a:lnTo>
                  <a:pt x="0" y="14"/>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TextBox 153"/>
          <p:cNvSpPr txBox="1"/>
          <p:nvPr/>
        </p:nvSpPr>
        <p:spPr>
          <a:xfrm>
            <a:off x="2245995" y="49149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Moderate or partial</a:t>
            </a:r>
          </a:p>
        </p:txBody>
      </p:sp>
      <p:sp>
        <p:nvSpPr>
          <p:cNvPr id="155" name="Oval 154"/>
          <p:cNvSpPr/>
          <p:nvPr/>
        </p:nvSpPr>
        <p:spPr>
          <a:xfrm>
            <a:off x="3678555" y="4933950"/>
            <a:ext cx="133350" cy="13335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Freeform 155"/>
          <p:cNvSpPr/>
          <p:nvPr/>
        </p:nvSpPr>
        <p:spPr>
          <a:xfrm>
            <a:off x="3743325" y="4933950"/>
            <a:ext cx="66675" cy="66675"/>
          </a:xfrm>
          <a:custGeom>
            <a:avLst/>
            <a:gdLst/>
            <a:ahLst/>
            <a:cxnLst/>
            <a:rect l="l" t="t" r="r" b="b"/>
            <a:pathLst>
              <a:path w="7" h="7">
                <a:moveTo>
                  <a:pt x="0" y="7"/>
                </a:moveTo>
                <a:lnTo>
                  <a:pt x="0" y="0"/>
                </a:lnTo>
                <a:lnTo>
                  <a:pt x="1" y="0"/>
                </a:lnTo>
                <a:lnTo>
                  <a:pt x="3" y="0"/>
                </a:lnTo>
                <a:lnTo>
                  <a:pt x="4" y="1"/>
                </a:lnTo>
                <a:lnTo>
                  <a:pt x="5" y="2"/>
                </a:lnTo>
                <a:lnTo>
                  <a:pt x="6" y="3"/>
                </a:lnTo>
                <a:lnTo>
                  <a:pt x="6" y="4"/>
                </a:lnTo>
                <a:lnTo>
                  <a:pt x="7" y="5"/>
                </a:lnTo>
                <a:lnTo>
                  <a:pt x="7" y="6"/>
                </a:lnTo>
                <a:lnTo>
                  <a:pt x="7" y="7"/>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TextBox 156"/>
          <p:cNvSpPr txBox="1"/>
          <p:nvPr/>
        </p:nvSpPr>
        <p:spPr>
          <a:xfrm>
            <a:off x="3859530" y="49149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Weak or indirect</a:t>
            </a:r>
          </a:p>
        </p:txBody>
      </p:sp>
      <p:sp>
        <p:nvSpPr>
          <p:cNvPr id="158" name="Oval 157"/>
          <p:cNvSpPr/>
          <p:nvPr/>
        </p:nvSpPr>
        <p:spPr>
          <a:xfrm>
            <a:off x="5103495" y="4933950"/>
            <a:ext cx="133350" cy="13335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TextBox 158"/>
          <p:cNvSpPr txBox="1"/>
          <p:nvPr/>
        </p:nvSpPr>
        <p:spPr>
          <a:xfrm>
            <a:off x="5284470" y="49149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None found</a:t>
            </a:r>
          </a:p>
        </p:txBody>
      </p:sp>
      <p:sp>
        <p:nvSpPr>
          <p:cNvPr id="160" name="TextBox 159"/>
          <p:cNvSpPr txBox="1"/>
          <p:nvPr/>
        </p:nvSpPr>
        <p:spPr>
          <a:xfrm>
            <a:off x="190500" y="5143500"/>
            <a:ext cx="2857500" cy="152400"/>
          </a:xfrm>
          <a:prstGeom prst="rect">
            <a:avLst/>
          </a:prstGeom>
          <a:noFill/>
        </p:spPr>
        <p:txBody>
          <a:bodyPr wrap="square" lIns="28575" rIns="28575" tIns="9525" bIns="9525" anchor="t">
            <a:spAutoFit/>
          </a:bodyPr>
          <a:lstStyle/>
          <a:p>
            <a:pPr algn="l"/>
            <a:r>
              <a:rPr sz="1100" b="1">
                <a:solidFill>
                  <a:srgbClr val="0F2D52"/>
                </a:solidFill>
                <a:latin typeface="Calibri"/>
              </a:rPr>
              <a:t>STRATEGIC GROUPS</a:t>
            </a:r>
          </a:p>
        </p:txBody>
      </p:sp>
      <p:sp>
        <p:nvSpPr>
          <p:cNvPr id="161" name="Rectangle 160"/>
          <p:cNvSpPr/>
          <p:nvPr/>
        </p:nvSpPr>
        <p:spPr>
          <a:xfrm>
            <a:off x="190500" y="5334000"/>
            <a:ext cx="3810000" cy="2857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TextBox 161"/>
          <p:cNvSpPr txBox="1"/>
          <p:nvPr/>
        </p:nvSpPr>
        <p:spPr>
          <a:xfrm>
            <a:off x="190500" y="5391150"/>
            <a:ext cx="3810000" cy="171450"/>
          </a:xfrm>
          <a:prstGeom prst="rect">
            <a:avLst/>
          </a:prstGeom>
          <a:noFill/>
        </p:spPr>
        <p:txBody>
          <a:bodyPr wrap="square" lIns="28575" rIns="28575" tIns="9525" bIns="9525" anchor="t">
            <a:spAutoFit/>
          </a:bodyPr>
          <a:lstStyle/>
          <a:p>
            <a:pPr algn="l"/>
            <a:r>
              <a:rPr sz="1100" b="1">
                <a:solidFill>
                  <a:srgbClr val="1F2933"/>
                </a:solidFill>
                <a:latin typeface="Calibri"/>
              </a:rPr>
              <a:t>Tier 1</a:t>
            </a:r>
          </a:p>
        </p:txBody>
      </p:sp>
      <p:sp>
        <p:nvSpPr>
          <p:cNvPr id="163" name="TextBox 162"/>
          <p:cNvSpPr txBox="1"/>
          <p:nvPr/>
        </p:nvSpPr>
        <p:spPr>
          <a:xfrm>
            <a:off x="190500" y="5562600"/>
            <a:ext cx="3810000" cy="3238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ESM Technologies, LLC, Biova, LLC, Company, Eggnovo S.L.</a:t>
            </a:r>
          </a:p>
        </p:txBody>
      </p:sp>
      <p:sp>
        <p:nvSpPr>
          <p:cNvPr id="164" name="TextBox 163"/>
          <p:cNvSpPr txBox="1"/>
          <p:nvPr/>
        </p:nvSpPr>
        <p:spPr>
          <a:xfrm>
            <a:off x="190500" y="5924550"/>
            <a:ext cx="3810000"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Wins on scale and share; weakest on segment breadth.</a:t>
            </a:r>
          </a:p>
        </p:txBody>
      </p:sp>
      <p:sp>
        <p:nvSpPr>
          <p:cNvPr id="165" name="Rectangle 164"/>
          <p:cNvSpPr/>
          <p:nvPr/>
        </p:nvSpPr>
        <p:spPr>
          <a:xfrm>
            <a:off x="4191000" y="5334000"/>
            <a:ext cx="3810000" cy="2857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TextBox 165"/>
          <p:cNvSpPr txBox="1"/>
          <p:nvPr/>
        </p:nvSpPr>
        <p:spPr>
          <a:xfrm>
            <a:off x="4191000" y="5391150"/>
            <a:ext cx="3810000" cy="171450"/>
          </a:xfrm>
          <a:prstGeom prst="rect">
            <a:avLst/>
          </a:prstGeom>
          <a:noFill/>
        </p:spPr>
        <p:txBody>
          <a:bodyPr wrap="square" lIns="28575" rIns="28575" tIns="9525" bIns="9525" anchor="t">
            <a:spAutoFit/>
          </a:bodyPr>
          <a:lstStyle/>
          <a:p>
            <a:pPr algn="l"/>
            <a:r>
              <a:rPr sz="1100" b="1">
                <a:solidFill>
                  <a:srgbClr val="1F2933"/>
                </a:solidFill>
                <a:latin typeface="Calibri"/>
              </a:rPr>
              <a:t>Tier 2</a:t>
            </a:r>
          </a:p>
        </p:txBody>
      </p:sp>
      <p:sp>
        <p:nvSpPr>
          <p:cNvPr id="167" name="TextBox 166"/>
          <p:cNvSpPr txBox="1"/>
          <p:nvPr/>
        </p:nvSpPr>
        <p:spPr>
          <a:xfrm>
            <a:off x="4191000" y="5562600"/>
            <a:ext cx="3810000" cy="3238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Kewpie Corporation, Dutch Eggmembrane Protein Powder</a:t>
            </a:r>
          </a:p>
        </p:txBody>
      </p:sp>
      <p:sp>
        <p:nvSpPr>
          <p:cNvPr id="168" name="TextBox 167"/>
          <p:cNvSpPr txBox="1"/>
          <p:nvPr/>
        </p:nvSpPr>
        <p:spPr>
          <a:xfrm>
            <a:off x="4191000" y="5924550"/>
            <a:ext cx="3810000"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Wins on strategic momentum; weakest on segment breadth.</a:t>
            </a:r>
          </a:p>
        </p:txBody>
      </p:sp>
      <p:sp>
        <p:nvSpPr>
          <p:cNvPr id="169" name="Rectangle 168"/>
          <p:cNvSpPr/>
          <p:nvPr/>
        </p:nvSpPr>
        <p:spPr>
          <a:xfrm>
            <a:off x="8191500" y="5334000"/>
            <a:ext cx="3810000" cy="2857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TextBox 169"/>
          <p:cNvSpPr txBox="1"/>
          <p:nvPr/>
        </p:nvSpPr>
        <p:spPr>
          <a:xfrm>
            <a:off x="8191500" y="5391150"/>
            <a:ext cx="3810000" cy="171450"/>
          </a:xfrm>
          <a:prstGeom prst="rect">
            <a:avLst/>
          </a:prstGeom>
          <a:noFill/>
        </p:spPr>
        <p:txBody>
          <a:bodyPr wrap="square" lIns="28575" rIns="28575" tIns="9525" bIns="9525" anchor="t">
            <a:spAutoFit/>
          </a:bodyPr>
          <a:lstStyle/>
          <a:p>
            <a:pPr algn="l"/>
            <a:r>
              <a:rPr sz="1100" b="1">
                <a:solidFill>
                  <a:srgbClr val="1F2933"/>
                </a:solidFill>
                <a:latin typeface="Calibri"/>
              </a:rPr>
              <a:t>Tier 3</a:t>
            </a:r>
          </a:p>
        </p:txBody>
      </p:sp>
      <p:sp>
        <p:nvSpPr>
          <p:cNvPr id="171" name="TextBox 170"/>
          <p:cNvSpPr txBox="1"/>
          <p:nvPr/>
        </p:nvSpPr>
        <p:spPr>
          <a:xfrm>
            <a:off x="8191500" y="5562600"/>
            <a:ext cx="3810000" cy="3238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Ecovatec Solutions Inc., Microcore Research Laboratories India Pvt. Ltd., INNAIN, Biovotec</a:t>
            </a:r>
          </a:p>
        </p:txBody>
      </p:sp>
      <p:sp>
        <p:nvSpPr>
          <p:cNvPr id="172" name="TextBox 171"/>
          <p:cNvSpPr txBox="1"/>
          <p:nvPr/>
        </p:nvSpPr>
        <p:spPr>
          <a:xfrm>
            <a:off x="8191500" y="5924550"/>
            <a:ext cx="3810000"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Wins on strategic momentum; weakest on scale and share.</a:t>
            </a:r>
          </a:p>
        </p:txBody>
      </p:sp>
      <p:sp>
        <p:nvSpPr>
          <p:cNvPr id="173" name="Rectangle 172"/>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 name="TextBox 17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75" name="Picture 174" descr="lock.png"/>
          <p:cNvPicPr>
            <a:picLocks noChangeAspect="1"/>
          </p:cNvPicPr>
          <p:nvPr/>
        </p:nvPicPr>
        <p:blipFill>
          <a:blip r:embed="rId4"/>
          <a:stretch>
            <a:fillRect/>
          </a:stretch>
        </p:blipFill>
        <p:spPr>
          <a:xfrm>
            <a:off x="11689500" y="1868551"/>
            <a:ext cx="128699" cy="187198"/>
          </a:xfrm>
          <a:prstGeom prst="rect">
            <a:avLst/>
          </a:prstGeom>
        </p:spPr>
      </p:pic>
      <p:pic>
        <p:nvPicPr>
          <p:cNvPr id="176" name="Picture 175" descr="lock.png"/>
          <p:cNvPicPr>
            <a:picLocks noChangeAspect="1"/>
          </p:cNvPicPr>
          <p:nvPr/>
        </p:nvPicPr>
        <p:blipFill>
          <a:blip r:embed="rId4"/>
          <a:stretch>
            <a:fillRect/>
          </a:stretch>
        </p:blipFill>
        <p:spPr>
          <a:xfrm>
            <a:off x="11689500" y="2173351"/>
            <a:ext cx="128699" cy="187198"/>
          </a:xfrm>
          <a:prstGeom prst="rect">
            <a:avLst/>
          </a:prstGeom>
        </p:spPr>
      </p:pic>
      <p:pic>
        <p:nvPicPr>
          <p:cNvPr id="177" name="Picture 176" descr="lock.png"/>
          <p:cNvPicPr>
            <a:picLocks noChangeAspect="1"/>
          </p:cNvPicPr>
          <p:nvPr/>
        </p:nvPicPr>
        <p:blipFill>
          <a:blip r:embed="rId4"/>
          <a:stretch>
            <a:fillRect/>
          </a:stretch>
        </p:blipFill>
        <p:spPr>
          <a:xfrm>
            <a:off x="11632350" y="2478151"/>
            <a:ext cx="128699" cy="187198"/>
          </a:xfrm>
          <a:prstGeom prst="rect">
            <a:avLst/>
          </a:prstGeom>
        </p:spPr>
      </p:pic>
      <p:pic>
        <p:nvPicPr>
          <p:cNvPr id="178" name="Picture 177" descr="lock.png"/>
          <p:cNvPicPr>
            <a:picLocks noChangeAspect="1"/>
          </p:cNvPicPr>
          <p:nvPr/>
        </p:nvPicPr>
        <p:blipFill>
          <a:blip r:embed="rId4"/>
          <a:stretch>
            <a:fillRect/>
          </a:stretch>
        </p:blipFill>
        <p:spPr>
          <a:xfrm>
            <a:off x="11632350" y="2782951"/>
            <a:ext cx="128699" cy="187198"/>
          </a:xfrm>
          <a:prstGeom prst="rect">
            <a:avLst/>
          </a:prstGeom>
        </p:spPr>
      </p:pic>
      <p:pic>
        <p:nvPicPr>
          <p:cNvPr id="179" name="Picture 178" descr="lock.png"/>
          <p:cNvPicPr>
            <a:picLocks noChangeAspect="1"/>
          </p:cNvPicPr>
          <p:nvPr/>
        </p:nvPicPr>
        <p:blipFill>
          <a:blip r:embed="rId4"/>
          <a:stretch>
            <a:fillRect/>
          </a:stretch>
        </p:blipFill>
        <p:spPr>
          <a:xfrm>
            <a:off x="11479950" y="3087751"/>
            <a:ext cx="128699" cy="187198"/>
          </a:xfrm>
          <a:prstGeom prst="rect">
            <a:avLst/>
          </a:prstGeom>
        </p:spPr>
      </p:pic>
      <p:pic>
        <p:nvPicPr>
          <p:cNvPr id="180" name="Picture 179" descr="lock.png"/>
          <p:cNvPicPr>
            <a:picLocks noChangeAspect="1"/>
          </p:cNvPicPr>
          <p:nvPr/>
        </p:nvPicPr>
        <p:blipFill>
          <a:blip r:embed="rId4"/>
          <a:stretch>
            <a:fillRect/>
          </a:stretch>
        </p:blipFill>
        <p:spPr>
          <a:xfrm>
            <a:off x="11422800" y="3392551"/>
            <a:ext cx="128699" cy="187198"/>
          </a:xfrm>
          <a:prstGeom prst="rect">
            <a:avLst/>
          </a:prstGeom>
        </p:spPr>
      </p:pic>
      <p:pic>
        <p:nvPicPr>
          <p:cNvPr id="181" name="Picture 180" descr="lock.png"/>
          <p:cNvPicPr>
            <a:picLocks noChangeAspect="1"/>
          </p:cNvPicPr>
          <p:nvPr/>
        </p:nvPicPr>
        <p:blipFill>
          <a:blip r:embed="rId4"/>
          <a:stretch>
            <a:fillRect/>
          </a:stretch>
        </p:blipFill>
        <p:spPr>
          <a:xfrm>
            <a:off x="11327550" y="3697351"/>
            <a:ext cx="128699" cy="187198"/>
          </a:xfrm>
          <a:prstGeom prst="rect">
            <a:avLst/>
          </a:prstGeom>
        </p:spPr>
      </p:pic>
      <p:pic>
        <p:nvPicPr>
          <p:cNvPr id="182" name="Picture 181" descr="lock.png"/>
          <p:cNvPicPr>
            <a:picLocks noChangeAspect="1"/>
          </p:cNvPicPr>
          <p:nvPr/>
        </p:nvPicPr>
        <p:blipFill>
          <a:blip r:embed="rId4"/>
          <a:stretch>
            <a:fillRect/>
          </a:stretch>
        </p:blipFill>
        <p:spPr>
          <a:xfrm>
            <a:off x="11327550" y="4002151"/>
            <a:ext cx="128699" cy="187198"/>
          </a:xfrm>
          <a:prstGeom prst="rect">
            <a:avLst/>
          </a:prstGeom>
        </p:spPr>
      </p:pic>
      <p:pic>
        <p:nvPicPr>
          <p:cNvPr id="183" name="Picture 182" descr="lock.png"/>
          <p:cNvPicPr>
            <a:picLocks noChangeAspect="1"/>
          </p:cNvPicPr>
          <p:nvPr/>
        </p:nvPicPr>
        <p:blipFill>
          <a:blip r:embed="rId4"/>
          <a:stretch>
            <a:fillRect/>
          </a:stretch>
        </p:blipFill>
        <p:spPr>
          <a:xfrm>
            <a:off x="11270400" y="4306951"/>
            <a:ext cx="128699" cy="187198"/>
          </a:xfrm>
          <a:prstGeom prst="rect">
            <a:avLst/>
          </a:prstGeom>
        </p:spPr>
      </p:pic>
      <p:pic>
        <p:nvPicPr>
          <p:cNvPr id="184" name="Picture 183" descr="lock.png"/>
          <p:cNvPicPr>
            <a:picLocks noChangeAspect="1"/>
          </p:cNvPicPr>
          <p:nvPr/>
        </p:nvPicPr>
        <p:blipFill>
          <a:blip r:embed="rId4"/>
          <a:stretch>
            <a:fillRect/>
          </a:stretch>
        </p:blipFill>
        <p:spPr>
          <a:xfrm>
            <a:off x="11270400" y="4611751"/>
            <a:ext cx="128699" cy="187198"/>
          </a:xfrm>
          <a:prstGeom prst="rect">
            <a:avLst/>
          </a:prstGeom>
        </p:spPr>
      </p:pic>
      <p:sp>
        <p:nvSpPr>
          <p:cNvPr id="185" name="TextBox 184"/>
          <p:cNvSpPr txBox="1"/>
          <p:nvPr/>
        </p:nvSpPr>
        <p:spPr>
          <a:xfrm>
            <a:off x="2162175" y="1219200"/>
            <a:ext cx="379523" cy="139750"/>
          </a:xfrm>
          <a:prstGeom prst="rect">
            <a:avLst/>
          </a:prstGeom>
          <a:noFill/>
        </p:spPr>
        <p:txBody>
          <a:bodyPr wrap="none" lIns="0" rIns="0" tIns="0" bIns="0">
            <a:spAutoFit/>
          </a:bodyPr>
          <a:lstStyle/>
          <a:p>
            <a:r>
              <a:rPr sz="791" b="1">
                <a:solidFill>
                  <a:srgbClr val="1F2933"/>
                </a:solidFill>
                <a:latin typeface="Calibri"/>
              </a:rPr>
              <a:t>Weight</a:t>
            </a:r>
          </a:p>
        </p:txBody>
      </p:sp>
      <p:pic>
        <p:nvPicPr>
          <p:cNvPr id="186" name="Picture 185" descr="lock.png"/>
          <p:cNvPicPr>
            <a:picLocks noChangeAspect="1"/>
          </p:cNvPicPr>
          <p:nvPr/>
        </p:nvPicPr>
        <p:blipFill>
          <a:blip r:embed="rId4"/>
          <a:stretch>
            <a:fillRect/>
          </a:stretch>
        </p:blipFill>
        <p:spPr>
          <a:xfrm>
            <a:off x="2482959" y="1212159"/>
            <a:ext cx="92663" cy="134782"/>
          </a:xfrm>
          <a:prstGeom prst="rect">
            <a:avLst/>
          </a:prstGeom>
        </p:spPr>
      </p:pic>
      <p:sp>
        <p:nvSpPr>
          <p:cNvPr id="187" name="TextBox 186"/>
          <p:cNvSpPr txBox="1"/>
          <p:nvPr/>
        </p:nvSpPr>
        <p:spPr>
          <a:xfrm>
            <a:off x="3819525" y="1219200"/>
            <a:ext cx="379523" cy="139750"/>
          </a:xfrm>
          <a:prstGeom prst="rect">
            <a:avLst/>
          </a:prstGeom>
          <a:noFill/>
        </p:spPr>
        <p:txBody>
          <a:bodyPr wrap="none" lIns="0" rIns="0" tIns="0" bIns="0">
            <a:spAutoFit/>
          </a:bodyPr>
          <a:lstStyle/>
          <a:p>
            <a:r>
              <a:rPr sz="791" b="1">
                <a:solidFill>
                  <a:srgbClr val="1F2933"/>
                </a:solidFill>
                <a:latin typeface="Calibri"/>
              </a:rPr>
              <a:t>Weight</a:t>
            </a:r>
          </a:p>
        </p:txBody>
      </p:sp>
      <p:pic>
        <p:nvPicPr>
          <p:cNvPr id="188" name="Picture 187" descr="lock.png"/>
          <p:cNvPicPr>
            <a:picLocks noChangeAspect="1"/>
          </p:cNvPicPr>
          <p:nvPr/>
        </p:nvPicPr>
        <p:blipFill>
          <a:blip r:embed="rId4"/>
          <a:stretch>
            <a:fillRect/>
          </a:stretch>
        </p:blipFill>
        <p:spPr>
          <a:xfrm>
            <a:off x="4140309" y="1212159"/>
            <a:ext cx="92663" cy="134782"/>
          </a:xfrm>
          <a:prstGeom prst="rect">
            <a:avLst/>
          </a:prstGeom>
        </p:spPr>
      </p:pic>
      <p:sp>
        <p:nvSpPr>
          <p:cNvPr id="189" name="TextBox 188"/>
          <p:cNvSpPr txBox="1"/>
          <p:nvPr/>
        </p:nvSpPr>
        <p:spPr>
          <a:xfrm>
            <a:off x="5476875" y="1219200"/>
            <a:ext cx="379523" cy="139750"/>
          </a:xfrm>
          <a:prstGeom prst="rect">
            <a:avLst/>
          </a:prstGeom>
          <a:noFill/>
        </p:spPr>
        <p:txBody>
          <a:bodyPr wrap="none" lIns="0" rIns="0" tIns="0" bIns="0">
            <a:spAutoFit/>
          </a:bodyPr>
          <a:lstStyle/>
          <a:p>
            <a:r>
              <a:rPr sz="791" b="1">
                <a:solidFill>
                  <a:srgbClr val="1F2933"/>
                </a:solidFill>
                <a:latin typeface="Calibri"/>
              </a:rPr>
              <a:t>Weight</a:t>
            </a:r>
          </a:p>
        </p:txBody>
      </p:sp>
      <p:pic>
        <p:nvPicPr>
          <p:cNvPr id="190" name="Picture 189" descr="lock.png"/>
          <p:cNvPicPr>
            <a:picLocks noChangeAspect="1"/>
          </p:cNvPicPr>
          <p:nvPr/>
        </p:nvPicPr>
        <p:blipFill>
          <a:blip r:embed="rId4"/>
          <a:stretch>
            <a:fillRect/>
          </a:stretch>
        </p:blipFill>
        <p:spPr>
          <a:xfrm>
            <a:off x="5797659" y="1212159"/>
            <a:ext cx="92663" cy="134782"/>
          </a:xfrm>
          <a:prstGeom prst="rect">
            <a:avLst/>
          </a:prstGeom>
        </p:spPr>
      </p:pic>
      <p:sp>
        <p:nvSpPr>
          <p:cNvPr id="191" name="TextBox 190"/>
          <p:cNvSpPr txBox="1"/>
          <p:nvPr/>
        </p:nvSpPr>
        <p:spPr>
          <a:xfrm>
            <a:off x="7134225" y="1219200"/>
            <a:ext cx="379523" cy="139750"/>
          </a:xfrm>
          <a:prstGeom prst="rect">
            <a:avLst/>
          </a:prstGeom>
          <a:noFill/>
        </p:spPr>
        <p:txBody>
          <a:bodyPr wrap="none" lIns="0" rIns="0" tIns="0" bIns="0">
            <a:spAutoFit/>
          </a:bodyPr>
          <a:lstStyle/>
          <a:p>
            <a:r>
              <a:rPr sz="791" b="1">
                <a:solidFill>
                  <a:srgbClr val="1F2933"/>
                </a:solidFill>
                <a:latin typeface="Calibri"/>
              </a:rPr>
              <a:t>Weight</a:t>
            </a:r>
          </a:p>
        </p:txBody>
      </p:sp>
      <p:pic>
        <p:nvPicPr>
          <p:cNvPr id="192" name="Picture 191" descr="lock.png"/>
          <p:cNvPicPr>
            <a:picLocks noChangeAspect="1"/>
          </p:cNvPicPr>
          <p:nvPr/>
        </p:nvPicPr>
        <p:blipFill>
          <a:blip r:embed="rId4"/>
          <a:stretch>
            <a:fillRect/>
          </a:stretch>
        </p:blipFill>
        <p:spPr>
          <a:xfrm>
            <a:off x="7455009" y="1212159"/>
            <a:ext cx="92663" cy="134782"/>
          </a:xfrm>
          <a:prstGeom prst="rect">
            <a:avLst/>
          </a:prstGeom>
        </p:spPr>
      </p:pic>
      <p:sp>
        <p:nvSpPr>
          <p:cNvPr id="193" name="TextBox 192"/>
          <p:cNvSpPr txBox="1"/>
          <p:nvPr/>
        </p:nvSpPr>
        <p:spPr>
          <a:xfrm>
            <a:off x="8791575" y="1219200"/>
            <a:ext cx="379523" cy="139750"/>
          </a:xfrm>
          <a:prstGeom prst="rect">
            <a:avLst/>
          </a:prstGeom>
          <a:noFill/>
        </p:spPr>
        <p:txBody>
          <a:bodyPr wrap="none" lIns="0" rIns="0" tIns="0" bIns="0">
            <a:spAutoFit/>
          </a:bodyPr>
          <a:lstStyle/>
          <a:p>
            <a:r>
              <a:rPr sz="791" b="1">
                <a:solidFill>
                  <a:srgbClr val="1F2933"/>
                </a:solidFill>
                <a:latin typeface="Calibri"/>
              </a:rPr>
              <a:t>Weight</a:t>
            </a:r>
          </a:p>
        </p:txBody>
      </p:sp>
      <p:pic>
        <p:nvPicPr>
          <p:cNvPr id="194" name="Picture 193" descr="lock.png"/>
          <p:cNvPicPr>
            <a:picLocks noChangeAspect="1"/>
          </p:cNvPicPr>
          <p:nvPr/>
        </p:nvPicPr>
        <p:blipFill>
          <a:blip r:embed="rId4"/>
          <a:stretch>
            <a:fillRect/>
          </a:stretch>
        </p:blipFill>
        <p:spPr>
          <a:xfrm>
            <a:off x="9112359" y="1212159"/>
            <a:ext cx="92663" cy="134782"/>
          </a:xfrm>
          <a:prstGeom prst="rect">
            <a:avLst/>
          </a:prstGeom>
        </p:spPr>
      </p:pic>
    </p:spTree>
  </p:cSld>
  <p:clrMapOvr>
    <a:masterClrMapping/>
  </p:clrMapOvr>
</p:sld>
</file>

<file path=ppt/slides/slide2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Egg Protein Membrane Market Strategic Activity Tracker</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Each player's active strategic moves: what, type, source department, signal and who should act</a:t>
            </a:r>
          </a:p>
        </p:txBody>
      </p:sp>
      <p:sp>
        <p:nvSpPr>
          <p:cNvPr id="7" name="TextBox 6"/>
          <p:cNvSpPr txBox="1"/>
          <p:nvPr/>
        </p:nvSpPr>
        <p:spPr>
          <a:xfrm>
            <a:off x="209550" y="1047750"/>
            <a:ext cx="1295400" cy="171450"/>
          </a:xfrm>
          <a:prstGeom prst="rect">
            <a:avLst/>
          </a:prstGeom>
          <a:noFill/>
        </p:spPr>
        <p:txBody>
          <a:bodyPr wrap="square" lIns="28575" rIns="28575" tIns="9525" bIns="9525" anchor="t">
            <a:spAutoFit/>
          </a:bodyPr>
          <a:lstStyle/>
          <a:p>
            <a:pPr algn="l"/>
            <a:r>
              <a:rPr sz="1100" b="1">
                <a:solidFill>
                  <a:srgbClr val="0F2D52"/>
                </a:solidFill>
                <a:latin typeface="Calibri"/>
              </a:rPr>
              <a:t>COMPANY</a:t>
            </a:r>
          </a:p>
        </p:txBody>
      </p:sp>
      <p:sp>
        <p:nvSpPr>
          <p:cNvPr id="8" name="TextBox 7"/>
          <p:cNvSpPr txBox="1"/>
          <p:nvPr/>
        </p:nvSpPr>
        <p:spPr>
          <a:xfrm>
            <a:off x="1543050" y="1047750"/>
            <a:ext cx="2343150" cy="171450"/>
          </a:xfrm>
          <a:prstGeom prst="rect">
            <a:avLst/>
          </a:prstGeom>
          <a:noFill/>
        </p:spPr>
        <p:txBody>
          <a:bodyPr wrap="square" lIns="28575" rIns="28575" tIns="9525" bIns="9525" anchor="t">
            <a:spAutoFit/>
          </a:bodyPr>
          <a:lstStyle/>
          <a:p>
            <a:pPr algn="l"/>
            <a:r>
              <a:rPr sz="1100" b="1">
                <a:solidFill>
                  <a:srgbClr val="0F2D52"/>
                </a:solidFill>
                <a:latin typeface="Calibri"/>
              </a:rPr>
              <a:t>DEVELOPMENT (WHAT IS HAPPENING)</a:t>
            </a:r>
          </a:p>
        </p:txBody>
      </p:sp>
      <p:sp>
        <p:nvSpPr>
          <p:cNvPr id="9" name="TextBox 8"/>
          <p:cNvSpPr txBox="1"/>
          <p:nvPr/>
        </p:nvSpPr>
        <p:spPr>
          <a:xfrm>
            <a:off x="3924300" y="1047750"/>
            <a:ext cx="533400" cy="171450"/>
          </a:xfrm>
          <a:prstGeom prst="rect">
            <a:avLst/>
          </a:prstGeom>
          <a:noFill/>
        </p:spPr>
        <p:txBody>
          <a:bodyPr wrap="none" lIns="0" rIns="0" tIns="0" bIns="0" anchor="t">
            <a:spAutoFit/>
          </a:bodyPr>
          <a:lstStyle/>
          <a:p>
            <a:pPr algn="l"/>
            <a:r>
              <a:rPr sz="1100" b="1">
                <a:solidFill>
                  <a:srgbClr val="0F2D52"/>
                </a:solidFill>
                <a:latin typeface="Calibri"/>
              </a:rPr>
              <a:t>DATE</a:t>
            </a:r>
          </a:p>
        </p:txBody>
      </p:sp>
      <p:sp>
        <p:nvSpPr>
          <p:cNvPr id="10" name="TextBox 9"/>
          <p:cNvSpPr txBox="1"/>
          <p:nvPr/>
        </p:nvSpPr>
        <p:spPr>
          <a:xfrm>
            <a:off x="4495800" y="1047750"/>
            <a:ext cx="438150" cy="171450"/>
          </a:xfrm>
          <a:prstGeom prst="rect">
            <a:avLst/>
          </a:prstGeom>
          <a:noFill/>
        </p:spPr>
        <p:txBody>
          <a:bodyPr wrap="none" lIns="0" rIns="0" tIns="0" bIns="0" anchor="t">
            <a:spAutoFit/>
          </a:bodyPr>
          <a:lstStyle/>
          <a:p>
            <a:pPr algn="l"/>
            <a:r>
              <a:rPr sz="1100" b="1">
                <a:solidFill>
                  <a:srgbClr val="0F2D52"/>
                </a:solidFill>
                <a:latin typeface="Calibri"/>
              </a:rPr>
              <a:t>TYPE</a:t>
            </a:r>
          </a:p>
        </p:txBody>
      </p:sp>
      <p:sp>
        <p:nvSpPr>
          <p:cNvPr id="11" name="TextBox 10"/>
          <p:cNvSpPr txBox="1"/>
          <p:nvPr/>
        </p:nvSpPr>
        <p:spPr>
          <a:xfrm>
            <a:off x="4972050" y="1047750"/>
            <a:ext cx="1200150" cy="171450"/>
          </a:xfrm>
          <a:prstGeom prst="rect">
            <a:avLst/>
          </a:prstGeom>
          <a:noFill/>
        </p:spPr>
        <p:txBody>
          <a:bodyPr wrap="square" lIns="28575" rIns="28575" tIns="9525" bIns="9525" anchor="t">
            <a:spAutoFit/>
          </a:bodyPr>
          <a:lstStyle/>
          <a:p>
            <a:pPr algn="l"/>
            <a:r>
              <a:rPr sz="1100" b="1">
                <a:solidFill>
                  <a:srgbClr val="0F2D52"/>
                </a:solidFill>
                <a:latin typeface="Calibri"/>
              </a:rPr>
              <a:t>SOURCE DEPT</a:t>
            </a:r>
          </a:p>
        </p:txBody>
      </p:sp>
      <p:sp>
        <p:nvSpPr>
          <p:cNvPr id="12" name="TextBox 11"/>
          <p:cNvSpPr txBox="1"/>
          <p:nvPr/>
        </p:nvSpPr>
        <p:spPr>
          <a:xfrm>
            <a:off x="6210300" y="1047750"/>
            <a:ext cx="914400" cy="171450"/>
          </a:xfrm>
          <a:prstGeom prst="rect">
            <a:avLst/>
          </a:prstGeom>
          <a:noFill/>
        </p:spPr>
        <p:txBody>
          <a:bodyPr wrap="square" lIns="28575" rIns="28575" tIns="9525" bIns="9525" anchor="t">
            <a:spAutoFit/>
          </a:bodyPr>
          <a:lstStyle/>
          <a:p>
            <a:pPr algn="l"/>
            <a:r>
              <a:rPr sz="1100" b="1">
                <a:solidFill>
                  <a:srgbClr val="0F2D52"/>
                </a:solidFill>
                <a:latin typeface="Calibri"/>
              </a:rPr>
              <a:t>EVIDENCE</a:t>
            </a:r>
          </a:p>
        </p:txBody>
      </p:sp>
      <p:sp>
        <p:nvSpPr>
          <p:cNvPr id="13" name="TextBox 12"/>
          <p:cNvSpPr txBox="1"/>
          <p:nvPr/>
        </p:nvSpPr>
        <p:spPr>
          <a:xfrm>
            <a:off x="7162800" y="1047750"/>
            <a:ext cx="2152650" cy="171450"/>
          </a:xfrm>
          <a:prstGeom prst="rect">
            <a:avLst/>
          </a:prstGeom>
          <a:noFill/>
        </p:spPr>
        <p:txBody>
          <a:bodyPr wrap="square" lIns="28575" rIns="28575" tIns="9525" bIns="9525" anchor="t">
            <a:spAutoFit/>
          </a:bodyPr>
          <a:lstStyle/>
          <a:p>
            <a:pPr algn="l"/>
            <a:r>
              <a:rPr sz="1100" b="1">
                <a:solidFill>
                  <a:srgbClr val="0F2D52"/>
                </a:solidFill>
                <a:latin typeface="Calibri"/>
              </a:rPr>
              <a:t>SIGNAL (WHAT IT INDICATES)</a:t>
            </a:r>
          </a:p>
        </p:txBody>
      </p:sp>
      <p:sp>
        <p:nvSpPr>
          <p:cNvPr id="14" name="TextBox 13"/>
          <p:cNvSpPr txBox="1"/>
          <p:nvPr/>
        </p:nvSpPr>
        <p:spPr>
          <a:xfrm>
            <a:off x="9353550" y="1047750"/>
            <a:ext cx="2628900" cy="171450"/>
          </a:xfrm>
          <a:prstGeom prst="rect">
            <a:avLst/>
          </a:prstGeom>
          <a:noFill/>
        </p:spPr>
        <p:txBody>
          <a:bodyPr wrap="square" lIns="28575" rIns="28575" tIns="9525" bIns="9525" anchor="t">
            <a:spAutoFit/>
          </a:bodyPr>
          <a:lstStyle/>
          <a:p>
            <a:pPr algn="l"/>
            <a:r>
              <a:rPr sz="1100" b="1">
                <a:solidFill>
                  <a:srgbClr val="0F2D52"/>
                </a:solidFill>
                <a:latin typeface="Calibri"/>
              </a:rPr>
              <a:t>WHO SHOULD ACT</a:t>
            </a:r>
          </a:p>
        </p:txBody>
      </p:sp>
      <p:cxnSp>
        <p:nvCxnSpPr>
          <p:cNvPr id="15" name="Connector 14"/>
          <p:cNvCxnSpPr/>
          <p:nvPr/>
        </p:nvCxnSpPr>
        <p:spPr>
          <a:xfrm>
            <a:off x="190500" y="1238250"/>
            <a:ext cx="11811000" cy="0"/>
          </a:xfrm>
          <a:prstGeom prst="line">
            <a:avLst/>
          </a:prstGeom>
          <a:ln w="19050">
            <a:solidFill>
              <a:srgbClr val="0F2D52"/>
            </a:solidFill>
          </a:ln>
          <a:effectLst/>
        </p:spPr>
        <p:style>
          <a:lnRef idx="2">
            <a:schemeClr val="accent1"/>
          </a:lnRef>
          <a:fillRef idx="0">
            <a:schemeClr val="accent1"/>
          </a:fillRef>
          <a:effectRef idx="1">
            <a:schemeClr val="accent1"/>
          </a:effectRef>
          <a:fontRef idx="minor">
            <a:schemeClr val="tx1"/>
          </a:fontRef>
        </p:style>
      </p:cxnSp>
      <p:sp>
        <p:nvSpPr>
          <p:cNvPr id="16" name="Rectangle 15"/>
          <p:cNvSpPr/>
          <p:nvPr/>
        </p:nvSpPr>
        <p:spPr>
          <a:xfrm>
            <a:off x="190500" y="1295400"/>
            <a:ext cx="38100" cy="4191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66700" y="1285875"/>
            <a:ext cx="1238250" cy="438150"/>
          </a:xfrm>
          <a:prstGeom prst="rect">
            <a:avLst/>
          </a:prstGeom>
          <a:noFill/>
        </p:spPr>
        <p:txBody>
          <a:bodyPr wrap="square" lIns="28575" rIns="28575" tIns="9525" bIns="9525" anchor="t">
            <a:spAutoFit/>
          </a:bodyPr>
          <a:lstStyle/>
          <a:p>
            <a:pPr algn="l">
              <a:lnSpc>
                <a:spcPct val="115000"/>
              </a:lnSpc>
            </a:pPr>
            <a:r>
              <a:rPr sz="1100" b="1">
                <a:solidFill>
                  <a:srgbClr val="1F2933"/>
                </a:solidFill>
                <a:latin typeface="Calibri"/>
              </a:rPr>
              <a:t>ESM Technologies, LLC</a:t>
            </a:r>
          </a:p>
        </p:txBody>
      </p:sp>
      <p:sp>
        <p:nvSpPr>
          <p:cNvPr id="18" name="TextBox 17"/>
          <p:cNvSpPr txBox="1"/>
          <p:nvPr/>
        </p:nvSpPr>
        <p:spPr>
          <a:xfrm>
            <a:off x="1543050" y="1285875"/>
            <a:ext cx="2324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Acquisition to add scale or capability in North America</a:t>
            </a:r>
          </a:p>
        </p:txBody>
      </p:sp>
      <p:sp>
        <p:nvSpPr>
          <p:cNvPr id="19" name="TextBox 18"/>
          <p:cNvSpPr txBox="1"/>
          <p:nvPr/>
        </p:nvSpPr>
        <p:spPr>
          <a:xfrm>
            <a:off x="3924300" y="1285875"/>
            <a:ext cx="533400" cy="171450"/>
          </a:xfrm>
          <a:prstGeom prst="rect">
            <a:avLst/>
          </a:prstGeom>
          <a:noFill/>
        </p:spPr>
        <p:txBody>
          <a:bodyPr wrap="none" lIns="0" rIns="0" tIns="0" bIns="0" anchor="t">
            <a:spAutoFit/>
          </a:bodyPr>
          <a:lstStyle/>
          <a:p>
            <a:pPr algn="l"/>
            <a:r>
              <a:rPr sz="1100" b="0">
                <a:solidFill>
                  <a:srgbClr val="5F6B7A"/>
                </a:solidFill>
                <a:latin typeface="Calibri"/>
              </a:rPr>
              <a:t/>
            </a:r>
          </a:p>
        </p:txBody>
      </p:sp>
      <p:sp>
        <p:nvSpPr>
          <p:cNvPr id="20" name="Rectangle 19"/>
          <p:cNvSpPr/>
          <p:nvPr/>
        </p:nvSpPr>
        <p:spPr>
          <a:xfrm>
            <a:off x="4514850" y="1314450"/>
            <a:ext cx="285750" cy="171450"/>
          </a:xfrm>
          <a:prstGeom prst="rect">
            <a:avLst/>
          </a:prstGeom>
          <a:solidFill>
            <a:srgbClr val="8E3A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14850" y="1314450"/>
            <a:ext cx="285750" cy="171450"/>
          </a:xfrm>
          <a:prstGeom prst="rect">
            <a:avLst/>
          </a:prstGeom>
          <a:noFill/>
        </p:spPr>
        <p:txBody>
          <a:bodyPr wrap="none" lIns="0" rIns="0" tIns="0" bIns="0" anchor="ctr">
            <a:spAutoFit/>
          </a:bodyPr>
          <a:lstStyle/>
          <a:p>
            <a:pPr algn="ctr"/>
            <a:r>
              <a:rPr sz="1100" b="1">
                <a:solidFill>
                  <a:srgbClr val="FFFFFF"/>
                </a:solidFill>
                <a:latin typeface="Calibri"/>
              </a:rPr>
              <a:t>MA</a:t>
            </a:r>
          </a:p>
        </p:txBody>
      </p:sp>
      <p:sp>
        <p:nvSpPr>
          <p:cNvPr id="22" name="TextBox 21"/>
          <p:cNvSpPr txBox="1"/>
          <p:nvPr/>
        </p:nvSpPr>
        <p:spPr>
          <a:xfrm>
            <a:off x="4972050" y="1285875"/>
            <a:ext cx="1181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Corporate development</a:t>
            </a:r>
          </a:p>
        </p:txBody>
      </p:sp>
      <p:sp>
        <p:nvSpPr>
          <p:cNvPr id="23" name="TextBox 22"/>
          <p:cNvSpPr txBox="1"/>
          <p:nvPr/>
        </p:nvSpPr>
        <p:spPr>
          <a:xfrm>
            <a:off x="6210300" y="1285875"/>
            <a:ext cx="895350" cy="4381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TMR company profiling</a:t>
            </a:r>
          </a:p>
        </p:txBody>
      </p:sp>
      <p:sp>
        <p:nvSpPr>
          <p:cNvPr id="24" name="TextBox 23"/>
          <p:cNvSpPr txBox="1"/>
          <p:nvPr/>
        </p:nvSpPr>
        <p:spPr>
          <a:xfrm>
            <a:off x="7162800" y="1285875"/>
            <a:ext cx="21336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Consolidation: capability is being bought, not built</a:t>
            </a:r>
          </a:p>
        </p:txBody>
      </p:sp>
      <p:sp>
        <p:nvSpPr>
          <p:cNvPr id="25" name="TextBox 24"/>
          <p:cNvSpPr txBox="1"/>
          <p:nvPr/>
        </p:nvSpPr>
        <p:spPr>
          <a:xfrm>
            <a:off x="9353550" y="1285875"/>
            <a:ext cx="26289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Corporate development: track targets and deal multiples</a:t>
            </a:r>
          </a:p>
        </p:txBody>
      </p:sp>
      <p:cxnSp>
        <p:nvCxnSpPr>
          <p:cNvPr id="26" name="Connector 25"/>
          <p:cNvCxnSpPr/>
          <p:nvPr/>
        </p:nvCxnSpPr>
        <p:spPr>
          <a:xfrm>
            <a:off x="190500" y="175260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190500" y="1790700"/>
            <a:ext cx="38100" cy="4191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66700" y="1781175"/>
            <a:ext cx="1238250" cy="438150"/>
          </a:xfrm>
          <a:prstGeom prst="rect">
            <a:avLst/>
          </a:prstGeom>
          <a:noFill/>
        </p:spPr>
        <p:txBody>
          <a:bodyPr wrap="square" lIns="28575" rIns="28575" tIns="9525" bIns="9525" anchor="t">
            <a:spAutoFit/>
          </a:bodyPr>
          <a:lstStyle/>
          <a:p>
            <a:pPr algn="l">
              <a:lnSpc>
                <a:spcPct val="115000"/>
              </a:lnSpc>
            </a:pPr>
            <a:r>
              <a:rPr sz="1100" b="1">
                <a:solidFill>
                  <a:srgbClr val="1F2933"/>
                </a:solidFill>
                <a:latin typeface="Calibri"/>
              </a:rPr>
              <a:t>Company</a:t>
            </a:r>
          </a:p>
        </p:txBody>
      </p:sp>
      <p:sp>
        <p:nvSpPr>
          <p:cNvPr id="29" name="TextBox 28"/>
          <p:cNvSpPr txBox="1"/>
          <p:nvPr/>
        </p:nvSpPr>
        <p:spPr>
          <a:xfrm>
            <a:off x="1543050" y="1781175"/>
            <a:ext cx="2324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development programme in Micronized Eggshell Membrane</a:t>
            </a:r>
          </a:p>
        </p:txBody>
      </p:sp>
      <p:sp>
        <p:nvSpPr>
          <p:cNvPr id="30" name="TextBox 29"/>
          <p:cNvSpPr txBox="1"/>
          <p:nvPr/>
        </p:nvSpPr>
        <p:spPr>
          <a:xfrm>
            <a:off x="3924300" y="1781175"/>
            <a:ext cx="533400" cy="171450"/>
          </a:xfrm>
          <a:prstGeom prst="rect">
            <a:avLst/>
          </a:prstGeom>
          <a:noFill/>
        </p:spPr>
        <p:txBody>
          <a:bodyPr wrap="none" lIns="0" rIns="0" tIns="0" bIns="0" anchor="t">
            <a:spAutoFit/>
          </a:bodyPr>
          <a:lstStyle/>
          <a:p>
            <a:pPr algn="l"/>
            <a:r>
              <a:rPr sz="1100" b="0">
                <a:solidFill>
                  <a:srgbClr val="5F6B7A"/>
                </a:solidFill>
                <a:latin typeface="Calibri"/>
              </a:rPr>
              <a:t/>
            </a:r>
          </a:p>
        </p:txBody>
      </p:sp>
      <p:sp>
        <p:nvSpPr>
          <p:cNvPr id="31" name="Rectangle 30"/>
          <p:cNvSpPr/>
          <p:nvPr/>
        </p:nvSpPr>
        <p:spPr>
          <a:xfrm>
            <a:off x="4514850" y="1809750"/>
            <a:ext cx="285750" cy="1714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850" y="1809750"/>
            <a:ext cx="285750" cy="171450"/>
          </a:xfrm>
          <a:prstGeom prst="rect">
            <a:avLst/>
          </a:prstGeom>
          <a:noFill/>
        </p:spPr>
        <p:txBody>
          <a:bodyPr wrap="none" lIns="0" rIns="0" tIns="0" bIns="0" anchor="ctr">
            <a:spAutoFit/>
          </a:bodyPr>
          <a:lstStyle/>
          <a:p>
            <a:pPr algn="ctr"/>
            <a:r>
              <a:rPr sz="1100" b="1">
                <a:solidFill>
                  <a:srgbClr val="FFFFFF"/>
                </a:solidFill>
                <a:latin typeface="Calibri"/>
              </a:rPr>
              <a:t>PR</a:t>
            </a:r>
          </a:p>
        </p:txBody>
      </p:sp>
      <p:sp>
        <p:nvSpPr>
          <p:cNvPr id="33" name="TextBox 32"/>
          <p:cNvSpPr txBox="1"/>
          <p:nvPr/>
        </p:nvSpPr>
        <p:spPr>
          <a:xfrm>
            <a:off x="4972050" y="1781175"/>
            <a:ext cx="1181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and R&amp;D</a:t>
            </a:r>
          </a:p>
        </p:txBody>
      </p:sp>
      <p:sp>
        <p:nvSpPr>
          <p:cNvPr id="34" name="TextBox 33"/>
          <p:cNvSpPr txBox="1"/>
          <p:nvPr/>
        </p:nvSpPr>
        <p:spPr>
          <a:xfrm>
            <a:off x="6210300" y="1781175"/>
            <a:ext cx="895350" cy="4381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TMR company profiling</a:t>
            </a:r>
          </a:p>
        </p:txBody>
      </p:sp>
      <p:sp>
        <p:nvSpPr>
          <p:cNvPr id="35" name="TextBox 34"/>
          <p:cNvSpPr txBox="1"/>
          <p:nvPr/>
        </p:nvSpPr>
        <p:spPr>
          <a:xfrm>
            <a:off x="7162800" y="1781175"/>
            <a:ext cx="21336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Capability build ahead of demand</a:t>
            </a:r>
          </a:p>
        </p:txBody>
      </p:sp>
      <p:sp>
        <p:nvSpPr>
          <p:cNvPr id="36" name="TextBox 35"/>
          <p:cNvSpPr txBox="1"/>
          <p:nvPr/>
        </p:nvSpPr>
        <p:spPr>
          <a:xfrm>
            <a:off x="9353550" y="1781175"/>
            <a:ext cx="26289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watch the roadmap</a:t>
            </a:r>
          </a:p>
        </p:txBody>
      </p:sp>
      <p:cxnSp>
        <p:nvCxnSpPr>
          <p:cNvPr id="37" name="Connector 36"/>
          <p:cNvCxnSpPr/>
          <p:nvPr/>
        </p:nvCxnSpPr>
        <p:spPr>
          <a:xfrm>
            <a:off x="190500" y="224790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38" name="Rectangle 37"/>
          <p:cNvSpPr/>
          <p:nvPr/>
        </p:nvSpPr>
        <p:spPr>
          <a:xfrm>
            <a:off x="190500" y="2286000"/>
            <a:ext cx="38100" cy="4191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266700" y="2276475"/>
            <a:ext cx="1238250" cy="438150"/>
          </a:xfrm>
          <a:prstGeom prst="rect">
            <a:avLst/>
          </a:prstGeom>
          <a:noFill/>
        </p:spPr>
        <p:txBody>
          <a:bodyPr wrap="square" lIns="28575" rIns="28575" tIns="9525" bIns="9525" anchor="t">
            <a:spAutoFit/>
          </a:bodyPr>
          <a:lstStyle/>
          <a:p>
            <a:pPr algn="l">
              <a:lnSpc>
                <a:spcPct val="115000"/>
              </a:lnSpc>
            </a:pPr>
            <a:r>
              <a:rPr sz="1100" b="1">
                <a:solidFill>
                  <a:srgbClr val="1F2933"/>
                </a:solidFill>
                <a:latin typeface="Calibri"/>
              </a:rPr>
              <a:t>Biova, LLC</a:t>
            </a:r>
          </a:p>
        </p:txBody>
      </p:sp>
      <p:sp>
        <p:nvSpPr>
          <p:cNvPr id="40" name="TextBox 39"/>
          <p:cNvSpPr txBox="1"/>
          <p:nvPr/>
        </p:nvSpPr>
        <p:spPr>
          <a:xfrm>
            <a:off x="1543050" y="2276475"/>
            <a:ext cx="2324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Acquisition to add scale or capability in South Asia &amp; Pacific</a:t>
            </a:r>
          </a:p>
        </p:txBody>
      </p:sp>
      <p:sp>
        <p:nvSpPr>
          <p:cNvPr id="41" name="TextBox 40"/>
          <p:cNvSpPr txBox="1"/>
          <p:nvPr/>
        </p:nvSpPr>
        <p:spPr>
          <a:xfrm>
            <a:off x="3924300" y="2276475"/>
            <a:ext cx="533400" cy="171450"/>
          </a:xfrm>
          <a:prstGeom prst="rect">
            <a:avLst/>
          </a:prstGeom>
          <a:noFill/>
        </p:spPr>
        <p:txBody>
          <a:bodyPr wrap="none" lIns="0" rIns="0" tIns="0" bIns="0" anchor="t">
            <a:spAutoFit/>
          </a:bodyPr>
          <a:lstStyle/>
          <a:p>
            <a:pPr algn="l"/>
            <a:r>
              <a:rPr sz="1100" b="0">
                <a:solidFill>
                  <a:srgbClr val="5F6B7A"/>
                </a:solidFill>
                <a:latin typeface="Calibri"/>
              </a:rPr>
              <a:t/>
            </a:r>
          </a:p>
        </p:txBody>
      </p:sp>
      <p:sp>
        <p:nvSpPr>
          <p:cNvPr id="42" name="Rectangle 41"/>
          <p:cNvSpPr/>
          <p:nvPr/>
        </p:nvSpPr>
        <p:spPr>
          <a:xfrm>
            <a:off x="4514850" y="2305050"/>
            <a:ext cx="285750" cy="171450"/>
          </a:xfrm>
          <a:prstGeom prst="rect">
            <a:avLst/>
          </a:prstGeom>
          <a:solidFill>
            <a:srgbClr val="8E3A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514850" y="2305050"/>
            <a:ext cx="285750" cy="171450"/>
          </a:xfrm>
          <a:prstGeom prst="rect">
            <a:avLst/>
          </a:prstGeom>
          <a:noFill/>
        </p:spPr>
        <p:txBody>
          <a:bodyPr wrap="none" lIns="0" rIns="0" tIns="0" bIns="0" anchor="ctr">
            <a:spAutoFit/>
          </a:bodyPr>
          <a:lstStyle/>
          <a:p>
            <a:pPr algn="ctr"/>
            <a:r>
              <a:rPr sz="1100" b="1">
                <a:solidFill>
                  <a:srgbClr val="FFFFFF"/>
                </a:solidFill>
                <a:latin typeface="Calibri"/>
              </a:rPr>
              <a:t>MA</a:t>
            </a:r>
          </a:p>
        </p:txBody>
      </p:sp>
      <p:sp>
        <p:nvSpPr>
          <p:cNvPr id="44" name="TextBox 43"/>
          <p:cNvSpPr txBox="1"/>
          <p:nvPr/>
        </p:nvSpPr>
        <p:spPr>
          <a:xfrm>
            <a:off x="4972050" y="2276475"/>
            <a:ext cx="1181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Corporate development</a:t>
            </a:r>
          </a:p>
        </p:txBody>
      </p:sp>
      <p:sp>
        <p:nvSpPr>
          <p:cNvPr id="45" name="TextBox 44"/>
          <p:cNvSpPr txBox="1"/>
          <p:nvPr/>
        </p:nvSpPr>
        <p:spPr>
          <a:xfrm>
            <a:off x="6210300" y="2276475"/>
            <a:ext cx="895350" cy="4381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TMR company profiling</a:t>
            </a:r>
          </a:p>
        </p:txBody>
      </p:sp>
      <p:sp>
        <p:nvSpPr>
          <p:cNvPr id="46" name="TextBox 45"/>
          <p:cNvSpPr txBox="1"/>
          <p:nvPr/>
        </p:nvSpPr>
        <p:spPr>
          <a:xfrm>
            <a:off x="7162800" y="2276475"/>
            <a:ext cx="21336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Consolidation: capability is being bought, not built</a:t>
            </a:r>
          </a:p>
        </p:txBody>
      </p:sp>
      <p:sp>
        <p:nvSpPr>
          <p:cNvPr id="47" name="TextBox 46"/>
          <p:cNvSpPr txBox="1"/>
          <p:nvPr/>
        </p:nvSpPr>
        <p:spPr>
          <a:xfrm>
            <a:off x="9353550" y="2276475"/>
            <a:ext cx="26289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Corporate development: track targets and deal multiples</a:t>
            </a:r>
          </a:p>
        </p:txBody>
      </p:sp>
      <p:cxnSp>
        <p:nvCxnSpPr>
          <p:cNvPr id="48" name="Connector 47"/>
          <p:cNvCxnSpPr/>
          <p:nvPr/>
        </p:nvCxnSpPr>
        <p:spPr>
          <a:xfrm>
            <a:off x="190500" y="274320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49" name="Rectangle 48"/>
          <p:cNvSpPr/>
          <p:nvPr/>
        </p:nvSpPr>
        <p:spPr>
          <a:xfrm>
            <a:off x="190500" y="2781300"/>
            <a:ext cx="38100" cy="4191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266700" y="2771775"/>
            <a:ext cx="1238250" cy="438150"/>
          </a:xfrm>
          <a:prstGeom prst="rect">
            <a:avLst/>
          </a:prstGeom>
          <a:noFill/>
        </p:spPr>
        <p:txBody>
          <a:bodyPr wrap="square" lIns="28575" rIns="28575" tIns="9525" bIns="9525" anchor="t">
            <a:spAutoFit/>
          </a:bodyPr>
          <a:lstStyle/>
          <a:p>
            <a:pPr algn="l">
              <a:lnSpc>
                <a:spcPct val="115000"/>
              </a:lnSpc>
            </a:pPr>
            <a:r>
              <a:rPr sz="1100" b="1">
                <a:solidFill>
                  <a:srgbClr val="1F2933"/>
                </a:solidFill>
                <a:latin typeface="Calibri"/>
              </a:rPr>
              <a:t>Eggnovo S.L.</a:t>
            </a:r>
          </a:p>
        </p:txBody>
      </p:sp>
      <p:sp>
        <p:nvSpPr>
          <p:cNvPr id="51" name="TextBox 50"/>
          <p:cNvSpPr txBox="1"/>
          <p:nvPr/>
        </p:nvSpPr>
        <p:spPr>
          <a:xfrm>
            <a:off x="1543050" y="2771775"/>
            <a:ext cx="2324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development programme in Specialty Extracted Protein Fractions</a:t>
            </a:r>
          </a:p>
        </p:txBody>
      </p:sp>
      <p:sp>
        <p:nvSpPr>
          <p:cNvPr id="52" name="TextBox 51"/>
          <p:cNvSpPr txBox="1"/>
          <p:nvPr/>
        </p:nvSpPr>
        <p:spPr>
          <a:xfrm>
            <a:off x="3924300" y="2771775"/>
            <a:ext cx="533400" cy="171450"/>
          </a:xfrm>
          <a:prstGeom prst="rect">
            <a:avLst/>
          </a:prstGeom>
          <a:noFill/>
        </p:spPr>
        <p:txBody>
          <a:bodyPr wrap="none" lIns="0" rIns="0" tIns="0" bIns="0" anchor="t">
            <a:spAutoFit/>
          </a:bodyPr>
          <a:lstStyle/>
          <a:p>
            <a:pPr algn="l"/>
            <a:r>
              <a:rPr sz="1100" b="0">
                <a:solidFill>
                  <a:srgbClr val="5F6B7A"/>
                </a:solidFill>
                <a:latin typeface="Calibri"/>
              </a:rPr>
              <a:t/>
            </a:r>
          </a:p>
        </p:txBody>
      </p:sp>
      <p:sp>
        <p:nvSpPr>
          <p:cNvPr id="53" name="Rectangle 52"/>
          <p:cNvSpPr/>
          <p:nvPr/>
        </p:nvSpPr>
        <p:spPr>
          <a:xfrm>
            <a:off x="4514850" y="2800350"/>
            <a:ext cx="285750" cy="1714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4514850" y="2800350"/>
            <a:ext cx="285750" cy="171450"/>
          </a:xfrm>
          <a:prstGeom prst="rect">
            <a:avLst/>
          </a:prstGeom>
          <a:noFill/>
        </p:spPr>
        <p:txBody>
          <a:bodyPr wrap="none" lIns="0" rIns="0" tIns="0" bIns="0" anchor="ctr">
            <a:spAutoFit/>
          </a:bodyPr>
          <a:lstStyle/>
          <a:p>
            <a:pPr algn="ctr"/>
            <a:r>
              <a:rPr sz="1100" b="1">
                <a:solidFill>
                  <a:srgbClr val="FFFFFF"/>
                </a:solidFill>
                <a:latin typeface="Calibri"/>
              </a:rPr>
              <a:t>PR</a:t>
            </a:r>
          </a:p>
        </p:txBody>
      </p:sp>
      <p:sp>
        <p:nvSpPr>
          <p:cNvPr id="55" name="TextBox 54"/>
          <p:cNvSpPr txBox="1"/>
          <p:nvPr/>
        </p:nvSpPr>
        <p:spPr>
          <a:xfrm>
            <a:off x="4972050" y="2771775"/>
            <a:ext cx="1181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and R&amp;D</a:t>
            </a:r>
          </a:p>
        </p:txBody>
      </p:sp>
      <p:sp>
        <p:nvSpPr>
          <p:cNvPr id="56" name="TextBox 55"/>
          <p:cNvSpPr txBox="1"/>
          <p:nvPr/>
        </p:nvSpPr>
        <p:spPr>
          <a:xfrm>
            <a:off x="6210300" y="2771775"/>
            <a:ext cx="895350" cy="4381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TMR company profiling</a:t>
            </a:r>
          </a:p>
        </p:txBody>
      </p:sp>
      <p:sp>
        <p:nvSpPr>
          <p:cNvPr id="57" name="TextBox 56"/>
          <p:cNvSpPr txBox="1"/>
          <p:nvPr/>
        </p:nvSpPr>
        <p:spPr>
          <a:xfrm>
            <a:off x="7162800" y="2771775"/>
            <a:ext cx="21336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Capability build ahead of demand</a:t>
            </a:r>
          </a:p>
        </p:txBody>
      </p:sp>
      <p:sp>
        <p:nvSpPr>
          <p:cNvPr id="58" name="TextBox 57"/>
          <p:cNvSpPr txBox="1"/>
          <p:nvPr/>
        </p:nvSpPr>
        <p:spPr>
          <a:xfrm>
            <a:off x="9353550" y="2771775"/>
            <a:ext cx="26289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watch the roadmap</a:t>
            </a:r>
          </a:p>
        </p:txBody>
      </p:sp>
      <p:cxnSp>
        <p:nvCxnSpPr>
          <p:cNvPr id="59" name="Connector 58"/>
          <p:cNvCxnSpPr/>
          <p:nvPr/>
        </p:nvCxnSpPr>
        <p:spPr>
          <a:xfrm>
            <a:off x="190500" y="323850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60" name="Rectangle 59"/>
          <p:cNvSpPr/>
          <p:nvPr/>
        </p:nvSpPr>
        <p:spPr>
          <a:xfrm>
            <a:off x="190500" y="3276600"/>
            <a:ext cx="38100" cy="41910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266700" y="3267075"/>
            <a:ext cx="1238250" cy="438150"/>
          </a:xfrm>
          <a:prstGeom prst="rect">
            <a:avLst/>
          </a:prstGeom>
          <a:noFill/>
        </p:spPr>
        <p:txBody>
          <a:bodyPr wrap="square" lIns="28575" rIns="28575" tIns="9525" bIns="9525" anchor="t">
            <a:spAutoFit/>
          </a:bodyPr>
          <a:lstStyle/>
          <a:p>
            <a:pPr algn="l">
              <a:lnSpc>
                <a:spcPct val="115000"/>
              </a:lnSpc>
            </a:pPr>
            <a:r>
              <a:rPr sz="1100" b="1">
                <a:solidFill>
                  <a:srgbClr val="1F2933"/>
                </a:solidFill>
                <a:latin typeface="Calibri"/>
              </a:rPr>
              <a:t>Dutch Eggmembrane Protein Powder</a:t>
            </a:r>
          </a:p>
        </p:txBody>
      </p:sp>
      <p:sp>
        <p:nvSpPr>
          <p:cNvPr id="62" name="TextBox 61"/>
          <p:cNvSpPr txBox="1"/>
          <p:nvPr/>
        </p:nvSpPr>
        <p:spPr>
          <a:xfrm>
            <a:off x="1543050" y="3267075"/>
            <a:ext cx="2324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Acquisition to add scale or capability in Latin America</a:t>
            </a:r>
          </a:p>
        </p:txBody>
      </p:sp>
      <p:sp>
        <p:nvSpPr>
          <p:cNvPr id="63" name="TextBox 62"/>
          <p:cNvSpPr txBox="1"/>
          <p:nvPr/>
        </p:nvSpPr>
        <p:spPr>
          <a:xfrm>
            <a:off x="3924300" y="3267075"/>
            <a:ext cx="533400" cy="171450"/>
          </a:xfrm>
          <a:prstGeom prst="rect">
            <a:avLst/>
          </a:prstGeom>
          <a:noFill/>
        </p:spPr>
        <p:txBody>
          <a:bodyPr wrap="none" lIns="0" rIns="0" tIns="0" bIns="0" anchor="t">
            <a:spAutoFit/>
          </a:bodyPr>
          <a:lstStyle/>
          <a:p>
            <a:pPr algn="l"/>
            <a:r>
              <a:rPr sz="1100" b="0">
                <a:solidFill>
                  <a:srgbClr val="5F6B7A"/>
                </a:solidFill>
                <a:latin typeface="Calibri"/>
              </a:rPr>
              <a:t/>
            </a:r>
          </a:p>
        </p:txBody>
      </p:sp>
      <p:sp>
        <p:nvSpPr>
          <p:cNvPr id="64" name="Rectangle 63"/>
          <p:cNvSpPr/>
          <p:nvPr/>
        </p:nvSpPr>
        <p:spPr>
          <a:xfrm>
            <a:off x="4514850" y="3295650"/>
            <a:ext cx="285750" cy="171450"/>
          </a:xfrm>
          <a:prstGeom prst="rect">
            <a:avLst/>
          </a:prstGeom>
          <a:solidFill>
            <a:srgbClr val="8E3A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4514850" y="3295650"/>
            <a:ext cx="285750" cy="171450"/>
          </a:xfrm>
          <a:prstGeom prst="rect">
            <a:avLst/>
          </a:prstGeom>
          <a:noFill/>
        </p:spPr>
        <p:txBody>
          <a:bodyPr wrap="none" lIns="0" rIns="0" tIns="0" bIns="0" anchor="ctr">
            <a:spAutoFit/>
          </a:bodyPr>
          <a:lstStyle/>
          <a:p>
            <a:pPr algn="ctr"/>
            <a:r>
              <a:rPr sz="1100" b="1">
                <a:solidFill>
                  <a:srgbClr val="FFFFFF"/>
                </a:solidFill>
                <a:latin typeface="Calibri"/>
              </a:rPr>
              <a:t>MA</a:t>
            </a:r>
          </a:p>
        </p:txBody>
      </p:sp>
      <p:sp>
        <p:nvSpPr>
          <p:cNvPr id="66" name="TextBox 65"/>
          <p:cNvSpPr txBox="1"/>
          <p:nvPr/>
        </p:nvSpPr>
        <p:spPr>
          <a:xfrm>
            <a:off x="4972050" y="3267075"/>
            <a:ext cx="1181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Corporate development</a:t>
            </a:r>
          </a:p>
        </p:txBody>
      </p:sp>
      <p:sp>
        <p:nvSpPr>
          <p:cNvPr id="67" name="TextBox 66"/>
          <p:cNvSpPr txBox="1"/>
          <p:nvPr/>
        </p:nvSpPr>
        <p:spPr>
          <a:xfrm>
            <a:off x="6210300" y="3267075"/>
            <a:ext cx="895350" cy="4381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TMR company profiling</a:t>
            </a:r>
          </a:p>
        </p:txBody>
      </p:sp>
      <p:sp>
        <p:nvSpPr>
          <p:cNvPr id="68" name="TextBox 67"/>
          <p:cNvSpPr txBox="1"/>
          <p:nvPr/>
        </p:nvSpPr>
        <p:spPr>
          <a:xfrm>
            <a:off x="7162800" y="3267075"/>
            <a:ext cx="21336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Consolidation: capability is being bought, not built</a:t>
            </a:r>
          </a:p>
        </p:txBody>
      </p:sp>
      <p:sp>
        <p:nvSpPr>
          <p:cNvPr id="69" name="TextBox 68"/>
          <p:cNvSpPr txBox="1"/>
          <p:nvPr/>
        </p:nvSpPr>
        <p:spPr>
          <a:xfrm>
            <a:off x="9353550" y="3267075"/>
            <a:ext cx="26289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Corporate development: track targets and deal multiples</a:t>
            </a:r>
          </a:p>
        </p:txBody>
      </p:sp>
      <p:cxnSp>
        <p:nvCxnSpPr>
          <p:cNvPr id="70" name="Connector 69"/>
          <p:cNvCxnSpPr/>
          <p:nvPr/>
        </p:nvCxnSpPr>
        <p:spPr>
          <a:xfrm>
            <a:off x="190500" y="373380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71" name="Rectangle 70"/>
          <p:cNvSpPr/>
          <p:nvPr/>
        </p:nvSpPr>
        <p:spPr>
          <a:xfrm>
            <a:off x="190500" y="3771900"/>
            <a:ext cx="38100" cy="41910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266700" y="3762375"/>
            <a:ext cx="1238250" cy="438150"/>
          </a:xfrm>
          <a:prstGeom prst="rect">
            <a:avLst/>
          </a:prstGeom>
          <a:noFill/>
        </p:spPr>
        <p:txBody>
          <a:bodyPr wrap="square" lIns="28575" rIns="28575" tIns="9525" bIns="9525" anchor="t">
            <a:spAutoFit/>
          </a:bodyPr>
          <a:lstStyle/>
          <a:p>
            <a:pPr algn="l">
              <a:lnSpc>
                <a:spcPct val="115000"/>
              </a:lnSpc>
            </a:pPr>
            <a:r>
              <a:rPr sz="1100" b="1">
                <a:solidFill>
                  <a:srgbClr val="1F2933"/>
                </a:solidFill>
                <a:latin typeface="Calibri"/>
              </a:rPr>
              <a:t>Kewpie Corporation</a:t>
            </a:r>
          </a:p>
        </p:txBody>
      </p:sp>
      <p:sp>
        <p:nvSpPr>
          <p:cNvPr id="73" name="TextBox 72"/>
          <p:cNvSpPr txBox="1"/>
          <p:nvPr/>
        </p:nvSpPr>
        <p:spPr>
          <a:xfrm>
            <a:off x="1543050" y="3762375"/>
            <a:ext cx="2324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development programme in Micronized Eggshell Membrane</a:t>
            </a:r>
          </a:p>
        </p:txBody>
      </p:sp>
      <p:sp>
        <p:nvSpPr>
          <p:cNvPr id="74" name="TextBox 73"/>
          <p:cNvSpPr txBox="1"/>
          <p:nvPr/>
        </p:nvSpPr>
        <p:spPr>
          <a:xfrm>
            <a:off x="3924300" y="3762375"/>
            <a:ext cx="533400" cy="171450"/>
          </a:xfrm>
          <a:prstGeom prst="rect">
            <a:avLst/>
          </a:prstGeom>
          <a:noFill/>
        </p:spPr>
        <p:txBody>
          <a:bodyPr wrap="none" lIns="0" rIns="0" tIns="0" bIns="0" anchor="t">
            <a:spAutoFit/>
          </a:bodyPr>
          <a:lstStyle/>
          <a:p>
            <a:pPr algn="l"/>
            <a:r>
              <a:rPr sz="1100" b="0">
                <a:solidFill>
                  <a:srgbClr val="5F6B7A"/>
                </a:solidFill>
                <a:latin typeface="Calibri"/>
              </a:rPr>
              <a:t/>
            </a:r>
          </a:p>
        </p:txBody>
      </p:sp>
      <p:sp>
        <p:nvSpPr>
          <p:cNvPr id="75" name="Rectangle 74"/>
          <p:cNvSpPr/>
          <p:nvPr/>
        </p:nvSpPr>
        <p:spPr>
          <a:xfrm>
            <a:off x="4514850" y="3790950"/>
            <a:ext cx="285750" cy="1714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4514850" y="3790950"/>
            <a:ext cx="285750" cy="171450"/>
          </a:xfrm>
          <a:prstGeom prst="rect">
            <a:avLst/>
          </a:prstGeom>
          <a:noFill/>
        </p:spPr>
        <p:txBody>
          <a:bodyPr wrap="none" lIns="0" rIns="0" tIns="0" bIns="0" anchor="ctr">
            <a:spAutoFit/>
          </a:bodyPr>
          <a:lstStyle/>
          <a:p>
            <a:pPr algn="ctr"/>
            <a:r>
              <a:rPr sz="1100" b="1">
                <a:solidFill>
                  <a:srgbClr val="FFFFFF"/>
                </a:solidFill>
                <a:latin typeface="Calibri"/>
              </a:rPr>
              <a:t>PR</a:t>
            </a:r>
          </a:p>
        </p:txBody>
      </p:sp>
      <p:sp>
        <p:nvSpPr>
          <p:cNvPr id="77" name="TextBox 76"/>
          <p:cNvSpPr txBox="1"/>
          <p:nvPr/>
        </p:nvSpPr>
        <p:spPr>
          <a:xfrm>
            <a:off x="4972050" y="3762375"/>
            <a:ext cx="1181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and R&amp;D</a:t>
            </a:r>
          </a:p>
        </p:txBody>
      </p:sp>
      <p:sp>
        <p:nvSpPr>
          <p:cNvPr id="78" name="TextBox 77"/>
          <p:cNvSpPr txBox="1"/>
          <p:nvPr/>
        </p:nvSpPr>
        <p:spPr>
          <a:xfrm>
            <a:off x="6210300" y="3762375"/>
            <a:ext cx="895350" cy="4381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TMR company profiling</a:t>
            </a:r>
          </a:p>
        </p:txBody>
      </p:sp>
      <p:sp>
        <p:nvSpPr>
          <p:cNvPr id="79" name="TextBox 78"/>
          <p:cNvSpPr txBox="1"/>
          <p:nvPr/>
        </p:nvSpPr>
        <p:spPr>
          <a:xfrm>
            <a:off x="7162800" y="3762375"/>
            <a:ext cx="21336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Capability build ahead of demand</a:t>
            </a:r>
          </a:p>
        </p:txBody>
      </p:sp>
      <p:sp>
        <p:nvSpPr>
          <p:cNvPr id="80" name="TextBox 79"/>
          <p:cNvSpPr txBox="1"/>
          <p:nvPr/>
        </p:nvSpPr>
        <p:spPr>
          <a:xfrm>
            <a:off x="9353550" y="3762375"/>
            <a:ext cx="26289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watch the roadmap</a:t>
            </a:r>
          </a:p>
        </p:txBody>
      </p:sp>
      <p:cxnSp>
        <p:nvCxnSpPr>
          <p:cNvPr id="81" name="Connector 80"/>
          <p:cNvCxnSpPr/>
          <p:nvPr/>
        </p:nvCxnSpPr>
        <p:spPr>
          <a:xfrm>
            <a:off x="190500" y="422910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82" name="Rectangle 81"/>
          <p:cNvSpPr/>
          <p:nvPr/>
        </p:nvSpPr>
        <p:spPr>
          <a:xfrm>
            <a:off x="190500" y="4267200"/>
            <a:ext cx="38100" cy="41910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266700" y="4257675"/>
            <a:ext cx="1238250" cy="438150"/>
          </a:xfrm>
          <a:prstGeom prst="rect">
            <a:avLst/>
          </a:prstGeom>
          <a:noFill/>
        </p:spPr>
        <p:txBody>
          <a:bodyPr wrap="square" lIns="28575" rIns="28575" tIns="9525" bIns="9525" anchor="t">
            <a:spAutoFit/>
          </a:bodyPr>
          <a:lstStyle/>
          <a:p>
            <a:pPr algn="l">
              <a:lnSpc>
                <a:spcPct val="115000"/>
              </a:lnSpc>
            </a:pPr>
            <a:r>
              <a:rPr sz="1100" b="1">
                <a:solidFill>
                  <a:srgbClr val="1F2933"/>
                </a:solidFill>
                <a:latin typeface="Calibri"/>
              </a:rPr>
              <a:t>INNAIN</a:t>
            </a:r>
          </a:p>
        </p:txBody>
      </p:sp>
      <p:sp>
        <p:nvSpPr>
          <p:cNvPr id="84" name="TextBox 83"/>
          <p:cNvSpPr txBox="1"/>
          <p:nvPr/>
        </p:nvSpPr>
        <p:spPr>
          <a:xfrm>
            <a:off x="1543050" y="4257675"/>
            <a:ext cx="2324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Acquisition to add scale or capability in North America</a:t>
            </a:r>
          </a:p>
        </p:txBody>
      </p:sp>
      <p:sp>
        <p:nvSpPr>
          <p:cNvPr id="85" name="TextBox 84"/>
          <p:cNvSpPr txBox="1"/>
          <p:nvPr/>
        </p:nvSpPr>
        <p:spPr>
          <a:xfrm>
            <a:off x="3924300" y="4257675"/>
            <a:ext cx="533400" cy="171450"/>
          </a:xfrm>
          <a:prstGeom prst="rect">
            <a:avLst/>
          </a:prstGeom>
          <a:noFill/>
        </p:spPr>
        <p:txBody>
          <a:bodyPr wrap="none" lIns="0" rIns="0" tIns="0" bIns="0" anchor="t">
            <a:spAutoFit/>
          </a:bodyPr>
          <a:lstStyle/>
          <a:p>
            <a:pPr algn="l"/>
            <a:r>
              <a:rPr sz="1100" b="0">
                <a:solidFill>
                  <a:srgbClr val="5F6B7A"/>
                </a:solidFill>
                <a:latin typeface="Calibri"/>
              </a:rPr>
              <a:t/>
            </a:r>
          </a:p>
        </p:txBody>
      </p:sp>
      <p:sp>
        <p:nvSpPr>
          <p:cNvPr id="86" name="Rectangle 85"/>
          <p:cNvSpPr/>
          <p:nvPr/>
        </p:nvSpPr>
        <p:spPr>
          <a:xfrm>
            <a:off x="4514850" y="4286250"/>
            <a:ext cx="285750" cy="171450"/>
          </a:xfrm>
          <a:prstGeom prst="rect">
            <a:avLst/>
          </a:prstGeom>
          <a:solidFill>
            <a:srgbClr val="8E3A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4514850" y="4286250"/>
            <a:ext cx="285750" cy="171450"/>
          </a:xfrm>
          <a:prstGeom prst="rect">
            <a:avLst/>
          </a:prstGeom>
          <a:noFill/>
        </p:spPr>
        <p:txBody>
          <a:bodyPr wrap="none" lIns="0" rIns="0" tIns="0" bIns="0" anchor="ctr">
            <a:spAutoFit/>
          </a:bodyPr>
          <a:lstStyle/>
          <a:p>
            <a:pPr algn="ctr"/>
            <a:r>
              <a:rPr sz="1100" b="1">
                <a:solidFill>
                  <a:srgbClr val="FFFFFF"/>
                </a:solidFill>
                <a:latin typeface="Calibri"/>
              </a:rPr>
              <a:t>MA</a:t>
            </a:r>
          </a:p>
        </p:txBody>
      </p:sp>
      <p:sp>
        <p:nvSpPr>
          <p:cNvPr id="88" name="TextBox 87"/>
          <p:cNvSpPr txBox="1"/>
          <p:nvPr/>
        </p:nvSpPr>
        <p:spPr>
          <a:xfrm>
            <a:off x="4972050" y="4257675"/>
            <a:ext cx="1181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Corporate development</a:t>
            </a:r>
          </a:p>
        </p:txBody>
      </p:sp>
      <p:sp>
        <p:nvSpPr>
          <p:cNvPr id="89" name="TextBox 88"/>
          <p:cNvSpPr txBox="1"/>
          <p:nvPr/>
        </p:nvSpPr>
        <p:spPr>
          <a:xfrm>
            <a:off x="6210300" y="4257675"/>
            <a:ext cx="895350" cy="4381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TMR company profiling</a:t>
            </a:r>
          </a:p>
        </p:txBody>
      </p:sp>
      <p:sp>
        <p:nvSpPr>
          <p:cNvPr id="90" name="TextBox 89"/>
          <p:cNvSpPr txBox="1"/>
          <p:nvPr/>
        </p:nvSpPr>
        <p:spPr>
          <a:xfrm>
            <a:off x="7162800" y="4257675"/>
            <a:ext cx="21336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Consolidation: capability is being bought, not built</a:t>
            </a:r>
          </a:p>
        </p:txBody>
      </p:sp>
      <p:sp>
        <p:nvSpPr>
          <p:cNvPr id="91" name="TextBox 90"/>
          <p:cNvSpPr txBox="1"/>
          <p:nvPr/>
        </p:nvSpPr>
        <p:spPr>
          <a:xfrm>
            <a:off x="9353550" y="4257675"/>
            <a:ext cx="26289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Corporate development: track targets and deal multiples</a:t>
            </a:r>
          </a:p>
        </p:txBody>
      </p:sp>
      <p:cxnSp>
        <p:nvCxnSpPr>
          <p:cNvPr id="92" name="Connector 91"/>
          <p:cNvCxnSpPr/>
          <p:nvPr/>
        </p:nvCxnSpPr>
        <p:spPr>
          <a:xfrm>
            <a:off x="190500" y="472440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93" name="Rectangle 92"/>
          <p:cNvSpPr/>
          <p:nvPr/>
        </p:nvSpPr>
        <p:spPr>
          <a:xfrm>
            <a:off x="190500" y="4762500"/>
            <a:ext cx="38100" cy="41910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266700" y="4752975"/>
            <a:ext cx="1238250" cy="438150"/>
          </a:xfrm>
          <a:prstGeom prst="rect">
            <a:avLst/>
          </a:prstGeom>
          <a:noFill/>
        </p:spPr>
        <p:txBody>
          <a:bodyPr wrap="square" lIns="28575" rIns="28575" tIns="9525" bIns="9525" anchor="t">
            <a:spAutoFit/>
          </a:bodyPr>
          <a:lstStyle/>
          <a:p>
            <a:pPr algn="l">
              <a:lnSpc>
                <a:spcPct val="115000"/>
              </a:lnSpc>
            </a:pPr>
            <a:r>
              <a:rPr sz="1100" b="1">
                <a:solidFill>
                  <a:srgbClr val="1F2933"/>
                </a:solidFill>
                <a:latin typeface="Calibri"/>
              </a:rPr>
              <a:t>Ecovatec Solutions Inc.</a:t>
            </a:r>
          </a:p>
        </p:txBody>
      </p:sp>
      <p:sp>
        <p:nvSpPr>
          <p:cNvPr id="95" name="TextBox 94"/>
          <p:cNvSpPr txBox="1"/>
          <p:nvPr/>
        </p:nvSpPr>
        <p:spPr>
          <a:xfrm>
            <a:off x="1543050" y="4752975"/>
            <a:ext cx="2324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development programme in Specialty Extracted Protein Fractions</a:t>
            </a:r>
          </a:p>
        </p:txBody>
      </p:sp>
      <p:sp>
        <p:nvSpPr>
          <p:cNvPr id="96" name="TextBox 95"/>
          <p:cNvSpPr txBox="1"/>
          <p:nvPr/>
        </p:nvSpPr>
        <p:spPr>
          <a:xfrm>
            <a:off x="3924300" y="4752975"/>
            <a:ext cx="533400" cy="171450"/>
          </a:xfrm>
          <a:prstGeom prst="rect">
            <a:avLst/>
          </a:prstGeom>
          <a:noFill/>
        </p:spPr>
        <p:txBody>
          <a:bodyPr wrap="none" lIns="0" rIns="0" tIns="0" bIns="0" anchor="t">
            <a:spAutoFit/>
          </a:bodyPr>
          <a:lstStyle/>
          <a:p>
            <a:pPr algn="l"/>
            <a:r>
              <a:rPr sz="1100" b="0">
                <a:solidFill>
                  <a:srgbClr val="5F6B7A"/>
                </a:solidFill>
                <a:latin typeface="Calibri"/>
              </a:rPr>
              <a:t/>
            </a:r>
          </a:p>
        </p:txBody>
      </p:sp>
      <p:sp>
        <p:nvSpPr>
          <p:cNvPr id="97" name="Rectangle 96"/>
          <p:cNvSpPr/>
          <p:nvPr/>
        </p:nvSpPr>
        <p:spPr>
          <a:xfrm>
            <a:off x="4514850" y="4781550"/>
            <a:ext cx="285750" cy="1714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4514850" y="4781550"/>
            <a:ext cx="285750" cy="171450"/>
          </a:xfrm>
          <a:prstGeom prst="rect">
            <a:avLst/>
          </a:prstGeom>
          <a:noFill/>
        </p:spPr>
        <p:txBody>
          <a:bodyPr wrap="none" lIns="0" rIns="0" tIns="0" bIns="0" anchor="ctr">
            <a:spAutoFit/>
          </a:bodyPr>
          <a:lstStyle/>
          <a:p>
            <a:pPr algn="ctr"/>
            <a:r>
              <a:rPr sz="1100" b="1">
                <a:solidFill>
                  <a:srgbClr val="FFFFFF"/>
                </a:solidFill>
                <a:latin typeface="Calibri"/>
              </a:rPr>
              <a:t>PR</a:t>
            </a:r>
          </a:p>
        </p:txBody>
      </p:sp>
      <p:sp>
        <p:nvSpPr>
          <p:cNvPr id="99" name="TextBox 98"/>
          <p:cNvSpPr txBox="1"/>
          <p:nvPr/>
        </p:nvSpPr>
        <p:spPr>
          <a:xfrm>
            <a:off x="4972050" y="4752975"/>
            <a:ext cx="1181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and R&amp;D</a:t>
            </a:r>
          </a:p>
        </p:txBody>
      </p:sp>
      <p:sp>
        <p:nvSpPr>
          <p:cNvPr id="100" name="TextBox 99"/>
          <p:cNvSpPr txBox="1"/>
          <p:nvPr/>
        </p:nvSpPr>
        <p:spPr>
          <a:xfrm>
            <a:off x="6210300" y="4752975"/>
            <a:ext cx="895350" cy="4381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TMR company profiling</a:t>
            </a:r>
          </a:p>
        </p:txBody>
      </p:sp>
      <p:sp>
        <p:nvSpPr>
          <p:cNvPr id="101" name="TextBox 100"/>
          <p:cNvSpPr txBox="1"/>
          <p:nvPr/>
        </p:nvSpPr>
        <p:spPr>
          <a:xfrm>
            <a:off x="7162800" y="4752975"/>
            <a:ext cx="21336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Capability build ahead of demand</a:t>
            </a:r>
          </a:p>
        </p:txBody>
      </p:sp>
      <p:sp>
        <p:nvSpPr>
          <p:cNvPr id="102" name="TextBox 101"/>
          <p:cNvSpPr txBox="1"/>
          <p:nvPr/>
        </p:nvSpPr>
        <p:spPr>
          <a:xfrm>
            <a:off x="9353550" y="4752975"/>
            <a:ext cx="26289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watch the roadmap</a:t>
            </a:r>
          </a:p>
        </p:txBody>
      </p:sp>
      <p:cxnSp>
        <p:nvCxnSpPr>
          <p:cNvPr id="103" name="Connector 102"/>
          <p:cNvCxnSpPr/>
          <p:nvPr/>
        </p:nvCxnSpPr>
        <p:spPr>
          <a:xfrm>
            <a:off x="190500" y="521970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04" name="Rectangle 103"/>
          <p:cNvSpPr/>
          <p:nvPr/>
        </p:nvSpPr>
        <p:spPr>
          <a:xfrm>
            <a:off x="190500" y="5257800"/>
            <a:ext cx="38100" cy="41910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266700" y="5248275"/>
            <a:ext cx="1238250" cy="438150"/>
          </a:xfrm>
          <a:prstGeom prst="rect">
            <a:avLst/>
          </a:prstGeom>
          <a:noFill/>
        </p:spPr>
        <p:txBody>
          <a:bodyPr wrap="square" lIns="28575" rIns="28575" tIns="9525" bIns="9525" anchor="t">
            <a:spAutoFit/>
          </a:bodyPr>
          <a:lstStyle/>
          <a:p>
            <a:pPr algn="l">
              <a:lnSpc>
                <a:spcPct val="115000"/>
              </a:lnSpc>
            </a:pPr>
            <a:r>
              <a:rPr sz="1100" b="1">
                <a:solidFill>
                  <a:srgbClr val="1F2933"/>
                </a:solidFill>
                <a:latin typeface="Calibri"/>
              </a:rPr>
              <a:t>Biovotec</a:t>
            </a:r>
          </a:p>
        </p:txBody>
      </p:sp>
      <p:sp>
        <p:nvSpPr>
          <p:cNvPr id="106" name="TextBox 105"/>
          <p:cNvSpPr txBox="1"/>
          <p:nvPr/>
        </p:nvSpPr>
        <p:spPr>
          <a:xfrm>
            <a:off x="1543050" y="5248275"/>
            <a:ext cx="2324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Acquisition to add scale or capability in South Asia &amp; Pacific</a:t>
            </a:r>
          </a:p>
        </p:txBody>
      </p:sp>
      <p:sp>
        <p:nvSpPr>
          <p:cNvPr id="107" name="TextBox 106"/>
          <p:cNvSpPr txBox="1"/>
          <p:nvPr/>
        </p:nvSpPr>
        <p:spPr>
          <a:xfrm>
            <a:off x="3924300" y="5248275"/>
            <a:ext cx="533400" cy="171450"/>
          </a:xfrm>
          <a:prstGeom prst="rect">
            <a:avLst/>
          </a:prstGeom>
          <a:noFill/>
        </p:spPr>
        <p:txBody>
          <a:bodyPr wrap="none" lIns="0" rIns="0" tIns="0" bIns="0" anchor="t">
            <a:spAutoFit/>
          </a:bodyPr>
          <a:lstStyle/>
          <a:p>
            <a:pPr algn="l"/>
            <a:r>
              <a:rPr sz="1100" b="0">
                <a:solidFill>
                  <a:srgbClr val="5F6B7A"/>
                </a:solidFill>
                <a:latin typeface="Calibri"/>
              </a:rPr>
              <a:t/>
            </a:r>
          </a:p>
        </p:txBody>
      </p:sp>
      <p:sp>
        <p:nvSpPr>
          <p:cNvPr id="108" name="Rectangle 107"/>
          <p:cNvSpPr/>
          <p:nvPr/>
        </p:nvSpPr>
        <p:spPr>
          <a:xfrm>
            <a:off x="4514850" y="5276850"/>
            <a:ext cx="285750" cy="171450"/>
          </a:xfrm>
          <a:prstGeom prst="rect">
            <a:avLst/>
          </a:prstGeom>
          <a:solidFill>
            <a:srgbClr val="8E3A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4514850" y="5276850"/>
            <a:ext cx="285750" cy="171450"/>
          </a:xfrm>
          <a:prstGeom prst="rect">
            <a:avLst/>
          </a:prstGeom>
          <a:noFill/>
        </p:spPr>
        <p:txBody>
          <a:bodyPr wrap="none" lIns="0" rIns="0" tIns="0" bIns="0" anchor="ctr">
            <a:spAutoFit/>
          </a:bodyPr>
          <a:lstStyle/>
          <a:p>
            <a:pPr algn="ctr"/>
            <a:r>
              <a:rPr sz="1100" b="1">
                <a:solidFill>
                  <a:srgbClr val="FFFFFF"/>
                </a:solidFill>
                <a:latin typeface="Calibri"/>
              </a:rPr>
              <a:t>MA</a:t>
            </a:r>
          </a:p>
        </p:txBody>
      </p:sp>
      <p:sp>
        <p:nvSpPr>
          <p:cNvPr id="110" name="TextBox 109"/>
          <p:cNvSpPr txBox="1"/>
          <p:nvPr/>
        </p:nvSpPr>
        <p:spPr>
          <a:xfrm>
            <a:off x="4972050" y="5248275"/>
            <a:ext cx="1181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Corporate development</a:t>
            </a:r>
          </a:p>
        </p:txBody>
      </p:sp>
      <p:sp>
        <p:nvSpPr>
          <p:cNvPr id="111" name="TextBox 110"/>
          <p:cNvSpPr txBox="1"/>
          <p:nvPr/>
        </p:nvSpPr>
        <p:spPr>
          <a:xfrm>
            <a:off x="6210300" y="5248275"/>
            <a:ext cx="895350" cy="4381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TMR company profiling</a:t>
            </a:r>
          </a:p>
        </p:txBody>
      </p:sp>
      <p:sp>
        <p:nvSpPr>
          <p:cNvPr id="112" name="TextBox 111"/>
          <p:cNvSpPr txBox="1"/>
          <p:nvPr/>
        </p:nvSpPr>
        <p:spPr>
          <a:xfrm>
            <a:off x="7162800" y="5248275"/>
            <a:ext cx="21336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Consolidation: capability is being bought, not built</a:t>
            </a:r>
          </a:p>
        </p:txBody>
      </p:sp>
      <p:sp>
        <p:nvSpPr>
          <p:cNvPr id="113" name="TextBox 112"/>
          <p:cNvSpPr txBox="1"/>
          <p:nvPr/>
        </p:nvSpPr>
        <p:spPr>
          <a:xfrm>
            <a:off x="9353550" y="5248275"/>
            <a:ext cx="26289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Corporate development: track targets and deal multiples</a:t>
            </a:r>
          </a:p>
        </p:txBody>
      </p:sp>
      <p:cxnSp>
        <p:nvCxnSpPr>
          <p:cNvPr id="114" name="Connector 113"/>
          <p:cNvCxnSpPr/>
          <p:nvPr/>
        </p:nvCxnSpPr>
        <p:spPr>
          <a:xfrm>
            <a:off x="190500" y="571500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15" name="Rectangle 114"/>
          <p:cNvSpPr/>
          <p:nvPr/>
        </p:nvSpPr>
        <p:spPr>
          <a:xfrm>
            <a:off x="190500" y="5753100"/>
            <a:ext cx="38100" cy="41910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TextBox 115"/>
          <p:cNvSpPr txBox="1"/>
          <p:nvPr/>
        </p:nvSpPr>
        <p:spPr>
          <a:xfrm>
            <a:off x="266700" y="5743575"/>
            <a:ext cx="1238250" cy="438150"/>
          </a:xfrm>
          <a:prstGeom prst="rect">
            <a:avLst/>
          </a:prstGeom>
          <a:noFill/>
        </p:spPr>
        <p:txBody>
          <a:bodyPr wrap="square" lIns="28575" rIns="28575" tIns="9525" bIns="9525" anchor="t">
            <a:spAutoFit/>
          </a:bodyPr>
          <a:lstStyle/>
          <a:p>
            <a:pPr algn="l">
              <a:lnSpc>
                <a:spcPct val="115000"/>
              </a:lnSpc>
            </a:pPr>
            <a:r>
              <a:rPr sz="1100" b="1">
                <a:solidFill>
                  <a:srgbClr val="1F2933"/>
                </a:solidFill>
                <a:latin typeface="Calibri"/>
              </a:rPr>
              <a:t>Microcore Research Laboratories India Pvt. Ltd.</a:t>
            </a:r>
          </a:p>
        </p:txBody>
      </p:sp>
      <p:sp>
        <p:nvSpPr>
          <p:cNvPr id="117" name="TextBox 116"/>
          <p:cNvSpPr txBox="1"/>
          <p:nvPr/>
        </p:nvSpPr>
        <p:spPr>
          <a:xfrm>
            <a:off x="1543050" y="5743575"/>
            <a:ext cx="2324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development programme in Micronized Eggshell Membrane</a:t>
            </a:r>
          </a:p>
        </p:txBody>
      </p:sp>
      <p:sp>
        <p:nvSpPr>
          <p:cNvPr id="118" name="TextBox 117"/>
          <p:cNvSpPr txBox="1"/>
          <p:nvPr/>
        </p:nvSpPr>
        <p:spPr>
          <a:xfrm>
            <a:off x="3924300" y="5743575"/>
            <a:ext cx="533400" cy="171450"/>
          </a:xfrm>
          <a:prstGeom prst="rect">
            <a:avLst/>
          </a:prstGeom>
          <a:noFill/>
        </p:spPr>
        <p:txBody>
          <a:bodyPr wrap="none" lIns="0" rIns="0" tIns="0" bIns="0" anchor="t">
            <a:spAutoFit/>
          </a:bodyPr>
          <a:lstStyle/>
          <a:p>
            <a:pPr algn="l"/>
            <a:r>
              <a:rPr sz="1100" b="0">
                <a:solidFill>
                  <a:srgbClr val="5F6B7A"/>
                </a:solidFill>
                <a:latin typeface="Calibri"/>
              </a:rPr>
              <a:t/>
            </a:r>
          </a:p>
        </p:txBody>
      </p:sp>
      <p:sp>
        <p:nvSpPr>
          <p:cNvPr id="119" name="Rectangle 118"/>
          <p:cNvSpPr/>
          <p:nvPr/>
        </p:nvSpPr>
        <p:spPr>
          <a:xfrm>
            <a:off x="4514850" y="5772150"/>
            <a:ext cx="285750" cy="1714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TextBox 119"/>
          <p:cNvSpPr txBox="1"/>
          <p:nvPr/>
        </p:nvSpPr>
        <p:spPr>
          <a:xfrm>
            <a:off x="4514850" y="5772150"/>
            <a:ext cx="285750" cy="171450"/>
          </a:xfrm>
          <a:prstGeom prst="rect">
            <a:avLst/>
          </a:prstGeom>
          <a:noFill/>
        </p:spPr>
        <p:txBody>
          <a:bodyPr wrap="none" lIns="0" rIns="0" tIns="0" bIns="0" anchor="ctr">
            <a:spAutoFit/>
          </a:bodyPr>
          <a:lstStyle/>
          <a:p>
            <a:pPr algn="ctr"/>
            <a:r>
              <a:rPr sz="1100" b="1">
                <a:solidFill>
                  <a:srgbClr val="FFFFFF"/>
                </a:solidFill>
                <a:latin typeface="Calibri"/>
              </a:rPr>
              <a:t>PR</a:t>
            </a:r>
          </a:p>
        </p:txBody>
      </p:sp>
      <p:sp>
        <p:nvSpPr>
          <p:cNvPr id="121" name="TextBox 120"/>
          <p:cNvSpPr txBox="1"/>
          <p:nvPr/>
        </p:nvSpPr>
        <p:spPr>
          <a:xfrm>
            <a:off x="4972050" y="5743575"/>
            <a:ext cx="1181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and R&amp;D</a:t>
            </a:r>
          </a:p>
        </p:txBody>
      </p:sp>
      <p:sp>
        <p:nvSpPr>
          <p:cNvPr id="122" name="TextBox 121"/>
          <p:cNvSpPr txBox="1"/>
          <p:nvPr/>
        </p:nvSpPr>
        <p:spPr>
          <a:xfrm>
            <a:off x="6210300" y="5743575"/>
            <a:ext cx="895350" cy="4381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TMR company profiling</a:t>
            </a:r>
          </a:p>
        </p:txBody>
      </p:sp>
      <p:sp>
        <p:nvSpPr>
          <p:cNvPr id="123" name="TextBox 122"/>
          <p:cNvSpPr txBox="1"/>
          <p:nvPr/>
        </p:nvSpPr>
        <p:spPr>
          <a:xfrm>
            <a:off x="7162800" y="5743575"/>
            <a:ext cx="21336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Capability build ahead of demand</a:t>
            </a:r>
          </a:p>
        </p:txBody>
      </p:sp>
      <p:sp>
        <p:nvSpPr>
          <p:cNvPr id="124" name="TextBox 123"/>
          <p:cNvSpPr txBox="1"/>
          <p:nvPr/>
        </p:nvSpPr>
        <p:spPr>
          <a:xfrm>
            <a:off x="9353550" y="5743575"/>
            <a:ext cx="26289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watch the roadmap</a:t>
            </a:r>
          </a:p>
        </p:txBody>
      </p:sp>
      <p:cxnSp>
        <p:nvCxnSpPr>
          <p:cNvPr id="125" name="Connector 124"/>
          <p:cNvCxnSpPr/>
          <p:nvPr/>
        </p:nvCxnSpPr>
        <p:spPr>
          <a:xfrm>
            <a:off x="190500" y="621030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26" name="Rectangle 125"/>
          <p:cNvSpPr/>
          <p:nvPr/>
        </p:nvSpPr>
        <p:spPr>
          <a:xfrm>
            <a:off x="190500" y="6276975"/>
            <a:ext cx="285750" cy="152400"/>
          </a:xfrm>
          <a:prstGeom prst="rect">
            <a:avLst/>
          </a:prstGeom>
          <a:solidFill>
            <a:srgbClr val="8E3A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extBox 126"/>
          <p:cNvSpPr txBox="1"/>
          <p:nvPr/>
        </p:nvSpPr>
        <p:spPr>
          <a:xfrm>
            <a:off x="190500" y="6276975"/>
            <a:ext cx="285750" cy="152400"/>
          </a:xfrm>
          <a:prstGeom prst="rect">
            <a:avLst/>
          </a:prstGeom>
          <a:noFill/>
        </p:spPr>
        <p:txBody>
          <a:bodyPr wrap="none" lIns="0" rIns="0" tIns="0" bIns="0" anchor="ctr">
            <a:spAutoFit/>
          </a:bodyPr>
          <a:lstStyle/>
          <a:p>
            <a:pPr algn="ctr"/>
            <a:r>
              <a:rPr sz="1100" b="1">
                <a:solidFill>
                  <a:srgbClr val="FFFFFF"/>
                </a:solidFill>
                <a:latin typeface="Calibri"/>
              </a:rPr>
              <a:t>MA</a:t>
            </a:r>
          </a:p>
        </p:txBody>
      </p:sp>
      <p:sp>
        <p:nvSpPr>
          <p:cNvPr id="128" name="TextBox 127"/>
          <p:cNvSpPr txBox="1"/>
          <p:nvPr/>
        </p:nvSpPr>
        <p:spPr>
          <a:xfrm>
            <a:off x="514350" y="6257925"/>
            <a:ext cx="1619250" cy="190500"/>
          </a:xfrm>
          <a:prstGeom prst="rect">
            <a:avLst/>
          </a:prstGeom>
          <a:noFill/>
        </p:spPr>
        <p:txBody>
          <a:bodyPr wrap="square" lIns="28575" rIns="28575" tIns="9525" bIns="9525" anchor="t">
            <a:spAutoFit/>
          </a:bodyPr>
          <a:lstStyle/>
          <a:p>
            <a:pPr algn="l"/>
            <a:r>
              <a:rPr sz="1100" b="0">
                <a:solidFill>
                  <a:srgbClr val="1F2933"/>
                </a:solidFill>
                <a:latin typeface="Calibri"/>
              </a:rPr>
              <a:t>M&amp;A</a:t>
            </a:r>
          </a:p>
        </p:txBody>
      </p:sp>
      <p:sp>
        <p:nvSpPr>
          <p:cNvPr id="129" name="Rectangle 128"/>
          <p:cNvSpPr/>
          <p:nvPr/>
        </p:nvSpPr>
        <p:spPr>
          <a:xfrm>
            <a:off x="923925" y="6276975"/>
            <a:ext cx="285750" cy="1524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TextBox 129"/>
          <p:cNvSpPr txBox="1"/>
          <p:nvPr/>
        </p:nvSpPr>
        <p:spPr>
          <a:xfrm>
            <a:off x="923925" y="6276975"/>
            <a:ext cx="285750" cy="152400"/>
          </a:xfrm>
          <a:prstGeom prst="rect">
            <a:avLst/>
          </a:prstGeom>
          <a:noFill/>
        </p:spPr>
        <p:txBody>
          <a:bodyPr wrap="none" lIns="0" rIns="0" tIns="0" bIns="0" anchor="ctr">
            <a:spAutoFit/>
          </a:bodyPr>
          <a:lstStyle/>
          <a:p>
            <a:pPr algn="ctr"/>
            <a:r>
              <a:rPr sz="1100" b="1">
                <a:solidFill>
                  <a:srgbClr val="FFFFFF"/>
                </a:solidFill>
                <a:latin typeface="Calibri"/>
              </a:rPr>
              <a:t>PR</a:t>
            </a:r>
          </a:p>
        </p:txBody>
      </p:sp>
      <p:sp>
        <p:nvSpPr>
          <p:cNvPr id="131" name="TextBox 130"/>
          <p:cNvSpPr txBox="1"/>
          <p:nvPr/>
        </p:nvSpPr>
        <p:spPr>
          <a:xfrm>
            <a:off x="1247775" y="6257925"/>
            <a:ext cx="1619250" cy="190500"/>
          </a:xfrm>
          <a:prstGeom prst="rect">
            <a:avLst/>
          </a:prstGeom>
          <a:noFill/>
        </p:spPr>
        <p:txBody>
          <a:bodyPr wrap="square" lIns="28575" rIns="28575" tIns="9525" bIns="9525" anchor="t">
            <a:spAutoFit/>
          </a:bodyPr>
          <a:lstStyle/>
          <a:p>
            <a:pPr algn="l"/>
            <a:r>
              <a:rPr sz="1100" b="0">
                <a:solidFill>
                  <a:srgbClr val="1F2933"/>
                </a:solidFill>
                <a:latin typeface="Calibri"/>
              </a:rPr>
              <a:t>Product / portfolio</a:t>
            </a:r>
          </a:p>
        </p:txBody>
      </p:sp>
      <p:sp>
        <p:nvSpPr>
          <p:cNvPr id="132" name="Rectangle 131"/>
          <p:cNvSpPr/>
          <p:nvPr/>
        </p:nvSpPr>
        <p:spPr>
          <a:xfrm>
            <a:off x="2724150" y="6276975"/>
            <a:ext cx="285750" cy="152400"/>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TextBox 132"/>
          <p:cNvSpPr txBox="1"/>
          <p:nvPr/>
        </p:nvSpPr>
        <p:spPr>
          <a:xfrm>
            <a:off x="2724150" y="6276975"/>
            <a:ext cx="285750" cy="152400"/>
          </a:xfrm>
          <a:prstGeom prst="rect">
            <a:avLst/>
          </a:prstGeom>
          <a:noFill/>
        </p:spPr>
        <p:txBody>
          <a:bodyPr wrap="none" lIns="0" rIns="0" tIns="0" bIns="0" anchor="ctr">
            <a:spAutoFit/>
          </a:bodyPr>
          <a:lstStyle/>
          <a:p>
            <a:pPr algn="ctr"/>
            <a:r>
              <a:rPr sz="1100" b="1">
                <a:solidFill>
                  <a:srgbClr val="FFFFFF"/>
                </a:solidFill>
                <a:latin typeface="Calibri"/>
              </a:rPr>
              <a:t>EX</a:t>
            </a:r>
          </a:p>
        </p:txBody>
      </p:sp>
      <p:sp>
        <p:nvSpPr>
          <p:cNvPr id="134" name="TextBox 133"/>
          <p:cNvSpPr txBox="1"/>
          <p:nvPr/>
        </p:nvSpPr>
        <p:spPr>
          <a:xfrm>
            <a:off x="3048000" y="6257925"/>
            <a:ext cx="1619250" cy="190500"/>
          </a:xfrm>
          <a:prstGeom prst="rect">
            <a:avLst/>
          </a:prstGeom>
          <a:noFill/>
        </p:spPr>
        <p:txBody>
          <a:bodyPr wrap="square" lIns="28575" rIns="28575" tIns="9525" bIns="9525" anchor="t">
            <a:spAutoFit/>
          </a:bodyPr>
          <a:lstStyle/>
          <a:p>
            <a:pPr algn="l"/>
            <a:r>
              <a:rPr sz="1100" b="0">
                <a:solidFill>
                  <a:srgbClr val="1F2933"/>
                </a:solidFill>
                <a:latin typeface="Calibri"/>
              </a:rPr>
              <a:t>Expansion</a:t>
            </a:r>
          </a:p>
        </p:txBody>
      </p:sp>
      <p:sp>
        <p:nvSpPr>
          <p:cNvPr id="135" name="Rectangle 134"/>
          <p:cNvSpPr/>
          <p:nvPr/>
        </p:nvSpPr>
        <p:spPr>
          <a:xfrm>
            <a:off x="3857625" y="6276975"/>
            <a:ext cx="285750" cy="15240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TextBox 135"/>
          <p:cNvSpPr txBox="1"/>
          <p:nvPr/>
        </p:nvSpPr>
        <p:spPr>
          <a:xfrm>
            <a:off x="3857625" y="6276975"/>
            <a:ext cx="285750" cy="152400"/>
          </a:xfrm>
          <a:prstGeom prst="rect">
            <a:avLst/>
          </a:prstGeom>
          <a:noFill/>
        </p:spPr>
        <p:txBody>
          <a:bodyPr wrap="none" lIns="0" rIns="0" tIns="0" bIns="0" anchor="ctr">
            <a:spAutoFit/>
          </a:bodyPr>
          <a:lstStyle/>
          <a:p>
            <a:pPr algn="ctr"/>
            <a:r>
              <a:rPr sz="1100" b="1">
                <a:solidFill>
                  <a:srgbClr val="FFFFFF"/>
                </a:solidFill>
                <a:latin typeface="Calibri"/>
              </a:rPr>
              <a:t>RD</a:t>
            </a:r>
          </a:p>
        </p:txBody>
      </p:sp>
      <p:sp>
        <p:nvSpPr>
          <p:cNvPr id="137" name="TextBox 136"/>
          <p:cNvSpPr txBox="1"/>
          <p:nvPr/>
        </p:nvSpPr>
        <p:spPr>
          <a:xfrm>
            <a:off x="4181475" y="6257925"/>
            <a:ext cx="1619250" cy="190500"/>
          </a:xfrm>
          <a:prstGeom prst="rect">
            <a:avLst/>
          </a:prstGeom>
          <a:noFill/>
        </p:spPr>
        <p:txBody>
          <a:bodyPr wrap="square" lIns="28575" rIns="28575" tIns="9525" bIns="9525" anchor="t">
            <a:spAutoFit/>
          </a:bodyPr>
          <a:lstStyle/>
          <a:p>
            <a:pPr algn="l"/>
            <a:r>
              <a:rPr sz="1100" b="0">
                <a:solidFill>
                  <a:srgbClr val="1F2933"/>
                </a:solidFill>
                <a:latin typeface="Calibri"/>
              </a:rPr>
              <a:t>R&amp;D / technology</a:t>
            </a:r>
          </a:p>
        </p:txBody>
      </p:sp>
      <p:sp>
        <p:nvSpPr>
          <p:cNvPr id="138" name="Rectangle 137"/>
          <p:cNvSpPr/>
          <p:nvPr/>
        </p:nvSpPr>
        <p:spPr>
          <a:xfrm>
            <a:off x="5457825" y="6276975"/>
            <a:ext cx="285750" cy="1524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TextBox 138"/>
          <p:cNvSpPr txBox="1"/>
          <p:nvPr/>
        </p:nvSpPr>
        <p:spPr>
          <a:xfrm>
            <a:off x="5457825" y="6276975"/>
            <a:ext cx="285750" cy="152400"/>
          </a:xfrm>
          <a:prstGeom prst="rect">
            <a:avLst/>
          </a:prstGeom>
          <a:noFill/>
        </p:spPr>
        <p:txBody>
          <a:bodyPr wrap="none" lIns="0" rIns="0" tIns="0" bIns="0" anchor="ctr">
            <a:spAutoFit/>
          </a:bodyPr>
          <a:lstStyle/>
          <a:p>
            <a:pPr algn="ctr"/>
            <a:r>
              <a:rPr sz="1100" b="1">
                <a:solidFill>
                  <a:srgbClr val="FFFFFF"/>
                </a:solidFill>
                <a:latin typeface="Calibri"/>
              </a:rPr>
              <a:t>RG</a:t>
            </a:r>
          </a:p>
        </p:txBody>
      </p:sp>
      <p:sp>
        <p:nvSpPr>
          <p:cNvPr id="140" name="TextBox 139"/>
          <p:cNvSpPr txBox="1"/>
          <p:nvPr/>
        </p:nvSpPr>
        <p:spPr>
          <a:xfrm>
            <a:off x="5781675" y="6257925"/>
            <a:ext cx="1619250" cy="190500"/>
          </a:xfrm>
          <a:prstGeom prst="rect">
            <a:avLst/>
          </a:prstGeom>
          <a:noFill/>
        </p:spPr>
        <p:txBody>
          <a:bodyPr wrap="square" lIns="28575" rIns="28575" tIns="9525" bIns="9525" anchor="t">
            <a:spAutoFit/>
          </a:bodyPr>
          <a:lstStyle/>
          <a:p>
            <a:pPr algn="l"/>
            <a:r>
              <a:rPr sz="1100" b="0">
                <a:solidFill>
                  <a:srgbClr val="1F2933"/>
                </a:solidFill>
                <a:latin typeface="Calibri"/>
              </a:rPr>
              <a:t>Regulation / compliance</a:t>
            </a:r>
          </a:p>
        </p:txBody>
      </p:sp>
      <p:sp>
        <p:nvSpPr>
          <p:cNvPr id="141" name="Rectangle 140"/>
          <p:cNvSpPr/>
          <p:nvPr/>
        </p:nvSpPr>
        <p:spPr>
          <a:xfrm>
            <a:off x="7524750" y="6276975"/>
            <a:ext cx="285750" cy="152400"/>
          </a:xfrm>
          <a:prstGeom prst="rect">
            <a:avLst/>
          </a:prstGeom>
          <a:solidFill>
            <a:srgbClr val="1776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TextBox 141"/>
          <p:cNvSpPr txBox="1"/>
          <p:nvPr/>
        </p:nvSpPr>
        <p:spPr>
          <a:xfrm>
            <a:off x="7524750" y="6276975"/>
            <a:ext cx="285750" cy="152400"/>
          </a:xfrm>
          <a:prstGeom prst="rect">
            <a:avLst/>
          </a:prstGeom>
          <a:noFill/>
        </p:spPr>
        <p:txBody>
          <a:bodyPr wrap="none" lIns="0" rIns="0" tIns="0" bIns="0" anchor="ctr">
            <a:spAutoFit/>
          </a:bodyPr>
          <a:lstStyle/>
          <a:p>
            <a:pPr algn="ctr"/>
            <a:r>
              <a:rPr sz="1100" b="1">
                <a:solidFill>
                  <a:srgbClr val="FFFFFF"/>
                </a:solidFill>
                <a:latin typeface="Calibri"/>
              </a:rPr>
              <a:t>CP</a:t>
            </a:r>
          </a:p>
        </p:txBody>
      </p:sp>
      <p:sp>
        <p:nvSpPr>
          <p:cNvPr id="143" name="TextBox 142"/>
          <p:cNvSpPr txBox="1"/>
          <p:nvPr/>
        </p:nvSpPr>
        <p:spPr>
          <a:xfrm>
            <a:off x="7848600" y="6257925"/>
            <a:ext cx="1619250" cy="190500"/>
          </a:xfrm>
          <a:prstGeom prst="rect">
            <a:avLst/>
          </a:prstGeom>
          <a:noFill/>
        </p:spPr>
        <p:txBody>
          <a:bodyPr wrap="square" lIns="28575" rIns="28575" tIns="9525" bIns="9525" anchor="t">
            <a:spAutoFit/>
          </a:bodyPr>
          <a:lstStyle/>
          <a:p>
            <a:pPr algn="l"/>
            <a:r>
              <a:rPr sz="1100" b="0">
                <a:solidFill>
                  <a:srgbClr val="1F2933"/>
                </a:solidFill>
                <a:latin typeface="Calibri"/>
              </a:rPr>
              <a:t>Capital / funding</a:t>
            </a:r>
          </a:p>
        </p:txBody>
      </p:sp>
      <p:sp>
        <p:nvSpPr>
          <p:cNvPr id="144" name="TextBox 143"/>
          <p:cNvSpPr txBox="1"/>
          <p:nvPr/>
        </p:nvSpPr>
        <p:spPr>
          <a:xfrm>
            <a:off x="190500" y="6457950"/>
            <a:ext cx="11811000" cy="171450"/>
          </a:xfrm>
          <a:prstGeom prst="rect">
            <a:avLst/>
          </a:prstGeom>
          <a:noFill/>
        </p:spPr>
        <p:txBody>
          <a:bodyPr wrap="square" lIns="28575" rIns="28575" tIns="9525" bIns="9525" anchor="t">
            <a:spAutoFit/>
          </a:bodyPr>
          <a:lstStyle/>
          <a:p>
            <a:pPr algn="l"/>
            <a:r>
              <a:rPr sz="1100" b="0">
                <a:solidFill>
                  <a:srgbClr val="5F6B7A"/>
                </a:solidFill>
                <a:latin typeface="Calibri"/>
              </a:rPr>
              <a:t>Dates, deal values and evidence sources populate from the research feed; until then each row reads the player's most telling active strategy.</a:t>
            </a:r>
          </a:p>
        </p:txBody>
      </p:sp>
      <p:sp>
        <p:nvSpPr>
          <p:cNvPr id="145" name="Rectangle 144"/>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TextBox 14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47" name="Picture 146" descr="lock.png"/>
          <p:cNvPicPr>
            <a:picLocks noChangeAspect="1"/>
          </p:cNvPicPr>
          <p:nvPr/>
        </p:nvPicPr>
        <p:blipFill>
          <a:blip r:embed="rId4"/>
          <a:stretch>
            <a:fillRect/>
          </a:stretch>
        </p:blipFill>
        <p:spPr>
          <a:xfrm>
            <a:off x="4126650" y="1278001"/>
            <a:ext cx="128699" cy="187198"/>
          </a:xfrm>
          <a:prstGeom prst="rect">
            <a:avLst/>
          </a:prstGeom>
        </p:spPr>
      </p:pic>
      <p:pic>
        <p:nvPicPr>
          <p:cNvPr id="148" name="Picture 147" descr="lock.png"/>
          <p:cNvPicPr>
            <a:picLocks noChangeAspect="1"/>
          </p:cNvPicPr>
          <p:nvPr/>
        </p:nvPicPr>
        <p:blipFill>
          <a:blip r:embed="rId4"/>
          <a:stretch>
            <a:fillRect/>
          </a:stretch>
        </p:blipFill>
        <p:spPr>
          <a:xfrm>
            <a:off x="4126650" y="1773301"/>
            <a:ext cx="128699" cy="187198"/>
          </a:xfrm>
          <a:prstGeom prst="rect">
            <a:avLst/>
          </a:prstGeom>
        </p:spPr>
      </p:pic>
      <p:pic>
        <p:nvPicPr>
          <p:cNvPr id="149" name="Picture 148" descr="lock.png"/>
          <p:cNvPicPr>
            <a:picLocks noChangeAspect="1"/>
          </p:cNvPicPr>
          <p:nvPr/>
        </p:nvPicPr>
        <p:blipFill>
          <a:blip r:embed="rId4"/>
          <a:stretch>
            <a:fillRect/>
          </a:stretch>
        </p:blipFill>
        <p:spPr>
          <a:xfrm>
            <a:off x="4126650" y="2268601"/>
            <a:ext cx="128699" cy="187198"/>
          </a:xfrm>
          <a:prstGeom prst="rect">
            <a:avLst/>
          </a:prstGeom>
        </p:spPr>
      </p:pic>
      <p:pic>
        <p:nvPicPr>
          <p:cNvPr id="150" name="Picture 149" descr="lock.png"/>
          <p:cNvPicPr>
            <a:picLocks noChangeAspect="1"/>
          </p:cNvPicPr>
          <p:nvPr/>
        </p:nvPicPr>
        <p:blipFill>
          <a:blip r:embed="rId4"/>
          <a:stretch>
            <a:fillRect/>
          </a:stretch>
        </p:blipFill>
        <p:spPr>
          <a:xfrm>
            <a:off x="4126650" y="2763901"/>
            <a:ext cx="128699" cy="187198"/>
          </a:xfrm>
          <a:prstGeom prst="rect">
            <a:avLst/>
          </a:prstGeom>
        </p:spPr>
      </p:pic>
      <p:pic>
        <p:nvPicPr>
          <p:cNvPr id="151" name="Picture 150" descr="lock.png"/>
          <p:cNvPicPr>
            <a:picLocks noChangeAspect="1"/>
          </p:cNvPicPr>
          <p:nvPr/>
        </p:nvPicPr>
        <p:blipFill>
          <a:blip r:embed="rId4"/>
          <a:stretch>
            <a:fillRect/>
          </a:stretch>
        </p:blipFill>
        <p:spPr>
          <a:xfrm>
            <a:off x="4126650" y="3259201"/>
            <a:ext cx="128699" cy="187198"/>
          </a:xfrm>
          <a:prstGeom prst="rect">
            <a:avLst/>
          </a:prstGeom>
        </p:spPr>
      </p:pic>
      <p:pic>
        <p:nvPicPr>
          <p:cNvPr id="152" name="Picture 151" descr="lock.png"/>
          <p:cNvPicPr>
            <a:picLocks noChangeAspect="1"/>
          </p:cNvPicPr>
          <p:nvPr/>
        </p:nvPicPr>
        <p:blipFill>
          <a:blip r:embed="rId4"/>
          <a:stretch>
            <a:fillRect/>
          </a:stretch>
        </p:blipFill>
        <p:spPr>
          <a:xfrm>
            <a:off x="4126650" y="3754501"/>
            <a:ext cx="128699" cy="187198"/>
          </a:xfrm>
          <a:prstGeom prst="rect">
            <a:avLst/>
          </a:prstGeom>
        </p:spPr>
      </p:pic>
      <p:pic>
        <p:nvPicPr>
          <p:cNvPr id="153" name="Picture 152" descr="lock.png"/>
          <p:cNvPicPr>
            <a:picLocks noChangeAspect="1"/>
          </p:cNvPicPr>
          <p:nvPr/>
        </p:nvPicPr>
        <p:blipFill>
          <a:blip r:embed="rId4"/>
          <a:stretch>
            <a:fillRect/>
          </a:stretch>
        </p:blipFill>
        <p:spPr>
          <a:xfrm>
            <a:off x="4126650" y="4249801"/>
            <a:ext cx="128699" cy="187198"/>
          </a:xfrm>
          <a:prstGeom prst="rect">
            <a:avLst/>
          </a:prstGeom>
        </p:spPr>
      </p:pic>
      <p:pic>
        <p:nvPicPr>
          <p:cNvPr id="154" name="Picture 153" descr="lock.png"/>
          <p:cNvPicPr>
            <a:picLocks noChangeAspect="1"/>
          </p:cNvPicPr>
          <p:nvPr/>
        </p:nvPicPr>
        <p:blipFill>
          <a:blip r:embed="rId4"/>
          <a:stretch>
            <a:fillRect/>
          </a:stretch>
        </p:blipFill>
        <p:spPr>
          <a:xfrm>
            <a:off x="4126650" y="4745101"/>
            <a:ext cx="128699" cy="187198"/>
          </a:xfrm>
          <a:prstGeom prst="rect">
            <a:avLst/>
          </a:prstGeom>
        </p:spPr>
      </p:pic>
      <p:pic>
        <p:nvPicPr>
          <p:cNvPr id="155" name="Picture 154" descr="lock.png"/>
          <p:cNvPicPr>
            <a:picLocks noChangeAspect="1"/>
          </p:cNvPicPr>
          <p:nvPr/>
        </p:nvPicPr>
        <p:blipFill>
          <a:blip r:embed="rId4"/>
          <a:stretch>
            <a:fillRect/>
          </a:stretch>
        </p:blipFill>
        <p:spPr>
          <a:xfrm>
            <a:off x="4126650" y="5240401"/>
            <a:ext cx="128699" cy="187198"/>
          </a:xfrm>
          <a:prstGeom prst="rect">
            <a:avLst/>
          </a:prstGeom>
        </p:spPr>
      </p:pic>
      <p:pic>
        <p:nvPicPr>
          <p:cNvPr id="156" name="Picture 155" descr="lock.png"/>
          <p:cNvPicPr>
            <a:picLocks noChangeAspect="1"/>
          </p:cNvPicPr>
          <p:nvPr/>
        </p:nvPicPr>
        <p:blipFill>
          <a:blip r:embed="rId4"/>
          <a:stretch>
            <a:fillRect/>
          </a:stretch>
        </p:blipFill>
        <p:spPr>
          <a:xfrm>
            <a:off x="4126650" y="5735701"/>
            <a:ext cx="128699" cy="187198"/>
          </a:xfrm>
          <a:prstGeom prst="rect">
            <a:avLst/>
          </a:prstGeom>
        </p:spPr>
      </p:pic>
    </p:spTree>
  </p:cSld>
  <p:clrMapOvr>
    <a:masterClrMapping/>
  </p:clrMapOvr>
</p:sld>
</file>

<file path=ppt/slides/slide2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Egg Protein Membrane Market Strategic Activity by Function</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Where competitor activity concentrates by type and department, and what it means for each function</a:t>
            </a:r>
          </a:p>
        </p:txBody>
      </p:sp>
      <p:sp>
        <p:nvSpPr>
          <p:cNvPr id="7" name="Rectangle 6"/>
          <p:cNvSpPr/>
          <p:nvPr/>
        </p:nvSpPr>
        <p:spPr>
          <a:xfrm>
            <a:off x="190500" y="1638300"/>
            <a:ext cx="38100" cy="1714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85750" y="1600200"/>
            <a:ext cx="1409700" cy="247650"/>
          </a:xfrm>
          <a:prstGeom prst="rect">
            <a:avLst/>
          </a:prstGeom>
          <a:noFill/>
        </p:spPr>
        <p:txBody>
          <a:bodyPr wrap="square" lIns="28575" rIns="28575" tIns="9525" bIns="9525" anchor="ctr">
            <a:spAutoFit/>
          </a:bodyPr>
          <a:lstStyle/>
          <a:p>
            <a:pPr algn="l"/>
            <a:r>
              <a:rPr sz="1100" b="1">
                <a:solidFill>
                  <a:srgbClr val="1F2933"/>
                </a:solidFill>
                <a:latin typeface="Calibri"/>
              </a:rPr>
              <a:t>ESM Technologies, LLC</a:t>
            </a:r>
          </a:p>
        </p:txBody>
      </p:sp>
      <p:sp>
        <p:nvSpPr>
          <p:cNvPr id="9" name="Rectangle 8"/>
          <p:cNvSpPr/>
          <p:nvPr/>
        </p:nvSpPr>
        <p:spPr>
          <a:xfrm>
            <a:off x="190500" y="1885950"/>
            <a:ext cx="38100" cy="1714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85750" y="1847850"/>
            <a:ext cx="1409700" cy="247650"/>
          </a:xfrm>
          <a:prstGeom prst="rect">
            <a:avLst/>
          </a:prstGeom>
          <a:noFill/>
        </p:spPr>
        <p:txBody>
          <a:bodyPr wrap="square" lIns="28575" rIns="28575" tIns="9525" bIns="9525" anchor="ctr">
            <a:spAutoFit/>
          </a:bodyPr>
          <a:lstStyle/>
          <a:p>
            <a:pPr algn="l"/>
            <a:r>
              <a:rPr sz="1100" b="1">
                <a:solidFill>
                  <a:srgbClr val="1F2933"/>
                </a:solidFill>
                <a:latin typeface="Calibri"/>
              </a:rPr>
              <a:t>Company</a:t>
            </a:r>
          </a:p>
        </p:txBody>
      </p:sp>
      <p:sp>
        <p:nvSpPr>
          <p:cNvPr id="11" name="Rectangle 10"/>
          <p:cNvSpPr/>
          <p:nvPr/>
        </p:nvSpPr>
        <p:spPr>
          <a:xfrm>
            <a:off x="190500" y="2133600"/>
            <a:ext cx="38100" cy="1714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85750" y="2095500"/>
            <a:ext cx="1409700" cy="247650"/>
          </a:xfrm>
          <a:prstGeom prst="rect">
            <a:avLst/>
          </a:prstGeom>
          <a:noFill/>
        </p:spPr>
        <p:txBody>
          <a:bodyPr wrap="square" lIns="28575" rIns="28575" tIns="9525" bIns="9525" anchor="ctr">
            <a:spAutoFit/>
          </a:bodyPr>
          <a:lstStyle/>
          <a:p>
            <a:pPr algn="l"/>
            <a:r>
              <a:rPr sz="1100" b="1">
                <a:solidFill>
                  <a:srgbClr val="1F2933"/>
                </a:solidFill>
                <a:latin typeface="Calibri"/>
              </a:rPr>
              <a:t>Biova, LLC</a:t>
            </a:r>
          </a:p>
        </p:txBody>
      </p:sp>
      <p:sp>
        <p:nvSpPr>
          <p:cNvPr id="13" name="Rectangle 12"/>
          <p:cNvSpPr/>
          <p:nvPr/>
        </p:nvSpPr>
        <p:spPr>
          <a:xfrm>
            <a:off x="190500" y="2381250"/>
            <a:ext cx="38100" cy="1714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85750" y="2343150"/>
            <a:ext cx="1409700" cy="247650"/>
          </a:xfrm>
          <a:prstGeom prst="rect">
            <a:avLst/>
          </a:prstGeom>
          <a:noFill/>
        </p:spPr>
        <p:txBody>
          <a:bodyPr wrap="square" lIns="28575" rIns="28575" tIns="9525" bIns="9525" anchor="ctr">
            <a:spAutoFit/>
          </a:bodyPr>
          <a:lstStyle/>
          <a:p>
            <a:pPr algn="l"/>
            <a:r>
              <a:rPr sz="1100" b="1">
                <a:solidFill>
                  <a:srgbClr val="1F2933"/>
                </a:solidFill>
                <a:latin typeface="Calibri"/>
              </a:rPr>
              <a:t>Eggnovo S.L.</a:t>
            </a:r>
          </a:p>
        </p:txBody>
      </p:sp>
      <p:sp>
        <p:nvSpPr>
          <p:cNvPr id="15" name="Rectangle 14"/>
          <p:cNvSpPr/>
          <p:nvPr/>
        </p:nvSpPr>
        <p:spPr>
          <a:xfrm>
            <a:off x="190500" y="2628900"/>
            <a:ext cx="38100" cy="17145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85750" y="2590800"/>
            <a:ext cx="1409700" cy="247650"/>
          </a:xfrm>
          <a:prstGeom prst="rect">
            <a:avLst/>
          </a:prstGeom>
          <a:noFill/>
        </p:spPr>
        <p:txBody>
          <a:bodyPr wrap="square" lIns="28575" rIns="28575" tIns="9525" bIns="9525" anchor="ctr">
            <a:spAutoFit/>
          </a:bodyPr>
          <a:lstStyle/>
          <a:p>
            <a:pPr algn="l"/>
            <a:r>
              <a:rPr sz="1100" b="1">
                <a:solidFill>
                  <a:srgbClr val="1F2933"/>
                </a:solidFill>
                <a:latin typeface="Calibri"/>
              </a:rPr>
              <a:t>Dutch Eggmembrane Protein Powder</a:t>
            </a:r>
          </a:p>
        </p:txBody>
      </p:sp>
      <p:sp>
        <p:nvSpPr>
          <p:cNvPr id="17" name="Rectangle 16"/>
          <p:cNvSpPr/>
          <p:nvPr/>
        </p:nvSpPr>
        <p:spPr>
          <a:xfrm>
            <a:off x="190500" y="2876550"/>
            <a:ext cx="38100" cy="17145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85750" y="2838450"/>
            <a:ext cx="1409700" cy="247650"/>
          </a:xfrm>
          <a:prstGeom prst="rect">
            <a:avLst/>
          </a:prstGeom>
          <a:noFill/>
        </p:spPr>
        <p:txBody>
          <a:bodyPr wrap="square" lIns="28575" rIns="28575" tIns="9525" bIns="9525" anchor="ctr">
            <a:spAutoFit/>
          </a:bodyPr>
          <a:lstStyle/>
          <a:p>
            <a:pPr algn="l"/>
            <a:r>
              <a:rPr sz="1100" b="1">
                <a:solidFill>
                  <a:srgbClr val="1F2933"/>
                </a:solidFill>
                <a:latin typeface="Calibri"/>
              </a:rPr>
              <a:t>Kewpie Corporation</a:t>
            </a:r>
          </a:p>
        </p:txBody>
      </p:sp>
      <p:sp>
        <p:nvSpPr>
          <p:cNvPr id="19" name="Rectangle 18"/>
          <p:cNvSpPr/>
          <p:nvPr/>
        </p:nvSpPr>
        <p:spPr>
          <a:xfrm>
            <a:off x="190500" y="3124200"/>
            <a:ext cx="38100" cy="1714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85750" y="3086100"/>
            <a:ext cx="1409700" cy="247650"/>
          </a:xfrm>
          <a:prstGeom prst="rect">
            <a:avLst/>
          </a:prstGeom>
          <a:noFill/>
        </p:spPr>
        <p:txBody>
          <a:bodyPr wrap="square" lIns="28575" rIns="28575" tIns="9525" bIns="9525" anchor="ctr">
            <a:spAutoFit/>
          </a:bodyPr>
          <a:lstStyle/>
          <a:p>
            <a:pPr algn="l"/>
            <a:r>
              <a:rPr sz="1100" b="1">
                <a:solidFill>
                  <a:srgbClr val="1F2933"/>
                </a:solidFill>
                <a:latin typeface="Calibri"/>
              </a:rPr>
              <a:t>INNAIN</a:t>
            </a:r>
          </a:p>
        </p:txBody>
      </p:sp>
      <p:sp>
        <p:nvSpPr>
          <p:cNvPr id="21" name="Rectangle 20"/>
          <p:cNvSpPr/>
          <p:nvPr/>
        </p:nvSpPr>
        <p:spPr>
          <a:xfrm>
            <a:off x="190500" y="3371850"/>
            <a:ext cx="38100" cy="1714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85750" y="3333750"/>
            <a:ext cx="1409700" cy="247650"/>
          </a:xfrm>
          <a:prstGeom prst="rect">
            <a:avLst/>
          </a:prstGeom>
          <a:noFill/>
        </p:spPr>
        <p:txBody>
          <a:bodyPr wrap="square" lIns="28575" rIns="28575" tIns="9525" bIns="9525" anchor="ctr">
            <a:spAutoFit/>
          </a:bodyPr>
          <a:lstStyle/>
          <a:p>
            <a:pPr algn="l"/>
            <a:r>
              <a:rPr sz="1100" b="1">
                <a:solidFill>
                  <a:srgbClr val="1F2933"/>
                </a:solidFill>
                <a:latin typeface="Calibri"/>
              </a:rPr>
              <a:t>Ecovatec Solutions Inc.</a:t>
            </a:r>
          </a:p>
        </p:txBody>
      </p:sp>
      <p:sp>
        <p:nvSpPr>
          <p:cNvPr id="23" name="Rectangle 22"/>
          <p:cNvSpPr/>
          <p:nvPr/>
        </p:nvSpPr>
        <p:spPr>
          <a:xfrm>
            <a:off x="190500" y="3619500"/>
            <a:ext cx="38100" cy="1714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85750" y="3581400"/>
            <a:ext cx="1409700" cy="247650"/>
          </a:xfrm>
          <a:prstGeom prst="rect">
            <a:avLst/>
          </a:prstGeom>
          <a:noFill/>
        </p:spPr>
        <p:txBody>
          <a:bodyPr wrap="square" lIns="28575" rIns="28575" tIns="9525" bIns="9525" anchor="ctr">
            <a:spAutoFit/>
          </a:bodyPr>
          <a:lstStyle/>
          <a:p>
            <a:pPr algn="l"/>
            <a:r>
              <a:rPr sz="1100" b="1">
                <a:solidFill>
                  <a:srgbClr val="1F2933"/>
                </a:solidFill>
                <a:latin typeface="Calibri"/>
              </a:rPr>
              <a:t>Biovotec</a:t>
            </a:r>
          </a:p>
        </p:txBody>
      </p:sp>
      <p:sp>
        <p:nvSpPr>
          <p:cNvPr id="25" name="Rectangle 24"/>
          <p:cNvSpPr/>
          <p:nvPr/>
        </p:nvSpPr>
        <p:spPr>
          <a:xfrm>
            <a:off x="190500" y="3867150"/>
            <a:ext cx="38100" cy="1714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85750" y="3829050"/>
            <a:ext cx="1409700" cy="247650"/>
          </a:xfrm>
          <a:prstGeom prst="rect">
            <a:avLst/>
          </a:prstGeom>
          <a:noFill/>
        </p:spPr>
        <p:txBody>
          <a:bodyPr wrap="square" lIns="28575" rIns="28575" tIns="9525" bIns="9525" anchor="ctr">
            <a:spAutoFit/>
          </a:bodyPr>
          <a:lstStyle/>
          <a:p>
            <a:pPr algn="l"/>
            <a:r>
              <a:rPr sz="1100" b="1">
                <a:solidFill>
                  <a:srgbClr val="1F2933"/>
                </a:solidFill>
                <a:latin typeface="Calibri"/>
              </a:rPr>
              <a:t>Microcore Research Laboratories India Pvt. Ltd.</a:t>
            </a:r>
          </a:p>
        </p:txBody>
      </p:sp>
      <p:sp>
        <p:nvSpPr>
          <p:cNvPr id="27" name="TextBox 26"/>
          <p:cNvSpPr txBox="1"/>
          <p:nvPr/>
        </p:nvSpPr>
        <p:spPr>
          <a:xfrm>
            <a:off x="1714500" y="1047750"/>
            <a:ext cx="3302000" cy="171450"/>
          </a:xfrm>
          <a:prstGeom prst="rect">
            <a:avLst/>
          </a:prstGeom>
          <a:noFill/>
        </p:spPr>
        <p:txBody>
          <a:bodyPr wrap="square" lIns="28575" rIns="28575" tIns="9525" bIns="9525" anchor="t">
            <a:spAutoFit/>
          </a:bodyPr>
          <a:lstStyle/>
          <a:p>
            <a:pPr algn="l"/>
            <a:r>
              <a:rPr sz="1100" b="1">
                <a:solidFill>
                  <a:srgbClr val="0F2D52"/>
                </a:solidFill>
                <a:latin typeface="Calibri"/>
              </a:rPr>
              <a:t>Moves by type (count)</a:t>
            </a:r>
          </a:p>
        </p:txBody>
      </p:sp>
      <p:sp>
        <p:nvSpPr>
          <p:cNvPr id="28" name="TextBox 27"/>
          <p:cNvSpPr txBox="1"/>
          <p:nvPr/>
        </p:nvSpPr>
        <p:spPr>
          <a:xfrm>
            <a:off x="1714500" y="1219200"/>
            <a:ext cx="550333" cy="342900"/>
          </a:xfrm>
          <a:prstGeom prst="rect">
            <a:avLst/>
          </a:prstGeom>
          <a:noFill/>
        </p:spPr>
        <p:txBody>
          <a:bodyPr wrap="none" lIns="0" rIns="0" tIns="0" bIns="0" anchor="ctr">
            <a:spAutoFit/>
          </a:bodyPr>
          <a:lstStyle/>
          <a:p>
            <a:pPr algn="ctr">
              <a:lnSpc>
                <a:spcPct val="115000"/>
              </a:lnSpc>
            </a:pPr>
            <a:r>
              <a:rPr sz="1100" b="1">
                <a:solidFill>
                  <a:srgbClr val="1F2933"/>
                </a:solidFill>
                <a:latin typeface="Calibri"/>
              </a:rPr>
              <a:t>MA</a:t>
            </a:r>
          </a:p>
        </p:txBody>
      </p:sp>
      <p:sp>
        <p:nvSpPr>
          <p:cNvPr id="29" name="TextBox 28"/>
          <p:cNvSpPr txBox="1"/>
          <p:nvPr/>
        </p:nvSpPr>
        <p:spPr>
          <a:xfrm>
            <a:off x="2264833" y="1219200"/>
            <a:ext cx="550333" cy="342900"/>
          </a:xfrm>
          <a:prstGeom prst="rect">
            <a:avLst/>
          </a:prstGeom>
          <a:noFill/>
        </p:spPr>
        <p:txBody>
          <a:bodyPr wrap="none" lIns="0" rIns="0" tIns="0" bIns="0" anchor="ctr">
            <a:spAutoFit/>
          </a:bodyPr>
          <a:lstStyle/>
          <a:p>
            <a:pPr algn="ctr">
              <a:lnSpc>
                <a:spcPct val="115000"/>
              </a:lnSpc>
            </a:pPr>
            <a:r>
              <a:rPr sz="1100" b="1">
                <a:solidFill>
                  <a:srgbClr val="1F2933"/>
                </a:solidFill>
                <a:latin typeface="Calibri"/>
              </a:rPr>
              <a:t>PR</a:t>
            </a:r>
          </a:p>
        </p:txBody>
      </p:sp>
      <p:sp>
        <p:nvSpPr>
          <p:cNvPr id="30" name="TextBox 29"/>
          <p:cNvSpPr txBox="1"/>
          <p:nvPr/>
        </p:nvSpPr>
        <p:spPr>
          <a:xfrm>
            <a:off x="2815167" y="1219200"/>
            <a:ext cx="550333" cy="342900"/>
          </a:xfrm>
          <a:prstGeom prst="rect">
            <a:avLst/>
          </a:prstGeom>
          <a:noFill/>
        </p:spPr>
        <p:txBody>
          <a:bodyPr wrap="none" lIns="0" rIns="0" tIns="0" bIns="0" anchor="ctr">
            <a:spAutoFit/>
          </a:bodyPr>
          <a:lstStyle/>
          <a:p>
            <a:pPr algn="ctr">
              <a:lnSpc>
                <a:spcPct val="115000"/>
              </a:lnSpc>
            </a:pPr>
            <a:r>
              <a:rPr sz="1100" b="1">
                <a:solidFill>
                  <a:srgbClr val="1F2933"/>
                </a:solidFill>
                <a:latin typeface="Calibri"/>
              </a:rPr>
              <a:t>EX</a:t>
            </a:r>
          </a:p>
        </p:txBody>
      </p:sp>
      <p:sp>
        <p:nvSpPr>
          <p:cNvPr id="31" name="TextBox 30"/>
          <p:cNvSpPr txBox="1"/>
          <p:nvPr/>
        </p:nvSpPr>
        <p:spPr>
          <a:xfrm>
            <a:off x="3365500" y="1219200"/>
            <a:ext cx="550333" cy="342900"/>
          </a:xfrm>
          <a:prstGeom prst="rect">
            <a:avLst/>
          </a:prstGeom>
          <a:noFill/>
        </p:spPr>
        <p:txBody>
          <a:bodyPr wrap="none" lIns="0" rIns="0" tIns="0" bIns="0" anchor="ctr">
            <a:spAutoFit/>
          </a:bodyPr>
          <a:lstStyle/>
          <a:p>
            <a:pPr algn="ctr">
              <a:lnSpc>
                <a:spcPct val="115000"/>
              </a:lnSpc>
            </a:pPr>
            <a:r>
              <a:rPr sz="1100" b="1">
                <a:solidFill>
                  <a:srgbClr val="1F2933"/>
                </a:solidFill>
                <a:latin typeface="Calibri"/>
              </a:rPr>
              <a:t>RD</a:t>
            </a:r>
          </a:p>
        </p:txBody>
      </p:sp>
      <p:sp>
        <p:nvSpPr>
          <p:cNvPr id="32" name="TextBox 31"/>
          <p:cNvSpPr txBox="1"/>
          <p:nvPr/>
        </p:nvSpPr>
        <p:spPr>
          <a:xfrm>
            <a:off x="3915833" y="1219200"/>
            <a:ext cx="550333" cy="342900"/>
          </a:xfrm>
          <a:prstGeom prst="rect">
            <a:avLst/>
          </a:prstGeom>
          <a:noFill/>
        </p:spPr>
        <p:txBody>
          <a:bodyPr wrap="none" lIns="0" rIns="0" tIns="0" bIns="0" anchor="ctr">
            <a:spAutoFit/>
          </a:bodyPr>
          <a:lstStyle/>
          <a:p>
            <a:pPr algn="ctr">
              <a:lnSpc>
                <a:spcPct val="115000"/>
              </a:lnSpc>
            </a:pPr>
            <a:r>
              <a:rPr sz="1100" b="1">
                <a:solidFill>
                  <a:srgbClr val="1F2933"/>
                </a:solidFill>
                <a:latin typeface="Calibri"/>
              </a:rPr>
              <a:t>RG</a:t>
            </a:r>
          </a:p>
        </p:txBody>
      </p:sp>
      <p:sp>
        <p:nvSpPr>
          <p:cNvPr id="33" name="TextBox 32"/>
          <p:cNvSpPr txBox="1"/>
          <p:nvPr/>
        </p:nvSpPr>
        <p:spPr>
          <a:xfrm>
            <a:off x="4466167" y="1219200"/>
            <a:ext cx="550333" cy="342900"/>
          </a:xfrm>
          <a:prstGeom prst="rect">
            <a:avLst/>
          </a:prstGeom>
          <a:noFill/>
        </p:spPr>
        <p:txBody>
          <a:bodyPr wrap="none" lIns="0" rIns="0" tIns="0" bIns="0" anchor="ctr">
            <a:spAutoFit/>
          </a:bodyPr>
          <a:lstStyle/>
          <a:p>
            <a:pPr algn="ctr">
              <a:lnSpc>
                <a:spcPct val="115000"/>
              </a:lnSpc>
            </a:pPr>
            <a:r>
              <a:rPr sz="1100" b="1">
                <a:solidFill>
                  <a:srgbClr val="1F2933"/>
                </a:solidFill>
                <a:latin typeface="Calibri"/>
              </a:rPr>
              <a:t>CP</a:t>
            </a:r>
          </a:p>
        </p:txBody>
      </p:sp>
      <p:sp>
        <p:nvSpPr>
          <p:cNvPr id="34" name="Rectangle 33"/>
          <p:cNvSpPr/>
          <p:nvPr/>
        </p:nvSpPr>
        <p:spPr>
          <a:xfrm>
            <a:off x="1724025" y="16097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714500" y="16097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36" name="Rectangle 35"/>
          <p:cNvSpPr/>
          <p:nvPr/>
        </p:nvSpPr>
        <p:spPr>
          <a:xfrm>
            <a:off x="2274358" y="16097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2824692" y="16097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815167" y="16097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39" name="Rectangle 38"/>
          <p:cNvSpPr/>
          <p:nvPr/>
        </p:nvSpPr>
        <p:spPr>
          <a:xfrm>
            <a:off x="3375025" y="16097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365500" y="16097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41" name="Rectangle 40"/>
          <p:cNvSpPr/>
          <p:nvPr/>
        </p:nvSpPr>
        <p:spPr>
          <a:xfrm>
            <a:off x="3925358" y="16097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915833" y="16097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43" name="Rectangle 42"/>
          <p:cNvSpPr/>
          <p:nvPr/>
        </p:nvSpPr>
        <p:spPr>
          <a:xfrm>
            <a:off x="4475692" y="16097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466167" y="16097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45" name="Rectangle 44"/>
          <p:cNvSpPr/>
          <p:nvPr/>
        </p:nvSpPr>
        <p:spPr>
          <a:xfrm>
            <a:off x="1724025" y="18573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2274358" y="185737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2264833" y="1857375"/>
            <a:ext cx="550333" cy="228600"/>
          </a:xfrm>
          <a:prstGeom prst="rect">
            <a:avLst/>
          </a:prstGeom>
          <a:noFill/>
        </p:spPr>
        <p:txBody>
          <a:bodyPr wrap="none" lIns="0" rIns="0" tIns="0" bIns="0" anchor="ctr">
            <a:spAutoFit/>
          </a:bodyPr>
          <a:lstStyle/>
          <a:p>
            <a:pPr algn="ctr"/>
            <a:r>
              <a:rPr sz="1100" b="1">
                <a:solidFill>
                  <a:srgbClr val="0F2D52"/>
                </a:solidFill>
                <a:latin typeface="Calibri"/>
              </a:rPr>
              <a:t>2</a:t>
            </a:r>
          </a:p>
        </p:txBody>
      </p:sp>
      <p:sp>
        <p:nvSpPr>
          <p:cNvPr id="48" name="Rectangle 47"/>
          <p:cNvSpPr/>
          <p:nvPr/>
        </p:nvSpPr>
        <p:spPr>
          <a:xfrm>
            <a:off x="2824692" y="18573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2815167" y="18573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50" name="Rectangle 49"/>
          <p:cNvSpPr/>
          <p:nvPr/>
        </p:nvSpPr>
        <p:spPr>
          <a:xfrm>
            <a:off x="3375025" y="18573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3365500" y="18573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52" name="Rectangle 51"/>
          <p:cNvSpPr/>
          <p:nvPr/>
        </p:nvSpPr>
        <p:spPr>
          <a:xfrm>
            <a:off x="3925358" y="18573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4475692" y="18573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4466167" y="18573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55" name="Rectangle 54"/>
          <p:cNvSpPr/>
          <p:nvPr/>
        </p:nvSpPr>
        <p:spPr>
          <a:xfrm>
            <a:off x="1724025" y="21050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1714500" y="21050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57" name="Rectangle 56"/>
          <p:cNvSpPr/>
          <p:nvPr/>
        </p:nvSpPr>
        <p:spPr>
          <a:xfrm>
            <a:off x="2274358" y="21050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2824692" y="21050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2815167" y="21050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60" name="Rectangle 59"/>
          <p:cNvSpPr/>
          <p:nvPr/>
        </p:nvSpPr>
        <p:spPr>
          <a:xfrm>
            <a:off x="3375025" y="21050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3365500" y="21050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62" name="Rectangle 61"/>
          <p:cNvSpPr/>
          <p:nvPr/>
        </p:nvSpPr>
        <p:spPr>
          <a:xfrm>
            <a:off x="3925358" y="21050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3915833" y="21050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64" name="Rectangle 63"/>
          <p:cNvSpPr/>
          <p:nvPr/>
        </p:nvSpPr>
        <p:spPr>
          <a:xfrm>
            <a:off x="4475692" y="21050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4466167" y="21050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66" name="Rectangle 65"/>
          <p:cNvSpPr/>
          <p:nvPr/>
        </p:nvSpPr>
        <p:spPr>
          <a:xfrm>
            <a:off x="1724025" y="23526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2274358" y="235267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2264833" y="2352675"/>
            <a:ext cx="550333" cy="228600"/>
          </a:xfrm>
          <a:prstGeom prst="rect">
            <a:avLst/>
          </a:prstGeom>
          <a:noFill/>
        </p:spPr>
        <p:txBody>
          <a:bodyPr wrap="none" lIns="0" rIns="0" tIns="0" bIns="0" anchor="ctr">
            <a:spAutoFit/>
          </a:bodyPr>
          <a:lstStyle/>
          <a:p>
            <a:pPr algn="ctr"/>
            <a:r>
              <a:rPr sz="1100" b="1">
                <a:solidFill>
                  <a:srgbClr val="0F2D52"/>
                </a:solidFill>
                <a:latin typeface="Calibri"/>
              </a:rPr>
              <a:t>2</a:t>
            </a:r>
          </a:p>
        </p:txBody>
      </p:sp>
      <p:sp>
        <p:nvSpPr>
          <p:cNvPr id="69" name="Rectangle 68"/>
          <p:cNvSpPr/>
          <p:nvPr/>
        </p:nvSpPr>
        <p:spPr>
          <a:xfrm>
            <a:off x="2824692" y="23526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2815167" y="23526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71" name="Rectangle 70"/>
          <p:cNvSpPr/>
          <p:nvPr/>
        </p:nvSpPr>
        <p:spPr>
          <a:xfrm>
            <a:off x="3375025" y="23526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3365500" y="23526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73" name="Rectangle 72"/>
          <p:cNvSpPr/>
          <p:nvPr/>
        </p:nvSpPr>
        <p:spPr>
          <a:xfrm>
            <a:off x="3925358" y="23526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4475692" y="23526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4466167" y="23526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76" name="Rectangle 75"/>
          <p:cNvSpPr/>
          <p:nvPr/>
        </p:nvSpPr>
        <p:spPr>
          <a:xfrm>
            <a:off x="1724025" y="26003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1714500" y="26003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78" name="Rectangle 77"/>
          <p:cNvSpPr/>
          <p:nvPr/>
        </p:nvSpPr>
        <p:spPr>
          <a:xfrm>
            <a:off x="2274358" y="26003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ectangle 78"/>
          <p:cNvSpPr/>
          <p:nvPr/>
        </p:nvSpPr>
        <p:spPr>
          <a:xfrm>
            <a:off x="2824692" y="26003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2815167" y="26003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81" name="Rectangle 80"/>
          <p:cNvSpPr/>
          <p:nvPr/>
        </p:nvSpPr>
        <p:spPr>
          <a:xfrm>
            <a:off x="3375025" y="26003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3365500" y="26003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83" name="Rectangle 82"/>
          <p:cNvSpPr/>
          <p:nvPr/>
        </p:nvSpPr>
        <p:spPr>
          <a:xfrm>
            <a:off x="3925358" y="26003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3915833" y="26003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85" name="Rectangle 84"/>
          <p:cNvSpPr/>
          <p:nvPr/>
        </p:nvSpPr>
        <p:spPr>
          <a:xfrm>
            <a:off x="4475692" y="26003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4466167" y="26003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87" name="Rectangle 86"/>
          <p:cNvSpPr/>
          <p:nvPr/>
        </p:nvSpPr>
        <p:spPr>
          <a:xfrm>
            <a:off x="1724025" y="28479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Rectangle 87"/>
          <p:cNvSpPr/>
          <p:nvPr/>
        </p:nvSpPr>
        <p:spPr>
          <a:xfrm>
            <a:off x="2274358" y="284797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2264833" y="2847975"/>
            <a:ext cx="550333" cy="228600"/>
          </a:xfrm>
          <a:prstGeom prst="rect">
            <a:avLst/>
          </a:prstGeom>
          <a:noFill/>
        </p:spPr>
        <p:txBody>
          <a:bodyPr wrap="none" lIns="0" rIns="0" tIns="0" bIns="0" anchor="ctr">
            <a:spAutoFit/>
          </a:bodyPr>
          <a:lstStyle/>
          <a:p>
            <a:pPr algn="ctr"/>
            <a:r>
              <a:rPr sz="1100" b="1">
                <a:solidFill>
                  <a:srgbClr val="0F2D52"/>
                </a:solidFill>
                <a:latin typeface="Calibri"/>
              </a:rPr>
              <a:t>2</a:t>
            </a:r>
          </a:p>
        </p:txBody>
      </p:sp>
      <p:sp>
        <p:nvSpPr>
          <p:cNvPr id="90" name="Rectangle 89"/>
          <p:cNvSpPr/>
          <p:nvPr/>
        </p:nvSpPr>
        <p:spPr>
          <a:xfrm>
            <a:off x="2824692" y="28479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2815167" y="28479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92" name="Rectangle 91"/>
          <p:cNvSpPr/>
          <p:nvPr/>
        </p:nvSpPr>
        <p:spPr>
          <a:xfrm>
            <a:off x="3375025" y="28479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3365500" y="28479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94" name="Rectangle 93"/>
          <p:cNvSpPr/>
          <p:nvPr/>
        </p:nvSpPr>
        <p:spPr>
          <a:xfrm>
            <a:off x="3925358" y="28479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Rectangle 94"/>
          <p:cNvSpPr/>
          <p:nvPr/>
        </p:nvSpPr>
        <p:spPr>
          <a:xfrm>
            <a:off x="4475692" y="28479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4466167" y="28479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97" name="Rectangle 96"/>
          <p:cNvSpPr/>
          <p:nvPr/>
        </p:nvSpPr>
        <p:spPr>
          <a:xfrm>
            <a:off x="1724025" y="30956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1714500" y="30956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99" name="Rectangle 98"/>
          <p:cNvSpPr/>
          <p:nvPr/>
        </p:nvSpPr>
        <p:spPr>
          <a:xfrm>
            <a:off x="2274358" y="30956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Rectangle 99"/>
          <p:cNvSpPr/>
          <p:nvPr/>
        </p:nvSpPr>
        <p:spPr>
          <a:xfrm>
            <a:off x="2824692" y="30956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2815167" y="30956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02" name="Rectangle 101"/>
          <p:cNvSpPr/>
          <p:nvPr/>
        </p:nvSpPr>
        <p:spPr>
          <a:xfrm>
            <a:off x="3375025" y="30956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3365500" y="30956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04" name="Rectangle 103"/>
          <p:cNvSpPr/>
          <p:nvPr/>
        </p:nvSpPr>
        <p:spPr>
          <a:xfrm>
            <a:off x="3925358" y="30956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3915833" y="30956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06" name="Rectangle 105"/>
          <p:cNvSpPr/>
          <p:nvPr/>
        </p:nvSpPr>
        <p:spPr>
          <a:xfrm>
            <a:off x="4475692" y="30956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4466167" y="30956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08" name="Rectangle 107"/>
          <p:cNvSpPr/>
          <p:nvPr/>
        </p:nvSpPr>
        <p:spPr>
          <a:xfrm>
            <a:off x="1724025" y="33432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Rectangle 108"/>
          <p:cNvSpPr/>
          <p:nvPr/>
        </p:nvSpPr>
        <p:spPr>
          <a:xfrm>
            <a:off x="2274358" y="334327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TextBox 109"/>
          <p:cNvSpPr txBox="1"/>
          <p:nvPr/>
        </p:nvSpPr>
        <p:spPr>
          <a:xfrm>
            <a:off x="2264833" y="3343275"/>
            <a:ext cx="550333" cy="228600"/>
          </a:xfrm>
          <a:prstGeom prst="rect">
            <a:avLst/>
          </a:prstGeom>
          <a:noFill/>
        </p:spPr>
        <p:txBody>
          <a:bodyPr wrap="none" lIns="0" rIns="0" tIns="0" bIns="0" anchor="ctr">
            <a:spAutoFit/>
          </a:bodyPr>
          <a:lstStyle/>
          <a:p>
            <a:pPr algn="ctr"/>
            <a:r>
              <a:rPr sz="1100" b="1">
                <a:solidFill>
                  <a:srgbClr val="0F2D52"/>
                </a:solidFill>
                <a:latin typeface="Calibri"/>
              </a:rPr>
              <a:t>2</a:t>
            </a:r>
          </a:p>
        </p:txBody>
      </p:sp>
      <p:sp>
        <p:nvSpPr>
          <p:cNvPr id="111" name="Rectangle 110"/>
          <p:cNvSpPr/>
          <p:nvPr/>
        </p:nvSpPr>
        <p:spPr>
          <a:xfrm>
            <a:off x="2824692" y="33432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TextBox 111"/>
          <p:cNvSpPr txBox="1"/>
          <p:nvPr/>
        </p:nvSpPr>
        <p:spPr>
          <a:xfrm>
            <a:off x="2815167" y="33432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13" name="Rectangle 112"/>
          <p:cNvSpPr/>
          <p:nvPr/>
        </p:nvSpPr>
        <p:spPr>
          <a:xfrm>
            <a:off x="3375025" y="33432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TextBox 113"/>
          <p:cNvSpPr txBox="1"/>
          <p:nvPr/>
        </p:nvSpPr>
        <p:spPr>
          <a:xfrm>
            <a:off x="3365500" y="33432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15" name="Rectangle 114"/>
          <p:cNvSpPr/>
          <p:nvPr/>
        </p:nvSpPr>
        <p:spPr>
          <a:xfrm>
            <a:off x="3925358" y="33432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Rectangle 115"/>
          <p:cNvSpPr/>
          <p:nvPr/>
        </p:nvSpPr>
        <p:spPr>
          <a:xfrm>
            <a:off x="4475692" y="33432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TextBox 116"/>
          <p:cNvSpPr txBox="1"/>
          <p:nvPr/>
        </p:nvSpPr>
        <p:spPr>
          <a:xfrm>
            <a:off x="4466167" y="33432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18" name="Rectangle 117"/>
          <p:cNvSpPr/>
          <p:nvPr/>
        </p:nvSpPr>
        <p:spPr>
          <a:xfrm>
            <a:off x="1724025" y="35909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TextBox 118"/>
          <p:cNvSpPr txBox="1"/>
          <p:nvPr/>
        </p:nvSpPr>
        <p:spPr>
          <a:xfrm>
            <a:off x="1714500" y="35909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20" name="Rectangle 119"/>
          <p:cNvSpPr/>
          <p:nvPr/>
        </p:nvSpPr>
        <p:spPr>
          <a:xfrm>
            <a:off x="2274358" y="35909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Rectangle 120"/>
          <p:cNvSpPr/>
          <p:nvPr/>
        </p:nvSpPr>
        <p:spPr>
          <a:xfrm>
            <a:off x="2824692" y="35909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TextBox 121"/>
          <p:cNvSpPr txBox="1"/>
          <p:nvPr/>
        </p:nvSpPr>
        <p:spPr>
          <a:xfrm>
            <a:off x="2815167" y="35909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23" name="Rectangle 122"/>
          <p:cNvSpPr/>
          <p:nvPr/>
        </p:nvSpPr>
        <p:spPr>
          <a:xfrm>
            <a:off x="3375025" y="35909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3365500" y="35909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25" name="Rectangle 124"/>
          <p:cNvSpPr/>
          <p:nvPr/>
        </p:nvSpPr>
        <p:spPr>
          <a:xfrm>
            <a:off x="3925358" y="35909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TextBox 125"/>
          <p:cNvSpPr txBox="1"/>
          <p:nvPr/>
        </p:nvSpPr>
        <p:spPr>
          <a:xfrm>
            <a:off x="3915833" y="35909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27" name="Rectangle 126"/>
          <p:cNvSpPr/>
          <p:nvPr/>
        </p:nvSpPr>
        <p:spPr>
          <a:xfrm>
            <a:off x="4475692" y="35909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TextBox 127"/>
          <p:cNvSpPr txBox="1"/>
          <p:nvPr/>
        </p:nvSpPr>
        <p:spPr>
          <a:xfrm>
            <a:off x="4466167" y="35909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29" name="Rectangle 128"/>
          <p:cNvSpPr/>
          <p:nvPr/>
        </p:nvSpPr>
        <p:spPr>
          <a:xfrm>
            <a:off x="1724025" y="38385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Rectangle 129"/>
          <p:cNvSpPr/>
          <p:nvPr/>
        </p:nvSpPr>
        <p:spPr>
          <a:xfrm>
            <a:off x="2274358" y="383857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TextBox 130"/>
          <p:cNvSpPr txBox="1"/>
          <p:nvPr/>
        </p:nvSpPr>
        <p:spPr>
          <a:xfrm>
            <a:off x="2264833" y="3838575"/>
            <a:ext cx="550333" cy="228600"/>
          </a:xfrm>
          <a:prstGeom prst="rect">
            <a:avLst/>
          </a:prstGeom>
          <a:noFill/>
        </p:spPr>
        <p:txBody>
          <a:bodyPr wrap="none" lIns="0" rIns="0" tIns="0" bIns="0" anchor="ctr">
            <a:spAutoFit/>
          </a:bodyPr>
          <a:lstStyle/>
          <a:p>
            <a:pPr algn="ctr"/>
            <a:r>
              <a:rPr sz="1100" b="1">
                <a:solidFill>
                  <a:srgbClr val="0F2D52"/>
                </a:solidFill>
                <a:latin typeface="Calibri"/>
              </a:rPr>
              <a:t>2</a:t>
            </a:r>
          </a:p>
        </p:txBody>
      </p:sp>
      <p:sp>
        <p:nvSpPr>
          <p:cNvPr id="132" name="Rectangle 131"/>
          <p:cNvSpPr/>
          <p:nvPr/>
        </p:nvSpPr>
        <p:spPr>
          <a:xfrm>
            <a:off x="2824692" y="38385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TextBox 132"/>
          <p:cNvSpPr txBox="1"/>
          <p:nvPr/>
        </p:nvSpPr>
        <p:spPr>
          <a:xfrm>
            <a:off x="2815167" y="38385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34" name="Rectangle 133"/>
          <p:cNvSpPr/>
          <p:nvPr/>
        </p:nvSpPr>
        <p:spPr>
          <a:xfrm>
            <a:off x="3375025" y="38385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TextBox 134"/>
          <p:cNvSpPr txBox="1"/>
          <p:nvPr/>
        </p:nvSpPr>
        <p:spPr>
          <a:xfrm>
            <a:off x="3365500" y="38385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36" name="Rectangle 135"/>
          <p:cNvSpPr/>
          <p:nvPr/>
        </p:nvSpPr>
        <p:spPr>
          <a:xfrm>
            <a:off x="3925358" y="38385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Rectangle 136"/>
          <p:cNvSpPr/>
          <p:nvPr/>
        </p:nvSpPr>
        <p:spPr>
          <a:xfrm>
            <a:off x="4475692" y="38385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TextBox 137"/>
          <p:cNvSpPr txBox="1"/>
          <p:nvPr/>
        </p:nvSpPr>
        <p:spPr>
          <a:xfrm>
            <a:off x="4466167" y="38385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39" name="TextBox 138"/>
          <p:cNvSpPr txBox="1"/>
          <p:nvPr/>
        </p:nvSpPr>
        <p:spPr>
          <a:xfrm>
            <a:off x="5207000" y="1047750"/>
            <a:ext cx="3302000" cy="171450"/>
          </a:xfrm>
          <a:prstGeom prst="rect">
            <a:avLst/>
          </a:prstGeom>
          <a:noFill/>
        </p:spPr>
        <p:txBody>
          <a:bodyPr wrap="square" lIns="28575" rIns="28575" tIns="9525" bIns="9525" anchor="t">
            <a:spAutoFit/>
          </a:bodyPr>
          <a:lstStyle/>
          <a:p>
            <a:pPr algn="l"/>
            <a:r>
              <a:rPr sz="1100" b="1">
                <a:solidFill>
                  <a:srgbClr val="0F2D52"/>
                </a:solidFill>
                <a:latin typeface="Calibri"/>
              </a:rPr>
              <a:t>By department</a:t>
            </a:r>
          </a:p>
        </p:txBody>
      </p:sp>
      <p:sp>
        <p:nvSpPr>
          <p:cNvPr id="140" name="TextBox 139"/>
          <p:cNvSpPr txBox="1"/>
          <p:nvPr/>
        </p:nvSpPr>
        <p:spPr>
          <a:xfrm>
            <a:off x="5207000" y="1219200"/>
            <a:ext cx="825500" cy="342900"/>
          </a:xfrm>
          <a:prstGeom prst="rect">
            <a:avLst/>
          </a:prstGeom>
          <a:noFill/>
        </p:spPr>
        <p:txBody>
          <a:bodyPr wrap="square" lIns="28575" rIns="28575" tIns="9525" bIns="9525" anchor="ctr">
            <a:spAutoFit/>
          </a:bodyPr>
          <a:lstStyle/>
          <a:p>
            <a:pPr algn="ctr">
              <a:lnSpc>
                <a:spcPct val="115000"/>
              </a:lnSpc>
            </a:pPr>
            <a:r>
              <a:rPr sz="1100" b="1">
                <a:solidFill>
                  <a:srgbClr val="1F2933"/>
                </a:solidFill>
                <a:latin typeface="Calibri"/>
              </a:rPr>
              <a:t>Product &amp; R&amp;D</a:t>
            </a:r>
          </a:p>
        </p:txBody>
      </p:sp>
      <p:sp>
        <p:nvSpPr>
          <p:cNvPr id="141" name="TextBox 140"/>
          <p:cNvSpPr txBox="1"/>
          <p:nvPr/>
        </p:nvSpPr>
        <p:spPr>
          <a:xfrm>
            <a:off x="6032500" y="1219200"/>
            <a:ext cx="825500" cy="342900"/>
          </a:xfrm>
          <a:prstGeom prst="rect">
            <a:avLst/>
          </a:prstGeom>
          <a:noFill/>
        </p:spPr>
        <p:txBody>
          <a:bodyPr wrap="square" lIns="28575" rIns="28575" tIns="9525" bIns="9525" anchor="ctr">
            <a:spAutoFit/>
          </a:bodyPr>
          <a:lstStyle/>
          <a:p>
            <a:pPr algn="ctr">
              <a:lnSpc>
                <a:spcPct val="115000"/>
              </a:lnSpc>
            </a:pPr>
            <a:r>
              <a:rPr sz="1100" b="1">
                <a:solidFill>
                  <a:srgbClr val="1F2933"/>
                </a:solidFill>
                <a:latin typeface="Calibri"/>
              </a:rPr>
              <a:t>Corp. dev.</a:t>
            </a:r>
          </a:p>
        </p:txBody>
      </p:sp>
      <p:sp>
        <p:nvSpPr>
          <p:cNvPr id="142" name="TextBox 141"/>
          <p:cNvSpPr txBox="1"/>
          <p:nvPr/>
        </p:nvSpPr>
        <p:spPr>
          <a:xfrm>
            <a:off x="6858000" y="1219200"/>
            <a:ext cx="825500" cy="342900"/>
          </a:xfrm>
          <a:prstGeom prst="rect">
            <a:avLst/>
          </a:prstGeom>
          <a:noFill/>
        </p:spPr>
        <p:txBody>
          <a:bodyPr wrap="square" lIns="28575" rIns="28575" tIns="9525" bIns="9525" anchor="ctr">
            <a:spAutoFit/>
          </a:bodyPr>
          <a:lstStyle/>
          <a:p>
            <a:pPr algn="ctr">
              <a:lnSpc>
                <a:spcPct val="115000"/>
              </a:lnSpc>
            </a:pPr>
            <a:r>
              <a:rPr sz="1100" b="1">
                <a:solidFill>
                  <a:srgbClr val="1F2933"/>
                </a:solidFill>
                <a:latin typeface="Calibri"/>
              </a:rPr>
              <a:t>Operations</a:t>
            </a:r>
          </a:p>
        </p:txBody>
      </p:sp>
      <p:sp>
        <p:nvSpPr>
          <p:cNvPr id="143" name="TextBox 142"/>
          <p:cNvSpPr txBox="1"/>
          <p:nvPr/>
        </p:nvSpPr>
        <p:spPr>
          <a:xfrm>
            <a:off x="7683500" y="1219200"/>
            <a:ext cx="825500" cy="342900"/>
          </a:xfrm>
          <a:prstGeom prst="rect">
            <a:avLst/>
          </a:prstGeom>
          <a:noFill/>
        </p:spPr>
        <p:txBody>
          <a:bodyPr wrap="square" lIns="28575" rIns="28575" tIns="9525" bIns="9525" anchor="ctr">
            <a:spAutoFit/>
          </a:bodyPr>
          <a:lstStyle/>
          <a:p>
            <a:pPr algn="ctr">
              <a:lnSpc>
                <a:spcPct val="115000"/>
              </a:lnSpc>
            </a:pPr>
            <a:r>
              <a:rPr sz="1100" b="1">
                <a:solidFill>
                  <a:srgbClr val="1F2933"/>
                </a:solidFill>
                <a:latin typeface="Calibri"/>
              </a:rPr>
              <a:t>Legal &amp; reg.</a:t>
            </a:r>
          </a:p>
        </p:txBody>
      </p:sp>
      <p:sp>
        <p:nvSpPr>
          <p:cNvPr id="144" name="Rectangle 143"/>
          <p:cNvSpPr/>
          <p:nvPr/>
        </p:nvSpPr>
        <p:spPr>
          <a:xfrm>
            <a:off x="5216525" y="16097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TextBox 144"/>
          <p:cNvSpPr txBox="1"/>
          <p:nvPr/>
        </p:nvSpPr>
        <p:spPr>
          <a:xfrm>
            <a:off x="5207000" y="16097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46" name="Rectangle 145"/>
          <p:cNvSpPr/>
          <p:nvPr/>
        </p:nvSpPr>
        <p:spPr>
          <a:xfrm>
            <a:off x="6042025" y="16097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TextBox 146"/>
          <p:cNvSpPr txBox="1"/>
          <p:nvPr/>
        </p:nvSpPr>
        <p:spPr>
          <a:xfrm>
            <a:off x="6032500" y="16097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48" name="Rectangle 147"/>
          <p:cNvSpPr/>
          <p:nvPr/>
        </p:nvSpPr>
        <p:spPr>
          <a:xfrm>
            <a:off x="6867525" y="16097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TextBox 148"/>
          <p:cNvSpPr txBox="1"/>
          <p:nvPr/>
        </p:nvSpPr>
        <p:spPr>
          <a:xfrm>
            <a:off x="6858000" y="16097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50" name="Rectangle 149"/>
          <p:cNvSpPr/>
          <p:nvPr/>
        </p:nvSpPr>
        <p:spPr>
          <a:xfrm>
            <a:off x="7693025" y="16097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TextBox 150"/>
          <p:cNvSpPr txBox="1"/>
          <p:nvPr/>
        </p:nvSpPr>
        <p:spPr>
          <a:xfrm>
            <a:off x="7683500" y="16097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52" name="Rectangle 151"/>
          <p:cNvSpPr/>
          <p:nvPr/>
        </p:nvSpPr>
        <p:spPr>
          <a:xfrm>
            <a:off x="5216525" y="1857375"/>
            <a:ext cx="806450" cy="228600"/>
          </a:xfrm>
          <a:prstGeom prst="rect">
            <a:avLst/>
          </a:prstGeom>
          <a:solidFill>
            <a:srgbClr val="3D73AE"/>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TextBox 152"/>
          <p:cNvSpPr txBox="1"/>
          <p:nvPr/>
        </p:nvSpPr>
        <p:spPr>
          <a:xfrm>
            <a:off x="5207000" y="1857375"/>
            <a:ext cx="825500" cy="228600"/>
          </a:xfrm>
          <a:prstGeom prst="rect">
            <a:avLst/>
          </a:prstGeom>
          <a:noFill/>
        </p:spPr>
        <p:txBody>
          <a:bodyPr wrap="square" lIns="28575" rIns="28575" tIns="9525" bIns="9525" anchor="ctr">
            <a:spAutoFit/>
          </a:bodyPr>
          <a:lstStyle/>
          <a:p>
            <a:pPr algn="ctr"/>
            <a:r>
              <a:rPr sz="1100" b="1">
                <a:solidFill>
                  <a:srgbClr val="FFFFFF"/>
                </a:solidFill>
                <a:latin typeface="Calibri"/>
              </a:rPr>
              <a:t>3</a:t>
            </a:r>
          </a:p>
        </p:txBody>
      </p:sp>
      <p:sp>
        <p:nvSpPr>
          <p:cNvPr id="154" name="Rectangle 153"/>
          <p:cNvSpPr/>
          <p:nvPr/>
        </p:nvSpPr>
        <p:spPr>
          <a:xfrm>
            <a:off x="6042025" y="1857375"/>
            <a:ext cx="806450"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Rectangle 154"/>
          <p:cNvSpPr/>
          <p:nvPr/>
        </p:nvSpPr>
        <p:spPr>
          <a:xfrm>
            <a:off x="6867525" y="185737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TextBox 155"/>
          <p:cNvSpPr txBox="1"/>
          <p:nvPr/>
        </p:nvSpPr>
        <p:spPr>
          <a:xfrm>
            <a:off x="6858000" y="185737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57" name="Rectangle 156"/>
          <p:cNvSpPr/>
          <p:nvPr/>
        </p:nvSpPr>
        <p:spPr>
          <a:xfrm>
            <a:off x="7693025" y="1857375"/>
            <a:ext cx="806450"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Rectangle 157"/>
          <p:cNvSpPr/>
          <p:nvPr/>
        </p:nvSpPr>
        <p:spPr>
          <a:xfrm>
            <a:off x="5216525" y="21050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TextBox 158"/>
          <p:cNvSpPr txBox="1"/>
          <p:nvPr/>
        </p:nvSpPr>
        <p:spPr>
          <a:xfrm>
            <a:off x="5207000" y="21050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60" name="Rectangle 159"/>
          <p:cNvSpPr/>
          <p:nvPr/>
        </p:nvSpPr>
        <p:spPr>
          <a:xfrm>
            <a:off x="6042025" y="21050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TextBox 160"/>
          <p:cNvSpPr txBox="1"/>
          <p:nvPr/>
        </p:nvSpPr>
        <p:spPr>
          <a:xfrm>
            <a:off x="6032500" y="21050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62" name="Rectangle 161"/>
          <p:cNvSpPr/>
          <p:nvPr/>
        </p:nvSpPr>
        <p:spPr>
          <a:xfrm>
            <a:off x="6867525" y="21050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TextBox 162"/>
          <p:cNvSpPr txBox="1"/>
          <p:nvPr/>
        </p:nvSpPr>
        <p:spPr>
          <a:xfrm>
            <a:off x="6858000" y="21050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64" name="Rectangle 163"/>
          <p:cNvSpPr/>
          <p:nvPr/>
        </p:nvSpPr>
        <p:spPr>
          <a:xfrm>
            <a:off x="7693025" y="21050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TextBox 164"/>
          <p:cNvSpPr txBox="1"/>
          <p:nvPr/>
        </p:nvSpPr>
        <p:spPr>
          <a:xfrm>
            <a:off x="7683500" y="21050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66" name="Rectangle 165"/>
          <p:cNvSpPr/>
          <p:nvPr/>
        </p:nvSpPr>
        <p:spPr>
          <a:xfrm>
            <a:off x="5216525" y="2352675"/>
            <a:ext cx="806450" cy="228600"/>
          </a:xfrm>
          <a:prstGeom prst="rect">
            <a:avLst/>
          </a:prstGeom>
          <a:solidFill>
            <a:srgbClr val="3D73AE"/>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TextBox 166"/>
          <p:cNvSpPr txBox="1"/>
          <p:nvPr/>
        </p:nvSpPr>
        <p:spPr>
          <a:xfrm>
            <a:off x="5207000" y="2352675"/>
            <a:ext cx="825500" cy="228600"/>
          </a:xfrm>
          <a:prstGeom prst="rect">
            <a:avLst/>
          </a:prstGeom>
          <a:noFill/>
        </p:spPr>
        <p:txBody>
          <a:bodyPr wrap="square" lIns="28575" rIns="28575" tIns="9525" bIns="9525" anchor="ctr">
            <a:spAutoFit/>
          </a:bodyPr>
          <a:lstStyle/>
          <a:p>
            <a:pPr algn="ctr"/>
            <a:r>
              <a:rPr sz="1100" b="1">
                <a:solidFill>
                  <a:srgbClr val="FFFFFF"/>
                </a:solidFill>
                <a:latin typeface="Calibri"/>
              </a:rPr>
              <a:t>3</a:t>
            </a:r>
          </a:p>
        </p:txBody>
      </p:sp>
      <p:sp>
        <p:nvSpPr>
          <p:cNvPr id="168" name="Rectangle 167"/>
          <p:cNvSpPr/>
          <p:nvPr/>
        </p:nvSpPr>
        <p:spPr>
          <a:xfrm>
            <a:off x="6042025" y="2352675"/>
            <a:ext cx="806450"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Rectangle 168"/>
          <p:cNvSpPr/>
          <p:nvPr/>
        </p:nvSpPr>
        <p:spPr>
          <a:xfrm>
            <a:off x="6867525" y="235267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TextBox 169"/>
          <p:cNvSpPr txBox="1"/>
          <p:nvPr/>
        </p:nvSpPr>
        <p:spPr>
          <a:xfrm>
            <a:off x="6858000" y="235267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71" name="Rectangle 170"/>
          <p:cNvSpPr/>
          <p:nvPr/>
        </p:nvSpPr>
        <p:spPr>
          <a:xfrm>
            <a:off x="7693025" y="2352675"/>
            <a:ext cx="806450"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 name="Rectangle 171"/>
          <p:cNvSpPr/>
          <p:nvPr/>
        </p:nvSpPr>
        <p:spPr>
          <a:xfrm>
            <a:off x="5216525" y="26003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TextBox 172"/>
          <p:cNvSpPr txBox="1"/>
          <p:nvPr/>
        </p:nvSpPr>
        <p:spPr>
          <a:xfrm>
            <a:off x="5207000" y="26003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74" name="Rectangle 173"/>
          <p:cNvSpPr/>
          <p:nvPr/>
        </p:nvSpPr>
        <p:spPr>
          <a:xfrm>
            <a:off x="6042025" y="26003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 name="TextBox 174"/>
          <p:cNvSpPr txBox="1"/>
          <p:nvPr/>
        </p:nvSpPr>
        <p:spPr>
          <a:xfrm>
            <a:off x="6032500" y="26003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76" name="Rectangle 175"/>
          <p:cNvSpPr/>
          <p:nvPr/>
        </p:nvSpPr>
        <p:spPr>
          <a:xfrm>
            <a:off x="6867525" y="26003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 name="TextBox 176"/>
          <p:cNvSpPr txBox="1"/>
          <p:nvPr/>
        </p:nvSpPr>
        <p:spPr>
          <a:xfrm>
            <a:off x="6858000" y="26003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78" name="Rectangle 177"/>
          <p:cNvSpPr/>
          <p:nvPr/>
        </p:nvSpPr>
        <p:spPr>
          <a:xfrm>
            <a:off x="7693025" y="26003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 name="TextBox 178"/>
          <p:cNvSpPr txBox="1"/>
          <p:nvPr/>
        </p:nvSpPr>
        <p:spPr>
          <a:xfrm>
            <a:off x="7683500" y="26003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80" name="Rectangle 179"/>
          <p:cNvSpPr/>
          <p:nvPr/>
        </p:nvSpPr>
        <p:spPr>
          <a:xfrm>
            <a:off x="5216525" y="2847975"/>
            <a:ext cx="806450" cy="228600"/>
          </a:xfrm>
          <a:prstGeom prst="rect">
            <a:avLst/>
          </a:prstGeom>
          <a:solidFill>
            <a:srgbClr val="3D73AE"/>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 name="TextBox 180"/>
          <p:cNvSpPr txBox="1"/>
          <p:nvPr/>
        </p:nvSpPr>
        <p:spPr>
          <a:xfrm>
            <a:off x="5207000" y="2847975"/>
            <a:ext cx="825500" cy="228600"/>
          </a:xfrm>
          <a:prstGeom prst="rect">
            <a:avLst/>
          </a:prstGeom>
          <a:noFill/>
        </p:spPr>
        <p:txBody>
          <a:bodyPr wrap="square" lIns="28575" rIns="28575" tIns="9525" bIns="9525" anchor="ctr">
            <a:spAutoFit/>
          </a:bodyPr>
          <a:lstStyle/>
          <a:p>
            <a:pPr algn="ctr"/>
            <a:r>
              <a:rPr sz="1100" b="1">
                <a:solidFill>
                  <a:srgbClr val="FFFFFF"/>
                </a:solidFill>
                <a:latin typeface="Calibri"/>
              </a:rPr>
              <a:t>3</a:t>
            </a:r>
          </a:p>
        </p:txBody>
      </p:sp>
      <p:sp>
        <p:nvSpPr>
          <p:cNvPr id="182" name="Rectangle 181"/>
          <p:cNvSpPr/>
          <p:nvPr/>
        </p:nvSpPr>
        <p:spPr>
          <a:xfrm>
            <a:off x="6042025" y="2847975"/>
            <a:ext cx="806450"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 name="Rectangle 182"/>
          <p:cNvSpPr/>
          <p:nvPr/>
        </p:nvSpPr>
        <p:spPr>
          <a:xfrm>
            <a:off x="6867525" y="284797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 name="TextBox 183"/>
          <p:cNvSpPr txBox="1"/>
          <p:nvPr/>
        </p:nvSpPr>
        <p:spPr>
          <a:xfrm>
            <a:off x="6858000" y="284797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85" name="Rectangle 184"/>
          <p:cNvSpPr/>
          <p:nvPr/>
        </p:nvSpPr>
        <p:spPr>
          <a:xfrm>
            <a:off x="7693025" y="2847975"/>
            <a:ext cx="806450"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 name="Rectangle 185"/>
          <p:cNvSpPr/>
          <p:nvPr/>
        </p:nvSpPr>
        <p:spPr>
          <a:xfrm>
            <a:off x="5216525" y="30956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 name="TextBox 186"/>
          <p:cNvSpPr txBox="1"/>
          <p:nvPr/>
        </p:nvSpPr>
        <p:spPr>
          <a:xfrm>
            <a:off x="5207000" y="30956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88" name="Rectangle 187"/>
          <p:cNvSpPr/>
          <p:nvPr/>
        </p:nvSpPr>
        <p:spPr>
          <a:xfrm>
            <a:off x="6042025" y="30956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 name="TextBox 188"/>
          <p:cNvSpPr txBox="1"/>
          <p:nvPr/>
        </p:nvSpPr>
        <p:spPr>
          <a:xfrm>
            <a:off x="6032500" y="30956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90" name="Rectangle 189"/>
          <p:cNvSpPr/>
          <p:nvPr/>
        </p:nvSpPr>
        <p:spPr>
          <a:xfrm>
            <a:off x="6867525" y="30956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 name="TextBox 190"/>
          <p:cNvSpPr txBox="1"/>
          <p:nvPr/>
        </p:nvSpPr>
        <p:spPr>
          <a:xfrm>
            <a:off x="6858000" y="30956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92" name="Rectangle 191"/>
          <p:cNvSpPr/>
          <p:nvPr/>
        </p:nvSpPr>
        <p:spPr>
          <a:xfrm>
            <a:off x="7693025" y="30956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 name="TextBox 192"/>
          <p:cNvSpPr txBox="1"/>
          <p:nvPr/>
        </p:nvSpPr>
        <p:spPr>
          <a:xfrm>
            <a:off x="7683500" y="30956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94" name="Rectangle 193"/>
          <p:cNvSpPr/>
          <p:nvPr/>
        </p:nvSpPr>
        <p:spPr>
          <a:xfrm>
            <a:off x="5216525" y="3343275"/>
            <a:ext cx="806450" cy="228600"/>
          </a:xfrm>
          <a:prstGeom prst="rect">
            <a:avLst/>
          </a:prstGeom>
          <a:solidFill>
            <a:srgbClr val="3D73AE"/>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 name="TextBox 194"/>
          <p:cNvSpPr txBox="1"/>
          <p:nvPr/>
        </p:nvSpPr>
        <p:spPr>
          <a:xfrm>
            <a:off x="5207000" y="3343275"/>
            <a:ext cx="825500" cy="228600"/>
          </a:xfrm>
          <a:prstGeom prst="rect">
            <a:avLst/>
          </a:prstGeom>
          <a:noFill/>
        </p:spPr>
        <p:txBody>
          <a:bodyPr wrap="square" lIns="28575" rIns="28575" tIns="9525" bIns="9525" anchor="ctr">
            <a:spAutoFit/>
          </a:bodyPr>
          <a:lstStyle/>
          <a:p>
            <a:pPr algn="ctr"/>
            <a:r>
              <a:rPr sz="1100" b="1">
                <a:solidFill>
                  <a:srgbClr val="FFFFFF"/>
                </a:solidFill>
                <a:latin typeface="Calibri"/>
              </a:rPr>
              <a:t>3</a:t>
            </a:r>
          </a:p>
        </p:txBody>
      </p:sp>
      <p:sp>
        <p:nvSpPr>
          <p:cNvPr id="196" name="Rectangle 195"/>
          <p:cNvSpPr/>
          <p:nvPr/>
        </p:nvSpPr>
        <p:spPr>
          <a:xfrm>
            <a:off x="6042025" y="3343275"/>
            <a:ext cx="806450"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 name="Rectangle 196"/>
          <p:cNvSpPr/>
          <p:nvPr/>
        </p:nvSpPr>
        <p:spPr>
          <a:xfrm>
            <a:off x="6867525" y="334327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 name="TextBox 197"/>
          <p:cNvSpPr txBox="1"/>
          <p:nvPr/>
        </p:nvSpPr>
        <p:spPr>
          <a:xfrm>
            <a:off x="6858000" y="334327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99" name="Rectangle 198"/>
          <p:cNvSpPr/>
          <p:nvPr/>
        </p:nvSpPr>
        <p:spPr>
          <a:xfrm>
            <a:off x="7693025" y="3343275"/>
            <a:ext cx="806450"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 name="Rectangle 199"/>
          <p:cNvSpPr/>
          <p:nvPr/>
        </p:nvSpPr>
        <p:spPr>
          <a:xfrm>
            <a:off x="5216525" y="35909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 name="TextBox 200"/>
          <p:cNvSpPr txBox="1"/>
          <p:nvPr/>
        </p:nvSpPr>
        <p:spPr>
          <a:xfrm>
            <a:off x="5207000" y="35909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202" name="Rectangle 201"/>
          <p:cNvSpPr/>
          <p:nvPr/>
        </p:nvSpPr>
        <p:spPr>
          <a:xfrm>
            <a:off x="6042025" y="35909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 name="TextBox 202"/>
          <p:cNvSpPr txBox="1"/>
          <p:nvPr/>
        </p:nvSpPr>
        <p:spPr>
          <a:xfrm>
            <a:off x="6032500" y="35909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204" name="Rectangle 203"/>
          <p:cNvSpPr/>
          <p:nvPr/>
        </p:nvSpPr>
        <p:spPr>
          <a:xfrm>
            <a:off x="6867525" y="35909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 name="TextBox 204"/>
          <p:cNvSpPr txBox="1"/>
          <p:nvPr/>
        </p:nvSpPr>
        <p:spPr>
          <a:xfrm>
            <a:off x="6858000" y="35909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206" name="Rectangle 205"/>
          <p:cNvSpPr/>
          <p:nvPr/>
        </p:nvSpPr>
        <p:spPr>
          <a:xfrm>
            <a:off x="7693025" y="35909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 name="TextBox 206"/>
          <p:cNvSpPr txBox="1"/>
          <p:nvPr/>
        </p:nvSpPr>
        <p:spPr>
          <a:xfrm>
            <a:off x="7683500" y="35909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208" name="Rectangle 207"/>
          <p:cNvSpPr/>
          <p:nvPr/>
        </p:nvSpPr>
        <p:spPr>
          <a:xfrm>
            <a:off x="5216525" y="3838575"/>
            <a:ext cx="806450" cy="228600"/>
          </a:xfrm>
          <a:prstGeom prst="rect">
            <a:avLst/>
          </a:prstGeom>
          <a:solidFill>
            <a:srgbClr val="3D73AE"/>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 name="TextBox 208"/>
          <p:cNvSpPr txBox="1"/>
          <p:nvPr/>
        </p:nvSpPr>
        <p:spPr>
          <a:xfrm>
            <a:off x="5207000" y="3838575"/>
            <a:ext cx="825500" cy="228600"/>
          </a:xfrm>
          <a:prstGeom prst="rect">
            <a:avLst/>
          </a:prstGeom>
          <a:noFill/>
        </p:spPr>
        <p:txBody>
          <a:bodyPr wrap="square" lIns="28575" rIns="28575" tIns="9525" bIns="9525" anchor="ctr">
            <a:spAutoFit/>
          </a:bodyPr>
          <a:lstStyle/>
          <a:p>
            <a:pPr algn="ctr"/>
            <a:r>
              <a:rPr sz="1100" b="1">
                <a:solidFill>
                  <a:srgbClr val="FFFFFF"/>
                </a:solidFill>
                <a:latin typeface="Calibri"/>
              </a:rPr>
              <a:t>3</a:t>
            </a:r>
          </a:p>
        </p:txBody>
      </p:sp>
      <p:sp>
        <p:nvSpPr>
          <p:cNvPr id="210" name="Rectangle 209"/>
          <p:cNvSpPr/>
          <p:nvPr/>
        </p:nvSpPr>
        <p:spPr>
          <a:xfrm>
            <a:off x="6042025" y="3838575"/>
            <a:ext cx="806450"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 name="Rectangle 210"/>
          <p:cNvSpPr/>
          <p:nvPr/>
        </p:nvSpPr>
        <p:spPr>
          <a:xfrm>
            <a:off x="6867525" y="383857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 name="TextBox 211"/>
          <p:cNvSpPr txBox="1"/>
          <p:nvPr/>
        </p:nvSpPr>
        <p:spPr>
          <a:xfrm>
            <a:off x="6858000" y="383857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213" name="Rectangle 212"/>
          <p:cNvSpPr/>
          <p:nvPr/>
        </p:nvSpPr>
        <p:spPr>
          <a:xfrm>
            <a:off x="7693025" y="3838575"/>
            <a:ext cx="806450"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 name="TextBox 213"/>
          <p:cNvSpPr txBox="1"/>
          <p:nvPr/>
        </p:nvSpPr>
        <p:spPr>
          <a:xfrm>
            <a:off x="8699500" y="1047750"/>
            <a:ext cx="3302000" cy="171450"/>
          </a:xfrm>
          <a:prstGeom prst="rect">
            <a:avLst/>
          </a:prstGeom>
          <a:noFill/>
        </p:spPr>
        <p:txBody>
          <a:bodyPr wrap="square" lIns="28575" rIns="28575" tIns="9525" bIns="9525" anchor="t">
            <a:spAutoFit/>
          </a:bodyPr>
          <a:lstStyle/>
          <a:p>
            <a:pPr algn="l"/>
            <a:r>
              <a:rPr sz="1100" b="1">
                <a:solidFill>
                  <a:srgbClr val="0F2D52"/>
                </a:solidFill>
                <a:latin typeface="Calibri"/>
              </a:rPr>
              <a:t>By region of activity</a:t>
            </a:r>
          </a:p>
        </p:txBody>
      </p:sp>
      <p:sp>
        <p:nvSpPr>
          <p:cNvPr id="215" name="TextBox 214"/>
          <p:cNvSpPr txBox="1"/>
          <p:nvPr/>
        </p:nvSpPr>
        <p:spPr>
          <a:xfrm>
            <a:off x="8699500" y="1219200"/>
            <a:ext cx="550333" cy="342900"/>
          </a:xfrm>
          <a:prstGeom prst="rect">
            <a:avLst/>
          </a:prstGeom>
          <a:noFill/>
        </p:spPr>
        <p:txBody>
          <a:bodyPr wrap="square" lIns="28575" rIns="28575" tIns="9525" bIns="9525" anchor="ctr">
            <a:spAutoFit/>
          </a:bodyPr>
          <a:lstStyle/>
          <a:p>
            <a:pPr algn="ctr">
              <a:lnSpc>
                <a:spcPct val="115000"/>
              </a:lnSpc>
            </a:pPr>
            <a:r>
              <a:rPr sz="1100" b="1">
                <a:solidFill>
                  <a:srgbClr val="1F2933"/>
                </a:solidFill>
                <a:latin typeface="Calibri"/>
              </a:rPr>
              <a:t>N. America</a:t>
            </a:r>
          </a:p>
        </p:txBody>
      </p:sp>
      <p:sp>
        <p:nvSpPr>
          <p:cNvPr id="216" name="TextBox 215"/>
          <p:cNvSpPr txBox="1"/>
          <p:nvPr/>
        </p:nvSpPr>
        <p:spPr>
          <a:xfrm>
            <a:off x="9249833" y="1219200"/>
            <a:ext cx="550333" cy="342900"/>
          </a:xfrm>
          <a:prstGeom prst="rect">
            <a:avLst/>
          </a:prstGeom>
          <a:noFill/>
        </p:spPr>
        <p:txBody>
          <a:bodyPr wrap="square" lIns="28575" rIns="28575" tIns="9525" bIns="9525" anchor="ctr">
            <a:spAutoFit/>
          </a:bodyPr>
          <a:lstStyle/>
          <a:p>
            <a:pPr algn="ctr">
              <a:lnSpc>
                <a:spcPct val="115000"/>
              </a:lnSpc>
            </a:pPr>
            <a:r>
              <a:rPr sz="1100" b="1">
                <a:solidFill>
                  <a:srgbClr val="1F2933"/>
                </a:solidFill>
                <a:latin typeface="Calibri"/>
              </a:rPr>
              <a:t>Europe</a:t>
            </a:r>
          </a:p>
        </p:txBody>
      </p:sp>
      <p:sp>
        <p:nvSpPr>
          <p:cNvPr id="217" name="TextBox 216"/>
          <p:cNvSpPr txBox="1"/>
          <p:nvPr/>
        </p:nvSpPr>
        <p:spPr>
          <a:xfrm>
            <a:off x="9800167" y="1219200"/>
            <a:ext cx="550333" cy="342900"/>
          </a:xfrm>
          <a:prstGeom prst="rect">
            <a:avLst/>
          </a:prstGeom>
          <a:noFill/>
        </p:spPr>
        <p:txBody>
          <a:bodyPr wrap="square" lIns="28575" rIns="28575" tIns="9525" bIns="9525" anchor="ctr">
            <a:spAutoFit/>
          </a:bodyPr>
          <a:lstStyle/>
          <a:p>
            <a:pPr algn="ctr">
              <a:lnSpc>
                <a:spcPct val="115000"/>
              </a:lnSpc>
            </a:pPr>
            <a:r>
              <a:rPr sz="1100" b="1">
                <a:solidFill>
                  <a:srgbClr val="1F2933"/>
                </a:solidFill>
                <a:latin typeface="Calibri"/>
              </a:rPr>
              <a:t>S. Asia &amp; Pac.</a:t>
            </a:r>
          </a:p>
        </p:txBody>
      </p:sp>
      <p:sp>
        <p:nvSpPr>
          <p:cNvPr id="218" name="TextBox 217"/>
          <p:cNvSpPr txBox="1"/>
          <p:nvPr/>
        </p:nvSpPr>
        <p:spPr>
          <a:xfrm>
            <a:off x="10350500" y="1219200"/>
            <a:ext cx="550333" cy="342900"/>
          </a:xfrm>
          <a:prstGeom prst="rect">
            <a:avLst/>
          </a:prstGeom>
          <a:noFill/>
        </p:spPr>
        <p:txBody>
          <a:bodyPr wrap="square" lIns="28575" rIns="28575" tIns="9525" bIns="9525" anchor="ctr">
            <a:spAutoFit/>
          </a:bodyPr>
          <a:lstStyle/>
          <a:p>
            <a:pPr algn="ctr">
              <a:lnSpc>
                <a:spcPct val="115000"/>
              </a:lnSpc>
            </a:pPr>
            <a:r>
              <a:rPr sz="1100" b="1">
                <a:solidFill>
                  <a:srgbClr val="1F2933"/>
                </a:solidFill>
                <a:latin typeface="Calibri"/>
              </a:rPr>
              <a:t>E. Asia</a:t>
            </a:r>
          </a:p>
        </p:txBody>
      </p:sp>
      <p:sp>
        <p:nvSpPr>
          <p:cNvPr id="219" name="TextBox 218"/>
          <p:cNvSpPr txBox="1"/>
          <p:nvPr/>
        </p:nvSpPr>
        <p:spPr>
          <a:xfrm>
            <a:off x="10900833" y="1219200"/>
            <a:ext cx="550333" cy="342900"/>
          </a:xfrm>
          <a:prstGeom prst="rect">
            <a:avLst/>
          </a:prstGeom>
          <a:noFill/>
        </p:spPr>
        <p:txBody>
          <a:bodyPr wrap="square" lIns="28575" rIns="28575" tIns="9525" bIns="9525" anchor="ctr">
            <a:spAutoFit/>
          </a:bodyPr>
          <a:lstStyle/>
          <a:p>
            <a:pPr algn="ctr">
              <a:lnSpc>
                <a:spcPct val="115000"/>
              </a:lnSpc>
            </a:pPr>
            <a:r>
              <a:rPr sz="1100" b="1">
                <a:solidFill>
                  <a:srgbClr val="1F2933"/>
                </a:solidFill>
                <a:latin typeface="Calibri"/>
              </a:rPr>
              <a:t>LATAM</a:t>
            </a:r>
          </a:p>
        </p:txBody>
      </p:sp>
      <p:sp>
        <p:nvSpPr>
          <p:cNvPr id="220" name="TextBox 219"/>
          <p:cNvSpPr txBox="1"/>
          <p:nvPr/>
        </p:nvSpPr>
        <p:spPr>
          <a:xfrm>
            <a:off x="11451167" y="1219200"/>
            <a:ext cx="550333" cy="342900"/>
          </a:xfrm>
          <a:prstGeom prst="rect">
            <a:avLst/>
          </a:prstGeom>
          <a:noFill/>
        </p:spPr>
        <p:txBody>
          <a:bodyPr wrap="none" lIns="0" rIns="0" tIns="0" bIns="0" anchor="ctr">
            <a:spAutoFit/>
          </a:bodyPr>
          <a:lstStyle/>
          <a:p>
            <a:pPr algn="ctr">
              <a:lnSpc>
                <a:spcPct val="115000"/>
              </a:lnSpc>
            </a:pPr>
            <a:r>
              <a:rPr sz="1100" b="1">
                <a:solidFill>
                  <a:srgbClr val="1F2933"/>
                </a:solidFill>
                <a:latin typeface="Calibri"/>
              </a:rPr>
              <a:t>MEA</a:t>
            </a:r>
          </a:p>
        </p:txBody>
      </p:sp>
      <p:sp>
        <p:nvSpPr>
          <p:cNvPr id="221" name="Rectangle 220"/>
          <p:cNvSpPr/>
          <p:nvPr/>
        </p:nvSpPr>
        <p:spPr>
          <a:xfrm>
            <a:off x="8709025" y="160972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 name="TextBox 221"/>
          <p:cNvSpPr txBox="1"/>
          <p:nvPr/>
        </p:nvSpPr>
        <p:spPr>
          <a:xfrm>
            <a:off x="8699500" y="1609725"/>
            <a:ext cx="550333" cy="228600"/>
          </a:xfrm>
          <a:prstGeom prst="rect">
            <a:avLst/>
          </a:prstGeom>
          <a:noFill/>
        </p:spPr>
        <p:txBody>
          <a:bodyPr wrap="none" lIns="0" rIns="0" tIns="0" bIns="0" anchor="ctr">
            <a:spAutoFit/>
          </a:bodyPr>
          <a:lstStyle/>
          <a:p>
            <a:pPr algn="ctr"/>
            <a:r>
              <a:rPr sz="1100" b="1">
                <a:solidFill>
                  <a:srgbClr val="0F2D52"/>
                </a:solidFill>
                <a:latin typeface="Calibri"/>
              </a:rPr>
              <a:t>2</a:t>
            </a:r>
          </a:p>
        </p:txBody>
      </p:sp>
      <p:sp>
        <p:nvSpPr>
          <p:cNvPr id="223" name="Rectangle 222"/>
          <p:cNvSpPr/>
          <p:nvPr/>
        </p:nvSpPr>
        <p:spPr>
          <a:xfrm>
            <a:off x="9259358" y="16097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 name="TextBox 223"/>
          <p:cNvSpPr txBox="1"/>
          <p:nvPr/>
        </p:nvSpPr>
        <p:spPr>
          <a:xfrm>
            <a:off x="9249833" y="16097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25" name="Rectangle 224"/>
          <p:cNvSpPr/>
          <p:nvPr/>
        </p:nvSpPr>
        <p:spPr>
          <a:xfrm>
            <a:off x="9809692" y="16097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 name="TextBox 225"/>
          <p:cNvSpPr txBox="1"/>
          <p:nvPr/>
        </p:nvSpPr>
        <p:spPr>
          <a:xfrm>
            <a:off x="9800167" y="16097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27" name="Rectangle 226"/>
          <p:cNvSpPr/>
          <p:nvPr/>
        </p:nvSpPr>
        <p:spPr>
          <a:xfrm>
            <a:off x="10360025" y="16097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 name="Rectangle 227"/>
          <p:cNvSpPr/>
          <p:nvPr/>
        </p:nvSpPr>
        <p:spPr>
          <a:xfrm>
            <a:off x="10910358" y="16097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 name="Rectangle 228"/>
          <p:cNvSpPr/>
          <p:nvPr/>
        </p:nvSpPr>
        <p:spPr>
          <a:xfrm>
            <a:off x="11460692" y="16097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 name="Rectangle 229"/>
          <p:cNvSpPr/>
          <p:nvPr/>
        </p:nvSpPr>
        <p:spPr>
          <a:xfrm>
            <a:off x="8709025" y="18573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 name="Rectangle 230"/>
          <p:cNvSpPr/>
          <p:nvPr/>
        </p:nvSpPr>
        <p:spPr>
          <a:xfrm>
            <a:off x="9259358" y="185737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 name="TextBox 231"/>
          <p:cNvSpPr txBox="1"/>
          <p:nvPr/>
        </p:nvSpPr>
        <p:spPr>
          <a:xfrm>
            <a:off x="9249833" y="1857375"/>
            <a:ext cx="550333" cy="228600"/>
          </a:xfrm>
          <a:prstGeom prst="rect">
            <a:avLst/>
          </a:prstGeom>
          <a:noFill/>
        </p:spPr>
        <p:txBody>
          <a:bodyPr wrap="none" lIns="0" rIns="0" tIns="0" bIns="0" anchor="ctr">
            <a:spAutoFit/>
          </a:bodyPr>
          <a:lstStyle/>
          <a:p>
            <a:pPr algn="ctr"/>
            <a:r>
              <a:rPr sz="1100" b="1">
                <a:solidFill>
                  <a:srgbClr val="0F2D52"/>
                </a:solidFill>
                <a:latin typeface="Calibri"/>
              </a:rPr>
              <a:t>2</a:t>
            </a:r>
          </a:p>
        </p:txBody>
      </p:sp>
      <p:sp>
        <p:nvSpPr>
          <p:cNvPr id="233" name="Rectangle 232"/>
          <p:cNvSpPr/>
          <p:nvPr/>
        </p:nvSpPr>
        <p:spPr>
          <a:xfrm>
            <a:off x="9809692" y="18573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 name="TextBox 233"/>
          <p:cNvSpPr txBox="1"/>
          <p:nvPr/>
        </p:nvSpPr>
        <p:spPr>
          <a:xfrm>
            <a:off x="9800167" y="18573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35" name="Rectangle 234"/>
          <p:cNvSpPr/>
          <p:nvPr/>
        </p:nvSpPr>
        <p:spPr>
          <a:xfrm>
            <a:off x="10360025" y="18573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 name="TextBox 235"/>
          <p:cNvSpPr txBox="1"/>
          <p:nvPr/>
        </p:nvSpPr>
        <p:spPr>
          <a:xfrm>
            <a:off x="10350500" y="18573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37" name="Rectangle 236"/>
          <p:cNvSpPr/>
          <p:nvPr/>
        </p:nvSpPr>
        <p:spPr>
          <a:xfrm>
            <a:off x="10910358" y="18573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 name="Rectangle 237"/>
          <p:cNvSpPr/>
          <p:nvPr/>
        </p:nvSpPr>
        <p:spPr>
          <a:xfrm>
            <a:off x="11460692" y="18573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 name="Rectangle 238"/>
          <p:cNvSpPr/>
          <p:nvPr/>
        </p:nvSpPr>
        <p:spPr>
          <a:xfrm>
            <a:off x="8709025" y="21050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 name="Rectangle 239"/>
          <p:cNvSpPr/>
          <p:nvPr/>
        </p:nvSpPr>
        <p:spPr>
          <a:xfrm>
            <a:off x="9259358" y="21050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 name="Rectangle 240"/>
          <p:cNvSpPr/>
          <p:nvPr/>
        </p:nvSpPr>
        <p:spPr>
          <a:xfrm>
            <a:off x="9809692" y="210502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 name="TextBox 241"/>
          <p:cNvSpPr txBox="1"/>
          <p:nvPr/>
        </p:nvSpPr>
        <p:spPr>
          <a:xfrm>
            <a:off x="9800167" y="2105025"/>
            <a:ext cx="550333" cy="228600"/>
          </a:xfrm>
          <a:prstGeom prst="rect">
            <a:avLst/>
          </a:prstGeom>
          <a:noFill/>
        </p:spPr>
        <p:txBody>
          <a:bodyPr wrap="none" lIns="0" rIns="0" tIns="0" bIns="0" anchor="ctr">
            <a:spAutoFit/>
          </a:bodyPr>
          <a:lstStyle/>
          <a:p>
            <a:pPr algn="ctr"/>
            <a:r>
              <a:rPr sz="1100" b="1">
                <a:solidFill>
                  <a:srgbClr val="0F2D52"/>
                </a:solidFill>
                <a:latin typeface="Calibri"/>
              </a:rPr>
              <a:t>2</a:t>
            </a:r>
          </a:p>
        </p:txBody>
      </p:sp>
      <p:sp>
        <p:nvSpPr>
          <p:cNvPr id="243" name="Rectangle 242"/>
          <p:cNvSpPr/>
          <p:nvPr/>
        </p:nvSpPr>
        <p:spPr>
          <a:xfrm>
            <a:off x="10360025" y="21050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 name="TextBox 243"/>
          <p:cNvSpPr txBox="1"/>
          <p:nvPr/>
        </p:nvSpPr>
        <p:spPr>
          <a:xfrm>
            <a:off x="10350500" y="21050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45" name="Rectangle 244"/>
          <p:cNvSpPr/>
          <p:nvPr/>
        </p:nvSpPr>
        <p:spPr>
          <a:xfrm>
            <a:off x="10910358" y="21050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 name="TextBox 245"/>
          <p:cNvSpPr txBox="1"/>
          <p:nvPr/>
        </p:nvSpPr>
        <p:spPr>
          <a:xfrm>
            <a:off x="10900833" y="21050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47" name="Rectangle 246"/>
          <p:cNvSpPr/>
          <p:nvPr/>
        </p:nvSpPr>
        <p:spPr>
          <a:xfrm>
            <a:off x="11460692" y="21050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 name="Rectangle 247"/>
          <p:cNvSpPr/>
          <p:nvPr/>
        </p:nvSpPr>
        <p:spPr>
          <a:xfrm>
            <a:off x="8709025" y="23526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 name="Rectangle 248"/>
          <p:cNvSpPr/>
          <p:nvPr/>
        </p:nvSpPr>
        <p:spPr>
          <a:xfrm>
            <a:off x="9259358" y="23526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 name="Rectangle 249"/>
          <p:cNvSpPr/>
          <p:nvPr/>
        </p:nvSpPr>
        <p:spPr>
          <a:xfrm>
            <a:off x="9809692" y="23526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 name="Rectangle 250"/>
          <p:cNvSpPr/>
          <p:nvPr/>
        </p:nvSpPr>
        <p:spPr>
          <a:xfrm>
            <a:off x="10360025" y="235267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2" name="TextBox 251"/>
          <p:cNvSpPr txBox="1"/>
          <p:nvPr/>
        </p:nvSpPr>
        <p:spPr>
          <a:xfrm>
            <a:off x="10350500" y="2352675"/>
            <a:ext cx="550333" cy="228600"/>
          </a:xfrm>
          <a:prstGeom prst="rect">
            <a:avLst/>
          </a:prstGeom>
          <a:noFill/>
        </p:spPr>
        <p:txBody>
          <a:bodyPr wrap="none" lIns="0" rIns="0" tIns="0" bIns="0" anchor="ctr">
            <a:spAutoFit/>
          </a:bodyPr>
          <a:lstStyle/>
          <a:p>
            <a:pPr algn="ctr"/>
            <a:r>
              <a:rPr sz="1100" b="1">
                <a:solidFill>
                  <a:srgbClr val="0F2D52"/>
                </a:solidFill>
                <a:latin typeface="Calibri"/>
              </a:rPr>
              <a:t>2</a:t>
            </a:r>
          </a:p>
        </p:txBody>
      </p:sp>
      <p:sp>
        <p:nvSpPr>
          <p:cNvPr id="253" name="Rectangle 252"/>
          <p:cNvSpPr/>
          <p:nvPr/>
        </p:nvSpPr>
        <p:spPr>
          <a:xfrm>
            <a:off x="10910358" y="23526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4" name="TextBox 253"/>
          <p:cNvSpPr txBox="1"/>
          <p:nvPr/>
        </p:nvSpPr>
        <p:spPr>
          <a:xfrm>
            <a:off x="10900833" y="23526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55" name="Rectangle 254"/>
          <p:cNvSpPr/>
          <p:nvPr/>
        </p:nvSpPr>
        <p:spPr>
          <a:xfrm>
            <a:off x="11460692" y="23526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6" name="TextBox 255"/>
          <p:cNvSpPr txBox="1"/>
          <p:nvPr/>
        </p:nvSpPr>
        <p:spPr>
          <a:xfrm>
            <a:off x="11451167" y="23526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57" name="Rectangle 256"/>
          <p:cNvSpPr/>
          <p:nvPr/>
        </p:nvSpPr>
        <p:spPr>
          <a:xfrm>
            <a:off x="8709025" y="26003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8" name="TextBox 257"/>
          <p:cNvSpPr txBox="1"/>
          <p:nvPr/>
        </p:nvSpPr>
        <p:spPr>
          <a:xfrm>
            <a:off x="8699500" y="26003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59" name="Rectangle 258"/>
          <p:cNvSpPr/>
          <p:nvPr/>
        </p:nvSpPr>
        <p:spPr>
          <a:xfrm>
            <a:off x="9259358" y="26003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0" name="Rectangle 259"/>
          <p:cNvSpPr/>
          <p:nvPr/>
        </p:nvSpPr>
        <p:spPr>
          <a:xfrm>
            <a:off x="9809692" y="26003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1" name="Rectangle 260"/>
          <p:cNvSpPr/>
          <p:nvPr/>
        </p:nvSpPr>
        <p:spPr>
          <a:xfrm>
            <a:off x="10360025" y="26003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2" name="Rectangle 261"/>
          <p:cNvSpPr/>
          <p:nvPr/>
        </p:nvSpPr>
        <p:spPr>
          <a:xfrm>
            <a:off x="10910358" y="260032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3" name="TextBox 262"/>
          <p:cNvSpPr txBox="1"/>
          <p:nvPr/>
        </p:nvSpPr>
        <p:spPr>
          <a:xfrm>
            <a:off x="10900833" y="2600325"/>
            <a:ext cx="550333" cy="228600"/>
          </a:xfrm>
          <a:prstGeom prst="rect">
            <a:avLst/>
          </a:prstGeom>
          <a:noFill/>
        </p:spPr>
        <p:txBody>
          <a:bodyPr wrap="none" lIns="0" rIns="0" tIns="0" bIns="0" anchor="ctr">
            <a:spAutoFit/>
          </a:bodyPr>
          <a:lstStyle/>
          <a:p>
            <a:pPr algn="ctr"/>
            <a:r>
              <a:rPr sz="1100" b="1">
                <a:solidFill>
                  <a:srgbClr val="0F2D52"/>
                </a:solidFill>
                <a:latin typeface="Calibri"/>
              </a:rPr>
              <a:t>2</a:t>
            </a:r>
          </a:p>
        </p:txBody>
      </p:sp>
      <p:sp>
        <p:nvSpPr>
          <p:cNvPr id="264" name="Rectangle 263"/>
          <p:cNvSpPr/>
          <p:nvPr/>
        </p:nvSpPr>
        <p:spPr>
          <a:xfrm>
            <a:off x="11460692" y="26003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5" name="TextBox 264"/>
          <p:cNvSpPr txBox="1"/>
          <p:nvPr/>
        </p:nvSpPr>
        <p:spPr>
          <a:xfrm>
            <a:off x="11451167" y="26003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66" name="Rectangle 265"/>
          <p:cNvSpPr/>
          <p:nvPr/>
        </p:nvSpPr>
        <p:spPr>
          <a:xfrm>
            <a:off x="8709025" y="28479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7" name="TextBox 266"/>
          <p:cNvSpPr txBox="1"/>
          <p:nvPr/>
        </p:nvSpPr>
        <p:spPr>
          <a:xfrm>
            <a:off x="8699500" y="28479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68" name="Rectangle 267"/>
          <p:cNvSpPr/>
          <p:nvPr/>
        </p:nvSpPr>
        <p:spPr>
          <a:xfrm>
            <a:off x="9259358" y="28479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9" name="TextBox 268"/>
          <p:cNvSpPr txBox="1"/>
          <p:nvPr/>
        </p:nvSpPr>
        <p:spPr>
          <a:xfrm>
            <a:off x="9249833" y="28479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70" name="Rectangle 269"/>
          <p:cNvSpPr/>
          <p:nvPr/>
        </p:nvSpPr>
        <p:spPr>
          <a:xfrm>
            <a:off x="9809692" y="28479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1" name="Rectangle 270"/>
          <p:cNvSpPr/>
          <p:nvPr/>
        </p:nvSpPr>
        <p:spPr>
          <a:xfrm>
            <a:off x="10360025" y="28479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2" name="Rectangle 271"/>
          <p:cNvSpPr/>
          <p:nvPr/>
        </p:nvSpPr>
        <p:spPr>
          <a:xfrm>
            <a:off x="10910358" y="28479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3" name="Rectangle 272"/>
          <p:cNvSpPr/>
          <p:nvPr/>
        </p:nvSpPr>
        <p:spPr>
          <a:xfrm>
            <a:off x="11460692" y="284797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4" name="TextBox 273"/>
          <p:cNvSpPr txBox="1"/>
          <p:nvPr/>
        </p:nvSpPr>
        <p:spPr>
          <a:xfrm>
            <a:off x="11451167" y="2847975"/>
            <a:ext cx="550333" cy="228600"/>
          </a:xfrm>
          <a:prstGeom prst="rect">
            <a:avLst/>
          </a:prstGeom>
          <a:noFill/>
        </p:spPr>
        <p:txBody>
          <a:bodyPr wrap="none" lIns="0" rIns="0" tIns="0" bIns="0" anchor="ctr">
            <a:spAutoFit/>
          </a:bodyPr>
          <a:lstStyle/>
          <a:p>
            <a:pPr algn="ctr"/>
            <a:r>
              <a:rPr sz="1100" b="1">
                <a:solidFill>
                  <a:srgbClr val="0F2D52"/>
                </a:solidFill>
                <a:latin typeface="Calibri"/>
              </a:rPr>
              <a:t>2</a:t>
            </a:r>
          </a:p>
        </p:txBody>
      </p:sp>
      <p:sp>
        <p:nvSpPr>
          <p:cNvPr id="275" name="Rectangle 274"/>
          <p:cNvSpPr/>
          <p:nvPr/>
        </p:nvSpPr>
        <p:spPr>
          <a:xfrm>
            <a:off x="8709025" y="309562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6" name="TextBox 275"/>
          <p:cNvSpPr txBox="1"/>
          <p:nvPr/>
        </p:nvSpPr>
        <p:spPr>
          <a:xfrm>
            <a:off x="8699500" y="3095625"/>
            <a:ext cx="550333" cy="228600"/>
          </a:xfrm>
          <a:prstGeom prst="rect">
            <a:avLst/>
          </a:prstGeom>
          <a:noFill/>
        </p:spPr>
        <p:txBody>
          <a:bodyPr wrap="none" lIns="0" rIns="0" tIns="0" bIns="0" anchor="ctr">
            <a:spAutoFit/>
          </a:bodyPr>
          <a:lstStyle/>
          <a:p>
            <a:pPr algn="ctr"/>
            <a:r>
              <a:rPr sz="1100" b="1">
                <a:solidFill>
                  <a:srgbClr val="0F2D52"/>
                </a:solidFill>
                <a:latin typeface="Calibri"/>
              </a:rPr>
              <a:t>2</a:t>
            </a:r>
          </a:p>
        </p:txBody>
      </p:sp>
      <p:sp>
        <p:nvSpPr>
          <p:cNvPr id="277" name="Rectangle 276"/>
          <p:cNvSpPr/>
          <p:nvPr/>
        </p:nvSpPr>
        <p:spPr>
          <a:xfrm>
            <a:off x="9259358" y="30956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8" name="TextBox 277"/>
          <p:cNvSpPr txBox="1"/>
          <p:nvPr/>
        </p:nvSpPr>
        <p:spPr>
          <a:xfrm>
            <a:off x="9249833" y="30956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79" name="Rectangle 278"/>
          <p:cNvSpPr/>
          <p:nvPr/>
        </p:nvSpPr>
        <p:spPr>
          <a:xfrm>
            <a:off x="9809692" y="30956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0" name="TextBox 279"/>
          <p:cNvSpPr txBox="1"/>
          <p:nvPr/>
        </p:nvSpPr>
        <p:spPr>
          <a:xfrm>
            <a:off x="9800167" y="30956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81" name="Rectangle 280"/>
          <p:cNvSpPr/>
          <p:nvPr/>
        </p:nvSpPr>
        <p:spPr>
          <a:xfrm>
            <a:off x="10360025" y="30956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2" name="Rectangle 281"/>
          <p:cNvSpPr/>
          <p:nvPr/>
        </p:nvSpPr>
        <p:spPr>
          <a:xfrm>
            <a:off x="10910358" y="30956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3" name="Rectangle 282"/>
          <p:cNvSpPr/>
          <p:nvPr/>
        </p:nvSpPr>
        <p:spPr>
          <a:xfrm>
            <a:off x="11460692" y="30956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4" name="Rectangle 283"/>
          <p:cNvSpPr/>
          <p:nvPr/>
        </p:nvSpPr>
        <p:spPr>
          <a:xfrm>
            <a:off x="8709025" y="33432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5" name="Rectangle 284"/>
          <p:cNvSpPr/>
          <p:nvPr/>
        </p:nvSpPr>
        <p:spPr>
          <a:xfrm>
            <a:off x="9259358" y="334327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6" name="TextBox 285"/>
          <p:cNvSpPr txBox="1"/>
          <p:nvPr/>
        </p:nvSpPr>
        <p:spPr>
          <a:xfrm>
            <a:off x="9249833" y="3343275"/>
            <a:ext cx="550333" cy="228600"/>
          </a:xfrm>
          <a:prstGeom prst="rect">
            <a:avLst/>
          </a:prstGeom>
          <a:noFill/>
        </p:spPr>
        <p:txBody>
          <a:bodyPr wrap="none" lIns="0" rIns="0" tIns="0" bIns="0" anchor="ctr">
            <a:spAutoFit/>
          </a:bodyPr>
          <a:lstStyle/>
          <a:p>
            <a:pPr algn="ctr"/>
            <a:r>
              <a:rPr sz="1100" b="1">
                <a:solidFill>
                  <a:srgbClr val="0F2D52"/>
                </a:solidFill>
                <a:latin typeface="Calibri"/>
              </a:rPr>
              <a:t>2</a:t>
            </a:r>
          </a:p>
        </p:txBody>
      </p:sp>
      <p:sp>
        <p:nvSpPr>
          <p:cNvPr id="287" name="Rectangle 286"/>
          <p:cNvSpPr/>
          <p:nvPr/>
        </p:nvSpPr>
        <p:spPr>
          <a:xfrm>
            <a:off x="9809692" y="33432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8" name="TextBox 287"/>
          <p:cNvSpPr txBox="1"/>
          <p:nvPr/>
        </p:nvSpPr>
        <p:spPr>
          <a:xfrm>
            <a:off x="9800167" y="33432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89" name="Rectangle 288"/>
          <p:cNvSpPr/>
          <p:nvPr/>
        </p:nvSpPr>
        <p:spPr>
          <a:xfrm>
            <a:off x="10360025" y="33432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0" name="TextBox 289"/>
          <p:cNvSpPr txBox="1"/>
          <p:nvPr/>
        </p:nvSpPr>
        <p:spPr>
          <a:xfrm>
            <a:off x="10350500" y="33432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91" name="Rectangle 290"/>
          <p:cNvSpPr/>
          <p:nvPr/>
        </p:nvSpPr>
        <p:spPr>
          <a:xfrm>
            <a:off x="10910358" y="33432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2" name="Rectangle 291"/>
          <p:cNvSpPr/>
          <p:nvPr/>
        </p:nvSpPr>
        <p:spPr>
          <a:xfrm>
            <a:off x="11460692" y="33432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3" name="Rectangle 292"/>
          <p:cNvSpPr/>
          <p:nvPr/>
        </p:nvSpPr>
        <p:spPr>
          <a:xfrm>
            <a:off x="8709025" y="35909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4" name="Rectangle 293"/>
          <p:cNvSpPr/>
          <p:nvPr/>
        </p:nvSpPr>
        <p:spPr>
          <a:xfrm>
            <a:off x="9259358" y="35909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5" name="Rectangle 294"/>
          <p:cNvSpPr/>
          <p:nvPr/>
        </p:nvSpPr>
        <p:spPr>
          <a:xfrm>
            <a:off x="9809692" y="359092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6" name="TextBox 295"/>
          <p:cNvSpPr txBox="1"/>
          <p:nvPr/>
        </p:nvSpPr>
        <p:spPr>
          <a:xfrm>
            <a:off x="9800167" y="3590925"/>
            <a:ext cx="550333" cy="228600"/>
          </a:xfrm>
          <a:prstGeom prst="rect">
            <a:avLst/>
          </a:prstGeom>
          <a:noFill/>
        </p:spPr>
        <p:txBody>
          <a:bodyPr wrap="none" lIns="0" rIns="0" tIns="0" bIns="0" anchor="ctr">
            <a:spAutoFit/>
          </a:bodyPr>
          <a:lstStyle/>
          <a:p>
            <a:pPr algn="ctr"/>
            <a:r>
              <a:rPr sz="1100" b="1">
                <a:solidFill>
                  <a:srgbClr val="0F2D52"/>
                </a:solidFill>
                <a:latin typeface="Calibri"/>
              </a:rPr>
              <a:t>2</a:t>
            </a:r>
          </a:p>
        </p:txBody>
      </p:sp>
      <p:sp>
        <p:nvSpPr>
          <p:cNvPr id="297" name="Rectangle 296"/>
          <p:cNvSpPr/>
          <p:nvPr/>
        </p:nvSpPr>
        <p:spPr>
          <a:xfrm>
            <a:off x="10360025" y="35909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8" name="TextBox 297"/>
          <p:cNvSpPr txBox="1"/>
          <p:nvPr/>
        </p:nvSpPr>
        <p:spPr>
          <a:xfrm>
            <a:off x="10350500" y="35909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99" name="Rectangle 298"/>
          <p:cNvSpPr/>
          <p:nvPr/>
        </p:nvSpPr>
        <p:spPr>
          <a:xfrm>
            <a:off x="10910358" y="35909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0" name="TextBox 299"/>
          <p:cNvSpPr txBox="1"/>
          <p:nvPr/>
        </p:nvSpPr>
        <p:spPr>
          <a:xfrm>
            <a:off x="10900833" y="35909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301" name="Rectangle 300"/>
          <p:cNvSpPr/>
          <p:nvPr/>
        </p:nvSpPr>
        <p:spPr>
          <a:xfrm>
            <a:off x="11460692" y="35909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2" name="Rectangle 301"/>
          <p:cNvSpPr/>
          <p:nvPr/>
        </p:nvSpPr>
        <p:spPr>
          <a:xfrm>
            <a:off x="8709025" y="38385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3" name="Rectangle 302"/>
          <p:cNvSpPr/>
          <p:nvPr/>
        </p:nvSpPr>
        <p:spPr>
          <a:xfrm>
            <a:off x="9259358" y="38385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4" name="Rectangle 303"/>
          <p:cNvSpPr/>
          <p:nvPr/>
        </p:nvSpPr>
        <p:spPr>
          <a:xfrm>
            <a:off x="9809692" y="38385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5" name="Rectangle 304"/>
          <p:cNvSpPr/>
          <p:nvPr/>
        </p:nvSpPr>
        <p:spPr>
          <a:xfrm>
            <a:off x="10360025" y="383857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6" name="TextBox 305"/>
          <p:cNvSpPr txBox="1"/>
          <p:nvPr/>
        </p:nvSpPr>
        <p:spPr>
          <a:xfrm>
            <a:off x="10350500" y="3838575"/>
            <a:ext cx="550333" cy="228600"/>
          </a:xfrm>
          <a:prstGeom prst="rect">
            <a:avLst/>
          </a:prstGeom>
          <a:noFill/>
        </p:spPr>
        <p:txBody>
          <a:bodyPr wrap="none" lIns="0" rIns="0" tIns="0" bIns="0" anchor="ctr">
            <a:spAutoFit/>
          </a:bodyPr>
          <a:lstStyle/>
          <a:p>
            <a:pPr algn="ctr"/>
            <a:r>
              <a:rPr sz="1100" b="1">
                <a:solidFill>
                  <a:srgbClr val="0F2D52"/>
                </a:solidFill>
                <a:latin typeface="Calibri"/>
              </a:rPr>
              <a:t>2</a:t>
            </a:r>
          </a:p>
        </p:txBody>
      </p:sp>
      <p:sp>
        <p:nvSpPr>
          <p:cNvPr id="307" name="Rectangle 306"/>
          <p:cNvSpPr/>
          <p:nvPr/>
        </p:nvSpPr>
        <p:spPr>
          <a:xfrm>
            <a:off x="10910358" y="38385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8" name="TextBox 307"/>
          <p:cNvSpPr txBox="1"/>
          <p:nvPr/>
        </p:nvSpPr>
        <p:spPr>
          <a:xfrm>
            <a:off x="10900833" y="38385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309" name="Rectangle 308"/>
          <p:cNvSpPr/>
          <p:nvPr/>
        </p:nvSpPr>
        <p:spPr>
          <a:xfrm>
            <a:off x="11460692" y="38385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0" name="TextBox 309"/>
          <p:cNvSpPr txBox="1"/>
          <p:nvPr/>
        </p:nvSpPr>
        <p:spPr>
          <a:xfrm>
            <a:off x="11451167" y="38385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311" name="Rectangle 310"/>
          <p:cNvSpPr/>
          <p:nvPr/>
        </p:nvSpPr>
        <p:spPr>
          <a:xfrm>
            <a:off x="190500" y="4171950"/>
            <a:ext cx="209550" cy="123825"/>
          </a:xfrm>
          <a:prstGeom prst="rect">
            <a:avLst/>
          </a:prstGeom>
          <a:solidFill>
            <a:srgbClr val="CFE0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2" name="TextBox 311"/>
          <p:cNvSpPr txBox="1"/>
          <p:nvPr/>
        </p:nvSpPr>
        <p:spPr>
          <a:xfrm>
            <a:off x="438150" y="4133850"/>
            <a:ext cx="1047750" cy="190500"/>
          </a:xfrm>
          <a:prstGeom prst="rect">
            <a:avLst/>
          </a:prstGeom>
          <a:noFill/>
        </p:spPr>
        <p:txBody>
          <a:bodyPr wrap="square" lIns="28575" rIns="28575" tIns="9525" bIns="9525" anchor="ctr">
            <a:spAutoFit/>
          </a:bodyPr>
          <a:lstStyle/>
          <a:p>
            <a:pPr algn="l"/>
            <a:r>
              <a:rPr sz="1100" b="0">
                <a:solidFill>
                  <a:srgbClr val="1F2933"/>
                </a:solidFill>
                <a:latin typeface="Calibri"/>
              </a:rPr>
              <a:t>1 move</a:t>
            </a:r>
          </a:p>
        </p:txBody>
      </p:sp>
      <p:sp>
        <p:nvSpPr>
          <p:cNvPr id="313" name="Rectangle 312"/>
          <p:cNvSpPr/>
          <p:nvPr/>
        </p:nvSpPr>
        <p:spPr>
          <a:xfrm>
            <a:off x="1238250" y="4171950"/>
            <a:ext cx="209550" cy="123825"/>
          </a:xfrm>
          <a:prstGeom prst="rect">
            <a:avLst/>
          </a:prstGeom>
          <a:solidFill>
            <a:srgbClr val="8FB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4" name="TextBox 313"/>
          <p:cNvSpPr txBox="1"/>
          <p:nvPr/>
        </p:nvSpPr>
        <p:spPr>
          <a:xfrm>
            <a:off x="1485900" y="4133850"/>
            <a:ext cx="1047750" cy="190500"/>
          </a:xfrm>
          <a:prstGeom prst="rect">
            <a:avLst/>
          </a:prstGeom>
          <a:noFill/>
        </p:spPr>
        <p:txBody>
          <a:bodyPr wrap="square" lIns="28575" rIns="28575" tIns="9525" bIns="9525" anchor="ctr">
            <a:spAutoFit/>
          </a:bodyPr>
          <a:lstStyle/>
          <a:p>
            <a:pPr algn="l"/>
            <a:r>
              <a:rPr sz="1100" b="0">
                <a:solidFill>
                  <a:srgbClr val="1F2933"/>
                </a:solidFill>
                <a:latin typeface="Calibri"/>
              </a:rPr>
              <a:t>2 moves</a:t>
            </a:r>
          </a:p>
        </p:txBody>
      </p:sp>
      <p:sp>
        <p:nvSpPr>
          <p:cNvPr id="315" name="Rectangle 314"/>
          <p:cNvSpPr/>
          <p:nvPr/>
        </p:nvSpPr>
        <p:spPr>
          <a:xfrm>
            <a:off x="2286000" y="4171950"/>
            <a:ext cx="209550" cy="123825"/>
          </a:xfrm>
          <a:prstGeom prst="rect">
            <a:avLst/>
          </a:prstGeom>
          <a:solidFill>
            <a:srgbClr val="3D73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6" name="TextBox 315"/>
          <p:cNvSpPr txBox="1"/>
          <p:nvPr/>
        </p:nvSpPr>
        <p:spPr>
          <a:xfrm>
            <a:off x="2533650" y="4133850"/>
            <a:ext cx="1047750" cy="190500"/>
          </a:xfrm>
          <a:prstGeom prst="rect">
            <a:avLst/>
          </a:prstGeom>
          <a:noFill/>
        </p:spPr>
        <p:txBody>
          <a:bodyPr wrap="square" lIns="28575" rIns="28575" tIns="9525" bIns="9525" anchor="ctr">
            <a:spAutoFit/>
          </a:bodyPr>
          <a:lstStyle/>
          <a:p>
            <a:pPr algn="l"/>
            <a:r>
              <a:rPr sz="1100" b="0">
                <a:solidFill>
                  <a:srgbClr val="1F2933"/>
                </a:solidFill>
                <a:latin typeface="Calibri"/>
              </a:rPr>
              <a:t>3+ moves</a:t>
            </a:r>
          </a:p>
        </p:txBody>
      </p:sp>
      <p:sp>
        <p:nvSpPr>
          <p:cNvPr id="317" name="TextBox 316"/>
          <p:cNvSpPr txBox="1"/>
          <p:nvPr/>
        </p:nvSpPr>
        <p:spPr>
          <a:xfrm>
            <a:off x="3524250" y="4133850"/>
            <a:ext cx="8477250" cy="190500"/>
          </a:xfrm>
          <a:prstGeom prst="rect">
            <a:avLst/>
          </a:prstGeom>
          <a:noFill/>
        </p:spPr>
        <p:txBody>
          <a:bodyPr wrap="square" lIns="28575" rIns="28575" tIns="9525" bIns="9525" anchor="ctr">
            <a:spAutoFit/>
          </a:bodyPr>
          <a:lstStyle/>
          <a:p>
            <a:pPr algn="l"/>
            <a:r>
              <a:rPr sz="1100" b="0">
                <a:solidFill>
                  <a:srgbClr val="5F6B7A"/>
                </a:solidFill>
                <a:latin typeface="Calibri"/>
              </a:rPr>
              <a:t>Type codes: MA M&amp;A, PR Product / portfolio, EX Expansion, RD R&amp;D / technology, RG Regulation / compliance, CP Capital / funding</a:t>
            </a:r>
          </a:p>
        </p:txBody>
      </p:sp>
      <p:cxnSp>
        <p:nvCxnSpPr>
          <p:cNvPr id="318" name="Connector 317"/>
          <p:cNvCxnSpPr/>
          <p:nvPr/>
        </p:nvCxnSpPr>
        <p:spPr>
          <a:xfrm>
            <a:off x="190500" y="4400550"/>
            <a:ext cx="11811000" cy="0"/>
          </a:xfrm>
          <a:prstGeom prst="line">
            <a:avLst/>
          </a:prstGeom>
          <a:ln w="19050">
            <a:solidFill>
              <a:srgbClr val="0F2D52"/>
            </a:solidFill>
          </a:ln>
          <a:effectLst/>
        </p:spPr>
        <p:style>
          <a:lnRef idx="2">
            <a:schemeClr val="accent1"/>
          </a:lnRef>
          <a:fillRef idx="0">
            <a:schemeClr val="accent1"/>
          </a:fillRef>
          <a:effectRef idx="1">
            <a:schemeClr val="accent1"/>
          </a:effectRef>
          <a:fontRef idx="minor">
            <a:schemeClr val="tx1"/>
          </a:fontRef>
        </p:style>
      </p:cxnSp>
      <p:sp>
        <p:nvSpPr>
          <p:cNvPr id="319" name="TextBox 318"/>
          <p:cNvSpPr txBox="1"/>
          <p:nvPr/>
        </p:nvSpPr>
        <p:spPr>
          <a:xfrm>
            <a:off x="190500" y="4457700"/>
            <a:ext cx="5715000" cy="171450"/>
          </a:xfrm>
          <a:prstGeom prst="rect">
            <a:avLst/>
          </a:prstGeom>
          <a:noFill/>
        </p:spPr>
        <p:txBody>
          <a:bodyPr wrap="square" lIns="28575" rIns="28575" tIns="9525" bIns="9525" anchor="t">
            <a:spAutoFit/>
          </a:bodyPr>
          <a:lstStyle/>
          <a:p>
            <a:pPr algn="l"/>
            <a:r>
              <a:rPr sz="1100" b="1">
                <a:solidFill>
                  <a:srgbClr val="0F2D52"/>
                </a:solidFill>
                <a:latin typeface="Calibri"/>
              </a:rPr>
              <a:t>WHAT IT MEANS FOR EACH OF YOUR DEPARTMENTS</a:t>
            </a:r>
          </a:p>
        </p:txBody>
      </p:sp>
      <p:sp>
        <p:nvSpPr>
          <p:cNvPr id="320" name="Rectangle 319"/>
          <p:cNvSpPr/>
          <p:nvPr/>
        </p:nvSpPr>
        <p:spPr>
          <a:xfrm>
            <a:off x="190500" y="4686300"/>
            <a:ext cx="1873250" cy="22860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1" name="TextBox 320"/>
          <p:cNvSpPr txBox="1"/>
          <p:nvPr/>
        </p:nvSpPr>
        <p:spPr>
          <a:xfrm>
            <a:off x="266700" y="4686300"/>
            <a:ext cx="1758950" cy="228600"/>
          </a:xfrm>
          <a:prstGeom prst="rect">
            <a:avLst/>
          </a:prstGeom>
          <a:noFill/>
        </p:spPr>
        <p:txBody>
          <a:bodyPr wrap="square" lIns="28575" rIns="28575" tIns="9525" bIns="9525" anchor="ctr">
            <a:spAutoFit/>
          </a:bodyPr>
          <a:lstStyle/>
          <a:p>
            <a:pPr algn="l"/>
            <a:r>
              <a:rPr sz="1100" b="1">
                <a:solidFill>
                  <a:srgbClr val="FFFFFF"/>
                </a:solidFill>
                <a:latin typeface="Calibri"/>
              </a:rPr>
              <a:t>Sales</a:t>
            </a:r>
          </a:p>
        </p:txBody>
      </p:sp>
      <p:sp>
        <p:nvSpPr>
          <p:cNvPr id="322" name="TextBox 321"/>
          <p:cNvSpPr txBox="1"/>
          <p:nvPr/>
        </p:nvSpPr>
        <p:spPr>
          <a:xfrm>
            <a:off x="190500" y="4953000"/>
            <a:ext cx="1873250" cy="8572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10 expansion moves target new regions and volume tiers: defend key accounts where rivals expand.</a:t>
            </a:r>
          </a:p>
        </p:txBody>
      </p:sp>
      <p:sp>
        <p:nvSpPr>
          <p:cNvPr id="323" name="Rectangle 322"/>
          <p:cNvSpPr/>
          <p:nvPr/>
        </p:nvSpPr>
        <p:spPr>
          <a:xfrm>
            <a:off x="2178050" y="4686300"/>
            <a:ext cx="1873250" cy="22860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4" name="TextBox 323"/>
          <p:cNvSpPr txBox="1"/>
          <p:nvPr/>
        </p:nvSpPr>
        <p:spPr>
          <a:xfrm>
            <a:off x="2254250" y="4686300"/>
            <a:ext cx="1758950" cy="228600"/>
          </a:xfrm>
          <a:prstGeom prst="rect">
            <a:avLst/>
          </a:prstGeom>
          <a:noFill/>
        </p:spPr>
        <p:txBody>
          <a:bodyPr wrap="square" lIns="28575" rIns="28575" tIns="9525" bIns="9525" anchor="ctr">
            <a:spAutoFit/>
          </a:bodyPr>
          <a:lstStyle/>
          <a:p>
            <a:pPr algn="l"/>
            <a:r>
              <a:rPr sz="1100" b="1">
                <a:solidFill>
                  <a:srgbClr val="FFFFFF"/>
                </a:solidFill>
                <a:latin typeface="Calibri"/>
              </a:rPr>
              <a:t>Marketing</a:t>
            </a:r>
          </a:p>
        </p:txBody>
      </p:sp>
      <p:sp>
        <p:nvSpPr>
          <p:cNvPr id="325" name="TextBox 324"/>
          <p:cNvSpPr txBox="1"/>
          <p:nvPr/>
        </p:nvSpPr>
        <p:spPr>
          <a:xfrm>
            <a:off x="2178050" y="4953000"/>
            <a:ext cx="1873250" cy="8572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Certification and compliance are being used as trust signals; make your own credentials visible.</a:t>
            </a:r>
          </a:p>
        </p:txBody>
      </p:sp>
      <p:sp>
        <p:nvSpPr>
          <p:cNvPr id="326" name="Rectangle 325"/>
          <p:cNvSpPr/>
          <p:nvPr/>
        </p:nvSpPr>
        <p:spPr>
          <a:xfrm>
            <a:off x="4165600" y="4686300"/>
            <a:ext cx="1873250" cy="22860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7" name="TextBox 326"/>
          <p:cNvSpPr txBox="1"/>
          <p:nvPr/>
        </p:nvSpPr>
        <p:spPr>
          <a:xfrm>
            <a:off x="4241800" y="4686300"/>
            <a:ext cx="1758950" cy="228600"/>
          </a:xfrm>
          <a:prstGeom prst="rect">
            <a:avLst/>
          </a:prstGeom>
          <a:noFill/>
        </p:spPr>
        <p:txBody>
          <a:bodyPr wrap="square" lIns="28575" rIns="28575" tIns="9525" bIns="9525" anchor="ctr">
            <a:spAutoFit/>
          </a:bodyPr>
          <a:lstStyle/>
          <a:p>
            <a:pPr algn="l"/>
            <a:r>
              <a:rPr sz="1100" b="1">
                <a:solidFill>
                  <a:srgbClr val="FFFFFF"/>
                </a:solidFill>
                <a:latin typeface="Calibri"/>
              </a:rPr>
              <a:t>Product and R&amp;D</a:t>
            </a:r>
          </a:p>
        </p:txBody>
      </p:sp>
      <p:sp>
        <p:nvSpPr>
          <p:cNvPr id="328" name="TextBox 327"/>
          <p:cNvSpPr txBox="1"/>
          <p:nvPr/>
        </p:nvSpPr>
        <p:spPr>
          <a:xfrm>
            <a:off x="4165600" y="4953000"/>
            <a:ext cx="1873250" cy="8572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20 product and R&amp;D moves: benchmark launches and the technology roadmap.</a:t>
            </a:r>
          </a:p>
        </p:txBody>
      </p:sp>
      <p:sp>
        <p:nvSpPr>
          <p:cNvPr id="329" name="Rectangle 328"/>
          <p:cNvSpPr/>
          <p:nvPr/>
        </p:nvSpPr>
        <p:spPr>
          <a:xfrm>
            <a:off x="6153150" y="4686300"/>
            <a:ext cx="1873250" cy="22860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0" name="TextBox 329"/>
          <p:cNvSpPr txBox="1"/>
          <p:nvPr/>
        </p:nvSpPr>
        <p:spPr>
          <a:xfrm>
            <a:off x="6229350" y="4686300"/>
            <a:ext cx="1758950" cy="228600"/>
          </a:xfrm>
          <a:prstGeom prst="rect">
            <a:avLst/>
          </a:prstGeom>
          <a:noFill/>
        </p:spPr>
        <p:txBody>
          <a:bodyPr wrap="square" lIns="28575" rIns="28575" tIns="9525" bIns="9525" anchor="ctr">
            <a:spAutoFit/>
          </a:bodyPr>
          <a:lstStyle/>
          <a:p>
            <a:pPr algn="l"/>
            <a:r>
              <a:rPr sz="1100" b="1">
                <a:solidFill>
                  <a:srgbClr val="FFFFFF"/>
                </a:solidFill>
                <a:latin typeface="Calibri"/>
              </a:rPr>
              <a:t>Corporate development</a:t>
            </a:r>
          </a:p>
        </p:txBody>
      </p:sp>
      <p:sp>
        <p:nvSpPr>
          <p:cNvPr id="331" name="TextBox 330"/>
          <p:cNvSpPr txBox="1"/>
          <p:nvPr/>
        </p:nvSpPr>
        <p:spPr>
          <a:xfrm>
            <a:off x="6153150" y="4953000"/>
            <a:ext cx="1873250" cy="8572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5 players are acquiring; the independent target list is shrinking.</a:t>
            </a:r>
          </a:p>
        </p:txBody>
      </p:sp>
      <p:sp>
        <p:nvSpPr>
          <p:cNvPr id="332" name="Rectangle 331"/>
          <p:cNvSpPr/>
          <p:nvPr/>
        </p:nvSpPr>
        <p:spPr>
          <a:xfrm>
            <a:off x="8140700" y="4686300"/>
            <a:ext cx="1873250" cy="22860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3" name="TextBox 332"/>
          <p:cNvSpPr txBox="1"/>
          <p:nvPr/>
        </p:nvSpPr>
        <p:spPr>
          <a:xfrm>
            <a:off x="8216900" y="4686300"/>
            <a:ext cx="1758950" cy="228600"/>
          </a:xfrm>
          <a:prstGeom prst="rect">
            <a:avLst/>
          </a:prstGeom>
          <a:noFill/>
        </p:spPr>
        <p:txBody>
          <a:bodyPr wrap="square" lIns="28575" rIns="28575" tIns="9525" bIns="9525" anchor="ctr">
            <a:spAutoFit/>
          </a:bodyPr>
          <a:lstStyle/>
          <a:p>
            <a:pPr algn="l"/>
            <a:r>
              <a:rPr sz="1100" b="1">
                <a:solidFill>
                  <a:srgbClr val="FFFFFF"/>
                </a:solidFill>
                <a:latin typeface="Calibri"/>
              </a:rPr>
              <a:t>Operations</a:t>
            </a:r>
          </a:p>
        </p:txBody>
      </p:sp>
      <p:sp>
        <p:nvSpPr>
          <p:cNvPr id="334" name="TextBox 333"/>
          <p:cNvSpPr txBox="1"/>
          <p:nvPr/>
        </p:nvSpPr>
        <p:spPr>
          <a:xfrm>
            <a:off x="8140700" y="4953000"/>
            <a:ext cx="1873250" cy="8572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Expansion moves add capacity in rivals' home regions; review supply and lead times.</a:t>
            </a:r>
          </a:p>
        </p:txBody>
      </p:sp>
      <p:sp>
        <p:nvSpPr>
          <p:cNvPr id="335" name="Rectangle 334"/>
          <p:cNvSpPr/>
          <p:nvPr/>
        </p:nvSpPr>
        <p:spPr>
          <a:xfrm>
            <a:off x="10128250" y="4686300"/>
            <a:ext cx="1873250" cy="22860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6" name="TextBox 335"/>
          <p:cNvSpPr txBox="1"/>
          <p:nvPr/>
        </p:nvSpPr>
        <p:spPr>
          <a:xfrm>
            <a:off x="10204450" y="4686300"/>
            <a:ext cx="1758950" cy="228600"/>
          </a:xfrm>
          <a:prstGeom prst="rect">
            <a:avLst/>
          </a:prstGeom>
          <a:noFill/>
        </p:spPr>
        <p:txBody>
          <a:bodyPr wrap="square" lIns="28575" rIns="28575" tIns="9525" bIns="9525" anchor="ctr">
            <a:spAutoFit/>
          </a:bodyPr>
          <a:lstStyle/>
          <a:p>
            <a:pPr algn="l"/>
            <a:r>
              <a:rPr sz="1100" b="1">
                <a:solidFill>
                  <a:srgbClr val="FFFFFF"/>
                </a:solidFill>
                <a:latin typeface="Calibri"/>
              </a:rPr>
              <a:t>Legal and regulatory</a:t>
            </a:r>
          </a:p>
        </p:txBody>
      </p:sp>
      <p:sp>
        <p:nvSpPr>
          <p:cNvPr id="337" name="TextBox 336"/>
          <p:cNvSpPr txBox="1"/>
          <p:nvPr/>
        </p:nvSpPr>
        <p:spPr>
          <a:xfrm>
            <a:off x="10128250" y="4953000"/>
            <a:ext cx="1873250" cy="8572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5 players lean on certification; audit your own compliance position.</a:t>
            </a:r>
          </a:p>
        </p:txBody>
      </p:sp>
      <p:sp>
        <p:nvSpPr>
          <p:cNvPr id="338" name="Rectangle 337"/>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9" name="TextBox 33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2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Industry Structure Landscape – Egg Protein Membrane Market, Global 2026 (1/2)</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Tier ladder, market concentration and tier profile, and the structural shift 2026→2036 shaping the tier structure</a:t>
            </a:r>
          </a:p>
        </p:txBody>
      </p:sp>
      <p:sp>
        <p:nvSpPr>
          <p:cNvPr id="7" name="Rounded Rectangle 6"/>
          <p:cNvSpPr/>
          <p:nvPr/>
        </p:nvSpPr>
        <p:spPr>
          <a:xfrm>
            <a:off x="142875" y="1047750"/>
            <a:ext cx="5810250" cy="4000500"/>
          </a:xfrm>
          <a:prstGeom prst="roundRect">
            <a:avLst>
              <a:gd name="adj" fmla="val 1311"/>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104900"/>
            <a:ext cx="5619750" cy="209550"/>
          </a:xfrm>
          <a:prstGeom prst="rect">
            <a:avLst/>
          </a:prstGeom>
          <a:noFill/>
        </p:spPr>
        <p:txBody>
          <a:bodyPr wrap="square" lIns="28575" rIns="28575" tIns="9525" bIns="9525" anchor="ctr">
            <a:spAutoFit/>
          </a:bodyPr>
          <a:lstStyle/>
          <a:p>
            <a:pPr algn="l"/>
            <a:r>
              <a:rPr sz="1200" b="1">
                <a:solidFill>
                  <a:srgbClr val="2E2E2E"/>
                </a:solidFill>
                <a:latin typeface="Calibri"/>
              </a:rPr>
              <a:t>Tier Ladder – Share of Market Value, 2026</a:t>
            </a:r>
          </a:p>
        </p:txBody>
      </p:sp>
      <p:sp>
        <p:nvSpPr>
          <p:cNvPr id="9" name="TextBox 8"/>
          <p:cNvSpPr txBox="1"/>
          <p:nvPr/>
        </p:nvSpPr>
        <p:spPr>
          <a:xfrm>
            <a:off x="238125" y="1304925"/>
            <a:ext cx="5619750" cy="247650"/>
          </a:xfrm>
          <a:prstGeom prst="rect">
            <a:avLst/>
          </a:prstGeom>
          <a:noFill/>
        </p:spPr>
        <p:txBody>
          <a:bodyPr wrap="square" lIns="28575" rIns="28575" tIns="9525" bIns="9525" anchor="ctr">
            <a:spAutoFit/>
          </a:bodyPr>
          <a:lstStyle/>
          <a:p>
            <a:pPr algn="l"/>
            <a:r>
              <a:rPr sz="1100" b="0">
                <a:solidFill>
                  <a:srgbClr val="6B7280"/>
                </a:solidFill>
                <a:latin typeface="Calibri"/>
              </a:rPr>
              <a:t/>
            </a:r>
          </a:p>
        </p:txBody>
      </p:sp>
      <p:sp>
        <p:nvSpPr>
          <p:cNvPr id="10" name="TextBox 9"/>
          <p:cNvSpPr txBox="1"/>
          <p:nvPr/>
        </p:nvSpPr>
        <p:spPr>
          <a:xfrm>
            <a:off x="257175" y="1600200"/>
            <a:ext cx="990600" cy="209550"/>
          </a:xfrm>
          <a:prstGeom prst="rect">
            <a:avLst/>
          </a:prstGeom>
          <a:noFill/>
        </p:spPr>
        <p:txBody>
          <a:bodyPr wrap="square" lIns="28575" rIns="28575" tIns="9525" bIns="9525" anchor="ctr">
            <a:spAutoFit/>
          </a:bodyPr>
          <a:lstStyle/>
          <a:p>
            <a:pPr algn="l"/>
            <a:r>
              <a:rPr sz="1100" b="1">
                <a:solidFill>
                  <a:srgbClr val="14213D"/>
                </a:solidFill>
                <a:latin typeface="Calibri"/>
              </a:rPr>
              <a:t>Tier 1</a:t>
            </a:r>
          </a:p>
        </p:txBody>
      </p:sp>
      <p:sp>
        <p:nvSpPr>
          <p:cNvPr id="11" name="TextBox 10"/>
          <p:cNvSpPr txBox="1"/>
          <p:nvPr/>
        </p:nvSpPr>
        <p:spPr>
          <a:xfrm>
            <a:off x="257175" y="1809750"/>
            <a:ext cx="990600" cy="323850"/>
          </a:xfrm>
          <a:prstGeom prst="rect">
            <a:avLst/>
          </a:prstGeom>
          <a:noFill/>
        </p:spPr>
        <p:txBody>
          <a:bodyPr wrap="square" lIns="28575" rIns="28575" tIns="9525" bIns="9525" anchor="t">
            <a:spAutoFit/>
          </a:bodyPr>
          <a:lstStyle/>
          <a:p>
            <a:pPr algn="l">
              <a:lnSpc>
                <a:spcPct val="115000"/>
              </a:lnSpc>
            </a:pPr>
            <a:r>
              <a:rPr sz="1100" b="0">
                <a:solidFill>
                  <a:srgbClr val="6B7280"/>
                </a:solidFill>
                <a:latin typeface="Calibri"/>
              </a:rPr>
              <a:t>Top / global players</a:t>
            </a:r>
          </a:p>
        </p:txBody>
      </p:sp>
      <p:sp>
        <p:nvSpPr>
          <p:cNvPr id="12" name="Rectangle 11"/>
          <p:cNvSpPr/>
          <p:nvPr/>
        </p:nvSpPr>
        <p:spPr>
          <a:xfrm>
            <a:off x="1266825" y="1581150"/>
            <a:ext cx="4533900" cy="476250"/>
          </a:xfrm>
          <a:prstGeom prst="rect">
            <a:avLst/>
          </a:prstGeom>
          <a:solidFill>
            <a:srgbClr val="1F3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362075" y="1609725"/>
            <a:ext cx="666750" cy="209550"/>
          </a:xfrm>
          <a:prstGeom prst="rect">
            <a:avLst/>
          </a:prstGeom>
          <a:noFill/>
        </p:spPr>
        <p:txBody>
          <a:bodyPr wrap="square" lIns="28575" rIns="28575" tIns="9525" bIns="9525" anchor="ctr">
            <a:spAutoFit/>
          </a:bodyPr>
          <a:lstStyle/>
          <a:p>
            <a:pPr algn="l"/>
            <a:r>
              <a:rPr sz="1100" b="1">
                <a:solidFill>
                  <a:srgbClr val="FFFFFF"/>
                </a:solidFill>
                <a:latin typeface="Calibri"/>
              </a:rPr>
              <a:t> </a:t>
            </a:r>
          </a:p>
        </p:txBody>
      </p:sp>
      <p:sp>
        <p:nvSpPr>
          <p:cNvPr id="14" name="TextBox 13"/>
          <p:cNvSpPr txBox="1"/>
          <p:nvPr/>
        </p:nvSpPr>
        <p:spPr>
          <a:xfrm>
            <a:off x="1362075" y="1809750"/>
            <a:ext cx="4381500" cy="247650"/>
          </a:xfrm>
          <a:prstGeom prst="rect">
            <a:avLst/>
          </a:prstGeom>
          <a:noFill/>
        </p:spPr>
        <p:txBody>
          <a:bodyPr wrap="square" lIns="28575" rIns="28575" tIns="9525" bIns="9525" anchor="ctr">
            <a:spAutoFit/>
          </a:bodyPr>
          <a:lstStyle/>
          <a:p>
            <a:pPr algn="l"/>
            <a:r>
              <a:rPr sz="1100" b="0">
                <a:solidFill>
                  <a:srgbClr val="FFFFFF"/>
                </a:solidFill>
                <a:latin typeface="Calibri"/>
              </a:rPr>
              <a:t/>
            </a:r>
          </a:p>
        </p:txBody>
      </p:sp>
      <p:sp>
        <p:nvSpPr>
          <p:cNvPr id="15" name="TextBox 14"/>
          <p:cNvSpPr txBox="1"/>
          <p:nvPr/>
        </p:nvSpPr>
        <p:spPr>
          <a:xfrm>
            <a:off x="1266825" y="2066925"/>
            <a:ext cx="4533900" cy="342900"/>
          </a:xfrm>
          <a:prstGeom prst="rect">
            <a:avLst/>
          </a:prstGeom>
          <a:noFill/>
        </p:spPr>
        <p:txBody>
          <a:bodyPr wrap="square" lIns="28575" rIns="28575" tIns="9525" bIns="9525" anchor="t">
            <a:spAutoFit/>
          </a:bodyPr>
          <a:lstStyle/>
          <a:p>
            <a:pPr algn="l">
              <a:lnSpc>
                <a:spcPct val="115000"/>
              </a:lnSpc>
            </a:pPr>
            <a:r>
              <a:rPr sz="1100" b="0">
                <a:solidFill>
                  <a:srgbClr val="6B7280"/>
                </a:solidFill>
                <a:latin typeface="Calibri"/>
              </a:rPr>
              <a:t>ESM Technologies, LLC · Company · Biova, LLC · Eggnovo S.L.</a:t>
            </a:r>
          </a:p>
        </p:txBody>
      </p:sp>
      <p:sp>
        <p:nvSpPr>
          <p:cNvPr id="16" name="TextBox 15"/>
          <p:cNvSpPr txBox="1"/>
          <p:nvPr/>
        </p:nvSpPr>
        <p:spPr>
          <a:xfrm>
            <a:off x="257175" y="2457450"/>
            <a:ext cx="990600" cy="209550"/>
          </a:xfrm>
          <a:prstGeom prst="rect">
            <a:avLst/>
          </a:prstGeom>
          <a:noFill/>
        </p:spPr>
        <p:txBody>
          <a:bodyPr wrap="square" lIns="28575" rIns="28575" tIns="9525" bIns="9525" anchor="ctr">
            <a:spAutoFit/>
          </a:bodyPr>
          <a:lstStyle/>
          <a:p>
            <a:pPr algn="l"/>
            <a:r>
              <a:rPr sz="1100" b="1">
                <a:solidFill>
                  <a:srgbClr val="14213D"/>
                </a:solidFill>
                <a:latin typeface="Calibri"/>
              </a:rPr>
              <a:t>Tier 2</a:t>
            </a:r>
          </a:p>
        </p:txBody>
      </p:sp>
      <p:sp>
        <p:nvSpPr>
          <p:cNvPr id="17" name="TextBox 16"/>
          <p:cNvSpPr txBox="1"/>
          <p:nvPr/>
        </p:nvSpPr>
        <p:spPr>
          <a:xfrm>
            <a:off x="257175" y="2667000"/>
            <a:ext cx="990600" cy="323850"/>
          </a:xfrm>
          <a:prstGeom prst="rect">
            <a:avLst/>
          </a:prstGeom>
          <a:noFill/>
        </p:spPr>
        <p:txBody>
          <a:bodyPr wrap="square" lIns="28575" rIns="28575" tIns="9525" bIns="9525" anchor="t">
            <a:spAutoFit/>
          </a:bodyPr>
          <a:lstStyle/>
          <a:p>
            <a:pPr algn="l">
              <a:lnSpc>
                <a:spcPct val="115000"/>
              </a:lnSpc>
            </a:pPr>
            <a:r>
              <a:rPr sz="1100" b="0">
                <a:solidFill>
                  <a:srgbClr val="6B7280"/>
                </a:solidFill>
                <a:latin typeface="Calibri"/>
              </a:rPr>
              <a:t>Mid-sized players</a:t>
            </a:r>
          </a:p>
        </p:txBody>
      </p:sp>
      <p:sp>
        <p:nvSpPr>
          <p:cNvPr id="18" name="Rectangle 17"/>
          <p:cNvSpPr/>
          <p:nvPr/>
        </p:nvSpPr>
        <p:spPr>
          <a:xfrm>
            <a:off x="1266825" y="2438400"/>
            <a:ext cx="3786554" cy="476250"/>
          </a:xfrm>
          <a:prstGeom prst="rect">
            <a:avLst/>
          </a:prstGeom>
          <a:solidFill>
            <a:srgbClr val="2E6D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362075" y="2466975"/>
            <a:ext cx="666750" cy="209550"/>
          </a:xfrm>
          <a:prstGeom prst="rect">
            <a:avLst/>
          </a:prstGeom>
          <a:noFill/>
        </p:spPr>
        <p:txBody>
          <a:bodyPr wrap="square" lIns="28575" rIns="28575" tIns="9525" bIns="9525" anchor="ctr">
            <a:spAutoFit/>
          </a:bodyPr>
          <a:lstStyle/>
          <a:p>
            <a:pPr algn="l"/>
            <a:r>
              <a:rPr sz="1100" b="1">
                <a:solidFill>
                  <a:srgbClr val="FFFFFF"/>
                </a:solidFill>
                <a:latin typeface="Calibri"/>
              </a:rPr>
              <a:t> </a:t>
            </a:r>
          </a:p>
        </p:txBody>
      </p:sp>
      <p:sp>
        <p:nvSpPr>
          <p:cNvPr id="20" name="TextBox 19"/>
          <p:cNvSpPr txBox="1"/>
          <p:nvPr/>
        </p:nvSpPr>
        <p:spPr>
          <a:xfrm>
            <a:off x="1362075" y="2667000"/>
            <a:ext cx="3634154" cy="247650"/>
          </a:xfrm>
          <a:prstGeom prst="rect">
            <a:avLst/>
          </a:prstGeom>
          <a:noFill/>
        </p:spPr>
        <p:txBody>
          <a:bodyPr wrap="square" lIns="28575" rIns="28575" tIns="9525" bIns="9525" anchor="ctr">
            <a:spAutoFit/>
          </a:bodyPr>
          <a:lstStyle/>
          <a:p>
            <a:pPr algn="l"/>
            <a:r>
              <a:rPr sz="1100" b="0">
                <a:solidFill>
                  <a:srgbClr val="FFFFFF"/>
                </a:solidFill>
                <a:latin typeface="Calibri"/>
              </a:rPr>
              <a:t/>
            </a:r>
          </a:p>
        </p:txBody>
      </p:sp>
      <p:sp>
        <p:nvSpPr>
          <p:cNvPr id="21" name="TextBox 20"/>
          <p:cNvSpPr txBox="1"/>
          <p:nvPr/>
        </p:nvSpPr>
        <p:spPr>
          <a:xfrm>
            <a:off x="1266825" y="2924175"/>
            <a:ext cx="4533900" cy="342900"/>
          </a:xfrm>
          <a:prstGeom prst="rect">
            <a:avLst/>
          </a:prstGeom>
          <a:noFill/>
        </p:spPr>
        <p:txBody>
          <a:bodyPr wrap="square" lIns="28575" rIns="28575" tIns="9525" bIns="9525" anchor="t">
            <a:spAutoFit/>
          </a:bodyPr>
          <a:lstStyle/>
          <a:p>
            <a:pPr algn="l">
              <a:lnSpc>
                <a:spcPct val="115000"/>
              </a:lnSpc>
            </a:pPr>
            <a:r>
              <a:rPr sz="1100" b="0">
                <a:solidFill>
                  <a:srgbClr val="6B7280"/>
                </a:solidFill>
                <a:latin typeface="Calibri"/>
              </a:rPr>
              <a:t>Dutch Eggmembrane Protein Powder · Kewpie Corporation</a:t>
            </a:r>
          </a:p>
        </p:txBody>
      </p:sp>
      <p:sp>
        <p:nvSpPr>
          <p:cNvPr id="22" name="TextBox 21"/>
          <p:cNvSpPr txBox="1"/>
          <p:nvPr/>
        </p:nvSpPr>
        <p:spPr>
          <a:xfrm>
            <a:off x="257175" y="3314700"/>
            <a:ext cx="990600" cy="209550"/>
          </a:xfrm>
          <a:prstGeom prst="rect">
            <a:avLst/>
          </a:prstGeom>
          <a:noFill/>
        </p:spPr>
        <p:txBody>
          <a:bodyPr wrap="square" lIns="28575" rIns="28575" tIns="9525" bIns="9525" anchor="ctr">
            <a:spAutoFit/>
          </a:bodyPr>
          <a:lstStyle/>
          <a:p>
            <a:pPr algn="l"/>
            <a:r>
              <a:rPr sz="1100" b="1">
                <a:solidFill>
                  <a:srgbClr val="14213D"/>
                </a:solidFill>
                <a:latin typeface="Calibri"/>
              </a:rPr>
              <a:t>Tier 3</a:t>
            </a:r>
          </a:p>
        </p:txBody>
      </p:sp>
      <p:sp>
        <p:nvSpPr>
          <p:cNvPr id="23" name="TextBox 22"/>
          <p:cNvSpPr txBox="1"/>
          <p:nvPr/>
        </p:nvSpPr>
        <p:spPr>
          <a:xfrm>
            <a:off x="257175" y="3524250"/>
            <a:ext cx="990600" cy="323850"/>
          </a:xfrm>
          <a:prstGeom prst="rect">
            <a:avLst/>
          </a:prstGeom>
          <a:noFill/>
        </p:spPr>
        <p:txBody>
          <a:bodyPr wrap="square" lIns="28575" rIns="28575" tIns="9525" bIns="9525" anchor="t">
            <a:spAutoFit/>
          </a:bodyPr>
          <a:lstStyle/>
          <a:p>
            <a:pPr algn="l">
              <a:lnSpc>
                <a:spcPct val="115000"/>
              </a:lnSpc>
            </a:pPr>
            <a:r>
              <a:rPr sz="1100" b="0">
                <a:solidFill>
                  <a:srgbClr val="6B7280"/>
                </a:solidFill>
                <a:latin typeface="Calibri"/>
              </a:rPr>
              <a:t>Emerging / local players</a:t>
            </a:r>
          </a:p>
        </p:txBody>
      </p:sp>
      <p:sp>
        <p:nvSpPr>
          <p:cNvPr id="24" name="Rectangle 23"/>
          <p:cNvSpPr/>
          <p:nvPr/>
        </p:nvSpPr>
        <p:spPr>
          <a:xfrm>
            <a:off x="1266825" y="3295650"/>
            <a:ext cx="3487615" cy="476250"/>
          </a:xfrm>
          <a:prstGeom prst="rect">
            <a:avLst/>
          </a:prstGeom>
          <a:solidFill>
            <a:srgbClr val="6FA8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362075" y="3324225"/>
            <a:ext cx="666750" cy="209550"/>
          </a:xfrm>
          <a:prstGeom prst="rect">
            <a:avLst/>
          </a:prstGeom>
          <a:noFill/>
        </p:spPr>
        <p:txBody>
          <a:bodyPr wrap="square" lIns="28575" rIns="28575" tIns="9525" bIns="9525" anchor="ctr">
            <a:spAutoFit/>
          </a:bodyPr>
          <a:lstStyle/>
          <a:p>
            <a:pPr algn="l"/>
            <a:r>
              <a:rPr sz="1100" b="1">
                <a:solidFill>
                  <a:srgbClr val="FFFFFF"/>
                </a:solidFill>
                <a:latin typeface="Calibri"/>
              </a:rPr>
              <a:t> </a:t>
            </a:r>
          </a:p>
        </p:txBody>
      </p:sp>
      <p:sp>
        <p:nvSpPr>
          <p:cNvPr id="26" name="TextBox 25"/>
          <p:cNvSpPr txBox="1"/>
          <p:nvPr/>
        </p:nvSpPr>
        <p:spPr>
          <a:xfrm>
            <a:off x="1362075" y="3524250"/>
            <a:ext cx="3335215" cy="247650"/>
          </a:xfrm>
          <a:prstGeom prst="rect">
            <a:avLst/>
          </a:prstGeom>
          <a:noFill/>
        </p:spPr>
        <p:txBody>
          <a:bodyPr wrap="square" lIns="28575" rIns="28575" tIns="9525" bIns="9525" anchor="ctr">
            <a:spAutoFit/>
          </a:bodyPr>
          <a:lstStyle/>
          <a:p>
            <a:pPr algn="l"/>
            <a:r>
              <a:rPr sz="1100" b="0">
                <a:solidFill>
                  <a:srgbClr val="FFFFFF"/>
                </a:solidFill>
                <a:latin typeface="Calibri"/>
              </a:rPr>
              <a:t/>
            </a:r>
          </a:p>
        </p:txBody>
      </p:sp>
      <p:sp>
        <p:nvSpPr>
          <p:cNvPr id="27" name="TextBox 26"/>
          <p:cNvSpPr txBox="1"/>
          <p:nvPr/>
        </p:nvSpPr>
        <p:spPr>
          <a:xfrm>
            <a:off x="1266825" y="3781425"/>
            <a:ext cx="4533900" cy="342900"/>
          </a:xfrm>
          <a:prstGeom prst="rect">
            <a:avLst/>
          </a:prstGeom>
          <a:noFill/>
        </p:spPr>
        <p:txBody>
          <a:bodyPr wrap="square" lIns="28575" rIns="28575" tIns="9525" bIns="9525" anchor="t">
            <a:spAutoFit/>
          </a:bodyPr>
          <a:lstStyle/>
          <a:p>
            <a:pPr algn="l">
              <a:lnSpc>
                <a:spcPct val="115000"/>
              </a:lnSpc>
            </a:pPr>
            <a:r>
              <a:rPr sz="1100" b="0">
                <a:solidFill>
                  <a:srgbClr val="6B7280"/>
                </a:solidFill>
                <a:latin typeface="Calibri"/>
              </a:rPr>
              <a:t>INNAIN · Ecovatec Solutions Inc. · Biovotec · Microcore Research Laboratories India Pvt. Ltd.</a:t>
            </a:r>
          </a:p>
        </p:txBody>
      </p:sp>
      <p:sp>
        <p:nvSpPr>
          <p:cNvPr id="28" name="TextBox 27"/>
          <p:cNvSpPr txBox="1"/>
          <p:nvPr/>
        </p:nvSpPr>
        <p:spPr>
          <a:xfrm>
            <a:off x="257175" y="4171950"/>
            <a:ext cx="990600" cy="209550"/>
          </a:xfrm>
          <a:prstGeom prst="rect">
            <a:avLst/>
          </a:prstGeom>
          <a:noFill/>
        </p:spPr>
        <p:txBody>
          <a:bodyPr wrap="square" lIns="28575" rIns="28575" tIns="9525" bIns="9525" anchor="ctr">
            <a:spAutoFit/>
          </a:bodyPr>
          <a:lstStyle/>
          <a:p>
            <a:pPr algn="l"/>
            <a:r>
              <a:rPr sz="1100" b="1">
                <a:solidFill>
                  <a:srgbClr val="14213D"/>
                </a:solidFill>
                <a:latin typeface="Calibri"/>
              </a:rPr>
              <a:t>Others</a:t>
            </a:r>
          </a:p>
        </p:txBody>
      </p:sp>
      <p:sp>
        <p:nvSpPr>
          <p:cNvPr id="29" name="TextBox 28"/>
          <p:cNvSpPr txBox="1"/>
          <p:nvPr/>
        </p:nvSpPr>
        <p:spPr>
          <a:xfrm>
            <a:off x="257175" y="4381500"/>
            <a:ext cx="990600" cy="323850"/>
          </a:xfrm>
          <a:prstGeom prst="rect">
            <a:avLst/>
          </a:prstGeom>
          <a:noFill/>
        </p:spPr>
        <p:txBody>
          <a:bodyPr wrap="square" lIns="28575" rIns="28575" tIns="9525" bIns="9525" anchor="t">
            <a:spAutoFit/>
          </a:bodyPr>
          <a:lstStyle/>
          <a:p>
            <a:pPr algn="l">
              <a:lnSpc>
                <a:spcPct val="115000"/>
              </a:lnSpc>
            </a:pPr>
            <a:r>
              <a:rPr sz="1100" b="0">
                <a:solidFill>
                  <a:srgbClr val="6B7280"/>
                </a:solidFill>
                <a:latin typeface="Calibri"/>
              </a:rPr>
              <a:t>Long tail</a:t>
            </a:r>
          </a:p>
        </p:txBody>
      </p:sp>
      <p:sp>
        <p:nvSpPr>
          <p:cNvPr id="30" name="Rectangle 29"/>
          <p:cNvSpPr/>
          <p:nvPr/>
        </p:nvSpPr>
        <p:spPr>
          <a:xfrm>
            <a:off x="1266825" y="4152900"/>
            <a:ext cx="3637085" cy="476250"/>
          </a:xfrm>
          <a:prstGeom prst="rect">
            <a:avLst/>
          </a:prstGeom>
          <a:solidFill>
            <a:srgbClr val="9FC5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362075" y="4181475"/>
            <a:ext cx="666750" cy="209550"/>
          </a:xfrm>
          <a:prstGeom prst="rect">
            <a:avLst/>
          </a:prstGeom>
          <a:noFill/>
        </p:spPr>
        <p:txBody>
          <a:bodyPr wrap="square" lIns="28575" rIns="28575" tIns="9525" bIns="9525" anchor="ctr">
            <a:spAutoFit/>
          </a:bodyPr>
          <a:lstStyle/>
          <a:p>
            <a:pPr algn="l"/>
            <a:r>
              <a:rPr sz="1100" b="1">
                <a:solidFill>
                  <a:srgbClr val="14213D"/>
                </a:solidFill>
                <a:latin typeface="Calibri"/>
              </a:rPr>
              <a:t> </a:t>
            </a:r>
          </a:p>
        </p:txBody>
      </p:sp>
      <p:sp>
        <p:nvSpPr>
          <p:cNvPr id="32" name="TextBox 31"/>
          <p:cNvSpPr txBox="1"/>
          <p:nvPr/>
        </p:nvSpPr>
        <p:spPr>
          <a:xfrm>
            <a:off x="1362075" y="4381500"/>
            <a:ext cx="3484685" cy="247650"/>
          </a:xfrm>
          <a:prstGeom prst="rect">
            <a:avLst/>
          </a:prstGeom>
          <a:noFill/>
        </p:spPr>
        <p:txBody>
          <a:bodyPr wrap="square" lIns="28575" rIns="28575" tIns="9525" bIns="9525" anchor="ctr">
            <a:spAutoFit/>
          </a:bodyPr>
          <a:lstStyle/>
          <a:p>
            <a:pPr algn="l"/>
            <a:r>
              <a:rPr sz="1100" b="0">
                <a:solidFill>
                  <a:srgbClr val="14213D"/>
                </a:solidFill>
                <a:latin typeface="Calibri"/>
              </a:rPr>
              <a:t/>
            </a:r>
          </a:p>
        </p:txBody>
      </p:sp>
      <p:sp>
        <p:nvSpPr>
          <p:cNvPr id="33" name="TextBox 32"/>
          <p:cNvSpPr txBox="1"/>
          <p:nvPr/>
        </p:nvSpPr>
        <p:spPr>
          <a:xfrm>
            <a:off x="1266825" y="4638675"/>
            <a:ext cx="4533900" cy="342900"/>
          </a:xfrm>
          <a:prstGeom prst="rect">
            <a:avLst/>
          </a:prstGeom>
          <a:noFill/>
        </p:spPr>
        <p:txBody>
          <a:bodyPr wrap="square" lIns="28575" rIns="28575" tIns="9525" bIns="9525" anchor="t">
            <a:spAutoFit/>
          </a:bodyPr>
          <a:lstStyle/>
          <a:p>
            <a:pPr algn="l">
              <a:lnSpc>
                <a:spcPct val="115000"/>
              </a:lnSpc>
            </a:pPr>
            <a:r>
              <a:rPr sz="1100" b="0">
                <a:solidFill>
                  <a:srgbClr val="6B7280"/>
                </a:solidFill>
                <a:latin typeface="Calibri"/>
              </a:rPr>
              <a:t>Regional &amp; niche suppliers</a:t>
            </a:r>
          </a:p>
        </p:txBody>
      </p:sp>
      <p:sp>
        <p:nvSpPr>
          <p:cNvPr id="34" name="Rounded Rectangle 33"/>
          <p:cNvSpPr/>
          <p:nvPr/>
        </p:nvSpPr>
        <p:spPr>
          <a:xfrm>
            <a:off x="142875" y="5162550"/>
            <a:ext cx="5810250" cy="1466850"/>
          </a:xfrm>
          <a:prstGeom prst="roundRect">
            <a:avLst>
              <a:gd name="adj" fmla="val 1311"/>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38125" y="5219700"/>
            <a:ext cx="5619750" cy="209550"/>
          </a:xfrm>
          <a:prstGeom prst="rect">
            <a:avLst/>
          </a:prstGeom>
          <a:noFill/>
        </p:spPr>
        <p:txBody>
          <a:bodyPr wrap="square" lIns="28575" rIns="28575" tIns="9525" bIns="9525" anchor="ctr">
            <a:spAutoFit/>
          </a:bodyPr>
          <a:lstStyle/>
          <a:p>
            <a:pPr algn="l"/>
            <a:r>
              <a:rPr sz="1200" b="1">
                <a:solidFill>
                  <a:srgbClr val="2E2E2E"/>
                </a:solidFill>
                <a:latin typeface="Calibri"/>
              </a:rPr>
              <a:t>Concentration Read-out</a:t>
            </a:r>
          </a:p>
        </p:txBody>
      </p:sp>
      <p:sp>
        <p:nvSpPr>
          <p:cNvPr id="36" name="Rectangle 35"/>
          <p:cNvSpPr/>
          <p:nvPr/>
        </p:nvSpPr>
        <p:spPr>
          <a:xfrm>
            <a:off x="276225" y="5505450"/>
            <a:ext cx="1847850" cy="247650"/>
          </a:xfrm>
          <a:prstGeom prst="rect">
            <a:avLst/>
          </a:prstGeom>
          <a:solidFill>
            <a:srgbClr val="C9DAF0"/>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76225" y="5505450"/>
            <a:ext cx="1847850" cy="247650"/>
          </a:xfrm>
          <a:prstGeom prst="rect">
            <a:avLst/>
          </a:prstGeom>
          <a:noFill/>
        </p:spPr>
        <p:txBody>
          <a:bodyPr wrap="square" lIns="28575" rIns="28575" tIns="9525" bIns="9525" anchor="ctr">
            <a:spAutoFit/>
          </a:bodyPr>
          <a:lstStyle/>
          <a:p>
            <a:pPr algn="ctr"/>
            <a:r>
              <a:rPr sz="1100" b="1">
                <a:solidFill>
                  <a:srgbClr val="14213D"/>
                </a:solidFill>
                <a:latin typeface="Calibri"/>
              </a:rPr>
              <a:t>Fragmented HHI &lt; 1,500</a:t>
            </a:r>
          </a:p>
        </p:txBody>
      </p:sp>
      <p:sp>
        <p:nvSpPr>
          <p:cNvPr id="38" name="Rectangle 37"/>
          <p:cNvSpPr/>
          <p:nvPr/>
        </p:nvSpPr>
        <p:spPr>
          <a:xfrm>
            <a:off x="2124075" y="5505450"/>
            <a:ext cx="1847850" cy="247650"/>
          </a:xfrm>
          <a:prstGeom prst="rect">
            <a:avLst/>
          </a:prstGeom>
          <a:solidFill>
            <a:srgbClr val="6FA8DC"/>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2124075" y="5505450"/>
            <a:ext cx="1847850" cy="247650"/>
          </a:xfrm>
          <a:prstGeom prst="rect">
            <a:avLst/>
          </a:prstGeom>
          <a:noFill/>
        </p:spPr>
        <p:txBody>
          <a:bodyPr wrap="square" lIns="28575" rIns="28575" tIns="9525" bIns="9525" anchor="ctr">
            <a:spAutoFit/>
          </a:bodyPr>
          <a:lstStyle/>
          <a:p>
            <a:pPr algn="ctr"/>
            <a:r>
              <a:rPr sz="1100" b="1">
                <a:solidFill>
                  <a:srgbClr val="FFFFFF"/>
                </a:solidFill>
                <a:latin typeface="Calibri"/>
              </a:rPr>
              <a:t>Moderate 1,500–2,500</a:t>
            </a:r>
          </a:p>
        </p:txBody>
      </p:sp>
      <p:sp>
        <p:nvSpPr>
          <p:cNvPr id="40" name="Rectangle 39"/>
          <p:cNvSpPr/>
          <p:nvPr/>
        </p:nvSpPr>
        <p:spPr>
          <a:xfrm>
            <a:off x="3971925" y="5505450"/>
            <a:ext cx="1847850" cy="247650"/>
          </a:xfrm>
          <a:prstGeom prst="rect">
            <a:avLst/>
          </a:prstGeom>
          <a:solidFill>
            <a:srgbClr val="1F3A6E"/>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971925" y="5505450"/>
            <a:ext cx="1847850" cy="247650"/>
          </a:xfrm>
          <a:prstGeom prst="rect">
            <a:avLst/>
          </a:prstGeom>
          <a:noFill/>
        </p:spPr>
        <p:txBody>
          <a:bodyPr wrap="square" lIns="28575" rIns="28575" tIns="9525" bIns="9525" anchor="ctr">
            <a:spAutoFit/>
          </a:bodyPr>
          <a:lstStyle/>
          <a:p>
            <a:pPr algn="ctr"/>
            <a:r>
              <a:rPr sz="1100" b="1">
                <a:solidFill>
                  <a:srgbClr val="FFFFFF"/>
                </a:solidFill>
                <a:latin typeface="Calibri"/>
              </a:rPr>
              <a:t>Concentrated &gt; 2,500</a:t>
            </a:r>
          </a:p>
        </p:txBody>
      </p:sp>
      <p:sp>
        <p:nvSpPr>
          <p:cNvPr id="42" name="TextBox 41"/>
          <p:cNvSpPr txBox="1"/>
          <p:nvPr/>
        </p:nvSpPr>
        <p:spPr>
          <a:xfrm>
            <a:off x="669665" y="5762625"/>
            <a:ext cx="1714500" cy="247650"/>
          </a:xfrm>
          <a:prstGeom prst="rect">
            <a:avLst/>
          </a:prstGeom>
          <a:noFill/>
        </p:spPr>
        <p:txBody>
          <a:bodyPr wrap="square" lIns="28575" rIns="28575" tIns="9525" bIns="9525" anchor="ctr">
            <a:spAutoFit/>
          </a:bodyPr>
          <a:lstStyle/>
          <a:p>
            <a:pPr algn="ctr"/>
            <a:r>
              <a:rPr sz="1100" b="1">
                <a:solidFill>
                  <a:srgbClr val="14213D"/>
                </a:solidFill>
                <a:latin typeface="Calibri"/>
              </a:rPr>
              <a:t/>
            </a:r>
          </a:p>
        </p:txBody>
      </p:sp>
      <p:sp>
        <p:nvSpPr>
          <p:cNvPr id="43" name="TextBox 42"/>
          <p:cNvSpPr txBox="1"/>
          <p:nvPr/>
        </p:nvSpPr>
        <p:spPr>
          <a:xfrm>
            <a:off x="238125" y="5981700"/>
            <a:ext cx="5619750" cy="419100"/>
          </a:xfrm>
          <a:prstGeom prst="rect">
            <a:avLst/>
          </a:prstGeom>
          <a:noFill/>
        </p:spPr>
        <p:txBody>
          <a:bodyPr wrap="square" lIns="28575" rIns="28575" tIns="9525" bIns="9525" anchor="ctr">
            <a:spAutoFit/>
          </a:bodyPr>
          <a:lstStyle/>
          <a:p>
            <a:pPr algn="ctr"/>
            <a:r>
              <a:rPr sz="1100" b="1">
                <a:solidFill>
                  <a:srgbClr val="14213D"/>
                </a:solidFill>
                <a:latin typeface="Calibri"/>
              </a:rPr>
              <a:t/>
            </a:r>
          </a:p>
        </p:txBody>
      </p:sp>
      <p:sp>
        <p:nvSpPr>
          <p:cNvPr id="44" name="Rounded Rectangle 43"/>
          <p:cNvSpPr/>
          <p:nvPr/>
        </p:nvSpPr>
        <p:spPr>
          <a:xfrm>
            <a:off x="6096000" y="1047750"/>
            <a:ext cx="5953125" cy="4000500"/>
          </a:xfrm>
          <a:prstGeom prst="roundRect">
            <a:avLst>
              <a:gd name="adj" fmla="val 1280"/>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191250" y="1104900"/>
            <a:ext cx="5762625" cy="209550"/>
          </a:xfrm>
          <a:prstGeom prst="rect">
            <a:avLst/>
          </a:prstGeom>
          <a:noFill/>
        </p:spPr>
        <p:txBody>
          <a:bodyPr wrap="square" lIns="28575" rIns="28575" tIns="9525" bIns="9525" anchor="ctr">
            <a:spAutoFit/>
          </a:bodyPr>
          <a:lstStyle/>
          <a:p>
            <a:pPr algn="l"/>
            <a:r>
              <a:rPr sz="1200" b="1">
                <a:solidFill>
                  <a:srgbClr val="2E2E2E"/>
                </a:solidFill>
                <a:latin typeface="Calibri"/>
              </a:rPr>
              <a:t>Tier Profile Matrix</a:t>
            </a:r>
          </a:p>
        </p:txBody>
      </p:sp>
      <p:sp>
        <p:nvSpPr>
          <p:cNvPr id="46" name="TextBox 45"/>
          <p:cNvSpPr txBox="1"/>
          <p:nvPr/>
        </p:nvSpPr>
        <p:spPr>
          <a:xfrm>
            <a:off x="6191250" y="1304925"/>
            <a:ext cx="5762625" cy="247650"/>
          </a:xfrm>
          <a:prstGeom prst="rect">
            <a:avLst/>
          </a:prstGeom>
          <a:noFill/>
        </p:spPr>
        <p:txBody>
          <a:bodyPr wrap="square" lIns="28575" rIns="28575" tIns="9525" bIns="9525" anchor="ctr">
            <a:spAutoFit/>
          </a:bodyPr>
          <a:lstStyle/>
          <a:p>
            <a:pPr algn="l"/>
            <a:r>
              <a:rPr sz="1100" b="0">
                <a:solidFill>
                  <a:srgbClr val="6B7280"/>
                </a:solidFill>
                <a:latin typeface="Calibri"/>
              </a:rPr>
              <a:t>Size, growth and competitive characteristics of each tier</a:t>
            </a:r>
          </a:p>
        </p:txBody>
      </p:sp>
      <p:sp>
        <p:nvSpPr>
          <p:cNvPr id="47" name="Rectangle 46"/>
          <p:cNvSpPr/>
          <p:nvPr/>
        </p:nvSpPr>
        <p:spPr>
          <a:xfrm>
            <a:off x="6191250" y="1562100"/>
            <a:ext cx="1619250" cy="247650"/>
          </a:xfrm>
          <a:prstGeom prst="rect">
            <a:avLst/>
          </a:prstGeom>
          <a:solidFill>
            <a:srgbClr val="1F3A6E"/>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248400" y="1562100"/>
            <a:ext cx="1543050" cy="247650"/>
          </a:xfrm>
          <a:prstGeom prst="rect">
            <a:avLst/>
          </a:prstGeom>
          <a:noFill/>
        </p:spPr>
        <p:txBody>
          <a:bodyPr wrap="square" lIns="28575" rIns="28575" tIns="9525" bIns="9525" anchor="ctr">
            <a:spAutoFit/>
          </a:bodyPr>
          <a:lstStyle/>
          <a:p>
            <a:pPr algn="l"/>
            <a:r>
              <a:rPr sz="1100" b="1">
                <a:solidFill>
                  <a:srgbClr val="FFFFFF"/>
                </a:solidFill>
                <a:latin typeface="Calibri"/>
              </a:rPr>
              <a:t>Metric</a:t>
            </a:r>
          </a:p>
        </p:txBody>
      </p:sp>
      <p:sp>
        <p:nvSpPr>
          <p:cNvPr id="49" name="Rectangle 48"/>
          <p:cNvSpPr/>
          <p:nvPr/>
        </p:nvSpPr>
        <p:spPr>
          <a:xfrm>
            <a:off x="7810500" y="1562100"/>
            <a:ext cx="828675" cy="247650"/>
          </a:xfrm>
          <a:prstGeom prst="rect">
            <a:avLst/>
          </a:prstGeom>
          <a:solidFill>
            <a:srgbClr val="1F3A6E"/>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810500" y="1562100"/>
            <a:ext cx="828675" cy="247650"/>
          </a:xfrm>
          <a:prstGeom prst="rect">
            <a:avLst/>
          </a:prstGeom>
          <a:noFill/>
        </p:spPr>
        <p:txBody>
          <a:bodyPr wrap="square" lIns="28575" rIns="28575" tIns="9525" bIns="9525" anchor="ctr">
            <a:spAutoFit/>
          </a:bodyPr>
          <a:lstStyle/>
          <a:p>
            <a:pPr algn="ctr"/>
            <a:r>
              <a:rPr sz="1100" b="1">
                <a:solidFill>
                  <a:srgbClr val="FFFFFF"/>
                </a:solidFill>
                <a:latin typeface="Calibri"/>
              </a:rPr>
              <a:t>Tier 1</a:t>
            </a:r>
          </a:p>
        </p:txBody>
      </p:sp>
      <p:sp>
        <p:nvSpPr>
          <p:cNvPr id="51" name="Rectangle 50"/>
          <p:cNvSpPr/>
          <p:nvPr/>
        </p:nvSpPr>
        <p:spPr>
          <a:xfrm>
            <a:off x="8639175" y="1562100"/>
            <a:ext cx="828675" cy="247650"/>
          </a:xfrm>
          <a:prstGeom prst="rect">
            <a:avLst/>
          </a:prstGeom>
          <a:solidFill>
            <a:srgbClr val="2E6DB4"/>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639175" y="1562100"/>
            <a:ext cx="828675" cy="247650"/>
          </a:xfrm>
          <a:prstGeom prst="rect">
            <a:avLst/>
          </a:prstGeom>
          <a:noFill/>
        </p:spPr>
        <p:txBody>
          <a:bodyPr wrap="square" lIns="28575" rIns="28575" tIns="9525" bIns="9525" anchor="ctr">
            <a:spAutoFit/>
          </a:bodyPr>
          <a:lstStyle/>
          <a:p>
            <a:pPr algn="ctr"/>
            <a:r>
              <a:rPr sz="1100" b="1">
                <a:solidFill>
                  <a:srgbClr val="FFFFFF"/>
                </a:solidFill>
                <a:latin typeface="Calibri"/>
              </a:rPr>
              <a:t>Tier 2</a:t>
            </a:r>
          </a:p>
        </p:txBody>
      </p:sp>
      <p:sp>
        <p:nvSpPr>
          <p:cNvPr id="53" name="Rectangle 52"/>
          <p:cNvSpPr/>
          <p:nvPr/>
        </p:nvSpPr>
        <p:spPr>
          <a:xfrm>
            <a:off x="9467850" y="1562100"/>
            <a:ext cx="828675" cy="247650"/>
          </a:xfrm>
          <a:prstGeom prst="rect">
            <a:avLst/>
          </a:prstGeom>
          <a:solidFill>
            <a:srgbClr val="6FA8DC"/>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9467850" y="1562100"/>
            <a:ext cx="828675" cy="247650"/>
          </a:xfrm>
          <a:prstGeom prst="rect">
            <a:avLst/>
          </a:prstGeom>
          <a:noFill/>
        </p:spPr>
        <p:txBody>
          <a:bodyPr wrap="square" lIns="28575" rIns="28575" tIns="9525" bIns="9525" anchor="ctr">
            <a:spAutoFit/>
          </a:bodyPr>
          <a:lstStyle/>
          <a:p>
            <a:pPr algn="ctr"/>
            <a:r>
              <a:rPr sz="1100" b="1">
                <a:solidFill>
                  <a:srgbClr val="FFFFFF"/>
                </a:solidFill>
                <a:latin typeface="Calibri"/>
              </a:rPr>
              <a:t>Tier 3</a:t>
            </a:r>
          </a:p>
        </p:txBody>
      </p:sp>
      <p:sp>
        <p:nvSpPr>
          <p:cNvPr id="55" name="Rectangle 54"/>
          <p:cNvSpPr/>
          <p:nvPr/>
        </p:nvSpPr>
        <p:spPr>
          <a:xfrm>
            <a:off x="10296525" y="1562100"/>
            <a:ext cx="828675" cy="247650"/>
          </a:xfrm>
          <a:prstGeom prst="rect">
            <a:avLst/>
          </a:prstGeom>
          <a:solidFill>
            <a:srgbClr val="9FC5E8"/>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10296525" y="1562100"/>
            <a:ext cx="828675" cy="247650"/>
          </a:xfrm>
          <a:prstGeom prst="rect">
            <a:avLst/>
          </a:prstGeom>
          <a:noFill/>
        </p:spPr>
        <p:txBody>
          <a:bodyPr wrap="square" lIns="28575" rIns="28575" tIns="9525" bIns="9525" anchor="ctr">
            <a:spAutoFit/>
          </a:bodyPr>
          <a:lstStyle/>
          <a:p>
            <a:pPr algn="ctr"/>
            <a:r>
              <a:rPr sz="1100" b="1">
                <a:solidFill>
                  <a:srgbClr val="14213D"/>
                </a:solidFill>
                <a:latin typeface="Calibri"/>
              </a:rPr>
              <a:t>Others</a:t>
            </a:r>
          </a:p>
        </p:txBody>
      </p:sp>
      <p:sp>
        <p:nvSpPr>
          <p:cNvPr id="57" name="Rectangle 56"/>
          <p:cNvSpPr/>
          <p:nvPr/>
        </p:nvSpPr>
        <p:spPr>
          <a:xfrm>
            <a:off x="11125200" y="1562100"/>
            <a:ext cx="828675" cy="247650"/>
          </a:xfrm>
          <a:prstGeom prst="rect">
            <a:avLst/>
          </a:prstGeom>
          <a:solidFill>
            <a:srgbClr val="102447"/>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11125200" y="1562100"/>
            <a:ext cx="828675" cy="247650"/>
          </a:xfrm>
          <a:prstGeom prst="rect">
            <a:avLst/>
          </a:prstGeom>
          <a:noFill/>
        </p:spPr>
        <p:txBody>
          <a:bodyPr wrap="square" lIns="28575" rIns="28575" tIns="9525" bIns="9525" anchor="ctr">
            <a:spAutoFit/>
          </a:bodyPr>
          <a:lstStyle/>
          <a:p>
            <a:pPr algn="ctr"/>
            <a:r>
              <a:rPr sz="1100" b="1">
                <a:solidFill>
                  <a:srgbClr val="FFFFFF"/>
                </a:solidFill>
                <a:latin typeface="Calibri"/>
              </a:rPr>
              <a:t>Total</a:t>
            </a:r>
          </a:p>
        </p:txBody>
      </p:sp>
      <p:sp>
        <p:nvSpPr>
          <p:cNvPr id="59" name="Rectangle 58"/>
          <p:cNvSpPr/>
          <p:nvPr/>
        </p:nvSpPr>
        <p:spPr>
          <a:xfrm>
            <a:off x="6191250" y="1809750"/>
            <a:ext cx="1619250" cy="228600"/>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248400" y="1809750"/>
            <a:ext cx="1543050" cy="228600"/>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Players</a:t>
            </a:r>
          </a:p>
        </p:txBody>
      </p:sp>
      <p:sp>
        <p:nvSpPr>
          <p:cNvPr id="61" name="Rectangle 60"/>
          <p:cNvSpPr/>
          <p:nvPr/>
        </p:nvSpPr>
        <p:spPr>
          <a:xfrm>
            <a:off x="7810500" y="18097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7829550" y="1809750"/>
            <a:ext cx="790575" cy="228600"/>
          </a:xfrm>
          <a:prstGeom prst="rect">
            <a:avLst/>
          </a:prstGeom>
          <a:noFill/>
        </p:spPr>
        <p:txBody>
          <a:bodyPr wrap="square" lIns="28575" rIns="28575" tIns="9525" bIns="9525" anchor="ctr">
            <a:spAutoFit/>
          </a:bodyPr>
          <a:lstStyle/>
          <a:p>
            <a:pPr algn="ctr"/>
            <a:r>
              <a:rPr sz="1100" b="0">
                <a:solidFill>
                  <a:srgbClr val="14213D"/>
                </a:solidFill>
                <a:latin typeface="Calibri"/>
              </a:rPr>
              <a:t>4</a:t>
            </a:r>
          </a:p>
        </p:txBody>
      </p:sp>
      <p:sp>
        <p:nvSpPr>
          <p:cNvPr id="63" name="Rectangle 62"/>
          <p:cNvSpPr/>
          <p:nvPr/>
        </p:nvSpPr>
        <p:spPr>
          <a:xfrm>
            <a:off x="8639175" y="18097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8658225" y="1809750"/>
            <a:ext cx="790575" cy="228600"/>
          </a:xfrm>
          <a:prstGeom prst="rect">
            <a:avLst/>
          </a:prstGeom>
          <a:noFill/>
        </p:spPr>
        <p:txBody>
          <a:bodyPr wrap="square" lIns="28575" rIns="28575" tIns="9525" bIns="9525" anchor="ctr">
            <a:spAutoFit/>
          </a:bodyPr>
          <a:lstStyle/>
          <a:p>
            <a:pPr algn="ctr"/>
            <a:r>
              <a:rPr sz="1100" b="0">
                <a:solidFill>
                  <a:srgbClr val="14213D"/>
                </a:solidFill>
                <a:latin typeface="Calibri"/>
              </a:rPr>
              <a:t>2</a:t>
            </a:r>
          </a:p>
        </p:txBody>
      </p:sp>
      <p:sp>
        <p:nvSpPr>
          <p:cNvPr id="65" name="Rectangle 64"/>
          <p:cNvSpPr/>
          <p:nvPr/>
        </p:nvSpPr>
        <p:spPr>
          <a:xfrm>
            <a:off x="9467850" y="18097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9486900" y="1809750"/>
            <a:ext cx="790575" cy="228600"/>
          </a:xfrm>
          <a:prstGeom prst="rect">
            <a:avLst/>
          </a:prstGeom>
          <a:noFill/>
        </p:spPr>
        <p:txBody>
          <a:bodyPr wrap="square" lIns="28575" rIns="28575" tIns="9525" bIns="9525" anchor="ctr">
            <a:spAutoFit/>
          </a:bodyPr>
          <a:lstStyle/>
          <a:p>
            <a:pPr algn="ctr"/>
            <a:r>
              <a:rPr sz="1100" b="0">
                <a:solidFill>
                  <a:srgbClr val="14213D"/>
                </a:solidFill>
                <a:latin typeface="Calibri"/>
              </a:rPr>
              <a:t>4</a:t>
            </a:r>
          </a:p>
        </p:txBody>
      </p:sp>
      <p:sp>
        <p:nvSpPr>
          <p:cNvPr id="67" name="Rectangle 66"/>
          <p:cNvSpPr/>
          <p:nvPr/>
        </p:nvSpPr>
        <p:spPr>
          <a:xfrm>
            <a:off x="10296525" y="18097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10315575" y="1809750"/>
            <a:ext cx="790575" cy="228600"/>
          </a:xfrm>
          <a:prstGeom prst="rect">
            <a:avLst/>
          </a:prstGeom>
          <a:noFill/>
        </p:spPr>
        <p:txBody>
          <a:bodyPr wrap="square" lIns="28575" rIns="28575" tIns="9525" bIns="9525" anchor="ctr">
            <a:spAutoFit/>
          </a:bodyPr>
          <a:lstStyle/>
          <a:p>
            <a:pPr algn="ctr"/>
            <a:r>
              <a:rPr sz="1100" b="0">
                <a:solidFill>
                  <a:srgbClr val="14213D"/>
                </a:solidFill>
                <a:latin typeface="Calibri"/>
              </a:rPr>
              <a:t>Long tail</a:t>
            </a:r>
          </a:p>
        </p:txBody>
      </p:sp>
      <p:sp>
        <p:nvSpPr>
          <p:cNvPr id="69" name="Rectangle 68"/>
          <p:cNvSpPr/>
          <p:nvPr/>
        </p:nvSpPr>
        <p:spPr>
          <a:xfrm>
            <a:off x="11125200" y="18097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11144250" y="1809750"/>
            <a:ext cx="790575" cy="228600"/>
          </a:xfrm>
          <a:prstGeom prst="rect">
            <a:avLst/>
          </a:prstGeom>
          <a:noFill/>
        </p:spPr>
        <p:txBody>
          <a:bodyPr wrap="square" lIns="28575" rIns="28575" tIns="9525" bIns="9525" anchor="ctr">
            <a:spAutoFit/>
          </a:bodyPr>
          <a:lstStyle/>
          <a:p>
            <a:pPr algn="ctr"/>
            <a:r>
              <a:rPr sz="1100" b="1">
                <a:solidFill>
                  <a:srgbClr val="14213D"/>
                </a:solidFill>
                <a:latin typeface="Calibri"/>
              </a:rPr>
              <a:t> </a:t>
            </a:r>
          </a:p>
        </p:txBody>
      </p:sp>
      <p:sp>
        <p:nvSpPr>
          <p:cNvPr id="71" name="Rectangle 70"/>
          <p:cNvSpPr/>
          <p:nvPr/>
        </p:nvSpPr>
        <p:spPr>
          <a:xfrm>
            <a:off x="6191250" y="2038350"/>
            <a:ext cx="1619250" cy="228600"/>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6248400" y="2038350"/>
            <a:ext cx="1543050" cy="228600"/>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Value 2026 (US$ Mn)</a:t>
            </a:r>
          </a:p>
        </p:txBody>
      </p:sp>
      <p:sp>
        <p:nvSpPr>
          <p:cNvPr id="73" name="Rectangle 72"/>
          <p:cNvSpPr/>
          <p:nvPr/>
        </p:nvSpPr>
        <p:spPr>
          <a:xfrm>
            <a:off x="7810500" y="20383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7829550" y="2038350"/>
            <a:ext cx="790575" cy="228600"/>
          </a:xfrm>
          <a:prstGeom prst="rect">
            <a:avLst/>
          </a:prstGeom>
          <a:noFill/>
        </p:spPr>
        <p:txBody>
          <a:bodyPr wrap="square" lIns="28575" rIns="28575" tIns="9525" bIns="9525" anchor="ctr">
            <a:spAutoFit/>
          </a:bodyPr>
          <a:lstStyle/>
          <a:p>
            <a:pPr algn="ctr"/>
            <a:r>
              <a:rPr sz="1100" b="0">
                <a:solidFill>
                  <a:srgbClr val="14213D"/>
                </a:solidFill>
                <a:latin typeface="Calibri"/>
              </a:rPr>
              <a:t> </a:t>
            </a:r>
          </a:p>
        </p:txBody>
      </p:sp>
      <p:sp>
        <p:nvSpPr>
          <p:cNvPr id="75" name="Rectangle 74"/>
          <p:cNvSpPr/>
          <p:nvPr/>
        </p:nvSpPr>
        <p:spPr>
          <a:xfrm>
            <a:off x="8639175" y="20383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8658225" y="2038350"/>
            <a:ext cx="790575" cy="228600"/>
          </a:xfrm>
          <a:prstGeom prst="rect">
            <a:avLst/>
          </a:prstGeom>
          <a:noFill/>
        </p:spPr>
        <p:txBody>
          <a:bodyPr wrap="square" lIns="28575" rIns="28575" tIns="9525" bIns="9525" anchor="ctr">
            <a:spAutoFit/>
          </a:bodyPr>
          <a:lstStyle/>
          <a:p>
            <a:pPr algn="ctr"/>
            <a:r>
              <a:rPr sz="1100" b="0">
                <a:solidFill>
                  <a:srgbClr val="14213D"/>
                </a:solidFill>
                <a:latin typeface="Calibri"/>
              </a:rPr>
              <a:t> </a:t>
            </a:r>
          </a:p>
        </p:txBody>
      </p:sp>
      <p:sp>
        <p:nvSpPr>
          <p:cNvPr id="77" name="Rectangle 76"/>
          <p:cNvSpPr/>
          <p:nvPr/>
        </p:nvSpPr>
        <p:spPr>
          <a:xfrm>
            <a:off x="9467850" y="20383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9486900" y="2038350"/>
            <a:ext cx="790575" cy="228600"/>
          </a:xfrm>
          <a:prstGeom prst="rect">
            <a:avLst/>
          </a:prstGeom>
          <a:noFill/>
        </p:spPr>
        <p:txBody>
          <a:bodyPr wrap="square" lIns="28575" rIns="28575" tIns="9525" bIns="9525" anchor="ctr">
            <a:spAutoFit/>
          </a:bodyPr>
          <a:lstStyle/>
          <a:p>
            <a:pPr algn="ctr"/>
            <a:r>
              <a:rPr sz="1100" b="0">
                <a:solidFill>
                  <a:srgbClr val="14213D"/>
                </a:solidFill>
                <a:latin typeface="Calibri"/>
              </a:rPr>
              <a:t> </a:t>
            </a:r>
          </a:p>
        </p:txBody>
      </p:sp>
      <p:sp>
        <p:nvSpPr>
          <p:cNvPr id="79" name="Rectangle 78"/>
          <p:cNvSpPr/>
          <p:nvPr/>
        </p:nvSpPr>
        <p:spPr>
          <a:xfrm>
            <a:off x="10296525" y="20383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10315575" y="2038350"/>
            <a:ext cx="790575" cy="228600"/>
          </a:xfrm>
          <a:prstGeom prst="rect">
            <a:avLst/>
          </a:prstGeom>
          <a:noFill/>
        </p:spPr>
        <p:txBody>
          <a:bodyPr wrap="square" lIns="28575" rIns="28575" tIns="9525" bIns="9525" anchor="ctr">
            <a:spAutoFit/>
          </a:bodyPr>
          <a:lstStyle/>
          <a:p>
            <a:pPr algn="ctr"/>
            <a:r>
              <a:rPr sz="1100" b="0">
                <a:solidFill>
                  <a:srgbClr val="14213D"/>
                </a:solidFill>
                <a:latin typeface="Calibri"/>
              </a:rPr>
              <a:t> </a:t>
            </a:r>
          </a:p>
        </p:txBody>
      </p:sp>
      <p:sp>
        <p:nvSpPr>
          <p:cNvPr id="81" name="Rectangle 80"/>
          <p:cNvSpPr/>
          <p:nvPr/>
        </p:nvSpPr>
        <p:spPr>
          <a:xfrm>
            <a:off x="11125200" y="20383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11144250" y="2038350"/>
            <a:ext cx="790575" cy="228600"/>
          </a:xfrm>
          <a:prstGeom prst="rect">
            <a:avLst/>
          </a:prstGeom>
          <a:noFill/>
        </p:spPr>
        <p:txBody>
          <a:bodyPr wrap="square" lIns="28575" rIns="28575" tIns="9525" bIns="9525" anchor="ctr">
            <a:spAutoFit/>
          </a:bodyPr>
          <a:lstStyle/>
          <a:p>
            <a:pPr algn="ctr"/>
            <a:r>
              <a:rPr sz="1100" b="1">
                <a:solidFill>
                  <a:srgbClr val="14213D"/>
                </a:solidFill>
                <a:latin typeface="Calibri"/>
              </a:rPr>
              <a:t> </a:t>
            </a:r>
          </a:p>
        </p:txBody>
      </p:sp>
      <p:sp>
        <p:nvSpPr>
          <p:cNvPr id="83" name="Rectangle 82"/>
          <p:cNvSpPr/>
          <p:nvPr/>
        </p:nvSpPr>
        <p:spPr>
          <a:xfrm>
            <a:off x="6191250" y="2266950"/>
            <a:ext cx="1619250" cy="228600"/>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6248400" y="2266950"/>
            <a:ext cx="1543050" cy="228600"/>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Share of value 2026</a:t>
            </a:r>
          </a:p>
        </p:txBody>
      </p:sp>
      <p:sp>
        <p:nvSpPr>
          <p:cNvPr id="85" name="Rectangle 84"/>
          <p:cNvSpPr/>
          <p:nvPr/>
        </p:nvSpPr>
        <p:spPr>
          <a:xfrm>
            <a:off x="7810500" y="22669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8076248" y="2266950"/>
            <a:ext cx="29718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87" name="TextBox 86"/>
          <p:cNvSpPr txBox="1"/>
          <p:nvPr/>
        </p:nvSpPr>
        <p:spPr>
          <a:xfrm>
            <a:off x="8363902" y="2266950"/>
            <a:ext cx="133350" cy="22860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88" name="Rectangle 87"/>
          <p:cNvSpPr/>
          <p:nvPr/>
        </p:nvSpPr>
        <p:spPr>
          <a:xfrm>
            <a:off x="8639175" y="22669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8904922" y="2266950"/>
            <a:ext cx="29718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90" name="TextBox 89"/>
          <p:cNvSpPr txBox="1"/>
          <p:nvPr/>
        </p:nvSpPr>
        <p:spPr>
          <a:xfrm>
            <a:off x="9192578" y="2266950"/>
            <a:ext cx="133350" cy="22860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91" name="Rectangle 90"/>
          <p:cNvSpPr/>
          <p:nvPr/>
        </p:nvSpPr>
        <p:spPr>
          <a:xfrm>
            <a:off x="9467850" y="22669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9733598" y="2266950"/>
            <a:ext cx="29718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93" name="TextBox 92"/>
          <p:cNvSpPr txBox="1"/>
          <p:nvPr/>
        </p:nvSpPr>
        <p:spPr>
          <a:xfrm>
            <a:off x="10021252" y="2266950"/>
            <a:ext cx="133350" cy="22860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94" name="Rectangle 93"/>
          <p:cNvSpPr/>
          <p:nvPr/>
        </p:nvSpPr>
        <p:spPr>
          <a:xfrm>
            <a:off x="10296525" y="22669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10562272" y="2266950"/>
            <a:ext cx="29718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96" name="TextBox 95"/>
          <p:cNvSpPr txBox="1"/>
          <p:nvPr/>
        </p:nvSpPr>
        <p:spPr>
          <a:xfrm>
            <a:off x="10849928" y="2266950"/>
            <a:ext cx="133350" cy="22860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97" name="Rectangle 96"/>
          <p:cNvSpPr/>
          <p:nvPr/>
        </p:nvSpPr>
        <p:spPr>
          <a:xfrm>
            <a:off x="11125200" y="22669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11144250" y="2266950"/>
            <a:ext cx="790575" cy="228600"/>
          </a:xfrm>
          <a:prstGeom prst="rect">
            <a:avLst/>
          </a:prstGeom>
          <a:noFill/>
        </p:spPr>
        <p:txBody>
          <a:bodyPr wrap="square" lIns="28575" rIns="28575" tIns="9525" bIns="9525" anchor="ctr">
            <a:spAutoFit/>
          </a:bodyPr>
          <a:lstStyle/>
          <a:p>
            <a:pPr algn="ctr"/>
            <a:r>
              <a:rPr sz="1100" b="1">
                <a:solidFill>
                  <a:srgbClr val="14213D"/>
                </a:solidFill>
                <a:latin typeface="Calibri"/>
              </a:rPr>
              <a:t>100%</a:t>
            </a:r>
          </a:p>
        </p:txBody>
      </p:sp>
      <p:sp>
        <p:nvSpPr>
          <p:cNvPr id="99" name="Rectangle 98"/>
          <p:cNvSpPr/>
          <p:nvPr/>
        </p:nvSpPr>
        <p:spPr>
          <a:xfrm>
            <a:off x="6191250" y="2495550"/>
            <a:ext cx="1619250" cy="228600"/>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99"/>
          <p:cNvSpPr txBox="1"/>
          <p:nvPr/>
        </p:nvSpPr>
        <p:spPr>
          <a:xfrm>
            <a:off x="6248400" y="2495550"/>
            <a:ext cx="1543050" cy="228600"/>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Share of value 2036</a:t>
            </a:r>
          </a:p>
        </p:txBody>
      </p:sp>
      <p:sp>
        <p:nvSpPr>
          <p:cNvPr id="101" name="Rectangle 100"/>
          <p:cNvSpPr/>
          <p:nvPr/>
        </p:nvSpPr>
        <p:spPr>
          <a:xfrm>
            <a:off x="7810500" y="24955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8076248" y="2495550"/>
            <a:ext cx="29718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03" name="TextBox 102"/>
          <p:cNvSpPr txBox="1"/>
          <p:nvPr/>
        </p:nvSpPr>
        <p:spPr>
          <a:xfrm>
            <a:off x="8363902" y="2495550"/>
            <a:ext cx="133350" cy="22860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104" name="Rectangle 103"/>
          <p:cNvSpPr/>
          <p:nvPr/>
        </p:nvSpPr>
        <p:spPr>
          <a:xfrm>
            <a:off x="8639175" y="24955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8904922" y="2495550"/>
            <a:ext cx="29718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06" name="TextBox 105"/>
          <p:cNvSpPr txBox="1"/>
          <p:nvPr/>
        </p:nvSpPr>
        <p:spPr>
          <a:xfrm>
            <a:off x="9192578" y="2495550"/>
            <a:ext cx="133350" cy="22860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107" name="Rectangle 106"/>
          <p:cNvSpPr/>
          <p:nvPr/>
        </p:nvSpPr>
        <p:spPr>
          <a:xfrm>
            <a:off x="9467850" y="24955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9733598" y="2495550"/>
            <a:ext cx="29718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09" name="TextBox 108"/>
          <p:cNvSpPr txBox="1"/>
          <p:nvPr/>
        </p:nvSpPr>
        <p:spPr>
          <a:xfrm>
            <a:off x="10021252" y="2495550"/>
            <a:ext cx="133350" cy="22860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110" name="Rectangle 109"/>
          <p:cNvSpPr/>
          <p:nvPr/>
        </p:nvSpPr>
        <p:spPr>
          <a:xfrm>
            <a:off x="10296525" y="24955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10562272" y="2495550"/>
            <a:ext cx="29718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12" name="TextBox 111"/>
          <p:cNvSpPr txBox="1"/>
          <p:nvPr/>
        </p:nvSpPr>
        <p:spPr>
          <a:xfrm>
            <a:off x="10849928" y="2495550"/>
            <a:ext cx="133350" cy="22860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113" name="Rectangle 112"/>
          <p:cNvSpPr/>
          <p:nvPr/>
        </p:nvSpPr>
        <p:spPr>
          <a:xfrm>
            <a:off x="11125200" y="24955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TextBox 113"/>
          <p:cNvSpPr txBox="1"/>
          <p:nvPr/>
        </p:nvSpPr>
        <p:spPr>
          <a:xfrm>
            <a:off x="11144250" y="2495550"/>
            <a:ext cx="790575" cy="228600"/>
          </a:xfrm>
          <a:prstGeom prst="rect">
            <a:avLst/>
          </a:prstGeom>
          <a:noFill/>
        </p:spPr>
        <p:txBody>
          <a:bodyPr wrap="square" lIns="28575" rIns="28575" tIns="9525" bIns="9525" anchor="ctr">
            <a:spAutoFit/>
          </a:bodyPr>
          <a:lstStyle/>
          <a:p>
            <a:pPr algn="ctr"/>
            <a:r>
              <a:rPr sz="1100" b="1">
                <a:solidFill>
                  <a:srgbClr val="14213D"/>
                </a:solidFill>
                <a:latin typeface="Calibri"/>
              </a:rPr>
              <a:t>100%</a:t>
            </a:r>
          </a:p>
        </p:txBody>
      </p:sp>
      <p:sp>
        <p:nvSpPr>
          <p:cNvPr id="115" name="Rectangle 114"/>
          <p:cNvSpPr/>
          <p:nvPr/>
        </p:nvSpPr>
        <p:spPr>
          <a:xfrm>
            <a:off x="6191250" y="2724150"/>
            <a:ext cx="1619250" cy="228600"/>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TextBox 115"/>
          <p:cNvSpPr txBox="1"/>
          <p:nvPr/>
        </p:nvSpPr>
        <p:spPr>
          <a:xfrm>
            <a:off x="6248400" y="2724150"/>
            <a:ext cx="1543050" cy="228600"/>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Share change (pp)</a:t>
            </a:r>
          </a:p>
        </p:txBody>
      </p:sp>
      <p:sp>
        <p:nvSpPr>
          <p:cNvPr id="117" name="Rectangle 116"/>
          <p:cNvSpPr/>
          <p:nvPr/>
        </p:nvSpPr>
        <p:spPr>
          <a:xfrm>
            <a:off x="7810500" y="27241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TextBox 117"/>
          <p:cNvSpPr txBox="1"/>
          <p:nvPr/>
        </p:nvSpPr>
        <p:spPr>
          <a:xfrm>
            <a:off x="7975282" y="2724150"/>
            <a:ext cx="133350" cy="228600"/>
          </a:xfrm>
          <a:prstGeom prst="rect">
            <a:avLst/>
          </a:prstGeom>
          <a:noFill/>
        </p:spPr>
        <p:txBody>
          <a:bodyPr wrap="none" lIns="0" rIns="0" tIns="0" bIns="0" anchor="ctr">
            <a:spAutoFit/>
          </a:bodyPr>
          <a:lstStyle/>
          <a:p>
            <a:pPr algn="r"/>
            <a:r>
              <a:rPr sz="1100" b="0">
                <a:solidFill>
                  <a:srgbClr val="14213D"/>
                </a:solidFill>
                <a:latin typeface="Calibri"/>
              </a:rPr>
              <a:t>+</a:t>
            </a:r>
          </a:p>
        </p:txBody>
      </p:sp>
      <p:sp>
        <p:nvSpPr>
          <p:cNvPr id="119" name="TextBox 118"/>
          <p:cNvSpPr txBox="1"/>
          <p:nvPr/>
        </p:nvSpPr>
        <p:spPr>
          <a:xfrm>
            <a:off x="8108632" y="2724150"/>
            <a:ext cx="23241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20" name="Rectangle 119"/>
          <p:cNvSpPr/>
          <p:nvPr/>
        </p:nvSpPr>
        <p:spPr>
          <a:xfrm>
            <a:off x="8639175" y="27241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8803958" y="2724150"/>
            <a:ext cx="133350" cy="228600"/>
          </a:xfrm>
          <a:prstGeom prst="rect">
            <a:avLst/>
          </a:prstGeom>
          <a:noFill/>
        </p:spPr>
        <p:txBody>
          <a:bodyPr wrap="none" lIns="0" rIns="0" tIns="0" bIns="0" anchor="ctr">
            <a:spAutoFit/>
          </a:bodyPr>
          <a:lstStyle/>
          <a:p>
            <a:pPr algn="r"/>
            <a:r>
              <a:rPr sz="1100" b="0">
                <a:solidFill>
                  <a:srgbClr val="14213D"/>
                </a:solidFill>
                <a:latin typeface="Calibri"/>
              </a:rPr>
              <a:t>+</a:t>
            </a:r>
          </a:p>
        </p:txBody>
      </p:sp>
      <p:sp>
        <p:nvSpPr>
          <p:cNvPr id="122" name="TextBox 121"/>
          <p:cNvSpPr txBox="1"/>
          <p:nvPr/>
        </p:nvSpPr>
        <p:spPr>
          <a:xfrm>
            <a:off x="8937308" y="2724150"/>
            <a:ext cx="23241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23" name="Rectangle 122"/>
          <p:cNvSpPr/>
          <p:nvPr/>
        </p:nvSpPr>
        <p:spPr>
          <a:xfrm>
            <a:off x="9467850" y="27241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9632632" y="2724150"/>
            <a:ext cx="133350" cy="228600"/>
          </a:xfrm>
          <a:prstGeom prst="rect">
            <a:avLst/>
          </a:prstGeom>
          <a:noFill/>
        </p:spPr>
        <p:txBody>
          <a:bodyPr wrap="none" lIns="0" rIns="0" tIns="0" bIns="0" anchor="ctr">
            <a:spAutoFit/>
          </a:bodyPr>
          <a:lstStyle/>
          <a:p>
            <a:pPr algn="r"/>
            <a:r>
              <a:rPr sz="1100" b="0">
                <a:solidFill>
                  <a:srgbClr val="14213D"/>
                </a:solidFill>
                <a:latin typeface="Calibri"/>
              </a:rPr>
              <a:t>+</a:t>
            </a:r>
          </a:p>
        </p:txBody>
      </p:sp>
      <p:sp>
        <p:nvSpPr>
          <p:cNvPr id="125" name="TextBox 124"/>
          <p:cNvSpPr txBox="1"/>
          <p:nvPr/>
        </p:nvSpPr>
        <p:spPr>
          <a:xfrm>
            <a:off x="9765982" y="2724150"/>
            <a:ext cx="23241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26" name="Rectangle 125"/>
          <p:cNvSpPr/>
          <p:nvPr/>
        </p:nvSpPr>
        <p:spPr>
          <a:xfrm>
            <a:off x="10296525" y="27241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extBox 126"/>
          <p:cNvSpPr txBox="1"/>
          <p:nvPr/>
        </p:nvSpPr>
        <p:spPr>
          <a:xfrm>
            <a:off x="10461308" y="2724150"/>
            <a:ext cx="133350" cy="228600"/>
          </a:xfrm>
          <a:prstGeom prst="rect">
            <a:avLst/>
          </a:prstGeom>
          <a:noFill/>
        </p:spPr>
        <p:txBody>
          <a:bodyPr wrap="none" lIns="0" rIns="0" tIns="0" bIns="0" anchor="ctr">
            <a:spAutoFit/>
          </a:bodyPr>
          <a:lstStyle/>
          <a:p>
            <a:pPr algn="r"/>
            <a:r>
              <a:rPr sz="1100" b="0">
                <a:solidFill>
                  <a:srgbClr val="14213D"/>
                </a:solidFill>
                <a:latin typeface="Calibri"/>
              </a:rPr>
              <a:t>−</a:t>
            </a:r>
          </a:p>
        </p:txBody>
      </p:sp>
      <p:sp>
        <p:nvSpPr>
          <p:cNvPr id="128" name="TextBox 127"/>
          <p:cNvSpPr txBox="1"/>
          <p:nvPr/>
        </p:nvSpPr>
        <p:spPr>
          <a:xfrm>
            <a:off x="10594658" y="2724150"/>
            <a:ext cx="23241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29" name="Rectangle 128"/>
          <p:cNvSpPr/>
          <p:nvPr/>
        </p:nvSpPr>
        <p:spPr>
          <a:xfrm>
            <a:off x="11125200" y="27241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TextBox 129"/>
          <p:cNvSpPr txBox="1"/>
          <p:nvPr/>
        </p:nvSpPr>
        <p:spPr>
          <a:xfrm>
            <a:off x="11144250" y="2724150"/>
            <a:ext cx="790575" cy="228600"/>
          </a:xfrm>
          <a:prstGeom prst="rect">
            <a:avLst/>
          </a:prstGeom>
          <a:noFill/>
        </p:spPr>
        <p:txBody>
          <a:bodyPr wrap="square" lIns="28575" rIns="28575" tIns="9525" bIns="9525" anchor="ctr">
            <a:spAutoFit/>
          </a:bodyPr>
          <a:lstStyle/>
          <a:p>
            <a:pPr algn="ctr"/>
            <a:r>
              <a:rPr sz="1100" b="1">
                <a:solidFill>
                  <a:srgbClr val="14213D"/>
                </a:solidFill>
                <a:latin typeface="Calibri"/>
              </a:rPr>
              <a:t>–</a:t>
            </a:r>
          </a:p>
        </p:txBody>
      </p:sp>
      <p:sp>
        <p:nvSpPr>
          <p:cNvPr id="131" name="Rectangle 130"/>
          <p:cNvSpPr/>
          <p:nvPr/>
        </p:nvSpPr>
        <p:spPr>
          <a:xfrm>
            <a:off x="6191250" y="2952750"/>
            <a:ext cx="1619250" cy="228600"/>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TextBox 131"/>
          <p:cNvSpPr txBox="1"/>
          <p:nvPr/>
        </p:nvSpPr>
        <p:spPr>
          <a:xfrm>
            <a:off x="6248400" y="2952750"/>
            <a:ext cx="1543050" cy="228600"/>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CAGR 2026–2036</a:t>
            </a:r>
          </a:p>
        </p:txBody>
      </p:sp>
      <p:sp>
        <p:nvSpPr>
          <p:cNvPr id="133" name="Rectangle 132"/>
          <p:cNvSpPr/>
          <p:nvPr/>
        </p:nvSpPr>
        <p:spPr>
          <a:xfrm>
            <a:off x="7810500" y="29527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TextBox 133"/>
          <p:cNvSpPr txBox="1"/>
          <p:nvPr/>
        </p:nvSpPr>
        <p:spPr>
          <a:xfrm>
            <a:off x="8108632" y="2952750"/>
            <a:ext cx="23241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35" name="TextBox 134"/>
          <p:cNvSpPr txBox="1"/>
          <p:nvPr/>
        </p:nvSpPr>
        <p:spPr>
          <a:xfrm>
            <a:off x="8331518" y="2952750"/>
            <a:ext cx="133350" cy="22860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136" name="Rectangle 135"/>
          <p:cNvSpPr/>
          <p:nvPr/>
        </p:nvSpPr>
        <p:spPr>
          <a:xfrm>
            <a:off x="8639175" y="29527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TextBox 136"/>
          <p:cNvSpPr txBox="1"/>
          <p:nvPr/>
        </p:nvSpPr>
        <p:spPr>
          <a:xfrm>
            <a:off x="8937308" y="2952750"/>
            <a:ext cx="23241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38" name="TextBox 137"/>
          <p:cNvSpPr txBox="1"/>
          <p:nvPr/>
        </p:nvSpPr>
        <p:spPr>
          <a:xfrm>
            <a:off x="9160192" y="2952750"/>
            <a:ext cx="133350" cy="22860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139" name="Rectangle 138"/>
          <p:cNvSpPr/>
          <p:nvPr/>
        </p:nvSpPr>
        <p:spPr>
          <a:xfrm>
            <a:off x="9467850" y="29527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TextBox 139"/>
          <p:cNvSpPr txBox="1"/>
          <p:nvPr/>
        </p:nvSpPr>
        <p:spPr>
          <a:xfrm>
            <a:off x="9765982" y="2952750"/>
            <a:ext cx="23241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41" name="TextBox 140"/>
          <p:cNvSpPr txBox="1"/>
          <p:nvPr/>
        </p:nvSpPr>
        <p:spPr>
          <a:xfrm>
            <a:off x="9988868" y="2952750"/>
            <a:ext cx="133350" cy="22860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142" name="Rectangle 141"/>
          <p:cNvSpPr/>
          <p:nvPr/>
        </p:nvSpPr>
        <p:spPr>
          <a:xfrm>
            <a:off x="10296525" y="29527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TextBox 142"/>
          <p:cNvSpPr txBox="1"/>
          <p:nvPr/>
        </p:nvSpPr>
        <p:spPr>
          <a:xfrm>
            <a:off x="10594658" y="2952750"/>
            <a:ext cx="23241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44" name="TextBox 143"/>
          <p:cNvSpPr txBox="1"/>
          <p:nvPr/>
        </p:nvSpPr>
        <p:spPr>
          <a:xfrm>
            <a:off x="10817542" y="2952750"/>
            <a:ext cx="133350" cy="22860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145" name="Rectangle 144"/>
          <p:cNvSpPr/>
          <p:nvPr/>
        </p:nvSpPr>
        <p:spPr>
          <a:xfrm>
            <a:off x="11125200" y="29527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TextBox 145"/>
          <p:cNvSpPr txBox="1"/>
          <p:nvPr/>
        </p:nvSpPr>
        <p:spPr>
          <a:xfrm>
            <a:off x="11423332" y="2952750"/>
            <a:ext cx="232410" cy="228600"/>
          </a:xfrm>
          <a:prstGeom prst="rect">
            <a:avLst/>
          </a:prstGeom>
          <a:noFill/>
        </p:spPr>
        <p:txBody>
          <a:bodyPr wrap="none" lIns="0" rIns="0" tIns="0" bIns="0" anchor="ctr">
            <a:spAutoFit/>
          </a:bodyPr>
          <a:lstStyle/>
          <a:p>
            <a:pPr algn="ctr"/>
            <a:r>
              <a:rPr sz="1100" b="1">
                <a:solidFill>
                  <a:srgbClr val="14213D"/>
                </a:solidFill>
                <a:latin typeface="Calibri"/>
              </a:rPr>
              <a:t> </a:t>
            </a:r>
          </a:p>
        </p:txBody>
      </p:sp>
      <p:sp>
        <p:nvSpPr>
          <p:cNvPr id="147" name="TextBox 146"/>
          <p:cNvSpPr txBox="1"/>
          <p:nvPr/>
        </p:nvSpPr>
        <p:spPr>
          <a:xfrm>
            <a:off x="11646218" y="2952750"/>
            <a:ext cx="133350" cy="228600"/>
          </a:xfrm>
          <a:prstGeom prst="rect">
            <a:avLst/>
          </a:prstGeom>
          <a:noFill/>
        </p:spPr>
        <p:txBody>
          <a:bodyPr wrap="none" lIns="0" rIns="0" tIns="0" bIns="0" anchor="ctr">
            <a:spAutoFit/>
          </a:bodyPr>
          <a:lstStyle/>
          <a:p>
            <a:pPr algn="l"/>
            <a:r>
              <a:rPr sz="1100" b="1">
                <a:solidFill>
                  <a:srgbClr val="14213D"/>
                </a:solidFill>
                <a:latin typeface="Calibri"/>
              </a:rPr>
              <a:t>%</a:t>
            </a:r>
          </a:p>
        </p:txBody>
      </p:sp>
      <p:sp>
        <p:nvSpPr>
          <p:cNvPr id="148" name="Rectangle 147"/>
          <p:cNvSpPr/>
          <p:nvPr/>
        </p:nvSpPr>
        <p:spPr>
          <a:xfrm>
            <a:off x="6191250" y="3181350"/>
            <a:ext cx="1619250" cy="228600"/>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TextBox 148"/>
          <p:cNvSpPr txBox="1"/>
          <p:nvPr/>
        </p:nvSpPr>
        <p:spPr>
          <a:xfrm>
            <a:off x="6248400" y="3181350"/>
            <a:ext cx="1543050" cy="228600"/>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Avg / player (US$ Mn)</a:t>
            </a:r>
          </a:p>
        </p:txBody>
      </p:sp>
      <p:sp>
        <p:nvSpPr>
          <p:cNvPr id="150" name="Rectangle 149"/>
          <p:cNvSpPr/>
          <p:nvPr/>
        </p:nvSpPr>
        <p:spPr>
          <a:xfrm>
            <a:off x="7810500" y="31813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TextBox 150"/>
          <p:cNvSpPr txBox="1"/>
          <p:nvPr/>
        </p:nvSpPr>
        <p:spPr>
          <a:xfrm>
            <a:off x="7829550" y="3181350"/>
            <a:ext cx="790575" cy="228600"/>
          </a:xfrm>
          <a:prstGeom prst="rect">
            <a:avLst/>
          </a:prstGeom>
          <a:noFill/>
        </p:spPr>
        <p:txBody>
          <a:bodyPr wrap="square" lIns="28575" rIns="28575" tIns="9525" bIns="9525" anchor="ctr">
            <a:spAutoFit/>
          </a:bodyPr>
          <a:lstStyle/>
          <a:p>
            <a:pPr algn="ctr"/>
            <a:r>
              <a:rPr sz="1100" b="0">
                <a:solidFill>
                  <a:srgbClr val="14213D"/>
                </a:solidFill>
                <a:latin typeface="Calibri"/>
              </a:rPr>
              <a:t> </a:t>
            </a:r>
          </a:p>
        </p:txBody>
      </p:sp>
      <p:sp>
        <p:nvSpPr>
          <p:cNvPr id="152" name="Rectangle 151"/>
          <p:cNvSpPr/>
          <p:nvPr/>
        </p:nvSpPr>
        <p:spPr>
          <a:xfrm>
            <a:off x="8639175" y="31813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TextBox 152"/>
          <p:cNvSpPr txBox="1"/>
          <p:nvPr/>
        </p:nvSpPr>
        <p:spPr>
          <a:xfrm>
            <a:off x="8658225" y="3181350"/>
            <a:ext cx="790575" cy="228600"/>
          </a:xfrm>
          <a:prstGeom prst="rect">
            <a:avLst/>
          </a:prstGeom>
          <a:noFill/>
        </p:spPr>
        <p:txBody>
          <a:bodyPr wrap="square" lIns="28575" rIns="28575" tIns="9525" bIns="9525" anchor="ctr">
            <a:spAutoFit/>
          </a:bodyPr>
          <a:lstStyle/>
          <a:p>
            <a:pPr algn="ctr"/>
            <a:r>
              <a:rPr sz="1100" b="0">
                <a:solidFill>
                  <a:srgbClr val="14213D"/>
                </a:solidFill>
                <a:latin typeface="Calibri"/>
              </a:rPr>
              <a:t> </a:t>
            </a:r>
          </a:p>
        </p:txBody>
      </p:sp>
      <p:sp>
        <p:nvSpPr>
          <p:cNvPr id="154" name="Rectangle 153"/>
          <p:cNvSpPr/>
          <p:nvPr/>
        </p:nvSpPr>
        <p:spPr>
          <a:xfrm>
            <a:off x="9467850" y="31813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TextBox 154"/>
          <p:cNvSpPr txBox="1"/>
          <p:nvPr/>
        </p:nvSpPr>
        <p:spPr>
          <a:xfrm>
            <a:off x="9486900" y="3181350"/>
            <a:ext cx="790575" cy="228600"/>
          </a:xfrm>
          <a:prstGeom prst="rect">
            <a:avLst/>
          </a:prstGeom>
          <a:noFill/>
        </p:spPr>
        <p:txBody>
          <a:bodyPr wrap="square" lIns="28575" rIns="28575" tIns="9525" bIns="9525" anchor="ctr">
            <a:spAutoFit/>
          </a:bodyPr>
          <a:lstStyle/>
          <a:p>
            <a:pPr algn="ctr"/>
            <a:r>
              <a:rPr sz="1100" b="0">
                <a:solidFill>
                  <a:srgbClr val="14213D"/>
                </a:solidFill>
                <a:latin typeface="Calibri"/>
              </a:rPr>
              <a:t> </a:t>
            </a:r>
          </a:p>
        </p:txBody>
      </p:sp>
      <p:sp>
        <p:nvSpPr>
          <p:cNvPr id="156" name="Rectangle 155"/>
          <p:cNvSpPr/>
          <p:nvPr/>
        </p:nvSpPr>
        <p:spPr>
          <a:xfrm>
            <a:off x="10296525" y="31813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TextBox 156"/>
          <p:cNvSpPr txBox="1"/>
          <p:nvPr/>
        </p:nvSpPr>
        <p:spPr>
          <a:xfrm>
            <a:off x="10315575" y="3181350"/>
            <a:ext cx="790575" cy="228600"/>
          </a:xfrm>
          <a:prstGeom prst="rect">
            <a:avLst/>
          </a:prstGeom>
          <a:noFill/>
        </p:spPr>
        <p:txBody>
          <a:bodyPr wrap="square" lIns="28575" rIns="28575" tIns="9525" bIns="9525" anchor="ctr">
            <a:spAutoFit/>
          </a:bodyPr>
          <a:lstStyle/>
          <a:p>
            <a:pPr algn="ctr"/>
            <a:r>
              <a:rPr sz="1100" b="0">
                <a:solidFill>
                  <a:srgbClr val="14213D"/>
                </a:solidFill>
                <a:latin typeface="Calibri"/>
              </a:rPr>
              <a:t>–</a:t>
            </a:r>
          </a:p>
        </p:txBody>
      </p:sp>
      <p:sp>
        <p:nvSpPr>
          <p:cNvPr id="158" name="Rectangle 157"/>
          <p:cNvSpPr/>
          <p:nvPr/>
        </p:nvSpPr>
        <p:spPr>
          <a:xfrm>
            <a:off x="11125200" y="31813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TextBox 158"/>
          <p:cNvSpPr txBox="1"/>
          <p:nvPr/>
        </p:nvSpPr>
        <p:spPr>
          <a:xfrm>
            <a:off x="11144250" y="3181350"/>
            <a:ext cx="790575" cy="228600"/>
          </a:xfrm>
          <a:prstGeom prst="rect">
            <a:avLst/>
          </a:prstGeom>
          <a:noFill/>
        </p:spPr>
        <p:txBody>
          <a:bodyPr wrap="square" lIns="28575" rIns="28575" tIns="9525" bIns="9525" anchor="ctr">
            <a:spAutoFit/>
          </a:bodyPr>
          <a:lstStyle/>
          <a:p>
            <a:pPr algn="ctr"/>
            <a:r>
              <a:rPr sz="1100" b="1">
                <a:solidFill>
                  <a:srgbClr val="14213D"/>
                </a:solidFill>
                <a:latin typeface="Calibri"/>
              </a:rPr>
              <a:t>–</a:t>
            </a:r>
          </a:p>
        </p:txBody>
      </p:sp>
      <p:sp>
        <p:nvSpPr>
          <p:cNvPr id="160" name="Rectangle 159"/>
          <p:cNvSpPr/>
          <p:nvPr/>
        </p:nvSpPr>
        <p:spPr>
          <a:xfrm>
            <a:off x="6191250" y="3409950"/>
            <a:ext cx="1619250" cy="323850"/>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TextBox 160"/>
          <p:cNvSpPr txBox="1"/>
          <p:nvPr/>
        </p:nvSpPr>
        <p:spPr>
          <a:xfrm>
            <a:off x="6248400" y="3409950"/>
            <a:ext cx="1543050" cy="323850"/>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Installed base share (units)</a:t>
            </a:r>
          </a:p>
        </p:txBody>
      </p:sp>
      <p:sp>
        <p:nvSpPr>
          <p:cNvPr id="162" name="Rectangle 161"/>
          <p:cNvSpPr/>
          <p:nvPr/>
        </p:nvSpPr>
        <p:spPr>
          <a:xfrm>
            <a:off x="7810500" y="340995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TextBox 162"/>
          <p:cNvSpPr txBox="1"/>
          <p:nvPr/>
        </p:nvSpPr>
        <p:spPr>
          <a:xfrm>
            <a:off x="8076248" y="3409950"/>
            <a:ext cx="297180" cy="32385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64" name="TextBox 163"/>
          <p:cNvSpPr txBox="1"/>
          <p:nvPr/>
        </p:nvSpPr>
        <p:spPr>
          <a:xfrm>
            <a:off x="8363902" y="3409950"/>
            <a:ext cx="133350" cy="32385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165" name="Rectangle 164"/>
          <p:cNvSpPr/>
          <p:nvPr/>
        </p:nvSpPr>
        <p:spPr>
          <a:xfrm>
            <a:off x="8639175" y="340995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TextBox 165"/>
          <p:cNvSpPr txBox="1"/>
          <p:nvPr/>
        </p:nvSpPr>
        <p:spPr>
          <a:xfrm>
            <a:off x="8904922" y="3409950"/>
            <a:ext cx="297180" cy="32385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67" name="TextBox 166"/>
          <p:cNvSpPr txBox="1"/>
          <p:nvPr/>
        </p:nvSpPr>
        <p:spPr>
          <a:xfrm>
            <a:off x="9192578" y="3409950"/>
            <a:ext cx="133350" cy="32385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168" name="Rectangle 167"/>
          <p:cNvSpPr/>
          <p:nvPr/>
        </p:nvSpPr>
        <p:spPr>
          <a:xfrm>
            <a:off x="9467850" y="340995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TextBox 168"/>
          <p:cNvSpPr txBox="1"/>
          <p:nvPr/>
        </p:nvSpPr>
        <p:spPr>
          <a:xfrm>
            <a:off x="9733598" y="3409950"/>
            <a:ext cx="297180" cy="32385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70" name="TextBox 169"/>
          <p:cNvSpPr txBox="1"/>
          <p:nvPr/>
        </p:nvSpPr>
        <p:spPr>
          <a:xfrm>
            <a:off x="10021252" y="3409950"/>
            <a:ext cx="133350" cy="32385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171" name="Rectangle 170"/>
          <p:cNvSpPr/>
          <p:nvPr/>
        </p:nvSpPr>
        <p:spPr>
          <a:xfrm>
            <a:off x="10296525" y="340995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 name="TextBox 171"/>
          <p:cNvSpPr txBox="1"/>
          <p:nvPr/>
        </p:nvSpPr>
        <p:spPr>
          <a:xfrm>
            <a:off x="10562272" y="3409950"/>
            <a:ext cx="297180" cy="32385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73" name="TextBox 172"/>
          <p:cNvSpPr txBox="1"/>
          <p:nvPr/>
        </p:nvSpPr>
        <p:spPr>
          <a:xfrm>
            <a:off x="10849928" y="3409950"/>
            <a:ext cx="133350" cy="32385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174" name="Rectangle 173"/>
          <p:cNvSpPr/>
          <p:nvPr/>
        </p:nvSpPr>
        <p:spPr>
          <a:xfrm>
            <a:off x="11125200" y="340995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 name="TextBox 174"/>
          <p:cNvSpPr txBox="1"/>
          <p:nvPr/>
        </p:nvSpPr>
        <p:spPr>
          <a:xfrm>
            <a:off x="11144250" y="3409950"/>
            <a:ext cx="790575" cy="323850"/>
          </a:xfrm>
          <a:prstGeom prst="rect">
            <a:avLst/>
          </a:prstGeom>
          <a:noFill/>
        </p:spPr>
        <p:txBody>
          <a:bodyPr wrap="square" lIns="28575" rIns="28575" tIns="9525" bIns="9525" anchor="ctr">
            <a:spAutoFit/>
          </a:bodyPr>
          <a:lstStyle/>
          <a:p>
            <a:pPr algn="ctr"/>
            <a:r>
              <a:rPr sz="1100" b="1">
                <a:solidFill>
                  <a:srgbClr val="14213D"/>
                </a:solidFill>
                <a:latin typeface="Calibri"/>
              </a:rPr>
              <a:t>100%</a:t>
            </a:r>
          </a:p>
        </p:txBody>
      </p:sp>
      <p:sp>
        <p:nvSpPr>
          <p:cNvPr id="176" name="Rectangle 175"/>
          <p:cNvSpPr/>
          <p:nvPr/>
        </p:nvSpPr>
        <p:spPr>
          <a:xfrm>
            <a:off x="6191250" y="3733800"/>
            <a:ext cx="1619250" cy="323850"/>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 name="TextBox 176"/>
          <p:cNvSpPr txBox="1"/>
          <p:nvPr/>
        </p:nvSpPr>
        <p:spPr>
          <a:xfrm>
            <a:off x="6248400" y="3733800"/>
            <a:ext cx="1543050" cy="323850"/>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Price positioning</a:t>
            </a:r>
          </a:p>
        </p:txBody>
      </p:sp>
      <p:sp>
        <p:nvSpPr>
          <p:cNvPr id="178" name="Rectangle 177"/>
          <p:cNvSpPr/>
          <p:nvPr/>
        </p:nvSpPr>
        <p:spPr>
          <a:xfrm>
            <a:off x="7810500" y="373380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 name="TextBox 178"/>
          <p:cNvSpPr txBox="1"/>
          <p:nvPr/>
        </p:nvSpPr>
        <p:spPr>
          <a:xfrm>
            <a:off x="7829550" y="3733800"/>
            <a:ext cx="790575" cy="323850"/>
          </a:xfrm>
          <a:prstGeom prst="rect">
            <a:avLst/>
          </a:prstGeom>
          <a:noFill/>
        </p:spPr>
        <p:txBody>
          <a:bodyPr wrap="square" lIns="28575" rIns="28575" tIns="9525" bIns="9525" anchor="ctr">
            <a:spAutoFit/>
          </a:bodyPr>
          <a:lstStyle/>
          <a:p>
            <a:pPr algn="ctr">
              <a:lnSpc>
                <a:spcPct val="115000"/>
              </a:lnSpc>
            </a:pPr>
            <a:r>
              <a:rPr sz="1100" b="0">
                <a:solidFill>
                  <a:srgbClr val="14213D"/>
                </a:solidFill>
                <a:latin typeface="Calibri"/>
              </a:rPr>
              <a:t>Premium</a:t>
            </a:r>
          </a:p>
        </p:txBody>
      </p:sp>
      <p:sp>
        <p:nvSpPr>
          <p:cNvPr id="180" name="Rectangle 179"/>
          <p:cNvSpPr/>
          <p:nvPr/>
        </p:nvSpPr>
        <p:spPr>
          <a:xfrm>
            <a:off x="8639175" y="373380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 name="TextBox 180"/>
          <p:cNvSpPr txBox="1"/>
          <p:nvPr/>
        </p:nvSpPr>
        <p:spPr>
          <a:xfrm>
            <a:off x="8658225" y="3733800"/>
            <a:ext cx="790575" cy="323850"/>
          </a:xfrm>
          <a:prstGeom prst="rect">
            <a:avLst/>
          </a:prstGeom>
          <a:noFill/>
        </p:spPr>
        <p:txBody>
          <a:bodyPr wrap="square" lIns="28575" rIns="28575" tIns="9525" bIns="9525" anchor="ctr">
            <a:spAutoFit/>
          </a:bodyPr>
          <a:lstStyle/>
          <a:p>
            <a:pPr algn="ctr">
              <a:lnSpc>
                <a:spcPct val="115000"/>
              </a:lnSpc>
            </a:pPr>
            <a:r>
              <a:rPr sz="1100" b="0">
                <a:solidFill>
                  <a:srgbClr val="14213D"/>
                </a:solidFill>
                <a:latin typeface="Calibri"/>
              </a:rPr>
              <a:t>Mid / value</a:t>
            </a:r>
          </a:p>
        </p:txBody>
      </p:sp>
      <p:sp>
        <p:nvSpPr>
          <p:cNvPr id="182" name="Rectangle 181"/>
          <p:cNvSpPr/>
          <p:nvPr/>
        </p:nvSpPr>
        <p:spPr>
          <a:xfrm>
            <a:off x="9467850" y="373380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 name="TextBox 182"/>
          <p:cNvSpPr txBox="1"/>
          <p:nvPr/>
        </p:nvSpPr>
        <p:spPr>
          <a:xfrm>
            <a:off x="9486900" y="3733800"/>
            <a:ext cx="790575" cy="323850"/>
          </a:xfrm>
          <a:prstGeom prst="rect">
            <a:avLst/>
          </a:prstGeom>
          <a:noFill/>
        </p:spPr>
        <p:txBody>
          <a:bodyPr wrap="square" lIns="28575" rIns="28575" tIns="9525" bIns="9525" anchor="ctr">
            <a:spAutoFit/>
          </a:bodyPr>
          <a:lstStyle/>
          <a:p>
            <a:pPr algn="ctr">
              <a:lnSpc>
                <a:spcPct val="115000"/>
              </a:lnSpc>
            </a:pPr>
            <a:r>
              <a:rPr sz="1100" b="0">
                <a:solidFill>
                  <a:srgbClr val="14213D"/>
                </a:solidFill>
                <a:latin typeface="Calibri"/>
              </a:rPr>
              <a:t>Value / entry</a:t>
            </a:r>
          </a:p>
        </p:txBody>
      </p:sp>
      <p:sp>
        <p:nvSpPr>
          <p:cNvPr id="184" name="Rectangle 183"/>
          <p:cNvSpPr/>
          <p:nvPr/>
        </p:nvSpPr>
        <p:spPr>
          <a:xfrm>
            <a:off x="10296525" y="373380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 name="TextBox 184"/>
          <p:cNvSpPr txBox="1"/>
          <p:nvPr/>
        </p:nvSpPr>
        <p:spPr>
          <a:xfrm>
            <a:off x="10315575" y="3733800"/>
            <a:ext cx="790575" cy="323850"/>
          </a:xfrm>
          <a:prstGeom prst="rect">
            <a:avLst/>
          </a:prstGeom>
          <a:noFill/>
        </p:spPr>
        <p:txBody>
          <a:bodyPr wrap="square" lIns="28575" rIns="28575" tIns="9525" bIns="9525" anchor="ctr">
            <a:spAutoFit/>
          </a:bodyPr>
          <a:lstStyle/>
          <a:p>
            <a:pPr algn="ctr">
              <a:lnSpc>
                <a:spcPct val="115000"/>
              </a:lnSpc>
            </a:pPr>
            <a:r>
              <a:rPr sz="1100" b="0">
                <a:solidFill>
                  <a:srgbClr val="14213D"/>
                </a:solidFill>
                <a:latin typeface="Calibri"/>
              </a:rPr>
              <a:t>Mixed</a:t>
            </a:r>
          </a:p>
        </p:txBody>
      </p:sp>
      <p:sp>
        <p:nvSpPr>
          <p:cNvPr id="186" name="Rectangle 185"/>
          <p:cNvSpPr/>
          <p:nvPr/>
        </p:nvSpPr>
        <p:spPr>
          <a:xfrm>
            <a:off x="11125200" y="373380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 name="TextBox 186"/>
          <p:cNvSpPr txBox="1"/>
          <p:nvPr/>
        </p:nvSpPr>
        <p:spPr>
          <a:xfrm>
            <a:off x="11144250" y="3733800"/>
            <a:ext cx="790575" cy="323850"/>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a:t>
            </a:r>
          </a:p>
        </p:txBody>
      </p:sp>
      <p:sp>
        <p:nvSpPr>
          <p:cNvPr id="188" name="Rectangle 187"/>
          <p:cNvSpPr/>
          <p:nvPr/>
        </p:nvSpPr>
        <p:spPr>
          <a:xfrm>
            <a:off x="6191250" y="4057650"/>
            <a:ext cx="1619250" cy="323850"/>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 name="TextBox 188"/>
          <p:cNvSpPr txBox="1"/>
          <p:nvPr/>
        </p:nvSpPr>
        <p:spPr>
          <a:xfrm>
            <a:off x="6248400" y="4057650"/>
            <a:ext cx="1543050" cy="323850"/>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Route-to-market</a:t>
            </a:r>
          </a:p>
        </p:txBody>
      </p:sp>
      <p:sp>
        <p:nvSpPr>
          <p:cNvPr id="190" name="Rectangle 189"/>
          <p:cNvSpPr/>
          <p:nvPr/>
        </p:nvSpPr>
        <p:spPr>
          <a:xfrm>
            <a:off x="7810500" y="405765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 name="TextBox 190"/>
          <p:cNvSpPr txBox="1"/>
          <p:nvPr/>
        </p:nvSpPr>
        <p:spPr>
          <a:xfrm>
            <a:off x="7829550" y="4057650"/>
            <a:ext cx="790575" cy="323850"/>
          </a:xfrm>
          <a:prstGeom prst="rect">
            <a:avLst/>
          </a:prstGeom>
          <a:noFill/>
        </p:spPr>
        <p:txBody>
          <a:bodyPr wrap="square" lIns="28575" rIns="28575" tIns="9525" bIns="9525" anchor="ctr">
            <a:spAutoFit/>
          </a:bodyPr>
          <a:lstStyle/>
          <a:p>
            <a:pPr algn="ctr">
              <a:lnSpc>
                <a:spcPct val="115000"/>
              </a:lnSpc>
            </a:pPr>
            <a:r>
              <a:rPr sz="1100" b="0">
                <a:solidFill>
                  <a:srgbClr val="14213D"/>
                </a:solidFill>
                <a:latin typeface="Calibri"/>
              </a:rPr>
              <a:t>Direct / key accounts</a:t>
            </a:r>
          </a:p>
        </p:txBody>
      </p:sp>
      <p:sp>
        <p:nvSpPr>
          <p:cNvPr id="192" name="Rectangle 191"/>
          <p:cNvSpPr/>
          <p:nvPr/>
        </p:nvSpPr>
        <p:spPr>
          <a:xfrm>
            <a:off x="8639175" y="405765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 name="TextBox 192"/>
          <p:cNvSpPr txBox="1"/>
          <p:nvPr/>
        </p:nvSpPr>
        <p:spPr>
          <a:xfrm>
            <a:off x="8658225" y="4057650"/>
            <a:ext cx="790575" cy="323850"/>
          </a:xfrm>
          <a:prstGeom prst="rect">
            <a:avLst/>
          </a:prstGeom>
          <a:noFill/>
        </p:spPr>
        <p:txBody>
          <a:bodyPr wrap="square" lIns="28575" rIns="28575" tIns="9525" bIns="9525" anchor="ctr">
            <a:spAutoFit/>
          </a:bodyPr>
          <a:lstStyle/>
          <a:p>
            <a:pPr algn="ctr">
              <a:lnSpc>
                <a:spcPct val="115000"/>
              </a:lnSpc>
            </a:pPr>
            <a:r>
              <a:rPr sz="1100" b="0">
                <a:solidFill>
                  <a:srgbClr val="14213D"/>
                </a:solidFill>
                <a:latin typeface="Calibri"/>
              </a:rPr>
              <a:t>Distributors</a:t>
            </a:r>
          </a:p>
        </p:txBody>
      </p:sp>
      <p:sp>
        <p:nvSpPr>
          <p:cNvPr id="194" name="Rectangle 193"/>
          <p:cNvSpPr/>
          <p:nvPr/>
        </p:nvSpPr>
        <p:spPr>
          <a:xfrm>
            <a:off x="9467850" y="405765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 name="TextBox 194"/>
          <p:cNvSpPr txBox="1"/>
          <p:nvPr/>
        </p:nvSpPr>
        <p:spPr>
          <a:xfrm>
            <a:off x="9486900" y="4057650"/>
            <a:ext cx="790575" cy="323850"/>
          </a:xfrm>
          <a:prstGeom prst="rect">
            <a:avLst/>
          </a:prstGeom>
          <a:noFill/>
        </p:spPr>
        <p:txBody>
          <a:bodyPr wrap="square" lIns="28575" rIns="28575" tIns="9525" bIns="9525" anchor="ctr">
            <a:spAutoFit/>
          </a:bodyPr>
          <a:lstStyle/>
          <a:p>
            <a:pPr algn="ctr">
              <a:lnSpc>
                <a:spcPct val="115000"/>
              </a:lnSpc>
            </a:pPr>
            <a:r>
              <a:rPr sz="1100" b="0">
                <a:solidFill>
                  <a:srgbClr val="14213D"/>
                </a:solidFill>
                <a:latin typeface="Calibri"/>
              </a:rPr>
              <a:t>Regional partners</a:t>
            </a:r>
          </a:p>
        </p:txBody>
      </p:sp>
      <p:sp>
        <p:nvSpPr>
          <p:cNvPr id="196" name="Rectangle 195"/>
          <p:cNvSpPr/>
          <p:nvPr/>
        </p:nvSpPr>
        <p:spPr>
          <a:xfrm>
            <a:off x="10296525" y="405765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 name="TextBox 196"/>
          <p:cNvSpPr txBox="1"/>
          <p:nvPr/>
        </p:nvSpPr>
        <p:spPr>
          <a:xfrm>
            <a:off x="10315575" y="4057650"/>
            <a:ext cx="790575" cy="323850"/>
          </a:xfrm>
          <a:prstGeom prst="rect">
            <a:avLst/>
          </a:prstGeom>
          <a:noFill/>
        </p:spPr>
        <p:txBody>
          <a:bodyPr wrap="square" lIns="28575" rIns="28575" tIns="9525" bIns="9525" anchor="ctr">
            <a:spAutoFit/>
          </a:bodyPr>
          <a:lstStyle/>
          <a:p>
            <a:pPr algn="ctr">
              <a:lnSpc>
                <a:spcPct val="115000"/>
              </a:lnSpc>
            </a:pPr>
            <a:r>
              <a:rPr sz="1100" b="0">
                <a:solidFill>
                  <a:srgbClr val="14213D"/>
                </a:solidFill>
                <a:latin typeface="Calibri"/>
              </a:rPr>
              <a:t>Local / online</a:t>
            </a:r>
          </a:p>
        </p:txBody>
      </p:sp>
      <p:sp>
        <p:nvSpPr>
          <p:cNvPr id="198" name="Rectangle 197"/>
          <p:cNvSpPr/>
          <p:nvPr/>
        </p:nvSpPr>
        <p:spPr>
          <a:xfrm>
            <a:off x="11125200" y="405765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 name="TextBox 198"/>
          <p:cNvSpPr txBox="1"/>
          <p:nvPr/>
        </p:nvSpPr>
        <p:spPr>
          <a:xfrm>
            <a:off x="11144250" y="4057650"/>
            <a:ext cx="790575" cy="323850"/>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a:t>
            </a:r>
          </a:p>
        </p:txBody>
      </p:sp>
      <p:sp>
        <p:nvSpPr>
          <p:cNvPr id="200" name="Rectangle 199"/>
          <p:cNvSpPr/>
          <p:nvPr/>
        </p:nvSpPr>
        <p:spPr>
          <a:xfrm>
            <a:off x="6191250" y="4381500"/>
            <a:ext cx="1619250" cy="323850"/>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 name="TextBox 200"/>
          <p:cNvSpPr txBox="1"/>
          <p:nvPr/>
        </p:nvSpPr>
        <p:spPr>
          <a:xfrm>
            <a:off x="6248400" y="4381500"/>
            <a:ext cx="1543050" cy="323850"/>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Portfolio breadth</a:t>
            </a:r>
          </a:p>
        </p:txBody>
      </p:sp>
      <p:sp>
        <p:nvSpPr>
          <p:cNvPr id="202" name="Rectangle 201"/>
          <p:cNvSpPr/>
          <p:nvPr/>
        </p:nvSpPr>
        <p:spPr>
          <a:xfrm>
            <a:off x="7810500" y="438150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 name="TextBox 202"/>
          <p:cNvSpPr txBox="1"/>
          <p:nvPr/>
        </p:nvSpPr>
        <p:spPr>
          <a:xfrm>
            <a:off x="7829550" y="4381500"/>
            <a:ext cx="790575" cy="323850"/>
          </a:xfrm>
          <a:prstGeom prst="rect">
            <a:avLst/>
          </a:prstGeom>
          <a:noFill/>
        </p:spPr>
        <p:txBody>
          <a:bodyPr wrap="square" lIns="28575" rIns="28575" tIns="9525" bIns="9525" anchor="ctr">
            <a:spAutoFit/>
          </a:bodyPr>
          <a:lstStyle/>
          <a:p>
            <a:pPr algn="ctr">
              <a:lnSpc>
                <a:spcPct val="115000"/>
              </a:lnSpc>
            </a:pPr>
            <a:r>
              <a:rPr sz="1100" b="0">
                <a:solidFill>
                  <a:srgbClr val="14213D"/>
                </a:solidFill>
                <a:latin typeface="Calibri"/>
              </a:rPr>
              <a:t>Full portfolio</a:t>
            </a:r>
          </a:p>
        </p:txBody>
      </p:sp>
      <p:sp>
        <p:nvSpPr>
          <p:cNvPr id="204" name="Rectangle 203"/>
          <p:cNvSpPr/>
          <p:nvPr/>
        </p:nvSpPr>
        <p:spPr>
          <a:xfrm>
            <a:off x="8639175" y="438150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 name="TextBox 204"/>
          <p:cNvSpPr txBox="1"/>
          <p:nvPr/>
        </p:nvSpPr>
        <p:spPr>
          <a:xfrm>
            <a:off x="8658225" y="4381500"/>
            <a:ext cx="790575" cy="323850"/>
          </a:xfrm>
          <a:prstGeom prst="rect">
            <a:avLst/>
          </a:prstGeom>
          <a:noFill/>
        </p:spPr>
        <p:txBody>
          <a:bodyPr wrap="square" lIns="28575" rIns="28575" tIns="9525" bIns="9525" anchor="ctr">
            <a:spAutoFit/>
          </a:bodyPr>
          <a:lstStyle/>
          <a:p>
            <a:pPr algn="ctr">
              <a:lnSpc>
                <a:spcPct val="115000"/>
              </a:lnSpc>
            </a:pPr>
            <a:r>
              <a:rPr sz="1100" b="0">
                <a:solidFill>
                  <a:srgbClr val="14213D"/>
                </a:solidFill>
                <a:latin typeface="Calibri"/>
              </a:rPr>
              <a:t>2–3 core lines</a:t>
            </a:r>
          </a:p>
        </p:txBody>
      </p:sp>
      <p:sp>
        <p:nvSpPr>
          <p:cNvPr id="206" name="Rectangle 205"/>
          <p:cNvSpPr/>
          <p:nvPr/>
        </p:nvSpPr>
        <p:spPr>
          <a:xfrm>
            <a:off x="9467850" y="438150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 name="TextBox 206"/>
          <p:cNvSpPr txBox="1"/>
          <p:nvPr/>
        </p:nvSpPr>
        <p:spPr>
          <a:xfrm>
            <a:off x="9486900" y="4381500"/>
            <a:ext cx="790575" cy="323850"/>
          </a:xfrm>
          <a:prstGeom prst="rect">
            <a:avLst/>
          </a:prstGeom>
          <a:noFill/>
        </p:spPr>
        <p:txBody>
          <a:bodyPr wrap="square" lIns="28575" rIns="28575" tIns="9525" bIns="9525" anchor="ctr">
            <a:spAutoFit/>
          </a:bodyPr>
          <a:lstStyle/>
          <a:p>
            <a:pPr algn="ctr">
              <a:lnSpc>
                <a:spcPct val="115000"/>
              </a:lnSpc>
            </a:pPr>
            <a:r>
              <a:rPr sz="1100" b="0">
                <a:solidFill>
                  <a:srgbClr val="14213D"/>
                </a:solidFill>
                <a:latin typeface="Calibri"/>
              </a:rPr>
              <a:t>Single line</a:t>
            </a:r>
          </a:p>
        </p:txBody>
      </p:sp>
      <p:sp>
        <p:nvSpPr>
          <p:cNvPr id="208" name="Rectangle 207"/>
          <p:cNvSpPr/>
          <p:nvPr/>
        </p:nvSpPr>
        <p:spPr>
          <a:xfrm>
            <a:off x="10296525" y="438150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 name="TextBox 208"/>
          <p:cNvSpPr txBox="1"/>
          <p:nvPr/>
        </p:nvSpPr>
        <p:spPr>
          <a:xfrm>
            <a:off x="10315575" y="4381500"/>
            <a:ext cx="790575" cy="323850"/>
          </a:xfrm>
          <a:prstGeom prst="rect">
            <a:avLst/>
          </a:prstGeom>
          <a:noFill/>
        </p:spPr>
        <p:txBody>
          <a:bodyPr wrap="square" lIns="28575" rIns="28575" tIns="9525" bIns="9525" anchor="ctr">
            <a:spAutoFit/>
          </a:bodyPr>
          <a:lstStyle/>
          <a:p>
            <a:pPr algn="ctr">
              <a:lnSpc>
                <a:spcPct val="115000"/>
              </a:lnSpc>
            </a:pPr>
            <a:r>
              <a:rPr sz="1100" b="0">
                <a:solidFill>
                  <a:srgbClr val="14213D"/>
                </a:solidFill>
                <a:latin typeface="Calibri"/>
              </a:rPr>
              <a:t>Niche</a:t>
            </a:r>
          </a:p>
        </p:txBody>
      </p:sp>
      <p:sp>
        <p:nvSpPr>
          <p:cNvPr id="210" name="Rectangle 209"/>
          <p:cNvSpPr/>
          <p:nvPr/>
        </p:nvSpPr>
        <p:spPr>
          <a:xfrm>
            <a:off x="11125200" y="438150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 name="TextBox 210"/>
          <p:cNvSpPr txBox="1"/>
          <p:nvPr/>
        </p:nvSpPr>
        <p:spPr>
          <a:xfrm>
            <a:off x="11144250" y="4381500"/>
            <a:ext cx="790575" cy="323850"/>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a:t>
            </a:r>
          </a:p>
        </p:txBody>
      </p:sp>
      <p:sp>
        <p:nvSpPr>
          <p:cNvPr id="212" name="Rectangle 211"/>
          <p:cNvSpPr/>
          <p:nvPr/>
        </p:nvSpPr>
        <p:spPr>
          <a:xfrm>
            <a:off x="6191250" y="4705350"/>
            <a:ext cx="1619250" cy="323850"/>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 name="TextBox 212"/>
          <p:cNvSpPr txBox="1"/>
          <p:nvPr/>
        </p:nvSpPr>
        <p:spPr>
          <a:xfrm>
            <a:off x="6248400" y="4705350"/>
            <a:ext cx="1543050" cy="323850"/>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Strategic posture</a:t>
            </a:r>
          </a:p>
        </p:txBody>
      </p:sp>
      <p:sp>
        <p:nvSpPr>
          <p:cNvPr id="214" name="Rectangle 213"/>
          <p:cNvSpPr/>
          <p:nvPr/>
        </p:nvSpPr>
        <p:spPr>
          <a:xfrm>
            <a:off x="7810500" y="4705350"/>
            <a:ext cx="828675" cy="323850"/>
          </a:xfrm>
          <a:prstGeom prst="rect">
            <a:avLst/>
          </a:prstGeom>
          <a:solidFill>
            <a:srgbClr val="E0F3F3"/>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 name="TextBox 214"/>
          <p:cNvSpPr txBox="1"/>
          <p:nvPr/>
        </p:nvSpPr>
        <p:spPr>
          <a:xfrm>
            <a:off x="7829550" y="4705350"/>
            <a:ext cx="790575" cy="323850"/>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Defend &amp; bundle</a:t>
            </a:r>
          </a:p>
        </p:txBody>
      </p:sp>
      <p:sp>
        <p:nvSpPr>
          <p:cNvPr id="216" name="Rectangle 215"/>
          <p:cNvSpPr/>
          <p:nvPr/>
        </p:nvSpPr>
        <p:spPr>
          <a:xfrm>
            <a:off x="8639175" y="4705350"/>
            <a:ext cx="828675" cy="323850"/>
          </a:xfrm>
          <a:prstGeom prst="rect">
            <a:avLst/>
          </a:prstGeom>
          <a:solidFill>
            <a:srgbClr val="E0F3F3"/>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 name="TextBox 216"/>
          <p:cNvSpPr txBox="1"/>
          <p:nvPr/>
        </p:nvSpPr>
        <p:spPr>
          <a:xfrm>
            <a:off x="8658225" y="4705350"/>
            <a:ext cx="790575" cy="323850"/>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Niche deepening</a:t>
            </a:r>
          </a:p>
        </p:txBody>
      </p:sp>
      <p:sp>
        <p:nvSpPr>
          <p:cNvPr id="218" name="Rectangle 217"/>
          <p:cNvSpPr/>
          <p:nvPr/>
        </p:nvSpPr>
        <p:spPr>
          <a:xfrm>
            <a:off x="9467850" y="4705350"/>
            <a:ext cx="828675" cy="323850"/>
          </a:xfrm>
          <a:prstGeom prst="rect">
            <a:avLst/>
          </a:prstGeom>
          <a:solidFill>
            <a:srgbClr val="E0F3F3"/>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 name="TextBox 218"/>
          <p:cNvSpPr txBox="1"/>
          <p:nvPr/>
        </p:nvSpPr>
        <p:spPr>
          <a:xfrm>
            <a:off x="9486900" y="4705350"/>
            <a:ext cx="790575" cy="323850"/>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Scale-up or exit</a:t>
            </a:r>
          </a:p>
        </p:txBody>
      </p:sp>
      <p:sp>
        <p:nvSpPr>
          <p:cNvPr id="220" name="Rectangle 219"/>
          <p:cNvSpPr/>
          <p:nvPr/>
        </p:nvSpPr>
        <p:spPr>
          <a:xfrm>
            <a:off x="10296525" y="4705350"/>
            <a:ext cx="828675" cy="323850"/>
          </a:xfrm>
          <a:prstGeom prst="rect">
            <a:avLst/>
          </a:prstGeom>
          <a:solidFill>
            <a:srgbClr val="E0F3F3"/>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 name="TextBox 220"/>
          <p:cNvSpPr txBox="1"/>
          <p:nvPr/>
        </p:nvSpPr>
        <p:spPr>
          <a:xfrm>
            <a:off x="10315575" y="4705350"/>
            <a:ext cx="790575" cy="323850"/>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Long-tail</a:t>
            </a:r>
          </a:p>
        </p:txBody>
      </p:sp>
      <p:sp>
        <p:nvSpPr>
          <p:cNvPr id="222" name="Rectangle 221"/>
          <p:cNvSpPr/>
          <p:nvPr/>
        </p:nvSpPr>
        <p:spPr>
          <a:xfrm>
            <a:off x="11125200" y="470535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 name="TextBox 222"/>
          <p:cNvSpPr txBox="1"/>
          <p:nvPr/>
        </p:nvSpPr>
        <p:spPr>
          <a:xfrm>
            <a:off x="11144250" y="4705350"/>
            <a:ext cx="790575" cy="323850"/>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a:t>
            </a:r>
          </a:p>
        </p:txBody>
      </p:sp>
      <p:sp>
        <p:nvSpPr>
          <p:cNvPr id="224" name="Rounded Rectangle 223"/>
          <p:cNvSpPr/>
          <p:nvPr/>
        </p:nvSpPr>
        <p:spPr>
          <a:xfrm>
            <a:off x="6096000" y="5162550"/>
            <a:ext cx="5953125" cy="1466850"/>
          </a:xfrm>
          <a:prstGeom prst="roundRect">
            <a:avLst>
              <a:gd name="adj" fmla="val 1280"/>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 name="TextBox 224"/>
          <p:cNvSpPr txBox="1"/>
          <p:nvPr/>
        </p:nvSpPr>
        <p:spPr>
          <a:xfrm>
            <a:off x="6191250" y="5219700"/>
            <a:ext cx="5762625" cy="209550"/>
          </a:xfrm>
          <a:prstGeom prst="rect">
            <a:avLst/>
          </a:prstGeom>
          <a:noFill/>
        </p:spPr>
        <p:txBody>
          <a:bodyPr wrap="square" lIns="28575" rIns="28575" tIns="9525" bIns="9525" anchor="ctr">
            <a:spAutoFit/>
          </a:bodyPr>
          <a:lstStyle/>
          <a:p>
            <a:pPr algn="l"/>
            <a:r>
              <a:rPr sz="1200" b="1">
                <a:solidFill>
                  <a:srgbClr val="2E2E2E"/>
                </a:solidFill>
                <a:latin typeface="Calibri"/>
              </a:rPr>
              <a:t>Key Takeaways</a:t>
            </a:r>
          </a:p>
        </p:txBody>
      </p:sp>
      <p:sp>
        <p:nvSpPr>
          <p:cNvPr id="226" name="TextBox 225"/>
          <p:cNvSpPr txBox="1"/>
          <p:nvPr/>
        </p:nvSpPr>
        <p:spPr>
          <a:xfrm>
            <a:off x="6210300" y="5467350"/>
            <a:ext cx="114300" cy="161925"/>
          </a:xfrm>
          <a:prstGeom prst="rect">
            <a:avLst/>
          </a:prstGeom>
          <a:noFill/>
        </p:spPr>
        <p:txBody>
          <a:bodyPr wrap="none" lIns="0" rIns="0" tIns="0" bIns="0" anchor="t">
            <a:spAutoFit/>
          </a:bodyPr>
          <a:lstStyle/>
          <a:p>
            <a:pPr algn="l"/>
            <a:r>
              <a:rPr sz="1100" b="1">
                <a:solidFill>
                  <a:srgbClr val="2A5F8F"/>
                </a:solidFill>
                <a:latin typeface="Calibri"/>
              </a:rPr>
              <a:t>•</a:t>
            </a:r>
          </a:p>
        </p:txBody>
      </p:sp>
      <p:sp>
        <p:nvSpPr>
          <p:cNvPr id="227" name="TextBox 226"/>
          <p:cNvSpPr txBox="1"/>
          <p:nvPr/>
        </p:nvSpPr>
        <p:spPr>
          <a:xfrm>
            <a:off x="6343650" y="5467350"/>
            <a:ext cx="5591175" cy="533400"/>
          </a:xfrm>
          <a:prstGeom prst="rect">
            <a:avLst/>
          </a:prstGeom>
          <a:noFill/>
        </p:spPr>
        <p:txBody>
          <a:bodyPr wrap="square" lIns="28575" rIns="28575" tIns="9525" bIns="9525" anchor="t">
            <a:spAutoFit/>
          </a:bodyPr>
          <a:lstStyle/>
          <a:p>
            <a:pPr algn="l">
              <a:lnSpc>
                <a:spcPct val="115000"/>
              </a:lnSpc>
            </a:pPr>
            <a:r>
              <a:rPr sz="1100" b="0">
                <a:solidFill>
                  <a:srgbClr val="14213D"/>
                </a:solidFill>
                <a:latin typeface="Calibri"/>
              </a:rPr>
              <a:t/>
            </a:r>
          </a:p>
        </p:txBody>
      </p:sp>
      <p:sp>
        <p:nvSpPr>
          <p:cNvPr id="228" name="TextBox 227"/>
          <p:cNvSpPr txBox="1"/>
          <p:nvPr/>
        </p:nvSpPr>
        <p:spPr>
          <a:xfrm>
            <a:off x="6210300" y="5848350"/>
            <a:ext cx="114300" cy="161925"/>
          </a:xfrm>
          <a:prstGeom prst="rect">
            <a:avLst/>
          </a:prstGeom>
          <a:noFill/>
        </p:spPr>
        <p:txBody>
          <a:bodyPr wrap="none" lIns="0" rIns="0" tIns="0" bIns="0" anchor="t">
            <a:spAutoFit/>
          </a:bodyPr>
          <a:lstStyle/>
          <a:p>
            <a:pPr algn="l"/>
            <a:r>
              <a:rPr sz="1100" b="1">
                <a:solidFill>
                  <a:srgbClr val="2A5F8F"/>
                </a:solidFill>
                <a:latin typeface="Calibri"/>
              </a:rPr>
              <a:t>•</a:t>
            </a:r>
          </a:p>
        </p:txBody>
      </p:sp>
      <p:sp>
        <p:nvSpPr>
          <p:cNvPr id="229" name="TextBox 228"/>
          <p:cNvSpPr txBox="1"/>
          <p:nvPr/>
        </p:nvSpPr>
        <p:spPr>
          <a:xfrm>
            <a:off x="6343650" y="5848350"/>
            <a:ext cx="5591175" cy="371475"/>
          </a:xfrm>
          <a:prstGeom prst="rect">
            <a:avLst/>
          </a:prstGeom>
          <a:noFill/>
        </p:spPr>
        <p:txBody>
          <a:bodyPr wrap="square" lIns="28575" rIns="28575" tIns="9525" bIns="9525" anchor="t">
            <a:spAutoFit/>
          </a:bodyPr>
          <a:lstStyle/>
          <a:p>
            <a:pPr algn="l">
              <a:lnSpc>
                <a:spcPct val="115000"/>
              </a:lnSpc>
            </a:pPr>
            <a:r>
              <a:rPr sz="1100" b="0">
                <a:solidFill>
                  <a:srgbClr val="14213D"/>
                </a:solidFill>
                <a:latin typeface="Calibri"/>
              </a:rPr>
              <a:t/>
            </a:r>
          </a:p>
        </p:txBody>
      </p:sp>
      <p:sp>
        <p:nvSpPr>
          <p:cNvPr id="230" name="TextBox 229"/>
          <p:cNvSpPr txBox="1"/>
          <p:nvPr/>
        </p:nvSpPr>
        <p:spPr>
          <a:xfrm>
            <a:off x="6210300" y="6067425"/>
            <a:ext cx="114300" cy="161925"/>
          </a:xfrm>
          <a:prstGeom prst="rect">
            <a:avLst/>
          </a:prstGeom>
          <a:noFill/>
        </p:spPr>
        <p:txBody>
          <a:bodyPr wrap="none" lIns="0" rIns="0" tIns="0" bIns="0" anchor="t">
            <a:spAutoFit/>
          </a:bodyPr>
          <a:lstStyle/>
          <a:p>
            <a:pPr algn="l"/>
            <a:r>
              <a:rPr sz="1100" b="1">
                <a:solidFill>
                  <a:srgbClr val="2A5F8F"/>
                </a:solidFill>
                <a:latin typeface="Calibri"/>
              </a:rPr>
              <a:t>•</a:t>
            </a:r>
          </a:p>
        </p:txBody>
      </p:sp>
      <p:sp>
        <p:nvSpPr>
          <p:cNvPr id="231" name="TextBox 230"/>
          <p:cNvSpPr txBox="1"/>
          <p:nvPr/>
        </p:nvSpPr>
        <p:spPr>
          <a:xfrm>
            <a:off x="6343650" y="6067425"/>
            <a:ext cx="5591175" cy="533400"/>
          </a:xfrm>
          <a:prstGeom prst="rect">
            <a:avLst/>
          </a:prstGeom>
          <a:noFill/>
        </p:spPr>
        <p:txBody>
          <a:bodyPr wrap="square" lIns="28575" rIns="28575" tIns="9525" bIns="9525" anchor="t">
            <a:spAutoFit/>
          </a:bodyPr>
          <a:lstStyle/>
          <a:p>
            <a:pPr algn="l">
              <a:lnSpc>
                <a:spcPct val="115000"/>
              </a:lnSpc>
            </a:pPr>
            <a:r>
              <a:rPr sz="1100" b="0">
                <a:solidFill>
                  <a:srgbClr val="14213D"/>
                </a:solidFill>
                <a:latin typeface="Calibri"/>
              </a:rPr>
              <a:t/>
            </a:r>
          </a:p>
        </p:txBody>
      </p:sp>
      <p:sp>
        <p:nvSpPr>
          <p:cNvPr id="232" name="Rectangle 231"/>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 name="TextBox 23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234" name="Picture 233" descr="lock.png"/>
          <p:cNvPicPr>
            <a:picLocks noChangeAspect="1"/>
          </p:cNvPicPr>
          <p:nvPr/>
        </p:nvPicPr>
        <p:blipFill>
          <a:blip r:embed="rId4"/>
          <a:stretch>
            <a:fillRect/>
          </a:stretch>
        </p:blipFill>
        <p:spPr>
          <a:xfrm>
            <a:off x="1631100" y="1620901"/>
            <a:ext cx="128699" cy="187198"/>
          </a:xfrm>
          <a:prstGeom prst="rect">
            <a:avLst/>
          </a:prstGeom>
        </p:spPr>
      </p:pic>
      <p:pic>
        <p:nvPicPr>
          <p:cNvPr id="235" name="Picture 234" descr="lock.png"/>
          <p:cNvPicPr>
            <a:picLocks noChangeAspect="1"/>
          </p:cNvPicPr>
          <p:nvPr/>
        </p:nvPicPr>
        <p:blipFill>
          <a:blip r:embed="rId4"/>
          <a:stretch>
            <a:fillRect/>
          </a:stretch>
        </p:blipFill>
        <p:spPr>
          <a:xfrm>
            <a:off x="1631100" y="2478151"/>
            <a:ext cx="128699" cy="187198"/>
          </a:xfrm>
          <a:prstGeom prst="rect">
            <a:avLst/>
          </a:prstGeom>
        </p:spPr>
      </p:pic>
      <p:pic>
        <p:nvPicPr>
          <p:cNvPr id="236" name="Picture 235" descr="lock.png"/>
          <p:cNvPicPr>
            <a:picLocks noChangeAspect="1"/>
          </p:cNvPicPr>
          <p:nvPr/>
        </p:nvPicPr>
        <p:blipFill>
          <a:blip r:embed="rId4"/>
          <a:stretch>
            <a:fillRect/>
          </a:stretch>
        </p:blipFill>
        <p:spPr>
          <a:xfrm>
            <a:off x="1631100" y="3335401"/>
            <a:ext cx="128699" cy="187198"/>
          </a:xfrm>
          <a:prstGeom prst="rect">
            <a:avLst/>
          </a:prstGeom>
        </p:spPr>
      </p:pic>
      <p:pic>
        <p:nvPicPr>
          <p:cNvPr id="237" name="Picture 236" descr="lock.png"/>
          <p:cNvPicPr>
            <a:picLocks noChangeAspect="1"/>
          </p:cNvPicPr>
          <p:nvPr/>
        </p:nvPicPr>
        <p:blipFill>
          <a:blip r:embed="rId4"/>
          <a:stretch>
            <a:fillRect/>
          </a:stretch>
        </p:blipFill>
        <p:spPr>
          <a:xfrm>
            <a:off x="1631100" y="4192651"/>
            <a:ext cx="128699" cy="187198"/>
          </a:xfrm>
          <a:prstGeom prst="rect">
            <a:avLst/>
          </a:prstGeom>
        </p:spPr>
      </p:pic>
      <p:pic>
        <p:nvPicPr>
          <p:cNvPr id="238" name="Picture 237" descr="lock.png"/>
          <p:cNvPicPr>
            <a:picLocks noChangeAspect="1"/>
          </p:cNvPicPr>
          <p:nvPr/>
        </p:nvPicPr>
        <p:blipFill>
          <a:blip r:embed="rId4"/>
          <a:stretch>
            <a:fillRect/>
          </a:stretch>
        </p:blipFill>
        <p:spPr>
          <a:xfrm>
            <a:off x="11475188" y="1830451"/>
            <a:ext cx="128699" cy="187198"/>
          </a:xfrm>
          <a:prstGeom prst="rect">
            <a:avLst/>
          </a:prstGeom>
        </p:spPr>
      </p:pic>
      <p:pic>
        <p:nvPicPr>
          <p:cNvPr id="239" name="Picture 238" descr="lock.png"/>
          <p:cNvPicPr>
            <a:picLocks noChangeAspect="1"/>
          </p:cNvPicPr>
          <p:nvPr/>
        </p:nvPicPr>
        <p:blipFill>
          <a:blip r:embed="rId4"/>
          <a:stretch>
            <a:fillRect/>
          </a:stretch>
        </p:blipFill>
        <p:spPr>
          <a:xfrm>
            <a:off x="8160488" y="2059051"/>
            <a:ext cx="128699" cy="187198"/>
          </a:xfrm>
          <a:prstGeom prst="rect">
            <a:avLst/>
          </a:prstGeom>
        </p:spPr>
      </p:pic>
      <p:pic>
        <p:nvPicPr>
          <p:cNvPr id="240" name="Picture 239" descr="lock.png"/>
          <p:cNvPicPr>
            <a:picLocks noChangeAspect="1"/>
          </p:cNvPicPr>
          <p:nvPr/>
        </p:nvPicPr>
        <p:blipFill>
          <a:blip r:embed="rId4"/>
          <a:stretch>
            <a:fillRect/>
          </a:stretch>
        </p:blipFill>
        <p:spPr>
          <a:xfrm>
            <a:off x="8989163" y="2059051"/>
            <a:ext cx="128699" cy="187198"/>
          </a:xfrm>
          <a:prstGeom prst="rect">
            <a:avLst/>
          </a:prstGeom>
        </p:spPr>
      </p:pic>
      <p:pic>
        <p:nvPicPr>
          <p:cNvPr id="241" name="Picture 240" descr="lock.png"/>
          <p:cNvPicPr>
            <a:picLocks noChangeAspect="1"/>
          </p:cNvPicPr>
          <p:nvPr/>
        </p:nvPicPr>
        <p:blipFill>
          <a:blip r:embed="rId4"/>
          <a:stretch>
            <a:fillRect/>
          </a:stretch>
        </p:blipFill>
        <p:spPr>
          <a:xfrm>
            <a:off x="9817838" y="2059051"/>
            <a:ext cx="128699" cy="187198"/>
          </a:xfrm>
          <a:prstGeom prst="rect">
            <a:avLst/>
          </a:prstGeom>
        </p:spPr>
      </p:pic>
      <p:pic>
        <p:nvPicPr>
          <p:cNvPr id="242" name="Picture 241" descr="lock.png"/>
          <p:cNvPicPr>
            <a:picLocks noChangeAspect="1"/>
          </p:cNvPicPr>
          <p:nvPr/>
        </p:nvPicPr>
        <p:blipFill>
          <a:blip r:embed="rId4"/>
          <a:stretch>
            <a:fillRect/>
          </a:stretch>
        </p:blipFill>
        <p:spPr>
          <a:xfrm>
            <a:off x="10646513" y="2059051"/>
            <a:ext cx="128699" cy="187198"/>
          </a:xfrm>
          <a:prstGeom prst="rect">
            <a:avLst/>
          </a:prstGeom>
        </p:spPr>
      </p:pic>
      <p:pic>
        <p:nvPicPr>
          <p:cNvPr id="243" name="Picture 242" descr="lock.png"/>
          <p:cNvPicPr>
            <a:picLocks noChangeAspect="1"/>
          </p:cNvPicPr>
          <p:nvPr/>
        </p:nvPicPr>
        <p:blipFill>
          <a:blip r:embed="rId4"/>
          <a:stretch>
            <a:fillRect/>
          </a:stretch>
        </p:blipFill>
        <p:spPr>
          <a:xfrm>
            <a:off x="11475188" y="2059051"/>
            <a:ext cx="128699" cy="187198"/>
          </a:xfrm>
          <a:prstGeom prst="rect">
            <a:avLst/>
          </a:prstGeom>
        </p:spPr>
      </p:pic>
      <p:pic>
        <p:nvPicPr>
          <p:cNvPr id="244" name="Picture 243" descr="lock.png"/>
          <p:cNvPicPr>
            <a:picLocks noChangeAspect="1"/>
          </p:cNvPicPr>
          <p:nvPr/>
        </p:nvPicPr>
        <p:blipFill>
          <a:blip r:embed="rId4"/>
          <a:stretch>
            <a:fillRect/>
          </a:stretch>
        </p:blipFill>
        <p:spPr>
          <a:xfrm>
            <a:off x="8160488" y="2287651"/>
            <a:ext cx="128699" cy="187198"/>
          </a:xfrm>
          <a:prstGeom prst="rect">
            <a:avLst/>
          </a:prstGeom>
        </p:spPr>
      </p:pic>
      <p:pic>
        <p:nvPicPr>
          <p:cNvPr id="245" name="Picture 244" descr="lock.png"/>
          <p:cNvPicPr>
            <a:picLocks noChangeAspect="1"/>
          </p:cNvPicPr>
          <p:nvPr/>
        </p:nvPicPr>
        <p:blipFill>
          <a:blip r:embed="rId4"/>
          <a:stretch>
            <a:fillRect/>
          </a:stretch>
        </p:blipFill>
        <p:spPr>
          <a:xfrm>
            <a:off x="8989162" y="2287651"/>
            <a:ext cx="128699" cy="187198"/>
          </a:xfrm>
          <a:prstGeom prst="rect">
            <a:avLst/>
          </a:prstGeom>
        </p:spPr>
      </p:pic>
      <p:pic>
        <p:nvPicPr>
          <p:cNvPr id="246" name="Picture 245" descr="lock.png"/>
          <p:cNvPicPr>
            <a:picLocks noChangeAspect="1"/>
          </p:cNvPicPr>
          <p:nvPr/>
        </p:nvPicPr>
        <p:blipFill>
          <a:blip r:embed="rId4"/>
          <a:stretch>
            <a:fillRect/>
          </a:stretch>
        </p:blipFill>
        <p:spPr>
          <a:xfrm>
            <a:off x="9817838" y="2287651"/>
            <a:ext cx="128699" cy="187198"/>
          </a:xfrm>
          <a:prstGeom prst="rect">
            <a:avLst/>
          </a:prstGeom>
        </p:spPr>
      </p:pic>
      <p:pic>
        <p:nvPicPr>
          <p:cNvPr id="247" name="Picture 246" descr="lock.png"/>
          <p:cNvPicPr>
            <a:picLocks noChangeAspect="1"/>
          </p:cNvPicPr>
          <p:nvPr/>
        </p:nvPicPr>
        <p:blipFill>
          <a:blip r:embed="rId4"/>
          <a:stretch>
            <a:fillRect/>
          </a:stretch>
        </p:blipFill>
        <p:spPr>
          <a:xfrm>
            <a:off x="10646512" y="2287651"/>
            <a:ext cx="128699" cy="187198"/>
          </a:xfrm>
          <a:prstGeom prst="rect">
            <a:avLst/>
          </a:prstGeom>
        </p:spPr>
      </p:pic>
      <p:pic>
        <p:nvPicPr>
          <p:cNvPr id="248" name="Picture 247" descr="lock.png"/>
          <p:cNvPicPr>
            <a:picLocks noChangeAspect="1"/>
          </p:cNvPicPr>
          <p:nvPr/>
        </p:nvPicPr>
        <p:blipFill>
          <a:blip r:embed="rId4"/>
          <a:stretch>
            <a:fillRect/>
          </a:stretch>
        </p:blipFill>
        <p:spPr>
          <a:xfrm>
            <a:off x="8160488" y="2516251"/>
            <a:ext cx="128699" cy="187198"/>
          </a:xfrm>
          <a:prstGeom prst="rect">
            <a:avLst/>
          </a:prstGeom>
        </p:spPr>
      </p:pic>
      <p:pic>
        <p:nvPicPr>
          <p:cNvPr id="249" name="Picture 248" descr="lock.png"/>
          <p:cNvPicPr>
            <a:picLocks noChangeAspect="1"/>
          </p:cNvPicPr>
          <p:nvPr/>
        </p:nvPicPr>
        <p:blipFill>
          <a:blip r:embed="rId4"/>
          <a:stretch>
            <a:fillRect/>
          </a:stretch>
        </p:blipFill>
        <p:spPr>
          <a:xfrm>
            <a:off x="8989162" y="2516251"/>
            <a:ext cx="128699" cy="187198"/>
          </a:xfrm>
          <a:prstGeom prst="rect">
            <a:avLst/>
          </a:prstGeom>
        </p:spPr>
      </p:pic>
      <p:pic>
        <p:nvPicPr>
          <p:cNvPr id="250" name="Picture 249" descr="lock.png"/>
          <p:cNvPicPr>
            <a:picLocks noChangeAspect="1"/>
          </p:cNvPicPr>
          <p:nvPr/>
        </p:nvPicPr>
        <p:blipFill>
          <a:blip r:embed="rId4"/>
          <a:stretch>
            <a:fillRect/>
          </a:stretch>
        </p:blipFill>
        <p:spPr>
          <a:xfrm>
            <a:off x="9817838" y="2516251"/>
            <a:ext cx="128699" cy="187198"/>
          </a:xfrm>
          <a:prstGeom prst="rect">
            <a:avLst/>
          </a:prstGeom>
        </p:spPr>
      </p:pic>
      <p:pic>
        <p:nvPicPr>
          <p:cNvPr id="251" name="Picture 250" descr="lock.png"/>
          <p:cNvPicPr>
            <a:picLocks noChangeAspect="1"/>
          </p:cNvPicPr>
          <p:nvPr/>
        </p:nvPicPr>
        <p:blipFill>
          <a:blip r:embed="rId4"/>
          <a:stretch>
            <a:fillRect/>
          </a:stretch>
        </p:blipFill>
        <p:spPr>
          <a:xfrm>
            <a:off x="10646512" y="2516251"/>
            <a:ext cx="128699" cy="187198"/>
          </a:xfrm>
          <a:prstGeom prst="rect">
            <a:avLst/>
          </a:prstGeom>
        </p:spPr>
      </p:pic>
      <p:pic>
        <p:nvPicPr>
          <p:cNvPr id="252" name="Picture 251" descr="lock.png"/>
          <p:cNvPicPr>
            <a:picLocks noChangeAspect="1"/>
          </p:cNvPicPr>
          <p:nvPr/>
        </p:nvPicPr>
        <p:blipFill>
          <a:blip r:embed="rId4"/>
          <a:stretch>
            <a:fillRect/>
          </a:stretch>
        </p:blipFill>
        <p:spPr>
          <a:xfrm>
            <a:off x="8160487" y="2744851"/>
            <a:ext cx="128699" cy="187198"/>
          </a:xfrm>
          <a:prstGeom prst="rect">
            <a:avLst/>
          </a:prstGeom>
        </p:spPr>
      </p:pic>
      <p:pic>
        <p:nvPicPr>
          <p:cNvPr id="253" name="Picture 252" descr="lock.png"/>
          <p:cNvPicPr>
            <a:picLocks noChangeAspect="1"/>
          </p:cNvPicPr>
          <p:nvPr/>
        </p:nvPicPr>
        <p:blipFill>
          <a:blip r:embed="rId4"/>
          <a:stretch>
            <a:fillRect/>
          </a:stretch>
        </p:blipFill>
        <p:spPr>
          <a:xfrm>
            <a:off x="8989163" y="2744851"/>
            <a:ext cx="128699" cy="187198"/>
          </a:xfrm>
          <a:prstGeom prst="rect">
            <a:avLst/>
          </a:prstGeom>
        </p:spPr>
      </p:pic>
      <p:pic>
        <p:nvPicPr>
          <p:cNvPr id="254" name="Picture 253" descr="lock.png"/>
          <p:cNvPicPr>
            <a:picLocks noChangeAspect="1"/>
          </p:cNvPicPr>
          <p:nvPr/>
        </p:nvPicPr>
        <p:blipFill>
          <a:blip r:embed="rId4"/>
          <a:stretch>
            <a:fillRect/>
          </a:stretch>
        </p:blipFill>
        <p:spPr>
          <a:xfrm>
            <a:off x="9817837" y="2744851"/>
            <a:ext cx="128699" cy="187198"/>
          </a:xfrm>
          <a:prstGeom prst="rect">
            <a:avLst/>
          </a:prstGeom>
        </p:spPr>
      </p:pic>
      <p:pic>
        <p:nvPicPr>
          <p:cNvPr id="255" name="Picture 254" descr="lock.png"/>
          <p:cNvPicPr>
            <a:picLocks noChangeAspect="1"/>
          </p:cNvPicPr>
          <p:nvPr/>
        </p:nvPicPr>
        <p:blipFill>
          <a:blip r:embed="rId4"/>
          <a:stretch>
            <a:fillRect/>
          </a:stretch>
        </p:blipFill>
        <p:spPr>
          <a:xfrm>
            <a:off x="10646513" y="2744851"/>
            <a:ext cx="128699" cy="187198"/>
          </a:xfrm>
          <a:prstGeom prst="rect">
            <a:avLst/>
          </a:prstGeom>
        </p:spPr>
      </p:pic>
      <p:pic>
        <p:nvPicPr>
          <p:cNvPr id="256" name="Picture 255" descr="lock.png"/>
          <p:cNvPicPr>
            <a:picLocks noChangeAspect="1"/>
          </p:cNvPicPr>
          <p:nvPr/>
        </p:nvPicPr>
        <p:blipFill>
          <a:blip r:embed="rId4"/>
          <a:stretch>
            <a:fillRect/>
          </a:stretch>
        </p:blipFill>
        <p:spPr>
          <a:xfrm>
            <a:off x="8160487" y="2973451"/>
            <a:ext cx="128699" cy="187198"/>
          </a:xfrm>
          <a:prstGeom prst="rect">
            <a:avLst/>
          </a:prstGeom>
        </p:spPr>
      </p:pic>
      <p:pic>
        <p:nvPicPr>
          <p:cNvPr id="257" name="Picture 256" descr="lock.png"/>
          <p:cNvPicPr>
            <a:picLocks noChangeAspect="1"/>
          </p:cNvPicPr>
          <p:nvPr/>
        </p:nvPicPr>
        <p:blipFill>
          <a:blip r:embed="rId4"/>
          <a:stretch>
            <a:fillRect/>
          </a:stretch>
        </p:blipFill>
        <p:spPr>
          <a:xfrm>
            <a:off x="8989163" y="2973451"/>
            <a:ext cx="128699" cy="187198"/>
          </a:xfrm>
          <a:prstGeom prst="rect">
            <a:avLst/>
          </a:prstGeom>
        </p:spPr>
      </p:pic>
      <p:pic>
        <p:nvPicPr>
          <p:cNvPr id="258" name="Picture 257" descr="lock.png"/>
          <p:cNvPicPr>
            <a:picLocks noChangeAspect="1"/>
          </p:cNvPicPr>
          <p:nvPr/>
        </p:nvPicPr>
        <p:blipFill>
          <a:blip r:embed="rId4"/>
          <a:stretch>
            <a:fillRect/>
          </a:stretch>
        </p:blipFill>
        <p:spPr>
          <a:xfrm>
            <a:off x="9817837" y="2973451"/>
            <a:ext cx="128699" cy="187198"/>
          </a:xfrm>
          <a:prstGeom prst="rect">
            <a:avLst/>
          </a:prstGeom>
        </p:spPr>
      </p:pic>
      <p:pic>
        <p:nvPicPr>
          <p:cNvPr id="259" name="Picture 258" descr="lock.png"/>
          <p:cNvPicPr>
            <a:picLocks noChangeAspect="1"/>
          </p:cNvPicPr>
          <p:nvPr/>
        </p:nvPicPr>
        <p:blipFill>
          <a:blip r:embed="rId4"/>
          <a:stretch>
            <a:fillRect/>
          </a:stretch>
        </p:blipFill>
        <p:spPr>
          <a:xfrm>
            <a:off x="10646513" y="2973451"/>
            <a:ext cx="128699" cy="187198"/>
          </a:xfrm>
          <a:prstGeom prst="rect">
            <a:avLst/>
          </a:prstGeom>
        </p:spPr>
      </p:pic>
      <p:pic>
        <p:nvPicPr>
          <p:cNvPr id="260" name="Picture 259" descr="lock.png"/>
          <p:cNvPicPr>
            <a:picLocks noChangeAspect="1"/>
          </p:cNvPicPr>
          <p:nvPr/>
        </p:nvPicPr>
        <p:blipFill>
          <a:blip r:embed="rId4"/>
          <a:stretch>
            <a:fillRect/>
          </a:stretch>
        </p:blipFill>
        <p:spPr>
          <a:xfrm>
            <a:off x="11475187" y="2973451"/>
            <a:ext cx="128699" cy="187198"/>
          </a:xfrm>
          <a:prstGeom prst="rect">
            <a:avLst/>
          </a:prstGeom>
        </p:spPr>
      </p:pic>
      <p:pic>
        <p:nvPicPr>
          <p:cNvPr id="261" name="Picture 260" descr="lock.png"/>
          <p:cNvPicPr>
            <a:picLocks noChangeAspect="1"/>
          </p:cNvPicPr>
          <p:nvPr/>
        </p:nvPicPr>
        <p:blipFill>
          <a:blip r:embed="rId4"/>
          <a:stretch>
            <a:fillRect/>
          </a:stretch>
        </p:blipFill>
        <p:spPr>
          <a:xfrm>
            <a:off x="8160488" y="3202051"/>
            <a:ext cx="128699" cy="187198"/>
          </a:xfrm>
          <a:prstGeom prst="rect">
            <a:avLst/>
          </a:prstGeom>
        </p:spPr>
      </p:pic>
      <p:pic>
        <p:nvPicPr>
          <p:cNvPr id="262" name="Picture 261" descr="lock.png"/>
          <p:cNvPicPr>
            <a:picLocks noChangeAspect="1"/>
          </p:cNvPicPr>
          <p:nvPr/>
        </p:nvPicPr>
        <p:blipFill>
          <a:blip r:embed="rId4"/>
          <a:stretch>
            <a:fillRect/>
          </a:stretch>
        </p:blipFill>
        <p:spPr>
          <a:xfrm>
            <a:off x="8989163" y="3202051"/>
            <a:ext cx="128699" cy="187198"/>
          </a:xfrm>
          <a:prstGeom prst="rect">
            <a:avLst/>
          </a:prstGeom>
        </p:spPr>
      </p:pic>
      <p:pic>
        <p:nvPicPr>
          <p:cNvPr id="263" name="Picture 262" descr="lock.png"/>
          <p:cNvPicPr>
            <a:picLocks noChangeAspect="1"/>
          </p:cNvPicPr>
          <p:nvPr/>
        </p:nvPicPr>
        <p:blipFill>
          <a:blip r:embed="rId4"/>
          <a:stretch>
            <a:fillRect/>
          </a:stretch>
        </p:blipFill>
        <p:spPr>
          <a:xfrm>
            <a:off x="9817838" y="3202051"/>
            <a:ext cx="128699" cy="187198"/>
          </a:xfrm>
          <a:prstGeom prst="rect">
            <a:avLst/>
          </a:prstGeom>
        </p:spPr>
      </p:pic>
      <p:pic>
        <p:nvPicPr>
          <p:cNvPr id="264" name="Picture 263" descr="lock.png"/>
          <p:cNvPicPr>
            <a:picLocks noChangeAspect="1"/>
          </p:cNvPicPr>
          <p:nvPr/>
        </p:nvPicPr>
        <p:blipFill>
          <a:blip r:embed="rId4"/>
          <a:stretch>
            <a:fillRect/>
          </a:stretch>
        </p:blipFill>
        <p:spPr>
          <a:xfrm>
            <a:off x="8160488" y="3478276"/>
            <a:ext cx="128699" cy="187198"/>
          </a:xfrm>
          <a:prstGeom prst="rect">
            <a:avLst/>
          </a:prstGeom>
        </p:spPr>
      </p:pic>
      <p:pic>
        <p:nvPicPr>
          <p:cNvPr id="265" name="Picture 264" descr="lock.png"/>
          <p:cNvPicPr>
            <a:picLocks noChangeAspect="1"/>
          </p:cNvPicPr>
          <p:nvPr/>
        </p:nvPicPr>
        <p:blipFill>
          <a:blip r:embed="rId4"/>
          <a:stretch>
            <a:fillRect/>
          </a:stretch>
        </p:blipFill>
        <p:spPr>
          <a:xfrm>
            <a:off x="8989162" y="3478276"/>
            <a:ext cx="128699" cy="187198"/>
          </a:xfrm>
          <a:prstGeom prst="rect">
            <a:avLst/>
          </a:prstGeom>
        </p:spPr>
      </p:pic>
      <p:pic>
        <p:nvPicPr>
          <p:cNvPr id="266" name="Picture 265" descr="lock.png"/>
          <p:cNvPicPr>
            <a:picLocks noChangeAspect="1"/>
          </p:cNvPicPr>
          <p:nvPr/>
        </p:nvPicPr>
        <p:blipFill>
          <a:blip r:embed="rId4"/>
          <a:stretch>
            <a:fillRect/>
          </a:stretch>
        </p:blipFill>
        <p:spPr>
          <a:xfrm>
            <a:off x="9817838" y="3478276"/>
            <a:ext cx="128699" cy="187198"/>
          </a:xfrm>
          <a:prstGeom prst="rect">
            <a:avLst/>
          </a:prstGeom>
        </p:spPr>
      </p:pic>
      <p:pic>
        <p:nvPicPr>
          <p:cNvPr id="267" name="Picture 266" descr="lock.png"/>
          <p:cNvPicPr>
            <a:picLocks noChangeAspect="1"/>
          </p:cNvPicPr>
          <p:nvPr/>
        </p:nvPicPr>
        <p:blipFill>
          <a:blip r:embed="rId4"/>
          <a:stretch>
            <a:fillRect/>
          </a:stretch>
        </p:blipFill>
        <p:spPr>
          <a:xfrm>
            <a:off x="10646512" y="3478276"/>
            <a:ext cx="128699" cy="187198"/>
          </a:xfrm>
          <a:prstGeom prst="rect">
            <a:avLst/>
          </a:prstGeom>
        </p:spPr>
      </p:pic>
      <p:sp>
        <p:nvSpPr>
          <p:cNvPr id="268" name="TextBox 267"/>
          <p:cNvSpPr txBox="1"/>
          <p:nvPr/>
        </p:nvSpPr>
        <p:spPr>
          <a:xfrm>
            <a:off x="266700" y="1344930"/>
            <a:ext cx="491480" cy="186689"/>
          </a:xfrm>
          <a:prstGeom prst="rect">
            <a:avLst/>
          </a:prstGeom>
          <a:noFill/>
        </p:spPr>
        <p:txBody>
          <a:bodyPr wrap="none" lIns="0" rIns="0" tIns="0" bIns="0">
            <a:spAutoFit/>
          </a:bodyPr>
          <a:lstStyle/>
          <a:p>
            <a:r>
              <a:rPr sz="1100" b="0">
                <a:solidFill>
                  <a:srgbClr val="6B7280"/>
                </a:solidFill>
                <a:latin typeface="Calibri"/>
              </a:rPr>
              <a:t>Market</a:t>
            </a:r>
          </a:p>
        </p:txBody>
      </p:sp>
      <p:pic>
        <p:nvPicPr>
          <p:cNvPr id="269" name="Picture 268" descr="lock.png"/>
          <p:cNvPicPr>
            <a:picLocks noChangeAspect="1"/>
          </p:cNvPicPr>
          <p:nvPr/>
        </p:nvPicPr>
        <p:blipFill>
          <a:blip r:embed="rId4"/>
          <a:stretch>
            <a:fillRect/>
          </a:stretch>
        </p:blipFill>
        <p:spPr>
          <a:xfrm>
            <a:off x="706231" y="1335151"/>
            <a:ext cx="128699" cy="187198"/>
          </a:xfrm>
          <a:prstGeom prst="rect">
            <a:avLst/>
          </a:prstGeom>
        </p:spPr>
      </p:pic>
      <p:sp>
        <p:nvSpPr>
          <p:cNvPr id="270" name="TextBox 269"/>
          <p:cNvSpPr txBox="1"/>
          <p:nvPr/>
        </p:nvSpPr>
        <p:spPr>
          <a:xfrm>
            <a:off x="873727" y="1344930"/>
            <a:ext cx="1290389" cy="186689"/>
          </a:xfrm>
          <a:prstGeom prst="rect">
            <a:avLst/>
          </a:prstGeom>
          <a:noFill/>
        </p:spPr>
        <p:txBody>
          <a:bodyPr wrap="none" lIns="0" rIns="0" tIns="0" bIns="0">
            <a:spAutoFit/>
          </a:bodyPr>
          <a:lstStyle/>
          <a:p>
            <a:r>
              <a:rPr sz="1100" b="0">
                <a:solidFill>
                  <a:srgbClr val="6B7280"/>
                </a:solidFill>
                <a:latin typeface="Calibri"/>
              </a:rPr>
              <a:t>US$ Mn · Tier 1 share</a:t>
            </a:r>
          </a:p>
        </p:txBody>
      </p:sp>
      <p:pic>
        <p:nvPicPr>
          <p:cNvPr id="271" name="Picture 270" descr="lock.png"/>
          <p:cNvPicPr>
            <a:picLocks noChangeAspect="1"/>
          </p:cNvPicPr>
          <p:nvPr/>
        </p:nvPicPr>
        <p:blipFill>
          <a:blip r:embed="rId4"/>
          <a:stretch>
            <a:fillRect/>
          </a:stretch>
        </p:blipFill>
        <p:spPr>
          <a:xfrm>
            <a:off x="2112168" y="1335151"/>
            <a:ext cx="128699" cy="187198"/>
          </a:xfrm>
          <a:prstGeom prst="rect">
            <a:avLst/>
          </a:prstGeom>
        </p:spPr>
      </p:pic>
      <p:sp>
        <p:nvSpPr>
          <p:cNvPr id="272" name="TextBox 271"/>
          <p:cNvSpPr txBox="1"/>
          <p:nvPr/>
        </p:nvSpPr>
        <p:spPr>
          <a:xfrm>
            <a:off x="2279664" y="1344930"/>
            <a:ext cx="202803" cy="186689"/>
          </a:xfrm>
          <a:prstGeom prst="rect">
            <a:avLst/>
          </a:prstGeom>
          <a:noFill/>
        </p:spPr>
        <p:txBody>
          <a:bodyPr wrap="none" lIns="0" rIns="0" tIns="0" bIns="0">
            <a:spAutoFit/>
          </a:bodyPr>
          <a:lstStyle/>
          <a:p>
            <a:r>
              <a:rPr sz="1100" b="0">
                <a:solidFill>
                  <a:srgbClr val="6B7280"/>
                </a:solidFill>
                <a:latin typeface="Calibri"/>
              </a:rPr>
              <a:t>→</a:t>
            </a:r>
          </a:p>
        </p:txBody>
      </p:sp>
      <p:pic>
        <p:nvPicPr>
          <p:cNvPr id="273" name="Picture 272" descr="lock.png"/>
          <p:cNvPicPr>
            <a:picLocks noChangeAspect="1"/>
          </p:cNvPicPr>
          <p:nvPr/>
        </p:nvPicPr>
        <p:blipFill>
          <a:blip r:embed="rId4"/>
          <a:stretch>
            <a:fillRect/>
          </a:stretch>
        </p:blipFill>
        <p:spPr>
          <a:xfrm>
            <a:off x="2430519" y="1335151"/>
            <a:ext cx="128699" cy="187198"/>
          </a:xfrm>
          <a:prstGeom prst="rect">
            <a:avLst/>
          </a:prstGeom>
        </p:spPr>
      </p:pic>
      <p:sp>
        <p:nvSpPr>
          <p:cNvPr id="274" name="TextBox 273"/>
          <p:cNvSpPr txBox="1"/>
          <p:nvPr/>
        </p:nvSpPr>
        <p:spPr>
          <a:xfrm>
            <a:off x="2598014" y="1344930"/>
            <a:ext cx="528315" cy="186689"/>
          </a:xfrm>
          <a:prstGeom prst="rect">
            <a:avLst/>
          </a:prstGeom>
          <a:noFill/>
        </p:spPr>
        <p:txBody>
          <a:bodyPr wrap="none" lIns="0" rIns="0" tIns="0" bIns="0">
            <a:spAutoFit/>
          </a:bodyPr>
          <a:lstStyle/>
          <a:p>
            <a:r>
              <a:rPr sz="1100" b="0">
                <a:solidFill>
                  <a:srgbClr val="6B7280"/>
                </a:solidFill>
                <a:latin typeface="Calibri"/>
              </a:rPr>
              <a:t>by 2036</a:t>
            </a:r>
          </a:p>
        </p:txBody>
      </p:sp>
      <p:pic>
        <p:nvPicPr>
          <p:cNvPr id="275" name="Picture 274" descr="lock.png"/>
          <p:cNvPicPr>
            <a:picLocks noChangeAspect="1"/>
          </p:cNvPicPr>
          <p:nvPr/>
        </p:nvPicPr>
        <p:blipFill>
          <a:blip r:embed="rId4"/>
          <a:stretch>
            <a:fillRect/>
          </a:stretch>
        </p:blipFill>
        <p:spPr>
          <a:xfrm>
            <a:off x="1377182" y="1839976"/>
            <a:ext cx="128699" cy="187198"/>
          </a:xfrm>
          <a:prstGeom prst="rect">
            <a:avLst/>
          </a:prstGeom>
        </p:spPr>
      </p:pic>
      <p:sp>
        <p:nvSpPr>
          <p:cNvPr id="276" name="TextBox 275"/>
          <p:cNvSpPr txBox="1"/>
          <p:nvPr/>
        </p:nvSpPr>
        <p:spPr>
          <a:xfrm>
            <a:off x="1544678" y="1849755"/>
            <a:ext cx="1429543" cy="186689"/>
          </a:xfrm>
          <a:prstGeom prst="rect">
            <a:avLst/>
          </a:prstGeom>
          <a:noFill/>
        </p:spPr>
        <p:txBody>
          <a:bodyPr wrap="none" lIns="0" rIns="0" tIns="0" bIns="0">
            <a:spAutoFit/>
          </a:bodyPr>
          <a:lstStyle/>
          <a:p>
            <a:r>
              <a:rPr sz="1100" b="0">
                <a:solidFill>
                  <a:srgbClr val="FFFFFF"/>
                </a:solidFill>
                <a:latin typeface="Calibri"/>
              </a:rPr>
              <a:t>US$ Mn · 4 players · avg</a:t>
            </a:r>
          </a:p>
        </p:txBody>
      </p:sp>
      <p:pic>
        <p:nvPicPr>
          <p:cNvPr id="277" name="Picture 276" descr="lock.png"/>
          <p:cNvPicPr>
            <a:picLocks noChangeAspect="1"/>
          </p:cNvPicPr>
          <p:nvPr/>
        </p:nvPicPr>
        <p:blipFill>
          <a:blip r:embed="rId4"/>
          <a:stretch>
            <a:fillRect/>
          </a:stretch>
        </p:blipFill>
        <p:spPr>
          <a:xfrm>
            <a:off x="2922273" y="1839976"/>
            <a:ext cx="128699" cy="187198"/>
          </a:xfrm>
          <a:prstGeom prst="rect">
            <a:avLst/>
          </a:prstGeom>
        </p:spPr>
      </p:pic>
      <p:sp>
        <p:nvSpPr>
          <p:cNvPr id="278" name="TextBox 277"/>
          <p:cNvSpPr txBox="1"/>
          <p:nvPr/>
        </p:nvSpPr>
        <p:spPr>
          <a:xfrm>
            <a:off x="3089769" y="1849755"/>
            <a:ext cx="997074" cy="186689"/>
          </a:xfrm>
          <a:prstGeom prst="rect">
            <a:avLst/>
          </a:prstGeom>
          <a:noFill/>
        </p:spPr>
        <p:txBody>
          <a:bodyPr wrap="none" lIns="0" rIns="0" tIns="0" bIns="0">
            <a:spAutoFit/>
          </a:bodyPr>
          <a:lstStyle/>
          <a:p>
            <a:r>
              <a:rPr sz="1100" b="0">
                <a:solidFill>
                  <a:srgbClr val="FFFFFF"/>
                </a:solidFill>
                <a:latin typeface="Calibri"/>
              </a:rPr>
              <a:t>US$ Mn / player</a:t>
            </a:r>
          </a:p>
        </p:txBody>
      </p:sp>
      <p:pic>
        <p:nvPicPr>
          <p:cNvPr id="279" name="Picture 278" descr="lock.png"/>
          <p:cNvPicPr>
            <a:picLocks noChangeAspect="1"/>
          </p:cNvPicPr>
          <p:nvPr/>
        </p:nvPicPr>
        <p:blipFill>
          <a:blip r:embed="rId4"/>
          <a:stretch>
            <a:fillRect/>
          </a:stretch>
        </p:blipFill>
        <p:spPr>
          <a:xfrm>
            <a:off x="1377182" y="2697226"/>
            <a:ext cx="128699" cy="187198"/>
          </a:xfrm>
          <a:prstGeom prst="rect">
            <a:avLst/>
          </a:prstGeom>
        </p:spPr>
      </p:pic>
      <p:sp>
        <p:nvSpPr>
          <p:cNvPr id="280" name="TextBox 279"/>
          <p:cNvSpPr txBox="1"/>
          <p:nvPr/>
        </p:nvSpPr>
        <p:spPr>
          <a:xfrm>
            <a:off x="1544678" y="2707005"/>
            <a:ext cx="1429543" cy="186689"/>
          </a:xfrm>
          <a:prstGeom prst="rect">
            <a:avLst/>
          </a:prstGeom>
          <a:noFill/>
        </p:spPr>
        <p:txBody>
          <a:bodyPr wrap="none" lIns="0" rIns="0" tIns="0" bIns="0">
            <a:spAutoFit/>
          </a:bodyPr>
          <a:lstStyle/>
          <a:p>
            <a:r>
              <a:rPr sz="1100" b="0">
                <a:solidFill>
                  <a:srgbClr val="FFFFFF"/>
                </a:solidFill>
                <a:latin typeface="Calibri"/>
              </a:rPr>
              <a:t>US$ Mn · 2 players · avg</a:t>
            </a:r>
          </a:p>
        </p:txBody>
      </p:sp>
      <p:pic>
        <p:nvPicPr>
          <p:cNvPr id="281" name="Picture 280" descr="lock.png"/>
          <p:cNvPicPr>
            <a:picLocks noChangeAspect="1"/>
          </p:cNvPicPr>
          <p:nvPr/>
        </p:nvPicPr>
        <p:blipFill>
          <a:blip r:embed="rId4"/>
          <a:stretch>
            <a:fillRect/>
          </a:stretch>
        </p:blipFill>
        <p:spPr>
          <a:xfrm>
            <a:off x="2922273" y="2697226"/>
            <a:ext cx="128699" cy="187198"/>
          </a:xfrm>
          <a:prstGeom prst="rect">
            <a:avLst/>
          </a:prstGeom>
        </p:spPr>
      </p:pic>
      <p:sp>
        <p:nvSpPr>
          <p:cNvPr id="282" name="TextBox 281"/>
          <p:cNvSpPr txBox="1"/>
          <p:nvPr/>
        </p:nvSpPr>
        <p:spPr>
          <a:xfrm>
            <a:off x="3089769" y="2707005"/>
            <a:ext cx="997074" cy="186689"/>
          </a:xfrm>
          <a:prstGeom prst="rect">
            <a:avLst/>
          </a:prstGeom>
          <a:noFill/>
        </p:spPr>
        <p:txBody>
          <a:bodyPr wrap="none" lIns="0" rIns="0" tIns="0" bIns="0">
            <a:spAutoFit/>
          </a:bodyPr>
          <a:lstStyle/>
          <a:p>
            <a:r>
              <a:rPr sz="1100" b="0">
                <a:solidFill>
                  <a:srgbClr val="FFFFFF"/>
                </a:solidFill>
                <a:latin typeface="Calibri"/>
              </a:rPr>
              <a:t>US$ Mn / player</a:t>
            </a:r>
          </a:p>
        </p:txBody>
      </p:sp>
      <p:pic>
        <p:nvPicPr>
          <p:cNvPr id="283" name="Picture 282" descr="lock.png"/>
          <p:cNvPicPr>
            <a:picLocks noChangeAspect="1"/>
          </p:cNvPicPr>
          <p:nvPr/>
        </p:nvPicPr>
        <p:blipFill>
          <a:blip r:embed="rId4"/>
          <a:stretch>
            <a:fillRect/>
          </a:stretch>
        </p:blipFill>
        <p:spPr>
          <a:xfrm>
            <a:off x="1377182" y="3554476"/>
            <a:ext cx="128699" cy="187198"/>
          </a:xfrm>
          <a:prstGeom prst="rect">
            <a:avLst/>
          </a:prstGeom>
        </p:spPr>
      </p:pic>
      <p:sp>
        <p:nvSpPr>
          <p:cNvPr id="284" name="TextBox 283"/>
          <p:cNvSpPr txBox="1"/>
          <p:nvPr/>
        </p:nvSpPr>
        <p:spPr>
          <a:xfrm>
            <a:off x="1544678" y="3564255"/>
            <a:ext cx="1429543" cy="186689"/>
          </a:xfrm>
          <a:prstGeom prst="rect">
            <a:avLst/>
          </a:prstGeom>
          <a:noFill/>
        </p:spPr>
        <p:txBody>
          <a:bodyPr wrap="none" lIns="0" rIns="0" tIns="0" bIns="0">
            <a:spAutoFit/>
          </a:bodyPr>
          <a:lstStyle/>
          <a:p>
            <a:r>
              <a:rPr sz="1100" b="0">
                <a:solidFill>
                  <a:srgbClr val="FFFFFF"/>
                </a:solidFill>
                <a:latin typeface="Calibri"/>
              </a:rPr>
              <a:t>US$ Mn · 4 players · avg</a:t>
            </a:r>
          </a:p>
        </p:txBody>
      </p:sp>
      <p:pic>
        <p:nvPicPr>
          <p:cNvPr id="285" name="Picture 284" descr="lock.png"/>
          <p:cNvPicPr>
            <a:picLocks noChangeAspect="1"/>
          </p:cNvPicPr>
          <p:nvPr/>
        </p:nvPicPr>
        <p:blipFill>
          <a:blip r:embed="rId4"/>
          <a:stretch>
            <a:fillRect/>
          </a:stretch>
        </p:blipFill>
        <p:spPr>
          <a:xfrm>
            <a:off x="2922273" y="3554476"/>
            <a:ext cx="128699" cy="187198"/>
          </a:xfrm>
          <a:prstGeom prst="rect">
            <a:avLst/>
          </a:prstGeom>
        </p:spPr>
      </p:pic>
      <p:sp>
        <p:nvSpPr>
          <p:cNvPr id="286" name="TextBox 285"/>
          <p:cNvSpPr txBox="1"/>
          <p:nvPr/>
        </p:nvSpPr>
        <p:spPr>
          <a:xfrm>
            <a:off x="3089769" y="3564255"/>
            <a:ext cx="997074" cy="186689"/>
          </a:xfrm>
          <a:prstGeom prst="rect">
            <a:avLst/>
          </a:prstGeom>
          <a:noFill/>
        </p:spPr>
        <p:txBody>
          <a:bodyPr wrap="none" lIns="0" rIns="0" tIns="0" bIns="0">
            <a:spAutoFit/>
          </a:bodyPr>
          <a:lstStyle/>
          <a:p>
            <a:r>
              <a:rPr sz="1100" b="0">
                <a:solidFill>
                  <a:srgbClr val="FFFFFF"/>
                </a:solidFill>
                <a:latin typeface="Calibri"/>
              </a:rPr>
              <a:t>US$ Mn / player</a:t>
            </a:r>
          </a:p>
        </p:txBody>
      </p:sp>
      <p:pic>
        <p:nvPicPr>
          <p:cNvPr id="287" name="Picture 286" descr="lock.png"/>
          <p:cNvPicPr>
            <a:picLocks noChangeAspect="1"/>
          </p:cNvPicPr>
          <p:nvPr/>
        </p:nvPicPr>
        <p:blipFill>
          <a:blip r:embed="rId4"/>
          <a:stretch>
            <a:fillRect/>
          </a:stretch>
        </p:blipFill>
        <p:spPr>
          <a:xfrm>
            <a:off x="1377182" y="4411726"/>
            <a:ext cx="128699" cy="187198"/>
          </a:xfrm>
          <a:prstGeom prst="rect">
            <a:avLst/>
          </a:prstGeom>
        </p:spPr>
      </p:pic>
      <p:sp>
        <p:nvSpPr>
          <p:cNvPr id="288" name="TextBox 287"/>
          <p:cNvSpPr txBox="1"/>
          <p:nvPr/>
        </p:nvSpPr>
        <p:spPr>
          <a:xfrm>
            <a:off x="1544678" y="4421505"/>
            <a:ext cx="1247006" cy="186689"/>
          </a:xfrm>
          <a:prstGeom prst="rect">
            <a:avLst/>
          </a:prstGeom>
          <a:noFill/>
        </p:spPr>
        <p:txBody>
          <a:bodyPr wrap="none" lIns="0" rIns="0" tIns="0" bIns="0">
            <a:spAutoFit/>
          </a:bodyPr>
          <a:lstStyle/>
          <a:p>
            <a:r>
              <a:rPr sz="1100" b="0">
                <a:solidFill>
                  <a:srgbClr val="14213D"/>
                </a:solidFill>
                <a:latin typeface="Calibri"/>
              </a:rPr>
              <a:t>US$ Mn · – · long tail</a:t>
            </a:r>
          </a:p>
        </p:txBody>
      </p:sp>
      <p:sp>
        <p:nvSpPr>
          <p:cNvPr id="289" name="TextBox 288"/>
          <p:cNvSpPr txBox="1"/>
          <p:nvPr/>
        </p:nvSpPr>
        <p:spPr>
          <a:xfrm>
            <a:off x="1241169" y="5802630"/>
            <a:ext cx="493662" cy="186689"/>
          </a:xfrm>
          <a:prstGeom prst="rect">
            <a:avLst/>
          </a:prstGeom>
          <a:noFill/>
        </p:spPr>
        <p:txBody>
          <a:bodyPr wrap="none" lIns="0" rIns="0" tIns="0" bIns="0">
            <a:spAutoFit/>
          </a:bodyPr>
          <a:lstStyle/>
          <a:p>
            <a:r>
              <a:rPr sz="1100" b="1">
                <a:solidFill>
                  <a:srgbClr val="2E7D32"/>
                </a:solidFill>
                <a:latin typeface="Calibri"/>
              </a:rPr>
              <a:t>▲</a:t>
            </a:r>
            <a:r>
              <a:rPr sz="1100" b="1">
                <a:solidFill>
                  <a:srgbClr val="14213D"/>
                </a:solidFill>
                <a:latin typeface="Calibri"/>
              </a:rPr>
              <a:t> HHI =</a:t>
            </a:r>
          </a:p>
        </p:txBody>
      </p:sp>
      <p:pic>
        <p:nvPicPr>
          <p:cNvPr id="290" name="Picture 289" descr="lock.png"/>
          <p:cNvPicPr>
            <a:picLocks noChangeAspect="1"/>
          </p:cNvPicPr>
          <p:nvPr/>
        </p:nvPicPr>
        <p:blipFill>
          <a:blip r:embed="rId4"/>
          <a:stretch>
            <a:fillRect/>
          </a:stretch>
        </p:blipFill>
        <p:spPr>
          <a:xfrm>
            <a:off x="1682883" y="5792851"/>
            <a:ext cx="128699" cy="187198"/>
          </a:xfrm>
          <a:prstGeom prst="rect">
            <a:avLst/>
          </a:prstGeom>
        </p:spPr>
      </p:pic>
      <p:sp>
        <p:nvSpPr>
          <p:cNvPr id="291" name="TextBox 290"/>
          <p:cNvSpPr txBox="1"/>
          <p:nvPr/>
        </p:nvSpPr>
        <p:spPr>
          <a:xfrm>
            <a:off x="876202" y="6107430"/>
            <a:ext cx="400893" cy="186689"/>
          </a:xfrm>
          <a:prstGeom prst="rect">
            <a:avLst/>
          </a:prstGeom>
          <a:noFill/>
        </p:spPr>
        <p:txBody>
          <a:bodyPr wrap="none" lIns="0" rIns="0" tIns="0" bIns="0">
            <a:spAutoFit/>
          </a:bodyPr>
          <a:lstStyle/>
          <a:p>
            <a:r>
              <a:rPr sz="1100" b="1">
                <a:solidFill>
                  <a:srgbClr val="14213D"/>
                </a:solidFill>
                <a:latin typeface="Calibri"/>
              </a:rPr>
              <a:t>CR4 =</a:t>
            </a:r>
          </a:p>
        </p:txBody>
      </p:sp>
      <p:pic>
        <p:nvPicPr>
          <p:cNvPr id="292" name="Picture 291" descr="lock.png"/>
          <p:cNvPicPr>
            <a:picLocks noChangeAspect="1"/>
          </p:cNvPicPr>
          <p:nvPr/>
        </p:nvPicPr>
        <p:blipFill>
          <a:blip r:embed="rId4"/>
          <a:stretch>
            <a:fillRect/>
          </a:stretch>
        </p:blipFill>
        <p:spPr>
          <a:xfrm>
            <a:off x="1225147" y="6097651"/>
            <a:ext cx="128699" cy="187198"/>
          </a:xfrm>
          <a:prstGeom prst="rect">
            <a:avLst/>
          </a:prstGeom>
        </p:spPr>
      </p:pic>
      <p:sp>
        <p:nvSpPr>
          <p:cNvPr id="293" name="TextBox 292"/>
          <p:cNvSpPr txBox="1"/>
          <p:nvPr/>
        </p:nvSpPr>
        <p:spPr>
          <a:xfrm>
            <a:off x="1392643" y="6107430"/>
            <a:ext cx="1068288" cy="186689"/>
          </a:xfrm>
          <a:prstGeom prst="rect">
            <a:avLst/>
          </a:prstGeom>
          <a:noFill/>
        </p:spPr>
        <p:txBody>
          <a:bodyPr wrap="none" lIns="0" rIns="0" tIns="0" bIns="0">
            <a:spAutoFit/>
          </a:bodyPr>
          <a:lstStyle/>
          <a:p>
            <a:r>
              <a:rPr sz="1100" b="1">
                <a:solidFill>
                  <a:srgbClr val="14213D"/>
                </a:solidFill>
                <a:latin typeface="Calibri"/>
              </a:rPr>
              <a:t>· Tier 1 : Others =</a:t>
            </a:r>
          </a:p>
        </p:txBody>
      </p:sp>
      <p:pic>
        <p:nvPicPr>
          <p:cNvPr id="294" name="Picture 293" descr="lock.png"/>
          <p:cNvPicPr>
            <a:picLocks noChangeAspect="1"/>
          </p:cNvPicPr>
          <p:nvPr/>
        </p:nvPicPr>
        <p:blipFill>
          <a:blip r:embed="rId4"/>
          <a:stretch>
            <a:fillRect/>
          </a:stretch>
        </p:blipFill>
        <p:spPr>
          <a:xfrm>
            <a:off x="2408983" y="6097651"/>
            <a:ext cx="128699" cy="187198"/>
          </a:xfrm>
          <a:prstGeom prst="rect">
            <a:avLst/>
          </a:prstGeom>
        </p:spPr>
      </p:pic>
      <p:sp>
        <p:nvSpPr>
          <p:cNvPr id="295" name="TextBox 294"/>
          <p:cNvSpPr txBox="1"/>
          <p:nvPr/>
        </p:nvSpPr>
        <p:spPr>
          <a:xfrm>
            <a:off x="2576478" y="6107430"/>
            <a:ext cx="1397620" cy="186689"/>
          </a:xfrm>
          <a:prstGeom prst="rect">
            <a:avLst/>
          </a:prstGeom>
          <a:noFill/>
        </p:spPr>
        <p:txBody>
          <a:bodyPr wrap="none" lIns="0" rIns="0" tIns="0" bIns="0">
            <a:spAutoFit/>
          </a:bodyPr>
          <a:lstStyle/>
          <a:p>
            <a:r>
              <a:rPr sz="1100" b="1">
                <a:solidFill>
                  <a:srgbClr val="14213D"/>
                </a:solidFill>
                <a:latin typeface="Calibri"/>
              </a:rPr>
              <a:t>: 1 · Top-player share =</a:t>
            </a:r>
          </a:p>
        </p:txBody>
      </p:sp>
      <p:pic>
        <p:nvPicPr>
          <p:cNvPr id="296" name="Picture 295" descr="lock.png"/>
          <p:cNvPicPr>
            <a:picLocks noChangeAspect="1"/>
          </p:cNvPicPr>
          <p:nvPr/>
        </p:nvPicPr>
        <p:blipFill>
          <a:blip r:embed="rId4"/>
          <a:stretch>
            <a:fillRect/>
          </a:stretch>
        </p:blipFill>
        <p:spPr>
          <a:xfrm>
            <a:off x="3922150" y="6097651"/>
            <a:ext cx="128699" cy="187198"/>
          </a:xfrm>
          <a:prstGeom prst="rect">
            <a:avLst/>
          </a:prstGeom>
        </p:spPr>
      </p:pic>
      <p:sp>
        <p:nvSpPr>
          <p:cNvPr id="297" name="TextBox 296"/>
          <p:cNvSpPr txBox="1"/>
          <p:nvPr/>
        </p:nvSpPr>
        <p:spPr>
          <a:xfrm>
            <a:off x="4089646" y="6107430"/>
            <a:ext cx="1206351" cy="186689"/>
          </a:xfrm>
          <a:prstGeom prst="rect">
            <a:avLst/>
          </a:prstGeom>
          <a:noFill/>
        </p:spPr>
        <p:txBody>
          <a:bodyPr wrap="none" lIns="0" rIns="0" tIns="0" bIns="0">
            <a:spAutoFit/>
          </a:bodyPr>
          <a:lstStyle/>
          <a:p>
            <a:r>
              <a:rPr sz="1100" b="1">
                <a:solidFill>
                  <a:srgbClr val="14213D"/>
                </a:solidFill>
                <a:latin typeface="Calibri"/>
              </a:rPr>
              <a:t>· Class: Fragmented</a:t>
            </a:r>
          </a:p>
        </p:txBody>
      </p:sp>
      <p:sp>
        <p:nvSpPr>
          <p:cNvPr id="298" name="TextBox 297"/>
          <p:cNvSpPr txBox="1"/>
          <p:nvPr/>
        </p:nvSpPr>
        <p:spPr>
          <a:xfrm>
            <a:off x="6372225" y="5476875"/>
            <a:ext cx="471561" cy="186689"/>
          </a:xfrm>
          <a:prstGeom prst="rect">
            <a:avLst/>
          </a:prstGeom>
          <a:noFill/>
        </p:spPr>
        <p:txBody>
          <a:bodyPr wrap="none" lIns="0" rIns="0" tIns="0" bIns="0">
            <a:spAutoFit/>
          </a:bodyPr>
          <a:lstStyle/>
          <a:p>
            <a:r>
              <a:rPr sz="1100" b="0">
                <a:solidFill>
                  <a:srgbClr val="14213D"/>
                </a:solidFill>
                <a:latin typeface="Calibri"/>
              </a:rPr>
              <a:t>Tier 1 (</a:t>
            </a:r>
          </a:p>
        </p:txBody>
      </p:sp>
      <p:pic>
        <p:nvPicPr>
          <p:cNvPr id="299" name="Picture 298" descr="lock.png"/>
          <p:cNvPicPr>
            <a:picLocks noChangeAspect="1"/>
          </p:cNvPicPr>
          <p:nvPr/>
        </p:nvPicPr>
        <p:blipFill>
          <a:blip r:embed="rId4"/>
          <a:stretch>
            <a:fillRect/>
          </a:stretch>
        </p:blipFill>
        <p:spPr>
          <a:xfrm>
            <a:off x="6791838" y="5467095"/>
            <a:ext cx="128699" cy="187198"/>
          </a:xfrm>
          <a:prstGeom prst="rect">
            <a:avLst/>
          </a:prstGeom>
        </p:spPr>
      </p:pic>
      <p:sp>
        <p:nvSpPr>
          <p:cNvPr id="300" name="TextBox 299"/>
          <p:cNvSpPr txBox="1"/>
          <p:nvPr/>
        </p:nvSpPr>
        <p:spPr>
          <a:xfrm>
            <a:off x="6959334" y="5476875"/>
            <a:ext cx="2550145" cy="186689"/>
          </a:xfrm>
          <a:prstGeom prst="rect">
            <a:avLst/>
          </a:prstGeom>
          <a:noFill/>
        </p:spPr>
        <p:txBody>
          <a:bodyPr wrap="none" lIns="0" rIns="0" tIns="0" bIns="0">
            <a:spAutoFit/>
          </a:bodyPr>
          <a:lstStyle/>
          <a:p>
            <a:r>
              <a:rPr sz="1100" b="0">
                <a:solidFill>
                  <a:srgbClr val="14213D"/>
                </a:solidFill>
                <a:latin typeface="Calibri"/>
              </a:rPr>
              <a:t>) holds the largest single block of value on a</a:t>
            </a:r>
          </a:p>
        </p:txBody>
      </p:sp>
      <p:pic>
        <p:nvPicPr>
          <p:cNvPr id="301" name="Picture 300" descr="lock.png"/>
          <p:cNvPicPr>
            <a:picLocks noChangeAspect="1"/>
          </p:cNvPicPr>
          <p:nvPr/>
        </p:nvPicPr>
        <p:blipFill>
          <a:blip r:embed="rId4"/>
          <a:stretch>
            <a:fillRect/>
          </a:stretch>
        </p:blipFill>
        <p:spPr>
          <a:xfrm>
            <a:off x="9457531" y="5467095"/>
            <a:ext cx="128699" cy="187198"/>
          </a:xfrm>
          <a:prstGeom prst="rect">
            <a:avLst/>
          </a:prstGeom>
        </p:spPr>
      </p:pic>
      <p:sp>
        <p:nvSpPr>
          <p:cNvPr id="302" name="TextBox 301"/>
          <p:cNvSpPr txBox="1"/>
          <p:nvPr/>
        </p:nvSpPr>
        <p:spPr>
          <a:xfrm>
            <a:off x="9625026" y="5476875"/>
            <a:ext cx="1259830" cy="186689"/>
          </a:xfrm>
          <a:prstGeom prst="rect">
            <a:avLst/>
          </a:prstGeom>
          <a:noFill/>
        </p:spPr>
        <p:txBody>
          <a:bodyPr wrap="none" lIns="0" rIns="0" tIns="0" bIns="0">
            <a:spAutoFit/>
          </a:bodyPr>
          <a:lstStyle/>
          <a:p>
            <a:r>
              <a:rPr sz="1100" b="0">
                <a:solidFill>
                  <a:srgbClr val="14213D"/>
                </a:solidFill>
                <a:latin typeface="Calibri"/>
              </a:rPr>
              <a:t>US$ Mn base; CR4 of</a:t>
            </a:r>
          </a:p>
        </p:txBody>
      </p:sp>
      <p:pic>
        <p:nvPicPr>
          <p:cNvPr id="303" name="Picture 302" descr="lock.png"/>
          <p:cNvPicPr>
            <a:picLocks noChangeAspect="1"/>
          </p:cNvPicPr>
          <p:nvPr/>
        </p:nvPicPr>
        <p:blipFill>
          <a:blip r:embed="rId4"/>
          <a:stretch>
            <a:fillRect/>
          </a:stretch>
        </p:blipFill>
        <p:spPr>
          <a:xfrm>
            <a:off x="10832908" y="5467095"/>
            <a:ext cx="128699" cy="187198"/>
          </a:xfrm>
          <a:prstGeom prst="rect">
            <a:avLst/>
          </a:prstGeom>
        </p:spPr>
      </p:pic>
      <p:sp>
        <p:nvSpPr>
          <p:cNvPr id="304" name="TextBox 303"/>
          <p:cNvSpPr txBox="1"/>
          <p:nvPr/>
        </p:nvSpPr>
        <p:spPr>
          <a:xfrm>
            <a:off x="11000404" y="5476875"/>
            <a:ext cx="678656" cy="186689"/>
          </a:xfrm>
          <a:prstGeom prst="rect">
            <a:avLst/>
          </a:prstGeom>
          <a:noFill/>
        </p:spPr>
        <p:txBody>
          <a:bodyPr wrap="none" lIns="0" rIns="0" tIns="0" bIns="0">
            <a:spAutoFit/>
          </a:bodyPr>
          <a:lstStyle/>
          <a:p>
            <a:r>
              <a:rPr sz="1100" b="0">
                <a:solidFill>
                  <a:srgbClr val="14213D"/>
                </a:solidFill>
                <a:latin typeface="Calibri"/>
              </a:rPr>
              <a:t>and HHI of</a:t>
            </a:r>
          </a:p>
        </p:txBody>
      </p:sp>
      <p:pic>
        <p:nvPicPr>
          <p:cNvPr id="305" name="Picture 304" descr="lock.png"/>
          <p:cNvPicPr>
            <a:picLocks noChangeAspect="1"/>
          </p:cNvPicPr>
          <p:nvPr/>
        </p:nvPicPr>
        <p:blipFill>
          <a:blip r:embed="rId4"/>
          <a:stretch>
            <a:fillRect/>
          </a:stretch>
        </p:blipFill>
        <p:spPr>
          <a:xfrm>
            <a:off x="6358757" y="5634735"/>
            <a:ext cx="128699" cy="187198"/>
          </a:xfrm>
          <a:prstGeom prst="rect">
            <a:avLst/>
          </a:prstGeom>
        </p:spPr>
      </p:pic>
      <p:sp>
        <p:nvSpPr>
          <p:cNvPr id="306" name="TextBox 305"/>
          <p:cNvSpPr txBox="1"/>
          <p:nvPr/>
        </p:nvSpPr>
        <p:spPr>
          <a:xfrm>
            <a:off x="6526253" y="5644515"/>
            <a:ext cx="2030635" cy="186689"/>
          </a:xfrm>
          <a:prstGeom prst="rect">
            <a:avLst/>
          </a:prstGeom>
          <a:noFill/>
        </p:spPr>
        <p:txBody>
          <a:bodyPr wrap="none" lIns="0" rIns="0" tIns="0" bIns="0">
            <a:spAutoFit/>
          </a:bodyPr>
          <a:lstStyle/>
          <a:p>
            <a:r>
              <a:rPr sz="1100" b="0">
                <a:solidFill>
                  <a:srgbClr val="14213D"/>
                </a:solidFill>
                <a:latin typeface="Calibri"/>
              </a:rPr>
              <a:t>classify the market as fragmented.</a:t>
            </a:r>
          </a:p>
        </p:txBody>
      </p:sp>
      <p:sp>
        <p:nvSpPr>
          <p:cNvPr id="307" name="TextBox 306"/>
          <p:cNvSpPr txBox="1"/>
          <p:nvPr/>
        </p:nvSpPr>
        <p:spPr>
          <a:xfrm>
            <a:off x="6372225" y="5857875"/>
            <a:ext cx="1331044" cy="186689"/>
          </a:xfrm>
          <a:prstGeom prst="rect">
            <a:avLst/>
          </a:prstGeom>
          <a:noFill/>
        </p:spPr>
        <p:txBody>
          <a:bodyPr wrap="none" lIns="0" rIns="0" tIns="0" bIns="0">
            <a:spAutoFit/>
          </a:bodyPr>
          <a:lstStyle/>
          <a:p>
            <a:r>
              <a:rPr sz="1100" b="0">
                <a:solidFill>
                  <a:srgbClr val="14213D"/>
                </a:solidFill>
                <a:latin typeface="Calibri"/>
              </a:rPr>
              <a:t>Tier 2 grows fastest at</a:t>
            </a:r>
          </a:p>
        </p:txBody>
      </p:sp>
      <p:pic>
        <p:nvPicPr>
          <p:cNvPr id="308" name="Picture 307" descr="lock.png"/>
          <p:cNvPicPr>
            <a:picLocks noChangeAspect="1"/>
          </p:cNvPicPr>
          <p:nvPr/>
        </p:nvPicPr>
        <p:blipFill>
          <a:blip r:embed="rId4"/>
          <a:stretch>
            <a:fillRect/>
          </a:stretch>
        </p:blipFill>
        <p:spPr>
          <a:xfrm>
            <a:off x="7651320" y="5848095"/>
            <a:ext cx="128699" cy="187198"/>
          </a:xfrm>
          <a:prstGeom prst="rect">
            <a:avLst/>
          </a:prstGeom>
        </p:spPr>
      </p:pic>
      <p:sp>
        <p:nvSpPr>
          <p:cNvPr id="309" name="TextBox 308"/>
          <p:cNvSpPr txBox="1"/>
          <p:nvPr/>
        </p:nvSpPr>
        <p:spPr>
          <a:xfrm>
            <a:off x="7818816" y="5857875"/>
            <a:ext cx="982868" cy="186689"/>
          </a:xfrm>
          <a:prstGeom prst="rect">
            <a:avLst/>
          </a:prstGeom>
          <a:noFill/>
        </p:spPr>
        <p:txBody>
          <a:bodyPr wrap="none" lIns="0" rIns="0" tIns="0" bIns="0">
            <a:spAutoFit/>
          </a:bodyPr>
          <a:lstStyle/>
          <a:p>
            <a:r>
              <a:rPr sz="1100" b="0">
                <a:solidFill>
                  <a:srgbClr val="14213D"/>
                </a:solidFill>
                <a:latin typeface="Calibri"/>
              </a:rPr>
              <a:t>CAGR, moving +</a:t>
            </a:r>
          </a:p>
        </p:txBody>
      </p:sp>
      <p:pic>
        <p:nvPicPr>
          <p:cNvPr id="310" name="Picture 309" descr="lock.png"/>
          <p:cNvPicPr>
            <a:picLocks noChangeAspect="1"/>
          </p:cNvPicPr>
          <p:nvPr/>
        </p:nvPicPr>
        <p:blipFill>
          <a:blip r:embed="rId4"/>
          <a:stretch>
            <a:fillRect/>
          </a:stretch>
        </p:blipFill>
        <p:spPr>
          <a:xfrm>
            <a:off x="8749737" y="5848095"/>
            <a:ext cx="128699" cy="187198"/>
          </a:xfrm>
          <a:prstGeom prst="rect">
            <a:avLst/>
          </a:prstGeom>
        </p:spPr>
      </p:pic>
      <p:sp>
        <p:nvSpPr>
          <p:cNvPr id="311" name="TextBox 310"/>
          <p:cNvSpPr txBox="1"/>
          <p:nvPr/>
        </p:nvSpPr>
        <p:spPr>
          <a:xfrm>
            <a:off x="8917232" y="5857875"/>
            <a:ext cx="1234727" cy="186689"/>
          </a:xfrm>
          <a:prstGeom prst="rect">
            <a:avLst/>
          </a:prstGeom>
          <a:noFill/>
        </p:spPr>
        <p:txBody>
          <a:bodyPr wrap="none" lIns="0" rIns="0" tIns="0" bIns="0">
            <a:spAutoFit/>
          </a:bodyPr>
          <a:lstStyle/>
          <a:p>
            <a:r>
              <a:rPr sz="1100" b="0">
                <a:solidFill>
                  <a:srgbClr val="14213D"/>
                </a:solidFill>
                <a:latin typeface="Calibri"/>
              </a:rPr>
              <a:t>pp of share by 2036.</a:t>
            </a:r>
          </a:p>
        </p:txBody>
      </p:sp>
      <p:sp>
        <p:nvSpPr>
          <p:cNvPr id="312" name="TextBox 311"/>
          <p:cNvSpPr txBox="1"/>
          <p:nvPr/>
        </p:nvSpPr>
        <p:spPr>
          <a:xfrm>
            <a:off x="6372225" y="6076950"/>
            <a:ext cx="2161604" cy="186689"/>
          </a:xfrm>
          <a:prstGeom prst="rect">
            <a:avLst/>
          </a:prstGeom>
          <a:noFill/>
        </p:spPr>
        <p:txBody>
          <a:bodyPr wrap="none" lIns="0" rIns="0" tIns="0" bIns="0">
            <a:spAutoFit/>
          </a:bodyPr>
          <a:lstStyle/>
          <a:p>
            <a:r>
              <a:rPr sz="1100" b="0">
                <a:solidFill>
                  <a:srgbClr val="14213D"/>
                </a:solidFill>
                <a:latin typeface="Calibri"/>
              </a:rPr>
              <a:t>Tier 3 and the long tail together hold</a:t>
            </a:r>
          </a:p>
        </p:txBody>
      </p:sp>
      <p:pic>
        <p:nvPicPr>
          <p:cNvPr id="313" name="Picture 312" descr="lock.png"/>
          <p:cNvPicPr>
            <a:picLocks noChangeAspect="1"/>
          </p:cNvPicPr>
          <p:nvPr/>
        </p:nvPicPr>
        <p:blipFill>
          <a:blip r:embed="rId4"/>
          <a:stretch>
            <a:fillRect/>
          </a:stretch>
        </p:blipFill>
        <p:spPr>
          <a:xfrm>
            <a:off x="8481881" y="6067170"/>
            <a:ext cx="128699" cy="187198"/>
          </a:xfrm>
          <a:prstGeom prst="rect">
            <a:avLst/>
          </a:prstGeom>
        </p:spPr>
      </p:pic>
      <p:sp>
        <p:nvSpPr>
          <p:cNvPr id="314" name="TextBox 313"/>
          <p:cNvSpPr txBox="1"/>
          <p:nvPr/>
        </p:nvSpPr>
        <p:spPr>
          <a:xfrm>
            <a:off x="8649376" y="6076950"/>
            <a:ext cx="2127498" cy="186689"/>
          </a:xfrm>
          <a:prstGeom prst="rect">
            <a:avLst/>
          </a:prstGeom>
          <a:noFill/>
        </p:spPr>
        <p:txBody>
          <a:bodyPr wrap="none" lIns="0" rIns="0" tIns="0" bIns="0">
            <a:spAutoFit/>
          </a:bodyPr>
          <a:lstStyle/>
          <a:p>
            <a:r>
              <a:rPr sz="1100" b="0">
                <a:solidFill>
                  <a:srgbClr val="14213D"/>
                </a:solidFill>
                <a:latin typeface="Calibri"/>
              </a:rPr>
              <a:t>of value; the average Tier 3 player is</a:t>
            </a:r>
          </a:p>
        </p:txBody>
      </p:sp>
      <p:pic>
        <p:nvPicPr>
          <p:cNvPr id="315" name="Picture 314" descr="lock.png"/>
          <p:cNvPicPr>
            <a:picLocks noChangeAspect="1"/>
          </p:cNvPicPr>
          <p:nvPr/>
        </p:nvPicPr>
        <p:blipFill>
          <a:blip r:embed="rId4"/>
          <a:stretch>
            <a:fillRect/>
          </a:stretch>
        </p:blipFill>
        <p:spPr>
          <a:xfrm>
            <a:off x="10724926" y="6067170"/>
            <a:ext cx="128699" cy="187198"/>
          </a:xfrm>
          <a:prstGeom prst="rect">
            <a:avLst/>
          </a:prstGeom>
        </p:spPr>
      </p:pic>
      <p:sp>
        <p:nvSpPr>
          <p:cNvPr id="316" name="TextBox 315"/>
          <p:cNvSpPr txBox="1"/>
          <p:nvPr/>
        </p:nvSpPr>
        <p:spPr>
          <a:xfrm>
            <a:off x="10892422" y="6076950"/>
            <a:ext cx="876473" cy="186689"/>
          </a:xfrm>
          <a:prstGeom prst="rect">
            <a:avLst/>
          </a:prstGeom>
          <a:noFill/>
        </p:spPr>
        <p:txBody>
          <a:bodyPr wrap="none" lIns="0" rIns="0" tIns="0" bIns="0">
            <a:spAutoFit/>
          </a:bodyPr>
          <a:lstStyle/>
          <a:p>
            <a:r>
              <a:rPr sz="1100" b="0">
                <a:solidFill>
                  <a:srgbClr val="14213D"/>
                </a:solidFill>
                <a:latin typeface="Calibri"/>
              </a:rPr>
              <a:t>x smaller than</a:t>
            </a:r>
          </a:p>
        </p:txBody>
      </p:sp>
      <p:sp>
        <p:nvSpPr>
          <p:cNvPr id="317" name="TextBox 316"/>
          <p:cNvSpPr txBox="1"/>
          <p:nvPr/>
        </p:nvSpPr>
        <p:spPr>
          <a:xfrm>
            <a:off x="6372225" y="6244590"/>
            <a:ext cx="1020539" cy="186689"/>
          </a:xfrm>
          <a:prstGeom prst="rect">
            <a:avLst/>
          </a:prstGeom>
          <a:noFill/>
        </p:spPr>
        <p:txBody>
          <a:bodyPr wrap="none" lIns="0" rIns="0" tIns="0" bIns="0">
            <a:spAutoFit/>
          </a:bodyPr>
          <a:lstStyle/>
          <a:p>
            <a:r>
              <a:rPr sz="1100" b="0">
                <a:solidFill>
                  <a:srgbClr val="14213D"/>
                </a:solidFill>
                <a:latin typeface="Calibri"/>
              </a:rPr>
              <a:t>a Tier 1 supplier.</a:t>
            </a:r>
          </a:p>
        </p:txBody>
      </p:sp>
    </p:spTree>
  </p:cSld>
  <p:clrMapOvr>
    <a:masterClrMapping/>
  </p:clrMapOvr>
</p:sld>
</file>

<file path=ppt/slides/slide2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Industry Structure Landscape – Egg Protein Membrane Market, Global 2026 (2/2)</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Tier ladder, market concentration and tier profile, and the structural shift 2026→2036 shaping the tier structure</a:t>
            </a:r>
          </a:p>
        </p:txBody>
      </p:sp>
      <p:sp>
        <p:nvSpPr>
          <p:cNvPr id="7" name="Rounded Rectangle 6"/>
          <p:cNvSpPr/>
          <p:nvPr/>
        </p:nvSpPr>
        <p:spPr>
          <a:xfrm>
            <a:off x="142875" y="1047750"/>
            <a:ext cx="11906250" cy="2381250"/>
          </a:xfrm>
          <a:prstGeom prst="roundRect">
            <a:avLst>
              <a:gd name="adj" fmla="val 640"/>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104900"/>
            <a:ext cx="11715750" cy="209550"/>
          </a:xfrm>
          <a:prstGeom prst="rect">
            <a:avLst/>
          </a:prstGeom>
          <a:noFill/>
        </p:spPr>
        <p:txBody>
          <a:bodyPr wrap="square" lIns="28575" rIns="28575" tIns="9525" bIns="9525" anchor="ctr">
            <a:spAutoFit/>
          </a:bodyPr>
          <a:lstStyle/>
          <a:p>
            <a:pPr algn="l"/>
            <a:r>
              <a:rPr sz="1200" b="1">
                <a:solidFill>
                  <a:srgbClr val="2E2E2E"/>
                </a:solidFill>
                <a:latin typeface="Calibri"/>
              </a:rPr>
              <a:t>Structural Shift, 2026 → 2036 – Tier Migration and Entry / Exit</a:t>
            </a:r>
          </a:p>
        </p:txBody>
      </p:sp>
      <p:sp>
        <p:nvSpPr>
          <p:cNvPr id="9" name="Rounded Rectangle 8"/>
          <p:cNvSpPr/>
          <p:nvPr/>
        </p:nvSpPr>
        <p:spPr>
          <a:xfrm>
            <a:off x="257175" y="1390650"/>
            <a:ext cx="1905000" cy="876300"/>
          </a:xfrm>
          <a:prstGeom prst="roundRect">
            <a:avLst>
              <a:gd name="adj" fmla="val 4000"/>
            </a:avLst>
          </a:prstGeom>
          <a:solidFill>
            <a:srgbClr val="1F3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57175" y="1447800"/>
            <a:ext cx="1905000" cy="209550"/>
          </a:xfrm>
          <a:prstGeom prst="rect">
            <a:avLst/>
          </a:prstGeom>
          <a:noFill/>
        </p:spPr>
        <p:txBody>
          <a:bodyPr wrap="square" lIns="28575" rIns="28575" tIns="9525" bIns="9525" anchor="ctr">
            <a:spAutoFit/>
          </a:bodyPr>
          <a:lstStyle/>
          <a:p>
            <a:pPr algn="ctr"/>
            <a:r>
              <a:rPr sz="1100" b="1">
                <a:solidFill>
                  <a:srgbClr val="FFFFFF"/>
                </a:solidFill>
                <a:latin typeface="Calibri"/>
              </a:rPr>
              <a:t>Tier 1</a:t>
            </a:r>
          </a:p>
        </p:txBody>
      </p:sp>
      <p:sp>
        <p:nvSpPr>
          <p:cNvPr id="11" name="TextBox 10"/>
          <p:cNvSpPr txBox="1"/>
          <p:nvPr/>
        </p:nvSpPr>
        <p:spPr>
          <a:xfrm>
            <a:off x="257175" y="1676400"/>
            <a:ext cx="1905000" cy="171450"/>
          </a:xfrm>
          <a:prstGeom prst="rect">
            <a:avLst/>
          </a:prstGeom>
          <a:noFill/>
        </p:spPr>
        <p:txBody>
          <a:bodyPr wrap="square" lIns="28575" rIns="28575" tIns="9525" bIns="9525" anchor="ctr">
            <a:spAutoFit/>
          </a:bodyPr>
          <a:lstStyle/>
          <a:p>
            <a:pPr algn="ctr"/>
            <a:r>
              <a:rPr sz="1100" b="0">
                <a:solidFill>
                  <a:srgbClr val="FFFFFF"/>
                </a:solidFill>
                <a:latin typeface="Calibri"/>
              </a:rPr>
              <a:t>Top / global players</a:t>
            </a:r>
          </a:p>
        </p:txBody>
      </p:sp>
      <p:sp>
        <p:nvSpPr>
          <p:cNvPr id="12" name="TextBox 11"/>
          <p:cNvSpPr txBox="1"/>
          <p:nvPr/>
        </p:nvSpPr>
        <p:spPr>
          <a:xfrm>
            <a:off x="295275" y="1828800"/>
            <a:ext cx="1828800" cy="419100"/>
          </a:xfrm>
          <a:prstGeom prst="rect">
            <a:avLst/>
          </a:prstGeom>
          <a:noFill/>
        </p:spPr>
        <p:txBody>
          <a:bodyPr wrap="square" lIns="28575" rIns="28575" tIns="9525" bIns="9525" anchor="ctr">
            <a:spAutoFit/>
          </a:bodyPr>
          <a:lstStyle/>
          <a:p>
            <a:pPr algn="ctr">
              <a:lnSpc>
                <a:spcPct val="115000"/>
              </a:lnSpc>
            </a:pPr>
            <a:r>
              <a:rPr sz="1100" b="1">
                <a:solidFill>
                  <a:srgbClr val="FFFFFF"/>
                </a:solidFill>
                <a:latin typeface="Calibri"/>
              </a:rPr>
              <a:t/>
            </a:r>
          </a:p>
        </p:txBody>
      </p:sp>
      <p:sp>
        <p:nvSpPr>
          <p:cNvPr id="13" name="TextBox 12"/>
          <p:cNvSpPr txBox="1"/>
          <p:nvPr/>
        </p:nvSpPr>
        <p:spPr>
          <a:xfrm>
            <a:off x="2238375" y="1466850"/>
            <a:ext cx="1200150" cy="171450"/>
          </a:xfrm>
          <a:prstGeom prst="rect">
            <a:avLst/>
          </a:prstGeom>
          <a:noFill/>
        </p:spPr>
        <p:txBody>
          <a:bodyPr wrap="square" lIns="28575" rIns="28575" tIns="9525" bIns="9525" anchor="ctr">
            <a:spAutoFit/>
          </a:bodyPr>
          <a:lstStyle/>
          <a:p>
            <a:pPr algn="ctr"/>
            <a:r>
              <a:rPr sz="1100" b="1">
                <a:solidFill>
                  <a:srgbClr val="0E8C8C"/>
                </a:solidFill>
                <a:latin typeface="Calibri"/>
              </a:rPr>
              <a:t>1 up-tier (M&amp;A)</a:t>
            </a:r>
          </a:p>
        </p:txBody>
      </p:sp>
      <p:cxnSp>
        <p:nvCxnSpPr>
          <p:cNvPr id="14" name="Connector 13"/>
          <p:cNvCxnSpPr/>
          <p:nvPr/>
        </p:nvCxnSpPr>
        <p:spPr>
          <a:xfrm>
            <a:off x="2314575" y="1695450"/>
            <a:ext cx="1123950" cy="0"/>
          </a:xfrm>
          <a:prstGeom prst="line">
            <a:avLst/>
          </a:prstGeom>
          <a:ln w="25400">
            <a:solidFill>
              <a:srgbClr val="0E8C8C"/>
            </a:solidFill>
          </a:ln>
          <a:effectLst/>
        </p:spPr>
        <p:style>
          <a:lnRef idx="2">
            <a:schemeClr val="accent1"/>
          </a:lnRef>
          <a:fillRef idx="0">
            <a:schemeClr val="accent1"/>
          </a:fillRef>
          <a:effectRef idx="1">
            <a:schemeClr val="accent1"/>
          </a:effectRef>
          <a:fontRef idx="minor">
            <a:schemeClr val="tx1"/>
          </a:fontRef>
        </p:style>
      </p:cxnSp>
      <p:sp>
        <p:nvSpPr>
          <p:cNvPr id="15" name="Freeform 14"/>
          <p:cNvSpPr/>
          <p:nvPr/>
        </p:nvSpPr>
        <p:spPr>
          <a:xfrm>
            <a:off x="2238375" y="1647825"/>
            <a:ext cx="95250" cy="95250"/>
          </a:xfrm>
          <a:custGeom>
            <a:avLst/>
            <a:gdLst/>
            <a:ahLst/>
            <a:cxnLst/>
            <a:rect l="l" t="t" r="r" b="b"/>
            <a:pathLst>
              <a:path w="10" h="10">
                <a:moveTo>
                  <a:pt x="0" y="5"/>
                </a:moveTo>
                <a:lnTo>
                  <a:pt x="10" y="0"/>
                </a:lnTo>
                <a:lnTo>
                  <a:pt x="10" y="10"/>
                </a:lnTo>
                <a:close/>
              </a:path>
            </a:pathLst>
          </a:custGeom>
          <a:solidFill>
            <a:srgbClr val="0E8C8C"/>
          </a:solidFill>
          <a:ln w="9525">
            <a:solidFill>
              <a:srgbClr val="0E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6" name="Connector 15"/>
          <p:cNvCxnSpPr/>
          <p:nvPr/>
        </p:nvCxnSpPr>
        <p:spPr>
          <a:xfrm>
            <a:off x="2238375" y="1962150"/>
            <a:ext cx="1123950" cy="0"/>
          </a:xfrm>
          <a:prstGeom prst="line">
            <a:avLst/>
          </a:prstGeom>
          <a:ln w="25400">
            <a:solidFill>
              <a:srgbClr val="D08C2A"/>
            </a:solidFill>
          </a:ln>
          <a:effectLst/>
        </p:spPr>
        <p:style>
          <a:lnRef idx="2">
            <a:schemeClr val="accent1"/>
          </a:lnRef>
          <a:fillRef idx="0">
            <a:schemeClr val="accent1"/>
          </a:fillRef>
          <a:effectRef idx="1">
            <a:schemeClr val="accent1"/>
          </a:effectRef>
          <a:fontRef idx="minor">
            <a:schemeClr val="tx1"/>
          </a:fontRef>
        </p:style>
      </p:cxnSp>
      <p:sp>
        <p:nvSpPr>
          <p:cNvPr id="17" name="Freeform 16"/>
          <p:cNvSpPr/>
          <p:nvPr/>
        </p:nvSpPr>
        <p:spPr>
          <a:xfrm>
            <a:off x="3343275" y="1914525"/>
            <a:ext cx="95250" cy="95250"/>
          </a:xfrm>
          <a:custGeom>
            <a:avLst/>
            <a:gdLst/>
            <a:ahLst/>
            <a:cxnLst/>
            <a:rect l="l" t="t" r="r" b="b"/>
            <a:pathLst>
              <a:path w="10" h="10">
                <a:moveTo>
                  <a:pt x="10" y="5"/>
                </a:moveTo>
                <a:lnTo>
                  <a:pt x="0" y="0"/>
                </a:lnTo>
                <a:lnTo>
                  <a:pt x="0" y="10"/>
                </a:lnTo>
                <a:close/>
              </a:path>
            </a:pathLst>
          </a:custGeom>
          <a:solidFill>
            <a:srgbClr val="D08C2A"/>
          </a:solidFill>
          <a:ln w="9525">
            <a:solidFill>
              <a:srgbClr val="D08C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238375" y="2019300"/>
            <a:ext cx="1200150" cy="171450"/>
          </a:xfrm>
          <a:prstGeom prst="rect">
            <a:avLst/>
          </a:prstGeom>
          <a:noFill/>
        </p:spPr>
        <p:txBody>
          <a:bodyPr wrap="square" lIns="28575" rIns="28575" tIns="9525" bIns="9525" anchor="ctr">
            <a:spAutoFit/>
          </a:bodyPr>
          <a:lstStyle/>
          <a:p>
            <a:pPr algn="ctr"/>
            <a:r>
              <a:rPr sz="1100" b="1">
                <a:solidFill>
                  <a:srgbClr val="D08C2A"/>
                </a:solidFill>
                <a:latin typeface="Calibri"/>
              </a:rPr>
              <a:t>0 down / exit</a:t>
            </a:r>
          </a:p>
        </p:txBody>
      </p:sp>
      <p:sp>
        <p:nvSpPr>
          <p:cNvPr id="19" name="Rounded Rectangle 18"/>
          <p:cNvSpPr/>
          <p:nvPr/>
        </p:nvSpPr>
        <p:spPr>
          <a:xfrm>
            <a:off x="3514725" y="1390650"/>
            <a:ext cx="1905000" cy="876300"/>
          </a:xfrm>
          <a:prstGeom prst="roundRect">
            <a:avLst>
              <a:gd name="adj" fmla="val 4000"/>
            </a:avLst>
          </a:prstGeom>
          <a:solidFill>
            <a:srgbClr val="2E6D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514725" y="1447800"/>
            <a:ext cx="1905000" cy="209550"/>
          </a:xfrm>
          <a:prstGeom prst="rect">
            <a:avLst/>
          </a:prstGeom>
          <a:noFill/>
        </p:spPr>
        <p:txBody>
          <a:bodyPr wrap="square" lIns="28575" rIns="28575" tIns="9525" bIns="9525" anchor="ctr">
            <a:spAutoFit/>
          </a:bodyPr>
          <a:lstStyle/>
          <a:p>
            <a:pPr algn="ctr"/>
            <a:r>
              <a:rPr sz="1100" b="1">
                <a:solidFill>
                  <a:srgbClr val="FFFFFF"/>
                </a:solidFill>
                <a:latin typeface="Calibri"/>
              </a:rPr>
              <a:t>Tier 2</a:t>
            </a:r>
          </a:p>
        </p:txBody>
      </p:sp>
      <p:sp>
        <p:nvSpPr>
          <p:cNvPr id="21" name="TextBox 20"/>
          <p:cNvSpPr txBox="1"/>
          <p:nvPr/>
        </p:nvSpPr>
        <p:spPr>
          <a:xfrm>
            <a:off x="3514725" y="1676400"/>
            <a:ext cx="1905000" cy="171450"/>
          </a:xfrm>
          <a:prstGeom prst="rect">
            <a:avLst/>
          </a:prstGeom>
          <a:noFill/>
        </p:spPr>
        <p:txBody>
          <a:bodyPr wrap="square" lIns="28575" rIns="28575" tIns="9525" bIns="9525" anchor="ctr">
            <a:spAutoFit/>
          </a:bodyPr>
          <a:lstStyle/>
          <a:p>
            <a:pPr algn="ctr"/>
            <a:r>
              <a:rPr sz="1100" b="0">
                <a:solidFill>
                  <a:srgbClr val="FFFFFF"/>
                </a:solidFill>
                <a:latin typeface="Calibri"/>
              </a:rPr>
              <a:t>Mid-sized players</a:t>
            </a:r>
          </a:p>
        </p:txBody>
      </p:sp>
      <p:sp>
        <p:nvSpPr>
          <p:cNvPr id="22" name="TextBox 21"/>
          <p:cNvSpPr txBox="1"/>
          <p:nvPr/>
        </p:nvSpPr>
        <p:spPr>
          <a:xfrm>
            <a:off x="3552825" y="1828800"/>
            <a:ext cx="1828800" cy="419100"/>
          </a:xfrm>
          <a:prstGeom prst="rect">
            <a:avLst/>
          </a:prstGeom>
          <a:noFill/>
        </p:spPr>
        <p:txBody>
          <a:bodyPr wrap="square" lIns="28575" rIns="28575" tIns="9525" bIns="9525" anchor="ctr">
            <a:spAutoFit/>
          </a:bodyPr>
          <a:lstStyle/>
          <a:p>
            <a:pPr algn="ctr">
              <a:lnSpc>
                <a:spcPct val="115000"/>
              </a:lnSpc>
            </a:pPr>
            <a:r>
              <a:rPr sz="1100" b="1">
                <a:solidFill>
                  <a:srgbClr val="FFFFFF"/>
                </a:solidFill>
                <a:latin typeface="Calibri"/>
              </a:rPr>
              <a:t/>
            </a:r>
          </a:p>
        </p:txBody>
      </p:sp>
      <p:sp>
        <p:nvSpPr>
          <p:cNvPr id="23" name="TextBox 22"/>
          <p:cNvSpPr txBox="1"/>
          <p:nvPr/>
        </p:nvSpPr>
        <p:spPr>
          <a:xfrm>
            <a:off x="5495925" y="1466850"/>
            <a:ext cx="1200150" cy="171450"/>
          </a:xfrm>
          <a:prstGeom prst="rect">
            <a:avLst/>
          </a:prstGeom>
          <a:noFill/>
        </p:spPr>
        <p:txBody>
          <a:bodyPr wrap="square" lIns="28575" rIns="28575" tIns="9525" bIns="9525" anchor="ctr">
            <a:spAutoFit/>
          </a:bodyPr>
          <a:lstStyle/>
          <a:p>
            <a:pPr algn="ctr"/>
            <a:r>
              <a:rPr sz="1100" b="1">
                <a:solidFill>
                  <a:srgbClr val="0E8C8C"/>
                </a:solidFill>
                <a:latin typeface="Calibri"/>
              </a:rPr>
              <a:t>1 up-tier (M&amp;A)</a:t>
            </a:r>
          </a:p>
        </p:txBody>
      </p:sp>
      <p:cxnSp>
        <p:nvCxnSpPr>
          <p:cNvPr id="24" name="Connector 23"/>
          <p:cNvCxnSpPr/>
          <p:nvPr/>
        </p:nvCxnSpPr>
        <p:spPr>
          <a:xfrm>
            <a:off x="5572125" y="1695450"/>
            <a:ext cx="1123950" cy="0"/>
          </a:xfrm>
          <a:prstGeom prst="line">
            <a:avLst/>
          </a:prstGeom>
          <a:ln w="25400">
            <a:solidFill>
              <a:srgbClr val="0E8C8C"/>
            </a:solidFill>
          </a:ln>
          <a:effectLst/>
        </p:spPr>
        <p:style>
          <a:lnRef idx="2">
            <a:schemeClr val="accent1"/>
          </a:lnRef>
          <a:fillRef idx="0">
            <a:schemeClr val="accent1"/>
          </a:fillRef>
          <a:effectRef idx="1">
            <a:schemeClr val="accent1"/>
          </a:effectRef>
          <a:fontRef idx="minor">
            <a:schemeClr val="tx1"/>
          </a:fontRef>
        </p:style>
      </p:cxnSp>
      <p:sp>
        <p:nvSpPr>
          <p:cNvPr id="25" name="Freeform 24"/>
          <p:cNvSpPr/>
          <p:nvPr/>
        </p:nvSpPr>
        <p:spPr>
          <a:xfrm>
            <a:off x="5495925" y="1647825"/>
            <a:ext cx="95250" cy="95250"/>
          </a:xfrm>
          <a:custGeom>
            <a:avLst/>
            <a:gdLst/>
            <a:ahLst/>
            <a:cxnLst/>
            <a:rect l="l" t="t" r="r" b="b"/>
            <a:pathLst>
              <a:path w="10" h="10">
                <a:moveTo>
                  <a:pt x="0" y="5"/>
                </a:moveTo>
                <a:lnTo>
                  <a:pt x="10" y="0"/>
                </a:lnTo>
                <a:lnTo>
                  <a:pt x="10" y="10"/>
                </a:lnTo>
                <a:close/>
              </a:path>
            </a:pathLst>
          </a:custGeom>
          <a:solidFill>
            <a:srgbClr val="0E8C8C"/>
          </a:solidFill>
          <a:ln w="9525">
            <a:solidFill>
              <a:srgbClr val="0E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6" name="Connector 25"/>
          <p:cNvCxnSpPr/>
          <p:nvPr/>
        </p:nvCxnSpPr>
        <p:spPr>
          <a:xfrm>
            <a:off x="5495925" y="1962150"/>
            <a:ext cx="1123950" cy="0"/>
          </a:xfrm>
          <a:prstGeom prst="line">
            <a:avLst/>
          </a:prstGeom>
          <a:ln w="25400">
            <a:solidFill>
              <a:srgbClr val="D08C2A"/>
            </a:solidFill>
          </a:ln>
          <a:effectLst/>
        </p:spPr>
        <p:style>
          <a:lnRef idx="2">
            <a:schemeClr val="accent1"/>
          </a:lnRef>
          <a:fillRef idx="0">
            <a:schemeClr val="accent1"/>
          </a:fillRef>
          <a:effectRef idx="1">
            <a:schemeClr val="accent1"/>
          </a:effectRef>
          <a:fontRef idx="minor">
            <a:schemeClr val="tx1"/>
          </a:fontRef>
        </p:style>
      </p:cxnSp>
      <p:sp>
        <p:nvSpPr>
          <p:cNvPr id="27" name="Freeform 26"/>
          <p:cNvSpPr/>
          <p:nvPr/>
        </p:nvSpPr>
        <p:spPr>
          <a:xfrm>
            <a:off x="6600825" y="1914525"/>
            <a:ext cx="95250" cy="95250"/>
          </a:xfrm>
          <a:custGeom>
            <a:avLst/>
            <a:gdLst/>
            <a:ahLst/>
            <a:cxnLst/>
            <a:rect l="l" t="t" r="r" b="b"/>
            <a:pathLst>
              <a:path w="10" h="10">
                <a:moveTo>
                  <a:pt x="10" y="5"/>
                </a:moveTo>
                <a:lnTo>
                  <a:pt x="0" y="0"/>
                </a:lnTo>
                <a:lnTo>
                  <a:pt x="0" y="10"/>
                </a:lnTo>
                <a:close/>
              </a:path>
            </a:pathLst>
          </a:custGeom>
          <a:solidFill>
            <a:srgbClr val="D08C2A"/>
          </a:solidFill>
          <a:ln w="9525">
            <a:solidFill>
              <a:srgbClr val="D08C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495925" y="2019300"/>
            <a:ext cx="1200150" cy="171450"/>
          </a:xfrm>
          <a:prstGeom prst="rect">
            <a:avLst/>
          </a:prstGeom>
          <a:noFill/>
        </p:spPr>
        <p:txBody>
          <a:bodyPr wrap="square" lIns="28575" rIns="28575" tIns="9525" bIns="9525" anchor="ctr">
            <a:spAutoFit/>
          </a:bodyPr>
          <a:lstStyle/>
          <a:p>
            <a:pPr algn="ctr"/>
            <a:r>
              <a:rPr sz="1100" b="1">
                <a:solidFill>
                  <a:srgbClr val="D08C2A"/>
                </a:solidFill>
                <a:latin typeface="Calibri"/>
              </a:rPr>
              <a:t>0 down / exit</a:t>
            </a:r>
          </a:p>
        </p:txBody>
      </p:sp>
      <p:sp>
        <p:nvSpPr>
          <p:cNvPr id="29" name="Rounded Rectangle 28"/>
          <p:cNvSpPr/>
          <p:nvPr/>
        </p:nvSpPr>
        <p:spPr>
          <a:xfrm>
            <a:off x="6772275" y="1390650"/>
            <a:ext cx="1905000" cy="876300"/>
          </a:xfrm>
          <a:prstGeom prst="roundRect">
            <a:avLst>
              <a:gd name="adj" fmla="val 4000"/>
            </a:avLst>
          </a:prstGeom>
          <a:solidFill>
            <a:srgbClr val="6FA8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72275" y="1447800"/>
            <a:ext cx="1905000" cy="209550"/>
          </a:xfrm>
          <a:prstGeom prst="rect">
            <a:avLst/>
          </a:prstGeom>
          <a:noFill/>
        </p:spPr>
        <p:txBody>
          <a:bodyPr wrap="square" lIns="28575" rIns="28575" tIns="9525" bIns="9525" anchor="ctr">
            <a:spAutoFit/>
          </a:bodyPr>
          <a:lstStyle/>
          <a:p>
            <a:pPr algn="ctr"/>
            <a:r>
              <a:rPr sz="1100" b="1">
                <a:solidFill>
                  <a:srgbClr val="FFFFFF"/>
                </a:solidFill>
                <a:latin typeface="Calibri"/>
              </a:rPr>
              <a:t>Tier 3</a:t>
            </a:r>
          </a:p>
        </p:txBody>
      </p:sp>
      <p:sp>
        <p:nvSpPr>
          <p:cNvPr id="31" name="TextBox 30"/>
          <p:cNvSpPr txBox="1"/>
          <p:nvPr/>
        </p:nvSpPr>
        <p:spPr>
          <a:xfrm>
            <a:off x="6772275" y="1676400"/>
            <a:ext cx="1905000" cy="171450"/>
          </a:xfrm>
          <a:prstGeom prst="rect">
            <a:avLst/>
          </a:prstGeom>
          <a:noFill/>
        </p:spPr>
        <p:txBody>
          <a:bodyPr wrap="square" lIns="28575" rIns="28575" tIns="9525" bIns="9525" anchor="ctr">
            <a:spAutoFit/>
          </a:bodyPr>
          <a:lstStyle/>
          <a:p>
            <a:pPr algn="ctr"/>
            <a:r>
              <a:rPr sz="1100" b="0">
                <a:solidFill>
                  <a:srgbClr val="FFFFFF"/>
                </a:solidFill>
                <a:latin typeface="Calibri"/>
              </a:rPr>
              <a:t>Emerging / local players</a:t>
            </a:r>
          </a:p>
        </p:txBody>
      </p:sp>
      <p:sp>
        <p:nvSpPr>
          <p:cNvPr id="32" name="TextBox 31"/>
          <p:cNvSpPr txBox="1"/>
          <p:nvPr/>
        </p:nvSpPr>
        <p:spPr>
          <a:xfrm>
            <a:off x="6810375" y="1828800"/>
            <a:ext cx="1828800" cy="419100"/>
          </a:xfrm>
          <a:prstGeom prst="rect">
            <a:avLst/>
          </a:prstGeom>
          <a:noFill/>
        </p:spPr>
        <p:txBody>
          <a:bodyPr wrap="square" lIns="28575" rIns="28575" tIns="9525" bIns="9525" anchor="ctr">
            <a:spAutoFit/>
          </a:bodyPr>
          <a:lstStyle/>
          <a:p>
            <a:pPr algn="ctr">
              <a:lnSpc>
                <a:spcPct val="115000"/>
              </a:lnSpc>
            </a:pPr>
            <a:r>
              <a:rPr sz="1100" b="1">
                <a:solidFill>
                  <a:srgbClr val="FFFFFF"/>
                </a:solidFill>
                <a:latin typeface="Calibri"/>
              </a:rPr>
              <a:t/>
            </a:r>
          </a:p>
        </p:txBody>
      </p:sp>
      <p:sp>
        <p:nvSpPr>
          <p:cNvPr id="33" name="TextBox 32"/>
          <p:cNvSpPr txBox="1"/>
          <p:nvPr/>
        </p:nvSpPr>
        <p:spPr>
          <a:xfrm>
            <a:off x="8753475" y="1466850"/>
            <a:ext cx="1200150" cy="171450"/>
          </a:xfrm>
          <a:prstGeom prst="rect">
            <a:avLst/>
          </a:prstGeom>
          <a:noFill/>
        </p:spPr>
        <p:txBody>
          <a:bodyPr wrap="square" lIns="28575" rIns="28575" tIns="9525" bIns="9525" anchor="ctr">
            <a:spAutoFit/>
          </a:bodyPr>
          <a:lstStyle/>
          <a:p>
            <a:pPr algn="ctr"/>
            <a:r>
              <a:rPr sz="1100" b="1">
                <a:solidFill>
                  <a:srgbClr val="0E8C8C"/>
                </a:solidFill>
                <a:latin typeface="Calibri"/>
              </a:rPr>
              <a:t>2 up-tier (M&amp;A)</a:t>
            </a:r>
          </a:p>
        </p:txBody>
      </p:sp>
      <p:cxnSp>
        <p:nvCxnSpPr>
          <p:cNvPr id="34" name="Connector 33"/>
          <p:cNvCxnSpPr/>
          <p:nvPr/>
        </p:nvCxnSpPr>
        <p:spPr>
          <a:xfrm>
            <a:off x="8829675" y="1695450"/>
            <a:ext cx="1123950" cy="0"/>
          </a:xfrm>
          <a:prstGeom prst="line">
            <a:avLst/>
          </a:prstGeom>
          <a:ln w="25400">
            <a:solidFill>
              <a:srgbClr val="0E8C8C"/>
            </a:solidFill>
          </a:ln>
          <a:effectLst/>
        </p:spPr>
        <p:style>
          <a:lnRef idx="2">
            <a:schemeClr val="accent1"/>
          </a:lnRef>
          <a:fillRef idx="0">
            <a:schemeClr val="accent1"/>
          </a:fillRef>
          <a:effectRef idx="1">
            <a:schemeClr val="accent1"/>
          </a:effectRef>
          <a:fontRef idx="minor">
            <a:schemeClr val="tx1"/>
          </a:fontRef>
        </p:style>
      </p:cxnSp>
      <p:sp>
        <p:nvSpPr>
          <p:cNvPr id="35" name="Freeform 34"/>
          <p:cNvSpPr/>
          <p:nvPr/>
        </p:nvSpPr>
        <p:spPr>
          <a:xfrm>
            <a:off x="8753475" y="1647825"/>
            <a:ext cx="95250" cy="95250"/>
          </a:xfrm>
          <a:custGeom>
            <a:avLst/>
            <a:gdLst/>
            <a:ahLst/>
            <a:cxnLst/>
            <a:rect l="l" t="t" r="r" b="b"/>
            <a:pathLst>
              <a:path w="10" h="10">
                <a:moveTo>
                  <a:pt x="0" y="5"/>
                </a:moveTo>
                <a:lnTo>
                  <a:pt x="10" y="0"/>
                </a:lnTo>
                <a:lnTo>
                  <a:pt x="10" y="10"/>
                </a:lnTo>
                <a:close/>
              </a:path>
            </a:pathLst>
          </a:custGeom>
          <a:solidFill>
            <a:srgbClr val="0E8C8C"/>
          </a:solidFill>
          <a:ln w="9525">
            <a:solidFill>
              <a:srgbClr val="0E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6" name="Connector 35"/>
          <p:cNvCxnSpPr/>
          <p:nvPr/>
        </p:nvCxnSpPr>
        <p:spPr>
          <a:xfrm>
            <a:off x="8753475" y="1962150"/>
            <a:ext cx="1123950" cy="0"/>
          </a:xfrm>
          <a:prstGeom prst="line">
            <a:avLst/>
          </a:prstGeom>
          <a:ln w="25400">
            <a:solidFill>
              <a:srgbClr val="D08C2A"/>
            </a:solidFill>
          </a:ln>
          <a:effectLst/>
        </p:spPr>
        <p:style>
          <a:lnRef idx="2">
            <a:schemeClr val="accent1"/>
          </a:lnRef>
          <a:fillRef idx="0">
            <a:schemeClr val="accent1"/>
          </a:fillRef>
          <a:effectRef idx="1">
            <a:schemeClr val="accent1"/>
          </a:effectRef>
          <a:fontRef idx="minor">
            <a:schemeClr val="tx1"/>
          </a:fontRef>
        </p:style>
      </p:cxnSp>
      <p:sp>
        <p:nvSpPr>
          <p:cNvPr id="37" name="Freeform 36"/>
          <p:cNvSpPr/>
          <p:nvPr/>
        </p:nvSpPr>
        <p:spPr>
          <a:xfrm>
            <a:off x="9858375" y="1914525"/>
            <a:ext cx="95250" cy="95250"/>
          </a:xfrm>
          <a:custGeom>
            <a:avLst/>
            <a:gdLst/>
            <a:ahLst/>
            <a:cxnLst/>
            <a:rect l="l" t="t" r="r" b="b"/>
            <a:pathLst>
              <a:path w="10" h="10">
                <a:moveTo>
                  <a:pt x="10" y="5"/>
                </a:moveTo>
                <a:lnTo>
                  <a:pt x="0" y="0"/>
                </a:lnTo>
                <a:lnTo>
                  <a:pt x="0" y="10"/>
                </a:lnTo>
                <a:close/>
              </a:path>
            </a:pathLst>
          </a:custGeom>
          <a:solidFill>
            <a:srgbClr val="D08C2A"/>
          </a:solidFill>
          <a:ln w="9525">
            <a:solidFill>
              <a:srgbClr val="D08C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753475" y="2019300"/>
            <a:ext cx="1200150" cy="171450"/>
          </a:xfrm>
          <a:prstGeom prst="rect">
            <a:avLst/>
          </a:prstGeom>
          <a:noFill/>
        </p:spPr>
        <p:txBody>
          <a:bodyPr wrap="square" lIns="28575" rIns="28575" tIns="9525" bIns="9525" anchor="ctr">
            <a:spAutoFit/>
          </a:bodyPr>
          <a:lstStyle/>
          <a:p>
            <a:pPr algn="ctr"/>
            <a:r>
              <a:rPr sz="1100" b="1">
                <a:solidFill>
                  <a:srgbClr val="D08C2A"/>
                </a:solidFill>
                <a:latin typeface="Calibri"/>
              </a:rPr>
              <a:t>1 down / exit</a:t>
            </a:r>
          </a:p>
        </p:txBody>
      </p:sp>
      <p:sp>
        <p:nvSpPr>
          <p:cNvPr id="39" name="Rounded Rectangle 38"/>
          <p:cNvSpPr/>
          <p:nvPr/>
        </p:nvSpPr>
        <p:spPr>
          <a:xfrm>
            <a:off x="10029825" y="1390650"/>
            <a:ext cx="1905000" cy="876300"/>
          </a:xfrm>
          <a:prstGeom prst="roundRect">
            <a:avLst>
              <a:gd name="adj" fmla="val 4000"/>
            </a:avLst>
          </a:prstGeom>
          <a:solidFill>
            <a:srgbClr val="9FC5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029825" y="1447800"/>
            <a:ext cx="1905000" cy="209550"/>
          </a:xfrm>
          <a:prstGeom prst="rect">
            <a:avLst/>
          </a:prstGeom>
          <a:noFill/>
        </p:spPr>
        <p:txBody>
          <a:bodyPr wrap="square" lIns="28575" rIns="28575" tIns="9525" bIns="9525" anchor="ctr">
            <a:spAutoFit/>
          </a:bodyPr>
          <a:lstStyle/>
          <a:p>
            <a:pPr algn="ctr"/>
            <a:r>
              <a:rPr sz="1100" b="1">
                <a:solidFill>
                  <a:srgbClr val="14213D"/>
                </a:solidFill>
                <a:latin typeface="Calibri"/>
              </a:rPr>
              <a:t>Others</a:t>
            </a:r>
          </a:p>
        </p:txBody>
      </p:sp>
      <p:sp>
        <p:nvSpPr>
          <p:cNvPr id="41" name="TextBox 40"/>
          <p:cNvSpPr txBox="1"/>
          <p:nvPr/>
        </p:nvSpPr>
        <p:spPr>
          <a:xfrm>
            <a:off x="10029825" y="1676400"/>
            <a:ext cx="1905000" cy="171450"/>
          </a:xfrm>
          <a:prstGeom prst="rect">
            <a:avLst/>
          </a:prstGeom>
          <a:noFill/>
        </p:spPr>
        <p:txBody>
          <a:bodyPr wrap="square" lIns="28575" rIns="28575" tIns="9525" bIns="9525" anchor="ctr">
            <a:spAutoFit/>
          </a:bodyPr>
          <a:lstStyle/>
          <a:p>
            <a:pPr algn="ctr"/>
            <a:r>
              <a:rPr sz="1100" b="0">
                <a:solidFill>
                  <a:srgbClr val="14213D"/>
                </a:solidFill>
                <a:latin typeface="Calibri"/>
              </a:rPr>
              <a:t>Long tail</a:t>
            </a:r>
          </a:p>
        </p:txBody>
      </p:sp>
      <p:sp>
        <p:nvSpPr>
          <p:cNvPr id="42" name="TextBox 41"/>
          <p:cNvSpPr txBox="1"/>
          <p:nvPr/>
        </p:nvSpPr>
        <p:spPr>
          <a:xfrm>
            <a:off x="10067925" y="1828800"/>
            <a:ext cx="1828800" cy="419100"/>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
            </a:r>
          </a:p>
        </p:txBody>
      </p:sp>
      <p:sp>
        <p:nvSpPr>
          <p:cNvPr id="43" name="Rounded Rectangle 42"/>
          <p:cNvSpPr/>
          <p:nvPr/>
        </p:nvSpPr>
        <p:spPr>
          <a:xfrm>
            <a:off x="257175" y="2400300"/>
            <a:ext cx="2819400" cy="914400"/>
          </a:xfrm>
          <a:prstGeom prst="roundRect">
            <a:avLst>
              <a:gd name="adj" fmla="val 2702"/>
            </a:avLst>
          </a:prstGeom>
          <a:solidFill>
            <a:srgbClr val="EA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MR KPI Value"/>
          <p:cNvSpPr txBox="1"/>
          <p:nvPr/>
        </p:nvSpPr>
        <p:spPr>
          <a:xfrm>
            <a:off x="352425" y="2457450"/>
            <a:ext cx="762000" cy="342900"/>
          </a:xfrm>
          <a:prstGeom prst="rect">
            <a:avLst/>
          </a:prstGeom>
          <a:noFill/>
        </p:spPr>
        <p:txBody>
          <a:bodyPr wrap="square" lIns="28575" rIns="28575" tIns="9525" bIns="9525" anchor="ctr">
            <a:spAutoFit/>
          </a:bodyPr>
          <a:lstStyle/>
          <a:p>
            <a:pPr algn="ctr"/>
            <a:r>
              <a:rPr sz="1100" b="1">
                <a:solidFill>
                  <a:srgbClr val="1F3A6E"/>
                </a:solidFill>
                <a:latin typeface="Calibri"/>
              </a:rPr>
              <a:t> </a:t>
            </a:r>
          </a:p>
        </p:txBody>
      </p:sp>
      <p:sp>
        <p:nvSpPr>
          <p:cNvPr id="45" name="TextBox 44"/>
          <p:cNvSpPr txBox="1"/>
          <p:nvPr/>
        </p:nvSpPr>
        <p:spPr>
          <a:xfrm>
            <a:off x="1190625" y="2457450"/>
            <a:ext cx="1809750" cy="342900"/>
          </a:xfrm>
          <a:prstGeom prst="rect">
            <a:avLst/>
          </a:prstGeom>
          <a:noFill/>
        </p:spPr>
        <p:txBody>
          <a:bodyPr wrap="square" lIns="28575" rIns="28575" tIns="9525" bIns="9525" anchor="t">
            <a:spAutoFit/>
          </a:bodyPr>
          <a:lstStyle/>
          <a:p>
            <a:pPr algn="l">
              <a:lnSpc>
                <a:spcPct val="115000"/>
              </a:lnSpc>
            </a:pPr>
            <a:r>
              <a:rPr sz="1100" b="1">
                <a:solidFill>
                  <a:srgbClr val="14213D"/>
                </a:solidFill>
                <a:latin typeface="Calibri"/>
              </a:rPr>
              <a:t>New entrants 2026–2036</a:t>
            </a:r>
          </a:p>
        </p:txBody>
      </p:sp>
      <p:sp>
        <p:nvSpPr>
          <p:cNvPr id="46" name="TextBox 45"/>
          <p:cNvSpPr txBox="1"/>
          <p:nvPr/>
        </p:nvSpPr>
        <p:spPr>
          <a:xfrm>
            <a:off x="1190625" y="2800350"/>
            <a:ext cx="1809750" cy="381000"/>
          </a:xfrm>
          <a:prstGeom prst="rect">
            <a:avLst/>
          </a:prstGeom>
          <a:noFill/>
        </p:spPr>
        <p:txBody>
          <a:bodyPr wrap="square" lIns="28575" rIns="28575" tIns="9525" bIns="9525" anchor="t">
            <a:spAutoFit/>
          </a:bodyPr>
          <a:lstStyle/>
          <a:p>
            <a:pPr algn="l">
              <a:lnSpc>
                <a:spcPct val="115000"/>
              </a:lnSpc>
            </a:pPr>
            <a:r>
              <a:rPr sz="1100" b="0">
                <a:solidFill>
                  <a:srgbClr val="6B7280"/>
                </a:solidFill>
                <a:latin typeface="Calibri"/>
              </a:rPr>
              <a:t>scaling up from the long tail</a:t>
            </a:r>
          </a:p>
        </p:txBody>
      </p:sp>
      <p:sp>
        <p:nvSpPr>
          <p:cNvPr id="47" name="Rounded Rectangle 46"/>
          <p:cNvSpPr/>
          <p:nvPr/>
        </p:nvSpPr>
        <p:spPr>
          <a:xfrm>
            <a:off x="3209925" y="2400300"/>
            <a:ext cx="2819400" cy="914400"/>
          </a:xfrm>
          <a:prstGeom prst="roundRect">
            <a:avLst>
              <a:gd name="adj" fmla="val 2702"/>
            </a:avLst>
          </a:prstGeom>
          <a:solidFill>
            <a:srgbClr val="EA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MR KPI Value"/>
          <p:cNvSpPr txBox="1"/>
          <p:nvPr/>
        </p:nvSpPr>
        <p:spPr>
          <a:xfrm>
            <a:off x="3305175" y="2457450"/>
            <a:ext cx="762000" cy="342900"/>
          </a:xfrm>
          <a:prstGeom prst="rect">
            <a:avLst/>
          </a:prstGeom>
          <a:noFill/>
        </p:spPr>
        <p:txBody>
          <a:bodyPr wrap="square" lIns="28575" rIns="28575" tIns="9525" bIns="9525" anchor="ctr">
            <a:spAutoFit/>
          </a:bodyPr>
          <a:lstStyle/>
          <a:p>
            <a:pPr algn="ctr"/>
            <a:r>
              <a:rPr sz="1100" b="1">
                <a:solidFill>
                  <a:srgbClr val="1F3A6E"/>
                </a:solidFill>
                <a:latin typeface="Calibri"/>
              </a:rPr>
              <a:t> </a:t>
            </a:r>
          </a:p>
        </p:txBody>
      </p:sp>
      <p:sp>
        <p:nvSpPr>
          <p:cNvPr id="49" name="TextBox 48"/>
          <p:cNvSpPr txBox="1"/>
          <p:nvPr/>
        </p:nvSpPr>
        <p:spPr>
          <a:xfrm>
            <a:off x="4143375" y="2457450"/>
            <a:ext cx="1809750" cy="342900"/>
          </a:xfrm>
          <a:prstGeom prst="rect">
            <a:avLst/>
          </a:prstGeom>
          <a:noFill/>
        </p:spPr>
        <p:txBody>
          <a:bodyPr wrap="square" lIns="28575" rIns="28575" tIns="9525" bIns="9525" anchor="t">
            <a:spAutoFit/>
          </a:bodyPr>
          <a:lstStyle/>
          <a:p>
            <a:pPr algn="l">
              <a:lnSpc>
                <a:spcPct val="115000"/>
              </a:lnSpc>
            </a:pPr>
            <a:r>
              <a:rPr sz="1100" b="1">
                <a:solidFill>
                  <a:srgbClr val="14213D"/>
                </a:solidFill>
                <a:latin typeface="Calibri"/>
              </a:rPr>
              <a:t>Exits / acquisitions</a:t>
            </a:r>
          </a:p>
        </p:txBody>
      </p:sp>
      <p:sp>
        <p:nvSpPr>
          <p:cNvPr id="50" name="TextBox 49"/>
          <p:cNvSpPr txBox="1"/>
          <p:nvPr/>
        </p:nvSpPr>
        <p:spPr>
          <a:xfrm>
            <a:off x="4143375" y="2800350"/>
            <a:ext cx="1809750" cy="381000"/>
          </a:xfrm>
          <a:prstGeom prst="rect">
            <a:avLst/>
          </a:prstGeom>
          <a:noFill/>
        </p:spPr>
        <p:txBody>
          <a:bodyPr wrap="square" lIns="28575" rIns="28575" tIns="9525" bIns="9525" anchor="t">
            <a:spAutoFit/>
          </a:bodyPr>
          <a:lstStyle/>
          <a:p>
            <a:pPr algn="l">
              <a:lnSpc>
                <a:spcPct val="115000"/>
              </a:lnSpc>
            </a:pPr>
            <a:r>
              <a:rPr sz="1100" b="0">
                <a:solidFill>
                  <a:srgbClr val="6B7280"/>
                </a:solidFill>
                <a:latin typeface="Calibri"/>
              </a:rPr>
              <a:t>absorbed mainly by Tier 1–2 acquirers</a:t>
            </a:r>
          </a:p>
        </p:txBody>
      </p:sp>
      <p:sp>
        <p:nvSpPr>
          <p:cNvPr id="51" name="Rounded Rectangle 50"/>
          <p:cNvSpPr/>
          <p:nvPr/>
        </p:nvSpPr>
        <p:spPr>
          <a:xfrm>
            <a:off x="6162675" y="2400300"/>
            <a:ext cx="2819400" cy="914400"/>
          </a:xfrm>
          <a:prstGeom prst="roundRect">
            <a:avLst>
              <a:gd name="adj" fmla="val 2702"/>
            </a:avLst>
          </a:prstGeom>
          <a:solidFill>
            <a:srgbClr val="EA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MR KPI Value"/>
          <p:cNvSpPr txBox="1"/>
          <p:nvPr/>
        </p:nvSpPr>
        <p:spPr>
          <a:xfrm>
            <a:off x="6257925" y="2457450"/>
            <a:ext cx="762000" cy="342900"/>
          </a:xfrm>
          <a:prstGeom prst="rect">
            <a:avLst/>
          </a:prstGeom>
          <a:noFill/>
        </p:spPr>
        <p:txBody>
          <a:bodyPr wrap="square" lIns="28575" rIns="28575" tIns="9525" bIns="9525" anchor="ctr">
            <a:spAutoFit/>
          </a:bodyPr>
          <a:lstStyle/>
          <a:p>
            <a:pPr algn="ctr"/>
            <a:r>
              <a:rPr sz="1100" b="1">
                <a:solidFill>
                  <a:srgbClr val="1F3A6E"/>
                </a:solidFill>
                <a:latin typeface="Calibri"/>
              </a:rPr>
              <a:t> </a:t>
            </a:r>
          </a:p>
        </p:txBody>
      </p:sp>
      <p:sp>
        <p:nvSpPr>
          <p:cNvPr id="53" name="TextBox 52"/>
          <p:cNvSpPr txBox="1"/>
          <p:nvPr/>
        </p:nvSpPr>
        <p:spPr>
          <a:xfrm>
            <a:off x="7096125" y="2457450"/>
            <a:ext cx="1809750" cy="342900"/>
          </a:xfrm>
          <a:prstGeom prst="rect">
            <a:avLst/>
          </a:prstGeom>
          <a:noFill/>
        </p:spPr>
        <p:txBody>
          <a:bodyPr wrap="square" lIns="28575" rIns="28575" tIns="9525" bIns="9525" anchor="t">
            <a:spAutoFit/>
          </a:bodyPr>
          <a:lstStyle/>
          <a:p>
            <a:pPr algn="l">
              <a:lnSpc>
                <a:spcPct val="115000"/>
              </a:lnSpc>
            </a:pPr>
            <a:r>
              <a:rPr sz="1100" b="1">
                <a:solidFill>
                  <a:srgbClr val="14213D"/>
                </a:solidFill>
                <a:latin typeface="Calibri"/>
              </a:rPr>
              <a:t>Net change in player count</a:t>
            </a:r>
          </a:p>
        </p:txBody>
      </p:sp>
      <p:sp>
        <p:nvSpPr>
          <p:cNvPr id="54" name="TextBox 53"/>
          <p:cNvSpPr txBox="1"/>
          <p:nvPr/>
        </p:nvSpPr>
        <p:spPr>
          <a:xfrm>
            <a:off x="7096125" y="2800350"/>
            <a:ext cx="1809750" cy="381000"/>
          </a:xfrm>
          <a:prstGeom prst="rect">
            <a:avLst/>
          </a:prstGeom>
          <a:noFill/>
        </p:spPr>
        <p:txBody>
          <a:bodyPr wrap="square" lIns="28575" rIns="28575" tIns="9525" bIns="9525" anchor="t">
            <a:spAutoFit/>
          </a:bodyPr>
          <a:lstStyle/>
          <a:p>
            <a:pPr algn="l">
              <a:lnSpc>
                <a:spcPct val="115000"/>
              </a:lnSpc>
            </a:pPr>
            <a:r>
              <a:rPr sz="1100" b="0">
                <a:solidFill>
                  <a:srgbClr val="6B7280"/>
                </a:solidFill>
                <a:latin typeface="Calibri"/>
              </a:rPr>
              <a:t>Between 2026 and 2036</a:t>
            </a:r>
          </a:p>
        </p:txBody>
      </p:sp>
      <p:sp>
        <p:nvSpPr>
          <p:cNvPr id="55" name="Rounded Rectangle 54"/>
          <p:cNvSpPr/>
          <p:nvPr/>
        </p:nvSpPr>
        <p:spPr>
          <a:xfrm>
            <a:off x="9115425" y="2400300"/>
            <a:ext cx="2819400" cy="914400"/>
          </a:xfrm>
          <a:prstGeom prst="roundRect">
            <a:avLst>
              <a:gd name="adj" fmla="val 2702"/>
            </a:avLst>
          </a:prstGeom>
          <a:solidFill>
            <a:srgbClr val="EA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MR KPI Value"/>
          <p:cNvSpPr txBox="1"/>
          <p:nvPr/>
        </p:nvSpPr>
        <p:spPr>
          <a:xfrm>
            <a:off x="9210675" y="2457450"/>
            <a:ext cx="762000" cy="342900"/>
          </a:xfrm>
          <a:prstGeom prst="rect">
            <a:avLst/>
          </a:prstGeom>
          <a:noFill/>
        </p:spPr>
        <p:txBody>
          <a:bodyPr wrap="square" lIns="28575" rIns="28575" tIns="9525" bIns="9525" anchor="ctr">
            <a:spAutoFit/>
          </a:bodyPr>
          <a:lstStyle/>
          <a:p>
            <a:pPr algn="ctr"/>
            <a:r>
              <a:rPr sz="1100" b="1">
                <a:solidFill>
                  <a:srgbClr val="1F3A6E"/>
                </a:solidFill>
                <a:latin typeface="Calibri"/>
              </a:rPr>
              <a:t> </a:t>
            </a:r>
          </a:p>
        </p:txBody>
      </p:sp>
      <p:sp>
        <p:nvSpPr>
          <p:cNvPr id="57" name="TextBox 56"/>
          <p:cNvSpPr txBox="1"/>
          <p:nvPr/>
        </p:nvSpPr>
        <p:spPr>
          <a:xfrm>
            <a:off x="10048875" y="2457450"/>
            <a:ext cx="1809750" cy="342900"/>
          </a:xfrm>
          <a:prstGeom prst="rect">
            <a:avLst/>
          </a:prstGeom>
          <a:noFill/>
        </p:spPr>
        <p:txBody>
          <a:bodyPr wrap="square" lIns="28575" rIns="28575" tIns="9525" bIns="9525" anchor="t">
            <a:spAutoFit/>
          </a:bodyPr>
          <a:lstStyle/>
          <a:p>
            <a:pPr algn="l">
              <a:lnSpc>
                <a:spcPct val="115000"/>
              </a:lnSpc>
            </a:pPr>
            <a:r>
              <a:rPr sz="1100" b="1">
                <a:solidFill>
                  <a:srgbClr val="14213D"/>
                </a:solidFill>
                <a:latin typeface="Calibri"/>
              </a:rPr>
              <a:t>Share moving between tiers</a:t>
            </a:r>
          </a:p>
        </p:txBody>
      </p:sp>
      <p:sp>
        <p:nvSpPr>
          <p:cNvPr id="58" name="TextBox 57"/>
          <p:cNvSpPr txBox="1"/>
          <p:nvPr/>
        </p:nvSpPr>
        <p:spPr>
          <a:xfrm>
            <a:off x="10048875" y="2800350"/>
            <a:ext cx="1809750" cy="381000"/>
          </a:xfrm>
          <a:prstGeom prst="rect">
            <a:avLst/>
          </a:prstGeom>
          <a:noFill/>
        </p:spPr>
        <p:txBody>
          <a:bodyPr wrap="square" lIns="28575" rIns="28575" tIns="9525" bIns="9525" anchor="t">
            <a:spAutoFit/>
          </a:bodyPr>
          <a:lstStyle/>
          <a:p>
            <a:pPr algn="l">
              <a:lnSpc>
                <a:spcPct val="115000"/>
              </a:lnSpc>
            </a:pPr>
            <a:r>
              <a:rPr sz="1100" b="0">
                <a:solidFill>
                  <a:srgbClr val="6B7280"/>
                </a:solidFill>
                <a:latin typeface="Calibri"/>
              </a:rPr>
              <a:t>largest transfer: Others → Tier 2</a:t>
            </a:r>
          </a:p>
        </p:txBody>
      </p:sp>
      <p:sp>
        <p:nvSpPr>
          <p:cNvPr id="59" name="Rounded Rectangle 58"/>
          <p:cNvSpPr/>
          <p:nvPr/>
        </p:nvSpPr>
        <p:spPr>
          <a:xfrm>
            <a:off x="142875" y="3543300"/>
            <a:ext cx="7096125" cy="3086100"/>
          </a:xfrm>
          <a:prstGeom prst="roundRect">
            <a:avLst>
              <a:gd name="adj" fmla="val 1073"/>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238125" y="3600450"/>
            <a:ext cx="6905625" cy="209550"/>
          </a:xfrm>
          <a:prstGeom prst="rect">
            <a:avLst/>
          </a:prstGeom>
          <a:noFill/>
        </p:spPr>
        <p:txBody>
          <a:bodyPr wrap="square" lIns="28575" rIns="28575" tIns="9525" bIns="9525" anchor="ctr">
            <a:spAutoFit/>
          </a:bodyPr>
          <a:lstStyle/>
          <a:p>
            <a:pPr algn="l"/>
            <a:r>
              <a:rPr sz="1200" b="1">
                <a:solidFill>
                  <a:srgbClr val="2E2E2E"/>
                </a:solidFill>
                <a:latin typeface="Calibri"/>
              </a:rPr>
              <a:t>Structural Forces Shaping the Tier Structure (1 = weak, 5 = strong)</a:t>
            </a:r>
          </a:p>
        </p:txBody>
      </p:sp>
      <p:sp>
        <p:nvSpPr>
          <p:cNvPr id="61" name="Rectangle 60"/>
          <p:cNvSpPr/>
          <p:nvPr/>
        </p:nvSpPr>
        <p:spPr>
          <a:xfrm>
            <a:off x="238125" y="3867150"/>
            <a:ext cx="1428750" cy="247650"/>
          </a:xfrm>
          <a:prstGeom prst="rect">
            <a:avLst/>
          </a:prstGeom>
          <a:solidFill>
            <a:srgbClr val="1F3A6E"/>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295275" y="3867150"/>
            <a:ext cx="1352550" cy="247650"/>
          </a:xfrm>
          <a:prstGeom prst="rect">
            <a:avLst/>
          </a:prstGeom>
          <a:noFill/>
        </p:spPr>
        <p:txBody>
          <a:bodyPr wrap="square" lIns="28575" rIns="28575" tIns="9525" bIns="9525" anchor="ctr">
            <a:spAutoFit/>
          </a:bodyPr>
          <a:lstStyle/>
          <a:p>
            <a:pPr algn="l"/>
            <a:r>
              <a:rPr sz="1100" b="1">
                <a:solidFill>
                  <a:srgbClr val="FFFFFF"/>
                </a:solidFill>
                <a:latin typeface="Calibri"/>
              </a:rPr>
              <a:t>Force</a:t>
            </a:r>
          </a:p>
        </p:txBody>
      </p:sp>
      <p:sp>
        <p:nvSpPr>
          <p:cNvPr id="63" name="Rectangle 62"/>
          <p:cNvSpPr/>
          <p:nvPr/>
        </p:nvSpPr>
        <p:spPr>
          <a:xfrm>
            <a:off x="1666875" y="3867150"/>
            <a:ext cx="2333625" cy="247650"/>
          </a:xfrm>
          <a:prstGeom prst="rect">
            <a:avLst/>
          </a:prstGeom>
          <a:solidFill>
            <a:srgbClr val="1F3A6E"/>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1724025" y="3867150"/>
            <a:ext cx="2257425" cy="247650"/>
          </a:xfrm>
          <a:prstGeom prst="rect">
            <a:avLst/>
          </a:prstGeom>
          <a:noFill/>
        </p:spPr>
        <p:txBody>
          <a:bodyPr wrap="square" lIns="28575" rIns="28575" tIns="9525" bIns="9525" anchor="ctr">
            <a:spAutoFit/>
          </a:bodyPr>
          <a:lstStyle/>
          <a:p>
            <a:pPr algn="l"/>
            <a:r>
              <a:rPr sz="1100" b="1">
                <a:solidFill>
                  <a:srgbClr val="FFFFFF"/>
                </a:solidFill>
                <a:latin typeface="Calibri"/>
              </a:rPr>
              <a:t>Drivers in the market</a:t>
            </a:r>
          </a:p>
        </p:txBody>
      </p:sp>
      <p:sp>
        <p:nvSpPr>
          <p:cNvPr id="65" name="Rectangle 64"/>
          <p:cNvSpPr/>
          <p:nvPr/>
        </p:nvSpPr>
        <p:spPr>
          <a:xfrm>
            <a:off x="4000500" y="3867150"/>
            <a:ext cx="666750" cy="247650"/>
          </a:xfrm>
          <a:prstGeom prst="rect">
            <a:avLst/>
          </a:prstGeom>
          <a:solidFill>
            <a:srgbClr val="1F3A6E"/>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4057650" y="3867150"/>
            <a:ext cx="590550" cy="247650"/>
          </a:xfrm>
          <a:prstGeom prst="rect">
            <a:avLst/>
          </a:prstGeom>
          <a:noFill/>
        </p:spPr>
        <p:txBody>
          <a:bodyPr wrap="square" lIns="28575" rIns="28575" tIns="9525" bIns="9525" anchor="ctr">
            <a:spAutoFit/>
          </a:bodyPr>
          <a:lstStyle/>
          <a:p>
            <a:pPr algn="l"/>
            <a:r>
              <a:rPr sz="1100" b="1">
                <a:solidFill>
                  <a:srgbClr val="FFFFFF"/>
                </a:solidFill>
                <a:latin typeface="Calibri"/>
              </a:rPr>
              <a:t>Score</a:t>
            </a:r>
          </a:p>
        </p:txBody>
      </p:sp>
      <p:sp>
        <p:nvSpPr>
          <p:cNvPr id="67" name="Rectangle 66"/>
          <p:cNvSpPr/>
          <p:nvPr/>
        </p:nvSpPr>
        <p:spPr>
          <a:xfrm>
            <a:off x="4667250" y="3867150"/>
            <a:ext cx="2476500" cy="247650"/>
          </a:xfrm>
          <a:prstGeom prst="rect">
            <a:avLst/>
          </a:prstGeom>
          <a:solidFill>
            <a:srgbClr val="0E8C8C"/>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4724400" y="3867150"/>
            <a:ext cx="2400300" cy="247650"/>
          </a:xfrm>
          <a:prstGeom prst="rect">
            <a:avLst/>
          </a:prstGeom>
          <a:noFill/>
        </p:spPr>
        <p:txBody>
          <a:bodyPr wrap="square" lIns="28575" rIns="28575" tIns="9525" bIns="9525" anchor="ctr">
            <a:spAutoFit/>
          </a:bodyPr>
          <a:lstStyle/>
          <a:p>
            <a:pPr algn="l"/>
            <a:r>
              <a:rPr sz="1100" b="1">
                <a:solidFill>
                  <a:srgbClr val="FFFFFF"/>
                </a:solidFill>
                <a:latin typeface="Calibri"/>
              </a:rPr>
              <a:t>Effect on tier structure</a:t>
            </a:r>
          </a:p>
        </p:txBody>
      </p:sp>
      <p:sp>
        <p:nvSpPr>
          <p:cNvPr id="69" name="Rectangle 68"/>
          <p:cNvSpPr/>
          <p:nvPr/>
        </p:nvSpPr>
        <p:spPr>
          <a:xfrm>
            <a:off x="238125" y="4114800"/>
            <a:ext cx="1428750" cy="409575"/>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295275" y="4114800"/>
            <a:ext cx="1333500" cy="409575"/>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Entry barriers</a:t>
            </a:r>
          </a:p>
        </p:txBody>
      </p:sp>
      <p:sp>
        <p:nvSpPr>
          <p:cNvPr id="71" name="Rectangle 70"/>
          <p:cNvSpPr/>
          <p:nvPr/>
        </p:nvSpPr>
        <p:spPr>
          <a:xfrm>
            <a:off x="1666875" y="4114800"/>
            <a:ext cx="2333625" cy="409575"/>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1724025" y="4114800"/>
            <a:ext cx="2238375" cy="409575"/>
          </a:xfrm>
          <a:prstGeom prst="rect">
            <a:avLst/>
          </a:prstGeom>
          <a:noFill/>
        </p:spPr>
        <p:txBody>
          <a:bodyPr wrap="square" lIns="28575" rIns="28575" tIns="9525" bIns="9525" anchor="ctr">
            <a:spAutoFit/>
          </a:bodyPr>
          <a:lstStyle/>
          <a:p>
            <a:pPr algn="l">
              <a:lnSpc>
                <a:spcPct val="115000"/>
              </a:lnSpc>
            </a:pPr>
            <a:r>
              <a:rPr sz="1100" b="0">
                <a:solidFill>
                  <a:srgbClr val="14213D"/>
                </a:solidFill>
                <a:latin typeface="Calibri"/>
              </a:rPr>
              <a:t>Certification, qualification, scale economics</a:t>
            </a:r>
          </a:p>
        </p:txBody>
      </p:sp>
      <p:sp>
        <p:nvSpPr>
          <p:cNvPr id="73" name="Rectangle 72"/>
          <p:cNvSpPr/>
          <p:nvPr/>
        </p:nvSpPr>
        <p:spPr>
          <a:xfrm>
            <a:off x="4000500" y="4114800"/>
            <a:ext cx="666750" cy="409575"/>
          </a:xfrm>
          <a:prstGeom prst="rect">
            <a:avLst/>
          </a:prstGeom>
          <a:solidFill>
            <a:srgbClr val="E0F3F3"/>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4057650" y="4114800"/>
            <a:ext cx="571500" cy="409575"/>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 </a:t>
            </a:r>
          </a:p>
        </p:txBody>
      </p:sp>
      <p:sp>
        <p:nvSpPr>
          <p:cNvPr id="75" name="Rectangle 74"/>
          <p:cNvSpPr/>
          <p:nvPr/>
        </p:nvSpPr>
        <p:spPr>
          <a:xfrm>
            <a:off x="4667250" y="4114800"/>
            <a:ext cx="2476500" cy="409575"/>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4724400" y="4114800"/>
            <a:ext cx="2381250" cy="409575"/>
          </a:xfrm>
          <a:prstGeom prst="rect">
            <a:avLst/>
          </a:prstGeom>
          <a:noFill/>
        </p:spPr>
        <p:txBody>
          <a:bodyPr wrap="square" lIns="28575" rIns="28575" tIns="9525" bIns="9525" anchor="ctr">
            <a:spAutoFit/>
          </a:bodyPr>
          <a:lstStyle/>
          <a:p>
            <a:pPr algn="l">
              <a:lnSpc>
                <a:spcPct val="115000"/>
              </a:lnSpc>
            </a:pPr>
            <a:r>
              <a:rPr sz="1100" b="0">
                <a:solidFill>
                  <a:srgbClr val="14213D"/>
                </a:solidFill>
                <a:latin typeface="Calibri"/>
              </a:rPr>
              <a:t>Protects Tier 1–2; slows new entry</a:t>
            </a:r>
          </a:p>
        </p:txBody>
      </p:sp>
      <p:sp>
        <p:nvSpPr>
          <p:cNvPr id="77" name="Rectangle 76"/>
          <p:cNvSpPr/>
          <p:nvPr/>
        </p:nvSpPr>
        <p:spPr>
          <a:xfrm>
            <a:off x="238125" y="4524375"/>
            <a:ext cx="1428750" cy="409575"/>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295275" y="4524375"/>
            <a:ext cx="1333500" cy="409575"/>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Buyer power</a:t>
            </a:r>
          </a:p>
        </p:txBody>
      </p:sp>
      <p:sp>
        <p:nvSpPr>
          <p:cNvPr id="79" name="Rectangle 78"/>
          <p:cNvSpPr/>
          <p:nvPr/>
        </p:nvSpPr>
        <p:spPr>
          <a:xfrm>
            <a:off x="1666875" y="4524375"/>
            <a:ext cx="2333625" cy="409575"/>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1724025" y="4524375"/>
            <a:ext cx="2238375" cy="409575"/>
          </a:xfrm>
          <a:prstGeom prst="rect">
            <a:avLst/>
          </a:prstGeom>
          <a:noFill/>
        </p:spPr>
        <p:txBody>
          <a:bodyPr wrap="square" lIns="28575" rIns="28575" tIns="9525" bIns="9525" anchor="ctr">
            <a:spAutoFit/>
          </a:bodyPr>
          <a:lstStyle/>
          <a:p>
            <a:pPr algn="l">
              <a:lnSpc>
                <a:spcPct val="115000"/>
              </a:lnSpc>
            </a:pPr>
            <a:r>
              <a:rPr sz="1100" b="0">
                <a:solidFill>
                  <a:srgbClr val="14213D"/>
                </a:solidFill>
                <a:latin typeface="Calibri"/>
              </a:rPr>
              <a:t>Key-account purchasing, multi-year supply contracts</a:t>
            </a:r>
          </a:p>
        </p:txBody>
      </p:sp>
      <p:sp>
        <p:nvSpPr>
          <p:cNvPr id="81" name="Rectangle 80"/>
          <p:cNvSpPr/>
          <p:nvPr/>
        </p:nvSpPr>
        <p:spPr>
          <a:xfrm>
            <a:off x="4000500" y="4524375"/>
            <a:ext cx="666750" cy="409575"/>
          </a:xfrm>
          <a:prstGeom prst="rect">
            <a:avLst/>
          </a:prstGeom>
          <a:solidFill>
            <a:srgbClr val="E0F3F3"/>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4057650" y="4524375"/>
            <a:ext cx="571500" cy="409575"/>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 </a:t>
            </a:r>
          </a:p>
        </p:txBody>
      </p:sp>
      <p:sp>
        <p:nvSpPr>
          <p:cNvPr id="83" name="Rectangle 82"/>
          <p:cNvSpPr/>
          <p:nvPr/>
        </p:nvSpPr>
        <p:spPr>
          <a:xfrm>
            <a:off x="4667250" y="4524375"/>
            <a:ext cx="2476500" cy="409575"/>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4724400" y="4524375"/>
            <a:ext cx="2381250" cy="409575"/>
          </a:xfrm>
          <a:prstGeom prst="rect">
            <a:avLst/>
          </a:prstGeom>
          <a:noFill/>
        </p:spPr>
        <p:txBody>
          <a:bodyPr wrap="square" lIns="28575" rIns="28575" tIns="9525" bIns="9525" anchor="ctr">
            <a:spAutoFit/>
          </a:bodyPr>
          <a:lstStyle/>
          <a:p>
            <a:pPr algn="l">
              <a:lnSpc>
                <a:spcPct val="115000"/>
              </a:lnSpc>
            </a:pPr>
            <a:r>
              <a:rPr sz="1100" b="0">
                <a:solidFill>
                  <a:srgbClr val="14213D"/>
                </a:solidFill>
                <a:latin typeface="Calibri"/>
              </a:rPr>
              <a:t>Compresses Tier 3 pricing</a:t>
            </a:r>
          </a:p>
        </p:txBody>
      </p:sp>
      <p:sp>
        <p:nvSpPr>
          <p:cNvPr id="85" name="Rectangle 84"/>
          <p:cNvSpPr/>
          <p:nvPr/>
        </p:nvSpPr>
        <p:spPr>
          <a:xfrm>
            <a:off x="238125" y="4933950"/>
            <a:ext cx="1428750" cy="409575"/>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295275" y="4933950"/>
            <a:ext cx="1333500" cy="409575"/>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Switching costs</a:t>
            </a:r>
          </a:p>
        </p:txBody>
      </p:sp>
      <p:sp>
        <p:nvSpPr>
          <p:cNvPr id="87" name="Rectangle 86"/>
          <p:cNvSpPr/>
          <p:nvPr/>
        </p:nvSpPr>
        <p:spPr>
          <a:xfrm>
            <a:off x="1666875" y="4933950"/>
            <a:ext cx="2333625" cy="409575"/>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1724025" y="4933950"/>
            <a:ext cx="2238375" cy="409575"/>
          </a:xfrm>
          <a:prstGeom prst="rect">
            <a:avLst/>
          </a:prstGeom>
          <a:noFill/>
        </p:spPr>
        <p:txBody>
          <a:bodyPr wrap="square" lIns="28575" rIns="28575" tIns="9525" bIns="9525" anchor="ctr">
            <a:spAutoFit/>
          </a:bodyPr>
          <a:lstStyle/>
          <a:p>
            <a:pPr algn="l">
              <a:lnSpc>
                <a:spcPct val="115000"/>
              </a:lnSpc>
            </a:pPr>
            <a:r>
              <a:rPr sz="1100" b="0">
                <a:solidFill>
                  <a:srgbClr val="14213D"/>
                </a:solidFill>
                <a:latin typeface="Calibri"/>
              </a:rPr>
              <a:t>Requalification, integration and retraining</a:t>
            </a:r>
          </a:p>
        </p:txBody>
      </p:sp>
      <p:sp>
        <p:nvSpPr>
          <p:cNvPr id="89" name="Rectangle 88"/>
          <p:cNvSpPr/>
          <p:nvPr/>
        </p:nvSpPr>
        <p:spPr>
          <a:xfrm>
            <a:off x="4000500" y="4933950"/>
            <a:ext cx="666750" cy="409575"/>
          </a:xfrm>
          <a:prstGeom prst="rect">
            <a:avLst/>
          </a:prstGeom>
          <a:solidFill>
            <a:srgbClr val="E0F3F3"/>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4057650" y="4933950"/>
            <a:ext cx="571500" cy="409575"/>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 </a:t>
            </a:r>
          </a:p>
        </p:txBody>
      </p:sp>
      <p:sp>
        <p:nvSpPr>
          <p:cNvPr id="91" name="Rectangle 90"/>
          <p:cNvSpPr/>
          <p:nvPr/>
        </p:nvSpPr>
        <p:spPr>
          <a:xfrm>
            <a:off x="4667250" y="4933950"/>
            <a:ext cx="2476500" cy="409575"/>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4724400" y="4933950"/>
            <a:ext cx="2381250" cy="409575"/>
          </a:xfrm>
          <a:prstGeom prst="rect">
            <a:avLst/>
          </a:prstGeom>
          <a:noFill/>
        </p:spPr>
        <p:txBody>
          <a:bodyPr wrap="square" lIns="28575" rIns="28575" tIns="9525" bIns="9525" anchor="ctr">
            <a:spAutoFit/>
          </a:bodyPr>
          <a:lstStyle/>
          <a:p>
            <a:pPr algn="l">
              <a:lnSpc>
                <a:spcPct val="115000"/>
              </a:lnSpc>
            </a:pPr>
            <a:r>
              <a:rPr sz="1100" b="0">
                <a:solidFill>
                  <a:srgbClr val="14213D"/>
                </a:solidFill>
                <a:latin typeface="Calibri"/>
              </a:rPr>
              <a:t>Locks in the installed base</a:t>
            </a:r>
          </a:p>
        </p:txBody>
      </p:sp>
      <p:sp>
        <p:nvSpPr>
          <p:cNvPr id="93" name="Rectangle 92"/>
          <p:cNvSpPr/>
          <p:nvPr/>
        </p:nvSpPr>
        <p:spPr>
          <a:xfrm>
            <a:off x="238125" y="5343525"/>
            <a:ext cx="1428750" cy="409575"/>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295275" y="5343525"/>
            <a:ext cx="1333500" cy="409575"/>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Technology substitution</a:t>
            </a:r>
          </a:p>
        </p:txBody>
      </p:sp>
      <p:sp>
        <p:nvSpPr>
          <p:cNvPr id="95" name="Rectangle 94"/>
          <p:cNvSpPr/>
          <p:nvPr/>
        </p:nvSpPr>
        <p:spPr>
          <a:xfrm>
            <a:off x="1666875" y="5343525"/>
            <a:ext cx="2333625" cy="409575"/>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1724025" y="5343525"/>
            <a:ext cx="2238375" cy="409575"/>
          </a:xfrm>
          <a:prstGeom prst="rect">
            <a:avLst/>
          </a:prstGeom>
          <a:noFill/>
        </p:spPr>
        <p:txBody>
          <a:bodyPr wrap="square" lIns="28575" rIns="28575" tIns="9525" bIns="9525" anchor="ctr">
            <a:spAutoFit/>
          </a:bodyPr>
          <a:lstStyle/>
          <a:p>
            <a:pPr algn="l">
              <a:lnSpc>
                <a:spcPct val="115000"/>
              </a:lnSpc>
            </a:pPr>
            <a:r>
              <a:rPr sz="1100" b="0">
                <a:solidFill>
                  <a:srgbClr val="14213D"/>
                </a:solidFill>
                <a:latin typeface="Calibri"/>
              </a:rPr>
              <a:t>Alternative materials and next-generation formats</a:t>
            </a:r>
          </a:p>
        </p:txBody>
      </p:sp>
      <p:sp>
        <p:nvSpPr>
          <p:cNvPr id="97" name="Rectangle 96"/>
          <p:cNvSpPr/>
          <p:nvPr/>
        </p:nvSpPr>
        <p:spPr>
          <a:xfrm>
            <a:off x="4000500" y="5343525"/>
            <a:ext cx="666750" cy="409575"/>
          </a:xfrm>
          <a:prstGeom prst="rect">
            <a:avLst/>
          </a:prstGeom>
          <a:solidFill>
            <a:srgbClr val="E0F3F3"/>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4057650" y="5343525"/>
            <a:ext cx="571500" cy="409575"/>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 </a:t>
            </a:r>
          </a:p>
        </p:txBody>
      </p:sp>
      <p:sp>
        <p:nvSpPr>
          <p:cNvPr id="99" name="Rectangle 98"/>
          <p:cNvSpPr/>
          <p:nvPr/>
        </p:nvSpPr>
        <p:spPr>
          <a:xfrm>
            <a:off x="4667250" y="5343525"/>
            <a:ext cx="2476500" cy="409575"/>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99"/>
          <p:cNvSpPr txBox="1"/>
          <p:nvPr/>
        </p:nvSpPr>
        <p:spPr>
          <a:xfrm>
            <a:off x="4724400" y="5343525"/>
            <a:ext cx="2381250" cy="409575"/>
          </a:xfrm>
          <a:prstGeom prst="rect">
            <a:avLst/>
          </a:prstGeom>
          <a:noFill/>
        </p:spPr>
        <p:txBody>
          <a:bodyPr wrap="square" lIns="28575" rIns="28575" tIns="9525" bIns="9525" anchor="ctr">
            <a:spAutoFit/>
          </a:bodyPr>
          <a:lstStyle/>
          <a:p>
            <a:pPr algn="l">
              <a:lnSpc>
                <a:spcPct val="115000"/>
              </a:lnSpc>
            </a:pPr>
            <a:r>
              <a:rPr sz="1100" b="0">
                <a:solidFill>
                  <a:srgbClr val="14213D"/>
                </a:solidFill>
                <a:latin typeface="Calibri"/>
              </a:rPr>
              <a:t>Opens demand to Tier 2–3 innovators</a:t>
            </a:r>
          </a:p>
        </p:txBody>
      </p:sp>
      <p:sp>
        <p:nvSpPr>
          <p:cNvPr id="101" name="Rectangle 100"/>
          <p:cNvSpPr/>
          <p:nvPr/>
        </p:nvSpPr>
        <p:spPr>
          <a:xfrm>
            <a:off x="238125" y="5753100"/>
            <a:ext cx="1428750" cy="409575"/>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295275" y="5753100"/>
            <a:ext cx="1333500" cy="409575"/>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Supplier power</a:t>
            </a:r>
          </a:p>
        </p:txBody>
      </p:sp>
      <p:sp>
        <p:nvSpPr>
          <p:cNvPr id="103" name="Rectangle 102"/>
          <p:cNvSpPr/>
          <p:nvPr/>
        </p:nvSpPr>
        <p:spPr>
          <a:xfrm>
            <a:off x="1666875" y="5753100"/>
            <a:ext cx="2333625" cy="409575"/>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1724025" y="5753100"/>
            <a:ext cx="2238375" cy="409575"/>
          </a:xfrm>
          <a:prstGeom prst="rect">
            <a:avLst/>
          </a:prstGeom>
          <a:noFill/>
        </p:spPr>
        <p:txBody>
          <a:bodyPr wrap="square" lIns="28575" rIns="28575" tIns="9525" bIns="9525" anchor="ctr">
            <a:spAutoFit/>
          </a:bodyPr>
          <a:lstStyle/>
          <a:p>
            <a:pPr algn="l">
              <a:lnSpc>
                <a:spcPct val="115000"/>
              </a:lnSpc>
            </a:pPr>
            <a:r>
              <a:rPr sz="1100" b="0">
                <a:solidFill>
                  <a:srgbClr val="14213D"/>
                </a:solidFill>
                <a:latin typeface="Calibri"/>
              </a:rPr>
              <a:t>Few qualified input and component suppliers</a:t>
            </a:r>
          </a:p>
        </p:txBody>
      </p:sp>
      <p:sp>
        <p:nvSpPr>
          <p:cNvPr id="105" name="Rectangle 104"/>
          <p:cNvSpPr/>
          <p:nvPr/>
        </p:nvSpPr>
        <p:spPr>
          <a:xfrm>
            <a:off x="4000500" y="5753100"/>
            <a:ext cx="666750" cy="409575"/>
          </a:xfrm>
          <a:prstGeom prst="rect">
            <a:avLst/>
          </a:prstGeom>
          <a:solidFill>
            <a:srgbClr val="E0F3F3"/>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extBox 105"/>
          <p:cNvSpPr txBox="1"/>
          <p:nvPr/>
        </p:nvSpPr>
        <p:spPr>
          <a:xfrm>
            <a:off x="4057650" y="5753100"/>
            <a:ext cx="571500" cy="409575"/>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 </a:t>
            </a:r>
          </a:p>
        </p:txBody>
      </p:sp>
      <p:sp>
        <p:nvSpPr>
          <p:cNvPr id="107" name="Rectangle 106"/>
          <p:cNvSpPr/>
          <p:nvPr/>
        </p:nvSpPr>
        <p:spPr>
          <a:xfrm>
            <a:off x="4667250" y="5753100"/>
            <a:ext cx="2476500" cy="409575"/>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4724400" y="5753100"/>
            <a:ext cx="2381250" cy="409575"/>
          </a:xfrm>
          <a:prstGeom prst="rect">
            <a:avLst/>
          </a:prstGeom>
          <a:noFill/>
        </p:spPr>
        <p:txBody>
          <a:bodyPr wrap="square" lIns="28575" rIns="28575" tIns="9525" bIns="9525" anchor="ctr">
            <a:spAutoFit/>
          </a:bodyPr>
          <a:lstStyle/>
          <a:p>
            <a:pPr algn="l">
              <a:lnSpc>
                <a:spcPct val="115000"/>
              </a:lnSpc>
            </a:pPr>
            <a:r>
              <a:rPr sz="1100" b="0">
                <a:solidFill>
                  <a:srgbClr val="14213D"/>
                </a:solidFill>
                <a:latin typeface="Calibri"/>
              </a:rPr>
              <a:t>Raises input cost for sub-scale players</a:t>
            </a:r>
          </a:p>
        </p:txBody>
      </p:sp>
      <p:sp>
        <p:nvSpPr>
          <p:cNvPr id="109" name="Rectangle 108"/>
          <p:cNvSpPr/>
          <p:nvPr/>
        </p:nvSpPr>
        <p:spPr>
          <a:xfrm>
            <a:off x="238125" y="6162675"/>
            <a:ext cx="1428750" cy="409575"/>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TextBox 109"/>
          <p:cNvSpPr txBox="1"/>
          <p:nvPr/>
        </p:nvSpPr>
        <p:spPr>
          <a:xfrm>
            <a:off x="295275" y="6162675"/>
            <a:ext cx="1333500" cy="409575"/>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Overall structural pressure</a:t>
            </a:r>
          </a:p>
        </p:txBody>
      </p:sp>
      <p:sp>
        <p:nvSpPr>
          <p:cNvPr id="111" name="Rectangle 110"/>
          <p:cNvSpPr/>
          <p:nvPr/>
        </p:nvSpPr>
        <p:spPr>
          <a:xfrm>
            <a:off x="1666875" y="6162675"/>
            <a:ext cx="2333625" cy="409575"/>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TextBox 111"/>
          <p:cNvSpPr txBox="1"/>
          <p:nvPr/>
        </p:nvSpPr>
        <p:spPr>
          <a:xfrm>
            <a:off x="1724025" y="6162675"/>
            <a:ext cx="2238375" cy="409575"/>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Average of the five forces</a:t>
            </a:r>
          </a:p>
        </p:txBody>
      </p:sp>
      <p:sp>
        <p:nvSpPr>
          <p:cNvPr id="113" name="Rectangle 112"/>
          <p:cNvSpPr/>
          <p:nvPr/>
        </p:nvSpPr>
        <p:spPr>
          <a:xfrm>
            <a:off x="4000500" y="6162675"/>
            <a:ext cx="666750" cy="409575"/>
          </a:xfrm>
          <a:prstGeom prst="rect">
            <a:avLst/>
          </a:prstGeom>
          <a:solidFill>
            <a:srgbClr val="E0F3F3"/>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TextBox 113"/>
          <p:cNvSpPr txBox="1"/>
          <p:nvPr/>
        </p:nvSpPr>
        <p:spPr>
          <a:xfrm>
            <a:off x="4057650" y="6162675"/>
            <a:ext cx="571500" cy="409575"/>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 </a:t>
            </a:r>
          </a:p>
        </p:txBody>
      </p:sp>
      <p:sp>
        <p:nvSpPr>
          <p:cNvPr id="115" name="Rectangle 114"/>
          <p:cNvSpPr/>
          <p:nvPr/>
        </p:nvSpPr>
        <p:spPr>
          <a:xfrm>
            <a:off x="4667250" y="6162675"/>
            <a:ext cx="2476500" cy="409575"/>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TextBox 115"/>
          <p:cNvSpPr txBox="1"/>
          <p:nvPr/>
        </p:nvSpPr>
        <p:spPr>
          <a:xfrm>
            <a:off x="4724400" y="6162675"/>
            <a:ext cx="2381250" cy="409575"/>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Consolidation towards Tier 1–2</a:t>
            </a:r>
          </a:p>
        </p:txBody>
      </p:sp>
      <p:sp>
        <p:nvSpPr>
          <p:cNvPr id="117" name="Rounded Rectangle 116"/>
          <p:cNvSpPr/>
          <p:nvPr/>
        </p:nvSpPr>
        <p:spPr>
          <a:xfrm>
            <a:off x="7381875" y="3543300"/>
            <a:ext cx="4667250" cy="3086100"/>
          </a:xfrm>
          <a:prstGeom prst="roundRect">
            <a:avLst>
              <a:gd name="adj" fmla="val 1632"/>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TextBox 117"/>
          <p:cNvSpPr txBox="1"/>
          <p:nvPr/>
        </p:nvSpPr>
        <p:spPr>
          <a:xfrm>
            <a:off x="7477125" y="3600450"/>
            <a:ext cx="4476750" cy="209550"/>
          </a:xfrm>
          <a:prstGeom prst="rect">
            <a:avLst/>
          </a:prstGeom>
          <a:noFill/>
        </p:spPr>
        <p:txBody>
          <a:bodyPr wrap="square" lIns="28575" rIns="28575" tIns="9525" bIns="9525" anchor="ctr">
            <a:spAutoFit/>
          </a:bodyPr>
          <a:lstStyle/>
          <a:p>
            <a:pPr algn="l"/>
            <a:r>
              <a:rPr sz="1200" b="1">
                <a:solidFill>
                  <a:srgbClr val="2E2E2E"/>
                </a:solidFill>
                <a:latin typeface="Calibri"/>
              </a:rPr>
              <a:t>Key Takeaways</a:t>
            </a:r>
          </a:p>
        </p:txBody>
      </p:sp>
      <p:sp>
        <p:nvSpPr>
          <p:cNvPr id="119" name="TextBox 118"/>
          <p:cNvSpPr txBox="1"/>
          <p:nvPr/>
        </p:nvSpPr>
        <p:spPr>
          <a:xfrm>
            <a:off x="7496175" y="3848100"/>
            <a:ext cx="114300" cy="161925"/>
          </a:xfrm>
          <a:prstGeom prst="rect">
            <a:avLst/>
          </a:prstGeom>
          <a:noFill/>
        </p:spPr>
        <p:txBody>
          <a:bodyPr wrap="none" lIns="0" rIns="0" tIns="0" bIns="0" anchor="t">
            <a:spAutoFit/>
          </a:bodyPr>
          <a:lstStyle/>
          <a:p>
            <a:pPr algn="l"/>
            <a:r>
              <a:rPr sz="1100" b="1">
                <a:solidFill>
                  <a:srgbClr val="2A5F8F"/>
                </a:solidFill>
                <a:latin typeface="Calibri"/>
              </a:rPr>
              <a:t>•</a:t>
            </a:r>
          </a:p>
        </p:txBody>
      </p:sp>
      <p:sp>
        <p:nvSpPr>
          <p:cNvPr id="120" name="TextBox 119"/>
          <p:cNvSpPr txBox="1"/>
          <p:nvPr/>
        </p:nvSpPr>
        <p:spPr>
          <a:xfrm>
            <a:off x="7629525" y="3848100"/>
            <a:ext cx="4305300" cy="695325"/>
          </a:xfrm>
          <a:prstGeom prst="rect">
            <a:avLst/>
          </a:prstGeom>
          <a:noFill/>
        </p:spPr>
        <p:txBody>
          <a:bodyPr wrap="square" lIns="28575" rIns="28575" tIns="9525" bIns="9525" anchor="t">
            <a:spAutoFit/>
          </a:bodyPr>
          <a:lstStyle/>
          <a:p>
            <a:pPr algn="l">
              <a:lnSpc>
                <a:spcPct val="115000"/>
              </a:lnSpc>
            </a:pPr>
            <a:r>
              <a:rPr sz="1100" b="0">
                <a:solidFill>
                  <a:srgbClr val="14213D"/>
                </a:solidFill>
                <a:latin typeface="Calibri"/>
              </a:rPr>
              <a:t/>
            </a:r>
          </a:p>
        </p:txBody>
      </p:sp>
      <p:sp>
        <p:nvSpPr>
          <p:cNvPr id="121" name="TextBox 120"/>
          <p:cNvSpPr txBox="1"/>
          <p:nvPr/>
        </p:nvSpPr>
        <p:spPr>
          <a:xfrm>
            <a:off x="7496175" y="4429125"/>
            <a:ext cx="114300" cy="161925"/>
          </a:xfrm>
          <a:prstGeom prst="rect">
            <a:avLst/>
          </a:prstGeom>
          <a:noFill/>
        </p:spPr>
        <p:txBody>
          <a:bodyPr wrap="none" lIns="0" rIns="0" tIns="0" bIns="0" anchor="t">
            <a:spAutoFit/>
          </a:bodyPr>
          <a:lstStyle/>
          <a:p>
            <a:pPr algn="l"/>
            <a:r>
              <a:rPr sz="1100" b="1">
                <a:solidFill>
                  <a:srgbClr val="2A5F8F"/>
                </a:solidFill>
                <a:latin typeface="Calibri"/>
              </a:rPr>
              <a:t>•</a:t>
            </a:r>
          </a:p>
        </p:txBody>
      </p:sp>
      <p:sp>
        <p:nvSpPr>
          <p:cNvPr id="122" name="TextBox 121"/>
          <p:cNvSpPr txBox="1"/>
          <p:nvPr/>
        </p:nvSpPr>
        <p:spPr>
          <a:xfrm>
            <a:off x="7629525" y="4429125"/>
            <a:ext cx="4305300" cy="695325"/>
          </a:xfrm>
          <a:prstGeom prst="rect">
            <a:avLst/>
          </a:prstGeom>
          <a:noFill/>
        </p:spPr>
        <p:txBody>
          <a:bodyPr wrap="square" lIns="28575" rIns="28575" tIns="9525" bIns="9525" anchor="t">
            <a:spAutoFit/>
          </a:bodyPr>
          <a:lstStyle/>
          <a:p>
            <a:pPr algn="l">
              <a:lnSpc>
                <a:spcPct val="115000"/>
              </a:lnSpc>
            </a:pPr>
            <a:r>
              <a:rPr sz="1100" b="0">
                <a:solidFill>
                  <a:srgbClr val="14213D"/>
                </a:solidFill>
                <a:latin typeface="Calibri"/>
              </a:rPr>
              <a:t>1 Tier 2 player is positioned to move up-tier by 2036 through M&amp;A and key-account wins – the main structural change of the decade.</a:t>
            </a:r>
          </a:p>
        </p:txBody>
      </p:sp>
      <p:sp>
        <p:nvSpPr>
          <p:cNvPr id="123" name="TextBox 122"/>
          <p:cNvSpPr txBox="1"/>
          <p:nvPr/>
        </p:nvSpPr>
        <p:spPr>
          <a:xfrm>
            <a:off x="7496175" y="5010150"/>
            <a:ext cx="114300" cy="161925"/>
          </a:xfrm>
          <a:prstGeom prst="rect">
            <a:avLst/>
          </a:prstGeom>
          <a:noFill/>
        </p:spPr>
        <p:txBody>
          <a:bodyPr wrap="none" lIns="0" rIns="0" tIns="0" bIns="0" anchor="t">
            <a:spAutoFit/>
          </a:bodyPr>
          <a:lstStyle/>
          <a:p>
            <a:pPr algn="l"/>
            <a:r>
              <a:rPr sz="1100" b="1">
                <a:solidFill>
                  <a:srgbClr val="2A5F8F"/>
                </a:solidFill>
                <a:latin typeface="Calibri"/>
              </a:rPr>
              <a:t>•</a:t>
            </a:r>
          </a:p>
        </p:txBody>
      </p:sp>
      <p:sp>
        <p:nvSpPr>
          <p:cNvPr id="124" name="TextBox 123"/>
          <p:cNvSpPr txBox="1"/>
          <p:nvPr/>
        </p:nvSpPr>
        <p:spPr>
          <a:xfrm>
            <a:off x="7629525" y="5010150"/>
            <a:ext cx="4305300" cy="533400"/>
          </a:xfrm>
          <a:prstGeom prst="rect">
            <a:avLst/>
          </a:prstGeom>
          <a:noFill/>
        </p:spPr>
        <p:txBody>
          <a:bodyPr wrap="square" lIns="28575" rIns="28575" tIns="9525" bIns="9525" anchor="t">
            <a:spAutoFit/>
          </a:bodyPr>
          <a:lstStyle/>
          <a:p>
            <a:pPr algn="l">
              <a:lnSpc>
                <a:spcPct val="115000"/>
              </a:lnSpc>
            </a:pPr>
            <a:r>
              <a:rPr sz="1100" b="0">
                <a:solidFill>
                  <a:srgbClr val="14213D"/>
                </a:solidFill>
                <a:latin typeface="Calibri"/>
              </a:rPr>
              <a:t/>
            </a:r>
          </a:p>
        </p:txBody>
      </p:sp>
      <p:sp>
        <p:nvSpPr>
          <p:cNvPr id="125" name="TextBox 124"/>
          <p:cNvSpPr txBox="1"/>
          <p:nvPr/>
        </p:nvSpPr>
        <p:spPr>
          <a:xfrm>
            <a:off x="7496175" y="5429250"/>
            <a:ext cx="114300" cy="161925"/>
          </a:xfrm>
          <a:prstGeom prst="rect">
            <a:avLst/>
          </a:prstGeom>
          <a:noFill/>
        </p:spPr>
        <p:txBody>
          <a:bodyPr wrap="none" lIns="0" rIns="0" tIns="0" bIns="0" anchor="t">
            <a:spAutoFit/>
          </a:bodyPr>
          <a:lstStyle/>
          <a:p>
            <a:pPr algn="l"/>
            <a:r>
              <a:rPr sz="1100" b="1">
                <a:solidFill>
                  <a:srgbClr val="2A5F8F"/>
                </a:solidFill>
                <a:latin typeface="Calibri"/>
              </a:rPr>
              <a:t>•</a:t>
            </a:r>
          </a:p>
        </p:txBody>
      </p:sp>
      <p:sp>
        <p:nvSpPr>
          <p:cNvPr id="126" name="TextBox 125"/>
          <p:cNvSpPr txBox="1"/>
          <p:nvPr/>
        </p:nvSpPr>
        <p:spPr>
          <a:xfrm>
            <a:off x="7629525" y="5429250"/>
            <a:ext cx="4305300" cy="533400"/>
          </a:xfrm>
          <a:prstGeom prst="rect">
            <a:avLst/>
          </a:prstGeom>
          <a:noFill/>
        </p:spPr>
        <p:txBody>
          <a:bodyPr wrap="square" lIns="28575" rIns="28575" tIns="9525" bIns="9525" anchor="t">
            <a:spAutoFit/>
          </a:bodyPr>
          <a:lstStyle/>
          <a:p>
            <a:pPr algn="l">
              <a:lnSpc>
                <a:spcPct val="115000"/>
              </a:lnSpc>
            </a:pPr>
            <a:r>
              <a:rPr sz="1100" b="0">
                <a:solidFill>
                  <a:srgbClr val="14213D"/>
                </a:solidFill>
                <a:latin typeface="Calibri"/>
              </a:rPr>
              <a:t>Buyer power (4 / 5) and technology substitution (4 / 5) are the dominant forces shaping the tier structure.</a:t>
            </a:r>
          </a:p>
        </p:txBody>
      </p:sp>
      <p:sp>
        <p:nvSpPr>
          <p:cNvPr id="127" name="Rectangle 126"/>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TextBox 12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29" name="Picture 128" descr="lock.png"/>
          <p:cNvPicPr>
            <a:picLocks noChangeAspect="1"/>
          </p:cNvPicPr>
          <p:nvPr/>
        </p:nvPicPr>
        <p:blipFill>
          <a:blip r:embed="rId4"/>
          <a:stretch>
            <a:fillRect/>
          </a:stretch>
        </p:blipFill>
        <p:spPr>
          <a:xfrm>
            <a:off x="604726" y="2545080"/>
            <a:ext cx="257397" cy="374396"/>
          </a:xfrm>
          <a:prstGeom prst="rect">
            <a:avLst/>
          </a:prstGeom>
        </p:spPr>
      </p:pic>
      <p:pic>
        <p:nvPicPr>
          <p:cNvPr id="130" name="Picture 129" descr="lock.png"/>
          <p:cNvPicPr>
            <a:picLocks noChangeAspect="1"/>
          </p:cNvPicPr>
          <p:nvPr/>
        </p:nvPicPr>
        <p:blipFill>
          <a:blip r:embed="rId4"/>
          <a:stretch>
            <a:fillRect/>
          </a:stretch>
        </p:blipFill>
        <p:spPr>
          <a:xfrm>
            <a:off x="3557476" y="2545080"/>
            <a:ext cx="257397" cy="374396"/>
          </a:xfrm>
          <a:prstGeom prst="rect">
            <a:avLst/>
          </a:prstGeom>
        </p:spPr>
      </p:pic>
      <p:pic>
        <p:nvPicPr>
          <p:cNvPr id="131" name="Picture 130" descr="lock.png"/>
          <p:cNvPicPr>
            <a:picLocks noChangeAspect="1"/>
          </p:cNvPicPr>
          <p:nvPr/>
        </p:nvPicPr>
        <p:blipFill>
          <a:blip r:embed="rId4"/>
          <a:stretch>
            <a:fillRect/>
          </a:stretch>
        </p:blipFill>
        <p:spPr>
          <a:xfrm>
            <a:off x="6510226" y="2545080"/>
            <a:ext cx="257397" cy="374396"/>
          </a:xfrm>
          <a:prstGeom prst="rect">
            <a:avLst/>
          </a:prstGeom>
        </p:spPr>
      </p:pic>
      <p:pic>
        <p:nvPicPr>
          <p:cNvPr id="132" name="Picture 131" descr="lock.png"/>
          <p:cNvPicPr>
            <a:picLocks noChangeAspect="1"/>
          </p:cNvPicPr>
          <p:nvPr/>
        </p:nvPicPr>
        <p:blipFill>
          <a:blip r:embed="rId4"/>
          <a:stretch>
            <a:fillRect/>
          </a:stretch>
        </p:blipFill>
        <p:spPr>
          <a:xfrm>
            <a:off x="9462976" y="2545080"/>
            <a:ext cx="257397" cy="374396"/>
          </a:xfrm>
          <a:prstGeom prst="rect">
            <a:avLst/>
          </a:prstGeom>
        </p:spPr>
      </p:pic>
      <p:pic>
        <p:nvPicPr>
          <p:cNvPr id="133" name="Picture 132" descr="lock.png"/>
          <p:cNvPicPr>
            <a:picLocks noChangeAspect="1"/>
          </p:cNvPicPr>
          <p:nvPr/>
        </p:nvPicPr>
        <p:blipFill>
          <a:blip r:embed="rId4"/>
          <a:stretch>
            <a:fillRect/>
          </a:stretch>
        </p:blipFill>
        <p:spPr>
          <a:xfrm>
            <a:off x="4279050" y="4225988"/>
            <a:ext cx="128699" cy="187198"/>
          </a:xfrm>
          <a:prstGeom prst="rect">
            <a:avLst/>
          </a:prstGeom>
        </p:spPr>
      </p:pic>
      <p:pic>
        <p:nvPicPr>
          <p:cNvPr id="134" name="Picture 133" descr="lock.png"/>
          <p:cNvPicPr>
            <a:picLocks noChangeAspect="1"/>
          </p:cNvPicPr>
          <p:nvPr/>
        </p:nvPicPr>
        <p:blipFill>
          <a:blip r:embed="rId4"/>
          <a:stretch>
            <a:fillRect/>
          </a:stretch>
        </p:blipFill>
        <p:spPr>
          <a:xfrm>
            <a:off x="4279050" y="4635563"/>
            <a:ext cx="128699" cy="187198"/>
          </a:xfrm>
          <a:prstGeom prst="rect">
            <a:avLst/>
          </a:prstGeom>
        </p:spPr>
      </p:pic>
      <p:pic>
        <p:nvPicPr>
          <p:cNvPr id="135" name="Picture 134" descr="lock.png"/>
          <p:cNvPicPr>
            <a:picLocks noChangeAspect="1"/>
          </p:cNvPicPr>
          <p:nvPr/>
        </p:nvPicPr>
        <p:blipFill>
          <a:blip r:embed="rId4"/>
          <a:stretch>
            <a:fillRect/>
          </a:stretch>
        </p:blipFill>
        <p:spPr>
          <a:xfrm>
            <a:off x="4279050" y="5045138"/>
            <a:ext cx="128699" cy="187198"/>
          </a:xfrm>
          <a:prstGeom prst="rect">
            <a:avLst/>
          </a:prstGeom>
        </p:spPr>
      </p:pic>
      <p:pic>
        <p:nvPicPr>
          <p:cNvPr id="136" name="Picture 135" descr="lock.png"/>
          <p:cNvPicPr>
            <a:picLocks noChangeAspect="1"/>
          </p:cNvPicPr>
          <p:nvPr/>
        </p:nvPicPr>
        <p:blipFill>
          <a:blip r:embed="rId4"/>
          <a:stretch>
            <a:fillRect/>
          </a:stretch>
        </p:blipFill>
        <p:spPr>
          <a:xfrm>
            <a:off x="4279050" y="5454713"/>
            <a:ext cx="128699" cy="187198"/>
          </a:xfrm>
          <a:prstGeom prst="rect">
            <a:avLst/>
          </a:prstGeom>
        </p:spPr>
      </p:pic>
      <p:pic>
        <p:nvPicPr>
          <p:cNvPr id="137" name="Picture 136" descr="lock.png"/>
          <p:cNvPicPr>
            <a:picLocks noChangeAspect="1"/>
          </p:cNvPicPr>
          <p:nvPr/>
        </p:nvPicPr>
        <p:blipFill>
          <a:blip r:embed="rId4"/>
          <a:stretch>
            <a:fillRect/>
          </a:stretch>
        </p:blipFill>
        <p:spPr>
          <a:xfrm>
            <a:off x="4279050" y="5864288"/>
            <a:ext cx="128699" cy="187198"/>
          </a:xfrm>
          <a:prstGeom prst="rect">
            <a:avLst/>
          </a:prstGeom>
        </p:spPr>
      </p:pic>
      <p:pic>
        <p:nvPicPr>
          <p:cNvPr id="138" name="Picture 137" descr="lock.png"/>
          <p:cNvPicPr>
            <a:picLocks noChangeAspect="1"/>
          </p:cNvPicPr>
          <p:nvPr/>
        </p:nvPicPr>
        <p:blipFill>
          <a:blip r:embed="rId4"/>
          <a:stretch>
            <a:fillRect/>
          </a:stretch>
        </p:blipFill>
        <p:spPr>
          <a:xfrm>
            <a:off x="4279050" y="6273863"/>
            <a:ext cx="128699" cy="187198"/>
          </a:xfrm>
          <a:prstGeom prst="rect">
            <a:avLst/>
          </a:prstGeom>
        </p:spPr>
      </p:pic>
      <p:sp>
        <p:nvSpPr>
          <p:cNvPr id="139" name="TextBox 138"/>
          <p:cNvSpPr txBox="1"/>
          <p:nvPr/>
        </p:nvSpPr>
        <p:spPr>
          <a:xfrm>
            <a:off x="547018" y="1870710"/>
            <a:ext cx="929133" cy="186689"/>
          </a:xfrm>
          <a:prstGeom prst="rect">
            <a:avLst/>
          </a:prstGeom>
          <a:noFill/>
        </p:spPr>
        <p:txBody>
          <a:bodyPr wrap="none" lIns="0" rIns="0" tIns="0" bIns="0">
            <a:spAutoFit/>
          </a:bodyPr>
          <a:lstStyle/>
          <a:p>
            <a:r>
              <a:rPr sz="1100" b="1">
                <a:solidFill>
                  <a:srgbClr val="FFFFFF"/>
                </a:solidFill>
                <a:latin typeface="Calibri"/>
              </a:rPr>
              <a:t>4 → 5 players ·</a:t>
            </a:r>
          </a:p>
        </p:txBody>
      </p:sp>
      <p:pic>
        <p:nvPicPr>
          <p:cNvPr id="140" name="Picture 139" descr="lock.png"/>
          <p:cNvPicPr>
            <a:picLocks noChangeAspect="1"/>
          </p:cNvPicPr>
          <p:nvPr/>
        </p:nvPicPr>
        <p:blipFill>
          <a:blip r:embed="rId4"/>
          <a:stretch>
            <a:fillRect/>
          </a:stretch>
        </p:blipFill>
        <p:spPr>
          <a:xfrm>
            <a:off x="1424204" y="1860931"/>
            <a:ext cx="128699" cy="187198"/>
          </a:xfrm>
          <a:prstGeom prst="rect">
            <a:avLst/>
          </a:prstGeom>
        </p:spPr>
      </p:pic>
      <p:sp>
        <p:nvSpPr>
          <p:cNvPr id="141" name="TextBox 140"/>
          <p:cNvSpPr txBox="1"/>
          <p:nvPr/>
        </p:nvSpPr>
        <p:spPr>
          <a:xfrm>
            <a:off x="1591699" y="1870710"/>
            <a:ext cx="202803" cy="186689"/>
          </a:xfrm>
          <a:prstGeom prst="rect">
            <a:avLst/>
          </a:prstGeom>
          <a:noFill/>
        </p:spPr>
        <p:txBody>
          <a:bodyPr wrap="none" lIns="0" rIns="0" tIns="0" bIns="0">
            <a:spAutoFit/>
          </a:bodyPr>
          <a:lstStyle/>
          <a:p>
            <a:r>
              <a:rPr sz="1100" b="1">
                <a:solidFill>
                  <a:srgbClr val="FFFFFF"/>
                </a:solidFill>
                <a:latin typeface="Calibri"/>
              </a:rPr>
              <a:t>→</a:t>
            </a:r>
          </a:p>
        </p:txBody>
      </p:sp>
      <p:pic>
        <p:nvPicPr>
          <p:cNvPr id="142" name="Picture 141" descr="lock.png"/>
          <p:cNvPicPr>
            <a:picLocks noChangeAspect="1"/>
          </p:cNvPicPr>
          <p:nvPr/>
        </p:nvPicPr>
        <p:blipFill>
          <a:blip r:embed="rId4"/>
          <a:stretch>
            <a:fillRect/>
          </a:stretch>
        </p:blipFill>
        <p:spPr>
          <a:xfrm>
            <a:off x="1742554" y="1860931"/>
            <a:ext cx="128699" cy="187198"/>
          </a:xfrm>
          <a:prstGeom prst="rect">
            <a:avLst/>
          </a:prstGeom>
        </p:spPr>
      </p:pic>
      <p:sp>
        <p:nvSpPr>
          <p:cNvPr id="143" name="TextBox 142"/>
          <p:cNvSpPr txBox="1"/>
          <p:nvPr/>
        </p:nvSpPr>
        <p:spPr>
          <a:xfrm>
            <a:off x="1049783" y="2038350"/>
            <a:ext cx="395982" cy="186689"/>
          </a:xfrm>
          <a:prstGeom prst="rect">
            <a:avLst/>
          </a:prstGeom>
          <a:noFill/>
        </p:spPr>
        <p:txBody>
          <a:bodyPr wrap="none" lIns="0" rIns="0" tIns="0" bIns="0">
            <a:spAutoFit/>
          </a:bodyPr>
          <a:lstStyle/>
          <a:p>
            <a:r>
              <a:rPr sz="1100" b="1">
                <a:solidFill>
                  <a:srgbClr val="FFFFFF"/>
                </a:solidFill>
                <a:latin typeface="Calibri"/>
              </a:rPr>
              <a:t>share</a:t>
            </a:r>
          </a:p>
        </p:txBody>
      </p:sp>
      <p:sp>
        <p:nvSpPr>
          <p:cNvPr id="144" name="TextBox 143"/>
          <p:cNvSpPr txBox="1"/>
          <p:nvPr/>
        </p:nvSpPr>
        <p:spPr>
          <a:xfrm>
            <a:off x="3804568" y="1870710"/>
            <a:ext cx="929133" cy="186689"/>
          </a:xfrm>
          <a:prstGeom prst="rect">
            <a:avLst/>
          </a:prstGeom>
          <a:noFill/>
        </p:spPr>
        <p:txBody>
          <a:bodyPr wrap="none" lIns="0" rIns="0" tIns="0" bIns="0">
            <a:spAutoFit/>
          </a:bodyPr>
          <a:lstStyle/>
          <a:p>
            <a:r>
              <a:rPr sz="1100" b="1">
                <a:solidFill>
                  <a:srgbClr val="FFFFFF"/>
                </a:solidFill>
                <a:latin typeface="Calibri"/>
              </a:rPr>
              <a:t>2 → 2 players ·</a:t>
            </a:r>
          </a:p>
        </p:txBody>
      </p:sp>
      <p:pic>
        <p:nvPicPr>
          <p:cNvPr id="145" name="Picture 144" descr="lock.png"/>
          <p:cNvPicPr>
            <a:picLocks noChangeAspect="1"/>
          </p:cNvPicPr>
          <p:nvPr/>
        </p:nvPicPr>
        <p:blipFill>
          <a:blip r:embed="rId4"/>
          <a:stretch>
            <a:fillRect/>
          </a:stretch>
        </p:blipFill>
        <p:spPr>
          <a:xfrm>
            <a:off x="4681754" y="1860931"/>
            <a:ext cx="128699" cy="187198"/>
          </a:xfrm>
          <a:prstGeom prst="rect">
            <a:avLst/>
          </a:prstGeom>
        </p:spPr>
      </p:pic>
      <p:sp>
        <p:nvSpPr>
          <p:cNvPr id="146" name="TextBox 145"/>
          <p:cNvSpPr txBox="1"/>
          <p:nvPr/>
        </p:nvSpPr>
        <p:spPr>
          <a:xfrm>
            <a:off x="4849249" y="1870710"/>
            <a:ext cx="202803" cy="186689"/>
          </a:xfrm>
          <a:prstGeom prst="rect">
            <a:avLst/>
          </a:prstGeom>
          <a:noFill/>
        </p:spPr>
        <p:txBody>
          <a:bodyPr wrap="none" lIns="0" rIns="0" tIns="0" bIns="0">
            <a:spAutoFit/>
          </a:bodyPr>
          <a:lstStyle/>
          <a:p>
            <a:r>
              <a:rPr sz="1100" b="1">
                <a:solidFill>
                  <a:srgbClr val="FFFFFF"/>
                </a:solidFill>
                <a:latin typeface="Calibri"/>
              </a:rPr>
              <a:t>→</a:t>
            </a:r>
          </a:p>
        </p:txBody>
      </p:sp>
      <p:pic>
        <p:nvPicPr>
          <p:cNvPr id="147" name="Picture 146" descr="lock.png"/>
          <p:cNvPicPr>
            <a:picLocks noChangeAspect="1"/>
          </p:cNvPicPr>
          <p:nvPr/>
        </p:nvPicPr>
        <p:blipFill>
          <a:blip r:embed="rId4"/>
          <a:stretch>
            <a:fillRect/>
          </a:stretch>
        </p:blipFill>
        <p:spPr>
          <a:xfrm>
            <a:off x="5000104" y="1860931"/>
            <a:ext cx="128699" cy="187198"/>
          </a:xfrm>
          <a:prstGeom prst="rect">
            <a:avLst/>
          </a:prstGeom>
        </p:spPr>
      </p:pic>
      <p:sp>
        <p:nvSpPr>
          <p:cNvPr id="148" name="TextBox 147"/>
          <p:cNvSpPr txBox="1"/>
          <p:nvPr/>
        </p:nvSpPr>
        <p:spPr>
          <a:xfrm>
            <a:off x="4307333" y="2038350"/>
            <a:ext cx="395982" cy="186689"/>
          </a:xfrm>
          <a:prstGeom prst="rect">
            <a:avLst/>
          </a:prstGeom>
          <a:noFill/>
        </p:spPr>
        <p:txBody>
          <a:bodyPr wrap="none" lIns="0" rIns="0" tIns="0" bIns="0">
            <a:spAutoFit/>
          </a:bodyPr>
          <a:lstStyle/>
          <a:p>
            <a:r>
              <a:rPr sz="1100" b="1">
                <a:solidFill>
                  <a:srgbClr val="FFFFFF"/>
                </a:solidFill>
                <a:latin typeface="Calibri"/>
              </a:rPr>
              <a:t>share</a:t>
            </a:r>
          </a:p>
        </p:txBody>
      </p:sp>
      <p:sp>
        <p:nvSpPr>
          <p:cNvPr id="149" name="TextBox 148"/>
          <p:cNvSpPr txBox="1"/>
          <p:nvPr/>
        </p:nvSpPr>
        <p:spPr>
          <a:xfrm>
            <a:off x="7062118" y="1870710"/>
            <a:ext cx="929133" cy="186689"/>
          </a:xfrm>
          <a:prstGeom prst="rect">
            <a:avLst/>
          </a:prstGeom>
          <a:noFill/>
        </p:spPr>
        <p:txBody>
          <a:bodyPr wrap="none" lIns="0" rIns="0" tIns="0" bIns="0">
            <a:spAutoFit/>
          </a:bodyPr>
          <a:lstStyle/>
          <a:p>
            <a:r>
              <a:rPr sz="1100" b="1">
                <a:solidFill>
                  <a:srgbClr val="FFFFFF"/>
                </a:solidFill>
                <a:latin typeface="Calibri"/>
              </a:rPr>
              <a:t>4 → 4 players ·</a:t>
            </a:r>
          </a:p>
        </p:txBody>
      </p:sp>
      <p:pic>
        <p:nvPicPr>
          <p:cNvPr id="150" name="Picture 149" descr="lock.png"/>
          <p:cNvPicPr>
            <a:picLocks noChangeAspect="1"/>
          </p:cNvPicPr>
          <p:nvPr/>
        </p:nvPicPr>
        <p:blipFill>
          <a:blip r:embed="rId4"/>
          <a:stretch>
            <a:fillRect/>
          </a:stretch>
        </p:blipFill>
        <p:spPr>
          <a:xfrm>
            <a:off x="7939304" y="1860931"/>
            <a:ext cx="128699" cy="187198"/>
          </a:xfrm>
          <a:prstGeom prst="rect">
            <a:avLst/>
          </a:prstGeom>
        </p:spPr>
      </p:pic>
      <p:sp>
        <p:nvSpPr>
          <p:cNvPr id="151" name="TextBox 150"/>
          <p:cNvSpPr txBox="1"/>
          <p:nvPr/>
        </p:nvSpPr>
        <p:spPr>
          <a:xfrm>
            <a:off x="8106799" y="1870710"/>
            <a:ext cx="202803" cy="186689"/>
          </a:xfrm>
          <a:prstGeom prst="rect">
            <a:avLst/>
          </a:prstGeom>
          <a:noFill/>
        </p:spPr>
        <p:txBody>
          <a:bodyPr wrap="none" lIns="0" rIns="0" tIns="0" bIns="0">
            <a:spAutoFit/>
          </a:bodyPr>
          <a:lstStyle/>
          <a:p>
            <a:r>
              <a:rPr sz="1100" b="1">
                <a:solidFill>
                  <a:srgbClr val="FFFFFF"/>
                </a:solidFill>
                <a:latin typeface="Calibri"/>
              </a:rPr>
              <a:t>→</a:t>
            </a:r>
          </a:p>
        </p:txBody>
      </p:sp>
      <p:pic>
        <p:nvPicPr>
          <p:cNvPr id="152" name="Picture 151" descr="lock.png"/>
          <p:cNvPicPr>
            <a:picLocks noChangeAspect="1"/>
          </p:cNvPicPr>
          <p:nvPr/>
        </p:nvPicPr>
        <p:blipFill>
          <a:blip r:embed="rId4"/>
          <a:stretch>
            <a:fillRect/>
          </a:stretch>
        </p:blipFill>
        <p:spPr>
          <a:xfrm>
            <a:off x="8257654" y="1860931"/>
            <a:ext cx="128699" cy="187198"/>
          </a:xfrm>
          <a:prstGeom prst="rect">
            <a:avLst/>
          </a:prstGeom>
        </p:spPr>
      </p:pic>
      <p:sp>
        <p:nvSpPr>
          <p:cNvPr id="153" name="TextBox 152"/>
          <p:cNvSpPr txBox="1"/>
          <p:nvPr/>
        </p:nvSpPr>
        <p:spPr>
          <a:xfrm>
            <a:off x="7564883" y="2038350"/>
            <a:ext cx="395982" cy="186689"/>
          </a:xfrm>
          <a:prstGeom prst="rect">
            <a:avLst/>
          </a:prstGeom>
          <a:noFill/>
        </p:spPr>
        <p:txBody>
          <a:bodyPr wrap="none" lIns="0" rIns="0" tIns="0" bIns="0">
            <a:spAutoFit/>
          </a:bodyPr>
          <a:lstStyle/>
          <a:p>
            <a:r>
              <a:rPr sz="1100" b="1">
                <a:solidFill>
                  <a:srgbClr val="FFFFFF"/>
                </a:solidFill>
                <a:latin typeface="Calibri"/>
              </a:rPr>
              <a:t>share</a:t>
            </a:r>
          </a:p>
        </p:txBody>
      </p:sp>
      <p:sp>
        <p:nvSpPr>
          <p:cNvPr id="154" name="TextBox 153"/>
          <p:cNvSpPr txBox="1"/>
          <p:nvPr/>
        </p:nvSpPr>
        <p:spPr>
          <a:xfrm>
            <a:off x="10286075" y="1954530"/>
            <a:ext cx="638819" cy="186689"/>
          </a:xfrm>
          <a:prstGeom prst="rect">
            <a:avLst/>
          </a:prstGeom>
          <a:noFill/>
        </p:spPr>
        <p:txBody>
          <a:bodyPr wrap="none" lIns="0" rIns="0" tIns="0" bIns="0">
            <a:spAutoFit/>
          </a:bodyPr>
          <a:lstStyle/>
          <a:p>
            <a:r>
              <a:rPr sz="1100" b="1">
                <a:solidFill>
                  <a:srgbClr val="14213D"/>
                </a:solidFill>
                <a:latin typeface="Calibri"/>
              </a:rPr>
              <a:t>Long tail ·</a:t>
            </a:r>
          </a:p>
        </p:txBody>
      </p:sp>
      <p:pic>
        <p:nvPicPr>
          <p:cNvPr id="155" name="Picture 154" descr="lock.png"/>
          <p:cNvPicPr>
            <a:picLocks noChangeAspect="1"/>
          </p:cNvPicPr>
          <p:nvPr/>
        </p:nvPicPr>
        <p:blipFill>
          <a:blip r:embed="rId4"/>
          <a:stretch>
            <a:fillRect/>
          </a:stretch>
        </p:blipFill>
        <p:spPr>
          <a:xfrm>
            <a:off x="10872946" y="1944751"/>
            <a:ext cx="128699" cy="187198"/>
          </a:xfrm>
          <a:prstGeom prst="rect">
            <a:avLst/>
          </a:prstGeom>
        </p:spPr>
      </p:pic>
      <p:sp>
        <p:nvSpPr>
          <p:cNvPr id="156" name="TextBox 155"/>
          <p:cNvSpPr txBox="1"/>
          <p:nvPr/>
        </p:nvSpPr>
        <p:spPr>
          <a:xfrm>
            <a:off x="11040442" y="1954530"/>
            <a:ext cx="202803" cy="186689"/>
          </a:xfrm>
          <a:prstGeom prst="rect">
            <a:avLst/>
          </a:prstGeom>
          <a:noFill/>
        </p:spPr>
        <p:txBody>
          <a:bodyPr wrap="none" lIns="0" rIns="0" tIns="0" bIns="0">
            <a:spAutoFit/>
          </a:bodyPr>
          <a:lstStyle/>
          <a:p>
            <a:r>
              <a:rPr sz="1100" b="1">
                <a:solidFill>
                  <a:srgbClr val="14213D"/>
                </a:solidFill>
                <a:latin typeface="Calibri"/>
              </a:rPr>
              <a:t>→</a:t>
            </a:r>
          </a:p>
        </p:txBody>
      </p:sp>
      <p:pic>
        <p:nvPicPr>
          <p:cNvPr id="157" name="Picture 156" descr="lock.png"/>
          <p:cNvPicPr>
            <a:picLocks noChangeAspect="1"/>
          </p:cNvPicPr>
          <p:nvPr/>
        </p:nvPicPr>
        <p:blipFill>
          <a:blip r:embed="rId4"/>
          <a:stretch>
            <a:fillRect/>
          </a:stretch>
        </p:blipFill>
        <p:spPr>
          <a:xfrm>
            <a:off x="11191297" y="1944751"/>
            <a:ext cx="128699" cy="187198"/>
          </a:xfrm>
          <a:prstGeom prst="rect">
            <a:avLst/>
          </a:prstGeom>
        </p:spPr>
      </p:pic>
      <p:sp>
        <p:nvSpPr>
          <p:cNvPr id="158" name="TextBox 157"/>
          <p:cNvSpPr txBox="1"/>
          <p:nvPr/>
        </p:nvSpPr>
        <p:spPr>
          <a:xfrm>
            <a:off x="11358792" y="1954530"/>
            <a:ext cx="395982" cy="186689"/>
          </a:xfrm>
          <a:prstGeom prst="rect">
            <a:avLst/>
          </a:prstGeom>
          <a:noFill/>
        </p:spPr>
        <p:txBody>
          <a:bodyPr wrap="none" lIns="0" rIns="0" tIns="0" bIns="0">
            <a:spAutoFit/>
          </a:bodyPr>
          <a:lstStyle/>
          <a:p>
            <a:r>
              <a:rPr sz="1100" b="1">
                <a:solidFill>
                  <a:srgbClr val="14213D"/>
                </a:solidFill>
                <a:latin typeface="Calibri"/>
              </a:rPr>
              <a:t>share</a:t>
            </a:r>
          </a:p>
        </p:txBody>
      </p:sp>
      <p:sp>
        <p:nvSpPr>
          <p:cNvPr id="159" name="TextBox 158"/>
          <p:cNvSpPr txBox="1"/>
          <p:nvPr/>
        </p:nvSpPr>
        <p:spPr>
          <a:xfrm>
            <a:off x="7658100" y="3857625"/>
            <a:ext cx="1828179" cy="186689"/>
          </a:xfrm>
          <a:prstGeom prst="rect">
            <a:avLst/>
          </a:prstGeom>
          <a:noFill/>
        </p:spPr>
        <p:txBody>
          <a:bodyPr wrap="none" lIns="0" rIns="0" tIns="0" bIns="0">
            <a:spAutoFit/>
          </a:bodyPr>
          <a:lstStyle/>
          <a:p>
            <a:r>
              <a:rPr sz="1100" b="0">
                <a:solidFill>
                  <a:srgbClr val="14213D"/>
                </a:solidFill>
                <a:latin typeface="Calibri"/>
              </a:rPr>
              <a:t>The market is fragmented (HHI</a:t>
            </a:r>
          </a:p>
        </p:txBody>
      </p:sp>
      <p:pic>
        <p:nvPicPr>
          <p:cNvPr id="160" name="Picture 159" descr="lock.png"/>
          <p:cNvPicPr>
            <a:picLocks noChangeAspect="1"/>
          </p:cNvPicPr>
          <p:nvPr/>
        </p:nvPicPr>
        <p:blipFill>
          <a:blip r:embed="rId4"/>
          <a:stretch>
            <a:fillRect/>
          </a:stretch>
        </p:blipFill>
        <p:spPr>
          <a:xfrm>
            <a:off x="9434331" y="3847846"/>
            <a:ext cx="128699" cy="187198"/>
          </a:xfrm>
          <a:prstGeom prst="rect">
            <a:avLst/>
          </a:prstGeom>
        </p:spPr>
      </p:pic>
      <p:sp>
        <p:nvSpPr>
          <p:cNvPr id="161" name="TextBox 160"/>
          <p:cNvSpPr txBox="1"/>
          <p:nvPr/>
        </p:nvSpPr>
        <p:spPr>
          <a:xfrm>
            <a:off x="9601827" y="3857625"/>
            <a:ext cx="2068562" cy="186689"/>
          </a:xfrm>
          <a:prstGeom prst="rect">
            <a:avLst/>
          </a:prstGeom>
          <a:noFill/>
        </p:spPr>
        <p:txBody>
          <a:bodyPr wrap="none" lIns="0" rIns="0" tIns="0" bIns="0">
            <a:spAutoFit/>
          </a:bodyPr>
          <a:lstStyle/>
          <a:p>
            <a:r>
              <a:rPr sz="1100" b="0">
                <a:solidFill>
                  <a:srgbClr val="14213D"/>
                </a:solidFill>
                <a:latin typeface="Calibri"/>
              </a:rPr>
              <a:t>); Tier 1 sets pricing and innovation</a:t>
            </a:r>
          </a:p>
        </p:txBody>
      </p:sp>
      <p:sp>
        <p:nvSpPr>
          <p:cNvPr id="162" name="TextBox 161"/>
          <p:cNvSpPr txBox="1"/>
          <p:nvPr/>
        </p:nvSpPr>
        <p:spPr>
          <a:xfrm>
            <a:off x="7658100" y="4025265"/>
            <a:ext cx="2124769" cy="186689"/>
          </a:xfrm>
          <a:prstGeom prst="rect">
            <a:avLst/>
          </a:prstGeom>
          <a:noFill/>
        </p:spPr>
        <p:txBody>
          <a:bodyPr wrap="none" lIns="0" rIns="0" tIns="0" bIns="0">
            <a:spAutoFit/>
          </a:bodyPr>
          <a:lstStyle/>
          <a:p>
            <a:r>
              <a:rPr sz="1100" b="0">
                <a:solidFill>
                  <a:srgbClr val="14213D"/>
                </a:solidFill>
                <a:latin typeface="Calibri"/>
              </a:rPr>
              <a:t>benchmarks and is expected to hold</a:t>
            </a:r>
          </a:p>
        </p:txBody>
      </p:sp>
      <p:pic>
        <p:nvPicPr>
          <p:cNvPr id="163" name="Picture 162" descr="lock.png"/>
          <p:cNvPicPr>
            <a:picLocks noChangeAspect="1"/>
          </p:cNvPicPr>
          <p:nvPr/>
        </p:nvPicPr>
        <p:blipFill>
          <a:blip r:embed="rId4"/>
          <a:stretch>
            <a:fillRect/>
          </a:stretch>
        </p:blipFill>
        <p:spPr>
          <a:xfrm>
            <a:off x="9730921" y="4015486"/>
            <a:ext cx="128699" cy="187198"/>
          </a:xfrm>
          <a:prstGeom prst="rect">
            <a:avLst/>
          </a:prstGeom>
        </p:spPr>
      </p:pic>
      <p:sp>
        <p:nvSpPr>
          <p:cNvPr id="164" name="TextBox 163"/>
          <p:cNvSpPr txBox="1"/>
          <p:nvPr/>
        </p:nvSpPr>
        <p:spPr>
          <a:xfrm>
            <a:off x="9898416" y="4025265"/>
            <a:ext cx="1016992" cy="186689"/>
          </a:xfrm>
          <a:prstGeom prst="rect">
            <a:avLst/>
          </a:prstGeom>
          <a:noFill/>
        </p:spPr>
        <p:txBody>
          <a:bodyPr wrap="none" lIns="0" rIns="0" tIns="0" bIns="0">
            <a:spAutoFit/>
          </a:bodyPr>
          <a:lstStyle/>
          <a:p>
            <a:r>
              <a:rPr sz="1100" b="0">
                <a:solidFill>
                  <a:srgbClr val="14213D"/>
                </a:solidFill>
                <a:latin typeface="Calibri"/>
              </a:rPr>
              <a:t>of value in 2036.</a:t>
            </a:r>
          </a:p>
        </p:txBody>
      </p:sp>
      <p:sp>
        <p:nvSpPr>
          <p:cNvPr id="165" name="TextBox 164"/>
          <p:cNvSpPr txBox="1"/>
          <p:nvPr/>
        </p:nvSpPr>
        <p:spPr>
          <a:xfrm>
            <a:off x="7658100" y="5019675"/>
            <a:ext cx="3471019" cy="186689"/>
          </a:xfrm>
          <a:prstGeom prst="rect">
            <a:avLst/>
          </a:prstGeom>
          <a:noFill/>
        </p:spPr>
        <p:txBody>
          <a:bodyPr wrap="none" lIns="0" rIns="0" tIns="0" bIns="0">
            <a:spAutoFit/>
          </a:bodyPr>
          <a:lstStyle/>
          <a:p>
            <a:r>
              <a:rPr sz="1100" b="0">
                <a:solidFill>
                  <a:srgbClr val="14213D"/>
                </a:solidFill>
                <a:latin typeface="Calibri"/>
              </a:rPr>
              <a:t>Tier 3 and the long tail face the highest structural pressure (</a:t>
            </a:r>
          </a:p>
        </p:txBody>
      </p:sp>
      <p:pic>
        <p:nvPicPr>
          <p:cNvPr id="166" name="Picture 165" descr="lock.png"/>
          <p:cNvPicPr>
            <a:picLocks noChangeAspect="1"/>
          </p:cNvPicPr>
          <p:nvPr/>
        </p:nvPicPr>
        <p:blipFill>
          <a:blip r:embed="rId4"/>
          <a:stretch>
            <a:fillRect/>
          </a:stretch>
        </p:blipFill>
        <p:spPr>
          <a:xfrm>
            <a:off x="11077170" y="5009895"/>
            <a:ext cx="128699" cy="187198"/>
          </a:xfrm>
          <a:prstGeom prst="rect">
            <a:avLst/>
          </a:prstGeom>
        </p:spPr>
      </p:pic>
      <p:sp>
        <p:nvSpPr>
          <p:cNvPr id="167" name="TextBox 166"/>
          <p:cNvSpPr txBox="1"/>
          <p:nvPr/>
        </p:nvSpPr>
        <p:spPr>
          <a:xfrm>
            <a:off x="11244666" y="5019675"/>
            <a:ext cx="415081" cy="186689"/>
          </a:xfrm>
          <a:prstGeom prst="rect">
            <a:avLst/>
          </a:prstGeom>
          <a:noFill/>
        </p:spPr>
        <p:txBody>
          <a:bodyPr wrap="none" lIns="0" rIns="0" tIns="0" bIns="0">
            <a:spAutoFit/>
          </a:bodyPr>
          <a:lstStyle/>
          <a:p>
            <a:r>
              <a:rPr sz="1100" b="0">
                <a:solidFill>
                  <a:srgbClr val="14213D"/>
                </a:solidFill>
                <a:latin typeface="Calibri"/>
              </a:rPr>
              <a:t>/ 5); 2</a:t>
            </a:r>
          </a:p>
        </p:txBody>
      </p:sp>
      <p:sp>
        <p:nvSpPr>
          <p:cNvPr id="168" name="TextBox 167"/>
          <p:cNvSpPr txBox="1"/>
          <p:nvPr/>
        </p:nvSpPr>
        <p:spPr>
          <a:xfrm>
            <a:off x="7658100" y="5187315"/>
            <a:ext cx="2541413" cy="186689"/>
          </a:xfrm>
          <a:prstGeom prst="rect">
            <a:avLst/>
          </a:prstGeom>
          <a:noFill/>
        </p:spPr>
        <p:txBody>
          <a:bodyPr wrap="none" lIns="0" rIns="0" tIns="0" bIns="0">
            <a:spAutoFit/>
          </a:bodyPr>
          <a:lstStyle/>
          <a:p>
            <a:r>
              <a:rPr sz="1100" b="0">
                <a:solidFill>
                  <a:srgbClr val="14213D"/>
                </a:solidFill>
                <a:latin typeface="Calibri"/>
              </a:rPr>
              <a:t>players are expected to exit or be acquired.</a:t>
            </a:r>
          </a:p>
        </p:txBody>
      </p:sp>
    </p:spTree>
  </p:cSld>
  <p:clrMapOvr>
    <a:masterClrMapping/>
  </p:clrMapOvr>
</p:sld>
</file>

<file path=ppt/slides/slide2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Egg Protein Membrane Market Competitive Dashboard View (2026)</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Benchmarking of companies on portfolio, coverage, revenue, share, regional presence and strategy</a:t>
            </a:r>
          </a:p>
        </p:txBody>
      </p:sp>
      <p:sp>
        <p:nvSpPr>
          <p:cNvPr id="7" name="TextBox 6"/>
          <p:cNvSpPr txBox="1"/>
          <p:nvPr/>
        </p:nvSpPr>
        <p:spPr>
          <a:xfrm>
            <a:off x="285750" y="970754"/>
            <a:ext cx="10477500" cy="164283"/>
          </a:xfrm>
          <a:prstGeom prst="rect">
            <a:avLst/>
          </a:prstGeom>
          <a:noFill/>
        </p:spPr>
        <p:txBody>
          <a:bodyPr wrap="square" lIns="0" rIns="19050" tIns="0" bIns="0">
            <a:spAutoFit/>
          </a:bodyPr>
          <a:lstStyle/>
          <a:p>
            <a:pPr algn="l"/>
            <a:r>
              <a:rPr sz="1100" b="0">
                <a:solidFill>
                  <a:srgbClr val="6C7A89"/>
                </a:solidFill>
                <a:latin typeface="Calibri"/>
              </a:rPr>
              <a:t>Intensified competition across the leading players portfolio, revenue, share, regional presence and strategy.  All figures 2026.</a:t>
            </a:r>
          </a:p>
        </p:txBody>
      </p:sp>
      <p:sp>
        <p:nvSpPr>
          <p:cNvPr id="8" name="Rounded Rectangle 7"/>
          <p:cNvSpPr/>
          <p:nvPr/>
        </p:nvSpPr>
        <p:spPr>
          <a:xfrm>
            <a:off x="133350" y="1153291"/>
            <a:ext cx="11925300" cy="4563424"/>
          </a:xfrm>
          <a:prstGeom prst="roundRect">
            <a:avLst>
              <a:gd name="adj" fmla="val 1600"/>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33350" y="1171544"/>
            <a:ext cx="11925300" cy="365074"/>
          </a:xfrm>
          <a:prstGeom prst="rect">
            <a:avLst/>
          </a:prstGeom>
          <a:solidFill>
            <a:srgbClr val="F1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33350" y="1171544"/>
            <a:ext cx="1143000" cy="4526917"/>
          </a:xfrm>
          <a:prstGeom prst="rect">
            <a:avLst/>
          </a:prstGeom>
          <a:solidFill>
            <a:srgbClr val="F7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 name="Connector 10"/>
          <p:cNvCxnSpPr/>
          <p:nvPr/>
        </p:nvCxnSpPr>
        <p:spPr>
          <a:xfrm>
            <a:off x="133350" y="1536618"/>
            <a:ext cx="11925300" cy="0"/>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133350" y="1792170"/>
            <a:ext cx="11925300" cy="0"/>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33350" y="2631840"/>
            <a:ext cx="11925300" cy="0"/>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33350" y="2960407"/>
            <a:ext cx="11925300" cy="0"/>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33350" y="3288973"/>
            <a:ext cx="11925300" cy="0"/>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33350" y="4055629"/>
            <a:ext cx="11925300" cy="0"/>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3350" y="5041328"/>
            <a:ext cx="11925300" cy="0"/>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33350" y="1171544"/>
            <a:ext cx="0" cy="4526917"/>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12058650" y="1171544"/>
            <a:ext cx="0" cy="4526917"/>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1295400" y="1171544"/>
            <a:ext cx="0" cy="4526917"/>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2371725" y="1171544"/>
            <a:ext cx="0" cy="4526917"/>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3448050" y="1171544"/>
            <a:ext cx="0" cy="4526917"/>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4524375" y="1171544"/>
            <a:ext cx="0" cy="4526917"/>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5600700" y="1171544"/>
            <a:ext cx="0" cy="4526917"/>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6677025" y="1171544"/>
            <a:ext cx="0" cy="4526917"/>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7753350" y="1171544"/>
            <a:ext cx="0" cy="4526917"/>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8829675" y="1171544"/>
            <a:ext cx="0" cy="4526917"/>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9906000" y="1171544"/>
            <a:ext cx="0" cy="4526917"/>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10982325" y="1171544"/>
            <a:ext cx="0" cy="4526917"/>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12058650" y="1171544"/>
            <a:ext cx="0" cy="4526917"/>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133350" y="5698461"/>
            <a:ext cx="11925300" cy="0"/>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171450" y="1536618"/>
            <a:ext cx="1085850" cy="255552"/>
          </a:xfrm>
          <a:prstGeom prst="rect">
            <a:avLst/>
          </a:prstGeom>
          <a:noFill/>
        </p:spPr>
        <p:txBody>
          <a:bodyPr wrap="square" lIns="19050" rIns="19050" tIns="9525" bIns="9525" anchor="ctr">
            <a:spAutoFit/>
          </a:bodyPr>
          <a:lstStyle/>
          <a:p>
            <a:pPr algn="l">
              <a:lnSpc>
                <a:spcPct val="100000"/>
              </a:lnSpc>
            </a:pPr>
            <a:r>
              <a:rPr sz="1100" b="1">
                <a:solidFill>
                  <a:srgbClr val="0E2A5C"/>
                </a:solidFill>
                <a:latin typeface="Calibri"/>
              </a:rPr>
              <a:t>Company / Brand</a:t>
            </a:r>
          </a:p>
        </p:txBody>
      </p:sp>
      <p:sp>
        <p:nvSpPr>
          <p:cNvPr id="33" name="TextBox 32"/>
          <p:cNvSpPr txBox="1"/>
          <p:nvPr/>
        </p:nvSpPr>
        <p:spPr>
          <a:xfrm>
            <a:off x="171450" y="1792170"/>
            <a:ext cx="1085850" cy="839670"/>
          </a:xfrm>
          <a:prstGeom prst="rect">
            <a:avLst/>
          </a:prstGeom>
          <a:noFill/>
        </p:spPr>
        <p:txBody>
          <a:bodyPr wrap="square" lIns="19050" rIns="19050" tIns="9525" bIns="9525" anchor="ctr">
            <a:spAutoFit/>
          </a:bodyPr>
          <a:lstStyle/>
          <a:p>
            <a:pPr algn="l">
              <a:lnSpc>
                <a:spcPct val="100000"/>
              </a:lnSpc>
            </a:pPr>
            <a:r>
              <a:rPr sz="1100" b="1">
                <a:solidFill>
                  <a:srgbClr val="0E2A5C"/>
                </a:solidFill>
                <a:latin typeface="Calibri"/>
              </a:rPr>
              <a:t>Product Portfolio</a:t>
            </a:r>
          </a:p>
        </p:txBody>
      </p:sp>
      <p:sp>
        <p:nvSpPr>
          <p:cNvPr id="34" name="TextBox 33"/>
          <p:cNvSpPr txBox="1"/>
          <p:nvPr/>
        </p:nvSpPr>
        <p:spPr>
          <a:xfrm>
            <a:off x="171450" y="2631840"/>
            <a:ext cx="1085850" cy="328567"/>
          </a:xfrm>
          <a:prstGeom prst="rect">
            <a:avLst/>
          </a:prstGeom>
          <a:noFill/>
        </p:spPr>
        <p:txBody>
          <a:bodyPr wrap="square" lIns="19050" rIns="19050" tIns="9525" bIns="9525" anchor="ctr">
            <a:spAutoFit/>
          </a:bodyPr>
          <a:lstStyle/>
          <a:p>
            <a:pPr algn="l">
              <a:lnSpc>
                <a:spcPct val="100000"/>
              </a:lnSpc>
            </a:pPr>
            <a:r>
              <a:rPr sz="1100" b="1">
                <a:solidFill>
                  <a:srgbClr val="0E2A5C"/>
                </a:solidFill>
                <a:latin typeface="Calibri"/>
              </a:rPr>
              <a:t>Overall Rev (US$ Mn)</a:t>
            </a:r>
          </a:p>
        </p:txBody>
      </p:sp>
      <p:sp>
        <p:nvSpPr>
          <p:cNvPr id="35" name="TextBox 34"/>
          <p:cNvSpPr txBox="1"/>
          <p:nvPr/>
        </p:nvSpPr>
        <p:spPr>
          <a:xfrm>
            <a:off x="171450" y="2960407"/>
            <a:ext cx="1085850" cy="328567"/>
          </a:xfrm>
          <a:prstGeom prst="rect">
            <a:avLst/>
          </a:prstGeom>
          <a:noFill/>
        </p:spPr>
        <p:txBody>
          <a:bodyPr wrap="square" lIns="19050" rIns="19050" tIns="9525" bIns="9525" anchor="ctr">
            <a:spAutoFit/>
          </a:bodyPr>
          <a:lstStyle/>
          <a:p>
            <a:pPr algn="l">
              <a:lnSpc>
                <a:spcPct val="100000"/>
              </a:lnSpc>
            </a:pPr>
            <a:r>
              <a:rPr sz="1100" b="1">
                <a:solidFill>
                  <a:srgbClr val="0E2A5C"/>
                </a:solidFill>
                <a:latin typeface="Calibri"/>
              </a:rPr>
              <a:t>Target Rev (US$ Mn)</a:t>
            </a:r>
          </a:p>
        </p:txBody>
      </p:sp>
      <p:sp>
        <p:nvSpPr>
          <p:cNvPr id="36" name="TextBox 35"/>
          <p:cNvSpPr txBox="1"/>
          <p:nvPr/>
        </p:nvSpPr>
        <p:spPr>
          <a:xfrm>
            <a:off x="171450" y="3288973"/>
            <a:ext cx="1085850" cy="766655"/>
          </a:xfrm>
          <a:prstGeom prst="rect">
            <a:avLst/>
          </a:prstGeom>
          <a:noFill/>
        </p:spPr>
        <p:txBody>
          <a:bodyPr wrap="square" lIns="19050" rIns="19050" tIns="9525" bIns="9525" anchor="ctr">
            <a:spAutoFit/>
          </a:bodyPr>
          <a:lstStyle/>
          <a:p>
            <a:pPr algn="l">
              <a:lnSpc>
                <a:spcPct val="100000"/>
              </a:lnSpc>
            </a:pPr>
            <a:r>
              <a:rPr sz="1100" b="1">
                <a:solidFill>
                  <a:srgbClr val="0E2A5C"/>
                </a:solidFill>
                <a:latin typeface="Calibri"/>
              </a:rPr>
              <a:t>Market Share (%)</a:t>
            </a:r>
          </a:p>
        </p:txBody>
      </p:sp>
      <p:sp>
        <p:nvSpPr>
          <p:cNvPr id="37" name="TextBox 36"/>
          <p:cNvSpPr txBox="1"/>
          <p:nvPr/>
        </p:nvSpPr>
        <p:spPr>
          <a:xfrm>
            <a:off x="171450" y="4055629"/>
            <a:ext cx="1085850" cy="985700"/>
          </a:xfrm>
          <a:prstGeom prst="rect">
            <a:avLst/>
          </a:prstGeom>
          <a:noFill/>
        </p:spPr>
        <p:txBody>
          <a:bodyPr wrap="square" lIns="19050" rIns="19050" tIns="9525" bIns="9525" anchor="ctr">
            <a:spAutoFit/>
          </a:bodyPr>
          <a:lstStyle/>
          <a:p>
            <a:pPr algn="l">
              <a:lnSpc>
                <a:spcPct val="100000"/>
              </a:lnSpc>
            </a:pPr>
            <a:r>
              <a:rPr sz="1100" b="1">
                <a:solidFill>
                  <a:srgbClr val="0E2A5C"/>
                </a:solidFill>
                <a:latin typeface="Calibri"/>
              </a:rPr>
              <a:t>Regional Presence</a:t>
            </a:r>
          </a:p>
        </p:txBody>
      </p:sp>
      <p:sp>
        <p:nvSpPr>
          <p:cNvPr id="38" name="TextBox 37"/>
          <p:cNvSpPr txBox="1"/>
          <p:nvPr/>
        </p:nvSpPr>
        <p:spPr>
          <a:xfrm>
            <a:off x="171450" y="5041328"/>
            <a:ext cx="1085850" cy="657133"/>
          </a:xfrm>
          <a:prstGeom prst="rect">
            <a:avLst/>
          </a:prstGeom>
          <a:noFill/>
        </p:spPr>
        <p:txBody>
          <a:bodyPr wrap="square" lIns="19050" rIns="19050" tIns="9525" bIns="9525" anchor="ctr">
            <a:spAutoFit/>
          </a:bodyPr>
          <a:lstStyle/>
          <a:p>
            <a:pPr algn="l">
              <a:lnSpc>
                <a:spcPct val="100000"/>
              </a:lnSpc>
            </a:pPr>
            <a:r>
              <a:rPr sz="1100" b="1">
                <a:solidFill>
                  <a:srgbClr val="0E2A5C"/>
                </a:solidFill>
                <a:latin typeface="Calibri"/>
              </a:rPr>
              <a:t>Strategies</a:t>
            </a:r>
          </a:p>
        </p:txBody>
      </p:sp>
      <p:sp>
        <p:nvSpPr>
          <p:cNvPr id="39" name="TextBox 38"/>
          <p:cNvSpPr txBox="1"/>
          <p:nvPr/>
        </p:nvSpPr>
        <p:spPr>
          <a:xfrm>
            <a:off x="1323975" y="1189798"/>
            <a:ext cx="1019175" cy="328567"/>
          </a:xfrm>
          <a:prstGeom prst="rect">
            <a:avLst/>
          </a:prstGeom>
          <a:noFill/>
        </p:spPr>
        <p:txBody>
          <a:bodyPr wrap="square" lIns="9525" rIns="9525" tIns="9525" bIns="9525" anchor="ctr">
            <a:spAutoFit/>
          </a:bodyPr>
          <a:lstStyle/>
          <a:p>
            <a:pPr algn="ctr">
              <a:lnSpc>
                <a:spcPct val="95000"/>
              </a:lnSpc>
            </a:pPr>
            <a:r>
              <a:rPr sz="1100" b="1">
                <a:solidFill>
                  <a:srgbClr val="2E2E2E"/>
                </a:solidFill>
                <a:latin typeface="Calibri"/>
              </a:rPr>
              <a:t>ESM Technologies, LLC</a:t>
            </a:r>
          </a:p>
        </p:txBody>
      </p:sp>
      <p:cxnSp>
        <p:nvCxnSpPr>
          <p:cNvPr id="40" name="Connector 39"/>
          <p:cNvCxnSpPr/>
          <p:nvPr/>
        </p:nvCxnSpPr>
        <p:spPr>
          <a:xfrm>
            <a:off x="1604962" y="1509238"/>
            <a:ext cx="457200" cy="0"/>
          </a:xfrm>
          <a:prstGeom prst="line">
            <a:avLst/>
          </a:prstGeom>
          <a:ln w="19050">
            <a:solidFill>
              <a:srgbClr val="2A5F8F"/>
            </a:solidFill>
          </a:ln>
          <a:effectLst/>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1323975" y="1536618"/>
            <a:ext cx="1019175" cy="255552"/>
          </a:xfrm>
          <a:prstGeom prst="rect">
            <a:avLst/>
          </a:prstGeom>
          <a:noFill/>
        </p:spPr>
        <p:txBody>
          <a:bodyPr wrap="square" lIns="28575" rIns="28575" tIns="9525" bIns="9525" anchor="ctr">
            <a:spAutoFit/>
          </a:bodyPr>
          <a:lstStyle/>
          <a:p>
            <a:pPr algn="ctr"/>
            <a:r>
              <a:rPr sz="1100" b="0">
                <a:solidFill>
                  <a:srgbClr val="AFB4B9"/>
                </a:solidFill>
                <a:latin typeface="Calibri"/>
              </a:rPr>
              <a:t>Brand A</a:t>
            </a:r>
          </a:p>
        </p:txBody>
      </p:sp>
      <p:sp>
        <p:nvSpPr>
          <p:cNvPr id="42" name="TextBox 41"/>
          <p:cNvSpPr txBox="1"/>
          <p:nvPr/>
        </p:nvSpPr>
        <p:spPr>
          <a:xfrm>
            <a:off x="1314450" y="1828677"/>
            <a:ext cx="1038225" cy="200791"/>
          </a:xfrm>
          <a:prstGeom prst="rect">
            <a:avLst/>
          </a:prstGeom>
          <a:noFill/>
        </p:spPr>
        <p:txBody>
          <a:bodyPr wrap="square" lIns="0" rIns="0" tIns="0" bIns="0" anchor="ctr">
            <a:spAutoFit/>
          </a:bodyPr>
          <a:lstStyle/>
          <a:p>
            <a:pPr algn="ctr"/>
            <a:r>
              <a:rPr sz="1300" b="0">
                <a:solidFill>
                  <a:srgbClr val="0B2E4A"/>
                </a:solidFill>
                <a:latin typeface="Calibri"/>
              </a:rPr>
              <a:t>✦ </a:t>
            </a:r>
            <a:r>
              <a:rPr sz="1300" b="0">
                <a:solidFill>
                  <a:srgbClr val="69B1E0"/>
                </a:solidFill>
                <a:latin typeface="Calibri"/>
              </a:rPr>
              <a:t>✦ </a:t>
            </a:r>
            <a:r>
              <a:rPr sz="1300" b="0">
                <a:solidFill>
                  <a:srgbClr val="D4D7DA"/>
                </a:solidFill>
                <a:latin typeface="Calibri"/>
              </a:rPr>
              <a:t>✦ </a:t>
            </a:r>
            <a:r>
              <a:rPr sz="1300" b="0">
                <a:solidFill>
                  <a:srgbClr val="D4D7DA"/>
                </a:solidFill>
                <a:latin typeface="Calibri"/>
              </a:rPr>
              <a:t>✦ </a:t>
            </a:r>
          </a:p>
        </p:txBody>
      </p:sp>
      <p:sp>
        <p:nvSpPr>
          <p:cNvPr id="43" name="TextBox 42"/>
          <p:cNvSpPr txBox="1"/>
          <p:nvPr/>
        </p:nvSpPr>
        <p:spPr>
          <a:xfrm>
            <a:off x="1314450" y="2047722"/>
            <a:ext cx="1038225" cy="182537"/>
          </a:xfrm>
          <a:prstGeom prst="rect">
            <a:avLst/>
          </a:prstGeom>
          <a:noFill/>
        </p:spPr>
        <p:txBody>
          <a:bodyPr wrap="square" lIns="28575" rIns="28575" tIns="9525" bIns="9525" anchor="ctr">
            <a:spAutoFit/>
          </a:bodyPr>
          <a:lstStyle/>
          <a:p>
            <a:pPr algn="ctr"/>
            <a:r>
              <a:rPr sz="1100" b="1">
                <a:solidFill>
                  <a:srgbClr val="008189"/>
                </a:solidFill>
                <a:latin typeface="Calibri"/>
              </a:rPr>
              <a:t>✔ </a:t>
            </a:r>
            <a:r>
              <a:rPr sz="1100" b="1">
                <a:solidFill>
                  <a:srgbClr val="008189"/>
                </a:solidFill>
                <a:latin typeface="Calibri"/>
              </a:rPr>
              <a:t>✔ </a:t>
            </a:r>
            <a:r>
              <a:rPr sz="1100" b="1">
                <a:solidFill>
                  <a:srgbClr val="E44D3A"/>
                </a:solidFill>
                <a:latin typeface="Calibri"/>
              </a:rPr>
              <a:t>✘ </a:t>
            </a:r>
          </a:p>
        </p:txBody>
      </p:sp>
      <p:sp>
        <p:nvSpPr>
          <p:cNvPr id="44" name="Rectangle 43"/>
          <p:cNvSpPr/>
          <p:nvPr/>
        </p:nvSpPr>
        <p:spPr>
          <a:xfrm>
            <a:off x="1604962" y="2303274"/>
            <a:ext cx="114300" cy="109522"/>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1776412" y="2303274"/>
            <a:ext cx="114300" cy="109522"/>
          </a:xfrm>
          <a:prstGeom prst="rect">
            <a:avLst/>
          </a:prstGeom>
          <a:solidFill>
            <a:srgbClr val="79C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1947862" y="2303274"/>
            <a:ext cx="114300" cy="109522"/>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323975" y="2631840"/>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48" name="TextBox 47"/>
          <p:cNvSpPr txBox="1"/>
          <p:nvPr/>
        </p:nvSpPr>
        <p:spPr>
          <a:xfrm>
            <a:off x="1323975" y="2960407"/>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49" name="Oval 48"/>
          <p:cNvSpPr/>
          <p:nvPr/>
        </p:nvSpPr>
        <p:spPr>
          <a:xfrm>
            <a:off x="1585912" y="3416749"/>
            <a:ext cx="495300" cy="474596"/>
          </a:xfrm>
          <a:prstGeom prst="ellipse">
            <a:avLst/>
          </a:prstGeom>
          <a:solidFill>
            <a:srgbClr val="E4E9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Freeform 49"/>
          <p:cNvSpPr/>
          <p:nvPr/>
        </p:nvSpPr>
        <p:spPr>
          <a:xfrm>
            <a:off x="1828800" y="3416749"/>
            <a:ext cx="209550" cy="237298"/>
          </a:xfrm>
          <a:custGeom>
            <a:avLst/>
            <a:gdLst/>
            <a:ahLst/>
            <a:cxnLst/>
            <a:rect l="l" t="t" r="r" b="b"/>
            <a:pathLst>
              <a:path w="22" h="26">
                <a:moveTo>
                  <a:pt x="0" y="26"/>
                </a:moveTo>
                <a:lnTo>
                  <a:pt x="0" y="0"/>
                </a:lnTo>
                <a:lnTo>
                  <a:pt x="4" y="0"/>
                </a:lnTo>
                <a:lnTo>
                  <a:pt x="8" y="1"/>
                </a:lnTo>
                <a:lnTo>
                  <a:pt x="11" y="2"/>
                </a:lnTo>
                <a:lnTo>
                  <a:pt x="14" y="4"/>
                </a:lnTo>
                <a:lnTo>
                  <a:pt x="17" y="6"/>
                </a:lnTo>
                <a:lnTo>
                  <a:pt x="20" y="8"/>
                </a:lnTo>
                <a:lnTo>
                  <a:pt x="22" y="11"/>
                </a:lnTo>
                <a:close/>
              </a:path>
            </a:pathLst>
          </a:cu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1694878" y="3521160"/>
            <a:ext cx="277368" cy="26577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1585912" y="3590159"/>
            <a:ext cx="495300" cy="127776"/>
          </a:xfrm>
          <a:prstGeom prst="rect">
            <a:avLst/>
          </a:prstGeom>
          <a:noFill/>
        </p:spPr>
        <p:txBody>
          <a:bodyPr wrap="square" lIns="28575" rIns="28575" tIns="9525" bIns="9525" anchor="ctr">
            <a:spAutoFit/>
          </a:bodyPr>
          <a:lstStyle/>
          <a:p>
            <a:pPr algn="ctr"/>
            <a:r>
              <a:rPr sz="1100" b="1">
                <a:solidFill>
                  <a:srgbClr val="0E2A5C"/>
                </a:solidFill>
                <a:latin typeface="Calibri"/>
              </a:rPr>
              <a:t> </a:t>
            </a:r>
          </a:p>
        </p:txBody>
      </p:sp>
      <p:sp>
        <p:nvSpPr>
          <p:cNvPr id="53" name="TextBox 52"/>
          <p:cNvSpPr txBox="1"/>
          <p:nvPr/>
        </p:nvSpPr>
        <p:spPr>
          <a:xfrm>
            <a:off x="1343025" y="4092136"/>
            <a:ext cx="990600" cy="912685"/>
          </a:xfrm>
          <a:prstGeom prst="rect">
            <a:avLst/>
          </a:prstGeom>
          <a:noFill/>
        </p:spPr>
        <p:txBody>
          <a:bodyPr wrap="square" lIns="28575" rIns="28575" tIns="9525" bIns="9525" anchor="ctr">
            <a:spAutoFit/>
          </a:bodyPr>
          <a:lstStyle/>
          <a:p>
            <a:pPr algn="l">
              <a:lnSpc>
                <a:spcPct val="100000"/>
              </a:lnSpc>
              <a:spcBef>
                <a:spcPts val="0"/>
              </a:spcBef>
              <a:spcAft>
                <a:spcPts val="300"/>
              </a:spcAft>
            </a:pPr>
            <a:r>
              <a:rPr sz="1100" b="0">
                <a:solidFill>
                  <a:srgbClr val="2E2E2E"/>
                </a:solidFill>
                <a:latin typeface="Calibri"/>
              </a:rPr>
              <a:t>North America  </a:t>
            </a:r>
            <a:r>
              <a:rPr sz="1100" b="1">
                <a:solidFill>
                  <a:srgbClr val="0E72AE"/>
                </a:solidFill>
                <a:latin typeface="Calibri"/>
              </a:rPr>
              <a:t>▲</a:t>
            </a:r>
          </a:p>
          <a:p>
            <a:pPr algn="l">
              <a:lnSpc>
                <a:spcPct val="100000"/>
              </a:lnSpc>
              <a:spcBef>
                <a:spcPts val="0"/>
              </a:spcBef>
              <a:spcAft>
                <a:spcPts val="300"/>
              </a:spcAft>
            </a:pPr>
            <a:r>
              <a:rPr sz="1100" b="0">
                <a:solidFill>
                  <a:srgbClr val="2E2E2E"/>
                </a:solidFill>
                <a:latin typeface="Calibri"/>
              </a:rPr>
              <a:t>Europe  </a:t>
            </a:r>
            <a:r>
              <a:rPr sz="1100" b="1">
                <a:solidFill>
                  <a:srgbClr val="A86F00"/>
                </a:solidFill>
                <a:latin typeface="Calibri"/>
              </a:rPr>
              <a:t>▲</a:t>
            </a:r>
          </a:p>
          <a:p>
            <a:pPr algn="l">
              <a:lnSpc>
                <a:spcPct val="100000"/>
              </a:lnSpc>
              <a:spcBef>
                <a:spcPts val="0"/>
              </a:spcBef>
              <a:spcAft>
                <a:spcPts val="300"/>
              </a:spcAft>
            </a:pPr>
            <a:r>
              <a:rPr sz="1100" b="0">
                <a:solidFill>
                  <a:srgbClr val="2E2E2E"/>
                </a:solidFill>
                <a:latin typeface="Calibri"/>
              </a:rPr>
              <a:t>South Asia &amp; Pacific  </a:t>
            </a:r>
            <a:r>
              <a:rPr sz="1100" b="1">
                <a:solidFill>
                  <a:srgbClr val="9AA3A8"/>
                </a:solidFill>
                <a:latin typeface="Calibri"/>
              </a:rPr>
              <a:t>▲</a:t>
            </a:r>
          </a:p>
        </p:txBody>
      </p:sp>
      <p:sp>
        <p:nvSpPr>
          <p:cNvPr id="54" name="Oval 53"/>
          <p:cNvSpPr/>
          <p:nvPr/>
        </p:nvSpPr>
        <p:spPr>
          <a:xfrm>
            <a:off x="1428750"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42875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E</a:t>
            </a:r>
          </a:p>
        </p:txBody>
      </p:sp>
      <p:sp>
        <p:nvSpPr>
          <p:cNvPr id="56" name="Oval 55"/>
          <p:cNvSpPr/>
          <p:nvPr/>
        </p:nvSpPr>
        <p:spPr>
          <a:xfrm>
            <a:off x="1638300"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163830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I</a:t>
            </a:r>
          </a:p>
        </p:txBody>
      </p:sp>
      <p:sp>
        <p:nvSpPr>
          <p:cNvPr id="58" name="Oval 57"/>
          <p:cNvSpPr/>
          <p:nvPr/>
        </p:nvSpPr>
        <p:spPr>
          <a:xfrm>
            <a:off x="1847850"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184785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F</a:t>
            </a:r>
          </a:p>
        </p:txBody>
      </p:sp>
      <p:sp>
        <p:nvSpPr>
          <p:cNvPr id="60" name="Oval 59"/>
          <p:cNvSpPr/>
          <p:nvPr/>
        </p:nvSpPr>
        <p:spPr>
          <a:xfrm>
            <a:off x="2057400" y="5173667"/>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205740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P</a:t>
            </a:r>
          </a:p>
        </p:txBody>
      </p:sp>
      <p:sp>
        <p:nvSpPr>
          <p:cNvPr id="62" name="Oval 61"/>
          <p:cNvSpPr/>
          <p:nvPr/>
        </p:nvSpPr>
        <p:spPr>
          <a:xfrm>
            <a:off x="1533525"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1533525"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A</a:t>
            </a:r>
          </a:p>
        </p:txBody>
      </p:sp>
      <p:sp>
        <p:nvSpPr>
          <p:cNvPr id="64" name="Oval 63"/>
          <p:cNvSpPr/>
          <p:nvPr/>
        </p:nvSpPr>
        <p:spPr>
          <a:xfrm>
            <a:off x="1743075"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1743075"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L</a:t>
            </a:r>
          </a:p>
        </p:txBody>
      </p:sp>
      <p:sp>
        <p:nvSpPr>
          <p:cNvPr id="66" name="Oval 65"/>
          <p:cNvSpPr/>
          <p:nvPr/>
        </p:nvSpPr>
        <p:spPr>
          <a:xfrm>
            <a:off x="1952625"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1952625"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C</a:t>
            </a:r>
          </a:p>
        </p:txBody>
      </p:sp>
      <p:sp>
        <p:nvSpPr>
          <p:cNvPr id="68" name="TextBox 67"/>
          <p:cNvSpPr txBox="1"/>
          <p:nvPr/>
        </p:nvSpPr>
        <p:spPr>
          <a:xfrm>
            <a:off x="2400300" y="1189798"/>
            <a:ext cx="1019175" cy="328567"/>
          </a:xfrm>
          <a:prstGeom prst="rect">
            <a:avLst/>
          </a:prstGeom>
          <a:noFill/>
        </p:spPr>
        <p:txBody>
          <a:bodyPr wrap="square" lIns="9525" rIns="9525" tIns="9525" bIns="9525" anchor="ctr">
            <a:spAutoFit/>
          </a:bodyPr>
          <a:lstStyle/>
          <a:p>
            <a:pPr algn="ctr">
              <a:lnSpc>
                <a:spcPct val="95000"/>
              </a:lnSpc>
            </a:pPr>
            <a:r>
              <a:rPr sz="1100" b="1">
                <a:solidFill>
                  <a:srgbClr val="2E2E2E"/>
                </a:solidFill>
                <a:latin typeface="Calibri"/>
              </a:rPr>
              <a:t>Company</a:t>
            </a:r>
          </a:p>
        </p:txBody>
      </p:sp>
      <p:cxnSp>
        <p:nvCxnSpPr>
          <p:cNvPr id="69" name="Connector 68"/>
          <p:cNvCxnSpPr/>
          <p:nvPr/>
        </p:nvCxnSpPr>
        <p:spPr>
          <a:xfrm>
            <a:off x="2681288" y="1509238"/>
            <a:ext cx="457200" cy="0"/>
          </a:xfrm>
          <a:prstGeom prst="line">
            <a:avLst/>
          </a:prstGeom>
          <a:ln w="19050">
            <a:solidFill>
              <a:srgbClr val="2A5F8F"/>
            </a:solidFill>
          </a:ln>
          <a:effectLst/>
        </p:spPr>
        <p:style>
          <a:lnRef idx="2">
            <a:schemeClr val="accent1"/>
          </a:lnRef>
          <a:fillRef idx="0">
            <a:schemeClr val="accent1"/>
          </a:fillRef>
          <a:effectRef idx="1">
            <a:schemeClr val="accent1"/>
          </a:effectRef>
          <a:fontRef idx="minor">
            <a:schemeClr val="tx1"/>
          </a:fontRef>
        </p:style>
      </p:cxnSp>
      <p:sp>
        <p:nvSpPr>
          <p:cNvPr id="70" name="TextBox 69"/>
          <p:cNvSpPr txBox="1"/>
          <p:nvPr/>
        </p:nvSpPr>
        <p:spPr>
          <a:xfrm>
            <a:off x="2400300" y="1536618"/>
            <a:ext cx="1019175" cy="255552"/>
          </a:xfrm>
          <a:prstGeom prst="rect">
            <a:avLst/>
          </a:prstGeom>
          <a:noFill/>
        </p:spPr>
        <p:txBody>
          <a:bodyPr wrap="square" lIns="28575" rIns="28575" tIns="9525" bIns="9525" anchor="ctr">
            <a:spAutoFit/>
          </a:bodyPr>
          <a:lstStyle/>
          <a:p>
            <a:pPr algn="ctr"/>
            <a:r>
              <a:rPr sz="1100" b="0">
                <a:solidFill>
                  <a:srgbClr val="AFB4B9"/>
                </a:solidFill>
                <a:latin typeface="Calibri"/>
              </a:rPr>
              <a:t>Brand B</a:t>
            </a:r>
          </a:p>
        </p:txBody>
      </p:sp>
      <p:sp>
        <p:nvSpPr>
          <p:cNvPr id="71" name="TextBox 70"/>
          <p:cNvSpPr txBox="1"/>
          <p:nvPr/>
        </p:nvSpPr>
        <p:spPr>
          <a:xfrm>
            <a:off x="2390775" y="1828677"/>
            <a:ext cx="1038225" cy="200791"/>
          </a:xfrm>
          <a:prstGeom prst="rect">
            <a:avLst/>
          </a:prstGeom>
          <a:noFill/>
        </p:spPr>
        <p:txBody>
          <a:bodyPr wrap="square" lIns="0" rIns="0" tIns="0" bIns="0" anchor="ctr">
            <a:spAutoFit/>
          </a:bodyPr>
          <a:lstStyle/>
          <a:p>
            <a:pPr algn="ctr"/>
            <a:r>
              <a:rPr sz="1300" b="0">
                <a:solidFill>
                  <a:srgbClr val="0B2E4A"/>
                </a:solidFill>
                <a:latin typeface="Calibri"/>
              </a:rPr>
              <a:t>✦ </a:t>
            </a:r>
            <a:r>
              <a:rPr sz="1300" b="0">
                <a:solidFill>
                  <a:srgbClr val="69B1E0"/>
                </a:solidFill>
                <a:latin typeface="Calibri"/>
              </a:rPr>
              <a:t>✦ </a:t>
            </a:r>
            <a:r>
              <a:rPr sz="1300" b="0">
                <a:solidFill>
                  <a:srgbClr val="A86F00"/>
                </a:solidFill>
                <a:latin typeface="Calibri"/>
              </a:rPr>
              <a:t>✦ </a:t>
            </a:r>
            <a:r>
              <a:rPr sz="1300" b="0">
                <a:solidFill>
                  <a:srgbClr val="D4D7DA"/>
                </a:solidFill>
                <a:latin typeface="Calibri"/>
              </a:rPr>
              <a:t>✦ </a:t>
            </a:r>
          </a:p>
        </p:txBody>
      </p:sp>
      <p:sp>
        <p:nvSpPr>
          <p:cNvPr id="72" name="TextBox 71"/>
          <p:cNvSpPr txBox="1"/>
          <p:nvPr/>
        </p:nvSpPr>
        <p:spPr>
          <a:xfrm>
            <a:off x="2390775" y="2047722"/>
            <a:ext cx="1038225" cy="182537"/>
          </a:xfrm>
          <a:prstGeom prst="rect">
            <a:avLst/>
          </a:prstGeom>
          <a:noFill/>
        </p:spPr>
        <p:txBody>
          <a:bodyPr wrap="square" lIns="28575" rIns="28575" tIns="9525" bIns="9525" anchor="ctr">
            <a:spAutoFit/>
          </a:bodyPr>
          <a:lstStyle/>
          <a:p>
            <a:pPr algn="ctr"/>
            <a:r>
              <a:rPr sz="1100" b="1">
                <a:solidFill>
                  <a:srgbClr val="008189"/>
                </a:solidFill>
                <a:latin typeface="Calibri"/>
              </a:rPr>
              <a:t>✔ </a:t>
            </a:r>
            <a:r>
              <a:rPr sz="1100" b="1">
                <a:solidFill>
                  <a:srgbClr val="E44D3A"/>
                </a:solidFill>
                <a:latin typeface="Calibri"/>
              </a:rPr>
              <a:t>✘ </a:t>
            </a:r>
            <a:r>
              <a:rPr sz="1100" b="1">
                <a:solidFill>
                  <a:srgbClr val="008189"/>
                </a:solidFill>
                <a:latin typeface="Calibri"/>
              </a:rPr>
              <a:t>✔ </a:t>
            </a:r>
          </a:p>
        </p:txBody>
      </p:sp>
      <p:sp>
        <p:nvSpPr>
          <p:cNvPr id="73" name="Rectangle 72"/>
          <p:cNvSpPr/>
          <p:nvPr/>
        </p:nvSpPr>
        <p:spPr>
          <a:xfrm>
            <a:off x="2681288" y="2303274"/>
            <a:ext cx="114300" cy="109522"/>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2852738" y="2303274"/>
            <a:ext cx="114300" cy="109522"/>
          </a:xfrm>
          <a:prstGeom prst="rect">
            <a:avLst/>
          </a:prstGeom>
          <a:solidFill>
            <a:srgbClr val="79C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3024188" y="2303274"/>
            <a:ext cx="114300" cy="109522"/>
          </a:xfrm>
          <a:prstGeom prst="rect">
            <a:avLst/>
          </a:prstGeom>
          <a:solidFill>
            <a:srgbClr val="FFFFFF"/>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2400300" y="2631840"/>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77" name="TextBox 76"/>
          <p:cNvSpPr txBox="1"/>
          <p:nvPr/>
        </p:nvSpPr>
        <p:spPr>
          <a:xfrm>
            <a:off x="2400300" y="2960407"/>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78" name="Oval 77"/>
          <p:cNvSpPr/>
          <p:nvPr/>
        </p:nvSpPr>
        <p:spPr>
          <a:xfrm>
            <a:off x="2662238" y="3416749"/>
            <a:ext cx="495300" cy="474596"/>
          </a:xfrm>
          <a:prstGeom prst="ellipse">
            <a:avLst/>
          </a:prstGeom>
          <a:solidFill>
            <a:srgbClr val="E4E9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Freeform 78"/>
          <p:cNvSpPr/>
          <p:nvPr/>
        </p:nvSpPr>
        <p:spPr>
          <a:xfrm>
            <a:off x="2914650" y="3416749"/>
            <a:ext cx="180975" cy="237298"/>
          </a:xfrm>
          <a:custGeom>
            <a:avLst/>
            <a:gdLst/>
            <a:ahLst/>
            <a:cxnLst/>
            <a:rect l="l" t="t" r="r" b="b"/>
            <a:pathLst>
              <a:path w="19" h="26">
                <a:moveTo>
                  <a:pt x="0" y="26"/>
                </a:moveTo>
                <a:lnTo>
                  <a:pt x="0" y="0"/>
                </a:lnTo>
                <a:lnTo>
                  <a:pt x="3" y="0"/>
                </a:lnTo>
                <a:lnTo>
                  <a:pt x="7" y="1"/>
                </a:lnTo>
                <a:lnTo>
                  <a:pt x="10" y="2"/>
                </a:lnTo>
                <a:lnTo>
                  <a:pt x="13" y="4"/>
                </a:lnTo>
                <a:lnTo>
                  <a:pt x="16" y="6"/>
                </a:lnTo>
                <a:lnTo>
                  <a:pt x="19" y="9"/>
                </a:lnTo>
                <a:close/>
              </a:path>
            </a:pathLst>
          </a:cu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Oval 79"/>
          <p:cNvSpPr/>
          <p:nvPr/>
        </p:nvSpPr>
        <p:spPr>
          <a:xfrm>
            <a:off x="2771204" y="3521160"/>
            <a:ext cx="277368" cy="26577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2662238" y="3590159"/>
            <a:ext cx="495300" cy="127776"/>
          </a:xfrm>
          <a:prstGeom prst="rect">
            <a:avLst/>
          </a:prstGeom>
          <a:noFill/>
        </p:spPr>
        <p:txBody>
          <a:bodyPr wrap="square" lIns="28575" rIns="28575" tIns="9525" bIns="9525" anchor="ctr">
            <a:spAutoFit/>
          </a:bodyPr>
          <a:lstStyle/>
          <a:p>
            <a:pPr algn="ctr"/>
            <a:r>
              <a:rPr sz="1100" b="1">
                <a:solidFill>
                  <a:srgbClr val="0E2A5C"/>
                </a:solidFill>
                <a:latin typeface="Calibri"/>
              </a:rPr>
              <a:t> </a:t>
            </a:r>
          </a:p>
        </p:txBody>
      </p:sp>
      <p:sp>
        <p:nvSpPr>
          <p:cNvPr id="82" name="TextBox 81"/>
          <p:cNvSpPr txBox="1"/>
          <p:nvPr/>
        </p:nvSpPr>
        <p:spPr>
          <a:xfrm>
            <a:off x="2419350" y="4092136"/>
            <a:ext cx="990600" cy="912685"/>
          </a:xfrm>
          <a:prstGeom prst="rect">
            <a:avLst/>
          </a:prstGeom>
          <a:noFill/>
        </p:spPr>
        <p:txBody>
          <a:bodyPr wrap="square" lIns="28575" rIns="28575" tIns="9525" bIns="9525" anchor="ctr">
            <a:spAutoFit/>
          </a:bodyPr>
          <a:lstStyle/>
          <a:p>
            <a:pPr algn="l">
              <a:lnSpc>
                <a:spcPct val="100000"/>
              </a:lnSpc>
              <a:spcBef>
                <a:spcPts val="0"/>
              </a:spcBef>
              <a:spcAft>
                <a:spcPts val="300"/>
              </a:spcAft>
            </a:pPr>
            <a:r>
              <a:rPr sz="1100" b="0">
                <a:solidFill>
                  <a:srgbClr val="2E2E2E"/>
                </a:solidFill>
                <a:latin typeface="Calibri"/>
              </a:rPr>
              <a:t>Europe  </a:t>
            </a:r>
            <a:r>
              <a:rPr sz="1100" b="1">
                <a:solidFill>
                  <a:srgbClr val="0E72AE"/>
                </a:solidFill>
                <a:latin typeface="Calibri"/>
              </a:rPr>
              <a:t>▲</a:t>
            </a:r>
          </a:p>
          <a:p>
            <a:pPr algn="l">
              <a:lnSpc>
                <a:spcPct val="100000"/>
              </a:lnSpc>
              <a:spcBef>
                <a:spcPts val="0"/>
              </a:spcBef>
              <a:spcAft>
                <a:spcPts val="300"/>
              </a:spcAft>
            </a:pPr>
            <a:r>
              <a:rPr sz="1100" b="0">
                <a:solidFill>
                  <a:srgbClr val="2E2E2E"/>
                </a:solidFill>
                <a:latin typeface="Calibri"/>
              </a:rPr>
              <a:t>South Asia &amp; Pacific  </a:t>
            </a:r>
            <a:r>
              <a:rPr sz="1100" b="1">
                <a:solidFill>
                  <a:srgbClr val="A86F00"/>
                </a:solidFill>
                <a:latin typeface="Calibri"/>
              </a:rPr>
              <a:t>▲</a:t>
            </a:r>
          </a:p>
          <a:p>
            <a:pPr algn="l">
              <a:lnSpc>
                <a:spcPct val="100000"/>
              </a:lnSpc>
              <a:spcBef>
                <a:spcPts val="0"/>
              </a:spcBef>
              <a:spcAft>
                <a:spcPts val="300"/>
              </a:spcAft>
            </a:pPr>
            <a:r>
              <a:rPr sz="1100" b="0">
                <a:solidFill>
                  <a:srgbClr val="2E2E2E"/>
                </a:solidFill>
                <a:latin typeface="Calibri"/>
              </a:rPr>
              <a:t>East Asia  </a:t>
            </a:r>
            <a:r>
              <a:rPr sz="1100" b="1">
                <a:solidFill>
                  <a:srgbClr val="9AA3A8"/>
                </a:solidFill>
                <a:latin typeface="Calibri"/>
              </a:rPr>
              <a:t>▲</a:t>
            </a:r>
          </a:p>
        </p:txBody>
      </p:sp>
      <p:sp>
        <p:nvSpPr>
          <p:cNvPr id="83" name="Oval 82"/>
          <p:cNvSpPr/>
          <p:nvPr/>
        </p:nvSpPr>
        <p:spPr>
          <a:xfrm>
            <a:off x="250507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250507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E</a:t>
            </a:r>
          </a:p>
        </p:txBody>
      </p:sp>
      <p:sp>
        <p:nvSpPr>
          <p:cNvPr id="85" name="Oval 84"/>
          <p:cNvSpPr/>
          <p:nvPr/>
        </p:nvSpPr>
        <p:spPr>
          <a:xfrm>
            <a:off x="271462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271462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I</a:t>
            </a:r>
          </a:p>
        </p:txBody>
      </p:sp>
      <p:sp>
        <p:nvSpPr>
          <p:cNvPr id="87" name="Oval 86"/>
          <p:cNvSpPr/>
          <p:nvPr/>
        </p:nvSpPr>
        <p:spPr>
          <a:xfrm>
            <a:off x="292417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292417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F</a:t>
            </a:r>
          </a:p>
        </p:txBody>
      </p:sp>
      <p:sp>
        <p:nvSpPr>
          <p:cNvPr id="89" name="Oval 88"/>
          <p:cNvSpPr/>
          <p:nvPr/>
        </p:nvSpPr>
        <p:spPr>
          <a:xfrm>
            <a:off x="313372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313372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P</a:t>
            </a:r>
          </a:p>
        </p:txBody>
      </p:sp>
      <p:sp>
        <p:nvSpPr>
          <p:cNvPr id="91" name="Oval 90"/>
          <p:cNvSpPr/>
          <p:nvPr/>
        </p:nvSpPr>
        <p:spPr>
          <a:xfrm>
            <a:off x="2609850"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2609850"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A</a:t>
            </a:r>
          </a:p>
        </p:txBody>
      </p:sp>
      <p:sp>
        <p:nvSpPr>
          <p:cNvPr id="93" name="Oval 92"/>
          <p:cNvSpPr/>
          <p:nvPr/>
        </p:nvSpPr>
        <p:spPr>
          <a:xfrm>
            <a:off x="2819400"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2819400"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L</a:t>
            </a:r>
          </a:p>
        </p:txBody>
      </p:sp>
      <p:sp>
        <p:nvSpPr>
          <p:cNvPr id="95" name="Oval 94"/>
          <p:cNvSpPr/>
          <p:nvPr/>
        </p:nvSpPr>
        <p:spPr>
          <a:xfrm>
            <a:off x="3028950"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3028950"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C</a:t>
            </a:r>
          </a:p>
        </p:txBody>
      </p:sp>
      <p:sp>
        <p:nvSpPr>
          <p:cNvPr id="97" name="TextBox 96"/>
          <p:cNvSpPr txBox="1"/>
          <p:nvPr/>
        </p:nvSpPr>
        <p:spPr>
          <a:xfrm>
            <a:off x="3476625" y="1189798"/>
            <a:ext cx="1019175" cy="328567"/>
          </a:xfrm>
          <a:prstGeom prst="rect">
            <a:avLst/>
          </a:prstGeom>
          <a:noFill/>
        </p:spPr>
        <p:txBody>
          <a:bodyPr wrap="square" lIns="9525" rIns="9525" tIns="9525" bIns="9525" anchor="ctr">
            <a:spAutoFit/>
          </a:bodyPr>
          <a:lstStyle/>
          <a:p>
            <a:pPr algn="ctr">
              <a:lnSpc>
                <a:spcPct val="95000"/>
              </a:lnSpc>
            </a:pPr>
            <a:r>
              <a:rPr sz="1100" b="1">
                <a:solidFill>
                  <a:srgbClr val="2E2E2E"/>
                </a:solidFill>
                <a:latin typeface="Calibri"/>
              </a:rPr>
              <a:t>Biova, LLC</a:t>
            </a:r>
          </a:p>
        </p:txBody>
      </p:sp>
      <p:cxnSp>
        <p:nvCxnSpPr>
          <p:cNvPr id="98" name="Connector 97"/>
          <p:cNvCxnSpPr/>
          <p:nvPr/>
        </p:nvCxnSpPr>
        <p:spPr>
          <a:xfrm>
            <a:off x="3757612" y="1509238"/>
            <a:ext cx="457200" cy="0"/>
          </a:xfrm>
          <a:prstGeom prst="line">
            <a:avLst/>
          </a:prstGeom>
          <a:ln w="19050">
            <a:solidFill>
              <a:srgbClr val="2A5F8F"/>
            </a:solidFill>
          </a:ln>
          <a:effectLst/>
        </p:spPr>
        <p:style>
          <a:lnRef idx="2">
            <a:schemeClr val="accent1"/>
          </a:lnRef>
          <a:fillRef idx="0">
            <a:schemeClr val="accent1"/>
          </a:fillRef>
          <a:effectRef idx="1">
            <a:schemeClr val="accent1"/>
          </a:effectRef>
          <a:fontRef idx="minor">
            <a:schemeClr val="tx1"/>
          </a:fontRef>
        </p:style>
      </p:cxnSp>
      <p:sp>
        <p:nvSpPr>
          <p:cNvPr id="99" name="TextBox 98"/>
          <p:cNvSpPr txBox="1"/>
          <p:nvPr/>
        </p:nvSpPr>
        <p:spPr>
          <a:xfrm>
            <a:off x="3476625" y="1536618"/>
            <a:ext cx="1019175" cy="255552"/>
          </a:xfrm>
          <a:prstGeom prst="rect">
            <a:avLst/>
          </a:prstGeom>
          <a:noFill/>
        </p:spPr>
        <p:txBody>
          <a:bodyPr wrap="square" lIns="28575" rIns="28575" tIns="9525" bIns="9525" anchor="ctr">
            <a:spAutoFit/>
          </a:bodyPr>
          <a:lstStyle/>
          <a:p>
            <a:pPr algn="ctr"/>
            <a:r>
              <a:rPr sz="1100" b="0">
                <a:solidFill>
                  <a:srgbClr val="AFB4B9"/>
                </a:solidFill>
                <a:latin typeface="Calibri"/>
              </a:rPr>
              <a:t>Brand C</a:t>
            </a:r>
          </a:p>
        </p:txBody>
      </p:sp>
      <p:sp>
        <p:nvSpPr>
          <p:cNvPr id="100" name="TextBox 99"/>
          <p:cNvSpPr txBox="1"/>
          <p:nvPr/>
        </p:nvSpPr>
        <p:spPr>
          <a:xfrm>
            <a:off x="3467100" y="1828677"/>
            <a:ext cx="1038225" cy="200791"/>
          </a:xfrm>
          <a:prstGeom prst="rect">
            <a:avLst/>
          </a:prstGeom>
          <a:noFill/>
        </p:spPr>
        <p:txBody>
          <a:bodyPr wrap="square" lIns="0" rIns="0" tIns="0" bIns="0" anchor="ctr">
            <a:spAutoFit/>
          </a:bodyPr>
          <a:lstStyle/>
          <a:p>
            <a:pPr algn="ctr"/>
            <a:r>
              <a:rPr sz="1300" b="0">
                <a:solidFill>
                  <a:srgbClr val="0B2E4A"/>
                </a:solidFill>
                <a:latin typeface="Calibri"/>
              </a:rPr>
              <a:t>✦ </a:t>
            </a:r>
            <a:r>
              <a:rPr sz="1300" b="0">
                <a:solidFill>
                  <a:srgbClr val="69B1E0"/>
                </a:solidFill>
                <a:latin typeface="Calibri"/>
              </a:rPr>
              <a:t>✦ </a:t>
            </a:r>
            <a:r>
              <a:rPr sz="1300" b="0">
                <a:solidFill>
                  <a:srgbClr val="A86F00"/>
                </a:solidFill>
                <a:latin typeface="Calibri"/>
              </a:rPr>
              <a:t>✦ </a:t>
            </a:r>
            <a:r>
              <a:rPr sz="1300" b="0">
                <a:solidFill>
                  <a:srgbClr val="79C3EC"/>
                </a:solidFill>
                <a:latin typeface="Calibri"/>
              </a:rPr>
              <a:t>✦ </a:t>
            </a:r>
          </a:p>
        </p:txBody>
      </p:sp>
      <p:sp>
        <p:nvSpPr>
          <p:cNvPr id="101" name="TextBox 100"/>
          <p:cNvSpPr txBox="1"/>
          <p:nvPr/>
        </p:nvSpPr>
        <p:spPr>
          <a:xfrm>
            <a:off x="3467100" y="2047722"/>
            <a:ext cx="1038225" cy="182537"/>
          </a:xfrm>
          <a:prstGeom prst="rect">
            <a:avLst/>
          </a:prstGeom>
          <a:noFill/>
        </p:spPr>
        <p:txBody>
          <a:bodyPr wrap="square" lIns="28575" rIns="28575" tIns="9525" bIns="9525" anchor="ctr">
            <a:spAutoFit/>
          </a:bodyPr>
          <a:lstStyle/>
          <a:p>
            <a:pPr algn="ctr"/>
            <a:r>
              <a:rPr sz="1100" b="1">
                <a:solidFill>
                  <a:srgbClr val="E44D3A"/>
                </a:solidFill>
                <a:latin typeface="Calibri"/>
              </a:rPr>
              <a:t>✘ </a:t>
            </a:r>
            <a:r>
              <a:rPr sz="1100" b="1">
                <a:solidFill>
                  <a:srgbClr val="008189"/>
                </a:solidFill>
                <a:latin typeface="Calibri"/>
              </a:rPr>
              <a:t>✔ </a:t>
            </a:r>
            <a:r>
              <a:rPr sz="1100" b="1">
                <a:solidFill>
                  <a:srgbClr val="008189"/>
                </a:solidFill>
                <a:latin typeface="Calibri"/>
              </a:rPr>
              <a:t>✔ </a:t>
            </a:r>
          </a:p>
        </p:txBody>
      </p:sp>
      <p:sp>
        <p:nvSpPr>
          <p:cNvPr id="102" name="Rectangle 101"/>
          <p:cNvSpPr/>
          <p:nvPr/>
        </p:nvSpPr>
        <p:spPr>
          <a:xfrm>
            <a:off x="3757612" y="2303274"/>
            <a:ext cx="114300" cy="109522"/>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3929062" y="2303274"/>
            <a:ext cx="114300" cy="109522"/>
          </a:xfrm>
          <a:prstGeom prst="rect">
            <a:avLst/>
          </a:prstGeom>
          <a:solidFill>
            <a:srgbClr val="FFFFFF"/>
          </a:solidFill>
          <a:ln w="12700">
            <a:solidFill>
              <a:srgbClr val="79C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Rectangle 103"/>
          <p:cNvSpPr/>
          <p:nvPr/>
        </p:nvSpPr>
        <p:spPr>
          <a:xfrm>
            <a:off x="4100512" y="2303274"/>
            <a:ext cx="114300" cy="109522"/>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3476625" y="2631840"/>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106" name="TextBox 105"/>
          <p:cNvSpPr txBox="1"/>
          <p:nvPr/>
        </p:nvSpPr>
        <p:spPr>
          <a:xfrm>
            <a:off x="3476625" y="2960407"/>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107" name="Oval 106"/>
          <p:cNvSpPr/>
          <p:nvPr/>
        </p:nvSpPr>
        <p:spPr>
          <a:xfrm>
            <a:off x="3738562" y="3416749"/>
            <a:ext cx="495300" cy="474596"/>
          </a:xfrm>
          <a:prstGeom prst="ellipse">
            <a:avLst/>
          </a:prstGeom>
          <a:solidFill>
            <a:srgbClr val="E4E9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Freeform 107"/>
          <p:cNvSpPr/>
          <p:nvPr/>
        </p:nvSpPr>
        <p:spPr>
          <a:xfrm>
            <a:off x="3981450" y="3416749"/>
            <a:ext cx="142875" cy="237298"/>
          </a:xfrm>
          <a:custGeom>
            <a:avLst/>
            <a:gdLst/>
            <a:ahLst/>
            <a:cxnLst/>
            <a:rect l="l" t="t" r="r" b="b"/>
            <a:pathLst>
              <a:path w="15" h="26">
                <a:moveTo>
                  <a:pt x="0" y="26"/>
                </a:moveTo>
                <a:lnTo>
                  <a:pt x="0" y="0"/>
                </a:lnTo>
                <a:lnTo>
                  <a:pt x="4" y="0"/>
                </a:lnTo>
                <a:lnTo>
                  <a:pt x="8" y="1"/>
                </a:lnTo>
                <a:lnTo>
                  <a:pt x="12" y="2"/>
                </a:lnTo>
                <a:lnTo>
                  <a:pt x="15" y="4"/>
                </a:lnTo>
                <a:close/>
              </a:path>
            </a:pathLst>
          </a:cu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Oval 108"/>
          <p:cNvSpPr/>
          <p:nvPr/>
        </p:nvSpPr>
        <p:spPr>
          <a:xfrm>
            <a:off x="3847528" y="3521160"/>
            <a:ext cx="277368" cy="26577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TextBox 109"/>
          <p:cNvSpPr txBox="1"/>
          <p:nvPr/>
        </p:nvSpPr>
        <p:spPr>
          <a:xfrm>
            <a:off x="3738562" y="3590159"/>
            <a:ext cx="495300" cy="127776"/>
          </a:xfrm>
          <a:prstGeom prst="rect">
            <a:avLst/>
          </a:prstGeom>
          <a:noFill/>
        </p:spPr>
        <p:txBody>
          <a:bodyPr wrap="none" lIns="0" rIns="0" tIns="0" bIns="0" anchor="ctr">
            <a:spAutoFit/>
          </a:bodyPr>
          <a:lstStyle/>
          <a:p>
            <a:pPr algn="ctr"/>
            <a:r>
              <a:rPr sz="1100" b="1">
                <a:solidFill>
                  <a:srgbClr val="0E2A5C"/>
                </a:solidFill>
                <a:latin typeface="Calibri"/>
              </a:rPr>
              <a:t> </a:t>
            </a:r>
          </a:p>
        </p:txBody>
      </p:sp>
      <p:sp>
        <p:nvSpPr>
          <p:cNvPr id="111" name="TextBox 110"/>
          <p:cNvSpPr txBox="1"/>
          <p:nvPr/>
        </p:nvSpPr>
        <p:spPr>
          <a:xfrm>
            <a:off x="3495675" y="4092136"/>
            <a:ext cx="990600" cy="912685"/>
          </a:xfrm>
          <a:prstGeom prst="rect">
            <a:avLst/>
          </a:prstGeom>
          <a:noFill/>
        </p:spPr>
        <p:txBody>
          <a:bodyPr wrap="square" lIns="28575" rIns="28575" tIns="9525" bIns="9525" anchor="ctr">
            <a:spAutoFit/>
          </a:bodyPr>
          <a:lstStyle/>
          <a:p>
            <a:pPr algn="l">
              <a:lnSpc>
                <a:spcPct val="100000"/>
              </a:lnSpc>
              <a:spcBef>
                <a:spcPts val="0"/>
              </a:spcBef>
              <a:spcAft>
                <a:spcPts val="300"/>
              </a:spcAft>
            </a:pPr>
            <a:r>
              <a:rPr sz="1100" b="0">
                <a:solidFill>
                  <a:srgbClr val="2E2E2E"/>
                </a:solidFill>
                <a:latin typeface="Calibri"/>
              </a:rPr>
              <a:t>South Asia &amp; Pacific  </a:t>
            </a:r>
            <a:r>
              <a:rPr sz="1100" b="1">
                <a:solidFill>
                  <a:srgbClr val="0E72AE"/>
                </a:solidFill>
                <a:latin typeface="Calibri"/>
              </a:rPr>
              <a:t>▲</a:t>
            </a:r>
          </a:p>
          <a:p>
            <a:pPr algn="l">
              <a:lnSpc>
                <a:spcPct val="100000"/>
              </a:lnSpc>
              <a:spcBef>
                <a:spcPts val="0"/>
              </a:spcBef>
              <a:spcAft>
                <a:spcPts val="300"/>
              </a:spcAft>
            </a:pPr>
            <a:r>
              <a:rPr sz="1100" b="0">
                <a:solidFill>
                  <a:srgbClr val="2E2E2E"/>
                </a:solidFill>
                <a:latin typeface="Calibri"/>
              </a:rPr>
              <a:t>East Asia  </a:t>
            </a:r>
            <a:r>
              <a:rPr sz="1100" b="1">
                <a:solidFill>
                  <a:srgbClr val="A86F00"/>
                </a:solidFill>
                <a:latin typeface="Calibri"/>
              </a:rPr>
              <a:t>▲</a:t>
            </a:r>
          </a:p>
          <a:p>
            <a:pPr algn="l">
              <a:lnSpc>
                <a:spcPct val="100000"/>
              </a:lnSpc>
              <a:spcBef>
                <a:spcPts val="0"/>
              </a:spcBef>
              <a:spcAft>
                <a:spcPts val="300"/>
              </a:spcAft>
            </a:pPr>
            <a:r>
              <a:rPr sz="1100" b="0">
                <a:solidFill>
                  <a:srgbClr val="2E2E2E"/>
                </a:solidFill>
                <a:latin typeface="Calibri"/>
              </a:rPr>
              <a:t>Latin America  </a:t>
            </a:r>
            <a:r>
              <a:rPr sz="1100" b="1">
                <a:solidFill>
                  <a:srgbClr val="9AA3A8"/>
                </a:solidFill>
                <a:latin typeface="Calibri"/>
              </a:rPr>
              <a:t>▲</a:t>
            </a:r>
          </a:p>
        </p:txBody>
      </p:sp>
      <p:sp>
        <p:nvSpPr>
          <p:cNvPr id="112" name="Oval 111"/>
          <p:cNvSpPr/>
          <p:nvPr/>
        </p:nvSpPr>
        <p:spPr>
          <a:xfrm>
            <a:off x="3581400"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extBox 112"/>
          <p:cNvSpPr txBox="1"/>
          <p:nvPr/>
        </p:nvSpPr>
        <p:spPr>
          <a:xfrm>
            <a:off x="358140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E</a:t>
            </a:r>
          </a:p>
        </p:txBody>
      </p:sp>
      <p:sp>
        <p:nvSpPr>
          <p:cNvPr id="114" name="Oval 113"/>
          <p:cNvSpPr/>
          <p:nvPr/>
        </p:nvSpPr>
        <p:spPr>
          <a:xfrm>
            <a:off x="3790950"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379095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I</a:t>
            </a:r>
          </a:p>
        </p:txBody>
      </p:sp>
      <p:sp>
        <p:nvSpPr>
          <p:cNvPr id="116" name="Oval 115"/>
          <p:cNvSpPr/>
          <p:nvPr/>
        </p:nvSpPr>
        <p:spPr>
          <a:xfrm>
            <a:off x="4000500"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TextBox 116"/>
          <p:cNvSpPr txBox="1"/>
          <p:nvPr/>
        </p:nvSpPr>
        <p:spPr>
          <a:xfrm>
            <a:off x="400050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F</a:t>
            </a:r>
          </a:p>
        </p:txBody>
      </p:sp>
      <p:sp>
        <p:nvSpPr>
          <p:cNvPr id="118" name="Oval 117"/>
          <p:cNvSpPr/>
          <p:nvPr/>
        </p:nvSpPr>
        <p:spPr>
          <a:xfrm>
            <a:off x="4210050" y="5173667"/>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TextBox 118"/>
          <p:cNvSpPr txBox="1"/>
          <p:nvPr/>
        </p:nvSpPr>
        <p:spPr>
          <a:xfrm>
            <a:off x="421005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P</a:t>
            </a:r>
          </a:p>
        </p:txBody>
      </p:sp>
      <p:sp>
        <p:nvSpPr>
          <p:cNvPr id="120" name="Oval 119"/>
          <p:cNvSpPr/>
          <p:nvPr/>
        </p:nvSpPr>
        <p:spPr>
          <a:xfrm>
            <a:off x="3686175"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3686175"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A</a:t>
            </a:r>
          </a:p>
        </p:txBody>
      </p:sp>
      <p:sp>
        <p:nvSpPr>
          <p:cNvPr id="122" name="Oval 121"/>
          <p:cNvSpPr/>
          <p:nvPr/>
        </p:nvSpPr>
        <p:spPr>
          <a:xfrm>
            <a:off x="3895725"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TextBox 122"/>
          <p:cNvSpPr txBox="1"/>
          <p:nvPr/>
        </p:nvSpPr>
        <p:spPr>
          <a:xfrm>
            <a:off x="3895725"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L</a:t>
            </a:r>
          </a:p>
        </p:txBody>
      </p:sp>
      <p:sp>
        <p:nvSpPr>
          <p:cNvPr id="124" name="Oval 123"/>
          <p:cNvSpPr/>
          <p:nvPr/>
        </p:nvSpPr>
        <p:spPr>
          <a:xfrm>
            <a:off x="4105275"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TextBox 124"/>
          <p:cNvSpPr txBox="1"/>
          <p:nvPr/>
        </p:nvSpPr>
        <p:spPr>
          <a:xfrm>
            <a:off x="4105275"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C</a:t>
            </a:r>
          </a:p>
        </p:txBody>
      </p:sp>
      <p:sp>
        <p:nvSpPr>
          <p:cNvPr id="126" name="TextBox 125"/>
          <p:cNvSpPr txBox="1"/>
          <p:nvPr/>
        </p:nvSpPr>
        <p:spPr>
          <a:xfrm>
            <a:off x="4552950" y="1189798"/>
            <a:ext cx="1019175" cy="328567"/>
          </a:xfrm>
          <a:prstGeom prst="rect">
            <a:avLst/>
          </a:prstGeom>
          <a:noFill/>
        </p:spPr>
        <p:txBody>
          <a:bodyPr wrap="square" lIns="9525" rIns="9525" tIns="9525" bIns="9525" anchor="ctr">
            <a:spAutoFit/>
          </a:bodyPr>
          <a:lstStyle/>
          <a:p>
            <a:pPr algn="ctr">
              <a:lnSpc>
                <a:spcPct val="95000"/>
              </a:lnSpc>
            </a:pPr>
            <a:r>
              <a:rPr sz="1100" b="1">
                <a:solidFill>
                  <a:srgbClr val="2E2E2E"/>
                </a:solidFill>
                <a:latin typeface="Calibri"/>
              </a:rPr>
              <a:t>Eggnovo S.L.</a:t>
            </a:r>
          </a:p>
        </p:txBody>
      </p:sp>
      <p:cxnSp>
        <p:nvCxnSpPr>
          <p:cNvPr id="127" name="Connector 126"/>
          <p:cNvCxnSpPr/>
          <p:nvPr/>
        </p:nvCxnSpPr>
        <p:spPr>
          <a:xfrm>
            <a:off x="4833938" y="1509238"/>
            <a:ext cx="457200" cy="0"/>
          </a:xfrm>
          <a:prstGeom prst="line">
            <a:avLst/>
          </a:prstGeom>
          <a:ln w="19050">
            <a:solidFill>
              <a:srgbClr val="2A5F8F"/>
            </a:solidFill>
          </a:ln>
          <a:effectLst/>
        </p:spPr>
        <p:style>
          <a:lnRef idx="2">
            <a:schemeClr val="accent1"/>
          </a:lnRef>
          <a:fillRef idx="0">
            <a:schemeClr val="accent1"/>
          </a:fillRef>
          <a:effectRef idx="1">
            <a:schemeClr val="accent1"/>
          </a:effectRef>
          <a:fontRef idx="minor">
            <a:schemeClr val="tx1"/>
          </a:fontRef>
        </p:style>
      </p:cxnSp>
      <p:sp>
        <p:nvSpPr>
          <p:cNvPr id="128" name="TextBox 127"/>
          <p:cNvSpPr txBox="1"/>
          <p:nvPr/>
        </p:nvSpPr>
        <p:spPr>
          <a:xfrm>
            <a:off x="4552950" y="1536618"/>
            <a:ext cx="1019175" cy="255552"/>
          </a:xfrm>
          <a:prstGeom prst="rect">
            <a:avLst/>
          </a:prstGeom>
          <a:noFill/>
        </p:spPr>
        <p:txBody>
          <a:bodyPr wrap="square" lIns="28575" rIns="28575" tIns="9525" bIns="9525" anchor="ctr">
            <a:spAutoFit/>
          </a:bodyPr>
          <a:lstStyle/>
          <a:p>
            <a:pPr algn="ctr"/>
            <a:r>
              <a:rPr sz="1100" b="0">
                <a:solidFill>
                  <a:srgbClr val="AFB4B9"/>
                </a:solidFill>
                <a:latin typeface="Calibri"/>
              </a:rPr>
              <a:t>Brand D</a:t>
            </a:r>
          </a:p>
        </p:txBody>
      </p:sp>
      <p:sp>
        <p:nvSpPr>
          <p:cNvPr id="129" name="TextBox 128"/>
          <p:cNvSpPr txBox="1"/>
          <p:nvPr/>
        </p:nvSpPr>
        <p:spPr>
          <a:xfrm>
            <a:off x="4543425" y="1828677"/>
            <a:ext cx="1038225" cy="200791"/>
          </a:xfrm>
          <a:prstGeom prst="rect">
            <a:avLst/>
          </a:prstGeom>
          <a:noFill/>
        </p:spPr>
        <p:txBody>
          <a:bodyPr wrap="square" lIns="0" rIns="0" tIns="0" bIns="0" anchor="ctr">
            <a:spAutoFit/>
          </a:bodyPr>
          <a:lstStyle/>
          <a:p>
            <a:pPr algn="ctr"/>
            <a:r>
              <a:rPr sz="1300" b="0">
                <a:solidFill>
                  <a:srgbClr val="0B2E4A"/>
                </a:solidFill>
                <a:latin typeface="Calibri"/>
              </a:rPr>
              <a:t>✦ </a:t>
            </a:r>
            <a:r>
              <a:rPr sz="1300" b="0">
                <a:solidFill>
                  <a:srgbClr val="69B1E0"/>
                </a:solidFill>
                <a:latin typeface="Calibri"/>
              </a:rPr>
              <a:t>✦ </a:t>
            </a:r>
            <a:r>
              <a:rPr sz="1300" b="0">
                <a:solidFill>
                  <a:srgbClr val="D4D7DA"/>
                </a:solidFill>
                <a:latin typeface="Calibri"/>
              </a:rPr>
              <a:t>✦ </a:t>
            </a:r>
            <a:r>
              <a:rPr sz="1300" b="0">
                <a:solidFill>
                  <a:srgbClr val="D4D7DA"/>
                </a:solidFill>
                <a:latin typeface="Calibri"/>
              </a:rPr>
              <a:t>✦ </a:t>
            </a:r>
          </a:p>
        </p:txBody>
      </p:sp>
      <p:sp>
        <p:nvSpPr>
          <p:cNvPr id="130" name="TextBox 129"/>
          <p:cNvSpPr txBox="1"/>
          <p:nvPr/>
        </p:nvSpPr>
        <p:spPr>
          <a:xfrm>
            <a:off x="4543425" y="2047722"/>
            <a:ext cx="1038225" cy="182537"/>
          </a:xfrm>
          <a:prstGeom prst="rect">
            <a:avLst/>
          </a:prstGeom>
          <a:noFill/>
        </p:spPr>
        <p:txBody>
          <a:bodyPr wrap="square" lIns="28575" rIns="28575" tIns="9525" bIns="9525" anchor="ctr">
            <a:spAutoFit/>
          </a:bodyPr>
          <a:lstStyle/>
          <a:p>
            <a:pPr algn="ctr"/>
            <a:r>
              <a:rPr sz="1100" b="1">
                <a:solidFill>
                  <a:srgbClr val="008189"/>
                </a:solidFill>
                <a:latin typeface="Calibri"/>
              </a:rPr>
              <a:t>✔ </a:t>
            </a:r>
            <a:r>
              <a:rPr sz="1100" b="1">
                <a:solidFill>
                  <a:srgbClr val="008189"/>
                </a:solidFill>
                <a:latin typeface="Calibri"/>
              </a:rPr>
              <a:t>✔ </a:t>
            </a:r>
            <a:r>
              <a:rPr sz="1100" b="1">
                <a:solidFill>
                  <a:srgbClr val="E44D3A"/>
                </a:solidFill>
                <a:latin typeface="Calibri"/>
              </a:rPr>
              <a:t>✘ </a:t>
            </a:r>
          </a:p>
        </p:txBody>
      </p:sp>
      <p:sp>
        <p:nvSpPr>
          <p:cNvPr id="131" name="Rectangle 130"/>
          <p:cNvSpPr/>
          <p:nvPr/>
        </p:nvSpPr>
        <p:spPr>
          <a:xfrm>
            <a:off x="4833938" y="2303274"/>
            <a:ext cx="114300" cy="109522"/>
          </a:xfrm>
          <a:prstGeom prst="rect">
            <a:avLst/>
          </a:prstGeom>
          <a:solidFill>
            <a:srgbClr val="FFFFFF"/>
          </a:solidFill>
          <a:ln w="12700">
            <a:solidFill>
              <a:srgbClr val="A86F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Rectangle 131"/>
          <p:cNvSpPr/>
          <p:nvPr/>
        </p:nvSpPr>
        <p:spPr>
          <a:xfrm>
            <a:off x="5005388" y="2303274"/>
            <a:ext cx="114300" cy="109522"/>
          </a:xfrm>
          <a:prstGeom prst="rect">
            <a:avLst/>
          </a:prstGeom>
          <a:solidFill>
            <a:srgbClr val="79C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Rectangle 132"/>
          <p:cNvSpPr/>
          <p:nvPr/>
        </p:nvSpPr>
        <p:spPr>
          <a:xfrm>
            <a:off x="5176838" y="2303274"/>
            <a:ext cx="114300" cy="109522"/>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TextBox 133"/>
          <p:cNvSpPr txBox="1"/>
          <p:nvPr/>
        </p:nvSpPr>
        <p:spPr>
          <a:xfrm>
            <a:off x="4552950" y="2631840"/>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135" name="TextBox 134"/>
          <p:cNvSpPr txBox="1"/>
          <p:nvPr/>
        </p:nvSpPr>
        <p:spPr>
          <a:xfrm>
            <a:off x="4552950" y="2960407"/>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136" name="Oval 135"/>
          <p:cNvSpPr/>
          <p:nvPr/>
        </p:nvSpPr>
        <p:spPr>
          <a:xfrm>
            <a:off x="4814888" y="3416749"/>
            <a:ext cx="495300" cy="474596"/>
          </a:xfrm>
          <a:prstGeom prst="ellipse">
            <a:avLst/>
          </a:prstGeom>
          <a:solidFill>
            <a:srgbClr val="E4E9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Freeform 136"/>
          <p:cNvSpPr/>
          <p:nvPr/>
        </p:nvSpPr>
        <p:spPr>
          <a:xfrm>
            <a:off x="5067300" y="3416749"/>
            <a:ext cx="95250" cy="237298"/>
          </a:xfrm>
          <a:custGeom>
            <a:avLst/>
            <a:gdLst/>
            <a:ahLst/>
            <a:cxnLst/>
            <a:rect l="l" t="t" r="r" b="b"/>
            <a:pathLst>
              <a:path w="10" h="26">
                <a:moveTo>
                  <a:pt x="0" y="26"/>
                </a:moveTo>
                <a:lnTo>
                  <a:pt x="0" y="0"/>
                </a:lnTo>
                <a:lnTo>
                  <a:pt x="3" y="0"/>
                </a:lnTo>
                <a:lnTo>
                  <a:pt x="7" y="1"/>
                </a:lnTo>
                <a:lnTo>
                  <a:pt x="10" y="2"/>
                </a:lnTo>
                <a:close/>
              </a:path>
            </a:pathLst>
          </a:cu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Oval 137"/>
          <p:cNvSpPr/>
          <p:nvPr/>
        </p:nvSpPr>
        <p:spPr>
          <a:xfrm>
            <a:off x="4923854" y="3521160"/>
            <a:ext cx="277368" cy="26577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TextBox 138"/>
          <p:cNvSpPr txBox="1"/>
          <p:nvPr/>
        </p:nvSpPr>
        <p:spPr>
          <a:xfrm>
            <a:off x="4814888" y="3590159"/>
            <a:ext cx="495300" cy="127776"/>
          </a:xfrm>
          <a:prstGeom prst="rect">
            <a:avLst/>
          </a:prstGeom>
          <a:noFill/>
        </p:spPr>
        <p:txBody>
          <a:bodyPr wrap="none" lIns="0" rIns="0" tIns="0" bIns="0" anchor="ctr">
            <a:spAutoFit/>
          </a:bodyPr>
          <a:lstStyle/>
          <a:p>
            <a:pPr algn="ctr"/>
            <a:r>
              <a:rPr sz="1100" b="1">
                <a:solidFill>
                  <a:srgbClr val="0E2A5C"/>
                </a:solidFill>
                <a:latin typeface="Calibri"/>
              </a:rPr>
              <a:t> </a:t>
            </a:r>
          </a:p>
        </p:txBody>
      </p:sp>
      <p:sp>
        <p:nvSpPr>
          <p:cNvPr id="140" name="TextBox 139"/>
          <p:cNvSpPr txBox="1"/>
          <p:nvPr/>
        </p:nvSpPr>
        <p:spPr>
          <a:xfrm>
            <a:off x="4572000" y="4092136"/>
            <a:ext cx="990600" cy="912685"/>
          </a:xfrm>
          <a:prstGeom prst="rect">
            <a:avLst/>
          </a:prstGeom>
          <a:noFill/>
        </p:spPr>
        <p:txBody>
          <a:bodyPr wrap="square" lIns="28575" rIns="28575" tIns="9525" bIns="9525" anchor="ctr">
            <a:spAutoFit/>
          </a:bodyPr>
          <a:lstStyle/>
          <a:p>
            <a:pPr algn="l">
              <a:lnSpc>
                <a:spcPct val="100000"/>
              </a:lnSpc>
              <a:spcBef>
                <a:spcPts val="0"/>
              </a:spcBef>
              <a:spcAft>
                <a:spcPts val="300"/>
              </a:spcAft>
            </a:pPr>
            <a:r>
              <a:rPr sz="1100" b="0">
                <a:solidFill>
                  <a:srgbClr val="2E2E2E"/>
                </a:solidFill>
                <a:latin typeface="Calibri"/>
              </a:rPr>
              <a:t>East Asia  </a:t>
            </a:r>
            <a:r>
              <a:rPr sz="1100" b="1">
                <a:solidFill>
                  <a:srgbClr val="0E72AE"/>
                </a:solidFill>
                <a:latin typeface="Calibri"/>
              </a:rPr>
              <a:t>▲</a:t>
            </a:r>
          </a:p>
          <a:p>
            <a:pPr algn="l">
              <a:lnSpc>
                <a:spcPct val="100000"/>
              </a:lnSpc>
              <a:spcBef>
                <a:spcPts val="0"/>
              </a:spcBef>
              <a:spcAft>
                <a:spcPts val="300"/>
              </a:spcAft>
            </a:pPr>
            <a:r>
              <a:rPr sz="1100" b="0">
                <a:solidFill>
                  <a:srgbClr val="2E2E2E"/>
                </a:solidFill>
                <a:latin typeface="Calibri"/>
              </a:rPr>
              <a:t>Latin America  </a:t>
            </a:r>
            <a:r>
              <a:rPr sz="1100" b="1">
                <a:solidFill>
                  <a:srgbClr val="A86F00"/>
                </a:solidFill>
                <a:latin typeface="Calibri"/>
              </a:rPr>
              <a:t>▲</a:t>
            </a:r>
          </a:p>
          <a:p>
            <a:pPr algn="l">
              <a:lnSpc>
                <a:spcPct val="100000"/>
              </a:lnSpc>
              <a:spcBef>
                <a:spcPts val="0"/>
              </a:spcBef>
              <a:spcAft>
                <a:spcPts val="300"/>
              </a:spcAft>
            </a:pPr>
            <a:r>
              <a:rPr sz="1100" b="0">
                <a:solidFill>
                  <a:srgbClr val="2E2E2E"/>
                </a:solidFill>
                <a:latin typeface="Calibri"/>
              </a:rPr>
              <a:t>Middle East and Africa  </a:t>
            </a:r>
            <a:r>
              <a:rPr sz="1100" b="1">
                <a:solidFill>
                  <a:srgbClr val="9AA3A8"/>
                </a:solidFill>
                <a:latin typeface="Calibri"/>
              </a:rPr>
              <a:t>▲</a:t>
            </a:r>
          </a:p>
        </p:txBody>
      </p:sp>
      <p:sp>
        <p:nvSpPr>
          <p:cNvPr id="141" name="Oval 140"/>
          <p:cNvSpPr/>
          <p:nvPr/>
        </p:nvSpPr>
        <p:spPr>
          <a:xfrm>
            <a:off x="465772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TextBox 141"/>
          <p:cNvSpPr txBox="1"/>
          <p:nvPr/>
        </p:nvSpPr>
        <p:spPr>
          <a:xfrm>
            <a:off x="465772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E</a:t>
            </a:r>
          </a:p>
        </p:txBody>
      </p:sp>
      <p:sp>
        <p:nvSpPr>
          <p:cNvPr id="143" name="Oval 142"/>
          <p:cNvSpPr/>
          <p:nvPr/>
        </p:nvSpPr>
        <p:spPr>
          <a:xfrm>
            <a:off x="486727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TextBox 143"/>
          <p:cNvSpPr txBox="1"/>
          <p:nvPr/>
        </p:nvSpPr>
        <p:spPr>
          <a:xfrm>
            <a:off x="486727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I</a:t>
            </a:r>
          </a:p>
        </p:txBody>
      </p:sp>
      <p:sp>
        <p:nvSpPr>
          <p:cNvPr id="145" name="Oval 144"/>
          <p:cNvSpPr/>
          <p:nvPr/>
        </p:nvSpPr>
        <p:spPr>
          <a:xfrm>
            <a:off x="507682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TextBox 145"/>
          <p:cNvSpPr txBox="1"/>
          <p:nvPr/>
        </p:nvSpPr>
        <p:spPr>
          <a:xfrm>
            <a:off x="507682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F</a:t>
            </a:r>
          </a:p>
        </p:txBody>
      </p:sp>
      <p:sp>
        <p:nvSpPr>
          <p:cNvPr id="147" name="Oval 146"/>
          <p:cNvSpPr/>
          <p:nvPr/>
        </p:nvSpPr>
        <p:spPr>
          <a:xfrm>
            <a:off x="528637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TextBox 147"/>
          <p:cNvSpPr txBox="1"/>
          <p:nvPr/>
        </p:nvSpPr>
        <p:spPr>
          <a:xfrm>
            <a:off x="528637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P</a:t>
            </a:r>
          </a:p>
        </p:txBody>
      </p:sp>
      <p:sp>
        <p:nvSpPr>
          <p:cNvPr id="149" name="Oval 148"/>
          <p:cNvSpPr/>
          <p:nvPr/>
        </p:nvSpPr>
        <p:spPr>
          <a:xfrm>
            <a:off x="4762500"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TextBox 149"/>
          <p:cNvSpPr txBox="1"/>
          <p:nvPr/>
        </p:nvSpPr>
        <p:spPr>
          <a:xfrm>
            <a:off x="4762500"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A</a:t>
            </a:r>
          </a:p>
        </p:txBody>
      </p:sp>
      <p:sp>
        <p:nvSpPr>
          <p:cNvPr id="151" name="Oval 150"/>
          <p:cNvSpPr/>
          <p:nvPr/>
        </p:nvSpPr>
        <p:spPr>
          <a:xfrm>
            <a:off x="4972050"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TextBox 151"/>
          <p:cNvSpPr txBox="1"/>
          <p:nvPr/>
        </p:nvSpPr>
        <p:spPr>
          <a:xfrm>
            <a:off x="4972050"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L</a:t>
            </a:r>
          </a:p>
        </p:txBody>
      </p:sp>
      <p:sp>
        <p:nvSpPr>
          <p:cNvPr id="153" name="Oval 152"/>
          <p:cNvSpPr/>
          <p:nvPr/>
        </p:nvSpPr>
        <p:spPr>
          <a:xfrm>
            <a:off x="5181600"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TextBox 153"/>
          <p:cNvSpPr txBox="1"/>
          <p:nvPr/>
        </p:nvSpPr>
        <p:spPr>
          <a:xfrm>
            <a:off x="5181600"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C</a:t>
            </a:r>
          </a:p>
        </p:txBody>
      </p:sp>
      <p:sp>
        <p:nvSpPr>
          <p:cNvPr id="155" name="TextBox 154"/>
          <p:cNvSpPr txBox="1"/>
          <p:nvPr/>
        </p:nvSpPr>
        <p:spPr>
          <a:xfrm>
            <a:off x="5629275" y="1189798"/>
            <a:ext cx="1019175" cy="328567"/>
          </a:xfrm>
          <a:prstGeom prst="rect">
            <a:avLst/>
          </a:prstGeom>
          <a:noFill/>
        </p:spPr>
        <p:txBody>
          <a:bodyPr wrap="square" lIns="9525" rIns="9525" tIns="9525" bIns="9525" anchor="ctr">
            <a:spAutoFit/>
          </a:bodyPr>
          <a:lstStyle/>
          <a:p>
            <a:pPr algn="ctr">
              <a:lnSpc>
                <a:spcPct val="95000"/>
              </a:lnSpc>
            </a:pPr>
            <a:r>
              <a:rPr sz="1100" b="1">
                <a:solidFill>
                  <a:srgbClr val="2E2E2E"/>
                </a:solidFill>
                <a:latin typeface="Calibri"/>
              </a:rPr>
              <a:t>Dutch Eggmembrane Protein Powder</a:t>
            </a:r>
          </a:p>
        </p:txBody>
      </p:sp>
      <p:cxnSp>
        <p:nvCxnSpPr>
          <p:cNvPr id="156" name="Connector 155"/>
          <p:cNvCxnSpPr/>
          <p:nvPr/>
        </p:nvCxnSpPr>
        <p:spPr>
          <a:xfrm>
            <a:off x="5910262" y="1509238"/>
            <a:ext cx="457200" cy="0"/>
          </a:xfrm>
          <a:prstGeom prst="line">
            <a:avLst/>
          </a:prstGeom>
          <a:ln w="19050">
            <a:solidFill>
              <a:srgbClr val="2A5F8F"/>
            </a:solidFill>
          </a:ln>
          <a:effectLst/>
        </p:spPr>
        <p:style>
          <a:lnRef idx="2">
            <a:schemeClr val="accent1"/>
          </a:lnRef>
          <a:fillRef idx="0">
            <a:schemeClr val="accent1"/>
          </a:fillRef>
          <a:effectRef idx="1">
            <a:schemeClr val="accent1"/>
          </a:effectRef>
          <a:fontRef idx="minor">
            <a:schemeClr val="tx1"/>
          </a:fontRef>
        </p:style>
      </p:cxnSp>
      <p:sp>
        <p:nvSpPr>
          <p:cNvPr id="157" name="TextBox 156"/>
          <p:cNvSpPr txBox="1"/>
          <p:nvPr/>
        </p:nvSpPr>
        <p:spPr>
          <a:xfrm>
            <a:off x="5629275" y="1536618"/>
            <a:ext cx="1019175" cy="255552"/>
          </a:xfrm>
          <a:prstGeom prst="rect">
            <a:avLst/>
          </a:prstGeom>
          <a:noFill/>
        </p:spPr>
        <p:txBody>
          <a:bodyPr wrap="square" lIns="28575" rIns="28575" tIns="9525" bIns="9525" anchor="ctr">
            <a:spAutoFit/>
          </a:bodyPr>
          <a:lstStyle/>
          <a:p>
            <a:pPr algn="ctr"/>
            <a:r>
              <a:rPr sz="1100" b="0">
                <a:solidFill>
                  <a:srgbClr val="AFB4B9"/>
                </a:solidFill>
                <a:latin typeface="Calibri"/>
              </a:rPr>
              <a:t>Brand E</a:t>
            </a:r>
          </a:p>
        </p:txBody>
      </p:sp>
      <p:sp>
        <p:nvSpPr>
          <p:cNvPr id="158" name="TextBox 157"/>
          <p:cNvSpPr txBox="1"/>
          <p:nvPr/>
        </p:nvSpPr>
        <p:spPr>
          <a:xfrm>
            <a:off x="5619750" y="1828677"/>
            <a:ext cx="1038225" cy="200791"/>
          </a:xfrm>
          <a:prstGeom prst="rect">
            <a:avLst/>
          </a:prstGeom>
          <a:noFill/>
        </p:spPr>
        <p:txBody>
          <a:bodyPr wrap="square" lIns="0" rIns="0" tIns="0" bIns="0" anchor="ctr">
            <a:spAutoFit/>
          </a:bodyPr>
          <a:lstStyle/>
          <a:p>
            <a:pPr algn="ctr"/>
            <a:r>
              <a:rPr sz="1300" b="0">
                <a:solidFill>
                  <a:srgbClr val="0B2E4A"/>
                </a:solidFill>
                <a:latin typeface="Calibri"/>
              </a:rPr>
              <a:t>✦ </a:t>
            </a:r>
            <a:r>
              <a:rPr sz="1300" b="0">
                <a:solidFill>
                  <a:srgbClr val="69B1E0"/>
                </a:solidFill>
                <a:latin typeface="Calibri"/>
              </a:rPr>
              <a:t>✦ </a:t>
            </a:r>
            <a:r>
              <a:rPr sz="1300" b="0">
                <a:solidFill>
                  <a:srgbClr val="A86F00"/>
                </a:solidFill>
                <a:latin typeface="Calibri"/>
              </a:rPr>
              <a:t>✦ </a:t>
            </a:r>
            <a:r>
              <a:rPr sz="1300" b="0">
                <a:solidFill>
                  <a:srgbClr val="D4D7DA"/>
                </a:solidFill>
                <a:latin typeface="Calibri"/>
              </a:rPr>
              <a:t>✦ </a:t>
            </a:r>
          </a:p>
        </p:txBody>
      </p:sp>
      <p:sp>
        <p:nvSpPr>
          <p:cNvPr id="159" name="TextBox 158"/>
          <p:cNvSpPr txBox="1"/>
          <p:nvPr/>
        </p:nvSpPr>
        <p:spPr>
          <a:xfrm>
            <a:off x="5619750" y="2047722"/>
            <a:ext cx="1038225" cy="182537"/>
          </a:xfrm>
          <a:prstGeom prst="rect">
            <a:avLst/>
          </a:prstGeom>
          <a:noFill/>
        </p:spPr>
        <p:txBody>
          <a:bodyPr wrap="square" lIns="28575" rIns="28575" tIns="9525" bIns="9525" anchor="ctr">
            <a:spAutoFit/>
          </a:bodyPr>
          <a:lstStyle/>
          <a:p>
            <a:pPr algn="ctr"/>
            <a:r>
              <a:rPr sz="1100" b="1">
                <a:solidFill>
                  <a:srgbClr val="008189"/>
                </a:solidFill>
                <a:latin typeface="Calibri"/>
              </a:rPr>
              <a:t>✔ </a:t>
            </a:r>
            <a:r>
              <a:rPr sz="1100" b="1">
                <a:solidFill>
                  <a:srgbClr val="E44D3A"/>
                </a:solidFill>
                <a:latin typeface="Calibri"/>
              </a:rPr>
              <a:t>✘ </a:t>
            </a:r>
            <a:r>
              <a:rPr sz="1100" b="1">
                <a:solidFill>
                  <a:srgbClr val="008189"/>
                </a:solidFill>
                <a:latin typeface="Calibri"/>
              </a:rPr>
              <a:t>✔ </a:t>
            </a:r>
          </a:p>
        </p:txBody>
      </p:sp>
      <p:sp>
        <p:nvSpPr>
          <p:cNvPr id="160" name="Rectangle 159"/>
          <p:cNvSpPr/>
          <p:nvPr/>
        </p:nvSpPr>
        <p:spPr>
          <a:xfrm>
            <a:off x="5910262" y="2303274"/>
            <a:ext cx="114300" cy="109522"/>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Rectangle 160"/>
          <p:cNvSpPr/>
          <p:nvPr/>
        </p:nvSpPr>
        <p:spPr>
          <a:xfrm>
            <a:off x="6081712" y="2303274"/>
            <a:ext cx="114300" cy="109522"/>
          </a:xfrm>
          <a:prstGeom prst="rect">
            <a:avLst/>
          </a:prstGeom>
          <a:solidFill>
            <a:srgbClr val="79C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Rectangle 161"/>
          <p:cNvSpPr/>
          <p:nvPr/>
        </p:nvSpPr>
        <p:spPr>
          <a:xfrm>
            <a:off x="6253162" y="2303274"/>
            <a:ext cx="114300" cy="109522"/>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TextBox 162"/>
          <p:cNvSpPr txBox="1"/>
          <p:nvPr/>
        </p:nvSpPr>
        <p:spPr>
          <a:xfrm>
            <a:off x="5629275" y="2631840"/>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164" name="TextBox 163"/>
          <p:cNvSpPr txBox="1"/>
          <p:nvPr/>
        </p:nvSpPr>
        <p:spPr>
          <a:xfrm>
            <a:off x="5629275" y="2960407"/>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165" name="Oval 164"/>
          <p:cNvSpPr/>
          <p:nvPr/>
        </p:nvSpPr>
        <p:spPr>
          <a:xfrm>
            <a:off x="5891212" y="3416749"/>
            <a:ext cx="495300" cy="474596"/>
          </a:xfrm>
          <a:prstGeom prst="ellipse">
            <a:avLst/>
          </a:prstGeom>
          <a:solidFill>
            <a:srgbClr val="E4E9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Freeform 165"/>
          <p:cNvSpPr/>
          <p:nvPr/>
        </p:nvSpPr>
        <p:spPr>
          <a:xfrm>
            <a:off x="6134100" y="3416749"/>
            <a:ext cx="104775" cy="237298"/>
          </a:xfrm>
          <a:custGeom>
            <a:avLst/>
            <a:gdLst/>
            <a:ahLst/>
            <a:cxnLst/>
            <a:rect l="l" t="t" r="r" b="b"/>
            <a:pathLst>
              <a:path w="11" h="26">
                <a:moveTo>
                  <a:pt x="0" y="26"/>
                </a:moveTo>
                <a:lnTo>
                  <a:pt x="0" y="0"/>
                </a:lnTo>
                <a:lnTo>
                  <a:pt x="4" y="0"/>
                </a:lnTo>
                <a:lnTo>
                  <a:pt x="7" y="1"/>
                </a:lnTo>
                <a:lnTo>
                  <a:pt x="11" y="2"/>
                </a:lnTo>
                <a:close/>
              </a:path>
            </a:pathLst>
          </a:cu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Oval 166"/>
          <p:cNvSpPr/>
          <p:nvPr/>
        </p:nvSpPr>
        <p:spPr>
          <a:xfrm>
            <a:off x="6000179" y="3521160"/>
            <a:ext cx="277368" cy="26577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 name="TextBox 167"/>
          <p:cNvSpPr txBox="1"/>
          <p:nvPr/>
        </p:nvSpPr>
        <p:spPr>
          <a:xfrm>
            <a:off x="5891212" y="3590159"/>
            <a:ext cx="495300" cy="127776"/>
          </a:xfrm>
          <a:prstGeom prst="rect">
            <a:avLst/>
          </a:prstGeom>
          <a:noFill/>
        </p:spPr>
        <p:txBody>
          <a:bodyPr wrap="none" lIns="0" rIns="0" tIns="0" bIns="0" anchor="ctr">
            <a:spAutoFit/>
          </a:bodyPr>
          <a:lstStyle/>
          <a:p>
            <a:pPr algn="ctr"/>
            <a:r>
              <a:rPr sz="1100" b="1">
                <a:solidFill>
                  <a:srgbClr val="0E2A5C"/>
                </a:solidFill>
                <a:latin typeface="Calibri"/>
              </a:rPr>
              <a:t> </a:t>
            </a:r>
          </a:p>
        </p:txBody>
      </p:sp>
      <p:sp>
        <p:nvSpPr>
          <p:cNvPr id="169" name="TextBox 168"/>
          <p:cNvSpPr txBox="1"/>
          <p:nvPr/>
        </p:nvSpPr>
        <p:spPr>
          <a:xfrm>
            <a:off x="5648325" y="4092136"/>
            <a:ext cx="990600" cy="912685"/>
          </a:xfrm>
          <a:prstGeom prst="rect">
            <a:avLst/>
          </a:prstGeom>
          <a:noFill/>
        </p:spPr>
        <p:txBody>
          <a:bodyPr wrap="square" lIns="28575" rIns="28575" tIns="9525" bIns="9525" anchor="ctr">
            <a:spAutoFit/>
          </a:bodyPr>
          <a:lstStyle/>
          <a:p>
            <a:pPr algn="l">
              <a:lnSpc>
                <a:spcPct val="100000"/>
              </a:lnSpc>
              <a:spcBef>
                <a:spcPts val="0"/>
              </a:spcBef>
              <a:spcAft>
                <a:spcPts val="300"/>
              </a:spcAft>
            </a:pPr>
            <a:r>
              <a:rPr sz="1100" b="0">
                <a:solidFill>
                  <a:srgbClr val="2E2E2E"/>
                </a:solidFill>
                <a:latin typeface="Calibri"/>
              </a:rPr>
              <a:t>Latin America  </a:t>
            </a:r>
            <a:r>
              <a:rPr sz="1100" b="1">
                <a:solidFill>
                  <a:srgbClr val="0E72AE"/>
                </a:solidFill>
                <a:latin typeface="Calibri"/>
              </a:rPr>
              <a:t>▲</a:t>
            </a:r>
          </a:p>
          <a:p>
            <a:pPr algn="l">
              <a:lnSpc>
                <a:spcPct val="100000"/>
              </a:lnSpc>
              <a:spcBef>
                <a:spcPts val="0"/>
              </a:spcBef>
              <a:spcAft>
                <a:spcPts val="300"/>
              </a:spcAft>
            </a:pPr>
            <a:r>
              <a:rPr sz="1100" b="0">
                <a:solidFill>
                  <a:srgbClr val="2E2E2E"/>
                </a:solidFill>
                <a:latin typeface="Calibri"/>
              </a:rPr>
              <a:t>Middle East and Africa  </a:t>
            </a:r>
            <a:r>
              <a:rPr sz="1100" b="1">
                <a:solidFill>
                  <a:srgbClr val="A86F00"/>
                </a:solidFill>
                <a:latin typeface="Calibri"/>
              </a:rPr>
              <a:t>▲</a:t>
            </a:r>
          </a:p>
          <a:p>
            <a:pPr algn="l">
              <a:lnSpc>
                <a:spcPct val="100000"/>
              </a:lnSpc>
              <a:spcBef>
                <a:spcPts val="0"/>
              </a:spcBef>
              <a:spcAft>
                <a:spcPts val="300"/>
              </a:spcAft>
            </a:pPr>
            <a:r>
              <a:rPr sz="1100" b="0">
                <a:solidFill>
                  <a:srgbClr val="2E2E2E"/>
                </a:solidFill>
                <a:latin typeface="Calibri"/>
              </a:rPr>
              <a:t>North America  </a:t>
            </a:r>
            <a:r>
              <a:rPr sz="1100" b="1">
                <a:solidFill>
                  <a:srgbClr val="9AA3A8"/>
                </a:solidFill>
                <a:latin typeface="Calibri"/>
              </a:rPr>
              <a:t>▲</a:t>
            </a:r>
          </a:p>
        </p:txBody>
      </p:sp>
      <p:sp>
        <p:nvSpPr>
          <p:cNvPr id="170" name="Oval 169"/>
          <p:cNvSpPr/>
          <p:nvPr/>
        </p:nvSpPr>
        <p:spPr>
          <a:xfrm>
            <a:off x="5734050"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 name="TextBox 170"/>
          <p:cNvSpPr txBox="1"/>
          <p:nvPr/>
        </p:nvSpPr>
        <p:spPr>
          <a:xfrm>
            <a:off x="573405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E</a:t>
            </a:r>
          </a:p>
        </p:txBody>
      </p:sp>
      <p:sp>
        <p:nvSpPr>
          <p:cNvPr id="172" name="Oval 171"/>
          <p:cNvSpPr/>
          <p:nvPr/>
        </p:nvSpPr>
        <p:spPr>
          <a:xfrm>
            <a:off x="5943600"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TextBox 172"/>
          <p:cNvSpPr txBox="1"/>
          <p:nvPr/>
        </p:nvSpPr>
        <p:spPr>
          <a:xfrm>
            <a:off x="594360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I</a:t>
            </a:r>
          </a:p>
        </p:txBody>
      </p:sp>
      <p:sp>
        <p:nvSpPr>
          <p:cNvPr id="174" name="Oval 173"/>
          <p:cNvSpPr/>
          <p:nvPr/>
        </p:nvSpPr>
        <p:spPr>
          <a:xfrm>
            <a:off x="6153150"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 name="TextBox 174"/>
          <p:cNvSpPr txBox="1"/>
          <p:nvPr/>
        </p:nvSpPr>
        <p:spPr>
          <a:xfrm>
            <a:off x="615315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F</a:t>
            </a:r>
          </a:p>
        </p:txBody>
      </p:sp>
      <p:sp>
        <p:nvSpPr>
          <p:cNvPr id="176" name="Oval 175"/>
          <p:cNvSpPr/>
          <p:nvPr/>
        </p:nvSpPr>
        <p:spPr>
          <a:xfrm>
            <a:off x="6362700" y="5173667"/>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 name="TextBox 176"/>
          <p:cNvSpPr txBox="1"/>
          <p:nvPr/>
        </p:nvSpPr>
        <p:spPr>
          <a:xfrm>
            <a:off x="636270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P</a:t>
            </a:r>
          </a:p>
        </p:txBody>
      </p:sp>
      <p:sp>
        <p:nvSpPr>
          <p:cNvPr id="178" name="Oval 177"/>
          <p:cNvSpPr/>
          <p:nvPr/>
        </p:nvSpPr>
        <p:spPr>
          <a:xfrm>
            <a:off x="5838825"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 name="TextBox 178"/>
          <p:cNvSpPr txBox="1"/>
          <p:nvPr/>
        </p:nvSpPr>
        <p:spPr>
          <a:xfrm>
            <a:off x="5838825"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A</a:t>
            </a:r>
          </a:p>
        </p:txBody>
      </p:sp>
      <p:sp>
        <p:nvSpPr>
          <p:cNvPr id="180" name="Oval 179"/>
          <p:cNvSpPr/>
          <p:nvPr/>
        </p:nvSpPr>
        <p:spPr>
          <a:xfrm>
            <a:off x="6048375"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 name="TextBox 180"/>
          <p:cNvSpPr txBox="1"/>
          <p:nvPr/>
        </p:nvSpPr>
        <p:spPr>
          <a:xfrm>
            <a:off x="6048375"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L</a:t>
            </a:r>
          </a:p>
        </p:txBody>
      </p:sp>
      <p:sp>
        <p:nvSpPr>
          <p:cNvPr id="182" name="Oval 181"/>
          <p:cNvSpPr/>
          <p:nvPr/>
        </p:nvSpPr>
        <p:spPr>
          <a:xfrm>
            <a:off x="6257925"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 name="TextBox 182"/>
          <p:cNvSpPr txBox="1"/>
          <p:nvPr/>
        </p:nvSpPr>
        <p:spPr>
          <a:xfrm>
            <a:off x="6257925"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C</a:t>
            </a:r>
          </a:p>
        </p:txBody>
      </p:sp>
      <p:sp>
        <p:nvSpPr>
          <p:cNvPr id="184" name="TextBox 183"/>
          <p:cNvSpPr txBox="1"/>
          <p:nvPr/>
        </p:nvSpPr>
        <p:spPr>
          <a:xfrm>
            <a:off x="6705600" y="1189798"/>
            <a:ext cx="1019175" cy="328567"/>
          </a:xfrm>
          <a:prstGeom prst="rect">
            <a:avLst/>
          </a:prstGeom>
          <a:noFill/>
        </p:spPr>
        <p:txBody>
          <a:bodyPr wrap="square" lIns="9525" rIns="9525" tIns="9525" bIns="9525" anchor="ctr">
            <a:spAutoFit/>
          </a:bodyPr>
          <a:lstStyle/>
          <a:p>
            <a:pPr algn="ctr">
              <a:lnSpc>
                <a:spcPct val="95000"/>
              </a:lnSpc>
            </a:pPr>
            <a:r>
              <a:rPr sz="1100" b="1">
                <a:solidFill>
                  <a:srgbClr val="2E2E2E"/>
                </a:solidFill>
                <a:latin typeface="Calibri"/>
              </a:rPr>
              <a:t>Kewpie Corporation</a:t>
            </a:r>
          </a:p>
        </p:txBody>
      </p:sp>
      <p:cxnSp>
        <p:nvCxnSpPr>
          <p:cNvPr id="185" name="Connector 184"/>
          <p:cNvCxnSpPr/>
          <p:nvPr/>
        </p:nvCxnSpPr>
        <p:spPr>
          <a:xfrm>
            <a:off x="6986588" y="1509238"/>
            <a:ext cx="457200" cy="0"/>
          </a:xfrm>
          <a:prstGeom prst="line">
            <a:avLst/>
          </a:prstGeom>
          <a:ln w="19050">
            <a:solidFill>
              <a:srgbClr val="2A5F8F"/>
            </a:solidFill>
          </a:ln>
          <a:effectLst/>
        </p:spPr>
        <p:style>
          <a:lnRef idx="2">
            <a:schemeClr val="accent1"/>
          </a:lnRef>
          <a:fillRef idx="0">
            <a:schemeClr val="accent1"/>
          </a:fillRef>
          <a:effectRef idx="1">
            <a:schemeClr val="accent1"/>
          </a:effectRef>
          <a:fontRef idx="minor">
            <a:schemeClr val="tx1"/>
          </a:fontRef>
        </p:style>
      </p:cxnSp>
      <p:sp>
        <p:nvSpPr>
          <p:cNvPr id="186" name="TextBox 185"/>
          <p:cNvSpPr txBox="1"/>
          <p:nvPr/>
        </p:nvSpPr>
        <p:spPr>
          <a:xfrm>
            <a:off x="6705600" y="1536618"/>
            <a:ext cx="1019175" cy="255552"/>
          </a:xfrm>
          <a:prstGeom prst="rect">
            <a:avLst/>
          </a:prstGeom>
          <a:noFill/>
        </p:spPr>
        <p:txBody>
          <a:bodyPr wrap="square" lIns="28575" rIns="28575" tIns="9525" bIns="9525" anchor="ctr">
            <a:spAutoFit/>
          </a:bodyPr>
          <a:lstStyle/>
          <a:p>
            <a:pPr algn="ctr"/>
            <a:r>
              <a:rPr sz="1100" b="0">
                <a:solidFill>
                  <a:srgbClr val="AFB4B9"/>
                </a:solidFill>
                <a:latin typeface="Calibri"/>
              </a:rPr>
              <a:t>Brand F</a:t>
            </a:r>
          </a:p>
        </p:txBody>
      </p:sp>
      <p:sp>
        <p:nvSpPr>
          <p:cNvPr id="187" name="TextBox 186"/>
          <p:cNvSpPr txBox="1"/>
          <p:nvPr/>
        </p:nvSpPr>
        <p:spPr>
          <a:xfrm>
            <a:off x="6696075" y="1828677"/>
            <a:ext cx="1038225" cy="200791"/>
          </a:xfrm>
          <a:prstGeom prst="rect">
            <a:avLst/>
          </a:prstGeom>
          <a:noFill/>
        </p:spPr>
        <p:txBody>
          <a:bodyPr wrap="square" lIns="0" rIns="0" tIns="0" bIns="0" anchor="ctr">
            <a:spAutoFit/>
          </a:bodyPr>
          <a:lstStyle/>
          <a:p>
            <a:pPr algn="ctr"/>
            <a:r>
              <a:rPr sz="1300" b="0">
                <a:solidFill>
                  <a:srgbClr val="0B2E4A"/>
                </a:solidFill>
                <a:latin typeface="Calibri"/>
              </a:rPr>
              <a:t>✦ </a:t>
            </a:r>
            <a:r>
              <a:rPr sz="1300" b="0">
                <a:solidFill>
                  <a:srgbClr val="69B1E0"/>
                </a:solidFill>
                <a:latin typeface="Calibri"/>
              </a:rPr>
              <a:t>✦ </a:t>
            </a:r>
            <a:r>
              <a:rPr sz="1300" b="0">
                <a:solidFill>
                  <a:srgbClr val="A86F00"/>
                </a:solidFill>
                <a:latin typeface="Calibri"/>
              </a:rPr>
              <a:t>✦ </a:t>
            </a:r>
            <a:r>
              <a:rPr sz="1300" b="0">
                <a:solidFill>
                  <a:srgbClr val="79C3EC"/>
                </a:solidFill>
                <a:latin typeface="Calibri"/>
              </a:rPr>
              <a:t>✦ </a:t>
            </a:r>
          </a:p>
        </p:txBody>
      </p:sp>
      <p:sp>
        <p:nvSpPr>
          <p:cNvPr id="188" name="TextBox 187"/>
          <p:cNvSpPr txBox="1"/>
          <p:nvPr/>
        </p:nvSpPr>
        <p:spPr>
          <a:xfrm>
            <a:off x="6696075" y="2047722"/>
            <a:ext cx="1038225" cy="182537"/>
          </a:xfrm>
          <a:prstGeom prst="rect">
            <a:avLst/>
          </a:prstGeom>
          <a:noFill/>
        </p:spPr>
        <p:txBody>
          <a:bodyPr wrap="square" lIns="28575" rIns="28575" tIns="9525" bIns="9525" anchor="ctr">
            <a:spAutoFit/>
          </a:bodyPr>
          <a:lstStyle/>
          <a:p>
            <a:pPr algn="ctr"/>
            <a:r>
              <a:rPr sz="1100" b="1">
                <a:solidFill>
                  <a:srgbClr val="E44D3A"/>
                </a:solidFill>
                <a:latin typeface="Calibri"/>
              </a:rPr>
              <a:t>✘ </a:t>
            </a:r>
            <a:r>
              <a:rPr sz="1100" b="1">
                <a:solidFill>
                  <a:srgbClr val="008189"/>
                </a:solidFill>
                <a:latin typeface="Calibri"/>
              </a:rPr>
              <a:t>✔ </a:t>
            </a:r>
            <a:r>
              <a:rPr sz="1100" b="1">
                <a:solidFill>
                  <a:srgbClr val="008189"/>
                </a:solidFill>
                <a:latin typeface="Calibri"/>
              </a:rPr>
              <a:t>✔ </a:t>
            </a:r>
          </a:p>
        </p:txBody>
      </p:sp>
      <p:sp>
        <p:nvSpPr>
          <p:cNvPr id="189" name="Rectangle 188"/>
          <p:cNvSpPr/>
          <p:nvPr/>
        </p:nvSpPr>
        <p:spPr>
          <a:xfrm>
            <a:off x="6986588" y="2303274"/>
            <a:ext cx="114300" cy="109522"/>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 name="Rectangle 189"/>
          <p:cNvSpPr/>
          <p:nvPr/>
        </p:nvSpPr>
        <p:spPr>
          <a:xfrm>
            <a:off x="7158038" y="2303274"/>
            <a:ext cx="114300" cy="109522"/>
          </a:xfrm>
          <a:prstGeom prst="rect">
            <a:avLst/>
          </a:prstGeom>
          <a:solidFill>
            <a:srgbClr val="79C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 name="Rectangle 190"/>
          <p:cNvSpPr/>
          <p:nvPr/>
        </p:nvSpPr>
        <p:spPr>
          <a:xfrm>
            <a:off x="7329488" y="2303274"/>
            <a:ext cx="114300" cy="109522"/>
          </a:xfrm>
          <a:prstGeom prst="rect">
            <a:avLst/>
          </a:prstGeom>
          <a:solidFill>
            <a:srgbClr val="FFFFFF"/>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 name="TextBox 191"/>
          <p:cNvSpPr txBox="1"/>
          <p:nvPr/>
        </p:nvSpPr>
        <p:spPr>
          <a:xfrm>
            <a:off x="6705600" y="2631840"/>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193" name="TextBox 192"/>
          <p:cNvSpPr txBox="1"/>
          <p:nvPr/>
        </p:nvSpPr>
        <p:spPr>
          <a:xfrm>
            <a:off x="6705600" y="2960407"/>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194" name="Oval 193"/>
          <p:cNvSpPr/>
          <p:nvPr/>
        </p:nvSpPr>
        <p:spPr>
          <a:xfrm>
            <a:off x="6967538" y="3416749"/>
            <a:ext cx="495300" cy="474596"/>
          </a:xfrm>
          <a:prstGeom prst="ellipse">
            <a:avLst/>
          </a:prstGeom>
          <a:solidFill>
            <a:srgbClr val="E4E9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 name="Freeform 194"/>
          <p:cNvSpPr/>
          <p:nvPr/>
        </p:nvSpPr>
        <p:spPr>
          <a:xfrm>
            <a:off x="7219950" y="3416749"/>
            <a:ext cx="95250" cy="237298"/>
          </a:xfrm>
          <a:custGeom>
            <a:avLst/>
            <a:gdLst/>
            <a:ahLst/>
            <a:cxnLst/>
            <a:rect l="l" t="t" r="r" b="b"/>
            <a:pathLst>
              <a:path w="10" h="26">
                <a:moveTo>
                  <a:pt x="0" y="26"/>
                </a:moveTo>
                <a:lnTo>
                  <a:pt x="0" y="0"/>
                </a:lnTo>
                <a:lnTo>
                  <a:pt x="3" y="0"/>
                </a:lnTo>
                <a:lnTo>
                  <a:pt x="6" y="1"/>
                </a:lnTo>
                <a:lnTo>
                  <a:pt x="10" y="2"/>
                </a:lnTo>
                <a:close/>
              </a:path>
            </a:pathLst>
          </a:cu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 name="Oval 195"/>
          <p:cNvSpPr/>
          <p:nvPr/>
        </p:nvSpPr>
        <p:spPr>
          <a:xfrm>
            <a:off x="7076504" y="3521160"/>
            <a:ext cx="277368" cy="26577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 name="TextBox 196"/>
          <p:cNvSpPr txBox="1"/>
          <p:nvPr/>
        </p:nvSpPr>
        <p:spPr>
          <a:xfrm>
            <a:off x="6967538" y="3590159"/>
            <a:ext cx="495300" cy="127776"/>
          </a:xfrm>
          <a:prstGeom prst="rect">
            <a:avLst/>
          </a:prstGeom>
          <a:noFill/>
        </p:spPr>
        <p:txBody>
          <a:bodyPr wrap="none" lIns="0" rIns="0" tIns="0" bIns="0" anchor="ctr">
            <a:spAutoFit/>
          </a:bodyPr>
          <a:lstStyle/>
          <a:p>
            <a:pPr algn="ctr"/>
            <a:r>
              <a:rPr sz="1100" b="1">
                <a:solidFill>
                  <a:srgbClr val="0E2A5C"/>
                </a:solidFill>
                <a:latin typeface="Calibri"/>
              </a:rPr>
              <a:t> </a:t>
            </a:r>
          </a:p>
        </p:txBody>
      </p:sp>
      <p:sp>
        <p:nvSpPr>
          <p:cNvPr id="198" name="TextBox 197"/>
          <p:cNvSpPr txBox="1"/>
          <p:nvPr/>
        </p:nvSpPr>
        <p:spPr>
          <a:xfrm>
            <a:off x="6724650" y="4092136"/>
            <a:ext cx="990600" cy="912685"/>
          </a:xfrm>
          <a:prstGeom prst="rect">
            <a:avLst/>
          </a:prstGeom>
          <a:noFill/>
        </p:spPr>
        <p:txBody>
          <a:bodyPr wrap="square" lIns="28575" rIns="28575" tIns="9525" bIns="9525" anchor="ctr">
            <a:spAutoFit/>
          </a:bodyPr>
          <a:lstStyle/>
          <a:p>
            <a:pPr algn="l">
              <a:lnSpc>
                <a:spcPct val="100000"/>
              </a:lnSpc>
              <a:spcBef>
                <a:spcPts val="0"/>
              </a:spcBef>
              <a:spcAft>
                <a:spcPts val="300"/>
              </a:spcAft>
            </a:pPr>
            <a:r>
              <a:rPr sz="1100" b="0">
                <a:solidFill>
                  <a:srgbClr val="2E2E2E"/>
                </a:solidFill>
                <a:latin typeface="Calibri"/>
              </a:rPr>
              <a:t>Middle East and Africa  </a:t>
            </a:r>
            <a:r>
              <a:rPr sz="1100" b="1">
                <a:solidFill>
                  <a:srgbClr val="0E72AE"/>
                </a:solidFill>
                <a:latin typeface="Calibri"/>
              </a:rPr>
              <a:t>▲</a:t>
            </a:r>
          </a:p>
          <a:p>
            <a:pPr algn="l">
              <a:lnSpc>
                <a:spcPct val="100000"/>
              </a:lnSpc>
              <a:spcBef>
                <a:spcPts val="0"/>
              </a:spcBef>
              <a:spcAft>
                <a:spcPts val="300"/>
              </a:spcAft>
            </a:pPr>
            <a:r>
              <a:rPr sz="1100" b="0">
                <a:solidFill>
                  <a:srgbClr val="2E2E2E"/>
                </a:solidFill>
                <a:latin typeface="Calibri"/>
              </a:rPr>
              <a:t>North America  </a:t>
            </a:r>
            <a:r>
              <a:rPr sz="1100" b="1">
                <a:solidFill>
                  <a:srgbClr val="A86F00"/>
                </a:solidFill>
                <a:latin typeface="Calibri"/>
              </a:rPr>
              <a:t>▲</a:t>
            </a:r>
          </a:p>
          <a:p>
            <a:pPr algn="l">
              <a:lnSpc>
                <a:spcPct val="100000"/>
              </a:lnSpc>
              <a:spcBef>
                <a:spcPts val="0"/>
              </a:spcBef>
              <a:spcAft>
                <a:spcPts val="300"/>
              </a:spcAft>
            </a:pPr>
            <a:r>
              <a:rPr sz="1100" b="0">
                <a:solidFill>
                  <a:srgbClr val="2E2E2E"/>
                </a:solidFill>
                <a:latin typeface="Calibri"/>
              </a:rPr>
              <a:t>Europe  </a:t>
            </a:r>
            <a:r>
              <a:rPr sz="1100" b="1">
                <a:solidFill>
                  <a:srgbClr val="9AA3A8"/>
                </a:solidFill>
                <a:latin typeface="Calibri"/>
              </a:rPr>
              <a:t>▲</a:t>
            </a:r>
          </a:p>
        </p:txBody>
      </p:sp>
      <p:sp>
        <p:nvSpPr>
          <p:cNvPr id="199" name="Oval 198"/>
          <p:cNvSpPr/>
          <p:nvPr/>
        </p:nvSpPr>
        <p:spPr>
          <a:xfrm>
            <a:off x="681037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 name="TextBox 199"/>
          <p:cNvSpPr txBox="1"/>
          <p:nvPr/>
        </p:nvSpPr>
        <p:spPr>
          <a:xfrm>
            <a:off x="681037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E</a:t>
            </a:r>
          </a:p>
        </p:txBody>
      </p:sp>
      <p:sp>
        <p:nvSpPr>
          <p:cNvPr id="201" name="Oval 200"/>
          <p:cNvSpPr/>
          <p:nvPr/>
        </p:nvSpPr>
        <p:spPr>
          <a:xfrm>
            <a:off x="701992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 name="TextBox 201"/>
          <p:cNvSpPr txBox="1"/>
          <p:nvPr/>
        </p:nvSpPr>
        <p:spPr>
          <a:xfrm>
            <a:off x="701992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I</a:t>
            </a:r>
          </a:p>
        </p:txBody>
      </p:sp>
      <p:sp>
        <p:nvSpPr>
          <p:cNvPr id="203" name="Oval 202"/>
          <p:cNvSpPr/>
          <p:nvPr/>
        </p:nvSpPr>
        <p:spPr>
          <a:xfrm>
            <a:off x="722947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 name="TextBox 203"/>
          <p:cNvSpPr txBox="1"/>
          <p:nvPr/>
        </p:nvSpPr>
        <p:spPr>
          <a:xfrm>
            <a:off x="722947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F</a:t>
            </a:r>
          </a:p>
        </p:txBody>
      </p:sp>
      <p:sp>
        <p:nvSpPr>
          <p:cNvPr id="205" name="Oval 204"/>
          <p:cNvSpPr/>
          <p:nvPr/>
        </p:nvSpPr>
        <p:spPr>
          <a:xfrm>
            <a:off x="743902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 name="TextBox 205"/>
          <p:cNvSpPr txBox="1"/>
          <p:nvPr/>
        </p:nvSpPr>
        <p:spPr>
          <a:xfrm>
            <a:off x="743902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P</a:t>
            </a:r>
          </a:p>
        </p:txBody>
      </p:sp>
      <p:sp>
        <p:nvSpPr>
          <p:cNvPr id="207" name="Oval 206"/>
          <p:cNvSpPr/>
          <p:nvPr/>
        </p:nvSpPr>
        <p:spPr>
          <a:xfrm>
            <a:off x="6915150"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 name="TextBox 207"/>
          <p:cNvSpPr txBox="1"/>
          <p:nvPr/>
        </p:nvSpPr>
        <p:spPr>
          <a:xfrm>
            <a:off x="6915150"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A</a:t>
            </a:r>
          </a:p>
        </p:txBody>
      </p:sp>
      <p:sp>
        <p:nvSpPr>
          <p:cNvPr id="209" name="Oval 208"/>
          <p:cNvSpPr/>
          <p:nvPr/>
        </p:nvSpPr>
        <p:spPr>
          <a:xfrm>
            <a:off x="7124700"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 name="TextBox 209"/>
          <p:cNvSpPr txBox="1"/>
          <p:nvPr/>
        </p:nvSpPr>
        <p:spPr>
          <a:xfrm>
            <a:off x="7124700"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L</a:t>
            </a:r>
          </a:p>
        </p:txBody>
      </p:sp>
      <p:sp>
        <p:nvSpPr>
          <p:cNvPr id="211" name="Oval 210"/>
          <p:cNvSpPr/>
          <p:nvPr/>
        </p:nvSpPr>
        <p:spPr>
          <a:xfrm>
            <a:off x="7334250"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 name="TextBox 211"/>
          <p:cNvSpPr txBox="1"/>
          <p:nvPr/>
        </p:nvSpPr>
        <p:spPr>
          <a:xfrm>
            <a:off x="7334250"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C</a:t>
            </a:r>
          </a:p>
        </p:txBody>
      </p:sp>
      <p:sp>
        <p:nvSpPr>
          <p:cNvPr id="213" name="TextBox 212"/>
          <p:cNvSpPr txBox="1"/>
          <p:nvPr/>
        </p:nvSpPr>
        <p:spPr>
          <a:xfrm>
            <a:off x="7781925" y="1189798"/>
            <a:ext cx="1019175" cy="328567"/>
          </a:xfrm>
          <a:prstGeom prst="rect">
            <a:avLst/>
          </a:prstGeom>
          <a:noFill/>
        </p:spPr>
        <p:txBody>
          <a:bodyPr wrap="square" lIns="9525" rIns="9525" tIns="9525" bIns="9525" anchor="ctr">
            <a:spAutoFit/>
          </a:bodyPr>
          <a:lstStyle/>
          <a:p>
            <a:pPr algn="ctr">
              <a:lnSpc>
                <a:spcPct val="95000"/>
              </a:lnSpc>
            </a:pPr>
            <a:r>
              <a:rPr sz="1100" b="1">
                <a:solidFill>
                  <a:srgbClr val="2E2E2E"/>
                </a:solidFill>
                <a:latin typeface="Calibri"/>
              </a:rPr>
              <a:t>INNAIN</a:t>
            </a:r>
          </a:p>
        </p:txBody>
      </p:sp>
      <p:cxnSp>
        <p:nvCxnSpPr>
          <p:cNvPr id="214" name="Connector 213"/>
          <p:cNvCxnSpPr/>
          <p:nvPr/>
        </p:nvCxnSpPr>
        <p:spPr>
          <a:xfrm>
            <a:off x="8062912" y="1509238"/>
            <a:ext cx="457200" cy="0"/>
          </a:xfrm>
          <a:prstGeom prst="line">
            <a:avLst/>
          </a:prstGeom>
          <a:ln w="19050">
            <a:solidFill>
              <a:srgbClr val="2A5F8F"/>
            </a:solidFill>
          </a:ln>
          <a:effectLst/>
        </p:spPr>
        <p:style>
          <a:lnRef idx="2">
            <a:schemeClr val="accent1"/>
          </a:lnRef>
          <a:fillRef idx="0">
            <a:schemeClr val="accent1"/>
          </a:fillRef>
          <a:effectRef idx="1">
            <a:schemeClr val="accent1"/>
          </a:effectRef>
          <a:fontRef idx="minor">
            <a:schemeClr val="tx1"/>
          </a:fontRef>
        </p:style>
      </p:cxnSp>
      <p:sp>
        <p:nvSpPr>
          <p:cNvPr id="215" name="TextBox 214"/>
          <p:cNvSpPr txBox="1"/>
          <p:nvPr/>
        </p:nvSpPr>
        <p:spPr>
          <a:xfrm>
            <a:off x="7781925" y="1536618"/>
            <a:ext cx="1019175" cy="255552"/>
          </a:xfrm>
          <a:prstGeom prst="rect">
            <a:avLst/>
          </a:prstGeom>
          <a:noFill/>
        </p:spPr>
        <p:txBody>
          <a:bodyPr wrap="square" lIns="28575" rIns="28575" tIns="9525" bIns="9525" anchor="ctr">
            <a:spAutoFit/>
          </a:bodyPr>
          <a:lstStyle/>
          <a:p>
            <a:pPr algn="ctr"/>
            <a:r>
              <a:rPr sz="1100" b="0">
                <a:solidFill>
                  <a:srgbClr val="AFB4B9"/>
                </a:solidFill>
                <a:latin typeface="Calibri"/>
              </a:rPr>
              <a:t>Brand G</a:t>
            </a:r>
          </a:p>
        </p:txBody>
      </p:sp>
      <p:sp>
        <p:nvSpPr>
          <p:cNvPr id="216" name="TextBox 215"/>
          <p:cNvSpPr txBox="1"/>
          <p:nvPr/>
        </p:nvSpPr>
        <p:spPr>
          <a:xfrm>
            <a:off x="7772400" y="1828677"/>
            <a:ext cx="1038225" cy="200791"/>
          </a:xfrm>
          <a:prstGeom prst="rect">
            <a:avLst/>
          </a:prstGeom>
          <a:noFill/>
        </p:spPr>
        <p:txBody>
          <a:bodyPr wrap="square" lIns="0" rIns="0" tIns="0" bIns="0" anchor="ctr">
            <a:spAutoFit/>
          </a:bodyPr>
          <a:lstStyle/>
          <a:p>
            <a:pPr algn="ctr"/>
            <a:r>
              <a:rPr sz="1300" b="0">
                <a:solidFill>
                  <a:srgbClr val="0B2E4A"/>
                </a:solidFill>
                <a:latin typeface="Calibri"/>
              </a:rPr>
              <a:t>✦ </a:t>
            </a:r>
            <a:r>
              <a:rPr sz="1300" b="0">
                <a:solidFill>
                  <a:srgbClr val="69B1E0"/>
                </a:solidFill>
                <a:latin typeface="Calibri"/>
              </a:rPr>
              <a:t>✦ </a:t>
            </a:r>
            <a:r>
              <a:rPr sz="1300" b="0">
                <a:solidFill>
                  <a:srgbClr val="D4D7DA"/>
                </a:solidFill>
                <a:latin typeface="Calibri"/>
              </a:rPr>
              <a:t>✦ </a:t>
            </a:r>
            <a:r>
              <a:rPr sz="1300" b="0">
                <a:solidFill>
                  <a:srgbClr val="D4D7DA"/>
                </a:solidFill>
                <a:latin typeface="Calibri"/>
              </a:rPr>
              <a:t>✦ </a:t>
            </a:r>
          </a:p>
        </p:txBody>
      </p:sp>
      <p:sp>
        <p:nvSpPr>
          <p:cNvPr id="217" name="TextBox 216"/>
          <p:cNvSpPr txBox="1"/>
          <p:nvPr/>
        </p:nvSpPr>
        <p:spPr>
          <a:xfrm>
            <a:off x="7772400" y="2047722"/>
            <a:ext cx="1038225" cy="182537"/>
          </a:xfrm>
          <a:prstGeom prst="rect">
            <a:avLst/>
          </a:prstGeom>
          <a:noFill/>
        </p:spPr>
        <p:txBody>
          <a:bodyPr wrap="square" lIns="28575" rIns="28575" tIns="9525" bIns="9525" anchor="ctr">
            <a:spAutoFit/>
          </a:bodyPr>
          <a:lstStyle/>
          <a:p>
            <a:pPr algn="ctr"/>
            <a:r>
              <a:rPr sz="1100" b="1">
                <a:solidFill>
                  <a:srgbClr val="008189"/>
                </a:solidFill>
                <a:latin typeface="Calibri"/>
              </a:rPr>
              <a:t>✔ </a:t>
            </a:r>
            <a:r>
              <a:rPr sz="1100" b="1">
                <a:solidFill>
                  <a:srgbClr val="008189"/>
                </a:solidFill>
                <a:latin typeface="Calibri"/>
              </a:rPr>
              <a:t>✔ </a:t>
            </a:r>
            <a:r>
              <a:rPr sz="1100" b="1">
                <a:solidFill>
                  <a:srgbClr val="E44D3A"/>
                </a:solidFill>
                <a:latin typeface="Calibri"/>
              </a:rPr>
              <a:t>✘ </a:t>
            </a:r>
          </a:p>
        </p:txBody>
      </p:sp>
      <p:sp>
        <p:nvSpPr>
          <p:cNvPr id="218" name="Rectangle 217"/>
          <p:cNvSpPr/>
          <p:nvPr/>
        </p:nvSpPr>
        <p:spPr>
          <a:xfrm>
            <a:off x="8062912" y="2303274"/>
            <a:ext cx="114300" cy="109522"/>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 name="Rectangle 218"/>
          <p:cNvSpPr/>
          <p:nvPr/>
        </p:nvSpPr>
        <p:spPr>
          <a:xfrm>
            <a:off x="8234362" y="2303274"/>
            <a:ext cx="114300" cy="109522"/>
          </a:xfrm>
          <a:prstGeom prst="rect">
            <a:avLst/>
          </a:prstGeom>
          <a:solidFill>
            <a:srgbClr val="FFFFFF"/>
          </a:solidFill>
          <a:ln w="12700">
            <a:solidFill>
              <a:srgbClr val="79C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 name="Rectangle 219"/>
          <p:cNvSpPr/>
          <p:nvPr/>
        </p:nvSpPr>
        <p:spPr>
          <a:xfrm>
            <a:off x="8405812" y="2303274"/>
            <a:ext cx="114300" cy="109522"/>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 name="TextBox 220"/>
          <p:cNvSpPr txBox="1"/>
          <p:nvPr/>
        </p:nvSpPr>
        <p:spPr>
          <a:xfrm>
            <a:off x="7781925" y="2631840"/>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222" name="TextBox 221"/>
          <p:cNvSpPr txBox="1"/>
          <p:nvPr/>
        </p:nvSpPr>
        <p:spPr>
          <a:xfrm>
            <a:off x="7781925" y="2960407"/>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223" name="Oval 222"/>
          <p:cNvSpPr/>
          <p:nvPr/>
        </p:nvSpPr>
        <p:spPr>
          <a:xfrm>
            <a:off x="8043862" y="3416749"/>
            <a:ext cx="495300" cy="474596"/>
          </a:xfrm>
          <a:prstGeom prst="ellipse">
            <a:avLst/>
          </a:prstGeom>
          <a:solidFill>
            <a:srgbClr val="E4E9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 name="Freeform 223"/>
          <p:cNvSpPr/>
          <p:nvPr/>
        </p:nvSpPr>
        <p:spPr>
          <a:xfrm>
            <a:off x="8286750" y="3416749"/>
            <a:ext cx="85725" cy="237298"/>
          </a:xfrm>
          <a:custGeom>
            <a:avLst/>
            <a:gdLst/>
            <a:ahLst/>
            <a:cxnLst/>
            <a:rect l="l" t="t" r="r" b="b"/>
            <a:pathLst>
              <a:path w="9" h="26">
                <a:moveTo>
                  <a:pt x="0" y="26"/>
                </a:moveTo>
                <a:lnTo>
                  <a:pt x="0" y="0"/>
                </a:lnTo>
                <a:lnTo>
                  <a:pt x="5" y="0"/>
                </a:lnTo>
                <a:lnTo>
                  <a:pt x="9" y="1"/>
                </a:lnTo>
                <a:close/>
              </a:path>
            </a:pathLst>
          </a:cu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 name="Oval 224"/>
          <p:cNvSpPr/>
          <p:nvPr/>
        </p:nvSpPr>
        <p:spPr>
          <a:xfrm>
            <a:off x="8152829" y="3521160"/>
            <a:ext cx="277368" cy="26577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 name="TextBox 225"/>
          <p:cNvSpPr txBox="1"/>
          <p:nvPr/>
        </p:nvSpPr>
        <p:spPr>
          <a:xfrm>
            <a:off x="8043862" y="3590159"/>
            <a:ext cx="495300" cy="127776"/>
          </a:xfrm>
          <a:prstGeom prst="rect">
            <a:avLst/>
          </a:prstGeom>
          <a:noFill/>
        </p:spPr>
        <p:txBody>
          <a:bodyPr wrap="none" lIns="0" rIns="0" tIns="0" bIns="0" anchor="ctr">
            <a:spAutoFit/>
          </a:bodyPr>
          <a:lstStyle/>
          <a:p>
            <a:pPr algn="ctr"/>
            <a:r>
              <a:rPr sz="1100" b="1">
                <a:solidFill>
                  <a:srgbClr val="0E2A5C"/>
                </a:solidFill>
                <a:latin typeface="Calibri"/>
              </a:rPr>
              <a:t> </a:t>
            </a:r>
          </a:p>
        </p:txBody>
      </p:sp>
      <p:sp>
        <p:nvSpPr>
          <p:cNvPr id="227" name="TextBox 226"/>
          <p:cNvSpPr txBox="1"/>
          <p:nvPr/>
        </p:nvSpPr>
        <p:spPr>
          <a:xfrm>
            <a:off x="7800975" y="4092136"/>
            <a:ext cx="990600" cy="912685"/>
          </a:xfrm>
          <a:prstGeom prst="rect">
            <a:avLst/>
          </a:prstGeom>
          <a:noFill/>
        </p:spPr>
        <p:txBody>
          <a:bodyPr wrap="square" lIns="28575" rIns="28575" tIns="9525" bIns="9525" anchor="ctr">
            <a:spAutoFit/>
          </a:bodyPr>
          <a:lstStyle/>
          <a:p>
            <a:pPr algn="l">
              <a:lnSpc>
                <a:spcPct val="100000"/>
              </a:lnSpc>
              <a:spcBef>
                <a:spcPts val="0"/>
              </a:spcBef>
              <a:spcAft>
                <a:spcPts val="300"/>
              </a:spcAft>
            </a:pPr>
            <a:r>
              <a:rPr sz="1100" b="0">
                <a:solidFill>
                  <a:srgbClr val="2E2E2E"/>
                </a:solidFill>
                <a:latin typeface="Calibri"/>
              </a:rPr>
              <a:t>North America  </a:t>
            </a:r>
            <a:r>
              <a:rPr sz="1100" b="1">
                <a:solidFill>
                  <a:srgbClr val="0E72AE"/>
                </a:solidFill>
                <a:latin typeface="Calibri"/>
              </a:rPr>
              <a:t>▲</a:t>
            </a:r>
          </a:p>
          <a:p>
            <a:pPr algn="l">
              <a:lnSpc>
                <a:spcPct val="100000"/>
              </a:lnSpc>
              <a:spcBef>
                <a:spcPts val="0"/>
              </a:spcBef>
              <a:spcAft>
                <a:spcPts val="300"/>
              </a:spcAft>
            </a:pPr>
            <a:r>
              <a:rPr sz="1100" b="0">
                <a:solidFill>
                  <a:srgbClr val="2E2E2E"/>
                </a:solidFill>
                <a:latin typeface="Calibri"/>
              </a:rPr>
              <a:t>Europe  </a:t>
            </a:r>
            <a:r>
              <a:rPr sz="1100" b="1">
                <a:solidFill>
                  <a:srgbClr val="A86F00"/>
                </a:solidFill>
                <a:latin typeface="Calibri"/>
              </a:rPr>
              <a:t>▲</a:t>
            </a:r>
          </a:p>
          <a:p>
            <a:pPr algn="l">
              <a:lnSpc>
                <a:spcPct val="100000"/>
              </a:lnSpc>
              <a:spcBef>
                <a:spcPts val="0"/>
              </a:spcBef>
              <a:spcAft>
                <a:spcPts val="300"/>
              </a:spcAft>
            </a:pPr>
            <a:r>
              <a:rPr sz="1100" b="0">
                <a:solidFill>
                  <a:srgbClr val="2E2E2E"/>
                </a:solidFill>
                <a:latin typeface="Calibri"/>
              </a:rPr>
              <a:t>South Asia &amp; Pacific  </a:t>
            </a:r>
            <a:r>
              <a:rPr sz="1100" b="1">
                <a:solidFill>
                  <a:srgbClr val="9AA3A8"/>
                </a:solidFill>
                <a:latin typeface="Calibri"/>
              </a:rPr>
              <a:t>▲</a:t>
            </a:r>
          </a:p>
        </p:txBody>
      </p:sp>
      <p:sp>
        <p:nvSpPr>
          <p:cNvPr id="228" name="Oval 227"/>
          <p:cNvSpPr/>
          <p:nvPr/>
        </p:nvSpPr>
        <p:spPr>
          <a:xfrm>
            <a:off x="7886700"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 name="TextBox 228"/>
          <p:cNvSpPr txBox="1"/>
          <p:nvPr/>
        </p:nvSpPr>
        <p:spPr>
          <a:xfrm>
            <a:off x="788670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E</a:t>
            </a:r>
          </a:p>
        </p:txBody>
      </p:sp>
      <p:sp>
        <p:nvSpPr>
          <p:cNvPr id="230" name="Oval 229"/>
          <p:cNvSpPr/>
          <p:nvPr/>
        </p:nvSpPr>
        <p:spPr>
          <a:xfrm>
            <a:off x="8096250"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 name="TextBox 230"/>
          <p:cNvSpPr txBox="1"/>
          <p:nvPr/>
        </p:nvSpPr>
        <p:spPr>
          <a:xfrm>
            <a:off x="809625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I</a:t>
            </a:r>
          </a:p>
        </p:txBody>
      </p:sp>
      <p:sp>
        <p:nvSpPr>
          <p:cNvPr id="232" name="Oval 231"/>
          <p:cNvSpPr/>
          <p:nvPr/>
        </p:nvSpPr>
        <p:spPr>
          <a:xfrm>
            <a:off x="8305800"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 name="TextBox 232"/>
          <p:cNvSpPr txBox="1"/>
          <p:nvPr/>
        </p:nvSpPr>
        <p:spPr>
          <a:xfrm>
            <a:off x="830580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F</a:t>
            </a:r>
          </a:p>
        </p:txBody>
      </p:sp>
      <p:sp>
        <p:nvSpPr>
          <p:cNvPr id="234" name="Oval 233"/>
          <p:cNvSpPr/>
          <p:nvPr/>
        </p:nvSpPr>
        <p:spPr>
          <a:xfrm>
            <a:off x="8515350" y="5173667"/>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 name="TextBox 234"/>
          <p:cNvSpPr txBox="1"/>
          <p:nvPr/>
        </p:nvSpPr>
        <p:spPr>
          <a:xfrm>
            <a:off x="851535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P</a:t>
            </a:r>
          </a:p>
        </p:txBody>
      </p:sp>
      <p:sp>
        <p:nvSpPr>
          <p:cNvPr id="236" name="Oval 235"/>
          <p:cNvSpPr/>
          <p:nvPr/>
        </p:nvSpPr>
        <p:spPr>
          <a:xfrm>
            <a:off x="7991475"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 name="TextBox 236"/>
          <p:cNvSpPr txBox="1"/>
          <p:nvPr/>
        </p:nvSpPr>
        <p:spPr>
          <a:xfrm>
            <a:off x="7991475"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A</a:t>
            </a:r>
          </a:p>
        </p:txBody>
      </p:sp>
      <p:sp>
        <p:nvSpPr>
          <p:cNvPr id="238" name="Oval 237"/>
          <p:cNvSpPr/>
          <p:nvPr/>
        </p:nvSpPr>
        <p:spPr>
          <a:xfrm>
            <a:off x="8201025"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 name="TextBox 238"/>
          <p:cNvSpPr txBox="1"/>
          <p:nvPr/>
        </p:nvSpPr>
        <p:spPr>
          <a:xfrm>
            <a:off x="8201025"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L</a:t>
            </a:r>
          </a:p>
        </p:txBody>
      </p:sp>
      <p:sp>
        <p:nvSpPr>
          <p:cNvPr id="240" name="Oval 239"/>
          <p:cNvSpPr/>
          <p:nvPr/>
        </p:nvSpPr>
        <p:spPr>
          <a:xfrm>
            <a:off x="8410575"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 name="TextBox 240"/>
          <p:cNvSpPr txBox="1"/>
          <p:nvPr/>
        </p:nvSpPr>
        <p:spPr>
          <a:xfrm>
            <a:off x="8410575"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C</a:t>
            </a:r>
          </a:p>
        </p:txBody>
      </p:sp>
      <p:sp>
        <p:nvSpPr>
          <p:cNvPr id="242" name="TextBox 241"/>
          <p:cNvSpPr txBox="1"/>
          <p:nvPr/>
        </p:nvSpPr>
        <p:spPr>
          <a:xfrm>
            <a:off x="8858250" y="1189798"/>
            <a:ext cx="1019175" cy="328567"/>
          </a:xfrm>
          <a:prstGeom prst="rect">
            <a:avLst/>
          </a:prstGeom>
          <a:noFill/>
        </p:spPr>
        <p:txBody>
          <a:bodyPr wrap="square" lIns="9525" rIns="9525" tIns="9525" bIns="9525" anchor="ctr">
            <a:spAutoFit/>
          </a:bodyPr>
          <a:lstStyle/>
          <a:p>
            <a:pPr algn="ctr">
              <a:lnSpc>
                <a:spcPct val="95000"/>
              </a:lnSpc>
            </a:pPr>
            <a:r>
              <a:rPr sz="1100" b="1">
                <a:solidFill>
                  <a:srgbClr val="2E2E2E"/>
                </a:solidFill>
                <a:latin typeface="Calibri"/>
              </a:rPr>
              <a:t>Ecovatec Solutions Inc.</a:t>
            </a:r>
          </a:p>
        </p:txBody>
      </p:sp>
      <p:cxnSp>
        <p:nvCxnSpPr>
          <p:cNvPr id="243" name="Connector 242"/>
          <p:cNvCxnSpPr/>
          <p:nvPr/>
        </p:nvCxnSpPr>
        <p:spPr>
          <a:xfrm>
            <a:off x="9139238" y="1509238"/>
            <a:ext cx="457200" cy="0"/>
          </a:xfrm>
          <a:prstGeom prst="line">
            <a:avLst/>
          </a:prstGeom>
          <a:ln w="19050">
            <a:solidFill>
              <a:srgbClr val="2A5F8F"/>
            </a:solidFill>
          </a:ln>
          <a:effectLst/>
        </p:spPr>
        <p:style>
          <a:lnRef idx="2">
            <a:schemeClr val="accent1"/>
          </a:lnRef>
          <a:fillRef idx="0">
            <a:schemeClr val="accent1"/>
          </a:fillRef>
          <a:effectRef idx="1">
            <a:schemeClr val="accent1"/>
          </a:effectRef>
          <a:fontRef idx="minor">
            <a:schemeClr val="tx1"/>
          </a:fontRef>
        </p:style>
      </p:cxnSp>
      <p:sp>
        <p:nvSpPr>
          <p:cNvPr id="244" name="TextBox 243"/>
          <p:cNvSpPr txBox="1"/>
          <p:nvPr/>
        </p:nvSpPr>
        <p:spPr>
          <a:xfrm>
            <a:off x="8858250" y="1536618"/>
            <a:ext cx="1019175" cy="255552"/>
          </a:xfrm>
          <a:prstGeom prst="rect">
            <a:avLst/>
          </a:prstGeom>
          <a:noFill/>
        </p:spPr>
        <p:txBody>
          <a:bodyPr wrap="square" lIns="28575" rIns="28575" tIns="9525" bIns="9525" anchor="ctr">
            <a:spAutoFit/>
          </a:bodyPr>
          <a:lstStyle/>
          <a:p>
            <a:pPr algn="ctr"/>
            <a:r>
              <a:rPr sz="1100" b="0">
                <a:solidFill>
                  <a:srgbClr val="AFB4B9"/>
                </a:solidFill>
                <a:latin typeface="Calibri"/>
              </a:rPr>
              <a:t>Brand H</a:t>
            </a:r>
          </a:p>
        </p:txBody>
      </p:sp>
      <p:sp>
        <p:nvSpPr>
          <p:cNvPr id="245" name="TextBox 244"/>
          <p:cNvSpPr txBox="1"/>
          <p:nvPr/>
        </p:nvSpPr>
        <p:spPr>
          <a:xfrm>
            <a:off x="8848725" y="1828677"/>
            <a:ext cx="1038225" cy="200791"/>
          </a:xfrm>
          <a:prstGeom prst="rect">
            <a:avLst/>
          </a:prstGeom>
          <a:noFill/>
        </p:spPr>
        <p:txBody>
          <a:bodyPr wrap="square" lIns="0" rIns="0" tIns="0" bIns="0" anchor="ctr">
            <a:spAutoFit/>
          </a:bodyPr>
          <a:lstStyle/>
          <a:p>
            <a:pPr algn="ctr"/>
            <a:r>
              <a:rPr sz="1300" b="0">
                <a:solidFill>
                  <a:srgbClr val="0B2E4A"/>
                </a:solidFill>
                <a:latin typeface="Calibri"/>
              </a:rPr>
              <a:t>✦ </a:t>
            </a:r>
            <a:r>
              <a:rPr sz="1300" b="0">
                <a:solidFill>
                  <a:srgbClr val="69B1E0"/>
                </a:solidFill>
                <a:latin typeface="Calibri"/>
              </a:rPr>
              <a:t>✦ </a:t>
            </a:r>
            <a:r>
              <a:rPr sz="1300" b="0">
                <a:solidFill>
                  <a:srgbClr val="A86F00"/>
                </a:solidFill>
                <a:latin typeface="Calibri"/>
              </a:rPr>
              <a:t>✦ </a:t>
            </a:r>
            <a:r>
              <a:rPr sz="1300" b="0">
                <a:solidFill>
                  <a:srgbClr val="D4D7DA"/>
                </a:solidFill>
                <a:latin typeface="Calibri"/>
              </a:rPr>
              <a:t>✦ </a:t>
            </a:r>
          </a:p>
        </p:txBody>
      </p:sp>
      <p:sp>
        <p:nvSpPr>
          <p:cNvPr id="246" name="TextBox 245"/>
          <p:cNvSpPr txBox="1"/>
          <p:nvPr/>
        </p:nvSpPr>
        <p:spPr>
          <a:xfrm>
            <a:off x="8848725" y="2047722"/>
            <a:ext cx="1038225" cy="182537"/>
          </a:xfrm>
          <a:prstGeom prst="rect">
            <a:avLst/>
          </a:prstGeom>
          <a:noFill/>
        </p:spPr>
        <p:txBody>
          <a:bodyPr wrap="square" lIns="28575" rIns="28575" tIns="9525" bIns="9525" anchor="ctr">
            <a:spAutoFit/>
          </a:bodyPr>
          <a:lstStyle/>
          <a:p>
            <a:pPr algn="ctr"/>
            <a:r>
              <a:rPr sz="1100" b="1">
                <a:solidFill>
                  <a:srgbClr val="008189"/>
                </a:solidFill>
                <a:latin typeface="Calibri"/>
              </a:rPr>
              <a:t>✔ </a:t>
            </a:r>
            <a:r>
              <a:rPr sz="1100" b="1">
                <a:solidFill>
                  <a:srgbClr val="E44D3A"/>
                </a:solidFill>
                <a:latin typeface="Calibri"/>
              </a:rPr>
              <a:t>✘ </a:t>
            </a:r>
            <a:r>
              <a:rPr sz="1100" b="1">
                <a:solidFill>
                  <a:srgbClr val="008189"/>
                </a:solidFill>
                <a:latin typeface="Calibri"/>
              </a:rPr>
              <a:t>✔ </a:t>
            </a:r>
          </a:p>
        </p:txBody>
      </p:sp>
      <p:sp>
        <p:nvSpPr>
          <p:cNvPr id="247" name="Rectangle 246"/>
          <p:cNvSpPr/>
          <p:nvPr/>
        </p:nvSpPr>
        <p:spPr>
          <a:xfrm>
            <a:off x="9139238" y="2303274"/>
            <a:ext cx="114300" cy="109522"/>
          </a:xfrm>
          <a:prstGeom prst="rect">
            <a:avLst/>
          </a:prstGeom>
          <a:solidFill>
            <a:srgbClr val="FFFFFF"/>
          </a:solidFill>
          <a:ln w="12700">
            <a:solidFill>
              <a:srgbClr val="A86F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 name="Rectangle 247"/>
          <p:cNvSpPr/>
          <p:nvPr/>
        </p:nvSpPr>
        <p:spPr>
          <a:xfrm>
            <a:off x="9310688" y="2303274"/>
            <a:ext cx="114300" cy="109522"/>
          </a:xfrm>
          <a:prstGeom prst="rect">
            <a:avLst/>
          </a:prstGeom>
          <a:solidFill>
            <a:srgbClr val="79C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 name="Rectangle 248"/>
          <p:cNvSpPr/>
          <p:nvPr/>
        </p:nvSpPr>
        <p:spPr>
          <a:xfrm>
            <a:off x="9482138" y="2303274"/>
            <a:ext cx="114300" cy="109522"/>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 name="TextBox 249"/>
          <p:cNvSpPr txBox="1"/>
          <p:nvPr/>
        </p:nvSpPr>
        <p:spPr>
          <a:xfrm>
            <a:off x="8858250" y="2631840"/>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251" name="TextBox 250"/>
          <p:cNvSpPr txBox="1"/>
          <p:nvPr/>
        </p:nvSpPr>
        <p:spPr>
          <a:xfrm>
            <a:off x="8858250" y="2960407"/>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252" name="Oval 251"/>
          <p:cNvSpPr/>
          <p:nvPr/>
        </p:nvSpPr>
        <p:spPr>
          <a:xfrm>
            <a:off x="9120188" y="3416749"/>
            <a:ext cx="495300" cy="474596"/>
          </a:xfrm>
          <a:prstGeom prst="ellipse">
            <a:avLst/>
          </a:prstGeom>
          <a:solidFill>
            <a:srgbClr val="E4E9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3" name="Freeform 252"/>
          <p:cNvSpPr/>
          <p:nvPr/>
        </p:nvSpPr>
        <p:spPr>
          <a:xfrm>
            <a:off x="9372600" y="3416749"/>
            <a:ext cx="47625" cy="237298"/>
          </a:xfrm>
          <a:custGeom>
            <a:avLst/>
            <a:gdLst/>
            <a:ahLst/>
            <a:cxnLst/>
            <a:rect l="l" t="t" r="r" b="b"/>
            <a:pathLst>
              <a:path w="5" h="26">
                <a:moveTo>
                  <a:pt x="0" y="26"/>
                </a:moveTo>
                <a:lnTo>
                  <a:pt x="0" y="0"/>
                </a:lnTo>
                <a:lnTo>
                  <a:pt x="2" y="0"/>
                </a:lnTo>
                <a:lnTo>
                  <a:pt x="5" y="0"/>
                </a:lnTo>
                <a:close/>
              </a:path>
            </a:pathLst>
          </a:cu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4" name="Oval 253"/>
          <p:cNvSpPr/>
          <p:nvPr/>
        </p:nvSpPr>
        <p:spPr>
          <a:xfrm>
            <a:off x="9229154" y="3521160"/>
            <a:ext cx="277368" cy="26577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5" name="TextBox 254"/>
          <p:cNvSpPr txBox="1"/>
          <p:nvPr/>
        </p:nvSpPr>
        <p:spPr>
          <a:xfrm>
            <a:off x="9120188" y="3590159"/>
            <a:ext cx="495300" cy="127776"/>
          </a:xfrm>
          <a:prstGeom prst="rect">
            <a:avLst/>
          </a:prstGeom>
          <a:noFill/>
        </p:spPr>
        <p:txBody>
          <a:bodyPr wrap="none" lIns="0" rIns="0" tIns="0" bIns="0" anchor="ctr">
            <a:spAutoFit/>
          </a:bodyPr>
          <a:lstStyle/>
          <a:p>
            <a:pPr algn="ctr"/>
            <a:r>
              <a:rPr sz="1100" b="1">
                <a:solidFill>
                  <a:srgbClr val="0E2A5C"/>
                </a:solidFill>
                <a:latin typeface="Calibri"/>
              </a:rPr>
              <a:t> </a:t>
            </a:r>
          </a:p>
        </p:txBody>
      </p:sp>
      <p:sp>
        <p:nvSpPr>
          <p:cNvPr id="256" name="TextBox 255"/>
          <p:cNvSpPr txBox="1"/>
          <p:nvPr/>
        </p:nvSpPr>
        <p:spPr>
          <a:xfrm>
            <a:off x="8877300" y="4092136"/>
            <a:ext cx="990600" cy="912685"/>
          </a:xfrm>
          <a:prstGeom prst="rect">
            <a:avLst/>
          </a:prstGeom>
          <a:noFill/>
        </p:spPr>
        <p:txBody>
          <a:bodyPr wrap="square" lIns="28575" rIns="28575" tIns="9525" bIns="9525" anchor="ctr">
            <a:spAutoFit/>
          </a:bodyPr>
          <a:lstStyle/>
          <a:p>
            <a:pPr algn="l">
              <a:lnSpc>
                <a:spcPct val="100000"/>
              </a:lnSpc>
              <a:spcBef>
                <a:spcPts val="0"/>
              </a:spcBef>
              <a:spcAft>
                <a:spcPts val="300"/>
              </a:spcAft>
            </a:pPr>
            <a:r>
              <a:rPr sz="1100" b="0">
                <a:solidFill>
                  <a:srgbClr val="2E2E2E"/>
                </a:solidFill>
                <a:latin typeface="Calibri"/>
              </a:rPr>
              <a:t>Europe  </a:t>
            </a:r>
            <a:r>
              <a:rPr sz="1100" b="1">
                <a:solidFill>
                  <a:srgbClr val="0E72AE"/>
                </a:solidFill>
                <a:latin typeface="Calibri"/>
              </a:rPr>
              <a:t>▲</a:t>
            </a:r>
          </a:p>
          <a:p>
            <a:pPr algn="l">
              <a:lnSpc>
                <a:spcPct val="100000"/>
              </a:lnSpc>
              <a:spcBef>
                <a:spcPts val="0"/>
              </a:spcBef>
              <a:spcAft>
                <a:spcPts val="300"/>
              </a:spcAft>
            </a:pPr>
            <a:r>
              <a:rPr sz="1100" b="0">
                <a:solidFill>
                  <a:srgbClr val="2E2E2E"/>
                </a:solidFill>
                <a:latin typeface="Calibri"/>
              </a:rPr>
              <a:t>South Asia &amp; Pacific  </a:t>
            </a:r>
            <a:r>
              <a:rPr sz="1100" b="1">
                <a:solidFill>
                  <a:srgbClr val="A86F00"/>
                </a:solidFill>
                <a:latin typeface="Calibri"/>
              </a:rPr>
              <a:t>▲</a:t>
            </a:r>
          </a:p>
          <a:p>
            <a:pPr algn="l">
              <a:lnSpc>
                <a:spcPct val="100000"/>
              </a:lnSpc>
              <a:spcBef>
                <a:spcPts val="0"/>
              </a:spcBef>
              <a:spcAft>
                <a:spcPts val="300"/>
              </a:spcAft>
            </a:pPr>
            <a:r>
              <a:rPr sz="1100" b="0">
                <a:solidFill>
                  <a:srgbClr val="2E2E2E"/>
                </a:solidFill>
                <a:latin typeface="Calibri"/>
              </a:rPr>
              <a:t>East Asia  </a:t>
            </a:r>
            <a:r>
              <a:rPr sz="1100" b="1">
                <a:solidFill>
                  <a:srgbClr val="9AA3A8"/>
                </a:solidFill>
                <a:latin typeface="Calibri"/>
              </a:rPr>
              <a:t>▲</a:t>
            </a:r>
          </a:p>
        </p:txBody>
      </p:sp>
      <p:sp>
        <p:nvSpPr>
          <p:cNvPr id="257" name="Oval 256"/>
          <p:cNvSpPr/>
          <p:nvPr/>
        </p:nvSpPr>
        <p:spPr>
          <a:xfrm>
            <a:off x="896302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8" name="TextBox 257"/>
          <p:cNvSpPr txBox="1"/>
          <p:nvPr/>
        </p:nvSpPr>
        <p:spPr>
          <a:xfrm>
            <a:off x="896302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E</a:t>
            </a:r>
          </a:p>
        </p:txBody>
      </p:sp>
      <p:sp>
        <p:nvSpPr>
          <p:cNvPr id="259" name="Oval 258"/>
          <p:cNvSpPr/>
          <p:nvPr/>
        </p:nvSpPr>
        <p:spPr>
          <a:xfrm>
            <a:off x="917257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0" name="TextBox 259"/>
          <p:cNvSpPr txBox="1"/>
          <p:nvPr/>
        </p:nvSpPr>
        <p:spPr>
          <a:xfrm>
            <a:off x="917257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I</a:t>
            </a:r>
          </a:p>
        </p:txBody>
      </p:sp>
      <p:sp>
        <p:nvSpPr>
          <p:cNvPr id="261" name="Oval 260"/>
          <p:cNvSpPr/>
          <p:nvPr/>
        </p:nvSpPr>
        <p:spPr>
          <a:xfrm>
            <a:off x="938212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2" name="TextBox 261"/>
          <p:cNvSpPr txBox="1"/>
          <p:nvPr/>
        </p:nvSpPr>
        <p:spPr>
          <a:xfrm>
            <a:off x="938212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F</a:t>
            </a:r>
          </a:p>
        </p:txBody>
      </p:sp>
      <p:sp>
        <p:nvSpPr>
          <p:cNvPr id="263" name="Oval 262"/>
          <p:cNvSpPr/>
          <p:nvPr/>
        </p:nvSpPr>
        <p:spPr>
          <a:xfrm>
            <a:off x="959167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4" name="TextBox 263"/>
          <p:cNvSpPr txBox="1"/>
          <p:nvPr/>
        </p:nvSpPr>
        <p:spPr>
          <a:xfrm>
            <a:off x="959167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P</a:t>
            </a:r>
          </a:p>
        </p:txBody>
      </p:sp>
      <p:sp>
        <p:nvSpPr>
          <p:cNvPr id="265" name="Oval 264"/>
          <p:cNvSpPr/>
          <p:nvPr/>
        </p:nvSpPr>
        <p:spPr>
          <a:xfrm>
            <a:off x="9067800"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6" name="TextBox 265"/>
          <p:cNvSpPr txBox="1"/>
          <p:nvPr/>
        </p:nvSpPr>
        <p:spPr>
          <a:xfrm>
            <a:off x="9067800"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A</a:t>
            </a:r>
          </a:p>
        </p:txBody>
      </p:sp>
      <p:sp>
        <p:nvSpPr>
          <p:cNvPr id="267" name="Oval 266"/>
          <p:cNvSpPr/>
          <p:nvPr/>
        </p:nvSpPr>
        <p:spPr>
          <a:xfrm>
            <a:off x="9277350"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8" name="TextBox 267"/>
          <p:cNvSpPr txBox="1"/>
          <p:nvPr/>
        </p:nvSpPr>
        <p:spPr>
          <a:xfrm>
            <a:off x="9277350"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L</a:t>
            </a:r>
          </a:p>
        </p:txBody>
      </p:sp>
      <p:sp>
        <p:nvSpPr>
          <p:cNvPr id="269" name="Oval 268"/>
          <p:cNvSpPr/>
          <p:nvPr/>
        </p:nvSpPr>
        <p:spPr>
          <a:xfrm>
            <a:off x="9486900"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0" name="TextBox 269"/>
          <p:cNvSpPr txBox="1"/>
          <p:nvPr/>
        </p:nvSpPr>
        <p:spPr>
          <a:xfrm>
            <a:off x="9486900"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C</a:t>
            </a:r>
          </a:p>
        </p:txBody>
      </p:sp>
      <p:sp>
        <p:nvSpPr>
          <p:cNvPr id="271" name="TextBox 270"/>
          <p:cNvSpPr txBox="1"/>
          <p:nvPr/>
        </p:nvSpPr>
        <p:spPr>
          <a:xfrm>
            <a:off x="9934575" y="1189798"/>
            <a:ext cx="1019175" cy="328567"/>
          </a:xfrm>
          <a:prstGeom prst="rect">
            <a:avLst/>
          </a:prstGeom>
          <a:noFill/>
        </p:spPr>
        <p:txBody>
          <a:bodyPr wrap="square" lIns="9525" rIns="9525" tIns="9525" bIns="9525" anchor="ctr">
            <a:spAutoFit/>
          </a:bodyPr>
          <a:lstStyle/>
          <a:p>
            <a:pPr algn="ctr">
              <a:lnSpc>
                <a:spcPct val="95000"/>
              </a:lnSpc>
            </a:pPr>
            <a:r>
              <a:rPr sz="1100" b="1">
                <a:solidFill>
                  <a:srgbClr val="2E2E2E"/>
                </a:solidFill>
                <a:latin typeface="Calibri"/>
              </a:rPr>
              <a:t>Biovotec</a:t>
            </a:r>
          </a:p>
        </p:txBody>
      </p:sp>
      <p:cxnSp>
        <p:nvCxnSpPr>
          <p:cNvPr id="272" name="Connector 271"/>
          <p:cNvCxnSpPr/>
          <p:nvPr/>
        </p:nvCxnSpPr>
        <p:spPr>
          <a:xfrm>
            <a:off x="10215562" y="1509238"/>
            <a:ext cx="457200" cy="0"/>
          </a:xfrm>
          <a:prstGeom prst="line">
            <a:avLst/>
          </a:prstGeom>
          <a:ln w="19050">
            <a:solidFill>
              <a:srgbClr val="2A5F8F"/>
            </a:solidFill>
          </a:ln>
          <a:effectLst/>
        </p:spPr>
        <p:style>
          <a:lnRef idx="2">
            <a:schemeClr val="accent1"/>
          </a:lnRef>
          <a:fillRef idx="0">
            <a:schemeClr val="accent1"/>
          </a:fillRef>
          <a:effectRef idx="1">
            <a:schemeClr val="accent1"/>
          </a:effectRef>
          <a:fontRef idx="minor">
            <a:schemeClr val="tx1"/>
          </a:fontRef>
        </p:style>
      </p:cxnSp>
      <p:sp>
        <p:nvSpPr>
          <p:cNvPr id="273" name="TextBox 272"/>
          <p:cNvSpPr txBox="1"/>
          <p:nvPr/>
        </p:nvSpPr>
        <p:spPr>
          <a:xfrm>
            <a:off x="9934575" y="1536618"/>
            <a:ext cx="1019175" cy="255552"/>
          </a:xfrm>
          <a:prstGeom prst="rect">
            <a:avLst/>
          </a:prstGeom>
          <a:noFill/>
        </p:spPr>
        <p:txBody>
          <a:bodyPr wrap="square" lIns="28575" rIns="28575" tIns="9525" bIns="9525" anchor="ctr">
            <a:spAutoFit/>
          </a:bodyPr>
          <a:lstStyle/>
          <a:p>
            <a:pPr algn="ctr"/>
            <a:r>
              <a:rPr sz="1100" b="0">
                <a:solidFill>
                  <a:srgbClr val="AFB4B9"/>
                </a:solidFill>
                <a:latin typeface="Calibri"/>
              </a:rPr>
              <a:t>Brand I</a:t>
            </a:r>
          </a:p>
        </p:txBody>
      </p:sp>
      <p:sp>
        <p:nvSpPr>
          <p:cNvPr id="274" name="TextBox 273"/>
          <p:cNvSpPr txBox="1"/>
          <p:nvPr/>
        </p:nvSpPr>
        <p:spPr>
          <a:xfrm>
            <a:off x="9925050" y="1828677"/>
            <a:ext cx="1038225" cy="200791"/>
          </a:xfrm>
          <a:prstGeom prst="rect">
            <a:avLst/>
          </a:prstGeom>
          <a:noFill/>
        </p:spPr>
        <p:txBody>
          <a:bodyPr wrap="square" lIns="0" rIns="0" tIns="0" bIns="0" anchor="ctr">
            <a:spAutoFit/>
          </a:bodyPr>
          <a:lstStyle/>
          <a:p>
            <a:pPr algn="ctr"/>
            <a:r>
              <a:rPr sz="1300" b="0">
                <a:solidFill>
                  <a:srgbClr val="0B2E4A"/>
                </a:solidFill>
                <a:latin typeface="Calibri"/>
              </a:rPr>
              <a:t>✦ </a:t>
            </a:r>
            <a:r>
              <a:rPr sz="1300" b="0">
                <a:solidFill>
                  <a:srgbClr val="69B1E0"/>
                </a:solidFill>
                <a:latin typeface="Calibri"/>
              </a:rPr>
              <a:t>✦ </a:t>
            </a:r>
            <a:r>
              <a:rPr sz="1300" b="0">
                <a:solidFill>
                  <a:srgbClr val="A86F00"/>
                </a:solidFill>
                <a:latin typeface="Calibri"/>
              </a:rPr>
              <a:t>✦ </a:t>
            </a:r>
            <a:r>
              <a:rPr sz="1300" b="0">
                <a:solidFill>
                  <a:srgbClr val="79C3EC"/>
                </a:solidFill>
                <a:latin typeface="Calibri"/>
              </a:rPr>
              <a:t>✦ </a:t>
            </a:r>
          </a:p>
        </p:txBody>
      </p:sp>
      <p:sp>
        <p:nvSpPr>
          <p:cNvPr id="275" name="TextBox 274"/>
          <p:cNvSpPr txBox="1"/>
          <p:nvPr/>
        </p:nvSpPr>
        <p:spPr>
          <a:xfrm>
            <a:off x="9925050" y="2047722"/>
            <a:ext cx="1038225" cy="182537"/>
          </a:xfrm>
          <a:prstGeom prst="rect">
            <a:avLst/>
          </a:prstGeom>
          <a:noFill/>
        </p:spPr>
        <p:txBody>
          <a:bodyPr wrap="square" lIns="28575" rIns="28575" tIns="9525" bIns="9525" anchor="ctr">
            <a:spAutoFit/>
          </a:bodyPr>
          <a:lstStyle/>
          <a:p>
            <a:pPr algn="ctr"/>
            <a:r>
              <a:rPr sz="1100" b="1">
                <a:solidFill>
                  <a:srgbClr val="E44D3A"/>
                </a:solidFill>
                <a:latin typeface="Calibri"/>
              </a:rPr>
              <a:t>✘ </a:t>
            </a:r>
            <a:r>
              <a:rPr sz="1100" b="1">
                <a:solidFill>
                  <a:srgbClr val="008189"/>
                </a:solidFill>
                <a:latin typeface="Calibri"/>
              </a:rPr>
              <a:t>✔ </a:t>
            </a:r>
            <a:r>
              <a:rPr sz="1100" b="1">
                <a:solidFill>
                  <a:srgbClr val="008189"/>
                </a:solidFill>
                <a:latin typeface="Calibri"/>
              </a:rPr>
              <a:t>✔ </a:t>
            </a:r>
          </a:p>
        </p:txBody>
      </p:sp>
      <p:sp>
        <p:nvSpPr>
          <p:cNvPr id="276" name="Rectangle 275"/>
          <p:cNvSpPr/>
          <p:nvPr/>
        </p:nvSpPr>
        <p:spPr>
          <a:xfrm>
            <a:off x="10215562" y="2303274"/>
            <a:ext cx="114300" cy="109522"/>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7" name="Rectangle 276"/>
          <p:cNvSpPr/>
          <p:nvPr/>
        </p:nvSpPr>
        <p:spPr>
          <a:xfrm>
            <a:off x="10387012" y="2303274"/>
            <a:ext cx="114300" cy="109522"/>
          </a:xfrm>
          <a:prstGeom prst="rect">
            <a:avLst/>
          </a:prstGeom>
          <a:solidFill>
            <a:srgbClr val="79C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8" name="Rectangle 277"/>
          <p:cNvSpPr/>
          <p:nvPr/>
        </p:nvSpPr>
        <p:spPr>
          <a:xfrm>
            <a:off x="10558462" y="2303274"/>
            <a:ext cx="114300" cy="109522"/>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9" name="TextBox 278"/>
          <p:cNvSpPr txBox="1"/>
          <p:nvPr/>
        </p:nvSpPr>
        <p:spPr>
          <a:xfrm>
            <a:off x="9934575" y="2631840"/>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280" name="TextBox 279"/>
          <p:cNvSpPr txBox="1"/>
          <p:nvPr/>
        </p:nvSpPr>
        <p:spPr>
          <a:xfrm>
            <a:off x="9934575" y="2960407"/>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281" name="Oval 280"/>
          <p:cNvSpPr/>
          <p:nvPr/>
        </p:nvSpPr>
        <p:spPr>
          <a:xfrm>
            <a:off x="10196512" y="3416749"/>
            <a:ext cx="495300" cy="474596"/>
          </a:xfrm>
          <a:prstGeom prst="ellipse">
            <a:avLst/>
          </a:prstGeom>
          <a:solidFill>
            <a:srgbClr val="E4E9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2" name="Freeform 281"/>
          <p:cNvSpPr/>
          <p:nvPr/>
        </p:nvSpPr>
        <p:spPr>
          <a:xfrm>
            <a:off x="10439400" y="3416749"/>
            <a:ext cx="38100" cy="237298"/>
          </a:xfrm>
          <a:custGeom>
            <a:avLst/>
            <a:gdLst/>
            <a:ahLst/>
            <a:cxnLst/>
            <a:rect l="l" t="t" r="r" b="b"/>
            <a:pathLst>
              <a:path w="4" h="26">
                <a:moveTo>
                  <a:pt x="0" y="26"/>
                </a:moveTo>
                <a:lnTo>
                  <a:pt x="0" y="0"/>
                </a:lnTo>
                <a:lnTo>
                  <a:pt x="2" y="0"/>
                </a:lnTo>
                <a:lnTo>
                  <a:pt x="4" y="0"/>
                </a:lnTo>
                <a:close/>
              </a:path>
            </a:pathLst>
          </a:cu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3" name="Oval 282"/>
          <p:cNvSpPr/>
          <p:nvPr/>
        </p:nvSpPr>
        <p:spPr>
          <a:xfrm>
            <a:off x="10305478" y="3521160"/>
            <a:ext cx="277368" cy="26577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4" name="TextBox 283"/>
          <p:cNvSpPr txBox="1"/>
          <p:nvPr/>
        </p:nvSpPr>
        <p:spPr>
          <a:xfrm>
            <a:off x="10196512" y="3590159"/>
            <a:ext cx="495300" cy="127776"/>
          </a:xfrm>
          <a:prstGeom prst="rect">
            <a:avLst/>
          </a:prstGeom>
          <a:noFill/>
        </p:spPr>
        <p:txBody>
          <a:bodyPr wrap="none" lIns="0" rIns="0" tIns="0" bIns="0" anchor="ctr">
            <a:spAutoFit/>
          </a:bodyPr>
          <a:lstStyle/>
          <a:p>
            <a:pPr algn="ctr"/>
            <a:r>
              <a:rPr sz="1100" b="1">
                <a:solidFill>
                  <a:srgbClr val="0E2A5C"/>
                </a:solidFill>
                <a:latin typeface="Calibri"/>
              </a:rPr>
              <a:t> </a:t>
            </a:r>
          </a:p>
        </p:txBody>
      </p:sp>
      <p:sp>
        <p:nvSpPr>
          <p:cNvPr id="285" name="TextBox 284"/>
          <p:cNvSpPr txBox="1"/>
          <p:nvPr/>
        </p:nvSpPr>
        <p:spPr>
          <a:xfrm>
            <a:off x="9953625" y="4092136"/>
            <a:ext cx="990600" cy="912685"/>
          </a:xfrm>
          <a:prstGeom prst="rect">
            <a:avLst/>
          </a:prstGeom>
          <a:noFill/>
        </p:spPr>
        <p:txBody>
          <a:bodyPr wrap="square" lIns="28575" rIns="28575" tIns="9525" bIns="9525" anchor="ctr">
            <a:spAutoFit/>
          </a:bodyPr>
          <a:lstStyle/>
          <a:p>
            <a:pPr algn="l">
              <a:lnSpc>
                <a:spcPct val="100000"/>
              </a:lnSpc>
              <a:spcBef>
                <a:spcPts val="0"/>
              </a:spcBef>
              <a:spcAft>
                <a:spcPts val="300"/>
              </a:spcAft>
            </a:pPr>
            <a:r>
              <a:rPr sz="1100" b="0">
                <a:solidFill>
                  <a:srgbClr val="2E2E2E"/>
                </a:solidFill>
                <a:latin typeface="Calibri"/>
              </a:rPr>
              <a:t>South Asia &amp; Pacific  </a:t>
            </a:r>
            <a:r>
              <a:rPr sz="1100" b="1">
                <a:solidFill>
                  <a:srgbClr val="0E72AE"/>
                </a:solidFill>
                <a:latin typeface="Calibri"/>
              </a:rPr>
              <a:t>▲</a:t>
            </a:r>
          </a:p>
          <a:p>
            <a:pPr algn="l">
              <a:lnSpc>
                <a:spcPct val="100000"/>
              </a:lnSpc>
              <a:spcBef>
                <a:spcPts val="0"/>
              </a:spcBef>
              <a:spcAft>
                <a:spcPts val="300"/>
              </a:spcAft>
            </a:pPr>
            <a:r>
              <a:rPr sz="1100" b="0">
                <a:solidFill>
                  <a:srgbClr val="2E2E2E"/>
                </a:solidFill>
                <a:latin typeface="Calibri"/>
              </a:rPr>
              <a:t>East Asia  </a:t>
            </a:r>
            <a:r>
              <a:rPr sz="1100" b="1">
                <a:solidFill>
                  <a:srgbClr val="A86F00"/>
                </a:solidFill>
                <a:latin typeface="Calibri"/>
              </a:rPr>
              <a:t>▲</a:t>
            </a:r>
          </a:p>
          <a:p>
            <a:pPr algn="l">
              <a:lnSpc>
                <a:spcPct val="100000"/>
              </a:lnSpc>
              <a:spcBef>
                <a:spcPts val="0"/>
              </a:spcBef>
              <a:spcAft>
                <a:spcPts val="300"/>
              </a:spcAft>
            </a:pPr>
            <a:r>
              <a:rPr sz="1100" b="0">
                <a:solidFill>
                  <a:srgbClr val="2E2E2E"/>
                </a:solidFill>
                <a:latin typeface="Calibri"/>
              </a:rPr>
              <a:t>Latin America  </a:t>
            </a:r>
            <a:r>
              <a:rPr sz="1100" b="1">
                <a:solidFill>
                  <a:srgbClr val="9AA3A8"/>
                </a:solidFill>
                <a:latin typeface="Calibri"/>
              </a:rPr>
              <a:t>▲</a:t>
            </a:r>
          </a:p>
        </p:txBody>
      </p:sp>
      <p:sp>
        <p:nvSpPr>
          <p:cNvPr id="286" name="Oval 285"/>
          <p:cNvSpPr/>
          <p:nvPr/>
        </p:nvSpPr>
        <p:spPr>
          <a:xfrm>
            <a:off x="10039350"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7" name="TextBox 286"/>
          <p:cNvSpPr txBox="1"/>
          <p:nvPr/>
        </p:nvSpPr>
        <p:spPr>
          <a:xfrm>
            <a:off x="1003935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E</a:t>
            </a:r>
          </a:p>
        </p:txBody>
      </p:sp>
      <p:sp>
        <p:nvSpPr>
          <p:cNvPr id="288" name="Oval 287"/>
          <p:cNvSpPr/>
          <p:nvPr/>
        </p:nvSpPr>
        <p:spPr>
          <a:xfrm>
            <a:off x="10248900"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9" name="TextBox 288"/>
          <p:cNvSpPr txBox="1"/>
          <p:nvPr/>
        </p:nvSpPr>
        <p:spPr>
          <a:xfrm>
            <a:off x="1024890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I</a:t>
            </a:r>
          </a:p>
        </p:txBody>
      </p:sp>
      <p:sp>
        <p:nvSpPr>
          <p:cNvPr id="290" name="Oval 289"/>
          <p:cNvSpPr/>
          <p:nvPr/>
        </p:nvSpPr>
        <p:spPr>
          <a:xfrm>
            <a:off x="10458450"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1" name="TextBox 290"/>
          <p:cNvSpPr txBox="1"/>
          <p:nvPr/>
        </p:nvSpPr>
        <p:spPr>
          <a:xfrm>
            <a:off x="1045845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F</a:t>
            </a:r>
          </a:p>
        </p:txBody>
      </p:sp>
      <p:sp>
        <p:nvSpPr>
          <p:cNvPr id="292" name="Oval 291"/>
          <p:cNvSpPr/>
          <p:nvPr/>
        </p:nvSpPr>
        <p:spPr>
          <a:xfrm>
            <a:off x="10668000" y="5173667"/>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3" name="TextBox 292"/>
          <p:cNvSpPr txBox="1"/>
          <p:nvPr/>
        </p:nvSpPr>
        <p:spPr>
          <a:xfrm>
            <a:off x="1066800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P</a:t>
            </a:r>
          </a:p>
        </p:txBody>
      </p:sp>
      <p:sp>
        <p:nvSpPr>
          <p:cNvPr id="294" name="Oval 293"/>
          <p:cNvSpPr/>
          <p:nvPr/>
        </p:nvSpPr>
        <p:spPr>
          <a:xfrm>
            <a:off x="10144125"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5" name="TextBox 294"/>
          <p:cNvSpPr txBox="1"/>
          <p:nvPr/>
        </p:nvSpPr>
        <p:spPr>
          <a:xfrm>
            <a:off x="10144125"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A</a:t>
            </a:r>
          </a:p>
        </p:txBody>
      </p:sp>
      <p:sp>
        <p:nvSpPr>
          <p:cNvPr id="296" name="Oval 295"/>
          <p:cNvSpPr/>
          <p:nvPr/>
        </p:nvSpPr>
        <p:spPr>
          <a:xfrm>
            <a:off x="10353675"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7" name="TextBox 296"/>
          <p:cNvSpPr txBox="1"/>
          <p:nvPr/>
        </p:nvSpPr>
        <p:spPr>
          <a:xfrm>
            <a:off x="10353675"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L</a:t>
            </a:r>
          </a:p>
        </p:txBody>
      </p:sp>
      <p:sp>
        <p:nvSpPr>
          <p:cNvPr id="298" name="Oval 297"/>
          <p:cNvSpPr/>
          <p:nvPr/>
        </p:nvSpPr>
        <p:spPr>
          <a:xfrm>
            <a:off x="10563225"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9" name="TextBox 298"/>
          <p:cNvSpPr txBox="1"/>
          <p:nvPr/>
        </p:nvSpPr>
        <p:spPr>
          <a:xfrm>
            <a:off x="10563225"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C</a:t>
            </a:r>
          </a:p>
        </p:txBody>
      </p:sp>
      <p:sp>
        <p:nvSpPr>
          <p:cNvPr id="300" name="TextBox 299"/>
          <p:cNvSpPr txBox="1"/>
          <p:nvPr/>
        </p:nvSpPr>
        <p:spPr>
          <a:xfrm>
            <a:off x="11010900" y="1189798"/>
            <a:ext cx="1019175" cy="328567"/>
          </a:xfrm>
          <a:prstGeom prst="rect">
            <a:avLst/>
          </a:prstGeom>
          <a:noFill/>
        </p:spPr>
        <p:txBody>
          <a:bodyPr wrap="square" lIns="9525" rIns="9525" tIns="9525" bIns="9525" anchor="ctr">
            <a:spAutoFit/>
          </a:bodyPr>
          <a:lstStyle/>
          <a:p>
            <a:pPr algn="ctr">
              <a:lnSpc>
                <a:spcPct val="95000"/>
              </a:lnSpc>
            </a:pPr>
            <a:r>
              <a:rPr sz="1100" b="1">
                <a:solidFill>
                  <a:srgbClr val="2E2E2E"/>
                </a:solidFill>
                <a:latin typeface="Calibri"/>
              </a:rPr>
              <a:t>Microcore Research Laboratories India Pvt. Ltd.</a:t>
            </a:r>
          </a:p>
        </p:txBody>
      </p:sp>
      <p:cxnSp>
        <p:nvCxnSpPr>
          <p:cNvPr id="301" name="Connector 300"/>
          <p:cNvCxnSpPr/>
          <p:nvPr/>
        </p:nvCxnSpPr>
        <p:spPr>
          <a:xfrm>
            <a:off x="11291888" y="1509238"/>
            <a:ext cx="457200" cy="0"/>
          </a:xfrm>
          <a:prstGeom prst="line">
            <a:avLst/>
          </a:prstGeom>
          <a:ln w="19050">
            <a:solidFill>
              <a:srgbClr val="2A5F8F"/>
            </a:solidFill>
          </a:ln>
          <a:effectLst/>
        </p:spPr>
        <p:style>
          <a:lnRef idx="2">
            <a:schemeClr val="accent1"/>
          </a:lnRef>
          <a:fillRef idx="0">
            <a:schemeClr val="accent1"/>
          </a:fillRef>
          <a:effectRef idx="1">
            <a:schemeClr val="accent1"/>
          </a:effectRef>
          <a:fontRef idx="minor">
            <a:schemeClr val="tx1"/>
          </a:fontRef>
        </p:style>
      </p:cxnSp>
      <p:sp>
        <p:nvSpPr>
          <p:cNvPr id="302" name="TextBox 301"/>
          <p:cNvSpPr txBox="1"/>
          <p:nvPr/>
        </p:nvSpPr>
        <p:spPr>
          <a:xfrm>
            <a:off x="11010900" y="1536618"/>
            <a:ext cx="1019175" cy="255552"/>
          </a:xfrm>
          <a:prstGeom prst="rect">
            <a:avLst/>
          </a:prstGeom>
          <a:noFill/>
        </p:spPr>
        <p:txBody>
          <a:bodyPr wrap="square" lIns="28575" rIns="28575" tIns="9525" bIns="9525" anchor="ctr">
            <a:spAutoFit/>
          </a:bodyPr>
          <a:lstStyle/>
          <a:p>
            <a:pPr algn="ctr"/>
            <a:r>
              <a:rPr sz="1100" b="0">
                <a:solidFill>
                  <a:srgbClr val="AFB4B9"/>
                </a:solidFill>
                <a:latin typeface="Calibri"/>
              </a:rPr>
              <a:t>Brand J</a:t>
            </a:r>
          </a:p>
        </p:txBody>
      </p:sp>
      <p:sp>
        <p:nvSpPr>
          <p:cNvPr id="303" name="TextBox 302"/>
          <p:cNvSpPr txBox="1"/>
          <p:nvPr/>
        </p:nvSpPr>
        <p:spPr>
          <a:xfrm>
            <a:off x="11001375" y="1828677"/>
            <a:ext cx="1038225" cy="200791"/>
          </a:xfrm>
          <a:prstGeom prst="rect">
            <a:avLst/>
          </a:prstGeom>
          <a:noFill/>
        </p:spPr>
        <p:txBody>
          <a:bodyPr wrap="square" lIns="0" rIns="0" tIns="0" bIns="0" anchor="ctr">
            <a:spAutoFit/>
          </a:bodyPr>
          <a:lstStyle/>
          <a:p>
            <a:pPr algn="ctr"/>
            <a:r>
              <a:rPr sz="1300" b="0">
                <a:solidFill>
                  <a:srgbClr val="0B2E4A"/>
                </a:solidFill>
                <a:latin typeface="Calibri"/>
              </a:rPr>
              <a:t>✦ </a:t>
            </a:r>
            <a:r>
              <a:rPr sz="1300" b="0">
                <a:solidFill>
                  <a:srgbClr val="69B1E0"/>
                </a:solidFill>
                <a:latin typeface="Calibri"/>
              </a:rPr>
              <a:t>✦ </a:t>
            </a:r>
            <a:r>
              <a:rPr sz="1300" b="0">
                <a:solidFill>
                  <a:srgbClr val="D4D7DA"/>
                </a:solidFill>
                <a:latin typeface="Calibri"/>
              </a:rPr>
              <a:t>✦ </a:t>
            </a:r>
            <a:r>
              <a:rPr sz="1300" b="0">
                <a:solidFill>
                  <a:srgbClr val="D4D7DA"/>
                </a:solidFill>
                <a:latin typeface="Calibri"/>
              </a:rPr>
              <a:t>✦ </a:t>
            </a:r>
          </a:p>
        </p:txBody>
      </p:sp>
      <p:sp>
        <p:nvSpPr>
          <p:cNvPr id="304" name="TextBox 303"/>
          <p:cNvSpPr txBox="1"/>
          <p:nvPr/>
        </p:nvSpPr>
        <p:spPr>
          <a:xfrm>
            <a:off x="11001375" y="2047722"/>
            <a:ext cx="1038225" cy="182537"/>
          </a:xfrm>
          <a:prstGeom prst="rect">
            <a:avLst/>
          </a:prstGeom>
          <a:noFill/>
        </p:spPr>
        <p:txBody>
          <a:bodyPr wrap="square" lIns="28575" rIns="28575" tIns="9525" bIns="9525" anchor="ctr">
            <a:spAutoFit/>
          </a:bodyPr>
          <a:lstStyle/>
          <a:p>
            <a:pPr algn="ctr"/>
            <a:r>
              <a:rPr sz="1100" b="1">
                <a:solidFill>
                  <a:srgbClr val="008189"/>
                </a:solidFill>
                <a:latin typeface="Calibri"/>
              </a:rPr>
              <a:t>✔ </a:t>
            </a:r>
            <a:r>
              <a:rPr sz="1100" b="1">
                <a:solidFill>
                  <a:srgbClr val="008189"/>
                </a:solidFill>
                <a:latin typeface="Calibri"/>
              </a:rPr>
              <a:t>✔ </a:t>
            </a:r>
            <a:r>
              <a:rPr sz="1100" b="1">
                <a:solidFill>
                  <a:srgbClr val="E44D3A"/>
                </a:solidFill>
                <a:latin typeface="Calibri"/>
              </a:rPr>
              <a:t>✘ </a:t>
            </a:r>
          </a:p>
        </p:txBody>
      </p:sp>
      <p:sp>
        <p:nvSpPr>
          <p:cNvPr id="305" name="Rectangle 304"/>
          <p:cNvSpPr/>
          <p:nvPr/>
        </p:nvSpPr>
        <p:spPr>
          <a:xfrm>
            <a:off x="11291888" y="2303274"/>
            <a:ext cx="114300" cy="109522"/>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6" name="Rectangle 305"/>
          <p:cNvSpPr/>
          <p:nvPr/>
        </p:nvSpPr>
        <p:spPr>
          <a:xfrm>
            <a:off x="11463338" y="2303274"/>
            <a:ext cx="114300" cy="109522"/>
          </a:xfrm>
          <a:prstGeom prst="rect">
            <a:avLst/>
          </a:prstGeom>
          <a:solidFill>
            <a:srgbClr val="79C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7" name="Rectangle 306"/>
          <p:cNvSpPr/>
          <p:nvPr/>
        </p:nvSpPr>
        <p:spPr>
          <a:xfrm>
            <a:off x="11634788" y="2303274"/>
            <a:ext cx="114300" cy="109522"/>
          </a:xfrm>
          <a:prstGeom prst="rect">
            <a:avLst/>
          </a:prstGeom>
          <a:solidFill>
            <a:srgbClr val="FFFFFF"/>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8" name="TextBox 307"/>
          <p:cNvSpPr txBox="1"/>
          <p:nvPr/>
        </p:nvSpPr>
        <p:spPr>
          <a:xfrm>
            <a:off x="11010900" y="2631840"/>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309" name="TextBox 308"/>
          <p:cNvSpPr txBox="1"/>
          <p:nvPr/>
        </p:nvSpPr>
        <p:spPr>
          <a:xfrm>
            <a:off x="11010900" y="2960407"/>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310" name="Oval 309"/>
          <p:cNvSpPr/>
          <p:nvPr/>
        </p:nvSpPr>
        <p:spPr>
          <a:xfrm>
            <a:off x="11272838" y="3416749"/>
            <a:ext cx="495300" cy="474596"/>
          </a:xfrm>
          <a:prstGeom prst="ellipse">
            <a:avLst/>
          </a:prstGeom>
          <a:solidFill>
            <a:srgbClr val="E4E9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1" name="Freeform 310"/>
          <p:cNvSpPr/>
          <p:nvPr/>
        </p:nvSpPr>
        <p:spPr>
          <a:xfrm>
            <a:off x="11525250" y="3416749"/>
            <a:ext cx="28575" cy="237298"/>
          </a:xfrm>
          <a:custGeom>
            <a:avLst/>
            <a:gdLst/>
            <a:ahLst/>
            <a:cxnLst/>
            <a:rect l="l" t="t" r="r" b="b"/>
            <a:pathLst>
              <a:path w="3" h="26">
                <a:moveTo>
                  <a:pt x="0" y="26"/>
                </a:moveTo>
                <a:lnTo>
                  <a:pt x="0" y="0"/>
                </a:lnTo>
                <a:lnTo>
                  <a:pt x="1" y="0"/>
                </a:lnTo>
                <a:lnTo>
                  <a:pt x="3" y="0"/>
                </a:lnTo>
                <a:close/>
              </a:path>
            </a:pathLst>
          </a:cu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2" name="Oval 311"/>
          <p:cNvSpPr/>
          <p:nvPr/>
        </p:nvSpPr>
        <p:spPr>
          <a:xfrm>
            <a:off x="11381804" y="3521160"/>
            <a:ext cx="277368" cy="26577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3" name="TextBox 312"/>
          <p:cNvSpPr txBox="1"/>
          <p:nvPr/>
        </p:nvSpPr>
        <p:spPr>
          <a:xfrm>
            <a:off x="11272838" y="3590159"/>
            <a:ext cx="495300" cy="127776"/>
          </a:xfrm>
          <a:prstGeom prst="rect">
            <a:avLst/>
          </a:prstGeom>
          <a:noFill/>
        </p:spPr>
        <p:txBody>
          <a:bodyPr wrap="none" lIns="0" rIns="0" tIns="0" bIns="0" anchor="ctr">
            <a:spAutoFit/>
          </a:bodyPr>
          <a:lstStyle/>
          <a:p>
            <a:pPr algn="ctr"/>
            <a:r>
              <a:rPr sz="1100" b="1">
                <a:solidFill>
                  <a:srgbClr val="0E2A5C"/>
                </a:solidFill>
                <a:latin typeface="Calibri"/>
              </a:rPr>
              <a:t> </a:t>
            </a:r>
          </a:p>
        </p:txBody>
      </p:sp>
      <p:sp>
        <p:nvSpPr>
          <p:cNvPr id="314" name="TextBox 313"/>
          <p:cNvSpPr txBox="1"/>
          <p:nvPr/>
        </p:nvSpPr>
        <p:spPr>
          <a:xfrm>
            <a:off x="11029950" y="4092136"/>
            <a:ext cx="990600" cy="912685"/>
          </a:xfrm>
          <a:prstGeom prst="rect">
            <a:avLst/>
          </a:prstGeom>
          <a:noFill/>
        </p:spPr>
        <p:txBody>
          <a:bodyPr wrap="square" lIns="28575" rIns="28575" tIns="9525" bIns="9525" anchor="ctr">
            <a:spAutoFit/>
          </a:bodyPr>
          <a:lstStyle/>
          <a:p>
            <a:pPr algn="l">
              <a:lnSpc>
                <a:spcPct val="100000"/>
              </a:lnSpc>
              <a:spcBef>
                <a:spcPts val="0"/>
              </a:spcBef>
              <a:spcAft>
                <a:spcPts val="300"/>
              </a:spcAft>
            </a:pPr>
            <a:r>
              <a:rPr sz="1100" b="0">
                <a:solidFill>
                  <a:srgbClr val="2E2E2E"/>
                </a:solidFill>
                <a:latin typeface="Calibri"/>
              </a:rPr>
              <a:t>East Asia  </a:t>
            </a:r>
            <a:r>
              <a:rPr sz="1100" b="1">
                <a:solidFill>
                  <a:srgbClr val="0E72AE"/>
                </a:solidFill>
                <a:latin typeface="Calibri"/>
              </a:rPr>
              <a:t>▲</a:t>
            </a:r>
          </a:p>
          <a:p>
            <a:pPr algn="l">
              <a:lnSpc>
                <a:spcPct val="100000"/>
              </a:lnSpc>
              <a:spcBef>
                <a:spcPts val="0"/>
              </a:spcBef>
              <a:spcAft>
                <a:spcPts val="300"/>
              </a:spcAft>
            </a:pPr>
            <a:r>
              <a:rPr sz="1100" b="0">
                <a:solidFill>
                  <a:srgbClr val="2E2E2E"/>
                </a:solidFill>
                <a:latin typeface="Calibri"/>
              </a:rPr>
              <a:t>Latin America  </a:t>
            </a:r>
            <a:r>
              <a:rPr sz="1100" b="1">
                <a:solidFill>
                  <a:srgbClr val="A86F00"/>
                </a:solidFill>
                <a:latin typeface="Calibri"/>
              </a:rPr>
              <a:t>▲</a:t>
            </a:r>
          </a:p>
          <a:p>
            <a:pPr algn="l">
              <a:lnSpc>
                <a:spcPct val="100000"/>
              </a:lnSpc>
              <a:spcBef>
                <a:spcPts val="0"/>
              </a:spcBef>
              <a:spcAft>
                <a:spcPts val="300"/>
              </a:spcAft>
            </a:pPr>
            <a:r>
              <a:rPr sz="1100" b="0">
                <a:solidFill>
                  <a:srgbClr val="2E2E2E"/>
                </a:solidFill>
                <a:latin typeface="Calibri"/>
              </a:rPr>
              <a:t>Middle East and Africa  </a:t>
            </a:r>
            <a:r>
              <a:rPr sz="1100" b="1">
                <a:solidFill>
                  <a:srgbClr val="9AA3A8"/>
                </a:solidFill>
                <a:latin typeface="Calibri"/>
              </a:rPr>
              <a:t>▲</a:t>
            </a:r>
          </a:p>
        </p:txBody>
      </p:sp>
      <p:sp>
        <p:nvSpPr>
          <p:cNvPr id="315" name="Oval 314"/>
          <p:cNvSpPr/>
          <p:nvPr/>
        </p:nvSpPr>
        <p:spPr>
          <a:xfrm>
            <a:off x="1111567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6" name="TextBox 315"/>
          <p:cNvSpPr txBox="1"/>
          <p:nvPr/>
        </p:nvSpPr>
        <p:spPr>
          <a:xfrm>
            <a:off x="1111567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E</a:t>
            </a:r>
          </a:p>
        </p:txBody>
      </p:sp>
      <p:sp>
        <p:nvSpPr>
          <p:cNvPr id="317" name="Oval 316"/>
          <p:cNvSpPr/>
          <p:nvPr/>
        </p:nvSpPr>
        <p:spPr>
          <a:xfrm>
            <a:off x="1132522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8" name="TextBox 317"/>
          <p:cNvSpPr txBox="1"/>
          <p:nvPr/>
        </p:nvSpPr>
        <p:spPr>
          <a:xfrm>
            <a:off x="1132522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I</a:t>
            </a:r>
          </a:p>
        </p:txBody>
      </p:sp>
      <p:sp>
        <p:nvSpPr>
          <p:cNvPr id="319" name="Oval 318"/>
          <p:cNvSpPr/>
          <p:nvPr/>
        </p:nvSpPr>
        <p:spPr>
          <a:xfrm>
            <a:off x="1153477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0" name="TextBox 319"/>
          <p:cNvSpPr txBox="1"/>
          <p:nvPr/>
        </p:nvSpPr>
        <p:spPr>
          <a:xfrm>
            <a:off x="1153477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F</a:t>
            </a:r>
          </a:p>
        </p:txBody>
      </p:sp>
      <p:sp>
        <p:nvSpPr>
          <p:cNvPr id="321" name="Oval 320"/>
          <p:cNvSpPr/>
          <p:nvPr/>
        </p:nvSpPr>
        <p:spPr>
          <a:xfrm>
            <a:off x="1174432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2" name="TextBox 321"/>
          <p:cNvSpPr txBox="1"/>
          <p:nvPr/>
        </p:nvSpPr>
        <p:spPr>
          <a:xfrm>
            <a:off x="1174432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P</a:t>
            </a:r>
          </a:p>
        </p:txBody>
      </p:sp>
      <p:sp>
        <p:nvSpPr>
          <p:cNvPr id="323" name="Oval 322"/>
          <p:cNvSpPr/>
          <p:nvPr/>
        </p:nvSpPr>
        <p:spPr>
          <a:xfrm>
            <a:off x="11220450"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4" name="TextBox 323"/>
          <p:cNvSpPr txBox="1"/>
          <p:nvPr/>
        </p:nvSpPr>
        <p:spPr>
          <a:xfrm>
            <a:off x="11220450"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A</a:t>
            </a:r>
          </a:p>
        </p:txBody>
      </p:sp>
      <p:sp>
        <p:nvSpPr>
          <p:cNvPr id="325" name="Oval 324"/>
          <p:cNvSpPr/>
          <p:nvPr/>
        </p:nvSpPr>
        <p:spPr>
          <a:xfrm>
            <a:off x="11430000"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6" name="TextBox 325"/>
          <p:cNvSpPr txBox="1"/>
          <p:nvPr/>
        </p:nvSpPr>
        <p:spPr>
          <a:xfrm>
            <a:off x="11430000"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L</a:t>
            </a:r>
          </a:p>
        </p:txBody>
      </p:sp>
      <p:sp>
        <p:nvSpPr>
          <p:cNvPr id="327" name="Oval 326"/>
          <p:cNvSpPr/>
          <p:nvPr/>
        </p:nvSpPr>
        <p:spPr>
          <a:xfrm>
            <a:off x="11639550"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8" name="TextBox 327"/>
          <p:cNvSpPr txBox="1"/>
          <p:nvPr/>
        </p:nvSpPr>
        <p:spPr>
          <a:xfrm>
            <a:off x="11639550"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C</a:t>
            </a:r>
          </a:p>
        </p:txBody>
      </p:sp>
      <p:sp>
        <p:nvSpPr>
          <p:cNvPr id="329" name="TextBox 328"/>
          <p:cNvSpPr txBox="1"/>
          <p:nvPr/>
        </p:nvSpPr>
        <p:spPr>
          <a:xfrm>
            <a:off x="285750" y="5716715"/>
            <a:ext cx="1116806" cy="164283"/>
          </a:xfrm>
          <a:prstGeom prst="rect">
            <a:avLst/>
          </a:prstGeom>
          <a:noFill/>
        </p:spPr>
        <p:txBody>
          <a:bodyPr wrap="square" lIns="0" rIns="0" tIns="0" bIns="0" anchor="ctr">
            <a:spAutoFit/>
          </a:bodyPr>
          <a:lstStyle/>
          <a:p>
            <a:pPr algn="l"/>
            <a:r>
              <a:rPr sz="1100" b="1">
                <a:solidFill>
                  <a:srgbClr val="2E2E2E"/>
                </a:solidFill>
                <a:latin typeface="Calibri"/>
              </a:rPr>
              <a:t>Product Portfolio:</a:t>
            </a:r>
          </a:p>
        </p:txBody>
      </p:sp>
      <p:sp>
        <p:nvSpPr>
          <p:cNvPr id="330" name="Rectangle 329"/>
          <p:cNvSpPr/>
          <p:nvPr/>
        </p:nvSpPr>
        <p:spPr>
          <a:xfrm>
            <a:off x="1383506" y="5744096"/>
            <a:ext cx="114300" cy="109522"/>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1" name="TextBox 330"/>
          <p:cNvSpPr txBox="1"/>
          <p:nvPr/>
        </p:nvSpPr>
        <p:spPr>
          <a:xfrm>
            <a:off x="1535906" y="5716715"/>
            <a:ext cx="1878806" cy="164283"/>
          </a:xfrm>
          <a:prstGeom prst="rect">
            <a:avLst/>
          </a:prstGeom>
          <a:noFill/>
        </p:spPr>
        <p:txBody>
          <a:bodyPr wrap="square" lIns="0" rIns="0" tIns="0" bIns="0" anchor="ctr">
            <a:spAutoFit/>
          </a:bodyPr>
          <a:lstStyle/>
          <a:p>
            <a:pPr algn="l"/>
            <a:r>
              <a:rPr sz="1100" b="0">
                <a:solidFill>
                  <a:srgbClr val="2E2E2E"/>
                </a:solidFill>
                <a:latin typeface="Calibri"/>
              </a:rPr>
              <a:t>Micronized Eggshell Membrane</a:t>
            </a:r>
          </a:p>
        </p:txBody>
      </p:sp>
      <p:sp>
        <p:nvSpPr>
          <p:cNvPr id="332" name="Rectangle 331"/>
          <p:cNvSpPr/>
          <p:nvPr/>
        </p:nvSpPr>
        <p:spPr>
          <a:xfrm>
            <a:off x="3471862" y="5744096"/>
            <a:ext cx="114300" cy="109522"/>
          </a:xfrm>
          <a:prstGeom prst="rect">
            <a:avLst/>
          </a:prstGeom>
          <a:solidFill>
            <a:srgbClr val="79C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3" name="TextBox 332"/>
          <p:cNvSpPr txBox="1"/>
          <p:nvPr/>
        </p:nvSpPr>
        <p:spPr>
          <a:xfrm>
            <a:off x="3624262" y="5716715"/>
            <a:ext cx="2169319" cy="164283"/>
          </a:xfrm>
          <a:prstGeom prst="rect">
            <a:avLst/>
          </a:prstGeom>
          <a:noFill/>
        </p:spPr>
        <p:txBody>
          <a:bodyPr wrap="square" lIns="0" rIns="0" tIns="0" bIns="0" anchor="ctr">
            <a:spAutoFit/>
          </a:bodyPr>
          <a:lstStyle/>
          <a:p>
            <a:pPr algn="l"/>
            <a:r>
              <a:rPr sz="1100" b="0">
                <a:solidFill>
                  <a:srgbClr val="2E2E2E"/>
                </a:solidFill>
                <a:latin typeface="Calibri"/>
              </a:rPr>
              <a:t>Specialty Extracted Protein Fractions</a:t>
            </a:r>
          </a:p>
        </p:txBody>
      </p:sp>
      <p:sp>
        <p:nvSpPr>
          <p:cNvPr id="334" name="Rectangle 333"/>
          <p:cNvSpPr/>
          <p:nvPr/>
        </p:nvSpPr>
        <p:spPr>
          <a:xfrm>
            <a:off x="5850731" y="5744096"/>
            <a:ext cx="114300" cy="109522"/>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5" name="TextBox 334"/>
          <p:cNvSpPr txBox="1"/>
          <p:nvPr/>
        </p:nvSpPr>
        <p:spPr>
          <a:xfrm>
            <a:off x="6003131" y="5716715"/>
            <a:ext cx="1883569" cy="164283"/>
          </a:xfrm>
          <a:prstGeom prst="rect">
            <a:avLst/>
          </a:prstGeom>
          <a:noFill/>
        </p:spPr>
        <p:txBody>
          <a:bodyPr wrap="square" lIns="0" rIns="0" tIns="0" bIns="0" anchor="ctr">
            <a:spAutoFit/>
          </a:bodyPr>
          <a:lstStyle/>
          <a:p>
            <a:pPr algn="l"/>
            <a:r>
              <a:rPr sz="1100" b="0">
                <a:solidFill>
                  <a:srgbClr val="2E2E2E"/>
                </a:solidFill>
                <a:latin typeface="Calibri"/>
              </a:rPr>
              <a:t>Hydrolyzed Eggshell Membrane</a:t>
            </a:r>
          </a:p>
        </p:txBody>
      </p:sp>
      <p:sp>
        <p:nvSpPr>
          <p:cNvPr id="336" name="Rectangle 335"/>
          <p:cNvSpPr/>
          <p:nvPr/>
        </p:nvSpPr>
        <p:spPr>
          <a:xfrm>
            <a:off x="7943850" y="5744096"/>
            <a:ext cx="114300" cy="109522"/>
          </a:xfrm>
          <a:prstGeom prst="rect">
            <a:avLst/>
          </a:prstGeom>
          <a:solidFill>
            <a:srgbClr val="FFFFFF"/>
          </a:solidFill>
          <a:ln w="12700">
            <a:solidFill>
              <a:srgbClr val="6C7A8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7" name="TextBox 336"/>
          <p:cNvSpPr txBox="1"/>
          <p:nvPr/>
        </p:nvSpPr>
        <p:spPr>
          <a:xfrm>
            <a:off x="8096250" y="5716715"/>
            <a:ext cx="740569" cy="164283"/>
          </a:xfrm>
          <a:prstGeom prst="rect">
            <a:avLst/>
          </a:prstGeom>
          <a:noFill/>
        </p:spPr>
        <p:txBody>
          <a:bodyPr wrap="square" lIns="0" rIns="0" tIns="0" bIns="0" anchor="ctr">
            <a:spAutoFit/>
          </a:bodyPr>
          <a:lstStyle/>
          <a:p>
            <a:pPr algn="l"/>
            <a:r>
              <a:rPr sz="1100" b="0">
                <a:solidFill>
                  <a:srgbClr val="2E2E2E"/>
                </a:solidFill>
                <a:latin typeface="Calibri"/>
              </a:rPr>
              <a:t>Not offered</a:t>
            </a:r>
          </a:p>
        </p:txBody>
      </p:sp>
      <p:sp>
        <p:nvSpPr>
          <p:cNvPr id="338" name="TextBox 337"/>
          <p:cNvSpPr txBox="1"/>
          <p:nvPr/>
        </p:nvSpPr>
        <p:spPr>
          <a:xfrm>
            <a:off x="285750" y="5890125"/>
            <a:ext cx="208915" cy="164283"/>
          </a:xfrm>
          <a:prstGeom prst="rect">
            <a:avLst/>
          </a:prstGeom>
          <a:noFill/>
        </p:spPr>
        <p:txBody>
          <a:bodyPr wrap="none" lIns="0" rIns="0" tIns="0" bIns="0" anchor="ctr">
            <a:spAutoFit/>
          </a:bodyPr>
          <a:lstStyle/>
          <a:p>
            <a:pPr algn="l"/>
            <a:r>
              <a:rPr sz="1100" b="1">
                <a:solidFill>
                  <a:srgbClr val="008189"/>
                </a:solidFill>
                <a:latin typeface="Calibri"/>
              </a:rPr>
              <a:t>✔</a:t>
            </a:r>
          </a:p>
        </p:txBody>
      </p:sp>
      <p:sp>
        <p:nvSpPr>
          <p:cNvPr id="339" name="TextBox 338"/>
          <p:cNvSpPr txBox="1"/>
          <p:nvPr/>
        </p:nvSpPr>
        <p:spPr>
          <a:xfrm>
            <a:off x="475615" y="5890125"/>
            <a:ext cx="457200" cy="164283"/>
          </a:xfrm>
          <a:prstGeom prst="rect">
            <a:avLst/>
          </a:prstGeom>
          <a:noFill/>
        </p:spPr>
        <p:txBody>
          <a:bodyPr wrap="square" lIns="0" rIns="0" tIns="0" bIns="0" anchor="ctr">
            <a:spAutoFit/>
          </a:bodyPr>
          <a:lstStyle/>
          <a:p>
            <a:pPr algn="l"/>
            <a:r>
              <a:rPr sz="1100" b="0">
                <a:solidFill>
                  <a:srgbClr val="2E2E2E"/>
                </a:solidFill>
                <a:latin typeface="Calibri"/>
              </a:rPr>
              <a:t>served</a:t>
            </a:r>
          </a:p>
        </p:txBody>
      </p:sp>
      <p:sp>
        <p:nvSpPr>
          <p:cNvPr id="340" name="TextBox 339"/>
          <p:cNvSpPr txBox="1"/>
          <p:nvPr/>
        </p:nvSpPr>
        <p:spPr>
          <a:xfrm>
            <a:off x="913765" y="5890125"/>
            <a:ext cx="208915" cy="164283"/>
          </a:xfrm>
          <a:prstGeom prst="rect">
            <a:avLst/>
          </a:prstGeom>
          <a:noFill/>
        </p:spPr>
        <p:txBody>
          <a:bodyPr wrap="none" lIns="0" rIns="0" tIns="0" bIns="0" anchor="ctr">
            <a:spAutoFit/>
          </a:bodyPr>
          <a:lstStyle/>
          <a:p>
            <a:pPr algn="l"/>
            <a:r>
              <a:rPr sz="1100" b="1">
                <a:solidFill>
                  <a:srgbClr val="E44D3A"/>
                </a:solidFill>
                <a:latin typeface="Calibri"/>
              </a:rPr>
              <a:t>✘</a:t>
            </a:r>
          </a:p>
        </p:txBody>
      </p:sp>
      <p:sp>
        <p:nvSpPr>
          <p:cNvPr id="341" name="TextBox 340"/>
          <p:cNvSpPr txBox="1"/>
          <p:nvPr/>
        </p:nvSpPr>
        <p:spPr>
          <a:xfrm>
            <a:off x="1103630" y="5890125"/>
            <a:ext cx="683419" cy="164283"/>
          </a:xfrm>
          <a:prstGeom prst="rect">
            <a:avLst/>
          </a:prstGeom>
          <a:noFill/>
        </p:spPr>
        <p:txBody>
          <a:bodyPr wrap="square" lIns="0" rIns="0" tIns="0" bIns="0" anchor="ctr">
            <a:spAutoFit/>
          </a:bodyPr>
          <a:lstStyle/>
          <a:p>
            <a:pPr algn="l"/>
            <a:r>
              <a:rPr sz="1100" b="0">
                <a:solidFill>
                  <a:srgbClr val="2E2E2E"/>
                </a:solidFill>
                <a:latin typeface="Calibri"/>
              </a:rPr>
              <a:t>not served</a:t>
            </a:r>
          </a:p>
        </p:txBody>
      </p:sp>
      <p:sp>
        <p:nvSpPr>
          <p:cNvPr id="342" name="TextBox 341"/>
          <p:cNvSpPr txBox="1"/>
          <p:nvPr/>
        </p:nvSpPr>
        <p:spPr>
          <a:xfrm>
            <a:off x="1939449" y="5890125"/>
            <a:ext cx="1183481" cy="164283"/>
          </a:xfrm>
          <a:prstGeom prst="rect">
            <a:avLst/>
          </a:prstGeom>
          <a:noFill/>
        </p:spPr>
        <p:txBody>
          <a:bodyPr wrap="square" lIns="0" rIns="0" tIns="0" bIns="0" anchor="ctr">
            <a:spAutoFit/>
          </a:bodyPr>
          <a:lstStyle/>
          <a:p>
            <a:pPr algn="l"/>
            <a:r>
              <a:rPr sz="1100" b="1">
                <a:solidFill>
                  <a:srgbClr val="2E2E2E"/>
                </a:solidFill>
                <a:latin typeface="Calibri"/>
              </a:rPr>
              <a:t>Regional presence:</a:t>
            </a:r>
          </a:p>
        </p:txBody>
      </p:sp>
      <p:sp>
        <p:nvSpPr>
          <p:cNvPr id="343" name="TextBox 342"/>
          <p:cNvSpPr txBox="1"/>
          <p:nvPr/>
        </p:nvSpPr>
        <p:spPr>
          <a:xfrm>
            <a:off x="3103880" y="5890125"/>
            <a:ext cx="208915" cy="164283"/>
          </a:xfrm>
          <a:prstGeom prst="rect">
            <a:avLst/>
          </a:prstGeom>
          <a:noFill/>
        </p:spPr>
        <p:txBody>
          <a:bodyPr wrap="none" lIns="0" rIns="0" tIns="0" bIns="0" anchor="ctr">
            <a:spAutoFit/>
          </a:bodyPr>
          <a:lstStyle/>
          <a:p>
            <a:pPr algn="l"/>
            <a:r>
              <a:rPr sz="1100" b="1">
                <a:solidFill>
                  <a:srgbClr val="0E72AE"/>
                </a:solidFill>
                <a:latin typeface="Calibri"/>
              </a:rPr>
              <a:t>▲</a:t>
            </a:r>
          </a:p>
        </p:txBody>
      </p:sp>
      <p:sp>
        <p:nvSpPr>
          <p:cNvPr id="344" name="TextBox 343"/>
          <p:cNvSpPr txBox="1"/>
          <p:nvPr/>
        </p:nvSpPr>
        <p:spPr>
          <a:xfrm>
            <a:off x="3293745" y="5890125"/>
            <a:ext cx="338138" cy="164283"/>
          </a:xfrm>
          <a:prstGeom prst="rect">
            <a:avLst/>
          </a:prstGeom>
          <a:noFill/>
        </p:spPr>
        <p:txBody>
          <a:bodyPr wrap="none" lIns="0" rIns="0" tIns="0" bIns="0" anchor="ctr">
            <a:spAutoFit/>
          </a:bodyPr>
          <a:lstStyle/>
          <a:p>
            <a:pPr algn="l"/>
            <a:r>
              <a:rPr sz="1100" b="0">
                <a:solidFill>
                  <a:srgbClr val="2E2E2E"/>
                </a:solidFill>
                <a:latin typeface="Calibri"/>
              </a:rPr>
              <a:t>High</a:t>
            </a:r>
          </a:p>
        </p:txBody>
      </p:sp>
      <p:sp>
        <p:nvSpPr>
          <p:cNvPr id="345" name="TextBox 344"/>
          <p:cNvSpPr txBox="1"/>
          <p:nvPr/>
        </p:nvSpPr>
        <p:spPr>
          <a:xfrm>
            <a:off x="3612832" y="5890125"/>
            <a:ext cx="208915" cy="164283"/>
          </a:xfrm>
          <a:prstGeom prst="rect">
            <a:avLst/>
          </a:prstGeom>
          <a:noFill/>
        </p:spPr>
        <p:txBody>
          <a:bodyPr wrap="none" lIns="0" rIns="0" tIns="0" bIns="0" anchor="ctr">
            <a:spAutoFit/>
          </a:bodyPr>
          <a:lstStyle/>
          <a:p>
            <a:pPr algn="l"/>
            <a:r>
              <a:rPr sz="1100" b="1">
                <a:solidFill>
                  <a:srgbClr val="A86F00"/>
                </a:solidFill>
                <a:latin typeface="Calibri"/>
              </a:rPr>
              <a:t>▲</a:t>
            </a:r>
          </a:p>
        </p:txBody>
      </p:sp>
      <p:sp>
        <p:nvSpPr>
          <p:cNvPr id="346" name="TextBox 345"/>
          <p:cNvSpPr txBox="1"/>
          <p:nvPr/>
        </p:nvSpPr>
        <p:spPr>
          <a:xfrm>
            <a:off x="3802698" y="5890125"/>
            <a:ext cx="576262" cy="164283"/>
          </a:xfrm>
          <a:prstGeom prst="rect">
            <a:avLst/>
          </a:prstGeom>
          <a:noFill/>
        </p:spPr>
        <p:txBody>
          <a:bodyPr wrap="square" lIns="0" rIns="0" tIns="0" bIns="0" anchor="ctr">
            <a:spAutoFit/>
          </a:bodyPr>
          <a:lstStyle/>
          <a:p>
            <a:pPr algn="l"/>
            <a:r>
              <a:rPr sz="1100" b="0">
                <a:solidFill>
                  <a:srgbClr val="2E2E2E"/>
                </a:solidFill>
                <a:latin typeface="Calibri"/>
              </a:rPr>
              <a:t>Medium</a:t>
            </a:r>
          </a:p>
        </p:txBody>
      </p:sp>
      <p:sp>
        <p:nvSpPr>
          <p:cNvPr id="347" name="TextBox 346"/>
          <p:cNvSpPr txBox="1"/>
          <p:nvPr/>
        </p:nvSpPr>
        <p:spPr>
          <a:xfrm>
            <a:off x="4340860" y="5890125"/>
            <a:ext cx="208915" cy="164283"/>
          </a:xfrm>
          <a:prstGeom prst="rect">
            <a:avLst/>
          </a:prstGeom>
          <a:noFill/>
        </p:spPr>
        <p:txBody>
          <a:bodyPr wrap="none" lIns="0" rIns="0" tIns="0" bIns="0" anchor="ctr">
            <a:spAutoFit/>
          </a:bodyPr>
          <a:lstStyle/>
          <a:p>
            <a:pPr algn="l"/>
            <a:r>
              <a:rPr sz="1100" b="1">
                <a:solidFill>
                  <a:srgbClr val="9AA3A8"/>
                </a:solidFill>
                <a:latin typeface="Calibri"/>
              </a:rPr>
              <a:t>▲</a:t>
            </a:r>
          </a:p>
        </p:txBody>
      </p:sp>
      <p:sp>
        <p:nvSpPr>
          <p:cNvPr id="348" name="TextBox 347"/>
          <p:cNvSpPr txBox="1"/>
          <p:nvPr/>
        </p:nvSpPr>
        <p:spPr>
          <a:xfrm>
            <a:off x="4530725" y="5890125"/>
            <a:ext cx="309562" cy="164283"/>
          </a:xfrm>
          <a:prstGeom prst="rect">
            <a:avLst/>
          </a:prstGeom>
          <a:noFill/>
        </p:spPr>
        <p:txBody>
          <a:bodyPr wrap="none" lIns="0" rIns="0" tIns="0" bIns="0" anchor="ctr">
            <a:spAutoFit/>
          </a:bodyPr>
          <a:lstStyle/>
          <a:p>
            <a:pPr algn="l"/>
            <a:r>
              <a:rPr sz="1100" b="0">
                <a:solidFill>
                  <a:srgbClr val="2E2E2E"/>
                </a:solidFill>
                <a:latin typeface="Calibri"/>
              </a:rPr>
              <a:t>Low</a:t>
            </a:r>
          </a:p>
        </p:txBody>
      </p:sp>
      <p:sp>
        <p:nvSpPr>
          <p:cNvPr id="349" name="Oval 348"/>
          <p:cNvSpPr/>
          <p:nvPr/>
        </p:nvSpPr>
        <p:spPr>
          <a:xfrm>
            <a:off x="285750" y="6081789"/>
            <a:ext cx="171450" cy="164283"/>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0" name="TextBox 349"/>
          <p:cNvSpPr txBox="1"/>
          <p:nvPr/>
        </p:nvSpPr>
        <p:spPr>
          <a:xfrm>
            <a:off x="285750" y="6081789"/>
            <a:ext cx="171450" cy="164283"/>
          </a:xfrm>
          <a:prstGeom prst="rect">
            <a:avLst/>
          </a:prstGeom>
          <a:noFill/>
        </p:spPr>
        <p:txBody>
          <a:bodyPr wrap="none" lIns="0" rIns="0" tIns="0" bIns="0" anchor="ctr">
            <a:spAutoFit/>
          </a:bodyPr>
          <a:lstStyle/>
          <a:p>
            <a:pPr algn="ctr"/>
            <a:r>
              <a:rPr sz="1100" b="1">
                <a:solidFill>
                  <a:srgbClr val="FFFFFF"/>
                </a:solidFill>
                <a:latin typeface="Calibri"/>
              </a:rPr>
              <a:t>E</a:t>
            </a:r>
          </a:p>
        </p:txBody>
      </p:sp>
      <p:sp>
        <p:nvSpPr>
          <p:cNvPr id="351" name="TextBox 350"/>
          <p:cNvSpPr txBox="1"/>
          <p:nvPr/>
        </p:nvSpPr>
        <p:spPr>
          <a:xfrm>
            <a:off x="495300" y="6072662"/>
            <a:ext cx="657225" cy="182537"/>
          </a:xfrm>
          <a:prstGeom prst="rect">
            <a:avLst/>
          </a:prstGeom>
          <a:noFill/>
        </p:spPr>
        <p:txBody>
          <a:bodyPr wrap="square" lIns="0" rIns="0" tIns="0" bIns="0" anchor="ctr">
            <a:spAutoFit/>
          </a:bodyPr>
          <a:lstStyle/>
          <a:p>
            <a:pPr algn="l"/>
            <a:r>
              <a:rPr sz="1100" b="0">
                <a:solidFill>
                  <a:srgbClr val="2E2E2E"/>
                </a:solidFill>
                <a:latin typeface="Calibri"/>
              </a:rPr>
              <a:t>Expansion</a:t>
            </a:r>
          </a:p>
        </p:txBody>
      </p:sp>
      <p:sp>
        <p:nvSpPr>
          <p:cNvPr id="352" name="Oval 351"/>
          <p:cNvSpPr/>
          <p:nvPr/>
        </p:nvSpPr>
        <p:spPr>
          <a:xfrm>
            <a:off x="1247775" y="6081789"/>
            <a:ext cx="171450" cy="164283"/>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3" name="TextBox 352"/>
          <p:cNvSpPr txBox="1"/>
          <p:nvPr/>
        </p:nvSpPr>
        <p:spPr>
          <a:xfrm>
            <a:off x="1247775" y="6081789"/>
            <a:ext cx="171450" cy="164283"/>
          </a:xfrm>
          <a:prstGeom prst="rect">
            <a:avLst/>
          </a:prstGeom>
          <a:noFill/>
        </p:spPr>
        <p:txBody>
          <a:bodyPr wrap="none" lIns="0" rIns="0" tIns="0" bIns="0" anchor="ctr">
            <a:spAutoFit/>
          </a:bodyPr>
          <a:lstStyle/>
          <a:p>
            <a:pPr algn="ctr"/>
            <a:r>
              <a:rPr sz="1100" b="1">
                <a:solidFill>
                  <a:srgbClr val="FFFFFF"/>
                </a:solidFill>
                <a:latin typeface="Calibri"/>
              </a:rPr>
              <a:t>I</a:t>
            </a:r>
          </a:p>
        </p:txBody>
      </p:sp>
      <p:sp>
        <p:nvSpPr>
          <p:cNvPr id="354" name="TextBox 353"/>
          <p:cNvSpPr txBox="1"/>
          <p:nvPr/>
        </p:nvSpPr>
        <p:spPr>
          <a:xfrm>
            <a:off x="1457325" y="6072662"/>
            <a:ext cx="1012031" cy="182537"/>
          </a:xfrm>
          <a:prstGeom prst="rect">
            <a:avLst/>
          </a:prstGeom>
          <a:noFill/>
        </p:spPr>
        <p:txBody>
          <a:bodyPr wrap="square" lIns="0" rIns="0" tIns="0" bIns="0" anchor="ctr">
            <a:spAutoFit/>
          </a:bodyPr>
          <a:lstStyle/>
          <a:p>
            <a:pPr algn="l"/>
            <a:r>
              <a:rPr sz="1100" b="0">
                <a:solidFill>
                  <a:srgbClr val="2E2E2E"/>
                </a:solidFill>
                <a:latin typeface="Calibri"/>
              </a:rPr>
              <a:t>R&amp;D Investment</a:t>
            </a:r>
          </a:p>
        </p:txBody>
      </p:sp>
      <p:sp>
        <p:nvSpPr>
          <p:cNvPr id="355" name="Oval 354"/>
          <p:cNvSpPr/>
          <p:nvPr/>
        </p:nvSpPr>
        <p:spPr>
          <a:xfrm>
            <a:off x="2564606" y="6081789"/>
            <a:ext cx="171450" cy="164283"/>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6" name="TextBox 355"/>
          <p:cNvSpPr txBox="1"/>
          <p:nvPr/>
        </p:nvSpPr>
        <p:spPr>
          <a:xfrm>
            <a:off x="2564606" y="6081789"/>
            <a:ext cx="171450" cy="164283"/>
          </a:xfrm>
          <a:prstGeom prst="rect">
            <a:avLst/>
          </a:prstGeom>
          <a:noFill/>
        </p:spPr>
        <p:txBody>
          <a:bodyPr wrap="none" lIns="0" rIns="0" tIns="0" bIns="0" anchor="ctr">
            <a:spAutoFit/>
          </a:bodyPr>
          <a:lstStyle/>
          <a:p>
            <a:pPr algn="ctr"/>
            <a:r>
              <a:rPr sz="1100" b="1">
                <a:solidFill>
                  <a:srgbClr val="FFFFFF"/>
                </a:solidFill>
                <a:latin typeface="Calibri"/>
              </a:rPr>
              <a:t>F</a:t>
            </a:r>
          </a:p>
        </p:txBody>
      </p:sp>
      <p:sp>
        <p:nvSpPr>
          <p:cNvPr id="357" name="TextBox 356"/>
          <p:cNvSpPr txBox="1"/>
          <p:nvPr/>
        </p:nvSpPr>
        <p:spPr>
          <a:xfrm>
            <a:off x="2774156" y="6072662"/>
            <a:ext cx="800100" cy="182537"/>
          </a:xfrm>
          <a:prstGeom prst="rect">
            <a:avLst/>
          </a:prstGeom>
          <a:noFill/>
        </p:spPr>
        <p:txBody>
          <a:bodyPr wrap="square" lIns="0" rIns="0" tIns="0" bIns="0" anchor="ctr">
            <a:spAutoFit/>
          </a:bodyPr>
          <a:lstStyle/>
          <a:p>
            <a:pPr algn="l"/>
            <a:r>
              <a:rPr sz="1100" b="0">
                <a:solidFill>
                  <a:srgbClr val="2E2E2E"/>
                </a:solidFill>
                <a:latin typeface="Calibri"/>
              </a:rPr>
              <a:t>Financial Aid</a:t>
            </a:r>
          </a:p>
        </p:txBody>
      </p:sp>
      <p:sp>
        <p:nvSpPr>
          <p:cNvPr id="358" name="Oval 357"/>
          <p:cNvSpPr/>
          <p:nvPr/>
        </p:nvSpPr>
        <p:spPr>
          <a:xfrm>
            <a:off x="3669506" y="6081789"/>
            <a:ext cx="171450" cy="164283"/>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9" name="TextBox 358"/>
          <p:cNvSpPr txBox="1"/>
          <p:nvPr/>
        </p:nvSpPr>
        <p:spPr>
          <a:xfrm>
            <a:off x="3669506" y="6081789"/>
            <a:ext cx="171450" cy="164283"/>
          </a:xfrm>
          <a:prstGeom prst="rect">
            <a:avLst/>
          </a:prstGeom>
          <a:noFill/>
        </p:spPr>
        <p:txBody>
          <a:bodyPr wrap="none" lIns="0" rIns="0" tIns="0" bIns="0" anchor="ctr">
            <a:spAutoFit/>
          </a:bodyPr>
          <a:lstStyle/>
          <a:p>
            <a:pPr algn="ctr"/>
            <a:r>
              <a:rPr sz="1100" b="1">
                <a:solidFill>
                  <a:srgbClr val="FFFFFF"/>
                </a:solidFill>
                <a:latin typeface="Calibri"/>
              </a:rPr>
              <a:t>P</a:t>
            </a:r>
          </a:p>
        </p:txBody>
      </p:sp>
      <p:sp>
        <p:nvSpPr>
          <p:cNvPr id="360" name="TextBox 359"/>
          <p:cNvSpPr txBox="1"/>
          <p:nvPr/>
        </p:nvSpPr>
        <p:spPr>
          <a:xfrm>
            <a:off x="3879056" y="6072662"/>
            <a:ext cx="1328738" cy="182537"/>
          </a:xfrm>
          <a:prstGeom prst="rect">
            <a:avLst/>
          </a:prstGeom>
          <a:noFill/>
        </p:spPr>
        <p:txBody>
          <a:bodyPr wrap="square" lIns="0" rIns="0" tIns="0" bIns="0" anchor="ctr">
            <a:spAutoFit/>
          </a:bodyPr>
          <a:lstStyle/>
          <a:p>
            <a:pPr algn="l"/>
            <a:r>
              <a:rPr sz="1100" b="0">
                <a:solidFill>
                  <a:srgbClr val="2E2E2E"/>
                </a:solidFill>
                <a:latin typeface="Calibri"/>
              </a:rPr>
              <a:t>Product Development</a:t>
            </a:r>
          </a:p>
        </p:txBody>
      </p:sp>
      <p:sp>
        <p:nvSpPr>
          <p:cNvPr id="361" name="Oval 360"/>
          <p:cNvSpPr/>
          <p:nvPr/>
        </p:nvSpPr>
        <p:spPr>
          <a:xfrm>
            <a:off x="5303044" y="6081789"/>
            <a:ext cx="171450" cy="164283"/>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2" name="TextBox 361"/>
          <p:cNvSpPr txBox="1"/>
          <p:nvPr/>
        </p:nvSpPr>
        <p:spPr>
          <a:xfrm>
            <a:off x="5303044" y="6081789"/>
            <a:ext cx="171450" cy="164283"/>
          </a:xfrm>
          <a:prstGeom prst="rect">
            <a:avLst/>
          </a:prstGeom>
          <a:noFill/>
        </p:spPr>
        <p:txBody>
          <a:bodyPr wrap="none" lIns="0" rIns="0" tIns="0" bIns="0" anchor="ctr">
            <a:spAutoFit/>
          </a:bodyPr>
          <a:lstStyle/>
          <a:p>
            <a:pPr algn="ctr"/>
            <a:r>
              <a:rPr sz="1100" b="1">
                <a:solidFill>
                  <a:srgbClr val="FFFFFF"/>
                </a:solidFill>
                <a:latin typeface="Calibri"/>
              </a:rPr>
              <a:t>A</a:t>
            </a:r>
          </a:p>
        </p:txBody>
      </p:sp>
      <p:sp>
        <p:nvSpPr>
          <p:cNvPr id="363" name="TextBox 362"/>
          <p:cNvSpPr txBox="1"/>
          <p:nvPr/>
        </p:nvSpPr>
        <p:spPr>
          <a:xfrm>
            <a:off x="5512594" y="6072662"/>
            <a:ext cx="714375" cy="182537"/>
          </a:xfrm>
          <a:prstGeom prst="rect">
            <a:avLst/>
          </a:prstGeom>
          <a:noFill/>
        </p:spPr>
        <p:txBody>
          <a:bodyPr wrap="square" lIns="0" rIns="0" tIns="0" bIns="0" anchor="ctr">
            <a:spAutoFit/>
          </a:bodyPr>
          <a:lstStyle/>
          <a:p>
            <a:pPr algn="l"/>
            <a:r>
              <a:rPr sz="1100" b="0">
                <a:solidFill>
                  <a:srgbClr val="2E2E2E"/>
                </a:solidFill>
                <a:latin typeface="Calibri"/>
              </a:rPr>
              <a:t>Acquisition</a:t>
            </a:r>
          </a:p>
        </p:txBody>
      </p:sp>
      <p:sp>
        <p:nvSpPr>
          <p:cNvPr id="364" name="Oval 363"/>
          <p:cNvSpPr/>
          <p:nvPr/>
        </p:nvSpPr>
        <p:spPr>
          <a:xfrm>
            <a:off x="6322219" y="6081789"/>
            <a:ext cx="171450" cy="164283"/>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5" name="TextBox 364"/>
          <p:cNvSpPr txBox="1"/>
          <p:nvPr/>
        </p:nvSpPr>
        <p:spPr>
          <a:xfrm>
            <a:off x="6322219" y="6081789"/>
            <a:ext cx="171450" cy="164283"/>
          </a:xfrm>
          <a:prstGeom prst="rect">
            <a:avLst/>
          </a:prstGeom>
          <a:noFill/>
        </p:spPr>
        <p:txBody>
          <a:bodyPr wrap="none" lIns="0" rIns="0" tIns="0" bIns="0" anchor="ctr">
            <a:spAutoFit/>
          </a:bodyPr>
          <a:lstStyle/>
          <a:p>
            <a:pPr algn="ctr"/>
            <a:r>
              <a:rPr sz="1100" b="1">
                <a:solidFill>
                  <a:srgbClr val="FFFFFF"/>
                </a:solidFill>
                <a:latin typeface="Calibri"/>
              </a:rPr>
              <a:t>L</a:t>
            </a:r>
          </a:p>
        </p:txBody>
      </p:sp>
      <p:sp>
        <p:nvSpPr>
          <p:cNvPr id="366" name="TextBox 365"/>
          <p:cNvSpPr txBox="1"/>
          <p:nvPr/>
        </p:nvSpPr>
        <p:spPr>
          <a:xfrm>
            <a:off x="6531769" y="6072662"/>
            <a:ext cx="964406" cy="182537"/>
          </a:xfrm>
          <a:prstGeom prst="rect">
            <a:avLst/>
          </a:prstGeom>
          <a:noFill/>
        </p:spPr>
        <p:txBody>
          <a:bodyPr wrap="square" lIns="0" rIns="0" tIns="0" bIns="0" anchor="ctr">
            <a:spAutoFit/>
          </a:bodyPr>
          <a:lstStyle/>
          <a:p>
            <a:pPr algn="l"/>
            <a:r>
              <a:rPr sz="1100" b="0">
                <a:solidFill>
                  <a:srgbClr val="2E2E2E"/>
                </a:solidFill>
                <a:latin typeface="Calibri"/>
              </a:rPr>
              <a:t>Product Launch</a:t>
            </a:r>
          </a:p>
        </p:txBody>
      </p:sp>
      <p:sp>
        <p:nvSpPr>
          <p:cNvPr id="367" name="Oval 366"/>
          <p:cNvSpPr/>
          <p:nvPr/>
        </p:nvSpPr>
        <p:spPr>
          <a:xfrm>
            <a:off x="7591425" y="6081789"/>
            <a:ext cx="171450" cy="164283"/>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8" name="TextBox 367"/>
          <p:cNvSpPr txBox="1"/>
          <p:nvPr/>
        </p:nvSpPr>
        <p:spPr>
          <a:xfrm>
            <a:off x="7591425" y="6081789"/>
            <a:ext cx="171450" cy="164283"/>
          </a:xfrm>
          <a:prstGeom prst="rect">
            <a:avLst/>
          </a:prstGeom>
          <a:noFill/>
        </p:spPr>
        <p:txBody>
          <a:bodyPr wrap="none" lIns="0" rIns="0" tIns="0" bIns="0" anchor="ctr">
            <a:spAutoFit/>
          </a:bodyPr>
          <a:lstStyle/>
          <a:p>
            <a:pPr algn="ctr"/>
            <a:r>
              <a:rPr sz="1100" b="1">
                <a:solidFill>
                  <a:srgbClr val="FFFFFF"/>
                </a:solidFill>
                <a:latin typeface="Calibri"/>
              </a:rPr>
              <a:t>C</a:t>
            </a:r>
          </a:p>
        </p:txBody>
      </p:sp>
      <p:sp>
        <p:nvSpPr>
          <p:cNvPr id="369" name="TextBox 368"/>
          <p:cNvSpPr txBox="1"/>
          <p:nvPr/>
        </p:nvSpPr>
        <p:spPr>
          <a:xfrm>
            <a:off x="7800975" y="6072662"/>
            <a:ext cx="781050" cy="182537"/>
          </a:xfrm>
          <a:prstGeom prst="rect">
            <a:avLst/>
          </a:prstGeom>
          <a:noFill/>
        </p:spPr>
        <p:txBody>
          <a:bodyPr wrap="square" lIns="0" rIns="0" tIns="0" bIns="0" anchor="ctr">
            <a:spAutoFit/>
          </a:bodyPr>
          <a:lstStyle/>
          <a:p>
            <a:pPr algn="l"/>
            <a:r>
              <a:rPr sz="1100" b="0">
                <a:solidFill>
                  <a:srgbClr val="2E2E2E"/>
                </a:solidFill>
                <a:latin typeface="Calibri"/>
              </a:rPr>
              <a:t>Certification</a:t>
            </a:r>
          </a:p>
        </p:txBody>
      </p:sp>
      <p:sp>
        <p:nvSpPr>
          <p:cNvPr id="370" name="TextBox 369"/>
          <p:cNvSpPr txBox="1"/>
          <p:nvPr/>
        </p:nvSpPr>
        <p:spPr>
          <a:xfrm>
            <a:off x="285750" y="6273453"/>
            <a:ext cx="11620500" cy="155156"/>
          </a:xfrm>
          <a:prstGeom prst="rect">
            <a:avLst/>
          </a:prstGeom>
          <a:noFill/>
        </p:spPr>
        <p:txBody>
          <a:bodyPr wrap="square" lIns="0" rIns="0" tIns="0" bIns="0">
            <a:spAutoFit/>
          </a:bodyPr>
          <a:lstStyle/>
          <a:p>
            <a:pPr algn="l"/>
            <a:r>
              <a:rPr sz="1100" b="1">
                <a:solidFill>
                  <a:srgbClr val="A35313"/>
                </a:solidFill>
                <a:latin typeface="Calibri"/>
              </a:rPr>
              <a:t>Note: Market Share indicates the contribution of target revenue in Market</a:t>
            </a:r>
          </a:p>
        </p:txBody>
      </p:sp>
      <p:sp>
        <p:nvSpPr>
          <p:cNvPr id="371" name="TextBox 370"/>
          <p:cNvSpPr txBox="1"/>
          <p:nvPr/>
        </p:nvSpPr>
        <p:spPr>
          <a:xfrm>
            <a:off x="285750" y="6428609"/>
            <a:ext cx="11620500" cy="155156"/>
          </a:xfrm>
          <a:prstGeom prst="rect">
            <a:avLst/>
          </a:prstGeom>
          <a:noFill/>
        </p:spPr>
        <p:txBody>
          <a:bodyPr wrap="square" lIns="0" rIns="0" tIns="0" bIns="0">
            <a:spAutoFit/>
          </a:bodyPr>
          <a:lstStyle/>
          <a:p>
            <a:pPr algn="l"/>
            <a:r>
              <a:rPr sz="1100" b="1">
                <a:solidFill>
                  <a:srgbClr val="A35313"/>
                </a:solidFill>
                <a:latin typeface="Calibri"/>
              </a:rPr>
              <a:t>Revenue represents sales of the company from target market</a:t>
            </a:r>
          </a:p>
        </p:txBody>
      </p:sp>
      <p:sp>
        <p:nvSpPr>
          <p:cNvPr id="372" name="Rectangle 371"/>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3" name="TextBox 37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374" name="Picture 373" descr="lock.png"/>
          <p:cNvPicPr>
            <a:picLocks noChangeAspect="1"/>
          </p:cNvPicPr>
          <p:nvPr/>
        </p:nvPicPr>
        <p:blipFill>
          <a:blip r:embed="rId4"/>
          <a:stretch>
            <a:fillRect/>
          </a:stretch>
        </p:blipFill>
        <p:spPr>
          <a:xfrm>
            <a:off x="1769213" y="2702524"/>
            <a:ext cx="128699" cy="187198"/>
          </a:xfrm>
          <a:prstGeom prst="rect">
            <a:avLst/>
          </a:prstGeom>
        </p:spPr>
      </p:pic>
      <p:pic>
        <p:nvPicPr>
          <p:cNvPr id="375" name="Picture 374" descr="lock.png"/>
          <p:cNvPicPr>
            <a:picLocks noChangeAspect="1"/>
          </p:cNvPicPr>
          <p:nvPr/>
        </p:nvPicPr>
        <p:blipFill>
          <a:blip r:embed="rId4"/>
          <a:stretch>
            <a:fillRect/>
          </a:stretch>
        </p:blipFill>
        <p:spPr>
          <a:xfrm>
            <a:off x="1769213" y="3031091"/>
            <a:ext cx="128699" cy="187198"/>
          </a:xfrm>
          <a:prstGeom prst="rect">
            <a:avLst/>
          </a:prstGeom>
        </p:spPr>
      </p:pic>
      <p:pic>
        <p:nvPicPr>
          <p:cNvPr id="376" name="Picture 375" descr="lock.png"/>
          <p:cNvPicPr>
            <a:picLocks noChangeAspect="1"/>
          </p:cNvPicPr>
          <p:nvPr/>
        </p:nvPicPr>
        <p:blipFill>
          <a:blip r:embed="rId4"/>
          <a:stretch>
            <a:fillRect/>
          </a:stretch>
        </p:blipFill>
        <p:spPr>
          <a:xfrm>
            <a:off x="1769212" y="3560448"/>
            <a:ext cx="128699" cy="187198"/>
          </a:xfrm>
          <a:prstGeom prst="rect">
            <a:avLst/>
          </a:prstGeom>
        </p:spPr>
      </p:pic>
      <p:pic>
        <p:nvPicPr>
          <p:cNvPr id="377" name="Picture 376" descr="lock.png"/>
          <p:cNvPicPr>
            <a:picLocks noChangeAspect="1"/>
          </p:cNvPicPr>
          <p:nvPr/>
        </p:nvPicPr>
        <p:blipFill>
          <a:blip r:embed="rId4"/>
          <a:stretch>
            <a:fillRect/>
          </a:stretch>
        </p:blipFill>
        <p:spPr>
          <a:xfrm>
            <a:off x="2845538" y="2702524"/>
            <a:ext cx="128699" cy="187198"/>
          </a:xfrm>
          <a:prstGeom prst="rect">
            <a:avLst/>
          </a:prstGeom>
        </p:spPr>
      </p:pic>
      <p:pic>
        <p:nvPicPr>
          <p:cNvPr id="378" name="Picture 377" descr="lock.png"/>
          <p:cNvPicPr>
            <a:picLocks noChangeAspect="1"/>
          </p:cNvPicPr>
          <p:nvPr/>
        </p:nvPicPr>
        <p:blipFill>
          <a:blip r:embed="rId4"/>
          <a:stretch>
            <a:fillRect/>
          </a:stretch>
        </p:blipFill>
        <p:spPr>
          <a:xfrm>
            <a:off x="2845538" y="3031091"/>
            <a:ext cx="128699" cy="187198"/>
          </a:xfrm>
          <a:prstGeom prst="rect">
            <a:avLst/>
          </a:prstGeom>
        </p:spPr>
      </p:pic>
      <p:pic>
        <p:nvPicPr>
          <p:cNvPr id="379" name="Picture 378" descr="lock.png"/>
          <p:cNvPicPr>
            <a:picLocks noChangeAspect="1"/>
          </p:cNvPicPr>
          <p:nvPr/>
        </p:nvPicPr>
        <p:blipFill>
          <a:blip r:embed="rId4"/>
          <a:stretch>
            <a:fillRect/>
          </a:stretch>
        </p:blipFill>
        <p:spPr>
          <a:xfrm>
            <a:off x="2845538" y="3560448"/>
            <a:ext cx="128699" cy="187198"/>
          </a:xfrm>
          <a:prstGeom prst="rect">
            <a:avLst/>
          </a:prstGeom>
        </p:spPr>
      </p:pic>
      <p:pic>
        <p:nvPicPr>
          <p:cNvPr id="380" name="Picture 379" descr="lock.png"/>
          <p:cNvPicPr>
            <a:picLocks noChangeAspect="1"/>
          </p:cNvPicPr>
          <p:nvPr/>
        </p:nvPicPr>
        <p:blipFill>
          <a:blip r:embed="rId4"/>
          <a:stretch>
            <a:fillRect/>
          </a:stretch>
        </p:blipFill>
        <p:spPr>
          <a:xfrm>
            <a:off x="3921863" y="2702524"/>
            <a:ext cx="128699" cy="187198"/>
          </a:xfrm>
          <a:prstGeom prst="rect">
            <a:avLst/>
          </a:prstGeom>
        </p:spPr>
      </p:pic>
      <p:pic>
        <p:nvPicPr>
          <p:cNvPr id="381" name="Picture 380" descr="lock.png"/>
          <p:cNvPicPr>
            <a:picLocks noChangeAspect="1"/>
          </p:cNvPicPr>
          <p:nvPr/>
        </p:nvPicPr>
        <p:blipFill>
          <a:blip r:embed="rId4"/>
          <a:stretch>
            <a:fillRect/>
          </a:stretch>
        </p:blipFill>
        <p:spPr>
          <a:xfrm>
            <a:off x="3921863" y="3031091"/>
            <a:ext cx="128699" cy="187198"/>
          </a:xfrm>
          <a:prstGeom prst="rect">
            <a:avLst/>
          </a:prstGeom>
        </p:spPr>
      </p:pic>
      <p:pic>
        <p:nvPicPr>
          <p:cNvPr id="382" name="Picture 381" descr="lock.png"/>
          <p:cNvPicPr>
            <a:picLocks noChangeAspect="1"/>
          </p:cNvPicPr>
          <p:nvPr/>
        </p:nvPicPr>
        <p:blipFill>
          <a:blip r:embed="rId4"/>
          <a:stretch>
            <a:fillRect/>
          </a:stretch>
        </p:blipFill>
        <p:spPr>
          <a:xfrm>
            <a:off x="3921862" y="3560448"/>
            <a:ext cx="128699" cy="187198"/>
          </a:xfrm>
          <a:prstGeom prst="rect">
            <a:avLst/>
          </a:prstGeom>
        </p:spPr>
      </p:pic>
      <p:pic>
        <p:nvPicPr>
          <p:cNvPr id="383" name="Picture 382" descr="lock.png"/>
          <p:cNvPicPr>
            <a:picLocks noChangeAspect="1"/>
          </p:cNvPicPr>
          <p:nvPr/>
        </p:nvPicPr>
        <p:blipFill>
          <a:blip r:embed="rId4"/>
          <a:stretch>
            <a:fillRect/>
          </a:stretch>
        </p:blipFill>
        <p:spPr>
          <a:xfrm>
            <a:off x="4998188" y="2702524"/>
            <a:ext cx="128699" cy="187198"/>
          </a:xfrm>
          <a:prstGeom prst="rect">
            <a:avLst/>
          </a:prstGeom>
        </p:spPr>
      </p:pic>
      <p:pic>
        <p:nvPicPr>
          <p:cNvPr id="384" name="Picture 383" descr="lock.png"/>
          <p:cNvPicPr>
            <a:picLocks noChangeAspect="1"/>
          </p:cNvPicPr>
          <p:nvPr/>
        </p:nvPicPr>
        <p:blipFill>
          <a:blip r:embed="rId4"/>
          <a:stretch>
            <a:fillRect/>
          </a:stretch>
        </p:blipFill>
        <p:spPr>
          <a:xfrm>
            <a:off x="4998188" y="3031091"/>
            <a:ext cx="128699" cy="187198"/>
          </a:xfrm>
          <a:prstGeom prst="rect">
            <a:avLst/>
          </a:prstGeom>
        </p:spPr>
      </p:pic>
      <p:pic>
        <p:nvPicPr>
          <p:cNvPr id="385" name="Picture 384" descr="lock.png"/>
          <p:cNvPicPr>
            <a:picLocks noChangeAspect="1"/>
          </p:cNvPicPr>
          <p:nvPr/>
        </p:nvPicPr>
        <p:blipFill>
          <a:blip r:embed="rId4"/>
          <a:stretch>
            <a:fillRect/>
          </a:stretch>
        </p:blipFill>
        <p:spPr>
          <a:xfrm>
            <a:off x="4998188" y="3560448"/>
            <a:ext cx="128699" cy="187198"/>
          </a:xfrm>
          <a:prstGeom prst="rect">
            <a:avLst/>
          </a:prstGeom>
        </p:spPr>
      </p:pic>
      <p:pic>
        <p:nvPicPr>
          <p:cNvPr id="386" name="Picture 385" descr="lock.png"/>
          <p:cNvPicPr>
            <a:picLocks noChangeAspect="1"/>
          </p:cNvPicPr>
          <p:nvPr/>
        </p:nvPicPr>
        <p:blipFill>
          <a:blip r:embed="rId4"/>
          <a:stretch>
            <a:fillRect/>
          </a:stretch>
        </p:blipFill>
        <p:spPr>
          <a:xfrm>
            <a:off x="6074513" y="2702524"/>
            <a:ext cx="128699" cy="187198"/>
          </a:xfrm>
          <a:prstGeom prst="rect">
            <a:avLst/>
          </a:prstGeom>
        </p:spPr>
      </p:pic>
      <p:pic>
        <p:nvPicPr>
          <p:cNvPr id="387" name="Picture 386" descr="lock.png"/>
          <p:cNvPicPr>
            <a:picLocks noChangeAspect="1"/>
          </p:cNvPicPr>
          <p:nvPr/>
        </p:nvPicPr>
        <p:blipFill>
          <a:blip r:embed="rId4"/>
          <a:stretch>
            <a:fillRect/>
          </a:stretch>
        </p:blipFill>
        <p:spPr>
          <a:xfrm>
            <a:off x="6074513" y="3031091"/>
            <a:ext cx="128699" cy="187198"/>
          </a:xfrm>
          <a:prstGeom prst="rect">
            <a:avLst/>
          </a:prstGeom>
        </p:spPr>
      </p:pic>
      <p:pic>
        <p:nvPicPr>
          <p:cNvPr id="388" name="Picture 387" descr="lock.png"/>
          <p:cNvPicPr>
            <a:picLocks noChangeAspect="1"/>
          </p:cNvPicPr>
          <p:nvPr/>
        </p:nvPicPr>
        <p:blipFill>
          <a:blip r:embed="rId4"/>
          <a:stretch>
            <a:fillRect/>
          </a:stretch>
        </p:blipFill>
        <p:spPr>
          <a:xfrm>
            <a:off x="6074512" y="3560448"/>
            <a:ext cx="128699" cy="187198"/>
          </a:xfrm>
          <a:prstGeom prst="rect">
            <a:avLst/>
          </a:prstGeom>
        </p:spPr>
      </p:pic>
      <p:pic>
        <p:nvPicPr>
          <p:cNvPr id="389" name="Picture 388" descr="lock.png"/>
          <p:cNvPicPr>
            <a:picLocks noChangeAspect="1"/>
          </p:cNvPicPr>
          <p:nvPr/>
        </p:nvPicPr>
        <p:blipFill>
          <a:blip r:embed="rId4"/>
          <a:stretch>
            <a:fillRect/>
          </a:stretch>
        </p:blipFill>
        <p:spPr>
          <a:xfrm>
            <a:off x="7150838" y="2702524"/>
            <a:ext cx="128699" cy="187198"/>
          </a:xfrm>
          <a:prstGeom prst="rect">
            <a:avLst/>
          </a:prstGeom>
        </p:spPr>
      </p:pic>
      <p:pic>
        <p:nvPicPr>
          <p:cNvPr id="390" name="Picture 389" descr="lock.png"/>
          <p:cNvPicPr>
            <a:picLocks noChangeAspect="1"/>
          </p:cNvPicPr>
          <p:nvPr/>
        </p:nvPicPr>
        <p:blipFill>
          <a:blip r:embed="rId4"/>
          <a:stretch>
            <a:fillRect/>
          </a:stretch>
        </p:blipFill>
        <p:spPr>
          <a:xfrm>
            <a:off x="7150838" y="3031091"/>
            <a:ext cx="128699" cy="187198"/>
          </a:xfrm>
          <a:prstGeom prst="rect">
            <a:avLst/>
          </a:prstGeom>
        </p:spPr>
      </p:pic>
      <p:pic>
        <p:nvPicPr>
          <p:cNvPr id="391" name="Picture 390" descr="lock.png"/>
          <p:cNvPicPr>
            <a:picLocks noChangeAspect="1"/>
          </p:cNvPicPr>
          <p:nvPr/>
        </p:nvPicPr>
        <p:blipFill>
          <a:blip r:embed="rId4"/>
          <a:stretch>
            <a:fillRect/>
          </a:stretch>
        </p:blipFill>
        <p:spPr>
          <a:xfrm>
            <a:off x="7150838" y="3560448"/>
            <a:ext cx="128699" cy="187198"/>
          </a:xfrm>
          <a:prstGeom prst="rect">
            <a:avLst/>
          </a:prstGeom>
        </p:spPr>
      </p:pic>
      <p:pic>
        <p:nvPicPr>
          <p:cNvPr id="392" name="Picture 391" descr="lock.png"/>
          <p:cNvPicPr>
            <a:picLocks noChangeAspect="1"/>
          </p:cNvPicPr>
          <p:nvPr/>
        </p:nvPicPr>
        <p:blipFill>
          <a:blip r:embed="rId4"/>
          <a:stretch>
            <a:fillRect/>
          </a:stretch>
        </p:blipFill>
        <p:spPr>
          <a:xfrm>
            <a:off x="8227163" y="2702524"/>
            <a:ext cx="128699" cy="187198"/>
          </a:xfrm>
          <a:prstGeom prst="rect">
            <a:avLst/>
          </a:prstGeom>
        </p:spPr>
      </p:pic>
      <p:pic>
        <p:nvPicPr>
          <p:cNvPr id="393" name="Picture 392" descr="lock.png"/>
          <p:cNvPicPr>
            <a:picLocks noChangeAspect="1"/>
          </p:cNvPicPr>
          <p:nvPr/>
        </p:nvPicPr>
        <p:blipFill>
          <a:blip r:embed="rId4"/>
          <a:stretch>
            <a:fillRect/>
          </a:stretch>
        </p:blipFill>
        <p:spPr>
          <a:xfrm>
            <a:off x="8227163" y="3031091"/>
            <a:ext cx="128699" cy="187198"/>
          </a:xfrm>
          <a:prstGeom prst="rect">
            <a:avLst/>
          </a:prstGeom>
        </p:spPr>
      </p:pic>
      <p:pic>
        <p:nvPicPr>
          <p:cNvPr id="394" name="Picture 393" descr="lock.png"/>
          <p:cNvPicPr>
            <a:picLocks noChangeAspect="1"/>
          </p:cNvPicPr>
          <p:nvPr/>
        </p:nvPicPr>
        <p:blipFill>
          <a:blip r:embed="rId4"/>
          <a:stretch>
            <a:fillRect/>
          </a:stretch>
        </p:blipFill>
        <p:spPr>
          <a:xfrm>
            <a:off x="8227162" y="3560448"/>
            <a:ext cx="128699" cy="187198"/>
          </a:xfrm>
          <a:prstGeom prst="rect">
            <a:avLst/>
          </a:prstGeom>
        </p:spPr>
      </p:pic>
      <p:pic>
        <p:nvPicPr>
          <p:cNvPr id="395" name="Picture 394" descr="lock.png"/>
          <p:cNvPicPr>
            <a:picLocks noChangeAspect="1"/>
          </p:cNvPicPr>
          <p:nvPr/>
        </p:nvPicPr>
        <p:blipFill>
          <a:blip r:embed="rId4"/>
          <a:stretch>
            <a:fillRect/>
          </a:stretch>
        </p:blipFill>
        <p:spPr>
          <a:xfrm>
            <a:off x="9303488" y="2702524"/>
            <a:ext cx="128699" cy="187198"/>
          </a:xfrm>
          <a:prstGeom prst="rect">
            <a:avLst/>
          </a:prstGeom>
        </p:spPr>
      </p:pic>
      <p:pic>
        <p:nvPicPr>
          <p:cNvPr id="396" name="Picture 395" descr="lock.png"/>
          <p:cNvPicPr>
            <a:picLocks noChangeAspect="1"/>
          </p:cNvPicPr>
          <p:nvPr/>
        </p:nvPicPr>
        <p:blipFill>
          <a:blip r:embed="rId4"/>
          <a:stretch>
            <a:fillRect/>
          </a:stretch>
        </p:blipFill>
        <p:spPr>
          <a:xfrm>
            <a:off x="9303488" y="3031091"/>
            <a:ext cx="128699" cy="187198"/>
          </a:xfrm>
          <a:prstGeom prst="rect">
            <a:avLst/>
          </a:prstGeom>
        </p:spPr>
      </p:pic>
      <p:pic>
        <p:nvPicPr>
          <p:cNvPr id="397" name="Picture 396" descr="lock.png"/>
          <p:cNvPicPr>
            <a:picLocks noChangeAspect="1"/>
          </p:cNvPicPr>
          <p:nvPr/>
        </p:nvPicPr>
        <p:blipFill>
          <a:blip r:embed="rId4"/>
          <a:stretch>
            <a:fillRect/>
          </a:stretch>
        </p:blipFill>
        <p:spPr>
          <a:xfrm>
            <a:off x="9303488" y="3560448"/>
            <a:ext cx="128699" cy="187198"/>
          </a:xfrm>
          <a:prstGeom prst="rect">
            <a:avLst/>
          </a:prstGeom>
        </p:spPr>
      </p:pic>
      <p:pic>
        <p:nvPicPr>
          <p:cNvPr id="398" name="Picture 397" descr="lock.png"/>
          <p:cNvPicPr>
            <a:picLocks noChangeAspect="1"/>
          </p:cNvPicPr>
          <p:nvPr/>
        </p:nvPicPr>
        <p:blipFill>
          <a:blip r:embed="rId4"/>
          <a:stretch>
            <a:fillRect/>
          </a:stretch>
        </p:blipFill>
        <p:spPr>
          <a:xfrm>
            <a:off x="10379813" y="2702524"/>
            <a:ext cx="128699" cy="187198"/>
          </a:xfrm>
          <a:prstGeom prst="rect">
            <a:avLst/>
          </a:prstGeom>
        </p:spPr>
      </p:pic>
      <p:pic>
        <p:nvPicPr>
          <p:cNvPr id="399" name="Picture 398" descr="lock.png"/>
          <p:cNvPicPr>
            <a:picLocks noChangeAspect="1"/>
          </p:cNvPicPr>
          <p:nvPr/>
        </p:nvPicPr>
        <p:blipFill>
          <a:blip r:embed="rId4"/>
          <a:stretch>
            <a:fillRect/>
          </a:stretch>
        </p:blipFill>
        <p:spPr>
          <a:xfrm>
            <a:off x="10379813" y="3031091"/>
            <a:ext cx="128699" cy="187198"/>
          </a:xfrm>
          <a:prstGeom prst="rect">
            <a:avLst/>
          </a:prstGeom>
        </p:spPr>
      </p:pic>
      <p:pic>
        <p:nvPicPr>
          <p:cNvPr id="400" name="Picture 399" descr="lock.png"/>
          <p:cNvPicPr>
            <a:picLocks noChangeAspect="1"/>
          </p:cNvPicPr>
          <p:nvPr/>
        </p:nvPicPr>
        <p:blipFill>
          <a:blip r:embed="rId4"/>
          <a:stretch>
            <a:fillRect/>
          </a:stretch>
        </p:blipFill>
        <p:spPr>
          <a:xfrm>
            <a:off x="10379812" y="3560448"/>
            <a:ext cx="128699" cy="187198"/>
          </a:xfrm>
          <a:prstGeom prst="rect">
            <a:avLst/>
          </a:prstGeom>
        </p:spPr>
      </p:pic>
      <p:pic>
        <p:nvPicPr>
          <p:cNvPr id="401" name="Picture 400" descr="lock.png"/>
          <p:cNvPicPr>
            <a:picLocks noChangeAspect="1"/>
          </p:cNvPicPr>
          <p:nvPr/>
        </p:nvPicPr>
        <p:blipFill>
          <a:blip r:embed="rId4"/>
          <a:stretch>
            <a:fillRect/>
          </a:stretch>
        </p:blipFill>
        <p:spPr>
          <a:xfrm>
            <a:off x="11456138" y="2702524"/>
            <a:ext cx="128699" cy="187198"/>
          </a:xfrm>
          <a:prstGeom prst="rect">
            <a:avLst/>
          </a:prstGeom>
        </p:spPr>
      </p:pic>
      <p:pic>
        <p:nvPicPr>
          <p:cNvPr id="402" name="Picture 401" descr="lock.png"/>
          <p:cNvPicPr>
            <a:picLocks noChangeAspect="1"/>
          </p:cNvPicPr>
          <p:nvPr/>
        </p:nvPicPr>
        <p:blipFill>
          <a:blip r:embed="rId4"/>
          <a:stretch>
            <a:fillRect/>
          </a:stretch>
        </p:blipFill>
        <p:spPr>
          <a:xfrm>
            <a:off x="11456138" y="3031091"/>
            <a:ext cx="128699" cy="187198"/>
          </a:xfrm>
          <a:prstGeom prst="rect">
            <a:avLst/>
          </a:prstGeom>
        </p:spPr>
      </p:pic>
      <p:pic>
        <p:nvPicPr>
          <p:cNvPr id="403" name="Picture 402" descr="lock.png"/>
          <p:cNvPicPr>
            <a:picLocks noChangeAspect="1"/>
          </p:cNvPicPr>
          <p:nvPr/>
        </p:nvPicPr>
        <p:blipFill>
          <a:blip r:embed="rId4"/>
          <a:stretch>
            <a:fillRect/>
          </a:stretch>
        </p:blipFill>
        <p:spPr>
          <a:xfrm>
            <a:off x="11456138" y="3560448"/>
            <a:ext cx="128699" cy="187198"/>
          </a:xfrm>
          <a:prstGeom prst="rect">
            <a:avLst/>
          </a:prstGeom>
        </p:spPr>
      </p:pic>
    </p:spTree>
  </p:cSld>
  <p:clrMapOvr>
    <a:masterClrMapping/>
  </p:clrMapOvr>
</p:sld>
</file>

<file path=ppt/slides/slide247.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pic>
        <p:nvPicPr>
          <p:cNvPr id="3" name="Picture 5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
            <a:ext cx="12188824" cy="6858001"/>
          </a:xfrm>
          <a:prstGeom prst="rect">
            <a:avLst/>
          </a:prstGeom>
        </p:spPr>
      </p:pic>
      <p:grpSp>
        <p:nvGrpSpPr>
          <p:cNvPr id="4" name="Group 54"/>
          <p:cNvGrpSpPr/>
          <p:nvPr/>
        </p:nvGrpSpPr>
        <p:grpSpPr>
          <a:xfrm>
            <a:off x="3791331" y="4349877"/>
            <a:ext cx="7897432" cy="1533454"/>
            <a:chOff x="3791331" y="4349877"/>
            <a:chExt cx="7897432" cy="1533454"/>
          </a:xfrm>
        </p:grpSpPr>
        <p:sp>
          <p:nvSpPr>
            <p:cNvPr id="5" name="TextBox 55"/>
            <p:cNvSpPr txBox="1"/>
            <p:nvPr/>
          </p:nvSpPr>
          <p:spPr>
            <a:xfrm>
              <a:off x="3791331" y="4349877"/>
              <a:ext cx="3739101" cy="307777"/>
            </a:xfrm>
            <a:prstGeom prst="rect">
              <a:avLst/>
            </a:prstGeom>
            <a:noFill/>
          </p:spPr>
          <p:txBody>
            <a:bodyPr wrap="none" rtlCol="0">
              <a:spAutoFit/>
            </a:bodyPr>
            <a:lstStyle/>
            <a:p>
              <a:r>
                <a:rPr lang="en-IN" sz="1400" dirty="0"/>
                <a:t>To know more about us, please visit our website:</a:t>
              </a:r>
            </a:p>
          </p:txBody>
        </p:sp>
        <p:sp>
          <p:nvSpPr>
            <p:cNvPr id="6" name="TextBox 56"/>
            <p:cNvSpPr txBox="1"/>
            <p:nvPr/>
          </p:nvSpPr>
          <p:spPr>
            <a:xfrm>
              <a:off x="3791331" y="4660773"/>
              <a:ext cx="3121496" cy="307777"/>
            </a:xfrm>
            <a:prstGeom prst="rect">
              <a:avLst/>
            </a:prstGeom>
            <a:noFill/>
          </p:spPr>
          <p:txBody>
            <a:bodyPr wrap="none" rtlCol="0">
              <a:spAutoFit/>
            </a:bodyPr>
            <a:lstStyle/>
            <a:p>
              <a:r>
                <a:rPr lang="en-IN" sz="1400" b="1" dirty="0"/>
                <a:t>www.transparencymarketresearch.com</a:t>
              </a:r>
            </a:p>
          </p:txBody>
        </p:sp>
        <p:sp>
          <p:nvSpPr>
            <p:cNvPr id="7" name="TextBox 57"/>
            <p:cNvSpPr txBox="1"/>
            <p:nvPr/>
          </p:nvSpPr>
          <p:spPr>
            <a:xfrm>
              <a:off x="3791331" y="5264658"/>
              <a:ext cx="3364767" cy="307777"/>
            </a:xfrm>
            <a:prstGeom prst="rect">
              <a:avLst/>
            </a:prstGeom>
            <a:noFill/>
          </p:spPr>
          <p:txBody>
            <a:bodyPr wrap="none" rtlCol="0">
              <a:spAutoFit/>
            </a:bodyPr>
            <a:lstStyle/>
            <a:p>
              <a:r>
                <a:rPr lang="en-IN" sz="1400" dirty="0"/>
                <a:t>For Sales queries or new topics email us on:</a:t>
              </a:r>
            </a:p>
          </p:txBody>
        </p:sp>
        <p:sp>
          <p:nvSpPr>
            <p:cNvPr id="8" name="TextBox 59"/>
            <p:cNvSpPr txBox="1"/>
            <p:nvPr/>
          </p:nvSpPr>
          <p:spPr>
            <a:xfrm>
              <a:off x="3791331" y="5575554"/>
              <a:ext cx="3097836" cy="307777"/>
            </a:xfrm>
            <a:prstGeom prst="rect">
              <a:avLst/>
            </a:prstGeom>
            <a:noFill/>
          </p:spPr>
          <p:txBody>
            <a:bodyPr wrap="none" rtlCol="0">
              <a:spAutoFit/>
            </a:bodyPr>
            <a:lstStyle/>
            <a:p>
              <a:r>
                <a:rPr lang="en-IN" sz="1400" b="1" dirty="0"/>
                <a:t>sales.transparencymarketresearch.com</a:t>
              </a:r>
            </a:p>
          </p:txBody>
        </p:sp>
        <p:sp>
          <p:nvSpPr>
            <p:cNvPr id="9" name="TextBox 60"/>
            <p:cNvSpPr txBox="1"/>
            <p:nvPr/>
          </p:nvSpPr>
          <p:spPr>
            <a:xfrm>
              <a:off x="9562732" y="4349877"/>
              <a:ext cx="2126031" cy="1384995"/>
            </a:xfrm>
            <a:prstGeom prst="rect">
              <a:avLst/>
            </a:prstGeom>
            <a:noFill/>
          </p:spPr>
          <p:txBody>
            <a:bodyPr wrap="none" rtlCol="0">
              <a:spAutoFit/>
            </a:bodyPr>
            <a:lstStyle/>
            <a:p>
              <a:pPr algn="r">
                <a:lnSpc>
                  <a:spcPct val="150000"/>
                </a:lnSpc>
              </a:pPr>
              <a:r>
                <a:rPr lang="en-IN" sz="1400" dirty="0"/>
                <a:t>For other Queries Contact:</a:t>
              </a:r>
            </a:p>
            <a:p>
              <a:pPr algn="r">
                <a:lnSpc>
                  <a:spcPct val="150000"/>
                </a:lnSpc>
              </a:pPr>
              <a:r>
                <a:rPr lang="en-IN" sz="1400" dirty="0"/>
                <a:t>90 State Street, Albany</a:t>
              </a:r>
            </a:p>
            <a:p>
              <a:pPr algn="r">
                <a:lnSpc>
                  <a:spcPct val="150000"/>
                </a:lnSpc>
              </a:pPr>
              <a:r>
                <a:rPr lang="en-IN" sz="1400" dirty="0"/>
                <a:t>NY – 12207, United States</a:t>
              </a:r>
            </a:p>
            <a:p>
              <a:pPr algn="r">
                <a:lnSpc>
                  <a:spcPct val="150000"/>
                </a:lnSpc>
              </a:pPr>
              <a:r>
                <a:rPr lang="en-IN" sz="1400" dirty="0"/>
                <a:t>Tel: +1-518-618-1030</a:t>
              </a:r>
            </a:p>
          </p:txBody>
        </p:sp>
      </p:grpSp>
      <p:pic>
        <p:nvPicPr>
          <p:cNvPr id="10" name="Picture 6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8750" y="123825"/>
            <a:ext cx="1492575" cy="1152525"/>
          </a:xfrm>
          <a:prstGeom prst="rect">
            <a:avLst/>
          </a:prstGeom>
        </p:spPr>
      </p:pic>
      <p:sp>
        <p:nvSpPr>
          <p:cNvPr id="11" name="TextBox 71"/>
          <p:cNvSpPr txBox="1"/>
          <p:nvPr/>
        </p:nvSpPr>
        <p:spPr>
          <a:xfrm>
            <a:off x="1431419" y="2409825"/>
            <a:ext cx="4964822" cy="1107996"/>
          </a:xfrm>
          <a:prstGeom prst="rect">
            <a:avLst/>
          </a:prstGeom>
          <a:noFill/>
        </p:spPr>
        <p:txBody>
          <a:bodyPr wrap="none" rtlCol="0">
            <a:spAutoFit/>
          </a:bodyPr>
          <a:lstStyle/>
          <a:p>
            <a:pPr algn="ctr"/>
            <a:r>
              <a:rPr lang="en-IN" sz="6600" dirty="0">
                <a:solidFill>
                  <a:srgbClr val="0070C0"/>
                </a:solidFill>
                <a:latin typeface="Aclonica" panose="02060503000000020004" pitchFamily="18" charset="0"/>
              </a:rPr>
              <a:t>Thank You</a:t>
            </a:r>
          </a:p>
        </p:txBody>
      </p:sp>
      <p:sp>
        <p:nvSpPr>
          <p:cNvPr id="12" name="Freeform 68"/>
          <p:cNvSpPr/>
          <p:nvPr userDrawn="1"/>
        </p:nvSpPr>
        <p:spPr bwMode="gray">
          <a:xfrm>
            <a:off x="152400" y="6386257"/>
            <a:ext cx="11887200" cy="0"/>
          </a:xfrm>
          <a:custGeom>
            <a:avLst/>
            <a:gdLst>
              <a:gd name="connsiteX0" fmla="*/ 12039600 w 12039600"/>
              <a:gd name="connsiteY0" fmla="*/ 0 h 0"/>
              <a:gd name="connsiteX1" fmla="*/ 0 w 12039600"/>
              <a:gd name="connsiteY1" fmla="*/ 0 h 0"/>
            </a:gdLst>
            <a:ahLst/>
            <a:cxnLst>
              <a:cxn ang="0">
                <a:pos x="connsiteX0" y="connsiteY0"/>
              </a:cxn>
              <a:cxn ang="0">
                <a:pos x="connsiteX1" y="connsiteY1"/>
              </a:cxn>
            </a:cxnLst>
            <a:rect l="l" t="t" r="r" b="b"/>
            <a:pathLst>
              <a:path w="12039600">
                <a:moveTo>
                  <a:pt x="12039600" y="0"/>
                </a:moveTo>
                <a:lnTo>
                  <a:pt x="0" y="0"/>
                </a:lnTo>
              </a:path>
            </a:pathLst>
          </a:custGeom>
          <a:noFill/>
          <a:ln w="28575">
            <a:solidFill>
              <a:srgbClr val="0070C0"/>
            </a:solidFill>
          </a:ln>
        </p:spPr>
        <p:style>
          <a:lnRef idx="2">
            <a:srgbClr val="2A5F8F">
              <a:shade val="50000"/>
            </a:srgbClr>
          </a:lnRef>
          <a:fillRef idx="1">
            <a:srgbClr val="2A5F8F"/>
          </a:fillRef>
          <a:effectRef idx="0">
            <a:srgbClr val="2A5F8F"/>
          </a:effectRef>
          <a:fontRef idx="minor">
            <a:srgbClr val="FFFFFF"/>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GB" sz="1013"/>
          </a:p>
        </p:txBody>
      </p:sp>
      <p:sp>
        <p:nvSpPr>
          <p:cNvPr id="13" name="Rectangle 73"/>
          <p:cNvSpPr/>
          <p:nvPr/>
        </p:nvSpPr>
        <p:spPr bwMode="gray">
          <a:xfrm>
            <a:off x="4409641" y="6503175"/>
            <a:ext cx="3372718" cy="169277"/>
          </a:xfrm>
          <a:prstGeom prst="rect">
            <a:avLst/>
          </a:prstGeom>
        </p:spPr>
        <p:txBody>
          <a:bodyPr wrap="none" lIns="0" tIns="0" rIns="0" bIns="0">
            <a:spAutoFit/>
          </a:bodyPr>
          <a:lstStyle/>
          <a:p>
            <a:pPr algn="ctr">
              <a:spcBef>
                <a:spcPts val="200"/>
              </a:spcBef>
              <a:spcAft>
                <a:spcPts val="200"/>
              </a:spcAft>
              <a:tabLst>
                <a:tab pos="931344" algn="l"/>
              </a:tabLst>
              <a:defRPr/>
            </a:pPr>
            <a:r>
              <a:rPr lang="en-US" sz="1100" dirty="0">
                <a:solidFill>
                  <a:srgbClr val="000000"/>
                </a:solidFill>
                <a:ea typeface="ＭＳ Ｐゴシック" charset="0"/>
              </a:rPr>
              <a:t>©2026 Transparency Market Research, All Rights Reserved</a:t>
            </a:r>
            <a:endParaRPr lang="en-GB" sz="1100" dirty="0">
              <a:solidFill>
                <a:srgbClr val="000000"/>
              </a:solidFill>
              <a:ea typeface="ＭＳ Ｐゴシック" charset="0"/>
            </a:endParaRPr>
          </a:p>
        </p:txBody>
      </p:sp>
    </p:spTree>
  </p:cSld>
  <p:clrMapOvr>
    <a:masterClrMapping/>
  </p:clrMapOvr>
</p:sld>
</file>

<file path=ppt/theme/theme1.xml><?xml version="1.0" encoding="utf-8"?>
<a:theme xmlns:a="http://schemas.openxmlformats.org/drawingml/2006/main" name="Office Theme">
  <a:themeElements>
    <a:clrScheme name="Custom 63">
      <a:dk1>
        <a:sysClr val="windowText" lastClr="000000"/>
      </a:dk1>
      <a:lt1>
        <a:sysClr val="window" lastClr="FFFFFF"/>
      </a:lt1>
      <a:dk2>
        <a:srgbClr val="000000"/>
      </a:dk2>
      <a:lt2>
        <a:srgbClr val="F8F8F8"/>
      </a:lt2>
      <a:accent1>
        <a:srgbClr val="2A5F8F"/>
      </a:accent1>
      <a:accent2>
        <a:srgbClr val="9E7E0A"/>
      </a:accent2>
      <a:accent3>
        <a:srgbClr val="40315E"/>
      </a:accent3>
      <a:accent4>
        <a:srgbClr val="008189"/>
      </a:accent4>
      <a:accent5>
        <a:srgbClr val="A35313"/>
      </a:accent5>
      <a:accent6>
        <a:srgbClr val="5F5F5F"/>
      </a:accent6>
      <a:hlink>
        <a:srgbClr val="5F5F5F"/>
      </a:hlink>
      <a:folHlink>
        <a:srgbClr val="919191"/>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